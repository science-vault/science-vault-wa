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2" r:id="rId5"/>
    <p:sldId id="263" r:id="rId6"/>
    <p:sldId id="264" r:id="rId7"/>
    <p:sldId id="265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83" d="100"/>
          <a:sy n="83" d="100"/>
        </p:scale>
        <p:origin x="45" y="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ISHER Tracey [Willetton Senior High School]" userId="6c68e3c1-f1d8-49cf-bb6a-eea68a044eb3" providerId="ADAL" clId="{57E6336F-A694-49CC-AF67-0DB124194886}"/>
    <pc:docChg chg="delSld">
      <pc:chgData name="FISHER Tracey [Willetton Senior High School]" userId="6c68e3c1-f1d8-49cf-bb6a-eea68a044eb3" providerId="ADAL" clId="{57E6336F-A694-49CC-AF67-0DB124194886}" dt="2023-09-14T03:46:15.957" v="1" actId="47"/>
      <pc:docMkLst>
        <pc:docMk/>
      </pc:docMkLst>
      <pc:sldChg chg="del">
        <pc:chgData name="FISHER Tracey [Willetton Senior High School]" userId="6c68e3c1-f1d8-49cf-bb6a-eea68a044eb3" providerId="ADAL" clId="{57E6336F-A694-49CC-AF67-0DB124194886}" dt="2023-09-14T03:46:13.214" v="0" actId="47"/>
        <pc:sldMkLst>
          <pc:docMk/>
          <pc:sldMk cId="2326788981" sldId="258"/>
        </pc:sldMkLst>
      </pc:sldChg>
      <pc:sldChg chg="del">
        <pc:chgData name="FISHER Tracey [Willetton Senior High School]" userId="6c68e3c1-f1d8-49cf-bb6a-eea68a044eb3" providerId="ADAL" clId="{57E6336F-A694-49CC-AF67-0DB124194886}" dt="2023-09-14T03:46:15.957" v="1" actId="47"/>
        <pc:sldMkLst>
          <pc:docMk/>
          <pc:sldMk cId="1923649985" sldId="25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1E989-1634-4249-A6FA-8B93F8D84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3EF1A-D8B5-43C4-B86C-E3ADCDFAF9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110B2-AF62-4F87-A19E-C9103FE9E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AD5EB-32E8-4BF0-BDE2-979D56890D14}" type="datetimeFigureOut">
              <a:rPr lang="en-AU" smtClean="0"/>
              <a:t>14/09/2023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45E5DA-2BD1-49A0-8F5E-730027D69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A31272-5374-4567-B642-C687C88F9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E6BB9-93B9-429A-80C1-2AA0C36B99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5104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0672B-6DF2-45CC-99DA-5D0D0B6BA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C9168-E7BF-4B87-BCDE-325ECD180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6583C-0D6A-4476-B546-8A0593234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AD5EB-32E8-4BF0-BDE2-979D56890D14}" type="datetimeFigureOut">
              <a:rPr lang="en-AU" smtClean="0"/>
              <a:t>14/09/2023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AD611-37F7-4C10-939E-C4A193B8F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2AEB9-32B7-4948-A837-58980583B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E6BB9-93B9-429A-80C1-2AA0C36B99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0256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359BA-F240-4EB3-9993-ECFA9CA6F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F22052-269F-4D10-A01A-5B2B286EF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BBC5F-F6DB-4BEC-B30B-E470F39B5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AD5EB-32E8-4BF0-BDE2-979D56890D14}" type="datetimeFigureOut">
              <a:rPr lang="en-AU" smtClean="0"/>
              <a:t>14/09/2023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AC365-8937-45A8-9F8E-03CEFA8BD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C2730-4C6F-4F9D-9A5F-44B74F689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E6BB9-93B9-429A-80C1-2AA0C36B99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4123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3DDBA-426C-41DA-9724-75AED4058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2F01D-5BEE-495D-8474-681A40BF0E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974BA5-BC0B-45E0-875C-7D3FB8518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0BEE9B-E2C3-402C-B0D3-09C5A588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AD5EB-32E8-4BF0-BDE2-979D56890D14}" type="datetimeFigureOut">
              <a:rPr lang="en-AU" smtClean="0"/>
              <a:t>14/09/2023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4AD931-64F2-4633-9971-9DCF9A5BA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434FBC-02B1-42D0-B7B2-A950AA6D6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E6BB9-93B9-429A-80C1-2AA0C36B99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8886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94E79-4A2F-4109-81BA-558451E7B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FA83B-182F-4C32-92FC-7E44A6B2A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E2DEE7-2C60-4558-B2CE-822AFFA900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7D8C40-BBAD-44A5-8DCA-35A384B37A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2ADBD7-DD2A-4DB9-B499-40F5C561F9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067DEC-B049-4718-ACFF-C6B2C5B77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AD5EB-32E8-4BF0-BDE2-979D56890D14}" type="datetimeFigureOut">
              <a:rPr lang="en-AU" smtClean="0"/>
              <a:t>14/09/2023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A606EA-78BE-451A-9BC7-B6130A711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113B7A-26E8-4D5A-88FB-EB659F9AF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E6BB9-93B9-429A-80C1-2AA0C36B99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9215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CD0EC-9036-47DD-A8B4-30C4F2A07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6A82AB-A6F3-47EE-8C01-D2F3751DA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AD5EB-32E8-4BF0-BDE2-979D56890D14}" type="datetimeFigureOut">
              <a:rPr lang="en-AU" smtClean="0"/>
              <a:t>14/09/2023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F8E51C-69DD-4CF1-BDA2-8F1DD0E64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908E1E-1B7D-4D58-9DC7-3C366CEC6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E6BB9-93B9-429A-80C1-2AA0C36B99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8069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F2691C-A5E1-4092-81D5-6AA07B4C6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AD5EB-32E8-4BF0-BDE2-979D56890D14}" type="datetimeFigureOut">
              <a:rPr lang="en-AU" smtClean="0"/>
              <a:t>14/09/2023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7D72EF-A654-4F29-9C73-F1C7E0A5A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63C8BA-4442-46F7-8941-256251144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E6BB9-93B9-429A-80C1-2AA0C36B99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7966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C3598-DF5F-4226-BD7C-7BDD1360C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5D9E7-2FB7-4F2C-BF51-A51269E29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23E4D9-193F-42AE-B88E-202E63C64E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898817-0A75-41F2-B07A-22817A553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AD5EB-32E8-4BF0-BDE2-979D56890D14}" type="datetimeFigureOut">
              <a:rPr lang="en-AU" smtClean="0"/>
              <a:t>14/09/2023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59AE6-DEFE-4593-97C5-DC56EE946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CEC3EF-3E70-4B97-B950-1CB9EF49D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E6BB9-93B9-429A-80C1-2AA0C36B99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203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BFC16-7581-479C-95C2-0097FA34B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B26996-7041-4122-A17A-5B8BBDAAB0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34841B-A9B9-41FF-932A-73D59DD5FF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7F4A03-F70A-482E-8C63-7C839902A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AD5EB-32E8-4BF0-BDE2-979D56890D14}" type="datetimeFigureOut">
              <a:rPr lang="en-AU" smtClean="0"/>
              <a:t>14/09/2023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092D51-38CF-434C-9291-26043CA2B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7FF96D-2E1F-48D0-9707-7489A6326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E6BB9-93B9-429A-80C1-2AA0C36B99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9836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BFDFA-3260-48F6-AADB-A8E29FA1A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CBEBBD-E16A-4EEB-9AC0-158404ADF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DF5D4-1D88-4607-BC91-0C1C2660C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AD5EB-32E8-4BF0-BDE2-979D56890D14}" type="datetimeFigureOut">
              <a:rPr lang="en-AU" smtClean="0"/>
              <a:t>14/09/2023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5DB6D-62B5-4AD3-81E7-7676987E6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A3B3DD-8CE6-4796-9E2D-2D5092428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E6BB9-93B9-429A-80C1-2AA0C36B99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6922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FAB2D3-B658-45D3-96F4-F2CEF20C64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AA89D9-13B6-4E0C-A14E-7B0394F37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648DB-36AA-4B5E-B9C1-656B0FFBB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AD5EB-32E8-4BF0-BDE2-979D56890D14}" type="datetimeFigureOut">
              <a:rPr lang="en-AU" smtClean="0"/>
              <a:t>14/09/2023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C909B6-D371-4352-BA7B-AB2C9F7F7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AD630A-6A48-4EDE-92CA-CCEEE886B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E6BB9-93B9-429A-80C1-2AA0C36B99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4229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0AEEC0-1EE6-440E-9503-A5FE30848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C7C4B1-0B1E-42FF-B783-3B200E1394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6BDF2-5E79-4A24-8C7B-BDD8E2F38D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CAD5EB-32E8-4BF0-BDE2-979D56890D14}" type="datetimeFigureOut">
              <a:rPr lang="en-AU" smtClean="0"/>
              <a:t>14/09/2023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A0566-E18B-4A73-B2D0-68810A2985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0B6F2-05A4-4FA6-9BEB-8246584590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5E6BB9-93B9-429A-80C1-2AA0C36B99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1586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https://online.clickview.com.au/libraries/videos/7345732/waves-and-sound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0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AFD7650-9FDE-4028-AD9D-1E9A89568A6B}"/>
              </a:ext>
            </a:extLst>
          </p:cNvPr>
          <p:cNvSpPr txBox="1"/>
          <p:nvPr/>
        </p:nvSpPr>
        <p:spPr>
          <a:xfrm>
            <a:off x="4439636" y="279109"/>
            <a:ext cx="57666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7200" b="1" dirty="0">
                <a:solidFill>
                  <a:srgbClr val="0070C0"/>
                </a:solidFill>
              </a:rPr>
              <a:t>WAVES</a:t>
            </a:r>
          </a:p>
        </p:txBody>
      </p:sp>
      <p:pic>
        <p:nvPicPr>
          <p:cNvPr id="1026" name="Picture 2" descr="Breaking wave - Wikipedia">
            <a:extLst>
              <a:ext uri="{FF2B5EF4-FFF2-40B4-BE49-F238E27FC236}">
                <a16:creationId xmlns:a16="http://schemas.microsoft.com/office/drawing/2014/main" id="{2392D528-23DA-4BA4-A375-29AD41F542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623" y="3484785"/>
            <a:ext cx="4270075" cy="2844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HYSICS 306: WAVES">
            <a:extLst>
              <a:ext uri="{FF2B5EF4-FFF2-40B4-BE49-F238E27FC236}">
                <a16:creationId xmlns:a16="http://schemas.microsoft.com/office/drawing/2014/main" id="{B3AABC59-691B-4203-9509-DAC1B25AE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9156" y="279109"/>
            <a:ext cx="3996616" cy="2602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Who Are The Best Didgeridoo Players In The World?">
            <a:extLst>
              <a:ext uri="{FF2B5EF4-FFF2-40B4-BE49-F238E27FC236}">
                <a16:creationId xmlns:a16="http://schemas.microsoft.com/office/drawing/2014/main" id="{E380FFD1-65F7-4761-96E5-3096F0256A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21" y="185000"/>
            <a:ext cx="4017156" cy="3108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oloured led lamps">
            <a:extLst>
              <a:ext uri="{FF2B5EF4-FFF2-40B4-BE49-F238E27FC236}">
                <a16:creationId xmlns:a16="http://schemas.microsoft.com/office/drawing/2014/main" id="{D2C7C2CA-05C9-42D8-B707-8EB2A4D034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9667" y="4098177"/>
            <a:ext cx="6967894" cy="2438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Washburn Guitars">
            <a:extLst>
              <a:ext uri="{FF2B5EF4-FFF2-40B4-BE49-F238E27FC236}">
                <a16:creationId xmlns:a16="http://schemas.microsoft.com/office/drawing/2014/main" id="{3D17C270-E284-407B-A82C-797D8DCEAF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9636" y="2593674"/>
            <a:ext cx="4811994" cy="1954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9880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9EA1CD-2E54-43DB-B5FE-A7D0D13742E2}"/>
              </a:ext>
            </a:extLst>
          </p:cNvPr>
          <p:cNvSpPr txBox="1"/>
          <p:nvPr/>
        </p:nvSpPr>
        <p:spPr>
          <a:xfrm>
            <a:off x="1098430" y="551295"/>
            <a:ext cx="64813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Overview of waves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A3E326-6173-477C-8139-BDE8AAFC32A9}"/>
              </a:ext>
            </a:extLst>
          </p:cNvPr>
          <p:cNvSpPr txBox="1"/>
          <p:nvPr/>
        </p:nvSpPr>
        <p:spPr>
          <a:xfrm>
            <a:off x="1098430" y="101296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8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2"/>
              </a:rPr>
              <a:t>Waves and Sound - How do sound or light reach... - ClickView</a:t>
            </a:r>
            <a:endParaRPr lang="en-A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CE73FD-7964-489C-B65D-881C655CE692}"/>
              </a:ext>
            </a:extLst>
          </p:cNvPr>
          <p:cNvSpPr txBox="1"/>
          <p:nvPr/>
        </p:nvSpPr>
        <p:spPr>
          <a:xfrm>
            <a:off x="9151049" y="2022266"/>
            <a:ext cx="23565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Waves are the </a:t>
            </a:r>
            <a:r>
              <a:rPr lang="en-AU" sz="2400" dirty="0">
                <a:solidFill>
                  <a:srgbClr val="7030A0"/>
                </a:solidFill>
              </a:rPr>
              <a:t>transfer of energy</a:t>
            </a:r>
            <a:r>
              <a:rPr lang="en-AU" sz="2400" dirty="0"/>
              <a:t>!</a:t>
            </a:r>
          </a:p>
        </p:txBody>
      </p:sp>
      <p:pic>
        <p:nvPicPr>
          <p:cNvPr id="4098" name="Picture 2" descr="Curious Kids: how do ripples form and why do they spread out across the  water?">
            <a:extLst>
              <a:ext uri="{FF2B5EF4-FFF2-40B4-BE49-F238E27FC236}">
                <a16:creationId xmlns:a16="http://schemas.microsoft.com/office/drawing/2014/main" id="{F1A2243D-55F6-493A-8FA3-602BD9D346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897" y="2483931"/>
            <a:ext cx="7677509" cy="3781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62D6F3F-873F-4DD0-BA1B-78BC458114F9}"/>
              </a:ext>
            </a:extLst>
          </p:cNvPr>
          <p:cNvCxnSpPr/>
          <p:nvPr/>
        </p:nvCxnSpPr>
        <p:spPr>
          <a:xfrm flipV="1">
            <a:off x="6268528" y="2932981"/>
            <a:ext cx="2311878" cy="1017917"/>
          </a:xfrm>
          <a:prstGeom prst="straightConnector1">
            <a:avLst/>
          </a:prstGeom>
          <a:ln w="1270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3440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57A405-678F-4EB5-9AC8-278F33DF919F}"/>
              </a:ext>
            </a:extLst>
          </p:cNvPr>
          <p:cNvSpPr txBox="1"/>
          <p:nvPr/>
        </p:nvSpPr>
        <p:spPr>
          <a:xfrm>
            <a:off x="1529752" y="442027"/>
            <a:ext cx="9443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MECHANICAL WAVES </a:t>
            </a:r>
            <a:r>
              <a:rPr lang="en-AU" sz="2400" dirty="0"/>
              <a:t>require a medium to transmit energy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A792CB-0F3D-4EE7-962B-0361EB96648C}"/>
              </a:ext>
            </a:extLst>
          </p:cNvPr>
          <p:cNvSpPr txBox="1"/>
          <p:nvPr/>
        </p:nvSpPr>
        <p:spPr>
          <a:xfrm>
            <a:off x="4655390" y="1301793"/>
            <a:ext cx="3131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MECHANICAL WAVES</a:t>
            </a:r>
            <a:endParaRPr lang="en-AU" sz="24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F0AAE2B-5917-40F5-866A-5CE9568C9130}"/>
              </a:ext>
            </a:extLst>
          </p:cNvPr>
          <p:cNvCxnSpPr>
            <a:cxnSpLocks/>
          </p:cNvCxnSpPr>
          <p:nvPr/>
        </p:nvCxnSpPr>
        <p:spPr>
          <a:xfrm flipH="1">
            <a:off x="4962832" y="1828868"/>
            <a:ext cx="648141" cy="5308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C1D1BA4-2734-4EB8-BC63-C23D2E7AD5F0}"/>
              </a:ext>
            </a:extLst>
          </p:cNvPr>
          <p:cNvCxnSpPr>
            <a:cxnSpLocks/>
          </p:cNvCxnSpPr>
          <p:nvPr/>
        </p:nvCxnSpPr>
        <p:spPr>
          <a:xfrm>
            <a:off x="6522915" y="1863259"/>
            <a:ext cx="591096" cy="63659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DCBC1F5-D682-4F82-B4CF-6CD404552652}"/>
              </a:ext>
            </a:extLst>
          </p:cNvPr>
          <p:cNvSpPr txBox="1"/>
          <p:nvPr/>
        </p:nvSpPr>
        <p:spPr>
          <a:xfrm>
            <a:off x="1998222" y="2681296"/>
            <a:ext cx="3131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</a:rPr>
              <a:t>TRANSVERSE WAVES</a:t>
            </a:r>
            <a:endParaRPr lang="en-AU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5C7A01-DE9E-4DAB-87E2-B4E9832C18B1}"/>
              </a:ext>
            </a:extLst>
          </p:cNvPr>
          <p:cNvSpPr txBox="1"/>
          <p:nvPr/>
        </p:nvSpPr>
        <p:spPr>
          <a:xfrm>
            <a:off x="6420280" y="2728451"/>
            <a:ext cx="3131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</a:rPr>
              <a:t>LONGITUDINAL WAVES</a:t>
            </a:r>
            <a:endParaRPr lang="en-AU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1A59E9-2ACF-4925-8544-49955CD6C669}"/>
              </a:ext>
            </a:extLst>
          </p:cNvPr>
          <p:cNvSpPr txBox="1"/>
          <p:nvPr/>
        </p:nvSpPr>
        <p:spPr>
          <a:xfrm>
            <a:off x="5851145" y="3320922"/>
            <a:ext cx="42696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solidFill>
                  <a:schemeClr val="accent1"/>
                </a:solidFill>
              </a:rPr>
              <a:t>Wave vibrates parallel to the direction of motion.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AB033B-0112-475D-9612-606677567B72}"/>
              </a:ext>
            </a:extLst>
          </p:cNvPr>
          <p:cNvSpPr txBox="1"/>
          <p:nvPr/>
        </p:nvSpPr>
        <p:spPr>
          <a:xfrm>
            <a:off x="1245602" y="3187119"/>
            <a:ext cx="42696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solidFill>
                  <a:schemeClr val="accent1"/>
                </a:solidFill>
              </a:rPr>
              <a:t>Wave vibrates perpendicular to the direction of motion.</a:t>
            </a:r>
          </a:p>
        </p:txBody>
      </p:sp>
      <p:pic>
        <p:nvPicPr>
          <p:cNvPr id="5122" name="Picture 2" descr="Difference Between Longitudnal waves and Transverse waves">
            <a:extLst>
              <a:ext uri="{FF2B5EF4-FFF2-40B4-BE49-F238E27FC236}">
                <a16:creationId xmlns:a16="http://schemas.microsoft.com/office/drawing/2014/main" id="{450B0929-67D5-4BD8-94DC-91472928E4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" t="19810" r="50888" b="43670"/>
          <a:stretch/>
        </p:blipFill>
        <p:spPr bwMode="auto">
          <a:xfrm>
            <a:off x="6251276" y="4028808"/>
            <a:ext cx="3876511" cy="1829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Difference Between Longitudnal waves and Transverse waves">
            <a:extLst>
              <a:ext uri="{FF2B5EF4-FFF2-40B4-BE49-F238E27FC236}">
                <a16:creationId xmlns:a16="http://schemas.microsoft.com/office/drawing/2014/main" id="{D06910DA-5A14-4B41-B544-452BF871B0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55" t="15774" r="-773" b="44406"/>
          <a:stretch/>
        </p:blipFill>
        <p:spPr bwMode="auto">
          <a:xfrm>
            <a:off x="1044840" y="4003247"/>
            <a:ext cx="3917992" cy="1854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6C66DF8-A09C-4382-BFB2-854AF300189C}"/>
              </a:ext>
            </a:extLst>
          </p:cNvPr>
          <p:cNvSpPr txBox="1"/>
          <p:nvPr/>
        </p:nvSpPr>
        <p:spPr>
          <a:xfrm>
            <a:off x="1154654" y="5966208"/>
            <a:ext cx="42696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Water waves, guitar strings.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00EAA2-247A-4338-915A-3DBD32031495}"/>
              </a:ext>
            </a:extLst>
          </p:cNvPr>
          <p:cNvSpPr txBox="1"/>
          <p:nvPr/>
        </p:nvSpPr>
        <p:spPr>
          <a:xfrm>
            <a:off x="6420280" y="6057034"/>
            <a:ext cx="42696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Sound waves</a:t>
            </a:r>
          </a:p>
        </p:txBody>
      </p:sp>
    </p:spTree>
    <p:extLst>
      <p:ext uri="{BB962C8B-B14F-4D97-AF65-F5344CB8AC3E}">
        <p14:creationId xmlns:p14="http://schemas.microsoft.com/office/powerpoint/2010/main" val="168126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49D595C-61F9-42EB-BF30-A5B3AB1B0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95" y="215151"/>
            <a:ext cx="3388658" cy="898208"/>
          </a:xfrm>
          <a:solidFill>
            <a:schemeClr val="accent2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>
            <a:normAutofit/>
          </a:bodyPr>
          <a:lstStyle/>
          <a:p>
            <a:pPr algn="ctr"/>
            <a:r>
              <a:rPr lang="en-AU" u="sng" dirty="0">
                <a:latin typeface="Average" panose="02000503040000020003" pitchFamily="2" charset="0"/>
              </a:rPr>
              <a:t>Graph Types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C23A3D8-2CBF-44F8-B593-9957C7A58749}"/>
              </a:ext>
            </a:extLst>
          </p:cNvPr>
          <p:cNvSpPr txBox="1">
            <a:spLocks/>
          </p:cNvSpPr>
          <p:nvPr/>
        </p:nvSpPr>
        <p:spPr>
          <a:xfrm>
            <a:off x="155384" y="2013254"/>
            <a:ext cx="4610439" cy="807640"/>
          </a:xfrm>
          <a:prstGeom prst="rect">
            <a:avLst/>
          </a:prstGeom>
          <a:solidFill>
            <a:srgbClr val="FC8C8C"/>
          </a:solidFill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dirty="0">
                <a:latin typeface="Average" panose="02000503040000020003" pitchFamily="2" charset="0"/>
              </a:rPr>
              <a:t>Displacement / </a:t>
            </a:r>
            <a:r>
              <a:rPr lang="en-AU" u="sng" dirty="0">
                <a:latin typeface="Average" panose="02000503040000020003" pitchFamily="2" charset="0"/>
              </a:rPr>
              <a:t>Distance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EC17972-75BC-45F8-82FF-A2C4AF306F8F}"/>
              </a:ext>
            </a:extLst>
          </p:cNvPr>
          <p:cNvSpPr txBox="1">
            <a:spLocks/>
          </p:cNvSpPr>
          <p:nvPr/>
        </p:nvSpPr>
        <p:spPr>
          <a:xfrm>
            <a:off x="56770" y="4817443"/>
            <a:ext cx="4807666" cy="80764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400" dirty="0">
                <a:latin typeface="Average" panose="02000503040000020003" pitchFamily="2" charset="0"/>
              </a:rPr>
              <a:t>Displacement / </a:t>
            </a:r>
            <a:r>
              <a:rPr lang="en-AU" sz="3400" u="sng" dirty="0">
                <a:latin typeface="Average" panose="02000503040000020003" pitchFamily="2" charset="0"/>
              </a:rPr>
              <a:t>Time</a:t>
            </a:r>
          </a:p>
        </p:txBody>
      </p:sp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106DA5FB-CC5E-4328-965C-F3356F086A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2738" y="1380564"/>
            <a:ext cx="7223248" cy="2296981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20F503A-3A0D-42B2-B918-E8AE014D9BAC}"/>
              </a:ext>
            </a:extLst>
          </p:cNvPr>
          <p:cNvCxnSpPr>
            <a:stCxn id="4" idx="2"/>
          </p:cNvCxnSpPr>
          <p:nvPr/>
        </p:nvCxnSpPr>
        <p:spPr>
          <a:xfrm flipH="1">
            <a:off x="1870635" y="1113359"/>
            <a:ext cx="2989" cy="899895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40C9862-F1D4-4BC2-B4F5-10BE38044382}"/>
              </a:ext>
            </a:extLst>
          </p:cNvPr>
          <p:cNvCxnSpPr>
            <a:cxnSpLocks/>
          </p:cNvCxnSpPr>
          <p:nvPr/>
        </p:nvCxnSpPr>
        <p:spPr>
          <a:xfrm flipH="1">
            <a:off x="1870635" y="2820894"/>
            <a:ext cx="1" cy="1996549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6EBBCB1-8003-46E4-B9F8-30C637CFE23E}"/>
              </a:ext>
            </a:extLst>
          </p:cNvPr>
          <p:cNvSpPr txBox="1"/>
          <p:nvPr/>
        </p:nvSpPr>
        <p:spPr>
          <a:xfrm>
            <a:off x="3950449" y="272660"/>
            <a:ext cx="76229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Note that: </a:t>
            </a:r>
            <a:r>
              <a:rPr lang="en-AU" sz="2400" i="1" dirty="0"/>
              <a:t>Displacement</a:t>
            </a:r>
            <a:r>
              <a:rPr lang="en-AU" sz="2400" dirty="0"/>
              <a:t> here refers to the displacement of </a:t>
            </a:r>
            <a:br>
              <a:rPr lang="en-AU" sz="2400" dirty="0"/>
            </a:br>
            <a:r>
              <a:rPr lang="en-AU" sz="2400" dirty="0"/>
              <a:t>particles </a:t>
            </a:r>
            <a:r>
              <a:rPr lang="en-AU" sz="2400" b="1" u="sng" dirty="0"/>
              <a:t>from rest position.</a:t>
            </a:r>
          </a:p>
        </p:txBody>
      </p:sp>
      <p:pic>
        <p:nvPicPr>
          <p:cNvPr id="11" name="Picture 10" descr="Chart, line chart&#10;&#10;Description automatically generated">
            <a:extLst>
              <a:ext uri="{FF2B5EF4-FFF2-40B4-BE49-F238E27FC236}">
                <a16:creationId xmlns:a16="http://schemas.microsoft.com/office/drawing/2014/main" id="{F77DD4C3-8261-43DF-821F-39EB92C1FF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2738" y="3978356"/>
            <a:ext cx="7098053" cy="2368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037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8EFEB87-BC46-4A63-9D2F-54305938B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037" y="194835"/>
            <a:ext cx="10762127" cy="898208"/>
          </a:xfrm>
          <a:solidFill>
            <a:srgbClr val="FC8C8C"/>
          </a:solidFill>
        </p:spPr>
        <p:txBody>
          <a:bodyPr>
            <a:normAutofit fontScale="90000"/>
          </a:bodyPr>
          <a:lstStyle/>
          <a:p>
            <a:r>
              <a:rPr lang="en-AU" b="1" dirty="0">
                <a:latin typeface="Average" panose="02000503040000020003" pitchFamily="2" charset="0"/>
              </a:rPr>
              <a:t>Properties</a:t>
            </a:r>
            <a:r>
              <a:rPr lang="en-AU" dirty="0">
                <a:latin typeface="Average" panose="02000503040000020003" pitchFamily="2" charset="0"/>
              </a:rPr>
              <a:t> of Displacement / </a:t>
            </a:r>
            <a:r>
              <a:rPr lang="en-AU" u="sng" dirty="0">
                <a:latin typeface="Average" panose="02000503040000020003" pitchFamily="2" charset="0"/>
              </a:rPr>
              <a:t>DISTANCE</a:t>
            </a:r>
            <a:r>
              <a:rPr lang="en-AU" dirty="0">
                <a:latin typeface="Average" panose="02000503040000020003" pitchFamily="2" charset="0"/>
              </a:rPr>
              <a:t> Graphs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30F8B96-A337-433A-A549-CF0DEDE5A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038" y="1362636"/>
            <a:ext cx="11485280" cy="5240764"/>
          </a:xfrm>
          <a:ln w="38100">
            <a:noFill/>
          </a:ln>
        </p:spPr>
        <p:txBody>
          <a:bodyPr>
            <a:normAutofit/>
          </a:bodyPr>
          <a:lstStyle/>
          <a:p>
            <a:endParaRPr lang="en-AU" dirty="0">
              <a:latin typeface="Average" panose="02000503040000020003" pitchFamily="2" charset="0"/>
            </a:endParaRPr>
          </a:p>
          <a:p>
            <a:endParaRPr lang="en-AU" dirty="0">
              <a:latin typeface="Average" panose="02000503040000020003" pitchFamily="2" charset="0"/>
            </a:endParaRPr>
          </a:p>
          <a:p>
            <a:endParaRPr lang="en-AU" dirty="0">
              <a:latin typeface="Average" panose="02000503040000020003" pitchFamily="2" charset="0"/>
            </a:endParaRPr>
          </a:p>
          <a:p>
            <a:endParaRPr lang="en-AU" dirty="0">
              <a:latin typeface="Average" panose="02000503040000020003" pitchFamily="2" charset="0"/>
            </a:endParaRPr>
          </a:p>
          <a:p>
            <a:endParaRPr lang="en-AU" dirty="0">
              <a:latin typeface="Average" panose="02000503040000020003" pitchFamily="2" charset="0"/>
            </a:endParaRPr>
          </a:p>
          <a:p>
            <a:endParaRPr lang="en-AU" dirty="0">
              <a:latin typeface="Average" panose="02000503040000020003" pitchFamily="2" charset="0"/>
            </a:endParaRPr>
          </a:p>
          <a:p>
            <a:pPr marL="0" indent="0">
              <a:buNone/>
            </a:pPr>
            <a:endParaRPr lang="en-AU" sz="1050" dirty="0">
              <a:latin typeface="Average" panose="02000503040000020003" pitchFamily="2" charset="0"/>
            </a:endParaRPr>
          </a:p>
          <a:p>
            <a:pPr marL="0" indent="0">
              <a:buNone/>
            </a:pPr>
            <a:endParaRPr lang="en-AU" dirty="0">
              <a:latin typeface="Average" panose="02000503040000020003" pitchFamily="2" charset="0"/>
            </a:endParaRPr>
          </a:p>
          <a:p>
            <a:pPr marL="0" indent="0">
              <a:buNone/>
            </a:pPr>
            <a:endParaRPr lang="en-AU" dirty="0">
              <a:latin typeface="Average" panose="02000503040000020003" pitchFamily="2" charset="0"/>
            </a:endParaRPr>
          </a:p>
        </p:txBody>
      </p:sp>
      <p:pic>
        <p:nvPicPr>
          <p:cNvPr id="6" name="Picture 5" descr="Chart, line chart&#10;&#10;Description automatically generated">
            <a:extLst>
              <a:ext uri="{FF2B5EF4-FFF2-40B4-BE49-F238E27FC236}">
                <a16:creationId xmlns:a16="http://schemas.microsoft.com/office/drawing/2014/main" id="{236368E9-2B0C-464F-8190-003030569D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398" y="1506071"/>
            <a:ext cx="9395286" cy="2987686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37D434DD-171C-4297-98FB-762CF01AB6C7}"/>
              </a:ext>
            </a:extLst>
          </p:cNvPr>
          <p:cNvGrpSpPr/>
          <p:nvPr/>
        </p:nvGrpSpPr>
        <p:grpSpPr>
          <a:xfrm rot="5400000">
            <a:off x="2602974" y="2555161"/>
            <a:ext cx="716956" cy="137239"/>
            <a:chOff x="1679388" y="4332941"/>
            <a:chExt cx="824753" cy="319741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5BC0A68-2C1C-40EE-B194-AB7BDF6DBEB8}"/>
                </a:ext>
              </a:extLst>
            </p:cNvPr>
            <p:cNvCxnSpPr/>
            <p:nvPr/>
          </p:nvCxnSpPr>
          <p:spPr>
            <a:xfrm>
              <a:off x="1679388" y="4482353"/>
              <a:ext cx="824753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A740D93-5C16-40D8-9940-8DEFC44129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79388" y="4332941"/>
              <a:ext cx="0" cy="319741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41BA756-BE43-491D-AFD7-4958C5547A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04141" y="4332941"/>
              <a:ext cx="0" cy="319741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AC39F95-0698-483E-B5DE-0D05EBA1A7E0}"/>
              </a:ext>
            </a:extLst>
          </p:cNvPr>
          <p:cNvSpPr txBox="1"/>
          <p:nvPr/>
        </p:nvSpPr>
        <p:spPr>
          <a:xfrm>
            <a:off x="2961452" y="2428260"/>
            <a:ext cx="1278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C00000"/>
                </a:solidFill>
              </a:rPr>
              <a:t>Amplitude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FE7C66-CB4A-4CAA-BFF6-C110CD25B470}"/>
              </a:ext>
            </a:extLst>
          </p:cNvPr>
          <p:cNvGrpSpPr/>
          <p:nvPr/>
        </p:nvGrpSpPr>
        <p:grpSpPr>
          <a:xfrm>
            <a:off x="2961452" y="2015232"/>
            <a:ext cx="3475207" cy="168592"/>
            <a:chOff x="1679388" y="4332941"/>
            <a:chExt cx="824753" cy="319741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5B8CC23-8D3A-465E-835C-B3568C991D74}"/>
                </a:ext>
              </a:extLst>
            </p:cNvPr>
            <p:cNvCxnSpPr/>
            <p:nvPr/>
          </p:nvCxnSpPr>
          <p:spPr>
            <a:xfrm>
              <a:off x="1679388" y="4482353"/>
              <a:ext cx="824753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28306D4-B4B4-40EC-886E-540384A239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79388" y="4332941"/>
              <a:ext cx="0" cy="319741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B27F86C-B580-4959-9844-3BF76050EC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04141" y="4332941"/>
              <a:ext cx="0" cy="319741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E601BE0E-FE19-4079-A543-FC2BCEDD4A7A}"/>
              </a:ext>
            </a:extLst>
          </p:cNvPr>
          <p:cNvSpPr txBox="1"/>
          <p:nvPr/>
        </p:nvSpPr>
        <p:spPr>
          <a:xfrm>
            <a:off x="4053595" y="1691028"/>
            <a:ext cx="1641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C00000"/>
                </a:solidFill>
              </a:rPr>
              <a:t>Wavelength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9A11AF-9560-4D74-B11A-60DA25328D8A}"/>
              </a:ext>
            </a:extLst>
          </p:cNvPr>
          <p:cNvSpPr txBox="1"/>
          <p:nvPr/>
        </p:nvSpPr>
        <p:spPr>
          <a:xfrm>
            <a:off x="671326" y="4616410"/>
            <a:ext cx="435087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u="sng" dirty="0">
                <a:solidFill>
                  <a:srgbClr val="C00000"/>
                </a:solidFill>
                <a:latin typeface="Average" panose="02000503040000020003" pitchFamily="2" charset="0"/>
              </a:rPr>
              <a:t>Wavelength</a:t>
            </a:r>
            <a:br>
              <a:rPr lang="en-AU" sz="2000" dirty="0">
                <a:solidFill>
                  <a:srgbClr val="C00000"/>
                </a:solidFill>
                <a:latin typeface="Average" panose="02000503040000020003" pitchFamily="2" charset="0"/>
              </a:rPr>
            </a:br>
            <a:r>
              <a:rPr lang="en-AU" sz="2000" dirty="0"/>
              <a:t>The length of one complete wave cycle (before the pattern repeats)</a:t>
            </a:r>
            <a:endParaRPr lang="en-AU" sz="2000" dirty="0">
              <a:solidFill>
                <a:srgbClr val="C00000"/>
              </a:solidFill>
              <a:latin typeface="Average" panose="02000503040000020003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C654DF-6B64-4056-896B-E6D11368D145}"/>
              </a:ext>
            </a:extLst>
          </p:cNvPr>
          <p:cNvSpPr txBox="1"/>
          <p:nvPr/>
        </p:nvSpPr>
        <p:spPr>
          <a:xfrm>
            <a:off x="4778935" y="4579460"/>
            <a:ext cx="343647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u="sng" dirty="0">
                <a:solidFill>
                  <a:srgbClr val="C00000"/>
                </a:solidFill>
                <a:latin typeface="Average" panose="02000503040000020003" pitchFamily="2" charset="0"/>
              </a:rPr>
              <a:t>Amplitude</a:t>
            </a:r>
            <a:br>
              <a:rPr lang="en-AU" sz="2400" dirty="0">
                <a:solidFill>
                  <a:srgbClr val="C00000"/>
                </a:solidFill>
                <a:latin typeface="Average" panose="02000503040000020003" pitchFamily="2" charset="0"/>
              </a:rPr>
            </a:br>
            <a:r>
              <a:rPr lang="en-AU" sz="2000" dirty="0"/>
              <a:t>The maximum displacement of particles from rest position</a:t>
            </a:r>
            <a:endParaRPr lang="en-AU" sz="2400" dirty="0">
              <a:solidFill>
                <a:srgbClr val="C00000"/>
              </a:solidFill>
              <a:latin typeface="Average" panose="02000503040000020003" pitchFamily="2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F66D476-372D-4198-949A-752227B9432C}"/>
              </a:ext>
            </a:extLst>
          </p:cNvPr>
          <p:cNvGrpSpPr/>
          <p:nvPr/>
        </p:nvGrpSpPr>
        <p:grpSpPr>
          <a:xfrm rot="5400000">
            <a:off x="7751703" y="3329114"/>
            <a:ext cx="716956" cy="137239"/>
            <a:chOff x="1679388" y="4332941"/>
            <a:chExt cx="824753" cy="319741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8C4A22C-D8A8-4E96-AF79-A7B87FCFE28A}"/>
                </a:ext>
              </a:extLst>
            </p:cNvPr>
            <p:cNvCxnSpPr/>
            <p:nvPr/>
          </p:nvCxnSpPr>
          <p:spPr>
            <a:xfrm>
              <a:off x="1679388" y="4482353"/>
              <a:ext cx="824753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3AA1202-31BC-4F8D-815F-FAA7D0F808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79388" y="4332941"/>
              <a:ext cx="0" cy="319741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C7824E5-3CF5-4994-BA24-7AC79F903A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04141" y="4332941"/>
              <a:ext cx="0" cy="319741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98E8224B-0F95-4835-A3A9-050AE84A57B5}"/>
              </a:ext>
            </a:extLst>
          </p:cNvPr>
          <p:cNvSpPr txBox="1"/>
          <p:nvPr/>
        </p:nvSpPr>
        <p:spPr>
          <a:xfrm>
            <a:off x="8110181" y="3202213"/>
            <a:ext cx="1278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C00000"/>
                </a:solidFill>
              </a:rPr>
              <a:t>Amplitude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7D4656-26AF-4678-86CE-7B7749D707CD}"/>
              </a:ext>
            </a:extLst>
          </p:cNvPr>
          <p:cNvSpPr txBox="1"/>
          <p:nvPr/>
        </p:nvSpPr>
        <p:spPr>
          <a:xfrm>
            <a:off x="8166848" y="4572440"/>
            <a:ext cx="435087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u="sng" dirty="0">
                <a:solidFill>
                  <a:srgbClr val="C00000"/>
                </a:solidFill>
                <a:latin typeface="Average" panose="02000503040000020003" pitchFamily="2" charset="0"/>
              </a:rPr>
              <a:t>Frequency  </a:t>
            </a:r>
            <a:r>
              <a:rPr lang="en-AU" sz="2400" u="sng" dirty="0">
                <a:latin typeface="Average" panose="02000503040000020003" pitchFamily="2" charset="0"/>
              </a:rPr>
              <a:t>(f)</a:t>
            </a:r>
            <a:br>
              <a:rPr lang="en-AU" sz="2000" dirty="0">
                <a:solidFill>
                  <a:srgbClr val="C00000"/>
                </a:solidFill>
                <a:latin typeface="Average" panose="02000503040000020003" pitchFamily="2" charset="0"/>
              </a:rPr>
            </a:br>
            <a:r>
              <a:rPr lang="en-AU" sz="2000" dirty="0"/>
              <a:t>How many waves occur in a single second (measured in </a:t>
            </a:r>
            <a:r>
              <a:rPr lang="en-AU" sz="2000" b="1" dirty="0"/>
              <a:t>Hertz, Hz</a:t>
            </a:r>
            <a:r>
              <a:rPr lang="en-AU" sz="2000" dirty="0"/>
              <a:t>)</a:t>
            </a:r>
            <a:endParaRPr lang="en-AU" sz="2000" dirty="0">
              <a:solidFill>
                <a:srgbClr val="C00000"/>
              </a:solidFill>
              <a:latin typeface="Average" panose="02000503040000020003" pitchFamily="2" charset="0"/>
            </a:endParaRPr>
          </a:p>
        </p:txBody>
      </p:sp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AA94E82E-5E59-44C5-8324-100C71387E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8473050"/>
              </p:ext>
            </p:extLst>
          </p:nvPr>
        </p:nvGraphicFramePr>
        <p:xfrm>
          <a:off x="5480050" y="1671638"/>
          <a:ext cx="431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31640" imgH="342720" progId="Equation.DSMT4">
                  <p:embed/>
                </p:oleObj>
              </mc:Choice>
              <mc:Fallback>
                <p:oleObj name="Equation" r:id="rId3" imgW="431640" imgH="342720" progId="Equation.DSMT4">
                  <p:embed/>
                  <p:pic>
                    <p:nvPicPr>
                      <p:cNvPr id="25" name="Object 24">
                        <a:extLst>
                          <a:ext uri="{FF2B5EF4-FFF2-40B4-BE49-F238E27FC236}">
                            <a16:creationId xmlns:a16="http://schemas.microsoft.com/office/drawing/2014/main" id="{AA94E82E-5E59-44C5-8324-100C71387E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80050" y="1671638"/>
                        <a:ext cx="431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5">
            <a:extLst>
              <a:ext uri="{FF2B5EF4-FFF2-40B4-BE49-F238E27FC236}">
                <a16:creationId xmlns:a16="http://schemas.microsoft.com/office/drawing/2014/main" id="{C76E2042-C5D8-4158-8C0C-CFAD0BF8B4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9065052"/>
              </p:ext>
            </p:extLst>
          </p:nvPr>
        </p:nvGraphicFramePr>
        <p:xfrm>
          <a:off x="2797953" y="4700813"/>
          <a:ext cx="386757" cy="3071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31312" imgH="343092" progId="Equation.DSMT4">
                  <p:embed/>
                </p:oleObj>
              </mc:Choice>
              <mc:Fallback>
                <p:oleObj name="Equation" r:id="rId5" imgW="431312" imgH="343092" progId="Equation.DSMT4">
                  <p:embed/>
                  <p:pic>
                    <p:nvPicPr>
                      <p:cNvPr id="26" name="Object 25">
                        <a:extLst>
                          <a:ext uri="{FF2B5EF4-FFF2-40B4-BE49-F238E27FC236}">
                            <a16:creationId xmlns:a16="http://schemas.microsoft.com/office/drawing/2014/main" id="{C76E2042-C5D8-4158-8C0C-CFAD0BF8B4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97953" y="4700813"/>
                        <a:ext cx="386757" cy="3071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806AFB9F-8188-4542-870A-3B4C6370BC3D}"/>
              </a:ext>
            </a:extLst>
          </p:cNvPr>
          <p:cNvSpPr txBox="1"/>
          <p:nvPr/>
        </p:nvSpPr>
        <p:spPr>
          <a:xfrm>
            <a:off x="671326" y="5866701"/>
            <a:ext cx="6531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Wave Equation : Velocity = wavelength x frequency</a:t>
            </a:r>
          </a:p>
        </p:txBody>
      </p:sp>
      <p:graphicFrame>
        <p:nvGraphicFramePr>
          <p:cNvPr id="28" name="Object 27">
            <a:extLst>
              <a:ext uri="{FF2B5EF4-FFF2-40B4-BE49-F238E27FC236}">
                <a16:creationId xmlns:a16="http://schemas.microsoft.com/office/drawing/2014/main" id="{45905266-C402-4724-9F94-2BB2D70067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5760397"/>
              </p:ext>
            </p:extLst>
          </p:nvPr>
        </p:nvGraphicFramePr>
        <p:xfrm>
          <a:off x="7759701" y="5913854"/>
          <a:ext cx="838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38080" imgH="330120" progId="Equation.DSMT4">
                  <p:embed/>
                </p:oleObj>
              </mc:Choice>
              <mc:Fallback>
                <p:oleObj name="Equation" r:id="rId7" imgW="838080" imgH="330120" progId="Equation.DSMT4">
                  <p:embed/>
                  <p:pic>
                    <p:nvPicPr>
                      <p:cNvPr id="28" name="Object 27">
                        <a:extLst>
                          <a:ext uri="{FF2B5EF4-FFF2-40B4-BE49-F238E27FC236}">
                            <a16:creationId xmlns:a16="http://schemas.microsoft.com/office/drawing/2014/main" id="{45905266-C402-4724-9F94-2BB2D70067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759701" y="5913854"/>
                        <a:ext cx="838200" cy="330200"/>
                      </a:xfrm>
                      <a:prstGeom prst="rect">
                        <a:avLst/>
                      </a:prstGeom>
                      <a:ln w="857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28">
            <a:extLst>
              <a:ext uri="{FF2B5EF4-FFF2-40B4-BE49-F238E27FC236}">
                <a16:creationId xmlns:a16="http://schemas.microsoft.com/office/drawing/2014/main" id="{8663580A-5DD1-456E-9A85-37C982989516}"/>
              </a:ext>
            </a:extLst>
          </p:cNvPr>
          <p:cNvSpPr/>
          <p:nvPr/>
        </p:nvSpPr>
        <p:spPr>
          <a:xfrm>
            <a:off x="7547317" y="5767754"/>
            <a:ext cx="1526345" cy="618978"/>
          </a:xfrm>
          <a:prstGeom prst="rect">
            <a:avLst/>
          </a:prstGeom>
          <a:noFill/>
          <a:ln w="539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7226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3246D06-EF5B-40CA-BC7B-215AA336B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038" y="194835"/>
            <a:ext cx="10015072" cy="898208"/>
          </a:xfrm>
          <a:solidFill>
            <a:schemeClr val="accent4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AU" b="1" dirty="0">
                <a:latin typeface="Average" panose="02000503040000020003" pitchFamily="2" charset="0"/>
              </a:rPr>
              <a:t>Properties</a:t>
            </a:r>
            <a:r>
              <a:rPr lang="en-AU" dirty="0">
                <a:latin typeface="Average" panose="02000503040000020003" pitchFamily="2" charset="0"/>
              </a:rPr>
              <a:t> of Displacement / </a:t>
            </a:r>
            <a:r>
              <a:rPr lang="en-AU" u="sng" dirty="0">
                <a:latin typeface="Average" panose="02000503040000020003" pitchFamily="2" charset="0"/>
              </a:rPr>
              <a:t>TIME</a:t>
            </a:r>
            <a:r>
              <a:rPr lang="en-AU" dirty="0">
                <a:latin typeface="Average" panose="02000503040000020003" pitchFamily="2" charset="0"/>
              </a:rPr>
              <a:t> Graphs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A1F15B5-8D9E-4C6B-B9C9-33BEAB5005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038" y="1362636"/>
            <a:ext cx="11485280" cy="5240764"/>
          </a:xfrm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endParaRPr lang="en-AU" dirty="0">
              <a:latin typeface="Average" panose="02000503040000020003" pitchFamily="2" charset="0"/>
            </a:endParaRPr>
          </a:p>
          <a:p>
            <a:endParaRPr lang="en-AU" dirty="0">
              <a:latin typeface="Average" panose="02000503040000020003" pitchFamily="2" charset="0"/>
            </a:endParaRPr>
          </a:p>
          <a:p>
            <a:endParaRPr lang="en-AU" dirty="0">
              <a:latin typeface="Average" panose="02000503040000020003" pitchFamily="2" charset="0"/>
            </a:endParaRPr>
          </a:p>
          <a:p>
            <a:endParaRPr lang="en-AU" dirty="0">
              <a:latin typeface="Average" panose="02000503040000020003" pitchFamily="2" charset="0"/>
            </a:endParaRPr>
          </a:p>
          <a:p>
            <a:endParaRPr lang="en-AU" dirty="0">
              <a:latin typeface="Average" panose="02000503040000020003" pitchFamily="2" charset="0"/>
            </a:endParaRPr>
          </a:p>
          <a:p>
            <a:endParaRPr lang="en-AU" dirty="0">
              <a:latin typeface="Average" panose="02000503040000020003" pitchFamily="2" charset="0"/>
            </a:endParaRPr>
          </a:p>
          <a:p>
            <a:pPr marL="0" indent="0">
              <a:buNone/>
            </a:pPr>
            <a:endParaRPr lang="en-AU" sz="1050" dirty="0">
              <a:latin typeface="Average" panose="02000503040000020003" pitchFamily="2" charset="0"/>
            </a:endParaRPr>
          </a:p>
          <a:p>
            <a:pPr marL="0" indent="0">
              <a:buNone/>
            </a:pPr>
            <a:endParaRPr lang="en-AU" dirty="0">
              <a:latin typeface="Average" panose="02000503040000020003" pitchFamily="2" charset="0"/>
            </a:endParaRPr>
          </a:p>
          <a:p>
            <a:pPr marL="0" indent="0">
              <a:buNone/>
            </a:pPr>
            <a:endParaRPr lang="en-AU" dirty="0">
              <a:latin typeface="Average" panose="02000503040000020003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43E563-43B8-4E4F-AC20-C6A89A564E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06179" y="1506071"/>
            <a:ext cx="8955475" cy="2987686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8C4FAAEE-2976-431A-8F49-F826DBB57DD0}"/>
              </a:ext>
            </a:extLst>
          </p:cNvPr>
          <p:cNvGrpSpPr/>
          <p:nvPr/>
        </p:nvGrpSpPr>
        <p:grpSpPr>
          <a:xfrm rot="5400000">
            <a:off x="2597003" y="2559318"/>
            <a:ext cx="716956" cy="137239"/>
            <a:chOff x="1679388" y="4332941"/>
            <a:chExt cx="824753" cy="319741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E39072E-3770-4B1C-8879-52FF8700A544}"/>
                </a:ext>
              </a:extLst>
            </p:cNvPr>
            <p:cNvCxnSpPr/>
            <p:nvPr/>
          </p:nvCxnSpPr>
          <p:spPr>
            <a:xfrm>
              <a:off x="1679388" y="4482353"/>
              <a:ext cx="824753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2E8B092-3571-4A00-9C36-2AD5B564D6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79388" y="4332941"/>
              <a:ext cx="0" cy="319741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63F73E8-2952-47C8-B863-1705BE82E5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04141" y="4332941"/>
              <a:ext cx="0" cy="319741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1092ED9-7669-4376-AF12-41334DFD54A3}"/>
              </a:ext>
            </a:extLst>
          </p:cNvPr>
          <p:cNvSpPr txBox="1"/>
          <p:nvPr/>
        </p:nvSpPr>
        <p:spPr>
          <a:xfrm>
            <a:off x="2955481" y="2432417"/>
            <a:ext cx="1278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C00000"/>
                </a:solidFill>
              </a:rPr>
              <a:t>Amplitude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0115560-6514-4AAE-99E7-37E45D50F855}"/>
              </a:ext>
            </a:extLst>
          </p:cNvPr>
          <p:cNvGrpSpPr/>
          <p:nvPr/>
        </p:nvGrpSpPr>
        <p:grpSpPr>
          <a:xfrm>
            <a:off x="2955481" y="2006276"/>
            <a:ext cx="3475207" cy="168592"/>
            <a:chOff x="1679388" y="4332941"/>
            <a:chExt cx="824753" cy="319741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90F78D1-1EC9-407F-8A53-E139790133EC}"/>
                </a:ext>
              </a:extLst>
            </p:cNvPr>
            <p:cNvCxnSpPr/>
            <p:nvPr/>
          </p:nvCxnSpPr>
          <p:spPr>
            <a:xfrm>
              <a:off x="1679388" y="4482353"/>
              <a:ext cx="824753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24D01BA-21C7-4691-87DA-4B19A43931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79388" y="4332941"/>
              <a:ext cx="0" cy="319741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860A866-33DD-4882-BB20-6F079B1729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04141" y="4332941"/>
              <a:ext cx="0" cy="319741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E916988-FECD-48A2-B3DD-941928F32BE9}"/>
              </a:ext>
            </a:extLst>
          </p:cNvPr>
          <p:cNvSpPr txBox="1"/>
          <p:nvPr/>
        </p:nvSpPr>
        <p:spPr>
          <a:xfrm>
            <a:off x="3872094" y="1682311"/>
            <a:ext cx="16419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solidFill>
                  <a:srgbClr val="C00000"/>
                </a:solidFill>
              </a:rPr>
              <a:t>Period </a:t>
            </a:r>
            <a:r>
              <a:rPr lang="en-AU" sz="2400" dirty="0"/>
              <a:t>(T)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6D4542-5435-4EF4-A485-85CC7267D053}"/>
              </a:ext>
            </a:extLst>
          </p:cNvPr>
          <p:cNvSpPr txBox="1"/>
          <p:nvPr/>
        </p:nvSpPr>
        <p:spPr>
          <a:xfrm>
            <a:off x="703249" y="4405703"/>
            <a:ext cx="323898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u="sng" dirty="0">
                <a:solidFill>
                  <a:srgbClr val="C00000"/>
                </a:solidFill>
                <a:latin typeface="Average" panose="02000503040000020003" pitchFamily="2" charset="0"/>
              </a:rPr>
              <a:t>Period </a:t>
            </a:r>
            <a:r>
              <a:rPr lang="en-AU" sz="2400" u="sng" dirty="0">
                <a:latin typeface="Average" panose="02000503040000020003" pitchFamily="2" charset="0"/>
              </a:rPr>
              <a:t>(T)</a:t>
            </a:r>
            <a:br>
              <a:rPr lang="en-AU" sz="2000" dirty="0">
                <a:solidFill>
                  <a:srgbClr val="C00000"/>
                </a:solidFill>
                <a:latin typeface="Average" panose="02000503040000020003" pitchFamily="2" charset="0"/>
              </a:rPr>
            </a:br>
            <a:r>
              <a:rPr lang="en-AU" sz="2000" dirty="0"/>
              <a:t>Time taken to complete one cycle/wavelength </a:t>
            </a:r>
          </a:p>
          <a:p>
            <a:r>
              <a:rPr lang="en-AU" sz="2000" dirty="0"/>
              <a:t>(units seconds, s) </a:t>
            </a:r>
            <a:endParaRPr lang="en-AU" sz="2000" dirty="0">
              <a:solidFill>
                <a:srgbClr val="C00000"/>
              </a:solidFill>
              <a:latin typeface="Average" panose="02000503040000020003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56B9FE-ACE5-4BDA-BBC2-EE0F8BBE3155}"/>
              </a:ext>
            </a:extLst>
          </p:cNvPr>
          <p:cNvSpPr txBox="1"/>
          <p:nvPr/>
        </p:nvSpPr>
        <p:spPr>
          <a:xfrm>
            <a:off x="4141563" y="4455353"/>
            <a:ext cx="388470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u="sng" dirty="0">
                <a:solidFill>
                  <a:srgbClr val="C00000"/>
                </a:solidFill>
                <a:latin typeface="Average" panose="02000503040000020003" pitchFamily="2" charset="0"/>
              </a:rPr>
              <a:t>Amplitude  </a:t>
            </a:r>
            <a:r>
              <a:rPr lang="en-AU" sz="2400" u="sng" dirty="0">
                <a:latin typeface="Average" panose="02000503040000020003" pitchFamily="2" charset="0"/>
              </a:rPr>
              <a:t>(A)</a:t>
            </a:r>
            <a:br>
              <a:rPr lang="en-AU" sz="2400" dirty="0">
                <a:solidFill>
                  <a:srgbClr val="C00000"/>
                </a:solidFill>
                <a:latin typeface="Average" panose="02000503040000020003" pitchFamily="2" charset="0"/>
              </a:rPr>
            </a:br>
            <a:r>
              <a:rPr lang="en-AU" sz="2000" dirty="0"/>
              <a:t>The maximum displacement of particles from rest position</a:t>
            </a:r>
            <a:endParaRPr lang="en-AU" sz="2400" dirty="0">
              <a:solidFill>
                <a:srgbClr val="C00000"/>
              </a:solidFill>
              <a:latin typeface="Average" panose="02000503040000020003" pitchFamily="2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0918091-D6F6-4D2C-846B-57A8F7433753}"/>
              </a:ext>
            </a:extLst>
          </p:cNvPr>
          <p:cNvGrpSpPr/>
          <p:nvPr/>
        </p:nvGrpSpPr>
        <p:grpSpPr>
          <a:xfrm rot="5400000">
            <a:off x="7745732" y="3330196"/>
            <a:ext cx="716956" cy="137239"/>
            <a:chOff x="1679388" y="4332941"/>
            <a:chExt cx="824753" cy="319741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CD0C8D8-9B26-48AD-B67D-5935EED28A1B}"/>
                </a:ext>
              </a:extLst>
            </p:cNvPr>
            <p:cNvCxnSpPr/>
            <p:nvPr/>
          </p:nvCxnSpPr>
          <p:spPr>
            <a:xfrm>
              <a:off x="1679388" y="4482353"/>
              <a:ext cx="824753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BE6EEE0-ABD9-4364-9BDE-4A6AE16A24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79388" y="4332941"/>
              <a:ext cx="0" cy="319741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3B8E0FC-611E-4A44-82BF-7C9243D0B6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04141" y="4332941"/>
              <a:ext cx="0" cy="319741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9AAA6DEE-FC1A-4CFB-BD31-FC534B3765BC}"/>
              </a:ext>
            </a:extLst>
          </p:cNvPr>
          <p:cNvSpPr txBox="1"/>
          <p:nvPr/>
        </p:nvSpPr>
        <p:spPr>
          <a:xfrm>
            <a:off x="8104210" y="3203295"/>
            <a:ext cx="1278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C00000"/>
                </a:solidFill>
              </a:rPr>
              <a:t>Amplitude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E1C5BD-F7E5-4FD8-BD3F-80F7AF5EA8AA}"/>
              </a:ext>
            </a:extLst>
          </p:cNvPr>
          <p:cNvSpPr txBox="1"/>
          <p:nvPr/>
        </p:nvSpPr>
        <p:spPr>
          <a:xfrm>
            <a:off x="7766355" y="4439527"/>
            <a:ext cx="435087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u="sng" dirty="0">
                <a:solidFill>
                  <a:srgbClr val="C00000"/>
                </a:solidFill>
                <a:latin typeface="Average" panose="02000503040000020003" pitchFamily="2" charset="0"/>
              </a:rPr>
              <a:t>Frequency </a:t>
            </a:r>
            <a:r>
              <a:rPr lang="en-AU" sz="2400" u="sng" dirty="0">
                <a:latin typeface="Average" panose="02000503040000020003" pitchFamily="2" charset="0"/>
              </a:rPr>
              <a:t>(f)</a:t>
            </a:r>
            <a:br>
              <a:rPr lang="en-AU" sz="2000" dirty="0">
                <a:solidFill>
                  <a:srgbClr val="C00000"/>
                </a:solidFill>
                <a:latin typeface="Average" panose="02000503040000020003" pitchFamily="2" charset="0"/>
              </a:rPr>
            </a:br>
            <a:r>
              <a:rPr lang="en-AU" sz="2000" dirty="0"/>
              <a:t>How many waves occur in a single second (measured in </a:t>
            </a:r>
            <a:r>
              <a:rPr lang="en-AU" sz="2000" b="1" dirty="0"/>
              <a:t>Hertz, Hz</a:t>
            </a:r>
            <a:r>
              <a:rPr lang="en-AU" sz="2000" dirty="0"/>
              <a:t>)</a:t>
            </a:r>
            <a:endParaRPr lang="en-AU" sz="2000" dirty="0">
              <a:solidFill>
                <a:srgbClr val="C00000"/>
              </a:solidFill>
              <a:latin typeface="Average" panose="02000503040000020003" pitchFamily="2" charset="0"/>
            </a:endParaRPr>
          </a:p>
        </p:txBody>
      </p:sp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F94D3504-D83C-48FB-991C-9D0F39C9CC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2706085"/>
              </p:ext>
            </p:extLst>
          </p:nvPr>
        </p:nvGraphicFramePr>
        <p:xfrm>
          <a:off x="6963875" y="5634052"/>
          <a:ext cx="802480" cy="802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23600" imgH="723600" progId="Equation.DSMT4">
                  <p:embed/>
                </p:oleObj>
              </mc:Choice>
              <mc:Fallback>
                <p:oleObj name="Equation" r:id="rId3" imgW="723600" imgH="723600" progId="Equation.DSMT4">
                  <p:embed/>
                  <p:pic>
                    <p:nvPicPr>
                      <p:cNvPr id="25" name="Object 24">
                        <a:extLst>
                          <a:ext uri="{FF2B5EF4-FFF2-40B4-BE49-F238E27FC236}">
                            <a16:creationId xmlns:a16="http://schemas.microsoft.com/office/drawing/2014/main" id="{F94D3504-D83C-48FB-991C-9D0F39C9CC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963875" y="5634052"/>
                        <a:ext cx="802480" cy="8024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891DEAE0-FC07-4312-AE55-B710A99FB002}"/>
              </a:ext>
            </a:extLst>
          </p:cNvPr>
          <p:cNvSpPr txBox="1"/>
          <p:nvPr/>
        </p:nvSpPr>
        <p:spPr>
          <a:xfrm>
            <a:off x="3291841" y="5925495"/>
            <a:ext cx="34536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Frequency= 1/ period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5EA9794-33DA-4C55-AEFD-1E48BF23118D}"/>
              </a:ext>
            </a:extLst>
          </p:cNvPr>
          <p:cNvSpPr/>
          <p:nvPr/>
        </p:nvSpPr>
        <p:spPr>
          <a:xfrm>
            <a:off x="3165231" y="5634051"/>
            <a:ext cx="5007599" cy="887857"/>
          </a:xfrm>
          <a:prstGeom prst="rect">
            <a:avLst/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873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6432321-F43B-4EA5-A245-FBA76C7AE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94" y="155386"/>
            <a:ext cx="5283199" cy="898208"/>
          </a:xfrm>
          <a:solidFill>
            <a:schemeClr val="accent2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>
            <a:normAutofit/>
          </a:bodyPr>
          <a:lstStyle/>
          <a:p>
            <a:pPr algn="ctr"/>
            <a:r>
              <a:rPr lang="en-AU" dirty="0">
                <a:latin typeface="Average" panose="02000503040000020003" pitchFamily="2" charset="0"/>
              </a:rPr>
              <a:t>Example Question(s):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F90141-B8F2-47DA-B876-41E43A6FB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303506"/>
            <a:ext cx="9457895" cy="50669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20F677-7E6E-4537-B8D3-CF20377D3B4C}"/>
              </a:ext>
            </a:extLst>
          </p:cNvPr>
          <p:cNvSpPr txBox="1"/>
          <p:nvPr/>
        </p:nvSpPr>
        <p:spPr>
          <a:xfrm>
            <a:off x="8934823" y="314306"/>
            <a:ext cx="3036047" cy="3211135"/>
          </a:xfrm>
          <a:prstGeom prst="rect">
            <a:avLst/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AU" sz="3200" u="sng" dirty="0"/>
              <a:t>Determine</a:t>
            </a:r>
            <a:r>
              <a:rPr lang="en-AU" sz="3200" dirty="0"/>
              <a:t>: </a:t>
            </a:r>
          </a:p>
          <a:p>
            <a:endParaRPr lang="en-AU" sz="3200" baseline="30000" dirty="0"/>
          </a:p>
          <a:p>
            <a:r>
              <a:rPr lang="en-AU" sz="3200" dirty="0"/>
              <a:t>Period(T) = ?</a:t>
            </a:r>
          </a:p>
          <a:p>
            <a:endParaRPr lang="en-AU" sz="3200" dirty="0"/>
          </a:p>
          <a:p>
            <a:r>
              <a:rPr lang="en-AU" sz="3200" dirty="0"/>
              <a:t>Amplitude = ?</a:t>
            </a:r>
          </a:p>
          <a:p>
            <a:endParaRPr lang="en-AU" sz="3200" baseline="30000" dirty="0"/>
          </a:p>
          <a:p>
            <a:r>
              <a:rPr lang="en-AU" sz="3200" dirty="0"/>
              <a:t>Frequency(f) = ?</a:t>
            </a:r>
          </a:p>
        </p:txBody>
      </p:sp>
    </p:spTree>
    <p:extLst>
      <p:ext uri="{BB962C8B-B14F-4D97-AF65-F5344CB8AC3E}">
        <p14:creationId xmlns:p14="http://schemas.microsoft.com/office/powerpoint/2010/main" val="2031042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2EB92FD-0D1A-4310-9AFB-8D0BE88D2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10" y="1150190"/>
            <a:ext cx="10938752" cy="3983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444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241</Words>
  <Application>Microsoft Office PowerPoint</Application>
  <PresentationFormat>Widescreen</PresentationFormat>
  <Paragraphs>55</Paragraphs>
  <Slides>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Average</vt:lpstr>
      <vt:lpstr>Calibri</vt:lpstr>
      <vt:lpstr>Calibri Light</vt:lpstr>
      <vt:lpstr>Times New Roman</vt:lpstr>
      <vt:lpstr>Office Theme</vt:lpstr>
      <vt:lpstr>Equation</vt:lpstr>
      <vt:lpstr>PowerPoint Presentation</vt:lpstr>
      <vt:lpstr>PowerPoint Presentation</vt:lpstr>
      <vt:lpstr>PowerPoint Presentation</vt:lpstr>
      <vt:lpstr>Graph Types</vt:lpstr>
      <vt:lpstr>Properties of Displacement / DISTANCE Graphs</vt:lpstr>
      <vt:lpstr>Properties of Displacement / TIME Graphs</vt:lpstr>
      <vt:lpstr>Example Question(s):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FISHER Tracey [Willetton Senior High School]</dc:creator>
  <cp:lastModifiedBy>FISHER Tracey [Willetton Senior High School]</cp:lastModifiedBy>
  <cp:revision>4</cp:revision>
  <dcterms:created xsi:type="dcterms:W3CDTF">2023-07-16T10:41:03Z</dcterms:created>
  <dcterms:modified xsi:type="dcterms:W3CDTF">2023-09-14T03:46:22Z</dcterms:modified>
</cp:coreProperties>
</file>