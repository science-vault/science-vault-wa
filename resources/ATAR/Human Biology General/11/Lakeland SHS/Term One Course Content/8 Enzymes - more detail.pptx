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9"/>
  </p:notesMasterIdLst>
  <p:handoutMasterIdLst>
    <p:handoutMasterId r:id="rId40"/>
  </p:handoutMasterIdLst>
  <p:sldIdLst>
    <p:sldId id="256" r:id="rId2"/>
    <p:sldId id="265" r:id="rId3"/>
    <p:sldId id="322" r:id="rId4"/>
    <p:sldId id="323" r:id="rId5"/>
    <p:sldId id="325" r:id="rId6"/>
    <p:sldId id="326" r:id="rId7"/>
    <p:sldId id="327" r:id="rId8"/>
    <p:sldId id="328" r:id="rId9"/>
    <p:sldId id="329" r:id="rId10"/>
    <p:sldId id="330" r:id="rId11"/>
    <p:sldId id="331" r:id="rId12"/>
    <p:sldId id="332" r:id="rId13"/>
    <p:sldId id="334" r:id="rId14"/>
    <p:sldId id="335" r:id="rId15"/>
    <p:sldId id="336" r:id="rId16"/>
    <p:sldId id="337" r:id="rId17"/>
    <p:sldId id="338" r:id="rId18"/>
    <p:sldId id="339" r:id="rId19"/>
    <p:sldId id="340" r:id="rId20"/>
    <p:sldId id="365" r:id="rId21"/>
    <p:sldId id="341" r:id="rId22"/>
    <p:sldId id="342" r:id="rId23"/>
    <p:sldId id="348" r:id="rId24"/>
    <p:sldId id="349" r:id="rId25"/>
    <p:sldId id="350" r:id="rId26"/>
    <p:sldId id="351" r:id="rId27"/>
    <p:sldId id="362" r:id="rId28"/>
    <p:sldId id="353" r:id="rId29"/>
    <p:sldId id="356" r:id="rId30"/>
    <p:sldId id="363" r:id="rId31"/>
    <p:sldId id="361" r:id="rId32"/>
    <p:sldId id="343" r:id="rId33"/>
    <p:sldId id="344" r:id="rId34"/>
    <p:sldId id="364" r:id="rId35"/>
    <p:sldId id="345" r:id="rId36"/>
    <p:sldId id="346" r:id="rId37"/>
    <p:sldId id="347" r:id="rId38"/>
  </p:sldIdLst>
  <p:sldSz cx="9144000" cy="6858000" type="screen4x3"/>
  <p:notesSz cx="6797675" cy="9926638"/>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521415D9-36F7-43E2-AB2F-B90AF26B5E84}">
      <p14:sectionLst xmlns:p14="http://schemas.microsoft.com/office/powerpoint/2010/main">
        <p14:section name="Default Section" id="{1EE2915C-B3BC-452E-9E26-88518A5C95DB}">
          <p14:sldIdLst>
            <p14:sldId id="256"/>
            <p14:sldId id="265"/>
            <p14:sldId id="322"/>
            <p14:sldId id="323"/>
            <p14:sldId id="325"/>
            <p14:sldId id="326"/>
            <p14:sldId id="327"/>
            <p14:sldId id="328"/>
            <p14:sldId id="329"/>
            <p14:sldId id="330"/>
            <p14:sldId id="331"/>
            <p14:sldId id="332"/>
            <p14:sldId id="334"/>
            <p14:sldId id="335"/>
            <p14:sldId id="336"/>
            <p14:sldId id="337"/>
            <p14:sldId id="338"/>
            <p14:sldId id="339"/>
            <p14:sldId id="340"/>
            <p14:sldId id="365"/>
            <p14:sldId id="341"/>
            <p14:sldId id="342"/>
            <p14:sldId id="348"/>
            <p14:sldId id="349"/>
            <p14:sldId id="350"/>
            <p14:sldId id="351"/>
            <p14:sldId id="362"/>
            <p14:sldId id="353"/>
            <p14:sldId id="356"/>
            <p14:sldId id="363"/>
            <p14:sldId id="361"/>
            <p14:sldId id="343"/>
            <p14:sldId id="344"/>
            <p14:sldId id="364"/>
            <p14:sldId id="345"/>
            <p14:sldId id="346"/>
          </p14:sldIdLst>
        </p14:section>
        <p14:section name="Untitled Section" id="{68BC4642-FCDE-4CD0-B3F2-32D0F806765B}">
          <p14:sldIdLst>
            <p14:sldId id="347"/>
          </p14:sldIdLst>
        </p14:section>
      </p14:sectionLst>
    </p:ex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 uri="{2D200454-40CA-4A62-9FC3-DE9A4176ACB9}">
      <p15:notesGuideLst xmlns:p15="http://schemas.microsoft.com/office/powerpoint/2012/main" xmlns="">
        <p15:guide id="1" orient="horz" pos="3127" userDrawn="1">
          <p15:clr>
            <a:srgbClr val="A4A3A4"/>
          </p15:clr>
        </p15:guide>
        <p15:guide id="2" pos="2141"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99"/>
    <a:srgbClr val="FF9900"/>
    <a:srgbClr val="7F7F7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75090" autoAdjust="0"/>
  </p:normalViewPr>
  <p:slideViewPr>
    <p:cSldViewPr>
      <p:cViewPr varScale="1">
        <p:scale>
          <a:sx n="75" d="100"/>
          <a:sy n="75" d="100"/>
        </p:scale>
        <p:origin x="-1656" y="-72"/>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notesViewPr>
    <p:cSldViewPr>
      <p:cViewPr varScale="1">
        <p:scale>
          <a:sx n="83" d="100"/>
          <a:sy n="83" d="100"/>
        </p:scale>
        <p:origin x="-2676" y="-90"/>
      </p:cViewPr>
      <p:guideLst>
        <p:guide orient="horz" pos="3127"/>
        <p:guide pos="2141"/>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6332"/>
          </a:xfrm>
          <a:prstGeom prst="rect">
            <a:avLst/>
          </a:prstGeom>
        </p:spPr>
        <p:txBody>
          <a:bodyPr vert="horz" lIns="91440" tIns="45720" rIns="91440" bIns="45720" rtlCol="0"/>
          <a:lstStyle>
            <a:lvl1pPr algn="l">
              <a:defRPr sz="1200">
                <a:cs typeface="+mn-cs"/>
              </a:defRPr>
            </a:lvl1pPr>
          </a:lstStyle>
          <a:p>
            <a:pPr>
              <a:defRPr/>
            </a:pPr>
            <a:endParaRPr lang="en-US"/>
          </a:p>
        </p:txBody>
      </p:sp>
      <p:sp>
        <p:nvSpPr>
          <p:cNvPr id="3" name="Date Placeholder 2"/>
          <p:cNvSpPr>
            <a:spLocks noGrp="1"/>
          </p:cNvSpPr>
          <p:nvPr>
            <p:ph type="dt" sz="quarter" idx="1"/>
          </p:nvPr>
        </p:nvSpPr>
        <p:spPr>
          <a:xfrm>
            <a:off x="3850443" y="0"/>
            <a:ext cx="2945659" cy="496332"/>
          </a:xfrm>
          <a:prstGeom prst="rect">
            <a:avLst/>
          </a:prstGeom>
        </p:spPr>
        <p:txBody>
          <a:bodyPr vert="horz" lIns="91440" tIns="45720" rIns="91440" bIns="45720" rtlCol="0"/>
          <a:lstStyle>
            <a:lvl1pPr algn="r">
              <a:defRPr sz="1200">
                <a:cs typeface="+mn-cs"/>
              </a:defRPr>
            </a:lvl1pPr>
          </a:lstStyle>
          <a:p>
            <a:pPr>
              <a:defRPr/>
            </a:pPr>
            <a:fld id="{E8BE3292-0465-4EF0-B5B3-C539ACAB98FA}" type="datetimeFigureOut">
              <a:rPr lang="en-US"/>
              <a:pPr>
                <a:defRPr/>
              </a:pPr>
              <a:t>8/21/2017</a:t>
            </a:fld>
            <a:endParaRPr lang="en-US"/>
          </a:p>
        </p:txBody>
      </p:sp>
      <p:sp>
        <p:nvSpPr>
          <p:cNvPr id="4" name="Footer Placeholder 3"/>
          <p:cNvSpPr>
            <a:spLocks noGrp="1"/>
          </p:cNvSpPr>
          <p:nvPr>
            <p:ph type="ftr" sz="quarter" idx="2"/>
          </p:nvPr>
        </p:nvSpPr>
        <p:spPr>
          <a:xfrm>
            <a:off x="0" y="9428584"/>
            <a:ext cx="2945659" cy="496332"/>
          </a:xfrm>
          <a:prstGeom prst="rect">
            <a:avLst/>
          </a:prstGeom>
        </p:spPr>
        <p:txBody>
          <a:bodyPr vert="horz" lIns="91440" tIns="45720" rIns="91440" bIns="45720" rtlCol="0" anchor="b"/>
          <a:lstStyle>
            <a:lvl1pPr algn="l">
              <a:defRPr sz="1200">
                <a:cs typeface="+mn-cs"/>
              </a:defRPr>
            </a:lvl1pPr>
          </a:lstStyle>
          <a:p>
            <a:pPr>
              <a:defRPr/>
            </a:pPr>
            <a:endParaRPr lang="en-US"/>
          </a:p>
        </p:txBody>
      </p:sp>
      <p:sp>
        <p:nvSpPr>
          <p:cNvPr id="5" name="Slide Number Placeholder 4"/>
          <p:cNvSpPr>
            <a:spLocks noGrp="1"/>
          </p:cNvSpPr>
          <p:nvPr>
            <p:ph type="sldNum" sz="quarter" idx="3"/>
          </p:nvPr>
        </p:nvSpPr>
        <p:spPr>
          <a:xfrm>
            <a:off x="3850443" y="9428584"/>
            <a:ext cx="2945659" cy="496332"/>
          </a:xfrm>
          <a:prstGeom prst="rect">
            <a:avLst/>
          </a:prstGeom>
        </p:spPr>
        <p:txBody>
          <a:bodyPr vert="horz" lIns="91440" tIns="45720" rIns="91440" bIns="45720" rtlCol="0" anchor="b"/>
          <a:lstStyle>
            <a:lvl1pPr algn="r">
              <a:defRPr sz="1200">
                <a:cs typeface="+mn-cs"/>
              </a:defRPr>
            </a:lvl1pPr>
          </a:lstStyle>
          <a:p>
            <a:pPr>
              <a:defRPr/>
            </a:pPr>
            <a:fld id="{5296ABA5-3682-4280-B0AB-5EE6DB015BA7}" type="slidenum">
              <a:rPr lang="en-US"/>
              <a:pPr>
                <a:defRPr/>
              </a:pPr>
              <a:t>‹#›</a:t>
            </a:fld>
            <a:endParaRPr lang="en-US"/>
          </a:p>
        </p:txBody>
      </p:sp>
    </p:spTree>
    <p:extLst>
      <p:ext uri="{BB962C8B-B14F-4D97-AF65-F5344CB8AC3E}">
        <p14:creationId xmlns:p14="http://schemas.microsoft.com/office/powerpoint/2010/main" val="139052777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6332"/>
          </a:xfrm>
          <a:prstGeom prst="rect">
            <a:avLst/>
          </a:prstGeom>
        </p:spPr>
        <p:txBody>
          <a:bodyPr vert="horz" lIns="91440" tIns="45720" rIns="91440" bIns="45720" rtlCol="0"/>
          <a:lstStyle>
            <a:lvl1pPr algn="l" fontAlgn="auto">
              <a:spcBef>
                <a:spcPts val="0"/>
              </a:spcBef>
              <a:spcAft>
                <a:spcPts val="0"/>
              </a:spcAft>
              <a:defRPr sz="1200">
                <a:latin typeface="+mn-lt"/>
                <a:cs typeface="+mn-cs"/>
              </a:defRPr>
            </a:lvl1pPr>
          </a:lstStyle>
          <a:p>
            <a:pPr>
              <a:defRPr/>
            </a:pPr>
            <a:endParaRPr lang="en-US"/>
          </a:p>
        </p:txBody>
      </p:sp>
      <p:sp>
        <p:nvSpPr>
          <p:cNvPr id="3" name="Date Placeholder 2"/>
          <p:cNvSpPr>
            <a:spLocks noGrp="1"/>
          </p:cNvSpPr>
          <p:nvPr>
            <p:ph type="dt" idx="1"/>
          </p:nvPr>
        </p:nvSpPr>
        <p:spPr>
          <a:xfrm>
            <a:off x="3850443" y="0"/>
            <a:ext cx="2945659" cy="496332"/>
          </a:xfrm>
          <a:prstGeom prst="rect">
            <a:avLst/>
          </a:prstGeom>
        </p:spPr>
        <p:txBody>
          <a:bodyPr vert="horz" lIns="91440" tIns="45720" rIns="91440" bIns="45720" rtlCol="0"/>
          <a:lstStyle>
            <a:lvl1pPr algn="r" fontAlgn="auto">
              <a:spcBef>
                <a:spcPts val="0"/>
              </a:spcBef>
              <a:spcAft>
                <a:spcPts val="0"/>
              </a:spcAft>
              <a:defRPr sz="1200">
                <a:latin typeface="+mn-lt"/>
                <a:cs typeface="+mn-cs"/>
              </a:defRPr>
            </a:lvl1pPr>
          </a:lstStyle>
          <a:p>
            <a:pPr>
              <a:defRPr/>
            </a:pPr>
            <a:fld id="{289285E7-059C-4F59-BE13-786ECCB56B33}" type="datetimeFigureOut">
              <a:rPr lang="en-US"/>
              <a:pPr>
                <a:defRPr/>
              </a:pPr>
              <a:t>8/21/2017</a:t>
            </a:fld>
            <a:endParaRPr lang="en-US"/>
          </a:p>
        </p:txBody>
      </p:sp>
      <p:sp>
        <p:nvSpPr>
          <p:cNvPr id="4" name="Slide Image Placeholder 3"/>
          <p:cNvSpPr>
            <a:spLocks noGrp="1" noRot="1" noChangeAspect="1"/>
          </p:cNvSpPr>
          <p:nvPr>
            <p:ph type="sldImg" idx="2"/>
          </p:nvPr>
        </p:nvSpPr>
        <p:spPr>
          <a:xfrm>
            <a:off x="917575" y="744538"/>
            <a:ext cx="4962525" cy="3722687"/>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79768" y="4715153"/>
            <a:ext cx="5438140" cy="4466987"/>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9428584"/>
            <a:ext cx="2945659" cy="496332"/>
          </a:xfrm>
          <a:prstGeom prst="rect">
            <a:avLst/>
          </a:prstGeom>
        </p:spPr>
        <p:txBody>
          <a:bodyPr vert="horz" lIns="91440" tIns="45720" rIns="91440" bIns="45720" rtlCol="0" anchor="b"/>
          <a:lstStyle>
            <a:lvl1pPr algn="l" fontAlgn="auto">
              <a:spcBef>
                <a:spcPts val="0"/>
              </a:spcBef>
              <a:spcAft>
                <a:spcPts val="0"/>
              </a:spcAft>
              <a:defRPr sz="1200">
                <a:latin typeface="+mn-lt"/>
                <a:cs typeface="+mn-cs"/>
              </a:defRPr>
            </a:lvl1pPr>
          </a:lstStyle>
          <a:p>
            <a:pPr>
              <a:defRPr/>
            </a:pPr>
            <a:endParaRPr lang="en-US"/>
          </a:p>
        </p:txBody>
      </p:sp>
      <p:sp>
        <p:nvSpPr>
          <p:cNvPr id="7" name="Slide Number Placeholder 6"/>
          <p:cNvSpPr>
            <a:spLocks noGrp="1"/>
          </p:cNvSpPr>
          <p:nvPr>
            <p:ph type="sldNum" sz="quarter" idx="5"/>
          </p:nvPr>
        </p:nvSpPr>
        <p:spPr>
          <a:xfrm>
            <a:off x="3850443" y="9428584"/>
            <a:ext cx="2945659" cy="496332"/>
          </a:xfrm>
          <a:prstGeom prst="rect">
            <a:avLst/>
          </a:prstGeom>
        </p:spPr>
        <p:txBody>
          <a:bodyPr vert="horz" lIns="91440" tIns="45720" rIns="91440" bIns="45720" rtlCol="0" anchor="b"/>
          <a:lstStyle>
            <a:lvl1pPr algn="r" fontAlgn="auto">
              <a:spcBef>
                <a:spcPts val="0"/>
              </a:spcBef>
              <a:spcAft>
                <a:spcPts val="0"/>
              </a:spcAft>
              <a:defRPr sz="1200">
                <a:latin typeface="+mn-lt"/>
                <a:cs typeface="+mn-cs"/>
              </a:defRPr>
            </a:lvl1pPr>
          </a:lstStyle>
          <a:p>
            <a:pPr>
              <a:defRPr/>
            </a:pPr>
            <a:fld id="{60304E8F-7DE4-4BC5-8D15-3EAD43A073A8}" type="slidenum">
              <a:rPr lang="en-US"/>
              <a:pPr>
                <a:defRPr/>
              </a:pPr>
              <a:t>‹#›</a:t>
            </a:fld>
            <a:endParaRPr lang="en-US"/>
          </a:p>
        </p:txBody>
      </p:sp>
    </p:spTree>
    <p:extLst>
      <p:ext uri="{BB962C8B-B14F-4D97-AF65-F5344CB8AC3E}">
        <p14:creationId xmlns:p14="http://schemas.microsoft.com/office/powerpoint/2010/main" val="269010807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Slide Image Placeholder 1"/>
          <p:cNvSpPr>
            <a:spLocks noGrp="1" noRot="1" noChangeAspect="1" noTextEdit="1"/>
          </p:cNvSpPr>
          <p:nvPr>
            <p:ph type="sldImg"/>
          </p:nvPr>
        </p:nvSpPr>
        <p:spPr bwMode="auto">
          <a:noFill/>
          <a:ln>
            <a:solidFill>
              <a:srgbClr val="000000"/>
            </a:solidFill>
            <a:miter lim="800000"/>
            <a:headEnd/>
            <a:tailEnd/>
          </a:ln>
        </p:spPr>
      </p:sp>
      <p:sp>
        <p:nvSpPr>
          <p:cNvPr id="12291"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dirty="0"/>
          </a:p>
        </p:txBody>
      </p:sp>
      <p:sp>
        <p:nvSpPr>
          <p:cNvPr id="4" name="Slide Number Placeholder 3"/>
          <p:cNvSpPr>
            <a:spLocks noGrp="1"/>
          </p:cNvSpPr>
          <p:nvPr>
            <p:ph type="sldNum" sz="quarter" idx="5"/>
          </p:nvPr>
        </p:nvSpPr>
        <p:spPr/>
        <p:txBody>
          <a:bodyPr/>
          <a:lstStyle/>
          <a:p>
            <a:pPr>
              <a:defRPr/>
            </a:pPr>
            <a:fld id="{4B7C94BA-2A6F-4A11-BBF6-919098AFBBFB}" type="slidenum">
              <a:rPr lang="en-US" smtClean="0"/>
              <a:pPr>
                <a:defRPr/>
              </a:pPr>
              <a:t>1</a:t>
            </a:fld>
            <a:endParaRPr lang="en-US"/>
          </a:p>
        </p:txBody>
      </p:sp>
    </p:spTree>
    <p:extLst>
      <p:ext uri="{BB962C8B-B14F-4D97-AF65-F5344CB8AC3E}">
        <p14:creationId xmlns:p14="http://schemas.microsoft.com/office/powerpoint/2010/main" val="36170317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Image Placeholder 1"/>
          <p:cNvSpPr>
            <a:spLocks noGrp="1" noRot="1" noChangeAspect="1" noTextEdit="1"/>
          </p:cNvSpPr>
          <p:nvPr>
            <p:ph type="sldImg"/>
          </p:nvPr>
        </p:nvSpPr>
        <p:spPr bwMode="auto">
          <a:noFill/>
          <a:ln>
            <a:solidFill>
              <a:srgbClr val="000000"/>
            </a:solidFill>
            <a:miter lim="800000"/>
            <a:headEnd/>
            <a:tailEnd/>
          </a:ln>
        </p:spPr>
      </p:sp>
      <p:sp>
        <p:nvSpPr>
          <p:cNvPr id="14339"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dirty="0"/>
          </a:p>
        </p:txBody>
      </p:sp>
      <p:sp>
        <p:nvSpPr>
          <p:cNvPr id="4" name="Slide Number Placeholder 3"/>
          <p:cNvSpPr>
            <a:spLocks noGrp="1"/>
          </p:cNvSpPr>
          <p:nvPr>
            <p:ph type="sldNum" sz="quarter" idx="5"/>
          </p:nvPr>
        </p:nvSpPr>
        <p:spPr/>
        <p:txBody>
          <a:bodyPr/>
          <a:lstStyle/>
          <a:p>
            <a:pPr>
              <a:defRPr/>
            </a:pPr>
            <a:fld id="{8265CCF7-C6F2-435C-AB36-78C649E2A501}" type="slidenum">
              <a:rPr lang="en-US" smtClean="0"/>
              <a:pPr>
                <a:defRPr/>
              </a:pPr>
              <a:t>2</a:t>
            </a:fld>
            <a:endParaRPr lang="en-US"/>
          </a:p>
        </p:txBody>
      </p:sp>
    </p:spTree>
    <p:extLst>
      <p:ext uri="{BB962C8B-B14F-4D97-AF65-F5344CB8AC3E}">
        <p14:creationId xmlns:p14="http://schemas.microsoft.com/office/powerpoint/2010/main" val="16986651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Image Placeholder 1"/>
          <p:cNvSpPr>
            <a:spLocks noGrp="1" noRot="1" noChangeAspect="1" noTextEdit="1"/>
          </p:cNvSpPr>
          <p:nvPr>
            <p:ph type="sldImg"/>
          </p:nvPr>
        </p:nvSpPr>
        <p:spPr bwMode="auto">
          <a:noFill/>
          <a:ln>
            <a:solidFill>
              <a:srgbClr val="000000"/>
            </a:solidFill>
            <a:miter lim="800000"/>
            <a:headEnd/>
            <a:tailEnd/>
          </a:ln>
        </p:spPr>
      </p:sp>
      <p:sp>
        <p:nvSpPr>
          <p:cNvPr id="14339" name="Notes Placeholder 2"/>
          <p:cNvSpPr>
            <a:spLocks noGrp="1"/>
          </p:cNvSpPr>
          <p:nvPr>
            <p:ph type="body" idx="1"/>
          </p:nvPr>
        </p:nvSpPr>
        <p:spPr bwMode="auto">
          <a:noFill/>
        </p:spPr>
        <p:txBody>
          <a:bodyPr wrap="square" numCol="1" anchor="t" anchorCtr="0" compatLnSpc="1">
            <a:prstTxWarp prst="textNoShape">
              <a:avLst/>
            </a:prstTxWarp>
          </a:bodyPr>
          <a:lstStyle/>
          <a:p>
            <a:r>
              <a:rPr lang="en-AU" sz="1200" b="0" i="0" u="none" strike="noStrike" kern="1200" baseline="0" dirty="0">
                <a:solidFill>
                  <a:schemeClr val="tx1"/>
                </a:solidFill>
                <a:latin typeface="+mn-lt"/>
                <a:ea typeface="+mn-ea"/>
                <a:cs typeface="+mn-cs"/>
              </a:rPr>
              <a:t>Similar to a factory, compartmentalising a cell by having membrane-bound organelles creates specialised environments for specific functions. A large number of activities can occur at the same time in a very limited space and under different conditions. For example, chemical reactions in lysosomes break down compounds brought into the cell by using strong digestive enzymes in an acidic environment. Enclosing them in a membrane prevents them destroying the cell. Specific chemical reactions can occur using only a handful of enzymes that can be concentrated and recycled in membrane-bound areas. Membrane-bound structures can concentrate reactants and store products.</a:t>
            </a:r>
            <a:endParaRPr lang="en-US" sz="1200" kern="1200" baseline="0" dirty="0">
              <a:solidFill>
                <a:schemeClr val="tx1"/>
              </a:solidFill>
              <a:latin typeface="+mn-lt"/>
              <a:ea typeface="+mn-ea"/>
              <a:cs typeface="+mn-cs"/>
            </a:endParaRPr>
          </a:p>
        </p:txBody>
      </p:sp>
      <p:sp>
        <p:nvSpPr>
          <p:cNvPr id="4" name="Slide Number Placeholder 3"/>
          <p:cNvSpPr>
            <a:spLocks noGrp="1"/>
          </p:cNvSpPr>
          <p:nvPr>
            <p:ph type="sldNum" sz="quarter" idx="5"/>
          </p:nvPr>
        </p:nvSpPr>
        <p:spPr/>
        <p:txBody>
          <a:bodyPr/>
          <a:lstStyle/>
          <a:p>
            <a:pPr>
              <a:defRPr/>
            </a:pPr>
            <a:fld id="{8265CCF7-C6F2-435C-AB36-78C649E2A501}" type="slidenum">
              <a:rPr lang="en-US" smtClean="0"/>
              <a:pPr>
                <a:defRPr/>
              </a:pPr>
              <a:t>3</a:t>
            </a:fld>
            <a:endParaRPr lang="en-US"/>
          </a:p>
        </p:txBody>
      </p:sp>
    </p:spTree>
    <p:extLst>
      <p:ext uri="{BB962C8B-B14F-4D97-AF65-F5344CB8AC3E}">
        <p14:creationId xmlns:p14="http://schemas.microsoft.com/office/powerpoint/2010/main" val="6663337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Image Placeholder 1"/>
          <p:cNvSpPr>
            <a:spLocks noGrp="1" noRot="1" noChangeAspect="1" noTextEdit="1"/>
          </p:cNvSpPr>
          <p:nvPr>
            <p:ph type="sldImg"/>
          </p:nvPr>
        </p:nvSpPr>
        <p:spPr bwMode="auto">
          <a:noFill/>
          <a:ln>
            <a:solidFill>
              <a:srgbClr val="000000"/>
            </a:solidFill>
            <a:miter lim="800000"/>
            <a:headEnd/>
            <a:tailEnd/>
          </a:ln>
        </p:spPr>
      </p:sp>
      <p:sp>
        <p:nvSpPr>
          <p:cNvPr id="14339" name="Notes Placeholder 2"/>
          <p:cNvSpPr>
            <a:spLocks noGrp="1"/>
          </p:cNvSpPr>
          <p:nvPr>
            <p:ph type="body" idx="1"/>
          </p:nvPr>
        </p:nvSpPr>
        <p:spPr bwMode="auto">
          <a:noFill/>
        </p:spPr>
        <p:txBody>
          <a:bodyPr wrap="square" numCol="1" anchor="t" anchorCtr="0" compatLnSpc="1">
            <a:prstTxWarp prst="textNoShape">
              <a:avLst/>
            </a:prstTxWarp>
          </a:bodyPr>
          <a:lstStyle/>
          <a:p>
            <a:r>
              <a:rPr lang="en-US" dirty="0"/>
              <a:t>These reactions need to occur at a rate that</a:t>
            </a:r>
            <a:r>
              <a:rPr lang="en-US" baseline="0" dirty="0"/>
              <a:t> </a:t>
            </a:r>
            <a:r>
              <a:rPr lang="en-US" dirty="0"/>
              <a:t>allows the cell to function. </a:t>
            </a:r>
          </a:p>
          <a:p>
            <a:endParaRPr lang="en-US" dirty="0"/>
          </a:p>
          <a:p>
            <a:r>
              <a:rPr lang="en-US" dirty="0"/>
              <a:t>Answer:</a:t>
            </a:r>
            <a:r>
              <a:rPr lang="en-US" baseline="0" dirty="0"/>
              <a:t> Enzymes</a:t>
            </a:r>
          </a:p>
          <a:p>
            <a:endParaRPr lang="en-US" baseline="0" dirty="0"/>
          </a:p>
          <a:p>
            <a:r>
              <a:rPr lang="en-US" dirty="0"/>
              <a:t>Each step in the pathway is controlled by</a:t>
            </a:r>
            <a:r>
              <a:rPr lang="en-US" baseline="0" dirty="0"/>
              <a:t> </a:t>
            </a:r>
            <a:r>
              <a:rPr lang="en-US" dirty="0"/>
              <a:t>an enzyme.</a:t>
            </a:r>
          </a:p>
          <a:p>
            <a:r>
              <a:rPr lang="en-US" dirty="0"/>
              <a:t>Enzymes</a:t>
            </a:r>
            <a:r>
              <a:rPr lang="en-US" baseline="0" dirty="0"/>
              <a:t> </a:t>
            </a:r>
            <a:r>
              <a:rPr lang="en-US" dirty="0"/>
              <a:t>speeds up the rate of</a:t>
            </a:r>
            <a:r>
              <a:rPr lang="en-US" baseline="0" dirty="0"/>
              <a:t> </a:t>
            </a:r>
            <a:r>
              <a:rPr lang="en-US" dirty="0"/>
              <a:t>chemical reactions without undergoing any change itself.</a:t>
            </a:r>
          </a:p>
          <a:p>
            <a:r>
              <a:rPr lang="en-US" sz="1200" kern="1200" baseline="0" dirty="0">
                <a:solidFill>
                  <a:schemeClr val="tx1"/>
                </a:solidFill>
                <a:latin typeface="+mn-lt"/>
                <a:ea typeface="+mn-ea"/>
                <a:cs typeface="+mn-cs"/>
              </a:rPr>
              <a:t>Without enzymes the reactions would occur so slow as to hardly proceed at all.</a:t>
            </a:r>
          </a:p>
          <a:p>
            <a:endParaRPr lang="en-US" dirty="0"/>
          </a:p>
          <a:p>
            <a:endParaRPr lang="en-US" sz="1200" kern="1200" baseline="0" dirty="0">
              <a:solidFill>
                <a:schemeClr val="tx1"/>
              </a:solidFill>
              <a:latin typeface="+mn-lt"/>
              <a:ea typeface="+mn-ea"/>
              <a:cs typeface="+mn-cs"/>
            </a:endParaRPr>
          </a:p>
        </p:txBody>
      </p:sp>
      <p:sp>
        <p:nvSpPr>
          <p:cNvPr id="4" name="Slide Number Placeholder 3"/>
          <p:cNvSpPr>
            <a:spLocks noGrp="1"/>
          </p:cNvSpPr>
          <p:nvPr>
            <p:ph type="sldNum" sz="quarter" idx="5"/>
          </p:nvPr>
        </p:nvSpPr>
        <p:spPr/>
        <p:txBody>
          <a:bodyPr/>
          <a:lstStyle/>
          <a:p>
            <a:pPr>
              <a:defRPr/>
            </a:pPr>
            <a:fld id="{8265CCF7-C6F2-435C-AB36-78C649E2A501}" type="slidenum">
              <a:rPr lang="en-US" smtClean="0"/>
              <a:pPr>
                <a:defRPr/>
              </a:pPr>
              <a:t>4</a:t>
            </a:fld>
            <a:endParaRPr lang="en-US"/>
          </a:p>
        </p:txBody>
      </p:sp>
    </p:spTree>
    <p:extLst>
      <p:ext uri="{BB962C8B-B14F-4D97-AF65-F5344CB8AC3E}">
        <p14:creationId xmlns:p14="http://schemas.microsoft.com/office/powerpoint/2010/main" val="307368790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Image Placeholder 1"/>
          <p:cNvSpPr>
            <a:spLocks noGrp="1" noRot="1" noChangeAspect="1" noTextEdit="1"/>
          </p:cNvSpPr>
          <p:nvPr>
            <p:ph type="sldImg"/>
          </p:nvPr>
        </p:nvSpPr>
        <p:spPr bwMode="auto">
          <a:noFill/>
          <a:ln>
            <a:solidFill>
              <a:srgbClr val="000000"/>
            </a:solidFill>
            <a:miter lim="800000"/>
            <a:headEnd/>
            <a:tailEnd/>
          </a:ln>
        </p:spPr>
      </p:sp>
      <p:sp>
        <p:nvSpPr>
          <p:cNvPr id="14339"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sz="1200" kern="1200" baseline="0" dirty="0">
              <a:solidFill>
                <a:schemeClr val="tx1"/>
              </a:solidFill>
              <a:latin typeface="+mn-lt"/>
              <a:ea typeface="+mn-ea"/>
              <a:cs typeface="+mn-cs"/>
            </a:endParaRPr>
          </a:p>
        </p:txBody>
      </p:sp>
      <p:sp>
        <p:nvSpPr>
          <p:cNvPr id="4" name="Slide Number Placeholder 3"/>
          <p:cNvSpPr>
            <a:spLocks noGrp="1"/>
          </p:cNvSpPr>
          <p:nvPr>
            <p:ph type="sldNum" sz="quarter" idx="5"/>
          </p:nvPr>
        </p:nvSpPr>
        <p:spPr/>
        <p:txBody>
          <a:bodyPr/>
          <a:lstStyle/>
          <a:p>
            <a:pPr>
              <a:defRPr/>
            </a:pPr>
            <a:fld id="{8265CCF7-C6F2-435C-AB36-78C649E2A501}" type="slidenum">
              <a:rPr lang="en-US" smtClean="0"/>
              <a:pPr>
                <a:defRPr/>
              </a:pPr>
              <a:t>5</a:t>
            </a:fld>
            <a:endParaRPr lang="en-US"/>
          </a:p>
        </p:txBody>
      </p:sp>
    </p:spTree>
    <p:extLst>
      <p:ext uri="{BB962C8B-B14F-4D97-AF65-F5344CB8AC3E}">
        <p14:creationId xmlns:p14="http://schemas.microsoft.com/office/powerpoint/2010/main" val="6780298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Image Placeholder 1"/>
          <p:cNvSpPr>
            <a:spLocks noGrp="1" noRot="1" noChangeAspect="1" noTextEdit="1"/>
          </p:cNvSpPr>
          <p:nvPr>
            <p:ph type="sldImg"/>
          </p:nvPr>
        </p:nvSpPr>
        <p:spPr bwMode="auto">
          <a:noFill/>
          <a:ln>
            <a:solidFill>
              <a:srgbClr val="000000"/>
            </a:solidFill>
            <a:miter lim="800000"/>
            <a:headEnd/>
            <a:tailEnd/>
          </a:ln>
        </p:spPr>
      </p:sp>
      <p:sp>
        <p:nvSpPr>
          <p:cNvPr id="14339" name="Notes Placeholder 2"/>
          <p:cNvSpPr>
            <a:spLocks noGrp="1"/>
          </p:cNvSpPr>
          <p:nvPr>
            <p:ph type="body" idx="1"/>
          </p:nvPr>
        </p:nvSpPr>
        <p:spPr bwMode="auto">
          <a:noFill/>
        </p:spPr>
        <p:txBody>
          <a:bodyPr wrap="square" numCol="1" anchor="t" anchorCtr="0" compatLnSpc="1">
            <a:prstTxWarp prst="textNoShape">
              <a:avLst/>
            </a:prstTxWarp>
          </a:bodyPr>
          <a:lstStyle/>
          <a:p>
            <a:r>
              <a:rPr lang="en-US" sz="1200" kern="1200" baseline="0" dirty="0">
                <a:solidFill>
                  <a:schemeClr val="tx1"/>
                </a:solidFill>
                <a:latin typeface="+mn-lt"/>
                <a:ea typeface="+mn-ea"/>
                <a:cs typeface="+mn-cs"/>
              </a:rPr>
              <a:t>Reactions that breakdown complex molecules to simpler fragments are called catabolic reactions. For example, starch polymer breaking down to simple glucose monomers.</a:t>
            </a:r>
          </a:p>
          <a:p>
            <a:endParaRPr lang="en-US" sz="120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Reactions that start with simple molecules to build more complex molecules  are called anabolic reactions. For example, amino acids form a polypeptide chain.</a:t>
            </a:r>
          </a:p>
          <a:p>
            <a:endParaRPr lang="en-US" sz="1200" b="0" kern="1200" baseline="0" dirty="0">
              <a:solidFill>
                <a:schemeClr val="tx1"/>
              </a:solidFill>
              <a:latin typeface="+mn-lt"/>
              <a:ea typeface="+mn-ea"/>
              <a:cs typeface="+mn-cs"/>
            </a:endParaRPr>
          </a:p>
        </p:txBody>
      </p:sp>
      <p:sp>
        <p:nvSpPr>
          <p:cNvPr id="4" name="Slide Number Placeholder 3"/>
          <p:cNvSpPr>
            <a:spLocks noGrp="1"/>
          </p:cNvSpPr>
          <p:nvPr>
            <p:ph type="sldNum" sz="quarter" idx="5"/>
          </p:nvPr>
        </p:nvSpPr>
        <p:spPr/>
        <p:txBody>
          <a:bodyPr/>
          <a:lstStyle/>
          <a:p>
            <a:pPr>
              <a:defRPr/>
            </a:pPr>
            <a:fld id="{8265CCF7-C6F2-435C-AB36-78C649E2A501}" type="slidenum">
              <a:rPr lang="en-US" smtClean="0"/>
              <a:pPr>
                <a:defRPr/>
              </a:pPr>
              <a:t>6</a:t>
            </a:fld>
            <a:endParaRPr lang="en-US"/>
          </a:p>
        </p:txBody>
      </p:sp>
    </p:spTree>
    <p:extLst>
      <p:ext uri="{BB962C8B-B14F-4D97-AF65-F5344CB8AC3E}">
        <p14:creationId xmlns:p14="http://schemas.microsoft.com/office/powerpoint/2010/main" val="243607222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Image Placeholder 1"/>
          <p:cNvSpPr>
            <a:spLocks noGrp="1" noRot="1" noChangeAspect="1" noTextEdit="1"/>
          </p:cNvSpPr>
          <p:nvPr>
            <p:ph type="sldImg"/>
          </p:nvPr>
        </p:nvSpPr>
        <p:spPr bwMode="auto">
          <a:noFill/>
          <a:ln>
            <a:solidFill>
              <a:srgbClr val="000000"/>
            </a:solidFill>
            <a:miter lim="800000"/>
            <a:headEnd/>
            <a:tailEnd/>
          </a:ln>
        </p:spPr>
      </p:sp>
      <p:sp>
        <p:nvSpPr>
          <p:cNvPr id="14339" name="Notes Placeholder 2"/>
          <p:cNvSpPr>
            <a:spLocks noGrp="1"/>
          </p:cNvSpPr>
          <p:nvPr>
            <p:ph type="body" idx="1"/>
          </p:nvPr>
        </p:nvSpPr>
        <p:spPr bwMode="auto">
          <a:noFill/>
        </p:spPr>
        <p:txBody>
          <a:bodyPr wrap="square" numCol="1" anchor="t" anchorCtr="0" compatLnSpc="1">
            <a:prstTxWarp prst="textNoShape">
              <a:avLst/>
            </a:prstTxWarp>
            <a:normAutofit fontScale="92500" lnSpcReduction="10000"/>
          </a:bodyPr>
          <a:lstStyle/>
          <a:p>
            <a:r>
              <a:rPr lang="en-US" sz="1200" b="0" kern="1200" baseline="0" dirty="0">
                <a:solidFill>
                  <a:schemeClr val="tx1"/>
                </a:solidFill>
                <a:latin typeface="+mn-lt"/>
                <a:ea typeface="+mn-ea"/>
                <a:cs typeface="+mn-cs"/>
              </a:rPr>
              <a:t>Energy is required to make any reaction go. Exergonic reactions (‘</a:t>
            </a:r>
            <a:r>
              <a:rPr lang="en-US" sz="1200" b="0" kern="1200" baseline="0" dirty="0" err="1">
                <a:solidFill>
                  <a:schemeClr val="tx1"/>
                </a:solidFill>
                <a:latin typeface="+mn-lt"/>
                <a:ea typeface="+mn-ea"/>
                <a:cs typeface="+mn-cs"/>
              </a:rPr>
              <a:t>exo</a:t>
            </a:r>
            <a:r>
              <a:rPr lang="en-US" sz="1200" b="0" kern="1200" baseline="0" dirty="0">
                <a:solidFill>
                  <a:schemeClr val="tx1"/>
                </a:solidFill>
                <a:latin typeface="+mn-lt"/>
                <a:ea typeface="+mn-ea"/>
                <a:cs typeface="+mn-cs"/>
              </a:rPr>
              <a:t>’ = </a:t>
            </a:r>
            <a:r>
              <a:rPr lang="en-US" sz="1200" kern="1200" baseline="0" dirty="0">
                <a:solidFill>
                  <a:schemeClr val="tx1"/>
                </a:solidFill>
                <a:latin typeface="+mn-lt"/>
                <a:ea typeface="+mn-ea"/>
                <a:cs typeface="+mn-cs"/>
              </a:rPr>
              <a:t>out) are those that release surplus energy as the reaction forms products.  When molecular bonds are broken, energy is released.  It makes sense that when a large molecule is broken down to smaller molecules, a large amount of energy is released. Therefore, catabolic reactions are exergonic reactions.</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Reactions that require more energy to go are endergonic reaction (‘</a:t>
            </a:r>
            <a:r>
              <a:rPr lang="en-US" sz="1200" b="0" kern="1200" baseline="0" dirty="0" err="1">
                <a:solidFill>
                  <a:schemeClr val="tx1"/>
                </a:solidFill>
                <a:latin typeface="+mn-lt"/>
                <a:ea typeface="+mn-ea"/>
                <a:cs typeface="+mn-cs"/>
              </a:rPr>
              <a:t>endo</a:t>
            </a:r>
            <a:r>
              <a:rPr lang="en-US" sz="1200" b="0" kern="1200" baseline="0" dirty="0">
                <a:solidFill>
                  <a:schemeClr val="tx1"/>
                </a:solidFill>
                <a:latin typeface="+mn-lt"/>
                <a:ea typeface="+mn-ea"/>
                <a:cs typeface="+mn-cs"/>
              </a:rPr>
              <a:t>’ = in). </a:t>
            </a:r>
            <a:r>
              <a:rPr lang="en-US" sz="1200" kern="1200" baseline="0" dirty="0">
                <a:solidFill>
                  <a:schemeClr val="tx1"/>
                </a:solidFill>
                <a:latin typeface="+mn-lt"/>
                <a:ea typeface="+mn-ea"/>
                <a:cs typeface="+mn-cs"/>
              </a:rPr>
              <a:t>When proteins are built up from amino acids, energy is used. Anabolic reactions are always endergonic. Cells use the available energy released from catabolic reactions to fuel anabolic reactions.</a:t>
            </a:r>
          </a:p>
          <a:p>
            <a:endParaRPr lang="en-US" sz="1200" kern="1200" baseline="0" dirty="0">
              <a:solidFill>
                <a:schemeClr val="tx1"/>
              </a:solidFill>
              <a:latin typeface="+mn-lt"/>
              <a:ea typeface="+mn-ea"/>
              <a:cs typeface="+mn-cs"/>
            </a:endParaRPr>
          </a:p>
          <a:p>
            <a:endParaRPr lang="en-US" sz="1200" kern="1200" baseline="0" dirty="0">
              <a:solidFill>
                <a:schemeClr val="tx1"/>
              </a:solidFill>
              <a:latin typeface="+mn-lt"/>
              <a:ea typeface="+mn-ea"/>
              <a:cs typeface="+mn-cs"/>
            </a:endParaRPr>
          </a:p>
          <a:p>
            <a:r>
              <a:rPr lang="en-US" sz="1200" b="1" kern="1200" baseline="0" dirty="0">
                <a:solidFill>
                  <a:schemeClr val="tx1"/>
                </a:solidFill>
                <a:latin typeface="+mn-lt"/>
                <a:ea typeface="+mn-ea"/>
                <a:cs typeface="+mn-cs"/>
              </a:rPr>
              <a:t>Putting it another way.</a:t>
            </a:r>
          </a:p>
          <a:p>
            <a:endParaRPr lang="en-US" sz="1200" kern="1200" baseline="0" dirty="0">
              <a:solidFill>
                <a:schemeClr val="tx1"/>
              </a:solidFill>
              <a:latin typeface="+mn-lt"/>
              <a:ea typeface="+mn-ea"/>
              <a:cs typeface="+mn-cs"/>
            </a:endParaRPr>
          </a:p>
          <a:p>
            <a:pPr marL="228600" indent="-228600">
              <a:buFont typeface="Arial" panose="020B0604020202020204" pitchFamily="34" charset="0"/>
              <a:buChar char="•"/>
            </a:pPr>
            <a:r>
              <a:rPr lang="en-US" sz="1200" kern="1200" baseline="0" dirty="0">
                <a:solidFill>
                  <a:schemeClr val="tx1"/>
                </a:solidFill>
                <a:latin typeface="+mn-lt"/>
                <a:ea typeface="+mn-ea"/>
                <a:cs typeface="+mn-cs"/>
              </a:rPr>
              <a:t>A biochemical process or reaction occurs when the chemical bonds of inputs or reactants are broken and the atoms recombine to form a new substance or substances, output or products. </a:t>
            </a:r>
          </a:p>
          <a:p>
            <a:pPr marL="228600" indent="-228600">
              <a:buFont typeface="Arial" panose="020B0604020202020204" pitchFamily="34" charset="0"/>
              <a:buChar char="•"/>
            </a:pPr>
            <a:r>
              <a:rPr lang="en-US" sz="1200" kern="1200" baseline="0" dirty="0">
                <a:solidFill>
                  <a:schemeClr val="tx1"/>
                </a:solidFill>
                <a:latin typeface="+mn-lt"/>
                <a:ea typeface="+mn-ea"/>
                <a:cs typeface="+mn-cs"/>
              </a:rPr>
              <a:t>In </a:t>
            </a:r>
            <a:r>
              <a:rPr lang="en-US" sz="1200" kern="1200" baseline="0" dirty="0" err="1">
                <a:solidFill>
                  <a:schemeClr val="tx1"/>
                </a:solidFill>
                <a:latin typeface="+mn-lt"/>
                <a:ea typeface="+mn-ea"/>
                <a:cs typeface="+mn-cs"/>
              </a:rPr>
              <a:t>endergonic</a:t>
            </a:r>
            <a:r>
              <a:rPr lang="en-US" sz="1200" kern="1200" baseline="0" dirty="0">
                <a:solidFill>
                  <a:schemeClr val="tx1"/>
                </a:solidFill>
                <a:latin typeface="+mn-lt"/>
                <a:ea typeface="+mn-ea"/>
                <a:cs typeface="+mn-cs"/>
              </a:rPr>
              <a:t> reactions, a total net amount of energy is absorbed and locked up in the new bonds of the products.</a:t>
            </a:r>
          </a:p>
          <a:p>
            <a:pPr marL="228600" indent="-228600">
              <a:buFont typeface="Arial" panose="020B0604020202020204" pitchFamily="34" charset="0"/>
              <a:buChar char="•"/>
            </a:pPr>
            <a:r>
              <a:rPr lang="en-US" sz="1200" kern="1200" baseline="0" dirty="0">
                <a:solidFill>
                  <a:schemeClr val="tx1"/>
                </a:solidFill>
                <a:latin typeface="+mn-lt"/>
                <a:ea typeface="+mn-ea"/>
                <a:cs typeface="+mn-cs"/>
              </a:rPr>
              <a:t>These have more stored energy than the reactants. </a:t>
            </a:r>
          </a:p>
          <a:p>
            <a:pPr marL="228600" indent="-228600">
              <a:buFont typeface="Arial" panose="020B0604020202020204" pitchFamily="34" charset="0"/>
              <a:buChar char="•"/>
            </a:pPr>
            <a:r>
              <a:rPr lang="en-US" sz="1200" kern="1200" baseline="0" dirty="0">
                <a:solidFill>
                  <a:schemeClr val="tx1"/>
                </a:solidFill>
                <a:latin typeface="+mn-lt"/>
                <a:ea typeface="+mn-ea"/>
                <a:cs typeface="+mn-cs"/>
              </a:rPr>
              <a:t>In </a:t>
            </a:r>
            <a:r>
              <a:rPr lang="en-US" sz="1200" kern="1200" baseline="0" dirty="0" err="1">
                <a:solidFill>
                  <a:schemeClr val="tx1"/>
                </a:solidFill>
                <a:latin typeface="+mn-lt"/>
                <a:ea typeface="+mn-ea"/>
                <a:cs typeface="+mn-cs"/>
              </a:rPr>
              <a:t>exergonic</a:t>
            </a:r>
            <a:r>
              <a:rPr lang="en-US" sz="1200" kern="1200" baseline="0" dirty="0">
                <a:solidFill>
                  <a:schemeClr val="tx1"/>
                </a:solidFill>
                <a:latin typeface="+mn-lt"/>
                <a:ea typeface="+mn-ea"/>
                <a:cs typeface="+mn-cs"/>
              </a:rPr>
              <a:t> reactions, a total net amount of energy is released from the bonds of the reactants and the products have less energy than the reactants.</a:t>
            </a:r>
          </a:p>
          <a:p>
            <a:pPr marL="228600" indent="-228600">
              <a:buFont typeface="Arial" panose="020B0604020202020204" pitchFamily="34" charset="0"/>
              <a:buChar char="•"/>
            </a:pPr>
            <a:r>
              <a:rPr lang="en-US" sz="1200" kern="1200" baseline="0" dirty="0">
                <a:solidFill>
                  <a:schemeClr val="tx1"/>
                </a:solidFill>
                <a:latin typeface="+mn-lt"/>
                <a:ea typeface="+mn-ea"/>
                <a:cs typeface="+mn-cs"/>
              </a:rPr>
              <a:t>There is energy to spare!</a:t>
            </a:r>
          </a:p>
        </p:txBody>
      </p:sp>
      <p:sp>
        <p:nvSpPr>
          <p:cNvPr id="4" name="Slide Number Placeholder 3"/>
          <p:cNvSpPr>
            <a:spLocks noGrp="1"/>
          </p:cNvSpPr>
          <p:nvPr>
            <p:ph type="sldNum" sz="quarter" idx="5"/>
          </p:nvPr>
        </p:nvSpPr>
        <p:spPr/>
        <p:txBody>
          <a:bodyPr/>
          <a:lstStyle/>
          <a:p>
            <a:pPr>
              <a:defRPr/>
            </a:pPr>
            <a:fld id="{8265CCF7-C6F2-435C-AB36-78C649E2A501}" type="slidenum">
              <a:rPr lang="en-US" smtClean="0"/>
              <a:pPr>
                <a:defRPr/>
              </a:pPr>
              <a:t>7</a:t>
            </a:fld>
            <a:endParaRPr lang="en-US"/>
          </a:p>
        </p:txBody>
      </p:sp>
    </p:spTree>
    <p:extLst>
      <p:ext uri="{BB962C8B-B14F-4D97-AF65-F5344CB8AC3E}">
        <p14:creationId xmlns:p14="http://schemas.microsoft.com/office/powerpoint/2010/main" val="154145523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Image Placeholder 1"/>
          <p:cNvSpPr>
            <a:spLocks noGrp="1" noRot="1" noChangeAspect="1" noTextEdit="1"/>
          </p:cNvSpPr>
          <p:nvPr>
            <p:ph type="sldImg"/>
          </p:nvPr>
        </p:nvSpPr>
        <p:spPr bwMode="auto">
          <a:noFill/>
          <a:ln>
            <a:solidFill>
              <a:srgbClr val="000000"/>
            </a:solidFill>
            <a:miter lim="800000"/>
            <a:headEnd/>
            <a:tailEnd/>
          </a:ln>
        </p:spPr>
      </p:sp>
      <p:sp>
        <p:nvSpPr>
          <p:cNvPr id="14339" name="Notes Placeholder 2"/>
          <p:cNvSpPr>
            <a:spLocks noGrp="1"/>
          </p:cNvSpPr>
          <p:nvPr>
            <p:ph type="body" idx="1"/>
          </p:nvPr>
        </p:nvSpPr>
        <p:spPr bwMode="auto">
          <a:noFill/>
        </p:spPr>
        <p:txBody>
          <a:bodyPr wrap="square" numCol="1" anchor="t" anchorCtr="0" compatLnSpc="1">
            <a:prstTxWarp prst="textNoShape">
              <a:avLst/>
            </a:prstTxWarp>
          </a:bodyPr>
          <a:lstStyle/>
          <a:p>
            <a:pPr marL="228600" indent="-228600">
              <a:buFont typeface="Arial" panose="020B0604020202020204" pitchFamily="34" charset="0"/>
              <a:buChar char="•"/>
            </a:pPr>
            <a:r>
              <a:rPr lang="en-US" sz="1200" kern="1200" baseline="0" dirty="0">
                <a:solidFill>
                  <a:schemeClr val="tx1"/>
                </a:solidFill>
                <a:latin typeface="+mn-lt"/>
                <a:ea typeface="+mn-ea"/>
                <a:cs typeface="+mn-cs"/>
              </a:rPr>
              <a:t>Many cellular processes involve many reaction steps. At each step, reactants react to form new reactants, which themselves become reactants for the next step in the reaction chain, until the final products are formed.</a:t>
            </a:r>
          </a:p>
          <a:p>
            <a:pPr marL="228600" indent="-228600">
              <a:buFont typeface="Arial" panose="020B0604020202020204" pitchFamily="34" charset="0"/>
              <a:buChar char="•"/>
            </a:pPr>
            <a:r>
              <a:rPr lang="en-US" sz="1200" kern="1200" baseline="0" dirty="0">
                <a:solidFill>
                  <a:schemeClr val="tx1"/>
                </a:solidFill>
                <a:latin typeface="+mn-lt"/>
                <a:ea typeface="+mn-ea"/>
                <a:cs typeface="+mn-cs"/>
              </a:rPr>
              <a:t>Each step in these biochemical processes or pathways are often reversible, with the reaction </a:t>
            </a:r>
            <a:r>
              <a:rPr lang="en-US" sz="1200" kern="1200" baseline="0" dirty="0" err="1">
                <a:solidFill>
                  <a:schemeClr val="tx1"/>
                </a:solidFill>
                <a:latin typeface="+mn-lt"/>
                <a:ea typeface="+mn-ea"/>
                <a:cs typeface="+mn-cs"/>
              </a:rPr>
              <a:t>favouring</a:t>
            </a:r>
            <a:r>
              <a:rPr lang="en-US" sz="1200" kern="1200" baseline="0" dirty="0">
                <a:solidFill>
                  <a:schemeClr val="tx1"/>
                </a:solidFill>
                <a:latin typeface="+mn-lt"/>
                <a:ea typeface="+mn-ea"/>
                <a:cs typeface="+mn-cs"/>
              </a:rPr>
              <a:t> the formation of products.</a:t>
            </a:r>
          </a:p>
          <a:p>
            <a:pPr marL="228600" indent="-228600">
              <a:buFont typeface="Arial" panose="020B0604020202020204" pitchFamily="34" charset="0"/>
              <a:buChar char="•"/>
            </a:pPr>
            <a:r>
              <a:rPr lang="en-US" sz="1200" kern="1200" baseline="0" dirty="0">
                <a:solidFill>
                  <a:schemeClr val="tx1"/>
                </a:solidFill>
                <a:latin typeface="+mn-lt"/>
                <a:ea typeface="+mn-ea"/>
                <a:cs typeface="+mn-cs"/>
              </a:rPr>
              <a:t>If products build up and are not removed, the reaction might slow down to the point that the whole pathway is slowed.</a:t>
            </a:r>
          </a:p>
          <a:p>
            <a:pPr marL="228600" indent="-228600">
              <a:buFont typeface="Arial" panose="020B0604020202020204" pitchFamily="34" charset="0"/>
              <a:buChar char="•"/>
            </a:pPr>
            <a:r>
              <a:rPr lang="en-US" sz="1200" kern="1200" baseline="0" dirty="0">
                <a:solidFill>
                  <a:schemeClr val="tx1"/>
                </a:solidFill>
                <a:latin typeface="+mn-lt"/>
                <a:ea typeface="+mn-ea"/>
                <a:cs typeface="+mn-cs"/>
              </a:rPr>
              <a:t>Fortunately, the products formed at each step are consumed by the next step in the pathway, or are removed in a variety of ways, ensuring the reactions continue in the right direction.</a:t>
            </a:r>
          </a:p>
          <a:p>
            <a:pPr marL="228600" indent="-228600">
              <a:buFont typeface="Arial" panose="020B0604020202020204" pitchFamily="34" charset="0"/>
              <a:buChar char="•"/>
            </a:pPr>
            <a:r>
              <a:rPr lang="en-US" sz="1200" kern="1200" baseline="0" dirty="0">
                <a:solidFill>
                  <a:schemeClr val="tx1"/>
                </a:solidFill>
                <a:latin typeface="+mn-lt"/>
                <a:ea typeface="+mn-ea"/>
                <a:cs typeface="+mn-cs"/>
              </a:rPr>
              <a:t>Photosynthesis and respiration are two pathways controlled and regulated by enzymes.</a:t>
            </a:r>
          </a:p>
        </p:txBody>
      </p:sp>
      <p:sp>
        <p:nvSpPr>
          <p:cNvPr id="4" name="Slide Number Placeholder 3"/>
          <p:cNvSpPr>
            <a:spLocks noGrp="1"/>
          </p:cNvSpPr>
          <p:nvPr>
            <p:ph type="sldNum" sz="quarter" idx="5"/>
          </p:nvPr>
        </p:nvSpPr>
        <p:spPr/>
        <p:txBody>
          <a:bodyPr/>
          <a:lstStyle/>
          <a:p>
            <a:pPr>
              <a:defRPr/>
            </a:pPr>
            <a:fld id="{8265CCF7-C6F2-435C-AB36-78C649E2A501}" type="slidenum">
              <a:rPr lang="en-US" smtClean="0"/>
              <a:pPr>
                <a:defRPr/>
              </a:pPr>
              <a:t>8</a:t>
            </a:fld>
            <a:endParaRPr lang="en-US"/>
          </a:p>
        </p:txBody>
      </p:sp>
    </p:spTree>
    <p:extLst>
      <p:ext uri="{BB962C8B-B14F-4D97-AF65-F5344CB8AC3E}">
        <p14:creationId xmlns:p14="http://schemas.microsoft.com/office/powerpoint/2010/main" val="307812211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Image Placeholder 1"/>
          <p:cNvSpPr>
            <a:spLocks noGrp="1" noRot="1" noChangeAspect="1" noTextEdit="1"/>
          </p:cNvSpPr>
          <p:nvPr>
            <p:ph type="sldImg"/>
          </p:nvPr>
        </p:nvSpPr>
        <p:spPr bwMode="auto">
          <a:noFill/>
          <a:ln>
            <a:solidFill>
              <a:srgbClr val="000000"/>
            </a:solidFill>
            <a:miter lim="800000"/>
            <a:headEnd/>
            <a:tailEnd/>
          </a:ln>
        </p:spPr>
      </p:sp>
      <p:sp>
        <p:nvSpPr>
          <p:cNvPr id="14339" name="Notes Placeholder 2"/>
          <p:cNvSpPr>
            <a:spLocks noGrp="1"/>
          </p:cNvSpPr>
          <p:nvPr>
            <p:ph type="body" idx="1"/>
          </p:nvPr>
        </p:nvSpPr>
        <p:spPr bwMode="auto">
          <a:noFill/>
        </p:spPr>
        <p:txBody>
          <a:bodyPr wrap="square" numCol="1" anchor="t" anchorCtr="0" compatLnSpc="1">
            <a:prstTxWarp prst="textNoShape">
              <a:avLst/>
            </a:prstTxWarp>
          </a:bodyPr>
          <a:lstStyle/>
          <a:p>
            <a:pPr marL="228600" indent="-228600">
              <a:buFont typeface="Arial" panose="020B0604020202020204" pitchFamily="34" charset="0"/>
              <a:buChar char="•"/>
            </a:pPr>
            <a:r>
              <a:rPr lang="en-US" sz="1200" kern="1200" baseline="0" dirty="0">
                <a:solidFill>
                  <a:schemeClr val="tx1"/>
                </a:solidFill>
                <a:latin typeface="+mn-lt"/>
                <a:ea typeface="+mn-ea"/>
                <a:cs typeface="+mn-cs"/>
              </a:rPr>
              <a:t>Enzyme-assisted reactions.</a:t>
            </a:r>
          </a:p>
          <a:p>
            <a:pPr marL="228600" indent="-228600">
              <a:buFont typeface="Arial" panose="020B0604020202020204" pitchFamily="34" charset="0"/>
              <a:buChar char="•"/>
            </a:pPr>
            <a:r>
              <a:rPr lang="en-US" sz="1200" kern="1200" baseline="0" dirty="0">
                <a:solidFill>
                  <a:schemeClr val="tx1"/>
                </a:solidFill>
                <a:latin typeface="+mn-lt"/>
                <a:ea typeface="+mn-ea"/>
                <a:cs typeface="+mn-cs"/>
              </a:rPr>
              <a:t>Enzymes have an active site, a region that is precisely shaped to target a molecule or substrate.</a:t>
            </a:r>
          </a:p>
          <a:p>
            <a:pPr marL="228600" indent="-228600">
              <a:buFont typeface="Arial" panose="020B0604020202020204" pitchFamily="34" charset="0"/>
              <a:buChar char="•"/>
            </a:pPr>
            <a:r>
              <a:rPr lang="en-US" sz="1200" kern="1200" baseline="0" dirty="0">
                <a:solidFill>
                  <a:schemeClr val="tx1"/>
                </a:solidFill>
                <a:latin typeface="+mn-lt"/>
                <a:ea typeface="+mn-ea"/>
                <a:cs typeface="+mn-cs"/>
              </a:rPr>
              <a:t>The active site bring substrates close to each other in an enzyme-substrate complex.</a:t>
            </a:r>
          </a:p>
          <a:p>
            <a:pPr marL="228600" indent="-228600">
              <a:buFont typeface="Arial" panose="020B0604020202020204" pitchFamily="34" charset="0"/>
              <a:buChar char="•"/>
            </a:pPr>
            <a:r>
              <a:rPr lang="en-US" sz="1200" kern="1200" baseline="0" dirty="0">
                <a:solidFill>
                  <a:schemeClr val="tx1"/>
                </a:solidFill>
                <a:latin typeface="+mn-lt"/>
                <a:ea typeface="+mn-ea"/>
                <a:cs typeface="+mn-cs"/>
              </a:rPr>
              <a:t>This is where the reaction occurs to form the new product. The enzyme is not consumed in the interaction.</a:t>
            </a:r>
          </a:p>
        </p:txBody>
      </p:sp>
      <p:sp>
        <p:nvSpPr>
          <p:cNvPr id="4" name="Slide Number Placeholder 3"/>
          <p:cNvSpPr>
            <a:spLocks noGrp="1"/>
          </p:cNvSpPr>
          <p:nvPr>
            <p:ph type="sldNum" sz="quarter" idx="5"/>
          </p:nvPr>
        </p:nvSpPr>
        <p:spPr/>
        <p:txBody>
          <a:bodyPr/>
          <a:lstStyle/>
          <a:p>
            <a:pPr>
              <a:defRPr/>
            </a:pPr>
            <a:fld id="{8265CCF7-C6F2-435C-AB36-78C649E2A501}" type="slidenum">
              <a:rPr lang="en-US" smtClean="0"/>
              <a:pPr>
                <a:defRPr/>
              </a:pPr>
              <a:t>9</a:t>
            </a:fld>
            <a:endParaRPr lang="en-US"/>
          </a:p>
        </p:txBody>
      </p:sp>
    </p:spTree>
    <p:extLst>
      <p:ext uri="{BB962C8B-B14F-4D97-AF65-F5344CB8AC3E}">
        <p14:creationId xmlns:p14="http://schemas.microsoft.com/office/powerpoint/2010/main" val="30945063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Image Placeholder 1"/>
          <p:cNvSpPr>
            <a:spLocks noGrp="1" noRot="1" noChangeAspect="1" noTextEdit="1"/>
          </p:cNvSpPr>
          <p:nvPr>
            <p:ph type="sldImg"/>
          </p:nvPr>
        </p:nvSpPr>
        <p:spPr bwMode="auto">
          <a:noFill/>
          <a:ln>
            <a:solidFill>
              <a:srgbClr val="000000"/>
            </a:solidFill>
            <a:miter lim="800000"/>
            <a:headEnd/>
            <a:tailEnd/>
          </a:ln>
        </p:spPr>
      </p:sp>
      <p:sp>
        <p:nvSpPr>
          <p:cNvPr id="14339" name="Notes Placeholder 2"/>
          <p:cNvSpPr>
            <a:spLocks noGrp="1"/>
          </p:cNvSpPr>
          <p:nvPr>
            <p:ph type="body" idx="1"/>
          </p:nvPr>
        </p:nvSpPr>
        <p:spPr bwMode="auto">
          <a:noFill/>
        </p:spPr>
        <p:txBody>
          <a:bodyPr wrap="square" numCol="1" anchor="t" anchorCtr="0" compatLnSpc="1">
            <a:prstTxWarp prst="textNoShape">
              <a:avLst/>
            </a:prstTxWarp>
          </a:bodyPr>
          <a:lstStyle/>
          <a:p>
            <a:r>
              <a:rPr lang="en-US" sz="1200" b="0" kern="1200" baseline="0" dirty="0">
                <a:solidFill>
                  <a:schemeClr val="tx1"/>
                </a:solidFill>
                <a:latin typeface="+mn-lt"/>
                <a:ea typeface="+mn-ea"/>
                <a:cs typeface="+mn-cs"/>
              </a:rPr>
              <a:t>Two models describe the enzyme substrate interaction:</a:t>
            </a:r>
          </a:p>
          <a:p>
            <a:endParaRPr lang="en-US" sz="1200" b="0" kern="1200" baseline="0" dirty="0">
              <a:solidFill>
                <a:schemeClr val="tx1"/>
              </a:solidFill>
              <a:latin typeface="+mn-lt"/>
              <a:ea typeface="+mn-ea"/>
              <a:cs typeface="+mn-cs"/>
            </a:endParaRPr>
          </a:p>
          <a:p>
            <a:pPr marL="228600" indent="-228600">
              <a:buFont typeface="Arial" panose="020B0604020202020204" pitchFamily="34" charset="0"/>
              <a:buChar char="•"/>
            </a:pPr>
            <a:r>
              <a:rPr lang="en-US" sz="1200" b="1" kern="1200" baseline="0" dirty="0">
                <a:solidFill>
                  <a:schemeClr val="tx1"/>
                </a:solidFill>
                <a:latin typeface="+mn-lt"/>
                <a:ea typeface="+mn-ea"/>
                <a:cs typeface="+mn-cs"/>
              </a:rPr>
              <a:t>Lock-and-key model</a:t>
            </a:r>
            <a:r>
              <a:rPr lang="en-US" sz="1200" b="0" kern="1200" baseline="0" dirty="0">
                <a:solidFill>
                  <a:schemeClr val="tx1"/>
                </a:solidFill>
                <a:latin typeface="+mn-lt"/>
                <a:ea typeface="+mn-ea"/>
                <a:cs typeface="+mn-cs"/>
              </a:rPr>
              <a:t>. The substrate is an exact fit for the enzyme active site.</a:t>
            </a:r>
          </a:p>
          <a:p>
            <a:pPr marL="228600" indent="-228600">
              <a:buFont typeface="Arial" panose="020B0604020202020204" pitchFamily="34" charset="0"/>
              <a:buChar char="•"/>
            </a:pPr>
            <a:r>
              <a:rPr lang="en-US" sz="1200" b="1" kern="1200" baseline="0" dirty="0">
                <a:solidFill>
                  <a:schemeClr val="tx1"/>
                </a:solidFill>
                <a:latin typeface="+mn-lt"/>
                <a:ea typeface="+mn-ea"/>
                <a:cs typeface="+mn-cs"/>
              </a:rPr>
              <a:t>Induced-fit model </a:t>
            </a:r>
            <a:r>
              <a:rPr lang="en-US" sz="1200" b="0" kern="1200" baseline="0" dirty="0">
                <a:solidFill>
                  <a:schemeClr val="tx1"/>
                </a:solidFill>
                <a:latin typeface="+mn-lt"/>
                <a:ea typeface="+mn-ea"/>
                <a:cs typeface="+mn-cs"/>
              </a:rPr>
              <a:t>of enzyme action. Bonds that form between an enzyme and its substrate can modify the shape of the enzyme so that the substrate can be fully accommodated by the enzyme.</a:t>
            </a:r>
          </a:p>
          <a:p>
            <a:pPr lvl="1">
              <a:buFont typeface="Arial" pitchFamily="34" charset="0"/>
              <a:buChar char="•"/>
            </a:pPr>
            <a:r>
              <a:rPr lang="en-US" sz="1200" b="0" kern="1200" baseline="0" dirty="0">
                <a:solidFill>
                  <a:schemeClr val="tx1"/>
                </a:solidFill>
                <a:latin typeface="+mn-lt"/>
                <a:ea typeface="+mn-ea"/>
                <a:cs typeface="+mn-cs"/>
              </a:rPr>
              <a:t> Bonds </a:t>
            </a:r>
            <a:r>
              <a:rPr lang="en-US" sz="1200" kern="1200" baseline="0" dirty="0">
                <a:solidFill>
                  <a:schemeClr val="tx1"/>
                </a:solidFill>
                <a:latin typeface="+mn-lt"/>
                <a:ea typeface="+mn-ea"/>
                <a:cs typeface="+mn-cs"/>
              </a:rPr>
              <a:t>within the substrate molecule are stretched and bent by the molecular interactions with the amino acid groups that line the active site. </a:t>
            </a:r>
          </a:p>
          <a:p>
            <a:pPr lvl="1">
              <a:buFont typeface="Arial" pitchFamily="34" charset="0"/>
              <a:buChar char="•"/>
            </a:pPr>
            <a:r>
              <a:rPr lang="en-US" sz="1200" kern="1200" baseline="0" dirty="0">
                <a:solidFill>
                  <a:schemeClr val="tx1"/>
                </a:solidFill>
                <a:latin typeface="+mn-lt"/>
                <a:ea typeface="+mn-ea"/>
                <a:cs typeface="+mn-cs"/>
              </a:rPr>
              <a:t> Bond stresses on the substrate, lowering the activation energy required to kick-start the reaction.</a:t>
            </a:r>
          </a:p>
          <a:p>
            <a:pPr lvl="1">
              <a:buFont typeface="Arial" pitchFamily="34" charset="0"/>
              <a:buChar char="•"/>
            </a:pPr>
            <a:r>
              <a:rPr lang="en-US" sz="1200" kern="1200" baseline="0" dirty="0">
                <a:solidFill>
                  <a:schemeClr val="tx1"/>
                </a:solidFill>
                <a:latin typeface="+mn-lt"/>
                <a:ea typeface="+mn-ea"/>
                <a:cs typeface="+mn-cs"/>
              </a:rPr>
              <a:t> New products form at a fast rate.</a:t>
            </a:r>
          </a:p>
        </p:txBody>
      </p:sp>
      <p:sp>
        <p:nvSpPr>
          <p:cNvPr id="4" name="Slide Number Placeholder 3"/>
          <p:cNvSpPr>
            <a:spLocks noGrp="1"/>
          </p:cNvSpPr>
          <p:nvPr>
            <p:ph type="sldNum" sz="quarter" idx="5"/>
          </p:nvPr>
        </p:nvSpPr>
        <p:spPr/>
        <p:txBody>
          <a:bodyPr/>
          <a:lstStyle/>
          <a:p>
            <a:pPr>
              <a:defRPr/>
            </a:pPr>
            <a:fld id="{8265CCF7-C6F2-435C-AB36-78C649E2A501}" type="slidenum">
              <a:rPr lang="en-US" smtClean="0"/>
              <a:pPr>
                <a:defRPr/>
              </a:pPr>
              <a:t>10</a:t>
            </a:fld>
            <a:endParaRPr lang="en-US"/>
          </a:p>
        </p:txBody>
      </p:sp>
    </p:spTree>
    <p:extLst>
      <p:ext uri="{BB962C8B-B14F-4D97-AF65-F5344CB8AC3E}">
        <p14:creationId xmlns:p14="http://schemas.microsoft.com/office/powerpoint/2010/main" val="381664960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Image Placeholder 1"/>
          <p:cNvSpPr>
            <a:spLocks noGrp="1" noRot="1" noChangeAspect="1" noTextEdit="1"/>
          </p:cNvSpPr>
          <p:nvPr>
            <p:ph type="sldImg"/>
          </p:nvPr>
        </p:nvSpPr>
        <p:spPr bwMode="auto">
          <a:noFill/>
          <a:ln>
            <a:solidFill>
              <a:srgbClr val="000000"/>
            </a:solidFill>
            <a:miter lim="800000"/>
            <a:headEnd/>
            <a:tailEnd/>
          </a:ln>
        </p:spPr>
      </p:sp>
      <p:sp>
        <p:nvSpPr>
          <p:cNvPr id="14339" name="Notes Placeholder 2"/>
          <p:cNvSpPr>
            <a:spLocks noGrp="1"/>
          </p:cNvSpPr>
          <p:nvPr>
            <p:ph type="body" idx="1"/>
          </p:nvPr>
        </p:nvSpPr>
        <p:spPr bwMode="auto">
          <a:noFill/>
        </p:spPr>
        <p:txBody>
          <a:bodyPr wrap="square" numCol="1" anchor="t" anchorCtr="0" compatLnSpc="1">
            <a:prstTxWarp prst="textNoShape">
              <a:avLst/>
            </a:prstTxWarp>
          </a:bodyPr>
          <a:lstStyle/>
          <a:p>
            <a:r>
              <a:rPr lang="en-AU" sz="1200" b="0" i="0" u="none" strike="noStrike" kern="1200" baseline="0" dirty="0">
                <a:solidFill>
                  <a:schemeClr val="tx1"/>
                </a:solidFill>
                <a:latin typeface="+mn-lt"/>
                <a:ea typeface="+mn-ea"/>
                <a:cs typeface="+mn-cs"/>
              </a:rPr>
              <a:t>One of the fastest enzymes is catalase. This enzyme is found in several organs and tissues, including the liver, where its job is to speed up the breakdown of hydrogen peroxide (H2O2) into oxygen and water.</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Note that the enzyme has lowered the activation barrier. That is, the activation energy required to start the reaction is considerably reduced. This means that many reactions can occur at lower temperatures – for example, within a normal physiological temperature range. For mammals this would be 37 degrees </a:t>
            </a:r>
            <a:r>
              <a:rPr lang="en-US" sz="1200" kern="1200" baseline="0" dirty="0" err="1">
                <a:solidFill>
                  <a:schemeClr val="tx1"/>
                </a:solidFill>
                <a:latin typeface="+mn-lt"/>
                <a:ea typeface="+mn-ea"/>
                <a:cs typeface="+mn-cs"/>
              </a:rPr>
              <a:t>celsius</a:t>
            </a:r>
            <a:r>
              <a:rPr lang="en-US" sz="1200" kern="1200" baseline="0" dirty="0">
                <a:solidFill>
                  <a:schemeClr val="tx1"/>
                </a:solidFill>
                <a:latin typeface="+mn-lt"/>
                <a:ea typeface="+mn-ea"/>
                <a:cs typeface="+mn-cs"/>
              </a:rPr>
              <a:t>.</a:t>
            </a:r>
          </a:p>
        </p:txBody>
      </p:sp>
      <p:sp>
        <p:nvSpPr>
          <p:cNvPr id="4" name="Slide Number Placeholder 3"/>
          <p:cNvSpPr>
            <a:spLocks noGrp="1"/>
          </p:cNvSpPr>
          <p:nvPr>
            <p:ph type="sldNum" sz="quarter" idx="5"/>
          </p:nvPr>
        </p:nvSpPr>
        <p:spPr/>
        <p:txBody>
          <a:bodyPr/>
          <a:lstStyle/>
          <a:p>
            <a:pPr>
              <a:defRPr/>
            </a:pPr>
            <a:fld id="{8265CCF7-C6F2-435C-AB36-78C649E2A501}" type="slidenum">
              <a:rPr lang="en-US" smtClean="0"/>
              <a:pPr>
                <a:defRPr/>
              </a:pPr>
              <a:t>11</a:t>
            </a:fld>
            <a:endParaRPr lang="en-US"/>
          </a:p>
        </p:txBody>
      </p:sp>
    </p:spTree>
    <p:extLst>
      <p:ext uri="{BB962C8B-B14F-4D97-AF65-F5344CB8AC3E}">
        <p14:creationId xmlns:p14="http://schemas.microsoft.com/office/powerpoint/2010/main" val="34002577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Image Placeholder 1"/>
          <p:cNvSpPr>
            <a:spLocks noGrp="1" noRot="1" noChangeAspect="1" noTextEdit="1"/>
          </p:cNvSpPr>
          <p:nvPr>
            <p:ph type="sldImg"/>
          </p:nvPr>
        </p:nvSpPr>
        <p:spPr bwMode="auto">
          <a:noFill/>
          <a:ln>
            <a:solidFill>
              <a:srgbClr val="000000"/>
            </a:solidFill>
            <a:miter lim="800000"/>
            <a:headEnd/>
            <a:tailEnd/>
          </a:ln>
        </p:spPr>
      </p:sp>
      <p:sp>
        <p:nvSpPr>
          <p:cNvPr id="14339"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sz="1200" kern="1200" baseline="0" dirty="0">
              <a:solidFill>
                <a:schemeClr val="tx1"/>
              </a:solidFill>
              <a:latin typeface="+mn-lt"/>
              <a:ea typeface="+mn-ea"/>
              <a:cs typeface="+mn-cs"/>
            </a:endParaRPr>
          </a:p>
        </p:txBody>
      </p:sp>
      <p:sp>
        <p:nvSpPr>
          <p:cNvPr id="4" name="Slide Number Placeholder 3"/>
          <p:cNvSpPr>
            <a:spLocks noGrp="1"/>
          </p:cNvSpPr>
          <p:nvPr>
            <p:ph type="sldNum" sz="quarter" idx="5"/>
          </p:nvPr>
        </p:nvSpPr>
        <p:spPr/>
        <p:txBody>
          <a:bodyPr/>
          <a:lstStyle/>
          <a:p>
            <a:pPr>
              <a:defRPr/>
            </a:pPr>
            <a:fld id="{8265CCF7-C6F2-435C-AB36-78C649E2A501}" type="slidenum">
              <a:rPr lang="en-US" smtClean="0"/>
              <a:pPr>
                <a:defRPr/>
              </a:pPr>
              <a:t>12</a:t>
            </a:fld>
            <a:endParaRPr lang="en-US"/>
          </a:p>
        </p:txBody>
      </p:sp>
    </p:spTree>
    <p:extLst>
      <p:ext uri="{BB962C8B-B14F-4D97-AF65-F5344CB8AC3E}">
        <p14:creationId xmlns:p14="http://schemas.microsoft.com/office/powerpoint/2010/main" val="318411930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Image Placeholder 1"/>
          <p:cNvSpPr>
            <a:spLocks noGrp="1" noRot="1" noChangeAspect="1" noTextEdit="1"/>
          </p:cNvSpPr>
          <p:nvPr>
            <p:ph type="sldImg"/>
          </p:nvPr>
        </p:nvSpPr>
        <p:spPr bwMode="auto">
          <a:noFill/>
          <a:ln>
            <a:solidFill>
              <a:srgbClr val="000000"/>
            </a:solidFill>
            <a:miter lim="800000"/>
            <a:headEnd/>
            <a:tailEnd/>
          </a:ln>
        </p:spPr>
      </p:sp>
      <p:sp>
        <p:nvSpPr>
          <p:cNvPr id="14339" name="Notes Placeholder 2"/>
          <p:cNvSpPr>
            <a:spLocks noGrp="1"/>
          </p:cNvSpPr>
          <p:nvPr>
            <p:ph type="body" idx="1"/>
          </p:nvPr>
        </p:nvSpPr>
        <p:spPr bwMode="auto">
          <a:noFill/>
        </p:spPr>
        <p:txBody>
          <a:bodyPr wrap="square" numCol="1" anchor="t" anchorCtr="0" compatLnSpc="1">
            <a:prstTxWarp prst="textNoShape">
              <a:avLst/>
            </a:prstTxWarp>
          </a:bodyPr>
          <a:lstStyle/>
          <a:p>
            <a:r>
              <a:rPr lang="en-AU" sz="1200" b="0" i="0" u="none" strike="noStrike" kern="1200" baseline="0" dirty="0">
                <a:solidFill>
                  <a:schemeClr val="tx1"/>
                </a:solidFill>
                <a:latin typeface="+mn-lt"/>
                <a:ea typeface="+mn-ea"/>
                <a:cs typeface="+mn-cs"/>
              </a:rPr>
              <a:t>Enzymes are affected by temperature and have an optimal range in which they operate. The temperatures that enzymes work best in are the temperatures of the environment they can be found in. For example, enzymes operating in the human body work best at temperatures of around 37°C (Figure 9.9), which is the relatively constant core temperature of the body. The enzymes of </a:t>
            </a:r>
            <a:r>
              <a:rPr lang="en-AU" sz="1200" b="1" i="0" u="none" strike="noStrike" kern="1200" baseline="0" dirty="0" err="1">
                <a:solidFill>
                  <a:schemeClr val="tx1"/>
                </a:solidFill>
                <a:latin typeface="+mn-lt"/>
                <a:ea typeface="+mn-ea"/>
                <a:cs typeface="+mn-cs"/>
              </a:rPr>
              <a:t>psychrophiles</a:t>
            </a:r>
            <a:r>
              <a:rPr lang="en-AU" sz="1200" b="1" i="0" u="none" strike="noStrike" kern="1200" baseline="0" dirty="0">
                <a:solidFill>
                  <a:schemeClr val="tx1"/>
                </a:solidFill>
                <a:latin typeface="+mn-lt"/>
                <a:ea typeface="+mn-ea"/>
                <a:cs typeface="+mn-cs"/>
              </a:rPr>
              <a:t> </a:t>
            </a:r>
            <a:r>
              <a:rPr lang="en-AU" sz="1200" b="0" i="0" u="none" strike="noStrike" kern="1200" baseline="0" dirty="0">
                <a:solidFill>
                  <a:schemeClr val="tx1"/>
                </a:solidFill>
                <a:latin typeface="+mn-lt"/>
                <a:ea typeface="+mn-ea"/>
                <a:cs typeface="+mn-cs"/>
              </a:rPr>
              <a:t>(or </a:t>
            </a:r>
            <a:r>
              <a:rPr lang="en-AU" sz="1200" b="0" i="0" u="none" strike="noStrike" kern="1200" baseline="0" dirty="0" err="1">
                <a:solidFill>
                  <a:schemeClr val="tx1"/>
                </a:solidFill>
                <a:latin typeface="+mn-lt"/>
                <a:ea typeface="+mn-ea"/>
                <a:cs typeface="+mn-cs"/>
              </a:rPr>
              <a:t>cryophiles</a:t>
            </a:r>
            <a:r>
              <a:rPr lang="en-AU" sz="1200" b="0" i="0" u="none" strike="noStrike" kern="1200" baseline="0" dirty="0">
                <a:solidFill>
                  <a:schemeClr val="tx1"/>
                </a:solidFill>
                <a:latin typeface="+mn-lt"/>
                <a:ea typeface="+mn-ea"/>
                <a:cs typeface="+mn-cs"/>
              </a:rPr>
              <a:t>), micro-organisms that live in near-freezing environments such as the wind-blasted rocks of snow-covered mountain summits, can operate at very low temperatures. This may be caused by the loss of some of the bonds that keep the protein rigidly folded. Having a more flexible structure means enzymes require less energy to work. The micro-organism </a:t>
            </a:r>
            <a:r>
              <a:rPr lang="en-AU" sz="1200" b="0" i="1" u="none" strike="noStrike" kern="1200" baseline="0" dirty="0" err="1">
                <a:solidFill>
                  <a:schemeClr val="tx1"/>
                </a:solidFill>
                <a:latin typeface="+mn-lt"/>
                <a:ea typeface="+mn-ea"/>
                <a:cs typeface="+mn-cs"/>
              </a:rPr>
              <a:t>Pyrodictium</a:t>
            </a:r>
            <a:r>
              <a:rPr lang="en-AU" sz="1200" b="0" i="1" u="none" strike="noStrike" kern="1200" baseline="0" dirty="0">
                <a:solidFill>
                  <a:schemeClr val="tx1"/>
                </a:solidFill>
                <a:latin typeface="+mn-lt"/>
                <a:ea typeface="+mn-ea"/>
                <a:cs typeface="+mn-cs"/>
              </a:rPr>
              <a:t> </a:t>
            </a:r>
            <a:r>
              <a:rPr lang="en-AU" sz="1200" b="0" i="0" u="none" strike="noStrike" kern="1200" baseline="0" dirty="0">
                <a:solidFill>
                  <a:schemeClr val="tx1"/>
                </a:solidFill>
                <a:latin typeface="+mn-lt"/>
                <a:ea typeface="+mn-ea"/>
                <a:cs typeface="+mn-cs"/>
              </a:rPr>
              <a:t>exists in geothermal-heated areas of the sea floor. It is a </a:t>
            </a:r>
            <a:r>
              <a:rPr lang="en-AU" sz="1200" b="1" i="0" u="none" strike="noStrike" kern="1200" baseline="0" dirty="0">
                <a:solidFill>
                  <a:schemeClr val="tx1"/>
                </a:solidFill>
                <a:latin typeface="+mn-lt"/>
                <a:ea typeface="+mn-ea"/>
                <a:cs typeface="+mn-cs"/>
              </a:rPr>
              <a:t>thermophile </a:t>
            </a:r>
            <a:r>
              <a:rPr lang="en-AU" sz="1200" b="0" i="0" u="none" strike="noStrike" kern="1200" baseline="0" dirty="0">
                <a:solidFill>
                  <a:schemeClr val="tx1"/>
                </a:solidFill>
                <a:latin typeface="+mn-lt"/>
                <a:ea typeface="+mn-ea"/>
                <a:cs typeface="+mn-cs"/>
              </a:rPr>
              <a:t>and its enzymes operate best at temperatures of around 95–105°C.</a:t>
            </a:r>
            <a:endParaRPr lang="en-US" sz="1200" kern="1200" baseline="0" dirty="0">
              <a:solidFill>
                <a:schemeClr val="tx1"/>
              </a:solidFill>
              <a:latin typeface="+mn-lt"/>
              <a:ea typeface="+mn-ea"/>
              <a:cs typeface="+mn-cs"/>
            </a:endParaRPr>
          </a:p>
        </p:txBody>
      </p:sp>
      <p:sp>
        <p:nvSpPr>
          <p:cNvPr id="4" name="Slide Number Placeholder 3"/>
          <p:cNvSpPr>
            <a:spLocks noGrp="1"/>
          </p:cNvSpPr>
          <p:nvPr>
            <p:ph type="sldNum" sz="quarter" idx="5"/>
          </p:nvPr>
        </p:nvSpPr>
        <p:spPr/>
        <p:txBody>
          <a:bodyPr/>
          <a:lstStyle/>
          <a:p>
            <a:pPr>
              <a:defRPr/>
            </a:pPr>
            <a:fld id="{8265CCF7-C6F2-435C-AB36-78C649E2A501}" type="slidenum">
              <a:rPr lang="en-US" smtClean="0"/>
              <a:pPr>
                <a:defRPr/>
              </a:pPr>
              <a:t>13</a:t>
            </a:fld>
            <a:endParaRPr lang="en-US"/>
          </a:p>
        </p:txBody>
      </p:sp>
    </p:spTree>
    <p:extLst>
      <p:ext uri="{BB962C8B-B14F-4D97-AF65-F5344CB8AC3E}">
        <p14:creationId xmlns:p14="http://schemas.microsoft.com/office/powerpoint/2010/main" val="289116143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Image Placeholder 1"/>
          <p:cNvSpPr>
            <a:spLocks noGrp="1" noRot="1" noChangeAspect="1" noTextEdit="1"/>
          </p:cNvSpPr>
          <p:nvPr>
            <p:ph type="sldImg"/>
          </p:nvPr>
        </p:nvSpPr>
        <p:spPr bwMode="auto">
          <a:noFill/>
          <a:ln>
            <a:solidFill>
              <a:srgbClr val="000000"/>
            </a:solidFill>
            <a:miter lim="800000"/>
            <a:headEnd/>
            <a:tailEnd/>
          </a:ln>
        </p:spPr>
      </p:sp>
      <p:sp>
        <p:nvSpPr>
          <p:cNvPr id="14339" name="Notes Placeholder 2"/>
          <p:cNvSpPr>
            <a:spLocks noGrp="1"/>
          </p:cNvSpPr>
          <p:nvPr>
            <p:ph type="body" idx="1"/>
          </p:nvPr>
        </p:nvSpPr>
        <p:spPr bwMode="auto">
          <a:noFill/>
        </p:spPr>
        <p:txBody>
          <a:bodyPr wrap="square" numCol="1" anchor="t" anchorCtr="0" compatLnSpc="1">
            <a:prstTxWarp prst="textNoShape">
              <a:avLst/>
            </a:prstTxWarp>
            <a:normAutofit/>
          </a:bodyPr>
          <a:lstStyle/>
          <a:p>
            <a:r>
              <a:rPr lang="en-US" sz="1200" kern="1200" baseline="0" dirty="0">
                <a:solidFill>
                  <a:schemeClr val="tx1"/>
                </a:solidFill>
                <a:latin typeface="+mn-lt"/>
                <a:ea typeface="+mn-ea"/>
                <a:cs typeface="+mn-cs"/>
              </a:rPr>
              <a:t>The optimum pH range for three different enzymes: the enzyme pepsin digests proteins in the acidic juices of the stomach, the enzyme alkaline phosphatase </a:t>
            </a:r>
            <a:r>
              <a:rPr lang="en-US" sz="1200" kern="1200" baseline="0" dirty="0" err="1">
                <a:solidFill>
                  <a:schemeClr val="tx1"/>
                </a:solidFill>
                <a:latin typeface="+mn-lt"/>
                <a:ea typeface="+mn-ea"/>
                <a:cs typeface="+mn-cs"/>
              </a:rPr>
              <a:t>catalyses</a:t>
            </a:r>
            <a:r>
              <a:rPr lang="en-US" sz="1200" kern="1200" baseline="0" dirty="0">
                <a:solidFill>
                  <a:schemeClr val="tx1"/>
                </a:solidFill>
                <a:latin typeface="+mn-lt"/>
                <a:ea typeface="+mn-ea"/>
                <a:cs typeface="+mn-cs"/>
              </a:rPr>
              <a:t> reactions in the relatively alkaline environment of the bone and the enzyme salivary amylase digests carbohydrates in the mouth at a neutral </a:t>
            </a:r>
            <a:r>
              <a:rPr lang="en-US" sz="1200" kern="1200" baseline="0" dirty="0" err="1">
                <a:solidFill>
                  <a:schemeClr val="tx1"/>
                </a:solidFill>
                <a:latin typeface="+mn-lt"/>
                <a:ea typeface="+mn-ea"/>
                <a:cs typeface="+mn-cs"/>
              </a:rPr>
              <a:t>pH.</a:t>
            </a:r>
            <a:endParaRPr lang="en-US" sz="1200" kern="1200" baseline="0" dirty="0">
              <a:solidFill>
                <a:schemeClr val="tx1"/>
              </a:solidFill>
              <a:latin typeface="+mn-lt"/>
              <a:ea typeface="+mn-ea"/>
              <a:cs typeface="+mn-cs"/>
            </a:endParaRPr>
          </a:p>
          <a:p>
            <a:endParaRPr lang="en-US" sz="1200" kern="1200" baseline="0" dirty="0">
              <a:solidFill>
                <a:schemeClr val="tx1"/>
              </a:solidFill>
              <a:latin typeface="+mn-lt"/>
              <a:ea typeface="+mn-ea"/>
              <a:cs typeface="+mn-cs"/>
            </a:endParaRPr>
          </a:p>
          <a:p>
            <a:r>
              <a:rPr lang="en-US" sz="1200" b="1" kern="1200" baseline="0" dirty="0">
                <a:solidFill>
                  <a:schemeClr val="tx1"/>
                </a:solidFill>
                <a:latin typeface="+mn-lt"/>
                <a:ea typeface="+mn-ea"/>
                <a:cs typeface="+mn-cs"/>
              </a:rPr>
              <a:t>Enzyme-limiting reaction</a:t>
            </a:r>
          </a:p>
          <a:p>
            <a:endParaRPr lang="en-US" sz="1200" kern="1200" baseline="0" dirty="0">
              <a:solidFill>
                <a:schemeClr val="tx1"/>
              </a:solidFill>
              <a:latin typeface="+mn-lt"/>
              <a:ea typeface="+mn-ea"/>
              <a:cs typeface="+mn-cs"/>
            </a:endParaRPr>
          </a:p>
          <a:p>
            <a:pPr marL="228600" indent="-228600">
              <a:buFont typeface="+mj-lt"/>
              <a:buAutoNum type="arabicPeriod"/>
            </a:pPr>
            <a:r>
              <a:rPr lang="en-US" sz="1200" kern="1200" baseline="0" dirty="0">
                <a:solidFill>
                  <a:schemeClr val="tx1"/>
                </a:solidFill>
                <a:latin typeface="+mn-lt"/>
                <a:ea typeface="+mn-ea"/>
                <a:cs typeface="+mn-cs"/>
              </a:rPr>
              <a:t>The effect of increases in substrate concentration on the rate of an enzyme-</a:t>
            </a:r>
            <a:r>
              <a:rPr lang="en-US" sz="1200" kern="1200" baseline="0" dirty="0" err="1">
                <a:solidFill>
                  <a:schemeClr val="tx1"/>
                </a:solidFill>
                <a:latin typeface="+mn-lt"/>
                <a:ea typeface="+mn-ea"/>
                <a:cs typeface="+mn-cs"/>
              </a:rPr>
              <a:t>catalysed</a:t>
            </a:r>
            <a:r>
              <a:rPr lang="en-US" sz="1200" kern="1200" baseline="0" dirty="0">
                <a:solidFill>
                  <a:schemeClr val="tx1"/>
                </a:solidFill>
                <a:latin typeface="+mn-lt"/>
                <a:ea typeface="+mn-ea"/>
                <a:cs typeface="+mn-cs"/>
              </a:rPr>
              <a:t> reaction. </a:t>
            </a:r>
          </a:p>
          <a:p>
            <a:pPr marL="228600" indent="-228600">
              <a:buFont typeface="+mj-lt"/>
              <a:buAutoNum type="arabicPeriod"/>
            </a:pPr>
            <a:r>
              <a:rPr lang="en-US" sz="1200" kern="1200" baseline="0" dirty="0">
                <a:solidFill>
                  <a:schemeClr val="tx1"/>
                </a:solidFill>
                <a:latin typeface="+mn-lt"/>
                <a:ea typeface="+mn-ea"/>
                <a:cs typeface="+mn-cs"/>
              </a:rPr>
              <a:t>At saturation, further increases in substrate concentration do not increase the rate of the reaction.</a:t>
            </a:r>
          </a:p>
          <a:p>
            <a:pPr marL="228600" indent="-228600">
              <a:buFont typeface="+mj-lt"/>
              <a:buAutoNum type="arabicPeriod"/>
            </a:pPr>
            <a:endParaRPr lang="en-US" sz="1200" kern="1200" baseline="0" dirty="0">
              <a:solidFill>
                <a:schemeClr val="tx1"/>
              </a:solidFill>
              <a:latin typeface="+mn-lt"/>
              <a:ea typeface="+mn-ea"/>
              <a:cs typeface="+mn-cs"/>
            </a:endParaRPr>
          </a:p>
          <a:p>
            <a:r>
              <a:rPr lang="en-US" sz="1200" b="1" kern="1200" baseline="0" dirty="0">
                <a:solidFill>
                  <a:schemeClr val="tx1"/>
                </a:solidFill>
                <a:latin typeface="+mn-lt"/>
                <a:ea typeface="+mn-ea"/>
                <a:cs typeface="+mn-cs"/>
              </a:rPr>
              <a:t>Substrate limiting reaction</a:t>
            </a:r>
          </a:p>
          <a:p>
            <a:endParaRPr lang="en-US" sz="1200" kern="1200" baseline="0" dirty="0">
              <a:solidFill>
                <a:schemeClr val="tx1"/>
              </a:solidFill>
              <a:latin typeface="+mn-lt"/>
              <a:ea typeface="+mn-ea"/>
              <a:cs typeface="+mn-cs"/>
            </a:endParaRPr>
          </a:p>
          <a:p>
            <a:pPr marL="228600" indent="-228600">
              <a:buFont typeface="+mj-lt"/>
              <a:buAutoNum type="arabicPeriod"/>
            </a:pPr>
            <a:r>
              <a:rPr lang="en-US" sz="1200" kern="1200" baseline="0" dirty="0">
                <a:solidFill>
                  <a:schemeClr val="tx1"/>
                </a:solidFill>
                <a:latin typeface="+mn-lt"/>
                <a:ea typeface="+mn-ea"/>
                <a:cs typeface="+mn-cs"/>
              </a:rPr>
              <a:t>When the amount of enzyme in a system is increased, then the amount of product increases exponentially. </a:t>
            </a:r>
          </a:p>
          <a:p>
            <a:pPr marL="228600" indent="-228600">
              <a:buFont typeface="+mj-lt"/>
              <a:buAutoNum type="arabicPeriod"/>
            </a:pPr>
            <a:r>
              <a:rPr lang="en-US" sz="1200" kern="1200" baseline="0" dirty="0">
                <a:solidFill>
                  <a:schemeClr val="tx1"/>
                </a:solidFill>
                <a:latin typeface="+mn-lt"/>
                <a:ea typeface="+mn-ea"/>
                <a:cs typeface="+mn-cs"/>
              </a:rPr>
              <a:t>This keeps on happening until the product starts to inhibit enzyme action or the substrate is depleted.</a:t>
            </a:r>
          </a:p>
          <a:p>
            <a:pPr marL="228600" indent="-228600">
              <a:buFont typeface="+mj-lt"/>
              <a:buNone/>
            </a:pPr>
            <a:r>
              <a:rPr lang="en-US" sz="1200" kern="1200" baseline="0" dirty="0">
                <a:solidFill>
                  <a:schemeClr val="tx1"/>
                </a:solidFill>
                <a:latin typeface="+mn-lt"/>
                <a:ea typeface="+mn-ea"/>
                <a:cs typeface="+mn-cs"/>
              </a:rPr>
              <a:t>3.	The rate of reaction is proportional to the enzyme concentration provided there is excess substrate present.</a:t>
            </a:r>
          </a:p>
        </p:txBody>
      </p:sp>
      <p:sp>
        <p:nvSpPr>
          <p:cNvPr id="4" name="Slide Number Placeholder 3"/>
          <p:cNvSpPr>
            <a:spLocks noGrp="1"/>
          </p:cNvSpPr>
          <p:nvPr>
            <p:ph type="sldNum" sz="quarter" idx="5"/>
          </p:nvPr>
        </p:nvSpPr>
        <p:spPr/>
        <p:txBody>
          <a:bodyPr/>
          <a:lstStyle/>
          <a:p>
            <a:pPr>
              <a:defRPr/>
            </a:pPr>
            <a:fld id="{8265CCF7-C6F2-435C-AB36-78C649E2A501}" type="slidenum">
              <a:rPr lang="en-US" smtClean="0"/>
              <a:pPr>
                <a:defRPr/>
              </a:pPr>
              <a:t>14</a:t>
            </a:fld>
            <a:endParaRPr lang="en-US"/>
          </a:p>
        </p:txBody>
      </p:sp>
    </p:spTree>
    <p:extLst>
      <p:ext uri="{BB962C8B-B14F-4D97-AF65-F5344CB8AC3E}">
        <p14:creationId xmlns:p14="http://schemas.microsoft.com/office/powerpoint/2010/main" val="75614463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Image Placeholder 1"/>
          <p:cNvSpPr>
            <a:spLocks noGrp="1" noRot="1" noChangeAspect="1" noTextEdit="1"/>
          </p:cNvSpPr>
          <p:nvPr>
            <p:ph type="sldImg"/>
          </p:nvPr>
        </p:nvSpPr>
        <p:spPr bwMode="auto">
          <a:noFill/>
          <a:ln>
            <a:solidFill>
              <a:srgbClr val="000000"/>
            </a:solidFill>
            <a:miter lim="800000"/>
            <a:headEnd/>
            <a:tailEnd/>
          </a:ln>
        </p:spPr>
      </p:sp>
      <p:sp>
        <p:nvSpPr>
          <p:cNvPr id="14339" name="Notes Placeholder 2"/>
          <p:cNvSpPr>
            <a:spLocks noGrp="1"/>
          </p:cNvSpPr>
          <p:nvPr>
            <p:ph type="body" idx="1"/>
          </p:nvPr>
        </p:nvSpPr>
        <p:spPr bwMode="auto">
          <a:noFill/>
        </p:spPr>
        <p:txBody>
          <a:bodyPr wrap="square" numCol="1" anchor="t" anchorCtr="0" compatLnSpc="1">
            <a:prstTxWarp prst="textNoShape">
              <a:avLst/>
            </a:prstTxWarp>
          </a:bodyPr>
          <a:lstStyle/>
          <a:p>
            <a:r>
              <a:rPr lang="en-US" sz="1200" b="1" kern="1200" baseline="0" dirty="0">
                <a:solidFill>
                  <a:schemeClr val="tx1"/>
                </a:solidFill>
                <a:latin typeface="+mn-lt"/>
                <a:ea typeface="+mn-ea"/>
                <a:cs typeface="+mn-cs"/>
              </a:rPr>
              <a:t>Enzyme-limiting reaction</a:t>
            </a:r>
          </a:p>
          <a:p>
            <a:endParaRPr lang="en-US" sz="1200" kern="1200" baseline="0" dirty="0">
              <a:solidFill>
                <a:schemeClr val="tx1"/>
              </a:solidFill>
              <a:latin typeface="+mn-lt"/>
              <a:ea typeface="+mn-ea"/>
              <a:cs typeface="+mn-cs"/>
            </a:endParaRPr>
          </a:p>
          <a:p>
            <a:pPr marL="228600" indent="-228600">
              <a:buFont typeface="+mj-lt"/>
              <a:buAutoNum type="arabicPeriod"/>
            </a:pPr>
            <a:r>
              <a:rPr lang="en-US" sz="1200" kern="1200" baseline="0" dirty="0">
                <a:solidFill>
                  <a:schemeClr val="tx1"/>
                </a:solidFill>
                <a:latin typeface="+mn-lt"/>
                <a:ea typeface="+mn-ea"/>
                <a:cs typeface="+mn-cs"/>
              </a:rPr>
              <a:t>The effect of increases in substrate concentration on the rate of an enzyme-</a:t>
            </a:r>
            <a:r>
              <a:rPr lang="en-US" sz="1200" kern="1200" baseline="0" dirty="0" err="1">
                <a:solidFill>
                  <a:schemeClr val="tx1"/>
                </a:solidFill>
                <a:latin typeface="+mn-lt"/>
                <a:ea typeface="+mn-ea"/>
                <a:cs typeface="+mn-cs"/>
              </a:rPr>
              <a:t>catalysed</a:t>
            </a:r>
            <a:r>
              <a:rPr lang="en-US" sz="1200" kern="1200" baseline="0" dirty="0">
                <a:solidFill>
                  <a:schemeClr val="tx1"/>
                </a:solidFill>
                <a:latin typeface="+mn-lt"/>
                <a:ea typeface="+mn-ea"/>
                <a:cs typeface="+mn-cs"/>
              </a:rPr>
              <a:t> reaction. </a:t>
            </a:r>
          </a:p>
          <a:p>
            <a:pPr marL="228600" indent="-228600">
              <a:buFont typeface="+mj-lt"/>
              <a:buAutoNum type="arabicPeriod"/>
            </a:pPr>
            <a:r>
              <a:rPr lang="en-US" sz="1200" kern="1200" baseline="0" dirty="0">
                <a:solidFill>
                  <a:schemeClr val="tx1"/>
                </a:solidFill>
                <a:latin typeface="+mn-lt"/>
                <a:ea typeface="+mn-ea"/>
                <a:cs typeface="+mn-cs"/>
              </a:rPr>
              <a:t>At saturation, further increases in substrate concentration do not increase the rate of the reaction.</a:t>
            </a:r>
          </a:p>
          <a:p>
            <a:pPr marL="228600" indent="-228600">
              <a:buFont typeface="+mj-lt"/>
              <a:buAutoNum type="arabicPeriod"/>
            </a:pPr>
            <a:endParaRPr lang="en-US" sz="1200" kern="1200" baseline="0" dirty="0">
              <a:solidFill>
                <a:schemeClr val="tx1"/>
              </a:solidFill>
              <a:latin typeface="+mn-lt"/>
              <a:ea typeface="+mn-ea"/>
              <a:cs typeface="+mn-cs"/>
            </a:endParaRPr>
          </a:p>
          <a:p>
            <a:r>
              <a:rPr lang="en-US" sz="1200" b="1" kern="1200" baseline="0" dirty="0">
                <a:solidFill>
                  <a:schemeClr val="tx1"/>
                </a:solidFill>
                <a:latin typeface="+mn-lt"/>
                <a:ea typeface="+mn-ea"/>
                <a:cs typeface="+mn-cs"/>
              </a:rPr>
              <a:t>Substrate limiting reaction</a:t>
            </a:r>
          </a:p>
          <a:p>
            <a:endParaRPr lang="en-US" sz="1200" kern="1200" baseline="0" dirty="0">
              <a:solidFill>
                <a:schemeClr val="tx1"/>
              </a:solidFill>
              <a:latin typeface="+mn-lt"/>
              <a:ea typeface="+mn-ea"/>
              <a:cs typeface="+mn-cs"/>
            </a:endParaRPr>
          </a:p>
          <a:p>
            <a:pPr marL="228600" indent="-228600">
              <a:buFont typeface="+mj-lt"/>
              <a:buAutoNum type="arabicPeriod"/>
            </a:pPr>
            <a:r>
              <a:rPr lang="en-US" sz="1200" kern="1200" baseline="0" dirty="0">
                <a:solidFill>
                  <a:schemeClr val="tx1"/>
                </a:solidFill>
                <a:latin typeface="+mn-lt"/>
                <a:ea typeface="+mn-ea"/>
                <a:cs typeface="+mn-cs"/>
              </a:rPr>
              <a:t>When the amount of enzyme in a system is increased, then the amount of product increases exponentially. </a:t>
            </a:r>
          </a:p>
          <a:p>
            <a:pPr marL="228600" indent="-228600">
              <a:buFont typeface="+mj-lt"/>
              <a:buAutoNum type="arabicPeriod"/>
            </a:pPr>
            <a:r>
              <a:rPr lang="en-US" sz="1200" kern="1200" baseline="0" dirty="0">
                <a:solidFill>
                  <a:schemeClr val="tx1"/>
                </a:solidFill>
                <a:latin typeface="+mn-lt"/>
                <a:ea typeface="+mn-ea"/>
                <a:cs typeface="+mn-cs"/>
              </a:rPr>
              <a:t>This keeps on happening until the product starts to inhibit enzyme action or the substrate is depleted.</a:t>
            </a:r>
          </a:p>
          <a:p>
            <a:pPr marL="228600" indent="-228600">
              <a:buFont typeface="+mj-lt"/>
              <a:buNone/>
            </a:pPr>
            <a:r>
              <a:rPr lang="en-US" sz="1200" kern="1200" baseline="0" dirty="0">
                <a:solidFill>
                  <a:schemeClr val="tx1"/>
                </a:solidFill>
                <a:latin typeface="+mn-lt"/>
                <a:ea typeface="+mn-ea"/>
                <a:cs typeface="+mn-cs"/>
              </a:rPr>
              <a:t>3.	The rate of reaction is proportional to the enzyme concentration provided there is excess substrate present.</a:t>
            </a:r>
          </a:p>
        </p:txBody>
      </p:sp>
      <p:sp>
        <p:nvSpPr>
          <p:cNvPr id="4" name="Slide Number Placeholder 3"/>
          <p:cNvSpPr>
            <a:spLocks noGrp="1"/>
          </p:cNvSpPr>
          <p:nvPr>
            <p:ph type="sldNum" sz="quarter" idx="5"/>
          </p:nvPr>
        </p:nvSpPr>
        <p:spPr/>
        <p:txBody>
          <a:bodyPr/>
          <a:lstStyle/>
          <a:p>
            <a:pPr>
              <a:defRPr/>
            </a:pPr>
            <a:fld id="{8265CCF7-C6F2-435C-AB36-78C649E2A501}" type="slidenum">
              <a:rPr lang="en-US" smtClean="0"/>
              <a:pPr>
                <a:defRPr/>
              </a:pPr>
              <a:t>15</a:t>
            </a:fld>
            <a:endParaRPr lang="en-US"/>
          </a:p>
        </p:txBody>
      </p:sp>
    </p:spTree>
    <p:extLst>
      <p:ext uri="{BB962C8B-B14F-4D97-AF65-F5344CB8AC3E}">
        <p14:creationId xmlns:p14="http://schemas.microsoft.com/office/powerpoint/2010/main" val="422983475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Image Placeholder 1"/>
          <p:cNvSpPr>
            <a:spLocks noGrp="1" noRot="1" noChangeAspect="1" noTextEdit="1"/>
          </p:cNvSpPr>
          <p:nvPr>
            <p:ph type="sldImg"/>
          </p:nvPr>
        </p:nvSpPr>
        <p:spPr bwMode="auto">
          <a:noFill/>
          <a:ln>
            <a:solidFill>
              <a:srgbClr val="000000"/>
            </a:solidFill>
            <a:miter lim="800000"/>
            <a:headEnd/>
            <a:tailEnd/>
          </a:ln>
        </p:spPr>
      </p:sp>
      <p:sp>
        <p:nvSpPr>
          <p:cNvPr id="14339"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sz="1200" kern="1200" baseline="0" dirty="0">
              <a:solidFill>
                <a:schemeClr val="tx1"/>
              </a:solidFill>
              <a:latin typeface="+mn-lt"/>
              <a:ea typeface="+mn-ea"/>
              <a:cs typeface="+mn-cs"/>
            </a:endParaRPr>
          </a:p>
        </p:txBody>
      </p:sp>
      <p:sp>
        <p:nvSpPr>
          <p:cNvPr id="4" name="Slide Number Placeholder 3"/>
          <p:cNvSpPr>
            <a:spLocks noGrp="1"/>
          </p:cNvSpPr>
          <p:nvPr>
            <p:ph type="sldNum" sz="quarter" idx="5"/>
          </p:nvPr>
        </p:nvSpPr>
        <p:spPr/>
        <p:txBody>
          <a:bodyPr/>
          <a:lstStyle/>
          <a:p>
            <a:pPr>
              <a:defRPr/>
            </a:pPr>
            <a:fld id="{8265CCF7-C6F2-435C-AB36-78C649E2A501}" type="slidenum">
              <a:rPr lang="en-US" smtClean="0"/>
              <a:pPr>
                <a:defRPr/>
              </a:pPr>
              <a:t>16</a:t>
            </a:fld>
            <a:endParaRPr lang="en-US"/>
          </a:p>
        </p:txBody>
      </p:sp>
    </p:spTree>
    <p:extLst>
      <p:ext uri="{BB962C8B-B14F-4D97-AF65-F5344CB8AC3E}">
        <p14:creationId xmlns:p14="http://schemas.microsoft.com/office/powerpoint/2010/main" val="69594595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Image Placeholder 1"/>
          <p:cNvSpPr>
            <a:spLocks noGrp="1" noRot="1" noChangeAspect="1" noTextEdit="1"/>
          </p:cNvSpPr>
          <p:nvPr>
            <p:ph type="sldImg"/>
          </p:nvPr>
        </p:nvSpPr>
        <p:spPr bwMode="auto">
          <a:noFill/>
          <a:ln>
            <a:solidFill>
              <a:srgbClr val="000000"/>
            </a:solidFill>
            <a:miter lim="800000"/>
            <a:headEnd/>
            <a:tailEnd/>
          </a:ln>
        </p:spPr>
      </p:sp>
      <p:sp>
        <p:nvSpPr>
          <p:cNvPr id="14339" name="Notes Placeholder 2"/>
          <p:cNvSpPr>
            <a:spLocks noGrp="1"/>
          </p:cNvSpPr>
          <p:nvPr>
            <p:ph type="body" idx="1"/>
          </p:nvPr>
        </p:nvSpPr>
        <p:spPr bwMode="auto">
          <a:noFill/>
        </p:spPr>
        <p:txBody>
          <a:bodyPr wrap="square" numCol="1" anchor="t" anchorCtr="0" compatLnSpc="1">
            <a:prstTxWarp prst="textNoShape">
              <a:avLst/>
            </a:prstTxWarp>
          </a:bodyPr>
          <a:lstStyle/>
          <a:p>
            <a:r>
              <a:rPr lang="en-US" sz="1200" b="1" kern="1200" baseline="0" dirty="0">
                <a:solidFill>
                  <a:schemeClr val="tx1"/>
                </a:solidFill>
                <a:latin typeface="+mn-lt"/>
                <a:ea typeface="+mn-ea"/>
                <a:cs typeface="+mn-cs"/>
              </a:rPr>
              <a:t>Non-competitive inhibitor</a:t>
            </a:r>
          </a:p>
          <a:p>
            <a:pPr marL="228600" indent="-228600">
              <a:buFont typeface="Arial" panose="020B0604020202020204" pitchFamily="34" charset="0"/>
              <a:buChar char="•"/>
            </a:pPr>
            <a:r>
              <a:rPr lang="en-US" sz="1200" kern="1200" baseline="0" dirty="0">
                <a:solidFill>
                  <a:schemeClr val="tx1"/>
                </a:solidFill>
                <a:latin typeface="+mn-lt"/>
                <a:ea typeface="+mn-ea"/>
                <a:cs typeface="+mn-cs"/>
              </a:rPr>
              <a:t>The activity of almost every enzyme in a cell is regulated by feedback inhibition, in which the product of a reaction can inhibit enzyme activity. </a:t>
            </a:r>
          </a:p>
          <a:p>
            <a:pPr marL="228600" indent="-228600">
              <a:buFont typeface="Arial" panose="020B0604020202020204" pitchFamily="34" charset="0"/>
              <a:buChar char="•"/>
            </a:pPr>
            <a:r>
              <a:rPr lang="en-US" sz="1200" kern="1200" baseline="0" dirty="0">
                <a:solidFill>
                  <a:schemeClr val="tx1"/>
                </a:solidFill>
                <a:latin typeface="+mn-lt"/>
                <a:ea typeface="+mn-ea"/>
                <a:cs typeface="+mn-cs"/>
              </a:rPr>
              <a:t>Inhibitor binds to a site on the enzyme, other than the active site, thus slowing the rate of reaction. </a:t>
            </a:r>
          </a:p>
          <a:p>
            <a:pPr marL="228600" indent="-228600">
              <a:buFont typeface="Arial" panose="020B0604020202020204" pitchFamily="34" charset="0"/>
              <a:buChar char="•"/>
            </a:pPr>
            <a:r>
              <a:rPr lang="en-US" sz="1200" kern="1200" baseline="0" dirty="0">
                <a:solidFill>
                  <a:schemeClr val="tx1"/>
                </a:solidFill>
                <a:latin typeface="+mn-lt"/>
                <a:ea typeface="+mn-ea"/>
                <a:cs typeface="+mn-cs"/>
              </a:rPr>
              <a:t>When the inhibitor binds to the enzyme, the active site of the enzyme changes shape so that it no longer has an affinity for its substrate. </a:t>
            </a:r>
          </a:p>
          <a:p>
            <a:pPr marL="228600" indent="-228600">
              <a:buFont typeface="Arial" panose="020B0604020202020204" pitchFamily="34" charset="0"/>
              <a:buChar char="•"/>
            </a:pPr>
            <a:r>
              <a:rPr lang="en-US" sz="1200" kern="1200" baseline="0" dirty="0">
                <a:solidFill>
                  <a:schemeClr val="tx1"/>
                </a:solidFill>
                <a:latin typeface="+mn-lt"/>
                <a:ea typeface="+mn-ea"/>
                <a:cs typeface="+mn-cs"/>
              </a:rPr>
              <a:t>If the product is removed, then inhibition will be reduced and the product will be produced again. </a:t>
            </a:r>
          </a:p>
          <a:p>
            <a:pPr marL="228600" indent="-228600">
              <a:buFont typeface="Arial" panose="020B0604020202020204" pitchFamily="34" charset="0"/>
              <a:buChar char="•"/>
            </a:pPr>
            <a:r>
              <a:rPr lang="en-US" sz="1200" kern="1200" baseline="0" dirty="0">
                <a:solidFill>
                  <a:schemeClr val="tx1"/>
                </a:solidFill>
                <a:latin typeface="+mn-lt"/>
                <a:ea typeface="+mn-ea"/>
                <a:cs typeface="+mn-cs"/>
              </a:rPr>
              <a:t>This helps cells keep the concentration of products within a certain range. </a:t>
            </a:r>
          </a:p>
          <a:p>
            <a:endParaRPr lang="en-US" sz="1200" kern="1200" baseline="0" dirty="0">
              <a:solidFill>
                <a:schemeClr val="tx1"/>
              </a:solidFill>
              <a:latin typeface="+mn-lt"/>
              <a:ea typeface="+mn-ea"/>
              <a:cs typeface="+mn-cs"/>
            </a:endParaRPr>
          </a:p>
          <a:p>
            <a:r>
              <a:rPr lang="en-US" sz="1200" b="1" kern="1200" baseline="0" dirty="0">
                <a:solidFill>
                  <a:schemeClr val="tx1"/>
                </a:solidFill>
                <a:latin typeface="+mn-lt"/>
                <a:ea typeface="+mn-ea"/>
                <a:cs typeface="+mn-cs"/>
              </a:rPr>
              <a:t>Competitive inhibitor</a:t>
            </a:r>
          </a:p>
          <a:p>
            <a:r>
              <a:rPr lang="en-US" sz="1200" kern="1200" baseline="0" dirty="0">
                <a:solidFill>
                  <a:schemeClr val="tx1"/>
                </a:solidFill>
                <a:latin typeface="+mn-lt"/>
                <a:ea typeface="+mn-ea"/>
                <a:cs typeface="+mn-cs"/>
              </a:rPr>
              <a:t>Other substrates compete with the natural substrate for space in the active site.</a:t>
            </a:r>
          </a:p>
        </p:txBody>
      </p:sp>
      <p:sp>
        <p:nvSpPr>
          <p:cNvPr id="4" name="Slide Number Placeholder 3"/>
          <p:cNvSpPr>
            <a:spLocks noGrp="1"/>
          </p:cNvSpPr>
          <p:nvPr>
            <p:ph type="sldNum" sz="quarter" idx="5"/>
          </p:nvPr>
        </p:nvSpPr>
        <p:spPr/>
        <p:txBody>
          <a:bodyPr/>
          <a:lstStyle/>
          <a:p>
            <a:pPr>
              <a:defRPr/>
            </a:pPr>
            <a:fld id="{8265CCF7-C6F2-435C-AB36-78C649E2A501}" type="slidenum">
              <a:rPr lang="en-US" smtClean="0"/>
              <a:pPr>
                <a:defRPr/>
              </a:pPr>
              <a:t>17</a:t>
            </a:fld>
            <a:endParaRPr lang="en-US"/>
          </a:p>
        </p:txBody>
      </p:sp>
    </p:spTree>
    <p:extLst>
      <p:ext uri="{BB962C8B-B14F-4D97-AF65-F5344CB8AC3E}">
        <p14:creationId xmlns:p14="http://schemas.microsoft.com/office/powerpoint/2010/main" val="63205324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Image Placeholder 1"/>
          <p:cNvSpPr>
            <a:spLocks noGrp="1" noRot="1" noChangeAspect="1" noTextEdit="1"/>
          </p:cNvSpPr>
          <p:nvPr>
            <p:ph type="sldImg"/>
          </p:nvPr>
        </p:nvSpPr>
        <p:spPr bwMode="auto">
          <a:noFill/>
          <a:ln>
            <a:solidFill>
              <a:srgbClr val="000000"/>
            </a:solidFill>
            <a:miter lim="800000"/>
            <a:headEnd/>
            <a:tailEnd/>
          </a:ln>
        </p:spPr>
      </p:sp>
      <p:sp>
        <p:nvSpPr>
          <p:cNvPr id="14339"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sz="1200" kern="1200" baseline="0" dirty="0">
              <a:solidFill>
                <a:schemeClr val="tx1"/>
              </a:solidFill>
              <a:latin typeface="+mn-lt"/>
              <a:ea typeface="+mn-ea"/>
              <a:cs typeface="+mn-cs"/>
            </a:endParaRPr>
          </a:p>
        </p:txBody>
      </p:sp>
      <p:sp>
        <p:nvSpPr>
          <p:cNvPr id="4" name="Slide Number Placeholder 3"/>
          <p:cNvSpPr>
            <a:spLocks noGrp="1"/>
          </p:cNvSpPr>
          <p:nvPr>
            <p:ph type="sldNum" sz="quarter" idx="5"/>
          </p:nvPr>
        </p:nvSpPr>
        <p:spPr/>
        <p:txBody>
          <a:bodyPr/>
          <a:lstStyle/>
          <a:p>
            <a:pPr>
              <a:defRPr/>
            </a:pPr>
            <a:fld id="{8265CCF7-C6F2-435C-AB36-78C649E2A501}" type="slidenum">
              <a:rPr lang="en-US" smtClean="0"/>
              <a:pPr>
                <a:defRPr/>
              </a:pPr>
              <a:t>18</a:t>
            </a:fld>
            <a:endParaRPr lang="en-US"/>
          </a:p>
        </p:txBody>
      </p:sp>
    </p:spTree>
    <p:extLst>
      <p:ext uri="{BB962C8B-B14F-4D97-AF65-F5344CB8AC3E}">
        <p14:creationId xmlns:p14="http://schemas.microsoft.com/office/powerpoint/2010/main" val="137634423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Image Placeholder 1"/>
          <p:cNvSpPr>
            <a:spLocks noGrp="1" noRot="1" noChangeAspect="1" noTextEdit="1"/>
          </p:cNvSpPr>
          <p:nvPr>
            <p:ph type="sldImg"/>
          </p:nvPr>
        </p:nvSpPr>
        <p:spPr bwMode="auto">
          <a:noFill/>
          <a:ln>
            <a:solidFill>
              <a:srgbClr val="000000"/>
            </a:solidFill>
            <a:miter lim="800000"/>
            <a:headEnd/>
            <a:tailEnd/>
          </a:ln>
        </p:spPr>
      </p:sp>
      <p:sp>
        <p:nvSpPr>
          <p:cNvPr id="14339" name="Notes Placeholder 2"/>
          <p:cNvSpPr>
            <a:spLocks noGrp="1"/>
          </p:cNvSpPr>
          <p:nvPr>
            <p:ph type="body" idx="1"/>
          </p:nvPr>
        </p:nvSpPr>
        <p:spPr bwMode="auto">
          <a:noFill/>
        </p:spPr>
        <p:txBody>
          <a:bodyPr wrap="square" numCol="1" anchor="t" anchorCtr="0" compatLnSpc="1">
            <a:prstTxWarp prst="textNoShape">
              <a:avLst/>
            </a:prstTxWarp>
          </a:bodyPr>
          <a:lstStyle/>
          <a:p>
            <a:pPr marL="228600" indent="-228600">
              <a:buFont typeface="Arial" panose="020B0604020202020204" pitchFamily="34" charset="0"/>
              <a:buChar char="•"/>
            </a:pPr>
            <a:r>
              <a:rPr lang="en-US" sz="1200" kern="1200" baseline="0" dirty="0">
                <a:solidFill>
                  <a:schemeClr val="tx1"/>
                </a:solidFill>
                <a:latin typeface="+mn-lt"/>
                <a:ea typeface="+mn-ea"/>
                <a:cs typeface="+mn-cs"/>
              </a:rPr>
              <a:t>Cells use the chemical energy released from </a:t>
            </a:r>
            <a:r>
              <a:rPr lang="en-US" sz="1200" kern="1200" baseline="0" dirty="0" err="1">
                <a:solidFill>
                  <a:schemeClr val="tx1"/>
                </a:solidFill>
                <a:latin typeface="+mn-lt"/>
                <a:ea typeface="+mn-ea"/>
                <a:cs typeface="+mn-cs"/>
              </a:rPr>
              <a:t>exergonic</a:t>
            </a:r>
            <a:r>
              <a:rPr lang="en-US" sz="1200" kern="1200" baseline="0" dirty="0">
                <a:solidFill>
                  <a:schemeClr val="tx1"/>
                </a:solidFill>
                <a:latin typeface="+mn-lt"/>
                <a:ea typeface="+mn-ea"/>
                <a:cs typeface="+mn-cs"/>
              </a:rPr>
              <a:t> reactions to fuel </a:t>
            </a:r>
            <a:r>
              <a:rPr lang="en-US" sz="1200" kern="1200" baseline="0" dirty="0" err="1">
                <a:solidFill>
                  <a:schemeClr val="tx1"/>
                </a:solidFill>
                <a:latin typeface="+mn-lt"/>
                <a:ea typeface="+mn-ea"/>
                <a:cs typeface="+mn-cs"/>
              </a:rPr>
              <a:t>endergonic</a:t>
            </a:r>
            <a:r>
              <a:rPr lang="en-US" sz="1200" kern="1200" baseline="0" dirty="0">
                <a:solidFill>
                  <a:schemeClr val="tx1"/>
                </a:solidFill>
                <a:latin typeface="+mn-lt"/>
                <a:ea typeface="+mn-ea"/>
                <a:cs typeface="+mn-cs"/>
              </a:rPr>
              <a:t> reactions.</a:t>
            </a:r>
          </a:p>
          <a:p>
            <a:pPr marL="228600" indent="-228600">
              <a:buFont typeface="Arial" panose="020B0604020202020204" pitchFamily="34" charset="0"/>
              <a:buChar char="•"/>
            </a:pPr>
            <a:r>
              <a:rPr lang="en-US" sz="1200" kern="1200" baseline="0" dirty="0">
                <a:solidFill>
                  <a:schemeClr val="tx1"/>
                </a:solidFill>
                <a:latin typeface="+mn-lt"/>
                <a:ea typeface="+mn-ea"/>
                <a:cs typeface="+mn-cs"/>
              </a:rPr>
              <a:t>This transfer is achieved by a molecule called adenine </a:t>
            </a:r>
            <a:r>
              <a:rPr lang="en-US" sz="1200" kern="1200" baseline="0" dirty="0" err="1">
                <a:solidFill>
                  <a:schemeClr val="tx1"/>
                </a:solidFill>
                <a:latin typeface="+mn-lt"/>
                <a:ea typeface="+mn-ea"/>
                <a:cs typeface="+mn-cs"/>
              </a:rPr>
              <a:t>triphosphate</a:t>
            </a:r>
            <a:r>
              <a:rPr lang="en-US" sz="1200" kern="1200" baseline="0" dirty="0">
                <a:solidFill>
                  <a:schemeClr val="tx1"/>
                </a:solidFill>
                <a:latin typeface="+mn-lt"/>
                <a:ea typeface="+mn-ea"/>
                <a:cs typeface="+mn-cs"/>
              </a:rPr>
              <a:t> (ATP). </a:t>
            </a:r>
          </a:p>
          <a:p>
            <a:pPr marL="228600" marR="0" indent="-22860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US" sz="1200" kern="1200" baseline="0" dirty="0">
                <a:solidFill>
                  <a:schemeClr val="tx1"/>
                </a:solidFill>
                <a:latin typeface="+mn-lt"/>
                <a:ea typeface="+mn-ea"/>
                <a:cs typeface="+mn-cs"/>
              </a:rPr>
              <a:t>ATP is a nucleotide containing adenosine attached to a sugar group (ribose), which is bound to a chain of three phosphate groups.</a:t>
            </a:r>
          </a:p>
          <a:p>
            <a:pPr marL="228600" indent="-228600">
              <a:buFont typeface="Arial" panose="020B0604020202020204" pitchFamily="34" charset="0"/>
              <a:buChar char="•"/>
            </a:pPr>
            <a:r>
              <a:rPr lang="en-US" sz="1200" kern="1200" baseline="0" dirty="0">
                <a:solidFill>
                  <a:schemeClr val="tx1"/>
                </a:solidFill>
                <a:latin typeface="+mn-lt"/>
                <a:ea typeface="+mn-ea"/>
                <a:cs typeface="+mn-cs"/>
              </a:rPr>
              <a:t>ATP is readily moved around the cell.</a:t>
            </a:r>
          </a:p>
          <a:p>
            <a:pPr marL="228600" indent="-228600">
              <a:buFont typeface="Arial" panose="020B0604020202020204" pitchFamily="34" charset="0"/>
              <a:buChar char="•"/>
            </a:pPr>
            <a:r>
              <a:rPr lang="en-US" sz="1200" kern="1200" baseline="0" dirty="0">
                <a:solidFill>
                  <a:schemeClr val="tx1"/>
                </a:solidFill>
                <a:latin typeface="+mn-lt"/>
                <a:ea typeface="+mn-ea"/>
                <a:cs typeface="+mn-cs"/>
              </a:rPr>
              <a:t>ATP is an energy carrier in all living cells. It couples energy-releasing reactions with energy requiring ones.</a:t>
            </a:r>
          </a:p>
          <a:p>
            <a:pPr marL="228600" indent="-228600">
              <a:buFont typeface="Arial" panose="020B0604020202020204" pitchFamily="34" charset="0"/>
              <a:buChar char="•"/>
            </a:pPr>
            <a:r>
              <a:rPr lang="en-US" sz="1200" kern="1200" baseline="0" dirty="0">
                <a:solidFill>
                  <a:schemeClr val="tx1"/>
                </a:solidFill>
                <a:latin typeface="+mn-lt"/>
                <a:ea typeface="+mn-ea"/>
                <a:cs typeface="+mn-cs"/>
              </a:rPr>
              <a:t>Hydrolysis of ATP removes the 3</a:t>
            </a:r>
            <a:r>
              <a:rPr lang="en-US" sz="1200" kern="1200" baseline="30000" dirty="0">
                <a:solidFill>
                  <a:schemeClr val="tx1"/>
                </a:solidFill>
                <a:latin typeface="+mn-lt"/>
                <a:ea typeface="+mn-ea"/>
                <a:cs typeface="+mn-cs"/>
              </a:rPr>
              <a:t>rd</a:t>
            </a:r>
            <a:r>
              <a:rPr lang="en-US" sz="1200" kern="1200" baseline="0" dirty="0">
                <a:solidFill>
                  <a:schemeClr val="tx1"/>
                </a:solidFill>
                <a:latin typeface="+mn-lt"/>
                <a:ea typeface="+mn-ea"/>
                <a:cs typeface="+mn-cs"/>
              </a:rPr>
              <a:t> phosphate from the molecule and releases energy.</a:t>
            </a:r>
          </a:p>
          <a:p>
            <a:pPr marL="228600" indent="-228600">
              <a:buFont typeface="Arial" panose="020B0604020202020204" pitchFamily="34" charset="0"/>
              <a:buChar char="•"/>
            </a:pPr>
            <a:r>
              <a:rPr lang="en-US" sz="1200" kern="1200" baseline="0" dirty="0">
                <a:solidFill>
                  <a:schemeClr val="tx1"/>
                </a:solidFill>
                <a:latin typeface="+mn-lt"/>
                <a:ea typeface="+mn-ea"/>
                <a:cs typeface="+mn-cs"/>
              </a:rPr>
              <a:t>This leave adenine diphosphate (ADP) and a free inorganic phosphate.</a:t>
            </a:r>
          </a:p>
          <a:p>
            <a:pPr marL="228600" indent="-228600">
              <a:buFont typeface="Arial" panose="020B0604020202020204" pitchFamily="34" charset="0"/>
              <a:buChar char="•"/>
            </a:pPr>
            <a:r>
              <a:rPr lang="en-US" sz="1200" b="0" kern="1200" baseline="0" dirty="0">
                <a:solidFill>
                  <a:schemeClr val="tx1"/>
                </a:solidFill>
                <a:latin typeface="+mn-lt"/>
                <a:ea typeface="+mn-ea"/>
                <a:cs typeface="+mn-cs"/>
              </a:rPr>
              <a:t>This reaction is sped up by the enzyme </a:t>
            </a:r>
            <a:r>
              <a:rPr lang="en-US" sz="1200" b="0" kern="1200" baseline="0" dirty="0" err="1">
                <a:solidFill>
                  <a:schemeClr val="tx1"/>
                </a:solidFill>
                <a:latin typeface="+mn-lt"/>
                <a:ea typeface="+mn-ea"/>
                <a:cs typeface="+mn-cs"/>
              </a:rPr>
              <a:t>ATPase</a:t>
            </a:r>
            <a:r>
              <a:rPr lang="en-US" sz="1200" b="0" kern="1200" baseline="0" dirty="0">
                <a:solidFill>
                  <a:schemeClr val="tx1"/>
                </a:solidFill>
                <a:latin typeface="+mn-lt"/>
                <a:ea typeface="+mn-ea"/>
                <a:cs typeface="+mn-cs"/>
              </a:rPr>
              <a:t>.</a:t>
            </a:r>
          </a:p>
        </p:txBody>
      </p:sp>
      <p:sp>
        <p:nvSpPr>
          <p:cNvPr id="4" name="Slide Number Placeholder 3"/>
          <p:cNvSpPr>
            <a:spLocks noGrp="1"/>
          </p:cNvSpPr>
          <p:nvPr>
            <p:ph type="sldNum" sz="quarter" idx="5"/>
          </p:nvPr>
        </p:nvSpPr>
        <p:spPr/>
        <p:txBody>
          <a:bodyPr/>
          <a:lstStyle/>
          <a:p>
            <a:pPr>
              <a:defRPr/>
            </a:pPr>
            <a:fld id="{8265CCF7-C6F2-435C-AB36-78C649E2A501}" type="slidenum">
              <a:rPr lang="en-US" smtClean="0"/>
              <a:pPr>
                <a:defRPr/>
              </a:pPr>
              <a:t>19</a:t>
            </a:fld>
            <a:endParaRPr lang="en-US"/>
          </a:p>
        </p:txBody>
      </p:sp>
    </p:spTree>
    <p:extLst>
      <p:ext uri="{BB962C8B-B14F-4D97-AF65-F5344CB8AC3E}">
        <p14:creationId xmlns:p14="http://schemas.microsoft.com/office/powerpoint/2010/main" val="352093671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Image Placeholder 1"/>
          <p:cNvSpPr>
            <a:spLocks noGrp="1" noRot="1" noChangeAspect="1" noTextEdit="1"/>
          </p:cNvSpPr>
          <p:nvPr>
            <p:ph type="sldImg"/>
          </p:nvPr>
        </p:nvSpPr>
        <p:spPr bwMode="auto">
          <a:noFill/>
          <a:ln>
            <a:solidFill>
              <a:srgbClr val="000000"/>
            </a:solidFill>
            <a:miter lim="800000"/>
            <a:headEnd/>
            <a:tailEnd/>
          </a:ln>
        </p:spPr>
      </p:sp>
      <p:sp>
        <p:nvSpPr>
          <p:cNvPr id="14339" name="Notes Placeholder 2"/>
          <p:cNvSpPr>
            <a:spLocks noGrp="1"/>
          </p:cNvSpPr>
          <p:nvPr>
            <p:ph type="body" idx="1"/>
          </p:nvPr>
        </p:nvSpPr>
        <p:spPr bwMode="auto">
          <a:noFill/>
        </p:spPr>
        <p:txBody>
          <a:bodyPr wrap="square" numCol="1" anchor="t" anchorCtr="0" compatLnSpc="1">
            <a:prstTxWarp prst="textNoShape">
              <a:avLst/>
            </a:prstTxWarp>
          </a:bodyPr>
          <a:lstStyle/>
          <a:p>
            <a:pPr marL="0" indent="0">
              <a:buFont typeface="+mj-lt"/>
              <a:buNone/>
            </a:pPr>
            <a:endParaRPr lang="en-US" sz="1200" b="0" kern="1200" baseline="0" dirty="0">
              <a:solidFill>
                <a:schemeClr val="tx1"/>
              </a:solidFill>
              <a:latin typeface="+mn-lt"/>
              <a:ea typeface="+mn-ea"/>
              <a:cs typeface="+mn-cs"/>
            </a:endParaRPr>
          </a:p>
        </p:txBody>
      </p:sp>
      <p:sp>
        <p:nvSpPr>
          <p:cNvPr id="4" name="Slide Number Placeholder 3"/>
          <p:cNvSpPr>
            <a:spLocks noGrp="1"/>
          </p:cNvSpPr>
          <p:nvPr>
            <p:ph type="sldNum" sz="quarter" idx="5"/>
          </p:nvPr>
        </p:nvSpPr>
        <p:spPr/>
        <p:txBody>
          <a:bodyPr/>
          <a:lstStyle/>
          <a:p>
            <a:pPr>
              <a:defRPr/>
            </a:pPr>
            <a:fld id="{8265CCF7-C6F2-435C-AB36-78C649E2A501}" type="slidenum">
              <a:rPr lang="en-US" smtClean="0"/>
              <a:pPr>
                <a:defRPr/>
              </a:pPr>
              <a:t>21</a:t>
            </a:fld>
            <a:endParaRPr lang="en-US"/>
          </a:p>
        </p:txBody>
      </p:sp>
    </p:spTree>
    <p:extLst>
      <p:ext uri="{BB962C8B-B14F-4D97-AF65-F5344CB8AC3E}">
        <p14:creationId xmlns:p14="http://schemas.microsoft.com/office/powerpoint/2010/main" val="15221373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Image Placeholder 1"/>
          <p:cNvSpPr>
            <a:spLocks noGrp="1" noRot="1" noChangeAspect="1" noTextEdit="1"/>
          </p:cNvSpPr>
          <p:nvPr>
            <p:ph type="sldImg"/>
          </p:nvPr>
        </p:nvSpPr>
        <p:spPr bwMode="auto">
          <a:noFill/>
          <a:ln>
            <a:solidFill>
              <a:srgbClr val="000000"/>
            </a:solidFill>
            <a:miter lim="800000"/>
            <a:headEnd/>
            <a:tailEnd/>
          </a:ln>
        </p:spPr>
      </p:sp>
      <p:sp>
        <p:nvSpPr>
          <p:cNvPr id="14339" name="Notes Placeholder 2"/>
          <p:cNvSpPr>
            <a:spLocks noGrp="1"/>
          </p:cNvSpPr>
          <p:nvPr>
            <p:ph type="body" idx="1"/>
          </p:nvPr>
        </p:nvSpPr>
        <p:spPr bwMode="auto">
          <a:noFill/>
        </p:spPr>
        <p:txBody>
          <a:bodyPr wrap="square" numCol="1" anchor="t" anchorCtr="0" compatLnSpc="1">
            <a:prstTxWarp prst="textNoShape">
              <a:avLst/>
            </a:prstTxWarp>
            <a:normAutofit fontScale="85000" lnSpcReduction="10000"/>
          </a:bodyPr>
          <a:lstStyle/>
          <a:p>
            <a:pPr marL="0" indent="0">
              <a:buFont typeface="+mj-lt"/>
              <a:buNone/>
            </a:pPr>
            <a:r>
              <a:rPr lang="en-US" sz="1200" b="1" kern="1200" baseline="0" dirty="0">
                <a:solidFill>
                  <a:schemeClr val="tx1"/>
                </a:solidFill>
                <a:latin typeface="+mn-lt"/>
                <a:ea typeface="+mn-ea"/>
                <a:cs typeface="+mn-cs"/>
              </a:rPr>
              <a:t>Chloroplasts</a:t>
            </a:r>
          </a:p>
          <a:p>
            <a:pPr marL="228600" marR="0" indent="-22860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US" sz="1200" kern="1200" baseline="0" dirty="0">
                <a:solidFill>
                  <a:schemeClr val="tx1"/>
                </a:solidFill>
                <a:latin typeface="+mn-lt"/>
                <a:ea typeface="+mn-ea"/>
                <a:cs typeface="+mn-cs"/>
              </a:rPr>
              <a:t>Chloroplasts are the site of photosynthesis.</a:t>
            </a:r>
          </a:p>
          <a:p>
            <a:pPr marL="228600" marR="0" indent="-22860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US" sz="1200" kern="1200" baseline="0" dirty="0">
                <a:solidFill>
                  <a:schemeClr val="tx1"/>
                </a:solidFill>
                <a:latin typeface="+mn-lt"/>
                <a:ea typeface="+mn-ea"/>
                <a:cs typeface="+mn-cs"/>
              </a:rPr>
              <a:t>The </a:t>
            </a:r>
            <a:r>
              <a:rPr lang="en-US" sz="1200" b="0" kern="1200" baseline="0" dirty="0" err="1">
                <a:solidFill>
                  <a:schemeClr val="tx1"/>
                </a:solidFill>
                <a:latin typeface="+mn-lt"/>
                <a:ea typeface="+mn-ea"/>
                <a:cs typeface="+mn-cs"/>
              </a:rPr>
              <a:t>stroma</a:t>
            </a:r>
            <a:r>
              <a:rPr lang="en-US" sz="1200" b="0" kern="1200" baseline="0" dirty="0">
                <a:solidFill>
                  <a:schemeClr val="tx1"/>
                </a:solidFill>
                <a:latin typeface="+mn-lt"/>
                <a:ea typeface="+mn-ea"/>
                <a:cs typeface="+mn-cs"/>
              </a:rPr>
              <a:t> is a gel like matrix rich in enzymes, enclosed by the </a:t>
            </a:r>
            <a:r>
              <a:rPr lang="en-US" sz="1200" kern="1200" baseline="0" dirty="0">
                <a:solidFill>
                  <a:schemeClr val="tx1"/>
                </a:solidFill>
                <a:latin typeface="+mn-lt"/>
                <a:ea typeface="+mn-ea"/>
                <a:cs typeface="+mn-cs"/>
              </a:rPr>
              <a:t>inner membrane. </a:t>
            </a:r>
          </a:p>
          <a:p>
            <a:pPr marL="228600" indent="-228600">
              <a:buFont typeface="Arial" panose="020B0604020202020204" pitchFamily="34" charset="0"/>
              <a:buChar char="•"/>
            </a:pPr>
            <a:r>
              <a:rPr lang="en-US" sz="1200" b="0" kern="1200" baseline="0" dirty="0">
                <a:solidFill>
                  <a:schemeClr val="tx1"/>
                </a:solidFill>
                <a:latin typeface="+mn-lt"/>
                <a:ea typeface="+mn-ea"/>
                <a:cs typeface="+mn-cs"/>
              </a:rPr>
              <a:t>Suspended in the </a:t>
            </a:r>
            <a:r>
              <a:rPr lang="en-US" sz="1200" b="0" kern="1200" baseline="0" dirty="0" err="1">
                <a:solidFill>
                  <a:schemeClr val="tx1"/>
                </a:solidFill>
                <a:latin typeface="+mn-lt"/>
                <a:ea typeface="+mn-ea"/>
                <a:cs typeface="+mn-cs"/>
              </a:rPr>
              <a:t>stroma</a:t>
            </a:r>
            <a:r>
              <a:rPr lang="en-US" sz="1200" b="0" kern="1200" baseline="0" dirty="0">
                <a:solidFill>
                  <a:schemeClr val="tx1"/>
                </a:solidFill>
                <a:latin typeface="+mn-lt"/>
                <a:ea typeface="+mn-ea"/>
                <a:cs typeface="+mn-cs"/>
              </a:rPr>
              <a:t> is the thylakoid membranes. </a:t>
            </a:r>
          </a:p>
          <a:p>
            <a:pPr marL="228600" indent="-228600">
              <a:buFont typeface="Arial" panose="020B0604020202020204" pitchFamily="34" charset="0"/>
              <a:buChar char="•"/>
            </a:pPr>
            <a:r>
              <a:rPr lang="en-US" sz="1200" b="0" kern="1200" baseline="0" dirty="0">
                <a:solidFill>
                  <a:schemeClr val="tx1"/>
                </a:solidFill>
                <a:latin typeface="+mn-lt"/>
                <a:ea typeface="+mn-ea"/>
                <a:cs typeface="+mn-cs"/>
              </a:rPr>
              <a:t>These are flat, sac-like structures that are called </a:t>
            </a:r>
            <a:r>
              <a:rPr lang="en-US" sz="1200" b="0" kern="1200" baseline="0" dirty="0" err="1">
                <a:solidFill>
                  <a:schemeClr val="tx1"/>
                </a:solidFill>
                <a:latin typeface="+mn-lt"/>
                <a:ea typeface="+mn-ea"/>
                <a:cs typeface="+mn-cs"/>
              </a:rPr>
              <a:t>grana</a:t>
            </a:r>
            <a:r>
              <a:rPr lang="en-US" sz="1200" b="0" kern="1200" baseline="0" dirty="0">
                <a:solidFill>
                  <a:schemeClr val="tx1"/>
                </a:solidFill>
                <a:latin typeface="+mn-lt"/>
                <a:ea typeface="+mn-ea"/>
                <a:cs typeface="+mn-cs"/>
              </a:rPr>
              <a:t> when grouped together into stacks.</a:t>
            </a:r>
          </a:p>
          <a:p>
            <a:endParaRPr lang="en-US" sz="1200" b="0" kern="1200" baseline="0" dirty="0">
              <a:solidFill>
                <a:schemeClr val="tx1"/>
              </a:solidFill>
              <a:latin typeface="+mn-lt"/>
              <a:ea typeface="+mn-ea"/>
              <a:cs typeface="+mn-cs"/>
            </a:endParaRPr>
          </a:p>
          <a:p>
            <a:r>
              <a:rPr lang="en-US" sz="1200" b="1" kern="1200" baseline="0" dirty="0">
                <a:solidFill>
                  <a:schemeClr val="tx1"/>
                </a:solidFill>
                <a:latin typeface="+mn-lt"/>
                <a:ea typeface="+mn-ea"/>
                <a:cs typeface="+mn-cs"/>
              </a:rPr>
              <a:t>Light dependent stage</a:t>
            </a:r>
            <a:endParaRPr lang="en-US" sz="1200" b="0" kern="1200" baseline="0" dirty="0">
              <a:solidFill>
                <a:schemeClr val="tx1"/>
              </a:solidFill>
              <a:latin typeface="+mn-lt"/>
              <a:ea typeface="+mn-ea"/>
              <a:cs typeface="+mn-cs"/>
            </a:endParaRPr>
          </a:p>
          <a:p>
            <a:pPr marL="228600" indent="-228600">
              <a:buFont typeface="Arial" panose="020B0604020202020204" pitchFamily="34" charset="0"/>
              <a:buChar char="•"/>
            </a:pPr>
            <a:r>
              <a:rPr lang="en-US" sz="1200" kern="1200" baseline="0" dirty="0">
                <a:solidFill>
                  <a:schemeClr val="tx1"/>
                </a:solidFill>
                <a:latin typeface="+mn-lt"/>
                <a:ea typeface="+mn-ea"/>
                <a:cs typeface="+mn-cs"/>
              </a:rPr>
              <a:t>Light energy is absorbed by different pigments within the </a:t>
            </a:r>
            <a:r>
              <a:rPr lang="en-US" sz="1200" kern="1200" baseline="0" dirty="0" err="1">
                <a:solidFill>
                  <a:schemeClr val="tx1"/>
                </a:solidFill>
                <a:latin typeface="+mn-lt"/>
                <a:ea typeface="+mn-ea"/>
                <a:cs typeface="+mn-cs"/>
              </a:rPr>
              <a:t>thylakoid</a:t>
            </a:r>
            <a:r>
              <a:rPr lang="en-US" sz="1200" kern="1200" baseline="0" dirty="0">
                <a:solidFill>
                  <a:schemeClr val="tx1"/>
                </a:solidFill>
                <a:latin typeface="+mn-lt"/>
                <a:ea typeface="+mn-ea"/>
                <a:cs typeface="+mn-cs"/>
              </a:rPr>
              <a:t> membranes. </a:t>
            </a:r>
          </a:p>
          <a:p>
            <a:pPr marL="228600" indent="-228600">
              <a:buFont typeface="Arial" panose="020B0604020202020204" pitchFamily="34" charset="0"/>
              <a:buChar char="•"/>
            </a:pPr>
            <a:r>
              <a:rPr lang="en-US" sz="1200" kern="1200" baseline="0" dirty="0">
                <a:solidFill>
                  <a:schemeClr val="tx1"/>
                </a:solidFill>
                <a:latin typeface="+mn-lt"/>
                <a:ea typeface="+mn-ea"/>
                <a:cs typeface="+mn-cs"/>
              </a:rPr>
              <a:t>These pigments include chlorophylls (green), </a:t>
            </a:r>
            <a:r>
              <a:rPr lang="en-US" sz="1200" kern="1200" baseline="0" dirty="0" err="1">
                <a:solidFill>
                  <a:schemeClr val="tx1"/>
                </a:solidFill>
                <a:latin typeface="+mn-lt"/>
                <a:ea typeface="+mn-ea"/>
                <a:cs typeface="+mn-cs"/>
              </a:rPr>
              <a:t>carotenoids</a:t>
            </a:r>
            <a:r>
              <a:rPr lang="en-US" sz="1200" kern="1200" baseline="0" dirty="0">
                <a:solidFill>
                  <a:schemeClr val="tx1"/>
                </a:solidFill>
                <a:latin typeface="+mn-lt"/>
                <a:ea typeface="+mn-ea"/>
                <a:cs typeface="+mn-cs"/>
              </a:rPr>
              <a:t> (orange) and xanthophylls (yellow). </a:t>
            </a:r>
          </a:p>
          <a:p>
            <a:pPr marL="228600" indent="-228600">
              <a:buFont typeface="Arial" panose="020B0604020202020204" pitchFamily="34" charset="0"/>
              <a:buChar char="•"/>
            </a:pPr>
            <a:r>
              <a:rPr lang="en-US" sz="1200" kern="1200" baseline="0" dirty="0">
                <a:solidFill>
                  <a:schemeClr val="tx1"/>
                </a:solidFill>
                <a:latin typeface="+mn-lt"/>
                <a:ea typeface="+mn-ea"/>
                <a:cs typeface="+mn-cs"/>
              </a:rPr>
              <a:t>Chlorophylls absorb the wavelengths of blue and red light, and they reflect the green wavelengths.</a:t>
            </a:r>
          </a:p>
          <a:p>
            <a:pPr marL="228600" indent="-228600">
              <a:buFont typeface="Arial" panose="020B0604020202020204" pitchFamily="34" charset="0"/>
              <a:buChar char="•"/>
            </a:pPr>
            <a:r>
              <a:rPr lang="en-US" sz="1200" kern="1200" baseline="0" dirty="0">
                <a:solidFill>
                  <a:schemeClr val="tx1"/>
                </a:solidFill>
                <a:latin typeface="+mn-lt"/>
                <a:ea typeface="+mn-ea"/>
                <a:cs typeface="+mn-cs"/>
              </a:rPr>
              <a:t>When a chlorophyll molecule in the </a:t>
            </a:r>
            <a:r>
              <a:rPr lang="en-US" sz="1200" kern="1200" baseline="0" dirty="0" err="1">
                <a:solidFill>
                  <a:schemeClr val="tx1"/>
                </a:solidFill>
                <a:latin typeface="+mn-lt"/>
                <a:ea typeface="+mn-ea"/>
                <a:cs typeface="+mn-cs"/>
              </a:rPr>
              <a:t>thylakoid</a:t>
            </a:r>
            <a:r>
              <a:rPr lang="en-US" sz="1200" kern="1200" baseline="0" dirty="0">
                <a:solidFill>
                  <a:schemeClr val="tx1"/>
                </a:solidFill>
                <a:latin typeface="+mn-lt"/>
                <a:ea typeface="+mn-ea"/>
                <a:cs typeface="+mn-cs"/>
              </a:rPr>
              <a:t> membrane absorbs light energy, electrons within the molecule become </a:t>
            </a:r>
            <a:r>
              <a:rPr lang="en-US" sz="1200" kern="1200" baseline="0" dirty="0" err="1">
                <a:solidFill>
                  <a:schemeClr val="tx1"/>
                </a:solidFill>
                <a:latin typeface="+mn-lt"/>
                <a:ea typeface="+mn-ea"/>
                <a:cs typeface="+mn-cs"/>
              </a:rPr>
              <a:t>energised</a:t>
            </a:r>
            <a:r>
              <a:rPr lang="en-US" sz="1200" kern="1200" baseline="0" dirty="0">
                <a:solidFill>
                  <a:schemeClr val="tx1"/>
                </a:solidFill>
                <a:latin typeface="+mn-lt"/>
                <a:ea typeface="+mn-ea"/>
                <a:cs typeface="+mn-cs"/>
              </a:rPr>
              <a:t>. </a:t>
            </a:r>
          </a:p>
          <a:p>
            <a:pPr marL="228600" indent="-228600">
              <a:buFont typeface="Arial" panose="020B0604020202020204" pitchFamily="34" charset="0"/>
              <a:buChar char="•"/>
            </a:pPr>
            <a:r>
              <a:rPr lang="en-US" sz="1200" kern="1200" baseline="0" dirty="0">
                <a:solidFill>
                  <a:schemeClr val="tx1"/>
                </a:solidFill>
                <a:latin typeface="+mn-lt"/>
                <a:ea typeface="+mn-ea"/>
                <a:cs typeface="+mn-cs"/>
              </a:rPr>
              <a:t>The energy is used to split water molecules (H</a:t>
            </a:r>
            <a:r>
              <a:rPr lang="en-US" sz="1200" kern="1200" baseline="-25000" dirty="0">
                <a:solidFill>
                  <a:schemeClr val="tx1"/>
                </a:solidFill>
                <a:latin typeface="+mn-lt"/>
                <a:ea typeface="+mn-ea"/>
                <a:cs typeface="+mn-cs"/>
              </a:rPr>
              <a:t>2</a:t>
            </a:r>
            <a:r>
              <a:rPr lang="en-US" sz="1200" kern="1200" baseline="0" dirty="0">
                <a:solidFill>
                  <a:schemeClr val="tx1"/>
                </a:solidFill>
                <a:latin typeface="+mn-lt"/>
                <a:ea typeface="+mn-ea"/>
                <a:cs typeface="+mn-cs"/>
              </a:rPr>
              <a:t>O) into hydrogen ions (H</a:t>
            </a:r>
            <a:r>
              <a:rPr lang="en-US" sz="1200" kern="1200" baseline="30000" dirty="0">
                <a:solidFill>
                  <a:schemeClr val="tx1"/>
                </a:solidFill>
                <a:latin typeface="+mn-lt"/>
                <a:ea typeface="+mn-ea"/>
                <a:cs typeface="+mn-cs"/>
              </a:rPr>
              <a:t>+</a:t>
            </a:r>
            <a:r>
              <a:rPr lang="en-US" sz="1200" kern="1200" baseline="0" dirty="0">
                <a:solidFill>
                  <a:schemeClr val="tx1"/>
                </a:solidFill>
                <a:latin typeface="+mn-lt"/>
                <a:ea typeface="+mn-ea"/>
                <a:cs typeface="+mn-cs"/>
              </a:rPr>
              <a:t>) and oxygen gas (O</a:t>
            </a:r>
            <a:r>
              <a:rPr lang="en-US" sz="1200" kern="1200" baseline="-25000" dirty="0">
                <a:solidFill>
                  <a:schemeClr val="tx1"/>
                </a:solidFill>
                <a:latin typeface="+mn-lt"/>
                <a:ea typeface="+mn-ea"/>
                <a:cs typeface="+mn-cs"/>
              </a:rPr>
              <a:t>2</a:t>
            </a:r>
            <a:r>
              <a:rPr lang="en-US" sz="1200" kern="1200" baseline="0" dirty="0">
                <a:solidFill>
                  <a:schemeClr val="tx1"/>
                </a:solidFill>
                <a:latin typeface="+mn-lt"/>
                <a:ea typeface="+mn-ea"/>
                <a:cs typeface="+mn-cs"/>
              </a:rPr>
              <a:t>). </a:t>
            </a:r>
          </a:p>
          <a:p>
            <a:pPr marL="228600" indent="-228600">
              <a:buFont typeface="Arial" panose="020B0604020202020204" pitchFamily="34" charset="0"/>
              <a:buChar char="•"/>
            </a:pPr>
            <a:r>
              <a:rPr lang="en-US" sz="1200" kern="1200" baseline="0" dirty="0">
                <a:solidFill>
                  <a:schemeClr val="tx1"/>
                </a:solidFill>
                <a:latin typeface="+mn-lt"/>
                <a:ea typeface="+mn-ea"/>
                <a:cs typeface="+mn-cs"/>
              </a:rPr>
              <a:t>ATP molecules are formed in this stage.</a:t>
            </a:r>
          </a:p>
          <a:p>
            <a:pPr marL="228600" indent="-228600">
              <a:buFont typeface="Arial" panose="020B0604020202020204" pitchFamily="34" charset="0"/>
              <a:buChar char="•"/>
            </a:pPr>
            <a:endParaRPr lang="en-US" sz="1200" kern="1200" baseline="0" dirty="0">
              <a:solidFill>
                <a:schemeClr val="tx1"/>
              </a:solidFill>
              <a:latin typeface="+mn-lt"/>
              <a:ea typeface="+mn-ea"/>
              <a:cs typeface="+mn-cs"/>
            </a:endParaRPr>
          </a:p>
          <a:p>
            <a:pPr marL="171450" marR="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US" sz="1200" b="1" kern="1200" baseline="0" dirty="0">
                <a:solidFill>
                  <a:schemeClr val="tx1"/>
                </a:solidFill>
                <a:latin typeface="+mn-lt"/>
                <a:ea typeface="+mn-ea"/>
                <a:cs typeface="+mn-cs"/>
              </a:rPr>
              <a:t>Light independent stage</a:t>
            </a:r>
          </a:p>
          <a:p>
            <a:pPr marL="228600" indent="-228600">
              <a:buFont typeface="Arial" panose="020B0604020202020204" pitchFamily="34" charset="0"/>
              <a:buChar char="•"/>
            </a:pPr>
            <a:r>
              <a:rPr lang="en-US" sz="1200" kern="1200" baseline="0" dirty="0">
                <a:solidFill>
                  <a:schemeClr val="tx1"/>
                </a:solidFill>
                <a:latin typeface="+mn-lt"/>
                <a:ea typeface="+mn-ea"/>
                <a:cs typeface="+mn-cs"/>
              </a:rPr>
              <a:t>Occur in the </a:t>
            </a:r>
            <a:r>
              <a:rPr lang="en-US" sz="1200" kern="1200" baseline="0" dirty="0" err="1">
                <a:solidFill>
                  <a:schemeClr val="tx1"/>
                </a:solidFill>
                <a:latin typeface="+mn-lt"/>
                <a:ea typeface="+mn-ea"/>
                <a:cs typeface="+mn-cs"/>
              </a:rPr>
              <a:t>stroma</a:t>
            </a:r>
            <a:r>
              <a:rPr lang="en-US" sz="1200" kern="1200" baseline="0" dirty="0">
                <a:solidFill>
                  <a:schemeClr val="tx1"/>
                </a:solidFill>
                <a:latin typeface="+mn-lt"/>
                <a:ea typeface="+mn-ea"/>
                <a:cs typeface="+mn-cs"/>
              </a:rPr>
              <a:t> of the chloroplast. </a:t>
            </a:r>
          </a:p>
          <a:p>
            <a:pPr marL="228600" indent="-228600">
              <a:buFont typeface="Arial" panose="020B0604020202020204" pitchFamily="34" charset="0"/>
              <a:buChar char="•"/>
            </a:pPr>
            <a:r>
              <a:rPr lang="en-US" sz="1200" kern="1200" baseline="0" dirty="0">
                <a:solidFill>
                  <a:schemeClr val="tx1"/>
                </a:solidFill>
                <a:latin typeface="+mn-lt"/>
                <a:ea typeface="+mn-ea"/>
                <a:cs typeface="+mn-cs"/>
              </a:rPr>
              <a:t>In this reaction glucose molecules are produced from carbon dioxide. </a:t>
            </a:r>
          </a:p>
          <a:p>
            <a:pPr marL="228600" indent="-228600">
              <a:buFont typeface="Arial" panose="020B0604020202020204" pitchFamily="34" charset="0"/>
              <a:buChar char="•"/>
            </a:pPr>
            <a:r>
              <a:rPr lang="en-US" sz="1200" kern="1200" baseline="0" dirty="0">
                <a:solidFill>
                  <a:schemeClr val="tx1"/>
                </a:solidFill>
                <a:latin typeface="+mn-lt"/>
                <a:ea typeface="+mn-ea"/>
                <a:cs typeface="+mn-cs"/>
              </a:rPr>
              <a:t>This reaction requires a supply of carbon dioxide gas, hydrogen ions and chemical energy in the form of ATP. </a:t>
            </a:r>
          </a:p>
          <a:p>
            <a:pPr marL="228600" indent="-228600">
              <a:buFont typeface="Arial" panose="020B0604020202020204" pitchFamily="34" charset="0"/>
              <a:buChar char="•"/>
            </a:pPr>
            <a:r>
              <a:rPr lang="en-US" sz="1200" kern="1200" baseline="0" dirty="0">
                <a:solidFill>
                  <a:schemeClr val="tx1"/>
                </a:solidFill>
                <a:latin typeface="+mn-lt"/>
                <a:ea typeface="+mn-ea"/>
                <a:cs typeface="+mn-cs"/>
              </a:rPr>
              <a:t>ATP provide the chemical energy for the conversion of carbon dioxide to glucose molecules.</a:t>
            </a:r>
          </a:p>
          <a:p>
            <a:pPr marL="228600" indent="-228600">
              <a:buFont typeface="Arial" panose="020B0604020202020204" pitchFamily="34" charset="0"/>
              <a:buChar char="•"/>
            </a:pPr>
            <a:r>
              <a:rPr lang="en-US" sz="1200" kern="1200" baseline="0" dirty="0">
                <a:solidFill>
                  <a:schemeClr val="tx1"/>
                </a:solidFill>
                <a:latin typeface="+mn-lt"/>
                <a:ea typeface="+mn-ea"/>
                <a:cs typeface="+mn-cs"/>
              </a:rPr>
              <a:t>Many chemical reactions are involved in both the light-dependent and light-independent stages of photosynthesis.</a:t>
            </a:r>
          </a:p>
          <a:p>
            <a:pPr marL="228600" indent="-228600">
              <a:buFont typeface="Arial" panose="020B0604020202020204" pitchFamily="34" charset="0"/>
              <a:buChar char="•"/>
            </a:pPr>
            <a:r>
              <a:rPr lang="en-US" sz="1200" kern="1200" baseline="0" dirty="0">
                <a:solidFill>
                  <a:schemeClr val="tx1"/>
                </a:solidFill>
                <a:latin typeface="+mn-lt"/>
                <a:ea typeface="+mn-ea"/>
                <a:cs typeface="+mn-cs"/>
              </a:rPr>
              <a:t>Sucrose, starch and cellulose are polymers of glucose molecules produced in photosynthesis.</a:t>
            </a:r>
          </a:p>
        </p:txBody>
      </p:sp>
      <p:sp>
        <p:nvSpPr>
          <p:cNvPr id="4" name="Slide Number Placeholder 3"/>
          <p:cNvSpPr>
            <a:spLocks noGrp="1"/>
          </p:cNvSpPr>
          <p:nvPr>
            <p:ph type="sldNum" sz="quarter" idx="5"/>
          </p:nvPr>
        </p:nvSpPr>
        <p:spPr/>
        <p:txBody>
          <a:bodyPr/>
          <a:lstStyle/>
          <a:p>
            <a:pPr>
              <a:defRPr/>
            </a:pPr>
            <a:fld id="{8265CCF7-C6F2-435C-AB36-78C649E2A501}" type="slidenum">
              <a:rPr lang="en-US" smtClean="0"/>
              <a:pPr>
                <a:defRPr/>
              </a:pPr>
              <a:t>22</a:t>
            </a:fld>
            <a:endParaRPr lang="en-US"/>
          </a:p>
        </p:txBody>
      </p:sp>
    </p:spTree>
    <p:extLst>
      <p:ext uri="{BB962C8B-B14F-4D97-AF65-F5344CB8AC3E}">
        <p14:creationId xmlns:p14="http://schemas.microsoft.com/office/powerpoint/2010/main" val="404708158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imes New Roman" panose="02020603050405020304" pitchFamily="18" charset="0"/>
                <a:cs typeface="Times New Roman" panose="02020603050405020304" pitchFamily="18" charset="0"/>
              </a:defRPr>
            </a:lvl1pPr>
            <a:lvl2pPr marL="742950" indent="-285750" eaLnBrk="0" hangingPunct="0">
              <a:defRPr>
                <a:solidFill>
                  <a:schemeClr val="tx1"/>
                </a:solidFill>
                <a:latin typeface="Times New Roman" panose="02020603050405020304" pitchFamily="18" charset="0"/>
                <a:cs typeface="Times New Roman" panose="02020603050405020304" pitchFamily="18" charset="0"/>
              </a:defRPr>
            </a:lvl2pPr>
            <a:lvl3pPr marL="1143000" indent="-228600" eaLnBrk="0" hangingPunct="0">
              <a:defRPr>
                <a:solidFill>
                  <a:schemeClr val="tx1"/>
                </a:solidFill>
                <a:latin typeface="Times New Roman" panose="02020603050405020304" pitchFamily="18" charset="0"/>
                <a:cs typeface="Times New Roman" panose="02020603050405020304" pitchFamily="18" charset="0"/>
              </a:defRPr>
            </a:lvl3pPr>
            <a:lvl4pPr marL="1600200" indent="-228600" eaLnBrk="0" hangingPunct="0">
              <a:defRPr>
                <a:solidFill>
                  <a:schemeClr val="tx1"/>
                </a:solidFill>
                <a:latin typeface="Times New Roman" panose="02020603050405020304" pitchFamily="18" charset="0"/>
                <a:cs typeface="Times New Roman" panose="02020603050405020304" pitchFamily="18" charset="0"/>
              </a:defRPr>
            </a:lvl4pPr>
            <a:lvl5pPr marL="2057400" indent="-228600" eaLnBrk="0" hangingPunct="0">
              <a:defRPr>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Times New Roman" panose="02020603050405020304" pitchFamily="18" charset="0"/>
                <a:cs typeface="Times New Roman" panose="02020603050405020304" pitchFamily="18" charset="0"/>
              </a:defRPr>
            </a:lvl9pPr>
          </a:lstStyle>
          <a:p>
            <a:pPr eaLnBrk="1" hangingPunct="1"/>
            <a:fld id="{A4DB6B2A-1DA1-4461-A6C2-C16E4D4B0C57}" type="slidenum">
              <a:rPr lang="en-US" altLang="en-US"/>
              <a:pPr eaLnBrk="1" hangingPunct="1"/>
              <a:t>23</a:t>
            </a:fld>
            <a:endParaRPr lang="en-US" altLang="en-US"/>
          </a:p>
        </p:txBody>
      </p:sp>
      <p:sp>
        <p:nvSpPr>
          <p:cNvPr id="52227" name="Rectangle 2"/>
          <p:cNvSpPr>
            <a:spLocks noGrp="1" noRot="1" noChangeAspect="1" noChangeArrowheads="1" noTextEdit="1"/>
          </p:cNvSpPr>
          <p:nvPr>
            <p:ph type="sldImg"/>
          </p:nvPr>
        </p:nvSpPr>
        <p:spPr>
          <a:ln/>
        </p:spPr>
      </p:sp>
      <p:sp>
        <p:nvSpPr>
          <p:cNvPr id="522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7101153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imes New Roman" panose="02020603050405020304" pitchFamily="18" charset="0"/>
                <a:cs typeface="Times New Roman" panose="02020603050405020304" pitchFamily="18" charset="0"/>
              </a:defRPr>
            </a:lvl1pPr>
            <a:lvl2pPr marL="742950" indent="-285750" eaLnBrk="0" hangingPunct="0">
              <a:defRPr>
                <a:solidFill>
                  <a:schemeClr val="tx1"/>
                </a:solidFill>
                <a:latin typeface="Times New Roman" panose="02020603050405020304" pitchFamily="18" charset="0"/>
                <a:cs typeface="Times New Roman" panose="02020603050405020304" pitchFamily="18" charset="0"/>
              </a:defRPr>
            </a:lvl2pPr>
            <a:lvl3pPr marL="1143000" indent="-228600" eaLnBrk="0" hangingPunct="0">
              <a:defRPr>
                <a:solidFill>
                  <a:schemeClr val="tx1"/>
                </a:solidFill>
                <a:latin typeface="Times New Roman" panose="02020603050405020304" pitchFamily="18" charset="0"/>
                <a:cs typeface="Times New Roman" panose="02020603050405020304" pitchFamily="18" charset="0"/>
              </a:defRPr>
            </a:lvl3pPr>
            <a:lvl4pPr marL="1600200" indent="-228600" eaLnBrk="0" hangingPunct="0">
              <a:defRPr>
                <a:solidFill>
                  <a:schemeClr val="tx1"/>
                </a:solidFill>
                <a:latin typeface="Times New Roman" panose="02020603050405020304" pitchFamily="18" charset="0"/>
                <a:cs typeface="Times New Roman" panose="02020603050405020304" pitchFamily="18" charset="0"/>
              </a:defRPr>
            </a:lvl4pPr>
            <a:lvl5pPr marL="2057400" indent="-228600" eaLnBrk="0" hangingPunct="0">
              <a:defRPr>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Times New Roman" panose="02020603050405020304" pitchFamily="18" charset="0"/>
                <a:cs typeface="Times New Roman" panose="02020603050405020304" pitchFamily="18" charset="0"/>
              </a:defRPr>
            </a:lvl9pPr>
          </a:lstStyle>
          <a:p>
            <a:pPr eaLnBrk="1" hangingPunct="1"/>
            <a:fld id="{F6411950-6396-4C4A-A13A-9400B84ACF7B}" type="slidenum">
              <a:rPr lang="en-US" altLang="en-US"/>
              <a:pPr eaLnBrk="1" hangingPunct="1"/>
              <a:t>25</a:t>
            </a:fld>
            <a:endParaRPr lang="en-US" altLang="en-US"/>
          </a:p>
        </p:txBody>
      </p:sp>
      <p:sp>
        <p:nvSpPr>
          <p:cNvPr id="56323" name="Rectangle 2"/>
          <p:cNvSpPr>
            <a:spLocks noGrp="1" noRot="1" noChangeAspect="1" noChangeArrowheads="1" noTextEdit="1"/>
          </p:cNvSpPr>
          <p:nvPr>
            <p:ph type="sldImg"/>
          </p:nvPr>
        </p:nvSpPr>
        <p:spPr>
          <a:ln/>
        </p:spPr>
      </p:sp>
      <p:sp>
        <p:nvSpPr>
          <p:cNvPr id="563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41176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imes New Roman" panose="02020603050405020304" pitchFamily="18" charset="0"/>
                <a:cs typeface="Times New Roman" panose="02020603050405020304" pitchFamily="18" charset="0"/>
              </a:defRPr>
            </a:lvl1pPr>
            <a:lvl2pPr marL="742950" indent="-285750" eaLnBrk="0" hangingPunct="0">
              <a:defRPr>
                <a:solidFill>
                  <a:schemeClr val="tx1"/>
                </a:solidFill>
                <a:latin typeface="Times New Roman" panose="02020603050405020304" pitchFamily="18" charset="0"/>
                <a:cs typeface="Times New Roman" panose="02020603050405020304" pitchFamily="18" charset="0"/>
              </a:defRPr>
            </a:lvl2pPr>
            <a:lvl3pPr marL="1143000" indent="-228600" eaLnBrk="0" hangingPunct="0">
              <a:defRPr>
                <a:solidFill>
                  <a:schemeClr val="tx1"/>
                </a:solidFill>
                <a:latin typeface="Times New Roman" panose="02020603050405020304" pitchFamily="18" charset="0"/>
                <a:cs typeface="Times New Roman" panose="02020603050405020304" pitchFamily="18" charset="0"/>
              </a:defRPr>
            </a:lvl3pPr>
            <a:lvl4pPr marL="1600200" indent="-228600" eaLnBrk="0" hangingPunct="0">
              <a:defRPr>
                <a:solidFill>
                  <a:schemeClr val="tx1"/>
                </a:solidFill>
                <a:latin typeface="Times New Roman" panose="02020603050405020304" pitchFamily="18" charset="0"/>
                <a:cs typeface="Times New Roman" panose="02020603050405020304" pitchFamily="18" charset="0"/>
              </a:defRPr>
            </a:lvl4pPr>
            <a:lvl5pPr marL="2057400" indent="-228600" eaLnBrk="0" hangingPunct="0">
              <a:defRPr>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Times New Roman" panose="02020603050405020304" pitchFamily="18" charset="0"/>
                <a:cs typeface="Times New Roman" panose="02020603050405020304" pitchFamily="18" charset="0"/>
              </a:defRPr>
            </a:lvl9pPr>
          </a:lstStyle>
          <a:p>
            <a:pPr eaLnBrk="1" hangingPunct="1"/>
            <a:fld id="{F1DB6746-3578-42E7-932F-82240A34EB0B}" type="slidenum">
              <a:rPr lang="en-US" altLang="en-US"/>
              <a:pPr eaLnBrk="1" hangingPunct="1"/>
              <a:t>26</a:t>
            </a:fld>
            <a:endParaRPr lang="en-US" altLang="en-US"/>
          </a:p>
        </p:txBody>
      </p:sp>
      <p:sp>
        <p:nvSpPr>
          <p:cNvPr id="57347" name="Rectangle 2"/>
          <p:cNvSpPr>
            <a:spLocks noGrp="1" noRot="1" noChangeAspect="1" noChangeArrowheads="1" noTextEdit="1"/>
          </p:cNvSpPr>
          <p:nvPr>
            <p:ph type="sldImg"/>
          </p:nvPr>
        </p:nvSpPr>
        <p:spPr>
          <a:ln/>
        </p:spPr>
      </p:sp>
      <p:sp>
        <p:nvSpPr>
          <p:cNvPr id="573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7079355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Rot="1" noChangeAspect="1" noChangeArrowheads="1" noTextEdit="1"/>
          </p:cNvSpPr>
          <p:nvPr>
            <p:ph type="sldImg"/>
          </p:nvPr>
        </p:nvSpPr>
        <p:spPr>
          <a:ln/>
        </p:spPr>
      </p:sp>
      <p:sp>
        <p:nvSpPr>
          <p:cNvPr id="57347"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68855127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imes New Roman" panose="02020603050405020304" pitchFamily="18" charset="0"/>
                <a:cs typeface="Times New Roman" panose="02020603050405020304" pitchFamily="18" charset="0"/>
              </a:defRPr>
            </a:lvl1pPr>
            <a:lvl2pPr marL="742950" indent="-285750" eaLnBrk="0" hangingPunct="0">
              <a:defRPr>
                <a:solidFill>
                  <a:schemeClr val="tx1"/>
                </a:solidFill>
                <a:latin typeface="Times New Roman" panose="02020603050405020304" pitchFamily="18" charset="0"/>
                <a:cs typeface="Times New Roman" panose="02020603050405020304" pitchFamily="18" charset="0"/>
              </a:defRPr>
            </a:lvl2pPr>
            <a:lvl3pPr marL="1143000" indent="-228600" eaLnBrk="0" hangingPunct="0">
              <a:defRPr>
                <a:solidFill>
                  <a:schemeClr val="tx1"/>
                </a:solidFill>
                <a:latin typeface="Times New Roman" panose="02020603050405020304" pitchFamily="18" charset="0"/>
                <a:cs typeface="Times New Roman" panose="02020603050405020304" pitchFamily="18" charset="0"/>
              </a:defRPr>
            </a:lvl3pPr>
            <a:lvl4pPr marL="1600200" indent="-228600" eaLnBrk="0" hangingPunct="0">
              <a:defRPr>
                <a:solidFill>
                  <a:schemeClr val="tx1"/>
                </a:solidFill>
                <a:latin typeface="Times New Roman" panose="02020603050405020304" pitchFamily="18" charset="0"/>
                <a:cs typeface="Times New Roman" panose="02020603050405020304" pitchFamily="18" charset="0"/>
              </a:defRPr>
            </a:lvl4pPr>
            <a:lvl5pPr marL="2057400" indent="-228600" eaLnBrk="0" hangingPunct="0">
              <a:defRPr>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Times New Roman" panose="02020603050405020304" pitchFamily="18" charset="0"/>
                <a:cs typeface="Times New Roman" panose="02020603050405020304" pitchFamily="18" charset="0"/>
              </a:defRPr>
            </a:lvl9pPr>
          </a:lstStyle>
          <a:p>
            <a:pPr eaLnBrk="1" hangingPunct="1"/>
            <a:fld id="{172F68D8-68DB-4CE0-9D47-14552251FA55}" type="slidenum">
              <a:rPr lang="en-US" altLang="en-US"/>
              <a:pPr eaLnBrk="1" hangingPunct="1"/>
              <a:t>28</a:t>
            </a:fld>
            <a:endParaRPr lang="en-US" altLang="en-US"/>
          </a:p>
        </p:txBody>
      </p:sp>
      <p:sp>
        <p:nvSpPr>
          <p:cNvPr id="60419" name="Rectangle 2"/>
          <p:cNvSpPr>
            <a:spLocks noGrp="1" noRot="1" noChangeAspect="1" noChangeArrowheads="1" noTextEdit="1"/>
          </p:cNvSpPr>
          <p:nvPr>
            <p:ph type="sldImg"/>
          </p:nvPr>
        </p:nvSpPr>
        <p:spPr>
          <a:ln/>
        </p:spPr>
      </p:sp>
      <p:sp>
        <p:nvSpPr>
          <p:cNvPr id="604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9384919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Image Placeholder 1"/>
          <p:cNvSpPr>
            <a:spLocks noGrp="1" noRot="1" noChangeAspect="1" noTextEdit="1"/>
          </p:cNvSpPr>
          <p:nvPr>
            <p:ph type="sldImg"/>
          </p:nvPr>
        </p:nvSpPr>
        <p:spPr bwMode="auto">
          <a:noFill/>
          <a:ln>
            <a:solidFill>
              <a:srgbClr val="000000"/>
            </a:solidFill>
            <a:miter lim="800000"/>
            <a:headEnd/>
            <a:tailEnd/>
          </a:ln>
        </p:spPr>
      </p:sp>
      <p:sp>
        <p:nvSpPr>
          <p:cNvPr id="14339" name="Notes Placeholder 2"/>
          <p:cNvSpPr>
            <a:spLocks noGrp="1"/>
          </p:cNvSpPr>
          <p:nvPr>
            <p:ph type="body" idx="1"/>
          </p:nvPr>
        </p:nvSpPr>
        <p:spPr bwMode="auto">
          <a:noFill/>
        </p:spPr>
        <p:txBody>
          <a:bodyPr wrap="square" numCol="1" anchor="t" anchorCtr="0" compatLnSpc="1">
            <a:prstTxWarp prst="textNoShape">
              <a:avLst/>
            </a:prstTxWarp>
          </a:bodyPr>
          <a:lstStyle/>
          <a:p>
            <a:pPr marL="228600" indent="-228600">
              <a:buFont typeface="Arial" panose="020B0604020202020204" pitchFamily="34" charset="0"/>
              <a:buChar char="•"/>
            </a:pPr>
            <a:r>
              <a:rPr lang="en-US" sz="1200" kern="1200" baseline="0" dirty="0">
                <a:solidFill>
                  <a:schemeClr val="tx1"/>
                </a:solidFill>
                <a:latin typeface="+mn-lt"/>
                <a:ea typeface="+mn-ea"/>
                <a:cs typeface="+mn-cs"/>
              </a:rPr>
              <a:t>All organisms, with the exception of the </a:t>
            </a:r>
            <a:r>
              <a:rPr lang="en-US" sz="1200" kern="1200" baseline="0" dirty="0" err="1">
                <a:solidFill>
                  <a:schemeClr val="tx1"/>
                </a:solidFill>
                <a:latin typeface="+mn-lt"/>
                <a:ea typeface="+mn-ea"/>
                <a:cs typeface="+mn-cs"/>
              </a:rPr>
              <a:t>Archaea</a:t>
            </a:r>
            <a:r>
              <a:rPr lang="en-US" sz="1200" kern="1200" baseline="0" dirty="0">
                <a:solidFill>
                  <a:schemeClr val="tx1"/>
                </a:solidFill>
                <a:latin typeface="+mn-lt"/>
                <a:ea typeface="+mn-ea"/>
                <a:cs typeface="+mn-cs"/>
              </a:rPr>
              <a:t>, use glucose as the primary source of energy for cellular metabolism. </a:t>
            </a:r>
          </a:p>
          <a:p>
            <a:pPr marL="228600" indent="-228600">
              <a:buFont typeface="Arial" panose="020B0604020202020204" pitchFamily="34" charset="0"/>
              <a:buChar char="•"/>
            </a:pPr>
            <a:r>
              <a:rPr lang="en-US" sz="1200" kern="1200" baseline="0" dirty="0">
                <a:solidFill>
                  <a:schemeClr val="tx1"/>
                </a:solidFill>
                <a:latin typeface="+mn-lt"/>
                <a:ea typeface="+mn-ea"/>
                <a:cs typeface="+mn-cs"/>
              </a:rPr>
              <a:t>The chemical bonds in glucose are broken, releasing energy in the form of ATP.</a:t>
            </a:r>
          </a:p>
          <a:p>
            <a:pPr marL="228600" indent="-228600">
              <a:buFont typeface="Arial" panose="020B0604020202020204" pitchFamily="34" charset="0"/>
              <a:buChar char="•"/>
            </a:pPr>
            <a:r>
              <a:rPr lang="en-US" sz="1200" kern="1200" baseline="0" dirty="0">
                <a:solidFill>
                  <a:schemeClr val="tx1"/>
                </a:solidFill>
                <a:latin typeface="+mn-lt"/>
                <a:ea typeface="+mn-ea"/>
                <a:cs typeface="+mn-cs"/>
              </a:rPr>
              <a:t>The word ‘aerobic’ is used when oxygen is present.</a:t>
            </a:r>
          </a:p>
          <a:p>
            <a:pPr marL="228600" indent="-228600">
              <a:buFont typeface="Arial" panose="020B0604020202020204" pitchFamily="34" charset="0"/>
              <a:buChar char="•"/>
            </a:pPr>
            <a:r>
              <a:rPr lang="en-US" sz="1200" kern="1200" baseline="0" dirty="0">
                <a:solidFill>
                  <a:schemeClr val="tx1"/>
                </a:solidFill>
                <a:latin typeface="+mn-lt"/>
                <a:ea typeface="+mn-ea"/>
                <a:cs typeface="+mn-cs"/>
              </a:rPr>
              <a:t>For all organisms, the breakdown of glucose to supply the cell with available energy, regardless of whether oxygen is present or not, starts with a biochemical pathway called </a:t>
            </a:r>
            <a:r>
              <a:rPr lang="en-US" sz="1200" b="1" kern="1200" baseline="0" dirty="0">
                <a:solidFill>
                  <a:schemeClr val="tx1"/>
                </a:solidFill>
                <a:latin typeface="+mn-lt"/>
                <a:ea typeface="+mn-ea"/>
                <a:cs typeface="+mn-cs"/>
              </a:rPr>
              <a:t>glycolysis</a:t>
            </a:r>
            <a:r>
              <a:rPr lang="en-US" sz="1200" b="0" kern="1200" baseline="0" dirty="0">
                <a:solidFill>
                  <a:schemeClr val="tx1"/>
                </a:solidFill>
                <a:latin typeface="+mn-lt"/>
                <a:ea typeface="+mn-ea"/>
                <a:cs typeface="+mn-cs"/>
              </a:rPr>
              <a:t>.</a:t>
            </a:r>
            <a:endParaRPr lang="en-US" sz="1200" kern="1200" baseline="0" dirty="0">
              <a:solidFill>
                <a:schemeClr val="tx1"/>
              </a:solidFill>
              <a:latin typeface="+mn-lt"/>
              <a:ea typeface="+mn-ea"/>
              <a:cs typeface="+mn-cs"/>
            </a:endParaRPr>
          </a:p>
        </p:txBody>
      </p:sp>
      <p:sp>
        <p:nvSpPr>
          <p:cNvPr id="4" name="Slide Number Placeholder 3"/>
          <p:cNvSpPr>
            <a:spLocks noGrp="1"/>
          </p:cNvSpPr>
          <p:nvPr>
            <p:ph type="sldNum" sz="quarter" idx="5"/>
          </p:nvPr>
        </p:nvSpPr>
        <p:spPr/>
        <p:txBody>
          <a:bodyPr/>
          <a:lstStyle/>
          <a:p>
            <a:pPr>
              <a:defRPr/>
            </a:pPr>
            <a:fld id="{8265CCF7-C6F2-435C-AB36-78C649E2A501}" type="slidenum">
              <a:rPr lang="en-US" smtClean="0"/>
              <a:pPr>
                <a:defRPr/>
              </a:pPr>
              <a:t>32</a:t>
            </a:fld>
            <a:endParaRPr lang="en-US"/>
          </a:p>
        </p:txBody>
      </p:sp>
    </p:spTree>
    <p:extLst>
      <p:ext uri="{BB962C8B-B14F-4D97-AF65-F5344CB8AC3E}">
        <p14:creationId xmlns:p14="http://schemas.microsoft.com/office/powerpoint/2010/main" val="154304560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Image Placeholder 1"/>
          <p:cNvSpPr>
            <a:spLocks noGrp="1" noRot="1" noChangeAspect="1" noTextEdit="1"/>
          </p:cNvSpPr>
          <p:nvPr>
            <p:ph type="sldImg"/>
          </p:nvPr>
        </p:nvSpPr>
        <p:spPr bwMode="auto">
          <a:noFill/>
          <a:ln>
            <a:solidFill>
              <a:srgbClr val="000000"/>
            </a:solidFill>
            <a:miter lim="800000"/>
            <a:headEnd/>
            <a:tailEnd/>
          </a:ln>
        </p:spPr>
      </p:sp>
      <p:sp>
        <p:nvSpPr>
          <p:cNvPr id="14339" name="Notes Placeholder 2"/>
          <p:cNvSpPr>
            <a:spLocks noGrp="1"/>
          </p:cNvSpPr>
          <p:nvPr>
            <p:ph type="body" idx="1"/>
          </p:nvPr>
        </p:nvSpPr>
        <p:spPr bwMode="auto">
          <a:noFill/>
        </p:spPr>
        <p:txBody>
          <a:bodyPr wrap="square" numCol="1" anchor="t" anchorCtr="0" compatLnSpc="1">
            <a:prstTxWarp prst="textNoShape">
              <a:avLst/>
            </a:prstTxWarp>
            <a:normAutofit/>
          </a:bodyPr>
          <a:lstStyle/>
          <a:p>
            <a:r>
              <a:rPr lang="en-US" sz="1200" b="1" kern="1200" baseline="0" dirty="0" err="1">
                <a:solidFill>
                  <a:schemeClr val="tx1"/>
                </a:solidFill>
                <a:latin typeface="+mn-lt"/>
                <a:ea typeface="+mn-ea"/>
                <a:cs typeface="+mn-cs"/>
              </a:rPr>
              <a:t>Glycolysis</a:t>
            </a:r>
            <a:endParaRPr lang="en-US" sz="1200" b="1" kern="1200" baseline="0" dirty="0">
              <a:solidFill>
                <a:schemeClr val="tx1"/>
              </a:solidFill>
              <a:latin typeface="+mn-lt"/>
              <a:ea typeface="+mn-ea"/>
              <a:cs typeface="+mn-cs"/>
            </a:endParaRPr>
          </a:p>
          <a:p>
            <a:pPr marL="228600" indent="-228600">
              <a:buFont typeface="Arial" panose="020B0604020202020204" pitchFamily="34" charset="0"/>
              <a:buChar char="•"/>
            </a:pPr>
            <a:r>
              <a:rPr lang="en-US" sz="1200" kern="1200" baseline="0" dirty="0" err="1">
                <a:solidFill>
                  <a:schemeClr val="tx1"/>
                </a:solidFill>
                <a:latin typeface="+mn-lt"/>
                <a:ea typeface="+mn-ea"/>
                <a:cs typeface="+mn-cs"/>
              </a:rPr>
              <a:t>Glycolysis</a:t>
            </a:r>
            <a:r>
              <a:rPr lang="en-US" sz="1200" kern="1200" baseline="0" dirty="0">
                <a:solidFill>
                  <a:schemeClr val="tx1"/>
                </a:solidFill>
                <a:latin typeface="+mn-lt"/>
                <a:ea typeface="+mn-ea"/>
                <a:cs typeface="+mn-cs"/>
              </a:rPr>
              <a:t> takes place in the </a:t>
            </a:r>
            <a:r>
              <a:rPr lang="en-US" sz="1200" kern="1200" baseline="0" dirty="0" err="1">
                <a:solidFill>
                  <a:schemeClr val="tx1"/>
                </a:solidFill>
                <a:latin typeface="+mn-lt"/>
                <a:ea typeface="+mn-ea"/>
                <a:cs typeface="+mn-cs"/>
              </a:rPr>
              <a:t>cytosol</a:t>
            </a:r>
            <a:r>
              <a:rPr lang="en-US" sz="1200" kern="1200" baseline="0" dirty="0">
                <a:solidFill>
                  <a:schemeClr val="tx1"/>
                </a:solidFill>
                <a:latin typeface="+mn-lt"/>
                <a:ea typeface="+mn-ea"/>
                <a:cs typeface="+mn-cs"/>
              </a:rPr>
              <a:t>  </a:t>
            </a:r>
          </a:p>
          <a:p>
            <a:pPr marL="228600" indent="-228600">
              <a:buFont typeface="Arial" panose="020B0604020202020204" pitchFamily="34" charset="0"/>
              <a:buChar char="•"/>
            </a:pPr>
            <a:r>
              <a:rPr lang="en-US" sz="1200" kern="1200" baseline="0" dirty="0">
                <a:solidFill>
                  <a:schemeClr val="tx1"/>
                </a:solidFill>
                <a:latin typeface="+mn-lt"/>
                <a:ea typeface="+mn-ea"/>
                <a:cs typeface="+mn-cs"/>
              </a:rPr>
              <a:t>Ten reactions, with each step controlled by a specific enzyme. </a:t>
            </a:r>
          </a:p>
          <a:p>
            <a:pPr marL="228600" indent="-228600">
              <a:buFont typeface="Arial" panose="020B0604020202020204" pitchFamily="34" charset="0"/>
              <a:buChar char="•"/>
            </a:pPr>
            <a:r>
              <a:rPr lang="en-US" sz="1200" kern="1200" baseline="0" dirty="0">
                <a:solidFill>
                  <a:schemeClr val="tx1"/>
                </a:solidFill>
                <a:latin typeface="+mn-lt"/>
                <a:ea typeface="+mn-ea"/>
                <a:cs typeface="+mn-cs"/>
              </a:rPr>
              <a:t>The initial reactant is </a:t>
            </a:r>
            <a:r>
              <a:rPr lang="en-US" sz="1200" b="0" kern="1200" baseline="0" dirty="0">
                <a:solidFill>
                  <a:schemeClr val="tx1"/>
                </a:solidFill>
                <a:latin typeface="+mn-lt"/>
                <a:ea typeface="+mn-ea"/>
                <a:cs typeface="+mn-cs"/>
              </a:rPr>
              <a:t>glucose</a:t>
            </a:r>
          </a:p>
          <a:p>
            <a:pPr marL="228600" indent="-228600">
              <a:buFont typeface="Arial" panose="020B0604020202020204" pitchFamily="34" charset="0"/>
              <a:buChar char="•"/>
            </a:pPr>
            <a:r>
              <a:rPr lang="en-US" sz="1200" b="0" kern="1200" baseline="0" dirty="0">
                <a:solidFill>
                  <a:schemeClr val="tx1"/>
                </a:solidFill>
                <a:latin typeface="+mn-lt"/>
                <a:ea typeface="+mn-ea"/>
                <a:cs typeface="+mn-cs"/>
              </a:rPr>
              <a:t>Final product is two molecules of </a:t>
            </a:r>
            <a:r>
              <a:rPr lang="en-US" sz="1200" b="0" kern="1200" baseline="0" dirty="0" err="1">
                <a:solidFill>
                  <a:schemeClr val="tx1"/>
                </a:solidFill>
                <a:latin typeface="+mn-lt"/>
                <a:ea typeface="+mn-ea"/>
                <a:cs typeface="+mn-cs"/>
              </a:rPr>
              <a:t>pyruvate</a:t>
            </a:r>
            <a:r>
              <a:rPr lang="en-US" sz="1200" b="0" kern="1200" baseline="0" dirty="0">
                <a:solidFill>
                  <a:schemeClr val="tx1"/>
                </a:solidFill>
                <a:latin typeface="+mn-lt"/>
                <a:ea typeface="+mn-ea"/>
                <a:cs typeface="+mn-cs"/>
              </a:rPr>
              <a:t>. </a:t>
            </a:r>
          </a:p>
          <a:p>
            <a:pPr marL="228600" indent="-228600">
              <a:buFont typeface="Arial" panose="020B0604020202020204" pitchFamily="34" charset="0"/>
              <a:buChar char="•"/>
            </a:pPr>
            <a:r>
              <a:rPr lang="en-US" sz="1200" b="0" kern="1200" baseline="0" dirty="0" err="1">
                <a:solidFill>
                  <a:schemeClr val="tx1"/>
                </a:solidFill>
                <a:latin typeface="+mn-lt"/>
                <a:ea typeface="+mn-ea"/>
                <a:cs typeface="+mn-cs"/>
              </a:rPr>
              <a:t>Glycolysis</a:t>
            </a:r>
            <a:r>
              <a:rPr lang="en-US" sz="1200" b="0" kern="1200" baseline="0" dirty="0">
                <a:solidFill>
                  <a:schemeClr val="tx1"/>
                </a:solidFill>
                <a:latin typeface="+mn-lt"/>
                <a:ea typeface="+mn-ea"/>
                <a:cs typeface="+mn-cs"/>
              </a:rPr>
              <a:t> produces a net of two ATP molecules that may be used by the cell as a source of </a:t>
            </a:r>
            <a:r>
              <a:rPr lang="en-US" sz="1200" kern="1200" baseline="0" dirty="0">
                <a:solidFill>
                  <a:schemeClr val="tx1"/>
                </a:solidFill>
                <a:latin typeface="+mn-lt"/>
                <a:ea typeface="+mn-ea"/>
                <a:cs typeface="+mn-cs"/>
              </a:rPr>
              <a:t>energy. </a:t>
            </a:r>
          </a:p>
          <a:p>
            <a:endParaRPr lang="en-US" sz="1200" kern="1200" baseline="0" dirty="0">
              <a:solidFill>
                <a:schemeClr val="tx1"/>
              </a:solidFill>
              <a:latin typeface="+mn-lt"/>
              <a:ea typeface="+mn-ea"/>
              <a:cs typeface="+mn-cs"/>
            </a:endParaRPr>
          </a:p>
          <a:p>
            <a:endParaRPr lang="en-US" sz="1200" kern="1200" baseline="0" dirty="0">
              <a:solidFill>
                <a:schemeClr val="tx1"/>
              </a:solidFill>
              <a:latin typeface="+mn-lt"/>
              <a:ea typeface="+mn-ea"/>
              <a:cs typeface="+mn-cs"/>
            </a:endParaRPr>
          </a:p>
          <a:p>
            <a:r>
              <a:rPr lang="en-US" sz="1200" b="1" dirty="0"/>
              <a:t>Cellular respiration with oxygen</a:t>
            </a:r>
          </a:p>
          <a:p>
            <a:pPr marL="228600" marR="0" indent="-22860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US" sz="1200" b="0" kern="1200" baseline="0" dirty="0">
                <a:solidFill>
                  <a:schemeClr val="tx1"/>
                </a:solidFill>
                <a:latin typeface="+mn-lt"/>
                <a:ea typeface="+mn-ea"/>
                <a:cs typeface="+mn-cs"/>
              </a:rPr>
              <a:t>Pyruvate</a:t>
            </a:r>
            <a:r>
              <a:rPr lang="en-US" sz="1200" kern="1200" baseline="0" dirty="0">
                <a:solidFill>
                  <a:schemeClr val="tx1"/>
                </a:solidFill>
                <a:latin typeface="+mn-lt"/>
                <a:ea typeface="+mn-ea"/>
                <a:cs typeface="+mn-cs"/>
              </a:rPr>
              <a:t> is a substrate in another set of reactions to extract energy, depending on the organism’s requirements and whether oxygen is present or absent. Two molecules of pyruvate formed in glycolysis enter the mitochondrion.</a:t>
            </a:r>
          </a:p>
          <a:p>
            <a:pPr marL="228600" indent="-228600">
              <a:buFont typeface="Arial" panose="020B0604020202020204" pitchFamily="34" charset="0"/>
              <a:buChar char="•"/>
            </a:pPr>
            <a:r>
              <a:rPr lang="en-US" sz="1200" kern="1200" baseline="0" dirty="0">
                <a:solidFill>
                  <a:schemeClr val="tx1"/>
                </a:solidFill>
                <a:latin typeface="+mn-lt"/>
                <a:ea typeface="+mn-ea"/>
                <a:cs typeface="+mn-cs"/>
              </a:rPr>
              <a:t>Mitochondria are small, regularly shaped structures found scattered throughout the cell’s cytosol.</a:t>
            </a:r>
          </a:p>
          <a:p>
            <a:pPr marL="228600" indent="-228600">
              <a:buFont typeface="Arial" panose="020B0604020202020204" pitchFamily="34" charset="0"/>
              <a:buChar char="•"/>
            </a:pPr>
            <a:r>
              <a:rPr lang="en-US" sz="1200" kern="1200" baseline="0" dirty="0">
                <a:solidFill>
                  <a:schemeClr val="tx1"/>
                </a:solidFill>
                <a:latin typeface="+mn-lt"/>
                <a:ea typeface="+mn-ea"/>
                <a:cs typeface="+mn-cs"/>
              </a:rPr>
              <a:t>Second series of steps within the mitochondria, after which carbon dioxide molecules and water are produced. </a:t>
            </a:r>
          </a:p>
          <a:p>
            <a:pPr marL="228600" indent="-228600">
              <a:buFont typeface="Arial" panose="020B0604020202020204" pitchFamily="34" charset="0"/>
              <a:buChar char="•"/>
            </a:pPr>
            <a:r>
              <a:rPr lang="en-US" sz="1200" kern="1200" baseline="0" dirty="0">
                <a:solidFill>
                  <a:schemeClr val="tx1"/>
                </a:solidFill>
                <a:latin typeface="+mn-lt"/>
                <a:ea typeface="+mn-ea"/>
                <a:cs typeface="+mn-cs"/>
              </a:rPr>
              <a:t>From all the reactions associated with aerobic cellular respiration, it is possible to produce a net 36 ATP molecules in one cycle.</a:t>
            </a:r>
          </a:p>
        </p:txBody>
      </p:sp>
      <p:sp>
        <p:nvSpPr>
          <p:cNvPr id="4" name="Slide Number Placeholder 3"/>
          <p:cNvSpPr>
            <a:spLocks noGrp="1"/>
          </p:cNvSpPr>
          <p:nvPr>
            <p:ph type="sldNum" sz="quarter" idx="5"/>
          </p:nvPr>
        </p:nvSpPr>
        <p:spPr/>
        <p:txBody>
          <a:bodyPr/>
          <a:lstStyle/>
          <a:p>
            <a:pPr>
              <a:defRPr/>
            </a:pPr>
            <a:fld id="{8265CCF7-C6F2-435C-AB36-78C649E2A501}" type="slidenum">
              <a:rPr lang="en-US" smtClean="0"/>
              <a:pPr>
                <a:defRPr/>
              </a:pPr>
              <a:t>33</a:t>
            </a:fld>
            <a:endParaRPr lang="en-US"/>
          </a:p>
        </p:txBody>
      </p:sp>
    </p:spTree>
    <p:extLst>
      <p:ext uri="{BB962C8B-B14F-4D97-AF65-F5344CB8AC3E}">
        <p14:creationId xmlns:p14="http://schemas.microsoft.com/office/powerpoint/2010/main" val="157746727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Image Placeholder 1"/>
          <p:cNvSpPr>
            <a:spLocks noGrp="1" noRot="1" noChangeAspect="1" noTextEdit="1"/>
          </p:cNvSpPr>
          <p:nvPr>
            <p:ph type="sldImg"/>
          </p:nvPr>
        </p:nvSpPr>
        <p:spPr bwMode="auto">
          <a:noFill/>
          <a:ln>
            <a:solidFill>
              <a:srgbClr val="000000"/>
            </a:solidFill>
            <a:miter lim="800000"/>
            <a:headEnd/>
            <a:tailEnd/>
          </a:ln>
        </p:spPr>
      </p:sp>
      <p:sp>
        <p:nvSpPr>
          <p:cNvPr id="14339" name="Notes Placeholder 2"/>
          <p:cNvSpPr>
            <a:spLocks noGrp="1"/>
          </p:cNvSpPr>
          <p:nvPr>
            <p:ph type="body" idx="1"/>
          </p:nvPr>
        </p:nvSpPr>
        <p:spPr bwMode="auto">
          <a:noFill/>
        </p:spPr>
        <p:txBody>
          <a:bodyPr wrap="square" numCol="1" anchor="t" anchorCtr="0" compatLnSpc="1">
            <a:prstTxWarp prst="textNoShape">
              <a:avLst/>
            </a:prstTxWarp>
            <a:normAutofit/>
          </a:bodyPr>
          <a:lstStyle/>
          <a:p>
            <a:pPr marL="228600" indent="-228600">
              <a:buFont typeface="Arial" panose="020B0604020202020204" pitchFamily="34" charset="0"/>
              <a:buChar char="•"/>
            </a:pPr>
            <a:r>
              <a:rPr lang="en-US" sz="1200" kern="1200" baseline="0" dirty="0">
                <a:solidFill>
                  <a:schemeClr val="tx1"/>
                </a:solidFill>
                <a:latin typeface="+mn-lt"/>
                <a:ea typeface="+mn-ea"/>
                <a:cs typeface="+mn-cs"/>
              </a:rPr>
              <a:t>Prokaryotes have evolved many anaerobic pathways given their existence in oxygen-free environments.</a:t>
            </a:r>
          </a:p>
          <a:p>
            <a:pPr marL="228600" indent="-228600">
              <a:buFont typeface="Arial" panose="020B0604020202020204" pitchFamily="34" charset="0"/>
              <a:buChar char="•"/>
            </a:pPr>
            <a:r>
              <a:rPr lang="en-US" sz="1200" kern="1200" baseline="0" dirty="0">
                <a:solidFill>
                  <a:schemeClr val="tx1"/>
                </a:solidFill>
                <a:latin typeface="+mn-lt"/>
                <a:ea typeface="+mn-ea"/>
                <a:cs typeface="+mn-cs"/>
              </a:rPr>
              <a:t>Eukaryotes commonly use two forms, which are referred to as </a:t>
            </a:r>
            <a:r>
              <a:rPr lang="en-US" sz="1200" b="1" kern="1200" baseline="0" dirty="0">
                <a:solidFill>
                  <a:schemeClr val="tx1"/>
                </a:solidFill>
                <a:latin typeface="+mn-lt"/>
                <a:ea typeface="+mn-ea"/>
                <a:cs typeface="+mn-cs"/>
              </a:rPr>
              <a:t>alcohol fermentation </a:t>
            </a:r>
            <a:r>
              <a:rPr lang="en-US" sz="1200" b="0" kern="1200" baseline="0" dirty="0">
                <a:solidFill>
                  <a:schemeClr val="tx1"/>
                </a:solidFill>
                <a:latin typeface="+mn-lt"/>
                <a:ea typeface="+mn-ea"/>
                <a:cs typeface="+mn-cs"/>
              </a:rPr>
              <a:t>and</a:t>
            </a:r>
            <a:r>
              <a:rPr lang="en-US" sz="1200" b="1" kern="1200" baseline="0" dirty="0">
                <a:solidFill>
                  <a:schemeClr val="tx1"/>
                </a:solidFill>
                <a:latin typeface="+mn-lt"/>
                <a:ea typeface="+mn-ea"/>
                <a:cs typeface="+mn-cs"/>
              </a:rPr>
              <a:t> lactic acid fermentation.</a:t>
            </a:r>
          </a:p>
          <a:p>
            <a:pPr marL="228600" indent="-228600">
              <a:buFont typeface="Arial" panose="020B0604020202020204" pitchFamily="34" charset="0"/>
              <a:buChar char="•"/>
            </a:pPr>
            <a:r>
              <a:rPr lang="en-US" sz="1200" kern="1200" baseline="0" dirty="0">
                <a:solidFill>
                  <a:schemeClr val="tx1"/>
                </a:solidFill>
                <a:latin typeface="+mn-lt"/>
                <a:ea typeface="+mn-ea"/>
                <a:cs typeface="+mn-cs"/>
              </a:rPr>
              <a:t>Many micro-organisms, including yeast and some bacteria, carry out anaerobic cellular respiration. </a:t>
            </a:r>
          </a:p>
          <a:p>
            <a:pPr marL="228600" indent="-228600">
              <a:buFont typeface="Arial" panose="020B0604020202020204" pitchFamily="34" charset="0"/>
              <a:buChar char="•"/>
            </a:pPr>
            <a:r>
              <a:rPr lang="en-US" sz="1200" kern="1200" baseline="0" dirty="0">
                <a:solidFill>
                  <a:schemeClr val="tx1"/>
                </a:solidFill>
                <a:latin typeface="+mn-lt"/>
                <a:ea typeface="+mn-ea"/>
                <a:cs typeface="+mn-cs"/>
              </a:rPr>
              <a:t>The products of alcohol fermentation are carbon dioxide and ethanol, an alcohol.</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Humans make use of these metabolic waste products in the production of wine, beer and bread.  Plants cannot make use of ethanol. It cannot converted into carbohydrate and cannot be broken down in the presence of oxygen. </a:t>
            </a:r>
          </a:p>
          <a:p>
            <a:r>
              <a:rPr lang="en-US" sz="1200" kern="1200" baseline="0" dirty="0">
                <a:solidFill>
                  <a:schemeClr val="tx1"/>
                </a:solidFill>
                <a:latin typeface="+mn-lt"/>
                <a:ea typeface="+mn-ea"/>
                <a:cs typeface="+mn-cs"/>
              </a:rPr>
              <a:t>Furthermore, alcohol is toxic to cells.  Many plants (or parts of plants) and yeast can respire anaerobically for a short time. </a:t>
            </a:r>
          </a:p>
          <a:p>
            <a:r>
              <a:rPr lang="en-US" sz="1200" kern="1200" baseline="0" dirty="0">
                <a:solidFill>
                  <a:schemeClr val="tx1"/>
                </a:solidFill>
                <a:latin typeface="+mn-lt"/>
                <a:ea typeface="+mn-ea"/>
                <a:cs typeface="+mn-cs"/>
              </a:rPr>
              <a:t>However, the rising concentration of ethanol is toxic.  Yeast is a classic example of an anaerobic organism, which is used in the brewing and wine-making industries. However yeast grow better in aerobic conditions. </a:t>
            </a:r>
          </a:p>
          <a:p>
            <a:r>
              <a:rPr lang="en-US" sz="1200" kern="1200" baseline="0" dirty="0">
                <a:solidFill>
                  <a:schemeClr val="tx1"/>
                </a:solidFill>
                <a:latin typeface="+mn-lt"/>
                <a:ea typeface="+mn-ea"/>
                <a:cs typeface="+mn-cs"/>
              </a:rPr>
              <a:t>A major focus of the brewing industry is to develop new strains of yeast that are tolerant to high concentrations of ethanol.</a:t>
            </a:r>
          </a:p>
        </p:txBody>
      </p:sp>
      <p:sp>
        <p:nvSpPr>
          <p:cNvPr id="4" name="Slide Number Placeholder 3"/>
          <p:cNvSpPr>
            <a:spLocks noGrp="1"/>
          </p:cNvSpPr>
          <p:nvPr>
            <p:ph type="sldNum" sz="quarter" idx="5"/>
          </p:nvPr>
        </p:nvSpPr>
        <p:spPr/>
        <p:txBody>
          <a:bodyPr/>
          <a:lstStyle/>
          <a:p>
            <a:pPr>
              <a:defRPr/>
            </a:pPr>
            <a:fld id="{8265CCF7-C6F2-435C-AB36-78C649E2A501}" type="slidenum">
              <a:rPr lang="en-US" smtClean="0"/>
              <a:pPr>
                <a:defRPr/>
              </a:pPr>
              <a:t>35</a:t>
            </a:fld>
            <a:endParaRPr lang="en-US"/>
          </a:p>
        </p:txBody>
      </p:sp>
    </p:spTree>
    <p:extLst>
      <p:ext uri="{BB962C8B-B14F-4D97-AF65-F5344CB8AC3E}">
        <p14:creationId xmlns:p14="http://schemas.microsoft.com/office/powerpoint/2010/main" val="401899180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Image Placeholder 1"/>
          <p:cNvSpPr>
            <a:spLocks noGrp="1" noRot="1" noChangeAspect="1" noTextEdit="1"/>
          </p:cNvSpPr>
          <p:nvPr>
            <p:ph type="sldImg"/>
          </p:nvPr>
        </p:nvSpPr>
        <p:spPr bwMode="auto">
          <a:noFill/>
          <a:ln>
            <a:solidFill>
              <a:srgbClr val="000000"/>
            </a:solidFill>
            <a:miter lim="800000"/>
            <a:headEnd/>
            <a:tailEnd/>
          </a:ln>
        </p:spPr>
      </p:sp>
      <p:sp>
        <p:nvSpPr>
          <p:cNvPr id="14339" name="Notes Placeholder 2"/>
          <p:cNvSpPr>
            <a:spLocks noGrp="1"/>
          </p:cNvSpPr>
          <p:nvPr>
            <p:ph type="body" idx="1"/>
          </p:nvPr>
        </p:nvSpPr>
        <p:spPr bwMode="auto">
          <a:noFill/>
        </p:spPr>
        <p:txBody>
          <a:bodyPr wrap="square" numCol="1" anchor="t" anchorCtr="0" compatLnSpc="1">
            <a:prstTxWarp prst="textNoShape">
              <a:avLst/>
            </a:prstTxWarp>
          </a:bodyPr>
          <a:lstStyle/>
          <a:p>
            <a:pPr marL="171450" indent="-171450">
              <a:buFont typeface="Arial" panose="020B0604020202020204" pitchFamily="34" charset="0"/>
              <a:buChar char="•"/>
            </a:pPr>
            <a:r>
              <a:rPr lang="en-US" sz="1200" kern="1200" baseline="0" dirty="0">
                <a:solidFill>
                  <a:schemeClr val="tx1"/>
                </a:solidFill>
                <a:latin typeface="+mn-lt"/>
                <a:ea typeface="+mn-ea"/>
                <a:cs typeface="+mn-cs"/>
              </a:rPr>
              <a:t>  Lactic acid is the end product of anaerobic respiration in animals. </a:t>
            </a:r>
          </a:p>
          <a:p>
            <a:pPr marL="228600" indent="-228600">
              <a:buFont typeface="Arial" panose="020B0604020202020204" pitchFamily="34" charset="0"/>
              <a:buChar char="•"/>
            </a:pPr>
            <a:r>
              <a:rPr lang="en-US" sz="1200" kern="1200" baseline="0" dirty="0">
                <a:solidFill>
                  <a:schemeClr val="tx1"/>
                </a:solidFill>
                <a:latin typeface="+mn-lt"/>
                <a:ea typeface="+mn-ea"/>
                <a:cs typeface="+mn-cs"/>
              </a:rPr>
              <a:t>During strenuous exercise, energy production is required faster than our bodies can deliver oxygen to our working muscles. </a:t>
            </a:r>
          </a:p>
          <a:p>
            <a:pPr marL="228600" indent="-228600">
              <a:buFont typeface="Arial" panose="020B0604020202020204" pitchFamily="34" charset="0"/>
              <a:buChar char="•"/>
            </a:pPr>
            <a:r>
              <a:rPr lang="en-US" sz="1200" kern="1200" baseline="0" dirty="0">
                <a:solidFill>
                  <a:schemeClr val="tx1"/>
                </a:solidFill>
                <a:latin typeface="+mn-lt"/>
                <a:ea typeface="+mn-ea"/>
                <a:cs typeface="+mn-cs"/>
              </a:rPr>
              <a:t>The working muscles generate energy </a:t>
            </a:r>
            <a:r>
              <a:rPr lang="en-US" sz="1200" kern="1200" baseline="0" dirty="0" err="1">
                <a:solidFill>
                  <a:schemeClr val="tx1"/>
                </a:solidFill>
                <a:latin typeface="+mn-lt"/>
                <a:ea typeface="+mn-ea"/>
                <a:cs typeface="+mn-cs"/>
              </a:rPr>
              <a:t>anaerobically</a:t>
            </a:r>
            <a:r>
              <a:rPr lang="en-US" sz="1200" kern="1200" baseline="0" dirty="0">
                <a:solidFill>
                  <a:schemeClr val="tx1"/>
                </a:solidFill>
                <a:latin typeface="+mn-lt"/>
                <a:ea typeface="+mn-ea"/>
                <a:cs typeface="+mn-cs"/>
              </a:rPr>
              <a:t> with a build-up of lactic acid.</a:t>
            </a:r>
          </a:p>
          <a:p>
            <a:pPr marL="228600" indent="-228600">
              <a:buFont typeface="Arial" panose="020B0604020202020204" pitchFamily="34" charset="0"/>
              <a:buChar char="•"/>
            </a:pPr>
            <a:r>
              <a:rPr lang="en-US" sz="1200" kern="1200" baseline="0" dirty="0">
                <a:solidFill>
                  <a:schemeClr val="tx1"/>
                </a:solidFill>
                <a:latin typeface="+mn-lt"/>
                <a:ea typeface="+mn-ea"/>
                <a:cs typeface="+mn-cs"/>
              </a:rPr>
              <a:t>However, the muscles are in oxygen debt. </a:t>
            </a:r>
          </a:p>
          <a:p>
            <a:pPr marL="228600" indent="-228600">
              <a:buFont typeface="Arial" panose="020B0604020202020204" pitchFamily="34" charset="0"/>
              <a:buChar char="•"/>
            </a:pPr>
            <a:r>
              <a:rPr lang="en-US" sz="1200" kern="1200" baseline="0" dirty="0">
                <a:solidFill>
                  <a:schemeClr val="tx1"/>
                </a:solidFill>
                <a:latin typeface="+mn-lt"/>
                <a:ea typeface="+mn-ea"/>
                <a:cs typeface="+mn-cs"/>
              </a:rPr>
              <a:t>This debt must be repaid once the strenuous exercise slows down.</a:t>
            </a:r>
          </a:p>
          <a:p>
            <a:pPr marL="228600" indent="-228600">
              <a:buFont typeface="Arial" panose="020B0604020202020204" pitchFamily="34" charset="0"/>
              <a:buChar char="•"/>
            </a:pPr>
            <a:r>
              <a:rPr lang="en-US" sz="1200" kern="1200" baseline="0" dirty="0">
                <a:solidFill>
                  <a:schemeClr val="tx1"/>
                </a:solidFill>
                <a:latin typeface="+mn-lt"/>
                <a:ea typeface="+mn-ea"/>
                <a:cs typeface="+mn-cs"/>
              </a:rPr>
              <a:t>Oxygen availability converts lactic acid back to </a:t>
            </a:r>
            <a:r>
              <a:rPr lang="en-US" sz="1200" kern="1200" baseline="0" dirty="0" err="1">
                <a:solidFill>
                  <a:schemeClr val="tx1"/>
                </a:solidFill>
                <a:latin typeface="+mn-lt"/>
                <a:ea typeface="+mn-ea"/>
                <a:cs typeface="+mn-cs"/>
              </a:rPr>
              <a:t>pyruvate</a:t>
            </a:r>
            <a:r>
              <a:rPr lang="en-US" sz="1200" kern="1200" baseline="0" dirty="0">
                <a:solidFill>
                  <a:schemeClr val="tx1"/>
                </a:solidFill>
                <a:latin typeface="+mn-lt"/>
                <a:ea typeface="+mn-ea"/>
                <a:cs typeface="+mn-cs"/>
              </a:rPr>
              <a:t>, allowing continued aerobic metabolism.</a:t>
            </a:r>
          </a:p>
          <a:p>
            <a:pPr marL="228600" indent="-228600">
              <a:buFont typeface="Arial" panose="020B0604020202020204" pitchFamily="34" charset="0"/>
              <a:buChar char="•"/>
            </a:pPr>
            <a:r>
              <a:rPr lang="en-US" sz="1200" kern="1200" baseline="0" dirty="0">
                <a:solidFill>
                  <a:schemeClr val="tx1"/>
                </a:solidFill>
                <a:latin typeface="+mn-lt"/>
                <a:ea typeface="+mn-ea"/>
                <a:cs typeface="+mn-cs"/>
              </a:rPr>
              <a:t>Lactic acid fermentation is an important pathway for energy production.</a:t>
            </a:r>
          </a:p>
          <a:p>
            <a:endParaRPr lang="en-US" sz="1200" kern="1200" baseline="0" dirty="0">
              <a:solidFill>
                <a:schemeClr val="tx1"/>
              </a:solidFill>
              <a:latin typeface="+mn-lt"/>
              <a:ea typeface="+mn-ea"/>
              <a:cs typeface="+mn-cs"/>
            </a:endParaRPr>
          </a:p>
        </p:txBody>
      </p:sp>
      <p:sp>
        <p:nvSpPr>
          <p:cNvPr id="4" name="Slide Number Placeholder 3"/>
          <p:cNvSpPr>
            <a:spLocks noGrp="1"/>
          </p:cNvSpPr>
          <p:nvPr>
            <p:ph type="sldNum" sz="quarter" idx="5"/>
          </p:nvPr>
        </p:nvSpPr>
        <p:spPr/>
        <p:txBody>
          <a:bodyPr/>
          <a:lstStyle/>
          <a:p>
            <a:pPr>
              <a:defRPr/>
            </a:pPr>
            <a:fld id="{8265CCF7-C6F2-435C-AB36-78C649E2A501}" type="slidenum">
              <a:rPr lang="en-US" smtClean="0"/>
              <a:pPr>
                <a:defRPr/>
              </a:pPr>
              <a:t>36</a:t>
            </a:fld>
            <a:endParaRPr lang="en-US"/>
          </a:p>
        </p:txBody>
      </p:sp>
    </p:spTree>
    <p:extLst>
      <p:ext uri="{BB962C8B-B14F-4D97-AF65-F5344CB8AC3E}">
        <p14:creationId xmlns:p14="http://schemas.microsoft.com/office/powerpoint/2010/main" val="244394451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Image Placeholder 1"/>
          <p:cNvSpPr>
            <a:spLocks noGrp="1" noRot="1" noChangeAspect="1" noTextEdit="1"/>
          </p:cNvSpPr>
          <p:nvPr>
            <p:ph type="sldImg"/>
          </p:nvPr>
        </p:nvSpPr>
        <p:spPr bwMode="auto">
          <a:noFill/>
          <a:ln>
            <a:solidFill>
              <a:srgbClr val="000000"/>
            </a:solidFill>
            <a:miter lim="800000"/>
            <a:headEnd/>
            <a:tailEnd/>
          </a:ln>
        </p:spPr>
      </p:sp>
      <p:sp>
        <p:nvSpPr>
          <p:cNvPr id="14339" name="Notes Placeholder 2"/>
          <p:cNvSpPr>
            <a:spLocks noGrp="1"/>
          </p:cNvSpPr>
          <p:nvPr>
            <p:ph type="body" idx="1"/>
          </p:nvPr>
        </p:nvSpPr>
        <p:spPr bwMode="auto">
          <a:noFill/>
        </p:spPr>
        <p:txBody>
          <a:bodyPr wrap="square" numCol="1" anchor="t" anchorCtr="0" compatLnSpc="1">
            <a:prstTxWarp prst="textNoShape">
              <a:avLst/>
            </a:prstTxWarp>
          </a:bodyPr>
          <a:lstStyle/>
          <a:p>
            <a:r>
              <a:rPr lang="en-AU" sz="1200" b="0" i="0" u="none" strike="noStrike" kern="1200" baseline="0" dirty="0">
                <a:solidFill>
                  <a:schemeClr val="tx1"/>
                </a:solidFill>
                <a:latin typeface="+mn-lt"/>
                <a:ea typeface="+mn-ea"/>
                <a:cs typeface="+mn-cs"/>
              </a:rPr>
              <a:t>The outputs of photosynthesis are the inputs of aerobic cellular respiration. Similarly, the outputs of aerobic cellular respiration are the inputs of photosynthesis. In plants and other autotrophs, the two processes can occur in the same individual cells when both chloroplasts and mitochondria are present. But many cells in green plants, such as root cells, do not have chloroplasts. These cells, and those of heterotrophs, depend on the products of photosynthesis to carry out cellular respiration. Thus, there is a dependency between autotrophs and heterotrophs.</a:t>
            </a:r>
            <a:endParaRPr lang="en-US" sz="1200" kern="1200" baseline="0" dirty="0">
              <a:solidFill>
                <a:schemeClr val="tx1"/>
              </a:solidFill>
              <a:latin typeface="+mn-lt"/>
              <a:ea typeface="+mn-ea"/>
              <a:cs typeface="+mn-cs"/>
            </a:endParaRPr>
          </a:p>
        </p:txBody>
      </p:sp>
      <p:sp>
        <p:nvSpPr>
          <p:cNvPr id="4" name="Slide Number Placeholder 3"/>
          <p:cNvSpPr>
            <a:spLocks noGrp="1"/>
          </p:cNvSpPr>
          <p:nvPr>
            <p:ph type="sldNum" sz="quarter" idx="5"/>
          </p:nvPr>
        </p:nvSpPr>
        <p:spPr/>
        <p:txBody>
          <a:bodyPr/>
          <a:lstStyle/>
          <a:p>
            <a:pPr>
              <a:defRPr/>
            </a:pPr>
            <a:fld id="{8265CCF7-C6F2-435C-AB36-78C649E2A501}" type="slidenum">
              <a:rPr lang="en-US" smtClean="0"/>
              <a:pPr>
                <a:defRPr/>
              </a:pPr>
              <a:t>37</a:t>
            </a:fld>
            <a:endParaRPr lang="en-US"/>
          </a:p>
        </p:txBody>
      </p:sp>
    </p:spTree>
    <p:extLst>
      <p:ext uri="{BB962C8B-B14F-4D97-AF65-F5344CB8AC3E}">
        <p14:creationId xmlns:p14="http://schemas.microsoft.com/office/powerpoint/2010/main" val="300417213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folHlink"/>
        </a:solidFill>
        <a:effectLst/>
      </p:bgPr>
    </p:bg>
    <p:spTree>
      <p:nvGrpSpPr>
        <p:cNvPr id="1" name=""/>
        <p:cNvGrpSpPr/>
        <p:nvPr/>
      </p:nvGrpSpPr>
      <p:grpSpPr>
        <a:xfrm>
          <a:off x="0" y="0"/>
          <a:ext cx="0" cy="0"/>
          <a:chOff x="0" y="0"/>
          <a:chExt cx="0" cy="0"/>
        </a:xfrm>
      </p:grpSpPr>
      <p:sp>
        <p:nvSpPr>
          <p:cNvPr id="4" name="Rectangle 28"/>
          <p:cNvSpPr>
            <a:spLocks noChangeArrowheads="1"/>
          </p:cNvSpPr>
          <p:nvPr/>
        </p:nvSpPr>
        <p:spPr bwMode="gray">
          <a:xfrm>
            <a:off x="0" y="0"/>
            <a:ext cx="9140825" cy="6856413"/>
          </a:xfrm>
          <a:prstGeom prst="rect">
            <a:avLst/>
          </a:prstGeom>
          <a:solidFill>
            <a:schemeClr val="bg1"/>
          </a:solidFill>
          <a:ln w="9525">
            <a:noFill/>
            <a:miter lim="800000"/>
            <a:headEnd/>
            <a:tailEnd/>
          </a:ln>
        </p:spPr>
        <p:txBody>
          <a:bodyPr wrap="none" anchor="ctr"/>
          <a:lstStyle/>
          <a:p>
            <a:pPr>
              <a:defRPr/>
            </a:pPr>
            <a:endParaRPr lang="en-US"/>
          </a:p>
        </p:txBody>
      </p:sp>
      <p:pic>
        <p:nvPicPr>
          <p:cNvPr id="5" name="Picture 27"/>
          <p:cNvPicPr>
            <a:picLocks noChangeAspect="1" noChangeArrowheads="1"/>
          </p:cNvPicPr>
          <p:nvPr/>
        </p:nvPicPr>
        <p:blipFill>
          <a:blip r:embed="rId2" cstate="print"/>
          <a:srcRect/>
          <a:stretch>
            <a:fillRect/>
          </a:stretch>
        </p:blipFill>
        <p:spPr bwMode="auto">
          <a:xfrm>
            <a:off x="0" y="0"/>
            <a:ext cx="9145588" cy="3200400"/>
          </a:xfrm>
          <a:prstGeom prst="rect">
            <a:avLst/>
          </a:prstGeom>
          <a:noFill/>
          <a:ln w="9525">
            <a:noFill/>
            <a:miter lim="800000"/>
            <a:headEnd/>
            <a:tailEnd/>
          </a:ln>
        </p:spPr>
      </p:pic>
      <p:sp>
        <p:nvSpPr>
          <p:cNvPr id="6" name="Rectangle 13"/>
          <p:cNvSpPr>
            <a:spLocks noChangeArrowheads="1"/>
          </p:cNvSpPr>
          <p:nvPr/>
        </p:nvSpPr>
        <p:spPr bwMode="gray">
          <a:xfrm>
            <a:off x="0" y="3200400"/>
            <a:ext cx="9144000" cy="914400"/>
          </a:xfrm>
          <a:prstGeom prst="rect">
            <a:avLst/>
          </a:prstGeom>
          <a:solidFill>
            <a:schemeClr val="accent1"/>
          </a:solidFill>
          <a:ln w="9525">
            <a:noFill/>
            <a:miter lim="800000"/>
            <a:headEnd/>
            <a:tailEnd/>
          </a:ln>
        </p:spPr>
        <p:txBody>
          <a:bodyPr wrap="none" anchor="ctr"/>
          <a:lstStyle/>
          <a:p>
            <a:pPr>
              <a:defRPr/>
            </a:pPr>
            <a:endParaRPr lang="en-US"/>
          </a:p>
        </p:txBody>
      </p:sp>
      <p:sp>
        <p:nvSpPr>
          <p:cNvPr id="7" name="Line 15"/>
          <p:cNvSpPr>
            <a:spLocks noChangeShapeType="1"/>
          </p:cNvSpPr>
          <p:nvPr/>
        </p:nvSpPr>
        <p:spPr bwMode="gray">
          <a:xfrm>
            <a:off x="0" y="3200400"/>
            <a:ext cx="9144000" cy="0"/>
          </a:xfrm>
          <a:prstGeom prst="line">
            <a:avLst/>
          </a:prstGeom>
          <a:noFill/>
          <a:ln w="63500">
            <a:solidFill>
              <a:schemeClr val="bg1"/>
            </a:solidFill>
            <a:round/>
            <a:headEnd/>
            <a:tailEnd/>
          </a:ln>
        </p:spPr>
        <p:txBody>
          <a:bodyPr wrap="none" anchor="ctr"/>
          <a:lstStyle/>
          <a:p>
            <a:pPr>
              <a:defRPr/>
            </a:pPr>
            <a:endParaRPr lang="en-AU"/>
          </a:p>
        </p:txBody>
      </p:sp>
      <p:sp>
        <p:nvSpPr>
          <p:cNvPr id="8" name="Rectangle 30"/>
          <p:cNvSpPr>
            <a:spLocks noChangeArrowheads="1"/>
          </p:cNvSpPr>
          <p:nvPr/>
        </p:nvSpPr>
        <p:spPr bwMode="auto">
          <a:xfrm>
            <a:off x="0" y="6629400"/>
            <a:ext cx="9144000" cy="228600"/>
          </a:xfrm>
          <a:prstGeom prst="rect">
            <a:avLst/>
          </a:prstGeom>
          <a:solidFill>
            <a:schemeClr val="accent1"/>
          </a:solidFill>
          <a:ln w="9525">
            <a:noFill/>
            <a:miter lim="800000"/>
            <a:headEnd/>
            <a:tailEnd/>
          </a:ln>
        </p:spPr>
        <p:txBody>
          <a:bodyPr wrap="none" anchor="ctr"/>
          <a:lstStyle/>
          <a:p>
            <a:pPr>
              <a:defRPr/>
            </a:pPr>
            <a:endParaRPr lang="en-US"/>
          </a:p>
        </p:txBody>
      </p:sp>
      <p:pic>
        <p:nvPicPr>
          <p:cNvPr id="9" name="Picture 31" descr="CL_Logo_RGB_PNG"/>
          <p:cNvPicPr>
            <a:picLocks noChangeAspect="1" noChangeArrowheads="1"/>
          </p:cNvPicPr>
          <p:nvPr/>
        </p:nvPicPr>
        <p:blipFill>
          <a:blip r:embed="rId3" cstate="print"/>
          <a:srcRect/>
          <a:stretch>
            <a:fillRect/>
          </a:stretch>
        </p:blipFill>
        <p:spPr bwMode="gray">
          <a:xfrm>
            <a:off x="6013450" y="5002213"/>
            <a:ext cx="2697163" cy="1179512"/>
          </a:xfrm>
          <a:prstGeom prst="rect">
            <a:avLst/>
          </a:prstGeom>
          <a:noFill/>
          <a:ln w="9525">
            <a:noFill/>
            <a:miter lim="800000"/>
            <a:headEnd/>
            <a:tailEnd/>
          </a:ln>
        </p:spPr>
      </p:pic>
      <p:sp>
        <p:nvSpPr>
          <p:cNvPr id="4100" name="Rectangle 4"/>
          <p:cNvSpPr>
            <a:spLocks noGrp="1" noChangeArrowheads="1"/>
          </p:cNvSpPr>
          <p:nvPr>
            <p:ph type="subTitle" idx="1"/>
          </p:nvPr>
        </p:nvSpPr>
        <p:spPr bwMode="gray">
          <a:xfrm>
            <a:off x="457200" y="3365500"/>
            <a:ext cx="8229600" cy="304800"/>
          </a:xfrm>
          <a:solidFill>
            <a:schemeClr val="accent1"/>
          </a:solidFill>
        </p:spPr>
        <p:txBody>
          <a:bodyPr/>
          <a:lstStyle>
            <a:lvl1pPr>
              <a:spcBef>
                <a:spcPct val="0"/>
              </a:spcBef>
              <a:defRPr>
                <a:solidFill>
                  <a:schemeClr val="bg1"/>
                </a:solidFill>
              </a:defRPr>
            </a:lvl1pPr>
          </a:lstStyle>
          <a:p>
            <a:r>
              <a:rPr lang="en-US"/>
              <a:t>Click to edit Master subtitle style</a:t>
            </a:r>
          </a:p>
        </p:txBody>
      </p:sp>
      <p:sp>
        <p:nvSpPr>
          <p:cNvPr id="4106" name="Rectangle 10"/>
          <p:cNvSpPr>
            <a:spLocks noGrp="1" noChangeArrowheads="1"/>
          </p:cNvSpPr>
          <p:nvPr>
            <p:ph type="ctrTitle"/>
          </p:nvPr>
        </p:nvSpPr>
        <p:spPr>
          <a:xfrm>
            <a:off x="457200" y="1143000"/>
            <a:ext cx="8229600" cy="1828800"/>
          </a:xfrm>
        </p:spPr>
        <p:txBody>
          <a:bodyPr anchor="b"/>
          <a:lstStyle>
            <a:lvl1pPr>
              <a:lnSpc>
                <a:spcPts val="4200"/>
              </a:lnSpc>
              <a:defRPr sz="3600">
                <a:solidFill>
                  <a:schemeClr val="bg1"/>
                </a:solidFill>
              </a:defRPr>
            </a:lvl1pPr>
          </a:lstStyle>
          <a:p>
            <a:r>
              <a:rPr lang="en-US"/>
              <a:t>Click to edit Master title style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fld id="{78E73BBC-10F3-48AA-81AD-EE6C21D5C948}" type="datetimeFigureOut">
              <a:rPr lang="en-US"/>
              <a:pPr>
                <a:defRPr/>
              </a:pPr>
              <a:t>8/21/2017</a:t>
            </a:fld>
            <a:endParaRPr lang="en-US"/>
          </a:p>
        </p:txBody>
      </p:sp>
      <p:sp>
        <p:nvSpPr>
          <p:cNvPr id="5" name="Rectangle 6"/>
          <p:cNvSpPr>
            <a:spLocks noGrp="1" noChangeArrowheads="1"/>
          </p:cNvSpPr>
          <p:nvPr>
            <p:ph type="sldNum" sz="quarter" idx="11"/>
          </p:nvPr>
        </p:nvSpPr>
        <p:spPr>
          <a:ln/>
        </p:spPr>
        <p:txBody>
          <a:bodyPr/>
          <a:lstStyle>
            <a:lvl1pPr>
              <a:defRPr/>
            </a:lvl1pPr>
          </a:lstStyle>
          <a:p>
            <a:pPr>
              <a:defRPr/>
            </a:pPr>
            <a:fld id="{F077681D-8944-488B-8E66-602A91AEBEF5}"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fld id="{4A5AA8DE-A7B5-466D-BEEF-440EF7898A87}" type="datetimeFigureOut">
              <a:rPr lang="en-US"/>
              <a:pPr>
                <a:defRPr/>
              </a:pPr>
              <a:t>8/21/2017</a:t>
            </a:fld>
            <a:endParaRPr lang="en-US"/>
          </a:p>
        </p:txBody>
      </p:sp>
      <p:sp>
        <p:nvSpPr>
          <p:cNvPr id="5" name="Rectangle 6"/>
          <p:cNvSpPr>
            <a:spLocks noGrp="1" noChangeArrowheads="1"/>
          </p:cNvSpPr>
          <p:nvPr>
            <p:ph type="sldNum" sz="quarter" idx="11"/>
          </p:nvPr>
        </p:nvSpPr>
        <p:spPr>
          <a:ln/>
        </p:spPr>
        <p:txBody>
          <a:bodyPr/>
          <a:lstStyle>
            <a:lvl1pPr>
              <a:defRPr/>
            </a:lvl1pPr>
          </a:lstStyle>
          <a:p>
            <a:pPr>
              <a:defRPr/>
            </a:pPr>
            <a:fld id="{DCFE7761-9E5F-48B5-9B48-F75DF1AE044D}"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76400"/>
            <a:ext cx="40386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76400"/>
            <a:ext cx="40386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fld id="{7E7D09FD-C888-40AD-BCD7-191FE37A5D66}" type="datetimeFigureOut">
              <a:rPr lang="en-US"/>
              <a:pPr>
                <a:defRPr/>
              </a:pPr>
              <a:t>8/21/2017</a:t>
            </a:fld>
            <a:endParaRPr lang="en-US"/>
          </a:p>
        </p:txBody>
      </p:sp>
      <p:sp>
        <p:nvSpPr>
          <p:cNvPr id="6" name="Rectangle 6"/>
          <p:cNvSpPr>
            <a:spLocks noGrp="1" noChangeArrowheads="1"/>
          </p:cNvSpPr>
          <p:nvPr>
            <p:ph type="sldNum" sz="quarter" idx="11"/>
          </p:nvPr>
        </p:nvSpPr>
        <p:spPr>
          <a:ln/>
        </p:spPr>
        <p:txBody>
          <a:bodyPr/>
          <a:lstStyle>
            <a:lvl1pPr>
              <a:defRPr/>
            </a:lvl1pPr>
          </a:lstStyle>
          <a:p>
            <a:pPr>
              <a:defRPr/>
            </a:pPr>
            <a:fld id="{35022E4A-5AB7-4752-8D75-3D61AB98EDD4}"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fld id="{3A53B80C-32C5-4B03-8EBC-7FF3AA834091}" type="datetimeFigureOut">
              <a:rPr lang="en-US"/>
              <a:pPr>
                <a:defRPr/>
              </a:pPr>
              <a:t>8/21/2017</a:t>
            </a:fld>
            <a:endParaRPr lang="en-US"/>
          </a:p>
        </p:txBody>
      </p:sp>
      <p:sp>
        <p:nvSpPr>
          <p:cNvPr id="8" name="Rectangle 6"/>
          <p:cNvSpPr>
            <a:spLocks noGrp="1" noChangeArrowheads="1"/>
          </p:cNvSpPr>
          <p:nvPr>
            <p:ph type="sldNum" sz="quarter" idx="11"/>
          </p:nvPr>
        </p:nvSpPr>
        <p:spPr>
          <a:ln/>
        </p:spPr>
        <p:txBody>
          <a:bodyPr/>
          <a:lstStyle>
            <a:lvl1pPr>
              <a:defRPr/>
            </a:lvl1pPr>
          </a:lstStyle>
          <a:p>
            <a:pPr>
              <a:defRPr/>
            </a:pPr>
            <a:fld id="{CA34927B-3ED3-433F-B9A5-1C66E0839CCB}"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fld id="{7839BE27-6F3A-4ACB-9D41-3573B417A157}" type="datetimeFigureOut">
              <a:rPr lang="en-US"/>
              <a:pPr>
                <a:defRPr/>
              </a:pPr>
              <a:t>8/21/2017</a:t>
            </a:fld>
            <a:endParaRPr lang="en-US"/>
          </a:p>
        </p:txBody>
      </p:sp>
      <p:sp>
        <p:nvSpPr>
          <p:cNvPr id="4" name="Rectangle 6"/>
          <p:cNvSpPr>
            <a:spLocks noGrp="1" noChangeArrowheads="1"/>
          </p:cNvSpPr>
          <p:nvPr>
            <p:ph type="sldNum" sz="quarter" idx="11"/>
          </p:nvPr>
        </p:nvSpPr>
        <p:spPr>
          <a:ln/>
        </p:spPr>
        <p:txBody>
          <a:bodyPr/>
          <a:lstStyle>
            <a:lvl1pPr>
              <a:defRPr/>
            </a:lvl1pPr>
          </a:lstStyle>
          <a:p>
            <a:pPr>
              <a:defRPr/>
            </a:pPr>
            <a:fld id="{C04D423C-C252-4FA7-8BE9-BF6B9FFF2AAB}"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fld id="{9AE23C07-0716-4197-A06A-48B35CF32714}" type="datetimeFigureOut">
              <a:rPr lang="en-US"/>
              <a:pPr>
                <a:defRPr/>
              </a:pPr>
              <a:t>8/21/2017</a:t>
            </a:fld>
            <a:endParaRPr lang="en-US"/>
          </a:p>
        </p:txBody>
      </p:sp>
      <p:sp>
        <p:nvSpPr>
          <p:cNvPr id="3" name="Rectangle 6"/>
          <p:cNvSpPr>
            <a:spLocks noGrp="1" noChangeArrowheads="1"/>
          </p:cNvSpPr>
          <p:nvPr>
            <p:ph type="sldNum" sz="quarter" idx="11"/>
          </p:nvPr>
        </p:nvSpPr>
        <p:spPr>
          <a:ln/>
        </p:spPr>
        <p:txBody>
          <a:bodyPr/>
          <a:lstStyle>
            <a:lvl1pPr>
              <a:defRPr/>
            </a:lvl1pPr>
          </a:lstStyle>
          <a:p>
            <a:pPr>
              <a:defRPr/>
            </a:pPr>
            <a:fld id="{8C99C370-36D5-4A17-BA31-126E077122A3}"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fld id="{3173592A-20C2-4495-AB5B-A1FBA261C456}" type="datetimeFigureOut">
              <a:rPr lang="en-US"/>
              <a:pPr>
                <a:defRPr/>
              </a:pPr>
              <a:t>8/21/2017</a:t>
            </a:fld>
            <a:endParaRPr lang="en-US"/>
          </a:p>
        </p:txBody>
      </p:sp>
      <p:sp>
        <p:nvSpPr>
          <p:cNvPr id="6" name="Rectangle 6"/>
          <p:cNvSpPr>
            <a:spLocks noGrp="1" noChangeArrowheads="1"/>
          </p:cNvSpPr>
          <p:nvPr>
            <p:ph type="sldNum" sz="quarter" idx="11"/>
          </p:nvPr>
        </p:nvSpPr>
        <p:spPr>
          <a:ln/>
        </p:spPr>
        <p:txBody>
          <a:bodyPr/>
          <a:lstStyle>
            <a:lvl1pPr>
              <a:defRPr/>
            </a:lvl1pPr>
          </a:lstStyle>
          <a:p>
            <a:pPr>
              <a:defRPr/>
            </a:pPr>
            <a:fld id="{9F4C3075-83F1-42A5-B1C0-04BAD22C9708}"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fld id="{C9151800-C107-4F8F-80D8-780733E4B16A}" type="datetimeFigureOut">
              <a:rPr lang="en-US"/>
              <a:pPr>
                <a:defRPr/>
              </a:pPr>
              <a:t>8/21/2017</a:t>
            </a:fld>
            <a:endParaRPr lang="en-US"/>
          </a:p>
        </p:txBody>
      </p:sp>
      <p:sp>
        <p:nvSpPr>
          <p:cNvPr id="6" name="Rectangle 6"/>
          <p:cNvSpPr>
            <a:spLocks noGrp="1" noChangeArrowheads="1"/>
          </p:cNvSpPr>
          <p:nvPr>
            <p:ph type="sldNum" sz="quarter" idx="11"/>
          </p:nvPr>
        </p:nvSpPr>
        <p:spPr>
          <a:ln/>
        </p:spPr>
        <p:txBody>
          <a:bodyPr/>
          <a:lstStyle>
            <a:lvl1pPr>
              <a:defRPr/>
            </a:lvl1pPr>
          </a:lstStyle>
          <a:p>
            <a:pPr>
              <a:defRPr/>
            </a:pPr>
            <a:fld id="{9297408A-50CE-4ADF-A3FA-10003EDB40B1}"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fld id="{4B32EC8F-4D9B-4C30-9D91-C07832E6F42D}" type="datetimeFigureOut">
              <a:rPr lang="en-US"/>
              <a:pPr>
                <a:defRPr/>
              </a:pPr>
              <a:t>8/21/2017</a:t>
            </a:fld>
            <a:endParaRPr lang="en-US"/>
          </a:p>
        </p:txBody>
      </p:sp>
      <p:sp>
        <p:nvSpPr>
          <p:cNvPr id="5" name="Rectangle 6"/>
          <p:cNvSpPr>
            <a:spLocks noGrp="1" noChangeArrowheads="1"/>
          </p:cNvSpPr>
          <p:nvPr>
            <p:ph type="sldNum" sz="quarter" idx="11"/>
          </p:nvPr>
        </p:nvSpPr>
        <p:spPr>
          <a:ln/>
        </p:spPr>
        <p:txBody>
          <a:bodyPr/>
          <a:lstStyle>
            <a:lvl1pPr>
              <a:defRPr/>
            </a:lvl1pPr>
          </a:lstStyle>
          <a:p>
            <a:pPr>
              <a:defRPr/>
            </a:pPr>
            <a:fld id="{E2782757-4412-41C7-874F-E821237B1B65}"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2813"/>
            <a:ext cx="2057400" cy="487838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912813"/>
            <a:ext cx="6019800" cy="487838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fld id="{62E78489-8FA8-495D-816C-1992AD170F36}" type="datetimeFigureOut">
              <a:rPr lang="en-US"/>
              <a:pPr>
                <a:defRPr/>
              </a:pPr>
              <a:t>8/21/2017</a:t>
            </a:fld>
            <a:endParaRPr lang="en-US"/>
          </a:p>
        </p:txBody>
      </p:sp>
      <p:sp>
        <p:nvSpPr>
          <p:cNvPr id="5" name="Rectangle 6"/>
          <p:cNvSpPr>
            <a:spLocks noGrp="1" noChangeArrowheads="1"/>
          </p:cNvSpPr>
          <p:nvPr>
            <p:ph type="sldNum" sz="quarter" idx="11"/>
          </p:nvPr>
        </p:nvSpPr>
        <p:spPr>
          <a:ln/>
        </p:spPr>
        <p:txBody>
          <a:bodyPr/>
          <a:lstStyle>
            <a:lvl1pPr>
              <a:defRPr/>
            </a:lvl1pPr>
          </a:lstStyle>
          <a:p>
            <a:pPr>
              <a:defRPr/>
            </a:pPr>
            <a:fld id="{EC29ED2A-3D1A-4274-8EC8-73B9FD6357F9}" type="slidenum">
              <a:rPr lang="en-US"/>
              <a:pPr>
                <a:defRPr/>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912813"/>
            <a:ext cx="8229600" cy="685800"/>
          </a:xfrm>
        </p:spPr>
        <p:txBody>
          <a:bodyPr/>
          <a:lstStyle/>
          <a:p>
            <a:r>
              <a:rPr lang="en-US"/>
              <a:t>Click to edit Master title style</a:t>
            </a:r>
          </a:p>
        </p:txBody>
      </p:sp>
      <p:sp>
        <p:nvSpPr>
          <p:cNvPr id="3" name="Table Placeholder 2"/>
          <p:cNvSpPr>
            <a:spLocks noGrp="1"/>
          </p:cNvSpPr>
          <p:nvPr>
            <p:ph type="tbl" idx="1"/>
          </p:nvPr>
        </p:nvSpPr>
        <p:spPr>
          <a:xfrm>
            <a:off x="457200" y="1676400"/>
            <a:ext cx="8229600" cy="4114800"/>
          </a:xfrm>
        </p:spPr>
        <p:txBody>
          <a:bodyPr/>
          <a:lstStyle/>
          <a:p>
            <a:pPr lvl="0"/>
            <a:r>
              <a:rPr lang="en-US" noProof="0"/>
              <a:t>Click icon to add table</a:t>
            </a:r>
          </a:p>
        </p:txBody>
      </p:sp>
      <p:sp>
        <p:nvSpPr>
          <p:cNvPr id="4" name="Rectangle 4"/>
          <p:cNvSpPr>
            <a:spLocks noGrp="1" noChangeArrowheads="1"/>
          </p:cNvSpPr>
          <p:nvPr>
            <p:ph type="dt" sz="half" idx="10"/>
          </p:nvPr>
        </p:nvSpPr>
        <p:spPr>
          <a:ln/>
        </p:spPr>
        <p:txBody>
          <a:bodyPr/>
          <a:lstStyle>
            <a:lvl1pPr>
              <a:defRPr/>
            </a:lvl1pPr>
          </a:lstStyle>
          <a:p>
            <a:pPr>
              <a:defRPr/>
            </a:pPr>
            <a:fld id="{5840B722-5AAD-4FFB-998C-5496781BF457}" type="datetimeFigureOut">
              <a:rPr lang="en-US"/>
              <a:pPr>
                <a:defRPr/>
              </a:pPr>
              <a:t>8/21/2017</a:t>
            </a:fld>
            <a:endParaRPr lang="en-US"/>
          </a:p>
        </p:txBody>
      </p:sp>
      <p:sp>
        <p:nvSpPr>
          <p:cNvPr id="5" name="Rectangle 6"/>
          <p:cNvSpPr>
            <a:spLocks noGrp="1" noChangeArrowheads="1"/>
          </p:cNvSpPr>
          <p:nvPr>
            <p:ph type="sldNum" sz="quarter" idx="11"/>
          </p:nvPr>
        </p:nvSpPr>
        <p:spPr>
          <a:ln/>
        </p:spPr>
        <p:txBody>
          <a:bodyPr/>
          <a:lstStyle>
            <a:lvl1pPr>
              <a:defRPr/>
            </a:lvl1pPr>
          </a:lstStyle>
          <a:p>
            <a:pPr>
              <a:defRPr/>
            </a:pPr>
            <a:fld id="{CB8F97B4-1180-41FF-8B25-0DD5A492FAD0}" type="slidenum">
              <a:rPr lang="en-US"/>
              <a:pPr>
                <a:defRPr/>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85800" y="457200"/>
            <a:ext cx="7772400" cy="1143000"/>
          </a:xfrm>
        </p:spPr>
        <p:txBody>
          <a:bodyPr/>
          <a:lstStyle/>
          <a:p>
            <a:r>
              <a:rPr lang="en-US"/>
              <a:t>Click to edit Master title style</a:t>
            </a:r>
          </a:p>
        </p:txBody>
      </p:sp>
      <p:sp>
        <p:nvSpPr>
          <p:cNvPr id="3" name="Text Placeholder 2"/>
          <p:cNvSpPr>
            <a:spLocks noGrp="1"/>
          </p:cNvSpPr>
          <p:nvPr>
            <p:ph type="body" sz="half" idx="1"/>
          </p:nvPr>
        </p:nvSpPr>
        <p:spPr>
          <a:xfrm>
            <a:off x="6858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fld id="{CA066DA8-7D03-4C5B-9905-780926C5FFF3}" type="slidenum">
              <a:rPr lang="en-US" altLang="en-US"/>
              <a:pPr/>
              <a:t>‹#›</a:t>
            </a:fld>
            <a:endParaRPr lang="en-US" altLang="en-US"/>
          </a:p>
        </p:txBody>
      </p:sp>
    </p:spTree>
    <p:extLst>
      <p:ext uri="{BB962C8B-B14F-4D97-AF65-F5344CB8AC3E}">
        <p14:creationId xmlns:p14="http://schemas.microsoft.com/office/powerpoint/2010/main" val="22674295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25"/>
          <p:cNvPicPr>
            <a:picLocks noChangeAspect="1" noChangeArrowheads="1"/>
          </p:cNvPicPr>
          <p:nvPr/>
        </p:nvPicPr>
        <p:blipFill>
          <a:blip r:embed="rId15" cstate="print"/>
          <a:srcRect t="26190" b="52380"/>
          <a:stretch>
            <a:fillRect/>
          </a:stretch>
        </p:blipFill>
        <p:spPr bwMode="gray">
          <a:xfrm>
            <a:off x="0" y="0"/>
            <a:ext cx="9145588" cy="685800"/>
          </a:xfrm>
          <a:prstGeom prst="rect">
            <a:avLst/>
          </a:prstGeom>
          <a:noFill/>
          <a:ln w="9525">
            <a:noFill/>
            <a:miter lim="800000"/>
            <a:headEnd/>
            <a:tailEnd/>
          </a:ln>
        </p:spPr>
      </p:pic>
      <p:sp>
        <p:nvSpPr>
          <p:cNvPr id="1027" name="Rectangle 11"/>
          <p:cNvSpPr>
            <a:spLocks noChangeArrowheads="1"/>
          </p:cNvSpPr>
          <p:nvPr/>
        </p:nvSpPr>
        <p:spPr bwMode="gray">
          <a:xfrm>
            <a:off x="0" y="684213"/>
            <a:ext cx="9144000" cy="109537"/>
          </a:xfrm>
          <a:prstGeom prst="rect">
            <a:avLst/>
          </a:prstGeom>
          <a:solidFill>
            <a:schemeClr val="accent1"/>
          </a:solidFill>
          <a:ln w="9525">
            <a:noFill/>
            <a:miter lim="800000"/>
            <a:headEnd/>
            <a:tailEnd/>
          </a:ln>
        </p:spPr>
        <p:txBody>
          <a:bodyPr wrap="none" anchor="ctr"/>
          <a:lstStyle/>
          <a:p>
            <a:pPr>
              <a:defRPr/>
            </a:pPr>
            <a:endParaRPr lang="en-US"/>
          </a:p>
        </p:txBody>
      </p:sp>
      <p:sp>
        <p:nvSpPr>
          <p:cNvPr id="1028" name="Rectangle 3"/>
          <p:cNvSpPr>
            <a:spLocks noGrp="1" noChangeArrowheads="1"/>
          </p:cNvSpPr>
          <p:nvPr>
            <p:ph type="body" idx="1"/>
          </p:nvPr>
        </p:nvSpPr>
        <p:spPr bwMode="auto">
          <a:xfrm>
            <a:off x="457200" y="1676400"/>
            <a:ext cx="8229600" cy="411480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Rectangle 4"/>
          <p:cNvSpPr>
            <a:spLocks noGrp="1" noChangeArrowheads="1"/>
          </p:cNvSpPr>
          <p:nvPr>
            <p:ph type="dt" sz="half" idx="2"/>
          </p:nvPr>
        </p:nvSpPr>
        <p:spPr bwMode="auto">
          <a:xfrm>
            <a:off x="5257800" y="6426200"/>
            <a:ext cx="1371600" cy="228600"/>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lvl1pPr algn="r" fontAlgn="auto">
              <a:spcBef>
                <a:spcPts val="0"/>
              </a:spcBef>
              <a:spcAft>
                <a:spcPts val="0"/>
              </a:spcAft>
              <a:defRPr sz="800">
                <a:latin typeface="+mn-lt"/>
                <a:cs typeface="+mn-cs"/>
              </a:defRPr>
            </a:lvl1pPr>
          </a:lstStyle>
          <a:p>
            <a:pPr>
              <a:defRPr/>
            </a:pPr>
            <a:fld id="{5AA59C3F-F860-4202-81C1-23CB423B8DEA}" type="datetimeFigureOut">
              <a:rPr lang="en-US"/>
              <a:pPr>
                <a:defRPr/>
              </a:pPr>
              <a:t>8/21/2017</a:t>
            </a:fld>
            <a:endParaRPr lang="en-US"/>
          </a:p>
        </p:txBody>
      </p:sp>
      <p:sp>
        <p:nvSpPr>
          <p:cNvPr id="1030" name="Rectangle 6"/>
          <p:cNvSpPr>
            <a:spLocks noGrp="1" noChangeArrowheads="1"/>
          </p:cNvSpPr>
          <p:nvPr>
            <p:ph type="sldNum" sz="quarter" idx="4"/>
          </p:nvPr>
        </p:nvSpPr>
        <p:spPr bwMode="auto">
          <a:xfrm>
            <a:off x="457200" y="6426200"/>
            <a:ext cx="228600" cy="228600"/>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lvl1pPr algn="l" fontAlgn="auto">
              <a:spcBef>
                <a:spcPts val="0"/>
              </a:spcBef>
              <a:spcAft>
                <a:spcPts val="0"/>
              </a:spcAft>
              <a:defRPr sz="800">
                <a:latin typeface="+mn-lt"/>
                <a:cs typeface="+mn-cs"/>
              </a:defRPr>
            </a:lvl1pPr>
          </a:lstStyle>
          <a:p>
            <a:pPr>
              <a:defRPr/>
            </a:pPr>
            <a:fld id="{48F652E0-6C23-4212-AE51-5D4C5D6EBD03}" type="slidenum">
              <a:rPr lang="en-US"/>
              <a:pPr>
                <a:defRPr/>
              </a:pPr>
              <a:t>‹#›</a:t>
            </a:fld>
            <a:endParaRPr lang="en-US"/>
          </a:p>
        </p:txBody>
      </p:sp>
      <p:sp>
        <p:nvSpPr>
          <p:cNvPr id="1031" name="Rectangle 2"/>
          <p:cNvSpPr>
            <a:spLocks noGrp="1" noChangeArrowheads="1"/>
          </p:cNvSpPr>
          <p:nvPr>
            <p:ph type="title"/>
          </p:nvPr>
        </p:nvSpPr>
        <p:spPr bwMode="gray">
          <a:xfrm>
            <a:off x="457200" y="912813"/>
            <a:ext cx="8229600" cy="685800"/>
          </a:xfrm>
          <a:prstGeom prst="rect">
            <a:avLst/>
          </a:prstGeom>
          <a:noFill/>
          <a:ln w="9525">
            <a:noFill/>
            <a:miter lim="800000"/>
            <a:headEnd/>
            <a:tailEnd/>
          </a:ln>
        </p:spPr>
        <p:txBody>
          <a:bodyPr vert="horz" wrap="square" lIns="0" tIns="0" rIns="0" bIns="0" numCol="1" anchor="ctr" anchorCtr="0" compatLnSpc="1">
            <a:prstTxWarp prst="textNoShape">
              <a:avLst/>
            </a:prstTxWarp>
          </a:bodyPr>
          <a:lstStyle/>
          <a:p>
            <a:pPr lvl="0"/>
            <a:r>
              <a:rPr lang="en-US"/>
              <a:t>Click to edit Master title style</a:t>
            </a:r>
          </a:p>
        </p:txBody>
      </p:sp>
      <p:sp>
        <p:nvSpPr>
          <p:cNvPr id="1032" name="Rectangle 18"/>
          <p:cNvSpPr>
            <a:spLocks noChangeArrowheads="1"/>
          </p:cNvSpPr>
          <p:nvPr/>
        </p:nvSpPr>
        <p:spPr bwMode="gray">
          <a:xfrm>
            <a:off x="0" y="6721475"/>
            <a:ext cx="9144000" cy="136525"/>
          </a:xfrm>
          <a:prstGeom prst="rect">
            <a:avLst/>
          </a:prstGeom>
          <a:solidFill>
            <a:schemeClr val="accent1"/>
          </a:solidFill>
          <a:ln w="9525">
            <a:noFill/>
            <a:miter lim="800000"/>
            <a:headEnd/>
            <a:tailEnd/>
          </a:ln>
        </p:spPr>
        <p:txBody>
          <a:bodyPr wrap="none" anchor="ctr"/>
          <a:lstStyle/>
          <a:p>
            <a:pPr>
              <a:defRPr/>
            </a:pPr>
            <a:endParaRPr lang="en-US"/>
          </a:p>
        </p:txBody>
      </p:sp>
      <p:pic>
        <p:nvPicPr>
          <p:cNvPr id="1033" name="Picture 29" descr="CL_Logo_RGB_PNG"/>
          <p:cNvPicPr preferRelativeResize="0">
            <a:picLocks noChangeAspect="1" noChangeArrowheads="1"/>
          </p:cNvPicPr>
          <p:nvPr/>
        </p:nvPicPr>
        <p:blipFill>
          <a:blip r:embed="rId16" cstate="print"/>
          <a:srcRect/>
          <a:stretch>
            <a:fillRect/>
          </a:stretch>
        </p:blipFill>
        <p:spPr bwMode="auto">
          <a:xfrm>
            <a:off x="7289800" y="6035675"/>
            <a:ext cx="1544638" cy="676275"/>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3945" r:id="rId1"/>
    <p:sldLayoutId id="2147483934" r:id="rId2"/>
    <p:sldLayoutId id="2147483935" r:id="rId3"/>
    <p:sldLayoutId id="2147483936" r:id="rId4"/>
    <p:sldLayoutId id="2147483937" r:id="rId5"/>
    <p:sldLayoutId id="2147483938" r:id="rId6"/>
    <p:sldLayoutId id="2147483939" r:id="rId7"/>
    <p:sldLayoutId id="2147483940" r:id="rId8"/>
    <p:sldLayoutId id="2147483941" r:id="rId9"/>
    <p:sldLayoutId id="2147483942" r:id="rId10"/>
    <p:sldLayoutId id="2147483943" r:id="rId11"/>
    <p:sldLayoutId id="2147483944" r:id="rId12"/>
    <p:sldLayoutId id="2147483946" r:id="rId13"/>
  </p:sldLayoutIdLst>
  <p:txStyles>
    <p:titleStyle>
      <a:lvl1pPr algn="l" rtl="0" eaLnBrk="0" fontAlgn="base" hangingPunct="0">
        <a:lnSpc>
          <a:spcPts val="2400"/>
        </a:lnSpc>
        <a:spcBef>
          <a:spcPct val="0"/>
        </a:spcBef>
        <a:spcAft>
          <a:spcPct val="0"/>
        </a:spcAft>
        <a:defRPr sz="2200">
          <a:solidFill>
            <a:schemeClr val="accent1"/>
          </a:solidFill>
          <a:latin typeface="+mj-lt"/>
          <a:ea typeface="+mj-ea"/>
          <a:cs typeface="+mj-cs"/>
        </a:defRPr>
      </a:lvl1pPr>
      <a:lvl2pPr algn="l" rtl="0" eaLnBrk="0" fontAlgn="base" hangingPunct="0">
        <a:lnSpc>
          <a:spcPts val="2400"/>
        </a:lnSpc>
        <a:spcBef>
          <a:spcPct val="0"/>
        </a:spcBef>
        <a:spcAft>
          <a:spcPct val="0"/>
        </a:spcAft>
        <a:defRPr sz="2200">
          <a:solidFill>
            <a:schemeClr val="accent1"/>
          </a:solidFill>
          <a:latin typeface="Arial" charset="0"/>
        </a:defRPr>
      </a:lvl2pPr>
      <a:lvl3pPr algn="l" rtl="0" eaLnBrk="0" fontAlgn="base" hangingPunct="0">
        <a:lnSpc>
          <a:spcPts val="2400"/>
        </a:lnSpc>
        <a:spcBef>
          <a:spcPct val="0"/>
        </a:spcBef>
        <a:spcAft>
          <a:spcPct val="0"/>
        </a:spcAft>
        <a:defRPr sz="2200">
          <a:solidFill>
            <a:schemeClr val="accent1"/>
          </a:solidFill>
          <a:latin typeface="Arial" charset="0"/>
        </a:defRPr>
      </a:lvl3pPr>
      <a:lvl4pPr algn="l" rtl="0" eaLnBrk="0" fontAlgn="base" hangingPunct="0">
        <a:lnSpc>
          <a:spcPts val="2400"/>
        </a:lnSpc>
        <a:spcBef>
          <a:spcPct val="0"/>
        </a:spcBef>
        <a:spcAft>
          <a:spcPct val="0"/>
        </a:spcAft>
        <a:defRPr sz="2200">
          <a:solidFill>
            <a:schemeClr val="accent1"/>
          </a:solidFill>
          <a:latin typeface="Arial" charset="0"/>
        </a:defRPr>
      </a:lvl4pPr>
      <a:lvl5pPr algn="l" rtl="0" eaLnBrk="0" fontAlgn="base" hangingPunct="0">
        <a:lnSpc>
          <a:spcPts val="2400"/>
        </a:lnSpc>
        <a:spcBef>
          <a:spcPct val="0"/>
        </a:spcBef>
        <a:spcAft>
          <a:spcPct val="0"/>
        </a:spcAft>
        <a:defRPr sz="2200">
          <a:solidFill>
            <a:schemeClr val="accent1"/>
          </a:solidFill>
          <a:latin typeface="Arial" charset="0"/>
        </a:defRPr>
      </a:lvl5pPr>
      <a:lvl6pPr marL="457200" algn="l" rtl="0" eaLnBrk="1" fontAlgn="base" hangingPunct="1">
        <a:lnSpc>
          <a:spcPts val="2400"/>
        </a:lnSpc>
        <a:spcBef>
          <a:spcPct val="0"/>
        </a:spcBef>
        <a:spcAft>
          <a:spcPct val="0"/>
        </a:spcAft>
        <a:defRPr sz="2200">
          <a:solidFill>
            <a:schemeClr val="accent1"/>
          </a:solidFill>
          <a:latin typeface="Arial" charset="0"/>
        </a:defRPr>
      </a:lvl6pPr>
      <a:lvl7pPr marL="914400" algn="l" rtl="0" eaLnBrk="1" fontAlgn="base" hangingPunct="1">
        <a:lnSpc>
          <a:spcPts val="2400"/>
        </a:lnSpc>
        <a:spcBef>
          <a:spcPct val="0"/>
        </a:spcBef>
        <a:spcAft>
          <a:spcPct val="0"/>
        </a:spcAft>
        <a:defRPr sz="2200">
          <a:solidFill>
            <a:schemeClr val="accent1"/>
          </a:solidFill>
          <a:latin typeface="Arial" charset="0"/>
        </a:defRPr>
      </a:lvl7pPr>
      <a:lvl8pPr marL="1371600" algn="l" rtl="0" eaLnBrk="1" fontAlgn="base" hangingPunct="1">
        <a:lnSpc>
          <a:spcPts val="2400"/>
        </a:lnSpc>
        <a:spcBef>
          <a:spcPct val="0"/>
        </a:spcBef>
        <a:spcAft>
          <a:spcPct val="0"/>
        </a:spcAft>
        <a:defRPr sz="2200">
          <a:solidFill>
            <a:schemeClr val="accent1"/>
          </a:solidFill>
          <a:latin typeface="Arial" charset="0"/>
        </a:defRPr>
      </a:lvl8pPr>
      <a:lvl9pPr marL="1828800" algn="l" rtl="0" eaLnBrk="1" fontAlgn="base" hangingPunct="1">
        <a:lnSpc>
          <a:spcPts val="2400"/>
        </a:lnSpc>
        <a:spcBef>
          <a:spcPct val="0"/>
        </a:spcBef>
        <a:spcAft>
          <a:spcPct val="0"/>
        </a:spcAft>
        <a:defRPr sz="2200">
          <a:solidFill>
            <a:schemeClr val="accent1"/>
          </a:solidFill>
          <a:latin typeface="Arial" charset="0"/>
        </a:defRPr>
      </a:lvl9pPr>
    </p:titleStyle>
    <p:bodyStyle>
      <a:lvl1pPr marL="342900" indent="-342900" algn="l" rtl="0" eaLnBrk="0" fontAlgn="base" hangingPunct="0">
        <a:lnSpc>
          <a:spcPts val="2200"/>
        </a:lnSpc>
        <a:spcBef>
          <a:spcPct val="50000"/>
        </a:spcBef>
        <a:spcAft>
          <a:spcPct val="0"/>
        </a:spcAft>
        <a:defRPr>
          <a:solidFill>
            <a:schemeClr val="tx1"/>
          </a:solidFill>
          <a:latin typeface="+mn-lt"/>
          <a:ea typeface="+mn-ea"/>
          <a:cs typeface="+mn-cs"/>
        </a:defRPr>
      </a:lvl1pPr>
      <a:lvl2pPr marL="228600" indent="-227013" algn="l" rtl="0" eaLnBrk="0" fontAlgn="base" hangingPunct="0">
        <a:lnSpc>
          <a:spcPts val="2200"/>
        </a:lnSpc>
        <a:spcBef>
          <a:spcPct val="50000"/>
        </a:spcBef>
        <a:spcAft>
          <a:spcPct val="0"/>
        </a:spcAft>
        <a:buClr>
          <a:schemeClr val="hlink"/>
        </a:buClr>
        <a:buFont typeface="Wingdings" pitchFamily="2" charset="2"/>
        <a:buChar char="§"/>
        <a:defRPr>
          <a:solidFill>
            <a:schemeClr val="tx1"/>
          </a:solidFill>
          <a:latin typeface="+mn-lt"/>
        </a:defRPr>
      </a:lvl2pPr>
      <a:lvl3pPr marL="449263" indent="-219075" algn="l" rtl="0" eaLnBrk="0" fontAlgn="base" hangingPunct="0">
        <a:lnSpc>
          <a:spcPts val="1800"/>
        </a:lnSpc>
        <a:spcBef>
          <a:spcPct val="50000"/>
        </a:spcBef>
        <a:spcAft>
          <a:spcPct val="0"/>
        </a:spcAft>
        <a:buClr>
          <a:schemeClr val="hlink"/>
        </a:buClr>
        <a:buChar char="–"/>
        <a:defRPr sz="1600">
          <a:solidFill>
            <a:schemeClr val="tx1"/>
          </a:solidFill>
          <a:latin typeface="+mn-lt"/>
        </a:defRPr>
      </a:lvl3pPr>
      <a:lvl4pPr marL="682625" indent="-231775" algn="l" rtl="0" eaLnBrk="0" fontAlgn="base" hangingPunct="0">
        <a:lnSpc>
          <a:spcPts val="1800"/>
        </a:lnSpc>
        <a:spcBef>
          <a:spcPct val="50000"/>
        </a:spcBef>
        <a:spcAft>
          <a:spcPct val="0"/>
        </a:spcAft>
        <a:buClr>
          <a:schemeClr val="hlink"/>
        </a:buClr>
        <a:buChar char="–"/>
        <a:defRPr sz="1600">
          <a:solidFill>
            <a:schemeClr val="tx1"/>
          </a:solidFill>
          <a:latin typeface="+mn-lt"/>
        </a:defRPr>
      </a:lvl4pPr>
      <a:lvl5pPr marL="915988" indent="-231775" algn="l" rtl="0" eaLnBrk="0" fontAlgn="base" hangingPunct="0">
        <a:lnSpc>
          <a:spcPts val="1600"/>
        </a:lnSpc>
        <a:spcBef>
          <a:spcPct val="50000"/>
        </a:spcBef>
        <a:spcAft>
          <a:spcPct val="0"/>
        </a:spcAft>
        <a:buClr>
          <a:schemeClr val="hlink"/>
        </a:buClr>
        <a:buChar char="–"/>
        <a:defRPr sz="1400">
          <a:solidFill>
            <a:schemeClr val="tx1"/>
          </a:solidFill>
          <a:latin typeface="+mn-lt"/>
        </a:defRPr>
      </a:lvl5pPr>
      <a:lvl6pPr marL="1373188" indent="-231775" algn="l" rtl="0" eaLnBrk="1" fontAlgn="base" hangingPunct="1">
        <a:lnSpc>
          <a:spcPts val="1600"/>
        </a:lnSpc>
        <a:spcBef>
          <a:spcPct val="50000"/>
        </a:spcBef>
        <a:spcAft>
          <a:spcPct val="0"/>
        </a:spcAft>
        <a:buClr>
          <a:schemeClr val="hlink"/>
        </a:buClr>
        <a:buChar char="–"/>
        <a:defRPr sz="1400">
          <a:solidFill>
            <a:schemeClr val="tx1"/>
          </a:solidFill>
          <a:latin typeface="+mn-lt"/>
        </a:defRPr>
      </a:lvl6pPr>
      <a:lvl7pPr marL="1830388" indent="-231775" algn="l" rtl="0" eaLnBrk="1" fontAlgn="base" hangingPunct="1">
        <a:lnSpc>
          <a:spcPts val="1600"/>
        </a:lnSpc>
        <a:spcBef>
          <a:spcPct val="50000"/>
        </a:spcBef>
        <a:spcAft>
          <a:spcPct val="0"/>
        </a:spcAft>
        <a:buClr>
          <a:schemeClr val="hlink"/>
        </a:buClr>
        <a:buChar char="–"/>
        <a:defRPr sz="1400">
          <a:solidFill>
            <a:schemeClr val="tx1"/>
          </a:solidFill>
          <a:latin typeface="+mn-lt"/>
        </a:defRPr>
      </a:lvl7pPr>
      <a:lvl8pPr marL="2287588" indent="-231775" algn="l" rtl="0" eaLnBrk="1" fontAlgn="base" hangingPunct="1">
        <a:lnSpc>
          <a:spcPts val="1600"/>
        </a:lnSpc>
        <a:spcBef>
          <a:spcPct val="50000"/>
        </a:spcBef>
        <a:spcAft>
          <a:spcPct val="0"/>
        </a:spcAft>
        <a:buClr>
          <a:schemeClr val="hlink"/>
        </a:buClr>
        <a:buChar char="–"/>
        <a:defRPr sz="1400">
          <a:solidFill>
            <a:schemeClr val="tx1"/>
          </a:solidFill>
          <a:latin typeface="+mn-lt"/>
        </a:defRPr>
      </a:lvl8pPr>
      <a:lvl9pPr marL="2744788" indent="-231775" algn="l" rtl="0" eaLnBrk="1" fontAlgn="base" hangingPunct="1">
        <a:lnSpc>
          <a:spcPts val="1600"/>
        </a:lnSpc>
        <a:spcBef>
          <a:spcPct val="50000"/>
        </a:spcBef>
        <a:spcAft>
          <a:spcPct val="0"/>
        </a:spcAft>
        <a:buClr>
          <a:schemeClr val="hlink"/>
        </a:buClr>
        <a:buChar char="–"/>
        <a:defRPr sz="14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1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2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23.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36.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3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ctrTitle"/>
          </p:nvPr>
        </p:nvSpPr>
        <p:spPr>
          <a:xfrm>
            <a:off x="152400" y="1981200"/>
            <a:ext cx="8991600" cy="860425"/>
          </a:xfrm>
        </p:spPr>
        <p:txBody>
          <a:bodyPr/>
          <a:lstStyle/>
          <a:p>
            <a:r>
              <a:rPr lang="en-US" b="1" dirty="0">
                <a:cs typeface="Arial" charset="0"/>
              </a:rPr>
              <a:t>Chapter 9: </a:t>
            </a:r>
            <a:r>
              <a:rPr lang="en-US" b="1" dirty="0"/>
              <a:t>Inside cells</a:t>
            </a:r>
            <a:endParaRPr lang="en-US" b="1" dirty="0">
              <a:cs typeface="Arial" charset="0"/>
            </a:endParaRPr>
          </a:p>
        </p:txBody>
      </p:sp>
      <p:pic>
        <p:nvPicPr>
          <p:cNvPr id="2" name="Picture 1"/>
          <p:cNvPicPr>
            <a:picLocks noChangeAspect="1"/>
          </p:cNvPicPr>
          <p:nvPr/>
        </p:nvPicPr>
        <p:blipFill rotWithShape="1">
          <a:blip r:embed="rId3"/>
          <a:srcRect l="10301" t="19571"/>
          <a:stretch/>
        </p:blipFill>
        <p:spPr>
          <a:xfrm>
            <a:off x="0" y="4114800"/>
            <a:ext cx="5972175" cy="2505075"/>
          </a:xfrm>
          <a:prstGeom prst="rect">
            <a:avLst/>
          </a:prstGeom>
        </p:spPr>
      </p:pic>
    </p:spTree>
  </p:cSld>
  <p:clrMapOvr>
    <a:masterClrMapping/>
  </p:clrMapOvr>
  <p:transition>
    <p:fade/>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bwMode="gray">
          <a:xfrm>
            <a:off x="152400" y="152400"/>
            <a:ext cx="8991600" cy="457200"/>
          </a:xfrm>
          <a:prstGeom prst="rect">
            <a:avLst/>
          </a:prstGeom>
          <a:noFill/>
          <a:ln w="9525">
            <a:noFill/>
            <a:miter lim="800000"/>
            <a:headEnd/>
            <a:tailEnd/>
          </a:ln>
        </p:spPr>
        <p:txBody>
          <a:bodyPr vert="horz" wrap="square" lIns="0" tIns="0" rIns="0" bIns="0" numCol="1" anchor="ctr" anchorCtr="0" compatLnSpc="1">
            <a:prstTxWarp prst="textNoShape">
              <a:avLst/>
            </a:prstTxWarp>
          </a:bodyPr>
          <a:lstStyle/>
          <a:p>
            <a:r>
              <a:rPr lang="en-US" sz="2800" b="1" dirty="0">
                <a:solidFill>
                  <a:schemeClr val="bg1"/>
                </a:solidFill>
              </a:rPr>
              <a:t>Biochemical processes are essential for life</a:t>
            </a:r>
            <a:endParaRPr kumimoji="0" lang="en-US" sz="2800" b="1" i="0" u="none" strike="noStrike" kern="0" cap="none" spc="0" normalizeH="0" baseline="0" noProof="0" dirty="0">
              <a:ln>
                <a:noFill/>
              </a:ln>
              <a:solidFill>
                <a:schemeClr val="bg1"/>
              </a:solidFill>
              <a:effectLst/>
              <a:uLnTx/>
              <a:uFillTx/>
              <a:latin typeface="+mj-lt"/>
              <a:ea typeface="+mj-ea"/>
            </a:endParaRPr>
          </a:p>
        </p:txBody>
      </p:sp>
      <p:sp>
        <p:nvSpPr>
          <p:cNvPr id="8" name="Title 1"/>
          <p:cNvSpPr>
            <a:spLocks noGrp="1"/>
          </p:cNvSpPr>
          <p:nvPr>
            <p:ph type="title"/>
          </p:nvPr>
        </p:nvSpPr>
        <p:spPr>
          <a:xfrm>
            <a:off x="304800" y="914400"/>
            <a:ext cx="8229600" cy="685800"/>
          </a:xfrm>
        </p:spPr>
        <p:txBody>
          <a:bodyPr/>
          <a:lstStyle/>
          <a:p>
            <a:pPr>
              <a:lnSpc>
                <a:spcPct val="100000"/>
              </a:lnSpc>
            </a:pPr>
            <a:r>
              <a:rPr lang="en-US" sz="3600" b="1" dirty="0">
                <a:solidFill>
                  <a:schemeClr val="tx1"/>
                </a:solidFill>
                <a:latin typeface="+mn-lt"/>
              </a:rPr>
              <a:t>Introduction</a:t>
            </a:r>
            <a:endParaRPr lang="en-AU" sz="2000" b="1" dirty="0">
              <a:solidFill>
                <a:schemeClr val="tx1"/>
              </a:solidFill>
              <a:latin typeface="+mn-lt"/>
            </a:endParaRPr>
          </a:p>
        </p:txBody>
      </p:sp>
      <p:sp>
        <p:nvSpPr>
          <p:cNvPr id="6" name="Rectangle 5"/>
          <p:cNvSpPr/>
          <p:nvPr/>
        </p:nvSpPr>
        <p:spPr>
          <a:xfrm>
            <a:off x="304800" y="1785878"/>
            <a:ext cx="8229600" cy="3970318"/>
          </a:xfrm>
          <a:prstGeom prst="rect">
            <a:avLst/>
          </a:prstGeom>
        </p:spPr>
        <p:txBody>
          <a:bodyPr wrap="square">
            <a:spAutoFit/>
          </a:bodyPr>
          <a:lstStyle/>
          <a:p>
            <a:pPr marL="457200" indent="-457200">
              <a:buFont typeface="Arial" panose="020B0604020202020204" pitchFamily="34" charset="0"/>
              <a:buChar char="•"/>
            </a:pPr>
            <a:r>
              <a:rPr lang="en-US" sz="2800" dirty="0"/>
              <a:t>Every living cell of every part of an organism needs matter and energy to keep it alive.</a:t>
            </a:r>
          </a:p>
          <a:p>
            <a:pPr marL="457200" indent="-457200">
              <a:buFont typeface="Arial" panose="020B0604020202020204" pitchFamily="34" charset="0"/>
              <a:buChar char="•"/>
            </a:pPr>
            <a:r>
              <a:rPr lang="en-US" sz="2800" dirty="0"/>
              <a:t>Unicellular organisms take in materials (inputs) from their external environment. </a:t>
            </a:r>
          </a:p>
          <a:p>
            <a:pPr marL="457200" indent="-457200">
              <a:buFont typeface="Arial" panose="020B0604020202020204" pitchFamily="34" charset="0"/>
              <a:buChar char="•"/>
            </a:pPr>
            <a:r>
              <a:rPr lang="en-US" sz="2800" dirty="0"/>
              <a:t>They use these materials inside their single cell. </a:t>
            </a:r>
          </a:p>
          <a:p>
            <a:pPr marL="457200" indent="-457200">
              <a:buFont typeface="Arial" panose="020B0604020202020204" pitchFamily="34" charset="0"/>
              <a:buChar char="•"/>
            </a:pPr>
            <a:r>
              <a:rPr lang="en-US" sz="2800" dirty="0"/>
              <a:t>Outputs or products of these activities are </a:t>
            </a:r>
            <a:r>
              <a:rPr lang="en-US" sz="2800" dirty="0" err="1"/>
              <a:t>biomolecules</a:t>
            </a:r>
            <a:r>
              <a:rPr lang="en-US" sz="2800" dirty="0"/>
              <a:t> and inorganic wastes.</a:t>
            </a:r>
          </a:p>
          <a:p>
            <a:pPr marL="457200" indent="-457200">
              <a:buFont typeface="Arial" panose="020B0604020202020204" pitchFamily="34" charset="0"/>
              <a:buChar char="•"/>
            </a:pPr>
            <a:r>
              <a:rPr lang="en-US" sz="2800" dirty="0"/>
              <a:t>The </a:t>
            </a:r>
            <a:r>
              <a:rPr lang="en-US" sz="2800" dirty="0" err="1"/>
              <a:t>biomolecules</a:t>
            </a:r>
            <a:r>
              <a:rPr lang="en-US" sz="2800" dirty="0"/>
              <a:t> form the structures that carry out tasks.</a:t>
            </a:r>
          </a:p>
        </p:txBody>
      </p:sp>
    </p:spTree>
  </p:cSld>
  <p:clrMapOvr>
    <a:masterClrMapping/>
  </p:clrMapOvr>
  <p:transition>
    <p:fad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bwMode="gray">
          <a:xfrm>
            <a:off x="152400" y="152400"/>
            <a:ext cx="8991600" cy="457200"/>
          </a:xfrm>
          <a:prstGeom prst="rect">
            <a:avLst/>
          </a:prstGeom>
          <a:noFill/>
          <a:ln w="9525">
            <a:noFill/>
            <a:miter lim="800000"/>
            <a:headEnd/>
            <a:tailEnd/>
          </a:ln>
        </p:spPr>
        <p:txBody>
          <a:bodyPr vert="horz" wrap="square" lIns="0" tIns="0" rIns="0" bIns="0" numCol="1" anchor="ctr" anchorCtr="0" compatLnSpc="1">
            <a:prstTxWarp prst="textNoShape">
              <a:avLst/>
            </a:prstTxWarp>
          </a:bodyPr>
          <a:lstStyle/>
          <a:p>
            <a:r>
              <a:rPr lang="en-US" sz="2800" b="1" dirty="0">
                <a:solidFill>
                  <a:schemeClr val="bg1"/>
                </a:solidFill>
              </a:rPr>
              <a:t>Biochemical processes are essential for life</a:t>
            </a:r>
            <a:endParaRPr lang="en-US" sz="2800" b="1" kern="0" dirty="0">
              <a:solidFill>
                <a:schemeClr val="bg1"/>
              </a:solidFill>
            </a:endParaRPr>
          </a:p>
        </p:txBody>
      </p:sp>
      <p:sp>
        <p:nvSpPr>
          <p:cNvPr id="8" name="Title 1"/>
          <p:cNvSpPr>
            <a:spLocks noGrp="1"/>
          </p:cNvSpPr>
          <p:nvPr>
            <p:ph type="title"/>
          </p:nvPr>
        </p:nvSpPr>
        <p:spPr>
          <a:xfrm>
            <a:off x="457200" y="1219200"/>
            <a:ext cx="8458200" cy="685800"/>
          </a:xfrm>
        </p:spPr>
        <p:txBody>
          <a:bodyPr/>
          <a:lstStyle/>
          <a:p>
            <a:pPr>
              <a:lnSpc>
                <a:spcPct val="100000"/>
              </a:lnSpc>
            </a:pPr>
            <a:r>
              <a:rPr lang="en-US" sz="3200" b="1" dirty="0">
                <a:solidFill>
                  <a:schemeClr val="tx1"/>
                </a:solidFill>
              </a:rPr>
              <a:t>Internal cellular membranes control biochemical processes</a:t>
            </a:r>
            <a:endParaRPr lang="en-AU" sz="3200" b="1" dirty="0">
              <a:solidFill>
                <a:schemeClr val="tx1"/>
              </a:solidFill>
            </a:endParaRPr>
          </a:p>
        </p:txBody>
      </p:sp>
      <p:sp>
        <p:nvSpPr>
          <p:cNvPr id="5" name="TextBox 4"/>
          <p:cNvSpPr txBox="1"/>
          <p:nvPr/>
        </p:nvSpPr>
        <p:spPr>
          <a:xfrm>
            <a:off x="838200" y="2286000"/>
            <a:ext cx="7467600" cy="3139321"/>
          </a:xfrm>
          <a:prstGeom prst="rect">
            <a:avLst/>
          </a:prstGeom>
          <a:noFill/>
        </p:spPr>
        <p:txBody>
          <a:bodyPr wrap="square" rtlCol="0">
            <a:spAutoFit/>
          </a:bodyPr>
          <a:lstStyle/>
          <a:p>
            <a:pPr marL="285750" indent="-285750">
              <a:buFont typeface="Arial" panose="020B0604020202020204" pitchFamily="34" charset="0"/>
              <a:buChar char="•"/>
            </a:pPr>
            <a:r>
              <a:rPr lang="en-AU" dirty="0"/>
              <a:t>Compartmentalising a cell by having membrane-bound organelles creates specialised environments for specific functions. </a:t>
            </a:r>
          </a:p>
          <a:p>
            <a:pPr marL="285750" indent="-285750">
              <a:buFont typeface="Arial" panose="020B0604020202020204" pitchFamily="34" charset="0"/>
              <a:buChar char="•"/>
            </a:pPr>
            <a:endParaRPr lang="en-AU" dirty="0"/>
          </a:p>
          <a:p>
            <a:pPr marL="285750" indent="-285750">
              <a:buFont typeface="Arial" panose="020B0604020202020204" pitchFamily="34" charset="0"/>
              <a:buChar char="•"/>
            </a:pPr>
            <a:r>
              <a:rPr lang="en-AU" dirty="0"/>
              <a:t>A large number of activities can occur at the same time in a very limited space and under different conditions. </a:t>
            </a:r>
          </a:p>
          <a:p>
            <a:pPr marL="285750" indent="-285750">
              <a:buFont typeface="Arial" panose="020B0604020202020204" pitchFamily="34" charset="0"/>
              <a:buChar char="•"/>
            </a:pPr>
            <a:endParaRPr lang="en-AU" dirty="0"/>
          </a:p>
          <a:p>
            <a:pPr marL="285750" indent="-285750">
              <a:buFont typeface="Arial" panose="020B0604020202020204" pitchFamily="34" charset="0"/>
              <a:buChar char="•"/>
            </a:pPr>
            <a:r>
              <a:rPr lang="en-AU" dirty="0"/>
              <a:t>For example, chemical reactions in lysosomes break down compounds brought into the cell by using strong digestive enzymes in an acidic environment.</a:t>
            </a:r>
          </a:p>
          <a:p>
            <a:pPr marL="285750" indent="-285750">
              <a:buFont typeface="Arial" panose="020B0604020202020204" pitchFamily="34" charset="0"/>
              <a:buChar char="•"/>
            </a:pPr>
            <a:endParaRPr lang="en-AU" dirty="0"/>
          </a:p>
          <a:p>
            <a:pPr marL="285750" indent="-285750">
              <a:buFont typeface="Arial" panose="020B0604020202020204" pitchFamily="34" charset="0"/>
              <a:buChar char="•"/>
            </a:pPr>
            <a:r>
              <a:rPr lang="en-AU" dirty="0"/>
              <a:t> Enclosing them in a membrane prevents them destroying the cell.</a:t>
            </a:r>
          </a:p>
        </p:txBody>
      </p:sp>
    </p:spTree>
  </p:cSld>
  <p:clrMapOvr>
    <a:masterClrMapping/>
  </p:clrMapOvr>
  <p:transition>
    <p:fade/>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bwMode="gray">
          <a:xfrm>
            <a:off x="152400" y="152400"/>
            <a:ext cx="8991600" cy="457200"/>
          </a:xfrm>
          <a:prstGeom prst="rect">
            <a:avLst/>
          </a:prstGeom>
          <a:noFill/>
          <a:ln w="9525">
            <a:noFill/>
            <a:miter lim="800000"/>
            <a:headEnd/>
            <a:tailEnd/>
          </a:ln>
        </p:spPr>
        <p:txBody>
          <a:bodyPr vert="horz" wrap="square" lIns="0" tIns="0" rIns="0" bIns="0" numCol="1" anchor="ctr" anchorCtr="0" compatLnSpc="1">
            <a:prstTxWarp prst="textNoShape">
              <a:avLst/>
            </a:prstTxWarp>
          </a:bodyPr>
          <a:lstStyle/>
          <a:p>
            <a:r>
              <a:rPr lang="en-US" sz="2800" b="1" dirty="0">
                <a:solidFill>
                  <a:schemeClr val="bg1"/>
                </a:solidFill>
              </a:rPr>
              <a:t>Biochemical processes are essential for life</a:t>
            </a:r>
            <a:endParaRPr lang="en-US" sz="2800" b="1" kern="0" dirty="0">
              <a:solidFill>
                <a:schemeClr val="bg1"/>
              </a:solidFill>
            </a:endParaRPr>
          </a:p>
        </p:txBody>
      </p:sp>
      <p:sp>
        <p:nvSpPr>
          <p:cNvPr id="8" name="Title 1"/>
          <p:cNvSpPr>
            <a:spLocks noGrp="1"/>
          </p:cNvSpPr>
          <p:nvPr>
            <p:ph type="title"/>
          </p:nvPr>
        </p:nvSpPr>
        <p:spPr>
          <a:xfrm>
            <a:off x="533400" y="1083439"/>
            <a:ext cx="8229600" cy="685800"/>
          </a:xfrm>
        </p:spPr>
        <p:txBody>
          <a:bodyPr/>
          <a:lstStyle/>
          <a:p>
            <a:pPr>
              <a:lnSpc>
                <a:spcPct val="100000"/>
              </a:lnSpc>
            </a:pPr>
            <a:r>
              <a:rPr lang="en-US" sz="3600" b="1" dirty="0">
                <a:solidFill>
                  <a:schemeClr val="tx1"/>
                </a:solidFill>
              </a:rPr>
              <a:t>Specific enzymes control biochemical pathways</a:t>
            </a:r>
            <a:endParaRPr lang="en-AU" sz="3600" b="1" dirty="0">
              <a:solidFill>
                <a:schemeClr val="tx1"/>
              </a:solidFill>
            </a:endParaRPr>
          </a:p>
        </p:txBody>
      </p:sp>
      <p:sp>
        <p:nvSpPr>
          <p:cNvPr id="10" name="Rectangle 9"/>
          <p:cNvSpPr/>
          <p:nvPr/>
        </p:nvSpPr>
        <p:spPr>
          <a:xfrm>
            <a:off x="685800" y="2243078"/>
            <a:ext cx="7848600" cy="3785652"/>
          </a:xfrm>
          <a:prstGeom prst="rect">
            <a:avLst/>
          </a:prstGeom>
        </p:spPr>
        <p:txBody>
          <a:bodyPr wrap="square">
            <a:spAutoFit/>
          </a:bodyPr>
          <a:lstStyle/>
          <a:p>
            <a:pPr marL="342900" indent="-342900">
              <a:buFont typeface="Arial" panose="020B0604020202020204" pitchFamily="34" charset="0"/>
              <a:buChar char="•"/>
            </a:pPr>
            <a:r>
              <a:rPr lang="en-US" sz="2400" dirty="0"/>
              <a:t>Thousands of chemical reactions that occur constantly in each living cell is called </a:t>
            </a:r>
            <a:r>
              <a:rPr lang="en-US" sz="2400" b="1" dirty="0"/>
              <a:t>cellular metabolism. </a:t>
            </a:r>
          </a:p>
          <a:p>
            <a:pPr marL="342900" indent="-342900">
              <a:buFont typeface="Arial" panose="020B0604020202020204" pitchFamily="34" charset="0"/>
              <a:buChar char="•"/>
            </a:pPr>
            <a:r>
              <a:rPr lang="en-US" sz="2400" dirty="0"/>
              <a:t>Rate varies among organisms. </a:t>
            </a:r>
          </a:p>
          <a:p>
            <a:pPr marL="342900" indent="-342900">
              <a:buFont typeface="Arial" panose="020B0604020202020204" pitchFamily="34" charset="0"/>
              <a:buChar char="•"/>
            </a:pPr>
            <a:r>
              <a:rPr lang="en-US" sz="2400" dirty="0"/>
              <a:t>Metabolic reactions are controlled and regulated to: </a:t>
            </a:r>
          </a:p>
          <a:p>
            <a:pPr marL="800100" lvl="1" indent="-342900">
              <a:buFont typeface="Arial" panose="020B0604020202020204" pitchFamily="34" charset="0"/>
              <a:buChar char="•"/>
            </a:pPr>
            <a:r>
              <a:rPr lang="en-US" sz="2400" dirty="0"/>
              <a:t>maintain cell functions </a:t>
            </a:r>
          </a:p>
          <a:p>
            <a:pPr marL="800100" lvl="1" indent="-342900">
              <a:buFont typeface="Arial" panose="020B0604020202020204" pitchFamily="34" charset="0"/>
              <a:buChar char="•"/>
            </a:pPr>
            <a:r>
              <a:rPr lang="en-US" sz="2400" dirty="0"/>
              <a:t>meet the energy needs of the cell. </a:t>
            </a:r>
          </a:p>
          <a:p>
            <a:endParaRPr lang="en-US" sz="2400" dirty="0"/>
          </a:p>
          <a:p>
            <a:r>
              <a:rPr lang="en-US" sz="2400" dirty="0"/>
              <a:t>What is it that controls the type and duration of these reactions? </a:t>
            </a:r>
          </a:p>
        </p:txBody>
      </p:sp>
    </p:spTree>
  </p:cSld>
  <p:clrMapOvr>
    <a:masterClrMapping/>
  </p:clrMapOvr>
  <p:transition>
    <p:fade/>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bwMode="gray">
          <a:xfrm>
            <a:off x="152400" y="152400"/>
            <a:ext cx="8991600" cy="457200"/>
          </a:xfrm>
          <a:prstGeom prst="rect">
            <a:avLst/>
          </a:prstGeom>
          <a:noFill/>
          <a:ln w="9525">
            <a:noFill/>
            <a:miter lim="800000"/>
            <a:headEnd/>
            <a:tailEnd/>
          </a:ln>
        </p:spPr>
        <p:txBody>
          <a:bodyPr vert="horz" wrap="square" lIns="0" tIns="0" rIns="0" bIns="0" numCol="1" anchor="ctr" anchorCtr="0" compatLnSpc="1">
            <a:prstTxWarp prst="textNoShape">
              <a:avLst/>
            </a:prstTxWarp>
          </a:bodyPr>
          <a:lstStyle/>
          <a:p>
            <a:r>
              <a:rPr lang="en-US" sz="2800" b="1" dirty="0">
                <a:solidFill>
                  <a:schemeClr val="bg1"/>
                </a:solidFill>
              </a:rPr>
              <a:t>Biochemical processes are essential for life</a:t>
            </a:r>
            <a:endParaRPr lang="en-US" sz="2800" b="1" kern="0" dirty="0">
              <a:solidFill>
                <a:schemeClr val="bg1"/>
              </a:solidFill>
            </a:endParaRPr>
          </a:p>
        </p:txBody>
      </p:sp>
      <p:sp>
        <p:nvSpPr>
          <p:cNvPr id="8" name="Title 1"/>
          <p:cNvSpPr>
            <a:spLocks noGrp="1"/>
          </p:cNvSpPr>
          <p:nvPr>
            <p:ph type="title"/>
          </p:nvPr>
        </p:nvSpPr>
        <p:spPr>
          <a:xfrm>
            <a:off x="533400" y="1083439"/>
            <a:ext cx="8229600" cy="685800"/>
          </a:xfrm>
        </p:spPr>
        <p:txBody>
          <a:bodyPr/>
          <a:lstStyle/>
          <a:p>
            <a:pPr>
              <a:lnSpc>
                <a:spcPct val="100000"/>
              </a:lnSpc>
            </a:pPr>
            <a:r>
              <a:rPr lang="en-US" sz="3600" b="1" dirty="0">
                <a:solidFill>
                  <a:schemeClr val="tx1"/>
                </a:solidFill>
              </a:rPr>
              <a:t>Specific enzymes control biochemical pathways</a:t>
            </a:r>
            <a:endParaRPr lang="en-AU" sz="3600" b="1" dirty="0">
              <a:solidFill>
                <a:schemeClr val="tx1"/>
              </a:solidFill>
            </a:endParaRPr>
          </a:p>
        </p:txBody>
      </p:sp>
      <p:sp>
        <p:nvSpPr>
          <p:cNvPr id="10" name="Rectangle 9"/>
          <p:cNvSpPr/>
          <p:nvPr/>
        </p:nvSpPr>
        <p:spPr>
          <a:xfrm>
            <a:off x="228600" y="2243470"/>
            <a:ext cx="8534400" cy="2677656"/>
          </a:xfrm>
          <a:prstGeom prst="rect">
            <a:avLst/>
          </a:prstGeom>
        </p:spPr>
        <p:txBody>
          <a:bodyPr wrap="square">
            <a:spAutoFit/>
          </a:bodyPr>
          <a:lstStyle/>
          <a:p>
            <a:pPr marL="457200" indent="-457200">
              <a:buFont typeface="Arial" panose="020B0604020202020204" pitchFamily="34" charset="0"/>
              <a:buChar char="•"/>
            </a:pPr>
            <a:r>
              <a:rPr lang="en-US" sz="2800" b="1" dirty="0"/>
              <a:t>Intracellular enzymes </a:t>
            </a:r>
            <a:r>
              <a:rPr lang="en-US" sz="2800" dirty="0"/>
              <a:t> occur inside cells.</a:t>
            </a:r>
          </a:p>
          <a:p>
            <a:r>
              <a:rPr lang="en-US" sz="2800" dirty="0"/>
              <a:t>    They speed up and control metabolic reactions.</a:t>
            </a:r>
          </a:p>
          <a:p>
            <a:pPr marL="457200" indent="-457200">
              <a:buFont typeface="Arial" panose="020B0604020202020204" pitchFamily="34" charset="0"/>
              <a:buChar char="•"/>
            </a:pPr>
            <a:endParaRPr lang="en-US" sz="2800" dirty="0"/>
          </a:p>
          <a:p>
            <a:pPr marL="457200" indent="-457200">
              <a:buFont typeface="Arial" panose="020B0604020202020204" pitchFamily="34" charset="0"/>
              <a:buChar char="•"/>
            </a:pPr>
            <a:r>
              <a:rPr lang="en-US" sz="2800" b="1" dirty="0"/>
              <a:t>Extracellular enzymes </a:t>
            </a:r>
            <a:r>
              <a:rPr lang="en-US" sz="2800" dirty="0"/>
              <a:t>are produced by cells. They work outside the cell, e.g. digestive enzymes break down food in the small intestines.</a:t>
            </a:r>
          </a:p>
        </p:txBody>
      </p:sp>
    </p:spTree>
  </p:cSld>
  <p:clrMapOvr>
    <a:masterClrMapping/>
  </p:clrMapOvr>
  <p:transition>
    <p:fade/>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3"/>
          <a:srcRect t="4780"/>
          <a:stretch/>
        </p:blipFill>
        <p:spPr>
          <a:xfrm>
            <a:off x="1295400" y="1905000"/>
            <a:ext cx="6477000" cy="4552950"/>
          </a:xfrm>
          <a:prstGeom prst="rect">
            <a:avLst/>
          </a:prstGeom>
        </p:spPr>
      </p:pic>
      <p:sp>
        <p:nvSpPr>
          <p:cNvPr id="7" name="Title 1"/>
          <p:cNvSpPr txBox="1">
            <a:spLocks/>
          </p:cNvSpPr>
          <p:nvPr/>
        </p:nvSpPr>
        <p:spPr bwMode="gray">
          <a:xfrm>
            <a:off x="152400" y="152400"/>
            <a:ext cx="8991600" cy="457200"/>
          </a:xfrm>
          <a:prstGeom prst="rect">
            <a:avLst/>
          </a:prstGeom>
          <a:noFill/>
          <a:ln w="9525">
            <a:noFill/>
            <a:miter lim="800000"/>
            <a:headEnd/>
            <a:tailEnd/>
          </a:ln>
        </p:spPr>
        <p:txBody>
          <a:bodyPr vert="horz" wrap="square" lIns="0" tIns="0" rIns="0" bIns="0" numCol="1" anchor="ctr" anchorCtr="0" compatLnSpc="1">
            <a:prstTxWarp prst="textNoShape">
              <a:avLst/>
            </a:prstTxWarp>
          </a:bodyPr>
          <a:lstStyle/>
          <a:p>
            <a:r>
              <a:rPr lang="en-US" sz="2800" b="1" dirty="0">
                <a:solidFill>
                  <a:schemeClr val="bg1"/>
                </a:solidFill>
              </a:rPr>
              <a:t>Biochemical processes are essential for life</a:t>
            </a:r>
            <a:endParaRPr lang="en-US" sz="2800" b="1" kern="0" dirty="0">
              <a:solidFill>
                <a:schemeClr val="bg1"/>
              </a:solidFill>
            </a:endParaRPr>
          </a:p>
        </p:txBody>
      </p:sp>
      <p:sp>
        <p:nvSpPr>
          <p:cNvPr id="8" name="Title 1"/>
          <p:cNvSpPr>
            <a:spLocks noGrp="1"/>
          </p:cNvSpPr>
          <p:nvPr>
            <p:ph type="title"/>
          </p:nvPr>
        </p:nvSpPr>
        <p:spPr>
          <a:xfrm>
            <a:off x="381000" y="1065196"/>
            <a:ext cx="7924800" cy="685800"/>
          </a:xfrm>
        </p:spPr>
        <p:txBody>
          <a:bodyPr/>
          <a:lstStyle/>
          <a:p>
            <a:pPr>
              <a:lnSpc>
                <a:spcPct val="100000"/>
              </a:lnSpc>
            </a:pPr>
            <a:r>
              <a:rPr lang="en-US" sz="3600" b="1" dirty="0">
                <a:solidFill>
                  <a:schemeClr val="tx1"/>
                </a:solidFill>
              </a:rPr>
              <a:t>Biochemical processes involve energy inputs and outputs</a:t>
            </a:r>
            <a:endParaRPr lang="en-AU" sz="3600" b="1" dirty="0">
              <a:solidFill>
                <a:schemeClr val="tx1"/>
              </a:solidFill>
            </a:endParaRPr>
          </a:p>
        </p:txBody>
      </p:sp>
      <p:pic>
        <p:nvPicPr>
          <p:cNvPr id="4" name="Picture 3"/>
          <p:cNvPicPr>
            <a:picLocks noChangeAspect="1"/>
          </p:cNvPicPr>
          <p:nvPr/>
        </p:nvPicPr>
        <p:blipFill rotWithShape="1">
          <a:blip r:embed="rId4"/>
          <a:srcRect l="15074"/>
          <a:stretch/>
        </p:blipFill>
        <p:spPr>
          <a:xfrm>
            <a:off x="152400" y="4533900"/>
            <a:ext cx="1974820" cy="2076450"/>
          </a:xfrm>
          <a:prstGeom prst="rect">
            <a:avLst/>
          </a:prstGeom>
        </p:spPr>
      </p:pic>
    </p:spTree>
  </p:cSld>
  <p:clrMapOvr>
    <a:masterClrMapping/>
  </p:clrMapOvr>
  <p:transition>
    <p:fade/>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bwMode="gray">
          <a:xfrm>
            <a:off x="152400" y="152400"/>
            <a:ext cx="8991600" cy="457200"/>
          </a:xfrm>
          <a:prstGeom prst="rect">
            <a:avLst/>
          </a:prstGeom>
          <a:noFill/>
          <a:ln w="9525">
            <a:noFill/>
            <a:miter lim="800000"/>
            <a:headEnd/>
            <a:tailEnd/>
          </a:ln>
        </p:spPr>
        <p:txBody>
          <a:bodyPr vert="horz" wrap="square" lIns="0" tIns="0" rIns="0" bIns="0" numCol="1" anchor="ctr" anchorCtr="0" compatLnSpc="1">
            <a:prstTxWarp prst="textNoShape">
              <a:avLst/>
            </a:prstTxWarp>
          </a:bodyPr>
          <a:lstStyle/>
          <a:p>
            <a:r>
              <a:rPr lang="en-US" sz="2800" b="1" dirty="0">
                <a:solidFill>
                  <a:schemeClr val="bg1"/>
                </a:solidFill>
              </a:rPr>
              <a:t>Biochemical processes are essential for life</a:t>
            </a:r>
            <a:endParaRPr lang="en-US" sz="2800" b="1" kern="0" dirty="0">
              <a:solidFill>
                <a:schemeClr val="bg1"/>
              </a:solidFill>
            </a:endParaRPr>
          </a:p>
        </p:txBody>
      </p:sp>
      <p:sp>
        <p:nvSpPr>
          <p:cNvPr id="8" name="Title 1"/>
          <p:cNvSpPr>
            <a:spLocks noGrp="1"/>
          </p:cNvSpPr>
          <p:nvPr>
            <p:ph type="title"/>
          </p:nvPr>
        </p:nvSpPr>
        <p:spPr>
          <a:xfrm>
            <a:off x="533400" y="1039528"/>
            <a:ext cx="7693336" cy="685800"/>
          </a:xfrm>
        </p:spPr>
        <p:txBody>
          <a:bodyPr/>
          <a:lstStyle/>
          <a:p>
            <a:pPr>
              <a:lnSpc>
                <a:spcPct val="100000"/>
              </a:lnSpc>
            </a:pPr>
            <a:r>
              <a:rPr lang="en-US" sz="3600" b="1" dirty="0">
                <a:solidFill>
                  <a:schemeClr val="tx1"/>
                </a:solidFill>
              </a:rPr>
              <a:t>Biochemical processes involve energy inputs and outputs</a:t>
            </a:r>
            <a:endParaRPr lang="en-AU" sz="3600" b="1" dirty="0">
              <a:solidFill>
                <a:schemeClr val="tx1"/>
              </a:solidFill>
            </a:endParaRPr>
          </a:p>
        </p:txBody>
      </p:sp>
      <p:pic>
        <p:nvPicPr>
          <p:cNvPr id="2" name="Picture 1"/>
          <p:cNvPicPr>
            <a:picLocks noChangeAspect="1"/>
          </p:cNvPicPr>
          <p:nvPr/>
        </p:nvPicPr>
        <p:blipFill>
          <a:blip r:embed="rId3"/>
          <a:stretch>
            <a:fillRect/>
          </a:stretch>
        </p:blipFill>
        <p:spPr>
          <a:xfrm>
            <a:off x="2389357" y="2563528"/>
            <a:ext cx="6736997" cy="4112193"/>
          </a:xfrm>
          <a:prstGeom prst="rect">
            <a:avLst/>
          </a:prstGeom>
        </p:spPr>
      </p:pic>
      <p:pic>
        <p:nvPicPr>
          <p:cNvPr id="3" name="Picture 2"/>
          <p:cNvPicPr>
            <a:picLocks noChangeAspect="1"/>
          </p:cNvPicPr>
          <p:nvPr/>
        </p:nvPicPr>
        <p:blipFill rotWithShape="1">
          <a:blip r:embed="rId4"/>
          <a:srcRect l="18286" t="11228" r="2286"/>
          <a:stretch/>
        </p:blipFill>
        <p:spPr>
          <a:xfrm>
            <a:off x="0" y="2971800"/>
            <a:ext cx="2145572" cy="1952625"/>
          </a:xfrm>
          <a:prstGeom prst="rect">
            <a:avLst/>
          </a:prstGeom>
        </p:spPr>
      </p:pic>
    </p:spTree>
  </p:cSld>
  <p:clrMapOvr>
    <a:masterClrMapping/>
  </p:clrMapOvr>
  <p:transition>
    <p:fade/>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bwMode="gray">
          <a:xfrm>
            <a:off x="152400" y="152400"/>
            <a:ext cx="8991600" cy="457200"/>
          </a:xfrm>
          <a:prstGeom prst="rect">
            <a:avLst/>
          </a:prstGeom>
          <a:noFill/>
          <a:ln w="9525">
            <a:noFill/>
            <a:miter lim="800000"/>
            <a:headEnd/>
            <a:tailEnd/>
          </a:ln>
        </p:spPr>
        <p:txBody>
          <a:bodyPr vert="horz" wrap="square" lIns="0" tIns="0" rIns="0" bIns="0" numCol="1" anchor="ctr" anchorCtr="0" compatLnSpc="1">
            <a:prstTxWarp prst="textNoShape">
              <a:avLst/>
            </a:prstTxWarp>
          </a:bodyPr>
          <a:lstStyle/>
          <a:p>
            <a:r>
              <a:rPr lang="en-US" sz="2800" b="1" dirty="0">
                <a:solidFill>
                  <a:schemeClr val="bg1"/>
                </a:solidFill>
              </a:rPr>
              <a:t>Biochemical processes are essential for life</a:t>
            </a:r>
            <a:endParaRPr lang="en-US" sz="2800" b="1" kern="0" dirty="0">
              <a:solidFill>
                <a:schemeClr val="bg1"/>
              </a:solidFill>
            </a:endParaRPr>
          </a:p>
        </p:txBody>
      </p:sp>
      <p:sp>
        <p:nvSpPr>
          <p:cNvPr id="8" name="Title 1"/>
          <p:cNvSpPr>
            <a:spLocks noGrp="1"/>
          </p:cNvSpPr>
          <p:nvPr>
            <p:ph type="title"/>
          </p:nvPr>
        </p:nvSpPr>
        <p:spPr>
          <a:xfrm>
            <a:off x="381000" y="1215611"/>
            <a:ext cx="7010400" cy="685800"/>
          </a:xfrm>
        </p:spPr>
        <p:txBody>
          <a:bodyPr/>
          <a:lstStyle/>
          <a:p>
            <a:pPr>
              <a:lnSpc>
                <a:spcPct val="100000"/>
              </a:lnSpc>
            </a:pPr>
            <a:r>
              <a:rPr lang="en-US" sz="3600" b="1" dirty="0">
                <a:solidFill>
                  <a:schemeClr val="tx1"/>
                </a:solidFill>
              </a:rPr>
              <a:t>Biochemical processes involve energy inputs and outputs</a:t>
            </a:r>
            <a:endParaRPr lang="en-AU" sz="3600" b="1" dirty="0">
              <a:solidFill>
                <a:schemeClr val="tx1"/>
              </a:solidFill>
            </a:endParaRPr>
          </a:p>
        </p:txBody>
      </p:sp>
      <p:pic>
        <p:nvPicPr>
          <p:cNvPr id="2" name="Picture 1"/>
          <p:cNvPicPr>
            <a:picLocks noChangeAspect="1"/>
          </p:cNvPicPr>
          <p:nvPr/>
        </p:nvPicPr>
        <p:blipFill rotWithShape="1">
          <a:blip r:embed="rId3"/>
          <a:srcRect r="2206"/>
          <a:stretch/>
        </p:blipFill>
        <p:spPr>
          <a:xfrm>
            <a:off x="0" y="3862981"/>
            <a:ext cx="9144000" cy="1922862"/>
          </a:xfrm>
          <a:prstGeom prst="rect">
            <a:avLst/>
          </a:prstGeom>
        </p:spPr>
      </p:pic>
      <p:pic>
        <p:nvPicPr>
          <p:cNvPr id="3" name="Picture 2"/>
          <p:cNvPicPr>
            <a:picLocks noChangeAspect="1"/>
          </p:cNvPicPr>
          <p:nvPr/>
        </p:nvPicPr>
        <p:blipFill>
          <a:blip r:embed="rId4"/>
          <a:stretch>
            <a:fillRect/>
          </a:stretch>
        </p:blipFill>
        <p:spPr>
          <a:xfrm>
            <a:off x="6934200" y="1752115"/>
            <a:ext cx="1805539" cy="1862757"/>
          </a:xfrm>
          <a:prstGeom prst="rect">
            <a:avLst/>
          </a:prstGeom>
        </p:spPr>
      </p:pic>
    </p:spTree>
  </p:cSld>
  <p:clrMapOvr>
    <a:masterClrMapping/>
  </p:clrMapOvr>
  <p:transition>
    <p:fade/>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bwMode="gray">
          <a:xfrm>
            <a:off x="152400" y="152400"/>
            <a:ext cx="8991600" cy="457200"/>
          </a:xfrm>
          <a:prstGeom prst="rect">
            <a:avLst/>
          </a:prstGeom>
          <a:noFill/>
          <a:ln w="9525">
            <a:noFill/>
            <a:miter lim="800000"/>
            <a:headEnd/>
            <a:tailEnd/>
          </a:ln>
        </p:spPr>
        <p:txBody>
          <a:bodyPr vert="horz" wrap="square" lIns="0" tIns="0" rIns="0" bIns="0" numCol="1" anchor="ctr" anchorCtr="0" compatLnSpc="1">
            <a:prstTxWarp prst="textNoShape">
              <a:avLst/>
            </a:prstTxWarp>
          </a:bodyPr>
          <a:lstStyle/>
          <a:p>
            <a:r>
              <a:rPr lang="en-US" sz="2800" b="1" dirty="0">
                <a:solidFill>
                  <a:schemeClr val="bg1"/>
                </a:solidFill>
              </a:rPr>
              <a:t>Properties of enzymes affect their specific functions</a:t>
            </a:r>
            <a:endParaRPr lang="en-US" sz="2800" b="1" kern="0" dirty="0">
              <a:solidFill>
                <a:schemeClr val="bg1"/>
              </a:solidFill>
            </a:endParaRPr>
          </a:p>
        </p:txBody>
      </p:sp>
      <p:pic>
        <p:nvPicPr>
          <p:cNvPr id="2" name="Picture 1"/>
          <p:cNvPicPr>
            <a:picLocks noChangeAspect="1"/>
          </p:cNvPicPr>
          <p:nvPr/>
        </p:nvPicPr>
        <p:blipFill rotWithShape="1">
          <a:blip r:embed="rId3"/>
          <a:srcRect t="9136" b="3999"/>
          <a:stretch/>
        </p:blipFill>
        <p:spPr>
          <a:xfrm>
            <a:off x="685800" y="1154866"/>
            <a:ext cx="6019800" cy="5168147"/>
          </a:xfrm>
          <a:prstGeom prst="rect">
            <a:avLst/>
          </a:prstGeom>
        </p:spPr>
      </p:pic>
      <p:pic>
        <p:nvPicPr>
          <p:cNvPr id="3" name="Picture 2"/>
          <p:cNvPicPr>
            <a:picLocks noChangeAspect="1"/>
          </p:cNvPicPr>
          <p:nvPr/>
        </p:nvPicPr>
        <p:blipFill>
          <a:blip r:embed="rId4"/>
          <a:stretch>
            <a:fillRect/>
          </a:stretch>
        </p:blipFill>
        <p:spPr>
          <a:xfrm>
            <a:off x="6705600" y="2209800"/>
            <a:ext cx="2318356" cy="2943225"/>
          </a:xfrm>
          <a:prstGeom prst="rect">
            <a:avLst/>
          </a:prstGeom>
        </p:spPr>
      </p:pic>
    </p:spTree>
  </p:cSld>
  <p:clrMapOvr>
    <a:masterClrMapping/>
  </p:clrMapOvr>
  <p:transition>
    <p:fade/>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bwMode="gray">
          <a:xfrm>
            <a:off x="152400" y="152400"/>
            <a:ext cx="8991600" cy="457200"/>
          </a:xfrm>
          <a:prstGeom prst="rect">
            <a:avLst/>
          </a:prstGeom>
          <a:noFill/>
          <a:ln w="9525">
            <a:noFill/>
            <a:miter lim="800000"/>
            <a:headEnd/>
            <a:tailEnd/>
          </a:ln>
        </p:spPr>
        <p:txBody>
          <a:bodyPr vert="horz" wrap="square" lIns="0" tIns="0" rIns="0" bIns="0" numCol="1" anchor="ctr" anchorCtr="0" compatLnSpc="1">
            <a:prstTxWarp prst="textNoShape">
              <a:avLst/>
            </a:prstTxWarp>
          </a:bodyPr>
          <a:lstStyle/>
          <a:p>
            <a:r>
              <a:rPr lang="en-US" sz="2800" b="1" dirty="0">
                <a:solidFill>
                  <a:schemeClr val="bg1"/>
                </a:solidFill>
              </a:rPr>
              <a:t>Properties of enzymes affect their specific functions</a:t>
            </a:r>
            <a:endParaRPr lang="en-US" sz="2800" b="1" kern="0" dirty="0">
              <a:solidFill>
                <a:schemeClr val="bg1"/>
              </a:solidFill>
            </a:endParaRPr>
          </a:p>
        </p:txBody>
      </p:sp>
      <p:pic>
        <p:nvPicPr>
          <p:cNvPr id="2" name="Picture 1"/>
          <p:cNvPicPr>
            <a:picLocks noChangeAspect="1"/>
          </p:cNvPicPr>
          <p:nvPr/>
        </p:nvPicPr>
        <p:blipFill>
          <a:blip r:embed="rId3"/>
          <a:stretch>
            <a:fillRect/>
          </a:stretch>
        </p:blipFill>
        <p:spPr>
          <a:xfrm>
            <a:off x="381000" y="990600"/>
            <a:ext cx="6477000" cy="5548811"/>
          </a:xfrm>
          <a:prstGeom prst="rect">
            <a:avLst/>
          </a:prstGeom>
        </p:spPr>
      </p:pic>
      <p:pic>
        <p:nvPicPr>
          <p:cNvPr id="3" name="Picture 2"/>
          <p:cNvPicPr>
            <a:picLocks noChangeAspect="1"/>
          </p:cNvPicPr>
          <p:nvPr/>
        </p:nvPicPr>
        <p:blipFill>
          <a:blip r:embed="rId4"/>
          <a:stretch>
            <a:fillRect/>
          </a:stretch>
        </p:blipFill>
        <p:spPr>
          <a:xfrm>
            <a:off x="7292360" y="1901826"/>
            <a:ext cx="1851640" cy="2730384"/>
          </a:xfrm>
          <a:prstGeom prst="rect">
            <a:avLst/>
          </a:prstGeom>
        </p:spPr>
      </p:pic>
    </p:spTree>
  </p:cSld>
  <p:clrMapOvr>
    <a:masterClrMapping/>
  </p:clrMapOvr>
  <p:transition>
    <p:fade/>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bwMode="gray">
          <a:xfrm>
            <a:off x="152400" y="152400"/>
            <a:ext cx="8991600" cy="457200"/>
          </a:xfrm>
          <a:prstGeom prst="rect">
            <a:avLst/>
          </a:prstGeom>
          <a:noFill/>
          <a:ln w="9525">
            <a:noFill/>
            <a:miter lim="800000"/>
            <a:headEnd/>
            <a:tailEnd/>
          </a:ln>
        </p:spPr>
        <p:txBody>
          <a:bodyPr vert="horz" wrap="square" lIns="0" tIns="0" rIns="0" bIns="0" numCol="1" anchor="ctr" anchorCtr="0" compatLnSpc="1">
            <a:prstTxWarp prst="textNoShape">
              <a:avLst/>
            </a:prstTxWarp>
          </a:bodyPr>
          <a:lstStyle/>
          <a:p>
            <a:r>
              <a:rPr lang="en-US" sz="2800" b="1" dirty="0">
                <a:solidFill>
                  <a:schemeClr val="bg1"/>
                </a:solidFill>
              </a:rPr>
              <a:t>Properties of enzymes affect their specific functions</a:t>
            </a:r>
            <a:endParaRPr lang="en-US" sz="2800" b="1" kern="0" dirty="0">
              <a:solidFill>
                <a:schemeClr val="bg1"/>
              </a:solidFill>
            </a:endParaRPr>
          </a:p>
        </p:txBody>
      </p:sp>
      <p:sp>
        <p:nvSpPr>
          <p:cNvPr id="9" name="Title 8"/>
          <p:cNvSpPr>
            <a:spLocks noGrp="1"/>
          </p:cNvSpPr>
          <p:nvPr>
            <p:ph type="title"/>
          </p:nvPr>
        </p:nvSpPr>
        <p:spPr>
          <a:xfrm>
            <a:off x="206778" y="935593"/>
            <a:ext cx="8229600" cy="685800"/>
          </a:xfrm>
        </p:spPr>
        <p:txBody>
          <a:bodyPr/>
          <a:lstStyle/>
          <a:p>
            <a:r>
              <a:rPr lang="en-US" sz="3600" b="1" dirty="0">
                <a:solidFill>
                  <a:schemeClr val="tx1"/>
                </a:solidFill>
              </a:rPr>
              <a:t>Enzymes can work rapidly</a:t>
            </a:r>
          </a:p>
        </p:txBody>
      </p:sp>
      <p:sp>
        <p:nvSpPr>
          <p:cNvPr id="8" name="Rectangle 7"/>
          <p:cNvSpPr/>
          <p:nvPr/>
        </p:nvSpPr>
        <p:spPr>
          <a:xfrm>
            <a:off x="2331290" y="1862823"/>
            <a:ext cx="3980577" cy="584775"/>
          </a:xfrm>
          <a:prstGeom prst="rect">
            <a:avLst/>
          </a:prstGeom>
        </p:spPr>
        <p:txBody>
          <a:bodyPr wrap="none">
            <a:spAutoFit/>
          </a:bodyPr>
          <a:lstStyle/>
          <a:p>
            <a:r>
              <a:rPr lang="en-US" sz="3200" dirty="0"/>
              <a:t>2H</a:t>
            </a:r>
            <a:r>
              <a:rPr lang="en-US" sz="3200" baseline="-25000" dirty="0"/>
              <a:t>2</a:t>
            </a:r>
            <a:r>
              <a:rPr lang="en-US" sz="3200" dirty="0"/>
              <a:t>O</a:t>
            </a:r>
            <a:r>
              <a:rPr lang="en-US" sz="3200" baseline="-25000" dirty="0"/>
              <a:t>2</a:t>
            </a:r>
            <a:r>
              <a:rPr lang="en-US" sz="3200" dirty="0"/>
              <a:t> → 2H</a:t>
            </a:r>
            <a:r>
              <a:rPr lang="en-US" sz="3200" baseline="-25000" dirty="0"/>
              <a:t>2</a:t>
            </a:r>
            <a:r>
              <a:rPr lang="en-US" sz="3200" dirty="0"/>
              <a:t>O + O</a:t>
            </a:r>
            <a:r>
              <a:rPr lang="en-US" sz="3200" baseline="-25000" dirty="0"/>
              <a:t>2</a:t>
            </a:r>
          </a:p>
        </p:txBody>
      </p:sp>
      <p:sp>
        <p:nvSpPr>
          <p:cNvPr id="10" name="TextBox 9"/>
          <p:cNvSpPr txBox="1"/>
          <p:nvPr/>
        </p:nvSpPr>
        <p:spPr>
          <a:xfrm>
            <a:off x="3558604" y="1589415"/>
            <a:ext cx="1043876" cy="369332"/>
          </a:xfrm>
          <a:prstGeom prst="rect">
            <a:avLst/>
          </a:prstGeom>
          <a:noFill/>
        </p:spPr>
        <p:txBody>
          <a:bodyPr wrap="none" rtlCol="0">
            <a:spAutoFit/>
          </a:bodyPr>
          <a:lstStyle/>
          <a:p>
            <a:r>
              <a:rPr lang="en-US" dirty="0" err="1"/>
              <a:t>catalase</a:t>
            </a:r>
            <a:endParaRPr lang="en-US" dirty="0"/>
          </a:p>
        </p:txBody>
      </p:sp>
      <p:sp>
        <p:nvSpPr>
          <p:cNvPr id="11" name="TextBox 10"/>
          <p:cNvSpPr txBox="1"/>
          <p:nvPr/>
        </p:nvSpPr>
        <p:spPr>
          <a:xfrm>
            <a:off x="3886200" y="2438400"/>
            <a:ext cx="628698" cy="369332"/>
          </a:xfrm>
          <a:prstGeom prst="rect">
            <a:avLst/>
          </a:prstGeom>
          <a:noFill/>
        </p:spPr>
        <p:txBody>
          <a:bodyPr wrap="none" rtlCol="0">
            <a:spAutoFit/>
          </a:bodyPr>
          <a:lstStyle/>
          <a:p>
            <a:r>
              <a:rPr lang="en-US" dirty="0"/>
              <a:t>Fe</a:t>
            </a:r>
            <a:r>
              <a:rPr lang="en-US" baseline="30000" dirty="0"/>
              <a:t>3+</a:t>
            </a:r>
          </a:p>
        </p:txBody>
      </p:sp>
      <p:pic>
        <p:nvPicPr>
          <p:cNvPr id="2" name="Picture 1"/>
          <p:cNvPicPr>
            <a:picLocks noChangeAspect="1"/>
          </p:cNvPicPr>
          <p:nvPr/>
        </p:nvPicPr>
        <p:blipFill rotWithShape="1">
          <a:blip r:embed="rId3"/>
          <a:srcRect l="7655" t="4849"/>
          <a:stretch/>
        </p:blipFill>
        <p:spPr>
          <a:xfrm>
            <a:off x="2016942" y="2930459"/>
            <a:ext cx="4367213" cy="3753699"/>
          </a:xfrm>
          <a:prstGeom prst="rect">
            <a:avLst/>
          </a:prstGeom>
        </p:spPr>
      </p:pic>
    </p:spTree>
  </p:cSld>
  <p:clrMapOvr>
    <a:masterClrMapping/>
  </p:clrMapOvr>
  <p:transition>
    <p:fade/>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bwMode="gray">
          <a:xfrm>
            <a:off x="152400" y="152400"/>
            <a:ext cx="8991600" cy="457200"/>
          </a:xfrm>
          <a:prstGeom prst="rect">
            <a:avLst/>
          </a:prstGeom>
          <a:noFill/>
          <a:ln w="9525">
            <a:noFill/>
            <a:miter lim="800000"/>
            <a:headEnd/>
            <a:tailEnd/>
          </a:ln>
        </p:spPr>
        <p:txBody>
          <a:bodyPr vert="horz" wrap="square" lIns="0" tIns="0" rIns="0" bIns="0" numCol="1" anchor="ctr" anchorCtr="0" compatLnSpc="1">
            <a:prstTxWarp prst="textNoShape">
              <a:avLst/>
            </a:prstTxWarp>
          </a:bodyPr>
          <a:lstStyle/>
          <a:p>
            <a:r>
              <a:rPr lang="en-US" sz="2800" b="1" dirty="0">
                <a:solidFill>
                  <a:schemeClr val="bg1"/>
                </a:solidFill>
              </a:rPr>
              <a:t>Properties of enzymes affect their specific functions</a:t>
            </a:r>
            <a:endParaRPr lang="en-US" sz="2800" b="1" kern="0" dirty="0">
              <a:solidFill>
                <a:schemeClr val="bg1"/>
              </a:solidFill>
            </a:endParaRPr>
          </a:p>
        </p:txBody>
      </p:sp>
      <p:sp>
        <p:nvSpPr>
          <p:cNvPr id="9" name="Title 8"/>
          <p:cNvSpPr>
            <a:spLocks noGrp="1"/>
          </p:cNvSpPr>
          <p:nvPr>
            <p:ph type="title"/>
          </p:nvPr>
        </p:nvSpPr>
        <p:spPr>
          <a:xfrm>
            <a:off x="381001" y="990600"/>
            <a:ext cx="8229600" cy="685800"/>
          </a:xfrm>
        </p:spPr>
        <p:txBody>
          <a:bodyPr/>
          <a:lstStyle/>
          <a:p>
            <a:pPr>
              <a:lnSpc>
                <a:spcPct val="100000"/>
              </a:lnSpc>
            </a:pPr>
            <a:r>
              <a:rPr lang="en-US" sz="3600" b="1" dirty="0">
                <a:solidFill>
                  <a:schemeClr val="tx1"/>
                </a:solidFill>
              </a:rPr>
              <a:t>Enzymes</a:t>
            </a:r>
          </a:p>
        </p:txBody>
      </p:sp>
      <p:sp>
        <p:nvSpPr>
          <p:cNvPr id="12" name="TextBox 11"/>
          <p:cNvSpPr txBox="1"/>
          <p:nvPr/>
        </p:nvSpPr>
        <p:spPr>
          <a:xfrm>
            <a:off x="247650" y="1981200"/>
            <a:ext cx="8801099" cy="2862322"/>
          </a:xfrm>
          <a:prstGeom prst="rect">
            <a:avLst/>
          </a:prstGeom>
          <a:noFill/>
        </p:spPr>
        <p:txBody>
          <a:bodyPr wrap="square" rtlCol="0">
            <a:spAutoFit/>
          </a:bodyPr>
          <a:lstStyle/>
          <a:p>
            <a:pPr marL="514350" indent="-514350">
              <a:buFont typeface="Arial" panose="020B0604020202020204" pitchFamily="34" charset="0"/>
              <a:buChar char="•"/>
            </a:pPr>
            <a:r>
              <a:rPr lang="en-US" sz="2800" dirty="0"/>
              <a:t>Enzymes are not destroyed or altered by reactions.</a:t>
            </a:r>
          </a:p>
          <a:p>
            <a:pPr marL="514350" indent="-514350">
              <a:buFont typeface="Arial" panose="020B0604020202020204" pitchFamily="34" charset="0"/>
              <a:buChar char="•"/>
            </a:pPr>
            <a:endParaRPr lang="en-US" sz="2800" dirty="0"/>
          </a:p>
          <a:p>
            <a:pPr marL="514350" indent="-514350">
              <a:buFont typeface="Arial" panose="020B0604020202020204" pitchFamily="34" charset="0"/>
              <a:buChar char="•"/>
            </a:pPr>
            <a:r>
              <a:rPr lang="en-US" sz="2800" dirty="0"/>
              <a:t>Enzymes can work in either direction (reversible).</a:t>
            </a:r>
          </a:p>
          <a:p>
            <a:pPr marL="914400" lvl="1" indent="-457200">
              <a:buFont typeface="Arial" pitchFamily="34" charset="0"/>
              <a:buChar char="•"/>
            </a:pPr>
            <a:r>
              <a:rPr lang="en-US" sz="2400" dirty="0"/>
              <a:t>One direction may be more </a:t>
            </a:r>
            <a:r>
              <a:rPr lang="en-US" sz="2400" dirty="0" err="1"/>
              <a:t>favourable</a:t>
            </a:r>
            <a:r>
              <a:rPr lang="en-US" sz="2400" dirty="0"/>
              <a:t> than the other.</a:t>
            </a:r>
          </a:p>
          <a:p>
            <a:pPr marL="914400" lvl="1" indent="-457200">
              <a:buFont typeface="Arial" pitchFamily="34" charset="0"/>
              <a:buChar char="•"/>
            </a:pPr>
            <a:r>
              <a:rPr lang="en-US" sz="2400" dirty="0" err="1"/>
              <a:t>Unfavourable</a:t>
            </a:r>
            <a:r>
              <a:rPr lang="en-US" sz="2400" dirty="0"/>
              <a:t> direction occurs using a different</a:t>
            </a:r>
          </a:p>
          <a:p>
            <a:pPr lvl="1"/>
            <a:r>
              <a:rPr lang="en-US" sz="2400" dirty="0"/>
              <a:t>	enzyme-controlled reaction. </a:t>
            </a:r>
          </a:p>
          <a:p>
            <a:pPr marL="914400" lvl="1" indent="-457200">
              <a:buFont typeface="Arial" pitchFamily="34" charset="0"/>
              <a:buChar char="•"/>
            </a:pPr>
            <a:r>
              <a:rPr lang="en-US" sz="2400" dirty="0"/>
              <a:t>These types of reactions are equilibrium reactions.</a:t>
            </a:r>
          </a:p>
        </p:txBody>
      </p:sp>
    </p:spTree>
  </p:cSld>
  <p:clrMapOvr>
    <a:masterClrMapping/>
  </p:clrMapOvr>
  <p:transition>
    <p:fade/>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bwMode="gray">
          <a:xfrm>
            <a:off x="152400" y="152400"/>
            <a:ext cx="8991600" cy="457200"/>
          </a:xfrm>
          <a:prstGeom prst="rect">
            <a:avLst/>
          </a:prstGeom>
          <a:noFill/>
          <a:ln w="9525">
            <a:noFill/>
            <a:miter lim="800000"/>
            <a:headEnd/>
            <a:tailEnd/>
          </a:ln>
        </p:spPr>
        <p:txBody>
          <a:bodyPr vert="horz" wrap="square" lIns="0" tIns="0" rIns="0" bIns="0" numCol="1" anchor="ctr" anchorCtr="0" compatLnSpc="1">
            <a:prstTxWarp prst="textNoShape">
              <a:avLst/>
            </a:prstTxWarp>
          </a:bodyPr>
          <a:lstStyle/>
          <a:p>
            <a:r>
              <a:rPr lang="en-US" sz="2800" b="1" dirty="0">
                <a:solidFill>
                  <a:schemeClr val="bg1"/>
                </a:solidFill>
              </a:rPr>
              <a:t>Factors that affect enzyme activity</a:t>
            </a:r>
            <a:endParaRPr lang="en-US" sz="2800" b="1" kern="0" dirty="0">
              <a:solidFill>
                <a:schemeClr val="bg1"/>
              </a:solidFill>
            </a:endParaRPr>
          </a:p>
        </p:txBody>
      </p:sp>
      <p:sp>
        <p:nvSpPr>
          <p:cNvPr id="9" name="Title 8"/>
          <p:cNvSpPr>
            <a:spLocks noGrp="1"/>
          </p:cNvSpPr>
          <p:nvPr>
            <p:ph type="title"/>
          </p:nvPr>
        </p:nvSpPr>
        <p:spPr>
          <a:xfrm>
            <a:off x="148389" y="856648"/>
            <a:ext cx="8776636" cy="685800"/>
          </a:xfrm>
        </p:spPr>
        <p:txBody>
          <a:bodyPr/>
          <a:lstStyle/>
          <a:p>
            <a:pPr>
              <a:lnSpc>
                <a:spcPct val="100000"/>
              </a:lnSpc>
            </a:pPr>
            <a:r>
              <a:rPr lang="en-US" sz="3600" b="1" dirty="0">
                <a:solidFill>
                  <a:schemeClr val="tx1"/>
                </a:solidFill>
              </a:rPr>
              <a:t>Enzymes are affected by temperature</a:t>
            </a:r>
          </a:p>
        </p:txBody>
      </p:sp>
      <p:pic>
        <p:nvPicPr>
          <p:cNvPr id="2" name="Picture 1"/>
          <p:cNvPicPr>
            <a:picLocks noChangeAspect="1"/>
          </p:cNvPicPr>
          <p:nvPr/>
        </p:nvPicPr>
        <p:blipFill rotWithShape="1">
          <a:blip r:embed="rId3"/>
          <a:srcRect l="6332" t="2991"/>
          <a:stretch/>
        </p:blipFill>
        <p:spPr>
          <a:xfrm>
            <a:off x="990600" y="1789496"/>
            <a:ext cx="5434247" cy="4766244"/>
          </a:xfrm>
          <a:prstGeom prst="rect">
            <a:avLst/>
          </a:prstGeom>
        </p:spPr>
      </p:pic>
      <p:pic>
        <p:nvPicPr>
          <p:cNvPr id="3" name="Picture 2"/>
          <p:cNvPicPr>
            <a:picLocks noChangeAspect="1"/>
          </p:cNvPicPr>
          <p:nvPr/>
        </p:nvPicPr>
        <p:blipFill>
          <a:blip r:embed="rId4"/>
          <a:stretch>
            <a:fillRect/>
          </a:stretch>
        </p:blipFill>
        <p:spPr>
          <a:xfrm>
            <a:off x="6858000" y="2438400"/>
            <a:ext cx="2197065" cy="2681287"/>
          </a:xfrm>
          <a:prstGeom prst="rect">
            <a:avLst/>
          </a:prstGeom>
        </p:spPr>
      </p:pic>
    </p:spTree>
  </p:cSld>
  <p:clrMapOvr>
    <a:masterClrMapping/>
  </p:clrMapOvr>
  <p:transition>
    <p:fade/>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bwMode="gray">
          <a:xfrm>
            <a:off x="152400" y="152400"/>
            <a:ext cx="8991600" cy="457200"/>
          </a:xfrm>
          <a:prstGeom prst="rect">
            <a:avLst/>
          </a:prstGeom>
          <a:noFill/>
          <a:ln w="9525">
            <a:noFill/>
            <a:miter lim="800000"/>
            <a:headEnd/>
            <a:tailEnd/>
          </a:ln>
        </p:spPr>
        <p:txBody>
          <a:bodyPr vert="horz" wrap="square" lIns="0" tIns="0" rIns="0" bIns="0" numCol="1" anchor="ctr" anchorCtr="0" compatLnSpc="1">
            <a:prstTxWarp prst="textNoShape">
              <a:avLst/>
            </a:prstTxWarp>
          </a:bodyPr>
          <a:lstStyle/>
          <a:p>
            <a:r>
              <a:rPr lang="en-US" sz="2800" b="1" dirty="0">
                <a:solidFill>
                  <a:schemeClr val="bg1"/>
                </a:solidFill>
              </a:rPr>
              <a:t>Factors that affect enzyme activity</a:t>
            </a:r>
            <a:endParaRPr lang="en-US" sz="2800" b="1" kern="0" dirty="0">
              <a:solidFill>
                <a:schemeClr val="bg1"/>
              </a:solidFill>
            </a:endParaRPr>
          </a:p>
        </p:txBody>
      </p:sp>
      <p:pic>
        <p:nvPicPr>
          <p:cNvPr id="2" name="Picture 1"/>
          <p:cNvPicPr>
            <a:picLocks noChangeAspect="1"/>
          </p:cNvPicPr>
          <p:nvPr/>
        </p:nvPicPr>
        <p:blipFill rotWithShape="1">
          <a:blip r:embed="rId3"/>
          <a:srcRect l="8179" t="2873"/>
          <a:stretch/>
        </p:blipFill>
        <p:spPr>
          <a:xfrm>
            <a:off x="2286000" y="1524000"/>
            <a:ext cx="5132568" cy="5153025"/>
          </a:xfrm>
          <a:prstGeom prst="rect">
            <a:avLst/>
          </a:prstGeom>
        </p:spPr>
      </p:pic>
      <p:sp>
        <p:nvSpPr>
          <p:cNvPr id="9" name="Title 8"/>
          <p:cNvSpPr>
            <a:spLocks noGrp="1"/>
          </p:cNvSpPr>
          <p:nvPr>
            <p:ph type="title"/>
          </p:nvPr>
        </p:nvSpPr>
        <p:spPr>
          <a:xfrm>
            <a:off x="457200" y="838200"/>
            <a:ext cx="8229600" cy="685800"/>
          </a:xfrm>
        </p:spPr>
        <p:txBody>
          <a:bodyPr/>
          <a:lstStyle/>
          <a:p>
            <a:pPr>
              <a:lnSpc>
                <a:spcPct val="100000"/>
              </a:lnSpc>
            </a:pPr>
            <a:r>
              <a:rPr lang="en-US" sz="3600" b="1" dirty="0">
                <a:solidFill>
                  <a:schemeClr val="tx1"/>
                </a:solidFill>
              </a:rPr>
              <a:t>Enzymes are affected by pH</a:t>
            </a:r>
          </a:p>
        </p:txBody>
      </p:sp>
      <p:pic>
        <p:nvPicPr>
          <p:cNvPr id="3" name="Picture 2"/>
          <p:cNvPicPr>
            <a:picLocks noChangeAspect="1"/>
          </p:cNvPicPr>
          <p:nvPr/>
        </p:nvPicPr>
        <p:blipFill rotWithShape="1">
          <a:blip r:embed="rId4"/>
          <a:srcRect l="4744" t="2339" b="-1"/>
          <a:stretch/>
        </p:blipFill>
        <p:spPr>
          <a:xfrm>
            <a:off x="117909" y="2286000"/>
            <a:ext cx="2039614" cy="3028950"/>
          </a:xfrm>
          <a:prstGeom prst="rect">
            <a:avLst/>
          </a:prstGeom>
        </p:spPr>
      </p:pic>
    </p:spTree>
  </p:cSld>
  <p:clrMapOvr>
    <a:masterClrMapping/>
  </p:clrMapOvr>
  <p:transition>
    <p:fade/>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3"/>
          <a:srcRect l="6393" t="8297"/>
          <a:stretch/>
        </p:blipFill>
        <p:spPr>
          <a:xfrm>
            <a:off x="0" y="1981200"/>
            <a:ext cx="7352040" cy="4757178"/>
          </a:xfrm>
          <a:prstGeom prst="rect">
            <a:avLst/>
          </a:prstGeom>
        </p:spPr>
      </p:pic>
      <p:sp>
        <p:nvSpPr>
          <p:cNvPr id="7" name="Title 1"/>
          <p:cNvSpPr txBox="1">
            <a:spLocks/>
          </p:cNvSpPr>
          <p:nvPr/>
        </p:nvSpPr>
        <p:spPr bwMode="gray">
          <a:xfrm>
            <a:off x="152400" y="152400"/>
            <a:ext cx="8991600" cy="457200"/>
          </a:xfrm>
          <a:prstGeom prst="rect">
            <a:avLst/>
          </a:prstGeom>
          <a:noFill/>
          <a:ln w="9525">
            <a:noFill/>
            <a:miter lim="800000"/>
            <a:headEnd/>
            <a:tailEnd/>
          </a:ln>
        </p:spPr>
        <p:txBody>
          <a:bodyPr vert="horz" wrap="square" lIns="0" tIns="0" rIns="0" bIns="0" numCol="1" anchor="ctr" anchorCtr="0" compatLnSpc="1">
            <a:prstTxWarp prst="textNoShape">
              <a:avLst/>
            </a:prstTxWarp>
          </a:bodyPr>
          <a:lstStyle/>
          <a:p>
            <a:r>
              <a:rPr lang="en-US" sz="2800" b="1" dirty="0">
                <a:solidFill>
                  <a:schemeClr val="bg1"/>
                </a:solidFill>
              </a:rPr>
              <a:t>Factors that affect enzyme activity</a:t>
            </a:r>
            <a:endParaRPr lang="en-US" sz="2800" b="1" kern="0" dirty="0">
              <a:solidFill>
                <a:schemeClr val="bg1"/>
              </a:solidFill>
            </a:endParaRPr>
          </a:p>
        </p:txBody>
      </p:sp>
      <p:sp>
        <p:nvSpPr>
          <p:cNvPr id="9" name="Title 8"/>
          <p:cNvSpPr>
            <a:spLocks noGrp="1"/>
          </p:cNvSpPr>
          <p:nvPr>
            <p:ph type="title"/>
          </p:nvPr>
        </p:nvSpPr>
        <p:spPr>
          <a:xfrm>
            <a:off x="152400" y="1066800"/>
            <a:ext cx="8991600" cy="685800"/>
          </a:xfrm>
        </p:spPr>
        <p:txBody>
          <a:bodyPr/>
          <a:lstStyle/>
          <a:p>
            <a:pPr>
              <a:lnSpc>
                <a:spcPct val="100000"/>
              </a:lnSpc>
            </a:pPr>
            <a:r>
              <a:rPr lang="en-US" sz="3600" b="1" dirty="0">
                <a:solidFill>
                  <a:schemeClr val="tx1"/>
                </a:solidFill>
              </a:rPr>
              <a:t>Substrate and enzyme concentration can affect enzyme activity</a:t>
            </a:r>
          </a:p>
        </p:txBody>
      </p:sp>
      <p:pic>
        <p:nvPicPr>
          <p:cNvPr id="3" name="Picture 2"/>
          <p:cNvPicPr>
            <a:picLocks noChangeAspect="1"/>
          </p:cNvPicPr>
          <p:nvPr/>
        </p:nvPicPr>
        <p:blipFill>
          <a:blip r:embed="rId4"/>
          <a:stretch>
            <a:fillRect/>
          </a:stretch>
        </p:blipFill>
        <p:spPr>
          <a:xfrm>
            <a:off x="6934200" y="3657600"/>
            <a:ext cx="2087326" cy="1976437"/>
          </a:xfrm>
          <a:prstGeom prst="rect">
            <a:avLst/>
          </a:prstGeom>
        </p:spPr>
      </p:pic>
    </p:spTree>
  </p:cSld>
  <p:clrMapOvr>
    <a:masterClrMapping/>
  </p:clrMapOvr>
  <p:transition>
    <p:fade/>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bwMode="gray">
          <a:xfrm>
            <a:off x="152400" y="143757"/>
            <a:ext cx="8991600" cy="457200"/>
          </a:xfrm>
          <a:prstGeom prst="rect">
            <a:avLst/>
          </a:prstGeom>
          <a:noFill/>
          <a:ln w="9525">
            <a:noFill/>
            <a:miter lim="800000"/>
            <a:headEnd/>
            <a:tailEnd/>
          </a:ln>
        </p:spPr>
        <p:txBody>
          <a:bodyPr vert="horz" wrap="square" lIns="0" tIns="0" rIns="0" bIns="0" numCol="1" anchor="ctr" anchorCtr="0" compatLnSpc="1">
            <a:prstTxWarp prst="textNoShape">
              <a:avLst/>
            </a:prstTxWarp>
          </a:bodyPr>
          <a:lstStyle/>
          <a:p>
            <a:r>
              <a:rPr lang="en-US" sz="2800" b="1" dirty="0">
                <a:solidFill>
                  <a:schemeClr val="bg1"/>
                </a:solidFill>
              </a:rPr>
              <a:t>Factors that affect enzyme activity</a:t>
            </a:r>
            <a:endParaRPr lang="en-US" sz="2800" b="1" kern="0" dirty="0">
              <a:solidFill>
                <a:schemeClr val="bg1"/>
              </a:solidFill>
            </a:endParaRPr>
          </a:p>
        </p:txBody>
      </p:sp>
      <p:sp>
        <p:nvSpPr>
          <p:cNvPr id="9" name="Title 8"/>
          <p:cNvSpPr>
            <a:spLocks noGrp="1"/>
          </p:cNvSpPr>
          <p:nvPr>
            <p:ph type="title"/>
          </p:nvPr>
        </p:nvSpPr>
        <p:spPr>
          <a:xfrm>
            <a:off x="152400" y="1143000"/>
            <a:ext cx="8991600" cy="685800"/>
          </a:xfrm>
        </p:spPr>
        <p:txBody>
          <a:bodyPr/>
          <a:lstStyle/>
          <a:p>
            <a:pPr>
              <a:lnSpc>
                <a:spcPct val="100000"/>
              </a:lnSpc>
            </a:pPr>
            <a:r>
              <a:rPr lang="en-US" sz="3600" b="1" dirty="0">
                <a:solidFill>
                  <a:schemeClr val="tx1"/>
                </a:solidFill>
              </a:rPr>
              <a:t>Active site and inhibitors</a:t>
            </a:r>
          </a:p>
        </p:txBody>
      </p:sp>
      <p:pic>
        <p:nvPicPr>
          <p:cNvPr id="2" name="Picture 1"/>
          <p:cNvPicPr>
            <a:picLocks noChangeAspect="1"/>
          </p:cNvPicPr>
          <p:nvPr/>
        </p:nvPicPr>
        <p:blipFill>
          <a:blip r:embed="rId3"/>
          <a:stretch>
            <a:fillRect/>
          </a:stretch>
        </p:blipFill>
        <p:spPr>
          <a:xfrm>
            <a:off x="2133600" y="2455686"/>
            <a:ext cx="6858000" cy="3306438"/>
          </a:xfrm>
          <a:prstGeom prst="rect">
            <a:avLst/>
          </a:prstGeom>
        </p:spPr>
      </p:pic>
      <p:pic>
        <p:nvPicPr>
          <p:cNvPr id="3" name="Picture 2"/>
          <p:cNvPicPr>
            <a:picLocks noChangeAspect="1"/>
          </p:cNvPicPr>
          <p:nvPr/>
        </p:nvPicPr>
        <p:blipFill>
          <a:blip r:embed="rId4"/>
          <a:stretch>
            <a:fillRect/>
          </a:stretch>
        </p:blipFill>
        <p:spPr>
          <a:xfrm>
            <a:off x="0" y="2743200"/>
            <a:ext cx="2229286" cy="2686050"/>
          </a:xfrm>
          <a:prstGeom prst="rect">
            <a:avLst/>
          </a:prstGeom>
        </p:spPr>
      </p:pic>
    </p:spTree>
  </p:cSld>
  <p:clrMapOvr>
    <a:masterClrMapping/>
  </p:clrMapOvr>
  <p:transition>
    <p:fade/>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bwMode="gray">
          <a:xfrm>
            <a:off x="152400" y="152400"/>
            <a:ext cx="8991600" cy="457200"/>
          </a:xfrm>
          <a:prstGeom prst="rect">
            <a:avLst/>
          </a:prstGeom>
          <a:noFill/>
          <a:ln w="9525">
            <a:noFill/>
            <a:miter lim="800000"/>
            <a:headEnd/>
            <a:tailEnd/>
          </a:ln>
        </p:spPr>
        <p:txBody>
          <a:bodyPr vert="horz" wrap="square" lIns="0" tIns="0" rIns="0" bIns="0" numCol="1" anchor="ctr" anchorCtr="0" compatLnSpc="1">
            <a:prstTxWarp prst="textNoShape">
              <a:avLst/>
            </a:prstTxWarp>
          </a:bodyPr>
          <a:lstStyle/>
          <a:p>
            <a:r>
              <a:rPr lang="en-US" sz="2800" b="1" dirty="0">
                <a:solidFill>
                  <a:schemeClr val="bg1"/>
                </a:solidFill>
              </a:rPr>
              <a:t>Factors that affect enzyme activity</a:t>
            </a:r>
            <a:endParaRPr lang="en-US" sz="2800" b="1" kern="0" dirty="0">
              <a:solidFill>
                <a:schemeClr val="bg1"/>
              </a:solidFill>
            </a:endParaRPr>
          </a:p>
        </p:txBody>
      </p:sp>
      <p:sp>
        <p:nvSpPr>
          <p:cNvPr id="9" name="Title 8"/>
          <p:cNvSpPr>
            <a:spLocks noGrp="1"/>
          </p:cNvSpPr>
          <p:nvPr>
            <p:ph type="title"/>
          </p:nvPr>
        </p:nvSpPr>
        <p:spPr>
          <a:xfrm>
            <a:off x="152400" y="1024223"/>
            <a:ext cx="9144000" cy="685800"/>
          </a:xfrm>
        </p:spPr>
        <p:txBody>
          <a:bodyPr/>
          <a:lstStyle/>
          <a:p>
            <a:pPr>
              <a:lnSpc>
                <a:spcPct val="100000"/>
              </a:lnSpc>
            </a:pPr>
            <a:r>
              <a:rPr lang="en-US" sz="3600" b="1" dirty="0">
                <a:solidFill>
                  <a:schemeClr val="tx1"/>
                </a:solidFill>
              </a:rPr>
              <a:t>Enzymes may be inhibited by substrates</a:t>
            </a:r>
          </a:p>
        </p:txBody>
      </p:sp>
      <p:pic>
        <p:nvPicPr>
          <p:cNvPr id="2" name="Picture 1"/>
          <p:cNvPicPr>
            <a:picLocks noChangeAspect="1"/>
          </p:cNvPicPr>
          <p:nvPr/>
        </p:nvPicPr>
        <p:blipFill rotWithShape="1">
          <a:blip r:embed="rId3"/>
          <a:srcRect l="32051" t="4220"/>
          <a:stretch/>
        </p:blipFill>
        <p:spPr>
          <a:xfrm>
            <a:off x="1447800" y="1828800"/>
            <a:ext cx="7696200" cy="3296327"/>
          </a:xfrm>
          <a:prstGeom prst="rect">
            <a:avLst/>
          </a:prstGeom>
        </p:spPr>
      </p:pic>
      <p:pic>
        <p:nvPicPr>
          <p:cNvPr id="3" name="Picture 2"/>
          <p:cNvPicPr>
            <a:picLocks noChangeAspect="1"/>
          </p:cNvPicPr>
          <p:nvPr/>
        </p:nvPicPr>
        <p:blipFill rotWithShape="1">
          <a:blip r:embed="rId3"/>
          <a:srcRect l="1553" t="7929" r="75929" b="24189"/>
          <a:stretch/>
        </p:blipFill>
        <p:spPr>
          <a:xfrm>
            <a:off x="0" y="4953000"/>
            <a:ext cx="1905000" cy="1744926"/>
          </a:xfrm>
          <a:prstGeom prst="rect">
            <a:avLst/>
          </a:prstGeom>
        </p:spPr>
      </p:pic>
    </p:spTree>
  </p:cSld>
  <p:clrMapOvr>
    <a:masterClrMapping/>
  </p:clrMapOvr>
  <p:transition>
    <p:fade/>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bwMode="gray">
          <a:xfrm>
            <a:off x="152400" y="152400"/>
            <a:ext cx="8991600" cy="457200"/>
          </a:xfrm>
          <a:prstGeom prst="rect">
            <a:avLst/>
          </a:prstGeom>
          <a:noFill/>
          <a:ln w="9525">
            <a:noFill/>
            <a:miter lim="800000"/>
            <a:headEnd/>
            <a:tailEnd/>
          </a:ln>
        </p:spPr>
        <p:txBody>
          <a:bodyPr vert="horz" wrap="square" lIns="0" tIns="0" rIns="0" bIns="0" numCol="1" anchor="ctr" anchorCtr="0" compatLnSpc="1">
            <a:prstTxWarp prst="textNoShape">
              <a:avLst/>
            </a:prstTxWarp>
          </a:bodyPr>
          <a:lstStyle/>
          <a:p>
            <a:r>
              <a:rPr lang="en-US" sz="2800" b="1" dirty="0">
                <a:solidFill>
                  <a:schemeClr val="bg1"/>
                </a:solidFill>
              </a:rPr>
              <a:t>Factors that affect enzyme activity</a:t>
            </a:r>
            <a:endParaRPr lang="en-US" sz="2800" b="1" kern="0" dirty="0">
              <a:solidFill>
                <a:schemeClr val="bg1"/>
              </a:solidFill>
            </a:endParaRPr>
          </a:p>
        </p:txBody>
      </p:sp>
      <p:sp>
        <p:nvSpPr>
          <p:cNvPr id="9" name="Title 8"/>
          <p:cNvSpPr>
            <a:spLocks noGrp="1"/>
          </p:cNvSpPr>
          <p:nvPr>
            <p:ph type="title"/>
          </p:nvPr>
        </p:nvSpPr>
        <p:spPr>
          <a:xfrm>
            <a:off x="152400" y="914400"/>
            <a:ext cx="8991600" cy="685800"/>
          </a:xfrm>
        </p:spPr>
        <p:txBody>
          <a:bodyPr/>
          <a:lstStyle/>
          <a:p>
            <a:pPr>
              <a:lnSpc>
                <a:spcPct val="100000"/>
              </a:lnSpc>
            </a:pPr>
            <a:r>
              <a:rPr lang="en-US" sz="3600" b="1" dirty="0">
                <a:solidFill>
                  <a:schemeClr val="tx1"/>
                </a:solidFill>
              </a:rPr>
              <a:t>Enzymes may need to be activated</a:t>
            </a:r>
          </a:p>
        </p:txBody>
      </p:sp>
      <p:sp>
        <p:nvSpPr>
          <p:cNvPr id="8" name="TextBox 7"/>
          <p:cNvSpPr txBox="1"/>
          <p:nvPr/>
        </p:nvSpPr>
        <p:spPr>
          <a:xfrm>
            <a:off x="304800" y="1905000"/>
            <a:ext cx="8839200" cy="4024194"/>
          </a:xfrm>
          <a:prstGeom prst="rect">
            <a:avLst/>
          </a:prstGeom>
          <a:noFill/>
        </p:spPr>
        <p:txBody>
          <a:bodyPr wrap="square" rtlCol="0">
            <a:spAutoFit/>
          </a:bodyPr>
          <a:lstStyle/>
          <a:p>
            <a:pPr marL="457200" indent="-457200">
              <a:buFont typeface="Arial" pitchFamily="34" charset="0"/>
              <a:buChar char="•"/>
            </a:pPr>
            <a:r>
              <a:rPr lang="en-US" sz="2800" b="1" dirty="0"/>
              <a:t>Coenzymes</a:t>
            </a:r>
            <a:r>
              <a:rPr lang="en-US" sz="2800" dirty="0"/>
              <a:t> are non-protein organic substances that are required for enzyme activity.</a:t>
            </a:r>
          </a:p>
          <a:p>
            <a:pPr marL="914400" lvl="1" indent="-457200">
              <a:buFont typeface="Arial" pitchFamily="34" charset="0"/>
              <a:buChar char="•"/>
            </a:pPr>
            <a:r>
              <a:rPr lang="en-US" sz="2800" dirty="0"/>
              <a:t>Relatively small molecules compared to the enzyme. </a:t>
            </a:r>
          </a:p>
          <a:p>
            <a:pPr marL="914400" lvl="1" indent="-457200">
              <a:buFont typeface="Arial" pitchFamily="34" charset="0"/>
              <a:buChar char="•"/>
            </a:pPr>
            <a:r>
              <a:rPr lang="en-US" sz="2800" dirty="0"/>
              <a:t>Dietary vitamins act as carriers of substances to and from catalytic reactions.</a:t>
            </a:r>
          </a:p>
          <a:p>
            <a:pPr marL="457200" indent="-457200">
              <a:buFont typeface="Arial" pitchFamily="34" charset="0"/>
              <a:buChar char="•"/>
            </a:pPr>
            <a:endParaRPr lang="en-US" sz="2800" dirty="0"/>
          </a:p>
          <a:p>
            <a:pPr marL="457200" indent="-457200">
              <a:buFont typeface="Arial" pitchFamily="34" charset="0"/>
              <a:buChar char="•"/>
            </a:pPr>
            <a:r>
              <a:rPr lang="en-US" sz="2800" b="1" dirty="0"/>
              <a:t>Cofactors </a:t>
            </a:r>
            <a:r>
              <a:rPr lang="en-US" sz="2800" dirty="0"/>
              <a:t>are small inorganic substances,  such as zinc and magnesium ions. </a:t>
            </a:r>
          </a:p>
        </p:txBody>
      </p:sp>
    </p:spTree>
  </p:cSld>
  <p:clrMapOvr>
    <a:masterClrMapping/>
  </p:clrMapOvr>
  <p:transition>
    <p:fade/>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bwMode="gray">
          <a:xfrm>
            <a:off x="152400" y="152400"/>
            <a:ext cx="8991600" cy="457200"/>
          </a:xfrm>
          <a:prstGeom prst="rect">
            <a:avLst/>
          </a:prstGeom>
          <a:noFill/>
          <a:ln w="9525">
            <a:noFill/>
            <a:miter lim="800000"/>
            <a:headEnd/>
            <a:tailEnd/>
          </a:ln>
        </p:spPr>
        <p:txBody>
          <a:bodyPr vert="horz" wrap="square" lIns="0" tIns="0" rIns="0" bIns="0" numCol="1" anchor="ctr" anchorCtr="0" compatLnSpc="1">
            <a:prstTxWarp prst="textNoShape">
              <a:avLst/>
            </a:prstTxWarp>
          </a:bodyPr>
          <a:lstStyle/>
          <a:p>
            <a:r>
              <a:rPr lang="en-US" sz="2800" b="1" dirty="0">
                <a:solidFill>
                  <a:schemeClr val="bg1"/>
                </a:solidFill>
              </a:rPr>
              <a:t>Energy is transferred between reactions</a:t>
            </a:r>
            <a:endParaRPr lang="en-US" sz="2800" b="1" kern="0" dirty="0">
              <a:solidFill>
                <a:schemeClr val="bg1"/>
              </a:solidFill>
            </a:endParaRPr>
          </a:p>
        </p:txBody>
      </p:sp>
      <p:pic>
        <p:nvPicPr>
          <p:cNvPr id="2" name="Picture 1"/>
          <p:cNvPicPr>
            <a:picLocks noChangeAspect="1"/>
          </p:cNvPicPr>
          <p:nvPr/>
        </p:nvPicPr>
        <p:blipFill rotWithShape="1">
          <a:blip r:embed="rId3"/>
          <a:srcRect l="11716" t="-1555"/>
          <a:stretch/>
        </p:blipFill>
        <p:spPr>
          <a:xfrm>
            <a:off x="1219200" y="821152"/>
            <a:ext cx="7538185" cy="4817394"/>
          </a:xfrm>
          <a:prstGeom prst="rect">
            <a:avLst/>
          </a:prstGeom>
        </p:spPr>
      </p:pic>
      <p:sp>
        <p:nvSpPr>
          <p:cNvPr id="10" name="Rectangle 9"/>
          <p:cNvSpPr/>
          <p:nvPr/>
        </p:nvSpPr>
        <p:spPr>
          <a:xfrm>
            <a:off x="152400" y="5757645"/>
            <a:ext cx="7143549" cy="830997"/>
          </a:xfrm>
          <a:prstGeom prst="rect">
            <a:avLst/>
          </a:prstGeom>
        </p:spPr>
        <p:txBody>
          <a:bodyPr wrap="square">
            <a:spAutoFit/>
          </a:bodyPr>
          <a:lstStyle/>
          <a:p>
            <a:r>
              <a:rPr lang="en-US" sz="2400" dirty="0"/>
              <a:t>The ATP–ADP cycle shuttles energy between reactions </a:t>
            </a:r>
          </a:p>
        </p:txBody>
      </p:sp>
      <p:sp>
        <p:nvSpPr>
          <p:cNvPr id="12" name="Rectangle 11"/>
          <p:cNvSpPr/>
          <p:nvPr/>
        </p:nvSpPr>
        <p:spPr bwMode="auto">
          <a:xfrm>
            <a:off x="188495" y="5801375"/>
            <a:ext cx="6364706" cy="787267"/>
          </a:xfrm>
          <a:prstGeom prst="rect">
            <a:avLst/>
          </a:prstGeom>
          <a:noFill/>
          <a:ln w="19050" cap="flat" cmpd="sng" algn="ctr">
            <a:solidFill>
              <a:schemeClr val="accent1">
                <a:lumMod val="75000"/>
                <a:lumOff val="2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9" name="Title 8"/>
          <p:cNvSpPr>
            <a:spLocks noGrp="1"/>
          </p:cNvSpPr>
          <p:nvPr>
            <p:ph type="title"/>
          </p:nvPr>
        </p:nvSpPr>
        <p:spPr>
          <a:xfrm>
            <a:off x="188495" y="990600"/>
            <a:ext cx="1203960" cy="685800"/>
          </a:xfrm>
        </p:spPr>
        <p:txBody>
          <a:bodyPr/>
          <a:lstStyle/>
          <a:p>
            <a:pPr>
              <a:lnSpc>
                <a:spcPct val="100000"/>
              </a:lnSpc>
            </a:pPr>
            <a:r>
              <a:rPr lang="en-US" sz="3600" b="1" dirty="0">
                <a:solidFill>
                  <a:schemeClr val="tx1"/>
                </a:solidFill>
              </a:rPr>
              <a:t>ATP</a:t>
            </a:r>
          </a:p>
        </p:txBody>
      </p:sp>
    </p:spTree>
  </p:cSld>
  <p:clrMapOvr>
    <a:masterClrMapping/>
  </p:clrMapOvr>
  <p:transition>
    <p:fade/>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ATP-ADP Cycle</a:t>
            </a:r>
            <a:endParaRPr lang="en-AU" dirty="0"/>
          </a:p>
        </p:txBody>
      </p:sp>
      <p:sp>
        <p:nvSpPr>
          <p:cNvPr id="3" name="Content Placeholder 2"/>
          <p:cNvSpPr>
            <a:spLocks noGrp="1"/>
          </p:cNvSpPr>
          <p:nvPr>
            <p:ph idx="1"/>
          </p:nvPr>
        </p:nvSpPr>
        <p:spPr/>
        <p:txBody>
          <a:bodyPr/>
          <a:lstStyle/>
          <a:p>
            <a:pPr marL="228600" indent="-228600">
              <a:buFont typeface="Arial" panose="020B0604020202020204" pitchFamily="34" charset="0"/>
              <a:buChar char="•"/>
            </a:pPr>
            <a:r>
              <a:rPr lang="en-US" kern="1200" dirty="0"/>
              <a:t>Cells use the chemical energy released from exergonic reactions to fuel endergonic reactions.</a:t>
            </a:r>
          </a:p>
          <a:p>
            <a:pPr marL="228600" indent="-228600">
              <a:buFont typeface="Arial" panose="020B0604020202020204" pitchFamily="34" charset="0"/>
              <a:buChar char="•"/>
            </a:pPr>
            <a:r>
              <a:rPr lang="en-US" kern="1200" dirty="0"/>
              <a:t>This transfer is achieved by a molecule called adenine triphosphate (ATP). </a:t>
            </a:r>
          </a:p>
          <a:p>
            <a:pPr marL="228600" indent="-228600">
              <a:lnSpc>
                <a:spcPct val="100000"/>
              </a:lnSpc>
              <a:spcBef>
                <a:spcPct val="30000"/>
              </a:spcBef>
              <a:buFont typeface="Arial" panose="020B0604020202020204" pitchFamily="34" charset="0"/>
              <a:buChar char="•"/>
              <a:defRPr/>
            </a:pPr>
            <a:r>
              <a:rPr lang="en-US" kern="1200" dirty="0"/>
              <a:t>ATP is a nucleotide containing adenosine attached to a sugar group (ribose), which is bound to a chain of three phosphate groups.</a:t>
            </a:r>
          </a:p>
          <a:p>
            <a:pPr marL="228600" indent="-228600">
              <a:buFont typeface="Arial" panose="020B0604020202020204" pitchFamily="34" charset="0"/>
              <a:buChar char="•"/>
            </a:pPr>
            <a:r>
              <a:rPr lang="en-US" kern="1200" dirty="0"/>
              <a:t>ATP is readily moved around the cell.</a:t>
            </a:r>
          </a:p>
          <a:p>
            <a:pPr marL="228600" indent="-228600">
              <a:buFont typeface="Arial" panose="020B0604020202020204" pitchFamily="34" charset="0"/>
              <a:buChar char="•"/>
            </a:pPr>
            <a:r>
              <a:rPr lang="en-US" kern="1200" dirty="0"/>
              <a:t>ATP is an energy carrier in all living cells. It couples energy-releasing reactions with energy requiring ones.</a:t>
            </a:r>
          </a:p>
          <a:p>
            <a:pPr marL="228600" indent="-228600">
              <a:buFont typeface="Arial" panose="020B0604020202020204" pitchFamily="34" charset="0"/>
              <a:buChar char="•"/>
            </a:pPr>
            <a:r>
              <a:rPr lang="en-US" kern="1200" dirty="0"/>
              <a:t>Hydrolysis of ATP removes the 3</a:t>
            </a:r>
            <a:r>
              <a:rPr lang="en-US" kern="1200" baseline="30000" dirty="0"/>
              <a:t>rd</a:t>
            </a:r>
            <a:r>
              <a:rPr lang="en-US" kern="1200" dirty="0"/>
              <a:t> phosphate from the molecule and releases energy.</a:t>
            </a:r>
          </a:p>
          <a:p>
            <a:pPr marL="228600" indent="-228600">
              <a:buFont typeface="Arial" panose="020B0604020202020204" pitchFamily="34" charset="0"/>
              <a:buChar char="•"/>
            </a:pPr>
            <a:r>
              <a:rPr lang="en-US" kern="1200" dirty="0"/>
              <a:t>This leave adenine </a:t>
            </a:r>
            <a:r>
              <a:rPr lang="en-US" kern="1200" dirty="0" err="1"/>
              <a:t>diphosphate</a:t>
            </a:r>
            <a:r>
              <a:rPr lang="en-US" kern="1200" dirty="0"/>
              <a:t> (ADP) and a free inorganic phosphate.</a:t>
            </a:r>
          </a:p>
          <a:p>
            <a:pPr marL="228600" indent="-228600">
              <a:buFont typeface="Arial" panose="020B0604020202020204" pitchFamily="34" charset="0"/>
              <a:buChar char="•"/>
            </a:pPr>
            <a:r>
              <a:rPr lang="en-US" kern="1200" dirty="0"/>
              <a:t>This reaction is sped up by the enzyme ATPase.</a:t>
            </a:r>
          </a:p>
          <a:p>
            <a:endParaRPr lang="en-AU" dirty="0"/>
          </a:p>
        </p:txBody>
      </p:sp>
    </p:spTree>
    <p:extLst>
      <p:ext uri="{BB962C8B-B14F-4D97-AF65-F5344CB8AC3E}">
        <p14:creationId xmlns:p14="http://schemas.microsoft.com/office/powerpoint/2010/main" val="1201699135"/>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bwMode="gray">
          <a:xfrm>
            <a:off x="152400" y="152400"/>
            <a:ext cx="8991600" cy="457200"/>
          </a:xfrm>
          <a:prstGeom prst="rect">
            <a:avLst/>
          </a:prstGeom>
          <a:noFill/>
          <a:ln w="9525">
            <a:noFill/>
            <a:miter lim="800000"/>
            <a:headEnd/>
            <a:tailEnd/>
          </a:ln>
        </p:spPr>
        <p:txBody>
          <a:bodyPr vert="horz" wrap="square" lIns="0" tIns="0" rIns="0" bIns="0" numCol="1" anchor="ctr" anchorCtr="0" compatLnSpc="1">
            <a:prstTxWarp prst="textNoShape">
              <a:avLst/>
            </a:prstTxWarp>
          </a:bodyPr>
          <a:lstStyle/>
          <a:p>
            <a:r>
              <a:rPr lang="en-US" sz="2800" b="1" dirty="0">
                <a:solidFill>
                  <a:schemeClr val="bg1"/>
                </a:solidFill>
              </a:rPr>
              <a:t>Photosynthesis</a:t>
            </a:r>
            <a:endParaRPr lang="en-US" sz="2800" b="1" kern="0" dirty="0">
              <a:solidFill>
                <a:schemeClr val="bg1"/>
              </a:solidFill>
            </a:endParaRPr>
          </a:p>
        </p:txBody>
      </p:sp>
      <p:sp>
        <p:nvSpPr>
          <p:cNvPr id="9" name="Title 8"/>
          <p:cNvSpPr>
            <a:spLocks noGrp="1"/>
          </p:cNvSpPr>
          <p:nvPr>
            <p:ph type="title"/>
          </p:nvPr>
        </p:nvSpPr>
        <p:spPr>
          <a:xfrm>
            <a:off x="152400" y="914400"/>
            <a:ext cx="8991600" cy="685800"/>
          </a:xfrm>
        </p:spPr>
        <p:txBody>
          <a:bodyPr/>
          <a:lstStyle/>
          <a:p>
            <a:pPr>
              <a:lnSpc>
                <a:spcPct val="100000"/>
              </a:lnSpc>
            </a:pPr>
            <a:r>
              <a:rPr lang="en-US" sz="3600" b="1" dirty="0">
                <a:solidFill>
                  <a:schemeClr val="tx1"/>
                </a:solidFill>
              </a:rPr>
              <a:t>Photosynthesis is a series of steps</a:t>
            </a:r>
          </a:p>
        </p:txBody>
      </p:sp>
      <p:sp>
        <p:nvSpPr>
          <p:cNvPr id="11" name="Rectangle 10"/>
          <p:cNvSpPr/>
          <p:nvPr/>
        </p:nvSpPr>
        <p:spPr>
          <a:xfrm>
            <a:off x="152400" y="2362200"/>
            <a:ext cx="8991600" cy="1661993"/>
          </a:xfrm>
          <a:prstGeom prst="rect">
            <a:avLst/>
          </a:prstGeom>
        </p:spPr>
        <p:txBody>
          <a:bodyPr wrap="square">
            <a:spAutoFit/>
          </a:bodyPr>
          <a:lstStyle/>
          <a:p>
            <a:endParaRPr lang="en-US" dirty="0"/>
          </a:p>
          <a:p>
            <a:r>
              <a:rPr lang="en-US" sz="2800" dirty="0"/>
              <a:t>carbon dioxide + water → glucose + oxygen + water</a:t>
            </a:r>
          </a:p>
          <a:p>
            <a:endParaRPr lang="pt-BR" sz="2800" dirty="0"/>
          </a:p>
          <a:p>
            <a:r>
              <a:rPr lang="pt-BR" sz="2800" dirty="0">
                <a:solidFill>
                  <a:srgbClr val="FF0000"/>
                </a:solidFill>
              </a:rPr>
              <a:t>         </a:t>
            </a:r>
            <a:r>
              <a:rPr lang="pt-BR" sz="2800" dirty="0"/>
              <a:t>6CO</a:t>
            </a:r>
            <a:r>
              <a:rPr lang="pt-BR" sz="2800" baseline="-25000" dirty="0"/>
              <a:t>2</a:t>
            </a:r>
            <a:r>
              <a:rPr lang="pt-BR" sz="2800" dirty="0"/>
              <a:t> + 12H</a:t>
            </a:r>
            <a:r>
              <a:rPr lang="pt-BR" sz="2800" baseline="-25000" dirty="0"/>
              <a:t>2</a:t>
            </a:r>
            <a:r>
              <a:rPr lang="pt-BR" sz="2800" dirty="0"/>
              <a:t>O → C</a:t>
            </a:r>
            <a:r>
              <a:rPr lang="pt-BR" sz="2800" baseline="-25000" dirty="0"/>
              <a:t>6</a:t>
            </a:r>
            <a:r>
              <a:rPr lang="pt-BR" sz="2800" dirty="0"/>
              <a:t>H</a:t>
            </a:r>
            <a:r>
              <a:rPr lang="pt-BR" sz="2800" baseline="-25000" dirty="0"/>
              <a:t>12</a:t>
            </a:r>
            <a:r>
              <a:rPr lang="pt-BR" sz="2800" dirty="0"/>
              <a:t>O</a:t>
            </a:r>
            <a:r>
              <a:rPr lang="pt-BR" sz="2800" baseline="-25000" dirty="0"/>
              <a:t>6</a:t>
            </a:r>
            <a:r>
              <a:rPr lang="pt-BR" sz="2800" dirty="0"/>
              <a:t> + 6O</a:t>
            </a:r>
            <a:r>
              <a:rPr lang="pt-BR" sz="2800" baseline="-25000" dirty="0"/>
              <a:t>2</a:t>
            </a:r>
            <a:r>
              <a:rPr lang="pt-BR" sz="2800" dirty="0"/>
              <a:t> + 6H</a:t>
            </a:r>
            <a:r>
              <a:rPr lang="pt-BR" sz="2800" baseline="-25000" dirty="0"/>
              <a:t>2</a:t>
            </a:r>
            <a:r>
              <a:rPr lang="pt-BR" sz="2800" dirty="0"/>
              <a:t>O</a:t>
            </a:r>
            <a:endParaRPr lang="en-US" sz="2800" dirty="0"/>
          </a:p>
        </p:txBody>
      </p:sp>
      <p:sp>
        <p:nvSpPr>
          <p:cNvPr id="13" name="TextBox 12"/>
          <p:cNvSpPr txBox="1"/>
          <p:nvPr/>
        </p:nvSpPr>
        <p:spPr>
          <a:xfrm>
            <a:off x="228600" y="1752600"/>
            <a:ext cx="7086600" cy="523220"/>
          </a:xfrm>
          <a:prstGeom prst="rect">
            <a:avLst/>
          </a:prstGeom>
          <a:noFill/>
        </p:spPr>
        <p:txBody>
          <a:bodyPr wrap="square" rtlCol="0">
            <a:spAutoFit/>
          </a:bodyPr>
          <a:lstStyle/>
          <a:p>
            <a:r>
              <a:rPr lang="en-US" sz="2800" dirty="0"/>
              <a:t>The equation is the net reaction of all steps:</a:t>
            </a:r>
          </a:p>
        </p:txBody>
      </p:sp>
      <p:pic>
        <p:nvPicPr>
          <p:cNvPr id="2" name="Picture 1"/>
          <p:cNvPicPr>
            <a:picLocks noChangeAspect="1"/>
          </p:cNvPicPr>
          <p:nvPr/>
        </p:nvPicPr>
        <p:blipFill>
          <a:blip r:embed="rId3"/>
          <a:stretch>
            <a:fillRect/>
          </a:stretch>
        </p:blipFill>
        <p:spPr>
          <a:xfrm>
            <a:off x="304800" y="4191000"/>
            <a:ext cx="3733800" cy="2390244"/>
          </a:xfrm>
          <a:prstGeom prst="rect">
            <a:avLst/>
          </a:prstGeom>
        </p:spPr>
      </p:pic>
      <p:pic>
        <p:nvPicPr>
          <p:cNvPr id="3" name="Picture 2"/>
          <p:cNvPicPr>
            <a:picLocks noChangeAspect="1"/>
          </p:cNvPicPr>
          <p:nvPr/>
        </p:nvPicPr>
        <p:blipFill>
          <a:blip r:embed="rId4"/>
          <a:stretch>
            <a:fillRect/>
          </a:stretch>
        </p:blipFill>
        <p:spPr>
          <a:xfrm>
            <a:off x="4431131" y="4648200"/>
            <a:ext cx="2521692" cy="1695184"/>
          </a:xfrm>
          <a:prstGeom prst="rect">
            <a:avLst/>
          </a:prstGeom>
        </p:spPr>
      </p:pic>
    </p:spTree>
  </p:cSld>
  <p:clrMapOvr>
    <a:masterClrMapping/>
  </p:clrMapOvr>
  <p:transition>
    <p:fade/>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bwMode="gray">
          <a:xfrm>
            <a:off x="152400" y="152400"/>
            <a:ext cx="8991600" cy="457200"/>
          </a:xfrm>
          <a:prstGeom prst="rect">
            <a:avLst/>
          </a:prstGeom>
          <a:noFill/>
          <a:ln w="9525">
            <a:noFill/>
            <a:miter lim="800000"/>
            <a:headEnd/>
            <a:tailEnd/>
          </a:ln>
        </p:spPr>
        <p:txBody>
          <a:bodyPr vert="horz" wrap="square" lIns="0" tIns="0" rIns="0" bIns="0" numCol="1" anchor="ctr" anchorCtr="0" compatLnSpc="1">
            <a:prstTxWarp prst="textNoShape">
              <a:avLst/>
            </a:prstTxWarp>
          </a:bodyPr>
          <a:lstStyle/>
          <a:p>
            <a:r>
              <a:rPr lang="en-US" sz="2800" b="1" dirty="0">
                <a:solidFill>
                  <a:schemeClr val="bg1"/>
                </a:solidFill>
              </a:rPr>
              <a:t>Photosynthesis</a:t>
            </a:r>
            <a:endParaRPr lang="en-US" sz="2800" b="1" kern="0" dirty="0">
              <a:solidFill>
                <a:schemeClr val="bg1"/>
              </a:solidFill>
            </a:endParaRPr>
          </a:p>
        </p:txBody>
      </p:sp>
      <p:sp>
        <p:nvSpPr>
          <p:cNvPr id="9" name="Title 8"/>
          <p:cNvSpPr>
            <a:spLocks noGrp="1"/>
          </p:cNvSpPr>
          <p:nvPr>
            <p:ph type="title"/>
          </p:nvPr>
        </p:nvSpPr>
        <p:spPr>
          <a:xfrm>
            <a:off x="167640" y="762000"/>
            <a:ext cx="8991600" cy="685800"/>
          </a:xfrm>
        </p:spPr>
        <p:txBody>
          <a:bodyPr/>
          <a:lstStyle/>
          <a:p>
            <a:pPr>
              <a:lnSpc>
                <a:spcPct val="100000"/>
              </a:lnSpc>
            </a:pPr>
            <a:r>
              <a:rPr lang="en-US" sz="3600" b="1" dirty="0">
                <a:solidFill>
                  <a:schemeClr val="tx1"/>
                </a:solidFill>
              </a:rPr>
              <a:t>Photosynthesis is a series of steps</a:t>
            </a:r>
          </a:p>
        </p:txBody>
      </p:sp>
      <p:sp>
        <p:nvSpPr>
          <p:cNvPr id="13" name="TextBox 12"/>
          <p:cNvSpPr txBox="1"/>
          <p:nvPr/>
        </p:nvSpPr>
        <p:spPr>
          <a:xfrm>
            <a:off x="167640" y="1445448"/>
            <a:ext cx="7086600" cy="1631216"/>
          </a:xfrm>
          <a:prstGeom prst="rect">
            <a:avLst/>
          </a:prstGeom>
          <a:noFill/>
        </p:spPr>
        <p:txBody>
          <a:bodyPr wrap="square" rtlCol="0">
            <a:spAutoFit/>
          </a:bodyPr>
          <a:lstStyle/>
          <a:p>
            <a:endParaRPr lang="en-US" sz="2800" dirty="0"/>
          </a:p>
          <a:p>
            <a:pPr marL="457200" indent="-457200">
              <a:buFont typeface="+mj-lt"/>
              <a:buAutoNum type="arabicPeriod"/>
            </a:pPr>
            <a:r>
              <a:rPr lang="en-US" sz="2400" dirty="0"/>
              <a:t>Chloroplasts</a:t>
            </a:r>
          </a:p>
          <a:p>
            <a:pPr marL="457200" indent="-457200">
              <a:buFont typeface="+mj-lt"/>
              <a:buAutoNum type="arabicPeriod"/>
            </a:pPr>
            <a:r>
              <a:rPr lang="en-US" sz="2400" dirty="0"/>
              <a:t>The light-dependent stage</a:t>
            </a:r>
          </a:p>
          <a:p>
            <a:pPr marL="457200" indent="-457200">
              <a:buFont typeface="+mj-lt"/>
              <a:buAutoNum type="arabicPeriod"/>
            </a:pPr>
            <a:r>
              <a:rPr lang="en-US" sz="2400" dirty="0"/>
              <a:t>The light-independent stage</a:t>
            </a:r>
          </a:p>
        </p:txBody>
      </p:sp>
      <p:pic>
        <p:nvPicPr>
          <p:cNvPr id="2" name="Picture 1"/>
          <p:cNvPicPr>
            <a:picLocks noChangeAspect="1"/>
          </p:cNvPicPr>
          <p:nvPr/>
        </p:nvPicPr>
        <p:blipFill>
          <a:blip r:embed="rId3"/>
          <a:stretch>
            <a:fillRect/>
          </a:stretch>
        </p:blipFill>
        <p:spPr>
          <a:xfrm>
            <a:off x="3429000" y="3581400"/>
            <a:ext cx="5334000" cy="3048000"/>
          </a:xfrm>
          <a:prstGeom prst="rect">
            <a:avLst/>
          </a:prstGeom>
        </p:spPr>
      </p:pic>
      <p:pic>
        <p:nvPicPr>
          <p:cNvPr id="3" name="Picture 2"/>
          <p:cNvPicPr>
            <a:picLocks noChangeAspect="1"/>
          </p:cNvPicPr>
          <p:nvPr/>
        </p:nvPicPr>
        <p:blipFill rotWithShape="1">
          <a:blip r:embed="rId4"/>
          <a:srcRect l="7156" t="14575"/>
          <a:stretch/>
        </p:blipFill>
        <p:spPr>
          <a:xfrm>
            <a:off x="381000" y="4572000"/>
            <a:ext cx="2545862" cy="1856120"/>
          </a:xfrm>
          <a:prstGeom prst="rect">
            <a:avLst/>
          </a:prstGeom>
        </p:spPr>
      </p:pic>
    </p:spTree>
  </p:cSld>
  <p:clrMapOvr>
    <a:masterClrMapping/>
  </p:clrMapOvr>
  <p:transition>
    <p:fade/>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407190" y="1066800"/>
            <a:ext cx="3124200" cy="1295400"/>
          </a:xfrm>
        </p:spPr>
        <p:txBody>
          <a:bodyPr/>
          <a:lstStyle/>
          <a:p>
            <a:pPr eaLnBrk="1" hangingPunct="1"/>
            <a:r>
              <a:rPr lang="en-US" altLang="en-US" u="sng" dirty="0"/>
              <a:t>Chloroplasts</a:t>
            </a:r>
            <a:r>
              <a:rPr lang="en-US" altLang="en-US" dirty="0"/>
              <a:t> </a:t>
            </a:r>
          </a:p>
        </p:txBody>
      </p:sp>
      <p:pic>
        <p:nvPicPr>
          <p:cNvPr id="13315" name="Picture 3"/>
          <p:cNvPicPr>
            <a:picLocks noGrp="1" noChangeAspect="1" noChangeArrowheads="1"/>
          </p:cNvPicPr>
          <p:nvPr>
            <p:ph type="body" idx="1"/>
          </p:nvPr>
        </p:nvPicPr>
        <p:blipFill>
          <a:blip r:embed="rId3">
            <a:extLst>
              <a:ext uri="{28A0092B-C50C-407E-A947-70E740481C1C}">
                <a14:useLocalDpi xmlns:a14="http://schemas.microsoft.com/office/drawing/2010/main" val="0"/>
              </a:ext>
            </a:extLst>
          </a:blip>
          <a:srcRect/>
          <a:stretch>
            <a:fillRect/>
          </a:stretch>
        </p:blipFill>
        <p:spPr>
          <a:xfrm>
            <a:off x="592015" y="2244550"/>
            <a:ext cx="3033160" cy="3394250"/>
          </a:xfrm>
          <a:noFill/>
        </p:spPr>
      </p:pic>
      <p:sp>
        <p:nvSpPr>
          <p:cNvPr id="2" name="TextBox 1"/>
          <p:cNvSpPr txBox="1"/>
          <p:nvPr/>
        </p:nvSpPr>
        <p:spPr>
          <a:xfrm>
            <a:off x="3810000" y="1066800"/>
            <a:ext cx="4800600" cy="5669244"/>
          </a:xfrm>
          <a:prstGeom prst="rect">
            <a:avLst/>
          </a:prstGeom>
          <a:noFill/>
        </p:spPr>
        <p:txBody>
          <a:bodyPr wrap="square" rtlCol="0">
            <a:spAutoFit/>
          </a:bodyPr>
          <a:lstStyle/>
          <a:p>
            <a:pPr marL="228600" indent="-228600" eaLnBrk="0" hangingPunct="0">
              <a:spcBef>
                <a:spcPct val="30000"/>
              </a:spcBef>
              <a:buFont typeface="Arial" panose="020B0604020202020204" pitchFamily="34" charset="0"/>
              <a:buChar char="•"/>
              <a:defRPr/>
            </a:pPr>
            <a:r>
              <a:rPr lang="en-US" sz="2800" dirty="0"/>
              <a:t>Chloroplasts are the site of photosynthesis.</a:t>
            </a:r>
          </a:p>
          <a:p>
            <a:pPr marL="228600" indent="-228600" eaLnBrk="0" hangingPunct="0">
              <a:spcBef>
                <a:spcPct val="30000"/>
              </a:spcBef>
              <a:buFont typeface="Arial" panose="020B0604020202020204" pitchFamily="34" charset="0"/>
              <a:buChar char="•"/>
              <a:defRPr/>
            </a:pPr>
            <a:r>
              <a:rPr lang="en-US" sz="2800" dirty="0"/>
              <a:t>The stroma is a gel like matrix rich in enzymes, enclosed by the inner membrane. </a:t>
            </a:r>
          </a:p>
          <a:p>
            <a:pPr marL="228600" indent="-228600">
              <a:buFont typeface="Arial" panose="020B0604020202020204" pitchFamily="34" charset="0"/>
              <a:buChar char="•"/>
            </a:pPr>
            <a:r>
              <a:rPr lang="en-US" sz="2800" dirty="0"/>
              <a:t>Suspended in the stroma is the thylakoid membranes. </a:t>
            </a:r>
          </a:p>
          <a:p>
            <a:pPr marL="228600" indent="-228600">
              <a:buFont typeface="Arial" panose="020B0604020202020204" pitchFamily="34" charset="0"/>
              <a:buChar char="•"/>
            </a:pPr>
            <a:r>
              <a:rPr lang="en-US" sz="2800" dirty="0"/>
              <a:t>These are flat, sac-like structures that are called grana when grouped together into stacks.</a:t>
            </a:r>
          </a:p>
          <a:p>
            <a:endParaRPr lang="en-US" dirty="0"/>
          </a:p>
        </p:txBody>
      </p:sp>
    </p:spTree>
    <p:extLst>
      <p:ext uri="{BB962C8B-B14F-4D97-AF65-F5344CB8AC3E}">
        <p14:creationId xmlns:p14="http://schemas.microsoft.com/office/powerpoint/2010/main" val="3813424643"/>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685800" y="381000"/>
            <a:ext cx="7772400" cy="685800"/>
          </a:xfrm>
        </p:spPr>
        <p:txBody>
          <a:bodyPr/>
          <a:lstStyle/>
          <a:p>
            <a:pPr algn="ctr" eaLnBrk="1" hangingPunct="1"/>
            <a:r>
              <a:rPr lang="en-US" altLang="en-US" dirty="0"/>
              <a:t/>
            </a:r>
            <a:br>
              <a:rPr lang="en-US" altLang="en-US" dirty="0"/>
            </a:br>
            <a:r>
              <a:rPr lang="en-US" altLang="en-US" dirty="0"/>
              <a:t/>
            </a:r>
            <a:br>
              <a:rPr lang="en-US" altLang="en-US" dirty="0"/>
            </a:br>
            <a:r>
              <a:rPr lang="en-US" altLang="en-US" dirty="0"/>
              <a:t>PHOTOSYNTHESIS</a:t>
            </a:r>
          </a:p>
        </p:txBody>
      </p:sp>
      <p:sp>
        <p:nvSpPr>
          <p:cNvPr id="18435" name="Rectangle 3"/>
          <p:cNvSpPr>
            <a:spLocks noGrp="1" noChangeArrowheads="1"/>
          </p:cNvSpPr>
          <p:nvPr>
            <p:ph type="body" idx="1"/>
          </p:nvPr>
        </p:nvSpPr>
        <p:spPr>
          <a:xfrm>
            <a:off x="457200" y="1295400"/>
            <a:ext cx="5486400" cy="4800600"/>
          </a:xfrm>
        </p:spPr>
        <p:txBody>
          <a:bodyPr/>
          <a:lstStyle/>
          <a:p>
            <a:pPr eaLnBrk="1" hangingPunct="1"/>
            <a:endParaRPr lang="en-US" altLang="en-US" dirty="0"/>
          </a:p>
          <a:p>
            <a:pPr eaLnBrk="1" hangingPunct="1"/>
            <a:r>
              <a:rPr lang="en-US" altLang="en-US" sz="2000" dirty="0"/>
              <a:t>Why do we see green?  </a:t>
            </a:r>
          </a:p>
          <a:p>
            <a:pPr lvl="1" eaLnBrk="1" hangingPunct="1"/>
            <a:r>
              <a:rPr lang="en-US" altLang="en-US" sz="2000" dirty="0"/>
              <a:t>Green color from white light </a:t>
            </a:r>
            <a:r>
              <a:rPr lang="en-US" altLang="en-US" sz="2000" u="sng" dirty="0"/>
              <a:t>reflected</a:t>
            </a:r>
            <a:r>
              <a:rPr lang="en-US" altLang="en-US" sz="2000" dirty="0"/>
              <a:t> NOT absorbed</a:t>
            </a:r>
          </a:p>
          <a:p>
            <a:pPr lvl="1" eaLnBrk="1" hangingPunct="1"/>
            <a:r>
              <a:rPr lang="en-US" altLang="en-US" sz="2000" dirty="0"/>
              <a:t>Chloroplast:  organelle responsible for photosynthesis</a:t>
            </a:r>
          </a:p>
          <a:p>
            <a:pPr lvl="2" eaLnBrk="1" hangingPunct="1"/>
            <a:r>
              <a:rPr lang="en-US" altLang="en-US" sz="2000" dirty="0"/>
              <a:t>Chlorophyll:  located within Chloroplast</a:t>
            </a:r>
          </a:p>
          <a:p>
            <a:pPr lvl="3" eaLnBrk="1" hangingPunct="1"/>
            <a:r>
              <a:rPr lang="en-US" altLang="en-US" sz="2000" dirty="0"/>
              <a:t>Green pigment</a:t>
            </a:r>
          </a:p>
        </p:txBody>
      </p:sp>
      <p:pic>
        <p:nvPicPr>
          <p:cNvPr id="18436" name="Picture 6" descr="javaphotosynthesisfigure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43600" y="2057400"/>
            <a:ext cx="2908300" cy="304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12984735"/>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8" name="Picture 2" descr="Image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2286000"/>
            <a:ext cx="9144000" cy="4037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443" name="Rectangle 3"/>
          <p:cNvSpPr>
            <a:spLocks noChangeArrowheads="1"/>
          </p:cNvSpPr>
          <p:nvPr/>
        </p:nvSpPr>
        <p:spPr bwMode="auto">
          <a:xfrm>
            <a:off x="304800" y="533400"/>
            <a:ext cx="3810000" cy="396875"/>
          </a:xfrm>
          <a:prstGeom prst="rect">
            <a:avLst/>
          </a:prstGeom>
          <a:noFill/>
          <a:ln w="9525">
            <a:noFill/>
            <a:miter lim="800000"/>
            <a:headEnd/>
            <a:tailEnd/>
          </a:ln>
          <a:effectLst/>
        </p:spPr>
        <p:txBody>
          <a:bodyPr>
            <a:spAutoFit/>
          </a:bodyPr>
          <a:lstStyle/>
          <a:p>
            <a:pPr eaLnBrk="0" hangingPunct="0">
              <a:defRPr/>
            </a:pPr>
            <a:endParaRPr lang="en-US" sz="2000">
              <a:solidFill>
                <a:schemeClr val="bg1"/>
              </a:solidFill>
              <a:effectLst>
                <a:outerShdw blurRad="38100" dist="38100" dir="2700000" algn="tl">
                  <a:srgbClr val="000000"/>
                </a:outerShdw>
              </a:effectLst>
              <a:latin typeface="Arial" charset="0"/>
              <a:cs typeface="Times New Roman" pitchFamily="1" charset="0"/>
            </a:endParaRPr>
          </a:p>
        </p:txBody>
      </p:sp>
      <p:sp>
        <p:nvSpPr>
          <p:cNvPr id="19460" name="Text Box 4"/>
          <p:cNvSpPr txBox="1">
            <a:spLocks noChangeArrowheads="1"/>
          </p:cNvSpPr>
          <p:nvPr/>
        </p:nvSpPr>
        <p:spPr bwMode="auto">
          <a:xfrm>
            <a:off x="2971800" y="228600"/>
            <a:ext cx="3505200" cy="2227263"/>
          </a:xfrm>
          <a:prstGeom prst="rect">
            <a:avLst/>
          </a:prstGeom>
          <a:solidFill>
            <a:srgbClr val="FFFF00"/>
          </a:solidFill>
          <a:ln>
            <a:noFill/>
          </a:ln>
          <a:extLs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eaLnBrk="0" hangingPunct="0">
              <a:defRPr>
                <a:solidFill>
                  <a:schemeClr val="tx1"/>
                </a:solidFill>
                <a:latin typeface="Times New Roman" panose="02020603050405020304" pitchFamily="18" charset="0"/>
                <a:cs typeface="Times New Roman" panose="02020603050405020304" pitchFamily="18" charset="0"/>
              </a:defRPr>
            </a:lvl1pPr>
            <a:lvl2pPr marL="742950" indent="-285750" eaLnBrk="0" hangingPunct="0">
              <a:defRPr>
                <a:solidFill>
                  <a:schemeClr val="tx1"/>
                </a:solidFill>
                <a:latin typeface="Times New Roman" panose="02020603050405020304" pitchFamily="18" charset="0"/>
                <a:cs typeface="Times New Roman" panose="02020603050405020304" pitchFamily="18" charset="0"/>
              </a:defRPr>
            </a:lvl2pPr>
            <a:lvl3pPr marL="1143000" indent="-228600" eaLnBrk="0" hangingPunct="0">
              <a:defRPr>
                <a:solidFill>
                  <a:schemeClr val="tx1"/>
                </a:solidFill>
                <a:latin typeface="Times New Roman" panose="02020603050405020304" pitchFamily="18" charset="0"/>
                <a:cs typeface="Times New Roman" panose="02020603050405020304" pitchFamily="18" charset="0"/>
              </a:defRPr>
            </a:lvl3pPr>
            <a:lvl4pPr marL="1600200" indent="-228600" eaLnBrk="0" hangingPunct="0">
              <a:defRPr>
                <a:solidFill>
                  <a:schemeClr val="tx1"/>
                </a:solidFill>
                <a:latin typeface="Times New Roman" panose="02020603050405020304" pitchFamily="18" charset="0"/>
                <a:cs typeface="Times New Roman" panose="02020603050405020304" pitchFamily="18" charset="0"/>
              </a:defRPr>
            </a:lvl4pPr>
            <a:lvl5pPr marL="2057400" indent="-228600" eaLnBrk="0" hangingPunct="0">
              <a:defRPr>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Times New Roman" panose="02020603050405020304" pitchFamily="18" charset="0"/>
                <a:cs typeface="Times New Roman" panose="02020603050405020304" pitchFamily="18" charset="0"/>
              </a:defRPr>
            </a:lvl9pPr>
          </a:lstStyle>
          <a:p>
            <a:pPr>
              <a:spcBef>
                <a:spcPct val="50000"/>
              </a:spcBef>
            </a:pPr>
            <a:r>
              <a:rPr lang="en-US" altLang="en-US" sz="2800" b="1">
                <a:solidFill>
                  <a:schemeClr val="bg2"/>
                </a:solidFill>
                <a:latin typeface="Arial" panose="020B0604020202020204" pitchFamily="34" charset="0"/>
              </a:rPr>
              <a:t>Visible light is only a small part of the electromagnetic spectrum (all forms of light).</a:t>
            </a:r>
          </a:p>
        </p:txBody>
      </p:sp>
    </p:spTree>
    <p:extLst>
      <p:ext uri="{BB962C8B-B14F-4D97-AF65-F5344CB8AC3E}">
        <p14:creationId xmlns:p14="http://schemas.microsoft.com/office/powerpoint/2010/main" val="482029826"/>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body" sz="half" idx="1"/>
          </p:nvPr>
        </p:nvSpPr>
        <p:spPr>
          <a:xfrm>
            <a:off x="0" y="1125350"/>
            <a:ext cx="9448800" cy="3352800"/>
          </a:xfrm>
        </p:spPr>
        <p:txBody>
          <a:bodyPr/>
          <a:lstStyle/>
          <a:p>
            <a:pPr eaLnBrk="1" hangingPunct="1"/>
            <a:r>
              <a:rPr lang="en-US" altLang="en-US" sz="2400" dirty="0"/>
              <a:t>LIGHT behaves as if it were composed of "units" or "packets" of energy that travel in waves. These packets are </a:t>
            </a:r>
            <a:r>
              <a:rPr lang="en-US" altLang="en-US" sz="2400" b="1" i="1" dirty="0"/>
              <a:t>photons</a:t>
            </a:r>
            <a:r>
              <a:rPr lang="en-US" altLang="en-US" sz="2400" dirty="0"/>
              <a:t>.</a:t>
            </a:r>
          </a:p>
          <a:p>
            <a:pPr eaLnBrk="1" hangingPunct="1"/>
            <a:r>
              <a:rPr lang="en-US" altLang="en-US" sz="2400" dirty="0"/>
              <a:t>The </a:t>
            </a:r>
            <a:r>
              <a:rPr lang="en-US" altLang="en-US" sz="2400" b="1" i="1" dirty="0"/>
              <a:t>wavelength</a:t>
            </a:r>
            <a:r>
              <a:rPr lang="en-US" altLang="en-US" sz="2400" dirty="0"/>
              <a:t> of light determines its color</a:t>
            </a:r>
            <a:r>
              <a:rPr lang="en-US" altLang="en-US" sz="3600" dirty="0"/>
              <a:t>.</a:t>
            </a:r>
          </a:p>
          <a:p>
            <a:pPr eaLnBrk="1" hangingPunct="1">
              <a:buFontTx/>
              <a:buNone/>
            </a:pPr>
            <a:endParaRPr lang="en-US" altLang="en-US" sz="2800" dirty="0"/>
          </a:p>
        </p:txBody>
      </p:sp>
      <p:pic>
        <p:nvPicPr>
          <p:cNvPr id="20483" name="Picture 3" descr="photos16"/>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304800" y="2441575"/>
            <a:ext cx="8305800" cy="4117975"/>
          </a:xfrm>
          <a:solidFill>
            <a:schemeClr val="tx2"/>
          </a:solidFill>
        </p:spPr>
      </p:pic>
    </p:spTree>
    <p:extLst>
      <p:ext uri="{BB962C8B-B14F-4D97-AF65-F5344CB8AC3E}">
        <p14:creationId xmlns:p14="http://schemas.microsoft.com/office/powerpoint/2010/main" val="1862705496"/>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p:txBody>
          <a:bodyPr/>
          <a:lstStyle/>
          <a:p>
            <a:r>
              <a:rPr lang="en-US" altLang="en-US" b="1">
                <a:solidFill>
                  <a:srgbClr val="008000"/>
                </a:solidFill>
                <a:effectLst>
                  <a:outerShdw blurRad="38100" dist="38100" dir="2700000" algn="tl">
                    <a:srgbClr val="000000"/>
                  </a:outerShdw>
                </a:effectLst>
              </a:rPr>
              <a:t>Absorption of Chlorophyll</a:t>
            </a:r>
            <a:endParaRPr lang="en-US" altLang="en-US"/>
          </a:p>
        </p:txBody>
      </p:sp>
      <p:sp>
        <p:nvSpPr>
          <p:cNvPr id="41990" name="Text Box 6"/>
          <p:cNvSpPr txBox="1">
            <a:spLocks noChangeArrowheads="1"/>
          </p:cNvSpPr>
          <p:nvPr/>
        </p:nvSpPr>
        <p:spPr bwMode="auto">
          <a:xfrm>
            <a:off x="3733800" y="6172200"/>
            <a:ext cx="18430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solidFill>
                  <a:srgbClr val="DC0081"/>
                </a:solidFill>
                <a:effectLst>
                  <a:outerShdw blurRad="38100" dist="38100" dir="2700000" algn="tl">
                    <a:srgbClr val="000000"/>
                  </a:outerShdw>
                </a:effectLst>
              </a:rPr>
              <a:t>wavelength</a:t>
            </a:r>
            <a:endParaRPr lang="en-US" altLang="en-US"/>
          </a:p>
        </p:txBody>
      </p:sp>
      <p:sp>
        <p:nvSpPr>
          <p:cNvPr id="41992" name="Text Box 8"/>
          <p:cNvSpPr txBox="1">
            <a:spLocks noChangeArrowheads="1"/>
          </p:cNvSpPr>
          <p:nvPr/>
        </p:nvSpPr>
        <p:spPr bwMode="auto">
          <a:xfrm>
            <a:off x="228600" y="4114800"/>
            <a:ext cx="153987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000" b="1">
                <a:solidFill>
                  <a:srgbClr val="0000CC"/>
                </a:solidFill>
              </a:rPr>
              <a:t>Absorption</a:t>
            </a:r>
          </a:p>
        </p:txBody>
      </p:sp>
      <p:grpSp>
        <p:nvGrpSpPr>
          <p:cNvPr id="41996" name="Group 12"/>
          <p:cNvGrpSpPr>
            <a:grpSpLocks/>
          </p:cNvGrpSpPr>
          <p:nvPr/>
        </p:nvGrpSpPr>
        <p:grpSpPr bwMode="auto">
          <a:xfrm>
            <a:off x="1676400" y="2362200"/>
            <a:ext cx="6762750" cy="3886200"/>
            <a:chOff x="1056" y="1488"/>
            <a:chExt cx="4260" cy="2448"/>
          </a:xfrm>
        </p:grpSpPr>
        <p:sp>
          <p:nvSpPr>
            <p:cNvPr id="41988" name="Line 4"/>
            <p:cNvSpPr>
              <a:spLocks noChangeShapeType="1"/>
            </p:cNvSpPr>
            <p:nvPr/>
          </p:nvSpPr>
          <p:spPr bwMode="auto">
            <a:xfrm>
              <a:off x="1104" y="1488"/>
              <a:ext cx="0" cy="216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41989" name="Line 5"/>
            <p:cNvSpPr>
              <a:spLocks noChangeShapeType="1"/>
            </p:cNvSpPr>
            <p:nvPr/>
          </p:nvSpPr>
          <p:spPr bwMode="auto">
            <a:xfrm>
              <a:off x="1104" y="3648"/>
              <a:ext cx="412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41991" name="Text Box 7"/>
            <p:cNvSpPr txBox="1">
              <a:spLocks noChangeArrowheads="1"/>
            </p:cNvSpPr>
            <p:nvPr/>
          </p:nvSpPr>
          <p:spPr bwMode="auto">
            <a:xfrm>
              <a:off x="1056" y="3648"/>
              <a:ext cx="411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solidFill>
                    <a:srgbClr val="800080"/>
                  </a:solidFill>
                </a:rPr>
                <a:t>violet</a:t>
              </a:r>
              <a:r>
                <a:rPr lang="en-US" altLang="en-US" b="1"/>
                <a:t>    </a:t>
              </a:r>
              <a:r>
                <a:rPr lang="en-US" altLang="en-US" b="1">
                  <a:solidFill>
                    <a:srgbClr val="0000CC"/>
                  </a:solidFill>
                </a:rPr>
                <a:t>blue</a:t>
              </a:r>
              <a:r>
                <a:rPr lang="en-US" altLang="en-US" b="1"/>
                <a:t>    </a:t>
              </a:r>
              <a:r>
                <a:rPr lang="en-US" altLang="en-US" b="1">
                  <a:solidFill>
                    <a:srgbClr val="008000"/>
                  </a:solidFill>
                </a:rPr>
                <a:t>green</a:t>
              </a:r>
              <a:r>
                <a:rPr lang="en-US" altLang="en-US" b="1"/>
                <a:t>    </a:t>
              </a:r>
              <a:r>
                <a:rPr lang="en-US" altLang="en-US" b="1">
                  <a:solidFill>
                    <a:srgbClr val="FAFD00"/>
                  </a:solidFill>
                </a:rPr>
                <a:t>yellow</a:t>
              </a:r>
              <a:r>
                <a:rPr lang="en-US" altLang="en-US" b="1"/>
                <a:t>    </a:t>
              </a:r>
              <a:r>
                <a:rPr lang="en-US" altLang="en-US" b="1">
                  <a:solidFill>
                    <a:srgbClr val="FE9B03"/>
                  </a:solidFill>
                </a:rPr>
                <a:t>orange</a:t>
              </a:r>
              <a:r>
                <a:rPr lang="en-US" altLang="en-US" b="1"/>
                <a:t>    </a:t>
              </a:r>
              <a:r>
                <a:rPr lang="en-US" altLang="en-US" b="1">
                  <a:solidFill>
                    <a:schemeClr val="hlink"/>
                  </a:solidFill>
                </a:rPr>
                <a:t>red</a:t>
              </a:r>
              <a:endParaRPr lang="en-US" altLang="en-US" b="1"/>
            </a:p>
          </p:txBody>
        </p:sp>
        <p:sp>
          <p:nvSpPr>
            <p:cNvPr id="41995" name="Freeform 11"/>
            <p:cNvSpPr>
              <a:spLocks/>
            </p:cNvSpPr>
            <p:nvPr/>
          </p:nvSpPr>
          <p:spPr bwMode="auto">
            <a:xfrm>
              <a:off x="1104" y="1704"/>
              <a:ext cx="4212" cy="1788"/>
            </a:xfrm>
            <a:custGeom>
              <a:avLst/>
              <a:gdLst>
                <a:gd name="T0" fmla="*/ 0 w 4212"/>
                <a:gd name="T1" fmla="*/ 816 h 1788"/>
                <a:gd name="T2" fmla="*/ 252 w 4212"/>
                <a:gd name="T3" fmla="*/ 660 h 1788"/>
                <a:gd name="T4" fmla="*/ 444 w 4212"/>
                <a:gd name="T5" fmla="*/ 576 h 1788"/>
                <a:gd name="T6" fmla="*/ 588 w 4212"/>
                <a:gd name="T7" fmla="*/ 432 h 1788"/>
                <a:gd name="T8" fmla="*/ 612 w 4212"/>
                <a:gd name="T9" fmla="*/ 384 h 1788"/>
                <a:gd name="T10" fmla="*/ 660 w 4212"/>
                <a:gd name="T11" fmla="*/ 312 h 1788"/>
                <a:gd name="T12" fmla="*/ 720 w 4212"/>
                <a:gd name="T13" fmla="*/ 84 h 1788"/>
                <a:gd name="T14" fmla="*/ 744 w 4212"/>
                <a:gd name="T15" fmla="*/ 36 h 1788"/>
                <a:gd name="T16" fmla="*/ 756 w 4212"/>
                <a:gd name="T17" fmla="*/ 0 h 1788"/>
                <a:gd name="T18" fmla="*/ 792 w 4212"/>
                <a:gd name="T19" fmla="*/ 12 h 1788"/>
                <a:gd name="T20" fmla="*/ 804 w 4212"/>
                <a:gd name="T21" fmla="*/ 48 h 1788"/>
                <a:gd name="T22" fmla="*/ 828 w 4212"/>
                <a:gd name="T23" fmla="*/ 84 h 1788"/>
                <a:gd name="T24" fmla="*/ 876 w 4212"/>
                <a:gd name="T25" fmla="*/ 264 h 1788"/>
                <a:gd name="T26" fmla="*/ 948 w 4212"/>
                <a:gd name="T27" fmla="*/ 492 h 1788"/>
                <a:gd name="T28" fmla="*/ 1056 w 4212"/>
                <a:gd name="T29" fmla="*/ 684 h 1788"/>
                <a:gd name="T30" fmla="*/ 1128 w 4212"/>
                <a:gd name="T31" fmla="*/ 852 h 1788"/>
                <a:gd name="T32" fmla="*/ 1176 w 4212"/>
                <a:gd name="T33" fmla="*/ 1032 h 1788"/>
                <a:gd name="T34" fmla="*/ 1200 w 4212"/>
                <a:gd name="T35" fmla="*/ 1224 h 1788"/>
                <a:gd name="T36" fmla="*/ 1212 w 4212"/>
                <a:gd name="T37" fmla="*/ 1296 h 1788"/>
                <a:gd name="T38" fmla="*/ 1272 w 4212"/>
                <a:gd name="T39" fmla="*/ 1452 h 1788"/>
                <a:gd name="T40" fmla="*/ 1320 w 4212"/>
                <a:gd name="T41" fmla="*/ 1512 h 1788"/>
                <a:gd name="T42" fmla="*/ 1332 w 4212"/>
                <a:gd name="T43" fmla="*/ 1548 h 1788"/>
                <a:gd name="T44" fmla="*/ 1416 w 4212"/>
                <a:gd name="T45" fmla="*/ 1644 h 1788"/>
                <a:gd name="T46" fmla="*/ 1476 w 4212"/>
                <a:gd name="T47" fmla="*/ 1704 h 1788"/>
                <a:gd name="T48" fmla="*/ 1500 w 4212"/>
                <a:gd name="T49" fmla="*/ 1740 h 1788"/>
                <a:gd name="T50" fmla="*/ 1572 w 4212"/>
                <a:gd name="T51" fmla="*/ 1788 h 1788"/>
                <a:gd name="T52" fmla="*/ 1812 w 4212"/>
                <a:gd name="T53" fmla="*/ 1752 h 1788"/>
                <a:gd name="T54" fmla="*/ 2100 w 4212"/>
                <a:gd name="T55" fmla="*/ 1560 h 1788"/>
                <a:gd name="T56" fmla="*/ 2496 w 4212"/>
                <a:gd name="T57" fmla="*/ 1536 h 1788"/>
                <a:gd name="T58" fmla="*/ 2724 w 4212"/>
                <a:gd name="T59" fmla="*/ 1404 h 1788"/>
                <a:gd name="T60" fmla="*/ 2808 w 4212"/>
                <a:gd name="T61" fmla="*/ 1284 h 1788"/>
                <a:gd name="T62" fmla="*/ 2892 w 4212"/>
                <a:gd name="T63" fmla="*/ 1248 h 1788"/>
                <a:gd name="T64" fmla="*/ 3048 w 4212"/>
                <a:gd name="T65" fmla="*/ 1176 h 1788"/>
                <a:gd name="T66" fmla="*/ 3252 w 4212"/>
                <a:gd name="T67" fmla="*/ 1152 h 1788"/>
                <a:gd name="T68" fmla="*/ 3444 w 4212"/>
                <a:gd name="T69" fmla="*/ 1128 h 1788"/>
                <a:gd name="T70" fmla="*/ 3492 w 4212"/>
                <a:gd name="T71" fmla="*/ 1080 h 1788"/>
                <a:gd name="T72" fmla="*/ 3540 w 4212"/>
                <a:gd name="T73" fmla="*/ 1020 h 1788"/>
                <a:gd name="T74" fmla="*/ 3648 w 4212"/>
                <a:gd name="T75" fmla="*/ 876 h 1788"/>
                <a:gd name="T76" fmla="*/ 3684 w 4212"/>
                <a:gd name="T77" fmla="*/ 744 h 1788"/>
                <a:gd name="T78" fmla="*/ 3720 w 4212"/>
                <a:gd name="T79" fmla="*/ 660 h 1788"/>
                <a:gd name="T80" fmla="*/ 3780 w 4212"/>
                <a:gd name="T81" fmla="*/ 744 h 1788"/>
                <a:gd name="T82" fmla="*/ 3852 w 4212"/>
                <a:gd name="T83" fmla="*/ 984 h 1788"/>
                <a:gd name="T84" fmla="*/ 3936 w 4212"/>
                <a:gd name="T85" fmla="*/ 1140 h 1788"/>
                <a:gd name="T86" fmla="*/ 4140 w 4212"/>
                <a:gd name="T87" fmla="*/ 1404 h 1788"/>
                <a:gd name="T88" fmla="*/ 4164 w 4212"/>
                <a:gd name="T89" fmla="*/ 1440 h 1788"/>
                <a:gd name="T90" fmla="*/ 4212 w 4212"/>
                <a:gd name="T91" fmla="*/ 1476 h 17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212" h="1788">
                  <a:moveTo>
                    <a:pt x="0" y="816"/>
                  </a:moveTo>
                  <a:cubicBezTo>
                    <a:pt x="82" y="762"/>
                    <a:pt x="163" y="700"/>
                    <a:pt x="252" y="660"/>
                  </a:cubicBezTo>
                  <a:cubicBezTo>
                    <a:pt x="317" y="631"/>
                    <a:pt x="388" y="625"/>
                    <a:pt x="444" y="576"/>
                  </a:cubicBezTo>
                  <a:cubicBezTo>
                    <a:pt x="483" y="542"/>
                    <a:pt x="559" y="478"/>
                    <a:pt x="588" y="432"/>
                  </a:cubicBezTo>
                  <a:cubicBezTo>
                    <a:pt x="597" y="417"/>
                    <a:pt x="603" y="399"/>
                    <a:pt x="612" y="384"/>
                  </a:cubicBezTo>
                  <a:cubicBezTo>
                    <a:pt x="627" y="359"/>
                    <a:pt x="660" y="312"/>
                    <a:pt x="660" y="312"/>
                  </a:cubicBezTo>
                  <a:cubicBezTo>
                    <a:pt x="675" y="237"/>
                    <a:pt x="693" y="156"/>
                    <a:pt x="720" y="84"/>
                  </a:cubicBezTo>
                  <a:cubicBezTo>
                    <a:pt x="726" y="67"/>
                    <a:pt x="737" y="52"/>
                    <a:pt x="744" y="36"/>
                  </a:cubicBezTo>
                  <a:cubicBezTo>
                    <a:pt x="749" y="24"/>
                    <a:pt x="752" y="12"/>
                    <a:pt x="756" y="0"/>
                  </a:cubicBezTo>
                  <a:cubicBezTo>
                    <a:pt x="768" y="4"/>
                    <a:pt x="783" y="3"/>
                    <a:pt x="792" y="12"/>
                  </a:cubicBezTo>
                  <a:cubicBezTo>
                    <a:pt x="801" y="21"/>
                    <a:pt x="798" y="37"/>
                    <a:pt x="804" y="48"/>
                  </a:cubicBezTo>
                  <a:cubicBezTo>
                    <a:pt x="810" y="61"/>
                    <a:pt x="822" y="71"/>
                    <a:pt x="828" y="84"/>
                  </a:cubicBezTo>
                  <a:cubicBezTo>
                    <a:pt x="856" y="148"/>
                    <a:pt x="860" y="199"/>
                    <a:pt x="876" y="264"/>
                  </a:cubicBezTo>
                  <a:cubicBezTo>
                    <a:pt x="888" y="311"/>
                    <a:pt x="929" y="463"/>
                    <a:pt x="948" y="492"/>
                  </a:cubicBezTo>
                  <a:cubicBezTo>
                    <a:pt x="990" y="555"/>
                    <a:pt x="1019" y="619"/>
                    <a:pt x="1056" y="684"/>
                  </a:cubicBezTo>
                  <a:cubicBezTo>
                    <a:pt x="1088" y="739"/>
                    <a:pt x="1092" y="799"/>
                    <a:pt x="1128" y="852"/>
                  </a:cubicBezTo>
                  <a:cubicBezTo>
                    <a:pt x="1143" y="911"/>
                    <a:pt x="1169" y="973"/>
                    <a:pt x="1176" y="1032"/>
                  </a:cubicBezTo>
                  <a:cubicBezTo>
                    <a:pt x="1184" y="1096"/>
                    <a:pt x="1189" y="1160"/>
                    <a:pt x="1200" y="1224"/>
                  </a:cubicBezTo>
                  <a:cubicBezTo>
                    <a:pt x="1204" y="1248"/>
                    <a:pt x="1209" y="1272"/>
                    <a:pt x="1212" y="1296"/>
                  </a:cubicBezTo>
                  <a:cubicBezTo>
                    <a:pt x="1223" y="1376"/>
                    <a:pt x="1209" y="1410"/>
                    <a:pt x="1272" y="1452"/>
                  </a:cubicBezTo>
                  <a:cubicBezTo>
                    <a:pt x="1302" y="1542"/>
                    <a:pt x="1258" y="1434"/>
                    <a:pt x="1320" y="1512"/>
                  </a:cubicBezTo>
                  <a:cubicBezTo>
                    <a:pt x="1328" y="1522"/>
                    <a:pt x="1326" y="1537"/>
                    <a:pt x="1332" y="1548"/>
                  </a:cubicBezTo>
                  <a:cubicBezTo>
                    <a:pt x="1373" y="1622"/>
                    <a:pt x="1363" y="1609"/>
                    <a:pt x="1416" y="1644"/>
                  </a:cubicBezTo>
                  <a:cubicBezTo>
                    <a:pt x="1480" y="1740"/>
                    <a:pt x="1396" y="1624"/>
                    <a:pt x="1476" y="1704"/>
                  </a:cubicBezTo>
                  <a:cubicBezTo>
                    <a:pt x="1486" y="1714"/>
                    <a:pt x="1489" y="1731"/>
                    <a:pt x="1500" y="1740"/>
                  </a:cubicBezTo>
                  <a:cubicBezTo>
                    <a:pt x="1522" y="1759"/>
                    <a:pt x="1572" y="1788"/>
                    <a:pt x="1572" y="1788"/>
                  </a:cubicBezTo>
                  <a:cubicBezTo>
                    <a:pt x="1629" y="1784"/>
                    <a:pt x="1748" y="1788"/>
                    <a:pt x="1812" y="1752"/>
                  </a:cubicBezTo>
                  <a:cubicBezTo>
                    <a:pt x="1911" y="1697"/>
                    <a:pt x="2005" y="1623"/>
                    <a:pt x="2100" y="1560"/>
                  </a:cubicBezTo>
                  <a:cubicBezTo>
                    <a:pt x="2210" y="1487"/>
                    <a:pt x="2364" y="1540"/>
                    <a:pt x="2496" y="1536"/>
                  </a:cubicBezTo>
                  <a:cubicBezTo>
                    <a:pt x="2576" y="1509"/>
                    <a:pt x="2663" y="1465"/>
                    <a:pt x="2724" y="1404"/>
                  </a:cubicBezTo>
                  <a:cubicBezTo>
                    <a:pt x="2742" y="1386"/>
                    <a:pt x="2800" y="1296"/>
                    <a:pt x="2808" y="1284"/>
                  </a:cubicBezTo>
                  <a:cubicBezTo>
                    <a:pt x="2820" y="1265"/>
                    <a:pt x="2872" y="1258"/>
                    <a:pt x="2892" y="1248"/>
                  </a:cubicBezTo>
                  <a:cubicBezTo>
                    <a:pt x="2941" y="1223"/>
                    <a:pt x="2992" y="1186"/>
                    <a:pt x="3048" y="1176"/>
                  </a:cubicBezTo>
                  <a:cubicBezTo>
                    <a:pt x="3074" y="1171"/>
                    <a:pt x="3231" y="1154"/>
                    <a:pt x="3252" y="1152"/>
                  </a:cubicBezTo>
                  <a:cubicBezTo>
                    <a:pt x="3315" y="1136"/>
                    <a:pt x="3382" y="1147"/>
                    <a:pt x="3444" y="1128"/>
                  </a:cubicBezTo>
                  <a:cubicBezTo>
                    <a:pt x="3466" y="1121"/>
                    <a:pt x="3476" y="1096"/>
                    <a:pt x="3492" y="1080"/>
                  </a:cubicBezTo>
                  <a:cubicBezTo>
                    <a:pt x="3519" y="999"/>
                    <a:pt x="3482" y="1087"/>
                    <a:pt x="3540" y="1020"/>
                  </a:cubicBezTo>
                  <a:cubicBezTo>
                    <a:pt x="3540" y="1020"/>
                    <a:pt x="3645" y="882"/>
                    <a:pt x="3648" y="876"/>
                  </a:cubicBezTo>
                  <a:cubicBezTo>
                    <a:pt x="3668" y="835"/>
                    <a:pt x="3670" y="787"/>
                    <a:pt x="3684" y="744"/>
                  </a:cubicBezTo>
                  <a:cubicBezTo>
                    <a:pt x="3694" y="715"/>
                    <a:pt x="3710" y="689"/>
                    <a:pt x="3720" y="660"/>
                  </a:cubicBezTo>
                  <a:cubicBezTo>
                    <a:pt x="3780" y="680"/>
                    <a:pt x="3752" y="660"/>
                    <a:pt x="3780" y="744"/>
                  </a:cubicBezTo>
                  <a:cubicBezTo>
                    <a:pt x="3807" y="824"/>
                    <a:pt x="3831" y="902"/>
                    <a:pt x="3852" y="984"/>
                  </a:cubicBezTo>
                  <a:cubicBezTo>
                    <a:pt x="3865" y="1036"/>
                    <a:pt x="3908" y="1098"/>
                    <a:pt x="3936" y="1140"/>
                  </a:cubicBezTo>
                  <a:cubicBezTo>
                    <a:pt x="3999" y="1235"/>
                    <a:pt x="4059" y="1323"/>
                    <a:pt x="4140" y="1404"/>
                  </a:cubicBezTo>
                  <a:cubicBezTo>
                    <a:pt x="4150" y="1414"/>
                    <a:pt x="4154" y="1430"/>
                    <a:pt x="4164" y="1440"/>
                  </a:cubicBezTo>
                  <a:cubicBezTo>
                    <a:pt x="4178" y="1454"/>
                    <a:pt x="4198" y="1462"/>
                    <a:pt x="4212" y="1476"/>
                  </a:cubicBezTo>
                </a:path>
              </a:pathLst>
            </a:custGeom>
            <a:noFill/>
            <a:ln w="38100" cap="flat" cmpd="sng">
              <a:solidFill>
                <a:schemeClr val="tx1"/>
              </a:solidFill>
              <a:prstDash val="lg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grpSp>
    </p:spTree>
    <p:extLst>
      <p:ext uri="{BB962C8B-B14F-4D97-AF65-F5344CB8AC3E}">
        <p14:creationId xmlns:p14="http://schemas.microsoft.com/office/powerpoint/2010/main" val="137458798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1986">
                                            <p:txEl>
                                              <p:pRg st="0" end="0"/>
                                            </p:txEl>
                                          </p:spTgt>
                                        </p:tgtEl>
                                        <p:attrNameLst>
                                          <p:attrName>style.visibility</p:attrName>
                                        </p:attrNameLst>
                                      </p:cBhvr>
                                      <p:to>
                                        <p:strVal val="visible"/>
                                      </p:to>
                                    </p:set>
                                    <p:animEffect transition="in" filter="wipe(left)">
                                      <p:cBhvr>
                                        <p:cTn id="7" dur="500"/>
                                        <p:tgtEl>
                                          <p:spTgt spid="41986">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41996"/>
                                        </p:tgtEl>
                                        <p:attrNameLst>
                                          <p:attrName>style.visibility</p:attrName>
                                        </p:attrNameLst>
                                      </p:cBhvr>
                                      <p:to>
                                        <p:strVal val="visible"/>
                                      </p:to>
                                    </p:set>
                                    <p:animEffect transition="in" filter="wipe(left)">
                                      <p:cBhvr>
                                        <p:cTn id="12" dur="500"/>
                                        <p:tgtEl>
                                          <p:spTgt spid="4199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1992">
                                            <p:txEl>
                                              <p:pRg st="0" end="0"/>
                                            </p:txEl>
                                          </p:spTgt>
                                        </p:tgtEl>
                                        <p:attrNameLst>
                                          <p:attrName>style.visibility</p:attrName>
                                        </p:attrNameLst>
                                      </p:cBhvr>
                                      <p:to>
                                        <p:strVal val="visible"/>
                                      </p:to>
                                    </p:set>
                                    <p:animEffect transition="in" filter="wipe(left)">
                                      <p:cBhvr>
                                        <p:cTn id="17" dur="500"/>
                                        <p:tgtEl>
                                          <p:spTgt spid="41992">
                                            <p:txEl>
                                              <p:pRg st="0" end="0"/>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41990">
                                            <p:txEl>
                                              <p:pRg st="0" end="0"/>
                                            </p:txEl>
                                          </p:spTgt>
                                        </p:tgtEl>
                                        <p:attrNameLst>
                                          <p:attrName>style.visibility</p:attrName>
                                        </p:attrNameLst>
                                      </p:cBhvr>
                                      <p:to>
                                        <p:strVal val="visible"/>
                                      </p:to>
                                    </p:set>
                                    <p:animEffect transition="in" filter="wipe(left)">
                                      <p:cBhvr>
                                        <p:cTn id="22" dur="500"/>
                                        <p:tgtEl>
                                          <p:spTgt spid="4199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986" grpId="0" build="p" autoUpdateAnimBg="0"/>
      <p:bldP spid="41990" grpId="0" build="p" autoUpdateAnimBg="0"/>
      <p:bldP spid="41992" grpId="0" build="p" autoUpdateAnimBg="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4" name="Picture 2" descr="12-Interaction-of-Ligh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04775"/>
            <a:ext cx="9144000" cy="7067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00694530"/>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a:xfrm>
            <a:off x="762000" y="762000"/>
            <a:ext cx="7772400" cy="685800"/>
          </a:xfrm>
        </p:spPr>
        <p:txBody>
          <a:bodyPr/>
          <a:lstStyle/>
          <a:p>
            <a:pPr algn="ctr" eaLnBrk="1" hangingPunct="1"/>
            <a:r>
              <a:rPr lang="en-US" altLang="en-US" dirty="0"/>
              <a:t>PHOTOSYNTHESIS</a:t>
            </a:r>
          </a:p>
        </p:txBody>
      </p:sp>
      <p:sp>
        <p:nvSpPr>
          <p:cNvPr id="29699" name="Rectangle 3"/>
          <p:cNvSpPr>
            <a:spLocks noGrp="1" noChangeArrowheads="1"/>
          </p:cNvSpPr>
          <p:nvPr>
            <p:ph type="body" idx="1"/>
          </p:nvPr>
        </p:nvSpPr>
        <p:spPr>
          <a:xfrm>
            <a:off x="457200" y="1295400"/>
            <a:ext cx="8382000" cy="5257800"/>
          </a:xfrm>
        </p:spPr>
        <p:txBody>
          <a:bodyPr/>
          <a:lstStyle/>
          <a:p>
            <a:pPr eaLnBrk="1" hangingPunct="1">
              <a:lnSpc>
                <a:spcPct val="90000"/>
              </a:lnSpc>
            </a:pPr>
            <a:r>
              <a:rPr lang="en-US" altLang="en-US" dirty="0"/>
              <a:t>2 </a:t>
            </a:r>
            <a:r>
              <a:rPr lang="en-US" altLang="en-US" sz="2400" dirty="0"/>
              <a:t>Phases</a:t>
            </a:r>
          </a:p>
          <a:p>
            <a:pPr lvl="1" eaLnBrk="1" hangingPunct="1">
              <a:lnSpc>
                <a:spcPct val="90000"/>
              </a:lnSpc>
            </a:pPr>
            <a:r>
              <a:rPr lang="en-US" altLang="en-US" sz="2400" dirty="0"/>
              <a:t>Light-dependent reaction</a:t>
            </a:r>
          </a:p>
          <a:p>
            <a:pPr lvl="1" eaLnBrk="1" hangingPunct="1">
              <a:lnSpc>
                <a:spcPct val="90000"/>
              </a:lnSpc>
            </a:pPr>
            <a:r>
              <a:rPr lang="en-US" altLang="en-US" sz="2400" dirty="0"/>
              <a:t>Light-independent reaction (Calvin Cycle)</a:t>
            </a:r>
          </a:p>
          <a:p>
            <a:pPr eaLnBrk="1" hangingPunct="1">
              <a:lnSpc>
                <a:spcPct val="90000"/>
              </a:lnSpc>
            </a:pPr>
            <a:endParaRPr lang="en-US" altLang="en-US" sz="2400" dirty="0"/>
          </a:p>
          <a:p>
            <a:pPr eaLnBrk="1" hangingPunct="1">
              <a:lnSpc>
                <a:spcPct val="90000"/>
              </a:lnSpc>
            </a:pPr>
            <a:r>
              <a:rPr lang="en-US" altLang="en-US" sz="2400" dirty="0"/>
              <a:t>Light-dependent:  converts light energy into chemical energy; produces ATP molecules to be used to fuel light-independent reaction</a:t>
            </a:r>
          </a:p>
          <a:p>
            <a:pPr eaLnBrk="1" hangingPunct="1">
              <a:lnSpc>
                <a:spcPct val="90000"/>
              </a:lnSpc>
            </a:pPr>
            <a:endParaRPr lang="en-US" altLang="en-US" sz="2400" dirty="0"/>
          </a:p>
          <a:p>
            <a:pPr eaLnBrk="1" hangingPunct="1">
              <a:lnSpc>
                <a:spcPct val="90000"/>
              </a:lnSpc>
            </a:pPr>
            <a:r>
              <a:rPr lang="en-US" altLang="en-US" sz="2400" dirty="0"/>
              <a:t>Light-independent:  uses ATP produced to make simple sugars.</a:t>
            </a:r>
          </a:p>
          <a:p>
            <a:pPr eaLnBrk="1" hangingPunct="1">
              <a:lnSpc>
                <a:spcPct val="90000"/>
              </a:lnSpc>
            </a:pPr>
            <a:endParaRPr lang="en-US" altLang="en-US" dirty="0"/>
          </a:p>
        </p:txBody>
      </p:sp>
    </p:spTree>
    <p:extLst>
      <p:ext uri="{BB962C8B-B14F-4D97-AF65-F5344CB8AC3E}">
        <p14:creationId xmlns:p14="http://schemas.microsoft.com/office/powerpoint/2010/main" val="1316936041"/>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sp>
        <p:nvSpPr>
          <p:cNvPr id="3" name="Content Placeholder 2"/>
          <p:cNvSpPr>
            <a:spLocks noGrp="1"/>
          </p:cNvSpPr>
          <p:nvPr>
            <p:ph idx="1"/>
          </p:nvPr>
        </p:nvSpPr>
        <p:spPr/>
        <p:txBody>
          <a:bodyPr/>
          <a:lstStyle/>
          <a:p>
            <a:r>
              <a:rPr lang="en-US" b="1" kern="1200" dirty="0"/>
              <a:t>Light dependent stage</a:t>
            </a:r>
            <a:endParaRPr lang="en-US" kern="1200" dirty="0"/>
          </a:p>
          <a:p>
            <a:pPr marL="228600" indent="-228600">
              <a:buFont typeface="Arial" panose="020B0604020202020204" pitchFamily="34" charset="0"/>
              <a:buChar char="•"/>
            </a:pPr>
            <a:r>
              <a:rPr lang="en-US" kern="1200" dirty="0"/>
              <a:t>Light energy is absorbed by different pigments within the thylakoid membranes. </a:t>
            </a:r>
          </a:p>
          <a:p>
            <a:pPr marL="228600" indent="-228600">
              <a:buFont typeface="Arial" panose="020B0604020202020204" pitchFamily="34" charset="0"/>
              <a:buChar char="•"/>
            </a:pPr>
            <a:r>
              <a:rPr lang="en-US" kern="1200" dirty="0"/>
              <a:t>These pigments include chlorophylls (green), carotenoids (orange) and </a:t>
            </a:r>
            <a:r>
              <a:rPr lang="en-US" kern="1200" dirty="0" err="1"/>
              <a:t>xanthophylls</a:t>
            </a:r>
            <a:r>
              <a:rPr lang="en-US" kern="1200" dirty="0"/>
              <a:t> (yellow). </a:t>
            </a:r>
          </a:p>
          <a:p>
            <a:pPr marL="228600" indent="-228600">
              <a:buFont typeface="Arial" panose="020B0604020202020204" pitchFamily="34" charset="0"/>
              <a:buChar char="•"/>
            </a:pPr>
            <a:r>
              <a:rPr lang="en-US" kern="1200" dirty="0"/>
              <a:t>Chlorophylls absorb the wavelengths of blue and red light, and they reflect the green wavelengths.</a:t>
            </a:r>
          </a:p>
          <a:p>
            <a:pPr marL="228600" indent="-228600">
              <a:buFont typeface="Arial" panose="020B0604020202020204" pitchFamily="34" charset="0"/>
              <a:buChar char="•"/>
            </a:pPr>
            <a:r>
              <a:rPr lang="en-US" kern="1200" dirty="0"/>
              <a:t>When a chlorophyll molecule in the thylakoid membrane absorbs light energy, electrons within the molecule become </a:t>
            </a:r>
            <a:r>
              <a:rPr lang="en-US" kern="1200" dirty="0" err="1"/>
              <a:t>energised</a:t>
            </a:r>
            <a:r>
              <a:rPr lang="en-US" kern="1200" dirty="0"/>
              <a:t>. </a:t>
            </a:r>
          </a:p>
          <a:p>
            <a:pPr marL="228600" indent="-228600">
              <a:buFont typeface="Arial" panose="020B0604020202020204" pitchFamily="34" charset="0"/>
              <a:buChar char="•"/>
            </a:pPr>
            <a:r>
              <a:rPr lang="en-US" kern="1200" dirty="0"/>
              <a:t>The energy is used to split water molecules (H</a:t>
            </a:r>
            <a:r>
              <a:rPr lang="en-US" kern="1200" baseline="-25000" dirty="0"/>
              <a:t>2</a:t>
            </a:r>
            <a:r>
              <a:rPr lang="en-US" kern="1200" dirty="0"/>
              <a:t>O) into hydrogen ions (H</a:t>
            </a:r>
            <a:r>
              <a:rPr lang="en-US" kern="1200" baseline="30000" dirty="0"/>
              <a:t>+</a:t>
            </a:r>
            <a:r>
              <a:rPr lang="en-US" kern="1200" dirty="0"/>
              <a:t>) and oxygen gas (O</a:t>
            </a:r>
            <a:r>
              <a:rPr lang="en-US" kern="1200" baseline="-25000" dirty="0"/>
              <a:t>2</a:t>
            </a:r>
            <a:r>
              <a:rPr lang="en-US" kern="1200" dirty="0"/>
              <a:t>). </a:t>
            </a:r>
          </a:p>
          <a:p>
            <a:pPr marL="228600" indent="-228600">
              <a:buFont typeface="Arial" panose="020B0604020202020204" pitchFamily="34" charset="0"/>
              <a:buChar char="•"/>
            </a:pPr>
            <a:r>
              <a:rPr lang="en-US" kern="1200" dirty="0"/>
              <a:t>ATP molecules are formed in this stage.</a:t>
            </a:r>
          </a:p>
          <a:p>
            <a:endParaRPr lang="en-AU" dirty="0"/>
          </a:p>
        </p:txBody>
      </p:sp>
    </p:spTree>
    <p:extLst>
      <p:ext uri="{BB962C8B-B14F-4D97-AF65-F5344CB8AC3E}">
        <p14:creationId xmlns:p14="http://schemas.microsoft.com/office/powerpoint/2010/main" val="635438685"/>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a:xfrm>
            <a:off x="685800" y="381000"/>
            <a:ext cx="7772400" cy="685800"/>
          </a:xfrm>
        </p:spPr>
        <p:txBody>
          <a:bodyPr/>
          <a:lstStyle/>
          <a:p>
            <a:pPr algn="ctr" eaLnBrk="1" hangingPunct="1"/>
            <a:r>
              <a:rPr lang="en-US" altLang="en-US" dirty="0"/>
              <a:t/>
            </a:r>
            <a:br>
              <a:rPr lang="en-US" altLang="en-US" dirty="0"/>
            </a:br>
            <a:r>
              <a:rPr lang="en-US" altLang="en-US" dirty="0"/>
              <a:t/>
            </a:r>
            <a:br>
              <a:rPr lang="en-US" altLang="en-US" dirty="0"/>
            </a:br>
            <a:r>
              <a:rPr lang="en-US" altLang="en-US" dirty="0"/>
              <a:t>PHOTOSYNTHESIS</a:t>
            </a:r>
          </a:p>
        </p:txBody>
      </p:sp>
      <p:sp>
        <p:nvSpPr>
          <p:cNvPr id="34819" name="Rectangle 3"/>
          <p:cNvSpPr>
            <a:spLocks noGrp="1" noChangeArrowheads="1"/>
          </p:cNvSpPr>
          <p:nvPr>
            <p:ph type="body" idx="1"/>
          </p:nvPr>
        </p:nvSpPr>
        <p:spPr>
          <a:xfrm>
            <a:off x="457200" y="1295400"/>
            <a:ext cx="8382000" cy="5257800"/>
          </a:xfrm>
        </p:spPr>
        <p:txBody>
          <a:bodyPr/>
          <a:lstStyle/>
          <a:p>
            <a:pPr marL="171450" indent="-171450">
              <a:lnSpc>
                <a:spcPct val="100000"/>
              </a:lnSpc>
              <a:spcBef>
                <a:spcPct val="30000"/>
              </a:spcBef>
              <a:buFont typeface="Arial" panose="020B0604020202020204" pitchFamily="34" charset="0"/>
              <a:buChar char="•"/>
              <a:defRPr/>
            </a:pPr>
            <a:r>
              <a:rPr lang="en-US" sz="2400" b="1" kern="1200" dirty="0"/>
              <a:t>Light independent stage</a:t>
            </a:r>
          </a:p>
          <a:p>
            <a:pPr marL="228600" indent="-228600">
              <a:buFont typeface="Arial" panose="020B0604020202020204" pitchFamily="34" charset="0"/>
              <a:buChar char="•"/>
            </a:pPr>
            <a:r>
              <a:rPr lang="en-US" sz="2400" kern="1200" dirty="0"/>
              <a:t>Occur in the </a:t>
            </a:r>
            <a:r>
              <a:rPr lang="en-US" sz="2400" kern="1200" dirty="0" err="1"/>
              <a:t>stroma</a:t>
            </a:r>
            <a:r>
              <a:rPr lang="en-US" sz="2400" kern="1200" dirty="0"/>
              <a:t> of the chloroplast. </a:t>
            </a:r>
          </a:p>
          <a:p>
            <a:pPr marL="228600" indent="-228600">
              <a:buFont typeface="Arial" panose="020B0604020202020204" pitchFamily="34" charset="0"/>
              <a:buChar char="•"/>
            </a:pPr>
            <a:r>
              <a:rPr lang="en-US" sz="2400" kern="1200" dirty="0"/>
              <a:t>In this reaction glucose molecules are produced from carbon dioxide. </a:t>
            </a:r>
          </a:p>
          <a:p>
            <a:pPr marL="228600" indent="-228600">
              <a:buFont typeface="Arial" panose="020B0604020202020204" pitchFamily="34" charset="0"/>
              <a:buChar char="•"/>
            </a:pPr>
            <a:r>
              <a:rPr lang="en-US" sz="2400" kern="1200" dirty="0"/>
              <a:t>This reaction requires a supply of carbon dioxide gas, hydrogen ions and chemical energy in the form of ATP. </a:t>
            </a:r>
          </a:p>
          <a:p>
            <a:pPr marL="228600" indent="-228600">
              <a:buFont typeface="Arial" panose="020B0604020202020204" pitchFamily="34" charset="0"/>
              <a:buChar char="•"/>
            </a:pPr>
            <a:r>
              <a:rPr lang="en-US" sz="2400" kern="1200" dirty="0"/>
              <a:t>ATP provide the chemical energy for the conversion of carbon dioxide to glucose molecules.</a:t>
            </a:r>
          </a:p>
          <a:p>
            <a:pPr marL="228600" indent="-228600">
              <a:buFont typeface="Arial" panose="020B0604020202020204" pitchFamily="34" charset="0"/>
              <a:buChar char="•"/>
            </a:pPr>
            <a:r>
              <a:rPr lang="en-US" sz="2400" kern="1200" dirty="0"/>
              <a:t>Many chemical reactions are involved in both the light-dependent and light-independent stages of photosynthesis.</a:t>
            </a:r>
          </a:p>
          <a:p>
            <a:pPr marL="228600" indent="-228600">
              <a:buFont typeface="Arial" panose="020B0604020202020204" pitchFamily="34" charset="0"/>
              <a:buChar char="•"/>
            </a:pPr>
            <a:r>
              <a:rPr lang="en-US" sz="2400" kern="1200" dirty="0"/>
              <a:t>Sucrose, starch and cellulose are polymers of glucose molecules produced in photosynthesis.</a:t>
            </a:r>
            <a:endParaRPr lang="en-US" sz="2400" kern="1200" dirty="0"/>
          </a:p>
        </p:txBody>
      </p:sp>
    </p:spTree>
    <p:extLst>
      <p:ext uri="{BB962C8B-B14F-4D97-AF65-F5344CB8AC3E}">
        <p14:creationId xmlns:p14="http://schemas.microsoft.com/office/powerpoint/2010/main" val="3899833121"/>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bwMode="gray">
          <a:xfrm>
            <a:off x="152400" y="152400"/>
            <a:ext cx="8991600" cy="457200"/>
          </a:xfrm>
          <a:prstGeom prst="rect">
            <a:avLst/>
          </a:prstGeom>
          <a:noFill/>
          <a:ln w="9525">
            <a:noFill/>
            <a:miter lim="800000"/>
            <a:headEnd/>
            <a:tailEnd/>
          </a:ln>
        </p:spPr>
        <p:txBody>
          <a:bodyPr vert="horz" wrap="square" lIns="0" tIns="0" rIns="0" bIns="0" numCol="1" anchor="ctr" anchorCtr="0" compatLnSpc="1">
            <a:prstTxWarp prst="textNoShape">
              <a:avLst/>
            </a:prstTxWarp>
          </a:bodyPr>
          <a:lstStyle/>
          <a:p>
            <a:r>
              <a:rPr lang="en-US" sz="2800" b="1" dirty="0">
                <a:solidFill>
                  <a:schemeClr val="bg1"/>
                </a:solidFill>
              </a:rPr>
              <a:t>Cellular respiration</a:t>
            </a:r>
            <a:endParaRPr lang="en-US" sz="2800" b="1" kern="0" dirty="0">
              <a:solidFill>
                <a:schemeClr val="bg1"/>
              </a:solidFill>
            </a:endParaRPr>
          </a:p>
        </p:txBody>
      </p:sp>
      <p:sp>
        <p:nvSpPr>
          <p:cNvPr id="13" name="TextBox 12"/>
          <p:cNvSpPr txBox="1"/>
          <p:nvPr/>
        </p:nvSpPr>
        <p:spPr>
          <a:xfrm>
            <a:off x="228600" y="1609040"/>
            <a:ext cx="8915400" cy="2246769"/>
          </a:xfrm>
          <a:prstGeom prst="rect">
            <a:avLst/>
          </a:prstGeom>
          <a:noFill/>
        </p:spPr>
        <p:txBody>
          <a:bodyPr wrap="square" rtlCol="0">
            <a:spAutoFit/>
          </a:bodyPr>
          <a:lstStyle/>
          <a:p>
            <a:r>
              <a:rPr lang="en-US" sz="2800" dirty="0"/>
              <a:t>Aerobic cellular respiration:</a:t>
            </a:r>
          </a:p>
          <a:p>
            <a:endParaRPr lang="en-US" sz="2800" dirty="0"/>
          </a:p>
          <a:p>
            <a:r>
              <a:rPr lang="en-US" sz="2800" dirty="0"/>
              <a:t>glucose + oxygen → carbon dioxide + water + ATP</a:t>
            </a:r>
          </a:p>
          <a:p>
            <a:endParaRPr lang="pt-BR" sz="2800" dirty="0"/>
          </a:p>
          <a:p>
            <a:r>
              <a:rPr lang="pt-BR" sz="2800" dirty="0"/>
              <a:t>     C</a:t>
            </a:r>
            <a:r>
              <a:rPr lang="pt-BR" sz="2800" baseline="-25000" dirty="0"/>
              <a:t>6</a:t>
            </a:r>
            <a:r>
              <a:rPr lang="pt-BR" sz="2800" dirty="0"/>
              <a:t>H</a:t>
            </a:r>
            <a:r>
              <a:rPr lang="pt-BR" sz="2800" baseline="-25000" dirty="0"/>
              <a:t>12</a:t>
            </a:r>
            <a:r>
              <a:rPr lang="pt-BR" sz="2800" dirty="0"/>
              <a:t>O</a:t>
            </a:r>
            <a:r>
              <a:rPr lang="pt-BR" sz="2800" baseline="-25000" dirty="0"/>
              <a:t>6</a:t>
            </a:r>
            <a:r>
              <a:rPr lang="pt-BR" sz="2800" dirty="0"/>
              <a:t> + 6O</a:t>
            </a:r>
            <a:r>
              <a:rPr lang="pt-BR" sz="2800" baseline="-25000" dirty="0"/>
              <a:t>2</a:t>
            </a:r>
            <a:r>
              <a:rPr lang="pt-BR" sz="2800" dirty="0"/>
              <a:t> → 6CO</a:t>
            </a:r>
            <a:r>
              <a:rPr lang="pt-BR" sz="2800" baseline="-25000" dirty="0"/>
              <a:t>2</a:t>
            </a:r>
            <a:r>
              <a:rPr lang="pt-BR" sz="2800" dirty="0"/>
              <a:t> + 6H</a:t>
            </a:r>
            <a:r>
              <a:rPr lang="pt-BR" sz="2800" baseline="-25000" dirty="0"/>
              <a:t>2</a:t>
            </a:r>
            <a:r>
              <a:rPr lang="pt-BR" sz="2800" dirty="0"/>
              <a:t>O + 36 ATP</a:t>
            </a:r>
            <a:endParaRPr lang="en-US" sz="2400" dirty="0"/>
          </a:p>
        </p:txBody>
      </p:sp>
    </p:spTree>
  </p:cSld>
  <p:clrMapOvr>
    <a:masterClrMapping/>
  </p:clrMapOvr>
  <p:transition>
    <p:fade/>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bwMode="gray">
          <a:xfrm>
            <a:off x="152400" y="152400"/>
            <a:ext cx="8991600" cy="457200"/>
          </a:xfrm>
          <a:prstGeom prst="rect">
            <a:avLst/>
          </a:prstGeom>
          <a:noFill/>
          <a:ln w="9525">
            <a:noFill/>
            <a:miter lim="800000"/>
            <a:headEnd/>
            <a:tailEnd/>
          </a:ln>
        </p:spPr>
        <p:txBody>
          <a:bodyPr vert="horz" wrap="square" lIns="0" tIns="0" rIns="0" bIns="0" numCol="1" anchor="ctr" anchorCtr="0" compatLnSpc="1">
            <a:prstTxWarp prst="textNoShape">
              <a:avLst/>
            </a:prstTxWarp>
          </a:bodyPr>
          <a:lstStyle/>
          <a:p>
            <a:r>
              <a:rPr lang="en-US" sz="2800" b="1" dirty="0">
                <a:solidFill>
                  <a:schemeClr val="bg1"/>
                </a:solidFill>
              </a:rPr>
              <a:t>Cellular respiration</a:t>
            </a:r>
            <a:endParaRPr lang="en-US" sz="2800" b="1" kern="0" dirty="0">
              <a:solidFill>
                <a:schemeClr val="bg1"/>
              </a:solidFill>
            </a:endParaRPr>
          </a:p>
        </p:txBody>
      </p:sp>
      <p:pic>
        <p:nvPicPr>
          <p:cNvPr id="2" name="Picture 1"/>
          <p:cNvPicPr>
            <a:picLocks noChangeAspect="1"/>
          </p:cNvPicPr>
          <p:nvPr/>
        </p:nvPicPr>
        <p:blipFill>
          <a:blip r:embed="rId3"/>
          <a:stretch>
            <a:fillRect/>
          </a:stretch>
        </p:blipFill>
        <p:spPr>
          <a:xfrm>
            <a:off x="6084570" y="3730559"/>
            <a:ext cx="2880360" cy="2920929"/>
          </a:xfrm>
          <a:prstGeom prst="rect">
            <a:avLst/>
          </a:prstGeom>
        </p:spPr>
      </p:pic>
      <p:sp>
        <p:nvSpPr>
          <p:cNvPr id="6" name="TextBox 5"/>
          <p:cNvSpPr txBox="1"/>
          <p:nvPr/>
        </p:nvSpPr>
        <p:spPr>
          <a:xfrm>
            <a:off x="152401" y="1532054"/>
            <a:ext cx="5932170" cy="4154984"/>
          </a:xfrm>
          <a:prstGeom prst="rect">
            <a:avLst/>
          </a:prstGeom>
          <a:noFill/>
        </p:spPr>
        <p:txBody>
          <a:bodyPr wrap="square" rtlCol="0">
            <a:spAutoFit/>
          </a:bodyPr>
          <a:lstStyle/>
          <a:p>
            <a:r>
              <a:rPr lang="en-US" sz="2400" b="1" dirty="0"/>
              <a:t>Stage 1 Glycolysis</a:t>
            </a:r>
          </a:p>
          <a:p>
            <a:pPr marL="228600" indent="-228600">
              <a:buFont typeface="Arial" panose="020B0604020202020204" pitchFamily="34" charset="0"/>
              <a:buChar char="•"/>
            </a:pPr>
            <a:r>
              <a:rPr lang="en-US" sz="2400" dirty="0"/>
              <a:t>Glycolysis takes place in the cytosol  </a:t>
            </a:r>
          </a:p>
          <a:p>
            <a:pPr marL="228600" indent="-228600">
              <a:buFont typeface="Arial" panose="020B0604020202020204" pitchFamily="34" charset="0"/>
              <a:buChar char="•"/>
            </a:pPr>
            <a:r>
              <a:rPr lang="en-US" sz="2400" dirty="0"/>
              <a:t>Ten reactions, with each step controlled by a specific enzyme. </a:t>
            </a:r>
          </a:p>
          <a:p>
            <a:pPr marL="228600" indent="-228600">
              <a:buFont typeface="Arial" panose="020B0604020202020204" pitchFamily="34" charset="0"/>
              <a:buChar char="•"/>
            </a:pPr>
            <a:r>
              <a:rPr lang="en-US" sz="2400" dirty="0"/>
              <a:t>The initial reactant is glucose</a:t>
            </a:r>
          </a:p>
          <a:p>
            <a:pPr marL="228600" indent="-228600">
              <a:buFont typeface="Arial" panose="020B0604020202020204" pitchFamily="34" charset="0"/>
              <a:buChar char="•"/>
            </a:pPr>
            <a:r>
              <a:rPr lang="en-US" sz="2400" dirty="0"/>
              <a:t>Final product is two molecules of pyruvate. </a:t>
            </a:r>
          </a:p>
          <a:p>
            <a:pPr marL="228600" indent="-228600">
              <a:buFont typeface="Arial" panose="020B0604020202020204" pitchFamily="34" charset="0"/>
              <a:buChar char="•"/>
            </a:pPr>
            <a:r>
              <a:rPr lang="en-US" sz="2400" dirty="0"/>
              <a:t>Glycolysis produces a net of two ATP molecules that may be used by the cell as a source of energy. </a:t>
            </a:r>
          </a:p>
          <a:p>
            <a:endParaRPr lang="en-US" sz="2400" dirty="0"/>
          </a:p>
        </p:txBody>
      </p:sp>
      <p:pic>
        <p:nvPicPr>
          <p:cNvPr id="5" name="Picture 4"/>
          <p:cNvPicPr>
            <a:picLocks noChangeAspect="1"/>
          </p:cNvPicPr>
          <p:nvPr/>
        </p:nvPicPr>
        <p:blipFill>
          <a:blip r:embed="rId4"/>
          <a:stretch>
            <a:fillRect/>
          </a:stretch>
        </p:blipFill>
        <p:spPr>
          <a:xfrm>
            <a:off x="6896100" y="997297"/>
            <a:ext cx="2247900" cy="1600200"/>
          </a:xfrm>
          <a:prstGeom prst="rect">
            <a:avLst/>
          </a:prstGeom>
        </p:spPr>
      </p:pic>
    </p:spTree>
  </p:cSld>
  <p:clrMapOvr>
    <a:masterClrMapping/>
  </p:clrMapOvr>
  <p:transition>
    <p:fade/>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000" b="1" dirty="0"/>
              <a:t>Stage 2 Cellular respiration with oxygen</a:t>
            </a:r>
            <a:endParaRPr lang="en-AU" dirty="0"/>
          </a:p>
        </p:txBody>
      </p:sp>
      <p:sp>
        <p:nvSpPr>
          <p:cNvPr id="3" name="Content Placeholder 2"/>
          <p:cNvSpPr>
            <a:spLocks noGrp="1"/>
          </p:cNvSpPr>
          <p:nvPr>
            <p:ph idx="1"/>
          </p:nvPr>
        </p:nvSpPr>
        <p:spPr/>
        <p:txBody>
          <a:bodyPr/>
          <a:lstStyle/>
          <a:p>
            <a:pPr marL="228600" indent="-228600">
              <a:lnSpc>
                <a:spcPct val="100000"/>
              </a:lnSpc>
              <a:spcBef>
                <a:spcPct val="30000"/>
              </a:spcBef>
              <a:buFont typeface="Arial" panose="020B0604020202020204" pitchFamily="34" charset="0"/>
              <a:buChar char="•"/>
              <a:defRPr/>
            </a:pPr>
            <a:r>
              <a:rPr lang="en-US" kern="1200" dirty="0" smtClean="0"/>
              <a:t>The two </a:t>
            </a:r>
            <a:r>
              <a:rPr lang="en-US" kern="1200" dirty="0"/>
              <a:t>molecules of pyruvate formed in glycolysis enter the mitochondrion.</a:t>
            </a:r>
          </a:p>
          <a:p>
            <a:pPr marL="228600" indent="-228600">
              <a:buFont typeface="Arial" panose="020B0604020202020204" pitchFamily="34" charset="0"/>
              <a:buChar char="•"/>
            </a:pPr>
            <a:r>
              <a:rPr lang="en-US" kern="1200" dirty="0"/>
              <a:t>Mitochondria are small, regularly shaped structures found scattered throughout the cell’s cytosol.</a:t>
            </a:r>
          </a:p>
          <a:p>
            <a:pPr marL="228600" indent="-228600">
              <a:buFont typeface="Arial" panose="020B0604020202020204" pitchFamily="34" charset="0"/>
              <a:buChar char="•"/>
            </a:pPr>
            <a:r>
              <a:rPr lang="en-US" kern="1200" dirty="0" smtClean="0"/>
              <a:t>A second </a:t>
            </a:r>
            <a:r>
              <a:rPr lang="en-US" kern="1200" dirty="0"/>
              <a:t>series of </a:t>
            </a:r>
            <a:r>
              <a:rPr lang="en-US" kern="1200" smtClean="0"/>
              <a:t>steps occur </a:t>
            </a:r>
            <a:r>
              <a:rPr lang="en-US" kern="1200" dirty="0"/>
              <a:t>within the mitochondria, after which carbon dioxide molecules and water are produced. </a:t>
            </a:r>
          </a:p>
          <a:p>
            <a:pPr marL="228600" indent="-228600">
              <a:buFont typeface="Arial" panose="020B0604020202020204" pitchFamily="34" charset="0"/>
              <a:buChar char="•"/>
            </a:pPr>
            <a:r>
              <a:rPr lang="en-US" kern="1200" dirty="0"/>
              <a:t>From all the reactions associated with aerobic cellular respiration, it is possible to produce a net 36 ATP molecules in one cycle.</a:t>
            </a:r>
            <a:endParaRPr lang="en-AU" dirty="0"/>
          </a:p>
        </p:txBody>
      </p:sp>
    </p:spTree>
    <p:extLst>
      <p:ext uri="{BB962C8B-B14F-4D97-AF65-F5344CB8AC3E}">
        <p14:creationId xmlns:p14="http://schemas.microsoft.com/office/powerpoint/2010/main" val="3369012306"/>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bwMode="gray">
          <a:xfrm>
            <a:off x="152400" y="152400"/>
            <a:ext cx="8991600" cy="457200"/>
          </a:xfrm>
          <a:prstGeom prst="rect">
            <a:avLst/>
          </a:prstGeom>
          <a:noFill/>
          <a:ln w="9525">
            <a:noFill/>
            <a:miter lim="800000"/>
            <a:headEnd/>
            <a:tailEnd/>
          </a:ln>
        </p:spPr>
        <p:txBody>
          <a:bodyPr vert="horz" wrap="square" lIns="0" tIns="0" rIns="0" bIns="0" numCol="1" anchor="ctr" anchorCtr="0" compatLnSpc="1">
            <a:prstTxWarp prst="textNoShape">
              <a:avLst/>
            </a:prstTxWarp>
          </a:bodyPr>
          <a:lstStyle/>
          <a:p>
            <a:r>
              <a:rPr lang="en-US" sz="2800" b="1" dirty="0">
                <a:solidFill>
                  <a:schemeClr val="bg1"/>
                </a:solidFill>
              </a:rPr>
              <a:t>Cellular respiration</a:t>
            </a:r>
            <a:endParaRPr lang="en-US" sz="2800" b="1" kern="0" dirty="0">
              <a:solidFill>
                <a:schemeClr val="bg1"/>
              </a:solidFill>
            </a:endParaRPr>
          </a:p>
        </p:txBody>
      </p:sp>
      <p:sp>
        <p:nvSpPr>
          <p:cNvPr id="9" name="Title 8"/>
          <p:cNvSpPr>
            <a:spLocks noGrp="1"/>
          </p:cNvSpPr>
          <p:nvPr>
            <p:ph type="title"/>
          </p:nvPr>
        </p:nvSpPr>
        <p:spPr>
          <a:xfrm>
            <a:off x="152400" y="914400"/>
            <a:ext cx="8991600" cy="685800"/>
          </a:xfrm>
        </p:spPr>
        <p:txBody>
          <a:bodyPr/>
          <a:lstStyle/>
          <a:p>
            <a:pPr>
              <a:lnSpc>
                <a:spcPct val="100000"/>
              </a:lnSpc>
            </a:pPr>
            <a:r>
              <a:rPr lang="en-US" sz="3600" b="1" dirty="0">
                <a:solidFill>
                  <a:schemeClr val="tx1"/>
                </a:solidFill>
              </a:rPr>
              <a:t>Cellular respiration without oxygen</a:t>
            </a:r>
          </a:p>
        </p:txBody>
      </p:sp>
      <p:sp>
        <p:nvSpPr>
          <p:cNvPr id="6" name="TextBox 5"/>
          <p:cNvSpPr txBox="1"/>
          <p:nvPr/>
        </p:nvSpPr>
        <p:spPr>
          <a:xfrm>
            <a:off x="381000" y="1752600"/>
            <a:ext cx="5867400" cy="523220"/>
          </a:xfrm>
          <a:prstGeom prst="rect">
            <a:avLst/>
          </a:prstGeom>
          <a:noFill/>
        </p:spPr>
        <p:txBody>
          <a:bodyPr wrap="square" rtlCol="0">
            <a:spAutoFit/>
          </a:bodyPr>
          <a:lstStyle/>
          <a:p>
            <a:r>
              <a:rPr lang="en-US" sz="2800" dirty="0"/>
              <a:t>Alcohol fermentation:</a:t>
            </a:r>
          </a:p>
        </p:txBody>
      </p:sp>
      <p:sp>
        <p:nvSpPr>
          <p:cNvPr id="10" name="Rectangle 9"/>
          <p:cNvSpPr/>
          <p:nvPr/>
        </p:nvSpPr>
        <p:spPr>
          <a:xfrm>
            <a:off x="762000" y="2690336"/>
            <a:ext cx="7620000" cy="1384995"/>
          </a:xfrm>
          <a:prstGeom prst="rect">
            <a:avLst/>
          </a:prstGeom>
        </p:spPr>
        <p:txBody>
          <a:bodyPr wrap="square">
            <a:spAutoFit/>
          </a:bodyPr>
          <a:lstStyle/>
          <a:p>
            <a:r>
              <a:rPr lang="en-US" sz="2800" dirty="0"/>
              <a:t>glucose → ethanol + carbon dioxide + ATP</a:t>
            </a:r>
          </a:p>
          <a:p>
            <a:endParaRPr lang="en-US" sz="2800" dirty="0"/>
          </a:p>
          <a:p>
            <a:r>
              <a:rPr lang="pl-PL" sz="2800" dirty="0"/>
              <a:t>C</a:t>
            </a:r>
            <a:r>
              <a:rPr lang="pl-PL" sz="2800" baseline="-25000" dirty="0"/>
              <a:t>6</a:t>
            </a:r>
            <a:r>
              <a:rPr lang="pl-PL" sz="2800" dirty="0"/>
              <a:t>H</a:t>
            </a:r>
            <a:r>
              <a:rPr lang="pl-PL" sz="2800" baseline="-25000" dirty="0"/>
              <a:t>12</a:t>
            </a:r>
            <a:r>
              <a:rPr lang="pl-PL" sz="2800" dirty="0"/>
              <a:t>O</a:t>
            </a:r>
            <a:r>
              <a:rPr lang="pl-PL" sz="2800" baseline="-25000" dirty="0"/>
              <a:t>6</a:t>
            </a:r>
            <a:r>
              <a:rPr lang="pl-PL" sz="2800" dirty="0"/>
              <a:t> → 2CH</a:t>
            </a:r>
            <a:r>
              <a:rPr lang="pl-PL" sz="2800" baseline="-25000" dirty="0"/>
              <a:t>3</a:t>
            </a:r>
            <a:r>
              <a:rPr lang="pl-PL" sz="2800" dirty="0"/>
              <a:t>CH</a:t>
            </a:r>
            <a:r>
              <a:rPr lang="pl-PL" sz="2800" baseline="-25000" dirty="0"/>
              <a:t>2</a:t>
            </a:r>
            <a:r>
              <a:rPr lang="pl-PL" sz="2800" dirty="0"/>
              <a:t>OH </a:t>
            </a:r>
            <a:r>
              <a:rPr lang="en-US" sz="2800" dirty="0"/>
              <a:t>+</a:t>
            </a:r>
            <a:r>
              <a:rPr lang="pl-PL" sz="2800" dirty="0"/>
              <a:t> 2CO</a:t>
            </a:r>
            <a:r>
              <a:rPr lang="pl-PL" sz="2800" baseline="-25000" dirty="0"/>
              <a:t>2</a:t>
            </a:r>
            <a:r>
              <a:rPr lang="pl-PL" sz="2800" dirty="0"/>
              <a:t> </a:t>
            </a:r>
            <a:r>
              <a:rPr lang="en-US" sz="2800" dirty="0"/>
              <a:t>+</a:t>
            </a:r>
            <a:r>
              <a:rPr lang="pl-PL" sz="2800" dirty="0"/>
              <a:t> 2ATP</a:t>
            </a:r>
            <a:endParaRPr lang="en-US" sz="2800" dirty="0"/>
          </a:p>
        </p:txBody>
      </p:sp>
    </p:spTree>
  </p:cSld>
  <p:clrMapOvr>
    <a:masterClrMapping/>
  </p:clrMapOvr>
  <p:transition>
    <p:fade/>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bwMode="gray">
          <a:xfrm>
            <a:off x="152400" y="152400"/>
            <a:ext cx="8991600" cy="457200"/>
          </a:xfrm>
          <a:prstGeom prst="rect">
            <a:avLst/>
          </a:prstGeom>
          <a:noFill/>
          <a:ln w="9525">
            <a:noFill/>
            <a:miter lim="800000"/>
            <a:headEnd/>
            <a:tailEnd/>
          </a:ln>
        </p:spPr>
        <p:txBody>
          <a:bodyPr vert="horz" wrap="square" lIns="0" tIns="0" rIns="0" bIns="0" numCol="1" anchor="ctr" anchorCtr="0" compatLnSpc="1">
            <a:prstTxWarp prst="textNoShape">
              <a:avLst/>
            </a:prstTxWarp>
          </a:bodyPr>
          <a:lstStyle/>
          <a:p>
            <a:r>
              <a:rPr lang="en-US" sz="2800" b="1" dirty="0">
                <a:solidFill>
                  <a:schemeClr val="bg1"/>
                </a:solidFill>
              </a:rPr>
              <a:t>Cellular respiration</a:t>
            </a:r>
            <a:endParaRPr lang="en-US" sz="2800" b="1" kern="0" dirty="0">
              <a:solidFill>
                <a:schemeClr val="bg1"/>
              </a:solidFill>
            </a:endParaRPr>
          </a:p>
        </p:txBody>
      </p:sp>
      <p:sp>
        <p:nvSpPr>
          <p:cNvPr id="9" name="Title 8"/>
          <p:cNvSpPr>
            <a:spLocks noGrp="1"/>
          </p:cNvSpPr>
          <p:nvPr>
            <p:ph type="title"/>
          </p:nvPr>
        </p:nvSpPr>
        <p:spPr>
          <a:xfrm>
            <a:off x="152400" y="914400"/>
            <a:ext cx="8991600" cy="685800"/>
          </a:xfrm>
        </p:spPr>
        <p:txBody>
          <a:bodyPr/>
          <a:lstStyle/>
          <a:p>
            <a:pPr>
              <a:lnSpc>
                <a:spcPct val="100000"/>
              </a:lnSpc>
            </a:pPr>
            <a:r>
              <a:rPr lang="en-US" sz="3600" b="1" dirty="0">
                <a:solidFill>
                  <a:schemeClr val="tx1"/>
                </a:solidFill>
              </a:rPr>
              <a:t>Cellular respiration without oxygen</a:t>
            </a:r>
          </a:p>
        </p:txBody>
      </p:sp>
      <p:sp>
        <p:nvSpPr>
          <p:cNvPr id="6" name="TextBox 5"/>
          <p:cNvSpPr txBox="1"/>
          <p:nvPr/>
        </p:nvSpPr>
        <p:spPr>
          <a:xfrm>
            <a:off x="381000" y="1752600"/>
            <a:ext cx="5867400" cy="523220"/>
          </a:xfrm>
          <a:prstGeom prst="rect">
            <a:avLst/>
          </a:prstGeom>
          <a:noFill/>
        </p:spPr>
        <p:txBody>
          <a:bodyPr wrap="square" rtlCol="0">
            <a:spAutoFit/>
          </a:bodyPr>
          <a:lstStyle/>
          <a:p>
            <a:r>
              <a:rPr lang="en-US" sz="2800" dirty="0"/>
              <a:t>Lactic acid fermentation:</a:t>
            </a:r>
          </a:p>
        </p:txBody>
      </p:sp>
      <p:sp>
        <p:nvSpPr>
          <p:cNvPr id="10" name="Rectangle 9"/>
          <p:cNvSpPr/>
          <p:nvPr/>
        </p:nvSpPr>
        <p:spPr>
          <a:xfrm>
            <a:off x="533400" y="2743200"/>
            <a:ext cx="7620000" cy="1815882"/>
          </a:xfrm>
          <a:prstGeom prst="rect">
            <a:avLst/>
          </a:prstGeom>
        </p:spPr>
        <p:txBody>
          <a:bodyPr wrap="square">
            <a:spAutoFit/>
          </a:bodyPr>
          <a:lstStyle/>
          <a:p>
            <a:r>
              <a:rPr lang="en-US" sz="2800" dirty="0"/>
              <a:t>Anaerobic respiration</a:t>
            </a:r>
          </a:p>
          <a:p>
            <a:r>
              <a:rPr lang="en-US" sz="2800" dirty="0"/>
              <a:t>glucose → lactic acid + ATP</a:t>
            </a:r>
          </a:p>
          <a:p>
            <a:endParaRPr lang="en-US" sz="2800" dirty="0"/>
          </a:p>
          <a:p>
            <a:r>
              <a:rPr lang="pl-PL" sz="2800" dirty="0"/>
              <a:t>C</a:t>
            </a:r>
            <a:r>
              <a:rPr lang="pl-PL" sz="2800" baseline="-25000" dirty="0"/>
              <a:t>6</a:t>
            </a:r>
            <a:r>
              <a:rPr lang="pl-PL" sz="2800" dirty="0"/>
              <a:t>H</a:t>
            </a:r>
            <a:r>
              <a:rPr lang="pl-PL" sz="2800" baseline="-25000" dirty="0"/>
              <a:t>12</a:t>
            </a:r>
            <a:r>
              <a:rPr lang="pl-PL" sz="2800" dirty="0"/>
              <a:t>O</a:t>
            </a:r>
            <a:r>
              <a:rPr lang="pl-PL" sz="2800" baseline="-25000" dirty="0"/>
              <a:t>6</a:t>
            </a:r>
            <a:r>
              <a:rPr lang="pl-PL" sz="2800" dirty="0"/>
              <a:t> → 2CH</a:t>
            </a:r>
            <a:r>
              <a:rPr lang="pl-PL" sz="2800" baseline="-25000" dirty="0"/>
              <a:t>3</a:t>
            </a:r>
            <a:r>
              <a:rPr lang="pl-PL" sz="2800" dirty="0"/>
              <a:t>CH</a:t>
            </a:r>
            <a:r>
              <a:rPr lang="en-US" sz="2800" dirty="0"/>
              <a:t>(</a:t>
            </a:r>
            <a:r>
              <a:rPr lang="pl-PL" sz="2800" dirty="0"/>
              <a:t>OH</a:t>
            </a:r>
            <a:r>
              <a:rPr lang="en-US" sz="2800" dirty="0"/>
              <a:t>)COOH</a:t>
            </a:r>
            <a:r>
              <a:rPr lang="pl-PL" sz="2800" dirty="0"/>
              <a:t> </a:t>
            </a:r>
            <a:r>
              <a:rPr lang="en-US" sz="2800" dirty="0"/>
              <a:t>+</a:t>
            </a:r>
            <a:r>
              <a:rPr lang="pl-PL" sz="2800" dirty="0"/>
              <a:t> 2ATP</a:t>
            </a:r>
            <a:endParaRPr lang="en-US" sz="2800" dirty="0"/>
          </a:p>
        </p:txBody>
      </p:sp>
    </p:spTree>
  </p:cSld>
  <p:clrMapOvr>
    <a:masterClrMapping/>
  </p:clrMapOvr>
  <p:transition>
    <p:fade/>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bwMode="gray">
          <a:xfrm>
            <a:off x="152400" y="152400"/>
            <a:ext cx="8991600" cy="457200"/>
          </a:xfrm>
          <a:prstGeom prst="rect">
            <a:avLst/>
          </a:prstGeom>
          <a:noFill/>
          <a:ln w="9525">
            <a:noFill/>
            <a:miter lim="800000"/>
            <a:headEnd/>
            <a:tailEnd/>
          </a:ln>
        </p:spPr>
        <p:txBody>
          <a:bodyPr vert="horz" wrap="square" lIns="0" tIns="0" rIns="0" bIns="0" numCol="1" anchor="ctr" anchorCtr="0" compatLnSpc="1">
            <a:prstTxWarp prst="textNoShape">
              <a:avLst/>
            </a:prstTxWarp>
          </a:bodyPr>
          <a:lstStyle/>
          <a:p>
            <a:r>
              <a:rPr lang="en-US" sz="2800" b="1" dirty="0">
                <a:solidFill>
                  <a:schemeClr val="bg1"/>
                </a:solidFill>
              </a:rPr>
              <a:t>Cellular respiration</a:t>
            </a:r>
            <a:endParaRPr lang="en-US" sz="2800" b="1" kern="0" dirty="0">
              <a:solidFill>
                <a:schemeClr val="bg1"/>
              </a:solidFill>
            </a:endParaRPr>
          </a:p>
        </p:txBody>
      </p:sp>
      <p:sp>
        <p:nvSpPr>
          <p:cNvPr id="9" name="Title 8"/>
          <p:cNvSpPr>
            <a:spLocks noGrp="1"/>
          </p:cNvSpPr>
          <p:nvPr>
            <p:ph type="title"/>
          </p:nvPr>
        </p:nvSpPr>
        <p:spPr>
          <a:xfrm>
            <a:off x="152400" y="1143000"/>
            <a:ext cx="8991600" cy="685800"/>
          </a:xfrm>
        </p:spPr>
        <p:txBody>
          <a:bodyPr/>
          <a:lstStyle/>
          <a:p>
            <a:pPr>
              <a:lnSpc>
                <a:spcPct val="100000"/>
              </a:lnSpc>
            </a:pPr>
            <a:r>
              <a:rPr lang="en-US" sz="3200" b="1" dirty="0">
                <a:solidFill>
                  <a:schemeClr val="tx1"/>
                </a:solidFill>
              </a:rPr>
              <a:t>Photosynthesis and aerobic cellular respiration are closely related and interdependent</a:t>
            </a:r>
          </a:p>
        </p:txBody>
      </p:sp>
      <p:pic>
        <p:nvPicPr>
          <p:cNvPr id="2" name="Picture 1"/>
          <p:cNvPicPr>
            <a:picLocks noChangeAspect="1"/>
          </p:cNvPicPr>
          <p:nvPr/>
        </p:nvPicPr>
        <p:blipFill rotWithShape="1">
          <a:blip r:embed="rId3"/>
          <a:srcRect l="3760" t="-1807" b="-1"/>
          <a:stretch/>
        </p:blipFill>
        <p:spPr>
          <a:xfrm>
            <a:off x="152400" y="2209800"/>
            <a:ext cx="7040174" cy="4293268"/>
          </a:xfrm>
          <a:prstGeom prst="rect">
            <a:avLst/>
          </a:prstGeom>
        </p:spPr>
      </p:pic>
      <p:pic>
        <p:nvPicPr>
          <p:cNvPr id="3" name="Picture 2"/>
          <p:cNvPicPr>
            <a:picLocks noChangeAspect="1"/>
          </p:cNvPicPr>
          <p:nvPr/>
        </p:nvPicPr>
        <p:blipFill>
          <a:blip r:embed="rId4"/>
          <a:stretch>
            <a:fillRect/>
          </a:stretch>
        </p:blipFill>
        <p:spPr>
          <a:xfrm>
            <a:off x="7292035" y="3200400"/>
            <a:ext cx="1824693" cy="1266825"/>
          </a:xfrm>
          <a:prstGeom prst="rect">
            <a:avLst/>
          </a:prstGeom>
        </p:spPr>
      </p:pic>
    </p:spTree>
  </p:cSld>
  <p:clrMapOvr>
    <a:masterClrMapping/>
  </p:clrMapOvr>
  <p:transition>
    <p:fade/>
  </p:transition>
</p:sld>
</file>

<file path=ppt/theme/theme1.xml><?xml version="1.0" encoding="utf-8"?>
<a:theme xmlns:a="http://schemas.openxmlformats.org/drawingml/2006/main" name="Theme1">
  <a:themeElements>
    <a:clrScheme name="">
      <a:dk1>
        <a:srgbClr val="000000"/>
      </a:dk1>
      <a:lt1>
        <a:srgbClr val="FFFFFF"/>
      </a:lt1>
      <a:dk2>
        <a:srgbClr val="B2DCEE"/>
      </a:dk2>
      <a:lt2>
        <a:srgbClr val="80C4E2"/>
      </a:lt2>
      <a:accent1>
        <a:srgbClr val="013658"/>
      </a:accent1>
      <a:accent2>
        <a:srgbClr val="0C5C92"/>
      </a:accent2>
      <a:accent3>
        <a:srgbClr val="FFFFFF"/>
      </a:accent3>
      <a:accent4>
        <a:srgbClr val="000000"/>
      </a:accent4>
      <a:accent5>
        <a:srgbClr val="AAAEB4"/>
      </a:accent5>
      <a:accent6>
        <a:srgbClr val="0A5384"/>
      </a:accent6>
      <a:hlink>
        <a:srgbClr val="0089C5"/>
      </a:hlink>
      <a:folHlink>
        <a:srgbClr val="4CACD6"/>
      </a:folHlink>
    </a:clrScheme>
    <a:fontScheme name="CL_PowerPoint_Temp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9050" cap="flat" cmpd="sng" algn="ctr">
          <a:solidFill>
            <a:srgbClr val="FF0000"/>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noFill/>
        <a:ln w="19050" cap="flat" cmpd="sng" algn="ctr">
          <a:solidFill>
            <a:srgbClr val="FF0000"/>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CL_PowerPoint_Templat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L_PowerPoint_Templat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L_PowerPoint_Templat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L_PowerPoint_Templat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L_PowerPoint_Templat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L_PowerPoint_Templat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L_PowerPoint_Template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L_PowerPoint_Templat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L_PowerPoint_Templat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L_PowerPoint_Templat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L_PowerPoint_Templat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L_PowerPoint_Templat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Theme1</Template>
  <TotalTime>14419</TotalTime>
  <Words>3572</Words>
  <Application>Microsoft Office PowerPoint</Application>
  <PresentationFormat>On-screen Show (4:3)</PresentationFormat>
  <Paragraphs>338</Paragraphs>
  <Slides>37</Slides>
  <Notes>31</Notes>
  <HiddenSlides>0</HiddenSlides>
  <MMClips>0</MMClips>
  <ScaleCrop>false</ScaleCrop>
  <HeadingPairs>
    <vt:vector size="4" baseType="variant">
      <vt:variant>
        <vt:lpstr>Theme</vt:lpstr>
      </vt:variant>
      <vt:variant>
        <vt:i4>1</vt:i4>
      </vt:variant>
      <vt:variant>
        <vt:lpstr>Slide Titles</vt:lpstr>
      </vt:variant>
      <vt:variant>
        <vt:i4>37</vt:i4>
      </vt:variant>
    </vt:vector>
  </HeadingPairs>
  <TitlesOfParts>
    <vt:vector size="38" baseType="lpstr">
      <vt:lpstr>Theme1</vt:lpstr>
      <vt:lpstr>Chapter 9: Inside cells</vt:lpstr>
      <vt:lpstr>Introduction</vt:lpstr>
      <vt:lpstr>Internal cellular membranes control biochemical processes</vt:lpstr>
      <vt:lpstr>Specific enzymes control biochemical pathways</vt:lpstr>
      <vt:lpstr>Specific enzymes control biochemical pathways</vt:lpstr>
      <vt:lpstr>Biochemical processes involve energy inputs and outputs</vt:lpstr>
      <vt:lpstr>Biochemical processes involve energy inputs and outputs</vt:lpstr>
      <vt:lpstr>Biochemical processes involve energy inputs and outputs</vt:lpstr>
      <vt:lpstr>PowerPoint Presentation</vt:lpstr>
      <vt:lpstr>PowerPoint Presentation</vt:lpstr>
      <vt:lpstr>Enzymes can work rapidly</vt:lpstr>
      <vt:lpstr>Enzymes</vt:lpstr>
      <vt:lpstr>Enzymes are affected by temperature</vt:lpstr>
      <vt:lpstr>Enzymes are affected by pH</vt:lpstr>
      <vt:lpstr>Substrate and enzyme concentration can affect enzyme activity</vt:lpstr>
      <vt:lpstr>Active site and inhibitors</vt:lpstr>
      <vt:lpstr>Enzymes may be inhibited by substrates</vt:lpstr>
      <vt:lpstr>Enzymes may need to be activated</vt:lpstr>
      <vt:lpstr>ATP</vt:lpstr>
      <vt:lpstr>ATP-ADP Cycle</vt:lpstr>
      <vt:lpstr>Photosynthesis is a series of steps</vt:lpstr>
      <vt:lpstr>Photosynthesis is a series of steps</vt:lpstr>
      <vt:lpstr>Chloroplasts </vt:lpstr>
      <vt:lpstr>  PHOTOSYNTHESIS</vt:lpstr>
      <vt:lpstr>PowerPoint Presentation</vt:lpstr>
      <vt:lpstr>PowerPoint Presentation</vt:lpstr>
      <vt:lpstr>Absorption of Chlorophyll</vt:lpstr>
      <vt:lpstr>PowerPoint Presentation</vt:lpstr>
      <vt:lpstr>PHOTOSYNTHESIS</vt:lpstr>
      <vt:lpstr>PowerPoint Presentation</vt:lpstr>
      <vt:lpstr>  PHOTOSYNTHESIS</vt:lpstr>
      <vt:lpstr>PowerPoint Presentation</vt:lpstr>
      <vt:lpstr>PowerPoint Presentation</vt:lpstr>
      <vt:lpstr>Stage 2 Cellular respiration with oxygen</vt:lpstr>
      <vt:lpstr>Cellular respiration without oxygen</vt:lpstr>
      <vt:lpstr>Cellular respiration without oxygen</vt:lpstr>
      <vt:lpstr>Photosynthesis and aerobic cellular respiration are closely related and interdependent</vt:lpstr>
    </vt:vector>
  </TitlesOfParts>
  <Company>Cengage</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PTM: Goal Setting</dc:title>
  <dc:creator>Stephen Bird</dc:creator>
  <cp:lastModifiedBy>CARROLL Aaron</cp:lastModifiedBy>
  <cp:revision>692</cp:revision>
  <cp:lastPrinted>2016-07-28T08:34:24Z</cp:lastPrinted>
  <dcterms:created xsi:type="dcterms:W3CDTF">2009-07-02T12:34:17Z</dcterms:created>
  <dcterms:modified xsi:type="dcterms:W3CDTF">2017-08-21T06:35:28Z</dcterms:modified>
</cp:coreProperties>
</file>