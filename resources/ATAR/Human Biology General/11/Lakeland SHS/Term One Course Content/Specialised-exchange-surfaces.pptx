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2" r:id="rId7"/>
    <p:sldId id="261" r:id="rId8"/>
    <p:sldId id="267" r:id="rId9"/>
    <p:sldId id="263" r:id="rId10"/>
    <p:sldId id="264" r:id="rId11"/>
    <p:sldId id="265" r:id="rId12"/>
    <p:sldId id="266" r:id="rId13"/>
    <p:sldId id="268" r:id="rId1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5" d="100"/>
          <a:sy n="65" d="100"/>
        </p:scale>
        <p:origin x="-1452" y="-10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0A725F7-BBF2-4CFD-B4EF-C9F53398081F}" type="datetimeFigureOut">
              <a:rPr lang="en-GB" smtClean="0"/>
              <a:t>30/12/2014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94E9C35-592C-4EED-A36F-003155221EA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675730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A7970BC-2809-4556-9C70-E31912B98C2B}" type="slidenum">
              <a:rPr lang="en-GB" smtClean="0"/>
              <a:pPr/>
              <a:t>11</a:t>
            </a:fld>
            <a:endParaRPr lang="en-GB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A7970BC-2809-4556-9C70-E31912B98C2B}" type="slidenum">
              <a:rPr lang="en-GB" smtClean="0"/>
              <a:pPr/>
              <a:t>12</a:t>
            </a:fld>
            <a:endParaRPr lang="en-GB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3A9883-63FD-437C-B0E4-167AE49B3A4D}" type="datetimeFigureOut">
              <a:rPr lang="en-GB" smtClean="0"/>
              <a:t>30/12/2014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08C160-4B59-42F6-8021-FD89F0DA305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871451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3A9883-63FD-437C-B0E4-167AE49B3A4D}" type="datetimeFigureOut">
              <a:rPr lang="en-GB" smtClean="0"/>
              <a:t>30/12/2014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08C160-4B59-42F6-8021-FD89F0DA305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007504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3A9883-63FD-437C-B0E4-167AE49B3A4D}" type="datetimeFigureOut">
              <a:rPr lang="en-GB" smtClean="0"/>
              <a:t>30/12/2014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08C160-4B59-42F6-8021-FD89F0DA305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998850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3A9883-63FD-437C-B0E4-167AE49B3A4D}" type="datetimeFigureOut">
              <a:rPr lang="en-GB" smtClean="0"/>
              <a:t>30/12/2014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08C160-4B59-42F6-8021-FD89F0DA305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926111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3A9883-63FD-437C-B0E4-167AE49B3A4D}" type="datetimeFigureOut">
              <a:rPr lang="en-GB" smtClean="0"/>
              <a:t>30/12/2014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08C160-4B59-42F6-8021-FD89F0DA305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106807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3A9883-63FD-437C-B0E4-167AE49B3A4D}" type="datetimeFigureOut">
              <a:rPr lang="en-GB" smtClean="0"/>
              <a:t>30/12/2014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08C160-4B59-42F6-8021-FD89F0DA305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550939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3A9883-63FD-437C-B0E4-167AE49B3A4D}" type="datetimeFigureOut">
              <a:rPr lang="en-GB" smtClean="0"/>
              <a:t>30/12/2014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08C160-4B59-42F6-8021-FD89F0DA305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966717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3A9883-63FD-437C-B0E4-167AE49B3A4D}" type="datetimeFigureOut">
              <a:rPr lang="en-GB" smtClean="0"/>
              <a:t>30/12/2014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08C160-4B59-42F6-8021-FD89F0DA305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922738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3A9883-63FD-437C-B0E4-167AE49B3A4D}" type="datetimeFigureOut">
              <a:rPr lang="en-GB" smtClean="0"/>
              <a:t>30/12/2014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08C160-4B59-42F6-8021-FD89F0DA305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810740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3A9883-63FD-437C-B0E4-167AE49B3A4D}" type="datetimeFigureOut">
              <a:rPr lang="en-GB" smtClean="0"/>
              <a:t>30/12/2014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08C160-4B59-42F6-8021-FD89F0DA305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833642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3A9883-63FD-437C-B0E4-167AE49B3A4D}" type="datetimeFigureOut">
              <a:rPr lang="en-GB" smtClean="0"/>
              <a:t>30/12/2014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08C160-4B59-42F6-8021-FD89F0DA305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097595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03A9883-63FD-437C-B0E4-167AE49B3A4D}" type="datetimeFigureOut">
              <a:rPr lang="en-GB" smtClean="0"/>
              <a:t>30/12/2014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508C160-4B59-42F6-8021-FD89F0DA305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183062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gi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jpeg"/><Relationship Id="rId4" Type="http://schemas.openxmlformats.org/officeDocument/2006/relationships/image" Target="../media/image6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jpeg"/><Relationship Id="rId5" Type="http://schemas.openxmlformats.org/officeDocument/2006/relationships/image" Target="../media/image10.jpeg"/><Relationship Id="rId4" Type="http://schemas.openxmlformats.org/officeDocument/2006/relationships/image" Target="../media/image9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://www.google.co.uk/url?sa=i&amp;rct=j&amp;q=shell+iron+lung&amp;source=images&amp;cd=&amp;cad=rja&amp;docid=uPmX9K6bDyqPvM&amp;tbnid=SulrRM_QzhQhaM:&amp;ved=0CAUQjRw&amp;url=http://www.oobject.com/category/12-iron-lungs/&amp;ei=ktH4UtP_GMry7AaIjYHoAQ&amp;psig=AFQjCNFVHNc8A0bHHX75LKfMVeL90LHZOA&amp;ust=1392124651390470" TargetMode="External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3568" y="260648"/>
            <a:ext cx="7772400" cy="1470025"/>
          </a:xfrm>
        </p:spPr>
        <p:txBody>
          <a:bodyPr/>
          <a:lstStyle/>
          <a:p>
            <a:r>
              <a:rPr lang="en-GB" u="sng" dirty="0" smtClean="0">
                <a:latin typeface="Comic Sans MS" panose="030F0702030302020204" pitchFamily="66" charset="0"/>
              </a:rPr>
              <a:t>Specialised exchange surfaces</a:t>
            </a:r>
            <a:endParaRPr lang="en-GB" u="sng" dirty="0">
              <a:latin typeface="Comic Sans MS" panose="030F0702030302020204" pitchFamily="66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31640" y="1772816"/>
            <a:ext cx="6400800" cy="1752600"/>
          </a:xfrm>
        </p:spPr>
        <p:txBody>
          <a:bodyPr/>
          <a:lstStyle/>
          <a:p>
            <a:fld id="{1AC156CF-0578-42F1-A943-8CCED75CF8A2}" type="datetime2">
              <a:rPr lang="en-GB" u="sng" smtClean="0">
                <a:solidFill>
                  <a:srgbClr val="FF0000"/>
                </a:solidFill>
                <a:latin typeface="Comic Sans MS" panose="030F0702030302020204" pitchFamily="66" charset="0"/>
              </a:rPr>
              <a:t>Tuesday, 30 December 2014</a:t>
            </a:fld>
            <a:endParaRPr lang="en-GB" u="sng" dirty="0">
              <a:solidFill>
                <a:srgbClr val="FF0000"/>
              </a:solidFill>
              <a:latin typeface="Comic Sans MS" panose="030F0702030302020204" pitchFamily="66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251520" y="2492896"/>
            <a:ext cx="86409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800" b="1" dirty="0" smtClean="0">
                <a:solidFill>
                  <a:srgbClr val="7030A0"/>
                </a:solidFill>
                <a:latin typeface="Comic Sans MS" panose="030F0702030302020204" pitchFamily="66" charset="0"/>
              </a:rPr>
              <a:t>Key words: alveoli, villi, diffusion</a:t>
            </a:r>
            <a:endParaRPr lang="en-GB" sz="2800" b="1" dirty="0">
              <a:solidFill>
                <a:srgbClr val="7030A0"/>
              </a:solidFill>
              <a:latin typeface="Comic Sans MS" panose="030F0702030302020204" pitchFamily="66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51520" y="3140968"/>
            <a:ext cx="8496944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 smtClean="0">
                <a:solidFill>
                  <a:srgbClr val="002060"/>
                </a:solidFill>
                <a:latin typeface="Comic Sans MS" panose="030F0702030302020204" pitchFamily="66" charset="0"/>
              </a:rPr>
              <a:t>Starter: Recap your understanding of the lungs</a:t>
            </a:r>
          </a:p>
          <a:p>
            <a:endParaRPr lang="en-GB" sz="2400" b="1" dirty="0">
              <a:solidFill>
                <a:srgbClr val="002060"/>
              </a:solidFill>
              <a:latin typeface="Comic Sans MS" panose="030F0702030302020204" pitchFamily="66" charset="0"/>
            </a:endParaRPr>
          </a:p>
          <a:p>
            <a:r>
              <a:rPr lang="en-GB" sz="2400" b="1" dirty="0" smtClean="0">
                <a:solidFill>
                  <a:srgbClr val="002060"/>
                </a:solidFill>
                <a:latin typeface="Comic Sans MS" panose="030F0702030302020204" pitchFamily="66" charset="0"/>
              </a:rPr>
              <a:t>3: Parts of the lungs</a:t>
            </a:r>
          </a:p>
          <a:p>
            <a:endParaRPr lang="en-GB" sz="2400" b="1" dirty="0">
              <a:solidFill>
                <a:srgbClr val="002060"/>
              </a:solidFill>
              <a:latin typeface="Comic Sans MS" panose="030F0702030302020204" pitchFamily="66" charset="0"/>
            </a:endParaRPr>
          </a:p>
          <a:p>
            <a:r>
              <a:rPr lang="en-GB" sz="2400" b="1" dirty="0" smtClean="0">
                <a:solidFill>
                  <a:srgbClr val="002060"/>
                </a:solidFill>
                <a:latin typeface="Comic Sans MS" panose="030F0702030302020204" pitchFamily="66" charset="0"/>
              </a:rPr>
              <a:t>2: Differences between inhalation and exhalation</a:t>
            </a:r>
          </a:p>
          <a:p>
            <a:endParaRPr lang="en-GB" sz="2400" b="1" dirty="0">
              <a:solidFill>
                <a:srgbClr val="002060"/>
              </a:solidFill>
              <a:latin typeface="Comic Sans MS" panose="030F0702030302020204" pitchFamily="66" charset="0"/>
            </a:endParaRPr>
          </a:p>
          <a:p>
            <a:r>
              <a:rPr lang="en-GB" sz="2400" b="1" dirty="0" smtClean="0">
                <a:solidFill>
                  <a:srgbClr val="002060"/>
                </a:solidFill>
                <a:latin typeface="Comic Sans MS" panose="030F0702030302020204" pitchFamily="66" charset="0"/>
              </a:rPr>
              <a:t>1: Definition of gas exchange</a:t>
            </a:r>
            <a:endParaRPr lang="en-GB" sz="2400" b="1" dirty="0">
              <a:solidFill>
                <a:srgbClr val="002060"/>
              </a:solidFill>
              <a:latin typeface="Comic Sans MS" panose="030F0702030302020204" pitchFamily="66" charset="0"/>
            </a:endParaRPr>
          </a:p>
          <a:p>
            <a:endParaRPr lang="en-GB" sz="2400" b="1" dirty="0">
              <a:solidFill>
                <a:srgbClr val="002060"/>
              </a:solidFill>
              <a:latin typeface="Comic Sans MS" panose="030F0702030302020204" pitchFamily="66" charset="0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93462" y="5301208"/>
            <a:ext cx="1755002" cy="14127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1601609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 smtClean="0">
                <a:solidFill>
                  <a:srgbClr val="00B050"/>
                </a:solidFill>
                <a:latin typeface="Comic Sans MS" panose="030F0702030302020204" pitchFamily="66" charset="0"/>
              </a:rPr>
              <a:t>The big picture: “How are exchange surfaces specialised?”</a:t>
            </a:r>
            <a:endParaRPr lang="en-GB" dirty="0">
              <a:solidFill>
                <a:srgbClr val="00B050"/>
              </a:solidFill>
              <a:latin typeface="Comic Sans MS" panose="030F0702030302020204" pitchFamily="66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b="1" dirty="0" smtClean="0">
                <a:solidFill>
                  <a:srgbClr val="002060"/>
                </a:solidFill>
                <a:latin typeface="Comic Sans MS" panose="030F0702030302020204" pitchFamily="66" charset="0"/>
              </a:rPr>
              <a:t>Learning outcomes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GB" dirty="0" smtClean="0">
                <a:solidFill>
                  <a:srgbClr val="002060"/>
                </a:solidFill>
                <a:latin typeface="Comic Sans MS" panose="030F0702030302020204" pitchFamily="66" charset="0"/>
              </a:rPr>
              <a:t>To describe the adaptations of the alveoli and villi.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GB" dirty="0" smtClean="0">
                <a:solidFill>
                  <a:srgbClr val="002060"/>
                </a:solidFill>
                <a:latin typeface="Comic Sans MS" panose="030F0702030302020204" pitchFamily="66" charset="0"/>
              </a:rPr>
              <a:t>To analyse how these adaptations allow these exchange structures to function effectively. 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GB" dirty="0" smtClean="0">
                <a:solidFill>
                  <a:srgbClr val="002060"/>
                </a:solidFill>
                <a:latin typeface="Comic Sans MS" panose="030F0702030302020204" pitchFamily="66" charset="0"/>
              </a:rPr>
              <a:t>To evaluate the use of artificial breathing aids.</a:t>
            </a:r>
            <a:endParaRPr lang="en-GB" dirty="0">
              <a:solidFill>
                <a:srgbClr val="002060"/>
              </a:solidFill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704221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>
                <a:latin typeface="Comic Sans MS" panose="030F0702030302020204" pitchFamily="66" charset="0"/>
              </a:rPr>
              <a:t>Specialised exchange surfaces</a:t>
            </a:r>
            <a:endParaRPr lang="en-GB" dirty="0">
              <a:latin typeface="Comic Sans MS" panose="030F0702030302020204" pitchFamily="66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 smtClean="0">
                <a:latin typeface="Comic Sans MS" panose="030F0702030302020204" pitchFamily="66" charset="0"/>
              </a:rPr>
              <a:t>Areas of the body where exchange takes place e.g. the </a:t>
            </a:r>
            <a:r>
              <a:rPr lang="en-GB" b="1" dirty="0" smtClean="0">
                <a:solidFill>
                  <a:srgbClr val="00B050"/>
                </a:solidFill>
                <a:latin typeface="Comic Sans MS" panose="030F0702030302020204" pitchFamily="66" charset="0"/>
              </a:rPr>
              <a:t>alveoli</a:t>
            </a:r>
            <a:r>
              <a:rPr lang="en-GB" dirty="0" smtClean="0">
                <a:latin typeface="Comic Sans MS" panose="030F0702030302020204" pitchFamily="66" charset="0"/>
              </a:rPr>
              <a:t> in the lungs and the </a:t>
            </a:r>
            <a:r>
              <a:rPr lang="en-GB" b="1" dirty="0" smtClean="0">
                <a:solidFill>
                  <a:srgbClr val="00B050"/>
                </a:solidFill>
                <a:latin typeface="Comic Sans MS" panose="030F0702030302020204" pitchFamily="66" charset="0"/>
              </a:rPr>
              <a:t>small intestine </a:t>
            </a:r>
            <a:r>
              <a:rPr lang="en-GB" dirty="0" smtClean="0">
                <a:latin typeface="Comic Sans MS" panose="030F0702030302020204" pitchFamily="66" charset="0"/>
              </a:rPr>
              <a:t>are specially designed for this job.</a:t>
            </a:r>
          </a:p>
          <a:p>
            <a:r>
              <a:rPr lang="en-GB" dirty="0" smtClean="0">
                <a:latin typeface="Comic Sans MS" panose="030F0702030302020204" pitchFamily="66" charset="0"/>
              </a:rPr>
              <a:t>The have key features (adaptations) to </a:t>
            </a:r>
            <a:r>
              <a:rPr lang="en-GB" b="1" dirty="0" smtClean="0">
                <a:solidFill>
                  <a:srgbClr val="00B050"/>
                </a:solidFill>
                <a:latin typeface="Comic Sans MS" panose="030F0702030302020204" pitchFamily="66" charset="0"/>
              </a:rPr>
              <a:t>maximise the rate of diffusion- </a:t>
            </a:r>
            <a:r>
              <a:rPr lang="en-GB" dirty="0" smtClean="0">
                <a:latin typeface="Comic Sans MS" panose="030F0702030302020204" pitchFamily="66" charset="0"/>
              </a:rPr>
              <a:t>this ensures the </a:t>
            </a:r>
            <a:r>
              <a:rPr lang="en-GB" b="1" dirty="0" smtClean="0">
                <a:solidFill>
                  <a:srgbClr val="00B050"/>
                </a:solidFill>
                <a:latin typeface="Comic Sans MS" panose="030F0702030302020204" pitchFamily="66" charset="0"/>
              </a:rPr>
              <a:t>products</a:t>
            </a:r>
            <a:r>
              <a:rPr lang="en-GB" dirty="0" smtClean="0">
                <a:latin typeface="Comic Sans MS" panose="030F0702030302020204" pitchFamily="66" charset="0"/>
              </a:rPr>
              <a:t> being exchanged are </a:t>
            </a:r>
            <a:r>
              <a:rPr lang="en-GB" b="1" dirty="0" smtClean="0">
                <a:solidFill>
                  <a:srgbClr val="00B050"/>
                </a:solidFill>
                <a:latin typeface="Comic Sans MS" panose="030F0702030302020204" pitchFamily="66" charset="0"/>
              </a:rPr>
              <a:t>delivered as quickly as possibly</a:t>
            </a:r>
            <a:r>
              <a:rPr lang="en-GB" dirty="0" smtClean="0">
                <a:latin typeface="Comic Sans MS" panose="030F0702030302020204" pitchFamily="66" charset="0"/>
              </a:rPr>
              <a:t>. </a:t>
            </a:r>
            <a:endParaRPr lang="en-GB" dirty="0"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55589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>
                <a:latin typeface="Comic Sans MS" panose="030F0702030302020204" pitchFamily="66" charset="0"/>
              </a:rPr>
              <a:t>Task</a:t>
            </a:r>
            <a:endParaRPr lang="en-GB" dirty="0">
              <a:latin typeface="Comic Sans MS" panose="030F0702030302020204" pitchFamily="66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GB" dirty="0" smtClean="0">
                <a:latin typeface="Comic Sans MS" panose="030F0702030302020204" pitchFamily="66" charset="0"/>
              </a:rPr>
              <a:t>Complete the tasks on your worksheet to explain the role and adaptations of the alveoli in the lungs and the villi in the small intestine.</a:t>
            </a:r>
          </a:p>
          <a:p>
            <a:pPr marL="0" indent="0">
              <a:buNone/>
            </a:pPr>
            <a:endParaRPr lang="en-GB" dirty="0" smtClean="0">
              <a:latin typeface="Comic Sans MS" panose="030F0702030302020204" pitchFamily="66" charset="0"/>
            </a:endParaRPr>
          </a:p>
          <a:p>
            <a:pPr marL="0" indent="0">
              <a:buNone/>
            </a:pPr>
            <a:r>
              <a:rPr lang="en-GB" dirty="0" smtClean="0">
                <a:solidFill>
                  <a:srgbClr val="0070C0"/>
                </a:solidFill>
                <a:latin typeface="Comic Sans MS" panose="030F0702030302020204" pitchFamily="66" charset="0"/>
              </a:rPr>
              <a:t>Support: Text books page , phones</a:t>
            </a:r>
          </a:p>
          <a:p>
            <a:pPr marL="0" indent="0">
              <a:buNone/>
            </a:pPr>
            <a:endParaRPr lang="en-GB" dirty="0">
              <a:latin typeface="Comic Sans MS" panose="030F0702030302020204" pitchFamily="66" charset="0"/>
            </a:endParaRPr>
          </a:p>
          <a:p>
            <a:pPr marL="0" indent="0">
              <a:buNone/>
            </a:pPr>
            <a:r>
              <a:rPr lang="en-GB" dirty="0" smtClean="0">
                <a:solidFill>
                  <a:srgbClr val="00B050"/>
                </a:solidFill>
                <a:latin typeface="Comic Sans MS" panose="030F0702030302020204" pitchFamily="66" charset="0"/>
              </a:rPr>
              <a:t>Extra challenge: Why would single celled organisms such as amoeba need to have similar adaptations in order to survive?</a:t>
            </a:r>
            <a:endParaRPr lang="en-GB" dirty="0">
              <a:solidFill>
                <a:srgbClr val="00B050"/>
              </a:solidFill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919392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 smtClean="0">
                <a:solidFill>
                  <a:srgbClr val="7030A0"/>
                </a:solidFill>
                <a:latin typeface="Comic Sans MS" panose="030F0702030302020204" pitchFamily="66" charset="0"/>
              </a:rPr>
              <a:t>6 Mark Exam question</a:t>
            </a:r>
            <a:endParaRPr lang="en-GB" b="1" dirty="0">
              <a:solidFill>
                <a:srgbClr val="7030A0"/>
              </a:solidFill>
              <a:latin typeface="Comic Sans MS" panose="030F0702030302020204" pitchFamily="66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GB" sz="3600" dirty="0" smtClean="0">
                <a:latin typeface="Comic Sans MS" panose="030F0702030302020204" pitchFamily="66" charset="0"/>
              </a:rPr>
              <a:t>“Explain how the villi in the small intestine are adapted to maximise the rate of absorption of </a:t>
            </a:r>
            <a:r>
              <a:rPr lang="en-GB" sz="3600" dirty="0">
                <a:latin typeface="Comic Sans MS" panose="030F0702030302020204" pitchFamily="66" charset="0"/>
              </a:rPr>
              <a:t>d</a:t>
            </a:r>
            <a:r>
              <a:rPr lang="en-GB" sz="3600" dirty="0" smtClean="0">
                <a:latin typeface="Comic Sans MS" panose="030F0702030302020204" pitchFamily="66" charset="0"/>
              </a:rPr>
              <a:t>igested food products”</a:t>
            </a:r>
            <a:endParaRPr lang="en-GB" sz="3600" dirty="0"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311607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b="1" dirty="0" smtClean="0">
                <a:solidFill>
                  <a:srgbClr val="7030A0"/>
                </a:solidFill>
                <a:latin typeface="Comic Sans MS" panose="030F0702030302020204" pitchFamily="66" charset="0"/>
              </a:rPr>
              <a:t>Self-assessment- max 6 marks</a:t>
            </a:r>
            <a:endParaRPr lang="en-GB" b="1" dirty="0">
              <a:solidFill>
                <a:srgbClr val="7030A0"/>
              </a:solidFill>
              <a:latin typeface="Comic Sans MS" panose="030F0702030302020204" pitchFamily="66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>
              <a:buFontTx/>
              <a:buChar char="-"/>
            </a:pPr>
            <a:r>
              <a:rPr lang="en-GB" dirty="0" smtClean="0">
                <a:latin typeface="Comic Sans MS" panose="030F0702030302020204" pitchFamily="66" charset="0"/>
              </a:rPr>
              <a:t>Many microvilli</a:t>
            </a:r>
          </a:p>
          <a:p>
            <a:pPr>
              <a:buFontTx/>
              <a:buChar char="-"/>
            </a:pPr>
            <a:r>
              <a:rPr lang="en-GB" dirty="0" smtClean="0">
                <a:latin typeface="Comic Sans MS" panose="030F0702030302020204" pitchFamily="66" charset="0"/>
              </a:rPr>
              <a:t>Large surface area</a:t>
            </a:r>
          </a:p>
          <a:p>
            <a:pPr>
              <a:buFontTx/>
              <a:buChar char="-"/>
            </a:pPr>
            <a:r>
              <a:rPr lang="en-GB" dirty="0" smtClean="0">
                <a:latin typeface="Comic Sans MS" panose="030F0702030302020204" pitchFamily="66" charset="0"/>
              </a:rPr>
              <a:t>Many capillaries/ good blood supply</a:t>
            </a:r>
          </a:p>
          <a:p>
            <a:pPr>
              <a:buFontTx/>
              <a:buChar char="-"/>
            </a:pPr>
            <a:r>
              <a:rPr lang="en-GB" dirty="0" smtClean="0">
                <a:latin typeface="Comic Sans MS" panose="030F0702030302020204" pitchFamily="66" charset="0"/>
              </a:rPr>
              <a:t>Concentration gradient maintained/ quick diffusion into the blood</a:t>
            </a:r>
          </a:p>
          <a:p>
            <a:pPr>
              <a:buFontTx/>
              <a:buChar char="-"/>
            </a:pPr>
            <a:r>
              <a:rPr lang="en-GB" dirty="0" smtClean="0">
                <a:latin typeface="Comic Sans MS" panose="030F0702030302020204" pitchFamily="66" charset="0"/>
              </a:rPr>
              <a:t>Thin walls/ 1 cell thick</a:t>
            </a:r>
          </a:p>
          <a:p>
            <a:pPr>
              <a:buFontTx/>
              <a:buChar char="-"/>
            </a:pPr>
            <a:r>
              <a:rPr lang="en-GB" dirty="0" smtClean="0">
                <a:latin typeface="Comic Sans MS" panose="030F0702030302020204" pitchFamily="66" charset="0"/>
              </a:rPr>
              <a:t>Short diffusion distance</a:t>
            </a:r>
          </a:p>
          <a:p>
            <a:pPr>
              <a:buFontTx/>
              <a:buChar char="-"/>
            </a:pPr>
            <a:r>
              <a:rPr lang="en-GB" dirty="0" smtClean="0">
                <a:latin typeface="Comic Sans MS" panose="030F0702030302020204" pitchFamily="66" charset="0"/>
              </a:rPr>
              <a:t>Many mitochondria</a:t>
            </a:r>
          </a:p>
          <a:p>
            <a:pPr>
              <a:buFontTx/>
              <a:buChar char="-"/>
            </a:pPr>
            <a:r>
              <a:rPr lang="en-GB" dirty="0" smtClean="0">
                <a:latin typeface="Comic Sans MS" panose="030F0702030302020204" pitchFamily="66" charset="0"/>
              </a:rPr>
              <a:t>Provides energy for active transport</a:t>
            </a:r>
            <a:endParaRPr lang="en-GB" dirty="0"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055630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4800" dirty="0" smtClean="0">
                <a:solidFill>
                  <a:srgbClr val="0070C0"/>
                </a:solidFill>
                <a:latin typeface="Comic Sans MS" panose="030F0702030302020204" pitchFamily="66" charset="0"/>
              </a:rPr>
              <a:t>Artificial breathing aids</a:t>
            </a:r>
            <a:endParaRPr lang="en-GB" sz="4800" dirty="0">
              <a:solidFill>
                <a:srgbClr val="0070C0"/>
              </a:solidFill>
              <a:latin typeface="Comic Sans MS" panose="030F0702030302020204" pitchFamily="66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 smtClean="0">
                <a:latin typeface="Comic Sans MS" panose="030F0702030302020204" pitchFamily="66" charset="0"/>
              </a:rPr>
              <a:t>1. Read about the 3 types of breathing aids- highlight the key points and stick the information in your books.</a:t>
            </a:r>
          </a:p>
          <a:p>
            <a:pPr marL="0" indent="0">
              <a:buNone/>
            </a:pPr>
            <a:endParaRPr lang="en-GB" dirty="0">
              <a:latin typeface="Comic Sans MS" panose="030F0702030302020204" pitchFamily="66" charset="0"/>
            </a:endParaRPr>
          </a:p>
          <a:p>
            <a:pPr marL="0" indent="0">
              <a:buNone/>
            </a:pPr>
            <a:r>
              <a:rPr lang="en-GB" dirty="0" smtClean="0">
                <a:latin typeface="Comic Sans MS" panose="030F0702030302020204" pitchFamily="66" charset="0"/>
              </a:rPr>
              <a:t>2. Write the benefits/ drawbacks of each method in your books- discuss the answers with the people on your table. </a:t>
            </a:r>
            <a:endParaRPr lang="en-GB" dirty="0"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863045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540568" y="301824"/>
            <a:ext cx="8229600" cy="1143000"/>
          </a:xfrm>
        </p:spPr>
        <p:txBody>
          <a:bodyPr/>
          <a:lstStyle/>
          <a:p>
            <a:r>
              <a:rPr lang="en-GB" dirty="0" smtClean="0">
                <a:latin typeface="Comic Sans MS" panose="030F0702030302020204" pitchFamily="66" charset="0"/>
              </a:rPr>
              <a:t>Plenary: Mr Wrong</a:t>
            </a:r>
            <a:endParaRPr lang="en-GB" dirty="0">
              <a:latin typeface="Comic Sans MS" panose="030F0702030302020204" pitchFamily="66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7544" y="2060848"/>
            <a:ext cx="8229600" cy="4525963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GB" dirty="0" smtClean="0">
                <a:latin typeface="Comic Sans MS" panose="030F0702030302020204" pitchFamily="66" charset="0"/>
              </a:rPr>
              <a:t>Read these wrong sentences and write the correct answers in your books…</a:t>
            </a:r>
          </a:p>
          <a:p>
            <a:pPr marL="0" indent="0">
              <a:buNone/>
            </a:pPr>
            <a:endParaRPr lang="en-GB" dirty="0">
              <a:latin typeface="Comic Sans MS" panose="030F0702030302020204" pitchFamily="66" charset="0"/>
            </a:endParaRPr>
          </a:p>
          <a:p>
            <a:pPr marL="514350" indent="-514350">
              <a:buAutoNum type="arabicPeriod"/>
            </a:pPr>
            <a:r>
              <a:rPr lang="en-GB" dirty="0" smtClean="0">
                <a:latin typeface="Comic Sans MS" panose="030F0702030302020204" pitchFamily="66" charset="0"/>
              </a:rPr>
              <a:t>Alveoli and villi have a small surface area.</a:t>
            </a:r>
          </a:p>
          <a:p>
            <a:pPr marL="514350" indent="-514350">
              <a:buAutoNum type="arabicPeriod"/>
            </a:pPr>
            <a:r>
              <a:rPr lang="en-GB" dirty="0" smtClean="0">
                <a:latin typeface="Comic Sans MS" panose="030F0702030302020204" pitchFamily="66" charset="0"/>
              </a:rPr>
              <a:t>The walls of the alveoli are 2 cells thick.</a:t>
            </a:r>
          </a:p>
          <a:p>
            <a:pPr marL="514350" indent="-514350">
              <a:buAutoNum type="arabicPeriod"/>
            </a:pPr>
            <a:r>
              <a:rPr lang="en-GB" dirty="0" smtClean="0">
                <a:latin typeface="Comic Sans MS" panose="030F0702030302020204" pitchFamily="66" charset="0"/>
              </a:rPr>
              <a:t>Villi do not contain any mitochondria.</a:t>
            </a:r>
          </a:p>
          <a:p>
            <a:pPr marL="514350" indent="-514350">
              <a:buAutoNum type="arabicPeriod"/>
            </a:pPr>
            <a:r>
              <a:rPr lang="en-GB" dirty="0" smtClean="0">
                <a:latin typeface="Comic Sans MS" panose="030F0702030302020204" pitchFamily="66" charset="0"/>
              </a:rPr>
              <a:t>The iron lung works using positive pressure.</a:t>
            </a:r>
          </a:p>
          <a:p>
            <a:pPr marL="514350" indent="-514350">
              <a:buAutoNum type="arabicPeriod"/>
            </a:pPr>
            <a:r>
              <a:rPr lang="en-GB" dirty="0" smtClean="0">
                <a:latin typeface="Comic Sans MS" panose="030F0702030302020204" pitchFamily="66" charset="0"/>
              </a:rPr>
              <a:t>The shell ventilator works in a similar way to the positive pressure ventilators.</a:t>
            </a:r>
          </a:p>
          <a:p>
            <a:pPr marL="514350" indent="-514350">
              <a:buAutoNum type="arabicPeriod"/>
            </a:pPr>
            <a:endParaRPr lang="en-GB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60232" y="188640"/>
            <a:ext cx="1581919" cy="17408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40565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Resources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7445063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3358613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cap="none" spc="0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algn="tl" rotWithShape="0">
                    <a:srgbClr val="000000"/>
                  </a:outerShdw>
                </a:effectLst>
              </a:rPr>
              <a:t>Iron Lung</a:t>
            </a:r>
            <a:endParaRPr lang="en-US" sz="5400" b="1" cap="none" spc="0" dirty="0">
              <a:ln w="17780" cmpd="sng">
                <a:solidFill>
                  <a:srgbClr val="FFFFFF"/>
                </a:solidFill>
                <a:prstDash val="solid"/>
                <a:miter lim="800000"/>
              </a:ln>
              <a:gradFill rotWithShape="1">
                <a:gsLst>
                  <a:gs pos="0">
                    <a:srgbClr val="000000">
                      <a:tint val="92000"/>
                      <a:shade val="100000"/>
                      <a:satMod val="150000"/>
                    </a:srgbClr>
                  </a:gs>
                  <a:gs pos="49000">
                    <a:srgbClr val="000000">
                      <a:tint val="89000"/>
                      <a:shade val="90000"/>
                      <a:satMod val="150000"/>
                    </a:srgbClr>
                  </a:gs>
                  <a:gs pos="50000">
                    <a:srgbClr val="000000">
                      <a:tint val="100000"/>
                      <a:shade val="75000"/>
                      <a:satMod val="150000"/>
                    </a:srgbClr>
                  </a:gs>
                  <a:gs pos="95000">
                    <a:srgbClr val="000000">
                      <a:shade val="47000"/>
                      <a:satMod val="150000"/>
                    </a:srgbClr>
                  </a:gs>
                  <a:gs pos="100000">
                    <a:srgbClr val="000000">
                      <a:shade val="39000"/>
                      <a:satMod val="150000"/>
                    </a:srgbClr>
                  </a:gs>
                </a:gsLst>
                <a:lin ang="5400000"/>
              </a:gradFill>
              <a:effectLst>
                <a:outerShdw blurRad="50800" algn="tl" rotWithShape="0">
                  <a:srgbClr val="000000"/>
                </a:outerShdw>
              </a:effectLst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 l="25177" t="21282" r="26674" b="17688"/>
          <a:stretch>
            <a:fillRect/>
          </a:stretch>
        </p:blipFill>
        <p:spPr bwMode="auto">
          <a:xfrm>
            <a:off x="5203304" y="0"/>
            <a:ext cx="3940696" cy="28083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28" name="Picture 4" descr="http://cache.wists.com/thumbnails/f/60/f6002da8c45e38a3a769b5fe62657f6d-ori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3573016"/>
            <a:ext cx="6489426" cy="3284985"/>
          </a:xfrm>
          <a:prstGeom prst="rect">
            <a:avLst/>
          </a:prstGeom>
          <a:noFill/>
        </p:spPr>
      </p:pic>
      <p:sp>
        <p:nvSpPr>
          <p:cNvPr id="7" name="TextBox 6"/>
          <p:cNvSpPr txBox="1"/>
          <p:nvPr/>
        </p:nvSpPr>
        <p:spPr>
          <a:xfrm>
            <a:off x="467544" y="987693"/>
            <a:ext cx="4565215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en-GB" dirty="0" smtClean="0">
                <a:latin typeface="Comic Sans MS" panose="030F0702030302020204" pitchFamily="66" charset="0"/>
              </a:rPr>
              <a:t>Patient is enclosed in the device with only head poking out</a:t>
            </a:r>
          </a:p>
          <a:p>
            <a:pPr>
              <a:buFont typeface="Arial" pitchFamily="34" charset="0"/>
              <a:buChar char="•"/>
            </a:pPr>
            <a:r>
              <a:rPr lang="en-GB" dirty="0" smtClean="0">
                <a:latin typeface="Comic Sans MS" panose="030F0702030302020204" pitchFamily="66" charset="0"/>
              </a:rPr>
              <a:t>An airtight seal is made around the neck and shoulders</a:t>
            </a:r>
          </a:p>
          <a:p>
            <a:pPr>
              <a:buFont typeface="Arial" pitchFamily="34" charset="0"/>
              <a:buChar char="•"/>
            </a:pPr>
            <a:r>
              <a:rPr lang="en-GB" dirty="0" smtClean="0">
                <a:latin typeface="Comic Sans MS" panose="030F0702030302020204" pitchFamily="66" charset="0"/>
              </a:rPr>
              <a:t>Air is pumped out of the chamber using bellows</a:t>
            </a:r>
          </a:p>
          <a:p>
            <a:pPr>
              <a:buFont typeface="Arial" pitchFamily="34" charset="0"/>
              <a:buChar char="•"/>
            </a:pPr>
            <a:r>
              <a:rPr lang="en-GB" dirty="0" smtClean="0">
                <a:latin typeface="Comic Sans MS" panose="030F0702030302020204" pitchFamily="66" charset="0"/>
              </a:rPr>
              <a:t>A vacuum is created, providing negative pressure, which causes movement of the thorax to draw in air</a:t>
            </a:r>
            <a:endParaRPr lang="en-GB" dirty="0">
              <a:latin typeface="Comic Sans MS" panose="030F0702030302020204" pitchFamily="66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732240" y="4611231"/>
            <a:ext cx="2411760" cy="2246769"/>
          </a:xfrm>
          <a:prstGeom prst="rect">
            <a:avLst/>
          </a:prstGeom>
          <a:solidFill>
            <a:schemeClr val="tx1">
              <a:lumMod val="85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GB" sz="2800" dirty="0" smtClean="0">
                <a:solidFill>
                  <a:schemeClr val="bg1"/>
                </a:solidFill>
              </a:rPr>
              <a:t>What are the associated pros and cons of this device?</a:t>
            </a:r>
            <a:endParaRPr lang="en-GB" sz="2800" dirty="0">
              <a:solidFill>
                <a:schemeClr val="bg1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 rot="1128256">
            <a:off x="5423427" y="3434063"/>
            <a:ext cx="35237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 smtClean="0">
                <a:solidFill>
                  <a:srgbClr val="FF0000"/>
                </a:solidFill>
              </a:rPr>
              <a:t>Works using </a:t>
            </a:r>
            <a:r>
              <a:rPr lang="en-GB" b="1" dirty="0" smtClean="0">
                <a:solidFill>
                  <a:srgbClr val="FF0000"/>
                </a:solidFill>
              </a:rPr>
              <a:t>negative pressure!!</a:t>
            </a:r>
            <a:endParaRPr lang="en-GB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777400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3059832" y="0"/>
            <a:ext cx="3416320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cap="none" spc="0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algn="tl" rotWithShape="0">
                    <a:srgbClr val="000000"/>
                  </a:outerShdw>
                </a:effectLst>
              </a:rPr>
              <a:t>The Shell </a:t>
            </a:r>
            <a:endParaRPr lang="en-US" sz="5400" b="1" cap="none" spc="0" dirty="0">
              <a:ln w="17780" cmpd="sng">
                <a:solidFill>
                  <a:srgbClr val="FFFFFF"/>
                </a:solidFill>
                <a:prstDash val="solid"/>
                <a:miter lim="800000"/>
              </a:ln>
              <a:gradFill rotWithShape="1">
                <a:gsLst>
                  <a:gs pos="0">
                    <a:srgbClr val="000000">
                      <a:tint val="92000"/>
                      <a:shade val="100000"/>
                      <a:satMod val="150000"/>
                    </a:srgbClr>
                  </a:gs>
                  <a:gs pos="49000">
                    <a:srgbClr val="000000">
                      <a:tint val="89000"/>
                      <a:shade val="90000"/>
                      <a:satMod val="150000"/>
                    </a:srgbClr>
                  </a:gs>
                  <a:gs pos="50000">
                    <a:srgbClr val="000000">
                      <a:tint val="100000"/>
                      <a:shade val="75000"/>
                      <a:satMod val="150000"/>
                    </a:srgbClr>
                  </a:gs>
                  <a:gs pos="95000">
                    <a:srgbClr val="000000">
                      <a:shade val="47000"/>
                      <a:satMod val="150000"/>
                    </a:srgbClr>
                  </a:gs>
                  <a:gs pos="100000">
                    <a:srgbClr val="000000">
                      <a:shade val="39000"/>
                      <a:satMod val="150000"/>
                    </a:srgbClr>
                  </a:gs>
                </a:gsLst>
                <a:lin ang="5400000"/>
              </a:gradFill>
              <a:effectLst>
                <a:outerShdw blurRad="50800" algn="tl" rotWithShape="0">
                  <a:srgbClr val="000000"/>
                </a:outerShdw>
              </a:effectLst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251520" y="908720"/>
            <a:ext cx="5616624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en-GB" sz="2000" dirty="0" smtClean="0">
                <a:latin typeface="Comic Sans MS" panose="030F0702030302020204" pitchFamily="66" charset="0"/>
              </a:rPr>
              <a:t>The shell is fitted around the thorax of the patient</a:t>
            </a:r>
          </a:p>
          <a:p>
            <a:pPr>
              <a:buFont typeface="Arial" pitchFamily="34" charset="0"/>
              <a:buChar char="•"/>
            </a:pPr>
            <a:r>
              <a:rPr lang="en-GB" sz="2000" dirty="0" smtClean="0">
                <a:latin typeface="Comic Sans MS" panose="030F0702030302020204" pitchFamily="66" charset="0"/>
              </a:rPr>
              <a:t>Works in a similar way to the iron lung</a:t>
            </a:r>
          </a:p>
          <a:p>
            <a:pPr>
              <a:buFont typeface="Arial" pitchFamily="34" charset="0"/>
              <a:buChar char="•"/>
            </a:pPr>
            <a:r>
              <a:rPr lang="en-GB" sz="2000" dirty="0" smtClean="0">
                <a:latin typeface="Comic Sans MS" panose="030F0702030302020204" pitchFamily="66" charset="0"/>
              </a:rPr>
              <a:t>Air is removed from inside the shell to create a vacuum</a:t>
            </a:r>
          </a:p>
          <a:p>
            <a:pPr>
              <a:buFont typeface="Arial" pitchFamily="34" charset="0"/>
              <a:buChar char="•"/>
            </a:pPr>
            <a:r>
              <a:rPr lang="en-GB" sz="2000" dirty="0" smtClean="0">
                <a:latin typeface="Comic Sans MS" panose="030F0702030302020204" pitchFamily="66" charset="0"/>
              </a:rPr>
              <a:t>The vacuum moves the thorax in a similar way to when a person breathes in unaided</a:t>
            </a:r>
          </a:p>
          <a:p>
            <a:pPr>
              <a:buFont typeface="Arial" pitchFamily="34" charset="0"/>
              <a:buChar char="•"/>
            </a:pPr>
            <a:r>
              <a:rPr lang="en-GB" sz="2000" dirty="0" smtClean="0">
                <a:latin typeface="Comic Sans MS" panose="030F0702030302020204" pitchFamily="66" charset="0"/>
              </a:rPr>
              <a:t>Air is drawn into to the lungs</a:t>
            </a:r>
          </a:p>
          <a:p>
            <a:pPr>
              <a:buFont typeface="Arial" pitchFamily="34" charset="0"/>
              <a:buChar char="•"/>
            </a:pPr>
            <a:r>
              <a:rPr lang="en-GB" sz="2000" dirty="0" smtClean="0">
                <a:latin typeface="Comic Sans MS" panose="030F0702030302020204" pitchFamily="66" charset="0"/>
              </a:rPr>
              <a:t>To stimulate expiration the air is returned to the chamber to increase the pressure</a:t>
            </a:r>
            <a:endParaRPr lang="en-GB" sz="2000" dirty="0">
              <a:latin typeface="Comic Sans MS" panose="030F0702030302020204" pitchFamily="66" charset="0"/>
            </a:endParaRPr>
          </a:p>
        </p:txBody>
      </p:sp>
      <p:pic>
        <p:nvPicPr>
          <p:cNvPr id="9" name="Picture 7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84168" y="2533369"/>
            <a:ext cx="3059832" cy="43246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TextBox 9"/>
          <p:cNvSpPr txBox="1"/>
          <p:nvPr/>
        </p:nvSpPr>
        <p:spPr>
          <a:xfrm rot="393450">
            <a:off x="9562" y="6288671"/>
            <a:ext cx="35237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 smtClean="0">
                <a:solidFill>
                  <a:srgbClr val="FF0000"/>
                </a:solidFill>
              </a:rPr>
              <a:t>Works using </a:t>
            </a:r>
            <a:r>
              <a:rPr lang="en-GB" b="1" dirty="0" smtClean="0">
                <a:solidFill>
                  <a:srgbClr val="FF0000"/>
                </a:solidFill>
              </a:rPr>
              <a:t>negative pressure!!</a:t>
            </a:r>
            <a:endParaRPr lang="en-GB" b="1" dirty="0">
              <a:solidFill>
                <a:srgbClr val="FF0000"/>
              </a:solidFill>
            </a:endParaRPr>
          </a:p>
        </p:txBody>
      </p:sp>
      <p:pic>
        <p:nvPicPr>
          <p:cNvPr id="27650" name="Picture 2" descr="https://d44ytnim3cfy5.cloudfront.net/assets/4604306/view_large/Cuirass%20Ventilator_002.jpg?1321458383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579097" y="0"/>
            <a:ext cx="2564903" cy="2564904"/>
          </a:xfrm>
          <a:prstGeom prst="rect">
            <a:avLst/>
          </a:prstGeom>
          <a:noFill/>
        </p:spPr>
      </p:pic>
      <p:pic>
        <p:nvPicPr>
          <p:cNvPr id="27652" name="Picture 4" descr="http://www.advanceweb.com/SharedResources/Images/2011/110711/RN01110711_Final__p10_250x.jpg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3563888" y="4292329"/>
            <a:ext cx="2525266" cy="2565671"/>
          </a:xfrm>
          <a:prstGeom prst="rect">
            <a:avLst/>
          </a:prstGeom>
          <a:noFill/>
        </p:spPr>
      </p:pic>
      <p:sp>
        <p:nvSpPr>
          <p:cNvPr id="11" name="TextBox 10"/>
          <p:cNvSpPr txBox="1"/>
          <p:nvPr/>
        </p:nvSpPr>
        <p:spPr>
          <a:xfrm>
            <a:off x="881336" y="4437112"/>
            <a:ext cx="2411760" cy="1384995"/>
          </a:xfrm>
          <a:prstGeom prst="rect">
            <a:avLst/>
          </a:prstGeom>
          <a:solidFill>
            <a:schemeClr val="tx1">
              <a:lumMod val="85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GB" sz="2800" dirty="0" smtClean="0">
                <a:solidFill>
                  <a:schemeClr val="bg1"/>
                </a:solidFill>
              </a:rPr>
              <a:t>What are the benefits and drawbacks?</a:t>
            </a:r>
            <a:endParaRPr lang="en-GB" sz="28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755295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597849" y="0"/>
            <a:ext cx="8340297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cap="none" spc="0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algn="tl" rotWithShape="0">
                    <a:srgbClr val="000000"/>
                  </a:outerShdw>
                </a:effectLst>
              </a:rPr>
              <a:t>Positive Pressure </a:t>
            </a:r>
            <a:r>
              <a:rPr lang="en-US" sz="54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algn="tl" rotWithShape="0">
                    <a:srgbClr val="000000"/>
                  </a:outerShdw>
                </a:effectLst>
              </a:rPr>
              <a:t>Ventilators</a:t>
            </a:r>
            <a:endParaRPr lang="en-US" sz="5400" b="1" cap="none" spc="0" dirty="0">
              <a:ln w="17780" cmpd="sng">
                <a:solidFill>
                  <a:srgbClr val="FFFFFF"/>
                </a:solidFill>
                <a:prstDash val="solid"/>
                <a:miter lim="800000"/>
              </a:ln>
              <a:gradFill rotWithShape="1">
                <a:gsLst>
                  <a:gs pos="0">
                    <a:srgbClr val="000000">
                      <a:tint val="92000"/>
                      <a:shade val="100000"/>
                      <a:satMod val="150000"/>
                    </a:srgbClr>
                  </a:gs>
                  <a:gs pos="49000">
                    <a:srgbClr val="000000">
                      <a:tint val="89000"/>
                      <a:shade val="90000"/>
                      <a:satMod val="150000"/>
                    </a:srgbClr>
                  </a:gs>
                  <a:gs pos="50000">
                    <a:srgbClr val="000000">
                      <a:tint val="100000"/>
                      <a:shade val="75000"/>
                      <a:satMod val="150000"/>
                    </a:srgbClr>
                  </a:gs>
                  <a:gs pos="95000">
                    <a:srgbClr val="000000">
                      <a:shade val="47000"/>
                      <a:satMod val="150000"/>
                    </a:srgbClr>
                  </a:gs>
                  <a:gs pos="100000">
                    <a:srgbClr val="000000">
                      <a:shade val="39000"/>
                      <a:satMod val="150000"/>
                    </a:srgbClr>
                  </a:gs>
                </a:gsLst>
                <a:lin ang="5400000"/>
              </a:gradFill>
              <a:effectLst>
                <a:outerShdw blurRad="50800" algn="tl" rotWithShape="0">
                  <a:srgbClr val="000000"/>
                </a:outerShdw>
              </a:effectLst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251520" y="956693"/>
            <a:ext cx="5688632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en-GB" sz="2000" dirty="0" smtClean="0">
                <a:latin typeface="Comic Sans MS" panose="030F0702030302020204" pitchFamily="66" charset="0"/>
              </a:rPr>
              <a:t>Positive pressure systems force air down the trachea into the lungs</a:t>
            </a:r>
          </a:p>
          <a:p>
            <a:pPr>
              <a:buFont typeface="Arial" pitchFamily="34" charset="0"/>
              <a:buChar char="•"/>
            </a:pPr>
            <a:r>
              <a:rPr lang="en-GB" sz="2000" dirty="0" smtClean="0">
                <a:latin typeface="Comic Sans MS" panose="030F0702030302020204" pitchFamily="66" charset="0"/>
              </a:rPr>
              <a:t>The volume of air delivered is carefully monitored in electrical positive pressure systems</a:t>
            </a:r>
          </a:p>
          <a:p>
            <a:pPr>
              <a:buFont typeface="Arial" pitchFamily="34" charset="0"/>
              <a:buChar char="•"/>
            </a:pPr>
            <a:r>
              <a:rPr lang="en-GB" sz="2000" dirty="0" smtClean="0">
                <a:latin typeface="Comic Sans MS" panose="030F0702030302020204" pitchFamily="66" charset="0"/>
              </a:rPr>
              <a:t>Once the lungs have been ventilated the air flow cuts off and the lungs are allowed to deflate</a:t>
            </a:r>
          </a:p>
          <a:p>
            <a:pPr>
              <a:buFont typeface="Arial" pitchFamily="34" charset="0"/>
              <a:buChar char="•"/>
            </a:pPr>
            <a:r>
              <a:rPr lang="en-GB" sz="2000" dirty="0" smtClean="0">
                <a:latin typeface="Comic Sans MS" panose="030F0702030302020204" pitchFamily="66" charset="0"/>
              </a:rPr>
              <a:t>Manual positive pressure systems are often used in emergency procedures</a:t>
            </a:r>
            <a:endParaRPr lang="en-GB" sz="2000" dirty="0">
              <a:latin typeface="Comic Sans MS" panose="030F0702030302020204" pitchFamily="66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 rot="482367">
            <a:off x="5181758" y="5502492"/>
            <a:ext cx="234061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 smtClean="0">
                <a:solidFill>
                  <a:srgbClr val="FF0000"/>
                </a:solidFill>
              </a:rPr>
              <a:t>Works using </a:t>
            </a:r>
            <a:r>
              <a:rPr lang="en-GB" b="1" dirty="0" smtClean="0">
                <a:solidFill>
                  <a:srgbClr val="FF0000"/>
                </a:solidFill>
              </a:rPr>
              <a:t>positive pressure!!</a:t>
            </a:r>
            <a:endParaRPr lang="en-GB" b="1" dirty="0">
              <a:solidFill>
                <a:srgbClr val="FF0000"/>
              </a:solidFill>
            </a:endParaRPr>
          </a:p>
        </p:txBody>
      </p:sp>
      <p:pic>
        <p:nvPicPr>
          <p:cNvPr id="8" name="Picture 8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434" t="19485" r="41626" b="29081"/>
          <a:stretch/>
        </p:blipFill>
        <p:spPr bwMode="auto">
          <a:xfrm>
            <a:off x="0" y="4322984"/>
            <a:ext cx="1835696" cy="25350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9698" name="Picture 2" descr="http://www.ufrgs.br/imunovet/molecular_immunology/CPAP%20StarMed%20helmet.jp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835696" y="4311352"/>
            <a:ext cx="3395531" cy="2546648"/>
          </a:xfrm>
          <a:prstGeom prst="rect">
            <a:avLst/>
          </a:prstGeom>
          <a:noFill/>
        </p:spPr>
      </p:pic>
      <p:pic>
        <p:nvPicPr>
          <p:cNvPr id="29700" name="Picture 4" descr="http://www.fphcare.com/files/images/global/corp-site-images-eng/noninvasive-ventilation-a-p/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7353300" y="5124449"/>
            <a:ext cx="1790700" cy="1733551"/>
          </a:xfrm>
          <a:prstGeom prst="rect">
            <a:avLst/>
          </a:prstGeom>
          <a:noFill/>
        </p:spPr>
      </p:pic>
      <p:sp>
        <p:nvSpPr>
          <p:cNvPr id="11" name="TextBox 10"/>
          <p:cNvSpPr txBox="1"/>
          <p:nvPr/>
        </p:nvSpPr>
        <p:spPr>
          <a:xfrm>
            <a:off x="5436096" y="4005064"/>
            <a:ext cx="2699792" cy="1200329"/>
          </a:xfrm>
          <a:prstGeom prst="rect">
            <a:avLst/>
          </a:prstGeom>
          <a:solidFill>
            <a:schemeClr val="tx1">
              <a:lumMod val="85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GB" sz="2400" dirty="0" smtClean="0">
                <a:solidFill>
                  <a:schemeClr val="bg1"/>
                </a:solidFill>
              </a:rPr>
              <a:t>What are the advantages and disadvantages?</a:t>
            </a:r>
            <a:endParaRPr lang="en-GB" sz="2400" dirty="0">
              <a:solidFill>
                <a:schemeClr val="bg1"/>
              </a:solidFill>
            </a:endParaRPr>
          </a:p>
        </p:txBody>
      </p:sp>
      <p:pic>
        <p:nvPicPr>
          <p:cNvPr id="29702" name="Picture 6" descr="http://hankandwillie.files.wordpress.com/2007/06/henryventforweb.jpg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6516216" y="1052736"/>
            <a:ext cx="1872208" cy="2804806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6576316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30163346"/>
              </p:ext>
            </p:extLst>
          </p:nvPr>
        </p:nvGraphicFramePr>
        <p:xfrm>
          <a:off x="269469" y="168302"/>
          <a:ext cx="8544948" cy="645371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848316"/>
                <a:gridCol w="2848316"/>
                <a:gridCol w="2848316"/>
              </a:tblGrid>
              <a:tr h="692594">
                <a:tc>
                  <a:txBody>
                    <a:bodyPr/>
                    <a:lstStyle/>
                    <a:p>
                      <a:pPr algn="ctr"/>
                      <a:r>
                        <a:rPr lang="en-GB" sz="1800" b="1" dirty="0" smtClean="0"/>
                        <a:t>Breathing Aid</a:t>
                      </a:r>
                      <a:endParaRPr lang="en-GB" sz="1800" b="1" dirty="0"/>
                    </a:p>
                  </a:txBody>
                  <a:tcPr marL="121920" marR="12192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b="1" dirty="0" smtClean="0"/>
                        <a:t>Advantages</a:t>
                      </a:r>
                      <a:endParaRPr lang="en-GB" sz="1800" b="1" dirty="0"/>
                    </a:p>
                  </a:txBody>
                  <a:tcPr marL="121920" marR="121920" marT="34290" marB="34290"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b="1" dirty="0" smtClean="0"/>
                        <a:t>Disadvantages</a:t>
                      </a:r>
                      <a:endParaRPr lang="en-GB" sz="1800" b="1" dirty="0"/>
                    </a:p>
                  </a:txBody>
                  <a:tcPr marL="121920" marR="121920" marT="34290" marB="34290" anchor="ctr">
                    <a:solidFill>
                      <a:srgbClr val="FF0000"/>
                    </a:solidFill>
                  </a:tcPr>
                </a:tc>
              </a:tr>
              <a:tr h="1920374">
                <a:tc>
                  <a:txBody>
                    <a:bodyPr/>
                    <a:lstStyle/>
                    <a:p>
                      <a:endParaRPr lang="en-GB" sz="1400" dirty="0"/>
                    </a:p>
                  </a:txBody>
                  <a:tcPr marL="121920" marR="121920" marT="34290" marB="34290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400" kern="1200" dirty="0" smtClean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endParaRPr lang="en-GB" sz="1400" dirty="0"/>
                    </a:p>
                  </a:txBody>
                  <a:tcPr marL="121920" marR="121920" marT="34290" marB="34290"/>
                </a:tc>
                <a:tc>
                  <a:txBody>
                    <a:bodyPr/>
                    <a:lstStyle/>
                    <a:p>
                      <a:endParaRPr lang="en-GB" sz="1400" dirty="0"/>
                    </a:p>
                  </a:txBody>
                  <a:tcPr marL="121920" marR="121920" marT="34290" marB="34290"/>
                </a:tc>
              </a:tr>
              <a:tr h="1920374">
                <a:tc>
                  <a:txBody>
                    <a:bodyPr/>
                    <a:lstStyle/>
                    <a:p>
                      <a:endParaRPr lang="en-GB" sz="1400"/>
                    </a:p>
                  </a:txBody>
                  <a:tcPr marL="121920" marR="121920" marT="34290" marB="34290"/>
                </a:tc>
                <a:tc>
                  <a:txBody>
                    <a:bodyPr/>
                    <a:lstStyle/>
                    <a:p>
                      <a:endParaRPr lang="en-GB" sz="1400" dirty="0"/>
                    </a:p>
                  </a:txBody>
                  <a:tcPr marL="121920" marR="121920" marT="34290" marB="34290"/>
                </a:tc>
                <a:tc>
                  <a:txBody>
                    <a:bodyPr/>
                    <a:lstStyle/>
                    <a:p>
                      <a:endParaRPr lang="en-GB" sz="1400"/>
                    </a:p>
                  </a:txBody>
                  <a:tcPr marL="121920" marR="121920" marT="34290" marB="34290"/>
                </a:tc>
              </a:tr>
              <a:tr h="1920374">
                <a:tc>
                  <a:txBody>
                    <a:bodyPr/>
                    <a:lstStyle/>
                    <a:p>
                      <a:endParaRPr lang="en-GB" sz="1400"/>
                    </a:p>
                  </a:txBody>
                  <a:tcPr marL="121920" marR="121920" marT="34290" marB="34290"/>
                </a:tc>
                <a:tc>
                  <a:txBody>
                    <a:bodyPr/>
                    <a:lstStyle/>
                    <a:p>
                      <a:endParaRPr lang="en-GB" sz="1400" dirty="0"/>
                    </a:p>
                  </a:txBody>
                  <a:tcPr marL="121920" marR="121920" marT="34290" marB="34290"/>
                </a:tc>
                <a:tc>
                  <a:txBody>
                    <a:bodyPr/>
                    <a:lstStyle/>
                    <a:p>
                      <a:endParaRPr lang="en-GB" sz="1400" dirty="0"/>
                    </a:p>
                  </a:txBody>
                  <a:tcPr marL="121920" marR="121920" marT="34290" marB="34290"/>
                </a:tc>
              </a:tr>
            </a:tbl>
          </a:graphicData>
        </a:graphic>
      </p:graphicFrame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227" t="19133" r="23411" b="17602"/>
          <a:stretch/>
        </p:blipFill>
        <p:spPr bwMode="auto">
          <a:xfrm>
            <a:off x="443543" y="1754814"/>
            <a:ext cx="2328258" cy="8414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347531" y="1106743"/>
            <a:ext cx="28803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 smtClean="0"/>
              <a:t>Iron Lung</a:t>
            </a:r>
          </a:p>
          <a:p>
            <a:pPr algn="ctr"/>
            <a:r>
              <a:rPr lang="en-GB" dirty="0" smtClean="0"/>
              <a:t>(negative pressure)</a:t>
            </a:r>
            <a:endParaRPr lang="en-GB" dirty="0"/>
          </a:p>
        </p:txBody>
      </p:sp>
      <p:sp>
        <p:nvSpPr>
          <p:cNvPr id="7" name="TextBox 6"/>
          <p:cNvSpPr txBox="1"/>
          <p:nvPr/>
        </p:nvSpPr>
        <p:spPr>
          <a:xfrm>
            <a:off x="341781" y="2882282"/>
            <a:ext cx="288031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 smtClean="0"/>
              <a:t>The Shell</a:t>
            </a:r>
          </a:p>
          <a:p>
            <a:pPr algn="ctr"/>
            <a:r>
              <a:rPr lang="en-GB" dirty="0" smtClean="0"/>
              <a:t>(negative pressure)</a:t>
            </a:r>
            <a:endParaRPr lang="en-GB" dirty="0"/>
          </a:p>
        </p:txBody>
      </p:sp>
      <p:sp>
        <p:nvSpPr>
          <p:cNvPr id="6" name="AutoShape 4" descr="data:image/jpeg;base64,/9j/4AAQSkZJRgABAQAAAQABAAD/2wCEAAkGBhMSERQUEhQVFRQVFRQVFhUUFxUVFRgVFRUVFxgXFBUXHCYeFxojGRUUHy8gIycpLCwsFR4xNTAqNSYrLCkBCQoKDgwOGg8PFykcHBwpKSkpKSkpKSksKSwpKSkpKSkpKSwsKSkpKSksKSkpKSkpKSksKSksKSksLCkpLCkpLP/AABEIARcAtQMBIgACEQEDEQH/xAAcAAACAgMBAQAAAAAAAAAAAAAEBQMGAAECBwj/xABEEAABAwEFBQYCBwYFBAMBAAABAAIRAwQFEiExBkFRYXETIoGRobEywSNCUmJy0fAHFBWCkuEkM6LC8VOTstJDY3M0/8QAGAEAAwEBAAAAAAAAAAAAAAAAAAECAwT/xAAgEQEBAAICAwEBAQEAAAAAAAAAAQIRITEDEkFRYUIi/9oADAMBAAIRAxEAPwCw/wASp8T5FS2e1se6GzOuYSXs0XdLoqeBXNcJJtUpw1maS2jaMsDjgEAkamTBI+Sa1bW1oJJyGZ8FQrS91WriGTJcY1AmTJA6rLfxUm1ndtMQBlTE8z8ypBtC6Jws9T81TrVbW0cu7npABJ9JQj78oH4qZni3E32yU+mX6r/lejtIcpDBOQmRJ4ZlSm+n/ZZ+vFee1b4ouM97+aT8kwsl/CMnSOBzI6HXwKd9sfh6x/Vw/jdTg3y/uuf41V+75f3QVnqYtBnlwIiMiDwXYZ8ty2x9bNs7ORTb6qfd8gt/xmr93yCCeY4mTAAaMyf+FtkEAjQzuCfrCF/xirxHkFsXzV4t8ghQzPx4BdBmnhuHFP1gE/xirxb5LYvepvLf6f7ofAgrbeAZkM3GQBlrG/kiyDszqX69olzqbRxdA9yhztY3/q0vRUe3XjLnGcRGRdGp4N+yOiGbeJkYsQnfIcP6SM1lv8i/Sfr0oXzUIkYCDpA/Irh191eDPI/mqlcF5Q8M3OJaW6w/PNvAGNFYqrP1CqaqbNGN33m+o/CQ2MJOQzkRzTEhKLiZ9I78HTeE5cFGfYiKFi2sUmrlmtGOmx+Xea12XMA/Nd2S0Yagz4oC46k2Sgf/AKmeghQ2q0w4QurLqoHXhbDUlgMA69N6V2twb3aYEndu6u4lZQtEvLd7hkeOsjrku2skzxXJO23zRJUusmScydSUDa7ucANwkYiNw45blbRSWnWVaTOxGlHFlguw5jjmROeQJ1C01xacv0FbLVYpBVft1kgrSZ7LpY9m7aMWHcRI5EDMeUHwVhdlw3ceKo2z1aHRwII8wPYlXxjw5oPGOW+FOPFsVl1KCrVHRk0Egg5CMw4GczpGXiiKDTByjN8A55EyNMlLH6nn0WE/PetENhue7Xmumt003ceK5n348lI3d4ICC11C1hOWh3HiqVaLU51QngSI5EK53owmkY1g7+aoLHHG4cT66JZdHEMS1zT8Qy8ZUNGnmWPIJGZI5cFP2hxmdxJ8+vQocVu890ZZADLjMZdFnLqVd5prcNTDVDzpjAAz3906dSrzUGfieKqOzFmLntxAd0lx4ZHL1I8lbajvnvVYpyGXCO+/8I901cEtuEZ1P5R7pm4rPLsoiwra2Vik1D2cq/4KjyaR5OcPkg7bV73iptks7FT5GoP9Z/NcW6jmurJLKbyHMcNx/wCPX3TRxaJO45joRPzSkaevlmj3EEUnnJrC+WjOXCMLY4SQfFcv1r3BGMxIY4jjhPvCgqWo8I6phZ70xGIg7g4x6o3t6o3A/wAw+ZCeoViumvO4+AJSe8wJ4dclbrbaXxp/rA9iVULwtJIwPkk5TpnnGngqmoWmbNWUuqyBO6AJknp0nwV6LSPqv/7b/wD1STYGyEVGggkhrnFw0Ba5jfGe8vQSU/bV3BelY732an/bf/6rCHfZqf8Abf8AkrNKyUe9LUVkE/Zf/Q//ANV21/3X/wBFT8lZJWw+JJ0Gfkn7jSl3xfjaIwDN5GjgRA3Egwc1R7c52LFlmfq5SVDeV6Or2h9Vxze4noCThA6AAJndgFarSp643tbzzOc+vkndycnjPhfZquNxkQ7SfnG9ROsTm1MJM4oz3EayFYtorkbZbR3NDJbPWIW9nrvFqtIa7IMGPLeAQC0+aiZb5isprimNxUmtaXEgSAB0Bk8tfZH1LS37TfMK20KQptDWCGjQDRYSq9tIKNn3gh8EHvN06FMXLtcFZ0nJWLaxI3n2wedjjhUqeuE/MphbrIln7OHf4eoOFX3Y38lanUwV15RKq2ppYCeARezNJzmZkYX4cubSRJHQ+is1W4WOcQ4S06qazXTRs/eaIER+pXJlOGuN0S3hsrVpyaX0jNS0ZOH4UFRvB4yMvA5Q4RxDvkrJe16Hs2wCGOJa5w3ZZeB0ScncNFnlnq8Kxmyy8byluQid5/ISkNNnexnM5kDfplPOVZbbSBG4JEy7n4jAJ/5VY3Ys0uWxzsHc1lk+IMmfMqzkpDs1dLqY7R5zcMm5y2fi806c5XEXlsuWYlCXrG1EJ0IBUdsd9FV//Oof9DlgqKRpnI7/AGQHiVxXe17gX5tBHdxBpdykq/3bddJsWukwhzCWYTJDXDKcPiVX7hszaFpq0KohzKhwkcDp4EAeStmzdpa5tVoaXntXlwIMQYiXHLco82VtdPjnCC/btfb6TSBgqUy4jE0tDp1bqd4EFVvYW29lbcBHxh1MzqDkR4y2CvQ3VO7DchG/VefbN3Y6teDnD4KdQ1HP5AnCPEpeLK3c+J8semOK4JXb1wVowaXBXRK0Ug5WLFiA80/Zq/6OsOD2HzafyVyBVI/Zxk60N4CmfV/9ldiV2ZJWFyV3tLnMYN8kpnOQ6D2XGETO9ctiwlru8vp4QQCMOZBw5biBqhK9xNZSGCS8GSQM3YjmABoBqOicrApuMpy6Vh90VXCezPQwPmmlz3cGFxIzAayDpl3p83EeCaLSJhIPa1y5yhe9duKGqvVJcvqKI2hQVqyBfaEqZxTtCLpVEhpV+KL/AH1wya2T945eQRAH2quGm4PtIdhqMaASXd1zWwGt4AzpGsoG4a7HveXPjPIFxAjzyKAv0Wm1Nq0nPyY0PDGiGyDlPFZddxmA5+Q4Eb+qjySa5a+K1aX2tuFzGOmNXCSAOGLeudkDS7FzadNzC17g/GcTnOGRJdAnyUjWtFINA1HmefAKJksjCSNc95nMk9dVPilHlsOiuSgqV5H6wkcRr4hFUrQ12h8N4W1YNwtLpy5Um0VpbKxMPLNga4NerG+mPR4/NXgrzr9n1X/FOHGk/wBC0r0UrsSfM+Fv4R7LcLVDOmw/dHzUNS3U2zLhI3CXHybmuWqELYakzdpZJijUy0LiAD5TCEva+KppuDCynIIkydREBxORz1hGgmdtvZW1nUi9wwmDUwzTxTBAIM+MRkU5baWH4XsPRzT815jWu9oY2i9r4kVHEQGOcAQMLtTkSMhxTOzXgxrv8sAfdGY8N6q4heS4HQg9CCgqrgZgg9I/Uqq39QqvY00HhuE4o+GY073yOSi2asdSjUe6qT3xOGcg5xlxLc5E75S9eNg8tLkve/NG2l06JVanwDGpgeeRUdmMomWl3CMI/EcIPmjxaAH5ZnPL81VW2+Cxg+IFuW7uF3+73CsF30YEnVGd9YU5H2eztaS6M3RJ10mPcqatWe2ngommCTmagcRHINOq3TCkgLDe+2k46CWQPAIqvY4yI7NjmgADQyTPVEmlvmfdT06ErK1MtVTOpsQQuTUwkEbitmu3MA94NxRyOUjjnkhP3gPGRyEjxC3nMZnlGsHtnTcRwK6hKLHa8DgTocj+fVOSEjRlYtuWIN4tsJLbWzgW1B/pn5L0ivWiI1JgfMrznZWtFoo9SPNpV8rGXt6O+S6qiiBanQASTAjMyPJbpWhoGYGpz6QFA5baMh1d8lnYezAUG1GuFNwa7MZiYdGWR13Kki5rV2zqdpkU3kvLxicDGfcLTEzEAwj7ubXZavic6mWuxh2jXT3cPLVW2ha2vEOyPFOcGUXTdobSLKhNSSD3hECI7uXqiqNmY12FtOBE4steE6ymVUltPBAc37Lpw/yuHw5oOge7DiZGpcc9Tv37lnTQ17D2gz+0N8EcDzWjR7sbowqSpamjnG/oln8U7VpLZDQYGUTlqEAJVtOB+GZBIHyk81DbK4jflnO5A2ur3x1W70tDmMyEzwOfkoyurF4zcrV2jE8u4mPz81a7I5Va5jAG7SfdWKzW9kgNlxOgA+ZyWecuV4TxDimF0Ulva6bW4dp24pMOVNlN0O/nIMknyXezdtqPx0qxDn08PfEd5rpGcbwRqlfHZN1Uqx2E5hTW8BQ2Nua3b6m5R8KkF7WXGJBLXtksc0wRlmDxacpHIJNs7aKkOxnMHL3PurDaCqjctcio9vB7tN7XEubpyWvi/CvS0l4Ka3ZaCRgOoGR4jh4JJQc3FgmHRMbw06EjcjycEOaZIMzx4jyTzzmJ4eO5G8LFjXAgEaEAjodFiaXhGz1XDUpHg9vvHzXoNOtNQdD/ALV5pd1SC3k8ejgr5dVbFV/lP69F11FOiVNTHdA5u+SgKlZU7oH3ne4UiMLBMxnETymVqjSDdMpMruVpIzCjaT2bh5Hh0QTs9VPQ+ByiJUU4hc1A210DLLhwRlV8JReNbJGjJK1SX+KaCmTBJgERzz3pJSfiqYRrqmtvqw0MGsbtUs8foxyvUTW22saym0QMBd1M/aM57lHZhWqlvZgwIAcRhiM/dK7M8Y24s41V6up7S0QpvkuM4Gv1XLXs5bQ+WPa9p0lwbh5QdeuasezFx/u7HYnYqjzLnDTKYaDv11TMKSkFhfJllNVehtnyQdqqZlFF0BLbZWAUUwVpqLvY+6uxqWgjMPFGDPDFPqgH2kF0fqE3sFrbTbVw95xcA1szJDRmeAWmG4V5nDnaexsqOpwS2sPrN/6c5h/LhzWq57OnBzjwPot9o2lL6rpe7M/8cFDZrG+0uxvBbS3cXD7vLmsct+TL+N5rx48mdx1C6g0n7wHMBxj9cliMAiAIAAgAaADcsXVJpy27u3zxSdE9VeLjf9L/AClULeVb7utmAtfE93pqF12Iq34lqgzCyJJGNxkmTnBgk9fRIjtdSBIc17eYEjzCKs+09ncI7RozJ72W4BToQ4xZLvF+v7oKlbmO+FzT0IUdpvUNADRje74W6eLjuCDOaB7rlw8wo7C93ZHGQTvLRA8EDa7yl/ZUQalX7LdBze7Rqg4y8bU1glzgBzSZ9mqV+9/l0su8cnO/CDoOZT6nsuQO1rfTVAJbTGVNp4NnU8yqzfF5VajsNRpbB/y9IO6eJ5qpA3Z7vDKrWNEZTzJJ3netVLuc624y49nJDhmYaBu8lNZqVRmF7jJboNSG78/kiLyr/SyAYfBEDQ70WcCXVA37dLmPL2A4CQadQAYHDQtcZyI+amum+SzXjBHBCWm2ua5rGzDXYwDm3mI4EZKyWS66FqZjZLHDJzRq0843c1z/AOdVplZbwNs9/tIRQvhnFJn7IvHwvBHkUVZ9k3fWqR0zWWsf0ti7RtG0ZDNDMp1asuIhvE5D+6cWK4aNIYnd6NXPIgc+A8Urtu1jHWgUWluHBiD3YmtkTI07404aI1+HObp1/AQSC53dAIyyMuHxSd43eKhsznU6z6dnaajXgEOcR3HwZGLe3C2UWbyaW4A8vqHMuw4GkxuBROzNkDaOIjvvc4l2+JIAB3Dkpwlu9tc7MeklluBoOKse0d9nPAPD63j5JsVzKjtVo7Nj3nRjXO8gSt5NcRhbb2Gtl9UqTsLiSd4Gcdc9Virl03g4YjhY5xIxF7S4zE5Z8SVirgnmNyXQ602gUmkNmSXHQAalX07AVQAGVWOgQJBBy81T9jHRbqfPEP8ASfyXorr5Y2u2iSQ94kH6pJmBPEwV1JIqmxlpH1Gu6O/MBAWjZisJxUHeDZ9pV+ZWI0J81J++OAkuyHFLknlde5w3Vjmno5pXLaBbBa9wMRkfcnVei2G1mu/tnAFjZbSaRu0c8jiTl0THsaLiMdJmszhH5JbCn3BctrtLc6z2UTq4hoc4cG7/ABVws9ms9ipgd2m2QMTj3nO5nUlGXlXNGg6pTb2mBshoykCOHAZxyXltS1VrxqtaSe172HPCxrRJnLSPEqdbN6sxwIBBBB0IzBQtru2m84nNGIAgO3idYKX7KgUqLaL3sNUFxcA/F3iZy5RGieGEgqt57PvDSaRB5FIOxIc1jhIziZkOAJHsvQKNJjBDBAkkgcTmT4qsbYUCxhrMgEcd/CBxRZbNHshNiBqNP2qbXj1B9QsNnq0KgfSJBjdBkcCDqETd1mJbReSSS3vctYgbhnonVp7pa7k6eecqZNTVFvPAaz7XvgY6J3ZjGBPg1yYUb9rv+CkBzIqH/wAmsHqUFZ7WAaYn68azucNFZJ06BZ3xyK9gP7u58Gs7EQcm/UHhpKEvDZ6nXMukOGhGUcUyqu3ZLip08k5/EbILDdIovLMxUHfZUzOJhBY9hnLIkHxVwsLMNNo5e+aWU6ZeQABOYngP17JwwaJa1yve0gSjay0FtDDMY3NZ5kE+gKbhVfbK1d+izc0PqHwEBOdkW3dmHHi4+5WKa7GRTHMArEG872ZfFto/jjzBC9U7BpcHFoLm/C4gSJ4FeQ3Q+LTSPCoz3Xrocur4zogJRfdYvw0WmO0cGE7w3MuP9IKNFsbHxDWPFL6bZtVM6xTrOB5zTb7EoIRs/c5szXtNQvDnAjKIgR5/kj7db20qbnu0aMhxO4eJWNUVvsTarMLpHAjUGIkbt6QAXFty3EWPOYOeRjxEaTvGis1K6rO9/aspsFQgyQ0BxDtSDzVLo7MO7cOe1uETLmiARkYjcSRontlvgOrPphrmlm/QeW7iN0KdKMbHT/d2ubUaCxpJa/DiMH6rgMwRxXF22wVKlRjHF9NsFjzIOerc84B0KYULeHCH5Hc4fNEVGlokxGsjQ+KymEmW4duw1YtaM1UdrKuKi7p6J3a7SXHluSe87N2lN4mMlrCCXRSx0aUfZb7JrVuh7mTjJjcQDolNxDCxrJnCRn4k/NXOy0pZnvKVCl3hSwDDDg4uDw6RAIMxCfUb+pFozcXQBGB5PoF1f9gHZufHwj5iEXsxTax5BbrAkcQpvIL/AOId+Oyq56Hs3H0TGhY6rzlTLW73VYaB/LJJVgfUcPqxzkD3UdSvPE9SCPRGgGpWVrGuAMkjMx7cAuGrDUk5mVsFTkbtqoe0Vox2iryDWDxMfNXl9SGk8BK83tL3S5waXE1A4jkJP5JScmf2ZsNCxV83xX+rRdHX+yxHpTUSzuwvaeDmnyIXr7SvH4z6L1mz1Ja0/dHsF0si68rvcHF9NxaTmY0PUaJSLzqsqNP1sL2TGWZaZIVktLsknrtbLSftEebf7IDgbQvbmHPc6QDiA7MZHMw2ZOUAbm80fdu0oIl9SmRBOTXiI5n8k82X2MbVsIqvPeqB1VuHPM4viy5QqvZbvaO3bHw1Mujmh0JcGe0doaROT6cc3xI8kZSt9F57r2Tye0n5JRcNiYaLSWgkF403Ne4D0CbsaBpl0S0exDXLdQmIzg7pdGXKI3jeo2FEE/Ru6/JLQL6rlAR3H9FJWQVpYcLiDGSLAX3e7Nw6K+Wf/LbMjIHLNeYXOT2pJfOow+Oq9TpGGN6D2SBXtM+LJW10aJP426qG4nkuyjSc43Le1f8A/JWng3/yG5L9nK+TDlOFsHoIjJAXQ1TGbRPmh6rjv8lIXZT7od580giaM/HpzKmQ9B0k8B80QFGSgl7VIpO55JBTtbaVSqzCHOhgHLujUo7aS2wzxVKsVuc/vn4wXHq3WOuiU33CWN9sqHTCOQaD7rFqzuxNBC0oudaajzp9LJegXa+aNM/cb7KiVCAJKulx1Js9Pd3Y8iV2MBVoKQX876N0biw+oHsSnlpSi+aM0anQHycCgPQv2a2vHYGtn4alRg6SHAf6lRqNXDSq1D9eo4jnh7jQOZIy6oa575tNKiaFGoGYyDkBilzcLu8ZiOzdomd23UG4S4ucGfA10QPvEACTzPFKTk7TG7bMadJjDqB3vxHN3qSi5UcrtqKSRqIxfRnr8kM0qf8A+M/iCQAVEvvK0YaZyMfr1R1oykJbbqQLZP1QY8kKIbMyKgje8ep/uvU3GAOgC8xuinjtFNvF49M/kvSH2kTmlQW7UH/DVBxiOkhJ9nn5NEaZJptA6aLhx4mSk9zGHDqEvgXKq0lo5IbtYyKMGiDr0UgGbegaSAJzWVL5PAeqXBcVjkn6wbItor2L3EREA8UjbWLQ1wygj2U96Omo7rHgEJWHdaE9SQb2sFe3OoPLZGFwa9o4B05ecrSU33UJqDfDGjylaUesVssxYu8Rl9UceZVw2dcTQHIu9yfmqhSnykeStWzNWaZ5OPsFqj4Z1dEsvN8Uao4sI9QmdUqvX1WywAYi8gYeUifMwPHkmQ7Z6i11StUEGHljDyJLnEdSfJWFqT3PZuye9m8spvMaYu+HRyyA8AnAQHcrsFcLbSlQkBUtV30Rj7TPVwUQ0XYP0Zn7TfcJUB7c2Estz4Y7oUdbH5pVeLu47olFN7G2Ql762EuDIb3RJE5k+XurzZjReIAg8wZ89FRP2fXjhtLqZOVVpgfeZn5xKuddmF2ZyO4z/wAJUFm1bAGQ3TiPkkF0mHD9cFZNomfQOcSMgTAz8lV7pOfQBE6C8VrU1oE6xoh7RaXOpvIBAgmePJTMcwAF2bvPwAXN5OJouJBaDpPUbkBXRP2j5qOq0x8R9PyRAWnBUlUbVYXBzpnMmD1MqDC6QOasdrpIOvZgGzzHuEAqvFzjUdGmQ8gFiafuM58c/NYjR7VS0NeTMQDqBr5qybGuhlQfeB8wk1obAJc7LeGiB56prss9o7TDEQNOUhP6N8HFvtQYM+gA1J4BKLLZ8b6VV04nv7o3NYwOM9TkfFZXf2rid7nGmzk0fG70d6JlQaDWgfDSpho6vjL+lo80yGHK0M+9SeP6XMP+4o4FL6hmvS5Mqk9D2bfdGCoEAQFtqjbUG6F20pBICu3O+jd+JvuFEunM+jcOLm/JIAqrtUvtYyd0TKtSElJ71qkMManIfmmdVu7raadpp1GnNj2kc88/MEhe1vAc0EZtIkdCvDGWcggb5ERrO71hep7KXqY7Crk4fDO+N3UKchBF90R2T2jKWkRnGip9xglrjvGEfNX+9bLLHHcGknwVI2db9C93Gp6ABL4a9XRVpVGBzR3vrA6gjVD7Q2juho3n01Sy6jhdLcpEHgfBSXrUxOHREBfC0VJC4cq2QS1U5CU2ir3D+Iekn5J29V+8qZbUjc7MdZhAM2DIdB7LFouWIJUK1Om6e83PXOD0M5oy4nhpe0EHubjOhCMttzMAyjIZzBHWDp4JdZqrGOMjD3SARoehHRUDW6KWZduBc1v9ZLj4kgfyo+7hIc77VR58GnAPRgSe7LxbTaMQIYWjE4wQKgy3GYIHDUI6zXixjHd5pwufAkd6TibH9SAPs2dWo7cMNMfy953q4D+VHAoKwMhjRIOpJBkFzjLsxzPoiw5ASgBdteoGFdypCdq6qPim7qFC1y3Vf9G78Q+SKAgqnvE/qVjbKHDPetmnJiOZ+SKaMkwrN82LsS1+4OaZ6EFX+hZLNaw2pTqDGIOKme8DrmCOa8uvO2vtFQ/Yb8LRoBxPNd2dhe6lSaSO9OW7iRHIKLd3TWYzW3ol73kbJTd2tZr2nJrHACqXbg2Piz5JJsra3ihgZTDzjeXSQI+HiOYW7Hs1Ta7G7FUdxqOxR04IW0PNirNeMXZOOYGceG/onpB1VruomX0nNBM4gWuZnuxTARFqJIaYgOzE6x8lFV/aPQwFzaVV27RjZy35rmzXkLS0VQIDh8J1bGWEx09UodljkhRuCIcxQ1Gpp2EqIO00Q6JEkackbUCEqlAqDtFiiec1iNhJa7TRIP0rDyBDvZV+2UMRAawuBJiQWgwDoSr06gNwA6ZeyUXlZ3RGhBxNdwcNJ5HTxVkpdrsD25OywxlqADJy37jnyUVmtDqTw5omJGgOU89FYryrthlQyCx2ExrmD3TzBz6EqKvcj6v1mteQXOaZgkmQWEZREBMBRfcQcDfxU/o3jqBlPgQmVk2qZkHkxxLYcOsZO9FqjdbHfR1Rgq6fdfG9jt/TVC1dmiH4TrmWnc4D/cN4S0FostspvEscCNcj8kUHKh19n6jJgGFAy8bRSjDUcARlJkR4o0HojRC6BJa4T9Zp8MvyVRsO0dfCS8NdBg/VOg4J7c97iuHtAIILS7eN+h8FIMhmZ4qZjFpjFPTamFcr7FAuJp1MAOrS3EBP2TOnVNrp2fp0NJc4jN7teg4BMgtpGxLNoLLjs7xvALh4ZpkCsISJ5lQBLcgSNTAnxVp2LeSyo3cHgj+YZ+oQ1fZB7XuNJ4DCTAOIEA7stU7uO6OwYRiLnOMuJy6ADcAp9edxpc9zQ9wQ9QIh6ieqZgqjUFWCYVgg64QZa/VbXb25rEEKqXrUoZV2Y27qtMtz/ExxEHpkual6msIpU9frVCA3+lpJPosWKwjs2zIc7FVJeTvHdyH1cI3evNbrXY6iIANSi2S2CBVpcYLsnt5HNYsQHFOpTrtAJD2uORgjMcjm13Mea6s911A4YqjnMa4ObiwlwI3YtYhYsU7A+vaWsaXOzDROW/dHnA8UutezAqUWNJw1Gt11GLUjmtrEbAClspaACA9gadSC72jhzT+57nbZ2QDJObncTyG4BYsTIyC324H6K0sU1UY22NO/0KmW1iUKshYtrEwxZCxYgNEKCo1YsQA72IWsFixAAvGaxYsQH//Z">
            <a:hlinkClick r:id="rId3"/>
          </p:cNvPr>
          <p:cNvSpPr>
            <a:spLocks noChangeAspect="1" noChangeArrowheads="1"/>
          </p:cNvSpPr>
          <p:nvPr/>
        </p:nvSpPr>
        <p:spPr bwMode="auto">
          <a:xfrm>
            <a:off x="38101" y="-953691"/>
            <a:ext cx="2298700" cy="19931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8" name="AutoShape 6" descr="data:image/jpeg;base64,/9j/4AAQSkZJRgABAQAAAQABAAD/2wCEAAkGBhMSERQUEhQVFRQVFRQVFhUUFxUVFRgVFRUVFxgXFBUXHCYeFxojGRUUHy8gIycpLCwsFR4xNTAqNSYrLCkBCQoKDgwOGg8PFykcHBwpKSkpKSkpKSksKSwpKSkpKSkpKSwsKSkpKSksKSkpKSkpKSksKSksKSksLCkpLCkpLP/AABEIARcAtQMBIgACEQEDEQH/xAAcAAACAgMBAQAAAAAAAAAAAAAEBQMGAAECBwj/xABEEAABAwEFBQYCBwYFBAMBAAABAAIRAwQFEiExBkFRYXETIoGRobEywSNCUmJy0fAHFBWCkuEkM6LC8VOTstJDY3M0/8QAGAEAAwEBAAAAAAAAAAAAAAAAAAECAwT/xAAgEQEBAAICAwEBAQEAAAAAAAAAAQIRITEDEkFRYUIi/9oADAMBAAIRAxEAPwCw/wASp8T5FS2e1se6GzOuYSXs0XdLoqeBXNcJJtUpw1maS2jaMsDjgEAkamTBI+Sa1bW1oJJyGZ8FQrS91WriGTJcY1AmTJA6rLfxUm1ndtMQBlTE8z8ypBtC6Jws9T81TrVbW0cu7npABJ9JQj78oH4qZni3E32yU+mX6r/lejtIcpDBOQmRJ4ZlSm+n/ZZ+vFee1b4ouM97+aT8kwsl/CMnSOBzI6HXwKd9sfh6x/Vw/jdTg3y/uuf41V+75f3QVnqYtBnlwIiMiDwXYZ8ty2x9bNs7ORTb6qfd8gt/xmr93yCCeY4mTAAaMyf+FtkEAjQzuCfrCF/xirxHkFsXzV4t8ghQzPx4BdBmnhuHFP1gE/xirxb5LYvepvLf6f7ofAgrbeAZkM3GQBlrG/kiyDszqX69olzqbRxdA9yhztY3/q0vRUe3XjLnGcRGRdGp4N+yOiGbeJkYsQnfIcP6SM1lv8i/Sfr0oXzUIkYCDpA/Irh191eDPI/mqlcF5Q8M3OJaW6w/PNvAGNFYqrP1CqaqbNGN33m+o/CQ2MJOQzkRzTEhKLiZ9I78HTeE5cFGfYiKFi2sUmrlmtGOmx+Xea12XMA/Nd2S0Yagz4oC46k2Sgf/AKmeghQ2q0w4QurLqoHXhbDUlgMA69N6V2twb3aYEndu6u4lZQtEvLd7hkeOsjrku2skzxXJO23zRJUusmScydSUDa7ucANwkYiNw45blbRSWnWVaTOxGlHFlguw5jjmROeQJ1C01xacv0FbLVYpBVft1kgrSZ7LpY9m7aMWHcRI5EDMeUHwVhdlw3ceKo2z1aHRwII8wPYlXxjw5oPGOW+FOPFsVl1KCrVHRk0Egg5CMw4GczpGXiiKDTByjN8A55EyNMlLH6nn0WE/PetENhue7Xmumt003ceK5n348lI3d4ICC11C1hOWh3HiqVaLU51QngSI5EK53owmkY1g7+aoLHHG4cT66JZdHEMS1zT8Qy8ZUNGnmWPIJGZI5cFP2hxmdxJ8+vQocVu890ZZADLjMZdFnLqVd5prcNTDVDzpjAAz3906dSrzUGfieKqOzFmLntxAd0lx4ZHL1I8lbajvnvVYpyGXCO+/8I901cEtuEZ1P5R7pm4rPLsoiwra2Vik1D2cq/4KjyaR5OcPkg7bV73iptks7FT5GoP9Z/NcW6jmurJLKbyHMcNx/wCPX3TRxaJO45joRPzSkaevlmj3EEUnnJrC+WjOXCMLY4SQfFcv1r3BGMxIY4jjhPvCgqWo8I6phZ70xGIg7g4x6o3t6o3A/wAw+ZCeoViumvO4+AJSe8wJ4dclbrbaXxp/rA9iVULwtJIwPkk5TpnnGngqmoWmbNWUuqyBO6AJknp0nwV6LSPqv/7b/wD1STYGyEVGggkhrnFw0Ba5jfGe8vQSU/bV3BelY732an/bf/6rCHfZqf8Abf8AkrNKyUe9LUVkE/Zf/Q//ANV21/3X/wBFT8lZJWw+JJ0Gfkn7jSl3xfjaIwDN5GjgRA3Egwc1R7c52LFlmfq5SVDeV6Or2h9Vxze4noCThA6AAJndgFarSp643tbzzOc+vkndycnjPhfZquNxkQ7SfnG9ROsTm1MJM4oz3EayFYtorkbZbR3NDJbPWIW9nrvFqtIa7IMGPLeAQC0+aiZb5isprimNxUmtaXEgSAB0Bk8tfZH1LS37TfMK20KQptDWCGjQDRYSq9tIKNn3gh8EHvN06FMXLtcFZ0nJWLaxI3n2wedjjhUqeuE/MphbrIln7OHf4eoOFX3Y38lanUwV15RKq2ppYCeARezNJzmZkYX4cubSRJHQ+is1W4WOcQ4S06qazXTRs/eaIER+pXJlOGuN0S3hsrVpyaX0jNS0ZOH4UFRvB4yMvA5Q4RxDvkrJe16Hs2wCGOJa5w3ZZeB0ScncNFnlnq8Kxmyy8byluQid5/ISkNNnexnM5kDfplPOVZbbSBG4JEy7n4jAJ/5VY3Ys0uWxzsHc1lk+IMmfMqzkpDs1dLqY7R5zcMm5y2fi806c5XEXlsuWYlCXrG1EJ0IBUdsd9FV//Oof9DlgqKRpnI7/AGQHiVxXe17gX5tBHdxBpdykq/3bddJsWukwhzCWYTJDXDKcPiVX7hszaFpq0KohzKhwkcDp4EAeStmzdpa5tVoaXntXlwIMQYiXHLco82VtdPjnCC/btfb6TSBgqUy4jE0tDp1bqd4EFVvYW29lbcBHxh1MzqDkR4y2CvQ3VO7DchG/VefbN3Y6teDnD4KdQ1HP5AnCPEpeLK3c+J8semOK4JXb1wVowaXBXRK0Ug5WLFiA80/Zq/6OsOD2HzafyVyBVI/Zxk60N4CmfV/9ldiV2ZJWFyV3tLnMYN8kpnOQ6D2XGETO9ctiwlru8vp4QQCMOZBw5biBqhK9xNZSGCS8GSQM3YjmABoBqOicrApuMpy6Vh90VXCezPQwPmmlz3cGFxIzAayDpl3p83EeCaLSJhIPa1y5yhe9duKGqvVJcvqKI2hQVqyBfaEqZxTtCLpVEhpV+KL/AH1wya2T945eQRAH2quGm4PtIdhqMaASXd1zWwGt4AzpGsoG4a7HveXPjPIFxAjzyKAv0Wm1Nq0nPyY0PDGiGyDlPFZddxmA5+Q4Eb+qjySa5a+K1aX2tuFzGOmNXCSAOGLeudkDS7FzadNzC17g/GcTnOGRJdAnyUjWtFINA1HmefAKJksjCSNc95nMk9dVPilHlsOiuSgqV5H6wkcRr4hFUrQ12h8N4W1YNwtLpy5Um0VpbKxMPLNga4NerG+mPR4/NXgrzr9n1X/FOHGk/wBC0r0UrsSfM+Fv4R7LcLVDOmw/dHzUNS3U2zLhI3CXHybmuWqELYakzdpZJijUy0LiAD5TCEva+KppuDCynIIkydREBxORz1hGgmdtvZW1nUi9wwmDUwzTxTBAIM+MRkU5baWH4XsPRzT815jWu9oY2i9r4kVHEQGOcAQMLtTkSMhxTOzXgxrv8sAfdGY8N6q4heS4HQg9CCgqrgZgg9I/Uqq39QqvY00HhuE4o+GY073yOSi2asdSjUe6qT3xOGcg5xlxLc5E75S9eNg8tLkve/NG2l06JVanwDGpgeeRUdmMomWl3CMI/EcIPmjxaAH5ZnPL81VW2+Cxg+IFuW7uF3+73CsF30YEnVGd9YU5H2eztaS6M3RJ10mPcqatWe2ngommCTmagcRHINOq3TCkgLDe+2k46CWQPAIqvY4yI7NjmgADQyTPVEmlvmfdT06ErK1MtVTOpsQQuTUwkEbitmu3MA94NxRyOUjjnkhP3gPGRyEjxC3nMZnlGsHtnTcRwK6hKLHa8DgTocj+fVOSEjRlYtuWIN4tsJLbWzgW1B/pn5L0ivWiI1JgfMrznZWtFoo9SPNpV8rGXt6O+S6qiiBanQASTAjMyPJbpWhoGYGpz6QFA5baMh1d8lnYezAUG1GuFNwa7MZiYdGWR13Kki5rV2zqdpkU3kvLxicDGfcLTEzEAwj7ubXZavic6mWuxh2jXT3cPLVW2ha2vEOyPFOcGUXTdobSLKhNSSD3hECI7uXqiqNmY12FtOBE4steE6ymVUltPBAc37Lpw/yuHw5oOge7DiZGpcc9Tv37lnTQ17D2gz+0N8EcDzWjR7sbowqSpamjnG/oln8U7VpLZDQYGUTlqEAJVtOB+GZBIHyk81DbK4jflnO5A2ur3x1W70tDmMyEzwOfkoyurF4zcrV2jE8u4mPz81a7I5Va5jAG7SfdWKzW9kgNlxOgA+ZyWecuV4TxDimF0Ulva6bW4dp24pMOVNlN0O/nIMknyXezdtqPx0qxDn08PfEd5rpGcbwRqlfHZN1Uqx2E5hTW8BQ2Nua3b6m5R8KkF7WXGJBLXtksc0wRlmDxacpHIJNs7aKkOxnMHL3PurDaCqjctcio9vB7tN7XEubpyWvi/CvS0l4Ka3ZaCRgOoGR4jh4JJQc3FgmHRMbw06EjcjycEOaZIMzx4jyTzzmJ4eO5G8LFjXAgEaEAjodFiaXhGz1XDUpHg9vvHzXoNOtNQdD/ALV5pd1SC3k8ejgr5dVbFV/lP69F11FOiVNTHdA5u+SgKlZU7oH3ne4UiMLBMxnETymVqjSDdMpMruVpIzCjaT2bh5Hh0QTs9VPQ+ByiJUU4hc1A210DLLhwRlV8JReNbJGjJK1SX+KaCmTBJgERzz3pJSfiqYRrqmtvqw0MGsbtUs8foxyvUTW22saym0QMBd1M/aM57lHZhWqlvZgwIAcRhiM/dK7M8Y24s41V6up7S0QpvkuM4Gv1XLXs5bQ+WPa9p0lwbh5QdeuasezFx/u7HYnYqjzLnDTKYaDv11TMKSkFhfJllNVehtnyQdqqZlFF0BLbZWAUUwVpqLvY+6uxqWgjMPFGDPDFPqgH2kF0fqE3sFrbTbVw95xcA1szJDRmeAWmG4V5nDnaexsqOpwS2sPrN/6c5h/LhzWq57OnBzjwPot9o2lL6rpe7M/8cFDZrG+0uxvBbS3cXD7vLmsct+TL+N5rx48mdx1C6g0n7wHMBxj9cliMAiAIAAgAaADcsXVJpy27u3zxSdE9VeLjf9L/AClULeVb7utmAtfE93pqF12Iq34lqgzCyJJGNxkmTnBgk9fRIjtdSBIc17eYEjzCKs+09ncI7RozJ72W4BToQ4xZLvF+v7oKlbmO+FzT0IUdpvUNADRje74W6eLjuCDOaB7rlw8wo7C93ZHGQTvLRA8EDa7yl/ZUQalX7LdBze7Rqg4y8bU1glzgBzSZ9mqV+9/l0su8cnO/CDoOZT6nsuQO1rfTVAJbTGVNp4NnU8yqzfF5VajsNRpbB/y9IO6eJ5qpA3Z7vDKrWNEZTzJJ3netVLuc624y49nJDhmYaBu8lNZqVRmF7jJboNSG78/kiLyr/SyAYfBEDQ70WcCXVA37dLmPL2A4CQadQAYHDQtcZyI+amum+SzXjBHBCWm2ua5rGzDXYwDm3mI4EZKyWS66FqZjZLHDJzRq0843c1z/AOdVplZbwNs9/tIRQvhnFJn7IvHwvBHkUVZ9k3fWqR0zWWsf0ti7RtG0ZDNDMp1asuIhvE5D+6cWK4aNIYnd6NXPIgc+A8Urtu1jHWgUWluHBiD3YmtkTI07404aI1+HObp1/AQSC53dAIyyMuHxSd43eKhsznU6z6dnaajXgEOcR3HwZGLe3C2UWbyaW4A8vqHMuw4GkxuBROzNkDaOIjvvc4l2+JIAB3Dkpwlu9tc7MeklluBoOKse0d9nPAPD63j5JsVzKjtVo7Nj3nRjXO8gSt5NcRhbb2Gtl9UqTsLiSd4Gcdc9Virl03g4YjhY5xIxF7S4zE5Z8SVirgnmNyXQ602gUmkNmSXHQAalX07AVQAGVWOgQJBBy81T9jHRbqfPEP8ASfyXorr5Y2u2iSQ94kH6pJmBPEwV1JIqmxlpH1Gu6O/MBAWjZisJxUHeDZ9pV+ZWI0J81J++OAkuyHFLknlde5w3Vjmno5pXLaBbBa9wMRkfcnVei2G1mu/tnAFjZbSaRu0c8jiTl0THsaLiMdJmszhH5JbCn3BctrtLc6z2UTq4hoc4cG7/ABVws9ms9ipgd2m2QMTj3nO5nUlGXlXNGg6pTb2mBshoykCOHAZxyXltS1VrxqtaSe172HPCxrRJnLSPEqdbN6sxwIBBBB0IzBQtru2m84nNGIAgO3idYKX7KgUqLaL3sNUFxcA/F3iZy5RGieGEgqt57PvDSaRB5FIOxIc1jhIziZkOAJHsvQKNJjBDBAkkgcTmT4qsbYUCxhrMgEcd/CBxRZbNHshNiBqNP2qbXj1B9QsNnq0KgfSJBjdBkcCDqETd1mJbReSSS3vctYgbhnonVp7pa7k6eecqZNTVFvPAaz7XvgY6J3ZjGBPg1yYUb9rv+CkBzIqH/wAmsHqUFZ7WAaYn68azucNFZJ06BZ3xyK9gP7u58Gs7EQcm/UHhpKEvDZ6nXMukOGhGUcUyqu3ZLip08k5/EbILDdIovLMxUHfZUzOJhBY9hnLIkHxVwsLMNNo5e+aWU6ZeQABOYngP17JwwaJa1yve0gSjay0FtDDMY3NZ5kE+gKbhVfbK1d+izc0PqHwEBOdkW3dmHHi4+5WKa7GRTHMArEG872ZfFto/jjzBC9U7BpcHFoLm/C4gSJ4FeQ3Q+LTSPCoz3Xrocur4zogJRfdYvw0WmO0cGE7w3MuP9IKNFsbHxDWPFL6bZtVM6xTrOB5zTb7EoIRs/c5szXtNQvDnAjKIgR5/kj7db20qbnu0aMhxO4eJWNUVvsTarMLpHAjUGIkbt6QAXFty3EWPOYOeRjxEaTvGis1K6rO9/aspsFQgyQ0BxDtSDzVLo7MO7cOe1uETLmiARkYjcSRontlvgOrPphrmlm/QeW7iN0KdKMbHT/d2ubUaCxpJa/DiMH6rgMwRxXF22wVKlRjHF9NsFjzIOerc84B0KYULeHCH5Hc4fNEVGlokxGsjQ+KymEmW4duw1YtaM1UdrKuKi7p6J3a7SXHluSe87N2lN4mMlrCCXRSx0aUfZb7JrVuh7mTjJjcQDolNxDCxrJnCRn4k/NXOy0pZnvKVCl3hSwDDDg4uDw6RAIMxCfUb+pFozcXQBGB5PoF1f9gHZufHwj5iEXsxTax5BbrAkcQpvIL/AOId+Oyq56Hs3H0TGhY6rzlTLW73VYaB/LJJVgfUcPqxzkD3UdSvPE9SCPRGgGpWVrGuAMkjMx7cAuGrDUk5mVsFTkbtqoe0Vox2iryDWDxMfNXl9SGk8BK83tL3S5waXE1A4jkJP5JScmf2ZsNCxV83xX+rRdHX+yxHpTUSzuwvaeDmnyIXr7SvH4z6L1mz1Ja0/dHsF0si68rvcHF9NxaTmY0PUaJSLzqsqNP1sL2TGWZaZIVktLsknrtbLSftEebf7IDgbQvbmHPc6QDiA7MZHMw2ZOUAbm80fdu0oIl9SmRBOTXiI5n8k82X2MbVsIqvPeqB1VuHPM4viy5QqvZbvaO3bHw1Mujmh0JcGe0doaROT6cc3xI8kZSt9F57r2Tye0n5JRcNiYaLSWgkF403Ne4D0CbsaBpl0S0exDXLdQmIzg7pdGXKI3jeo2FEE/Ru6/JLQL6rlAR3H9FJWQVpYcLiDGSLAX3e7Nw6K+Wf/LbMjIHLNeYXOT2pJfOow+Oq9TpGGN6D2SBXtM+LJW10aJP426qG4nkuyjSc43Le1f8A/JWng3/yG5L9nK+TDlOFsHoIjJAXQ1TGbRPmh6rjv8lIXZT7od580giaM/HpzKmQ9B0k8B80QFGSgl7VIpO55JBTtbaVSqzCHOhgHLujUo7aS2wzxVKsVuc/vn4wXHq3WOuiU33CWN9sqHTCOQaD7rFqzuxNBC0oudaajzp9LJegXa+aNM/cb7KiVCAJKulx1Js9Pd3Y8iV2MBVoKQX876N0biw+oHsSnlpSi+aM0anQHycCgPQv2a2vHYGtn4alRg6SHAf6lRqNXDSq1D9eo4jnh7jQOZIy6oa575tNKiaFGoGYyDkBilzcLu8ZiOzdomd23UG4S4ucGfA10QPvEACTzPFKTk7TG7bMadJjDqB3vxHN3qSi5UcrtqKSRqIxfRnr8kM0qf8A+M/iCQAVEvvK0YaZyMfr1R1oykJbbqQLZP1QY8kKIbMyKgje8ep/uvU3GAOgC8xuinjtFNvF49M/kvSH2kTmlQW7UH/DVBxiOkhJ9nn5NEaZJptA6aLhx4mSk9zGHDqEvgXKq0lo5IbtYyKMGiDr0UgGbegaSAJzWVL5PAeqXBcVjkn6wbItor2L3EREA8UjbWLQ1wygj2U96Omo7rHgEJWHdaE9SQb2sFe3OoPLZGFwa9o4B05ecrSU33UJqDfDGjylaUesVssxYu8Rl9UceZVw2dcTQHIu9yfmqhSnykeStWzNWaZ5OPsFqj4Z1dEsvN8Uao4sI9QmdUqvX1WywAYi8gYeUifMwPHkmQ7Z6i11StUEGHljDyJLnEdSfJWFqT3PZuye9m8spvMaYu+HRyyA8AnAQHcrsFcLbSlQkBUtV30Rj7TPVwUQ0XYP0Zn7TfcJUB7c2Estz4Y7oUdbH5pVeLu47olFN7G2Ql762EuDIb3RJE5k+XurzZjReIAg8wZ89FRP2fXjhtLqZOVVpgfeZn5xKuddmF2ZyO4z/wAJUFm1bAGQ3TiPkkF0mHD9cFZNomfQOcSMgTAz8lV7pOfQBE6C8VrU1oE6xoh7RaXOpvIBAgmePJTMcwAF2bvPwAXN5OJouJBaDpPUbkBXRP2j5qOq0x8R9PyRAWnBUlUbVYXBzpnMmD1MqDC6QOasdrpIOvZgGzzHuEAqvFzjUdGmQ8gFiafuM58c/NYjR7VS0NeTMQDqBr5qybGuhlQfeB8wk1obAJc7LeGiB56prss9o7TDEQNOUhP6N8HFvtQYM+gA1J4BKLLZ8b6VV04nv7o3NYwOM9TkfFZXf2rid7nGmzk0fG70d6JlQaDWgfDSpho6vjL+lo80yGHK0M+9SeP6XMP+4o4FL6hmvS5Mqk9D2bfdGCoEAQFtqjbUG6F20pBICu3O+jd+JvuFEunM+jcOLm/JIAqrtUvtYyd0TKtSElJ71qkMManIfmmdVu7raadpp1GnNj2kc88/MEhe1vAc0EZtIkdCvDGWcggb5ERrO71hep7KXqY7Crk4fDO+N3UKchBF90R2T2jKWkRnGip9xglrjvGEfNX+9bLLHHcGknwVI2db9C93Gp6ABL4a9XRVpVGBzR3vrA6gjVD7Q2juho3n01Sy6jhdLcpEHgfBSXrUxOHREBfC0VJC4cq2QS1U5CU2ir3D+Iekn5J29V+8qZbUjc7MdZhAM2DIdB7LFouWIJUK1Om6e83PXOD0M5oy4nhpe0EHubjOhCMttzMAyjIZzBHWDp4JdZqrGOMjD3SARoehHRUDW6KWZduBc1v9ZLj4kgfyo+7hIc77VR58GnAPRgSe7LxbTaMQIYWjE4wQKgy3GYIHDUI6zXixjHd5pwufAkd6TibH9SAPs2dWo7cMNMfy953q4D+VHAoKwMhjRIOpJBkFzjLsxzPoiw5ASgBdteoGFdypCdq6qPim7qFC1y3Vf9G78Q+SKAgqnvE/qVjbKHDPetmnJiOZ+SKaMkwrN82LsS1+4OaZ6EFX+hZLNaw2pTqDGIOKme8DrmCOa8uvO2vtFQ/Yb8LRoBxPNd2dhe6lSaSO9OW7iRHIKLd3TWYzW3ol73kbJTd2tZr2nJrHACqXbg2Piz5JJsra3ihgZTDzjeXSQI+HiOYW7Hs1Ta7G7FUdxqOxR04IW0PNirNeMXZOOYGceG/onpB1VruomX0nNBM4gWuZnuxTARFqJIaYgOzE6x8lFV/aPQwFzaVV27RjZy35rmzXkLS0VQIDh8J1bGWEx09UodljkhRuCIcxQ1Gpp2EqIO00Q6JEkackbUCEqlAqDtFiiec1iNhJa7TRIP0rDyBDvZV+2UMRAawuBJiQWgwDoSr06gNwA6ZeyUXlZ3RGhBxNdwcNJ5HTxVkpdrsD25OywxlqADJy37jnyUVmtDqTw5omJGgOU89FYryrthlQyCx2ExrmD3TzBz6EqKvcj6v1mteQXOaZgkmQWEZREBMBRfcQcDfxU/o3jqBlPgQmVk2qZkHkxxLYcOsZO9FqjdbHfR1Rgq6fdfG9jt/TVC1dmiH4TrmWnc4D/cN4S0FostspvEscCNcj8kUHKh19n6jJgGFAy8bRSjDUcARlJkR4o0HojRC6BJa4T9Zp8MvyVRsO0dfCS8NdBg/VOg4J7c97iuHtAIILS7eN+h8FIMhmZ4qZjFpjFPTamFcr7FAuJp1MAOrS3EBP2TOnVNrp2fp0NJc4jN7teg4BMgtpGxLNoLLjs7xvALh4ZpkCsISJ5lQBLcgSNTAnxVp2LeSyo3cHgj+YZ+oQ1fZB7XuNJ4DCTAOIEA7stU7uO6OwYRiLnOMuJy6ADcAp9edxpc9zQ9wQ9QIh6ieqZgqjUFWCYVgg64QZa/VbXb25rEEKqXrUoZV2Y27qtMtz/ExxEHpkual6msIpU9frVCA3+lpJPosWKwjs2zIc7FVJeTvHdyH1cI3evNbrXY6iIANSi2S2CBVpcYLsnt5HNYsQHFOpTrtAJD2uORgjMcjm13Mea6s911A4YqjnMa4ObiwlwI3YtYhYsU7A+vaWsaXOzDROW/dHnA8UutezAqUWNJw1Gt11GLUjmtrEbAClspaACA9gadSC72jhzT+57nbZ2QDJObncTyG4BYsTIyC324H6K0sU1UY22NO/0KmW1iUKshYtrEwxZCxYgNEKCo1YsQA72IWsFixAAvGaxYsQH//Z">
            <a:hlinkClick r:id="rId3"/>
          </p:cNvPr>
          <p:cNvSpPr>
            <a:spLocks noChangeAspect="1" noChangeArrowheads="1"/>
          </p:cNvSpPr>
          <p:nvPr/>
        </p:nvSpPr>
        <p:spPr bwMode="auto">
          <a:xfrm>
            <a:off x="241301" y="-839391"/>
            <a:ext cx="2298700" cy="19931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pic>
        <p:nvPicPr>
          <p:cNvPr id="1031" name="Picture 7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3596" y="3549082"/>
            <a:ext cx="1413206" cy="11235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TextBox 10"/>
          <p:cNvSpPr txBox="1"/>
          <p:nvPr/>
        </p:nvSpPr>
        <p:spPr>
          <a:xfrm>
            <a:off x="919392" y="4833156"/>
            <a:ext cx="162060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400" dirty="0" smtClean="0"/>
              <a:t>Positive Pressure Ventilator</a:t>
            </a:r>
            <a:endParaRPr lang="en-GB" sz="1400" dirty="0"/>
          </a:p>
        </p:txBody>
      </p:sp>
      <p:pic>
        <p:nvPicPr>
          <p:cNvPr id="1032" name="Picture 8"/>
          <p:cNvPicPr>
            <a:picLocks noChangeAspect="1" noChangeArrowheads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434" t="19485" r="41626" b="29081"/>
          <a:stretch/>
        </p:blipFill>
        <p:spPr bwMode="auto">
          <a:xfrm>
            <a:off x="1075337" y="5356376"/>
            <a:ext cx="1413206" cy="10977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9159131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99</TotalTime>
  <Words>610</Words>
  <Application>Microsoft Office PowerPoint</Application>
  <PresentationFormat>On-screen Show (4:3)</PresentationFormat>
  <Paragraphs>81</Paragraphs>
  <Slides>13</Slides>
  <Notes>2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4" baseType="lpstr">
      <vt:lpstr>Office Theme</vt:lpstr>
      <vt:lpstr>Specialised exchange surfaces</vt:lpstr>
      <vt:lpstr>The big picture: “How are exchange surfaces specialised?”</vt:lpstr>
      <vt:lpstr>Specialised exchange surfaces</vt:lpstr>
      <vt:lpstr>Task</vt:lpstr>
      <vt:lpstr>6 Mark Exam question</vt:lpstr>
      <vt:lpstr>Self-assessment- max 6 marks</vt:lpstr>
      <vt:lpstr>Artificial breathing aids</vt:lpstr>
      <vt:lpstr>Plenary: Mr Wrong</vt:lpstr>
      <vt:lpstr>Resources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Specialised exchange surfaces</dc:title>
  <dc:creator>Charlotte</dc:creator>
  <cp:lastModifiedBy>Charlotte</cp:lastModifiedBy>
  <cp:revision>6</cp:revision>
  <dcterms:created xsi:type="dcterms:W3CDTF">2014-12-30T17:49:27Z</dcterms:created>
  <dcterms:modified xsi:type="dcterms:W3CDTF">2014-12-30T19:30:46Z</dcterms:modified>
</cp:coreProperties>
</file>