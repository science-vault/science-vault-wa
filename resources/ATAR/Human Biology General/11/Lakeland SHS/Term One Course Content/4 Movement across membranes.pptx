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76" r:id="rId1"/>
  </p:sldMasterIdLst>
  <p:notesMasterIdLst>
    <p:notesMasterId r:id="rId29"/>
  </p:notesMasterIdLst>
  <p:handoutMasterIdLst>
    <p:handoutMasterId r:id="rId30"/>
  </p:handoutMasterIdLst>
  <p:sldIdLst>
    <p:sldId id="256" r:id="rId2"/>
    <p:sldId id="265" r:id="rId3"/>
    <p:sldId id="299" r:id="rId4"/>
    <p:sldId id="324" r:id="rId5"/>
    <p:sldId id="298" r:id="rId6"/>
    <p:sldId id="300" r:id="rId7"/>
    <p:sldId id="301" r:id="rId8"/>
    <p:sldId id="302" r:id="rId9"/>
    <p:sldId id="304" r:id="rId10"/>
    <p:sldId id="305" r:id="rId11"/>
    <p:sldId id="306" r:id="rId12"/>
    <p:sldId id="323" r:id="rId13"/>
    <p:sldId id="307" r:id="rId14"/>
    <p:sldId id="308" r:id="rId15"/>
    <p:sldId id="309" r:id="rId16"/>
    <p:sldId id="310" r:id="rId17"/>
    <p:sldId id="311" r:id="rId18"/>
    <p:sldId id="322" r:id="rId19"/>
    <p:sldId id="312" r:id="rId20"/>
    <p:sldId id="314" r:id="rId21"/>
    <p:sldId id="315" r:id="rId22"/>
    <p:sldId id="316" r:id="rId23"/>
    <p:sldId id="317" r:id="rId24"/>
    <p:sldId id="318" r:id="rId25"/>
    <p:sldId id="319" r:id="rId26"/>
    <p:sldId id="320" r:id="rId27"/>
    <p:sldId id="321" r:id="rId28"/>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a:srgbClr val="FF9900"/>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48C5FAF-5124-4833-99EB-D226E3386517}" v="1" dt="2022-02-05T07:16:33.5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78636" autoAdjust="0"/>
  </p:normalViewPr>
  <p:slideViewPr>
    <p:cSldViewPr>
      <p:cViewPr varScale="1">
        <p:scale>
          <a:sx n="82" d="100"/>
          <a:sy n="82" d="100"/>
        </p:scale>
        <p:origin x="588" y="7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83" d="100"/>
          <a:sy n="83" d="100"/>
        </p:scale>
        <p:origin x="-2676"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ael simeoni" userId="506f25aaf3d2b85d" providerId="LiveId" clId="{F48C5FAF-5124-4833-99EB-D226E3386517}"/>
    <pc:docChg chg="custSel addSld modSld sldOrd">
      <pc:chgData name="michael simeoni" userId="506f25aaf3d2b85d" providerId="LiveId" clId="{F48C5FAF-5124-4833-99EB-D226E3386517}" dt="2022-02-05T07:57:36.354" v="49" actId="1076"/>
      <pc:docMkLst>
        <pc:docMk/>
      </pc:docMkLst>
      <pc:sldChg chg="modSp mod">
        <pc:chgData name="michael simeoni" userId="506f25aaf3d2b85d" providerId="LiveId" clId="{F48C5FAF-5124-4833-99EB-D226E3386517}" dt="2022-02-05T07:22:09.732" v="45" actId="20577"/>
        <pc:sldMkLst>
          <pc:docMk/>
          <pc:sldMk cId="0" sldId="256"/>
        </pc:sldMkLst>
        <pc:spChg chg="mod">
          <ac:chgData name="michael simeoni" userId="506f25aaf3d2b85d" providerId="LiveId" clId="{F48C5FAF-5124-4833-99EB-D226E3386517}" dt="2022-02-05T07:22:09.732" v="45" actId="20577"/>
          <ac:spMkLst>
            <pc:docMk/>
            <pc:sldMk cId="0" sldId="256"/>
            <ac:spMk id="3074" creationId="{00000000-0000-0000-0000-000000000000}"/>
          </ac:spMkLst>
        </pc:spChg>
      </pc:sldChg>
      <pc:sldChg chg="delSp modSp mod">
        <pc:chgData name="michael simeoni" userId="506f25aaf3d2b85d" providerId="LiveId" clId="{F48C5FAF-5124-4833-99EB-D226E3386517}" dt="2022-02-05T07:16:50.628" v="29" actId="14100"/>
        <pc:sldMkLst>
          <pc:docMk/>
          <pc:sldMk cId="0" sldId="299"/>
        </pc:sldMkLst>
        <pc:picChg chg="mod">
          <ac:chgData name="michael simeoni" userId="506f25aaf3d2b85d" providerId="LiveId" clId="{F48C5FAF-5124-4833-99EB-D226E3386517}" dt="2022-02-05T07:16:50.628" v="29" actId="14100"/>
          <ac:picMkLst>
            <pc:docMk/>
            <pc:sldMk cId="0" sldId="299"/>
            <ac:picMk id="2" creationId="{00000000-0000-0000-0000-000000000000}"/>
          </ac:picMkLst>
        </pc:picChg>
        <pc:picChg chg="del">
          <ac:chgData name="michael simeoni" userId="506f25aaf3d2b85d" providerId="LiveId" clId="{F48C5FAF-5124-4833-99EB-D226E3386517}" dt="2022-02-05T07:16:37.007" v="27" actId="478"/>
          <ac:picMkLst>
            <pc:docMk/>
            <pc:sldMk cId="0" sldId="299"/>
            <ac:picMk id="3" creationId="{00000000-0000-0000-0000-000000000000}"/>
          </ac:picMkLst>
        </pc:picChg>
      </pc:sldChg>
      <pc:sldChg chg="addSp modSp mod">
        <pc:chgData name="michael simeoni" userId="506f25aaf3d2b85d" providerId="LiveId" clId="{F48C5FAF-5124-4833-99EB-D226E3386517}" dt="2022-02-05T07:57:36.354" v="49" actId="1076"/>
        <pc:sldMkLst>
          <pc:docMk/>
          <pc:sldMk cId="0" sldId="312"/>
        </pc:sldMkLst>
        <pc:spChg chg="add">
          <ac:chgData name="michael simeoni" userId="506f25aaf3d2b85d" providerId="LiveId" clId="{F48C5FAF-5124-4833-99EB-D226E3386517}" dt="2022-02-05T07:57:33.246" v="48" actId="22"/>
          <ac:spMkLst>
            <pc:docMk/>
            <pc:sldMk cId="0" sldId="312"/>
            <ac:spMk id="9" creationId="{7300CB95-E0BD-4CC1-93E4-37FCD3BBF9B5}"/>
          </ac:spMkLst>
        </pc:spChg>
        <pc:picChg chg="mod">
          <ac:chgData name="michael simeoni" userId="506f25aaf3d2b85d" providerId="LiveId" clId="{F48C5FAF-5124-4833-99EB-D226E3386517}" dt="2022-02-05T07:57:36.354" v="49" actId="1076"/>
          <ac:picMkLst>
            <pc:docMk/>
            <pc:sldMk cId="0" sldId="312"/>
            <ac:picMk id="2" creationId="{00000000-0000-0000-0000-000000000000}"/>
          </ac:picMkLst>
        </pc:picChg>
      </pc:sldChg>
      <pc:sldChg chg="delSp modSp add mod ord">
        <pc:chgData name="michael simeoni" userId="506f25aaf3d2b85d" providerId="LiveId" clId="{F48C5FAF-5124-4833-99EB-D226E3386517}" dt="2022-02-05T07:39:02.633" v="47"/>
        <pc:sldMkLst>
          <pc:docMk/>
          <pc:sldMk cId="3224923668" sldId="324"/>
        </pc:sldMkLst>
        <pc:picChg chg="del">
          <ac:chgData name="michael simeoni" userId="506f25aaf3d2b85d" providerId="LiveId" clId="{F48C5FAF-5124-4833-99EB-D226E3386517}" dt="2022-02-05T07:16:53.473" v="30" actId="478"/>
          <ac:picMkLst>
            <pc:docMk/>
            <pc:sldMk cId="3224923668" sldId="324"/>
            <ac:picMk id="2" creationId="{00000000-0000-0000-0000-000000000000}"/>
          </ac:picMkLst>
        </pc:picChg>
        <pc:picChg chg="mod">
          <ac:chgData name="michael simeoni" userId="506f25aaf3d2b85d" providerId="LiveId" clId="{F48C5FAF-5124-4833-99EB-D226E3386517}" dt="2022-02-05T07:17:02.056" v="33" actId="1076"/>
          <ac:picMkLst>
            <pc:docMk/>
            <pc:sldMk cId="3224923668" sldId="324"/>
            <ac:picMk id="3" creationId="{00000000-0000-0000-0000-00000000000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cs typeface="+mn-cs"/>
              </a:defRPr>
            </a:lvl1pPr>
          </a:lstStyle>
          <a:p>
            <a:pPr>
              <a:defRPr/>
            </a:pPr>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cs typeface="+mn-cs"/>
              </a:defRPr>
            </a:lvl1pPr>
          </a:lstStyle>
          <a:p>
            <a:pPr>
              <a:defRPr/>
            </a:pPr>
            <a:fld id="{E8BE3292-0465-4EF0-B5B3-C539ACAB98FA}" type="datetimeFigureOut">
              <a:rPr lang="en-US"/>
              <a:pPr>
                <a:defRPr/>
              </a:pPr>
              <a:t>2/5/2022</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cs typeface="+mn-cs"/>
              </a:defRPr>
            </a:lvl1pPr>
          </a:lstStyle>
          <a:p>
            <a:pPr>
              <a:defRPr/>
            </a:pPr>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cs typeface="+mn-cs"/>
              </a:defRPr>
            </a:lvl1pPr>
          </a:lstStyle>
          <a:p>
            <a:pPr>
              <a:defRPr/>
            </a:pPr>
            <a:fld id="{5296ABA5-3682-4280-B0AB-5EE6DB015BA7}" type="slidenum">
              <a:rPr lang="en-US"/>
              <a:pPr>
                <a:defRPr/>
              </a:pPr>
              <a:t>‹#›</a:t>
            </a:fld>
            <a:endParaRPr lang="en-US" dirty="0"/>
          </a:p>
        </p:txBody>
      </p:sp>
    </p:spTree>
    <p:extLst>
      <p:ext uri="{BB962C8B-B14F-4D97-AF65-F5344CB8AC3E}">
        <p14:creationId xmlns:p14="http://schemas.microsoft.com/office/powerpoint/2010/main" val="393236516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289285E7-059C-4F59-BE13-786ECCB56B33}" type="datetimeFigureOut">
              <a:rPr lang="en-US"/>
              <a:pPr>
                <a:defRPr/>
              </a:pPr>
              <a:t>2/5/2022</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60304E8F-7DE4-4BC5-8D15-3EAD43A073A8}" type="slidenum">
              <a:rPr lang="en-US"/>
              <a:pPr>
                <a:defRPr/>
              </a:pPr>
              <a:t>‹#›</a:t>
            </a:fld>
            <a:endParaRPr lang="en-US" dirty="0"/>
          </a:p>
        </p:txBody>
      </p:sp>
    </p:spTree>
    <p:extLst>
      <p:ext uri="{BB962C8B-B14F-4D97-AF65-F5344CB8AC3E}">
        <p14:creationId xmlns:p14="http://schemas.microsoft.com/office/powerpoint/2010/main" val="65345183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p:cNvSpPr>
            <a:spLocks noGrp="1" noRot="1" noChangeAspect="1" noTextEdit="1"/>
          </p:cNvSpPr>
          <p:nvPr>
            <p:ph type="sldImg"/>
          </p:nvPr>
        </p:nvSpPr>
        <p:spPr bwMode="auto">
          <a:noFill/>
          <a:ln>
            <a:solidFill>
              <a:srgbClr val="000000"/>
            </a:solidFill>
            <a:miter lim="800000"/>
            <a:headEnd/>
            <a:tailEnd/>
          </a:ln>
        </p:spPr>
      </p:sp>
      <p:sp>
        <p:nvSpPr>
          <p:cNvPr id="12291"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dirty="0"/>
          </a:p>
        </p:txBody>
      </p:sp>
      <p:sp>
        <p:nvSpPr>
          <p:cNvPr id="4" name="Slide Number Placeholder 3"/>
          <p:cNvSpPr>
            <a:spLocks noGrp="1"/>
          </p:cNvSpPr>
          <p:nvPr>
            <p:ph type="sldNum" sz="quarter" idx="5"/>
          </p:nvPr>
        </p:nvSpPr>
        <p:spPr/>
        <p:txBody>
          <a:bodyPr/>
          <a:lstStyle/>
          <a:p>
            <a:pPr>
              <a:defRPr/>
            </a:pPr>
            <a:fld id="{4B7C94BA-2A6F-4A11-BBF6-919098AFBBFB}" type="slidenum">
              <a:rPr lang="en-US" smtClean="0"/>
              <a:pPr>
                <a:defRPr/>
              </a:pPr>
              <a:t>1</a:t>
            </a:fld>
            <a:endParaRPr lang="en-US" dirty="0"/>
          </a:p>
        </p:txBody>
      </p:sp>
    </p:spTree>
    <p:extLst>
      <p:ext uri="{BB962C8B-B14F-4D97-AF65-F5344CB8AC3E}">
        <p14:creationId xmlns:p14="http://schemas.microsoft.com/office/powerpoint/2010/main" val="41271442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dirty="0"/>
          </a:p>
        </p:txBody>
      </p:sp>
      <p:sp>
        <p:nvSpPr>
          <p:cNvPr id="4" name="Slide Number Placeholder 3"/>
          <p:cNvSpPr>
            <a:spLocks noGrp="1"/>
          </p:cNvSpPr>
          <p:nvPr>
            <p:ph type="sldNum" sz="quarter" idx="5"/>
          </p:nvPr>
        </p:nvSpPr>
        <p:spPr/>
        <p:txBody>
          <a:bodyPr/>
          <a:lstStyle/>
          <a:p>
            <a:pPr>
              <a:defRPr/>
            </a:pPr>
            <a:fld id="{8265CCF7-C6F2-435C-AB36-78C649E2A501}" type="slidenum">
              <a:rPr lang="en-US" smtClean="0"/>
              <a:pPr>
                <a:defRPr/>
              </a:pPr>
              <a:t>2</a:t>
            </a:fld>
            <a:endParaRPr lang="en-US" dirty="0"/>
          </a:p>
        </p:txBody>
      </p:sp>
    </p:spTree>
    <p:extLst>
      <p:ext uri="{BB962C8B-B14F-4D97-AF65-F5344CB8AC3E}">
        <p14:creationId xmlns:p14="http://schemas.microsoft.com/office/powerpoint/2010/main" val="22683107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sz="1200" kern="1200" baseline="0" dirty="0">
                <a:solidFill>
                  <a:schemeClr val="tx1"/>
                </a:solidFill>
                <a:latin typeface="+mn-lt"/>
                <a:ea typeface="+mn-ea"/>
                <a:cs typeface="+mn-cs"/>
              </a:rPr>
              <a:t>Almost 99% of the mass of an average human body is made up of only six elements: oxygen, carbon, hydrogen, nitrogen, calcium and phosphorus. Table 8.1 shows that the proportions of these elements are very different in the human body compared with the external environment in the earth, sea and atmosphere.</a:t>
            </a:r>
          </a:p>
          <a:p>
            <a:endParaRPr lang="en-US" sz="1200" kern="1200" baseline="0" dirty="0">
              <a:solidFill>
                <a:schemeClr val="tx1"/>
              </a:solidFill>
              <a:latin typeface="+mn-lt"/>
              <a:ea typeface="+mn-ea"/>
              <a:cs typeface="+mn-cs"/>
            </a:endParaRPr>
          </a:p>
          <a:p>
            <a:r>
              <a:rPr lang="en-AU" sz="1200" b="0" i="0" u="none" strike="noStrike" kern="1200" baseline="0" dirty="0">
                <a:solidFill>
                  <a:schemeClr val="tx1"/>
                </a:solidFill>
                <a:latin typeface="+mn-lt"/>
                <a:ea typeface="+mn-ea"/>
                <a:cs typeface="+mn-cs"/>
              </a:rPr>
              <a:t>The cells in multicellular organisms are more protected from the swings of environmental change because they are surrounded by extracellular fluid. In humans, the contents of this liquid are kept fairly constant by the workings of various organs such as the lungs, kidneys and liver. Nevertheless, the internal cellular environment has very different concentrations of some substances compared with the extracellular environment (Table 8.2).</a:t>
            </a:r>
            <a:endParaRPr lang="en-US" dirty="0"/>
          </a:p>
        </p:txBody>
      </p:sp>
      <p:sp>
        <p:nvSpPr>
          <p:cNvPr id="4" name="Slide Number Placeholder 3"/>
          <p:cNvSpPr>
            <a:spLocks noGrp="1"/>
          </p:cNvSpPr>
          <p:nvPr>
            <p:ph type="sldNum" sz="quarter" idx="5"/>
          </p:nvPr>
        </p:nvSpPr>
        <p:spPr/>
        <p:txBody>
          <a:bodyPr/>
          <a:lstStyle/>
          <a:p>
            <a:pPr>
              <a:defRPr/>
            </a:pPr>
            <a:fld id="{8265CCF7-C6F2-435C-AB36-78C649E2A501}" type="slidenum">
              <a:rPr lang="en-US" smtClean="0"/>
              <a:pPr>
                <a:defRPr/>
              </a:pPr>
              <a:t>3</a:t>
            </a:fld>
            <a:endParaRPr lang="en-US" dirty="0"/>
          </a:p>
        </p:txBody>
      </p:sp>
    </p:spTree>
    <p:extLst>
      <p:ext uri="{BB962C8B-B14F-4D97-AF65-F5344CB8AC3E}">
        <p14:creationId xmlns:p14="http://schemas.microsoft.com/office/powerpoint/2010/main" val="14143654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sz="1200" kern="1200" baseline="0" dirty="0">
                <a:solidFill>
                  <a:schemeClr val="tx1"/>
                </a:solidFill>
                <a:latin typeface="+mn-lt"/>
                <a:ea typeface="+mn-ea"/>
                <a:cs typeface="+mn-cs"/>
              </a:rPr>
              <a:t>Almost 99% of the mass of an average human body is made up of only six elements: oxygen, carbon, hydrogen, nitrogen, calcium and phosphorus. Table 8.1 shows that the proportions of these elements are very different in the human body compared with the external environment in the earth, sea and atmosphere.</a:t>
            </a:r>
          </a:p>
          <a:p>
            <a:endParaRPr lang="en-US" sz="1200" kern="1200" baseline="0" dirty="0">
              <a:solidFill>
                <a:schemeClr val="tx1"/>
              </a:solidFill>
              <a:latin typeface="+mn-lt"/>
              <a:ea typeface="+mn-ea"/>
              <a:cs typeface="+mn-cs"/>
            </a:endParaRPr>
          </a:p>
          <a:p>
            <a:r>
              <a:rPr lang="en-AU" sz="1200" b="0" i="0" u="none" strike="noStrike" kern="1200" baseline="0" dirty="0">
                <a:solidFill>
                  <a:schemeClr val="tx1"/>
                </a:solidFill>
                <a:latin typeface="+mn-lt"/>
                <a:ea typeface="+mn-ea"/>
                <a:cs typeface="+mn-cs"/>
              </a:rPr>
              <a:t>The cells in multicellular organisms are more protected from the swings of environmental change because they are surrounded by extracellular fluid. In humans, the contents of this liquid are kept fairly constant by the workings of various organs such as the lungs, kidneys and liver. Nevertheless, the internal cellular environment has very different concentrations of some substances compared with the extracellular environment (Table 8.2).</a:t>
            </a:r>
            <a:endParaRPr lang="en-US" dirty="0"/>
          </a:p>
        </p:txBody>
      </p:sp>
      <p:sp>
        <p:nvSpPr>
          <p:cNvPr id="4" name="Slide Number Placeholder 3"/>
          <p:cNvSpPr>
            <a:spLocks noGrp="1"/>
          </p:cNvSpPr>
          <p:nvPr>
            <p:ph type="sldNum" sz="quarter" idx="5"/>
          </p:nvPr>
        </p:nvSpPr>
        <p:spPr/>
        <p:txBody>
          <a:bodyPr/>
          <a:lstStyle/>
          <a:p>
            <a:pPr>
              <a:defRPr/>
            </a:pPr>
            <a:fld id="{8265CCF7-C6F2-435C-AB36-78C649E2A501}" type="slidenum">
              <a:rPr lang="en-US" smtClean="0"/>
              <a:pPr>
                <a:defRPr/>
              </a:pPr>
              <a:t>4</a:t>
            </a:fld>
            <a:endParaRPr lang="en-US" dirty="0"/>
          </a:p>
        </p:txBody>
      </p:sp>
    </p:spTree>
    <p:extLst>
      <p:ext uri="{BB962C8B-B14F-4D97-AF65-F5344CB8AC3E}">
        <p14:creationId xmlns:p14="http://schemas.microsoft.com/office/powerpoint/2010/main" val="1189512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normAutofit/>
          </a:bodyPr>
          <a:lstStyle/>
          <a:p>
            <a:r>
              <a:rPr lang="en-AU" sz="1200" b="0" i="0" u="none" strike="noStrike" kern="1200" baseline="0" dirty="0">
                <a:solidFill>
                  <a:schemeClr val="tx1"/>
                </a:solidFill>
                <a:latin typeface="+mn-lt"/>
                <a:ea typeface="+mn-ea"/>
                <a:cs typeface="+mn-cs"/>
              </a:rPr>
              <a:t>Depending on its activities, a cell will need to take in certain useful molecules and ions from the external environment and excrete others. For example, a cell producing protein will need to take in a variety of amino acids. When substances like calcium ions are used as signals for cell communication, their levels inside cells will need to be controlled.</a:t>
            </a:r>
          </a:p>
          <a:p>
            <a:r>
              <a:rPr lang="en-AU" sz="1200" b="0" i="0" u="none" strike="noStrike" kern="1200" baseline="0" dirty="0">
                <a:solidFill>
                  <a:schemeClr val="tx1"/>
                </a:solidFill>
                <a:latin typeface="+mn-lt"/>
                <a:ea typeface="+mn-ea"/>
                <a:cs typeface="+mn-cs"/>
              </a:rPr>
              <a:t> </a:t>
            </a:r>
          </a:p>
          <a:p>
            <a:r>
              <a:rPr lang="en-AU" sz="1200" b="0" i="0" u="none" strike="noStrike" kern="1200" baseline="0" dirty="0">
                <a:solidFill>
                  <a:schemeClr val="tx1"/>
                </a:solidFill>
                <a:latin typeface="+mn-lt"/>
                <a:ea typeface="+mn-ea"/>
                <a:cs typeface="+mn-cs"/>
              </a:rPr>
              <a:t>Many cellular reactions need specific conditions in order to occur efficiently and effectively. Cellular processes such as photosynthesis and respiration use </a:t>
            </a:r>
            <a:r>
              <a:rPr lang="en-AU" sz="1200" b="1" i="0" u="none" strike="noStrike" kern="1200" baseline="0" dirty="0">
                <a:solidFill>
                  <a:schemeClr val="tx1"/>
                </a:solidFill>
                <a:latin typeface="+mn-lt"/>
                <a:ea typeface="+mn-ea"/>
                <a:cs typeface="+mn-cs"/>
              </a:rPr>
              <a:t>enzymes </a:t>
            </a:r>
            <a:r>
              <a:rPr lang="en-AU" sz="1200" b="0" i="0" u="none" strike="noStrike" kern="1200" baseline="0" dirty="0">
                <a:solidFill>
                  <a:schemeClr val="tx1"/>
                </a:solidFill>
                <a:latin typeface="+mn-lt"/>
                <a:ea typeface="+mn-ea"/>
                <a:cs typeface="+mn-cs"/>
              </a:rPr>
              <a:t>to speed up chemical reactions to a point where each step proceeds smoothly to the next. Enzymes can only perform their tasks within narrow temperature and pH ranges. Hydrogen ion concentrations must be kept within strict limits to maintain suitable cytoplasmic pH levels. Toxic waste products need to be removed to ensure they do not interfere with chemical reactions in the cytoplasm. For all these reasons, the plasma membrane must regulate the internal environment of the cell.</a:t>
            </a:r>
            <a:endParaRPr lang="en-US" dirty="0"/>
          </a:p>
        </p:txBody>
      </p:sp>
      <p:sp>
        <p:nvSpPr>
          <p:cNvPr id="4" name="Slide Number Placeholder 3"/>
          <p:cNvSpPr>
            <a:spLocks noGrp="1"/>
          </p:cNvSpPr>
          <p:nvPr>
            <p:ph type="sldNum" sz="quarter" idx="5"/>
          </p:nvPr>
        </p:nvSpPr>
        <p:spPr/>
        <p:txBody>
          <a:bodyPr/>
          <a:lstStyle/>
          <a:p>
            <a:pPr>
              <a:defRPr/>
            </a:pPr>
            <a:fld id="{8265CCF7-C6F2-435C-AB36-78C649E2A501}" type="slidenum">
              <a:rPr lang="en-US" smtClean="0"/>
              <a:pPr>
                <a:defRPr/>
              </a:pPr>
              <a:t>5</a:t>
            </a:fld>
            <a:endParaRPr lang="en-US" dirty="0"/>
          </a:p>
        </p:txBody>
      </p:sp>
    </p:spTree>
    <p:extLst>
      <p:ext uri="{BB962C8B-B14F-4D97-AF65-F5344CB8AC3E}">
        <p14:creationId xmlns:p14="http://schemas.microsoft.com/office/powerpoint/2010/main" val="18862160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normAutofit/>
          </a:bodyPr>
          <a:lstStyle/>
          <a:p>
            <a:r>
              <a:rPr lang="en-AU" sz="1200" b="0" i="0" u="none" strike="noStrike" kern="1200" baseline="0" dirty="0">
                <a:solidFill>
                  <a:schemeClr val="tx1"/>
                </a:solidFill>
                <a:latin typeface="+mn-lt"/>
                <a:ea typeface="+mn-ea"/>
                <a:cs typeface="+mn-cs"/>
              </a:rPr>
              <a:t>A phosphate group on the head makes this end </a:t>
            </a:r>
            <a:r>
              <a:rPr lang="en-AU" sz="1200" b="1" i="0" u="none" strike="noStrike" kern="1200" baseline="0" dirty="0">
                <a:solidFill>
                  <a:schemeClr val="tx1"/>
                </a:solidFill>
                <a:latin typeface="+mn-lt"/>
                <a:ea typeface="+mn-ea"/>
                <a:cs typeface="+mn-cs"/>
              </a:rPr>
              <a:t>hydrophilic </a:t>
            </a:r>
            <a:r>
              <a:rPr lang="en-AU" sz="1200" b="0" i="0" u="none" strike="noStrike" kern="1200" baseline="0" dirty="0">
                <a:solidFill>
                  <a:schemeClr val="tx1"/>
                </a:solidFill>
                <a:latin typeface="+mn-lt"/>
                <a:ea typeface="+mn-ea"/>
                <a:cs typeface="+mn-cs"/>
              </a:rPr>
              <a:t>(able to absorb water or dissolve in water) and the fatty acid tails are </a:t>
            </a:r>
            <a:r>
              <a:rPr lang="en-AU" sz="1200" b="1" i="0" u="none" strike="noStrike" kern="1200" baseline="0" dirty="0">
                <a:solidFill>
                  <a:schemeClr val="tx1"/>
                </a:solidFill>
                <a:latin typeface="+mn-lt"/>
                <a:ea typeface="+mn-ea"/>
                <a:cs typeface="+mn-cs"/>
              </a:rPr>
              <a:t>hydrophobic </a:t>
            </a:r>
            <a:r>
              <a:rPr lang="en-AU" sz="1200" b="0" i="0" u="none" strike="noStrike" kern="1200" baseline="0" dirty="0">
                <a:solidFill>
                  <a:schemeClr val="tx1"/>
                </a:solidFill>
                <a:latin typeface="+mn-lt"/>
                <a:ea typeface="+mn-ea"/>
                <a:cs typeface="+mn-cs"/>
              </a:rPr>
              <a:t>(water avoiding or unable to dissolve in water). This means that while the heads</a:t>
            </a:r>
          </a:p>
          <a:p>
            <a:r>
              <a:rPr lang="en-AU" sz="1200" b="0" i="0" u="none" strike="noStrike" kern="1200" baseline="0" dirty="0">
                <a:solidFill>
                  <a:schemeClr val="tx1"/>
                </a:solidFill>
                <a:latin typeface="+mn-lt"/>
                <a:ea typeface="+mn-ea"/>
                <a:cs typeface="+mn-cs"/>
              </a:rPr>
              <a:t>are attracted to water, the tails are repelled. When these molecules spontaneously form a bilayer, the fatty acid tails turn inwards, away from the watery environment and cytoplasm, and towards each other (Figure 8.5), rather like salad oil forming a film on the surface of water.</a:t>
            </a:r>
            <a:endParaRPr lang="en-US" sz="1200" kern="1200" baseline="0" dirty="0">
              <a:solidFill>
                <a:schemeClr val="tx1"/>
              </a:solidFill>
              <a:latin typeface="+mn-lt"/>
              <a:ea typeface="+mn-ea"/>
              <a:cs typeface="+mn-cs"/>
            </a:endParaRPr>
          </a:p>
          <a:p>
            <a:r>
              <a:rPr lang="en-AU" sz="1200" b="0" i="0" u="none" strike="noStrike" kern="1200" baseline="0" dirty="0">
                <a:solidFill>
                  <a:schemeClr val="tx1"/>
                </a:solidFill>
                <a:latin typeface="+mn-lt"/>
                <a:ea typeface="+mn-ea"/>
                <a:cs typeface="+mn-cs"/>
              </a:rPr>
              <a:t>Cholesterol interferes with interactions between the lipid tails, making the membrane more flexible. In plants and bacteria, phytosterol not cholesterol increases membrane flexibility.</a:t>
            </a:r>
          </a:p>
          <a:p>
            <a:r>
              <a:rPr lang="en-AU" sz="1200" b="0" i="0" u="none" strike="noStrike" kern="1200" baseline="0" dirty="0">
                <a:solidFill>
                  <a:schemeClr val="tx1"/>
                </a:solidFill>
                <a:latin typeface="+mn-lt"/>
                <a:ea typeface="+mn-ea"/>
                <a:cs typeface="+mn-cs"/>
              </a:rPr>
              <a:t>The lipid components of all membranes, whether from plants, animals or bacteria, provide membranes with the unique properties of being flexible and able to repair themselves. This allows cells to change shape and grow.</a:t>
            </a:r>
            <a:endParaRPr lang="en-US" dirty="0"/>
          </a:p>
        </p:txBody>
      </p:sp>
      <p:sp>
        <p:nvSpPr>
          <p:cNvPr id="4" name="Slide Number Placeholder 3"/>
          <p:cNvSpPr>
            <a:spLocks noGrp="1"/>
          </p:cNvSpPr>
          <p:nvPr>
            <p:ph type="sldNum" sz="quarter" idx="5"/>
          </p:nvPr>
        </p:nvSpPr>
        <p:spPr/>
        <p:txBody>
          <a:bodyPr/>
          <a:lstStyle/>
          <a:p>
            <a:pPr>
              <a:defRPr/>
            </a:pPr>
            <a:fld id="{8265CCF7-C6F2-435C-AB36-78C649E2A501}" type="slidenum">
              <a:rPr lang="en-US" smtClean="0"/>
              <a:pPr>
                <a:defRPr/>
              </a:pPr>
              <a:t>6</a:t>
            </a:fld>
            <a:endParaRPr lang="en-US" dirty="0"/>
          </a:p>
        </p:txBody>
      </p:sp>
    </p:spTree>
    <p:extLst>
      <p:ext uri="{BB962C8B-B14F-4D97-AF65-F5344CB8AC3E}">
        <p14:creationId xmlns:p14="http://schemas.microsoft.com/office/powerpoint/2010/main" val="12712086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bodyPr>
          <a:lstStyle/>
          <a:p>
            <a:pPr marL="228600" indent="-228600">
              <a:buFont typeface="+mj-lt"/>
              <a:buAutoNum type="arabicPeriod"/>
            </a:pPr>
            <a:r>
              <a:rPr lang="en-US" sz="1200" b="1" kern="1200" baseline="0" dirty="0">
                <a:solidFill>
                  <a:schemeClr val="tx1"/>
                </a:solidFill>
                <a:latin typeface="+mn-lt"/>
                <a:ea typeface="+mn-ea"/>
                <a:cs typeface="+mn-cs"/>
              </a:rPr>
              <a:t>Adhesion proteins </a:t>
            </a:r>
            <a:r>
              <a:rPr lang="en-US" sz="1200" b="0" kern="1200" baseline="0" dirty="0">
                <a:solidFill>
                  <a:schemeClr val="tx1"/>
                </a:solidFill>
                <a:latin typeface="+mn-lt"/>
                <a:ea typeface="+mn-ea"/>
                <a:cs typeface="+mn-cs"/>
              </a:rPr>
              <a:t>link cells together to maintain </a:t>
            </a:r>
            <a:r>
              <a:rPr lang="en-US" sz="1200" kern="1200" baseline="0" dirty="0">
                <a:solidFill>
                  <a:schemeClr val="tx1"/>
                </a:solidFill>
                <a:latin typeface="+mn-lt"/>
                <a:ea typeface="+mn-ea"/>
                <a:cs typeface="+mn-cs"/>
              </a:rPr>
              <a:t>both the three-dimensional structure and the normal functioning of tissues.</a:t>
            </a:r>
          </a:p>
          <a:p>
            <a:pPr marL="228600" indent="-228600">
              <a:buFont typeface="+mj-lt"/>
              <a:buAutoNum type="arabicPeriod"/>
            </a:pPr>
            <a:r>
              <a:rPr lang="en-US" sz="1200" b="1" kern="1200" baseline="0" dirty="0">
                <a:solidFill>
                  <a:schemeClr val="tx1"/>
                </a:solidFill>
                <a:latin typeface="+mn-lt"/>
                <a:ea typeface="+mn-ea"/>
                <a:cs typeface="+mn-cs"/>
              </a:rPr>
              <a:t>Transport proteins </a:t>
            </a:r>
            <a:r>
              <a:rPr lang="en-US" sz="1200" b="0" kern="1200" baseline="0" dirty="0">
                <a:solidFill>
                  <a:schemeClr val="tx1"/>
                </a:solidFill>
                <a:latin typeface="+mn-lt"/>
                <a:ea typeface="+mn-ea"/>
                <a:cs typeface="+mn-cs"/>
              </a:rPr>
              <a:t>act as passageways that allow specific substances to move across the membrane. An example is the rapid movement of ions across the membrane when a nerve is </a:t>
            </a:r>
            <a:r>
              <a:rPr lang="en-US" sz="1200" kern="1200" baseline="0" dirty="0">
                <a:solidFill>
                  <a:schemeClr val="tx1"/>
                </a:solidFill>
                <a:latin typeface="+mn-lt"/>
                <a:ea typeface="+mn-ea"/>
                <a:cs typeface="+mn-cs"/>
              </a:rPr>
              <a:t>stimulated.</a:t>
            </a:r>
          </a:p>
          <a:p>
            <a:pPr marL="228600" indent="-228600">
              <a:buFont typeface="+mj-lt"/>
              <a:buAutoNum type="arabicPeriod"/>
            </a:pPr>
            <a:r>
              <a:rPr lang="en-US" sz="1200" b="0" kern="1200" baseline="0" dirty="0">
                <a:solidFill>
                  <a:schemeClr val="tx1"/>
                </a:solidFill>
                <a:latin typeface="+mn-lt"/>
                <a:ea typeface="+mn-ea"/>
                <a:cs typeface="+mn-cs"/>
              </a:rPr>
              <a:t>Membrane proteins </a:t>
            </a:r>
            <a:r>
              <a:rPr lang="en-US" sz="1200" kern="1200" baseline="0" dirty="0">
                <a:solidFill>
                  <a:schemeClr val="tx1"/>
                </a:solidFill>
                <a:latin typeface="+mn-lt"/>
                <a:ea typeface="+mn-ea"/>
                <a:cs typeface="+mn-cs"/>
              </a:rPr>
              <a:t>are also involved in cellular communication. </a:t>
            </a:r>
            <a:r>
              <a:rPr lang="en-US" sz="1200" b="1" kern="1200" baseline="0" dirty="0">
                <a:solidFill>
                  <a:schemeClr val="tx1"/>
                </a:solidFill>
                <a:latin typeface="+mn-lt"/>
                <a:ea typeface="+mn-ea"/>
                <a:cs typeface="+mn-cs"/>
              </a:rPr>
              <a:t>Receptor proteins </a:t>
            </a:r>
            <a:r>
              <a:rPr lang="en-US" sz="1200" b="0" kern="1200" baseline="0" dirty="0">
                <a:solidFill>
                  <a:schemeClr val="tx1"/>
                </a:solidFill>
                <a:latin typeface="+mn-lt"/>
                <a:ea typeface="+mn-ea"/>
                <a:cs typeface="+mn-cs"/>
              </a:rPr>
              <a:t>bind </a:t>
            </a:r>
            <a:r>
              <a:rPr lang="en-US" sz="1200" kern="1200" baseline="0" dirty="0">
                <a:solidFill>
                  <a:schemeClr val="tx1"/>
                </a:solidFill>
                <a:latin typeface="+mn-lt"/>
                <a:ea typeface="+mn-ea"/>
                <a:cs typeface="+mn-cs"/>
              </a:rPr>
              <a:t>hormones and other substances that cause changes to the cell’s activities.</a:t>
            </a:r>
          </a:p>
          <a:p>
            <a:pPr marL="228600" indent="-228600">
              <a:buFont typeface="+mj-lt"/>
              <a:buAutoNum type="arabicPeriod"/>
            </a:pPr>
            <a:r>
              <a:rPr lang="en-US" sz="1200" kern="1200" baseline="0" dirty="0">
                <a:solidFill>
                  <a:schemeClr val="tx1"/>
                </a:solidFill>
                <a:latin typeface="+mn-lt"/>
                <a:ea typeface="+mn-ea"/>
                <a:cs typeface="+mn-cs"/>
              </a:rPr>
              <a:t>Membrane </a:t>
            </a:r>
            <a:r>
              <a:rPr lang="en-US" sz="1200" b="1" kern="1200" baseline="0" dirty="0">
                <a:solidFill>
                  <a:schemeClr val="tx1"/>
                </a:solidFill>
                <a:latin typeface="+mn-lt"/>
                <a:ea typeface="+mn-ea"/>
                <a:cs typeface="+mn-cs"/>
              </a:rPr>
              <a:t>recognition proteins</a:t>
            </a:r>
            <a:r>
              <a:rPr lang="en-US" sz="1200" b="0" kern="1200" baseline="0" dirty="0">
                <a:solidFill>
                  <a:schemeClr val="tx1"/>
                </a:solidFill>
                <a:latin typeface="+mn-lt"/>
                <a:ea typeface="+mn-ea"/>
                <a:cs typeface="+mn-cs"/>
              </a:rPr>
              <a:t>, which are called </a:t>
            </a:r>
            <a:r>
              <a:rPr lang="en-US" sz="1200" b="1" kern="1200" baseline="0" dirty="0">
                <a:solidFill>
                  <a:schemeClr val="tx1"/>
                </a:solidFill>
                <a:latin typeface="+mn-lt"/>
                <a:ea typeface="+mn-ea"/>
                <a:cs typeface="+mn-cs"/>
              </a:rPr>
              <a:t>glycoproteins</a:t>
            </a:r>
            <a:r>
              <a:rPr lang="en-US" sz="1200" b="0" kern="1200" baseline="0" dirty="0">
                <a:solidFill>
                  <a:schemeClr val="tx1"/>
                </a:solidFill>
                <a:latin typeface="+mn-lt"/>
                <a:ea typeface="+mn-ea"/>
                <a:cs typeface="+mn-cs"/>
              </a:rPr>
              <a:t> because they combine </a:t>
            </a:r>
            <a:r>
              <a:rPr lang="en-US" sz="1200" kern="1200" baseline="0" dirty="0">
                <a:solidFill>
                  <a:schemeClr val="tx1"/>
                </a:solidFill>
                <a:latin typeface="+mn-lt"/>
                <a:ea typeface="+mn-ea"/>
                <a:cs typeface="+mn-cs"/>
              </a:rPr>
              <a:t>with a sugar molecule, are unique to each individual. They act as markers, called </a:t>
            </a:r>
            <a:r>
              <a:rPr lang="en-US" sz="1200" b="1" kern="1200" baseline="0" dirty="0">
                <a:solidFill>
                  <a:schemeClr val="tx1"/>
                </a:solidFill>
                <a:latin typeface="+mn-lt"/>
                <a:ea typeface="+mn-ea"/>
                <a:cs typeface="+mn-cs"/>
              </a:rPr>
              <a:t>antigens</a:t>
            </a:r>
            <a:r>
              <a:rPr lang="en-US" sz="1200" b="0" kern="1200" baseline="0" dirty="0">
                <a:solidFill>
                  <a:schemeClr val="tx1"/>
                </a:solidFill>
                <a:latin typeface="+mn-lt"/>
                <a:ea typeface="+mn-ea"/>
                <a:cs typeface="+mn-cs"/>
              </a:rPr>
              <a:t>, </a:t>
            </a:r>
            <a:r>
              <a:rPr lang="en-US" sz="1200" kern="1200" baseline="0" dirty="0">
                <a:solidFill>
                  <a:schemeClr val="tx1"/>
                </a:solidFill>
                <a:latin typeface="+mn-lt"/>
                <a:ea typeface="+mn-ea"/>
                <a:cs typeface="+mn-cs"/>
              </a:rPr>
              <a:t>which allow the immune system to distinguish between the body’s own ‘self’ cells, and foreign invaders (‘non-self’ cells).</a:t>
            </a:r>
            <a:endParaRPr lang="en-US" dirty="0"/>
          </a:p>
        </p:txBody>
      </p:sp>
      <p:sp>
        <p:nvSpPr>
          <p:cNvPr id="4" name="Slide Number Placeholder 3"/>
          <p:cNvSpPr>
            <a:spLocks noGrp="1"/>
          </p:cNvSpPr>
          <p:nvPr>
            <p:ph type="sldNum" sz="quarter" idx="5"/>
          </p:nvPr>
        </p:nvSpPr>
        <p:spPr/>
        <p:txBody>
          <a:bodyPr/>
          <a:lstStyle/>
          <a:p>
            <a:pPr>
              <a:defRPr/>
            </a:pPr>
            <a:fld id="{8265CCF7-C6F2-435C-AB36-78C649E2A501}" type="slidenum">
              <a:rPr lang="en-US" smtClean="0"/>
              <a:pPr>
                <a:defRPr/>
              </a:pPr>
              <a:t>7</a:t>
            </a:fld>
            <a:endParaRPr lang="en-US" dirty="0"/>
          </a:p>
        </p:txBody>
      </p:sp>
    </p:spTree>
    <p:extLst>
      <p:ext uri="{BB962C8B-B14F-4D97-AF65-F5344CB8AC3E}">
        <p14:creationId xmlns:p14="http://schemas.microsoft.com/office/powerpoint/2010/main" val="13069739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b="0" dirty="0"/>
          </a:p>
        </p:txBody>
      </p:sp>
      <p:sp>
        <p:nvSpPr>
          <p:cNvPr id="4" name="Slide Number Placeholder 3"/>
          <p:cNvSpPr>
            <a:spLocks noGrp="1"/>
          </p:cNvSpPr>
          <p:nvPr>
            <p:ph type="sldNum" sz="quarter" idx="5"/>
          </p:nvPr>
        </p:nvSpPr>
        <p:spPr/>
        <p:txBody>
          <a:bodyPr/>
          <a:lstStyle/>
          <a:p>
            <a:pPr>
              <a:defRPr/>
            </a:pPr>
            <a:fld id="{8265CCF7-C6F2-435C-AB36-78C649E2A501}" type="slidenum">
              <a:rPr lang="en-US" smtClean="0"/>
              <a:pPr>
                <a:defRPr/>
              </a:pPr>
              <a:t>8</a:t>
            </a:fld>
            <a:endParaRPr lang="en-US" dirty="0"/>
          </a:p>
        </p:txBody>
      </p:sp>
    </p:spTree>
    <p:extLst>
      <p:ext uri="{BB962C8B-B14F-4D97-AF65-F5344CB8AC3E}">
        <p14:creationId xmlns:p14="http://schemas.microsoft.com/office/powerpoint/2010/main" val="19203264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sz="1200" kern="1200" baseline="0" dirty="0">
                <a:solidFill>
                  <a:schemeClr val="tx1"/>
                </a:solidFill>
                <a:latin typeface="+mn-lt"/>
                <a:ea typeface="+mn-ea"/>
                <a:cs typeface="+mn-cs"/>
              </a:rPr>
              <a:t>Materials can move across membranes either with or without the expenditure of energy.</a:t>
            </a:r>
          </a:p>
          <a:p>
            <a:r>
              <a:rPr lang="en-US" sz="1200" kern="1200" baseline="0" dirty="0">
                <a:solidFill>
                  <a:schemeClr val="tx1"/>
                </a:solidFill>
                <a:latin typeface="+mn-lt"/>
                <a:ea typeface="+mn-ea"/>
                <a:cs typeface="+mn-cs"/>
              </a:rPr>
              <a:t>Movement that does not require energy is called </a:t>
            </a:r>
            <a:r>
              <a:rPr lang="en-US" sz="1200" b="1" kern="1200" baseline="0" dirty="0">
                <a:solidFill>
                  <a:schemeClr val="tx1"/>
                </a:solidFill>
                <a:latin typeface="+mn-lt"/>
                <a:ea typeface="+mn-ea"/>
                <a:cs typeface="+mn-cs"/>
              </a:rPr>
              <a:t>passive transport.</a:t>
            </a:r>
          </a:p>
          <a:p>
            <a:r>
              <a:rPr lang="en-US" sz="1200" kern="1200" baseline="0" dirty="0">
                <a:solidFill>
                  <a:schemeClr val="tx1"/>
                </a:solidFill>
                <a:latin typeface="+mn-lt"/>
                <a:ea typeface="+mn-ea"/>
                <a:cs typeface="+mn-cs"/>
              </a:rPr>
              <a:t>Diffusion is the net movement of particles from a region of high particle concentration to a region of lower particle concentration. </a:t>
            </a:r>
          </a:p>
          <a:p>
            <a:r>
              <a:rPr lang="en-US" sz="1200" kern="1200" baseline="0" dirty="0">
                <a:solidFill>
                  <a:schemeClr val="tx1"/>
                </a:solidFill>
                <a:latin typeface="+mn-lt"/>
                <a:ea typeface="+mn-ea"/>
                <a:cs typeface="+mn-cs"/>
              </a:rPr>
              <a:t>The difference in particle concentration between the two regions is called the </a:t>
            </a:r>
            <a:r>
              <a:rPr lang="en-US" sz="1200" b="1" kern="1200" baseline="0" dirty="0">
                <a:solidFill>
                  <a:schemeClr val="tx1"/>
                </a:solidFill>
                <a:latin typeface="+mn-lt"/>
                <a:ea typeface="+mn-ea"/>
                <a:cs typeface="+mn-cs"/>
              </a:rPr>
              <a:t>concentration gradient. Diffusion always takes place wherever </a:t>
            </a:r>
            <a:r>
              <a:rPr lang="en-US" sz="1200" kern="1200" baseline="0" dirty="0">
                <a:solidFill>
                  <a:schemeClr val="tx1"/>
                </a:solidFill>
                <a:latin typeface="+mn-lt"/>
                <a:ea typeface="+mn-ea"/>
                <a:cs typeface="+mn-cs"/>
              </a:rPr>
              <a:t>such a gradient exists and continues until the particles are distributed evenly throughout the system. When that happens, </a:t>
            </a:r>
            <a:r>
              <a:rPr lang="en-US" sz="1200" b="0" kern="1200" baseline="0" dirty="0">
                <a:solidFill>
                  <a:schemeClr val="tx1"/>
                </a:solidFill>
                <a:latin typeface="+mn-lt"/>
                <a:ea typeface="+mn-ea"/>
                <a:cs typeface="+mn-cs"/>
              </a:rPr>
              <a:t>equilibrium is said to be reached.  </a:t>
            </a:r>
            <a:r>
              <a:rPr lang="en-US" sz="1200" kern="1200" baseline="0" dirty="0">
                <a:solidFill>
                  <a:schemeClr val="tx1"/>
                </a:solidFill>
                <a:latin typeface="+mn-lt"/>
                <a:ea typeface="+mn-ea"/>
                <a:cs typeface="+mn-cs"/>
              </a:rPr>
              <a:t>Particles will continue to move randomly, but at equilibrium they move at equal rates in all directions.</a:t>
            </a:r>
          </a:p>
          <a:p>
            <a:endParaRPr lang="en-US" b="0" dirty="0"/>
          </a:p>
        </p:txBody>
      </p:sp>
      <p:sp>
        <p:nvSpPr>
          <p:cNvPr id="4" name="Slide Number Placeholder 3"/>
          <p:cNvSpPr>
            <a:spLocks noGrp="1"/>
          </p:cNvSpPr>
          <p:nvPr>
            <p:ph type="sldNum" sz="quarter" idx="5"/>
          </p:nvPr>
        </p:nvSpPr>
        <p:spPr/>
        <p:txBody>
          <a:bodyPr/>
          <a:lstStyle/>
          <a:p>
            <a:pPr>
              <a:defRPr/>
            </a:pPr>
            <a:fld id="{8265CCF7-C6F2-435C-AB36-78C649E2A501}" type="slidenum">
              <a:rPr lang="en-US" smtClean="0"/>
              <a:pPr>
                <a:defRPr/>
              </a:pPr>
              <a:t>9</a:t>
            </a:fld>
            <a:endParaRPr lang="en-US" dirty="0"/>
          </a:p>
        </p:txBody>
      </p:sp>
    </p:spTree>
    <p:extLst>
      <p:ext uri="{BB962C8B-B14F-4D97-AF65-F5344CB8AC3E}">
        <p14:creationId xmlns:p14="http://schemas.microsoft.com/office/powerpoint/2010/main" val="15319508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bodyPr>
          <a:lstStyle/>
          <a:p>
            <a:r>
              <a:rPr lang="en-AU" sz="1200" b="0" i="0" u="none" strike="noStrike" kern="1200" baseline="0" dirty="0">
                <a:solidFill>
                  <a:schemeClr val="tx1"/>
                </a:solidFill>
                <a:latin typeface="+mn-lt"/>
                <a:ea typeface="+mn-ea"/>
                <a:cs typeface="+mn-cs"/>
              </a:rPr>
              <a:t>Substances like oxygen, water, carbon dioxide and other small, uncharged particles move easily through the plasma membrane of a cell by simple diffusion. Figure 8.9 shows these particles passing between the phospholipid molecules from a high to a low concentration. Oxygen always tends to diffuse into cells because their use of oxygen in cellular respiration maintains a low concentration in the cytoplasm.</a:t>
            </a:r>
            <a:endParaRPr lang="en-US" b="0" dirty="0"/>
          </a:p>
        </p:txBody>
      </p:sp>
      <p:sp>
        <p:nvSpPr>
          <p:cNvPr id="4" name="Slide Number Placeholder 3"/>
          <p:cNvSpPr>
            <a:spLocks noGrp="1"/>
          </p:cNvSpPr>
          <p:nvPr>
            <p:ph type="sldNum" sz="quarter" idx="5"/>
          </p:nvPr>
        </p:nvSpPr>
        <p:spPr/>
        <p:txBody>
          <a:bodyPr/>
          <a:lstStyle/>
          <a:p>
            <a:pPr>
              <a:defRPr/>
            </a:pPr>
            <a:fld id="{8265CCF7-C6F2-435C-AB36-78C649E2A501}" type="slidenum">
              <a:rPr lang="en-US" smtClean="0"/>
              <a:pPr>
                <a:defRPr/>
              </a:pPr>
              <a:t>10</a:t>
            </a:fld>
            <a:endParaRPr lang="en-US" dirty="0"/>
          </a:p>
        </p:txBody>
      </p:sp>
    </p:spTree>
    <p:extLst>
      <p:ext uri="{BB962C8B-B14F-4D97-AF65-F5344CB8AC3E}">
        <p14:creationId xmlns:p14="http://schemas.microsoft.com/office/powerpoint/2010/main" val="25051893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normAutofit/>
          </a:bodyPr>
          <a:lstStyle/>
          <a:p>
            <a:r>
              <a:rPr lang="en-US" sz="1200" kern="1200" baseline="0" dirty="0">
                <a:solidFill>
                  <a:schemeClr val="tx1"/>
                </a:solidFill>
                <a:latin typeface="+mn-lt"/>
                <a:ea typeface="+mn-ea"/>
                <a:cs typeface="+mn-cs"/>
              </a:rPr>
              <a:t>Charged particles, such as sodium and chloride ions, and relatively large molecules, such as glucose and amino acids, do not pass through the phospholipid bilayer readily. There must be some way to help them enter the cell. In the plasma membrane, certain proteins assist such particles to diffuse into the cell. This process is called </a:t>
            </a:r>
            <a:r>
              <a:rPr lang="en-US" sz="1200" b="1" kern="1200" baseline="0" dirty="0">
                <a:solidFill>
                  <a:schemeClr val="tx1"/>
                </a:solidFill>
                <a:latin typeface="+mn-lt"/>
                <a:ea typeface="+mn-ea"/>
                <a:cs typeface="+mn-cs"/>
              </a:rPr>
              <a:t>facilitated diffusion.</a:t>
            </a:r>
          </a:p>
          <a:p>
            <a:endParaRPr lang="en-US" sz="1200" b="1" kern="1200" baseline="0" dirty="0">
              <a:solidFill>
                <a:schemeClr val="tx1"/>
              </a:solidFill>
              <a:latin typeface="+mn-lt"/>
              <a:ea typeface="+mn-ea"/>
              <a:cs typeface="+mn-cs"/>
            </a:endParaRPr>
          </a:p>
          <a:p>
            <a:r>
              <a:rPr lang="en-AU" sz="1200" b="0" i="0" u="none" strike="noStrike" kern="1200" baseline="0" dirty="0">
                <a:solidFill>
                  <a:schemeClr val="tx1"/>
                </a:solidFill>
                <a:latin typeface="+mn-lt"/>
                <a:ea typeface="+mn-ea"/>
                <a:cs typeface="+mn-cs"/>
              </a:rPr>
              <a:t>Two types of protein are involved in facilitated diffusion: </a:t>
            </a:r>
            <a:r>
              <a:rPr lang="en-AU" sz="1200" b="1" i="0" u="none" strike="noStrike" kern="1200" baseline="0" dirty="0">
                <a:solidFill>
                  <a:schemeClr val="tx1"/>
                </a:solidFill>
                <a:latin typeface="+mn-lt"/>
                <a:ea typeface="+mn-ea"/>
                <a:cs typeface="+mn-cs"/>
              </a:rPr>
              <a:t>carrier proteins </a:t>
            </a:r>
            <a:r>
              <a:rPr lang="en-AU" sz="1200" b="0" i="0" u="none" strike="noStrike" kern="1200" baseline="0" dirty="0">
                <a:solidFill>
                  <a:schemeClr val="tx1"/>
                </a:solidFill>
                <a:latin typeface="+mn-lt"/>
                <a:ea typeface="+mn-ea"/>
                <a:cs typeface="+mn-cs"/>
              </a:rPr>
              <a:t>and </a:t>
            </a:r>
            <a:r>
              <a:rPr lang="en-AU" sz="1200" b="1" i="0" u="none" strike="noStrike" kern="1200" baseline="0" dirty="0">
                <a:solidFill>
                  <a:schemeClr val="tx1"/>
                </a:solidFill>
                <a:latin typeface="+mn-lt"/>
                <a:ea typeface="+mn-ea"/>
                <a:cs typeface="+mn-cs"/>
              </a:rPr>
              <a:t>channel proteins</a:t>
            </a:r>
            <a:r>
              <a:rPr lang="en-AU" sz="1200" b="0" i="0" u="none" strike="noStrike" kern="1200" baseline="0" dirty="0">
                <a:solidFill>
                  <a:schemeClr val="tx1"/>
                </a:solidFill>
                <a:latin typeface="+mn-lt"/>
                <a:ea typeface="+mn-ea"/>
                <a:cs typeface="+mn-cs"/>
              </a:rPr>
              <a:t>. Carrier proteins bind to specific molecules on one side of the membrane, change shape and release the substance on the other side (Figure 8.10). An example is the glucose transporter protein, which is located in the plasma membrane of all mammalian cell types and carries glucose in either direction, depending on the direction of the concentration gradient.</a:t>
            </a:r>
          </a:p>
          <a:p>
            <a:endParaRPr lang="en-AU" sz="1200" b="0" i="0" u="none" strike="noStrike" kern="1200" baseline="0" dirty="0">
              <a:solidFill>
                <a:schemeClr val="tx1"/>
              </a:solidFill>
              <a:latin typeface="+mn-lt"/>
              <a:ea typeface="+mn-ea"/>
              <a:cs typeface="+mn-cs"/>
            </a:endParaRPr>
          </a:p>
          <a:p>
            <a:r>
              <a:rPr lang="en-AU" sz="1200" b="0" i="0" u="none" strike="noStrike" kern="1200" baseline="0" dirty="0">
                <a:solidFill>
                  <a:schemeClr val="tx1"/>
                </a:solidFill>
                <a:latin typeface="+mn-lt"/>
                <a:ea typeface="+mn-ea"/>
                <a:cs typeface="+mn-cs"/>
              </a:rPr>
              <a:t>Channel proteins form narrow passageways through which small ions can diffuse rapidly from a high ion concentration to a lower ion concentration (Figure 8.11). Only ions of a specific size and shape can pass through a particular channel protein.</a:t>
            </a:r>
            <a:endParaRPr lang="en-US" b="0" dirty="0"/>
          </a:p>
        </p:txBody>
      </p:sp>
      <p:sp>
        <p:nvSpPr>
          <p:cNvPr id="4" name="Slide Number Placeholder 3"/>
          <p:cNvSpPr>
            <a:spLocks noGrp="1"/>
          </p:cNvSpPr>
          <p:nvPr>
            <p:ph type="sldNum" sz="quarter" idx="5"/>
          </p:nvPr>
        </p:nvSpPr>
        <p:spPr/>
        <p:txBody>
          <a:bodyPr/>
          <a:lstStyle/>
          <a:p>
            <a:pPr>
              <a:defRPr/>
            </a:pPr>
            <a:fld id="{8265CCF7-C6F2-435C-AB36-78C649E2A501}" type="slidenum">
              <a:rPr lang="en-US" smtClean="0"/>
              <a:pPr>
                <a:defRPr/>
              </a:pPr>
              <a:t>11</a:t>
            </a:fld>
            <a:endParaRPr lang="en-US" dirty="0"/>
          </a:p>
        </p:txBody>
      </p:sp>
    </p:spTree>
    <p:extLst>
      <p:ext uri="{BB962C8B-B14F-4D97-AF65-F5344CB8AC3E}">
        <p14:creationId xmlns:p14="http://schemas.microsoft.com/office/powerpoint/2010/main" val="26201523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b="0" dirty="0"/>
          </a:p>
        </p:txBody>
      </p:sp>
      <p:sp>
        <p:nvSpPr>
          <p:cNvPr id="4" name="Slide Number Placeholder 3"/>
          <p:cNvSpPr>
            <a:spLocks noGrp="1"/>
          </p:cNvSpPr>
          <p:nvPr>
            <p:ph type="sldNum" sz="quarter" idx="5"/>
          </p:nvPr>
        </p:nvSpPr>
        <p:spPr/>
        <p:txBody>
          <a:bodyPr/>
          <a:lstStyle/>
          <a:p>
            <a:pPr>
              <a:defRPr/>
            </a:pPr>
            <a:fld id="{8265CCF7-C6F2-435C-AB36-78C649E2A501}" type="slidenum">
              <a:rPr lang="en-US" smtClean="0"/>
              <a:pPr>
                <a:defRPr/>
              </a:pPr>
              <a:t>12</a:t>
            </a:fld>
            <a:endParaRPr lang="en-US" dirty="0"/>
          </a:p>
        </p:txBody>
      </p:sp>
    </p:spTree>
    <p:extLst>
      <p:ext uri="{BB962C8B-B14F-4D97-AF65-F5344CB8AC3E}">
        <p14:creationId xmlns:p14="http://schemas.microsoft.com/office/powerpoint/2010/main" val="42506845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bodyPr>
          <a:lstStyle/>
          <a:p>
            <a:r>
              <a:rPr lang="en-AU" sz="1200" b="0" i="0" u="none" strike="noStrike" kern="1200" baseline="0" dirty="0">
                <a:solidFill>
                  <a:schemeClr val="tx1"/>
                </a:solidFill>
                <a:latin typeface="+mn-lt"/>
                <a:ea typeface="+mn-ea"/>
                <a:cs typeface="+mn-cs"/>
              </a:rPr>
              <a:t>Water is the medium in which biochemical processes take place,  water transports materials in </a:t>
            </a:r>
            <a:r>
              <a:rPr lang="en-AU" sz="1200" b="1" i="0" u="none" strike="noStrike" kern="1200" baseline="0" dirty="0">
                <a:solidFill>
                  <a:schemeClr val="tx1"/>
                </a:solidFill>
                <a:latin typeface="+mn-lt"/>
                <a:ea typeface="+mn-ea"/>
                <a:cs typeface="+mn-cs"/>
              </a:rPr>
              <a:t>solution</a:t>
            </a:r>
            <a:r>
              <a:rPr lang="en-AU" sz="1200" b="0" i="0" u="none" strike="noStrike" kern="1200" baseline="0" dirty="0">
                <a:solidFill>
                  <a:schemeClr val="tx1"/>
                </a:solidFill>
                <a:latin typeface="+mn-lt"/>
                <a:ea typeface="+mn-ea"/>
                <a:cs typeface="+mn-cs"/>
              </a:rPr>
              <a:t>, it helps keep cells in shape and it forms the fluid that bathes tissues. Water is described as the universal </a:t>
            </a:r>
            <a:r>
              <a:rPr lang="en-AU" sz="1200" b="1" i="0" u="none" strike="noStrike" kern="1200" baseline="0" dirty="0">
                <a:solidFill>
                  <a:schemeClr val="tx1"/>
                </a:solidFill>
                <a:latin typeface="+mn-lt"/>
                <a:ea typeface="+mn-ea"/>
                <a:cs typeface="+mn-cs"/>
              </a:rPr>
              <a:t>solvent</a:t>
            </a:r>
            <a:r>
              <a:rPr lang="en-AU" sz="1200" b="0" i="0" u="none" strike="noStrike" kern="1200" baseline="0" dirty="0">
                <a:solidFill>
                  <a:schemeClr val="tx1"/>
                </a:solidFill>
                <a:latin typeface="+mn-lt"/>
                <a:ea typeface="+mn-ea"/>
                <a:cs typeface="+mn-cs"/>
              </a:rPr>
              <a:t>. If you add sugar or salt to water, you are adding </a:t>
            </a:r>
            <a:r>
              <a:rPr lang="en-AU" sz="1200" b="1" i="0" u="none" strike="noStrike" kern="1200" baseline="0" dirty="0">
                <a:solidFill>
                  <a:schemeClr val="tx1"/>
                </a:solidFill>
                <a:latin typeface="+mn-lt"/>
                <a:ea typeface="+mn-ea"/>
                <a:cs typeface="+mn-cs"/>
              </a:rPr>
              <a:t>solute </a:t>
            </a:r>
            <a:r>
              <a:rPr lang="en-AU" sz="1200" b="0" i="0" u="none" strike="noStrike" kern="1200" baseline="0" dirty="0">
                <a:solidFill>
                  <a:schemeClr val="tx1"/>
                </a:solidFill>
                <a:latin typeface="+mn-lt"/>
                <a:ea typeface="+mn-ea"/>
                <a:cs typeface="+mn-cs"/>
              </a:rPr>
              <a:t>to solvent and making a solution. A dilute solution has a relatively high concentration of water molecules compared to solute particles dissolved in it, whereas a concentrated solution has a low concentration of solvent molecules and a high concentration of solute particles (Figure 8.12).</a:t>
            </a:r>
            <a:endParaRPr lang="en-US" b="0" dirty="0"/>
          </a:p>
        </p:txBody>
      </p:sp>
      <p:sp>
        <p:nvSpPr>
          <p:cNvPr id="4" name="Slide Number Placeholder 3"/>
          <p:cNvSpPr>
            <a:spLocks noGrp="1"/>
          </p:cNvSpPr>
          <p:nvPr>
            <p:ph type="sldNum" sz="quarter" idx="5"/>
          </p:nvPr>
        </p:nvSpPr>
        <p:spPr/>
        <p:txBody>
          <a:bodyPr/>
          <a:lstStyle/>
          <a:p>
            <a:pPr>
              <a:defRPr/>
            </a:pPr>
            <a:fld id="{8265CCF7-C6F2-435C-AB36-78C649E2A501}" type="slidenum">
              <a:rPr lang="en-US" smtClean="0"/>
              <a:pPr>
                <a:defRPr/>
              </a:pPr>
              <a:t>13</a:t>
            </a:fld>
            <a:endParaRPr lang="en-US" dirty="0"/>
          </a:p>
        </p:txBody>
      </p:sp>
    </p:spTree>
    <p:extLst>
      <p:ext uri="{BB962C8B-B14F-4D97-AF65-F5344CB8AC3E}">
        <p14:creationId xmlns:p14="http://schemas.microsoft.com/office/powerpoint/2010/main" val="11049157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bodyPr>
          <a:lstStyle/>
          <a:p>
            <a:r>
              <a:rPr lang="en-AU" sz="1200" b="0" i="0" u="none" strike="noStrike" kern="1200" baseline="0" dirty="0">
                <a:solidFill>
                  <a:schemeClr val="tx1"/>
                </a:solidFill>
                <a:latin typeface="+mn-lt"/>
                <a:ea typeface="+mn-ea"/>
                <a:cs typeface="+mn-cs"/>
              </a:rPr>
              <a:t>Plasma membranes are selectively (differentially) permeable, meaning that water molecules pass through them easily, but solutes do not. If the concentration of water molecules inside a cell is lower than the concentration outside, water will diffuse into the cell, until a balance or equilibrium is reached. This process is called </a:t>
            </a:r>
            <a:r>
              <a:rPr lang="en-AU" sz="1200" b="1" i="0" u="none" strike="noStrike" kern="1200" baseline="0" dirty="0">
                <a:solidFill>
                  <a:schemeClr val="tx1"/>
                </a:solidFill>
                <a:latin typeface="+mn-lt"/>
                <a:ea typeface="+mn-ea"/>
                <a:cs typeface="+mn-cs"/>
              </a:rPr>
              <a:t>osmosis</a:t>
            </a:r>
            <a:r>
              <a:rPr lang="en-AU" sz="1200" b="0" i="0" u="none" strike="noStrike" kern="1200" baseline="0" dirty="0">
                <a:solidFill>
                  <a:schemeClr val="tx1"/>
                </a:solidFill>
                <a:latin typeface="+mn-lt"/>
                <a:ea typeface="+mn-ea"/>
                <a:cs typeface="+mn-cs"/>
              </a:rPr>
              <a:t>. By definition, osmosis is the diffusion of water across a selectively permeable membrane from an area of high water concentration (low solute) to an area of low water concentration (high solute). Osmosis is a special type of diffusion and, like diffusion, requires no input of energy, as water is moving down its concentration gradient (Figure 8.13).</a:t>
            </a:r>
            <a:endParaRPr lang="en-US" b="0" dirty="0"/>
          </a:p>
        </p:txBody>
      </p:sp>
      <p:sp>
        <p:nvSpPr>
          <p:cNvPr id="4" name="Slide Number Placeholder 3"/>
          <p:cNvSpPr>
            <a:spLocks noGrp="1"/>
          </p:cNvSpPr>
          <p:nvPr>
            <p:ph type="sldNum" sz="quarter" idx="5"/>
          </p:nvPr>
        </p:nvSpPr>
        <p:spPr/>
        <p:txBody>
          <a:bodyPr/>
          <a:lstStyle/>
          <a:p>
            <a:pPr>
              <a:defRPr/>
            </a:pPr>
            <a:fld id="{8265CCF7-C6F2-435C-AB36-78C649E2A501}" type="slidenum">
              <a:rPr lang="en-US" smtClean="0"/>
              <a:pPr>
                <a:defRPr/>
              </a:pPr>
              <a:t>14</a:t>
            </a:fld>
            <a:endParaRPr lang="en-US" dirty="0"/>
          </a:p>
        </p:txBody>
      </p:sp>
    </p:spTree>
    <p:extLst>
      <p:ext uri="{BB962C8B-B14F-4D97-AF65-F5344CB8AC3E}">
        <p14:creationId xmlns:p14="http://schemas.microsoft.com/office/powerpoint/2010/main" val="22793130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sz="1200" b="0" kern="1200" baseline="0" dirty="0">
                <a:solidFill>
                  <a:schemeClr val="tx1"/>
                </a:solidFill>
                <a:latin typeface="+mn-lt"/>
                <a:ea typeface="+mn-ea"/>
                <a:cs typeface="+mn-cs"/>
              </a:rPr>
              <a:t>If the fluids inside and outside a cell are of equal solute concentration, the external solution is said to be isotonic (‘iso’ = same) to the cells; water molecules jostle on both sides of the membrane, moving in both directions equally. </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When cells are surrounded by a solution that contains a lower solute concentration than their cytoplasm, the external solution is said to be hypotonic to the cells (‘hypo’ 5 lower). Water molecules will diffuse through the membrane into the cells. The reverse applies if the cells are surrounded by a solution of higher solute concentration; the external solution is hypertonic (‘hyper’ 5 higher) to the cells and water molecules will diffuse out.</a:t>
            </a:r>
            <a:endParaRPr lang="en-US" b="0" dirty="0"/>
          </a:p>
        </p:txBody>
      </p:sp>
      <p:sp>
        <p:nvSpPr>
          <p:cNvPr id="4" name="Slide Number Placeholder 3"/>
          <p:cNvSpPr>
            <a:spLocks noGrp="1"/>
          </p:cNvSpPr>
          <p:nvPr>
            <p:ph type="sldNum" sz="quarter" idx="5"/>
          </p:nvPr>
        </p:nvSpPr>
        <p:spPr/>
        <p:txBody>
          <a:bodyPr/>
          <a:lstStyle/>
          <a:p>
            <a:pPr>
              <a:defRPr/>
            </a:pPr>
            <a:fld id="{8265CCF7-C6F2-435C-AB36-78C649E2A501}" type="slidenum">
              <a:rPr lang="en-US" smtClean="0"/>
              <a:pPr>
                <a:defRPr/>
              </a:pPr>
              <a:t>15</a:t>
            </a:fld>
            <a:endParaRPr lang="en-US" dirty="0"/>
          </a:p>
        </p:txBody>
      </p:sp>
    </p:spTree>
    <p:extLst>
      <p:ext uri="{BB962C8B-B14F-4D97-AF65-F5344CB8AC3E}">
        <p14:creationId xmlns:p14="http://schemas.microsoft.com/office/powerpoint/2010/main" val="35286898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bodyPr>
          <a:lstStyle/>
          <a:p>
            <a:r>
              <a:rPr lang="en-AU" sz="1200" b="0" i="0" u="none" strike="noStrike" kern="1200" baseline="0" dirty="0">
                <a:solidFill>
                  <a:schemeClr val="tx1"/>
                </a:solidFill>
                <a:latin typeface="+mn-lt"/>
                <a:ea typeface="+mn-ea"/>
                <a:cs typeface="+mn-cs"/>
              </a:rPr>
              <a:t>The cells of unicellular eukaryotes and multicellular organisms, such as animals, are surrounded only by a plasma membrane, unlike the cells of plants, fungi and bacteria, where a cell wall surrounds the plasma membrane. Hypertonic solutions, like fresh water, pose a special problem for these organisms. Water moving into their cells by osmosis can cause the fluid plasma membrane to swell and eventually burst, killing the organism. Unicellular organisms such as </a:t>
            </a:r>
            <a:r>
              <a:rPr lang="en-AU" sz="1200" b="0" i="1" u="none" strike="noStrike" kern="1200" baseline="0" dirty="0">
                <a:solidFill>
                  <a:schemeClr val="tx1"/>
                </a:solidFill>
                <a:latin typeface="+mn-lt"/>
                <a:ea typeface="+mn-ea"/>
                <a:cs typeface="+mn-cs"/>
              </a:rPr>
              <a:t>Amoeba </a:t>
            </a:r>
            <a:r>
              <a:rPr lang="en-AU" sz="1200" b="0" i="0" u="none" strike="noStrike" kern="1200" baseline="0" dirty="0">
                <a:solidFill>
                  <a:schemeClr val="tx1"/>
                </a:solidFill>
                <a:latin typeface="+mn-lt"/>
                <a:ea typeface="+mn-ea"/>
                <a:cs typeface="+mn-cs"/>
              </a:rPr>
              <a:t>that live in fresh water have important regulatory mechanisms to combat these problems. They are able to remove excess water by forming little pools of water in cytoplasmic organelles called </a:t>
            </a:r>
            <a:r>
              <a:rPr lang="en-AU" sz="1200" b="1" i="0" u="none" strike="noStrike" kern="1200" baseline="0" dirty="0">
                <a:solidFill>
                  <a:schemeClr val="tx1"/>
                </a:solidFill>
                <a:latin typeface="+mn-lt"/>
                <a:ea typeface="+mn-ea"/>
                <a:cs typeface="+mn-cs"/>
              </a:rPr>
              <a:t>contractile vacuoles </a:t>
            </a:r>
            <a:r>
              <a:rPr lang="en-AU" sz="1200" b="0" i="0" u="none" strike="noStrike" kern="1200" baseline="0" dirty="0">
                <a:solidFill>
                  <a:schemeClr val="tx1"/>
                </a:solidFill>
                <a:latin typeface="+mn-lt"/>
                <a:ea typeface="+mn-ea"/>
                <a:cs typeface="+mn-cs"/>
              </a:rPr>
              <a:t>(Figure 8.15). When these vacuoles stretch to a certain point, they contract and expel the water.</a:t>
            </a:r>
            <a:endParaRPr lang="en-US" b="0" dirty="0"/>
          </a:p>
        </p:txBody>
      </p:sp>
      <p:sp>
        <p:nvSpPr>
          <p:cNvPr id="4" name="Slide Number Placeholder 3"/>
          <p:cNvSpPr>
            <a:spLocks noGrp="1"/>
          </p:cNvSpPr>
          <p:nvPr>
            <p:ph type="sldNum" sz="quarter" idx="5"/>
          </p:nvPr>
        </p:nvSpPr>
        <p:spPr/>
        <p:txBody>
          <a:bodyPr/>
          <a:lstStyle/>
          <a:p>
            <a:pPr>
              <a:defRPr/>
            </a:pPr>
            <a:fld id="{8265CCF7-C6F2-435C-AB36-78C649E2A501}" type="slidenum">
              <a:rPr lang="en-US" smtClean="0"/>
              <a:pPr>
                <a:defRPr/>
              </a:pPr>
              <a:t>16</a:t>
            </a:fld>
            <a:endParaRPr lang="en-US" dirty="0"/>
          </a:p>
        </p:txBody>
      </p:sp>
    </p:spTree>
    <p:extLst>
      <p:ext uri="{BB962C8B-B14F-4D97-AF65-F5344CB8AC3E}">
        <p14:creationId xmlns:p14="http://schemas.microsoft.com/office/powerpoint/2010/main" val="26453628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normAutofit/>
          </a:bodyPr>
          <a:lstStyle/>
          <a:p>
            <a:r>
              <a:rPr lang="en-AU" sz="1200" b="0" i="0" u="none" strike="noStrike" kern="1200" baseline="0" dirty="0">
                <a:solidFill>
                  <a:schemeClr val="tx1"/>
                </a:solidFill>
                <a:latin typeface="+mn-lt"/>
                <a:ea typeface="+mn-ea"/>
                <a:cs typeface="+mn-cs"/>
              </a:rPr>
              <a:t>You may have been in hospital and seen patients hooked up to an intravenous drip. This drip is connected directly to their circulatory system, adding fluid to their blood plasma. It is important that fluid in the drip has a solute concentration equal to blood plasma (isotonic). In this situation, water will enter and leave blood cells at the same rate, maintaining their ideal water concentration.</a:t>
            </a:r>
          </a:p>
          <a:p>
            <a:r>
              <a:rPr lang="en-AU" sz="1200" b="0" i="0" u="none" strike="noStrike" kern="1200" baseline="0" dirty="0">
                <a:solidFill>
                  <a:schemeClr val="tx1"/>
                </a:solidFill>
                <a:latin typeface="+mn-lt"/>
                <a:ea typeface="+mn-ea"/>
                <a:cs typeface="+mn-cs"/>
              </a:rPr>
              <a:t>What will happen if the intravenous drip contains salty water? If the plasma surrounding blood cells becomes hypertonic, water will move out of the cells by osmosis and, in a process called </a:t>
            </a:r>
            <a:r>
              <a:rPr lang="en-AU" sz="1200" b="1" i="0" u="none" strike="noStrike" kern="1200" baseline="0" dirty="0">
                <a:solidFill>
                  <a:schemeClr val="tx1"/>
                </a:solidFill>
                <a:latin typeface="+mn-lt"/>
                <a:ea typeface="+mn-ea"/>
                <a:cs typeface="+mn-cs"/>
              </a:rPr>
              <a:t>crenation</a:t>
            </a:r>
            <a:r>
              <a:rPr lang="en-AU" sz="1200" b="0" i="0" u="none" strike="noStrike" kern="1200" baseline="0" dirty="0">
                <a:solidFill>
                  <a:schemeClr val="tx1"/>
                </a:solidFill>
                <a:latin typeface="+mn-lt"/>
                <a:ea typeface="+mn-ea"/>
                <a:cs typeface="+mn-cs"/>
              </a:rPr>
              <a:t>, they will shrink and become crinkled (Figure 8.16). The resulting small, shrunken blood cells tend to stick together, clogging small veins and arteries, and preventing oxygen reaching body tissues. If enough blockages occur, the results may be fatal. It is equally dangerous for an intravenous solution to be hypotonic. If the blood plasma is diluted by water, the blood cells will swell and burst. This condition is called </a:t>
            </a:r>
            <a:r>
              <a:rPr lang="en-AU" sz="1200" b="1" i="0" u="none" strike="noStrike" kern="1200" baseline="0" dirty="0">
                <a:solidFill>
                  <a:schemeClr val="tx1"/>
                </a:solidFill>
                <a:latin typeface="+mn-lt"/>
                <a:ea typeface="+mn-ea"/>
                <a:cs typeface="+mn-cs"/>
              </a:rPr>
              <a:t>haemolysis </a:t>
            </a:r>
            <a:r>
              <a:rPr lang="en-AU" sz="1200" b="0" i="0" u="none" strike="noStrike" kern="1200" baseline="0" dirty="0">
                <a:solidFill>
                  <a:schemeClr val="tx1"/>
                </a:solidFill>
                <a:latin typeface="+mn-lt"/>
                <a:ea typeface="+mn-ea"/>
                <a:cs typeface="+mn-cs"/>
              </a:rPr>
              <a:t>and it can seriously reduce the amount of oxygen being transported to body tissues. Because of these effects of osmosis on animal cells, it is important that the solute concentration of blood plasma is regulated by the kidneys.</a:t>
            </a:r>
            <a:endParaRPr lang="en-US" b="0" dirty="0"/>
          </a:p>
        </p:txBody>
      </p:sp>
      <p:sp>
        <p:nvSpPr>
          <p:cNvPr id="4" name="Slide Number Placeholder 3"/>
          <p:cNvSpPr>
            <a:spLocks noGrp="1"/>
          </p:cNvSpPr>
          <p:nvPr>
            <p:ph type="sldNum" sz="quarter" idx="5"/>
          </p:nvPr>
        </p:nvSpPr>
        <p:spPr/>
        <p:txBody>
          <a:bodyPr/>
          <a:lstStyle/>
          <a:p>
            <a:pPr>
              <a:defRPr/>
            </a:pPr>
            <a:fld id="{8265CCF7-C6F2-435C-AB36-78C649E2A501}" type="slidenum">
              <a:rPr lang="en-US" smtClean="0"/>
              <a:pPr>
                <a:defRPr/>
              </a:pPr>
              <a:t>17</a:t>
            </a:fld>
            <a:endParaRPr lang="en-US" dirty="0"/>
          </a:p>
        </p:txBody>
      </p:sp>
    </p:spTree>
    <p:extLst>
      <p:ext uri="{BB962C8B-B14F-4D97-AF65-F5344CB8AC3E}">
        <p14:creationId xmlns:p14="http://schemas.microsoft.com/office/powerpoint/2010/main" val="37191370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bodyPr>
          <a:lstStyle/>
          <a:p>
            <a:r>
              <a:rPr lang="en-AU" sz="1200" b="0" i="0" u="none" strike="noStrike" kern="1200" baseline="0" dirty="0">
                <a:solidFill>
                  <a:schemeClr val="tx1"/>
                </a:solidFill>
                <a:latin typeface="+mn-lt"/>
                <a:ea typeface="+mn-ea"/>
                <a:cs typeface="+mn-cs"/>
              </a:rPr>
              <a:t>How does active transport take place? Membrane transport proteins, similar to those responsible for facilitated diffusion, use energy from </a:t>
            </a:r>
            <a:r>
              <a:rPr lang="en-AU" sz="1200" b="1" i="0" u="none" strike="noStrike" kern="1200" baseline="0" dirty="0">
                <a:solidFill>
                  <a:schemeClr val="tx1"/>
                </a:solidFill>
                <a:latin typeface="+mn-lt"/>
                <a:ea typeface="+mn-ea"/>
                <a:cs typeface="+mn-cs"/>
              </a:rPr>
              <a:t>adenosine triphosphate (ATP) </a:t>
            </a:r>
            <a:r>
              <a:rPr lang="en-AU" sz="1200" b="0" i="0" u="none" strike="noStrike" kern="1200" baseline="0" dirty="0">
                <a:solidFill>
                  <a:schemeClr val="tx1"/>
                </a:solidFill>
                <a:latin typeface="+mn-lt"/>
                <a:ea typeface="+mn-ea"/>
                <a:cs typeface="+mn-cs"/>
              </a:rPr>
              <a:t>to move molecules or ions up their concentration gradient (Figure 8.19). As these carrier proteins work in only one direction, they effectively act as one-way valves.</a:t>
            </a:r>
            <a:endParaRPr lang="en-US" b="0" dirty="0"/>
          </a:p>
        </p:txBody>
      </p:sp>
      <p:sp>
        <p:nvSpPr>
          <p:cNvPr id="4" name="Slide Number Placeholder 3"/>
          <p:cNvSpPr>
            <a:spLocks noGrp="1"/>
          </p:cNvSpPr>
          <p:nvPr>
            <p:ph type="sldNum" sz="quarter" idx="5"/>
          </p:nvPr>
        </p:nvSpPr>
        <p:spPr/>
        <p:txBody>
          <a:bodyPr/>
          <a:lstStyle/>
          <a:p>
            <a:pPr>
              <a:defRPr/>
            </a:pPr>
            <a:fld id="{8265CCF7-C6F2-435C-AB36-78C649E2A501}" type="slidenum">
              <a:rPr lang="en-US" smtClean="0"/>
              <a:pPr>
                <a:defRPr/>
              </a:pPr>
              <a:t>19</a:t>
            </a:fld>
            <a:endParaRPr lang="en-US" dirty="0"/>
          </a:p>
        </p:txBody>
      </p:sp>
    </p:spTree>
    <p:extLst>
      <p:ext uri="{BB962C8B-B14F-4D97-AF65-F5344CB8AC3E}">
        <p14:creationId xmlns:p14="http://schemas.microsoft.com/office/powerpoint/2010/main" val="4081043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bodyPr>
          <a:lstStyle/>
          <a:p>
            <a:r>
              <a:rPr lang="en-AU" sz="1200" b="0" i="0" u="none" strike="noStrike" kern="1200" baseline="0" dirty="0">
                <a:solidFill>
                  <a:schemeClr val="tx1"/>
                </a:solidFill>
                <a:latin typeface="+mn-lt"/>
                <a:ea typeface="+mn-ea"/>
                <a:cs typeface="+mn-cs"/>
              </a:rPr>
              <a:t>The two types of endocytosis discussed in this chapter are named according to the type of material consumed. The process that engulfs solids, like an amoeba eating, is called </a:t>
            </a:r>
            <a:r>
              <a:rPr lang="en-AU" sz="1200" b="1" i="0" u="none" strike="noStrike" kern="1200" baseline="0" dirty="0">
                <a:solidFill>
                  <a:schemeClr val="tx1"/>
                </a:solidFill>
                <a:latin typeface="+mn-lt"/>
                <a:ea typeface="+mn-ea"/>
                <a:cs typeface="+mn-cs"/>
              </a:rPr>
              <a:t>phagocytosis </a:t>
            </a:r>
            <a:r>
              <a:rPr lang="en-AU" sz="1200" b="0" i="0" u="none" strike="noStrike" kern="1200" baseline="0" dirty="0">
                <a:solidFill>
                  <a:schemeClr val="tx1"/>
                </a:solidFill>
                <a:latin typeface="+mn-lt"/>
                <a:ea typeface="+mn-ea"/>
                <a:cs typeface="+mn-cs"/>
              </a:rPr>
              <a:t>and the other process that takes in droplets of liquid is </a:t>
            </a:r>
            <a:r>
              <a:rPr lang="en-AU" sz="1200" b="1" i="0" u="none" strike="noStrike" kern="1200" baseline="0" dirty="0">
                <a:solidFill>
                  <a:schemeClr val="tx1"/>
                </a:solidFill>
                <a:latin typeface="+mn-lt"/>
                <a:ea typeface="+mn-ea"/>
                <a:cs typeface="+mn-cs"/>
              </a:rPr>
              <a:t>pinocytosis</a:t>
            </a:r>
            <a:r>
              <a:rPr lang="en-AU" sz="1200" b="0" i="0" u="none" strike="noStrike" kern="1200" baseline="0" dirty="0">
                <a:solidFill>
                  <a:schemeClr val="tx1"/>
                </a:solidFill>
                <a:latin typeface="+mn-lt"/>
                <a:ea typeface="+mn-ea"/>
                <a:cs typeface="+mn-cs"/>
              </a:rPr>
              <a:t>.</a:t>
            </a:r>
            <a:endParaRPr lang="en-US" b="0" dirty="0"/>
          </a:p>
        </p:txBody>
      </p:sp>
      <p:sp>
        <p:nvSpPr>
          <p:cNvPr id="4" name="Slide Number Placeholder 3"/>
          <p:cNvSpPr>
            <a:spLocks noGrp="1"/>
          </p:cNvSpPr>
          <p:nvPr>
            <p:ph type="sldNum" sz="quarter" idx="5"/>
          </p:nvPr>
        </p:nvSpPr>
        <p:spPr/>
        <p:txBody>
          <a:bodyPr/>
          <a:lstStyle/>
          <a:p>
            <a:pPr>
              <a:defRPr/>
            </a:pPr>
            <a:fld id="{8265CCF7-C6F2-435C-AB36-78C649E2A501}" type="slidenum">
              <a:rPr lang="en-US" smtClean="0"/>
              <a:pPr>
                <a:defRPr/>
              </a:pPr>
              <a:t>20</a:t>
            </a:fld>
            <a:endParaRPr lang="en-US" dirty="0"/>
          </a:p>
        </p:txBody>
      </p:sp>
    </p:spTree>
    <p:extLst>
      <p:ext uri="{BB962C8B-B14F-4D97-AF65-F5344CB8AC3E}">
        <p14:creationId xmlns:p14="http://schemas.microsoft.com/office/powerpoint/2010/main" val="4375883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bodyPr>
          <a:lstStyle/>
          <a:p>
            <a:r>
              <a:rPr lang="en-AU" sz="1200" b="0" i="0" u="none" strike="noStrike" kern="1200" baseline="0" dirty="0">
                <a:solidFill>
                  <a:schemeClr val="tx1"/>
                </a:solidFill>
                <a:latin typeface="+mn-lt"/>
                <a:ea typeface="+mn-ea"/>
                <a:cs typeface="+mn-cs"/>
              </a:rPr>
              <a:t>Specialised animal cells produce a variety of substances, such as hormones, mucus, milk proteins and digestive enzymes, which have important functions elsewhere in the organism. This is also true for plants, where particular cells are specialised to produce products that need to be relocated. These include growth regulators, toxins to ward off predators and macromolecules for use elsewhere. In all these cases, exocytosis is involved.</a:t>
            </a:r>
            <a:endParaRPr lang="en-US" b="0" dirty="0"/>
          </a:p>
        </p:txBody>
      </p:sp>
      <p:sp>
        <p:nvSpPr>
          <p:cNvPr id="4" name="Slide Number Placeholder 3"/>
          <p:cNvSpPr>
            <a:spLocks noGrp="1"/>
          </p:cNvSpPr>
          <p:nvPr>
            <p:ph type="sldNum" sz="quarter" idx="5"/>
          </p:nvPr>
        </p:nvSpPr>
        <p:spPr/>
        <p:txBody>
          <a:bodyPr/>
          <a:lstStyle/>
          <a:p>
            <a:pPr>
              <a:defRPr/>
            </a:pPr>
            <a:fld id="{8265CCF7-C6F2-435C-AB36-78C649E2A501}" type="slidenum">
              <a:rPr lang="en-US" smtClean="0"/>
              <a:pPr>
                <a:defRPr/>
              </a:pPr>
              <a:t>21</a:t>
            </a:fld>
            <a:endParaRPr lang="en-US" dirty="0"/>
          </a:p>
        </p:txBody>
      </p:sp>
    </p:spTree>
    <p:extLst>
      <p:ext uri="{BB962C8B-B14F-4D97-AF65-F5344CB8AC3E}">
        <p14:creationId xmlns:p14="http://schemas.microsoft.com/office/powerpoint/2010/main" val="3711043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b="0" dirty="0"/>
          </a:p>
        </p:txBody>
      </p:sp>
      <p:sp>
        <p:nvSpPr>
          <p:cNvPr id="4" name="Slide Number Placeholder 3"/>
          <p:cNvSpPr>
            <a:spLocks noGrp="1"/>
          </p:cNvSpPr>
          <p:nvPr>
            <p:ph type="sldNum" sz="quarter" idx="5"/>
          </p:nvPr>
        </p:nvSpPr>
        <p:spPr/>
        <p:txBody>
          <a:bodyPr/>
          <a:lstStyle/>
          <a:p>
            <a:pPr>
              <a:defRPr/>
            </a:pPr>
            <a:fld id="{8265CCF7-C6F2-435C-AB36-78C649E2A501}" type="slidenum">
              <a:rPr lang="en-US" smtClean="0"/>
              <a:pPr>
                <a:defRPr/>
              </a:pPr>
              <a:t>22</a:t>
            </a:fld>
            <a:endParaRPr lang="en-US" dirty="0"/>
          </a:p>
        </p:txBody>
      </p:sp>
    </p:spTree>
    <p:extLst>
      <p:ext uri="{BB962C8B-B14F-4D97-AF65-F5344CB8AC3E}">
        <p14:creationId xmlns:p14="http://schemas.microsoft.com/office/powerpoint/2010/main" val="40351346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bodyPr>
          <a:lstStyle/>
          <a:p>
            <a:r>
              <a:rPr lang="en-AU" sz="1200" b="0" i="0" u="none" strike="noStrike" kern="1200" baseline="0" dirty="0">
                <a:solidFill>
                  <a:schemeClr val="tx1"/>
                </a:solidFill>
                <a:latin typeface="+mn-lt"/>
                <a:ea typeface="+mn-ea"/>
                <a:cs typeface="+mn-cs"/>
              </a:rPr>
              <a:t>The physical properties of size and shape affect whether or not a substance moves across the plasma membrane, how it is transported and how quickly it moves. Small molecules like water, oxygen and carbon dioxide are able to slip between the phospholipids. They cross the membrane easily and quickly, diffusing passively from a high concentration to a low concentration.</a:t>
            </a:r>
            <a:endParaRPr lang="en-US" b="0" dirty="0"/>
          </a:p>
        </p:txBody>
      </p:sp>
      <p:sp>
        <p:nvSpPr>
          <p:cNvPr id="4" name="Slide Number Placeholder 3"/>
          <p:cNvSpPr>
            <a:spLocks noGrp="1"/>
          </p:cNvSpPr>
          <p:nvPr>
            <p:ph type="sldNum" sz="quarter" idx="5"/>
          </p:nvPr>
        </p:nvSpPr>
        <p:spPr/>
        <p:txBody>
          <a:bodyPr/>
          <a:lstStyle/>
          <a:p>
            <a:pPr>
              <a:defRPr/>
            </a:pPr>
            <a:fld id="{8265CCF7-C6F2-435C-AB36-78C649E2A501}" type="slidenum">
              <a:rPr lang="en-US" smtClean="0"/>
              <a:pPr>
                <a:defRPr/>
              </a:pPr>
              <a:t>23</a:t>
            </a:fld>
            <a:endParaRPr lang="en-US" dirty="0"/>
          </a:p>
        </p:txBody>
      </p:sp>
    </p:spTree>
    <p:extLst>
      <p:ext uri="{BB962C8B-B14F-4D97-AF65-F5344CB8AC3E}">
        <p14:creationId xmlns:p14="http://schemas.microsoft.com/office/powerpoint/2010/main" val="6487048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bodyPr>
          <a:lstStyle/>
          <a:p>
            <a:r>
              <a:rPr lang="en-AU" sz="1200" b="0" i="0" u="none" strike="noStrike" kern="1200" baseline="0" dirty="0">
                <a:solidFill>
                  <a:schemeClr val="tx1"/>
                </a:solidFill>
                <a:latin typeface="+mn-lt"/>
                <a:ea typeface="+mn-ea"/>
                <a:cs typeface="+mn-cs"/>
              </a:rPr>
              <a:t>For example, when glucose molecules diffuse into liver cells, some are used up and others converted to glycogen, maintaining a steep concentration gradient.</a:t>
            </a:r>
            <a:endParaRPr lang="en-US" b="0" dirty="0"/>
          </a:p>
        </p:txBody>
      </p:sp>
      <p:sp>
        <p:nvSpPr>
          <p:cNvPr id="4" name="Slide Number Placeholder 3"/>
          <p:cNvSpPr>
            <a:spLocks noGrp="1"/>
          </p:cNvSpPr>
          <p:nvPr>
            <p:ph type="sldNum" sz="quarter" idx="5"/>
          </p:nvPr>
        </p:nvSpPr>
        <p:spPr/>
        <p:txBody>
          <a:bodyPr/>
          <a:lstStyle/>
          <a:p>
            <a:pPr>
              <a:defRPr/>
            </a:pPr>
            <a:fld id="{8265CCF7-C6F2-435C-AB36-78C649E2A501}" type="slidenum">
              <a:rPr lang="en-US" smtClean="0"/>
              <a:pPr>
                <a:defRPr/>
              </a:pPr>
              <a:t>24</a:t>
            </a:fld>
            <a:endParaRPr lang="en-US" dirty="0"/>
          </a:p>
        </p:txBody>
      </p:sp>
    </p:spTree>
    <p:extLst>
      <p:ext uri="{BB962C8B-B14F-4D97-AF65-F5344CB8AC3E}">
        <p14:creationId xmlns:p14="http://schemas.microsoft.com/office/powerpoint/2010/main" val="281089309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normAutofit/>
          </a:bodyPr>
          <a:lstStyle/>
          <a:p>
            <a:r>
              <a:rPr lang="en-US" sz="1200" b="0" kern="1200" baseline="0" dirty="0">
                <a:solidFill>
                  <a:schemeClr val="tx1"/>
                </a:solidFill>
                <a:latin typeface="+mn-lt"/>
                <a:ea typeface="+mn-ea"/>
                <a:cs typeface="+mn-cs"/>
              </a:rPr>
              <a:t>An important concept related to exchange across membranes is the </a:t>
            </a:r>
            <a:r>
              <a:rPr lang="en-US" sz="1200" b="1" kern="1200" baseline="0" dirty="0">
                <a:solidFill>
                  <a:schemeClr val="tx1"/>
                </a:solidFill>
                <a:latin typeface="+mn-lt"/>
                <a:ea typeface="+mn-ea"/>
                <a:cs typeface="+mn-cs"/>
              </a:rPr>
              <a:t>surface-area-to-volume (SA:volume) ratio</a:t>
            </a:r>
            <a:r>
              <a:rPr lang="en-US" sz="1200" b="0" kern="1200" baseline="0" dirty="0">
                <a:solidFill>
                  <a:schemeClr val="tx1"/>
                </a:solidFill>
                <a:latin typeface="+mn-lt"/>
                <a:ea typeface="+mn-ea"/>
                <a:cs typeface="+mn-cs"/>
              </a:rPr>
              <a:t>. This ratio may be expressed as a single number, for example 3, or a ratio, </a:t>
            </a:r>
            <a:r>
              <a:rPr lang="en-US" sz="1200" kern="1200" baseline="0" dirty="0">
                <a:solidFill>
                  <a:schemeClr val="tx1"/>
                </a:solidFill>
                <a:latin typeface="+mn-lt"/>
                <a:ea typeface="+mn-ea"/>
                <a:cs typeface="+mn-cs"/>
              </a:rPr>
              <a:t>for example 3:1. It represents an important relationship between the area of the membrane surrounding a cell and the volume of its cytoplasm.</a:t>
            </a:r>
            <a:endParaRPr lang="en-US" sz="1200" b="0" kern="1200" baseline="0" dirty="0">
              <a:solidFill>
                <a:schemeClr val="tx1"/>
              </a:solidFill>
              <a:latin typeface="+mn-lt"/>
              <a:ea typeface="+mn-ea"/>
              <a:cs typeface="+mn-cs"/>
            </a:endParaRPr>
          </a:p>
          <a:p>
            <a:r>
              <a:rPr lang="en-US" sz="1200" dirty="0"/>
              <a:t>Surface area is the area</a:t>
            </a:r>
            <a:r>
              <a:rPr lang="en-US" sz="1200" baseline="0" dirty="0"/>
              <a:t> </a:t>
            </a:r>
            <a:r>
              <a:rPr lang="en-US" sz="1200" dirty="0"/>
              <a:t>of membrane around the cell</a:t>
            </a:r>
            <a:r>
              <a:rPr lang="en-US" sz="1200" baseline="0" dirty="0"/>
              <a:t> </a:t>
            </a:r>
            <a:r>
              <a:rPr lang="en-US" sz="1200" dirty="0"/>
              <a:t>and the volume is the amount of cytoplasm.</a:t>
            </a:r>
          </a:p>
          <a:p>
            <a:r>
              <a:rPr lang="en-US" sz="1200" dirty="0"/>
              <a:t> </a:t>
            </a:r>
          </a:p>
          <a:p>
            <a:endParaRPr lang="en-US" sz="1200" dirty="0"/>
          </a:p>
          <a:p>
            <a:endParaRPr lang="en-US" b="0" dirty="0"/>
          </a:p>
        </p:txBody>
      </p:sp>
      <p:sp>
        <p:nvSpPr>
          <p:cNvPr id="4" name="Slide Number Placeholder 3"/>
          <p:cNvSpPr>
            <a:spLocks noGrp="1"/>
          </p:cNvSpPr>
          <p:nvPr>
            <p:ph type="sldNum" sz="quarter" idx="5"/>
          </p:nvPr>
        </p:nvSpPr>
        <p:spPr/>
        <p:txBody>
          <a:bodyPr/>
          <a:lstStyle/>
          <a:p>
            <a:pPr>
              <a:defRPr/>
            </a:pPr>
            <a:fld id="{8265CCF7-C6F2-435C-AB36-78C649E2A501}" type="slidenum">
              <a:rPr lang="en-US" smtClean="0"/>
              <a:pPr>
                <a:defRPr/>
              </a:pPr>
              <a:t>25</a:t>
            </a:fld>
            <a:endParaRPr lang="en-US" dirty="0"/>
          </a:p>
        </p:txBody>
      </p:sp>
    </p:spTree>
    <p:extLst>
      <p:ext uri="{BB962C8B-B14F-4D97-AF65-F5344CB8AC3E}">
        <p14:creationId xmlns:p14="http://schemas.microsoft.com/office/powerpoint/2010/main" val="405530930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sz="1200" dirty="0"/>
              <a:t>Surface area is the area</a:t>
            </a:r>
            <a:r>
              <a:rPr lang="en-US" sz="1200" baseline="0" dirty="0"/>
              <a:t> </a:t>
            </a:r>
            <a:r>
              <a:rPr lang="en-US" sz="1200" dirty="0"/>
              <a:t>of membrane around the cell</a:t>
            </a:r>
            <a:r>
              <a:rPr lang="en-US" sz="1200" baseline="0" dirty="0"/>
              <a:t> </a:t>
            </a:r>
            <a:r>
              <a:rPr lang="en-US" sz="1200" dirty="0"/>
              <a:t>and the volume is the amount of cytoplasm.</a:t>
            </a:r>
            <a:r>
              <a:rPr lang="en-US" sz="1200" baseline="0" dirty="0"/>
              <a:t> </a:t>
            </a:r>
            <a:r>
              <a:rPr lang="en-US" sz="1200" dirty="0"/>
              <a:t>This is shown in Table 8.3.</a:t>
            </a:r>
            <a:r>
              <a:rPr lang="en-US" sz="1200" baseline="0" dirty="0"/>
              <a:t> </a:t>
            </a:r>
            <a:r>
              <a:rPr lang="en-US" sz="1200" dirty="0"/>
              <a:t>Cell A has a volume of 0.52 cm</a:t>
            </a:r>
            <a:r>
              <a:rPr lang="en-US" sz="1200" baseline="30000" dirty="0"/>
              <a:t>3</a:t>
            </a:r>
            <a:r>
              <a:rPr lang="en-US" sz="1200" dirty="0"/>
              <a:t> and a surface area</a:t>
            </a:r>
            <a:r>
              <a:rPr lang="en-US" sz="1200" baseline="0" dirty="0"/>
              <a:t> </a:t>
            </a:r>
            <a:r>
              <a:rPr lang="en-US" sz="1200" dirty="0"/>
              <a:t>of 3.14 cm</a:t>
            </a:r>
            <a:r>
              <a:rPr lang="en-US" sz="1200" baseline="30000" dirty="0"/>
              <a:t>2</a:t>
            </a:r>
            <a:r>
              <a:rPr lang="en-US" sz="1200" dirty="0"/>
              <a:t> to service it. This is a surface-area-to-volume ratio of 6:1. Cell C, however, has a volume</a:t>
            </a:r>
            <a:r>
              <a:rPr lang="en-US" sz="1200" baseline="0" dirty="0"/>
              <a:t> </a:t>
            </a:r>
            <a:r>
              <a:rPr lang="en-US" sz="1200" dirty="0"/>
              <a:t>of 14.14 cm</a:t>
            </a:r>
            <a:r>
              <a:rPr lang="en-US" sz="1200" baseline="30000" dirty="0"/>
              <a:t>3</a:t>
            </a:r>
            <a:r>
              <a:rPr lang="en-US" sz="1200" dirty="0"/>
              <a:t> and a surface area of 28.28 cm</a:t>
            </a:r>
            <a:r>
              <a:rPr lang="en-US" sz="1200" baseline="30000" dirty="0"/>
              <a:t>2</a:t>
            </a:r>
            <a:r>
              <a:rPr lang="en-US" sz="1200" dirty="0"/>
              <a:t> to service it, a surface-area-to-volume ratio of only 2:1. </a:t>
            </a:r>
          </a:p>
          <a:p>
            <a:endParaRPr lang="en-US" sz="1200" dirty="0"/>
          </a:p>
          <a:p>
            <a:endParaRPr lang="en-US" b="0" dirty="0"/>
          </a:p>
        </p:txBody>
      </p:sp>
      <p:sp>
        <p:nvSpPr>
          <p:cNvPr id="4" name="Slide Number Placeholder 3"/>
          <p:cNvSpPr>
            <a:spLocks noGrp="1"/>
          </p:cNvSpPr>
          <p:nvPr>
            <p:ph type="sldNum" sz="quarter" idx="5"/>
          </p:nvPr>
        </p:nvSpPr>
        <p:spPr/>
        <p:txBody>
          <a:bodyPr/>
          <a:lstStyle/>
          <a:p>
            <a:pPr>
              <a:defRPr/>
            </a:pPr>
            <a:fld id="{8265CCF7-C6F2-435C-AB36-78C649E2A501}" type="slidenum">
              <a:rPr lang="en-US" smtClean="0"/>
              <a:pPr>
                <a:defRPr/>
              </a:pPr>
              <a:t>26</a:t>
            </a:fld>
            <a:endParaRPr lang="en-US" dirty="0"/>
          </a:p>
        </p:txBody>
      </p:sp>
    </p:spTree>
    <p:extLst>
      <p:ext uri="{BB962C8B-B14F-4D97-AF65-F5344CB8AC3E}">
        <p14:creationId xmlns:p14="http://schemas.microsoft.com/office/powerpoint/2010/main" val="192011539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b="0" dirty="0"/>
          </a:p>
        </p:txBody>
      </p:sp>
      <p:sp>
        <p:nvSpPr>
          <p:cNvPr id="4" name="Slide Number Placeholder 3"/>
          <p:cNvSpPr>
            <a:spLocks noGrp="1"/>
          </p:cNvSpPr>
          <p:nvPr>
            <p:ph type="sldNum" sz="quarter" idx="5"/>
          </p:nvPr>
        </p:nvSpPr>
        <p:spPr/>
        <p:txBody>
          <a:bodyPr/>
          <a:lstStyle/>
          <a:p>
            <a:pPr>
              <a:defRPr/>
            </a:pPr>
            <a:fld id="{8265CCF7-C6F2-435C-AB36-78C649E2A501}" type="slidenum">
              <a:rPr lang="en-US" smtClean="0"/>
              <a:pPr>
                <a:defRPr/>
              </a:pPr>
              <a:t>27</a:t>
            </a:fld>
            <a:endParaRPr lang="en-US" dirty="0"/>
          </a:p>
        </p:txBody>
      </p:sp>
    </p:spTree>
    <p:extLst>
      <p:ext uri="{BB962C8B-B14F-4D97-AF65-F5344CB8AC3E}">
        <p14:creationId xmlns:p14="http://schemas.microsoft.com/office/powerpoint/2010/main" val="25414502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AU"/>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AU"/>
          </a:p>
        </p:txBody>
      </p:sp>
      <p:sp>
        <p:nvSpPr>
          <p:cNvPr id="4" name="Date Placeholder 3"/>
          <p:cNvSpPr>
            <a:spLocks noGrp="1"/>
          </p:cNvSpPr>
          <p:nvPr>
            <p:ph type="dt" sz="half" idx="10"/>
          </p:nvPr>
        </p:nvSpPr>
        <p:spPr/>
        <p:txBody>
          <a:bodyPr/>
          <a:lstStyle/>
          <a:p>
            <a:fld id="{AD03FF1E-6863-41B6-A10A-B4A743D04F3A}" type="datetimeFigureOut">
              <a:rPr lang="en-AU" smtClean="0"/>
              <a:t>5/02/2022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66781A3-47F7-439D-8AD3-C024C784E902}" type="slidenum">
              <a:rPr lang="en-AU" smtClean="0"/>
              <a:t>‹#›</a:t>
            </a:fld>
            <a:endParaRPr lang="en-AU"/>
          </a:p>
        </p:txBody>
      </p:sp>
    </p:spTree>
    <p:extLst>
      <p:ext uri="{BB962C8B-B14F-4D97-AF65-F5344CB8AC3E}">
        <p14:creationId xmlns:p14="http://schemas.microsoft.com/office/powerpoint/2010/main" val="15482448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pPr>
              <a:defRPr/>
            </a:pPr>
            <a:fld id="{78E73BBC-10F3-48AA-81AD-EE6C21D5C948}" type="datetimeFigureOut">
              <a:rPr lang="en-US" smtClean="0"/>
              <a:pPr>
                <a:defRPr/>
              </a:pPr>
              <a:t>2/5/2022</a:t>
            </a:fld>
            <a:endParaRPr lang="en-US" dirty="0"/>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pPr>
              <a:defRPr/>
            </a:pPr>
            <a:fld id="{F077681D-8944-488B-8E66-602A91AEBEF5}" type="slidenum">
              <a:rPr lang="en-US" smtClean="0"/>
              <a:pPr>
                <a:defRPr/>
              </a:pPr>
              <a:t>‹#›</a:t>
            </a:fld>
            <a:endParaRPr lang="en-US" dirty="0"/>
          </a:p>
        </p:txBody>
      </p:sp>
    </p:spTree>
    <p:extLst>
      <p:ext uri="{BB962C8B-B14F-4D97-AF65-F5344CB8AC3E}">
        <p14:creationId xmlns:p14="http://schemas.microsoft.com/office/powerpoint/2010/main" val="14692702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AU"/>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4A5AA8DE-A7B5-466D-BEEF-440EF7898A87}" type="datetimeFigureOut">
              <a:rPr lang="en-US" smtClean="0"/>
              <a:pPr>
                <a:defRPr/>
              </a:pPr>
              <a:t>2/5/2022</a:t>
            </a:fld>
            <a:endParaRPr lang="en-US" dirty="0"/>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pPr>
              <a:defRPr/>
            </a:pPr>
            <a:fld id="{DCFE7761-9E5F-48B5-9B48-F75DF1AE044D}" type="slidenum">
              <a:rPr lang="en-US" smtClean="0"/>
              <a:pPr>
                <a:defRPr/>
              </a:pPr>
              <a:t>‹#›</a:t>
            </a:fld>
            <a:endParaRPr lang="en-US" dirty="0"/>
          </a:p>
        </p:txBody>
      </p:sp>
    </p:spTree>
    <p:extLst>
      <p:ext uri="{BB962C8B-B14F-4D97-AF65-F5344CB8AC3E}">
        <p14:creationId xmlns:p14="http://schemas.microsoft.com/office/powerpoint/2010/main" val="12944768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p:cNvSpPr>
          <p:nvPr>
            <p:ph type="dt" sz="half" idx="10"/>
          </p:nvPr>
        </p:nvSpPr>
        <p:spPr/>
        <p:txBody>
          <a:bodyPr/>
          <a:lstStyle/>
          <a:p>
            <a:pPr>
              <a:defRPr/>
            </a:pPr>
            <a:fld id="{7E7D09FD-C888-40AD-BCD7-191FE37A5D66}" type="datetimeFigureOut">
              <a:rPr lang="en-US" smtClean="0"/>
              <a:pPr>
                <a:defRPr/>
              </a:pPr>
              <a:t>2/5/2022</a:t>
            </a:fld>
            <a:endParaRPr lang="en-US" dirty="0"/>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pPr>
              <a:defRPr/>
            </a:pPr>
            <a:fld id="{35022E4A-5AB7-4752-8D75-3D61AB98EDD4}" type="slidenum">
              <a:rPr lang="en-US" smtClean="0"/>
              <a:pPr>
                <a:defRPr/>
              </a:pPr>
              <a:t>‹#›</a:t>
            </a:fld>
            <a:endParaRPr lang="en-US" dirty="0"/>
          </a:p>
        </p:txBody>
      </p:sp>
    </p:spTree>
    <p:extLst>
      <p:ext uri="{BB962C8B-B14F-4D97-AF65-F5344CB8AC3E}">
        <p14:creationId xmlns:p14="http://schemas.microsoft.com/office/powerpoint/2010/main" val="24999689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AU"/>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p:cNvSpPr>
            <a:spLocks noGrp="1"/>
          </p:cNvSpPr>
          <p:nvPr>
            <p:ph type="dt" sz="half" idx="10"/>
          </p:nvPr>
        </p:nvSpPr>
        <p:spPr/>
        <p:txBody>
          <a:bodyPr/>
          <a:lstStyle/>
          <a:p>
            <a:pPr>
              <a:defRPr/>
            </a:pPr>
            <a:fld id="{3A53B80C-32C5-4B03-8EBC-7FF3AA834091}" type="datetimeFigureOut">
              <a:rPr lang="en-US" smtClean="0"/>
              <a:pPr>
                <a:defRPr/>
              </a:pPr>
              <a:t>2/5/2022</a:t>
            </a:fld>
            <a:endParaRPr lang="en-US" dirty="0"/>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pPr>
              <a:defRPr/>
            </a:pPr>
            <a:fld id="{CA34927B-3ED3-433F-B9A5-1C66E0839CCB}" type="slidenum">
              <a:rPr lang="en-US" smtClean="0"/>
              <a:pPr>
                <a:defRPr/>
              </a:pPr>
              <a:t>‹#›</a:t>
            </a:fld>
            <a:endParaRPr lang="en-US" dirty="0"/>
          </a:p>
        </p:txBody>
      </p:sp>
    </p:spTree>
    <p:extLst>
      <p:ext uri="{BB962C8B-B14F-4D97-AF65-F5344CB8AC3E}">
        <p14:creationId xmlns:p14="http://schemas.microsoft.com/office/powerpoint/2010/main" val="19557271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Date Placeholder 2"/>
          <p:cNvSpPr>
            <a:spLocks noGrp="1"/>
          </p:cNvSpPr>
          <p:nvPr>
            <p:ph type="dt" sz="half" idx="10"/>
          </p:nvPr>
        </p:nvSpPr>
        <p:spPr/>
        <p:txBody>
          <a:bodyPr/>
          <a:lstStyle/>
          <a:p>
            <a:pPr>
              <a:defRPr/>
            </a:pPr>
            <a:fld id="{7839BE27-6F3A-4ACB-9D41-3573B417A157}" type="datetimeFigureOut">
              <a:rPr lang="en-US" smtClean="0"/>
              <a:pPr>
                <a:defRPr/>
              </a:pPr>
              <a:t>2/5/2022</a:t>
            </a:fld>
            <a:endParaRPr lang="en-US" dirty="0"/>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pPr>
              <a:defRPr/>
            </a:pPr>
            <a:fld id="{C04D423C-C252-4FA7-8BE9-BF6B9FFF2AAB}" type="slidenum">
              <a:rPr lang="en-US" smtClean="0"/>
              <a:pPr>
                <a:defRPr/>
              </a:pPr>
              <a:t>‹#›</a:t>
            </a:fld>
            <a:endParaRPr lang="en-US" dirty="0"/>
          </a:p>
        </p:txBody>
      </p:sp>
    </p:spTree>
    <p:extLst>
      <p:ext uri="{BB962C8B-B14F-4D97-AF65-F5344CB8AC3E}">
        <p14:creationId xmlns:p14="http://schemas.microsoft.com/office/powerpoint/2010/main" val="2255610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9AE23C07-0716-4197-A06A-48B35CF32714}" type="datetimeFigureOut">
              <a:rPr lang="en-US" smtClean="0"/>
              <a:pPr>
                <a:defRPr/>
              </a:pPr>
              <a:t>2/5/2022</a:t>
            </a:fld>
            <a:endParaRPr lang="en-US" dirty="0"/>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pPr>
              <a:defRPr/>
            </a:pPr>
            <a:fld id="{8C99C370-36D5-4A17-BA31-126E077122A3}" type="slidenum">
              <a:rPr lang="en-US" smtClean="0"/>
              <a:pPr>
                <a:defRPr/>
              </a:pPr>
              <a:t>‹#›</a:t>
            </a:fld>
            <a:endParaRPr lang="en-US" dirty="0"/>
          </a:p>
        </p:txBody>
      </p:sp>
    </p:spTree>
    <p:extLst>
      <p:ext uri="{BB962C8B-B14F-4D97-AF65-F5344CB8AC3E}">
        <p14:creationId xmlns:p14="http://schemas.microsoft.com/office/powerpoint/2010/main" val="34162924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AU"/>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3173592A-20C2-4495-AB5B-A1FBA261C456}" type="datetimeFigureOut">
              <a:rPr lang="en-US" smtClean="0"/>
              <a:pPr>
                <a:defRPr/>
              </a:pPr>
              <a:t>2/5/2022</a:t>
            </a:fld>
            <a:endParaRPr lang="en-US" dirty="0"/>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pPr>
              <a:defRPr/>
            </a:pPr>
            <a:fld id="{9F4C3075-83F1-42A5-B1C0-04BAD22C9708}" type="slidenum">
              <a:rPr lang="en-US" smtClean="0"/>
              <a:pPr>
                <a:defRPr/>
              </a:pPr>
              <a:t>‹#›</a:t>
            </a:fld>
            <a:endParaRPr lang="en-US" dirty="0"/>
          </a:p>
        </p:txBody>
      </p:sp>
    </p:spTree>
    <p:extLst>
      <p:ext uri="{BB962C8B-B14F-4D97-AF65-F5344CB8AC3E}">
        <p14:creationId xmlns:p14="http://schemas.microsoft.com/office/powerpoint/2010/main" val="31273897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AU"/>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AU"/>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C9151800-C107-4F8F-80D8-780733E4B16A}" type="datetimeFigureOut">
              <a:rPr lang="en-US" smtClean="0"/>
              <a:pPr>
                <a:defRPr/>
              </a:pPr>
              <a:t>2/5/2022</a:t>
            </a:fld>
            <a:endParaRPr lang="en-US" dirty="0"/>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pPr>
              <a:defRPr/>
            </a:pPr>
            <a:fld id="{9297408A-50CE-4ADF-A3FA-10003EDB40B1}" type="slidenum">
              <a:rPr lang="en-US" smtClean="0"/>
              <a:pPr>
                <a:defRPr/>
              </a:pPr>
              <a:t>‹#›</a:t>
            </a:fld>
            <a:endParaRPr lang="en-US" dirty="0"/>
          </a:p>
        </p:txBody>
      </p:sp>
    </p:spTree>
    <p:extLst>
      <p:ext uri="{BB962C8B-B14F-4D97-AF65-F5344CB8AC3E}">
        <p14:creationId xmlns:p14="http://schemas.microsoft.com/office/powerpoint/2010/main" val="14535356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pPr>
              <a:defRPr/>
            </a:pPr>
            <a:fld id="{4B32EC8F-4D9B-4C30-9D91-C07832E6F42D}" type="datetimeFigureOut">
              <a:rPr lang="en-US" smtClean="0"/>
              <a:pPr>
                <a:defRPr/>
              </a:pPr>
              <a:t>2/5/2022</a:t>
            </a:fld>
            <a:endParaRPr lang="en-US" dirty="0"/>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pPr>
              <a:defRPr/>
            </a:pPr>
            <a:fld id="{E2782757-4412-41C7-874F-E821237B1B65}" type="slidenum">
              <a:rPr lang="en-US" smtClean="0"/>
              <a:pPr>
                <a:defRPr/>
              </a:pPr>
              <a:t>‹#›</a:t>
            </a:fld>
            <a:endParaRPr lang="en-US" dirty="0"/>
          </a:p>
        </p:txBody>
      </p:sp>
    </p:spTree>
    <p:extLst>
      <p:ext uri="{BB962C8B-B14F-4D97-AF65-F5344CB8AC3E}">
        <p14:creationId xmlns:p14="http://schemas.microsoft.com/office/powerpoint/2010/main" val="34765240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pPr>
              <a:defRPr/>
            </a:pPr>
            <a:fld id="{62E78489-8FA8-495D-816C-1992AD170F36}" type="datetimeFigureOut">
              <a:rPr lang="en-US" smtClean="0"/>
              <a:pPr>
                <a:defRPr/>
              </a:pPr>
              <a:t>2/5/2022</a:t>
            </a:fld>
            <a:endParaRPr lang="en-US" dirty="0"/>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pPr>
              <a:defRPr/>
            </a:pPr>
            <a:fld id="{EC29ED2A-3D1A-4274-8EC8-73B9FD6357F9}" type="slidenum">
              <a:rPr lang="en-US" smtClean="0"/>
              <a:pPr>
                <a:defRPr/>
              </a:pPr>
              <a:t>‹#›</a:t>
            </a:fld>
            <a:endParaRPr lang="en-US" dirty="0"/>
          </a:p>
        </p:txBody>
      </p:sp>
    </p:spTree>
    <p:extLst>
      <p:ext uri="{BB962C8B-B14F-4D97-AF65-F5344CB8AC3E}">
        <p14:creationId xmlns:p14="http://schemas.microsoft.com/office/powerpoint/2010/main" val="35709624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fld id="{5AA59C3F-F860-4202-81C1-23CB423B8DEA}" type="datetimeFigureOut">
              <a:rPr lang="en-US" smtClean="0"/>
              <a:pPr>
                <a:defRPr/>
              </a:pPr>
              <a:t>2/5/2022</a:t>
            </a:fld>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48F652E0-6C23-4212-AE51-5D4C5D6EBD03}" type="slidenum">
              <a:rPr lang="en-US" smtClean="0"/>
              <a:pPr>
                <a:defRPr/>
              </a:pPr>
              <a:t>‹#›</a:t>
            </a:fld>
            <a:endParaRPr lang="en-US" dirty="0"/>
          </a:p>
        </p:txBody>
      </p:sp>
    </p:spTree>
    <p:extLst>
      <p:ext uri="{BB962C8B-B14F-4D97-AF65-F5344CB8AC3E}">
        <p14:creationId xmlns:p14="http://schemas.microsoft.com/office/powerpoint/2010/main" val="604910997"/>
      </p:ext>
    </p:extLst>
  </p:cSld>
  <p:clrMap bg1="lt1" tx1="dk1" bg2="lt2" tx2="dk2" accent1="accent1" accent2="accent2" accent3="accent3" accent4="accent4" accent5="accent5" accent6="accent6" hlink="hlink" folHlink="folHlink"/>
  <p:sldLayoutIdLst>
    <p:sldLayoutId id="2147483977" r:id="rId1"/>
    <p:sldLayoutId id="2147483978" r:id="rId2"/>
    <p:sldLayoutId id="2147483979" r:id="rId3"/>
    <p:sldLayoutId id="2147483980" r:id="rId4"/>
    <p:sldLayoutId id="2147483981" r:id="rId5"/>
    <p:sldLayoutId id="2147483982" r:id="rId6"/>
    <p:sldLayoutId id="2147483983" r:id="rId7"/>
    <p:sldLayoutId id="2147483984" r:id="rId8"/>
    <p:sldLayoutId id="2147483985" r:id="rId9"/>
    <p:sldLayoutId id="2147483986" r:id="rId10"/>
    <p:sldLayoutId id="2147483987"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4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ctrTitle"/>
          </p:nvPr>
        </p:nvSpPr>
        <p:spPr>
          <a:xfrm>
            <a:off x="152400" y="1981200"/>
            <a:ext cx="8991600" cy="860425"/>
          </a:xfrm>
        </p:spPr>
        <p:txBody>
          <a:bodyPr>
            <a:normAutofit/>
          </a:bodyPr>
          <a:lstStyle/>
          <a:p>
            <a:r>
              <a:rPr lang="en-US" b="1" dirty="0"/>
              <a:t>Cells: The Exchange of Materials</a:t>
            </a:r>
            <a:endParaRPr lang="en-US" b="1" dirty="0">
              <a:cs typeface="Arial" charset="0"/>
            </a:endParaRPr>
          </a:p>
        </p:txBody>
      </p:sp>
      <p:pic>
        <p:nvPicPr>
          <p:cNvPr id="2" name="Picture 1"/>
          <p:cNvPicPr>
            <a:picLocks noChangeAspect="1"/>
          </p:cNvPicPr>
          <p:nvPr/>
        </p:nvPicPr>
        <p:blipFill rotWithShape="1">
          <a:blip r:embed="rId3"/>
          <a:srcRect l="-28" t="10959" r="681" b="4110"/>
          <a:stretch/>
        </p:blipFill>
        <p:spPr>
          <a:xfrm>
            <a:off x="-2406" y="4114800"/>
            <a:ext cx="5978013" cy="2514600"/>
          </a:xfrm>
          <a:prstGeom prst="rect">
            <a:avLst/>
          </a:prstGeom>
        </p:spPr>
      </p:pic>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gray">
          <a:xfrm>
            <a:off x="266700" y="0"/>
            <a:ext cx="8305800" cy="45720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p>
            <a:r>
              <a:rPr lang="en-US" sz="2800" b="1" dirty="0"/>
              <a:t>The plasma membrane: the boundary of cells</a:t>
            </a:r>
            <a:endParaRPr kumimoji="0" lang="en-US" sz="2800" b="1" i="0" u="none" strike="noStrike" kern="0" cap="none" spc="0" normalizeH="0" baseline="0" noProof="0" dirty="0">
              <a:ln>
                <a:noFill/>
              </a:ln>
              <a:effectLst/>
              <a:uLnTx/>
              <a:uFillTx/>
              <a:latin typeface="+mj-lt"/>
              <a:ea typeface="+mj-ea"/>
            </a:endParaRPr>
          </a:p>
        </p:txBody>
      </p:sp>
      <p:sp>
        <p:nvSpPr>
          <p:cNvPr id="8" name="Title 1"/>
          <p:cNvSpPr>
            <a:spLocks noGrp="1"/>
          </p:cNvSpPr>
          <p:nvPr>
            <p:ph type="title"/>
          </p:nvPr>
        </p:nvSpPr>
        <p:spPr>
          <a:xfrm>
            <a:off x="533400" y="990600"/>
            <a:ext cx="8229600" cy="685800"/>
          </a:xfrm>
        </p:spPr>
        <p:txBody>
          <a:bodyPr/>
          <a:lstStyle/>
          <a:p>
            <a:pPr>
              <a:lnSpc>
                <a:spcPct val="100000"/>
              </a:lnSpc>
            </a:pPr>
            <a:r>
              <a:rPr lang="en-US" sz="3600" b="1" dirty="0">
                <a:solidFill>
                  <a:schemeClr val="tx1"/>
                </a:solidFill>
                <a:latin typeface="+mn-lt"/>
              </a:rPr>
              <a:t>Cell plasma membrane</a:t>
            </a:r>
            <a:endParaRPr lang="en-AU" sz="2000" b="1" dirty="0">
              <a:solidFill>
                <a:schemeClr val="tx1"/>
              </a:solidFill>
              <a:latin typeface="+mn-lt"/>
            </a:endParaRPr>
          </a:p>
        </p:txBody>
      </p:sp>
      <p:sp>
        <p:nvSpPr>
          <p:cNvPr id="10" name="TextBox 9"/>
          <p:cNvSpPr txBox="1"/>
          <p:nvPr/>
        </p:nvSpPr>
        <p:spPr>
          <a:xfrm>
            <a:off x="497305" y="1867384"/>
            <a:ext cx="8458200" cy="2246769"/>
          </a:xfrm>
          <a:prstGeom prst="rect">
            <a:avLst/>
          </a:prstGeom>
          <a:noFill/>
        </p:spPr>
        <p:txBody>
          <a:bodyPr wrap="square" rtlCol="0">
            <a:spAutoFit/>
          </a:bodyPr>
          <a:lstStyle/>
          <a:p>
            <a:pPr marL="457200" indent="-457200">
              <a:buFont typeface="Arial" panose="020B0604020202020204" pitchFamily="34" charset="0"/>
              <a:buChar char="•"/>
            </a:pPr>
            <a:r>
              <a:rPr lang="en-US" sz="2800" dirty="0"/>
              <a:t>The plasma membrane forms the boundary between the internal environment of the cell, the cytoplasm and its external environment.</a:t>
            </a:r>
          </a:p>
          <a:p>
            <a:pPr marL="457200" indent="-457200">
              <a:buFont typeface="Arial" panose="020B0604020202020204" pitchFamily="34" charset="0"/>
              <a:buChar char="•"/>
            </a:pPr>
            <a:r>
              <a:rPr lang="en-US" sz="2800" dirty="0"/>
              <a:t>It is selectively permeable (that is, controls the movement of substances into and out of cells).</a:t>
            </a:r>
          </a:p>
        </p:txBody>
      </p:sp>
      <p:sp>
        <p:nvSpPr>
          <p:cNvPr id="5" name="Rectangle 4"/>
          <p:cNvSpPr/>
          <p:nvPr/>
        </p:nvSpPr>
        <p:spPr>
          <a:xfrm>
            <a:off x="4419600" y="4827188"/>
            <a:ext cx="3806516" cy="1200329"/>
          </a:xfrm>
          <a:prstGeom prst="rect">
            <a:avLst/>
          </a:prstGeom>
        </p:spPr>
        <p:txBody>
          <a:bodyPr wrap="square">
            <a:spAutoFit/>
          </a:bodyPr>
          <a:lstStyle/>
          <a:p>
            <a:r>
              <a:rPr lang="en-AU" b="1" dirty="0"/>
              <a:t>Figure 8.2 </a:t>
            </a:r>
          </a:p>
          <a:p>
            <a:r>
              <a:rPr lang="en-AU" dirty="0"/>
              <a:t>An </a:t>
            </a:r>
            <a:r>
              <a:rPr lang="en-AU" i="1" dirty="0"/>
              <a:t>Amoeba </a:t>
            </a:r>
            <a:r>
              <a:rPr lang="en-AU" dirty="0"/>
              <a:t>engulfing food demonstrates the flexibility of the plasma membrane.</a:t>
            </a:r>
            <a:endParaRPr lang="en-US" dirty="0"/>
          </a:p>
        </p:txBody>
      </p:sp>
      <p:pic>
        <p:nvPicPr>
          <p:cNvPr id="2" name="Picture 1"/>
          <p:cNvPicPr>
            <a:picLocks noChangeAspect="1"/>
          </p:cNvPicPr>
          <p:nvPr/>
        </p:nvPicPr>
        <p:blipFill>
          <a:blip r:embed="rId3"/>
          <a:stretch>
            <a:fillRect/>
          </a:stretch>
        </p:blipFill>
        <p:spPr>
          <a:xfrm>
            <a:off x="685800" y="4305138"/>
            <a:ext cx="3581400" cy="2244430"/>
          </a:xfrm>
          <a:prstGeom prst="rect">
            <a:avLst/>
          </a:prstGeom>
        </p:spPr>
      </p:pic>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gray">
          <a:xfrm>
            <a:off x="152400" y="152400"/>
            <a:ext cx="8077200" cy="45720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p>
            <a:r>
              <a:rPr lang="en-US" sz="2800" b="1" dirty="0"/>
              <a:t>The plasma membrane: the boundary of cells</a:t>
            </a:r>
            <a:endParaRPr lang="en-US" sz="2800" b="1" kern="0" dirty="0"/>
          </a:p>
        </p:txBody>
      </p:sp>
      <p:sp>
        <p:nvSpPr>
          <p:cNvPr id="8" name="Title 1"/>
          <p:cNvSpPr>
            <a:spLocks noGrp="1"/>
          </p:cNvSpPr>
          <p:nvPr>
            <p:ph type="title"/>
          </p:nvPr>
        </p:nvSpPr>
        <p:spPr>
          <a:xfrm>
            <a:off x="152400" y="838200"/>
            <a:ext cx="9525000" cy="685800"/>
          </a:xfrm>
        </p:spPr>
        <p:txBody>
          <a:bodyPr>
            <a:normAutofit/>
          </a:bodyPr>
          <a:lstStyle/>
          <a:p>
            <a:pPr>
              <a:lnSpc>
                <a:spcPct val="100000"/>
              </a:lnSpc>
            </a:pPr>
            <a:r>
              <a:rPr lang="en-US" sz="3600" b="1" dirty="0">
                <a:solidFill>
                  <a:schemeClr val="tx1"/>
                </a:solidFill>
              </a:rPr>
              <a:t>The internal and external environments</a:t>
            </a:r>
            <a:endParaRPr lang="en-AU" sz="2000" b="1" dirty="0">
              <a:solidFill>
                <a:schemeClr val="tx1"/>
              </a:solidFill>
            </a:endParaRPr>
          </a:p>
        </p:txBody>
      </p:sp>
      <p:pic>
        <p:nvPicPr>
          <p:cNvPr id="2" name="Picture 1"/>
          <p:cNvPicPr>
            <a:picLocks noChangeAspect="1"/>
          </p:cNvPicPr>
          <p:nvPr/>
        </p:nvPicPr>
        <p:blipFill>
          <a:blip r:embed="rId3"/>
          <a:stretch>
            <a:fillRect/>
          </a:stretch>
        </p:blipFill>
        <p:spPr>
          <a:xfrm>
            <a:off x="0" y="1752600"/>
            <a:ext cx="8980564" cy="3505200"/>
          </a:xfrm>
          <a:prstGeom prst="rect">
            <a:avLst/>
          </a:prstGeom>
        </p:spPr>
      </p:pic>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gray">
          <a:xfrm>
            <a:off x="152400" y="152400"/>
            <a:ext cx="8077200" cy="45720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p>
            <a:r>
              <a:rPr lang="en-US" sz="2800" b="1" dirty="0"/>
              <a:t>The plasma membrane: the boundary of cells</a:t>
            </a:r>
            <a:endParaRPr lang="en-US" sz="2800" b="1" kern="0" dirty="0"/>
          </a:p>
        </p:txBody>
      </p:sp>
      <p:sp>
        <p:nvSpPr>
          <p:cNvPr id="8" name="Title 1"/>
          <p:cNvSpPr>
            <a:spLocks noGrp="1"/>
          </p:cNvSpPr>
          <p:nvPr>
            <p:ph type="title"/>
          </p:nvPr>
        </p:nvSpPr>
        <p:spPr>
          <a:xfrm>
            <a:off x="152400" y="838200"/>
            <a:ext cx="9525000" cy="685800"/>
          </a:xfrm>
        </p:spPr>
        <p:txBody>
          <a:bodyPr>
            <a:normAutofit/>
          </a:bodyPr>
          <a:lstStyle/>
          <a:p>
            <a:pPr>
              <a:lnSpc>
                <a:spcPct val="100000"/>
              </a:lnSpc>
            </a:pPr>
            <a:r>
              <a:rPr lang="en-US" sz="3600" b="1" dirty="0">
                <a:solidFill>
                  <a:schemeClr val="tx1"/>
                </a:solidFill>
              </a:rPr>
              <a:t>The internal and external environments</a:t>
            </a:r>
            <a:endParaRPr lang="en-AU" sz="2000" b="1" dirty="0">
              <a:solidFill>
                <a:schemeClr val="tx1"/>
              </a:solidFill>
            </a:endParaRPr>
          </a:p>
        </p:txBody>
      </p:sp>
      <p:pic>
        <p:nvPicPr>
          <p:cNvPr id="3" name="Picture 2"/>
          <p:cNvPicPr>
            <a:picLocks noChangeAspect="1"/>
          </p:cNvPicPr>
          <p:nvPr/>
        </p:nvPicPr>
        <p:blipFill>
          <a:blip r:embed="rId3"/>
          <a:stretch>
            <a:fillRect/>
          </a:stretch>
        </p:blipFill>
        <p:spPr>
          <a:xfrm>
            <a:off x="0" y="2438400"/>
            <a:ext cx="9086376" cy="2438400"/>
          </a:xfrm>
          <a:prstGeom prst="rect">
            <a:avLst/>
          </a:prstGeom>
        </p:spPr>
      </p:pic>
    </p:spTree>
    <p:extLst>
      <p:ext uri="{BB962C8B-B14F-4D97-AF65-F5344CB8AC3E}">
        <p14:creationId xmlns:p14="http://schemas.microsoft.com/office/powerpoint/2010/main" val="3224923668"/>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gray">
          <a:xfrm>
            <a:off x="152400" y="152400"/>
            <a:ext cx="8153400" cy="45720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p>
            <a:r>
              <a:rPr lang="en-US" sz="2800" b="1" dirty="0"/>
              <a:t>The plasma membrane: the boundary of cells</a:t>
            </a:r>
            <a:endParaRPr lang="en-US" sz="2800" b="1" kern="0" dirty="0"/>
          </a:p>
        </p:txBody>
      </p:sp>
      <p:sp>
        <p:nvSpPr>
          <p:cNvPr id="8" name="Title 1"/>
          <p:cNvSpPr>
            <a:spLocks noGrp="1"/>
          </p:cNvSpPr>
          <p:nvPr>
            <p:ph type="title"/>
          </p:nvPr>
        </p:nvSpPr>
        <p:spPr>
          <a:xfrm>
            <a:off x="76200" y="914400"/>
            <a:ext cx="9138385" cy="685800"/>
          </a:xfrm>
        </p:spPr>
        <p:txBody>
          <a:bodyPr>
            <a:normAutofit/>
          </a:bodyPr>
          <a:lstStyle/>
          <a:p>
            <a:pPr>
              <a:lnSpc>
                <a:spcPct val="100000"/>
              </a:lnSpc>
            </a:pPr>
            <a:r>
              <a:rPr lang="en-US" sz="3200" b="1" dirty="0"/>
              <a:t>The internal environment of cells is kept stable</a:t>
            </a:r>
            <a:endParaRPr lang="en-AU" sz="3200" b="1" dirty="0"/>
          </a:p>
        </p:txBody>
      </p:sp>
      <p:sp>
        <p:nvSpPr>
          <p:cNvPr id="5" name="Rectangle 4"/>
          <p:cNvSpPr/>
          <p:nvPr/>
        </p:nvSpPr>
        <p:spPr>
          <a:xfrm>
            <a:off x="533399" y="1600200"/>
            <a:ext cx="8159015" cy="3416320"/>
          </a:xfrm>
          <a:prstGeom prst="rect">
            <a:avLst/>
          </a:prstGeom>
        </p:spPr>
        <p:txBody>
          <a:bodyPr wrap="square">
            <a:spAutoFit/>
          </a:bodyPr>
          <a:lstStyle/>
          <a:p>
            <a:pPr marL="514350" indent="-514350">
              <a:buFont typeface="Arial" panose="020B0604020202020204" pitchFamily="34" charset="0"/>
              <a:buChar char="•"/>
            </a:pPr>
            <a:r>
              <a:rPr lang="en-US" sz="2400" dirty="0"/>
              <a:t>Plasma membrane regulates the internal environment.</a:t>
            </a:r>
          </a:p>
          <a:p>
            <a:pPr marL="514350" indent="-514350">
              <a:buFont typeface="Arial" panose="020B0604020202020204" pitchFamily="34" charset="0"/>
              <a:buChar char="•"/>
            </a:pPr>
            <a:r>
              <a:rPr lang="en-US" sz="2400" dirty="0"/>
              <a:t>Complex chemical reaction including respiration and photosynthesis.</a:t>
            </a:r>
          </a:p>
          <a:p>
            <a:pPr marL="514350" indent="-514350">
              <a:buFont typeface="Arial" panose="020B0604020202020204" pitchFamily="34" charset="0"/>
              <a:buChar char="•"/>
            </a:pPr>
            <a:r>
              <a:rPr lang="en-US" sz="2400" dirty="0"/>
              <a:t>Enzymes can only perform their tasks within narrow temperature and pH ranges. </a:t>
            </a:r>
          </a:p>
          <a:p>
            <a:pPr marL="514350" indent="-514350">
              <a:buFont typeface="Arial" panose="020B0604020202020204" pitchFamily="34" charset="0"/>
              <a:buChar char="•"/>
            </a:pPr>
            <a:r>
              <a:rPr lang="en-US" sz="2400" dirty="0"/>
              <a:t>Hydrogen ion concentrations kept within strict limits to maintain suitable cytoplasmic pH.</a:t>
            </a:r>
          </a:p>
          <a:p>
            <a:pPr marL="514350" indent="-514350">
              <a:buFont typeface="Arial" panose="020B0604020202020204" pitchFamily="34" charset="0"/>
              <a:buChar char="•"/>
            </a:pPr>
            <a:r>
              <a:rPr lang="en-US" sz="2400" dirty="0"/>
              <a:t>Toxic waste products are removed to ensure they do not interfere with chemical reactions in the cytoplasm. </a:t>
            </a: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gray">
          <a:xfrm>
            <a:off x="152400" y="152400"/>
            <a:ext cx="8077200" cy="45720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p>
            <a:r>
              <a:rPr lang="en-US" sz="2800" b="1" dirty="0"/>
              <a:t>The plasma membrane: the boundary of cells</a:t>
            </a:r>
            <a:endParaRPr lang="en-US" sz="2800" b="1" kern="0" dirty="0"/>
          </a:p>
        </p:txBody>
      </p:sp>
      <p:pic>
        <p:nvPicPr>
          <p:cNvPr id="2" name="Picture 1"/>
          <p:cNvPicPr>
            <a:picLocks noChangeAspect="1"/>
          </p:cNvPicPr>
          <p:nvPr/>
        </p:nvPicPr>
        <p:blipFill rotWithShape="1">
          <a:blip r:embed="rId3"/>
          <a:srcRect l="1942"/>
          <a:stretch/>
        </p:blipFill>
        <p:spPr>
          <a:xfrm>
            <a:off x="76200" y="1676400"/>
            <a:ext cx="7696200" cy="4935104"/>
          </a:xfrm>
          <a:prstGeom prst="rect">
            <a:avLst/>
          </a:prstGeom>
        </p:spPr>
      </p:pic>
      <p:sp>
        <p:nvSpPr>
          <p:cNvPr id="8" name="Title 1"/>
          <p:cNvSpPr>
            <a:spLocks noGrp="1"/>
          </p:cNvSpPr>
          <p:nvPr>
            <p:ph type="title"/>
          </p:nvPr>
        </p:nvSpPr>
        <p:spPr>
          <a:xfrm>
            <a:off x="76200" y="829778"/>
            <a:ext cx="8991600" cy="876300"/>
          </a:xfrm>
        </p:spPr>
        <p:txBody>
          <a:bodyPr>
            <a:normAutofit/>
          </a:bodyPr>
          <a:lstStyle/>
          <a:p>
            <a:pPr>
              <a:lnSpc>
                <a:spcPct val="100000"/>
              </a:lnSpc>
            </a:pPr>
            <a:r>
              <a:rPr lang="en-US" sz="3200" b="1" dirty="0">
                <a:solidFill>
                  <a:schemeClr val="tx1"/>
                </a:solidFill>
              </a:rPr>
              <a:t>Structure of membranes: the fluid mosaic model</a:t>
            </a:r>
            <a:endParaRPr lang="en-AU" sz="3200" b="1" dirty="0">
              <a:solidFill>
                <a:schemeClr val="tx1"/>
              </a:solidFill>
            </a:endParaRPr>
          </a:p>
        </p:txBody>
      </p:sp>
      <p:pic>
        <p:nvPicPr>
          <p:cNvPr id="3" name="Picture 2"/>
          <p:cNvPicPr>
            <a:picLocks noChangeAspect="1"/>
          </p:cNvPicPr>
          <p:nvPr/>
        </p:nvPicPr>
        <p:blipFill>
          <a:blip r:embed="rId4"/>
          <a:stretch>
            <a:fillRect/>
          </a:stretch>
        </p:blipFill>
        <p:spPr>
          <a:xfrm>
            <a:off x="7318233" y="3776951"/>
            <a:ext cx="1749567" cy="810202"/>
          </a:xfrm>
          <a:prstGeom prst="rect">
            <a:avLst/>
          </a:prstGeom>
        </p:spPr>
      </p:pic>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a:srcRect l="4151" t="675" r="2900" b="-1"/>
          <a:stretch/>
        </p:blipFill>
        <p:spPr>
          <a:xfrm>
            <a:off x="1429352" y="1524000"/>
            <a:ext cx="7696200" cy="5058154"/>
          </a:xfrm>
          <a:prstGeom prst="rect">
            <a:avLst/>
          </a:prstGeom>
        </p:spPr>
      </p:pic>
      <p:sp>
        <p:nvSpPr>
          <p:cNvPr id="7" name="Title 1"/>
          <p:cNvSpPr txBox="1">
            <a:spLocks/>
          </p:cNvSpPr>
          <p:nvPr/>
        </p:nvSpPr>
        <p:spPr bwMode="gray">
          <a:xfrm>
            <a:off x="152400" y="152400"/>
            <a:ext cx="8534400" cy="45720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p>
            <a:r>
              <a:rPr lang="en-US" sz="2800" b="1" dirty="0"/>
              <a:t>The plasma membrane: the boundary of cells</a:t>
            </a:r>
            <a:endParaRPr lang="en-US" sz="2800" b="1" kern="0" dirty="0"/>
          </a:p>
        </p:txBody>
      </p:sp>
      <p:sp>
        <p:nvSpPr>
          <p:cNvPr id="8" name="Title 1"/>
          <p:cNvSpPr>
            <a:spLocks noGrp="1"/>
          </p:cNvSpPr>
          <p:nvPr>
            <p:ph type="title"/>
          </p:nvPr>
        </p:nvSpPr>
        <p:spPr>
          <a:xfrm>
            <a:off x="152400" y="914400"/>
            <a:ext cx="9220200" cy="685800"/>
          </a:xfrm>
        </p:spPr>
        <p:txBody>
          <a:bodyPr>
            <a:normAutofit/>
          </a:bodyPr>
          <a:lstStyle/>
          <a:p>
            <a:pPr>
              <a:lnSpc>
                <a:spcPct val="100000"/>
              </a:lnSpc>
            </a:pPr>
            <a:r>
              <a:rPr lang="en-US" sz="3200" b="1" dirty="0">
                <a:solidFill>
                  <a:schemeClr val="tx1"/>
                </a:solidFill>
              </a:rPr>
              <a:t>Structure of membranes: the fluid mosaic model</a:t>
            </a:r>
            <a:endParaRPr lang="en-AU" sz="3200" b="1" dirty="0">
              <a:solidFill>
                <a:schemeClr val="tx1"/>
              </a:solidFill>
            </a:endParaRPr>
          </a:p>
        </p:txBody>
      </p:sp>
      <p:pic>
        <p:nvPicPr>
          <p:cNvPr id="3" name="Picture 2"/>
          <p:cNvPicPr>
            <a:picLocks noChangeAspect="1"/>
          </p:cNvPicPr>
          <p:nvPr/>
        </p:nvPicPr>
        <p:blipFill rotWithShape="1">
          <a:blip r:embed="rId4"/>
          <a:srcRect l="10638"/>
          <a:stretch/>
        </p:blipFill>
        <p:spPr>
          <a:xfrm>
            <a:off x="152400" y="5715000"/>
            <a:ext cx="1515980" cy="932736"/>
          </a:xfrm>
          <a:prstGeom prst="rect">
            <a:avLst/>
          </a:prstGeom>
        </p:spPr>
      </p:pic>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gray">
          <a:xfrm>
            <a:off x="152400" y="152400"/>
            <a:ext cx="7467600" cy="45720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p>
            <a:r>
              <a:rPr lang="en-US" sz="2800" b="1" dirty="0"/>
              <a:t>Passive movement across membranes</a:t>
            </a:r>
            <a:endParaRPr lang="en-US" sz="2800" b="1" kern="0" dirty="0"/>
          </a:p>
        </p:txBody>
      </p:sp>
      <p:sp>
        <p:nvSpPr>
          <p:cNvPr id="8" name="Title 1"/>
          <p:cNvSpPr>
            <a:spLocks noGrp="1"/>
          </p:cNvSpPr>
          <p:nvPr>
            <p:ph type="title"/>
          </p:nvPr>
        </p:nvSpPr>
        <p:spPr>
          <a:xfrm>
            <a:off x="395438" y="1219200"/>
            <a:ext cx="8229600" cy="685800"/>
          </a:xfrm>
        </p:spPr>
        <p:txBody>
          <a:bodyPr/>
          <a:lstStyle/>
          <a:p>
            <a:pPr>
              <a:lnSpc>
                <a:spcPct val="100000"/>
              </a:lnSpc>
            </a:pPr>
            <a:r>
              <a:rPr lang="en-US" sz="3600" b="1" dirty="0">
                <a:solidFill>
                  <a:schemeClr val="tx1"/>
                </a:solidFill>
              </a:rPr>
              <a:t>Diffusion</a:t>
            </a:r>
            <a:endParaRPr lang="en-AU" sz="2000" b="1" dirty="0">
              <a:solidFill>
                <a:schemeClr val="tx1"/>
              </a:solidFill>
            </a:endParaRPr>
          </a:p>
        </p:txBody>
      </p:sp>
      <p:pic>
        <p:nvPicPr>
          <p:cNvPr id="2" name="Picture 1"/>
          <p:cNvPicPr>
            <a:picLocks noChangeAspect="1"/>
          </p:cNvPicPr>
          <p:nvPr/>
        </p:nvPicPr>
        <p:blipFill rotWithShape="1">
          <a:blip r:embed="rId3"/>
          <a:srcRect l="3164" t="16401" r="1325" b="1595"/>
          <a:stretch/>
        </p:blipFill>
        <p:spPr>
          <a:xfrm>
            <a:off x="304800" y="2204586"/>
            <a:ext cx="8763000" cy="3048000"/>
          </a:xfrm>
          <a:prstGeom prst="rect">
            <a:avLst/>
          </a:prstGeom>
        </p:spPr>
      </p:pic>
      <p:pic>
        <p:nvPicPr>
          <p:cNvPr id="3" name="Picture 2"/>
          <p:cNvPicPr>
            <a:picLocks noChangeAspect="1"/>
          </p:cNvPicPr>
          <p:nvPr/>
        </p:nvPicPr>
        <p:blipFill>
          <a:blip r:embed="rId4"/>
          <a:stretch>
            <a:fillRect/>
          </a:stretch>
        </p:blipFill>
        <p:spPr>
          <a:xfrm>
            <a:off x="0" y="5486400"/>
            <a:ext cx="2481263" cy="1136347"/>
          </a:xfrm>
          <a:prstGeom prst="rect">
            <a:avLst/>
          </a:prstGeom>
        </p:spPr>
      </p:pic>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gray">
          <a:xfrm>
            <a:off x="152400" y="152400"/>
            <a:ext cx="7467600" cy="45720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p>
            <a:r>
              <a:rPr lang="en-US" sz="2800" b="1" dirty="0"/>
              <a:t>Passive movement across membranes</a:t>
            </a:r>
            <a:endParaRPr lang="en-US" sz="2800" b="1" kern="0" dirty="0"/>
          </a:p>
        </p:txBody>
      </p:sp>
      <p:sp>
        <p:nvSpPr>
          <p:cNvPr id="8" name="Title 1"/>
          <p:cNvSpPr>
            <a:spLocks noGrp="1"/>
          </p:cNvSpPr>
          <p:nvPr>
            <p:ph type="title"/>
          </p:nvPr>
        </p:nvSpPr>
        <p:spPr>
          <a:xfrm>
            <a:off x="533400" y="990600"/>
            <a:ext cx="8229600" cy="685800"/>
          </a:xfrm>
        </p:spPr>
        <p:txBody>
          <a:bodyPr/>
          <a:lstStyle/>
          <a:p>
            <a:pPr>
              <a:lnSpc>
                <a:spcPct val="100000"/>
              </a:lnSpc>
            </a:pPr>
            <a:r>
              <a:rPr lang="en-US" sz="3600" b="1" dirty="0">
                <a:solidFill>
                  <a:schemeClr val="tx1"/>
                </a:solidFill>
              </a:rPr>
              <a:t>Diffusion</a:t>
            </a:r>
            <a:endParaRPr lang="en-AU" sz="2000" b="1" dirty="0">
              <a:solidFill>
                <a:schemeClr val="tx1"/>
              </a:solidFill>
            </a:endParaRPr>
          </a:p>
        </p:txBody>
      </p:sp>
      <p:sp>
        <p:nvSpPr>
          <p:cNvPr id="15" name="Rectangle 14"/>
          <p:cNvSpPr/>
          <p:nvPr/>
        </p:nvSpPr>
        <p:spPr>
          <a:xfrm>
            <a:off x="617193" y="2514600"/>
            <a:ext cx="8145807" cy="1015663"/>
          </a:xfrm>
          <a:prstGeom prst="rect">
            <a:avLst/>
          </a:prstGeom>
        </p:spPr>
        <p:txBody>
          <a:bodyPr wrap="square">
            <a:spAutoFit/>
          </a:bodyPr>
          <a:lstStyle/>
          <a:p>
            <a:pPr algn="just"/>
            <a:r>
              <a:rPr lang="en-US" sz="2000" dirty="0"/>
              <a:t>Movement of particles down a concentration gradient, from where they are in high concentration to where they are in low concentration, is passive and does not require energy.</a:t>
            </a:r>
          </a:p>
        </p:txBody>
      </p:sp>
      <p:sp>
        <p:nvSpPr>
          <p:cNvPr id="5" name="Rectangle 4"/>
          <p:cNvSpPr/>
          <p:nvPr/>
        </p:nvSpPr>
        <p:spPr bwMode="auto">
          <a:xfrm>
            <a:off x="533400" y="2438400"/>
            <a:ext cx="8229600" cy="1219200"/>
          </a:xfrm>
          <a:prstGeom prst="rect">
            <a:avLst/>
          </a:prstGeom>
          <a:noFill/>
          <a:ln w="19050" cap="flat" cmpd="sng" algn="ctr">
            <a:solidFill>
              <a:schemeClr val="accent1">
                <a:lumMod val="75000"/>
                <a:lumOff val="2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ndParaRP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gray">
          <a:xfrm>
            <a:off x="149192" y="152400"/>
            <a:ext cx="7467600" cy="45720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p>
            <a:r>
              <a:rPr lang="en-US" sz="2800" b="1" dirty="0"/>
              <a:t>Passive movement across membranes</a:t>
            </a:r>
            <a:endParaRPr lang="en-US" sz="2800" b="1" kern="0" dirty="0"/>
          </a:p>
        </p:txBody>
      </p:sp>
      <p:sp>
        <p:nvSpPr>
          <p:cNvPr id="8" name="Title 1"/>
          <p:cNvSpPr>
            <a:spLocks noGrp="1"/>
          </p:cNvSpPr>
          <p:nvPr>
            <p:ph type="title"/>
          </p:nvPr>
        </p:nvSpPr>
        <p:spPr>
          <a:xfrm>
            <a:off x="533400" y="990600"/>
            <a:ext cx="8229600" cy="685800"/>
          </a:xfrm>
        </p:spPr>
        <p:txBody>
          <a:bodyPr/>
          <a:lstStyle/>
          <a:p>
            <a:pPr>
              <a:lnSpc>
                <a:spcPct val="100000"/>
              </a:lnSpc>
            </a:pPr>
            <a:r>
              <a:rPr lang="en-US" sz="3600" b="1" dirty="0">
                <a:solidFill>
                  <a:schemeClr val="tx1"/>
                </a:solidFill>
              </a:rPr>
              <a:t>Diffusion</a:t>
            </a:r>
            <a:endParaRPr lang="en-AU" sz="2000" b="1" dirty="0">
              <a:solidFill>
                <a:schemeClr val="tx1"/>
              </a:solidFill>
            </a:endParaRPr>
          </a:p>
        </p:txBody>
      </p:sp>
      <p:sp>
        <p:nvSpPr>
          <p:cNvPr id="9" name="Rectangle 8"/>
          <p:cNvSpPr/>
          <p:nvPr/>
        </p:nvSpPr>
        <p:spPr>
          <a:xfrm>
            <a:off x="400824" y="1752600"/>
            <a:ext cx="4737131" cy="523220"/>
          </a:xfrm>
          <a:prstGeom prst="rect">
            <a:avLst/>
          </a:prstGeom>
        </p:spPr>
        <p:txBody>
          <a:bodyPr wrap="none">
            <a:spAutoFit/>
          </a:bodyPr>
          <a:lstStyle/>
          <a:p>
            <a:r>
              <a:rPr lang="en-US" sz="2800" dirty="0"/>
              <a:t>Diffusion across membranes</a:t>
            </a:r>
          </a:p>
        </p:txBody>
      </p:sp>
      <p:pic>
        <p:nvPicPr>
          <p:cNvPr id="2" name="Picture 1"/>
          <p:cNvPicPr>
            <a:picLocks noChangeAspect="1"/>
          </p:cNvPicPr>
          <p:nvPr/>
        </p:nvPicPr>
        <p:blipFill rotWithShape="1">
          <a:blip r:embed="rId3"/>
          <a:srcRect t="6129" r="4027"/>
          <a:stretch/>
        </p:blipFill>
        <p:spPr>
          <a:xfrm>
            <a:off x="152400" y="2895600"/>
            <a:ext cx="8908026" cy="2646822"/>
          </a:xfrm>
          <a:prstGeom prst="rect">
            <a:avLst/>
          </a:prstGeom>
        </p:spPr>
      </p:pic>
      <p:pic>
        <p:nvPicPr>
          <p:cNvPr id="3" name="Picture 2"/>
          <p:cNvPicPr>
            <a:picLocks noChangeAspect="1"/>
          </p:cNvPicPr>
          <p:nvPr/>
        </p:nvPicPr>
        <p:blipFill>
          <a:blip r:embed="rId4"/>
          <a:stretch>
            <a:fillRect/>
          </a:stretch>
        </p:blipFill>
        <p:spPr>
          <a:xfrm>
            <a:off x="6487875" y="1295400"/>
            <a:ext cx="2264250" cy="1273641"/>
          </a:xfrm>
          <a:prstGeom prst="rect">
            <a:avLst/>
          </a:prstGeom>
        </p:spPr>
      </p:pic>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gray">
          <a:xfrm>
            <a:off x="152400" y="152400"/>
            <a:ext cx="7467600" cy="45720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p>
            <a:r>
              <a:rPr lang="en-US" sz="2800" b="1" dirty="0"/>
              <a:t>Passive movement across membranes</a:t>
            </a:r>
            <a:endParaRPr lang="en-US" sz="2800" b="1" kern="0" dirty="0"/>
          </a:p>
        </p:txBody>
      </p:sp>
      <p:sp>
        <p:nvSpPr>
          <p:cNvPr id="8" name="Title 1"/>
          <p:cNvSpPr>
            <a:spLocks noGrp="1"/>
          </p:cNvSpPr>
          <p:nvPr>
            <p:ph type="title"/>
          </p:nvPr>
        </p:nvSpPr>
        <p:spPr>
          <a:xfrm>
            <a:off x="126577" y="809674"/>
            <a:ext cx="8229600" cy="685800"/>
          </a:xfrm>
        </p:spPr>
        <p:txBody>
          <a:bodyPr/>
          <a:lstStyle/>
          <a:p>
            <a:pPr>
              <a:lnSpc>
                <a:spcPct val="100000"/>
              </a:lnSpc>
            </a:pPr>
            <a:r>
              <a:rPr lang="en-US" sz="3600" b="1" dirty="0">
                <a:solidFill>
                  <a:schemeClr val="tx1"/>
                </a:solidFill>
              </a:rPr>
              <a:t>Diffusion</a:t>
            </a:r>
            <a:endParaRPr lang="en-AU" sz="2000" b="1" dirty="0">
              <a:solidFill>
                <a:schemeClr val="tx1"/>
              </a:solidFill>
            </a:endParaRPr>
          </a:p>
        </p:txBody>
      </p:sp>
      <p:sp>
        <p:nvSpPr>
          <p:cNvPr id="9" name="Rectangle 8"/>
          <p:cNvSpPr/>
          <p:nvPr/>
        </p:nvSpPr>
        <p:spPr>
          <a:xfrm>
            <a:off x="2257421" y="908967"/>
            <a:ext cx="3257558" cy="523220"/>
          </a:xfrm>
          <a:prstGeom prst="rect">
            <a:avLst/>
          </a:prstGeom>
        </p:spPr>
        <p:txBody>
          <a:bodyPr wrap="none">
            <a:spAutoFit/>
          </a:bodyPr>
          <a:lstStyle/>
          <a:p>
            <a:r>
              <a:rPr lang="en-US" sz="2800" dirty="0"/>
              <a:t>Facilitated diffusion</a:t>
            </a:r>
          </a:p>
        </p:txBody>
      </p:sp>
      <p:pic>
        <p:nvPicPr>
          <p:cNvPr id="4" name="Picture 3"/>
          <p:cNvPicPr>
            <a:picLocks noChangeAspect="1"/>
          </p:cNvPicPr>
          <p:nvPr/>
        </p:nvPicPr>
        <p:blipFill rotWithShape="1">
          <a:blip r:embed="rId3"/>
          <a:srcRect r="961"/>
          <a:stretch/>
        </p:blipFill>
        <p:spPr>
          <a:xfrm>
            <a:off x="1295400" y="4267200"/>
            <a:ext cx="7848600" cy="2477741"/>
          </a:xfrm>
          <a:prstGeom prst="rect">
            <a:avLst/>
          </a:prstGeom>
        </p:spPr>
      </p:pic>
      <p:pic>
        <p:nvPicPr>
          <p:cNvPr id="12" name="Picture 11"/>
          <p:cNvPicPr>
            <a:picLocks noChangeAspect="1"/>
          </p:cNvPicPr>
          <p:nvPr/>
        </p:nvPicPr>
        <p:blipFill>
          <a:blip r:embed="rId4"/>
          <a:stretch>
            <a:fillRect/>
          </a:stretch>
        </p:blipFill>
        <p:spPr>
          <a:xfrm>
            <a:off x="1966916" y="1377632"/>
            <a:ext cx="7096125" cy="2676525"/>
          </a:xfrm>
          <a:prstGeom prst="rect">
            <a:avLst/>
          </a:prstGeom>
        </p:spPr>
      </p:pic>
      <p:pic>
        <p:nvPicPr>
          <p:cNvPr id="13" name="Picture 12"/>
          <p:cNvPicPr>
            <a:picLocks noChangeAspect="1"/>
          </p:cNvPicPr>
          <p:nvPr/>
        </p:nvPicPr>
        <p:blipFill rotWithShape="1">
          <a:blip r:embed="rId4"/>
          <a:srcRect r="95101" b="84164"/>
          <a:stretch/>
        </p:blipFill>
        <p:spPr>
          <a:xfrm>
            <a:off x="1597821" y="1876318"/>
            <a:ext cx="347663" cy="423863"/>
          </a:xfrm>
          <a:prstGeom prst="rect">
            <a:avLst/>
          </a:prstGeom>
        </p:spPr>
      </p:pic>
      <p:pic>
        <p:nvPicPr>
          <p:cNvPr id="15" name="Picture 14"/>
          <p:cNvPicPr>
            <a:picLocks noChangeAspect="1"/>
          </p:cNvPicPr>
          <p:nvPr/>
        </p:nvPicPr>
        <p:blipFill rotWithShape="1">
          <a:blip r:embed="rId5"/>
          <a:srcRect l="-1" t="18820" r="1870"/>
          <a:stretch/>
        </p:blipFill>
        <p:spPr>
          <a:xfrm>
            <a:off x="0" y="3658456"/>
            <a:ext cx="1467465" cy="989744"/>
          </a:xfrm>
          <a:prstGeom prst="rect">
            <a:avLst/>
          </a:prstGeom>
        </p:spPr>
      </p:pic>
      <p:pic>
        <p:nvPicPr>
          <p:cNvPr id="16" name="Picture 15"/>
          <p:cNvPicPr>
            <a:picLocks noChangeAspect="1"/>
          </p:cNvPicPr>
          <p:nvPr/>
        </p:nvPicPr>
        <p:blipFill>
          <a:blip r:embed="rId6"/>
          <a:stretch>
            <a:fillRect/>
          </a:stretch>
        </p:blipFill>
        <p:spPr>
          <a:xfrm>
            <a:off x="259559" y="1810405"/>
            <a:ext cx="1685925" cy="1552575"/>
          </a:xfrm>
          <a:prstGeom prst="rect">
            <a:avLst/>
          </a:prstGeom>
        </p:spPr>
      </p:pic>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gray">
          <a:xfrm>
            <a:off x="152400" y="152400"/>
            <a:ext cx="7467600" cy="45720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p>
            <a:r>
              <a:rPr lang="en-US" sz="2800" b="1" dirty="0"/>
              <a:t>Passive movement across membranes</a:t>
            </a:r>
            <a:endParaRPr lang="en-US" sz="2800" b="1" kern="0" dirty="0"/>
          </a:p>
        </p:txBody>
      </p:sp>
      <p:sp>
        <p:nvSpPr>
          <p:cNvPr id="8" name="Title 1"/>
          <p:cNvSpPr>
            <a:spLocks noGrp="1"/>
          </p:cNvSpPr>
          <p:nvPr>
            <p:ph type="title"/>
          </p:nvPr>
        </p:nvSpPr>
        <p:spPr>
          <a:xfrm>
            <a:off x="533400" y="990600"/>
            <a:ext cx="8229600" cy="685800"/>
          </a:xfrm>
        </p:spPr>
        <p:txBody>
          <a:bodyPr/>
          <a:lstStyle/>
          <a:p>
            <a:pPr>
              <a:lnSpc>
                <a:spcPct val="100000"/>
              </a:lnSpc>
            </a:pPr>
            <a:r>
              <a:rPr lang="en-US" sz="3600" b="1" dirty="0">
                <a:solidFill>
                  <a:schemeClr val="tx1"/>
                </a:solidFill>
              </a:rPr>
              <a:t>Osmosis</a:t>
            </a:r>
            <a:endParaRPr lang="en-AU" sz="2000" b="1" dirty="0">
              <a:solidFill>
                <a:schemeClr val="tx1"/>
              </a:solidFill>
            </a:endParaRPr>
          </a:p>
        </p:txBody>
      </p:sp>
      <p:sp>
        <p:nvSpPr>
          <p:cNvPr id="15" name="Rectangle 14"/>
          <p:cNvSpPr/>
          <p:nvPr/>
        </p:nvSpPr>
        <p:spPr>
          <a:xfrm>
            <a:off x="617193" y="2514600"/>
            <a:ext cx="8145807" cy="1323439"/>
          </a:xfrm>
          <a:prstGeom prst="rect">
            <a:avLst/>
          </a:prstGeom>
        </p:spPr>
        <p:txBody>
          <a:bodyPr wrap="square">
            <a:spAutoFit/>
          </a:bodyPr>
          <a:lstStyle/>
          <a:p>
            <a:pPr algn="just"/>
            <a:r>
              <a:rPr lang="en-US" sz="2000" dirty="0"/>
              <a:t>Movement of water, across a semi-permeable membrane, down a concentration gradient, from where water is in high concentration to where it is in low concentration.  It is passive and does not require energy.</a:t>
            </a:r>
          </a:p>
        </p:txBody>
      </p:sp>
      <p:sp>
        <p:nvSpPr>
          <p:cNvPr id="5" name="Rectangle 4"/>
          <p:cNvSpPr/>
          <p:nvPr/>
        </p:nvSpPr>
        <p:spPr bwMode="auto">
          <a:xfrm>
            <a:off x="533400" y="2438399"/>
            <a:ext cx="8229600" cy="1399639"/>
          </a:xfrm>
          <a:prstGeom prst="rect">
            <a:avLst/>
          </a:prstGeom>
          <a:noFill/>
          <a:ln w="19050" cap="flat" cmpd="sng" algn="ctr">
            <a:solidFill>
              <a:schemeClr val="accent1">
                <a:lumMod val="75000"/>
                <a:lumOff val="2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ndParaRPr>
          </a:p>
        </p:txBody>
      </p:sp>
    </p:spTree>
    <p:extLst>
      <p:ext uri="{BB962C8B-B14F-4D97-AF65-F5344CB8AC3E}">
        <p14:creationId xmlns:p14="http://schemas.microsoft.com/office/powerpoint/2010/main" val="3144327697"/>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304800" y="1188344"/>
            <a:ext cx="6500813" cy="3968310"/>
          </a:xfrm>
          <a:prstGeom prst="rect">
            <a:avLst/>
          </a:prstGeom>
        </p:spPr>
      </p:pic>
      <p:sp>
        <p:nvSpPr>
          <p:cNvPr id="7" name="Title 1"/>
          <p:cNvSpPr txBox="1">
            <a:spLocks/>
          </p:cNvSpPr>
          <p:nvPr/>
        </p:nvSpPr>
        <p:spPr bwMode="gray">
          <a:xfrm>
            <a:off x="152400" y="152400"/>
            <a:ext cx="7467600" cy="45720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p>
            <a:r>
              <a:rPr lang="en-US" sz="2800" b="1" dirty="0"/>
              <a:t>Passive movement across membranes</a:t>
            </a:r>
            <a:endParaRPr lang="en-US" sz="2800" b="1" kern="0" dirty="0"/>
          </a:p>
        </p:txBody>
      </p:sp>
      <p:sp>
        <p:nvSpPr>
          <p:cNvPr id="11" name="Rectangle 10"/>
          <p:cNvSpPr/>
          <p:nvPr/>
        </p:nvSpPr>
        <p:spPr>
          <a:xfrm>
            <a:off x="163629" y="5156654"/>
            <a:ext cx="8503118" cy="830997"/>
          </a:xfrm>
          <a:prstGeom prst="rect">
            <a:avLst/>
          </a:prstGeom>
        </p:spPr>
        <p:txBody>
          <a:bodyPr wrap="square">
            <a:spAutoFit/>
          </a:bodyPr>
          <a:lstStyle/>
          <a:p>
            <a:r>
              <a:rPr lang="fr-FR" sz="1600" dirty="0"/>
              <a:t>Solution (mixture of particles) = solvent particles + solute particles</a:t>
            </a:r>
          </a:p>
          <a:p>
            <a:r>
              <a:rPr lang="en-US" sz="1600" dirty="0"/>
              <a:t>High-concentration solution = low concentration of solvent + high concentration of solute</a:t>
            </a:r>
          </a:p>
          <a:p>
            <a:r>
              <a:rPr lang="en-US" sz="1600" dirty="0"/>
              <a:t>Low-concentration solution = high concentration of solvent + low concentration of solute</a:t>
            </a:r>
          </a:p>
        </p:txBody>
      </p:sp>
      <p:sp>
        <p:nvSpPr>
          <p:cNvPr id="12" name="Rectangle 11"/>
          <p:cNvSpPr/>
          <p:nvPr/>
        </p:nvSpPr>
        <p:spPr bwMode="auto">
          <a:xfrm>
            <a:off x="176463" y="5156654"/>
            <a:ext cx="8142973" cy="932212"/>
          </a:xfrm>
          <a:prstGeom prst="rect">
            <a:avLst/>
          </a:prstGeom>
          <a:noFill/>
          <a:ln w="19050" cap="flat" cmpd="sng" algn="ctr">
            <a:solidFill>
              <a:schemeClr val="accent1">
                <a:lumMod val="75000"/>
                <a:lumOff val="2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ndParaRPr>
          </a:p>
        </p:txBody>
      </p:sp>
      <p:sp>
        <p:nvSpPr>
          <p:cNvPr id="8" name="Title 1"/>
          <p:cNvSpPr>
            <a:spLocks noGrp="1"/>
          </p:cNvSpPr>
          <p:nvPr>
            <p:ph type="title"/>
          </p:nvPr>
        </p:nvSpPr>
        <p:spPr>
          <a:xfrm>
            <a:off x="426720" y="762000"/>
            <a:ext cx="8229600" cy="685800"/>
          </a:xfrm>
        </p:spPr>
        <p:txBody>
          <a:bodyPr/>
          <a:lstStyle/>
          <a:p>
            <a:pPr>
              <a:lnSpc>
                <a:spcPct val="100000"/>
              </a:lnSpc>
            </a:pPr>
            <a:r>
              <a:rPr lang="en-US" sz="3200" b="1" dirty="0">
                <a:solidFill>
                  <a:schemeClr val="tx1"/>
                </a:solidFill>
              </a:rPr>
              <a:t>Osmosis: a special type of diffusion</a:t>
            </a:r>
            <a:endParaRPr lang="en-AU" sz="1800" b="1" dirty="0">
              <a:solidFill>
                <a:schemeClr val="tx1"/>
              </a:solidFill>
            </a:endParaRPr>
          </a:p>
        </p:txBody>
      </p:sp>
      <p:pic>
        <p:nvPicPr>
          <p:cNvPr id="3" name="Picture 2"/>
          <p:cNvPicPr>
            <a:picLocks noChangeAspect="1"/>
          </p:cNvPicPr>
          <p:nvPr/>
        </p:nvPicPr>
        <p:blipFill>
          <a:blip r:embed="rId4"/>
          <a:stretch>
            <a:fillRect/>
          </a:stretch>
        </p:blipFill>
        <p:spPr>
          <a:xfrm>
            <a:off x="7086600" y="2667000"/>
            <a:ext cx="1894117" cy="893923"/>
          </a:xfrm>
          <a:prstGeom prst="rect">
            <a:avLst/>
          </a:prstGeom>
        </p:spPr>
      </p:pic>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gray">
          <a:xfrm>
            <a:off x="152400" y="123524"/>
            <a:ext cx="7467600" cy="45720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p>
            <a:r>
              <a:rPr lang="en-US" sz="2800" b="1" dirty="0"/>
              <a:t>Passive movement across membranes</a:t>
            </a:r>
            <a:endParaRPr lang="en-US" sz="2800" b="1" kern="0" dirty="0"/>
          </a:p>
        </p:txBody>
      </p:sp>
      <p:pic>
        <p:nvPicPr>
          <p:cNvPr id="2" name="Picture 1"/>
          <p:cNvPicPr>
            <a:picLocks noChangeAspect="1"/>
          </p:cNvPicPr>
          <p:nvPr/>
        </p:nvPicPr>
        <p:blipFill rotWithShape="1">
          <a:blip r:embed="rId3"/>
          <a:srcRect l="6015" t="3678" r="3759"/>
          <a:stretch/>
        </p:blipFill>
        <p:spPr>
          <a:xfrm>
            <a:off x="2133601" y="1501191"/>
            <a:ext cx="4953000" cy="5188740"/>
          </a:xfrm>
          <a:prstGeom prst="rect">
            <a:avLst/>
          </a:prstGeom>
        </p:spPr>
      </p:pic>
      <p:sp>
        <p:nvSpPr>
          <p:cNvPr id="8" name="Title 1"/>
          <p:cNvSpPr>
            <a:spLocks noGrp="1"/>
          </p:cNvSpPr>
          <p:nvPr>
            <p:ph type="title"/>
          </p:nvPr>
        </p:nvSpPr>
        <p:spPr>
          <a:xfrm>
            <a:off x="457200" y="685800"/>
            <a:ext cx="8229600" cy="685800"/>
          </a:xfrm>
        </p:spPr>
        <p:txBody>
          <a:bodyPr/>
          <a:lstStyle/>
          <a:p>
            <a:pPr>
              <a:lnSpc>
                <a:spcPct val="100000"/>
              </a:lnSpc>
            </a:pPr>
            <a:r>
              <a:rPr lang="en-US" sz="3200" b="1" dirty="0">
                <a:solidFill>
                  <a:schemeClr val="tx1"/>
                </a:solidFill>
              </a:rPr>
              <a:t>Osmosis: a special type of diffusion</a:t>
            </a:r>
            <a:endParaRPr lang="en-AU" sz="1800" b="1" dirty="0">
              <a:solidFill>
                <a:schemeClr val="tx1"/>
              </a:solidFill>
            </a:endParaRPr>
          </a:p>
        </p:txBody>
      </p:sp>
      <p:pic>
        <p:nvPicPr>
          <p:cNvPr id="3" name="Picture 2"/>
          <p:cNvPicPr>
            <a:picLocks noChangeAspect="1"/>
          </p:cNvPicPr>
          <p:nvPr/>
        </p:nvPicPr>
        <p:blipFill>
          <a:blip r:embed="rId4"/>
          <a:stretch>
            <a:fillRect/>
          </a:stretch>
        </p:blipFill>
        <p:spPr>
          <a:xfrm>
            <a:off x="65038" y="5334000"/>
            <a:ext cx="2157466" cy="1355931"/>
          </a:xfrm>
          <a:prstGeom prst="rect">
            <a:avLst/>
          </a:prstGeom>
        </p:spPr>
      </p:pic>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gray">
          <a:xfrm>
            <a:off x="152400" y="152400"/>
            <a:ext cx="7467600" cy="45720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p>
            <a:r>
              <a:rPr lang="en-US" sz="2800" b="1" dirty="0"/>
              <a:t>Passive movement across membranes</a:t>
            </a:r>
            <a:endParaRPr lang="en-US" sz="2800" b="1" kern="0" dirty="0"/>
          </a:p>
        </p:txBody>
      </p:sp>
      <p:sp>
        <p:nvSpPr>
          <p:cNvPr id="8" name="Title 1"/>
          <p:cNvSpPr>
            <a:spLocks noGrp="1"/>
          </p:cNvSpPr>
          <p:nvPr>
            <p:ph type="title"/>
          </p:nvPr>
        </p:nvSpPr>
        <p:spPr>
          <a:xfrm>
            <a:off x="533400" y="990600"/>
            <a:ext cx="8229600" cy="685800"/>
          </a:xfrm>
        </p:spPr>
        <p:txBody>
          <a:bodyPr>
            <a:normAutofit/>
          </a:bodyPr>
          <a:lstStyle/>
          <a:p>
            <a:pPr>
              <a:lnSpc>
                <a:spcPct val="100000"/>
              </a:lnSpc>
            </a:pPr>
            <a:r>
              <a:rPr lang="en-US" sz="3600" b="1" dirty="0">
                <a:solidFill>
                  <a:schemeClr val="tx1"/>
                </a:solidFill>
              </a:rPr>
              <a:t>Osmosis: a special type of diffusion</a:t>
            </a:r>
            <a:endParaRPr lang="en-AU" sz="2000" b="1" dirty="0">
              <a:solidFill>
                <a:schemeClr val="tx1"/>
              </a:solidFill>
            </a:endParaRPr>
          </a:p>
        </p:txBody>
      </p:sp>
      <p:pic>
        <p:nvPicPr>
          <p:cNvPr id="3" name="Picture 2"/>
          <p:cNvPicPr>
            <a:picLocks noChangeAspect="1"/>
          </p:cNvPicPr>
          <p:nvPr/>
        </p:nvPicPr>
        <p:blipFill rotWithShape="1">
          <a:blip r:embed="rId3"/>
          <a:srcRect/>
          <a:stretch/>
        </p:blipFill>
        <p:spPr>
          <a:xfrm>
            <a:off x="0" y="2438400"/>
            <a:ext cx="9036621" cy="3223842"/>
          </a:xfrm>
          <a:prstGeom prst="rect">
            <a:avLst/>
          </a:prstGeom>
        </p:spPr>
      </p:pic>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gray">
          <a:xfrm>
            <a:off x="152400" y="152400"/>
            <a:ext cx="7467600" cy="45720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p>
            <a:r>
              <a:rPr lang="en-US" sz="2800" b="1" dirty="0"/>
              <a:t>Passive movement across membranes</a:t>
            </a:r>
            <a:endParaRPr lang="en-US" sz="2800" b="1" kern="0" dirty="0"/>
          </a:p>
        </p:txBody>
      </p:sp>
      <p:sp>
        <p:nvSpPr>
          <p:cNvPr id="8" name="Title 1"/>
          <p:cNvSpPr>
            <a:spLocks noGrp="1"/>
          </p:cNvSpPr>
          <p:nvPr>
            <p:ph type="title"/>
          </p:nvPr>
        </p:nvSpPr>
        <p:spPr>
          <a:xfrm>
            <a:off x="533400" y="990600"/>
            <a:ext cx="8229600" cy="685800"/>
          </a:xfrm>
        </p:spPr>
        <p:txBody>
          <a:bodyPr>
            <a:normAutofit/>
          </a:bodyPr>
          <a:lstStyle/>
          <a:p>
            <a:pPr>
              <a:lnSpc>
                <a:spcPct val="100000"/>
              </a:lnSpc>
            </a:pPr>
            <a:r>
              <a:rPr lang="en-US" sz="3600" b="1" dirty="0">
                <a:solidFill>
                  <a:schemeClr val="tx1"/>
                </a:solidFill>
              </a:rPr>
              <a:t>Osmosis: a special type of diffusion</a:t>
            </a:r>
            <a:endParaRPr lang="en-AU" sz="2000" b="1" dirty="0">
              <a:solidFill>
                <a:schemeClr val="tx1"/>
              </a:solidFill>
            </a:endParaRPr>
          </a:p>
        </p:txBody>
      </p:sp>
      <p:sp>
        <p:nvSpPr>
          <p:cNvPr id="5" name="TextBox 4"/>
          <p:cNvSpPr txBox="1"/>
          <p:nvPr/>
        </p:nvSpPr>
        <p:spPr>
          <a:xfrm>
            <a:off x="533400" y="1752600"/>
            <a:ext cx="3302507" cy="523220"/>
          </a:xfrm>
          <a:prstGeom prst="rect">
            <a:avLst/>
          </a:prstGeom>
          <a:noFill/>
        </p:spPr>
        <p:txBody>
          <a:bodyPr wrap="none" rtlCol="0">
            <a:spAutoFit/>
          </a:bodyPr>
          <a:lstStyle/>
          <a:p>
            <a:r>
              <a:rPr lang="en-US" sz="2800" dirty="0"/>
              <a:t>Osmosis in animals</a:t>
            </a:r>
          </a:p>
        </p:txBody>
      </p:sp>
      <p:pic>
        <p:nvPicPr>
          <p:cNvPr id="2" name="Picture 1"/>
          <p:cNvPicPr>
            <a:picLocks noChangeAspect="1"/>
          </p:cNvPicPr>
          <p:nvPr/>
        </p:nvPicPr>
        <p:blipFill rotWithShape="1">
          <a:blip r:embed="rId3"/>
          <a:srcRect l="3288" t="1" b="977"/>
          <a:stretch/>
        </p:blipFill>
        <p:spPr>
          <a:xfrm>
            <a:off x="2165402" y="2258174"/>
            <a:ext cx="4800600" cy="3952442"/>
          </a:xfrm>
          <a:prstGeom prst="rect">
            <a:avLst/>
          </a:prstGeom>
        </p:spPr>
      </p:pic>
      <p:pic>
        <p:nvPicPr>
          <p:cNvPr id="3" name="Picture 2"/>
          <p:cNvPicPr>
            <a:picLocks noChangeAspect="1"/>
          </p:cNvPicPr>
          <p:nvPr/>
        </p:nvPicPr>
        <p:blipFill>
          <a:blip r:embed="rId4"/>
          <a:stretch>
            <a:fillRect/>
          </a:stretch>
        </p:blipFill>
        <p:spPr>
          <a:xfrm>
            <a:off x="130743" y="5410200"/>
            <a:ext cx="2209800" cy="1120798"/>
          </a:xfrm>
          <a:prstGeom prst="rect">
            <a:avLst/>
          </a:prstGeom>
        </p:spPr>
      </p:pic>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gray">
          <a:xfrm>
            <a:off x="152400" y="152400"/>
            <a:ext cx="7467600" cy="45720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p>
            <a:r>
              <a:rPr lang="en-US" sz="2800" b="1" dirty="0"/>
              <a:t>Passive movement across membranes</a:t>
            </a:r>
            <a:endParaRPr lang="en-US" sz="2800" b="1" kern="0" dirty="0"/>
          </a:p>
        </p:txBody>
      </p:sp>
      <p:sp>
        <p:nvSpPr>
          <p:cNvPr id="8" name="Title 1"/>
          <p:cNvSpPr>
            <a:spLocks noGrp="1"/>
          </p:cNvSpPr>
          <p:nvPr>
            <p:ph type="title"/>
          </p:nvPr>
        </p:nvSpPr>
        <p:spPr>
          <a:xfrm>
            <a:off x="304800" y="838200"/>
            <a:ext cx="8229600" cy="685800"/>
          </a:xfrm>
        </p:spPr>
        <p:txBody>
          <a:bodyPr>
            <a:normAutofit/>
          </a:bodyPr>
          <a:lstStyle/>
          <a:p>
            <a:pPr>
              <a:lnSpc>
                <a:spcPct val="100000"/>
              </a:lnSpc>
            </a:pPr>
            <a:r>
              <a:rPr lang="en-US" sz="3600" b="1" dirty="0">
                <a:solidFill>
                  <a:schemeClr val="tx1"/>
                </a:solidFill>
              </a:rPr>
              <a:t>Osmosis: a special type of diffusion</a:t>
            </a:r>
            <a:endParaRPr lang="en-AU" sz="2000" b="1" dirty="0">
              <a:solidFill>
                <a:schemeClr val="tx1"/>
              </a:solidFill>
            </a:endParaRPr>
          </a:p>
        </p:txBody>
      </p:sp>
      <p:sp>
        <p:nvSpPr>
          <p:cNvPr id="5" name="TextBox 4"/>
          <p:cNvSpPr txBox="1"/>
          <p:nvPr/>
        </p:nvSpPr>
        <p:spPr>
          <a:xfrm>
            <a:off x="533400" y="1752600"/>
            <a:ext cx="3302507" cy="523220"/>
          </a:xfrm>
          <a:prstGeom prst="rect">
            <a:avLst/>
          </a:prstGeom>
          <a:noFill/>
        </p:spPr>
        <p:txBody>
          <a:bodyPr wrap="none" rtlCol="0">
            <a:spAutoFit/>
          </a:bodyPr>
          <a:lstStyle/>
          <a:p>
            <a:r>
              <a:rPr lang="en-US" sz="2800" dirty="0"/>
              <a:t>Osmosis in animals</a:t>
            </a:r>
          </a:p>
        </p:txBody>
      </p:sp>
      <p:pic>
        <p:nvPicPr>
          <p:cNvPr id="3" name="Picture 2"/>
          <p:cNvPicPr>
            <a:picLocks noChangeAspect="1"/>
          </p:cNvPicPr>
          <p:nvPr/>
        </p:nvPicPr>
        <p:blipFill rotWithShape="1">
          <a:blip r:embed="rId3"/>
          <a:srcRect l="7438" t="3527"/>
          <a:stretch/>
        </p:blipFill>
        <p:spPr>
          <a:xfrm>
            <a:off x="497305" y="1752600"/>
            <a:ext cx="8534400" cy="4902874"/>
          </a:xfrm>
          <a:prstGeom prst="rect">
            <a:avLst/>
          </a:prstGeom>
        </p:spPr>
      </p:pic>
      <p:pic>
        <p:nvPicPr>
          <p:cNvPr id="4" name="Picture 3"/>
          <p:cNvPicPr>
            <a:picLocks noChangeAspect="1"/>
          </p:cNvPicPr>
          <p:nvPr/>
        </p:nvPicPr>
        <p:blipFill>
          <a:blip r:embed="rId4"/>
          <a:stretch>
            <a:fillRect/>
          </a:stretch>
        </p:blipFill>
        <p:spPr>
          <a:xfrm>
            <a:off x="152400" y="1447800"/>
            <a:ext cx="1943141" cy="1285179"/>
          </a:xfrm>
          <a:prstGeom prst="rect">
            <a:avLst/>
          </a:prstGeom>
        </p:spPr>
      </p:pic>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295400" y="1867301"/>
            <a:ext cx="7701763" cy="4841258"/>
          </a:xfrm>
          <a:prstGeom prst="rect">
            <a:avLst/>
          </a:prstGeom>
        </p:spPr>
      </p:pic>
      <p:sp>
        <p:nvSpPr>
          <p:cNvPr id="4" name="Title 1"/>
          <p:cNvSpPr txBox="1">
            <a:spLocks/>
          </p:cNvSpPr>
          <p:nvPr/>
        </p:nvSpPr>
        <p:spPr bwMode="gray">
          <a:xfrm>
            <a:off x="152400" y="152400"/>
            <a:ext cx="7467600" cy="45720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p>
            <a:r>
              <a:rPr lang="en-US" sz="2800" b="1" dirty="0"/>
              <a:t>Passive movement across membranes</a:t>
            </a:r>
            <a:endParaRPr lang="en-US" sz="2800" b="1" kern="0" dirty="0"/>
          </a:p>
        </p:txBody>
      </p:sp>
      <p:sp>
        <p:nvSpPr>
          <p:cNvPr id="5" name="Title 1"/>
          <p:cNvSpPr>
            <a:spLocks noGrp="1"/>
          </p:cNvSpPr>
          <p:nvPr>
            <p:ph type="title"/>
          </p:nvPr>
        </p:nvSpPr>
        <p:spPr>
          <a:xfrm>
            <a:off x="28876" y="672785"/>
            <a:ext cx="8229600" cy="685800"/>
          </a:xfrm>
        </p:spPr>
        <p:txBody>
          <a:bodyPr/>
          <a:lstStyle/>
          <a:p>
            <a:pPr>
              <a:lnSpc>
                <a:spcPct val="100000"/>
              </a:lnSpc>
            </a:pPr>
            <a:r>
              <a:rPr lang="en-US" sz="3200" b="1" dirty="0">
                <a:solidFill>
                  <a:schemeClr val="tx1"/>
                </a:solidFill>
              </a:rPr>
              <a:t>Osmosis: a special type of diffusion</a:t>
            </a:r>
            <a:endParaRPr lang="en-AU" sz="1800" b="1" dirty="0">
              <a:solidFill>
                <a:schemeClr val="tx1"/>
              </a:solidFill>
            </a:endParaRPr>
          </a:p>
        </p:txBody>
      </p:sp>
      <p:sp>
        <p:nvSpPr>
          <p:cNvPr id="6" name="TextBox 5"/>
          <p:cNvSpPr txBox="1"/>
          <p:nvPr/>
        </p:nvSpPr>
        <p:spPr>
          <a:xfrm>
            <a:off x="0" y="1203960"/>
            <a:ext cx="3021981" cy="523220"/>
          </a:xfrm>
          <a:prstGeom prst="rect">
            <a:avLst/>
          </a:prstGeom>
          <a:noFill/>
        </p:spPr>
        <p:txBody>
          <a:bodyPr wrap="none" rtlCol="0">
            <a:spAutoFit/>
          </a:bodyPr>
          <a:lstStyle/>
          <a:p>
            <a:r>
              <a:rPr lang="en-US" sz="2800" dirty="0"/>
              <a:t>Osmosis in plants</a:t>
            </a:r>
          </a:p>
        </p:txBody>
      </p:sp>
      <p:pic>
        <p:nvPicPr>
          <p:cNvPr id="3" name="Picture 2"/>
          <p:cNvPicPr>
            <a:picLocks noChangeAspect="1"/>
          </p:cNvPicPr>
          <p:nvPr/>
        </p:nvPicPr>
        <p:blipFill>
          <a:blip r:embed="rId3"/>
          <a:stretch>
            <a:fillRect/>
          </a:stretch>
        </p:blipFill>
        <p:spPr>
          <a:xfrm>
            <a:off x="802" y="1748961"/>
            <a:ext cx="1699548" cy="1047750"/>
          </a:xfrm>
          <a:prstGeom prst="rect">
            <a:avLst/>
          </a:prstGeom>
        </p:spPr>
      </p:pic>
    </p:spTree>
    <p:extLst>
      <p:ext uri="{BB962C8B-B14F-4D97-AF65-F5344CB8AC3E}">
        <p14:creationId xmlns:p14="http://schemas.microsoft.com/office/powerpoint/2010/main" val="10165908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gray">
          <a:xfrm>
            <a:off x="152400" y="152400"/>
            <a:ext cx="7467600" cy="45720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p>
            <a:r>
              <a:rPr lang="en-US" sz="2800" b="1" dirty="0"/>
              <a:t>Movement across membranes using energy</a:t>
            </a:r>
            <a:endParaRPr lang="en-US" sz="2800" b="1" kern="0" dirty="0"/>
          </a:p>
        </p:txBody>
      </p:sp>
      <p:sp>
        <p:nvSpPr>
          <p:cNvPr id="8" name="Title 1"/>
          <p:cNvSpPr>
            <a:spLocks noGrp="1"/>
          </p:cNvSpPr>
          <p:nvPr>
            <p:ph type="title"/>
          </p:nvPr>
        </p:nvSpPr>
        <p:spPr>
          <a:xfrm>
            <a:off x="533400" y="990600"/>
            <a:ext cx="8229600" cy="685800"/>
          </a:xfrm>
        </p:spPr>
        <p:txBody>
          <a:bodyPr/>
          <a:lstStyle/>
          <a:p>
            <a:pPr>
              <a:lnSpc>
                <a:spcPct val="100000"/>
              </a:lnSpc>
            </a:pPr>
            <a:r>
              <a:rPr lang="en-US" sz="3600" b="1" dirty="0">
                <a:solidFill>
                  <a:schemeClr val="tx1"/>
                </a:solidFill>
              </a:rPr>
              <a:t>Active transport</a:t>
            </a:r>
            <a:endParaRPr lang="en-AU" sz="2000" b="1" dirty="0">
              <a:solidFill>
                <a:schemeClr val="tx1"/>
              </a:solidFill>
            </a:endParaRPr>
          </a:p>
        </p:txBody>
      </p:sp>
      <p:pic>
        <p:nvPicPr>
          <p:cNvPr id="2" name="Picture 1"/>
          <p:cNvPicPr>
            <a:picLocks noChangeAspect="1"/>
          </p:cNvPicPr>
          <p:nvPr/>
        </p:nvPicPr>
        <p:blipFill rotWithShape="1">
          <a:blip r:embed="rId3"/>
          <a:srcRect l="3582" t="4999" r="418"/>
          <a:stretch/>
        </p:blipFill>
        <p:spPr>
          <a:xfrm>
            <a:off x="381000" y="4000975"/>
            <a:ext cx="8938135" cy="3802130"/>
          </a:xfrm>
          <a:prstGeom prst="rect">
            <a:avLst/>
          </a:prstGeom>
        </p:spPr>
      </p:pic>
      <p:pic>
        <p:nvPicPr>
          <p:cNvPr id="3" name="Picture 2"/>
          <p:cNvPicPr>
            <a:picLocks noChangeAspect="1"/>
          </p:cNvPicPr>
          <p:nvPr/>
        </p:nvPicPr>
        <p:blipFill>
          <a:blip r:embed="rId4"/>
          <a:stretch>
            <a:fillRect/>
          </a:stretch>
        </p:blipFill>
        <p:spPr>
          <a:xfrm>
            <a:off x="6934200" y="1890712"/>
            <a:ext cx="2184935" cy="638175"/>
          </a:xfrm>
          <a:prstGeom prst="rect">
            <a:avLst/>
          </a:prstGeom>
        </p:spPr>
      </p:pic>
      <p:pic>
        <p:nvPicPr>
          <p:cNvPr id="4" name="Picture 3"/>
          <p:cNvPicPr>
            <a:picLocks noChangeAspect="1"/>
          </p:cNvPicPr>
          <p:nvPr/>
        </p:nvPicPr>
        <p:blipFill>
          <a:blip r:embed="rId5"/>
          <a:stretch>
            <a:fillRect/>
          </a:stretch>
        </p:blipFill>
        <p:spPr>
          <a:xfrm>
            <a:off x="6883014" y="955960"/>
            <a:ext cx="2147888" cy="1672134"/>
          </a:xfrm>
          <a:prstGeom prst="rect">
            <a:avLst/>
          </a:prstGeom>
        </p:spPr>
      </p:pic>
      <p:sp>
        <p:nvSpPr>
          <p:cNvPr id="9" name="TextBox 8">
            <a:extLst>
              <a:ext uri="{FF2B5EF4-FFF2-40B4-BE49-F238E27FC236}">
                <a16:creationId xmlns:a16="http://schemas.microsoft.com/office/drawing/2014/main" id="{7300CB95-E0BD-4CC1-93E4-37FCD3BBF9B5}"/>
              </a:ext>
            </a:extLst>
          </p:cNvPr>
          <p:cNvSpPr txBox="1"/>
          <p:nvPr/>
        </p:nvSpPr>
        <p:spPr>
          <a:xfrm>
            <a:off x="2242039" y="2967335"/>
            <a:ext cx="4601306" cy="923330"/>
          </a:xfrm>
          <a:prstGeom prst="rect">
            <a:avLst/>
          </a:prstGeom>
          <a:noFill/>
        </p:spPr>
        <p:txBody>
          <a:bodyPr wrap="square">
            <a:spAutoFit/>
          </a:bodyPr>
          <a:lstStyle/>
          <a:p>
            <a:pPr marL="0" indent="0" eaLnBrk="1" hangingPunct="1">
              <a:buFont typeface="Arial" panose="020B0604020202020204" pitchFamily="34" charset="0"/>
              <a:buNone/>
            </a:pPr>
            <a:r>
              <a:rPr lang="en-US" altLang="en-US" sz="1800" dirty="0">
                <a:solidFill>
                  <a:srgbClr val="000000"/>
                </a:solidFill>
                <a:latin typeface="Calibri" panose="020F0502020204030204" pitchFamily="34" charset="0"/>
                <a:cs typeface="Calibri" panose="020F0502020204030204" pitchFamily="34" charset="0"/>
              </a:rPr>
              <a:t>Active transport requires energy because it is the movement of nutrients from areas of low to areas of high concentration. </a:t>
            </a:r>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a:srcRect l="3988" r="9487"/>
          <a:stretch/>
        </p:blipFill>
        <p:spPr>
          <a:xfrm>
            <a:off x="1752600" y="1255912"/>
            <a:ext cx="7315200" cy="2658694"/>
          </a:xfrm>
          <a:prstGeom prst="rect">
            <a:avLst/>
          </a:prstGeom>
        </p:spPr>
      </p:pic>
      <p:sp>
        <p:nvSpPr>
          <p:cNvPr id="7" name="Title 1"/>
          <p:cNvSpPr txBox="1">
            <a:spLocks/>
          </p:cNvSpPr>
          <p:nvPr/>
        </p:nvSpPr>
        <p:spPr bwMode="gray">
          <a:xfrm>
            <a:off x="152400" y="152400"/>
            <a:ext cx="7467600" cy="45720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p>
            <a:r>
              <a:rPr lang="en-US" sz="2800" b="1" dirty="0"/>
              <a:t>Movement across membranes using energy</a:t>
            </a:r>
            <a:endParaRPr lang="en-US" sz="2800" b="1" kern="0" dirty="0"/>
          </a:p>
        </p:txBody>
      </p:sp>
      <p:sp>
        <p:nvSpPr>
          <p:cNvPr id="8" name="Title 1"/>
          <p:cNvSpPr>
            <a:spLocks noGrp="1"/>
          </p:cNvSpPr>
          <p:nvPr>
            <p:ph type="title"/>
          </p:nvPr>
        </p:nvSpPr>
        <p:spPr>
          <a:xfrm>
            <a:off x="50533" y="712818"/>
            <a:ext cx="8229600" cy="685800"/>
          </a:xfrm>
        </p:spPr>
        <p:txBody>
          <a:bodyPr/>
          <a:lstStyle/>
          <a:p>
            <a:pPr>
              <a:lnSpc>
                <a:spcPct val="100000"/>
              </a:lnSpc>
            </a:pPr>
            <a:r>
              <a:rPr lang="en-US" sz="3600" b="1" dirty="0">
                <a:solidFill>
                  <a:schemeClr val="tx1"/>
                </a:solidFill>
              </a:rPr>
              <a:t>Endocytosis</a:t>
            </a:r>
            <a:endParaRPr lang="en-AU" sz="2000" b="1" dirty="0">
              <a:solidFill>
                <a:schemeClr val="tx1"/>
              </a:solidFill>
            </a:endParaRPr>
          </a:p>
        </p:txBody>
      </p:sp>
      <p:pic>
        <p:nvPicPr>
          <p:cNvPr id="3" name="Picture 2"/>
          <p:cNvPicPr>
            <a:picLocks noChangeAspect="1"/>
          </p:cNvPicPr>
          <p:nvPr/>
        </p:nvPicPr>
        <p:blipFill>
          <a:blip r:embed="rId4"/>
          <a:stretch>
            <a:fillRect/>
          </a:stretch>
        </p:blipFill>
        <p:spPr>
          <a:xfrm>
            <a:off x="2667000" y="4114800"/>
            <a:ext cx="4612907" cy="2542757"/>
          </a:xfrm>
          <a:prstGeom prst="rect">
            <a:avLst/>
          </a:prstGeom>
        </p:spPr>
      </p:pic>
      <p:pic>
        <p:nvPicPr>
          <p:cNvPr id="4" name="Picture 3"/>
          <p:cNvPicPr>
            <a:picLocks noChangeAspect="1"/>
          </p:cNvPicPr>
          <p:nvPr/>
        </p:nvPicPr>
        <p:blipFill>
          <a:blip r:embed="rId5"/>
          <a:stretch>
            <a:fillRect/>
          </a:stretch>
        </p:blipFill>
        <p:spPr>
          <a:xfrm>
            <a:off x="50533" y="1981200"/>
            <a:ext cx="1615468" cy="915720"/>
          </a:xfrm>
          <a:prstGeom prst="rect">
            <a:avLst/>
          </a:prstGeom>
        </p:spPr>
      </p:pic>
      <p:pic>
        <p:nvPicPr>
          <p:cNvPr id="9" name="Picture 8"/>
          <p:cNvPicPr>
            <a:picLocks noChangeAspect="1"/>
          </p:cNvPicPr>
          <p:nvPr/>
        </p:nvPicPr>
        <p:blipFill>
          <a:blip r:embed="rId6"/>
          <a:stretch>
            <a:fillRect/>
          </a:stretch>
        </p:blipFill>
        <p:spPr>
          <a:xfrm>
            <a:off x="152400" y="6019800"/>
            <a:ext cx="2457450" cy="555665"/>
          </a:xfrm>
          <a:prstGeom prst="rect">
            <a:avLst/>
          </a:prstGeom>
        </p:spPr>
      </p:pic>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gray">
          <a:xfrm>
            <a:off x="152400" y="152400"/>
            <a:ext cx="7467600" cy="45720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p>
            <a:r>
              <a:rPr lang="en-US" sz="2800" b="1" dirty="0"/>
              <a:t>Movement across membranes using energy</a:t>
            </a:r>
            <a:endParaRPr lang="en-US" sz="2800" b="1" kern="0" dirty="0"/>
          </a:p>
        </p:txBody>
      </p:sp>
      <p:sp>
        <p:nvSpPr>
          <p:cNvPr id="8" name="Title 1"/>
          <p:cNvSpPr>
            <a:spLocks noGrp="1"/>
          </p:cNvSpPr>
          <p:nvPr>
            <p:ph type="title"/>
          </p:nvPr>
        </p:nvSpPr>
        <p:spPr>
          <a:xfrm>
            <a:off x="152400" y="838200"/>
            <a:ext cx="8229600" cy="685800"/>
          </a:xfrm>
        </p:spPr>
        <p:txBody>
          <a:bodyPr/>
          <a:lstStyle/>
          <a:p>
            <a:pPr>
              <a:lnSpc>
                <a:spcPct val="100000"/>
              </a:lnSpc>
            </a:pPr>
            <a:r>
              <a:rPr lang="en-US" sz="3600" b="1" dirty="0">
                <a:solidFill>
                  <a:schemeClr val="tx1"/>
                </a:solidFill>
              </a:rPr>
              <a:t>Exocytosis</a:t>
            </a:r>
            <a:endParaRPr lang="en-AU" sz="2000" b="1" dirty="0">
              <a:solidFill>
                <a:schemeClr val="tx1"/>
              </a:solidFill>
            </a:endParaRPr>
          </a:p>
        </p:txBody>
      </p:sp>
      <p:pic>
        <p:nvPicPr>
          <p:cNvPr id="2" name="Picture 1"/>
          <p:cNvPicPr>
            <a:picLocks noChangeAspect="1"/>
          </p:cNvPicPr>
          <p:nvPr/>
        </p:nvPicPr>
        <p:blipFill rotWithShape="1">
          <a:blip r:embed="rId3"/>
          <a:srcRect t="5608" r="2153" b="3178"/>
          <a:stretch/>
        </p:blipFill>
        <p:spPr>
          <a:xfrm>
            <a:off x="466725" y="1524000"/>
            <a:ext cx="6924676" cy="4648200"/>
          </a:xfrm>
          <a:prstGeom prst="rect">
            <a:avLst/>
          </a:prstGeom>
        </p:spPr>
      </p:pic>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gray">
          <a:xfrm>
            <a:off x="152400" y="152400"/>
            <a:ext cx="7467600" cy="45720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p>
            <a:r>
              <a:rPr lang="en-US" sz="2800" b="1" dirty="0"/>
              <a:t>Factors affecting the exchange of materials</a:t>
            </a:r>
            <a:endParaRPr lang="en-US" sz="2800" b="1" kern="0" dirty="0"/>
          </a:p>
        </p:txBody>
      </p:sp>
      <p:sp>
        <p:nvSpPr>
          <p:cNvPr id="8" name="Title 1"/>
          <p:cNvSpPr>
            <a:spLocks noGrp="1"/>
          </p:cNvSpPr>
          <p:nvPr>
            <p:ph type="title"/>
          </p:nvPr>
        </p:nvSpPr>
        <p:spPr>
          <a:xfrm>
            <a:off x="533400" y="990600"/>
            <a:ext cx="8229600" cy="685800"/>
          </a:xfrm>
        </p:spPr>
        <p:txBody>
          <a:bodyPr/>
          <a:lstStyle/>
          <a:p>
            <a:pPr>
              <a:lnSpc>
                <a:spcPct val="100000"/>
              </a:lnSpc>
            </a:pPr>
            <a:r>
              <a:rPr lang="en-US" sz="3600" b="1" dirty="0">
                <a:solidFill>
                  <a:schemeClr val="tx1"/>
                </a:solidFill>
                <a:latin typeface="+mn-lt"/>
              </a:rPr>
              <a:t>Chemical factors</a:t>
            </a:r>
            <a:endParaRPr lang="en-AU" sz="2000" b="1" dirty="0">
              <a:solidFill>
                <a:schemeClr val="tx1"/>
              </a:solidFill>
              <a:latin typeface="+mn-lt"/>
            </a:endParaRPr>
          </a:p>
        </p:txBody>
      </p:sp>
      <p:sp>
        <p:nvSpPr>
          <p:cNvPr id="5" name="Rectangle 4"/>
          <p:cNvSpPr/>
          <p:nvPr/>
        </p:nvSpPr>
        <p:spPr>
          <a:xfrm>
            <a:off x="152400" y="1828800"/>
            <a:ext cx="8839200" cy="3785652"/>
          </a:xfrm>
          <a:prstGeom prst="rect">
            <a:avLst/>
          </a:prstGeom>
        </p:spPr>
        <p:txBody>
          <a:bodyPr wrap="square">
            <a:spAutoFit/>
          </a:bodyPr>
          <a:lstStyle/>
          <a:p>
            <a:pPr marL="342900" indent="-342900">
              <a:buFont typeface="Arial" pitchFamily="34" charset="0"/>
              <a:buChar char="•"/>
            </a:pPr>
            <a:r>
              <a:rPr lang="en-US" sz="2400" dirty="0"/>
              <a:t>Indicate how substance will behave in the extracellular environment. </a:t>
            </a:r>
          </a:p>
          <a:p>
            <a:pPr marL="342900" indent="-342900">
              <a:buFont typeface="Arial" pitchFamily="34" charset="0"/>
              <a:buChar char="•"/>
            </a:pPr>
            <a:r>
              <a:rPr lang="en-US" sz="2400" dirty="0"/>
              <a:t>Affect their transport across cell membranes. </a:t>
            </a:r>
          </a:p>
          <a:p>
            <a:pPr marL="342900" indent="-342900">
              <a:buFont typeface="Arial" pitchFamily="34" charset="0"/>
              <a:buChar char="•"/>
            </a:pPr>
            <a:r>
              <a:rPr lang="en-US" sz="2400" dirty="0"/>
              <a:t>Ethanol and chloroform are able penetrate and cross membranes because they are uncharged molecules. </a:t>
            </a:r>
          </a:p>
          <a:p>
            <a:pPr marL="342900" indent="-342900">
              <a:buFont typeface="Arial" pitchFamily="34" charset="0"/>
              <a:buChar char="•"/>
            </a:pPr>
            <a:r>
              <a:rPr lang="en-US" sz="2400" dirty="0"/>
              <a:t>Dissolve in the phospholipid bilayer. </a:t>
            </a:r>
          </a:p>
          <a:p>
            <a:pPr marL="342900" indent="-342900">
              <a:buFont typeface="Arial" pitchFamily="34" charset="0"/>
              <a:buChar char="•"/>
            </a:pPr>
            <a:r>
              <a:rPr lang="en-US" sz="2400" dirty="0"/>
              <a:t>Charged ions sodium (Na</a:t>
            </a:r>
            <a:r>
              <a:rPr lang="en-US" sz="2400" baseline="30000" dirty="0"/>
              <a:t>+</a:t>
            </a:r>
            <a:r>
              <a:rPr lang="en-US" sz="2400" dirty="0"/>
              <a:t>), potassium (K</a:t>
            </a:r>
            <a:r>
              <a:rPr lang="en-US" sz="2400" baseline="30000" dirty="0"/>
              <a:t>+</a:t>
            </a:r>
            <a:r>
              <a:rPr lang="en-US" sz="2400" dirty="0"/>
              <a:t>) and calcium (Ca</a:t>
            </a:r>
            <a:r>
              <a:rPr lang="en-US" sz="2400" baseline="30000" dirty="0"/>
              <a:t>2+</a:t>
            </a:r>
            <a:r>
              <a:rPr lang="en-US" sz="2400" dirty="0"/>
              <a:t>) which are hydrophilic, cannot cross the hydrophobic interior of the membrane.</a:t>
            </a:r>
          </a:p>
          <a:p>
            <a:pPr marL="342900" indent="-342900">
              <a:buFont typeface="Arial" pitchFamily="34" charset="0"/>
              <a:buChar char="•"/>
            </a:pPr>
            <a:r>
              <a:rPr lang="en-US" sz="2400" dirty="0"/>
              <a:t>Charged ions move through specific ion channels.</a:t>
            </a:r>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gray">
          <a:xfrm>
            <a:off x="152400" y="152400"/>
            <a:ext cx="7467600" cy="45720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p>
            <a:r>
              <a:rPr lang="en-US" sz="2800" b="1" dirty="0"/>
              <a:t>Factors affecting the exchange of materials</a:t>
            </a:r>
            <a:endParaRPr lang="en-US" sz="2800" b="1" kern="0" dirty="0"/>
          </a:p>
        </p:txBody>
      </p:sp>
      <p:pic>
        <p:nvPicPr>
          <p:cNvPr id="2" name="Picture 1"/>
          <p:cNvPicPr>
            <a:picLocks noChangeAspect="1"/>
          </p:cNvPicPr>
          <p:nvPr/>
        </p:nvPicPr>
        <p:blipFill rotWithShape="1">
          <a:blip r:embed="rId3"/>
          <a:srcRect l="1712" t="3633"/>
          <a:stretch/>
        </p:blipFill>
        <p:spPr>
          <a:xfrm>
            <a:off x="274349" y="1600200"/>
            <a:ext cx="8747701" cy="4043362"/>
          </a:xfrm>
          <a:prstGeom prst="rect">
            <a:avLst/>
          </a:prstGeom>
        </p:spPr>
      </p:pic>
      <p:pic>
        <p:nvPicPr>
          <p:cNvPr id="3" name="Picture 2"/>
          <p:cNvPicPr>
            <a:picLocks noChangeAspect="1"/>
          </p:cNvPicPr>
          <p:nvPr/>
        </p:nvPicPr>
        <p:blipFill>
          <a:blip r:embed="rId4"/>
          <a:stretch>
            <a:fillRect/>
          </a:stretch>
        </p:blipFill>
        <p:spPr>
          <a:xfrm>
            <a:off x="0" y="5546423"/>
            <a:ext cx="1981200" cy="1070093"/>
          </a:xfrm>
          <a:prstGeom prst="rect">
            <a:avLst/>
          </a:prstGeom>
        </p:spPr>
      </p:pic>
      <p:sp>
        <p:nvSpPr>
          <p:cNvPr id="8" name="Title 1"/>
          <p:cNvSpPr>
            <a:spLocks noGrp="1"/>
          </p:cNvSpPr>
          <p:nvPr>
            <p:ph type="title"/>
          </p:nvPr>
        </p:nvSpPr>
        <p:spPr>
          <a:xfrm>
            <a:off x="533399" y="894347"/>
            <a:ext cx="8229600" cy="685800"/>
          </a:xfrm>
        </p:spPr>
        <p:txBody>
          <a:bodyPr/>
          <a:lstStyle/>
          <a:p>
            <a:pPr>
              <a:lnSpc>
                <a:spcPct val="100000"/>
              </a:lnSpc>
            </a:pPr>
            <a:r>
              <a:rPr lang="en-US" sz="3600" b="1" dirty="0">
                <a:solidFill>
                  <a:schemeClr val="tx1"/>
                </a:solidFill>
                <a:latin typeface="+mn-lt"/>
              </a:rPr>
              <a:t>Physical factors</a:t>
            </a:r>
            <a:endParaRPr lang="en-AU" sz="2000" b="1" dirty="0">
              <a:solidFill>
                <a:schemeClr val="tx1"/>
              </a:solidFill>
              <a:latin typeface="+mn-lt"/>
            </a:endParaRPr>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gray">
          <a:xfrm>
            <a:off x="152400" y="152400"/>
            <a:ext cx="7467600" cy="45720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p>
            <a:r>
              <a:rPr lang="en-US" sz="2800" b="1" dirty="0"/>
              <a:t>Factors affecting the exchange of materials</a:t>
            </a:r>
            <a:endParaRPr lang="en-US" sz="2800" b="1" kern="0" dirty="0"/>
          </a:p>
        </p:txBody>
      </p:sp>
      <p:sp>
        <p:nvSpPr>
          <p:cNvPr id="8" name="Title 1"/>
          <p:cNvSpPr>
            <a:spLocks noGrp="1"/>
          </p:cNvSpPr>
          <p:nvPr>
            <p:ph type="title"/>
          </p:nvPr>
        </p:nvSpPr>
        <p:spPr>
          <a:xfrm>
            <a:off x="533400" y="796490"/>
            <a:ext cx="8229600" cy="685800"/>
          </a:xfrm>
        </p:spPr>
        <p:txBody>
          <a:bodyPr/>
          <a:lstStyle/>
          <a:p>
            <a:pPr>
              <a:lnSpc>
                <a:spcPct val="100000"/>
              </a:lnSpc>
            </a:pPr>
            <a:r>
              <a:rPr lang="en-US" sz="3600" b="1" dirty="0">
                <a:solidFill>
                  <a:schemeClr val="tx1"/>
                </a:solidFill>
                <a:latin typeface="+mn-lt"/>
              </a:rPr>
              <a:t>Concentration gradients</a:t>
            </a:r>
            <a:endParaRPr lang="en-AU" sz="2000" b="1" dirty="0">
              <a:solidFill>
                <a:schemeClr val="tx1"/>
              </a:solidFill>
              <a:latin typeface="+mn-lt"/>
            </a:endParaRPr>
          </a:p>
        </p:txBody>
      </p:sp>
      <p:sp>
        <p:nvSpPr>
          <p:cNvPr id="5" name="Rectangle 4"/>
          <p:cNvSpPr/>
          <p:nvPr/>
        </p:nvSpPr>
        <p:spPr>
          <a:xfrm>
            <a:off x="609600" y="1669181"/>
            <a:ext cx="8305800" cy="4524315"/>
          </a:xfrm>
          <a:prstGeom prst="rect">
            <a:avLst/>
          </a:prstGeom>
        </p:spPr>
        <p:txBody>
          <a:bodyPr wrap="square">
            <a:spAutoFit/>
          </a:bodyPr>
          <a:lstStyle/>
          <a:p>
            <a:r>
              <a:rPr lang="en-US" sz="2400" dirty="0"/>
              <a:t>As the concentrations across membranes become similar, the rate of diffusion slows.</a:t>
            </a:r>
          </a:p>
          <a:p>
            <a:r>
              <a:rPr lang="en-US" sz="2400" dirty="0"/>
              <a:t> </a:t>
            </a:r>
          </a:p>
          <a:p>
            <a:r>
              <a:rPr lang="en-US" sz="2400" dirty="0"/>
              <a:t>To maintain a rapid rate of diffusion.</a:t>
            </a:r>
          </a:p>
          <a:p>
            <a:pPr marL="342900" indent="-342900">
              <a:buFont typeface="Arial" panose="020B0604020202020204" pitchFamily="34" charset="0"/>
              <a:buChar char="•"/>
            </a:pPr>
            <a:r>
              <a:rPr lang="en-US" sz="2400" dirty="0"/>
              <a:t>Plant cells: </a:t>
            </a:r>
          </a:p>
          <a:p>
            <a:pPr marL="800100" lvl="1" indent="-342900">
              <a:buFont typeface="Arial" panose="020B0604020202020204" pitchFamily="34" charset="0"/>
              <a:buChar char="•"/>
            </a:pPr>
            <a:r>
              <a:rPr lang="en-US" sz="2400" dirty="0"/>
              <a:t>Carry out cytoplasmic streaming  whereby organelles and cytosol flow through the cell in a circular movement. </a:t>
            </a:r>
          </a:p>
          <a:p>
            <a:pPr marL="342900" indent="-342900">
              <a:buFont typeface="Arial" panose="020B0604020202020204" pitchFamily="34" charset="0"/>
              <a:buChar char="•"/>
            </a:pPr>
            <a:r>
              <a:rPr lang="en-US" sz="2400" dirty="0"/>
              <a:t>Multicellular animals:</a:t>
            </a:r>
          </a:p>
          <a:p>
            <a:pPr marL="800100" lvl="1" indent="-342900">
              <a:buFont typeface="Arial" panose="020B0604020202020204" pitchFamily="34" charset="0"/>
              <a:buChar char="•"/>
            </a:pPr>
            <a:r>
              <a:rPr lang="en-US" sz="2400" dirty="0"/>
              <a:t>Circulatory system remove the diffused substance, away from the cells. </a:t>
            </a:r>
          </a:p>
          <a:p>
            <a:pPr marL="800100" lvl="1" indent="-342900">
              <a:buFont typeface="Arial" panose="020B0604020202020204" pitchFamily="34" charset="0"/>
              <a:buChar char="•"/>
            </a:pPr>
            <a:r>
              <a:rPr lang="en-US" sz="2400" dirty="0"/>
              <a:t>Convert the diffused substance into something else.</a:t>
            </a:r>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gray">
          <a:xfrm>
            <a:off x="152400" y="152400"/>
            <a:ext cx="7467600" cy="45720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p>
            <a:r>
              <a:rPr lang="en-US" sz="2800" b="1" dirty="0"/>
              <a:t>Factors affecting the exchange of materials</a:t>
            </a:r>
            <a:endParaRPr lang="en-US" sz="2800" b="1" kern="0" dirty="0"/>
          </a:p>
        </p:txBody>
      </p:sp>
      <p:sp>
        <p:nvSpPr>
          <p:cNvPr id="8" name="Title 1"/>
          <p:cNvSpPr>
            <a:spLocks noGrp="1"/>
          </p:cNvSpPr>
          <p:nvPr>
            <p:ph type="title"/>
          </p:nvPr>
        </p:nvSpPr>
        <p:spPr>
          <a:xfrm>
            <a:off x="533400" y="1077628"/>
            <a:ext cx="8229600" cy="685800"/>
          </a:xfrm>
        </p:spPr>
        <p:txBody>
          <a:bodyPr/>
          <a:lstStyle/>
          <a:p>
            <a:pPr>
              <a:lnSpc>
                <a:spcPct val="100000"/>
              </a:lnSpc>
            </a:pPr>
            <a:r>
              <a:rPr lang="en-US" sz="3600" b="1" dirty="0">
                <a:solidFill>
                  <a:schemeClr val="tx1"/>
                </a:solidFill>
              </a:rPr>
              <a:t>Size and shape of cells</a:t>
            </a:r>
            <a:endParaRPr lang="en-AU" sz="2000" b="1" dirty="0">
              <a:solidFill>
                <a:schemeClr val="tx1"/>
              </a:solidFill>
            </a:endParaRPr>
          </a:p>
        </p:txBody>
      </p:sp>
      <p:sp>
        <p:nvSpPr>
          <p:cNvPr id="5" name="Rectangle 4"/>
          <p:cNvSpPr/>
          <p:nvPr/>
        </p:nvSpPr>
        <p:spPr>
          <a:xfrm>
            <a:off x="457200" y="1981200"/>
            <a:ext cx="8382000" cy="3847207"/>
          </a:xfrm>
          <a:prstGeom prst="rect">
            <a:avLst/>
          </a:prstGeom>
        </p:spPr>
        <p:txBody>
          <a:bodyPr wrap="square">
            <a:spAutoFit/>
          </a:bodyPr>
          <a:lstStyle/>
          <a:p>
            <a:r>
              <a:rPr lang="en-US" sz="2400" b="1" dirty="0"/>
              <a:t>Surface-area-to-volume ratio</a:t>
            </a:r>
          </a:p>
          <a:p>
            <a:endParaRPr lang="en-US" sz="2800" b="1" dirty="0"/>
          </a:p>
          <a:p>
            <a:pPr marL="457200" indent="-457200">
              <a:buFont typeface="Arial" pitchFamily="34" charset="0"/>
              <a:buChar char="•"/>
            </a:pPr>
            <a:r>
              <a:rPr lang="en-US" sz="2400" dirty="0"/>
              <a:t>Needs a large surface area in relation to its volume. Large surface-area-to-volume ratio.</a:t>
            </a:r>
          </a:p>
          <a:p>
            <a:pPr marL="457200" indent="-457200">
              <a:buFont typeface="Arial" pitchFamily="34" charset="0"/>
              <a:buChar char="•"/>
            </a:pPr>
            <a:r>
              <a:rPr lang="en-US" sz="2400" dirty="0"/>
              <a:t>As cells grow larger, both its surface area and volume increase. Volume grows faster than surface area.</a:t>
            </a:r>
          </a:p>
          <a:p>
            <a:pPr marL="457200" indent="-457200">
              <a:buFont typeface="Arial" pitchFamily="34" charset="0"/>
              <a:buChar char="•"/>
            </a:pPr>
            <a:r>
              <a:rPr lang="en-US" sz="2400" dirty="0"/>
              <a:t>As size of a cell increases the surface-area-to-volume ratio decreases.</a:t>
            </a:r>
          </a:p>
          <a:p>
            <a:pPr marL="457200" indent="-457200">
              <a:buFont typeface="Arial" pitchFamily="34" charset="0"/>
              <a:buChar char="•"/>
            </a:pPr>
            <a:r>
              <a:rPr lang="en-US" sz="2400" dirty="0"/>
              <a:t>Efficiency of material transport decreases.</a:t>
            </a:r>
          </a:p>
          <a:p>
            <a:pPr marL="457200" indent="-457200">
              <a:buFont typeface="Arial" pitchFamily="34" charset="0"/>
              <a:buChar char="•"/>
            </a:pPr>
            <a:r>
              <a:rPr lang="en-US" sz="2400" dirty="0"/>
              <a:t>Cells tend to be very small</a:t>
            </a:r>
          </a:p>
        </p:txBody>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gray">
          <a:xfrm>
            <a:off x="152400" y="152400"/>
            <a:ext cx="7467600" cy="45720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p>
            <a:r>
              <a:rPr lang="en-US" sz="2800" b="1" dirty="0"/>
              <a:t>Factors affecting the exchange of materials</a:t>
            </a:r>
            <a:endParaRPr lang="en-US" sz="2800" b="1" kern="0" dirty="0"/>
          </a:p>
        </p:txBody>
      </p:sp>
      <p:sp>
        <p:nvSpPr>
          <p:cNvPr id="8" name="Title 1"/>
          <p:cNvSpPr>
            <a:spLocks noGrp="1"/>
          </p:cNvSpPr>
          <p:nvPr>
            <p:ph type="title"/>
          </p:nvPr>
        </p:nvSpPr>
        <p:spPr>
          <a:xfrm>
            <a:off x="533400" y="990600"/>
            <a:ext cx="8229600" cy="685800"/>
          </a:xfrm>
        </p:spPr>
        <p:txBody>
          <a:bodyPr/>
          <a:lstStyle/>
          <a:p>
            <a:pPr>
              <a:lnSpc>
                <a:spcPct val="100000"/>
              </a:lnSpc>
            </a:pPr>
            <a:r>
              <a:rPr lang="en-US" sz="3600" b="1" dirty="0">
                <a:solidFill>
                  <a:schemeClr val="tx1"/>
                </a:solidFill>
              </a:rPr>
              <a:t>Size and shape of cells</a:t>
            </a:r>
            <a:endParaRPr lang="en-AU" sz="2000" b="1" dirty="0">
              <a:solidFill>
                <a:schemeClr val="tx1"/>
              </a:solidFill>
            </a:endParaRPr>
          </a:p>
        </p:txBody>
      </p:sp>
      <p:pic>
        <p:nvPicPr>
          <p:cNvPr id="5" name="Picture 4"/>
          <p:cNvPicPr>
            <a:picLocks noChangeAspect="1"/>
          </p:cNvPicPr>
          <p:nvPr/>
        </p:nvPicPr>
        <p:blipFill>
          <a:blip r:embed="rId3"/>
          <a:stretch>
            <a:fillRect/>
          </a:stretch>
        </p:blipFill>
        <p:spPr>
          <a:xfrm>
            <a:off x="314024" y="2362200"/>
            <a:ext cx="8668352" cy="2172593"/>
          </a:xfrm>
          <a:prstGeom prst="rect">
            <a:avLst/>
          </a:prstGeom>
        </p:spPr>
      </p:pic>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gray">
          <a:xfrm>
            <a:off x="152400" y="152400"/>
            <a:ext cx="7467600" cy="45720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p>
            <a:r>
              <a:rPr lang="en-US" sz="2800" b="1" dirty="0"/>
              <a:t>Factors affecting the exchange of materials</a:t>
            </a:r>
            <a:endParaRPr lang="en-US" sz="2800" b="1" kern="0" dirty="0"/>
          </a:p>
        </p:txBody>
      </p:sp>
      <p:sp>
        <p:nvSpPr>
          <p:cNvPr id="8" name="Title 1"/>
          <p:cNvSpPr>
            <a:spLocks noGrp="1"/>
          </p:cNvSpPr>
          <p:nvPr>
            <p:ph type="title"/>
          </p:nvPr>
        </p:nvSpPr>
        <p:spPr>
          <a:xfrm>
            <a:off x="228600" y="762000"/>
            <a:ext cx="8229600" cy="685800"/>
          </a:xfrm>
        </p:spPr>
        <p:txBody>
          <a:bodyPr/>
          <a:lstStyle/>
          <a:p>
            <a:pPr>
              <a:lnSpc>
                <a:spcPct val="100000"/>
              </a:lnSpc>
            </a:pPr>
            <a:r>
              <a:rPr lang="en-US" sz="3600" b="1" dirty="0">
                <a:solidFill>
                  <a:schemeClr val="tx1"/>
                </a:solidFill>
              </a:rPr>
              <a:t>Some cells need to be large</a:t>
            </a:r>
            <a:endParaRPr lang="en-AU" sz="2000" b="1" dirty="0">
              <a:solidFill>
                <a:schemeClr val="tx1"/>
              </a:solidFill>
            </a:endParaRPr>
          </a:p>
        </p:txBody>
      </p:sp>
      <p:sp>
        <p:nvSpPr>
          <p:cNvPr id="5" name="TextBox 4"/>
          <p:cNvSpPr txBox="1"/>
          <p:nvPr/>
        </p:nvSpPr>
        <p:spPr>
          <a:xfrm>
            <a:off x="162024" y="1394708"/>
            <a:ext cx="8829575" cy="3293209"/>
          </a:xfrm>
          <a:prstGeom prst="rect">
            <a:avLst/>
          </a:prstGeom>
          <a:noFill/>
        </p:spPr>
        <p:txBody>
          <a:bodyPr wrap="square" rtlCol="0">
            <a:spAutoFit/>
          </a:bodyPr>
          <a:lstStyle/>
          <a:p>
            <a:r>
              <a:rPr lang="en-US" sz="2800" dirty="0"/>
              <a:t>Some cells like marjoram, muscle and nerve cells are very large.</a:t>
            </a:r>
          </a:p>
          <a:p>
            <a:r>
              <a:rPr lang="en-US" sz="2800" dirty="0"/>
              <a:t>How do they cope?</a:t>
            </a:r>
          </a:p>
          <a:p>
            <a:pPr marL="457200" indent="-457200">
              <a:buFont typeface="Arial" pitchFamily="34" charset="0"/>
              <a:buChar char="•"/>
            </a:pPr>
            <a:r>
              <a:rPr lang="en-US" sz="2400" dirty="0"/>
              <a:t>Depends on function.</a:t>
            </a:r>
          </a:p>
          <a:p>
            <a:pPr marL="457200" indent="-457200">
              <a:buFont typeface="Arial" pitchFamily="34" charset="0"/>
              <a:buChar char="•"/>
            </a:pPr>
            <a:r>
              <a:rPr lang="en-US" sz="2400" dirty="0"/>
              <a:t>Shape affects SA:V ratio.</a:t>
            </a:r>
          </a:p>
          <a:p>
            <a:pPr marL="457200" indent="-457200">
              <a:buFont typeface="Arial" pitchFamily="34" charset="0"/>
              <a:buChar char="•"/>
            </a:pPr>
            <a:r>
              <a:rPr lang="en-US" sz="2400" dirty="0"/>
              <a:t>Very thin, cylindrical axon can be up to a metre long.</a:t>
            </a:r>
          </a:p>
          <a:p>
            <a:pPr marL="457200" indent="-457200">
              <a:buFont typeface="Arial" pitchFamily="34" charset="0"/>
              <a:buChar char="•"/>
            </a:pPr>
            <a:r>
              <a:rPr lang="en-US" sz="2400" dirty="0"/>
              <a:t>Marjoram extends root hairs to increase SA:V ratio.</a:t>
            </a:r>
          </a:p>
          <a:p>
            <a:endParaRPr lang="en-US" sz="2800" dirty="0"/>
          </a:p>
        </p:txBody>
      </p:sp>
      <p:pic>
        <p:nvPicPr>
          <p:cNvPr id="2" name="Picture 1"/>
          <p:cNvPicPr>
            <a:picLocks noChangeAspect="1"/>
          </p:cNvPicPr>
          <p:nvPr/>
        </p:nvPicPr>
        <p:blipFill>
          <a:blip r:embed="rId3"/>
          <a:stretch>
            <a:fillRect/>
          </a:stretch>
        </p:blipFill>
        <p:spPr>
          <a:xfrm>
            <a:off x="525780" y="4308850"/>
            <a:ext cx="3520440" cy="2288054"/>
          </a:xfrm>
          <a:prstGeom prst="rect">
            <a:avLst/>
          </a:prstGeom>
        </p:spPr>
      </p:pic>
      <p:pic>
        <p:nvPicPr>
          <p:cNvPr id="3" name="Picture 2"/>
          <p:cNvPicPr>
            <a:picLocks noChangeAspect="1"/>
          </p:cNvPicPr>
          <p:nvPr/>
        </p:nvPicPr>
        <p:blipFill>
          <a:blip r:embed="rId4"/>
          <a:stretch>
            <a:fillRect/>
          </a:stretch>
        </p:blipFill>
        <p:spPr>
          <a:xfrm>
            <a:off x="4191000" y="4495800"/>
            <a:ext cx="2870770" cy="2061977"/>
          </a:xfrm>
          <a:prstGeom prst="rect">
            <a:avLst/>
          </a:prstGeom>
        </p:spPr>
      </p:pic>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11864</TotalTime>
  <Words>3044</Words>
  <Application>Microsoft Office PowerPoint</Application>
  <PresentationFormat>On-screen Show (4:3)</PresentationFormat>
  <Paragraphs>170</Paragraphs>
  <Slides>27</Slides>
  <Notes>26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Calibri Light</vt:lpstr>
      <vt:lpstr>Office Theme</vt:lpstr>
      <vt:lpstr>Cells: The Exchange of Materials</vt:lpstr>
      <vt:lpstr>Cell plasma membrane</vt:lpstr>
      <vt:lpstr>The internal and external environments</vt:lpstr>
      <vt:lpstr>The internal and external environments</vt:lpstr>
      <vt:lpstr>The internal environment of cells is kept stable</vt:lpstr>
      <vt:lpstr>Structure of membranes: the fluid mosaic model</vt:lpstr>
      <vt:lpstr>Structure of membranes: the fluid mosaic model</vt:lpstr>
      <vt:lpstr>Diffusion</vt:lpstr>
      <vt:lpstr>Diffusion</vt:lpstr>
      <vt:lpstr>Diffusion</vt:lpstr>
      <vt:lpstr>Diffusion</vt:lpstr>
      <vt:lpstr>Osmosis</vt:lpstr>
      <vt:lpstr>Osmosis: a special type of diffusion</vt:lpstr>
      <vt:lpstr>Osmosis: a special type of diffusion</vt:lpstr>
      <vt:lpstr>Osmosis: a special type of diffusion</vt:lpstr>
      <vt:lpstr>Osmosis: a special type of diffusion</vt:lpstr>
      <vt:lpstr>Osmosis: a special type of diffusion</vt:lpstr>
      <vt:lpstr>Osmosis: a special type of diffusion</vt:lpstr>
      <vt:lpstr>Active transport</vt:lpstr>
      <vt:lpstr>Endocytosis</vt:lpstr>
      <vt:lpstr>Exocytosis</vt:lpstr>
      <vt:lpstr>Chemical factors</vt:lpstr>
      <vt:lpstr>Physical factors</vt:lpstr>
      <vt:lpstr>Concentration gradients</vt:lpstr>
      <vt:lpstr>Size and shape of cells</vt:lpstr>
      <vt:lpstr>Size and shape of cells</vt:lpstr>
      <vt:lpstr>Some cells need to be large</vt:lpstr>
    </vt:vector>
  </TitlesOfParts>
  <Company>Cengage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PTM: Goal Setting</dc:title>
  <dc:creator>Stephen Bird</dc:creator>
  <cp:lastModifiedBy>michael simeoni</cp:lastModifiedBy>
  <cp:revision>579</cp:revision>
  <dcterms:created xsi:type="dcterms:W3CDTF">2009-07-02T12:34:17Z</dcterms:created>
  <dcterms:modified xsi:type="dcterms:W3CDTF">2022-02-05T07:57:43Z</dcterms:modified>
</cp:coreProperties>
</file>