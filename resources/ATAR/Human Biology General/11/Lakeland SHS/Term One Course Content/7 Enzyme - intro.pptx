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71" r:id="rId3"/>
    <p:sldId id="272" r:id="rId4"/>
    <p:sldId id="266" r:id="rId5"/>
    <p:sldId id="261" r:id="rId6"/>
    <p:sldId id="267" r:id="rId7"/>
    <p:sldId id="270" r:id="rId8"/>
    <p:sldId id="268" r:id="rId9"/>
    <p:sldId id="259" r:id="rId10"/>
    <p:sldId id="273" r:id="rId11"/>
    <p:sldId id="274" r:id="rId12"/>
    <p:sldId id="275" r:id="rId13"/>
    <p:sldId id="281" r:id="rId14"/>
    <p:sldId id="278" r:id="rId15"/>
    <p:sldId id="279" r:id="rId16"/>
    <p:sldId id="282" r:id="rId17"/>
    <p:sldId id="283" r:id="rId18"/>
    <p:sldId id="284" r:id="rId19"/>
    <p:sldId id="285" r:id="rId20"/>
    <p:sldId id="286" r:id="rId21"/>
    <p:sldId id="263" r:id="rId22"/>
    <p:sldId id="265" r:id="rId23"/>
  </p:sldIdLst>
  <p:sldSz cx="9144000" cy="6858000" type="screen4x3"/>
  <p:notesSz cx="6858000" cy="91440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3DFDF4"/>
    <a:srgbClr val="03F1F7"/>
    <a:srgbClr val="02F4E8"/>
    <a:srgbClr val="5CFD03"/>
    <a:srgbClr val="FF6699"/>
    <a:srgbClr val="1058E8"/>
    <a:srgbClr val="FFFFCC"/>
    <a:srgbClr val="93DE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8" autoAdjust="0"/>
    <p:restoredTop sz="94660"/>
  </p:normalViewPr>
  <p:slideViewPr>
    <p:cSldViewPr>
      <p:cViewPr varScale="1">
        <p:scale>
          <a:sx n="95" d="100"/>
          <a:sy n="95" d="100"/>
        </p:scale>
        <p:origin x="-1104" y="-8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64A37F-87E7-4E65-AA0C-692CCD4F1034}" type="datetimeFigureOut">
              <a:rPr lang="en-AU" smtClean="0"/>
              <a:t>1/08/2017</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306024-2778-4EC9-8D76-ED81635A183A}" type="slidenum">
              <a:rPr lang="en-AU" smtClean="0"/>
              <a:t>‹#›</a:t>
            </a:fld>
            <a:endParaRPr lang="en-AU"/>
          </a:p>
        </p:txBody>
      </p:sp>
    </p:spTree>
    <p:extLst>
      <p:ext uri="{BB962C8B-B14F-4D97-AF65-F5344CB8AC3E}">
        <p14:creationId xmlns:p14="http://schemas.microsoft.com/office/powerpoint/2010/main" val="2469499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C606BCB1-5A4B-4803-ACD8-9A50E0F4166C}" type="slidenum">
              <a:rPr lang="es-MX" altLang="en-US" sz="1200">
                <a:latin typeface="Calibri" panose="020F0502020204030204" pitchFamily="34" charset="0"/>
              </a:rPr>
              <a:pPr eaLnBrk="1" hangingPunct="1"/>
              <a:t>2</a:t>
            </a:fld>
            <a:endParaRPr lang="es-MX" altLang="en-US" sz="1200">
              <a:latin typeface="Calibri" panose="020F0502020204030204" pitchFamily="34" charset="0"/>
            </a:endParaRPr>
          </a:p>
        </p:txBody>
      </p:sp>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latin typeface="Calibri" panose="020F0502020204030204" pitchFamily="34" charset="0"/>
              <a:ea typeface="ＭＳ Ｐゴシック" panose="020B0600070205080204" pitchFamily="34" charset="-128"/>
            </a:endParaRPr>
          </a:p>
        </p:txBody>
      </p:sp>
    </p:spTree>
    <p:extLst>
      <p:ext uri="{BB962C8B-B14F-4D97-AF65-F5344CB8AC3E}">
        <p14:creationId xmlns:p14="http://schemas.microsoft.com/office/powerpoint/2010/main" val="473045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59862BC6-469D-4891-A20E-FA289A572D15}" type="datetimeFigureOut">
              <a:rPr lang="en-GB" smtClean="0"/>
              <a:pPr/>
              <a:t>01/08/2017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BA3C61-9924-44A7-BE88-FED5CA001FD5}"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9862BC6-469D-4891-A20E-FA289A572D15}" type="datetimeFigureOut">
              <a:rPr lang="en-GB" smtClean="0"/>
              <a:pPr/>
              <a:t>01/08/2017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BA3C61-9924-44A7-BE88-FED5CA001FD5}"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9862BC6-469D-4891-A20E-FA289A572D15}" type="datetimeFigureOut">
              <a:rPr lang="en-GB" smtClean="0"/>
              <a:pPr/>
              <a:t>01/08/2017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BA3C61-9924-44A7-BE88-FED5CA001FD5}"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59862BC6-469D-4891-A20E-FA289A572D15}" type="datetimeFigureOut">
              <a:rPr lang="en-GB" smtClean="0"/>
              <a:pPr/>
              <a:t>01/08/2017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7BA3C61-9924-44A7-BE88-FED5CA001FD5}"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59862BC6-469D-4891-A20E-FA289A572D15}" type="datetimeFigureOut">
              <a:rPr lang="en-GB" smtClean="0"/>
              <a:pPr/>
              <a:t>01/08/2017</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7BA3C61-9924-44A7-BE88-FED5CA001FD5}"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59862BC6-469D-4891-A20E-FA289A572D15}" type="datetimeFigureOut">
              <a:rPr lang="en-GB" smtClean="0"/>
              <a:pPr/>
              <a:t>01/08/2017</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7BA3C61-9924-44A7-BE88-FED5CA001FD5}"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862BC6-469D-4891-A20E-FA289A572D15}" type="datetimeFigureOut">
              <a:rPr lang="en-GB" smtClean="0"/>
              <a:pPr/>
              <a:t>01/08/2017</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7BA3C61-9924-44A7-BE88-FED5CA001FD5}"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9862BC6-469D-4891-A20E-FA289A572D15}" type="datetimeFigureOut">
              <a:rPr lang="en-GB" smtClean="0"/>
              <a:pPr/>
              <a:t>01/08/2017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7BA3C61-9924-44A7-BE88-FED5CA001FD5}"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9862BC6-469D-4891-A20E-FA289A572D15}" type="datetimeFigureOut">
              <a:rPr lang="en-GB" smtClean="0"/>
              <a:pPr/>
              <a:t>01/08/2017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7BA3C61-9924-44A7-BE88-FED5CA001FD5}"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9862BC6-469D-4891-A20E-FA289A572D15}" type="datetimeFigureOut">
              <a:rPr lang="en-GB" smtClean="0"/>
              <a:pPr/>
              <a:t>01/08/2017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BA3C61-9924-44A7-BE88-FED5CA001FD5}"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9862BC6-469D-4891-A20E-FA289A572D15}" type="datetimeFigureOut">
              <a:rPr lang="en-GB" smtClean="0"/>
              <a:pPr/>
              <a:t>01/08/2017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BA3C61-9924-44A7-BE88-FED5CA001FD5}"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862BC6-469D-4891-A20E-FA289A572D15}" type="datetimeFigureOut">
              <a:rPr lang="en-GB" smtClean="0"/>
              <a:pPr/>
              <a:t>01/08/2017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BA3C61-9924-44A7-BE88-FED5CA001FD5}" type="slidenum">
              <a:rPr lang="en-GB" smtClean="0"/>
              <a:pPr/>
              <a:t>‹#›</a:t>
            </a:fld>
            <a:endParaRPr lang="en-GB"/>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Scribble Box DEMO"/>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0" y="2348880"/>
            <a:ext cx="8964488" cy="1970218"/>
          </a:xfrm>
          <a:prstGeom prst="rect">
            <a:avLst/>
          </a:prstGeom>
          <a:noFill/>
        </p:spPr>
      </p:pic>
    </p:spTree>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p:nvPr>
        </p:nvSpPr>
        <p:spPr>
          <a:xfrm>
            <a:off x="1066800" y="0"/>
            <a:ext cx="7391400" cy="914400"/>
          </a:xfrm>
        </p:spPr>
        <p:txBody>
          <a:bodyPr/>
          <a:lstStyle/>
          <a:p>
            <a:pPr eaLnBrk="1" hangingPunct="1"/>
            <a:r>
              <a:rPr lang="es-MX" altLang="en-US" smtClean="0">
                <a:latin typeface="Calibri" panose="020F0502020204030204" pitchFamily="34" charset="0"/>
                <a:ea typeface="ＭＳ Ｐゴシック" panose="020B0600070205080204" pitchFamily="34" charset="-128"/>
              </a:rPr>
              <a:t>Review Macromolecules</a:t>
            </a:r>
          </a:p>
        </p:txBody>
      </p:sp>
      <p:sp>
        <p:nvSpPr>
          <p:cNvPr id="16386" name="Rectangle 3"/>
          <p:cNvSpPr>
            <a:spLocks noGrp="1" noChangeArrowheads="1"/>
          </p:cNvSpPr>
          <p:nvPr>
            <p:ph type="body" sz="half" idx="1"/>
          </p:nvPr>
        </p:nvSpPr>
        <p:spPr>
          <a:xfrm>
            <a:off x="17463" y="1346200"/>
            <a:ext cx="9126537" cy="5511800"/>
          </a:xfrm>
        </p:spPr>
        <p:txBody>
          <a:bodyPr/>
          <a:lstStyle/>
          <a:p>
            <a:pPr algn="ctr"/>
            <a:r>
              <a:rPr lang="en-US" altLang="en-US" sz="3600" dirty="0" smtClean="0">
                <a:latin typeface="Calibri" panose="020F0502020204030204" pitchFamily="34" charset="0"/>
                <a:ea typeface="ＭＳ Ｐゴシック" panose="020B0600070205080204" pitchFamily="34" charset="-128"/>
              </a:rPr>
              <a:t>Proteins </a:t>
            </a:r>
            <a:r>
              <a:rPr lang="en-US" altLang="en-US" sz="3600" dirty="0" smtClean="0">
                <a:latin typeface="Calibri" panose="020F0502020204030204" pitchFamily="34" charset="0"/>
                <a:ea typeface="ＭＳ Ｐゴシック" panose="020B0600070205080204" pitchFamily="34" charset="-128"/>
                <a:sym typeface="Wingdings" panose="05000000000000000000" pitchFamily="2" charset="2"/>
              </a:rPr>
              <a:t></a:t>
            </a:r>
            <a:r>
              <a:rPr lang="en-US" altLang="en-US" sz="3600" dirty="0" smtClean="0">
                <a:latin typeface="Calibri" panose="020F0502020204030204" pitchFamily="34" charset="0"/>
                <a:ea typeface="ＭＳ Ｐゴシック" panose="020B0600070205080204" pitchFamily="34" charset="-128"/>
              </a:rPr>
              <a:t> amino acids</a:t>
            </a:r>
          </a:p>
          <a:p>
            <a:pPr algn="ctr"/>
            <a:r>
              <a:rPr lang="en-US" altLang="en-US" sz="3600" dirty="0" smtClean="0">
                <a:latin typeface="Calibri" panose="020F0502020204030204" pitchFamily="34" charset="0"/>
                <a:ea typeface="ＭＳ Ｐゴシック" panose="020B0600070205080204" pitchFamily="34" charset="-128"/>
              </a:rPr>
              <a:t>Carbohydrates </a:t>
            </a:r>
            <a:r>
              <a:rPr lang="en-US" altLang="en-US" sz="3600" dirty="0" smtClean="0">
                <a:latin typeface="Calibri" panose="020F0502020204030204" pitchFamily="34" charset="0"/>
                <a:ea typeface="ＭＳ Ｐゴシック" panose="020B0600070205080204" pitchFamily="34" charset="-128"/>
                <a:sym typeface="Wingdings" panose="05000000000000000000" pitchFamily="2" charset="2"/>
              </a:rPr>
              <a:t></a:t>
            </a:r>
            <a:r>
              <a:rPr lang="en-US" altLang="en-US" sz="3600" dirty="0" smtClean="0">
                <a:latin typeface="Calibri" panose="020F0502020204030204" pitchFamily="34" charset="0"/>
                <a:ea typeface="ＭＳ Ｐゴシック" panose="020B0600070205080204" pitchFamily="34" charset="-128"/>
              </a:rPr>
              <a:t>sugars </a:t>
            </a:r>
          </a:p>
          <a:p>
            <a:pPr lvl="1" algn="ctr"/>
            <a:r>
              <a:rPr lang="en-US" altLang="en-US" sz="3200" dirty="0" smtClean="0">
                <a:latin typeface="Calibri" panose="020F0502020204030204" pitchFamily="34" charset="0"/>
                <a:ea typeface="ＭＳ Ｐゴシック" panose="020B0600070205080204" pitchFamily="34" charset="-128"/>
              </a:rPr>
              <a:t>(monosaccharides, polysaccharides, glucose)</a:t>
            </a:r>
          </a:p>
          <a:p>
            <a:pPr algn="ctr"/>
            <a:r>
              <a:rPr lang="en-US" altLang="en-US" sz="3600" dirty="0" smtClean="0">
                <a:latin typeface="Calibri" panose="020F0502020204030204" pitchFamily="34" charset="0"/>
                <a:ea typeface="ＭＳ Ｐゴシック" panose="020B0600070205080204" pitchFamily="34" charset="-128"/>
              </a:rPr>
              <a:t>Lipids </a:t>
            </a:r>
            <a:r>
              <a:rPr lang="en-US" altLang="en-US" sz="3600" dirty="0" smtClean="0">
                <a:latin typeface="Calibri" panose="020F0502020204030204" pitchFamily="34" charset="0"/>
                <a:ea typeface="ＭＳ Ｐゴシック" panose="020B0600070205080204" pitchFamily="34" charset="-128"/>
                <a:sym typeface="Wingdings" panose="05000000000000000000" pitchFamily="2" charset="2"/>
              </a:rPr>
              <a:t> </a:t>
            </a:r>
            <a:r>
              <a:rPr lang="en-US" altLang="en-US" sz="3600" dirty="0" smtClean="0">
                <a:latin typeface="Calibri" panose="020F0502020204030204" pitchFamily="34" charset="0"/>
                <a:ea typeface="ＭＳ Ｐゴシック" panose="020B0600070205080204" pitchFamily="34" charset="-128"/>
              </a:rPr>
              <a:t>fatty acids and a glycerol</a:t>
            </a:r>
          </a:p>
          <a:p>
            <a:pPr algn="ctr"/>
            <a:r>
              <a:rPr lang="en-US" altLang="en-US" sz="3600" dirty="0" smtClean="0">
                <a:latin typeface="Calibri" panose="020F0502020204030204" pitchFamily="34" charset="0"/>
                <a:ea typeface="ＭＳ Ｐゴシック" panose="020B0600070205080204" pitchFamily="34" charset="-128"/>
              </a:rPr>
              <a:t>Nucleotides </a:t>
            </a:r>
            <a:r>
              <a:rPr lang="en-US" altLang="en-US" sz="3600" dirty="0" smtClean="0">
                <a:latin typeface="Calibri" panose="020F0502020204030204" pitchFamily="34" charset="0"/>
                <a:ea typeface="ＭＳ Ｐゴシック" panose="020B0600070205080204" pitchFamily="34" charset="-128"/>
                <a:sym typeface="Wingdings" panose="05000000000000000000" pitchFamily="2" charset="2"/>
              </a:rPr>
              <a:t> </a:t>
            </a:r>
            <a:r>
              <a:rPr lang="en-US" altLang="en-US" sz="3600" dirty="0" smtClean="0">
                <a:latin typeface="Calibri" panose="020F0502020204030204" pitchFamily="34" charset="0"/>
                <a:ea typeface="ＭＳ Ｐゴシック" panose="020B0600070205080204" pitchFamily="34" charset="-128"/>
              </a:rPr>
              <a:t>nucleic acids </a:t>
            </a:r>
          </a:p>
          <a:p>
            <a:pPr eaLnBrk="1" hangingPunct="1">
              <a:lnSpc>
                <a:spcPct val="90000"/>
              </a:lnSpc>
            </a:pPr>
            <a:endParaRPr lang="es-MX" altLang="en-US" sz="3600" dirty="0" smtClean="0">
              <a:latin typeface="Calibri" panose="020F0502020204030204" pitchFamily="34" charset="0"/>
              <a:ea typeface="ＭＳ Ｐゴシック" panose="020B0600070205080204" pitchFamily="34" charset="-128"/>
            </a:endParaRPr>
          </a:p>
        </p:txBody>
      </p:sp>
    </p:spTree>
    <p:extLst>
      <p:ext uri="{BB962C8B-B14F-4D97-AF65-F5344CB8AC3E}">
        <p14:creationId xmlns:p14="http://schemas.microsoft.com/office/powerpoint/2010/main" val="1902378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Text Box 2"/>
          <p:cNvSpPr txBox="1">
            <a:spLocks noChangeArrowheads="1"/>
          </p:cNvSpPr>
          <p:nvPr/>
        </p:nvSpPr>
        <p:spPr bwMode="auto">
          <a:xfrm>
            <a:off x="781064" y="863582"/>
            <a:ext cx="6934200" cy="954107"/>
          </a:xfrm>
          <a:prstGeom prst="rect">
            <a:avLst/>
          </a:prstGeom>
          <a:noFill/>
          <a:ln w="9525">
            <a:noFill/>
            <a:miter lim="800000"/>
            <a:headEnd/>
            <a:tailEnd/>
          </a:ln>
          <a:effectLst/>
        </p:spPr>
        <p:txBody>
          <a:bodyPr>
            <a:spAutoFit/>
          </a:bodyPr>
          <a:lstStyle/>
          <a:p>
            <a:r>
              <a:rPr lang="en-GB" sz="2800" dirty="0"/>
              <a:t>Almost all chemical reactions in an organism are controlled by enzymes.</a:t>
            </a:r>
          </a:p>
        </p:txBody>
      </p:sp>
      <p:sp>
        <p:nvSpPr>
          <p:cNvPr id="301060" name="Rectangle 4"/>
          <p:cNvSpPr>
            <a:spLocks noChangeArrowheads="1"/>
          </p:cNvSpPr>
          <p:nvPr/>
        </p:nvSpPr>
        <p:spPr bwMode="auto">
          <a:xfrm>
            <a:off x="857264" y="3090013"/>
            <a:ext cx="6858000" cy="1815882"/>
          </a:xfrm>
          <a:prstGeom prst="rect">
            <a:avLst/>
          </a:prstGeom>
          <a:noFill/>
          <a:ln w="9525">
            <a:noFill/>
            <a:miter lim="800000"/>
            <a:headEnd/>
            <a:tailEnd/>
          </a:ln>
          <a:effectLst/>
        </p:spPr>
        <p:txBody>
          <a:bodyPr>
            <a:spAutoFit/>
          </a:bodyPr>
          <a:lstStyle/>
          <a:p>
            <a:r>
              <a:rPr lang="en-GB" sz="2800" dirty="0"/>
              <a:t>Most processes in an organism consist of many reactions in sequence</a:t>
            </a:r>
            <a:r>
              <a:rPr lang="en-GB" sz="2800" dirty="0" smtClean="0"/>
              <a:t>.</a:t>
            </a:r>
            <a:endParaRPr lang="en-GB" sz="2800" dirty="0"/>
          </a:p>
          <a:p>
            <a:r>
              <a:rPr lang="en-GB" sz="2800" dirty="0"/>
              <a:t>Each one is catalysed by a </a:t>
            </a:r>
            <a:r>
              <a:rPr lang="en-GB" sz="2800" u="sng" dirty="0"/>
              <a:t>specific</a:t>
            </a:r>
            <a:r>
              <a:rPr lang="en-GB" sz="2800" dirty="0"/>
              <a:t> enzyme- one enzyme for one reaction.</a:t>
            </a:r>
          </a:p>
        </p:txBody>
      </p:sp>
      <p:sp>
        <p:nvSpPr>
          <p:cNvPr id="301061" name="Text Box 5"/>
          <p:cNvSpPr txBox="1">
            <a:spLocks noChangeArrowheads="1"/>
          </p:cNvSpPr>
          <p:nvPr/>
        </p:nvSpPr>
        <p:spPr bwMode="auto">
          <a:xfrm>
            <a:off x="857264" y="1977189"/>
            <a:ext cx="5733429" cy="954107"/>
          </a:xfrm>
          <a:prstGeom prst="rect">
            <a:avLst/>
          </a:prstGeom>
          <a:noFill/>
          <a:ln w="9525">
            <a:noFill/>
            <a:miter lim="800000"/>
            <a:headEnd/>
            <a:tailEnd/>
          </a:ln>
          <a:effectLst/>
        </p:spPr>
        <p:txBody>
          <a:bodyPr wrap="square">
            <a:spAutoFit/>
          </a:bodyPr>
          <a:lstStyle/>
          <a:p>
            <a:r>
              <a:rPr lang="en-GB" sz="2800" dirty="0"/>
              <a:t>Without enzymes these reactions would go too slowly for life to exist</a:t>
            </a:r>
            <a:r>
              <a:rPr lang="en-GB" dirty="0"/>
              <a:t>.</a:t>
            </a:r>
          </a:p>
        </p:txBody>
      </p:sp>
      <p:pic>
        <p:nvPicPr>
          <p:cNvPr id="301063" name="Picture 7" descr="C:\Documents and Settings\jkinghorn\My Documents\My Pictures\human running.jpg"/>
          <p:cNvPicPr>
            <a:picLocks noChangeAspect="1" noChangeArrowheads="1"/>
          </p:cNvPicPr>
          <p:nvPr/>
        </p:nvPicPr>
        <p:blipFill>
          <a:blip r:embed="rId2" cstate="print"/>
          <a:srcRect/>
          <a:stretch>
            <a:fillRect/>
          </a:stretch>
        </p:blipFill>
        <p:spPr bwMode="auto">
          <a:xfrm>
            <a:off x="7239000" y="1752600"/>
            <a:ext cx="1274763" cy="2057400"/>
          </a:xfrm>
          <a:prstGeom prst="rect">
            <a:avLst/>
          </a:prstGeom>
          <a:noFill/>
        </p:spPr>
      </p:pic>
      <p:sp>
        <p:nvSpPr>
          <p:cNvPr id="301066" name="Rectangle 10"/>
          <p:cNvSpPr>
            <a:spLocks noGrp="1" noChangeArrowheads="1"/>
          </p:cNvSpPr>
          <p:nvPr>
            <p:ph type="title" idx="4294967295"/>
          </p:nvPr>
        </p:nvSpPr>
        <p:spPr>
          <a:xfrm>
            <a:off x="0" y="274638"/>
            <a:ext cx="8572528" cy="654032"/>
          </a:xfrm>
        </p:spPr>
        <p:txBody>
          <a:bodyPr>
            <a:normAutofit fontScale="90000"/>
          </a:bodyPr>
          <a:lstStyle/>
          <a:p>
            <a:r>
              <a:rPr lang="en-GB" dirty="0"/>
              <a:t>Important</a:t>
            </a:r>
            <a:r>
              <a:rPr lang="en-GB" dirty="0" smtClean="0"/>
              <a:t>?</a:t>
            </a:r>
            <a:br>
              <a:rPr lang="en-GB" dirty="0" smtClean="0"/>
            </a:br>
            <a:endParaRPr lang="en-GB" dirty="0"/>
          </a:p>
        </p:txBody>
      </p:sp>
      <p:sp>
        <p:nvSpPr>
          <p:cNvPr id="301067" name="WordArt 11"/>
          <p:cNvSpPr>
            <a:spLocks noChangeArrowheads="1" noChangeShapeType="1" noTextEdit="1"/>
          </p:cNvSpPr>
          <p:nvPr/>
        </p:nvSpPr>
        <p:spPr bwMode="auto">
          <a:xfrm>
            <a:off x="2123728" y="5301208"/>
            <a:ext cx="5591536" cy="1137692"/>
          </a:xfrm>
          <a:prstGeom prst="rect">
            <a:avLst/>
          </a:prstGeom>
        </p:spPr>
        <p:txBody>
          <a:bodyPr wrap="none" fromWordArt="1">
            <a:prstTxWarp prst="textPlain">
              <a:avLst>
                <a:gd name="adj" fmla="val 50000"/>
              </a:avLst>
            </a:prstTxWarp>
          </a:bodyPr>
          <a:lstStyle/>
          <a:p>
            <a:pPr algn="ctr"/>
            <a:r>
              <a:rPr lang="en-GB" sz="3600" b="1" kern="10" dirty="0">
                <a:ln w="22225">
                  <a:solidFill>
                    <a:srgbClr val="FFFF00"/>
                  </a:solidFill>
                  <a:prstDash val="solid"/>
                </a:ln>
                <a:solidFill>
                  <a:srgbClr val="FFC000"/>
                </a:solidFill>
                <a:latin typeface="Arial Black"/>
              </a:rPr>
              <a:t>no reactions? no life!</a:t>
            </a:r>
            <a:endParaRPr lang="en-GB" sz="3600" kern="10" dirty="0">
              <a:ln w="22225">
                <a:solidFill>
                  <a:srgbClr val="FFFF00"/>
                </a:solidFill>
                <a:prstDash val="solid"/>
              </a:ln>
              <a:solidFill>
                <a:srgbClr val="FFC000"/>
              </a:solidFill>
              <a:effectLst>
                <a:outerShdw dist="35921" dir="2700000" sy="50000" kx="2115830" algn="bl" rotWithShape="0">
                  <a:srgbClr val="C0C0C0"/>
                </a:outerShdw>
              </a:effectLst>
              <a:latin typeface="Arial Black"/>
            </a:endParaRPr>
          </a:p>
        </p:txBody>
      </p:sp>
    </p:spTree>
    <p:extLst>
      <p:ext uri="{BB962C8B-B14F-4D97-AF65-F5344CB8AC3E}">
        <p14:creationId xmlns:p14="http://schemas.microsoft.com/office/powerpoint/2010/main" val="3873036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1058"/>
                                        </p:tgtEl>
                                        <p:attrNameLst>
                                          <p:attrName>style.visibility</p:attrName>
                                        </p:attrNameLst>
                                      </p:cBhvr>
                                      <p:to>
                                        <p:strVal val="visible"/>
                                      </p:to>
                                    </p:set>
                                    <p:anim calcmode="lin" valueType="num">
                                      <p:cBhvr additive="base">
                                        <p:cTn id="7" dur="500" fill="hold"/>
                                        <p:tgtEl>
                                          <p:spTgt spid="301058"/>
                                        </p:tgtEl>
                                        <p:attrNameLst>
                                          <p:attrName>ppt_x</p:attrName>
                                        </p:attrNameLst>
                                      </p:cBhvr>
                                      <p:tavLst>
                                        <p:tav tm="0">
                                          <p:val>
                                            <p:strVal val="0-#ppt_w/2"/>
                                          </p:val>
                                        </p:tav>
                                        <p:tav tm="100000">
                                          <p:val>
                                            <p:strVal val="#ppt_x"/>
                                          </p:val>
                                        </p:tav>
                                      </p:tavLst>
                                    </p:anim>
                                    <p:anim calcmode="lin" valueType="num">
                                      <p:cBhvr additive="base">
                                        <p:cTn id="8" dur="500" fill="hold"/>
                                        <p:tgtEl>
                                          <p:spTgt spid="30105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1061"/>
                                        </p:tgtEl>
                                        <p:attrNameLst>
                                          <p:attrName>style.visibility</p:attrName>
                                        </p:attrNameLst>
                                      </p:cBhvr>
                                      <p:to>
                                        <p:strVal val="visible"/>
                                      </p:to>
                                    </p:set>
                                    <p:anim calcmode="lin" valueType="num">
                                      <p:cBhvr additive="base">
                                        <p:cTn id="13" dur="500" fill="hold"/>
                                        <p:tgtEl>
                                          <p:spTgt spid="301061"/>
                                        </p:tgtEl>
                                        <p:attrNameLst>
                                          <p:attrName>ppt_x</p:attrName>
                                        </p:attrNameLst>
                                      </p:cBhvr>
                                      <p:tavLst>
                                        <p:tav tm="0">
                                          <p:val>
                                            <p:strVal val="0-#ppt_w/2"/>
                                          </p:val>
                                        </p:tav>
                                        <p:tav tm="100000">
                                          <p:val>
                                            <p:strVal val="#ppt_x"/>
                                          </p:val>
                                        </p:tav>
                                      </p:tavLst>
                                    </p:anim>
                                    <p:anim calcmode="lin" valueType="num">
                                      <p:cBhvr additive="base">
                                        <p:cTn id="14" dur="500" fill="hold"/>
                                        <p:tgtEl>
                                          <p:spTgt spid="30106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1067"/>
                                        </p:tgtEl>
                                        <p:attrNameLst>
                                          <p:attrName>style.visibility</p:attrName>
                                        </p:attrNameLst>
                                      </p:cBhvr>
                                      <p:to>
                                        <p:strVal val="visible"/>
                                      </p:to>
                                    </p:set>
                                    <p:anim calcmode="lin" valueType="num">
                                      <p:cBhvr additive="base">
                                        <p:cTn id="19" dur="500" fill="hold"/>
                                        <p:tgtEl>
                                          <p:spTgt spid="301067"/>
                                        </p:tgtEl>
                                        <p:attrNameLst>
                                          <p:attrName>ppt_x</p:attrName>
                                        </p:attrNameLst>
                                      </p:cBhvr>
                                      <p:tavLst>
                                        <p:tav tm="0">
                                          <p:val>
                                            <p:strVal val="0-#ppt_w/2"/>
                                          </p:val>
                                        </p:tav>
                                        <p:tav tm="100000">
                                          <p:val>
                                            <p:strVal val="#ppt_x"/>
                                          </p:val>
                                        </p:tav>
                                      </p:tavLst>
                                    </p:anim>
                                    <p:anim calcmode="lin" valueType="num">
                                      <p:cBhvr additive="base">
                                        <p:cTn id="20" dur="500" fill="hold"/>
                                        <p:tgtEl>
                                          <p:spTgt spid="30106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01060"/>
                                        </p:tgtEl>
                                        <p:attrNameLst>
                                          <p:attrName>style.visibility</p:attrName>
                                        </p:attrNameLst>
                                      </p:cBhvr>
                                      <p:to>
                                        <p:strVal val="visible"/>
                                      </p:to>
                                    </p:set>
                                    <p:anim calcmode="lin" valueType="num">
                                      <p:cBhvr additive="base">
                                        <p:cTn id="25" dur="500" fill="hold"/>
                                        <p:tgtEl>
                                          <p:spTgt spid="301060"/>
                                        </p:tgtEl>
                                        <p:attrNameLst>
                                          <p:attrName>ppt_x</p:attrName>
                                        </p:attrNameLst>
                                      </p:cBhvr>
                                      <p:tavLst>
                                        <p:tav tm="0">
                                          <p:val>
                                            <p:strVal val="0-#ppt_w/2"/>
                                          </p:val>
                                        </p:tav>
                                        <p:tav tm="100000">
                                          <p:val>
                                            <p:strVal val="#ppt_x"/>
                                          </p:val>
                                        </p:tav>
                                      </p:tavLst>
                                    </p:anim>
                                    <p:anim calcmode="lin" valueType="num">
                                      <p:cBhvr additive="base">
                                        <p:cTn id="26" dur="500" fill="hold"/>
                                        <p:tgtEl>
                                          <p:spTgt spid="30106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01063"/>
                                        </p:tgtEl>
                                        <p:attrNameLst>
                                          <p:attrName>style.visibility</p:attrName>
                                        </p:attrNameLst>
                                      </p:cBhvr>
                                      <p:to>
                                        <p:strVal val="visible"/>
                                      </p:to>
                                    </p:set>
                                    <p:anim calcmode="lin" valueType="num">
                                      <p:cBhvr additive="base">
                                        <p:cTn id="31" dur="500" fill="hold"/>
                                        <p:tgtEl>
                                          <p:spTgt spid="301063"/>
                                        </p:tgtEl>
                                        <p:attrNameLst>
                                          <p:attrName>ppt_x</p:attrName>
                                        </p:attrNameLst>
                                      </p:cBhvr>
                                      <p:tavLst>
                                        <p:tav tm="0">
                                          <p:val>
                                            <p:strVal val="0-#ppt_w/2"/>
                                          </p:val>
                                        </p:tav>
                                        <p:tav tm="100000">
                                          <p:val>
                                            <p:strVal val="#ppt_x"/>
                                          </p:val>
                                        </p:tav>
                                      </p:tavLst>
                                    </p:anim>
                                    <p:anim calcmode="lin" valueType="num">
                                      <p:cBhvr additive="base">
                                        <p:cTn id="32" dur="500" fill="hold"/>
                                        <p:tgtEl>
                                          <p:spTgt spid="3010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58" grpId="0" autoUpdateAnimBg="0"/>
      <p:bldP spid="301060" grpId="0" autoUpdateAnimBg="0"/>
      <p:bldP spid="301061" grpId="0" autoUpdateAnimBg="0"/>
      <p:bldP spid="30106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are enzymes? &lt;ul&gt;&lt;li&gt;Protein in nature (most enzymes!) &lt;/li&gt;&lt;/ul&gt;&lt;ul&gt;&lt;li&gt;biological  catalysts &lt;/li&gt;&lt;/ul&gt;&lt;ul&gt;&lt;li&gt;(A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528" y="188640"/>
            <a:ext cx="8595799" cy="6446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31916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1058E8"/>
            </a:gs>
            <a:gs pos="100000">
              <a:schemeClr val="bg1">
                <a:shade val="30000"/>
                <a:satMod val="20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do they do.. Essentially?</a:t>
            </a:r>
            <a:endParaRPr lang="en-GB" dirty="0"/>
          </a:p>
        </p:txBody>
      </p:sp>
      <p:sp>
        <p:nvSpPr>
          <p:cNvPr id="3" name="Content Placeholder 2"/>
          <p:cNvSpPr>
            <a:spLocks noGrp="1"/>
          </p:cNvSpPr>
          <p:nvPr>
            <p:ph idx="1"/>
          </p:nvPr>
        </p:nvSpPr>
        <p:spPr/>
        <p:txBody>
          <a:bodyPr/>
          <a:lstStyle/>
          <a:p>
            <a:r>
              <a:rPr lang="en-GB" dirty="0" smtClean="0">
                <a:latin typeface="Bell Gothic Std Black" pitchFamily="34" charset="0"/>
              </a:rPr>
              <a:t>The Build molecules( Anabolic Enzymes) or they Break molecules down (Catabolic). </a:t>
            </a:r>
          </a:p>
          <a:p>
            <a:endParaRPr lang="en-GB" dirty="0">
              <a:latin typeface="Bell Gothic Std Black" pitchFamily="34" charset="0"/>
            </a:endParaRPr>
          </a:p>
          <a:p>
            <a:r>
              <a:rPr lang="en-GB" dirty="0" smtClean="0">
                <a:latin typeface="Bell Gothic Std Black" pitchFamily="34" charset="0"/>
              </a:rPr>
              <a:t>They provide an area in which a reaction can happen by actively forcing a reaction. </a:t>
            </a:r>
          </a:p>
          <a:p>
            <a:endParaRPr lang="en-GB" dirty="0">
              <a:latin typeface="Bell Gothic Std Black" pitchFamily="34" charset="0"/>
            </a:endParaRPr>
          </a:p>
          <a:p>
            <a:r>
              <a:rPr lang="en-GB" dirty="0" smtClean="0">
                <a:latin typeface="Bell Gothic Std Black" pitchFamily="34" charset="0"/>
              </a:rPr>
              <a:t>They can be used again and again</a:t>
            </a:r>
          </a:p>
          <a:p>
            <a:endParaRPr lang="en-GB" dirty="0"/>
          </a:p>
        </p:txBody>
      </p:sp>
    </p:spTree>
  </p:cSld>
  <p:clrMapOvr>
    <a:masterClrMapping/>
  </p:clrMapOvr>
  <p:transition>
    <p:pull dir="l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ow do enzymes alter the rate of chemical reactions? &lt;ul&gt;&lt;li&gt;The energy needed to start a chemical reaction is called  a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88640"/>
            <a:ext cx="8640960" cy="6480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38659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normAutofit fontScale="90000"/>
          </a:bodyPr>
          <a:lstStyle/>
          <a:p>
            <a:r>
              <a:rPr lang="en-US" altLang="en-US">
                <a:latin typeface="Comic Sans MS" panose="030F0702030302020204" pitchFamily="66" charset="0"/>
              </a:rPr>
              <a:t>Activation Energy and Catalysis</a:t>
            </a:r>
            <a:endParaRPr lang="en-AU" altLang="en-US">
              <a:latin typeface="Comic Sans MS" panose="030F0702030302020204" pitchFamily="66" charset="0"/>
            </a:endParaRPr>
          </a:p>
        </p:txBody>
      </p:sp>
      <p:pic>
        <p:nvPicPr>
          <p:cNvPr id="4098" name="Picture 2" descr="http://www.emc.maricopa.edu/faculty/farabee/BIOBK/catreact.gi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8758" y="1124744"/>
            <a:ext cx="8726484" cy="5544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08375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erms to know: substrate : substances on which enzymes act upon Note the surface configuration/shape of the substrate &amp; 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16632"/>
            <a:ext cx="8736969" cy="6552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52308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81000">
              <a:srgbClr val="FFC000"/>
            </a:gs>
            <a:gs pos="100000">
              <a:schemeClr val="tx2">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chemeClr val="bg1"/>
                </a:solidFill>
              </a:rPr>
              <a:t>Essential Vocabulary </a:t>
            </a:r>
            <a:endParaRPr lang="en-GB" dirty="0">
              <a:solidFill>
                <a:schemeClr val="bg1"/>
              </a:solidFill>
            </a:endParaRPr>
          </a:p>
        </p:txBody>
      </p:sp>
      <p:sp>
        <p:nvSpPr>
          <p:cNvPr id="3" name="Content Placeholder 2"/>
          <p:cNvSpPr>
            <a:spLocks noGrp="1"/>
          </p:cNvSpPr>
          <p:nvPr>
            <p:ph idx="1"/>
          </p:nvPr>
        </p:nvSpPr>
        <p:spPr/>
        <p:txBody>
          <a:bodyPr>
            <a:normAutofit/>
          </a:bodyPr>
          <a:lstStyle/>
          <a:p>
            <a:r>
              <a:rPr lang="en-GB" b="1" dirty="0" smtClean="0">
                <a:solidFill>
                  <a:schemeClr val="bg1"/>
                </a:solidFill>
                <a:latin typeface="Arial Rounded MT Bold" pitchFamily="34" charset="0"/>
              </a:rPr>
              <a:t>Active Site: </a:t>
            </a:r>
            <a:r>
              <a:rPr lang="en-GB" dirty="0" smtClean="0">
                <a:solidFill>
                  <a:schemeClr val="bg1"/>
                </a:solidFill>
                <a:latin typeface="Arial Rounded MT Bold" pitchFamily="34" charset="0"/>
              </a:rPr>
              <a:t>Area on which an enzyme substrate binds.</a:t>
            </a:r>
          </a:p>
          <a:p>
            <a:r>
              <a:rPr lang="en-GB" b="1" dirty="0" smtClean="0">
                <a:solidFill>
                  <a:schemeClr val="bg1"/>
                </a:solidFill>
                <a:latin typeface="Arial Rounded MT Bold" pitchFamily="34" charset="0"/>
              </a:rPr>
              <a:t>Enzyme Specificity: </a:t>
            </a:r>
            <a:r>
              <a:rPr lang="en-GB" dirty="0" smtClean="0">
                <a:solidFill>
                  <a:schemeClr val="bg1"/>
                </a:solidFill>
                <a:latin typeface="Arial Rounded MT Bold" pitchFamily="34" charset="0"/>
              </a:rPr>
              <a:t>enzymes will only catalyse one particular reaction.</a:t>
            </a:r>
          </a:p>
          <a:p>
            <a:r>
              <a:rPr lang="en-GB" b="1" dirty="0" smtClean="0">
                <a:solidFill>
                  <a:schemeClr val="bg1"/>
                </a:solidFill>
                <a:latin typeface="Arial Rounded MT Bold" pitchFamily="34" charset="0"/>
              </a:rPr>
              <a:t>Intracellular Enzymes </a:t>
            </a:r>
            <a:r>
              <a:rPr lang="en-GB" dirty="0" smtClean="0">
                <a:solidFill>
                  <a:schemeClr val="bg1"/>
                </a:solidFill>
                <a:latin typeface="Arial Rounded MT Bold" pitchFamily="34" charset="0"/>
              </a:rPr>
              <a:t>catalyse reactions inside the cell. </a:t>
            </a:r>
          </a:p>
          <a:p>
            <a:r>
              <a:rPr lang="en-GB" b="1" dirty="0" smtClean="0">
                <a:solidFill>
                  <a:schemeClr val="bg1"/>
                </a:solidFill>
                <a:latin typeface="Arial Rounded MT Bold" pitchFamily="34" charset="0"/>
              </a:rPr>
              <a:t>Extracellular Enzymes </a:t>
            </a:r>
            <a:r>
              <a:rPr lang="en-GB" dirty="0" smtClean="0">
                <a:solidFill>
                  <a:schemeClr val="bg1"/>
                </a:solidFill>
                <a:latin typeface="Arial Rounded MT Bold" pitchFamily="34" charset="0"/>
              </a:rPr>
              <a:t>catalyse reactions outside of the cell. </a:t>
            </a:r>
          </a:p>
          <a:p>
            <a:endParaRPr lang="en-GB" dirty="0"/>
          </a:p>
        </p:txBody>
      </p:sp>
    </p:spTree>
  </p:cSld>
  <p:clrMapOvr>
    <a:masterClrMapping/>
  </p:clrMapOvr>
  <p:transition>
    <p:circl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5536" y="620688"/>
            <a:ext cx="8229600" cy="1143000"/>
          </a:xfrm>
        </p:spPr>
        <p:txBody>
          <a:bodyPr>
            <a:noAutofit/>
          </a:bodyPr>
          <a:lstStyle/>
          <a:p>
            <a:r>
              <a:rPr lang="en-AU" sz="6000" dirty="0" smtClean="0">
                <a:solidFill>
                  <a:srgbClr val="FF0000"/>
                </a:solidFill>
              </a:rPr>
              <a:t>Factors that affect enzyme activity</a:t>
            </a:r>
            <a:endParaRPr lang="en-AU" sz="6000" dirty="0">
              <a:solidFill>
                <a:srgbClr val="FF0000"/>
              </a:solidFill>
            </a:endParaRPr>
          </a:p>
        </p:txBody>
      </p:sp>
      <p:sp>
        <p:nvSpPr>
          <p:cNvPr id="4" name="Content Placeholder 3"/>
          <p:cNvSpPr>
            <a:spLocks noGrp="1"/>
          </p:cNvSpPr>
          <p:nvPr>
            <p:ph sz="half" idx="2"/>
          </p:nvPr>
        </p:nvSpPr>
        <p:spPr>
          <a:xfrm>
            <a:off x="2552700" y="2132857"/>
            <a:ext cx="5043636" cy="4104456"/>
          </a:xfrm>
        </p:spPr>
        <p:txBody>
          <a:bodyPr>
            <a:noAutofit/>
          </a:bodyPr>
          <a:lstStyle/>
          <a:p>
            <a:pPr marL="514350" indent="-514350">
              <a:buFont typeface="+mj-lt"/>
              <a:buAutoNum type="arabicPeriod"/>
            </a:pPr>
            <a:r>
              <a:rPr lang="en-AU" sz="4000" dirty="0" smtClean="0"/>
              <a:t>Temperature</a:t>
            </a:r>
          </a:p>
          <a:p>
            <a:pPr marL="514350" indent="-514350">
              <a:buFont typeface="+mj-lt"/>
              <a:buAutoNum type="arabicPeriod"/>
            </a:pPr>
            <a:r>
              <a:rPr lang="en-AU" sz="4000" dirty="0" smtClean="0"/>
              <a:t>pH</a:t>
            </a:r>
          </a:p>
          <a:p>
            <a:pPr marL="514350" indent="-514350">
              <a:buFont typeface="+mj-lt"/>
              <a:buAutoNum type="arabicPeriod"/>
            </a:pPr>
            <a:r>
              <a:rPr lang="en-AU" sz="4000" dirty="0" smtClean="0"/>
              <a:t>Enzyme Concentration</a:t>
            </a:r>
          </a:p>
          <a:p>
            <a:pPr marL="514350" indent="-514350">
              <a:buFont typeface="+mj-lt"/>
              <a:buAutoNum type="arabicPeriod"/>
            </a:pPr>
            <a:r>
              <a:rPr lang="en-AU" sz="4000" dirty="0" smtClean="0"/>
              <a:t>Substrate Concentration</a:t>
            </a:r>
            <a:endParaRPr lang="en-AU" sz="4000" dirty="0"/>
          </a:p>
        </p:txBody>
      </p:sp>
    </p:spTree>
    <p:extLst>
      <p:ext uri="{BB962C8B-B14F-4D97-AF65-F5344CB8AC3E}">
        <p14:creationId xmlns:p14="http://schemas.microsoft.com/office/powerpoint/2010/main" val="18215001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69000">
              <a:srgbClr val="92D050"/>
            </a:gs>
            <a:gs pos="100000">
              <a:schemeClr val="bg1">
                <a:shade val="30000"/>
                <a:satMod val="20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Temperature</a:t>
            </a:r>
            <a:endParaRPr lang="en-AU" dirty="0"/>
          </a:p>
        </p:txBody>
      </p:sp>
      <p:pic>
        <p:nvPicPr>
          <p:cNvPr id="9220" name="Picture 4" descr="http://www.bbc.co.uk/staticarchive/199acbfe2bac854818d719d6ce0e53e4cd3cd5d2.gi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15616" y="1652804"/>
            <a:ext cx="6829350" cy="4552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33495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10242" name="Picture 2" descr="Effect of heat on enzyme activty  If you heat the protein above its optimal temperature                        bonds brea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88640"/>
            <a:ext cx="8640960" cy="648072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419872" y="4797152"/>
            <a:ext cx="2808312" cy="461665"/>
          </a:xfrm>
          <a:prstGeom prst="rect">
            <a:avLst/>
          </a:prstGeom>
          <a:noFill/>
        </p:spPr>
        <p:txBody>
          <a:bodyPr wrap="square" rtlCol="0">
            <a:spAutoFit/>
          </a:bodyPr>
          <a:lstStyle/>
          <a:p>
            <a:r>
              <a:rPr lang="en-AU" sz="2400" dirty="0" smtClean="0">
                <a:solidFill>
                  <a:srgbClr val="FF0000"/>
                </a:solidFill>
              </a:rPr>
              <a:t>Denaturing Enzyme</a:t>
            </a:r>
            <a:endParaRPr lang="en-AU" sz="2400" dirty="0">
              <a:solidFill>
                <a:srgbClr val="FF0000"/>
              </a:solidFill>
            </a:endParaRPr>
          </a:p>
        </p:txBody>
      </p:sp>
    </p:spTree>
    <p:extLst>
      <p:ext uri="{BB962C8B-B14F-4D97-AF65-F5344CB8AC3E}">
        <p14:creationId xmlns:p14="http://schemas.microsoft.com/office/powerpoint/2010/main" val="7536145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4" name="Rectangle 3"/>
          <p:cNvSpPr/>
          <p:nvPr/>
        </p:nvSpPr>
        <p:spPr>
          <a:xfrm>
            <a:off x="395536" y="332655"/>
            <a:ext cx="8280920" cy="193899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fontAlgn="auto">
              <a:spcBef>
                <a:spcPts val="0"/>
              </a:spcBef>
              <a:spcAft>
                <a:spcPts val="0"/>
              </a:spcAft>
              <a:defRPr/>
            </a:pPr>
            <a:r>
              <a:rPr lang="en-GB" sz="2000" b="1" dirty="0"/>
              <a:t>pH and enzymes</a:t>
            </a:r>
          </a:p>
          <a:p>
            <a:pPr fontAlgn="auto">
              <a:spcBef>
                <a:spcPts val="0"/>
              </a:spcBef>
              <a:spcAft>
                <a:spcPts val="0"/>
              </a:spcAft>
              <a:defRPr/>
            </a:pPr>
            <a:r>
              <a:rPr lang="en-GB" sz="2000" b="1" dirty="0"/>
              <a:t>Changes in pH also alter an enzyme’s shape. Different enzymes work best at different pH values. The optimum pH for an enzyme depends on where it normally works. For example, intestinal enzymes have an optimum pH of about 7.5. Enzymes in the stomach have an optimum pH of about 2.</a:t>
            </a:r>
          </a:p>
        </p:txBody>
      </p:sp>
      <p:pic>
        <p:nvPicPr>
          <p:cNvPr id="49156" name="Picture 2" descr="Graph showing temperature and enzyme activity. Between 0 and 40ÃÂºC, enzyme activity increases steadily. It peaks at 40ÃÂ°C (optimum temperature), then decreases rapidly"/>
          <p:cNvPicPr>
            <a:picLocks noChangeAspect="1" noChangeArrowheads="1"/>
          </p:cNvPicPr>
          <p:nvPr/>
        </p:nvPicPr>
        <p:blipFill>
          <a:blip r:embed="rId2"/>
          <a:srcRect/>
          <a:stretch>
            <a:fillRect/>
          </a:stretch>
        </p:blipFill>
        <p:spPr bwMode="auto">
          <a:xfrm>
            <a:off x="1403350" y="2492375"/>
            <a:ext cx="5489575" cy="3860800"/>
          </a:xfrm>
          <a:prstGeom prst="rect">
            <a:avLst/>
          </a:prstGeom>
          <a:noFill/>
          <a:ln w="9525">
            <a:noFill/>
            <a:miter lim="800000"/>
            <a:headEnd/>
            <a:tailEnd/>
          </a:ln>
        </p:spPr>
      </p:pic>
    </p:spTree>
    <p:extLst>
      <p:ext uri="{BB962C8B-B14F-4D97-AF65-F5344CB8AC3E}">
        <p14:creationId xmlns:p14="http://schemas.microsoft.com/office/powerpoint/2010/main" val="31409447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12290" name="Picture 2" descr="Enzyme Concentration Rate of Reaction                    Enzyme Concentration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520" y="188640"/>
            <a:ext cx="8640960" cy="6480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94443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13314" name="Picture 2" descr="Substrate Concentration                             Active sites full- maximum turnover  Rate of Reaction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528" y="260508"/>
            <a:ext cx="8496944" cy="63727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07324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468313" y="0"/>
            <a:ext cx="8229600" cy="692150"/>
          </a:xfrm>
        </p:spPr>
        <p:txBody>
          <a:bodyPr/>
          <a:lstStyle/>
          <a:p>
            <a:r>
              <a:rPr lang="en-GB" altLang="en-US" sz="2800"/>
              <a:t>Define the following terms:</a:t>
            </a:r>
          </a:p>
        </p:txBody>
      </p:sp>
      <p:sp>
        <p:nvSpPr>
          <p:cNvPr id="59395" name="Rectangle 3"/>
          <p:cNvSpPr>
            <a:spLocks noGrp="1" noChangeArrowheads="1"/>
          </p:cNvSpPr>
          <p:nvPr>
            <p:ph type="body" idx="1"/>
          </p:nvPr>
        </p:nvSpPr>
        <p:spPr>
          <a:xfrm>
            <a:off x="179388" y="620713"/>
            <a:ext cx="3455987" cy="6057900"/>
          </a:xfrm>
        </p:spPr>
        <p:txBody>
          <a:bodyPr>
            <a:noAutofit/>
          </a:bodyPr>
          <a:lstStyle/>
          <a:p>
            <a:pPr marL="609600" indent="-609600">
              <a:buFontTx/>
              <a:buAutoNum type="arabicPeriod"/>
            </a:pPr>
            <a:r>
              <a:rPr lang="en-GB" altLang="en-US" sz="2400" dirty="0"/>
              <a:t>Anabolic reactions:</a:t>
            </a:r>
            <a:br>
              <a:rPr lang="en-GB" altLang="en-US" sz="2400" dirty="0"/>
            </a:br>
            <a:endParaRPr lang="en-GB" altLang="en-US" sz="2400" dirty="0"/>
          </a:p>
          <a:p>
            <a:pPr marL="609600" indent="-609600">
              <a:buFontTx/>
              <a:buAutoNum type="arabicPeriod"/>
            </a:pPr>
            <a:r>
              <a:rPr lang="en-GB" altLang="en-US" sz="2400" dirty="0"/>
              <a:t>Catabolic reactions:</a:t>
            </a:r>
            <a:br>
              <a:rPr lang="en-GB" altLang="en-US" sz="2400" dirty="0"/>
            </a:br>
            <a:endParaRPr lang="en-GB" altLang="en-US" sz="2400" dirty="0"/>
          </a:p>
          <a:p>
            <a:pPr marL="609600" indent="-609600">
              <a:buFontTx/>
              <a:buAutoNum type="arabicPeriod"/>
            </a:pPr>
            <a:r>
              <a:rPr lang="en-GB" altLang="en-US" sz="2400" dirty="0"/>
              <a:t>Metabolism:</a:t>
            </a:r>
            <a:br>
              <a:rPr lang="en-GB" altLang="en-US" sz="2400" dirty="0"/>
            </a:br>
            <a:endParaRPr lang="en-GB" altLang="en-US" sz="2400" dirty="0"/>
          </a:p>
          <a:p>
            <a:pPr marL="609600" indent="-609600">
              <a:buFontTx/>
              <a:buAutoNum type="arabicPeriod"/>
            </a:pPr>
            <a:r>
              <a:rPr lang="en-GB" altLang="en-US" sz="2400" dirty="0"/>
              <a:t>Catalyst:</a:t>
            </a:r>
            <a:br>
              <a:rPr lang="en-GB" altLang="en-US" sz="2400" dirty="0"/>
            </a:br>
            <a:endParaRPr lang="en-GB" altLang="en-US" sz="2400" dirty="0"/>
          </a:p>
          <a:p>
            <a:pPr marL="609600" indent="-609600">
              <a:buFontTx/>
              <a:buAutoNum type="arabicPeriod"/>
            </a:pPr>
            <a:r>
              <a:rPr lang="en-GB" altLang="en-US" sz="2400" dirty="0"/>
              <a:t>Metabolic pathway:</a:t>
            </a:r>
            <a:br>
              <a:rPr lang="en-GB" altLang="en-US" sz="2400" dirty="0"/>
            </a:br>
            <a:endParaRPr lang="en-GB" altLang="en-US" sz="2400" dirty="0"/>
          </a:p>
          <a:p>
            <a:pPr marL="609600" indent="-609600">
              <a:buFontTx/>
              <a:buAutoNum type="arabicPeriod"/>
            </a:pPr>
            <a:r>
              <a:rPr lang="en-GB" altLang="en-US" sz="2400" dirty="0"/>
              <a:t>Specificity:</a:t>
            </a:r>
            <a:br>
              <a:rPr lang="en-GB" altLang="en-US" sz="2400" dirty="0"/>
            </a:br>
            <a:endParaRPr lang="en-GB" altLang="en-US" sz="2400" dirty="0"/>
          </a:p>
          <a:p>
            <a:pPr marL="609600" indent="-609600">
              <a:buFontTx/>
              <a:buAutoNum type="arabicPeriod"/>
            </a:pPr>
            <a:r>
              <a:rPr lang="en-GB" altLang="en-US" sz="2400" dirty="0"/>
              <a:t>Substrate:</a:t>
            </a:r>
            <a:br>
              <a:rPr lang="en-GB" altLang="en-US" sz="2400" dirty="0"/>
            </a:br>
            <a:endParaRPr lang="en-GB" altLang="en-US" sz="2400" dirty="0"/>
          </a:p>
          <a:p>
            <a:pPr marL="609600" indent="-609600">
              <a:buFontTx/>
              <a:buAutoNum type="arabicPeriod"/>
            </a:pPr>
            <a:r>
              <a:rPr lang="en-GB" altLang="en-US" sz="2400" dirty="0"/>
              <a:t>Product:</a:t>
            </a:r>
          </a:p>
        </p:txBody>
      </p:sp>
      <p:sp>
        <p:nvSpPr>
          <p:cNvPr id="59396" name="Text Box 4"/>
          <p:cNvSpPr txBox="1">
            <a:spLocks noChangeArrowheads="1"/>
          </p:cNvSpPr>
          <p:nvPr/>
        </p:nvSpPr>
        <p:spPr bwMode="auto">
          <a:xfrm>
            <a:off x="3635375" y="658813"/>
            <a:ext cx="5229225" cy="457200"/>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altLang="en-US" sz="2000" dirty="0">
                <a:solidFill>
                  <a:schemeClr val="bg1"/>
                </a:solidFill>
              </a:rPr>
              <a:t>Reactions that build up molecules</a:t>
            </a:r>
            <a:r>
              <a:rPr lang="en-GB" altLang="en-US" sz="2400" dirty="0">
                <a:solidFill>
                  <a:schemeClr val="bg1"/>
                </a:solidFill>
              </a:rPr>
              <a:t>   </a:t>
            </a:r>
          </a:p>
        </p:txBody>
      </p:sp>
      <p:sp>
        <p:nvSpPr>
          <p:cNvPr id="59397" name="Text Box 5"/>
          <p:cNvSpPr txBox="1">
            <a:spLocks noChangeArrowheads="1"/>
          </p:cNvSpPr>
          <p:nvPr/>
        </p:nvSpPr>
        <p:spPr bwMode="auto">
          <a:xfrm>
            <a:off x="3635375" y="1468438"/>
            <a:ext cx="5203825" cy="396875"/>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altLang="en-US" sz="2000" dirty="0">
                <a:solidFill>
                  <a:schemeClr val="bg1"/>
                </a:solidFill>
              </a:rPr>
              <a:t>Reactions that break down molecules</a:t>
            </a:r>
          </a:p>
        </p:txBody>
      </p:sp>
      <p:sp>
        <p:nvSpPr>
          <p:cNvPr id="59398" name="Text Box 6"/>
          <p:cNvSpPr txBox="1">
            <a:spLocks noChangeArrowheads="1"/>
          </p:cNvSpPr>
          <p:nvPr/>
        </p:nvSpPr>
        <p:spPr bwMode="auto">
          <a:xfrm>
            <a:off x="3635375" y="2133600"/>
            <a:ext cx="5186363" cy="400110"/>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altLang="en-US" sz="2000" dirty="0">
                <a:solidFill>
                  <a:schemeClr val="bg1"/>
                </a:solidFill>
              </a:rPr>
              <a:t>Combination of anabolic and catabolic reactions</a:t>
            </a:r>
          </a:p>
        </p:txBody>
      </p:sp>
      <p:sp>
        <p:nvSpPr>
          <p:cNvPr id="59399" name="Text Box 7"/>
          <p:cNvSpPr txBox="1">
            <a:spLocks noChangeArrowheads="1"/>
          </p:cNvSpPr>
          <p:nvPr/>
        </p:nvSpPr>
        <p:spPr bwMode="auto">
          <a:xfrm>
            <a:off x="3635375" y="3894138"/>
            <a:ext cx="5175250" cy="396875"/>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altLang="en-US" sz="2000" dirty="0">
                <a:solidFill>
                  <a:schemeClr val="bg1"/>
                </a:solidFill>
              </a:rPr>
              <a:t>Sequence of enzyme controlled reactions</a:t>
            </a:r>
          </a:p>
        </p:txBody>
      </p:sp>
      <p:sp>
        <p:nvSpPr>
          <p:cNvPr id="59400" name="Text Box 8"/>
          <p:cNvSpPr txBox="1">
            <a:spLocks noChangeArrowheads="1"/>
          </p:cNvSpPr>
          <p:nvPr/>
        </p:nvSpPr>
        <p:spPr bwMode="auto">
          <a:xfrm>
            <a:off x="3635375" y="4681538"/>
            <a:ext cx="5183188" cy="396875"/>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altLang="en-US" sz="2000" dirty="0">
                <a:solidFill>
                  <a:schemeClr val="bg1"/>
                </a:solidFill>
              </a:rPr>
              <a:t>Only able to catalyse specific reactions</a:t>
            </a:r>
          </a:p>
        </p:txBody>
      </p:sp>
      <p:sp>
        <p:nvSpPr>
          <p:cNvPr id="59401" name="Text Box 9"/>
          <p:cNvSpPr txBox="1">
            <a:spLocks noChangeArrowheads="1"/>
          </p:cNvSpPr>
          <p:nvPr/>
        </p:nvSpPr>
        <p:spPr bwMode="auto">
          <a:xfrm>
            <a:off x="3635375" y="5478463"/>
            <a:ext cx="5178425" cy="396875"/>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altLang="en-US" sz="2000" dirty="0">
                <a:solidFill>
                  <a:schemeClr val="bg1"/>
                </a:solidFill>
              </a:rPr>
              <a:t>The molecule(s) the enzyme works on</a:t>
            </a:r>
          </a:p>
        </p:txBody>
      </p:sp>
      <p:sp>
        <p:nvSpPr>
          <p:cNvPr id="59402" name="Text Box 10"/>
          <p:cNvSpPr txBox="1">
            <a:spLocks noChangeArrowheads="1"/>
          </p:cNvSpPr>
          <p:nvPr/>
        </p:nvSpPr>
        <p:spPr bwMode="auto">
          <a:xfrm>
            <a:off x="3635375" y="6221413"/>
            <a:ext cx="5184775" cy="457200"/>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altLang="en-US" sz="2000" dirty="0">
                <a:solidFill>
                  <a:schemeClr val="bg1"/>
                </a:solidFill>
              </a:rPr>
              <a:t>Molecule(s) produced by enzymes</a:t>
            </a:r>
            <a:r>
              <a:rPr lang="en-GB" altLang="en-US" sz="2400" dirty="0">
                <a:solidFill>
                  <a:schemeClr val="bg1"/>
                </a:solidFill>
              </a:rPr>
              <a:t> </a:t>
            </a:r>
          </a:p>
        </p:txBody>
      </p:sp>
      <p:sp>
        <p:nvSpPr>
          <p:cNvPr id="59403" name="Text Box 11"/>
          <p:cNvSpPr txBox="1">
            <a:spLocks noChangeArrowheads="1"/>
          </p:cNvSpPr>
          <p:nvPr/>
        </p:nvSpPr>
        <p:spPr bwMode="auto">
          <a:xfrm>
            <a:off x="3616325" y="2980420"/>
            <a:ext cx="5194300" cy="701675"/>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altLang="en-US" sz="2000" dirty="0">
                <a:solidFill>
                  <a:schemeClr val="bg1"/>
                </a:solidFill>
              </a:rPr>
              <a:t>A substance that speeds up reactions without changing the produced substances</a:t>
            </a:r>
          </a:p>
        </p:txBody>
      </p:sp>
    </p:spTree>
    <p:extLst>
      <p:ext uri="{BB962C8B-B14F-4D97-AF65-F5344CB8AC3E}">
        <p14:creationId xmlns:p14="http://schemas.microsoft.com/office/powerpoint/2010/main" val="38757934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396"/>
                                        </p:tgtEl>
                                        <p:attrNameLst>
                                          <p:attrName>style.visibility</p:attrName>
                                        </p:attrNameLst>
                                      </p:cBhvr>
                                      <p:to>
                                        <p:strVal val="visible"/>
                                      </p:to>
                                    </p:set>
                                    <p:animEffect transition="in" filter="wipe(left)">
                                      <p:cBhvr>
                                        <p:cTn id="7" dur="1000"/>
                                        <p:tgtEl>
                                          <p:spTgt spid="593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397"/>
                                        </p:tgtEl>
                                        <p:attrNameLst>
                                          <p:attrName>style.visibility</p:attrName>
                                        </p:attrNameLst>
                                      </p:cBhvr>
                                      <p:to>
                                        <p:strVal val="visible"/>
                                      </p:to>
                                    </p:set>
                                    <p:animEffect transition="in" filter="wipe(left)">
                                      <p:cBhvr>
                                        <p:cTn id="12" dur="1000"/>
                                        <p:tgtEl>
                                          <p:spTgt spid="593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9398"/>
                                        </p:tgtEl>
                                        <p:attrNameLst>
                                          <p:attrName>style.visibility</p:attrName>
                                        </p:attrNameLst>
                                      </p:cBhvr>
                                      <p:to>
                                        <p:strVal val="visible"/>
                                      </p:to>
                                    </p:set>
                                    <p:animEffect transition="in" filter="wipe(left)">
                                      <p:cBhvr>
                                        <p:cTn id="17" dur="1000"/>
                                        <p:tgtEl>
                                          <p:spTgt spid="593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9403"/>
                                        </p:tgtEl>
                                        <p:attrNameLst>
                                          <p:attrName>style.visibility</p:attrName>
                                        </p:attrNameLst>
                                      </p:cBhvr>
                                      <p:to>
                                        <p:strVal val="visible"/>
                                      </p:to>
                                    </p:set>
                                    <p:animEffect transition="in" filter="wipe(left)">
                                      <p:cBhvr>
                                        <p:cTn id="22" dur="1000"/>
                                        <p:tgtEl>
                                          <p:spTgt spid="5940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9399"/>
                                        </p:tgtEl>
                                        <p:attrNameLst>
                                          <p:attrName>style.visibility</p:attrName>
                                        </p:attrNameLst>
                                      </p:cBhvr>
                                      <p:to>
                                        <p:strVal val="visible"/>
                                      </p:to>
                                    </p:set>
                                    <p:animEffect transition="in" filter="wipe(left)">
                                      <p:cBhvr>
                                        <p:cTn id="27" dur="1000"/>
                                        <p:tgtEl>
                                          <p:spTgt spid="5939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9400"/>
                                        </p:tgtEl>
                                        <p:attrNameLst>
                                          <p:attrName>style.visibility</p:attrName>
                                        </p:attrNameLst>
                                      </p:cBhvr>
                                      <p:to>
                                        <p:strVal val="visible"/>
                                      </p:to>
                                    </p:set>
                                    <p:animEffect transition="in" filter="wipe(left)">
                                      <p:cBhvr>
                                        <p:cTn id="32" dur="1000"/>
                                        <p:tgtEl>
                                          <p:spTgt spid="5940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9401"/>
                                        </p:tgtEl>
                                        <p:attrNameLst>
                                          <p:attrName>style.visibility</p:attrName>
                                        </p:attrNameLst>
                                      </p:cBhvr>
                                      <p:to>
                                        <p:strVal val="visible"/>
                                      </p:to>
                                    </p:set>
                                    <p:animEffect transition="in" filter="wipe(left)">
                                      <p:cBhvr>
                                        <p:cTn id="37" dur="1000"/>
                                        <p:tgtEl>
                                          <p:spTgt spid="5940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9402"/>
                                        </p:tgtEl>
                                        <p:attrNameLst>
                                          <p:attrName>style.visibility</p:attrName>
                                        </p:attrNameLst>
                                      </p:cBhvr>
                                      <p:to>
                                        <p:strVal val="visible"/>
                                      </p:to>
                                    </p:set>
                                    <p:animEffect transition="in" filter="wipe(left)">
                                      <p:cBhvr>
                                        <p:cTn id="42" dur="1000"/>
                                        <p:tgtEl>
                                          <p:spTgt spid="59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animBg="1"/>
      <p:bldP spid="59397" grpId="0" animBg="1"/>
      <p:bldP spid="59398" grpId="0" animBg="1"/>
      <p:bldP spid="59399" grpId="0" animBg="1"/>
      <p:bldP spid="59400" grpId="0" animBg="1"/>
      <p:bldP spid="59401" grpId="0" animBg="1"/>
      <p:bldP spid="59402" grpId="0" animBg="1"/>
      <p:bldP spid="5940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lumMod val="75000"/>
          </a:schemeClr>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ln w="28575" cap="flat">
            <a:solidFill>
              <a:schemeClr val="hlink"/>
            </a:solidFill>
            <a:miter lim="800000"/>
            <a:headEnd/>
            <a:tailEnd/>
          </a:ln>
        </p:spPr>
        <p:txBody>
          <a:bodyPr>
            <a:normAutofit fontScale="90000"/>
          </a:bodyPr>
          <a:lstStyle/>
          <a:p>
            <a:r>
              <a:rPr lang="en-US" altLang="en-US" sz="4000" b="1" dirty="0"/>
              <a:t>Enzyme Action: </a:t>
            </a:r>
            <a:br>
              <a:rPr lang="en-US" altLang="en-US" sz="4000" b="1" dirty="0"/>
            </a:br>
            <a:r>
              <a:rPr lang="en-US" altLang="en-US" sz="4000" b="1" dirty="0"/>
              <a:t>Lock and Key Model </a:t>
            </a:r>
          </a:p>
        </p:txBody>
      </p:sp>
      <p:sp>
        <p:nvSpPr>
          <p:cNvPr id="2051" name="Rectangle 3"/>
          <p:cNvSpPr>
            <a:spLocks noGrp="1" noChangeArrowheads="1"/>
          </p:cNvSpPr>
          <p:nvPr>
            <p:ph type="body" idx="1"/>
          </p:nvPr>
        </p:nvSpPr>
        <p:spPr>
          <a:xfrm>
            <a:off x="457200" y="2060848"/>
            <a:ext cx="8382000" cy="4416152"/>
          </a:xfrm>
        </p:spPr>
        <p:txBody>
          <a:bodyPr>
            <a:normAutofit fontScale="40000" lnSpcReduction="20000"/>
          </a:bodyPr>
          <a:lstStyle/>
          <a:p>
            <a:pPr>
              <a:lnSpc>
                <a:spcPct val="170000"/>
              </a:lnSpc>
            </a:pPr>
            <a:r>
              <a:rPr lang="en-US" altLang="en-US" sz="6000" dirty="0">
                <a:solidFill>
                  <a:schemeClr val="bg1"/>
                </a:solidFill>
              </a:rPr>
              <a:t>An enzyme binds a substrate in a region called the active site</a:t>
            </a:r>
          </a:p>
          <a:p>
            <a:pPr>
              <a:lnSpc>
                <a:spcPct val="170000"/>
              </a:lnSpc>
            </a:pPr>
            <a:r>
              <a:rPr lang="en-US" altLang="en-US" sz="6000" dirty="0">
                <a:solidFill>
                  <a:schemeClr val="bg1"/>
                </a:solidFill>
              </a:rPr>
              <a:t>Only certain substrates can fit the active site</a:t>
            </a:r>
          </a:p>
          <a:p>
            <a:pPr>
              <a:lnSpc>
                <a:spcPct val="170000"/>
              </a:lnSpc>
            </a:pPr>
            <a:r>
              <a:rPr lang="en-US" altLang="en-US" sz="6000" dirty="0">
                <a:solidFill>
                  <a:schemeClr val="bg1"/>
                </a:solidFill>
              </a:rPr>
              <a:t>Amino acid R groups in the active site help substrate bind</a:t>
            </a:r>
          </a:p>
          <a:p>
            <a:pPr>
              <a:lnSpc>
                <a:spcPct val="170000"/>
              </a:lnSpc>
            </a:pPr>
            <a:r>
              <a:rPr lang="en-US" altLang="en-US" sz="6000" dirty="0">
                <a:solidFill>
                  <a:schemeClr val="bg1"/>
                </a:solidFill>
              </a:rPr>
              <a:t>Enzyme-substrate complex forms</a:t>
            </a:r>
          </a:p>
          <a:p>
            <a:pPr>
              <a:lnSpc>
                <a:spcPct val="170000"/>
              </a:lnSpc>
            </a:pPr>
            <a:r>
              <a:rPr lang="en-US" altLang="en-US" sz="6000" dirty="0">
                <a:solidFill>
                  <a:schemeClr val="bg1"/>
                </a:solidFill>
              </a:rPr>
              <a:t>Substrate reacts to form product</a:t>
            </a:r>
          </a:p>
          <a:p>
            <a:pPr>
              <a:lnSpc>
                <a:spcPct val="170000"/>
              </a:lnSpc>
            </a:pPr>
            <a:r>
              <a:rPr lang="en-US" altLang="en-US" sz="6000" dirty="0">
                <a:solidFill>
                  <a:schemeClr val="bg1"/>
                </a:solidFill>
              </a:rPr>
              <a:t>Product is released</a:t>
            </a:r>
          </a:p>
          <a:p>
            <a:pPr>
              <a:lnSpc>
                <a:spcPct val="90000"/>
              </a:lnSpc>
              <a:buFontTx/>
              <a:buNone/>
            </a:pPr>
            <a:endParaRPr lang="en-US" altLang="en-US" sz="2800" b="1" dirty="0">
              <a:solidFill>
                <a:schemeClr val="accent1"/>
              </a:solidFill>
            </a:endParaRPr>
          </a:p>
          <a:p>
            <a:pPr>
              <a:lnSpc>
                <a:spcPct val="90000"/>
              </a:lnSpc>
            </a:pPr>
            <a:endParaRPr lang="en-US" altLang="en-US" sz="2800" b="1" dirty="0"/>
          </a:p>
          <a:p>
            <a:pPr>
              <a:lnSpc>
                <a:spcPct val="90000"/>
              </a:lnSpc>
            </a:pPr>
            <a:endParaRPr lang="en-US" altLang="en-US" sz="2800" b="1" dirty="0"/>
          </a:p>
          <a:p>
            <a:pPr>
              <a:lnSpc>
                <a:spcPct val="90000"/>
              </a:lnSpc>
              <a:buFontTx/>
              <a:buNone/>
            </a:pPr>
            <a:r>
              <a:rPr lang="en-US" altLang="en-US" sz="2400" b="1" dirty="0"/>
              <a:t>		</a:t>
            </a:r>
          </a:p>
        </p:txBody>
      </p:sp>
    </p:spTree>
    <p:extLst>
      <p:ext uri="{BB962C8B-B14F-4D97-AF65-F5344CB8AC3E}">
        <p14:creationId xmlns:p14="http://schemas.microsoft.com/office/powerpoint/2010/main" val="12979252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lumMod val="75000"/>
          </a:schemeClr>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ln w="28575" cap="flat">
            <a:solidFill>
              <a:schemeClr val="hlink"/>
            </a:solidFill>
            <a:miter lim="800000"/>
            <a:headEnd/>
            <a:tailEnd/>
          </a:ln>
        </p:spPr>
        <p:txBody>
          <a:bodyPr/>
          <a:lstStyle/>
          <a:p>
            <a:r>
              <a:rPr lang="en-US" altLang="en-US" sz="4000" b="1"/>
              <a:t>Lock and Key Model</a:t>
            </a:r>
          </a:p>
        </p:txBody>
      </p:sp>
      <p:sp>
        <p:nvSpPr>
          <p:cNvPr id="3075" name="Rectangle 3"/>
          <p:cNvSpPr>
            <a:spLocks noGrp="1" noChangeArrowheads="1"/>
          </p:cNvSpPr>
          <p:nvPr>
            <p:ph type="body" idx="1"/>
          </p:nvPr>
        </p:nvSpPr>
        <p:spPr>
          <a:xfrm>
            <a:off x="304800" y="1981200"/>
            <a:ext cx="8077200" cy="4114800"/>
          </a:xfrm>
        </p:spPr>
        <p:txBody>
          <a:bodyPr/>
          <a:lstStyle/>
          <a:p>
            <a:pPr>
              <a:lnSpc>
                <a:spcPct val="90000"/>
              </a:lnSpc>
              <a:buFontTx/>
              <a:buNone/>
            </a:pPr>
            <a:endParaRPr lang="en-US" altLang="en-US" sz="2800" b="1" dirty="0"/>
          </a:p>
          <a:p>
            <a:pPr>
              <a:lnSpc>
                <a:spcPct val="90000"/>
              </a:lnSpc>
              <a:buFontTx/>
              <a:buNone/>
            </a:pPr>
            <a:endParaRPr lang="en-US" altLang="en-US" sz="2800" b="1" dirty="0"/>
          </a:p>
          <a:p>
            <a:pPr>
              <a:lnSpc>
                <a:spcPct val="90000"/>
              </a:lnSpc>
              <a:buFontTx/>
              <a:buNone/>
            </a:pPr>
            <a:endParaRPr lang="en-US" altLang="en-US" sz="2800" b="1" dirty="0"/>
          </a:p>
          <a:p>
            <a:pPr>
              <a:lnSpc>
                <a:spcPct val="90000"/>
              </a:lnSpc>
              <a:buFontTx/>
              <a:buNone/>
            </a:pPr>
            <a:endParaRPr lang="en-US" altLang="en-US" sz="2800" b="1" dirty="0"/>
          </a:p>
          <a:p>
            <a:pPr lvl="2">
              <a:lnSpc>
                <a:spcPct val="90000"/>
              </a:lnSpc>
              <a:buFontTx/>
              <a:buNone/>
            </a:pPr>
            <a:r>
              <a:rPr lang="en-US" altLang="en-US" sz="2000" b="1" dirty="0">
                <a:solidFill>
                  <a:schemeClr val="bg1"/>
                </a:solidFill>
              </a:rPr>
              <a:t>     </a:t>
            </a:r>
            <a:r>
              <a:rPr lang="en-US" altLang="en-US" b="1" dirty="0">
                <a:solidFill>
                  <a:schemeClr val="bg1"/>
                </a:solidFill>
              </a:rPr>
              <a:t>+</a:t>
            </a:r>
            <a:r>
              <a:rPr lang="en-US" altLang="en-US" b="1" dirty="0"/>
              <a:t>						</a:t>
            </a:r>
            <a:r>
              <a:rPr lang="en-US" altLang="en-US" b="1" dirty="0">
                <a:solidFill>
                  <a:schemeClr val="bg1"/>
                </a:solidFill>
              </a:rPr>
              <a:t>     +</a:t>
            </a:r>
            <a:r>
              <a:rPr lang="en-US" altLang="en-US" b="1" dirty="0"/>
              <a:t>							</a:t>
            </a:r>
          </a:p>
          <a:p>
            <a:pPr>
              <a:lnSpc>
                <a:spcPct val="90000"/>
              </a:lnSpc>
              <a:buFontTx/>
              <a:buNone/>
            </a:pPr>
            <a:endParaRPr lang="en-US" altLang="en-US" sz="2400" b="1" dirty="0"/>
          </a:p>
          <a:p>
            <a:pPr>
              <a:lnSpc>
                <a:spcPct val="90000"/>
              </a:lnSpc>
              <a:buFontTx/>
              <a:buNone/>
            </a:pPr>
            <a:endParaRPr lang="en-US" altLang="en-US" sz="2800" b="1" dirty="0"/>
          </a:p>
          <a:p>
            <a:pPr>
              <a:lnSpc>
                <a:spcPct val="90000"/>
              </a:lnSpc>
              <a:buFontTx/>
              <a:buNone/>
            </a:pPr>
            <a:r>
              <a:rPr lang="en-US" altLang="en-US" sz="2800" b="1" dirty="0">
                <a:solidFill>
                  <a:schemeClr val="bg1"/>
                </a:solidFill>
              </a:rPr>
              <a:t>  E       +    S 	  </a:t>
            </a:r>
            <a:r>
              <a:rPr lang="en-US" altLang="en-US" sz="2800" b="1" dirty="0" smtClean="0">
                <a:solidFill>
                  <a:schemeClr val="bg1"/>
                </a:solidFill>
              </a:rPr>
              <a:t>                 </a:t>
            </a:r>
            <a:r>
              <a:rPr lang="en-US" altLang="en-US" sz="2800" b="1" dirty="0">
                <a:solidFill>
                  <a:schemeClr val="bg1"/>
                </a:solidFill>
              </a:rPr>
              <a:t>ES complex            E    +    P</a:t>
            </a:r>
          </a:p>
        </p:txBody>
      </p:sp>
      <p:sp>
        <p:nvSpPr>
          <p:cNvPr id="3076" name="Rectangle 4"/>
          <p:cNvSpPr>
            <a:spLocks noChangeArrowheads="1"/>
          </p:cNvSpPr>
          <p:nvPr/>
        </p:nvSpPr>
        <p:spPr bwMode="auto">
          <a:xfrm>
            <a:off x="533400" y="4267200"/>
            <a:ext cx="762000" cy="762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7" name="Rectangle 5"/>
          <p:cNvSpPr>
            <a:spLocks noChangeArrowheads="1"/>
          </p:cNvSpPr>
          <p:nvPr/>
        </p:nvSpPr>
        <p:spPr bwMode="auto">
          <a:xfrm>
            <a:off x="533400" y="2971800"/>
            <a:ext cx="762000" cy="762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8" name="Rectangle 6"/>
          <p:cNvSpPr>
            <a:spLocks noChangeArrowheads="1"/>
          </p:cNvSpPr>
          <p:nvPr/>
        </p:nvSpPr>
        <p:spPr bwMode="auto">
          <a:xfrm>
            <a:off x="533400" y="3733800"/>
            <a:ext cx="2286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79" name="Rectangle 7"/>
          <p:cNvSpPr>
            <a:spLocks noChangeArrowheads="1"/>
          </p:cNvSpPr>
          <p:nvPr/>
        </p:nvSpPr>
        <p:spPr bwMode="auto">
          <a:xfrm>
            <a:off x="1981200" y="3733800"/>
            <a:ext cx="685800" cy="5334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0" name="Oval 8"/>
          <p:cNvSpPr>
            <a:spLocks noChangeArrowheads="1"/>
          </p:cNvSpPr>
          <p:nvPr/>
        </p:nvSpPr>
        <p:spPr bwMode="auto">
          <a:xfrm>
            <a:off x="2438400" y="3657600"/>
            <a:ext cx="609600" cy="685800"/>
          </a:xfrm>
          <a:prstGeom prst="ellipse">
            <a:avLst/>
          </a:prstGeom>
          <a:solidFill>
            <a:srgbClr val="CCFF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GB" altLang="en-US">
              <a:latin typeface="Arial" panose="020B0604020202020204" pitchFamily="34" charset="0"/>
            </a:endParaRPr>
          </a:p>
        </p:txBody>
      </p:sp>
      <p:sp>
        <p:nvSpPr>
          <p:cNvPr id="3081" name="Line 9"/>
          <p:cNvSpPr>
            <a:spLocks noChangeShapeType="1"/>
          </p:cNvSpPr>
          <p:nvPr/>
        </p:nvSpPr>
        <p:spPr bwMode="auto">
          <a:xfrm>
            <a:off x="3276600" y="4038600"/>
            <a:ext cx="457200" cy="0"/>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82" name="Rectangle 10"/>
          <p:cNvSpPr>
            <a:spLocks noChangeArrowheads="1"/>
          </p:cNvSpPr>
          <p:nvPr/>
        </p:nvSpPr>
        <p:spPr bwMode="auto">
          <a:xfrm>
            <a:off x="4038600" y="4419600"/>
            <a:ext cx="762000" cy="762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3" name="Rectangle 11"/>
          <p:cNvSpPr>
            <a:spLocks noChangeArrowheads="1"/>
          </p:cNvSpPr>
          <p:nvPr/>
        </p:nvSpPr>
        <p:spPr bwMode="auto">
          <a:xfrm>
            <a:off x="4038600" y="3124200"/>
            <a:ext cx="762000" cy="762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4" name="Rectangle 12"/>
          <p:cNvSpPr>
            <a:spLocks noChangeArrowheads="1"/>
          </p:cNvSpPr>
          <p:nvPr/>
        </p:nvSpPr>
        <p:spPr bwMode="auto">
          <a:xfrm>
            <a:off x="4038600" y="3886200"/>
            <a:ext cx="2286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5" name="Rectangle 13"/>
          <p:cNvSpPr>
            <a:spLocks noChangeArrowheads="1"/>
          </p:cNvSpPr>
          <p:nvPr/>
        </p:nvSpPr>
        <p:spPr bwMode="auto">
          <a:xfrm>
            <a:off x="4267200" y="3886200"/>
            <a:ext cx="685800" cy="5334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6" name="Oval 14"/>
          <p:cNvSpPr>
            <a:spLocks noChangeArrowheads="1"/>
          </p:cNvSpPr>
          <p:nvPr/>
        </p:nvSpPr>
        <p:spPr bwMode="auto">
          <a:xfrm>
            <a:off x="4724400" y="3810000"/>
            <a:ext cx="609600" cy="685800"/>
          </a:xfrm>
          <a:prstGeom prst="ellipse">
            <a:avLst/>
          </a:prstGeom>
          <a:solidFill>
            <a:srgbClr val="CCFF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7" name="Rectangle 15"/>
          <p:cNvSpPr>
            <a:spLocks noChangeArrowheads="1"/>
          </p:cNvSpPr>
          <p:nvPr/>
        </p:nvSpPr>
        <p:spPr bwMode="auto">
          <a:xfrm>
            <a:off x="6096000" y="4419600"/>
            <a:ext cx="762000" cy="762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8" name="Rectangle 16"/>
          <p:cNvSpPr>
            <a:spLocks noChangeArrowheads="1"/>
          </p:cNvSpPr>
          <p:nvPr/>
        </p:nvSpPr>
        <p:spPr bwMode="auto">
          <a:xfrm>
            <a:off x="6096000" y="3124200"/>
            <a:ext cx="762000" cy="762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89" name="Rectangle 17"/>
          <p:cNvSpPr>
            <a:spLocks noChangeArrowheads="1"/>
          </p:cNvSpPr>
          <p:nvPr/>
        </p:nvSpPr>
        <p:spPr bwMode="auto">
          <a:xfrm>
            <a:off x="6096000" y="3886200"/>
            <a:ext cx="2286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90" name="Rectangle 18"/>
          <p:cNvSpPr>
            <a:spLocks noChangeArrowheads="1"/>
          </p:cNvSpPr>
          <p:nvPr/>
        </p:nvSpPr>
        <p:spPr bwMode="auto">
          <a:xfrm>
            <a:off x="7620000" y="4267200"/>
            <a:ext cx="685800" cy="5334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91" name="Oval 19"/>
          <p:cNvSpPr>
            <a:spLocks noChangeArrowheads="1"/>
          </p:cNvSpPr>
          <p:nvPr/>
        </p:nvSpPr>
        <p:spPr bwMode="auto">
          <a:xfrm>
            <a:off x="7620000" y="3124200"/>
            <a:ext cx="609600" cy="685800"/>
          </a:xfrm>
          <a:prstGeom prst="ellipse">
            <a:avLst/>
          </a:prstGeom>
          <a:solidFill>
            <a:srgbClr val="CCFF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092" name="Line 20"/>
          <p:cNvSpPr>
            <a:spLocks noChangeShapeType="1"/>
          </p:cNvSpPr>
          <p:nvPr/>
        </p:nvSpPr>
        <p:spPr bwMode="auto">
          <a:xfrm>
            <a:off x="5486400" y="4114800"/>
            <a:ext cx="457200" cy="0"/>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3093" name="Text Box 21"/>
          <p:cNvSpPr txBox="1">
            <a:spLocks noChangeArrowheads="1"/>
          </p:cNvSpPr>
          <p:nvPr/>
        </p:nvSpPr>
        <p:spPr bwMode="auto">
          <a:xfrm>
            <a:off x="2438400" y="3733800"/>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GB" altLang="en-US">
              <a:latin typeface="Arial" panose="020B0604020202020204" pitchFamily="34" charset="0"/>
            </a:endParaRPr>
          </a:p>
        </p:txBody>
      </p:sp>
      <p:sp>
        <p:nvSpPr>
          <p:cNvPr id="3094" name="Text Box 22"/>
          <p:cNvSpPr txBox="1">
            <a:spLocks noChangeArrowheads="1"/>
          </p:cNvSpPr>
          <p:nvPr/>
        </p:nvSpPr>
        <p:spPr bwMode="auto">
          <a:xfrm>
            <a:off x="2438400" y="2362200"/>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GB" altLang="en-US">
              <a:latin typeface="Arial" panose="020B0604020202020204" pitchFamily="34" charset="0"/>
            </a:endParaRPr>
          </a:p>
        </p:txBody>
      </p:sp>
      <p:sp>
        <p:nvSpPr>
          <p:cNvPr id="3095" name="Text Box 23"/>
          <p:cNvSpPr txBox="1">
            <a:spLocks noChangeArrowheads="1"/>
          </p:cNvSpPr>
          <p:nvPr/>
        </p:nvSpPr>
        <p:spPr bwMode="auto">
          <a:xfrm>
            <a:off x="2514600" y="3733800"/>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chemeClr val="bg2"/>
                </a:solidFill>
                <a:latin typeface="Arial" panose="020B0604020202020204" pitchFamily="34" charset="0"/>
              </a:rPr>
              <a:t>S</a:t>
            </a:r>
          </a:p>
        </p:txBody>
      </p:sp>
      <p:sp>
        <p:nvSpPr>
          <p:cNvPr id="3096" name="Text Box 24"/>
          <p:cNvSpPr txBox="1">
            <a:spLocks noChangeArrowheads="1"/>
          </p:cNvSpPr>
          <p:nvPr/>
        </p:nvSpPr>
        <p:spPr bwMode="auto">
          <a:xfrm>
            <a:off x="7696200" y="3200400"/>
            <a:ext cx="555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rPr>
              <a:t> </a:t>
            </a:r>
            <a:r>
              <a:rPr lang="en-US" altLang="en-US" b="1">
                <a:solidFill>
                  <a:schemeClr val="bg2"/>
                </a:solidFill>
                <a:latin typeface="Arial" panose="020B0604020202020204" pitchFamily="34" charset="0"/>
              </a:rPr>
              <a:t>P</a:t>
            </a:r>
            <a:r>
              <a:rPr lang="en-US" altLang="en-US">
                <a:latin typeface="Arial" panose="020B0604020202020204" pitchFamily="34" charset="0"/>
              </a:rPr>
              <a:t> </a:t>
            </a:r>
          </a:p>
        </p:txBody>
      </p:sp>
      <p:sp>
        <p:nvSpPr>
          <p:cNvPr id="3097" name="Text Box 25"/>
          <p:cNvSpPr txBox="1">
            <a:spLocks noChangeArrowheads="1"/>
          </p:cNvSpPr>
          <p:nvPr/>
        </p:nvSpPr>
        <p:spPr bwMode="auto">
          <a:xfrm>
            <a:off x="7772400" y="4343400"/>
            <a:ext cx="555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rPr>
              <a:t> </a:t>
            </a:r>
            <a:r>
              <a:rPr lang="en-US" altLang="en-US" b="1">
                <a:solidFill>
                  <a:schemeClr val="bg2"/>
                </a:solidFill>
                <a:latin typeface="Arial" panose="020B0604020202020204" pitchFamily="34" charset="0"/>
              </a:rPr>
              <a:t>P</a:t>
            </a:r>
            <a:r>
              <a:rPr lang="en-US" altLang="en-US">
                <a:latin typeface="Arial" panose="020B0604020202020204" pitchFamily="34" charset="0"/>
              </a:rPr>
              <a:t> </a:t>
            </a:r>
          </a:p>
        </p:txBody>
      </p:sp>
      <p:sp>
        <p:nvSpPr>
          <p:cNvPr id="3098" name="Text Box 26"/>
          <p:cNvSpPr txBox="1">
            <a:spLocks noChangeArrowheads="1"/>
          </p:cNvSpPr>
          <p:nvPr/>
        </p:nvSpPr>
        <p:spPr bwMode="auto">
          <a:xfrm>
            <a:off x="4724400" y="3886200"/>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chemeClr val="bg2"/>
                </a:solidFill>
                <a:latin typeface="Arial" panose="020B0604020202020204" pitchFamily="34" charset="0"/>
              </a:rPr>
              <a:t>S</a:t>
            </a:r>
          </a:p>
        </p:txBody>
      </p:sp>
    </p:spTree>
    <p:extLst>
      <p:ext uri="{BB962C8B-B14F-4D97-AF65-F5344CB8AC3E}">
        <p14:creationId xmlns:p14="http://schemas.microsoft.com/office/powerpoint/2010/main" val="2782400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lumMod val="75000"/>
          </a:schemeClr>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ln w="28575" cap="flat">
            <a:solidFill>
              <a:schemeClr val="hlink"/>
            </a:solidFill>
            <a:miter lim="800000"/>
            <a:headEnd/>
            <a:tailEnd/>
          </a:ln>
        </p:spPr>
        <p:txBody>
          <a:bodyPr>
            <a:normAutofit fontScale="90000"/>
          </a:bodyPr>
          <a:lstStyle/>
          <a:p>
            <a:r>
              <a:rPr lang="en-US" altLang="en-US" sz="4000" b="1"/>
              <a:t>Enzyme Action: </a:t>
            </a:r>
            <a:br>
              <a:rPr lang="en-US" altLang="en-US" sz="4000" b="1"/>
            </a:br>
            <a:r>
              <a:rPr lang="en-US" altLang="en-US" sz="4000" b="1"/>
              <a:t>Induced Fit Model </a:t>
            </a:r>
          </a:p>
        </p:txBody>
      </p:sp>
      <p:sp>
        <p:nvSpPr>
          <p:cNvPr id="4099" name="Rectangle 3"/>
          <p:cNvSpPr>
            <a:spLocks noGrp="1" noChangeArrowheads="1"/>
          </p:cNvSpPr>
          <p:nvPr>
            <p:ph type="body" idx="1"/>
          </p:nvPr>
        </p:nvSpPr>
        <p:spPr/>
        <p:txBody>
          <a:bodyPr/>
          <a:lstStyle/>
          <a:p>
            <a:pPr>
              <a:lnSpc>
                <a:spcPct val="150000"/>
              </a:lnSpc>
            </a:pPr>
            <a:r>
              <a:rPr lang="en-US" altLang="en-US" sz="2800" dirty="0">
                <a:solidFill>
                  <a:schemeClr val="bg1"/>
                </a:solidFill>
              </a:rPr>
              <a:t>Enzyme structure flexible, not rigid</a:t>
            </a:r>
          </a:p>
          <a:p>
            <a:pPr>
              <a:lnSpc>
                <a:spcPct val="150000"/>
              </a:lnSpc>
            </a:pPr>
            <a:r>
              <a:rPr lang="en-US" altLang="en-US" sz="2800" dirty="0">
                <a:solidFill>
                  <a:schemeClr val="bg1"/>
                </a:solidFill>
              </a:rPr>
              <a:t>Enzyme and active site adjust shape to bind substrate</a:t>
            </a:r>
          </a:p>
          <a:p>
            <a:pPr>
              <a:lnSpc>
                <a:spcPct val="150000"/>
              </a:lnSpc>
            </a:pPr>
            <a:r>
              <a:rPr lang="en-US" altLang="en-US" sz="2800" dirty="0">
                <a:solidFill>
                  <a:schemeClr val="bg1"/>
                </a:solidFill>
              </a:rPr>
              <a:t>Increases range of substrate specificity</a:t>
            </a:r>
          </a:p>
          <a:p>
            <a:pPr>
              <a:lnSpc>
                <a:spcPct val="150000"/>
              </a:lnSpc>
            </a:pPr>
            <a:r>
              <a:rPr lang="en-US" altLang="en-US" sz="2800" dirty="0">
                <a:solidFill>
                  <a:schemeClr val="bg1"/>
                </a:solidFill>
              </a:rPr>
              <a:t>Shape changes also improve catalysis during reaction</a:t>
            </a:r>
          </a:p>
          <a:p>
            <a:pPr>
              <a:buFontTx/>
              <a:buNone/>
            </a:pPr>
            <a:endParaRPr lang="en-US" altLang="en-US" sz="2800" dirty="0">
              <a:solidFill>
                <a:schemeClr val="bg1"/>
              </a:solidFill>
            </a:endParaRPr>
          </a:p>
          <a:p>
            <a:pPr marL="0" indent="0">
              <a:buNone/>
            </a:pPr>
            <a:endParaRPr lang="en-US" altLang="en-US" sz="2800" dirty="0">
              <a:solidFill>
                <a:schemeClr val="bg1"/>
              </a:solidFill>
            </a:endParaRPr>
          </a:p>
          <a:p>
            <a:endParaRPr lang="en-US" altLang="en-US" sz="2800" b="1" dirty="0"/>
          </a:p>
          <a:p>
            <a:pPr>
              <a:buFontTx/>
              <a:buNone/>
            </a:pPr>
            <a:endParaRPr lang="en-US" altLang="en-US" sz="2800" b="1" dirty="0"/>
          </a:p>
          <a:p>
            <a:pPr>
              <a:buFontTx/>
              <a:buNone/>
            </a:pPr>
            <a:endParaRPr lang="en-US" altLang="en-US" sz="2800" b="1" dirty="0"/>
          </a:p>
          <a:p>
            <a:endParaRPr lang="en-US" altLang="en-US" sz="2800" b="1" dirty="0"/>
          </a:p>
          <a:p>
            <a:endParaRPr lang="en-US" altLang="en-US" sz="2800" b="1" dirty="0"/>
          </a:p>
        </p:txBody>
      </p:sp>
    </p:spTree>
    <p:extLst>
      <p:ext uri="{BB962C8B-B14F-4D97-AF65-F5344CB8AC3E}">
        <p14:creationId xmlns:p14="http://schemas.microsoft.com/office/powerpoint/2010/main" val="9503109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lumMod val="75000"/>
          </a:schemeClr>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ln w="28575" cap="flat">
            <a:solidFill>
              <a:schemeClr val="hlink"/>
            </a:solidFill>
            <a:miter lim="800000"/>
            <a:headEnd/>
            <a:tailEnd/>
          </a:ln>
        </p:spPr>
        <p:txBody>
          <a:bodyPr>
            <a:normAutofit fontScale="90000"/>
          </a:bodyPr>
          <a:lstStyle/>
          <a:p>
            <a:r>
              <a:rPr lang="en-US" altLang="en-US" sz="4000" b="1"/>
              <a:t>Enzyme Action: </a:t>
            </a:r>
            <a:br>
              <a:rPr lang="en-US" altLang="en-US" sz="4000" b="1"/>
            </a:br>
            <a:r>
              <a:rPr lang="en-US" altLang="en-US" sz="4000" b="1"/>
              <a:t>Induced Fit Model </a:t>
            </a:r>
          </a:p>
        </p:txBody>
      </p:sp>
      <p:sp>
        <p:nvSpPr>
          <p:cNvPr id="7171" name="Rectangle 3"/>
          <p:cNvSpPr>
            <a:spLocks noGrp="1" noChangeArrowheads="1"/>
          </p:cNvSpPr>
          <p:nvPr>
            <p:ph type="body" idx="1"/>
          </p:nvPr>
        </p:nvSpPr>
        <p:spPr>
          <a:xfrm>
            <a:off x="533400" y="2209800"/>
            <a:ext cx="7772400" cy="3429000"/>
          </a:xfrm>
        </p:spPr>
        <p:txBody>
          <a:bodyPr/>
          <a:lstStyle/>
          <a:p>
            <a:pPr>
              <a:lnSpc>
                <a:spcPct val="90000"/>
              </a:lnSpc>
              <a:buFontTx/>
              <a:buNone/>
            </a:pPr>
            <a:endParaRPr lang="en-US" altLang="en-US" sz="2800" b="1"/>
          </a:p>
          <a:p>
            <a:pPr>
              <a:lnSpc>
                <a:spcPct val="90000"/>
              </a:lnSpc>
            </a:pPr>
            <a:endParaRPr lang="en-US" altLang="en-US" sz="2800" b="1"/>
          </a:p>
          <a:p>
            <a:pPr>
              <a:lnSpc>
                <a:spcPct val="90000"/>
              </a:lnSpc>
            </a:pPr>
            <a:endParaRPr lang="en-US" altLang="en-US" sz="2800" b="1"/>
          </a:p>
          <a:p>
            <a:pPr>
              <a:lnSpc>
                <a:spcPct val="90000"/>
              </a:lnSpc>
              <a:buFontTx/>
              <a:buNone/>
            </a:pPr>
            <a:endParaRPr lang="en-US" altLang="en-US" sz="2800" b="1"/>
          </a:p>
          <a:p>
            <a:pPr>
              <a:lnSpc>
                <a:spcPct val="90000"/>
              </a:lnSpc>
              <a:buFontTx/>
              <a:buNone/>
            </a:pPr>
            <a:endParaRPr lang="en-US" altLang="en-US" sz="2800" b="1"/>
          </a:p>
          <a:p>
            <a:pPr>
              <a:lnSpc>
                <a:spcPct val="90000"/>
              </a:lnSpc>
            </a:pPr>
            <a:endParaRPr lang="en-US" altLang="en-US" sz="2800" b="1"/>
          </a:p>
          <a:p>
            <a:pPr>
              <a:lnSpc>
                <a:spcPct val="90000"/>
              </a:lnSpc>
            </a:pPr>
            <a:endParaRPr lang="en-US" altLang="en-US" sz="2800" b="1"/>
          </a:p>
        </p:txBody>
      </p:sp>
      <p:sp>
        <p:nvSpPr>
          <p:cNvPr id="7172" name="Rectangle 4"/>
          <p:cNvSpPr>
            <a:spLocks noChangeArrowheads="1"/>
          </p:cNvSpPr>
          <p:nvPr/>
        </p:nvSpPr>
        <p:spPr bwMode="auto">
          <a:xfrm>
            <a:off x="381000" y="3048000"/>
            <a:ext cx="8077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20000"/>
              </a:spcBef>
            </a:pPr>
            <a:endParaRPr lang="en-US" altLang="en-US" sz="2800" b="1" dirty="0">
              <a:latin typeface="Arial" panose="020B0604020202020204" pitchFamily="34" charset="0"/>
            </a:endParaRPr>
          </a:p>
          <a:p>
            <a:pPr>
              <a:lnSpc>
                <a:spcPct val="90000"/>
              </a:lnSpc>
              <a:spcBef>
                <a:spcPct val="20000"/>
              </a:spcBef>
            </a:pPr>
            <a:endParaRPr lang="en-US" altLang="en-US" sz="2800" b="1" dirty="0">
              <a:latin typeface="Arial" panose="020B0604020202020204" pitchFamily="34" charset="0"/>
            </a:endParaRPr>
          </a:p>
          <a:p>
            <a:pPr>
              <a:lnSpc>
                <a:spcPct val="90000"/>
              </a:lnSpc>
              <a:spcBef>
                <a:spcPct val="20000"/>
              </a:spcBef>
            </a:pPr>
            <a:endParaRPr lang="en-US" altLang="en-US" sz="2800" b="1" dirty="0">
              <a:latin typeface="Arial" panose="020B0604020202020204" pitchFamily="34" charset="0"/>
            </a:endParaRPr>
          </a:p>
          <a:p>
            <a:pPr>
              <a:lnSpc>
                <a:spcPct val="90000"/>
              </a:lnSpc>
              <a:spcBef>
                <a:spcPct val="20000"/>
              </a:spcBef>
            </a:pPr>
            <a:endParaRPr lang="en-US" altLang="en-US" sz="2800" b="1" dirty="0">
              <a:latin typeface="Arial" panose="020B0604020202020204" pitchFamily="34" charset="0"/>
            </a:endParaRPr>
          </a:p>
          <a:p>
            <a:pPr lvl="2">
              <a:lnSpc>
                <a:spcPct val="90000"/>
              </a:lnSpc>
              <a:spcBef>
                <a:spcPct val="20000"/>
              </a:spcBef>
            </a:pPr>
            <a:r>
              <a:rPr lang="en-US" altLang="en-US" sz="2000" b="1" dirty="0">
                <a:latin typeface="Arial" panose="020B0604020202020204" pitchFamily="34" charset="0"/>
              </a:rPr>
              <a:t>     </a:t>
            </a:r>
            <a:r>
              <a:rPr lang="en-US" altLang="en-US" b="1" dirty="0">
                <a:latin typeface="Arial" panose="020B0604020202020204" pitchFamily="34" charset="0"/>
              </a:rPr>
              <a:t>						     							</a:t>
            </a:r>
          </a:p>
          <a:p>
            <a:pPr>
              <a:lnSpc>
                <a:spcPct val="90000"/>
              </a:lnSpc>
              <a:spcBef>
                <a:spcPct val="20000"/>
              </a:spcBef>
            </a:pPr>
            <a:r>
              <a:rPr lang="en-US" altLang="en-US" sz="2800" b="1" dirty="0">
                <a:latin typeface="Arial" panose="020B0604020202020204" pitchFamily="34" charset="0"/>
              </a:rPr>
              <a:t>  </a:t>
            </a:r>
            <a:r>
              <a:rPr lang="en-US" altLang="en-US" sz="2800" b="1" dirty="0">
                <a:solidFill>
                  <a:schemeClr val="bg1"/>
                </a:solidFill>
                <a:latin typeface="Arial" panose="020B0604020202020204" pitchFamily="34" charset="0"/>
              </a:rPr>
              <a:t>E       +    S 	   ES complex            E    +    P</a:t>
            </a:r>
          </a:p>
        </p:txBody>
      </p:sp>
      <p:sp>
        <p:nvSpPr>
          <p:cNvPr id="7173" name="Rectangle 5"/>
          <p:cNvSpPr>
            <a:spLocks noChangeArrowheads="1"/>
          </p:cNvSpPr>
          <p:nvPr/>
        </p:nvSpPr>
        <p:spPr bwMode="auto">
          <a:xfrm>
            <a:off x="1752600" y="3657600"/>
            <a:ext cx="685800" cy="5334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74" name="Oval 6"/>
          <p:cNvSpPr>
            <a:spLocks noChangeArrowheads="1"/>
          </p:cNvSpPr>
          <p:nvPr/>
        </p:nvSpPr>
        <p:spPr bwMode="auto">
          <a:xfrm>
            <a:off x="2209800" y="3581400"/>
            <a:ext cx="609600" cy="685800"/>
          </a:xfrm>
          <a:prstGeom prst="ellipse">
            <a:avLst/>
          </a:prstGeom>
          <a:solidFill>
            <a:srgbClr val="CCFF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GB" altLang="en-US">
              <a:latin typeface="Arial" panose="020B0604020202020204" pitchFamily="34" charset="0"/>
            </a:endParaRPr>
          </a:p>
        </p:txBody>
      </p:sp>
      <p:sp>
        <p:nvSpPr>
          <p:cNvPr id="7175" name="Line 7"/>
          <p:cNvSpPr>
            <a:spLocks noChangeShapeType="1"/>
          </p:cNvSpPr>
          <p:nvPr/>
        </p:nvSpPr>
        <p:spPr bwMode="auto">
          <a:xfrm>
            <a:off x="2971800" y="36576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7176" name="Rectangle 8"/>
          <p:cNvSpPr>
            <a:spLocks noChangeArrowheads="1"/>
          </p:cNvSpPr>
          <p:nvPr/>
        </p:nvSpPr>
        <p:spPr bwMode="auto">
          <a:xfrm>
            <a:off x="4038600" y="3200400"/>
            <a:ext cx="762000" cy="685800"/>
          </a:xfrm>
          <a:prstGeom prst="rect">
            <a:avLst/>
          </a:prstGeom>
          <a:solidFill>
            <a:schemeClr val="accent1"/>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77" name="Rectangle 9"/>
          <p:cNvSpPr>
            <a:spLocks noChangeArrowheads="1"/>
          </p:cNvSpPr>
          <p:nvPr/>
        </p:nvSpPr>
        <p:spPr bwMode="auto">
          <a:xfrm>
            <a:off x="4038600" y="3886200"/>
            <a:ext cx="2286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78" name="Rectangle 10"/>
          <p:cNvSpPr>
            <a:spLocks noChangeArrowheads="1"/>
          </p:cNvSpPr>
          <p:nvPr/>
        </p:nvSpPr>
        <p:spPr bwMode="auto">
          <a:xfrm>
            <a:off x="7924800" y="4267200"/>
            <a:ext cx="685800" cy="5334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79" name="Oval 11"/>
          <p:cNvSpPr>
            <a:spLocks noChangeArrowheads="1"/>
          </p:cNvSpPr>
          <p:nvPr/>
        </p:nvSpPr>
        <p:spPr bwMode="auto">
          <a:xfrm>
            <a:off x="7924800" y="3124200"/>
            <a:ext cx="609600" cy="685800"/>
          </a:xfrm>
          <a:prstGeom prst="ellipse">
            <a:avLst/>
          </a:prstGeom>
          <a:solidFill>
            <a:srgbClr val="CCFF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80" name="Text Box 12"/>
          <p:cNvSpPr txBox="1">
            <a:spLocks noChangeArrowheads="1"/>
          </p:cNvSpPr>
          <p:nvPr/>
        </p:nvSpPr>
        <p:spPr bwMode="auto">
          <a:xfrm>
            <a:off x="2209800" y="3657600"/>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GB" altLang="en-US">
              <a:latin typeface="Arial" panose="020B0604020202020204" pitchFamily="34" charset="0"/>
            </a:endParaRPr>
          </a:p>
        </p:txBody>
      </p:sp>
      <p:sp>
        <p:nvSpPr>
          <p:cNvPr id="7181" name="Text Box 13"/>
          <p:cNvSpPr txBox="1">
            <a:spLocks noChangeArrowheads="1"/>
          </p:cNvSpPr>
          <p:nvPr/>
        </p:nvSpPr>
        <p:spPr bwMode="auto">
          <a:xfrm>
            <a:off x="2286000" y="3657600"/>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chemeClr val="bg2"/>
                </a:solidFill>
                <a:latin typeface="Arial" panose="020B0604020202020204" pitchFamily="34" charset="0"/>
              </a:rPr>
              <a:t>S</a:t>
            </a:r>
          </a:p>
        </p:txBody>
      </p:sp>
      <p:sp>
        <p:nvSpPr>
          <p:cNvPr id="7182" name="Text Box 14"/>
          <p:cNvSpPr txBox="1">
            <a:spLocks noChangeArrowheads="1"/>
          </p:cNvSpPr>
          <p:nvPr/>
        </p:nvSpPr>
        <p:spPr bwMode="auto">
          <a:xfrm>
            <a:off x="7902575" y="3200400"/>
            <a:ext cx="555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rPr>
              <a:t> </a:t>
            </a:r>
            <a:r>
              <a:rPr lang="en-US" altLang="en-US" b="1">
                <a:solidFill>
                  <a:schemeClr val="bg2"/>
                </a:solidFill>
                <a:latin typeface="Arial" panose="020B0604020202020204" pitchFamily="34" charset="0"/>
              </a:rPr>
              <a:t>P</a:t>
            </a:r>
            <a:r>
              <a:rPr lang="en-US" altLang="en-US">
                <a:latin typeface="Arial" panose="020B0604020202020204" pitchFamily="34" charset="0"/>
              </a:rPr>
              <a:t> </a:t>
            </a:r>
          </a:p>
        </p:txBody>
      </p:sp>
      <p:sp>
        <p:nvSpPr>
          <p:cNvPr id="7183" name="Text Box 15"/>
          <p:cNvSpPr txBox="1">
            <a:spLocks noChangeArrowheads="1"/>
          </p:cNvSpPr>
          <p:nvPr/>
        </p:nvSpPr>
        <p:spPr bwMode="auto">
          <a:xfrm>
            <a:off x="8077200" y="4343400"/>
            <a:ext cx="555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rPr>
              <a:t> </a:t>
            </a:r>
            <a:r>
              <a:rPr lang="en-US" altLang="en-US" b="1">
                <a:solidFill>
                  <a:schemeClr val="bg2"/>
                </a:solidFill>
                <a:latin typeface="Arial" panose="020B0604020202020204" pitchFamily="34" charset="0"/>
              </a:rPr>
              <a:t>P</a:t>
            </a:r>
            <a:r>
              <a:rPr lang="en-US" altLang="en-US">
                <a:latin typeface="Arial" panose="020B0604020202020204" pitchFamily="34" charset="0"/>
              </a:rPr>
              <a:t> </a:t>
            </a:r>
          </a:p>
        </p:txBody>
      </p:sp>
      <p:sp>
        <p:nvSpPr>
          <p:cNvPr id="7184" name="Oval 16"/>
          <p:cNvSpPr>
            <a:spLocks noChangeArrowheads="1"/>
          </p:cNvSpPr>
          <p:nvPr/>
        </p:nvSpPr>
        <p:spPr bwMode="auto">
          <a:xfrm>
            <a:off x="381000" y="2971800"/>
            <a:ext cx="1066800" cy="1828800"/>
          </a:xfrm>
          <a:prstGeom prst="ellipse">
            <a:avLst/>
          </a:prstGeom>
          <a:solidFill>
            <a:schemeClr val="accent1"/>
          </a:solidFill>
          <a:ln w="9525">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85" name="Oval 17"/>
          <p:cNvSpPr>
            <a:spLocks noChangeArrowheads="1"/>
          </p:cNvSpPr>
          <p:nvPr/>
        </p:nvSpPr>
        <p:spPr bwMode="auto">
          <a:xfrm>
            <a:off x="914400" y="3657600"/>
            <a:ext cx="685800" cy="457200"/>
          </a:xfrm>
          <a:prstGeom prst="ellipse">
            <a:avLst/>
          </a:pr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86" name="Rectangle 18"/>
          <p:cNvSpPr>
            <a:spLocks noChangeArrowheads="1"/>
          </p:cNvSpPr>
          <p:nvPr/>
        </p:nvSpPr>
        <p:spPr bwMode="auto">
          <a:xfrm>
            <a:off x="76200" y="2971800"/>
            <a:ext cx="762000" cy="1828800"/>
          </a:xfrm>
          <a:prstGeom prst="rect">
            <a:avLst/>
          </a:prstGeom>
          <a:solidFill>
            <a:schemeClr val="accent1"/>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87" name="Oval 19"/>
          <p:cNvSpPr>
            <a:spLocks noChangeArrowheads="1"/>
          </p:cNvSpPr>
          <p:nvPr/>
        </p:nvSpPr>
        <p:spPr bwMode="auto">
          <a:xfrm>
            <a:off x="3581400" y="2895600"/>
            <a:ext cx="1400175" cy="2209800"/>
          </a:xfrm>
          <a:prstGeom prst="ellipse">
            <a:avLst/>
          </a:prstGeom>
          <a:solidFill>
            <a:schemeClr val="accent1"/>
          </a:solidFill>
          <a:ln w="9525">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88" name="Rectangle 20"/>
          <p:cNvSpPr>
            <a:spLocks noChangeArrowheads="1"/>
          </p:cNvSpPr>
          <p:nvPr/>
        </p:nvSpPr>
        <p:spPr bwMode="auto">
          <a:xfrm>
            <a:off x="4267200" y="3886200"/>
            <a:ext cx="685800" cy="5334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89" name="Text Box 21"/>
          <p:cNvSpPr txBox="1">
            <a:spLocks noChangeArrowheads="1"/>
          </p:cNvSpPr>
          <p:nvPr/>
        </p:nvSpPr>
        <p:spPr bwMode="auto">
          <a:xfrm>
            <a:off x="4724400" y="3886200"/>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chemeClr val="bg2"/>
                </a:solidFill>
                <a:latin typeface="Arial" panose="020B0604020202020204" pitchFamily="34" charset="0"/>
              </a:rPr>
              <a:t>S</a:t>
            </a:r>
          </a:p>
        </p:txBody>
      </p:sp>
      <p:sp>
        <p:nvSpPr>
          <p:cNvPr id="7190" name="Oval 22"/>
          <p:cNvSpPr>
            <a:spLocks noChangeArrowheads="1"/>
          </p:cNvSpPr>
          <p:nvPr/>
        </p:nvSpPr>
        <p:spPr bwMode="auto">
          <a:xfrm>
            <a:off x="4724400" y="3810000"/>
            <a:ext cx="609600" cy="685800"/>
          </a:xfrm>
          <a:prstGeom prst="ellipse">
            <a:avLst/>
          </a:prstGeom>
          <a:solidFill>
            <a:srgbClr val="CCFF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91" name="Text Box 23"/>
          <p:cNvSpPr txBox="1">
            <a:spLocks noChangeArrowheads="1"/>
          </p:cNvSpPr>
          <p:nvPr/>
        </p:nvSpPr>
        <p:spPr bwMode="auto">
          <a:xfrm>
            <a:off x="4724400" y="3886200"/>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chemeClr val="bg2"/>
                </a:solidFill>
                <a:latin typeface="Arial" panose="020B0604020202020204" pitchFamily="34" charset="0"/>
              </a:rPr>
              <a:t>S</a:t>
            </a:r>
          </a:p>
        </p:txBody>
      </p:sp>
      <p:sp>
        <p:nvSpPr>
          <p:cNvPr id="7192" name="Oval 24"/>
          <p:cNvSpPr>
            <a:spLocks noChangeArrowheads="1"/>
          </p:cNvSpPr>
          <p:nvPr/>
        </p:nvSpPr>
        <p:spPr bwMode="auto">
          <a:xfrm>
            <a:off x="6248400" y="3048000"/>
            <a:ext cx="1066800" cy="1828800"/>
          </a:xfrm>
          <a:prstGeom prst="ellipse">
            <a:avLst/>
          </a:prstGeom>
          <a:solidFill>
            <a:schemeClr val="accent1"/>
          </a:solidFill>
          <a:ln w="9525">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93" name="Oval 25"/>
          <p:cNvSpPr>
            <a:spLocks noChangeArrowheads="1"/>
          </p:cNvSpPr>
          <p:nvPr/>
        </p:nvSpPr>
        <p:spPr bwMode="auto">
          <a:xfrm>
            <a:off x="6705600" y="3657600"/>
            <a:ext cx="685800" cy="533400"/>
          </a:xfrm>
          <a:prstGeom prst="ellipse">
            <a:avLst/>
          </a:pr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94" name="Rectangle 26"/>
          <p:cNvSpPr>
            <a:spLocks noChangeArrowheads="1"/>
          </p:cNvSpPr>
          <p:nvPr/>
        </p:nvSpPr>
        <p:spPr bwMode="auto">
          <a:xfrm>
            <a:off x="5943600" y="3048000"/>
            <a:ext cx="762000" cy="1828800"/>
          </a:xfrm>
          <a:prstGeom prst="rect">
            <a:avLst/>
          </a:prstGeom>
          <a:solidFill>
            <a:schemeClr val="accent1"/>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95" name="Line 27"/>
          <p:cNvSpPr>
            <a:spLocks noChangeShapeType="1"/>
          </p:cNvSpPr>
          <p:nvPr/>
        </p:nvSpPr>
        <p:spPr bwMode="auto">
          <a:xfrm>
            <a:off x="5410200" y="37338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Tree>
    <p:extLst>
      <p:ext uri="{BB962C8B-B14F-4D97-AF65-F5344CB8AC3E}">
        <p14:creationId xmlns:p14="http://schemas.microsoft.com/office/powerpoint/2010/main" val="3619530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3DFDF4"/>
            </a:gs>
            <a:gs pos="27491">
              <a:srgbClr val="03F1F7"/>
            </a:gs>
            <a:gs pos="44197">
              <a:srgbClr val="0070C0"/>
            </a:gs>
            <a:gs pos="60378">
              <a:srgbClr val="00B050"/>
            </a:gs>
            <a:gs pos="85400">
              <a:srgbClr val="92D050"/>
            </a:gs>
            <a:gs pos="100000">
              <a:srgbClr val="FFC000"/>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Arial Rounded MT Bold" pitchFamily="34" charset="0"/>
              </a:rPr>
              <a:t>Competitive Inhibitors</a:t>
            </a:r>
            <a:endParaRPr lang="en-GB" dirty="0">
              <a:latin typeface="Arial Rounded MT Bold" pitchFamily="34" charset="0"/>
            </a:endParaRPr>
          </a:p>
        </p:txBody>
      </p:sp>
      <p:sp>
        <p:nvSpPr>
          <p:cNvPr id="3" name="Content Placeholder 2"/>
          <p:cNvSpPr>
            <a:spLocks noGrp="1"/>
          </p:cNvSpPr>
          <p:nvPr>
            <p:ph idx="1"/>
          </p:nvPr>
        </p:nvSpPr>
        <p:spPr>
          <a:xfrm>
            <a:off x="457200" y="1600200"/>
            <a:ext cx="5410944" cy="4853135"/>
          </a:xfrm>
          <a:solidFill>
            <a:srgbClr val="FFFFCC"/>
          </a:solidFill>
        </p:spPr>
        <p:txBody>
          <a:bodyPr>
            <a:normAutofit fontScale="92500" lnSpcReduction="20000"/>
          </a:bodyPr>
          <a:lstStyle/>
          <a:p>
            <a:r>
              <a:rPr lang="en-GB" b="1" dirty="0" smtClean="0">
                <a:solidFill>
                  <a:srgbClr val="1058E8"/>
                </a:solidFill>
              </a:rPr>
              <a:t>An Enzyme Inhibitor is a substance that slows down an enzyme’s reaction in any way. </a:t>
            </a:r>
          </a:p>
          <a:p>
            <a:r>
              <a:rPr lang="en-GB" dirty="0" smtClean="0">
                <a:solidFill>
                  <a:srgbClr val="1058E8"/>
                </a:solidFill>
              </a:rPr>
              <a:t>A competitive inhibitor blocks the active site used by the substrate. The enzymes cannot even catalyse the competitive reactions, because they have a specific shape</a:t>
            </a:r>
          </a:p>
          <a:p>
            <a:r>
              <a:rPr lang="en-GB" dirty="0" smtClean="0">
                <a:solidFill>
                  <a:srgbClr val="1058E8"/>
                </a:solidFill>
              </a:rPr>
              <a:t>The change in shape that most competitive inhibitors cause, is reversible. </a:t>
            </a:r>
          </a:p>
        </p:txBody>
      </p:sp>
      <p:pic>
        <p:nvPicPr>
          <p:cNvPr id="16386" name="Picture 2" descr="http://t3.gstatic.com/images?q=tbn:ANd9GcQ6Eod7ywfzdCO4E3I1jwthZafdaYo23cz0JUcqbi6p-Os8F6-Aqw"/>
          <p:cNvPicPr>
            <a:picLocks noChangeAspect="1" noChangeArrowheads="1"/>
          </p:cNvPicPr>
          <p:nvPr/>
        </p:nvPicPr>
        <p:blipFill>
          <a:blip r:embed="rId2" cstate="print"/>
          <a:srcRect/>
          <a:stretch>
            <a:fillRect/>
          </a:stretch>
        </p:blipFill>
        <p:spPr bwMode="auto">
          <a:xfrm>
            <a:off x="5967758" y="2780928"/>
            <a:ext cx="3176242" cy="3024336"/>
          </a:xfrm>
          <a:prstGeom prst="rect">
            <a:avLst/>
          </a:prstGeom>
          <a:noFill/>
        </p:spPr>
      </p:pic>
    </p:spTree>
  </p:cSld>
  <p:clrMapOvr>
    <a:masterClrMapping/>
  </p:clrMapOvr>
  <p:transition>
    <p:cove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C00000"/>
            </a:gs>
            <a:gs pos="100000">
              <a:schemeClr val="bg1">
                <a:shade val="30000"/>
                <a:satMod val="20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Arial Rounded MT Bold" pitchFamily="34" charset="0"/>
              </a:rPr>
              <a:t>Co-Enzymes  and Cofactors</a:t>
            </a:r>
            <a:endParaRPr lang="en-GB" dirty="0">
              <a:latin typeface="Arial Rounded MT Bold" pitchFamily="34" charset="0"/>
            </a:endParaRPr>
          </a:p>
        </p:txBody>
      </p:sp>
      <p:sp>
        <p:nvSpPr>
          <p:cNvPr id="3" name="Content Placeholder 2"/>
          <p:cNvSpPr>
            <a:spLocks noGrp="1"/>
          </p:cNvSpPr>
          <p:nvPr>
            <p:ph idx="1"/>
          </p:nvPr>
        </p:nvSpPr>
        <p:spPr/>
        <p:txBody>
          <a:bodyPr>
            <a:normAutofit fontScale="92500"/>
          </a:bodyPr>
          <a:lstStyle/>
          <a:p>
            <a:r>
              <a:rPr lang="en-GB" dirty="0" smtClean="0">
                <a:latin typeface="Arial Rounded MT Bold" pitchFamily="34" charset="0"/>
              </a:rPr>
              <a:t>Cofactor- A substance that help to control the rate of enzyme reactions. Some Cofactors are attached to the molecule, others aren't. </a:t>
            </a:r>
          </a:p>
          <a:p>
            <a:r>
              <a:rPr lang="en-GB" dirty="0" smtClean="0">
                <a:latin typeface="Arial Rounded MT Bold" pitchFamily="34" charset="0"/>
              </a:rPr>
              <a:t>Coenzyme- Organic molecules that bind briefly to the active site before, or simultaneously with the substrate. </a:t>
            </a:r>
          </a:p>
          <a:p>
            <a:r>
              <a:rPr lang="en-GB" dirty="0" smtClean="0">
                <a:latin typeface="Arial Rounded MT Bold" pitchFamily="34" charset="0"/>
              </a:rPr>
              <a:t>Coenzymes may be changed when the enzyme reaction is done, so cannot be reused. </a:t>
            </a:r>
            <a:endParaRPr lang="en-GB" dirty="0">
              <a:latin typeface="Arial Rounded MT Bold" pitchFamily="34" charset="0"/>
            </a:endParaRPr>
          </a:p>
          <a:p>
            <a:endParaRPr lang="en-GB" dirty="0"/>
          </a:p>
        </p:txBody>
      </p:sp>
    </p:spTree>
  </p:cSld>
  <p:clrMapOvr>
    <a:masterClrMapping/>
  </p:clrMapOvr>
  <p:transition>
    <p:pull dir="lu"/>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PRESENTATIONKEY" val="[YHTN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2477</TotalTime>
  <Words>525</Words>
  <Application>Microsoft Office PowerPoint</Application>
  <PresentationFormat>On-screen Show (4:3)</PresentationFormat>
  <Paragraphs>110</Paragraphs>
  <Slides>22</Slides>
  <Notes>1</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Review Macromolecules</vt:lpstr>
      <vt:lpstr>Important? </vt:lpstr>
      <vt:lpstr>PowerPoint Presentation</vt:lpstr>
      <vt:lpstr>What do they do.. Essentially?</vt:lpstr>
      <vt:lpstr>PowerPoint Presentation</vt:lpstr>
      <vt:lpstr>Activation Energy and Catalysis</vt:lpstr>
      <vt:lpstr>PowerPoint Presentation</vt:lpstr>
      <vt:lpstr>Essential Vocabulary </vt:lpstr>
      <vt:lpstr>Factors that affect enzyme activity</vt:lpstr>
      <vt:lpstr>Temperature</vt:lpstr>
      <vt:lpstr>PowerPoint Presentation</vt:lpstr>
      <vt:lpstr>PowerPoint Presentation</vt:lpstr>
      <vt:lpstr>PowerPoint Presentation</vt:lpstr>
      <vt:lpstr>PowerPoint Presentation</vt:lpstr>
      <vt:lpstr>Define the following terms:</vt:lpstr>
      <vt:lpstr>Enzyme Action:  Lock and Key Model </vt:lpstr>
      <vt:lpstr>Lock and Key Model</vt:lpstr>
      <vt:lpstr>Enzyme Action:  Induced Fit Model </vt:lpstr>
      <vt:lpstr>Enzyme Action:  Induced Fit Model </vt:lpstr>
      <vt:lpstr>Competitive Inhibitors</vt:lpstr>
      <vt:lpstr>Co-Enzymes  and Cofactors</vt:lpstr>
    </vt:vector>
  </TitlesOfParts>
  <Company>Grizli777</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sherace</dc:creator>
  <cp:lastModifiedBy>CARROLL Aaron</cp:lastModifiedBy>
  <cp:revision>61</cp:revision>
  <dcterms:created xsi:type="dcterms:W3CDTF">2012-04-26T16:50:42Z</dcterms:created>
  <dcterms:modified xsi:type="dcterms:W3CDTF">2017-08-01T04:47:39Z</dcterms:modified>
</cp:coreProperties>
</file>