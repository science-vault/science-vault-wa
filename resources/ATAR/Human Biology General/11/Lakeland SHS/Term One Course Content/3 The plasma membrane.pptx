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60" r:id="rId2"/>
    <p:sldMasterId id="2147483772" r:id="rId3"/>
    <p:sldMasterId id="2147483866" r:id="rId4"/>
    <p:sldMasterId id="2147483878" r:id="rId5"/>
    <p:sldMasterId id="2147483890" r:id="rId6"/>
  </p:sldMasterIdLst>
  <p:notesMasterIdLst>
    <p:notesMasterId r:id="rId36"/>
  </p:notesMasterIdLst>
  <p:handoutMasterIdLst>
    <p:handoutMasterId r:id="rId37"/>
  </p:handoutMasterIdLst>
  <p:sldIdLst>
    <p:sldId id="259" r:id="rId7"/>
    <p:sldId id="260" r:id="rId8"/>
    <p:sldId id="269" r:id="rId9"/>
    <p:sldId id="277" r:id="rId10"/>
    <p:sldId id="273" r:id="rId11"/>
    <p:sldId id="270" r:id="rId12"/>
    <p:sldId id="261" r:id="rId13"/>
    <p:sldId id="262" r:id="rId14"/>
    <p:sldId id="279" r:id="rId15"/>
    <p:sldId id="263" r:id="rId16"/>
    <p:sldId id="268" r:id="rId17"/>
    <p:sldId id="274" r:id="rId18"/>
    <p:sldId id="275" r:id="rId19"/>
    <p:sldId id="266" r:id="rId20"/>
    <p:sldId id="278" r:id="rId21"/>
    <p:sldId id="280" r:id="rId22"/>
    <p:sldId id="281" r:id="rId23"/>
    <p:sldId id="282" r:id="rId24"/>
    <p:sldId id="283" r:id="rId25"/>
    <p:sldId id="284" r:id="rId26"/>
    <p:sldId id="285" r:id="rId27"/>
    <p:sldId id="286" r:id="rId28"/>
    <p:sldId id="287" r:id="rId29"/>
    <p:sldId id="288" r:id="rId30"/>
    <p:sldId id="267" r:id="rId31"/>
    <p:sldId id="265" r:id="rId32"/>
    <p:sldId id="271" r:id="rId33"/>
    <p:sldId id="272" r:id="rId34"/>
    <p:sldId id="276" r:id="rId3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orient="horz" pos="304" userDrawn="1">
          <p15:clr>
            <a:srgbClr val="A4A3A4"/>
          </p15:clr>
        </p15:guide>
        <p15:guide id="3" orient="horz" pos="4144" userDrawn="1">
          <p15:clr>
            <a:srgbClr val="A4A3A4"/>
          </p15:clr>
        </p15:guide>
        <p15:guide id="4" orient="horz" pos="3952" userDrawn="1">
          <p15:clr>
            <a:srgbClr val="A4A3A4"/>
          </p15:clr>
        </p15:guide>
        <p15:guide id="5" orient="horz" pos="1136" userDrawn="1">
          <p15:clr>
            <a:srgbClr val="A4A3A4"/>
          </p15:clr>
        </p15:guide>
        <p15:guide id="6" pos="3839" userDrawn="1">
          <p15:clr>
            <a:srgbClr val="A4A3A4"/>
          </p15:clr>
        </p15:guide>
        <p15:guide id="7" pos="191" userDrawn="1">
          <p15:clr>
            <a:srgbClr val="A4A3A4"/>
          </p15:clr>
        </p15:guide>
        <p15:guide id="8" pos="7486" userDrawn="1">
          <p15:clr>
            <a:srgbClr val="A4A3A4"/>
          </p15:clr>
        </p15:guide>
        <p15:guide id="9" pos="576" userDrawn="1">
          <p15:clr>
            <a:srgbClr val="A4A3A4"/>
          </p15:clr>
        </p15:guide>
        <p15:guide id="10" pos="7102" userDrawn="1">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8" autoAdjust="0"/>
    <p:restoredTop sz="85637" autoAdjust="0"/>
  </p:normalViewPr>
  <p:slideViewPr>
    <p:cSldViewPr>
      <p:cViewPr varScale="1">
        <p:scale>
          <a:sx n="86" d="100"/>
          <a:sy n="86" d="100"/>
        </p:scale>
        <p:origin x="-547" y="-77"/>
      </p:cViewPr>
      <p:guideLst>
        <p:guide orient="horz" pos="2160"/>
        <p:guide orient="horz" pos="304"/>
        <p:guide orient="horz" pos="4144"/>
        <p:guide orient="horz" pos="3952"/>
        <p:guide orient="horz" pos="1136"/>
        <p:guide pos="3839"/>
        <p:guide pos="191"/>
        <p:guide pos="7486"/>
        <p:guide pos="576"/>
        <p:guide pos="7102"/>
      </p:guideLst>
    </p:cSldViewPr>
  </p:slideViewPr>
  <p:notesTextViewPr>
    <p:cViewPr>
      <p:scale>
        <a:sx n="1" d="1"/>
        <a:sy n="1" d="1"/>
      </p:scale>
      <p:origin x="0" y="0"/>
    </p:cViewPr>
  </p:notesTextViewPr>
  <p:notesViewPr>
    <p:cSldViewPr showGuides="1">
      <p:cViewPr varScale="1">
        <p:scale>
          <a:sx n="76" d="100"/>
          <a:sy n="76" d="100"/>
        </p:scale>
        <p:origin x="168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viewProps" Target="viewProps.xml"/><Relationship Id="rId3" Type="http://schemas.openxmlformats.org/officeDocument/2006/relationships/slideMaster" Target="slideMasters/slideMaster2.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4.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3.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954C6E1-AF92-4FB7-A013-0B520EBC30AE}" type="datetimeFigureOut">
              <a:rPr lang="en-US"/>
              <a:t>7/26/2017</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52D9BF-D574-4807-B36C-9E2A025BE826}" type="slidenum">
              <a:rPr/>
              <a:t>‹#›</a:t>
            </a:fld>
            <a:endParaRPr/>
          </a:p>
        </p:txBody>
      </p:sp>
    </p:spTree>
    <p:extLst>
      <p:ext uri="{BB962C8B-B14F-4D97-AF65-F5344CB8AC3E}">
        <p14:creationId xmlns:p14="http://schemas.microsoft.com/office/powerpoint/2010/main" val="2306792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C10850-0874-4A61-99B4-D613C5E8D9EA}" type="datetimeFigureOut">
              <a:rPr lang="en-US"/>
              <a:t>7/26/2017</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11EC53-F507-411E-9ADC-FBCFECE09D3D}" type="slidenum">
              <a:rPr/>
              <a:t>‹#›</a:t>
            </a:fld>
            <a:endParaRPr/>
          </a:p>
        </p:txBody>
      </p:sp>
    </p:spTree>
    <p:extLst>
      <p:ext uri="{BB962C8B-B14F-4D97-AF65-F5344CB8AC3E}">
        <p14:creationId xmlns:p14="http://schemas.microsoft.com/office/powerpoint/2010/main" val="758182631"/>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11EC53-F507-411E-9ADC-FBCFECE09D3D}" type="slidenum">
              <a:rPr lang="en-US" smtClean="0"/>
              <a:t>1</a:t>
            </a:fld>
            <a:endParaRPr lang="en-US"/>
          </a:p>
        </p:txBody>
      </p:sp>
    </p:spTree>
    <p:extLst>
      <p:ext uri="{BB962C8B-B14F-4D97-AF65-F5344CB8AC3E}">
        <p14:creationId xmlns:p14="http://schemas.microsoft.com/office/powerpoint/2010/main" val="2908644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Membranes</a:t>
            </a:r>
            <a:r>
              <a:rPr lang="en-AU" baseline="0" dirty="0" smtClean="0"/>
              <a:t> surrounding the nucleus, endoplasmic reticulum, mitochondria, chloroplasts, lysosomes and vacuoles, separate DNA, enzymes, secretory products of cells, cytoplasm and energy processing materials.</a:t>
            </a:r>
            <a:endParaRPr lang="en-AU" dirty="0"/>
          </a:p>
        </p:txBody>
      </p:sp>
      <p:sp>
        <p:nvSpPr>
          <p:cNvPr id="4" name="Slide Number Placeholder 3"/>
          <p:cNvSpPr>
            <a:spLocks noGrp="1"/>
          </p:cNvSpPr>
          <p:nvPr>
            <p:ph type="sldNum" sz="quarter" idx="10"/>
          </p:nvPr>
        </p:nvSpPr>
        <p:spPr/>
        <p:txBody>
          <a:bodyPr/>
          <a:lstStyle/>
          <a:p>
            <a:fld id="{9E11EC53-F507-411E-9ADC-FBCFECE09D3D}" type="slidenum">
              <a:rPr lang="en-AU" smtClean="0"/>
              <a:t>2</a:t>
            </a:fld>
            <a:endParaRPr lang="en-AU"/>
          </a:p>
        </p:txBody>
      </p:sp>
    </p:spTree>
    <p:extLst>
      <p:ext uri="{BB962C8B-B14F-4D97-AF65-F5344CB8AC3E}">
        <p14:creationId xmlns:p14="http://schemas.microsoft.com/office/powerpoint/2010/main" val="3552415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GB" altLang="en-US" sz="1600" dirty="0" smtClean="0">
                <a:solidFill>
                  <a:srgbClr val="008000"/>
                </a:solidFill>
              </a:rPr>
              <a:t>A temperature exceeding the optimum and pH levels beyond the normal range can denature the membrane’s proteins. Ethanol dissolves the lipid components of the membrane. This all makes the membrane far more permeable acting as if it is full of holes.  </a:t>
            </a:r>
          </a:p>
          <a:p>
            <a:endParaRPr lang="en-AU" dirty="0"/>
          </a:p>
        </p:txBody>
      </p:sp>
      <p:sp>
        <p:nvSpPr>
          <p:cNvPr id="4" name="Slide Number Placeholder 3"/>
          <p:cNvSpPr>
            <a:spLocks noGrp="1"/>
          </p:cNvSpPr>
          <p:nvPr>
            <p:ph type="sldNum" sz="quarter" idx="10"/>
          </p:nvPr>
        </p:nvSpPr>
        <p:spPr/>
        <p:txBody>
          <a:bodyPr/>
          <a:lstStyle/>
          <a:p>
            <a:fld id="{9E11EC53-F507-411E-9ADC-FBCFECE09D3D}" type="slidenum">
              <a:rPr lang="en-AU" smtClean="0"/>
              <a:t>5</a:t>
            </a:fld>
            <a:endParaRPr lang="en-AU"/>
          </a:p>
        </p:txBody>
      </p:sp>
    </p:spTree>
    <p:extLst>
      <p:ext uri="{BB962C8B-B14F-4D97-AF65-F5344CB8AC3E}">
        <p14:creationId xmlns:p14="http://schemas.microsoft.com/office/powerpoint/2010/main" val="2274305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AU" dirty="0" smtClean="0"/>
              <a:t>The hydrophilic phosphate heads are always arranged so that they are near water. Watery fluids are found both inside a cell (</a:t>
            </a:r>
            <a:r>
              <a:rPr lang="en-AU" b="1" dirty="0" smtClean="0"/>
              <a:t>intracellular fluid</a:t>
            </a:r>
            <a:r>
              <a:rPr lang="en-AU" dirty="0" smtClean="0"/>
              <a:t>) and outside a cell (</a:t>
            </a:r>
            <a:r>
              <a:rPr lang="en-AU" b="1" dirty="0" smtClean="0"/>
              <a:t>extracellular fluid</a:t>
            </a:r>
            <a:r>
              <a:rPr lang="en-AU" dirty="0" smtClean="0"/>
              <a:t>). The hydrophobic tails of membrane phospholipids are organized in a manner that keeps them away from water.</a:t>
            </a:r>
          </a:p>
          <a:p>
            <a:endParaRPr lang="en-AU" dirty="0"/>
          </a:p>
        </p:txBody>
      </p:sp>
      <p:sp>
        <p:nvSpPr>
          <p:cNvPr id="4" name="Slide Number Placeholder 3"/>
          <p:cNvSpPr>
            <a:spLocks noGrp="1"/>
          </p:cNvSpPr>
          <p:nvPr>
            <p:ph type="sldNum" sz="quarter" idx="10"/>
          </p:nvPr>
        </p:nvSpPr>
        <p:spPr/>
        <p:txBody>
          <a:bodyPr/>
          <a:lstStyle/>
          <a:p>
            <a:fld id="{9E11EC53-F507-411E-9ADC-FBCFECE09D3D}" type="slidenum">
              <a:rPr lang="en-AU" smtClean="0"/>
              <a:t>10</a:t>
            </a:fld>
            <a:endParaRPr lang="en-AU"/>
          </a:p>
        </p:txBody>
      </p:sp>
    </p:spTree>
    <p:extLst>
      <p:ext uri="{BB962C8B-B14F-4D97-AF65-F5344CB8AC3E}">
        <p14:creationId xmlns:p14="http://schemas.microsoft.com/office/powerpoint/2010/main" val="2308943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E11EC53-F507-411E-9ADC-FBCFECE09D3D}" type="slidenum">
              <a:rPr lang="en-AU" smtClean="0"/>
              <a:t>11</a:t>
            </a:fld>
            <a:endParaRPr lang="en-AU"/>
          </a:p>
        </p:txBody>
      </p:sp>
    </p:spTree>
    <p:extLst>
      <p:ext uri="{BB962C8B-B14F-4D97-AF65-F5344CB8AC3E}">
        <p14:creationId xmlns:p14="http://schemas.microsoft.com/office/powerpoint/2010/main" val="69999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AU" dirty="0" err="1" smtClean="0"/>
              <a:t>Glycocalyx</a:t>
            </a:r>
            <a:r>
              <a:rPr lang="en-AU" baseline="0" dirty="0" smtClean="0"/>
              <a:t> is a carbohydrate-enriched coating that covers the outside of many eukaryotic cells and prokaryotic cells, particularly bacteria. In eukaryotic cells the </a:t>
            </a:r>
            <a:r>
              <a:rPr lang="en-AU" baseline="0" dirty="0" err="1" smtClean="0"/>
              <a:t>glycocalyx</a:t>
            </a:r>
            <a:r>
              <a:rPr lang="en-AU" baseline="0" dirty="0" smtClean="0"/>
              <a:t> can be used for the recognition of the cell. Bacteria use it for a protective coating from host factors.</a:t>
            </a:r>
            <a:endParaRPr lang="en-AU" dirty="0" smtClean="0"/>
          </a:p>
          <a:p>
            <a:endParaRPr lang="en-AU" dirty="0"/>
          </a:p>
        </p:txBody>
      </p:sp>
      <p:sp>
        <p:nvSpPr>
          <p:cNvPr id="4" name="Slide Number Placeholder 3"/>
          <p:cNvSpPr>
            <a:spLocks noGrp="1"/>
          </p:cNvSpPr>
          <p:nvPr>
            <p:ph type="sldNum" sz="quarter" idx="10"/>
          </p:nvPr>
        </p:nvSpPr>
        <p:spPr/>
        <p:txBody>
          <a:bodyPr/>
          <a:lstStyle/>
          <a:p>
            <a:fld id="{9E11EC53-F507-411E-9ADC-FBCFECE09D3D}" type="slidenum">
              <a:rPr lang="en-AU" smtClean="0"/>
              <a:t>13</a:t>
            </a:fld>
            <a:endParaRPr lang="en-AU"/>
          </a:p>
        </p:txBody>
      </p:sp>
    </p:spTree>
    <p:extLst>
      <p:ext uri="{BB962C8B-B14F-4D97-AF65-F5344CB8AC3E}">
        <p14:creationId xmlns:p14="http://schemas.microsoft.com/office/powerpoint/2010/main" val="4103166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97D2B3-DFE4-4E9E-BE9E-EFA2335C85B1}" type="slidenum">
              <a:rPr lang="en-GB" altLang="en-US">
                <a:solidFill>
                  <a:srgbClr val="000000"/>
                </a:solidFill>
              </a:rPr>
              <a:pPr/>
              <a:t>14</a:t>
            </a:fld>
            <a:endParaRPr lang="en-GB" altLang="en-US">
              <a:solidFill>
                <a:srgbClr val="000000"/>
              </a:solidFill>
            </a:endParaRPr>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07645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74D34B-6B45-490C-9F1F-5C57E46C8B42}" type="slidenum">
              <a:rPr lang="en-GB" altLang="en-US">
                <a:solidFill>
                  <a:srgbClr val="000000"/>
                </a:solidFill>
              </a:rPr>
              <a:pPr/>
              <a:t>25</a:t>
            </a:fld>
            <a:endParaRPr lang="en-GB" altLang="en-US">
              <a:solidFill>
                <a:srgbClr val="000000"/>
              </a:solidFill>
            </a:endParaRPr>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74718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2CAE4E-1737-4AB1-99C5-E6235938EBF8}" type="slidenum">
              <a:rPr lang="en-GB" altLang="en-US"/>
              <a:pPr/>
              <a:t>26</a:t>
            </a:fld>
            <a:endParaRPr lang="en-GB" altLang="en-US"/>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33556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77EDCF3-536E-4125-B294-2242C54786FF}" type="slidenum">
              <a:rPr lang="en-GB" altLang="en-US">
                <a:solidFill>
                  <a:srgbClr val="000000"/>
                </a:solidFill>
              </a:rPr>
              <a:pPr/>
              <a:t>27</a:t>
            </a:fld>
            <a:endParaRPr lang="en-GB" altLang="en-US">
              <a:solidFill>
                <a:srgbClr val="000000"/>
              </a:solidFill>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676351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888C12-6147-4175-80AA-7888D68D211C}" type="slidenum">
              <a:rPr lang="en-GB" altLang="en-US">
                <a:solidFill>
                  <a:srgbClr val="000000"/>
                </a:solidFill>
              </a:rPr>
              <a:pPr/>
              <a:t>28</a:t>
            </a:fld>
            <a:endParaRPr lang="en-GB" altLang="en-US">
              <a:solidFill>
                <a:srgbClr val="000000"/>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4072751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888C12-6147-4175-80AA-7888D68D211C}" type="slidenum">
              <a:rPr lang="en-GB" altLang="en-US">
                <a:solidFill>
                  <a:srgbClr val="000000"/>
                </a:solidFill>
              </a:rPr>
              <a:pPr/>
              <a:t>29</a:t>
            </a:fld>
            <a:endParaRPr lang="en-GB" altLang="en-US">
              <a:solidFill>
                <a:srgbClr val="000000"/>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325664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3603" y="3602038"/>
            <a:ext cx="91416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D897E368-E774-40AC-B003-4335DED9BC77}"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40860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79257456-D330-4DE4-A3AB-44C217147FE9}"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825647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4" y="1709739"/>
            <a:ext cx="10512862"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634" y="4589464"/>
            <a:ext cx="10512862"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77B1988C-700A-4E40-B126-DBE43679334D}"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931215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1"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24039"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FC1FADD7-EA9F-474E-AB0C-79734D949BE0}"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3102945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98" y="365126"/>
            <a:ext cx="10512862"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40099" y="1681163"/>
            <a:ext cx="515697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099" y="2505075"/>
            <a:ext cx="5156973"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0593" y="1681163"/>
            <a:ext cx="518236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0593" y="2505075"/>
            <a:ext cx="518236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GB" alt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GB"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27DD057F-9F11-4F02-904B-85797CD6631F}"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4257563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GB" alt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GB"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68547675-8F03-41A8-BAC8-2878132E6C25}"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410978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GB"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B4831E5A-1E78-4259-AF19-6BFFD986B251}"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3960328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2367" y="987426"/>
            <a:ext cx="617059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78A9B32B-421B-48F2-9BF5-91F98C5DDE96}"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665283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2367" y="987426"/>
            <a:ext cx="617059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A2E070B8-6AD2-4334-82F7-DF2CD3AD64BC}"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3921889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86135CE8-A590-4398-AC92-15CC89F43698}"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617873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1"/>
            <a:ext cx="3047206" cy="579437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0" y="1"/>
            <a:ext cx="8938472"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0E18EDC-3670-46A5-BDBA-87D06BB58DD8}"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65895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3603" y="3602038"/>
            <a:ext cx="91416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D897E368-E774-40AC-B003-4335DED9BC77}"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539397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79257456-D330-4DE4-A3AB-44C217147FE9}"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53665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4" y="1709739"/>
            <a:ext cx="10512862"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634" y="4589464"/>
            <a:ext cx="10512862"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77B1988C-700A-4E40-B126-DBE43679334D}"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5151640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1"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24039"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FC1FADD7-EA9F-474E-AB0C-79734D949BE0}"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826094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98" y="365126"/>
            <a:ext cx="10512862"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40099" y="1681163"/>
            <a:ext cx="515697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099" y="2505075"/>
            <a:ext cx="5156973"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0593" y="1681163"/>
            <a:ext cx="518236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0593" y="2505075"/>
            <a:ext cx="518236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GB" alt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GB"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27DD057F-9F11-4F02-904B-85797CD6631F}"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3319930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GB" alt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GB"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68547675-8F03-41A8-BAC8-2878132E6C25}"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9538998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GB"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B4831E5A-1E78-4259-AF19-6BFFD986B251}"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84634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2367" y="987426"/>
            <a:ext cx="617059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78A9B32B-421B-48F2-9BF5-91F98C5DDE96}"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4145969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2367" y="987426"/>
            <a:ext cx="617059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A2E070B8-6AD2-4334-82F7-DF2CD3AD64BC}"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5712132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86135CE8-A590-4398-AC92-15CC89F43698}"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41432565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1"/>
            <a:ext cx="3047206" cy="579437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0" y="1"/>
            <a:ext cx="8938472"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0E18EDC-3670-46A5-BDBA-87D06BB58DD8}"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34810953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8882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6994" y="758952"/>
            <a:ext cx="10055781" cy="3566160"/>
          </a:xfrm>
        </p:spPr>
        <p:txBody>
          <a:bodyPr anchor="b">
            <a:normAutofit/>
          </a:bodyPr>
          <a:lstStyle>
            <a:lvl1pPr algn="l">
              <a:lnSpc>
                <a:spcPct val="85000"/>
              </a:lnSpc>
              <a:defRPr sz="7998"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099764" y="4455621"/>
            <a:ext cx="10055781" cy="1143000"/>
          </a:xfrm>
        </p:spPr>
        <p:txBody>
          <a:bodyPr lIns="91440" rIns="91440">
            <a:normAutofit/>
          </a:bodyPr>
          <a:lstStyle>
            <a:lvl1pPr marL="0" indent="0" algn="l">
              <a:buNone/>
              <a:defRPr sz="2399" cap="all" spc="200" baseline="0">
                <a:solidFill>
                  <a:schemeClr val="tx2"/>
                </a:solidFill>
                <a:latin typeface="+mj-lt"/>
              </a:defRPr>
            </a:lvl1pPr>
            <a:lvl2pPr marL="457063" indent="0" algn="ctr">
              <a:buNone/>
              <a:defRPr sz="2399"/>
            </a:lvl2pPr>
            <a:lvl3pPr marL="914126" indent="0" algn="ctr">
              <a:buNone/>
              <a:defRPr sz="2399"/>
            </a:lvl3pPr>
            <a:lvl4pPr marL="1371189" indent="0" algn="ctr">
              <a:buNone/>
              <a:defRPr sz="1999"/>
            </a:lvl4pPr>
            <a:lvl5pPr marL="1828251" indent="0" algn="ctr">
              <a:buNone/>
              <a:defRPr sz="1999"/>
            </a:lvl5pPr>
            <a:lvl6pPr marL="2285314" indent="0" algn="ctr">
              <a:buNone/>
              <a:defRPr sz="1999"/>
            </a:lvl6pPr>
            <a:lvl7pPr marL="2742377" indent="0" algn="ctr">
              <a:buNone/>
              <a:defRPr sz="1999"/>
            </a:lvl7pPr>
            <a:lvl8pPr marL="3199440" indent="0" algn="ctr">
              <a:buNone/>
              <a:defRPr sz="1999"/>
            </a:lvl8pPr>
            <a:lvl9pPr marL="3656503" indent="0" algn="ctr">
              <a:buNone/>
              <a:defRPr sz="1999"/>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B9B9059-F1D6-41D0-95CF-D21CAA096B3A}" type="datetimeFigureOut">
              <a:rPr lang="en-US" smtClean="0"/>
              <a:pPr/>
              <a:t>7/26/2017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pPr/>
              <a:t>‹#›</a:t>
            </a:fld>
            <a:endParaRPr lang="en-US"/>
          </a:p>
        </p:txBody>
      </p:sp>
      <p:cxnSp>
        <p:nvCxnSpPr>
          <p:cNvPr id="9" name="Straight Connector 8"/>
          <p:cNvCxnSpPr/>
          <p:nvPr/>
        </p:nvCxnSpPr>
        <p:spPr>
          <a:xfrm>
            <a:off x="1207344" y="4343400"/>
            <a:ext cx="987294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751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9B9059-F1D6-41D0-95CF-D21CAA096B3A}" type="datetimeFigureOut">
              <a:rPr lang="en-US" smtClean="0"/>
              <a:t>7/26/2017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192224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994" y="758952"/>
            <a:ext cx="10055781" cy="3566160"/>
          </a:xfrm>
        </p:spPr>
        <p:txBody>
          <a:bodyPr anchor="b" anchorCtr="0">
            <a:normAutofit/>
          </a:bodyPr>
          <a:lstStyle>
            <a:lvl1pPr>
              <a:lnSpc>
                <a:spcPct val="85000"/>
              </a:lnSpc>
              <a:defRPr sz="7998"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6994" y="4453128"/>
            <a:ext cx="10055781" cy="1143000"/>
          </a:xfrm>
        </p:spPr>
        <p:txBody>
          <a:bodyPr lIns="91440" rIns="91440" anchor="t" anchorCtr="0">
            <a:normAutofit/>
          </a:bodyPr>
          <a:lstStyle>
            <a:lvl1pPr marL="0" indent="0">
              <a:buNone/>
              <a:defRPr sz="2399" cap="all" spc="200" baseline="0">
                <a:solidFill>
                  <a:schemeClr val="tx2"/>
                </a:solidFill>
                <a:latin typeface="+mj-lt"/>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9B9059-F1D6-41D0-95CF-D21CAA096B3A}" type="datetimeFigureOut">
              <a:rPr lang="en-US" smtClean="0"/>
              <a:t>7/26/2017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cxnSp>
        <p:nvCxnSpPr>
          <p:cNvPr id="9" name="Straight Connector 8"/>
          <p:cNvCxnSpPr/>
          <p:nvPr/>
        </p:nvCxnSpPr>
        <p:spPr>
          <a:xfrm>
            <a:off x="1207344" y="4343400"/>
            <a:ext cx="987294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93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6994" y="286604"/>
            <a:ext cx="10055781"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6994" y="1845735"/>
            <a:ext cx="4936474"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6301" y="1845735"/>
            <a:ext cx="4936474"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9B9059-F1D6-41D0-95CF-D21CAA096B3A}" type="datetimeFigureOut">
              <a:rPr lang="en-US" smtClean="0"/>
              <a:t>7/26/2017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3387971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6994" y="286604"/>
            <a:ext cx="10055781"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6994" y="1846052"/>
            <a:ext cx="4936474" cy="736282"/>
          </a:xfrm>
        </p:spPr>
        <p:txBody>
          <a:bodyPr lIns="91440" rIns="91440" anchor="ctr">
            <a:normAutofit/>
          </a:bodyPr>
          <a:lstStyle>
            <a:lvl1pPr marL="0" indent="0">
              <a:buNone/>
              <a:defRPr sz="1999" b="0" cap="all" baseline="0">
                <a:solidFill>
                  <a:schemeClr val="tx2"/>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6994" y="2582335"/>
            <a:ext cx="4936474"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6301" y="1846052"/>
            <a:ext cx="4936474" cy="736282"/>
          </a:xfrm>
        </p:spPr>
        <p:txBody>
          <a:bodyPr lIns="91440" rIns="91440" anchor="ctr">
            <a:normAutofit/>
          </a:bodyPr>
          <a:lstStyle>
            <a:lvl1pPr marL="0" indent="0">
              <a:buNone/>
              <a:defRPr sz="1999" b="0" cap="all" baseline="0">
                <a:solidFill>
                  <a:schemeClr val="tx2"/>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6301" y="2582334"/>
            <a:ext cx="4936474"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B9B9059-F1D6-41D0-95CF-D21CAA096B3A}" type="datetimeFigureOut">
              <a:rPr lang="en-US" smtClean="0"/>
              <a:t>7/26/2017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829795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B9B9059-F1D6-41D0-95CF-D21CAA096B3A}" type="datetimeFigureOut">
              <a:rPr lang="en-US" smtClean="0"/>
              <a:t>7/26/2017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1306795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B9B9059-F1D6-41D0-95CF-D21CAA096B3A}" type="datetimeFigureOut">
              <a:rPr lang="en-US" smtClean="0"/>
              <a:pPr/>
              <a:t>7/26/2017</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324253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7" y="0"/>
            <a:ext cx="40497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39019" y="0"/>
            <a:ext cx="6399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081" y="594359"/>
            <a:ext cx="3199567" cy="2286000"/>
          </a:xfrm>
        </p:spPr>
        <p:txBody>
          <a:bodyPr anchor="b">
            <a:normAutofit/>
          </a:bodyPr>
          <a:lstStyle>
            <a:lvl1pPr>
              <a:defRPr sz="3599"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799350" y="731520"/>
            <a:ext cx="6490549"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081" y="2926080"/>
            <a:ext cx="3199567" cy="3379124"/>
          </a:xfrm>
        </p:spPr>
        <p:txBody>
          <a:bodyPr lIns="91440" rIns="91440">
            <a:normAutofit/>
          </a:bodyPr>
          <a:lstStyle>
            <a:lvl1pPr marL="0" indent="0">
              <a:buNone/>
              <a:defRPr sz="1500">
                <a:solidFill>
                  <a:srgbClr val="FFFFFF"/>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391" y="6459786"/>
            <a:ext cx="2617828" cy="365125"/>
          </a:xfrm>
        </p:spPr>
        <p:txBody>
          <a:bodyPr/>
          <a:lstStyle>
            <a:lvl1pPr algn="l">
              <a:defRPr/>
            </a:lvl1pPr>
          </a:lstStyle>
          <a:p>
            <a:fld id="{3B9B9059-F1D6-41D0-95CF-D21CAA096B3A}" type="datetimeFigureOut">
              <a:rPr lang="en-US" smtClean="0"/>
              <a:pPr/>
              <a:t>7/26/2017</a:t>
            </a:fld>
            <a:endParaRPr lang="en-US"/>
          </a:p>
        </p:txBody>
      </p:sp>
      <p:sp>
        <p:nvSpPr>
          <p:cNvPr id="6" name="Footer Placeholder 5"/>
          <p:cNvSpPr>
            <a:spLocks noGrp="1"/>
          </p:cNvSpPr>
          <p:nvPr>
            <p:ph type="ftr" sz="quarter" idx="11"/>
          </p:nvPr>
        </p:nvSpPr>
        <p:spPr>
          <a:xfrm>
            <a:off x="4799350" y="6459786"/>
            <a:ext cx="464699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FD5434-F838-4DD4-A17B-1CB1A1850DF4}" type="slidenum">
              <a:rPr lang="en-US" smtClean="0"/>
              <a:pPr/>
              <a:t>‹#›</a:t>
            </a:fld>
            <a:endParaRPr lang="en-US"/>
          </a:p>
        </p:txBody>
      </p:sp>
    </p:spTree>
    <p:extLst>
      <p:ext uri="{BB962C8B-B14F-4D97-AF65-F5344CB8AC3E}">
        <p14:creationId xmlns:p14="http://schemas.microsoft.com/office/powerpoint/2010/main" val="2232081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5651"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995" y="5074920"/>
            <a:ext cx="10111011" cy="822960"/>
          </a:xfrm>
        </p:spPr>
        <p:txBody>
          <a:bodyPr tIns="0" bIns="0" anchor="b">
            <a:noAutofit/>
          </a:bodyPr>
          <a:lstStyle>
            <a:lvl1pPr>
              <a:defRPr sz="3599"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88810" cy="4915076"/>
          </a:xfrm>
          <a:solidFill>
            <a:schemeClr val="bg2">
              <a:lumMod val="90000"/>
            </a:schemeClr>
          </a:solidFill>
        </p:spPr>
        <p:txBody>
          <a:bodyPr lIns="457200" tIns="457200" anchor="t"/>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smtClean="0"/>
              <a:t>Click icon to add picture</a:t>
            </a:r>
            <a:endParaRPr lang="en-US" dirty="0"/>
          </a:p>
        </p:txBody>
      </p:sp>
      <p:sp>
        <p:nvSpPr>
          <p:cNvPr id="4" name="Text Placeholder 3"/>
          <p:cNvSpPr>
            <a:spLocks noGrp="1"/>
          </p:cNvSpPr>
          <p:nvPr>
            <p:ph type="body" sz="half" idx="2"/>
          </p:nvPr>
        </p:nvSpPr>
        <p:spPr>
          <a:xfrm>
            <a:off x="1096994" y="5907024"/>
            <a:ext cx="1011063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9B9059-F1D6-41D0-95CF-D21CAA096B3A}" type="datetimeFigureOut">
              <a:rPr lang="en-US" smtClean="0"/>
              <a:pPr/>
              <a:t>7/26/2017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3654746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9B9059-F1D6-41D0-95CF-D21CAA096B3A}" type="datetimeFigureOut">
              <a:rPr lang="en-US" smtClean="0"/>
              <a:t>7/26/2017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292182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2628" y="412302"/>
            <a:ext cx="2628215"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7982" y="412302"/>
            <a:ext cx="7732286"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9B9059-F1D6-41D0-95CF-D21CAA096B3A}" type="datetimeFigureOut">
              <a:rPr lang="en-US" smtClean="0"/>
              <a:t>7/26/2017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186480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3603" y="3602038"/>
            <a:ext cx="91416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C67B6B1-92A3-4298-AC8F-ECBD0111C38A}"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20512838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719F34A-8260-45F9-9CC7-E59245B10C94}"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21303732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4" y="1709739"/>
            <a:ext cx="10512862"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634" y="4589464"/>
            <a:ext cx="10512862"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4F017BA-7084-4525-B1D6-13F97793EA58}"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1095705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1"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24039"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3CC3076-1D0A-48D9-A787-FB1935807752}"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10511746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98" y="365126"/>
            <a:ext cx="10512862"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40099" y="1681163"/>
            <a:ext cx="515697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099" y="2505075"/>
            <a:ext cx="5156973"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0593" y="1681163"/>
            <a:ext cx="518236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0593" y="2505075"/>
            <a:ext cx="518236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EE2E0E6-9BB2-485E-A78B-E97249924C30}"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19516082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922149B-8C01-430A-BD60-78765729FFB7}"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28712883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2AF9EB8B-BC60-4F7F-998F-6E0D0733F890}"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38418158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2367" y="987426"/>
            <a:ext cx="617059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A5D3D0C-01E7-4886-8C9E-7A560EC8DE3B}"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22956647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2367" y="987426"/>
            <a:ext cx="617059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00F7C8C-BE78-46CF-A41B-47B654ED7443}"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32589758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64D6CA6-0DF6-4CF4-98BB-E2FBC55A1492}"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7929711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1"/>
            <a:ext cx="3047206" cy="579437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0" y="1"/>
            <a:ext cx="8938472"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7324A0C-6F14-4BED-90DA-F1AF24851EA9}"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3914621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3603" y="3602038"/>
            <a:ext cx="91416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C67B6B1-92A3-4298-AC8F-ECBD0111C38A}"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28024496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719F34A-8260-45F9-9CC7-E59245B10C94}"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3787229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4" y="1709739"/>
            <a:ext cx="10512862"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634" y="4589464"/>
            <a:ext cx="10512862"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4F017BA-7084-4525-B1D6-13F97793EA58}"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6823809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1"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24039" y="1268413"/>
            <a:ext cx="5920891"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3CC3076-1D0A-48D9-A787-FB1935807752}"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32272221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98" y="365126"/>
            <a:ext cx="10512862"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40099" y="1681163"/>
            <a:ext cx="515697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099" y="2505075"/>
            <a:ext cx="5156973"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0593" y="1681163"/>
            <a:ext cx="518236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0593" y="2505075"/>
            <a:ext cx="518236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EE2E0E6-9BB2-485E-A78B-E97249924C30}"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2239308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922149B-8C01-430A-BD60-78765729FFB7}"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41470709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2AF9EB8B-BC60-4F7F-998F-6E0D0733F890}"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7153649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2367" y="987426"/>
            <a:ext cx="617059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A5D3D0C-01E7-4886-8C9E-7A560EC8DE3B}"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39075661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2367" y="987426"/>
            <a:ext cx="617059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00F7C8C-BE78-46CF-A41B-47B654ED7443}"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10918930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64D6CA6-0DF6-4CF4-98BB-E2FBC55A1492}"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33357996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1"/>
            <a:ext cx="3047206" cy="579437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0" y="1"/>
            <a:ext cx="8938472"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Rectangle 4"/>
          <p:cNvSpPr>
            <a:spLocks noGrp="1" noChangeArrowheads="1"/>
          </p:cNvSpPr>
          <p:nvPr>
            <p:ph type="dt" sz="half" idx="10"/>
          </p:nvPr>
        </p:nvSpPr>
        <p:spPr>
          <a:ln/>
        </p:spPr>
        <p:txBody>
          <a:bodyPr/>
          <a:lstStyle>
            <a:lvl1pPr>
              <a:defRPr/>
            </a:lvl1pPr>
          </a:lstStyle>
          <a:p>
            <a:pPr>
              <a:defRPr/>
            </a:pPr>
            <a:endParaRPr lang="en-GB"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GB"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7324A0C-6F14-4BED-90DA-F1AF24851EA9}" type="slidenum">
              <a:rPr lang="en-GB" altLang="en-US">
                <a:solidFill>
                  <a:srgbClr val="000000"/>
                </a:solidFill>
              </a:rPr>
              <a:pPr>
                <a:defRPr/>
              </a:pPr>
              <a:t>‹#›</a:t>
            </a:fld>
            <a:endParaRPr lang="en-GB" altLang="en-US">
              <a:solidFill>
                <a:srgbClr val="000000"/>
              </a:solidFill>
            </a:endParaRPr>
          </a:p>
        </p:txBody>
      </p:sp>
    </p:spTree>
    <p:extLst>
      <p:ext uri="{BB962C8B-B14F-4D97-AF65-F5344CB8AC3E}">
        <p14:creationId xmlns:p14="http://schemas.microsoft.com/office/powerpoint/2010/main" val="2984789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12188825" cy="1143000"/>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0" y="1268413"/>
            <a:ext cx="12044929"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609441"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defTabSz="914400" fontAlgn="base">
              <a:spcBef>
                <a:spcPct val="0"/>
              </a:spcBef>
              <a:spcAft>
                <a:spcPct val="0"/>
              </a:spcAft>
            </a:pPr>
            <a:endParaRPr lang="en-GB" altLang="en-US" smtClean="0">
              <a:solidFill>
                <a:srgbClr val="000000"/>
              </a:solidFill>
            </a:endParaRPr>
          </a:p>
        </p:txBody>
      </p:sp>
      <p:sp>
        <p:nvSpPr>
          <p:cNvPr id="1029" name="Rectangle 5"/>
          <p:cNvSpPr>
            <a:spLocks noGrp="1" noChangeArrowheads="1"/>
          </p:cNvSpPr>
          <p:nvPr>
            <p:ph type="ftr" sz="quarter" idx="3"/>
          </p:nvPr>
        </p:nvSpPr>
        <p:spPr bwMode="auto">
          <a:xfrm>
            <a:off x="4164515" y="6245225"/>
            <a:ext cx="385979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defTabSz="914400" fontAlgn="base">
              <a:spcBef>
                <a:spcPct val="0"/>
              </a:spcBef>
              <a:spcAft>
                <a:spcPct val="0"/>
              </a:spcAft>
            </a:pPr>
            <a:endParaRPr lang="en-GB" altLang="en-US" smtClean="0">
              <a:solidFill>
                <a:srgbClr val="000000"/>
              </a:solidFill>
            </a:endParaRPr>
          </a:p>
        </p:txBody>
      </p:sp>
      <p:sp>
        <p:nvSpPr>
          <p:cNvPr id="1030" name="Rectangle 6"/>
          <p:cNvSpPr>
            <a:spLocks noGrp="1" noChangeArrowheads="1"/>
          </p:cNvSpPr>
          <p:nvPr>
            <p:ph type="sldNum" sz="quarter" idx="4"/>
          </p:nvPr>
        </p:nvSpPr>
        <p:spPr bwMode="auto">
          <a:xfrm>
            <a:off x="8735325"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defTabSz="914400" fontAlgn="base">
              <a:spcBef>
                <a:spcPct val="0"/>
              </a:spcBef>
              <a:spcAft>
                <a:spcPct val="0"/>
              </a:spcAft>
            </a:pPr>
            <a:fld id="{FF886092-6D79-4A43-91BE-7A033A9710B7}" type="slidenum">
              <a:rPr lang="en-GB" altLang="en-US" smtClean="0">
                <a:solidFill>
                  <a:srgbClr val="000000"/>
                </a:solidFill>
              </a:rPr>
              <a:pPr defTabSz="914400" fontAlgn="base">
                <a:spcBef>
                  <a:spcPct val="0"/>
                </a:spcBef>
                <a:spcAft>
                  <a:spcPct val="0"/>
                </a:spcAft>
              </a:pPr>
              <a:t>‹#›</a:t>
            </a:fld>
            <a:endParaRPr lang="en-GB" altLang="en-US" smtClean="0">
              <a:solidFill>
                <a:srgbClr val="000000"/>
              </a:solidFill>
            </a:endParaRPr>
          </a:p>
        </p:txBody>
      </p:sp>
    </p:spTree>
    <p:extLst>
      <p:ext uri="{BB962C8B-B14F-4D97-AF65-F5344CB8AC3E}">
        <p14:creationId xmlns:p14="http://schemas.microsoft.com/office/powerpoint/2010/main" val="4036587495"/>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iming>
    <p:tnLst>
      <p:par>
        <p:cTn id="1" dur="indefinite" restart="never" nodeType="tmRoot"/>
      </p:par>
    </p:tnLst>
  </p:timing>
  <p:txStyles>
    <p:titleStyle>
      <a:lvl1pPr algn="l" rtl="0" fontAlgn="base">
        <a:spcBef>
          <a:spcPct val="0"/>
        </a:spcBef>
        <a:spcAft>
          <a:spcPct val="0"/>
        </a:spcAft>
        <a:defRPr sz="3200" kern="1200">
          <a:solidFill>
            <a:schemeClr val="bg1"/>
          </a:solidFill>
          <a:latin typeface="+mj-lt"/>
          <a:ea typeface="+mj-ea"/>
          <a:cs typeface="+mj-cs"/>
        </a:defRPr>
      </a:lvl1pPr>
      <a:lvl2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2pPr>
      <a:lvl3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3pPr>
      <a:lvl4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4pPr>
      <a:lvl5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defRPr sz="24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12188825" cy="1143000"/>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0" y="1268413"/>
            <a:ext cx="12044929"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609441"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defTabSz="914400" fontAlgn="base">
              <a:spcBef>
                <a:spcPct val="0"/>
              </a:spcBef>
              <a:spcAft>
                <a:spcPct val="0"/>
              </a:spcAft>
            </a:pPr>
            <a:endParaRPr lang="en-GB" altLang="en-US" smtClean="0">
              <a:solidFill>
                <a:srgbClr val="000000"/>
              </a:solidFill>
            </a:endParaRPr>
          </a:p>
        </p:txBody>
      </p:sp>
      <p:sp>
        <p:nvSpPr>
          <p:cNvPr id="1029" name="Rectangle 5"/>
          <p:cNvSpPr>
            <a:spLocks noGrp="1" noChangeArrowheads="1"/>
          </p:cNvSpPr>
          <p:nvPr>
            <p:ph type="ftr" sz="quarter" idx="3"/>
          </p:nvPr>
        </p:nvSpPr>
        <p:spPr bwMode="auto">
          <a:xfrm>
            <a:off x="4164515" y="6245225"/>
            <a:ext cx="385979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defTabSz="914400" fontAlgn="base">
              <a:spcBef>
                <a:spcPct val="0"/>
              </a:spcBef>
              <a:spcAft>
                <a:spcPct val="0"/>
              </a:spcAft>
            </a:pPr>
            <a:endParaRPr lang="en-GB" altLang="en-US" smtClean="0">
              <a:solidFill>
                <a:srgbClr val="000000"/>
              </a:solidFill>
            </a:endParaRPr>
          </a:p>
        </p:txBody>
      </p:sp>
      <p:sp>
        <p:nvSpPr>
          <p:cNvPr id="1030" name="Rectangle 6"/>
          <p:cNvSpPr>
            <a:spLocks noGrp="1" noChangeArrowheads="1"/>
          </p:cNvSpPr>
          <p:nvPr>
            <p:ph type="sldNum" sz="quarter" idx="4"/>
          </p:nvPr>
        </p:nvSpPr>
        <p:spPr bwMode="auto">
          <a:xfrm>
            <a:off x="8735325"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defTabSz="914400" fontAlgn="base">
              <a:spcBef>
                <a:spcPct val="0"/>
              </a:spcBef>
              <a:spcAft>
                <a:spcPct val="0"/>
              </a:spcAft>
            </a:pPr>
            <a:fld id="{FF886092-6D79-4A43-91BE-7A033A9710B7}" type="slidenum">
              <a:rPr lang="en-GB" altLang="en-US" smtClean="0">
                <a:solidFill>
                  <a:srgbClr val="000000"/>
                </a:solidFill>
              </a:rPr>
              <a:pPr defTabSz="914400" fontAlgn="base">
                <a:spcBef>
                  <a:spcPct val="0"/>
                </a:spcBef>
                <a:spcAft>
                  <a:spcPct val="0"/>
                </a:spcAft>
              </a:pPr>
              <a:t>‹#›</a:t>
            </a:fld>
            <a:endParaRPr lang="en-GB" altLang="en-US" smtClean="0">
              <a:solidFill>
                <a:srgbClr val="000000"/>
              </a:solidFill>
            </a:endParaRPr>
          </a:p>
        </p:txBody>
      </p:sp>
    </p:spTree>
    <p:extLst>
      <p:ext uri="{BB962C8B-B14F-4D97-AF65-F5344CB8AC3E}">
        <p14:creationId xmlns:p14="http://schemas.microsoft.com/office/powerpoint/2010/main" val="3140083893"/>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iming>
    <p:tnLst>
      <p:par>
        <p:cTn id="1" dur="indefinite" restart="never" nodeType="tmRoot"/>
      </p:par>
    </p:tnLst>
  </p:timing>
  <p:txStyles>
    <p:titleStyle>
      <a:lvl1pPr algn="l" rtl="0" fontAlgn="base">
        <a:spcBef>
          <a:spcPct val="0"/>
        </a:spcBef>
        <a:spcAft>
          <a:spcPct val="0"/>
        </a:spcAft>
        <a:defRPr sz="3200" kern="1200">
          <a:solidFill>
            <a:schemeClr val="bg1"/>
          </a:solidFill>
          <a:latin typeface="+mj-lt"/>
          <a:ea typeface="+mj-ea"/>
          <a:cs typeface="+mj-cs"/>
        </a:defRPr>
      </a:lvl1pPr>
      <a:lvl2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2pPr>
      <a:lvl3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3pPr>
      <a:lvl4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4pPr>
      <a:lvl5pPr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defRPr sz="24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994" y="286604"/>
            <a:ext cx="10055781"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6994" y="1845734"/>
            <a:ext cx="10055781"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6995" y="6459786"/>
            <a:ext cx="2471627" cy="365125"/>
          </a:xfrm>
          <a:prstGeom prst="rect">
            <a:avLst/>
          </a:prstGeom>
        </p:spPr>
        <p:txBody>
          <a:bodyPr vert="horz" lIns="91440" tIns="45720" rIns="91440" bIns="45720" rtlCol="0" anchor="ctr"/>
          <a:lstStyle>
            <a:lvl1pPr algn="l">
              <a:defRPr sz="900">
                <a:solidFill>
                  <a:srgbClr val="FFFFFF"/>
                </a:solidFill>
              </a:defRPr>
            </a:lvl1pPr>
          </a:lstStyle>
          <a:p>
            <a:pPr defTabSz="914400" fontAlgn="base">
              <a:spcBef>
                <a:spcPct val="0"/>
              </a:spcBef>
              <a:spcAft>
                <a:spcPct val="0"/>
              </a:spcAft>
            </a:pPr>
            <a:endParaRPr lang="en-GB" altLang="en-US" smtClean="0">
              <a:solidFill>
                <a:srgbClr val="000000"/>
              </a:solidFill>
            </a:endParaRPr>
          </a:p>
        </p:txBody>
      </p:sp>
      <p:sp>
        <p:nvSpPr>
          <p:cNvPr id="5" name="Footer Placeholder 4"/>
          <p:cNvSpPr>
            <a:spLocks noGrp="1"/>
          </p:cNvSpPr>
          <p:nvPr>
            <p:ph type="ftr" sz="quarter" idx="3"/>
          </p:nvPr>
        </p:nvSpPr>
        <p:spPr>
          <a:xfrm>
            <a:off x="3685225" y="6459786"/>
            <a:ext cx="4821548" cy="365125"/>
          </a:xfrm>
          <a:prstGeom prst="rect">
            <a:avLst/>
          </a:prstGeom>
        </p:spPr>
        <p:txBody>
          <a:bodyPr vert="horz" lIns="91440" tIns="45720" rIns="91440" bIns="45720" rtlCol="0" anchor="ctr"/>
          <a:lstStyle>
            <a:lvl1pPr algn="ctr">
              <a:defRPr sz="900" cap="all" baseline="0">
                <a:solidFill>
                  <a:srgbClr val="FFFFFF"/>
                </a:solidFill>
              </a:defRPr>
            </a:lvl1pPr>
          </a:lstStyle>
          <a:p>
            <a:pPr defTabSz="914400" fontAlgn="base">
              <a:spcBef>
                <a:spcPct val="0"/>
              </a:spcBef>
              <a:spcAft>
                <a:spcPct val="0"/>
              </a:spcAft>
            </a:pPr>
            <a:endParaRPr lang="en-GB" altLang="en-US" smtClean="0">
              <a:solidFill>
                <a:srgbClr val="000000"/>
              </a:solidFill>
            </a:endParaRPr>
          </a:p>
        </p:txBody>
      </p:sp>
      <p:sp>
        <p:nvSpPr>
          <p:cNvPr id="6" name="Slide Number Placeholder 5"/>
          <p:cNvSpPr>
            <a:spLocks noGrp="1"/>
          </p:cNvSpPr>
          <p:nvPr>
            <p:ph type="sldNum" sz="quarter" idx="4"/>
          </p:nvPr>
        </p:nvSpPr>
        <p:spPr>
          <a:xfrm>
            <a:off x="9897880" y="6459786"/>
            <a:ext cx="1311683" cy="365125"/>
          </a:xfrm>
          <a:prstGeom prst="rect">
            <a:avLst/>
          </a:prstGeom>
        </p:spPr>
        <p:txBody>
          <a:bodyPr vert="horz" lIns="91440" tIns="45720" rIns="91440" bIns="45720" rtlCol="0" anchor="ctr"/>
          <a:lstStyle>
            <a:lvl1pPr algn="r">
              <a:defRPr sz="1050">
                <a:solidFill>
                  <a:srgbClr val="FFFFFF"/>
                </a:solidFill>
              </a:defRPr>
            </a:lvl1pPr>
          </a:lstStyle>
          <a:p>
            <a:pPr defTabSz="914400" fontAlgn="base">
              <a:spcBef>
                <a:spcPct val="0"/>
              </a:spcBef>
              <a:spcAft>
                <a:spcPct val="0"/>
              </a:spcAft>
            </a:pPr>
            <a:fld id="{FF886092-6D79-4A43-91BE-7A033A9710B7}" type="slidenum">
              <a:rPr lang="en-GB" altLang="en-US" smtClean="0">
                <a:solidFill>
                  <a:srgbClr val="000000"/>
                </a:solidFill>
              </a:rPr>
              <a:pPr defTabSz="914400" fontAlgn="base">
                <a:spcBef>
                  <a:spcPct val="0"/>
                </a:spcBef>
                <a:spcAft>
                  <a:spcPct val="0"/>
                </a:spcAft>
              </a:pPr>
              <a:t>‹#›</a:t>
            </a:fld>
            <a:endParaRPr lang="en-GB" altLang="en-US" smtClean="0">
              <a:solidFill>
                <a:srgbClr val="000000"/>
              </a:solidFill>
            </a:endParaRPr>
          </a:p>
        </p:txBody>
      </p:sp>
      <p:cxnSp>
        <p:nvCxnSpPr>
          <p:cNvPr id="10" name="Straight Connector 9"/>
          <p:cNvCxnSpPr/>
          <p:nvPr/>
        </p:nvCxnSpPr>
        <p:spPr>
          <a:xfrm>
            <a:off x="1193221" y="1737845"/>
            <a:ext cx="996436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85545"/>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126" rtl="0" eaLnBrk="1" latinLnBrk="0" hangingPunct="1">
        <a:lnSpc>
          <a:spcPct val="85000"/>
        </a:lnSpc>
        <a:spcBef>
          <a:spcPct val="0"/>
        </a:spcBef>
        <a:buNone/>
        <a:defRPr sz="4799" kern="1200" spc="-50" baseline="0">
          <a:solidFill>
            <a:schemeClr val="tx1">
              <a:lumMod val="75000"/>
              <a:lumOff val="25000"/>
            </a:schemeClr>
          </a:solidFill>
          <a:latin typeface="+mj-lt"/>
          <a:ea typeface="+mj-ea"/>
          <a:cs typeface="+mj-cs"/>
        </a:defRPr>
      </a:lvl1pPr>
    </p:titleStyle>
    <p:bodyStyle>
      <a:lvl1pPr marL="91413" indent="-91413" algn="l" defTabSz="914126"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999" kern="1200">
          <a:solidFill>
            <a:schemeClr val="tx1">
              <a:lumMod val="75000"/>
              <a:lumOff val="25000"/>
            </a:schemeClr>
          </a:solidFill>
          <a:latin typeface="+mn-lt"/>
          <a:ea typeface="+mn-ea"/>
          <a:cs typeface="+mn-cs"/>
        </a:defRPr>
      </a:lvl1pPr>
      <a:lvl2pPr marL="383933" indent="-182825" algn="l" defTabSz="914126" rtl="0" eaLnBrk="1" latinLnBrk="0" hangingPunct="1">
        <a:lnSpc>
          <a:spcPct val="90000"/>
        </a:lnSpc>
        <a:spcBef>
          <a:spcPts val="200"/>
        </a:spcBef>
        <a:spcAft>
          <a:spcPts val="400"/>
        </a:spcAft>
        <a:buClr>
          <a:schemeClr val="accent1"/>
        </a:buClr>
        <a:buFont typeface="Calibri" pitchFamily="34" charset="0"/>
        <a:buChar char="◦"/>
        <a:defRPr sz="1799" kern="1200">
          <a:solidFill>
            <a:schemeClr val="tx1">
              <a:lumMod val="75000"/>
              <a:lumOff val="25000"/>
            </a:schemeClr>
          </a:solidFill>
          <a:latin typeface="+mn-lt"/>
          <a:ea typeface="+mn-ea"/>
          <a:cs typeface="+mn-cs"/>
        </a:defRPr>
      </a:lvl2pPr>
      <a:lvl3pPr marL="566758"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583"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408"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67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61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55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49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12188825" cy="1143000"/>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0" y="1268413"/>
            <a:ext cx="12044929"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609441"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pPr defTabSz="914400" fontAlgn="base">
              <a:spcBef>
                <a:spcPct val="0"/>
              </a:spcBef>
              <a:spcAft>
                <a:spcPct val="0"/>
              </a:spcAft>
              <a:defRPr/>
            </a:pPr>
            <a:endParaRPr lang="en-GB" altLang="en-US">
              <a:solidFill>
                <a:srgbClr val="000000"/>
              </a:solidFill>
            </a:endParaRPr>
          </a:p>
        </p:txBody>
      </p:sp>
      <p:sp>
        <p:nvSpPr>
          <p:cNvPr id="1029" name="Rectangle 5"/>
          <p:cNvSpPr>
            <a:spLocks noGrp="1" noChangeArrowheads="1"/>
          </p:cNvSpPr>
          <p:nvPr>
            <p:ph type="ftr" sz="quarter" idx="3"/>
          </p:nvPr>
        </p:nvSpPr>
        <p:spPr bwMode="auto">
          <a:xfrm>
            <a:off x="4164515" y="6245225"/>
            <a:ext cx="385979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pPr defTabSz="914400" fontAlgn="base">
              <a:spcBef>
                <a:spcPct val="0"/>
              </a:spcBef>
              <a:spcAft>
                <a:spcPct val="0"/>
              </a:spcAft>
              <a:defRPr/>
            </a:pPr>
            <a:endParaRPr lang="en-GB" altLang="en-US">
              <a:solidFill>
                <a:srgbClr val="000000"/>
              </a:solidFill>
            </a:endParaRPr>
          </a:p>
        </p:txBody>
      </p:sp>
      <p:sp>
        <p:nvSpPr>
          <p:cNvPr id="1030" name="Rectangle 6"/>
          <p:cNvSpPr>
            <a:spLocks noGrp="1" noChangeArrowheads="1"/>
          </p:cNvSpPr>
          <p:nvPr>
            <p:ph type="sldNum" sz="quarter" idx="4"/>
          </p:nvPr>
        </p:nvSpPr>
        <p:spPr bwMode="auto">
          <a:xfrm>
            <a:off x="8735325"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defTabSz="914400" fontAlgn="base">
              <a:spcBef>
                <a:spcPct val="0"/>
              </a:spcBef>
              <a:spcAft>
                <a:spcPct val="0"/>
              </a:spcAft>
              <a:defRPr/>
            </a:pPr>
            <a:fld id="{1DAD2D99-EF4A-4C1F-85AC-7EFB0692CB11}" type="slidenum">
              <a:rPr lang="en-GB" altLang="en-US" smtClean="0">
                <a:solidFill>
                  <a:srgbClr val="000000"/>
                </a:solidFill>
              </a:rPr>
              <a:pPr defTabSz="914400" fontAlgn="base">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544331163"/>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iming>
    <p:tnLst>
      <p:par>
        <p:cTn id="1" dur="indefinite" restart="never" nodeType="tmRoot"/>
      </p:par>
    </p:tnLst>
  </p:timing>
  <p:txStyles>
    <p:titleStyle>
      <a:lvl1pPr algn="l" rtl="0" eaLnBrk="0" fontAlgn="base" hangingPunct="0">
        <a:spcBef>
          <a:spcPct val="0"/>
        </a:spcBef>
        <a:spcAft>
          <a:spcPct val="0"/>
        </a:spcAft>
        <a:defRPr sz="3200" kern="1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12188825" cy="1143000"/>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0" y="1268413"/>
            <a:ext cx="12044929"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609441"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pPr defTabSz="914400" fontAlgn="base">
              <a:spcBef>
                <a:spcPct val="0"/>
              </a:spcBef>
              <a:spcAft>
                <a:spcPct val="0"/>
              </a:spcAft>
              <a:defRPr/>
            </a:pPr>
            <a:endParaRPr lang="en-GB" altLang="en-US">
              <a:solidFill>
                <a:srgbClr val="000000"/>
              </a:solidFill>
            </a:endParaRPr>
          </a:p>
        </p:txBody>
      </p:sp>
      <p:sp>
        <p:nvSpPr>
          <p:cNvPr id="1029" name="Rectangle 5"/>
          <p:cNvSpPr>
            <a:spLocks noGrp="1" noChangeArrowheads="1"/>
          </p:cNvSpPr>
          <p:nvPr>
            <p:ph type="ftr" sz="quarter" idx="3"/>
          </p:nvPr>
        </p:nvSpPr>
        <p:spPr bwMode="auto">
          <a:xfrm>
            <a:off x="4164515" y="6245225"/>
            <a:ext cx="385979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pPr defTabSz="914400" fontAlgn="base">
              <a:spcBef>
                <a:spcPct val="0"/>
              </a:spcBef>
              <a:spcAft>
                <a:spcPct val="0"/>
              </a:spcAft>
              <a:defRPr/>
            </a:pPr>
            <a:endParaRPr lang="en-GB" altLang="en-US">
              <a:solidFill>
                <a:srgbClr val="000000"/>
              </a:solidFill>
            </a:endParaRPr>
          </a:p>
        </p:txBody>
      </p:sp>
      <p:sp>
        <p:nvSpPr>
          <p:cNvPr id="1030" name="Rectangle 6"/>
          <p:cNvSpPr>
            <a:spLocks noGrp="1" noChangeArrowheads="1"/>
          </p:cNvSpPr>
          <p:nvPr>
            <p:ph type="sldNum" sz="quarter" idx="4"/>
          </p:nvPr>
        </p:nvSpPr>
        <p:spPr bwMode="auto">
          <a:xfrm>
            <a:off x="8735325"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defTabSz="914400" fontAlgn="base">
              <a:spcBef>
                <a:spcPct val="0"/>
              </a:spcBef>
              <a:spcAft>
                <a:spcPct val="0"/>
              </a:spcAft>
              <a:defRPr/>
            </a:pPr>
            <a:fld id="{1DAD2D99-EF4A-4C1F-85AC-7EFB0692CB11}" type="slidenum">
              <a:rPr lang="en-GB" altLang="en-US" smtClean="0">
                <a:solidFill>
                  <a:srgbClr val="000000"/>
                </a:solidFill>
              </a:rPr>
              <a:pPr defTabSz="914400" fontAlgn="base">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253928036"/>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Lst>
  <p:timing>
    <p:tnLst>
      <p:par>
        <p:cTn id="1" dur="indefinite" restart="never" nodeType="tmRoot"/>
      </p:par>
    </p:tnLst>
  </p:timing>
  <p:txStyles>
    <p:titleStyle>
      <a:lvl1pPr algn="l" rtl="0" eaLnBrk="0" fontAlgn="base" hangingPunct="0">
        <a:spcBef>
          <a:spcPct val="0"/>
        </a:spcBef>
        <a:spcAft>
          <a:spcPct val="0"/>
        </a:spcAft>
        <a:defRPr sz="3200" kern="1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32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3200">
          <a:solidFill>
            <a:schemeClr val="bg1"/>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plasma membrane</a:t>
            </a:r>
            <a:endParaRPr lang="en-US" dirty="0"/>
          </a:p>
        </p:txBody>
      </p:sp>
      <p:sp>
        <p:nvSpPr>
          <p:cNvPr id="3" name="Subtitle 2"/>
          <p:cNvSpPr>
            <a:spLocks noGrp="1"/>
          </p:cNvSpPr>
          <p:nvPr>
            <p:ph type="subTitle" idx="1"/>
          </p:nvPr>
        </p:nvSpPr>
        <p:spPr/>
        <p:txBody>
          <a:bodyPr/>
          <a:lstStyle/>
          <a:p>
            <a:r>
              <a:rPr lang="en-US" dirty="0" smtClean="0"/>
              <a:t>The Fluid mosaic model</a:t>
            </a:r>
            <a:endParaRPr lang="en-US" dirty="0"/>
          </a:p>
        </p:txBody>
      </p:sp>
    </p:spTree>
    <p:extLst>
      <p:ext uri="{BB962C8B-B14F-4D97-AF65-F5344CB8AC3E}">
        <p14:creationId xmlns:p14="http://schemas.microsoft.com/office/powerpoint/2010/main" val="1017029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Importance</a:t>
            </a:r>
            <a:endParaRPr lang="en-AU" dirty="0"/>
          </a:p>
        </p:txBody>
      </p:sp>
      <p:sp>
        <p:nvSpPr>
          <p:cNvPr id="3" name="Content Placeholder 2"/>
          <p:cNvSpPr>
            <a:spLocks noGrp="1"/>
          </p:cNvSpPr>
          <p:nvPr>
            <p:ph idx="1"/>
          </p:nvPr>
        </p:nvSpPr>
        <p:spPr>
          <a:xfrm>
            <a:off x="1023862" y="2286000"/>
            <a:ext cx="9717542" cy="3087216"/>
          </a:xfrm>
        </p:spPr>
        <p:txBody>
          <a:bodyPr>
            <a:normAutofit fontScale="92500"/>
          </a:bodyPr>
          <a:lstStyle/>
          <a:p>
            <a:pPr>
              <a:buFont typeface="Arial" panose="020B0604020202020204" pitchFamily="34" charset="0"/>
              <a:buChar char="•"/>
            </a:pPr>
            <a:r>
              <a:rPr lang="en-AU" sz="2800" dirty="0"/>
              <a:t>The </a:t>
            </a:r>
            <a:r>
              <a:rPr lang="en-AU" sz="2800" dirty="0" smtClean="0"/>
              <a:t>plasma membranes that </a:t>
            </a:r>
            <a:r>
              <a:rPr lang="en-AU" sz="2800" dirty="0"/>
              <a:t>surround cells may be the most important part of the cell. </a:t>
            </a:r>
            <a:endParaRPr lang="en-AU" sz="2800" dirty="0" smtClean="0"/>
          </a:p>
          <a:p>
            <a:pPr>
              <a:buFont typeface="Arial" panose="020B0604020202020204" pitchFamily="34" charset="0"/>
              <a:buChar char="•"/>
            </a:pPr>
            <a:r>
              <a:rPr lang="en-AU" sz="2800" dirty="0"/>
              <a:t>C</a:t>
            </a:r>
            <a:r>
              <a:rPr lang="en-AU" sz="2800" dirty="0" smtClean="0"/>
              <a:t>ellular </a:t>
            </a:r>
            <a:r>
              <a:rPr lang="en-AU" sz="2800" dirty="0"/>
              <a:t>membranes were probably the first structures of living organisms to evolve. The </a:t>
            </a:r>
            <a:r>
              <a:rPr lang="en-AU" sz="2800" u="sng" dirty="0"/>
              <a:t>cell membrane is the only cellular structure that is found in all of the cells of all of the organisms on Earth.</a:t>
            </a:r>
          </a:p>
          <a:p>
            <a:pPr>
              <a:buFont typeface="Arial" panose="020B0604020202020204" pitchFamily="34" charset="0"/>
              <a:buChar char="•"/>
            </a:pPr>
            <a:r>
              <a:rPr lang="en-AU" sz="2800" dirty="0"/>
              <a:t>The basic </a:t>
            </a:r>
            <a:r>
              <a:rPr lang="en-AU" sz="2800" u="sng" dirty="0"/>
              <a:t>function of cell membranes is to separate the vital chemicals and structures needed to maintain the </a:t>
            </a:r>
            <a:r>
              <a:rPr lang="en-AU" sz="2800" u="sng" dirty="0" smtClean="0"/>
              <a:t>cell.</a:t>
            </a:r>
          </a:p>
          <a:p>
            <a:endParaRPr lang="en-AU" dirty="0"/>
          </a:p>
        </p:txBody>
      </p:sp>
    </p:spTree>
    <p:extLst>
      <p:ext uri="{BB962C8B-B14F-4D97-AF65-F5344CB8AC3E}">
        <p14:creationId xmlns:p14="http://schemas.microsoft.com/office/powerpoint/2010/main" val="130022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1460" y="634381"/>
            <a:ext cx="9317898" cy="838140"/>
          </a:xfrm>
        </p:spPr>
        <p:txBody>
          <a:bodyPr/>
          <a:lstStyle/>
          <a:p>
            <a:r>
              <a:rPr lang="en-AU" dirty="0" smtClean="0"/>
              <a:t>Internal vs external</a:t>
            </a:r>
            <a:endParaRPr lang="en-AU" dirty="0"/>
          </a:p>
        </p:txBody>
      </p:sp>
      <p:sp>
        <p:nvSpPr>
          <p:cNvPr id="7" name="Text Placeholder 6"/>
          <p:cNvSpPr>
            <a:spLocks noGrp="1"/>
          </p:cNvSpPr>
          <p:nvPr>
            <p:ph idx="1"/>
          </p:nvPr>
        </p:nvSpPr>
        <p:spPr>
          <a:xfrm>
            <a:off x="1078734" y="1845734"/>
            <a:ext cx="10055781" cy="4023360"/>
          </a:xfrm>
        </p:spPr>
        <p:txBody>
          <a:bodyPr>
            <a:normAutofit/>
          </a:bodyPr>
          <a:lstStyle/>
          <a:p>
            <a:pPr>
              <a:buFont typeface="Arial" panose="020B0604020202020204" pitchFamily="34" charset="0"/>
              <a:buChar char="•"/>
            </a:pPr>
            <a:r>
              <a:rPr lang="en-AU" sz="2800" dirty="0" smtClean="0"/>
              <a:t>The membrane forms a boundary between the internal environment of the cell, the cytoplasm and its external environment.</a:t>
            </a:r>
            <a:endParaRPr lang="en-AU" sz="2800" dirty="0"/>
          </a:p>
          <a:p>
            <a:pPr>
              <a:buFont typeface="Arial" panose="020B0604020202020204" pitchFamily="34" charset="0"/>
              <a:buChar char="•"/>
            </a:pPr>
            <a:r>
              <a:rPr lang="en-AU" sz="2800" u="sng" dirty="0" smtClean="0"/>
              <a:t>The plasma membrane is selectively permeable meaning that it controls the movement of substances into and out of cells.</a:t>
            </a:r>
          </a:p>
          <a:p>
            <a:pPr>
              <a:buFont typeface="Arial" panose="020B0604020202020204" pitchFamily="34" charset="0"/>
              <a:buChar char="•"/>
            </a:pPr>
            <a:r>
              <a:rPr lang="en-AU" sz="2800" dirty="0" smtClean="0"/>
              <a:t>Cells also exchange substances within their external environment in the extracellular fluid.</a:t>
            </a:r>
          </a:p>
        </p:txBody>
      </p:sp>
    </p:spTree>
    <p:extLst>
      <p:ext uri="{BB962C8B-B14F-4D97-AF65-F5344CB8AC3E}">
        <p14:creationId xmlns:p14="http://schemas.microsoft.com/office/powerpoint/2010/main" val="391232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AU" sz="4800" dirty="0">
                <a:solidFill>
                  <a:prstClr val="black">
                    <a:lumMod val="75000"/>
                    <a:lumOff val="25000"/>
                  </a:prstClr>
                </a:solidFill>
              </a:rPr>
              <a:t>Comparison of the concentration of various ions inside and outside the cell</a:t>
            </a:r>
            <a:endParaRPr lang="en-AU" sz="4800" dirty="0"/>
          </a:p>
        </p:txBody>
      </p:sp>
      <p:pic>
        <p:nvPicPr>
          <p:cNvPr id="4" name="Content Placeholder 3"/>
          <p:cNvPicPr>
            <a:picLocks noGrp="1" noChangeAspect="1"/>
          </p:cNvPicPr>
          <p:nvPr>
            <p:ph idx="1"/>
          </p:nvPr>
        </p:nvPicPr>
        <p:blipFill>
          <a:blip r:embed="rId2"/>
          <a:stretch>
            <a:fillRect/>
          </a:stretch>
        </p:blipFill>
        <p:spPr>
          <a:xfrm>
            <a:off x="1096963" y="2745779"/>
            <a:ext cx="10055225" cy="2223692"/>
          </a:xfrm>
          <a:prstGeom prst="rect">
            <a:avLst/>
          </a:prstGeom>
        </p:spPr>
      </p:pic>
    </p:spTree>
    <p:extLst>
      <p:ext uri="{BB962C8B-B14F-4D97-AF65-F5344CB8AC3E}">
        <p14:creationId xmlns:p14="http://schemas.microsoft.com/office/powerpoint/2010/main" val="2768948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197868" y="836712"/>
            <a:ext cx="8229600" cy="706437"/>
          </a:xfrm>
        </p:spPr>
        <p:txBody>
          <a:bodyPr/>
          <a:lstStyle/>
          <a:p>
            <a:r>
              <a:rPr lang="en-GB" altLang="en-US" sz="4000" dirty="0"/>
              <a:t>Permeability </a:t>
            </a:r>
          </a:p>
        </p:txBody>
      </p:sp>
      <p:sp>
        <p:nvSpPr>
          <p:cNvPr id="65539" name="Rectangle 3"/>
          <p:cNvSpPr>
            <a:spLocks noGrp="1" noChangeArrowheads="1"/>
          </p:cNvSpPr>
          <p:nvPr>
            <p:ph type="body" idx="1"/>
          </p:nvPr>
        </p:nvSpPr>
        <p:spPr>
          <a:xfrm>
            <a:off x="1413892" y="2060848"/>
            <a:ext cx="6624736" cy="2880320"/>
          </a:xfrm>
        </p:spPr>
        <p:txBody>
          <a:bodyPr>
            <a:normAutofit/>
          </a:bodyPr>
          <a:lstStyle/>
          <a:p>
            <a:pPr>
              <a:lnSpc>
                <a:spcPct val="80000"/>
              </a:lnSpc>
              <a:buFontTx/>
              <a:buNone/>
            </a:pPr>
            <a:r>
              <a:rPr lang="en-GB" altLang="en-US" sz="2800" dirty="0"/>
              <a:t>	Three factors affect the permeability of a cell membrane:</a:t>
            </a:r>
          </a:p>
          <a:p>
            <a:pPr>
              <a:lnSpc>
                <a:spcPct val="80000"/>
              </a:lnSpc>
              <a:buFont typeface="Wingdings" panose="05000000000000000000" pitchFamily="2" charset="2"/>
              <a:buChar char="§"/>
            </a:pPr>
            <a:r>
              <a:rPr lang="en-GB" altLang="en-US" sz="2800" dirty="0"/>
              <a:t>heat</a:t>
            </a:r>
          </a:p>
          <a:p>
            <a:pPr>
              <a:lnSpc>
                <a:spcPct val="80000"/>
              </a:lnSpc>
              <a:buFont typeface="Wingdings" panose="05000000000000000000" pitchFamily="2" charset="2"/>
              <a:buChar char="§"/>
            </a:pPr>
            <a:r>
              <a:rPr lang="en-GB" altLang="en-US" sz="2800" dirty="0"/>
              <a:t>ethanol</a:t>
            </a:r>
          </a:p>
          <a:p>
            <a:pPr>
              <a:lnSpc>
                <a:spcPct val="80000"/>
              </a:lnSpc>
              <a:buFont typeface="Wingdings" panose="05000000000000000000" pitchFamily="2" charset="2"/>
              <a:buChar char="§"/>
            </a:pPr>
            <a:r>
              <a:rPr lang="en-GB" altLang="en-US" sz="2800" dirty="0"/>
              <a:t>pH</a:t>
            </a:r>
          </a:p>
          <a:p>
            <a:pPr>
              <a:lnSpc>
                <a:spcPct val="80000"/>
              </a:lnSpc>
              <a:buFont typeface="Wingdings" panose="05000000000000000000" pitchFamily="2" charset="2"/>
              <a:buNone/>
            </a:pPr>
            <a:r>
              <a:rPr lang="en-GB" altLang="en-US" sz="2800" dirty="0"/>
              <a:t>	</a:t>
            </a:r>
            <a:endParaRPr lang="en-GB" altLang="en-US" sz="2400" dirty="0"/>
          </a:p>
        </p:txBody>
      </p:sp>
      <p:sp>
        <p:nvSpPr>
          <p:cNvPr id="65540" name="Rectangle 4"/>
          <p:cNvSpPr>
            <a:spLocks noChangeArrowheads="1"/>
          </p:cNvSpPr>
          <p:nvPr/>
        </p:nvSpPr>
        <p:spPr bwMode="auto">
          <a:xfrm>
            <a:off x="7112586" y="2349166"/>
            <a:ext cx="3311725" cy="648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lnSpc>
                <a:spcPct val="80000"/>
              </a:lnSpc>
              <a:buFontTx/>
              <a:buNone/>
            </a:pPr>
            <a:r>
              <a:rPr lang="en-GB" altLang="en-US" sz="2000" dirty="0"/>
              <a:t>	</a:t>
            </a:r>
            <a:endParaRPr lang="en-GB" altLang="en-US" sz="2000" dirty="0">
              <a:solidFill>
                <a:srgbClr val="008000"/>
              </a:solidFill>
            </a:endParaRPr>
          </a:p>
        </p:txBody>
      </p:sp>
    </p:spTree>
    <p:extLst>
      <p:ext uri="{BB962C8B-B14F-4D97-AF65-F5344CB8AC3E}">
        <p14:creationId xmlns:p14="http://schemas.microsoft.com/office/powerpoint/2010/main" val="874309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 calcmode="lin" valueType="num">
                                      <p:cBhvr>
                                        <p:cTn id="7" dur="500" fill="hold"/>
                                        <p:tgtEl>
                                          <p:spTgt spid="65540"/>
                                        </p:tgtEl>
                                        <p:attrNameLst>
                                          <p:attrName>ppt_w</p:attrName>
                                        </p:attrNameLst>
                                      </p:cBhvr>
                                      <p:tavLst>
                                        <p:tav tm="0">
                                          <p:val>
                                            <p:fltVal val="0"/>
                                          </p:val>
                                        </p:tav>
                                        <p:tav tm="100000">
                                          <p:val>
                                            <p:strVal val="#ppt_w"/>
                                          </p:val>
                                        </p:tav>
                                      </p:tavLst>
                                    </p:anim>
                                    <p:anim calcmode="lin" valueType="num">
                                      <p:cBhvr>
                                        <p:cTn id="8" dur="500" fill="hold"/>
                                        <p:tgtEl>
                                          <p:spTgt spid="65540"/>
                                        </p:tgtEl>
                                        <p:attrNameLst>
                                          <p:attrName>ppt_h</p:attrName>
                                        </p:attrNameLst>
                                      </p:cBhvr>
                                      <p:tavLst>
                                        <p:tav tm="0">
                                          <p:val>
                                            <p:fltVal val="0"/>
                                          </p:val>
                                        </p:tav>
                                        <p:tav tm="100000">
                                          <p:val>
                                            <p:strVal val="#ppt_h"/>
                                          </p:val>
                                        </p:tav>
                                      </p:tavLst>
                                    </p:anim>
                                    <p:animEffect transition="in" filter="fade">
                                      <p:cBhvr>
                                        <p:cTn id="9" dur="500"/>
                                        <p:tgtEl>
                                          <p:spTgt spid="65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lysosomes </a:t>
            </a:r>
            <a:endParaRPr lang="en-AU" dirty="0"/>
          </a:p>
        </p:txBody>
      </p:sp>
      <p:sp>
        <p:nvSpPr>
          <p:cNvPr id="3" name="Content Placeholder 2"/>
          <p:cNvSpPr>
            <a:spLocks noGrp="1"/>
          </p:cNvSpPr>
          <p:nvPr>
            <p:ph idx="1"/>
          </p:nvPr>
        </p:nvSpPr>
        <p:spPr>
          <a:xfrm>
            <a:off x="1096994" y="2924944"/>
            <a:ext cx="6408712" cy="2448272"/>
          </a:xfrm>
        </p:spPr>
        <p:txBody>
          <a:bodyPr/>
          <a:lstStyle/>
          <a:p>
            <a:pPr>
              <a:buFont typeface="Arial" panose="020B0604020202020204" pitchFamily="34" charset="0"/>
              <a:buChar char="•"/>
            </a:pPr>
            <a:r>
              <a:rPr lang="en-AU" sz="2800" u="sng" dirty="0" smtClean="0"/>
              <a:t>Lysosomes are specialised vesicles that hold enzymes. </a:t>
            </a:r>
            <a:r>
              <a:rPr lang="en-AU" sz="2800" dirty="0" smtClean="0"/>
              <a:t>These lysosomes float around in the cytoplasm </a:t>
            </a:r>
            <a:r>
              <a:rPr lang="en-AU" sz="2800" dirty="0"/>
              <a:t>u</a:t>
            </a:r>
            <a:r>
              <a:rPr lang="en-AU" sz="2800" dirty="0" smtClean="0"/>
              <a:t>ntil they are needed by the cell. The pH inside and outside of the organelle are able to be different because of this.</a:t>
            </a:r>
          </a:p>
          <a:p>
            <a:pPr>
              <a:buFont typeface="Arial" panose="020B0604020202020204" pitchFamily="34" charset="0"/>
              <a:buChar char="•"/>
            </a:pPr>
            <a:endParaRPr lang="en-AU" dirty="0"/>
          </a:p>
        </p:txBody>
      </p:sp>
      <p:pic>
        <p:nvPicPr>
          <p:cNvPr id="1026" name="Picture 2" descr="Simple Structure of a lysoso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5135" y="2084831"/>
            <a:ext cx="3243853" cy="4054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27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4000" dirty="0" smtClean="0"/>
              <a:t>The cell membrane is a fluid mosaic</a:t>
            </a:r>
            <a:endParaRPr lang="en-AU" sz="4000" dirty="0"/>
          </a:p>
        </p:txBody>
      </p:sp>
      <p:sp>
        <p:nvSpPr>
          <p:cNvPr id="3" name="Content Placeholder 2"/>
          <p:cNvSpPr>
            <a:spLocks noGrp="1"/>
          </p:cNvSpPr>
          <p:nvPr>
            <p:ph idx="1"/>
          </p:nvPr>
        </p:nvSpPr>
        <p:spPr/>
        <p:txBody>
          <a:bodyPr>
            <a:normAutofit/>
          </a:bodyPr>
          <a:lstStyle/>
          <a:p>
            <a:r>
              <a:rPr lang="en-AU" u="sng" dirty="0" smtClean="0"/>
              <a:t>The plasma membrane is consisted of four different type of molecules:</a:t>
            </a:r>
          </a:p>
          <a:p>
            <a:pPr marL="457200" indent="-457200">
              <a:buFont typeface="+mj-lt"/>
              <a:buAutoNum type="arabicPeriod"/>
            </a:pPr>
            <a:r>
              <a:rPr lang="en-AU" u="sng" dirty="0" smtClean="0"/>
              <a:t>Phospholipids.</a:t>
            </a:r>
          </a:p>
          <a:p>
            <a:pPr marL="457200" indent="-457200">
              <a:buFont typeface="+mj-lt"/>
              <a:buAutoNum type="arabicPeriod"/>
            </a:pPr>
            <a:r>
              <a:rPr lang="en-AU" u="sng" dirty="0" smtClean="0"/>
              <a:t>Cholesterol.</a:t>
            </a:r>
          </a:p>
          <a:p>
            <a:pPr marL="457200" indent="-457200">
              <a:buFont typeface="+mj-lt"/>
              <a:buAutoNum type="arabicPeriod"/>
            </a:pPr>
            <a:r>
              <a:rPr lang="en-AU" u="sng" dirty="0" smtClean="0"/>
              <a:t>Proteins.</a:t>
            </a:r>
          </a:p>
          <a:p>
            <a:pPr marL="457200" indent="-457200">
              <a:buFont typeface="+mj-lt"/>
              <a:buAutoNum type="arabicPeriod"/>
            </a:pPr>
            <a:r>
              <a:rPr lang="en-AU" u="sng" dirty="0" smtClean="0"/>
              <a:t>Carbohydrates.</a:t>
            </a:r>
          </a:p>
          <a:p>
            <a:pPr marL="0" indent="0">
              <a:buNone/>
            </a:pPr>
            <a:endParaRPr lang="en-AU" dirty="0"/>
          </a:p>
          <a:p>
            <a:pPr marL="0" indent="0">
              <a:buNone/>
            </a:pPr>
            <a:r>
              <a:rPr lang="en-AU" dirty="0" smtClean="0"/>
              <a:t>These molecules are arranged into the </a:t>
            </a:r>
            <a:r>
              <a:rPr lang="en-AU" b="1" dirty="0" smtClean="0"/>
              <a:t>Fluid Mosaic Model</a:t>
            </a:r>
            <a:r>
              <a:rPr lang="en-AU" dirty="0" smtClean="0"/>
              <a:t>. Mosaic referring to something that contains many different parts.</a:t>
            </a:r>
            <a:endParaRPr lang="en-AU" dirty="0"/>
          </a:p>
        </p:txBody>
      </p:sp>
    </p:spTree>
    <p:extLst>
      <p:ext uri="{BB962C8B-B14F-4D97-AF65-F5344CB8AC3E}">
        <p14:creationId xmlns:p14="http://schemas.microsoft.com/office/powerpoint/2010/main" val="89406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Fluid Mosaic model</a:t>
            </a:r>
            <a:endParaRPr lang="en-AU" dirty="0"/>
          </a:p>
        </p:txBody>
      </p:sp>
      <p:sp>
        <p:nvSpPr>
          <p:cNvPr id="3" name="Content Placeholder 2"/>
          <p:cNvSpPr>
            <a:spLocks noGrp="1"/>
          </p:cNvSpPr>
          <p:nvPr>
            <p:ph idx="1"/>
          </p:nvPr>
        </p:nvSpPr>
        <p:spPr>
          <a:xfrm>
            <a:off x="909837" y="2627834"/>
            <a:ext cx="5040560" cy="4230166"/>
          </a:xfrm>
        </p:spPr>
        <p:txBody>
          <a:bodyPr/>
          <a:lstStyle/>
          <a:p>
            <a:pPr>
              <a:buFont typeface="Arial" panose="020B0604020202020204" pitchFamily="34" charset="0"/>
              <a:buChar char="•"/>
            </a:pPr>
            <a:r>
              <a:rPr lang="en-AU" dirty="0"/>
              <a:t>The </a:t>
            </a:r>
            <a:r>
              <a:rPr lang="en-AU" b="1" u="sng" dirty="0"/>
              <a:t>fluid mosaic model</a:t>
            </a:r>
            <a:r>
              <a:rPr lang="en-AU" u="sng" dirty="0"/>
              <a:t> describes the structure of a cell </a:t>
            </a:r>
            <a:r>
              <a:rPr lang="en-AU" u="sng" dirty="0" smtClean="0"/>
              <a:t>membrane.</a:t>
            </a:r>
          </a:p>
          <a:p>
            <a:pPr>
              <a:buFont typeface="Arial" panose="020B0604020202020204" pitchFamily="34" charset="0"/>
              <a:buChar char="•"/>
            </a:pPr>
            <a:r>
              <a:rPr lang="en-AU" u="sng" dirty="0" smtClean="0"/>
              <a:t>The </a:t>
            </a:r>
            <a:r>
              <a:rPr lang="en-AU" u="sng" dirty="0"/>
              <a:t>cell membrane is not solid.</a:t>
            </a:r>
            <a:r>
              <a:rPr lang="en-AU" dirty="0"/>
              <a:t> It is flexible and </a:t>
            </a:r>
            <a:r>
              <a:rPr lang="en-AU" dirty="0" smtClean="0"/>
              <a:t>all </a:t>
            </a:r>
            <a:r>
              <a:rPr lang="en-AU" dirty="0"/>
              <a:t>the individual molecules are just floating in a fluid medium, and they are all capable of moving sideways within the cell membrane. </a:t>
            </a:r>
          </a:p>
        </p:txBody>
      </p:sp>
      <p:pic>
        <p:nvPicPr>
          <p:cNvPr id="1028" name="Picture 4" descr="Image result for importance of the plasma membra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0396" y="2492896"/>
            <a:ext cx="5723545" cy="3360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12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b="1">
                <a:solidFill>
                  <a:srgbClr val="339933"/>
                </a:solidFill>
              </a:rPr>
              <a:t>The bi-layer</a:t>
            </a:r>
          </a:p>
        </p:txBody>
      </p:sp>
      <p:pic>
        <p:nvPicPr>
          <p:cNvPr id="6149" name="Picture 5" descr="FIG 3"/>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911775" y="2205038"/>
            <a:ext cx="7789422" cy="32369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50" name="Text Box 6"/>
          <p:cNvSpPr txBox="1">
            <a:spLocks noChangeArrowheads="1"/>
          </p:cNvSpPr>
          <p:nvPr/>
        </p:nvSpPr>
        <p:spPr bwMode="auto">
          <a:xfrm>
            <a:off x="4848021" y="2054225"/>
            <a:ext cx="3358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a:solidFill>
                  <a:schemeClr val="accent2"/>
                </a:solidFill>
              </a:rPr>
              <a:t>TISSUE FLUID</a:t>
            </a:r>
          </a:p>
        </p:txBody>
      </p:sp>
      <p:sp>
        <p:nvSpPr>
          <p:cNvPr id="6151" name="Text Box 7"/>
          <p:cNvSpPr txBox="1">
            <a:spLocks noChangeArrowheads="1"/>
          </p:cNvSpPr>
          <p:nvPr/>
        </p:nvSpPr>
        <p:spPr bwMode="auto">
          <a:xfrm>
            <a:off x="4943247" y="5654675"/>
            <a:ext cx="297525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b="1">
                <a:solidFill>
                  <a:schemeClr val="accent2"/>
                </a:solidFill>
              </a:rPr>
              <a:t>CYTOPLASM</a:t>
            </a:r>
          </a:p>
        </p:txBody>
      </p:sp>
      <p:sp>
        <p:nvSpPr>
          <p:cNvPr id="6152" name="AutoShape 8"/>
          <p:cNvSpPr>
            <a:spLocks/>
          </p:cNvSpPr>
          <p:nvPr/>
        </p:nvSpPr>
        <p:spPr bwMode="auto">
          <a:xfrm flipH="1">
            <a:off x="3119155" y="3716339"/>
            <a:ext cx="192567" cy="1368425"/>
          </a:xfrm>
          <a:prstGeom prst="rightBracket">
            <a:avLst>
              <a:gd name="adj" fmla="val 7893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sz="1800">
              <a:solidFill>
                <a:schemeClr val="hlink"/>
              </a:solidFill>
            </a:endParaRPr>
          </a:p>
        </p:txBody>
      </p:sp>
      <p:sp>
        <p:nvSpPr>
          <p:cNvPr id="6153" name="Text Box 9"/>
          <p:cNvSpPr txBox="1">
            <a:spLocks noChangeArrowheads="1"/>
          </p:cNvSpPr>
          <p:nvPr/>
        </p:nvSpPr>
        <p:spPr bwMode="auto">
          <a:xfrm>
            <a:off x="1" y="4141789"/>
            <a:ext cx="311915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en-US" b="1">
                <a:solidFill>
                  <a:schemeClr val="accent2"/>
                </a:solidFill>
              </a:rPr>
              <a:t>PHOSPHOLIPID</a:t>
            </a:r>
          </a:p>
          <a:p>
            <a:pPr algn="r">
              <a:spcBef>
                <a:spcPct val="50000"/>
              </a:spcBef>
            </a:pPr>
            <a:r>
              <a:rPr lang="en-US" altLang="en-US" b="1">
                <a:solidFill>
                  <a:schemeClr val="accent2"/>
                </a:solidFill>
              </a:rPr>
              <a:t>BI-LAYER</a:t>
            </a:r>
          </a:p>
        </p:txBody>
      </p:sp>
      <p:sp>
        <p:nvSpPr>
          <p:cNvPr id="6155" name="Text Box 11"/>
          <p:cNvSpPr txBox="1">
            <a:spLocks noChangeArrowheads="1"/>
          </p:cNvSpPr>
          <p:nvPr/>
        </p:nvSpPr>
        <p:spPr bwMode="auto">
          <a:xfrm>
            <a:off x="8589314" y="1773239"/>
            <a:ext cx="249489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b="1">
                <a:solidFill>
                  <a:schemeClr val="hlink"/>
                </a:solidFill>
              </a:rPr>
              <a:t>Hydrophilic phosphate</a:t>
            </a:r>
          </a:p>
        </p:txBody>
      </p:sp>
      <p:sp>
        <p:nvSpPr>
          <p:cNvPr id="6156" name="Text Box 12"/>
          <p:cNvSpPr txBox="1">
            <a:spLocks noChangeArrowheads="1"/>
          </p:cNvSpPr>
          <p:nvPr/>
        </p:nvSpPr>
        <p:spPr bwMode="auto">
          <a:xfrm>
            <a:off x="9933047" y="2636839"/>
            <a:ext cx="23996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b="1">
                <a:solidFill>
                  <a:schemeClr val="hlink"/>
                </a:solidFill>
              </a:rPr>
              <a:t>Hydrophobic lipid tail</a:t>
            </a:r>
          </a:p>
        </p:txBody>
      </p:sp>
      <p:sp>
        <p:nvSpPr>
          <p:cNvPr id="6157" name="Line 13"/>
          <p:cNvSpPr>
            <a:spLocks noChangeShapeType="1"/>
          </p:cNvSpPr>
          <p:nvPr/>
        </p:nvSpPr>
        <p:spPr bwMode="auto">
          <a:xfrm flipV="1">
            <a:off x="9935163" y="3357563"/>
            <a:ext cx="478242" cy="431800"/>
          </a:xfrm>
          <a:prstGeom prst="line">
            <a:avLst/>
          </a:prstGeom>
          <a:noFill/>
          <a:ln w="28575">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6158" name="Line 14"/>
          <p:cNvSpPr>
            <a:spLocks noChangeShapeType="1"/>
          </p:cNvSpPr>
          <p:nvPr/>
        </p:nvSpPr>
        <p:spPr bwMode="auto">
          <a:xfrm flipV="1">
            <a:off x="9550030" y="2636839"/>
            <a:ext cx="287792" cy="936625"/>
          </a:xfrm>
          <a:prstGeom prst="line">
            <a:avLst/>
          </a:prstGeom>
          <a:noFill/>
          <a:ln w="28575">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6159" name="Line 15"/>
          <p:cNvSpPr>
            <a:spLocks noChangeShapeType="1"/>
          </p:cNvSpPr>
          <p:nvPr/>
        </p:nvSpPr>
        <p:spPr bwMode="auto">
          <a:xfrm flipV="1">
            <a:off x="10030387" y="3357563"/>
            <a:ext cx="383018" cy="863600"/>
          </a:xfrm>
          <a:prstGeom prst="line">
            <a:avLst/>
          </a:prstGeom>
          <a:noFill/>
          <a:ln w="28575">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6161" name="Line 17"/>
          <p:cNvSpPr>
            <a:spLocks noChangeShapeType="1"/>
          </p:cNvSpPr>
          <p:nvPr/>
        </p:nvSpPr>
        <p:spPr bwMode="auto">
          <a:xfrm flipH="1" flipV="1">
            <a:off x="3406947" y="2708275"/>
            <a:ext cx="1248508" cy="1225550"/>
          </a:xfrm>
          <a:prstGeom prst="line">
            <a:avLst/>
          </a:prstGeom>
          <a:noFill/>
          <a:ln w="28575">
            <a:solidFill>
              <a:schemeClr va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6163" name="Text Box 19"/>
          <p:cNvSpPr txBox="1">
            <a:spLocks noChangeArrowheads="1"/>
          </p:cNvSpPr>
          <p:nvPr/>
        </p:nvSpPr>
        <p:spPr bwMode="auto">
          <a:xfrm>
            <a:off x="2160555" y="1844676"/>
            <a:ext cx="249489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hlink"/>
                </a:solidFill>
              </a:rPr>
              <a:t>Membrane protein</a:t>
            </a:r>
          </a:p>
        </p:txBody>
      </p:sp>
    </p:spTree>
    <p:extLst>
      <p:ext uri="{BB962C8B-B14F-4D97-AF65-F5344CB8AC3E}">
        <p14:creationId xmlns:p14="http://schemas.microsoft.com/office/powerpoint/2010/main" val="13016776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3861" y="585216"/>
            <a:ext cx="9717541" cy="611536"/>
          </a:xfrm>
        </p:spPr>
        <p:txBody>
          <a:bodyPr>
            <a:normAutofit fontScale="90000"/>
          </a:bodyPr>
          <a:lstStyle/>
          <a:p>
            <a:r>
              <a:rPr lang="en-AU" dirty="0" smtClean="0"/>
              <a:t>Phospholipids</a:t>
            </a:r>
            <a:endParaRPr lang="en-AU" dirty="0"/>
          </a:p>
        </p:txBody>
      </p:sp>
      <p:sp>
        <p:nvSpPr>
          <p:cNvPr id="3" name="Content Placeholder 2"/>
          <p:cNvSpPr>
            <a:spLocks noGrp="1"/>
          </p:cNvSpPr>
          <p:nvPr>
            <p:ph idx="1"/>
          </p:nvPr>
        </p:nvSpPr>
        <p:spPr>
          <a:xfrm>
            <a:off x="765820" y="2060848"/>
            <a:ext cx="5040560" cy="4104456"/>
          </a:xfrm>
        </p:spPr>
        <p:txBody>
          <a:bodyPr>
            <a:normAutofit/>
          </a:bodyPr>
          <a:lstStyle/>
          <a:p>
            <a:pPr>
              <a:buFont typeface="Arial" panose="020B0604020202020204" pitchFamily="34" charset="0"/>
              <a:buChar char="•"/>
            </a:pPr>
            <a:r>
              <a:rPr lang="en-AU" sz="2400" dirty="0" smtClean="0"/>
              <a:t>A </a:t>
            </a:r>
            <a:r>
              <a:rPr lang="en-AU" sz="2400" dirty="0"/>
              <a:t>single phospholipid molecule has two different ends: a head and a tail</a:t>
            </a:r>
            <a:r>
              <a:rPr lang="en-AU" sz="2400" u="sng" dirty="0"/>
              <a:t>. The head end contains a phosphate group and is </a:t>
            </a:r>
            <a:r>
              <a:rPr lang="en-AU" sz="2400" b="1" u="sng" dirty="0"/>
              <a:t>hydrophilic</a:t>
            </a:r>
            <a:r>
              <a:rPr lang="en-AU" sz="2400" u="sng" dirty="0"/>
              <a:t>. </a:t>
            </a:r>
            <a:endParaRPr lang="en-AU" sz="2400" u="sng" dirty="0" smtClean="0"/>
          </a:p>
          <a:p>
            <a:pPr>
              <a:buFont typeface="Arial" panose="020B0604020202020204" pitchFamily="34" charset="0"/>
              <a:buChar char="•"/>
            </a:pPr>
            <a:r>
              <a:rPr lang="en-AU" sz="2400" u="sng" dirty="0"/>
              <a:t>The tail end is made up of </a:t>
            </a:r>
            <a:r>
              <a:rPr lang="en-AU" sz="2400" b="1" u="sng" dirty="0" smtClean="0"/>
              <a:t>fatty </a:t>
            </a:r>
            <a:r>
              <a:rPr lang="en-AU" sz="2400" b="1" u="sng" dirty="0"/>
              <a:t>acid chains</a:t>
            </a:r>
            <a:r>
              <a:rPr lang="en-AU" sz="2400" u="sng" dirty="0"/>
              <a:t>. These chains are </a:t>
            </a:r>
            <a:r>
              <a:rPr lang="en-AU" sz="2400" b="1" u="sng" dirty="0" smtClean="0"/>
              <a:t>hydrophobic</a:t>
            </a:r>
            <a:r>
              <a:rPr lang="en-AU" sz="2400" u="sng" dirty="0" smtClean="0"/>
              <a:t>.</a:t>
            </a:r>
          </a:p>
          <a:p>
            <a:pPr>
              <a:buFont typeface="Arial" panose="020B0604020202020204" pitchFamily="34" charset="0"/>
              <a:buChar char="•"/>
            </a:pPr>
            <a:r>
              <a:rPr lang="en-AU" sz="2400" dirty="0" smtClean="0"/>
              <a:t>The </a:t>
            </a:r>
            <a:r>
              <a:rPr lang="en-AU" sz="2400" dirty="0"/>
              <a:t>phospholipids </a:t>
            </a:r>
            <a:r>
              <a:rPr lang="en-AU" sz="2400" dirty="0" smtClean="0"/>
              <a:t>are </a:t>
            </a:r>
            <a:r>
              <a:rPr lang="en-AU" sz="2400" dirty="0"/>
              <a:t>arranged in </a:t>
            </a:r>
            <a:r>
              <a:rPr lang="en-AU" sz="2400" u="sng" dirty="0"/>
              <a:t>a double layer called the </a:t>
            </a:r>
            <a:r>
              <a:rPr lang="en-AU" sz="2400" b="1" u="sng" dirty="0"/>
              <a:t>lipid bilayer</a:t>
            </a:r>
            <a:r>
              <a:rPr lang="en-AU" sz="2400" dirty="0"/>
              <a:t>. </a:t>
            </a:r>
          </a:p>
        </p:txBody>
      </p:sp>
      <p:pic>
        <p:nvPicPr>
          <p:cNvPr id="2053" name="Picture 5" descr="Lipid Bilay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2524" y="1853124"/>
            <a:ext cx="4244052" cy="3751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9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5350" y="620688"/>
            <a:ext cx="9717541" cy="1043584"/>
          </a:xfrm>
        </p:spPr>
        <p:txBody>
          <a:bodyPr>
            <a:normAutofit/>
          </a:bodyPr>
          <a:lstStyle/>
          <a:p>
            <a:r>
              <a:rPr lang="en-AU" sz="6000" dirty="0" smtClean="0"/>
              <a:t>Cholesterol</a:t>
            </a:r>
            <a:endParaRPr lang="en-AU" sz="6000" dirty="0"/>
          </a:p>
        </p:txBody>
      </p:sp>
      <p:sp>
        <p:nvSpPr>
          <p:cNvPr id="3" name="Content Placeholder 2"/>
          <p:cNvSpPr>
            <a:spLocks noGrp="1"/>
          </p:cNvSpPr>
          <p:nvPr>
            <p:ph idx="1"/>
          </p:nvPr>
        </p:nvSpPr>
        <p:spPr>
          <a:xfrm>
            <a:off x="1197868" y="1889448"/>
            <a:ext cx="9717542" cy="4968552"/>
          </a:xfrm>
        </p:spPr>
        <p:txBody>
          <a:bodyPr>
            <a:normAutofit/>
          </a:bodyPr>
          <a:lstStyle/>
          <a:p>
            <a:pPr>
              <a:buFont typeface="Arial" panose="020B0604020202020204" pitchFamily="34" charset="0"/>
              <a:buChar char="•"/>
            </a:pPr>
            <a:r>
              <a:rPr lang="en-AU" sz="3600" b="1" dirty="0"/>
              <a:t>cholesterol </a:t>
            </a:r>
            <a:r>
              <a:rPr lang="en-AU" sz="3600" b="1" dirty="0" smtClean="0"/>
              <a:t>molecules </a:t>
            </a:r>
          </a:p>
          <a:p>
            <a:pPr lvl="2">
              <a:buFont typeface="Arial" panose="020B0604020202020204" pitchFamily="34" charset="0"/>
              <a:buChar char="•"/>
            </a:pPr>
            <a:r>
              <a:rPr lang="en-AU" sz="3600" dirty="0"/>
              <a:t>A</a:t>
            </a:r>
            <a:r>
              <a:rPr lang="en-AU" sz="3600" dirty="0" smtClean="0"/>
              <a:t>re </a:t>
            </a:r>
            <a:r>
              <a:rPr lang="en-AU" sz="3600" u="sng" dirty="0" smtClean="0"/>
              <a:t>hydrophobic</a:t>
            </a:r>
            <a:r>
              <a:rPr lang="en-AU" sz="3600" dirty="0" smtClean="0"/>
              <a:t>. </a:t>
            </a:r>
          </a:p>
          <a:p>
            <a:pPr lvl="2">
              <a:buFont typeface="Arial" panose="020B0604020202020204" pitchFamily="34" charset="0"/>
              <a:buChar char="•"/>
            </a:pPr>
            <a:r>
              <a:rPr lang="en-AU" sz="3600" u="sng" dirty="0"/>
              <a:t>S</a:t>
            </a:r>
            <a:r>
              <a:rPr lang="en-AU" sz="3600" u="sng" dirty="0" smtClean="0"/>
              <a:t>trengthen </a:t>
            </a:r>
            <a:r>
              <a:rPr lang="en-AU" sz="3600" u="sng" dirty="0"/>
              <a:t>the membrane </a:t>
            </a:r>
            <a:r>
              <a:rPr lang="en-AU" sz="3600" dirty="0"/>
              <a:t>by preventing some small molecules from crossing it. </a:t>
            </a:r>
            <a:endParaRPr lang="en-AU" sz="3600" dirty="0" smtClean="0"/>
          </a:p>
          <a:p>
            <a:pPr lvl="2">
              <a:buFont typeface="Arial" panose="020B0604020202020204" pitchFamily="34" charset="0"/>
              <a:buChar char="•"/>
            </a:pPr>
            <a:r>
              <a:rPr lang="en-AU" sz="3600" u="sng" dirty="0" smtClean="0"/>
              <a:t>They ensure that </a:t>
            </a:r>
            <a:r>
              <a:rPr lang="en-AU" sz="3600" u="sng" dirty="0"/>
              <a:t>the cell membrane stays fluid and flexible</a:t>
            </a:r>
            <a:r>
              <a:rPr lang="en-AU" sz="3600" dirty="0" smtClean="0"/>
              <a:t>.</a:t>
            </a:r>
            <a:endParaRPr lang="en-AU" sz="3600" dirty="0"/>
          </a:p>
        </p:txBody>
      </p:sp>
    </p:spTree>
    <p:extLst>
      <p:ext uri="{BB962C8B-B14F-4D97-AF65-F5344CB8AC3E}">
        <p14:creationId xmlns:p14="http://schemas.microsoft.com/office/powerpoint/2010/main" val="454360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5400" dirty="0" smtClean="0"/>
              <a:t>PROTIENS</a:t>
            </a:r>
            <a:endParaRPr lang="en-AU" sz="5400"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AU" sz="2800" b="1" dirty="0"/>
              <a:t>Proteins</a:t>
            </a:r>
          </a:p>
          <a:p>
            <a:pPr lvl="2">
              <a:buFont typeface="Arial" panose="020B0604020202020204" pitchFamily="34" charset="0"/>
              <a:buChar char="•"/>
            </a:pPr>
            <a:r>
              <a:rPr lang="en-AU" sz="2800" u="sng" dirty="0"/>
              <a:t>proteins located in the lipid bilayer and are called </a:t>
            </a:r>
            <a:r>
              <a:rPr lang="en-AU" sz="2800" b="1" u="sng" dirty="0"/>
              <a:t>integral proteins</a:t>
            </a:r>
            <a:r>
              <a:rPr lang="en-AU" sz="2800" dirty="0"/>
              <a:t>. </a:t>
            </a:r>
          </a:p>
          <a:p>
            <a:pPr lvl="2">
              <a:buFont typeface="Arial" panose="020B0604020202020204" pitchFamily="34" charset="0"/>
              <a:buChar char="•"/>
            </a:pPr>
            <a:r>
              <a:rPr lang="en-AU" sz="2800" dirty="0"/>
              <a:t>Other proteins, called </a:t>
            </a:r>
            <a:r>
              <a:rPr lang="en-AU" sz="2800" b="1" u="sng" dirty="0"/>
              <a:t>peripheral proteins</a:t>
            </a:r>
            <a:r>
              <a:rPr lang="en-AU" sz="2800" u="sng" dirty="0"/>
              <a:t>, are outside</a:t>
            </a:r>
            <a:r>
              <a:rPr lang="en-AU" sz="2800" dirty="0"/>
              <a:t> of the lipid bilayer.</a:t>
            </a:r>
          </a:p>
        </p:txBody>
      </p:sp>
    </p:spTree>
    <p:extLst>
      <p:ext uri="{BB962C8B-B14F-4D97-AF65-F5344CB8AC3E}">
        <p14:creationId xmlns:p14="http://schemas.microsoft.com/office/powerpoint/2010/main" val="217928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5400" dirty="0" smtClean="0"/>
              <a:t>CARBOHYDRATES</a:t>
            </a:r>
            <a:endParaRPr lang="en-AU" sz="5400" dirty="0"/>
          </a:p>
        </p:txBody>
      </p:sp>
      <p:sp>
        <p:nvSpPr>
          <p:cNvPr id="3" name="Content Placeholder 2"/>
          <p:cNvSpPr>
            <a:spLocks noGrp="1"/>
          </p:cNvSpPr>
          <p:nvPr>
            <p:ph idx="1"/>
          </p:nvPr>
        </p:nvSpPr>
        <p:spPr>
          <a:xfrm>
            <a:off x="1096993" y="2276872"/>
            <a:ext cx="10055781" cy="4023360"/>
          </a:xfrm>
        </p:spPr>
        <p:txBody>
          <a:bodyPr>
            <a:normAutofit/>
          </a:bodyPr>
          <a:lstStyle/>
          <a:p>
            <a:pPr>
              <a:buFont typeface="Arial" panose="020B0604020202020204" pitchFamily="34" charset="0"/>
              <a:buChar char="•"/>
            </a:pPr>
            <a:r>
              <a:rPr lang="en-AU" sz="2800" b="1" dirty="0"/>
              <a:t>Carbohydrates</a:t>
            </a:r>
            <a:r>
              <a:rPr lang="en-AU" sz="2800" b="1" dirty="0">
                <a:solidFill>
                  <a:srgbClr val="FF0000"/>
                </a:solidFill>
              </a:rPr>
              <a:t> </a:t>
            </a:r>
          </a:p>
          <a:p>
            <a:pPr lvl="2">
              <a:buFont typeface="Arial" panose="020B0604020202020204" pitchFamily="34" charset="0"/>
              <a:buChar char="•"/>
            </a:pPr>
            <a:r>
              <a:rPr lang="en-AU" sz="2800" dirty="0"/>
              <a:t>Found on the outer surface of all eukaryotic cell membranes. Either attached to the membrane proteins or phospholipids.</a:t>
            </a:r>
          </a:p>
          <a:p>
            <a:pPr lvl="2">
              <a:buFont typeface="Arial" panose="020B0604020202020204" pitchFamily="34" charset="0"/>
              <a:buChar char="•"/>
            </a:pPr>
            <a:r>
              <a:rPr lang="en-AU" sz="2800" u="sng" dirty="0"/>
              <a:t>Proteins with carbohydrates </a:t>
            </a:r>
            <a:r>
              <a:rPr lang="en-AU" sz="2800" dirty="0"/>
              <a:t>attached are called </a:t>
            </a:r>
            <a:r>
              <a:rPr lang="en-AU" sz="2800" u="sng" dirty="0"/>
              <a:t>glycoproteins</a:t>
            </a:r>
            <a:r>
              <a:rPr lang="en-AU" sz="2800" dirty="0"/>
              <a:t>.</a:t>
            </a:r>
          </a:p>
          <a:p>
            <a:pPr lvl="2">
              <a:buFont typeface="Arial" panose="020B0604020202020204" pitchFamily="34" charset="0"/>
              <a:buChar char="•"/>
            </a:pPr>
            <a:r>
              <a:rPr lang="en-AU" sz="2800" u="sng" dirty="0"/>
              <a:t>Phospholipids with carbohydrates </a:t>
            </a:r>
            <a:r>
              <a:rPr lang="en-AU" sz="2800" dirty="0"/>
              <a:t>attached are called </a:t>
            </a:r>
            <a:r>
              <a:rPr lang="en-AU" sz="2800" u="sng" dirty="0"/>
              <a:t>glycolipids</a:t>
            </a:r>
            <a:r>
              <a:rPr lang="en-AU" sz="2800" dirty="0"/>
              <a:t>.</a:t>
            </a:r>
          </a:p>
          <a:p>
            <a:pPr lvl="2">
              <a:buFont typeface="Arial" panose="020B0604020202020204" pitchFamily="34" charset="0"/>
              <a:buChar char="•"/>
            </a:pPr>
            <a:r>
              <a:rPr lang="en-AU" sz="2800" dirty="0"/>
              <a:t>The </a:t>
            </a:r>
            <a:r>
              <a:rPr lang="en-AU" sz="2800" u="sng" dirty="0" err="1"/>
              <a:t>glycocalyx</a:t>
            </a:r>
            <a:r>
              <a:rPr lang="en-AU" sz="2800" u="sng" dirty="0"/>
              <a:t> is involved in protection and cell recognition, and antigen</a:t>
            </a:r>
            <a:r>
              <a:rPr lang="en-AU" sz="2800" dirty="0"/>
              <a:t>s.</a:t>
            </a:r>
          </a:p>
        </p:txBody>
      </p:sp>
    </p:spTree>
    <p:extLst>
      <p:ext uri="{BB962C8B-B14F-4D97-AF65-F5344CB8AC3E}">
        <p14:creationId xmlns:p14="http://schemas.microsoft.com/office/powerpoint/2010/main" val="3078312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086" name="Group 2582"/>
          <p:cNvGrpSpPr>
            <a:grpSpLocks/>
          </p:cNvGrpSpPr>
          <p:nvPr/>
        </p:nvGrpSpPr>
        <p:grpSpPr bwMode="auto">
          <a:xfrm>
            <a:off x="2208212" y="2852738"/>
            <a:ext cx="7272338" cy="1325562"/>
            <a:chOff x="432" y="1872"/>
            <a:chExt cx="4581" cy="835"/>
          </a:xfrm>
        </p:grpSpPr>
        <p:grpSp>
          <p:nvGrpSpPr>
            <p:cNvPr id="23051" name="Group 1547"/>
            <p:cNvGrpSpPr>
              <a:grpSpLocks/>
            </p:cNvGrpSpPr>
            <p:nvPr/>
          </p:nvGrpSpPr>
          <p:grpSpPr bwMode="auto">
            <a:xfrm>
              <a:off x="657" y="1872"/>
              <a:ext cx="4356" cy="546"/>
              <a:chOff x="22" y="2748"/>
              <a:chExt cx="5491" cy="909"/>
            </a:xfrm>
          </p:grpSpPr>
          <p:grpSp>
            <p:nvGrpSpPr>
              <p:cNvPr id="23052" name="Group 1548"/>
              <p:cNvGrpSpPr>
                <a:grpSpLocks/>
              </p:cNvGrpSpPr>
              <p:nvPr/>
            </p:nvGrpSpPr>
            <p:grpSpPr bwMode="auto">
              <a:xfrm>
                <a:off x="22" y="2750"/>
                <a:ext cx="317" cy="907"/>
                <a:chOff x="567" y="2750"/>
                <a:chExt cx="317" cy="907"/>
              </a:xfrm>
            </p:grpSpPr>
            <p:sp>
              <p:nvSpPr>
                <p:cNvPr id="23053" name="Freeform 154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54" name="Freeform 155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55" name="Oval 155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56" name="Group 1552"/>
              <p:cNvGrpSpPr>
                <a:grpSpLocks/>
              </p:cNvGrpSpPr>
              <p:nvPr/>
            </p:nvGrpSpPr>
            <p:grpSpPr bwMode="auto">
              <a:xfrm>
                <a:off x="328" y="2750"/>
                <a:ext cx="317" cy="907"/>
                <a:chOff x="567" y="2750"/>
                <a:chExt cx="317" cy="907"/>
              </a:xfrm>
            </p:grpSpPr>
            <p:sp>
              <p:nvSpPr>
                <p:cNvPr id="23057" name="Freeform 155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58" name="Freeform 155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59" name="Oval 155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60" name="Group 1556"/>
              <p:cNvGrpSpPr>
                <a:grpSpLocks/>
              </p:cNvGrpSpPr>
              <p:nvPr/>
            </p:nvGrpSpPr>
            <p:grpSpPr bwMode="auto">
              <a:xfrm>
                <a:off x="1237" y="2750"/>
                <a:ext cx="317" cy="907"/>
                <a:chOff x="567" y="2750"/>
                <a:chExt cx="317" cy="907"/>
              </a:xfrm>
            </p:grpSpPr>
            <p:sp>
              <p:nvSpPr>
                <p:cNvPr id="23061" name="Freeform 155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62" name="Freeform 155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63" name="Oval 155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64" name="Group 1560"/>
              <p:cNvGrpSpPr>
                <a:grpSpLocks/>
              </p:cNvGrpSpPr>
              <p:nvPr/>
            </p:nvGrpSpPr>
            <p:grpSpPr bwMode="auto">
              <a:xfrm>
                <a:off x="929" y="2750"/>
                <a:ext cx="317" cy="907"/>
                <a:chOff x="567" y="2750"/>
                <a:chExt cx="317" cy="907"/>
              </a:xfrm>
            </p:grpSpPr>
            <p:sp>
              <p:nvSpPr>
                <p:cNvPr id="23065" name="Freeform 156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66" name="Freeform 156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67" name="Oval 156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68" name="Group 1564"/>
              <p:cNvGrpSpPr>
                <a:grpSpLocks/>
              </p:cNvGrpSpPr>
              <p:nvPr/>
            </p:nvGrpSpPr>
            <p:grpSpPr bwMode="auto">
              <a:xfrm>
                <a:off x="635" y="2750"/>
                <a:ext cx="317" cy="907"/>
                <a:chOff x="567" y="2750"/>
                <a:chExt cx="317" cy="907"/>
              </a:xfrm>
            </p:grpSpPr>
            <p:sp>
              <p:nvSpPr>
                <p:cNvPr id="23069" name="Freeform 156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70" name="Freeform 156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71" name="Oval 156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72" name="Group 1568"/>
              <p:cNvGrpSpPr>
                <a:grpSpLocks/>
              </p:cNvGrpSpPr>
              <p:nvPr/>
            </p:nvGrpSpPr>
            <p:grpSpPr bwMode="auto">
              <a:xfrm>
                <a:off x="1547" y="2750"/>
                <a:ext cx="317" cy="907"/>
                <a:chOff x="567" y="2750"/>
                <a:chExt cx="317" cy="907"/>
              </a:xfrm>
            </p:grpSpPr>
            <p:sp>
              <p:nvSpPr>
                <p:cNvPr id="23073" name="Freeform 156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74" name="Freeform 157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75" name="Oval 157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76" name="Group 1572"/>
              <p:cNvGrpSpPr>
                <a:grpSpLocks/>
              </p:cNvGrpSpPr>
              <p:nvPr/>
            </p:nvGrpSpPr>
            <p:grpSpPr bwMode="auto">
              <a:xfrm>
                <a:off x="1853" y="2750"/>
                <a:ext cx="317" cy="907"/>
                <a:chOff x="567" y="2750"/>
                <a:chExt cx="317" cy="907"/>
              </a:xfrm>
            </p:grpSpPr>
            <p:sp>
              <p:nvSpPr>
                <p:cNvPr id="23077" name="Freeform 157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78" name="Freeform 157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79" name="Oval 157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80" name="Group 1576"/>
              <p:cNvGrpSpPr>
                <a:grpSpLocks/>
              </p:cNvGrpSpPr>
              <p:nvPr/>
            </p:nvGrpSpPr>
            <p:grpSpPr bwMode="auto">
              <a:xfrm>
                <a:off x="2762" y="2750"/>
                <a:ext cx="317" cy="907"/>
                <a:chOff x="567" y="2750"/>
                <a:chExt cx="317" cy="907"/>
              </a:xfrm>
            </p:grpSpPr>
            <p:sp>
              <p:nvSpPr>
                <p:cNvPr id="23081" name="Freeform 157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82" name="Freeform 157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83" name="Oval 157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84" name="Group 1580"/>
              <p:cNvGrpSpPr>
                <a:grpSpLocks/>
              </p:cNvGrpSpPr>
              <p:nvPr/>
            </p:nvGrpSpPr>
            <p:grpSpPr bwMode="auto">
              <a:xfrm>
                <a:off x="2454" y="2750"/>
                <a:ext cx="317" cy="907"/>
                <a:chOff x="567" y="2750"/>
                <a:chExt cx="317" cy="907"/>
              </a:xfrm>
            </p:grpSpPr>
            <p:sp>
              <p:nvSpPr>
                <p:cNvPr id="23085" name="Freeform 158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86" name="Freeform 158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87" name="Oval 158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88" name="Group 1584"/>
              <p:cNvGrpSpPr>
                <a:grpSpLocks/>
              </p:cNvGrpSpPr>
              <p:nvPr/>
            </p:nvGrpSpPr>
            <p:grpSpPr bwMode="auto">
              <a:xfrm>
                <a:off x="2160" y="2750"/>
                <a:ext cx="317" cy="907"/>
                <a:chOff x="567" y="2750"/>
                <a:chExt cx="317" cy="907"/>
              </a:xfrm>
            </p:grpSpPr>
            <p:sp>
              <p:nvSpPr>
                <p:cNvPr id="23089" name="Freeform 158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90" name="Freeform 158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91" name="Oval 158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92" name="Group 1588"/>
              <p:cNvGrpSpPr>
                <a:grpSpLocks/>
              </p:cNvGrpSpPr>
              <p:nvPr/>
            </p:nvGrpSpPr>
            <p:grpSpPr bwMode="auto">
              <a:xfrm>
                <a:off x="3071" y="2748"/>
                <a:ext cx="317" cy="907"/>
                <a:chOff x="567" y="2750"/>
                <a:chExt cx="317" cy="907"/>
              </a:xfrm>
            </p:grpSpPr>
            <p:sp>
              <p:nvSpPr>
                <p:cNvPr id="23093" name="Freeform 158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94" name="Freeform 159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95" name="Oval 159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96" name="Group 1592"/>
              <p:cNvGrpSpPr>
                <a:grpSpLocks/>
              </p:cNvGrpSpPr>
              <p:nvPr/>
            </p:nvGrpSpPr>
            <p:grpSpPr bwMode="auto">
              <a:xfrm>
                <a:off x="3377" y="2748"/>
                <a:ext cx="317" cy="907"/>
                <a:chOff x="567" y="2750"/>
                <a:chExt cx="317" cy="907"/>
              </a:xfrm>
            </p:grpSpPr>
            <p:sp>
              <p:nvSpPr>
                <p:cNvPr id="23097" name="Freeform 159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98" name="Freeform 159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99" name="Oval 159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00" name="Group 1596"/>
              <p:cNvGrpSpPr>
                <a:grpSpLocks/>
              </p:cNvGrpSpPr>
              <p:nvPr/>
            </p:nvGrpSpPr>
            <p:grpSpPr bwMode="auto">
              <a:xfrm>
                <a:off x="4286" y="2748"/>
                <a:ext cx="317" cy="907"/>
                <a:chOff x="567" y="2750"/>
                <a:chExt cx="317" cy="907"/>
              </a:xfrm>
            </p:grpSpPr>
            <p:sp>
              <p:nvSpPr>
                <p:cNvPr id="23101" name="Freeform 159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02" name="Freeform 159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03" name="Oval 159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04" name="Group 1600"/>
              <p:cNvGrpSpPr>
                <a:grpSpLocks/>
              </p:cNvGrpSpPr>
              <p:nvPr/>
            </p:nvGrpSpPr>
            <p:grpSpPr bwMode="auto">
              <a:xfrm>
                <a:off x="3978" y="2748"/>
                <a:ext cx="317" cy="907"/>
                <a:chOff x="567" y="2750"/>
                <a:chExt cx="317" cy="907"/>
              </a:xfrm>
            </p:grpSpPr>
            <p:sp>
              <p:nvSpPr>
                <p:cNvPr id="23105" name="Freeform 160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06" name="Freeform 160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07" name="Oval 160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08" name="Group 1604"/>
              <p:cNvGrpSpPr>
                <a:grpSpLocks/>
              </p:cNvGrpSpPr>
              <p:nvPr/>
            </p:nvGrpSpPr>
            <p:grpSpPr bwMode="auto">
              <a:xfrm>
                <a:off x="3684" y="2748"/>
                <a:ext cx="317" cy="907"/>
                <a:chOff x="567" y="2750"/>
                <a:chExt cx="317" cy="907"/>
              </a:xfrm>
            </p:grpSpPr>
            <p:sp>
              <p:nvSpPr>
                <p:cNvPr id="23109" name="Freeform 160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10" name="Freeform 160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11" name="Oval 160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12" name="Group 1608"/>
              <p:cNvGrpSpPr>
                <a:grpSpLocks/>
              </p:cNvGrpSpPr>
              <p:nvPr/>
            </p:nvGrpSpPr>
            <p:grpSpPr bwMode="auto">
              <a:xfrm>
                <a:off x="5196" y="2750"/>
                <a:ext cx="317" cy="907"/>
                <a:chOff x="567" y="2750"/>
                <a:chExt cx="317" cy="907"/>
              </a:xfrm>
            </p:grpSpPr>
            <p:sp>
              <p:nvSpPr>
                <p:cNvPr id="23113" name="Freeform 160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14" name="Freeform 161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15" name="Oval 161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16" name="Group 1612"/>
              <p:cNvGrpSpPr>
                <a:grpSpLocks/>
              </p:cNvGrpSpPr>
              <p:nvPr/>
            </p:nvGrpSpPr>
            <p:grpSpPr bwMode="auto">
              <a:xfrm>
                <a:off x="4888" y="2750"/>
                <a:ext cx="317" cy="907"/>
                <a:chOff x="567" y="2750"/>
                <a:chExt cx="317" cy="907"/>
              </a:xfrm>
            </p:grpSpPr>
            <p:sp>
              <p:nvSpPr>
                <p:cNvPr id="23117" name="Freeform 161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18" name="Freeform 161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19" name="Oval 161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20" name="Group 1616"/>
              <p:cNvGrpSpPr>
                <a:grpSpLocks/>
              </p:cNvGrpSpPr>
              <p:nvPr/>
            </p:nvGrpSpPr>
            <p:grpSpPr bwMode="auto">
              <a:xfrm>
                <a:off x="4594" y="2750"/>
                <a:ext cx="317" cy="907"/>
                <a:chOff x="567" y="2750"/>
                <a:chExt cx="317" cy="907"/>
              </a:xfrm>
            </p:grpSpPr>
            <p:sp>
              <p:nvSpPr>
                <p:cNvPr id="23121" name="Freeform 161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22" name="Freeform 161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23" name="Oval 161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927" name="Group 2423"/>
            <p:cNvGrpSpPr>
              <a:grpSpLocks/>
            </p:cNvGrpSpPr>
            <p:nvPr/>
          </p:nvGrpSpPr>
          <p:grpSpPr bwMode="auto">
            <a:xfrm>
              <a:off x="521" y="2022"/>
              <a:ext cx="4356" cy="546"/>
              <a:chOff x="22" y="2748"/>
              <a:chExt cx="5491" cy="909"/>
            </a:xfrm>
          </p:grpSpPr>
          <p:grpSp>
            <p:nvGrpSpPr>
              <p:cNvPr id="23928" name="Group 2424"/>
              <p:cNvGrpSpPr>
                <a:grpSpLocks/>
              </p:cNvGrpSpPr>
              <p:nvPr/>
            </p:nvGrpSpPr>
            <p:grpSpPr bwMode="auto">
              <a:xfrm>
                <a:off x="22" y="2750"/>
                <a:ext cx="317" cy="907"/>
                <a:chOff x="567" y="2750"/>
                <a:chExt cx="317" cy="907"/>
              </a:xfrm>
            </p:grpSpPr>
            <p:sp>
              <p:nvSpPr>
                <p:cNvPr id="23929" name="Freeform 242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30" name="Freeform 242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31" name="Oval 242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32" name="Group 2428"/>
              <p:cNvGrpSpPr>
                <a:grpSpLocks/>
              </p:cNvGrpSpPr>
              <p:nvPr/>
            </p:nvGrpSpPr>
            <p:grpSpPr bwMode="auto">
              <a:xfrm>
                <a:off x="328" y="2750"/>
                <a:ext cx="317" cy="907"/>
                <a:chOff x="567" y="2750"/>
                <a:chExt cx="317" cy="907"/>
              </a:xfrm>
            </p:grpSpPr>
            <p:sp>
              <p:nvSpPr>
                <p:cNvPr id="23933" name="Freeform 242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34" name="Freeform 243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35" name="Oval 243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36" name="Group 2432"/>
              <p:cNvGrpSpPr>
                <a:grpSpLocks/>
              </p:cNvGrpSpPr>
              <p:nvPr/>
            </p:nvGrpSpPr>
            <p:grpSpPr bwMode="auto">
              <a:xfrm>
                <a:off x="1237" y="2750"/>
                <a:ext cx="317" cy="907"/>
                <a:chOff x="567" y="2750"/>
                <a:chExt cx="317" cy="907"/>
              </a:xfrm>
            </p:grpSpPr>
            <p:sp>
              <p:nvSpPr>
                <p:cNvPr id="23937" name="Freeform 243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38" name="Freeform 243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39" name="Oval 243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40" name="Group 2436"/>
              <p:cNvGrpSpPr>
                <a:grpSpLocks/>
              </p:cNvGrpSpPr>
              <p:nvPr/>
            </p:nvGrpSpPr>
            <p:grpSpPr bwMode="auto">
              <a:xfrm>
                <a:off x="929" y="2750"/>
                <a:ext cx="317" cy="907"/>
                <a:chOff x="567" y="2750"/>
                <a:chExt cx="317" cy="907"/>
              </a:xfrm>
            </p:grpSpPr>
            <p:sp>
              <p:nvSpPr>
                <p:cNvPr id="23941" name="Freeform 243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42" name="Freeform 243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43" name="Oval 243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44" name="Group 2440"/>
              <p:cNvGrpSpPr>
                <a:grpSpLocks/>
              </p:cNvGrpSpPr>
              <p:nvPr/>
            </p:nvGrpSpPr>
            <p:grpSpPr bwMode="auto">
              <a:xfrm>
                <a:off x="635" y="2750"/>
                <a:ext cx="317" cy="907"/>
                <a:chOff x="567" y="2750"/>
                <a:chExt cx="317" cy="907"/>
              </a:xfrm>
            </p:grpSpPr>
            <p:sp>
              <p:nvSpPr>
                <p:cNvPr id="23945" name="Freeform 244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46" name="Freeform 244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47" name="Oval 244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48" name="Group 2444"/>
              <p:cNvGrpSpPr>
                <a:grpSpLocks/>
              </p:cNvGrpSpPr>
              <p:nvPr/>
            </p:nvGrpSpPr>
            <p:grpSpPr bwMode="auto">
              <a:xfrm>
                <a:off x="1547" y="2750"/>
                <a:ext cx="317" cy="907"/>
                <a:chOff x="567" y="2750"/>
                <a:chExt cx="317" cy="907"/>
              </a:xfrm>
            </p:grpSpPr>
            <p:sp>
              <p:nvSpPr>
                <p:cNvPr id="23949" name="Freeform 244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50" name="Freeform 244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51" name="Oval 244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52" name="Group 2448"/>
              <p:cNvGrpSpPr>
                <a:grpSpLocks/>
              </p:cNvGrpSpPr>
              <p:nvPr/>
            </p:nvGrpSpPr>
            <p:grpSpPr bwMode="auto">
              <a:xfrm>
                <a:off x="1853" y="2750"/>
                <a:ext cx="317" cy="907"/>
                <a:chOff x="567" y="2750"/>
                <a:chExt cx="317" cy="907"/>
              </a:xfrm>
            </p:grpSpPr>
            <p:sp>
              <p:nvSpPr>
                <p:cNvPr id="23953" name="Freeform 244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54" name="Freeform 245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55" name="Oval 245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56" name="Group 2452"/>
              <p:cNvGrpSpPr>
                <a:grpSpLocks/>
              </p:cNvGrpSpPr>
              <p:nvPr/>
            </p:nvGrpSpPr>
            <p:grpSpPr bwMode="auto">
              <a:xfrm>
                <a:off x="2762" y="2750"/>
                <a:ext cx="317" cy="907"/>
                <a:chOff x="567" y="2750"/>
                <a:chExt cx="317" cy="907"/>
              </a:xfrm>
            </p:grpSpPr>
            <p:sp>
              <p:nvSpPr>
                <p:cNvPr id="23957" name="Freeform 245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58" name="Freeform 245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59" name="Oval 245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60" name="Group 2456"/>
              <p:cNvGrpSpPr>
                <a:grpSpLocks/>
              </p:cNvGrpSpPr>
              <p:nvPr/>
            </p:nvGrpSpPr>
            <p:grpSpPr bwMode="auto">
              <a:xfrm>
                <a:off x="2454" y="2750"/>
                <a:ext cx="317" cy="907"/>
                <a:chOff x="567" y="2750"/>
                <a:chExt cx="317" cy="907"/>
              </a:xfrm>
            </p:grpSpPr>
            <p:sp>
              <p:nvSpPr>
                <p:cNvPr id="23961" name="Freeform 245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62" name="Freeform 245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63" name="Oval 245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64" name="Group 2460"/>
              <p:cNvGrpSpPr>
                <a:grpSpLocks/>
              </p:cNvGrpSpPr>
              <p:nvPr/>
            </p:nvGrpSpPr>
            <p:grpSpPr bwMode="auto">
              <a:xfrm>
                <a:off x="2160" y="2750"/>
                <a:ext cx="317" cy="907"/>
                <a:chOff x="567" y="2750"/>
                <a:chExt cx="317" cy="907"/>
              </a:xfrm>
            </p:grpSpPr>
            <p:sp>
              <p:nvSpPr>
                <p:cNvPr id="23965" name="Freeform 246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66" name="Freeform 246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67" name="Oval 246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68" name="Group 2464"/>
              <p:cNvGrpSpPr>
                <a:grpSpLocks/>
              </p:cNvGrpSpPr>
              <p:nvPr/>
            </p:nvGrpSpPr>
            <p:grpSpPr bwMode="auto">
              <a:xfrm>
                <a:off x="3071" y="2748"/>
                <a:ext cx="317" cy="907"/>
                <a:chOff x="567" y="2750"/>
                <a:chExt cx="317" cy="907"/>
              </a:xfrm>
            </p:grpSpPr>
            <p:sp>
              <p:nvSpPr>
                <p:cNvPr id="23969" name="Freeform 246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70" name="Freeform 246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71" name="Oval 246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72" name="Group 2468"/>
              <p:cNvGrpSpPr>
                <a:grpSpLocks/>
              </p:cNvGrpSpPr>
              <p:nvPr/>
            </p:nvGrpSpPr>
            <p:grpSpPr bwMode="auto">
              <a:xfrm>
                <a:off x="3377" y="2748"/>
                <a:ext cx="317" cy="907"/>
                <a:chOff x="567" y="2750"/>
                <a:chExt cx="317" cy="907"/>
              </a:xfrm>
            </p:grpSpPr>
            <p:sp>
              <p:nvSpPr>
                <p:cNvPr id="23973" name="Freeform 246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74" name="Freeform 247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75" name="Oval 247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76" name="Group 2472"/>
              <p:cNvGrpSpPr>
                <a:grpSpLocks/>
              </p:cNvGrpSpPr>
              <p:nvPr/>
            </p:nvGrpSpPr>
            <p:grpSpPr bwMode="auto">
              <a:xfrm>
                <a:off x="4286" y="2748"/>
                <a:ext cx="317" cy="907"/>
                <a:chOff x="567" y="2750"/>
                <a:chExt cx="317" cy="907"/>
              </a:xfrm>
            </p:grpSpPr>
            <p:sp>
              <p:nvSpPr>
                <p:cNvPr id="23977" name="Freeform 247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78" name="Freeform 247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79" name="Oval 247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80" name="Group 2476"/>
              <p:cNvGrpSpPr>
                <a:grpSpLocks/>
              </p:cNvGrpSpPr>
              <p:nvPr/>
            </p:nvGrpSpPr>
            <p:grpSpPr bwMode="auto">
              <a:xfrm>
                <a:off x="3978" y="2748"/>
                <a:ext cx="317" cy="907"/>
                <a:chOff x="567" y="2750"/>
                <a:chExt cx="317" cy="907"/>
              </a:xfrm>
            </p:grpSpPr>
            <p:sp>
              <p:nvSpPr>
                <p:cNvPr id="23981" name="Freeform 247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82" name="Freeform 247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83" name="Oval 247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84" name="Group 2480"/>
              <p:cNvGrpSpPr>
                <a:grpSpLocks/>
              </p:cNvGrpSpPr>
              <p:nvPr/>
            </p:nvGrpSpPr>
            <p:grpSpPr bwMode="auto">
              <a:xfrm>
                <a:off x="3684" y="2748"/>
                <a:ext cx="317" cy="907"/>
                <a:chOff x="567" y="2750"/>
                <a:chExt cx="317" cy="907"/>
              </a:xfrm>
            </p:grpSpPr>
            <p:sp>
              <p:nvSpPr>
                <p:cNvPr id="23985" name="Freeform 248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86" name="Freeform 248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87" name="Oval 248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88" name="Group 2484"/>
              <p:cNvGrpSpPr>
                <a:grpSpLocks/>
              </p:cNvGrpSpPr>
              <p:nvPr/>
            </p:nvGrpSpPr>
            <p:grpSpPr bwMode="auto">
              <a:xfrm>
                <a:off x="5196" y="2750"/>
                <a:ext cx="317" cy="907"/>
                <a:chOff x="567" y="2750"/>
                <a:chExt cx="317" cy="907"/>
              </a:xfrm>
            </p:grpSpPr>
            <p:sp>
              <p:nvSpPr>
                <p:cNvPr id="23989" name="Freeform 248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90" name="Freeform 248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91" name="Oval 248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92" name="Group 2488"/>
              <p:cNvGrpSpPr>
                <a:grpSpLocks/>
              </p:cNvGrpSpPr>
              <p:nvPr/>
            </p:nvGrpSpPr>
            <p:grpSpPr bwMode="auto">
              <a:xfrm>
                <a:off x="4888" y="2750"/>
                <a:ext cx="317" cy="907"/>
                <a:chOff x="567" y="2750"/>
                <a:chExt cx="317" cy="907"/>
              </a:xfrm>
            </p:grpSpPr>
            <p:sp>
              <p:nvSpPr>
                <p:cNvPr id="23993" name="Freeform 248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94" name="Freeform 249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95" name="Oval 249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96" name="Group 2492"/>
              <p:cNvGrpSpPr>
                <a:grpSpLocks/>
              </p:cNvGrpSpPr>
              <p:nvPr/>
            </p:nvGrpSpPr>
            <p:grpSpPr bwMode="auto">
              <a:xfrm>
                <a:off x="4594" y="2750"/>
                <a:ext cx="317" cy="907"/>
                <a:chOff x="567" y="2750"/>
                <a:chExt cx="317" cy="907"/>
              </a:xfrm>
            </p:grpSpPr>
            <p:sp>
              <p:nvSpPr>
                <p:cNvPr id="23997" name="Freeform 249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98" name="Freeform 249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99" name="Oval 249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2977" name="Group 1473"/>
            <p:cNvGrpSpPr>
              <a:grpSpLocks/>
            </p:cNvGrpSpPr>
            <p:nvPr/>
          </p:nvGrpSpPr>
          <p:grpSpPr bwMode="auto">
            <a:xfrm>
              <a:off x="432" y="2161"/>
              <a:ext cx="4356" cy="546"/>
              <a:chOff x="22" y="2748"/>
              <a:chExt cx="5491" cy="909"/>
            </a:xfrm>
          </p:grpSpPr>
          <p:grpSp>
            <p:nvGrpSpPr>
              <p:cNvPr id="22908" name="Group 1404"/>
              <p:cNvGrpSpPr>
                <a:grpSpLocks/>
              </p:cNvGrpSpPr>
              <p:nvPr/>
            </p:nvGrpSpPr>
            <p:grpSpPr bwMode="auto">
              <a:xfrm>
                <a:off x="22" y="2750"/>
                <a:ext cx="317" cy="907"/>
                <a:chOff x="567" y="2750"/>
                <a:chExt cx="317" cy="907"/>
              </a:xfrm>
            </p:grpSpPr>
            <p:sp>
              <p:nvSpPr>
                <p:cNvPr id="22906" name="Freeform 140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07" name="Freeform 140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05" name="Oval 140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09" name="Group 1405"/>
              <p:cNvGrpSpPr>
                <a:grpSpLocks/>
              </p:cNvGrpSpPr>
              <p:nvPr/>
            </p:nvGrpSpPr>
            <p:grpSpPr bwMode="auto">
              <a:xfrm>
                <a:off x="328" y="2750"/>
                <a:ext cx="317" cy="907"/>
                <a:chOff x="567" y="2750"/>
                <a:chExt cx="317" cy="907"/>
              </a:xfrm>
            </p:grpSpPr>
            <p:sp>
              <p:nvSpPr>
                <p:cNvPr id="22910" name="Freeform 140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11" name="Freeform 140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12" name="Oval 140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13" name="Group 1409"/>
              <p:cNvGrpSpPr>
                <a:grpSpLocks/>
              </p:cNvGrpSpPr>
              <p:nvPr/>
            </p:nvGrpSpPr>
            <p:grpSpPr bwMode="auto">
              <a:xfrm>
                <a:off x="1237" y="2750"/>
                <a:ext cx="317" cy="907"/>
                <a:chOff x="567" y="2750"/>
                <a:chExt cx="317" cy="907"/>
              </a:xfrm>
            </p:grpSpPr>
            <p:sp>
              <p:nvSpPr>
                <p:cNvPr id="22914" name="Freeform 141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15" name="Freeform 141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16" name="Oval 141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17" name="Group 1413"/>
              <p:cNvGrpSpPr>
                <a:grpSpLocks/>
              </p:cNvGrpSpPr>
              <p:nvPr/>
            </p:nvGrpSpPr>
            <p:grpSpPr bwMode="auto">
              <a:xfrm>
                <a:off x="929" y="2750"/>
                <a:ext cx="317" cy="907"/>
                <a:chOff x="567" y="2750"/>
                <a:chExt cx="317" cy="907"/>
              </a:xfrm>
            </p:grpSpPr>
            <p:sp>
              <p:nvSpPr>
                <p:cNvPr id="22918" name="Freeform 141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19" name="Freeform 141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20" name="Oval 141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21" name="Group 1417"/>
              <p:cNvGrpSpPr>
                <a:grpSpLocks/>
              </p:cNvGrpSpPr>
              <p:nvPr/>
            </p:nvGrpSpPr>
            <p:grpSpPr bwMode="auto">
              <a:xfrm>
                <a:off x="635" y="2750"/>
                <a:ext cx="317" cy="907"/>
                <a:chOff x="567" y="2750"/>
                <a:chExt cx="317" cy="907"/>
              </a:xfrm>
            </p:grpSpPr>
            <p:sp>
              <p:nvSpPr>
                <p:cNvPr id="22922" name="Freeform 141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23" name="Freeform 141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24" name="Oval 142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25" name="Group 1421"/>
              <p:cNvGrpSpPr>
                <a:grpSpLocks/>
              </p:cNvGrpSpPr>
              <p:nvPr/>
            </p:nvGrpSpPr>
            <p:grpSpPr bwMode="auto">
              <a:xfrm>
                <a:off x="1547" y="2750"/>
                <a:ext cx="317" cy="907"/>
                <a:chOff x="567" y="2750"/>
                <a:chExt cx="317" cy="907"/>
              </a:xfrm>
            </p:grpSpPr>
            <p:sp>
              <p:nvSpPr>
                <p:cNvPr id="22926" name="Freeform 142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27" name="Freeform 142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28" name="Oval 142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29" name="Group 1425"/>
              <p:cNvGrpSpPr>
                <a:grpSpLocks/>
              </p:cNvGrpSpPr>
              <p:nvPr/>
            </p:nvGrpSpPr>
            <p:grpSpPr bwMode="auto">
              <a:xfrm>
                <a:off x="1853" y="2750"/>
                <a:ext cx="317" cy="907"/>
                <a:chOff x="567" y="2750"/>
                <a:chExt cx="317" cy="907"/>
              </a:xfrm>
            </p:grpSpPr>
            <p:sp>
              <p:nvSpPr>
                <p:cNvPr id="22930" name="Freeform 142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31" name="Freeform 142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32" name="Oval 142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33" name="Group 1429"/>
              <p:cNvGrpSpPr>
                <a:grpSpLocks/>
              </p:cNvGrpSpPr>
              <p:nvPr/>
            </p:nvGrpSpPr>
            <p:grpSpPr bwMode="auto">
              <a:xfrm>
                <a:off x="2762" y="2750"/>
                <a:ext cx="317" cy="907"/>
                <a:chOff x="567" y="2750"/>
                <a:chExt cx="317" cy="907"/>
              </a:xfrm>
            </p:grpSpPr>
            <p:sp>
              <p:nvSpPr>
                <p:cNvPr id="22934" name="Freeform 143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35" name="Freeform 143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36" name="Oval 143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37" name="Group 1433"/>
              <p:cNvGrpSpPr>
                <a:grpSpLocks/>
              </p:cNvGrpSpPr>
              <p:nvPr/>
            </p:nvGrpSpPr>
            <p:grpSpPr bwMode="auto">
              <a:xfrm>
                <a:off x="2454" y="2750"/>
                <a:ext cx="317" cy="907"/>
                <a:chOff x="567" y="2750"/>
                <a:chExt cx="317" cy="907"/>
              </a:xfrm>
            </p:grpSpPr>
            <p:sp>
              <p:nvSpPr>
                <p:cNvPr id="22938" name="Freeform 143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39" name="Freeform 143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40" name="Oval 143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41" name="Group 1437"/>
              <p:cNvGrpSpPr>
                <a:grpSpLocks/>
              </p:cNvGrpSpPr>
              <p:nvPr/>
            </p:nvGrpSpPr>
            <p:grpSpPr bwMode="auto">
              <a:xfrm>
                <a:off x="2160" y="2750"/>
                <a:ext cx="317" cy="907"/>
                <a:chOff x="567" y="2750"/>
                <a:chExt cx="317" cy="907"/>
              </a:xfrm>
            </p:grpSpPr>
            <p:sp>
              <p:nvSpPr>
                <p:cNvPr id="22942" name="Freeform 143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43" name="Freeform 143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44" name="Oval 144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45" name="Group 1441"/>
              <p:cNvGrpSpPr>
                <a:grpSpLocks/>
              </p:cNvGrpSpPr>
              <p:nvPr/>
            </p:nvGrpSpPr>
            <p:grpSpPr bwMode="auto">
              <a:xfrm>
                <a:off x="3071" y="2748"/>
                <a:ext cx="317" cy="907"/>
                <a:chOff x="567" y="2750"/>
                <a:chExt cx="317" cy="907"/>
              </a:xfrm>
            </p:grpSpPr>
            <p:sp>
              <p:nvSpPr>
                <p:cNvPr id="22946" name="Freeform 144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47" name="Freeform 144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48" name="Oval 144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49" name="Group 1445"/>
              <p:cNvGrpSpPr>
                <a:grpSpLocks/>
              </p:cNvGrpSpPr>
              <p:nvPr/>
            </p:nvGrpSpPr>
            <p:grpSpPr bwMode="auto">
              <a:xfrm>
                <a:off x="3377" y="2748"/>
                <a:ext cx="317" cy="907"/>
                <a:chOff x="567" y="2750"/>
                <a:chExt cx="317" cy="907"/>
              </a:xfrm>
            </p:grpSpPr>
            <p:sp>
              <p:nvSpPr>
                <p:cNvPr id="22950" name="Freeform 144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51" name="Freeform 144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52" name="Oval 144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53" name="Group 1449"/>
              <p:cNvGrpSpPr>
                <a:grpSpLocks/>
              </p:cNvGrpSpPr>
              <p:nvPr/>
            </p:nvGrpSpPr>
            <p:grpSpPr bwMode="auto">
              <a:xfrm>
                <a:off x="4286" y="2748"/>
                <a:ext cx="317" cy="907"/>
                <a:chOff x="567" y="2750"/>
                <a:chExt cx="317" cy="907"/>
              </a:xfrm>
            </p:grpSpPr>
            <p:sp>
              <p:nvSpPr>
                <p:cNvPr id="22954" name="Freeform 145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55" name="Freeform 145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56" name="Oval 145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57" name="Group 1453"/>
              <p:cNvGrpSpPr>
                <a:grpSpLocks/>
              </p:cNvGrpSpPr>
              <p:nvPr/>
            </p:nvGrpSpPr>
            <p:grpSpPr bwMode="auto">
              <a:xfrm>
                <a:off x="3978" y="2748"/>
                <a:ext cx="317" cy="907"/>
                <a:chOff x="567" y="2750"/>
                <a:chExt cx="317" cy="907"/>
              </a:xfrm>
            </p:grpSpPr>
            <p:sp>
              <p:nvSpPr>
                <p:cNvPr id="22958" name="Freeform 145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59" name="Freeform 145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60" name="Oval 145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61" name="Group 1457"/>
              <p:cNvGrpSpPr>
                <a:grpSpLocks/>
              </p:cNvGrpSpPr>
              <p:nvPr/>
            </p:nvGrpSpPr>
            <p:grpSpPr bwMode="auto">
              <a:xfrm>
                <a:off x="3684" y="2748"/>
                <a:ext cx="317" cy="907"/>
                <a:chOff x="567" y="2750"/>
                <a:chExt cx="317" cy="907"/>
              </a:xfrm>
            </p:grpSpPr>
            <p:sp>
              <p:nvSpPr>
                <p:cNvPr id="22962" name="Freeform 145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63" name="Freeform 145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64" name="Oval 146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65" name="Group 1461"/>
              <p:cNvGrpSpPr>
                <a:grpSpLocks/>
              </p:cNvGrpSpPr>
              <p:nvPr/>
            </p:nvGrpSpPr>
            <p:grpSpPr bwMode="auto">
              <a:xfrm>
                <a:off x="5196" y="2750"/>
                <a:ext cx="317" cy="907"/>
                <a:chOff x="567" y="2750"/>
                <a:chExt cx="317" cy="907"/>
              </a:xfrm>
            </p:grpSpPr>
            <p:sp>
              <p:nvSpPr>
                <p:cNvPr id="22966" name="Freeform 146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67" name="Freeform 146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68" name="Oval 146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69" name="Group 1465"/>
              <p:cNvGrpSpPr>
                <a:grpSpLocks/>
              </p:cNvGrpSpPr>
              <p:nvPr/>
            </p:nvGrpSpPr>
            <p:grpSpPr bwMode="auto">
              <a:xfrm>
                <a:off x="4888" y="2750"/>
                <a:ext cx="317" cy="907"/>
                <a:chOff x="567" y="2750"/>
                <a:chExt cx="317" cy="907"/>
              </a:xfrm>
            </p:grpSpPr>
            <p:sp>
              <p:nvSpPr>
                <p:cNvPr id="22970" name="Freeform 146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71" name="Freeform 146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72" name="Oval 146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73" name="Group 1469"/>
              <p:cNvGrpSpPr>
                <a:grpSpLocks/>
              </p:cNvGrpSpPr>
              <p:nvPr/>
            </p:nvGrpSpPr>
            <p:grpSpPr bwMode="auto">
              <a:xfrm>
                <a:off x="4594" y="2750"/>
                <a:ext cx="317" cy="907"/>
                <a:chOff x="567" y="2750"/>
                <a:chExt cx="317" cy="907"/>
              </a:xfrm>
            </p:grpSpPr>
            <p:sp>
              <p:nvSpPr>
                <p:cNvPr id="22974" name="Freeform 147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75" name="Freeform 147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76" name="Oval 147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sp>
        <p:nvSpPr>
          <p:cNvPr id="24085" name="AutoShape 2581"/>
          <p:cNvSpPr>
            <a:spLocks noChangeArrowheads="1"/>
          </p:cNvSpPr>
          <p:nvPr/>
        </p:nvSpPr>
        <p:spPr bwMode="auto">
          <a:xfrm>
            <a:off x="4149726" y="3098801"/>
            <a:ext cx="1368425" cy="1223963"/>
          </a:xfrm>
          <a:prstGeom prst="can">
            <a:avLst>
              <a:gd name="adj" fmla="val 15977"/>
            </a:avLst>
          </a:prstGeom>
          <a:gradFill rotWithShape="1">
            <a:gsLst>
              <a:gs pos="0">
                <a:srgbClr val="00FF00"/>
              </a:gs>
              <a:gs pos="100000">
                <a:srgbClr val="00FF00">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16386" name="Rectangle 2"/>
          <p:cNvSpPr>
            <a:spLocks noGrp="1" noChangeArrowheads="1"/>
          </p:cNvSpPr>
          <p:nvPr>
            <p:ph type="title"/>
          </p:nvPr>
        </p:nvSpPr>
        <p:spPr/>
        <p:txBody>
          <a:bodyPr/>
          <a:lstStyle/>
          <a:p>
            <a:r>
              <a:rPr lang="en-GB" altLang="en-US"/>
              <a:t>The </a:t>
            </a:r>
            <a:r>
              <a:rPr lang="en-GB" altLang="en-US" b="1"/>
              <a:t>fluid mosaic model of the plasma membrane:</a:t>
            </a:r>
          </a:p>
        </p:txBody>
      </p:sp>
      <p:sp>
        <p:nvSpPr>
          <p:cNvPr id="16388" name="Text Box 4"/>
          <p:cNvSpPr txBox="1">
            <a:spLocks noChangeArrowheads="1"/>
          </p:cNvSpPr>
          <p:nvPr/>
        </p:nvSpPr>
        <p:spPr bwMode="auto">
          <a:xfrm>
            <a:off x="1557337" y="1171575"/>
            <a:ext cx="88773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0"/>
              </a:spcBef>
              <a:spcAft>
                <a:spcPct val="0"/>
              </a:spcAft>
            </a:pPr>
            <a:r>
              <a:rPr lang="en-GB" altLang="en-US">
                <a:solidFill>
                  <a:srgbClr val="000000"/>
                </a:solidFill>
              </a:rPr>
              <a:t>The proteins can move freely through the lipid bilayer. </a:t>
            </a:r>
            <a:br>
              <a:rPr lang="en-GB" altLang="en-US">
                <a:solidFill>
                  <a:srgbClr val="000000"/>
                </a:solidFill>
              </a:rPr>
            </a:br>
            <a:endParaRPr lang="en-GB" altLang="en-US">
              <a:solidFill>
                <a:srgbClr val="000000"/>
              </a:solidFill>
            </a:endParaRPr>
          </a:p>
          <a:p>
            <a:pPr defTabSz="914400" fontAlgn="base">
              <a:spcBef>
                <a:spcPct val="0"/>
              </a:spcBef>
              <a:spcAft>
                <a:spcPct val="0"/>
              </a:spcAft>
            </a:pPr>
            <a:r>
              <a:rPr lang="en-GB" altLang="en-US">
                <a:solidFill>
                  <a:srgbClr val="000000"/>
                </a:solidFill>
              </a:rPr>
              <a:t>The ease with which they do this is dependent on the number of phospholipids with unsaturated fatty acids in the phospholipids.</a:t>
            </a:r>
          </a:p>
        </p:txBody>
      </p:sp>
      <p:grpSp>
        <p:nvGrpSpPr>
          <p:cNvPr id="24000" name="Group 2496"/>
          <p:cNvGrpSpPr>
            <a:grpSpLocks/>
          </p:cNvGrpSpPr>
          <p:nvPr/>
        </p:nvGrpSpPr>
        <p:grpSpPr bwMode="auto">
          <a:xfrm flipV="1">
            <a:off x="2560637" y="3887789"/>
            <a:ext cx="6915150" cy="866775"/>
            <a:chOff x="22" y="2748"/>
            <a:chExt cx="5491" cy="909"/>
          </a:xfrm>
        </p:grpSpPr>
        <p:grpSp>
          <p:nvGrpSpPr>
            <p:cNvPr id="24001" name="Group 2497"/>
            <p:cNvGrpSpPr>
              <a:grpSpLocks/>
            </p:cNvGrpSpPr>
            <p:nvPr/>
          </p:nvGrpSpPr>
          <p:grpSpPr bwMode="auto">
            <a:xfrm>
              <a:off x="22" y="2750"/>
              <a:ext cx="317" cy="907"/>
              <a:chOff x="567" y="2750"/>
              <a:chExt cx="317" cy="907"/>
            </a:xfrm>
          </p:grpSpPr>
          <p:sp>
            <p:nvSpPr>
              <p:cNvPr id="24002" name="Freeform 249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03" name="Freeform 249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04" name="Oval 250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05" name="Group 2501"/>
            <p:cNvGrpSpPr>
              <a:grpSpLocks/>
            </p:cNvGrpSpPr>
            <p:nvPr/>
          </p:nvGrpSpPr>
          <p:grpSpPr bwMode="auto">
            <a:xfrm>
              <a:off x="328" y="2750"/>
              <a:ext cx="317" cy="907"/>
              <a:chOff x="567" y="2750"/>
              <a:chExt cx="317" cy="907"/>
            </a:xfrm>
          </p:grpSpPr>
          <p:sp>
            <p:nvSpPr>
              <p:cNvPr id="24006" name="Freeform 250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07" name="Freeform 250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08" name="Oval 2504"/>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09" name="Group 2505"/>
            <p:cNvGrpSpPr>
              <a:grpSpLocks/>
            </p:cNvGrpSpPr>
            <p:nvPr/>
          </p:nvGrpSpPr>
          <p:grpSpPr bwMode="auto">
            <a:xfrm>
              <a:off x="1237" y="2750"/>
              <a:ext cx="317" cy="907"/>
              <a:chOff x="567" y="2750"/>
              <a:chExt cx="317" cy="907"/>
            </a:xfrm>
          </p:grpSpPr>
          <p:sp>
            <p:nvSpPr>
              <p:cNvPr id="24010" name="Freeform 250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11" name="Freeform 250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12" name="Oval 250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13" name="Group 2509"/>
            <p:cNvGrpSpPr>
              <a:grpSpLocks/>
            </p:cNvGrpSpPr>
            <p:nvPr/>
          </p:nvGrpSpPr>
          <p:grpSpPr bwMode="auto">
            <a:xfrm>
              <a:off x="929" y="2750"/>
              <a:ext cx="317" cy="907"/>
              <a:chOff x="567" y="2750"/>
              <a:chExt cx="317" cy="907"/>
            </a:xfrm>
          </p:grpSpPr>
          <p:sp>
            <p:nvSpPr>
              <p:cNvPr id="24014" name="Freeform 251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15" name="Freeform 251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16" name="Oval 251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17" name="Group 2513"/>
            <p:cNvGrpSpPr>
              <a:grpSpLocks/>
            </p:cNvGrpSpPr>
            <p:nvPr/>
          </p:nvGrpSpPr>
          <p:grpSpPr bwMode="auto">
            <a:xfrm>
              <a:off x="635" y="2750"/>
              <a:ext cx="317" cy="907"/>
              <a:chOff x="567" y="2750"/>
              <a:chExt cx="317" cy="907"/>
            </a:xfrm>
          </p:grpSpPr>
          <p:sp>
            <p:nvSpPr>
              <p:cNvPr id="24018" name="Freeform 251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19" name="Freeform 251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20" name="Oval 251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21" name="Group 2517"/>
            <p:cNvGrpSpPr>
              <a:grpSpLocks/>
            </p:cNvGrpSpPr>
            <p:nvPr/>
          </p:nvGrpSpPr>
          <p:grpSpPr bwMode="auto">
            <a:xfrm>
              <a:off x="1547" y="2750"/>
              <a:ext cx="317" cy="907"/>
              <a:chOff x="567" y="2750"/>
              <a:chExt cx="317" cy="907"/>
            </a:xfrm>
          </p:grpSpPr>
          <p:sp>
            <p:nvSpPr>
              <p:cNvPr id="24022" name="Freeform 251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23" name="Freeform 251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24" name="Oval 252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25" name="Group 2521"/>
            <p:cNvGrpSpPr>
              <a:grpSpLocks/>
            </p:cNvGrpSpPr>
            <p:nvPr/>
          </p:nvGrpSpPr>
          <p:grpSpPr bwMode="auto">
            <a:xfrm>
              <a:off x="1853" y="2750"/>
              <a:ext cx="317" cy="907"/>
              <a:chOff x="567" y="2750"/>
              <a:chExt cx="317" cy="907"/>
            </a:xfrm>
          </p:grpSpPr>
          <p:sp>
            <p:nvSpPr>
              <p:cNvPr id="24026" name="Freeform 252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27" name="Freeform 252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28" name="Oval 252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29" name="Group 2525"/>
            <p:cNvGrpSpPr>
              <a:grpSpLocks/>
            </p:cNvGrpSpPr>
            <p:nvPr/>
          </p:nvGrpSpPr>
          <p:grpSpPr bwMode="auto">
            <a:xfrm>
              <a:off x="2762" y="2750"/>
              <a:ext cx="317" cy="907"/>
              <a:chOff x="567" y="2750"/>
              <a:chExt cx="317" cy="907"/>
            </a:xfrm>
          </p:grpSpPr>
          <p:sp>
            <p:nvSpPr>
              <p:cNvPr id="24030" name="Freeform 252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31" name="Freeform 252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32" name="Oval 252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33" name="Group 2529"/>
            <p:cNvGrpSpPr>
              <a:grpSpLocks/>
            </p:cNvGrpSpPr>
            <p:nvPr/>
          </p:nvGrpSpPr>
          <p:grpSpPr bwMode="auto">
            <a:xfrm>
              <a:off x="2454" y="2750"/>
              <a:ext cx="317" cy="907"/>
              <a:chOff x="567" y="2750"/>
              <a:chExt cx="317" cy="907"/>
            </a:xfrm>
          </p:grpSpPr>
          <p:sp>
            <p:nvSpPr>
              <p:cNvPr id="24034" name="Freeform 253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35" name="Freeform 253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36" name="Oval 253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37" name="Group 2533"/>
            <p:cNvGrpSpPr>
              <a:grpSpLocks/>
            </p:cNvGrpSpPr>
            <p:nvPr/>
          </p:nvGrpSpPr>
          <p:grpSpPr bwMode="auto">
            <a:xfrm>
              <a:off x="2160" y="2750"/>
              <a:ext cx="317" cy="907"/>
              <a:chOff x="567" y="2750"/>
              <a:chExt cx="317" cy="907"/>
            </a:xfrm>
          </p:grpSpPr>
          <p:sp>
            <p:nvSpPr>
              <p:cNvPr id="24038" name="Freeform 253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39" name="Freeform 253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40" name="Oval 253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41" name="Group 2537"/>
            <p:cNvGrpSpPr>
              <a:grpSpLocks/>
            </p:cNvGrpSpPr>
            <p:nvPr/>
          </p:nvGrpSpPr>
          <p:grpSpPr bwMode="auto">
            <a:xfrm>
              <a:off x="3071" y="2748"/>
              <a:ext cx="317" cy="907"/>
              <a:chOff x="567" y="2750"/>
              <a:chExt cx="317" cy="907"/>
            </a:xfrm>
          </p:grpSpPr>
          <p:sp>
            <p:nvSpPr>
              <p:cNvPr id="24042" name="Freeform 253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43" name="Freeform 253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44" name="Oval 254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45" name="Group 2541"/>
            <p:cNvGrpSpPr>
              <a:grpSpLocks/>
            </p:cNvGrpSpPr>
            <p:nvPr/>
          </p:nvGrpSpPr>
          <p:grpSpPr bwMode="auto">
            <a:xfrm>
              <a:off x="3377" y="2748"/>
              <a:ext cx="317" cy="907"/>
              <a:chOff x="567" y="2750"/>
              <a:chExt cx="317" cy="907"/>
            </a:xfrm>
          </p:grpSpPr>
          <p:sp>
            <p:nvSpPr>
              <p:cNvPr id="24046" name="Freeform 254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47" name="Freeform 254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48" name="Oval 254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49" name="Group 2545"/>
            <p:cNvGrpSpPr>
              <a:grpSpLocks/>
            </p:cNvGrpSpPr>
            <p:nvPr/>
          </p:nvGrpSpPr>
          <p:grpSpPr bwMode="auto">
            <a:xfrm>
              <a:off x="4286" y="2748"/>
              <a:ext cx="317" cy="907"/>
              <a:chOff x="567" y="2750"/>
              <a:chExt cx="317" cy="907"/>
            </a:xfrm>
          </p:grpSpPr>
          <p:sp>
            <p:nvSpPr>
              <p:cNvPr id="24050" name="Freeform 254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51" name="Freeform 254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52" name="Oval 254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53" name="Group 2549"/>
            <p:cNvGrpSpPr>
              <a:grpSpLocks/>
            </p:cNvGrpSpPr>
            <p:nvPr/>
          </p:nvGrpSpPr>
          <p:grpSpPr bwMode="auto">
            <a:xfrm>
              <a:off x="3978" y="2748"/>
              <a:ext cx="317" cy="907"/>
              <a:chOff x="567" y="2750"/>
              <a:chExt cx="317" cy="907"/>
            </a:xfrm>
          </p:grpSpPr>
          <p:sp>
            <p:nvSpPr>
              <p:cNvPr id="24054" name="Freeform 255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55" name="Freeform 255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56" name="Oval 255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57" name="Group 2553"/>
            <p:cNvGrpSpPr>
              <a:grpSpLocks/>
            </p:cNvGrpSpPr>
            <p:nvPr/>
          </p:nvGrpSpPr>
          <p:grpSpPr bwMode="auto">
            <a:xfrm>
              <a:off x="3684" y="2748"/>
              <a:ext cx="317" cy="907"/>
              <a:chOff x="567" y="2750"/>
              <a:chExt cx="317" cy="907"/>
            </a:xfrm>
          </p:grpSpPr>
          <p:sp>
            <p:nvSpPr>
              <p:cNvPr id="24058" name="Freeform 255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59" name="Freeform 255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60" name="Oval 255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61" name="Group 2557"/>
            <p:cNvGrpSpPr>
              <a:grpSpLocks/>
            </p:cNvGrpSpPr>
            <p:nvPr/>
          </p:nvGrpSpPr>
          <p:grpSpPr bwMode="auto">
            <a:xfrm>
              <a:off x="5196" y="2750"/>
              <a:ext cx="317" cy="907"/>
              <a:chOff x="567" y="2750"/>
              <a:chExt cx="317" cy="907"/>
            </a:xfrm>
          </p:grpSpPr>
          <p:sp>
            <p:nvSpPr>
              <p:cNvPr id="24062" name="Freeform 255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63" name="Freeform 255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64" name="Oval 256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65" name="Group 2561"/>
            <p:cNvGrpSpPr>
              <a:grpSpLocks/>
            </p:cNvGrpSpPr>
            <p:nvPr/>
          </p:nvGrpSpPr>
          <p:grpSpPr bwMode="auto">
            <a:xfrm>
              <a:off x="4888" y="2750"/>
              <a:ext cx="317" cy="907"/>
              <a:chOff x="567" y="2750"/>
              <a:chExt cx="317" cy="907"/>
            </a:xfrm>
          </p:grpSpPr>
          <p:sp>
            <p:nvSpPr>
              <p:cNvPr id="24066" name="Freeform 256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67" name="Freeform 256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68" name="Oval 256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069" name="Group 2565"/>
            <p:cNvGrpSpPr>
              <a:grpSpLocks/>
            </p:cNvGrpSpPr>
            <p:nvPr/>
          </p:nvGrpSpPr>
          <p:grpSpPr bwMode="auto">
            <a:xfrm>
              <a:off x="4594" y="2750"/>
              <a:ext cx="317" cy="907"/>
              <a:chOff x="567" y="2750"/>
              <a:chExt cx="317" cy="907"/>
            </a:xfrm>
          </p:grpSpPr>
          <p:sp>
            <p:nvSpPr>
              <p:cNvPr id="24070" name="Freeform 256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71" name="Freeform 256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072" name="Oval 256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124" name="Group 1620"/>
          <p:cNvGrpSpPr>
            <a:grpSpLocks/>
          </p:cNvGrpSpPr>
          <p:nvPr/>
        </p:nvGrpSpPr>
        <p:grpSpPr bwMode="auto">
          <a:xfrm flipV="1">
            <a:off x="2354262" y="4098926"/>
            <a:ext cx="6915150" cy="866775"/>
            <a:chOff x="22" y="2748"/>
            <a:chExt cx="5491" cy="909"/>
          </a:xfrm>
        </p:grpSpPr>
        <p:grpSp>
          <p:nvGrpSpPr>
            <p:cNvPr id="23125" name="Group 1621"/>
            <p:cNvGrpSpPr>
              <a:grpSpLocks/>
            </p:cNvGrpSpPr>
            <p:nvPr/>
          </p:nvGrpSpPr>
          <p:grpSpPr bwMode="auto">
            <a:xfrm>
              <a:off x="22" y="2750"/>
              <a:ext cx="317" cy="907"/>
              <a:chOff x="567" y="2750"/>
              <a:chExt cx="317" cy="907"/>
            </a:xfrm>
          </p:grpSpPr>
          <p:sp>
            <p:nvSpPr>
              <p:cNvPr id="23126" name="Freeform 162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27" name="Freeform 162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28" name="Oval 162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29" name="Group 1625"/>
            <p:cNvGrpSpPr>
              <a:grpSpLocks/>
            </p:cNvGrpSpPr>
            <p:nvPr/>
          </p:nvGrpSpPr>
          <p:grpSpPr bwMode="auto">
            <a:xfrm>
              <a:off x="328" y="2750"/>
              <a:ext cx="317" cy="907"/>
              <a:chOff x="567" y="2750"/>
              <a:chExt cx="317" cy="907"/>
            </a:xfrm>
          </p:grpSpPr>
          <p:sp>
            <p:nvSpPr>
              <p:cNvPr id="23130" name="Freeform 162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31" name="Freeform 162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32" name="Oval 1628"/>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33" name="Group 1629"/>
            <p:cNvGrpSpPr>
              <a:grpSpLocks/>
            </p:cNvGrpSpPr>
            <p:nvPr/>
          </p:nvGrpSpPr>
          <p:grpSpPr bwMode="auto">
            <a:xfrm>
              <a:off x="1237" y="2750"/>
              <a:ext cx="317" cy="907"/>
              <a:chOff x="567" y="2750"/>
              <a:chExt cx="317" cy="907"/>
            </a:xfrm>
          </p:grpSpPr>
          <p:sp>
            <p:nvSpPr>
              <p:cNvPr id="23134" name="Freeform 163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35" name="Freeform 163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36" name="Oval 163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37" name="Group 1633"/>
            <p:cNvGrpSpPr>
              <a:grpSpLocks/>
            </p:cNvGrpSpPr>
            <p:nvPr/>
          </p:nvGrpSpPr>
          <p:grpSpPr bwMode="auto">
            <a:xfrm>
              <a:off x="929" y="2750"/>
              <a:ext cx="317" cy="907"/>
              <a:chOff x="567" y="2750"/>
              <a:chExt cx="317" cy="907"/>
            </a:xfrm>
          </p:grpSpPr>
          <p:sp>
            <p:nvSpPr>
              <p:cNvPr id="23138" name="Freeform 163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39" name="Freeform 163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40" name="Oval 163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41" name="Group 1637"/>
            <p:cNvGrpSpPr>
              <a:grpSpLocks/>
            </p:cNvGrpSpPr>
            <p:nvPr/>
          </p:nvGrpSpPr>
          <p:grpSpPr bwMode="auto">
            <a:xfrm>
              <a:off x="635" y="2750"/>
              <a:ext cx="317" cy="907"/>
              <a:chOff x="567" y="2750"/>
              <a:chExt cx="317" cy="907"/>
            </a:xfrm>
          </p:grpSpPr>
          <p:sp>
            <p:nvSpPr>
              <p:cNvPr id="23142" name="Freeform 163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43" name="Freeform 163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44" name="Oval 164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45" name="Group 1641"/>
            <p:cNvGrpSpPr>
              <a:grpSpLocks/>
            </p:cNvGrpSpPr>
            <p:nvPr/>
          </p:nvGrpSpPr>
          <p:grpSpPr bwMode="auto">
            <a:xfrm>
              <a:off x="1547" y="2750"/>
              <a:ext cx="317" cy="907"/>
              <a:chOff x="567" y="2750"/>
              <a:chExt cx="317" cy="907"/>
            </a:xfrm>
          </p:grpSpPr>
          <p:sp>
            <p:nvSpPr>
              <p:cNvPr id="23146" name="Freeform 164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47" name="Freeform 164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48" name="Oval 164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49" name="Group 1645"/>
            <p:cNvGrpSpPr>
              <a:grpSpLocks/>
            </p:cNvGrpSpPr>
            <p:nvPr/>
          </p:nvGrpSpPr>
          <p:grpSpPr bwMode="auto">
            <a:xfrm>
              <a:off x="1853" y="2750"/>
              <a:ext cx="317" cy="907"/>
              <a:chOff x="567" y="2750"/>
              <a:chExt cx="317" cy="907"/>
            </a:xfrm>
          </p:grpSpPr>
          <p:sp>
            <p:nvSpPr>
              <p:cNvPr id="23150" name="Freeform 164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51" name="Freeform 164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52" name="Oval 164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53" name="Group 1649"/>
            <p:cNvGrpSpPr>
              <a:grpSpLocks/>
            </p:cNvGrpSpPr>
            <p:nvPr/>
          </p:nvGrpSpPr>
          <p:grpSpPr bwMode="auto">
            <a:xfrm>
              <a:off x="2762" y="2750"/>
              <a:ext cx="317" cy="907"/>
              <a:chOff x="567" y="2750"/>
              <a:chExt cx="317" cy="907"/>
            </a:xfrm>
          </p:grpSpPr>
          <p:sp>
            <p:nvSpPr>
              <p:cNvPr id="23154" name="Freeform 165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55" name="Freeform 165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56" name="Oval 165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57" name="Group 1653"/>
            <p:cNvGrpSpPr>
              <a:grpSpLocks/>
            </p:cNvGrpSpPr>
            <p:nvPr/>
          </p:nvGrpSpPr>
          <p:grpSpPr bwMode="auto">
            <a:xfrm>
              <a:off x="2454" y="2750"/>
              <a:ext cx="317" cy="907"/>
              <a:chOff x="567" y="2750"/>
              <a:chExt cx="317" cy="907"/>
            </a:xfrm>
          </p:grpSpPr>
          <p:sp>
            <p:nvSpPr>
              <p:cNvPr id="23158" name="Freeform 165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59" name="Freeform 165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60" name="Oval 165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61" name="Group 1657"/>
            <p:cNvGrpSpPr>
              <a:grpSpLocks/>
            </p:cNvGrpSpPr>
            <p:nvPr/>
          </p:nvGrpSpPr>
          <p:grpSpPr bwMode="auto">
            <a:xfrm>
              <a:off x="2160" y="2750"/>
              <a:ext cx="317" cy="907"/>
              <a:chOff x="567" y="2750"/>
              <a:chExt cx="317" cy="907"/>
            </a:xfrm>
          </p:grpSpPr>
          <p:sp>
            <p:nvSpPr>
              <p:cNvPr id="23162" name="Freeform 165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63" name="Freeform 165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64" name="Oval 166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65" name="Group 1661"/>
            <p:cNvGrpSpPr>
              <a:grpSpLocks/>
            </p:cNvGrpSpPr>
            <p:nvPr/>
          </p:nvGrpSpPr>
          <p:grpSpPr bwMode="auto">
            <a:xfrm>
              <a:off x="3071" y="2748"/>
              <a:ext cx="317" cy="907"/>
              <a:chOff x="567" y="2750"/>
              <a:chExt cx="317" cy="907"/>
            </a:xfrm>
          </p:grpSpPr>
          <p:sp>
            <p:nvSpPr>
              <p:cNvPr id="23166" name="Freeform 166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67" name="Freeform 166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68" name="Oval 166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69" name="Group 1665"/>
            <p:cNvGrpSpPr>
              <a:grpSpLocks/>
            </p:cNvGrpSpPr>
            <p:nvPr/>
          </p:nvGrpSpPr>
          <p:grpSpPr bwMode="auto">
            <a:xfrm>
              <a:off x="3377" y="2748"/>
              <a:ext cx="317" cy="907"/>
              <a:chOff x="567" y="2750"/>
              <a:chExt cx="317" cy="907"/>
            </a:xfrm>
          </p:grpSpPr>
          <p:sp>
            <p:nvSpPr>
              <p:cNvPr id="23170" name="Freeform 166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71" name="Freeform 166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72" name="Oval 166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73" name="Group 1669"/>
            <p:cNvGrpSpPr>
              <a:grpSpLocks/>
            </p:cNvGrpSpPr>
            <p:nvPr/>
          </p:nvGrpSpPr>
          <p:grpSpPr bwMode="auto">
            <a:xfrm>
              <a:off x="4286" y="2748"/>
              <a:ext cx="317" cy="907"/>
              <a:chOff x="567" y="2750"/>
              <a:chExt cx="317" cy="907"/>
            </a:xfrm>
          </p:grpSpPr>
          <p:sp>
            <p:nvSpPr>
              <p:cNvPr id="23174" name="Freeform 167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75" name="Freeform 167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76" name="Oval 167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77" name="Group 1673"/>
            <p:cNvGrpSpPr>
              <a:grpSpLocks/>
            </p:cNvGrpSpPr>
            <p:nvPr/>
          </p:nvGrpSpPr>
          <p:grpSpPr bwMode="auto">
            <a:xfrm>
              <a:off x="3978" y="2748"/>
              <a:ext cx="317" cy="907"/>
              <a:chOff x="567" y="2750"/>
              <a:chExt cx="317" cy="907"/>
            </a:xfrm>
          </p:grpSpPr>
          <p:sp>
            <p:nvSpPr>
              <p:cNvPr id="23178" name="Freeform 167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79" name="Freeform 167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80" name="Oval 167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81" name="Group 1677"/>
            <p:cNvGrpSpPr>
              <a:grpSpLocks/>
            </p:cNvGrpSpPr>
            <p:nvPr/>
          </p:nvGrpSpPr>
          <p:grpSpPr bwMode="auto">
            <a:xfrm>
              <a:off x="3684" y="2748"/>
              <a:ext cx="317" cy="907"/>
              <a:chOff x="567" y="2750"/>
              <a:chExt cx="317" cy="907"/>
            </a:xfrm>
          </p:grpSpPr>
          <p:sp>
            <p:nvSpPr>
              <p:cNvPr id="23182" name="Freeform 167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83" name="Freeform 167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84" name="Oval 168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85" name="Group 1681"/>
            <p:cNvGrpSpPr>
              <a:grpSpLocks/>
            </p:cNvGrpSpPr>
            <p:nvPr/>
          </p:nvGrpSpPr>
          <p:grpSpPr bwMode="auto">
            <a:xfrm>
              <a:off x="5196" y="2750"/>
              <a:ext cx="317" cy="907"/>
              <a:chOff x="567" y="2750"/>
              <a:chExt cx="317" cy="907"/>
            </a:xfrm>
          </p:grpSpPr>
          <p:sp>
            <p:nvSpPr>
              <p:cNvPr id="23186" name="Freeform 168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87" name="Freeform 168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88" name="Oval 168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89" name="Group 1685"/>
            <p:cNvGrpSpPr>
              <a:grpSpLocks/>
            </p:cNvGrpSpPr>
            <p:nvPr/>
          </p:nvGrpSpPr>
          <p:grpSpPr bwMode="auto">
            <a:xfrm>
              <a:off x="4888" y="2750"/>
              <a:ext cx="317" cy="907"/>
              <a:chOff x="567" y="2750"/>
              <a:chExt cx="317" cy="907"/>
            </a:xfrm>
          </p:grpSpPr>
          <p:sp>
            <p:nvSpPr>
              <p:cNvPr id="23190" name="Freeform 168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91" name="Freeform 168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92" name="Oval 168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193" name="Group 1689"/>
            <p:cNvGrpSpPr>
              <a:grpSpLocks/>
            </p:cNvGrpSpPr>
            <p:nvPr/>
          </p:nvGrpSpPr>
          <p:grpSpPr bwMode="auto">
            <a:xfrm>
              <a:off x="4594" y="2750"/>
              <a:ext cx="317" cy="907"/>
              <a:chOff x="567" y="2750"/>
              <a:chExt cx="317" cy="907"/>
            </a:xfrm>
          </p:grpSpPr>
          <p:sp>
            <p:nvSpPr>
              <p:cNvPr id="23194" name="Freeform 169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95" name="Freeform 169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196" name="Oval 169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2978" name="Group 1474"/>
          <p:cNvGrpSpPr>
            <a:grpSpLocks/>
          </p:cNvGrpSpPr>
          <p:nvPr/>
        </p:nvGrpSpPr>
        <p:grpSpPr bwMode="auto">
          <a:xfrm flipV="1">
            <a:off x="2133600" y="4316414"/>
            <a:ext cx="6915150" cy="866775"/>
            <a:chOff x="22" y="2748"/>
            <a:chExt cx="5491" cy="909"/>
          </a:xfrm>
        </p:grpSpPr>
        <p:grpSp>
          <p:nvGrpSpPr>
            <p:cNvPr id="22979" name="Group 1475"/>
            <p:cNvGrpSpPr>
              <a:grpSpLocks/>
            </p:cNvGrpSpPr>
            <p:nvPr/>
          </p:nvGrpSpPr>
          <p:grpSpPr bwMode="auto">
            <a:xfrm>
              <a:off x="22" y="2750"/>
              <a:ext cx="317" cy="907"/>
              <a:chOff x="567" y="2750"/>
              <a:chExt cx="317" cy="907"/>
            </a:xfrm>
          </p:grpSpPr>
          <p:sp>
            <p:nvSpPr>
              <p:cNvPr id="22980" name="Freeform 147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81" name="Freeform 147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82" name="Oval 147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83" name="Group 1479"/>
            <p:cNvGrpSpPr>
              <a:grpSpLocks/>
            </p:cNvGrpSpPr>
            <p:nvPr/>
          </p:nvGrpSpPr>
          <p:grpSpPr bwMode="auto">
            <a:xfrm>
              <a:off x="328" y="2750"/>
              <a:ext cx="317" cy="907"/>
              <a:chOff x="567" y="2750"/>
              <a:chExt cx="317" cy="907"/>
            </a:xfrm>
          </p:grpSpPr>
          <p:sp>
            <p:nvSpPr>
              <p:cNvPr id="22984" name="Freeform 148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85" name="Freeform 148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86" name="Oval 1482"/>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87" name="Group 1483"/>
            <p:cNvGrpSpPr>
              <a:grpSpLocks/>
            </p:cNvGrpSpPr>
            <p:nvPr/>
          </p:nvGrpSpPr>
          <p:grpSpPr bwMode="auto">
            <a:xfrm>
              <a:off x="1237" y="2750"/>
              <a:ext cx="317" cy="907"/>
              <a:chOff x="567" y="2750"/>
              <a:chExt cx="317" cy="907"/>
            </a:xfrm>
          </p:grpSpPr>
          <p:sp>
            <p:nvSpPr>
              <p:cNvPr id="22988" name="Freeform 148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89" name="Freeform 148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90" name="Oval 148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91" name="Group 1487"/>
            <p:cNvGrpSpPr>
              <a:grpSpLocks/>
            </p:cNvGrpSpPr>
            <p:nvPr/>
          </p:nvGrpSpPr>
          <p:grpSpPr bwMode="auto">
            <a:xfrm>
              <a:off x="929" y="2750"/>
              <a:ext cx="317" cy="907"/>
              <a:chOff x="567" y="2750"/>
              <a:chExt cx="317" cy="907"/>
            </a:xfrm>
          </p:grpSpPr>
          <p:sp>
            <p:nvSpPr>
              <p:cNvPr id="22992" name="Freeform 148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93" name="Freeform 148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94" name="Oval 149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95" name="Group 1491"/>
            <p:cNvGrpSpPr>
              <a:grpSpLocks/>
            </p:cNvGrpSpPr>
            <p:nvPr/>
          </p:nvGrpSpPr>
          <p:grpSpPr bwMode="auto">
            <a:xfrm>
              <a:off x="635" y="2750"/>
              <a:ext cx="317" cy="907"/>
              <a:chOff x="567" y="2750"/>
              <a:chExt cx="317" cy="907"/>
            </a:xfrm>
          </p:grpSpPr>
          <p:sp>
            <p:nvSpPr>
              <p:cNvPr id="22996" name="Freeform 149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97" name="Freeform 149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2998" name="Oval 149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2999" name="Group 1495"/>
            <p:cNvGrpSpPr>
              <a:grpSpLocks/>
            </p:cNvGrpSpPr>
            <p:nvPr/>
          </p:nvGrpSpPr>
          <p:grpSpPr bwMode="auto">
            <a:xfrm>
              <a:off x="1547" y="2750"/>
              <a:ext cx="317" cy="907"/>
              <a:chOff x="567" y="2750"/>
              <a:chExt cx="317" cy="907"/>
            </a:xfrm>
          </p:grpSpPr>
          <p:sp>
            <p:nvSpPr>
              <p:cNvPr id="23000" name="Freeform 149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01" name="Freeform 149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02" name="Oval 149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03" name="Group 1499"/>
            <p:cNvGrpSpPr>
              <a:grpSpLocks/>
            </p:cNvGrpSpPr>
            <p:nvPr/>
          </p:nvGrpSpPr>
          <p:grpSpPr bwMode="auto">
            <a:xfrm>
              <a:off x="1853" y="2750"/>
              <a:ext cx="317" cy="907"/>
              <a:chOff x="567" y="2750"/>
              <a:chExt cx="317" cy="907"/>
            </a:xfrm>
          </p:grpSpPr>
          <p:sp>
            <p:nvSpPr>
              <p:cNvPr id="23004" name="Freeform 150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05" name="Freeform 150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06" name="Oval 150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07" name="Group 1503"/>
            <p:cNvGrpSpPr>
              <a:grpSpLocks/>
            </p:cNvGrpSpPr>
            <p:nvPr/>
          </p:nvGrpSpPr>
          <p:grpSpPr bwMode="auto">
            <a:xfrm>
              <a:off x="2762" y="2750"/>
              <a:ext cx="317" cy="907"/>
              <a:chOff x="567" y="2750"/>
              <a:chExt cx="317" cy="907"/>
            </a:xfrm>
          </p:grpSpPr>
          <p:sp>
            <p:nvSpPr>
              <p:cNvPr id="23008" name="Freeform 150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09" name="Freeform 150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10" name="Oval 150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11" name="Group 1507"/>
            <p:cNvGrpSpPr>
              <a:grpSpLocks/>
            </p:cNvGrpSpPr>
            <p:nvPr/>
          </p:nvGrpSpPr>
          <p:grpSpPr bwMode="auto">
            <a:xfrm>
              <a:off x="2454" y="2750"/>
              <a:ext cx="317" cy="907"/>
              <a:chOff x="567" y="2750"/>
              <a:chExt cx="317" cy="907"/>
            </a:xfrm>
          </p:grpSpPr>
          <p:sp>
            <p:nvSpPr>
              <p:cNvPr id="23012" name="Freeform 150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13" name="Freeform 150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14" name="Oval 151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15" name="Group 1511"/>
            <p:cNvGrpSpPr>
              <a:grpSpLocks/>
            </p:cNvGrpSpPr>
            <p:nvPr/>
          </p:nvGrpSpPr>
          <p:grpSpPr bwMode="auto">
            <a:xfrm>
              <a:off x="2160" y="2750"/>
              <a:ext cx="317" cy="907"/>
              <a:chOff x="567" y="2750"/>
              <a:chExt cx="317" cy="907"/>
            </a:xfrm>
          </p:grpSpPr>
          <p:sp>
            <p:nvSpPr>
              <p:cNvPr id="23016" name="Freeform 151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17" name="Freeform 151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18" name="Oval 151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19" name="Group 1515"/>
            <p:cNvGrpSpPr>
              <a:grpSpLocks/>
            </p:cNvGrpSpPr>
            <p:nvPr/>
          </p:nvGrpSpPr>
          <p:grpSpPr bwMode="auto">
            <a:xfrm>
              <a:off x="3071" y="2748"/>
              <a:ext cx="317" cy="907"/>
              <a:chOff x="567" y="2750"/>
              <a:chExt cx="317" cy="907"/>
            </a:xfrm>
          </p:grpSpPr>
          <p:sp>
            <p:nvSpPr>
              <p:cNvPr id="23020" name="Freeform 151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21" name="Freeform 151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22" name="Oval 151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23" name="Group 1519"/>
            <p:cNvGrpSpPr>
              <a:grpSpLocks/>
            </p:cNvGrpSpPr>
            <p:nvPr/>
          </p:nvGrpSpPr>
          <p:grpSpPr bwMode="auto">
            <a:xfrm>
              <a:off x="3377" y="2748"/>
              <a:ext cx="317" cy="907"/>
              <a:chOff x="567" y="2750"/>
              <a:chExt cx="317" cy="907"/>
            </a:xfrm>
          </p:grpSpPr>
          <p:sp>
            <p:nvSpPr>
              <p:cNvPr id="23024" name="Freeform 152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25" name="Freeform 152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26" name="Oval 152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27" name="Group 1523"/>
            <p:cNvGrpSpPr>
              <a:grpSpLocks/>
            </p:cNvGrpSpPr>
            <p:nvPr/>
          </p:nvGrpSpPr>
          <p:grpSpPr bwMode="auto">
            <a:xfrm>
              <a:off x="4286" y="2748"/>
              <a:ext cx="317" cy="907"/>
              <a:chOff x="567" y="2750"/>
              <a:chExt cx="317" cy="907"/>
            </a:xfrm>
          </p:grpSpPr>
          <p:sp>
            <p:nvSpPr>
              <p:cNvPr id="23028" name="Freeform 152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29" name="Freeform 152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30" name="Oval 152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31" name="Group 1527"/>
            <p:cNvGrpSpPr>
              <a:grpSpLocks/>
            </p:cNvGrpSpPr>
            <p:nvPr/>
          </p:nvGrpSpPr>
          <p:grpSpPr bwMode="auto">
            <a:xfrm>
              <a:off x="3978" y="2748"/>
              <a:ext cx="317" cy="907"/>
              <a:chOff x="567" y="2750"/>
              <a:chExt cx="317" cy="907"/>
            </a:xfrm>
          </p:grpSpPr>
          <p:sp>
            <p:nvSpPr>
              <p:cNvPr id="23032" name="Freeform 152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33" name="Freeform 152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34" name="Oval 153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35" name="Group 1531"/>
            <p:cNvGrpSpPr>
              <a:grpSpLocks/>
            </p:cNvGrpSpPr>
            <p:nvPr/>
          </p:nvGrpSpPr>
          <p:grpSpPr bwMode="auto">
            <a:xfrm>
              <a:off x="3684" y="2748"/>
              <a:ext cx="317" cy="907"/>
              <a:chOff x="567" y="2750"/>
              <a:chExt cx="317" cy="907"/>
            </a:xfrm>
          </p:grpSpPr>
          <p:sp>
            <p:nvSpPr>
              <p:cNvPr id="23036" name="Freeform 153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37" name="Freeform 153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38" name="Oval 153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39" name="Group 1535"/>
            <p:cNvGrpSpPr>
              <a:grpSpLocks/>
            </p:cNvGrpSpPr>
            <p:nvPr/>
          </p:nvGrpSpPr>
          <p:grpSpPr bwMode="auto">
            <a:xfrm>
              <a:off x="5196" y="2750"/>
              <a:ext cx="317" cy="907"/>
              <a:chOff x="567" y="2750"/>
              <a:chExt cx="317" cy="907"/>
            </a:xfrm>
          </p:grpSpPr>
          <p:sp>
            <p:nvSpPr>
              <p:cNvPr id="23040" name="Freeform 153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41" name="Freeform 153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42" name="Oval 153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43" name="Group 1539"/>
            <p:cNvGrpSpPr>
              <a:grpSpLocks/>
            </p:cNvGrpSpPr>
            <p:nvPr/>
          </p:nvGrpSpPr>
          <p:grpSpPr bwMode="auto">
            <a:xfrm>
              <a:off x="4888" y="2750"/>
              <a:ext cx="317" cy="907"/>
              <a:chOff x="567" y="2750"/>
              <a:chExt cx="317" cy="907"/>
            </a:xfrm>
          </p:grpSpPr>
          <p:sp>
            <p:nvSpPr>
              <p:cNvPr id="23044" name="Freeform 154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45" name="Freeform 154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46" name="Oval 154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047" name="Group 1543"/>
            <p:cNvGrpSpPr>
              <a:grpSpLocks/>
            </p:cNvGrpSpPr>
            <p:nvPr/>
          </p:nvGrpSpPr>
          <p:grpSpPr bwMode="auto">
            <a:xfrm>
              <a:off x="4594" y="2750"/>
              <a:ext cx="317" cy="907"/>
              <a:chOff x="567" y="2750"/>
              <a:chExt cx="317" cy="907"/>
            </a:xfrm>
          </p:grpSpPr>
          <p:sp>
            <p:nvSpPr>
              <p:cNvPr id="23048" name="Freeform 154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49" name="Freeform 154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050" name="Oval 154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197" name="Group 1693"/>
          <p:cNvGrpSpPr>
            <a:grpSpLocks/>
          </p:cNvGrpSpPr>
          <p:nvPr/>
        </p:nvGrpSpPr>
        <p:grpSpPr bwMode="auto">
          <a:xfrm>
            <a:off x="2349500" y="3530601"/>
            <a:ext cx="6915150" cy="866775"/>
            <a:chOff x="22" y="2748"/>
            <a:chExt cx="5491" cy="909"/>
          </a:xfrm>
        </p:grpSpPr>
        <p:grpSp>
          <p:nvGrpSpPr>
            <p:cNvPr id="23198" name="Group 1694"/>
            <p:cNvGrpSpPr>
              <a:grpSpLocks/>
            </p:cNvGrpSpPr>
            <p:nvPr/>
          </p:nvGrpSpPr>
          <p:grpSpPr bwMode="auto">
            <a:xfrm>
              <a:off x="22" y="2750"/>
              <a:ext cx="317" cy="907"/>
              <a:chOff x="567" y="2750"/>
              <a:chExt cx="317" cy="907"/>
            </a:xfrm>
          </p:grpSpPr>
          <p:sp>
            <p:nvSpPr>
              <p:cNvPr id="23199" name="Freeform 169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00" name="Freeform 169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01" name="Oval 169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02" name="Group 1698"/>
            <p:cNvGrpSpPr>
              <a:grpSpLocks/>
            </p:cNvGrpSpPr>
            <p:nvPr/>
          </p:nvGrpSpPr>
          <p:grpSpPr bwMode="auto">
            <a:xfrm>
              <a:off x="328" y="2750"/>
              <a:ext cx="317" cy="907"/>
              <a:chOff x="567" y="2750"/>
              <a:chExt cx="317" cy="907"/>
            </a:xfrm>
          </p:grpSpPr>
          <p:sp>
            <p:nvSpPr>
              <p:cNvPr id="23203" name="Freeform 169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04" name="Freeform 170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05" name="Oval 170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06" name="Group 1702"/>
            <p:cNvGrpSpPr>
              <a:grpSpLocks/>
            </p:cNvGrpSpPr>
            <p:nvPr/>
          </p:nvGrpSpPr>
          <p:grpSpPr bwMode="auto">
            <a:xfrm>
              <a:off x="1237" y="2750"/>
              <a:ext cx="317" cy="907"/>
              <a:chOff x="567" y="2750"/>
              <a:chExt cx="317" cy="907"/>
            </a:xfrm>
          </p:grpSpPr>
          <p:sp>
            <p:nvSpPr>
              <p:cNvPr id="23207" name="Freeform 170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08" name="Freeform 170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09" name="Oval 170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10" name="Group 1706"/>
            <p:cNvGrpSpPr>
              <a:grpSpLocks/>
            </p:cNvGrpSpPr>
            <p:nvPr/>
          </p:nvGrpSpPr>
          <p:grpSpPr bwMode="auto">
            <a:xfrm>
              <a:off x="929" y="2750"/>
              <a:ext cx="317" cy="907"/>
              <a:chOff x="567" y="2750"/>
              <a:chExt cx="317" cy="907"/>
            </a:xfrm>
          </p:grpSpPr>
          <p:sp>
            <p:nvSpPr>
              <p:cNvPr id="23211" name="Freeform 170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12" name="Freeform 170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13" name="Oval 170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14" name="Group 1710"/>
            <p:cNvGrpSpPr>
              <a:grpSpLocks/>
            </p:cNvGrpSpPr>
            <p:nvPr/>
          </p:nvGrpSpPr>
          <p:grpSpPr bwMode="auto">
            <a:xfrm>
              <a:off x="635" y="2750"/>
              <a:ext cx="317" cy="907"/>
              <a:chOff x="567" y="2750"/>
              <a:chExt cx="317" cy="907"/>
            </a:xfrm>
          </p:grpSpPr>
          <p:sp>
            <p:nvSpPr>
              <p:cNvPr id="23215" name="Freeform 171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16" name="Freeform 171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17" name="Oval 171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18" name="Group 1714"/>
            <p:cNvGrpSpPr>
              <a:grpSpLocks/>
            </p:cNvGrpSpPr>
            <p:nvPr/>
          </p:nvGrpSpPr>
          <p:grpSpPr bwMode="auto">
            <a:xfrm>
              <a:off x="1547" y="2750"/>
              <a:ext cx="317" cy="907"/>
              <a:chOff x="567" y="2750"/>
              <a:chExt cx="317" cy="907"/>
            </a:xfrm>
          </p:grpSpPr>
          <p:sp>
            <p:nvSpPr>
              <p:cNvPr id="23219" name="Freeform 171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20" name="Freeform 171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21" name="Oval 171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22" name="Group 1718"/>
            <p:cNvGrpSpPr>
              <a:grpSpLocks/>
            </p:cNvGrpSpPr>
            <p:nvPr/>
          </p:nvGrpSpPr>
          <p:grpSpPr bwMode="auto">
            <a:xfrm>
              <a:off x="1853" y="2750"/>
              <a:ext cx="317" cy="907"/>
              <a:chOff x="567" y="2750"/>
              <a:chExt cx="317" cy="907"/>
            </a:xfrm>
          </p:grpSpPr>
          <p:sp>
            <p:nvSpPr>
              <p:cNvPr id="23223" name="Freeform 171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24" name="Freeform 172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25" name="Oval 172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26" name="Group 1722"/>
            <p:cNvGrpSpPr>
              <a:grpSpLocks/>
            </p:cNvGrpSpPr>
            <p:nvPr/>
          </p:nvGrpSpPr>
          <p:grpSpPr bwMode="auto">
            <a:xfrm>
              <a:off x="2762" y="2750"/>
              <a:ext cx="317" cy="907"/>
              <a:chOff x="567" y="2750"/>
              <a:chExt cx="317" cy="907"/>
            </a:xfrm>
          </p:grpSpPr>
          <p:sp>
            <p:nvSpPr>
              <p:cNvPr id="23227" name="Freeform 172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28" name="Freeform 172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29" name="Oval 172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30" name="Group 1726"/>
            <p:cNvGrpSpPr>
              <a:grpSpLocks/>
            </p:cNvGrpSpPr>
            <p:nvPr/>
          </p:nvGrpSpPr>
          <p:grpSpPr bwMode="auto">
            <a:xfrm>
              <a:off x="2454" y="2750"/>
              <a:ext cx="317" cy="907"/>
              <a:chOff x="567" y="2750"/>
              <a:chExt cx="317" cy="907"/>
            </a:xfrm>
          </p:grpSpPr>
          <p:sp>
            <p:nvSpPr>
              <p:cNvPr id="23231" name="Freeform 172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32" name="Freeform 172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33" name="Oval 172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34" name="Group 1730"/>
            <p:cNvGrpSpPr>
              <a:grpSpLocks/>
            </p:cNvGrpSpPr>
            <p:nvPr/>
          </p:nvGrpSpPr>
          <p:grpSpPr bwMode="auto">
            <a:xfrm>
              <a:off x="2160" y="2750"/>
              <a:ext cx="317" cy="907"/>
              <a:chOff x="567" y="2750"/>
              <a:chExt cx="317" cy="907"/>
            </a:xfrm>
          </p:grpSpPr>
          <p:sp>
            <p:nvSpPr>
              <p:cNvPr id="23235" name="Freeform 173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36" name="Freeform 173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37" name="Oval 173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38" name="Group 1734"/>
            <p:cNvGrpSpPr>
              <a:grpSpLocks/>
            </p:cNvGrpSpPr>
            <p:nvPr/>
          </p:nvGrpSpPr>
          <p:grpSpPr bwMode="auto">
            <a:xfrm>
              <a:off x="3071" y="2748"/>
              <a:ext cx="317" cy="907"/>
              <a:chOff x="567" y="2750"/>
              <a:chExt cx="317" cy="907"/>
            </a:xfrm>
          </p:grpSpPr>
          <p:sp>
            <p:nvSpPr>
              <p:cNvPr id="23239" name="Freeform 173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40" name="Freeform 173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41" name="Oval 173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42" name="Group 1738"/>
            <p:cNvGrpSpPr>
              <a:grpSpLocks/>
            </p:cNvGrpSpPr>
            <p:nvPr/>
          </p:nvGrpSpPr>
          <p:grpSpPr bwMode="auto">
            <a:xfrm>
              <a:off x="3377" y="2748"/>
              <a:ext cx="317" cy="907"/>
              <a:chOff x="567" y="2750"/>
              <a:chExt cx="317" cy="907"/>
            </a:xfrm>
          </p:grpSpPr>
          <p:sp>
            <p:nvSpPr>
              <p:cNvPr id="23243" name="Freeform 173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44" name="Freeform 174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45" name="Oval 174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46" name="Group 1742"/>
            <p:cNvGrpSpPr>
              <a:grpSpLocks/>
            </p:cNvGrpSpPr>
            <p:nvPr/>
          </p:nvGrpSpPr>
          <p:grpSpPr bwMode="auto">
            <a:xfrm>
              <a:off x="4286" y="2748"/>
              <a:ext cx="317" cy="907"/>
              <a:chOff x="567" y="2750"/>
              <a:chExt cx="317" cy="907"/>
            </a:xfrm>
          </p:grpSpPr>
          <p:sp>
            <p:nvSpPr>
              <p:cNvPr id="23247" name="Freeform 174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48" name="Freeform 174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49" name="Oval 174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50" name="Group 1746"/>
            <p:cNvGrpSpPr>
              <a:grpSpLocks/>
            </p:cNvGrpSpPr>
            <p:nvPr/>
          </p:nvGrpSpPr>
          <p:grpSpPr bwMode="auto">
            <a:xfrm>
              <a:off x="3978" y="2748"/>
              <a:ext cx="317" cy="907"/>
              <a:chOff x="567" y="2750"/>
              <a:chExt cx="317" cy="907"/>
            </a:xfrm>
          </p:grpSpPr>
          <p:sp>
            <p:nvSpPr>
              <p:cNvPr id="23251" name="Freeform 174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52" name="Freeform 174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53" name="Oval 174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54" name="Group 1750"/>
            <p:cNvGrpSpPr>
              <a:grpSpLocks/>
            </p:cNvGrpSpPr>
            <p:nvPr/>
          </p:nvGrpSpPr>
          <p:grpSpPr bwMode="auto">
            <a:xfrm>
              <a:off x="3684" y="2748"/>
              <a:ext cx="317" cy="907"/>
              <a:chOff x="567" y="2750"/>
              <a:chExt cx="317" cy="907"/>
            </a:xfrm>
          </p:grpSpPr>
          <p:sp>
            <p:nvSpPr>
              <p:cNvPr id="23255" name="Freeform 175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56" name="Freeform 175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57" name="Oval 175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58" name="Group 1754"/>
            <p:cNvGrpSpPr>
              <a:grpSpLocks/>
            </p:cNvGrpSpPr>
            <p:nvPr/>
          </p:nvGrpSpPr>
          <p:grpSpPr bwMode="auto">
            <a:xfrm>
              <a:off x="5196" y="2750"/>
              <a:ext cx="317" cy="907"/>
              <a:chOff x="567" y="2750"/>
              <a:chExt cx="317" cy="907"/>
            </a:xfrm>
          </p:grpSpPr>
          <p:sp>
            <p:nvSpPr>
              <p:cNvPr id="23259" name="Freeform 175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60" name="Freeform 175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61" name="Oval 175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62" name="Group 1758"/>
            <p:cNvGrpSpPr>
              <a:grpSpLocks/>
            </p:cNvGrpSpPr>
            <p:nvPr/>
          </p:nvGrpSpPr>
          <p:grpSpPr bwMode="auto">
            <a:xfrm>
              <a:off x="4888" y="2750"/>
              <a:ext cx="317" cy="907"/>
              <a:chOff x="567" y="2750"/>
              <a:chExt cx="317" cy="907"/>
            </a:xfrm>
          </p:grpSpPr>
          <p:sp>
            <p:nvSpPr>
              <p:cNvPr id="23263" name="Freeform 175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64" name="Freeform 176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65" name="Oval 176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66" name="Group 1762"/>
            <p:cNvGrpSpPr>
              <a:grpSpLocks/>
            </p:cNvGrpSpPr>
            <p:nvPr/>
          </p:nvGrpSpPr>
          <p:grpSpPr bwMode="auto">
            <a:xfrm>
              <a:off x="4594" y="2750"/>
              <a:ext cx="317" cy="907"/>
              <a:chOff x="567" y="2750"/>
              <a:chExt cx="317" cy="907"/>
            </a:xfrm>
          </p:grpSpPr>
          <p:sp>
            <p:nvSpPr>
              <p:cNvPr id="23267" name="Freeform 176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68" name="Freeform 176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69" name="Oval 176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270" name="Group 1766"/>
          <p:cNvGrpSpPr>
            <a:grpSpLocks/>
          </p:cNvGrpSpPr>
          <p:nvPr/>
        </p:nvGrpSpPr>
        <p:grpSpPr bwMode="auto">
          <a:xfrm flipV="1">
            <a:off x="2354262" y="4532314"/>
            <a:ext cx="6915150" cy="866775"/>
            <a:chOff x="22" y="2748"/>
            <a:chExt cx="5491" cy="909"/>
          </a:xfrm>
        </p:grpSpPr>
        <p:grpSp>
          <p:nvGrpSpPr>
            <p:cNvPr id="23271" name="Group 1767"/>
            <p:cNvGrpSpPr>
              <a:grpSpLocks/>
            </p:cNvGrpSpPr>
            <p:nvPr/>
          </p:nvGrpSpPr>
          <p:grpSpPr bwMode="auto">
            <a:xfrm>
              <a:off x="22" y="2750"/>
              <a:ext cx="317" cy="907"/>
              <a:chOff x="567" y="2750"/>
              <a:chExt cx="317" cy="907"/>
            </a:xfrm>
          </p:grpSpPr>
          <p:sp>
            <p:nvSpPr>
              <p:cNvPr id="23272" name="Freeform 176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73" name="Freeform 176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74" name="Oval 177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75" name="Group 1771"/>
            <p:cNvGrpSpPr>
              <a:grpSpLocks/>
            </p:cNvGrpSpPr>
            <p:nvPr/>
          </p:nvGrpSpPr>
          <p:grpSpPr bwMode="auto">
            <a:xfrm>
              <a:off x="328" y="2750"/>
              <a:ext cx="317" cy="907"/>
              <a:chOff x="567" y="2750"/>
              <a:chExt cx="317" cy="907"/>
            </a:xfrm>
          </p:grpSpPr>
          <p:sp>
            <p:nvSpPr>
              <p:cNvPr id="23276" name="Freeform 177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77" name="Freeform 177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78" name="Oval 1774"/>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79" name="Group 1775"/>
            <p:cNvGrpSpPr>
              <a:grpSpLocks/>
            </p:cNvGrpSpPr>
            <p:nvPr/>
          </p:nvGrpSpPr>
          <p:grpSpPr bwMode="auto">
            <a:xfrm>
              <a:off x="1237" y="2750"/>
              <a:ext cx="317" cy="907"/>
              <a:chOff x="567" y="2750"/>
              <a:chExt cx="317" cy="907"/>
            </a:xfrm>
          </p:grpSpPr>
          <p:sp>
            <p:nvSpPr>
              <p:cNvPr id="23280" name="Freeform 177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81" name="Freeform 177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82" name="Oval 177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83" name="Group 1779"/>
            <p:cNvGrpSpPr>
              <a:grpSpLocks/>
            </p:cNvGrpSpPr>
            <p:nvPr/>
          </p:nvGrpSpPr>
          <p:grpSpPr bwMode="auto">
            <a:xfrm>
              <a:off x="929" y="2750"/>
              <a:ext cx="317" cy="907"/>
              <a:chOff x="567" y="2750"/>
              <a:chExt cx="317" cy="907"/>
            </a:xfrm>
          </p:grpSpPr>
          <p:sp>
            <p:nvSpPr>
              <p:cNvPr id="23284" name="Freeform 178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85" name="Freeform 178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86" name="Oval 178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87" name="Group 1783"/>
            <p:cNvGrpSpPr>
              <a:grpSpLocks/>
            </p:cNvGrpSpPr>
            <p:nvPr/>
          </p:nvGrpSpPr>
          <p:grpSpPr bwMode="auto">
            <a:xfrm>
              <a:off x="635" y="2750"/>
              <a:ext cx="317" cy="907"/>
              <a:chOff x="567" y="2750"/>
              <a:chExt cx="317" cy="907"/>
            </a:xfrm>
          </p:grpSpPr>
          <p:sp>
            <p:nvSpPr>
              <p:cNvPr id="23288" name="Freeform 178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89" name="Freeform 178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90" name="Oval 178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91" name="Group 1787"/>
            <p:cNvGrpSpPr>
              <a:grpSpLocks/>
            </p:cNvGrpSpPr>
            <p:nvPr/>
          </p:nvGrpSpPr>
          <p:grpSpPr bwMode="auto">
            <a:xfrm>
              <a:off x="1547" y="2750"/>
              <a:ext cx="317" cy="907"/>
              <a:chOff x="567" y="2750"/>
              <a:chExt cx="317" cy="907"/>
            </a:xfrm>
          </p:grpSpPr>
          <p:sp>
            <p:nvSpPr>
              <p:cNvPr id="23292" name="Freeform 178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93" name="Freeform 178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94" name="Oval 179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95" name="Group 1791"/>
            <p:cNvGrpSpPr>
              <a:grpSpLocks/>
            </p:cNvGrpSpPr>
            <p:nvPr/>
          </p:nvGrpSpPr>
          <p:grpSpPr bwMode="auto">
            <a:xfrm>
              <a:off x="1853" y="2750"/>
              <a:ext cx="317" cy="907"/>
              <a:chOff x="567" y="2750"/>
              <a:chExt cx="317" cy="907"/>
            </a:xfrm>
          </p:grpSpPr>
          <p:sp>
            <p:nvSpPr>
              <p:cNvPr id="23296" name="Freeform 179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97" name="Freeform 179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298" name="Oval 179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299" name="Group 1795"/>
            <p:cNvGrpSpPr>
              <a:grpSpLocks/>
            </p:cNvGrpSpPr>
            <p:nvPr/>
          </p:nvGrpSpPr>
          <p:grpSpPr bwMode="auto">
            <a:xfrm>
              <a:off x="2762" y="2750"/>
              <a:ext cx="317" cy="907"/>
              <a:chOff x="567" y="2750"/>
              <a:chExt cx="317" cy="907"/>
            </a:xfrm>
          </p:grpSpPr>
          <p:sp>
            <p:nvSpPr>
              <p:cNvPr id="23300" name="Freeform 179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01" name="Freeform 179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02" name="Oval 179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03" name="Group 1799"/>
            <p:cNvGrpSpPr>
              <a:grpSpLocks/>
            </p:cNvGrpSpPr>
            <p:nvPr/>
          </p:nvGrpSpPr>
          <p:grpSpPr bwMode="auto">
            <a:xfrm>
              <a:off x="2454" y="2750"/>
              <a:ext cx="317" cy="907"/>
              <a:chOff x="567" y="2750"/>
              <a:chExt cx="317" cy="907"/>
            </a:xfrm>
          </p:grpSpPr>
          <p:sp>
            <p:nvSpPr>
              <p:cNvPr id="23304" name="Freeform 180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05" name="Freeform 180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06" name="Oval 180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07" name="Group 1803"/>
            <p:cNvGrpSpPr>
              <a:grpSpLocks/>
            </p:cNvGrpSpPr>
            <p:nvPr/>
          </p:nvGrpSpPr>
          <p:grpSpPr bwMode="auto">
            <a:xfrm>
              <a:off x="2160" y="2750"/>
              <a:ext cx="317" cy="907"/>
              <a:chOff x="567" y="2750"/>
              <a:chExt cx="317" cy="907"/>
            </a:xfrm>
          </p:grpSpPr>
          <p:sp>
            <p:nvSpPr>
              <p:cNvPr id="23308" name="Freeform 180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09" name="Freeform 180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10" name="Oval 180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11" name="Group 1807"/>
            <p:cNvGrpSpPr>
              <a:grpSpLocks/>
            </p:cNvGrpSpPr>
            <p:nvPr/>
          </p:nvGrpSpPr>
          <p:grpSpPr bwMode="auto">
            <a:xfrm>
              <a:off x="3071" y="2748"/>
              <a:ext cx="317" cy="907"/>
              <a:chOff x="567" y="2750"/>
              <a:chExt cx="317" cy="907"/>
            </a:xfrm>
          </p:grpSpPr>
          <p:sp>
            <p:nvSpPr>
              <p:cNvPr id="23312" name="Freeform 180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13" name="Freeform 180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14" name="Oval 181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15" name="Group 1811"/>
            <p:cNvGrpSpPr>
              <a:grpSpLocks/>
            </p:cNvGrpSpPr>
            <p:nvPr/>
          </p:nvGrpSpPr>
          <p:grpSpPr bwMode="auto">
            <a:xfrm>
              <a:off x="3377" y="2748"/>
              <a:ext cx="317" cy="907"/>
              <a:chOff x="567" y="2750"/>
              <a:chExt cx="317" cy="907"/>
            </a:xfrm>
          </p:grpSpPr>
          <p:sp>
            <p:nvSpPr>
              <p:cNvPr id="23316" name="Freeform 181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17" name="Freeform 181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18" name="Oval 181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19" name="Group 1815"/>
            <p:cNvGrpSpPr>
              <a:grpSpLocks/>
            </p:cNvGrpSpPr>
            <p:nvPr/>
          </p:nvGrpSpPr>
          <p:grpSpPr bwMode="auto">
            <a:xfrm>
              <a:off x="4286" y="2748"/>
              <a:ext cx="317" cy="907"/>
              <a:chOff x="567" y="2750"/>
              <a:chExt cx="317" cy="907"/>
            </a:xfrm>
          </p:grpSpPr>
          <p:sp>
            <p:nvSpPr>
              <p:cNvPr id="23320" name="Freeform 181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21" name="Freeform 181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22" name="Oval 181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23" name="Group 1819"/>
            <p:cNvGrpSpPr>
              <a:grpSpLocks/>
            </p:cNvGrpSpPr>
            <p:nvPr/>
          </p:nvGrpSpPr>
          <p:grpSpPr bwMode="auto">
            <a:xfrm>
              <a:off x="3978" y="2748"/>
              <a:ext cx="317" cy="907"/>
              <a:chOff x="567" y="2750"/>
              <a:chExt cx="317" cy="907"/>
            </a:xfrm>
          </p:grpSpPr>
          <p:sp>
            <p:nvSpPr>
              <p:cNvPr id="23324" name="Freeform 182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25" name="Freeform 182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26" name="Oval 182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27" name="Group 1823"/>
            <p:cNvGrpSpPr>
              <a:grpSpLocks/>
            </p:cNvGrpSpPr>
            <p:nvPr/>
          </p:nvGrpSpPr>
          <p:grpSpPr bwMode="auto">
            <a:xfrm>
              <a:off x="3684" y="2748"/>
              <a:ext cx="317" cy="907"/>
              <a:chOff x="567" y="2750"/>
              <a:chExt cx="317" cy="907"/>
            </a:xfrm>
          </p:grpSpPr>
          <p:sp>
            <p:nvSpPr>
              <p:cNvPr id="23328" name="Freeform 182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29" name="Freeform 182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30" name="Oval 182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31" name="Group 1827"/>
            <p:cNvGrpSpPr>
              <a:grpSpLocks/>
            </p:cNvGrpSpPr>
            <p:nvPr/>
          </p:nvGrpSpPr>
          <p:grpSpPr bwMode="auto">
            <a:xfrm>
              <a:off x="5196" y="2750"/>
              <a:ext cx="317" cy="907"/>
              <a:chOff x="567" y="2750"/>
              <a:chExt cx="317" cy="907"/>
            </a:xfrm>
          </p:grpSpPr>
          <p:sp>
            <p:nvSpPr>
              <p:cNvPr id="23332" name="Freeform 182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33" name="Freeform 182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34" name="Oval 183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35" name="Group 1831"/>
            <p:cNvGrpSpPr>
              <a:grpSpLocks/>
            </p:cNvGrpSpPr>
            <p:nvPr/>
          </p:nvGrpSpPr>
          <p:grpSpPr bwMode="auto">
            <a:xfrm>
              <a:off x="4888" y="2750"/>
              <a:ext cx="317" cy="907"/>
              <a:chOff x="567" y="2750"/>
              <a:chExt cx="317" cy="907"/>
            </a:xfrm>
          </p:grpSpPr>
          <p:sp>
            <p:nvSpPr>
              <p:cNvPr id="23336" name="Freeform 183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37" name="Freeform 183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38" name="Oval 183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39" name="Group 1835"/>
            <p:cNvGrpSpPr>
              <a:grpSpLocks/>
            </p:cNvGrpSpPr>
            <p:nvPr/>
          </p:nvGrpSpPr>
          <p:grpSpPr bwMode="auto">
            <a:xfrm>
              <a:off x="4594" y="2750"/>
              <a:ext cx="317" cy="907"/>
              <a:chOff x="567" y="2750"/>
              <a:chExt cx="317" cy="907"/>
            </a:xfrm>
          </p:grpSpPr>
          <p:sp>
            <p:nvSpPr>
              <p:cNvPr id="23340" name="Freeform 183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41" name="Freeform 183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42" name="Oval 183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343" name="Group 1839"/>
          <p:cNvGrpSpPr>
            <a:grpSpLocks/>
          </p:cNvGrpSpPr>
          <p:nvPr/>
        </p:nvGrpSpPr>
        <p:grpSpPr bwMode="auto">
          <a:xfrm>
            <a:off x="2568575" y="3748089"/>
            <a:ext cx="6915150" cy="866775"/>
            <a:chOff x="22" y="2748"/>
            <a:chExt cx="5491" cy="909"/>
          </a:xfrm>
        </p:grpSpPr>
        <p:grpSp>
          <p:nvGrpSpPr>
            <p:cNvPr id="23344" name="Group 1840"/>
            <p:cNvGrpSpPr>
              <a:grpSpLocks/>
            </p:cNvGrpSpPr>
            <p:nvPr/>
          </p:nvGrpSpPr>
          <p:grpSpPr bwMode="auto">
            <a:xfrm>
              <a:off x="22" y="2750"/>
              <a:ext cx="317" cy="907"/>
              <a:chOff x="567" y="2750"/>
              <a:chExt cx="317" cy="907"/>
            </a:xfrm>
          </p:grpSpPr>
          <p:sp>
            <p:nvSpPr>
              <p:cNvPr id="23345" name="Freeform 184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46" name="Freeform 184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47" name="Oval 184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48" name="Group 1844"/>
            <p:cNvGrpSpPr>
              <a:grpSpLocks/>
            </p:cNvGrpSpPr>
            <p:nvPr/>
          </p:nvGrpSpPr>
          <p:grpSpPr bwMode="auto">
            <a:xfrm>
              <a:off x="328" y="2750"/>
              <a:ext cx="317" cy="907"/>
              <a:chOff x="567" y="2750"/>
              <a:chExt cx="317" cy="907"/>
            </a:xfrm>
          </p:grpSpPr>
          <p:sp>
            <p:nvSpPr>
              <p:cNvPr id="23349" name="Freeform 184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50" name="Freeform 184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51" name="Oval 184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52" name="Group 1848"/>
            <p:cNvGrpSpPr>
              <a:grpSpLocks/>
            </p:cNvGrpSpPr>
            <p:nvPr/>
          </p:nvGrpSpPr>
          <p:grpSpPr bwMode="auto">
            <a:xfrm>
              <a:off x="1237" y="2750"/>
              <a:ext cx="317" cy="907"/>
              <a:chOff x="567" y="2750"/>
              <a:chExt cx="317" cy="907"/>
            </a:xfrm>
          </p:grpSpPr>
          <p:sp>
            <p:nvSpPr>
              <p:cNvPr id="23353" name="Freeform 184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54" name="Freeform 185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55" name="Oval 185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56" name="Group 1852"/>
            <p:cNvGrpSpPr>
              <a:grpSpLocks/>
            </p:cNvGrpSpPr>
            <p:nvPr/>
          </p:nvGrpSpPr>
          <p:grpSpPr bwMode="auto">
            <a:xfrm>
              <a:off x="929" y="2750"/>
              <a:ext cx="317" cy="907"/>
              <a:chOff x="567" y="2750"/>
              <a:chExt cx="317" cy="907"/>
            </a:xfrm>
          </p:grpSpPr>
          <p:sp>
            <p:nvSpPr>
              <p:cNvPr id="23357" name="Freeform 185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58" name="Freeform 185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59" name="Oval 185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60" name="Group 1856"/>
            <p:cNvGrpSpPr>
              <a:grpSpLocks/>
            </p:cNvGrpSpPr>
            <p:nvPr/>
          </p:nvGrpSpPr>
          <p:grpSpPr bwMode="auto">
            <a:xfrm>
              <a:off x="635" y="2750"/>
              <a:ext cx="317" cy="907"/>
              <a:chOff x="567" y="2750"/>
              <a:chExt cx="317" cy="907"/>
            </a:xfrm>
          </p:grpSpPr>
          <p:sp>
            <p:nvSpPr>
              <p:cNvPr id="23361" name="Freeform 185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62" name="Freeform 185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63" name="Oval 185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64" name="Group 1860"/>
            <p:cNvGrpSpPr>
              <a:grpSpLocks/>
            </p:cNvGrpSpPr>
            <p:nvPr/>
          </p:nvGrpSpPr>
          <p:grpSpPr bwMode="auto">
            <a:xfrm>
              <a:off x="1547" y="2750"/>
              <a:ext cx="317" cy="907"/>
              <a:chOff x="567" y="2750"/>
              <a:chExt cx="317" cy="907"/>
            </a:xfrm>
          </p:grpSpPr>
          <p:sp>
            <p:nvSpPr>
              <p:cNvPr id="23365" name="Freeform 186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66" name="Freeform 186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67" name="Oval 186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68" name="Group 1864"/>
            <p:cNvGrpSpPr>
              <a:grpSpLocks/>
            </p:cNvGrpSpPr>
            <p:nvPr/>
          </p:nvGrpSpPr>
          <p:grpSpPr bwMode="auto">
            <a:xfrm>
              <a:off x="1853" y="2750"/>
              <a:ext cx="317" cy="907"/>
              <a:chOff x="567" y="2750"/>
              <a:chExt cx="317" cy="907"/>
            </a:xfrm>
          </p:grpSpPr>
          <p:sp>
            <p:nvSpPr>
              <p:cNvPr id="23369" name="Freeform 186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70" name="Freeform 186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71" name="Oval 186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72" name="Group 1868"/>
            <p:cNvGrpSpPr>
              <a:grpSpLocks/>
            </p:cNvGrpSpPr>
            <p:nvPr/>
          </p:nvGrpSpPr>
          <p:grpSpPr bwMode="auto">
            <a:xfrm>
              <a:off x="2762" y="2750"/>
              <a:ext cx="317" cy="907"/>
              <a:chOff x="567" y="2750"/>
              <a:chExt cx="317" cy="907"/>
            </a:xfrm>
          </p:grpSpPr>
          <p:sp>
            <p:nvSpPr>
              <p:cNvPr id="23373" name="Freeform 186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74" name="Freeform 187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75" name="Oval 187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76" name="Group 1872"/>
            <p:cNvGrpSpPr>
              <a:grpSpLocks/>
            </p:cNvGrpSpPr>
            <p:nvPr/>
          </p:nvGrpSpPr>
          <p:grpSpPr bwMode="auto">
            <a:xfrm>
              <a:off x="2454" y="2750"/>
              <a:ext cx="317" cy="907"/>
              <a:chOff x="567" y="2750"/>
              <a:chExt cx="317" cy="907"/>
            </a:xfrm>
          </p:grpSpPr>
          <p:sp>
            <p:nvSpPr>
              <p:cNvPr id="23377" name="Freeform 187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78" name="Freeform 187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79" name="Oval 187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80" name="Group 1876"/>
            <p:cNvGrpSpPr>
              <a:grpSpLocks/>
            </p:cNvGrpSpPr>
            <p:nvPr/>
          </p:nvGrpSpPr>
          <p:grpSpPr bwMode="auto">
            <a:xfrm>
              <a:off x="2160" y="2750"/>
              <a:ext cx="317" cy="907"/>
              <a:chOff x="567" y="2750"/>
              <a:chExt cx="317" cy="907"/>
            </a:xfrm>
          </p:grpSpPr>
          <p:sp>
            <p:nvSpPr>
              <p:cNvPr id="23381" name="Freeform 187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82" name="Freeform 187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83" name="Oval 187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84" name="Group 1880"/>
            <p:cNvGrpSpPr>
              <a:grpSpLocks/>
            </p:cNvGrpSpPr>
            <p:nvPr/>
          </p:nvGrpSpPr>
          <p:grpSpPr bwMode="auto">
            <a:xfrm>
              <a:off x="3071" y="2748"/>
              <a:ext cx="317" cy="907"/>
              <a:chOff x="567" y="2750"/>
              <a:chExt cx="317" cy="907"/>
            </a:xfrm>
          </p:grpSpPr>
          <p:sp>
            <p:nvSpPr>
              <p:cNvPr id="23385" name="Freeform 188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86" name="Freeform 188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87" name="Oval 188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88" name="Group 1884"/>
            <p:cNvGrpSpPr>
              <a:grpSpLocks/>
            </p:cNvGrpSpPr>
            <p:nvPr/>
          </p:nvGrpSpPr>
          <p:grpSpPr bwMode="auto">
            <a:xfrm>
              <a:off x="3377" y="2748"/>
              <a:ext cx="317" cy="907"/>
              <a:chOff x="567" y="2750"/>
              <a:chExt cx="317" cy="907"/>
            </a:xfrm>
          </p:grpSpPr>
          <p:sp>
            <p:nvSpPr>
              <p:cNvPr id="23389" name="Freeform 188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90" name="Freeform 188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91" name="Oval 188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92" name="Group 1888"/>
            <p:cNvGrpSpPr>
              <a:grpSpLocks/>
            </p:cNvGrpSpPr>
            <p:nvPr/>
          </p:nvGrpSpPr>
          <p:grpSpPr bwMode="auto">
            <a:xfrm>
              <a:off x="4286" y="2748"/>
              <a:ext cx="317" cy="907"/>
              <a:chOff x="567" y="2750"/>
              <a:chExt cx="317" cy="907"/>
            </a:xfrm>
          </p:grpSpPr>
          <p:sp>
            <p:nvSpPr>
              <p:cNvPr id="23393" name="Freeform 188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94" name="Freeform 189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95" name="Oval 189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396" name="Group 1892"/>
            <p:cNvGrpSpPr>
              <a:grpSpLocks/>
            </p:cNvGrpSpPr>
            <p:nvPr/>
          </p:nvGrpSpPr>
          <p:grpSpPr bwMode="auto">
            <a:xfrm>
              <a:off x="3978" y="2748"/>
              <a:ext cx="317" cy="907"/>
              <a:chOff x="567" y="2750"/>
              <a:chExt cx="317" cy="907"/>
            </a:xfrm>
          </p:grpSpPr>
          <p:sp>
            <p:nvSpPr>
              <p:cNvPr id="23397" name="Freeform 189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98" name="Freeform 189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399" name="Oval 189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00" name="Group 1896"/>
            <p:cNvGrpSpPr>
              <a:grpSpLocks/>
            </p:cNvGrpSpPr>
            <p:nvPr/>
          </p:nvGrpSpPr>
          <p:grpSpPr bwMode="auto">
            <a:xfrm>
              <a:off x="3684" y="2748"/>
              <a:ext cx="317" cy="907"/>
              <a:chOff x="567" y="2750"/>
              <a:chExt cx="317" cy="907"/>
            </a:xfrm>
          </p:grpSpPr>
          <p:sp>
            <p:nvSpPr>
              <p:cNvPr id="23401" name="Freeform 189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02" name="Freeform 189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03" name="Oval 189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04" name="Group 1900"/>
            <p:cNvGrpSpPr>
              <a:grpSpLocks/>
            </p:cNvGrpSpPr>
            <p:nvPr/>
          </p:nvGrpSpPr>
          <p:grpSpPr bwMode="auto">
            <a:xfrm>
              <a:off x="5196" y="2750"/>
              <a:ext cx="317" cy="907"/>
              <a:chOff x="567" y="2750"/>
              <a:chExt cx="317" cy="907"/>
            </a:xfrm>
          </p:grpSpPr>
          <p:sp>
            <p:nvSpPr>
              <p:cNvPr id="23405" name="Freeform 190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06" name="Freeform 190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07" name="Oval 190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08" name="Group 1904"/>
            <p:cNvGrpSpPr>
              <a:grpSpLocks/>
            </p:cNvGrpSpPr>
            <p:nvPr/>
          </p:nvGrpSpPr>
          <p:grpSpPr bwMode="auto">
            <a:xfrm>
              <a:off x="4888" y="2750"/>
              <a:ext cx="317" cy="907"/>
              <a:chOff x="567" y="2750"/>
              <a:chExt cx="317" cy="907"/>
            </a:xfrm>
          </p:grpSpPr>
          <p:sp>
            <p:nvSpPr>
              <p:cNvPr id="23409" name="Freeform 190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10" name="Freeform 190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11" name="Oval 190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12" name="Group 1908"/>
            <p:cNvGrpSpPr>
              <a:grpSpLocks/>
            </p:cNvGrpSpPr>
            <p:nvPr/>
          </p:nvGrpSpPr>
          <p:grpSpPr bwMode="auto">
            <a:xfrm>
              <a:off x="4594" y="2750"/>
              <a:ext cx="317" cy="907"/>
              <a:chOff x="567" y="2750"/>
              <a:chExt cx="317" cy="907"/>
            </a:xfrm>
          </p:grpSpPr>
          <p:sp>
            <p:nvSpPr>
              <p:cNvPr id="23413" name="Freeform 190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14" name="Freeform 191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15" name="Oval 191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416" name="Group 1912"/>
          <p:cNvGrpSpPr>
            <a:grpSpLocks/>
          </p:cNvGrpSpPr>
          <p:nvPr/>
        </p:nvGrpSpPr>
        <p:grpSpPr bwMode="auto">
          <a:xfrm flipV="1">
            <a:off x="2570162" y="4748214"/>
            <a:ext cx="6915150" cy="866775"/>
            <a:chOff x="22" y="2748"/>
            <a:chExt cx="5491" cy="909"/>
          </a:xfrm>
        </p:grpSpPr>
        <p:grpSp>
          <p:nvGrpSpPr>
            <p:cNvPr id="23417" name="Group 1913"/>
            <p:cNvGrpSpPr>
              <a:grpSpLocks/>
            </p:cNvGrpSpPr>
            <p:nvPr/>
          </p:nvGrpSpPr>
          <p:grpSpPr bwMode="auto">
            <a:xfrm>
              <a:off x="22" y="2750"/>
              <a:ext cx="317" cy="907"/>
              <a:chOff x="567" y="2750"/>
              <a:chExt cx="317" cy="907"/>
            </a:xfrm>
          </p:grpSpPr>
          <p:sp>
            <p:nvSpPr>
              <p:cNvPr id="23418" name="Freeform 191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19" name="Freeform 191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20" name="Oval 191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21" name="Group 1917"/>
            <p:cNvGrpSpPr>
              <a:grpSpLocks/>
            </p:cNvGrpSpPr>
            <p:nvPr/>
          </p:nvGrpSpPr>
          <p:grpSpPr bwMode="auto">
            <a:xfrm>
              <a:off x="328" y="2750"/>
              <a:ext cx="317" cy="907"/>
              <a:chOff x="567" y="2750"/>
              <a:chExt cx="317" cy="907"/>
            </a:xfrm>
          </p:grpSpPr>
          <p:sp>
            <p:nvSpPr>
              <p:cNvPr id="23422" name="Freeform 191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23" name="Freeform 191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24" name="Oval 1920"/>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25" name="Group 1921"/>
            <p:cNvGrpSpPr>
              <a:grpSpLocks/>
            </p:cNvGrpSpPr>
            <p:nvPr/>
          </p:nvGrpSpPr>
          <p:grpSpPr bwMode="auto">
            <a:xfrm>
              <a:off x="1237" y="2750"/>
              <a:ext cx="317" cy="907"/>
              <a:chOff x="567" y="2750"/>
              <a:chExt cx="317" cy="907"/>
            </a:xfrm>
          </p:grpSpPr>
          <p:sp>
            <p:nvSpPr>
              <p:cNvPr id="23426" name="Freeform 192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27" name="Freeform 192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28" name="Oval 192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29" name="Group 1925"/>
            <p:cNvGrpSpPr>
              <a:grpSpLocks/>
            </p:cNvGrpSpPr>
            <p:nvPr/>
          </p:nvGrpSpPr>
          <p:grpSpPr bwMode="auto">
            <a:xfrm>
              <a:off x="929" y="2750"/>
              <a:ext cx="317" cy="907"/>
              <a:chOff x="567" y="2750"/>
              <a:chExt cx="317" cy="907"/>
            </a:xfrm>
          </p:grpSpPr>
          <p:sp>
            <p:nvSpPr>
              <p:cNvPr id="23430" name="Freeform 192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31" name="Freeform 192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32" name="Oval 192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33" name="Group 1929"/>
            <p:cNvGrpSpPr>
              <a:grpSpLocks/>
            </p:cNvGrpSpPr>
            <p:nvPr/>
          </p:nvGrpSpPr>
          <p:grpSpPr bwMode="auto">
            <a:xfrm>
              <a:off x="635" y="2750"/>
              <a:ext cx="317" cy="907"/>
              <a:chOff x="567" y="2750"/>
              <a:chExt cx="317" cy="907"/>
            </a:xfrm>
          </p:grpSpPr>
          <p:sp>
            <p:nvSpPr>
              <p:cNvPr id="23434" name="Freeform 193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35" name="Freeform 193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36" name="Oval 193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37" name="Group 1933"/>
            <p:cNvGrpSpPr>
              <a:grpSpLocks/>
            </p:cNvGrpSpPr>
            <p:nvPr/>
          </p:nvGrpSpPr>
          <p:grpSpPr bwMode="auto">
            <a:xfrm>
              <a:off x="1547" y="2750"/>
              <a:ext cx="317" cy="907"/>
              <a:chOff x="567" y="2750"/>
              <a:chExt cx="317" cy="907"/>
            </a:xfrm>
          </p:grpSpPr>
          <p:sp>
            <p:nvSpPr>
              <p:cNvPr id="23438" name="Freeform 193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39" name="Freeform 193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40" name="Oval 193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41" name="Group 1937"/>
            <p:cNvGrpSpPr>
              <a:grpSpLocks/>
            </p:cNvGrpSpPr>
            <p:nvPr/>
          </p:nvGrpSpPr>
          <p:grpSpPr bwMode="auto">
            <a:xfrm>
              <a:off x="1853" y="2750"/>
              <a:ext cx="317" cy="907"/>
              <a:chOff x="567" y="2750"/>
              <a:chExt cx="317" cy="907"/>
            </a:xfrm>
          </p:grpSpPr>
          <p:sp>
            <p:nvSpPr>
              <p:cNvPr id="23442" name="Freeform 193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43" name="Freeform 193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44" name="Oval 194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45" name="Group 1941"/>
            <p:cNvGrpSpPr>
              <a:grpSpLocks/>
            </p:cNvGrpSpPr>
            <p:nvPr/>
          </p:nvGrpSpPr>
          <p:grpSpPr bwMode="auto">
            <a:xfrm>
              <a:off x="2762" y="2750"/>
              <a:ext cx="317" cy="907"/>
              <a:chOff x="567" y="2750"/>
              <a:chExt cx="317" cy="907"/>
            </a:xfrm>
          </p:grpSpPr>
          <p:sp>
            <p:nvSpPr>
              <p:cNvPr id="23446" name="Freeform 194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47" name="Freeform 194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48" name="Oval 194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49" name="Group 1945"/>
            <p:cNvGrpSpPr>
              <a:grpSpLocks/>
            </p:cNvGrpSpPr>
            <p:nvPr/>
          </p:nvGrpSpPr>
          <p:grpSpPr bwMode="auto">
            <a:xfrm>
              <a:off x="2454" y="2750"/>
              <a:ext cx="317" cy="907"/>
              <a:chOff x="567" y="2750"/>
              <a:chExt cx="317" cy="907"/>
            </a:xfrm>
          </p:grpSpPr>
          <p:sp>
            <p:nvSpPr>
              <p:cNvPr id="23450" name="Freeform 194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51" name="Freeform 194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52" name="Oval 194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53" name="Group 1949"/>
            <p:cNvGrpSpPr>
              <a:grpSpLocks/>
            </p:cNvGrpSpPr>
            <p:nvPr/>
          </p:nvGrpSpPr>
          <p:grpSpPr bwMode="auto">
            <a:xfrm>
              <a:off x="2160" y="2750"/>
              <a:ext cx="317" cy="907"/>
              <a:chOff x="567" y="2750"/>
              <a:chExt cx="317" cy="907"/>
            </a:xfrm>
          </p:grpSpPr>
          <p:sp>
            <p:nvSpPr>
              <p:cNvPr id="23454" name="Freeform 195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55" name="Freeform 195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56" name="Oval 195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57" name="Group 1953"/>
            <p:cNvGrpSpPr>
              <a:grpSpLocks/>
            </p:cNvGrpSpPr>
            <p:nvPr/>
          </p:nvGrpSpPr>
          <p:grpSpPr bwMode="auto">
            <a:xfrm>
              <a:off x="3071" y="2748"/>
              <a:ext cx="317" cy="907"/>
              <a:chOff x="567" y="2750"/>
              <a:chExt cx="317" cy="907"/>
            </a:xfrm>
          </p:grpSpPr>
          <p:sp>
            <p:nvSpPr>
              <p:cNvPr id="23458" name="Freeform 195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59" name="Freeform 195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60" name="Oval 195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61" name="Group 1957"/>
            <p:cNvGrpSpPr>
              <a:grpSpLocks/>
            </p:cNvGrpSpPr>
            <p:nvPr/>
          </p:nvGrpSpPr>
          <p:grpSpPr bwMode="auto">
            <a:xfrm>
              <a:off x="3377" y="2748"/>
              <a:ext cx="317" cy="907"/>
              <a:chOff x="567" y="2750"/>
              <a:chExt cx="317" cy="907"/>
            </a:xfrm>
          </p:grpSpPr>
          <p:sp>
            <p:nvSpPr>
              <p:cNvPr id="23462" name="Freeform 195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63" name="Freeform 195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64" name="Oval 196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65" name="Group 1961"/>
            <p:cNvGrpSpPr>
              <a:grpSpLocks/>
            </p:cNvGrpSpPr>
            <p:nvPr/>
          </p:nvGrpSpPr>
          <p:grpSpPr bwMode="auto">
            <a:xfrm>
              <a:off x="4286" y="2748"/>
              <a:ext cx="317" cy="907"/>
              <a:chOff x="567" y="2750"/>
              <a:chExt cx="317" cy="907"/>
            </a:xfrm>
          </p:grpSpPr>
          <p:sp>
            <p:nvSpPr>
              <p:cNvPr id="23466" name="Freeform 196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67" name="Freeform 196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68" name="Oval 196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69" name="Group 1965"/>
            <p:cNvGrpSpPr>
              <a:grpSpLocks/>
            </p:cNvGrpSpPr>
            <p:nvPr/>
          </p:nvGrpSpPr>
          <p:grpSpPr bwMode="auto">
            <a:xfrm>
              <a:off x="3978" y="2748"/>
              <a:ext cx="317" cy="907"/>
              <a:chOff x="567" y="2750"/>
              <a:chExt cx="317" cy="907"/>
            </a:xfrm>
          </p:grpSpPr>
          <p:sp>
            <p:nvSpPr>
              <p:cNvPr id="23470" name="Freeform 196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71" name="Freeform 196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72" name="Oval 196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73" name="Group 1969"/>
            <p:cNvGrpSpPr>
              <a:grpSpLocks/>
            </p:cNvGrpSpPr>
            <p:nvPr/>
          </p:nvGrpSpPr>
          <p:grpSpPr bwMode="auto">
            <a:xfrm>
              <a:off x="3684" y="2748"/>
              <a:ext cx="317" cy="907"/>
              <a:chOff x="567" y="2750"/>
              <a:chExt cx="317" cy="907"/>
            </a:xfrm>
          </p:grpSpPr>
          <p:sp>
            <p:nvSpPr>
              <p:cNvPr id="23474" name="Freeform 197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75" name="Freeform 197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76" name="Oval 197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77" name="Group 1973"/>
            <p:cNvGrpSpPr>
              <a:grpSpLocks/>
            </p:cNvGrpSpPr>
            <p:nvPr/>
          </p:nvGrpSpPr>
          <p:grpSpPr bwMode="auto">
            <a:xfrm>
              <a:off x="5196" y="2750"/>
              <a:ext cx="317" cy="907"/>
              <a:chOff x="567" y="2750"/>
              <a:chExt cx="317" cy="907"/>
            </a:xfrm>
          </p:grpSpPr>
          <p:sp>
            <p:nvSpPr>
              <p:cNvPr id="23478" name="Freeform 197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79" name="Freeform 197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80" name="Oval 197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81" name="Group 1977"/>
            <p:cNvGrpSpPr>
              <a:grpSpLocks/>
            </p:cNvGrpSpPr>
            <p:nvPr/>
          </p:nvGrpSpPr>
          <p:grpSpPr bwMode="auto">
            <a:xfrm>
              <a:off x="4888" y="2750"/>
              <a:ext cx="317" cy="907"/>
              <a:chOff x="567" y="2750"/>
              <a:chExt cx="317" cy="907"/>
            </a:xfrm>
          </p:grpSpPr>
          <p:sp>
            <p:nvSpPr>
              <p:cNvPr id="23482" name="Freeform 197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83" name="Freeform 197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84" name="Oval 198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85" name="Group 1981"/>
            <p:cNvGrpSpPr>
              <a:grpSpLocks/>
            </p:cNvGrpSpPr>
            <p:nvPr/>
          </p:nvGrpSpPr>
          <p:grpSpPr bwMode="auto">
            <a:xfrm>
              <a:off x="4594" y="2750"/>
              <a:ext cx="317" cy="907"/>
              <a:chOff x="567" y="2750"/>
              <a:chExt cx="317" cy="907"/>
            </a:xfrm>
          </p:grpSpPr>
          <p:sp>
            <p:nvSpPr>
              <p:cNvPr id="23486" name="Freeform 198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87" name="Freeform 198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88" name="Oval 198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sp>
        <p:nvSpPr>
          <p:cNvPr id="24075" name="AutoShape 2571"/>
          <p:cNvSpPr>
            <a:spLocks noChangeArrowheads="1"/>
          </p:cNvSpPr>
          <p:nvPr/>
        </p:nvSpPr>
        <p:spPr bwMode="auto">
          <a:xfrm>
            <a:off x="5807076" y="3357564"/>
            <a:ext cx="935037" cy="3070225"/>
          </a:xfrm>
          <a:prstGeom prst="can">
            <a:avLst>
              <a:gd name="adj" fmla="val 32957"/>
            </a:avLst>
          </a:prstGeom>
          <a:gradFill rotWithShape="1">
            <a:gsLst>
              <a:gs pos="0">
                <a:srgbClr val="FF9900"/>
              </a:gs>
              <a:gs pos="100000">
                <a:srgbClr val="6633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nvGrpSpPr>
          <p:cNvPr id="23489" name="Group 1985"/>
          <p:cNvGrpSpPr>
            <a:grpSpLocks/>
          </p:cNvGrpSpPr>
          <p:nvPr/>
        </p:nvGrpSpPr>
        <p:grpSpPr bwMode="auto">
          <a:xfrm>
            <a:off x="2711450" y="3963989"/>
            <a:ext cx="6915150" cy="866775"/>
            <a:chOff x="22" y="2748"/>
            <a:chExt cx="5491" cy="909"/>
          </a:xfrm>
        </p:grpSpPr>
        <p:grpSp>
          <p:nvGrpSpPr>
            <p:cNvPr id="23490" name="Group 1986"/>
            <p:cNvGrpSpPr>
              <a:grpSpLocks/>
            </p:cNvGrpSpPr>
            <p:nvPr/>
          </p:nvGrpSpPr>
          <p:grpSpPr bwMode="auto">
            <a:xfrm>
              <a:off x="22" y="2750"/>
              <a:ext cx="317" cy="907"/>
              <a:chOff x="567" y="2750"/>
              <a:chExt cx="317" cy="907"/>
            </a:xfrm>
          </p:grpSpPr>
          <p:sp>
            <p:nvSpPr>
              <p:cNvPr id="23491" name="Freeform 198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92" name="Freeform 198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93" name="Oval 198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94" name="Group 1990"/>
            <p:cNvGrpSpPr>
              <a:grpSpLocks/>
            </p:cNvGrpSpPr>
            <p:nvPr/>
          </p:nvGrpSpPr>
          <p:grpSpPr bwMode="auto">
            <a:xfrm>
              <a:off x="328" y="2750"/>
              <a:ext cx="317" cy="907"/>
              <a:chOff x="567" y="2750"/>
              <a:chExt cx="317" cy="907"/>
            </a:xfrm>
          </p:grpSpPr>
          <p:sp>
            <p:nvSpPr>
              <p:cNvPr id="23495" name="Freeform 199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96" name="Freeform 199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497" name="Oval 199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498" name="Group 1994"/>
            <p:cNvGrpSpPr>
              <a:grpSpLocks/>
            </p:cNvGrpSpPr>
            <p:nvPr/>
          </p:nvGrpSpPr>
          <p:grpSpPr bwMode="auto">
            <a:xfrm>
              <a:off x="1237" y="2750"/>
              <a:ext cx="317" cy="907"/>
              <a:chOff x="567" y="2750"/>
              <a:chExt cx="317" cy="907"/>
            </a:xfrm>
          </p:grpSpPr>
          <p:sp>
            <p:nvSpPr>
              <p:cNvPr id="23499" name="Freeform 199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00" name="Freeform 199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01" name="Oval 199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02" name="Group 1998"/>
            <p:cNvGrpSpPr>
              <a:grpSpLocks/>
            </p:cNvGrpSpPr>
            <p:nvPr/>
          </p:nvGrpSpPr>
          <p:grpSpPr bwMode="auto">
            <a:xfrm>
              <a:off x="929" y="2750"/>
              <a:ext cx="317" cy="907"/>
              <a:chOff x="567" y="2750"/>
              <a:chExt cx="317" cy="907"/>
            </a:xfrm>
          </p:grpSpPr>
          <p:sp>
            <p:nvSpPr>
              <p:cNvPr id="23503" name="Freeform 199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04" name="Freeform 200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05" name="Oval 200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06" name="Group 2002"/>
            <p:cNvGrpSpPr>
              <a:grpSpLocks/>
            </p:cNvGrpSpPr>
            <p:nvPr/>
          </p:nvGrpSpPr>
          <p:grpSpPr bwMode="auto">
            <a:xfrm>
              <a:off x="635" y="2750"/>
              <a:ext cx="317" cy="907"/>
              <a:chOff x="567" y="2750"/>
              <a:chExt cx="317" cy="907"/>
            </a:xfrm>
          </p:grpSpPr>
          <p:sp>
            <p:nvSpPr>
              <p:cNvPr id="23507" name="Freeform 200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08" name="Freeform 200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09" name="Oval 200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10" name="Group 2006"/>
            <p:cNvGrpSpPr>
              <a:grpSpLocks/>
            </p:cNvGrpSpPr>
            <p:nvPr/>
          </p:nvGrpSpPr>
          <p:grpSpPr bwMode="auto">
            <a:xfrm>
              <a:off x="1547" y="2750"/>
              <a:ext cx="317" cy="907"/>
              <a:chOff x="567" y="2750"/>
              <a:chExt cx="317" cy="907"/>
            </a:xfrm>
          </p:grpSpPr>
          <p:sp>
            <p:nvSpPr>
              <p:cNvPr id="23511" name="Freeform 200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12" name="Freeform 200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13" name="Oval 200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14" name="Group 2010"/>
            <p:cNvGrpSpPr>
              <a:grpSpLocks/>
            </p:cNvGrpSpPr>
            <p:nvPr/>
          </p:nvGrpSpPr>
          <p:grpSpPr bwMode="auto">
            <a:xfrm>
              <a:off x="1853" y="2750"/>
              <a:ext cx="317" cy="907"/>
              <a:chOff x="567" y="2750"/>
              <a:chExt cx="317" cy="907"/>
            </a:xfrm>
          </p:grpSpPr>
          <p:sp>
            <p:nvSpPr>
              <p:cNvPr id="23515" name="Freeform 201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16" name="Freeform 201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17" name="Oval 201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18" name="Group 2014"/>
            <p:cNvGrpSpPr>
              <a:grpSpLocks/>
            </p:cNvGrpSpPr>
            <p:nvPr/>
          </p:nvGrpSpPr>
          <p:grpSpPr bwMode="auto">
            <a:xfrm>
              <a:off x="2762" y="2750"/>
              <a:ext cx="317" cy="907"/>
              <a:chOff x="567" y="2750"/>
              <a:chExt cx="317" cy="907"/>
            </a:xfrm>
          </p:grpSpPr>
          <p:sp>
            <p:nvSpPr>
              <p:cNvPr id="23519" name="Freeform 201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20" name="Freeform 201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21" name="Oval 201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22" name="Group 2018"/>
            <p:cNvGrpSpPr>
              <a:grpSpLocks/>
            </p:cNvGrpSpPr>
            <p:nvPr/>
          </p:nvGrpSpPr>
          <p:grpSpPr bwMode="auto">
            <a:xfrm>
              <a:off x="2454" y="2750"/>
              <a:ext cx="317" cy="907"/>
              <a:chOff x="567" y="2750"/>
              <a:chExt cx="317" cy="907"/>
            </a:xfrm>
          </p:grpSpPr>
          <p:sp>
            <p:nvSpPr>
              <p:cNvPr id="23523" name="Freeform 201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24" name="Freeform 202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25" name="Oval 202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26" name="Group 2022"/>
            <p:cNvGrpSpPr>
              <a:grpSpLocks/>
            </p:cNvGrpSpPr>
            <p:nvPr/>
          </p:nvGrpSpPr>
          <p:grpSpPr bwMode="auto">
            <a:xfrm>
              <a:off x="2160" y="2750"/>
              <a:ext cx="317" cy="907"/>
              <a:chOff x="567" y="2750"/>
              <a:chExt cx="317" cy="907"/>
            </a:xfrm>
          </p:grpSpPr>
          <p:sp>
            <p:nvSpPr>
              <p:cNvPr id="23527" name="Freeform 202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28" name="Freeform 202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29" name="Oval 202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30" name="Group 2026"/>
            <p:cNvGrpSpPr>
              <a:grpSpLocks/>
            </p:cNvGrpSpPr>
            <p:nvPr/>
          </p:nvGrpSpPr>
          <p:grpSpPr bwMode="auto">
            <a:xfrm>
              <a:off x="3071" y="2748"/>
              <a:ext cx="317" cy="907"/>
              <a:chOff x="567" y="2750"/>
              <a:chExt cx="317" cy="907"/>
            </a:xfrm>
          </p:grpSpPr>
          <p:sp>
            <p:nvSpPr>
              <p:cNvPr id="23531" name="Freeform 202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32" name="Freeform 202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33" name="Oval 202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34" name="Group 2030"/>
            <p:cNvGrpSpPr>
              <a:grpSpLocks/>
            </p:cNvGrpSpPr>
            <p:nvPr/>
          </p:nvGrpSpPr>
          <p:grpSpPr bwMode="auto">
            <a:xfrm>
              <a:off x="3377" y="2748"/>
              <a:ext cx="317" cy="907"/>
              <a:chOff x="567" y="2750"/>
              <a:chExt cx="317" cy="907"/>
            </a:xfrm>
          </p:grpSpPr>
          <p:sp>
            <p:nvSpPr>
              <p:cNvPr id="23535" name="Freeform 203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36" name="Freeform 203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37" name="Oval 203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38" name="Group 2034"/>
            <p:cNvGrpSpPr>
              <a:grpSpLocks/>
            </p:cNvGrpSpPr>
            <p:nvPr/>
          </p:nvGrpSpPr>
          <p:grpSpPr bwMode="auto">
            <a:xfrm>
              <a:off x="4286" y="2748"/>
              <a:ext cx="317" cy="907"/>
              <a:chOff x="567" y="2750"/>
              <a:chExt cx="317" cy="907"/>
            </a:xfrm>
          </p:grpSpPr>
          <p:sp>
            <p:nvSpPr>
              <p:cNvPr id="23539" name="Freeform 203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40" name="Freeform 203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41" name="Oval 203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42" name="Group 2038"/>
            <p:cNvGrpSpPr>
              <a:grpSpLocks/>
            </p:cNvGrpSpPr>
            <p:nvPr/>
          </p:nvGrpSpPr>
          <p:grpSpPr bwMode="auto">
            <a:xfrm>
              <a:off x="3978" y="2748"/>
              <a:ext cx="317" cy="907"/>
              <a:chOff x="567" y="2750"/>
              <a:chExt cx="317" cy="907"/>
            </a:xfrm>
          </p:grpSpPr>
          <p:sp>
            <p:nvSpPr>
              <p:cNvPr id="23543" name="Freeform 203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44" name="Freeform 204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45" name="Oval 204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46" name="Group 2042"/>
            <p:cNvGrpSpPr>
              <a:grpSpLocks/>
            </p:cNvGrpSpPr>
            <p:nvPr/>
          </p:nvGrpSpPr>
          <p:grpSpPr bwMode="auto">
            <a:xfrm>
              <a:off x="3684" y="2748"/>
              <a:ext cx="317" cy="907"/>
              <a:chOff x="567" y="2750"/>
              <a:chExt cx="317" cy="907"/>
            </a:xfrm>
          </p:grpSpPr>
          <p:sp>
            <p:nvSpPr>
              <p:cNvPr id="23547" name="Freeform 204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48" name="Freeform 204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49" name="Oval 204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50" name="Group 2046"/>
            <p:cNvGrpSpPr>
              <a:grpSpLocks/>
            </p:cNvGrpSpPr>
            <p:nvPr/>
          </p:nvGrpSpPr>
          <p:grpSpPr bwMode="auto">
            <a:xfrm>
              <a:off x="5196" y="2750"/>
              <a:ext cx="317" cy="907"/>
              <a:chOff x="567" y="2750"/>
              <a:chExt cx="317" cy="907"/>
            </a:xfrm>
          </p:grpSpPr>
          <p:sp>
            <p:nvSpPr>
              <p:cNvPr id="23551" name="Freeform 204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52" name="Freeform 204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53" name="Oval 204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54" name="Group 2050"/>
            <p:cNvGrpSpPr>
              <a:grpSpLocks/>
            </p:cNvGrpSpPr>
            <p:nvPr/>
          </p:nvGrpSpPr>
          <p:grpSpPr bwMode="auto">
            <a:xfrm>
              <a:off x="4888" y="2750"/>
              <a:ext cx="317" cy="907"/>
              <a:chOff x="567" y="2750"/>
              <a:chExt cx="317" cy="907"/>
            </a:xfrm>
          </p:grpSpPr>
          <p:sp>
            <p:nvSpPr>
              <p:cNvPr id="23555" name="Freeform 205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56" name="Freeform 205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57" name="Oval 205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58" name="Group 2054"/>
            <p:cNvGrpSpPr>
              <a:grpSpLocks/>
            </p:cNvGrpSpPr>
            <p:nvPr/>
          </p:nvGrpSpPr>
          <p:grpSpPr bwMode="auto">
            <a:xfrm>
              <a:off x="4594" y="2750"/>
              <a:ext cx="317" cy="907"/>
              <a:chOff x="567" y="2750"/>
              <a:chExt cx="317" cy="907"/>
            </a:xfrm>
          </p:grpSpPr>
          <p:sp>
            <p:nvSpPr>
              <p:cNvPr id="23559" name="Freeform 205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60" name="Freeform 205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61" name="Oval 205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562" name="Group 2058"/>
          <p:cNvGrpSpPr>
            <a:grpSpLocks/>
          </p:cNvGrpSpPr>
          <p:nvPr/>
        </p:nvGrpSpPr>
        <p:grpSpPr bwMode="auto">
          <a:xfrm flipV="1">
            <a:off x="2713037" y="4897439"/>
            <a:ext cx="6915150" cy="866775"/>
            <a:chOff x="22" y="2748"/>
            <a:chExt cx="5491" cy="909"/>
          </a:xfrm>
        </p:grpSpPr>
        <p:grpSp>
          <p:nvGrpSpPr>
            <p:cNvPr id="23563" name="Group 2059"/>
            <p:cNvGrpSpPr>
              <a:grpSpLocks/>
            </p:cNvGrpSpPr>
            <p:nvPr/>
          </p:nvGrpSpPr>
          <p:grpSpPr bwMode="auto">
            <a:xfrm>
              <a:off x="22" y="2750"/>
              <a:ext cx="317" cy="907"/>
              <a:chOff x="567" y="2750"/>
              <a:chExt cx="317" cy="907"/>
            </a:xfrm>
          </p:grpSpPr>
          <p:sp>
            <p:nvSpPr>
              <p:cNvPr id="23564" name="Freeform 206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65" name="Freeform 206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66" name="Oval 206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67" name="Group 2063"/>
            <p:cNvGrpSpPr>
              <a:grpSpLocks/>
            </p:cNvGrpSpPr>
            <p:nvPr/>
          </p:nvGrpSpPr>
          <p:grpSpPr bwMode="auto">
            <a:xfrm>
              <a:off x="328" y="2750"/>
              <a:ext cx="317" cy="907"/>
              <a:chOff x="567" y="2750"/>
              <a:chExt cx="317" cy="907"/>
            </a:xfrm>
          </p:grpSpPr>
          <p:sp>
            <p:nvSpPr>
              <p:cNvPr id="23568" name="Freeform 206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69" name="Freeform 206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70" name="Oval 2066"/>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71" name="Group 2067"/>
            <p:cNvGrpSpPr>
              <a:grpSpLocks/>
            </p:cNvGrpSpPr>
            <p:nvPr/>
          </p:nvGrpSpPr>
          <p:grpSpPr bwMode="auto">
            <a:xfrm>
              <a:off x="1237" y="2750"/>
              <a:ext cx="317" cy="907"/>
              <a:chOff x="567" y="2750"/>
              <a:chExt cx="317" cy="907"/>
            </a:xfrm>
          </p:grpSpPr>
          <p:sp>
            <p:nvSpPr>
              <p:cNvPr id="23572" name="Freeform 206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73" name="Freeform 206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74" name="Oval 207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75" name="Group 2071"/>
            <p:cNvGrpSpPr>
              <a:grpSpLocks/>
            </p:cNvGrpSpPr>
            <p:nvPr/>
          </p:nvGrpSpPr>
          <p:grpSpPr bwMode="auto">
            <a:xfrm>
              <a:off x="929" y="2750"/>
              <a:ext cx="317" cy="907"/>
              <a:chOff x="567" y="2750"/>
              <a:chExt cx="317" cy="907"/>
            </a:xfrm>
          </p:grpSpPr>
          <p:sp>
            <p:nvSpPr>
              <p:cNvPr id="23576" name="Freeform 207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77" name="Freeform 207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78" name="Oval 207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79" name="Group 2075"/>
            <p:cNvGrpSpPr>
              <a:grpSpLocks/>
            </p:cNvGrpSpPr>
            <p:nvPr/>
          </p:nvGrpSpPr>
          <p:grpSpPr bwMode="auto">
            <a:xfrm>
              <a:off x="635" y="2750"/>
              <a:ext cx="317" cy="907"/>
              <a:chOff x="567" y="2750"/>
              <a:chExt cx="317" cy="907"/>
            </a:xfrm>
          </p:grpSpPr>
          <p:sp>
            <p:nvSpPr>
              <p:cNvPr id="23580" name="Freeform 207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81" name="Freeform 207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82" name="Oval 207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83" name="Group 2079"/>
            <p:cNvGrpSpPr>
              <a:grpSpLocks/>
            </p:cNvGrpSpPr>
            <p:nvPr/>
          </p:nvGrpSpPr>
          <p:grpSpPr bwMode="auto">
            <a:xfrm>
              <a:off x="1547" y="2750"/>
              <a:ext cx="317" cy="907"/>
              <a:chOff x="567" y="2750"/>
              <a:chExt cx="317" cy="907"/>
            </a:xfrm>
          </p:grpSpPr>
          <p:sp>
            <p:nvSpPr>
              <p:cNvPr id="23584" name="Freeform 208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85" name="Freeform 208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86" name="Oval 208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87" name="Group 2083"/>
            <p:cNvGrpSpPr>
              <a:grpSpLocks/>
            </p:cNvGrpSpPr>
            <p:nvPr/>
          </p:nvGrpSpPr>
          <p:grpSpPr bwMode="auto">
            <a:xfrm>
              <a:off x="1853" y="2750"/>
              <a:ext cx="317" cy="907"/>
              <a:chOff x="567" y="2750"/>
              <a:chExt cx="317" cy="907"/>
            </a:xfrm>
          </p:grpSpPr>
          <p:sp>
            <p:nvSpPr>
              <p:cNvPr id="23588" name="Freeform 208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89" name="Freeform 208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90" name="Oval 208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91" name="Group 2087"/>
            <p:cNvGrpSpPr>
              <a:grpSpLocks/>
            </p:cNvGrpSpPr>
            <p:nvPr/>
          </p:nvGrpSpPr>
          <p:grpSpPr bwMode="auto">
            <a:xfrm>
              <a:off x="2762" y="2750"/>
              <a:ext cx="317" cy="907"/>
              <a:chOff x="567" y="2750"/>
              <a:chExt cx="317" cy="907"/>
            </a:xfrm>
          </p:grpSpPr>
          <p:sp>
            <p:nvSpPr>
              <p:cNvPr id="23592" name="Freeform 208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93" name="Freeform 208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94" name="Oval 209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95" name="Group 2091"/>
            <p:cNvGrpSpPr>
              <a:grpSpLocks/>
            </p:cNvGrpSpPr>
            <p:nvPr/>
          </p:nvGrpSpPr>
          <p:grpSpPr bwMode="auto">
            <a:xfrm>
              <a:off x="2454" y="2750"/>
              <a:ext cx="317" cy="907"/>
              <a:chOff x="567" y="2750"/>
              <a:chExt cx="317" cy="907"/>
            </a:xfrm>
          </p:grpSpPr>
          <p:sp>
            <p:nvSpPr>
              <p:cNvPr id="23596" name="Freeform 209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97" name="Freeform 209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598" name="Oval 209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599" name="Group 2095"/>
            <p:cNvGrpSpPr>
              <a:grpSpLocks/>
            </p:cNvGrpSpPr>
            <p:nvPr/>
          </p:nvGrpSpPr>
          <p:grpSpPr bwMode="auto">
            <a:xfrm>
              <a:off x="2160" y="2750"/>
              <a:ext cx="317" cy="907"/>
              <a:chOff x="567" y="2750"/>
              <a:chExt cx="317" cy="907"/>
            </a:xfrm>
          </p:grpSpPr>
          <p:sp>
            <p:nvSpPr>
              <p:cNvPr id="23600" name="Freeform 209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01" name="Freeform 209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02" name="Oval 209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03" name="Group 2099"/>
            <p:cNvGrpSpPr>
              <a:grpSpLocks/>
            </p:cNvGrpSpPr>
            <p:nvPr/>
          </p:nvGrpSpPr>
          <p:grpSpPr bwMode="auto">
            <a:xfrm>
              <a:off x="3071" y="2748"/>
              <a:ext cx="317" cy="907"/>
              <a:chOff x="567" y="2750"/>
              <a:chExt cx="317" cy="907"/>
            </a:xfrm>
          </p:grpSpPr>
          <p:sp>
            <p:nvSpPr>
              <p:cNvPr id="23604" name="Freeform 210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05" name="Freeform 210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06" name="Oval 210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07" name="Group 2103"/>
            <p:cNvGrpSpPr>
              <a:grpSpLocks/>
            </p:cNvGrpSpPr>
            <p:nvPr/>
          </p:nvGrpSpPr>
          <p:grpSpPr bwMode="auto">
            <a:xfrm>
              <a:off x="3377" y="2748"/>
              <a:ext cx="317" cy="907"/>
              <a:chOff x="567" y="2750"/>
              <a:chExt cx="317" cy="907"/>
            </a:xfrm>
          </p:grpSpPr>
          <p:sp>
            <p:nvSpPr>
              <p:cNvPr id="23608" name="Freeform 210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09" name="Freeform 210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10" name="Oval 210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11" name="Group 2107"/>
            <p:cNvGrpSpPr>
              <a:grpSpLocks/>
            </p:cNvGrpSpPr>
            <p:nvPr/>
          </p:nvGrpSpPr>
          <p:grpSpPr bwMode="auto">
            <a:xfrm>
              <a:off x="4286" y="2748"/>
              <a:ext cx="317" cy="907"/>
              <a:chOff x="567" y="2750"/>
              <a:chExt cx="317" cy="907"/>
            </a:xfrm>
          </p:grpSpPr>
          <p:sp>
            <p:nvSpPr>
              <p:cNvPr id="23612" name="Freeform 210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13" name="Freeform 210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14" name="Oval 211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15" name="Group 2111"/>
            <p:cNvGrpSpPr>
              <a:grpSpLocks/>
            </p:cNvGrpSpPr>
            <p:nvPr/>
          </p:nvGrpSpPr>
          <p:grpSpPr bwMode="auto">
            <a:xfrm>
              <a:off x="3978" y="2748"/>
              <a:ext cx="317" cy="907"/>
              <a:chOff x="567" y="2750"/>
              <a:chExt cx="317" cy="907"/>
            </a:xfrm>
          </p:grpSpPr>
          <p:sp>
            <p:nvSpPr>
              <p:cNvPr id="23616" name="Freeform 211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17" name="Freeform 211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18" name="Oval 211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19" name="Group 2115"/>
            <p:cNvGrpSpPr>
              <a:grpSpLocks/>
            </p:cNvGrpSpPr>
            <p:nvPr/>
          </p:nvGrpSpPr>
          <p:grpSpPr bwMode="auto">
            <a:xfrm>
              <a:off x="3684" y="2748"/>
              <a:ext cx="317" cy="907"/>
              <a:chOff x="567" y="2750"/>
              <a:chExt cx="317" cy="907"/>
            </a:xfrm>
          </p:grpSpPr>
          <p:sp>
            <p:nvSpPr>
              <p:cNvPr id="23620" name="Freeform 211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21" name="Freeform 211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22" name="Oval 211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23" name="Group 2119"/>
            <p:cNvGrpSpPr>
              <a:grpSpLocks/>
            </p:cNvGrpSpPr>
            <p:nvPr/>
          </p:nvGrpSpPr>
          <p:grpSpPr bwMode="auto">
            <a:xfrm>
              <a:off x="5196" y="2750"/>
              <a:ext cx="317" cy="907"/>
              <a:chOff x="567" y="2750"/>
              <a:chExt cx="317" cy="907"/>
            </a:xfrm>
          </p:grpSpPr>
          <p:sp>
            <p:nvSpPr>
              <p:cNvPr id="23624" name="Freeform 212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25" name="Freeform 212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26" name="Oval 212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27" name="Group 2123"/>
            <p:cNvGrpSpPr>
              <a:grpSpLocks/>
            </p:cNvGrpSpPr>
            <p:nvPr/>
          </p:nvGrpSpPr>
          <p:grpSpPr bwMode="auto">
            <a:xfrm>
              <a:off x="4888" y="2750"/>
              <a:ext cx="317" cy="907"/>
              <a:chOff x="567" y="2750"/>
              <a:chExt cx="317" cy="907"/>
            </a:xfrm>
          </p:grpSpPr>
          <p:sp>
            <p:nvSpPr>
              <p:cNvPr id="23628" name="Freeform 212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29" name="Freeform 212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30" name="Oval 212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31" name="Group 2127"/>
            <p:cNvGrpSpPr>
              <a:grpSpLocks/>
            </p:cNvGrpSpPr>
            <p:nvPr/>
          </p:nvGrpSpPr>
          <p:grpSpPr bwMode="auto">
            <a:xfrm>
              <a:off x="4594" y="2750"/>
              <a:ext cx="317" cy="907"/>
              <a:chOff x="567" y="2750"/>
              <a:chExt cx="317" cy="907"/>
            </a:xfrm>
          </p:grpSpPr>
          <p:sp>
            <p:nvSpPr>
              <p:cNvPr id="23632" name="Freeform 212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33" name="Freeform 212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34" name="Oval 213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sp>
        <p:nvSpPr>
          <p:cNvPr id="24079" name="AutoShape 2575"/>
          <p:cNvSpPr>
            <a:spLocks noChangeArrowheads="1"/>
          </p:cNvSpPr>
          <p:nvPr/>
        </p:nvSpPr>
        <p:spPr bwMode="auto">
          <a:xfrm>
            <a:off x="4510088" y="5084763"/>
            <a:ext cx="1368425" cy="1223962"/>
          </a:xfrm>
          <a:prstGeom prst="can">
            <a:avLst>
              <a:gd name="adj" fmla="val 15977"/>
            </a:avLst>
          </a:prstGeom>
          <a:gradFill rotWithShape="1">
            <a:gsLst>
              <a:gs pos="0">
                <a:srgbClr val="FF0000"/>
              </a:gs>
              <a:gs pos="100000">
                <a:srgbClr val="FF0000">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nvGrpSpPr>
          <p:cNvPr id="23708" name="Group 2204"/>
          <p:cNvGrpSpPr>
            <a:grpSpLocks/>
          </p:cNvGrpSpPr>
          <p:nvPr/>
        </p:nvGrpSpPr>
        <p:grpSpPr bwMode="auto">
          <a:xfrm flipV="1">
            <a:off x="2928937" y="5113339"/>
            <a:ext cx="6915150" cy="866775"/>
            <a:chOff x="22" y="2748"/>
            <a:chExt cx="5491" cy="909"/>
          </a:xfrm>
        </p:grpSpPr>
        <p:grpSp>
          <p:nvGrpSpPr>
            <p:cNvPr id="23709" name="Group 2205"/>
            <p:cNvGrpSpPr>
              <a:grpSpLocks/>
            </p:cNvGrpSpPr>
            <p:nvPr/>
          </p:nvGrpSpPr>
          <p:grpSpPr bwMode="auto">
            <a:xfrm>
              <a:off x="22" y="2750"/>
              <a:ext cx="317" cy="907"/>
              <a:chOff x="567" y="2750"/>
              <a:chExt cx="317" cy="907"/>
            </a:xfrm>
          </p:grpSpPr>
          <p:sp>
            <p:nvSpPr>
              <p:cNvPr id="23710" name="Freeform 220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11" name="Freeform 220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12" name="Oval 220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13" name="Group 2209"/>
            <p:cNvGrpSpPr>
              <a:grpSpLocks/>
            </p:cNvGrpSpPr>
            <p:nvPr/>
          </p:nvGrpSpPr>
          <p:grpSpPr bwMode="auto">
            <a:xfrm>
              <a:off x="328" y="2750"/>
              <a:ext cx="317" cy="907"/>
              <a:chOff x="567" y="2750"/>
              <a:chExt cx="317" cy="907"/>
            </a:xfrm>
          </p:grpSpPr>
          <p:sp>
            <p:nvSpPr>
              <p:cNvPr id="23714" name="Freeform 221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15" name="Freeform 221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16" name="Oval 2212"/>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17" name="Group 2213"/>
            <p:cNvGrpSpPr>
              <a:grpSpLocks/>
            </p:cNvGrpSpPr>
            <p:nvPr/>
          </p:nvGrpSpPr>
          <p:grpSpPr bwMode="auto">
            <a:xfrm>
              <a:off x="1237" y="2750"/>
              <a:ext cx="317" cy="907"/>
              <a:chOff x="567" y="2750"/>
              <a:chExt cx="317" cy="907"/>
            </a:xfrm>
          </p:grpSpPr>
          <p:sp>
            <p:nvSpPr>
              <p:cNvPr id="23718" name="Freeform 221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19" name="Freeform 221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20" name="Oval 221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21" name="Group 2217"/>
            <p:cNvGrpSpPr>
              <a:grpSpLocks/>
            </p:cNvGrpSpPr>
            <p:nvPr/>
          </p:nvGrpSpPr>
          <p:grpSpPr bwMode="auto">
            <a:xfrm>
              <a:off x="929" y="2750"/>
              <a:ext cx="317" cy="907"/>
              <a:chOff x="567" y="2750"/>
              <a:chExt cx="317" cy="907"/>
            </a:xfrm>
          </p:grpSpPr>
          <p:sp>
            <p:nvSpPr>
              <p:cNvPr id="23722" name="Freeform 221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23" name="Freeform 221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24" name="Oval 222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25" name="Group 2221"/>
            <p:cNvGrpSpPr>
              <a:grpSpLocks/>
            </p:cNvGrpSpPr>
            <p:nvPr/>
          </p:nvGrpSpPr>
          <p:grpSpPr bwMode="auto">
            <a:xfrm>
              <a:off x="635" y="2750"/>
              <a:ext cx="317" cy="907"/>
              <a:chOff x="567" y="2750"/>
              <a:chExt cx="317" cy="907"/>
            </a:xfrm>
          </p:grpSpPr>
          <p:sp>
            <p:nvSpPr>
              <p:cNvPr id="23726" name="Freeform 222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27" name="Freeform 222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28" name="Oval 222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29" name="Group 2225"/>
            <p:cNvGrpSpPr>
              <a:grpSpLocks/>
            </p:cNvGrpSpPr>
            <p:nvPr/>
          </p:nvGrpSpPr>
          <p:grpSpPr bwMode="auto">
            <a:xfrm>
              <a:off x="1547" y="2750"/>
              <a:ext cx="317" cy="907"/>
              <a:chOff x="567" y="2750"/>
              <a:chExt cx="317" cy="907"/>
            </a:xfrm>
          </p:grpSpPr>
          <p:sp>
            <p:nvSpPr>
              <p:cNvPr id="23730" name="Freeform 222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31" name="Freeform 222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32" name="Oval 222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33" name="Group 2229"/>
            <p:cNvGrpSpPr>
              <a:grpSpLocks/>
            </p:cNvGrpSpPr>
            <p:nvPr/>
          </p:nvGrpSpPr>
          <p:grpSpPr bwMode="auto">
            <a:xfrm>
              <a:off x="1853" y="2750"/>
              <a:ext cx="317" cy="907"/>
              <a:chOff x="567" y="2750"/>
              <a:chExt cx="317" cy="907"/>
            </a:xfrm>
          </p:grpSpPr>
          <p:sp>
            <p:nvSpPr>
              <p:cNvPr id="23734" name="Freeform 223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35" name="Freeform 223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36" name="Oval 223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37" name="Group 2233"/>
            <p:cNvGrpSpPr>
              <a:grpSpLocks/>
            </p:cNvGrpSpPr>
            <p:nvPr/>
          </p:nvGrpSpPr>
          <p:grpSpPr bwMode="auto">
            <a:xfrm>
              <a:off x="2762" y="2750"/>
              <a:ext cx="317" cy="907"/>
              <a:chOff x="567" y="2750"/>
              <a:chExt cx="317" cy="907"/>
            </a:xfrm>
          </p:grpSpPr>
          <p:sp>
            <p:nvSpPr>
              <p:cNvPr id="23738" name="Freeform 223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39" name="Freeform 223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40" name="Oval 223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41" name="Group 2237"/>
            <p:cNvGrpSpPr>
              <a:grpSpLocks/>
            </p:cNvGrpSpPr>
            <p:nvPr/>
          </p:nvGrpSpPr>
          <p:grpSpPr bwMode="auto">
            <a:xfrm>
              <a:off x="2454" y="2750"/>
              <a:ext cx="317" cy="907"/>
              <a:chOff x="567" y="2750"/>
              <a:chExt cx="317" cy="907"/>
            </a:xfrm>
          </p:grpSpPr>
          <p:sp>
            <p:nvSpPr>
              <p:cNvPr id="23742" name="Freeform 223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43" name="Freeform 223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44" name="Oval 224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45" name="Group 2241"/>
            <p:cNvGrpSpPr>
              <a:grpSpLocks/>
            </p:cNvGrpSpPr>
            <p:nvPr/>
          </p:nvGrpSpPr>
          <p:grpSpPr bwMode="auto">
            <a:xfrm>
              <a:off x="2160" y="2750"/>
              <a:ext cx="317" cy="907"/>
              <a:chOff x="567" y="2750"/>
              <a:chExt cx="317" cy="907"/>
            </a:xfrm>
          </p:grpSpPr>
          <p:sp>
            <p:nvSpPr>
              <p:cNvPr id="23746" name="Freeform 224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47" name="Freeform 224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48" name="Oval 224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49" name="Group 2245"/>
            <p:cNvGrpSpPr>
              <a:grpSpLocks/>
            </p:cNvGrpSpPr>
            <p:nvPr/>
          </p:nvGrpSpPr>
          <p:grpSpPr bwMode="auto">
            <a:xfrm>
              <a:off x="3071" y="2748"/>
              <a:ext cx="317" cy="907"/>
              <a:chOff x="567" y="2750"/>
              <a:chExt cx="317" cy="907"/>
            </a:xfrm>
          </p:grpSpPr>
          <p:sp>
            <p:nvSpPr>
              <p:cNvPr id="23750" name="Freeform 224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51" name="Freeform 224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52" name="Oval 224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53" name="Group 2249"/>
            <p:cNvGrpSpPr>
              <a:grpSpLocks/>
            </p:cNvGrpSpPr>
            <p:nvPr/>
          </p:nvGrpSpPr>
          <p:grpSpPr bwMode="auto">
            <a:xfrm>
              <a:off x="3377" y="2748"/>
              <a:ext cx="317" cy="907"/>
              <a:chOff x="567" y="2750"/>
              <a:chExt cx="317" cy="907"/>
            </a:xfrm>
          </p:grpSpPr>
          <p:sp>
            <p:nvSpPr>
              <p:cNvPr id="23754" name="Freeform 225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55" name="Freeform 225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56" name="Oval 225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57" name="Group 2253"/>
            <p:cNvGrpSpPr>
              <a:grpSpLocks/>
            </p:cNvGrpSpPr>
            <p:nvPr/>
          </p:nvGrpSpPr>
          <p:grpSpPr bwMode="auto">
            <a:xfrm>
              <a:off x="4286" y="2748"/>
              <a:ext cx="317" cy="907"/>
              <a:chOff x="567" y="2750"/>
              <a:chExt cx="317" cy="907"/>
            </a:xfrm>
          </p:grpSpPr>
          <p:sp>
            <p:nvSpPr>
              <p:cNvPr id="23758" name="Freeform 225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59" name="Freeform 225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60" name="Oval 225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61" name="Group 2257"/>
            <p:cNvGrpSpPr>
              <a:grpSpLocks/>
            </p:cNvGrpSpPr>
            <p:nvPr/>
          </p:nvGrpSpPr>
          <p:grpSpPr bwMode="auto">
            <a:xfrm>
              <a:off x="3978" y="2748"/>
              <a:ext cx="317" cy="907"/>
              <a:chOff x="567" y="2750"/>
              <a:chExt cx="317" cy="907"/>
            </a:xfrm>
          </p:grpSpPr>
          <p:sp>
            <p:nvSpPr>
              <p:cNvPr id="23762" name="Freeform 225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63" name="Freeform 225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64" name="Oval 226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65" name="Group 2261"/>
            <p:cNvGrpSpPr>
              <a:grpSpLocks/>
            </p:cNvGrpSpPr>
            <p:nvPr/>
          </p:nvGrpSpPr>
          <p:grpSpPr bwMode="auto">
            <a:xfrm>
              <a:off x="3684" y="2748"/>
              <a:ext cx="317" cy="907"/>
              <a:chOff x="567" y="2750"/>
              <a:chExt cx="317" cy="907"/>
            </a:xfrm>
          </p:grpSpPr>
          <p:sp>
            <p:nvSpPr>
              <p:cNvPr id="23766" name="Freeform 226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67" name="Freeform 226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68" name="Oval 226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69" name="Group 2265"/>
            <p:cNvGrpSpPr>
              <a:grpSpLocks/>
            </p:cNvGrpSpPr>
            <p:nvPr/>
          </p:nvGrpSpPr>
          <p:grpSpPr bwMode="auto">
            <a:xfrm>
              <a:off x="5196" y="2750"/>
              <a:ext cx="317" cy="907"/>
              <a:chOff x="567" y="2750"/>
              <a:chExt cx="317" cy="907"/>
            </a:xfrm>
          </p:grpSpPr>
          <p:sp>
            <p:nvSpPr>
              <p:cNvPr id="23770" name="Freeform 226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71" name="Freeform 226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72" name="Oval 226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73" name="Group 2269"/>
            <p:cNvGrpSpPr>
              <a:grpSpLocks/>
            </p:cNvGrpSpPr>
            <p:nvPr/>
          </p:nvGrpSpPr>
          <p:grpSpPr bwMode="auto">
            <a:xfrm>
              <a:off x="4888" y="2750"/>
              <a:ext cx="317" cy="907"/>
              <a:chOff x="567" y="2750"/>
              <a:chExt cx="317" cy="907"/>
            </a:xfrm>
          </p:grpSpPr>
          <p:sp>
            <p:nvSpPr>
              <p:cNvPr id="23774" name="Freeform 227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75" name="Freeform 227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76" name="Oval 227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77" name="Group 2273"/>
            <p:cNvGrpSpPr>
              <a:grpSpLocks/>
            </p:cNvGrpSpPr>
            <p:nvPr/>
          </p:nvGrpSpPr>
          <p:grpSpPr bwMode="auto">
            <a:xfrm>
              <a:off x="4594" y="2750"/>
              <a:ext cx="317" cy="907"/>
              <a:chOff x="567" y="2750"/>
              <a:chExt cx="317" cy="907"/>
            </a:xfrm>
          </p:grpSpPr>
          <p:sp>
            <p:nvSpPr>
              <p:cNvPr id="23778" name="Freeform 227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79" name="Freeform 227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80" name="Oval 227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635" name="Group 2131"/>
          <p:cNvGrpSpPr>
            <a:grpSpLocks/>
          </p:cNvGrpSpPr>
          <p:nvPr/>
        </p:nvGrpSpPr>
        <p:grpSpPr bwMode="auto">
          <a:xfrm>
            <a:off x="2927350" y="4178301"/>
            <a:ext cx="6915150" cy="866775"/>
            <a:chOff x="22" y="2748"/>
            <a:chExt cx="5491" cy="909"/>
          </a:xfrm>
        </p:grpSpPr>
        <p:grpSp>
          <p:nvGrpSpPr>
            <p:cNvPr id="23636" name="Group 2132"/>
            <p:cNvGrpSpPr>
              <a:grpSpLocks/>
            </p:cNvGrpSpPr>
            <p:nvPr/>
          </p:nvGrpSpPr>
          <p:grpSpPr bwMode="auto">
            <a:xfrm>
              <a:off x="22" y="2750"/>
              <a:ext cx="317" cy="907"/>
              <a:chOff x="567" y="2750"/>
              <a:chExt cx="317" cy="907"/>
            </a:xfrm>
          </p:grpSpPr>
          <p:sp>
            <p:nvSpPr>
              <p:cNvPr id="23637" name="Freeform 213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38" name="Freeform 213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39" name="Oval 213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40" name="Group 2136"/>
            <p:cNvGrpSpPr>
              <a:grpSpLocks/>
            </p:cNvGrpSpPr>
            <p:nvPr/>
          </p:nvGrpSpPr>
          <p:grpSpPr bwMode="auto">
            <a:xfrm>
              <a:off x="328" y="2750"/>
              <a:ext cx="317" cy="907"/>
              <a:chOff x="567" y="2750"/>
              <a:chExt cx="317" cy="907"/>
            </a:xfrm>
          </p:grpSpPr>
          <p:sp>
            <p:nvSpPr>
              <p:cNvPr id="23641" name="Freeform 213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42" name="Freeform 213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43" name="Oval 213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44" name="Group 2140"/>
            <p:cNvGrpSpPr>
              <a:grpSpLocks/>
            </p:cNvGrpSpPr>
            <p:nvPr/>
          </p:nvGrpSpPr>
          <p:grpSpPr bwMode="auto">
            <a:xfrm>
              <a:off x="1237" y="2750"/>
              <a:ext cx="317" cy="907"/>
              <a:chOff x="567" y="2750"/>
              <a:chExt cx="317" cy="907"/>
            </a:xfrm>
          </p:grpSpPr>
          <p:sp>
            <p:nvSpPr>
              <p:cNvPr id="23645" name="Freeform 214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46" name="Freeform 214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47" name="Oval 214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48" name="Group 2144"/>
            <p:cNvGrpSpPr>
              <a:grpSpLocks/>
            </p:cNvGrpSpPr>
            <p:nvPr/>
          </p:nvGrpSpPr>
          <p:grpSpPr bwMode="auto">
            <a:xfrm>
              <a:off x="929" y="2750"/>
              <a:ext cx="317" cy="907"/>
              <a:chOff x="567" y="2750"/>
              <a:chExt cx="317" cy="907"/>
            </a:xfrm>
          </p:grpSpPr>
          <p:sp>
            <p:nvSpPr>
              <p:cNvPr id="23649" name="Freeform 214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50" name="Freeform 214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51" name="Oval 214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52" name="Group 2148"/>
            <p:cNvGrpSpPr>
              <a:grpSpLocks/>
            </p:cNvGrpSpPr>
            <p:nvPr/>
          </p:nvGrpSpPr>
          <p:grpSpPr bwMode="auto">
            <a:xfrm>
              <a:off x="635" y="2750"/>
              <a:ext cx="317" cy="907"/>
              <a:chOff x="567" y="2750"/>
              <a:chExt cx="317" cy="907"/>
            </a:xfrm>
          </p:grpSpPr>
          <p:sp>
            <p:nvSpPr>
              <p:cNvPr id="23653" name="Freeform 214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54" name="Freeform 215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55" name="Oval 215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56" name="Group 2152"/>
            <p:cNvGrpSpPr>
              <a:grpSpLocks/>
            </p:cNvGrpSpPr>
            <p:nvPr/>
          </p:nvGrpSpPr>
          <p:grpSpPr bwMode="auto">
            <a:xfrm>
              <a:off x="1547" y="2750"/>
              <a:ext cx="317" cy="907"/>
              <a:chOff x="567" y="2750"/>
              <a:chExt cx="317" cy="907"/>
            </a:xfrm>
          </p:grpSpPr>
          <p:sp>
            <p:nvSpPr>
              <p:cNvPr id="23657" name="Freeform 215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58" name="Freeform 215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59" name="Oval 215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60" name="Group 2156"/>
            <p:cNvGrpSpPr>
              <a:grpSpLocks/>
            </p:cNvGrpSpPr>
            <p:nvPr/>
          </p:nvGrpSpPr>
          <p:grpSpPr bwMode="auto">
            <a:xfrm>
              <a:off x="1853" y="2750"/>
              <a:ext cx="317" cy="907"/>
              <a:chOff x="567" y="2750"/>
              <a:chExt cx="317" cy="907"/>
            </a:xfrm>
          </p:grpSpPr>
          <p:sp>
            <p:nvSpPr>
              <p:cNvPr id="23661" name="Freeform 215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62" name="Freeform 215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63" name="Oval 215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64" name="Group 2160"/>
            <p:cNvGrpSpPr>
              <a:grpSpLocks/>
            </p:cNvGrpSpPr>
            <p:nvPr/>
          </p:nvGrpSpPr>
          <p:grpSpPr bwMode="auto">
            <a:xfrm>
              <a:off x="2762" y="2750"/>
              <a:ext cx="317" cy="907"/>
              <a:chOff x="567" y="2750"/>
              <a:chExt cx="317" cy="907"/>
            </a:xfrm>
          </p:grpSpPr>
          <p:sp>
            <p:nvSpPr>
              <p:cNvPr id="23665" name="Freeform 216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66" name="Freeform 216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67" name="Oval 216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68" name="Group 2164"/>
            <p:cNvGrpSpPr>
              <a:grpSpLocks/>
            </p:cNvGrpSpPr>
            <p:nvPr/>
          </p:nvGrpSpPr>
          <p:grpSpPr bwMode="auto">
            <a:xfrm>
              <a:off x="2454" y="2750"/>
              <a:ext cx="317" cy="907"/>
              <a:chOff x="567" y="2750"/>
              <a:chExt cx="317" cy="907"/>
            </a:xfrm>
          </p:grpSpPr>
          <p:sp>
            <p:nvSpPr>
              <p:cNvPr id="23669" name="Freeform 216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70" name="Freeform 216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71" name="Oval 216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72" name="Group 2168"/>
            <p:cNvGrpSpPr>
              <a:grpSpLocks/>
            </p:cNvGrpSpPr>
            <p:nvPr/>
          </p:nvGrpSpPr>
          <p:grpSpPr bwMode="auto">
            <a:xfrm>
              <a:off x="2160" y="2750"/>
              <a:ext cx="317" cy="907"/>
              <a:chOff x="567" y="2750"/>
              <a:chExt cx="317" cy="907"/>
            </a:xfrm>
          </p:grpSpPr>
          <p:sp>
            <p:nvSpPr>
              <p:cNvPr id="23673" name="Freeform 216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74" name="Freeform 217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75" name="Oval 217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76" name="Group 2172"/>
            <p:cNvGrpSpPr>
              <a:grpSpLocks/>
            </p:cNvGrpSpPr>
            <p:nvPr/>
          </p:nvGrpSpPr>
          <p:grpSpPr bwMode="auto">
            <a:xfrm>
              <a:off x="3071" y="2748"/>
              <a:ext cx="317" cy="907"/>
              <a:chOff x="567" y="2750"/>
              <a:chExt cx="317" cy="907"/>
            </a:xfrm>
          </p:grpSpPr>
          <p:sp>
            <p:nvSpPr>
              <p:cNvPr id="23677" name="Freeform 217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78" name="Freeform 217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79" name="Oval 217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80" name="Group 2176"/>
            <p:cNvGrpSpPr>
              <a:grpSpLocks/>
            </p:cNvGrpSpPr>
            <p:nvPr/>
          </p:nvGrpSpPr>
          <p:grpSpPr bwMode="auto">
            <a:xfrm>
              <a:off x="3377" y="2748"/>
              <a:ext cx="317" cy="907"/>
              <a:chOff x="567" y="2750"/>
              <a:chExt cx="317" cy="907"/>
            </a:xfrm>
          </p:grpSpPr>
          <p:sp>
            <p:nvSpPr>
              <p:cNvPr id="23681" name="Freeform 217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82" name="Freeform 217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83" name="Oval 217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84" name="Group 2180"/>
            <p:cNvGrpSpPr>
              <a:grpSpLocks/>
            </p:cNvGrpSpPr>
            <p:nvPr/>
          </p:nvGrpSpPr>
          <p:grpSpPr bwMode="auto">
            <a:xfrm>
              <a:off x="4286" y="2748"/>
              <a:ext cx="317" cy="907"/>
              <a:chOff x="567" y="2750"/>
              <a:chExt cx="317" cy="907"/>
            </a:xfrm>
          </p:grpSpPr>
          <p:sp>
            <p:nvSpPr>
              <p:cNvPr id="23685" name="Freeform 218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86" name="Freeform 218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87" name="Oval 218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88" name="Group 2184"/>
            <p:cNvGrpSpPr>
              <a:grpSpLocks/>
            </p:cNvGrpSpPr>
            <p:nvPr/>
          </p:nvGrpSpPr>
          <p:grpSpPr bwMode="auto">
            <a:xfrm>
              <a:off x="3978" y="2748"/>
              <a:ext cx="317" cy="907"/>
              <a:chOff x="567" y="2750"/>
              <a:chExt cx="317" cy="907"/>
            </a:xfrm>
          </p:grpSpPr>
          <p:sp>
            <p:nvSpPr>
              <p:cNvPr id="23689" name="Freeform 218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90" name="Freeform 218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91" name="Oval 218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92" name="Group 2188"/>
            <p:cNvGrpSpPr>
              <a:grpSpLocks/>
            </p:cNvGrpSpPr>
            <p:nvPr/>
          </p:nvGrpSpPr>
          <p:grpSpPr bwMode="auto">
            <a:xfrm>
              <a:off x="3684" y="2748"/>
              <a:ext cx="317" cy="907"/>
              <a:chOff x="567" y="2750"/>
              <a:chExt cx="317" cy="907"/>
            </a:xfrm>
          </p:grpSpPr>
          <p:sp>
            <p:nvSpPr>
              <p:cNvPr id="23693" name="Freeform 218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94" name="Freeform 219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95" name="Oval 219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696" name="Group 2192"/>
            <p:cNvGrpSpPr>
              <a:grpSpLocks/>
            </p:cNvGrpSpPr>
            <p:nvPr/>
          </p:nvGrpSpPr>
          <p:grpSpPr bwMode="auto">
            <a:xfrm>
              <a:off x="5196" y="2750"/>
              <a:ext cx="317" cy="907"/>
              <a:chOff x="567" y="2750"/>
              <a:chExt cx="317" cy="907"/>
            </a:xfrm>
          </p:grpSpPr>
          <p:sp>
            <p:nvSpPr>
              <p:cNvPr id="23697" name="Freeform 219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98" name="Freeform 219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699" name="Oval 219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00" name="Group 2196"/>
            <p:cNvGrpSpPr>
              <a:grpSpLocks/>
            </p:cNvGrpSpPr>
            <p:nvPr/>
          </p:nvGrpSpPr>
          <p:grpSpPr bwMode="auto">
            <a:xfrm>
              <a:off x="4888" y="2750"/>
              <a:ext cx="317" cy="907"/>
              <a:chOff x="567" y="2750"/>
              <a:chExt cx="317" cy="907"/>
            </a:xfrm>
          </p:grpSpPr>
          <p:sp>
            <p:nvSpPr>
              <p:cNvPr id="23701" name="Freeform 219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02" name="Freeform 219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03" name="Oval 219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04" name="Group 2200"/>
            <p:cNvGrpSpPr>
              <a:grpSpLocks/>
            </p:cNvGrpSpPr>
            <p:nvPr/>
          </p:nvGrpSpPr>
          <p:grpSpPr bwMode="auto">
            <a:xfrm>
              <a:off x="4594" y="2750"/>
              <a:ext cx="317" cy="907"/>
              <a:chOff x="567" y="2750"/>
              <a:chExt cx="317" cy="907"/>
            </a:xfrm>
          </p:grpSpPr>
          <p:sp>
            <p:nvSpPr>
              <p:cNvPr id="23705" name="Freeform 220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06" name="Freeform 220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07" name="Oval 220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4087" name="Group 2583"/>
          <p:cNvGrpSpPr>
            <a:grpSpLocks/>
          </p:cNvGrpSpPr>
          <p:nvPr/>
        </p:nvGrpSpPr>
        <p:grpSpPr bwMode="auto">
          <a:xfrm>
            <a:off x="7462838" y="3457575"/>
            <a:ext cx="1439863" cy="3024188"/>
            <a:chOff x="3879" y="2250"/>
            <a:chExt cx="907" cy="1905"/>
          </a:xfrm>
        </p:grpSpPr>
        <p:sp>
          <p:nvSpPr>
            <p:cNvPr id="24082" name="AutoShape 2578"/>
            <p:cNvSpPr>
              <a:spLocks noChangeArrowheads="1"/>
            </p:cNvSpPr>
            <p:nvPr/>
          </p:nvSpPr>
          <p:spPr bwMode="auto">
            <a:xfrm>
              <a:off x="4242" y="2250"/>
              <a:ext cx="363" cy="1724"/>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080" name="AutoShape 2576"/>
            <p:cNvSpPr>
              <a:spLocks noChangeArrowheads="1"/>
            </p:cNvSpPr>
            <p:nvPr/>
          </p:nvSpPr>
          <p:spPr bwMode="auto">
            <a:xfrm>
              <a:off x="3879" y="2341"/>
              <a:ext cx="363" cy="1724"/>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081" name="AutoShape 2577"/>
            <p:cNvSpPr>
              <a:spLocks noChangeArrowheads="1"/>
            </p:cNvSpPr>
            <p:nvPr/>
          </p:nvSpPr>
          <p:spPr bwMode="auto">
            <a:xfrm>
              <a:off x="4423" y="2341"/>
              <a:ext cx="363" cy="1724"/>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083" name="AutoShape 2579"/>
            <p:cNvSpPr>
              <a:spLocks noChangeArrowheads="1"/>
            </p:cNvSpPr>
            <p:nvPr/>
          </p:nvSpPr>
          <p:spPr bwMode="auto">
            <a:xfrm>
              <a:off x="4061" y="2431"/>
              <a:ext cx="363" cy="1724"/>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81" name="Group 2277"/>
          <p:cNvGrpSpPr>
            <a:grpSpLocks/>
          </p:cNvGrpSpPr>
          <p:nvPr/>
        </p:nvGrpSpPr>
        <p:grpSpPr bwMode="auto">
          <a:xfrm>
            <a:off x="3143250" y="4394201"/>
            <a:ext cx="6915150" cy="866775"/>
            <a:chOff x="22" y="2748"/>
            <a:chExt cx="5491" cy="909"/>
          </a:xfrm>
        </p:grpSpPr>
        <p:grpSp>
          <p:nvGrpSpPr>
            <p:cNvPr id="23782" name="Group 2278"/>
            <p:cNvGrpSpPr>
              <a:grpSpLocks/>
            </p:cNvGrpSpPr>
            <p:nvPr/>
          </p:nvGrpSpPr>
          <p:grpSpPr bwMode="auto">
            <a:xfrm>
              <a:off x="22" y="2750"/>
              <a:ext cx="317" cy="907"/>
              <a:chOff x="567" y="2750"/>
              <a:chExt cx="317" cy="907"/>
            </a:xfrm>
          </p:grpSpPr>
          <p:sp>
            <p:nvSpPr>
              <p:cNvPr id="23783" name="Freeform 227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84" name="Freeform 228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85" name="Oval 228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86" name="Group 2282"/>
            <p:cNvGrpSpPr>
              <a:grpSpLocks/>
            </p:cNvGrpSpPr>
            <p:nvPr/>
          </p:nvGrpSpPr>
          <p:grpSpPr bwMode="auto">
            <a:xfrm>
              <a:off x="328" y="2750"/>
              <a:ext cx="317" cy="907"/>
              <a:chOff x="567" y="2750"/>
              <a:chExt cx="317" cy="907"/>
            </a:xfrm>
          </p:grpSpPr>
          <p:sp>
            <p:nvSpPr>
              <p:cNvPr id="23787" name="Freeform 228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88" name="Freeform 228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89" name="Oval 228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90" name="Group 2286"/>
            <p:cNvGrpSpPr>
              <a:grpSpLocks/>
            </p:cNvGrpSpPr>
            <p:nvPr/>
          </p:nvGrpSpPr>
          <p:grpSpPr bwMode="auto">
            <a:xfrm>
              <a:off x="1237" y="2750"/>
              <a:ext cx="317" cy="907"/>
              <a:chOff x="567" y="2750"/>
              <a:chExt cx="317" cy="907"/>
            </a:xfrm>
          </p:grpSpPr>
          <p:sp>
            <p:nvSpPr>
              <p:cNvPr id="23791" name="Freeform 228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92" name="Freeform 228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93" name="Oval 228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94" name="Group 2290"/>
            <p:cNvGrpSpPr>
              <a:grpSpLocks/>
            </p:cNvGrpSpPr>
            <p:nvPr/>
          </p:nvGrpSpPr>
          <p:grpSpPr bwMode="auto">
            <a:xfrm>
              <a:off x="929" y="2750"/>
              <a:ext cx="317" cy="907"/>
              <a:chOff x="567" y="2750"/>
              <a:chExt cx="317" cy="907"/>
            </a:xfrm>
          </p:grpSpPr>
          <p:sp>
            <p:nvSpPr>
              <p:cNvPr id="23795" name="Freeform 229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96" name="Freeform 229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797" name="Oval 229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798" name="Group 2294"/>
            <p:cNvGrpSpPr>
              <a:grpSpLocks/>
            </p:cNvGrpSpPr>
            <p:nvPr/>
          </p:nvGrpSpPr>
          <p:grpSpPr bwMode="auto">
            <a:xfrm>
              <a:off x="635" y="2750"/>
              <a:ext cx="317" cy="907"/>
              <a:chOff x="567" y="2750"/>
              <a:chExt cx="317" cy="907"/>
            </a:xfrm>
          </p:grpSpPr>
          <p:sp>
            <p:nvSpPr>
              <p:cNvPr id="23799" name="Freeform 229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00" name="Freeform 229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01" name="Oval 229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02" name="Group 2298"/>
            <p:cNvGrpSpPr>
              <a:grpSpLocks/>
            </p:cNvGrpSpPr>
            <p:nvPr/>
          </p:nvGrpSpPr>
          <p:grpSpPr bwMode="auto">
            <a:xfrm>
              <a:off x="1547" y="2750"/>
              <a:ext cx="317" cy="907"/>
              <a:chOff x="567" y="2750"/>
              <a:chExt cx="317" cy="907"/>
            </a:xfrm>
          </p:grpSpPr>
          <p:sp>
            <p:nvSpPr>
              <p:cNvPr id="23803" name="Freeform 229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04" name="Freeform 230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05" name="Oval 230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06" name="Group 2302"/>
            <p:cNvGrpSpPr>
              <a:grpSpLocks/>
            </p:cNvGrpSpPr>
            <p:nvPr/>
          </p:nvGrpSpPr>
          <p:grpSpPr bwMode="auto">
            <a:xfrm>
              <a:off x="1853" y="2750"/>
              <a:ext cx="317" cy="907"/>
              <a:chOff x="567" y="2750"/>
              <a:chExt cx="317" cy="907"/>
            </a:xfrm>
          </p:grpSpPr>
          <p:sp>
            <p:nvSpPr>
              <p:cNvPr id="23807" name="Freeform 230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08" name="Freeform 230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09" name="Oval 230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10" name="Group 2306"/>
            <p:cNvGrpSpPr>
              <a:grpSpLocks/>
            </p:cNvGrpSpPr>
            <p:nvPr/>
          </p:nvGrpSpPr>
          <p:grpSpPr bwMode="auto">
            <a:xfrm>
              <a:off x="2762" y="2750"/>
              <a:ext cx="317" cy="907"/>
              <a:chOff x="567" y="2750"/>
              <a:chExt cx="317" cy="907"/>
            </a:xfrm>
          </p:grpSpPr>
          <p:sp>
            <p:nvSpPr>
              <p:cNvPr id="23811" name="Freeform 230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12" name="Freeform 230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13" name="Oval 230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14" name="Group 2310"/>
            <p:cNvGrpSpPr>
              <a:grpSpLocks/>
            </p:cNvGrpSpPr>
            <p:nvPr/>
          </p:nvGrpSpPr>
          <p:grpSpPr bwMode="auto">
            <a:xfrm>
              <a:off x="2454" y="2750"/>
              <a:ext cx="317" cy="907"/>
              <a:chOff x="567" y="2750"/>
              <a:chExt cx="317" cy="907"/>
            </a:xfrm>
          </p:grpSpPr>
          <p:sp>
            <p:nvSpPr>
              <p:cNvPr id="23815" name="Freeform 231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16" name="Freeform 231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17" name="Oval 231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18" name="Group 2314"/>
            <p:cNvGrpSpPr>
              <a:grpSpLocks/>
            </p:cNvGrpSpPr>
            <p:nvPr/>
          </p:nvGrpSpPr>
          <p:grpSpPr bwMode="auto">
            <a:xfrm>
              <a:off x="2160" y="2750"/>
              <a:ext cx="317" cy="907"/>
              <a:chOff x="567" y="2750"/>
              <a:chExt cx="317" cy="907"/>
            </a:xfrm>
          </p:grpSpPr>
          <p:sp>
            <p:nvSpPr>
              <p:cNvPr id="23819" name="Freeform 231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20" name="Freeform 231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21" name="Oval 231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22" name="Group 2318"/>
            <p:cNvGrpSpPr>
              <a:grpSpLocks/>
            </p:cNvGrpSpPr>
            <p:nvPr/>
          </p:nvGrpSpPr>
          <p:grpSpPr bwMode="auto">
            <a:xfrm>
              <a:off x="3071" y="2748"/>
              <a:ext cx="317" cy="907"/>
              <a:chOff x="567" y="2750"/>
              <a:chExt cx="317" cy="907"/>
            </a:xfrm>
          </p:grpSpPr>
          <p:sp>
            <p:nvSpPr>
              <p:cNvPr id="23823" name="Freeform 231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24" name="Freeform 232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25" name="Oval 232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26" name="Group 2322"/>
            <p:cNvGrpSpPr>
              <a:grpSpLocks/>
            </p:cNvGrpSpPr>
            <p:nvPr/>
          </p:nvGrpSpPr>
          <p:grpSpPr bwMode="auto">
            <a:xfrm>
              <a:off x="3377" y="2748"/>
              <a:ext cx="317" cy="907"/>
              <a:chOff x="567" y="2750"/>
              <a:chExt cx="317" cy="907"/>
            </a:xfrm>
          </p:grpSpPr>
          <p:sp>
            <p:nvSpPr>
              <p:cNvPr id="23827" name="Freeform 232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28" name="Freeform 232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29" name="Oval 232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30" name="Group 2326"/>
            <p:cNvGrpSpPr>
              <a:grpSpLocks/>
            </p:cNvGrpSpPr>
            <p:nvPr/>
          </p:nvGrpSpPr>
          <p:grpSpPr bwMode="auto">
            <a:xfrm>
              <a:off x="4286" y="2748"/>
              <a:ext cx="317" cy="907"/>
              <a:chOff x="567" y="2750"/>
              <a:chExt cx="317" cy="907"/>
            </a:xfrm>
          </p:grpSpPr>
          <p:sp>
            <p:nvSpPr>
              <p:cNvPr id="23831" name="Freeform 232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32" name="Freeform 232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33" name="Oval 232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34" name="Group 2330"/>
            <p:cNvGrpSpPr>
              <a:grpSpLocks/>
            </p:cNvGrpSpPr>
            <p:nvPr/>
          </p:nvGrpSpPr>
          <p:grpSpPr bwMode="auto">
            <a:xfrm>
              <a:off x="3978" y="2748"/>
              <a:ext cx="317" cy="907"/>
              <a:chOff x="567" y="2750"/>
              <a:chExt cx="317" cy="907"/>
            </a:xfrm>
          </p:grpSpPr>
          <p:sp>
            <p:nvSpPr>
              <p:cNvPr id="23835" name="Freeform 2331"/>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36" name="Freeform 2332"/>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37" name="Oval 2333"/>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38" name="Group 2334"/>
            <p:cNvGrpSpPr>
              <a:grpSpLocks/>
            </p:cNvGrpSpPr>
            <p:nvPr/>
          </p:nvGrpSpPr>
          <p:grpSpPr bwMode="auto">
            <a:xfrm>
              <a:off x="3684" y="2748"/>
              <a:ext cx="317" cy="907"/>
              <a:chOff x="567" y="2750"/>
              <a:chExt cx="317" cy="907"/>
            </a:xfrm>
          </p:grpSpPr>
          <p:sp>
            <p:nvSpPr>
              <p:cNvPr id="23839" name="Freeform 2335"/>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40" name="Freeform 2336"/>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41" name="Oval 2337"/>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42" name="Group 2338"/>
            <p:cNvGrpSpPr>
              <a:grpSpLocks/>
            </p:cNvGrpSpPr>
            <p:nvPr/>
          </p:nvGrpSpPr>
          <p:grpSpPr bwMode="auto">
            <a:xfrm>
              <a:off x="5196" y="2750"/>
              <a:ext cx="317" cy="907"/>
              <a:chOff x="567" y="2750"/>
              <a:chExt cx="317" cy="907"/>
            </a:xfrm>
          </p:grpSpPr>
          <p:sp>
            <p:nvSpPr>
              <p:cNvPr id="23843" name="Freeform 2339"/>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44" name="Freeform 2340"/>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45" name="Oval 2341"/>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46" name="Group 2342"/>
            <p:cNvGrpSpPr>
              <a:grpSpLocks/>
            </p:cNvGrpSpPr>
            <p:nvPr/>
          </p:nvGrpSpPr>
          <p:grpSpPr bwMode="auto">
            <a:xfrm>
              <a:off x="4888" y="2750"/>
              <a:ext cx="317" cy="907"/>
              <a:chOff x="567" y="2750"/>
              <a:chExt cx="317" cy="907"/>
            </a:xfrm>
          </p:grpSpPr>
          <p:sp>
            <p:nvSpPr>
              <p:cNvPr id="23847" name="Freeform 2343"/>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48" name="Freeform 2344"/>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49" name="Oval 2345"/>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50" name="Group 2346"/>
            <p:cNvGrpSpPr>
              <a:grpSpLocks/>
            </p:cNvGrpSpPr>
            <p:nvPr/>
          </p:nvGrpSpPr>
          <p:grpSpPr bwMode="auto">
            <a:xfrm>
              <a:off x="4594" y="2750"/>
              <a:ext cx="317" cy="907"/>
              <a:chOff x="567" y="2750"/>
              <a:chExt cx="317" cy="907"/>
            </a:xfrm>
          </p:grpSpPr>
          <p:sp>
            <p:nvSpPr>
              <p:cNvPr id="23851" name="Freeform 2347"/>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52" name="Freeform 2348"/>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53" name="Oval 2349"/>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grpSp>
        <p:nvGrpSpPr>
          <p:cNvPr id="23854" name="Group 2350"/>
          <p:cNvGrpSpPr>
            <a:grpSpLocks/>
          </p:cNvGrpSpPr>
          <p:nvPr/>
        </p:nvGrpSpPr>
        <p:grpSpPr bwMode="auto">
          <a:xfrm flipV="1">
            <a:off x="3144837" y="5329239"/>
            <a:ext cx="6915150" cy="866775"/>
            <a:chOff x="22" y="2748"/>
            <a:chExt cx="5491" cy="909"/>
          </a:xfrm>
        </p:grpSpPr>
        <p:grpSp>
          <p:nvGrpSpPr>
            <p:cNvPr id="23855" name="Group 2351"/>
            <p:cNvGrpSpPr>
              <a:grpSpLocks/>
            </p:cNvGrpSpPr>
            <p:nvPr/>
          </p:nvGrpSpPr>
          <p:grpSpPr bwMode="auto">
            <a:xfrm>
              <a:off x="22" y="2750"/>
              <a:ext cx="317" cy="907"/>
              <a:chOff x="567" y="2750"/>
              <a:chExt cx="317" cy="907"/>
            </a:xfrm>
          </p:grpSpPr>
          <p:sp>
            <p:nvSpPr>
              <p:cNvPr id="23856" name="Freeform 235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57" name="Freeform 235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58" name="Oval 235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59" name="Group 2355"/>
            <p:cNvGrpSpPr>
              <a:grpSpLocks/>
            </p:cNvGrpSpPr>
            <p:nvPr/>
          </p:nvGrpSpPr>
          <p:grpSpPr bwMode="auto">
            <a:xfrm>
              <a:off x="328" y="2750"/>
              <a:ext cx="317" cy="907"/>
              <a:chOff x="567" y="2750"/>
              <a:chExt cx="317" cy="907"/>
            </a:xfrm>
          </p:grpSpPr>
          <p:sp>
            <p:nvSpPr>
              <p:cNvPr id="23860" name="Freeform 235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61" name="Freeform 235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62" name="Oval 2358"/>
              <p:cNvSpPr>
                <a:spLocks noChangeArrowheads="1"/>
              </p:cNvSpPr>
              <p:nvPr/>
            </p:nvSpPr>
            <p:spPr bwMode="auto">
              <a:xfrm flipV="1">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63" name="Group 2359"/>
            <p:cNvGrpSpPr>
              <a:grpSpLocks/>
            </p:cNvGrpSpPr>
            <p:nvPr/>
          </p:nvGrpSpPr>
          <p:grpSpPr bwMode="auto">
            <a:xfrm>
              <a:off x="1237" y="2750"/>
              <a:ext cx="317" cy="907"/>
              <a:chOff x="567" y="2750"/>
              <a:chExt cx="317" cy="907"/>
            </a:xfrm>
          </p:grpSpPr>
          <p:sp>
            <p:nvSpPr>
              <p:cNvPr id="23864" name="Freeform 236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65" name="Freeform 236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66" name="Oval 236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67" name="Group 2363"/>
            <p:cNvGrpSpPr>
              <a:grpSpLocks/>
            </p:cNvGrpSpPr>
            <p:nvPr/>
          </p:nvGrpSpPr>
          <p:grpSpPr bwMode="auto">
            <a:xfrm>
              <a:off x="929" y="2750"/>
              <a:ext cx="317" cy="907"/>
              <a:chOff x="567" y="2750"/>
              <a:chExt cx="317" cy="907"/>
            </a:xfrm>
          </p:grpSpPr>
          <p:sp>
            <p:nvSpPr>
              <p:cNvPr id="23868" name="Freeform 236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69" name="Freeform 236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70" name="Oval 236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71" name="Group 2367"/>
            <p:cNvGrpSpPr>
              <a:grpSpLocks/>
            </p:cNvGrpSpPr>
            <p:nvPr/>
          </p:nvGrpSpPr>
          <p:grpSpPr bwMode="auto">
            <a:xfrm>
              <a:off x="635" y="2750"/>
              <a:ext cx="317" cy="907"/>
              <a:chOff x="567" y="2750"/>
              <a:chExt cx="317" cy="907"/>
            </a:xfrm>
          </p:grpSpPr>
          <p:sp>
            <p:nvSpPr>
              <p:cNvPr id="23872" name="Freeform 236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73" name="Freeform 236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74" name="Oval 237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75" name="Group 2371"/>
            <p:cNvGrpSpPr>
              <a:grpSpLocks/>
            </p:cNvGrpSpPr>
            <p:nvPr/>
          </p:nvGrpSpPr>
          <p:grpSpPr bwMode="auto">
            <a:xfrm>
              <a:off x="1547" y="2750"/>
              <a:ext cx="317" cy="907"/>
              <a:chOff x="567" y="2750"/>
              <a:chExt cx="317" cy="907"/>
            </a:xfrm>
          </p:grpSpPr>
          <p:sp>
            <p:nvSpPr>
              <p:cNvPr id="23876" name="Freeform 237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77" name="Freeform 237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78" name="Oval 237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79" name="Group 2375"/>
            <p:cNvGrpSpPr>
              <a:grpSpLocks/>
            </p:cNvGrpSpPr>
            <p:nvPr/>
          </p:nvGrpSpPr>
          <p:grpSpPr bwMode="auto">
            <a:xfrm>
              <a:off x="1853" y="2750"/>
              <a:ext cx="317" cy="907"/>
              <a:chOff x="567" y="2750"/>
              <a:chExt cx="317" cy="907"/>
            </a:xfrm>
          </p:grpSpPr>
          <p:sp>
            <p:nvSpPr>
              <p:cNvPr id="23880" name="Freeform 237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81" name="Freeform 237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82" name="Oval 237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83" name="Group 2379"/>
            <p:cNvGrpSpPr>
              <a:grpSpLocks/>
            </p:cNvGrpSpPr>
            <p:nvPr/>
          </p:nvGrpSpPr>
          <p:grpSpPr bwMode="auto">
            <a:xfrm>
              <a:off x="2762" y="2750"/>
              <a:ext cx="317" cy="907"/>
              <a:chOff x="567" y="2750"/>
              <a:chExt cx="317" cy="907"/>
            </a:xfrm>
          </p:grpSpPr>
          <p:sp>
            <p:nvSpPr>
              <p:cNvPr id="23884" name="Freeform 238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85" name="Freeform 238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86" name="Oval 238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87" name="Group 2383"/>
            <p:cNvGrpSpPr>
              <a:grpSpLocks/>
            </p:cNvGrpSpPr>
            <p:nvPr/>
          </p:nvGrpSpPr>
          <p:grpSpPr bwMode="auto">
            <a:xfrm>
              <a:off x="2454" y="2750"/>
              <a:ext cx="317" cy="907"/>
              <a:chOff x="567" y="2750"/>
              <a:chExt cx="317" cy="907"/>
            </a:xfrm>
          </p:grpSpPr>
          <p:sp>
            <p:nvSpPr>
              <p:cNvPr id="23888" name="Freeform 238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89" name="Freeform 238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90" name="Oval 238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91" name="Group 2387"/>
            <p:cNvGrpSpPr>
              <a:grpSpLocks/>
            </p:cNvGrpSpPr>
            <p:nvPr/>
          </p:nvGrpSpPr>
          <p:grpSpPr bwMode="auto">
            <a:xfrm>
              <a:off x="2160" y="2750"/>
              <a:ext cx="317" cy="907"/>
              <a:chOff x="567" y="2750"/>
              <a:chExt cx="317" cy="907"/>
            </a:xfrm>
          </p:grpSpPr>
          <p:sp>
            <p:nvSpPr>
              <p:cNvPr id="23892" name="Freeform 238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93" name="Freeform 238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94" name="Oval 239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95" name="Group 2391"/>
            <p:cNvGrpSpPr>
              <a:grpSpLocks/>
            </p:cNvGrpSpPr>
            <p:nvPr/>
          </p:nvGrpSpPr>
          <p:grpSpPr bwMode="auto">
            <a:xfrm>
              <a:off x="3071" y="2748"/>
              <a:ext cx="317" cy="907"/>
              <a:chOff x="567" y="2750"/>
              <a:chExt cx="317" cy="907"/>
            </a:xfrm>
          </p:grpSpPr>
          <p:sp>
            <p:nvSpPr>
              <p:cNvPr id="23896" name="Freeform 239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97" name="Freeform 239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898" name="Oval 239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899" name="Group 2395"/>
            <p:cNvGrpSpPr>
              <a:grpSpLocks/>
            </p:cNvGrpSpPr>
            <p:nvPr/>
          </p:nvGrpSpPr>
          <p:grpSpPr bwMode="auto">
            <a:xfrm>
              <a:off x="3377" y="2748"/>
              <a:ext cx="317" cy="907"/>
              <a:chOff x="567" y="2750"/>
              <a:chExt cx="317" cy="907"/>
            </a:xfrm>
          </p:grpSpPr>
          <p:sp>
            <p:nvSpPr>
              <p:cNvPr id="23900" name="Freeform 239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01" name="Freeform 239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02" name="Oval 239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03" name="Group 2399"/>
            <p:cNvGrpSpPr>
              <a:grpSpLocks/>
            </p:cNvGrpSpPr>
            <p:nvPr/>
          </p:nvGrpSpPr>
          <p:grpSpPr bwMode="auto">
            <a:xfrm>
              <a:off x="4286" y="2748"/>
              <a:ext cx="317" cy="907"/>
              <a:chOff x="567" y="2750"/>
              <a:chExt cx="317" cy="907"/>
            </a:xfrm>
          </p:grpSpPr>
          <p:sp>
            <p:nvSpPr>
              <p:cNvPr id="23904" name="Freeform 240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05" name="Freeform 240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06" name="Oval 240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07" name="Group 2403"/>
            <p:cNvGrpSpPr>
              <a:grpSpLocks/>
            </p:cNvGrpSpPr>
            <p:nvPr/>
          </p:nvGrpSpPr>
          <p:grpSpPr bwMode="auto">
            <a:xfrm>
              <a:off x="3978" y="2748"/>
              <a:ext cx="317" cy="907"/>
              <a:chOff x="567" y="2750"/>
              <a:chExt cx="317" cy="907"/>
            </a:xfrm>
          </p:grpSpPr>
          <p:sp>
            <p:nvSpPr>
              <p:cNvPr id="23908" name="Freeform 2404"/>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09" name="Freeform 2405"/>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10" name="Oval 2406"/>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11" name="Group 2407"/>
            <p:cNvGrpSpPr>
              <a:grpSpLocks/>
            </p:cNvGrpSpPr>
            <p:nvPr/>
          </p:nvGrpSpPr>
          <p:grpSpPr bwMode="auto">
            <a:xfrm>
              <a:off x="3684" y="2748"/>
              <a:ext cx="317" cy="907"/>
              <a:chOff x="567" y="2750"/>
              <a:chExt cx="317" cy="907"/>
            </a:xfrm>
          </p:grpSpPr>
          <p:sp>
            <p:nvSpPr>
              <p:cNvPr id="23912" name="Freeform 2408"/>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13" name="Freeform 2409"/>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14" name="Oval 2410"/>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15" name="Group 2411"/>
            <p:cNvGrpSpPr>
              <a:grpSpLocks/>
            </p:cNvGrpSpPr>
            <p:nvPr/>
          </p:nvGrpSpPr>
          <p:grpSpPr bwMode="auto">
            <a:xfrm>
              <a:off x="5196" y="2750"/>
              <a:ext cx="317" cy="907"/>
              <a:chOff x="567" y="2750"/>
              <a:chExt cx="317" cy="907"/>
            </a:xfrm>
          </p:grpSpPr>
          <p:sp>
            <p:nvSpPr>
              <p:cNvPr id="23916" name="Freeform 2412"/>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17" name="Freeform 2413"/>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18" name="Oval 2414"/>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19" name="Group 2415"/>
            <p:cNvGrpSpPr>
              <a:grpSpLocks/>
            </p:cNvGrpSpPr>
            <p:nvPr/>
          </p:nvGrpSpPr>
          <p:grpSpPr bwMode="auto">
            <a:xfrm>
              <a:off x="4888" y="2750"/>
              <a:ext cx="317" cy="907"/>
              <a:chOff x="567" y="2750"/>
              <a:chExt cx="317" cy="907"/>
            </a:xfrm>
          </p:grpSpPr>
          <p:sp>
            <p:nvSpPr>
              <p:cNvPr id="23920" name="Freeform 2416"/>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21" name="Freeform 2417"/>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22" name="Oval 2418"/>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3923" name="Group 2419"/>
            <p:cNvGrpSpPr>
              <a:grpSpLocks/>
            </p:cNvGrpSpPr>
            <p:nvPr/>
          </p:nvGrpSpPr>
          <p:grpSpPr bwMode="auto">
            <a:xfrm>
              <a:off x="4594" y="2750"/>
              <a:ext cx="317" cy="907"/>
              <a:chOff x="567" y="2750"/>
              <a:chExt cx="317" cy="907"/>
            </a:xfrm>
          </p:grpSpPr>
          <p:sp>
            <p:nvSpPr>
              <p:cNvPr id="23924" name="Freeform 2420"/>
              <p:cNvSpPr>
                <a:spLocks/>
              </p:cNvSpPr>
              <p:nvPr/>
            </p:nvSpPr>
            <p:spPr bwMode="auto">
              <a:xfrm>
                <a:off x="642" y="2840"/>
                <a:ext cx="45" cy="817"/>
              </a:xfrm>
              <a:custGeom>
                <a:avLst/>
                <a:gdLst>
                  <a:gd name="T0" fmla="*/ 45 w 45"/>
                  <a:gd name="T1" fmla="*/ 0 h 817"/>
                  <a:gd name="T2" fmla="*/ 0 w 45"/>
                  <a:gd name="T3" fmla="*/ 318 h 817"/>
                  <a:gd name="T4" fmla="*/ 45 w 45"/>
                  <a:gd name="T5" fmla="*/ 590 h 817"/>
                  <a:gd name="T6" fmla="*/ 0 w 45"/>
                  <a:gd name="T7" fmla="*/ 817 h 817"/>
                </a:gdLst>
                <a:ahLst/>
                <a:cxnLst>
                  <a:cxn ang="0">
                    <a:pos x="T0" y="T1"/>
                  </a:cxn>
                  <a:cxn ang="0">
                    <a:pos x="T2" y="T3"/>
                  </a:cxn>
                  <a:cxn ang="0">
                    <a:pos x="T4" y="T5"/>
                  </a:cxn>
                  <a:cxn ang="0">
                    <a:pos x="T6" y="T7"/>
                  </a:cxn>
                </a:cxnLst>
                <a:rect l="0" t="0" r="r" b="b"/>
                <a:pathLst>
                  <a:path w="45" h="817">
                    <a:moveTo>
                      <a:pt x="45" y="0"/>
                    </a:moveTo>
                    <a:cubicBezTo>
                      <a:pt x="22" y="110"/>
                      <a:pt x="0" y="220"/>
                      <a:pt x="0" y="318"/>
                    </a:cubicBezTo>
                    <a:cubicBezTo>
                      <a:pt x="0" y="416"/>
                      <a:pt x="45" y="507"/>
                      <a:pt x="45" y="590"/>
                    </a:cubicBezTo>
                    <a:cubicBezTo>
                      <a:pt x="45" y="673"/>
                      <a:pt x="7" y="779"/>
                      <a:pt x="0" y="817"/>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25" name="Freeform 2421"/>
              <p:cNvSpPr>
                <a:spLocks/>
              </p:cNvSpPr>
              <p:nvPr/>
            </p:nvSpPr>
            <p:spPr bwMode="auto">
              <a:xfrm>
                <a:off x="748" y="2886"/>
                <a:ext cx="99" cy="771"/>
              </a:xfrm>
              <a:custGeom>
                <a:avLst/>
                <a:gdLst>
                  <a:gd name="T0" fmla="*/ 0 w 99"/>
                  <a:gd name="T1" fmla="*/ 0 h 771"/>
                  <a:gd name="T2" fmla="*/ 45 w 99"/>
                  <a:gd name="T3" fmla="*/ 227 h 771"/>
                  <a:gd name="T4" fmla="*/ 45 w 99"/>
                  <a:gd name="T5" fmla="*/ 453 h 771"/>
                  <a:gd name="T6" fmla="*/ 91 w 99"/>
                  <a:gd name="T7" fmla="*/ 635 h 771"/>
                  <a:gd name="T8" fmla="*/ 91 w 99"/>
                  <a:gd name="T9" fmla="*/ 771 h 771"/>
                </a:gdLst>
                <a:ahLst/>
                <a:cxnLst>
                  <a:cxn ang="0">
                    <a:pos x="T0" y="T1"/>
                  </a:cxn>
                  <a:cxn ang="0">
                    <a:pos x="T2" y="T3"/>
                  </a:cxn>
                  <a:cxn ang="0">
                    <a:pos x="T4" y="T5"/>
                  </a:cxn>
                  <a:cxn ang="0">
                    <a:pos x="T6" y="T7"/>
                  </a:cxn>
                  <a:cxn ang="0">
                    <a:pos x="T8" y="T9"/>
                  </a:cxn>
                </a:cxnLst>
                <a:rect l="0" t="0" r="r" b="b"/>
                <a:pathLst>
                  <a:path w="99" h="771">
                    <a:moveTo>
                      <a:pt x="0" y="0"/>
                    </a:moveTo>
                    <a:cubicBezTo>
                      <a:pt x="19" y="76"/>
                      <a:pt x="38" y="152"/>
                      <a:pt x="45" y="227"/>
                    </a:cubicBezTo>
                    <a:cubicBezTo>
                      <a:pt x="52" y="302"/>
                      <a:pt x="37" y="385"/>
                      <a:pt x="45" y="453"/>
                    </a:cubicBezTo>
                    <a:cubicBezTo>
                      <a:pt x="53" y="521"/>
                      <a:pt x="83" y="582"/>
                      <a:pt x="91" y="635"/>
                    </a:cubicBezTo>
                    <a:cubicBezTo>
                      <a:pt x="99" y="688"/>
                      <a:pt x="95" y="729"/>
                      <a:pt x="91" y="771"/>
                    </a:cubicBezTo>
                  </a:path>
                </a:pathLst>
              </a:custGeom>
              <a:solidFill>
                <a:schemeClr val="bg2"/>
              </a:solidFill>
              <a:ln w="571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3926" name="Oval 2422"/>
              <p:cNvSpPr>
                <a:spLocks noChangeArrowheads="1"/>
              </p:cNvSpPr>
              <p:nvPr/>
            </p:nvSpPr>
            <p:spPr bwMode="auto">
              <a:xfrm>
                <a:off x="567" y="2750"/>
                <a:ext cx="317" cy="317"/>
              </a:xfrm>
              <a:prstGeom prst="ellipse">
                <a:avLst/>
              </a:prstGeom>
              <a:gradFill rotWithShape="1">
                <a:gsLst>
                  <a:gs pos="0">
                    <a:schemeClr val="accent1"/>
                  </a:gs>
                  <a:gs pos="100000">
                    <a:schemeClr va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spTree>
    <p:extLst>
      <p:ext uri="{BB962C8B-B14F-4D97-AF65-F5344CB8AC3E}">
        <p14:creationId xmlns:p14="http://schemas.microsoft.com/office/powerpoint/2010/main" val="3585362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path" presetSubtype="0" accel="50000" decel="50000" fill="hold" grpId="0" nodeType="clickEffect">
                                  <p:stCondLst>
                                    <p:cond delay="0"/>
                                  </p:stCondLst>
                                  <p:childTnLst>
                                    <p:animMotion origin="layout" path="M 0 0  L 0.067 -0.05333  C 0.081 -0.06533  0.102 -0.072  0.124 -0.072  C 0.149 -0.072  0.169 -0.06533  0.183 -0.05333  L 0.25 0  E" pathEditMode="relative" ptsTypes="">
                                      <p:cBhvr>
                                        <p:cTn id="6" dur="2000" fill="hold"/>
                                        <p:tgtEl>
                                          <p:spTgt spid="24085"/>
                                        </p:tgtEl>
                                        <p:attrNameLst>
                                          <p:attrName>ppt_x</p:attrName>
                                          <p:attrName>ppt_y</p:attrName>
                                        </p:attrNameLst>
                                      </p:cBhvr>
                                    </p:animMotion>
                                  </p:childTnLst>
                                </p:cTn>
                              </p:par>
                            </p:childTnLst>
                          </p:cTn>
                        </p:par>
                        <p:par>
                          <p:cTn id="7" fill="hold" nodeType="afterGroup">
                            <p:stCondLst>
                              <p:cond delay="2000"/>
                            </p:stCondLst>
                            <p:childTnLst>
                              <p:par>
                                <p:cTn id="8" presetID="35" presetClass="path" presetSubtype="0" accel="50000" decel="50000" fill="hold" grpId="0" nodeType="afterEffect">
                                  <p:stCondLst>
                                    <p:cond delay="0"/>
                                  </p:stCondLst>
                                  <p:childTnLst>
                                    <p:animMotion origin="layout" path="M 0 0  L -0.25 0  E" pathEditMode="relative" ptsTypes="">
                                      <p:cBhvr>
                                        <p:cTn id="9" dur="2000" fill="hold"/>
                                        <p:tgtEl>
                                          <p:spTgt spid="24075"/>
                                        </p:tgtEl>
                                        <p:attrNameLst>
                                          <p:attrName>ppt_x</p:attrName>
                                          <p:attrName>ppt_y</p:attrName>
                                        </p:attrNameLst>
                                      </p:cBhvr>
                                    </p:animMotion>
                                  </p:childTnLst>
                                </p:cTn>
                              </p:par>
                            </p:childTnLst>
                          </p:cTn>
                        </p:par>
                        <p:par>
                          <p:cTn id="10" fill="hold" nodeType="afterGroup">
                            <p:stCondLst>
                              <p:cond delay="4000"/>
                            </p:stCondLst>
                            <p:childTnLst>
                              <p:par>
                                <p:cTn id="11" presetID="0" presetClass="path" presetSubtype="0" accel="50000" decel="50000" fill="hold" grpId="0" nodeType="afterEffect">
                                  <p:stCondLst>
                                    <p:cond delay="0"/>
                                  </p:stCondLst>
                                  <p:childTnLst>
                                    <p:animMotion origin="layout" path="M -2.5E-6 4.44444E-6 L 0.11424 0.05787 " pathEditMode="relative" rAng="0" ptsTypes="AA">
                                      <p:cBhvr>
                                        <p:cTn id="12" dur="2000" fill="hold"/>
                                        <p:tgtEl>
                                          <p:spTgt spid="24079"/>
                                        </p:tgtEl>
                                        <p:attrNameLst>
                                          <p:attrName>ppt_x</p:attrName>
                                          <p:attrName>ppt_y</p:attrName>
                                        </p:attrNameLst>
                                      </p:cBhvr>
                                      <p:rCtr x="5712" y="28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85" grpId="0" animBg="1"/>
      <p:bldP spid="24075" grpId="0" animBg="1"/>
      <p:bldP spid="2407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09441" y="274639"/>
            <a:ext cx="10969943" cy="777875"/>
          </a:xfrm>
        </p:spPr>
        <p:txBody>
          <a:bodyPr/>
          <a:lstStyle/>
          <a:p>
            <a:r>
              <a:rPr lang="en-US" altLang="en-US" sz="4000" b="1">
                <a:solidFill>
                  <a:srgbClr val="339933"/>
                </a:solidFill>
              </a:rPr>
              <a:t>Functions of the cell membrane</a:t>
            </a:r>
          </a:p>
        </p:txBody>
      </p:sp>
      <p:sp>
        <p:nvSpPr>
          <p:cNvPr id="56323" name="Rectangle 3"/>
          <p:cNvSpPr>
            <a:spLocks noGrp="1" noChangeArrowheads="1"/>
          </p:cNvSpPr>
          <p:nvPr>
            <p:ph type="body" idx="1"/>
          </p:nvPr>
        </p:nvSpPr>
        <p:spPr/>
        <p:txBody>
          <a:bodyPr/>
          <a:lstStyle/>
          <a:p>
            <a:pPr>
              <a:buFontTx/>
              <a:buNone/>
            </a:pPr>
            <a:r>
              <a:rPr lang="en-US" altLang="en-US"/>
              <a:t>The cell membrane:</a:t>
            </a:r>
          </a:p>
          <a:p>
            <a:r>
              <a:rPr lang="en-US" altLang="en-US"/>
              <a:t>Isolates the cell from the surrounding tissue fluid</a:t>
            </a:r>
          </a:p>
          <a:p>
            <a:r>
              <a:rPr lang="en-US" altLang="en-US"/>
              <a:t>determines what substances enter and leave the cell</a:t>
            </a:r>
          </a:p>
          <a:p>
            <a:r>
              <a:rPr lang="en-US" altLang="en-US"/>
              <a:t>contains a variety of receptors that respond to substances in the cell’s environment e.g. hormones, antigens.</a:t>
            </a:r>
          </a:p>
        </p:txBody>
      </p:sp>
    </p:spTree>
    <p:extLst>
      <p:ext uri="{BB962C8B-B14F-4D97-AF65-F5344CB8AC3E}">
        <p14:creationId xmlns:p14="http://schemas.microsoft.com/office/powerpoint/2010/main" val="14527476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sz="4000" b="1">
                <a:solidFill>
                  <a:srgbClr val="339933"/>
                </a:solidFill>
              </a:rPr>
              <a:t>Diffusion through the membrane</a:t>
            </a:r>
          </a:p>
        </p:txBody>
      </p:sp>
      <p:sp>
        <p:nvSpPr>
          <p:cNvPr id="9219" name="Rectangle 3"/>
          <p:cNvSpPr>
            <a:spLocks noGrp="1" noChangeArrowheads="1"/>
          </p:cNvSpPr>
          <p:nvPr>
            <p:ph type="body" idx="1"/>
          </p:nvPr>
        </p:nvSpPr>
        <p:spPr/>
        <p:txBody>
          <a:bodyPr/>
          <a:lstStyle/>
          <a:p>
            <a:r>
              <a:rPr lang="en-US" altLang="en-US" sz="3600" b="1">
                <a:solidFill>
                  <a:schemeClr val="accent2"/>
                </a:solidFill>
              </a:rPr>
              <a:t>Because the cell membrane is fatty, most water soluble substances cannot diffuse through it. </a:t>
            </a:r>
          </a:p>
          <a:p>
            <a:r>
              <a:rPr lang="en-US" altLang="en-US" sz="3600" b="1">
                <a:solidFill>
                  <a:schemeClr val="accent2"/>
                </a:solidFill>
              </a:rPr>
              <a:t>Exceptions include </a:t>
            </a:r>
            <a:r>
              <a:rPr lang="en-US" altLang="en-US" sz="3600" b="1">
                <a:solidFill>
                  <a:srgbClr val="CC00CC"/>
                </a:solidFill>
              </a:rPr>
              <a:t>oxygen</a:t>
            </a:r>
            <a:r>
              <a:rPr lang="en-US" altLang="en-US" sz="3600" b="1">
                <a:solidFill>
                  <a:schemeClr val="accent2"/>
                </a:solidFill>
              </a:rPr>
              <a:t> &amp; </a:t>
            </a:r>
            <a:r>
              <a:rPr lang="en-US" altLang="en-US" sz="3600" b="1">
                <a:solidFill>
                  <a:srgbClr val="CC00CC"/>
                </a:solidFill>
              </a:rPr>
              <a:t>carbon dioxide.</a:t>
            </a:r>
          </a:p>
        </p:txBody>
      </p:sp>
    </p:spTree>
    <p:extLst>
      <p:ext uri="{BB962C8B-B14F-4D97-AF65-F5344CB8AC3E}">
        <p14:creationId xmlns:p14="http://schemas.microsoft.com/office/powerpoint/2010/main" val="14894527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b="1">
                <a:solidFill>
                  <a:srgbClr val="339933"/>
                </a:solidFill>
              </a:rPr>
              <a:t>Membrane proteins</a:t>
            </a:r>
          </a:p>
        </p:txBody>
      </p:sp>
      <p:sp>
        <p:nvSpPr>
          <p:cNvPr id="8195" name="Rectangle 3"/>
          <p:cNvSpPr>
            <a:spLocks noGrp="1" noChangeArrowheads="1"/>
          </p:cNvSpPr>
          <p:nvPr>
            <p:ph type="body" idx="1"/>
          </p:nvPr>
        </p:nvSpPr>
        <p:spPr/>
        <p:txBody>
          <a:bodyPr/>
          <a:lstStyle/>
          <a:p>
            <a:r>
              <a:rPr lang="en-US" altLang="en-US" sz="3600" b="1">
                <a:solidFill>
                  <a:schemeClr val="accent2"/>
                </a:solidFill>
              </a:rPr>
              <a:t>A variety of  proteins are embedded in the bi-layer. </a:t>
            </a:r>
          </a:p>
          <a:p>
            <a:r>
              <a:rPr lang="en-US" altLang="en-US" sz="3600" b="1">
                <a:solidFill>
                  <a:schemeClr val="accent2"/>
                </a:solidFill>
              </a:rPr>
              <a:t>These serve various functions including the movement of substances in and out of the cell.</a:t>
            </a:r>
          </a:p>
        </p:txBody>
      </p:sp>
    </p:spTree>
    <p:extLst>
      <p:ext uri="{BB962C8B-B14F-4D97-AF65-F5344CB8AC3E}">
        <p14:creationId xmlns:p14="http://schemas.microsoft.com/office/powerpoint/2010/main" val="31508868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441" y="274639"/>
            <a:ext cx="10969943" cy="922337"/>
          </a:xfrm>
        </p:spPr>
        <p:txBody>
          <a:bodyPr/>
          <a:lstStyle/>
          <a:p>
            <a:r>
              <a:rPr lang="en-US" altLang="en-US" b="1">
                <a:solidFill>
                  <a:srgbClr val="339933"/>
                </a:solidFill>
              </a:rPr>
              <a:t>Membrane transport proteins</a:t>
            </a:r>
          </a:p>
        </p:txBody>
      </p:sp>
      <p:sp>
        <p:nvSpPr>
          <p:cNvPr id="10243" name="Rectangle 3"/>
          <p:cNvSpPr>
            <a:spLocks noGrp="1" noChangeArrowheads="1"/>
          </p:cNvSpPr>
          <p:nvPr>
            <p:ph type="body" idx="1"/>
          </p:nvPr>
        </p:nvSpPr>
        <p:spPr>
          <a:xfrm>
            <a:off x="239122" y="1268413"/>
            <a:ext cx="11949703" cy="5256212"/>
          </a:xfrm>
        </p:spPr>
        <p:txBody>
          <a:bodyPr/>
          <a:lstStyle/>
          <a:p>
            <a:r>
              <a:rPr lang="en-US" altLang="en-US" sz="4000" b="1">
                <a:solidFill>
                  <a:schemeClr val="accent2"/>
                </a:solidFill>
              </a:rPr>
              <a:t>Membrane proteins that aid the movement of substances in and out of the cell include:</a:t>
            </a:r>
          </a:p>
          <a:p>
            <a:pPr lvl="2"/>
            <a:r>
              <a:rPr lang="en-US" altLang="en-US" sz="3200" b="1">
                <a:solidFill>
                  <a:srgbClr val="CC00CC"/>
                </a:solidFill>
              </a:rPr>
              <a:t>Channel proteins</a:t>
            </a:r>
            <a:r>
              <a:rPr lang="en-US" altLang="en-US" sz="3200" b="1">
                <a:solidFill>
                  <a:schemeClr val="accent2"/>
                </a:solidFill>
              </a:rPr>
              <a:t> (ion channels) – </a:t>
            </a:r>
            <a:br>
              <a:rPr lang="en-US" altLang="en-US" sz="3200" b="1">
                <a:solidFill>
                  <a:schemeClr val="accent2"/>
                </a:solidFill>
              </a:rPr>
            </a:br>
            <a:r>
              <a:rPr lang="en-US" altLang="en-US" sz="3200" b="1">
                <a:solidFill>
                  <a:schemeClr val="accent2"/>
                </a:solidFill>
              </a:rPr>
              <a:t>open channels that allow simple diffusion.</a:t>
            </a:r>
          </a:p>
          <a:p>
            <a:pPr lvl="2"/>
            <a:r>
              <a:rPr lang="en-US" altLang="en-US" sz="3200" b="1">
                <a:solidFill>
                  <a:srgbClr val="CC00CC"/>
                </a:solidFill>
              </a:rPr>
              <a:t>Carrier proteins</a:t>
            </a:r>
            <a:r>
              <a:rPr lang="en-US" altLang="en-US" sz="3200" b="1">
                <a:solidFill>
                  <a:schemeClr val="accent2"/>
                </a:solidFill>
              </a:rPr>
              <a:t> that allow facilitated diffusion (e.g. glucose) and active transport (specific membrane pumps).  </a:t>
            </a:r>
          </a:p>
        </p:txBody>
      </p:sp>
    </p:spTree>
    <p:extLst>
      <p:ext uri="{BB962C8B-B14F-4D97-AF65-F5344CB8AC3E}">
        <p14:creationId xmlns:p14="http://schemas.microsoft.com/office/powerpoint/2010/main" val="9849730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441" y="274639"/>
            <a:ext cx="10969943" cy="777875"/>
          </a:xfrm>
        </p:spPr>
        <p:txBody>
          <a:bodyPr/>
          <a:lstStyle/>
          <a:p>
            <a:r>
              <a:rPr lang="en-US" altLang="en-US" b="1">
                <a:solidFill>
                  <a:srgbClr val="339933"/>
                </a:solidFill>
              </a:rPr>
              <a:t>Membrane transport</a:t>
            </a:r>
          </a:p>
        </p:txBody>
      </p:sp>
      <p:sp>
        <p:nvSpPr>
          <p:cNvPr id="20483" name="Rectangle 3"/>
          <p:cNvSpPr>
            <a:spLocks noGrp="1" noChangeArrowheads="1"/>
          </p:cNvSpPr>
          <p:nvPr>
            <p:ph type="body" idx="1"/>
          </p:nvPr>
        </p:nvSpPr>
        <p:spPr>
          <a:xfrm>
            <a:off x="609441" y="1125538"/>
            <a:ext cx="10969943" cy="5543550"/>
          </a:xfrm>
        </p:spPr>
        <p:txBody>
          <a:bodyPr/>
          <a:lstStyle/>
          <a:p>
            <a:r>
              <a:rPr lang="en-US" altLang="en-US" sz="3600" b="1">
                <a:solidFill>
                  <a:schemeClr val="accent2"/>
                </a:solidFill>
              </a:rPr>
              <a:t>Transport processes are either passive or active.</a:t>
            </a:r>
          </a:p>
          <a:p>
            <a:r>
              <a:rPr lang="en-US" altLang="en-US" sz="3600" b="1">
                <a:solidFill>
                  <a:srgbClr val="CC00CC"/>
                </a:solidFill>
              </a:rPr>
              <a:t>Passive</a:t>
            </a:r>
            <a:r>
              <a:rPr lang="en-US" altLang="en-US" sz="3600" b="1">
                <a:solidFill>
                  <a:schemeClr val="accent2"/>
                </a:solidFill>
              </a:rPr>
              <a:t> processes require no cellular energy and include </a:t>
            </a:r>
            <a:r>
              <a:rPr lang="en-US" altLang="en-US" sz="3600" b="1">
                <a:solidFill>
                  <a:srgbClr val="CC00CC"/>
                </a:solidFill>
              </a:rPr>
              <a:t>diffusion</a:t>
            </a:r>
            <a:r>
              <a:rPr lang="en-US" altLang="en-US" sz="3600" b="1">
                <a:solidFill>
                  <a:schemeClr val="accent2"/>
                </a:solidFill>
              </a:rPr>
              <a:t>, </a:t>
            </a:r>
            <a:r>
              <a:rPr lang="en-US" altLang="en-US" sz="3600" b="1">
                <a:solidFill>
                  <a:srgbClr val="CC00CC"/>
                </a:solidFill>
              </a:rPr>
              <a:t>osmosis</a:t>
            </a:r>
            <a:r>
              <a:rPr lang="en-US" altLang="en-US" sz="3600" b="1">
                <a:solidFill>
                  <a:schemeClr val="accent2"/>
                </a:solidFill>
              </a:rPr>
              <a:t> &amp; </a:t>
            </a:r>
            <a:r>
              <a:rPr lang="en-US" altLang="en-US" sz="3600" b="1">
                <a:solidFill>
                  <a:srgbClr val="CC00CC"/>
                </a:solidFill>
              </a:rPr>
              <a:t>facilitated diffusion</a:t>
            </a:r>
            <a:r>
              <a:rPr lang="en-US" altLang="en-US" sz="3600" b="1">
                <a:solidFill>
                  <a:schemeClr val="accent2"/>
                </a:solidFill>
              </a:rPr>
              <a:t>.</a:t>
            </a:r>
          </a:p>
          <a:p>
            <a:r>
              <a:rPr lang="en-US" altLang="en-US" sz="3600" b="1">
                <a:solidFill>
                  <a:srgbClr val="CC00CC"/>
                </a:solidFill>
              </a:rPr>
              <a:t>Active</a:t>
            </a:r>
            <a:r>
              <a:rPr lang="en-US" altLang="en-US" sz="3600" b="1">
                <a:solidFill>
                  <a:schemeClr val="accent2"/>
                </a:solidFill>
              </a:rPr>
              <a:t> processes require ATP and include specific </a:t>
            </a:r>
            <a:r>
              <a:rPr lang="en-US" altLang="en-US" sz="3600" b="1">
                <a:solidFill>
                  <a:srgbClr val="CC00CC"/>
                </a:solidFill>
              </a:rPr>
              <a:t>membrane pumps</a:t>
            </a:r>
            <a:r>
              <a:rPr lang="en-US" altLang="en-US" sz="3600" b="1">
                <a:solidFill>
                  <a:schemeClr val="accent2"/>
                </a:solidFill>
              </a:rPr>
              <a:t> and </a:t>
            </a:r>
            <a:r>
              <a:rPr lang="en-US" altLang="en-US" sz="3600" b="1">
                <a:solidFill>
                  <a:srgbClr val="CC00CC"/>
                </a:solidFill>
              </a:rPr>
              <a:t>phagocytosis/pinocytosis.</a:t>
            </a:r>
          </a:p>
        </p:txBody>
      </p:sp>
    </p:spTree>
    <p:extLst>
      <p:ext uri="{BB962C8B-B14F-4D97-AF65-F5344CB8AC3E}">
        <p14:creationId xmlns:p14="http://schemas.microsoft.com/office/powerpoint/2010/main" val="21264385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p:cNvSpPr>
            <a:spLocks noGrp="1" noChangeArrowheads="1"/>
          </p:cNvSpPr>
          <p:nvPr>
            <p:ph type="title"/>
          </p:nvPr>
        </p:nvSpPr>
        <p:spPr/>
        <p:txBody>
          <a:bodyPr/>
          <a:lstStyle/>
          <a:p>
            <a:r>
              <a:rPr lang="en-US" altLang="en-US" sz="4000" b="1">
                <a:solidFill>
                  <a:srgbClr val="339933"/>
                </a:solidFill>
              </a:rPr>
              <a:t>Simple diffusion (left) &amp; facilitated diffusion</a:t>
            </a:r>
          </a:p>
        </p:txBody>
      </p:sp>
      <p:pic>
        <p:nvPicPr>
          <p:cNvPr id="36870" name="Picture 6" descr="581px-Facilitated_diffusion_in_cell_membrane_svg"/>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31688" y="1844676"/>
            <a:ext cx="11325450" cy="4075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71" name="Text Box 7"/>
          <p:cNvSpPr txBox="1">
            <a:spLocks noChangeArrowheads="1"/>
          </p:cNvSpPr>
          <p:nvPr/>
        </p:nvSpPr>
        <p:spPr bwMode="auto">
          <a:xfrm>
            <a:off x="8013730" y="6381750"/>
            <a:ext cx="3840749"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t>Diagram created by LadyofHats</a:t>
            </a:r>
          </a:p>
        </p:txBody>
      </p:sp>
    </p:spTree>
    <p:extLst>
      <p:ext uri="{BB962C8B-B14F-4D97-AF65-F5344CB8AC3E}">
        <p14:creationId xmlns:p14="http://schemas.microsoft.com/office/powerpoint/2010/main" val="35646448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type="title"/>
          </p:nvPr>
        </p:nvSpPr>
        <p:spPr/>
        <p:txBody>
          <a:bodyPr/>
          <a:lstStyle/>
          <a:p>
            <a:r>
              <a:rPr lang="en-US" altLang="en-US" sz="4000" b="1">
                <a:solidFill>
                  <a:srgbClr val="339933"/>
                </a:solidFill>
              </a:rPr>
              <a:t>Active transport (sodium pump)</a:t>
            </a:r>
          </a:p>
        </p:txBody>
      </p:sp>
      <p:pic>
        <p:nvPicPr>
          <p:cNvPr id="38918" name="Picture 6" descr="635px-Sodium-Potassium_pump_svg"/>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7792" y="1557338"/>
            <a:ext cx="11661913" cy="4179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19" name="Text Box 7"/>
          <p:cNvSpPr txBox="1">
            <a:spLocks noChangeArrowheads="1"/>
          </p:cNvSpPr>
          <p:nvPr/>
        </p:nvSpPr>
        <p:spPr bwMode="auto">
          <a:xfrm>
            <a:off x="7725938" y="6092826"/>
            <a:ext cx="39359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t>Diagram created by LadyofHats</a:t>
            </a:r>
          </a:p>
          <a:p>
            <a:pPr>
              <a:spcBef>
                <a:spcPct val="50000"/>
              </a:spcBef>
            </a:pPr>
            <a:endParaRPr lang="en-US" altLang="en-US" sz="1200"/>
          </a:p>
        </p:txBody>
      </p:sp>
    </p:spTree>
    <p:extLst>
      <p:ext uri="{BB962C8B-B14F-4D97-AF65-F5344CB8AC3E}">
        <p14:creationId xmlns:p14="http://schemas.microsoft.com/office/powerpoint/2010/main" val="38101885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p:txBody>
          <a:bodyPr/>
          <a:lstStyle/>
          <a:p>
            <a:r>
              <a:rPr lang="en-US" altLang="en-US" b="1">
                <a:solidFill>
                  <a:srgbClr val="339933"/>
                </a:solidFill>
              </a:rPr>
              <a:t>Endocytosis</a:t>
            </a:r>
          </a:p>
        </p:txBody>
      </p:sp>
      <p:pic>
        <p:nvPicPr>
          <p:cNvPr id="51206" name="Picture 6" descr="672px-Endocytosis_types_svg"/>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26914" y="1773239"/>
            <a:ext cx="11037658" cy="41417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07" name="Text Box 7"/>
          <p:cNvSpPr txBox="1">
            <a:spLocks noChangeArrowheads="1"/>
          </p:cNvSpPr>
          <p:nvPr/>
        </p:nvSpPr>
        <p:spPr bwMode="auto">
          <a:xfrm>
            <a:off x="7918504" y="6092826"/>
            <a:ext cx="39359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t>Diagram created by LadyofHats</a:t>
            </a:r>
          </a:p>
          <a:p>
            <a:pPr>
              <a:spcBef>
                <a:spcPct val="50000"/>
              </a:spcBef>
            </a:pPr>
            <a:endParaRPr lang="en-US" altLang="en-US" sz="1200"/>
          </a:p>
        </p:txBody>
      </p:sp>
    </p:spTree>
    <p:extLst>
      <p:ext uri="{BB962C8B-B14F-4D97-AF65-F5344CB8AC3E}">
        <p14:creationId xmlns:p14="http://schemas.microsoft.com/office/powerpoint/2010/main" val="19826947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p:cNvSpPr>
            <a:spLocks noGrp="1" noChangeArrowheads="1"/>
          </p:cNvSpPr>
          <p:nvPr>
            <p:ph type="title"/>
          </p:nvPr>
        </p:nvSpPr>
        <p:spPr/>
        <p:txBody>
          <a:bodyPr/>
          <a:lstStyle/>
          <a:p>
            <a:r>
              <a:rPr lang="en-US" altLang="en-US" b="1">
                <a:solidFill>
                  <a:srgbClr val="339933"/>
                </a:solidFill>
              </a:rPr>
              <a:t>Exocytosis</a:t>
            </a:r>
          </a:p>
        </p:txBody>
      </p:sp>
      <p:pic>
        <p:nvPicPr>
          <p:cNvPr id="49158" name="Picture 6" descr="399px-Exocytosis_types_svg"/>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43572" y="1217613"/>
            <a:ext cx="7582042" cy="4975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159" name="Text Box 7"/>
          <p:cNvSpPr txBox="1">
            <a:spLocks noChangeArrowheads="1"/>
          </p:cNvSpPr>
          <p:nvPr/>
        </p:nvSpPr>
        <p:spPr bwMode="auto">
          <a:xfrm>
            <a:off x="8301522" y="6308726"/>
            <a:ext cx="3455616"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t>Diagram created by LadyofHats</a:t>
            </a:r>
          </a:p>
          <a:p>
            <a:pPr>
              <a:spcBef>
                <a:spcPct val="50000"/>
              </a:spcBef>
            </a:pPr>
            <a:endParaRPr lang="en-US" altLang="en-US" sz="1200"/>
          </a:p>
        </p:txBody>
      </p:sp>
    </p:spTree>
    <p:extLst>
      <p:ext uri="{BB962C8B-B14F-4D97-AF65-F5344CB8AC3E}">
        <p14:creationId xmlns:p14="http://schemas.microsoft.com/office/powerpoint/2010/main" val="19463949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609441" y="274638"/>
            <a:ext cx="10969943" cy="850900"/>
          </a:xfrm>
        </p:spPr>
        <p:txBody>
          <a:bodyPr/>
          <a:lstStyle/>
          <a:p>
            <a:r>
              <a:rPr lang="en-US" altLang="en-US" b="1">
                <a:solidFill>
                  <a:srgbClr val="339933"/>
                </a:solidFill>
              </a:rPr>
              <a:t>Cell markers and receptors</a:t>
            </a:r>
          </a:p>
        </p:txBody>
      </p:sp>
      <p:sp>
        <p:nvSpPr>
          <p:cNvPr id="59395" name="Rectangle 3"/>
          <p:cNvSpPr>
            <a:spLocks noGrp="1" noChangeArrowheads="1"/>
          </p:cNvSpPr>
          <p:nvPr>
            <p:ph type="body" idx="1"/>
          </p:nvPr>
        </p:nvSpPr>
        <p:spPr>
          <a:xfrm>
            <a:off x="624254" y="1125538"/>
            <a:ext cx="10969943" cy="5000625"/>
          </a:xfrm>
        </p:spPr>
        <p:txBody>
          <a:bodyPr/>
          <a:lstStyle/>
          <a:p>
            <a:pPr marL="280988" indent="-280988">
              <a:lnSpc>
                <a:spcPct val="90000"/>
              </a:lnSpc>
              <a:buFontTx/>
              <a:buNone/>
            </a:pPr>
            <a:r>
              <a:rPr lang="en-US" altLang="en-US"/>
              <a:t>Various protein and carbohydrate molecules exposed on the surface of the membrane: </a:t>
            </a:r>
          </a:p>
          <a:p>
            <a:pPr marL="280988" indent="-280988">
              <a:lnSpc>
                <a:spcPct val="90000"/>
              </a:lnSpc>
            </a:pPr>
            <a:r>
              <a:rPr lang="en-US" altLang="en-US"/>
              <a:t>act as </a:t>
            </a:r>
            <a:r>
              <a:rPr lang="en-US" altLang="en-US" b="1"/>
              <a:t>markers</a:t>
            </a:r>
            <a:r>
              <a:rPr lang="en-US" altLang="en-US"/>
              <a:t> – these indicate to cells of the immune system whether a cell is norm or abnormal (see MHC proteins).</a:t>
            </a:r>
          </a:p>
          <a:p>
            <a:pPr marL="280988" indent="-280988">
              <a:lnSpc>
                <a:spcPct val="90000"/>
              </a:lnSpc>
            </a:pPr>
            <a:r>
              <a:rPr lang="en-US" altLang="en-US"/>
              <a:t>serve as </a:t>
            </a:r>
            <a:r>
              <a:rPr lang="en-US" altLang="en-US" b="1"/>
              <a:t>receptors</a:t>
            </a:r>
            <a:r>
              <a:rPr lang="en-US" altLang="en-US"/>
              <a:t> that interact with substance in the cell’s environment and initiate specific cellular responses e.g. receptors sensitive to the hormone insulin alter the rate of glucose intake.</a:t>
            </a:r>
          </a:p>
        </p:txBody>
      </p:sp>
    </p:spTree>
    <p:extLst>
      <p:ext uri="{BB962C8B-B14F-4D97-AF65-F5344CB8AC3E}">
        <p14:creationId xmlns:p14="http://schemas.microsoft.com/office/powerpoint/2010/main" val="752318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GB" altLang="en-US"/>
              <a:t>Fat-soluble organic molecules can diffuse through the bilayer but polar molecules require proteins</a:t>
            </a:r>
          </a:p>
        </p:txBody>
      </p:sp>
      <p:sp>
        <p:nvSpPr>
          <p:cNvPr id="24872" name="Rectangle 296"/>
          <p:cNvSpPr>
            <a:spLocks noChangeArrowheads="1"/>
          </p:cNvSpPr>
          <p:nvPr/>
        </p:nvSpPr>
        <p:spPr bwMode="auto">
          <a:xfrm>
            <a:off x="1522412" y="3933826"/>
            <a:ext cx="9144000" cy="29241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400" fontAlgn="base">
              <a:spcBef>
                <a:spcPct val="0"/>
              </a:spcBef>
              <a:spcAft>
                <a:spcPct val="0"/>
              </a:spcAft>
            </a:pPr>
            <a:endParaRPr lang="en-US" altLang="en-US" sz="1800">
              <a:solidFill>
                <a:srgbClr val="000000"/>
              </a:solidFill>
            </a:endParaRPr>
          </a:p>
        </p:txBody>
      </p:sp>
      <p:sp>
        <p:nvSpPr>
          <p:cNvPr id="24873" name="Rectangle 297"/>
          <p:cNvSpPr>
            <a:spLocks noChangeArrowheads="1"/>
          </p:cNvSpPr>
          <p:nvPr/>
        </p:nvSpPr>
        <p:spPr bwMode="auto">
          <a:xfrm>
            <a:off x="1522412" y="1125539"/>
            <a:ext cx="9144000" cy="2808287"/>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400" fontAlgn="base">
              <a:spcBef>
                <a:spcPct val="0"/>
              </a:spcBef>
              <a:spcAft>
                <a:spcPct val="0"/>
              </a:spcAft>
            </a:pPr>
            <a:endParaRPr lang="en-US" altLang="en-US" sz="1800">
              <a:solidFill>
                <a:srgbClr val="000000"/>
              </a:solidFill>
            </a:endParaRPr>
          </a:p>
        </p:txBody>
      </p:sp>
      <p:sp>
        <p:nvSpPr>
          <p:cNvPr id="25119" name="Text Box 543"/>
          <p:cNvSpPr txBox="1">
            <a:spLocks noChangeArrowheads="1"/>
          </p:cNvSpPr>
          <p:nvPr/>
        </p:nvSpPr>
        <p:spPr bwMode="auto">
          <a:xfrm>
            <a:off x="1557338" y="2324101"/>
            <a:ext cx="196560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n-GB" altLang="en-US">
                <a:solidFill>
                  <a:srgbClr val="5F5F5F"/>
                </a:solidFill>
              </a:rPr>
              <a:t>Extracellular </a:t>
            </a:r>
          </a:p>
          <a:p>
            <a:pPr defTabSz="914400" fontAlgn="base">
              <a:spcBef>
                <a:spcPct val="0"/>
              </a:spcBef>
              <a:spcAft>
                <a:spcPct val="0"/>
              </a:spcAft>
            </a:pPr>
            <a:r>
              <a:rPr lang="en-GB" altLang="en-US">
                <a:solidFill>
                  <a:srgbClr val="5F5F5F"/>
                </a:solidFill>
              </a:rPr>
              <a:t>space</a:t>
            </a:r>
            <a:r>
              <a:rPr lang="en-GB" altLang="en-US">
                <a:solidFill>
                  <a:srgbClr val="000000"/>
                </a:solidFill>
              </a:rPr>
              <a:t> </a:t>
            </a:r>
          </a:p>
          <a:p>
            <a:pPr defTabSz="914400" fontAlgn="base">
              <a:spcBef>
                <a:spcPct val="0"/>
              </a:spcBef>
              <a:spcAft>
                <a:spcPct val="0"/>
              </a:spcAft>
            </a:pPr>
            <a:endParaRPr lang="en-GB" altLang="en-US">
              <a:solidFill>
                <a:srgbClr val="000000"/>
              </a:solidFill>
            </a:endParaRPr>
          </a:p>
        </p:txBody>
      </p:sp>
      <p:sp>
        <p:nvSpPr>
          <p:cNvPr id="25120" name="Text Box 544"/>
          <p:cNvSpPr txBox="1">
            <a:spLocks noChangeArrowheads="1"/>
          </p:cNvSpPr>
          <p:nvPr/>
        </p:nvSpPr>
        <p:spPr bwMode="auto">
          <a:xfrm>
            <a:off x="1557338" y="4724401"/>
            <a:ext cx="20505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n-GB" altLang="en-US">
                <a:solidFill>
                  <a:srgbClr val="5F5F5F"/>
                </a:solidFill>
              </a:rPr>
              <a:t>Cytosoplasm </a:t>
            </a:r>
          </a:p>
          <a:p>
            <a:pPr defTabSz="914400" fontAlgn="base">
              <a:spcBef>
                <a:spcPct val="0"/>
              </a:spcBef>
              <a:spcAft>
                <a:spcPct val="0"/>
              </a:spcAft>
            </a:pPr>
            <a:r>
              <a:rPr lang="en-GB" altLang="en-US">
                <a:solidFill>
                  <a:srgbClr val="5F5F5F"/>
                </a:solidFill>
              </a:rPr>
              <a:t>(aqueous)</a:t>
            </a:r>
          </a:p>
        </p:txBody>
      </p:sp>
      <p:sp>
        <p:nvSpPr>
          <p:cNvPr id="25121" name="Oval 545"/>
          <p:cNvSpPr>
            <a:spLocks noChangeArrowheads="1"/>
          </p:cNvSpPr>
          <p:nvPr/>
        </p:nvSpPr>
        <p:spPr bwMode="auto">
          <a:xfrm>
            <a:off x="4438650" y="2349500"/>
            <a:ext cx="215900" cy="2159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nvGrpSpPr>
          <p:cNvPr id="25129" name="Group 553"/>
          <p:cNvGrpSpPr>
            <a:grpSpLocks/>
          </p:cNvGrpSpPr>
          <p:nvPr/>
        </p:nvGrpSpPr>
        <p:grpSpPr bwMode="auto">
          <a:xfrm flipV="1">
            <a:off x="8185150" y="3943350"/>
            <a:ext cx="215900" cy="692150"/>
            <a:chOff x="431" y="1525"/>
            <a:chExt cx="136" cy="436"/>
          </a:xfrm>
        </p:grpSpPr>
        <p:sp>
          <p:nvSpPr>
            <p:cNvPr id="25130" name="Oval 55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31" name="Line 55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32" name="Line 55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33" name="Group 557"/>
          <p:cNvGrpSpPr>
            <a:grpSpLocks/>
          </p:cNvGrpSpPr>
          <p:nvPr/>
        </p:nvGrpSpPr>
        <p:grpSpPr bwMode="auto">
          <a:xfrm flipV="1">
            <a:off x="8401050" y="3943350"/>
            <a:ext cx="215900" cy="692150"/>
            <a:chOff x="431" y="1525"/>
            <a:chExt cx="136" cy="436"/>
          </a:xfrm>
        </p:grpSpPr>
        <p:sp>
          <p:nvSpPr>
            <p:cNvPr id="25134" name="Oval 55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35" name="Line 55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36" name="Line 56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37" name="Group 561"/>
          <p:cNvGrpSpPr>
            <a:grpSpLocks/>
          </p:cNvGrpSpPr>
          <p:nvPr/>
        </p:nvGrpSpPr>
        <p:grpSpPr bwMode="auto">
          <a:xfrm flipV="1">
            <a:off x="8616950" y="3943350"/>
            <a:ext cx="215900" cy="692150"/>
            <a:chOff x="431" y="1525"/>
            <a:chExt cx="136" cy="436"/>
          </a:xfrm>
        </p:grpSpPr>
        <p:sp>
          <p:nvSpPr>
            <p:cNvPr id="25138" name="Oval 56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39" name="Line 56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40" name="Line 56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45" name="Group 569"/>
          <p:cNvGrpSpPr>
            <a:grpSpLocks/>
          </p:cNvGrpSpPr>
          <p:nvPr/>
        </p:nvGrpSpPr>
        <p:grpSpPr bwMode="auto">
          <a:xfrm flipV="1">
            <a:off x="9048750" y="3943350"/>
            <a:ext cx="215900" cy="692150"/>
            <a:chOff x="431" y="1525"/>
            <a:chExt cx="136" cy="436"/>
          </a:xfrm>
        </p:grpSpPr>
        <p:sp>
          <p:nvSpPr>
            <p:cNvPr id="25146" name="Oval 57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47" name="Line 57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48" name="Line 57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49" name="Group 573"/>
          <p:cNvGrpSpPr>
            <a:grpSpLocks/>
          </p:cNvGrpSpPr>
          <p:nvPr/>
        </p:nvGrpSpPr>
        <p:grpSpPr bwMode="auto">
          <a:xfrm flipV="1">
            <a:off x="9264650" y="3943350"/>
            <a:ext cx="215900" cy="692150"/>
            <a:chOff x="431" y="1525"/>
            <a:chExt cx="136" cy="436"/>
          </a:xfrm>
        </p:grpSpPr>
        <p:sp>
          <p:nvSpPr>
            <p:cNvPr id="25150" name="Oval 57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51" name="Line 57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52" name="Line 57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53" name="Group 577"/>
          <p:cNvGrpSpPr>
            <a:grpSpLocks/>
          </p:cNvGrpSpPr>
          <p:nvPr/>
        </p:nvGrpSpPr>
        <p:grpSpPr bwMode="auto">
          <a:xfrm flipV="1">
            <a:off x="9480550" y="3943350"/>
            <a:ext cx="215900" cy="692150"/>
            <a:chOff x="431" y="1525"/>
            <a:chExt cx="136" cy="436"/>
          </a:xfrm>
        </p:grpSpPr>
        <p:sp>
          <p:nvSpPr>
            <p:cNvPr id="25154" name="Oval 57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55" name="Line 57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56" name="Line 58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90" name="Group 614"/>
          <p:cNvGrpSpPr>
            <a:grpSpLocks/>
          </p:cNvGrpSpPr>
          <p:nvPr/>
        </p:nvGrpSpPr>
        <p:grpSpPr bwMode="auto">
          <a:xfrm>
            <a:off x="8181975" y="3222625"/>
            <a:ext cx="215900" cy="692150"/>
            <a:chOff x="431" y="1525"/>
            <a:chExt cx="136" cy="436"/>
          </a:xfrm>
        </p:grpSpPr>
        <p:sp>
          <p:nvSpPr>
            <p:cNvPr id="25191" name="Oval 61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92" name="Line 61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93" name="Line 61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94" name="Group 618"/>
          <p:cNvGrpSpPr>
            <a:grpSpLocks/>
          </p:cNvGrpSpPr>
          <p:nvPr/>
        </p:nvGrpSpPr>
        <p:grpSpPr bwMode="auto">
          <a:xfrm>
            <a:off x="8397875" y="3222625"/>
            <a:ext cx="215900" cy="692150"/>
            <a:chOff x="431" y="1525"/>
            <a:chExt cx="136" cy="436"/>
          </a:xfrm>
        </p:grpSpPr>
        <p:sp>
          <p:nvSpPr>
            <p:cNvPr id="25195" name="Oval 61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96" name="Line 62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97" name="Line 62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98" name="Group 622"/>
          <p:cNvGrpSpPr>
            <a:grpSpLocks/>
          </p:cNvGrpSpPr>
          <p:nvPr/>
        </p:nvGrpSpPr>
        <p:grpSpPr bwMode="auto">
          <a:xfrm>
            <a:off x="8613775" y="3222625"/>
            <a:ext cx="215900" cy="692150"/>
            <a:chOff x="431" y="1525"/>
            <a:chExt cx="136" cy="436"/>
          </a:xfrm>
        </p:grpSpPr>
        <p:sp>
          <p:nvSpPr>
            <p:cNvPr id="25199" name="Oval 62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00" name="Line 62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01" name="Line 62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06" name="Group 630"/>
          <p:cNvGrpSpPr>
            <a:grpSpLocks/>
          </p:cNvGrpSpPr>
          <p:nvPr/>
        </p:nvGrpSpPr>
        <p:grpSpPr bwMode="auto">
          <a:xfrm>
            <a:off x="9045575" y="3222625"/>
            <a:ext cx="215900" cy="692150"/>
            <a:chOff x="431" y="1525"/>
            <a:chExt cx="136" cy="436"/>
          </a:xfrm>
        </p:grpSpPr>
        <p:sp>
          <p:nvSpPr>
            <p:cNvPr id="25207" name="Oval 63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08" name="Line 63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09" name="Line 63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10" name="Group 634"/>
          <p:cNvGrpSpPr>
            <a:grpSpLocks/>
          </p:cNvGrpSpPr>
          <p:nvPr/>
        </p:nvGrpSpPr>
        <p:grpSpPr bwMode="auto">
          <a:xfrm>
            <a:off x="9261475" y="3222625"/>
            <a:ext cx="215900" cy="692150"/>
            <a:chOff x="431" y="1525"/>
            <a:chExt cx="136" cy="436"/>
          </a:xfrm>
        </p:grpSpPr>
        <p:sp>
          <p:nvSpPr>
            <p:cNvPr id="25211" name="Oval 63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12" name="Line 63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13" name="Line 63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14" name="Group 638"/>
          <p:cNvGrpSpPr>
            <a:grpSpLocks/>
          </p:cNvGrpSpPr>
          <p:nvPr/>
        </p:nvGrpSpPr>
        <p:grpSpPr bwMode="auto">
          <a:xfrm>
            <a:off x="9477375" y="3222625"/>
            <a:ext cx="215900" cy="692150"/>
            <a:chOff x="431" y="1525"/>
            <a:chExt cx="136" cy="436"/>
          </a:xfrm>
        </p:grpSpPr>
        <p:sp>
          <p:nvSpPr>
            <p:cNvPr id="25215" name="Oval 63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16" name="Line 64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17" name="Line 64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52" name="Group 676"/>
          <p:cNvGrpSpPr>
            <a:grpSpLocks/>
          </p:cNvGrpSpPr>
          <p:nvPr/>
        </p:nvGrpSpPr>
        <p:grpSpPr bwMode="auto">
          <a:xfrm>
            <a:off x="1485900" y="2779714"/>
            <a:ext cx="9290051" cy="2378075"/>
            <a:chOff x="-23" y="1751"/>
            <a:chExt cx="5852" cy="1498"/>
          </a:xfrm>
        </p:grpSpPr>
        <p:grpSp>
          <p:nvGrpSpPr>
            <p:cNvPr id="25251" name="Group 675"/>
            <p:cNvGrpSpPr>
              <a:grpSpLocks/>
            </p:cNvGrpSpPr>
            <p:nvPr/>
          </p:nvGrpSpPr>
          <p:grpSpPr bwMode="auto">
            <a:xfrm>
              <a:off x="-23" y="1751"/>
              <a:ext cx="5852" cy="1498"/>
              <a:chOff x="-23" y="1751"/>
              <a:chExt cx="5852" cy="1498"/>
            </a:xfrm>
          </p:grpSpPr>
          <p:sp>
            <p:nvSpPr>
              <p:cNvPr id="24874" name="Rectangle 298"/>
              <p:cNvSpPr>
                <a:spLocks noChangeArrowheads="1"/>
              </p:cNvSpPr>
              <p:nvPr/>
            </p:nvSpPr>
            <p:spPr bwMode="auto">
              <a:xfrm>
                <a:off x="0" y="2160"/>
                <a:ext cx="5760" cy="63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nvGrpSpPr>
              <p:cNvPr id="24936" name="Group 360"/>
              <p:cNvGrpSpPr>
                <a:grpSpLocks/>
              </p:cNvGrpSpPr>
              <p:nvPr/>
            </p:nvGrpSpPr>
            <p:grpSpPr bwMode="auto">
              <a:xfrm flipV="1">
                <a:off x="2020" y="2495"/>
                <a:ext cx="2040" cy="436"/>
                <a:chOff x="431" y="1525"/>
                <a:chExt cx="2040" cy="436"/>
              </a:xfrm>
            </p:grpSpPr>
            <p:grpSp>
              <p:nvGrpSpPr>
                <p:cNvPr id="24937" name="Group 361"/>
                <p:cNvGrpSpPr>
                  <a:grpSpLocks/>
                </p:cNvGrpSpPr>
                <p:nvPr/>
              </p:nvGrpSpPr>
              <p:grpSpPr bwMode="auto">
                <a:xfrm>
                  <a:off x="431" y="1525"/>
                  <a:ext cx="136" cy="436"/>
                  <a:chOff x="431" y="1525"/>
                  <a:chExt cx="136" cy="436"/>
                </a:xfrm>
              </p:grpSpPr>
              <p:sp>
                <p:nvSpPr>
                  <p:cNvPr id="24938" name="Oval 36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39" name="Line 36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40" name="Line 36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41" name="Group 365"/>
                <p:cNvGrpSpPr>
                  <a:grpSpLocks/>
                </p:cNvGrpSpPr>
                <p:nvPr/>
              </p:nvGrpSpPr>
              <p:grpSpPr bwMode="auto">
                <a:xfrm>
                  <a:off x="567" y="1525"/>
                  <a:ext cx="136" cy="436"/>
                  <a:chOff x="431" y="1525"/>
                  <a:chExt cx="136" cy="436"/>
                </a:xfrm>
              </p:grpSpPr>
              <p:sp>
                <p:nvSpPr>
                  <p:cNvPr id="24942" name="Oval 36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43" name="Line 36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44" name="Line 36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45" name="Group 369"/>
                <p:cNvGrpSpPr>
                  <a:grpSpLocks/>
                </p:cNvGrpSpPr>
                <p:nvPr/>
              </p:nvGrpSpPr>
              <p:grpSpPr bwMode="auto">
                <a:xfrm>
                  <a:off x="703" y="1525"/>
                  <a:ext cx="136" cy="436"/>
                  <a:chOff x="431" y="1525"/>
                  <a:chExt cx="136" cy="436"/>
                </a:xfrm>
              </p:grpSpPr>
              <p:sp>
                <p:nvSpPr>
                  <p:cNvPr id="24946" name="Oval 37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47" name="Line 37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48" name="Line 37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49" name="Group 373"/>
                <p:cNvGrpSpPr>
                  <a:grpSpLocks/>
                </p:cNvGrpSpPr>
                <p:nvPr/>
              </p:nvGrpSpPr>
              <p:grpSpPr bwMode="auto">
                <a:xfrm>
                  <a:off x="839" y="1525"/>
                  <a:ext cx="136" cy="436"/>
                  <a:chOff x="431" y="1525"/>
                  <a:chExt cx="136" cy="436"/>
                </a:xfrm>
              </p:grpSpPr>
              <p:sp>
                <p:nvSpPr>
                  <p:cNvPr id="24950" name="Oval 37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51" name="Line 37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52" name="Line 37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53" name="Group 377"/>
                <p:cNvGrpSpPr>
                  <a:grpSpLocks/>
                </p:cNvGrpSpPr>
                <p:nvPr/>
              </p:nvGrpSpPr>
              <p:grpSpPr bwMode="auto">
                <a:xfrm>
                  <a:off x="975" y="1525"/>
                  <a:ext cx="136" cy="436"/>
                  <a:chOff x="431" y="1525"/>
                  <a:chExt cx="136" cy="436"/>
                </a:xfrm>
              </p:grpSpPr>
              <p:sp>
                <p:nvSpPr>
                  <p:cNvPr id="24954" name="Oval 37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55" name="Line 37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56" name="Line 38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57" name="Group 381"/>
                <p:cNvGrpSpPr>
                  <a:grpSpLocks/>
                </p:cNvGrpSpPr>
                <p:nvPr/>
              </p:nvGrpSpPr>
              <p:grpSpPr bwMode="auto">
                <a:xfrm>
                  <a:off x="1111" y="1525"/>
                  <a:ext cx="136" cy="436"/>
                  <a:chOff x="431" y="1525"/>
                  <a:chExt cx="136" cy="436"/>
                </a:xfrm>
              </p:grpSpPr>
              <p:sp>
                <p:nvSpPr>
                  <p:cNvPr id="24958" name="Oval 38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59" name="Line 38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60" name="Line 38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61" name="Group 385"/>
                <p:cNvGrpSpPr>
                  <a:grpSpLocks/>
                </p:cNvGrpSpPr>
                <p:nvPr/>
              </p:nvGrpSpPr>
              <p:grpSpPr bwMode="auto">
                <a:xfrm>
                  <a:off x="1247" y="1525"/>
                  <a:ext cx="136" cy="436"/>
                  <a:chOff x="431" y="1525"/>
                  <a:chExt cx="136" cy="436"/>
                </a:xfrm>
              </p:grpSpPr>
              <p:sp>
                <p:nvSpPr>
                  <p:cNvPr id="24962" name="Oval 38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63" name="Line 38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64" name="Line 38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65" name="Group 389"/>
                <p:cNvGrpSpPr>
                  <a:grpSpLocks/>
                </p:cNvGrpSpPr>
                <p:nvPr/>
              </p:nvGrpSpPr>
              <p:grpSpPr bwMode="auto">
                <a:xfrm>
                  <a:off x="1383" y="1525"/>
                  <a:ext cx="136" cy="436"/>
                  <a:chOff x="431" y="1525"/>
                  <a:chExt cx="136" cy="436"/>
                </a:xfrm>
              </p:grpSpPr>
              <p:sp>
                <p:nvSpPr>
                  <p:cNvPr id="24966" name="Oval 39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67" name="Line 39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68" name="Line 39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69" name="Group 393"/>
                <p:cNvGrpSpPr>
                  <a:grpSpLocks/>
                </p:cNvGrpSpPr>
                <p:nvPr/>
              </p:nvGrpSpPr>
              <p:grpSpPr bwMode="auto">
                <a:xfrm>
                  <a:off x="1519" y="1525"/>
                  <a:ext cx="136" cy="436"/>
                  <a:chOff x="431" y="1525"/>
                  <a:chExt cx="136" cy="436"/>
                </a:xfrm>
              </p:grpSpPr>
              <p:sp>
                <p:nvSpPr>
                  <p:cNvPr id="24970" name="Oval 39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71" name="Line 39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72" name="Line 39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73" name="Group 397"/>
                <p:cNvGrpSpPr>
                  <a:grpSpLocks/>
                </p:cNvGrpSpPr>
                <p:nvPr/>
              </p:nvGrpSpPr>
              <p:grpSpPr bwMode="auto">
                <a:xfrm>
                  <a:off x="1655" y="1525"/>
                  <a:ext cx="136" cy="436"/>
                  <a:chOff x="431" y="1525"/>
                  <a:chExt cx="136" cy="436"/>
                </a:xfrm>
              </p:grpSpPr>
              <p:sp>
                <p:nvSpPr>
                  <p:cNvPr id="24974" name="Oval 39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75" name="Line 39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76" name="Line 40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77" name="Group 401"/>
                <p:cNvGrpSpPr>
                  <a:grpSpLocks/>
                </p:cNvGrpSpPr>
                <p:nvPr/>
              </p:nvGrpSpPr>
              <p:grpSpPr bwMode="auto">
                <a:xfrm>
                  <a:off x="1791" y="1525"/>
                  <a:ext cx="136" cy="436"/>
                  <a:chOff x="431" y="1525"/>
                  <a:chExt cx="136" cy="436"/>
                </a:xfrm>
              </p:grpSpPr>
              <p:sp>
                <p:nvSpPr>
                  <p:cNvPr id="24978" name="Oval 40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79" name="Line 40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80" name="Line 40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81" name="Group 405"/>
                <p:cNvGrpSpPr>
                  <a:grpSpLocks/>
                </p:cNvGrpSpPr>
                <p:nvPr/>
              </p:nvGrpSpPr>
              <p:grpSpPr bwMode="auto">
                <a:xfrm>
                  <a:off x="1927" y="1525"/>
                  <a:ext cx="136" cy="436"/>
                  <a:chOff x="431" y="1525"/>
                  <a:chExt cx="136" cy="436"/>
                </a:xfrm>
              </p:grpSpPr>
              <p:sp>
                <p:nvSpPr>
                  <p:cNvPr id="24982" name="Oval 40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83" name="Line 40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84" name="Line 40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85" name="Group 409"/>
                <p:cNvGrpSpPr>
                  <a:grpSpLocks/>
                </p:cNvGrpSpPr>
                <p:nvPr/>
              </p:nvGrpSpPr>
              <p:grpSpPr bwMode="auto">
                <a:xfrm>
                  <a:off x="2063" y="1525"/>
                  <a:ext cx="136" cy="436"/>
                  <a:chOff x="431" y="1525"/>
                  <a:chExt cx="136" cy="436"/>
                </a:xfrm>
              </p:grpSpPr>
              <p:sp>
                <p:nvSpPr>
                  <p:cNvPr id="24986" name="Oval 41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87" name="Line 41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88" name="Line 41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89" name="Group 413"/>
                <p:cNvGrpSpPr>
                  <a:grpSpLocks/>
                </p:cNvGrpSpPr>
                <p:nvPr/>
              </p:nvGrpSpPr>
              <p:grpSpPr bwMode="auto">
                <a:xfrm>
                  <a:off x="2199" y="1525"/>
                  <a:ext cx="136" cy="436"/>
                  <a:chOff x="431" y="1525"/>
                  <a:chExt cx="136" cy="436"/>
                </a:xfrm>
              </p:grpSpPr>
              <p:sp>
                <p:nvSpPr>
                  <p:cNvPr id="24990" name="Oval 41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91" name="Line 41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92" name="Line 41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93" name="Group 417"/>
                <p:cNvGrpSpPr>
                  <a:grpSpLocks/>
                </p:cNvGrpSpPr>
                <p:nvPr/>
              </p:nvGrpSpPr>
              <p:grpSpPr bwMode="auto">
                <a:xfrm>
                  <a:off x="2335" y="1525"/>
                  <a:ext cx="136" cy="436"/>
                  <a:chOff x="431" y="1525"/>
                  <a:chExt cx="136" cy="436"/>
                </a:xfrm>
              </p:grpSpPr>
              <p:sp>
                <p:nvSpPr>
                  <p:cNvPr id="24994" name="Oval 41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95" name="Line 41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96" name="Line 42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grpSp>
            <p:nvGrpSpPr>
              <p:cNvPr id="24997" name="Group 421"/>
              <p:cNvGrpSpPr>
                <a:grpSpLocks/>
              </p:cNvGrpSpPr>
              <p:nvPr/>
            </p:nvGrpSpPr>
            <p:grpSpPr bwMode="auto">
              <a:xfrm>
                <a:off x="-23" y="2041"/>
                <a:ext cx="2040" cy="436"/>
                <a:chOff x="431" y="1525"/>
                <a:chExt cx="2040" cy="436"/>
              </a:xfrm>
            </p:grpSpPr>
            <p:grpSp>
              <p:nvGrpSpPr>
                <p:cNvPr id="24998" name="Group 422"/>
                <p:cNvGrpSpPr>
                  <a:grpSpLocks/>
                </p:cNvGrpSpPr>
                <p:nvPr/>
              </p:nvGrpSpPr>
              <p:grpSpPr bwMode="auto">
                <a:xfrm>
                  <a:off x="431" y="1525"/>
                  <a:ext cx="136" cy="436"/>
                  <a:chOff x="431" y="1525"/>
                  <a:chExt cx="136" cy="436"/>
                </a:xfrm>
              </p:grpSpPr>
              <p:sp>
                <p:nvSpPr>
                  <p:cNvPr id="24999" name="Oval 42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00" name="Line 42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01" name="Line 42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02" name="Group 426"/>
                <p:cNvGrpSpPr>
                  <a:grpSpLocks/>
                </p:cNvGrpSpPr>
                <p:nvPr/>
              </p:nvGrpSpPr>
              <p:grpSpPr bwMode="auto">
                <a:xfrm>
                  <a:off x="567" y="1525"/>
                  <a:ext cx="136" cy="436"/>
                  <a:chOff x="431" y="1525"/>
                  <a:chExt cx="136" cy="436"/>
                </a:xfrm>
              </p:grpSpPr>
              <p:sp>
                <p:nvSpPr>
                  <p:cNvPr id="25003" name="Oval 42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04" name="Line 42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05" name="Line 42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06" name="Group 430"/>
                <p:cNvGrpSpPr>
                  <a:grpSpLocks/>
                </p:cNvGrpSpPr>
                <p:nvPr/>
              </p:nvGrpSpPr>
              <p:grpSpPr bwMode="auto">
                <a:xfrm>
                  <a:off x="703" y="1525"/>
                  <a:ext cx="136" cy="436"/>
                  <a:chOff x="431" y="1525"/>
                  <a:chExt cx="136" cy="436"/>
                </a:xfrm>
              </p:grpSpPr>
              <p:sp>
                <p:nvSpPr>
                  <p:cNvPr id="25007" name="Oval 43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08" name="Line 43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09" name="Line 43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10" name="Group 434"/>
                <p:cNvGrpSpPr>
                  <a:grpSpLocks/>
                </p:cNvGrpSpPr>
                <p:nvPr/>
              </p:nvGrpSpPr>
              <p:grpSpPr bwMode="auto">
                <a:xfrm>
                  <a:off x="839" y="1525"/>
                  <a:ext cx="136" cy="436"/>
                  <a:chOff x="431" y="1525"/>
                  <a:chExt cx="136" cy="436"/>
                </a:xfrm>
              </p:grpSpPr>
              <p:sp>
                <p:nvSpPr>
                  <p:cNvPr id="25011" name="Oval 43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12" name="Line 43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13" name="Line 43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14" name="Group 438"/>
                <p:cNvGrpSpPr>
                  <a:grpSpLocks/>
                </p:cNvGrpSpPr>
                <p:nvPr/>
              </p:nvGrpSpPr>
              <p:grpSpPr bwMode="auto">
                <a:xfrm>
                  <a:off x="975" y="1525"/>
                  <a:ext cx="136" cy="436"/>
                  <a:chOff x="431" y="1525"/>
                  <a:chExt cx="136" cy="436"/>
                </a:xfrm>
              </p:grpSpPr>
              <p:sp>
                <p:nvSpPr>
                  <p:cNvPr id="25015" name="Oval 43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16" name="Line 44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17" name="Line 44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18" name="Group 442"/>
                <p:cNvGrpSpPr>
                  <a:grpSpLocks/>
                </p:cNvGrpSpPr>
                <p:nvPr/>
              </p:nvGrpSpPr>
              <p:grpSpPr bwMode="auto">
                <a:xfrm>
                  <a:off x="1111" y="1525"/>
                  <a:ext cx="136" cy="436"/>
                  <a:chOff x="431" y="1525"/>
                  <a:chExt cx="136" cy="436"/>
                </a:xfrm>
              </p:grpSpPr>
              <p:sp>
                <p:nvSpPr>
                  <p:cNvPr id="25019" name="Oval 44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20" name="Line 44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21" name="Line 44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22" name="Group 446"/>
                <p:cNvGrpSpPr>
                  <a:grpSpLocks/>
                </p:cNvGrpSpPr>
                <p:nvPr/>
              </p:nvGrpSpPr>
              <p:grpSpPr bwMode="auto">
                <a:xfrm>
                  <a:off x="1247" y="1525"/>
                  <a:ext cx="136" cy="436"/>
                  <a:chOff x="431" y="1525"/>
                  <a:chExt cx="136" cy="436"/>
                </a:xfrm>
              </p:grpSpPr>
              <p:sp>
                <p:nvSpPr>
                  <p:cNvPr id="25023" name="Oval 44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24" name="Line 44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25" name="Line 44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26" name="Group 450"/>
                <p:cNvGrpSpPr>
                  <a:grpSpLocks/>
                </p:cNvGrpSpPr>
                <p:nvPr/>
              </p:nvGrpSpPr>
              <p:grpSpPr bwMode="auto">
                <a:xfrm>
                  <a:off x="1383" y="1525"/>
                  <a:ext cx="136" cy="436"/>
                  <a:chOff x="431" y="1525"/>
                  <a:chExt cx="136" cy="436"/>
                </a:xfrm>
              </p:grpSpPr>
              <p:sp>
                <p:nvSpPr>
                  <p:cNvPr id="25027" name="Oval 45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28" name="Line 45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29" name="Line 45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30" name="Group 454"/>
                <p:cNvGrpSpPr>
                  <a:grpSpLocks/>
                </p:cNvGrpSpPr>
                <p:nvPr/>
              </p:nvGrpSpPr>
              <p:grpSpPr bwMode="auto">
                <a:xfrm>
                  <a:off x="1519" y="1525"/>
                  <a:ext cx="136" cy="436"/>
                  <a:chOff x="431" y="1525"/>
                  <a:chExt cx="136" cy="436"/>
                </a:xfrm>
              </p:grpSpPr>
              <p:sp>
                <p:nvSpPr>
                  <p:cNvPr id="25031" name="Oval 45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32" name="Line 45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33" name="Line 45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34" name="Group 458"/>
                <p:cNvGrpSpPr>
                  <a:grpSpLocks/>
                </p:cNvGrpSpPr>
                <p:nvPr/>
              </p:nvGrpSpPr>
              <p:grpSpPr bwMode="auto">
                <a:xfrm>
                  <a:off x="1655" y="1525"/>
                  <a:ext cx="136" cy="436"/>
                  <a:chOff x="431" y="1525"/>
                  <a:chExt cx="136" cy="436"/>
                </a:xfrm>
              </p:grpSpPr>
              <p:sp>
                <p:nvSpPr>
                  <p:cNvPr id="25035" name="Oval 45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36" name="Line 46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37" name="Line 46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38" name="Group 462"/>
                <p:cNvGrpSpPr>
                  <a:grpSpLocks/>
                </p:cNvGrpSpPr>
                <p:nvPr/>
              </p:nvGrpSpPr>
              <p:grpSpPr bwMode="auto">
                <a:xfrm>
                  <a:off x="1791" y="1525"/>
                  <a:ext cx="136" cy="436"/>
                  <a:chOff x="431" y="1525"/>
                  <a:chExt cx="136" cy="436"/>
                </a:xfrm>
              </p:grpSpPr>
              <p:sp>
                <p:nvSpPr>
                  <p:cNvPr id="25039" name="Oval 46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40" name="Line 46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41" name="Line 46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42" name="Group 466"/>
                <p:cNvGrpSpPr>
                  <a:grpSpLocks/>
                </p:cNvGrpSpPr>
                <p:nvPr/>
              </p:nvGrpSpPr>
              <p:grpSpPr bwMode="auto">
                <a:xfrm>
                  <a:off x="1927" y="1525"/>
                  <a:ext cx="136" cy="436"/>
                  <a:chOff x="431" y="1525"/>
                  <a:chExt cx="136" cy="436"/>
                </a:xfrm>
              </p:grpSpPr>
              <p:sp>
                <p:nvSpPr>
                  <p:cNvPr id="25043" name="Oval 46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44" name="Line 46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45" name="Line 46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46" name="Group 470"/>
                <p:cNvGrpSpPr>
                  <a:grpSpLocks/>
                </p:cNvGrpSpPr>
                <p:nvPr/>
              </p:nvGrpSpPr>
              <p:grpSpPr bwMode="auto">
                <a:xfrm>
                  <a:off x="2063" y="1525"/>
                  <a:ext cx="136" cy="436"/>
                  <a:chOff x="431" y="1525"/>
                  <a:chExt cx="136" cy="436"/>
                </a:xfrm>
              </p:grpSpPr>
              <p:sp>
                <p:nvSpPr>
                  <p:cNvPr id="25047" name="Oval 47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48" name="Line 47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49" name="Line 47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50" name="Group 474"/>
                <p:cNvGrpSpPr>
                  <a:grpSpLocks/>
                </p:cNvGrpSpPr>
                <p:nvPr/>
              </p:nvGrpSpPr>
              <p:grpSpPr bwMode="auto">
                <a:xfrm>
                  <a:off x="2199" y="1525"/>
                  <a:ext cx="136" cy="436"/>
                  <a:chOff x="431" y="1525"/>
                  <a:chExt cx="136" cy="436"/>
                </a:xfrm>
              </p:grpSpPr>
              <p:sp>
                <p:nvSpPr>
                  <p:cNvPr id="25051" name="Oval 47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52" name="Line 47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53" name="Line 47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54" name="Group 478"/>
                <p:cNvGrpSpPr>
                  <a:grpSpLocks/>
                </p:cNvGrpSpPr>
                <p:nvPr/>
              </p:nvGrpSpPr>
              <p:grpSpPr bwMode="auto">
                <a:xfrm>
                  <a:off x="2335" y="1525"/>
                  <a:ext cx="136" cy="436"/>
                  <a:chOff x="431" y="1525"/>
                  <a:chExt cx="136" cy="436"/>
                </a:xfrm>
              </p:grpSpPr>
              <p:sp>
                <p:nvSpPr>
                  <p:cNvPr id="25055" name="Oval 47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56" name="Line 48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57" name="Line 48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grpSp>
            <p:nvGrpSpPr>
              <p:cNvPr id="25058" name="Group 482"/>
              <p:cNvGrpSpPr>
                <a:grpSpLocks/>
              </p:cNvGrpSpPr>
              <p:nvPr/>
            </p:nvGrpSpPr>
            <p:grpSpPr bwMode="auto">
              <a:xfrm>
                <a:off x="2018" y="2041"/>
                <a:ext cx="2040" cy="436"/>
                <a:chOff x="431" y="1525"/>
                <a:chExt cx="2040" cy="436"/>
              </a:xfrm>
            </p:grpSpPr>
            <p:grpSp>
              <p:nvGrpSpPr>
                <p:cNvPr id="25059" name="Group 483"/>
                <p:cNvGrpSpPr>
                  <a:grpSpLocks/>
                </p:cNvGrpSpPr>
                <p:nvPr/>
              </p:nvGrpSpPr>
              <p:grpSpPr bwMode="auto">
                <a:xfrm>
                  <a:off x="431" y="1525"/>
                  <a:ext cx="136" cy="436"/>
                  <a:chOff x="431" y="1525"/>
                  <a:chExt cx="136" cy="436"/>
                </a:xfrm>
              </p:grpSpPr>
              <p:sp>
                <p:nvSpPr>
                  <p:cNvPr id="25060" name="Oval 48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61" name="Line 48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62" name="Line 48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63" name="Group 487"/>
                <p:cNvGrpSpPr>
                  <a:grpSpLocks/>
                </p:cNvGrpSpPr>
                <p:nvPr/>
              </p:nvGrpSpPr>
              <p:grpSpPr bwMode="auto">
                <a:xfrm>
                  <a:off x="567" y="1525"/>
                  <a:ext cx="136" cy="436"/>
                  <a:chOff x="431" y="1525"/>
                  <a:chExt cx="136" cy="436"/>
                </a:xfrm>
              </p:grpSpPr>
              <p:sp>
                <p:nvSpPr>
                  <p:cNvPr id="25064" name="Oval 48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65" name="Line 48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66" name="Line 49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67" name="Group 491"/>
                <p:cNvGrpSpPr>
                  <a:grpSpLocks/>
                </p:cNvGrpSpPr>
                <p:nvPr/>
              </p:nvGrpSpPr>
              <p:grpSpPr bwMode="auto">
                <a:xfrm>
                  <a:off x="703" y="1525"/>
                  <a:ext cx="136" cy="436"/>
                  <a:chOff x="431" y="1525"/>
                  <a:chExt cx="136" cy="436"/>
                </a:xfrm>
              </p:grpSpPr>
              <p:sp>
                <p:nvSpPr>
                  <p:cNvPr id="25068" name="Oval 49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69" name="Line 49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70" name="Line 49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71" name="Group 495"/>
                <p:cNvGrpSpPr>
                  <a:grpSpLocks/>
                </p:cNvGrpSpPr>
                <p:nvPr/>
              </p:nvGrpSpPr>
              <p:grpSpPr bwMode="auto">
                <a:xfrm>
                  <a:off x="839" y="1525"/>
                  <a:ext cx="136" cy="436"/>
                  <a:chOff x="431" y="1525"/>
                  <a:chExt cx="136" cy="436"/>
                </a:xfrm>
              </p:grpSpPr>
              <p:sp>
                <p:nvSpPr>
                  <p:cNvPr id="25072" name="Oval 49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73" name="Line 49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74" name="Line 49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75" name="Group 499"/>
                <p:cNvGrpSpPr>
                  <a:grpSpLocks/>
                </p:cNvGrpSpPr>
                <p:nvPr/>
              </p:nvGrpSpPr>
              <p:grpSpPr bwMode="auto">
                <a:xfrm>
                  <a:off x="975" y="1525"/>
                  <a:ext cx="136" cy="436"/>
                  <a:chOff x="431" y="1525"/>
                  <a:chExt cx="136" cy="436"/>
                </a:xfrm>
              </p:grpSpPr>
              <p:sp>
                <p:nvSpPr>
                  <p:cNvPr id="25076" name="Oval 50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77" name="Line 50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78" name="Line 50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79" name="Group 503"/>
                <p:cNvGrpSpPr>
                  <a:grpSpLocks/>
                </p:cNvGrpSpPr>
                <p:nvPr/>
              </p:nvGrpSpPr>
              <p:grpSpPr bwMode="auto">
                <a:xfrm>
                  <a:off x="1111" y="1525"/>
                  <a:ext cx="136" cy="436"/>
                  <a:chOff x="431" y="1525"/>
                  <a:chExt cx="136" cy="436"/>
                </a:xfrm>
              </p:grpSpPr>
              <p:sp>
                <p:nvSpPr>
                  <p:cNvPr id="25080" name="Oval 50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81" name="Line 50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82" name="Line 50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83" name="Group 507"/>
                <p:cNvGrpSpPr>
                  <a:grpSpLocks/>
                </p:cNvGrpSpPr>
                <p:nvPr/>
              </p:nvGrpSpPr>
              <p:grpSpPr bwMode="auto">
                <a:xfrm>
                  <a:off x="1247" y="1525"/>
                  <a:ext cx="136" cy="436"/>
                  <a:chOff x="431" y="1525"/>
                  <a:chExt cx="136" cy="436"/>
                </a:xfrm>
              </p:grpSpPr>
              <p:sp>
                <p:nvSpPr>
                  <p:cNvPr id="25084" name="Oval 50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85" name="Line 50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86" name="Line 51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87" name="Group 511"/>
                <p:cNvGrpSpPr>
                  <a:grpSpLocks/>
                </p:cNvGrpSpPr>
                <p:nvPr/>
              </p:nvGrpSpPr>
              <p:grpSpPr bwMode="auto">
                <a:xfrm>
                  <a:off x="1383" y="1525"/>
                  <a:ext cx="136" cy="436"/>
                  <a:chOff x="431" y="1525"/>
                  <a:chExt cx="136" cy="436"/>
                </a:xfrm>
              </p:grpSpPr>
              <p:sp>
                <p:nvSpPr>
                  <p:cNvPr id="25088" name="Oval 51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89" name="Line 51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90" name="Line 51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91" name="Group 515"/>
                <p:cNvGrpSpPr>
                  <a:grpSpLocks/>
                </p:cNvGrpSpPr>
                <p:nvPr/>
              </p:nvGrpSpPr>
              <p:grpSpPr bwMode="auto">
                <a:xfrm>
                  <a:off x="1519" y="1525"/>
                  <a:ext cx="136" cy="436"/>
                  <a:chOff x="431" y="1525"/>
                  <a:chExt cx="136" cy="436"/>
                </a:xfrm>
              </p:grpSpPr>
              <p:sp>
                <p:nvSpPr>
                  <p:cNvPr id="25092" name="Oval 51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93" name="Line 51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94" name="Line 51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95" name="Group 519"/>
                <p:cNvGrpSpPr>
                  <a:grpSpLocks/>
                </p:cNvGrpSpPr>
                <p:nvPr/>
              </p:nvGrpSpPr>
              <p:grpSpPr bwMode="auto">
                <a:xfrm>
                  <a:off x="1655" y="1525"/>
                  <a:ext cx="136" cy="436"/>
                  <a:chOff x="431" y="1525"/>
                  <a:chExt cx="136" cy="436"/>
                </a:xfrm>
              </p:grpSpPr>
              <p:sp>
                <p:nvSpPr>
                  <p:cNvPr id="25096" name="Oval 52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097" name="Line 52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098" name="Line 52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099" name="Group 523"/>
                <p:cNvGrpSpPr>
                  <a:grpSpLocks/>
                </p:cNvGrpSpPr>
                <p:nvPr/>
              </p:nvGrpSpPr>
              <p:grpSpPr bwMode="auto">
                <a:xfrm>
                  <a:off x="1791" y="1525"/>
                  <a:ext cx="136" cy="436"/>
                  <a:chOff x="431" y="1525"/>
                  <a:chExt cx="136" cy="436"/>
                </a:xfrm>
              </p:grpSpPr>
              <p:sp>
                <p:nvSpPr>
                  <p:cNvPr id="25100" name="Oval 52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01" name="Line 52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02" name="Line 52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03" name="Group 527"/>
                <p:cNvGrpSpPr>
                  <a:grpSpLocks/>
                </p:cNvGrpSpPr>
                <p:nvPr/>
              </p:nvGrpSpPr>
              <p:grpSpPr bwMode="auto">
                <a:xfrm>
                  <a:off x="1927" y="1525"/>
                  <a:ext cx="136" cy="436"/>
                  <a:chOff x="431" y="1525"/>
                  <a:chExt cx="136" cy="436"/>
                </a:xfrm>
              </p:grpSpPr>
              <p:sp>
                <p:nvSpPr>
                  <p:cNvPr id="25104" name="Oval 52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05" name="Line 52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06" name="Line 53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07" name="Group 531"/>
                <p:cNvGrpSpPr>
                  <a:grpSpLocks/>
                </p:cNvGrpSpPr>
                <p:nvPr/>
              </p:nvGrpSpPr>
              <p:grpSpPr bwMode="auto">
                <a:xfrm>
                  <a:off x="2063" y="1525"/>
                  <a:ext cx="136" cy="436"/>
                  <a:chOff x="431" y="1525"/>
                  <a:chExt cx="136" cy="436"/>
                </a:xfrm>
              </p:grpSpPr>
              <p:sp>
                <p:nvSpPr>
                  <p:cNvPr id="25108" name="Oval 53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09" name="Line 53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10" name="Line 53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11" name="Group 535"/>
                <p:cNvGrpSpPr>
                  <a:grpSpLocks/>
                </p:cNvGrpSpPr>
                <p:nvPr/>
              </p:nvGrpSpPr>
              <p:grpSpPr bwMode="auto">
                <a:xfrm>
                  <a:off x="2199" y="1525"/>
                  <a:ext cx="136" cy="436"/>
                  <a:chOff x="431" y="1525"/>
                  <a:chExt cx="136" cy="436"/>
                </a:xfrm>
              </p:grpSpPr>
              <p:sp>
                <p:nvSpPr>
                  <p:cNvPr id="25112" name="Oval 53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13" name="Line 53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14" name="Line 53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15" name="Group 539"/>
                <p:cNvGrpSpPr>
                  <a:grpSpLocks/>
                </p:cNvGrpSpPr>
                <p:nvPr/>
              </p:nvGrpSpPr>
              <p:grpSpPr bwMode="auto">
                <a:xfrm>
                  <a:off x="2335" y="1525"/>
                  <a:ext cx="136" cy="436"/>
                  <a:chOff x="431" y="1525"/>
                  <a:chExt cx="136" cy="436"/>
                </a:xfrm>
              </p:grpSpPr>
              <p:sp>
                <p:nvSpPr>
                  <p:cNvPr id="25116" name="Oval 54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17" name="Line 54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18" name="Line 54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grpSp>
            <p:nvGrpSpPr>
              <p:cNvPr id="25125" name="Group 549"/>
              <p:cNvGrpSpPr>
                <a:grpSpLocks/>
              </p:cNvGrpSpPr>
              <p:nvPr/>
            </p:nvGrpSpPr>
            <p:grpSpPr bwMode="auto">
              <a:xfrm flipV="1">
                <a:off x="4061" y="2484"/>
                <a:ext cx="136" cy="436"/>
                <a:chOff x="431" y="1525"/>
                <a:chExt cx="136" cy="436"/>
              </a:xfrm>
            </p:grpSpPr>
            <p:sp>
              <p:nvSpPr>
                <p:cNvPr id="25126" name="Oval 55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27" name="Line 55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28" name="Line 55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57" name="Group 581"/>
              <p:cNvGrpSpPr>
                <a:grpSpLocks/>
              </p:cNvGrpSpPr>
              <p:nvPr/>
            </p:nvGrpSpPr>
            <p:grpSpPr bwMode="auto">
              <a:xfrm flipV="1">
                <a:off x="5149" y="2484"/>
                <a:ext cx="136" cy="436"/>
                <a:chOff x="431" y="1525"/>
                <a:chExt cx="136" cy="436"/>
              </a:xfrm>
            </p:grpSpPr>
            <p:sp>
              <p:nvSpPr>
                <p:cNvPr id="25158" name="Oval 58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59" name="Line 58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60" name="Line 58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61" name="Group 585"/>
              <p:cNvGrpSpPr>
                <a:grpSpLocks/>
              </p:cNvGrpSpPr>
              <p:nvPr/>
            </p:nvGrpSpPr>
            <p:grpSpPr bwMode="auto">
              <a:xfrm flipV="1">
                <a:off x="5285" y="2484"/>
                <a:ext cx="136" cy="436"/>
                <a:chOff x="431" y="1525"/>
                <a:chExt cx="136" cy="436"/>
              </a:xfrm>
            </p:grpSpPr>
            <p:sp>
              <p:nvSpPr>
                <p:cNvPr id="25162" name="Oval 58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63" name="Line 58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64" name="Line 58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65" name="Group 589"/>
              <p:cNvGrpSpPr>
                <a:grpSpLocks/>
              </p:cNvGrpSpPr>
              <p:nvPr/>
            </p:nvGrpSpPr>
            <p:grpSpPr bwMode="auto">
              <a:xfrm flipV="1">
                <a:off x="5421" y="2484"/>
                <a:ext cx="136" cy="436"/>
                <a:chOff x="431" y="1525"/>
                <a:chExt cx="136" cy="436"/>
              </a:xfrm>
            </p:grpSpPr>
            <p:sp>
              <p:nvSpPr>
                <p:cNvPr id="25166" name="Oval 59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67" name="Line 59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68" name="Line 59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69" name="Group 593"/>
              <p:cNvGrpSpPr>
                <a:grpSpLocks/>
              </p:cNvGrpSpPr>
              <p:nvPr/>
            </p:nvGrpSpPr>
            <p:grpSpPr bwMode="auto">
              <a:xfrm flipV="1">
                <a:off x="5557" y="2484"/>
                <a:ext cx="136" cy="436"/>
                <a:chOff x="431" y="1525"/>
                <a:chExt cx="136" cy="436"/>
              </a:xfrm>
            </p:grpSpPr>
            <p:sp>
              <p:nvSpPr>
                <p:cNvPr id="25170" name="Oval 59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71" name="Line 59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72" name="Line 59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73" name="Group 597"/>
              <p:cNvGrpSpPr>
                <a:grpSpLocks/>
              </p:cNvGrpSpPr>
              <p:nvPr/>
            </p:nvGrpSpPr>
            <p:grpSpPr bwMode="auto">
              <a:xfrm flipV="1">
                <a:off x="5693" y="2484"/>
                <a:ext cx="136" cy="436"/>
                <a:chOff x="431" y="1525"/>
                <a:chExt cx="136" cy="436"/>
              </a:xfrm>
            </p:grpSpPr>
            <p:sp>
              <p:nvSpPr>
                <p:cNvPr id="25174" name="Oval 59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75" name="Line 59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76" name="Line 60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186" name="Group 610"/>
              <p:cNvGrpSpPr>
                <a:grpSpLocks/>
              </p:cNvGrpSpPr>
              <p:nvPr/>
            </p:nvGrpSpPr>
            <p:grpSpPr bwMode="auto">
              <a:xfrm>
                <a:off x="4059" y="2030"/>
                <a:ext cx="136" cy="436"/>
                <a:chOff x="431" y="1525"/>
                <a:chExt cx="136" cy="436"/>
              </a:xfrm>
            </p:grpSpPr>
            <p:sp>
              <p:nvSpPr>
                <p:cNvPr id="25187" name="Oval 61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188" name="Line 61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189" name="Line 61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18" name="Group 642"/>
              <p:cNvGrpSpPr>
                <a:grpSpLocks/>
              </p:cNvGrpSpPr>
              <p:nvPr/>
            </p:nvGrpSpPr>
            <p:grpSpPr bwMode="auto">
              <a:xfrm>
                <a:off x="5147" y="2030"/>
                <a:ext cx="136" cy="436"/>
                <a:chOff x="431" y="1525"/>
                <a:chExt cx="136" cy="436"/>
              </a:xfrm>
            </p:grpSpPr>
            <p:sp>
              <p:nvSpPr>
                <p:cNvPr id="25219" name="Oval 64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20" name="Line 64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21" name="Line 64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22" name="Group 646"/>
              <p:cNvGrpSpPr>
                <a:grpSpLocks/>
              </p:cNvGrpSpPr>
              <p:nvPr/>
            </p:nvGrpSpPr>
            <p:grpSpPr bwMode="auto">
              <a:xfrm>
                <a:off x="5283" y="2030"/>
                <a:ext cx="136" cy="436"/>
                <a:chOff x="431" y="1525"/>
                <a:chExt cx="136" cy="436"/>
              </a:xfrm>
            </p:grpSpPr>
            <p:sp>
              <p:nvSpPr>
                <p:cNvPr id="25223" name="Oval 64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24" name="Line 64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25" name="Line 64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26" name="Group 650"/>
              <p:cNvGrpSpPr>
                <a:grpSpLocks/>
              </p:cNvGrpSpPr>
              <p:nvPr/>
            </p:nvGrpSpPr>
            <p:grpSpPr bwMode="auto">
              <a:xfrm>
                <a:off x="5419" y="2030"/>
                <a:ext cx="136" cy="436"/>
                <a:chOff x="431" y="1525"/>
                <a:chExt cx="136" cy="436"/>
              </a:xfrm>
            </p:grpSpPr>
            <p:sp>
              <p:nvSpPr>
                <p:cNvPr id="25227" name="Oval 65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28" name="Line 65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29" name="Line 65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30" name="Group 654"/>
              <p:cNvGrpSpPr>
                <a:grpSpLocks/>
              </p:cNvGrpSpPr>
              <p:nvPr/>
            </p:nvGrpSpPr>
            <p:grpSpPr bwMode="auto">
              <a:xfrm>
                <a:off x="5555" y="2030"/>
                <a:ext cx="136" cy="436"/>
                <a:chOff x="431" y="1525"/>
                <a:chExt cx="136" cy="436"/>
              </a:xfrm>
            </p:grpSpPr>
            <p:sp>
              <p:nvSpPr>
                <p:cNvPr id="25231" name="Oval 65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32" name="Line 65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33" name="Line 65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5234" name="Group 658"/>
              <p:cNvGrpSpPr>
                <a:grpSpLocks/>
              </p:cNvGrpSpPr>
              <p:nvPr/>
            </p:nvGrpSpPr>
            <p:grpSpPr bwMode="auto">
              <a:xfrm>
                <a:off x="5691" y="2030"/>
                <a:ext cx="136" cy="436"/>
                <a:chOff x="431" y="1525"/>
                <a:chExt cx="136" cy="436"/>
              </a:xfrm>
            </p:grpSpPr>
            <p:sp>
              <p:nvSpPr>
                <p:cNvPr id="25235" name="Oval 65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36" name="Line 66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37" name="Line 66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sp>
            <p:nvSpPr>
              <p:cNvPr id="25250" name="Rectangle 674"/>
              <p:cNvSpPr>
                <a:spLocks noChangeArrowheads="1"/>
              </p:cNvSpPr>
              <p:nvPr/>
            </p:nvSpPr>
            <p:spPr bwMode="auto">
              <a:xfrm>
                <a:off x="4604" y="1797"/>
                <a:ext cx="136" cy="1452"/>
              </a:xfrm>
              <a:prstGeom prst="rect">
                <a:avLst/>
              </a:prstGeom>
              <a:gradFill rotWithShape="1">
                <a:gsLst>
                  <a:gs pos="0">
                    <a:srgbClr val="99FFCC"/>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48" name="AutoShape 672"/>
              <p:cNvSpPr>
                <a:spLocks noChangeArrowheads="1"/>
              </p:cNvSpPr>
              <p:nvPr/>
            </p:nvSpPr>
            <p:spPr bwMode="auto">
              <a:xfrm>
                <a:off x="4196" y="1751"/>
                <a:ext cx="408" cy="1452"/>
              </a:xfrm>
              <a:prstGeom prst="roundRect">
                <a:avLst>
                  <a:gd name="adj" fmla="val 16667"/>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49" name="AutoShape 673"/>
              <p:cNvSpPr>
                <a:spLocks noChangeArrowheads="1"/>
              </p:cNvSpPr>
              <p:nvPr/>
            </p:nvSpPr>
            <p:spPr bwMode="auto">
              <a:xfrm>
                <a:off x="4740" y="1751"/>
                <a:ext cx="408" cy="1452"/>
              </a:xfrm>
              <a:prstGeom prst="roundRect">
                <a:avLst>
                  <a:gd name="adj" fmla="val 16667"/>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grpSp>
        <p:grpSp>
          <p:nvGrpSpPr>
            <p:cNvPr id="24875" name="Group 299"/>
            <p:cNvGrpSpPr>
              <a:grpSpLocks/>
            </p:cNvGrpSpPr>
            <p:nvPr/>
          </p:nvGrpSpPr>
          <p:grpSpPr bwMode="auto">
            <a:xfrm flipV="1">
              <a:off x="-21" y="2495"/>
              <a:ext cx="2040" cy="436"/>
              <a:chOff x="431" y="1525"/>
              <a:chExt cx="2040" cy="436"/>
            </a:xfrm>
          </p:grpSpPr>
          <p:grpSp>
            <p:nvGrpSpPr>
              <p:cNvPr id="24876" name="Group 300"/>
              <p:cNvGrpSpPr>
                <a:grpSpLocks/>
              </p:cNvGrpSpPr>
              <p:nvPr/>
            </p:nvGrpSpPr>
            <p:grpSpPr bwMode="auto">
              <a:xfrm>
                <a:off x="431" y="1525"/>
                <a:ext cx="136" cy="436"/>
                <a:chOff x="431" y="1525"/>
                <a:chExt cx="136" cy="436"/>
              </a:xfrm>
            </p:grpSpPr>
            <p:sp>
              <p:nvSpPr>
                <p:cNvPr id="24877" name="Oval 30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878" name="Line 30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879" name="Line 30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880" name="Group 304"/>
              <p:cNvGrpSpPr>
                <a:grpSpLocks/>
              </p:cNvGrpSpPr>
              <p:nvPr/>
            </p:nvGrpSpPr>
            <p:grpSpPr bwMode="auto">
              <a:xfrm>
                <a:off x="567" y="1525"/>
                <a:ext cx="136" cy="436"/>
                <a:chOff x="431" y="1525"/>
                <a:chExt cx="136" cy="436"/>
              </a:xfrm>
            </p:grpSpPr>
            <p:sp>
              <p:nvSpPr>
                <p:cNvPr id="24881" name="Oval 30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882" name="Line 30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883" name="Line 30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884" name="Group 308"/>
              <p:cNvGrpSpPr>
                <a:grpSpLocks/>
              </p:cNvGrpSpPr>
              <p:nvPr/>
            </p:nvGrpSpPr>
            <p:grpSpPr bwMode="auto">
              <a:xfrm>
                <a:off x="703" y="1525"/>
                <a:ext cx="136" cy="436"/>
                <a:chOff x="431" y="1525"/>
                <a:chExt cx="136" cy="436"/>
              </a:xfrm>
            </p:grpSpPr>
            <p:sp>
              <p:nvSpPr>
                <p:cNvPr id="24885" name="Oval 30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886" name="Line 31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887" name="Line 31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888" name="Group 312"/>
              <p:cNvGrpSpPr>
                <a:grpSpLocks/>
              </p:cNvGrpSpPr>
              <p:nvPr/>
            </p:nvGrpSpPr>
            <p:grpSpPr bwMode="auto">
              <a:xfrm>
                <a:off x="839" y="1525"/>
                <a:ext cx="136" cy="436"/>
                <a:chOff x="431" y="1525"/>
                <a:chExt cx="136" cy="436"/>
              </a:xfrm>
            </p:grpSpPr>
            <p:sp>
              <p:nvSpPr>
                <p:cNvPr id="24889" name="Oval 31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890" name="Line 31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891" name="Line 31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892" name="Group 316"/>
              <p:cNvGrpSpPr>
                <a:grpSpLocks/>
              </p:cNvGrpSpPr>
              <p:nvPr/>
            </p:nvGrpSpPr>
            <p:grpSpPr bwMode="auto">
              <a:xfrm>
                <a:off x="975" y="1525"/>
                <a:ext cx="136" cy="436"/>
                <a:chOff x="431" y="1525"/>
                <a:chExt cx="136" cy="436"/>
              </a:xfrm>
            </p:grpSpPr>
            <p:sp>
              <p:nvSpPr>
                <p:cNvPr id="24893" name="Oval 31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894" name="Line 31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895" name="Line 31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896" name="Group 320"/>
              <p:cNvGrpSpPr>
                <a:grpSpLocks/>
              </p:cNvGrpSpPr>
              <p:nvPr/>
            </p:nvGrpSpPr>
            <p:grpSpPr bwMode="auto">
              <a:xfrm>
                <a:off x="1111" y="1525"/>
                <a:ext cx="136" cy="436"/>
                <a:chOff x="431" y="1525"/>
                <a:chExt cx="136" cy="436"/>
              </a:xfrm>
            </p:grpSpPr>
            <p:sp>
              <p:nvSpPr>
                <p:cNvPr id="24897" name="Oval 32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898" name="Line 32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899" name="Line 32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00" name="Group 324"/>
              <p:cNvGrpSpPr>
                <a:grpSpLocks/>
              </p:cNvGrpSpPr>
              <p:nvPr/>
            </p:nvGrpSpPr>
            <p:grpSpPr bwMode="auto">
              <a:xfrm>
                <a:off x="1247" y="1525"/>
                <a:ext cx="136" cy="436"/>
                <a:chOff x="431" y="1525"/>
                <a:chExt cx="136" cy="436"/>
              </a:xfrm>
            </p:grpSpPr>
            <p:sp>
              <p:nvSpPr>
                <p:cNvPr id="24901" name="Oval 32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02" name="Line 32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03" name="Line 32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04" name="Group 328"/>
              <p:cNvGrpSpPr>
                <a:grpSpLocks/>
              </p:cNvGrpSpPr>
              <p:nvPr/>
            </p:nvGrpSpPr>
            <p:grpSpPr bwMode="auto">
              <a:xfrm>
                <a:off x="1383" y="1525"/>
                <a:ext cx="136" cy="436"/>
                <a:chOff x="431" y="1525"/>
                <a:chExt cx="136" cy="436"/>
              </a:xfrm>
            </p:grpSpPr>
            <p:sp>
              <p:nvSpPr>
                <p:cNvPr id="24905" name="Oval 32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06" name="Line 33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07" name="Line 33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08" name="Group 332"/>
              <p:cNvGrpSpPr>
                <a:grpSpLocks/>
              </p:cNvGrpSpPr>
              <p:nvPr/>
            </p:nvGrpSpPr>
            <p:grpSpPr bwMode="auto">
              <a:xfrm>
                <a:off x="1519" y="1525"/>
                <a:ext cx="136" cy="436"/>
                <a:chOff x="431" y="1525"/>
                <a:chExt cx="136" cy="436"/>
              </a:xfrm>
            </p:grpSpPr>
            <p:sp>
              <p:nvSpPr>
                <p:cNvPr id="24909" name="Oval 33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10" name="Line 33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11" name="Line 33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12" name="Group 336"/>
              <p:cNvGrpSpPr>
                <a:grpSpLocks/>
              </p:cNvGrpSpPr>
              <p:nvPr/>
            </p:nvGrpSpPr>
            <p:grpSpPr bwMode="auto">
              <a:xfrm>
                <a:off x="1655" y="1525"/>
                <a:ext cx="136" cy="436"/>
                <a:chOff x="431" y="1525"/>
                <a:chExt cx="136" cy="436"/>
              </a:xfrm>
            </p:grpSpPr>
            <p:sp>
              <p:nvSpPr>
                <p:cNvPr id="24913" name="Oval 33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14" name="Line 33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15" name="Line 33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16" name="Group 340"/>
              <p:cNvGrpSpPr>
                <a:grpSpLocks/>
              </p:cNvGrpSpPr>
              <p:nvPr/>
            </p:nvGrpSpPr>
            <p:grpSpPr bwMode="auto">
              <a:xfrm>
                <a:off x="1791" y="1525"/>
                <a:ext cx="136" cy="436"/>
                <a:chOff x="431" y="1525"/>
                <a:chExt cx="136" cy="436"/>
              </a:xfrm>
            </p:grpSpPr>
            <p:sp>
              <p:nvSpPr>
                <p:cNvPr id="24917" name="Oval 34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18" name="Line 34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19" name="Line 34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20" name="Group 344"/>
              <p:cNvGrpSpPr>
                <a:grpSpLocks/>
              </p:cNvGrpSpPr>
              <p:nvPr/>
            </p:nvGrpSpPr>
            <p:grpSpPr bwMode="auto">
              <a:xfrm>
                <a:off x="1927" y="1525"/>
                <a:ext cx="136" cy="436"/>
                <a:chOff x="431" y="1525"/>
                <a:chExt cx="136" cy="436"/>
              </a:xfrm>
            </p:grpSpPr>
            <p:sp>
              <p:nvSpPr>
                <p:cNvPr id="24921" name="Oval 34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22" name="Line 34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23" name="Line 34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24" name="Group 348"/>
              <p:cNvGrpSpPr>
                <a:grpSpLocks/>
              </p:cNvGrpSpPr>
              <p:nvPr/>
            </p:nvGrpSpPr>
            <p:grpSpPr bwMode="auto">
              <a:xfrm>
                <a:off x="2063" y="1525"/>
                <a:ext cx="136" cy="436"/>
                <a:chOff x="431" y="1525"/>
                <a:chExt cx="136" cy="436"/>
              </a:xfrm>
            </p:grpSpPr>
            <p:sp>
              <p:nvSpPr>
                <p:cNvPr id="24925" name="Oval 34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26" name="Line 35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27" name="Line 35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28" name="Group 352"/>
              <p:cNvGrpSpPr>
                <a:grpSpLocks/>
              </p:cNvGrpSpPr>
              <p:nvPr/>
            </p:nvGrpSpPr>
            <p:grpSpPr bwMode="auto">
              <a:xfrm>
                <a:off x="2199" y="1525"/>
                <a:ext cx="136" cy="436"/>
                <a:chOff x="431" y="1525"/>
                <a:chExt cx="136" cy="436"/>
              </a:xfrm>
            </p:grpSpPr>
            <p:sp>
              <p:nvSpPr>
                <p:cNvPr id="24929" name="Oval 35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30" name="Line 35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31" name="Line 35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nvGrpSpPr>
              <p:cNvPr id="24932" name="Group 356"/>
              <p:cNvGrpSpPr>
                <a:grpSpLocks/>
              </p:cNvGrpSpPr>
              <p:nvPr/>
            </p:nvGrpSpPr>
            <p:grpSpPr bwMode="auto">
              <a:xfrm>
                <a:off x="2335" y="1525"/>
                <a:ext cx="136" cy="436"/>
                <a:chOff x="431" y="1525"/>
                <a:chExt cx="136" cy="436"/>
              </a:xfrm>
            </p:grpSpPr>
            <p:sp>
              <p:nvSpPr>
                <p:cNvPr id="24933" name="Oval 35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4934" name="Line 35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4935" name="Line 35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grpSp>
        </p:grpSp>
      </p:grpSp>
      <p:sp>
        <p:nvSpPr>
          <p:cNvPr id="25253" name="Oval 677"/>
          <p:cNvSpPr>
            <a:spLocks noChangeArrowheads="1"/>
          </p:cNvSpPr>
          <p:nvPr/>
        </p:nvSpPr>
        <p:spPr bwMode="auto">
          <a:xfrm>
            <a:off x="5086350" y="2781300"/>
            <a:ext cx="215900" cy="2159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54" name="Oval 678"/>
          <p:cNvSpPr>
            <a:spLocks noChangeArrowheads="1"/>
          </p:cNvSpPr>
          <p:nvPr/>
        </p:nvSpPr>
        <p:spPr bwMode="auto">
          <a:xfrm>
            <a:off x="5446712" y="2420938"/>
            <a:ext cx="215900" cy="2159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55" name="Oval 679"/>
          <p:cNvSpPr>
            <a:spLocks noChangeArrowheads="1"/>
          </p:cNvSpPr>
          <p:nvPr/>
        </p:nvSpPr>
        <p:spPr bwMode="auto">
          <a:xfrm>
            <a:off x="5949950" y="2636838"/>
            <a:ext cx="215900" cy="2159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56" name="Oval 680"/>
          <p:cNvSpPr>
            <a:spLocks noChangeArrowheads="1"/>
          </p:cNvSpPr>
          <p:nvPr/>
        </p:nvSpPr>
        <p:spPr bwMode="auto">
          <a:xfrm>
            <a:off x="6454775" y="2420938"/>
            <a:ext cx="215900" cy="2159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57" name="Oval 681"/>
          <p:cNvSpPr>
            <a:spLocks noChangeArrowheads="1"/>
          </p:cNvSpPr>
          <p:nvPr/>
        </p:nvSpPr>
        <p:spPr bwMode="auto">
          <a:xfrm>
            <a:off x="3862387" y="5734050"/>
            <a:ext cx="215900" cy="2159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58" name="Oval 682"/>
          <p:cNvSpPr>
            <a:spLocks noChangeArrowheads="1"/>
          </p:cNvSpPr>
          <p:nvPr/>
        </p:nvSpPr>
        <p:spPr bwMode="auto">
          <a:xfrm>
            <a:off x="4725987" y="6165850"/>
            <a:ext cx="215900" cy="2159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59" name="Text Box 683"/>
          <p:cNvSpPr txBox="1">
            <a:spLocks noChangeArrowheads="1"/>
          </p:cNvSpPr>
          <p:nvPr/>
        </p:nvSpPr>
        <p:spPr bwMode="auto">
          <a:xfrm>
            <a:off x="4581525" y="1412876"/>
            <a:ext cx="2406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n-GB" altLang="en-US" sz="1800">
                <a:solidFill>
                  <a:srgbClr val="000000"/>
                </a:solidFill>
              </a:rPr>
              <a:t>Fat-soluble molecules</a:t>
            </a:r>
          </a:p>
        </p:txBody>
      </p:sp>
      <p:sp>
        <p:nvSpPr>
          <p:cNvPr id="25260" name="Text Box 684"/>
          <p:cNvSpPr txBox="1">
            <a:spLocks noChangeArrowheads="1"/>
          </p:cNvSpPr>
          <p:nvPr/>
        </p:nvSpPr>
        <p:spPr bwMode="auto">
          <a:xfrm>
            <a:off x="8110537" y="1412876"/>
            <a:ext cx="1809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n-GB" altLang="en-US" sz="1800">
                <a:solidFill>
                  <a:srgbClr val="000000"/>
                </a:solidFill>
              </a:rPr>
              <a:t>Polar molecules</a:t>
            </a:r>
          </a:p>
        </p:txBody>
      </p:sp>
      <p:sp>
        <p:nvSpPr>
          <p:cNvPr id="25261" name="Oval 685"/>
          <p:cNvSpPr>
            <a:spLocks noChangeArrowheads="1"/>
          </p:cNvSpPr>
          <p:nvPr/>
        </p:nvSpPr>
        <p:spPr bwMode="auto">
          <a:xfrm>
            <a:off x="7031038" y="2060576"/>
            <a:ext cx="142875" cy="358775"/>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62" name="Oval 686"/>
          <p:cNvSpPr>
            <a:spLocks noChangeArrowheads="1"/>
          </p:cNvSpPr>
          <p:nvPr/>
        </p:nvSpPr>
        <p:spPr bwMode="auto">
          <a:xfrm>
            <a:off x="8877301" y="1916114"/>
            <a:ext cx="142875" cy="358775"/>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63" name="Oval 687"/>
          <p:cNvSpPr>
            <a:spLocks noChangeArrowheads="1"/>
          </p:cNvSpPr>
          <p:nvPr/>
        </p:nvSpPr>
        <p:spPr bwMode="auto">
          <a:xfrm>
            <a:off x="9550401" y="1989139"/>
            <a:ext cx="142875" cy="358775"/>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64" name="Oval 688"/>
          <p:cNvSpPr>
            <a:spLocks noChangeArrowheads="1"/>
          </p:cNvSpPr>
          <p:nvPr/>
        </p:nvSpPr>
        <p:spPr bwMode="auto">
          <a:xfrm>
            <a:off x="9766301" y="6021389"/>
            <a:ext cx="142875" cy="358775"/>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65" name="Oval 689"/>
          <p:cNvSpPr>
            <a:spLocks noChangeArrowheads="1"/>
          </p:cNvSpPr>
          <p:nvPr/>
        </p:nvSpPr>
        <p:spPr bwMode="auto">
          <a:xfrm>
            <a:off x="8686801" y="6092826"/>
            <a:ext cx="142875" cy="358775"/>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66" name="Oval 690"/>
          <p:cNvSpPr>
            <a:spLocks noChangeArrowheads="1"/>
          </p:cNvSpPr>
          <p:nvPr/>
        </p:nvSpPr>
        <p:spPr bwMode="auto">
          <a:xfrm>
            <a:off x="10055226" y="1844676"/>
            <a:ext cx="142875" cy="358775"/>
          </a:xfrm>
          <a:prstGeom prst="ellipse">
            <a:avLst/>
          </a:prstGeom>
          <a:solidFill>
            <a:srgbClr val="CC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fontAlgn="base">
              <a:spcBef>
                <a:spcPct val="0"/>
              </a:spcBef>
              <a:spcAft>
                <a:spcPct val="0"/>
              </a:spcAft>
            </a:pPr>
            <a:endParaRPr lang="en-AU" sz="1800">
              <a:solidFill>
                <a:srgbClr val="000000"/>
              </a:solidFill>
            </a:endParaRPr>
          </a:p>
        </p:txBody>
      </p:sp>
      <p:sp>
        <p:nvSpPr>
          <p:cNvPr id="25267" name="Line 691"/>
          <p:cNvSpPr>
            <a:spLocks noChangeShapeType="1"/>
          </p:cNvSpPr>
          <p:nvPr/>
        </p:nvSpPr>
        <p:spPr bwMode="auto">
          <a:xfrm flipV="1">
            <a:off x="7607301" y="4652964"/>
            <a:ext cx="1366837" cy="15128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fontAlgn="base">
              <a:spcBef>
                <a:spcPct val="0"/>
              </a:spcBef>
              <a:spcAft>
                <a:spcPct val="0"/>
              </a:spcAft>
            </a:pPr>
            <a:endParaRPr lang="en-AU" sz="1800">
              <a:solidFill>
                <a:srgbClr val="000000"/>
              </a:solidFill>
            </a:endParaRPr>
          </a:p>
        </p:txBody>
      </p:sp>
      <p:sp>
        <p:nvSpPr>
          <p:cNvPr id="25268" name="Text Box 692"/>
          <p:cNvSpPr txBox="1">
            <a:spLocks noChangeArrowheads="1"/>
          </p:cNvSpPr>
          <p:nvPr/>
        </p:nvSpPr>
        <p:spPr bwMode="auto">
          <a:xfrm>
            <a:off x="6526213" y="6165851"/>
            <a:ext cx="197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n-GB" altLang="en-US" sz="2000">
                <a:solidFill>
                  <a:srgbClr val="000000"/>
                </a:solidFill>
              </a:rPr>
              <a:t>hydrophilic pore</a:t>
            </a:r>
          </a:p>
        </p:txBody>
      </p:sp>
    </p:spTree>
    <p:extLst>
      <p:ext uri="{BB962C8B-B14F-4D97-AF65-F5344CB8AC3E}">
        <p14:creationId xmlns:p14="http://schemas.microsoft.com/office/powerpoint/2010/main" val="1235475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3.05556E-6 -4.07407E-6 L 3.05556E-6 0.39885 " pathEditMode="relative" ptsTypes="AA">
                                      <p:cBhvr>
                                        <p:cTn id="6" dur="2000" fill="hold"/>
                                        <p:tgtEl>
                                          <p:spTgt spid="25254"/>
                                        </p:tgtEl>
                                        <p:attrNameLst>
                                          <p:attrName>ppt_x</p:attrName>
                                          <p:attrName>ppt_y</p:attrName>
                                        </p:attrNameLst>
                                      </p:cBhvr>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37" presetClass="path" presetSubtype="0" accel="50000" decel="50000" fill="hold" grpId="0" nodeType="clickEffect">
                                  <p:stCondLst>
                                    <p:cond delay="0"/>
                                  </p:stCondLst>
                                  <p:childTnLst>
                                    <p:animMotion origin="layout" path="M -3.05556E-6 -3.7037E-7 L 0.02726 0.10486 C 0.03299 0.12847 0.04167 0.1419 0.05035 0.1419 C 0.06094 0.1419 0.0691 0.12847 0.07466 0.10486 L 0.10243 -3.7037E-7 " pathEditMode="relative" rAng="0" ptsTypes="FffFF">
                                      <p:cBhvr>
                                        <p:cTn id="10" dur="2000" fill="hold"/>
                                        <p:tgtEl>
                                          <p:spTgt spid="25261"/>
                                        </p:tgtEl>
                                        <p:attrNameLst>
                                          <p:attrName>ppt_x</p:attrName>
                                          <p:attrName>ppt_y</p:attrName>
                                        </p:attrNameLst>
                                      </p:cBhvr>
                                      <p:rCtr x="5122" y="7083"/>
                                    </p:animMotion>
                                  </p:childTnLst>
                                </p:cTn>
                              </p:par>
                            </p:childTnLst>
                          </p:cTn>
                        </p:par>
                        <p:par>
                          <p:cTn id="11" fill="hold" nodeType="afterGroup">
                            <p:stCondLst>
                              <p:cond delay="2000"/>
                            </p:stCondLst>
                            <p:childTnLst>
                              <p:par>
                                <p:cTn id="12" presetID="0" presetClass="path" presetSubtype="0" accel="50000" decel="50000" fill="hold" grpId="0" nodeType="afterEffect">
                                  <p:stCondLst>
                                    <p:cond delay="0"/>
                                  </p:stCondLst>
                                  <p:childTnLst>
                                    <p:animMotion origin="layout" path="M -5.55556E-7 -7.40741E-6 L -5.55556E-7 0.50393 " pathEditMode="relative" ptsTypes="AA">
                                      <p:cBhvr>
                                        <p:cTn id="13" dur="2000" fill="hold"/>
                                        <p:tgtEl>
                                          <p:spTgt spid="2526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54" grpId="0" animBg="1"/>
      <p:bldP spid="25261" grpId="0" animBg="1"/>
      <p:bldP spid="2526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23861" y="585216"/>
            <a:ext cx="9895087" cy="538734"/>
          </a:xfrm>
        </p:spPr>
        <p:txBody>
          <a:bodyPr>
            <a:noAutofit/>
          </a:bodyPr>
          <a:lstStyle/>
          <a:p>
            <a:r>
              <a:rPr lang="en-GB" altLang="en-US" sz="4000" dirty="0"/>
              <a:t>The membrane contains many types of protein:</a:t>
            </a:r>
          </a:p>
        </p:txBody>
      </p:sp>
      <p:grpSp>
        <p:nvGrpSpPr>
          <p:cNvPr id="20489" name="Group 9"/>
          <p:cNvGrpSpPr>
            <a:grpSpLocks/>
          </p:cNvGrpSpPr>
          <p:nvPr/>
        </p:nvGrpSpPr>
        <p:grpSpPr bwMode="auto">
          <a:xfrm flipV="1">
            <a:off x="1497012" y="4037013"/>
            <a:ext cx="3238500" cy="692150"/>
            <a:chOff x="431" y="1525"/>
            <a:chExt cx="2040" cy="436"/>
          </a:xfrm>
        </p:grpSpPr>
        <p:grpSp>
          <p:nvGrpSpPr>
            <p:cNvPr id="20490" name="Group 10"/>
            <p:cNvGrpSpPr>
              <a:grpSpLocks/>
            </p:cNvGrpSpPr>
            <p:nvPr/>
          </p:nvGrpSpPr>
          <p:grpSpPr bwMode="auto">
            <a:xfrm>
              <a:off x="431" y="1525"/>
              <a:ext cx="136" cy="436"/>
              <a:chOff x="431" y="1525"/>
              <a:chExt cx="136" cy="436"/>
            </a:xfrm>
          </p:grpSpPr>
          <p:sp>
            <p:nvSpPr>
              <p:cNvPr id="20491" name="Oval 1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2" name="Line 1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493" name="Line 1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494" name="Group 14"/>
            <p:cNvGrpSpPr>
              <a:grpSpLocks/>
            </p:cNvGrpSpPr>
            <p:nvPr/>
          </p:nvGrpSpPr>
          <p:grpSpPr bwMode="auto">
            <a:xfrm>
              <a:off x="567" y="1525"/>
              <a:ext cx="136" cy="436"/>
              <a:chOff x="431" y="1525"/>
              <a:chExt cx="136" cy="436"/>
            </a:xfrm>
          </p:grpSpPr>
          <p:sp>
            <p:nvSpPr>
              <p:cNvPr id="20495" name="Oval 1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6" name="Line 1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497" name="Line 1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498" name="Group 18"/>
            <p:cNvGrpSpPr>
              <a:grpSpLocks/>
            </p:cNvGrpSpPr>
            <p:nvPr/>
          </p:nvGrpSpPr>
          <p:grpSpPr bwMode="auto">
            <a:xfrm>
              <a:off x="703" y="1525"/>
              <a:ext cx="136" cy="436"/>
              <a:chOff x="431" y="1525"/>
              <a:chExt cx="136" cy="436"/>
            </a:xfrm>
          </p:grpSpPr>
          <p:sp>
            <p:nvSpPr>
              <p:cNvPr id="20499" name="Oval 1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00" name="Line 2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01" name="Line 2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02" name="Group 22"/>
            <p:cNvGrpSpPr>
              <a:grpSpLocks/>
            </p:cNvGrpSpPr>
            <p:nvPr/>
          </p:nvGrpSpPr>
          <p:grpSpPr bwMode="auto">
            <a:xfrm>
              <a:off x="839" y="1525"/>
              <a:ext cx="136" cy="436"/>
              <a:chOff x="431" y="1525"/>
              <a:chExt cx="136" cy="436"/>
            </a:xfrm>
          </p:grpSpPr>
          <p:sp>
            <p:nvSpPr>
              <p:cNvPr id="20503" name="Oval 2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04" name="Line 2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05" name="Line 2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06" name="Group 26"/>
            <p:cNvGrpSpPr>
              <a:grpSpLocks/>
            </p:cNvGrpSpPr>
            <p:nvPr/>
          </p:nvGrpSpPr>
          <p:grpSpPr bwMode="auto">
            <a:xfrm>
              <a:off x="975" y="1525"/>
              <a:ext cx="136" cy="436"/>
              <a:chOff x="431" y="1525"/>
              <a:chExt cx="136" cy="436"/>
            </a:xfrm>
          </p:grpSpPr>
          <p:sp>
            <p:nvSpPr>
              <p:cNvPr id="20507" name="Oval 2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08" name="Line 2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09" name="Line 2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10" name="Group 30"/>
            <p:cNvGrpSpPr>
              <a:grpSpLocks/>
            </p:cNvGrpSpPr>
            <p:nvPr/>
          </p:nvGrpSpPr>
          <p:grpSpPr bwMode="auto">
            <a:xfrm>
              <a:off x="1111" y="1525"/>
              <a:ext cx="136" cy="436"/>
              <a:chOff x="431" y="1525"/>
              <a:chExt cx="136" cy="436"/>
            </a:xfrm>
          </p:grpSpPr>
          <p:sp>
            <p:nvSpPr>
              <p:cNvPr id="20511" name="Oval 3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12" name="Line 3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13" name="Line 3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14" name="Group 34"/>
            <p:cNvGrpSpPr>
              <a:grpSpLocks/>
            </p:cNvGrpSpPr>
            <p:nvPr/>
          </p:nvGrpSpPr>
          <p:grpSpPr bwMode="auto">
            <a:xfrm>
              <a:off x="1247" y="1525"/>
              <a:ext cx="136" cy="436"/>
              <a:chOff x="431" y="1525"/>
              <a:chExt cx="136" cy="436"/>
            </a:xfrm>
          </p:grpSpPr>
          <p:sp>
            <p:nvSpPr>
              <p:cNvPr id="20515" name="Oval 3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16" name="Line 3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17" name="Line 3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18" name="Group 38"/>
            <p:cNvGrpSpPr>
              <a:grpSpLocks/>
            </p:cNvGrpSpPr>
            <p:nvPr/>
          </p:nvGrpSpPr>
          <p:grpSpPr bwMode="auto">
            <a:xfrm>
              <a:off x="1383" y="1525"/>
              <a:ext cx="136" cy="436"/>
              <a:chOff x="431" y="1525"/>
              <a:chExt cx="136" cy="436"/>
            </a:xfrm>
          </p:grpSpPr>
          <p:sp>
            <p:nvSpPr>
              <p:cNvPr id="20519" name="Oval 3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20" name="Line 4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21" name="Line 4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22" name="Group 42"/>
            <p:cNvGrpSpPr>
              <a:grpSpLocks/>
            </p:cNvGrpSpPr>
            <p:nvPr/>
          </p:nvGrpSpPr>
          <p:grpSpPr bwMode="auto">
            <a:xfrm>
              <a:off x="1519" y="1525"/>
              <a:ext cx="136" cy="436"/>
              <a:chOff x="431" y="1525"/>
              <a:chExt cx="136" cy="436"/>
            </a:xfrm>
          </p:grpSpPr>
          <p:sp>
            <p:nvSpPr>
              <p:cNvPr id="20523" name="Oval 4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24" name="Line 4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25" name="Line 4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26" name="Group 46"/>
            <p:cNvGrpSpPr>
              <a:grpSpLocks/>
            </p:cNvGrpSpPr>
            <p:nvPr/>
          </p:nvGrpSpPr>
          <p:grpSpPr bwMode="auto">
            <a:xfrm>
              <a:off x="1655" y="1525"/>
              <a:ext cx="136" cy="436"/>
              <a:chOff x="431" y="1525"/>
              <a:chExt cx="136" cy="436"/>
            </a:xfrm>
          </p:grpSpPr>
          <p:sp>
            <p:nvSpPr>
              <p:cNvPr id="20527" name="Oval 4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28" name="Line 4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29" name="Line 4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30" name="Group 50"/>
            <p:cNvGrpSpPr>
              <a:grpSpLocks/>
            </p:cNvGrpSpPr>
            <p:nvPr/>
          </p:nvGrpSpPr>
          <p:grpSpPr bwMode="auto">
            <a:xfrm>
              <a:off x="1791" y="1525"/>
              <a:ext cx="136" cy="436"/>
              <a:chOff x="431" y="1525"/>
              <a:chExt cx="136" cy="436"/>
            </a:xfrm>
          </p:grpSpPr>
          <p:sp>
            <p:nvSpPr>
              <p:cNvPr id="20531" name="Oval 5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32" name="Line 5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33" name="Line 5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34" name="Group 54"/>
            <p:cNvGrpSpPr>
              <a:grpSpLocks/>
            </p:cNvGrpSpPr>
            <p:nvPr/>
          </p:nvGrpSpPr>
          <p:grpSpPr bwMode="auto">
            <a:xfrm>
              <a:off x="1927" y="1525"/>
              <a:ext cx="136" cy="436"/>
              <a:chOff x="431" y="1525"/>
              <a:chExt cx="136" cy="436"/>
            </a:xfrm>
          </p:grpSpPr>
          <p:sp>
            <p:nvSpPr>
              <p:cNvPr id="20535" name="Oval 5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36" name="Line 5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37" name="Line 5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38" name="Group 58"/>
            <p:cNvGrpSpPr>
              <a:grpSpLocks/>
            </p:cNvGrpSpPr>
            <p:nvPr/>
          </p:nvGrpSpPr>
          <p:grpSpPr bwMode="auto">
            <a:xfrm>
              <a:off x="2063" y="1525"/>
              <a:ext cx="136" cy="436"/>
              <a:chOff x="431" y="1525"/>
              <a:chExt cx="136" cy="436"/>
            </a:xfrm>
          </p:grpSpPr>
          <p:sp>
            <p:nvSpPr>
              <p:cNvPr id="20539" name="Oval 5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40" name="Line 6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41" name="Line 6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42" name="Group 62"/>
            <p:cNvGrpSpPr>
              <a:grpSpLocks/>
            </p:cNvGrpSpPr>
            <p:nvPr/>
          </p:nvGrpSpPr>
          <p:grpSpPr bwMode="auto">
            <a:xfrm>
              <a:off x="2199" y="1525"/>
              <a:ext cx="136" cy="436"/>
              <a:chOff x="431" y="1525"/>
              <a:chExt cx="136" cy="436"/>
            </a:xfrm>
          </p:grpSpPr>
          <p:sp>
            <p:nvSpPr>
              <p:cNvPr id="20543" name="Oval 6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44" name="Line 6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45" name="Line 6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46" name="Group 66"/>
            <p:cNvGrpSpPr>
              <a:grpSpLocks/>
            </p:cNvGrpSpPr>
            <p:nvPr/>
          </p:nvGrpSpPr>
          <p:grpSpPr bwMode="auto">
            <a:xfrm>
              <a:off x="2335" y="1525"/>
              <a:ext cx="136" cy="436"/>
              <a:chOff x="431" y="1525"/>
              <a:chExt cx="136" cy="436"/>
            </a:xfrm>
          </p:grpSpPr>
          <p:sp>
            <p:nvSpPr>
              <p:cNvPr id="20547" name="Oval 6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48" name="Line 6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49" name="Line 6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grpSp>
        <p:nvGrpSpPr>
          <p:cNvPr id="20550" name="Group 70"/>
          <p:cNvGrpSpPr>
            <a:grpSpLocks/>
          </p:cNvGrpSpPr>
          <p:nvPr/>
        </p:nvGrpSpPr>
        <p:grpSpPr bwMode="auto">
          <a:xfrm flipV="1">
            <a:off x="4737100" y="4037013"/>
            <a:ext cx="3238500" cy="692150"/>
            <a:chOff x="431" y="1525"/>
            <a:chExt cx="2040" cy="436"/>
          </a:xfrm>
        </p:grpSpPr>
        <p:grpSp>
          <p:nvGrpSpPr>
            <p:cNvPr id="20551" name="Group 71"/>
            <p:cNvGrpSpPr>
              <a:grpSpLocks/>
            </p:cNvGrpSpPr>
            <p:nvPr/>
          </p:nvGrpSpPr>
          <p:grpSpPr bwMode="auto">
            <a:xfrm>
              <a:off x="431" y="1525"/>
              <a:ext cx="136" cy="436"/>
              <a:chOff x="431" y="1525"/>
              <a:chExt cx="136" cy="436"/>
            </a:xfrm>
          </p:grpSpPr>
          <p:sp>
            <p:nvSpPr>
              <p:cNvPr id="20552" name="Oval 7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53" name="Line 7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54" name="Line 7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55" name="Group 75"/>
            <p:cNvGrpSpPr>
              <a:grpSpLocks/>
            </p:cNvGrpSpPr>
            <p:nvPr/>
          </p:nvGrpSpPr>
          <p:grpSpPr bwMode="auto">
            <a:xfrm>
              <a:off x="567" y="1525"/>
              <a:ext cx="136" cy="436"/>
              <a:chOff x="431" y="1525"/>
              <a:chExt cx="136" cy="436"/>
            </a:xfrm>
          </p:grpSpPr>
          <p:sp>
            <p:nvSpPr>
              <p:cNvPr id="20556" name="Oval 7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57" name="Line 7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58" name="Line 7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59" name="Group 79"/>
            <p:cNvGrpSpPr>
              <a:grpSpLocks/>
            </p:cNvGrpSpPr>
            <p:nvPr/>
          </p:nvGrpSpPr>
          <p:grpSpPr bwMode="auto">
            <a:xfrm>
              <a:off x="703" y="1525"/>
              <a:ext cx="136" cy="436"/>
              <a:chOff x="431" y="1525"/>
              <a:chExt cx="136" cy="436"/>
            </a:xfrm>
          </p:grpSpPr>
          <p:sp>
            <p:nvSpPr>
              <p:cNvPr id="20560" name="Oval 8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61" name="Line 8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62" name="Line 8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63" name="Group 83"/>
            <p:cNvGrpSpPr>
              <a:grpSpLocks/>
            </p:cNvGrpSpPr>
            <p:nvPr/>
          </p:nvGrpSpPr>
          <p:grpSpPr bwMode="auto">
            <a:xfrm>
              <a:off x="839" y="1525"/>
              <a:ext cx="136" cy="436"/>
              <a:chOff x="431" y="1525"/>
              <a:chExt cx="136" cy="436"/>
            </a:xfrm>
          </p:grpSpPr>
          <p:sp>
            <p:nvSpPr>
              <p:cNvPr id="20564" name="Oval 8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65" name="Line 8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66" name="Line 8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67" name="Group 87"/>
            <p:cNvGrpSpPr>
              <a:grpSpLocks/>
            </p:cNvGrpSpPr>
            <p:nvPr/>
          </p:nvGrpSpPr>
          <p:grpSpPr bwMode="auto">
            <a:xfrm>
              <a:off x="975" y="1525"/>
              <a:ext cx="136" cy="436"/>
              <a:chOff x="431" y="1525"/>
              <a:chExt cx="136" cy="436"/>
            </a:xfrm>
          </p:grpSpPr>
          <p:sp>
            <p:nvSpPr>
              <p:cNvPr id="20568" name="Oval 8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69" name="Line 8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70" name="Line 9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71" name="Group 91"/>
            <p:cNvGrpSpPr>
              <a:grpSpLocks/>
            </p:cNvGrpSpPr>
            <p:nvPr/>
          </p:nvGrpSpPr>
          <p:grpSpPr bwMode="auto">
            <a:xfrm>
              <a:off x="1111" y="1525"/>
              <a:ext cx="136" cy="436"/>
              <a:chOff x="431" y="1525"/>
              <a:chExt cx="136" cy="436"/>
            </a:xfrm>
          </p:grpSpPr>
          <p:sp>
            <p:nvSpPr>
              <p:cNvPr id="20572" name="Oval 9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73" name="Line 9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74" name="Line 9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75" name="Group 95"/>
            <p:cNvGrpSpPr>
              <a:grpSpLocks/>
            </p:cNvGrpSpPr>
            <p:nvPr/>
          </p:nvGrpSpPr>
          <p:grpSpPr bwMode="auto">
            <a:xfrm>
              <a:off x="1247" y="1525"/>
              <a:ext cx="136" cy="436"/>
              <a:chOff x="431" y="1525"/>
              <a:chExt cx="136" cy="436"/>
            </a:xfrm>
          </p:grpSpPr>
          <p:sp>
            <p:nvSpPr>
              <p:cNvPr id="20576" name="Oval 9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77" name="Line 9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78" name="Line 9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79" name="Group 99"/>
            <p:cNvGrpSpPr>
              <a:grpSpLocks/>
            </p:cNvGrpSpPr>
            <p:nvPr/>
          </p:nvGrpSpPr>
          <p:grpSpPr bwMode="auto">
            <a:xfrm>
              <a:off x="1383" y="1525"/>
              <a:ext cx="136" cy="436"/>
              <a:chOff x="431" y="1525"/>
              <a:chExt cx="136" cy="436"/>
            </a:xfrm>
          </p:grpSpPr>
          <p:sp>
            <p:nvSpPr>
              <p:cNvPr id="20580" name="Oval 10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1" name="Line 10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2" name="Line 10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83" name="Group 103"/>
            <p:cNvGrpSpPr>
              <a:grpSpLocks/>
            </p:cNvGrpSpPr>
            <p:nvPr/>
          </p:nvGrpSpPr>
          <p:grpSpPr bwMode="auto">
            <a:xfrm>
              <a:off x="1519" y="1525"/>
              <a:ext cx="136" cy="436"/>
              <a:chOff x="431" y="1525"/>
              <a:chExt cx="136" cy="436"/>
            </a:xfrm>
          </p:grpSpPr>
          <p:sp>
            <p:nvSpPr>
              <p:cNvPr id="20584" name="Oval 10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5" name="Line 10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86" name="Line 10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87" name="Group 107"/>
            <p:cNvGrpSpPr>
              <a:grpSpLocks/>
            </p:cNvGrpSpPr>
            <p:nvPr/>
          </p:nvGrpSpPr>
          <p:grpSpPr bwMode="auto">
            <a:xfrm>
              <a:off x="1655" y="1525"/>
              <a:ext cx="136" cy="436"/>
              <a:chOff x="431" y="1525"/>
              <a:chExt cx="136" cy="436"/>
            </a:xfrm>
          </p:grpSpPr>
          <p:sp>
            <p:nvSpPr>
              <p:cNvPr id="20588" name="Oval 10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89" name="Line 10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90" name="Line 11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91" name="Group 111"/>
            <p:cNvGrpSpPr>
              <a:grpSpLocks/>
            </p:cNvGrpSpPr>
            <p:nvPr/>
          </p:nvGrpSpPr>
          <p:grpSpPr bwMode="auto">
            <a:xfrm>
              <a:off x="1791" y="1525"/>
              <a:ext cx="136" cy="436"/>
              <a:chOff x="431" y="1525"/>
              <a:chExt cx="136" cy="436"/>
            </a:xfrm>
          </p:grpSpPr>
          <p:sp>
            <p:nvSpPr>
              <p:cNvPr id="20592" name="Oval 11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93" name="Line 11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94" name="Line 11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95" name="Group 115"/>
            <p:cNvGrpSpPr>
              <a:grpSpLocks/>
            </p:cNvGrpSpPr>
            <p:nvPr/>
          </p:nvGrpSpPr>
          <p:grpSpPr bwMode="auto">
            <a:xfrm>
              <a:off x="1927" y="1525"/>
              <a:ext cx="136" cy="436"/>
              <a:chOff x="431" y="1525"/>
              <a:chExt cx="136" cy="436"/>
            </a:xfrm>
          </p:grpSpPr>
          <p:sp>
            <p:nvSpPr>
              <p:cNvPr id="20596" name="Oval 11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97" name="Line 11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598" name="Line 11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599" name="Group 119"/>
            <p:cNvGrpSpPr>
              <a:grpSpLocks/>
            </p:cNvGrpSpPr>
            <p:nvPr/>
          </p:nvGrpSpPr>
          <p:grpSpPr bwMode="auto">
            <a:xfrm>
              <a:off x="2063" y="1525"/>
              <a:ext cx="136" cy="436"/>
              <a:chOff x="431" y="1525"/>
              <a:chExt cx="136" cy="436"/>
            </a:xfrm>
          </p:grpSpPr>
          <p:sp>
            <p:nvSpPr>
              <p:cNvPr id="20600" name="Oval 12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01" name="Line 12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02" name="Line 12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03" name="Group 123"/>
            <p:cNvGrpSpPr>
              <a:grpSpLocks/>
            </p:cNvGrpSpPr>
            <p:nvPr/>
          </p:nvGrpSpPr>
          <p:grpSpPr bwMode="auto">
            <a:xfrm>
              <a:off x="2199" y="1525"/>
              <a:ext cx="136" cy="436"/>
              <a:chOff x="431" y="1525"/>
              <a:chExt cx="136" cy="436"/>
            </a:xfrm>
          </p:grpSpPr>
          <p:sp>
            <p:nvSpPr>
              <p:cNvPr id="20604" name="Oval 12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05" name="Line 12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06" name="Line 12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07" name="Group 127"/>
            <p:cNvGrpSpPr>
              <a:grpSpLocks/>
            </p:cNvGrpSpPr>
            <p:nvPr/>
          </p:nvGrpSpPr>
          <p:grpSpPr bwMode="auto">
            <a:xfrm>
              <a:off x="2335" y="1525"/>
              <a:ext cx="136" cy="436"/>
              <a:chOff x="431" y="1525"/>
              <a:chExt cx="136" cy="436"/>
            </a:xfrm>
          </p:grpSpPr>
          <p:sp>
            <p:nvSpPr>
              <p:cNvPr id="20608" name="Oval 12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09" name="Line 12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10" name="Line 13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grpSp>
        <p:nvGrpSpPr>
          <p:cNvPr id="20663" name="Group 183"/>
          <p:cNvGrpSpPr>
            <a:grpSpLocks/>
          </p:cNvGrpSpPr>
          <p:nvPr/>
        </p:nvGrpSpPr>
        <p:grpSpPr bwMode="auto">
          <a:xfrm>
            <a:off x="1493837" y="3316288"/>
            <a:ext cx="3238500" cy="692150"/>
            <a:chOff x="431" y="1525"/>
            <a:chExt cx="2040" cy="436"/>
          </a:xfrm>
        </p:grpSpPr>
        <p:grpSp>
          <p:nvGrpSpPr>
            <p:cNvPr id="20664" name="Group 184"/>
            <p:cNvGrpSpPr>
              <a:grpSpLocks/>
            </p:cNvGrpSpPr>
            <p:nvPr/>
          </p:nvGrpSpPr>
          <p:grpSpPr bwMode="auto">
            <a:xfrm>
              <a:off x="431" y="1525"/>
              <a:ext cx="136" cy="436"/>
              <a:chOff x="431" y="1525"/>
              <a:chExt cx="136" cy="436"/>
            </a:xfrm>
          </p:grpSpPr>
          <p:sp>
            <p:nvSpPr>
              <p:cNvPr id="20665" name="Oval 18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66" name="Line 18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67" name="Line 18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68" name="Group 188"/>
            <p:cNvGrpSpPr>
              <a:grpSpLocks/>
            </p:cNvGrpSpPr>
            <p:nvPr/>
          </p:nvGrpSpPr>
          <p:grpSpPr bwMode="auto">
            <a:xfrm>
              <a:off x="567" y="1525"/>
              <a:ext cx="136" cy="436"/>
              <a:chOff x="431" y="1525"/>
              <a:chExt cx="136" cy="436"/>
            </a:xfrm>
          </p:grpSpPr>
          <p:sp>
            <p:nvSpPr>
              <p:cNvPr id="20669" name="Oval 18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70" name="Line 19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71" name="Line 19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72" name="Group 192"/>
            <p:cNvGrpSpPr>
              <a:grpSpLocks/>
            </p:cNvGrpSpPr>
            <p:nvPr/>
          </p:nvGrpSpPr>
          <p:grpSpPr bwMode="auto">
            <a:xfrm>
              <a:off x="703" y="1525"/>
              <a:ext cx="136" cy="436"/>
              <a:chOff x="431" y="1525"/>
              <a:chExt cx="136" cy="436"/>
            </a:xfrm>
          </p:grpSpPr>
          <p:sp>
            <p:nvSpPr>
              <p:cNvPr id="20673" name="Oval 19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74" name="Line 19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75" name="Line 19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76" name="Group 196"/>
            <p:cNvGrpSpPr>
              <a:grpSpLocks/>
            </p:cNvGrpSpPr>
            <p:nvPr/>
          </p:nvGrpSpPr>
          <p:grpSpPr bwMode="auto">
            <a:xfrm>
              <a:off x="839" y="1525"/>
              <a:ext cx="136" cy="436"/>
              <a:chOff x="431" y="1525"/>
              <a:chExt cx="136" cy="436"/>
            </a:xfrm>
          </p:grpSpPr>
          <p:sp>
            <p:nvSpPr>
              <p:cNvPr id="20677" name="Oval 19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78" name="Line 19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79" name="Line 19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80" name="Group 200"/>
            <p:cNvGrpSpPr>
              <a:grpSpLocks/>
            </p:cNvGrpSpPr>
            <p:nvPr/>
          </p:nvGrpSpPr>
          <p:grpSpPr bwMode="auto">
            <a:xfrm>
              <a:off x="975" y="1525"/>
              <a:ext cx="136" cy="436"/>
              <a:chOff x="431" y="1525"/>
              <a:chExt cx="136" cy="436"/>
            </a:xfrm>
          </p:grpSpPr>
          <p:sp>
            <p:nvSpPr>
              <p:cNvPr id="20681" name="Oval 20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82" name="Line 20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83" name="Line 20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84" name="Group 204"/>
            <p:cNvGrpSpPr>
              <a:grpSpLocks/>
            </p:cNvGrpSpPr>
            <p:nvPr/>
          </p:nvGrpSpPr>
          <p:grpSpPr bwMode="auto">
            <a:xfrm>
              <a:off x="1111" y="1525"/>
              <a:ext cx="136" cy="436"/>
              <a:chOff x="431" y="1525"/>
              <a:chExt cx="136" cy="436"/>
            </a:xfrm>
          </p:grpSpPr>
          <p:sp>
            <p:nvSpPr>
              <p:cNvPr id="20685" name="Oval 20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86" name="Line 20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87" name="Line 20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88" name="Group 208"/>
            <p:cNvGrpSpPr>
              <a:grpSpLocks/>
            </p:cNvGrpSpPr>
            <p:nvPr/>
          </p:nvGrpSpPr>
          <p:grpSpPr bwMode="auto">
            <a:xfrm>
              <a:off x="1247" y="1525"/>
              <a:ext cx="136" cy="436"/>
              <a:chOff x="431" y="1525"/>
              <a:chExt cx="136" cy="436"/>
            </a:xfrm>
          </p:grpSpPr>
          <p:sp>
            <p:nvSpPr>
              <p:cNvPr id="20689" name="Oval 20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90" name="Line 21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91" name="Line 21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92" name="Group 212"/>
            <p:cNvGrpSpPr>
              <a:grpSpLocks/>
            </p:cNvGrpSpPr>
            <p:nvPr/>
          </p:nvGrpSpPr>
          <p:grpSpPr bwMode="auto">
            <a:xfrm>
              <a:off x="1383" y="1525"/>
              <a:ext cx="136" cy="436"/>
              <a:chOff x="431" y="1525"/>
              <a:chExt cx="136" cy="436"/>
            </a:xfrm>
          </p:grpSpPr>
          <p:sp>
            <p:nvSpPr>
              <p:cNvPr id="20693" name="Oval 21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94" name="Line 21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95" name="Line 21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96" name="Group 216"/>
            <p:cNvGrpSpPr>
              <a:grpSpLocks/>
            </p:cNvGrpSpPr>
            <p:nvPr/>
          </p:nvGrpSpPr>
          <p:grpSpPr bwMode="auto">
            <a:xfrm>
              <a:off x="1519" y="1525"/>
              <a:ext cx="136" cy="436"/>
              <a:chOff x="431" y="1525"/>
              <a:chExt cx="136" cy="436"/>
            </a:xfrm>
          </p:grpSpPr>
          <p:sp>
            <p:nvSpPr>
              <p:cNvPr id="20697" name="Oval 21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98" name="Line 21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99" name="Line 21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00" name="Group 220"/>
            <p:cNvGrpSpPr>
              <a:grpSpLocks/>
            </p:cNvGrpSpPr>
            <p:nvPr/>
          </p:nvGrpSpPr>
          <p:grpSpPr bwMode="auto">
            <a:xfrm>
              <a:off x="1655" y="1525"/>
              <a:ext cx="136" cy="436"/>
              <a:chOff x="431" y="1525"/>
              <a:chExt cx="136" cy="436"/>
            </a:xfrm>
          </p:grpSpPr>
          <p:sp>
            <p:nvSpPr>
              <p:cNvPr id="20701" name="Oval 22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02" name="Line 22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03" name="Line 22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04" name="Group 224"/>
            <p:cNvGrpSpPr>
              <a:grpSpLocks/>
            </p:cNvGrpSpPr>
            <p:nvPr/>
          </p:nvGrpSpPr>
          <p:grpSpPr bwMode="auto">
            <a:xfrm>
              <a:off x="1791" y="1525"/>
              <a:ext cx="136" cy="436"/>
              <a:chOff x="431" y="1525"/>
              <a:chExt cx="136" cy="436"/>
            </a:xfrm>
          </p:grpSpPr>
          <p:sp>
            <p:nvSpPr>
              <p:cNvPr id="20705" name="Oval 22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06" name="Line 22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07" name="Line 22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08" name="Group 228"/>
            <p:cNvGrpSpPr>
              <a:grpSpLocks/>
            </p:cNvGrpSpPr>
            <p:nvPr/>
          </p:nvGrpSpPr>
          <p:grpSpPr bwMode="auto">
            <a:xfrm>
              <a:off x="1927" y="1525"/>
              <a:ext cx="136" cy="436"/>
              <a:chOff x="431" y="1525"/>
              <a:chExt cx="136" cy="436"/>
            </a:xfrm>
          </p:grpSpPr>
          <p:sp>
            <p:nvSpPr>
              <p:cNvPr id="20709" name="Oval 22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10" name="Line 23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11" name="Line 23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12" name="Group 232"/>
            <p:cNvGrpSpPr>
              <a:grpSpLocks/>
            </p:cNvGrpSpPr>
            <p:nvPr/>
          </p:nvGrpSpPr>
          <p:grpSpPr bwMode="auto">
            <a:xfrm>
              <a:off x="2063" y="1525"/>
              <a:ext cx="136" cy="436"/>
              <a:chOff x="431" y="1525"/>
              <a:chExt cx="136" cy="436"/>
            </a:xfrm>
          </p:grpSpPr>
          <p:sp>
            <p:nvSpPr>
              <p:cNvPr id="20713" name="Oval 23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14" name="Line 23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15" name="Line 23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16" name="Group 236"/>
            <p:cNvGrpSpPr>
              <a:grpSpLocks/>
            </p:cNvGrpSpPr>
            <p:nvPr/>
          </p:nvGrpSpPr>
          <p:grpSpPr bwMode="auto">
            <a:xfrm>
              <a:off x="2199" y="1525"/>
              <a:ext cx="136" cy="436"/>
              <a:chOff x="431" y="1525"/>
              <a:chExt cx="136" cy="436"/>
            </a:xfrm>
          </p:grpSpPr>
          <p:sp>
            <p:nvSpPr>
              <p:cNvPr id="20717" name="Oval 23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18" name="Line 23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19" name="Line 23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20" name="Group 240"/>
            <p:cNvGrpSpPr>
              <a:grpSpLocks/>
            </p:cNvGrpSpPr>
            <p:nvPr/>
          </p:nvGrpSpPr>
          <p:grpSpPr bwMode="auto">
            <a:xfrm>
              <a:off x="2335" y="1525"/>
              <a:ext cx="136" cy="436"/>
              <a:chOff x="431" y="1525"/>
              <a:chExt cx="136" cy="436"/>
            </a:xfrm>
          </p:grpSpPr>
          <p:sp>
            <p:nvSpPr>
              <p:cNvPr id="20721" name="Oval 24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22" name="Line 24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23" name="Line 24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grpSp>
        <p:nvGrpSpPr>
          <p:cNvPr id="20724" name="Group 244"/>
          <p:cNvGrpSpPr>
            <a:grpSpLocks/>
          </p:cNvGrpSpPr>
          <p:nvPr/>
        </p:nvGrpSpPr>
        <p:grpSpPr bwMode="auto">
          <a:xfrm>
            <a:off x="4733925" y="3316288"/>
            <a:ext cx="3238500" cy="692150"/>
            <a:chOff x="431" y="1525"/>
            <a:chExt cx="2040" cy="436"/>
          </a:xfrm>
        </p:grpSpPr>
        <p:grpSp>
          <p:nvGrpSpPr>
            <p:cNvPr id="20725" name="Group 245"/>
            <p:cNvGrpSpPr>
              <a:grpSpLocks/>
            </p:cNvGrpSpPr>
            <p:nvPr/>
          </p:nvGrpSpPr>
          <p:grpSpPr bwMode="auto">
            <a:xfrm>
              <a:off x="431" y="1525"/>
              <a:ext cx="136" cy="436"/>
              <a:chOff x="431" y="1525"/>
              <a:chExt cx="136" cy="436"/>
            </a:xfrm>
          </p:grpSpPr>
          <p:sp>
            <p:nvSpPr>
              <p:cNvPr id="20726" name="Oval 24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27" name="Line 24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28" name="Line 24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29" name="Group 249"/>
            <p:cNvGrpSpPr>
              <a:grpSpLocks/>
            </p:cNvGrpSpPr>
            <p:nvPr/>
          </p:nvGrpSpPr>
          <p:grpSpPr bwMode="auto">
            <a:xfrm>
              <a:off x="567" y="1525"/>
              <a:ext cx="136" cy="436"/>
              <a:chOff x="431" y="1525"/>
              <a:chExt cx="136" cy="436"/>
            </a:xfrm>
          </p:grpSpPr>
          <p:sp>
            <p:nvSpPr>
              <p:cNvPr id="20730" name="Oval 25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31" name="Line 25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32" name="Line 25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33" name="Group 253"/>
            <p:cNvGrpSpPr>
              <a:grpSpLocks/>
            </p:cNvGrpSpPr>
            <p:nvPr/>
          </p:nvGrpSpPr>
          <p:grpSpPr bwMode="auto">
            <a:xfrm>
              <a:off x="703" y="1525"/>
              <a:ext cx="136" cy="436"/>
              <a:chOff x="431" y="1525"/>
              <a:chExt cx="136" cy="436"/>
            </a:xfrm>
          </p:grpSpPr>
          <p:sp>
            <p:nvSpPr>
              <p:cNvPr id="20734" name="Oval 25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35" name="Line 25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36" name="Line 25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37" name="Group 257"/>
            <p:cNvGrpSpPr>
              <a:grpSpLocks/>
            </p:cNvGrpSpPr>
            <p:nvPr/>
          </p:nvGrpSpPr>
          <p:grpSpPr bwMode="auto">
            <a:xfrm>
              <a:off x="839" y="1525"/>
              <a:ext cx="136" cy="436"/>
              <a:chOff x="431" y="1525"/>
              <a:chExt cx="136" cy="436"/>
            </a:xfrm>
          </p:grpSpPr>
          <p:sp>
            <p:nvSpPr>
              <p:cNvPr id="20738" name="Oval 25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39" name="Line 25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40" name="Line 26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41" name="Group 261"/>
            <p:cNvGrpSpPr>
              <a:grpSpLocks/>
            </p:cNvGrpSpPr>
            <p:nvPr/>
          </p:nvGrpSpPr>
          <p:grpSpPr bwMode="auto">
            <a:xfrm>
              <a:off x="975" y="1525"/>
              <a:ext cx="136" cy="436"/>
              <a:chOff x="431" y="1525"/>
              <a:chExt cx="136" cy="436"/>
            </a:xfrm>
          </p:grpSpPr>
          <p:sp>
            <p:nvSpPr>
              <p:cNvPr id="20742" name="Oval 26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43" name="Line 26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44" name="Line 26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45" name="Group 265"/>
            <p:cNvGrpSpPr>
              <a:grpSpLocks/>
            </p:cNvGrpSpPr>
            <p:nvPr/>
          </p:nvGrpSpPr>
          <p:grpSpPr bwMode="auto">
            <a:xfrm>
              <a:off x="1111" y="1525"/>
              <a:ext cx="136" cy="436"/>
              <a:chOff x="431" y="1525"/>
              <a:chExt cx="136" cy="436"/>
            </a:xfrm>
          </p:grpSpPr>
          <p:sp>
            <p:nvSpPr>
              <p:cNvPr id="20746" name="Oval 26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47" name="Line 26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48" name="Line 26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49" name="Group 269"/>
            <p:cNvGrpSpPr>
              <a:grpSpLocks/>
            </p:cNvGrpSpPr>
            <p:nvPr/>
          </p:nvGrpSpPr>
          <p:grpSpPr bwMode="auto">
            <a:xfrm>
              <a:off x="1247" y="1525"/>
              <a:ext cx="136" cy="436"/>
              <a:chOff x="431" y="1525"/>
              <a:chExt cx="136" cy="436"/>
            </a:xfrm>
          </p:grpSpPr>
          <p:sp>
            <p:nvSpPr>
              <p:cNvPr id="20750" name="Oval 27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51" name="Line 27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52" name="Line 27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53" name="Group 273"/>
            <p:cNvGrpSpPr>
              <a:grpSpLocks/>
            </p:cNvGrpSpPr>
            <p:nvPr/>
          </p:nvGrpSpPr>
          <p:grpSpPr bwMode="auto">
            <a:xfrm>
              <a:off x="1383" y="1525"/>
              <a:ext cx="136" cy="436"/>
              <a:chOff x="431" y="1525"/>
              <a:chExt cx="136" cy="436"/>
            </a:xfrm>
          </p:grpSpPr>
          <p:sp>
            <p:nvSpPr>
              <p:cNvPr id="20754" name="Oval 27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55" name="Line 27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56" name="Line 27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57" name="Group 277"/>
            <p:cNvGrpSpPr>
              <a:grpSpLocks/>
            </p:cNvGrpSpPr>
            <p:nvPr/>
          </p:nvGrpSpPr>
          <p:grpSpPr bwMode="auto">
            <a:xfrm>
              <a:off x="1519" y="1525"/>
              <a:ext cx="136" cy="436"/>
              <a:chOff x="431" y="1525"/>
              <a:chExt cx="136" cy="436"/>
            </a:xfrm>
          </p:grpSpPr>
          <p:sp>
            <p:nvSpPr>
              <p:cNvPr id="20758" name="Oval 27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59" name="Line 27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60" name="Line 28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61" name="Group 281"/>
            <p:cNvGrpSpPr>
              <a:grpSpLocks/>
            </p:cNvGrpSpPr>
            <p:nvPr/>
          </p:nvGrpSpPr>
          <p:grpSpPr bwMode="auto">
            <a:xfrm>
              <a:off x="1655" y="1525"/>
              <a:ext cx="136" cy="436"/>
              <a:chOff x="431" y="1525"/>
              <a:chExt cx="136" cy="436"/>
            </a:xfrm>
          </p:grpSpPr>
          <p:sp>
            <p:nvSpPr>
              <p:cNvPr id="20762" name="Oval 28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63" name="Line 28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64" name="Line 28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65" name="Group 285"/>
            <p:cNvGrpSpPr>
              <a:grpSpLocks/>
            </p:cNvGrpSpPr>
            <p:nvPr/>
          </p:nvGrpSpPr>
          <p:grpSpPr bwMode="auto">
            <a:xfrm>
              <a:off x="1791" y="1525"/>
              <a:ext cx="136" cy="436"/>
              <a:chOff x="431" y="1525"/>
              <a:chExt cx="136" cy="436"/>
            </a:xfrm>
          </p:grpSpPr>
          <p:sp>
            <p:nvSpPr>
              <p:cNvPr id="20766" name="Oval 28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67" name="Line 28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68" name="Line 28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69" name="Group 289"/>
            <p:cNvGrpSpPr>
              <a:grpSpLocks/>
            </p:cNvGrpSpPr>
            <p:nvPr/>
          </p:nvGrpSpPr>
          <p:grpSpPr bwMode="auto">
            <a:xfrm>
              <a:off x="1927" y="1525"/>
              <a:ext cx="136" cy="436"/>
              <a:chOff x="431" y="1525"/>
              <a:chExt cx="136" cy="436"/>
            </a:xfrm>
          </p:grpSpPr>
          <p:sp>
            <p:nvSpPr>
              <p:cNvPr id="20770" name="Oval 29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71" name="Line 29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72" name="Line 29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73" name="Group 293"/>
            <p:cNvGrpSpPr>
              <a:grpSpLocks/>
            </p:cNvGrpSpPr>
            <p:nvPr/>
          </p:nvGrpSpPr>
          <p:grpSpPr bwMode="auto">
            <a:xfrm>
              <a:off x="2063" y="1525"/>
              <a:ext cx="136" cy="436"/>
              <a:chOff x="431" y="1525"/>
              <a:chExt cx="136" cy="436"/>
            </a:xfrm>
          </p:grpSpPr>
          <p:sp>
            <p:nvSpPr>
              <p:cNvPr id="20774" name="Oval 29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75" name="Line 29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76" name="Line 29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77" name="Group 297"/>
            <p:cNvGrpSpPr>
              <a:grpSpLocks/>
            </p:cNvGrpSpPr>
            <p:nvPr/>
          </p:nvGrpSpPr>
          <p:grpSpPr bwMode="auto">
            <a:xfrm>
              <a:off x="2199" y="1525"/>
              <a:ext cx="136" cy="436"/>
              <a:chOff x="431" y="1525"/>
              <a:chExt cx="136" cy="436"/>
            </a:xfrm>
          </p:grpSpPr>
          <p:sp>
            <p:nvSpPr>
              <p:cNvPr id="20778" name="Oval 29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79" name="Line 29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80" name="Line 30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81" name="Group 301"/>
            <p:cNvGrpSpPr>
              <a:grpSpLocks/>
            </p:cNvGrpSpPr>
            <p:nvPr/>
          </p:nvGrpSpPr>
          <p:grpSpPr bwMode="auto">
            <a:xfrm>
              <a:off x="2335" y="1525"/>
              <a:ext cx="136" cy="436"/>
              <a:chOff x="431" y="1525"/>
              <a:chExt cx="136" cy="436"/>
            </a:xfrm>
          </p:grpSpPr>
          <p:sp>
            <p:nvSpPr>
              <p:cNvPr id="20782" name="Oval 30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83" name="Line 30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84" name="Line 30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grpSp>
        <p:nvGrpSpPr>
          <p:cNvPr id="20839" name="Group 359"/>
          <p:cNvGrpSpPr>
            <a:grpSpLocks/>
          </p:cNvGrpSpPr>
          <p:nvPr/>
        </p:nvGrpSpPr>
        <p:grpSpPr bwMode="auto">
          <a:xfrm>
            <a:off x="8151813" y="3316289"/>
            <a:ext cx="2593975" cy="1412875"/>
            <a:chOff x="4217" y="1706"/>
            <a:chExt cx="1634" cy="890"/>
          </a:xfrm>
        </p:grpSpPr>
        <p:grpSp>
          <p:nvGrpSpPr>
            <p:cNvPr id="20615" name="Group 135"/>
            <p:cNvGrpSpPr>
              <a:grpSpLocks/>
            </p:cNvGrpSpPr>
            <p:nvPr/>
          </p:nvGrpSpPr>
          <p:grpSpPr bwMode="auto">
            <a:xfrm flipV="1">
              <a:off x="4217" y="2160"/>
              <a:ext cx="136" cy="436"/>
              <a:chOff x="431" y="1525"/>
              <a:chExt cx="136" cy="436"/>
            </a:xfrm>
          </p:grpSpPr>
          <p:sp>
            <p:nvSpPr>
              <p:cNvPr id="20616" name="Oval 13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17" name="Line 13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18" name="Line 13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19" name="Group 139"/>
            <p:cNvGrpSpPr>
              <a:grpSpLocks/>
            </p:cNvGrpSpPr>
            <p:nvPr/>
          </p:nvGrpSpPr>
          <p:grpSpPr bwMode="auto">
            <a:xfrm flipV="1">
              <a:off x="4353" y="2160"/>
              <a:ext cx="136" cy="436"/>
              <a:chOff x="431" y="1525"/>
              <a:chExt cx="136" cy="436"/>
            </a:xfrm>
          </p:grpSpPr>
          <p:sp>
            <p:nvSpPr>
              <p:cNvPr id="20620" name="Oval 14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21" name="Line 14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22" name="Line 14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23" name="Group 143"/>
            <p:cNvGrpSpPr>
              <a:grpSpLocks/>
            </p:cNvGrpSpPr>
            <p:nvPr/>
          </p:nvGrpSpPr>
          <p:grpSpPr bwMode="auto">
            <a:xfrm flipV="1">
              <a:off x="4489" y="2160"/>
              <a:ext cx="136" cy="436"/>
              <a:chOff x="431" y="1525"/>
              <a:chExt cx="136" cy="436"/>
            </a:xfrm>
          </p:grpSpPr>
          <p:sp>
            <p:nvSpPr>
              <p:cNvPr id="20624" name="Oval 14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25" name="Line 14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26" name="Line 14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27" name="Group 147"/>
            <p:cNvGrpSpPr>
              <a:grpSpLocks/>
            </p:cNvGrpSpPr>
            <p:nvPr/>
          </p:nvGrpSpPr>
          <p:grpSpPr bwMode="auto">
            <a:xfrm flipV="1">
              <a:off x="4625" y="2160"/>
              <a:ext cx="136" cy="436"/>
              <a:chOff x="431" y="1525"/>
              <a:chExt cx="136" cy="436"/>
            </a:xfrm>
          </p:grpSpPr>
          <p:sp>
            <p:nvSpPr>
              <p:cNvPr id="20628" name="Oval 14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29" name="Line 14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30" name="Line 15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31" name="Group 151"/>
            <p:cNvGrpSpPr>
              <a:grpSpLocks/>
            </p:cNvGrpSpPr>
            <p:nvPr/>
          </p:nvGrpSpPr>
          <p:grpSpPr bwMode="auto">
            <a:xfrm flipV="1">
              <a:off x="4761" y="2160"/>
              <a:ext cx="136" cy="436"/>
              <a:chOff x="431" y="1525"/>
              <a:chExt cx="136" cy="436"/>
            </a:xfrm>
          </p:grpSpPr>
          <p:sp>
            <p:nvSpPr>
              <p:cNvPr id="20632" name="Oval 15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33" name="Line 15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34" name="Line 15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35" name="Group 155"/>
            <p:cNvGrpSpPr>
              <a:grpSpLocks/>
            </p:cNvGrpSpPr>
            <p:nvPr/>
          </p:nvGrpSpPr>
          <p:grpSpPr bwMode="auto">
            <a:xfrm flipV="1">
              <a:off x="4897" y="2160"/>
              <a:ext cx="136" cy="436"/>
              <a:chOff x="431" y="1525"/>
              <a:chExt cx="136" cy="436"/>
            </a:xfrm>
          </p:grpSpPr>
          <p:sp>
            <p:nvSpPr>
              <p:cNvPr id="20636" name="Oval 15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37" name="Line 15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38" name="Line 15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39" name="Group 159"/>
            <p:cNvGrpSpPr>
              <a:grpSpLocks/>
            </p:cNvGrpSpPr>
            <p:nvPr/>
          </p:nvGrpSpPr>
          <p:grpSpPr bwMode="auto">
            <a:xfrm flipV="1">
              <a:off x="5033" y="2160"/>
              <a:ext cx="136" cy="436"/>
              <a:chOff x="431" y="1525"/>
              <a:chExt cx="136" cy="436"/>
            </a:xfrm>
          </p:grpSpPr>
          <p:sp>
            <p:nvSpPr>
              <p:cNvPr id="20640" name="Oval 16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41" name="Line 16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42" name="Line 16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43" name="Group 163"/>
            <p:cNvGrpSpPr>
              <a:grpSpLocks/>
            </p:cNvGrpSpPr>
            <p:nvPr/>
          </p:nvGrpSpPr>
          <p:grpSpPr bwMode="auto">
            <a:xfrm flipV="1">
              <a:off x="5169" y="2160"/>
              <a:ext cx="136" cy="436"/>
              <a:chOff x="431" y="1525"/>
              <a:chExt cx="136" cy="436"/>
            </a:xfrm>
          </p:grpSpPr>
          <p:sp>
            <p:nvSpPr>
              <p:cNvPr id="20644" name="Oval 16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45" name="Line 16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46" name="Line 16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47" name="Group 167"/>
            <p:cNvGrpSpPr>
              <a:grpSpLocks/>
            </p:cNvGrpSpPr>
            <p:nvPr/>
          </p:nvGrpSpPr>
          <p:grpSpPr bwMode="auto">
            <a:xfrm flipV="1">
              <a:off x="5305" y="2160"/>
              <a:ext cx="136" cy="436"/>
              <a:chOff x="431" y="1525"/>
              <a:chExt cx="136" cy="436"/>
            </a:xfrm>
          </p:grpSpPr>
          <p:sp>
            <p:nvSpPr>
              <p:cNvPr id="20648" name="Oval 16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49" name="Line 16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50" name="Line 17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51" name="Group 171"/>
            <p:cNvGrpSpPr>
              <a:grpSpLocks/>
            </p:cNvGrpSpPr>
            <p:nvPr/>
          </p:nvGrpSpPr>
          <p:grpSpPr bwMode="auto">
            <a:xfrm flipV="1">
              <a:off x="5441" y="2160"/>
              <a:ext cx="136" cy="436"/>
              <a:chOff x="431" y="1525"/>
              <a:chExt cx="136" cy="436"/>
            </a:xfrm>
          </p:grpSpPr>
          <p:sp>
            <p:nvSpPr>
              <p:cNvPr id="20652" name="Oval 17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53" name="Line 17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54" name="Line 17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55" name="Group 175"/>
            <p:cNvGrpSpPr>
              <a:grpSpLocks/>
            </p:cNvGrpSpPr>
            <p:nvPr/>
          </p:nvGrpSpPr>
          <p:grpSpPr bwMode="auto">
            <a:xfrm flipV="1">
              <a:off x="5577" y="2160"/>
              <a:ext cx="136" cy="436"/>
              <a:chOff x="431" y="1525"/>
              <a:chExt cx="136" cy="436"/>
            </a:xfrm>
          </p:grpSpPr>
          <p:sp>
            <p:nvSpPr>
              <p:cNvPr id="20656" name="Oval 17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57" name="Line 17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58" name="Line 17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659" name="Group 179"/>
            <p:cNvGrpSpPr>
              <a:grpSpLocks/>
            </p:cNvGrpSpPr>
            <p:nvPr/>
          </p:nvGrpSpPr>
          <p:grpSpPr bwMode="auto">
            <a:xfrm flipV="1">
              <a:off x="5713" y="2160"/>
              <a:ext cx="136" cy="436"/>
              <a:chOff x="431" y="1525"/>
              <a:chExt cx="136" cy="436"/>
            </a:xfrm>
          </p:grpSpPr>
          <p:sp>
            <p:nvSpPr>
              <p:cNvPr id="20660" name="Oval 18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661" name="Line 18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662" name="Line 18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89" name="Group 309"/>
            <p:cNvGrpSpPr>
              <a:grpSpLocks/>
            </p:cNvGrpSpPr>
            <p:nvPr/>
          </p:nvGrpSpPr>
          <p:grpSpPr bwMode="auto">
            <a:xfrm>
              <a:off x="4219" y="1706"/>
              <a:ext cx="136" cy="436"/>
              <a:chOff x="431" y="1525"/>
              <a:chExt cx="136" cy="436"/>
            </a:xfrm>
          </p:grpSpPr>
          <p:sp>
            <p:nvSpPr>
              <p:cNvPr id="20790" name="Oval 31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91" name="Line 31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2" name="Line 31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93" name="Group 313"/>
            <p:cNvGrpSpPr>
              <a:grpSpLocks/>
            </p:cNvGrpSpPr>
            <p:nvPr/>
          </p:nvGrpSpPr>
          <p:grpSpPr bwMode="auto">
            <a:xfrm>
              <a:off x="4355" y="1706"/>
              <a:ext cx="136" cy="436"/>
              <a:chOff x="431" y="1525"/>
              <a:chExt cx="136" cy="436"/>
            </a:xfrm>
          </p:grpSpPr>
          <p:sp>
            <p:nvSpPr>
              <p:cNvPr id="20794" name="Oval 31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95" name="Line 31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796" name="Line 31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797" name="Group 317"/>
            <p:cNvGrpSpPr>
              <a:grpSpLocks/>
            </p:cNvGrpSpPr>
            <p:nvPr/>
          </p:nvGrpSpPr>
          <p:grpSpPr bwMode="auto">
            <a:xfrm>
              <a:off x="4491" y="1706"/>
              <a:ext cx="136" cy="436"/>
              <a:chOff x="431" y="1525"/>
              <a:chExt cx="136" cy="436"/>
            </a:xfrm>
          </p:grpSpPr>
          <p:sp>
            <p:nvSpPr>
              <p:cNvPr id="20798" name="Oval 31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799" name="Line 31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00" name="Line 32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01" name="Group 321"/>
            <p:cNvGrpSpPr>
              <a:grpSpLocks/>
            </p:cNvGrpSpPr>
            <p:nvPr/>
          </p:nvGrpSpPr>
          <p:grpSpPr bwMode="auto">
            <a:xfrm>
              <a:off x="4627" y="1706"/>
              <a:ext cx="136" cy="436"/>
              <a:chOff x="431" y="1525"/>
              <a:chExt cx="136" cy="436"/>
            </a:xfrm>
          </p:grpSpPr>
          <p:sp>
            <p:nvSpPr>
              <p:cNvPr id="20802" name="Oval 32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03" name="Line 32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04" name="Line 32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05" name="Group 325"/>
            <p:cNvGrpSpPr>
              <a:grpSpLocks/>
            </p:cNvGrpSpPr>
            <p:nvPr/>
          </p:nvGrpSpPr>
          <p:grpSpPr bwMode="auto">
            <a:xfrm>
              <a:off x="4763" y="1706"/>
              <a:ext cx="136" cy="436"/>
              <a:chOff x="431" y="1525"/>
              <a:chExt cx="136" cy="436"/>
            </a:xfrm>
          </p:grpSpPr>
          <p:sp>
            <p:nvSpPr>
              <p:cNvPr id="20806" name="Oval 32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07" name="Line 32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08" name="Line 32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09" name="Group 329"/>
            <p:cNvGrpSpPr>
              <a:grpSpLocks/>
            </p:cNvGrpSpPr>
            <p:nvPr/>
          </p:nvGrpSpPr>
          <p:grpSpPr bwMode="auto">
            <a:xfrm>
              <a:off x="4899" y="1706"/>
              <a:ext cx="136" cy="436"/>
              <a:chOff x="431" y="1525"/>
              <a:chExt cx="136" cy="436"/>
            </a:xfrm>
          </p:grpSpPr>
          <p:sp>
            <p:nvSpPr>
              <p:cNvPr id="20810" name="Oval 33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11" name="Line 33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12" name="Line 33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13" name="Group 333"/>
            <p:cNvGrpSpPr>
              <a:grpSpLocks/>
            </p:cNvGrpSpPr>
            <p:nvPr/>
          </p:nvGrpSpPr>
          <p:grpSpPr bwMode="auto">
            <a:xfrm>
              <a:off x="5035" y="1706"/>
              <a:ext cx="136" cy="436"/>
              <a:chOff x="431" y="1525"/>
              <a:chExt cx="136" cy="436"/>
            </a:xfrm>
          </p:grpSpPr>
          <p:sp>
            <p:nvSpPr>
              <p:cNvPr id="20814" name="Oval 33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15" name="Line 33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16" name="Line 33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17" name="Group 337"/>
            <p:cNvGrpSpPr>
              <a:grpSpLocks/>
            </p:cNvGrpSpPr>
            <p:nvPr/>
          </p:nvGrpSpPr>
          <p:grpSpPr bwMode="auto">
            <a:xfrm>
              <a:off x="5171" y="1706"/>
              <a:ext cx="136" cy="436"/>
              <a:chOff x="431" y="1525"/>
              <a:chExt cx="136" cy="436"/>
            </a:xfrm>
          </p:grpSpPr>
          <p:sp>
            <p:nvSpPr>
              <p:cNvPr id="20818" name="Oval 33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19" name="Line 33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20" name="Line 34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21" name="Group 341"/>
            <p:cNvGrpSpPr>
              <a:grpSpLocks/>
            </p:cNvGrpSpPr>
            <p:nvPr/>
          </p:nvGrpSpPr>
          <p:grpSpPr bwMode="auto">
            <a:xfrm>
              <a:off x="5307" y="1706"/>
              <a:ext cx="136" cy="436"/>
              <a:chOff x="431" y="1525"/>
              <a:chExt cx="136" cy="436"/>
            </a:xfrm>
          </p:grpSpPr>
          <p:sp>
            <p:nvSpPr>
              <p:cNvPr id="20822" name="Oval 34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23" name="Line 34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24" name="Line 34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25" name="Group 345"/>
            <p:cNvGrpSpPr>
              <a:grpSpLocks/>
            </p:cNvGrpSpPr>
            <p:nvPr/>
          </p:nvGrpSpPr>
          <p:grpSpPr bwMode="auto">
            <a:xfrm>
              <a:off x="5443" y="1706"/>
              <a:ext cx="136" cy="436"/>
              <a:chOff x="431" y="1525"/>
              <a:chExt cx="136" cy="436"/>
            </a:xfrm>
          </p:grpSpPr>
          <p:sp>
            <p:nvSpPr>
              <p:cNvPr id="20826" name="Oval 34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27" name="Line 34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28" name="Line 34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29" name="Group 349"/>
            <p:cNvGrpSpPr>
              <a:grpSpLocks/>
            </p:cNvGrpSpPr>
            <p:nvPr/>
          </p:nvGrpSpPr>
          <p:grpSpPr bwMode="auto">
            <a:xfrm>
              <a:off x="5579" y="1706"/>
              <a:ext cx="136" cy="436"/>
              <a:chOff x="431" y="1525"/>
              <a:chExt cx="136" cy="436"/>
            </a:xfrm>
          </p:grpSpPr>
          <p:sp>
            <p:nvSpPr>
              <p:cNvPr id="20830" name="Oval 35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31" name="Line 35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32" name="Line 35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20833" name="Group 353"/>
            <p:cNvGrpSpPr>
              <a:grpSpLocks/>
            </p:cNvGrpSpPr>
            <p:nvPr/>
          </p:nvGrpSpPr>
          <p:grpSpPr bwMode="auto">
            <a:xfrm>
              <a:off x="5715" y="1706"/>
              <a:ext cx="136" cy="436"/>
              <a:chOff x="431" y="1525"/>
              <a:chExt cx="136" cy="436"/>
            </a:xfrm>
          </p:grpSpPr>
          <p:sp>
            <p:nvSpPr>
              <p:cNvPr id="20834" name="Oval 35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35" name="Line 35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36" name="Line 35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sp>
        <p:nvSpPr>
          <p:cNvPr id="20840" name="AutoShape 360"/>
          <p:cNvSpPr>
            <a:spLocks noChangeArrowheads="1"/>
          </p:cNvSpPr>
          <p:nvPr/>
        </p:nvSpPr>
        <p:spPr bwMode="auto">
          <a:xfrm>
            <a:off x="7323137" y="2995613"/>
            <a:ext cx="647700" cy="2305050"/>
          </a:xfrm>
          <a:prstGeom prst="roundRect">
            <a:avLst>
              <a:gd name="adj" fmla="val 16667"/>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41" name="AutoShape 361"/>
          <p:cNvSpPr>
            <a:spLocks noChangeArrowheads="1"/>
          </p:cNvSpPr>
          <p:nvPr/>
        </p:nvSpPr>
        <p:spPr bwMode="auto">
          <a:xfrm>
            <a:off x="8110537" y="2995613"/>
            <a:ext cx="647700" cy="2305050"/>
          </a:xfrm>
          <a:prstGeom prst="roundRect">
            <a:avLst>
              <a:gd name="adj" fmla="val 16667"/>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42" name="AutoShape 362"/>
          <p:cNvSpPr>
            <a:spLocks noChangeArrowheads="1"/>
          </p:cNvSpPr>
          <p:nvPr/>
        </p:nvSpPr>
        <p:spPr bwMode="auto">
          <a:xfrm>
            <a:off x="5302251" y="3068639"/>
            <a:ext cx="719137" cy="2376487"/>
          </a:xfrm>
          <a:prstGeom prst="roundRect">
            <a:avLst>
              <a:gd name="adj" fmla="val 16667"/>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43" name="AutoShape 363"/>
          <p:cNvSpPr>
            <a:spLocks noChangeArrowheads="1"/>
          </p:cNvSpPr>
          <p:nvPr/>
        </p:nvSpPr>
        <p:spPr bwMode="auto">
          <a:xfrm>
            <a:off x="2752725" y="4733926"/>
            <a:ext cx="793750" cy="792163"/>
          </a:xfrm>
          <a:prstGeom prst="roundRect">
            <a:avLst>
              <a:gd name="adj" fmla="val 16667"/>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44" name="AutoShape 364"/>
          <p:cNvSpPr>
            <a:spLocks noChangeArrowheads="1"/>
          </p:cNvSpPr>
          <p:nvPr/>
        </p:nvSpPr>
        <p:spPr bwMode="auto">
          <a:xfrm>
            <a:off x="1817687" y="2994026"/>
            <a:ext cx="935038" cy="1223963"/>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45" name="AutoShape 365"/>
          <p:cNvSpPr>
            <a:spLocks noChangeArrowheads="1"/>
          </p:cNvSpPr>
          <p:nvPr/>
        </p:nvSpPr>
        <p:spPr bwMode="auto">
          <a:xfrm>
            <a:off x="4365626" y="4365626"/>
            <a:ext cx="935037" cy="1008063"/>
          </a:xfrm>
          <a:prstGeom prst="octagon">
            <a:avLst>
              <a:gd name="adj" fmla="val 29287"/>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57" name="Text Box 377"/>
          <p:cNvSpPr txBox="1">
            <a:spLocks noChangeArrowheads="1"/>
          </p:cNvSpPr>
          <p:nvPr/>
        </p:nvSpPr>
        <p:spPr bwMode="auto">
          <a:xfrm>
            <a:off x="2781301" y="2397125"/>
            <a:ext cx="17363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t>glycoprotein</a:t>
            </a:r>
          </a:p>
        </p:txBody>
      </p:sp>
      <p:sp>
        <p:nvSpPr>
          <p:cNvPr id="20859" name="Text Box 379"/>
          <p:cNvSpPr txBox="1">
            <a:spLocks noChangeArrowheads="1"/>
          </p:cNvSpPr>
          <p:nvPr/>
        </p:nvSpPr>
        <p:spPr bwMode="auto">
          <a:xfrm>
            <a:off x="1701800" y="1244600"/>
            <a:ext cx="25651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t>carbohydrate chain</a:t>
            </a:r>
          </a:p>
        </p:txBody>
      </p:sp>
      <p:sp>
        <p:nvSpPr>
          <p:cNvPr id="20861" name="Text Box 381"/>
          <p:cNvSpPr txBox="1">
            <a:spLocks noChangeArrowheads="1"/>
          </p:cNvSpPr>
          <p:nvPr/>
        </p:nvSpPr>
        <p:spPr bwMode="auto">
          <a:xfrm>
            <a:off x="5832476" y="5553075"/>
            <a:ext cx="21114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t>integral protein</a:t>
            </a:r>
          </a:p>
        </p:txBody>
      </p:sp>
      <p:sp>
        <p:nvSpPr>
          <p:cNvPr id="20862" name="Line 382"/>
          <p:cNvSpPr>
            <a:spLocks noChangeShapeType="1"/>
          </p:cNvSpPr>
          <p:nvPr/>
        </p:nvSpPr>
        <p:spPr bwMode="auto">
          <a:xfrm flipH="1" flipV="1">
            <a:off x="5662612" y="5013326"/>
            <a:ext cx="763588" cy="5365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64" name="Text Box 384"/>
          <p:cNvSpPr txBox="1">
            <a:spLocks noChangeArrowheads="1"/>
          </p:cNvSpPr>
          <p:nvPr/>
        </p:nvSpPr>
        <p:spPr bwMode="auto">
          <a:xfrm>
            <a:off x="1630362" y="5876925"/>
            <a:ext cx="24256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t>peripheral protein</a:t>
            </a:r>
          </a:p>
        </p:txBody>
      </p:sp>
      <p:sp>
        <p:nvSpPr>
          <p:cNvPr id="20865" name="Line 385"/>
          <p:cNvSpPr>
            <a:spLocks noChangeShapeType="1"/>
          </p:cNvSpPr>
          <p:nvPr/>
        </p:nvSpPr>
        <p:spPr bwMode="auto">
          <a:xfrm flipV="1">
            <a:off x="2925763" y="5013325"/>
            <a:ext cx="187325" cy="863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72" name="Text Box 392"/>
          <p:cNvSpPr txBox="1">
            <a:spLocks noChangeArrowheads="1"/>
          </p:cNvSpPr>
          <p:nvPr/>
        </p:nvSpPr>
        <p:spPr bwMode="auto">
          <a:xfrm>
            <a:off x="8261351" y="5683250"/>
            <a:ext cx="19623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t>carrier protein</a:t>
            </a:r>
          </a:p>
        </p:txBody>
      </p:sp>
      <p:grpSp>
        <p:nvGrpSpPr>
          <p:cNvPr id="20885" name="Group 405"/>
          <p:cNvGrpSpPr>
            <a:grpSpLocks/>
          </p:cNvGrpSpPr>
          <p:nvPr/>
        </p:nvGrpSpPr>
        <p:grpSpPr bwMode="auto">
          <a:xfrm>
            <a:off x="1917701" y="1908176"/>
            <a:ext cx="1042987" cy="1084263"/>
            <a:chOff x="2596" y="860"/>
            <a:chExt cx="657" cy="683"/>
          </a:xfrm>
        </p:grpSpPr>
        <p:sp>
          <p:nvSpPr>
            <p:cNvPr id="20878" name="AutoShape 398"/>
            <p:cNvSpPr>
              <a:spLocks noChangeArrowheads="1"/>
            </p:cNvSpPr>
            <p:nvPr/>
          </p:nvSpPr>
          <p:spPr bwMode="auto">
            <a:xfrm>
              <a:off x="2697" y="1407"/>
              <a:ext cx="182" cy="136"/>
            </a:xfrm>
            <a:prstGeom prst="hexagon">
              <a:avLst>
                <a:gd name="adj" fmla="val 33456"/>
                <a:gd name="vf" fmla="val 11547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79" name="AutoShape 399"/>
            <p:cNvSpPr>
              <a:spLocks noChangeArrowheads="1"/>
            </p:cNvSpPr>
            <p:nvPr/>
          </p:nvSpPr>
          <p:spPr bwMode="auto">
            <a:xfrm>
              <a:off x="2788" y="1271"/>
              <a:ext cx="182" cy="136"/>
            </a:xfrm>
            <a:prstGeom prst="hexagon">
              <a:avLst>
                <a:gd name="adj" fmla="val 33456"/>
                <a:gd name="vf" fmla="val 11547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80" name="AutoShape 400"/>
            <p:cNvSpPr>
              <a:spLocks noChangeArrowheads="1"/>
            </p:cNvSpPr>
            <p:nvPr/>
          </p:nvSpPr>
          <p:spPr bwMode="auto">
            <a:xfrm>
              <a:off x="2879" y="1135"/>
              <a:ext cx="182" cy="136"/>
            </a:xfrm>
            <a:prstGeom prst="hexagon">
              <a:avLst>
                <a:gd name="adj" fmla="val 33456"/>
                <a:gd name="vf" fmla="val 11547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81" name="AutoShape 401"/>
            <p:cNvSpPr>
              <a:spLocks noChangeArrowheads="1"/>
            </p:cNvSpPr>
            <p:nvPr/>
          </p:nvSpPr>
          <p:spPr bwMode="auto">
            <a:xfrm>
              <a:off x="2971" y="996"/>
              <a:ext cx="182" cy="136"/>
            </a:xfrm>
            <a:prstGeom prst="hexagon">
              <a:avLst>
                <a:gd name="adj" fmla="val 33456"/>
                <a:gd name="vf" fmla="val 11547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82" name="AutoShape 402"/>
            <p:cNvSpPr>
              <a:spLocks noChangeArrowheads="1"/>
            </p:cNvSpPr>
            <p:nvPr/>
          </p:nvSpPr>
          <p:spPr bwMode="auto">
            <a:xfrm>
              <a:off x="3071" y="860"/>
              <a:ext cx="182" cy="136"/>
            </a:xfrm>
            <a:prstGeom prst="hexagon">
              <a:avLst>
                <a:gd name="adj" fmla="val 33456"/>
                <a:gd name="vf" fmla="val 11547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83" name="AutoShape 403"/>
            <p:cNvSpPr>
              <a:spLocks noChangeArrowheads="1"/>
            </p:cNvSpPr>
            <p:nvPr/>
          </p:nvSpPr>
          <p:spPr bwMode="auto">
            <a:xfrm rot="1840637">
              <a:off x="2747" y="1023"/>
              <a:ext cx="182" cy="136"/>
            </a:xfrm>
            <a:prstGeom prst="hexagon">
              <a:avLst>
                <a:gd name="adj" fmla="val 33456"/>
                <a:gd name="vf" fmla="val 11547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84" name="AutoShape 404"/>
            <p:cNvSpPr>
              <a:spLocks noChangeArrowheads="1"/>
            </p:cNvSpPr>
            <p:nvPr/>
          </p:nvSpPr>
          <p:spPr bwMode="auto">
            <a:xfrm rot="1840637">
              <a:off x="2596" y="923"/>
              <a:ext cx="182" cy="136"/>
            </a:xfrm>
            <a:prstGeom prst="hexagon">
              <a:avLst>
                <a:gd name="adj" fmla="val 33456"/>
                <a:gd name="vf" fmla="val 11547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
        <p:nvSpPr>
          <p:cNvPr id="20886" name="Line 406"/>
          <p:cNvSpPr>
            <a:spLocks noChangeShapeType="1"/>
          </p:cNvSpPr>
          <p:nvPr/>
        </p:nvSpPr>
        <p:spPr bwMode="auto">
          <a:xfrm flipH="1">
            <a:off x="2493963" y="2781300"/>
            <a:ext cx="360363" cy="355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87" name="Line 407"/>
          <p:cNvSpPr>
            <a:spLocks noChangeShapeType="1"/>
          </p:cNvSpPr>
          <p:nvPr/>
        </p:nvSpPr>
        <p:spPr bwMode="auto">
          <a:xfrm flipH="1">
            <a:off x="2854325" y="1628775"/>
            <a:ext cx="144462" cy="355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88" name="Line 408"/>
          <p:cNvSpPr>
            <a:spLocks noChangeShapeType="1"/>
          </p:cNvSpPr>
          <p:nvPr/>
        </p:nvSpPr>
        <p:spPr bwMode="auto">
          <a:xfrm flipH="1" flipV="1">
            <a:off x="8542338" y="4797425"/>
            <a:ext cx="792163" cy="7191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897" name="AutoShape 417"/>
          <p:cNvSpPr>
            <a:spLocks/>
          </p:cNvSpPr>
          <p:nvPr/>
        </p:nvSpPr>
        <p:spPr bwMode="auto">
          <a:xfrm>
            <a:off x="4510087" y="1268414"/>
            <a:ext cx="215900" cy="1944687"/>
          </a:xfrm>
          <a:prstGeom prst="rightBrace">
            <a:avLst>
              <a:gd name="adj1" fmla="val 75061"/>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898" name="Text Box 418"/>
          <p:cNvSpPr txBox="1">
            <a:spLocks noChangeArrowheads="1"/>
          </p:cNvSpPr>
          <p:nvPr/>
        </p:nvSpPr>
        <p:spPr bwMode="auto">
          <a:xfrm>
            <a:off x="4799013" y="1341439"/>
            <a:ext cx="35274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err="1"/>
              <a:t>Glycocalyx</a:t>
            </a:r>
            <a:r>
              <a:rPr lang="en-GB" altLang="en-US" sz="2000" dirty="0"/>
              <a:t>: For cell recognition so cells group together to form tissues</a:t>
            </a:r>
          </a:p>
        </p:txBody>
      </p:sp>
      <p:sp>
        <p:nvSpPr>
          <p:cNvPr id="20899" name="AutoShape 419"/>
          <p:cNvSpPr>
            <a:spLocks noChangeArrowheads="1"/>
          </p:cNvSpPr>
          <p:nvPr/>
        </p:nvSpPr>
        <p:spPr bwMode="auto">
          <a:xfrm>
            <a:off x="9623425" y="2997201"/>
            <a:ext cx="793750" cy="1800225"/>
          </a:xfrm>
          <a:prstGeom prst="roundRect">
            <a:avLst>
              <a:gd name="adj" fmla="val 16667"/>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00" name="Text Box 420"/>
          <p:cNvSpPr txBox="1">
            <a:spLocks noChangeArrowheads="1"/>
          </p:cNvSpPr>
          <p:nvPr/>
        </p:nvSpPr>
        <p:spPr bwMode="auto">
          <a:xfrm>
            <a:off x="8399462" y="1341439"/>
            <a:ext cx="22669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a:t>Receptor: for recognition by hormones</a:t>
            </a:r>
          </a:p>
        </p:txBody>
      </p:sp>
      <p:sp>
        <p:nvSpPr>
          <p:cNvPr id="20901" name="Line 421"/>
          <p:cNvSpPr>
            <a:spLocks noChangeShapeType="1"/>
          </p:cNvSpPr>
          <p:nvPr/>
        </p:nvSpPr>
        <p:spPr bwMode="auto">
          <a:xfrm>
            <a:off x="9550400" y="2349500"/>
            <a:ext cx="431800" cy="863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03" name="Text Box 423"/>
          <p:cNvSpPr txBox="1">
            <a:spLocks noChangeArrowheads="1"/>
          </p:cNvSpPr>
          <p:nvPr/>
        </p:nvSpPr>
        <p:spPr bwMode="auto">
          <a:xfrm>
            <a:off x="4078288" y="5373689"/>
            <a:ext cx="138747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a:t>Enzyme or signalling protein</a:t>
            </a:r>
          </a:p>
        </p:txBody>
      </p:sp>
      <p:sp>
        <p:nvSpPr>
          <p:cNvPr id="20904" name="Line 424"/>
          <p:cNvSpPr>
            <a:spLocks noChangeShapeType="1"/>
          </p:cNvSpPr>
          <p:nvPr/>
        </p:nvSpPr>
        <p:spPr bwMode="auto">
          <a:xfrm flipV="1">
            <a:off x="4510088" y="4941889"/>
            <a:ext cx="360363" cy="5032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05" name="AutoShape 425"/>
          <p:cNvSpPr>
            <a:spLocks noChangeArrowheads="1"/>
          </p:cNvSpPr>
          <p:nvPr/>
        </p:nvSpPr>
        <p:spPr bwMode="auto">
          <a:xfrm>
            <a:off x="6310312" y="2924176"/>
            <a:ext cx="793750" cy="792163"/>
          </a:xfrm>
          <a:prstGeom prst="roundRect">
            <a:avLst>
              <a:gd name="adj" fmla="val 16667"/>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906" name="Line 426"/>
          <p:cNvSpPr>
            <a:spLocks noChangeShapeType="1"/>
          </p:cNvSpPr>
          <p:nvPr/>
        </p:nvSpPr>
        <p:spPr bwMode="auto">
          <a:xfrm flipV="1">
            <a:off x="8039100" y="4868864"/>
            <a:ext cx="0" cy="11525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20907" name="Text Box 427"/>
          <p:cNvSpPr txBox="1">
            <a:spLocks noChangeArrowheads="1"/>
          </p:cNvSpPr>
          <p:nvPr/>
        </p:nvSpPr>
        <p:spPr bwMode="auto">
          <a:xfrm>
            <a:off x="6853237" y="6092825"/>
            <a:ext cx="26212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t>hydrophilic channel</a:t>
            </a:r>
          </a:p>
        </p:txBody>
      </p:sp>
    </p:spTree>
    <p:extLst>
      <p:ext uri="{BB962C8B-B14F-4D97-AF65-F5344CB8AC3E}">
        <p14:creationId xmlns:p14="http://schemas.microsoft.com/office/powerpoint/2010/main" val="4284594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GB" altLang="en-US" smtClean="0"/>
              <a:t>There are different types of carrier proteins in the membrane:</a:t>
            </a:r>
          </a:p>
        </p:txBody>
      </p:sp>
      <p:grpSp>
        <p:nvGrpSpPr>
          <p:cNvPr id="40963" name="Group 365"/>
          <p:cNvGrpSpPr>
            <a:grpSpLocks/>
          </p:cNvGrpSpPr>
          <p:nvPr/>
        </p:nvGrpSpPr>
        <p:grpSpPr bwMode="auto">
          <a:xfrm>
            <a:off x="1468437" y="2133601"/>
            <a:ext cx="9251950" cy="2740025"/>
            <a:chOff x="-34" y="1344"/>
            <a:chExt cx="5828" cy="1726"/>
          </a:xfrm>
        </p:grpSpPr>
        <p:grpSp>
          <p:nvGrpSpPr>
            <p:cNvPr id="40968" name="Group 4"/>
            <p:cNvGrpSpPr>
              <a:grpSpLocks/>
            </p:cNvGrpSpPr>
            <p:nvPr/>
          </p:nvGrpSpPr>
          <p:grpSpPr bwMode="auto">
            <a:xfrm flipV="1">
              <a:off x="-32" y="2378"/>
              <a:ext cx="2040" cy="436"/>
              <a:chOff x="431" y="1525"/>
              <a:chExt cx="2040" cy="436"/>
            </a:xfrm>
          </p:grpSpPr>
          <p:grpSp>
            <p:nvGrpSpPr>
              <p:cNvPr id="41245" name="Group 5"/>
              <p:cNvGrpSpPr>
                <a:grpSpLocks/>
              </p:cNvGrpSpPr>
              <p:nvPr/>
            </p:nvGrpSpPr>
            <p:grpSpPr bwMode="auto">
              <a:xfrm>
                <a:off x="431" y="1525"/>
                <a:ext cx="136" cy="436"/>
                <a:chOff x="431" y="1525"/>
                <a:chExt cx="136" cy="436"/>
              </a:xfrm>
            </p:grpSpPr>
            <p:sp>
              <p:nvSpPr>
                <p:cNvPr id="41302" name="Oval 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303" name="Line 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304" name="Line 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46" name="Group 9"/>
              <p:cNvGrpSpPr>
                <a:grpSpLocks/>
              </p:cNvGrpSpPr>
              <p:nvPr/>
            </p:nvGrpSpPr>
            <p:grpSpPr bwMode="auto">
              <a:xfrm>
                <a:off x="567" y="1525"/>
                <a:ext cx="136" cy="436"/>
                <a:chOff x="431" y="1525"/>
                <a:chExt cx="136" cy="436"/>
              </a:xfrm>
            </p:grpSpPr>
            <p:sp>
              <p:nvSpPr>
                <p:cNvPr id="41299" name="Oval 1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300" name="Line 1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301" name="Line 1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47" name="Group 13"/>
              <p:cNvGrpSpPr>
                <a:grpSpLocks/>
              </p:cNvGrpSpPr>
              <p:nvPr/>
            </p:nvGrpSpPr>
            <p:grpSpPr bwMode="auto">
              <a:xfrm>
                <a:off x="703" y="1525"/>
                <a:ext cx="136" cy="436"/>
                <a:chOff x="431" y="1525"/>
                <a:chExt cx="136" cy="436"/>
              </a:xfrm>
            </p:grpSpPr>
            <p:sp>
              <p:nvSpPr>
                <p:cNvPr id="41296" name="Oval 1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97" name="Line 1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98" name="Line 1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48" name="Group 17"/>
              <p:cNvGrpSpPr>
                <a:grpSpLocks/>
              </p:cNvGrpSpPr>
              <p:nvPr/>
            </p:nvGrpSpPr>
            <p:grpSpPr bwMode="auto">
              <a:xfrm>
                <a:off x="839" y="1525"/>
                <a:ext cx="136" cy="436"/>
                <a:chOff x="431" y="1525"/>
                <a:chExt cx="136" cy="436"/>
              </a:xfrm>
            </p:grpSpPr>
            <p:sp>
              <p:nvSpPr>
                <p:cNvPr id="41293" name="Oval 1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94" name="Line 1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95" name="Line 2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49" name="Group 21"/>
              <p:cNvGrpSpPr>
                <a:grpSpLocks/>
              </p:cNvGrpSpPr>
              <p:nvPr/>
            </p:nvGrpSpPr>
            <p:grpSpPr bwMode="auto">
              <a:xfrm>
                <a:off x="975" y="1525"/>
                <a:ext cx="136" cy="436"/>
                <a:chOff x="431" y="1525"/>
                <a:chExt cx="136" cy="436"/>
              </a:xfrm>
            </p:grpSpPr>
            <p:sp>
              <p:nvSpPr>
                <p:cNvPr id="41290" name="Oval 2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91" name="Line 2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92" name="Line 2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0" name="Group 25"/>
              <p:cNvGrpSpPr>
                <a:grpSpLocks/>
              </p:cNvGrpSpPr>
              <p:nvPr/>
            </p:nvGrpSpPr>
            <p:grpSpPr bwMode="auto">
              <a:xfrm>
                <a:off x="1111" y="1525"/>
                <a:ext cx="136" cy="436"/>
                <a:chOff x="431" y="1525"/>
                <a:chExt cx="136" cy="436"/>
              </a:xfrm>
            </p:grpSpPr>
            <p:sp>
              <p:nvSpPr>
                <p:cNvPr id="41287" name="Oval 2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88" name="Line 2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89" name="Line 2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1" name="Group 29"/>
              <p:cNvGrpSpPr>
                <a:grpSpLocks/>
              </p:cNvGrpSpPr>
              <p:nvPr/>
            </p:nvGrpSpPr>
            <p:grpSpPr bwMode="auto">
              <a:xfrm>
                <a:off x="1247" y="1525"/>
                <a:ext cx="136" cy="436"/>
                <a:chOff x="431" y="1525"/>
                <a:chExt cx="136" cy="436"/>
              </a:xfrm>
            </p:grpSpPr>
            <p:sp>
              <p:nvSpPr>
                <p:cNvPr id="41284" name="Oval 3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85" name="Line 3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86" name="Line 3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2" name="Group 33"/>
              <p:cNvGrpSpPr>
                <a:grpSpLocks/>
              </p:cNvGrpSpPr>
              <p:nvPr/>
            </p:nvGrpSpPr>
            <p:grpSpPr bwMode="auto">
              <a:xfrm>
                <a:off x="1383" y="1525"/>
                <a:ext cx="136" cy="436"/>
                <a:chOff x="431" y="1525"/>
                <a:chExt cx="136" cy="436"/>
              </a:xfrm>
            </p:grpSpPr>
            <p:sp>
              <p:nvSpPr>
                <p:cNvPr id="41281" name="Oval 3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82" name="Line 3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83" name="Line 3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3" name="Group 37"/>
              <p:cNvGrpSpPr>
                <a:grpSpLocks/>
              </p:cNvGrpSpPr>
              <p:nvPr/>
            </p:nvGrpSpPr>
            <p:grpSpPr bwMode="auto">
              <a:xfrm>
                <a:off x="1519" y="1525"/>
                <a:ext cx="136" cy="436"/>
                <a:chOff x="431" y="1525"/>
                <a:chExt cx="136" cy="436"/>
              </a:xfrm>
            </p:grpSpPr>
            <p:sp>
              <p:nvSpPr>
                <p:cNvPr id="41278" name="Oval 3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79" name="Line 3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80" name="Line 4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4" name="Group 41"/>
              <p:cNvGrpSpPr>
                <a:grpSpLocks/>
              </p:cNvGrpSpPr>
              <p:nvPr/>
            </p:nvGrpSpPr>
            <p:grpSpPr bwMode="auto">
              <a:xfrm>
                <a:off x="1655" y="1525"/>
                <a:ext cx="136" cy="436"/>
                <a:chOff x="431" y="1525"/>
                <a:chExt cx="136" cy="436"/>
              </a:xfrm>
            </p:grpSpPr>
            <p:sp>
              <p:nvSpPr>
                <p:cNvPr id="41275" name="Oval 4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76" name="Line 4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77" name="Line 4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5" name="Group 45"/>
              <p:cNvGrpSpPr>
                <a:grpSpLocks/>
              </p:cNvGrpSpPr>
              <p:nvPr/>
            </p:nvGrpSpPr>
            <p:grpSpPr bwMode="auto">
              <a:xfrm>
                <a:off x="1791" y="1525"/>
                <a:ext cx="136" cy="436"/>
                <a:chOff x="431" y="1525"/>
                <a:chExt cx="136" cy="436"/>
              </a:xfrm>
            </p:grpSpPr>
            <p:sp>
              <p:nvSpPr>
                <p:cNvPr id="41272" name="Oval 4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73" name="Line 4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74" name="Line 4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6" name="Group 49"/>
              <p:cNvGrpSpPr>
                <a:grpSpLocks/>
              </p:cNvGrpSpPr>
              <p:nvPr/>
            </p:nvGrpSpPr>
            <p:grpSpPr bwMode="auto">
              <a:xfrm>
                <a:off x="1927" y="1525"/>
                <a:ext cx="136" cy="436"/>
                <a:chOff x="431" y="1525"/>
                <a:chExt cx="136" cy="436"/>
              </a:xfrm>
            </p:grpSpPr>
            <p:sp>
              <p:nvSpPr>
                <p:cNvPr id="41269" name="Oval 5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70" name="Line 5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71" name="Line 5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7" name="Group 53"/>
              <p:cNvGrpSpPr>
                <a:grpSpLocks/>
              </p:cNvGrpSpPr>
              <p:nvPr/>
            </p:nvGrpSpPr>
            <p:grpSpPr bwMode="auto">
              <a:xfrm>
                <a:off x="2063" y="1525"/>
                <a:ext cx="136" cy="436"/>
                <a:chOff x="431" y="1525"/>
                <a:chExt cx="136" cy="436"/>
              </a:xfrm>
            </p:grpSpPr>
            <p:sp>
              <p:nvSpPr>
                <p:cNvPr id="41266" name="Oval 5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67" name="Line 5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68" name="Line 5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8" name="Group 57"/>
              <p:cNvGrpSpPr>
                <a:grpSpLocks/>
              </p:cNvGrpSpPr>
              <p:nvPr/>
            </p:nvGrpSpPr>
            <p:grpSpPr bwMode="auto">
              <a:xfrm>
                <a:off x="2199" y="1525"/>
                <a:ext cx="136" cy="436"/>
                <a:chOff x="431" y="1525"/>
                <a:chExt cx="136" cy="436"/>
              </a:xfrm>
            </p:grpSpPr>
            <p:sp>
              <p:nvSpPr>
                <p:cNvPr id="41263" name="Oval 5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64" name="Line 5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65" name="Line 6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259" name="Group 61"/>
              <p:cNvGrpSpPr>
                <a:grpSpLocks/>
              </p:cNvGrpSpPr>
              <p:nvPr/>
            </p:nvGrpSpPr>
            <p:grpSpPr bwMode="auto">
              <a:xfrm>
                <a:off x="2335" y="1525"/>
                <a:ext cx="136" cy="436"/>
                <a:chOff x="431" y="1525"/>
                <a:chExt cx="136" cy="436"/>
              </a:xfrm>
            </p:grpSpPr>
            <p:sp>
              <p:nvSpPr>
                <p:cNvPr id="41260" name="Oval 6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61" name="Line 6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62" name="Line 6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grpSp>
          <p:nvGrpSpPr>
            <p:cNvPr id="40969" name="Group 66"/>
            <p:cNvGrpSpPr>
              <a:grpSpLocks/>
            </p:cNvGrpSpPr>
            <p:nvPr/>
          </p:nvGrpSpPr>
          <p:grpSpPr bwMode="auto">
            <a:xfrm flipV="1">
              <a:off x="2009" y="2378"/>
              <a:ext cx="136" cy="436"/>
              <a:chOff x="431" y="1525"/>
              <a:chExt cx="136" cy="436"/>
            </a:xfrm>
          </p:grpSpPr>
          <p:sp>
            <p:nvSpPr>
              <p:cNvPr id="41242" name="Oval 6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43" name="Line 6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44" name="Line 6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0" name="Group 70"/>
            <p:cNvGrpSpPr>
              <a:grpSpLocks/>
            </p:cNvGrpSpPr>
            <p:nvPr/>
          </p:nvGrpSpPr>
          <p:grpSpPr bwMode="auto">
            <a:xfrm flipV="1">
              <a:off x="2145" y="2378"/>
              <a:ext cx="136" cy="436"/>
              <a:chOff x="431" y="1525"/>
              <a:chExt cx="136" cy="436"/>
            </a:xfrm>
          </p:grpSpPr>
          <p:sp>
            <p:nvSpPr>
              <p:cNvPr id="41239" name="Oval 7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40" name="Line 7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41" name="Line 7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1" name="Group 74"/>
            <p:cNvGrpSpPr>
              <a:grpSpLocks/>
            </p:cNvGrpSpPr>
            <p:nvPr/>
          </p:nvGrpSpPr>
          <p:grpSpPr bwMode="auto">
            <a:xfrm flipV="1">
              <a:off x="2281" y="2378"/>
              <a:ext cx="136" cy="436"/>
              <a:chOff x="431" y="1525"/>
              <a:chExt cx="136" cy="436"/>
            </a:xfrm>
          </p:grpSpPr>
          <p:sp>
            <p:nvSpPr>
              <p:cNvPr id="41236" name="Oval 7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37" name="Line 7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38" name="Line 7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2" name="Group 78"/>
            <p:cNvGrpSpPr>
              <a:grpSpLocks/>
            </p:cNvGrpSpPr>
            <p:nvPr/>
          </p:nvGrpSpPr>
          <p:grpSpPr bwMode="auto">
            <a:xfrm flipV="1">
              <a:off x="2417" y="2378"/>
              <a:ext cx="136" cy="436"/>
              <a:chOff x="431" y="1525"/>
              <a:chExt cx="136" cy="436"/>
            </a:xfrm>
          </p:grpSpPr>
          <p:sp>
            <p:nvSpPr>
              <p:cNvPr id="41233" name="Oval 7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34" name="Line 8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35" name="Line 8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3" name="Group 82"/>
            <p:cNvGrpSpPr>
              <a:grpSpLocks/>
            </p:cNvGrpSpPr>
            <p:nvPr/>
          </p:nvGrpSpPr>
          <p:grpSpPr bwMode="auto">
            <a:xfrm flipV="1">
              <a:off x="2553" y="2378"/>
              <a:ext cx="136" cy="436"/>
              <a:chOff x="431" y="1525"/>
              <a:chExt cx="136" cy="436"/>
            </a:xfrm>
          </p:grpSpPr>
          <p:sp>
            <p:nvSpPr>
              <p:cNvPr id="41230" name="Oval 8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31" name="Line 8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32" name="Line 8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4" name="Group 86"/>
            <p:cNvGrpSpPr>
              <a:grpSpLocks/>
            </p:cNvGrpSpPr>
            <p:nvPr/>
          </p:nvGrpSpPr>
          <p:grpSpPr bwMode="auto">
            <a:xfrm flipV="1">
              <a:off x="2689" y="2378"/>
              <a:ext cx="136" cy="436"/>
              <a:chOff x="431" y="1525"/>
              <a:chExt cx="136" cy="436"/>
            </a:xfrm>
          </p:grpSpPr>
          <p:sp>
            <p:nvSpPr>
              <p:cNvPr id="41227" name="Oval 8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28" name="Line 8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29" name="Line 8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5" name="Group 90"/>
            <p:cNvGrpSpPr>
              <a:grpSpLocks/>
            </p:cNvGrpSpPr>
            <p:nvPr/>
          </p:nvGrpSpPr>
          <p:grpSpPr bwMode="auto">
            <a:xfrm flipV="1">
              <a:off x="2825" y="2378"/>
              <a:ext cx="136" cy="436"/>
              <a:chOff x="431" y="1525"/>
              <a:chExt cx="136" cy="436"/>
            </a:xfrm>
          </p:grpSpPr>
          <p:sp>
            <p:nvSpPr>
              <p:cNvPr id="41224" name="Oval 9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25" name="Line 9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26" name="Line 9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6" name="Group 94"/>
            <p:cNvGrpSpPr>
              <a:grpSpLocks/>
            </p:cNvGrpSpPr>
            <p:nvPr/>
          </p:nvGrpSpPr>
          <p:grpSpPr bwMode="auto">
            <a:xfrm flipV="1">
              <a:off x="2961" y="2378"/>
              <a:ext cx="136" cy="436"/>
              <a:chOff x="431" y="1525"/>
              <a:chExt cx="136" cy="436"/>
            </a:xfrm>
          </p:grpSpPr>
          <p:sp>
            <p:nvSpPr>
              <p:cNvPr id="41221" name="Oval 9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22" name="Line 9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23" name="Line 9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7" name="Group 98"/>
            <p:cNvGrpSpPr>
              <a:grpSpLocks/>
            </p:cNvGrpSpPr>
            <p:nvPr/>
          </p:nvGrpSpPr>
          <p:grpSpPr bwMode="auto">
            <a:xfrm flipV="1">
              <a:off x="3097" y="2378"/>
              <a:ext cx="136" cy="436"/>
              <a:chOff x="431" y="1525"/>
              <a:chExt cx="136" cy="436"/>
            </a:xfrm>
          </p:grpSpPr>
          <p:sp>
            <p:nvSpPr>
              <p:cNvPr id="41218" name="Oval 9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19" name="Line 10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20" name="Line 10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8" name="Group 102"/>
            <p:cNvGrpSpPr>
              <a:grpSpLocks/>
            </p:cNvGrpSpPr>
            <p:nvPr/>
          </p:nvGrpSpPr>
          <p:grpSpPr bwMode="auto">
            <a:xfrm flipV="1">
              <a:off x="3233" y="2378"/>
              <a:ext cx="136" cy="436"/>
              <a:chOff x="431" y="1525"/>
              <a:chExt cx="136" cy="436"/>
            </a:xfrm>
          </p:grpSpPr>
          <p:sp>
            <p:nvSpPr>
              <p:cNvPr id="41215" name="Oval 10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16" name="Line 10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17" name="Line 10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79" name="Group 106"/>
            <p:cNvGrpSpPr>
              <a:grpSpLocks/>
            </p:cNvGrpSpPr>
            <p:nvPr/>
          </p:nvGrpSpPr>
          <p:grpSpPr bwMode="auto">
            <a:xfrm flipV="1">
              <a:off x="3369" y="2378"/>
              <a:ext cx="136" cy="436"/>
              <a:chOff x="431" y="1525"/>
              <a:chExt cx="136" cy="436"/>
            </a:xfrm>
          </p:grpSpPr>
          <p:sp>
            <p:nvSpPr>
              <p:cNvPr id="41212" name="Oval 10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13" name="Line 10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14" name="Line 10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0" name="Group 110"/>
            <p:cNvGrpSpPr>
              <a:grpSpLocks/>
            </p:cNvGrpSpPr>
            <p:nvPr/>
          </p:nvGrpSpPr>
          <p:grpSpPr bwMode="auto">
            <a:xfrm flipV="1">
              <a:off x="3505" y="2378"/>
              <a:ext cx="136" cy="436"/>
              <a:chOff x="431" y="1525"/>
              <a:chExt cx="136" cy="436"/>
            </a:xfrm>
          </p:grpSpPr>
          <p:sp>
            <p:nvSpPr>
              <p:cNvPr id="41209" name="Oval 11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10" name="Line 11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11" name="Line 11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1" name="Group 114"/>
            <p:cNvGrpSpPr>
              <a:grpSpLocks/>
            </p:cNvGrpSpPr>
            <p:nvPr/>
          </p:nvGrpSpPr>
          <p:grpSpPr bwMode="auto">
            <a:xfrm flipV="1">
              <a:off x="3641" y="2378"/>
              <a:ext cx="136" cy="436"/>
              <a:chOff x="431" y="1525"/>
              <a:chExt cx="136" cy="436"/>
            </a:xfrm>
          </p:grpSpPr>
          <p:sp>
            <p:nvSpPr>
              <p:cNvPr id="41206" name="Oval 11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07" name="Line 11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08" name="Line 11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2" name="Group 126"/>
            <p:cNvGrpSpPr>
              <a:grpSpLocks/>
            </p:cNvGrpSpPr>
            <p:nvPr/>
          </p:nvGrpSpPr>
          <p:grpSpPr bwMode="auto">
            <a:xfrm>
              <a:off x="-34" y="1924"/>
              <a:ext cx="2040" cy="436"/>
              <a:chOff x="431" y="1525"/>
              <a:chExt cx="2040" cy="436"/>
            </a:xfrm>
          </p:grpSpPr>
          <p:grpSp>
            <p:nvGrpSpPr>
              <p:cNvPr id="41146" name="Group 127"/>
              <p:cNvGrpSpPr>
                <a:grpSpLocks/>
              </p:cNvGrpSpPr>
              <p:nvPr/>
            </p:nvGrpSpPr>
            <p:grpSpPr bwMode="auto">
              <a:xfrm>
                <a:off x="431" y="1525"/>
                <a:ext cx="136" cy="436"/>
                <a:chOff x="431" y="1525"/>
                <a:chExt cx="136" cy="436"/>
              </a:xfrm>
            </p:grpSpPr>
            <p:sp>
              <p:nvSpPr>
                <p:cNvPr id="41203" name="Oval 12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04" name="Line 12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05" name="Line 13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47" name="Group 131"/>
              <p:cNvGrpSpPr>
                <a:grpSpLocks/>
              </p:cNvGrpSpPr>
              <p:nvPr/>
            </p:nvGrpSpPr>
            <p:grpSpPr bwMode="auto">
              <a:xfrm>
                <a:off x="567" y="1525"/>
                <a:ext cx="136" cy="436"/>
                <a:chOff x="431" y="1525"/>
                <a:chExt cx="136" cy="436"/>
              </a:xfrm>
            </p:grpSpPr>
            <p:sp>
              <p:nvSpPr>
                <p:cNvPr id="41200" name="Oval 13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201" name="Line 13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202" name="Line 13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48" name="Group 135"/>
              <p:cNvGrpSpPr>
                <a:grpSpLocks/>
              </p:cNvGrpSpPr>
              <p:nvPr/>
            </p:nvGrpSpPr>
            <p:grpSpPr bwMode="auto">
              <a:xfrm>
                <a:off x="703" y="1525"/>
                <a:ext cx="136" cy="436"/>
                <a:chOff x="431" y="1525"/>
                <a:chExt cx="136" cy="436"/>
              </a:xfrm>
            </p:grpSpPr>
            <p:sp>
              <p:nvSpPr>
                <p:cNvPr id="41197" name="Oval 13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98" name="Line 13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99" name="Line 13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49" name="Group 139"/>
              <p:cNvGrpSpPr>
                <a:grpSpLocks/>
              </p:cNvGrpSpPr>
              <p:nvPr/>
            </p:nvGrpSpPr>
            <p:grpSpPr bwMode="auto">
              <a:xfrm>
                <a:off x="839" y="1525"/>
                <a:ext cx="136" cy="436"/>
                <a:chOff x="431" y="1525"/>
                <a:chExt cx="136" cy="436"/>
              </a:xfrm>
            </p:grpSpPr>
            <p:sp>
              <p:nvSpPr>
                <p:cNvPr id="41194" name="Oval 14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95" name="Line 14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96" name="Line 14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0" name="Group 143"/>
              <p:cNvGrpSpPr>
                <a:grpSpLocks/>
              </p:cNvGrpSpPr>
              <p:nvPr/>
            </p:nvGrpSpPr>
            <p:grpSpPr bwMode="auto">
              <a:xfrm>
                <a:off x="975" y="1525"/>
                <a:ext cx="136" cy="436"/>
                <a:chOff x="431" y="1525"/>
                <a:chExt cx="136" cy="436"/>
              </a:xfrm>
            </p:grpSpPr>
            <p:sp>
              <p:nvSpPr>
                <p:cNvPr id="41191" name="Oval 14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92" name="Line 14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93" name="Line 14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1" name="Group 147"/>
              <p:cNvGrpSpPr>
                <a:grpSpLocks/>
              </p:cNvGrpSpPr>
              <p:nvPr/>
            </p:nvGrpSpPr>
            <p:grpSpPr bwMode="auto">
              <a:xfrm>
                <a:off x="1111" y="1525"/>
                <a:ext cx="136" cy="436"/>
                <a:chOff x="431" y="1525"/>
                <a:chExt cx="136" cy="436"/>
              </a:xfrm>
            </p:grpSpPr>
            <p:sp>
              <p:nvSpPr>
                <p:cNvPr id="41188" name="Oval 14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89" name="Line 14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90" name="Line 15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2" name="Group 151"/>
              <p:cNvGrpSpPr>
                <a:grpSpLocks/>
              </p:cNvGrpSpPr>
              <p:nvPr/>
            </p:nvGrpSpPr>
            <p:grpSpPr bwMode="auto">
              <a:xfrm>
                <a:off x="1247" y="1525"/>
                <a:ext cx="136" cy="436"/>
                <a:chOff x="431" y="1525"/>
                <a:chExt cx="136" cy="436"/>
              </a:xfrm>
            </p:grpSpPr>
            <p:sp>
              <p:nvSpPr>
                <p:cNvPr id="41185" name="Oval 15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86" name="Line 15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87" name="Line 15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3" name="Group 155"/>
              <p:cNvGrpSpPr>
                <a:grpSpLocks/>
              </p:cNvGrpSpPr>
              <p:nvPr/>
            </p:nvGrpSpPr>
            <p:grpSpPr bwMode="auto">
              <a:xfrm>
                <a:off x="1383" y="1525"/>
                <a:ext cx="136" cy="436"/>
                <a:chOff x="431" y="1525"/>
                <a:chExt cx="136" cy="436"/>
              </a:xfrm>
            </p:grpSpPr>
            <p:sp>
              <p:nvSpPr>
                <p:cNvPr id="41182" name="Oval 15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83" name="Line 15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84" name="Line 15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4" name="Group 159"/>
              <p:cNvGrpSpPr>
                <a:grpSpLocks/>
              </p:cNvGrpSpPr>
              <p:nvPr/>
            </p:nvGrpSpPr>
            <p:grpSpPr bwMode="auto">
              <a:xfrm>
                <a:off x="1519" y="1525"/>
                <a:ext cx="136" cy="436"/>
                <a:chOff x="431" y="1525"/>
                <a:chExt cx="136" cy="436"/>
              </a:xfrm>
            </p:grpSpPr>
            <p:sp>
              <p:nvSpPr>
                <p:cNvPr id="41179" name="Oval 16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80" name="Line 16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81" name="Line 16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5" name="Group 163"/>
              <p:cNvGrpSpPr>
                <a:grpSpLocks/>
              </p:cNvGrpSpPr>
              <p:nvPr/>
            </p:nvGrpSpPr>
            <p:grpSpPr bwMode="auto">
              <a:xfrm>
                <a:off x="1655" y="1525"/>
                <a:ext cx="136" cy="436"/>
                <a:chOff x="431" y="1525"/>
                <a:chExt cx="136" cy="436"/>
              </a:xfrm>
            </p:grpSpPr>
            <p:sp>
              <p:nvSpPr>
                <p:cNvPr id="41176" name="Oval 16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77" name="Line 16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78" name="Line 16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6" name="Group 167"/>
              <p:cNvGrpSpPr>
                <a:grpSpLocks/>
              </p:cNvGrpSpPr>
              <p:nvPr/>
            </p:nvGrpSpPr>
            <p:grpSpPr bwMode="auto">
              <a:xfrm>
                <a:off x="1791" y="1525"/>
                <a:ext cx="136" cy="436"/>
                <a:chOff x="431" y="1525"/>
                <a:chExt cx="136" cy="436"/>
              </a:xfrm>
            </p:grpSpPr>
            <p:sp>
              <p:nvSpPr>
                <p:cNvPr id="41173" name="Oval 16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74" name="Line 16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75" name="Line 17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7" name="Group 171"/>
              <p:cNvGrpSpPr>
                <a:grpSpLocks/>
              </p:cNvGrpSpPr>
              <p:nvPr/>
            </p:nvGrpSpPr>
            <p:grpSpPr bwMode="auto">
              <a:xfrm>
                <a:off x="1927" y="1525"/>
                <a:ext cx="136" cy="436"/>
                <a:chOff x="431" y="1525"/>
                <a:chExt cx="136" cy="436"/>
              </a:xfrm>
            </p:grpSpPr>
            <p:sp>
              <p:nvSpPr>
                <p:cNvPr id="41170" name="Oval 17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71" name="Line 17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72" name="Line 17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8" name="Group 175"/>
              <p:cNvGrpSpPr>
                <a:grpSpLocks/>
              </p:cNvGrpSpPr>
              <p:nvPr/>
            </p:nvGrpSpPr>
            <p:grpSpPr bwMode="auto">
              <a:xfrm>
                <a:off x="2063" y="1525"/>
                <a:ext cx="136" cy="436"/>
                <a:chOff x="431" y="1525"/>
                <a:chExt cx="136" cy="436"/>
              </a:xfrm>
            </p:grpSpPr>
            <p:sp>
              <p:nvSpPr>
                <p:cNvPr id="41167" name="Oval 17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68" name="Line 17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69" name="Line 17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59" name="Group 179"/>
              <p:cNvGrpSpPr>
                <a:grpSpLocks/>
              </p:cNvGrpSpPr>
              <p:nvPr/>
            </p:nvGrpSpPr>
            <p:grpSpPr bwMode="auto">
              <a:xfrm>
                <a:off x="2199" y="1525"/>
                <a:ext cx="136" cy="436"/>
                <a:chOff x="431" y="1525"/>
                <a:chExt cx="136" cy="436"/>
              </a:xfrm>
            </p:grpSpPr>
            <p:sp>
              <p:nvSpPr>
                <p:cNvPr id="41164" name="Oval 18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65" name="Line 18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66" name="Line 18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160" name="Group 183"/>
              <p:cNvGrpSpPr>
                <a:grpSpLocks/>
              </p:cNvGrpSpPr>
              <p:nvPr/>
            </p:nvGrpSpPr>
            <p:grpSpPr bwMode="auto">
              <a:xfrm>
                <a:off x="2335" y="1525"/>
                <a:ext cx="136" cy="436"/>
                <a:chOff x="431" y="1525"/>
                <a:chExt cx="136" cy="436"/>
              </a:xfrm>
            </p:grpSpPr>
            <p:sp>
              <p:nvSpPr>
                <p:cNvPr id="41161" name="Oval 18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62" name="Line 18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63" name="Line 18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grpSp>
          <p:nvGrpSpPr>
            <p:cNvPr id="40983" name="Group 188"/>
            <p:cNvGrpSpPr>
              <a:grpSpLocks/>
            </p:cNvGrpSpPr>
            <p:nvPr/>
          </p:nvGrpSpPr>
          <p:grpSpPr bwMode="auto">
            <a:xfrm>
              <a:off x="2007" y="1924"/>
              <a:ext cx="136" cy="436"/>
              <a:chOff x="431" y="1525"/>
              <a:chExt cx="136" cy="436"/>
            </a:xfrm>
          </p:grpSpPr>
          <p:sp>
            <p:nvSpPr>
              <p:cNvPr id="41143" name="Oval 18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44" name="Line 19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45" name="Line 19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4" name="Group 192"/>
            <p:cNvGrpSpPr>
              <a:grpSpLocks/>
            </p:cNvGrpSpPr>
            <p:nvPr/>
          </p:nvGrpSpPr>
          <p:grpSpPr bwMode="auto">
            <a:xfrm>
              <a:off x="2143" y="1924"/>
              <a:ext cx="136" cy="436"/>
              <a:chOff x="431" y="1525"/>
              <a:chExt cx="136" cy="436"/>
            </a:xfrm>
          </p:grpSpPr>
          <p:sp>
            <p:nvSpPr>
              <p:cNvPr id="41140" name="Oval 19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41" name="Line 19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42" name="Line 19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5" name="Group 196"/>
            <p:cNvGrpSpPr>
              <a:grpSpLocks/>
            </p:cNvGrpSpPr>
            <p:nvPr/>
          </p:nvGrpSpPr>
          <p:grpSpPr bwMode="auto">
            <a:xfrm>
              <a:off x="2279" y="1924"/>
              <a:ext cx="136" cy="436"/>
              <a:chOff x="431" y="1525"/>
              <a:chExt cx="136" cy="436"/>
            </a:xfrm>
          </p:grpSpPr>
          <p:sp>
            <p:nvSpPr>
              <p:cNvPr id="41137" name="Oval 19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38" name="Line 19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39" name="Line 19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6" name="Group 200"/>
            <p:cNvGrpSpPr>
              <a:grpSpLocks/>
            </p:cNvGrpSpPr>
            <p:nvPr/>
          </p:nvGrpSpPr>
          <p:grpSpPr bwMode="auto">
            <a:xfrm>
              <a:off x="2415" y="1924"/>
              <a:ext cx="136" cy="436"/>
              <a:chOff x="431" y="1525"/>
              <a:chExt cx="136" cy="436"/>
            </a:xfrm>
          </p:grpSpPr>
          <p:sp>
            <p:nvSpPr>
              <p:cNvPr id="41134" name="Oval 20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35" name="Line 20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36" name="Line 20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7" name="Group 204"/>
            <p:cNvGrpSpPr>
              <a:grpSpLocks/>
            </p:cNvGrpSpPr>
            <p:nvPr/>
          </p:nvGrpSpPr>
          <p:grpSpPr bwMode="auto">
            <a:xfrm>
              <a:off x="2551" y="1924"/>
              <a:ext cx="136" cy="436"/>
              <a:chOff x="431" y="1525"/>
              <a:chExt cx="136" cy="436"/>
            </a:xfrm>
          </p:grpSpPr>
          <p:sp>
            <p:nvSpPr>
              <p:cNvPr id="41131" name="Oval 20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32" name="Line 20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33" name="Line 20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8" name="Group 208"/>
            <p:cNvGrpSpPr>
              <a:grpSpLocks/>
            </p:cNvGrpSpPr>
            <p:nvPr/>
          </p:nvGrpSpPr>
          <p:grpSpPr bwMode="auto">
            <a:xfrm>
              <a:off x="2687" y="1924"/>
              <a:ext cx="136" cy="436"/>
              <a:chOff x="431" y="1525"/>
              <a:chExt cx="136" cy="436"/>
            </a:xfrm>
          </p:grpSpPr>
          <p:sp>
            <p:nvSpPr>
              <p:cNvPr id="41128" name="Oval 20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29" name="Line 21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30" name="Line 21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89" name="Group 212"/>
            <p:cNvGrpSpPr>
              <a:grpSpLocks/>
            </p:cNvGrpSpPr>
            <p:nvPr/>
          </p:nvGrpSpPr>
          <p:grpSpPr bwMode="auto">
            <a:xfrm>
              <a:off x="2823" y="1924"/>
              <a:ext cx="136" cy="436"/>
              <a:chOff x="431" y="1525"/>
              <a:chExt cx="136" cy="436"/>
            </a:xfrm>
          </p:grpSpPr>
          <p:sp>
            <p:nvSpPr>
              <p:cNvPr id="41125" name="Oval 21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26" name="Line 21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27" name="Line 21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90" name="Group 216"/>
            <p:cNvGrpSpPr>
              <a:grpSpLocks/>
            </p:cNvGrpSpPr>
            <p:nvPr/>
          </p:nvGrpSpPr>
          <p:grpSpPr bwMode="auto">
            <a:xfrm>
              <a:off x="2959" y="1924"/>
              <a:ext cx="136" cy="436"/>
              <a:chOff x="431" y="1525"/>
              <a:chExt cx="136" cy="436"/>
            </a:xfrm>
          </p:grpSpPr>
          <p:sp>
            <p:nvSpPr>
              <p:cNvPr id="41122" name="Oval 21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23" name="Line 21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24" name="Line 21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91" name="Group 220"/>
            <p:cNvGrpSpPr>
              <a:grpSpLocks/>
            </p:cNvGrpSpPr>
            <p:nvPr/>
          </p:nvGrpSpPr>
          <p:grpSpPr bwMode="auto">
            <a:xfrm>
              <a:off x="3095" y="1924"/>
              <a:ext cx="136" cy="436"/>
              <a:chOff x="431" y="1525"/>
              <a:chExt cx="136" cy="436"/>
            </a:xfrm>
          </p:grpSpPr>
          <p:sp>
            <p:nvSpPr>
              <p:cNvPr id="41119" name="Oval 221"/>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20" name="Line 222"/>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21" name="Line 223"/>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92" name="Group 224"/>
            <p:cNvGrpSpPr>
              <a:grpSpLocks/>
            </p:cNvGrpSpPr>
            <p:nvPr/>
          </p:nvGrpSpPr>
          <p:grpSpPr bwMode="auto">
            <a:xfrm>
              <a:off x="3231" y="1924"/>
              <a:ext cx="136" cy="436"/>
              <a:chOff x="431" y="1525"/>
              <a:chExt cx="136" cy="436"/>
            </a:xfrm>
          </p:grpSpPr>
          <p:sp>
            <p:nvSpPr>
              <p:cNvPr id="41116" name="Oval 225"/>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17" name="Line 226"/>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18" name="Line 227"/>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93" name="Group 228"/>
            <p:cNvGrpSpPr>
              <a:grpSpLocks/>
            </p:cNvGrpSpPr>
            <p:nvPr/>
          </p:nvGrpSpPr>
          <p:grpSpPr bwMode="auto">
            <a:xfrm>
              <a:off x="3367" y="1924"/>
              <a:ext cx="136" cy="436"/>
              <a:chOff x="431" y="1525"/>
              <a:chExt cx="136" cy="436"/>
            </a:xfrm>
          </p:grpSpPr>
          <p:sp>
            <p:nvSpPr>
              <p:cNvPr id="41113" name="Oval 229"/>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14" name="Line 230"/>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15" name="Line 231"/>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94" name="Group 232"/>
            <p:cNvGrpSpPr>
              <a:grpSpLocks/>
            </p:cNvGrpSpPr>
            <p:nvPr/>
          </p:nvGrpSpPr>
          <p:grpSpPr bwMode="auto">
            <a:xfrm>
              <a:off x="3503" y="1924"/>
              <a:ext cx="136" cy="436"/>
              <a:chOff x="431" y="1525"/>
              <a:chExt cx="136" cy="436"/>
            </a:xfrm>
          </p:grpSpPr>
          <p:sp>
            <p:nvSpPr>
              <p:cNvPr id="41110" name="Oval 233"/>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11" name="Line 234"/>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12" name="Line 235"/>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95" name="Group 236"/>
            <p:cNvGrpSpPr>
              <a:grpSpLocks/>
            </p:cNvGrpSpPr>
            <p:nvPr/>
          </p:nvGrpSpPr>
          <p:grpSpPr bwMode="auto">
            <a:xfrm>
              <a:off x="3639" y="1924"/>
              <a:ext cx="136" cy="436"/>
              <a:chOff x="431" y="1525"/>
              <a:chExt cx="136" cy="436"/>
            </a:xfrm>
          </p:grpSpPr>
          <p:sp>
            <p:nvSpPr>
              <p:cNvPr id="41107" name="Oval 237"/>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08" name="Line 238"/>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09" name="Line 239"/>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0996" name="Group 248"/>
            <p:cNvGrpSpPr>
              <a:grpSpLocks/>
            </p:cNvGrpSpPr>
            <p:nvPr/>
          </p:nvGrpSpPr>
          <p:grpSpPr bwMode="auto">
            <a:xfrm>
              <a:off x="4160" y="1924"/>
              <a:ext cx="1634" cy="890"/>
              <a:chOff x="4217" y="1706"/>
              <a:chExt cx="1634" cy="890"/>
            </a:xfrm>
          </p:grpSpPr>
          <p:grpSp>
            <p:nvGrpSpPr>
              <p:cNvPr id="41011" name="Group 249"/>
              <p:cNvGrpSpPr>
                <a:grpSpLocks/>
              </p:cNvGrpSpPr>
              <p:nvPr/>
            </p:nvGrpSpPr>
            <p:grpSpPr bwMode="auto">
              <a:xfrm flipV="1">
                <a:off x="4217" y="2160"/>
                <a:ext cx="136" cy="436"/>
                <a:chOff x="431" y="1525"/>
                <a:chExt cx="136" cy="436"/>
              </a:xfrm>
            </p:grpSpPr>
            <p:sp>
              <p:nvSpPr>
                <p:cNvPr id="41104" name="Oval 25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05" name="Line 25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06" name="Line 25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2" name="Group 253"/>
              <p:cNvGrpSpPr>
                <a:grpSpLocks/>
              </p:cNvGrpSpPr>
              <p:nvPr/>
            </p:nvGrpSpPr>
            <p:grpSpPr bwMode="auto">
              <a:xfrm flipV="1">
                <a:off x="4353" y="2160"/>
                <a:ext cx="136" cy="436"/>
                <a:chOff x="431" y="1525"/>
                <a:chExt cx="136" cy="436"/>
              </a:xfrm>
            </p:grpSpPr>
            <p:sp>
              <p:nvSpPr>
                <p:cNvPr id="41101" name="Oval 25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102" name="Line 25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03" name="Line 25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3" name="Group 257"/>
              <p:cNvGrpSpPr>
                <a:grpSpLocks/>
              </p:cNvGrpSpPr>
              <p:nvPr/>
            </p:nvGrpSpPr>
            <p:grpSpPr bwMode="auto">
              <a:xfrm flipV="1">
                <a:off x="4489" y="2160"/>
                <a:ext cx="136" cy="436"/>
                <a:chOff x="431" y="1525"/>
                <a:chExt cx="136" cy="436"/>
              </a:xfrm>
            </p:grpSpPr>
            <p:sp>
              <p:nvSpPr>
                <p:cNvPr id="41098" name="Oval 25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99" name="Line 25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100" name="Line 26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4" name="Group 261"/>
              <p:cNvGrpSpPr>
                <a:grpSpLocks/>
              </p:cNvGrpSpPr>
              <p:nvPr/>
            </p:nvGrpSpPr>
            <p:grpSpPr bwMode="auto">
              <a:xfrm flipV="1">
                <a:off x="4625" y="2160"/>
                <a:ext cx="136" cy="436"/>
                <a:chOff x="431" y="1525"/>
                <a:chExt cx="136" cy="436"/>
              </a:xfrm>
            </p:grpSpPr>
            <p:sp>
              <p:nvSpPr>
                <p:cNvPr id="41095" name="Oval 26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96" name="Line 26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97" name="Line 26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5" name="Group 265"/>
              <p:cNvGrpSpPr>
                <a:grpSpLocks/>
              </p:cNvGrpSpPr>
              <p:nvPr/>
            </p:nvGrpSpPr>
            <p:grpSpPr bwMode="auto">
              <a:xfrm flipV="1">
                <a:off x="4761" y="2160"/>
                <a:ext cx="136" cy="436"/>
                <a:chOff x="431" y="1525"/>
                <a:chExt cx="136" cy="436"/>
              </a:xfrm>
            </p:grpSpPr>
            <p:sp>
              <p:nvSpPr>
                <p:cNvPr id="41092" name="Oval 26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93" name="Line 26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94" name="Line 26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6" name="Group 269"/>
              <p:cNvGrpSpPr>
                <a:grpSpLocks/>
              </p:cNvGrpSpPr>
              <p:nvPr/>
            </p:nvGrpSpPr>
            <p:grpSpPr bwMode="auto">
              <a:xfrm flipV="1">
                <a:off x="4897" y="2160"/>
                <a:ext cx="136" cy="436"/>
                <a:chOff x="431" y="1525"/>
                <a:chExt cx="136" cy="436"/>
              </a:xfrm>
            </p:grpSpPr>
            <p:sp>
              <p:nvSpPr>
                <p:cNvPr id="41089" name="Oval 27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90" name="Line 27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91" name="Line 27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7" name="Group 273"/>
              <p:cNvGrpSpPr>
                <a:grpSpLocks/>
              </p:cNvGrpSpPr>
              <p:nvPr/>
            </p:nvGrpSpPr>
            <p:grpSpPr bwMode="auto">
              <a:xfrm flipV="1">
                <a:off x="5033" y="2160"/>
                <a:ext cx="136" cy="436"/>
                <a:chOff x="431" y="1525"/>
                <a:chExt cx="136" cy="436"/>
              </a:xfrm>
            </p:grpSpPr>
            <p:sp>
              <p:nvSpPr>
                <p:cNvPr id="41086" name="Oval 27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87" name="Line 27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88" name="Line 27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8" name="Group 277"/>
              <p:cNvGrpSpPr>
                <a:grpSpLocks/>
              </p:cNvGrpSpPr>
              <p:nvPr/>
            </p:nvGrpSpPr>
            <p:grpSpPr bwMode="auto">
              <a:xfrm flipV="1">
                <a:off x="5169" y="2160"/>
                <a:ext cx="136" cy="436"/>
                <a:chOff x="431" y="1525"/>
                <a:chExt cx="136" cy="436"/>
              </a:xfrm>
            </p:grpSpPr>
            <p:sp>
              <p:nvSpPr>
                <p:cNvPr id="41083" name="Oval 27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84" name="Line 27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85" name="Line 28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19" name="Group 281"/>
              <p:cNvGrpSpPr>
                <a:grpSpLocks/>
              </p:cNvGrpSpPr>
              <p:nvPr/>
            </p:nvGrpSpPr>
            <p:grpSpPr bwMode="auto">
              <a:xfrm flipV="1">
                <a:off x="5305" y="2160"/>
                <a:ext cx="136" cy="436"/>
                <a:chOff x="431" y="1525"/>
                <a:chExt cx="136" cy="436"/>
              </a:xfrm>
            </p:grpSpPr>
            <p:sp>
              <p:nvSpPr>
                <p:cNvPr id="41080" name="Oval 28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81" name="Line 28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82" name="Line 28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0" name="Group 285"/>
              <p:cNvGrpSpPr>
                <a:grpSpLocks/>
              </p:cNvGrpSpPr>
              <p:nvPr/>
            </p:nvGrpSpPr>
            <p:grpSpPr bwMode="auto">
              <a:xfrm flipV="1">
                <a:off x="5441" y="2160"/>
                <a:ext cx="136" cy="436"/>
                <a:chOff x="431" y="1525"/>
                <a:chExt cx="136" cy="436"/>
              </a:xfrm>
            </p:grpSpPr>
            <p:sp>
              <p:nvSpPr>
                <p:cNvPr id="41077" name="Oval 28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78" name="Line 28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79" name="Line 28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1" name="Group 289"/>
              <p:cNvGrpSpPr>
                <a:grpSpLocks/>
              </p:cNvGrpSpPr>
              <p:nvPr/>
            </p:nvGrpSpPr>
            <p:grpSpPr bwMode="auto">
              <a:xfrm flipV="1">
                <a:off x="5577" y="2160"/>
                <a:ext cx="136" cy="436"/>
                <a:chOff x="431" y="1525"/>
                <a:chExt cx="136" cy="436"/>
              </a:xfrm>
            </p:grpSpPr>
            <p:sp>
              <p:nvSpPr>
                <p:cNvPr id="41074" name="Oval 29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75" name="Line 29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76" name="Line 29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2" name="Group 293"/>
              <p:cNvGrpSpPr>
                <a:grpSpLocks/>
              </p:cNvGrpSpPr>
              <p:nvPr/>
            </p:nvGrpSpPr>
            <p:grpSpPr bwMode="auto">
              <a:xfrm flipV="1">
                <a:off x="5713" y="2160"/>
                <a:ext cx="136" cy="436"/>
                <a:chOff x="431" y="1525"/>
                <a:chExt cx="136" cy="436"/>
              </a:xfrm>
            </p:grpSpPr>
            <p:sp>
              <p:nvSpPr>
                <p:cNvPr id="41071" name="Oval 29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72" name="Line 29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73" name="Line 29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3" name="Group 297"/>
              <p:cNvGrpSpPr>
                <a:grpSpLocks/>
              </p:cNvGrpSpPr>
              <p:nvPr/>
            </p:nvGrpSpPr>
            <p:grpSpPr bwMode="auto">
              <a:xfrm>
                <a:off x="4219" y="1706"/>
                <a:ext cx="136" cy="436"/>
                <a:chOff x="431" y="1525"/>
                <a:chExt cx="136" cy="436"/>
              </a:xfrm>
            </p:grpSpPr>
            <p:sp>
              <p:nvSpPr>
                <p:cNvPr id="41068" name="Oval 29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69" name="Line 29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70" name="Line 30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4" name="Group 301"/>
              <p:cNvGrpSpPr>
                <a:grpSpLocks/>
              </p:cNvGrpSpPr>
              <p:nvPr/>
            </p:nvGrpSpPr>
            <p:grpSpPr bwMode="auto">
              <a:xfrm>
                <a:off x="4355" y="1706"/>
                <a:ext cx="136" cy="436"/>
                <a:chOff x="431" y="1525"/>
                <a:chExt cx="136" cy="436"/>
              </a:xfrm>
            </p:grpSpPr>
            <p:sp>
              <p:nvSpPr>
                <p:cNvPr id="41065" name="Oval 30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66" name="Line 30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67" name="Line 30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5" name="Group 305"/>
              <p:cNvGrpSpPr>
                <a:grpSpLocks/>
              </p:cNvGrpSpPr>
              <p:nvPr/>
            </p:nvGrpSpPr>
            <p:grpSpPr bwMode="auto">
              <a:xfrm>
                <a:off x="4491" y="1706"/>
                <a:ext cx="136" cy="436"/>
                <a:chOff x="431" y="1525"/>
                <a:chExt cx="136" cy="436"/>
              </a:xfrm>
            </p:grpSpPr>
            <p:sp>
              <p:nvSpPr>
                <p:cNvPr id="41062" name="Oval 30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63" name="Line 30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64" name="Line 30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6" name="Group 309"/>
              <p:cNvGrpSpPr>
                <a:grpSpLocks/>
              </p:cNvGrpSpPr>
              <p:nvPr/>
            </p:nvGrpSpPr>
            <p:grpSpPr bwMode="auto">
              <a:xfrm>
                <a:off x="4627" y="1706"/>
                <a:ext cx="136" cy="436"/>
                <a:chOff x="431" y="1525"/>
                <a:chExt cx="136" cy="436"/>
              </a:xfrm>
            </p:grpSpPr>
            <p:sp>
              <p:nvSpPr>
                <p:cNvPr id="41059" name="Oval 31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60" name="Line 31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61" name="Line 31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7" name="Group 313"/>
              <p:cNvGrpSpPr>
                <a:grpSpLocks/>
              </p:cNvGrpSpPr>
              <p:nvPr/>
            </p:nvGrpSpPr>
            <p:grpSpPr bwMode="auto">
              <a:xfrm>
                <a:off x="4763" y="1706"/>
                <a:ext cx="136" cy="436"/>
                <a:chOff x="431" y="1525"/>
                <a:chExt cx="136" cy="436"/>
              </a:xfrm>
            </p:grpSpPr>
            <p:sp>
              <p:nvSpPr>
                <p:cNvPr id="41056" name="Oval 31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57" name="Line 31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58" name="Line 31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8" name="Group 317"/>
              <p:cNvGrpSpPr>
                <a:grpSpLocks/>
              </p:cNvGrpSpPr>
              <p:nvPr/>
            </p:nvGrpSpPr>
            <p:grpSpPr bwMode="auto">
              <a:xfrm>
                <a:off x="4899" y="1706"/>
                <a:ext cx="136" cy="436"/>
                <a:chOff x="431" y="1525"/>
                <a:chExt cx="136" cy="436"/>
              </a:xfrm>
            </p:grpSpPr>
            <p:sp>
              <p:nvSpPr>
                <p:cNvPr id="41053" name="Oval 31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54" name="Line 31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55" name="Line 32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29" name="Group 321"/>
              <p:cNvGrpSpPr>
                <a:grpSpLocks/>
              </p:cNvGrpSpPr>
              <p:nvPr/>
            </p:nvGrpSpPr>
            <p:grpSpPr bwMode="auto">
              <a:xfrm>
                <a:off x="5035" y="1706"/>
                <a:ext cx="136" cy="436"/>
                <a:chOff x="431" y="1525"/>
                <a:chExt cx="136" cy="436"/>
              </a:xfrm>
            </p:grpSpPr>
            <p:sp>
              <p:nvSpPr>
                <p:cNvPr id="41050" name="Oval 32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51" name="Line 32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52" name="Line 32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30" name="Group 325"/>
              <p:cNvGrpSpPr>
                <a:grpSpLocks/>
              </p:cNvGrpSpPr>
              <p:nvPr/>
            </p:nvGrpSpPr>
            <p:grpSpPr bwMode="auto">
              <a:xfrm>
                <a:off x="5171" y="1706"/>
                <a:ext cx="136" cy="436"/>
                <a:chOff x="431" y="1525"/>
                <a:chExt cx="136" cy="436"/>
              </a:xfrm>
            </p:grpSpPr>
            <p:sp>
              <p:nvSpPr>
                <p:cNvPr id="41047" name="Oval 326"/>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48" name="Line 327"/>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49" name="Line 328"/>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31" name="Group 329"/>
              <p:cNvGrpSpPr>
                <a:grpSpLocks/>
              </p:cNvGrpSpPr>
              <p:nvPr/>
            </p:nvGrpSpPr>
            <p:grpSpPr bwMode="auto">
              <a:xfrm>
                <a:off x="5307" y="1706"/>
                <a:ext cx="136" cy="436"/>
                <a:chOff x="431" y="1525"/>
                <a:chExt cx="136" cy="436"/>
              </a:xfrm>
            </p:grpSpPr>
            <p:sp>
              <p:nvSpPr>
                <p:cNvPr id="41044" name="Oval 330"/>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45" name="Line 331"/>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46" name="Line 332"/>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32" name="Group 333"/>
              <p:cNvGrpSpPr>
                <a:grpSpLocks/>
              </p:cNvGrpSpPr>
              <p:nvPr/>
            </p:nvGrpSpPr>
            <p:grpSpPr bwMode="auto">
              <a:xfrm>
                <a:off x="5443" y="1706"/>
                <a:ext cx="136" cy="436"/>
                <a:chOff x="431" y="1525"/>
                <a:chExt cx="136" cy="436"/>
              </a:xfrm>
            </p:grpSpPr>
            <p:sp>
              <p:nvSpPr>
                <p:cNvPr id="41041" name="Oval 334"/>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42" name="Line 335"/>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43" name="Line 336"/>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33" name="Group 337"/>
              <p:cNvGrpSpPr>
                <a:grpSpLocks/>
              </p:cNvGrpSpPr>
              <p:nvPr/>
            </p:nvGrpSpPr>
            <p:grpSpPr bwMode="auto">
              <a:xfrm>
                <a:off x="5579" y="1706"/>
                <a:ext cx="136" cy="436"/>
                <a:chOff x="431" y="1525"/>
                <a:chExt cx="136" cy="436"/>
              </a:xfrm>
            </p:grpSpPr>
            <p:sp>
              <p:nvSpPr>
                <p:cNvPr id="41038" name="Oval 338"/>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39" name="Line 339"/>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40" name="Line 340"/>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nvGrpSpPr>
              <p:cNvPr id="41034" name="Group 341"/>
              <p:cNvGrpSpPr>
                <a:grpSpLocks/>
              </p:cNvGrpSpPr>
              <p:nvPr/>
            </p:nvGrpSpPr>
            <p:grpSpPr bwMode="auto">
              <a:xfrm>
                <a:off x="5715" y="1706"/>
                <a:ext cx="136" cy="436"/>
                <a:chOff x="431" y="1525"/>
                <a:chExt cx="136" cy="436"/>
              </a:xfrm>
            </p:grpSpPr>
            <p:sp>
              <p:nvSpPr>
                <p:cNvPr id="41035" name="Oval 342"/>
                <p:cNvSpPr>
                  <a:spLocks noChangeArrowheads="1"/>
                </p:cNvSpPr>
                <p:nvPr/>
              </p:nvSpPr>
              <p:spPr bwMode="auto">
                <a:xfrm>
                  <a:off x="431" y="1525"/>
                  <a:ext cx="136" cy="13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36" name="Line 343"/>
                <p:cNvSpPr>
                  <a:spLocks noChangeShapeType="1"/>
                </p:cNvSpPr>
                <p:nvPr/>
              </p:nvSpPr>
              <p:spPr bwMode="auto">
                <a:xfrm>
                  <a:off x="476"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sp>
              <p:nvSpPr>
                <p:cNvPr id="41037" name="Line 344"/>
                <p:cNvSpPr>
                  <a:spLocks noChangeShapeType="1"/>
                </p:cNvSpPr>
                <p:nvPr/>
              </p:nvSpPr>
              <p:spPr bwMode="auto">
                <a:xfrm>
                  <a:off x="522" y="1643"/>
                  <a:ext cx="0" cy="31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en-AU" sz="1800">
                    <a:solidFill>
                      <a:srgbClr val="000000"/>
                    </a:solidFill>
                  </a:endParaRPr>
                </a:p>
              </p:txBody>
            </p:sp>
          </p:grpSp>
        </p:grpSp>
        <p:sp>
          <p:nvSpPr>
            <p:cNvPr id="40997" name="AutoShape 345"/>
            <p:cNvSpPr>
              <a:spLocks noChangeArrowheads="1"/>
            </p:cNvSpPr>
            <p:nvPr/>
          </p:nvSpPr>
          <p:spPr bwMode="auto">
            <a:xfrm>
              <a:off x="3379" y="1516"/>
              <a:ext cx="408" cy="1452"/>
            </a:xfrm>
            <a:prstGeom prst="roundRect">
              <a:avLst>
                <a:gd name="adj" fmla="val 16667"/>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0998" name="AutoShape 346"/>
            <p:cNvSpPr>
              <a:spLocks noChangeArrowheads="1"/>
            </p:cNvSpPr>
            <p:nvPr/>
          </p:nvSpPr>
          <p:spPr bwMode="auto">
            <a:xfrm>
              <a:off x="3923" y="1516"/>
              <a:ext cx="408" cy="1452"/>
            </a:xfrm>
            <a:prstGeom prst="roundRect">
              <a:avLst>
                <a:gd name="adj" fmla="val 16667"/>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0999" name="Oval 351"/>
            <p:cNvSpPr>
              <a:spLocks noChangeArrowheads="1"/>
            </p:cNvSpPr>
            <p:nvPr/>
          </p:nvSpPr>
          <p:spPr bwMode="auto">
            <a:xfrm>
              <a:off x="1927" y="1755"/>
              <a:ext cx="908" cy="907"/>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00" name="AutoShape 347"/>
            <p:cNvSpPr>
              <a:spLocks noChangeArrowheads="1"/>
            </p:cNvSpPr>
            <p:nvPr/>
          </p:nvSpPr>
          <p:spPr bwMode="auto">
            <a:xfrm rot="-1864988">
              <a:off x="1753" y="1736"/>
              <a:ext cx="816" cy="1316"/>
            </a:xfrm>
            <a:prstGeom prst="moon">
              <a:avLst>
                <a:gd name="adj" fmla="val 50000"/>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01" name="AutoShape 348"/>
            <p:cNvSpPr>
              <a:spLocks noChangeArrowheads="1"/>
            </p:cNvSpPr>
            <p:nvPr/>
          </p:nvSpPr>
          <p:spPr bwMode="auto">
            <a:xfrm rot="1551839" flipH="1">
              <a:off x="2252" y="1736"/>
              <a:ext cx="816" cy="1316"/>
            </a:xfrm>
            <a:prstGeom prst="moon">
              <a:avLst>
                <a:gd name="adj" fmla="val 50000"/>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grpSp>
          <p:nvGrpSpPr>
            <p:cNvPr id="41002" name="Group 362"/>
            <p:cNvGrpSpPr>
              <a:grpSpLocks/>
            </p:cNvGrpSpPr>
            <p:nvPr/>
          </p:nvGrpSpPr>
          <p:grpSpPr bwMode="auto">
            <a:xfrm>
              <a:off x="204" y="1362"/>
              <a:ext cx="1179" cy="1273"/>
              <a:chOff x="204" y="1631"/>
              <a:chExt cx="1179" cy="1273"/>
            </a:xfrm>
          </p:grpSpPr>
          <p:sp>
            <p:nvSpPr>
              <p:cNvPr id="41008" name="AutoShape 349"/>
              <p:cNvSpPr>
                <a:spLocks noChangeArrowheads="1"/>
              </p:cNvSpPr>
              <p:nvPr/>
            </p:nvSpPr>
            <p:spPr bwMode="auto">
              <a:xfrm>
                <a:off x="204" y="1908"/>
                <a:ext cx="1179" cy="996"/>
              </a:xfrm>
              <a:prstGeom prst="octagon">
                <a:avLst>
                  <a:gd name="adj" fmla="val 29287"/>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09" name="Oval 350"/>
              <p:cNvSpPr>
                <a:spLocks noChangeArrowheads="1"/>
              </p:cNvSpPr>
              <p:nvPr/>
            </p:nvSpPr>
            <p:spPr bwMode="auto">
              <a:xfrm>
                <a:off x="612" y="1736"/>
                <a:ext cx="363" cy="44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10" name="Rectangle 352"/>
              <p:cNvSpPr>
                <a:spLocks noChangeArrowheads="1"/>
              </p:cNvSpPr>
              <p:nvPr/>
            </p:nvSpPr>
            <p:spPr bwMode="auto">
              <a:xfrm>
                <a:off x="530" y="1631"/>
                <a:ext cx="545" cy="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grpSp>
        <p:sp>
          <p:nvSpPr>
            <p:cNvPr id="41003" name="AutoShape 354"/>
            <p:cNvSpPr>
              <a:spLocks noChangeArrowheads="1"/>
            </p:cNvSpPr>
            <p:nvPr/>
          </p:nvSpPr>
          <p:spPr bwMode="auto">
            <a:xfrm>
              <a:off x="4830" y="1528"/>
              <a:ext cx="318" cy="1452"/>
            </a:xfrm>
            <a:prstGeom prst="roundRect">
              <a:avLst>
                <a:gd name="adj" fmla="val 16667"/>
              </a:avLst>
            </a:prstGeom>
            <a:solidFill>
              <a:srgbClr val="CC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04" name="AutoShape 355"/>
            <p:cNvSpPr>
              <a:spLocks noChangeArrowheads="1"/>
            </p:cNvSpPr>
            <p:nvPr/>
          </p:nvSpPr>
          <p:spPr bwMode="auto">
            <a:xfrm>
              <a:off x="5148" y="1528"/>
              <a:ext cx="318" cy="1452"/>
            </a:xfrm>
            <a:prstGeom prst="roundRect">
              <a:avLst>
                <a:gd name="adj" fmla="val 16667"/>
              </a:avLst>
            </a:prstGeom>
            <a:solidFill>
              <a:srgbClr val="CC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05" name="Oval 356"/>
            <p:cNvSpPr>
              <a:spLocks noChangeArrowheads="1"/>
            </p:cNvSpPr>
            <p:nvPr/>
          </p:nvSpPr>
          <p:spPr bwMode="auto">
            <a:xfrm>
              <a:off x="5012" y="1392"/>
              <a:ext cx="272" cy="4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06" name="Rectangle 357"/>
            <p:cNvSpPr>
              <a:spLocks noChangeArrowheads="1"/>
            </p:cNvSpPr>
            <p:nvPr/>
          </p:nvSpPr>
          <p:spPr bwMode="auto">
            <a:xfrm>
              <a:off x="4830" y="1344"/>
              <a:ext cx="635" cy="1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endParaRPr lang="en-AU" altLang="en-US" sz="1800">
                <a:solidFill>
                  <a:srgbClr val="000000"/>
                </a:solidFill>
              </a:endParaRPr>
            </a:p>
          </p:txBody>
        </p:sp>
        <p:sp>
          <p:nvSpPr>
            <p:cNvPr id="41007" name="Oval 358"/>
            <p:cNvSpPr>
              <a:spLocks noChangeArrowheads="1"/>
            </p:cNvSpPr>
            <p:nvPr/>
          </p:nvSpPr>
          <p:spPr bwMode="auto">
            <a:xfrm>
              <a:off x="4694" y="2844"/>
              <a:ext cx="363" cy="226"/>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fontAlgn="base">
                <a:spcBef>
                  <a:spcPct val="0"/>
                </a:spcBef>
                <a:spcAft>
                  <a:spcPct val="0"/>
                </a:spcAft>
              </a:pPr>
              <a:r>
                <a:rPr lang="en-GB" altLang="en-US" sz="1800">
                  <a:solidFill>
                    <a:srgbClr val="000000"/>
                  </a:solidFill>
                </a:rPr>
                <a:t>ATP</a:t>
              </a:r>
            </a:p>
          </p:txBody>
        </p:sp>
      </p:grpSp>
      <p:sp>
        <p:nvSpPr>
          <p:cNvPr id="40964" name="Text Box 360"/>
          <p:cNvSpPr txBox="1">
            <a:spLocks noChangeArrowheads="1"/>
          </p:cNvSpPr>
          <p:nvPr/>
        </p:nvSpPr>
        <p:spPr bwMode="auto">
          <a:xfrm>
            <a:off x="6815137" y="5516563"/>
            <a:ext cx="1797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r>
              <a:rPr lang="en-GB" altLang="en-US" sz="1800">
                <a:solidFill>
                  <a:srgbClr val="000000"/>
                </a:solidFill>
              </a:rPr>
              <a:t>Channel protein</a:t>
            </a:r>
          </a:p>
        </p:txBody>
      </p:sp>
      <p:sp>
        <p:nvSpPr>
          <p:cNvPr id="40965" name="Text Box 361"/>
          <p:cNvSpPr txBox="1">
            <a:spLocks noChangeArrowheads="1"/>
          </p:cNvSpPr>
          <p:nvPr/>
        </p:nvSpPr>
        <p:spPr bwMode="auto">
          <a:xfrm>
            <a:off x="4149725" y="5516563"/>
            <a:ext cx="2444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r>
              <a:rPr lang="en-GB" altLang="en-US" sz="1800">
                <a:solidFill>
                  <a:srgbClr val="000000"/>
                </a:solidFill>
              </a:rPr>
              <a:t>Gated-channel protein</a:t>
            </a:r>
          </a:p>
        </p:txBody>
      </p:sp>
      <p:sp>
        <p:nvSpPr>
          <p:cNvPr id="40966" name="Text Box 363"/>
          <p:cNvSpPr txBox="1">
            <a:spLocks noChangeArrowheads="1"/>
          </p:cNvSpPr>
          <p:nvPr/>
        </p:nvSpPr>
        <p:spPr bwMode="auto">
          <a:xfrm>
            <a:off x="2027237" y="5516563"/>
            <a:ext cx="1644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r>
              <a:rPr lang="en-GB" altLang="en-US" sz="1800">
                <a:solidFill>
                  <a:srgbClr val="000000"/>
                </a:solidFill>
              </a:rPr>
              <a:t>Carrier protein</a:t>
            </a:r>
          </a:p>
          <a:p>
            <a:pPr defTabSz="914400" fontAlgn="base">
              <a:spcBef>
                <a:spcPct val="0"/>
              </a:spcBef>
              <a:spcAft>
                <a:spcPct val="0"/>
              </a:spcAft>
            </a:pPr>
            <a:r>
              <a:rPr lang="en-GB" altLang="en-US" sz="1800">
                <a:solidFill>
                  <a:srgbClr val="000000"/>
                </a:solidFill>
              </a:rPr>
              <a:t>(passive)</a:t>
            </a:r>
          </a:p>
        </p:txBody>
      </p:sp>
      <p:sp>
        <p:nvSpPr>
          <p:cNvPr id="40967" name="Text Box 364"/>
          <p:cNvSpPr txBox="1">
            <a:spLocks noChangeArrowheads="1"/>
          </p:cNvSpPr>
          <p:nvPr/>
        </p:nvSpPr>
        <p:spPr bwMode="auto">
          <a:xfrm>
            <a:off x="8945562" y="5516563"/>
            <a:ext cx="1644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fontAlgn="base">
              <a:spcBef>
                <a:spcPct val="0"/>
              </a:spcBef>
              <a:spcAft>
                <a:spcPct val="0"/>
              </a:spcAft>
            </a:pPr>
            <a:r>
              <a:rPr lang="en-GB" altLang="en-US" sz="1800">
                <a:solidFill>
                  <a:srgbClr val="000000"/>
                </a:solidFill>
              </a:rPr>
              <a:t>Carrier protein</a:t>
            </a:r>
          </a:p>
          <a:p>
            <a:pPr defTabSz="914400" fontAlgn="base">
              <a:spcBef>
                <a:spcPct val="0"/>
              </a:spcBef>
              <a:spcAft>
                <a:spcPct val="0"/>
              </a:spcAft>
            </a:pPr>
            <a:r>
              <a:rPr lang="en-GB" altLang="en-US" sz="1800">
                <a:solidFill>
                  <a:srgbClr val="000000"/>
                </a:solidFill>
              </a:rPr>
              <a:t>(active)</a:t>
            </a:r>
          </a:p>
        </p:txBody>
      </p:sp>
    </p:spTree>
    <p:extLst>
      <p:ext uri="{BB962C8B-B14F-4D97-AF65-F5344CB8AC3E}">
        <p14:creationId xmlns:p14="http://schemas.microsoft.com/office/powerpoint/2010/main" val="37890987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GB" altLang="en-US" smtClean="0"/>
              <a:t>Summary</a:t>
            </a:r>
          </a:p>
        </p:txBody>
      </p:sp>
      <p:sp>
        <p:nvSpPr>
          <p:cNvPr id="18435" name="Rectangle 3"/>
          <p:cNvSpPr>
            <a:spLocks noGrp="1" noChangeArrowheads="1"/>
          </p:cNvSpPr>
          <p:nvPr>
            <p:ph type="body" idx="1"/>
          </p:nvPr>
        </p:nvSpPr>
        <p:spPr>
          <a:xfrm>
            <a:off x="1522412" y="1557338"/>
            <a:ext cx="9036050" cy="4525962"/>
          </a:xfrm>
        </p:spPr>
        <p:txBody>
          <a:bodyPr/>
          <a:lstStyle/>
          <a:p>
            <a:pPr eaLnBrk="1" hangingPunct="1">
              <a:lnSpc>
                <a:spcPct val="80000"/>
              </a:lnSpc>
              <a:buFontTx/>
              <a:buChar char="•"/>
            </a:pPr>
            <a:r>
              <a:rPr lang="en-GB" altLang="en-US" dirty="0"/>
              <a:t>The unit membrane consists of a phospholipid bilayer</a:t>
            </a:r>
          </a:p>
          <a:p>
            <a:pPr eaLnBrk="1" hangingPunct="1">
              <a:lnSpc>
                <a:spcPct val="80000"/>
              </a:lnSpc>
              <a:buFontTx/>
              <a:buChar char="•"/>
            </a:pPr>
            <a:r>
              <a:rPr lang="en-GB" altLang="en-US" dirty="0"/>
              <a:t>Phospholipids consist of a polar, hydrophilic phosphate head and a non-polar, hydrophobic tail consisting of fatty acid chains.</a:t>
            </a:r>
          </a:p>
          <a:p>
            <a:pPr eaLnBrk="1" hangingPunct="1">
              <a:lnSpc>
                <a:spcPct val="80000"/>
              </a:lnSpc>
              <a:buFontTx/>
              <a:buChar char="•"/>
            </a:pPr>
            <a:r>
              <a:rPr lang="en-GB" altLang="en-US" dirty="0"/>
              <a:t>Proteins also occur in the membrane and float freely throughout it.</a:t>
            </a:r>
          </a:p>
          <a:p>
            <a:pPr eaLnBrk="1" hangingPunct="1">
              <a:lnSpc>
                <a:spcPct val="80000"/>
              </a:lnSpc>
              <a:buFontTx/>
              <a:buChar char="•"/>
            </a:pPr>
            <a:r>
              <a:rPr lang="en-GB" altLang="en-US" dirty="0"/>
              <a:t>The model for membrane structure is known as the </a:t>
            </a:r>
            <a:r>
              <a:rPr lang="en-GB" altLang="en-US" b="1" dirty="0"/>
              <a:t>fluid mosaic model</a:t>
            </a:r>
            <a:r>
              <a:rPr lang="en-GB" altLang="en-US" dirty="0"/>
              <a:t>.</a:t>
            </a:r>
          </a:p>
          <a:p>
            <a:pPr eaLnBrk="1" hangingPunct="1">
              <a:lnSpc>
                <a:spcPct val="80000"/>
              </a:lnSpc>
              <a:buFontTx/>
              <a:buChar char="•"/>
            </a:pPr>
            <a:r>
              <a:rPr lang="en-GB" altLang="en-US" dirty="0"/>
              <a:t>Peripheral proteins occur on the inner or outer face of the membrane and integral proteins extend through both lipid layers.</a:t>
            </a:r>
          </a:p>
          <a:p>
            <a:pPr eaLnBrk="1" hangingPunct="1">
              <a:lnSpc>
                <a:spcPct val="80000"/>
              </a:lnSpc>
              <a:buFontTx/>
              <a:buChar char="•"/>
            </a:pPr>
            <a:r>
              <a:rPr lang="en-GB" altLang="en-US" dirty="0"/>
              <a:t>Membrane bound enzymes occur allowing structured metabolic pathways</a:t>
            </a:r>
            <a:r>
              <a:rPr lang="en-GB" altLang="en-US" dirty="0" smtClean="0"/>
              <a:t>.</a:t>
            </a:r>
            <a:endParaRPr lang="en-GB" altLang="en-US" dirty="0"/>
          </a:p>
        </p:txBody>
      </p:sp>
    </p:spTree>
    <p:extLst>
      <p:ext uri="{BB962C8B-B14F-4D97-AF65-F5344CB8AC3E}">
        <p14:creationId xmlns:p14="http://schemas.microsoft.com/office/powerpoint/2010/main" val="28249593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GB" altLang="en-US" smtClean="0"/>
              <a:t>Summary</a:t>
            </a:r>
          </a:p>
        </p:txBody>
      </p:sp>
      <p:sp>
        <p:nvSpPr>
          <p:cNvPr id="18435" name="Rectangle 3"/>
          <p:cNvSpPr>
            <a:spLocks noGrp="1" noChangeArrowheads="1"/>
          </p:cNvSpPr>
          <p:nvPr>
            <p:ph type="body" idx="1"/>
          </p:nvPr>
        </p:nvSpPr>
        <p:spPr>
          <a:xfrm>
            <a:off x="1522412" y="1557338"/>
            <a:ext cx="9036050" cy="4525962"/>
          </a:xfrm>
        </p:spPr>
        <p:txBody>
          <a:bodyPr/>
          <a:lstStyle/>
          <a:p>
            <a:pPr eaLnBrk="1" hangingPunct="1">
              <a:lnSpc>
                <a:spcPct val="80000"/>
              </a:lnSpc>
              <a:buFontTx/>
              <a:buChar char="•"/>
            </a:pPr>
            <a:r>
              <a:rPr lang="en-GB" altLang="en-US" dirty="0" smtClean="0"/>
              <a:t>Glycoproteins </a:t>
            </a:r>
            <a:r>
              <a:rPr lang="en-GB" altLang="en-US" dirty="0"/>
              <a:t>form the </a:t>
            </a:r>
            <a:r>
              <a:rPr lang="en-GB" altLang="en-US" dirty="0" err="1"/>
              <a:t>glycocalyx</a:t>
            </a:r>
            <a:r>
              <a:rPr lang="en-GB" altLang="en-US" dirty="0"/>
              <a:t> and allow cell to cell recognition.</a:t>
            </a:r>
          </a:p>
          <a:p>
            <a:pPr eaLnBrk="1" hangingPunct="1">
              <a:lnSpc>
                <a:spcPct val="80000"/>
              </a:lnSpc>
              <a:buFontTx/>
              <a:buChar char="•"/>
            </a:pPr>
            <a:r>
              <a:rPr lang="en-GB" altLang="en-US" dirty="0"/>
              <a:t>Receptor proteins can act as binding sites for hormones and other substances and can transmit the information to the interior of the cell.</a:t>
            </a:r>
          </a:p>
          <a:p>
            <a:pPr eaLnBrk="1" hangingPunct="1">
              <a:lnSpc>
                <a:spcPct val="80000"/>
              </a:lnSpc>
              <a:buFontTx/>
              <a:buChar char="•"/>
            </a:pPr>
            <a:r>
              <a:rPr lang="en-GB" altLang="en-US" dirty="0"/>
              <a:t>A variety of carrier proteins allow for the controlled movement of substance through the membrane using both passive diffusion or active transport.</a:t>
            </a:r>
          </a:p>
          <a:p>
            <a:pPr eaLnBrk="1" hangingPunct="1">
              <a:lnSpc>
                <a:spcPct val="80000"/>
              </a:lnSpc>
              <a:buFontTx/>
              <a:buChar char="•"/>
            </a:pPr>
            <a:r>
              <a:rPr lang="en-GB" altLang="en-US" dirty="0"/>
              <a:t>Non-polar, lipid soluble molecules diffuse through the phospholipid bilayer.</a:t>
            </a:r>
          </a:p>
          <a:p>
            <a:pPr eaLnBrk="1" hangingPunct="1">
              <a:lnSpc>
                <a:spcPct val="80000"/>
              </a:lnSpc>
              <a:buFontTx/>
              <a:buChar char="•"/>
            </a:pPr>
            <a:r>
              <a:rPr lang="en-GB" altLang="en-US" dirty="0"/>
              <a:t>Ionic, polar molecules require carrier proteins to enable them to pass through the membrane.</a:t>
            </a:r>
          </a:p>
          <a:p>
            <a:pPr eaLnBrk="1" hangingPunct="1">
              <a:lnSpc>
                <a:spcPct val="80000"/>
              </a:lnSpc>
              <a:buFontTx/>
              <a:buChar char="•"/>
            </a:pPr>
            <a:r>
              <a:rPr lang="en-GB" altLang="en-US" dirty="0"/>
              <a:t>Membrane structure loses integrity with high temperature or presence of organic solvents such as alcohol, thereby increasing permeability.</a:t>
            </a:r>
          </a:p>
          <a:p>
            <a:pPr eaLnBrk="1" hangingPunct="1">
              <a:lnSpc>
                <a:spcPct val="80000"/>
              </a:lnSpc>
              <a:buFontTx/>
              <a:buChar char="•"/>
            </a:pPr>
            <a:endParaRPr lang="en-GB" altLang="en-US" sz="2000" dirty="0"/>
          </a:p>
        </p:txBody>
      </p:sp>
    </p:spTree>
    <p:extLst>
      <p:ext uri="{BB962C8B-B14F-4D97-AF65-F5344CB8AC3E}">
        <p14:creationId xmlns:p14="http://schemas.microsoft.com/office/powerpoint/2010/main" val="1091086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9CC26709-368C-4D72-9060-94E5B3FF3CD6}"/>
    </a:ext>
  </a:extLst>
</a:theme>
</file>

<file path=ppt/theme/theme4.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E82CB02-9625-4F39-9A5B-61405831A8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0</TotalTime>
  <Words>1126</Words>
  <Application>Microsoft Office PowerPoint</Application>
  <PresentationFormat>Custom</PresentationFormat>
  <Paragraphs>148</Paragraphs>
  <Slides>29</Slides>
  <Notes>12</Notes>
  <HiddenSlides>0</HiddenSlides>
  <MMClips>0</MMClips>
  <ScaleCrop>false</ScaleCrop>
  <HeadingPairs>
    <vt:vector size="4" baseType="variant">
      <vt:variant>
        <vt:lpstr>Theme</vt:lpstr>
      </vt:variant>
      <vt:variant>
        <vt:i4>5</vt:i4>
      </vt:variant>
      <vt:variant>
        <vt:lpstr>Slide Titles</vt:lpstr>
      </vt:variant>
      <vt:variant>
        <vt:i4>29</vt:i4>
      </vt:variant>
    </vt:vector>
  </HeadingPairs>
  <TitlesOfParts>
    <vt:vector size="34" baseType="lpstr">
      <vt:lpstr>Default Design</vt:lpstr>
      <vt:lpstr>1_Default Design</vt:lpstr>
      <vt:lpstr>Retrospect</vt:lpstr>
      <vt:lpstr>2_Default Design</vt:lpstr>
      <vt:lpstr>3_Default Design</vt:lpstr>
      <vt:lpstr>The plasma membrane</vt:lpstr>
      <vt:lpstr>Importance</vt:lpstr>
      <vt:lpstr>Internal vs external</vt:lpstr>
      <vt:lpstr>Comparison of the concentration of various ions inside and outside the cell</vt:lpstr>
      <vt:lpstr>Permeability </vt:lpstr>
      <vt:lpstr>lysosomes </vt:lpstr>
      <vt:lpstr>The cell membrane is a fluid mosaic</vt:lpstr>
      <vt:lpstr>Fluid Mosaic model</vt:lpstr>
      <vt:lpstr>The bi-layer</vt:lpstr>
      <vt:lpstr>Phospholipids</vt:lpstr>
      <vt:lpstr>Cholesterol</vt:lpstr>
      <vt:lpstr>PROTIENS</vt:lpstr>
      <vt:lpstr>CARBOHYDRATES</vt:lpstr>
      <vt:lpstr>The fluid mosaic model of the plasma membrane:</vt:lpstr>
      <vt:lpstr>Functions of the cell membrane</vt:lpstr>
      <vt:lpstr>Diffusion through the membrane</vt:lpstr>
      <vt:lpstr>Membrane proteins</vt:lpstr>
      <vt:lpstr>Membrane transport proteins</vt:lpstr>
      <vt:lpstr>Membrane transport</vt:lpstr>
      <vt:lpstr>Simple diffusion (left) &amp; facilitated diffusion</vt:lpstr>
      <vt:lpstr>Active transport (sodium pump)</vt:lpstr>
      <vt:lpstr>Endocytosis</vt:lpstr>
      <vt:lpstr>Exocytosis</vt:lpstr>
      <vt:lpstr>Cell markers and receptors</vt:lpstr>
      <vt:lpstr>Fat-soluble organic molecules can diffuse through the bilayer but polar molecules require proteins</vt:lpstr>
      <vt:lpstr>The membrane contains many types of protein:</vt:lpstr>
      <vt:lpstr>There are different types of carrier proteins in the membrane:</vt:lpstr>
      <vt:lpstr>Summary</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2015-07-17T02:19:07Z</dcterms:created>
  <dcterms:modified xsi:type="dcterms:W3CDTF">2017-07-26T01:58:02Z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TC034605129991</vt:lpwstr>
  </property>
</Properties>
</file>