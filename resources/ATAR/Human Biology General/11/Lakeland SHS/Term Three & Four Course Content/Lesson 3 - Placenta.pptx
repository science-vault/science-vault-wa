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1" r:id="rId4"/>
    <p:sldId id="259" r:id="rId5"/>
    <p:sldId id="260" r:id="rId6"/>
    <p:sldId id="261" r:id="rId7"/>
    <p:sldId id="258" r:id="rId8"/>
    <p:sldId id="262" r:id="rId9"/>
    <p:sldId id="263" r:id="rId10"/>
    <p:sldId id="264" r:id="rId11"/>
    <p:sldId id="265" r:id="rId12"/>
    <p:sldId id="266" r:id="rId13"/>
    <p:sldId id="271" r:id="rId14"/>
    <p:sldId id="270" r:id="rId15"/>
    <p:sldId id="269" r:id="rId16"/>
    <p:sldId id="268" r:id="rId17"/>
    <p:sldId id="267" r:id="rId18"/>
    <p:sldId id="272" r:id="rId19"/>
    <p:sldId id="273" r:id="rId20"/>
    <p:sldId id="274" r:id="rId21"/>
    <p:sldId id="275"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653CA0-85FB-49D5-975B-A4C8D943EA6D}" v="1" dt="2022-07-24T05:13:17.7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8935"/>
    <p:restoredTop sz="94601"/>
  </p:normalViewPr>
  <p:slideViewPr>
    <p:cSldViewPr snapToGrid="0" snapToObjects="1">
      <p:cViewPr varScale="1">
        <p:scale>
          <a:sx n="103" d="100"/>
          <a:sy n="103" d="100"/>
        </p:scale>
        <p:origin x="150"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simeoni" userId="506f25aaf3d2b85d" providerId="LiveId" clId="{89653CA0-85FB-49D5-975B-A4C8D943EA6D}"/>
    <pc:docChg chg="custSel addSld delSld modSld sldOrd">
      <pc:chgData name="michael simeoni" userId="506f25aaf3d2b85d" providerId="LiveId" clId="{89653CA0-85FB-49D5-975B-A4C8D943EA6D}" dt="2022-07-28T13:22:11.214" v="54" actId="27636"/>
      <pc:docMkLst>
        <pc:docMk/>
      </pc:docMkLst>
      <pc:sldChg chg="modSp mod">
        <pc:chgData name="michael simeoni" userId="506f25aaf3d2b85d" providerId="LiveId" clId="{89653CA0-85FB-49D5-975B-A4C8D943EA6D}" dt="2022-07-24T05:40:22.014" v="26" actId="1076"/>
        <pc:sldMkLst>
          <pc:docMk/>
          <pc:sldMk cId="2781805294" sldId="258"/>
        </pc:sldMkLst>
        <pc:spChg chg="mod">
          <ac:chgData name="michael simeoni" userId="506f25aaf3d2b85d" providerId="LiveId" clId="{89653CA0-85FB-49D5-975B-A4C8D943EA6D}" dt="2022-07-24T05:40:19.594" v="25" actId="1076"/>
          <ac:spMkLst>
            <pc:docMk/>
            <pc:sldMk cId="2781805294" sldId="258"/>
            <ac:spMk id="2" creationId="{AD7B512B-E757-B449-B1C4-E372AAF7073A}"/>
          </ac:spMkLst>
        </pc:spChg>
        <pc:spChg chg="mod">
          <ac:chgData name="michael simeoni" userId="506f25aaf3d2b85d" providerId="LiveId" clId="{89653CA0-85FB-49D5-975B-A4C8D943EA6D}" dt="2022-07-24T05:40:22.014" v="26" actId="1076"/>
          <ac:spMkLst>
            <pc:docMk/>
            <pc:sldMk cId="2781805294" sldId="258"/>
            <ac:spMk id="3" creationId="{B4DBDDC5-FC33-1749-9BBF-664E59B87F6B}"/>
          </ac:spMkLst>
        </pc:spChg>
      </pc:sldChg>
      <pc:sldChg chg="modSp mod">
        <pc:chgData name="michael simeoni" userId="506f25aaf3d2b85d" providerId="LiveId" clId="{89653CA0-85FB-49D5-975B-A4C8D943EA6D}" dt="2022-07-28T13:22:11.214" v="54" actId="27636"/>
        <pc:sldMkLst>
          <pc:docMk/>
          <pc:sldMk cId="72237437" sldId="259"/>
        </pc:sldMkLst>
        <pc:spChg chg="mod">
          <ac:chgData name="michael simeoni" userId="506f25aaf3d2b85d" providerId="LiveId" clId="{89653CA0-85FB-49D5-975B-A4C8D943EA6D}" dt="2022-07-28T13:22:11.214" v="54" actId="27636"/>
          <ac:spMkLst>
            <pc:docMk/>
            <pc:sldMk cId="72237437" sldId="259"/>
            <ac:spMk id="3" creationId="{9DA87A17-4455-4546-8FF8-E34D816D3636}"/>
          </ac:spMkLst>
        </pc:spChg>
      </pc:sldChg>
      <pc:sldChg chg="modSp mod ord">
        <pc:chgData name="michael simeoni" userId="506f25aaf3d2b85d" providerId="LiveId" clId="{89653CA0-85FB-49D5-975B-A4C8D943EA6D}" dt="2022-07-24T05:37:55.552" v="22" actId="6549"/>
        <pc:sldMkLst>
          <pc:docMk/>
          <pc:sldMk cId="752935178" sldId="260"/>
        </pc:sldMkLst>
        <pc:spChg chg="mod">
          <ac:chgData name="michael simeoni" userId="506f25aaf3d2b85d" providerId="LiveId" clId="{89653CA0-85FB-49D5-975B-A4C8D943EA6D}" dt="2022-07-24T05:36:41.552" v="17" actId="1076"/>
          <ac:spMkLst>
            <pc:docMk/>
            <pc:sldMk cId="752935178" sldId="260"/>
            <ac:spMk id="2" creationId="{86B3A687-B9F6-B840-AC90-DE6E152FDECC}"/>
          </ac:spMkLst>
        </pc:spChg>
        <pc:spChg chg="mod">
          <ac:chgData name="michael simeoni" userId="506f25aaf3d2b85d" providerId="LiveId" clId="{89653CA0-85FB-49D5-975B-A4C8D943EA6D}" dt="2022-07-24T05:37:55.552" v="22" actId="6549"/>
          <ac:spMkLst>
            <pc:docMk/>
            <pc:sldMk cId="752935178" sldId="260"/>
            <ac:spMk id="3" creationId="{A4F61077-9189-BA4B-A5F2-20D6D1F9988E}"/>
          </ac:spMkLst>
        </pc:spChg>
      </pc:sldChg>
      <pc:sldChg chg="ord">
        <pc:chgData name="michael simeoni" userId="506f25aaf3d2b85d" providerId="LiveId" clId="{89653CA0-85FB-49D5-975B-A4C8D943EA6D}" dt="2022-07-24T05:37:13.512" v="20"/>
        <pc:sldMkLst>
          <pc:docMk/>
          <pc:sldMk cId="415474749" sldId="261"/>
        </pc:sldMkLst>
      </pc:sldChg>
      <pc:sldChg chg="modSp mod">
        <pc:chgData name="michael simeoni" userId="506f25aaf3d2b85d" providerId="LiveId" clId="{89653CA0-85FB-49D5-975B-A4C8D943EA6D}" dt="2022-07-24T05:41:34.187" v="36" actId="1076"/>
        <pc:sldMkLst>
          <pc:docMk/>
          <pc:sldMk cId="3073083812" sldId="262"/>
        </pc:sldMkLst>
        <pc:spChg chg="mod">
          <ac:chgData name="michael simeoni" userId="506f25aaf3d2b85d" providerId="LiveId" clId="{89653CA0-85FB-49D5-975B-A4C8D943EA6D}" dt="2022-07-24T05:41:34.187" v="36" actId="1076"/>
          <ac:spMkLst>
            <pc:docMk/>
            <pc:sldMk cId="3073083812" sldId="262"/>
            <ac:spMk id="2" creationId="{E97359BE-6EB6-5447-8182-30DB74D9B71E}"/>
          </ac:spMkLst>
        </pc:spChg>
        <pc:spChg chg="mod">
          <ac:chgData name="michael simeoni" userId="506f25aaf3d2b85d" providerId="LiveId" clId="{89653CA0-85FB-49D5-975B-A4C8D943EA6D}" dt="2022-07-24T05:41:26.145" v="33" actId="20577"/>
          <ac:spMkLst>
            <pc:docMk/>
            <pc:sldMk cId="3073083812" sldId="262"/>
            <ac:spMk id="3" creationId="{EFEA152C-4B57-B641-A636-81B2EA496FF3}"/>
          </ac:spMkLst>
        </pc:spChg>
      </pc:sldChg>
      <pc:sldChg chg="ord">
        <pc:chgData name="michael simeoni" userId="506f25aaf3d2b85d" providerId="LiveId" clId="{89653CA0-85FB-49D5-975B-A4C8D943EA6D}" dt="2022-07-28T13:17:35.187" v="42"/>
        <pc:sldMkLst>
          <pc:docMk/>
          <pc:sldMk cId="1586259936" sldId="267"/>
        </pc:sldMkLst>
      </pc:sldChg>
      <pc:sldChg chg="ord">
        <pc:chgData name="michael simeoni" userId="506f25aaf3d2b85d" providerId="LiveId" clId="{89653CA0-85FB-49D5-975B-A4C8D943EA6D}" dt="2022-07-24T05:42:49.661" v="40"/>
        <pc:sldMkLst>
          <pc:docMk/>
          <pc:sldMk cId="2681540322" sldId="268"/>
        </pc:sldMkLst>
      </pc:sldChg>
      <pc:sldChg chg="modSp mod">
        <pc:chgData name="michael simeoni" userId="506f25aaf3d2b85d" providerId="LiveId" clId="{89653CA0-85FB-49D5-975B-A4C8D943EA6D}" dt="2022-07-28T13:18:52.511" v="43" actId="14100"/>
        <pc:sldMkLst>
          <pc:docMk/>
          <pc:sldMk cId="1862965706" sldId="272"/>
        </pc:sldMkLst>
        <pc:spChg chg="mod">
          <ac:chgData name="michael simeoni" userId="506f25aaf3d2b85d" providerId="LiveId" clId="{89653CA0-85FB-49D5-975B-A4C8D943EA6D}" dt="2022-07-28T13:18:52.511" v="43" actId="14100"/>
          <ac:spMkLst>
            <pc:docMk/>
            <pc:sldMk cId="1862965706" sldId="272"/>
            <ac:spMk id="3" creationId="{B40B1CDC-807B-5E49-BA9D-320482FE12CF}"/>
          </ac:spMkLst>
        </pc:spChg>
      </pc:sldChg>
      <pc:sldChg chg="modSp mod">
        <pc:chgData name="michael simeoni" userId="506f25aaf3d2b85d" providerId="LiveId" clId="{89653CA0-85FB-49D5-975B-A4C8D943EA6D}" dt="2022-07-28T13:19:04.116" v="44" actId="12"/>
        <pc:sldMkLst>
          <pc:docMk/>
          <pc:sldMk cId="2519437141" sldId="273"/>
        </pc:sldMkLst>
        <pc:spChg chg="mod">
          <ac:chgData name="michael simeoni" userId="506f25aaf3d2b85d" providerId="LiveId" clId="{89653CA0-85FB-49D5-975B-A4C8D943EA6D}" dt="2022-07-28T13:19:04.116" v="44" actId="12"/>
          <ac:spMkLst>
            <pc:docMk/>
            <pc:sldMk cId="2519437141" sldId="273"/>
            <ac:spMk id="3" creationId="{B40B1CDC-807B-5E49-BA9D-320482FE12CF}"/>
          </ac:spMkLst>
        </pc:spChg>
      </pc:sldChg>
      <pc:sldChg chg="modSp mod">
        <pc:chgData name="michael simeoni" userId="506f25aaf3d2b85d" providerId="LiveId" clId="{89653CA0-85FB-49D5-975B-A4C8D943EA6D}" dt="2022-07-28T13:19:11.018" v="45" actId="12"/>
        <pc:sldMkLst>
          <pc:docMk/>
          <pc:sldMk cId="153952894" sldId="274"/>
        </pc:sldMkLst>
        <pc:spChg chg="mod">
          <ac:chgData name="michael simeoni" userId="506f25aaf3d2b85d" providerId="LiveId" clId="{89653CA0-85FB-49D5-975B-A4C8D943EA6D}" dt="2022-07-28T13:19:11.018" v="45" actId="12"/>
          <ac:spMkLst>
            <pc:docMk/>
            <pc:sldMk cId="153952894" sldId="274"/>
            <ac:spMk id="3" creationId="{B40B1CDC-807B-5E49-BA9D-320482FE12CF}"/>
          </ac:spMkLst>
        </pc:spChg>
      </pc:sldChg>
      <pc:sldChg chg="modSp mod">
        <pc:chgData name="michael simeoni" userId="506f25aaf3d2b85d" providerId="LiveId" clId="{89653CA0-85FB-49D5-975B-A4C8D943EA6D}" dt="2022-07-28T13:19:15.926" v="46" actId="12"/>
        <pc:sldMkLst>
          <pc:docMk/>
          <pc:sldMk cId="98183909" sldId="275"/>
        </pc:sldMkLst>
        <pc:spChg chg="mod">
          <ac:chgData name="michael simeoni" userId="506f25aaf3d2b85d" providerId="LiveId" clId="{89653CA0-85FB-49D5-975B-A4C8D943EA6D}" dt="2022-07-28T13:19:15.926" v="46" actId="12"/>
          <ac:spMkLst>
            <pc:docMk/>
            <pc:sldMk cId="98183909" sldId="275"/>
            <ac:spMk id="3" creationId="{B40B1CDC-807B-5E49-BA9D-320482FE12CF}"/>
          </ac:spMkLst>
        </pc:spChg>
      </pc:sldChg>
      <pc:sldChg chg="modSp mod">
        <pc:chgData name="michael simeoni" userId="506f25aaf3d2b85d" providerId="LiveId" clId="{89653CA0-85FB-49D5-975B-A4C8D943EA6D}" dt="2022-07-28T13:19:26.186" v="47" actId="12"/>
        <pc:sldMkLst>
          <pc:docMk/>
          <pc:sldMk cId="1655478167" sldId="276"/>
        </pc:sldMkLst>
        <pc:spChg chg="mod">
          <ac:chgData name="michael simeoni" userId="506f25aaf3d2b85d" providerId="LiveId" clId="{89653CA0-85FB-49D5-975B-A4C8D943EA6D}" dt="2022-07-28T13:19:26.186" v="47" actId="12"/>
          <ac:spMkLst>
            <pc:docMk/>
            <pc:sldMk cId="1655478167" sldId="276"/>
            <ac:spMk id="3" creationId="{B40B1CDC-807B-5E49-BA9D-320482FE12CF}"/>
          </ac:spMkLst>
        </pc:spChg>
      </pc:sldChg>
      <pc:sldChg chg="add del">
        <pc:chgData name="michael simeoni" userId="506f25aaf3d2b85d" providerId="LiveId" clId="{89653CA0-85FB-49D5-975B-A4C8D943EA6D}" dt="2022-07-24T05:35:47.107" v="12" actId="47"/>
        <pc:sldMkLst>
          <pc:docMk/>
          <pc:sldMk cId="0" sldId="280"/>
        </pc:sldMkLst>
      </pc:sldChg>
      <pc:sldChg chg="modSp new mod">
        <pc:chgData name="michael simeoni" userId="506f25aaf3d2b85d" providerId="LiveId" clId="{89653CA0-85FB-49D5-975B-A4C8D943EA6D}" dt="2022-07-24T05:35:39.173" v="11" actId="12"/>
        <pc:sldMkLst>
          <pc:docMk/>
          <pc:sldMk cId="742150645" sldId="281"/>
        </pc:sldMkLst>
        <pc:spChg chg="mod">
          <ac:chgData name="michael simeoni" userId="506f25aaf3d2b85d" providerId="LiveId" clId="{89653CA0-85FB-49D5-975B-A4C8D943EA6D}" dt="2022-07-24T05:35:39.173" v="11" actId="12"/>
          <ac:spMkLst>
            <pc:docMk/>
            <pc:sldMk cId="742150645" sldId="281"/>
            <ac:spMk id="3" creationId="{83942A96-DF0F-F83F-7AA7-96FF17701C7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75D68-41F7-2C4D-A727-F1AFCF8A7DE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5148681-1758-334E-A325-3DDC118592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5CA9ACA-40BD-6342-B4FB-6127D0E639D6}"/>
              </a:ext>
            </a:extLst>
          </p:cNvPr>
          <p:cNvSpPr>
            <a:spLocks noGrp="1"/>
          </p:cNvSpPr>
          <p:nvPr>
            <p:ph type="dt" sz="half" idx="10"/>
          </p:nvPr>
        </p:nvSpPr>
        <p:spPr/>
        <p:txBody>
          <a:bodyPr/>
          <a:lstStyle/>
          <a:p>
            <a:fld id="{4380B9BC-BAA0-6644-A8C2-F3FE50B016E6}" type="datetimeFigureOut">
              <a:rPr lang="en-US" smtClean="0"/>
              <a:t>7/28/2022</a:t>
            </a:fld>
            <a:endParaRPr lang="en-US"/>
          </a:p>
        </p:txBody>
      </p:sp>
      <p:sp>
        <p:nvSpPr>
          <p:cNvPr id="5" name="Footer Placeholder 4">
            <a:extLst>
              <a:ext uri="{FF2B5EF4-FFF2-40B4-BE49-F238E27FC236}">
                <a16:creationId xmlns:a16="http://schemas.microsoft.com/office/drawing/2014/main" id="{CA9D3361-1B15-5241-B792-3F8CEAF3ED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7053D8-06BB-914A-9178-D05C00BE9E3C}"/>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1654429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66863-CAED-6F40-A96B-20CE7A36887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DD7A7DE-F752-8344-ACBB-F736D55CF92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75EDA16-25EA-1044-9441-1879CFA9A51E}"/>
              </a:ext>
            </a:extLst>
          </p:cNvPr>
          <p:cNvSpPr>
            <a:spLocks noGrp="1"/>
          </p:cNvSpPr>
          <p:nvPr>
            <p:ph type="dt" sz="half" idx="10"/>
          </p:nvPr>
        </p:nvSpPr>
        <p:spPr/>
        <p:txBody>
          <a:bodyPr/>
          <a:lstStyle/>
          <a:p>
            <a:fld id="{4380B9BC-BAA0-6644-A8C2-F3FE50B016E6}" type="datetimeFigureOut">
              <a:rPr lang="en-US" smtClean="0"/>
              <a:t>7/28/2022</a:t>
            </a:fld>
            <a:endParaRPr lang="en-US"/>
          </a:p>
        </p:txBody>
      </p:sp>
      <p:sp>
        <p:nvSpPr>
          <p:cNvPr id="5" name="Footer Placeholder 4">
            <a:extLst>
              <a:ext uri="{FF2B5EF4-FFF2-40B4-BE49-F238E27FC236}">
                <a16:creationId xmlns:a16="http://schemas.microsoft.com/office/drawing/2014/main" id="{B875BFDF-CA84-E44A-97C7-3D8A84AA1D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B76ABB-142F-8E4A-BD24-6EABB134568F}"/>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1170625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9DFA4-1EB4-3A4D-A635-778E20DD7B3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48DCF6B-C0F5-3847-A291-E021B14CC9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44985F9-F23D-B54B-B411-815BDC341FC5}"/>
              </a:ext>
            </a:extLst>
          </p:cNvPr>
          <p:cNvSpPr>
            <a:spLocks noGrp="1"/>
          </p:cNvSpPr>
          <p:nvPr>
            <p:ph type="dt" sz="half" idx="10"/>
          </p:nvPr>
        </p:nvSpPr>
        <p:spPr/>
        <p:txBody>
          <a:bodyPr/>
          <a:lstStyle/>
          <a:p>
            <a:fld id="{4380B9BC-BAA0-6644-A8C2-F3FE50B016E6}" type="datetimeFigureOut">
              <a:rPr lang="en-US" smtClean="0"/>
              <a:t>7/28/2022</a:t>
            </a:fld>
            <a:endParaRPr lang="en-US"/>
          </a:p>
        </p:txBody>
      </p:sp>
      <p:sp>
        <p:nvSpPr>
          <p:cNvPr id="5" name="Footer Placeholder 4">
            <a:extLst>
              <a:ext uri="{FF2B5EF4-FFF2-40B4-BE49-F238E27FC236}">
                <a16:creationId xmlns:a16="http://schemas.microsoft.com/office/drawing/2014/main" id="{162C6E0D-E818-1341-9065-690FCA8253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D236C7-F79A-9549-86F7-B2D5BB9732AF}"/>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4284425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4A9-B16C-1F4A-AF5A-399356FD890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A7F0D16-90C6-FB47-8489-E06898D776F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56FF820-46FB-1D4D-B108-DF519ADAEC8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5B90C8A-AAA8-AB46-A574-762738626D94}"/>
              </a:ext>
            </a:extLst>
          </p:cNvPr>
          <p:cNvSpPr>
            <a:spLocks noGrp="1"/>
          </p:cNvSpPr>
          <p:nvPr>
            <p:ph type="dt" sz="half" idx="10"/>
          </p:nvPr>
        </p:nvSpPr>
        <p:spPr/>
        <p:txBody>
          <a:bodyPr/>
          <a:lstStyle/>
          <a:p>
            <a:fld id="{4380B9BC-BAA0-6644-A8C2-F3FE50B016E6}" type="datetimeFigureOut">
              <a:rPr lang="en-US" smtClean="0"/>
              <a:t>7/28/2022</a:t>
            </a:fld>
            <a:endParaRPr lang="en-US"/>
          </a:p>
        </p:txBody>
      </p:sp>
      <p:sp>
        <p:nvSpPr>
          <p:cNvPr id="6" name="Footer Placeholder 5">
            <a:extLst>
              <a:ext uri="{FF2B5EF4-FFF2-40B4-BE49-F238E27FC236}">
                <a16:creationId xmlns:a16="http://schemas.microsoft.com/office/drawing/2014/main" id="{0AC295A4-B462-4844-B745-E9ACD682CE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524F0-EF5F-E844-9529-7C45ADF7E9D6}"/>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1824086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F6ECA-87B8-6549-A4CC-88513C3AB57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A1676FF-8233-674B-AA3D-0F972AEAA0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C920B51-61CA-4043-8747-AC42406D051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D3150CE-691F-FB4E-A4F1-FFC4EDD28F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CF915D4-17AD-6940-9D72-FAE237AE5F3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3D98A7D-FECF-7341-BF55-B52C2D467BF5}"/>
              </a:ext>
            </a:extLst>
          </p:cNvPr>
          <p:cNvSpPr>
            <a:spLocks noGrp="1"/>
          </p:cNvSpPr>
          <p:nvPr>
            <p:ph type="dt" sz="half" idx="10"/>
          </p:nvPr>
        </p:nvSpPr>
        <p:spPr/>
        <p:txBody>
          <a:bodyPr/>
          <a:lstStyle/>
          <a:p>
            <a:fld id="{4380B9BC-BAA0-6644-A8C2-F3FE50B016E6}" type="datetimeFigureOut">
              <a:rPr lang="en-US" smtClean="0"/>
              <a:t>7/28/2022</a:t>
            </a:fld>
            <a:endParaRPr lang="en-US"/>
          </a:p>
        </p:txBody>
      </p:sp>
      <p:sp>
        <p:nvSpPr>
          <p:cNvPr id="8" name="Footer Placeholder 7">
            <a:extLst>
              <a:ext uri="{FF2B5EF4-FFF2-40B4-BE49-F238E27FC236}">
                <a16:creationId xmlns:a16="http://schemas.microsoft.com/office/drawing/2014/main" id="{65FBE426-E6AB-B84D-A7B8-D2A517A5BF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8CD742-01B7-BB42-ACFC-977EA7741C57}"/>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2376539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09086-87F0-154A-9068-92BF746C505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5E030FC-A30A-B944-81B4-1C4C5D84B30E}"/>
              </a:ext>
            </a:extLst>
          </p:cNvPr>
          <p:cNvSpPr>
            <a:spLocks noGrp="1"/>
          </p:cNvSpPr>
          <p:nvPr>
            <p:ph type="dt" sz="half" idx="10"/>
          </p:nvPr>
        </p:nvSpPr>
        <p:spPr/>
        <p:txBody>
          <a:bodyPr/>
          <a:lstStyle/>
          <a:p>
            <a:fld id="{4380B9BC-BAA0-6644-A8C2-F3FE50B016E6}" type="datetimeFigureOut">
              <a:rPr lang="en-US" smtClean="0"/>
              <a:t>7/28/2022</a:t>
            </a:fld>
            <a:endParaRPr lang="en-US"/>
          </a:p>
        </p:txBody>
      </p:sp>
      <p:sp>
        <p:nvSpPr>
          <p:cNvPr id="4" name="Footer Placeholder 3">
            <a:extLst>
              <a:ext uri="{FF2B5EF4-FFF2-40B4-BE49-F238E27FC236}">
                <a16:creationId xmlns:a16="http://schemas.microsoft.com/office/drawing/2014/main" id="{348B5DB0-D696-3241-917E-A75C32612B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D4A365-F207-724C-B849-4CCDC5E18B84}"/>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1892710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65694F-B834-9741-A987-8D6B330783D3}"/>
              </a:ext>
            </a:extLst>
          </p:cNvPr>
          <p:cNvSpPr>
            <a:spLocks noGrp="1"/>
          </p:cNvSpPr>
          <p:nvPr>
            <p:ph type="dt" sz="half" idx="10"/>
          </p:nvPr>
        </p:nvSpPr>
        <p:spPr/>
        <p:txBody>
          <a:bodyPr/>
          <a:lstStyle/>
          <a:p>
            <a:fld id="{4380B9BC-BAA0-6644-A8C2-F3FE50B016E6}" type="datetimeFigureOut">
              <a:rPr lang="en-US" smtClean="0"/>
              <a:t>7/28/2022</a:t>
            </a:fld>
            <a:endParaRPr lang="en-US"/>
          </a:p>
        </p:txBody>
      </p:sp>
      <p:sp>
        <p:nvSpPr>
          <p:cNvPr id="3" name="Footer Placeholder 2">
            <a:extLst>
              <a:ext uri="{FF2B5EF4-FFF2-40B4-BE49-F238E27FC236}">
                <a16:creationId xmlns:a16="http://schemas.microsoft.com/office/drawing/2014/main" id="{702CF8A3-1E1F-E24D-86F8-F679C6AEBA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A9C783-0E69-8040-8DFF-FD92D2D89381}"/>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3383532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320E0-ECAC-C441-8B0D-15209855295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B685F17-4725-B74B-BA8C-7496E4F35C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F3BF1C5-7911-EC4F-94D4-2849620C6F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5343779-870F-9B40-85A4-0D3AB039843F}"/>
              </a:ext>
            </a:extLst>
          </p:cNvPr>
          <p:cNvSpPr>
            <a:spLocks noGrp="1"/>
          </p:cNvSpPr>
          <p:nvPr>
            <p:ph type="dt" sz="half" idx="10"/>
          </p:nvPr>
        </p:nvSpPr>
        <p:spPr/>
        <p:txBody>
          <a:bodyPr/>
          <a:lstStyle/>
          <a:p>
            <a:fld id="{4380B9BC-BAA0-6644-A8C2-F3FE50B016E6}" type="datetimeFigureOut">
              <a:rPr lang="en-US" smtClean="0"/>
              <a:t>7/28/2022</a:t>
            </a:fld>
            <a:endParaRPr lang="en-US"/>
          </a:p>
        </p:txBody>
      </p:sp>
      <p:sp>
        <p:nvSpPr>
          <p:cNvPr id="6" name="Footer Placeholder 5">
            <a:extLst>
              <a:ext uri="{FF2B5EF4-FFF2-40B4-BE49-F238E27FC236}">
                <a16:creationId xmlns:a16="http://schemas.microsoft.com/office/drawing/2014/main" id="{045DACDB-A9F8-D14D-91F9-C351A71FE4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CF5A8C-F397-324A-8F57-766C0722FF6D}"/>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2055491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7456C-9E20-434F-8E34-51827CB46E8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8D81076-26D8-A04D-AF37-FA577EDDD3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2C42B7-1ECA-D040-9B25-CEB600A3A1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921701-3B53-D245-A6A5-01647B041C81}"/>
              </a:ext>
            </a:extLst>
          </p:cNvPr>
          <p:cNvSpPr>
            <a:spLocks noGrp="1"/>
          </p:cNvSpPr>
          <p:nvPr>
            <p:ph type="dt" sz="half" idx="10"/>
          </p:nvPr>
        </p:nvSpPr>
        <p:spPr/>
        <p:txBody>
          <a:bodyPr/>
          <a:lstStyle/>
          <a:p>
            <a:fld id="{4380B9BC-BAA0-6644-A8C2-F3FE50B016E6}" type="datetimeFigureOut">
              <a:rPr lang="en-US" smtClean="0"/>
              <a:t>7/28/2022</a:t>
            </a:fld>
            <a:endParaRPr lang="en-US"/>
          </a:p>
        </p:txBody>
      </p:sp>
      <p:sp>
        <p:nvSpPr>
          <p:cNvPr id="6" name="Footer Placeholder 5">
            <a:extLst>
              <a:ext uri="{FF2B5EF4-FFF2-40B4-BE49-F238E27FC236}">
                <a16:creationId xmlns:a16="http://schemas.microsoft.com/office/drawing/2014/main" id="{85EDDB58-DB36-E247-AEF2-254E8E82A8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6CEBE5-041C-6849-AFC5-73CED52809FD}"/>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1095180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E1F77-83D1-3549-B1D6-350B1CE5EBB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878DE81-180D-1541-99A6-07A72D23F9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EA45C7-FE78-0C42-96CB-FA8A9EAABDAA}"/>
              </a:ext>
            </a:extLst>
          </p:cNvPr>
          <p:cNvSpPr>
            <a:spLocks noGrp="1"/>
          </p:cNvSpPr>
          <p:nvPr>
            <p:ph type="dt" sz="half" idx="10"/>
          </p:nvPr>
        </p:nvSpPr>
        <p:spPr/>
        <p:txBody>
          <a:bodyPr/>
          <a:lstStyle/>
          <a:p>
            <a:fld id="{4380B9BC-BAA0-6644-A8C2-F3FE50B016E6}" type="datetimeFigureOut">
              <a:rPr lang="en-US" smtClean="0"/>
              <a:t>7/28/2022</a:t>
            </a:fld>
            <a:endParaRPr lang="en-US"/>
          </a:p>
        </p:txBody>
      </p:sp>
      <p:sp>
        <p:nvSpPr>
          <p:cNvPr id="5" name="Footer Placeholder 4">
            <a:extLst>
              <a:ext uri="{FF2B5EF4-FFF2-40B4-BE49-F238E27FC236}">
                <a16:creationId xmlns:a16="http://schemas.microsoft.com/office/drawing/2014/main" id="{16ABB27B-9C6E-0745-AB46-1E3D940A27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5395B-1E4A-8945-B433-9388B774B0D9}"/>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3342688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DD9226-C319-6145-87BA-B9384BD3CE2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88A51E4-41A2-4F48-AFFF-AD9C1341B6D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16EAA36-15DD-2E4A-BE3C-54FC7138D3BA}"/>
              </a:ext>
            </a:extLst>
          </p:cNvPr>
          <p:cNvSpPr>
            <a:spLocks noGrp="1"/>
          </p:cNvSpPr>
          <p:nvPr>
            <p:ph type="dt" sz="half" idx="10"/>
          </p:nvPr>
        </p:nvSpPr>
        <p:spPr/>
        <p:txBody>
          <a:bodyPr/>
          <a:lstStyle/>
          <a:p>
            <a:fld id="{4380B9BC-BAA0-6644-A8C2-F3FE50B016E6}" type="datetimeFigureOut">
              <a:rPr lang="en-US" smtClean="0"/>
              <a:t>7/28/2022</a:t>
            </a:fld>
            <a:endParaRPr lang="en-US"/>
          </a:p>
        </p:txBody>
      </p:sp>
      <p:sp>
        <p:nvSpPr>
          <p:cNvPr id="5" name="Footer Placeholder 4">
            <a:extLst>
              <a:ext uri="{FF2B5EF4-FFF2-40B4-BE49-F238E27FC236}">
                <a16:creationId xmlns:a16="http://schemas.microsoft.com/office/drawing/2014/main" id="{935F0617-ED2E-BC44-B654-46C7310177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1794C1-746D-F242-9975-C594DFB4F3FB}"/>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3488469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07434-18BF-8D49-BAA6-958C20CFE4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7C61F20-6682-3849-BBBC-179BEA89EE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9A1633A-A10C-A746-8DB0-6DE0607623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0B9BC-BAA0-6644-A8C2-F3FE50B016E6}" type="datetimeFigureOut">
              <a:rPr lang="en-US" smtClean="0"/>
              <a:t>7/28/2022</a:t>
            </a:fld>
            <a:endParaRPr lang="en-US"/>
          </a:p>
        </p:txBody>
      </p:sp>
      <p:sp>
        <p:nvSpPr>
          <p:cNvPr id="5" name="Footer Placeholder 4">
            <a:extLst>
              <a:ext uri="{FF2B5EF4-FFF2-40B4-BE49-F238E27FC236}">
                <a16:creationId xmlns:a16="http://schemas.microsoft.com/office/drawing/2014/main" id="{FB2BE00B-E6BB-FE4B-897D-3FDC38CB5D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866F24-6304-C44D-97F9-7F9510D919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3A255C-133D-4A4E-8D9D-2299407D4449}" type="slidenum">
              <a:rPr lang="en-US" smtClean="0"/>
              <a:t>‹#›</a:t>
            </a:fld>
            <a:endParaRPr lang="en-US"/>
          </a:p>
        </p:txBody>
      </p:sp>
    </p:spTree>
    <p:extLst>
      <p:ext uri="{BB962C8B-B14F-4D97-AF65-F5344CB8AC3E}">
        <p14:creationId xmlns:p14="http://schemas.microsoft.com/office/powerpoint/2010/main" val="42327530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picserver.org/i/immunity.html" TargetMode="External"/><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commons.wikimedia.org/wiki/File:Endocrine_reproductive_system_en.svg"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gHnFoWEVs7o"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aph.gov.au/About_Parliament/Parliamentary_Departments/Parliamentary_Library/pubs/rp/rp9899/99rp21" TargetMode="External"/><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24A9-AABB-EA4F-A246-E7D490927C43}"/>
              </a:ext>
            </a:extLst>
          </p:cNvPr>
          <p:cNvSpPr>
            <a:spLocks noGrp="1"/>
          </p:cNvSpPr>
          <p:nvPr>
            <p:ph type="ctrTitle"/>
          </p:nvPr>
        </p:nvSpPr>
        <p:spPr/>
        <p:txBody>
          <a:bodyPr/>
          <a:lstStyle/>
          <a:p>
            <a:r>
              <a:rPr lang="en-US" b="1" dirty="0"/>
              <a:t>Development of the Placenta </a:t>
            </a:r>
          </a:p>
        </p:txBody>
      </p:sp>
      <p:sp>
        <p:nvSpPr>
          <p:cNvPr id="3" name="Subtitle 2">
            <a:extLst>
              <a:ext uri="{FF2B5EF4-FFF2-40B4-BE49-F238E27FC236}">
                <a16:creationId xmlns:a16="http://schemas.microsoft.com/office/drawing/2014/main" id="{DD907103-EA41-B845-B706-1F0DD3D8B69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41707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957FE-9123-1E41-B87D-401EF4D5F991}"/>
              </a:ext>
            </a:extLst>
          </p:cNvPr>
          <p:cNvSpPr>
            <a:spLocks noGrp="1"/>
          </p:cNvSpPr>
          <p:nvPr>
            <p:ph type="title"/>
          </p:nvPr>
        </p:nvSpPr>
        <p:spPr/>
        <p:txBody>
          <a:bodyPr/>
          <a:lstStyle/>
          <a:p>
            <a:r>
              <a:rPr lang="en-US" b="1" dirty="0"/>
              <a:t>Learning Outcomes </a:t>
            </a:r>
          </a:p>
        </p:txBody>
      </p:sp>
      <p:sp>
        <p:nvSpPr>
          <p:cNvPr id="3" name="Content Placeholder 2">
            <a:extLst>
              <a:ext uri="{FF2B5EF4-FFF2-40B4-BE49-F238E27FC236}">
                <a16:creationId xmlns:a16="http://schemas.microsoft.com/office/drawing/2014/main" id="{09C29878-60D2-BF41-AFB2-3781251179BB}"/>
              </a:ext>
            </a:extLst>
          </p:cNvPr>
          <p:cNvSpPr>
            <a:spLocks noGrp="1"/>
          </p:cNvSpPr>
          <p:nvPr>
            <p:ph idx="1"/>
          </p:nvPr>
        </p:nvSpPr>
        <p:spPr/>
        <p:txBody>
          <a:bodyPr/>
          <a:lstStyle/>
          <a:p>
            <a:r>
              <a:rPr lang="en-US" dirty="0"/>
              <a:t>List FIVE roles of the placenta </a:t>
            </a:r>
          </a:p>
          <a:p>
            <a:r>
              <a:rPr lang="en-US" dirty="0"/>
              <a:t>State why does maternal and </a:t>
            </a:r>
            <a:r>
              <a:rPr lang="en-US" dirty="0" err="1"/>
              <a:t>foetal</a:t>
            </a:r>
            <a:r>
              <a:rPr lang="en-US" dirty="0"/>
              <a:t> blood not mix </a:t>
            </a:r>
          </a:p>
          <a:p>
            <a:r>
              <a:rPr lang="en-US" dirty="0"/>
              <a:t>State what substances can pass across the placental membrane </a:t>
            </a:r>
          </a:p>
        </p:txBody>
      </p:sp>
    </p:spTree>
    <p:extLst>
      <p:ext uri="{BB962C8B-B14F-4D97-AF65-F5344CB8AC3E}">
        <p14:creationId xmlns:p14="http://schemas.microsoft.com/office/powerpoint/2010/main" val="473798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8A10E-CD9D-A566-90E6-7B558D49E93A}"/>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83942A96-DF0F-F83F-7AA7-96FF17701C7A}"/>
              </a:ext>
            </a:extLst>
          </p:cNvPr>
          <p:cNvSpPr>
            <a:spLocks noGrp="1"/>
          </p:cNvSpPr>
          <p:nvPr>
            <p:ph idx="1"/>
          </p:nvPr>
        </p:nvSpPr>
        <p:spPr/>
        <p:txBody>
          <a:bodyPr/>
          <a:lstStyle/>
          <a:p>
            <a:r>
              <a:rPr lang="en-US" b="0" i="0" dirty="0">
                <a:solidFill>
                  <a:srgbClr val="202124"/>
                </a:solidFill>
                <a:effectLst/>
                <a:latin typeface="arial" panose="020B0604020202020204" pitchFamily="34" charset="0"/>
              </a:rPr>
              <a:t>The placenta begins to form after a fertilized egg implants in the uterus </a:t>
            </a:r>
            <a:r>
              <a:rPr lang="en-US" b="1" i="0" dirty="0">
                <a:solidFill>
                  <a:srgbClr val="202124"/>
                </a:solidFill>
                <a:effectLst/>
                <a:latin typeface="arial" panose="020B0604020202020204" pitchFamily="34" charset="0"/>
              </a:rPr>
              <a:t>around seven to 10 days after conception</a:t>
            </a:r>
            <a:r>
              <a:rPr lang="en-US" b="0" i="0" dirty="0">
                <a:solidFill>
                  <a:srgbClr val="202124"/>
                </a:solidFill>
                <a:effectLst/>
                <a:latin typeface="arial" panose="020B0604020202020204" pitchFamily="34" charset="0"/>
              </a:rPr>
              <a:t>. </a:t>
            </a:r>
          </a:p>
          <a:p>
            <a:r>
              <a:rPr lang="en-US" b="0" i="0" dirty="0">
                <a:solidFill>
                  <a:srgbClr val="202124"/>
                </a:solidFill>
                <a:effectLst/>
                <a:latin typeface="arial" panose="020B0604020202020204" pitchFamily="34" charset="0"/>
              </a:rPr>
              <a:t>It continues to grow throughout your pregnancy to support the baby. </a:t>
            </a:r>
            <a:endParaRPr lang="en-AU" dirty="0"/>
          </a:p>
        </p:txBody>
      </p:sp>
    </p:spTree>
    <p:extLst>
      <p:ext uri="{BB962C8B-B14F-4D97-AF65-F5344CB8AC3E}">
        <p14:creationId xmlns:p14="http://schemas.microsoft.com/office/powerpoint/2010/main" val="742150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34505-039F-BD47-BD4A-411C09A77B8B}"/>
              </a:ext>
            </a:extLst>
          </p:cNvPr>
          <p:cNvSpPr>
            <a:spLocks noGrp="1"/>
          </p:cNvSpPr>
          <p:nvPr>
            <p:ph type="title"/>
          </p:nvPr>
        </p:nvSpPr>
        <p:spPr/>
        <p:txBody>
          <a:bodyPr/>
          <a:lstStyle/>
          <a:p>
            <a:r>
              <a:rPr lang="en-US" b="1" dirty="0"/>
              <a:t>Placenta Structure </a:t>
            </a:r>
          </a:p>
        </p:txBody>
      </p:sp>
      <p:sp>
        <p:nvSpPr>
          <p:cNvPr id="3" name="Content Placeholder 2">
            <a:extLst>
              <a:ext uri="{FF2B5EF4-FFF2-40B4-BE49-F238E27FC236}">
                <a16:creationId xmlns:a16="http://schemas.microsoft.com/office/drawing/2014/main" id="{9DA87A17-4455-4546-8FF8-E34D816D3636}"/>
              </a:ext>
            </a:extLst>
          </p:cNvPr>
          <p:cNvSpPr>
            <a:spLocks noGrp="1"/>
          </p:cNvSpPr>
          <p:nvPr>
            <p:ph idx="1"/>
          </p:nvPr>
        </p:nvSpPr>
        <p:spPr>
          <a:xfrm>
            <a:off x="261258" y="1825624"/>
            <a:ext cx="7151914" cy="5032375"/>
          </a:xfrm>
        </p:spPr>
        <p:txBody>
          <a:bodyPr>
            <a:normAutofit/>
          </a:bodyPr>
          <a:lstStyle/>
          <a:p>
            <a:r>
              <a:rPr lang="en-AU" sz="3200" dirty="0"/>
              <a:t>A placenta is an organ of round or oval shape that is relatively flat.</a:t>
            </a:r>
          </a:p>
          <a:p>
            <a:r>
              <a:rPr lang="en-AU" sz="3200" dirty="0"/>
              <a:t>The placenta is composed of two different surfaces</a:t>
            </a:r>
          </a:p>
          <a:p>
            <a:pPr marL="457200" lvl="1" indent="0">
              <a:buNone/>
            </a:pPr>
            <a:r>
              <a:rPr lang="en-AU" sz="2800" dirty="0"/>
              <a:t>- </a:t>
            </a:r>
            <a:r>
              <a:rPr lang="en-AU" sz="2800" b="1" dirty="0"/>
              <a:t>Maternal surface</a:t>
            </a:r>
            <a:r>
              <a:rPr lang="en-AU" sz="2800" dirty="0"/>
              <a:t>, facing the towards the outside, and the </a:t>
            </a:r>
          </a:p>
          <a:p>
            <a:pPr marL="457200" lvl="1" indent="0">
              <a:buNone/>
            </a:pPr>
            <a:r>
              <a:rPr lang="en-AU" sz="2800" dirty="0"/>
              <a:t>- </a:t>
            </a:r>
            <a:r>
              <a:rPr lang="en-AU" sz="2800" b="1" dirty="0" err="1"/>
              <a:t>Fetal</a:t>
            </a:r>
            <a:r>
              <a:rPr lang="en-AU" sz="2800" b="1" dirty="0"/>
              <a:t> surface</a:t>
            </a:r>
            <a:r>
              <a:rPr lang="en-AU" sz="2800" dirty="0"/>
              <a:t>, facing towards the inside, or the </a:t>
            </a:r>
            <a:r>
              <a:rPr lang="en-AU" sz="2800" dirty="0" err="1"/>
              <a:t>fetus</a:t>
            </a:r>
            <a:r>
              <a:rPr lang="en-AU" sz="2800" dirty="0"/>
              <a:t>.</a:t>
            </a:r>
          </a:p>
          <a:p>
            <a:r>
              <a:rPr lang="en-AU" sz="3200" dirty="0"/>
              <a:t>On the </a:t>
            </a:r>
            <a:r>
              <a:rPr lang="en-AU" sz="3200" dirty="0" err="1"/>
              <a:t>fetal</a:t>
            </a:r>
            <a:r>
              <a:rPr lang="en-AU" sz="3200" dirty="0"/>
              <a:t> surface, the umbilical cord, links the placenta and the </a:t>
            </a:r>
            <a:r>
              <a:rPr lang="en-AU" sz="3200" dirty="0" err="1"/>
              <a:t>fetus</a:t>
            </a:r>
            <a:r>
              <a:rPr lang="en-AU" sz="3200" dirty="0"/>
              <a:t>.</a:t>
            </a:r>
          </a:p>
          <a:p>
            <a:endParaRPr lang="en-US" dirty="0"/>
          </a:p>
        </p:txBody>
      </p:sp>
      <p:pic>
        <p:nvPicPr>
          <p:cNvPr id="4" name="Picture 3">
            <a:extLst>
              <a:ext uri="{FF2B5EF4-FFF2-40B4-BE49-F238E27FC236}">
                <a16:creationId xmlns:a16="http://schemas.microsoft.com/office/drawing/2014/main" id="{78F09428-1652-7C47-82A8-06E2CBFD1628}"/>
              </a:ext>
            </a:extLst>
          </p:cNvPr>
          <p:cNvPicPr>
            <a:picLocks noChangeAspect="1"/>
          </p:cNvPicPr>
          <p:nvPr/>
        </p:nvPicPr>
        <p:blipFill>
          <a:blip r:embed="rId2"/>
          <a:stretch>
            <a:fillRect/>
          </a:stretch>
        </p:blipFill>
        <p:spPr>
          <a:xfrm>
            <a:off x="7413172" y="2278515"/>
            <a:ext cx="4778828" cy="3584121"/>
          </a:xfrm>
          <a:prstGeom prst="rect">
            <a:avLst/>
          </a:prstGeom>
        </p:spPr>
      </p:pic>
    </p:spTree>
    <p:extLst>
      <p:ext uri="{BB962C8B-B14F-4D97-AF65-F5344CB8AC3E}">
        <p14:creationId xmlns:p14="http://schemas.microsoft.com/office/powerpoint/2010/main" val="72237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A687-B9F6-B840-AC90-DE6E152FDECC}"/>
              </a:ext>
            </a:extLst>
          </p:cNvPr>
          <p:cNvSpPr>
            <a:spLocks noGrp="1"/>
          </p:cNvSpPr>
          <p:nvPr>
            <p:ph type="title"/>
          </p:nvPr>
        </p:nvSpPr>
        <p:spPr>
          <a:xfrm>
            <a:off x="852192" y="94538"/>
            <a:ext cx="10515600" cy="782540"/>
          </a:xfrm>
        </p:spPr>
        <p:txBody>
          <a:bodyPr/>
          <a:lstStyle/>
          <a:p>
            <a:pPr algn="ctr"/>
            <a:r>
              <a:rPr lang="en-US" b="1" dirty="0"/>
              <a:t>Placental Circulation </a:t>
            </a:r>
          </a:p>
        </p:txBody>
      </p:sp>
      <p:sp>
        <p:nvSpPr>
          <p:cNvPr id="3" name="Content Placeholder 2">
            <a:extLst>
              <a:ext uri="{FF2B5EF4-FFF2-40B4-BE49-F238E27FC236}">
                <a16:creationId xmlns:a16="http://schemas.microsoft.com/office/drawing/2014/main" id="{A4F61077-9189-BA4B-A5F2-20D6D1F9988E}"/>
              </a:ext>
            </a:extLst>
          </p:cNvPr>
          <p:cNvSpPr>
            <a:spLocks noGrp="1"/>
          </p:cNvSpPr>
          <p:nvPr>
            <p:ph idx="1"/>
          </p:nvPr>
        </p:nvSpPr>
        <p:spPr>
          <a:xfrm>
            <a:off x="0" y="1753394"/>
            <a:ext cx="6792687" cy="5167311"/>
          </a:xfrm>
        </p:spPr>
        <p:txBody>
          <a:bodyPr>
            <a:normAutofit/>
          </a:bodyPr>
          <a:lstStyle/>
          <a:p>
            <a:r>
              <a:rPr lang="en-AU" dirty="0"/>
              <a:t>Placental circulation encompasses two different circulation systems, the maternal and the </a:t>
            </a:r>
            <a:r>
              <a:rPr lang="en-AU" dirty="0" err="1"/>
              <a:t>fetal</a:t>
            </a:r>
            <a:r>
              <a:rPr lang="en-AU" dirty="0"/>
              <a:t>. </a:t>
            </a:r>
          </a:p>
          <a:p>
            <a:r>
              <a:rPr lang="en-AU" dirty="0"/>
              <a:t>Although these two come in very close contact with each other, they will never mix together, they are separated by what is known as the placental barrier.</a:t>
            </a:r>
          </a:p>
          <a:p>
            <a:r>
              <a:rPr lang="en-AU" dirty="0"/>
              <a:t>It is the nutrients, gases, wastes and hormones flow through by mainly diffusion.</a:t>
            </a:r>
          </a:p>
          <a:p>
            <a:endParaRPr lang="en-US" dirty="0"/>
          </a:p>
        </p:txBody>
      </p:sp>
      <p:pic>
        <p:nvPicPr>
          <p:cNvPr id="4" name="Picture 3">
            <a:extLst>
              <a:ext uri="{FF2B5EF4-FFF2-40B4-BE49-F238E27FC236}">
                <a16:creationId xmlns:a16="http://schemas.microsoft.com/office/drawing/2014/main" id="{BDA9F9B9-A0B7-9D49-B4EE-4EF2C91DDDF0}"/>
              </a:ext>
            </a:extLst>
          </p:cNvPr>
          <p:cNvPicPr>
            <a:picLocks noChangeAspect="1"/>
          </p:cNvPicPr>
          <p:nvPr/>
        </p:nvPicPr>
        <p:blipFill>
          <a:blip r:embed="rId2"/>
          <a:stretch>
            <a:fillRect/>
          </a:stretch>
        </p:blipFill>
        <p:spPr>
          <a:xfrm>
            <a:off x="6792687" y="1690688"/>
            <a:ext cx="5271792" cy="4514169"/>
          </a:xfrm>
          <a:prstGeom prst="rect">
            <a:avLst/>
          </a:prstGeom>
        </p:spPr>
      </p:pic>
    </p:spTree>
    <p:extLst>
      <p:ext uri="{BB962C8B-B14F-4D97-AF65-F5344CB8AC3E}">
        <p14:creationId xmlns:p14="http://schemas.microsoft.com/office/powerpoint/2010/main" val="752935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4721C-B54B-D144-9F44-91EC53EA8299}"/>
              </a:ext>
            </a:extLst>
          </p:cNvPr>
          <p:cNvSpPr>
            <a:spLocks noGrp="1"/>
          </p:cNvSpPr>
          <p:nvPr>
            <p:ph type="title"/>
          </p:nvPr>
        </p:nvSpPr>
        <p:spPr/>
        <p:txBody>
          <a:bodyPr/>
          <a:lstStyle/>
          <a:p>
            <a:r>
              <a:rPr lang="en-US" dirty="0"/>
              <a:t>Think… </a:t>
            </a:r>
          </a:p>
        </p:txBody>
      </p:sp>
      <p:sp>
        <p:nvSpPr>
          <p:cNvPr id="3" name="Content Placeholder 2">
            <a:extLst>
              <a:ext uri="{FF2B5EF4-FFF2-40B4-BE49-F238E27FC236}">
                <a16:creationId xmlns:a16="http://schemas.microsoft.com/office/drawing/2014/main" id="{2F3DEFB6-D3D7-6045-ADF3-17C53C77AF22}"/>
              </a:ext>
            </a:extLst>
          </p:cNvPr>
          <p:cNvSpPr>
            <a:spLocks noGrp="1"/>
          </p:cNvSpPr>
          <p:nvPr>
            <p:ph idx="1"/>
          </p:nvPr>
        </p:nvSpPr>
        <p:spPr/>
        <p:txBody>
          <a:bodyPr/>
          <a:lstStyle/>
          <a:p>
            <a:r>
              <a:rPr lang="en-AU" dirty="0"/>
              <a:t>… Although these two come in very close contact with each other, they will never mix together… why not? </a:t>
            </a:r>
            <a:endParaRPr lang="en-US" dirty="0"/>
          </a:p>
        </p:txBody>
      </p:sp>
    </p:spTree>
    <p:extLst>
      <p:ext uri="{BB962C8B-B14F-4D97-AF65-F5344CB8AC3E}">
        <p14:creationId xmlns:p14="http://schemas.microsoft.com/office/powerpoint/2010/main" val="415474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512B-E757-B449-B1C4-E372AAF7073A}"/>
              </a:ext>
            </a:extLst>
          </p:cNvPr>
          <p:cNvSpPr>
            <a:spLocks noGrp="1"/>
          </p:cNvSpPr>
          <p:nvPr>
            <p:ph type="title"/>
          </p:nvPr>
        </p:nvSpPr>
        <p:spPr>
          <a:xfrm>
            <a:off x="838200" y="141191"/>
            <a:ext cx="10515600" cy="922499"/>
          </a:xfrm>
        </p:spPr>
        <p:txBody>
          <a:bodyPr/>
          <a:lstStyle/>
          <a:p>
            <a:pPr algn="ctr"/>
            <a:r>
              <a:rPr lang="en-US" b="1" dirty="0"/>
              <a:t>Roles of the placenta </a:t>
            </a:r>
          </a:p>
        </p:txBody>
      </p:sp>
      <p:sp>
        <p:nvSpPr>
          <p:cNvPr id="3" name="Content Placeholder 2">
            <a:extLst>
              <a:ext uri="{FF2B5EF4-FFF2-40B4-BE49-F238E27FC236}">
                <a16:creationId xmlns:a16="http://schemas.microsoft.com/office/drawing/2014/main" id="{B4DBDDC5-FC33-1749-9BBF-664E59B87F6B}"/>
              </a:ext>
            </a:extLst>
          </p:cNvPr>
          <p:cNvSpPr>
            <a:spLocks noGrp="1"/>
          </p:cNvSpPr>
          <p:nvPr>
            <p:ph idx="1"/>
          </p:nvPr>
        </p:nvSpPr>
        <p:spPr>
          <a:xfrm>
            <a:off x="874486" y="1433739"/>
            <a:ext cx="10515600" cy="4351338"/>
          </a:xfrm>
        </p:spPr>
        <p:txBody>
          <a:bodyPr>
            <a:normAutofit/>
          </a:bodyPr>
          <a:lstStyle/>
          <a:p>
            <a:pPr marL="0" indent="0">
              <a:buNone/>
            </a:pPr>
            <a:r>
              <a:rPr lang="en-AU" dirty="0"/>
              <a:t>During pregnancy, the placenta has 6 main roles to maintain good health and a good environment for the growing child:</a:t>
            </a:r>
          </a:p>
          <a:p>
            <a:pPr marL="0" indent="0">
              <a:buNone/>
            </a:pPr>
            <a:r>
              <a:rPr lang="en-AU" dirty="0"/>
              <a:t>•Respiration</a:t>
            </a:r>
          </a:p>
          <a:p>
            <a:pPr marL="0" indent="0">
              <a:buNone/>
            </a:pPr>
            <a:r>
              <a:rPr lang="en-AU" dirty="0"/>
              <a:t>•Nutrition</a:t>
            </a:r>
          </a:p>
          <a:p>
            <a:pPr marL="0" indent="0">
              <a:buNone/>
            </a:pPr>
            <a:r>
              <a:rPr lang="en-AU" dirty="0"/>
              <a:t>•Excretion</a:t>
            </a:r>
          </a:p>
          <a:p>
            <a:pPr marL="0" indent="0">
              <a:buNone/>
            </a:pPr>
            <a:r>
              <a:rPr lang="en-AU" dirty="0"/>
              <a:t>•Protection</a:t>
            </a:r>
          </a:p>
          <a:p>
            <a:pPr marL="0" indent="0">
              <a:buNone/>
            </a:pPr>
            <a:r>
              <a:rPr lang="en-AU" dirty="0"/>
              <a:t>•Endocrine</a:t>
            </a:r>
          </a:p>
          <a:p>
            <a:pPr marL="0" indent="0">
              <a:buNone/>
            </a:pPr>
            <a:r>
              <a:rPr lang="en-AU" dirty="0"/>
              <a:t>•Immunity</a:t>
            </a:r>
          </a:p>
          <a:p>
            <a:endParaRPr lang="en-US" dirty="0"/>
          </a:p>
        </p:txBody>
      </p:sp>
      <p:pic>
        <p:nvPicPr>
          <p:cNvPr id="5" name="Picture 4">
            <a:extLst>
              <a:ext uri="{FF2B5EF4-FFF2-40B4-BE49-F238E27FC236}">
                <a16:creationId xmlns:a16="http://schemas.microsoft.com/office/drawing/2014/main" id="{6D329C6E-8E17-F047-939C-D1CDE2DAD3B5}"/>
              </a:ext>
            </a:extLst>
          </p:cNvPr>
          <p:cNvPicPr>
            <a:picLocks noChangeAspect="1"/>
          </p:cNvPicPr>
          <p:nvPr/>
        </p:nvPicPr>
        <p:blipFill>
          <a:blip r:embed="rId2"/>
          <a:stretch>
            <a:fillRect/>
          </a:stretch>
        </p:blipFill>
        <p:spPr>
          <a:xfrm>
            <a:off x="6096000" y="2670742"/>
            <a:ext cx="5221514" cy="3916136"/>
          </a:xfrm>
          <a:prstGeom prst="rect">
            <a:avLst/>
          </a:prstGeom>
        </p:spPr>
      </p:pic>
    </p:spTree>
    <p:extLst>
      <p:ext uri="{BB962C8B-B14F-4D97-AF65-F5344CB8AC3E}">
        <p14:creationId xmlns:p14="http://schemas.microsoft.com/office/powerpoint/2010/main" val="2781805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359BE-6EB6-5447-8182-30DB74D9B71E}"/>
              </a:ext>
            </a:extLst>
          </p:cNvPr>
          <p:cNvSpPr>
            <a:spLocks noGrp="1"/>
          </p:cNvSpPr>
          <p:nvPr>
            <p:ph type="title"/>
          </p:nvPr>
        </p:nvSpPr>
        <p:spPr>
          <a:xfrm>
            <a:off x="838200" y="150521"/>
            <a:ext cx="10515600" cy="819863"/>
          </a:xfrm>
        </p:spPr>
        <p:txBody>
          <a:bodyPr/>
          <a:lstStyle/>
          <a:p>
            <a:pPr algn="ctr"/>
            <a:r>
              <a:rPr lang="en-US" b="1" dirty="0"/>
              <a:t>1. Respiration </a:t>
            </a:r>
          </a:p>
        </p:txBody>
      </p:sp>
      <p:sp>
        <p:nvSpPr>
          <p:cNvPr id="3" name="Content Placeholder 2">
            <a:extLst>
              <a:ext uri="{FF2B5EF4-FFF2-40B4-BE49-F238E27FC236}">
                <a16:creationId xmlns:a16="http://schemas.microsoft.com/office/drawing/2014/main" id="{EFEA152C-4B57-B641-A636-81B2EA496FF3}"/>
              </a:ext>
            </a:extLst>
          </p:cNvPr>
          <p:cNvSpPr>
            <a:spLocks noGrp="1"/>
          </p:cNvSpPr>
          <p:nvPr>
            <p:ph idx="1"/>
          </p:nvPr>
        </p:nvSpPr>
        <p:spPr>
          <a:xfrm>
            <a:off x="838200" y="1825625"/>
            <a:ext cx="6710265" cy="4351338"/>
          </a:xfrm>
        </p:spPr>
        <p:txBody>
          <a:bodyPr>
            <a:normAutofit/>
          </a:bodyPr>
          <a:lstStyle/>
          <a:p>
            <a:r>
              <a:rPr lang="en-AU" dirty="0"/>
              <a:t>Early in pregnancy, the </a:t>
            </a:r>
            <a:r>
              <a:rPr lang="en-AU" dirty="0" err="1"/>
              <a:t>fetus</a:t>
            </a:r>
            <a:r>
              <a:rPr lang="en-AU" dirty="0"/>
              <a:t> does not have adequate developed lungs. </a:t>
            </a:r>
          </a:p>
          <a:p>
            <a:r>
              <a:rPr lang="en-AU" dirty="0"/>
              <a:t>Therefore, one of the main functions of the placenta is to help the </a:t>
            </a:r>
            <a:r>
              <a:rPr lang="en-AU" dirty="0" err="1"/>
              <a:t>fetus</a:t>
            </a:r>
            <a:r>
              <a:rPr lang="en-AU" dirty="0"/>
              <a:t> breathe.</a:t>
            </a:r>
          </a:p>
          <a:p>
            <a:r>
              <a:rPr lang="en-AU" dirty="0"/>
              <a:t>Oxygen rich blood coming from the mother enters the placenta by the maternal artery and diffuses into the </a:t>
            </a:r>
            <a:r>
              <a:rPr lang="en-AU" dirty="0" err="1"/>
              <a:t>fetal</a:t>
            </a:r>
            <a:r>
              <a:rPr lang="en-AU" dirty="0"/>
              <a:t> blood. </a:t>
            </a:r>
          </a:p>
          <a:p>
            <a:r>
              <a:rPr lang="en-AU" dirty="0"/>
              <a:t>The oxygen will travel along the umbilical vein and finally reach the </a:t>
            </a:r>
            <a:r>
              <a:rPr lang="en-AU" dirty="0" err="1"/>
              <a:t>fetus</a:t>
            </a:r>
            <a:r>
              <a:rPr lang="en-AU" dirty="0"/>
              <a:t>.</a:t>
            </a:r>
          </a:p>
          <a:p>
            <a:endParaRPr lang="en-AU" dirty="0"/>
          </a:p>
          <a:p>
            <a:endParaRPr lang="en-US" dirty="0"/>
          </a:p>
        </p:txBody>
      </p:sp>
      <p:pic>
        <p:nvPicPr>
          <p:cNvPr id="4" name="Picture 3">
            <a:extLst>
              <a:ext uri="{FF2B5EF4-FFF2-40B4-BE49-F238E27FC236}">
                <a16:creationId xmlns:a16="http://schemas.microsoft.com/office/drawing/2014/main" id="{9019C824-B569-DC4B-91A7-41C0965B4DFC}"/>
              </a:ext>
            </a:extLst>
          </p:cNvPr>
          <p:cNvPicPr>
            <a:picLocks noChangeAspect="1"/>
          </p:cNvPicPr>
          <p:nvPr/>
        </p:nvPicPr>
        <p:blipFill>
          <a:blip r:embed="rId2"/>
          <a:stretch>
            <a:fillRect/>
          </a:stretch>
        </p:blipFill>
        <p:spPr>
          <a:xfrm>
            <a:off x="8193314" y="1690688"/>
            <a:ext cx="3160486" cy="3851842"/>
          </a:xfrm>
          <a:prstGeom prst="rect">
            <a:avLst/>
          </a:prstGeom>
        </p:spPr>
      </p:pic>
    </p:spTree>
    <p:extLst>
      <p:ext uri="{BB962C8B-B14F-4D97-AF65-F5344CB8AC3E}">
        <p14:creationId xmlns:p14="http://schemas.microsoft.com/office/powerpoint/2010/main" val="3073083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279BB-2EE6-4941-B6EA-8DE5BEFC0F37}"/>
              </a:ext>
            </a:extLst>
          </p:cNvPr>
          <p:cNvSpPr>
            <a:spLocks noGrp="1"/>
          </p:cNvSpPr>
          <p:nvPr>
            <p:ph type="title"/>
          </p:nvPr>
        </p:nvSpPr>
        <p:spPr/>
        <p:txBody>
          <a:bodyPr/>
          <a:lstStyle/>
          <a:p>
            <a:r>
              <a:rPr lang="en-US" b="1" dirty="0"/>
              <a:t>2. Nutrition and Excretion </a:t>
            </a:r>
          </a:p>
        </p:txBody>
      </p:sp>
      <p:sp>
        <p:nvSpPr>
          <p:cNvPr id="3" name="Content Placeholder 2">
            <a:extLst>
              <a:ext uri="{FF2B5EF4-FFF2-40B4-BE49-F238E27FC236}">
                <a16:creationId xmlns:a16="http://schemas.microsoft.com/office/drawing/2014/main" id="{2FD59C0C-DC30-E540-AD1C-2E83E72BA64D}"/>
              </a:ext>
            </a:extLst>
          </p:cNvPr>
          <p:cNvSpPr>
            <a:spLocks noGrp="1"/>
          </p:cNvSpPr>
          <p:nvPr>
            <p:ph idx="1"/>
          </p:nvPr>
        </p:nvSpPr>
        <p:spPr>
          <a:xfrm>
            <a:off x="838200" y="1825625"/>
            <a:ext cx="6085114" cy="4351338"/>
          </a:xfrm>
        </p:spPr>
        <p:txBody>
          <a:bodyPr/>
          <a:lstStyle/>
          <a:p>
            <a:r>
              <a:rPr lang="en-AU" dirty="0"/>
              <a:t>A good supply of nutrients for the </a:t>
            </a:r>
            <a:r>
              <a:rPr lang="en-AU" dirty="0" err="1"/>
              <a:t>fetus</a:t>
            </a:r>
            <a:r>
              <a:rPr lang="en-AU" dirty="0"/>
              <a:t> is needed for energy and a healthy growth. </a:t>
            </a:r>
          </a:p>
          <a:p>
            <a:r>
              <a:rPr lang="en-AU" dirty="0"/>
              <a:t>Nutrients such as glucose, amino acids and fatty acids are essential to life and are mostly found in the foods we eat. Because the </a:t>
            </a:r>
            <a:r>
              <a:rPr lang="en-AU" dirty="0" err="1"/>
              <a:t>fetus</a:t>
            </a:r>
            <a:r>
              <a:rPr lang="en-AU" dirty="0"/>
              <a:t> is not physically eating, it is the mother that supplies these nutrients via the placenta. </a:t>
            </a:r>
          </a:p>
          <a:p>
            <a:r>
              <a:rPr lang="en-US" dirty="0"/>
              <a:t>Same for excretion </a:t>
            </a:r>
          </a:p>
        </p:txBody>
      </p:sp>
      <p:pic>
        <p:nvPicPr>
          <p:cNvPr id="4" name="Picture 3">
            <a:extLst>
              <a:ext uri="{FF2B5EF4-FFF2-40B4-BE49-F238E27FC236}">
                <a16:creationId xmlns:a16="http://schemas.microsoft.com/office/drawing/2014/main" id="{F2FE810A-81EC-414A-8FB1-ABF7F3E79E33}"/>
              </a:ext>
            </a:extLst>
          </p:cNvPr>
          <p:cNvPicPr>
            <a:picLocks noChangeAspect="1"/>
          </p:cNvPicPr>
          <p:nvPr/>
        </p:nvPicPr>
        <p:blipFill>
          <a:blip r:embed="rId2"/>
          <a:stretch>
            <a:fillRect/>
          </a:stretch>
        </p:blipFill>
        <p:spPr>
          <a:xfrm>
            <a:off x="7163875" y="2039484"/>
            <a:ext cx="4189925" cy="2779032"/>
          </a:xfrm>
          <a:prstGeom prst="rect">
            <a:avLst/>
          </a:prstGeom>
        </p:spPr>
      </p:pic>
    </p:spTree>
    <p:extLst>
      <p:ext uri="{BB962C8B-B14F-4D97-AF65-F5344CB8AC3E}">
        <p14:creationId xmlns:p14="http://schemas.microsoft.com/office/powerpoint/2010/main" val="2734255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B2064-EA76-A948-A918-1073F9C6D46F}"/>
              </a:ext>
            </a:extLst>
          </p:cNvPr>
          <p:cNvSpPr>
            <a:spLocks noGrp="1"/>
          </p:cNvSpPr>
          <p:nvPr>
            <p:ph type="title"/>
          </p:nvPr>
        </p:nvSpPr>
        <p:spPr/>
        <p:txBody>
          <a:bodyPr/>
          <a:lstStyle/>
          <a:p>
            <a:r>
              <a:rPr lang="en-US" b="1" dirty="0"/>
              <a:t>3. Protection</a:t>
            </a:r>
          </a:p>
        </p:txBody>
      </p:sp>
      <p:sp>
        <p:nvSpPr>
          <p:cNvPr id="3" name="Content Placeholder 2">
            <a:extLst>
              <a:ext uri="{FF2B5EF4-FFF2-40B4-BE49-F238E27FC236}">
                <a16:creationId xmlns:a16="http://schemas.microsoft.com/office/drawing/2014/main" id="{FC3F66F3-26FE-7F45-9E43-E978269C723A}"/>
              </a:ext>
            </a:extLst>
          </p:cNvPr>
          <p:cNvSpPr>
            <a:spLocks noGrp="1"/>
          </p:cNvSpPr>
          <p:nvPr>
            <p:ph idx="1"/>
          </p:nvPr>
        </p:nvSpPr>
        <p:spPr>
          <a:xfrm>
            <a:off x="838200" y="1825625"/>
            <a:ext cx="7913914" cy="4351338"/>
          </a:xfrm>
        </p:spPr>
        <p:txBody>
          <a:bodyPr>
            <a:normAutofit lnSpcReduction="10000"/>
          </a:bodyPr>
          <a:lstStyle/>
          <a:p>
            <a:r>
              <a:rPr lang="en-AU" dirty="0"/>
              <a:t>The placenta is a very important form of protection. </a:t>
            </a:r>
          </a:p>
          <a:p>
            <a:r>
              <a:rPr lang="en-AU" dirty="0"/>
              <a:t>One of its functions is to prevent the mothers body from rejecting the </a:t>
            </a:r>
            <a:r>
              <a:rPr lang="en-AU" dirty="0" err="1"/>
              <a:t>fetus</a:t>
            </a:r>
            <a:r>
              <a:rPr lang="en-AU" dirty="0"/>
              <a:t>. Because the two can have different chromosomes and blood types, the mother would perceive the </a:t>
            </a:r>
            <a:r>
              <a:rPr lang="en-AU" dirty="0" err="1"/>
              <a:t>fetus</a:t>
            </a:r>
            <a:r>
              <a:rPr lang="en-AU" dirty="0"/>
              <a:t> as an object of foreign origin and would want to reject it because it is not part of her own tissues. </a:t>
            </a:r>
          </a:p>
          <a:p>
            <a:r>
              <a:rPr lang="en-AU" dirty="0"/>
              <a:t>However, this scenario does not happen because the placenta serves as a barrier to prevent the two different circulation from mixing therefore the mothers immune system will not attack the </a:t>
            </a:r>
            <a:r>
              <a:rPr lang="en-AU" dirty="0" err="1"/>
              <a:t>fetus</a:t>
            </a:r>
            <a:r>
              <a:rPr lang="en-AU" dirty="0"/>
              <a:t>.</a:t>
            </a:r>
          </a:p>
          <a:p>
            <a:endParaRPr lang="en-US" dirty="0"/>
          </a:p>
        </p:txBody>
      </p:sp>
      <p:pic>
        <p:nvPicPr>
          <p:cNvPr id="4" name="Picture 3">
            <a:extLst>
              <a:ext uri="{FF2B5EF4-FFF2-40B4-BE49-F238E27FC236}">
                <a16:creationId xmlns:a16="http://schemas.microsoft.com/office/drawing/2014/main" id="{74E65CC0-7BC8-E34A-9024-8DF99BD9B802}"/>
              </a:ext>
            </a:extLst>
          </p:cNvPr>
          <p:cNvPicPr>
            <a:picLocks noChangeAspect="1"/>
          </p:cNvPicPr>
          <p:nvPr/>
        </p:nvPicPr>
        <p:blipFill>
          <a:blip r:embed="rId2"/>
          <a:stretch>
            <a:fillRect/>
          </a:stretch>
        </p:blipFill>
        <p:spPr>
          <a:xfrm>
            <a:off x="9176656" y="1362955"/>
            <a:ext cx="2601686" cy="4132090"/>
          </a:xfrm>
          <a:prstGeom prst="rect">
            <a:avLst/>
          </a:prstGeom>
        </p:spPr>
      </p:pic>
    </p:spTree>
    <p:extLst>
      <p:ext uri="{BB962C8B-B14F-4D97-AF65-F5344CB8AC3E}">
        <p14:creationId xmlns:p14="http://schemas.microsoft.com/office/powerpoint/2010/main" val="982976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10339-2CEC-9847-A3A8-A23656FD1E60}"/>
              </a:ext>
            </a:extLst>
          </p:cNvPr>
          <p:cNvSpPr>
            <a:spLocks noGrp="1"/>
          </p:cNvSpPr>
          <p:nvPr>
            <p:ph type="title"/>
          </p:nvPr>
        </p:nvSpPr>
        <p:spPr/>
        <p:txBody>
          <a:bodyPr/>
          <a:lstStyle/>
          <a:p>
            <a:r>
              <a:rPr lang="en-US" b="1" dirty="0"/>
              <a:t>4. Immunity </a:t>
            </a:r>
          </a:p>
        </p:txBody>
      </p:sp>
      <p:sp>
        <p:nvSpPr>
          <p:cNvPr id="3" name="Content Placeholder 2">
            <a:extLst>
              <a:ext uri="{FF2B5EF4-FFF2-40B4-BE49-F238E27FC236}">
                <a16:creationId xmlns:a16="http://schemas.microsoft.com/office/drawing/2014/main" id="{2BB08E91-986C-7743-BD89-FBE061413009}"/>
              </a:ext>
            </a:extLst>
          </p:cNvPr>
          <p:cNvSpPr>
            <a:spLocks noGrp="1"/>
          </p:cNvSpPr>
          <p:nvPr>
            <p:ph idx="1"/>
          </p:nvPr>
        </p:nvSpPr>
        <p:spPr>
          <a:xfrm>
            <a:off x="381001" y="1744191"/>
            <a:ext cx="6477000" cy="4748683"/>
          </a:xfrm>
        </p:spPr>
        <p:txBody>
          <a:bodyPr>
            <a:normAutofit lnSpcReduction="10000"/>
          </a:bodyPr>
          <a:lstStyle/>
          <a:p>
            <a:r>
              <a:rPr lang="en-AU" dirty="0"/>
              <a:t>The placenta also plays a role as a protective barrier against bacteria. </a:t>
            </a:r>
          </a:p>
          <a:p>
            <a:r>
              <a:rPr lang="en-AU" dirty="0"/>
              <a:t>Most bacteria are too big to cross into the </a:t>
            </a:r>
            <a:r>
              <a:rPr lang="en-AU" dirty="0" err="1"/>
              <a:t>fetal</a:t>
            </a:r>
            <a:r>
              <a:rPr lang="en-AU" dirty="0"/>
              <a:t> circulation, however, micro-organisms such as viruses can do so and infect the </a:t>
            </a:r>
            <a:r>
              <a:rPr lang="en-AU" dirty="0" err="1"/>
              <a:t>fetus</a:t>
            </a:r>
            <a:r>
              <a:rPr lang="en-AU" dirty="0"/>
              <a:t>. </a:t>
            </a:r>
          </a:p>
          <a:p>
            <a:r>
              <a:rPr lang="en-AU" dirty="0"/>
              <a:t>Drugs can also cross the barrier and cause harm to the baby. Drugs such as acetaminophen (</a:t>
            </a:r>
            <a:r>
              <a:rPr lang="en-AU" dirty="0" err="1"/>
              <a:t>tylenol</a:t>
            </a:r>
            <a:r>
              <a:rPr lang="en-AU" dirty="0"/>
              <a:t>) are harmless however others such as warfarin (an anticoagulant) are dangerous to the growing </a:t>
            </a:r>
            <a:r>
              <a:rPr lang="en-AU" dirty="0" err="1"/>
              <a:t>fetus</a:t>
            </a:r>
            <a:endParaRPr lang="en-AU" dirty="0"/>
          </a:p>
          <a:p>
            <a:endParaRPr lang="en-US" dirty="0"/>
          </a:p>
        </p:txBody>
      </p:sp>
      <p:pic>
        <p:nvPicPr>
          <p:cNvPr id="5" name="Picture 4">
            <a:extLst>
              <a:ext uri="{FF2B5EF4-FFF2-40B4-BE49-F238E27FC236}">
                <a16:creationId xmlns:a16="http://schemas.microsoft.com/office/drawing/2014/main" id="{86BF67BF-055B-8B42-81FE-0A7FD8FF430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934199" y="1690688"/>
            <a:ext cx="4876800" cy="2790613"/>
          </a:xfrm>
          <a:prstGeom prst="rect">
            <a:avLst/>
          </a:prstGeom>
        </p:spPr>
      </p:pic>
      <p:sp>
        <p:nvSpPr>
          <p:cNvPr id="6" name="TextBox 5">
            <a:extLst>
              <a:ext uri="{FF2B5EF4-FFF2-40B4-BE49-F238E27FC236}">
                <a16:creationId xmlns:a16="http://schemas.microsoft.com/office/drawing/2014/main" id="{B2F6E3E1-F7DC-DC4E-85DE-1598224006F6}"/>
              </a:ext>
            </a:extLst>
          </p:cNvPr>
          <p:cNvSpPr txBox="1"/>
          <p:nvPr/>
        </p:nvSpPr>
        <p:spPr>
          <a:xfrm>
            <a:off x="8033656" y="6814666"/>
            <a:ext cx="3777343" cy="230832"/>
          </a:xfrm>
          <a:prstGeom prst="rect">
            <a:avLst/>
          </a:prstGeom>
          <a:noFill/>
        </p:spPr>
        <p:txBody>
          <a:bodyPr wrap="square" rtlCol="0">
            <a:spAutoFit/>
          </a:bodyPr>
          <a:lstStyle/>
          <a:p>
            <a:r>
              <a:rPr lang="en-US" sz="900">
                <a:hlinkClick r:id="rId3" tooltip="http://www.picserver.org/i/immunity.html"/>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2894259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4EFE9-A209-B648-9E90-805E3A71C18F}"/>
              </a:ext>
            </a:extLst>
          </p:cNvPr>
          <p:cNvSpPr>
            <a:spLocks noGrp="1"/>
          </p:cNvSpPr>
          <p:nvPr>
            <p:ph type="title"/>
          </p:nvPr>
        </p:nvSpPr>
        <p:spPr/>
        <p:txBody>
          <a:bodyPr/>
          <a:lstStyle/>
          <a:p>
            <a:r>
              <a:rPr lang="en-US" b="1" dirty="0"/>
              <a:t>5. Endocrine (hormones) </a:t>
            </a:r>
          </a:p>
        </p:txBody>
      </p:sp>
      <p:sp>
        <p:nvSpPr>
          <p:cNvPr id="3" name="Content Placeholder 2">
            <a:extLst>
              <a:ext uri="{FF2B5EF4-FFF2-40B4-BE49-F238E27FC236}">
                <a16:creationId xmlns:a16="http://schemas.microsoft.com/office/drawing/2014/main" id="{4FD63531-8CC4-C847-98B5-A707C3A9A990}"/>
              </a:ext>
            </a:extLst>
          </p:cNvPr>
          <p:cNvSpPr>
            <a:spLocks noGrp="1"/>
          </p:cNvSpPr>
          <p:nvPr>
            <p:ph idx="1"/>
          </p:nvPr>
        </p:nvSpPr>
        <p:spPr>
          <a:xfrm>
            <a:off x="54475" y="1690688"/>
            <a:ext cx="6847114" cy="5167312"/>
          </a:xfrm>
        </p:spPr>
        <p:txBody>
          <a:bodyPr>
            <a:normAutofit lnSpcReduction="10000"/>
          </a:bodyPr>
          <a:lstStyle/>
          <a:p>
            <a:r>
              <a:rPr lang="en-AU" dirty="0"/>
              <a:t>An other main function of the placenta is acting as an endocrine gland which is a gland that secrets hormones directly into the blood acting as a regulator for the body. </a:t>
            </a:r>
          </a:p>
          <a:p>
            <a:r>
              <a:rPr lang="en-AU" dirty="0"/>
              <a:t>The placenta secretes many different hormones into the blood stream to support pregnancy and </a:t>
            </a:r>
            <a:r>
              <a:rPr lang="en-AU" dirty="0" err="1"/>
              <a:t>fetal</a:t>
            </a:r>
            <a:r>
              <a:rPr lang="en-AU" dirty="0"/>
              <a:t> growth.</a:t>
            </a:r>
          </a:p>
          <a:p>
            <a:r>
              <a:rPr lang="en-AU" dirty="0"/>
              <a:t>The 4 main hormones produced by the placenta are human chorionic gonadotropin (</a:t>
            </a:r>
            <a:r>
              <a:rPr lang="en-AU" dirty="0" err="1"/>
              <a:t>hCG</a:t>
            </a:r>
            <a:r>
              <a:rPr lang="en-AU" dirty="0"/>
              <a:t>), human placental lactogen (</a:t>
            </a:r>
            <a:r>
              <a:rPr lang="en-AU" dirty="0" err="1"/>
              <a:t>hPL</a:t>
            </a:r>
            <a:r>
              <a:rPr lang="en-AU" dirty="0"/>
              <a:t>), estrogens and progesterone.</a:t>
            </a:r>
          </a:p>
          <a:p>
            <a:r>
              <a:rPr lang="en-AU" dirty="0"/>
              <a:t>They all playing a different role and have specific function during pregnancy.</a:t>
            </a:r>
          </a:p>
          <a:p>
            <a:endParaRPr lang="en-US" dirty="0"/>
          </a:p>
        </p:txBody>
      </p:sp>
      <p:pic>
        <p:nvPicPr>
          <p:cNvPr id="5" name="Picture 4" descr="Diagram&#10;&#10;Description automatically generated">
            <a:extLst>
              <a:ext uri="{FF2B5EF4-FFF2-40B4-BE49-F238E27FC236}">
                <a16:creationId xmlns:a16="http://schemas.microsoft.com/office/drawing/2014/main" id="{933EC618-EBF7-0C45-A6EB-273BA582282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847114" y="2088752"/>
            <a:ext cx="5290411" cy="3397647"/>
          </a:xfrm>
          <a:prstGeom prst="rect">
            <a:avLst/>
          </a:prstGeom>
        </p:spPr>
      </p:pic>
    </p:spTree>
    <p:extLst>
      <p:ext uri="{BB962C8B-B14F-4D97-AF65-F5344CB8AC3E}">
        <p14:creationId xmlns:p14="http://schemas.microsoft.com/office/powerpoint/2010/main" val="4052473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1A93F-F6D1-EA4B-91E2-76B332D35CA9}"/>
              </a:ext>
            </a:extLst>
          </p:cNvPr>
          <p:cNvSpPr>
            <a:spLocks noGrp="1"/>
          </p:cNvSpPr>
          <p:nvPr>
            <p:ph type="title"/>
          </p:nvPr>
        </p:nvSpPr>
        <p:spPr/>
        <p:txBody>
          <a:bodyPr/>
          <a:lstStyle/>
          <a:p>
            <a:r>
              <a:rPr lang="en-US" b="1" dirty="0"/>
              <a:t>Umbilical Cord </a:t>
            </a:r>
          </a:p>
        </p:txBody>
      </p:sp>
      <p:sp>
        <p:nvSpPr>
          <p:cNvPr id="3" name="Content Placeholder 2">
            <a:extLst>
              <a:ext uri="{FF2B5EF4-FFF2-40B4-BE49-F238E27FC236}">
                <a16:creationId xmlns:a16="http://schemas.microsoft.com/office/drawing/2014/main" id="{2F0B9BDC-F1ED-8142-92E1-E021C48CBF0F}"/>
              </a:ext>
            </a:extLst>
          </p:cNvPr>
          <p:cNvSpPr>
            <a:spLocks noGrp="1"/>
          </p:cNvSpPr>
          <p:nvPr>
            <p:ph idx="1"/>
          </p:nvPr>
        </p:nvSpPr>
        <p:spPr>
          <a:xfrm>
            <a:off x="838200" y="1825625"/>
            <a:ext cx="4961021" cy="4351338"/>
          </a:xfrm>
        </p:spPr>
        <p:txBody>
          <a:bodyPr/>
          <a:lstStyle/>
          <a:p>
            <a:r>
              <a:rPr lang="en-AU" dirty="0"/>
              <a:t>The cord contains 2 arteries and 1 vein that are in continuation with the </a:t>
            </a:r>
            <a:r>
              <a:rPr lang="en-AU" dirty="0" err="1"/>
              <a:t>fetal</a:t>
            </a:r>
            <a:r>
              <a:rPr lang="en-AU" dirty="0"/>
              <a:t> circulation. </a:t>
            </a:r>
          </a:p>
          <a:p>
            <a:r>
              <a:rPr lang="en-AU" dirty="0"/>
              <a:t>These vessels are longer then the cord and tend to twist and spiral to add strength and protect against entanglement, compression and tension.</a:t>
            </a:r>
          </a:p>
          <a:p>
            <a:endParaRPr lang="en-US" dirty="0"/>
          </a:p>
        </p:txBody>
      </p:sp>
      <p:pic>
        <p:nvPicPr>
          <p:cNvPr id="1026" name="Picture 2" descr="Blood Circulation in the Fetus and Newborn">
            <a:extLst>
              <a:ext uri="{FF2B5EF4-FFF2-40B4-BE49-F238E27FC236}">
                <a16:creationId xmlns:a16="http://schemas.microsoft.com/office/drawing/2014/main" id="{09EFA889-94AE-EF4E-A911-4630A66FEB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17500"/>
            <a:ext cx="5803900" cy="622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7605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1A9BB-726A-F94C-B207-21B40D5315A3}"/>
              </a:ext>
            </a:extLst>
          </p:cNvPr>
          <p:cNvSpPr>
            <a:spLocks noGrp="1"/>
          </p:cNvSpPr>
          <p:nvPr>
            <p:ph type="title"/>
          </p:nvPr>
        </p:nvSpPr>
        <p:spPr/>
        <p:txBody>
          <a:bodyPr/>
          <a:lstStyle/>
          <a:p>
            <a:endParaRPr lang="en-US" dirty="0"/>
          </a:p>
        </p:txBody>
      </p:sp>
      <p:pic>
        <p:nvPicPr>
          <p:cNvPr id="2050" name="Picture 2" descr="Human Fetus Placenta Anatomy Diagram With All Part Including Mother Blood  Vessels Umbilical Cord Placental Membrane For Medical Biology Education  Royalty Free Cliparts, Vectors, And Stock Illustration. Image 80631892.">
            <a:extLst>
              <a:ext uri="{FF2B5EF4-FFF2-40B4-BE49-F238E27FC236}">
                <a16:creationId xmlns:a16="http://schemas.microsoft.com/office/drawing/2014/main" id="{BFC75079-DBE7-6E42-8499-21D0DE6717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9100" y="0"/>
            <a:ext cx="11353800" cy="6986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3096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98450-7EDF-D84A-8C18-4F03AC2DEDA5}"/>
              </a:ext>
            </a:extLst>
          </p:cNvPr>
          <p:cNvSpPr>
            <a:spLocks noGrp="1"/>
          </p:cNvSpPr>
          <p:nvPr>
            <p:ph type="title"/>
          </p:nvPr>
        </p:nvSpPr>
        <p:spPr>
          <a:xfrm>
            <a:off x="648929" y="629266"/>
            <a:ext cx="3505495" cy="1622321"/>
          </a:xfrm>
        </p:spPr>
        <p:txBody>
          <a:bodyPr>
            <a:normAutofit/>
          </a:bodyPr>
          <a:lstStyle/>
          <a:p>
            <a:r>
              <a:rPr lang="en-US" dirty="0"/>
              <a:t>Label Diagram </a:t>
            </a:r>
          </a:p>
        </p:txBody>
      </p:sp>
      <p:sp>
        <p:nvSpPr>
          <p:cNvPr id="8" name="Content Placeholder 7">
            <a:extLst>
              <a:ext uri="{FF2B5EF4-FFF2-40B4-BE49-F238E27FC236}">
                <a16:creationId xmlns:a16="http://schemas.microsoft.com/office/drawing/2014/main" id="{4958359B-F87D-4889-B8CE-B05AE6AD4494}"/>
              </a:ext>
            </a:extLst>
          </p:cNvPr>
          <p:cNvSpPr>
            <a:spLocks noGrp="1"/>
          </p:cNvSpPr>
          <p:nvPr>
            <p:ph idx="1"/>
          </p:nvPr>
        </p:nvSpPr>
        <p:spPr>
          <a:xfrm>
            <a:off x="648931" y="2438400"/>
            <a:ext cx="3505494" cy="3785419"/>
          </a:xfrm>
        </p:spPr>
        <p:txBody>
          <a:bodyPr>
            <a:normAutofit/>
          </a:bodyPr>
          <a:lstStyle/>
          <a:p>
            <a:r>
              <a:rPr lang="en-US" sz="2000" dirty="0"/>
              <a:t>Z – Umbilical cord </a:t>
            </a:r>
          </a:p>
          <a:p>
            <a:r>
              <a:rPr lang="en-US" sz="2000" dirty="0"/>
              <a:t>X – Placenta </a:t>
            </a:r>
          </a:p>
          <a:p>
            <a:r>
              <a:rPr lang="en-US" sz="2000" dirty="0"/>
              <a:t>Y – Fetus </a:t>
            </a:r>
          </a:p>
          <a:p>
            <a:r>
              <a:rPr lang="en-US" sz="2000" dirty="0"/>
              <a:t>B – Amniotic fluid </a:t>
            </a:r>
          </a:p>
        </p:txBody>
      </p:sp>
      <p:sp>
        <p:nvSpPr>
          <p:cNvPr id="11" name="Rectangle 1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0B314C7B-8B5E-6447-BDBE-EB0F804B3C98}"/>
              </a:ext>
            </a:extLst>
          </p:cNvPr>
          <p:cNvPicPr>
            <a:picLocks/>
          </p:cNvPicPr>
          <p:nvPr/>
        </p:nvPicPr>
        <p:blipFill>
          <a:blip r:embed="rId2"/>
          <a:stretch>
            <a:fillRect/>
          </a:stretch>
        </p:blipFill>
        <p:spPr bwMode="auto">
          <a:xfrm>
            <a:off x="4639055" y="0"/>
            <a:ext cx="7552945" cy="6858000"/>
          </a:xfrm>
          <a:prstGeom prst="rect">
            <a:avLst/>
          </a:prstGeom>
          <a:noFill/>
          <a:effectLst/>
        </p:spPr>
      </p:pic>
    </p:spTree>
    <p:extLst>
      <p:ext uri="{BB962C8B-B14F-4D97-AF65-F5344CB8AC3E}">
        <p14:creationId xmlns:p14="http://schemas.microsoft.com/office/powerpoint/2010/main" val="4202209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1A8AF-3A9D-8A4E-A4C4-D9B6F1B8562F}"/>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D1EEF129-062C-CD43-AE8A-E552E933C0A1}"/>
              </a:ext>
            </a:extLst>
          </p:cNvPr>
          <p:cNvGraphicFramePr>
            <a:graphicFrameLocks noGrp="1"/>
          </p:cNvGraphicFramePr>
          <p:nvPr>
            <p:ph idx="1"/>
            <p:extLst>
              <p:ext uri="{D42A27DB-BD31-4B8C-83A1-F6EECF244321}">
                <p14:modId xmlns:p14="http://schemas.microsoft.com/office/powerpoint/2010/main" val="1700699040"/>
              </p:ext>
            </p:extLst>
          </p:nvPr>
        </p:nvGraphicFramePr>
        <p:xfrm>
          <a:off x="0" y="10168"/>
          <a:ext cx="12192000" cy="6847828"/>
        </p:xfrm>
        <a:graphic>
          <a:graphicData uri="http://schemas.openxmlformats.org/drawingml/2006/table">
            <a:tbl>
              <a:tblPr firstRow="1" firstCol="1" bandRow="1">
                <a:tableStyleId>{5C22544A-7EE6-4342-B048-85BDC9FD1C3A}</a:tableStyleId>
              </a:tblPr>
              <a:tblGrid>
                <a:gridCol w="4063260">
                  <a:extLst>
                    <a:ext uri="{9D8B030D-6E8A-4147-A177-3AD203B41FA5}">
                      <a16:colId xmlns:a16="http://schemas.microsoft.com/office/drawing/2014/main" val="2872875773"/>
                    </a:ext>
                  </a:extLst>
                </a:gridCol>
                <a:gridCol w="4064370">
                  <a:extLst>
                    <a:ext uri="{9D8B030D-6E8A-4147-A177-3AD203B41FA5}">
                      <a16:colId xmlns:a16="http://schemas.microsoft.com/office/drawing/2014/main" val="1643110590"/>
                    </a:ext>
                  </a:extLst>
                </a:gridCol>
                <a:gridCol w="4064370">
                  <a:extLst>
                    <a:ext uri="{9D8B030D-6E8A-4147-A177-3AD203B41FA5}">
                      <a16:colId xmlns:a16="http://schemas.microsoft.com/office/drawing/2014/main" val="1321233107"/>
                    </a:ext>
                  </a:extLst>
                </a:gridCol>
              </a:tblGrid>
              <a:tr h="1592179">
                <a:tc>
                  <a:txBody>
                    <a:bodyPr/>
                    <a:lstStyle/>
                    <a:p>
                      <a:pPr marL="457200">
                        <a:lnSpc>
                          <a:spcPct val="150000"/>
                        </a:lnSpc>
                      </a:pPr>
                      <a:r>
                        <a:rPr lang="en-AU" sz="2800">
                          <a:effectLst/>
                        </a:rPr>
                        <a:t>Substance</a:t>
                      </a:r>
                      <a:endParaRPr lang="en-AU" sz="2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800" dirty="0">
                          <a:effectLst/>
                        </a:rPr>
                        <a:t>From mother to embryo</a:t>
                      </a:r>
                      <a:endParaRPr lang="en-AU" sz="2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800" dirty="0">
                          <a:effectLst/>
                        </a:rPr>
                        <a:t>From embryo to mother</a:t>
                      </a:r>
                      <a:endParaRPr lang="en-AU" sz="2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16466828"/>
                  </a:ext>
                </a:extLst>
              </a:tr>
              <a:tr h="750807">
                <a:tc>
                  <a:txBody>
                    <a:bodyPr/>
                    <a:lstStyle/>
                    <a:p>
                      <a:pPr marL="457200">
                        <a:lnSpc>
                          <a:spcPct val="150000"/>
                        </a:lnSpc>
                      </a:pPr>
                      <a:r>
                        <a:rPr lang="en-AU" sz="2800">
                          <a:effectLst/>
                        </a:rPr>
                        <a:t>Oxygen</a:t>
                      </a:r>
                      <a:endParaRPr lang="en-AU" sz="2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56715008"/>
                  </a:ext>
                </a:extLst>
              </a:tr>
              <a:tr h="750807">
                <a:tc>
                  <a:txBody>
                    <a:bodyPr/>
                    <a:lstStyle/>
                    <a:p>
                      <a:pPr marL="457200">
                        <a:lnSpc>
                          <a:spcPct val="150000"/>
                        </a:lnSpc>
                      </a:pPr>
                      <a:r>
                        <a:rPr lang="en-AU" sz="2800">
                          <a:effectLst/>
                        </a:rPr>
                        <a:t>Carbon dioxide</a:t>
                      </a:r>
                      <a:endParaRPr lang="en-AU" sz="2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96066774"/>
                  </a:ext>
                </a:extLst>
              </a:tr>
              <a:tr h="750807">
                <a:tc>
                  <a:txBody>
                    <a:bodyPr/>
                    <a:lstStyle/>
                    <a:p>
                      <a:pPr marL="457200">
                        <a:lnSpc>
                          <a:spcPct val="150000"/>
                        </a:lnSpc>
                      </a:pPr>
                      <a:r>
                        <a:rPr lang="en-AU" sz="2800">
                          <a:effectLst/>
                        </a:rPr>
                        <a:t>Food</a:t>
                      </a:r>
                      <a:endParaRPr lang="en-AU" sz="2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33923006"/>
                  </a:ext>
                </a:extLst>
              </a:tr>
              <a:tr h="750807">
                <a:tc>
                  <a:txBody>
                    <a:bodyPr/>
                    <a:lstStyle/>
                    <a:p>
                      <a:pPr marL="457200">
                        <a:lnSpc>
                          <a:spcPct val="150000"/>
                        </a:lnSpc>
                      </a:pPr>
                      <a:r>
                        <a:rPr lang="en-AU" sz="2800">
                          <a:effectLst/>
                        </a:rPr>
                        <a:t>Waste</a:t>
                      </a:r>
                      <a:endParaRPr lang="en-AU" sz="2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00108111"/>
                  </a:ext>
                </a:extLst>
              </a:tr>
              <a:tr h="750807">
                <a:tc>
                  <a:txBody>
                    <a:bodyPr/>
                    <a:lstStyle/>
                    <a:p>
                      <a:pPr marL="457200">
                        <a:lnSpc>
                          <a:spcPct val="150000"/>
                        </a:lnSpc>
                      </a:pPr>
                      <a:r>
                        <a:rPr lang="en-AU" sz="2800">
                          <a:effectLst/>
                        </a:rPr>
                        <a:t>Alcohol</a:t>
                      </a:r>
                      <a:endParaRPr lang="en-AU" sz="2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dirty="0">
                          <a:effectLst/>
                        </a:rPr>
                        <a:t> </a:t>
                      </a:r>
                      <a:endParaRPr lang="en-AU" sz="3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64995917"/>
                  </a:ext>
                </a:extLst>
              </a:tr>
              <a:tr h="750807">
                <a:tc>
                  <a:txBody>
                    <a:bodyPr/>
                    <a:lstStyle/>
                    <a:p>
                      <a:pPr marL="457200">
                        <a:lnSpc>
                          <a:spcPct val="150000"/>
                        </a:lnSpc>
                      </a:pPr>
                      <a:r>
                        <a:rPr lang="en-AU" sz="2800" dirty="0">
                          <a:effectLst/>
                        </a:rPr>
                        <a:t>Drugs</a:t>
                      </a:r>
                      <a:endParaRPr lang="en-AU" sz="2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51880071"/>
                  </a:ext>
                </a:extLst>
              </a:tr>
              <a:tr h="750807">
                <a:tc>
                  <a:txBody>
                    <a:bodyPr/>
                    <a:lstStyle/>
                    <a:p>
                      <a:pPr marL="457200">
                        <a:lnSpc>
                          <a:spcPct val="150000"/>
                        </a:lnSpc>
                      </a:pPr>
                      <a:r>
                        <a:rPr lang="en-AU" sz="2800" dirty="0">
                          <a:effectLst/>
                        </a:rPr>
                        <a:t>Viruses (e.g. HIV)</a:t>
                      </a:r>
                      <a:endParaRPr lang="en-AU" sz="2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dirty="0">
                          <a:effectLst/>
                        </a:rPr>
                        <a:t> </a:t>
                      </a:r>
                      <a:endParaRPr lang="en-AU" sz="3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dirty="0">
                          <a:effectLst/>
                        </a:rPr>
                        <a:t> </a:t>
                      </a:r>
                      <a:endParaRPr lang="en-AU" sz="3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00661720"/>
                  </a:ext>
                </a:extLst>
              </a:tr>
            </a:tbl>
          </a:graphicData>
        </a:graphic>
      </p:graphicFrame>
    </p:spTree>
    <p:extLst>
      <p:ext uri="{BB962C8B-B14F-4D97-AF65-F5344CB8AC3E}">
        <p14:creationId xmlns:p14="http://schemas.microsoft.com/office/powerpoint/2010/main" val="2681540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A64C-BFED-304F-9849-09403F10F65E}"/>
              </a:ext>
            </a:extLst>
          </p:cNvPr>
          <p:cNvSpPr>
            <a:spLocks noGrp="1"/>
          </p:cNvSpPr>
          <p:nvPr>
            <p:ph type="title"/>
          </p:nvPr>
        </p:nvSpPr>
        <p:spPr/>
        <p:txBody>
          <a:bodyPr/>
          <a:lstStyle/>
          <a:p>
            <a:r>
              <a:rPr lang="en-US" b="1" dirty="0"/>
              <a:t>Watch </a:t>
            </a:r>
          </a:p>
        </p:txBody>
      </p:sp>
      <p:sp>
        <p:nvSpPr>
          <p:cNvPr id="3" name="Content Placeholder 2">
            <a:extLst>
              <a:ext uri="{FF2B5EF4-FFF2-40B4-BE49-F238E27FC236}">
                <a16:creationId xmlns:a16="http://schemas.microsoft.com/office/drawing/2014/main" id="{4B95CA8E-C4A6-2647-BC4C-33A838EF8B32}"/>
              </a:ext>
            </a:extLst>
          </p:cNvPr>
          <p:cNvSpPr>
            <a:spLocks noGrp="1"/>
          </p:cNvSpPr>
          <p:nvPr>
            <p:ph idx="1"/>
          </p:nvPr>
        </p:nvSpPr>
        <p:spPr/>
        <p:txBody>
          <a:bodyPr/>
          <a:lstStyle/>
          <a:p>
            <a:r>
              <a:rPr lang="en-US" dirty="0">
                <a:hlinkClick r:id="rId2"/>
              </a:rPr>
              <a:t>https://www.youtube.com/watch?v</a:t>
            </a:r>
            <a:r>
              <a:rPr lang="en-US">
                <a:hlinkClick r:id="rId2"/>
              </a:rPr>
              <a:t>=gHnFoWEVs7o</a:t>
            </a:r>
            <a:endParaRPr lang="en-US"/>
          </a:p>
          <a:p>
            <a:endParaRPr lang="en-US" dirty="0"/>
          </a:p>
        </p:txBody>
      </p:sp>
    </p:spTree>
    <p:extLst>
      <p:ext uri="{BB962C8B-B14F-4D97-AF65-F5344CB8AC3E}">
        <p14:creationId xmlns:p14="http://schemas.microsoft.com/office/powerpoint/2010/main" val="1586259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9CC5-3127-5E4F-A7B3-8C8E522B1127}"/>
              </a:ext>
            </a:extLst>
          </p:cNvPr>
          <p:cNvSpPr>
            <a:spLocks noGrp="1"/>
          </p:cNvSpPr>
          <p:nvPr>
            <p:ph type="title"/>
          </p:nvPr>
        </p:nvSpPr>
        <p:spPr/>
        <p:txBody>
          <a:bodyPr/>
          <a:lstStyle/>
          <a:p>
            <a:r>
              <a:rPr lang="en-US" b="1" dirty="0"/>
              <a:t>Traditions </a:t>
            </a:r>
          </a:p>
        </p:txBody>
      </p:sp>
      <p:sp>
        <p:nvSpPr>
          <p:cNvPr id="3" name="Content Placeholder 2">
            <a:extLst>
              <a:ext uri="{FF2B5EF4-FFF2-40B4-BE49-F238E27FC236}">
                <a16:creationId xmlns:a16="http://schemas.microsoft.com/office/drawing/2014/main" id="{B40B1CDC-807B-5E49-BA9D-320482FE12CF}"/>
              </a:ext>
            </a:extLst>
          </p:cNvPr>
          <p:cNvSpPr>
            <a:spLocks noGrp="1"/>
          </p:cNvSpPr>
          <p:nvPr>
            <p:ph idx="1"/>
          </p:nvPr>
        </p:nvSpPr>
        <p:spPr>
          <a:xfrm>
            <a:off x="373224" y="1825625"/>
            <a:ext cx="5522250" cy="4351338"/>
          </a:xfrm>
        </p:spPr>
        <p:txBody>
          <a:bodyPr/>
          <a:lstStyle/>
          <a:p>
            <a:r>
              <a:rPr lang="en-AU" dirty="0"/>
              <a:t>Indonesia – On the day of birth, the father will clean, wrap and bury the placenta which will act as the babies guardian angel. The placenta is perceived as the baby’s twin which is why it must be buried according to their tradition.</a:t>
            </a:r>
          </a:p>
          <a:p>
            <a:endParaRPr lang="en-US" dirty="0"/>
          </a:p>
        </p:txBody>
      </p:sp>
      <p:pic>
        <p:nvPicPr>
          <p:cNvPr id="5" name="Picture 4" descr="Map&#10;&#10;Description automatically generated">
            <a:extLst>
              <a:ext uri="{FF2B5EF4-FFF2-40B4-BE49-F238E27FC236}">
                <a16:creationId xmlns:a16="http://schemas.microsoft.com/office/drawing/2014/main" id="{A2A9C5F4-7C0D-D949-AA9B-5CFB7D857D75}"/>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895474" y="1690688"/>
            <a:ext cx="6231546" cy="4351338"/>
          </a:xfrm>
          <a:prstGeom prst="rect">
            <a:avLst/>
          </a:prstGeom>
        </p:spPr>
      </p:pic>
    </p:spTree>
    <p:extLst>
      <p:ext uri="{BB962C8B-B14F-4D97-AF65-F5344CB8AC3E}">
        <p14:creationId xmlns:p14="http://schemas.microsoft.com/office/powerpoint/2010/main" val="1862965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9CC5-3127-5E4F-A7B3-8C8E522B1127}"/>
              </a:ext>
            </a:extLst>
          </p:cNvPr>
          <p:cNvSpPr>
            <a:spLocks noGrp="1"/>
          </p:cNvSpPr>
          <p:nvPr>
            <p:ph type="title"/>
          </p:nvPr>
        </p:nvSpPr>
        <p:spPr/>
        <p:txBody>
          <a:bodyPr/>
          <a:lstStyle/>
          <a:p>
            <a:r>
              <a:rPr lang="en-US" b="1" dirty="0"/>
              <a:t>Traditions </a:t>
            </a:r>
          </a:p>
        </p:txBody>
      </p:sp>
      <p:sp>
        <p:nvSpPr>
          <p:cNvPr id="3" name="Content Placeholder 2">
            <a:extLst>
              <a:ext uri="{FF2B5EF4-FFF2-40B4-BE49-F238E27FC236}">
                <a16:creationId xmlns:a16="http://schemas.microsoft.com/office/drawing/2014/main" id="{B40B1CDC-807B-5E49-BA9D-320482FE12CF}"/>
              </a:ext>
            </a:extLst>
          </p:cNvPr>
          <p:cNvSpPr>
            <a:spLocks noGrp="1"/>
          </p:cNvSpPr>
          <p:nvPr>
            <p:ph idx="1"/>
          </p:nvPr>
        </p:nvSpPr>
        <p:spPr>
          <a:xfrm>
            <a:off x="838200" y="1825625"/>
            <a:ext cx="6116053" cy="4351338"/>
          </a:xfrm>
        </p:spPr>
        <p:txBody>
          <a:bodyPr/>
          <a:lstStyle/>
          <a:p>
            <a:pPr marL="0" indent="0">
              <a:buNone/>
            </a:pPr>
            <a:r>
              <a:rPr lang="en-AU" dirty="0"/>
              <a:t>China – In this country, the placenta is seen as a force of life. They will dry it and then add it to recipes in order to consume it to increase vitality and energy.</a:t>
            </a:r>
          </a:p>
          <a:p>
            <a:pPr marL="0" indent="0">
              <a:buNone/>
            </a:pPr>
            <a:endParaRPr lang="en-US" dirty="0"/>
          </a:p>
        </p:txBody>
      </p:sp>
      <p:pic>
        <p:nvPicPr>
          <p:cNvPr id="4" name="Picture 3">
            <a:extLst>
              <a:ext uri="{FF2B5EF4-FFF2-40B4-BE49-F238E27FC236}">
                <a16:creationId xmlns:a16="http://schemas.microsoft.com/office/drawing/2014/main" id="{40C2A6B6-F6AF-5F42-BF42-14F11A1F6E0D}"/>
              </a:ext>
            </a:extLst>
          </p:cNvPr>
          <p:cNvPicPr>
            <a:picLocks noChangeAspect="1"/>
          </p:cNvPicPr>
          <p:nvPr/>
        </p:nvPicPr>
        <p:blipFill>
          <a:blip r:embed="rId2"/>
          <a:stretch>
            <a:fillRect/>
          </a:stretch>
        </p:blipFill>
        <p:spPr>
          <a:xfrm>
            <a:off x="6954252" y="1825624"/>
            <a:ext cx="4904241" cy="2746375"/>
          </a:xfrm>
          <a:prstGeom prst="rect">
            <a:avLst/>
          </a:prstGeom>
        </p:spPr>
      </p:pic>
    </p:spTree>
    <p:extLst>
      <p:ext uri="{BB962C8B-B14F-4D97-AF65-F5344CB8AC3E}">
        <p14:creationId xmlns:p14="http://schemas.microsoft.com/office/powerpoint/2010/main" val="2519437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9CC5-3127-5E4F-A7B3-8C8E522B1127}"/>
              </a:ext>
            </a:extLst>
          </p:cNvPr>
          <p:cNvSpPr>
            <a:spLocks noGrp="1"/>
          </p:cNvSpPr>
          <p:nvPr>
            <p:ph type="title"/>
          </p:nvPr>
        </p:nvSpPr>
        <p:spPr/>
        <p:txBody>
          <a:bodyPr/>
          <a:lstStyle/>
          <a:p>
            <a:r>
              <a:rPr lang="en-US" b="1" dirty="0"/>
              <a:t>Traditions </a:t>
            </a:r>
          </a:p>
        </p:txBody>
      </p:sp>
      <p:sp>
        <p:nvSpPr>
          <p:cNvPr id="3" name="Content Placeholder 2">
            <a:extLst>
              <a:ext uri="{FF2B5EF4-FFF2-40B4-BE49-F238E27FC236}">
                <a16:creationId xmlns:a16="http://schemas.microsoft.com/office/drawing/2014/main" id="{B40B1CDC-807B-5E49-BA9D-320482FE12CF}"/>
              </a:ext>
            </a:extLst>
          </p:cNvPr>
          <p:cNvSpPr>
            <a:spLocks noGrp="1"/>
          </p:cNvSpPr>
          <p:nvPr>
            <p:ph idx="1"/>
          </p:nvPr>
        </p:nvSpPr>
        <p:spPr>
          <a:xfrm>
            <a:off x="838200" y="1825625"/>
            <a:ext cx="5442284" cy="4351338"/>
          </a:xfrm>
        </p:spPr>
        <p:txBody>
          <a:bodyPr/>
          <a:lstStyle/>
          <a:p>
            <a:pPr marL="0" indent="0">
              <a:buNone/>
            </a:pPr>
            <a:r>
              <a:rPr lang="en-AU" dirty="0"/>
              <a:t>Africa – In certain regions of this continent, the placenta is wrapped up in blankets and planted under a tree. The tree then symbolizes ongoing life.</a:t>
            </a:r>
          </a:p>
          <a:p>
            <a:pPr marL="0" indent="0">
              <a:buNone/>
            </a:pPr>
            <a:endParaRPr lang="en-US" dirty="0"/>
          </a:p>
        </p:txBody>
      </p:sp>
      <p:pic>
        <p:nvPicPr>
          <p:cNvPr id="4" name="Picture 3">
            <a:extLst>
              <a:ext uri="{FF2B5EF4-FFF2-40B4-BE49-F238E27FC236}">
                <a16:creationId xmlns:a16="http://schemas.microsoft.com/office/drawing/2014/main" id="{62E45BDF-64E4-E545-B2A4-DE2C580BE914}"/>
              </a:ext>
            </a:extLst>
          </p:cNvPr>
          <p:cNvPicPr>
            <a:picLocks noChangeAspect="1"/>
          </p:cNvPicPr>
          <p:nvPr/>
        </p:nvPicPr>
        <p:blipFill>
          <a:blip r:embed="rId2"/>
          <a:stretch>
            <a:fillRect/>
          </a:stretch>
        </p:blipFill>
        <p:spPr>
          <a:xfrm>
            <a:off x="7499350" y="1177791"/>
            <a:ext cx="3854450" cy="5315084"/>
          </a:xfrm>
          <a:prstGeom prst="rect">
            <a:avLst/>
          </a:prstGeom>
        </p:spPr>
      </p:pic>
    </p:spTree>
    <p:extLst>
      <p:ext uri="{BB962C8B-B14F-4D97-AF65-F5344CB8AC3E}">
        <p14:creationId xmlns:p14="http://schemas.microsoft.com/office/powerpoint/2010/main" val="153952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9CC5-3127-5E4F-A7B3-8C8E522B1127}"/>
              </a:ext>
            </a:extLst>
          </p:cNvPr>
          <p:cNvSpPr>
            <a:spLocks noGrp="1"/>
          </p:cNvSpPr>
          <p:nvPr>
            <p:ph type="title"/>
          </p:nvPr>
        </p:nvSpPr>
        <p:spPr/>
        <p:txBody>
          <a:bodyPr/>
          <a:lstStyle/>
          <a:p>
            <a:r>
              <a:rPr lang="en-US" b="1" dirty="0"/>
              <a:t>Traditions </a:t>
            </a:r>
          </a:p>
        </p:txBody>
      </p:sp>
      <p:sp>
        <p:nvSpPr>
          <p:cNvPr id="3" name="Content Placeholder 2">
            <a:extLst>
              <a:ext uri="{FF2B5EF4-FFF2-40B4-BE49-F238E27FC236}">
                <a16:creationId xmlns:a16="http://schemas.microsoft.com/office/drawing/2014/main" id="{B40B1CDC-807B-5E49-BA9D-320482FE12CF}"/>
              </a:ext>
            </a:extLst>
          </p:cNvPr>
          <p:cNvSpPr>
            <a:spLocks noGrp="1"/>
          </p:cNvSpPr>
          <p:nvPr>
            <p:ph idx="1"/>
          </p:nvPr>
        </p:nvSpPr>
        <p:spPr>
          <a:xfrm>
            <a:off x="838200" y="1825625"/>
            <a:ext cx="5715000" cy="4351338"/>
          </a:xfrm>
        </p:spPr>
        <p:txBody>
          <a:bodyPr/>
          <a:lstStyle/>
          <a:p>
            <a:pPr marL="0" indent="0">
              <a:buNone/>
            </a:pPr>
            <a:r>
              <a:rPr lang="en-AU" dirty="0"/>
              <a:t>Europe – In certain European tribes, the placenta is said to have its own spirit and is washed and then buried by the father in a shady place. If it is not done properly, it is believed that the mother or baby will become very sick.</a:t>
            </a:r>
          </a:p>
          <a:p>
            <a:pPr marL="0" indent="0">
              <a:buNone/>
            </a:pPr>
            <a:endParaRPr lang="en-US" dirty="0"/>
          </a:p>
        </p:txBody>
      </p:sp>
      <p:pic>
        <p:nvPicPr>
          <p:cNvPr id="4" name="Picture 3">
            <a:extLst>
              <a:ext uri="{FF2B5EF4-FFF2-40B4-BE49-F238E27FC236}">
                <a16:creationId xmlns:a16="http://schemas.microsoft.com/office/drawing/2014/main" id="{E35A102E-C357-934E-B0B3-3E63C56F3BE0}"/>
              </a:ext>
            </a:extLst>
          </p:cNvPr>
          <p:cNvPicPr>
            <a:picLocks noChangeAspect="1"/>
          </p:cNvPicPr>
          <p:nvPr/>
        </p:nvPicPr>
        <p:blipFill>
          <a:blip r:embed="rId2"/>
          <a:stretch>
            <a:fillRect/>
          </a:stretch>
        </p:blipFill>
        <p:spPr>
          <a:xfrm>
            <a:off x="6553200" y="1825625"/>
            <a:ext cx="5121843" cy="3686175"/>
          </a:xfrm>
          <a:prstGeom prst="rect">
            <a:avLst/>
          </a:prstGeom>
        </p:spPr>
      </p:pic>
    </p:spTree>
    <p:extLst>
      <p:ext uri="{BB962C8B-B14F-4D97-AF65-F5344CB8AC3E}">
        <p14:creationId xmlns:p14="http://schemas.microsoft.com/office/powerpoint/2010/main" val="98183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9CC5-3127-5E4F-A7B3-8C8E522B1127}"/>
              </a:ext>
            </a:extLst>
          </p:cNvPr>
          <p:cNvSpPr>
            <a:spLocks noGrp="1"/>
          </p:cNvSpPr>
          <p:nvPr>
            <p:ph type="title"/>
          </p:nvPr>
        </p:nvSpPr>
        <p:spPr/>
        <p:txBody>
          <a:bodyPr/>
          <a:lstStyle/>
          <a:p>
            <a:r>
              <a:rPr lang="en-US" b="1" dirty="0"/>
              <a:t>Traditions </a:t>
            </a:r>
          </a:p>
        </p:txBody>
      </p:sp>
      <p:sp>
        <p:nvSpPr>
          <p:cNvPr id="3" name="Content Placeholder 2">
            <a:extLst>
              <a:ext uri="{FF2B5EF4-FFF2-40B4-BE49-F238E27FC236}">
                <a16:creationId xmlns:a16="http://schemas.microsoft.com/office/drawing/2014/main" id="{B40B1CDC-807B-5E49-BA9D-320482FE12CF}"/>
              </a:ext>
            </a:extLst>
          </p:cNvPr>
          <p:cNvSpPr>
            <a:spLocks noGrp="1"/>
          </p:cNvSpPr>
          <p:nvPr>
            <p:ph idx="1"/>
          </p:nvPr>
        </p:nvSpPr>
        <p:spPr>
          <a:xfrm>
            <a:off x="838200" y="1825625"/>
            <a:ext cx="5257800" cy="4351338"/>
          </a:xfrm>
        </p:spPr>
        <p:txBody>
          <a:bodyPr/>
          <a:lstStyle/>
          <a:p>
            <a:pPr marL="0" indent="0">
              <a:buNone/>
            </a:pPr>
            <a:r>
              <a:rPr lang="en-AU" dirty="0"/>
              <a:t>South America – In some regions, the placenta is burnt and planted in the ground in order to protect them from evil spirits.</a:t>
            </a:r>
          </a:p>
          <a:p>
            <a:pPr marL="0" indent="0">
              <a:buNone/>
            </a:pPr>
            <a:endParaRPr lang="en-US" dirty="0"/>
          </a:p>
        </p:txBody>
      </p:sp>
      <p:pic>
        <p:nvPicPr>
          <p:cNvPr id="4" name="Picture 3">
            <a:extLst>
              <a:ext uri="{FF2B5EF4-FFF2-40B4-BE49-F238E27FC236}">
                <a16:creationId xmlns:a16="http://schemas.microsoft.com/office/drawing/2014/main" id="{7F6290FB-E818-7745-B4B3-E647883BF44E}"/>
              </a:ext>
            </a:extLst>
          </p:cNvPr>
          <p:cNvPicPr>
            <a:picLocks noChangeAspect="1"/>
          </p:cNvPicPr>
          <p:nvPr/>
        </p:nvPicPr>
        <p:blipFill>
          <a:blip r:embed="rId2"/>
          <a:stretch>
            <a:fillRect/>
          </a:stretch>
        </p:blipFill>
        <p:spPr>
          <a:xfrm>
            <a:off x="6096000" y="1690688"/>
            <a:ext cx="5786831" cy="4351338"/>
          </a:xfrm>
          <a:prstGeom prst="rect">
            <a:avLst/>
          </a:prstGeom>
        </p:spPr>
      </p:pic>
    </p:spTree>
    <p:extLst>
      <p:ext uri="{BB962C8B-B14F-4D97-AF65-F5344CB8AC3E}">
        <p14:creationId xmlns:p14="http://schemas.microsoft.com/office/powerpoint/2010/main" val="1655478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977</Words>
  <Application>Microsoft Office PowerPoint</Application>
  <PresentationFormat>Widescreen</PresentationFormat>
  <Paragraphs>94</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Arial</vt:lpstr>
      <vt:lpstr>Calibri</vt:lpstr>
      <vt:lpstr>Calibri Light</vt:lpstr>
      <vt:lpstr>Cambria</vt:lpstr>
      <vt:lpstr>Office Theme</vt:lpstr>
      <vt:lpstr>Development of the Placenta </vt:lpstr>
      <vt:lpstr>Learning Outcomes </vt:lpstr>
      <vt:lpstr>PowerPoint Presentation</vt:lpstr>
      <vt:lpstr>Placenta Structure </vt:lpstr>
      <vt:lpstr>Placental Circulation </vt:lpstr>
      <vt:lpstr>Think… </vt:lpstr>
      <vt:lpstr>Roles of the placenta </vt:lpstr>
      <vt:lpstr>1. Respiration </vt:lpstr>
      <vt:lpstr>2. Nutrition and Excretion </vt:lpstr>
      <vt:lpstr>3. Protection</vt:lpstr>
      <vt:lpstr>4. Immunity </vt:lpstr>
      <vt:lpstr>5. Endocrine (hormones) </vt:lpstr>
      <vt:lpstr>Umbilical Cord </vt:lpstr>
      <vt:lpstr>PowerPoint Presentation</vt:lpstr>
      <vt:lpstr>Label Diagram </vt:lpstr>
      <vt:lpstr>PowerPoint Presentation</vt:lpstr>
      <vt:lpstr>Watch </vt:lpstr>
      <vt:lpstr>Traditions </vt:lpstr>
      <vt:lpstr>Traditions </vt:lpstr>
      <vt:lpstr>Traditions </vt:lpstr>
      <vt:lpstr>Traditions </vt:lpstr>
      <vt:lpstr>Traditions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of the Placenta </dc:title>
  <dc:creator>DOYLE Jordan [Lakeland Senior High School]</dc:creator>
  <cp:lastModifiedBy>michael simeoni</cp:lastModifiedBy>
  <cp:revision>4</cp:revision>
  <dcterms:created xsi:type="dcterms:W3CDTF">2021-08-09T07:07:52Z</dcterms:created>
  <dcterms:modified xsi:type="dcterms:W3CDTF">2022-07-28T13:22:19Z</dcterms:modified>
</cp:coreProperties>
</file>