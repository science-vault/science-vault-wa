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65" r:id="rId2"/>
    <p:sldId id="310" r:id="rId3"/>
    <p:sldId id="321" r:id="rId4"/>
    <p:sldId id="311" r:id="rId5"/>
    <p:sldId id="312" r:id="rId6"/>
    <p:sldId id="322" r:id="rId7"/>
    <p:sldId id="324" r:id="rId8"/>
    <p:sldId id="313" r:id="rId9"/>
    <p:sldId id="315" r:id="rId10"/>
    <p:sldId id="329" r:id="rId11"/>
    <p:sldId id="328" r:id="rId12"/>
    <p:sldId id="327" r:id="rId13"/>
    <p:sldId id="326" r:id="rId14"/>
    <p:sldId id="325" r:id="rId15"/>
    <p:sldId id="320" r:id="rId16"/>
    <p:sldId id="319" r:id="rId17"/>
    <p:sldId id="316" r:id="rId18"/>
    <p:sldId id="317" r:id="rId19"/>
  </p:sldIdLst>
  <p:sldSz cx="12188825"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29" autoAdjust="0"/>
  </p:normalViewPr>
  <p:slideViewPr>
    <p:cSldViewPr showGuides="1">
      <p:cViewPr>
        <p:scale>
          <a:sx n="90" d="100"/>
          <a:sy n="90" d="100"/>
        </p:scale>
        <p:origin x="259" y="53"/>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2/18/2020</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2/18/2020</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smtClean="0"/>
              <a:t>Click to edit Master title style</a:t>
            </a:r>
            <a:endParaRPr/>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2/18/2020</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2/18/2020</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2/18/2020</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2/18/2020</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2/18/2020</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2/18/2020</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2/18/2020</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2/18/2020</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2/18/2020</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2/18/2020</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2/18/2020</a:t>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140305999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O0ZvbPak4ck"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livescience.com/22486-circulatory-system.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livescience.com/26496-endocrine-system.html" TargetMode="External"/><Relationship Id="rId2" Type="http://schemas.openxmlformats.org/officeDocument/2006/relationships/hyperlink" Target="https://www.livescience.com/22367-digestive-system.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livescience.com/26983-lymphatic-system.html" TargetMode="External"/><Relationship Id="rId2" Type="http://schemas.openxmlformats.org/officeDocument/2006/relationships/hyperlink" Target="https://www.livescience.com/26579-immune-system.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livescience.com/26854-muscular-system-facts-functions-diseases.html" TargetMode="External"/><Relationship Id="rId2" Type="http://schemas.openxmlformats.org/officeDocument/2006/relationships/hyperlink" Target="https://www.livescience.com/22665-nervous-system.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livescience.com/22537-skeletal-system.html" TargetMode="External"/><Relationship Id="rId2" Type="http://schemas.openxmlformats.org/officeDocument/2006/relationships/hyperlink" Target="https://www.livescience.com/26741-reproductive-system.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livescience.com/27012-urinary-system.html" TargetMode="External"/><Relationship Id="rId2" Type="http://schemas.openxmlformats.org/officeDocument/2006/relationships/hyperlink" Target="https://www.livescience.com/22616-respiratory-system.html" TargetMode="External"/><Relationship Id="rId1" Type="http://schemas.openxmlformats.org/officeDocument/2006/relationships/slideLayout" Target="../slideLayouts/slideLayout2.xml"/><Relationship Id="rId4" Type="http://schemas.openxmlformats.org/officeDocument/2006/relationships/hyperlink" Target="https://www.livescience.com/27115-skin-facts-diseases-conditions.html"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smtClean="0"/>
              <a:t>Body Organisation</a:t>
            </a:r>
            <a:endParaRPr lang="en-US" dirty="0"/>
          </a:p>
        </p:txBody>
      </p:sp>
    </p:spTree>
    <p:extLst>
      <p:ext uri="{BB962C8B-B14F-4D97-AF65-F5344CB8AC3E}">
        <p14:creationId xmlns:p14="http://schemas.microsoft.com/office/powerpoint/2010/main" val="2808920126"/>
      </p:ext>
    </p:extLst>
  </p:cSld>
  <p:clrMapOvr>
    <a:masterClrMapping/>
  </p:clrMapOvr>
  <mc:AlternateContent xmlns:mc="http://schemas.openxmlformats.org/markup-compatibility/2006">
    <mc:Choice xmlns:p14="http://schemas.microsoft.com/office/powerpoint/2010/main" Requires="p14">
      <p:transition spd="med" p14:dur="700" advClick="0">
        <p:fade/>
      </p:transition>
    </mc:Choice>
    <mc:Fallback>
      <p:transition spd="med" advClick="0">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smtClean="0"/>
              <a:t>Curriculum Point </a:t>
            </a:r>
            <a:endParaRPr lang="en-US" dirty="0"/>
          </a:p>
        </p:txBody>
      </p:sp>
      <p:sp>
        <p:nvSpPr>
          <p:cNvPr id="14" name="Content Placeholder 13"/>
          <p:cNvSpPr>
            <a:spLocks noGrp="1"/>
          </p:cNvSpPr>
          <p:nvPr>
            <p:ph idx="1"/>
          </p:nvPr>
        </p:nvSpPr>
        <p:spPr/>
        <p:txBody>
          <a:bodyPr/>
          <a:lstStyle/>
          <a:p>
            <a:r>
              <a:rPr lang="en-AU" dirty="0"/>
              <a:t>The body has a hierarchical structural organisation of cells, tissues, organs and systems; the functions of the systems are related to life processes</a:t>
            </a:r>
            <a:endParaRPr lang="en-US" dirty="0"/>
          </a:p>
        </p:txBody>
      </p:sp>
    </p:spTree>
    <p:extLst>
      <p:ext uri="{BB962C8B-B14F-4D97-AF65-F5344CB8AC3E}">
        <p14:creationId xmlns:p14="http://schemas.microsoft.com/office/powerpoint/2010/main" val="2139132589"/>
      </p:ext>
    </p:extLst>
  </p:cSld>
  <p:clrMapOvr>
    <a:masterClrMapping/>
  </p:clrMapOvr>
  <mc:AlternateContent xmlns:mc="http://schemas.openxmlformats.org/markup-compatibility/2006">
    <mc:Choice xmlns:p14="http://schemas.microsoft.com/office/powerpoint/2010/main" Requires="p14">
      <p:transition spd="med" p14:dur="700" advClick="0">
        <p:fade/>
      </p:transition>
    </mc:Choice>
    <mc:Fallback>
      <p:transition spd="med" advClick="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smtClean="0"/>
              <a:t>The human body is organised at different levels, starting with the cell and ending with the entire organism. At each higher level of organisation, there is a greater degree of complexity. </a:t>
            </a:r>
            <a:endParaRPr lang="en-AU" dirty="0"/>
          </a:p>
        </p:txBody>
      </p:sp>
    </p:spTree>
    <p:extLst>
      <p:ext uri="{BB962C8B-B14F-4D97-AF65-F5344CB8AC3E}">
        <p14:creationId xmlns:p14="http://schemas.microsoft.com/office/powerpoint/2010/main" val="1003176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Cells</a:t>
            </a:r>
            <a:endParaRPr lang="en-AU" dirty="0"/>
          </a:p>
        </p:txBody>
      </p:sp>
      <p:sp>
        <p:nvSpPr>
          <p:cNvPr id="3" name="Content Placeholder 2"/>
          <p:cNvSpPr>
            <a:spLocks noGrp="1"/>
          </p:cNvSpPr>
          <p:nvPr>
            <p:ph idx="1"/>
          </p:nvPr>
        </p:nvSpPr>
        <p:spPr/>
        <p:txBody>
          <a:bodyPr/>
          <a:lstStyle/>
          <a:p>
            <a:r>
              <a:rPr lang="en-AU" dirty="0" smtClean="0"/>
              <a:t>Basic unit of structure and function in the human body as well as all living things. </a:t>
            </a:r>
          </a:p>
          <a:p>
            <a:r>
              <a:rPr lang="en-AU" dirty="0" smtClean="0"/>
              <a:t>Each cell carries out basic life processes that allow the body to survive, with many specialised cells (e.g. muscle, nerve, skin). </a:t>
            </a:r>
            <a:endParaRPr lang="en-AU" dirty="0"/>
          </a:p>
        </p:txBody>
      </p:sp>
    </p:spTree>
    <p:extLst>
      <p:ext uri="{BB962C8B-B14F-4D97-AF65-F5344CB8AC3E}">
        <p14:creationId xmlns:p14="http://schemas.microsoft.com/office/powerpoint/2010/main" val="3014612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Tissues</a:t>
            </a:r>
            <a:endParaRPr lang="en-AU" dirty="0"/>
          </a:p>
        </p:txBody>
      </p:sp>
      <p:sp>
        <p:nvSpPr>
          <p:cNvPr id="3" name="Content Placeholder 2"/>
          <p:cNvSpPr>
            <a:spLocks noGrp="1"/>
          </p:cNvSpPr>
          <p:nvPr>
            <p:ph idx="1"/>
          </p:nvPr>
        </p:nvSpPr>
        <p:spPr/>
        <p:txBody>
          <a:bodyPr/>
          <a:lstStyle/>
          <a:p>
            <a:r>
              <a:rPr lang="en-AU" dirty="0" smtClean="0"/>
              <a:t>A tissue is a group of connected cells that have a similar function. </a:t>
            </a:r>
          </a:p>
          <a:p>
            <a:r>
              <a:rPr lang="en-AU" dirty="0" smtClean="0"/>
              <a:t>There are four basic types of human tissues</a:t>
            </a:r>
          </a:p>
          <a:p>
            <a:pPr lvl="1"/>
            <a:r>
              <a:rPr lang="en-AU" dirty="0" smtClean="0"/>
              <a:t>Epithelial</a:t>
            </a:r>
            <a:r>
              <a:rPr lang="en-AU" dirty="0"/>
              <a:t>: Epithelial tissues are thin tissues that cover all the exposed surfaces of the body. They form the external skin, the inner lining of the mouth, digestive tract, secretory glands, the lining of hollow parts of every organ such as the heart, lungs, eyes, ears, the urogenital tract, as well as the ventricular system of the brain and central canals of the spinal cord. </a:t>
            </a:r>
            <a:endParaRPr lang="en-AU" dirty="0" smtClean="0"/>
          </a:p>
        </p:txBody>
      </p:sp>
    </p:spTree>
    <p:extLst>
      <p:ext uri="{BB962C8B-B14F-4D97-AF65-F5344CB8AC3E}">
        <p14:creationId xmlns:p14="http://schemas.microsoft.com/office/powerpoint/2010/main" val="30913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2413" y="764705"/>
            <a:ext cx="9134391" cy="5255096"/>
          </a:xfrm>
        </p:spPr>
        <p:txBody>
          <a:bodyPr/>
          <a:lstStyle/>
          <a:p>
            <a:pPr lvl="1"/>
            <a:r>
              <a:rPr lang="en-AU" dirty="0"/>
              <a:t>Muscle: </a:t>
            </a:r>
            <a:r>
              <a:rPr lang="en-AU" dirty="0" smtClean="0"/>
              <a:t> </a:t>
            </a:r>
            <a:r>
              <a:rPr lang="en-AU" dirty="0"/>
              <a:t>is a specialized tissue found in animals which functions by contracting, thereby applying forces to different parts of the body. Muscle tissue consists of </a:t>
            </a:r>
            <a:r>
              <a:rPr lang="en-AU" dirty="0" smtClean="0"/>
              <a:t>fibres </a:t>
            </a:r>
            <a:r>
              <a:rPr lang="en-AU" dirty="0"/>
              <a:t>of muscle cells connected together in sheets and </a:t>
            </a:r>
            <a:r>
              <a:rPr lang="en-AU" dirty="0" smtClean="0"/>
              <a:t>fibres. </a:t>
            </a:r>
            <a:r>
              <a:rPr lang="en-AU" dirty="0"/>
              <a:t>Together these sheets and </a:t>
            </a:r>
            <a:r>
              <a:rPr lang="en-AU" dirty="0" smtClean="0"/>
              <a:t>fibres </a:t>
            </a:r>
            <a:r>
              <a:rPr lang="en-AU" dirty="0"/>
              <a:t>and known as muscles, and control the movements of an organisms as well as many other contractile functions</a:t>
            </a:r>
            <a:r>
              <a:rPr lang="en-AU" dirty="0" smtClean="0"/>
              <a:t>.</a:t>
            </a:r>
            <a:r>
              <a:rPr lang="en-AU" dirty="0"/>
              <a:t> </a:t>
            </a:r>
            <a:endParaRPr lang="en-AU" dirty="0" smtClean="0"/>
          </a:p>
          <a:p>
            <a:pPr marL="231775" lvl="1" indent="0">
              <a:buNone/>
            </a:pPr>
            <a:endParaRPr lang="en-AU" dirty="0" smtClean="0"/>
          </a:p>
          <a:p>
            <a:pPr lvl="1"/>
            <a:r>
              <a:rPr lang="en-AU" dirty="0" smtClean="0"/>
              <a:t>Nervous</a:t>
            </a:r>
            <a:r>
              <a:rPr lang="en-AU" dirty="0"/>
              <a:t>: Nervous tissue is the term for groups of organized cells in the nervous system, which is the organ system that controls the body’s movements, sends and carries signals to and from the different parts of the body, and has a role in controlling bodily functions such as digestion</a:t>
            </a:r>
            <a:r>
              <a:rPr lang="en-AU" dirty="0" smtClean="0"/>
              <a:t>.</a:t>
            </a:r>
          </a:p>
          <a:p>
            <a:pPr marL="231775" lvl="1" indent="0">
              <a:buNone/>
            </a:pPr>
            <a:endParaRPr lang="en-AU" dirty="0"/>
          </a:p>
          <a:p>
            <a:pPr lvl="1"/>
            <a:r>
              <a:rPr lang="en-AU" dirty="0"/>
              <a:t>Connective: </a:t>
            </a:r>
            <a:r>
              <a:rPr lang="en-AU" dirty="0"/>
              <a:t>a tissue, usually of </a:t>
            </a:r>
            <a:r>
              <a:rPr lang="en-AU" dirty="0" err="1"/>
              <a:t>mesoblastic</a:t>
            </a:r>
            <a:r>
              <a:rPr lang="en-AU" dirty="0"/>
              <a:t> origin, that connects, supports, or surrounds other tissues, organs, etc.</a:t>
            </a:r>
            <a:endParaRPr lang="en-AU" dirty="0"/>
          </a:p>
          <a:p>
            <a:endParaRPr lang="en-AU" dirty="0"/>
          </a:p>
        </p:txBody>
      </p:sp>
    </p:spTree>
    <p:extLst>
      <p:ext uri="{BB962C8B-B14F-4D97-AF65-F5344CB8AC3E}">
        <p14:creationId xmlns:p14="http://schemas.microsoft.com/office/powerpoint/2010/main" val="127537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a:hlinkClick r:id="rId2"/>
              </a:rPr>
              <a:t>https://www.youtube.com/watch?v=O0ZvbPak4ck</a:t>
            </a:r>
            <a:endParaRPr lang="en-AU" dirty="0"/>
          </a:p>
        </p:txBody>
      </p:sp>
    </p:spTree>
    <p:extLst>
      <p:ext uri="{BB962C8B-B14F-4D97-AF65-F5344CB8AC3E}">
        <p14:creationId xmlns:p14="http://schemas.microsoft.com/office/powerpoint/2010/main" val="265854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Organs and Organ Systems </a:t>
            </a:r>
            <a:endParaRPr lang="en-AU" dirty="0"/>
          </a:p>
        </p:txBody>
      </p:sp>
      <p:sp>
        <p:nvSpPr>
          <p:cNvPr id="3" name="Content Placeholder 2"/>
          <p:cNvSpPr>
            <a:spLocks noGrp="1"/>
          </p:cNvSpPr>
          <p:nvPr>
            <p:ph idx="1"/>
          </p:nvPr>
        </p:nvSpPr>
        <p:spPr/>
        <p:txBody>
          <a:bodyPr/>
          <a:lstStyle/>
          <a:p>
            <a:r>
              <a:rPr lang="en-AU" dirty="0" smtClean="0"/>
              <a:t>An organ is a structure that consists of two or more types of tissues that work together to do the same job. Examples of human organs include the brain, heart, lungs, skin and kidneys. </a:t>
            </a:r>
          </a:p>
          <a:p>
            <a:r>
              <a:rPr lang="en-AU" dirty="0" smtClean="0"/>
              <a:t>Human organs are organised into organ systems (a group of organs that work together to carry out a complex overall function). </a:t>
            </a:r>
          </a:p>
          <a:p>
            <a:endParaRPr lang="en-AU" dirty="0"/>
          </a:p>
        </p:txBody>
      </p:sp>
    </p:spTree>
    <p:extLst>
      <p:ext uri="{BB962C8B-B14F-4D97-AF65-F5344CB8AC3E}">
        <p14:creationId xmlns:p14="http://schemas.microsoft.com/office/powerpoint/2010/main" val="350892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Body Systems </a:t>
            </a:r>
            <a:endParaRPr lang="en-AU" dirty="0"/>
          </a:p>
        </p:txBody>
      </p:sp>
      <p:sp>
        <p:nvSpPr>
          <p:cNvPr id="3" name="Content Placeholder 2"/>
          <p:cNvSpPr>
            <a:spLocks noGrp="1"/>
          </p:cNvSpPr>
          <p:nvPr>
            <p:ph idx="1"/>
          </p:nvPr>
        </p:nvSpPr>
        <p:spPr/>
        <p:txBody>
          <a:bodyPr>
            <a:normAutofit/>
          </a:bodyPr>
          <a:lstStyle/>
          <a:p>
            <a:pPr fontAlgn="base"/>
            <a:r>
              <a:rPr lang="en-AU" dirty="0"/>
              <a:t>Our bodies consist of a number of biological systems that carry out specific functions necessary for everyday living.</a:t>
            </a:r>
          </a:p>
          <a:p>
            <a:pPr fontAlgn="base"/>
            <a:r>
              <a:rPr lang="en-AU" dirty="0"/>
              <a:t>The job of the </a:t>
            </a:r>
            <a:r>
              <a:rPr lang="en-AU" dirty="0">
                <a:hlinkClick r:id="rId2"/>
              </a:rPr>
              <a:t>circulatory system</a:t>
            </a:r>
            <a:r>
              <a:rPr lang="en-AU" dirty="0"/>
              <a:t> is to move blood, nutrients, oxygen, carbon dioxide, and hormones, around the body. It consists of the heart, blood, blood vessels</a:t>
            </a:r>
            <a:r>
              <a:rPr lang="en-AU" dirty="0" smtClean="0"/>
              <a:t>, arteries </a:t>
            </a:r>
            <a:r>
              <a:rPr lang="en-AU" dirty="0"/>
              <a:t>and veins.</a:t>
            </a:r>
          </a:p>
          <a:p>
            <a:endParaRPr lang="en-AU" dirty="0"/>
          </a:p>
        </p:txBody>
      </p:sp>
    </p:spTree>
    <p:extLst>
      <p:ext uri="{BB962C8B-B14F-4D97-AF65-F5344CB8AC3E}">
        <p14:creationId xmlns:p14="http://schemas.microsoft.com/office/powerpoint/2010/main" val="1844890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fontAlgn="base"/>
            <a:r>
              <a:rPr lang="en-AU" dirty="0"/>
              <a:t>The </a:t>
            </a:r>
            <a:r>
              <a:rPr lang="en-AU" dirty="0">
                <a:hlinkClick r:id="rId2"/>
              </a:rPr>
              <a:t>digestive system</a:t>
            </a:r>
            <a:r>
              <a:rPr lang="en-AU" dirty="0"/>
              <a:t> consists of a series of connected organs that together, allow the body to break down and absorb food, and remove waste. </a:t>
            </a:r>
            <a:endParaRPr lang="en-AU" dirty="0" smtClean="0"/>
          </a:p>
          <a:p>
            <a:pPr fontAlgn="base"/>
            <a:r>
              <a:rPr lang="en-AU" dirty="0" smtClean="0"/>
              <a:t>The</a:t>
            </a:r>
            <a:r>
              <a:rPr lang="en-AU" dirty="0"/>
              <a:t> </a:t>
            </a:r>
            <a:r>
              <a:rPr lang="en-AU" dirty="0">
                <a:hlinkClick r:id="rId3"/>
              </a:rPr>
              <a:t>endocrine system</a:t>
            </a:r>
            <a:r>
              <a:rPr lang="en-AU" dirty="0"/>
              <a:t> consists of eight major glands that secrete hormones into the blood. These hormones, in turn, travel to different tissues and regulate various bodily functions, such as metabolism, growth and sexual function.</a:t>
            </a:r>
          </a:p>
          <a:p>
            <a:endParaRPr lang="en-AU" dirty="0"/>
          </a:p>
        </p:txBody>
      </p:sp>
    </p:spTree>
    <p:extLst>
      <p:ext uri="{BB962C8B-B14F-4D97-AF65-F5344CB8AC3E}">
        <p14:creationId xmlns:p14="http://schemas.microsoft.com/office/powerpoint/2010/main" val="1670550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fontAlgn="base"/>
            <a:r>
              <a:rPr lang="en-AU" dirty="0"/>
              <a:t>The </a:t>
            </a:r>
            <a:r>
              <a:rPr lang="en-AU" dirty="0">
                <a:hlinkClick r:id="rId2"/>
              </a:rPr>
              <a:t>immune system</a:t>
            </a:r>
            <a:r>
              <a:rPr lang="en-AU" dirty="0"/>
              <a:t> is the body's defense against bacteria, viruses and other pathogens that may be harmful. It includes lymph nodes, the spleen, bone marrow, lymphocytes (including B-cells and T-cells), the thymus and leukocytes, which are white blood cells.</a:t>
            </a:r>
          </a:p>
          <a:p>
            <a:pPr fontAlgn="base"/>
            <a:r>
              <a:rPr lang="en-AU" dirty="0"/>
              <a:t>The </a:t>
            </a:r>
            <a:r>
              <a:rPr lang="en-AU" dirty="0">
                <a:hlinkClick r:id="rId3"/>
              </a:rPr>
              <a:t>lymphatic system</a:t>
            </a:r>
            <a:r>
              <a:rPr lang="en-AU" dirty="0"/>
              <a:t> includes lymph nodes, lymph ducts and lymph vessels, and also plays a role in the body's defenses. Its main job is to make is to make and move lymph, a clear fluid that contains white blood cells, which help the body fight infection. </a:t>
            </a:r>
          </a:p>
        </p:txBody>
      </p:sp>
    </p:spTree>
    <p:extLst>
      <p:ext uri="{BB962C8B-B14F-4D97-AF65-F5344CB8AC3E}">
        <p14:creationId xmlns:p14="http://schemas.microsoft.com/office/powerpoint/2010/main" val="55293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pPr fontAlgn="base"/>
            <a:r>
              <a:rPr lang="en-AU" dirty="0"/>
              <a:t>The </a:t>
            </a:r>
            <a:r>
              <a:rPr lang="en-AU" dirty="0">
                <a:hlinkClick r:id="rId2"/>
              </a:rPr>
              <a:t>nervous system</a:t>
            </a:r>
            <a:r>
              <a:rPr lang="en-AU" dirty="0"/>
              <a:t> controls both voluntary action (like conscious movement) and involuntary actions (like breathing), and sends signals to different parts of the body. </a:t>
            </a:r>
            <a:endParaRPr lang="en-AU" dirty="0" smtClean="0"/>
          </a:p>
          <a:p>
            <a:pPr fontAlgn="base"/>
            <a:r>
              <a:rPr lang="en-AU" dirty="0" smtClean="0"/>
              <a:t>The </a:t>
            </a:r>
            <a:r>
              <a:rPr lang="en-AU" dirty="0"/>
              <a:t>body's </a:t>
            </a:r>
            <a:r>
              <a:rPr lang="en-AU" dirty="0">
                <a:hlinkClick r:id="rId3"/>
              </a:rPr>
              <a:t>muscular system</a:t>
            </a:r>
            <a:r>
              <a:rPr lang="en-AU" dirty="0"/>
              <a:t> consists of about 650 muscles that aid in movement, blood flow and other bodily functions. There are three types of muscle: skeletal muscle which is connected to bone and helps with voluntary movement, smooth muscle which is found inside organs and helps to move substances through organs, and cardiac muscle which is found in the heart and helps pump blood.</a:t>
            </a:r>
          </a:p>
          <a:p>
            <a:endParaRPr lang="en-AU" dirty="0"/>
          </a:p>
        </p:txBody>
      </p:sp>
    </p:spTree>
    <p:extLst>
      <p:ext uri="{BB962C8B-B14F-4D97-AF65-F5344CB8AC3E}">
        <p14:creationId xmlns:p14="http://schemas.microsoft.com/office/powerpoint/2010/main" val="3753739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pPr fontAlgn="base"/>
            <a:r>
              <a:rPr lang="en-AU" dirty="0"/>
              <a:t>The </a:t>
            </a:r>
            <a:r>
              <a:rPr lang="en-AU" dirty="0">
                <a:hlinkClick r:id="rId2"/>
              </a:rPr>
              <a:t>reproductive system</a:t>
            </a:r>
            <a:r>
              <a:rPr lang="en-AU" dirty="0"/>
              <a:t> allows humans to reproduce. The male reproductive system includes the penis and the testes, which produce sperm. The female reproductive system consists of the vagina, the uterus and the ovaries, which produce eggs. During conception, a sperm cell fuses with an egg cell, which creates a fertilized egg that implants and grows in the uterus. </a:t>
            </a:r>
            <a:endParaRPr lang="en-AU" dirty="0" smtClean="0"/>
          </a:p>
          <a:p>
            <a:pPr fontAlgn="base"/>
            <a:r>
              <a:rPr lang="en-AU" dirty="0" smtClean="0"/>
              <a:t>Our </a:t>
            </a:r>
            <a:r>
              <a:rPr lang="en-AU" dirty="0"/>
              <a:t>bodies are supported by the </a:t>
            </a:r>
            <a:r>
              <a:rPr lang="en-AU" dirty="0">
                <a:hlinkClick r:id="rId3"/>
              </a:rPr>
              <a:t>skeletal system</a:t>
            </a:r>
            <a:r>
              <a:rPr lang="en-AU" dirty="0"/>
              <a:t>, which consists of 206 bones that are connected by tendons, ligaments and cartilage. The skeleton not only helps us move, but it's also involved in the production of blood cells and the storage of calcium. The teeth are also part of the skeletal </a:t>
            </a:r>
            <a:r>
              <a:rPr lang="en-AU" dirty="0" smtClean="0"/>
              <a:t>system</a:t>
            </a:r>
            <a:r>
              <a:rPr lang="en-AU" dirty="0"/>
              <a:t>.</a:t>
            </a:r>
          </a:p>
          <a:p>
            <a:endParaRPr lang="en-AU" dirty="0"/>
          </a:p>
        </p:txBody>
      </p:sp>
    </p:spTree>
    <p:extLst>
      <p:ext uri="{BB962C8B-B14F-4D97-AF65-F5344CB8AC3E}">
        <p14:creationId xmlns:p14="http://schemas.microsoft.com/office/powerpoint/2010/main" val="2770480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pPr fontAlgn="base"/>
            <a:r>
              <a:rPr lang="en-AU" dirty="0"/>
              <a:t>The </a:t>
            </a:r>
            <a:r>
              <a:rPr lang="en-AU" dirty="0">
                <a:hlinkClick r:id="rId2"/>
              </a:rPr>
              <a:t>respiratory system</a:t>
            </a:r>
            <a:r>
              <a:rPr lang="en-AU" dirty="0"/>
              <a:t> allows us to take in vital oxygen and expel carbon dioxide in a process we call breathing. </a:t>
            </a:r>
            <a:endParaRPr lang="en-AU" dirty="0" smtClean="0"/>
          </a:p>
          <a:p>
            <a:pPr fontAlgn="base"/>
            <a:r>
              <a:rPr lang="en-AU" dirty="0" smtClean="0"/>
              <a:t>The</a:t>
            </a:r>
            <a:r>
              <a:rPr lang="en-AU" dirty="0"/>
              <a:t> </a:t>
            </a:r>
            <a:r>
              <a:rPr lang="en-AU" dirty="0">
                <a:hlinkClick r:id="rId3"/>
              </a:rPr>
              <a:t>urinary system</a:t>
            </a:r>
            <a:r>
              <a:rPr lang="en-AU" dirty="0"/>
              <a:t> helps eliminate a waste product called urea from the body, which is produced when certain foods are broken down. The whole system includes two kidneys, two ureters, the bladder, two sphincter muscles and the urethra. </a:t>
            </a:r>
            <a:endParaRPr lang="en-AU" dirty="0" smtClean="0"/>
          </a:p>
          <a:p>
            <a:pPr fontAlgn="base"/>
            <a:r>
              <a:rPr lang="en-AU" dirty="0" smtClean="0"/>
              <a:t>The </a:t>
            </a:r>
            <a:r>
              <a:rPr lang="en-AU" dirty="0"/>
              <a:t>skin, or </a:t>
            </a:r>
            <a:r>
              <a:rPr lang="en-AU" dirty="0">
                <a:hlinkClick r:id="rId4"/>
              </a:rPr>
              <a:t>integumentary system</a:t>
            </a:r>
            <a:r>
              <a:rPr lang="en-AU" dirty="0"/>
              <a:t>, is the body's largest organ. It protects us from the outside world, and is our first defense against bacteria, viruses and other pathogens. Our skin also helps regulate body temperature and eliminate waste through perspiration. In addition to skin, the integumentary system includes hair and nails.</a:t>
            </a:r>
          </a:p>
          <a:p>
            <a:endParaRPr lang="en-AU" dirty="0"/>
          </a:p>
        </p:txBody>
      </p:sp>
    </p:spTree>
    <p:extLst>
      <p:ext uri="{BB962C8B-B14F-4D97-AF65-F5344CB8AC3E}">
        <p14:creationId xmlns:p14="http://schemas.microsoft.com/office/powerpoint/2010/main" val="2003987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body syste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7868" y="25400"/>
            <a:ext cx="9525000" cy="6924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552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body syste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680"/>
            <a:ext cx="12221538" cy="5328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02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body systems byj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044" y="0"/>
            <a:ext cx="6154861" cy="6819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843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body systems byj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1884" y="114667"/>
            <a:ext cx="9289032" cy="6712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52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TotalTime>88</TotalTime>
  <Words>450</Words>
  <Application>Microsoft Office PowerPoint</Application>
  <PresentationFormat>Custom</PresentationFormat>
  <Paragraphs>34</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Corbel</vt:lpstr>
      <vt:lpstr>Digital Blue Tunnel 16x9</vt:lpstr>
      <vt:lpstr>Body Organisation</vt:lpstr>
      <vt:lpstr>Curriculum Point </vt:lpstr>
      <vt:lpstr>PowerPoint Presentation</vt:lpstr>
      <vt:lpstr>Cells</vt:lpstr>
      <vt:lpstr>Tissues</vt:lpstr>
      <vt:lpstr>PowerPoint Presentation</vt:lpstr>
      <vt:lpstr>PowerPoint Presentation</vt:lpstr>
      <vt:lpstr>Organs and Organ Systems </vt:lpstr>
      <vt:lpstr>Body Systems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Body Organisation</dc:title>
  <dc:creator>DOOMEN Lisa [Gilmore College]</dc:creator>
  <cp:lastModifiedBy>DOOMEN Lisa [Gilmore College]</cp:lastModifiedBy>
  <cp:revision>8</cp:revision>
  <dcterms:created xsi:type="dcterms:W3CDTF">2020-02-17T23:31:39Z</dcterms:created>
  <dcterms:modified xsi:type="dcterms:W3CDTF">2020-02-18T01:00:29Z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