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76" r:id="rId2"/>
    <p:sldId id="256" r:id="rId3"/>
    <p:sldId id="287" r:id="rId4"/>
    <p:sldId id="257" r:id="rId5"/>
    <p:sldId id="258" r:id="rId6"/>
    <p:sldId id="267" r:id="rId7"/>
    <p:sldId id="259" r:id="rId8"/>
    <p:sldId id="266" r:id="rId9"/>
    <p:sldId id="260" r:id="rId10"/>
    <p:sldId id="268" r:id="rId11"/>
    <p:sldId id="261" r:id="rId12"/>
    <p:sldId id="262" r:id="rId13"/>
    <p:sldId id="263" r:id="rId14"/>
    <p:sldId id="264" r:id="rId15"/>
    <p:sldId id="269" r:id="rId16"/>
    <p:sldId id="265" r:id="rId17"/>
    <p:sldId id="270" r:id="rId18"/>
    <p:sldId id="271" r:id="rId19"/>
    <p:sldId id="272" r:id="rId20"/>
    <p:sldId id="274" r:id="rId21"/>
    <p:sldId id="275" r:id="rId22"/>
    <p:sldId id="273" r:id="rId23"/>
    <p:sldId id="278" r:id="rId24"/>
    <p:sldId id="279" r:id="rId25"/>
    <p:sldId id="284" r:id="rId26"/>
    <p:sldId id="280" r:id="rId27"/>
    <p:sldId id="286" r:id="rId28"/>
    <p:sldId id="281" r:id="rId29"/>
    <p:sldId id="285" r:id="rId30"/>
    <p:sldId id="282" r:id="rId31"/>
    <p:sldId id="290" r:id="rId32"/>
    <p:sldId id="283" r:id="rId33"/>
    <p:sldId id="288" r:id="rId34"/>
    <p:sldId id="289"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08"/>
    <p:restoredTop sz="94681"/>
  </p:normalViewPr>
  <p:slideViewPr>
    <p:cSldViewPr snapToGrid="0" snapToObjects="1">
      <p:cViewPr>
        <p:scale>
          <a:sx n="100" d="100"/>
          <a:sy n="100" d="100"/>
        </p:scale>
        <p:origin x="46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presProps" Target="presProps.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22B75297-927C-DA46-B0CE-0C21565533D4}" type="datetimeFigureOut">
              <a:rPr lang="en-US" smtClean="0"/>
              <a:t>1/24/20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255346" y="2750337"/>
            <a:ext cx="1171888" cy="1356442"/>
          </a:xfrm>
        </p:spPr>
        <p:txBody>
          <a:bodyPr/>
          <a:lstStyle/>
          <a:p>
            <a:fld id="{9BA5C1BF-126B-624D-81E9-9544CE7CF89A}" type="slidenum">
              <a:rPr lang="en-US" smtClean="0"/>
              <a:t>‹#›</a:t>
            </a:fld>
            <a:endParaRPr lang="en-US"/>
          </a:p>
        </p:txBody>
      </p:sp>
    </p:spTree>
    <p:extLst>
      <p:ext uri="{BB962C8B-B14F-4D97-AF65-F5344CB8AC3E}">
        <p14:creationId xmlns:p14="http://schemas.microsoft.com/office/powerpoint/2010/main" val="6213189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2B75297-927C-DA46-B0CE-0C21565533D4}" type="datetimeFigureOut">
              <a:rPr lang="en-US" smtClean="0"/>
              <a:t>1/24/20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A5C1BF-126B-624D-81E9-9544CE7CF89A}" type="slidenum">
              <a:rPr lang="en-US" smtClean="0"/>
              <a:t>‹#›</a:t>
            </a:fld>
            <a:endParaRPr lang="en-US"/>
          </a:p>
        </p:txBody>
      </p:sp>
    </p:spTree>
    <p:extLst>
      <p:ext uri="{BB962C8B-B14F-4D97-AF65-F5344CB8AC3E}">
        <p14:creationId xmlns:p14="http://schemas.microsoft.com/office/powerpoint/2010/main" val="14428908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2B75297-927C-DA46-B0CE-0C21565533D4}" type="datetimeFigureOut">
              <a:rPr lang="en-US" smtClean="0"/>
              <a:t>1/24/20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729455" y="2869895"/>
            <a:ext cx="1154151" cy="1090789"/>
          </a:xfrm>
        </p:spPr>
        <p:txBody>
          <a:bodyPr/>
          <a:lstStyle/>
          <a:p>
            <a:fld id="{9BA5C1BF-126B-624D-81E9-9544CE7CF89A}" type="slidenum">
              <a:rPr lang="en-US" smtClean="0"/>
              <a:t>‹#›</a:t>
            </a:fld>
            <a:endParaRPr lang="en-US"/>
          </a:p>
        </p:txBody>
      </p:sp>
    </p:spTree>
    <p:extLst>
      <p:ext uri="{BB962C8B-B14F-4D97-AF65-F5344CB8AC3E}">
        <p14:creationId xmlns:p14="http://schemas.microsoft.com/office/powerpoint/2010/main" val="12814261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22B75297-927C-DA46-B0CE-0C21565533D4}" type="datetimeFigureOut">
              <a:rPr lang="en-US" smtClean="0"/>
              <a:t>1/24/20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A5C1BF-126B-624D-81E9-9544CE7CF89A}" type="slidenum">
              <a:rPr lang="en-US" smtClean="0"/>
              <a:t>‹#›</a:t>
            </a:fld>
            <a:endParaRPr lang="en-US"/>
          </a:p>
        </p:txBody>
      </p:sp>
    </p:spTree>
    <p:extLst>
      <p:ext uri="{BB962C8B-B14F-4D97-AF65-F5344CB8AC3E}">
        <p14:creationId xmlns:p14="http://schemas.microsoft.com/office/powerpoint/2010/main" val="19629716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80322" y="3030008"/>
            <a:ext cx="4698355" cy="2906179"/>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594123" y="3030008"/>
            <a:ext cx="4700059" cy="2906179"/>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22B75297-927C-DA46-B0CE-0C21565533D4}" type="datetimeFigureOut">
              <a:rPr lang="en-US" smtClean="0"/>
              <a:t>1/24/20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A5C1BF-126B-624D-81E9-9544CE7CF89A}" type="slidenum">
              <a:rPr lang="en-US" smtClean="0"/>
              <a:t>‹#›</a:t>
            </a:fld>
            <a:endParaRPr lang="en-US"/>
          </a:p>
        </p:txBody>
      </p:sp>
    </p:spTree>
    <p:extLst>
      <p:ext uri="{BB962C8B-B14F-4D97-AF65-F5344CB8AC3E}">
        <p14:creationId xmlns:p14="http://schemas.microsoft.com/office/powerpoint/2010/main" val="20199127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22B75297-927C-DA46-B0CE-0C21565533D4}" type="datetimeFigureOut">
              <a:rPr lang="en-US" smtClean="0"/>
              <a:t>1/24/20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A5C1BF-126B-624D-81E9-9544CE7CF89A}" type="slidenum">
              <a:rPr lang="en-US" smtClean="0"/>
              <a:t>‹#›</a:t>
            </a:fld>
            <a:endParaRPr lang="en-US"/>
          </a:p>
        </p:txBody>
      </p:sp>
    </p:spTree>
    <p:extLst>
      <p:ext uri="{BB962C8B-B14F-4D97-AF65-F5344CB8AC3E}">
        <p14:creationId xmlns:p14="http://schemas.microsoft.com/office/powerpoint/2010/main" val="12528201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22B75297-927C-DA46-B0CE-0C21565533D4}" type="datetimeFigureOut">
              <a:rPr lang="en-US" smtClean="0"/>
              <a:t>1/24/20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A5C1BF-126B-624D-81E9-9544CE7CF89A}" type="slidenum">
              <a:rPr lang="en-US" smtClean="0"/>
              <a:t>‹#›</a:t>
            </a:fld>
            <a:endParaRPr lang="en-US"/>
          </a:p>
        </p:txBody>
      </p:sp>
    </p:spTree>
    <p:extLst>
      <p:ext uri="{BB962C8B-B14F-4D97-AF65-F5344CB8AC3E}">
        <p14:creationId xmlns:p14="http://schemas.microsoft.com/office/powerpoint/2010/main" val="715223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2B75297-927C-DA46-B0CE-0C21565533D4}" type="datetimeFigureOut">
              <a:rPr lang="en-US" smtClean="0"/>
              <a:t>1/24/20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A5C1BF-126B-624D-81E9-9544CE7CF89A}" type="slidenum">
              <a:rPr lang="en-US" smtClean="0"/>
              <a:t>‹#›</a:t>
            </a:fld>
            <a:endParaRPr lang="en-US"/>
          </a:p>
        </p:txBody>
      </p:sp>
    </p:spTree>
    <p:extLst>
      <p:ext uri="{BB962C8B-B14F-4D97-AF65-F5344CB8AC3E}">
        <p14:creationId xmlns:p14="http://schemas.microsoft.com/office/powerpoint/2010/main" val="16334500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2B75297-927C-DA46-B0CE-0C21565533D4}" type="datetimeFigureOut">
              <a:rPr lang="en-US" smtClean="0"/>
              <a:t>1/24/20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A5C1BF-126B-624D-81E9-9544CE7CF89A}" type="slidenum">
              <a:rPr lang="en-US" smtClean="0"/>
              <a:t>‹#›</a:t>
            </a:fld>
            <a:endParaRPr lang="en-US"/>
          </a:p>
        </p:txBody>
      </p:sp>
    </p:spTree>
    <p:extLst>
      <p:ext uri="{BB962C8B-B14F-4D97-AF65-F5344CB8AC3E}">
        <p14:creationId xmlns:p14="http://schemas.microsoft.com/office/powerpoint/2010/main" val="21116483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2B75297-927C-DA46-B0CE-0C21565533D4}" type="datetimeFigureOut">
              <a:rPr lang="en-US" smtClean="0"/>
              <a:t>1/24/20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11309"/>
            <a:ext cx="1154151" cy="1090789"/>
          </a:xfrm>
        </p:spPr>
        <p:txBody>
          <a:bodyPr/>
          <a:lstStyle/>
          <a:p>
            <a:fld id="{9BA5C1BF-126B-624D-81E9-9544CE7CF89A}" type="slidenum">
              <a:rPr lang="en-US" smtClean="0"/>
              <a:t>‹#›</a:t>
            </a:fld>
            <a:endParaRPr lang="en-US"/>
          </a:p>
        </p:txBody>
      </p:sp>
    </p:spTree>
    <p:extLst>
      <p:ext uri="{BB962C8B-B14F-4D97-AF65-F5344CB8AC3E}">
        <p14:creationId xmlns:p14="http://schemas.microsoft.com/office/powerpoint/2010/main" val="11598748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2B75297-927C-DA46-B0CE-0C21565533D4}" type="datetimeFigureOut">
              <a:rPr lang="en-US" smtClean="0"/>
              <a:t>1/24/20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11615"/>
            <a:ext cx="1154151" cy="1090789"/>
          </a:xfrm>
        </p:spPr>
        <p:txBody>
          <a:bodyPr/>
          <a:lstStyle/>
          <a:p>
            <a:fld id="{9BA5C1BF-126B-624D-81E9-9544CE7CF89A}" type="slidenum">
              <a:rPr lang="en-US" smtClean="0"/>
              <a:t>‹#›</a:t>
            </a:fld>
            <a:endParaRPr lang="en-US"/>
          </a:p>
        </p:txBody>
      </p:sp>
    </p:spTree>
    <p:extLst>
      <p:ext uri="{BB962C8B-B14F-4D97-AF65-F5344CB8AC3E}">
        <p14:creationId xmlns:p14="http://schemas.microsoft.com/office/powerpoint/2010/main" val="13077754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2B75297-927C-DA46-B0CE-0C21565533D4}" type="datetimeFigureOut">
              <a:rPr lang="en-US" smtClean="0"/>
              <a:t>1/24/20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09925"/>
            <a:ext cx="1154151" cy="1090789"/>
          </a:xfrm>
        </p:spPr>
        <p:txBody>
          <a:bodyPr/>
          <a:lstStyle/>
          <a:p>
            <a:fld id="{9BA5C1BF-126B-624D-81E9-9544CE7CF89A}" type="slidenum">
              <a:rPr lang="en-US" smtClean="0"/>
              <a:t>‹#›</a:t>
            </a:fld>
            <a:endParaRPr lang="en-US"/>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extLst>
      <p:ext uri="{BB962C8B-B14F-4D97-AF65-F5344CB8AC3E}">
        <p14:creationId xmlns:p14="http://schemas.microsoft.com/office/powerpoint/2010/main" val="2865081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2B75297-927C-DA46-B0CE-0C21565533D4}" type="datetimeFigureOut">
              <a:rPr lang="en-US" smtClean="0"/>
              <a:t>1/24/20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09925"/>
            <a:ext cx="1154151" cy="1090789"/>
          </a:xfrm>
        </p:spPr>
        <p:txBody>
          <a:bodyPr/>
          <a:lstStyle/>
          <a:p>
            <a:fld id="{9BA5C1BF-126B-624D-81E9-9544CE7CF89A}" type="slidenum">
              <a:rPr lang="en-US" smtClean="0"/>
              <a:t>‹#›</a:t>
            </a:fld>
            <a:endParaRPr lang="en-US"/>
          </a:p>
        </p:txBody>
      </p:sp>
    </p:spTree>
    <p:extLst>
      <p:ext uri="{BB962C8B-B14F-4D97-AF65-F5344CB8AC3E}">
        <p14:creationId xmlns:p14="http://schemas.microsoft.com/office/powerpoint/2010/main" val="6842749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22B75297-927C-DA46-B0CE-0C21565533D4}" type="datetimeFigureOut">
              <a:rPr lang="en-US" smtClean="0"/>
              <a:t>1/24/20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A5C1BF-126B-624D-81E9-9544CE7CF89A}" type="slidenum">
              <a:rPr lang="en-US" smtClean="0"/>
              <a:t>‹#›</a:t>
            </a:fld>
            <a:endParaRPr lang="en-US"/>
          </a:p>
        </p:txBody>
      </p:sp>
    </p:spTree>
    <p:extLst>
      <p:ext uri="{BB962C8B-B14F-4D97-AF65-F5344CB8AC3E}">
        <p14:creationId xmlns:p14="http://schemas.microsoft.com/office/powerpoint/2010/main" val="8338524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Drag picture to placeholder or click icon to add</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Drag picture to placeholder or click icon to add</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Drag picture to placeholder or click icon to add</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22B75297-927C-DA46-B0CE-0C21565533D4}" type="datetimeFigureOut">
              <a:rPr lang="en-US" smtClean="0"/>
              <a:t>1/24/20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A5C1BF-126B-624D-81E9-9544CE7CF89A}" type="slidenum">
              <a:rPr lang="en-US" smtClean="0"/>
              <a:t>‹#›</a:t>
            </a:fld>
            <a:endParaRPr lang="en-US"/>
          </a:p>
        </p:txBody>
      </p:sp>
    </p:spTree>
    <p:extLst>
      <p:ext uri="{BB962C8B-B14F-4D97-AF65-F5344CB8AC3E}">
        <p14:creationId xmlns:p14="http://schemas.microsoft.com/office/powerpoint/2010/main" val="796619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2B75297-927C-DA46-B0CE-0C21565533D4}" type="datetimeFigureOut">
              <a:rPr lang="en-US" smtClean="0"/>
              <a:t>1/24/20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A5C1BF-126B-624D-81E9-9544CE7CF89A}" type="slidenum">
              <a:rPr lang="en-US" smtClean="0"/>
              <a:t>‹#›</a:t>
            </a:fld>
            <a:endParaRPr lang="en-US"/>
          </a:p>
        </p:txBody>
      </p:sp>
    </p:spTree>
    <p:extLst>
      <p:ext uri="{BB962C8B-B14F-4D97-AF65-F5344CB8AC3E}">
        <p14:creationId xmlns:p14="http://schemas.microsoft.com/office/powerpoint/2010/main" val="9960983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22B75297-927C-DA46-B0CE-0C21565533D4}" type="datetimeFigureOut">
              <a:rPr lang="en-US" smtClean="0"/>
              <a:t>1/24/20</a:t>
            </a:fld>
            <a:endParaRPr lang="en-US"/>
          </a:p>
        </p:txBody>
      </p:sp>
      <p:sp>
        <p:nvSpPr>
          <p:cNvPr id="5" name="Footer Placeholder 4"/>
          <p:cNvSpPr>
            <a:spLocks noGrp="1"/>
          </p:cNvSpPr>
          <p:nvPr>
            <p:ph type="ftr" sz="quarter" idx="11"/>
          </p:nvPr>
        </p:nvSpPr>
        <p:spPr>
          <a:xfrm>
            <a:off x="680321" y="5936188"/>
            <a:ext cx="6126805" cy="365125"/>
          </a:xfrm>
        </p:spPr>
        <p:txBody>
          <a:bodyPr/>
          <a:lstStyle/>
          <a:p>
            <a:endParaRPr lang="en-US"/>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9BA5C1BF-126B-624D-81E9-9544CE7CF89A}" type="slidenum">
              <a:rPr lang="en-US" smtClean="0"/>
              <a:t>‹#›</a:t>
            </a:fld>
            <a:endParaRPr lang="en-US"/>
          </a:p>
        </p:txBody>
      </p:sp>
    </p:spTree>
    <p:extLst>
      <p:ext uri="{BB962C8B-B14F-4D97-AF65-F5344CB8AC3E}">
        <p14:creationId xmlns:p14="http://schemas.microsoft.com/office/powerpoint/2010/main" val="1790377067"/>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9" Type="http://schemas.openxmlformats.org/officeDocument/2006/relationships/image" Target="../media/image1.pn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22B75297-927C-DA46-B0CE-0C21565533D4}" type="datetimeFigureOut">
              <a:rPr lang="en-US" smtClean="0"/>
              <a:t>1/24/20</a:t>
            </a:fld>
            <a:endParaRPr lang="en-US"/>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9BA5C1BF-126B-624D-81E9-9544CE7CF89A}" type="slidenum">
              <a:rPr lang="en-US" smtClean="0"/>
              <a:t>‹#›</a:t>
            </a:fld>
            <a:endParaRPr lang="en-US"/>
          </a:p>
        </p:txBody>
      </p:sp>
    </p:spTree>
    <p:extLst>
      <p:ext uri="{BB962C8B-B14F-4D97-AF65-F5344CB8AC3E}">
        <p14:creationId xmlns:p14="http://schemas.microsoft.com/office/powerpoint/2010/main" val="142598553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e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e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522803379"/>
              </p:ext>
            </p:extLst>
          </p:nvPr>
        </p:nvGraphicFramePr>
        <p:xfrm>
          <a:off x="681038" y="2336800"/>
          <a:ext cx="9613900" cy="1483360"/>
        </p:xfrm>
        <a:graphic>
          <a:graphicData uri="http://schemas.openxmlformats.org/drawingml/2006/table">
            <a:tbl>
              <a:tblPr firstRow="1" bandRow="1">
                <a:tableStyleId>{5C22544A-7EE6-4342-B048-85BDC9FD1C3A}</a:tableStyleId>
              </a:tblPr>
              <a:tblGrid>
                <a:gridCol w="4806950"/>
                <a:gridCol w="4806950"/>
              </a:tblGrid>
              <a:tr h="370840">
                <a:tc>
                  <a:txBody>
                    <a:bodyPr/>
                    <a:lstStyle/>
                    <a:p>
                      <a:r>
                        <a:rPr lang="en-US" dirty="0" smtClean="0"/>
                        <a:t>Overview of course</a:t>
                      </a:r>
                      <a:endParaRPr lang="en-US" dirty="0"/>
                    </a:p>
                  </a:txBody>
                  <a:tcPr/>
                </a:tc>
                <a:tc>
                  <a:txBody>
                    <a:bodyPr/>
                    <a:lstStyle/>
                    <a:p>
                      <a:r>
                        <a:rPr lang="en-US" dirty="0" err="1" smtClean="0"/>
                        <a:t>Powerpoint</a:t>
                      </a:r>
                      <a:r>
                        <a:rPr lang="en-US" dirty="0" smtClean="0"/>
                        <a:t> </a:t>
                      </a:r>
                      <a:endParaRPr lang="en-US" dirty="0"/>
                    </a:p>
                  </a:txBody>
                  <a:tcPr/>
                </a:tc>
              </a:tr>
              <a:tr h="370840">
                <a:tc>
                  <a:txBody>
                    <a:bodyPr/>
                    <a:lstStyle/>
                    <a:p>
                      <a:r>
                        <a:rPr lang="en-US" dirty="0" err="1" smtClean="0"/>
                        <a:t>Powerpoint</a:t>
                      </a:r>
                      <a:endParaRPr lang="en-US" dirty="0"/>
                    </a:p>
                  </a:txBody>
                  <a:tcPr/>
                </a:tc>
                <a:tc>
                  <a:txBody>
                    <a:bodyPr/>
                    <a:lstStyle/>
                    <a:p>
                      <a:r>
                        <a:rPr lang="en-US" dirty="0" smtClean="0"/>
                        <a:t>Microscopes </a:t>
                      </a:r>
                      <a:endParaRPr lang="en-US" dirty="0"/>
                    </a:p>
                  </a:txBody>
                  <a:tcPr/>
                </a:tc>
              </a:tr>
              <a:tr h="370840">
                <a:tc>
                  <a:txBody>
                    <a:bodyPr/>
                    <a:lstStyle/>
                    <a:p>
                      <a:r>
                        <a:rPr lang="en-US" dirty="0" err="1" smtClean="0"/>
                        <a:t>Powerpoint</a:t>
                      </a:r>
                      <a:r>
                        <a:rPr lang="en-US" baseline="0" dirty="0" smtClean="0"/>
                        <a:t> and revision</a:t>
                      </a:r>
                      <a:endParaRPr lang="en-US" dirty="0"/>
                    </a:p>
                  </a:txBody>
                  <a:tcPr/>
                </a:tc>
                <a:tc>
                  <a:txBody>
                    <a:bodyPr/>
                    <a:lstStyle/>
                    <a:p>
                      <a:r>
                        <a:rPr lang="en-US" dirty="0" err="1" smtClean="0"/>
                        <a:t>Powerpoint</a:t>
                      </a:r>
                      <a:r>
                        <a:rPr lang="en-US" dirty="0" smtClean="0"/>
                        <a:t> </a:t>
                      </a:r>
                      <a:endParaRPr lang="en-US" dirty="0"/>
                    </a:p>
                  </a:txBody>
                  <a:tcPr/>
                </a:tc>
              </a:tr>
              <a:tr h="370840">
                <a:tc>
                  <a:txBody>
                    <a:bodyPr/>
                    <a:lstStyle/>
                    <a:p>
                      <a:r>
                        <a:rPr lang="en-US" dirty="0" smtClean="0"/>
                        <a:t>Test </a:t>
                      </a:r>
                      <a:endParaRPr lang="en-US" dirty="0"/>
                    </a:p>
                  </a:txBody>
                  <a:tcPr/>
                </a:tc>
                <a:tc>
                  <a:txBody>
                    <a:bodyPr/>
                    <a:lstStyle/>
                    <a:p>
                      <a:r>
                        <a:rPr lang="en-US" dirty="0" err="1" smtClean="0"/>
                        <a:t>Powerpoint</a:t>
                      </a:r>
                      <a:r>
                        <a:rPr lang="en-US" dirty="0" smtClean="0"/>
                        <a:t> </a:t>
                      </a:r>
                      <a:endParaRPr lang="en-US" dirty="0"/>
                    </a:p>
                  </a:txBody>
                  <a:tcPr/>
                </a:tc>
              </a:tr>
            </a:tbl>
          </a:graphicData>
        </a:graphic>
      </p:graphicFrame>
    </p:spTree>
    <p:extLst>
      <p:ext uri="{BB962C8B-B14F-4D97-AF65-F5344CB8AC3E}">
        <p14:creationId xmlns:p14="http://schemas.microsoft.com/office/powerpoint/2010/main" val="19537657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Characteristics of Life </a:t>
            </a:r>
            <a:endParaRPr lang="en-US" dirty="0"/>
          </a:p>
        </p:txBody>
      </p:sp>
      <p:sp>
        <p:nvSpPr>
          <p:cNvPr id="3" name="Subtitle 2"/>
          <p:cNvSpPr>
            <a:spLocks noGrp="1"/>
          </p:cNvSpPr>
          <p:nvPr>
            <p:ph type="subTitle" idx="1"/>
          </p:nvPr>
        </p:nvSpPr>
        <p:spPr/>
        <p:txBody>
          <a:bodyPr/>
          <a:lstStyle/>
          <a:p>
            <a:r>
              <a:rPr lang="en-US" dirty="0" smtClean="0"/>
              <a:t>Unit One: Healthy Body </a:t>
            </a:r>
            <a:endParaRPr lang="en-US" dirty="0"/>
          </a:p>
        </p:txBody>
      </p:sp>
    </p:spTree>
    <p:extLst>
      <p:ext uri="{BB962C8B-B14F-4D97-AF65-F5344CB8AC3E}">
        <p14:creationId xmlns:p14="http://schemas.microsoft.com/office/powerpoint/2010/main" val="11485526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Resources </a:t>
            </a:r>
            <a:endParaRPr lang="en-US" dirty="0"/>
          </a:p>
        </p:txBody>
      </p:sp>
      <p:sp>
        <p:nvSpPr>
          <p:cNvPr id="3" name="Content Placeholder 2"/>
          <p:cNvSpPr>
            <a:spLocks noGrp="1"/>
          </p:cNvSpPr>
          <p:nvPr>
            <p:ph idx="1"/>
          </p:nvPr>
        </p:nvSpPr>
        <p:spPr/>
        <p:txBody>
          <a:bodyPr/>
          <a:lstStyle/>
          <a:p>
            <a:r>
              <a:rPr lang="en-US" dirty="0" smtClean="0"/>
              <a:t>CK-12 (website and app) </a:t>
            </a:r>
          </a:p>
          <a:p>
            <a:r>
              <a:rPr lang="en-US" dirty="0" err="1" smtClean="0"/>
              <a:t>Squiz</a:t>
            </a:r>
            <a:r>
              <a:rPr lang="en-US" dirty="0" smtClean="0"/>
              <a:t> (app) </a:t>
            </a:r>
          </a:p>
          <a:p>
            <a:r>
              <a:rPr lang="en-US" dirty="0" smtClean="0"/>
              <a:t>BYJU’s (website and app) </a:t>
            </a:r>
          </a:p>
          <a:p>
            <a:r>
              <a:rPr lang="en-US" dirty="0" smtClean="0"/>
              <a:t>Khan Academy (website and app) </a:t>
            </a:r>
          </a:p>
          <a:p>
            <a:r>
              <a:rPr lang="en-US" dirty="0" smtClean="0"/>
              <a:t>How stuff works (website) </a:t>
            </a:r>
          </a:p>
          <a:p>
            <a:endParaRPr lang="en-US" dirty="0"/>
          </a:p>
        </p:txBody>
      </p:sp>
    </p:spTree>
    <p:extLst>
      <p:ext uri="{BB962C8B-B14F-4D97-AF65-F5344CB8AC3E}">
        <p14:creationId xmlns:p14="http://schemas.microsoft.com/office/powerpoint/2010/main" val="15902126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Curriculum Point </a:t>
            </a:r>
            <a:endParaRPr lang="en-US" dirty="0"/>
          </a:p>
        </p:txBody>
      </p:sp>
      <p:sp>
        <p:nvSpPr>
          <p:cNvPr id="3" name="Content Placeholder 2"/>
          <p:cNvSpPr>
            <a:spLocks noGrp="1"/>
          </p:cNvSpPr>
          <p:nvPr>
            <p:ph idx="1"/>
          </p:nvPr>
        </p:nvSpPr>
        <p:spPr/>
        <p:txBody>
          <a:bodyPr/>
          <a:lstStyle/>
          <a:p>
            <a:r>
              <a:rPr lang="en-US" dirty="0" smtClean="0"/>
              <a:t>All living things carry out the life processes of respiration, feeding (including digestion and absorption), excretion, movement, reproduction, responding to stimuli and growth. </a:t>
            </a:r>
            <a:endParaRPr lang="en-US" dirty="0"/>
          </a:p>
        </p:txBody>
      </p:sp>
    </p:spTree>
    <p:extLst>
      <p:ext uri="{BB962C8B-B14F-4D97-AF65-F5344CB8AC3E}">
        <p14:creationId xmlns:p14="http://schemas.microsoft.com/office/powerpoint/2010/main" val="11376548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Assessment </a:t>
            </a:r>
            <a:endParaRPr lang="en-US" dirty="0"/>
          </a:p>
        </p:txBody>
      </p:sp>
      <p:sp>
        <p:nvSpPr>
          <p:cNvPr id="3" name="Content Placeholder 2"/>
          <p:cNvSpPr>
            <a:spLocks noGrp="1"/>
          </p:cNvSpPr>
          <p:nvPr>
            <p:ph idx="1"/>
          </p:nvPr>
        </p:nvSpPr>
        <p:spPr/>
        <p:txBody>
          <a:bodyPr/>
          <a:lstStyle/>
          <a:p>
            <a:r>
              <a:rPr lang="en-US" dirty="0" smtClean="0"/>
              <a:t>Test on Life Processes </a:t>
            </a:r>
          </a:p>
          <a:p>
            <a:r>
              <a:rPr lang="en-US" dirty="0" smtClean="0"/>
              <a:t>4% of total mark </a:t>
            </a:r>
          </a:p>
          <a:p>
            <a:r>
              <a:rPr lang="en-US" dirty="0" smtClean="0"/>
              <a:t>Includes multiple choice (13 questions), short answer (3 questions) and extended answer (1 question) </a:t>
            </a:r>
          </a:p>
          <a:p>
            <a:r>
              <a:rPr lang="en-US" dirty="0" smtClean="0"/>
              <a:t>Total time 30 minutes</a:t>
            </a:r>
            <a:endParaRPr lang="en-US" dirty="0"/>
          </a:p>
        </p:txBody>
      </p:sp>
    </p:spTree>
    <p:extLst>
      <p:ext uri="{BB962C8B-B14F-4D97-AF65-F5344CB8AC3E}">
        <p14:creationId xmlns:p14="http://schemas.microsoft.com/office/powerpoint/2010/main" val="21454141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Connections </a:t>
            </a:r>
            <a:endParaRPr lang="en-US" dirty="0"/>
          </a:p>
        </p:txBody>
      </p:sp>
      <p:sp>
        <p:nvSpPr>
          <p:cNvPr id="3" name="Content Placeholder 2"/>
          <p:cNvSpPr>
            <a:spLocks noGrp="1"/>
          </p:cNvSpPr>
          <p:nvPr>
            <p:ph idx="1"/>
          </p:nvPr>
        </p:nvSpPr>
        <p:spPr/>
        <p:txBody>
          <a:bodyPr/>
          <a:lstStyle/>
          <a:p>
            <a:r>
              <a:rPr lang="en-US" dirty="0" smtClean="0"/>
              <a:t>Year 7 Biology- MRS GREN </a:t>
            </a:r>
          </a:p>
          <a:p>
            <a:r>
              <a:rPr lang="en-US" dirty="0" smtClean="0"/>
              <a:t>Movement, Respiration, Sensitivity, Growth, Reproduction, Excretion, Nutrition </a:t>
            </a:r>
          </a:p>
          <a:p>
            <a:r>
              <a:rPr lang="en-US" dirty="0" smtClean="0"/>
              <a:t>An organisms needs to check all seven boxes for it to be classified as living </a:t>
            </a:r>
            <a:endParaRPr lang="en-US" dirty="0"/>
          </a:p>
        </p:txBody>
      </p:sp>
    </p:spTree>
    <p:extLst>
      <p:ext uri="{BB962C8B-B14F-4D97-AF65-F5344CB8AC3E}">
        <p14:creationId xmlns:p14="http://schemas.microsoft.com/office/powerpoint/2010/main" val="15074401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Respiration </a:t>
            </a:r>
            <a:endParaRPr lang="en-US" dirty="0"/>
          </a:p>
        </p:txBody>
      </p:sp>
      <p:sp>
        <p:nvSpPr>
          <p:cNvPr id="3" name="Content Placeholder 2"/>
          <p:cNvSpPr>
            <a:spLocks noGrp="1"/>
          </p:cNvSpPr>
          <p:nvPr>
            <p:ph idx="1"/>
          </p:nvPr>
        </p:nvSpPr>
        <p:spPr/>
        <p:txBody>
          <a:bodyPr>
            <a:normAutofit/>
          </a:bodyPr>
          <a:lstStyle/>
          <a:p>
            <a:r>
              <a:rPr lang="en-US" dirty="0" smtClean="0"/>
              <a:t>Respiration is the conversion of energy from carbohydrates (the </a:t>
            </a:r>
            <a:r>
              <a:rPr lang="en-US" dirty="0"/>
              <a:t>sugars, starches and </a:t>
            </a:r>
            <a:r>
              <a:rPr lang="en-US" dirty="0" err="1" smtClean="0"/>
              <a:t>fibres</a:t>
            </a:r>
            <a:r>
              <a:rPr lang="en-US" dirty="0" smtClean="0"/>
              <a:t> </a:t>
            </a:r>
            <a:r>
              <a:rPr lang="en-US" dirty="0"/>
              <a:t>found in fruits, grains, vegetables and milk </a:t>
            </a:r>
            <a:r>
              <a:rPr lang="en-US" dirty="0" smtClean="0"/>
              <a:t>products) and fats into energy that can be used by cells. </a:t>
            </a:r>
          </a:p>
          <a:p>
            <a:r>
              <a:rPr lang="en-US" dirty="0" smtClean="0"/>
              <a:t>In multicellular organisms, respiration is built around the breakdown of sugars with the use of oxygen. This produces carbon dioxide as a by-product. </a:t>
            </a:r>
          </a:p>
          <a:p>
            <a:r>
              <a:rPr lang="en-US" dirty="0" smtClean="0"/>
              <a:t>Some micro-organisms, in areas where there is little oxygen, use other molecules such as nitrates and iron, to help break down sugars. </a:t>
            </a:r>
            <a:endParaRPr lang="en-US" dirty="0"/>
          </a:p>
        </p:txBody>
      </p:sp>
    </p:spTree>
    <p:extLst>
      <p:ext uri="{BB962C8B-B14F-4D97-AF65-F5344CB8AC3E}">
        <p14:creationId xmlns:p14="http://schemas.microsoft.com/office/powerpoint/2010/main" val="12747392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mage result for respiration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0"/>
            <a:ext cx="7855782"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63638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Feeding (digestion and absorption) </a:t>
            </a:r>
            <a:endParaRPr lang="en-US" dirty="0"/>
          </a:p>
        </p:txBody>
      </p:sp>
      <p:sp>
        <p:nvSpPr>
          <p:cNvPr id="3" name="Content Placeholder 2"/>
          <p:cNvSpPr>
            <a:spLocks noGrp="1"/>
          </p:cNvSpPr>
          <p:nvPr>
            <p:ph idx="1"/>
          </p:nvPr>
        </p:nvSpPr>
        <p:spPr/>
        <p:txBody>
          <a:bodyPr/>
          <a:lstStyle/>
          <a:p>
            <a:r>
              <a:rPr lang="en-US" dirty="0"/>
              <a:t>Nutrition: in order for organisms to survive they require food for energy and nutrients. </a:t>
            </a:r>
          </a:p>
          <a:p>
            <a:r>
              <a:rPr lang="en-US" dirty="0" smtClean="0"/>
              <a:t>Absorption: The </a:t>
            </a:r>
            <a:r>
              <a:rPr lang="en-US" dirty="0"/>
              <a:t>transfer of substances into cells, tissues, or organs. </a:t>
            </a:r>
            <a:endParaRPr lang="en-US" dirty="0" smtClean="0"/>
          </a:p>
          <a:p>
            <a:r>
              <a:rPr lang="en-US" dirty="0" smtClean="0"/>
              <a:t>Digestion: The mechanical and chemical breakdown of food to small molecules that can be absorbed into the body. </a:t>
            </a:r>
          </a:p>
        </p:txBody>
      </p:sp>
    </p:spTree>
    <p:extLst>
      <p:ext uri="{BB962C8B-B14F-4D97-AF65-F5344CB8AC3E}">
        <p14:creationId xmlns:p14="http://schemas.microsoft.com/office/powerpoint/2010/main" val="19688784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mage result for absorption biolog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1000" y="6350"/>
            <a:ext cx="9144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1100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Excretion </a:t>
            </a:r>
            <a:endParaRPr lang="en-US" dirty="0"/>
          </a:p>
        </p:txBody>
      </p:sp>
      <p:sp>
        <p:nvSpPr>
          <p:cNvPr id="3" name="Content Placeholder 2"/>
          <p:cNvSpPr>
            <a:spLocks noGrp="1"/>
          </p:cNvSpPr>
          <p:nvPr>
            <p:ph idx="1"/>
          </p:nvPr>
        </p:nvSpPr>
        <p:spPr/>
        <p:txBody>
          <a:bodyPr/>
          <a:lstStyle/>
          <a:p>
            <a:r>
              <a:rPr lang="en-US" dirty="0" smtClean="0"/>
              <a:t>Normal functions in cells and tissues of organisms produce waste such as urine and dead cells. If waste products aren’t removed, they can become toxic. Excretion is the term used to define the removal of waste products from an organism (urine, poo, sweat). </a:t>
            </a:r>
            <a:endParaRPr lang="en-US" dirty="0"/>
          </a:p>
        </p:txBody>
      </p:sp>
    </p:spTree>
    <p:extLst>
      <p:ext uri="{BB962C8B-B14F-4D97-AF65-F5344CB8AC3E}">
        <p14:creationId xmlns:p14="http://schemas.microsoft.com/office/powerpoint/2010/main" val="2093269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Movement </a:t>
            </a:r>
            <a:endParaRPr lang="en-US" dirty="0"/>
          </a:p>
        </p:txBody>
      </p:sp>
      <p:sp>
        <p:nvSpPr>
          <p:cNvPr id="3" name="Content Placeholder 2"/>
          <p:cNvSpPr>
            <a:spLocks noGrp="1"/>
          </p:cNvSpPr>
          <p:nvPr>
            <p:ph idx="1"/>
          </p:nvPr>
        </p:nvSpPr>
        <p:spPr/>
        <p:txBody>
          <a:bodyPr/>
          <a:lstStyle/>
          <a:p>
            <a:r>
              <a:rPr lang="en-US" dirty="0" smtClean="0"/>
              <a:t>A living organism will always have some degree of movement, be it their entire body or particular body parts. </a:t>
            </a:r>
          </a:p>
          <a:p>
            <a:r>
              <a:rPr lang="en-US" dirty="0" smtClean="0"/>
              <a:t>Organisms that are not able to move freely (plants) will usually have strong defenses against predation. </a:t>
            </a:r>
            <a:endParaRPr lang="en-US" dirty="0"/>
          </a:p>
        </p:txBody>
      </p:sp>
    </p:spTree>
    <p:extLst>
      <p:ext uri="{BB962C8B-B14F-4D97-AF65-F5344CB8AC3E}">
        <p14:creationId xmlns:p14="http://schemas.microsoft.com/office/powerpoint/2010/main" val="8895756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Reproduction </a:t>
            </a:r>
            <a:endParaRPr lang="en-US" dirty="0"/>
          </a:p>
        </p:txBody>
      </p:sp>
      <p:sp>
        <p:nvSpPr>
          <p:cNvPr id="3" name="Content Placeholder 2"/>
          <p:cNvSpPr>
            <a:spLocks noGrp="1"/>
          </p:cNvSpPr>
          <p:nvPr>
            <p:ph idx="1"/>
          </p:nvPr>
        </p:nvSpPr>
        <p:spPr/>
        <p:txBody>
          <a:bodyPr/>
          <a:lstStyle/>
          <a:p>
            <a:r>
              <a:rPr lang="en-US" dirty="0" smtClean="0"/>
              <a:t>All living things reproduce to ensure the next generation. Organisms that do not reproduce will go extinct. </a:t>
            </a:r>
          </a:p>
          <a:p>
            <a:r>
              <a:rPr lang="en-US" dirty="0" smtClean="0"/>
              <a:t>Some organisms reproduce asexually (especially single-celled organisms) and make identical copies of themselves using a process called mitosis. </a:t>
            </a:r>
          </a:p>
          <a:p>
            <a:r>
              <a:rPr lang="en-US" dirty="0" smtClean="0"/>
              <a:t>Other organisms reproduce sexually, combining genetic information from two parents to make genetically unique offspring (meiosis). </a:t>
            </a:r>
            <a:endParaRPr lang="en-US" dirty="0"/>
          </a:p>
        </p:txBody>
      </p:sp>
    </p:spTree>
    <p:extLst>
      <p:ext uri="{BB962C8B-B14F-4D97-AF65-F5344CB8AC3E}">
        <p14:creationId xmlns:p14="http://schemas.microsoft.com/office/powerpoint/2010/main" val="16255968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Responding to stimuli </a:t>
            </a:r>
            <a:endParaRPr lang="en-US" dirty="0"/>
          </a:p>
        </p:txBody>
      </p:sp>
      <p:sp>
        <p:nvSpPr>
          <p:cNvPr id="3" name="Content Placeholder 2"/>
          <p:cNvSpPr>
            <a:spLocks noGrp="1"/>
          </p:cNvSpPr>
          <p:nvPr>
            <p:ph idx="1"/>
          </p:nvPr>
        </p:nvSpPr>
        <p:spPr/>
        <p:txBody>
          <a:bodyPr/>
          <a:lstStyle/>
          <a:p>
            <a:r>
              <a:rPr lang="en-US" dirty="0" smtClean="0"/>
              <a:t>Refers to the way organisms respond to their environment by sensing changes and acting accordingly. </a:t>
            </a:r>
          </a:p>
          <a:p>
            <a:r>
              <a:rPr lang="en-US" dirty="0" smtClean="0"/>
              <a:t>For example, barnacles will close their shells during low tide to prevent themselves drying out. </a:t>
            </a:r>
          </a:p>
          <a:p>
            <a:r>
              <a:rPr lang="en-US" dirty="0" smtClean="0"/>
              <a:t>Organisms constantly respond to changes in light, heat, sound, and chemical and mechanical contact (Homeostasis). Organisms have means for receiving such information, such as eyes, ears, taste buds and skin. </a:t>
            </a:r>
            <a:endParaRPr lang="en-US" dirty="0"/>
          </a:p>
        </p:txBody>
      </p:sp>
    </p:spTree>
    <p:extLst>
      <p:ext uri="{BB962C8B-B14F-4D97-AF65-F5344CB8AC3E}">
        <p14:creationId xmlns:p14="http://schemas.microsoft.com/office/powerpoint/2010/main" val="9949046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mage result for homeostasi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600" y="444500"/>
            <a:ext cx="11963764" cy="5664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11738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Growth </a:t>
            </a:r>
            <a:endParaRPr lang="en-US" dirty="0"/>
          </a:p>
        </p:txBody>
      </p:sp>
      <p:sp>
        <p:nvSpPr>
          <p:cNvPr id="3" name="Content Placeholder 2"/>
          <p:cNvSpPr>
            <a:spLocks noGrp="1"/>
          </p:cNvSpPr>
          <p:nvPr>
            <p:ph idx="1"/>
          </p:nvPr>
        </p:nvSpPr>
        <p:spPr/>
        <p:txBody>
          <a:bodyPr>
            <a:normAutofit lnSpcReduction="10000"/>
          </a:bodyPr>
          <a:lstStyle/>
          <a:p>
            <a:pPr fontAlgn="base"/>
            <a:r>
              <a:rPr lang="en-US" dirty="0"/>
              <a:t>T</a:t>
            </a:r>
            <a:r>
              <a:rPr lang="en-US" dirty="0" smtClean="0"/>
              <a:t>he </a:t>
            </a:r>
            <a:r>
              <a:rPr lang="en-US" dirty="0"/>
              <a:t>increases </a:t>
            </a:r>
            <a:r>
              <a:rPr lang="en-US" dirty="0" smtClean="0"/>
              <a:t>in</a:t>
            </a:r>
            <a:r>
              <a:rPr lang="en-US" dirty="0"/>
              <a:t> </a:t>
            </a:r>
            <a:r>
              <a:rPr lang="en-US" dirty="0" smtClean="0"/>
              <a:t>cell size </a:t>
            </a:r>
            <a:r>
              <a:rPr lang="en-US" dirty="0"/>
              <a:t>and number that take place during the life history of an organism.</a:t>
            </a:r>
          </a:p>
          <a:p>
            <a:pPr fontAlgn="base"/>
            <a:r>
              <a:rPr lang="en-US" dirty="0"/>
              <a:t>Growth </a:t>
            </a:r>
            <a:r>
              <a:rPr lang="en-US" dirty="0" smtClean="0"/>
              <a:t>occurs </a:t>
            </a:r>
            <a:r>
              <a:rPr lang="en-US" dirty="0"/>
              <a:t>according to a plan that eventually determines the size and shape of the individual. </a:t>
            </a:r>
            <a:endParaRPr lang="en-US" dirty="0" smtClean="0"/>
          </a:p>
          <a:p>
            <a:pPr fontAlgn="base"/>
            <a:r>
              <a:rPr lang="en-US" dirty="0" smtClean="0"/>
              <a:t>The predetermined pattern </a:t>
            </a:r>
            <a:r>
              <a:rPr lang="en-US" dirty="0"/>
              <a:t>of growth </a:t>
            </a:r>
            <a:r>
              <a:rPr lang="en-US" dirty="0" smtClean="0"/>
              <a:t>in </a:t>
            </a:r>
            <a:r>
              <a:rPr lang="en-US" dirty="0"/>
              <a:t>plants and animals can be seen in the forms of adults. </a:t>
            </a:r>
            <a:endParaRPr lang="en-US" dirty="0" smtClean="0"/>
          </a:p>
          <a:p>
            <a:pPr fontAlgn="base"/>
            <a:r>
              <a:rPr lang="en-US" dirty="0" smtClean="0"/>
              <a:t>In </a:t>
            </a:r>
            <a:r>
              <a:rPr lang="en-US" dirty="0"/>
              <a:t>some organisms, however, notably the slime molds, no regular pattern of growth occurs, and a formless cytoplasmic mass is the result.</a:t>
            </a:r>
            <a:br>
              <a:rPr lang="en-US" dirty="0"/>
            </a:br>
            <a:endParaRPr lang="en-US" dirty="0"/>
          </a:p>
          <a:p>
            <a:endParaRPr lang="en-US" dirty="0"/>
          </a:p>
        </p:txBody>
      </p:sp>
    </p:spTree>
    <p:extLst>
      <p:ext uri="{BB962C8B-B14F-4D97-AF65-F5344CB8AC3E}">
        <p14:creationId xmlns:p14="http://schemas.microsoft.com/office/powerpoint/2010/main" val="20883356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Revision Questions </a:t>
            </a:r>
            <a:endParaRPr lang="en-US" dirty="0"/>
          </a:p>
        </p:txBody>
      </p:sp>
      <p:sp>
        <p:nvSpPr>
          <p:cNvPr id="3" name="Content Placeholder 2"/>
          <p:cNvSpPr>
            <a:spLocks noGrp="1"/>
          </p:cNvSpPr>
          <p:nvPr>
            <p:ph idx="1"/>
          </p:nvPr>
        </p:nvSpPr>
        <p:spPr/>
        <p:txBody>
          <a:bodyPr/>
          <a:lstStyle/>
          <a:p>
            <a:r>
              <a:rPr lang="en-US" dirty="0" smtClean="0"/>
              <a:t>1) Why is movement essential to an organism?</a:t>
            </a:r>
          </a:p>
          <a:p>
            <a:r>
              <a:rPr lang="en-US" dirty="0" smtClean="0"/>
              <a:t>2) What do we call the process by which plants use energy from the sun to get nutrition and energy?</a:t>
            </a:r>
          </a:p>
          <a:p>
            <a:r>
              <a:rPr lang="en-US" dirty="0" smtClean="0"/>
              <a:t>3) What is homeostasis?</a:t>
            </a:r>
          </a:p>
          <a:p>
            <a:r>
              <a:rPr lang="en-US" dirty="0" smtClean="0"/>
              <a:t>4) How does your body retain or lose heat? Explain. </a:t>
            </a:r>
            <a:endParaRPr lang="en-US" dirty="0"/>
          </a:p>
        </p:txBody>
      </p:sp>
    </p:spTree>
    <p:extLst>
      <p:ext uri="{BB962C8B-B14F-4D97-AF65-F5344CB8AC3E}">
        <p14:creationId xmlns:p14="http://schemas.microsoft.com/office/powerpoint/2010/main" val="19838032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50000">
              <a:srgbClr val="00B0F0"/>
            </a:gs>
            <a:gs pos="10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Curriculum Point </a:t>
            </a:r>
            <a:endParaRPr lang="en-US" dirty="0"/>
          </a:p>
        </p:txBody>
      </p:sp>
      <p:sp>
        <p:nvSpPr>
          <p:cNvPr id="3" name="Content Placeholder 2"/>
          <p:cNvSpPr>
            <a:spLocks noGrp="1"/>
          </p:cNvSpPr>
          <p:nvPr>
            <p:ph idx="1"/>
          </p:nvPr>
        </p:nvSpPr>
        <p:spPr/>
        <p:txBody>
          <a:bodyPr/>
          <a:lstStyle/>
          <a:p>
            <a:r>
              <a:rPr lang="en-US" dirty="0" smtClean="0"/>
              <a:t>The cell theory states that all cells arise from other living cells. </a:t>
            </a:r>
            <a:endParaRPr lang="en-US" dirty="0"/>
          </a:p>
        </p:txBody>
      </p:sp>
    </p:spTree>
    <p:extLst>
      <p:ext uri="{BB962C8B-B14F-4D97-AF65-F5344CB8AC3E}">
        <p14:creationId xmlns:p14="http://schemas.microsoft.com/office/powerpoint/2010/main" val="21354239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50000">
              <a:srgbClr val="00B0F0"/>
            </a:gs>
            <a:gs pos="10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History </a:t>
            </a:r>
            <a:endParaRPr lang="en-US" dirty="0"/>
          </a:p>
        </p:txBody>
      </p:sp>
      <p:sp>
        <p:nvSpPr>
          <p:cNvPr id="3" name="Content Placeholder 2"/>
          <p:cNvSpPr>
            <a:spLocks noGrp="1"/>
          </p:cNvSpPr>
          <p:nvPr>
            <p:ph idx="1"/>
          </p:nvPr>
        </p:nvSpPr>
        <p:spPr/>
        <p:txBody>
          <a:bodyPr/>
          <a:lstStyle/>
          <a:p>
            <a:r>
              <a:rPr lang="en-US" dirty="0" smtClean="0"/>
              <a:t>Biologists in the early part of the 19</a:t>
            </a:r>
            <a:r>
              <a:rPr lang="en-US" baseline="30000" dirty="0" smtClean="0"/>
              <a:t>th</a:t>
            </a:r>
            <a:r>
              <a:rPr lang="en-US" dirty="0" smtClean="0"/>
              <a:t> century suggested that all living things were made of cells. It wasn’t until 1839 that it was suggested that all living things were made of cells and that cells were the basic unit of structure and function of all living things. </a:t>
            </a:r>
          </a:p>
          <a:p>
            <a:r>
              <a:rPr lang="en-US" dirty="0" smtClean="0"/>
              <a:t>In 1858 cells were observed dividing and it was proposed that all cells arise only from other cells. These observations formed the rules of the cell theory. </a:t>
            </a:r>
            <a:endParaRPr lang="en-US" dirty="0"/>
          </a:p>
        </p:txBody>
      </p:sp>
    </p:spTree>
    <p:extLst>
      <p:ext uri="{BB962C8B-B14F-4D97-AF65-F5344CB8AC3E}">
        <p14:creationId xmlns:p14="http://schemas.microsoft.com/office/powerpoint/2010/main" val="21387407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50000">
              <a:srgbClr val="00B0F0"/>
            </a:gs>
            <a:gs pos="10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Rules of the Cell Theory </a:t>
            </a:r>
            <a:endParaRPr lang="en-US" dirty="0"/>
          </a:p>
        </p:txBody>
      </p:sp>
      <p:sp>
        <p:nvSpPr>
          <p:cNvPr id="3" name="Content Placeholder 2"/>
          <p:cNvSpPr>
            <a:spLocks noGrp="1"/>
          </p:cNvSpPr>
          <p:nvPr>
            <p:ph idx="1"/>
          </p:nvPr>
        </p:nvSpPr>
        <p:spPr/>
        <p:txBody>
          <a:bodyPr/>
          <a:lstStyle/>
          <a:p>
            <a:r>
              <a:rPr lang="en-US" dirty="0" smtClean="0"/>
              <a:t>1) All organisms are made up from one or more cells </a:t>
            </a:r>
          </a:p>
          <a:p>
            <a:r>
              <a:rPr lang="en-US" dirty="0" smtClean="0"/>
              <a:t>2) All the life functions of an organism occur within cells </a:t>
            </a:r>
          </a:p>
          <a:p>
            <a:r>
              <a:rPr lang="en-US" dirty="0" smtClean="0"/>
              <a:t>3) All cells come from pre-existing cells </a:t>
            </a:r>
            <a:endParaRPr lang="en-US" dirty="0"/>
          </a:p>
        </p:txBody>
      </p:sp>
    </p:spTree>
    <p:extLst>
      <p:ext uri="{BB962C8B-B14F-4D97-AF65-F5344CB8AC3E}">
        <p14:creationId xmlns:p14="http://schemas.microsoft.com/office/powerpoint/2010/main" val="19306985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50000">
              <a:srgbClr val="00B0F0"/>
            </a:gs>
            <a:gs pos="10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Cells	</a:t>
            </a:r>
            <a:endParaRPr lang="en-US" dirty="0"/>
          </a:p>
        </p:txBody>
      </p:sp>
      <p:sp>
        <p:nvSpPr>
          <p:cNvPr id="3" name="Content Placeholder 2"/>
          <p:cNvSpPr>
            <a:spLocks noGrp="1"/>
          </p:cNvSpPr>
          <p:nvPr>
            <p:ph idx="1"/>
          </p:nvPr>
        </p:nvSpPr>
        <p:spPr/>
        <p:txBody>
          <a:bodyPr/>
          <a:lstStyle/>
          <a:p>
            <a:r>
              <a:rPr lang="en-US" dirty="0" smtClean="0"/>
              <a:t>Cells come in many shapes and sizes and all have a function. The shapes and sizes directly influence the function of the cell. </a:t>
            </a:r>
          </a:p>
          <a:p>
            <a:r>
              <a:rPr lang="en-US" dirty="0" smtClean="0"/>
              <a:t>For example, the nerve cell has many long extensions so it is able to pass messages along to other nerve cells. </a:t>
            </a:r>
            <a:endParaRPr lang="en-US" dirty="0"/>
          </a:p>
        </p:txBody>
      </p:sp>
    </p:spTree>
    <p:extLst>
      <p:ext uri="{BB962C8B-B14F-4D97-AF65-F5344CB8AC3E}">
        <p14:creationId xmlns:p14="http://schemas.microsoft.com/office/powerpoint/2010/main" val="1630470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rotWithShape="1">
          <a:gsLst>
            <a:gs pos="50000">
              <a:srgbClr val="00B0F0"/>
            </a:gs>
            <a:gs pos="10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pic>
        <p:nvPicPr>
          <p:cNvPr id="4098" name="Picture 2" descr="mage result for types of cell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1200" y="8467"/>
            <a:ext cx="10274300" cy="68495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50778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rotWithShape="1">
          <a:gsLst>
            <a:gs pos="65000">
              <a:schemeClr val="accent3">
                <a:lumMod val="75000"/>
              </a:schemeClr>
            </a:gs>
            <a:gs pos="96000">
              <a:schemeClr val="bg2">
                <a:shade val="100000"/>
                <a:hueMod val="100000"/>
                <a:satMod val="110000"/>
                <a:lumMod val="130000"/>
              </a:schemeClr>
            </a:gs>
            <a:gs pos="100000">
              <a:schemeClr val="accent6">
                <a:lumMod val="75000"/>
              </a:schemeClr>
            </a:gs>
          </a:gsLst>
          <a:lin ang="2520000" scaled="0"/>
        </a:gra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Curriculum Point 	</a:t>
            </a:r>
            <a:endParaRPr lang="en-US" dirty="0"/>
          </a:p>
        </p:txBody>
      </p:sp>
      <p:sp>
        <p:nvSpPr>
          <p:cNvPr id="4" name="Content Placeholder 3"/>
          <p:cNvSpPr>
            <a:spLocks noGrp="1"/>
          </p:cNvSpPr>
          <p:nvPr>
            <p:ph idx="1"/>
          </p:nvPr>
        </p:nvSpPr>
        <p:spPr/>
        <p:txBody>
          <a:bodyPr/>
          <a:lstStyle/>
          <a:p>
            <a:r>
              <a:rPr lang="en-US" dirty="0" smtClean="0"/>
              <a:t>Cells are separated from their surroundings by the cell membrane, which controls the movement of materials into and out of the cell by: </a:t>
            </a:r>
          </a:p>
          <a:p>
            <a:pPr lvl="1"/>
            <a:r>
              <a:rPr lang="en-US" sz="2400" dirty="0" smtClean="0"/>
              <a:t>Passive processes, including diffusion and osmosis </a:t>
            </a:r>
          </a:p>
          <a:p>
            <a:pPr lvl="1"/>
            <a:r>
              <a:rPr lang="en-US" sz="2400" dirty="0" smtClean="0"/>
              <a:t>Active processes, including active transport, endocytosis</a:t>
            </a:r>
            <a:endParaRPr lang="en-US" sz="2400" dirty="0"/>
          </a:p>
        </p:txBody>
      </p:sp>
    </p:spTree>
    <p:extLst>
      <p:ext uri="{BB962C8B-B14F-4D97-AF65-F5344CB8AC3E}">
        <p14:creationId xmlns:p14="http://schemas.microsoft.com/office/powerpoint/2010/main" val="5587577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rotWithShape="1">
          <a:gsLst>
            <a:gs pos="65000">
              <a:schemeClr val="accent3">
                <a:lumMod val="75000"/>
              </a:schemeClr>
            </a:gs>
            <a:gs pos="96000">
              <a:schemeClr val="bg2">
                <a:shade val="100000"/>
                <a:hueMod val="100000"/>
                <a:satMod val="110000"/>
                <a:lumMod val="130000"/>
              </a:schemeClr>
            </a:gs>
            <a:gs pos="100000">
              <a:schemeClr val="accent6">
                <a:lumMod val="75000"/>
              </a:schemeClr>
            </a:gs>
          </a:gsLst>
          <a:lin ang="2520000" scaled="0"/>
        </a:gra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Cell Membrane </a:t>
            </a:r>
            <a:endParaRPr lang="en-US" dirty="0"/>
          </a:p>
        </p:txBody>
      </p:sp>
      <p:sp>
        <p:nvSpPr>
          <p:cNvPr id="4" name="Content Placeholder 3"/>
          <p:cNvSpPr>
            <a:spLocks noGrp="1"/>
          </p:cNvSpPr>
          <p:nvPr>
            <p:ph idx="1"/>
          </p:nvPr>
        </p:nvSpPr>
        <p:spPr/>
        <p:txBody>
          <a:bodyPr/>
          <a:lstStyle/>
          <a:p>
            <a:r>
              <a:rPr lang="en-US" dirty="0" smtClean="0"/>
              <a:t>Is the barrier to separate the inside from the outside of the cell. </a:t>
            </a:r>
          </a:p>
          <a:p>
            <a:r>
              <a:rPr lang="en-US" dirty="0" smtClean="0"/>
              <a:t>It is semi- permeable with a double layer of phospholipids. </a:t>
            </a:r>
            <a:endParaRPr lang="en-US" dirty="0"/>
          </a:p>
        </p:txBody>
      </p:sp>
    </p:spTree>
    <p:extLst>
      <p:ext uri="{BB962C8B-B14F-4D97-AF65-F5344CB8AC3E}">
        <p14:creationId xmlns:p14="http://schemas.microsoft.com/office/powerpoint/2010/main" val="7743315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rotWithShape="1">
          <a:gsLst>
            <a:gs pos="65000">
              <a:schemeClr val="accent3">
                <a:lumMod val="75000"/>
              </a:schemeClr>
            </a:gs>
            <a:gs pos="96000">
              <a:schemeClr val="bg2">
                <a:shade val="100000"/>
                <a:hueMod val="100000"/>
                <a:satMod val="110000"/>
                <a:lumMod val="130000"/>
              </a:schemeClr>
            </a:gs>
            <a:gs pos="100000">
              <a:schemeClr val="accent6">
                <a:lumMod val="75000"/>
              </a:schemeClr>
            </a:gs>
          </a:gsLst>
          <a:lin ang="2520000" scaled="0"/>
        </a:gradFill>
        <a:effectLst/>
      </p:bgPr>
    </p:bg>
    <p:spTree>
      <p:nvGrpSpPr>
        <p:cNvPr id="1" name=""/>
        <p:cNvGrpSpPr/>
        <p:nvPr/>
      </p:nvGrpSpPr>
      <p:grpSpPr>
        <a:xfrm>
          <a:off x="0" y="0"/>
          <a:ext cx="0" cy="0"/>
          <a:chOff x="0" y="0"/>
          <a:chExt cx="0" cy="0"/>
        </a:xfrm>
      </p:grpSpPr>
      <p:pic>
        <p:nvPicPr>
          <p:cNvPr id="5122" name="Picture 2" descr="mage result for cell membran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1400" y="635000"/>
            <a:ext cx="10643616" cy="5029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66370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gradFill rotWithShape="1">
          <a:gsLst>
            <a:gs pos="65000">
              <a:schemeClr val="accent3">
                <a:lumMod val="75000"/>
              </a:schemeClr>
            </a:gs>
            <a:gs pos="96000">
              <a:schemeClr val="bg2">
                <a:shade val="100000"/>
                <a:hueMod val="100000"/>
                <a:satMod val="110000"/>
                <a:lumMod val="130000"/>
              </a:schemeClr>
            </a:gs>
            <a:gs pos="100000">
              <a:schemeClr val="accent6">
                <a:lumMod val="75000"/>
              </a:schemeClr>
            </a:gs>
          </a:gsLst>
          <a:lin ang="2520000" scaled="0"/>
        </a:gra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Diffusion </a:t>
            </a:r>
            <a:endParaRPr lang="en-US" dirty="0"/>
          </a:p>
        </p:txBody>
      </p:sp>
      <p:sp>
        <p:nvSpPr>
          <p:cNvPr id="4" name="Content Placeholder 3"/>
          <p:cNvSpPr>
            <a:spLocks noGrp="1"/>
          </p:cNvSpPr>
          <p:nvPr>
            <p:ph idx="1"/>
          </p:nvPr>
        </p:nvSpPr>
        <p:spPr/>
        <p:txBody>
          <a:bodyPr/>
          <a:lstStyle/>
          <a:p>
            <a:r>
              <a:rPr lang="en-US" dirty="0" smtClean="0"/>
              <a:t>Is the movement of a substance from an area of high concentration to an area of low concentration. </a:t>
            </a:r>
            <a:endParaRPr lang="en-US" dirty="0"/>
          </a:p>
        </p:txBody>
      </p:sp>
    </p:spTree>
    <p:extLst>
      <p:ext uri="{BB962C8B-B14F-4D97-AF65-F5344CB8AC3E}">
        <p14:creationId xmlns:p14="http://schemas.microsoft.com/office/powerpoint/2010/main" val="4170273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gradFill rotWithShape="1">
          <a:gsLst>
            <a:gs pos="65000">
              <a:schemeClr val="accent3">
                <a:lumMod val="75000"/>
              </a:schemeClr>
            </a:gs>
            <a:gs pos="96000">
              <a:schemeClr val="bg2">
                <a:shade val="100000"/>
                <a:hueMod val="100000"/>
                <a:satMod val="110000"/>
                <a:lumMod val="130000"/>
              </a:schemeClr>
            </a:gs>
            <a:gs pos="100000">
              <a:schemeClr val="accent6">
                <a:lumMod val="75000"/>
              </a:schemeClr>
            </a:gs>
          </a:gsLst>
          <a:lin ang="2520000" scaled="0"/>
        </a:gradFill>
        <a:effectLst/>
      </p:bgPr>
    </p:bg>
    <p:spTree>
      <p:nvGrpSpPr>
        <p:cNvPr id="1" name=""/>
        <p:cNvGrpSpPr/>
        <p:nvPr/>
      </p:nvGrpSpPr>
      <p:grpSpPr>
        <a:xfrm>
          <a:off x="0" y="0"/>
          <a:ext cx="0" cy="0"/>
          <a:chOff x="0" y="0"/>
          <a:chExt cx="0" cy="0"/>
        </a:xfrm>
      </p:grpSpPr>
      <p:pic>
        <p:nvPicPr>
          <p:cNvPr id="6146" name="Picture 2" descr="mage result for diffus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000" y="165100"/>
            <a:ext cx="7143750" cy="3486150"/>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mage result for diffus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87540" y="3651250"/>
            <a:ext cx="5039360" cy="314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83614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gradFill rotWithShape="1">
          <a:gsLst>
            <a:gs pos="65000">
              <a:schemeClr val="accent3">
                <a:lumMod val="75000"/>
              </a:schemeClr>
            </a:gs>
            <a:gs pos="96000">
              <a:schemeClr val="bg2">
                <a:shade val="100000"/>
                <a:hueMod val="100000"/>
                <a:satMod val="110000"/>
                <a:lumMod val="130000"/>
              </a:schemeClr>
            </a:gs>
            <a:gs pos="100000">
              <a:schemeClr val="accent6">
                <a:lumMod val="75000"/>
              </a:schemeClr>
            </a:gs>
          </a:gsLst>
          <a:lin ang="2520000" scaled="0"/>
        </a:gra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Osmosis </a:t>
            </a:r>
            <a:endParaRPr lang="en-US" dirty="0"/>
          </a:p>
        </p:txBody>
      </p:sp>
      <p:sp>
        <p:nvSpPr>
          <p:cNvPr id="4" name="Content Placeholder 3"/>
          <p:cNvSpPr>
            <a:spLocks noGrp="1"/>
          </p:cNvSpPr>
          <p:nvPr>
            <p:ph idx="1"/>
          </p:nvPr>
        </p:nvSpPr>
        <p:spPr/>
        <p:txBody>
          <a:bodyPr/>
          <a:lstStyle/>
          <a:p>
            <a:r>
              <a:rPr lang="en-US" dirty="0" smtClean="0"/>
              <a:t>A process by which molecules of a solvent tend to pass through a semipermeable membrane from a less concentrated solution into a more concentrated one. </a:t>
            </a:r>
            <a:endParaRPr lang="en-US" dirty="0"/>
          </a:p>
        </p:txBody>
      </p:sp>
    </p:spTree>
    <p:extLst>
      <p:ext uri="{BB962C8B-B14F-4D97-AF65-F5344CB8AC3E}">
        <p14:creationId xmlns:p14="http://schemas.microsoft.com/office/powerpoint/2010/main" val="737181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gradFill rotWithShape="1">
          <a:gsLst>
            <a:gs pos="65000">
              <a:schemeClr val="accent3">
                <a:lumMod val="75000"/>
              </a:schemeClr>
            </a:gs>
            <a:gs pos="96000">
              <a:schemeClr val="bg2">
                <a:shade val="100000"/>
                <a:hueMod val="100000"/>
                <a:satMod val="110000"/>
                <a:lumMod val="130000"/>
              </a:schemeClr>
            </a:gs>
            <a:gs pos="100000">
              <a:schemeClr val="accent6">
                <a:lumMod val="75000"/>
              </a:schemeClr>
            </a:gs>
          </a:gsLst>
          <a:lin ang="2520000" scaled="0"/>
        </a:gradFill>
        <a:effectLst/>
      </p:bgPr>
    </p:bg>
    <p:spTree>
      <p:nvGrpSpPr>
        <p:cNvPr id="1" name=""/>
        <p:cNvGrpSpPr/>
        <p:nvPr/>
      </p:nvGrpSpPr>
      <p:grpSpPr>
        <a:xfrm>
          <a:off x="0" y="0"/>
          <a:ext cx="0" cy="0"/>
          <a:chOff x="0" y="0"/>
          <a:chExt cx="0" cy="0"/>
        </a:xfrm>
      </p:grpSpPr>
      <p:pic>
        <p:nvPicPr>
          <p:cNvPr id="7170" name="Picture 2" descr="mage result for osmosi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2100" y="279400"/>
            <a:ext cx="11811000" cy="63175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373424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gradFill rotWithShape="1">
          <a:gsLst>
            <a:gs pos="65000">
              <a:schemeClr val="accent3">
                <a:lumMod val="75000"/>
              </a:schemeClr>
            </a:gs>
            <a:gs pos="96000">
              <a:schemeClr val="bg2">
                <a:shade val="100000"/>
                <a:hueMod val="100000"/>
                <a:satMod val="110000"/>
                <a:lumMod val="130000"/>
              </a:schemeClr>
            </a:gs>
            <a:gs pos="100000">
              <a:schemeClr val="accent6">
                <a:lumMod val="75000"/>
              </a:schemeClr>
            </a:gs>
          </a:gsLst>
          <a:lin ang="2520000" scaled="0"/>
        </a:gra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Active Transport </a:t>
            </a:r>
            <a:endParaRPr lang="en-US" dirty="0"/>
          </a:p>
        </p:txBody>
      </p:sp>
      <p:sp>
        <p:nvSpPr>
          <p:cNvPr id="4" name="Content Placeholder 3"/>
          <p:cNvSpPr>
            <a:spLocks noGrp="1"/>
          </p:cNvSpPr>
          <p:nvPr>
            <p:ph idx="1"/>
          </p:nvPr>
        </p:nvSpPr>
        <p:spPr/>
        <p:txBody>
          <a:bodyPr/>
          <a:lstStyle/>
          <a:p>
            <a:r>
              <a:rPr lang="en-US" dirty="0" smtClean="0"/>
              <a:t>The movement of ions or molecules across a cell membrane into a region of higher concentration, assisted by enzymes and requiring energy</a:t>
            </a:r>
            <a:endParaRPr lang="en-US" dirty="0"/>
          </a:p>
        </p:txBody>
      </p:sp>
    </p:spTree>
    <p:extLst>
      <p:ext uri="{BB962C8B-B14F-4D97-AF65-F5344CB8AC3E}">
        <p14:creationId xmlns:p14="http://schemas.microsoft.com/office/powerpoint/2010/main" val="13760478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gradFill rotWithShape="1">
          <a:gsLst>
            <a:gs pos="65000">
              <a:schemeClr val="accent3">
                <a:lumMod val="75000"/>
              </a:schemeClr>
            </a:gs>
            <a:gs pos="96000">
              <a:schemeClr val="bg2">
                <a:shade val="100000"/>
                <a:hueMod val="100000"/>
                <a:satMod val="110000"/>
                <a:lumMod val="130000"/>
              </a:schemeClr>
            </a:gs>
            <a:gs pos="100000">
              <a:schemeClr val="accent6">
                <a:lumMod val="75000"/>
              </a:schemeClr>
            </a:gs>
          </a:gsLst>
          <a:lin ang="2520000" scaled="0"/>
        </a:gradFill>
        <a:effectLst/>
      </p:bgPr>
    </p:bg>
    <p:spTree>
      <p:nvGrpSpPr>
        <p:cNvPr id="1" name=""/>
        <p:cNvGrpSpPr/>
        <p:nvPr/>
      </p:nvGrpSpPr>
      <p:grpSpPr>
        <a:xfrm>
          <a:off x="0" y="0"/>
          <a:ext cx="0" cy="0"/>
          <a:chOff x="0" y="0"/>
          <a:chExt cx="0" cy="0"/>
        </a:xfrm>
      </p:grpSpPr>
      <p:pic>
        <p:nvPicPr>
          <p:cNvPr id="8194" name="Picture 2" descr="mage result for active transpor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7900" y="457199"/>
            <a:ext cx="10566400" cy="5943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36663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gradFill rotWithShape="1">
          <a:gsLst>
            <a:gs pos="65000">
              <a:schemeClr val="accent3">
                <a:lumMod val="75000"/>
              </a:schemeClr>
            </a:gs>
            <a:gs pos="96000">
              <a:schemeClr val="bg2">
                <a:shade val="100000"/>
                <a:hueMod val="100000"/>
                <a:satMod val="110000"/>
                <a:lumMod val="130000"/>
              </a:schemeClr>
            </a:gs>
            <a:gs pos="100000">
              <a:schemeClr val="accent6">
                <a:lumMod val="75000"/>
              </a:schemeClr>
            </a:gs>
          </a:gsLst>
          <a:lin ang="2520000" scaled="0"/>
        </a:gra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Endocytosis </a:t>
            </a:r>
            <a:endParaRPr lang="en-US" dirty="0"/>
          </a:p>
        </p:txBody>
      </p:sp>
      <p:sp>
        <p:nvSpPr>
          <p:cNvPr id="4" name="Content Placeholder 3"/>
          <p:cNvSpPr>
            <a:spLocks noGrp="1"/>
          </p:cNvSpPr>
          <p:nvPr>
            <p:ph idx="1"/>
          </p:nvPr>
        </p:nvSpPr>
        <p:spPr/>
        <p:txBody>
          <a:bodyPr/>
          <a:lstStyle/>
          <a:p>
            <a:r>
              <a:rPr lang="en-US" dirty="0" smtClean="0"/>
              <a:t>The taking in of matter by a living cell by invagination of its membrane to form a vacuole </a:t>
            </a:r>
            <a:endParaRPr lang="en-US" dirty="0"/>
          </a:p>
        </p:txBody>
      </p:sp>
    </p:spTree>
    <p:extLst>
      <p:ext uri="{BB962C8B-B14F-4D97-AF65-F5344CB8AC3E}">
        <p14:creationId xmlns:p14="http://schemas.microsoft.com/office/powerpoint/2010/main" val="16115478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gradFill rotWithShape="1">
          <a:gsLst>
            <a:gs pos="65000">
              <a:schemeClr val="accent3">
                <a:lumMod val="75000"/>
              </a:schemeClr>
            </a:gs>
            <a:gs pos="96000">
              <a:schemeClr val="bg2">
                <a:shade val="100000"/>
                <a:hueMod val="100000"/>
                <a:satMod val="110000"/>
                <a:lumMod val="130000"/>
              </a:schemeClr>
            </a:gs>
            <a:gs pos="100000">
              <a:schemeClr val="accent6">
                <a:lumMod val="75000"/>
              </a:schemeClr>
            </a:gs>
          </a:gsLst>
          <a:lin ang="2520000" scaled="0"/>
        </a:gradFill>
        <a:effectLst/>
      </p:bgPr>
    </p:bg>
    <p:spTree>
      <p:nvGrpSpPr>
        <p:cNvPr id="1" name=""/>
        <p:cNvGrpSpPr/>
        <p:nvPr/>
      </p:nvGrpSpPr>
      <p:grpSpPr>
        <a:xfrm>
          <a:off x="0" y="0"/>
          <a:ext cx="0" cy="0"/>
          <a:chOff x="0" y="0"/>
          <a:chExt cx="0" cy="0"/>
        </a:xfrm>
      </p:grpSpPr>
      <p:pic>
        <p:nvPicPr>
          <p:cNvPr id="9218" name="Picture 2" descr="mage result for endocytosi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1700" y="292099"/>
            <a:ext cx="9575800" cy="63838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12227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gradFill rotWithShape="1">
          <a:gsLst>
            <a:gs pos="65000">
              <a:schemeClr val="accent5">
                <a:lumMod val="50000"/>
              </a:schemeClr>
            </a:gs>
            <a:gs pos="96000">
              <a:schemeClr val="bg2">
                <a:shade val="100000"/>
                <a:hueMod val="100000"/>
                <a:satMod val="110000"/>
                <a:lumMod val="130000"/>
              </a:schemeClr>
            </a:gs>
            <a:gs pos="100000">
              <a:schemeClr val="accent6">
                <a:lumMod val="75000"/>
              </a:schemeClr>
            </a:gs>
          </a:gsLst>
          <a:lin ang="2520000" scaled="0"/>
        </a:gra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Curriculum Point </a:t>
            </a:r>
            <a:endParaRPr lang="en-US" dirty="0"/>
          </a:p>
        </p:txBody>
      </p:sp>
      <p:sp>
        <p:nvSpPr>
          <p:cNvPr id="4" name="Content Placeholder 3"/>
          <p:cNvSpPr>
            <a:spLocks noGrp="1"/>
          </p:cNvSpPr>
          <p:nvPr>
            <p:ph idx="1"/>
          </p:nvPr>
        </p:nvSpPr>
        <p:spPr/>
        <p:txBody>
          <a:bodyPr/>
          <a:lstStyle/>
          <a:p>
            <a:r>
              <a:rPr lang="en-US" dirty="0" smtClean="0"/>
              <a:t>Body cells contain specialised structures with specific functions, including nucleus, mitochondria, ribosomes, lysosomes and cytoplasm </a:t>
            </a:r>
            <a:endParaRPr lang="en-US" dirty="0"/>
          </a:p>
        </p:txBody>
      </p:sp>
    </p:spTree>
    <p:extLst>
      <p:ext uri="{BB962C8B-B14F-4D97-AF65-F5344CB8AC3E}">
        <p14:creationId xmlns:p14="http://schemas.microsoft.com/office/powerpoint/2010/main" val="11837418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gradFill rotWithShape="1">
          <a:gsLst>
            <a:gs pos="65000">
              <a:schemeClr val="accent5">
                <a:lumMod val="50000"/>
              </a:schemeClr>
            </a:gs>
            <a:gs pos="96000">
              <a:schemeClr val="bg2">
                <a:shade val="100000"/>
                <a:hueMod val="100000"/>
                <a:satMod val="110000"/>
                <a:lumMod val="130000"/>
              </a:schemeClr>
            </a:gs>
            <a:gs pos="100000">
              <a:schemeClr val="accent6">
                <a:lumMod val="75000"/>
              </a:schemeClr>
            </a:gs>
          </a:gsLst>
          <a:lin ang="2520000" scaled="0"/>
        </a:gra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dirty="0"/>
          </a:p>
        </p:txBody>
      </p:sp>
      <p:sp>
        <p:nvSpPr>
          <p:cNvPr id="4" name="Content Placeholder 3"/>
          <p:cNvSpPr>
            <a:spLocks noGrp="1"/>
          </p:cNvSpPr>
          <p:nvPr>
            <p:ph idx="1"/>
          </p:nvPr>
        </p:nvSpPr>
        <p:spPr/>
        <p:txBody>
          <a:bodyPr/>
          <a:lstStyle/>
          <a:p>
            <a:endParaRPr lang="en-US" dirty="0"/>
          </a:p>
        </p:txBody>
      </p:sp>
    </p:spTree>
    <p:extLst>
      <p:ext uri="{BB962C8B-B14F-4D97-AF65-F5344CB8AC3E}">
        <p14:creationId xmlns:p14="http://schemas.microsoft.com/office/powerpoint/2010/main" val="2369515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gradFill rotWithShape="1">
          <a:gsLst>
            <a:gs pos="65000">
              <a:schemeClr val="accent5">
                <a:lumMod val="50000"/>
              </a:schemeClr>
            </a:gs>
            <a:gs pos="96000">
              <a:schemeClr val="bg2">
                <a:shade val="100000"/>
                <a:hueMod val="100000"/>
                <a:satMod val="110000"/>
                <a:lumMod val="130000"/>
              </a:schemeClr>
            </a:gs>
            <a:gs pos="100000">
              <a:schemeClr val="accent6">
                <a:lumMod val="75000"/>
              </a:schemeClr>
            </a:gs>
          </a:gsLst>
          <a:lin ang="2520000" scaled="0"/>
        </a:gra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dirty="0"/>
          </a:p>
        </p:txBody>
      </p:sp>
      <p:sp>
        <p:nvSpPr>
          <p:cNvPr id="4" name="Content Placeholder 3"/>
          <p:cNvSpPr>
            <a:spLocks noGrp="1"/>
          </p:cNvSpPr>
          <p:nvPr>
            <p:ph idx="1"/>
          </p:nvPr>
        </p:nvSpPr>
        <p:spPr/>
        <p:txBody>
          <a:bodyPr/>
          <a:lstStyle/>
          <a:p>
            <a:endParaRPr lang="en-US" dirty="0"/>
          </a:p>
        </p:txBody>
      </p:sp>
    </p:spTree>
    <p:extLst>
      <p:ext uri="{BB962C8B-B14F-4D97-AF65-F5344CB8AC3E}">
        <p14:creationId xmlns:p14="http://schemas.microsoft.com/office/powerpoint/2010/main" val="6117684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gradFill rotWithShape="1">
          <a:gsLst>
            <a:gs pos="65000">
              <a:schemeClr val="accent5">
                <a:lumMod val="50000"/>
              </a:schemeClr>
            </a:gs>
            <a:gs pos="96000">
              <a:schemeClr val="bg2">
                <a:shade val="100000"/>
                <a:hueMod val="100000"/>
                <a:satMod val="110000"/>
                <a:lumMod val="130000"/>
              </a:schemeClr>
            </a:gs>
            <a:gs pos="100000">
              <a:schemeClr val="accent6">
                <a:lumMod val="75000"/>
              </a:schemeClr>
            </a:gs>
          </a:gsLst>
          <a:lin ang="2520000" scaled="0"/>
        </a:gra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dirty="0"/>
          </a:p>
        </p:txBody>
      </p:sp>
      <p:sp>
        <p:nvSpPr>
          <p:cNvPr id="4" name="Content Placeholder 3"/>
          <p:cNvSpPr>
            <a:spLocks noGrp="1"/>
          </p:cNvSpPr>
          <p:nvPr>
            <p:ph idx="1"/>
          </p:nvPr>
        </p:nvSpPr>
        <p:spPr/>
        <p:txBody>
          <a:bodyPr/>
          <a:lstStyle/>
          <a:p>
            <a:endParaRPr lang="en-US" dirty="0"/>
          </a:p>
        </p:txBody>
      </p:sp>
    </p:spTree>
    <p:extLst>
      <p:ext uri="{BB962C8B-B14F-4D97-AF65-F5344CB8AC3E}">
        <p14:creationId xmlns:p14="http://schemas.microsoft.com/office/powerpoint/2010/main" val="20457214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gradFill rotWithShape="1">
          <a:gsLst>
            <a:gs pos="65000">
              <a:schemeClr val="accent5">
                <a:lumMod val="50000"/>
              </a:schemeClr>
            </a:gs>
            <a:gs pos="96000">
              <a:schemeClr val="bg2">
                <a:shade val="100000"/>
                <a:hueMod val="100000"/>
                <a:satMod val="110000"/>
                <a:lumMod val="130000"/>
              </a:schemeClr>
            </a:gs>
            <a:gs pos="100000">
              <a:schemeClr val="accent6">
                <a:lumMod val="75000"/>
              </a:schemeClr>
            </a:gs>
          </a:gsLst>
          <a:lin ang="2520000" scaled="0"/>
        </a:gra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dirty="0"/>
          </a:p>
        </p:txBody>
      </p:sp>
      <p:sp>
        <p:nvSpPr>
          <p:cNvPr id="4" name="Content Placeholder 3"/>
          <p:cNvSpPr>
            <a:spLocks noGrp="1"/>
          </p:cNvSpPr>
          <p:nvPr>
            <p:ph idx="1"/>
          </p:nvPr>
        </p:nvSpPr>
        <p:spPr/>
        <p:txBody>
          <a:bodyPr/>
          <a:lstStyle/>
          <a:p>
            <a:endParaRPr lang="en-US" dirty="0"/>
          </a:p>
        </p:txBody>
      </p:sp>
    </p:spTree>
    <p:extLst>
      <p:ext uri="{BB962C8B-B14F-4D97-AF65-F5344CB8AC3E}">
        <p14:creationId xmlns:p14="http://schemas.microsoft.com/office/powerpoint/2010/main" val="9168794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gradFill rotWithShape="1">
          <a:gsLst>
            <a:gs pos="65000">
              <a:schemeClr val="accent5">
                <a:lumMod val="50000"/>
              </a:schemeClr>
            </a:gs>
            <a:gs pos="96000">
              <a:schemeClr val="bg2">
                <a:shade val="100000"/>
                <a:hueMod val="100000"/>
                <a:satMod val="110000"/>
                <a:lumMod val="130000"/>
              </a:schemeClr>
            </a:gs>
            <a:gs pos="100000">
              <a:schemeClr val="accent6">
                <a:lumMod val="75000"/>
              </a:schemeClr>
            </a:gs>
          </a:gsLst>
          <a:lin ang="2520000" scaled="0"/>
        </a:gra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dirty="0"/>
          </a:p>
        </p:txBody>
      </p:sp>
      <p:sp>
        <p:nvSpPr>
          <p:cNvPr id="4" name="Content Placeholder 3"/>
          <p:cNvSpPr>
            <a:spLocks noGrp="1"/>
          </p:cNvSpPr>
          <p:nvPr>
            <p:ph idx="1"/>
          </p:nvPr>
        </p:nvSpPr>
        <p:spPr/>
        <p:txBody>
          <a:bodyPr/>
          <a:lstStyle/>
          <a:p>
            <a:endParaRPr lang="en-US" dirty="0"/>
          </a:p>
        </p:txBody>
      </p:sp>
    </p:spTree>
    <p:extLst>
      <p:ext uri="{BB962C8B-B14F-4D97-AF65-F5344CB8AC3E}">
        <p14:creationId xmlns:p14="http://schemas.microsoft.com/office/powerpoint/2010/main" val="82242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gradFill rotWithShape="1">
          <a:gsLst>
            <a:gs pos="65000">
              <a:schemeClr val="accent5">
                <a:lumMod val="50000"/>
              </a:schemeClr>
            </a:gs>
            <a:gs pos="96000">
              <a:schemeClr val="bg2">
                <a:shade val="100000"/>
                <a:hueMod val="100000"/>
                <a:satMod val="110000"/>
                <a:lumMod val="130000"/>
              </a:schemeClr>
            </a:gs>
            <a:gs pos="100000">
              <a:schemeClr val="accent6">
                <a:lumMod val="75000"/>
              </a:schemeClr>
            </a:gs>
          </a:gsLst>
          <a:lin ang="2520000" scaled="0"/>
        </a:gra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dirty="0"/>
          </a:p>
        </p:txBody>
      </p:sp>
      <p:sp>
        <p:nvSpPr>
          <p:cNvPr id="4" name="Content Placeholder 3"/>
          <p:cNvSpPr>
            <a:spLocks noGrp="1"/>
          </p:cNvSpPr>
          <p:nvPr>
            <p:ph idx="1"/>
          </p:nvPr>
        </p:nvSpPr>
        <p:spPr/>
        <p:txBody>
          <a:bodyPr/>
          <a:lstStyle/>
          <a:p>
            <a:endParaRPr lang="en-US" dirty="0"/>
          </a:p>
        </p:txBody>
      </p:sp>
    </p:spTree>
    <p:extLst>
      <p:ext uri="{BB962C8B-B14F-4D97-AF65-F5344CB8AC3E}">
        <p14:creationId xmlns:p14="http://schemas.microsoft.com/office/powerpoint/2010/main" val="152042441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gradFill rotWithShape="1">
          <a:gsLst>
            <a:gs pos="65000">
              <a:schemeClr val="accent5">
                <a:lumMod val="50000"/>
              </a:schemeClr>
            </a:gs>
            <a:gs pos="96000">
              <a:schemeClr val="bg2">
                <a:shade val="100000"/>
                <a:hueMod val="100000"/>
                <a:satMod val="110000"/>
                <a:lumMod val="130000"/>
              </a:schemeClr>
            </a:gs>
            <a:gs pos="100000">
              <a:schemeClr val="accent6">
                <a:lumMod val="75000"/>
              </a:schemeClr>
            </a:gs>
          </a:gsLst>
          <a:lin ang="2520000" scaled="0"/>
        </a:gra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dirty="0"/>
          </a:p>
        </p:txBody>
      </p:sp>
      <p:sp>
        <p:nvSpPr>
          <p:cNvPr id="4" name="Content Placeholder 3"/>
          <p:cNvSpPr>
            <a:spLocks noGrp="1"/>
          </p:cNvSpPr>
          <p:nvPr>
            <p:ph idx="1"/>
          </p:nvPr>
        </p:nvSpPr>
        <p:spPr/>
        <p:txBody>
          <a:bodyPr/>
          <a:lstStyle/>
          <a:p>
            <a:endParaRPr lang="en-US" dirty="0"/>
          </a:p>
        </p:txBody>
      </p:sp>
    </p:spTree>
    <p:extLst>
      <p:ext uri="{BB962C8B-B14F-4D97-AF65-F5344CB8AC3E}">
        <p14:creationId xmlns:p14="http://schemas.microsoft.com/office/powerpoint/2010/main" val="126265052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gradFill rotWithShape="1">
          <a:gsLst>
            <a:gs pos="65000">
              <a:schemeClr val="accent5">
                <a:lumMod val="50000"/>
              </a:schemeClr>
            </a:gs>
            <a:gs pos="96000">
              <a:schemeClr val="bg2">
                <a:shade val="100000"/>
                <a:hueMod val="100000"/>
                <a:satMod val="110000"/>
                <a:lumMod val="130000"/>
              </a:schemeClr>
            </a:gs>
            <a:gs pos="100000">
              <a:schemeClr val="accent6">
                <a:lumMod val="75000"/>
              </a:schemeClr>
            </a:gs>
          </a:gsLst>
          <a:lin ang="2520000" scaled="0"/>
        </a:gra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dirty="0"/>
          </a:p>
        </p:txBody>
      </p:sp>
      <p:sp>
        <p:nvSpPr>
          <p:cNvPr id="4" name="Content Placeholder 3"/>
          <p:cNvSpPr>
            <a:spLocks noGrp="1"/>
          </p:cNvSpPr>
          <p:nvPr>
            <p:ph idx="1"/>
          </p:nvPr>
        </p:nvSpPr>
        <p:spPr/>
        <p:txBody>
          <a:bodyPr/>
          <a:lstStyle/>
          <a:p>
            <a:endParaRPr lang="en-US" dirty="0"/>
          </a:p>
        </p:txBody>
      </p:sp>
    </p:spTree>
    <p:extLst>
      <p:ext uri="{BB962C8B-B14F-4D97-AF65-F5344CB8AC3E}">
        <p14:creationId xmlns:p14="http://schemas.microsoft.com/office/powerpoint/2010/main" val="111536694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gradFill rotWithShape="1">
          <a:gsLst>
            <a:gs pos="65000">
              <a:schemeClr val="accent5">
                <a:lumMod val="50000"/>
              </a:schemeClr>
            </a:gs>
            <a:gs pos="96000">
              <a:schemeClr val="bg2">
                <a:shade val="100000"/>
                <a:hueMod val="100000"/>
                <a:satMod val="110000"/>
                <a:lumMod val="130000"/>
              </a:schemeClr>
            </a:gs>
            <a:gs pos="100000">
              <a:schemeClr val="accent6">
                <a:lumMod val="75000"/>
              </a:schemeClr>
            </a:gs>
          </a:gsLst>
          <a:lin ang="2520000" scaled="0"/>
        </a:gra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dirty="0"/>
          </a:p>
        </p:txBody>
      </p:sp>
      <p:sp>
        <p:nvSpPr>
          <p:cNvPr id="4" name="Content Placeholder 3"/>
          <p:cNvSpPr>
            <a:spLocks noGrp="1"/>
          </p:cNvSpPr>
          <p:nvPr>
            <p:ph idx="1"/>
          </p:nvPr>
        </p:nvSpPr>
        <p:spPr/>
        <p:txBody>
          <a:bodyPr/>
          <a:lstStyle/>
          <a:p>
            <a:endParaRPr lang="en-US" dirty="0"/>
          </a:p>
        </p:txBody>
      </p:sp>
    </p:spTree>
    <p:extLst>
      <p:ext uri="{BB962C8B-B14F-4D97-AF65-F5344CB8AC3E}">
        <p14:creationId xmlns:p14="http://schemas.microsoft.com/office/powerpoint/2010/main" val="167882275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gradFill rotWithShape="1">
          <a:gsLst>
            <a:gs pos="65000">
              <a:schemeClr val="accent5">
                <a:lumMod val="50000"/>
              </a:schemeClr>
            </a:gs>
            <a:gs pos="96000">
              <a:schemeClr val="bg2">
                <a:shade val="100000"/>
                <a:hueMod val="100000"/>
                <a:satMod val="110000"/>
                <a:lumMod val="130000"/>
              </a:schemeClr>
            </a:gs>
            <a:gs pos="100000">
              <a:schemeClr val="accent6">
                <a:lumMod val="75000"/>
              </a:schemeClr>
            </a:gs>
          </a:gsLst>
          <a:lin ang="2520000" scaled="0"/>
        </a:gra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dirty="0"/>
          </a:p>
        </p:txBody>
      </p:sp>
      <p:sp>
        <p:nvSpPr>
          <p:cNvPr id="4" name="Content Placeholder 3"/>
          <p:cNvSpPr>
            <a:spLocks noGrp="1"/>
          </p:cNvSpPr>
          <p:nvPr>
            <p:ph idx="1"/>
          </p:nvPr>
        </p:nvSpPr>
        <p:spPr/>
        <p:txBody>
          <a:bodyPr/>
          <a:lstStyle/>
          <a:p>
            <a:endParaRPr lang="en-US" dirty="0"/>
          </a:p>
        </p:txBody>
      </p:sp>
    </p:spTree>
    <p:extLst>
      <p:ext uri="{BB962C8B-B14F-4D97-AF65-F5344CB8AC3E}">
        <p14:creationId xmlns:p14="http://schemas.microsoft.com/office/powerpoint/2010/main" val="18642215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gradFill rotWithShape="1">
          <a:gsLst>
            <a:gs pos="65000">
              <a:schemeClr val="accent5">
                <a:lumMod val="50000"/>
              </a:schemeClr>
            </a:gs>
            <a:gs pos="96000">
              <a:schemeClr val="bg2">
                <a:shade val="100000"/>
                <a:hueMod val="100000"/>
                <a:satMod val="110000"/>
                <a:lumMod val="130000"/>
              </a:schemeClr>
            </a:gs>
            <a:gs pos="100000">
              <a:schemeClr val="accent6">
                <a:lumMod val="75000"/>
              </a:schemeClr>
            </a:gs>
          </a:gsLst>
          <a:lin ang="2520000" scaled="0"/>
        </a:gra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dirty="0"/>
          </a:p>
        </p:txBody>
      </p:sp>
      <p:sp>
        <p:nvSpPr>
          <p:cNvPr id="4" name="Content Placeholder 3"/>
          <p:cNvSpPr>
            <a:spLocks noGrp="1"/>
          </p:cNvSpPr>
          <p:nvPr>
            <p:ph idx="1"/>
          </p:nvPr>
        </p:nvSpPr>
        <p:spPr/>
        <p:txBody>
          <a:bodyPr/>
          <a:lstStyle/>
          <a:p>
            <a:endParaRPr lang="en-US" dirty="0"/>
          </a:p>
        </p:txBody>
      </p:sp>
    </p:spTree>
    <p:extLst>
      <p:ext uri="{BB962C8B-B14F-4D97-AF65-F5344CB8AC3E}">
        <p14:creationId xmlns:p14="http://schemas.microsoft.com/office/powerpoint/2010/main" val="11070035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gradFill rotWithShape="1">
          <a:gsLst>
            <a:gs pos="65000">
              <a:schemeClr val="accent5">
                <a:lumMod val="50000"/>
              </a:schemeClr>
            </a:gs>
            <a:gs pos="96000">
              <a:schemeClr val="bg2">
                <a:shade val="100000"/>
                <a:hueMod val="100000"/>
                <a:satMod val="110000"/>
                <a:lumMod val="130000"/>
              </a:schemeClr>
            </a:gs>
            <a:gs pos="100000">
              <a:schemeClr val="accent6">
                <a:lumMod val="75000"/>
              </a:schemeClr>
            </a:gs>
          </a:gsLst>
          <a:lin ang="2520000" scaled="0"/>
        </a:gra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dirty="0"/>
          </a:p>
        </p:txBody>
      </p:sp>
      <p:sp>
        <p:nvSpPr>
          <p:cNvPr id="4" name="Content Placeholder 3"/>
          <p:cNvSpPr>
            <a:spLocks noGrp="1"/>
          </p:cNvSpPr>
          <p:nvPr>
            <p:ph idx="1"/>
          </p:nvPr>
        </p:nvSpPr>
        <p:spPr/>
        <p:txBody>
          <a:bodyPr/>
          <a:lstStyle/>
          <a:p>
            <a:endParaRPr lang="en-US" dirty="0"/>
          </a:p>
        </p:txBody>
      </p:sp>
    </p:spTree>
    <p:extLst>
      <p:ext uri="{BB962C8B-B14F-4D97-AF65-F5344CB8AC3E}">
        <p14:creationId xmlns:p14="http://schemas.microsoft.com/office/powerpoint/2010/main" val="175836871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gradFill rotWithShape="1">
          <a:gsLst>
            <a:gs pos="65000">
              <a:schemeClr val="accent5">
                <a:lumMod val="50000"/>
              </a:schemeClr>
            </a:gs>
            <a:gs pos="96000">
              <a:schemeClr val="bg2">
                <a:shade val="100000"/>
                <a:hueMod val="100000"/>
                <a:satMod val="110000"/>
                <a:lumMod val="130000"/>
              </a:schemeClr>
            </a:gs>
            <a:gs pos="100000">
              <a:schemeClr val="accent6">
                <a:lumMod val="75000"/>
              </a:schemeClr>
            </a:gs>
          </a:gsLst>
          <a:lin ang="2520000" scaled="0"/>
        </a:gra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dirty="0"/>
          </a:p>
        </p:txBody>
      </p:sp>
      <p:sp>
        <p:nvSpPr>
          <p:cNvPr id="4" name="Content Placeholder 3"/>
          <p:cNvSpPr>
            <a:spLocks noGrp="1"/>
          </p:cNvSpPr>
          <p:nvPr>
            <p:ph idx="1"/>
          </p:nvPr>
        </p:nvSpPr>
        <p:spPr/>
        <p:txBody>
          <a:bodyPr/>
          <a:lstStyle/>
          <a:p>
            <a:endParaRPr lang="en-US" dirty="0"/>
          </a:p>
        </p:txBody>
      </p:sp>
    </p:spTree>
    <p:extLst>
      <p:ext uri="{BB962C8B-B14F-4D97-AF65-F5344CB8AC3E}">
        <p14:creationId xmlns:p14="http://schemas.microsoft.com/office/powerpoint/2010/main" val="1380493024"/>
      </p:ext>
    </p:extLst>
  </p:cSld>
  <p:clrMapOvr>
    <a:masterClrMapping/>
  </p:clrMapOvr>
</p:sld>
</file>

<file path=ppt/theme/theme1.xml><?xml version="1.0" encoding="utf-8"?>
<a:theme xmlns:a="http://schemas.openxmlformats.org/drawingml/2006/main" name="Berlin">
  <a:themeElements>
    <a:clrScheme name="Berlin">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docProps/app.xml><?xml version="1.0" encoding="utf-8"?>
<Properties xmlns="http://schemas.openxmlformats.org/officeDocument/2006/extended-properties" xmlns:vt="http://schemas.openxmlformats.org/officeDocument/2006/docPropsVTypes">
  <Template>Berlin</Template>
  <TotalTime>259</TotalTime>
  <Words>1001</Words>
  <Application>Microsoft Macintosh PowerPoint</Application>
  <PresentationFormat>Widescreen</PresentationFormat>
  <Paragraphs>87</Paragraphs>
  <Slides>47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Trebuchet MS</vt:lpstr>
      <vt:lpstr>Berlin</vt:lpstr>
      <vt:lpstr>PowerPoint Presentation</vt:lpstr>
      <vt:lpstr>Characteristics of Life </vt:lpstr>
      <vt:lpstr>Resources </vt:lpstr>
      <vt:lpstr>Curriculum Point </vt:lpstr>
      <vt:lpstr>Assessment </vt:lpstr>
      <vt:lpstr>Connections </vt:lpstr>
      <vt:lpstr>Respiration </vt:lpstr>
      <vt:lpstr>PowerPoint Presentation</vt:lpstr>
      <vt:lpstr>Feeding (digestion and absorption) </vt:lpstr>
      <vt:lpstr>PowerPoint Presentation</vt:lpstr>
      <vt:lpstr>Excretion </vt:lpstr>
      <vt:lpstr>Movement </vt:lpstr>
      <vt:lpstr>Reproduction </vt:lpstr>
      <vt:lpstr>Responding to stimuli </vt:lpstr>
      <vt:lpstr>PowerPoint Presentation</vt:lpstr>
      <vt:lpstr>Growth </vt:lpstr>
      <vt:lpstr>Revision Questions </vt:lpstr>
      <vt:lpstr>Curriculum Point </vt:lpstr>
      <vt:lpstr>History </vt:lpstr>
      <vt:lpstr>The Rules of the Cell Theory </vt:lpstr>
      <vt:lpstr>Cells </vt:lpstr>
      <vt:lpstr>PowerPoint Presentation</vt:lpstr>
      <vt:lpstr>Curriculum Point  </vt:lpstr>
      <vt:lpstr>Cell Membrane </vt:lpstr>
      <vt:lpstr>PowerPoint Presentation</vt:lpstr>
      <vt:lpstr>Diffusion </vt:lpstr>
      <vt:lpstr>PowerPoint Presentation</vt:lpstr>
      <vt:lpstr>Osmosis </vt:lpstr>
      <vt:lpstr>PowerPoint Presentation</vt:lpstr>
      <vt:lpstr>Active Transport </vt:lpstr>
      <vt:lpstr>PowerPoint Presentation</vt:lpstr>
      <vt:lpstr>Endocytosis </vt:lpstr>
      <vt:lpstr>PowerPoint Presentation</vt:lpstr>
      <vt:lpstr>Curriculum Point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15.0023</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Characteristics of Life </dc:title>
  <dc:creator>Lisa Doomen</dc:creator>
  <cp:lastModifiedBy>Lisa Doomen</cp:lastModifiedBy>
  <cp:revision>16</cp:revision>
  <dcterms:created xsi:type="dcterms:W3CDTF">2020-01-23T00:41:55Z</dcterms:created>
  <dcterms:modified xsi:type="dcterms:W3CDTF">2020-01-23T23:55:34Z</dcterms:modified>
</cp:coreProperties>
</file>