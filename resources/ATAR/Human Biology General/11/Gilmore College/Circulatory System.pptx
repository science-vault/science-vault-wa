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7"/>
  </p:notesMasterIdLst>
  <p:handoutMasterIdLst>
    <p:handoutMasterId r:id="rId78"/>
  </p:handoutMasterIdLst>
  <p:sldIdLst>
    <p:sldId id="258" r:id="rId2"/>
    <p:sldId id="296" r:id="rId3"/>
    <p:sldId id="259" r:id="rId4"/>
    <p:sldId id="297" r:id="rId5"/>
    <p:sldId id="295" r:id="rId6"/>
    <p:sldId id="298" r:id="rId7"/>
    <p:sldId id="299" r:id="rId8"/>
    <p:sldId id="260" r:id="rId9"/>
    <p:sldId id="261" r:id="rId10"/>
    <p:sldId id="262" r:id="rId11"/>
    <p:sldId id="264" r:id="rId12"/>
    <p:sldId id="263" r:id="rId13"/>
    <p:sldId id="265" r:id="rId14"/>
    <p:sldId id="266" r:id="rId15"/>
    <p:sldId id="267" r:id="rId16"/>
    <p:sldId id="268" r:id="rId17"/>
    <p:sldId id="269" r:id="rId18"/>
    <p:sldId id="270" r:id="rId19"/>
    <p:sldId id="271" r:id="rId20"/>
    <p:sldId id="272" r:id="rId21"/>
    <p:sldId id="273" r:id="rId22"/>
    <p:sldId id="274" r:id="rId23"/>
    <p:sldId id="281" r:id="rId24"/>
    <p:sldId id="282" r:id="rId25"/>
    <p:sldId id="275" r:id="rId26"/>
    <p:sldId id="279" r:id="rId27"/>
    <p:sldId id="276" r:id="rId28"/>
    <p:sldId id="278" r:id="rId29"/>
    <p:sldId id="280" r:id="rId30"/>
    <p:sldId id="283" r:id="rId31"/>
    <p:sldId id="328" r:id="rId32"/>
    <p:sldId id="284" r:id="rId33"/>
    <p:sldId id="329" r:id="rId34"/>
    <p:sldId id="285" r:id="rId35"/>
    <p:sldId id="286" r:id="rId36"/>
    <p:sldId id="287" r:id="rId37"/>
    <p:sldId id="288" r:id="rId38"/>
    <p:sldId id="290" r:id="rId39"/>
    <p:sldId id="291" r:id="rId40"/>
    <p:sldId id="293" r:id="rId41"/>
    <p:sldId id="300" r:id="rId42"/>
    <p:sldId id="301" r:id="rId43"/>
    <p:sldId id="302" r:id="rId44"/>
    <p:sldId id="330" r:id="rId45"/>
    <p:sldId id="303" r:id="rId46"/>
    <p:sldId id="304" r:id="rId47"/>
    <p:sldId id="305" r:id="rId48"/>
    <p:sldId id="331" r:id="rId49"/>
    <p:sldId id="306" r:id="rId50"/>
    <p:sldId id="307" r:id="rId51"/>
    <p:sldId id="308" r:id="rId52"/>
    <p:sldId id="309" r:id="rId53"/>
    <p:sldId id="310" r:id="rId54"/>
    <p:sldId id="332" r:id="rId55"/>
    <p:sldId id="311" r:id="rId56"/>
    <p:sldId id="333" r:id="rId57"/>
    <p:sldId id="312" r:id="rId58"/>
    <p:sldId id="314" r:id="rId59"/>
    <p:sldId id="315" r:id="rId60"/>
    <p:sldId id="335" r:id="rId61"/>
    <p:sldId id="316" r:id="rId62"/>
    <p:sldId id="317" r:id="rId63"/>
    <p:sldId id="336" r:id="rId64"/>
    <p:sldId id="318" r:id="rId65"/>
    <p:sldId id="334" r:id="rId66"/>
    <p:sldId id="319" r:id="rId67"/>
    <p:sldId id="320" r:id="rId68"/>
    <p:sldId id="321" r:id="rId69"/>
    <p:sldId id="313" r:id="rId70"/>
    <p:sldId id="322" r:id="rId71"/>
    <p:sldId id="323" r:id="rId72"/>
    <p:sldId id="324" r:id="rId73"/>
    <p:sldId id="325" r:id="rId74"/>
    <p:sldId id="326" r:id="rId75"/>
    <p:sldId id="327" r:id="rId7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494" y="62"/>
      </p:cViewPr>
      <p:guideLst/>
    </p:cSldViewPr>
  </p:slideViewPr>
  <p:notesTextViewPr>
    <p:cViewPr>
      <p:scale>
        <a:sx n="1" d="1"/>
        <a:sy n="1" d="1"/>
      </p:scale>
      <p:origin x="0" y="0"/>
    </p:cViewPr>
  </p:notesTextViewPr>
  <p:notesViewPr>
    <p:cSldViewPr snapToGrid="0">
      <p:cViewPr varScale="1">
        <p:scale>
          <a:sx n="65" d="100"/>
          <a:sy n="65" d="100"/>
        </p:scale>
        <p:origin x="2784"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handoutMaster" Target="handoutMasters/handout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EBDA6D-DC69-4DCE-BAF7-6763517D3376}" type="datetimeFigureOut">
              <a:rPr lang="en-US"/>
              <a:t>4/1/2020</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977E94-A6AB-4E02-8E43-E89F9CF4757F}" type="slidenum">
              <a:rPr/>
              <a:t>‹#›</a:t>
            </a:fld>
            <a:endParaRPr/>
          </a:p>
        </p:txBody>
      </p:sp>
    </p:spTree>
    <p:extLst>
      <p:ext uri="{BB962C8B-B14F-4D97-AF65-F5344CB8AC3E}">
        <p14:creationId xmlns:p14="http://schemas.microsoft.com/office/powerpoint/2010/main" val="21542583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7F6C43-988E-4257-9A1C-C162EF036D58}" type="datetimeFigureOut">
              <a:rPr lang="en-US"/>
              <a:t>4/1/2020</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D491D0-8E1B-49C7-849B-A28568D94497}" type="slidenum">
              <a:rPr/>
              <a:t>‹#›</a:t>
            </a:fld>
            <a:endParaRPr/>
          </a:p>
        </p:txBody>
      </p:sp>
    </p:spTree>
    <p:extLst>
      <p:ext uri="{BB962C8B-B14F-4D97-AF65-F5344CB8AC3E}">
        <p14:creationId xmlns:p14="http://schemas.microsoft.com/office/powerpoint/2010/main" val="1726325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bwMode="inv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Rectangle 8"/>
          <p:cNvSpPr/>
          <p:nvPr/>
        </p:nvSpPr>
        <p:spPr>
          <a:xfrm>
            <a:off x="2832533" y="1371600"/>
            <a:ext cx="9359467" cy="297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2832533" y="4462272"/>
            <a:ext cx="9359467" cy="10332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bwMode="black">
          <a:xfrm>
            <a:off x="3175199" y="1943842"/>
            <a:ext cx="8500062" cy="2387600"/>
          </a:xfrm>
        </p:spPr>
        <p:txBody>
          <a:bodyPr anchor="b"/>
          <a:lstStyle>
            <a:lvl1pPr algn="l">
              <a:lnSpc>
                <a:spcPct val="90000"/>
              </a:lnSpc>
              <a:defRPr sz="6000" b="1">
                <a:solidFill>
                  <a:schemeClr val="tx1"/>
                </a:solidFill>
              </a:defRPr>
            </a:lvl1pPr>
          </a:lstStyle>
          <a:p>
            <a:r>
              <a:rPr lang="en-US" smtClean="0"/>
              <a:t>Click to edit Master title style</a:t>
            </a:r>
            <a:endParaRPr/>
          </a:p>
        </p:txBody>
      </p:sp>
      <p:sp>
        <p:nvSpPr>
          <p:cNvPr id="3" name="Subtitle 2"/>
          <p:cNvSpPr>
            <a:spLocks noGrp="1"/>
          </p:cNvSpPr>
          <p:nvPr>
            <p:ph type="subTitle" idx="1"/>
          </p:nvPr>
        </p:nvSpPr>
        <p:spPr>
          <a:xfrm>
            <a:off x="3175199" y="4538659"/>
            <a:ext cx="8500062" cy="865321"/>
          </a:xfrm>
        </p:spPr>
        <p:txBody>
          <a:bodyPr/>
          <a:lstStyle>
            <a:lvl1pPr marL="0" indent="0" algn="l">
              <a:spcBef>
                <a:spcPts val="0"/>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a:p>
        </p:txBody>
      </p:sp>
      <p:sp>
        <p:nvSpPr>
          <p:cNvPr id="11" name="Date Placeholder 3"/>
          <p:cNvSpPr>
            <a:spLocks noGrp="1"/>
          </p:cNvSpPr>
          <p:nvPr>
            <p:ph type="dt" sz="half" idx="10"/>
          </p:nvPr>
        </p:nvSpPr>
        <p:spPr/>
        <p:txBody>
          <a:bodyPr/>
          <a:lstStyle>
            <a:lvl1pPr>
              <a:defRPr>
                <a:solidFill>
                  <a:schemeClr val="bg2"/>
                </a:solidFill>
              </a:defRPr>
            </a:lvl1pPr>
          </a:lstStyle>
          <a:p>
            <a:fld id="{2CCFE9AC-F15C-4FA0-A6F1-298829FA691D}" type="datetimeFigureOut">
              <a:rPr lang="en-US" smtClean="0"/>
              <a:pPr/>
              <a:t>4/1/2020</a:t>
            </a:fld>
            <a:endParaRPr lang="en-US" dirty="0"/>
          </a:p>
        </p:txBody>
      </p:sp>
      <p:sp>
        <p:nvSpPr>
          <p:cNvPr id="12" name="Footer Placeholder 4"/>
          <p:cNvSpPr>
            <a:spLocks noGrp="1"/>
          </p:cNvSpPr>
          <p:nvPr>
            <p:ph type="ftr" sz="quarter" idx="11"/>
          </p:nvPr>
        </p:nvSpPr>
        <p:spPr/>
        <p:txBody>
          <a:bodyPr/>
          <a:lstStyle>
            <a:lvl1pPr>
              <a:defRPr>
                <a:solidFill>
                  <a:schemeClr val="bg2"/>
                </a:solidFill>
              </a:defRPr>
            </a:lvl1pPr>
          </a:lstStyle>
          <a:p>
            <a:endParaRPr lang="en-US"/>
          </a:p>
        </p:txBody>
      </p:sp>
      <p:sp>
        <p:nvSpPr>
          <p:cNvPr id="13" name="Slide Number Placeholder 5"/>
          <p:cNvSpPr>
            <a:spLocks noGrp="1"/>
          </p:cNvSpPr>
          <p:nvPr>
            <p:ph type="sldNum" sz="quarter" idx="12"/>
          </p:nvPr>
        </p:nvSpPr>
        <p:spPr/>
        <p:txBody>
          <a:bodyPr/>
          <a:lstStyle>
            <a:lvl1pPr>
              <a:defRPr>
                <a:solidFill>
                  <a:schemeClr val="bg2"/>
                </a:solidFill>
              </a:defRPr>
            </a:lvl1pPr>
          </a:lstStyle>
          <a:p>
            <a:fld id="{BD266BE7-899D-4075-917F-DBDE33B6B692}" type="slidenum">
              <a:rPr lang="en-US" smtClean="0"/>
              <a:pPr/>
              <a:t>‹#›</a:t>
            </a:fld>
            <a:endParaRPr lang="en-US"/>
          </a:p>
        </p:txBody>
      </p:sp>
    </p:spTree>
    <p:extLst>
      <p:ext uri="{BB962C8B-B14F-4D97-AF65-F5344CB8AC3E}">
        <p14:creationId xmlns:p14="http://schemas.microsoft.com/office/powerpoint/2010/main" val="3047549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2CCFE9AC-F15C-4FA0-A6F1-298829FA691D}" type="datetimeFigureOut">
              <a:rPr lang="en-US"/>
              <a:t>4/1/2020</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54133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bwMode="inv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p:cNvSpPr/>
          <p:nvPr/>
        </p:nvSpPr>
        <p:spPr>
          <a:xfrm>
            <a:off x="3502152" y="-20637"/>
            <a:ext cx="7315200" cy="4343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3502152" y="4462272"/>
            <a:ext cx="7315200" cy="17190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bwMode="black">
          <a:xfrm>
            <a:off x="3838015" y="658346"/>
            <a:ext cx="6597464" cy="3664417"/>
          </a:xfrm>
        </p:spPr>
        <p:txBody>
          <a:bodyPr anchor="b">
            <a:normAutofit/>
          </a:bodyPr>
          <a:lstStyle>
            <a:lvl1pPr>
              <a:lnSpc>
                <a:spcPct val="90000"/>
              </a:lnSpc>
              <a:defRPr sz="5000" b="1">
                <a:solidFill>
                  <a:schemeClr val="tx1"/>
                </a:solidFill>
              </a:defRPr>
            </a:lvl1pPr>
          </a:lstStyle>
          <a:p>
            <a:r>
              <a:rPr lang="en-US" smtClean="0"/>
              <a:t>Click to edit Master title style</a:t>
            </a:r>
            <a:endParaRPr/>
          </a:p>
        </p:txBody>
      </p:sp>
      <p:sp>
        <p:nvSpPr>
          <p:cNvPr id="3" name="Text Placeholder 2"/>
          <p:cNvSpPr>
            <a:spLocks noGrp="1"/>
          </p:cNvSpPr>
          <p:nvPr>
            <p:ph type="body" idx="1"/>
          </p:nvPr>
        </p:nvSpPr>
        <p:spPr>
          <a:xfrm>
            <a:off x="3838014" y="4589463"/>
            <a:ext cx="6597465" cy="1500187"/>
          </a:xfrm>
        </p:spPr>
        <p:txBody>
          <a:bodyPr/>
          <a:lstStyle>
            <a:lvl1pPr marL="0" indent="0">
              <a:spcBef>
                <a:spcPts val="0"/>
              </a:spcBef>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lvl1pPr>
              <a:defRPr>
                <a:solidFill>
                  <a:schemeClr val="bg2"/>
                </a:solidFill>
              </a:defRPr>
            </a:lvl1pPr>
          </a:lstStyle>
          <a:p>
            <a:fld id="{2CCFE9AC-F15C-4FA0-A6F1-298829FA691D}" type="datetimeFigureOut">
              <a:rPr lang="en-US" smtClean="0"/>
              <a:pPr/>
              <a:t>4/1/2020</a:t>
            </a:fld>
            <a:endParaRPr lang="en-US"/>
          </a:p>
        </p:txBody>
      </p:sp>
      <p:sp>
        <p:nvSpPr>
          <p:cNvPr id="5" name="Footer Placeholder 4"/>
          <p:cNvSpPr>
            <a:spLocks noGrp="1"/>
          </p:cNvSpPr>
          <p:nvPr>
            <p:ph type="ftr" sz="quarter" idx="11"/>
          </p:nvPr>
        </p:nvSpPr>
        <p:spPr/>
        <p:txBody>
          <a:bodyPr/>
          <a:lstStyle>
            <a:lvl1pPr>
              <a:defRPr>
                <a:solidFill>
                  <a:schemeClr val="bg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bg2"/>
                </a:solidFill>
              </a:defRPr>
            </a:lvl1pPr>
          </a:lstStyle>
          <a:p>
            <a:fld id="{BD266BE7-899D-4075-917F-DBDE33B6B692}" type="slidenum">
              <a:rPr lang="en-US" smtClean="0"/>
              <a:pPr/>
              <a:t>‹#›</a:t>
            </a:fld>
            <a:endParaRPr lang="en-US"/>
          </a:p>
        </p:txBody>
      </p:sp>
    </p:spTree>
    <p:extLst>
      <p:ext uri="{BB962C8B-B14F-4D97-AF65-F5344CB8AC3E}">
        <p14:creationId xmlns:p14="http://schemas.microsoft.com/office/powerpoint/2010/main" val="4282452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280160" y="2194560"/>
            <a:ext cx="4489704" cy="398678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6415368" y="2194560"/>
            <a:ext cx="4493424" cy="398678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2CCFE9AC-F15C-4FA0-A6F1-298829FA691D}" type="datetimeFigureOut">
              <a:rPr lang="en-US"/>
              <a:t>4/1/2020</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3201040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Text Placeholder 2"/>
          <p:cNvSpPr>
            <a:spLocks noGrp="1"/>
          </p:cNvSpPr>
          <p:nvPr>
            <p:ph type="body" idx="1"/>
          </p:nvPr>
        </p:nvSpPr>
        <p:spPr>
          <a:xfrm>
            <a:off x="1280160" y="1828456"/>
            <a:ext cx="4489704" cy="8306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80160" y="2743194"/>
            <a:ext cx="4489704" cy="343376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6419088" y="1828456"/>
            <a:ext cx="4489704" cy="8306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419088" y="2743194"/>
            <a:ext cx="4489704" cy="343376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fld id="{2CCFE9AC-F15C-4FA0-A6F1-298829FA691D}" type="datetimeFigureOut">
              <a:rPr lang="en-US"/>
              <a:t>4/1/2020</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4261286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2CCFE9AC-F15C-4FA0-A6F1-298829FA691D}" type="datetimeFigureOut">
              <a:rPr lang="en-US"/>
              <a:t>4/1/2020</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2641611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CFE9AC-F15C-4FA0-A6F1-298829FA691D}" type="datetimeFigureOut">
              <a:rPr lang="en-US"/>
              <a:t>4/1/2020</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1830296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smtClean="0"/>
              <a:t>Click to edit Master title style</a:t>
            </a:r>
            <a:endParaRPr/>
          </a:p>
        </p:txBody>
      </p:sp>
      <p:sp>
        <p:nvSpPr>
          <p:cNvPr id="4" name="Text Placeholder 2"/>
          <p:cNvSpPr>
            <a:spLocks noGrp="1"/>
          </p:cNvSpPr>
          <p:nvPr>
            <p:ph type="body" sz="half" idx="2"/>
          </p:nvPr>
        </p:nvSpPr>
        <p:spPr>
          <a:xfrm>
            <a:off x="1291818" y="2465294"/>
            <a:ext cx="3834874" cy="3711669"/>
          </a:xfrm>
        </p:spPr>
        <p:txBody>
          <a:bodyPr>
            <a:normAutofit/>
          </a:bodyPr>
          <a:lstStyle>
            <a:lvl1pPr marL="0" indent="0">
              <a:spcBef>
                <a:spcPts val="1500"/>
              </a:spcBef>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3" name="Content Placeholder 3"/>
          <p:cNvSpPr>
            <a:spLocks noGrp="1"/>
          </p:cNvSpPr>
          <p:nvPr>
            <p:ph idx="1"/>
          </p:nvPr>
        </p:nvSpPr>
        <p:spPr>
          <a:xfrm>
            <a:off x="5518897" y="2465294"/>
            <a:ext cx="5174504" cy="3711669"/>
          </a:xfrm>
        </p:spPr>
        <p:txBody>
          <a:bodyPr>
            <a:normAutofit/>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2CCFE9AC-F15C-4FA0-A6F1-298829FA691D}" type="datetimeFigureOut">
              <a:rPr lang="en-US"/>
              <a:t>4/1/2020</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3114742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smtClean="0"/>
              <a:t>Click to edit Master title style</a:t>
            </a:r>
            <a:endParaRPr/>
          </a:p>
        </p:txBody>
      </p:sp>
      <p:sp>
        <p:nvSpPr>
          <p:cNvPr id="4" name="Text Placeholder 3"/>
          <p:cNvSpPr>
            <a:spLocks noGrp="1"/>
          </p:cNvSpPr>
          <p:nvPr>
            <p:ph type="body" sz="half" idx="2"/>
          </p:nvPr>
        </p:nvSpPr>
        <p:spPr>
          <a:xfrm>
            <a:off x="1291819" y="2465293"/>
            <a:ext cx="3834874" cy="3711669"/>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5518896" y="1828456"/>
            <a:ext cx="5389895" cy="5029544"/>
          </a:xfrm>
        </p:spPr>
        <p:txBody>
          <a:bodyPr tIns="13716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5" name="Date Placeholder 4"/>
          <p:cNvSpPr>
            <a:spLocks noGrp="1"/>
          </p:cNvSpPr>
          <p:nvPr>
            <p:ph type="dt" sz="half" idx="10"/>
          </p:nvPr>
        </p:nvSpPr>
        <p:spPr/>
        <p:txBody>
          <a:bodyPr/>
          <a:lstStyle/>
          <a:p>
            <a:fld id="{2CCFE9AC-F15C-4FA0-A6F1-298829FA691D}" type="datetimeFigureOut">
              <a:rPr lang="en-US"/>
              <a:t>4/1/2020</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4161366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2CCFE9AC-F15C-4FA0-A6F1-298829FA691D}" type="datetimeFigureOut">
              <a:rPr lang="en-US"/>
              <a:t>4/1/2020</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2664405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10" name="Rectangle 9"/>
          <p:cNvSpPr/>
          <p:nvPr/>
        </p:nvSpPr>
        <p:spPr>
          <a:xfrm rot="5400000">
            <a:off x="8267671" y="3370131"/>
            <a:ext cx="6858000" cy="1188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invGray">
          <a:xfrm rot="5400000">
            <a:off x="7523375" y="2743540"/>
            <a:ext cx="6857433" cy="1371487"/>
          </a:xfrm>
          <a:prstGeom prst="rect">
            <a:avLst/>
          </a:prstGeom>
        </p:spPr>
      </p:pic>
      <p:sp>
        <p:nvSpPr>
          <p:cNvPr id="2" name="Vertical Title 1"/>
          <p:cNvSpPr>
            <a:spLocks noGrp="1"/>
          </p:cNvSpPr>
          <p:nvPr>
            <p:ph type="title" orient="vert"/>
          </p:nvPr>
        </p:nvSpPr>
        <p:spPr>
          <a:xfrm>
            <a:off x="10266348" y="462249"/>
            <a:ext cx="1370886" cy="5714714"/>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378199" y="462249"/>
            <a:ext cx="9693088" cy="571471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a:xfrm>
            <a:off x="378199" y="6356350"/>
            <a:ext cx="1971947" cy="365125"/>
          </a:xfrm>
        </p:spPr>
        <p:txBody>
          <a:bodyPr/>
          <a:lstStyle/>
          <a:p>
            <a:fld id="{2CCFE9AC-F15C-4FA0-A6F1-298829FA691D}" type="datetimeFigureOut">
              <a:rPr lang="en-US"/>
              <a:t>4/1/2020</a:t>
            </a:fld>
            <a:endParaRPr/>
          </a:p>
        </p:txBody>
      </p:sp>
      <p:sp>
        <p:nvSpPr>
          <p:cNvPr id="5" name="Footer Placeholder 4"/>
          <p:cNvSpPr>
            <a:spLocks noGrp="1"/>
          </p:cNvSpPr>
          <p:nvPr>
            <p:ph type="ftr" sz="quarter" idx="11"/>
          </p:nvPr>
        </p:nvSpPr>
        <p:spPr>
          <a:xfrm>
            <a:off x="2382374" y="6356350"/>
            <a:ext cx="5687786" cy="365125"/>
          </a:xfrm>
        </p:spPr>
        <p:txBody>
          <a:bodyPr/>
          <a:lstStyle/>
          <a:p>
            <a:endParaRPr/>
          </a:p>
        </p:txBody>
      </p:sp>
      <p:sp>
        <p:nvSpPr>
          <p:cNvPr id="6" name="Slide Number Placeholder 5"/>
          <p:cNvSpPr>
            <a:spLocks noGrp="1"/>
          </p:cNvSpPr>
          <p:nvPr>
            <p:ph type="sldNum" sz="quarter" idx="12"/>
          </p:nvPr>
        </p:nvSpPr>
        <p:spPr>
          <a:xfrm>
            <a:off x="8102389" y="6356350"/>
            <a:ext cx="1968898" cy="365125"/>
          </a:xfrm>
        </p:spPr>
        <p:txBody>
          <a:bodyPr/>
          <a:lstStyle/>
          <a:p>
            <a:fld id="{BD266BE7-899D-4075-917F-DBDE33B6B692}" type="slidenum">
              <a:rPr/>
              <a:t>‹#›</a:t>
            </a:fld>
            <a:endParaRPr/>
          </a:p>
        </p:txBody>
      </p:sp>
    </p:spTree>
    <p:extLst>
      <p:ext uri="{BB962C8B-B14F-4D97-AF65-F5344CB8AC3E}">
        <p14:creationId xmlns:p14="http://schemas.microsoft.com/office/powerpoint/2010/main" val="3029411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347472"/>
            <a:ext cx="12188952" cy="1188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 name="Picture 7"/>
          <p:cNvPicPr>
            <a:picLocks noChangeAspect="1"/>
          </p:cNvPicPr>
          <p:nvPr/>
        </p:nvPicPr>
        <p:blipFill>
          <a:blip r:embed="rId13">
            <a:extLst>
              <a:ext uri="{28A0092B-C50C-407E-A947-70E740481C1C}">
                <a14:useLocalDpi xmlns:a14="http://schemas.microsoft.com/office/drawing/2010/main" val="0"/>
              </a:ext>
            </a:extLst>
          </a:blip>
          <a:stretch>
            <a:fillRect/>
          </a:stretch>
        </p:blipFill>
        <p:spPr bwMode="invGray">
          <a:xfrm>
            <a:off x="0" y="457200"/>
            <a:ext cx="12188952" cy="1371257"/>
          </a:xfrm>
          <a:prstGeom prst="rect">
            <a:avLst/>
          </a:prstGeom>
        </p:spPr>
      </p:pic>
      <p:sp>
        <p:nvSpPr>
          <p:cNvPr id="2" name="Title Placeholder 1"/>
          <p:cNvSpPr>
            <a:spLocks noGrp="1"/>
          </p:cNvSpPr>
          <p:nvPr>
            <p:ph type="title"/>
          </p:nvPr>
        </p:nvSpPr>
        <p:spPr bwMode="black">
          <a:xfrm>
            <a:off x="1280160" y="466343"/>
            <a:ext cx="9628632" cy="1362113"/>
          </a:xfrm>
          <a:prstGeom prst="rect">
            <a:avLst/>
          </a:prstGeom>
        </p:spPr>
        <p:txBody>
          <a:bodyPr vert="horz" lIns="91440" tIns="45720" rIns="91440" bIns="45720" rtlCol="0" anchor="ctr">
            <a:normAutofit/>
          </a:bodyPr>
          <a:lstStyle/>
          <a:p>
            <a:r>
              <a:rPr lang="en-US" smtClean="0"/>
              <a:t>Click to edit Master title style</a:t>
            </a:r>
            <a:endParaRPr dirty="0"/>
          </a:p>
        </p:txBody>
      </p:sp>
      <p:sp>
        <p:nvSpPr>
          <p:cNvPr id="3" name="Text Placeholder 2"/>
          <p:cNvSpPr>
            <a:spLocks noGrp="1"/>
          </p:cNvSpPr>
          <p:nvPr>
            <p:ph type="body" idx="1"/>
          </p:nvPr>
        </p:nvSpPr>
        <p:spPr>
          <a:xfrm>
            <a:off x="1280160" y="2190749"/>
            <a:ext cx="9628632" cy="398621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2"/>
          </p:nvPr>
        </p:nvSpPr>
        <p:spPr>
          <a:xfrm>
            <a:off x="1280160" y="6356350"/>
            <a:ext cx="1971947" cy="365125"/>
          </a:xfrm>
          <a:prstGeom prst="rect">
            <a:avLst/>
          </a:prstGeom>
        </p:spPr>
        <p:txBody>
          <a:bodyPr vert="horz" lIns="91440" tIns="45720" rIns="91440" bIns="45720" rtlCol="0" anchor="ctr"/>
          <a:lstStyle>
            <a:lvl1pPr algn="l">
              <a:defRPr sz="1200" baseline="0">
                <a:solidFill>
                  <a:schemeClr val="tx1"/>
                </a:solidFill>
              </a:defRPr>
            </a:lvl1pPr>
          </a:lstStyle>
          <a:p>
            <a:fld id="{2CCFE9AC-F15C-4FA0-A6F1-298829FA691D}" type="datetimeFigureOut">
              <a:rPr lang="en-US" smtClean="0"/>
              <a:pPr/>
              <a:t>4/1/2020</a:t>
            </a:fld>
            <a:endParaRPr lang="en-US" dirty="0"/>
          </a:p>
        </p:txBody>
      </p:sp>
      <p:sp>
        <p:nvSpPr>
          <p:cNvPr id="5" name="Footer Placeholder 4"/>
          <p:cNvSpPr>
            <a:spLocks noGrp="1"/>
          </p:cNvSpPr>
          <p:nvPr>
            <p:ph type="ftr" sz="quarter" idx="3"/>
          </p:nvPr>
        </p:nvSpPr>
        <p:spPr>
          <a:xfrm>
            <a:off x="3252107" y="6356350"/>
            <a:ext cx="5687786" cy="365125"/>
          </a:xfrm>
          <a:prstGeom prst="rect">
            <a:avLst/>
          </a:prstGeom>
        </p:spPr>
        <p:txBody>
          <a:bodyPr vert="horz" lIns="91440" tIns="45720" rIns="91440" bIns="45720" rtlCol="0" anchor="ctr"/>
          <a:lstStyle>
            <a:lvl1pPr algn="ctr">
              <a:defRPr sz="1200" baseline="0">
                <a:solidFill>
                  <a:schemeClr val="tx1"/>
                </a:solidFill>
              </a:defRPr>
            </a:lvl1pPr>
          </a:lstStyle>
          <a:p>
            <a:endParaRPr lang="en-US"/>
          </a:p>
        </p:txBody>
      </p:sp>
      <p:sp>
        <p:nvSpPr>
          <p:cNvPr id="6" name="Slide Number Placeholder 5"/>
          <p:cNvSpPr>
            <a:spLocks noGrp="1"/>
          </p:cNvSpPr>
          <p:nvPr>
            <p:ph type="sldNum" sz="quarter" idx="4"/>
          </p:nvPr>
        </p:nvSpPr>
        <p:spPr>
          <a:xfrm>
            <a:off x="8939894" y="6356350"/>
            <a:ext cx="1968898" cy="365125"/>
          </a:xfrm>
          <a:prstGeom prst="rect">
            <a:avLst/>
          </a:prstGeom>
        </p:spPr>
        <p:txBody>
          <a:bodyPr vert="horz" lIns="91440" tIns="45720" rIns="91440" bIns="45720" rtlCol="0" anchor="ctr"/>
          <a:lstStyle>
            <a:lvl1pPr algn="r">
              <a:defRPr sz="1200" baseline="0">
                <a:solidFill>
                  <a:schemeClr val="tx1"/>
                </a:solidFill>
              </a:defRPr>
            </a:lvl1pPr>
          </a:lstStyle>
          <a:p>
            <a:fld id="{BD266BE7-899D-4075-917F-DBDE33B6B692}" type="slidenum">
              <a:rPr lang="en-US" smtClean="0"/>
              <a:pPr/>
              <a:t>‹#›</a:t>
            </a:fld>
            <a:endParaRPr lang="en-US"/>
          </a:p>
        </p:txBody>
      </p:sp>
    </p:spTree>
    <p:extLst>
      <p:ext uri="{BB962C8B-B14F-4D97-AF65-F5344CB8AC3E}">
        <p14:creationId xmlns:p14="http://schemas.microsoft.com/office/powerpoint/2010/main" val="28719210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5000"/>
        </a:lnSpc>
        <a:spcBef>
          <a:spcPct val="0"/>
        </a:spcBef>
        <a:buNone/>
        <a:defRPr sz="3000" kern="1200">
          <a:solidFill>
            <a:schemeClr val="bg1"/>
          </a:solidFill>
          <a:latin typeface="+mj-lt"/>
          <a:ea typeface="+mj-ea"/>
          <a:cs typeface="+mj-cs"/>
        </a:defRPr>
      </a:lvl1pPr>
    </p:titleStyle>
    <p:bodyStyle>
      <a:lvl1pPr marL="228600" indent="-228600" algn="l" defTabSz="914400" rtl="0" eaLnBrk="1" latinLnBrk="0" hangingPunct="1">
        <a:lnSpc>
          <a:spcPct val="100000"/>
        </a:lnSpc>
        <a:spcBef>
          <a:spcPts val="1500"/>
        </a:spcBef>
        <a:buFont typeface="Wingdings" panose="05000000000000000000" pitchFamily="2" charset="2"/>
        <a:buChar char="§"/>
        <a:defRPr sz="2200" kern="1200">
          <a:solidFill>
            <a:schemeClr val="tx1"/>
          </a:solidFill>
          <a:latin typeface="+mn-lt"/>
          <a:ea typeface="+mn-ea"/>
          <a:cs typeface="+mn-cs"/>
        </a:defRPr>
      </a:lvl1pPr>
      <a:lvl2pPr marL="685800" indent="-228600" algn="l" defTabSz="914400" rtl="0" eaLnBrk="1" latinLnBrk="0" hangingPunct="1">
        <a:lnSpc>
          <a:spcPct val="100000"/>
        </a:lnSpc>
        <a:spcBef>
          <a:spcPts val="300"/>
        </a:spcBef>
        <a:buFont typeface="Wingdings" panose="05000000000000000000" pitchFamily="2" charset="2"/>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300"/>
        </a:spcBef>
        <a:buFont typeface="Wingdings" panose="05000000000000000000" pitchFamily="2" charset="2"/>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6pPr>
      <a:lvl7pPr marL="29718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7pPr>
      <a:lvl8pPr marL="34290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8pPr>
      <a:lvl9pPr marL="3886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www.youtube.com/watch?v=UMTDmP81mG4"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Circulatory System </a:t>
            </a:r>
            <a:endParaRPr lang="en-US" dirty="0"/>
          </a:p>
        </p:txBody>
      </p:sp>
    </p:spTree>
    <p:extLst>
      <p:ext uri="{BB962C8B-B14F-4D97-AF65-F5344CB8AC3E}">
        <p14:creationId xmlns:p14="http://schemas.microsoft.com/office/powerpoint/2010/main" val="1732698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Curriculum Points </a:t>
            </a:r>
            <a:endParaRPr lang="en-AU" dirty="0"/>
          </a:p>
        </p:txBody>
      </p:sp>
      <p:sp>
        <p:nvSpPr>
          <p:cNvPr id="3" name="Content Placeholder 2"/>
          <p:cNvSpPr>
            <a:spLocks noGrp="1"/>
          </p:cNvSpPr>
          <p:nvPr>
            <p:ph idx="1"/>
          </p:nvPr>
        </p:nvSpPr>
        <p:spPr/>
        <p:txBody>
          <a:bodyPr/>
          <a:lstStyle/>
          <a:p>
            <a:r>
              <a:rPr lang="en-AU" dirty="0" smtClean="0"/>
              <a:t>The curriculum points for the circulatory system are all very much interconnected. I am going to list them all at the beginning of the PowerPoint for simplicity and ease of access. </a:t>
            </a:r>
            <a:endParaRPr lang="en-AU" dirty="0"/>
          </a:p>
        </p:txBody>
      </p:sp>
    </p:spTree>
    <p:extLst>
      <p:ext uri="{BB962C8B-B14F-4D97-AF65-F5344CB8AC3E}">
        <p14:creationId xmlns:p14="http://schemas.microsoft.com/office/powerpoint/2010/main" val="683634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Curriculum Point </a:t>
            </a:r>
            <a:endParaRPr lang="en-AU" dirty="0"/>
          </a:p>
        </p:txBody>
      </p:sp>
      <p:sp>
        <p:nvSpPr>
          <p:cNvPr id="3" name="Content Placeholder 2"/>
          <p:cNvSpPr>
            <a:spLocks noGrp="1"/>
          </p:cNvSpPr>
          <p:nvPr>
            <p:ph idx="1"/>
          </p:nvPr>
        </p:nvSpPr>
        <p:spPr/>
        <p:txBody>
          <a:bodyPr>
            <a:normAutofit/>
          </a:bodyPr>
          <a:lstStyle/>
          <a:p>
            <a:r>
              <a:rPr lang="en-AU" sz="2800" dirty="0"/>
              <a:t>The circulatory system is structured to facilitate the transport of materials to and from exchange surfaces, including the lungs, digestive system and kidneys, and the cells of the body</a:t>
            </a:r>
          </a:p>
        </p:txBody>
      </p:sp>
    </p:spTree>
    <p:extLst>
      <p:ext uri="{BB962C8B-B14F-4D97-AF65-F5344CB8AC3E}">
        <p14:creationId xmlns:p14="http://schemas.microsoft.com/office/powerpoint/2010/main" val="3368448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Curriculum Point </a:t>
            </a:r>
            <a:endParaRPr lang="en-AU" dirty="0"/>
          </a:p>
        </p:txBody>
      </p:sp>
      <p:sp>
        <p:nvSpPr>
          <p:cNvPr id="5" name="Content Placeholder 4"/>
          <p:cNvSpPr>
            <a:spLocks noGrp="1"/>
          </p:cNvSpPr>
          <p:nvPr>
            <p:ph idx="1"/>
          </p:nvPr>
        </p:nvSpPr>
        <p:spPr/>
        <p:txBody>
          <a:bodyPr/>
          <a:lstStyle/>
          <a:p>
            <a:r>
              <a:rPr lang="en-AU" dirty="0"/>
              <a:t>The structure of the heart facilitates the efficient flow of blood around the </a:t>
            </a:r>
            <a:r>
              <a:rPr lang="en-AU" dirty="0" smtClean="0"/>
              <a:t>body</a:t>
            </a:r>
          </a:p>
          <a:p>
            <a:endParaRPr lang="en-AU" dirty="0"/>
          </a:p>
          <a:p>
            <a:endParaRPr lang="en-AU" dirty="0" smtClean="0"/>
          </a:p>
          <a:p>
            <a:pPr marL="0" indent="0">
              <a:buNone/>
            </a:pPr>
            <a:endParaRPr lang="en-AU" dirty="0"/>
          </a:p>
        </p:txBody>
      </p:sp>
    </p:spTree>
    <p:extLst>
      <p:ext uri="{BB962C8B-B14F-4D97-AF65-F5344CB8AC3E}">
        <p14:creationId xmlns:p14="http://schemas.microsoft.com/office/powerpoint/2010/main" val="3542011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Curriculum Point </a:t>
            </a:r>
            <a:endParaRPr lang="en-AU" dirty="0"/>
          </a:p>
        </p:txBody>
      </p:sp>
      <p:sp>
        <p:nvSpPr>
          <p:cNvPr id="3" name="Content Placeholder 2"/>
          <p:cNvSpPr>
            <a:spLocks noGrp="1"/>
          </p:cNvSpPr>
          <p:nvPr>
            <p:ph idx="1"/>
          </p:nvPr>
        </p:nvSpPr>
        <p:spPr/>
        <p:txBody>
          <a:bodyPr/>
          <a:lstStyle/>
          <a:p>
            <a:r>
              <a:rPr lang="en-AU" dirty="0"/>
              <a:t>The blood vessels of the circulatory system have specialised structures that provide for efficient distribution and collection of blood around the body</a:t>
            </a:r>
          </a:p>
        </p:txBody>
      </p:sp>
    </p:spTree>
    <p:extLst>
      <p:ext uri="{BB962C8B-B14F-4D97-AF65-F5344CB8AC3E}">
        <p14:creationId xmlns:p14="http://schemas.microsoft.com/office/powerpoint/2010/main" val="672938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Curriculum Point </a:t>
            </a:r>
            <a:endParaRPr lang="en-AU" dirty="0"/>
          </a:p>
        </p:txBody>
      </p:sp>
      <p:sp>
        <p:nvSpPr>
          <p:cNvPr id="3" name="Content Placeholder 2"/>
          <p:cNvSpPr>
            <a:spLocks noGrp="1"/>
          </p:cNvSpPr>
          <p:nvPr>
            <p:ph idx="1"/>
          </p:nvPr>
        </p:nvSpPr>
        <p:spPr/>
        <p:txBody>
          <a:bodyPr/>
          <a:lstStyle/>
          <a:p>
            <a:r>
              <a:rPr lang="en-AU" dirty="0"/>
              <a:t>The blood is made up of plasma and several types of blood cells, each with particular functions that aid in the:</a:t>
            </a:r>
          </a:p>
          <a:p>
            <a:pPr lvl="0"/>
            <a:r>
              <a:rPr lang="en-AU" dirty="0"/>
              <a:t>transport of materials, including oxygen, nutrients and waste</a:t>
            </a:r>
          </a:p>
          <a:p>
            <a:r>
              <a:rPr lang="en-AU" dirty="0"/>
              <a:t>defence against pathogens</a:t>
            </a:r>
          </a:p>
        </p:txBody>
      </p:sp>
    </p:spTree>
    <p:extLst>
      <p:ext uri="{BB962C8B-B14F-4D97-AF65-F5344CB8AC3E}">
        <p14:creationId xmlns:p14="http://schemas.microsoft.com/office/powerpoint/2010/main" val="803340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Curriculum Point </a:t>
            </a:r>
            <a:endParaRPr lang="en-AU" dirty="0"/>
          </a:p>
        </p:txBody>
      </p:sp>
      <p:sp>
        <p:nvSpPr>
          <p:cNvPr id="3" name="Content Placeholder 2"/>
          <p:cNvSpPr>
            <a:spLocks noGrp="1"/>
          </p:cNvSpPr>
          <p:nvPr>
            <p:ph idx="1"/>
          </p:nvPr>
        </p:nvSpPr>
        <p:spPr/>
        <p:txBody>
          <a:bodyPr/>
          <a:lstStyle/>
          <a:p>
            <a:r>
              <a:rPr lang="en-AU" dirty="0"/>
              <a:t>The function of the circulatory system can be compromised by cardiovascular diseases that reduce the efficiency of transport of materials around the body </a:t>
            </a:r>
          </a:p>
        </p:txBody>
      </p:sp>
    </p:spTree>
    <p:extLst>
      <p:ext uri="{BB962C8B-B14F-4D97-AF65-F5344CB8AC3E}">
        <p14:creationId xmlns:p14="http://schemas.microsoft.com/office/powerpoint/2010/main" val="2053877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Circulatory System </a:t>
            </a:r>
            <a:endParaRPr lang="en-AU" dirty="0"/>
          </a:p>
        </p:txBody>
      </p:sp>
      <p:sp>
        <p:nvSpPr>
          <p:cNvPr id="3" name="Content Placeholder 2"/>
          <p:cNvSpPr>
            <a:spLocks noGrp="1"/>
          </p:cNvSpPr>
          <p:nvPr>
            <p:ph idx="1"/>
          </p:nvPr>
        </p:nvSpPr>
        <p:spPr/>
        <p:txBody>
          <a:bodyPr/>
          <a:lstStyle/>
          <a:p>
            <a:r>
              <a:rPr lang="en-AU" dirty="0" smtClean="0"/>
              <a:t>The body’s main internal transport system is the circulatory system. </a:t>
            </a:r>
          </a:p>
          <a:p>
            <a:r>
              <a:rPr lang="en-AU" dirty="0" smtClean="0"/>
              <a:t>It is the link between the cells inside the body, which have requirements, and the environment outside the body, which supplies those requirements. </a:t>
            </a:r>
          </a:p>
          <a:p>
            <a:pPr marL="0" indent="0">
              <a:buNone/>
            </a:pPr>
            <a:endParaRPr lang="en-AU" dirty="0"/>
          </a:p>
        </p:txBody>
      </p:sp>
    </p:spTree>
    <p:extLst>
      <p:ext uri="{BB962C8B-B14F-4D97-AF65-F5344CB8AC3E}">
        <p14:creationId xmlns:p14="http://schemas.microsoft.com/office/powerpoint/2010/main" val="4020883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Blood </a:t>
            </a:r>
            <a:endParaRPr lang="en-AU" dirty="0"/>
          </a:p>
        </p:txBody>
      </p:sp>
      <p:sp>
        <p:nvSpPr>
          <p:cNvPr id="3" name="Content Placeholder 2"/>
          <p:cNvSpPr>
            <a:spLocks noGrp="1"/>
          </p:cNvSpPr>
          <p:nvPr>
            <p:ph idx="1"/>
          </p:nvPr>
        </p:nvSpPr>
        <p:spPr/>
        <p:txBody>
          <a:bodyPr>
            <a:normAutofit lnSpcReduction="10000"/>
          </a:bodyPr>
          <a:lstStyle/>
          <a:p>
            <a:r>
              <a:rPr lang="en-AU" dirty="0" smtClean="0"/>
              <a:t>Blood is made up of a liquid part, called the plasma, and a non-liquid part, consisting of cells and cell fragments, which together are called the formed elements. </a:t>
            </a:r>
          </a:p>
          <a:p>
            <a:r>
              <a:rPr lang="en-AU" dirty="0" smtClean="0"/>
              <a:t>Plasma makes up about 55% of the blood volume, and the formed elements make up the other 45%. </a:t>
            </a:r>
          </a:p>
          <a:p>
            <a:r>
              <a:rPr lang="en-AU" dirty="0" smtClean="0"/>
              <a:t>The formed elements that are suspended in the blood plasma include the red blood cells (erythrocytes), white blood cells (leucocytes), and platelets (thrombocytes). </a:t>
            </a:r>
          </a:p>
          <a:p>
            <a:r>
              <a:rPr lang="en-AU" dirty="0" smtClean="0"/>
              <a:t>There is about 4-5 litres of blood in an average adult female and about 5-6 litres in an adult male. </a:t>
            </a:r>
            <a:endParaRPr lang="en-AU" dirty="0"/>
          </a:p>
        </p:txBody>
      </p:sp>
    </p:spTree>
    <p:extLst>
      <p:ext uri="{BB962C8B-B14F-4D97-AF65-F5344CB8AC3E}">
        <p14:creationId xmlns:p14="http://schemas.microsoft.com/office/powerpoint/2010/main" val="237892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Transport of Oxygen</a:t>
            </a:r>
            <a:endParaRPr lang="en-AU" dirty="0"/>
          </a:p>
        </p:txBody>
      </p:sp>
      <p:sp>
        <p:nvSpPr>
          <p:cNvPr id="3" name="Content Placeholder 2"/>
          <p:cNvSpPr>
            <a:spLocks noGrp="1"/>
          </p:cNvSpPr>
          <p:nvPr>
            <p:ph idx="1"/>
          </p:nvPr>
        </p:nvSpPr>
        <p:spPr/>
        <p:txBody>
          <a:bodyPr/>
          <a:lstStyle/>
          <a:p>
            <a:r>
              <a:rPr lang="en-AU" dirty="0" smtClean="0"/>
              <a:t>Oxygen is not very soluble in water, so only about 3% of oxygen is carried in solution in the blood plasma. </a:t>
            </a:r>
            <a:endParaRPr lang="en-AU" dirty="0"/>
          </a:p>
          <a:p>
            <a:r>
              <a:rPr lang="en-AU" dirty="0" smtClean="0"/>
              <a:t>The other 97% is carried in combination with haemoglobin molecules that are found only in the red blood cells. </a:t>
            </a:r>
          </a:p>
          <a:p>
            <a:r>
              <a:rPr lang="en-AU" dirty="0" smtClean="0"/>
              <a:t>Haemoglobin is able to combine with oxygen to form a compound called oxyhaemoglobin. This is a weak bond as it can break down easily to release the oxygen. </a:t>
            </a:r>
          </a:p>
          <a:p>
            <a:r>
              <a:rPr lang="en-AU" dirty="0" smtClean="0"/>
              <a:t>The presence of haemoglobin in the red blood cells increase the oxygen-carrying capacity of the blood by about 60 to 70 times.  </a:t>
            </a:r>
            <a:endParaRPr lang="en-AU" dirty="0"/>
          </a:p>
        </p:txBody>
      </p:sp>
    </p:spTree>
    <p:extLst>
      <p:ext uri="{BB962C8B-B14F-4D97-AF65-F5344CB8AC3E}">
        <p14:creationId xmlns:p14="http://schemas.microsoft.com/office/powerpoint/2010/main" val="1328525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a:p>
        </p:txBody>
      </p:sp>
      <p:pic>
        <p:nvPicPr>
          <p:cNvPr id="1026" name="Picture 2" descr="Image result for haemoglobin"/>
          <p:cNvPicPr>
            <a:picLocks noChangeAspect="1" noChangeArrowheads="1"/>
          </p:cNvPicPr>
          <p:nvPr/>
        </p:nvPicPr>
        <p:blipFill rotWithShape="1">
          <a:blip r:embed="rId2">
            <a:extLst>
              <a:ext uri="{28A0092B-C50C-407E-A947-70E740481C1C}">
                <a14:useLocalDpi xmlns:a14="http://schemas.microsoft.com/office/drawing/2010/main" val="0"/>
              </a:ext>
            </a:extLst>
          </a:blip>
          <a:srcRect b="9643"/>
          <a:stretch/>
        </p:blipFill>
        <p:spPr bwMode="auto">
          <a:xfrm>
            <a:off x="1885406" y="341767"/>
            <a:ext cx="8185693" cy="65162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6708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Continued 	</a:t>
            </a:r>
            <a:endParaRPr lang="en-AU" dirty="0"/>
          </a:p>
        </p:txBody>
      </p:sp>
      <p:sp>
        <p:nvSpPr>
          <p:cNvPr id="3" name="Content Placeholder 2"/>
          <p:cNvSpPr>
            <a:spLocks noGrp="1"/>
          </p:cNvSpPr>
          <p:nvPr>
            <p:ph idx="1"/>
          </p:nvPr>
        </p:nvSpPr>
        <p:spPr/>
        <p:txBody>
          <a:bodyPr/>
          <a:lstStyle/>
          <a:p>
            <a:r>
              <a:rPr lang="en-AU" dirty="0" smtClean="0"/>
              <a:t>Oxygen combines with haemoglobin in situations where the oxygen concentration is relatively high. This would occur in the capillaries in the lungs, where oxygen diffuses into the blood from the air in the air sacs.  </a:t>
            </a:r>
          </a:p>
          <a:p>
            <a:r>
              <a:rPr lang="en-AU" dirty="0" smtClean="0"/>
              <a:t>Oxyhaemoglobin breaks down to haemoglobin and oxygen in situations where the concentrations of oxygen is relatively low. </a:t>
            </a:r>
          </a:p>
          <a:p>
            <a:r>
              <a:rPr lang="en-AU" dirty="0" smtClean="0"/>
              <a:t>As the cells of the body continually using oxygen, the tissue fluid around the cells has a relatively low oxygen concentration. </a:t>
            </a:r>
          </a:p>
          <a:p>
            <a:r>
              <a:rPr lang="en-AU" dirty="0" smtClean="0"/>
              <a:t>While flowing through the capillaries between the body cells the red blood cells give up their oxygen, which diffuses into the tissue fluid and then into the cells. </a:t>
            </a:r>
            <a:endParaRPr lang="en-AU" dirty="0"/>
          </a:p>
        </p:txBody>
      </p:sp>
    </p:spTree>
    <p:extLst>
      <p:ext uri="{BB962C8B-B14F-4D97-AF65-F5344CB8AC3E}">
        <p14:creationId xmlns:p14="http://schemas.microsoft.com/office/powerpoint/2010/main" val="939021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a:p>
        </p:txBody>
      </p:sp>
      <p:pic>
        <p:nvPicPr>
          <p:cNvPr id="2050" name="Picture 2" descr="Image result for haemoglobin to oxyhaemoglobi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4274" y="33356"/>
            <a:ext cx="9090025" cy="68246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6922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Continued </a:t>
            </a:r>
            <a:endParaRPr lang="en-AU" dirty="0"/>
          </a:p>
        </p:txBody>
      </p:sp>
      <p:sp>
        <p:nvSpPr>
          <p:cNvPr id="3" name="Content Placeholder 2"/>
          <p:cNvSpPr>
            <a:spLocks noGrp="1"/>
          </p:cNvSpPr>
          <p:nvPr>
            <p:ph idx="1"/>
          </p:nvPr>
        </p:nvSpPr>
        <p:spPr/>
        <p:txBody>
          <a:bodyPr/>
          <a:lstStyle/>
          <a:p>
            <a:r>
              <a:rPr lang="en-AU" dirty="0" smtClean="0"/>
              <a:t>Oxygenated blood is blood with a high proportion of oxyhaemoglobin. </a:t>
            </a:r>
          </a:p>
          <a:p>
            <a:r>
              <a:rPr lang="en-AU" dirty="0" smtClean="0"/>
              <a:t>Oxyhaemoglobin is bright red in colour (why your arteries appear bright red) and haemoglobin is dark red or purplish in colour (why the veins are a blueish colour, as the veins themselves are colourless). </a:t>
            </a:r>
          </a:p>
          <a:p>
            <a:r>
              <a:rPr lang="en-AU" dirty="0" smtClean="0"/>
              <a:t>Red blood cells are well suited to their function of oxygen transport because they: </a:t>
            </a:r>
          </a:p>
          <a:p>
            <a:pPr lvl="1"/>
            <a:r>
              <a:rPr lang="en-AU" dirty="0" smtClean="0"/>
              <a:t>Contain haemoglobin, which is able to combine with oxygen</a:t>
            </a:r>
          </a:p>
          <a:p>
            <a:pPr lvl="1"/>
            <a:r>
              <a:rPr lang="en-AU" dirty="0" smtClean="0"/>
              <a:t>Have no nucleus so that there is more room for haemoglobin molecules </a:t>
            </a:r>
          </a:p>
          <a:p>
            <a:pPr lvl="1"/>
            <a:r>
              <a:rPr lang="en-AU" dirty="0" smtClean="0"/>
              <a:t>Are shaped like discs to increase surface area and the thicker edges give a large volume that allows room for the haemoglobin molecules. </a:t>
            </a:r>
          </a:p>
          <a:p>
            <a:pPr lvl="1"/>
            <a:endParaRPr lang="en-AU" dirty="0"/>
          </a:p>
        </p:txBody>
      </p:sp>
    </p:spTree>
    <p:extLst>
      <p:ext uri="{BB962C8B-B14F-4D97-AF65-F5344CB8AC3E}">
        <p14:creationId xmlns:p14="http://schemas.microsoft.com/office/powerpoint/2010/main" val="1989987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Transport of Carbon Dioxide</a:t>
            </a:r>
            <a:endParaRPr lang="en-AU" dirty="0"/>
          </a:p>
        </p:txBody>
      </p:sp>
      <p:sp>
        <p:nvSpPr>
          <p:cNvPr id="3" name="Content Placeholder 2"/>
          <p:cNvSpPr>
            <a:spLocks noGrp="1"/>
          </p:cNvSpPr>
          <p:nvPr>
            <p:ph idx="1"/>
          </p:nvPr>
        </p:nvSpPr>
        <p:spPr/>
        <p:txBody>
          <a:bodyPr/>
          <a:lstStyle/>
          <a:p>
            <a:r>
              <a:rPr lang="en-AU" dirty="0" smtClean="0"/>
              <a:t>The carbon dioxide in the blood is carried in a number of different ways. Some (~7%) is dissolved in the plasma and carried in solution. Another ~22% or so combines with the globin part of the haemoglobin molecule to form a compound called carbaminohaemoglobin. The remainder ~70% is carried in plasma. </a:t>
            </a:r>
          </a:p>
          <a:p>
            <a:r>
              <a:rPr lang="en-AU" dirty="0" smtClean="0"/>
              <a:t>As blood is flowing through the capillaries between the body cells, carbon dioxide diffuses into the plasma due to the difference in carbon dioxide concentration. Some carbon dioxide dissolves in the plasma, some combines with haemoglobin, but most reacts with water to form carbonic acid. </a:t>
            </a:r>
            <a:endParaRPr lang="en-AU" dirty="0"/>
          </a:p>
        </p:txBody>
      </p:sp>
    </p:spTree>
    <p:extLst>
      <p:ext uri="{BB962C8B-B14F-4D97-AF65-F5344CB8AC3E}">
        <p14:creationId xmlns:p14="http://schemas.microsoft.com/office/powerpoint/2010/main" val="666151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Continued </a:t>
            </a:r>
            <a:endParaRPr lang="en-AU" dirty="0"/>
          </a:p>
        </p:txBody>
      </p:sp>
      <p:sp>
        <p:nvSpPr>
          <p:cNvPr id="3" name="Content Placeholder 2"/>
          <p:cNvSpPr>
            <a:spLocks noGrp="1"/>
          </p:cNvSpPr>
          <p:nvPr>
            <p:ph idx="1"/>
          </p:nvPr>
        </p:nvSpPr>
        <p:spPr/>
        <p:txBody>
          <a:bodyPr/>
          <a:lstStyle/>
          <a:p>
            <a:r>
              <a:rPr lang="en-AU" dirty="0" smtClean="0"/>
              <a:t>The air sacs in the lungs, the alveoli, are surrounded by a dense network of capillaries the reverse occurs. The carbon dioxide dissolved in the plasma diffuses out of the blood into the air in the alveolus. </a:t>
            </a:r>
          </a:p>
          <a:p>
            <a:r>
              <a:rPr lang="en-AU" dirty="0" smtClean="0"/>
              <a:t>The carbaminohaemoglobin breaks down, and the carbon dioxide molecules released also diffuse into the alveolus. </a:t>
            </a:r>
          </a:p>
          <a:p>
            <a:r>
              <a:rPr lang="en-AU" dirty="0" smtClean="0"/>
              <a:t>Carbonic acid breaks down under enzyme action into water and carbon dioxide. The carbon dioxide also diffuses into the alveolus. </a:t>
            </a:r>
            <a:endParaRPr lang="en-AU" dirty="0"/>
          </a:p>
        </p:txBody>
      </p:sp>
    </p:spTree>
    <p:extLst>
      <p:ext uri="{BB962C8B-B14F-4D97-AF65-F5344CB8AC3E}">
        <p14:creationId xmlns:p14="http://schemas.microsoft.com/office/powerpoint/2010/main" val="129107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Proportion and location of </a:t>
            </a:r>
            <a:r>
              <a:rPr lang="en-AU" dirty="0"/>
              <a:t>O</a:t>
            </a:r>
            <a:r>
              <a:rPr lang="en-AU" dirty="0" smtClean="0"/>
              <a:t>xygen and Carbon </a:t>
            </a:r>
            <a:r>
              <a:rPr lang="en-AU" dirty="0"/>
              <a:t>D</a:t>
            </a:r>
            <a:r>
              <a:rPr lang="en-AU" dirty="0" smtClean="0"/>
              <a:t>ioxide </a:t>
            </a:r>
            <a:endParaRPr lang="en-AU"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805009711"/>
              </p:ext>
            </p:extLst>
          </p:nvPr>
        </p:nvGraphicFramePr>
        <p:xfrm>
          <a:off x="1279525" y="2190750"/>
          <a:ext cx="9629776" cy="1285240"/>
        </p:xfrm>
        <a:graphic>
          <a:graphicData uri="http://schemas.openxmlformats.org/drawingml/2006/table">
            <a:tbl>
              <a:tblPr firstRow="1" bandRow="1">
                <a:tableStyleId>{3B4B98B0-60AC-42C2-AFA5-B58CD77FA1E5}</a:tableStyleId>
              </a:tblPr>
              <a:tblGrid>
                <a:gridCol w="4814888">
                  <a:extLst>
                    <a:ext uri="{9D8B030D-6E8A-4147-A177-3AD203B41FA5}">
                      <a16:colId xmlns:a16="http://schemas.microsoft.com/office/drawing/2014/main" val="1744197690"/>
                    </a:ext>
                  </a:extLst>
                </a:gridCol>
                <a:gridCol w="4814888">
                  <a:extLst>
                    <a:ext uri="{9D8B030D-6E8A-4147-A177-3AD203B41FA5}">
                      <a16:colId xmlns:a16="http://schemas.microsoft.com/office/drawing/2014/main" val="3219350632"/>
                    </a:ext>
                  </a:extLst>
                </a:gridCol>
              </a:tblGrid>
              <a:tr h="370840">
                <a:tc>
                  <a:txBody>
                    <a:bodyPr/>
                    <a:lstStyle/>
                    <a:p>
                      <a:r>
                        <a:rPr lang="en-AU" dirty="0" smtClean="0"/>
                        <a:t>Oxygen </a:t>
                      </a:r>
                      <a:endParaRPr lang="en-AU" dirty="0"/>
                    </a:p>
                  </a:txBody>
                  <a:tcPr/>
                </a:tc>
                <a:tc>
                  <a:txBody>
                    <a:bodyPr/>
                    <a:lstStyle/>
                    <a:p>
                      <a:r>
                        <a:rPr lang="en-AU" dirty="0" smtClean="0"/>
                        <a:t>Carbon Dioxide </a:t>
                      </a:r>
                      <a:endParaRPr lang="en-AU" dirty="0"/>
                    </a:p>
                  </a:txBody>
                  <a:tcPr/>
                </a:tc>
                <a:extLst>
                  <a:ext uri="{0D108BD9-81ED-4DB2-BD59-A6C34878D82A}">
                    <a16:rowId xmlns:a16="http://schemas.microsoft.com/office/drawing/2014/main" val="4155978059"/>
                  </a:ext>
                </a:extLst>
              </a:tr>
              <a:tr h="370840">
                <a:tc>
                  <a:txBody>
                    <a:bodyPr/>
                    <a:lstStyle/>
                    <a:p>
                      <a:r>
                        <a:rPr lang="en-AU" dirty="0" smtClean="0"/>
                        <a:t>3% dissolved in plasma </a:t>
                      </a:r>
                    </a:p>
                    <a:p>
                      <a:r>
                        <a:rPr lang="en-AU" dirty="0" smtClean="0"/>
                        <a:t>97% dissolved in oxyhaemoglobin </a:t>
                      </a:r>
                      <a:endParaRPr lang="en-AU" dirty="0"/>
                    </a:p>
                  </a:txBody>
                  <a:tcPr/>
                </a:tc>
                <a:tc>
                  <a:txBody>
                    <a:bodyPr/>
                    <a:lstStyle/>
                    <a:p>
                      <a:r>
                        <a:rPr lang="en-AU" dirty="0" smtClean="0"/>
                        <a:t>8% dissolved in plasma </a:t>
                      </a:r>
                    </a:p>
                    <a:p>
                      <a:r>
                        <a:rPr lang="en-AU" dirty="0" smtClean="0"/>
                        <a:t>22% as carbaminohaemoglobin</a:t>
                      </a:r>
                      <a:r>
                        <a:rPr lang="en-AU" baseline="0" dirty="0" smtClean="0"/>
                        <a:t> </a:t>
                      </a:r>
                    </a:p>
                    <a:p>
                      <a:r>
                        <a:rPr lang="en-AU" baseline="0" dirty="0" smtClean="0"/>
                        <a:t>70% as bicarbonate ions </a:t>
                      </a:r>
                      <a:endParaRPr lang="en-AU" dirty="0"/>
                    </a:p>
                  </a:txBody>
                  <a:tcPr/>
                </a:tc>
                <a:extLst>
                  <a:ext uri="{0D108BD9-81ED-4DB2-BD59-A6C34878D82A}">
                    <a16:rowId xmlns:a16="http://schemas.microsoft.com/office/drawing/2014/main" val="3530994712"/>
                  </a:ext>
                </a:extLst>
              </a:tr>
            </a:tbl>
          </a:graphicData>
        </a:graphic>
      </p:graphicFrame>
    </p:spTree>
    <p:extLst>
      <p:ext uri="{BB962C8B-B14F-4D97-AF65-F5344CB8AC3E}">
        <p14:creationId xmlns:p14="http://schemas.microsoft.com/office/powerpoint/2010/main" val="3083361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Transport of nutrients and waste </a:t>
            </a:r>
            <a:endParaRPr lang="en-AU" dirty="0"/>
          </a:p>
        </p:txBody>
      </p:sp>
      <p:sp>
        <p:nvSpPr>
          <p:cNvPr id="3" name="Content Placeholder 2"/>
          <p:cNvSpPr>
            <a:spLocks noGrp="1"/>
          </p:cNvSpPr>
          <p:nvPr>
            <p:ph idx="1"/>
          </p:nvPr>
        </p:nvSpPr>
        <p:spPr/>
        <p:txBody>
          <a:bodyPr/>
          <a:lstStyle/>
          <a:p>
            <a:r>
              <a:rPr lang="en-AU" dirty="0" smtClean="0"/>
              <a:t>Nutrients and wastes are transported and dissolved in the blood plasma. </a:t>
            </a:r>
          </a:p>
          <a:p>
            <a:r>
              <a:rPr lang="en-AU" dirty="0" smtClean="0"/>
              <a:t>Nutrients are the essential elements and molecules that are obtained from the food we eat. Inorganic nutrients are transported as ions. Some of the important ions dissolved in the blood plasma are sodium ions, calcium ions, potassium ions, chloride ions, and iodide ions. </a:t>
            </a:r>
          </a:p>
          <a:p>
            <a:r>
              <a:rPr lang="en-AU" dirty="0" smtClean="0"/>
              <a:t>Organic nutrients dissolved in the blood plasma include glucose, vitamins, amino acids, fatty acids and glycerol. </a:t>
            </a:r>
            <a:endParaRPr lang="en-AU" dirty="0"/>
          </a:p>
        </p:txBody>
      </p:sp>
    </p:spTree>
    <p:extLst>
      <p:ext uri="{BB962C8B-B14F-4D97-AF65-F5344CB8AC3E}">
        <p14:creationId xmlns:p14="http://schemas.microsoft.com/office/powerpoint/2010/main" val="3086443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Continued. </a:t>
            </a:r>
            <a:endParaRPr lang="en-AU" dirty="0"/>
          </a:p>
        </p:txBody>
      </p:sp>
      <p:sp>
        <p:nvSpPr>
          <p:cNvPr id="3" name="Content Placeholder 2"/>
          <p:cNvSpPr>
            <a:spLocks noGrp="1"/>
          </p:cNvSpPr>
          <p:nvPr>
            <p:ph idx="1"/>
          </p:nvPr>
        </p:nvSpPr>
        <p:spPr/>
        <p:txBody>
          <a:bodyPr/>
          <a:lstStyle/>
          <a:p>
            <a:r>
              <a:rPr lang="en-AU" dirty="0" smtClean="0"/>
              <a:t>Wastes, or more correctly, metabolic wastes, are substances produced by the cells that cannot be used and would be harmful if allowed to accumulate. </a:t>
            </a:r>
          </a:p>
          <a:p>
            <a:r>
              <a:rPr lang="en-AU" dirty="0" smtClean="0"/>
              <a:t>The most important organic wastes that are transported in solution in the blood plasma are urea, creatinine (waste product from using muscles) and uric acid. </a:t>
            </a:r>
            <a:endParaRPr lang="en-AU" dirty="0"/>
          </a:p>
        </p:txBody>
      </p:sp>
    </p:spTree>
    <p:extLst>
      <p:ext uri="{BB962C8B-B14F-4D97-AF65-F5344CB8AC3E}">
        <p14:creationId xmlns:p14="http://schemas.microsoft.com/office/powerpoint/2010/main" val="3115219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heart </a:t>
            </a:r>
            <a:endParaRPr lang="en-AU" dirty="0"/>
          </a:p>
        </p:txBody>
      </p:sp>
      <p:sp>
        <p:nvSpPr>
          <p:cNvPr id="3" name="Content Placeholder 2"/>
          <p:cNvSpPr>
            <a:spLocks noGrp="1"/>
          </p:cNvSpPr>
          <p:nvPr>
            <p:ph idx="1"/>
          </p:nvPr>
        </p:nvSpPr>
        <p:spPr/>
        <p:txBody>
          <a:bodyPr/>
          <a:lstStyle/>
          <a:p>
            <a:r>
              <a:rPr lang="en-AU" dirty="0" smtClean="0"/>
              <a:t>The heart is the pump that pushes the blood around the body. </a:t>
            </a:r>
          </a:p>
          <a:p>
            <a:r>
              <a:rPr lang="en-AU" dirty="0" smtClean="0"/>
              <a:t>It is located in the middle of the chest cavity, between the two lungs. </a:t>
            </a:r>
          </a:p>
          <a:p>
            <a:r>
              <a:rPr lang="en-AU" dirty="0" smtClean="0"/>
              <a:t>Roughly conical in shape, the heart is about the size of a closed human fist. Around the heart, and completely enclosing it, is a membrane called the pericardium. </a:t>
            </a:r>
          </a:p>
          <a:p>
            <a:r>
              <a:rPr lang="en-AU" dirty="0" smtClean="0"/>
              <a:t>This membrane holds the heart in place but allows the heart to move as it beats. </a:t>
            </a:r>
          </a:p>
          <a:p>
            <a:r>
              <a:rPr lang="en-AU" dirty="0" smtClean="0"/>
              <a:t>The pericardium also prevents the heart from overstretching. The wall of the heart itself is made up of a special type of muscle, called cardiac muscle.  </a:t>
            </a:r>
            <a:endParaRPr lang="en-AU" dirty="0"/>
          </a:p>
        </p:txBody>
      </p:sp>
    </p:spTree>
    <p:extLst>
      <p:ext uri="{BB962C8B-B14F-4D97-AF65-F5344CB8AC3E}">
        <p14:creationId xmlns:p14="http://schemas.microsoft.com/office/powerpoint/2010/main" val="2101384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mage result for heart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330" y="0"/>
            <a:ext cx="7203908" cy="70726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1524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heart byj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0592" y="0"/>
            <a:ext cx="5905281"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2299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pic>
        <p:nvPicPr>
          <p:cNvPr id="4" name="Picture 3"/>
          <p:cNvPicPr>
            <a:picLocks noChangeAspect="1"/>
          </p:cNvPicPr>
          <p:nvPr/>
        </p:nvPicPr>
        <p:blipFill rotWithShape="1">
          <a:blip r:embed="rId2"/>
          <a:srcRect l="627" t="30055" r="52934" b="31540"/>
          <a:stretch/>
        </p:blipFill>
        <p:spPr>
          <a:xfrm>
            <a:off x="0" y="466343"/>
            <a:ext cx="12203964" cy="5676900"/>
          </a:xfrm>
          <a:prstGeom prst="rect">
            <a:avLst/>
          </a:prstGeom>
        </p:spPr>
      </p:pic>
    </p:spTree>
    <p:extLst>
      <p:ext uri="{BB962C8B-B14F-4D97-AF65-F5344CB8AC3E}">
        <p14:creationId xmlns:p14="http://schemas.microsoft.com/office/powerpoint/2010/main" val="2529619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pic>
        <p:nvPicPr>
          <p:cNvPr id="5" name="Picture 4"/>
          <p:cNvPicPr>
            <a:picLocks noChangeAspect="1"/>
          </p:cNvPicPr>
          <p:nvPr/>
        </p:nvPicPr>
        <p:blipFill rotWithShape="1">
          <a:blip r:embed="rId2"/>
          <a:srcRect l="53125" t="20000" r="13958" b="10370"/>
          <a:stretch/>
        </p:blipFill>
        <p:spPr>
          <a:xfrm>
            <a:off x="1280160" y="0"/>
            <a:ext cx="5768340" cy="6863594"/>
          </a:xfrm>
          <a:prstGeom prst="rect">
            <a:avLst/>
          </a:prstGeom>
        </p:spPr>
      </p:pic>
    </p:spTree>
    <p:extLst>
      <p:ext uri="{BB962C8B-B14F-4D97-AF65-F5344CB8AC3E}">
        <p14:creationId xmlns:p14="http://schemas.microsoft.com/office/powerpoint/2010/main" val="312403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Blood vessels </a:t>
            </a:r>
            <a:endParaRPr lang="en-AU" dirty="0"/>
          </a:p>
        </p:txBody>
      </p:sp>
      <p:sp>
        <p:nvSpPr>
          <p:cNvPr id="3" name="Content Placeholder 2"/>
          <p:cNvSpPr>
            <a:spLocks noGrp="1"/>
          </p:cNvSpPr>
          <p:nvPr>
            <p:ph idx="1"/>
          </p:nvPr>
        </p:nvSpPr>
        <p:spPr/>
        <p:txBody>
          <a:bodyPr/>
          <a:lstStyle/>
          <a:p>
            <a:r>
              <a:rPr lang="en-AU" dirty="0" smtClean="0"/>
              <a:t>Blood is pumped by the heart into blood vessels, which carry the blood to the cells of the body or the lungs and then bring it back to the heart again. The same blood floes continuously through the heart, and this movement of blood is referred to as the circulation. </a:t>
            </a:r>
          </a:p>
          <a:p>
            <a:r>
              <a:rPr lang="en-AU" dirty="0" smtClean="0"/>
              <a:t>The blood vessels that are joined together to form the channels through which the blood flows are: </a:t>
            </a:r>
          </a:p>
          <a:p>
            <a:pPr lvl="1"/>
            <a:r>
              <a:rPr lang="en-AU" dirty="0" smtClean="0"/>
              <a:t>Arteries: which carry blood away from the heart. </a:t>
            </a:r>
          </a:p>
          <a:p>
            <a:pPr lvl="1"/>
            <a:r>
              <a:rPr lang="en-AU" dirty="0" smtClean="0"/>
              <a:t>Capillaries: which are tiny vessels that carry blood between the cells. </a:t>
            </a:r>
          </a:p>
          <a:p>
            <a:pPr lvl="1"/>
            <a:r>
              <a:rPr lang="en-AU" dirty="0" smtClean="0"/>
              <a:t>Veins: which carry blood back to the heart. </a:t>
            </a:r>
            <a:endParaRPr lang="en-AU" dirty="0"/>
          </a:p>
        </p:txBody>
      </p:sp>
    </p:spTree>
    <p:extLst>
      <p:ext uri="{BB962C8B-B14F-4D97-AF65-F5344CB8AC3E}">
        <p14:creationId xmlns:p14="http://schemas.microsoft.com/office/powerpoint/2010/main" val="1521927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Glue your heart diagram into your book</a:t>
            </a:r>
            <a:r>
              <a:rPr lang="en-AU" dirty="0" smtClean="0"/>
              <a:t>. If you are viewing this online without the work package, I have your heart diagrams in the classroom, which you can collect when school starts back up, leave about half a page to glue it in.  </a:t>
            </a:r>
            <a:endParaRPr lang="en-AU" dirty="0"/>
          </a:p>
        </p:txBody>
      </p:sp>
    </p:spTree>
    <p:extLst>
      <p:ext uri="{BB962C8B-B14F-4D97-AF65-F5344CB8AC3E}">
        <p14:creationId xmlns:p14="http://schemas.microsoft.com/office/powerpoint/2010/main" val="2819547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a:hlinkClick r:id="rId2"/>
              </a:rPr>
              <a:t>https://www.youtube.com/watch?v=UMTDmP81mG4</a:t>
            </a:r>
            <a:endParaRPr lang="en-AU" dirty="0"/>
          </a:p>
        </p:txBody>
      </p:sp>
    </p:spTree>
    <p:extLst>
      <p:ext uri="{BB962C8B-B14F-4D97-AF65-F5344CB8AC3E}">
        <p14:creationId xmlns:p14="http://schemas.microsoft.com/office/powerpoint/2010/main" val="970993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Capillaries </a:t>
            </a:r>
            <a:endParaRPr lang="en-AU" dirty="0"/>
          </a:p>
        </p:txBody>
      </p:sp>
      <p:sp>
        <p:nvSpPr>
          <p:cNvPr id="3" name="Content Placeholder 2"/>
          <p:cNvSpPr>
            <a:spLocks noGrp="1"/>
          </p:cNvSpPr>
          <p:nvPr>
            <p:ph idx="1"/>
          </p:nvPr>
        </p:nvSpPr>
        <p:spPr/>
        <p:txBody>
          <a:bodyPr/>
          <a:lstStyle/>
          <a:p>
            <a:r>
              <a:rPr lang="en-AU" dirty="0" smtClean="0"/>
              <a:t>Microscopic blood vessels that form a network, carrying blood close to nearly every cell in the body. This enables the cells to get their requirements from the blood and to pass their waste into the blood. </a:t>
            </a:r>
          </a:p>
          <a:p>
            <a:r>
              <a:rPr lang="en-AU" dirty="0" smtClean="0"/>
              <a:t>The structure of the capillaries suits them to this function of exchange of materials between the blood and the body cells. </a:t>
            </a:r>
          </a:p>
          <a:p>
            <a:r>
              <a:rPr lang="en-AU" dirty="0" smtClean="0"/>
              <a:t>Capillary walls have only one layer of cells. </a:t>
            </a:r>
          </a:p>
          <a:p>
            <a:r>
              <a:rPr lang="en-AU" dirty="0" smtClean="0"/>
              <a:t>This allows substances to pass easily between the blood and the surrounding cells. </a:t>
            </a:r>
            <a:endParaRPr lang="en-AU" dirty="0"/>
          </a:p>
        </p:txBody>
      </p:sp>
    </p:spTree>
    <p:extLst>
      <p:ext uri="{BB962C8B-B14F-4D97-AF65-F5344CB8AC3E}">
        <p14:creationId xmlns:p14="http://schemas.microsoft.com/office/powerpoint/2010/main" val="3381741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capillari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255" y="552450"/>
            <a:ext cx="11797507" cy="6038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2658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Blood Flow </a:t>
            </a:r>
            <a:endParaRPr lang="en-AU" dirty="0"/>
          </a:p>
        </p:txBody>
      </p:sp>
      <p:sp>
        <p:nvSpPr>
          <p:cNvPr id="3" name="Content Placeholder 2"/>
          <p:cNvSpPr>
            <a:spLocks noGrp="1"/>
          </p:cNvSpPr>
          <p:nvPr>
            <p:ph idx="1"/>
          </p:nvPr>
        </p:nvSpPr>
        <p:spPr/>
        <p:txBody>
          <a:bodyPr/>
          <a:lstStyle/>
          <a:p>
            <a:r>
              <a:rPr lang="en-AU" dirty="0" smtClean="0"/>
              <a:t>Blood is the transport medium that delivers oxygen and nutrients to cells and carries away their wastes. </a:t>
            </a:r>
          </a:p>
          <a:p>
            <a:r>
              <a:rPr lang="en-AU" dirty="0" smtClean="0"/>
              <a:t>The requirements of cells will vary depending on their level of activity. E.g. when we are actively exercising, the muscles will use up much more oxygen and nutrients, and will produce more carbon dioxide and other wastes, than when we are sitting at rest. To cater for the changes in requirements, the blood flow to and from the cells must be able to change. There are two ways that this can occur: by changing the output of blood from the heart; and by changing the diameter of the blood vessels supplying the tissues. </a:t>
            </a:r>
          </a:p>
          <a:p>
            <a:endParaRPr lang="en-AU" dirty="0"/>
          </a:p>
        </p:txBody>
      </p:sp>
    </p:spTree>
    <p:extLst>
      <p:ext uri="{BB962C8B-B14F-4D97-AF65-F5344CB8AC3E}">
        <p14:creationId xmlns:p14="http://schemas.microsoft.com/office/powerpoint/2010/main" val="210882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a:p>
        </p:txBody>
      </p:sp>
      <p:pic>
        <p:nvPicPr>
          <p:cNvPr id="1026" name="Picture 2" descr="Blood Flow Diagram Simplified Diagram | Quizl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6856" y="466343"/>
            <a:ext cx="5794988" cy="66900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50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Cardiac Cycle </a:t>
            </a:r>
            <a:endParaRPr lang="en-AU" dirty="0"/>
          </a:p>
        </p:txBody>
      </p:sp>
      <p:sp>
        <p:nvSpPr>
          <p:cNvPr id="3" name="Content Placeholder 2"/>
          <p:cNvSpPr>
            <a:spLocks noGrp="1"/>
          </p:cNvSpPr>
          <p:nvPr>
            <p:ph idx="1"/>
          </p:nvPr>
        </p:nvSpPr>
        <p:spPr/>
        <p:txBody>
          <a:bodyPr/>
          <a:lstStyle/>
          <a:p>
            <a:r>
              <a:rPr lang="en-AU" dirty="0" smtClean="0"/>
              <a:t>The cardiac cycle, or heartbeat, is the sequence of events that occurs in one complete beat of the heart. The pumping phase of the cycle, when the heart muscle contracts is called </a:t>
            </a:r>
            <a:r>
              <a:rPr lang="en-AU" b="1" dirty="0" smtClean="0"/>
              <a:t>systole</a:t>
            </a:r>
            <a:r>
              <a:rPr lang="en-AU" dirty="0" smtClean="0"/>
              <a:t>. </a:t>
            </a:r>
          </a:p>
          <a:p>
            <a:r>
              <a:rPr lang="en-AU" dirty="0" smtClean="0"/>
              <a:t>The filling phase as the heart muscle relaxes is called </a:t>
            </a:r>
            <a:r>
              <a:rPr lang="en-AU" b="1" dirty="0" smtClean="0"/>
              <a:t>diastole</a:t>
            </a:r>
            <a:r>
              <a:rPr lang="en-AU" dirty="0" smtClean="0"/>
              <a:t>. </a:t>
            </a:r>
          </a:p>
          <a:p>
            <a:r>
              <a:rPr lang="en-AU" dirty="0" smtClean="0"/>
              <a:t>For a short time both atria and the ventricles also receive blood as the valves between them are open. </a:t>
            </a:r>
            <a:endParaRPr lang="en-AU" dirty="0"/>
          </a:p>
        </p:txBody>
      </p:sp>
    </p:spTree>
    <p:extLst>
      <p:ext uri="{BB962C8B-B14F-4D97-AF65-F5344CB8AC3E}">
        <p14:creationId xmlns:p14="http://schemas.microsoft.com/office/powerpoint/2010/main" val="2534026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a:p>
        </p:txBody>
      </p:sp>
      <p:pic>
        <p:nvPicPr>
          <p:cNvPr id="2050" name="Picture 2" descr="Cardiac Cycle - Definition, Phases and Quiz | Biology Dictionar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4042" y="0"/>
            <a:ext cx="6663237" cy="6663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961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Cardiac Output </a:t>
            </a:r>
            <a:endParaRPr lang="en-AU" dirty="0"/>
          </a:p>
        </p:txBody>
      </p:sp>
      <p:sp>
        <p:nvSpPr>
          <p:cNvPr id="3" name="Content Placeholder 2"/>
          <p:cNvSpPr>
            <a:spLocks noGrp="1"/>
          </p:cNvSpPr>
          <p:nvPr>
            <p:ph idx="1"/>
          </p:nvPr>
        </p:nvSpPr>
        <p:spPr/>
        <p:txBody>
          <a:bodyPr/>
          <a:lstStyle/>
          <a:p>
            <a:r>
              <a:rPr lang="en-AU" dirty="0" smtClean="0"/>
              <a:t>The rate of blood flow depends on how fast the heart is beating and how much blood the heart pumps with each beat. </a:t>
            </a:r>
          </a:p>
          <a:p>
            <a:r>
              <a:rPr lang="en-AU" dirty="0" smtClean="0"/>
              <a:t>The heart rate is the number of times the heart beats per minute, while the stroke volume is the volume of blood forced from a ventricle of the heart with each contraction. </a:t>
            </a:r>
          </a:p>
          <a:p>
            <a:r>
              <a:rPr lang="en-AU" dirty="0" smtClean="0"/>
              <a:t>A combination of both of these factors influences the cardiac output- the amount of blood leaving one of the ventricles every minute. The cardiac output is equal to the stroke volume multiplied by the heart rate. </a:t>
            </a:r>
            <a:endParaRPr lang="en-AU" dirty="0"/>
          </a:p>
        </p:txBody>
      </p:sp>
    </p:spTree>
    <p:extLst>
      <p:ext uri="{BB962C8B-B14F-4D97-AF65-F5344CB8AC3E}">
        <p14:creationId xmlns:p14="http://schemas.microsoft.com/office/powerpoint/2010/main" val="2327994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Blood flow in arteries </a:t>
            </a:r>
            <a:endParaRPr lang="en-AU" dirty="0"/>
          </a:p>
        </p:txBody>
      </p:sp>
      <p:sp>
        <p:nvSpPr>
          <p:cNvPr id="3" name="Content Placeholder 2"/>
          <p:cNvSpPr>
            <a:spLocks noGrp="1"/>
          </p:cNvSpPr>
          <p:nvPr>
            <p:ph idx="1"/>
          </p:nvPr>
        </p:nvSpPr>
        <p:spPr/>
        <p:txBody>
          <a:bodyPr/>
          <a:lstStyle/>
          <a:p>
            <a:r>
              <a:rPr lang="en-AU" dirty="0" smtClean="0"/>
              <a:t>Arteries are the blood vessels that carry blood away from the heart. </a:t>
            </a:r>
          </a:p>
          <a:p>
            <a:r>
              <a:rPr lang="en-AU" dirty="0" smtClean="0"/>
              <a:t>The walls of an artery contain smooth muscle and elastic fibres. When the ventricles contract and push blood into the arteries, the walls of the arteries stretch to accommodate the extra blood. </a:t>
            </a:r>
          </a:p>
          <a:p>
            <a:r>
              <a:rPr lang="en-AU" dirty="0" smtClean="0"/>
              <a:t>When the ventricles relax, the elastic artery walls recoil. This recoil keeps the blood moving and maintains the pressure. The muscle in the artery walls does not contract and relax to pump the blood along. </a:t>
            </a:r>
          </a:p>
          <a:p>
            <a:r>
              <a:rPr lang="en-AU" dirty="0" smtClean="0"/>
              <a:t>However, the muscle can contact to reduce the diameter of the artery and thus reduce blood flow to an organ. </a:t>
            </a:r>
            <a:endParaRPr lang="en-AU" dirty="0"/>
          </a:p>
        </p:txBody>
      </p:sp>
    </p:spTree>
    <p:extLst>
      <p:ext uri="{BB962C8B-B14F-4D97-AF65-F5344CB8AC3E}">
        <p14:creationId xmlns:p14="http://schemas.microsoft.com/office/powerpoint/2010/main" val="1454604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Continued. </a:t>
            </a:r>
            <a:endParaRPr lang="en-AU" dirty="0"/>
          </a:p>
        </p:txBody>
      </p:sp>
      <p:sp>
        <p:nvSpPr>
          <p:cNvPr id="3" name="Content Placeholder 2"/>
          <p:cNvSpPr>
            <a:spLocks noGrp="1"/>
          </p:cNvSpPr>
          <p:nvPr>
            <p:ph idx="1"/>
          </p:nvPr>
        </p:nvSpPr>
        <p:spPr/>
        <p:txBody>
          <a:bodyPr/>
          <a:lstStyle/>
          <a:p>
            <a:r>
              <a:rPr lang="en-AU" dirty="0" smtClean="0"/>
              <a:t>Such contraction of a blood vessel is called </a:t>
            </a:r>
            <a:r>
              <a:rPr lang="en-AU" b="1" dirty="0" smtClean="0"/>
              <a:t>vasoconstriction</a:t>
            </a:r>
            <a:r>
              <a:rPr lang="en-AU" dirty="0" smtClean="0"/>
              <a:t>. Conversely, the muscle may relax to increase blood flow to an organ- </a:t>
            </a:r>
            <a:r>
              <a:rPr lang="en-AU" b="1" dirty="0" smtClean="0"/>
              <a:t>vasodilation</a:t>
            </a:r>
            <a:r>
              <a:rPr lang="en-AU" dirty="0" smtClean="0"/>
              <a:t>. </a:t>
            </a:r>
          </a:p>
          <a:p>
            <a:r>
              <a:rPr lang="en-AU" dirty="0" smtClean="0"/>
              <a:t>In this way blood flow may be changed from one organ to another to allow for the changing needs of the body. </a:t>
            </a:r>
          </a:p>
          <a:p>
            <a:r>
              <a:rPr lang="en-AU" dirty="0" smtClean="0"/>
              <a:t>The very large arteries that receive blood pumped by the ventricles divide into smaller arteries, which supplies blood to the capillaries. </a:t>
            </a:r>
          </a:p>
          <a:p>
            <a:r>
              <a:rPr lang="en-AU" dirty="0" smtClean="0"/>
              <a:t>Veins, the blood vessels that carry blood towards the heart, do not have muscular walls and are not able to change their diameter in the way that arteries do. </a:t>
            </a:r>
          </a:p>
          <a:p>
            <a:endParaRPr lang="en-AU" dirty="0"/>
          </a:p>
        </p:txBody>
      </p:sp>
    </p:spTree>
    <p:extLst>
      <p:ext uri="{BB962C8B-B14F-4D97-AF65-F5344CB8AC3E}">
        <p14:creationId xmlns:p14="http://schemas.microsoft.com/office/powerpoint/2010/main" val="4188890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355221868"/>
              </p:ext>
            </p:extLst>
          </p:nvPr>
        </p:nvGraphicFramePr>
        <p:xfrm>
          <a:off x="1279525" y="2190750"/>
          <a:ext cx="9629776" cy="3383280"/>
        </p:xfrm>
        <a:graphic>
          <a:graphicData uri="http://schemas.openxmlformats.org/drawingml/2006/table">
            <a:tbl>
              <a:tblPr firstRow="1" bandRow="1">
                <a:tableStyleId>{3B4B98B0-60AC-42C2-AFA5-B58CD77FA1E5}</a:tableStyleId>
              </a:tblPr>
              <a:tblGrid>
                <a:gridCol w="4814888">
                  <a:extLst>
                    <a:ext uri="{9D8B030D-6E8A-4147-A177-3AD203B41FA5}">
                      <a16:colId xmlns:a16="http://schemas.microsoft.com/office/drawing/2014/main" val="1117219497"/>
                    </a:ext>
                  </a:extLst>
                </a:gridCol>
                <a:gridCol w="4814888">
                  <a:extLst>
                    <a:ext uri="{9D8B030D-6E8A-4147-A177-3AD203B41FA5}">
                      <a16:colId xmlns:a16="http://schemas.microsoft.com/office/drawing/2014/main" val="1966854625"/>
                    </a:ext>
                  </a:extLst>
                </a:gridCol>
              </a:tblGrid>
              <a:tr h="370840">
                <a:tc>
                  <a:txBody>
                    <a:bodyPr/>
                    <a:lstStyle/>
                    <a:p>
                      <a:r>
                        <a:rPr lang="en-AU" sz="2400" dirty="0" smtClean="0"/>
                        <a:t>Arteries </a:t>
                      </a:r>
                      <a:endParaRPr lang="en-AU" sz="2400" dirty="0"/>
                    </a:p>
                  </a:txBody>
                  <a:tcPr/>
                </a:tc>
                <a:tc>
                  <a:txBody>
                    <a:bodyPr/>
                    <a:lstStyle/>
                    <a:p>
                      <a:r>
                        <a:rPr lang="en-AU" sz="2400" dirty="0" smtClean="0"/>
                        <a:t>Veins </a:t>
                      </a:r>
                      <a:endParaRPr lang="en-AU" sz="2400" dirty="0"/>
                    </a:p>
                  </a:txBody>
                  <a:tcPr/>
                </a:tc>
                <a:extLst>
                  <a:ext uri="{0D108BD9-81ED-4DB2-BD59-A6C34878D82A}">
                    <a16:rowId xmlns:a16="http://schemas.microsoft.com/office/drawing/2014/main" val="2530537564"/>
                  </a:ext>
                </a:extLst>
              </a:tr>
              <a:tr h="370840">
                <a:tc>
                  <a:txBody>
                    <a:bodyPr/>
                    <a:lstStyle/>
                    <a:p>
                      <a:r>
                        <a:rPr lang="en-AU" sz="2400" dirty="0" smtClean="0"/>
                        <a:t>Carry blood away from the heart </a:t>
                      </a:r>
                      <a:endParaRPr lang="en-AU" sz="2400" dirty="0"/>
                    </a:p>
                  </a:txBody>
                  <a:tcPr/>
                </a:tc>
                <a:tc>
                  <a:txBody>
                    <a:bodyPr/>
                    <a:lstStyle/>
                    <a:p>
                      <a:r>
                        <a:rPr lang="en-AU" sz="2400" dirty="0" smtClean="0"/>
                        <a:t>Carry blood towards the heart </a:t>
                      </a:r>
                      <a:endParaRPr lang="en-AU" sz="2400" dirty="0"/>
                    </a:p>
                  </a:txBody>
                  <a:tcPr/>
                </a:tc>
                <a:extLst>
                  <a:ext uri="{0D108BD9-81ED-4DB2-BD59-A6C34878D82A}">
                    <a16:rowId xmlns:a16="http://schemas.microsoft.com/office/drawing/2014/main" val="2509819954"/>
                  </a:ext>
                </a:extLst>
              </a:tr>
              <a:tr h="370840">
                <a:tc>
                  <a:txBody>
                    <a:bodyPr/>
                    <a:lstStyle/>
                    <a:p>
                      <a:r>
                        <a:rPr lang="en-AU" sz="2400" dirty="0" smtClean="0"/>
                        <a:t>Have</a:t>
                      </a:r>
                      <a:r>
                        <a:rPr lang="en-AU" sz="2400" baseline="0" dirty="0" smtClean="0"/>
                        <a:t> a blood pressure that increases as the ventricles contract and decreases as the ventricles relax</a:t>
                      </a:r>
                      <a:endParaRPr lang="en-AU" sz="2400" dirty="0"/>
                    </a:p>
                  </a:txBody>
                  <a:tcPr/>
                </a:tc>
                <a:tc>
                  <a:txBody>
                    <a:bodyPr/>
                    <a:lstStyle/>
                    <a:p>
                      <a:r>
                        <a:rPr lang="en-AU" sz="2400" dirty="0" smtClean="0"/>
                        <a:t>Have a constant, relatively low blood pressure </a:t>
                      </a:r>
                      <a:endParaRPr lang="en-AU" sz="2400" dirty="0"/>
                    </a:p>
                  </a:txBody>
                  <a:tcPr/>
                </a:tc>
                <a:extLst>
                  <a:ext uri="{0D108BD9-81ED-4DB2-BD59-A6C34878D82A}">
                    <a16:rowId xmlns:a16="http://schemas.microsoft.com/office/drawing/2014/main" val="3497712158"/>
                  </a:ext>
                </a:extLst>
              </a:tr>
              <a:tr h="370840">
                <a:tc>
                  <a:txBody>
                    <a:bodyPr/>
                    <a:lstStyle/>
                    <a:p>
                      <a:r>
                        <a:rPr lang="en-AU" sz="2400" dirty="0" smtClean="0"/>
                        <a:t>Have</a:t>
                      </a:r>
                      <a:r>
                        <a:rPr lang="en-AU" sz="2400" baseline="0" dirty="0" smtClean="0"/>
                        <a:t> thick, muscular, elastic walls</a:t>
                      </a:r>
                      <a:endParaRPr lang="en-AU" sz="2400" dirty="0"/>
                    </a:p>
                  </a:txBody>
                  <a:tcPr/>
                </a:tc>
                <a:tc>
                  <a:txBody>
                    <a:bodyPr/>
                    <a:lstStyle/>
                    <a:p>
                      <a:r>
                        <a:rPr lang="en-AU" sz="2400" dirty="0" smtClean="0"/>
                        <a:t>Have thin, relatively inelastic walls with little muscle</a:t>
                      </a:r>
                      <a:endParaRPr lang="en-AU" sz="2400" dirty="0"/>
                    </a:p>
                  </a:txBody>
                  <a:tcPr/>
                </a:tc>
                <a:extLst>
                  <a:ext uri="{0D108BD9-81ED-4DB2-BD59-A6C34878D82A}">
                    <a16:rowId xmlns:a16="http://schemas.microsoft.com/office/drawing/2014/main" val="3427433596"/>
                  </a:ext>
                </a:extLst>
              </a:tr>
              <a:tr h="370840">
                <a:tc>
                  <a:txBody>
                    <a:bodyPr/>
                    <a:lstStyle/>
                    <a:p>
                      <a:r>
                        <a:rPr lang="en-AU" sz="2400" dirty="0" smtClean="0"/>
                        <a:t>Have no valves</a:t>
                      </a:r>
                      <a:endParaRPr lang="en-AU" sz="2400" dirty="0"/>
                    </a:p>
                  </a:txBody>
                  <a:tcPr/>
                </a:tc>
                <a:tc>
                  <a:txBody>
                    <a:bodyPr/>
                    <a:lstStyle/>
                    <a:p>
                      <a:r>
                        <a:rPr lang="en-AU" sz="2400" dirty="0" smtClean="0"/>
                        <a:t>Often have valves </a:t>
                      </a:r>
                      <a:endParaRPr lang="en-AU" sz="2400" dirty="0"/>
                    </a:p>
                  </a:txBody>
                  <a:tcPr/>
                </a:tc>
                <a:extLst>
                  <a:ext uri="{0D108BD9-81ED-4DB2-BD59-A6C34878D82A}">
                    <a16:rowId xmlns:a16="http://schemas.microsoft.com/office/drawing/2014/main" val="2624785530"/>
                  </a:ext>
                </a:extLst>
              </a:tr>
            </a:tbl>
          </a:graphicData>
        </a:graphic>
      </p:graphicFrame>
    </p:spTree>
    <p:extLst>
      <p:ext uri="{BB962C8B-B14F-4D97-AF65-F5344CB8AC3E}">
        <p14:creationId xmlns:p14="http://schemas.microsoft.com/office/powerpoint/2010/main" val="3137015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Regulating cardiac output </a:t>
            </a:r>
            <a:endParaRPr lang="en-AU" dirty="0"/>
          </a:p>
        </p:txBody>
      </p:sp>
      <p:sp>
        <p:nvSpPr>
          <p:cNvPr id="3" name="Content Placeholder 2"/>
          <p:cNvSpPr>
            <a:spLocks noGrp="1"/>
          </p:cNvSpPr>
          <p:nvPr>
            <p:ph idx="1"/>
          </p:nvPr>
        </p:nvSpPr>
        <p:spPr/>
        <p:txBody>
          <a:bodyPr/>
          <a:lstStyle/>
          <a:p>
            <a:r>
              <a:rPr lang="en-AU" dirty="0" smtClean="0"/>
              <a:t>The heart has its own inbuilt rhythm of contraction and relaxation, but this can be increased or decreased by nervous stimulation from the cardiac centre in the brain, or by chemical substances. </a:t>
            </a:r>
          </a:p>
          <a:p>
            <a:r>
              <a:rPr lang="en-AU" dirty="0" smtClean="0"/>
              <a:t>The sinoatrial node begins each cardiac cycle and acts as a pacemaker. </a:t>
            </a:r>
            <a:endParaRPr lang="en-AU" dirty="0"/>
          </a:p>
        </p:txBody>
      </p:sp>
    </p:spTree>
    <p:extLst>
      <p:ext uri="{BB962C8B-B14F-4D97-AF65-F5344CB8AC3E}">
        <p14:creationId xmlns:p14="http://schemas.microsoft.com/office/powerpoint/2010/main" val="1330049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Regulating blood flow </a:t>
            </a:r>
            <a:endParaRPr lang="en-AU" dirty="0"/>
          </a:p>
        </p:txBody>
      </p:sp>
      <p:sp>
        <p:nvSpPr>
          <p:cNvPr id="3" name="Content Placeholder 2"/>
          <p:cNvSpPr>
            <a:spLocks noGrp="1"/>
          </p:cNvSpPr>
          <p:nvPr>
            <p:ph idx="1"/>
          </p:nvPr>
        </p:nvSpPr>
        <p:spPr/>
        <p:txBody>
          <a:bodyPr>
            <a:normAutofit lnSpcReduction="10000"/>
          </a:bodyPr>
          <a:lstStyle/>
          <a:p>
            <a:r>
              <a:rPr lang="en-AU" dirty="0" smtClean="0"/>
              <a:t>Blood flow is the amount of blood flowing through an organ or a blood vessel in a given time- usually measured in millilitres per minute. </a:t>
            </a:r>
          </a:p>
          <a:p>
            <a:r>
              <a:rPr lang="en-AU" dirty="0" smtClean="0"/>
              <a:t>During exercise, the activity of skeletal muscles is greatly increased to bring about the movement of the body. </a:t>
            </a:r>
          </a:p>
          <a:p>
            <a:r>
              <a:rPr lang="en-AU" dirty="0" smtClean="0"/>
              <a:t>To maintain the activity of the muscle cells a large increase in blood flow is required to ensure an adequate supply of oxygen and nutrients, and to remove the carbon dioxide and heat produced. </a:t>
            </a:r>
          </a:p>
          <a:p>
            <a:r>
              <a:rPr lang="en-AU" dirty="0" smtClean="0"/>
              <a:t>To ensure that blood supply to the muscles is increased, the nervous system and adrenaline causes constriction of the blood vessels in the internal organs of the stomach and intestines (digestive system). </a:t>
            </a:r>
            <a:endParaRPr lang="en-AU" dirty="0"/>
          </a:p>
        </p:txBody>
      </p:sp>
    </p:spTree>
    <p:extLst>
      <p:ext uri="{BB962C8B-B14F-4D97-AF65-F5344CB8AC3E}">
        <p14:creationId xmlns:p14="http://schemas.microsoft.com/office/powerpoint/2010/main" val="2392377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Working with the Digestive System 	</a:t>
            </a:r>
            <a:endParaRPr lang="en-AU" dirty="0"/>
          </a:p>
        </p:txBody>
      </p:sp>
      <p:sp>
        <p:nvSpPr>
          <p:cNvPr id="3" name="Content Placeholder 2"/>
          <p:cNvSpPr>
            <a:spLocks noGrp="1"/>
          </p:cNvSpPr>
          <p:nvPr>
            <p:ph idx="1"/>
          </p:nvPr>
        </p:nvSpPr>
        <p:spPr/>
        <p:txBody>
          <a:bodyPr/>
          <a:lstStyle/>
          <a:p>
            <a:r>
              <a:rPr lang="en-AU" dirty="0"/>
              <a:t>The digestive system works very closely with the circulatory system to get the absorbed nutrients distributed through your body. The circulatory system also carries chemical signals from your endocrine system that control the speed of digestion.</a:t>
            </a:r>
            <a:br>
              <a:rPr lang="en-AU" dirty="0"/>
            </a:br>
            <a:endParaRPr lang="en-AU" dirty="0"/>
          </a:p>
        </p:txBody>
      </p:sp>
    </p:spTree>
    <p:extLst>
      <p:ext uri="{BB962C8B-B14F-4D97-AF65-F5344CB8AC3E}">
        <p14:creationId xmlns:p14="http://schemas.microsoft.com/office/powerpoint/2010/main" val="3714454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Blood flow in veins </a:t>
            </a:r>
            <a:endParaRPr lang="en-AU" dirty="0"/>
          </a:p>
        </p:txBody>
      </p:sp>
      <p:sp>
        <p:nvSpPr>
          <p:cNvPr id="3" name="Content Placeholder 2"/>
          <p:cNvSpPr>
            <a:spLocks noGrp="1"/>
          </p:cNvSpPr>
          <p:nvPr>
            <p:ph idx="1"/>
          </p:nvPr>
        </p:nvSpPr>
        <p:spPr/>
        <p:txBody>
          <a:bodyPr/>
          <a:lstStyle/>
          <a:p>
            <a:r>
              <a:rPr lang="en-AU" dirty="0" smtClean="0"/>
              <a:t>Veins carry blood towards the heart. The capillaries join into small veins, (venules), that then join up to male larger veins. </a:t>
            </a:r>
          </a:p>
          <a:p>
            <a:r>
              <a:rPr lang="en-AU" dirty="0" smtClean="0"/>
              <a:t>Veins and venules do not have muscular walls and are not able to change their diameter in the way that arteries do. </a:t>
            </a:r>
          </a:p>
          <a:p>
            <a:r>
              <a:rPr lang="en-AU" dirty="0" smtClean="0"/>
              <a:t>Blood pressure in the veins is relatively low because the blood loses most of its pressure as it flows through the tiny capillaries. </a:t>
            </a:r>
          </a:p>
          <a:p>
            <a:r>
              <a:rPr lang="en-AU" dirty="0" smtClean="0"/>
              <a:t>The walls of </a:t>
            </a:r>
            <a:r>
              <a:rPr lang="en-AU" dirty="0"/>
              <a:t>v</a:t>
            </a:r>
            <a:r>
              <a:rPr lang="en-AU" dirty="0" smtClean="0"/>
              <a:t>eins are therefore much thinner than those of arteries; also, the pressure in veins is constant pressure, many veins have valves to prevent the blood from flowing backwards. </a:t>
            </a:r>
            <a:endParaRPr lang="en-AU" dirty="0"/>
          </a:p>
        </p:txBody>
      </p:sp>
    </p:spTree>
    <p:extLst>
      <p:ext uri="{BB962C8B-B14F-4D97-AF65-F5344CB8AC3E}">
        <p14:creationId xmlns:p14="http://schemas.microsoft.com/office/powerpoint/2010/main" val="1721136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Continued. </a:t>
            </a:r>
            <a:endParaRPr lang="en-AU" dirty="0"/>
          </a:p>
        </p:txBody>
      </p:sp>
      <p:sp>
        <p:nvSpPr>
          <p:cNvPr id="3" name="Content Placeholder 2"/>
          <p:cNvSpPr>
            <a:spLocks noGrp="1"/>
          </p:cNvSpPr>
          <p:nvPr>
            <p:ph idx="1"/>
          </p:nvPr>
        </p:nvSpPr>
        <p:spPr/>
        <p:txBody>
          <a:bodyPr/>
          <a:lstStyle/>
          <a:p>
            <a:r>
              <a:rPr lang="en-AU" dirty="0" smtClean="0"/>
              <a:t>As the body exercises, the muscles cells continually require energy. </a:t>
            </a:r>
          </a:p>
          <a:p>
            <a:r>
              <a:rPr lang="en-AU" dirty="0" smtClean="0"/>
              <a:t>Respiration in the muscle cells makes the energy available but produces large amounts of wastes, including carbon dioxide and lactic acid. </a:t>
            </a:r>
          </a:p>
          <a:p>
            <a:r>
              <a:rPr lang="en-AU" dirty="0" smtClean="0"/>
              <a:t>These wastes act like vasodilators, substances that produce a local widening, or dilation, of arterioles. </a:t>
            </a:r>
          </a:p>
          <a:p>
            <a:r>
              <a:rPr lang="en-AU" dirty="0" smtClean="0"/>
              <a:t>This results in increased blood flow through the muscle tissues, ensuring that the cells are functioning. </a:t>
            </a:r>
          </a:p>
          <a:p>
            <a:r>
              <a:rPr lang="en-AU" dirty="0" smtClean="0"/>
              <a:t>Cellular respiration also releases a lot of heat energy, which tends to increase blood temperature and an increase in heart rate. </a:t>
            </a:r>
            <a:endParaRPr lang="en-AU" dirty="0"/>
          </a:p>
        </p:txBody>
      </p:sp>
    </p:spTree>
    <p:extLst>
      <p:ext uri="{BB962C8B-B14F-4D97-AF65-F5344CB8AC3E}">
        <p14:creationId xmlns:p14="http://schemas.microsoft.com/office/powerpoint/2010/main" val="463442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Blood Clotting </a:t>
            </a:r>
            <a:endParaRPr lang="en-AU" dirty="0"/>
          </a:p>
        </p:txBody>
      </p:sp>
      <p:sp>
        <p:nvSpPr>
          <p:cNvPr id="3" name="Content Placeholder 2"/>
          <p:cNvSpPr>
            <a:spLocks noGrp="1"/>
          </p:cNvSpPr>
          <p:nvPr>
            <p:ph idx="1"/>
          </p:nvPr>
        </p:nvSpPr>
        <p:spPr/>
        <p:txBody>
          <a:bodyPr/>
          <a:lstStyle/>
          <a:p>
            <a:r>
              <a:rPr lang="en-AU" dirty="0" smtClean="0"/>
              <a:t>When an injury occurs that involves damage to blood vessels, the events that follow help to minimise blood loss from the broken vessels and prevent the entry of infecting micro-organisms. </a:t>
            </a:r>
          </a:p>
          <a:p>
            <a:r>
              <a:rPr lang="en-AU" dirty="0" smtClean="0"/>
              <a:t>The muscles in the walls of the small arteries that have been injured or broken constrict immediately to reduce blood flow. </a:t>
            </a:r>
          </a:p>
          <a:p>
            <a:r>
              <a:rPr lang="en-AU" dirty="0" smtClean="0"/>
              <a:t>The internal walls of blood vessels are normally very smooth, but any damage creates a rough surface to which the platelets stick. </a:t>
            </a:r>
          </a:p>
          <a:p>
            <a:r>
              <a:rPr lang="en-AU" dirty="0" smtClean="0"/>
              <a:t>Sticking platelets attract others, and so a plug is built up at the site of the injury. This plug also helps to reduce blood loss. </a:t>
            </a:r>
          </a:p>
        </p:txBody>
      </p:sp>
    </p:spTree>
    <p:extLst>
      <p:ext uri="{BB962C8B-B14F-4D97-AF65-F5344CB8AC3E}">
        <p14:creationId xmlns:p14="http://schemas.microsoft.com/office/powerpoint/2010/main" val="3110831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a:xfrm>
            <a:off x="1219200" y="2182040"/>
            <a:ext cx="9628632" cy="3986213"/>
          </a:xfrm>
        </p:spPr>
        <p:txBody>
          <a:bodyPr/>
          <a:lstStyle/>
          <a:p>
            <a:endParaRPr lang="en-AU"/>
          </a:p>
        </p:txBody>
      </p:sp>
      <p:pic>
        <p:nvPicPr>
          <p:cNvPr id="3074" name="Picture 2" descr="How Does Blood Clot? Coagulation Explained, Diagram, Bloo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4206" y="751893"/>
            <a:ext cx="9998619" cy="57999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8202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Continued </a:t>
            </a:r>
            <a:endParaRPr lang="en-AU" dirty="0"/>
          </a:p>
        </p:txBody>
      </p:sp>
      <p:sp>
        <p:nvSpPr>
          <p:cNvPr id="3" name="Content Placeholder 2"/>
          <p:cNvSpPr>
            <a:spLocks noGrp="1"/>
          </p:cNvSpPr>
          <p:nvPr>
            <p:ph idx="1"/>
          </p:nvPr>
        </p:nvSpPr>
        <p:spPr/>
        <p:txBody>
          <a:bodyPr/>
          <a:lstStyle/>
          <a:p>
            <a:r>
              <a:rPr lang="en-AU" dirty="0" smtClean="0"/>
              <a:t>The platelets release substances that acts as vasoconstrictors, which enhance and prolong the constriction of the damaged vessels. </a:t>
            </a:r>
          </a:p>
          <a:p>
            <a:r>
              <a:rPr lang="en-AU" dirty="0" smtClean="0"/>
              <a:t>For many of the small tears that occur in capillaries each day, this plugging action of the platelets and constriction of the blood </a:t>
            </a:r>
            <a:r>
              <a:rPr lang="en-AU" dirty="0" err="1" smtClean="0"/>
              <a:t>vessles</a:t>
            </a:r>
            <a:r>
              <a:rPr lang="en-AU" dirty="0" smtClean="0"/>
              <a:t> is sufficient to stop any bleeding. </a:t>
            </a:r>
          </a:p>
          <a:p>
            <a:r>
              <a:rPr lang="en-AU" dirty="0" smtClean="0"/>
              <a:t>For more serious injuries blood clotting, or coagulation, is necessary. </a:t>
            </a:r>
          </a:p>
          <a:p>
            <a:r>
              <a:rPr lang="en-AU" dirty="0" smtClean="0"/>
              <a:t>The formation series of reactions results in the formation of threads of an insoluble protein called fibrin. The fibrin threads form a mesh that traps blood cells, platelets and plasma. </a:t>
            </a:r>
            <a:endParaRPr lang="en-AU" dirty="0"/>
          </a:p>
        </p:txBody>
      </p:sp>
    </p:spTree>
    <p:extLst>
      <p:ext uri="{BB962C8B-B14F-4D97-AF65-F5344CB8AC3E}">
        <p14:creationId xmlns:p14="http://schemas.microsoft.com/office/powerpoint/2010/main" val="73485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Continued. </a:t>
            </a:r>
            <a:endParaRPr lang="en-AU" dirty="0"/>
          </a:p>
        </p:txBody>
      </p:sp>
      <p:sp>
        <p:nvSpPr>
          <p:cNvPr id="3" name="Content Placeholder 2"/>
          <p:cNvSpPr>
            <a:spLocks noGrp="1"/>
          </p:cNvSpPr>
          <p:nvPr>
            <p:ph idx="1"/>
          </p:nvPr>
        </p:nvSpPr>
        <p:spPr/>
        <p:txBody>
          <a:bodyPr/>
          <a:lstStyle/>
          <a:p>
            <a:r>
              <a:rPr lang="en-AU" dirty="0" smtClean="0"/>
              <a:t>This mesh with its trapped material is the clot. The thread stick to the damaged blood vessels and hold the clot in position. </a:t>
            </a:r>
          </a:p>
          <a:p>
            <a:r>
              <a:rPr lang="en-AU" dirty="0" smtClean="0"/>
              <a:t>After the formation of the clot, a slower process known as clot retraction occurs. The network of threads contracts, becoming denser and stronger and pulling the edges of damaged blood vessels together. As clot retraction occurs, a fluid known as serum is squeezed out. </a:t>
            </a:r>
          </a:p>
          <a:p>
            <a:r>
              <a:rPr lang="en-AU" dirty="0" smtClean="0"/>
              <a:t>The clot then dries, forming a scab over the wound that prevents entry of infecting micro-organisms. </a:t>
            </a:r>
            <a:endParaRPr lang="en-AU" dirty="0"/>
          </a:p>
        </p:txBody>
      </p:sp>
    </p:spTree>
    <p:extLst>
      <p:ext uri="{BB962C8B-B14F-4D97-AF65-F5344CB8AC3E}">
        <p14:creationId xmlns:p14="http://schemas.microsoft.com/office/powerpoint/2010/main" val="4076040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Lymphatic </a:t>
            </a:r>
            <a:r>
              <a:rPr lang="en-AU" dirty="0"/>
              <a:t>S</a:t>
            </a:r>
            <a:r>
              <a:rPr lang="en-AU" dirty="0" smtClean="0"/>
              <a:t>ystem </a:t>
            </a:r>
            <a:endParaRPr lang="en-AU" dirty="0"/>
          </a:p>
        </p:txBody>
      </p:sp>
      <p:sp>
        <p:nvSpPr>
          <p:cNvPr id="3" name="Content Placeholder 2"/>
          <p:cNvSpPr>
            <a:spLocks noGrp="1"/>
          </p:cNvSpPr>
          <p:nvPr>
            <p:ph idx="1"/>
          </p:nvPr>
        </p:nvSpPr>
        <p:spPr/>
        <p:txBody>
          <a:bodyPr/>
          <a:lstStyle/>
          <a:p>
            <a:r>
              <a:rPr lang="en-AU" dirty="0" smtClean="0"/>
              <a:t>As blood enters the capillaries, the relatively high pressure forces some of the fluid in the blood through the capillary walls into the tissues. </a:t>
            </a:r>
          </a:p>
          <a:p>
            <a:r>
              <a:rPr lang="en-AU" dirty="0" smtClean="0"/>
              <a:t>The main function of the lymphatic system is to collect some of the fluid that escapes from the blood capillaries and return it to the circulatory system. </a:t>
            </a:r>
          </a:p>
          <a:p>
            <a:r>
              <a:rPr lang="en-AU" dirty="0" smtClean="0"/>
              <a:t>In addition to this main function, the lymphatic system is an important part of the body’s internal defence against disease-causing organisms. </a:t>
            </a:r>
          </a:p>
          <a:p>
            <a:endParaRPr lang="en-AU" dirty="0"/>
          </a:p>
        </p:txBody>
      </p:sp>
    </p:spTree>
    <p:extLst>
      <p:ext uri="{BB962C8B-B14F-4D97-AF65-F5344CB8AC3E}">
        <p14:creationId xmlns:p14="http://schemas.microsoft.com/office/powerpoint/2010/main" val="283594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a:p>
        </p:txBody>
      </p:sp>
      <p:pic>
        <p:nvPicPr>
          <p:cNvPr id="4100" name="Picture 4" descr="The lymphatic system - Canadian Cancer Societ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1748" y="131333"/>
            <a:ext cx="8098971" cy="67266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6816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Continued</a:t>
            </a:r>
            <a:endParaRPr lang="en-AU" dirty="0"/>
          </a:p>
        </p:txBody>
      </p:sp>
      <p:sp>
        <p:nvSpPr>
          <p:cNvPr id="3" name="Content Placeholder 2"/>
          <p:cNvSpPr>
            <a:spLocks noGrp="1"/>
          </p:cNvSpPr>
          <p:nvPr>
            <p:ph idx="1"/>
          </p:nvPr>
        </p:nvSpPr>
        <p:spPr/>
        <p:txBody>
          <a:bodyPr/>
          <a:lstStyle/>
          <a:p>
            <a:r>
              <a:rPr lang="en-AU" dirty="0" smtClean="0"/>
              <a:t>The lymphatic system consists of: </a:t>
            </a:r>
          </a:p>
          <a:p>
            <a:pPr lvl="1"/>
            <a:r>
              <a:rPr lang="en-AU" dirty="0" smtClean="0"/>
              <a:t>A network of lymph capillaries joined to larger lymph vessels </a:t>
            </a:r>
          </a:p>
          <a:p>
            <a:pPr lvl="1"/>
            <a:r>
              <a:rPr lang="en-AU" dirty="0" smtClean="0"/>
              <a:t>Lymph nodes, which are located along the length of some lymph vessels. </a:t>
            </a:r>
          </a:p>
          <a:p>
            <a:pPr marL="457200" lvl="1" indent="0">
              <a:buNone/>
            </a:pPr>
            <a:endParaRPr lang="en-AU" dirty="0"/>
          </a:p>
          <a:p>
            <a:r>
              <a:rPr lang="en-AU" dirty="0" smtClean="0"/>
              <a:t>The lymphatic system destroys micro-organisms. </a:t>
            </a:r>
          </a:p>
          <a:p>
            <a:r>
              <a:rPr lang="en-AU" dirty="0" smtClean="0"/>
              <a:t>When infection occurs, the formation of lymphocytes increases and the lymph nodes become swollen and sore. </a:t>
            </a:r>
          </a:p>
          <a:p>
            <a:r>
              <a:rPr lang="en-AU" dirty="0" smtClean="0"/>
              <a:t>For example, an infected finger may result in swelling and tenderness in the armpit, where there a large number of lymph nodes. </a:t>
            </a:r>
          </a:p>
        </p:txBody>
      </p:sp>
    </p:spTree>
    <p:extLst>
      <p:ext uri="{BB962C8B-B14F-4D97-AF65-F5344CB8AC3E}">
        <p14:creationId xmlns:p14="http://schemas.microsoft.com/office/powerpoint/2010/main" val="3735441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Blood groups and transfusions </a:t>
            </a:r>
            <a:endParaRPr lang="en-AU" dirty="0"/>
          </a:p>
        </p:txBody>
      </p:sp>
      <p:sp>
        <p:nvSpPr>
          <p:cNvPr id="3" name="Content Placeholder 2"/>
          <p:cNvSpPr>
            <a:spLocks noGrp="1"/>
          </p:cNvSpPr>
          <p:nvPr>
            <p:ph idx="1"/>
          </p:nvPr>
        </p:nvSpPr>
        <p:spPr/>
        <p:txBody>
          <a:bodyPr/>
          <a:lstStyle/>
          <a:p>
            <a:r>
              <a:rPr lang="en-AU" dirty="0" smtClean="0"/>
              <a:t>A blood transfusion can be given to a person suffering from excessive blood loss, some types of anaemia, leukaemia, haemophilia or other conditions. It involves blood, or a blood product, from a donor being injected directly into the patient’s bloodstream. </a:t>
            </a:r>
          </a:p>
          <a:p>
            <a:r>
              <a:rPr lang="en-AU" dirty="0" smtClean="0"/>
              <a:t>An antigen is a substance that is capable of stimulating the formation of a specific protein called an antibody. Antibodies are produced in response to an antigen and are able to combine with the antigen that initiated the response. </a:t>
            </a:r>
          </a:p>
          <a:p>
            <a:r>
              <a:rPr lang="en-AU" dirty="0" smtClean="0"/>
              <a:t>There are two antigens involved in the ABO classification of blood groups: antigen A and antigen B. </a:t>
            </a:r>
            <a:endParaRPr lang="en-AU" dirty="0"/>
          </a:p>
        </p:txBody>
      </p:sp>
    </p:spTree>
    <p:extLst>
      <p:ext uri="{BB962C8B-B14F-4D97-AF65-F5344CB8AC3E}">
        <p14:creationId xmlns:p14="http://schemas.microsoft.com/office/powerpoint/2010/main" val="3568754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Continued. </a:t>
            </a:r>
            <a:endParaRPr lang="en-AU" dirty="0"/>
          </a:p>
        </p:txBody>
      </p:sp>
      <p:sp>
        <p:nvSpPr>
          <p:cNvPr id="3" name="Content Placeholder 2"/>
          <p:cNvSpPr>
            <a:spLocks noGrp="1"/>
          </p:cNvSpPr>
          <p:nvPr>
            <p:ph idx="1"/>
          </p:nvPr>
        </p:nvSpPr>
        <p:spPr/>
        <p:txBody>
          <a:bodyPr/>
          <a:lstStyle/>
          <a:p>
            <a:r>
              <a:rPr lang="en-AU" dirty="0" smtClean="0"/>
              <a:t>On the surface of the red blood cells a person may have either antigen A, antigen B, both antigens or neither. </a:t>
            </a:r>
          </a:p>
          <a:p>
            <a:endParaRPr lang="en-AU" dirty="0"/>
          </a:p>
        </p:txBody>
      </p:sp>
      <p:graphicFrame>
        <p:nvGraphicFramePr>
          <p:cNvPr id="4" name="Table 3"/>
          <p:cNvGraphicFramePr>
            <a:graphicFrameLocks noGrp="1"/>
          </p:cNvGraphicFramePr>
          <p:nvPr>
            <p:extLst>
              <p:ext uri="{D42A27DB-BD31-4B8C-83A1-F6EECF244321}">
                <p14:modId xmlns:p14="http://schemas.microsoft.com/office/powerpoint/2010/main" val="3442798355"/>
              </p:ext>
            </p:extLst>
          </p:nvPr>
        </p:nvGraphicFramePr>
        <p:xfrm>
          <a:off x="1622697" y="3149358"/>
          <a:ext cx="8128000" cy="2661920"/>
        </p:xfrm>
        <a:graphic>
          <a:graphicData uri="http://schemas.openxmlformats.org/drawingml/2006/table">
            <a:tbl>
              <a:tblPr firstRow="1" bandRow="1">
                <a:tableStyleId>{9D7B26C5-4107-4FEC-AEDC-1716B250A1EF}</a:tableStyleId>
              </a:tblPr>
              <a:tblGrid>
                <a:gridCol w="1529806">
                  <a:extLst>
                    <a:ext uri="{9D8B030D-6E8A-4147-A177-3AD203B41FA5}">
                      <a16:colId xmlns:a16="http://schemas.microsoft.com/office/drawing/2014/main" val="4009165187"/>
                    </a:ext>
                  </a:extLst>
                </a:gridCol>
                <a:gridCol w="2534194">
                  <a:extLst>
                    <a:ext uri="{9D8B030D-6E8A-4147-A177-3AD203B41FA5}">
                      <a16:colId xmlns:a16="http://schemas.microsoft.com/office/drawing/2014/main" val="257887359"/>
                    </a:ext>
                  </a:extLst>
                </a:gridCol>
                <a:gridCol w="2032000">
                  <a:extLst>
                    <a:ext uri="{9D8B030D-6E8A-4147-A177-3AD203B41FA5}">
                      <a16:colId xmlns:a16="http://schemas.microsoft.com/office/drawing/2014/main" val="2470852144"/>
                    </a:ext>
                  </a:extLst>
                </a:gridCol>
                <a:gridCol w="2032000">
                  <a:extLst>
                    <a:ext uri="{9D8B030D-6E8A-4147-A177-3AD203B41FA5}">
                      <a16:colId xmlns:a16="http://schemas.microsoft.com/office/drawing/2014/main" val="1895419290"/>
                    </a:ext>
                  </a:extLst>
                </a:gridCol>
              </a:tblGrid>
              <a:tr h="370840">
                <a:tc>
                  <a:txBody>
                    <a:bodyPr/>
                    <a:lstStyle/>
                    <a:p>
                      <a:r>
                        <a:rPr lang="en-AU" dirty="0" smtClean="0"/>
                        <a:t>Blood Group</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AU" dirty="0" smtClean="0"/>
                        <a:t>Antigens on red blood cells </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AU" dirty="0" smtClean="0"/>
                        <a:t>Antibodies in plasma </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AU" dirty="0" smtClean="0"/>
                        <a:t>Transfusions </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244442923"/>
                  </a:ext>
                </a:extLst>
              </a:tr>
              <a:tr h="370840">
                <a:tc>
                  <a:txBody>
                    <a:bodyPr/>
                    <a:lstStyle/>
                    <a:p>
                      <a:r>
                        <a:rPr lang="en-AU" dirty="0" smtClean="0"/>
                        <a:t>A</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AU" dirty="0" smtClean="0"/>
                        <a:t>Antigen A </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AU" dirty="0" smtClean="0"/>
                        <a:t>Anti-B</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AU" dirty="0" smtClean="0"/>
                        <a:t>A or O blood </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710509711"/>
                  </a:ext>
                </a:extLst>
              </a:tr>
              <a:tr h="370840">
                <a:tc>
                  <a:txBody>
                    <a:bodyPr/>
                    <a:lstStyle/>
                    <a:p>
                      <a:r>
                        <a:rPr lang="en-AU" dirty="0" smtClean="0"/>
                        <a:t>B</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AU" dirty="0" smtClean="0"/>
                        <a:t>Antigen B</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AU" dirty="0" smtClean="0"/>
                        <a:t>Anti-A</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AU" dirty="0" smtClean="0"/>
                        <a:t>B</a:t>
                      </a:r>
                      <a:r>
                        <a:rPr lang="en-AU" baseline="0" dirty="0" smtClean="0"/>
                        <a:t> or O blood </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5372675"/>
                  </a:ext>
                </a:extLst>
              </a:tr>
              <a:tr h="370840">
                <a:tc>
                  <a:txBody>
                    <a:bodyPr/>
                    <a:lstStyle/>
                    <a:p>
                      <a:r>
                        <a:rPr lang="en-AU" dirty="0" smtClean="0"/>
                        <a:t>AB</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AU" dirty="0" smtClean="0"/>
                        <a:t>Both Antigen A and B</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AU" dirty="0" smtClean="0"/>
                        <a:t>Neither Anti-A and Anti-B</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AU" dirty="0" smtClean="0"/>
                        <a:t>All blood types </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386658305"/>
                  </a:ext>
                </a:extLst>
              </a:tr>
              <a:tr h="370840">
                <a:tc>
                  <a:txBody>
                    <a:bodyPr/>
                    <a:lstStyle/>
                    <a:p>
                      <a:r>
                        <a:rPr lang="en-AU" dirty="0" smtClean="0"/>
                        <a:t>O</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AU" dirty="0" smtClean="0"/>
                        <a:t>Neither Antigens </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AU" dirty="0" smtClean="0"/>
                        <a:t>Both Anti-A and Anti-B</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r>
                        <a:rPr lang="en-AU" dirty="0" smtClean="0"/>
                        <a:t>Can only receive O</a:t>
                      </a:r>
                      <a:r>
                        <a:rPr lang="en-AU" baseline="0" dirty="0" smtClean="0"/>
                        <a:t> type blood </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509216078"/>
                  </a:ext>
                </a:extLst>
              </a:tr>
            </a:tbl>
          </a:graphicData>
        </a:graphic>
      </p:graphicFrame>
    </p:spTree>
    <p:extLst>
      <p:ext uri="{BB962C8B-B14F-4D97-AF65-F5344CB8AC3E}">
        <p14:creationId xmlns:p14="http://schemas.microsoft.com/office/powerpoint/2010/main" val="2860559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Cardiovascular Disease </a:t>
            </a:r>
            <a:endParaRPr lang="en-AU" dirty="0"/>
          </a:p>
        </p:txBody>
      </p:sp>
      <p:sp>
        <p:nvSpPr>
          <p:cNvPr id="3" name="Content Placeholder 2"/>
          <p:cNvSpPr>
            <a:spLocks noGrp="1"/>
          </p:cNvSpPr>
          <p:nvPr>
            <p:ph idx="1"/>
          </p:nvPr>
        </p:nvSpPr>
        <p:spPr/>
        <p:txBody>
          <a:bodyPr/>
          <a:lstStyle/>
          <a:p>
            <a:r>
              <a:rPr lang="en-AU" dirty="0" smtClean="0"/>
              <a:t>The heart and blood vessels may be affected by a variety of diseases. These are the cardiovascular diseases, although they are often referred to by the general name of ‘heart disease’. </a:t>
            </a:r>
          </a:p>
          <a:p>
            <a:r>
              <a:rPr lang="en-AU" dirty="0" smtClean="0"/>
              <a:t>Cardiovascular disease is at present the most serious health problem in Australian society due to two reasons:</a:t>
            </a:r>
          </a:p>
          <a:p>
            <a:pPr lvl="1"/>
            <a:r>
              <a:rPr lang="en-AU" dirty="0" smtClean="0"/>
              <a:t>People in developed countries live longer and cardiovascular disease is more common in older people. </a:t>
            </a:r>
          </a:p>
          <a:p>
            <a:pPr lvl="1"/>
            <a:r>
              <a:rPr lang="en-AU" dirty="0" smtClean="0"/>
              <a:t>Changes to physical exercise, diet and other lifestyle choices lead to the decline in heart health and blood vessel problems. </a:t>
            </a:r>
            <a:endParaRPr lang="en-AU" dirty="0"/>
          </a:p>
        </p:txBody>
      </p:sp>
    </p:spTree>
    <p:extLst>
      <p:ext uri="{BB962C8B-B14F-4D97-AF65-F5344CB8AC3E}">
        <p14:creationId xmlns:p14="http://schemas.microsoft.com/office/powerpoint/2010/main" val="2419408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Hypertension </a:t>
            </a:r>
            <a:endParaRPr lang="en-AU" dirty="0"/>
          </a:p>
        </p:txBody>
      </p:sp>
      <p:sp>
        <p:nvSpPr>
          <p:cNvPr id="3" name="Content Placeholder 2"/>
          <p:cNvSpPr>
            <a:spLocks noGrp="1"/>
          </p:cNvSpPr>
          <p:nvPr>
            <p:ph idx="1"/>
          </p:nvPr>
        </p:nvSpPr>
        <p:spPr/>
        <p:txBody>
          <a:bodyPr>
            <a:normAutofit fontScale="85000" lnSpcReduction="10000"/>
          </a:bodyPr>
          <a:lstStyle/>
          <a:p>
            <a:r>
              <a:rPr lang="en-AU" dirty="0" smtClean="0"/>
              <a:t>The most common cause of cardiovascular disease is high blood pressure, or hypertension. </a:t>
            </a:r>
          </a:p>
          <a:p>
            <a:r>
              <a:rPr lang="en-AU" dirty="0" smtClean="0"/>
              <a:t>Blood pressure fluctuates greatly, depending on the person’s level of activity, body position and emotional state at any particular time. </a:t>
            </a:r>
          </a:p>
          <a:p>
            <a:r>
              <a:rPr lang="en-AU" dirty="0" smtClean="0"/>
              <a:t>However, blood pressure that is consistently above the normal level will cause the heart to pump harder, cause damage to the arteries and accelerate the accumulation of fatty deposits in the arteries. </a:t>
            </a:r>
          </a:p>
          <a:p>
            <a:r>
              <a:rPr lang="en-AU" dirty="0" smtClean="0"/>
              <a:t>The causes of hypertension are largely unknown. Diet, high salt intake, and consuming excessive amounts of alcohol are all associated with the development of hypertension. </a:t>
            </a:r>
          </a:p>
          <a:p>
            <a:r>
              <a:rPr lang="en-AU" dirty="0" smtClean="0"/>
              <a:t>Treatment involves dietary changes to reduce energy and salt intake; regular exercise; regular relaxation and not smoking or drinking will result in a reduction of blood pressure. Drug treatment can be used in cases where hypertension cannot be controlled by other methods. </a:t>
            </a:r>
            <a:endParaRPr lang="en-AU" dirty="0"/>
          </a:p>
        </p:txBody>
      </p:sp>
    </p:spTree>
    <p:extLst>
      <p:ext uri="{BB962C8B-B14F-4D97-AF65-F5344CB8AC3E}">
        <p14:creationId xmlns:p14="http://schemas.microsoft.com/office/powerpoint/2010/main" val="3080839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a:p>
        </p:txBody>
      </p:sp>
      <p:pic>
        <p:nvPicPr>
          <p:cNvPr id="5122" name="Picture 2" descr="Hypertension (High Blood Pressure) (for Teens) - Nemours KidsHealt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541" y="466343"/>
            <a:ext cx="11068449" cy="6214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5708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Atherosclerosis </a:t>
            </a:r>
            <a:endParaRPr lang="en-AU" dirty="0"/>
          </a:p>
        </p:txBody>
      </p:sp>
      <p:sp>
        <p:nvSpPr>
          <p:cNvPr id="3" name="Content Placeholder 2"/>
          <p:cNvSpPr>
            <a:spLocks noGrp="1"/>
          </p:cNvSpPr>
          <p:nvPr>
            <p:ph idx="1"/>
          </p:nvPr>
        </p:nvSpPr>
        <p:spPr/>
        <p:txBody>
          <a:bodyPr/>
          <a:lstStyle/>
          <a:p>
            <a:r>
              <a:rPr lang="en-AU" dirty="0" smtClean="0"/>
              <a:t>The degeneration of the walls of the arteries, which is commonly known as ‘hardening of the arteries’. It includes such changes as the loss of elasticity of the artery walls, the narrowing of the diameter of the arteries, and the development of any roughness or obstruction of the artery wall. </a:t>
            </a:r>
          </a:p>
          <a:p>
            <a:r>
              <a:rPr lang="en-AU" dirty="0" smtClean="0"/>
              <a:t>The roughening and obstruction of the artery wall can lead to a heart attack or stroke. </a:t>
            </a:r>
          </a:p>
          <a:p>
            <a:r>
              <a:rPr lang="en-AU" dirty="0"/>
              <a:t>Atherosclerosis </a:t>
            </a:r>
            <a:r>
              <a:rPr lang="en-AU" dirty="0" smtClean="0"/>
              <a:t>begins with the deposition of fatty substances called plaque. Fibrous tissue develops in those areas, and eventually becomes exposed to the blood. This results in the deposition of calcium salts from the blood. Hard, calcified areas thus develop in the walls of the arteries. </a:t>
            </a:r>
          </a:p>
        </p:txBody>
      </p:sp>
    </p:spTree>
    <p:extLst>
      <p:ext uri="{BB962C8B-B14F-4D97-AF65-F5344CB8AC3E}">
        <p14:creationId xmlns:p14="http://schemas.microsoft.com/office/powerpoint/2010/main" val="434724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a:p>
        </p:txBody>
      </p:sp>
      <p:pic>
        <p:nvPicPr>
          <p:cNvPr id="6146" name="Picture 2" descr="What is the impact of arteriosclerosis? | Socrati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0160" y="210228"/>
            <a:ext cx="8867392" cy="66477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0105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Coronary Heart Disease </a:t>
            </a:r>
            <a:endParaRPr lang="en-AU" dirty="0"/>
          </a:p>
        </p:txBody>
      </p:sp>
      <p:sp>
        <p:nvSpPr>
          <p:cNvPr id="3" name="Content Placeholder 2"/>
          <p:cNvSpPr>
            <a:spLocks noGrp="1"/>
          </p:cNvSpPr>
          <p:nvPr>
            <p:ph idx="1"/>
          </p:nvPr>
        </p:nvSpPr>
        <p:spPr/>
        <p:txBody>
          <a:bodyPr>
            <a:normAutofit fontScale="92500"/>
          </a:bodyPr>
          <a:lstStyle/>
          <a:p>
            <a:r>
              <a:rPr lang="en-AU" dirty="0" smtClean="0"/>
              <a:t>The arteries that supply blood to the heart muscle itself are the coronary arteries. </a:t>
            </a:r>
          </a:p>
          <a:p>
            <a:r>
              <a:rPr lang="en-AU" dirty="0" smtClean="0"/>
              <a:t>Atherosclerosis of these arteries results in coronary heart disease (or coronary artery disease). </a:t>
            </a:r>
            <a:endParaRPr lang="en-AU" dirty="0"/>
          </a:p>
          <a:p>
            <a:r>
              <a:rPr lang="en-AU" dirty="0" smtClean="0"/>
              <a:t>The fatty deposits in the coronary arteries reduce the flow of blood to the heart muscle. </a:t>
            </a:r>
            <a:r>
              <a:rPr lang="en-AU" dirty="0" smtClean="0"/>
              <a:t>This is important during exercise, when blood flow to the heart muscle is usually increased by several times the resting rate of flow. </a:t>
            </a:r>
          </a:p>
          <a:p>
            <a:r>
              <a:rPr lang="en-AU" dirty="0" smtClean="0"/>
              <a:t>The presence of obstructing plaques means that the heart muscle supplied by the obstructed blood vessel does not receive enough oxygen to be able to respond to the increased work load during exercise. </a:t>
            </a:r>
          </a:p>
          <a:p>
            <a:r>
              <a:rPr lang="en-AU" dirty="0" smtClean="0"/>
              <a:t>Severe atherosclerosis of the coronary arteries may result in angina or heart attack. </a:t>
            </a:r>
            <a:endParaRPr lang="en-AU" dirty="0" smtClean="0"/>
          </a:p>
        </p:txBody>
      </p:sp>
    </p:spTree>
    <p:extLst>
      <p:ext uri="{BB962C8B-B14F-4D97-AF65-F5344CB8AC3E}">
        <p14:creationId xmlns:p14="http://schemas.microsoft.com/office/powerpoint/2010/main" val="3195511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Angina </a:t>
            </a:r>
            <a:endParaRPr lang="en-AU" dirty="0"/>
          </a:p>
        </p:txBody>
      </p:sp>
      <p:sp>
        <p:nvSpPr>
          <p:cNvPr id="3" name="Content Placeholder 2"/>
          <p:cNvSpPr>
            <a:spLocks noGrp="1"/>
          </p:cNvSpPr>
          <p:nvPr>
            <p:ph idx="1"/>
          </p:nvPr>
        </p:nvSpPr>
        <p:spPr/>
        <p:txBody>
          <a:bodyPr/>
          <a:lstStyle/>
          <a:p>
            <a:r>
              <a:rPr lang="en-AU" dirty="0" smtClean="0"/>
              <a:t>Is pain, or a sensation of heaviness, in the chest. </a:t>
            </a:r>
          </a:p>
          <a:p>
            <a:r>
              <a:rPr lang="en-AU" dirty="0" smtClean="0"/>
              <a:t>It may occur during physical activity, or at other times when the heart is called upon to increase output. </a:t>
            </a:r>
          </a:p>
          <a:p>
            <a:r>
              <a:rPr lang="en-AU" dirty="0" smtClean="0"/>
              <a:t>The pain usually subsides when the person rests, and there is no damage to the heart muscle.</a:t>
            </a:r>
          </a:p>
          <a:p>
            <a:r>
              <a:rPr lang="en-AU" dirty="0" smtClean="0"/>
              <a:t>People with angina can lead relatively normal lives, and drugs can be used to prevent or reduce the pain caused by inadequate blood flow to the heart muscle. </a:t>
            </a:r>
            <a:endParaRPr lang="en-AU" dirty="0"/>
          </a:p>
        </p:txBody>
      </p:sp>
    </p:spTree>
    <p:extLst>
      <p:ext uri="{BB962C8B-B14F-4D97-AF65-F5344CB8AC3E}">
        <p14:creationId xmlns:p14="http://schemas.microsoft.com/office/powerpoint/2010/main" val="681715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Heart attack </a:t>
            </a:r>
            <a:endParaRPr lang="en-AU" dirty="0"/>
          </a:p>
        </p:txBody>
      </p:sp>
      <p:sp>
        <p:nvSpPr>
          <p:cNvPr id="3" name="Content Placeholder 2"/>
          <p:cNvSpPr>
            <a:spLocks noGrp="1"/>
          </p:cNvSpPr>
          <p:nvPr>
            <p:ph idx="1"/>
          </p:nvPr>
        </p:nvSpPr>
        <p:spPr/>
        <p:txBody>
          <a:bodyPr>
            <a:normAutofit lnSpcReduction="10000"/>
          </a:bodyPr>
          <a:lstStyle/>
          <a:p>
            <a:r>
              <a:rPr lang="en-AU" dirty="0" smtClean="0"/>
              <a:t>A heart attack occurs when blood flow to a part of the heart muscle is stopped completely. Sometimes this occurs because plaque in the coronary arteries has accumulated to the point where it prevents blood flow through a branch of an artery. </a:t>
            </a:r>
          </a:p>
          <a:p>
            <a:r>
              <a:rPr lang="en-AU" dirty="0" smtClean="0"/>
              <a:t>At other times the cause of the blockage may be the formation of a blood clot in an artery already narrowed by atherosclerosis. </a:t>
            </a:r>
          </a:p>
          <a:p>
            <a:r>
              <a:rPr lang="en-AU" dirty="0" smtClean="0"/>
              <a:t>The plaque deposits on the inside of the artery can cause a rough surface on which a clot can form. </a:t>
            </a:r>
          </a:p>
          <a:p>
            <a:r>
              <a:rPr lang="en-AU" dirty="0" smtClean="0"/>
              <a:t>Whatever the cause, part of the heat muscle is no longer supplied with oxygen, and the muscle in that area dies. </a:t>
            </a:r>
            <a:endParaRPr lang="en-AU" dirty="0"/>
          </a:p>
        </p:txBody>
      </p:sp>
    </p:spTree>
    <p:extLst>
      <p:ext uri="{BB962C8B-B14F-4D97-AF65-F5344CB8AC3E}">
        <p14:creationId xmlns:p14="http://schemas.microsoft.com/office/powerpoint/2010/main" val="39586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a:p>
        </p:txBody>
      </p:sp>
      <p:pic>
        <p:nvPicPr>
          <p:cNvPr id="8194" name="Picture 2" descr="Myocardial infarction - Wikiped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7152" y="146187"/>
            <a:ext cx="4904105" cy="65388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4270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Continued. </a:t>
            </a:r>
            <a:endParaRPr lang="en-AU" dirty="0"/>
          </a:p>
        </p:txBody>
      </p:sp>
      <p:sp>
        <p:nvSpPr>
          <p:cNvPr id="3" name="Content Placeholder 2"/>
          <p:cNvSpPr>
            <a:spLocks noGrp="1"/>
          </p:cNvSpPr>
          <p:nvPr>
            <p:ph idx="1"/>
          </p:nvPr>
        </p:nvSpPr>
        <p:spPr/>
        <p:txBody>
          <a:bodyPr>
            <a:normAutofit lnSpcReduction="10000"/>
          </a:bodyPr>
          <a:lstStyle/>
          <a:p>
            <a:r>
              <a:rPr lang="en-AU" dirty="0" smtClean="0"/>
              <a:t>This severe injury to the heart, which is accompanied by sudden and severe chest pain, is a ‘heart attack’. </a:t>
            </a:r>
          </a:p>
          <a:p>
            <a:r>
              <a:rPr lang="en-AU" dirty="0" smtClean="0"/>
              <a:t>If the area of heart muscle damaged by lack of oxygen is not large, scar tissue forms and new arterial branches develop to supply blood to the area lacking oxygen. </a:t>
            </a:r>
          </a:p>
          <a:p>
            <a:r>
              <a:rPr lang="en-AU" dirty="0" smtClean="0"/>
              <a:t>Such healing may occur within a few weeks of a mild heart attack. </a:t>
            </a:r>
          </a:p>
          <a:p>
            <a:r>
              <a:rPr lang="en-AU" dirty="0" smtClean="0"/>
              <a:t>If the damage to the heart muscle disturbs the normal rhythmic beat of the heart, cardiac arrest may occur. </a:t>
            </a:r>
          </a:p>
          <a:p>
            <a:r>
              <a:rPr lang="en-AU" dirty="0" smtClean="0"/>
              <a:t>The heart pumps little or </a:t>
            </a:r>
            <a:r>
              <a:rPr lang="en-AU" dirty="0"/>
              <a:t>n</a:t>
            </a:r>
            <a:r>
              <a:rPr lang="en-AU" dirty="0" smtClean="0"/>
              <a:t>o blood and may even stop completely. Death occurs within minutes unless normal rhythm can be restored. </a:t>
            </a:r>
            <a:endParaRPr lang="en-AU" dirty="0"/>
          </a:p>
        </p:txBody>
      </p:sp>
    </p:spTree>
    <p:extLst>
      <p:ext uri="{BB962C8B-B14F-4D97-AF65-F5344CB8AC3E}">
        <p14:creationId xmlns:p14="http://schemas.microsoft.com/office/powerpoint/2010/main" val="1748764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Stroke </a:t>
            </a:r>
            <a:endParaRPr lang="en-AU" dirty="0"/>
          </a:p>
        </p:txBody>
      </p:sp>
      <p:sp>
        <p:nvSpPr>
          <p:cNvPr id="3" name="Content Placeholder 2"/>
          <p:cNvSpPr>
            <a:spLocks noGrp="1"/>
          </p:cNvSpPr>
          <p:nvPr>
            <p:ph idx="1"/>
          </p:nvPr>
        </p:nvSpPr>
        <p:spPr/>
        <p:txBody>
          <a:bodyPr>
            <a:normAutofit lnSpcReduction="10000"/>
          </a:bodyPr>
          <a:lstStyle/>
          <a:p>
            <a:r>
              <a:rPr lang="en-AU" dirty="0" smtClean="0"/>
              <a:t>If atherosclerosis affects the blood vessels supplying the brain, called the cerebral arteries, interruption of the blood supply to a part of the brain may occur. That part of the brain receives insufficient oxygen and the nervous tissue dies. </a:t>
            </a:r>
          </a:p>
          <a:p>
            <a:r>
              <a:rPr lang="en-AU" dirty="0" smtClean="0"/>
              <a:t>This is called of a stroke. A stroke may occur if plaque blocks an artery in the brain, if a blood clot forms in an artery that is partly blocked, or if bleeding occurs at a weak point in one of the arteries. </a:t>
            </a:r>
          </a:p>
          <a:p>
            <a:r>
              <a:rPr lang="en-AU" dirty="0" smtClean="0"/>
              <a:t>The effect of a stroke depends on which part of the brain is affected by the lack of oxygen. Severe strokes can cause death or severe disability; others are mild and recovery is rapid. </a:t>
            </a:r>
          </a:p>
          <a:p>
            <a:r>
              <a:rPr lang="en-AU" dirty="0" smtClean="0"/>
              <a:t>Often strokes can result in paralysis or speech abnormalities.</a:t>
            </a:r>
            <a:endParaRPr lang="en-AU" dirty="0"/>
          </a:p>
        </p:txBody>
      </p:sp>
    </p:spTree>
    <p:extLst>
      <p:ext uri="{BB962C8B-B14F-4D97-AF65-F5344CB8AC3E}">
        <p14:creationId xmlns:p14="http://schemas.microsoft.com/office/powerpoint/2010/main" val="4013601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a:p>
        </p:txBody>
      </p:sp>
      <p:pic>
        <p:nvPicPr>
          <p:cNvPr id="9218" name="Picture 2" descr="Stroke - Symptoms and causes - Mayo Clini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9277" y="466343"/>
            <a:ext cx="8735877" cy="62532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2763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Peripheral </a:t>
            </a:r>
            <a:r>
              <a:rPr lang="en-AU" dirty="0"/>
              <a:t>V</a:t>
            </a:r>
            <a:r>
              <a:rPr lang="en-AU" dirty="0" smtClean="0"/>
              <a:t>ascular </a:t>
            </a:r>
            <a:r>
              <a:rPr lang="en-AU" dirty="0"/>
              <a:t>D</a:t>
            </a:r>
            <a:r>
              <a:rPr lang="en-AU" dirty="0" smtClean="0"/>
              <a:t>isease </a:t>
            </a:r>
            <a:endParaRPr lang="en-AU" dirty="0"/>
          </a:p>
        </p:txBody>
      </p:sp>
      <p:sp>
        <p:nvSpPr>
          <p:cNvPr id="3" name="Content Placeholder 2"/>
          <p:cNvSpPr>
            <a:spLocks noGrp="1"/>
          </p:cNvSpPr>
          <p:nvPr>
            <p:ph idx="1"/>
          </p:nvPr>
        </p:nvSpPr>
        <p:spPr/>
        <p:txBody>
          <a:bodyPr>
            <a:normAutofit lnSpcReduction="10000"/>
          </a:bodyPr>
          <a:lstStyle/>
          <a:p>
            <a:r>
              <a:rPr lang="en-AU" dirty="0" smtClean="0"/>
              <a:t>Cardiovascular disease affecting veins and arteries in the limbs is called peripheral vascular disease. </a:t>
            </a:r>
          </a:p>
          <a:p>
            <a:r>
              <a:rPr lang="en-AU" dirty="0" smtClean="0"/>
              <a:t>It usually occurs in the feet and legs, but sometimes affects the hands and arms. Peripheral vascular diseases include: </a:t>
            </a:r>
          </a:p>
          <a:p>
            <a:pPr lvl="1"/>
            <a:r>
              <a:rPr lang="en-AU" dirty="0" smtClean="0"/>
              <a:t>Arteriosclerosis in the limb arteries, so that blood supply to part of an arm or leg is slow or absent</a:t>
            </a:r>
          </a:p>
          <a:p>
            <a:pPr lvl="1"/>
            <a:r>
              <a:rPr lang="en-AU" dirty="0" smtClean="0"/>
              <a:t>Phlebitis, or inflammation of a vein- such inflammation may cause the development of blood clots. </a:t>
            </a:r>
          </a:p>
          <a:p>
            <a:pPr lvl="1"/>
            <a:r>
              <a:rPr lang="en-AU" dirty="0" smtClean="0"/>
              <a:t>Varicose veins- enlarged, lengthened and tortuous veins, which cannot carry blood back to the heart efficiently and may allow blood to accumulate in the lower limbs. </a:t>
            </a:r>
            <a:endParaRPr lang="en-AU" dirty="0"/>
          </a:p>
          <a:p>
            <a:r>
              <a:rPr lang="en-AU" dirty="0" smtClean="0"/>
              <a:t>Smoking is a major cause of peripheral vascular disease. </a:t>
            </a:r>
          </a:p>
        </p:txBody>
      </p:sp>
    </p:spTree>
    <p:extLst>
      <p:ext uri="{BB962C8B-B14F-4D97-AF65-F5344CB8AC3E}">
        <p14:creationId xmlns:p14="http://schemas.microsoft.com/office/powerpoint/2010/main" val="2482686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a:p>
        </p:txBody>
      </p:sp>
      <p:pic>
        <p:nvPicPr>
          <p:cNvPr id="7170" name="Picture 2" descr="Angina | Heart Disease. Causes &amp; Symptoms - Heart Found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336" y="839524"/>
            <a:ext cx="10976632" cy="56744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5901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Factors influencing cardiovascular disease </a:t>
            </a:r>
            <a:endParaRPr lang="en-AU" dirty="0"/>
          </a:p>
        </p:txBody>
      </p:sp>
      <p:sp>
        <p:nvSpPr>
          <p:cNvPr id="3" name="Content Placeholder 2"/>
          <p:cNvSpPr>
            <a:spLocks noGrp="1"/>
          </p:cNvSpPr>
          <p:nvPr>
            <p:ph idx="1"/>
          </p:nvPr>
        </p:nvSpPr>
        <p:spPr/>
        <p:txBody>
          <a:bodyPr>
            <a:normAutofit fontScale="92500" lnSpcReduction="10000"/>
          </a:bodyPr>
          <a:lstStyle/>
          <a:p>
            <a:r>
              <a:rPr lang="en-AU" dirty="0" smtClean="0"/>
              <a:t>Research have identified many factors that contribute to cardiovascular disease: </a:t>
            </a:r>
          </a:p>
          <a:p>
            <a:pPr lvl="1"/>
            <a:r>
              <a:rPr lang="en-AU" dirty="0" smtClean="0"/>
              <a:t>Age: incidence of cardiovascular disease increases with increased age.</a:t>
            </a:r>
          </a:p>
          <a:p>
            <a:pPr lvl="1"/>
            <a:r>
              <a:rPr lang="en-AU" dirty="0" smtClean="0"/>
              <a:t>Gender: men develop cardiovascular disease earlier than women.</a:t>
            </a:r>
          </a:p>
          <a:p>
            <a:pPr lvl="1"/>
            <a:r>
              <a:rPr lang="en-AU" dirty="0" smtClean="0"/>
              <a:t>Diet: saturated </a:t>
            </a:r>
            <a:r>
              <a:rPr lang="en-AU" dirty="0"/>
              <a:t>f</a:t>
            </a:r>
            <a:r>
              <a:rPr lang="en-AU" dirty="0" smtClean="0"/>
              <a:t>ats and high cholesterol intake increase the chance of cardiovascular disease. </a:t>
            </a:r>
          </a:p>
          <a:p>
            <a:pPr lvl="1"/>
            <a:r>
              <a:rPr lang="en-AU" dirty="0" smtClean="0"/>
              <a:t>High blood cholesterol level: increases chance of cardiovascular disease. </a:t>
            </a:r>
          </a:p>
          <a:p>
            <a:pPr lvl="1"/>
            <a:r>
              <a:rPr lang="en-AU" dirty="0" smtClean="0"/>
              <a:t>High blood pressure: increases chance of cardiovascular disease. </a:t>
            </a:r>
          </a:p>
          <a:p>
            <a:pPr lvl="1"/>
            <a:r>
              <a:rPr lang="en-AU" dirty="0" smtClean="0"/>
              <a:t>Overweight: increases strain on hearts and lungs. </a:t>
            </a:r>
          </a:p>
          <a:p>
            <a:pPr lvl="1"/>
            <a:r>
              <a:rPr lang="en-AU" dirty="0" smtClean="0"/>
              <a:t>Smoking: smokers are five times more likely to die of cardiovascular disease than non-smokers. </a:t>
            </a:r>
          </a:p>
          <a:p>
            <a:pPr lvl="1"/>
            <a:r>
              <a:rPr lang="en-AU" dirty="0" smtClean="0"/>
              <a:t>Excessive alcohol consumption: associated with hypertension and weakens heart muscle. </a:t>
            </a:r>
          </a:p>
          <a:p>
            <a:pPr lvl="1"/>
            <a:r>
              <a:rPr lang="en-AU" dirty="0" smtClean="0"/>
              <a:t>Physical inactivity: increases chance of cardiovascular disease. </a:t>
            </a:r>
          </a:p>
          <a:p>
            <a:pPr lvl="1"/>
            <a:r>
              <a:rPr lang="en-AU" dirty="0" smtClean="0"/>
              <a:t>Heredity: tendency for premature death due to heart disease to occur in families. </a:t>
            </a:r>
            <a:endParaRPr lang="en-AU" dirty="0"/>
          </a:p>
        </p:txBody>
      </p:sp>
    </p:spTree>
    <p:extLst>
      <p:ext uri="{BB962C8B-B14F-4D97-AF65-F5344CB8AC3E}">
        <p14:creationId xmlns:p14="http://schemas.microsoft.com/office/powerpoint/2010/main" val="1802781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How to reduce the risk of cardiovascular disease </a:t>
            </a:r>
            <a:endParaRPr lang="en-AU" dirty="0"/>
          </a:p>
        </p:txBody>
      </p:sp>
      <p:sp>
        <p:nvSpPr>
          <p:cNvPr id="3" name="Content Placeholder 2"/>
          <p:cNvSpPr>
            <a:spLocks noGrp="1"/>
          </p:cNvSpPr>
          <p:nvPr>
            <p:ph idx="1"/>
          </p:nvPr>
        </p:nvSpPr>
        <p:spPr/>
        <p:txBody>
          <a:bodyPr/>
          <a:lstStyle/>
          <a:p>
            <a:r>
              <a:rPr lang="en-AU" dirty="0" smtClean="0"/>
              <a:t>Do not smoke </a:t>
            </a:r>
          </a:p>
          <a:p>
            <a:r>
              <a:rPr lang="en-AU" dirty="0" smtClean="0"/>
              <a:t>Have a healthy diet </a:t>
            </a:r>
          </a:p>
          <a:p>
            <a:r>
              <a:rPr lang="en-AU" dirty="0" smtClean="0"/>
              <a:t>Exercise regularly </a:t>
            </a:r>
          </a:p>
          <a:p>
            <a:r>
              <a:rPr lang="en-AU" dirty="0" smtClean="0"/>
              <a:t>Maintain a healthy weight </a:t>
            </a:r>
          </a:p>
          <a:p>
            <a:r>
              <a:rPr lang="en-AU" dirty="0" smtClean="0"/>
              <a:t>Have regular blood pressure checks</a:t>
            </a:r>
          </a:p>
          <a:p>
            <a:r>
              <a:rPr lang="en-AU" dirty="0" smtClean="0"/>
              <a:t>Do not excessively consume alcohol </a:t>
            </a:r>
            <a:endParaRPr lang="en-AU" dirty="0"/>
          </a:p>
        </p:txBody>
      </p:sp>
    </p:spTree>
    <p:extLst>
      <p:ext uri="{BB962C8B-B14F-4D97-AF65-F5344CB8AC3E}">
        <p14:creationId xmlns:p14="http://schemas.microsoft.com/office/powerpoint/2010/main" val="3365007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REVIEW QUESTIONS </a:t>
            </a:r>
            <a:endParaRPr lang="en-AU" dirty="0"/>
          </a:p>
        </p:txBody>
      </p:sp>
      <p:sp>
        <p:nvSpPr>
          <p:cNvPr id="3" name="Content Placeholder 2"/>
          <p:cNvSpPr>
            <a:spLocks noGrp="1"/>
          </p:cNvSpPr>
          <p:nvPr>
            <p:ph idx="1"/>
          </p:nvPr>
        </p:nvSpPr>
        <p:spPr/>
        <p:txBody>
          <a:bodyPr/>
          <a:lstStyle/>
          <a:p>
            <a:r>
              <a:rPr lang="en-AU" dirty="0" smtClean="0"/>
              <a:t>These questions are in no particular order. This is to make you go back and review different sections and also to help you connect the smaller dots into a bigger picture. </a:t>
            </a:r>
          </a:p>
          <a:p>
            <a:endParaRPr lang="en-AU" dirty="0"/>
          </a:p>
        </p:txBody>
      </p:sp>
    </p:spTree>
    <p:extLst>
      <p:ext uri="{BB962C8B-B14F-4D97-AF65-F5344CB8AC3E}">
        <p14:creationId xmlns:p14="http://schemas.microsoft.com/office/powerpoint/2010/main" val="3699075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FOR YOU TO COMPLETE </a:t>
            </a:r>
            <a:endParaRPr lang="en-AU"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318250875"/>
              </p:ext>
            </p:extLst>
          </p:nvPr>
        </p:nvGraphicFramePr>
        <p:xfrm>
          <a:off x="1279525" y="2190750"/>
          <a:ext cx="9629776" cy="4114800"/>
        </p:xfrm>
        <a:graphic>
          <a:graphicData uri="http://schemas.openxmlformats.org/drawingml/2006/table">
            <a:tbl>
              <a:tblPr firstRow="1" bandRow="1">
                <a:tableStyleId>{3B4B98B0-60AC-42C2-AFA5-B58CD77FA1E5}</a:tableStyleId>
              </a:tblPr>
              <a:tblGrid>
                <a:gridCol w="2407444">
                  <a:extLst>
                    <a:ext uri="{9D8B030D-6E8A-4147-A177-3AD203B41FA5}">
                      <a16:colId xmlns:a16="http://schemas.microsoft.com/office/drawing/2014/main" val="3131076771"/>
                    </a:ext>
                  </a:extLst>
                </a:gridCol>
                <a:gridCol w="2407444">
                  <a:extLst>
                    <a:ext uri="{9D8B030D-6E8A-4147-A177-3AD203B41FA5}">
                      <a16:colId xmlns:a16="http://schemas.microsoft.com/office/drawing/2014/main" val="1227617174"/>
                    </a:ext>
                  </a:extLst>
                </a:gridCol>
                <a:gridCol w="2407444">
                  <a:extLst>
                    <a:ext uri="{9D8B030D-6E8A-4147-A177-3AD203B41FA5}">
                      <a16:colId xmlns:a16="http://schemas.microsoft.com/office/drawing/2014/main" val="3331410496"/>
                    </a:ext>
                  </a:extLst>
                </a:gridCol>
                <a:gridCol w="2407444">
                  <a:extLst>
                    <a:ext uri="{9D8B030D-6E8A-4147-A177-3AD203B41FA5}">
                      <a16:colId xmlns:a16="http://schemas.microsoft.com/office/drawing/2014/main" val="3736180612"/>
                    </a:ext>
                  </a:extLst>
                </a:gridCol>
              </a:tblGrid>
              <a:tr h="370840">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AU" dirty="0" smtClean="0"/>
                        <a:t>Cause </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smtClean="0"/>
                        <a:t>Description</a:t>
                      </a:r>
                    </a:p>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smtClean="0"/>
                        <a:t>Treatment </a:t>
                      </a:r>
                    </a:p>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4702411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smtClean="0"/>
                        <a:t>Coronary Heart Disease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en-AU" dirty="0" smtClean="0"/>
                    </a:p>
                    <a:p>
                      <a:endParaRPr lang="en-AU" dirty="0" smtClean="0"/>
                    </a:p>
                    <a:p>
                      <a:endParaRPr lang="en-AU" dirty="0" smtClean="0"/>
                    </a:p>
                    <a:p>
                      <a:endParaRPr lang="en-AU" dirty="0" smtClean="0"/>
                    </a:p>
                    <a:p>
                      <a:endParaRPr lang="en-AU" dirty="0" smtClean="0"/>
                    </a:p>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101558081"/>
                  </a:ext>
                </a:extLst>
              </a:tr>
              <a:tr h="370840">
                <a:tc>
                  <a:txBody>
                    <a:bodyPr/>
                    <a:lstStyle/>
                    <a:p>
                      <a:r>
                        <a:rPr lang="en-AU" dirty="0" smtClean="0"/>
                        <a:t>Peripheral Vascular</a:t>
                      </a:r>
                      <a:r>
                        <a:rPr lang="en-AU" baseline="0" dirty="0" smtClean="0"/>
                        <a:t> Disease </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en-AU" dirty="0" smtClean="0"/>
                    </a:p>
                    <a:p>
                      <a:endParaRPr lang="en-AU" dirty="0" smtClean="0"/>
                    </a:p>
                    <a:p>
                      <a:endParaRPr lang="en-AU" dirty="0" smtClean="0"/>
                    </a:p>
                    <a:p>
                      <a:endParaRPr lang="en-AU" dirty="0" smtClean="0"/>
                    </a:p>
                    <a:p>
                      <a:endParaRPr lang="en-AU" dirty="0" smtClean="0"/>
                    </a:p>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745575761"/>
                  </a:ext>
                </a:extLst>
              </a:tr>
            </a:tbl>
          </a:graphicData>
        </a:graphic>
      </p:graphicFrame>
    </p:spTree>
    <p:extLst>
      <p:ext uri="{BB962C8B-B14F-4D97-AF65-F5344CB8AC3E}">
        <p14:creationId xmlns:p14="http://schemas.microsoft.com/office/powerpoint/2010/main" val="2475377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FOR YOU TO COMPLETE </a:t>
            </a:r>
          </a:p>
        </p:txBody>
      </p:sp>
      <p:sp>
        <p:nvSpPr>
          <p:cNvPr id="3" name="Content Placeholder 2"/>
          <p:cNvSpPr>
            <a:spLocks noGrp="1"/>
          </p:cNvSpPr>
          <p:nvPr>
            <p:ph idx="1"/>
          </p:nvPr>
        </p:nvSpPr>
        <p:spPr/>
        <p:txBody>
          <a:bodyPr/>
          <a:lstStyle/>
          <a:p>
            <a:r>
              <a:rPr lang="en-AU" dirty="0" smtClean="0"/>
              <a:t>Draw up a table with two columns. In one column list the functions of the blood; in the second, describe the importance of each function to the body. </a:t>
            </a:r>
          </a:p>
          <a:p>
            <a:endParaRPr lang="en-AU" dirty="0"/>
          </a:p>
        </p:txBody>
      </p:sp>
    </p:spTree>
    <p:extLst>
      <p:ext uri="{BB962C8B-B14F-4D97-AF65-F5344CB8AC3E}">
        <p14:creationId xmlns:p14="http://schemas.microsoft.com/office/powerpoint/2010/main" val="3081481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FOR YOU TO COMPLETE </a:t>
            </a:r>
          </a:p>
        </p:txBody>
      </p:sp>
      <p:sp>
        <p:nvSpPr>
          <p:cNvPr id="3" name="Content Placeholder 2"/>
          <p:cNvSpPr>
            <a:spLocks noGrp="1"/>
          </p:cNvSpPr>
          <p:nvPr>
            <p:ph idx="1"/>
          </p:nvPr>
        </p:nvSpPr>
        <p:spPr/>
        <p:txBody>
          <a:bodyPr/>
          <a:lstStyle/>
          <a:p>
            <a:r>
              <a:rPr lang="en-AU" dirty="0" smtClean="0"/>
              <a:t>Describe the ways in which oxygen is carried in the blood?</a:t>
            </a:r>
          </a:p>
          <a:p>
            <a:r>
              <a:rPr lang="en-AU" dirty="0" smtClean="0"/>
              <a:t>Describe the ways in which carbon dioxide is carried in the blood?</a:t>
            </a:r>
          </a:p>
          <a:p>
            <a:r>
              <a:rPr lang="en-AU" dirty="0" smtClean="0"/>
              <a:t>What is blood flow?</a:t>
            </a:r>
          </a:p>
          <a:p>
            <a:r>
              <a:rPr lang="en-AU" dirty="0" smtClean="0"/>
              <a:t>Describe the two ways in which blood flow to an organ can be increased. </a:t>
            </a:r>
          </a:p>
          <a:p>
            <a:r>
              <a:rPr lang="en-AU" dirty="0" smtClean="0"/>
              <a:t>What changes occur in blood flow during exercise?</a:t>
            </a:r>
          </a:p>
          <a:p>
            <a:r>
              <a:rPr lang="en-AU" dirty="0" smtClean="0"/>
              <a:t>Describe the cardiac cycle. </a:t>
            </a:r>
          </a:p>
          <a:p>
            <a:endParaRPr lang="en-AU" dirty="0"/>
          </a:p>
        </p:txBody>
      </p:sp>
    </p:spTree>
    <p:extLst>
      <p:ext uri="{BB962C8B-B14F-4D97-AF65-F5344CB8AC3E}">
        <p14:creationId xmlns:p14="http://schemas.microsoft.com/office/powerpoint/2010/main" val="2411587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FOR YOU TO COMPLETE </a:t>
            </a:r>
          </a:p>
        </p:txBody>
      </p:sp>
      <p:sp>
        <p:nvSpPr>
          <p:cNvPr id="3" name="Content Placeholder 2"/>
          <p:cNvSpPr>
            <a:spLocks noGrp="1"/>
          </p:cNvSpPr>
          <p:nvPr>
            <p:ph idx="1"/>
          </p:nvPr>
        </p:nvSpPr>
        <p:spPr/>
        <p:txBody>
          <a:bodyPr/>
          <a:lstStyle/>
          <a:p>
            <a:r>
              <a:rPr lang="en-AU" dirty="0" smtClean="0"/>
              <a:t>For each of the following describe how its structure is related to its function: </a:t>
            </a:r>
          </a:p>
          <a:p>
            <a:pPr lvl="1"/>
            <a:r>
              <a:rPr lang="en-AU" dirty="0" smtClean="0"/>
              <a:t>Red blood cell</a:t>
            </a:r>
          </a:p>
          <a:p>
            <a:pPr lvl="1"/>
            <a:r>
              <a:rPr lang="en-AU" dirty="0" smtClean="0"/>
              <a:t>Artery </a:t>
            </a:r>
          </a:p>
          <a:p>
            <a:pPr lvl="1"/>
            <a:r>
              <a:rPr lang="en-AU" dirty="0" smtClean="0"/>
              <a:t>Heart </a:t>
            </a:r>
          </a:p>
          <a:p>
            <a:pPr marL="0" indent="0">
              <a:buNone/>
            </a:pPr>
            <a:endParaRPr lang="en-AU" dirty="0" smtClean="0"/>
          </a:p>
          <a:p>
            <a:r>
              <a:rPr lang="en-AU" dirty="0" smtClean="0"/>
              <a:t>What is hypertension?</a:t>
            </a:r>
          </a:p>
          <a:p>
            <a:r>
              <a:rPr lang="en-AU" dirty="0" smtClean="0"/>
              <a:t>What factors are known to be associated with hypertension?</a:t>
            </a:r>
          </a:p>
          <a:p>
            <a:r>
              <a:rPr lang="en-AU" dirty="0" smtClean="0"/>
              <a:t>What is atherosclerosis?</a:t>
            </a:r>
            <a:endParaRPr lang="en-AU" dirty="0"/>
          </a:p>
        </p:txBody>
      </p:sp>
    </p:spTree>
    <p:extLst>
      <p:ext uri="{BB962C8B-B14F-4D97-AF65-F5344CB8AC3E}">
        <p14:creationId xmlns:p14="http://schemas.microsoft.com/office/powerpoint/2010/main" val="792049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FOR YOU TO COMPLETE </a:t>
            </a:r>
          </a:p>
        </p:txBody>
      </p:sp>
      <p:sp>
        <p:nvSpPr>
          <p:cNvPr id="3" name="Content Placeholder 2"/>
          <p:cNvSpPr>
            <a:spLocks noGrp="1"/>
          </p:cNvSpPr>
          <p:nvPr>
            <p:ph idx="1"/>
          </p:nvPr>
        </p:nvSpPr>
        <p:spPr/>
        <p:txBody>
          <a:bodyPr/>
          <a:lstStyle/>
          <a:p>
            <a:r>
              <a:rPr lang="en-AU" dirty="0" smtClean="0"/>
              <a:t>What affects does atherosclerosis have on blood flow?</a:t>
            </a:r>
          </a:p>
          <a:p>
            <a:r>
              <a:rPr lang="en-AU" dirty="0" smtClean="0"/>
              <a:t>What is a stroke?</a:t>
            </a:r>
          </a:p>
          <a:p>
            <a:r>
              <a:rPr lang="en-AU" dirty="0" smtClean="0"/>
              <a:t>What part of the body is affected by a stroke?</a:t>
            </a:r>
          </a:p>
          <a:p>
            <a:r>
              <a:rPr lang="en-AU" dirty="0" smtClean="0"/>
              <a:t>List the factors that contribute to cardiovascular disease. </a:t>
            </a:r>
          </a:p>
          <a:p>
            <a:r>
              <a:rPr lang="en-AU" dirty="0" smtClean="0"/>
              <a:t>Why is blood red?</a:t>
            </a:r>
          </a:p>
          <a:p>
            <a:r>
              <a:rPr lang="en-AU" dirty="0" smtClean="0"/>
              <a:t>Royalty is sometimes described as having ‘blue blood’. See if you can find out why they have been described in this way. </a:t>
            </a:r>
            <a:endParaRPr lang="en-AU" dirty="0"/>
          </a:p>
        </p:txBody>
      </p:sp>
    </p:spTree>
    <p:extLst>
      <p:ext uri="{BB962C8B-B14F-4D97-AF65-F5344CB8AC3E}">
        <p14:creationId xmlns:p14="http://schemas.microsoft.com/office/powerpoint/2010/main" val="914885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FOR YOU TO COMPLETE </a:t>
            </a:r>
          </a:p>
        </p:txBody>
      </p:sp>
      <p:sp>
        <p:nvSpPr>
          <p:cNvPr id="3" name="Content Placeholder 2"/>
          <p:cNvSpPr>
            <a:spLocks noGrp="1"/>
          </p:cNvSpPr>
          <p:nvPr>
            <p:ph idx="1"/>
          </p:nvPr>
        </p:nvSpPr>
        <p:spPr/>
        <p:txBody>
          <a:bodyPr/>
          <a:lstStyle/>
          <a:p>
            <a:r>
              <a:rPr lang="en-AU" dirty="0" smtClean="0"/>
              <a:t>Cardiovascular disease is sometimes called a ‘lifestyle disease’. Why is this name given to cardiovascular disease? </a:t>
            </a:r>
          </a:p>
          <a:p>
            <a:r>
              <a:rPr lang="en-AU" dirty="0" smtClean="0"/>
              <a:t>The heart is a double pump. After passing through the capillaries of the body, the blood returns to the heart to be pumped again before going through the lungs. Explain why the blood must be pumped twice for each complete circulation through the body and lungs. </a:t>
            </a:r>
          </a:p>
          <a:p>
            <a:r>
              <a:rPr lang="en-AU" dirty="0" smtClean="0"/>
              <a:t>Why are valves necessary in the heart?</a:t>
            </a:r>
          </a:p>
          <a:p>
            <a:r>
              <a:rPr lang="en-AU" dirty="0" smtClean="0"/>
              <a:t>Describe the sequence of events that occur in blood clotting. </a:t>
            </a:r>
            <a:endParaRPr lang="en-AU" dirty="0"/>
          </a:p>
        </p:txBody>
      </p:sp>
    </p:spTree>
    <p:extLst>
      <p:ext uri="{BB962C8B-B14F-4D97-AF65-F5344CB8AC3E}">
        <p14:creationId xmlns:p14="http://schemas.microsoft.com/office/powerpoint/2010/main" val="1871734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FOR YOU TO COMPLETE </a:t>
            </a:r>
          </a:p>
        </p:txBody>
      </p:sp>
      <p:sp>
        <p:nvSpPr>
          <p:cNvPr id="3" name="Content Placeholder 2"/>
          <p:cNvSpPr>
            <a:spLocks noGrp="1"/>
          </p:cNvSpPr>
          <p:nvPr>
            <p:ph idx="1"/>
          </p:nvPr>
        </p:nvSpPr>
        <p:spPr/>
        <p:txBody>
          <a:bodyPr/>
          <a:lstStyle/>
          <a:p>
            <a:r>
              <a:rPr lang="en-AU" dirty="0" smtClean="0"/>
              <a:t>What antigens and antibodies are involved in the ABO blood group system?</a:t>
            </a:r>
          </a:p>
          <a:p>
            <a:r>
              <a:rPr lang="en-AU" dirty="0" smtClean="0"/>
              <a:t>What determines the ABO blood group to which a person belongs?</a:t>
            </a:r>
            <a:endParaRPr lang="en-AU" dirty="0"/>
          </a:p>
        </p:txBody>
      </p:sp>
    </p:spTree>
    <p:extLst>
      <p:ext uri="{BB962C8B-B14F-4D97-AF65-F5344CB8AC3E}">
        <p14:creationId xmlns:p14="http://schemas.microsoft.com/office/powerpoint/2010/main" val="3418128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Educational subjects 16x9">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001127.potx" id="{6B18C398-4F76-4BDC-B8A4-D02A96E0AA82}" vid="{FBF1AC64-E511-41D2-AA23-0E693E79CD77}"/>
    </a:ext>
  </a:extLst>
</a:theme>
</file>

<file path=ppt/theme/theme2.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Educational subjects presentation, chalkboard illustrations design (widescreen)</Template>
  <TotalTime>636</TotalTime>
  <Words>4622</Words>
  <Application>Microsoft Office PowerPoint</Application>
  <PresentationFormat>Widescreen</PresentationFormat>
  <Paragraphs>303</Paragraphs>
  <Slides>75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75</vt:i4>
      </vt:variant>
    </vt:vector>
  </HeadingPairs>
  <TitlesOfParts>
    <vt:vector size="79" baseType="lpstr">
      <vt:lpstr>Arial</vt:lpstr>
      <vt:lpstr>Calibri</vt:lpstr>
      <vt:lpstr>Wingdings</vt:lpstr>
      <vt:lpstr>Educational subjects 16x9</vt:lpstr>
      <vt:lpstr>Circulatory System </vt:lpstr>
      <vt:lpstr>Curriculum Points </vt:lpstr>
      <vt:lpstr>Curriculum Point </vt:lpstr>
      <vt:lpstr>Curriculum Point </vt:lpstr>
      <vt:lpstr>Curriculum Point </vt:lpstr>
      <vt:lpstr>Curriculum Point </vt:lpstr>
      <vt:lpstr>Curriculum Point </vt:lpstr>
      <vt:lpstr>The Circulatory System </vt:lpstr>
      <vt:lpstr>Blood </vt:lpstr>
      <vt:lpstr>Transport of Oxygen</vt:lpstr>
      <vt:lpstr>PowerPoint Presentation</vt:lpstr>
      <vt:lpstr>Continued  </vt:lpstr>
      <vt:lpstr>PowerPoint Presentation</vt:lpstr>
      <vt:lpstr>Continued </vt:lpstr>
      <vt:lpstr>Transport of Carbon Dioxide</vt:lpstr>
      <vt:lpstr>Continued </vt:lpstr>
      <vt:lpstr>Proportion and location of Oxygen and Carbon Dioxide </vt:lpstr>
      <vt:lpstr>Transport of nutrients and waste </vt:lpstr>
      <vt:lpstr>Continued. </vt:lpstr>
      <vt:lpstr>The heart </vt:lpstr>
      <vt:lpstr>PowerPoint Presentation</vt:lpstr>
      <vt:lpstr>PowerPoint Presentation</vt:lpstr>
      <vt:lpstr>PowerPoint Presentation</vt:lpstr>
      <vt:lpstr>PowerPoint Presentation</vt:lpstr>
      <vt:lpstr>Blood vessels </vt:lpstr>
      <vt:lpstr>PowerPoint Presentation</vt:lpstr>
      <vt:lpstr>PowerPoint Presentation</vt:lpstr>
      <vt:lpstr>Capillaries </vt:lpstr>
      <vt:lpstr>PowerPoint Presentation</vt:lpstr>
      <vt:lpstr>Blood Flow </vt:lpstr>
      <vt:lpstr>PowerPoint Presentation</vt:lpstr>
      <vt:lpstr>The Cardiac Cycle </vt:lpstr>
      <vt:lpstr>PowerPoint Presentation</vt:lpstr>
      <vt:lpstr>Cardiac Output </vt:lpstr>
      <vt:lpstr>Blood flow in arteries </vt:lpstr>
      <vt:lpstr>Continued. </vt:lpstr>
      <vt:lpstr>PowerPoint Presentation</vt:lpstr>
      <vt:lpstr>Regulating cardiac output </vt:lpstr>
      <vt:lpstr>Regulating blood flow </vt:lpstr>
      <vt:lpstr>Working with the Digestive System  </vt:lpstr>
      <vt:lpstr>Blood flow in veins </vt:lpstr>
      <vt:lpstr>Continued. </vt:lpstr>
      <vt:lpstr>Blood Clotting </vt:lpstr>
      <vt:lpstr>PowerPoint Presentation</vt:lpstr>
      <vt:lpstr>Continued </vt:lpstr>
      <vt:lpstr>Continued. </vt:lpstr>
      <vt:lpstr>The Lymphatic System </vt:lpstr>
      <vt:lpstr>PowerPoint Presentation</vt:lpstr>
      <vt:lpstr>Continued</vt:lpstr>
      <vt:lpstr>Blood groups and transfusions </vt:lpstr>
      <vt:lpstr>Continued. </vt:lpstr>
      <vt:lpstr>Cardiovascular Disease </vt:lpstr>
      <vt:lpstr>Hypertension </vt:lpstr>
      <vt:lpstr>PowerPoint Presentation</vt:lpstr>
      <vt:lpstr>Atherosclerosis </vt:lpstr>
      <vt:lpstr>PowerPoint Presentation</vt:lpstr>
      <vt:lpstr>Coronary Heart Disease </vt:lpstr>
      <vt:lpstr>Angina </vt:lpstr>
      <vt:lpstr>Heart attack </vt:lpstr>
      <vt:lpstr>PowerPoint Presentation</vt:lpstr>
      <vt:lpstr>Continued. </vt:lpstr>
      <vt:lpstr>Stroke </vt:lpstr>
      <vt:lpstr>PowerPoint Presentation</vt:lpstr>
      <vt:lpstr>Peripheral Vascular Disease </vt:lpstr>
      <vt:lpstr>PowerPoint Presentation</vt:lpstr>
      <vt:lpstr>Factors influencing cardiovascular disease </vt:lpstr>
      <vt:lpstr>How to reduce the risk of cardiovascular disease </vt:lpstr>
      <vt:lpstr>REVIEW QUESTIONS </vt:lpstr>
      <vt:lpstr>FOR YOU TO COMPLETE </vt:lpstr>
      <vt:lpstr>FOR YOU TO COMPLETE </vt:lpstr>
      <vt:lpstr>FOR YOU TO COMPLETE </vt:lpstr>
      <vt:lpstr>FOR YOU TO COMPLETE </vt:lpstr>
      <vt:lpstr>FOR YOU TO COMPLETE </vt:lpstr>
      <vt:lpstr>FOR YOU TO COMPLETE </vt:lpstr>
      <vt:lpstr>FOR YOU TO COMPLETE </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Circulatory System </dc:title>
  <dc:creator>DOOMEN Lisa [Gilmore College]</dc:creator>
  <cp:lastModifiedBy>DOOMEN Lisa [Gilmore College]</cp:lastModifiedBy>
  <cp:revision>55</cp:revision>
  <dcterms:created xsi:type="dcterms:W3CDTF">2020-03-16T01:10:25Z</dcterms:created>
  <dcterms:modified xsi:type="dcterms:W3CDTF">2020-04-01T02:09:04Z</dcterms:modified>
</cp:coreProperties>
</file>