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
  </p:notesMasterIdLst>
  <p:sldIdLst>
    <p:sldId id="261" r:id="rId2"/>
    <p:sldId id="257" r:id="rId3"/>
    <p:sldId id="260" r:id="rId4"/>
    <p:sldId id="258" r:id="rId5"/>
    <p:sldId id="266" r:id="rId6"/>
    <p:sldId id="267" r:id="rId7"/>
    <p:sldId id="268" r:id="rId8"/>
    <p:sldId id="273" r:id="rId9"/>
    <p:sldId id="275" r:id="rId10"/>
    <p:sldId id="274" r:id="rId11"/>
    <p:sldId id="282" r:id="rId12"/>
    <p:sldId id="277" r:id="rId13"/>
    <p:sldId id="279" r:id="rId14"/>
    <p:sldId id="280"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293632-B624-4AF5-95C6-214F1B5FD689}" v="20" dt="2024-07-18T01:58:37.9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150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PER Sarina [Southern River College]" userId="7f2b4663-0468-4605-9163-1ba4158276d8" providerId="ADAL" clId="{AD293632-B624-4AF5-95C6-214F1B5FD689}"/>
    <pc:docChg chg="custSel delSld modSld">
      <pc:chgData name="COOPER Sarina [Southern River College]" userId="7f2b4663-0468-4605-9163-1ba4158276d8" providerId="ADAL" clId="{AD293632-B624-4AF5-95C6-214F1B5FD689}" dt="2024-07-18T01:59:36.417" v="84" actId="20577"/>
      <pc:docMkLst>
        <pc:docMk/>
      </pc:docMkLst>
      <pc:sldChg chg="modSp mod">
        <pc:chgData name="COOPER Sarina [Southern River College]" userId="7f2b4663-0468-4605-9163-1ba4158276d8" providerId="ADAL" clId="{AD293632-B624-4AF5-95C6-214F1B5FD689}" dt="2024-07-18T00:34:07.416" v="3" actId="1076"/>
        <pc:sldMkLst>
          <pc:docMk/>
          <pc:sldMk cId="589363462" sldId="257"/>
        </pc:sldMkLst>
        <pc:spChg chg="mod">
          <ac:chgData name="COOPER Sarina [Southern River College]" userId="7f2b4663-0468-4605-9163-1ba4158276d8" providerId="ADAL" clId="{AD293632-B624-4AF5-95C6-214F1B5FD689}" dt="2024-07-18T00:34:07.416" v="3" actId="1076"/>
          <ac:spMkLst>
            <pc:docMk/>
            <pc:sldMk cId="589363462" sldId="257"/>
            <ac:spMk id="3" creationId="{00000000-0000-0000-0000-000000000000}"/>
          </ac:spMkLst>
        </pc:spChg>
      </pc:sldChg>
      <pc:sldChg chg="modSp mod">
        <pc:chgData name="COOPER Sarina [Southern River College]" userId="7f2b4663-0468-4605-9163-1ba4158276d8" providerId="ADAL" clId="{AD293632-B624-4AF5-95C6-214F1B5FD689}" dt="2024-07-18T00:34:15.384" v="6" actId="6549"/>
        <pc:sldMkLst>
          <pc:docMk/>
          <pc:sldMk cId="2060414131" sldId="258"/>
        </pc:sldMkLst>
        <pc:spChg chg="mod">
          <ac:chgData name="COOPER Sarina [Southern River College]" userId="7f2b4663-0468-4605-9163-1ba4158276d8" providerId="ADAL" clId="{AD293632-B624-4AF5-95C6-214F1B5FD689}" dt="2024-07-18T00:34:15.384" v="6" actId="6549"/>
          <ac:spMkLst>
            <pc:docMk/>
            <pc:sldMk cId="2060414131" sldId="258"/>
            <ac:spMk id="3" creationId="{00000000-0000-0000-0000-000000000000}"/>
          </ac:spMkLst>
        </pc:spChg>
      </pc:sldChg>
      <pc:sldChg chg="modSp mod">
        <pc:chgData name="COOPER Sarina [Southern River College]" userId="7f2b4663-0468-4605-9163-1ba4158276d8" providerId="ADAL" clId="{AD293632-B624-4AF5-95C6-214F1B5FD689}" dt="2024-07-18T00:36:14.510" v="35" actId="20577"/>
        <pc:sldMkLst>
          <pc:docMk/>
          <pc:sldMk cId="3301637796" sldId="261"/>
        </pc:sldMkLst>
        <pc:spChg chg="mod">
          <ac:chgData name="COOPER Sarina [Southern River College]" userId="7f2b4663-0468-4605-9163-1ba4158276d8" providerId="ADAL" clId="{AD293632-B624-4AF5-95C6-214F1B5FD689}" dt="2024-07-18T00:36:14.510" v="35" actId="20577"/>
          <ac:spMkLst>
            <pc:docMk/>
            <pc:sldMk cId="3301637796" sldId="261"/>
            <ac:spMk id="2" creationId="{00000000-0000-0000-0000-000000000000}"/>
          </ac:spMkLst>
        </pc:spChg>
      </pc:sldChg>
      <pc:sldChg chg="del">
        <pc:chgData name="COOPER Sarina [Southern River College]" userId="7f2b4663-0468-4605-9163-1ba4158276d8" providerId="ADAL" clId="{AD293632-B624-4AF5-95C6-214F1B5FD689}" dt="2024-07-18T00:34:20.460" v="7" actId="47"/>
        <pc:sldMkLst>
          <pc:docMk/>
          <pc:sldMk cId="2308732879" sldId="262"/>
        </pc:sldMkLst>
      </pc:sldChg>
      <pc:sldChg chg="del">
        <pc:chgData name="COOPER Sarina [Southern River College]" userId="7f2b4663-0468-4605-9163-1ba4158276d8" providerId="ADAL" clId="{AD293632-B624-4AF5-95C6-214F1B5FD689}" dt="2024-07-18T00:34:21.257" v="8" actId="47"/>
        <pc:sldMkLst>
          <pc:docMk/>
          <pc:sldMk cId="3963884018" sldId="263"/>
        </pc:sldMkLst>
      </pc:sldChg>
      <pc:sldChg chg="del">
        <pc:chgData name="COOPER Sarina [Southern River College]" userId="7f2b4663-0468-4605-9163-1ba4158276d8" providerId="ADAL" clId="{AD293632-B624-4AF5-95C6-214F1B5FD689}" dt="2024-07-18T00:34:24.759" v="12" actId="47"/>
        <pc:sldMkLst>
          <pc:docMk/>
          <pc:sldMk cId="24745828" sldId="264"/>
        </pc:sldMkLst>
      </pc:sldChg>
      <pc:sldChg chg="del">
        <pc:chgData name="COOPER Sarina [Southern River College]" userId="7f2b4663-0468-4605-9163-1ba4158276d8" providerId="ADAL" clId="{AD293632-B624-4AF5-95C6-214F1B5FD689}" dt="2024-07-18T00:34:22.160" v="9" actId="47"/>
        <pc:sldMkLst>
          <pc:docMk/>
          <pc:sldMk cId="451627612" sldId="265"/>
        </pc:sldMkLst>
      </pc:sldChg>
      <pc:sldChg chg="modSp mod">
        <pc:chgData name="COOPER Sarina [Southern River College]" userId="7f2b4663-0468-4605-9163-1ba4158276d8" providerId="ADAL" clId="{AD293632-B624-4AF5-95C6-214F1B5FD689}" dt="2024-07-18T01:59:36.417" v="84" actId="20577"/>
        <pc:sldMkLst>
          <pc:docMk/>
          <pc:sldMk cId="1457236098" sldId="268"/>
        </pc:sldMkLst>
        <pc:spChg chg="mod">
          <ac:chgData name="COOPER Sarina [Southern River College]" userId="7f2b4663-0468-4605-9163-1ba4158276d8" providerId="ADAL" clId="{AD293632-B624-4AF5-95C6-214F1B5FD689}" dt="2024-07-18T01:59:36.417" v="84" actId="20577"/>
          <ac:spMkLst>
            <pc:docMk/>
            <pc:sldMk cId="1457236098" sldId="268"/>
            <ac:spMk id="3" creationId="{F76AB026-40E9-41CC-8B22-A01ED64FA4DB}"/>
          </ac:spMkLst>
        </pc:spChg>
      </pc:sldChg>
      <pc:sldChg chg="del">
        <pc:chgData name="COOPER Sarina [Southern River College]" userId="7f2b4663-0468-4605-9163-1ba4158276d8" providerId="ADAL" clId="{AD293632-B624-4AF5-95C6-214F1B5FD689}" dt="2024-07-18T00:34:22.982" v="10" actId="47"/>
        <pc:sldMkLst>
          <pc:docMk/>
          <pc:sldMk cId="1215192175" sldId="269"/>
        </pc:sldMkLst>
      </pc:sldChg>
      <pc:sldChg chg="del">
        <pc:chgData name="COOPER Sarina [Southern River College]" userId="7f2b4663-0468-4605-9163-1ba4158276d8" providerId="ADAL" clId="{AD293632-B624-4AF5-95C6-214F1B5FD689}" dt="2024-07-18T00:34:23.751" v="11" actId="47"/>
        <pc:sldMkLst>
          <pc:docMk/>
          <pc:sldMk cId="1515959726" sldId="270"/>
        </pc:sldMkLst>
      </pc:sldChg>
      <pc:sldChg chg="del">
        <pc:chgData name="COOPER Sarina [Southern River College]" userId="7f2b4663-0468-4605-9163-1ba4158276d8" providerId="ADAL" clId="{AD293632-B624-4AF5-95C6-214F1B5FD689}" dt="2024-07-18T00:34:26.987" v="13" actId="47"/>
        <pc:sldMkLst>
          <pc:docMk/>
          <pc:sldMk cId="1126801152" sldId="271"/>
        </pc:sldMkLst>
      </pc:sldChg>
      <pc:sldChg chg="del">
        <pc:chgData name="COOPER Sarina [Southern River College]" userId="7f2b4663-0468-4605-9163-1ba4158276d8" providerId="ADAL" clId="{AD293632-B624-4AF5-95C6-214F1B5FD689}" dt="2024-07-18T00:34:27.985" v="14" actId="47"/>
        <pc:sldMkLst>
          <pc:docMk/>
          <pc:sldMk cId="1935430866" sldId="272"/>
        </pc:sldMkLst>
      </pc:sldChg>
      <pc:sldChg chg="modSp mod">
        <pc:chgData name="COOPER Sarina [Southern River College]" userId="7f2b4663-0468-4605-9163-1ba4158276d8" providerId="ADAL" clId="{AD293632-B624-4AF5-95C6-214F1B5FD689}" dt="2024-07-18T01:12:32.553" v="51" actId="20577"/>
        <pc:sldMkLst>
          <pc:docMk/>
          <pc:sldMk cId="2032426019" sldId="275"/>
        </pc:sldMkLst>
        <pc:spChg chg="mod">
          <ac:chgData name="COOPER Sarina [Southern River College]" userId="7f2b4663-0468-4605-9163-1ba4158276d8" providerId="ADAL" clId="{AD293632-B624-4AF5-95C6-214F1B5FD689}" dt="2024-07-18T01:12:32.553" v="51" actId="20577"/>
          <ac:spMkLst>
            <pc:docMk/>
            <pc:sldMk cId="2032426019" sldId="275"/>
            <ac:spMk id="3" creationId="{630F8DC9-261C-4273-BCF1-471E2C303009}"/>
          </ac:spMkLst>
        </pc:spChg>
      </pc:sldChg>
      <pc:sldChg chg="modSp mod">
        <pc:chgData name="COOPER Sarina [Southern River College]" userId="7f2b4663-0468-4605-9163-1ba4158276d8" providerId="ADAL" clId="{AD293632-B624-4AF5-95C6-214F1B5FD689}" dt="2024-07-18T01:58:37.950" v="70" actId="20577"/>
        <pc:sldMkLst>
          <pc:docMk/>
          <pc:sldMk cId="3226698979" sldId="282"/>
        </pc:sldMkLst>
        <pc:spChg chg="mod">
          <ac:chgData name="COOPER Sarina [Southern River College]" userId="7f2b4663-0468-4605-9163-1ba4158276d8" providerId="ADAL" clId="{AD293632-B624-4AF5-95C6-214F1B5FD689}" dt="2024-07-18T01:11:56.738" v="37" actId="20577"/>
          <ac:spMkLst>
            <pc:docMk/>
            <pc:sldMk cId="3226698979" sldId="282"/>
            <ac:spMk id="3" creationId="{A2E3FD29-F195-45D6-982A-4933ADF24B2C}"/>
          </ac:spMkLst>
        </pc:spChg>
        <pc:spChg chg="mod">
          <ac:chgData name="COOPER Sarina [Southern River College]" userId="7f2b4663-0468-4605-9163-1ba4158276d8" providerId="ADAL" clId="{AD293632-B624-4AF5-95C6-214F1B5FD689}" dt="2024-07-18T01:58:37.950" v="70" actId="20577"/>
          <ac:spMkLst>
            <pc:docMk/>
            <pc:sldMk cId="3226698979" sldId="282"/>
            <ac:spMk id="5" creationId="{03D546C6-3442-400E-892D-A36C3C25F66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BD2BA8-3D9B-49DC-98D1-98730BC9C18E}" type="datetimeFigureOut">
              <a:rPr lang="en-AU" smtClean="0"/>
              <a:t>18/07/2024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67A61-99AF-4B5E-AD34-71064BFCC3D7}" type="slidenum">
              <a:rPr lang="en-AU" smtClean="0"/>
              <a:t>‹#›</a:t>
            </a:fld>
            <a:endParaRPr lang="en-AU"/>
          </a:p>
        </p:txBody>
      </p:sp>
    </p:spTree>
    <p:extLst>
      <p:ext uri="{BB962C8B-B14F-4D97-AF65-F5344CB8AC3E}">
        <p14:creationId xmlns:p14="http://schemas.microsoft.com/office/powerpoint/2010/main" val="2878066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a:xfrm>
            <a:off x="3623733" y="6117336"/>
            <a:ext cx="3609438" cy="365125"/>
          </a:xfrm>
        </p:spPr>
        <p:txBody>
          <a:bodyPr/>
          <a:lstStyle/>
          <a:p>
            <a:endParaRPr lang="en-AU"/>
          </a:p>
        </p:txBody>
      </p:sp>
      <p:sp>
        <p:nvSpPr>
          <p:cNvPr id="6" name="Slide Number Placeholder 5"/>
          <p:cNvSpPr>
            <a:spLocks noGrp="1"/>
          </p:cNvSpPr>
          <p:nvPr>
            <p:ph type="sldNum" sz="quarter" idx="12"/>
          </p:nvPr>
        </p:nvSpPr>
        <p:spPr>
          <a:xfrm>
            <a:off x="8275320" y="6117336"/>
            <a:ext cx="411480" cy="365125"/>
          </a:xfrm>
        </p:spPr>
        <p:txBody>
          <a:bodyPr/>
          <a:lstStyle/>
          <a:p>
            <a:fld id="{76880F4B-5908-404D-A5BE-7A4C83FBD9D3}" type="slidenum">
              <a:rPr lang="en-AU" smtClean="0"/>
              <a:t>‹#›</a:t>
            </a:fld>
            <a:endParaRPr lang="en-AU"/>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2192391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a:xfrm>
            <a:off x="1972647" y="6108173"/>
            <a:ext cx="5314517" cy="365125"/>
          </a:xfrm>
        </p:spPr>
        <p:txBody>
          <a:bodyPr/>
          <a:lstStyle/>
          <a:p>
            <a:endParaRPr lang="en-AU"/>
          </a:p>
        </p:txBody>
      </p:sp>
      <p:sp>
        <p:nvSpPr>
          <p:cNvPr id="6" name="Slide Number Placeholder 5"/>
          <p:cNvSpPr>
            <a:spLocks noGrp="1"/>
          </p:cNvSpPr>
          <p:nvPr>
            <p:ph type="sldNum" sz="quarter" idx="12"/>
          </p:nvPr>
        </p:nvSpPr>
        <p:spPr>
          <a:xfrm>
            <a:off x="8258967" y="6108173"/>
            <a:ext cx="42783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205492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8273317" y="6116070"/>
            <a:ext cx="41348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750346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72779-29AB-4ECE-8EA0-D161D12BDB52}" type="datetimeFigureOut">
              <a:rPr lang="en-AU" smtClean="0"/>
              <a:t>18/07/2024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89454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C72779-29AB-4ECE-8EA0-D161D12BDB52}" type="datetimeFigureOut">
              <a:rPr lang="en-AU" smtClean="0"/>
              <a:t>18/07/2024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537224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C72779-29AB-4ECE-8EA0-D161D12BDB52}" type="datetimeFigureOut">
              <a:rPr lang="en-AU" smtClean="0"/>
              <a:t>18/07/2024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660600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72779-29AB-4ECE-8EA0-D161D12BDB52}" type="datetimeFigureOut">
              <a:rPr lang="en-AU" smtClean="0"/>
              <a:t>18/07/2024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13332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18/07/2024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052866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18/07/2024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310301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18/07/2024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497300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620675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378609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991791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106558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756379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564672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418027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C72779-29AB-4ECE-8EA0-D161D12BDB52}" type="datetimeFigureOut">
              <a:rPr lang="en-AU" smtClean="0"/>
              <a:t>18/07/2024</a:t>
            </a:fld>
            <a:endParaRPr lang="en-AU"/>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6880F4B-5908-404D-A5BE-7A4C83FBD9D3}" type="slidenum">
              <a:rPr lang="en-AU" smtClean="0"/>
              <a:t>‹#›</a:t>
            </a:fld>
            <a:endParaRPr lang="en-AU"/>
          </a:p>
        </p:txBody>
      </p:sp>
    </p:spTree>
    <p:extLst>
      <p:ext uri="{BB962C8B-B14F-4D97-AF65-F5344CB8AC3E}">
        <p14:creationId xmlns:p14="http://schemas.microsoft.com/office/powerpoint/2010/main" val="304419008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0657" r="15222" b="-2"/>
          <a:stretch/>
        </p:blipFill>
        <p:spPr>
          <a:xfrm>
            <a:off x="20" y="10"/>
            <a:ext cx="4086205" cy="6857990"/>
          </a:xfrm>
          <a:prstGeom prst="rect">
            <a:avLst/>
          </a:prstGeom>
        </p:spPr>
      </p:pic>
      <p:grpSp>
        <p:nvGrpSpPr>
          <p:cNvPr id="24" name="Group 11"/>
          <p:cNvGrpSpPr>
            <a:grpSpLocks noGrp="1" noUngrp="1" noRot="1" noChangeAspect="1" noMove="1" noResize="1"/>
          </p:cNvGrpSpPr>
          <p:nvPr>
            <p:extLst>
              <p:ext uri="{386F3935-93C4-4BCD-93E2-E3B085C9AB24}">
                <p16:designElem xmlns:p16="http://schemas.microsoft.com/office/powerpoint/2015/main" val="1"/>
              </p:ext>
            </p:extLst>
          </p:nvPr>
        </p:nvGrpSpPr>
        <p:grpSpPr>
          <a:xfrm>
            <a:off x="2127539" y="0"/>
            <a:ext cx="1958686" cy="6858000"/>
            <a:chOff x="2836718" y="0"/>
            <a:chExt cx="2611581" cy="6858000"/>
          </a:xfrm>
        </p:grpSpPr>
        <p:sp useBgFill="1">
          <p:nvSpPr>
            <p:cNvPr id="13" name="Rectangle 19"/>
            <p:cNvSpPr/>
            <p:nvPr>
              <p:extLst>
                <p:ext uri="{386F3935-93C4-4BCD-93E2-E3B085C9AB24}">
                  <p16:designElem xmlns:p16="http://schemas.microsoft.com/office/powerpoint/2015/main" val="1"/>
                </p:ext>
              </p:extLst>
            </p:nvPr>
          </p:nvSpPr>
          <p:spPr>
            <a:xfrm>
              <a:off x="2836718" y="0"/>
              <a:ext cx="2611581" cy="2554287"/>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2554287">
                  <a:moveTo>
                    <a:pt x="675409" y="0"/>
                  </a:moveTo>
                  <a:lnTo>
                    <a:pt x="2611581" y="0"/>
                  </a:lnTo>
                  <a:lnTo>
                    <a:pt x="2611581" y="2554287"/>
                  </a:lnTo>
                  <a:lnTo>
                    <a:pt x="0" y="2554287"/>
                  </a:lnTo>
                  <a:lnTo>
                    <a:pt x="67540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0"/>
            <p:cNvSpPr/>
            <p:nvPr>
              <p:extLst>
                <p:ext uri="{386F3935-93C4-4BCD-93E2-E3B085C9AB24}">
                  <p16:designElem xmlns:p16="http://schemas.microsoft.com/office/powerpoint/2015/main" val="1"/>
                </p:ext>
              </p:extLst>
            </p:nvPr>
          </p:nvSpPr>
          <p:spPr>
            <a:xfrm>
              <a:off x="2836718" y="2554287"/>
              <a:ext cx="2611581" cy="4303713"/>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4303713">
                  <a:moveTo>
                    <a:pt x="0" y="0"/>
                  </a:moveTo>
                  <a:lnTo>
                    <a:pt x="2611581" y="0"/>
                  </a:lnTo>
                  <a:lnTo>
                    <a:pt x="2611581" y="4303713"/>
                  </a:lnTo>
                  <a:lnTo>
                    <a:pt x="2171701" y="363869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17" name="Freeform 6"/>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8" name="Freeform 7"/>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9" name="Freeform 9"/>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0" name="Freeform 10"/>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1" name="Freeform 11"/>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516697" y="1912690"/>
            <a:ext cx="6627303" cy="1954634"/>
          </a:xfrm>
        </p:spPr>
        <p:txBody>
          <a:bodyPr>
            <a:normAutofit/>
          </a:bodyPr>
          <a:lstStyle/>
          <a:p>
            <a:pPr algn="ctr"/>
            <a:r>
              <a:rPr lang="en-AU" dirty="0">
                <a:solidFill>
                  <a:schemeClr val="accent3">
                    <a:lumMod val="10000"/>
                  </a:schemeClr>
                </a:solidFill>
              </a:rPr>
              <a:t>Atomic Energy </a:t>
            </a:r>
            <a:br>
              <a:rPr lang="en-AU" dirty="0">
                <a:solidFill>
                  <a:schemeClr val="accent3">
                    <a:lumMod val="10000"/>
                  </a:schemeClr>
                </a:solidFill>
              </a:rPr>
            </a:br>
            <a:r>
              <a:rPr lang="en-AU" dirty="0">
                <a:solidFill>
                  <a:schemeClr val="accent3">
                    <a:lumMod val="10000"/>
                  </a:schemeClr>
                </a:solidFill>
              </a:rPr>
              <a:t>Levels</a:t>
            </a:r>
          </a:p>
        </p:txBody>
      </p:sp>
    </p:spTree>
    <p:extLst>
      <p:ext uri="{BB962C8B-B14F-4D97-AF65-F5344CB8AC3E}">
        <p14:creationId xmlns:p14="http://schemas.microsoft.com/office/powerpoint/2010/main" val="330163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734036"/>
          </a:xfrm>
        </p:spPr>
        <p:txBody>
          <a:bodyPr/>
          <a:lstStyle/>
          <a:p>
            <a:r>
              <a:rPr lang="en-AU" dirty="0">
                <a:solidFill>
                  <a:schemeClr val="accent3">
                    <a:lumMod val="10000"/>
                  </a:schemeClr>
                </a:solidFill>
              </a:rPr>
              <a:t>Key Objectives</a:t>
            </a:r>
          </a:p>
        </p:txBody>
      </p:sp>
      <p:sp>
        <p:nvSpPr>
          <p:cNvPr id="3" name="Content Placeholder 2"/>
          <p:cNvSpPr>
            <a:spLocks noGrp="1"/>
          </p:cNvSpPr>
          <p:nvPr>
            <p:ph idx="1"/>
          </p:nvPr>
        </p:nvSpPr>
        <p:spPr>
          <a:xfrm>
            <a:off x="982133" y="1433946"/>
            <a:ext cx="7843085" cy="3612890"/>
          </a:xfrm>
        </p:spPr>
        <p:txBody>
          <a:bodyPr>
            <a:normAutofit/>
          </a:bodyPr>
          <a:lstStyle/>
          <a:p>
            <a:r>
              <a:rPr lang="en-AU" dirty="0">
                <a:solidFill>
                  <a:schemeClr val="accent5">
                    <a:lumMod val="10000"/>
                  </a:schemeClr>
                </a:solidFill>
              </a:rPr>
              <a:t>The Bohr model of the hydrogen atom integrates light quanta and atomic energy states to explain the specific wavelengths in the hydrogen spectrum and in the spectra of other simple atoms; the Bohr model enables line spectra to be correlated with atomic energy-level diagrams </a:t>
            </a:r>
          </a:p>
        </p:txBody>
      </p:sp>
    </p:spTree>
    <p:extLst>
      <p:ext uri="{BB962C8B-B14F-4D97-AF65-F5344CB8AC3E}">
        <p14:creationId xmlns:p14="http://schemas.microsoft.com/office/powerpoint/2010/main" val="58936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chemeClr val="accent5">
                    <a:lumMod val="10000"/>
                  </a:schemeClr>
                </a:solidFill>
              </a:rPr>
              <a:t>Relevant Equations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1118" y="2054603"/>
                <a:ext cx="8330269" cy="235800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AU" b="0" i="1" smtClean="0">
                          <a:solidFill>
                            <a:schemeClr val="accent5">
                              <a:lumMod val="10000"/>
                            </a:schemeClr>
                          </a:solidFill>
                          <a:latin typeface="Cambria Math" panose="02040503050406030204" pitchFamily="18" charset="0"/>
                          <a:ea typeface="Cambria Math" panose="02040503050406030204" pitchFamily="18" charset="0"/>
                        </a:rPr>
                        <m:t>∆</m:t>
                      </m:r>
                      <m:r>
                        <a:rPr lang="en-AU" b="0" i="1" smtClean="0">
                          <a:solidFill>
                            <a:schemeClr val="accent5">
                              <a:lumMod val="10000"/>
                            </a:schemeClr>
                          </a:solidFill>
                          <a:latin typeface="Cambria Math" panose="02040503050406030204" pitchFamily="18" charset="0"/>
                          <a:ea typeface="Cambria Math" panose="02040503050406030204" pitchFamily="18" charset="0"/>
                        </a:rPr>
                        <m:t>𝐸</m:t>
                      </m:r>
                      <m:r>
                        <a:rPr lang="en-AU" b="0" i="1" smtClean="0">
                          <a:solidFill>
                            <a:schemeClr val="accent5">
                              <a:lumMod val="10000"/>
                            </a:schemeClr>
                          </a:solidFill>
                          <a:latin typeface="Cambria Math" panose="02040503050406030204" pitchFamily="18" charset="0"/>
                          <a:ea typeface="Cambria Math" panose="02040503050406030204" pitchFamily="18" charset="0"/>
                        </a:rPr>
                        <m:t>=</m:t>
                      </m:r>
                      <m:r>
                        <a:rPr lang="en-AU" b="0" i="1" smtClean="0">
                          <a:solidFill>
                            <a:schemeClr val="accent5">
                              <a:lumMod val="10000"/>
                            </a:schemeClr>
                          </a:solidFill>
                          <a:latin typeface="Cambria Math" panose="02040503050406030204" pitchFamily="18" charset="0"/>
                          <a:ea typeface="Cambria Math" panose="02040503050406030204" pitchFamily="18" charset="0"/>
                        </a:rPr>
                        <m:t>h𝑓</m:t>
                      </m:r>
                    </m:oMath>
                  </m:oMathPara>
                </a14:m>
                <a:endParaRPr lang="en-AU" dirty="0">
                  <a:solidFill>
                    <a:schemeClr val="accent5">
                      <a:lumMod val="10000"/>
                    </a:schemeClr>
                  </a:solidFill>
                </a:endParaRPr>
              </a:p>
              <a:p>
                <a:pPr marL="0" indent="0">
                  <a:buNone/>
                </a:pPr>
                <a:endParaRPr lang="en-AU" dirty="0">
                  <a:solidFill>
                    <a:schemeClr val="accent5">
                      <a:lumMod val="10000"/>
                    </a:schemeClr>
                  </a:solidFill>
                </a:endParaRPr>
              </a:p>
              <a:p>
                <a:pPr marL="0" indent="0">
                  <a:buNone/>
                </a:pPr>
                <a14:m>
                  <m:oMathPara xmlns:m="http://schemas.openxmlformats.org/officeDocument/2006/math">
                    <m:oMathParaPr>
                      <m:jc m:val="centerGroup"/>
                    </m:oMathParaPr>
                    <m:oMath xmlns:m="http://schemas.openxmlformats.org/officeDocument/2006/math">
                      <m:sSub>
                        <m:sSubPr>
                          <m:ctrlPr>
                            <a:rPr lang="en-AU" b="0" i="1" smtClean="0">
                              <a:solidFill>
                                <a:schemeClr val="accent5">
                                  <a:lumMod val="10000"/>
                                </a:schemeClr>
                              </a:solidFill>
                              <a:latin typeface="Cambria Math" panose="02040503050406030204" pitchFamily="18" charset="0"/>
                            </a:rPr>
                          </m:ctrlPr>
                        </m:sSubPr>
                        <m:e>
                          <m:r>
                            <a:rPr lang="en-AU" b="0" i="1" smtClean="0">
                              <a:solidFill>
                                <a:schemeClr val="accent5">
                                  <a:lumMod val="10000"/>
                                </a:schemeClr>
                              </a:solidFill>
                              <a:latin typeface="Cambria Math" panose="02040503050406030204" pitchFamily="18" charset="0"/>
                            </a:rPr>
                            <m:t>𝐸</m:t>
                          </m:r>
                        </m:e>
                        <m:sub>
                          <m:r>
                            <a:rPr lang="en-AU" b="0" i="1" smtClean="0">
                              <a:solidFill>
                                <a:schemeClr val="accent5">
                                  <a:lumMod val="10000"/>
                                </a:schemeClr>
                              </a:solidFill>
                              <a:latin typeface="Cambria Math" panose="02040503050406030204" pitchFamily="18" charset="0"/>
                            </a:rPr>
                            <m:t>2</m:t>
                          </m:r>
                        </m:sub>
                      </m:sSub>
                      <m:r>
                        <a:rPr lang="en-AU" b="0" i="1" smtClean="0">
                          <a:solidFill>
                            <a:schemeClr val="accent5">
                              <a:lumMod val="10000"/>
                            </a:schemeClr>
                          </a:solidFill>
                          <a:latin typeface="Cambria Math" panose="02040503050406030204" pitchFamily="18" charset="0"/>
                        </a:rPr>
                        <m:t>−</m:t>
                      </m:r>
                      <m:sSub>
                        <m:sSubPr>
                          <m:ctrlPr>
                            <a:rPr lang="en-AU" b="0" i="1" smtClean="0">
                              <a:solidFill>
                                <a:schemeClr val="accent5">
                                  <a:lumMod val="10000"/>
                                </a:schemeClr>
                              </a:solidFill>
                              <a:latin typeface="Cambria Math" panose="02040503050406030204" pitchFamily="18" charset="0"/>
                            </a:rPr>
                          </m:ctrlPr>
                        </m:sSubPr>
                        <m:e>
                          <m:r>
                            <a:rPr lang="en-AU" b="0" i="1" smtClean="0">
                              <a:solidFill>
                                <a:schemeClr val="accent5">
                                  <a:lumMod val="10000"/>
                                </a:schemeClr>
                              </a:solidFill>
                              <a:latin typeface="Cambria Math" panose="02040503050406030204" pitchFamily="18" charset="0"/>
                            </a:rPr>
                            <m:t>𝐸</m:t>
                          </m:r>
                        </m:e>
                        <m:sub>
                          <m:r>
                            <a:rPr lang="en-AU" b="0" i="1" smtClean="0">
                              <a:solidFill>
                                <a:schemeClr val="accent5">
                                  <a:lumMod val="10000"/>
                                </a:schemeClr>
                              </a:solidFill>
                              <a:latin typeface="Cambria Math" panose="02040503050406030204" pitchFamily="18" charset="0"/>
                            </a:rPr>
                            <m:t>1</m:t>
                          </m:r>
                        </m:sub>
                      </m:sSub>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h𝑓</m:t>
                      </m:r>
                    </m:oMath>
                  </m:oMathPara>
                </a14:m>
                <a:endParaRPr lang="en-AU" dirty="0">
                  <a:solidFill>
                    <a:schemeClr val="accent5">
                      <a:lumMod val="10000"/>
                    </a:schemeClr>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1118" y="2054603"/>
                <a:ext cx="8330269" cy="2358005"/>
              </a:xfr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1427585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77316"/>
          </a:xfrm>
        </p:spPr>
        <p:txBody>
          <a:bodyPr/>
          <a:lstStyle/>
          <a:p>
            <a:r>
              <a:rPr lang="en-AU" dirty="0">
                <a:solidFill>
                  <a:schemeClr val="accent3">
                    <a:lumMod val="10000"/>
                  </a:schemeClr>
                </a:solidFill>
              </a:rPr>
              <a:t>Text References</a:t>
            </a:r>
          </a:p>
        </p:txBody>
      </p:sp>
      <p:sp>
        <p:nvSpPr>
          <p:cNvPr id="3" name="Content Placeholder 2"/>
          <p:cNvSpPr>
            <a:spLocks noGrp="1"/>
          </p:cNvSpPr>
          <p:nvPr>
            <p:ph idx="1"/>
          </p:nvPr>
        </p:nvSpPr>
        <p:spPr>
          <a:xfrm>
            <a:off x="1040856" y="1911991"/>
            <a:ext cx="7704667" cy="3332816"/>
          </a:xfrm>
        </p:spPr>
        <p:txBody>
          <a:bodyPr>
            <a:normAutofit/>
          </a:bodyPr>
          <a:lstStyle/>
          <a:p>
            <a:r>
              <a:rPr lang="en-AU" sz="2800" dirty="0">
                <a:solidFill>
                  <a:schemeClr val="accent3">
                    <a:lumMod val="10000"/>
                  </a:schemeClr>
                </a:solidFill>
              </a:rPr>
              <a:t>STAWA </a:t>
            </a:r>
            <a:r>
              <a:rPr lang="en-AU" sz="2400" dirty="0">
                <a:solidFill>
                  <a:schemeClr val="accent3">
                    <a:lumMod val="10000"/>
                  </a:schemeClr>
                </a:solidFill>
              </a:rPr>
              <a:t>Set 13</a:t>
            </a:r>
          </a:p>
          <a:p>
            <a:pPr marL="0" indent="0">
              <a:buNone/>
            </a:pPr>
            <a:endParaRPr lang="en-AU" sz="2800" dirty="0">
              <a:solidFill>
                <a:schemeClr val="accent3">
                  <a:lumMod val="10000"/>
                </a:schemeClr>
              </a:solidFill>
            </a:endParaRPr>
          </a:p>
        </p:txBody>
      </p:sp>
    </p:spTree>
    <p:extLst>
      <p:ext uri="{BB962C8B-B14F-4D97-AF65-F5344CB8AC3E}">
        <p14:creationId xmlns:p14="http://schemas.microsoft.com/office/powerpoint/2010/main" val="2060414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6B6A2-2F80-46B7-A048-71CABB0DF17B}"/>
              </a:ext>
            </a:extLst>
          </p:cNvPr>
          <p:cNvSpPr>
            <a:spLocks noGrp="1"/>
          </p:cNvSpPr>
          <p:nvPr>
            <p:ph type="title"/>
          </p:nvPr>
        </p:nvSpPr>
        <p:spPr>
          <a:xfrm>
            <a:off x="964378" y="288525"/>
            <a:ext cx="7704667" cy="865572"/>
          </a:xfrm>
        </p:spPr>
        <p:txBody>
          <a:bodyPr/>
          <a:lstStyle/>
          <a:p>
            <a:r>
              <a:rPr lang="en-AU" dirty="0">
                <a:solidFill>
                  <a:schemeClr val="accent5">
                    <a:lumMod val="10000"/>
                  </a:schemeClr>
                </a:solidFill>
              </a:rPr>
              <a:t>Bohr’s model of the atom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E3329F-10FE-4BD3-B13A-2B78CE523F49}"/>
                  </a:ext>
                </a:extLst>
              </p:cNvPr>
              <p:cNvSpPr>
                <a:spLocks noGrp="1"/>
              </p:cNvSpPr>
              <p:nvPr>
                <p:ph idx="1"/>
              </p:nvPr>
            </p:nvSpPr>
            <p:spPr>
              <a:xfrm>
                <a:off x="982134" y="1056443"/>
                <a:ext cx="5667242" cy="5584053"/>
              </a:xfrm>
            </p:spPr>
            <p:txBody>
              <a:bodyPr>
                <a:normAutofit/>
              </a:bodyPr>
              <a:lstStyle/>
              <a:p>
                <a:r>
                  <a:rPr lang="en-AU" dirty="0">
                    <a:solidFill>
                      <a:schemeClr val="accent5">
                        <a:lumMod val="10000"/>
                      </a:schemeClr>
                    </a:solidFill>
                  </a:rPr>
                  <a:t>In Bohr’s model electrons can only orbit in stable shells (energy levels).</a:t>
                </a:r>
              </a:p>
              <a:p>
                <a:r>
                  <a:rPr lang="en-AU" dirty="0">
                    <a:solidFill>
                      <a:schemeClr val="accent5">
                        <a:lumMod val="10000"/>
                      </a:schemeClr>
                    </a:solidFill>
                  </a:rPr>
                  <a:t>Electrons can move between the shells but they require energy to reach higher energy levels.</a:t>
                </a:r>
              </a:p>
              <a:p>
                <a:r>
                  <a:rPr lang="en-AU" dirty="0">
                    <a:solidFill>
                      <a:schemeClr val="accent5">
                        <a:lumMod val="10000"/>
                      </a:schemeClr>
                    </a:solidFill>
                  </a:rPr>
                  <a:t>When moving in stable orbits electrons do not radiate energy.  Energy is only radiated/absorbed when an electron jumps between the stable orbits.</a:t>
                </a:r>
              </a:p>
              <a:p>
                <a:pPr marL="0" indent="0">
                  <a:buNone/>
                </a:pPr>
                <a14:m>
                  <m:oMathPara xmlns:m="http://schemas.openxmlformats.org/officeDocument/2006/math">
                    <m:oMathParaPr>
                      <m:jc m:val="centerGroup"/>
                    </m:oMathParaPr>
                    <m:oMath xmlns:m="http://schemas.openxmlformats.org/officeDocument/2006/math">
                      <m:sSub>
                        <m:sSubPr>
                          <m:ctrlPr>
                            <a:rPr lang="en-AU" i="1">
                              <a:solidFill>
                                <a:schemeClr val="accent5">
                                  <a:lumMod val="10000"/>
                                </a:schemeClr>
                              </a:solidFill>
                              <a:latin typeface="Cambria Math" panose="02040503050406030204" pitchFamily="18" charset="0"/>
                            </a:rPr>
                          </m:ctrlPr>
                        </m:sSubPr>
                        <m:e>
                          <m:r>
                            <a:rPr lang="en-AU" i="1">
                              <a:solidFill>
                                <a:schemeClr val="accent5">
                                  <a:lumMod val="10000"/>
                                </a:schemeClr>
                              </a:solidFill>
                              <a:latin typeface="Cambria Math" panose="02040503050406030204" pitchFamily="18" charset="0"/>
                            </a:rPr>
                            <m:t>𝐸</m:t>
                          </m:r>
                        </m:e>
                        <m:sub>
                          <m:r>
                            <a:rPr lang="en-AU" i="1">
                              <a:solidFill>
                                <a:schemeClr val="accent5">
                                  <a:lumMod val="10000"/>
                                </a:schemeClr>
                              </a:solidFill>
                              <a:latin typeface="Cambria Math" panose="02040503050406030204" pitchFamily="18" charset="0"/>
                            </a:rPr>
                            <m:t>2</m:t>
                          </m:r>
                        </m:sub>
                      </m:sSub>
                      <m:r>
                        <a:rPr lang="en-AU" i="1">
                          <a:solidFill>
                            <a:schemeClr val="accent5">
                              <a:lumMod val="10000"/>
                            </a:schemeClr>
                          </a:solidFill>
                          <a:latin typeface="Cambria Math" panose="02040503050406030204" pitchFamily="18" charset="0"/>
                        </a:rPr>
                        <m:t>−</m:t>
                      </m:r>
                      <m:sSub>
                        <m:sSubPr>
                          <m:ctrlPr>
                            <a:rPr lang="en-AU" i="1">
                              <a:solidFill>
                                <a:schemeClr val="accent5">
                                  <a:lumMod val="10000"/>
                                </a:schemeClr>
                              </a:solidFill>
                              <a:latin typeface="Cambria Math" panose="02040503050406030204" pitchFamily="18" charset="0"/>
                            </a:rPr>
                          </m:ctrlPr>
                        </m:sSubPr>
                        <m:e>
                          <m:r>
                            <a:rPr lang="en-AU" i="1">
                              <a:solidFill>
                                <a:schemeClr val="accent5">
                                  <a:lumMod val="10000"/>
                                </a:schemeClr>
                              </a:solidFill>
                              <a:latin typeface="Cambria Math" panose="02040503050406030204" pitchFamily="18" charset="0"/>
                            </a:rPr>
                            <m:t>𝐸</m:t>
                          </m:r>
                        </m:e>
                        <m:sub>
                          <m:r>
                            <a:rPr lang="en-AU" i="1">
                              <a:solidFill>
                                <a:schemeClr val="accent5">
                                  <a:lumMod val="10000"/>
                                </a:schemeClr>
                              </a:solidFill>
                              <a:latin typeface="Cambria Math" panose="02040503050406030204" pitchFamily="18" charset="0"/>
                            </a:rPr>
                            <m:t>1</m:t>
                          </m:r>
                        </m:sub>
                      </m:sSub>
                      <m:r>
                        <a:rPr lang="en-AU" i="1">
                          <a:solidFill>
                            <a:schemeClr val="accent5">
                              <a:lumMod val="10000"/>
                            </a:schemeClr>
                          </a:solidFill>
                          <a:latin typeface="Cambria Math" panose="02040503050406030204" pitchFamily="18" charset="0"/>
                        </a:rPr>
                        <m:t>=</m:t>
                      </m:r>
                      <m:r>
                        <a:rPr lang="en-AU" i="1">
                          <a:solidFill>
                            <a:schemeClr val="accent5">
                              <a:lumMod val="10000"/>
                            </a:schemeClr>
                          </a:solidFill>
                          <a:latin typeface="Cambria Math" panose="02040503050406030204" pitchFamily="18" charset="0"/>
                        </a:rPr>
                        <m:t>h𝑓</m:t>
                      </m:r>
                    </m:oMath>
                  </m:oMathPara>
                </a14:m>
                <a:endParaRPr lang="en-AU" dirty="0">
                  <a:solidFill>
                    <a:schemeClr val="accent5">
                      <a:lumMod val="10000"/>
                    </a:schemeClr>
                  </a:solidFill>
                </a:endParaRPr>
              </a:p>
              <a:p>
                <a:r>
                  <a:rPr lang="en-AU" dirty="0">
                    <a:solidFill>
                      <a:schemeClr val="accent5">
                        <a:lumMod val="10000"/>
                      </a:schemeClr>
                    </a:solidFill>
                  </a:rPr>
                  <a:t>In physics we use energy level diagrams to show the energy difference between the shells.</a:t>
                </a:r>
              </a:p>
            </p:txBody>
          </p:sp>
        </mc:Choice>
        <mc:Fallback xmlns="">
          <p:sp>
            <p:nvSpPr>
              <p:cNvPr id="3" name="Content Placeholder 2">
                <a:extLst>
                  <a:ext uri="{FF2B5EF4-FFF2-40B4-BE49-F238E27FC236}">
                    <a16:creationId xmlns:a16="http://schemas.microsoft.com/office/drawing/2014/main" id="{1BE3329F-10FE-4BD3-B13A-2B78CE523F49}"/>
                  </a:ext>
                </a:extLst>
              </p:cNvPr>
              <p:cNvSpPr>
                <a:spLocks noGrp="1" noRot="1" noChangeAspect="1" noMove="1" noResize="1" noEditPoints="1" noAdjustHandles="1" noChangeArrowheads="1" noChangeShapeType="1" noTextEdit="1"/>
              </p:cNvSpPr>
              <p:nvPr>
                <p:ph idx="1"/>
              </p:nvPr>
            </p:nvSpPr>
            <p:spPr>
              <a:xfrm>
                <a:off x="982134" y="1056443"/>
                <a:ext cx="5667242" cy="5584053"/>
              </a:xfrm>
              <a:blipFill>
                <a:blip r:embed="rId2"/>
                <a:stretch>
                  <a:fillRect l="-2688" t="-1419" b="-655"/>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1E14F058-17D4-4F1A-BC26-12CD925CB6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5839" y="4026254"/>
            <a:ext cx="2362200" cy="2409825"/>
          </a:xfrm>
          <a:prstGeom prst="rect">
            <a:avLst/>
          </a:prstGeom>
        </p:spPr>
      </p:pic>
    </p:spTree>
    <p:extLst>
      <p:ext uri="{BB962C8B-B14F-4D97-AF65-F5344CB8AC3E}">
        <p14:creationId xmlns:p14="http://schemas.microsoft.com/office/powerpoint/2010/main" val="2240277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634243-7E90-47A8-9BFB-BAA7F9EA51F9}"/>
                  </a:ext>
                </a:extLst>
              </p:cNvPr>
              <p:cNvSpPr>
                <a:spLocks noGrp="1"/>
              </p:cNvSpPr>
              <p:nvPr>
                <p:ph idx="1"/>
              </p:nvPr>
            </p:nvSpPr>
            <p:spPr>
              <a:xfrm>
                <a:off x="941033" y="101355"/>
                <a:ext cx="7976587" cy="4000128"/>
              </a:xfrm>
            </p:spPr>
            <p:txBody>
              <a:bodyPr>
                <a:normAutofit fontScale="92500" lnSpcReduction="10000"/>
              </a:bodyPr>
              <a:lstStyle/>
              <a:p>
                <a:r>
                  <a:rPr lang="en-AU" dirty="0">
                    <a:solidFill>
                      <a:schemeClr val="accent5">
                        <a:lumMod val="10000"/>
                      </a:schemeClr>
                    </a:solidFill>
                  </a:rPr>
                  <a:t>n=1 is the closest shell to the nucleus and is also called the ground state.</a:t>
                </a:r>
              </a:p>
              <a:p>
                <a:r>
                  <a:rPr lang="en-AU" dirty="0">
                    <a:solidFill>
                      <a:schemeClr val="accent5">
                        <a:lumMod val="10000"/>
                      </a:schemeClr>
                    </a:solidFill>
                  </a:rPr>
                  <a:t>For hydrogen the energy level for </a:t>
                </a:r>
                <a14:m>
                  <m:oMath xmlns:m="http://schemas.openxmlformats.org/officeDocument/2006/math">
                    <m:r>
                      <m:rPr>
                        <m:sty m:val="p"/>
                      </m:rPr>
                      <a:rPr lang="en-AU" i="0" dirty="0" smtClean="0">
                        <a:solidFill>
                          <a:schemeClr val="accent5">
                            <a:lumMod val="10000"/>
                          </a:schemeClr>
                        </a:solidFill>
                        <a:latin typeface="Cambria Math" panose="02040503050406030204" pitchFamily="18" charset="0"/>
                      </a:rPr>
                      <m:t>n</m:t>
                    </m:r>
                    <m:r>
                      <a:rPr lang="en-AU" i="0" dirty="0" smtClean="0">
                        <a:solidFill>
                          <a:schemeClr val="accent5">
                            <a:lumMod val="10000"/>
                          </a:schemeClr>
                        </a:solidFill>
                        <a:latin typeface="Cambria Math" panose="02040503050406030204" pitchFamily="18" charset="0"/>
                      </a:rPr>
                      <m:t>=1 </m:t>
                    </m:r>
                  </m:oMath>
                </a14:m>
                <a:r>
                  <a:rPr lang="en-AU" dirty="0">
                    <a:solidFill>
                      <a:schemeClr val="accent5">
                        <a:lumMod val="10000"/>
                      </a:schemeClr>
                    </a:solidFill>
                  </a:rPr>
                  <a:t>is </a:t>
                </a:r>
                <a14:m>
                  <m:oMath xmlns:m="http://schemas.openxmlformats.org/officeDocument/2006/math">
                    <m:r>
                      <a:rPr lang="en-AU" i="0" dirty="0" smtClean="0">
                        <a:solidFill>
                          <a:schemeClr val="accent5">
                            <a:lumMod val="10000"/>
                          </a:schemeClr>
                        </a:solidFill>
                        <a:latin typeface="Cambria Math" panose="02040503050406030204" pitchFamily="18" charset="0"/>
                      </a:rPr>
                      <m:t>−13.6 </m:t>
                    </m:r>
                    <m:r>
                      <m:rPr>
                        <m:sty m:val="p"/>
                      </m:rPr>
                      <a:rPr lang="en-AU" i="0" dirty="0" smtClean="0">
                        <a:solidFill>
                          <a:schemeClr val="accent5">
                            <a:lumMod val="10000"/>
                          </a:schemeClr>
                        </a:solidFill>
                        <a:latin typeface="Cambria Math" panose="02040503050406030204" pitchFamily="18" charset="0"/>
                      </a:rPr>
                      <m:t>eV</m:t>
                    </m:r>
                  </m:oMath>
                </a14:m>
                <a:r>
                  <a:rPr lang="en-AU" dirty="0">
                    <a:solidFill>
                      <a:schemeClr val="accent5">
                        <a:lumMod val="10000"/>
                      </a:schemeClr>
                    </a:solidFill>
                  </a:rPr>
                  <a:t>.  </a:t>
                </a:r>
              </a:p>
              <a:p>
                <a:r>
                  <a:rPr lang="en-AU" dirty="0">
                    <a:solidFill>
                      <a:schemeClr val="accent5">
                        <a:lumMod val="10000"/>
                      </a:schemeClr>
                    </a:solidFill>
                  </a:rPr>
                  <a:t>If an electron moves up to a higher level (</a:t>
                </a:r>
                <a:r>
                  <a:rPr lang="en-AU" dirty="0" err="1">
                    <a:solidFill>
                      <a:schemeClr val="accent5">
                        <a:lumMod val="10000"/>
                      </a:schemeClr>
                    </a:solidFill>
                  </a:rPr>
                  <a:t>eg</a:t>
                </a:r>
                <a:r>
                  <a:rPr lang="en-AU" dirty="0">
                    <a:solidFill>
                      <a:schemeClr val="accent5">
                        <a:lumMod val="10000"/>
                      </a:schemeClr>
                    </a:solidFill>
                  </a:rPr>
                  <a:t> from </a:t>
                </a:r>
                <a14:m>
                  <m:oMath xmlns:m="http://schemas.openxmlformats.org/officeDocument/2006/math">
                    <m:r>
                      <m:rPr>
                        <m:sty m:val="p"/>
                      </m:rPr>
                      <a:rPr lang="en-AU" i="0" dirty="0" smtClean="0">
                        <a:solidFill>
                          <a:schemeClr val="accent5">
                            <a:lumMod val="10000"/>
                          </a:schemeClr>
                        </a:solidFill>
                        <a:latin typeface="Cambria Math" panose="02040503050406030204" pitchFamily="18" charset="0"/>
                      </a:rPr>
                      <m:t>n</m:t>
                    </m:r>
                    <m:r>
                      <a:rPr lang="en-AU" i="0" dirty="0" smtClean="0">
                        <a:solidFill>
                          <a:schemeClr val="accent5">
                            <a:lumMod val="10000"/>
                          </a:schemeClr>
                        </a:solidFill>
                        <a:latin typeface="Cambria Math" panose="02040503050406030204" pitchFamily="18" charset="0"/>
                      </a:rPr>
                      <m:t>=1 </m:t>
                    </m:r>
                  </m:oMath>
                </a14:m>
                <a:r>
                  <a:rPr lang="en-AU" dirty="0">
                    <a:solidFill>
                      <a:schemeClr val="accent5">
                        <a:lumMod val="10000"/>
                      </a:schemeClr>
                    </a:solidFill>
                  </a:rPr>
                  <a:t>to </a:t>
                </a:r>
                <a14:m>
                  <m:oMath xmlns:m="http://schemas.openxmlformats.org/officeDocument/2006/math">
                    <m:r>
                      <m:rPr>
                        <m:sty m:val="p"/>
                      </m:rPr>
                      <a:rPr lang="en-AU" i="0" dirty="0" smtClean="0">
                        <a:solidFill>
                          <a:schemeClr val="accent5">
                            <a:lumMod val="10000"/>
                          </a:schemeClr>
                        </a:solidFill>
                        <a:latin typeface="Cambria Math" panose="02040503050406030204" pitchFamily="18" charset="0"/>
                      </a:rPr>
                      <m:t>n</m:t>
                    </m:r>
                    <m:r>
                      <a:rPr lang="en-AU" i="0" dirty="0" smtClean="0">
                        <a:solidFill>
                          <a:schemeClr val="accent5">
                            <a:lumMod val="10000"/>
                          </a:schemeClr>
                        </a:solidFill>
                        <a:latin typeface="Cambria Math" panose="02040503050406030204" pitchFamily="18" charset="0"/>
                      </a:rPr>
                      <m:t>=2</m:t>
                    </m:r>
                  </m:oMath>
                </a14:m>
                <a:r>
                  <a:rPr lang="en-AU" dirty="0">
                    <a:solidFill>
                      <a:schemeClr val="accent5">
                        <a:lumMod val="10000"/>
                      </a:schemeClr>
                    </a:solidFill>
                  </a:rPr>
                  <a:t>) then it said to be in an excited state.</a:t>
                </a:r>
              </a:p>
              <a:p>
                <a:r>
                  <a:rPr lang="en-AU" dirty="0">
                    <a:solidFill>
                      <a:schemeClr val="accent5">
                        <a:lumMod val="10000"/>
                      </a:schemeClr>
                    </a:solidFill>
                  </a:rPr>
                  <a:t>As an electron moves to higher energy levels the energy becomes less negative until it reaches zero (ionisation).</a:t>
                </a:r>
              </a:p>
              <a:p>
                <a:r>
                  <a:rPr lang="en-AU" dirty="0">
                    <a:solidFill>
                      <a:schemeClr val="accent5">
                        <a:lumMod val="10000"/>
                      </a:schemeClr>
                    </a:solidFill>
                  </a:rPr>
                  <a:t>This is similar to gravitational potential energy, as electrons fall down towards the nucleus they lose potential energy, in order to move up to a higher energy level they must gain potential energy.</a:t>
                </a:r>
              </a:p>
            </p:txBody>
          </p:sp>
        </mc:Choice>
        <mc:Fallback xmlns="">
          <p:sp>
            <p:nvSpPr>
              <p:cNvPr id="3" name="Content Placeholder 2">
                <a:extLst>
                  <a:ext uri="{FF2B5EF4-FFF2-40B4-BE49-F238E27FC236}">
                    <a16:creationId xmlns:a16="http://schemas.microsoft.com/office/drawing/2014/main" id="{78634243-7E90-47A8-9BFB-BAA7F9EA51F9}"/>
                  </a:ext>
                </a:extLst>
              </p:cNvPr>
              <p:cNvSpPr>
                <a:spLocks noGrp="1" noRot="1" noChangeAspect="1" noMove="1" noResize="1" noEditPoints="1" noAdjustHandles="1" noChangeArrowheads="1" noChangeShapeType="1" noTextEdit="1"/>
              </p:cNvSpPr>
              <p:nvPr>
                <p:ph idx="1"/>
              </p:nvPr>
            </p:nvSpPr>
            <p:spPr>
              <a:xfrm>
                <a:off x="941033" y="101355"/>
                <a:ext cx="7976587" cy="4000128"/>
              </a:xfrm>
              <a:blipFill>
                <a:blip r:embed="rId2"/>
                <a:stretch>
                  <a:fillRect l="-1681" t="-5183" r="-917" b="-2744"/>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C34CEF4B-DF15-4027-BAD0-7463B9172532}"/>
              </a:ext>
            </a:extLst>
          </p:cNvPr>
          <p:cNvPicPr>
            <a:picLocks noChangeAspect="1"/>
          </p:cNvPicPr>
          <p:nvPr/>
        </p:nvPicPr>
        <p:blipFill>
          <a:blip r:embed="rId3"/>
          <a:stretch>
            <a:fillRect/>
          </a:stretch>
        </p:blipFill>
        <p:spPr>
          <a:xfrm>
            <a:off x="4864963" y="4301699"/>
            <a:ext cx="3808520" cy="2405381"/>
          </a:xfrm>
          <a:prstGeom prst="rect">
            <a:avLst/>
          </a:prstGeom>
        </p:spPr>
      </p:pic>
      <p:pic>
        <p:nvPicPr>
          <p:cNvPr id="6" name="Picture 5">
            <a:extLst>
              <a:ext uri="{FF2B5EF4-FFF2-40B4-BE49-F238E27FC236}">
                <a16:creationId xmlns:a16="http://schemas.microsoft.com/office/drawing/2014/main" id="{FDBE0058-FC9B-4735-89C3-AC1B06F33E75}"/>
              </a:ext>
            </a:extLst>
          </p:cNvPr>
          <p:cNvPicPr>
            <a:picLocks noChangeAspect="1"/>
          </p:cNvPicPr>
          <p:nvPr/>
        </p:nvPicPr>
        <p:blipFill>
          <a:blip r:embed="rId4"/>
          <a:stretch>
            <a:fillRect/>
          </a:stretch>
        </p:blipFill>
        <p:spPr>
          <a:xfrm>
            <a:off x="1698367" y="4394447"/>
            <a:ext cx="2873633" cy="2250489"/>
          </a:xfrm>
          <a:prstGeom prst="rect">
            <a:avLst/>
          </a:prstGeom>
        </p:spPr>
      </p:pic>
    </p:spTree>
    <p:extLst>
      <p:ext uri="{BB962C8B-B14F-4D97-AF65-F5344CB8AC3E}">
        <p14:creationId xmlns:p14="http://schemas.microsoft.com/office/powerpoint/2010/main" val="1170932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86EC-1DA2-4488-8211-BE3B37FA0BDA}"/>
              </a:ext>
            </a:extLst>
          </p:cNvPr>
          <p:cNvSpPr>
            <a:spLocks noGrp="1"/>
          </p:cNvSpPr>
          <p:nvPr>
            <p:ph type="title"/>
          </p:nvPr>
        </p:nvSpPr>
        <p:spPr>
          <a:xfrm>
            <a:off x="0" y="199749"/>
            <a:ext cx="5437573" cy="696896"/>
          </a:xfrm>
        </p:spPr>
        <p:txBody>
          <a:bodyPr>
            <a:normAutofit fontScale="90000"/>
          </a:bodyPr>
          <a:lstStyle/>
          <a:p>
            <a:r>
              <a:rPr lang="en-AU" dirty="0">
                <a:solidFill>
                  <a:schemeClr val="accent5">
                    <a:lumMod val="10000"/>
                  </a:schemeClr>
                </a:solidFill>
              </a:rPr>
              <a:t>Hydrogen energy levels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6AB026-40E9-41CC-8B22-A01ED64FA4DB}"/>
                  </a:ext>
                </a:extLst>
              </p:cNvPr>
              <p:cNvSpPr>
                <a:spLocks noGrp="1"/>
              </p:cNvSpPr>
              <p:nvPr>
                <p:ph idx="1"/>
              </p:nvPr>
            </p:nvSpPr>
            <p:spPr>
              <a:xfrm>
                <a:off x="736846" y="1131164"/>
                <a:ext cx="4017146" cy="4728098"/>
              </a:xfrm>
            </p:spPr>
            <p:txBody>
              <a:bodyPr>
                <a:normAutofit fontScale="92500" lnSpcReduction="10000"/>
              </a:bodyPr>
              <a:lstStyle/>
              <a:p>
                <a:r>
                  <a:rPr lang="en-AU" dirty="0">
                    <a:solidFill>
                      <a:schemeClr val="accent5">
                        <a:lumMod val="10000"/>
                      </a:schemeClr>
                    </a:solidFill>
                  </a:rPr>
                  <a:t>An electron in the ground state requires 13.6 eV of energy to move to</a:t>
                </a:r>
                <a14:m>
                  <m:oMath xmlns:m="http://schemas.openxmlformats.org/officeDocument/2006/math">
                    <m:r>
                      <a:rPr lang="en-AU" i="0" dirty="0" smtClean="0">
                        <a:solidFill>
                          <a:schemeClr val="accent5">
                            <a:lumMod val="10000"/>
                          </a:schemeClr>
                        </a:solidFill>
                        <a:latin typeface="Cambria Math" panose="02040503050406030204" pitchFamily="18" charset="0"/>
                      </a:rPr>
                      <m:t> </m:t>
                    </m:r>
                    <m:r>
                      <m:rPr>
                        <m:sty m:val="p"/>
                      </m:rPr>
                      <a:rPr lang="en-AU" i="0" dirty="0" smtClean="0">
                        <a:solidFill>
                          <a:schemeClr val="accent5">
                            <a:lumMod val="10000"/>
                          </a:schemeClr>
                        </a:solidFill>
                        <a:latin typeface="Cambria Math" panose="02040503050406030204" pitchFamily="18" charset="0"/>
                      </a:rPr>
                      <m:t>n</m:t>
                    </m:r>
                    <m:r>
                      <a:rPr lang="en-AU" i="0" dirty="0">
                        <a:solidFill>
                          <a:schemeClr val="accent5">
                            <a:lumMod val="10000"/>
                          </a:schemeClr>
                        </a:solidFill>
                        <a:latin typeface="Cambria Math" panose="02040503050406030204" pitchFamily="18" charset="0"/>
                      </a:rPr>
                      <m:t>=∞</m:t>
                    </m:r>
                  </m:oMath>
                </a14:m>
                <a:r>
                  <a:rPr lang="en-AU" dirty="0">
                    <a:solidFill>
                      <a:schemeClr val="accent5">
                        <a:lumMod val="10000"/>
                      </a:schemeClr>
                    </a:solidFill>
                  </a:rPr>
                  <a:t>.</a:t>
                </a:r>
              </a:p>
              <a:p>
                <a:r>
                  <a:rPr lang="en-AU" dirty="0">
                    <a:solidFill>
                      <a:schemeClr val="accent5">
                        <a:lumMod val="10000"/>
                      </a:schemeClr>
                    </a:solidFill>
                  </a:rPr>
                  <a:t>This is the ionisation energy, the energy required to release an electron from the hydrogen atom.</a:t>
                </a:r>
              </a:p>
              <a:p>
                <a:r>
                  <a:rPr lang="en-AU" dirty="0">
                    <a:solidFill>
                      <a:schemeClr val="accent5">
                        <a:lumMod val="10000"/>
                      </a:schemeClr>
                    </a:solidFill>
                  </a:rPr>
                  <a:t>Draw this diagram so you can use it for calculations throughout this PowerPoint.</a:t>
                </a:r>
              </a:p>
              <a:p>
                <a:r>
                  <a:rPr lang="en-AU" dirty="0">
                    <a:solidFill>
                      <a:schemeClr val="accent5">
                        <a:lumMod val="10000"/>
                      </a:schemeClr>
                    </a:solidFill>
                  </a:rPr>
                  <a:t>You do not need to memorise </a:t>
                </a:r>
                <a:r>
                  <a:rPr lang="en-AU">
                    <a:solidFill>
                      <a:schemeClr val="accent5">
                        <a:lumMod val="10000"/>
                      </a:schemeClr>
                    </a:solidFill>
                  </a:rPr>
                  <a:t>this diagram, </a:t>
                </a:r>
                <a:r>
                  <a:rPr lang="en-AU" dirty="0">
                    <a:solidFill>
                      <a:schemeClr val="accent5">
                        <a:lumMod val="10000"/>
                      </a:schemeClr>
                    </a:solidFill>
                  </a:rPr>
                  <a:t>it is given in questions of the exam. </a:t>
                </a:r>
              </a:p>
            </p:txBody>
          </p:sp>
        </mc:Choice>
        <mc:Fallback>
          <p:sp>
            <p:nvSpPr>
              <p:cNvPr id="3" name="Content Placeholder 2">
                <a:extLst>
                  <a:ext uri="{FF2B5EF4-FFF2-40B4-BE49-F238E27FC236}">
                    <a16:creationId xmlns:a16="http://schemas.microsoft.com/office/drawing/2014/main" id="{F76AB026-40E9-41CC-8B22-A01ED64FA4DB}"/>
                  </a:ext>
                </a:extLst>
              </p:cNvPr>
              <p:cNvSpPr>
                <a:spLocks noGrp="1" noRot="1" noChangeAspect="1" noMove="1" noResize="1" noEditPoints="1" noAdjustHandles="1" noChangeArrowheads="1" noChangeShapeType="1" noTextEdit="1"/>
              </p:cNvSpPr>
              <p:nvPr>
                <p:ph idx="1"/>
              </p:nvPr>
            </p:nvSpPr>
            <p:spPr>
              <a:xfrm>
                <a:off x="736846" y="1131164"/>
                <a:ext cx="4017146" cy="4728098"/>
              </a:xfrm>
              <a:blipFill>
                <a:blip r:embed="rId2"/>
                <a:stretch>
                  <a:fillRect l="-3490" t="-1548" r="-2580"/>
                </a:stretch>
              </a:blipFill>
            </p:spPr>
            <p:txBody>
              <a:bodyPr/>
              <a:lstStyle/>
              <a:p>
                <a:r>
                  <a:rPr lang="en-AU">
                    <a:noFill/>
                  </a:rPr>
                  <a:t> </a:t>
                </a:r>
              </a:p>
            </p:txBody>
          </p:sp>
        </mc:Fallback>
      </mc:AlternateContent>
      <p:pic>
        <p:nvPicPr>
          <p:cNvPr id="7" name="Picture 6">
            <a:extLst>
              <a:ext uri="{FF2B5EF4-FFF2-40B4-BE49-F238E27FC236}">
                <a16:creationId xmlns:a16="http://schemas.microsoft.com/office/drawing/2014/main" id="{42F893FB-9E77-4891-9543-247BC3AA61DF}"/>
              </a:ext>
            </a:extLst>
          </p:cNvPr>
          <p:cNvPicPr>
            <a:picLocks noChangeAspect="1"/>
          </p:cNvPicPr>
          <p:nvPr/>
        </p:nvPicPr>
        <p:blipFill>
          <a:blip r:embed="rId3"/>
          <a:stretch>
            <a:fillRect/>
          </a:stretch>
        </p:blipFill>
        <p:spPr>
          <a:xfrm>
            <a:off x="4943475" y="0"/>
            <a:ext cx="4200525" cy="6848475"/>
          </a:xfrm>
          <a:prstGeom prst="rect">
            <a:avLst/>
          </a:prstGeom>
        </p:spPr>
      </p:pic>
    </p:spTree>
    <p:extLst>
      <p:ext uri="{BB962C8B-B14F-4D97-AF65-F5344CB8AC3E}">
        <p14:creationId xmlns:p14="http://schemas.microsoft.com/office/powerpoint/2010/main" val="1457236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69C7C4-7AD6-4044-9EF3-0B075B6E7064}"/>
                  </a:ext>
                </a:extLst>
              </p:cNvPr>
              <p:cNvSpPr>
                <a:spLocks noGrp="1"/>
              </p:cNvSpPr>
              <p:nvPr>
                <p:ph idx="1"/>
              </p:nvPr>
            </p:nvSpPr>
            <p:spPr>
              <a:xfrm>
                <a:off x="982133" y="1482571"/>
                <a:ext cx="7984314" cy="2530135"/>
              </a:xfrm>
            </p:spPr>
            <p:txBody>
              <a:bodyPr>
                <a:normAutofit lnSpcReduction="10000"/>
              </a:bodyPr>
              <a:lstStyle/>
              <a:p>
                <a:r>
                  <a:rPr lang="en-AU" dirty="0">
                    <a:solidFill>
                      <a:schemeClr val="accent5">
                        <a:lumMod val="10000"/>
                      </a:schemeClr>
                    </a:solidFill>
                  </a:rPr>
                  <a:t>When an electron falls to a lower energy level it emits a photon.</a:t>
                </a:r>
              </a:p>
              <a:p>
                <a:r>
                  <a:rPr lang="en-AU" dirty="0">
                    <a:solidFill>
                      <a:schemeClr val="accent5">
                        <a:lumMod val="10000"/>
                      </a:schemeClr>
                    </a:solidFill>
                  </a:rPr>
                  <a:t>The energy lose by the electron must be released as the energy of the photon (conservation of energy).</a:t>
                </a:r>
              </a:p>
              <a:p>
                <a:r>
                  <a:rPr lang="en-AU" dirty="0">
                    <a:solidFill>
                      <a:schemeClr val="accent5">
                        <a:lumMod val="10000"/>
                      </a:schemeClr>
                    </a:solidFill>
                  </a:rPr>
                  <a:t>We can calculate the frequency, and therefore determine the colour of emitted photons using </a:t>
                </a:r>
                <a14:m>
                  <m:oMath xmlns:m="http://schemas.openxmlformats.org/officeDocument/2006/math">
                    <m:r>
                      <a:rPr lang="en-AU" i="1">
                        <a:solidFill>
                          <a:schemeClr val="accent5">
                            <a:lumMod val="10000"/>
                          </a:schemeClr>
                        </a:solidFill>
                        <a:latin typeface="Cambria Math" panose="02040503050406030204" pitchFamily="18" charset="0"/>
                        <a:ea typeface="Cambria Math" panose="02040503050406030204" pitchFamily="18" charset="0"/>
                      </a:rPr>
                      <m:t>∆</m:t>
                    </m:r>
                    <m:r>
                      <a:rPr lang="en-AU" i="1">
                        <a:solidFill>
                          <a:schemeClr val="accent5">
                            <a:lumMod val="10000"/>
                          </a:schemeClr>
                        </a:solidFill>
                        <a:latin typeface="Cambria Math" panose="02040503050406030204" pitchFamily="18" charset="0"/>
                        <a:ea typeface="Cambria Math" panose="02040503050406030204" pitchFamily="18" charset="0"/>
                      </a:rPr>
                      <m:t>𝐸</m:t>
                    </m:r>
                    <m:r>
                      <a:rPr lang="en-AU" i="1">
                        <a:solidFill>
                          <a:schemeClr val="accent5">
                            <a:lumMod val="10000"/>
                          </a:schemeClr>
                        </a:solidFill>
                        <a:latin typeface="Cambria Math" panose="02040503050406030204" pitchFamily="18" charset="0"/>
                        <a:ea typeface="Cambria Math" panose="02040503050406030204" pitchFamily="18" charset="0"/>
                      </a:rPr>
                      <m:t>=</m:t>
                    </m:r>
                    <m:r>
                      <a:rPr lang="en-AU" i="1">
                        <a:solidFill>
                          <a:schemeClr val="accent5">
                            <a:lumMod val="10000"/>
                          </a:schemeClr>
                        </a:solidFill>
                        <a:latin typeface="Cambria Math" panose="02040503050406030204" pitchFamily="18" charset="0"/>
                        <a:ea typeface="Cambria Math" panose="02040503050406030204" pitchFamily="18" charset="0"/>
                      </a:rPr>
                      <m:t>h𝑓</m:t>
                    </m:r>
                  </m:oMath>
                </a14:m>
                <a:endParaRPr lang="en-AU" dirty="0">
                  <a:solidFill>
                    <a:schemeClr val="accent5">
                      <a:lumMod val="10000"/>
                    </a:schemeClr>
                  </a:solidFill>
                </a:endParaRPr>
              </a:p>
              <a:p>
                <a:pPr marL="0" indent="0">
                  <a:buNone/>
                </a:pPr>
                <a:endParaRPr lang="en-AU" dirty="0">
                  <a:solidFill>
                    <a:schemeClr val="accent5">
                      <a:lumMod val="10000"/>
                    </a:schemeClr>
                  </a:solidFill>
                </a:endParaRPr>
              </a:p>
            </p:txBody>
          </p:sp>
        </mc:Choice>
        <mc:Fallback xmlns="">
          <p:sp>
            <p:nvSpPr>
              <p:cNvPr id="3" name="Content Placeholder 2">
                <a:extLst>
                  <a:ext uri="{FF2B5EF4-FFF2-40B4-BE49-F238E27FC236}">
                    <a16:creationId xmlns:a16="http://schemas.microsoft.com/office/drawing/2014/main" id="{8B69C7C4-7AD6-4044-9EF3-0B075B6E7064}"/>
                  </a:ext>
                </a:extLst>
              </p:cNvPr>
              <p:cNvSpPr>
                <a:spLocks noGrp="1" noRot="1" noChangeAspect="1" noMove="1" noResize="1" noEditPoints="1" noAdjustHandles="1" noChangeArrowheads="1" noChangeShapeType="1" noTextEdit="1"/>
              </p:cNvSpPr>
              <p:nvPr>
                <p:ph idx="1"/>
              </p:nvPr>
            </p:nvSpPr>
            <p:spPr>
              <a:xfrm>
                <a:off x="982133" y="1482571"/>
                <a:ext cx="7984314" cy="2530135"/>
              </a:xfrm>
              <a:blipFill>
                <a:blip r:embed="rId2"/>
                <a:stretch>
                  <a:fillRect l="-1908" t="-15181"/>
                </a:stretch>
              </a:blipFill>
            </p:spPr>
            <p:txBody>
              <a:bodyPr/>
              <a:lstStyle/>
              <a:p>
                <a:r>
                  <a:rPr lang="en-AU">
                    <a:noFill/>
                  </a:rPr>
                  <a:t> </a:t>
                </a:r>
              </a:p>
            </p:txBody>
          </p:sp>
        </mc:Fallback>
      </mc:AlternateContent>
      <p:pic>
        <p:nvPicPr>
          <p:cNvPr id="8" name="Picture 7">
            <a:extLst>
              <a:ext uri="{FF2B5EF4-FFF2-40B4-BE49-F238E27FC236}">
                <a16:creationId xmlns:a16="http://schemas.microsoft.com/office/drawing/2014/main" id="{49595F53-ECEF-4EBA-9CE1-2251B2A8DAD3}"/>
              </a:ext>
            </a:extLst>
          </p:cNvPr>
          <p:cNvPicPr>
            <a:picLocks noChangeAspect="1"/>
          </p:cNvPicPr>
          <p:nvPr/>
        </p:nvPicPr>
        <p:blipFill>
          <a:blip r:embed="rId3"/>
          <a:stretch>
            <a:fillRect/>
          </a:stretch>
        </p:blipFill>
        <p:spPr>
          <a:xfrm>
            <a:off x="2582431" y="4306871"/>
            <a:ext cx="4600575" cy="2381250"/>
          </a:xfrm>
          <a:prstGeom prst="rect">
            <a:avLst/>
          </a:prstGeom>
        </p:spPr>
      </p:pic>
      <p:sp>
        <p:nvSpPr>
          <p:cNvPr id="4" name="Title 1">
            <a:extLst>
              <a:ext uri="{FF2B5EF4-FFF2-40B4-BE49-F238E27FC236}">
                <a16:creationId xmlns:a16="http://schemas.microsoft.com/office/drawing/2014/main" id="{C9F0CE18-45E2-41F8-8B69-0789D4C1C8A3}"/>
              </a:ext>
            </a:extLst>
          </p:cNvPr>
          <p:cNvSpPr>
            <a:spLocks noGrp="1"/>
          </p:cNvSpPr>
          <p:nvPr>
            <p:ph type="title"/>
          </p:nvPr>
        </p:nvSpPr>
        <p:spPr>
          <a:xfrm>
            <a:off x="1008766" y="235258"/>
            <a:ext cx="7704667" cy="732407"/>
          </a:xfrm>
        </p:spPr>
        <p:txBody>
          <a:bodyPr>
            <a:normAutofit/>
          </a:bodyPr>
          <a:lstStyle/>
          <a:p>
            <a:r>
              <a:rPr lang="en-AU" dirty="0">
                <a:solidFill>
                  <a:schemeClr val="accent5">
                    <a:lumMod val="10000"/>
                  </a:schemeClr>
                </a:solidFill>
              </a:rPr>
              <a:t>Emission</a:t>
            </a:r>
          </a:p>
        </p:txBody>
      </p:sp>
    </p:spTree>
    <p:extLst>
      <p:ext uri="{BB962C8B-B14F-4D97-AF65-F5344CB8AC3E}">
        <p14:creationId xmlns:p14="http://schemas.microsoft.com/office/powerpoint/2010/main" val="355709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F8DC9-261C-4273-BCF1-471E2C303009}"/>
              </a:ext>
            </a:extLst>
          </p:cNvPr>
          <p:cNvSpPr>
            <a:spLocks noGrp="1"/>
          </p:cNvSpPr>
          <p:nvPr>
            <p:ph idx="1"/>
          </p:nvPr>
        </p:nvSpPr>
        <p:spPr>
          <a:xfrm>
            <a:off x="928867" y="834501"/>
            <a:ext cx="7922169" cy="3684233"/>
          </a:xfrm>
        </p:spPr>
        <p:txBody>
          <a:bodyPr>
            <a:normAutofit lnSpcReduction="10000"/>
          </a:bodyPr>
          <a:lstStyle/>
          <a:p>
            <a:r>
              <a:rPr lang="en-AU" dirty="0">
                <a:solidFill>
                  <a:schemeClr val="accent5">
                    <a:lumMod val="10000"/>
                  </a:schemeClr>
                </a:solidFill>
              </a:rPr>
              <a:t>The emission of photons explains the line emission spectra for hydrogen. </a:t>
            </a:r>
          </a:p>
          <a:p>
            <a:r>
              <a:rPr lang="en-AU" dirty="0">
                <a:solidFill>
                  <a:schemeClr val="accent5">
                    <a:lumMod val="10000"/>
                  </a:schemeClr>
                </a:solidFill>
              </a:rPr>
              <a:t>An element can produce emission lines of specific colours that correspond to the allowed energy transitions for that atom.  These transitions are unique to that element hence the unique atomic emission spectra observed for each element.</a:t>
            </a:r>
          </a:p>
          <a:p>
            <a:r>
              <a:rPr lang="en-AU" dirty="0">
                <a:solidFill>
                  <a:schemeClr val="accent5">
                    <a:lumMod val="10000"/>
                  </a:schemeClr>
                </a:solidFill>
              </a:rPr>
              <a:t>The transition to a lower energy level from n=6 to n=2 corresponds to visible lines in hydrogens emission spectra.</a:t>
            </a:r>
          </a:p>
          <a:p>
            <a:pPr marL="0" indent="0">
              <a:buNone/>
            </a:pPr>
            <a:endParaRPr lang="en-AU" dirty="0">
              <a:solidFill>
                <a:schemeClr val="accent5">
                  <a:lumMod val="10000"/>
                </a:schemeClr>
              </a:solidFill>
            </a:endParaRPr>
          </a:p>
          <a:p>
            <a:pPr marL="0" indent="0">
              <a:buNone/>
            </a:pPr>
            <a:endParaRPr lang="en-AU" dirty="0">
              <a:solidFill>
                <a:schemeClr val="accent5">
                  <a:lumMod val="10000"/>
                </a:schemeClr>
              </a:solidFill>
            </a:endParaRPr>
          </a:p>
          <a:p>
            <a:pPr marL="0" indent="0">
              <a:buNone/>
            </a:pPr>
            <a:endParaRPr lang="en-AU" dirty="0">
              <a:solidFill>
                <a:schemeClr val="accent5">
                  <a:lumMod val="10000"/>
                </a:schemeClr>
              </a:solidFill>
            </a:endParaRPr>
          </a:p>
        </p:txBody>
      </p:sp>
      <p:pic>
        <p:nvPicPr>
          <p:cNvPr id="6" name="Picture 5">
            <a:extLst>
              <a:ext uri="{FF2B5EF4-FFF2-40B4-BE49-F238E27FC236}">
                <a16:creationId xmlns:a16="http://schemas.microsoft.com/office/drawing/2014/main" id="{40A63D0C-5BED-4110-83F7-9DF2920DF569}"/>
              </a:ext>
            </a:extLst>
          </p:cNvPr>
          <p:cNvPicPr>
            <a:picLocks noChangeAspect="1"/>
          </p:cNvPicPr>
          <p:nvPr/>
        </p:nvPicPr>
        <p:blipFill>
          <a:blip r:embed="rId2"/>
          <a:stretch>
            <a:fillRect/>
          </a:stretch>
        </p:blipFill>
        <p:spPr>
          <a:xfrm>
            <a:off x="5157926" y="3968591"/>
            <a:ext cx="3200030" cy="2603798"/>
          </a:xfrm>
          <a:prstGeom prst="rect">
            <a:avLst/>
          </a:prstGeom>
        </p:spPr>
      </p:pic>
      <p:pic>
        <p:nvPicPr>
          <p:cNvPr id="9" name="Picture 8">
            <a:extLst>
              <a:ext uri="{FF2B5EF4-FFF2-40B4-BE49-F238E27FC236}">
                <a16:creationId xmlns:a16="http://schemas.microsoft.com/office/drawing/2014/main" id="{15A5D507-B49E-4705-8936-C63A503BFF0F}"/>
              </a:ext>
            </a:extLst>
          </p:cNvPr>
          <p:cNvPicPr>
            <a:picLocks noChangeAspect="1"/>
          </p:cNvPicPr>
          <p:nvPr/>
        </p:nvPicPr>
        <p:blipFill>
          <a:blip r:embed="rId3"/>
          <a:stretch>
            <a:fillRect/>
          </a:stretch>
        </p:blipFill>
        <p:spPr>
          <a:xfrm>
            <a:off x="1572681" y="4016622"/>
            <a:ext cx="3353091" cy="2517866"/>
          </a:xfrm>
          <a:prstGeom prst="rect">
            <a:avLst/>
          </a:prstGeom>
        </p:spPr>
      </p:pic>
    </p:spTree>
    <p:extLst>
      <p:ext uri="{BB962C8B-B14F-4D97-AF65-F5344CB8AC3E}">
        <p14:creationId xmlns:p14="http://schemas.microsoft.com/office/powerpoint/2010/main" val="2032426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10DDE2-F51A-40A5-8684-FBB28520A06A}"/>
                  </a:ext>
                </a:extLst>
              </p:cNvPr>
              <p:cNvSpPr>
                <a:spLocks noGrp="1"/>
              </p:cNvSpPr>
              <p:nvPr>
                <p:ph idx="1"/>
              </p:nvPr>
            </p:nvSpPr>
            <p:spPr>
              <a:xfrm>
                <a:off x="1020934" y="168676"/>
                <a:ext cx="7936636" cy="4101484"/>
              </a:xfrm>
            </p:spPr>
            <p:txBody>
              <a:bodyPr/>
              <a:lstStyle/>
              <a:p>
                <a:r>
                  <a:rPr lang="en-AU" dirty="0">
                    <a:solidFill>
                      <a:schemeClr val="accent5">
                        <a:lumMod val="10000"/>
                      </a:schemeClr>
                    </a:solidFill>
                  </a:rPr>
                  <a:t>Hydrogen emits a violet photon for the transition from the </a:t>
                </a:r>
                <a14:m>
                  <m:oMath xmlns:m="http://schemas.openxmlformats.org/officeDocument/2006/math">
                    <m:r>
                      <m:rPr>
                        <m:sty m:val="p"/>
                      </m:rPr>
                      <a:rPr lang="en-AU" i="0" dirty="0" smtClean="0">
                        <a:solidFill>
                          <a:schemeClr val="accent5">
                            <a:lumMod val="10000"/>
                          </a:schemeClr>
                        </a:solidFill>
                        <a:latin typeface="Cambria Math" panose="02040503050406030204" pitchFamily="18" charset="0"/>
                      </a:rPr>
                      <m:t>n</m:t>
                    </m:r>
                    <m:r>
                      <a:rPr lang="en-AU" i="0" dirty="0" smtClean="0">
                        <a:solidFill>
                          <a:schemeClr val="accent5">
                            <a:lumMod val="10000"/>
                          </a:schemeClr>
                        </a:solidFill>
                        <a:latin typeface="Cambria Math" panose="02040503050406030204" pitchFamily="18" charset="0"/>
                      </a:rPr>
                      <m:t>=6 </m:t>
                    </m:r>
                  </m:oMath>
                </a14:m>
                <a:r>
                  <a:rPr lang="en-AU" dirty="0">
                    <a:solidFill>
                      <a:schemeClr val="accent5">
                        <a:lumMod val="10000"/>
                      </a:schemeClr>
                    </a:solidFill>
                  </a:rPr>
                  <a:t>to the </a:t>
                </a:r>
                <a14:m>
                  <m:oMath xmlns:m="http://schemas.openxmlformats.org/officeDocument/2006/math">
                    <m:r>
                      <m:rPr>
                        <m:sty m:val="p"/>
                      </m:rPr>
                      <a:rPr lang="en-AU" i="0" dirty="0" smtClean="0">
                        <a:solidFill>
                          <a:schemeClr val="accent5">
                            <a:lumMod val="10000"/>
                          </a:schemeClr>
                        </a:solidFill>
                        <a:latin typeface="Cambria Math" panose="02040503050406030204" pitchFamily="18" charset="0"/>
                      </a:rPr>
                      <m:t>n</m:t>
                    </m:r>
                    <m:r>
                      <a:rPr lang="en-AU" i="0" dirty="0" smtClean="0">
                        <a:solidFill>
                          <a:schemeClr val="accent5">
                            <a:lumMod val="10000"/>
                          </a:schemeClr>
                        </a:solidFill>
                        <a:latin typeface="Cambria Math" panose="02040503050406030204" pitchFamily="18" charset="0"/>
                      </a:rPr>
                      <m:t>=2 </m:t>
                    </m:r>
                  </m:oMath>
                </a14:m>
                <a:r>
                  <a:rPr lang="en-AU" dirty="0">
                    <a:solidFill>
                      <a:schemeClr val="accent5">
                        <a:lumMod val="10000"/>
                      </a:schemeClr>
                    </a:solidFill>
                  </a:rPr>
                  <a:t>energy level.</a:t>
                </a:r>
              </a:p>
              <a:p>
                <a:r>
                  <a:rPr lang="en-AU" dirty="0">
                    <a:solidFill>
                      <a:schemeClr val="accent5">
                        <a:lumMod val="10000"/>
                      </a:schemeClr>
                    </a:solidFill>
                  </a:rPr>
                  <a:t>For this transition the atom loses energy of:</a:t>
                </a:r>
              </a:p>
              <a:p>
                <a:pPr marL="0" indent="0">
                  <a:buNone/>
                </a:pPr>
                <a:r>
                  <a:rPr lang="en-AU" dirty="0">
                    <a:solidFill>
                      <a:schemeClr val="accent5">
                        <a:lumMod val="10000"/>
                      </a:schemeClr>
                    </a:solidFill>
                  </a:rPr>
                  <a:t>		 </a:t>
                </a:r>
                <a14:m>
                  <m:oMath xmlns:m="http://schemas.openxmlformats.org/officeDocument/2006/math">
                    <m:r>
                      <a:rPr lang="en-AU" i="1" dirty="0">
                        <a:solidFill>
                          <a:schemeClr val="accent5">
                            <a:lumMod val="10000"/>
                          </a:schemeClr>
                        </a:solidFill>
                        <a:latin typeface="Cambria Math" panose="02040503050406030204" pitchFamily="18" charset="0"/>
                        <a:ea typeface="Cambria Math" panose="02040503050406030204" pitchFamily="18" charset="0"/>
                      </a:rPr>
                      <m:t>∆</m:t>
                    </m:r>
                    <m:r>
                      <a:rPr lang="en-AU" i="1" dirty="0">
                        <a:solidFill>
                          <a:schemeClr val="accent5">
                            <a:lumMod val="10000"/>
                          </a:schemeClr>
                        </a:solidFill>
                        <a:latin typeface="Cambria Math" panose="02040503050406030204" pitchFamily="18" charset="0"/>
                        <a:ea typeface="Cambria Math" panose="02040503050406030204" pitchFamily="18" charset="0"/>
                      </a:rPr>
                      <m:t>𝐸</m:t>
                    </m:r>
                    <m:r>
                      <a:rPr lang="en-AU" i="1" dirty="0">
                        <a:solidFill>
                          <a:schemeClr val="accent5">
                            <a:lumMod val="10000"/>
                          </a:schemeClr>
                        </a:solidFill>
                        <a:latin typeface="Cambria Math" panose="02040503050406030204" pitchFamily="18" charset="0"/>
                        <a:ea typeface="Cambria Math" panose="02040503050406030204" pitchFamily="18" charset="0"/>
                      </a:rPr>
                      <m:t>=3.4−0.38=3.02 </m:t>
                    </m:r>
                    <m:r>
                      <a:rPr lang="en-AU" i="1" dirty="0">
                        <a:solidFill>
                          <a:schemeClr val="accent5">
                            <a:lumMod val="10000"/>
                          </a:schemeClr>
                        </a:solidFill>
                        <a:latin typeface="Cambria Math" panose="02040503050406030204" pitchFamily="18" charset="0"/>
                      </a:rPr>
                      <m:t>𝑒𝑉</m:t>
                    </m:r>
                    <m:r>
                      <a:rPr lang="en-AU" i="1" dirty="0">
                        <a:solidFill>
                          <a:schemeClr val="accent5">
                            <a:lumMod val="10000"/>
                          </a:schemeClr>
                        </a:solidFill>
                        <a:latin typeface="Cambria Math" panose="02040503050406030204" pitchFamily="18" charset="0"/>
                      </a:rPr>
                      <m:t>=4.83×</m:t>
                    </m:r>
                    <m:sSup>
                      <m:sSupPr>
                        <m:ctrlPr>
                          <a:rPr lang="en-AU" i="1" dirty="0">
                            <a:solidFill>
                              <a:schemeClr val="accent5">
                                <a:lumMod val="10000"/>
                              </a:schemeClr>
                            </a:solidFill>
                            <a:latin typeface="Cambria Math" panose="02040503050406030204" pitchFamily="18" charset="0"/>
                            <a:ea typeface="Cambria Math" panose="02040503050406030204" pitchFamily="18" charset="0"/>
                          </a:rPr>
                        </m:ctrlPr>
                      </m:sSupPr>
                      <m:e>
                        <m:r>
                          <a:rPr lang="en-AU" i="1" dirty="0">
                            <a:solidFill>
                              <a:schemeClr val="accent5">
                                <a:lumMod val="10000"/>
                              </a:schemeClr>
                            </a:solidFill>
                            <a:latin typeface="Cambria Math" panose="02040503050406030204" pitchFamily="18" charset="0"/>
                            <a:ea typeface="Cambria Math" panose="02040503050406030204" pitchFamily="18" charset="0"/>
                          </a:rPr>
                          <m:t>10</m:t>
                        </m:r>
                      </m:e>
                      <m:sup>
                        <m:r>
                          <a:rPr lang="en-AU" i="1" dirty="0">
                            <a:solidFill>
                              <a:schemeClr val="accent5">
                                <a:lumMod val="10000"/>
                              </a:schemeClr>
                            </a:solidFill>
                            <a:latin typeface="Cambria Math" panose="02040503050406030204" pitchFamily="18" charset="0"/>
                            <a:ea typeface="Cambria Math" panose="02040503050406030204" pitchFamily="18" charset="0"/>
                          </a:rPr>
                          <m:t>−19</m:t>
                        </m:r>
                      </m:sup>
                    </m:sSup>
                    <m:r>
                      <a:rPr lang="en-AU" i="1" dirty="0">
                        <a:solidFill>
                          <a:schemeClr val="accent5">
                            <a:lumMod val="10000"/>
                          </a:schemeClr>
                        </a:solidFill>
                        <a:latin typeface="Cambria Math" panose="02040503050406030204" pitchFamily="18" charset="0"/>
                        <a:ea typeface="Cambria Math" panose="02040503050406030204" pitchFamily="18" charset="0"/>
                      </a:rPr>
                      <m:t> </m:t>
                    </m:r>
                    <m:r>
                      <a:rPr lang="en-AU" i="1" dirty="0">
                        <a:solidFill>
                          <a:schemeClr val="accent5">
                            <a:lumMod val="10000"/>
                          </a:schemeClr>
                        </a:solidFill>
                        <a:latin typeface="Cambria Math" panose="02040503050406030204" pitchFamily="18" charset="0"/>
                        <a:ea typeface="Cambria Math" panose="02040503050406030204" pitchFamily="18" charset="0"/>
                      </a:rPr>
                      <m:t>𝐽</m:t>
                    </m:r>
                  </m:oMath>
                </a14:m>
                <a:endParaRPr lang="en-AU" dirty="0">
                  <a:solidFill>
                    <a:schemeClr val="accent5">
                      <a:lumMod val="10000"/>
                    </a:schemeClr>
                  </a:solidFill>
                  <a:ea typeface="Cambria Math" panose="02040503050406030204" pitchFamily="18" charset="0"/>
                </a:endParaRPr>
              </a:p>
              <a:p>
                <a:pPr marL="0" indent="0">
                  <a:buNone/>
                </a:pPr>
                <a:r>
                  <a:rPr lang="en-AU" dirty="0">
                    <a:solidFill>
                      <a:schemeClr val="accent5">
                        <a:lumMod val="10000"/>
                      </a:schemeClr>
                    </a:solidFill>
                    <a:ea typeface="Cambria Math" panose="02040503050406030204" pitchFamily="18" charset="0"/>
                  </a:rPr>
                  <a:t>		</a:t>
                </a:r>
                <a14:m>
                  <m:oMath xmlns:m="http://schemas.openxmlformats.org/officeDocument/2006/math">
                    <m:r>
                      <a:rPr lang="en-AU" i="1" dirty="0">
                        <a:solidFill>
                          <a:schemeClr val="accent5">
                            <a:lumMod val="10000"/>
                          </a:schemeClr>
                        </a:solidFill>
                        <a:latin typeface="Cambria Math" panose="02040503050406030204" pitchFamily="18" charset="0"/>
                        <a:ea typeface="Cambria Math" panose="02040503050406030204" pitchFamily="18" charset="0"/>
                      </a:rPr>
                      <m:t>∆</m:t>
                    </m:r>
                    <m:r>
                      <a:rPr lang="en-AU" i="1" dirty="0">
                        <a:solidFill>
                          <a:schemeClr val="accent5">
                            <a:lumMod val="10000"/>
                          </a:schemeClr>
                        </a:solidFill>
                        <a:latin typeface="Cambria Math" panose="02040503050406030204" pitchFamily="18" charset="0"/>
                        <a:ea typeface="Cambria Math" panose="02040503050406030204" pitchFamily="18" charset="0"/>
                      </a:rPr>
                      <m:t>𝐸</m:t>
                    </m:r>
                    <m:r>
                      <a:rPr lang="en-AU" i="1" dirty="0">
                        <a:solidFill>
                          <a:schemeClr val="accent5">
                            <a:lumMod val="10000"/>
                          </a:schemeClr>
                        </a:solidFill>
                        <a:latin typeface="Cambria Math" panose="02040503050406030204" pitchFamily="18" charset="0"/>
                        <a:ea typeface="Cambria Math" panose="02040503050406030204" pitchFamily="18" charset="0"/>
                      </a:rPr>
                      <m:t>=</m:t>
                    </m:r>
                    <m:r>
                      <a:rPr lang="en-AU" i="1" dirty="0">
                        <a:solidFill>
                          <a:schemeClr val="accent5">
                            <a:lumMod val="10000"/>
                          </a:schemeClr>
                        </a:solidFill>
                        <a:latin typeface="Cambria Math" panose="02040503050406030204" pitchFamily="18" charset="0"/>
                        <a:ea typeface="Cambria Math" panose="02040503050406030204" pitchFamily="18" charset="0"/>
                      </a:rPr>
                      <m:t>h𝑓</m:t>
                    </m:r>
                  </m:oMath>
                </a14:m>
                <a:r>
                  <a:rPr lang="en-AU" dirty="0">
                    <a:solidFill>
                      <a:schemeClr val="accent5">
                        <a:lumMod val="10000"/>
                      </a:schemeClr>
                    </a:solidFill>
                    <a:ea typeface="Cambria Math" panose="02040503050406030204" pitchFamily="18" charset="0"/>
                  </a:rPr>
                  <a:t> so  </a:t>
                </a:r>
                <a14:m>
                  <m:oMath xmlns:m="http://schemas.openxmlformats.org/officeDocument/2006/math">
                    <m:r>
                      <a:rPr lang="en-AU" i="1">
                        <a:solidFill>
                          <a:schemeClr val="accent5">
                            <a:lumMod val="10000"/>
                          </a:schemeClr>
                        </a:solidFill>
                        <a:latin typeface="Cambria Math" panose="02040503050406030204" pitchFamily="18" charset="0"/>
                        <a:ea typeface="Cambria Math" panose="02040503050406030204" pitchFamily="18" charset="0"/>
                      </a:rPr>
                      <m:t>𝑓</m:t>
                    </m:r>
                    <m:r>
                      <a:rPr lang="en-AU" i="1">
                        <a:solidFill>
                          <a:schemeClr val="accent5">
                            <a:lumMod val="10000"/>
                          </a:schemeClr>
                        </a:solidFill>
                        <a:latin typeface="Cambria Math" panose="02040503050406030204" pitchFamily="18" charset="0"/>
                        <a:ea typeface="Cambria Math" panose="02040503050406030204" pitchFamily="18" charset="0"/>
                      </a:rPr>
                      <m:t>=</m:t>
                    </m:r>
                    <m:f>
                      <m:fPr>
                        <m:ctrlPr>
                          <a:rPr lang="en-AU" i="1">
                            <a:solidFill>
                              <a:schemeClr val="accent5">
                                <a:lumMod val="10000"/>
                              </a:schemeClr>
                            </a:solidFill>
                            <a:latin typeface="Cambria Math" panose="02040503050406030204" pitchFamily="18" charset="0"/>
                            <a:ea typeface="Cambria Math" panose="02040503050406030204" pitchFamily="18" charset="0"/>
                          </a:rPr>
                        </m:ctrlPr>
                      </m:fPr>
                      <m:num>
                        <m:r>
                          <a:rPr lang="en-AU" i="1">
                            <a:solidFill>
                              <a:schemeClr val="accent5">
                                <a:lumMod val="10000"/>
                              </a:schemeClr>
                            </a:solidFill>
                            <a:latin typeface="Cambria Math" panose="02040503050406030204" pitchFamily="18" charset="0"/>
                            <a:ea typeface="Cambria Math" panose="02040503050406030204" pitchFamily="18" charset="0"/>
                          </a:rPr>
                          <m:t>∆</m:t>
                        </m:r>
                        <m:r>
                          <a:rPr lang="en-AU" i="1">
                            <a:solidFill>
                              <a:schemeClr val="accent5">
                                <a:lumMod val="10000"/>
                              </a:schemeClr>
                            </a:solidFill>
                            <a:latin typeface="Cambria Math" panose="02040503050406030204" pitchFamily="18" charset="0"/>
                            <a:ea typeface="Cambria Math" panose="02040503050406030204" pitchFamily="18" charset="0"/>
                          </a:rPr>
                          <m:t>𝐸</m:t>
                        </m:r>
                      </m:num>
                      <m:den>
                        <m:r>
                          <a:rPr lang="en-AU" i="1">
                            <a:solidFill>
                              <a:schemeClr val="accent5">
                                <a:lumMod val="10000"/>
                              </a:schemeClr>
                            </a:solidFill>
                            <a:latin typeface="Cambria Math" panose="02040503050406030204" pitchFamily="18" charset="0"/>
                            <a:ea typeface="Cambria Math" panose="02040503050406030204" pitchFamily="18" charset="0"/>
                          </a:rPr>
                          <m:t>h</m:t>
                        </m:r>
                      </m:den>
                    </m:f>
                    <m:r>
                      <a:rPr lang="en-AU" i="1">
                        <a:solidFill>
                          <a:schemeClr val="accent5">
                            <a:lumMod val="10000"/>
                          </a:schemeClr>
                        </a:solidFill>
                        <a:latin typeface="Cambria Math" panose="02040503050406030204" pitchFamily="18" charset="0"/>
                        <a:ea typeface="Cambria Math" panose="02040503050406030204" pitchFamily="18" charset="0"/>
                      </a:rPr>
                      <m:t>=</m:t>
                    </m:r>
                    <m:f>
                      <m:fPr>
                        <m:ctrlPr>
                          <a:rPr lang="en-AU" i="1">
                            <a:solidFill>
                              <a:schemeClr val="accent5">
                                <a:lumMod val="10000"/>
                              </a:schemeClr>
                            </a:solidFill>
                            <a:latin typeface="Cambria Math" panose="02040503050406030204" pitchFamily="18" charset="0"/>
                            <a:ea typeface="Cambria Math" panose="02040503050406030204" pitchFamily="18" charset="0"/>
                          </a:rPr>
                        </m:ctrlPr>
                      </m:fPr>
                      <m:num>
                        <m:r>
                          <a:rPr lang="en-AU" i="1">
                            <a:solidFill>
                              <a:schemeClr val="accent5">
                                <a:lumMod val="10000"/>
                              </a:schemeClr>
                            </a:solidFill>
                            <a:latin typeface="Cambria Math" panose="02040503050406030204" pitchFamily="18" charset="0"/>
                            <a:ea typeface="Cambria Math" panose="02040503050406030204" pitchFamily="18" charset="0"/>
                          </a:rPr>
                          <m:t>4.83×</m:t>
                        </m:r>
                        <m:sSup>
                          <m:sSupPr>
                            <m:ctrlPr>
                              <a:rPr lang="en-AU" i="1">
                                <a:solidFill>
                                  <a:schemeClr val="accent5">
                                    <a:lumMod val="10000"/>
                                  </a:schemeClr>
                                </a:solidFill>
                                <a:latin typeface="Cambria Math" panose="02040503050406030204" pitchFamily="18" charset="0"/>
                                <a:ea typeface="Cambria Math" panose="02040503050406030204" pitchFamily="18" charset="0"/>
                              </a:rPr>
                            </m:ctrlPr>
                          </m:sSupPr>
                          <m:e>
                            <m:r>
                              <a:rPr lang="en-AU" i="1">
                                <a:solidFill>
                                  <a:schemeClr val="accent5">
                                    <a:lumMod val="10000"/>
                                  </a:schemeClr>
                                </a:solidFill>
                                <a:latin typeface="Cambria Math" panose="02040503050406030204" pitchFamily="18" charset="0"/>
                                <a:ea typeface="Cambria Math" panose="02040503050406030204" pitchFamily="18" charset="0"/>
                              </a:rPr>
                              <m:t>10</m:t>
                            </m:r>
                          </m:e>
                          <m:sup>
                            <m:r>
                              <a:rPr lang="en-AU" i="1">
                                <a:solidFill>
                                  <a:schemeClr val="accent5">
                                    <a:lumMod val="10000"/>
                                  </a:schemeClr>
                                </a:solidFill>
                                <a:latin typeface="Cambria Math" panose="02040503050406030204" pitchFamily="18" charset="0"/>
                                <a:ea typeface="Cambria Math" panose="02040503050406030204" pitchFamily="18" charset="0"/>
                              </a:rPr>
                              <m:t>−19</m:t>
                            </m:r>
                          </m:sup>
                        </m:sSup>
                      </m:num>
                      <m:den>
                        <m:r>
                          <a:rPr lang="en-AU" b="0" i="1" smtClean="0">
                            <a:solidFill>
                              <a:schemeClr val="accent5">
                                <a:lumMod val="10000"/>
                              </a:schemeClr>
                            </a:solidFill>
                            <a:latin typeface="Cambria Math" panose="02040503050406030204" pitchFamily="18" charset="0"/>
                            <a:ea typeface="Cambria Math" panose="02040503050406030204" pitchFamily="18" charset="0"/>
                          </a:rPr>
                          <m:t>6.63×</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−34</m:t>
                            </m:r>
                          </m:sup>
                        </m:sSup>
                      </m:den>
                    </m:f>
                    <m:r>
                      <a:rPr lang="en-AU" b="0" i="1" smtClean="0">
                        <a:solidFill>
                          <a:schemeClr val="accent5">
                            <a:lumMod val="10000"/>
                          </a:schemeClr>
                        </a:solidFill>
                        <a:latin typeface="Cambria Math" panose="02040503050406030204" pitchFamily="18" charset="0"/>
                        <a:ea typeface="Cambria Math" panose="02040503050406030204" pitchFamily="18" charset="0"/>
                      </a:rPr>
                      <m:t>=7.28×</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14</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𝐻𝑧</m:t>
                    </m:r>
                  </m:oMath>
                </a14:m>
                <a:endParaRPr lang="en-AU" dirty="0">
                  <a:solidFill>
                    <a:schemeClr val="accent5">
                      <a:lumMod val="10000"/>
                    </a:schemeClr>
                  </a:solidFill>
                  <a:ea typeface="Cambria Math" panose="02040503050406030204" pitchFamily="18" charset="0"/>
                </a:endParaRPr>
              </a:p>
              <a:p>
                <a:pPr marL="0" indent="0">
                  <a:buNone/>
                </a:pPr>
                <a:r>
                  <a:rPr lang="en-AU" dirty="0">
                    <a:solidFill>
                      <a:schemeClr val="accent5">
                        <a:lumMod val="10000"/>
                      </a:schemeClr>
                    </a:solidFill>
                    <a:ea typeface="Cambria Math" panose="02040503050406030204" pitchFamily="18" charset="0"/>
                  </a:rPr>
                  <a:t>This can also be written as 728 THz, which is a violet frequency of visible light. </a:t>
                </a:r>
              </a:p>
              <a:p>
                <a:endParaRPr lang="en-AU" dirty="0"/>
              </a:p>
            </p:txBody>
          </p:sp>
        </mc:Choice>
        <mc:Fallback xmlns="">
          <p:sp>
            <p:nvSpPr>
              <p:cNvPr id="3" name="Content Placeholder 2">
                <a:extLst>
                  <a:ext uri="{FF2B5EF4-FFF2-40B4-BE49-F238E27FC236}">
                    <a16:creationId xmlns:a16="http://schemas.microsoft.com/office/drawing/2014/main" id="{3710DDE2-F51A-40A5-8684-FBB28520A06A}"/>
                  </a:ext>
                </a:extLst>
              </p:cNvPr>
              <p:cNvSpPr>
                <a:spLocks noGrp="1" noRot="1" noChangeAspect="1" noMove="1" noResize="1" noEditPoints="1" noAdjustHandles="1" noChangeArrowheads="1" noChangeShapeType="1" noTextEdit="1"/>
              </p:cNvSpPr>
              <p:nvPr>
                <p:ph idx="1"/>
              </p:nvPr>
            </p:nvSpPr>
            <p:spPr>
              <a:xfrm>
                <a:off x="1020934" y="168676"/>
                <a:ext cx="7936636" cy="4101484"/>
              </a:xfrm>
              <a:blipFill>
                <a:blip r:embed="rId2"/>
                <a:stretch>
                  <a:fillRect l="-1920" t="-3571"/>
                </a:stretch>
              </a:blipFill>
            </p:spPr>
            <p:txBody>
              <a:bodyPr/>
              <a:lstStyle/>
              <a:p>
                <a:r>
                  <a:rPr lang="en-AU">
                    <a:noFill/>
                  </a:rPr>
                  <a:t> </a:t>
                </a:r>
              </a:p>
            </p:txBody>
          </p:sp>
        </mc:Fallback>
      </mc:AlternateContent>
      <p:pic>
        <p:nvPicPr>
          <p:cNvPr id="6" name="Picture 5">
            <a:extLst>
              <a:ext uri="{FF2B5EF4-FFF2-40B4-BE49-F238E27FC236}">
                <a16:creationId xmlns:a16="http://schemas.microsoft.com/office/drawing/2014/main" id="{0012B464-490E-426F-A18A-276D2C5AFBEB}"/>
              </a:ext>
            </a:extLst>
          </p:cNvPr>
          <p:cNvPicPr>
            <a:picLocks noChangeAspect="1"/>
          </p:cNvPicPr>
          <p:nvPr/>
        </p:nvPicPr>
        <p:blipFill>
          <a:blip r:embed="rId3"/>
          <a:stretch>
            <a:fillRect/>
          </a:stretch>
        </p:blipFill>
        <p:spPr>
          <a:xfrm>
            <a:off x="4785065" y="4053367"/>
            <a:ext cx="3941685" cy="2680346"/>
          </a:xfrm>
          <a:prstGeom prst="rect">
            <a:avLst/>
          </a:prstGeom>
        </p:spPr>
      </p:pic>
      <p:pic>
        <p:nvPicPr>
          <p:cNvPr id="4" name="Picture 3">
            <a:extLst>
              <a:ext uri="{FF2B5EF4-FFF2-40B4-BE49-F238E27FC236}">
                <a16:creationId xmlns:a16="http://schemas.microsoft.com/office/drawing/2014/main" id="{043FDDFA-CE4B-4895-A605-AD64AEC186A1}"/>
              </a:ext>
            </a:extLst>
          </p:cNvPr>
          <p:cNvPicPr>
            <a:picLocks noChangeAspect="1"/>
          </p:cNvPicPr>
          <p:nvPr/>
        </p:nvPicPr>
        <p:blipFill>
          <a:blip r:embed="rId4"/>
          <a:stretch>
            <a:fillRect/>
          </a:stretch>
        </p:blipFill>
        <p:spPr>
          <a:xfrm>
            <a:off x="949910" y="4029090"/>
            <a:ext cx="3382392" cy="2828910"/>
          </a:xfrm>
          <a:prstGeom prst="rect">
            <a:avLst/>
          </a:prstGeom>
        </p:spPr>
      </p:pic>
    </p:spTree>
    <p:extLst>
      <p:ext uri="{BB962C8B-B14F-4D97-AF65-F5344CB8AC3E}">
        <p14:creationId xmlns:p14="http://schemas.microsoft.com/office/powerpoint/2010/main" val="4294336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2E3FD29-F195-45D6-982A-4933ADF24B2C}"/>
                  </a:ext>
                </a:extLst>
              </p:cNvPr>
              <p:cNvSpPr>
                <a:spLocks noGrp="1"/>
              </p:cNvSpPr>
              <p:nvPr>
                <p:ph idx="1"/>
              </p:nvPr>
            </p:nvSpPr>
            <p:spPr>
              <a:xfrm>
                <a:off x="1079787" y="625135"/>
                <a:ext cx="7704667" cy="4950041"/>
              </a:xfrm>
            </p:spPr>
            <p:txBody>
              <a:bodyPr>
                <a:normAutofit/>
              </a:bodyPr>
              <a:lstStyle/>
              <a:p>
                <a:r>
                  <a:rPr lang="en-AU" dirty="0">
                    <a:solidFill>
                      <a:schemeClr val="accent5">
                        <a:lumMod val="10000"/>
                      </a:schemeClr>
                    </a:solidFill>
                  </a:rPr>
                  <a:t>Calculate the wavelength emitted when an electron makes the following transitions and determine the colour of the emitted photon.</a:t>
                </a:r>
              </a:p>
              <a:p>
                <a:pPr lvl="1"/>
                <a:r>
                  <a:rPr lang="en-AU" dirty="0">
                    <a:solidFill>
                      <a:schemeClr val="accent5">
                        <a:lumMod val="10000"/>
                      </a:schemeClr>
                    </a:solidFill>
                  </a:rPr>
                  <a:t>n=3 to n=2</a:t>
                </a:r>
              </a:p>
              <a:p>
                <a:pPr lvl="1"/>
                <a:r>
                  <a:rPr lang="en-AU" dirty="0">
                    <a:solidFill>
                      <a:schemeClr val="accent5">
                        <a:lumMod val="10000"/>
                      </a:schemeClr>
                    </a:solidFill>
                  </a:rPr>
                  <a:t>n=4 to n=2</a:t>
                </a:r>
              </a:p>
              <a:p>
                <a:pPr lvl="1"/>
                <a:r>
                  <a:rPr lang="en-AU" dirty="0">
                    <a:solidFill>
                      <a:schemeClr val="accent5">
                        <a:lumMod val="10000"/>
                      </a:schemeClr>
                    </a:solidFill>
                  </a:rPr>
                  <a:t>n=5 to n=2</a:t>
                </a:r>
              </a:p>
              <a:p>
                <a:endParaRPr lang="en-AU" dirty="0">
                  <a:solidFill>
                    <a:schemeClr val="accent5">
                      <a:lumMod val="10000"/>
                    </a:schemeClr>
                  </a:solidFill>
                </a:endParaRPr>
              </a:p>
              <a:p>
                <a:r>
                  <a:rPr lang="en-AU" dirty="0">
                    <a:solidFill>
                      <a:schemeClr val="accent5">
                        <a:lumMod val="10000"/>
                      </a:schemeClr>
                    </a:solidFill>
                  </a:rPr>
                  <a:t>Why can we not see a photon corresponding to an energy transition from </a:t>
                </a:r>
                <a14:m>
                  <m:oMath xmlns:m="http://schemas.openxmlformats.org/officeDocument/2006/math">
                    <m:r>
                      <m:rPr>
                        <m:sty m:val="p"/>
                      </m:rPr>
                      <a:rPr lang="en-AU" dirty="0">
                        <a:solidFill>
                          <a:schemeClr val="accent5">
                            <a:lumMod val="10000"/>
                          </a:schemeClr>
                        </a:solidFill>
                        <a:latin typeface="Cambria Math" panose="02040503050406030204" pitchFamily="18" charset="0"/>
                      </a:rPr>
                      <m:t>n</m:t>
                    </m:r>
                    <m:r>
                      <a:rPr lang="en-AU" dirty="0">
                        <a:solidFill>
                          <a:schemeClr val="accent5">
                            <a:lumMod val="10000"/>
                          </a:schemeClr>
                        </a:solidFill>
                        <a:latin typeface="Cambria Math" panose="02040503050406030204" pitchFamily="18" charset="0"/>
                      </a:rPr>
                      <m:t>=2 </m:t>
                    </m:r>
                  </m:oMath>
                </a14:m>
                <a:r>
                  <a:rPr lang="en-AU" dirty="0">
                    <a:solidFill>
                      <a:schemeClr val="accent5">
                        <a:lumMod val="10000"/>
                      </a:schemeClr>
                    </a:solidFill>
                  </a:rPr>
                  <a:t>to </a:t>
                </a:r>
                <a14:m>
                  <m:oMath xmlns:m="http://schemas.openxmlformats.org/officeDocument/2006/math">
                    <m:r>
                      <m:rPr>
                        <m:sty m:val="p"/>
                      </m:rPr>
                      <a:rPr lang="en-AU" dirty="0">
                        <a:solidFill>
                          <a:schemeClr val="accent5">
                            <a:lumMod val="10000"/>
                          </a:schemeClr>
                        </a:solidFill>
                        <a:latin typeface="Cambria Math" panose="02040503050406030204" pitchFamily="18" charset="0"/>
                      </a:rPr>
                      <m:t>n</m:t>
                    </m:r>
                    <m:r>
                      <a:rPr lang="en-AU" dirty="0">
                        <a:solidFill>
                          <a:schemeClr val="accent5">
                            <a:lumMod val="10000"/>
                          </a:schemeClr>
                        </a:solidFill>
                        <a:latin typeface="Cambria Math" panose="02040503050406030204" pitchFamily="18" charset="0"/>
                      </a:rPr>
                      <m:t>=1</m:t>
                    </m:r>
                  </m:oMath>
                </a14:m>
                <a:r>
                  <a:rPr lang="en-AU" dirty="0">
                    <a:solidFill>
                      <a:schemeClr val="accent5">
                        <a:lumMod val="10000"/>
                      </a:schemeClr>
                    </a:solidFill>
                  </a:rPr>
                  <a:t>?   Calculate the corresponding wavelength of the emitted photon to support your answer.</a:t>
                </a:r>
              </a:p>
              <a:p>
                <a:pPr marL="0" indent="0">
                  <a:buNone/>
                </a:pPr>
                <a:endParaRPr lang="en-AU" dirty="0"/>
              </a:p>
            </p:txBody>
          </p:sp>
        </mc:Choice>
        <mc:Fallback>
          <p:sp>
            <p:nvSpPr>
              <p:cNvPr id="3" name="Content Placeholder 2">
                <a:extLst>
                  <a:ext uri="{FF2B5EF4-FFF2-40B4-BE49-F238E27FC236}">
                    <a16:creationId xmlns:a16="http://schemas.microsoft.com/office/drawing/2014/main" id="{A2E3FD29-F195-45D6-982A-4933ADF24B2C}"/>
                  </a:ext>
                </a:extLst>
              </p:cNvPr>
              <p:cNvSpPr>
                <a:spLocks noGrp="1" noRot="1" noChangeAspect="1" noMove="1" noResize="1" noEditPoints="1" noAdjustHandles="1" noChangeArrowheads="1" noChangeShapeType="1" noTextEdit="1"/>
              </p:cNvSpPr>
              <p:nvPr>
                <p:ph idx="1"/>
              </p:nvPr>
            </p:nvSpPr>
            <p:spPr>
              <a:xfrm>
                <a:off x="1079787" y="625135"/>
                <a:ext cx="7704667" cy="4950041"/>
              </a:xfrm>
              <a:blipFill>
                <a:blip r:embed="rId2"/>
                <a:stretch>
                  <a:fillRect l="-1978" t="-5911" r="-1345"/>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E829661-50BE-419F-AFE4-6242C80C3612}"/>
                  </a:ext>
                </a:extLst>
              </p:cNvPr>
              <p:cNvSpPr txBox="1"/>
              <p:nvPr/>
            </p:nvSpPr>
            <p:spPr>
              <a:xfrm>
                <a:off x="3249228" y="5317725"/>
                <a:ext cx="2965141" cy="12003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smtClean="0">
                          <a:solidFill>
                            <a:schemeClr val="accent5">
                              <a:lumMod val="10000"/>
                            </a:schemeClr>
                          </a:solidFill>
                          <a:latin typeface="Cambria Math" panose="02040503050406030204" pitchFamily="18" charset="0"/>
                          <a:ea typeface="Cambria Math" panose="02040503050406030204" pitchFamily="18" charset="0"/>
                        </a:rPr>
                        <m:t>∆</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𝐸</m:t>
                      </m:r>
                      <m:r>
                        <a:rPr lang="en-AU" sz="2400" b="0" i="1" smtClean="0">
                          <a:solidFill>
                            <a:schemeClr val="accent5">
                              <a:lumMod val="10000"/>
                            </a:schemeClr>
                          </a:solidFill>
                          <a:latin typeface="Cambria Math" panose="02040503050406030204" pitchFamily="18" charset="0"/>
                          <a:ea typeface="Cambria Math" panose="02040503050406030204" pitchFamily="18" charset="0"/>
                        </a:rPr>
                        <m:t>=10.2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𝑒𝑉</m:t>
                      </m:r>
                    </m:oMath>
                  </m:oMathPara>
                </a14:m>
                <a:endParaRPr lang="en-AU" sz="2400" b="0" dirty="0">
                  <a:solidFill>
                    <a:schemeClr val="accent5">
                      <a:lumMod val="10000"/>
                    </a:schemeClr>
                  </a:solidFill>
                  <a:ea typeface="Cambria Math" panose="02040503050406030204" pitchFamily="18" charset="0"/>
                </a:endParaRPr>
              </a:p>
              <a:p>
                <a:r>
                  <a:rPr lang="en-AU" sz="2400" dirty="0">
                    <a:solidFill>
                      <a:schemeClr val="accent5">
                        <a:lumMod val="10000"/>
                      </a:schemeClr>
                    </a:solidFill>
                  </a:rPr>
                  <a:t>Wavelength is 122 nm</a:t>
                </a:r>
              </a:p>
              <a:p>
                <a:r>
                  <a:rPr lang="en-AU" sz="2400" dirty="0">
                    <a:solidFill>
                      <a:schemeClr val="accent5">
                        <a:lumMod val="10000"/>
                      </a:schemeClr>
                    </a:solidFill>
                  </a:rPr>
                  <a:t>Photon is in UV range</a:t>
                </a:r>
              </a:p>
            </p:txBody>
          </p:sp>
        </mc:Choice>
        <mc:Fallback xmlns="">
          <p:sp>
            <p:nvSpPr>
              <p:cNvPr id="4" name="TextBox 3">
                <a:extLst>
                  <a:ext uri="{FF2B5EF4-FFF2-40B4-BE49-F238E27FC236}">
                    <a16:creationId xmlns:a16="http://schemas.microsoft.com/office/drawing/2014/main" id="{9E829661-50BE-419F-AFE4-6242C80C3612}"/>
                  </a:ext>
                </a:extLst>
              </p:cNvPr>
              <p:cNvSpPr txBox="1">
                <a:spLocks noRot="1" noChangeAspect="1" noMove="1" noResize="1" noEditPoints="1" noAdjustHandles="1" noChangeArrowheads="1" noChangeShapeType="1" noTextEdit="1"/>
              </p:cNvSpPr>
              <p:nvPr/>
            </p:nvSpPr>
            <p:spPr>
              <a:xfrm>
                <a:off x="3249228" y="5317725"/>
                <a:ext cx="2965141" cy="1200329"/>
              </a:xfrm>
              <a:prstGeom prst="rect">
                <a:avLst/>
              </a:prstGeom>
              <a:blipFill>
                <a:blip r:embed="rId3"/>
                <a:stretch>
                  <a:fillRect l="-3086" r="-2058" b="-10660"/>
                </a:stretch>
              </a:blipFill>
            </p:spPr>
            <p:txBody>
              <a:bodyPr/>
              <a:lstStyle/>
              <a:p>
                <a:r>
                  <a:rPr lang="en-AU">
                    <a:noFill/>
                  </a:rPr>
                  <a:t> </a:t>
                </a:r>
              </a:p>
            </p:txBody>
          </p:sp>
        </mc:Fallback>
      </mc:AlternateContent>
      <p:sp>
        <p:nvSpPr>
          <p:cNvPr id="5" name="TextBox 4">
            <a:extLst>
              <a:ext uri="{FF2B5EF4-FFF2-40B4-BE49-F238E27FC236}">
                <a16:creationId xmlns:a16="http://schemas.microsoft.com/office/drawing/2014/main" id="{03D546C6-3442-400E-892D-A36C3C25F660}"/>
              </a:ext>
            </a:extLst>
          </p:cNvPr>
          <p:cNvSpPr txBox="1"/>
          <p:nvPr/>
        </p:nvSpPr>
        <p:spPr>
          <a:xfrm>
            <a:off x="3764132" y="1757778"/>
            <a:ext cx="3932808" cy="1200329"/>
          </a:xfrm>
          <a:prstGeom prst="rect">
            <a:avLst/>
          </a:prstGeom>
          <a:noFill/>
        </p:spPr>
        <p:txBody>
          <a:bodyPr wrap="square" rtlCol="0">
            <a:spAutoFit/>
          </a:bodyPr>
          <a:lstStyle/>
          <a:p>
            <a:r>
              <a:rPr lang="en-AU" sz="2400" dirty="0">
                <a:solidFill>
                  <a:schemeClr val="accent5">
                    <a:lumMod val="10000"/>
                  </a:schemeClr>
                </a:solidFill>
              </a:rPr>
              <a:t>658 nm    red </a:t>
            </a:r>
          </a:p>
          <a:p>
            <a:r>
              <a:rPr lang="en-AU" sz="2400" dirty="0">
                <a:solidFill>
                  <a:schemeClr val="accent5">
                    <a:lumMod val="10000"/>
                  </a:schemeClr>
                </a:solidFill>
              </a:rPr>
              <a:t>488 nm    blue</a:t>
            </a:r>
          </a:p>
          <a:p>
            <a:r>
              <a:rPr lang="en-AU" sz="2400" dirty="0">
                <a:solidFill>
                  <a:schemeClr val="accent5">
                    <a:lumMod val="10000"/>
                  </a:schemeClr>
                </a:solidFill>
              </a:rPr>
              <a:t>435 nm     violet</a:t>
            </a:r>
          </a:p>
        </p:txBody>
      </p:sp>
    </p:spTree>
    <p:extLst>
      <p:ext uri="{BB962C8B-B14F-4D97-AF65-F5344CB8AC3E}">
        <p14:creationId xmlns:p14="http://schemas.microsoft.com/office/powerpoint/2010/main" val="3226698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0078-BCBD-4A31-A45A-7C0DEC08A92E}"/>
              </a:ext>
            </a:extLst>
          </p:cNvPr>
          <p:cNvSpPr>
            <a:spLocks noGrp="1"/>
          </p:cNvSpPr>
          <p:nvPr>
            <p:ph type="title"/>
          </p:nvPr>
        </p:nvSpPr>
        <p:spPr>
          <a:xfrm>
            <a:off x="964378" y="155360"/>
            <a:ext cx="7704667" cy="776795"/>
          </a:xfrm>
        </p:spPr>
        <p:txBody>
          <a:bodyPr/>
          <a:lstStyle/>
          <a:p>
            <a:r>
              <a:rPr lang="en-AU" dirty="0">
                <a:solidFill>
                  <a:schemeClr val="accent5">
                    <a:lumMod val="10000"/>
                  </a:schemeClr>
                </a:solidFill>
              </a:rPr>
              <a:t>Absorption</a:t>
            </a:r>
          </a:p>
        </p:txBody>
      </p:sp>
      <p:sp>
        <p:nvSpPr>
          <p:cNvPr id="3" name="Content Placeholder 2">
            <a:extLst>
              <a:ext uri="{FF2B5EF4-FFF2-40B4-BE49-F238E27FC236}">
                <a16:creationId xmlns:a16="http://schemas.microsoft.com/office/drawing/2014/main" id="{50C02917-191A-4F0E-9811-44111E2F30A9}"/>
              </a:ext>
            </a:extLst>
          </p:cNvPr>
          <p:cNvSpPr>
            <a:spLocks noGrp="1"/>
          </p:cNvSpPr>
          <p:nvPr>
            <p:ph idx="1"/>
          </p:nvPr>
        </p:nvSpPr>
        <p:spPr>
          <a:xfrm>
            <a:off x="843380" y="736846"/>
            <a:ext cx="8052046" cy="3524436"/>
          </a:xfrm>
        </p:spPr>
        <p:txBody>
          <a:bodyPr>
            <a:normAutofit lnSpcReduction="10000"/>
          </a:bodyPr>
          <a:lstStyle/>
          <a:p>
            <a:r>
              <a:rPr lang="en-AU" dirty="0">
                <a:solidFill>
                  <a:schemeClr val="accent5">
                    <a:lumMod val="10000"/>
                  </a:schemeClr>
                </a:solidFill>
              </a:rPr>
              <a:t>When source of white light is passed through cold hydrogen gas the electron in the atoms can absorb a photon.</a:t>
            </a:r>
          </a:p>
          <a:p>
            <a:r>
              <a:rPr lang="en-AU" dirty="0">
                <a:solidFill>
                  <a:schemeClr val="accent5">
                    <a:lumMod val="10000"/>
                  </a:schemeClr>
                </a:solidFill>
              </a:rPr>
              <a:t>The energy from the photon can be used to make the electron move up to a higher energy level.</a:t>
            </a:r>
          </a:p>
          <a:p>
            <a:r>
              <a:rPr lang="en-AU" dirty="0">
                <a:solidFill>
                  <a:schemeClr val="accent5">
                    <a:lumMod val="10000"/>
                  </a:schemeClr>
                </a:solidFill>
              </a:rPr>
              <a:t>This only occurs if the photon has an energy that </a:t>
            </a:r>
            <a:r>
              <a:rPr lang="en-AU" b="1" u="sng" dirty="0">
                <a:solidFill>
                  <a:schemeClr val="accent5">
                    <a:lumMod val="10000"/>
                  </a:schemeClr>
                </a:solidFill>
              </a:rPr>
              <a:t>exactly</a:t>
            </a:r>
            <a:r>
              <a:rPr lang="en-AU" dirty="0">
                <a:solidFill>
                  <a:schemeClr val="accent5">
                    <a:lumMod val="10000"/>
                  </a:schemeClr>
                </a:solidFill>
              </a:rPr>
              <a:t> matches the energy required to reach a higher energy level, or if the energy is greater than the ionisation energy (as the excess energy goes into the kinetic energy of the emitted electron.</a:t>
            </a:r>
          </a:p>
        </p:txBody>
      </p:sp>
      <p:pic>
        <p:nvPicPr>
          <p:cNvPr id="4" name="Picture 3">
            <a:extLst>
              <a:ext uri="{FF2B5EF4-FFF2-40B4-BE49-F238E27FC236}">
                <a16:creationId xmlns:a16="http://schemas.microsoft.com/office/drawing/2014/main" id="{5DCCDB3D-0FD1-414B-BAC6-49A418C5E216}"/>
              </a:ext>
            </a:extLst>
          </p:cNvPr>
          <p:cNvPicPr>
            <a:picLocks noChangeAspect="1"/>
          </p:cNvPicPr>
          <p:nvPr/>
        </p:nvPicPr>
        <p:blipFill>
          <a:blip r:embed="rId2"/>
          <a:stretch>
            <a:fillRect/>
          </a:stretch>
        </p:blipFill>
        <p:spPr>
          <a:xfrm>
            <a:off x="2085559" y="4259433"/>
            <a:ext cx="5114925" cy="2209800"/>
          </a:xfrm>
          <a:prstGeom prst="rect">
            <a:avLst/>
          </a:prstGeom>
        </p:spPr>
      </p:pic>
    </p:spTree>
    <p:extLst>
      <p:ext uri="{BB962C8B-B14F-4D97-AF65-F5344CB8AC3E}">
        <p14:creationId xmlns:p14="http://schemas.microsoft.com/office/powerpoint/2010/main" val="429628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4CA52E-806D-44E4-8898-1AFC5D4E5662}"/>
              </a:ext>
            </a:extLst>
          </p:cNvPr>
          <p:cNvSpPr>
            <a:spLocks noGrp="1"/>
          </p:cNvSpPr>
          <p:nvPr>
            <p:ph idx="1"/>
          </p:nvPr>
        </p:nvSpPr>
        <p:spPr>
          <a:xfrm>
            <a:off x="1044277" y="358806"/>
            <a:ext cx="7704667" cy="3332816"/>
          </a:xfrm>
        </p:spPr>
        <p:txBody>
          <a:bodyPr/>
          <a:lstStyle/>
          <a:p>
            <a:r>
              <a:rPr lang="en-AU" dirty="0">
                <a:solidFill>
                  <a:schemeClr val="accent5">
                    <a:lumMod val="10000"/>
                  </a:schemeClr>
                </a:solidFill>
              </a:rPr>
              <a:t>This means the photon is absorbed by an atom in the gas. </a:t>
            </a:r>
          </a:p>
          <a:p>
            <a:r>
              <a:rPr lang="en-AU" dirty="0">
                <a:solidFill>
                  <a:schemeClr val="accent5">
                    <a:lumMod val="10000"/>
                  </a:schemeClr>
                </a:solidFill>
              </a:rPr>
              <a:t>If there are enough atoms in the gas, then the colour associated with this photon does not appear in the spectrum of light after it has passed through the gas.  </a:t>
            </a:r>
          </a:p>
          <a:p>
            <a:endParaRPr lang="en-AU" dirty="0"/>
          </a:p>
        </p:txBody>
      </p:sp>
      <p:pic>
        <p:nvPicPr>
          <p:cNvPr id="4" name="Picture 3">
            <a:extLst>
              <a:ext uri="{FF2B5EF4-FFF2-40B4-BE49-F238E27FC236}">
                <a16:creationId xmlns:a16="http://schemas.microsoft.com/office/drawing/2014/main" id="{6D164D8A-DA9F-4D0A-9CF9-AE7569ED57FC}"/>
              </a:ext>
            </a:extLst>
          </p:cNvPr>
          <p:cNvPicPr>
            <a:picLocks noChangeAspect="1"/>
          </p:cNvPicPr>
          <p:nvPr/>
        </p:nvPicPr>
        <p:blipFill>
          <a:blip r:embed="rId2"/>
          <a:stretch>
            <a:fillRect/>
          </a:stretch>
        </p:blipFill>
        <p:spPr>
          <a:xfrm>
            <a:off x="2345274" y="2985806"/>
            <a:ext cx="4755292" cy="3194581"/>
          </a:xfrm>
          <a:prstGeom prst="rect">
            <a:avLst/>
          </a:prstGeom>
        </p:spPr>
      </p:pic>
    </p:spTree>
    <p:extLst>
      <p:ext uri="{BB962C8B-B14F-4D97-AF65-F5344CB8AC3E}">
        <p14:creationId xmlns:p14="http://schemas.microsoft.com/office/powerpoint/2010/main" val="3707482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EE0E57-620D-4E15-A8FD-550C304B6556}"/>
                  </a:ext>
                </a:extLst>
              </p:cNvPr>
              <p:cNvSpPr>
                <a:spLocks noGrp="1"/>
              </p:cNvSpPr>
              <p:nvPr>
                <p:ph idx="1"/>
              </p:nvPr>
            </p:nvSpPr>
            <p:spPr>
              <a:xfrm>
                <a:off x="754603" y="261151"/>
                <a:ext cx="8313938" cy="2304496"/>
              </a:xfrm>
            </p:spPr>
            <p:txBody>
              <a:bodyPr/>
              <a:lstStyle/>
              <a:p>
                <a:pPr marL="0" indent="0">
                  <a:buNone/>
                </a:pPr>
                <a:r>
                  <a:rPr lang="en-AU" dirty="0">
                    <a:solidFill>
                      <a:schemeClr val="accent5">
                        <a:lumMod val="10000"/>
                      </a:schemeClr>
                    </a:solidFill>
                  </a:rPr>
                  <a:t>Question:  A hydrogen atom collides with an incident photon of  frequency </a:t>
                </a:r>
                <a14:m>
                  <m:oMath xmlns:m="http://schemas.openxmlformats.org/officeDocument/2006/math">
                    <m:r>
                      <a:rPr lang="en-AU" b="0" i="0" smtClean="0">
                        <a:solidFill>
                          <a:schemeClr val="accent5">
                            <a:lumMod val="10000"/>
                          </a:schemeClr>
                        </a:solidFill>
                        <a:latin typeface="Cambria Math" panose="02040503050406030204" pitchFamily="18" charset="0"/>
                      </a:rPr>
                      <m:t>3.42</m:t>
                    </m:r>
                    <m:r>
                      <a:rPr lang="en-AU" b="0" i="0"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0"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0" smtClean="0">
                            <a:solidFill>
                              <a:schemeClr val="accent5">
                                <a:lumMod val="10000"/>
                              </a:schemeClr>
                            </a:solidFill>
                            <a:latin typeface="Cambria Math" panose="02040503050406030204" pitchFamily="18" charset="0"/>
                            <a:ea typeface="Cambria Math" panose="02040503050406030204" pitchFamily="18" charset="0"/>
                          </a:rPr>
                          <m:t>3</m:t>
                        </m:r>
                      </m:sup>
                    </m:sSup>
                    <m:r>
                      <a:rPr lang="en-AU" b="0" i="0" smtClean="0">
                        <a:solidFill>
                          <a:schemeClr val="accent5">
                            <a:lumMod val="10000"/>
                          </a:schemeClr>
                        </a:solidFill>
                        <a:latin typeface="Cambria Math" panose="02040503050406030204" pitchFamily="18" charset="0"/>
                        <a:ea typeface="Cambria Math" panose="02040503050406030204" pitchFamily="18" charset="0"/>
                      </a:rPr>
                      <m:t> </m:t>
                    </m:r>
                    <m:r>
                      <m:rPr>
                        <m:sty m:val="p"/>
                      </m:rPr>
                      <a:rPr lang="en-AU" b="0" i="0" smtClean="0">
                        <a:solidFill>
                          <a:schemeClr val="accent5">
                            <a:lumMod val="10000"/>
                          </a:schemeClr>
                        </a:solidFill>
                        <a:latin typeface="Cambria Math" panose="02040503050406030204" pitchFamily="18" charset="0"/>
                        <a:ea typeface="Cambria Math" panose="02040503050406030204" pitchFamily="18" charset="0"/>
                      </a:rPr>
                      <m:t>THz</m:t>
                    </m:r>
                  </m:oMath>
                </a14:m>
                <a:r>
                  <a:rPr lang="en-AU" dirty="0">
                    <a:solidFill>
                      <a:schemeClr val="accent5">
                        <a:lumMod val="10000"/>
                      </a:schemeClr>
                    </a:solidFill>
                  </a:rPr>
                  <a:t>.  What is the kinetic energy of the ground </a:t>
                </a:r>
                <a:r>
                  <a:rPr lang="en-AU">
                    <a:solidFill>
                      <a:schemeClr val="accent5">
                        <a:lumMod val="10000"/>
                      </a:schemeClr>
                    </a:solidFill>
                  </a:rPr>
                  <a:t>state electron </a:t>
                </a:r>
                <a:r>
                  <a:rPr lang="en-AU" dirty="0">
                    <a:solidFill>
                      <a:schemeClr val="accent5">
                        <a:lumMod val="10000"/>
                      </a:schemeClr>
                    </a:solidFill>
                  </a:rPr>
                  <a:t>after it absorbs the photon?</a:t>
                </a:r>
              </a:p>
            </p:txBody>
          </p:sp>
        </mc:Choice>
        <mc:Fallback xmlns="">
          <p:sp>
            <p:nvSpPr>
              <p:cNvPr id="3" name="Content Placeholder 2">
                <a:extLst>
                  <a:ext uri="{FF2B5EF4-FFF2-40B4-BE49-F238E27FC236}">
                    <a16:creationId xmlns:a16="http://schemas.microsoft.com/office/drawing/2014/main" id="{1FEE0E57-620D-4E15-A8FD-550C304B6556}"/>
                  </a:ext>
                </a:extLst>
              </p:cNvPr>
              <p:cNvSpPr>
                <a:spLocks noGrp="1" noRot="1" noChangeAspect="1" noMove="1" noResize="1" noEditPoints="1" noAdjustHandles="1" noChangeArrowheads="1" noChangeShapeType="1" noTextEdit="1"/>
              </p:cNvSpPr>
              <p:nvPr>
                <p:ph idx="1"/>
              </p:nvPr>
            </p:nvSpPr>
            <p:spPr>
              <a:xfrm>
                <a:off x="754603" y="261151"/>
                <a:ext cx="8313938" cy="2304496"/>
              </a:xfrm>
              <a:blipFill>
                <a:blip r:embed="rId2"/>
                <a:stretch>
                  <a:fillRect l="-117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23F1C50-4F3B-45EB-907F-141DE2556842}"/>
                  </a:ext>
                </a:extLst>
              </p:cNvPr>
              <p:cNvSpPr txBox="1"/>
              <p:nvPr/>
            </p:nvSpPr>
            <p:spPr>
              <a:xfrm>
                <a:off x="568171" y="2379216"/>
                <a:ext cx="8087557" cy="3785652"/>
              </a:xfrm>
              <a:prstGeom prst="rect">
                <a:avLst/>
              </a:prstGeom>
              <a:noFill/>
            </p:spPr>
            <p:txBody>
              <a:bodyPr wrap="square" rtlCol="0">
                <a:spAutoFit/>
              </a:bodyPr>
              <a:lstStyle/>
              <a:p>
                <a:r>
                  <a:rPr lang="en-AU" sz="2400" dirty="0">
                    <a:solidFill>
                      <a:schemeClr val="accent5">
                        <a:lumMod val="10000"/>
                      </a:schemeClr>
                    </a:solidFill>
                  </a:rPr>
                  <a:t>Answer:  </a:t>
                </a:r>
              </a:p>
              <a:p>
                <a:pPr/>
                <a14:m>
                  <m:oMathPara xmlns:m="http://schemas.openxmlformats.org/officeDocument/2006/math">
                    <m:oMathParaPr>
                      <m:jc m:val="centerGroup"/>
                    </m:oMathParaPr>
                    <m:oMath xmlns:m="http://schemas.openxmlformats.org/officeDocument/2006/math">
                      <m:r>
                        <a:rPr lang="en-AU" sz="2400" i="1">
                          <a:solidFill>
                            <a:schemeClr val="accent5">
                              <a:lumMod val="10000"/>
                            </a:schemeClr>
                          </a:solidFill>
                          <a:latin typeface="Cambria Math" panose="02040503050406030204" pitchFamily="18" charset="0"/>
                          <a:ea typeface="Cambria Math" panose="02040503050406030204" pitchFamily="18" charset="0"/>
                        </a:rPr>
                        <m:t>𝐸</m:t>
                      </m:r>
                      <m:r>
                        <a:rPr lang="en-AU" sz="2400" i="1">
                          <a:solidFill>
                            <a:schemeClr val="accent5">
                              <a:lumMod val="10000"/>
                            </a:schemeClr>
                          </a:solidFill>
                          <a:latin typeface="Cambria Math" panose="02040503050406030204" pitchFamily="18" charset="0"/>
                          <a:ea typeface="Cambria Math" panose="02040503050406030204" pitchFamily="18" charset="0"/>
                        </a:rPr>
                        <m:t>=</m:t>
                      </m:r>
                      <m:r>
                        <a:rPr lang="en-AU" sz="2400" i="1">
                          <a:solidFill>
                            <a:schemeClr val="accent5">
                              <a:lumMod val="10000"/>
                            </a:schemeClr>
                          </a:solidFill>
                          <a:latin typeface="Cambria Math" panose="02040503050406030204" pitchFamily="18" charset="0"/>
                          <a:ea typeface="Cambria Math" panose="02040503050406030204" pitchFamily="18" charset="0"/>
                        </a:rPr>
                        <m:t>h𝑓</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d>
                        <m:d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ea typeface="Cambria Math" panose="02040503050406030204" pitchFamily="18" charset="0"/>
                            </a:rPr>
                            <m:t>6.63×</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−34</m:t>
                              </m:r>
                            </m:sup>
                          </m:sSup>
                        </m:e>
                      </m:d>
                      <m:d>
                        <m:d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ea typeface="Cambria Math" panose="02040503050406030204" pitchFamily="18" charset="0"/>
                            </a:rPr>
                            <m:t>3420×</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12</m:t>
                              </m:r>
                            </m:sup>
                          </m:sSup>
                        </m:e>
                      </m:d>
                      <m:r>
                        <a:rPr lang="en-AU" sz="2400" b="0" i="1" smtClean="0">
                          <a:solidFill>
                            <a:schemeClr val="accent5">
                              <a:lumMod val="10000"/>
                            </a:schemeClr>
                          </a:solidFill>
                          <a:latin typeface="Cambria Math" panose="02040503050406030204" pitchFamily="18" charset="0"/>
                          <a:ea typeface="Cambria Math" panose="02040503050406030204" pitchFamily="18" charset="0"/>
                        </a:rPr>
                        <m:t>=2.267×</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−18</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𝐽</m:t>
                      </m:r>
                    </m:oMath>
                  </m:oMathPara>
                </a14:m>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r>
                        <a:rPr lang="en-AU" sz="2400" i="1">
                          <a:solidFill>
                            <a:schemeClr val="accent5">
                              <a:lumMod val="10000"/>
                            </a:schemeClr>
                          </a:solidFill>
                          <a:latin typeface="Cambria Math" panose="02040503050406030204" pitchFamily="18" charset="0"/>
                          <a:ea typeface="Cambria Math" panose="02040503050406030204" pitchFamily="18" charset="0"/>
                        </a:rPr>
                        <m:t>𝐸</m:t>
                      </m:r>
                      <m:r>
                        <a:rPr lang="en-AU" sz="2400" b="0" i="1" smtClean="0">
                          <a:solidFill>
                            <a:schemeClr val="accent5">
                              <a:lumMod val="10000"/>
                            </a:schemeClr>
                          </a:solidFill>
                          <a:latin typeface="Cambria Math" panose="02040503050406030204" pitchFamily="18" charset="0"/>
                          <a:ea typeface="Cambria Math" panose="02040503050406030204" pitchFamily="18" charset="0"/>
                        </a:rPr>
                        <m:t>=14.2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𝑒𝑉</m:t>
                      </m:r>
                    </m:oMath>
                  </m:oMathPara>
                </a14:m>
                <a:endParaRPr lang="en-AU" sz="2400" dirty="0">
                  <a:solidFill>
                    <a:schemeClr val="accent5">
                      <a:lumMod val="10000"/>
                    </a:schemeClr>
                  </a:solidFill>
                </a:endParaRPr>
              </a:p>
              <a:p>
                <a:r>
                  <a:rPr lang="en-AU" sz="2400" dirty="0">
                    <a:solidFill>
                      <a:schemeClr val="accent5">
                        <a:lumMod val="10000"/>
                      </a:schemeClr>
                    </a:solidFill>
                  </a:rPr>
                  <a:t>This does not correspond to a specific energy level transition, BUT it does ionise the electron as it exceeds 13.6 eV.</a:t>
                </a: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r>
                        <a:rPr lang="en-AU" sz="2400" i="1" smtClean="0">
                          <a:solidFill>
                            <a:schemeClr val="accent5">
                              <a:lumMod val="10000"/>
                            </a:schemeClr>
                          </a:solidFill>
                          <a:latin typeface="Cambria Math" panose="02040503050406030204" pitchFamily="18" charset="0"/>
                          <a:ea typeface="Cambria Math" panose="02040503050406030204" pitchFamily="18" charset="0"/>
                        </a:rPr>
                        <m:t>∆</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𝐸</m:t>
                      </m:r>
                      <m:r>
                        <a:rPr lang="en-AU" sz="2400" b="0" i="1" smtClean="0">
                          <a:solidFill>
                            <a:schemeClr val="accent5">
                              <a:lumMod val="10000"/>
                            </a:schemeClr>
                          </a:solidFill>
                          <a:latin typeface="Cambria Math" panose="02040503050406030204" pitchFamily="18" charset="0"/>
                          <a:ea typeface="Cambria Math" panose="02040503050406030204" pitchFamily="18" charset="0"/>
                        </a:rPr>
                        <m:t>=14.2−13.6=0.572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𝑒𝑉</m:t>
                      </m:r>
                      <m:r>
                        <a:rPr lang="en-AU" sz="2400" b="0" i="1" smtClean="0">
                          <a:solidFill>
                            <a:schemeClr val="accent5">
                              <a:lumMod val="10000"/>
                            </a:schemeClr>
                          </a:solidFill>
                          <a:latin typeface="Cambria Math" panose="02040503050406030204" pitchFamily="18" charset="0"/>
                          <a:ea typeface="Cambria Math" panose="02040503050406030204" pitchFamily="18" charset="0"/>
                        </a:rPr>
                        <m:t>=9.146×</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−20</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𝐽</m:t>
                      </m:r>
                    </m:oMath>
                  </m:oMathPara>
                </a14:m>
                <a:endParaRPr lang="en-AU" sz="2400" dirty="0">
                  <a:solidFill>
                    <a:schemeClr val="accent5">
                      <a:lumMod val="10000"/>
                    </a:schemeClr>
                  </a:solidFill>
                </a:endParaRPr>
              </a:p>
              <a:p>
                <a:endParaRPr lang="en-AU" sz="2400" dirty="0">
                  <a:solidFill>
                    <a:schemeClr val="accent5">
                      <a:lumMod val="10000"/>
                    </a:schemeClr>
                  </a:solidFill>
                </a:endParaRPr>
              </a:p>
              <a:p>
                <a:r>
                  <a:rPr lang="en-AU" sz="2400" dirty="0">
                    <a:solidFill>
                      <a:schemeClr val="accent5">
                        <a:lumMod val="10000"/>
                      </a:schemeClr>
                    </a:solidFill>
                  </a:rPr>
                  <a:t>Therefore the kinetic energy is </a:t>
                </a:r>
                <a14:m>
                  <m:oMath xmlns:m="http://schemas.openxmlformats.org/officeDocument/2006/math">
                    <m:r>
                      <a:rPr lang="en-AU" sz="2400" i="1">
                        <a:solidFill>
                          <a:schemeClr val="accent5">
                            <a:lumMod val="10000"/>
                          </a:schemeClr>
                        </a:solidFill>
                        <a:latin typeface="Cambria Math" panose="02040503050406030204" pitchFamily="18" charset="0"/>
                        <a:ea typeface="Cambria Math" panose="02040503050406030204" pitchFamily="18" charset="0"/>
                      </a:rPr>
                      <m:t>0.572 </m:t>
                    </m:r>
                    <m:r>
                      <a:rPr lang="en-AU" sz="2400" i="1">
                        <a:solidFill>
                          <a:schemeClr val="accent5">
                            <a:lumMod val="10000"/>
                          </a:schemeClr>
                        </a:solidFill>
                        <a:latin typeface="Cambria Math" panose="02040503050406030204" pitchFamily="18" charset="0"/>
                        <a:ea typeface="Cambria Math" panose="02040503050406030204" pitchFamily="18" charset="0"/>
                      </a:rPr>
                      <m:t>𝑒𝑉</m:t>
                    </m:r>
                  </m:oMath>
                </a14:m>
                <a:r>
                  <a:rPr lang="en-AU" sz="2400" dirty="0">
                    <a:solidFill>
                      <a:schemeClr val="accent5">
                        <a:lumMod val="10000"/>
                      </a:schemeClr>
                    </a:solidFill>
                  </a:rPr>
                  <a:t> or </a:t>
                </a:r>
                <a14:m>
                  <m:oMath xmlns:m="http://schemas.openxmlformats.org/officeDocument/2006/math">
                    <m:r>
                      <a:rPr lang="en-AU" sz="2400" i="1">
                        <a:solidFill>
                          <a:schemeClr val="accent5">
                            <a:lumMod val="10000"/>
                          </a:schemeClr>
                        </a:solidFill>
                        <a:latin typeface="Cambria Math" panose="02040503050406030204" pitchFamily="18" charset="0"/>
                        <a:ea typeface="Cambria Math" panose="02040503050406030204" pitchFamily="18" charset="0"/>
                      </a:rPr>
                      <m:t>9.1</m:t>
                    </m:r>
                    <m:r>
                      <a:rPr lang="en-AU" sz="2400" b="0" i="1" smtClean="0">
                        <a:solidFill>
                          <a:schemeClr val="accent5">
                            <a:lumMod val="10000"/>
                          </a:schemeClr>
                        </a:solidFill>
                        <a:latin typeface="Cambria Math" panose="02040503050406030204" pitchFamily="18" charset="0"/>
                        <a:ea typeface="Cambria Math" panose="02040503050406030204" pitchFamily="18" charset="0"/>
                      </a:rPr>
                      <m:t>5</m:t>
                    </m:r>
                    <m:r>
                      <a:rPr lang="en-AU" sz="2400" i="1">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i="1">
                            <a:solidFill>
                              <a:schemeClr val="accent5">
                                <a:lumMod val="10000"/>
                              </a:schemeClr>
                            </a:solidFill>
                            <a:latin typeface="Cambria Math" panose="02040503050406030204" pitchFamily="18" charset="0"/>
                            <a:ea typeface="Cambria Math" panose="02040503050406030204" pitchFamily="18" charset="0"/>
                          </a:rPr>
                        </m:ctrlPr>
                      </m:sSupPr>
                      <m:e>
                        <m:r>
                          <a:rPr lang="en-AU" sz="2400" i="1">
                            <a:solidFill>
                              <a:schemeClr val="accent5">
                                <a:lumMod val="10000"/>
                              </a:schemeClr>
                            </a:solidFill>
                            <a:latin typeface="Cambria Math" panose="02040503050406030204" pitchFamily="18" charset="0"/>
                            <a:ea typeface="Cambria Math" panose="02040503050406030204" pitchFamily="18" charset="0"/>
                          </a:rPr>
                          <m:t>10</m:t>
                        </m:r>
                      </m:e>
                      <m:sup>
                        <m:r>
                          <a:rPr lang="en-AU" sz="2400" i="1">
                            <a:solidFill>
                              <a:schemeClr val="accent5">
                                <a:lumMod val="10000"/>
                              </a:schemeClr>
                            </a:solidFill>
                            <a:latin typeface="Cambria Math" panose="02040503050406030204" pitchFamily="18" charset="0"/>
                            <a:ea typeface="Cambria Math" panose="02040503050406030204" pitchFamily="18" charset="0"/>
                          </a:rPr>
                          <m:t>−20</m:t>
                        </m:r>
                      </m:sup>
                    </m:sSup>
                    <m:r>
                      <a:rPr lang="en-AU" sz="2400" i="1">
                        <a:solidFill>
                          <a:schemeClr val="accent5">
                            <a:lumMod val="10000"/>
                          </a:schemeClr>
                        </a:solidFill>
                        <a:latin typeface="Cambria Math" panose="02040503050406030204" pitchFamily="18" charset="0"/>
                        <a:ea typeface="Cambria Math" panose="02040503050406030204" pitchFamily="18" charset="0"/>
                      </a:rPr>
                      <m:t> </m:t>
                    </m:r>
                    <m:r>
                      <a:rPr lang="en-AU" sz="2400" i="1">
                        <a:solidFill>
                          <a:schemeClr val="accent5">
                            <a:lumMod val="10000"/>
                          </a:schemeClr>
                        </a:solidFill>
                        <a:latin typeface="Cambria Math" panose="02040503050406030204" pitchFamily="18" charset="0"/>
                        <a:ea typeface="Cambria Math" panose="02040503050406030204" pitchFamily="18" charset="0"/>
                      </a:rPr>
                      <m:t>𝐽</m:t>
                    </m:r>
                  </m:oMath>
                </a14:m>
                <a:endParaRPr lang="en-AU" sz="2400" dirty="0">
                  <a:solidFill>
                    <a:schemeClr val="accent5">
                      <a:lumMod val="10000"/>
                    </a:schemeClr>
                  </a:solidFill>
                </a:endParaRPr>
              </a:p>
              <a:p>
                <a:endParaRPr lang="en-AU" sz="2400" dirty="0">
                  <a:solidFill>
                    <a:schemeClr val="accent5">
                      <a:lumMod val="10000"/>
                    </a:schemeClr>
                  </a:solidFill>
                </a:endParaRPr>
              </a:p>
            </p:txBody>
          </p:sp>
        </mc:Choice>
        <mc:Fallback xmlns="">
          <p:sp>
            <p:nvSpPr>
              <p:cNvPr id="6" name="TextBox 5">
                <a:extLst>
                  <a:ext uri="{FF2B5EF4-FFF2-40B4-BE49-F238E27FC236}">
                    <a16:creationId xmlns:a16="http://schemas.microsoft.com/office/drawing/2014/main" id="{F23F1C50-4F3B-45EB-907F-141DE2556842}"/>
                  </a:ext>
                </a:extLst>
              </p:cNvPr>
              <p:cNvSpPr txBox="1">
                <a:spLocks noRot="1" noChangeAspect="1" noMove="1" noResize="1" noEditPoints="1" noAdjustHandles="1" noChangeArrowheads="1" noChangeShapeType="1" noTextEdit="1"/>
              </p:cNvSpPr>
              <p:nvPr/>
            </p:nvSpPr>
            <p:spPr>
              <a:xfrm>
                <a:off x="568171" y="2379216"/>
                <a:ext cx="8087557" cy="3785652"/>
              </a:xfrm>
              <a:prstGeom prst="rect">
                <a:avLst/>
              </a:prstGeom>
              <a:blipFill>
                <a:blip r:embed="rId3"/>
                <a:stretch>
                  <a:fillRect l="-1130" t="-1288"/>
                </a:stretch>
              </a:blipFill>
            </p:spPr>
            <p:txBody>
              <a:bodyPr/>
              <a:lstStyle/>
              <a:p>
                <a:r>
                  <a:rPr lang="en-AU">
                    <a:noFill/>
                  </a:rPr>
                  <a:t> </a:t>
                </a:r>
              </a:p>
            </p:txBody>
          </p:sp>
        </mc:Fallback>
      </mc:AlternateContent>
    </p:spTree>
    <p:extLst>
      <p:ext uri="{BB962C8B-B14F-4D97-AF65-F5344CB8AC3E}">
        <p14:creationId xmlns:p14="http://schemas.microsoft.com/office/powerpoint/2010/main" val="161208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Custom 11">
      <a:dk1>
        <a:srgbClr val="B2B2B2"/>
      </a:dk1>
      <a:lt1>
        <a:srgbClr val="CBCBCB"/>
      </a:lt1>
      <a:dk2>
        <a:srgbClr val="FFFFFF"/>
      </a:dk2>
      <a:lt2>
        <a:srgbClr val="FFFFFF"/>
      </a:lt2>
      <a:accent1>
        <a:srgbClr val="CFDFE2"/>
      </a:accent1>
      <a:accent2>
        <a:srgbClr val="D7E3E9"/>
      </a:accent2>
      <a:accent3>
        <a:srgbClr val="CFDFE2"/>
      </a:accent3>
      <a:accent4>
        <a:srgbClr val="CFDFE2"/>
      </a:accent4>
      <a:accent5>
        <a:srgbClr val="C3D5DF"/>
      </a:accent5>
      <a:accent6>
        <a:srgbClr val="BFBFBF"/>
      </a:accent6>
      <a:hlink>
        <a:srgbClr val="497388"/>
      </a:hlink>
      <a:folHlink>
        <a:srgbClr val="8C8C8C"/>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1875</TotalTime>
  <Words>881</Words>
  <Application>Microsoft Office PowerPoint</Application>
  <PresentationFormat>On-screen Show (4:3)</PresentationFormat>
  <Paragraphs>65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 Math</vt:lpstr>
      <vt:lpstr>Corbel</vt:lpstr>
      <vt:lpstr>Parallax</vt:lpstr>
      <vt:lpstr>Atomic Energy  Levels</vt:lpstr>
      <vt:lpstr>Key Objectives</vt:lpstr>
      <vt:lpstr>Relevant Equations</vt:lpstr>
      <vt:lpstr>Text References</vt:lpstr>
      <vt:lpstr>Bohr’s model of the atom</vt:lpstr>
      <vt:lpstr>PowerPoint Presentation</vt:lpstr>
      <vt:lpstr>Hydrogen energy levels</vt:lpstr>
      <vt:lpstr>Emission</vt:lpstr>
      <vt:lpstr>PowerPoint Presentation</vt:lpstr>
      <vt:lpstr>PowerPoint Presentation</vt:lpstr>
      <vt:lpstr>PowerPoint Presentation</vt:lpstr>
      <vt:lpstr>Absorption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dc:title>
  <dc:creator>Leah Anthony</dc:creator>
  <cp:lastModifiedBy>COOPER Sarina [Southern River College]</cp:lastModifiedBy>
  <cp:revision>131</cp:revision>
  <dcterms:created xsi:type="dcterms:W3CDTF">2017-06-13T13:08:34Z</dcterms:created>
  <dcterms:modified xsi:type="dcterms:W3CDTF">2024-07-18T01:59:38Z</dcterms:modified>
</cp:coreProperties>
</file>