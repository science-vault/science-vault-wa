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8"/>
  </p:notesMasterIdLst>
  <p:sldIdLst>
    <p:sldId id="256" r:id="rId2"/>
    <p:sldId id="257" r:id="rId3"/>
    <p:sldId id="269" r:id="rId4"/>
    <p:sldId id="271" r:id="rId5"/>
    <p:sldId id="272" r:id="rId6"/>
    <p:sldId id="274" r:id="rId7"/>
    <p:sldId id="275" r:id="rId8"/>
    <p:sldId id="276" r:id="rId9"/>
    <p:sldId id="262" r:id="rId10"/>
    <p:sldId id="263" r:id="rId11"/>
    <p:sldId id="265" r:id="rId12"/>
    <p:sldId id="287" r:id="rId13"/>
    <p:sldId id="270" r:id="rId14"/>
    <p:sldId id="264" r:id="rId15"/>
    <p:sldId id="288" r:id="rId16"/>
    <p:sldId id="289"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EF0E87-B618-4EA7-BC42-5EDD5193044D}" v="2" dt="2024-07-17T03:33:16.4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8" d="100"/>
          <a:sy n="78" d="100"/>
        </p:scale>
        <p:origin x="150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OPER Sarina [Southern River College]" userId="7f2b4663-0468-4605-9163-1ba4158276d8" providerId="ADAL" clId="{41EF0E87-B618-4EA7-BC42-5EDD5193044D}"/>
    <pc:docChg chg="custSel addSld delSld modSld">
      <pc:chgData name="COOPER Sarina [Southern River College]" userId="7f2b4663-0468-4605-9163-1ba4158276d8" providerId="ADAL" clId="{41EF0E87-B618-4EA7-BC42-5EDD5193044D}" dt="2024-07-17T03:35:29.096" v="100" actId="27636"/>
      <pc:docMkLst>
        <pc:docMk/>
      </pc:docMkLst>
      <pc:sldChg chg="modSp mod">
        <pc:chgData name="COOPER Sarina [Southern River College]" userId="7f2b4663-0468-4605-9163-1ba4158276d8" providerId="ADAL" clId="{41EF0E87-B618-4EA7-BC42-5EDD5193044D}" dt="2024-07-17T03:35:29.096" v="100" actId="27636"/>
        <pc:sldMkLst>
          <pc:docMk/>
          <pc:sldMk cId="3301637796" sldId="256"/>
        </pc:sldMkLst>
        <pc:spChg chg="mod">
          <ac:chgData name="COOPER Sarina [Southern River College]" userId="7f2b4663-0468-4605-9163-1ba4158276d8" providerId="ADAL" clId="{41EF0E87-B618-4EA7-BC42-5EDD5193044D}" dt="2024-07-17T03:35:29.096" v="100" actId="27636"/>
          <ac:spMkLst>
            <pc:docMk/>
            <pc:sldMk cId="3301637796" sldId="256"/>
            <ac:spMk id="2" creationId="{00000000-0000-0000-0000-000000000000}"/>
          </ac:spMkLst>
        </pc:spChg>
      </pc:sldChg>
      <pc:sldChg chg="modSp mod">
        <pc:chgData name="COOPER Sarina [Southern River College]" userId="7f2b4663-0468-4605-9163-1ba4158276d8" providerId="ADAL" clId="{41EF0E87-B618-4EA7-BC42-5EDD5193044D}" dt="2024-07-17T03:33:56.363" v="78"/>
        <pc:sldMkLst>
          <pc:docMk/>
          <pc:sldMk cId="589363462" sldId="257"/>
        </pc:sldMkLst>
        <pc:spChg chg="mod">
          <ac:chgData name="COOPER Sarina [Southern River College]" userId="7f2b4663-0468-4605-9163-1ba4158276d8" providerId="ADAL" clId="{41EF0E87-B618-4EA7-BC42-5EDD5193044D}" dt="2024-07-17T03:33:56.363" v="78"/>
          <ac:spMkLst>
            <pc:docMk/>
            <pc:sldMk cId="589363462" sldId="257"/>
            <ac:spMk id="3" creationId="{00000000-0000-0000-0000-000000000000}"/>
          </ac:spMkLst>
        </pc:spChg>
      </pc:sldChg>
      <pc:sldChg chg="add del">
        <pc:chgData name="COOPER Sarina [Southern River College]" userId="7f2b4663-0468-4605-9163-1ba4158276d8" providerId="ADAL" clId="{41EF0E87-B618-4EA7-BC42-5EDD5193044D}" dt="2024-07-17T03:35:17.823" v="91" actId="47"/>
        <pc:sldMkLst>
          <pc:docMk/>
          <pc:sldMk cId="2060414131" sldId="258"/>
        </pc:sldMkLst>
      </pc:sldChg>
      <pc:sldChg chg="del">
        <pc:chgData name="COOPER Sarina [Southern River College]" userId="7f2b4663-0468-4605-9163-1ba4158276d8" providerId="ADAL" clId="{41EF0E87-B618-4EA7-BC42-5EDD5193044D}" dt="2024-07-17T02:04:31.997" v="9" actId="47"/>
        <pc:sldMkLst>
          <pc:docMk/>
          <pc:sldMk cId="857440987" sldId="259"/>
        </pc:sldMkLst>
      </pc:sldChg>
      <pc:sldChg chg="add del">
        <pc:chgData name="COOPER Sarina [Southern River College]" userId="7f2b4663-0468-4605-9163-1ba4158276d8" providerId="ADAL" clId="{41EF0E87-B618-4EA7-BC42-5EDD5193044D}" dt="2024-07-17T03:35:11.649" v="90" actId="47"/>
        <pc:sldMkLst>
          <pc:docMk/>
          <pc:sldMk cId="1427585389" sldId="260"/>
        </pc:sldMkLst>
      </pc:sldChg>
      <pc:sldChg chg="del">
        <pc:chgData name="COOPER Sarina [Southern River College]" userId="7f2b4663-0468-4605-9163-1ba4158276d8" providerId="ADAL" clId="{41EF0E87-B618-4EA7-BC42-5EDD5193044D}" dt="2024-07-17T02:04:33.502" v="10" actId="47"/>
        <pc:sldMkLst>
          <pc:docMk/>
          <pc:sldMk cId="1286165920" sldId="261"/>
        </pc:sldMkLst>
      </pc:sldChg>
      <pc:sldChg chg="del">
        <pc:chgData name="COOPER Sarina [Southern River College]" userId="7f2b4663-0468-4605-9163-1ba4158276d8" providerId="ADAL" clId="{41EF0E87-B618-4EA7-BC42-5EDD5193044D}" dt="2024-07-17T02:03:53.733" v="3" actId="47"/>
        <pc:sldMkLst>
          <pc:docMk/>
          <pc:sldMk cId="1818479237" sldId="262"/>
        </pc:sldMkLst>
      </pc:sldChg>
      <pc:sldChg chg="add">
        <pc:chgData name="COOPER Sarina [Southern River College]" userId="7f2b4663-0468-4605-9163-1ba4158276d8" providerId="ADAL" clId="{41EF0E87-B618-4EA7-BC42-5EDD5193044D}" dt="2024-07-17T03:33:16.476" v="77"/>
        <pc:sldMkLst>
          <pc:docMk/>
          <pc:sldMk cId="2308732879" sldId="262"/>
        </pc:sldMkLst>
      </pc:sldChg>
      <pc:sldChg chg="add">
        <pc:chgData name="COOPER Sarina [Southern River College]" userId="7f2b4663-0468-4605-9163-1ba4158276d8" providerId="ADAL" clId="{41EF0E87-B618-4EA7-BC42-5EDD5193044D}" dt="2024-07-17T03:33:16.476" v="77"/>
        <pc:sldMkLst>
          <pc:docMk/>
          <pc:sldMk cId="3963884018" sldId="263"/>
        </pc:sldMkLst>
      </pc:sldChg>
      <pc:sldChg chg="del">
        <pc:chgData name="COOPER Sarina [Southern River College]" userId="7f2b4663-0468-4605-9163-1ba4158276d8" providerId="ADAL" clId="{41EF0E87-B618-4EA7-BC42-5EDD5193044D}" dt="2024-07-17T02:03:54.806" v="4" actId="47"/>
        <pc:sldMkLst>
          <pc:docMk/>
          <pc:sldMk cId="4024344963" sldId="263"/>
        </pc:sldMkLst>
      </pc:sldChg>
      <pc:sldChg chg="add">
        <pc:chgData name="COOPER Sarina [Southern River College]" userId="7f2b4663-0468-4605-9163-1ba4158276d8" providerId="ADAL" clId="{41EF0E87-B618-4EA7-BC42-5EDD5193044D}" dt="2024-07-17T03:33:16.476" v="77"/>
        <pc:sldMkLst>
          <pc:docMk/>
          <pc:sldMk cId="24745828" sldId="264"/>
        </pc:sldMkLst>
      </pc:sldChg>
      <pc:sldChg chg="del">
        <pc:chgData name="COOPER Sarina [Southern River College]" userId="7f2b4663-0468-4605-9163-1ba4158276d8" providerId="ADAL" clId="{41EF0E87-B618-4EA7-BC42-5EDD5193044D}" dt="2024-07-17T02:03:56.395" v="5" actId="47"/>
        <pc:sldMkLst>
          <pc:docMk/>
          <pc:sldMk cId="1107393209" sldId="264"/>
        </pc:sldMkLst>
      </pc:sldChg>
      <pc:sldChg chg="add">
        <pc:chgData name="COOPER Sarina [Southern River College]" userId="7f2b4663-0468-4605-9163-1ba4158276d8" providerId="ADAL" clId="{41EF0E87-B618-4EA7-BC42-5EDD5193044D}" dt="2024-07-17T03:33:16.476" v="77"/>
        <pc:sldMkLst>
          <pc:docMk/>
          <pc:sldMk cId="451627612" sldId="265"/>
        </pc:sldMkLst>
      </pc:sldChg>
      <pc:sldChg chg="del">
        <pc:chgData name="COOPER Sarina [Southern River College]" userId="7f2b4663-0468-4605-9163-1ba4158276d8" providerId="ADAL" clId="{41EF0E87-B618-4EA7-BC42-5EDD5193044D}" dt="2024-07-17T02:03:57.775" v="6" actId="47"/>
        <pc:sldMkLst>
          <pc:docMk/>
          <pc:sldMk cId="2236206820" sldId="265"/>
        </pc:sldMkLst>
      </pc:sldChg>
      <pc:sldChg chg="del">
        <pc:chgData name="COOPER Sarina [Southern River College]" userId="7f2b4663-0468-4605-9163-1ba4158276d8" providerId="ADAL" clId="{41EF0E87-B618-4EA7-BC42-5EDD5193044D}" dt="2024-07-17T02:03:59.516" v="7" actId="47"/>
        <pc:sldMkLst>
          <pc:docMk/>
          <pc:sldMk cId="909028541" sldId="266"/>
        </pc:sldMkLst>
      </pc:sldChg>
      <pc:sldChg chg="del">
        <pc:chgData name="COOPER Sarina [Southern River College]" userId="7f2b4663-0468-4605-9163-1ba4158276d8" providerId="ADAL" clId="{41EF0E87-B618-4EA7-BC42-5EDD5193044D}" dt="2024-07-17T02:04:00.320" v="8" actId="47"/>
        <pc:sldMkLst>
          <pc:docMk/>
          <pc:sldMk cId="2651525890" sldId="267"/>
        </pc:sldMkLst>
      </pc:sldChg>
      <pc:sldChg chg="add">
        <pc:chgData name="COOPER Sarina [Southern River College]" userId="7f2b4663-0468-4605-9163-1ba4158276d8" providerId="ADAL" clId="{41EF0E87-B618-4EA7-BC42-5EDD5193044D}" dt="2024-07-17T03:33:16.476" v="77"/>
        <pc:sldMkLst>
          <pc:docMk/>
          <pc:sldMk cId="1515959726" sldId="270"/>
        </pc:sldMkLst>
      </pc:sldChg>
      <pc:sldChg chg="add del">
        <pc:chgData name="COOPER Sarina [Southern River College]" userId="7f2b4663-0468-4605-9163-1ba4158276d8" providerId="ADAL" clId="{41EF0E87-B618-4EA7-BC42-5EDD5193044D}" dt="2024-07-17T03:34:12.025" v="81" actId="47"/>
        <pc:sldMkLst>
          <pc:docMk/>
          <pc:sldMk cId="3392738296" sldId="273"/>
        </pc:sldMkLst>
      </pc:sldChg>
      <pc:sldChg chg="del">
        <pc:chgData name="COOPER Sarina [Southern River College]" userId="7f2b4663-0468-4605-9163-1ba4158276d8" providerId="ADAL" clId="{41EF0E87-B618-4EA7-BC42-5EDD5193044D}" dt="2024-07-17T02:03:52.271" v="2" actId="47"/>
        <pc:sldMkLst>
          <pc:docMk/>
          <pc:sldMk cId="3903438059" sldId="273"/>
        </pc:sldMkLst>
      </pc:sldChg>
      <pc:sldChg chg="add del">
        <pc:chgData name="COOPER Sarina [Southern River College]" userId="7f2b4663-0468-4605-9163-1ba4158276d8" providerId="ADAL" clId="{41EF0E87-B618-4EA7-BC42-5EDD5193044D}" dt="2024-07-17T03:34:09.227" v="79" actId="47"/>
        <pc:sldMkLst>
          <pc:docMk/>
          <pc:sldMk cId="1898984825" sldId="277"/>
        </pc:sldMkLst>
      </pc:sldChg>
      <pc:sldChg chg="add del">
        <pc:chgData name="COOPER Sarina [Southern River College]" userId="7f2b4663-0468-4605-9163-1ba4158276d8" providerId="ADAL" clId="{41EF0E87-B618-4EA7-BC42-5EDD5193044D}" dt="2024-07-17T03:34:10.269" v="80" actId="47"/>
        <pc:sldMkLst>
          <pc:docMk/>
          <pc:sldMk cId="1229946553" sldId="278"/>
        </pc:sldMkLst>
      </pc:sldChg>
      <pc:sldChg chg="add del">
        <pc:chgData name="COOPER Sarina [Southern River College]" userId="7f2b4663-0468-4605-9163-1ba4158276d8" providerId="ADAL" clId="{41EF0E87-B618-4EA7-BC42-5EDD5193044D}" dt="2024-07-17T03:34:13.375" v="82" actId="47"/>
        <pc:sldMkLst>
          <pc:docMk/>
          <pc:sldMk cId="3581764054" sldId="279"/>
        </pc:sldMkLst>
      </pc:sldChg>
      <pc:sldChg chg="add del">
        <pc:chgData name="COOPER Sarina [Southern River College]" userId="7f2b4663-0468-4605-9163-1ba4158276d8" providerId="ADAL" clId="{41EF0E87-B618-4EA7-BC42-5EDD5193044D}" dt="2024-07-17T03:34:14.110" v="83" actId="47"/>
        <pc:sldMkLst>
          <pc:docMk/>
          <pc:sldMk cId="3907257638" sldId="280"/>
        </pc:sldMkLst>
      </pc:sldChg>
      <pc:sldChg chg="add del">
        <pc:chgData name="COOPER Sarina [Southern River College]" userId="7f2b4663-0468-4605-9163-1ba4158276d8" providerId="ADAL" clId="{41EF0E87-B618-4EA7-BC42-5EDD5193044D}" dt="2024-07-17T03:34:15.117" v="84" actId="47"/>
        <pc:sldMkLst>
          <pc:docMk/>
          <pc:sldMk cId="3214427423" sldId="281"/>
        </pc:sldMkLst>
      </pc:sldChg>
      <pc:sldChg chg="add del">
        <pc:chgData name="COOPER Sarina [Southern River College]" userId="7f2b4663-0468-4605-9163-1ba4158276d8" providerId="ADAL" clId="{41EF0E87-B618-4EA7-BC42-5EDD5193044D}" dt="2024-07-17T03:34:16.311" v="85" actId="47"/>
        <pc:sldMkLst>
          <pc:docMk/>
          <pc:sldMk cId="1062842487" sldId="282"/>
        </pc:sldMkLst>
      </pc:sldChg>
      <pc:sldChg chg="add del">
        <pc:chgData name="COOPER Sarina [Southern River College]" userId="7f2b4663-0468-4605-9163-1ba4158276d8" providerId="ADAL" clId="{41EF0E87-B618-4EA7-BC42-5EDD5193044D}" dt="2024-07-17T03:34:17.158" v="86" actId="47"/>
        <pc:sldMkLst>
          <pc:docMk/>
          <pc:sldMk cId="2088214939" sldId="283"/>
        </pc:sldMkLst>
      </pc:sldChg>
      <pc:sldChg chg="add del">
        <pc:chgData name="COOPER Sarina [Southern River College]" userId="7f2b4663-0468-4605-9163-1ba4158276d8" providerId="ADAL" clId="{41EF0E87-B618-4EA7-BC42-5EDD5193044D}" dt="2024-07-17T03:34:18.656" v="87" actId="47"/>
        <pc:sldMkLst>
          <pc:docMk/>
          <pc:sldMk cId="4243462742" sldId="284"/>
        </pc:sldMkLst>
      </pc:sldChg>
      <pc:sldChg chg="add del">
        <pc:chgData name="COOPER Sarina [Southern River College]" userId="7f2b4663-0468-4605-9163-1ba4158276d8" providerId="ADAL" clId="{41EF0E87-B618-4EA7-BC42-5EDD5193044D}" dt="2024-07-17T03:34:20.126" v="88" actId="47"/>
        <pc:sldMkLst>
          <pc:docMk/>
          <pc:sldMk cId="782129321" sldId="285"/>
        </pc:sldMkLst>
      </pc:sldChg>
      <pc:sldChg chg="add del">
        <pc:chgData name="COOPER Sarina [Southern River College]" userId="7f2b4663-0468-4605-9163-1ba4158276d8" providerId="ADAL" clId="{41EF0E87-B618-4EA7-BC42-5EDD5193044D}" dt="2024-07-17T03:35:08.460" v="89" actId="47"/>
        <pc:sldMkLst>
          <pc:docMk/>
          <pc:sldMk cId="1572915803" sldId="286"/>
        </pc:sldMkLst>
      </pc:sldChg>
      <pc:sldChg chg="add">
        <pc:chgData name="COOPER Sarina [Southern River College]" userId="7f2b4663-0468-4605-9163-1ba4158276d8" providerId="ADAL" clId="{41EF0E87-B618-4EA7-BC42-5EDD5193044D}" dt="2024-07-17T03:33:16.476" v="77"/>
        <pc:sldMkLst>
          <pc:docMk/>
          <pc:sldMk cId="1215192175" sldId="287"/>
        </pc:sldMkLst>
      </pc:sldChg>
      <pc:sldChg chg="add">
        <pc:chgData name="COOPER Sarina [Southern River College]" userId="7f2b4663-0468-4605-9163-1ba4158276d8" providerId="ADAL" clId="{41EF0E87-B618-4EA7-BC42-5EDD5193044D}" dt="2024-07-17T03:33:16.476" v="77"/>
        <pc:sldMkLst>
          <pc:docMk/>
          <pc:sldMk cId="1126801152" sldId="288"/>
        </pc:sldMkLst>
      </pc:sldChg>
      <pc:sldChg chg="add">
        <pc:chgData name="COOPER Sarina [Southern River College]" userId="7f2b4663-0468-4605-9163-1ba4158276d8" providerId="ADAL" clId="{41EF0E87-B618-4EA7-BC42-5EDD5193044D}" dt="2024-07-17T03:33:16.476" v="77"/>
        <pc:sldMkLst>
          <pc:docMk/>
          <pc:sldMk cId="1935430866"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CF41D8-E2C2-4706-820D-393FABF0C588}" type="datetimeFigureOut">
              <a:rPr lang="en-AU" smtClean="0"/>
              <a:t>17/07/2024</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B91C42-72EE-4F15-AD0A-8404A34C545B}" type="slidenum">
              <a:rPr lang="en-AU" smtClean="0"/>
              <a:t>‹#›</a:t>
            </a:fld>
            <a:endParaRPr lang="en-AU"/>
          </a:p>
        </p:txBody>
      </p:sp>
    </p:spTree>
    <p:extLst>
      <p:ext uri="{BB962C8B-B14F-4D97-AF65-F5344CB8AC3E}">
        <p14:creationId xmlns:p14="http://schemas.microsoft.com/office/powerpoint/2010/main" val="1111278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Light from different sources can be dispersed into its component </a:t>
            </a:r>
            <a:r>
              <a:rPr lang="en-US" altLang="en-US" dirty="0" err="1"/>
              <a:t>colours</a:t>
            </a:r>
            <a:r>
              <a:rPr lang="en-US" altLang="en-US" dirty="0"/>
              <a:t>. The spectrum can be continuous, where there is a gradual change through the </a:t>
            </a:r>
            <a:r>
              <a:rPr lang="en-US" altLang="en-US" dirty="0" err="1"/>
              <a:t>colours</a:t>
            </a:r>
            <a:r>
              <a:rPr lang="en-US" altLang="en-US" dirty="0"/>
              <a:t> of the rainbow, or discrete, where particular lines can be seen. In an emission spectrum, the discrete lines can be seen as bright </a:t>
            </a:r>
            <a:r>
              <a:rPr lang="en-US" altLang="en-US" dirty="0" err="1"/>
              <a:t>colours</a:t>
            </a:r>
            <a:r>
              <a:rPr lang="en-US" altLang="en-US" dirty="0"/>
              <a:t>. In an absorption spectrum the </a:t>
            </a:r>
            <a:r>
              <a:rPr lang="en-US" altLang="en-US" dirty="0" err="1"/>
              <a:t>colours</a:t>
            </a:r>
            <a:r>
              <a:rPr lang="en-US" altLang="en-US" dirty="0"/>
              <a:t> are missing from a background continuous spectrum.</a:t>
            </a:r>
          </a:p>
          <a:p>
            <a:endParaRPr lang="en-AU" dirty="0"/>
          </a:p>
        </p:txBody>
      </p:sp>
      <p:sp>
        <p:nvSpPr>
          <p:cNvPr id="4" name="Slide Number Placeholder 3"/>
          <p:cNvSpPr>
            <a:spLocks noGrp="1"/>
          </p:cNvSpPr>
          <p:nvPr>
            <p:ph type="sldNum" sz="quarter" idx="10"/>
          </p:nvPr>
        </p:nvSpPr>
        <p:spPr/>
        <p:txBody>
          <a:bodyPr/>
          <a:lstStyle/>
          <a:p>
            <a:fld id="{A7867A61-99AF-4B5E-AD34-71064BFCC3D7}" type="slidenum">
              <a:rPr lang="en-AU" smtClean="0"/>
              <a:t>9</a:t>
            </a:fld>
            <a:endParaRPr lang="en-AU"/>
          </a:p>
        </p:txBody>
      </p:sp>
    </p:spTree>
    <p:extLst>
      <p:ext uri="{BB962C8B-B14F-4D97-AF65-F5344CB8AC3E}">
        <p14:creationId xmlns:p14="http://schemas.microsoft.com/office/powerpoint/2010/main" val="1192241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For a polyatomic gas instead of line spectra we get band spectra (thicker than the individual lines). </a:t>
            </a:r>
          </a:p>
        </p:txBody>
      </p:sp>
      <p:sp>
        <p:nvSpPr>
          <p:cNvPr id="4" name="Slide Number Placeholder 3"/>
          <p:cNvSpPr>
            <a:spLocks noGrp="1"/>
          </p:cNvSpPr>
          <p:nvPr>
            <p:ph type="sldNum" sz="quarter" idx="10"/>
          </p:nvPr>
        </p:nvSpPr>
        <p:spPr/>
        <p:txBody>
          <a:bodyPr/>
          <a:lstStyle/>
          <a:p>
            <a:fld id="{A7867A61-99AF-4B5E-AD34-71064BFCC3D7}" type="slidenum">
              <a:rPr lang="en-AU" smtClean="0"/>
              <a:t>14</a:t>
            </a:fld>
            <a:endParaRPr lang="en-AU"/>
          </a:p>
        </p:txBody>
      </p:sp>
    </p:spTree>
    <p:extLst>
      <p:ext uri="{BB962C8B-B14F-4D97-AF65-F5344CB8AC3E}">
        <p14:creationId xmlns:p14="http://schemas.microsoft.com/office/powerpoint/2010/main" val="4032868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A7867A61-99AF-4B5E-AD34-71064BFCC3D7}" type="slidenum">
              <a:rPr lang="en-AU" smtClean="0"/>
              <a:t>15</a:t>
            </a:fld>
            <a:endParaRPr lang="en-AU"/>
          </a:p>
        </p:txBody>
      </p:sp>
    </p:spTree>
    <p:extLst>
      <p:ext uri="{BB962C8B-B14F-4D97-AF65-F5344CB8AC3E}">
        <p14:creationId xmlns:p14="http://schemas.microsoft.com/office/powerpoint/2010/main" val="2094642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30C72779-29AB-4ECE-8EA0-D161D12BDB52}" type="datetimeFigureOut">
              <a:rPr lang="en-AU" smtClean="0"/>
              <a:t>17/07/2024</a:t>
            </a:fld>
            <a:endParaRPr lang="en-AU"/>
          </a:p>
        </p:txBody>
      </p:sp>
      <p:sp>
        <p:nvSpPr>
          <p:cNvPr id="5" name="Footer Placeholder 4"/>
          <p:cNvSpPr>
            <a:spLocks noGrp="1"/>
          </p:cNvSpPr>
          <p:nvPr>
            <p:ph type="ftr" sz="quarter" idx="11"/>
          </p:nvPr>
        </p:nvSpPr>
        <p:spPr>
          <a:xfrm>
            <a:off x="3623733" y="6117336"/>
            <a:ext cx="3609438" cy="365125"/>
          </a:xfrm>
        </p:spPr>
        <p:txBody>
          <a:bodyPr/>
          <a:lstStyle/>
          <a:p>
            <a:endParaRPr lang="en-AU"/>
          </a:p>
        </p:txBody>
      </p:sp>
      <p:sp>
        <p:nvSpPr>
          <p:cNvPr id="6" name="Slide Number Placeholder 5"/>
          <p:cNvSpPr>
            <a:spLocks noGrp="1"/>
          </p:cNvSpPr>
          <p:nvPr>
            <p:ph type="sldNum" sz="quarter" idx="12"/>
          </p:nvPr>
        </p:nvSpPr>
        <p:spPr>
          <a:xfrm>
            <a:off x="8275320" y="6117336"/>
            <a:ext cx="411480" cy="365125"/>
          </a:xfrm>
        </p:spPr>
        <p:txBody>
          <a:bodyPr/>
          <a:lstStyle/>
          <a:p>
            <a:fld id="{76880F4B-5908-404D-A5BE-7A4C83FBD9D3}" type="slidenum">
              <a:rPr lang="en-AU" smtClean="0"/>
              <a:t>‹#›</a:t>
            </a:fld>
            <a:endParaRPr lang="en-AU"/>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2192391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30C72779-29AB-4ECE-8EA0-D161D12BDB52}" type="datetimeFigureOut">
              <a:rPr lang="en-AU" smtClean="0"/>
              <a:t>17/07/2024</a:t>
            </a:fld>
            <a:endParaRPr lang="en-AU"/>
          </a:p>
        </p:txBody>
      </p:sp>
      <p:sp>
        <p:nvSpPr>
          <p:cNvPr id="5" name="Footer Placeholder 4"/>
          <p:cNvSpPr>
            <a:spLocks noGrp="1"/>
          </p:cNvSpPr>
          <p:nvPr>
            <p:ph type="ftr" sz="quarter" idx="11"/>
          </p:nvPr>
        </p:nvSpPr>
        <p:spPr>
          <a:xfrm>
            <a:off x="1972647" y="6108173"/>
            <a:ext cx="5314517" cy="365125"/>
          </a:xfrm>
        </p:spPr>
        <p:txBody>
          <a:bodyPr/>
          <a:lstStyle/>
          <a:p>
            <a:endParaRPr lang="en-AU"/>
          </a:p>
        </p:txBody>
      </p:sp>
      <p:sp>
        <p:nvSpPr>
          <p:cNvPr id="6" name="Slide Number Placeholder 5"/>
          <p:cNvSpPr>
            <a:spLocks noGrp="1"/>
          </p:cNvSpPr>
          <p:nvPr>
            <p:ph type="sldNum" sz="quarter" idx="12"/>
          </p:nvPr>
        </p:nvSpPr>
        <p:spPr>
          <a:xfrm>
            <a:off x="8258967" y="6108173"/>
            <a:ext cx="427833" cy="365125"/>
          </a:xfrm>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205492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17/07/2024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8273317" y="6116070"/>
            <a:ext cx="413483" cy="365125"/>
          </a:xfrm>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750346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C72779-29AB-4ECE-8EA0-D161D12BDB52}" type="datetimeFigureOut">
              <a:rPr lang="en-AU" smtClean="0"/>
              <a:t>17/07/2024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989454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C72779-29AB-4ECE-8EA0-D161D12BDB52}" type="datetimeFigureOut">
              <a:rPr lang="en-AU" smtClean="0"/>
              <a:t>17/07/2024</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537224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C72779-29AB-4ECE-8EA0-D161D12BDB52}" type="datetimeFigureOut">
              <a:rPr lang="en-AU" smtClean="0"/>
              <a:t>17/07/2024</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660600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C72779-29AB-4ECE-8EA0-D161D12BDB52}" type="datetimeFigureOut">
              <a:rPr lang="en-AU" smtClean="0"/>
              <a:t>17/07/2024</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913332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17/07/2024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052866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17/07/2024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310301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17/07/2024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497300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17/07/2024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620675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17/07/2024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3786097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17/07/2024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9917917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17/07/2024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1065587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17/07/2024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7563796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C72779-29AB-4ECE-8EA0-D161D12BDB52}" type="datetimeFigureOut">
              <a:rPr lang="en-AU" smtClean="0"/>
              <a:t>17/07/2024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5646726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C72779-29AB-4ECE-8EA0-D161D12BDB52}" type="datetimeFigureOut">
              <a:rPr lang="en-AU" smtClean="0"/>
              <a:t>17/07/2024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4180278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0C72779-29AB-4ECE-8EA0-D161D12BDB52}" type="datetimeFigureOut">
              <a:rPr lang="en-AU" smtClean="0"/>
              <a:t>17/07/2024</a:t>
            </a:fld>
            <a:endParaRPr lang="en-AU"/>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6880F4B-5908-404D-A5BE-7A4C83FBD9D3}" type="slidenum">
              <a:rPr lang="en-AU" smtClean="0"/>
              <a:t>‹#›</a:t>
            </a:fld>
            <a:endParaRPr lang="en-AU"/>
          </a:p>
        </p:txBody>
      </p:sp>
    </p:spTree>
    <p:extLst>
      <p:ext uri="{BB962C8B-B14F-4D97-AF65-F5344CB8AC3E}">
        <p14:creationId xmlns:p14="http://schemas.microsoft.com/office/powerpoint/2010/main" val="304419008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40657" r="15222" b="-2"/>
          <a:stretch/>
        </p:blipFill>
        <p:spPr>
          <a:xfrm>
            <a:off x="20" y="10"/>
            <a:ext cx="4086205" cy="6857990"/>
          </a:xfrm>
          <a:prstGeom prst="rect">
            <a:avLst/>
          </a:prstGeom>
        </p:spPr>
      </p:pic>
      <p:grpSp>
        <p:nvGrpSpPr>
          <p:cNvPr id="24" name="Group 11"/>
          <p:cNvGrpSpPr>
            <a:grpSpLocks noGrp="1" noUngrp="1" noRot="1" noChangeAspect="1" noMove="1" noResize="1"/>
          </p:cNvGrpSpPr>
          <p:nvPr>
            <p:extLst>
              <p:ext uri="{386F3935-93C4-4BCD-93E2-E3B085C9AB24}">
                <p16:designElem xmlns:p16="http://schemas.microsoft.com/office/powerpoint/2015/main" val="1"/>
              </p:ext>
            </p:extLst>
          </p:nvPr>
        </p:nvGrpSpPr>
        <p:grpSpPr>
          <a:xfrm>
            <a:off x="2127539" y="0"/>
            <a:ext cx="1958686" cy="6858000"/>
            <a:chOff x="2836718" y="0"/>
            <a:chExt cx="2611581" cy="6858000"/>
          </a:xfrm>
        </p:grpSpPr>
        <p:sp useBgFill="1">
          <p:nvSpPr>
            <p:cNvPr id="13" name="Rectangle 19"/>
            <p:cNvSpPr/>
            <p:nvPr>
              <p:extLst>
                <p:ext uri="{386F3935-93C4-4BCD-93E2-E3B085C9AB24}">
                  <p16:designElem xmlns:p16="http://schemas.microsoft.com/office/powerpoint/2015/main" val="1"/>
                </p:ext>
              </p:extLst>
            </p:nvPr>
          </p:nvSpPr>
          <p:spPr>
            <a:xfrm>
              <a:off x="2836718" y="0"/>
              <a:ext cx="2611581" cy="2554287"/>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581" h="2554287">
                  <a:moveTo>
                    <a:pt x="675409" y="0"/>
                  </a:moveTo>
                  <a:lnTo>
                    <a:pt x="2611581" y="0"/>
                  </a:lnTo>
                  <a:lnTo>
                    <a:pt x="2611581" y="2554287"/>
                  </a:lnTo>
                  <a:lnTo>
                    <a:pt x="0" y="2554287"/>
                  </a:lnTo>
                  <a:lnTo>
                    <a:pt x="67540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0"/>
            <p:cNvSpPr/>
            <p:nvPr>
              <p:extLst>
                <p:ext uri="{386F3935-93C4-4BCD-93E2-E3B085C9AB24}">
                  <p16:designElem xmlns:p16="http://schemas.microsoft.com/office/powerpoint/2015/main" val="1"/>
                </p:ext>
              </p:extLst>
            </p:nvPr>
          </p:nvSpPr>
          <p:spPr>
            <a:xfrm>
              <a:off x="2836718" y="2554287"/>
              <a:ext cx="2611581" cy="4303713"/>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581" h="4303713">
                  <a:moveTo>
                    <a:pt x="0" y="0"/>
                  </a:moveTo>
                  <a:lnTo>
                    <a:pt x="2611581" y="0"/>
                  </a:lnTo>
                  <a:lnTo>
                    <a:pt x="2611581" y="4303713"/>
                  </a:lnTo>
                  <a:lnTo>
                    <a:pt x="2171701" y="363869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p:cNvGrpSpPr>
            <a:grpSpLocks noGrp="1" noUngrp="1" noRot="1" noChangeAspect="1" noMove="1" noResize="1"/>
          </p:cNvGrpSpPr>
          <p:nvPr>
            <p:extLst>
              <p:ext uri="{386F3935-93C4-4BCD-93E2-E3B085C9AB24}">
                <p16:designElem xmlns:p16="http://schemas.microsoft.com/office/powerpoint/2015/main" val="1"/>
              </p:ext>
            </p:extLst>
          </p:nvPr>
        </p:nvGrpSpPr>
        <p:grpSpPr>
          <a:xfrm>
            <a:off x="2219326" y="-4763"/>
            <a:ext cx="3761187" cy="6862763"/>
            <a:chOff x="2928938" y="-4763"/>
            <a:chExt cx="5014912" cy="6862763"/>
          </a:xfrm>
        </p:grpSpPr>
        <p:sp>
          <p:nvSpPr>
            <p:cNvPr id="17" name="Freeform 6"/>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8" name="Freeform 7"/>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9" name="Freeform 9"/>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0" name="Freeform 10"/>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1" name="Freeform 11"/>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6" name="Freeform 12"/>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3129094" y="1912690"/>
            <a:ext cx="6014906" cy="1954634"/>
          </a:xfrm>
        </p:spPr>
        <p:txBody>
          <a:bodyPr>
            <a:normAutofit fontScale="90000"/>
          </a:bodyPr>
          <a:lstStyle/>
          <a:p>
            <a:pPr algn="ctr"/>
            <a:r>
              <a:rPr lang="en-AU" dirty="0">
                <a:solidFill>
                  <a:schemeClr val="accent3">
                    <a:lumMod val="10000"/>
                  </a:schemeClr>
                </a:solidFill>
              </a:rPr>
              <a:t>LIGHT:  Blackbody Radiation and spectra</a:t>
            </a:r>
          </a:p>
        </p:txBody>
      </p:sp>
    </p:spTree>
    <p:extLst>
      <p:ext uri="{BB962C8B-B14F-4D97-AF65-F5344CB8AC3E}">
        <p14:creationId xmlns:p14="http://schemas.microsoft.com/office/powerpoint/2010/main" val="3301637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734036"/>
          </a:xfrm>
        </p:spPr>
        <p:txBody>
          <a:bodyPr/>
          <a:lstStyle/>
          <a:p>
            <a:r>
              <a:rPr lang="en-AU" dirty="0">
                <a:solidFill>
                  <a:schemeClr val="accent3">
                    <a:lumMod val="10000"/>
                  </a:schemeClr>
                </a:solidFill>
              </a:rPr>
              <a:t>Key Objectives</a:t>
            </a:r>
          </a:p>
        </p:txBody>
      </p:sp>
      <p:sp>
        <p:nvSpPr>
          <p:cNvPr id="3" name="Content Placeholder 2"/>
          <p:cNvSpPr>
            <a:spLocks noGrp="1"/>
          </p:cNvSpPr>
          <p:nvPr>
            <p:ph idx="1"/>
          </p:nvPr>
        </p:nvSpPr>
        <p:spPr>
          <a:xfrm>
            <a:off x="982133" y="1543574"/>
            <a:ext cx="7843085" cy="4739780"/>
          </a:xfrm>
        </p:spPr>
        <p:txBody>
          <a:bodyPr>
            <a:normAutofit/>
          </a:bodyPr>
          <a:lstStyle/>
          <a:p>
            <a:r>
              <a:rPr lang="en-AU" dirty="0">
                <a:solidFill>
                  <a:schemeClr val="accent5">
                    <a:lumMod val="10000"/>
                  </a:schemeClr>
                </a:solidFill>
              </a:rPr>
              <a:t>Description of blackbody radiation.</a:t>
            </a:r>
          </a:p>
          <a:p>
            <a:r>
              <a:rPr lang="en-AU" dirty="0">
                <a:solidFill>
                  <a:schemeClr val="accent5">
                    <a:lumMod val="10000"/>
                  </a:schemeClr>
                </a:solidFill>
              </a:rPr>
              <a:t>Atoms of an element emit and absorb specific wavelengths of light that are unique to that element; this is the basis of spectral analysis </a:t>
            </a:r>
          </a:p>
        </p:txBody>
      </p:sp>
    </p:spTree>
    <p:extLst>
      <p:ext uri="{BB962C8B-B14F-4D97-AF65-F5344CB8AC3E}">
        <p14:creationId xmlns:p14="http://schemas.microsoft.com/office/powerpoint/2010/main" val="589363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EA9FB-E439-4512-B66C-ADEA8DBDED41}"/>
              </a:ext>
            </a:extLst>
          </p:cNvPr>
          <p:cNvSpPr>
            <a:spLocks noGrp="1"/>
          </p:cNvSpPr>
          <p:nvPr>
            <p:ph type="title"/>
          </p:nvPr>
        </p:nvSpPr>
        <p:spPr>
          <a:xfrm>
            <a:off x="1007300" y="272644"/>
            <a:ext cx="7704667" cy="1044428"/>
          </a:xfrm>
        </p:spPr>
        <p:txBody>
          <a:bodyPr/>
          <a:lstStyle/>
          <a:p>
            <a:r>
              <a:rPr lang="en-AU" dirty="0">
                <a:solidFill>
                  <a:schemeClr val="accent5">
                    <a:lumMod val="10000"/>
                  </a:schemeClr>
                </a:solidFill>
              </a:rPr>
              <a:t>Blackbody radiation</a:t>
            </a:r>
          </a:p>
        </p:txBody>
      </p:sp>
      <p:sp>
        <p:nvSpPr>
          <p:cNvPr id="3" name="Content Placeholder 2">
            <a:extLst>
              <a:ext uri="{FF2B5EF4-FFF2-40B4-BE49-F238E27FC236}">
                <a16:creationId xmlns:a16="http://schemas.microsoft.com/office/drawing/2014/main" id="{DBA49D55-A4CB-4992-8467-52DDD99A29A3}"/>
              </a:ext>
            </a:extLst>
          </p:cNvPr>
          <p:cNvSpPr>
            <a:spLocks noGrp="1"/>
          </p:cNvSpPr>
          <p:nvPr>
            <p:ph idx="1"/>
          </p:nvPr>
        </p:nvSpPr>
        <p:spPr>
          <a:xfrm>
            <a:off x="775982" y="1156982"/>
            <a:ext cx="8368018" cy="5101206"/>
          </a:xfrm>
        </p:spPr>
        <p:txBody>
          <a:bodyPr>
            <a:normAutofit lnSpcReduction="10000"/>
          </a:bodyPr>
          <a:lstStyle/>
          <a:p>
            <a:r>
              <a:rPr lang="en-AU" dirty="0">
                <a:solidFill>
                  <a:schemeClr val="accent5">
                    <a:lumMod val="10000"/>
                  </a:schemeClr>
                </a:solidFill>
              </a:rPr>
              <a:t>All objects above absolute zero emit energy in the form electromagnetic radiation. </a:t>
            </a:r>
          </a:p>
          <a:p>
            <a:r>
              <a:rPr lang="en-AU" dirty="0">
                <a:solidFill>
                  <a:schemeClr val="accent5">
                    <a:lumMod val="10000"/>
                  </a:schemeClr>
                </a:solidFill>
              </a:rPr>
              <a:t>A blackbody is a theoretical opaque object that absorbs all radiation at all wavelengths, reflecting and transmitting none.</a:t>
            </a:r>
          </a:p>
          <a:p>
            <a:r>
              <a:rPr lang="en-AU" dirty="0">
                <a:solidFill>
                  <a:schemeClr val="accent5">
                    <a:lumMod val="10000"/>
                  </a:schemeClr>
                </a:solidFill>
              </a:rPr>
              <a:t>As the blackbody absorbs the radiation it absorbs energy.  The particles in the blackbody will vibrate in response to this energy gain, these vibrating charges creates electromagnetic radiation.  It can emits EM radiation at all wavelengths.    </a:t>
            </a:r>
          </a:p>
          <a:p>
            <a:r>
              <a:rPr lang="en-AU" dirty="0">
                <a:solidFill>
                  <a:schemeClr val="accent5">
                    <a:lumMod val="10000"/>
                  </a:schemeClr>
                </a:solidFill>
              </a:rPr>
              <a:t>Therefore a blackbody is a theoretical object which is both and perfect absorber and perfect emitter of electromagnetic radiation over all wavelengths.</a:t>
            </a:r>
          </a:p>
          <a:p>
            <a:r>
              <a:rPr lang="en-AU" dirty="0">
                <a:solidFill>
                  <a:schemeClr val="accent5">
                    <a:lumMod val="10000"/>
                  </a:schemeClr>
                </a:solidFill>
              </a:rPr>
              <a:t>At room temperature any such object would appear perfectly black.</a:t>
            </a:r>
          </a:p>
        </p:txBody>
      </p:sp>
    </p:spTree>
    <p:extLst>
      <p:ext uri="{BB962C8B-B14F-4D97-AF65-F5344CB8AC3E}">
        <p14:creationId xmlns:p14="http://schemas.microsoft.com/office/powerpoint/2010/main" val="1140597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89B4D7E-F910-4440-A37C-0F282E0EFFBB}"/>
                  </a:ext>
                </a:extLst>
              </p:cNvPr>
              <p:cNvSpPr>
                <a:spLocks noGrp="1"/>
              </p:cNvSpPr>
              <p:nvPr>
                <p:ph idx="1"/>
              </p:nvPr>
            </p:nvSpPr>
            <p:spPr>
              <a:xfrm>
                <a:off x="859870" y="116747"/>
                <a:ext cx="8217018" cy="3332816"/>
              </a:xfrm>
            </p:spPr>
            <p:txBody>
              <a:bodyPr/>
              <a:lstStyle/>
              <a:p>
                <a:r>
                  <a:rPr lang="en-AU" dirty="0">
                    <a:solidFill>
                      <a:schemeClr val="accent5">
                        <a:lumMod val="10000"/>
                      </a:schemeClr>
                    </a:solidFill>
                  </a:rPr>
                  <a:t>The spectral distribution of the thermal energy radiated by a black body (the pattern of the intensity of the radiation over a range of wavelengths or frequencies) depends only on its temperature.</a:t>
                </a:r>
              </a:p>
              <a:p>
                <a:r>
                  <a:rPr lang="en-AU" dirty="0">
                    <a:solidFill>
                      <a:schemeClr val="accent5">
                        <a:lumMod val="10000"/>
                      </a:schemeClr>
                    </a:solidFill>
                  </a:rPr>
                  <a:t>Peak wavelength is calculated using Wien’s law </a:t>
                </a:r>
                <a14:m>
                  <m:oMath xmlns:m="http://schemas.openxmlformats.org/officeDocument/2006/math">
                    <m:sSub>
                      <m:sSubPr>
                        <m:ctrlPr>
                          <a:rPr lang="en-AU" b="0" i="1" smtClean="0">
                            <a:solidFill>
                              <a:schemeClr val="accent5">
                                <a:lumMod val="10000"/>
                              </a:schemeClr>
                            </a:solidFill>
                            <a:latin typeface="Cambria Math" panose="02040503050406030204" pitchFamily="18" charset="0"/>
                          </a:rPr>
                        </m:ctrlPr>
                      </m:sSubPr>
                      <m:e>
                        <m:r>
                          <m:rPr>
                            <m:sty m:val="p"/>
                          </m:rPr>
                          <a:rPr lang="el-GR" i="1" smtClean="0">
                            <a:solidFill>
                              <a:schemeClr val="accent5">
                                <a:lumMod val="10000"/>
                              </a:schemeClr>
                            </a:solidFill>
                            <a:latin typeface="Cambria Math" panose="02040503050406030204" pitchFamily="18" charset="0"/>
                          </a:rPr>
                          <m:t>λ</m:t>
                        </m:r>
                      </m:e>
                      <m:sub>
                        <m:r>
                          <a:rPr lang="en-AU" b="0" i="1" smtClean="0">
                            <a:solidFill>
                              <a:schemeClr val="accent5">
                                <a:lumMod val="10000"/>
                              </a:schemeClr>
                            </a:solidFill>
                            <a:latin typeface="Cambria Math" panose="02040503050406030204" pitchFamily="18" charset="0"/>
                          </a:rPr>
                          <m:t>𝑚𝑎𝑥𝑖𝑚𝑢𝑚</m:t>
                        </m:r>
                      </m:sub>
                    </m:sSub>
                    <m:r>
                      <a:rPr lang="en-AU" b="0" i="1" smtClean="0">
                        <a:solidFill>
                          <a:schemeClr val="accent5">
                            <a:lumMod val="10000"/>
                          </a:schemeClr>
                        </a:solidFill>
                        <a:latin typeface="Cambria Math" panose="02040503050406030204" pitchFamily="18" charset="0"/>
                      </a:rPr>
                      <m:t>=</m:t>
                    </m:r>
                    <m:f>
                      <m:fPr>
                        <m:ctrlPr>
                          <a:rPr lang="en-AU" b="0" i="1" smtClean="0">
                            <a:solidFill>
                              <a:schemeClr val="accent5">
                                <a:lumMod val="10000"/>
                              </a:schemeClr>
                            </a:solidFill>
                            <a:latin typeface="Cambria Math" panose="02040503050406030204" pitchFamily="18" charset="0"/>
                          </a:rPr>
                        </m:ctrlPr>
                      </m:fPr>
                      <m:num>
                        <m:r>
                          <a:rPr lang="en-AU" b="0" i="1" smtClean="0">
                            <a:solidFill>
                              <a:schemeClr val="accent5">
                                <a:lumMod val="10000"/>
                              </a:schemeClr>
                            </a:solidFill>
                            <a:latin typeface="Cambria Math" panose="02040503050406030204" pitchFamily="18" charset="0"/>
                          </a:rPr>
                          <m:t>𝑏</m:t>
                        </m:r>
                      </m:num>
                      <m:den>
                        <m:r>
                          <a:rPr lang="en-AU" b="0" i="1" smtClean="0">
                            <a:solidFill>
                              <a:schemeClr val="accent5">
                                <a:lumMod val="10000"/>
                              </a:schemeClr>
                            </a:solidFill>
                            <a:latin typeface="Cambria Math" panose="02040503050406030204" pitchFamily="18" charset="0"/>
                          </a:rPr>
                          <m:t>𝑇</m:t>
                        </m:r>
                      </m:den>
                    </m:f>
                  </m:oMath>
                </a14:m>
                <a:endParaRPr lang="en-AU" b="0" dirty="0">
                  <a:solidFill>
                    <a:schemeClr val="accent5">
                      <a:lumMod val="10000"/>
                    </a:schemeClr>
                  </a:solidFill>
                </a:endParaRPr>
              </a:p>
              <a:p>
                <a:pPr marL="0" indent="0">
                  <a:buNone/>
                </a:pPr>
                <a:r>
                  <a:rPr lang="en-AU" dirty="0">
                    <a:solidFill>
                      <a:schemeClr val="accent5">
                        <a:lumMod val="10000"/>
                      </a:schemeClr>
                    </a:solidFill>
                  </a:rPr>
                  <a:t>Where b is a constant value </a:t>
                </a:r>
                <a14:m>
                  <m:oMath xmlns:m="http://schemas.openxmlformats.org/officeDocument/2006/math">
                    <m:d>
                      <m:dPr>
                        <m:ctrlPr>
                          <a:rPr lang="en-AU" b="0" i="1" smtClean="0">
                            <a:solidFill>
                              <a:schemeClr val="accent5">
                                <a:lumMod val="10000"/>
                              </a:schemeClr>
                            </a:solidFill>
                            <a:latin typeface="Cambria Math" panose="02040503050406030204" pitchFamily="18" charset="0"/>
                          </a:rPr>
                        </m:ctrlPr>
                      </m:dPr>
                      <m:e>
                        <m:r>
                          <a:rPr lang="en-AU" b="0" i="1" smtClean="0">
                            <a:solidFill>
                              <a:schemeClr val="accent5">
                                <a:lumMod val="10000"/>
                              </a:schemeClr>
                            </a:solidFill>
                            <a:latin typeface="Cambria Math" panose="02040503050406030204" pitchFamily="18" charset="0"/>
                          </a:rPr>
                          <m:t>𝑏</m:t>
                        </m:r>
                        <m:r>
                          <a:rPr lang="en-AU" b="0" i="1" smtClean="0">
                            <a:solidFill>
                              <a:schemeClr val="accent5">
                                <a:lumMod val="10000"/>
                              </a:schemeClr>
                            </a:solidFill>
                            <a:latin typeface="Cambria Math" panose="02040503050406030204" pitchFamily="18" charset="0"/>
                          </a:rPr>
                          <m:t>=2.898×</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−3</m:t>
                            </m:r>
                          </m:sup>
                        </m:sSup>
                        <m:r>
                          <a:rPr lang="en-AU" b="0" i="1" smtClean="0">
                            <a:solidFill>
                              <a:schemeClr val="accent5">
                                <a:lumMod val="10000"/>
                              </a:schemeClr>
                            </a:solidFill>
                            <a:latin typeface="Cambria Math" panose="02040503050406030204" pitchFamily="18" charset="0"/>
                            <a:ea typeface="Cambria Math" panose="02040503050406030204" pitchFamily="18" charset="0"/>
                          </a:rPr>
                          <m:t>𝑚</m:t>
                        </m:r>
                        <m:r>
                          <a:rPr lang="en-AU" b="0" i="1" smtClean="0">
                            <a:solidFill>
                              <a:schemeClr val="accent5">
                                <a:lumMod val="10000"/>
                              </a:schemeClr>
                            </a:solidFill>
                            <a:latin typeface="Cambria Math" panose="02040503050406030204" pitchFamily="18" charset="0"/>
                            <a:ea typeface="Cambria Math" panose="02040503050406030204" pitchFamily="18" charset="0"/>
                          </a:rPr>
                          <m:t> </m:t>
                        </m:r>
                        <m:r>
                          <a:rPr lang="en-AU" b="0" i="1" smtClean="0">
                            <a:solidFill>
                              <a:schemeClr val="accent5">
                                <a:lumMod val="10000"/>
                              </a:schemeClr>
                            </a:solidFill>
                            <a:latin typeface="Cambria Math" panose="02040503050406030204" pitchFamily="18" charset="0"/>
                            <a:ea typeface="Cambria Math" panose="02040503050406030204" pitchFamily="18" charset="0"/>
                          </a:rPr>
                          <m:t>𝐾</m:t>
                        </m:r>
                      </m:e>
                    </m:d>
                  </m:oMath>
                </a14:m>
                <a:r>
                  <a:rPr lang="en-AU" dirty="0">
                    <a:solidFill>
                      <a:schemeClr val="accent5">
                        <a:lumMod val="10000"/>
                      </a:schemeClr>
                    </a:solidFill>
                  </a:rPr>
                  <a:t>.  But you do not need to use this.</a:t>
                </a:r>
              </a:p>
              <a:p>
                <a:endParaRPr lang="en-AU" dirty="0"/>
              </a:p>
            </p:txBody>
          </p:sp>
        </mc:Choice>
        <mc:Fallback xmlns="">
          <p:sp>
            <p:nvSpPr>
              <p:cNvPr id="3" name="Content Placeholder 2">
                <a:extLst>
                  <a:ext uri="{FF2B5EF4-FFF2-40B4-BE49-F238E27FC236}">
                    <a16:creationId xmlns:a16="http://schemas.microsoft.com/office/drawing/2014/main" id="{889B4D7E-F910-4440-A37C-0F282E0EFFBB}"/>
                  </a:ext>
                </a:extLst>
              </p:cNvPr>
              <p:cNvSpPr>
                <a:spLocks noGrp="1" noRot="1" noChangeAspect="1" noMove="1" noResize="1" noEditPoints="1" noAdjustHandles="1" noChangeArrowheads="1" noChangeShapeType="1" noTextEdit="1"/>
              </p:cNvSpPr>
              <p:nvPr>
                <p:ph idx="1"/>
              </p:nvPr>
            </p:nvSpPr>
            <p:spPr>
              <a:xfrm>
                <a:off x="859870" y="116747"/>
                <a:ext cx="8217018" cy="3332816"/>
              </a:xfrm>
              <a:blipFill>
                <a:blip r:embed="rId2"/>
                <a:stretch>
                  <a:fillRect l="-1855" t="-10420" r="-1484"/>
                </a:stretch>
              </a:blipFill>
            </p:spPr>
            <p:txBody>
              <a:bodyPr/>
              <a:lstStyle/>
              <a:p>
                <a:r>
                  <a:rPr lang="en-AU">
                    <a:noFill/>
                  </a:rPr>
                  <a:t> </a:t>
                </a:r>
              </a:p>
            </p:txBody>
          </p:sp>
        </mc:Fallback>
      </mc:AlternateContent>
      <p:pic>
        <p:nvPicPr>
          <p:cNvPr id="4" name="Picture 3" descr="A close up of a map&#10;&#10;Description generated with high confidence">
            <a:extLst>
              <a:ext uri="{FF2B5EF4-FFF2-40B4-BE49-F238E27FC236}">
                <a16:creationId xmlns:a16="http://schemas.microsoft.com/office/drawing/2014/main" id="{4D027975-2142-47FE-9ED8-78887107D4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2664" y="3212983"/>
            <a:ext cx="6584678" cy="3183681"/>
          </a:xfrm>
          <a:prstGeom prst="rect">
            <a:avLst/>
          </a:prstGeom>
        </p:spPr>
      </p:pic>
    </p:spTree>
    <p:extLst>
      <p:ext uri="{BB962C8B-B14F-4D97-AF65-F5344CB8AC3E}">
        <p14:creationId xmlns:p14="http://schemas.microsoft.com/office/powerpoint/2010/main" val="2474787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9FF700-DAE2-4BDF-883A-4820DEC1A6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5794" y="888665"/>
            <a:ext cx="7524750" cy="4124325"/>
          </a:xfrm>
          <a:prstGeom prst="rect">
            <a:avLst/>
          </a:prstGeom>
        </p:spPr>
      </p:pic>
      <p:sp>
        <p:nvSpPr>
          <p:cNvPr id="4" name="Rectangle 3">
            <a:extLst>
              <a:ext uri="{FF2B5EF4-FFF2-40B4-BE49-F238E27FC236}">
                <a16:creationId xmlns:a16="http://schemas.microsoft.com/office/drawing/2014/main" id="{130516A7-D3CE-4280-945A-1233F7FE5E93}"/>
              </a:ext>
            </a:extLst>
          </p:cNvPr>
          <p:cNvSpPr/>
          <p:nvPr/>
        </p:nvSpPr>
        <p:spPr>
          <a:xfrm>
            <a:off x="1598103" y="5429585"/>
            <a:ext cx="6807666" cy="369332"/>
          </a:xfrm>
          <a:prstGeom prst="rect">
            <a:avLst/>
          </a:prstGeom>
        </p:spPr>
        <p:txBody>
          <a:bodyPr wrap="square">
            <a:spAutoFit/>
          </a:bodyPr>
          <a:lstStyle/>
          <a:p>
            <a:r>
              <a:rPr lang="en-AU" dirty="0">
                <a:solidFill>
                  <a:schemeClr val="accent5">
                    <a:lumMod val="10000"/>
                  </a:schemeClr>
                </a:solidFill>
              </a:rPr>
              <a:t>http://astro.unl.edu/naap/blackbody/animations/blackbody.swf</a:t>
            </a:r>
          </a:p>
        </p:txBody>
      </p:sp>
    </p:spTree>
    <p:extLst>
      <p:ext uri="{BB962C8B-B14F-4D97-AF65-F5344CB8AC3E}">
        <p14:creationId xmlns:p14="http://schemas.microsoft.com/office/powerpoint/2010/main" val="4084808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90D1C68F-2C0E-4982-9C75-7D1A39B54BF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7360" y="2050270"/>
            <a:ext cx="2310888" cy="3668076"/>
          </a:xfrm>
          <a:prstGeom prst="roundRect">
            <a:avLst>
              <a:gd name="adj" fmla="val 4380"/>
            </a:avLst>
          </a:prstGeom>
          <a:noFill/>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CBFD412-B3E3-4302-A29A-27C8C6993596}"/>
              </a:ext>
            </a:extLst>
          </p:cNvPr>
          <p:cNvSpPr>
            <a:spLocks noGrp="1"/>
          </p:cNvSpPr>
          <p:nvPr>
            <p:ph type="title"/>
          </p:nvPr>
        </p:nvSpPr>
        <p:spPr>
          <a:xfrm>
            <a:off x="1113234" y="132128"/>
            <a:ext cx="7514035" cy="1185333"/>
          </a:xfrm>
        </p:spPr>
        <p:txBody>
          <a:bodyPr>
            <a:normAutofit/>
          </a:bodyPr>
          <a:lstStyle/>
          <a:p>
            <a:r>
              <a:rPr lang="en-AU" dirty="0">
                <a:solidFill>
                  <a:schemeClr val="accent5">
                    <a:lumMod val="10000"/>
                  </a:schemeClr>
                </a:solidFill>
              </a:rPr>
              <a:t>Ultraviolet catastrophe</a:t>
            </a:r>
          </a:p>
        </p:txBody>
      </p:sp>
      <p:sp>
        <p:nvSpPr>
          <p:cNvPr id="3" name="Content Placeholder 2">
            <a:extLst>
              <a:ext uri="{FF2B5EF4-FFF2-40B4-BE49-F238E27FC236}">
                <a16:creationId xmlns:a16="http://schemas.microsoft.com/office/drawing/2014/main" id="{9BB33105-7068-404A-8B7D-F67EB40E99CE}"/>
              </a:ext>
            </a:extLst>
          </p:cNvPr>
          <p:cNvSpPr>
            <a:spLocks noGrp="1"/>
          </p:cNvSpPr>
          <p:nvPr>
            <p:ph idx="1"/>
          </p:nvPr>
        </p:nvSpPr>
        <p:spPr>
          <a:xfrm>
            <a:off x="3444536" y="1249960"/>
            <a:ext cx="5185115" cy="5066950"/>
          </a:xfrm>
        </p:spPr>
        <p:txBody>
          <a:bodyPr>
            <a:normAutofit fontScale="92500" lnSpcReduction="10000"/>
          </a:bodyPr>
          <a:lstStyle/>
          <a:p>
            <a:r>
              <a:rPr lang="en-AU" dirty="0">
                <a:solidFill>
                  <a:schemeClr val="accent5">
                    <a:lumMod val="10000"/>
                  </a:schemeClr>
                </a:solidFill>
              </a:rPr>
              <a:t>Wien’s law works, but the observed spectrum cannot be explained using classical physics.  </a:t>
            </a:r>
          </a:p>
          <a:p>
            <a:r>
              <a:rPr lang="en-AU" dirty="0">
                <a:solidFill>
                  <a:schemeClr val="accent5">
                    <a:lumMod val="10000"/>
                  </a:schemeClr>
                </a:solidFill>
              </a:rPr>
              <a:t>A blackbody should set up modes of vibration at all energies, the high energy modes being favoured (more short wavelengths emitted – hence the ultraviolet reference). </a:t>
            </a:r>
          </a:p>
          <a:p>
            <a:r>
              <a:rPr lang="en-AU" dirty="0">
                <a:solidFill>
                  <a:schemeClr val="accent5">
                    <a:lumMod val="10000"/>
                  </a:schemeClr>
                </a:solidFill>
              </a:rPr>
              <a:t>Therefore as temperature rises, more and more high energy modes would be emitted.</a:t>
            </a:r>
          </a:p>
          <a:p>
            <a:r>
              <a:rPr lang="en-AU" dirty="0">
                <a:solidFill>
                  <a:schemeClr val="accent5">
                    <a:lumMod val="10000"/>
                  </a:schemeClr>
                </a:solidFill>
              </a:rPr>
              <a:t>Instead of a peak energy followed by a decline (which is what we observe), there would be no limit to high energy emission.</a:t>
            </a:r>
          </a:p>
        </p:txBody>
      </p:sp>
    </p:spTree>
    <p:extLst>
      <p:ext uri="{BB962C8B-B14F-4D97-AF65-F5344CB8AC3E}">
        <p14:creationId xmlns:p14="http://schemas.microsoft.com/office/powerpoint/2010/main" val="3928990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2D06CF-D7DF-48EF-AA2A-508A5E0CFA00}"/>
              </a:ext>
            </a:extLst>
          </p:cNvPr>
          <p:cNvPicPr>
            <a:picLocks noChangeAspect="1"/>
          </p:cNvPicPr>
          <p:nvPr/>
        </p:nvPicPr>
        <p:blipFill rotWithShape="1">
          <a:blip r:embed="rId2"/>
          <a:srcRect r="1330" b="2"/>
          <a:stretch/>
        </p:blipFill>
        <p:spPr>
          <a:xfrm>
            <a:off x="869953" y="1629018"/>
            <a:ext cx="2449663" cy="349665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
        <p:nvSpPr>
          <p:cNvPr id="3" name="Content Placeholder 2">
            <a:extLst>
              <a:ext uri="{FF2B5EF4-FFF2-40B4-BE49-F238E27FC236}">
                <a16:creationId xmlns:a16="http://schemas.microsoft.com/office/drawing/2014/main" id="{39B15613-A3CF-4A81-8770-DF97F10EB6A7}"/>
              </a:ext>
            </a:extLst>
          </p:cNvPr>
          <p:cNvSpPr>
            <a:spLocks noGrp="1"/>
          </p:cNvSpPr>
          <p:nvPr>
            <p:ph idx="1"/>
          </p:nvPr>
        </p:nvSpPr>
        <p:spPr>
          <a:xfrm>
            <a:off x="3363986" y="511727"/>
            <a:ext cx="5511565" cy="6065242"/>
          </a:xfrm>
        </p:spPr>
        <p:txBody>
          <a:bodyPr>
            <a:normAutofit lnSpcReduction="10000"/>
          </a:bodyPr>
          <a:lstStyle/>
          <a:p>
            <a:pPr>
              <a:lnSpc>
                <a:spcPct val="80000"/>
              </a:lnSpc>
            </a:pPr>
            <a:r>
              <a:rPr lang="en-AU" sz="2200" dirty="0">
                <a:solidFill>
                  <a:schemeClr val="accent5">
                    <a:lumMod val="10000"/>
                  </a:schemeClr>
                </a:solidFill>
              </a:rPr>
              <a:t>How do we reconcile the difference between classical predictions and observations?  Thank Planck.</a:t>
            </a:r>
          </a:p>
          <a:p>
            <a:pPr>
              <a:lnSpc>
                <a:spcPct val="80000"/>
              </a:lnSpc>
            </a:pPr>
            <a:r>
              <a:rPr lang="en-AU" sz="2200" dirty="0">
                <a:solidFill>
                  <a:schemeClr val="accent5">
                    <a:lumMod val="10000"/>
                  </a:schemeClr>
                </a:solidFill>
              </a:rPr>
              <a:t>Plank suggested that electromagnetic radiation was not a continuous wave, that there were only discrete modes of vibrations for oscillators.  </a:t>
            </a:r>
          </a:p>
          <a:p>
            <a:pPr>
              <a:lnSpc>
                <a:spcPct val="80000"/>
              </a:lnSpc>
            </a:pPr>
            <a:r>
              <a:rPr lang="en-AU" sz="2200" dirty="0">
                <a:solidFill>
                  <a:schemeClr val="accent5">
                    <a:lumMod val="10000"/>
                  </a:schemeClr>
                </a:solidFill>
              </a:rPr>
              <a:t>This meant that not all modes were equally able to be produced.  Emission and absorption occurred in discrete quanta.</a:t>
            </a:r>
          </a:p>
          <a:p>
            <a:pPr>
              <a:lnSpc>
                <a:spcPct val="80000"/>
              </a:lnSpc>
            </a:pPr>
            <a:r>
              <a:rPr lang="en-AU" sz="2200" dirty="0">
                <a:solidFill>
                  <a:schemeClr val="accent5">
                    <a:lumMod val="10000"/>
                  </a:schemeClr>
                </a:solidFill>
              </a:rPr>
              <a:t>Planck created a constant value known as Planck’s constant (h) and determined that energy must relate to frequency by the equation E=hf.  This takes it away from a continuous spectrum to discrete packets of energy.  This matched experimental results.</a:t>
            </a:r>
          </a:p>
          <a:p>
            <a:pPr>
              <a:lnSpc>
                <a:spcPct val="80000"/>
              </a:lnSpc>
            </a:pPr>
            <a:r>
              <a:rPr lang="en-AU" sz="2200" dirty="0">
                <a:solidFill>
                  <a:schemeClr val="accent5">
                    <a:lumMod val="10000"/>
                  </a:schemeClr>
                </a:solidFill>
              </a:rPr>
              <a:t>Planck had described a property of EM radiation that was not described by its wave nature.  This was later used by Einstein to establish that all EM radiation are discrete packets of energy (using the photoelectric effect).</a:t>
            </a:r>
          </a:p>
          <a:p>
            <a:pPr>
              <a:lnSpc>
                <a:spcPct val="80000"/>
              </a:lnSpc>
            </a:pPr>
            <a:endParaRPr lang="en-AU" sz="2200" dirty="0"/>
          </a:p>
        </p:txBody>
      </p:sp>
    </p:spTree>
    <p:extLst>
      <p:ext uri="{BB962C8B-B14F-4D97-AF65-F5344CB8AC3E}">
        <p14:creationId xmlns:p14="http://schemas.microsoft.com/office/powerpoint/2010/main" val="2553586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a:extLst>
              <a:ext uri="{FF2B5EF4-FFF2-40B4-BE49-F238E27FC236}">
                <a16:creationId xmlns:a16="http://schemas.microsoft.com/office/drawing/2014/main" id="{D6DDB829-7689-40BD-89C3-36A18BD3009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42987" y="1127620"/>
            <a:ext cx="8101013"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5322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660DCE-351F-4EAE-91A0-380A467D51BD}"/>
              </a:ext>
            </a:extLst>
          </p:cNvPr>
          <p:cNvSpPr>
            <a:spLocks noGrp="1"/>
          </p:cNvSpPr>
          <p:nvPr>
            <p:ph idx="1"/>
          </p:nvPr>
        </p:nvSpPr>
        <p:spPr>
          <a:xfrm>
            <a:off x="982133" y="204186"/>
            <a:ext cx="7704667" cy="5795630"/>
          </a:xfrm>
        </p:spPr>
        <p:txBody>
          <a:bodyPr/>
          <a:lstStyle/>
          <a:p>
            <a:r>
              <a:rPr lang="en-AU" dirty="0">
                <a:solidFill>
                  <a:schemeClr val="accent5">
                    <a:lumMod val="10000"/>
                  </a:schemeClr>
                </a:solidFill>
              </a:rPr>
              <a:t>In a continuous spectrum all colours can be seen</a:t>
            </a:r>
          </a:p>
          <a:p>
            <a:pPr marL="0" indent="0">
              <a:buNone/>
            </a:pPr>
            <a:endParaRPr lang="en-AU" dirty="0">
              <a:solidFill>
                <a:schemeClr val="accent5">
                  <a:lumMod val="10000"/>
                </a:schemeClr>
              </a:solidFill>
            </a:endParaRPr>
          </a:p>
          <a:p>
            <a:pPr marL="0" indent="0">
              <a:buNone/>
            </a:pPr>
            <a:endParaRPr lang="en-AU" dirty="0">
              <a:solidFill>
                <a:schemeClr val="accent5">
                  <a:lumMod val="10000"/>
                </a:schemeClr>
              </a:solidFill>
            </a:endParaRPr>
          </a:p>
          <a:p>
            <a:r>
              <a:rPr lang="en-AU" dirty="0">
                <a:solidFill>
                  <a:schemeClr val="accent5">
                    <a:lumMod val="10000"/>
                  </a:schemeClr>
                </a:solidFill>
              </a:rPr>
              <a:t>In a discrete spectrum particular colours are evident:</a:t>
            </a:r>
          </a:p>
          <a:p>
            <a:pPr lvl="1"/>
            <a:r>
              <a:rPr lang="en-AU" dirty="0">
                <a:solidFill>
                  <a:schemeClr val="accent5">
                    <a:lumMod val="10000"/>
                  </a:schemeClr>
                </a:solidFill>
              </a:rPr>
              <a:t>Emission spectrum – heated gas produces bright parallel lines</a:t>
            </a:r>
          </a:p>
          <a:p>
            <a:pPr lvl="1"/>
            <a:endParaRPr lang="en-AU" dirty="0">
              <a:solidFill>
                <a:schemeClr val="accent5">
                  <a:lumMod val="10000"/>
                </a:schemeClr>
              </a:solidFill>
            </a:endParaRPr>
          </a:p>
          <a:p>
            <a:pPr marL="457200" lvl="1" indent="0">
              <a:buNone/>
            </a:pPr>
            <a:endParaRPr lang="en-AU" dirty="0">
              <a:solidFill>
                <a:schemeClr val="accent5">
                  <a:lumMod val="10000"/>
                </a:schemeClr>
              </a:solidFill>
            </a:endParaRPr>
          </a:p>
          <a:p>
            <a:pPr lvl="1"/>
            <a:r>
              <a:rPr lang="en-AU" dirty="0">
                <a:solidFill>
                  <a:schemeClr val="accent5">
                    <a:lumMod val="10000"/>
                  </a:schemeClr>
                </a:solidFill>
              </a:rPr>
              <a:t>Absorption spectrum – white light through a cold gas produces dark bands in a continuous spectrum. </a:t>
            </a:r>
          </a:p>
        </p:txBody>
      </p:sp>
      <p:pic>
        <p:nvPicPr>
          <p:cNvPr id="5" name="Picture 4">
            <a:extLst>
              <a:ext uri="{FF2B5EF4-FFF2-40B4-BE49-F238E27FC236}">
                <a16:creationId xmlns:a16="http://schemas.microsoft.com/office/drawing/2014/main" id="{CD377CE5-23B3-4C42-BBB8-AFCF9548286B}"/>
              </a:ext>
            </a:extLst>
          </p:cNvPr>
          <p:cNvPicPr>
            <a:picLocks noChangeAspect="1"/>
          </p:cNvPicPr>
          <p:nvPr/>
        </p:nvPicPr>
        <p:blipFill>
          <a:blip r:embed="rId3"/>
          <a:stretch>
            <a:fillRect/>
          </a:stretch>
        </p:blipFill>
        <p:spPr>
          <a:xfrm>
            <a:off x="2980215" y="1684247"/>
            <a:ext cx="3143250" cy="676275"/>
          </a:xfrm>
          <a:prstGeom prst="rect">
            <a:avLst/>
          </a:prstGeom>
        </p:spPr>
      </p:pic>
      <p:pic>
        <p:nvPicPr>
          <p:cNvPr id="6" name="Picture 5">
            <a:extLst>
              <a:ext uri="{FF2B5EF4-FFF2-40B4-BE49-F238E27FC236}">
                <a16:creationId xmlns:a16="http://schemas.microsoft.com/office/drawing/2014/main" id="{84C9190E-8210-40ED-BA19-4AD240027CAF}"/>
              </a:ext>
            </a:extLst>
          </p:cNvPr>
          <p:cNvPicPr>
            <a:picLocks noChangeAspect="1"/>
          </p:cNvPicPr>
          <p:nvPr/>
        </p:nvPicPr>
        <p:blipFill>
          <a:blip r:embed="rId4"/>
          <a:stretch>
            <a:fillRect/>
          </a:stretch>
        </p:blipFill>
        <p:spPr>
          <a:xfrm>
            <a:off x="3032360" y="3685713"/>
            <a:ext cx="3097036" cy="658425"/>
          </a:xfrm>
          <a:prstGeom prst="rect">
            <a:avLst/>
          </a:prstGeom>
        </p:spPr>
      </p:pic>
      <p:pic>
        <p:nvPicPr>
          <p:cNvPr id="7" name="Picture 6">
            <a:extLst>
              <a:ext uri="{FF2B5EF4-FFF2-40B4-BE49-F238E27FC236}">
                <a16:creationId xmlns:a16="http://schemas.microsoft.com/office/drawing/2014/main" id="{5735AC0F-E238-48A5-A0E1-AEABF87AB404}"/>
              </a:ext>
            </a:extLst>
          </p:cNvPr>
          <p:cNvPicPr>
            <a:picLocks noChangeAspect="1"/>
          </p:cNvPicPr>
          <p:nvPr/>
        </p:nvPicPr>
        <p:blipFill>
          <a:blip r:embed="rId5"/>
          <a:stretch>
            <a:fillRect/>
          </a:stretch>
        </p:blipFill>
        <p:spPr>
          <a:xfrm>
            <a:off x="3091349" y="5501659"/>
            <a:ext cx="3105150" cy="704850"/>
          </a:xfrm>
          <a:prstGeom prst="rect">
            <a:avLst/>
          </a:prstGeom>
        </p:spPr>
      </p:pic>
    </p:spTree>
    <p:extLst>
      <p:ext uri="{BB962C8B-B14F-4D97-AF65-F5344CB8AC3E}">
        <p14:creationId xmlns:p14="http://schemas.microsoft.com/office/powerpoint/2010/main" val="2308732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492175-2D01-4D48-A05B-6C10175B0419}"/>
              </a:ext>
            </a:extLst>
          </p:cNvPr>
          <p:cNvPicPr>
            <a:picLocks noChangeAspect="1"/>
          </p:cNvPicPr>
          <p:nvPr/>
        </p:nvPicPr>
        <p:blipFill>
          <a:blip r:embed="rId2"/>
          <a:stretch>
            <a:fillRect/>
          </a:stretch>
        </p:blipFill>
        <p:spPr>
          <a:xfrm>
            <a:off x="1572290" y="2272685"/>
            <a:ext cx="6827290" cy="3870663"/>
          </a:xfrm>
          <a:prstGeom prst="rect">
            <a:avLst/>
          </a:prstGeom>
        </p:spPr>
      </p:pic>
      <p:sp>
        <p:nvSpPr>
          <p:cNvPr id="5" name="TextBox 4">
            <a:extLst>
              <a:ext uri="{FF2B5EF4-FFF2-40B4-BE49-F238E27FC236}">
                <a16:creationId xmlns:a16="http://schemas.microsoft.com/office/drawing/2014/main" id="{BCB4D7C4-553F-406F-AFAD-79A01F193421}"/>
              </a:ext>
            </a:extLst>
          </p:cNvPr>
          <p:cNvSpPr txBox="1"/>
          <p:nvPr/>
        </p:nvSpPr>
        <p:spPr>
          <a:xfrm>
            <a:off x="639192" y="248574"/>
            <a:ext cx="8797771" cy="1908215"/>
          </a:xfrm>
          <a:prstGeom prst="rect">
            <a:avLst/>
          </a:prstGeom>
          <a:noFill/>
        </p:spPr>
        <p:txBody>
          <a:bodyPr wrap="square" rtlCol="0">
            <a:spAutoFit/>
          </a:bodyPr>
          <a:lstStyle/>
          <a:p>
            <a:r>
              <a:rPr lang="en-US" altLang="en-US" sz="2000" dirty="0">
                <a:solidFill>
                  <a:schemeClr val="accent5">
                    <a:lumMod val="10000"/>
                  </a:schemeClr>
                </a:solidFill>
              </a:rPr>
              <a:t>A source of white light produces all the </a:t>
            </a:r>
            <a:r>
              <a:rPr lang="en-US" altLang="en-US" sz="2000" dirty="0" err="1">
                <a:solidFill>
                  <a:schemeClr val="accent5">
                    <a:lumMod val="10000"/>
                  </a:schemeClr>
                </a:solidFill>
              </a:rPr>
              <a:t>colours</a:t>
            </a:r>
            <a:r>
              <a:rPr lang="en-US" altLang="en-US" sz="2000" dirty="0">
                <a:solidFill>
                  <a:schemeClr val="accent5">
                    <a:lumMod val="10000"/>
                  </a:schemeClr>
                </a:solidFill>
              </a:rPr>
              <a:t> of the rainbow, with gradual change from red at one end to blue at the other. This is a continuous spectrum.</a:t>
            </a:r>
          </a:p>
          <a:p>
            <a:r>
              <a:rPr lang="en-US" altLang="en-US" sz="2000" dirty="0">
                <a:solidFill>
                  <a:schemeClr val="accent5">
                    <a:lumMod val="10000"/>
                  </a:schemeClr>
                </a:solidFill>
              </a:rPr>
              <a:t>Emission spectra come from a heated source. The energy causes the emissions from the atom.</a:t>
            </a:r>
          </a:p>
          <a:p>
            <a:r>
              <a:rPr lang="en-US" altLang="en-US" sz="2000" dirty="0">
                <a:solidFill>
                  <a:schemeClr val="accent5">
                    <a:lumMod val="10000"/>
                  </a:schemeClr>
                </a:solidFill>
              </a:rPr>
              <a:t>Absorption spectra come from the passage of energetic light through a cold gas.</a:t>
            </a:r>
          </a:p>
          <a:p>
            <a:endParaRPr lang="en-AU" dirty="0"/>
          </a:p>
        </p:txBody>
      </p:sp>
    </p:spTree>
    <p:extLst>
      <p:ext uri="{BB962C8B-B14F-4D97-AF65-F5344CB8AC3E}">
        <p14:creationId xmlns:p14="http://schemas.microsoft.com/office/powerpoint/2010/main" val="3963884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643A53-AD1E-4B83-9977-51EBC34D0E68}"/>
              </a:ext>
            </a:extLst>
          </p:cNvPr>
          <p:cNvSpPr>
            <a:spLocks noGrp="1"/>
          </p:cNvSpPr>
          <p:nvPr>
            <p:ph idx="1"/>
          </p:nvPr>
        </p:nvSpPr>
        <p:spPr>
          <a:xfrm>
            <a:off x="896645" y="252274"/>
            <a:ext cx="8247355" cy="2837155"/>
          </a:xfrm>
        </p:spPr>
        <p:txBody>
          <a:bodyPr>
            <a:normAutofit/>
          </a:bodyPr>
          <a:lstStyle/>
          <a:p>
            <a:r>
              <a:rPr lang="en-US" altLang="en-US" dirty="0">
                <a:solidFill>
                  <a:schemeClr val="accent5">
                    <a:lumMod val="10000"/>
                  </a:schemeClr>
                </a:solidFill>
              </a:rPr>
              <a:t>The hydrogen absorption spectrum has dark lines in a continuous background spectrum. </a:t>
            </a:r>
          </a:p>
          <a:p>
            <a:r>
              <a:rPr lang="en-US" altLang="en-US" dirty="0">
                <a:solidFill>
                  <a:schemeClr val="accent5">
                    <a:lumMod val="10000"/>
                  </a:schemeClr>
                </a:solidFill>
              </a:rPr>
              <a:t>When hydrogen emission and absorption spectra are compared, bright emission lines are at the same positions as the absorption lines.</a:t>
            </a:r>
            <a:endParaRPr lang="en-AU" dirty="0"/>
          </a:p>
        </p:txBody>
      </p:sp>
      <p:sp>
        <p:nvSpPr>
          <p:cNvPr id="4" name="TextBox 2">
            <a:extLst>
              <a:ext uri="{FF2B5EF4-FFF2-40B4-BE49-F238E27FC236}">
                <a16:creationId xmlns:a16="http://schemas.microsoft.com/office/drawing/2014/main" id="{5D112983-5742-4001-AAF7-D1A864F283E5}"/>
              </a:ext>
            </a:extLst>
          </p:cNvPr>
          <p:cNvSpPr txBox="1">
            <a:spLocks noChangeArrowheads="1"/>
          </p:cNvSpPr>
          <p:nvPr/>
        </p:nvSpPr>
        <p:spPr bwMode="auto">
          <a:xfrm>
            <a:off x="1185617" y="2975314"/>
            <a:ext cx="41745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2400" dirty="0">
                <a:solidFill>
                  <a:schemeClr val="accent5">
                    <a:lumMod val="10000"/>
                  </a:schemeClr>
                </a:solidFill>
              </a:rPr>
              <a:t>Hydrogen emission spectrum</a:t>
            </a:r>
          </a:p>
        </p:txBody>
      </p:sp>
      <p:pic>
        <p:nvPicPr>
          <p:cNvPr id="5" name="Picture 1">
            <a:extLst>
              <a:ext uri="{FF2B5EF4-FFF2-40B4-BE49-F238E27FC236}">
                <a16:creationId xmlns:a16="http://schemas.microsoft.com/office/drawing/2014/main" id="{C0BBE061-659D-40F4-A209-1BE36423A2A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35860" y="3613212"/>
            <a:ext cx="7508140" cy="1037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7">
            <a:extLst>
              <a:ext uri="{FF2B5EF4-FFF2-40B4-BE49-F238E27FC236}">
                <a16:creationId xmlns:a16="http://schemas.microsoft.com/office/drawing/2014/main" id="{45AE0952-5877-431F-A1D4-3B2FCF56856B}"/>
              </a:ext>
            </a:extLst>
          </p:cNvPr>
          <p:cNvSpPr txBox="1">
            <a:spLocks noChangeArrowheads="1"/>
          </p:cNvSpPr>
          <p:nvPr/>
        </p:nvSpPr>
        <p:spPr bwMode="auto">
          <a:xfrm>
            <a:off x="1266393" y="4726543"/>
            <a:ext cx="43973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2400" dirty="0">
                <a:solidFill>
                  <a:schemeClr val="accent5">
                    <a:lumMod val="10000"/>
                  </a:schemeClr>
                </a:solidFill>
              </a:rPr>
              <a:t>Hydrogen absorption spectrum</a:t>
            </a:r>
          </a:p>
        </p:txBody>
      </p:sp>
      <p:pic>
        <p:nvPicPr>
          <p:cNvPr id="7" name="Picture 5">
            <a:extLst>
              <a:ext uri="{FF2B5EF4-FFF2-40B4-BE49-F238E27FC236}">
                <a16:creationId xmlns:a16="http://schemas.microsoft.com/office/drawing/2014/main" id="{5CB29A55-2231-41D4-8A64-E17EC08CEEF0}"/>
              </a:ext>
            </a:extLst>
          </p:cNvPr>
          <p:cNvPicPr>
            <a:picLocks noChangeAspect="1"/>
          </p:cNvPicPr>
          <p:nvPr/>
        </p:nvPicPr>
        <p:blipFill>
          <a:blip r:embed="rId3">
            <a:extLst>
              <a:ext uri="{28A0092B-C50C-407E-A947-70E740481C1C}">
                <a14:useLocalDpi xmlns:a14="http://schemas.microsoft.com/office/drawing/2010/main" val="0"/>
              </a:ext>
            </a:extLst>
          </a:blip>
          <a:srcRect r="175" b="1891"/>
          <a:stretch>
            <a:fillRect/>
          </a:stretch>
        </p:blipFill>
        <p:spPr bwMode="auto">
          <a:xfrm>
            <a:off x="1774811" y="5442749"/>
            <a:ext cx="7369189" cy="1415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1627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57518-DC0A-4027-BBCD-F83C65CE75C9}"/>
              </a:ext>
            </a:extLst>
          </p:cNvPr>
          <p:cNvSpPr>
            <a:spLocks noGrp="1"/>
          </p:cNvSpPr>
          <p:nvPr>
            <p:ph type="title"/>
          </p:nvPr>
        </p:nvSpPr>
        <p:spPr>
          <a:xfrm>
            <a:off x="982133" y="324036"/>
            <a:ext cx="7704667" cy="830061"/>
          </a:xfrm>
        </p:spPr>
        <p:txBody>
          <a:bodyPr/>
          <a:lstStyle/>
          <a:p>
            <a:r>
              <a:rPr lang="en-AU" dirty="0">
                <a:solidFill>
                  <a:schemeClr val="accent5">
                    <a:lumMod val="10000"/>
                  </a:schemeClr>
                </a:solidFill>
              </a:rPr>
              <a:t>Emission Spectra</a:t>
            </a:r>
          </a:p>
        </p:txBody>
      </p:sp>
      <p:sp>
        <p:nvSpPr>
          <p:cNvPr id="3" name="Content Placeholder 2">
            <a:extLst>
              <a:ext uri="{FF2B5EF4-FFF2-40B4-BE49-F238E27FC236}">
                <a16:creationId xmlns:a16="http://schemas.microsoft.com/office/drawing/2014/main" id="{096E5508-399E-44AE-959A-D8CCB4C8B25C}"/>
              </a:ext>
            </a:extLst>
          </p:cNvPr>
          <p:cNvSpPr>
            <a:spLocks noGrp="1"/>
          </p:cNvSpPr>
          <p:nvPr>
            <p:ph idx="1"/>
          </p:nvPr>
        </p:nvSpPr>
        <p:spPr>
          <a:xfrm>
            <a:off x="3308083" y="1122284"/>
            <a:ext cx="5764895" cy="5482701"/>
          </a:xfrm>
        </p:spPr>
        <p:txBody>
          <a:bodyPr>
            <a:normAutofit lnSpcReduction="10000"/>
          </a:bodyPr>
          <a:lstStyle/>
          <a:p>
            <a:r>
              <a:rPr lang="en-AU" dirty="0">
                <a:solidFill>
                  <a:schemeClr val="accent5">
                    <a:lumMod val="10000"/>
                  </a:schemeClr>
                </a:solidFill>
              </a:rPr>
              <a:t>Some methods for producing light produce only certain frequencies of visible light as opposed to a continuous spectrum.  </a:t>
            </a:r>
          </a:p>
          <a:p>
            <a:r>
              <a:rPr lang="en-AU" dirty="0">
                <a:solidFill>
                  <a:schemeClr val="accent5">
                    <a:lumMod val="10000"/>
                  </a:schemeClr>
                </a:solidFill>
              </a:rPr>
              <a:t>A gas in a discharge tube (essentially a vacuum tube) with an applied EMF source will ionise in the tube.  The gas within this tube will glow with light.</a:t>
            </a:r>
          </a:p>
          <a:p>
            <a:r>
              <a:rPr lang="en-AU" dirty="0">
                <a:solidFill>
                  <a:schemeClr val="accent5">
                    <a:lumMod val="10000"/>
                  </a:schemeClr>
                </a:solidFill>
              </a:rPr>
              <a:t>The light produced from this will be produced at frequencies characteristic of the chemical composition of the gas producing the light.</a:t>
            </a:r>
          </a:p>
          <a:p>
            <a:r>
              <a:rPr lang="en-AU" dirty="0">
                <a:solidFill>
                  <a:schemeClr val="accent5">
                    <a:lumMod val="10000"/>
                  </a:schemeClr>
                </a:solidFill>
              </a:rPr>
              <a:t>When the light is passed through a prism it is dispersed into the individual characteristic frequencies. </a:t>
            </a:r>
          </a:p>
        </p:txBody>
      </p:sp>
      <p:pic>
        <p:nvPicPr>
          <p:cNvPr id="4" name="Picture 3" descr="27_20">
            <a:extLst>
              <a:ext uri="{FF2B5EF4-FFF2-40B4-BE49-F238E27FC236}">
                <a16:creationId xmlns:a16="http://schemas.microsoft.com/office/drawing/2014/main" id="{0C7C6148-430A-4FB0-80F8-571F95C7E629}"/>
              </a:ext>
            </a:extLst>
          </p:cNvPr>
          <p:cNvPicPr>
            <a:picLocks noChangeAspect="1" noChangeArrowheads="1"/>
          </p:cNvPicPr>
          <p:nvPr/>
        </p:nvPicPr>
        <p:blipFill>
          <a:blip r:embed="rId2"/>
          <a:srcRect r="57954" b="6660"/>
          <a:stretch>
            <a:fillRect/>
          </a:stretch>
        </p:blipFill>
        <p:spPr bwMode="auto">
          <a:xfrm>
            <a:off x="923277" y="2308428"/>
            <a:ext cx="2013767" cy="2558262"/>
          </a:xfrm>
          <a:prstGeom prst="rect">
            <a:avLst/>
          </a:prstGeom>
          <a:noFill/>
          <a:ln w="9525">
            <a:noFill/>
            <a:miter lim="800000"/>
            <a:headEnd/>
            <a:tailEnd/>
          </a:ln>
        </p:spPr>
      </p:pic>
    </p:spTree>
    <p:extLst>
      <p:ext uri="{BB962C8B-B14F-4D97-AF65-F5344CB8AC3E}">
        <p14:creationId xmlns:p14="http://schemas.microsoft.com/office/powerpoint/2010/main" val="1215192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35EA4C-4394-44E5-A0D1-668BA8EA3F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8182" y="439130"/>
            <a:ext cx="6693763" cy="4002312"/>
          </a:xfrm>
          <a:prstGeom prst="rect">
            <a:avLst/>
          </a:prstGeom>
        </p:spPr>
      </p:pic>
      <p:sp>
        <p:nvSpPr>
          <p:cNvPr id="6" name="TextBox 5">
            <a:extLst>
              <a:ext uri="{FF2B5EF4-FFF2-40B4-BE49-F238E27FC236}">
                <a16:creationId xmlns:a16="http://schemas.microsoft.com/office/drawing/2014/main" id="{291D27DB-64C5-46AF-8E76-E74C58DC4D72}"/>
              </a:ext>
            </a:extLst>
          </p:cNvPr>
          <p:cNvSpPr txBox="1"/>
          <p:nvPr/>
        </p:nvSpPr>
        <p:spPr>
          <a:xfrm>
            <a:off x="976544" y="4838330"/>
            <a:ext cx="8167456" cy="830997"/>
          </a:xfrm>
          <a:prstGeom prst="rect">
            <a:avLst/>
          </a:prstGeom>
          <a:noFill/>
        </p:spPr>
        <p:txBody>
          <a:bodyPr wrap="square" rtlCol="0">
            <a:spAutoFit/>
          </a:bodyPr>
          <a:lstStyle/>
          <a:p>
            <a:r>
              <a:rPr lang="en-AU" sz="2400" dirty="0">
                <a:solidFill>
                  <a:schemeClr val="accent5">
                    <a:lumMod val="10000"/>
                  </a:schemeClr>
                </a:solidFill>
              </a:rPr>
              <a:t>What is visible in the gas tube is a purple light, this light does not include the entire visible EM spectrum.   </a:t>
            </a:r>
          </a:p>
        </p:txBody>
      </p:sp>
    </p:spTree>
    <p:extLst>
      <p:ext uri="{BB962C8B-B14F-4D97-AF65-F5344CB8AC3E}">
        <p14:creationId xmlns:p14="http://schemas.microsoft.com/office/powerpoint/2010/main" val="1515959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a:extLst>
              <a:ext uri="{FF2B5EF4-FFF2-40B4-BE49-F238E27FC236}">
                <a16:creationId xmlns:a16="http://schemas.microsoft.com/office/drawing/2014/main" id="{88ACEAFA-A853-43E6-95ED-0D3C05298328}"/>
              </a:ext>
            </a:extLst>
          </p:cNvPr>
          <p:cNvSpPr txBox="1">
            <a:spLocks noChangeArrowheads="1"/>
          </p:cNvSpPr>
          <p:nvPr/>
        </p:nvSpPr>
        <p:spPr bwMode="auto">
          <a:xfrm>
            <a:off x="1206485" y="1209921"/>
            <a:ext cx="39501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2400" dirty="0">
                <a:solidFill>
                  <a:schemeClr val="accent5">
                    <a:lumMod val="10000"/>
                  </a:schemeClr>
                </a:solidFill>
              </a:rPr>
              <a:t>Mercury emission spectrum</a:t>
            </a:r>
          </a:p>
        </p:txBody>
      </p:sp>
      <p:pic>
        <p:nvPicPr>
          <p:cNvPr id="6" name="Picture 7">
            <a:extLst>
              <a:ext uri="{FF2B5EF4-FFF2-40B4-BE49-F238E27FC236}">
                <a16:creationId xmlns:a16="http://schemas.microsoft.com/office/drawing/2014/main" id="{D0933F88-BD2E-4640-AD52-132568C565F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08378" y="2036686"/>
            <a:ext cx="7172325"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45BFDEC0-4AB4-42C3-8729-A6B6F8C35E5F}"/>
              </a:ext>
            </a:extLst>
          </p:cNvPr>
          <p:cNvSpPr txBox="1">
            <a:spLocks noChangeArrowheads="1"/>
          </p:cNvSpPr>
          <p:nvPr/>
        </p:nvSpPr>
        <p:spPr bwMode="auto">
          <a:xfrm>
            <a:off x="1322773" y="3602809"/>
            <a:ext cx="35750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ts val="2200"/>
              </a:lnSpc>
              <a:spcBef>
                <a:spcPct val="50000"/>
              </a:spcBef>
              <a:defRPr>
                <a:solidFill>
                  <a:schemeClr val="tx1"/>
                </a:solidFill>
                <a:latin typeface="Arial" panose="020B0604020202020204" pitchFamily="34" charset="0"/>
                <a:ea typeface="MS PGothic" panose="020B0600070205080204" pitchFamily="34" charset="-128"/>
              </a:defRPr>
            </a:lvl1pPr>
            <a:lvl2pPr marL="742950" indent="-285750">
              <a:lnSpc>
                <a:spcPts val="2200"/>
              </a:lnSpc>
              <a:spcBef>
                <a:spcPct val="50000"/>
              </a:spcBef>
              <a:buClr>
                <a:schemeClr val="hlink"/>
              </a:buClr>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2pPr>
            <a:lvl3pPr marL="11430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3pPr>
            <a:lvl4pPr marL="1600200" indent="-228600">
              <a:lnSpc>
                <a:spcPts val="1800"/>
              </a:lnSpc>
              <a:spcBef>
                <a:spcPct val="50000"/>
              </a:spcBef>
              <a:buClr>
                <a:schemeClr val="hlink"/>
              </a:buClr>
              <a:buChar char="–"/>
              <a:defRPr sz="1600">
                <a:solidFill>
                  <a:schemeClr val="tx1"/>
                </a:solidFill>
                <a:latin typeface="Arial" panose="020B0604020202020204" pitchFamily="34" charset="0"/>
                <a:ea typeface="MS PGothic" panose="020B0600070205080204" pitchFamily="34" charset="-128"/>
              </a:defRPr>
            </a:lvl4pPr>
            <a:lvl5pPr marL="2057400" indent="-228600">
              <a:lnSpc>
                <a:spcPts val="1600"/>
              </a:lnSpc>
              <a:spcBef>
                <a:spcPct val="50000"/>
              </a:spcBef>
              <a:buClr>
                <a:schemeClr val="hlink"/>
              </a:buClr>
              <a:buChar char="–"/>
              <a:defRPr sz="1400">
                <a:solidFill>
                  <a:schemeClr val="tx1"/>
                </a:solidFill>
                <a:latin typeface="Arial" panose="020B0604020202020204" pitchFamily="34" charset="0"/>
                <a:ea typeface="MS PGothic" panose="020B0600070205080204" pitchFamily="34" charset="-128"/>
              </a:defRPr>
            </a:lvl5pPr>
            <a:lvl6pPr marL="25146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6pPr>
            <a:lvl7pPr marL="29718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7pPr>
            <a:lvl8pPr marL="34290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8pPr>
            <a:lvl9pPr marL="3886200" indent="-228600" eaLnBrk="0" fontAlgn="base" hangingPunct="0">
              <a:lnSpc>
                <a:spcPts val="1600"/>
              </a:lnSpc>
              <a:spcBef>
                <a:spcPct val="50000"/>
              </a:spcBef>
              <a:spcAft>
                <a:spcPct val="0"/>
              </a:spcAft>
              <a:buClr>
                <a:schemeClr val="hlink"/>
              </a:buClr>
              <a:buChar char="–"/>
              <a:defRPr sz="1400">
                <a:solidFill>
                  <a:schemeClr val="tx1"/>
                </a:solidFill>
                <a:latin typeface="Arial" panose="020B0604020202020204" pitchFamily="34" charset="0"/>
                <a:ea typeface="MS PGothic" panose="020B0600070205080204" pitchFamily="34" charset="-128"/>
              </a:defRPr>
            </a:lvl9pPr>
          </a:lstStyle>
          <a:p>
            <a:pPr eaLnBrk="1" hangingPunct="1">
              <a:lnSpc>
                <a:spcPct val="100000"/>
              </a:lnSpc>
              <a:spcBef>
                <a:spcPct val="0"/>
              </a:spcBef>
            </a:pPr>
            <a:r>
              <a:rPr lang="en-US" altLang="en-US" sz="2400" dirty="0">
                <a:solidFill>
                  <a:schemeClr val="accent5">
                    <a:lumMod val="10000"/>
                  </a:schemeClr>
                </a:solidFill>
              </a:rPr>
              <a:t>Neon emission spectrum</a:t>
            </a:r>
          </a:p>
        </p:txBody>
      </p:sp>
      <p:pic>
        <p:nvPicPr>
          <p:cNvPr id="8" name="Picture 6">
            <a:extLst>
              <a:ext uri="{FF2B5EF4-FFF2-40B4-BE49-F238E27FC236}">
                <a16:creationId xmlns:a16="http://schemas.microsoft.com/office/drawing/2014/main" id="{85B3375E-D786-4377-B843-2ACDC56068E6}"/>
              </a:ext>
            </a:extLst>
          </p:cNvPr>
          <p:cNvPicPr>
            <a:picLocks noChangeAspect="1"/>
          </p:cNvPicPr>
          <p:nvPr/>
        </p:nvPicPr>
        <p:blipFill>
          <a:blip r:embed="rId4">
            <a:extLst>
              <a:ext uri="{28A0092B-C50C-407E-A947-70E740481C1C}">
                <a14:useLocalDpi xmlns:a14="http://schemas.microsoft.com/office/drawing/2010/main" val="0"/>
              </a:ext>
            </a:extLst>
          </a:blip>
          <a:srcRect r="1596"/>
          <a:stretch>
            <a:fillRect/>
          </a:stretch>
        </p:blipFill>
        <p:spPr bwMode="auto">
          <a:xfrm>
            <a:off x="1340528" y="4478784"/>
            <a:ext cx="7199313"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45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60125-4BA7-4B4A-892A-F3771105DF53}"/>
              </a:ext>
            </a:extLst>
          </p:cNvPr>
          <p:cNvSpPr>
            <a:spLocks noGrp="1"/>
          </p:cNvSpPr>
          <p:nvPr>
            <p:ph type="title"/>
          </p:nvPr>
        </p:nvSpPr>
        <p:spPr>
          <a:xfrm>
            <a:off x="946622" y="235259"/>
            <a:ext cx="7704667" cy="972104"/>
          </a:xfrm>
        </p:spPr>
        <p:txBody>
          <a:bodyPr/>
          <a:lstStyle/>
          <a:p>
            <a:r>
              <a:rPr lang="en-AU" dirty="0">
                <a:solidFill>
                  <a:schemeClr val="accent5">
                    <a:lumMod val="10000"/>
                  </a:schemeClr>
                </a:solidFill>
              </a:rPr>
              <a:t>Absorption spectra</a:t>
            </a:r>
          </a:p>
        </p:txBody>
      </p:sp>
      <p:sp>
        <p:nvSpPr>
          <p:cNvPr id="3" name="Content Placeholder 2">
            <a:extLst>
              <a:ext uri="{FF2B5EF4-FFF2-40B4-BE49-F238E27FC236}">
                <a16:creationId xmlns:a16="http://schemas.microsoft.com/office/drawing/2014/main" id="{2AF48390-6432-473D-9C65-1BAAB292B503}"/>
              </a:ext>
            </a:extLst>
          </p:cNvPr>
          <p:cNvSpPr>
            <a:spLocks noGrp="1"/>
          </p:cNvSpPr>
          <p:nvPr>
            <p:ph idx="1"/>
          </p:nvPr>
        </p:nvSpPr>
        <p:spPr>
          <a:xfrm>
            <a:off x="710215" y="1113406"/>
            <a:ext cx="7949954" cy="2189086"/>
          </a:xfrm>
        </p:spPr>
        <p:txBody>
          <a:bodyPr/>
          <a:lstStyle/>
          <a:p>
            <a:r>
              <a:rPr lang="en-AU" dirty="0">
                <a:solidFill>
                  <a:schemeClr val="accent5">
                    <a:lumMod val="10000"/>
                  </a:schemeClr>
                </a:solidFill>
              </a:rPr>
              <a:t>When light that has a continuous spectra is shone through a substance (such as hydrogen gas), then the substance will absorb frequencies characteristic of the substance.</a:t>
            </a:r>
          </a:p>
          <a:p>
            <a:r>
              <a:rPr lang="en-AU" dirty="0">
                <a:solidFill>
                  <a:schemeClr val="accent5">
                    <a:lumMod val="10000"/>
                  </a:schemeClr>
                </a:solidFill>
              </a:rPr>
              <a:t>The dispersion pattern will have black lines where the absorbed frequencies occur.</a:t>
            </a:r>
          </a:p>
        </p:txBody>
      </p:sp>
      <p:pic>
        <p:nvPicPr>
          <p:cNvPr id="5" name="Picture 4" descr="A picture containing thing, object&#10;&#10;Description generated with high confidence">
            <a:extLst>
              <a:ext uri="{FF2B5EF4-FFF2-40B4-BE49-F238E27FC236}">
                <a16:creationId xmlns:a16="http://schemas.microsoft.com/office/drawing/2014/main" id="{B886CBF7-6506-4ADD-B412-3F8A1E8473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2379" y="3488825"/>
            <a:ext cx="6525581" cy="3211164"/>
          </a:xfrm>
          <a:prstGeom prst="rect">
            <a:avLst/>
          </a:prstGeom>
        </p:spPr>
      </p:pic>
    </p:spTree>
    <p:extLst>
      <p:ext uri="{BB962C8B-B14F-4D97-AF65-F5344CB8AC3E}">
        <p14:creationId xmlns:p14="http://schemas.microsoft.com/office/powerpoint/2010/main" val="1126801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ell phone&#10;&#10;Description generated with high confidence">
            <a:extLst>
              <a:ext uri="{FF2B5EF4-FFF2-40B4-BE49-F238E27FC236}">
                <a16:creationId xmlns:a16="http://schemas.microsoft.com/office/drawing/2014/main" id="{B60EABA2-8B64-4975-959C-8C82D7997E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1331" y="668877"/>
            <a:ext cx="6934200" cy="5200650"/>
          </a:xfrm>
          <a:prstGeom prst="rect">
            <a:avLst/>
          </a:prstGeom>
        </p:spPr>
      </p:pic>
    </p:spTree>
    <p:extLst>
      <p:ext uri="{BB962C8B-B14F-4D97-AF65-F5344CB8AC3E}">
        <p14:creationId xmlns:p14="http://schemas.microsoft.com/office/powerpoint/2010/main" val="19354308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Custom 11">
      <a:dk1>
        <a:srgbClr val="B2B2B2"/>
      </a:dk1>
      <a:lt1>
        <a:srgbClr val="CBCBCB"/>
      </a:lt1>
      <a:dk2>
        <a:srgbClr val="FFFFFF"/>
      </a:dk2>
      <a:lt2>
        <a:srgbClr val="FFFFFF"/>
      </a:lt2>
      <a:accent1>
        <a:srgbClr val="CFDFE2"/>
      </a:accent1>
      <a:accent2>
        <a:srgbClr val="D7E3E9"/>
      </a:accent2>
      <a:accent3>
        <a:srgbClr val="CFDFE2"/>
      </a:accent3>
      <a:accent4>
        <a:srgbClr val="CFDFE2"/>
      </a:accent4>
      <a:accent5>
        <a:srgbClr val="C3D5DF"/>
      </a:accent5>
      <a:accent6>
        <a:srgbClr val="BFBFBF"/>
      </a:accent6>
      <a:hlink>
        <a:srgbClr val="497388"/>
      </a:hlink>
      <a:folHlink>
        <a:srgbClr val="8C8C8C"/>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591</TotalTime>
  <Words>864</Words>
  <Application>Microsoft Office PowerPoint</Application>
  <PresentationFormat>On-screen Show (4:3)</PresentationFormat>
  <Paragraphs>55</Paragraphs>
  <Slides>16</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 Math</vt:lpstr>
      <vt:lpstr>Corbel</vt:lpstr>
      <vt:lpstr>Parallax</vt:lpstr>
      <vt:lpstr>LIGHT:  Blackbody Radiation and spectra</vt:lpstr>
      <vt:lpstr>Key Objectives</vt:lpstr>
      <vt:lpstr>Blackbody radiation</vt:lpstr>
      <vt:lpstr>PowerPoint Presentation</vt:lpstr>
      <vt:lpstr>PowerPoint Presentation</vt:lpstr>
      <vt:lpstr>Ultraviolet catastrophe</vt:lpstr>
      <vt:lpstr>PowerPoint Presentation</vt:lpstr>
      <vt:lpstr>PowerPoint Presentation</vt:lpstr>
      <vt:lpstr>PowerPoint Presentation</vt:lpstr>
      <vt:lpstr>PowerPoint Presentation</vt:lpstr>
      <vt:lpstr>PowerPoint Presentation</vt:lpstr>
      <vt:lpstr>Emission Spectra</vt:lpstr>
      <vt:lpstr>PowerPoint Presentation</vt:lpstr>
      <vt:lpstr>PowerPoint Presentation</vt:lpstr>
      <vt:lpstr>Absorption spectra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LIGHT</dc:title>
  <dc:creator>Leah Anthony</dc:creator>
  <cp:lastModifiedBy>COOPER Sarina [Southern River College]</cp:lastModifiedBy>
  <cp:revision>44</cp:revision>
  <dcterms:created xsi:type="dcterms:W3CDTF">2017-06-13T13:08:34Z</dcterms:created>
  <dcterms:modified xsi:type="dcterms:W3CDTF">2024-07-17T03:35:37Z</dcterms:modified>
</cp:coreProperties>
</file>