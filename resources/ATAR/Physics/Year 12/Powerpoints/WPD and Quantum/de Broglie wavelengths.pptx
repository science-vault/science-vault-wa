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8" r:id="rId1"/>
  </p:sldMasterIdLst>
  <p:notesMasterIdLst>
    <p:notesMasterId r:id="rId15"/>
  </p:notesMasterIdLst>
  <p:sldIdLst>
    <p:sldId id="261" r:id="rId2"/>
    <p:sldId id="257" r:id="rId3"/>
    <p:sldId id="260" r:id="rId4"/>
    <p:sldId id="272" r:id="rId5"/>
    <p:sldId id="275" r:id="rId6"/>
    <p:sldId id="273" r:id="rId7"/>
    <p:sldId id="274" r:id="rId8"/>
    <p:sldId id="276" r:id="rId9"/>
    <p:sldId id="279" r:id="rId10"/>
    <p:sldId id="280" r:id="rId11"/>
    <p:sldId id="277" r:id="rId12"/>
    <p:sldId id="278" r:id="rId13"/>
    <p:sldId id="281" r:id="rId14"/>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52B0302-CA8F-4E30-8453-29CE8CC072DE}" v="1" dt="2024-07-18T02:02:55.792"/>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4" d="100"/>
          <a:sy n="74" d="100"/>
        </p:scale>
        <p:origin x="1622" y="67"/>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heme" Target="theme/theme1.xml"/><Relationship Id="rId3" Type="http://schemas.openxmlformats.org/officeDocument/2006/relationships/slide" Target="slides/slide2.xml"/><Relationship Id="rId21" Type="http://schemas.microsoft.com/office/2015/10/relationships/revisionInfo" Target="revisionInfo.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20"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COOPER Sarina [Southern River College]" userId="7f2b4663-0468-4605-9163-1ba4158276d8" providerId="ADAL" clId="{752B0302-CA8F-4E30-8453-29CE8CC072DE}"/>
    <pc:docChg chg="undo custSel delSld modSld">
      <pc:chgData name="COOPER Sarina [Southern River College]" userId="7f2b4663-0468-4605-9163-1ba4158276d8" providerId="ADAL" clId="{752B0302-CA8F-4E30-8453-29CE8CC072DE}" dt="2024-07-18T02:04:09.283" v="47" actId="20577"/>
      <pc:docMkLst>
        <pc:docMk/>
      </pc:docMkLst>
      <pc:sldChg chg="modSp mod">
        <pc:chgData name="COOPER Sarina [Southern River College]" userId="7f2b4663-0468-4605-9163-1ba4158276d8" providerId="ADAL" clId="{752B0302-CA8F-4E30-8453-29CE8CC072DE}" dt="2024-07-18T02:03:51.660" v="14" actId="6549"/>
        <pc:sldMkLst>
          <pc:docMk/>
          <pc:sldMk cId="589363462" sldId="257"/>
        </pc:sldMkLst>
        <pc:spChg chg="mod">
          <ac:chgData name="COOPER Sarina [Southern River College]" userId="7f2b4663-0468-4605-9163-1ba4158276d8" providerId="ADAL" clId="{752B0302-CA8F-4E30-8453-29CE8CC072DE}" dt="2024-07-18T02:03:51.660" v="14" actId="6549"/>
          <ac:spMkLst>
            <pc:docMk/>
            <pc:sldMk cId="589363462" sldId="257"/>
            <ac:spMk id="3" creationId="{00000000-0000-0000-0000-000000000000}"/>
          </ac:spMkLst>
        </pc:spChg>
      </pc:sldChg>
      <pc:sldChg chg="del">
        <pc:chgData name="COOPER Sarina [Southern River College]" userId="7f2b4663-0468-4605-9163-1ba4158276d8" providerId="ADAL" clId="{752B0302-CA8F-4E30-8453-29CE8CC072DE}" dt="2024-07-18T02:03:05.660" v="2" actId="2696"/>
        <pc:sldMkLst>
          <pc:docMk/>
          <pc:sldMk cId="2060414131" sldId="258"/>
        </pc:sldMkLst>
      </pc:sldChg>
      <pc:sldChg chg="modSp mod">
        <pc:chgData name="COOPER Sarina [Southern River College]" userId="7f2b4663-0468-4605-9163-1ba4158276d8" providerId="ADAL" clId="{752B0302-CA8F-4E30-8453-29CE8CC072DE}" dt="2024-07-18T02:02:56.223" v="1" actId="6549"/>
        <pc:sldMkLst>
          <pc:docMk/>
          <pc:sldMk cId="1427585389" sldId="260"/>
        </pc:sldMkLst>
        <pc:spChg chg="mod">
          <ac:chgData name="COOPER Sarina [Southern River College]" userId="7f2b4663-0468-4605-9163-1ba4158276d8" providerId="ADAL" clId="{752B0302-CA8F-4E30-8453-29CE8CC072DE}" dt="2024-07-18T02:02:56.223" v="1" actId="6549"/>
          <ac:spMkLst>
            <pc:docMk/>
            <pc:sldMk cId="1427585389" sldId="260"/>
            <ac:spMk id="3" creationId="{00000000-0000-0000-0000-000000000000}"/>
          </ac:spMkLst>
        </pc:spChg>
      </pc:sldChg>
      <pc:sldChg chg="modSp mod">
        <pc:chgData name="COOPER Sarina [Southern River College]" userId="7f2b4663-0468-4605-9163-1ba4158276d8" providerId="ADAL" clId="{752B0302-CA8F-4E30-8453-29CE8CC072DE}" dt="2024-07-18T02:04:09.283" v="47" actId="20577"/>
        <pc:sldMkLst>
          <pc:docMk/>
          <pc:sldMk cId="3301637796" sldId="261"/>
        </pc:sldMkLst>
        <pc:spChg chg="mod">
          <ac:chgData name="COOPER Sarina [Southern River College]" userId="7f2b4663-0468-4605-9163-1ba4158276d8" providerId="ADAL" clId="{752B0302-CA8F-4E30-8453-29CE8CC072DE}" dt="2024-07-18T02:04:09.283" v="47" actId="20577"/>
          <ac:spMkLst>
            <pc:docMk/>
            <pc:sldMk cId="3301637796" sldId="261"/>
            <ac:spMk id="2" creationId="{00000000-0000-0000-0000-000000000000}"/>
          </ac:spMkLst>
        </pc:spChg>
      </pc:sldChg>
      <pc:sldChg chg="del">
        <pc:chgData name="COOPER Sarina [Southern River College]" userId="7f2b4663-0468-4605-9163-1ba4158276d8" providerId="ADAL" clId="{752B0302-CA8F-4E30-8453-29CE8CC072DE}" dt="2024-07-18T02:03:09.050" v="4" actId="47"/>
        <pc:sldMkLst>
          <pc:docMk/>
          <pc:sldMk cId="1760640401" sldId="262"/>
        </pc:sldMkLst>
      </pc:sldChg>
      <pc:sldChg chg="del">
        <pc:chgData name="COOPER Sarina [Southern River College]" userId="7f2b4663-0468-4605-9163-1ba4158276d8" providerId="ADAL" clId="{752B0302-CA8F-4E30-8453-29CE8CC072DE}" dt="2024-07-18T02:03:07.640" v="3" actId="47"/>
        <pc:sldMkLst>
          <pc:docMk/>
          <pc:sldMk cId="1017255901" sldId="264"/>
        </pc:sldMkLst>
      </pc:sldChg>
      <pc:sldChg chg="del">
        <pc:chgData name="COOPER Sarina [Southern River College]" userId="7f2b4663-0468-4605-9163-1ba4158276d8" providerId="ADAL" clId="{752B0302-CA8F-4E30-8453-29CE8CC072DE}" dt="2024-07-18T02:03:09.727" v="5" actId="47"/>
        <pc:sldMkLst>
          <pc:docMk/>
          <pc:sldMk cId="1262747536" sldId="265"/>
        </pc:sldMkLst>
      </pc:sldChg>
      <pc:sldChg chg="del">
        <pc:chgData name="COOPER Sarina [Southern River College]" userId="7f2b4663-0468-4605-9163-1ba4158276d8" providerId="ADAL" clId="{752B0302-CA8F-4E30-8453-29CE8CC072DE}" dt="2024-07-18T02:03:13.737" v="10" actId="47"/>
        <pc:sldMkLst>
          <pc:docMk/>
          <pc:sldMk cId="326604987" sldId="266"/>
        </pc:sldMkLst>
      </pc:sldChg>
      <pc:sldChg chg="del">
        <pc:chgData name="COOPER Sarina [Southern River College]" userId="7f2b4663-0468-4605-9163-1ba4158276d8" providerId="ADAL" clId="{752B0302-CA8F-4E30-8453-29CE8CC072DE}" dt="2024-07-18T02:03:14.414" v="11" actId="47"/>
        <pc:sldMkLst>
          <pc:docMk/>
          <pc:sldMk cId="1003874340" sldId="267"/>
        </pc:sldMkLst>
      </pc:sldChg>
      <pc:sldChg chg="del">
        <pc:chgData name="COOPER Sarina [Southern River College]" userId="7f2b4663-0468-4605-9163-1ba4158276d8" providerId="ADAL" clId="{752B0302-CA8F-4E30-8453-29CE8CC072DE}" dt="2024-07-18T02:03:12.109" v="8" actId="47"/>
        <pc:sldMkLst>
          <pc:docMk/>
          <pc:sldMk cId="2910761709" sldId="268"/>
        </pc:sldMkLst>
      </pc:sldChg>
      <pc:sldChg chg="del">
        <pc:chgData name="COOPER Sarina [Southern River College]" userId="7f2b4663-0468-4605-9163-1ba4158276d8" providerId="ADAL" clId="{752B0302-CA8F-4E30-8453-29CE8CC072DE}" dt="2024-07-18T02:03:10.696" v="6" actId="47"/>
        <pc:sldMkLst>
          <pc:docMk/>
          <pc:sldMk cId="3421066089" sldId="269"/>
        </pc:sldMkLst>
      </pc:sldChg>
      <pc:sldChg chg="del">
        <pc:chgData name="COOPER Sarina [Southern River College]" userId="7f2b4663-0468-4605-9163-1ba4158276d8" providerId="ADAL" clId="{752B0302-CA8F-4E30-8453-29CE8CC072DE}" dt="2024-07-18T02:03:11.427" v="7" actId="47"/>
        <pc:sldMkLst>
          <pc:docMk/>
          <pc:sldMk cId="2022911180" sldId="270"/>
        </pc:sldMkLst>
      </pc:sldChg>
      <pc:sldChg chg="del">
        <pc:chgData name="COOPER Sarina [Southern River College]" userId="7f2b4663-0468-4605-9163-1ba4158276d8" providerId="ADAL" clId="{752B0302-CA8F-4E30-8453-29CE8CC072DE}" dt="2024-07-18T02:03:12.870" v="9" actId="47"/>
        <pc:sldMkLst>
          <pc:docMk/>
          <pc:sldMk cId="3267623578" sldId="27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AU"/>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9BD2BA8-3D9B-49DC-98D1-98730BC9C18E}" type="datetimeFigureOut">
              <a:rPr lang="en-AU" smtClean="0"/>
              <a:t>18/07/2024</a:t>
            </a:fld>
            <a:endParaRPr lang="en-AU"/>
          </a:p>
        </p:txBody>
      </p:sp>
      <p:sp>
        <p:nvSpPr>
          <p:cNvPr id="4" name="Slide Image Placeholder 3"/>
          <p:cNvSpPr>
            <a:spLocks noGrp="1" noRot="1" noChangeAspect="1"/>
          </p:cNvSpPr>
          <p:nvPr>
            <p:ph type="sldImg" idx="2"/>
          </p:nvPr>
        </p:nvSpPr>
        <p:spPr>
          <a:xfrm>
            <a:off x="1371600" y="1143000"/>
            <a:ext cx="4114800" cy="3086100"/>
          </a:xfrm>
          <a:prstGeom prst="rect">
            <a:avLst/>
          </a:prstGeom>
          <a:noFill/>
          <a:ln w="12700">
            <a:solidFill>
              <a:prstClr val="black"/>
            </a:solidFill>
          </a:ln>
        </p:spPr>
        <p:txBody>
          <a:bodyPr vert="horz" lIns="91440" tIns="45720" rIns="91440" bIns="45720" rtlCol="0" anchor="ctr"/>
          <a:lstStyle/>
          <a:p>
            <a:endParaRPr lang="en-AU"/>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AU"/>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7867A61-99AF-4B5E-AD34-71064BFCC3D7}" type="slidenum">
              <a:rPr lang="en-AU" smtClean="0"/>
              <a:t>‹#›</a:t>
            </a:fld>
            <a:endParaRPr lang="en-AU"/>
          </a:p>
        </p:txBody>
      </p:sp>
    </p:spTree>
    <p:extLst>
      <p:ext uri="{BB962C8B-B14F-4D97-AF65-F5344CB8AC3E}">
        <p14:creationId xmlns:p14="http://schemas.microsoft.com/office/powerpoint/2010/main" val="287806657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AU" dirty="0"/>
              <a:t>If you block one of the slits you observe a diffraction pattern.</a:t>
            </a:r>
          </a:p>
          <a:p>
            <a:r>
              <a:rPr lang="en-AU" dirty="0"/>
              <a:t>If you do this experiment firing one electron at a time then you still get the interference pattern, this is due to the probability wave, the fired electron has  a probability wave in the vertical position as well.  The electron passes through both slits at the same time according to quantum physics (the electron can be in all possible states at one time, until observed, once it has been observed you have a set location – once observed it acts like a particle and not a wave).</a:t>
            </a:r>
          </a:p>
        </p:txBody>
      </p:sp>
      <p:sp>
        <p:nvSpPr>
          <p:cNvPr id="4" name="Slide Number Placeholder 3"/>
          <p:cNvSpPr>
            <a:spLocks noGrp="1"/>
          </p:cNvSpPr>
          <p:nvPr>
            <p:ph type="sldNum" sz="quarter" idx="10"/>
          </p:nvPr>
        </p:nvSpPr>
        <p:spPr/>
        <p:txBody>
          <a:bodyPr/>
          <a:lstStyle/>
          <a:p>
            <a:fld id="{A7867A61-99AF-4B5E-AD34-71064BFCC3D7}" type="slidenum">
              <a:rPr lang="en-AU" smtClean="0"/>
              <a:t>10</a:t>
            </a:fld>
            <a:endParaRPr lang="en-AU"/>
          </a:p>
        </p:txBody>
      </p:sp>
    </p:spTree>
    <p:extLst>
      <p:ext uri="{BB962C8B-B14F-4D97-AF65-F5344CB8AC3E}">
        <p14:creationId xmlns:p14="http://schemas.microsoft.com/office/powerpoint/2010/main" val="301679167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grpSp>
        <p:nvGrpSpPr>
          <p:cNvPr id="25" name="Group 24"/>
          <p:cNvGrpSpPr/>
          <p:nvPr/>
        </p:nvGrpSpPr>
        <p:grpSpPr>
          <a:xfrm>
            <a:off x="203200" y="0"/>
            <a:ext cx="3778250" cy="6858001"/>
            <a:chOff x="203200" y="0"/>
            <a:chExt cx="3778250" cy="6858001"/>
          </a:xfrm>
        </p:grpSpPr>
        <p:sp>
          <p:nvSpPr>
            <p:cNvPr id="14" name="Freeform 6"/>
            <p:cNvSpPr/>
            <p:nvPr/>
          </p:nvSpPr>
          <p:spPr bwMode="auto">
            <a:xfrm>
              <a:off x="641350" y="0"/>
              <a:ext cx="1365250" cy="3971925"/>
            </a:xfrm>
            <a:custGeom>
              <a:avLst/>
              <a:gdLst/>
              <a:ahLst/>
              <a:cxnLst/>
              <a:rect l="0" t="0" r="r" b="b"/>
              <a:pathLst>
                <a:path w="860" h="2502">
                  <a:moveTo>
                    <a:pt x="0" y="2445"/>
                  </a:moveTo>
                  <a:lnTo>
                    <a:pt x="228" y="2502"/>
                  </a:lnTo>
                  <a:lnTo>
                    <a:pt x="860" y="0"/>
                  </a:lnTo>
                  <a:lnTo>
                    <a:pt x="620" y="0"/>
                  </a:lnTo>
                  <a:lnTo>
                    <a:pt x="0" y="2445"/>
                  </a:lnTo>
                  <a:close/>
                </a:path>
              </a:pathLst>
            </a:custGeom>
            <a:solidFill>
              <a:schemeClr val="accent1"/>
            </a:solidFill>
            <a:ln>
              <a:noFill/>
            </a:ln>
          </p:spPr>
        </p:sp>
        <p:sp>
          <p:nvSpPr>
            <p:cNvPr id="15" name="Freeform 7"/>
            <p:cNvSpPr/>
            <p:nvPr/>
          </p:nvSpPr>
          <p:spPr bwMode="auto">
            <a:xfrm>
              <a:off x="203200" y="0"/>
              <a:ext cx="1336675" cy="3862388"/>
            </a:xfrm>
            <a:custGeom>
              <a:avLst/>
              <a:gdLst/>
              <a:ahLst/>
              <a:cxnLst/>
              <a:rect l="0" t="0" r="r" b="b"/>
              <a:pathLst>
                <a:path w="842" h="2433">
                  <a:moveTo>
                    <a:pt x="842" y="0"/>
                  </a:moveTo>
                  <a:lnTo>
                    <a:pt x="602" y="0"/>
                  </a:lnTo>
                  <a:lnTo>
                    <a:pt x="0" y="2376"/>
                  </a:lnTo>
                  <a:lnTo>
                    <a:pt x="228" y="2433"/>
                  </a:lnTo>
                  <a:lnTo>
                    <a:pt x="842" y="0"/>
                  </a:lnTo>
                  <a:close/>
                </a:path>
              </a:pathLst>
            </a:custGeom>
            <a:solidFill>
              <a:schemeClr val="tx1">
                <a:lumMod val="65000"/>
                <a:lumOff val="35000"/>
              </a:schemeClr>
            </a:solidFill>
            <a:ln>
              <a:noFill/>
            </a:ln>
          </p:spPr>
        </p:sp>
        <p:sp>
          <p:nvSpPr>
            <p:cNvPr id="16" name="Freeform 8"/>
            <p:cNvSpPr/>
            <p:nvPr/>
          </p:nvSpPr>
          <p:spPr bwMode="auto">
            <a:xfrm>
              <a:off x="207963" y="3776663"/>
              <a:ext cx="1936750" cy="3081338"/>
            </a:xfrm>
            <a:custGeom>
              <a:avLst/>
              <a:gdLst/>
              <a:ahLst/>
              <a:cxnLst/>
              <a:rect l="0" t="0" r="r" b="b"/>
              <a:pathLst>
                <a:path w="1220" h="1941">
                  <a:moveTo>
                    <a:pt x="0" y="0"/>
                  </a:moveTo>
                  <a:lnTo>
                    <a:pt x="1166" y="1941"/>
                  </a:lnTo>
                  <a:lnTo>
                    <a:pt x="1220" y="1941"/>
                  </a:lnTo>
                  <a:lnTo>
                    <a:pt x="0" y="0"/>
                  </a:lnTo>
                  <a:close/>
                </a:path>
              </a:pathLst>
            </a:custGeom>
            <a:solidFill>
              <a:schemeClr val="tx1">
                <a:lumMod val="85000"/>
                <a:lumOff val="15000"/>
              </a:schemeClr>
            </a:solidFill>
            <a:ln>
              <a:noFill/>
            </a:ln>
          </p:spPr>
        </p:sp>
        <p:sp>
          <p:nvSpPr>
            <p:cNvPr id="20" name="Freeform 9"/>
            <p:cNvSpPr/>
            <p:nvPr/>
          </p:nvSpPr>
          <p:spPr bwMode="auto">
            <a:xfrm>
              <a:off x="646113" y="3886200"/>
              <a:ext cx="2373313" cy="2971800"/>
            </a:xfrm>
            <a:custGeom>
              <a:avLst/>
              <a:gdLst/>
              <a:ahLst/>
              <a:cxnLst/>
              <a:rect l="0" t="0" r="r" b="b"/>
              <a:pathLst>
                <a:path w="1495" h="1872">
                  <a:moveTo>
                    <a:pt x="1495" y="1872"/>
                  </a:moveTo>
                  <a:lnTo>
                    <a:pt x="0" y="0"/>
                  </a:lnTo>
                  <a:lnTo>
                    <a:pt x="1442" y="1872"/>
                  </a:lnTo>
                  <a:lnTo>
                    <a:pt x="1495" y="1872"/>
                  </a:lnTo>
                  <a:close/>
                </a:path>
              </a:pathLst>
            </a:custGeom>
            <a:solidFill>
              <a:schemeClr val="accent1">
                <a:lumMod val="50000"/>
              </a:schemeClr>
            </a:solidFill>
            <a:ln>
              <a:noFill/>
            </a:ln>
          </p:spPr>
        </p:sp>
        <p:sp>
          <p:nvSpPr>
            <p:cNvPr id="21" name="Freeform 10"/>
            <p:cNvSpPr/>
            <p:nvPr/>
          </p:nvSpPr>
          <p:spPr bwMode="auto">
            <a:xfrm>
              <a:off x="641350" y="3881438"/>
              <a:ext cx="3340100" cy="2976563"/>
            </a:xfrm>
            <a:custGeom>
              <a:avLst/>
              <a:gdLst/>
              <a:ahLst/>
              <a:cxnLst/>
              <a:rect l="0" t="0" r="r" b="b"/>
              <a:pathLst>
                <a:path w="2104" h="1875">
                  <a:moveTo>
                    <a:pt x="0" y="0"/>
                  </a:moveTo>
                  <a:lnTo>
                    <a:pt x="3" y="3"/>
                  </a:lnTo>
                  <a:lnTo>
                    <a:pt x="1498" y="1875"/>
                  </a:lnTo>
                  <a:lnTo>
                    <a:pt x="2104" y="1875"/>
                  </a:lnTo>
                  <a:lnTo>
                    <a:pt x="228" y="57"/>
                  </a:lnTo>
                  <a:lnTo>
                    <a:pt x="0" y="0"/>
                  </a:lnTo>
                  <a:close/>
                </a:path>
              </a:pathLst>
            </a:custGeom>
            <a:solidFill>
              <a:schemeClr val="accent1">
                <a:lumMod val="75000"/>
              </a:schemeClr>
            </a:solidFill>
            <a:ln>
              <a:noFill/>
            </a:ln>
          </p:spPr>
        </p:sp>
        <p:sp>
          <p:nvSpPr>
            <p:cNvPr id="22" name="Freeform 11"/>
            <p:cNvSpPr/>
            <p:nvPr/>
          </p:nvSpPr>
          <p:spPr bwMode="auto">
            <a:xfrm>
              <a:off x="203200" y="3771900"/>
              <a:ext cx="2660650" cy="3086100"/>
            </a:xfrm>
            <a:custGeom>
              <a:avLst/>
              <a:gdLst/>
              <a:ahLst/>
              <a:cxnLst/>
              <a:rect l="0" t="0" r="r" b="b"/>
              <a:pathLst>
                <a:path w="1676" h="1944">
                  <a:moveTo>
                    <a:pt x="1676" y="1944"/>
                  </a:moveTo>
                  <a:lnTo>
                    <a:pt x="264" y="111"/>
                  </a:lnTo>
                  <a:lnTo>
                    <a:pt x="225" y="60"/>
                  </a:lnTo>
                  <a:lnTo>
                    <a:pt x="228" y="60"/>
                  </a:lnTo>
                  <a:lnTo>
                    <a:pt x="264" y="111"/>
                  </a:lnTo>
                  <a:lnTo>
                    <a:pt x="234" y="69"/>
                  </a:lnTo>
                  <a:lnTo>
                    <a:pt x="228" y="57"/>
                  </a:lnTo>
                  <a:lnTo>
                    <a:pt x="222" y="54"/>
                  </a:lnTo>
                  <a:lnTo>
                    <a:pt x="0" y="0"/>
                  </a:lnTo>
                  <a:lnTo>
                    <a:pt x="3" y="3"/>
                  </a:lnTo>
                  <a:lnTo>
                    <a:pt x="1223" y="1944"/>
                  </a:lnTo>
                  <a:lnTo>
                    <a:pt x="1676" y="1944"/>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1739673" y="914401"/>
            <a:ext cx="6947127" cy="3488266"/>
          </a:xfrm>
        </p:spPr>
        <p:txBody>
          <a:bodyPr anchor="b">
            <a:normAutofit/>
          </a:bodyPr>
          <a:lstStyle>
            <a:lvl1pPr algn="r">
              <a:defRPr sz="5400">
                <a:effectLst/>
              </a:defRPr>
            </a:lvl1pPr>
          </a:lstStyle>
          <a:p>
            <a:r>
              <a:rPr lang="en-US"/>
              <a:t>Click to edit Master title style</a:t>
            </a:r>
            <a:endParaRPr lang="en-US" dirty="0"/>
          </a:p>
        </p:txBody>
      </p:sp>
      <p:sp>
        <p:nvSpPr>
          <p:cNvPr id="3" name="Subtitle 2"/>
          <p:cNvSpPr>
            <a:spLocks noGrp="1"/>
          </p:cNvSpPr>
          <p:nvPr>
            <p:ph type="subTitle" idx="1"/>
          </p:nvPr>
        </p:nvSpPr>
        <p:spPr>
          <a:xfrm>
            <a:off x="2924238" y="4402666"/>
            <a:ext cx="5762563" cy="1364531"/>
          </a:xfrm>
        </p:spPr>
        <p:txBody>
          <a:bodyPr anchor="t">
            <a:normAutofit/>
          </a:bodyPr>
          <a:lstStyle>
            <a:lvl1pPr marL="0" indent="0" algn="r">
              <a:buNone/>
              <a:defRPr sz="18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a:xfrm>
            <a:off x="7325773" y="6117336"/>
            <a:ext cx="857473" cy="365125"/>
          </a:xfrm>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a:xfrm>
            <a:off x="3623733" y="6117336"/>
            <a:ext cx="3609438" cy="365125"/>
          </a:xfrm>
        </p:spPr>
        <p:txBody>
          <a:bodyPr/>
          <a:lstStyle/>
          <a:p>
            <a:endParaRPr lang="en-AU"/>
          </a:p>
        </p:txBody>
      </p:sp>
      <p:sp>
        <p:nvSpPr>
          <p:cNvPr id="6" name="Slide Number Placeholder 5"/>
          <p:cNvSpPr>
            <a:spLocks noGrp="1"/>
          </p:cNvSpPr>
          <p:nvPr>
            <p:ph type="sldNum" sz="quarter" idx="12"/>
          </p:nvPr>
        </p:nvSpPr>
        <p:spPr>
          <a:xfrm>
            <a:off x="8275320" y="6117336"/>
            <a:ext cx="411480" cy="365125"/>
          </a:xfrm>
        </p:spPr>
        <p:txBody>
          <a:bodyPr/>
          <a:lstStyle/>
          <a:p>
            <a:fld id="{76880F4B-5908-404D-A5BE-7A4C83FBD9D3}" type="slidenum">
              <a:rPr lang="en-AU" smtClean="0"/>
              <a:t>‹#›</a:t>
            </a:fld>
            <a:endParaRPr lang="en-AU"/>
          </a:p>
        </p:txBody>
      </p:sp>
      <p:sp>
        <p:nvSpPr>
          <p:cNvPr id="23" name="Freeform 12"/>
          <p:cNvSpPr/>
          <p:nvPr/>
        </p:nvSpPr>
        <p:spPr bwMode="auto">
          <a:xfrm>
            <a:off x="203200" y="3771900"/>
            <a:ext cx="361950" cy="90488"/>
          </a:xfrm>
          <a:custGeom>
            <a:avLst/>
            <a:gdLst/>
            <a:ahLst/>
            <a:cxnLst/>
            <a:rect l="0" t="0" r="r" b="b"/>
            <a:pathLst>
              <a:path w="228" h="57">
                <a:moveTo>
                  <a:pt x="228" y="57"/>
                </a:moveTo>
                <a:lnTo>
                  <a:pt x="0" y="0"/>
                </a:lnTo>
                <a:lnTo>
                  <a:pt x="222" y="54"/>
                </a:lnTo>
                <a:lnTo>
                  <a:pt x="228" y="57"/>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
        <p:nvSpPr>
          <p:cNvPr id="24" name="Freeform 13"/>
          <p:cNvSpPr/>
          <p:nvPr/>
        </p:nvSpPr>
        <p:spPr bwMode="auto">
          <a:xfrm>
            <a:off x="560388" y="3867150"/>
            <a:ext cx="61913" cy="80963"/>
          </a:xfrm>
          <a:custGeom>
            <a:avLst/>
            <a:gdLst/>
            <a:ahLst/>
            <a:cxnLst/>
            <a:rect l="0" t="0" r="r" b="b"/>
            <a:pathLst>
              <a:path w="39" h="51">
                <a:moveTo>
                  <a:pt x="0" y="0"/>
                </a:moveTo>
                <a:lnTo>
                  <a:pt x="39" y="51"/>
                </a:lnTo>
                <a:lnTo>
                  <a:pt x="3" y="0"/>
                </a:lnTo>
                <a:lnTo>
                  <a:pt x="0" y="0"/>
                </a:lnTo>
                <a:close/>
              </a:path>
            </a:pathLst>
          </a:custGeom>
          <a:solidFill>
            <a:srgbClr val="29ABE2"/>
          </a:solidFill>
          <a:ln>
            <a:noFill/>
          </a:ln>
          <a:extLst>
            <a:ext uri="{91240B29-F687-4f45-9708-019B960494DF}">
              <a14:hiddenLine xmlns="" xmlns:a14="http://schemas.microsoft.com/office/drawing/2010/main" w="9525">
                <a:solidFill>
                  <a:srgbClr val="000000"/>
                </a:solidFill>
                <a:round/>
                <a:headEnd/>
                <a:tailEnd/>
              </a14:hiddenLine>
            </a:ext>
          </a:extLst>
        </p:spPr>
      </p:sp>
    </p:spTree>
    <p:extLst>
      <p:ext uri="{BB962C8B-B14F-4D97-AF65-F5344CB8AC3E}">
        <p14:creationId xmlns:p14="http://schemas.microsoft.com/office/powerpoint/2010/main" val="21923911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1981200"/>
          </a:xfrm>
        </p:spPr>
        <p:txBody>
          <a:bodyPr/>
          <a:lstStyle/>
          <a:p>
            <a:r>
              <a:rPr lang="en-US"/>
              <a:t>Click to edit Master title style</a:t>
            </a:r>
            <a:endParaRPr lang="en-US" dirty="0"/>
          </a:p>
        </p:txBody>
      </p:sp>
      <p:sp>
        <p:nvSpPr>
          <p:cNvPr id="3" name="Content Placeholder 2"/>
          <p:cNvSpPr>
            <a:spLocks noGrp="1"/>
          </p:cNvSpPr>
          <p:nvPr>
            <p:ph idx="1"/>
          </p:nvPr>
        </p:nvSpPr>
        <p:spPr>
          <a:xfrm>
            <a:off x="982133" y="2667000"/>
            <a:ext cx="7704667" cy="3332816"/>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a:xfrm>
            <a:off x="7344329" y="6108173"/>
            <a:ext cx="857473" cy="365125"/>
          </a:xfrm>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a:xfrm>
            <a:off x="1972647" y="6108173"/>
            <a:ext cx="5314517" cy="365125"/>
          </a:xfrm>
        </p:spPr>
        <p:txBody>
          <a:bodyPr/>
          <a:lstStyle/>
          <a:p>
            <a:endParaRPr lang="en-AU"/>
          </a:p>
        </p:txBody>
      </p:sp>
      <p:sp>
        <p:nvSpPr>
          <p:cNvPr id="6" name="Slide Number Placeholder 5"/>
          <p:cNvSpPr>
            <a:spLocks noGrp="1"/>
          </p:cNvSpPr>
          <p:nvPr>
            <p:ph type="sldNum" sz="quarter" idx="12"/>
          </p:nvPr>
        </p:nvSpPr>
        <p:spPr>
          <a:xfrm>
            <a:off x="8258967" y="6108173"/>
            <a:ext cx="42783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20549202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986995" y="2666998"/>
            <a:ext cx="6699805" cy="2360071"/>
          </a:xfrm>
        </p:spPr>
        <p:txBody>
          <a:bodyPr anchor="b"/>
          <a:lstStyle>
            <a:lvl1pPr algn="r">
              <a:defRPr sz="4000" b="0" cap="none"/>
            </a:lvl1pPr>
          </a:lstStyle>
          <a:p>
            <a:r>
              <a:rPr lang="en-US"/>
              <a:t>Click to edit Master title style</a:t>
            </a:r>
            <a:endParaRPr lang="en-US" dirty="0"/>
          </a:p>
        </p:txBody>
      </p:sp>
      <p:sp>
        <p:nvSpPr>
          <p:cNvPr id="3" name="Text Placeholder 2"/>
          <p:cNvSpPr>
            <a:spLocks noGrp="1"/>
          </p:cNvSpPr>
          <p:nvPr>
            <p:ph type="body" idx="1"/>
          </p:nvPr>
        </p:nvSpPr>
        <p:spPr>
          <a:xfrm>
            <a:off x="1986998" y="5027070"/>
            <a:ext cx="6699802"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a:xfrm>
            <a:off x="8273317" y="6116070"/>
            <a:ext cx="413483" cy="365125"/>
          </a:xfrm>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7503469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82133" y="685801"/>
            <a:ext cx="7704667" cy="1752599"/>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82133" y="2667000"/>
            <a:ext cx="3739896" cy="336867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946904" y="2667000"/>
            <a:ext cx="3739896" cy="3346824"/>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894541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329481" y="2658533"/>
            <a:ext cx="3456291"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13523"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5161710" y="2667000"/>
            <a:ext cx="3467806" cy="576262"/>
          </a:xfrm>
        </p:spPr>
        <p:txBody>
          <a:bodyPr anchor="b">
            <a:noAutofit/>
          </a:bodyPr>
          <a:lstStyle>
            <a:lvl1pPr marL="0" indent="0">
              <a:buNone/>
              <a:defRPr sz="2800" b="0">
                <a:solidFill>
                  <a:schemeClr val="accent1">
                    <a:lumMod val="7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4957266" y="3335336"/>
            <a:ext cx="3672248" cy="2665259"/>
          </a:xfrm>
        </p:spPr>
        <p:txBody>
          <a:bodyPr anchor="t">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30C72779-29AB-4ECE-8EA0-D161D12BDB52}" type="datetimeFigureOut">
              <a:rPr lang="en-AU" smtClean="0"/>
              <a:t>18/07/2024</a:t>
            </a:fld>
            <a:endParaRPr lang="en-AU"/>
          </a:p>
        </p:txBody>
      </p:sp>
      <p:sp>
        <p:nvSpPr>
          <p:cNvPr id="8" name="Footer Placeholder 7"/>
          <p:cNvSpPr>
            <a:spLocks noGrp="1"/>
          </p:cNvSpPr>
          <p:nvPr>
            <p:ph type="ftr" sz="quarter" idx="11"/>
          </p:nvPr>
        </p:nvSpPr>
        <p:spPr/>
        <p:txBody>
          <a:bodyPr/>
          <a:lstStyle/>
          <a:p>
            <a:endParaRPr lang="en-AU"/>
          </a:p>
        </p:txBody>
      </p:sp>
      <p:sp>
        <p:nvSpPr>
          <p:cNvPr id="9" name="Slide Number Placeholder 8"/>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5372246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30C72779-29AB-4ECE-8EA0-D161D12BDB52}" type="datetimeFigureOut">
              <a:rPr lang="en-AU" smtClean="0"/>
              <a:t>18/07/2024</a:t>
            </a:fld>
            <a:endParaRPr lang="en-AU"/>
          </a:p>
        </p:txBody>
      </p:sp>
      <p:sp>
        <p:nvSpPr>
          <p:cNvPr id="4" name="Footer Placeholder 3"/>
          <p:cNvSpPr>
            <a:spLocks noGrp="1"/>
          </p:cNvSpPr>
          <p:nvPr>
            <p:ph type="ftr" sz="quarter" idx="11"/>
          </p:nvPr>
        </p:nvSpPr>
        <p:spPr/>
        <p:txBody>
          <a:bodyPr/>
          <a:lstStyle/>
          <a:p>
            <a:endParaRPr lang="en-AU"/>
          </a:p>
        </p:txBody>
      </p:sp>
      <p:sp>
        <p:nvSpPr>
          <p:cNvPr id="5" name="Slide Number Placeholder 4"/>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6606002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0C72779-29AB-4ECE-8EA0-D161D12BDB52}" type="datetimeFigureOut">
              <a:rPr lang="en-AU" smtClean="0"/>
              <a:t>18/07/2024</a:t>
            </a:fld>
            <a:endParaRPr lang="en-AU"/>
          </a:p>
        </p:txBody>
      </p:sp>
      <p:sp>
        <p:nvSpPr>
          <p:cNvPr id="3" name="Footer Placeholder 2"/>
          <p:cNvSpPr>
            <a:spLocks noGrp="1"/>
          </p:cNvSpPr>
          <p:nvPr>
            <p:ph type="ftr" sz="quarter" idx="11"/>
          </p:nvPr>
        </p:nvSpPr>
        <p:spPr/>
        <p:txBody>
          <a:bodyPr/>
          <a:lstStyle/>
          <a:p>
            <a:endParaRPr lang="en-AU"/>
          </a:p>
        </p:txBody>
      </p:sp>
      <p:sp>
        <p:nvSpPr>
          <p:cNvPr id="4" name="Slide Number Placeholder 3"/>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91333299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1600200"/>
            <a:ext cx="2662534" cy="1371600"/>
          </a:xfrm>
        </p:spPr>
        <p:txBody>
          <a:bodyPr anchor="b">
            <a:normAutofit/>
          </a:bodyPr>
          <a:lstStyle>
            <a:lvl1pPr algn="ctr">
              <a:defRPr sz="2400" b="0"/>
            </a:lvl1pPr>
          </a:lstStyle>
          <a:p>
            <a:r>
              <a:rPr lang="en-US"/>
              <a:t>Click to edit Master title style</a:t>
            </a:r>
            <a:endParaRPr lang="en-US" dirty="0"/>
          </a:p>
        </p:txBody>
      </p:sp>
      <p:sp>
        <p:nvSpPr>
          <p:cNvPr id="3" name="Content Placeholder 2"/>
          <p:cNvSpPr>
            <a:spLocks noGrp="1"/>
          </p:cNvSpPr>
          <p:nvPr>
            <p:ph idx="1"/>
          </p:nvPr>
        </p:nvSpPr>
        <p:spPr>
          <a:xfrm>
            <a:off x="3947553" y="685800"/>
            <a:ext cx="4681962" cy="5105401"/>
          </a:xfrm>
        </p:spPr>
        <p:txBody>
          <a:bodyPr anchor="ct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13524" y="2971800"/>
            <a:ext cx="2662534" cy="18288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30528667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2332" y="1752599"/>
            <a:ext cx="4070679" cy="1371600"/>
          </a:xfrm>
        </p:spPr>
        <p:txBody>
          <a:bodyPr anchor="b">
            <a:normAutofit/>
          </a:bodyPr>
          <a:lstStyle>
            <a:lvl1pPr algn="ctr">
              <a:defRPr sz="28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697495" y="914400"/>
            <a:ext cx="2461371" cy="4572000"/>
          </a:xfrm>
          <a:prstGeom prst="roundRect">
            <a:avLst>
              <a:gd name="adj" fmla="val 42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2332" y="3124199"/>
            <a:ext cx="4070679" cy="1828800"/>
          </a:xfrm>
        </p:spPr>
        <p:txBody>
          <a:bodyPr>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31030145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3" y="4732865"/>
            <a:ext cx="7515991" cy="566738"/>
          </a:xfrm>
        </p:spPr>
        <p:txBody>
          <a:bodyPr anchor="b">
            <a:normAutofit/>
          </a:bodyPr>
          <a:lstStyle>
            <a:lvl1pPr algn="ctr">
              <a:defRPr sz="24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1789975" y="932112"/>
            <a:ext cx="6171065" cy="316497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1113523" y="5299603"/>
            <a:ext cx="7515991"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5" name="Date Placeholder 4"/>
          <p:cNvSpPr>
            <a:spLocks noGrp="1"/>
          </p:cNvSpPr>
          <p:nvPr>
            <p:ph type="dt" sz="half" idx="10"/>
          </p:nvPr>
        </p:nvSpPr>
        <p:spPr/>
        <p:txBody>
          <a:bodyPr/>
          <a:lstStyle/>
          <a:p>
            <a:fld id="{30C72779-29AB-4ECE-8EA0-D161D12BDB52}" type="datetimeFigureOut">
              <a:rPr lang="en-AU" smtClean="0"/>
              <a:t>18/07/2024</a:t>
            </a:fld>
            <a:endParaRPr lang="en-AU"/>
          </a:p>
        </p:txBody>
      </p:sp>
      <p:sp>
        <p:nvSpPr>
          <p:cNvPr id="6" name="Footer Placeholder 5"/>
          <p:cNvSpPr>
            <a:spLocks noGrp="1"/>
          </p:cNvSpPr>
          <p:nvPr>
            <p:ph type="ftr" sz="quarter" idx="11"/>
          </p:nvPr>
        </p:nvSpPr>
        <p:spPr/>
        <p:txBody>
          <a:bodyPr/>
          <a:lstStyle/>
          <a:p>
            <a:endParaRPr lang="en-AU"/>
          </a:p>
        </p:txBody>
      </p:sp>
      <p:sp>
        <p:nvSpPr>
          <p:cNvPr id="7" name="Slide Number Placeholder 6"/>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4973008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13524" y="685800"/>
            <a:ext cx="7515991" cy="3048000"/>
          </a:xfrm>
        </p:spPr>
        <p:txBody>
          <a:bodyPr anchor="ctr">
            <a:normAutofit/>
          </a:bodyPr>
          <a:lstStyle>
            <a:lvl1pPr algn="ct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343400"/>
            <a:ext cx="7515992"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620675807"/>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598235" y="3428999"/>
            <a:ext cx="6631128" cy="381000"/>
          </a:xfrm>
        </p:spPr>
        <p:txBody>
          <a:bodyPr anchor="ctr">
            <a:normAutofit/>
          </a:bodyPr>
          <a:lstStyle>
            <a:lvl1pPr marL="0" indent="0">
              <a:buFontTx/>
              <a:buNone/>
              <a:defRPr sz="18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Edit Master text styles</a:t>
            </a:r>
          </a:p>
        </p:txBody>
      </p:sp>
      <p:sp>
        <p:nvSpPr>
          <p:cNvPr id="3" name="Text Placeholder 2"/>
          <p:cNvSpPr>
            <a:spLocks noGrp="1"/>
          </p:cNvSpPr>
          <p:nvPr>
            <p:ph type="body" idx="1"/>
          </p:nvPr>
        </p:nvSpPr>
        <p:spPr>
          <a:xfrm>
            <a:off x="1113523" y="4343400"/>
            <a:ext cx="7515991" cy="1447800"/>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37860976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13525" y="3308581"/>
            <a:ext cx="7515989" cy="1468800"/>
          </a:xfrm>
        </p:spPr>
        <p:txBody>
          <a:bodyPr anchor="b">
            <a:normAutofit/>
          </a:bodyPr>
          <a:lstStyle>
            <a:lvl1pPr algn="r">
              <a:defRPr sz="3200" b="0" cap="none"/>
            </a:lvl1pPr>
          </a:lstStyle>
          <a:p>
            <a:r>
              <a:rPr lang="en-US"/>
              <a:t>Click to edit Master title style</a:t>
            </a:r>
            <a:endParaRPr lang="en-US" dirty="0"/>
          </a:p>
        </p:txBody>
      </p:sp>
      <p:sp>
        <p:nvSpPr>
          <p:cNvPr id="3" name="Text Placeholder 2"/>
          <p:cNvSpPr>
            <a:spLocks noGrp="1"/>
          </p:cNvSpPr>
          <p:nvPr>
            <p:ph type="body" idx="1"/>
          </p:nvPr>
        </p:nvSpPr>
        <p:spPr>
          <a:xfrm>
            <a:off x="1113524" y="4777381"/>
            <a:ext cx="7515990" cy="860400"/>
          </a:xfrm>
        </p:spPr>
        <p:txBody>
          <a:bodyPr anchor="t">
            <a:normAutofit/>
          </a:bodyPr>
          <a:lstStyle>
            <a:lvl1pPr marL="0" indent="0" algn="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99179179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4" name="TextBox 13"/>
          <p:cNvSpPr txBox="1"/>
          <p:nvPr/>
        </p:nvSpPr>
        <p:spPr>
          <a:xfrm>
            <a:off x="969421" y="8630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5" name="TextBox 14"/>
          <p:cNvSpPr txBox="1"/>
          <p:nvPr/>
        </p:nvSpPr>
        <p:spPr>
          <a:xfrm>
            <a:off x="8172197" y="2819399"/>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2" name="Title 1"/>
          <p:cNvSpPr>
            <a:spLocks noGrp="1"/>
          </p:cNvSpPr>
          <p:nvPr>
            <p:ph type="title"/>
          </p:nvPr>
        </p:nvSpPr>
        <p:spPr>
          <a:xfrm>
            <a:off x="1426741" y="685801"/>
            <a:ext cx="6974115" cy="2743199"/>
          </a:xfrm>
        </p:spPr>
        <p:txBody>
          <a:bodyPr anchor="ctr">
            <a:normAutofit/>
          </a:bodyPr>
          <a:lstStyle>
            <a:lvl1pPr algn="ctr">
              <a:defRPr sz="3200" b="0" cap="none">
                <a:solidFill>
                  <a:schemeClr val="tx1"/>
                </a:soli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113525" y="3886200"/>
            <a:ext cx="7515990" cy="889000"/>
          </a:xfrm>
        </p:spPr>
        <p:txBody>
          <a:bodyPr vert="horz" lIns="91440" tIns="45720" rIns="91440" bIns="45720" rtlCol="0" anchor="b">
            <a:normAutofit/>
          </a:bodyPr>
          <a:lstStyle>
            <a:lvl1pPr algn="r">
              <a:buNone/>
              <a:defRPr lang="en-US" sz="24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775200"/>
            <a:ext cx="7515990" cy="1016000"/>
          </a:xfrm>
        </p:spPr>
        <p:txBody>
          <a:bodyPr anchor="t">
            <a:norm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110655876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1113525" y="685801"/>
            <a:ext cx="7515991" cy="2727325"/>
          </a:xfrm>
        </p:spPr>
        <p:txBody>
          <a:bodyPr vert="horz" lIns="91440" tIns="45720" rIns="91440" bIns="45720" rtlCol="0" anchor="ctr">
            <a:normAutofit/>
          </a:bodyPr>
          <a:lstStyle>
            <a:lvl1pPr>
              <a:defRPr lang="en-US"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1113524" y="3505200"/>
            <a:ext cx="7515992" cy="838200"/>
          </a:xfrm>
        </p:spPr>
        <p:txBody>
          <a:bodyPr vert="horz" lIns="91440" tIns="45720" rIns="91440" bIns="45720" rtlCol="0" anchor="b">
            <a:normAutofit/>
          </a:bodyPr>
          <a:lstStyle>
            <a:lvl1pPr>
              <a:buNone/>
              <a:defRPr lang="en-US" sz="2800" b="0" cap="none" dirty="0">
                <a:ln w="3175" cmpd="sng">
                  <a:noFill/>
                </a:ln>
                <a:solidFill>
                  <a:schemeClr val="tx1"/>
                </a:solidFill>
                <a:effectLst/>
              </a:defRPr>
            </a:lvl1pPr>
          </a:lstStyle>
          <a:p>
            <a:pPr marL="0" lvl="0">
              <a:spcBef>
                <a:spcPct val="0"/>
              </a:spcBef>
              <a:buNone/>
            </a:pPr>
            <a:r>
              <a:rPr lang="en-US"/>
              <a:t>Edit Master text styles</a:t>
            </a:r>
          </a:p>
        </p:txBody>
      </p:sp>
      <p:sp>
        <p:nvSpPr>
          <p:cNvPr id="3" name="Text Placeholder 2"/>
          <p:cNvSpPr>
            <a:spLocks noGrp="1"/>
          </p:cNvSpPr>
          <p:nvPr>
            <p:ph type="body" idx="1"/>
          </p:nvPr>
        </p:nvSpPr>
        <p:spPr>
          <a:xfrm>
            <a:off x="1113524" y="4343400"/>
            <a:ext cx="7515992" cy="14478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756379685"/>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256467267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7301393" y="685800"/>
            <a:ext cx="1328123" cy="5105400"/>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13524" y="685800"/>
            <a:ext cx="6016373" cy="5105400"/>
          </a:xfrm>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30C72779-29AB-4ECE-8EA0-D161D12BDB52}" type="datetimeFigureOut">
              <a:rPr lang="en-AU" smtClean="0"/>
              <a:t>18/07/2024</a:t>
            </a:fld>
            <a:endParaRPr lang="en-AU"/>
          </a:p>
        </p:txBody>
      </p:sp>
      <p:sp>
        <p:nvSpPr>
          <p:cNvPr id="5" name="Footer Placeholder 4"/>
          <p:cNvSpPr>
            <a:spLocks noGrp="1"/>
          </p:cNvSpPr>
          <p:nvPr>
            <p:ph type="ftr" sz="quarter" idx="11"/>
          </p:nvPr>
        </p:nvSpPr>
        <p:spPr/>
        <p:txBody>
          <a:bodyPr/>
          <a:lstStyle/>
          <a:p>
            <a:endParaRPr lang="en-AU"/>
          </a:p>
        </p:txBody>
      </p:sp>
      <p:sp>
        <p:nvSpPr>
          <p:cNvPr id="6" name="Slide Number Placeholder 5"/>
          <p:cNvSpPr>
            <a:spLocks noGrp="1"/>
          </p:cNvSpPr>
          <p:nvPr>
            <p:ph type="sldNum" sz="quarter" idx="12"/>
          </p:nvPr>
        </p:nvSpPr>
        <p:spPr/>
        <p:txBody>
          <a:bodyPr/>
          <a:lstStyle/>
          <a:p>
            <a:fld id="{76880F4B-5908-404D-A5BE-7A4C83FBD9D3}" type="slidenum">
              <a:rPr lang="en-AU" smtClean="0"/>
              <a:t>‹#›</a:t>
            </a:fld>
            <a:endParaRPr lang="en-AU"/>
          </a:p>
        </p:txBody>
      </p:sp>
    </p:spTree>
    <p:extLst>
      <p:ext uri="{BB962C8B-B14F-4D97-AF65-F5344CB8AC3E}">
        <p14:creationId xmlns:p14="http://schemas.microsoft.com/office/powerpoint/2010/main" val="418027804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grpSp>
        <p:nvGrpSpPr>
          <p:cNvPr id="14" name="Group 13"/>
          <p:cNvGrpSpPr/>
          <p:nvPr/>
        </p:nvGrpSpPr>
        <p:grpSpPr>
          <a:xfrm>
            <a:off x="0" y="0"/>
            <a:ext cx="2132013" cy="6858001"/>
            <a:chOff x="0" y="0"/>
            <a:chExt cx="2132013" cy="6858001"/>
          </a:xfrm>
        </p:grpSpPr>
        <p:sp>
          <p:nvSpPr>
            <p:cNvPr id="15" name="Freeform 6"/>
            <p:cNvSpPr/>
            <p:nvPr/>
          </p:nvSpPr>
          <p:spPr bwMode="auto">
            <a:xfrm>
              <a:off x="0" y="0"/>
              <a:ext cx="1073150" cy="5291138"/>
            </a:xfrm>
            <a:custGeom>
              <a:avLst/>
              <a:gdLst/>
              <a:ahLst/>
              <a:cxnLst/>
              <a:rect l="0" t="0" r="r" b="b"/>
              <a:pathLst>
                <a:path w="676" h="3333">
                  <a:moveTo>
                    <a:pt x="0" y="3132"/>
                  </a:moveTo>
                  <a:lnTo>
                    <a:pt x="0" y="3312"/>
                  </a:lnTo>
                  <a:lnTo>
                    <a:pt x="126" y="3333"/>
                  </a:lnTo>
                  <a:lnTo>
                    <a:pt x="676" y="0"/>
                  </a:lnTo>
                  <a:lnTo>
                    <a:pt x="514" y="0"/>
                  </a:lnTo>
                  <a:lnTo>
                    <a:pt x="0" y="3132"/>
                  </a:lnTo>
                  <a:close/>
                </a:path>
              </a:pathLst>
            </a:custGeom>
            <a:solidFill>
              <a:schemeClr val="accent1"/>
            </a:solidFill>
            <a:ln>
              <a:noFill/>
            </a:ln>
          </p:spPr>
        </p:sp>
        <p:sp>
          <p:nvSpPr>
            <p:cNvPr id="16" name="Freeform 7"/>
            <p:cNvSpPr/>
            <p:nvPr/>
          </p:nvSpPr>
          <p:spPr bwMode="auto">
            <a:xfrm>
              <a:off x="0" y="0"/>
              <a:ext cx="758825" cy="4624388"/>
            </a:xfrm>
            <a:custGeom>
              <a:avLst/>
              <a:gdLst/>
              <a:ahLst/>
              <a:cxnLst/>
              <a:rect l="0" t="0" r="r" b="b"/>
              <a:pathLst>
                <a:path w="478" h="2913">
                  <a:moveTo>
                    <a:pt x="478" y="0"/>
                  </a:moveTo>
                  <a:lnTo>
                    <a:pt x="318" y="0"/>
                  </a:lnTo>
                  <a:lnTo>
                    <a:pt x="0" y="1938"/>
                  </a:lnTo>
                  <a:lnTo>
                    <a:pt x="0" y="2913"/>
                  </a:lnTo>
                  <a:lnTo>
                    <a:pt x="478" y="0"/>
                  </a:lnTo>
                  <a:close/>
                </a:path>
              </a:pathLst>
            </a:custGeom>
            <a:solidFill>
              <a:schemeClr val="tx1">
                <a:lumMod val="65000"/>
                <a:lumOff val="35000"/>
              </a:schemeClr>
            </a:solidFill>
            <a:ln>
              <a:noFill/>
            </a:ln>
          </p:spPr>
        </p:sp>
        <p:sp>
          <p:nvSpPr>
            <p:cNvPr id="17" name="Freeform 8"/>
            <p:cNvSpPr/>
            <p:nvPr/>
          </p:nvSpPr>
          <p:spPr bwMode="auto">
            <a:xfrm>
              <a:off x="0" y="5662613"/>
              <a:ext cx="906463" cy="1195388"/>
            </a:xfrm>
            <a:custGeom>
              <a:avLst/>
              <a:gdLst/>
              <a:ahLst/>
              <a:cxnLst/>
              <a:rect l="0" t="0" r="r" b="b"/>
              <a:pathLst>
                <a:path w="571" h="753">
                  <a:moveTo>
                    <a:pt x="0" y="0"/>
                  </a:moveTo>
                  <a:lnTo>
                    <a:pt x="0" y="12"/>
                  </a:lnTo>
                  <a:lnTo>
                    <a:pt x="538" y="753"/>
                  </a:lnTo>
                  <a:lnTo>
                    <a:pt x="571" y="753"/>
                  </a:lnTo>
                  <a:lnTo>
                    <a:pt x="0" y="0"/>
                  </a:lnTo>
                  <a:close/>
                </a:path>
              </a:pathLst>
            </a:custGeom>
            <a:solidFill>
              <a:schemeClr val="tx1">
                <a:lumMod val="85000"/>
                <a:lumOff val="15000"/>
              </a:schemeClr>
            </a:solidFill>
            <a:ln>
              <a:noFill/>
            </a:ln>
          </p:spPr>
        </p:sp>
        <p:sp>
          <p:nvSpPr>
            <p:cNvPr id="18" name="Freeform 9"/>
            <p:cNvSpPr/>
            <p:nvPr/>
          </p:nvSpPr>
          <p:spPr bwMode="auto">
            <a:xfrm>
              <a:off x="0" y="5295900"/>
              <a:ext cx="1487488" cy="1562100"/>
            </a:xfrm>
            <a:custGeom>
              <a:avLst/>
              <a:gdLst/>
              <a:ahLst/>
              <a:cxnLst/>
              <a:rect l="0" t="0" r="r" b="b"/>
              <a:pathLst>
                <a:path w="937" h="984">
                  <a:moveTo>
                    <a:pt x="0" y="0"/>
                  </a:moveTo>
                  <a:lnTo>
                    <a:pt x="0" y="3"/>
                  </a:lnTo>
                  <a:lnTo>
                    <a:pt x="901" y="984"/>
                  </a:lnTo>
                  <a:lnTo>
                    <a:pt x="937" y="984"/>
                  </a:lnTo>
                  <a:lnTo>
                    <a:pt x="0" y="0"/>
                  </a:lnTo>
                  <a:close/>
                </a:path>
              </a:pathLst>
            </a:custGeom>
            <a:solidFill>
              <a:schemeClr val="accent1">
                <a:lumMod val="50000"/>
              </a:schemeClr>
            </a:solidFill>
            <a:ln>
              <a:noFill/>
            </a:ln>
          </p:spPr>
        </p:sp>
        <p:sp>
          <p:nvSpPr>
            <p:cNvPr id="19" name="Freeform 10"/>
            <p:cNvSpPr/>
            <p:nvPr/>
          </p:nvSpPr>
          <p:spPr bwMode="auto">
            <a:xfrm>
              <a:off x="0" y="5257800"/>
              <a:ext cx="2132013" cy="1600200"/>
            </a:xfrm>
            <a:custGeom>
              <a:avLst/>
              <a:gdLst/>
              <a:ahLst/>
              <a:cxnLst/>
              <a:rect l="0" t="0" r="r" b="b"/>
              <a:pathLst>
                <a:path w="1343" h="1008">
                  <a:moveTo>
                    <a:pt x="0" y="24"/>
                  </a:moveTo>
                  <a:lnTo>
                    <a:pt x="937" y="1008"/>
                  </a:lnTo>
                  <a:lnTo>
                    <a:pt x="1343" y="1008"/>
                  </a:lnTo>
                  <a:lnTo>
                    <a:pt x="126" y="21"/>
                  </a:lnTo>
                  <a:lnTo>
                    <a:pt x="0" y="0"/>
                  </a:lnTo>
                  <a:lnTo>
                    <a:pt x="0" y="24"/>
                  </a:lnTo>
                  <a:close/>
                </a:path>
              </a:pathLst>
            </a:custGeom>
            <a:solidFill>
              <a:schemeClr val="accent1">
                <a:lumMod val="75000"/>
              </a:schemeClr>
            </a:solidFill>
            <a:ln>
              <a:noFill/>
            </a:ln>
          </p:spPr>
        </p:sp>
        <p:sp>
          <p:nvSpPr>
            <p:cNvPr id="20" name="Freeform 11"/>
            <p:cNvSpPr/>
            <p:nvPr/>
          </p:nvSpPr>
          <p:spPr bwMode="auto">
            <a:xfrm>
              <a:off x="0" y="5357813"/>
              <a:ext cx="1377950" cy="1500188"/>
            </a:xfrm>
            <a:custGeom>
              <a:avLst/>
              <a:gdLst/>
              <a:ahLst/>
              <a:cxnLst/>
              <a:rect l="0" t="0" r="r" b="b"/>
              <a:pathLst>
                <a:path w="868" h="945">
                  <a:moveTo>
                    <a:pt x="0" y="192"/>
                  </a:moveTo>
                  <a:lnTo>
                    <a:pt x="571" y="945"/>
                  </a:lnTo>
                  <a:lnTo>
                    <a:pt x="868" y="945"/>
                  </a:lnTo>
                  <a:lnTo>
                    <a:pt x="0" y="0"/>
                  </a:lnTo>
                  <a:lnTo>
                    <a:pt x="0" y="192"/>
                  </a:lnTo>
                  <a:close/>
                </a:path>
              </a:pathLst>
            </a:custGeom>
            <a:solidFill>
              <a:schemeClr val="tx1">
                <a:lumMod val="75000"/>
                <a:lumOff val="25000"/>
              </a:schemeClr>
            </a:solidFill>
            <a:ln>
              <a:noFill/>
            </a:ln>
          </p:spPr>
        </p:sp>
      </p:grpSp>
      <p:sp>
        <p:nvSpPr>
          <p:cNvPr id="2" name="Title Placeholder 1"/>
          <p:cNvSpPr>
            <a:spLocks noGrp="1"/>
          </p:cNvSpPr>
          <p:nvPr>
            <p:ph type="title"/>
          </p:nvPr>
        </p:nvSpPr>
        <p:spPr>
          <a:xfrm>
            <a:off x="982133" y="457201"/>
            <a:ext cx="7704667" cy="1981200"/>
          </a:xfrm>
          <a:prstGeom prst="rect">
            <a:avLst/>
          </a:prstGeom>
          <a:effectLst/>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82134" y="2667000"/>
            <a:ext cx="7704666" cy="3356995"/>
          </a:xfrm>
          <a:prstGeom prst="rect">
            <a:avLst/>
          </a:prstGeom>
        </p:spPr>
        <p:txBody>
          <a:bodyPr vert="horz" lIns="91440" tIns="45720" rIns="91440" bIns="45720" rtlCol="0" anchor="ctr">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358679" y="6116070"/>
            <a:ext cx="85747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0C72779-29AB-4ECE-8EA0-D161D12BDB52}" type="datetimeFigureOut">
              <a:rPr lang="en-AU" smtClean="0"/>
              <a:t>18/07/2024</a:t>
            </a:fld>
            <a:endParaRPr lang="en-AU"/>
          </a:p>
        </p:txBody>
      </p:sp>
      <p:sp>
        <p:nvSpPr>
          <p:cNvPr id="5" name="Footer Placeholder 4"/>
          <p:cNvSpPr>
            <a:spLocks noGrp="1"/>
          </p:cNvSpPr>
          <p:nvPr>
            <p:ph type="ftr" sz="quarter" idx="3"/>
          </p:nvPr>
        </p:nvSpPr>
        <p:spPr>
          <a:xfrm>
            <a:off x="1986997" y="6116070"/>
            <a:ext cx="5314517" cy="365125"/>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AU"/>
          </a:p>
        </p:txBody>
      </p:sp>
      <p:sp>
        <p:nvSpPr>
          <p:cNvPr id="6" name="Slide Number Placeholder 5"/>
          <p:cNvSpPr>
            <a:spLocks noGrp="1"/>
          </p:cNvSpPr>
          <p:nvPr>
            <p:ph type="sldNum" sz="quarter" idx="4"/>
          </p:nvPr>
        </p:nvSpPr>
        <p:spPr>
          <a:xfrm>
            <a:off x="8273317" y="6116070"/>
            <a:ext cx="413483" cy="365125"/>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76880F4B-5908-404D-A5BE-7A4C83FBD9D3}" type="slidenum">
              <a:rPr lang="en-AU" smtClean="0"/>
              <a:t>‹#›</a:t>
            </a:fld>
            <a:endParaRPr lang="en-AU"/>
          </a:p>
        </p:txBody>
      </p:sp>
    </p:spTree>
    <p:extLst>
      <p:ext uri="{BB962C8B-B14F-4D97-AF65-F5344CB8AC3E}">
        <p14:creationId xmlns:p14="http://schemas.microsoft.com/office/powerpoint/2010/main" val="3044190081"/>
      </p:ext>
    </p:extLst>
  </p:cSld>
  <p:clrMap bg1="lt1" tx1="dk1" bg2="lt2" tx2="dk2" accent1="accent1" accent2="accent2" accent3="accent3" accent4="accent4" accent5="accent5" accent6="accent6" hlink="hlink" folHlink="folHlink"/>
  <p:sldLayoutIdLst>
    <p:sldLayoutId id="2147483709" r:id="rId1"/>
    <p:sldLayoutId id="2147483710" r:id="rId2"/>
    <p:sldLayoutId id="2147483711" r:id="rId3"/>
    <p:sldLayoutId id="2147483712" r:id="rId4"/>
    <p:sldLayoutId id="2147483713" r:id="rId5"/>
    <p:sldLayoutId id="2147483714" r:id="rId6"/>
    <p:sldLayoutId id="2147483715" r:id="rId7"/>
    <p:sldLayoutId id="2147483716" r:id="rId8"/>
    <p:sldLayoutId id="2147483717" r:id="rId9"/>
    <p:sldLayoutId id="2147483718" r:id="rId10"/>
    <p:sldLayoutId id="2147483719" r:id="rId11"/>
    <p:sldLayoutId id="2147483720" r:id="rId12"/>
    <p:sldLayoutId id="2147483721" r:id="rId13"/>
    <p:sldLayoutId id="2147483722" r:id="rId14"/>
    <p:sldLayoutId id="2147483723" r:id="rId15"/>
    <p:sldLayoutId id="2147483724" r:id="rId16"/>
    <p:sldLayoutId id="2147483725" r:id="rId17"/>
  </p:sldLayoutIdLst>
  <p:txStyles>
    <p:titleStyle>
      <a:lvl1pPr algn="ctr" defTabSz="457200" rtl="0" eaLnBrk="1" latinLnBrk="0" hangingPunct="1">
        <a:spcBef>
          <a:spcPct val="0"/>
        </a:spcBef>
        <a:buNone/>
        <a:defRPr sz="4000" kern="1200" cap="none">
          <a:ln w="3175" cmpd="sng">
            <a:noFill/>
          </a:ln>
          <a:solidFill>
            <a:schemeClr val="tx1"/>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lumMod val="75000"/>
          </a:schemeClr>
        </a:buClr>
        <a:buSzPct val="145000"/>
        <a:buFont typeface="Arial"/>
        <a:buChar char="•"/>
        <a:defRPr sz="2400" kern="1200" cap="none">
          <a:solidFill>
            <a:schemeClr val="tx1"/>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lumMod val="75000"/>
          </a:schemeClr>
        </a:buClr>
        <a:buSzPct val="145000"/>
        <a:buFont typeface="Arial"/>
        <a:buChar char="•"/>
        <a:defRPr sz="2000" kern="1200" cap="none">
          <a:solidFill>
            <a:schemeClr val="tx1"/>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lumMod val="75000"/>
          </a:schemeClr>
        </a:buClr>
        <a:buSzPct val="145000"/>
        <a:buFont typeface="Arial"/>
        <a:buChar char="•"/>
        <a:defRPr sz="1800" kern="1200" cap="none">
          <a:solidFill>
            <a:schemeClr val="tx1"/>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lumMod val="75000"/>
          </a:schemeClr>
        </a:buClr>
        <a:buSzPct val="145000"/>
        <a:buFont typeface="Arial"/>
        <a:buChar char="•"/>
        <a:defRPr sz="1600" kern="1200" cap="none">
          <a:solidFill>
            <a:schemeClr val="tx1"/>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lumMod val="75000"/>
          </a:schemeClr>
        </a:buClr>
        <a:buSzPct val="145000"/>
        <a:buFont typeface="Arial"/>
        <a:buChar char="•"/>
        <a:defRPr sz="1400" kern="1200" cap="none">
          <a:solidFill>
            <a:schemeClr val="tx1"/>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20.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image" Target="../media/image29.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Picture 6"/>
          <p:cNvPicPr>
            <a:picLocks noChangeAspect="1"/>
          </p:cNvPicPr>
          <p:nvPr/>
        </p:nvPicPr>
        <p:blipFill rotWithShape="1">
          <a:blip r:embed="rId2">
            <a:extLst>
              <a:ext uri="{28A0092B-C50C-407E-A947-70E740481C1C}">
                <a14:useLocalDpi xmlns:a14="http://schemas.microsoft.com/office/drawing/2010/main" val="0"/>
              </a:ext>
            </a:extLst>
          </a:blip>
          <a:srcRect l="40657" r="15222" b="-2"/>
          <a:stretch/>
        </p:blipFill>
        <p:spPr>
          <a:xfrm>
            <a:off x="20" y="10"/>
            <a:ext cx="4086205" cy="6857990"/>
          </a:xfrm>
          <a:prstGeom prst="rect">
            <a:avLst/>
          </a:prstGeom>
        </p:spPr>
      </p:pic>
      <p:grpSp>
        <p:nvGrpSpPr>
          <p:cNvPr id="24" name="Group 11"/>
          <p:cNvGrpSpPr>
            <a:grpSpLocks noGrp="1" noUngrp="1" noRot="1" noChangeAspect="1" noMove="1" noResize="1"/>
          </p:cNvGrpSpPr>
          <p:nvPr>
            <p:extLst>
              <p:ext uri="{386F3935-93C4-4BCD-93E2-E3B085C9AB24}">
                <p16:designElem xmlns:p16="http://schemas.microsoft.com/office/powerpoint/2015/main" val="1"/>
              </p:ext>
            </p:extLst>
          </p:nvPr>
        </p:nvGrpSpPr>
        <p:grpSpPr>
          <a:xfrm>
            <a:off x="2127539" y="0"/>
            <a:ext cx="1958686" cy="6858000"/>
            <a:chOff x="2836718" y="0"/>
            <a:chExt cx="2611581" cy="6858000"/>
          </a:xfrm>
        </p:grpSpPr>
        <p:sp useBgFill="1">
          <p:nvSpPr>
            <p:cNvPr id="13" name="Rectangle 19"/>
            <p:cNvSpPr/>
            <p:nvPr>
              <p:extLst>
                <p:ext uri="{386F3935-93C4-4BCD-93E2-E3B085C9AB24}">
                  <p16:designElem xmlns:p16="http://schemas.microsoft.com/office/powerpoint/2015/main" val="1"/>
                </p:ext>
              </p:extLst>
            </p:nvPr>
          </p:nvSpPr>
          <p:spPr>
            <a:xfrm>
              <a:off x="2836718" y="0"/>
              <a:ext cx="2611581" cy="2554287"/>
            </a:xfrm>
            <a:custGeom>
              <a:avLst/>
              <a:gdLst>
                <a:gd name="connsiteX0" fmla="*/ 0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0 w 2570017"/>
                <a:gd name="connsiteY4" fmla="*/ 0 h 2554287"/>
                <a:gd name="connsiteX0" fmla="*/ 904009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904009 w 2570017"/>
                <a:gd name="connsiteY4" fmla="*/ 0 h 2554287"/>
                <a:gd name="connsiteX0" fmla="*/ 644236 w 2570017"/>
                <a:gd name="connsiteY0" fmla="*/ 10391 h 2554287"/>
                <a:gd name="connsiteX1" fmla="*/ 2570017 w 2570017"/>
                <a:gd name="connsiteY1" fmla="*/ 0 h 2554287"/>
                <a:gd name="connsiteX2" fmla="*/ 2570017 w 2570017"/>
                <a:gd name="connsiteY2" fmla="*/ 2554287 h 2554287"/>
                <a:gd name="connsiteX3" fmla="*/ 0 w 2570017"/>
                <a:gd name="connsiteY3" fmla="*/ 2554287 h 2554287"/>
                <a:gd name="connsiteX4" fmla="*/ 644236 w 2570017"/>
                <a:gd name="connsiteY4" fmla="*/ 10391 h 2554287"/>
                <a:gd name="connsiteX0" fmla="*/ 633845 w 2570017"/>
                <a:gd name="connsiteY0" fmla="*/ 0 h 2554287"/>
                <a:gd name="connsiteX1" fmla="*/ 2570017 w 2570017"/>
                <a:gd name="connsiteY1" fmla="*/ 0 h 2554287"/>
                <a:gd name="connsiteX2" fmla="*/ 2570017 w 2570017"/>
                <a:gd name="connsiteY2" fmla="*/ 2554287 h 2554287"/>
                <a:gd name="connsiteX3" fmla="*/ 0 w 2570017"/>
                <a:gd name="connsiteY3" fmla="*/ 2554287 h 2554287"/>
                <a:gd name="connsiteX4" fmla="*/ 633845 w 2570017"/>
                <a:gd name="connsiteY4" fmla="*/ 0 h 2554287"/>
                <a:gd name="connsiteX0" fmla="*/ 675409 w 2611581"/>
                <a:gd name="connsiteY0" fmla="*/ 0 h 2554287"/>
                <a:gd name="connsiteX1" fmla="*/ 2611581 w 2611581"/>
                <a:gd name="connsiteY1" fmla="*/ 0 h 2554287"/>
                <a:gd name="connsiteX2" fmla="*/ 2611581 w 2611581"/>
                <a:gd name="connsiteY2" fmla="*/ 2554287 h 2554287"/>
                <a:gd name="connsiteX3" fmla="*/ 0 w 2611581"/>
                <a:gd name="connsiteY3" fmla="*/ 2554287 h 2554287"/>
                <a:gd name="connsiteX4" fmla="*/ 675409 w 2611581"/>
                <a:gd name="connsiteY4" fmla="*/ 0 h 255428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2554287">
                  <a:moveTo>
                    <a:pt x="675409" y="0"/>
                  </a:moveTo>
                  <a:lnTo>
                    <a:pt x="2611581" y="0"/>
                  </a:lnTo>
                  <a:lnTo>
                    <a:pt x="2611581" y="2554287"/>
                  </a:lnTo>
                  <a:lnTo>
                    <a:pt x="0" y="2554287"/>
                  </a:lnTo>
                  <a:lnTo>
                    <a:pt x="675409"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5" name="Rectangle 20"/>
            <p:cNvSpPr/>
            <p:nvPr>
              <p:extLst>
                <p:ext uri="{386F3935-93C4-4BCD-93E2-E3B085C9AB24}">
                  <p16:designElem xmlns:p16="http://schemas.microsoft.com/office/powerpoint/2015/main" val="1"/>
                </p:ext>
              </p:extLst>
            </p:nvPr>
          </p:nvSpPr>
          <p:spPr>
            <a:xfrm>
              <a:off x="2836718" y="2554287"/>
              <a:ext cx="2611581" cy="4303713"/>
            </a:xfrm>
            <a:custGeom>
              <a:avLst/>
              <a:gdLst>
                <a:gd name="connsiteX0" fmla="*/ 0 w 2611581"/>
                <a:gd name="connsiteY0" fmla="*/ 0 h 4303713"/>
                <a:gd name="connsiteX1" fmla="*/ 2611581 w 2611581"/>
                <a:gd name="connsiteY1" fmla="*/ 0 h 4303713"/>
                <a:gd name="connsiteX2" fmla="*/ 2611581 w 2611581"/>
                <a:gd name="connsiteY2" fmla="*/ 4303713 h 4303713"/>
                <a:gd name="connsiteX3" fmla="*/ 0 w 2611581"/>
                <a:gd name="connsiteY3" fmla="*/ 4303713 h 4303713"/>
                <a:gd name="connsiteX4" fmla="*/ 0 w 2611581"/>
                <a:gd name="connsiteY4" fmla="*/ 0 h 4303713"/>
                <a:gd name="connsiteX0" fmla="*/ 0 w 2611581"/>
                <a:gd name="connsiteY0" fmla="*/ 0 h 4314104"/>
                <a:gd name="connsiteX1" fmla="*/ 2611581 w 2611581"/>
                <a:gd name="connsiteY1" fmla="*/ 0 h 4314104"/>
                <a:gd name="connsiteX2" fmla="*/ 2611581 w 2611581"/>
                <a:gd name="connsiteY2" fmla="*/ 4303713 h 4314104"/>
                <a:gd name="connsiteX3" fmla="*/ 1693718 w 2611581"/>
                <a:gd name="connsiteY3" fmla="*/ 4314104 h 4314104"/>
                <a:gd name="connsiteX4" fmla="*/ 0 w 2611581"/>
                <a:gd name="connsiteY4" fmla="*/ 0 h 4314104"/>
                <a:gd name="connsiteX0" fmla="*/ 0 w 2611581"/>
                <a:gd name="connsiteY0" fmla="*/ 0 h 4314104"/>
                <a:gd name="connsiteX1" fmla="*/ 2611581 w 2611581"/>
                <a:gd name="connsiteY1" fmla="*/ 0 h 4314104"/>
                <a:gd name="connsiteX2" fmla="*/ 2611581 w 2611581"/>
                <a:gd name="connsiteY2" fmla="*/ 4303713 h 4314104"/>
                <a:gd name="connsiteX3" fmla="*/ 1963882 w 2611581"/>
                <a:gd name="connsiteY3" fmla="*/ 4314104 h 4314104"/>
                <a:gd name="connsiteX4" fmla="*/ 0 w 2611581"/>
                <a:gd name="connsiteY4" fmla="*/ 0 h 4314104"/>
                <a:gd name="connsiteX0" fmla="*/ 0 w 2611581"/>
                <a:gd name="connsiteY0" fmla="*/ 0 h 4303713"/>
                <a:gd name="connsiteX1" fmla="*/ 2611581 w 2611581"/>
                <a:gd name="connsiteY1" fmla="*/ 0 h 4303713"/>
                <a:gd name="connsiteX2" fmla="*/ 2611581 w 2611581"/>
                <a:gd name="connsiteY2" fmla="*/ 4303713 h 4303713"/>
                <a:gd name="connsiteX3" fmla="*/ 2213264 w 2611581"/>
                <a:gd name="connsiteY3" fmla="*/ 4293322 h 4303713"/>
                <a:gd name="connsiteX4" fmla="*/ 0 w 2611581"/>
                <a:gd name="connsiteY4" fmla="*/ 0 h 4303713"/>
                <a:gd name="connsiteX0" fmla="*/ 0 w 2611581"/>
                <a:gd name="connsiteY0" fmla="*/ 0 h 4303713"/>
                <a:gd name="connsiteX1" fmla="*/ 2611581 w 2611581"/>
                <a:gd name="connsiteY1" fmla="*/ 0 h 4303713"/>
                <a:gd name="connsiteX2" fmla="*/ 2611581 w 2611581"/>
                <a:gd name="connsiteY2" fmla="*/ 4303713 h 4303713"/>
                <a:gd name="connsiteX3" fmla="*/ 2171701 w 2611581"/>
                <a:gd name="connsiteY3" fmla="*/ 3638695 h 4303713"/>
                <a:gd name="connsiteX4" fmla="*/ 0 w 2611581"/>
                <a:gd name="connsiteY4" fmla="*/ 0 h 430371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611581" h="4303713">
                  <a:moveTo>
                    <a:pt x="0" y="0"/>
                  </a:moveTo>
                  <a:lnTo>
                    <a:pt x="2611581" y="0"/>
                  </a:lnTo>
                  <a:lnTo>
                    <a:pt x="2611581" y="4303713"/>
                  </a:lnTo>
                  <a:lnTo>
                    <a:pt x="2171701" y="3638695"/>
                  </a:lnTo>
                  <a:lnTo>
                    <a:pt x="0" y="0"/>
                  </a:lnTo>
                  <a:close/>
                </a:path>
              </a:pathLst>
            </a:cu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p:cNvGrpSpPr>
            <a:grpSpLocks noGrp="1" noUngrp="1" noRot="1" noChangeAspect="1" noMove="1" noResize="1"/>
          </p:cNvGrpSpPr>
          <p:nvPr>
            <p:extLst>
              <p:ext uri="{386F3935-93C4-4BCD-93E2-E3B085C9AB24}">
                <p16:designElem xmlns:p16="http://schemas.microsoft.com/office/powerpoint/2015/main" val="1"/>
              </p:ext>
            </p:extLst>
          </p:nvPr>
        </p:nvGrpSpPr>
        <p:grpSpPr>
          <a:xfrm>
            <a:off x="2219326" y="-4763"/>
            <a:ext cx="3761187" cy="6862763"/>
            <a:chOff x="2928938" y="-4763"/>
            <a:chExt cx="5014912" cy="6862763"/>
          </a:xfrm>
        </p:grpSpPr>
        <p:sp>
          <p:nvSpPr>
            <p:cNvPr id="17" name="Freeform 6"/>
            <p:cNvSpPr/>
            <p:nvPr>
              <p:extLst>
                <p:ext uri="{386F3935-93C4-4BCD-93E2-E3B085C9AB24}">
                  <p16:designElem xmlns:p16="http://schemas.microsoft.com/office/powerpoint/2015/main" val="1"/>
                </p:ext>
              </p:extLst>
            </p:nvPr>
          </p:nvSpPr>
          <p:spPr bwMode="auto">
            <a:xfrm>
              <a:off x="3367088" y="-4763"/>
              <a:ext cx="1063625" cy="2782888"/>
            </a:xfrm>
            <a:custGeom>
              <a:avLst/>
              <a:gdLst/>
              <a:ahLst/>
              <a:cxnLst/>
              <a:rect l="0" t="0" r="r" b="b"/>
              <a:pathLst>
                <a:path w="670" h="1753">
                  <a:moveTo>
                    <a:pt x="0" y="1696"/>
                  </a:moveTo>
                  <a:lnTo>
                    <a:pt x="225" y="1753"/>
                  </a:lnTo>
                  <a:lnTo>
                    <a:pt x="670" y="0"/>
                  </a:lnTo>
                  <a:lnTo>
                    <a:pt x="430" y="0"/>
                  </a:lnTo>
                  <a:lnTo>
                    <a:pt x="0" y="1696"/>
                  </a:lnTo>
                  <a:close/>
                </a:path>
              </a:pathLst>
            </a:custGeom>
            <a:solidFill>
              <a:schemeClr val="accent1"/>
            </a:solidFill>
            <a:ln>
              <a:noFill/>
            </a:ln>
          </p:spPr>
        </p:sp>
        <p:sp>
          <p:nvSpPr>
            <p:cNvPr id="18" name="Freeform 7"/>
            <p:cNvSpPr/>
            <p:nvPr>
              <p:extLst>
                <p:ext uri="{386F3935-93C4-4BCD-93E2-E3B085C9AB24}">
                  <p16:designElem xmlns:p16="http://schemas.microsoft.com/office/powerpoint/2015/main" val="1"/>
                </p:ext>
              </p:extLst>
            </p:nvPr>
          </p:nvSpPr>
          <p:spPr bwMode="auto">
            <a:xfrm>
              <a:off x="2928938" y="-4763"/>
              <a:ext cx="1035050" cy="2673350"/>
            </a:xfrm>
            <a:custGeom>
              <a:avLst/>
              <a:gdLst/>
              <a:ahLst/>
              <a:cxnLst/>
              <a:rect l="0" t="0" r="r" b="b"/>
              <a:pathLst>
                <a:path w="652" h="1684">
                  <a:moveTo>
                    <a:pt x="225" y="1684"/>
                  </a:moveTo>
                  <a:lnTo>
                    <a:pt x="652" y="0"/>
                  </a:lnTo>
                  <a:lnTo>
                    <a:pt x="411" y="0"/>
                  </a:lnTo>
                  <a:lnTo>
                    <a:pt x="0" y="1627"/>
                  </a:lnTo>
                  <a:lnTo>
                    <a:pt x="219" y="1681"/>
                  </a:lnTo>
                  <a:lnTo>
                    <a:pt x="225" y="1684"/>
                  </a:lnTo>
                  <a:close/>
                </a:path>
              </a:pathLst>
            </a:custGeom>
            <a:solidFill>
              <a:schemeClr val="tx1">
                <a:lumMod val="65000"/>
                <a:lumOff val="35000"/>
              </a:schemeClr>
            </a:solidFill>
            <a:ln>
              <a:noFill/>
            </a:ln>
          </p:spPr>
        </p:sp>
        <p:sp>
          <p:nvSpPr>
            <p:cNvPr id="19" name="Freeform 9"/>
            <p:cNvSpPr/>
            <p:nvPr>
              <p:extLst>
                <p:ext uri="{386F3935-93C4-4BCD-93E2-E3B085C9AB24}">
                  <p16:designElem xmlns:p16="http://schemas.microsoft.com/office/powerpoint/2015/main" val="1"/>
                </p:ext>
              </p:extLst>
            </p:nvPr>
          </p:nvSpPr>
          <p:spPr bwMode="auto">
            <a:xfrm>
              <a:off x="2928938" y="2582862"/>
              <a:ext cx="2693987" cy="4275138"/>
            </a:xfrm>
            <a:custGeom>
              <a:avLst/>
              <a:gdLst/>
              <a:ahLst/>
              <a:cxnLst/>
              <a:rect l="0" t="0" r="r" b="b"/>
              <a:pathLst>
                <a:path w="1697" h="2693">
                  <a:moveTo>
                    <a:pt x="0" y="0"/>
                  </a:moveTo>
                  <a:lnTo>
                    <a:pt x="1622" y="2693"/>
                  </a:lnTo>
                  <a:lnTo>
                    <a:pt x="1697" y="2693"/>
                  </a:lnTo>
                  <a:lnTo>
                    <a:pt x="0" y="0"/>
                  </a:lnTo>
                  <a:close/>
                </a:path>
              </a:pathLst>
            </a:custGeom>
            <a:solidFill>
              <a:schemeClr val="tx1">
                <a:lumMod val="85000"/>
                <a:lumOff val="15000"/>
              </a:schemeClr>
            </a:solidFill>
            <a:ln>
              <a:noFill/>
            </a:ln>
          </p:spPr>
        </p:sp>
        <p:sp>
          <p:nvSpPr>
            <p:cNvPr id="20" name="Freeform 10"/>
            <p:cNvSpPr/>
            <p:nvPr>
              <p:extLst>
                <p:ext uri="{386F3935-93C4-4BCD-93E2-E3B085C9AB24}">
                  <p16:designElem xmlns:p16="http://schemas.microsoft.com/office/powerpoint/2015/main" val="1"/>
                </p:ext>
              </p:extLst>
            </p:nvPr>
          </p:nvSpPr>
          <p:spPr bwMode="auto">
            <a:xfrm>
              <a:off x="3371850" y="2692400"/>
              <a:ext cx="3332162" cy="4165600"/>
            </a:xfrm>
            <a:custGeom>
              <a:avLst/>
              <a:gdLst/>
              <a:ahLst/>
              <a:cxnLst/>
              <a:rect l="0" t="0" r="r" b="b"/>
              <a:pathLst>
                <a:path w="2099" h="2624">
                  <a:moveTo>
                    <a:pt x="2099" y="2624"/>
                  </a:moveTo>
                  <a:lnTo>
                    <a:pt x="0" y="0"/>
                  </a:lnTo>
                  <a:lnTo>
                    <a:pt x="2021" y="2624"/>
                  </a:lnTo>
                  <a:lnTo>
                    <a:pt x="2099" y="2624"/>
                  </a:lnTo>
                  <a:close/>
                </a:path>
              </a:pathLst>
            </a:custGeom>
            <a:solidFill>
              <a:schemeClr val="accent1">
                <a:lumMod val="50000"/>
              </a:schemeClr>
            </a:solidFill>
            <a:ln>
              <a:noFill/>
            </a:ln>
          </p:spPr>
        </p:sp>
        <p:sp>
          <p:nvSpPr>
            <p:cNvPr id="21" name="Freeform 11"/>
            <p:cNvSpPr/>
            <p:nvPr>
              <p:extLst>
                <p:ext uri="{386F3935-93C4-4BCD-93E2-E3B085C9AB24}">
                  <p16:designElem xmlns:p16="http://schemas.microsoft.com/office/powerpoint/2015/main" val="1"/>
                </p:ext>
              </p:extLst>
            </p:nvPr>
          </p:nvSpPr>
          <p:spPr bwMode="auto">
            <a:xfrm>
              <a:off x="3367088" y="2687637"/>
              <a:ext cx="4576762" cy="4170363"/>
            </a:xfrm>
            <a:custGeom>
              <a:avLst/>
              <a:gdLst/>
              <a:ahLst/>
              <a:cxnLst/>
              <a:rect l="0" t="0" r="r" b="b"/>
              <a:pathLst>
                <a:path w="2883" h="2627">
                  <a:moveTo>
                    <a:pt x="0" y="0"/>
                  </a:moveTo>
                  <a:lnTo>
                    <a:pt x="3" y="3"/>
                  </a:lnTo>
                  <a:lnTo>
                    <a:pt x="2102" y="2627"/>
                  </a:lnTo>
                  <a:lnTo>
                    <a:pt x="2883" y="2627"/>
                  </a:lnTo>
                  <a:lnTo>
                    <a:pt x="225" y="57"/>
                  </a:lnTo>
                  <a:lnTo>
                    <a:pt x="0" y="0"/>
                  </a:lnTo>
                  <a:close/>
                </a:path>
              </a:pathLst>
            </a:custGeom>
            <a:solidFill>
              <a:schemeClr val="accent1">
                <a:lumMod val="75000"/>
              </a:schemeClr>
            </a:solidFill>
            <a:ln>
              <a:noFill/>
            </a:ln>
          </p:spPr>
        </p:sp>
        <p:sp>
          <p:nvSpPr>
            <p:cNvPr id="26" name="Freeform 12"/>
            <p:cNvSpPr/>
            <p:nvPr>
              <p:extLst>
                <p:ext uri="{386F3935-93C4-4BCD-93E2-E3B085C9AB24}">
                  <p16:designElem xmlns:p16="http://schemas.microsoft.com/office/powerpoint/2015/main" val="1"/>
                </p:ext>
              </p:extLst>
            </p:nvPr>
          </p:nvSpPr>
          <p:spPr bwMode="auto">
            <a:xfrm>
              <a:off x="2928938" y="2578100"/>
              <a:ext cx="3584575" cy="4279900"/>
            </a:xfrm>
            <a:custGeom>
              <a:avLst/>
              <a:gdLst/>
              <a:ahLst/>
              <a:cxnLst/>
              <a:rect l="0" t="0" r="r" b="b"/>
              <a:pathLst>
                <a:path w="2258" h="2696">
                  <a:moveTo>
                    <a:pt x="2258" y="2696"/>
                  </a:moveTo>
                  <a:lnTo>
                    <a:pt x="264" y="111"/>
                  </a:lnTo>
                  <a:lnTo>
                    <a:pt x="228" y="60"/>
                  </a:lnTo>
                  <a:lnTo>
                    <a:pt x="225" y="57"/>
                  </a:lnTo>
                  <a:lnTo>
                    <a:pt x="0" y="0"/>
                  </a:lnTo>
                  <a:lnTo>
                    <a:pt x="0" y="3"/>
                  </a:lnTo>
                  <a:lnTo>
                    <a:pt x="1697" y="2696"/>
                  </a:lnTo>
                  <a:lnTo>
                    <a:pt x="2258" y="2696"/>
                  </a:lnTo>
                  <a:close/>
                </a:path>
              </a:pathLst>
            </a:custGeom>
            <a:solidFill>
              <a:schemeClr val="tx1">
                <a:lumMod val="75000"/>
                <a:lumOff val="25000"/>
              </a:schemeClr>
            </a:solidFill>
            <a:ln>
              <a:noFill/>
            </a:ln>
          </p:spPr>
        </p:sp>
      </p:grpSp>
      <p:sp>
        <p:nvSpPr>
          <p:cNvPr id="2" name="Title 1"/>
          <p:cNvSpPr>
            <a:spLocks noGrp="1"/>
          </p:cNvSpPr>
          <p:nvPr>
            <p:ph type="ctrTitle"/>
          </p:nvPr>
        </p:nvSpPr>
        <p:spPr>
          <a:xfrm>
            <a:off x="2516697" y="1912690"/>
            <a:ext cx="6627303" cy="1954634"/>
          </a:xfrm>
        </p:spPr>
        <p:txBody>
          <a:bodyPr>
            <a:normAutofit/>
          </a:bodyPr>
          <a:lstStyle/>
          <a:p>
            <a:pPr algn="ctr"/>
            <a:r>
              <a:rPr lang="en-US" dirty="0">
                <a:solidFill>
                  <a:schemeClr val="accent3">
                    <a:lumMod val="10000"/>
                  </a:schemeClr>
                </a:solidFill>
              </a:rPr>
              <a:t>d</a:t>
            </a:r>
            <a:r>
              <a:rPr lang="en-AU" dirty="0">
                <a:solidFill>
                  <a:schemeClr val="accent3">
                    <a:lumMod val="10000"/>
                  </a:schemeClr>
                </a:solidFill>
              </a:rPr>
              <a:t>e Broglie </a:t>
            </a:r>
            <a:br>
              <a:rPr lang="en-AU" dirty="0">
                <a:solidFill>
                  <a:schemeClr val="accent3">
                    <a:lumMod val="10000"/>
                  </a:schemeClr>
                </a:solidFill>
              </a:rPr>
            </a:br>
            <a:r>
              <a:rPr lang="en-AU" dirty="0">
                <a:solidFill>
                  <a:schemeClr val="accent3">
                    <a:lumMod val="10000"/>
                  </a:schemeClr>
                </a:solidFill>
              </a:rPr>
              <a:t>Wavelength</a:t>
            </a:r>
          </a:p>
        </p:txBody>
      </p:sp>
    </p:spTree>
    <p:extLst>
      <p:ext uri="{BB962C8B-B14F-4D97-AF65-F5344CB8AC3E}">
        <p14:creationId xmlns:p14="http://schemas.microsoft.com/office/powerpoint/2010/main" val="330163779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82133" y="457201"/>
            <a:ext cx="7704667" cy="734036"/>
          </a:xfrm>
        </p:spPr>
        <p:txBody>
          <a:bodyPr/>
          <a:lstStyle/>
          <a:p>
            <a:r>
              <a:rPr lang="en-AU" dirty="0">
                <a:solidFill>
                  <a:schemeClr val="accent3">
                    <a:lumMod val="10000"/>
                  </a:schemeClr>
                </a:solidFill>
              </a:rPr>
              <a:t>Key Objectives</a:t>
            </a:r>
          </a:p>
        </p:txBody>
      </p:sp>
      <p:sp>
        <p:nvSpPr>
          <p:cNvPr id="3" name="Content Placeholder 2"/>
          <p:cNvSpPr>
            <a:spLocks noGrp="1"/>
          </p:cNvSpPr>
          <p:nvPr>
            <p:ph idx="1"/>
          </p:nvPr>
        </p:nvSpPr>
        <p:spPr>
          <a:xfrm>
            <a:off x="982133" y="1543574"/>
            <a:ext cx="7843085" cy="4739780"/>
          </a:xfrm>
        </p:spPr>
        <p:txBody>
          <a:bodyPr>
            <a:normAutofit/>
          </a:bodyPr>
          <a:lstStyle/>
          <a:p>
            <a:r>
              <a:rPr lang="en-AU" dirty="0">
                <a:solidFill>
                  <a:schemeClr val="accent5">
                    <a:lumMod val="25000"/>
                  </a:schemeClr>
                </a:solidFill>
              </a:rPr>
              <a:t>On the atomic level, energy and matter exhibit the characteristics of both waves and particles. Young’s double slit experiment is explained with a wave model but produces the same interference and diffraction patterns when one photon at a time or one electron at a time are passed through the slits</a:t>
            </a:r>
          </a:p>
        </p:txBody>
      </p:sp>
    </p:spTree>
    <p:extLst>
      <p:ext uri="{BB962C8B-B14F-4D97-AF65-F5344CB8AC3E}">
        <p14:creationId xmlns:p14="http://schemas.microsoft.com/office/powerpoint/2010/main" val="58936346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AU" dirty="0">
                <a:solidFill>
                  <a:schemeClr val="accent5">
                    <a:lumMod val="10000"/>
                  </a:schemeClr>
                </a:solidFill>
              </a:rPr>
              <a:t>Relevant Equations</a:t>
            </a:r>
          </a:p>
        </p:txBody>
      </p:sp>
      <mc:AlternateContent xmlns:mc="http://schemas.openxmlformats.org/markup-compatibility/2006">
        <mc:Choice xmlns:a14="http://schemas.microsoft.com/office/drawing/2010/main" Requires="a14">
          <p:sp>
            <p:nvSpPr>
              <p:cNvPr id="3" name="Content Placeholder 2"/>
              <p:cNvSpPr>
                <a:spLocks noGrp="1"/>
              </p:cNvSpPr>
              <p:nvPr>
                <p:ph idx="1"/>
              </p:nvPr>
            </p:nvSpPr>
            <p:spPr>
              <a:xfrm>
                <a:off x="671118" y="2054603"/>
                <a:ext cx="8330269" cy="2358005"/>
              </a:xfrm>
            </p:spPr>
            <p:txBody>
              <a:bodyPr>
                <a:normAutofit/>
              </a:bodyPr>
              <a:lstStyle/>
              <a:p>
                <a:pPr marL="0" indent="0">
                  <a:buNone/>
                </a:pPr>
                <a14:m>
                  <m:oMathPara xmlns:m="http://schemas.openxmlformats.org/officeDocument/2006/math">
                    <m:oMathParaPr>
                      <m:jc m:val="centerGroup"/>
                    </m:oMathParaPr>
                    <m:oMath xmlns:m="http://schemas.openxmlformats.org/officeDocument/2006/math">
                      <m:r>
                        <a:rPr lang="en-AU" b="0" i="1" smtClean="0">
                          <a:solidFill>
                            <a:schemeClr val="accent5">
                              <a:lumMod val="10000"/>
                            </a:schemeClr>
                          </a:solidFill>
                          <a:latin typeface="Cambria Math" panose="02040503050406030204" pitchFamily="18" charset="0"/>
                        </a:rPr>
                        <m:t>𝑑𝑒</m:t>
                      </m:r>
                      <m:r>
                        <a:rPr lang="en-AU" b="0" i="1" smtClean="0">
                          <a:solidFill>
                            <a:schemeClr val="accent5">
                              <a:lumMod val="10000"/>
                            </a:schemeClr>
                          </a:solidFill>
                          <a:latin typeface="Cambria Math" panose="02040503050406030204" pitchFamily="18" charset="0"/>
                        </a:rPr>
                        <m:t> </m:t>
                      </m:r>
                      <m:r>
                        <a:rPr lang="en-AU" b="0" i="1" smtClean="0">
                          <a:solidFill>
                            <a:schemeClr val="accent5">
                              <a:lumMod val="10000"/>
                            </a:schemeClr>
                          </a:solidFill>
                          <a:latin typeface="Cambria Math" panose="02040503050406030204" pitchFamily="18" charset="0"/>
                        </a:rPr>
                        <m:t>𝑏𝑟𝑜𝑔𝑙𝑖𝑒</m:t>
                      </m:r>
                      <m:r>
                        <a:rPr lang="en-AU" b="0" i="1" smtClean="0">
                          <a:solidFill>
                            <a:schemeClr val="accent5">
                              <a:lumMod val="10000"/>
                            </a:schemeClr>
                          </a:solidFill>
                          <a:latin typeface="Cambria Math" panose="02040503050406030204" pitchFamily="18" charset="0"/>
                        </a:rPr>
                        <m:t> </m:t>
                      </m:r>
                      <m:r>
                        <m:rPr>
                          <m:sty m:val="p"/>
                        </m:rPr>
                        <a:rPr lang="el-GR" b="0" i="1" smtClean="0">
                          <a:solidFill>
                            <a:schemeClr val="accent5">
                              <a:lumMod val="10000"/>
                            </a:schemeClr>
                          </a:solidFill>
                          <a:latin typeface="Cambria Math" panose="02040503050406030204" pitchFamily="18" charset="0"/>
                        </a:rPr>
                        <m:t>λ</m:t>
                      </m:r>
                      <m:r>
                        <a:rPr lang="en-AU" b="0" i="1" smtClean="0">
                          <a:solidFill>
                            <a:schemeClr val="accent5">
                              <a:lumMod val="10000"/>
                            </a:schemeClr>
                          </a:solidFill>
                          <a:latin typeface="Cambria Math" panose="02040503050406030204" pitchFamily="18" charset="0"/>
                        </a:rPr>
                        <m:t>=</m:t>
                      </m:r>
                      <m:f>
                        <m:fPr>
                          <m:ctrlPr>
                            <a:rPr lang="en-AU" b="0" i="1" smtClean="0">
                              <a:solidFill>
                                <a:schemeClr val="accent5">
                                  <a:lumMod val="10000"/>
                                </a:schemeClr>
                              </a:solidFill>
                              <a:latin typeface="Cambria Math" panose="02040503050406030204" pitchFamily="18" charset="0"/>
                            </a:rPr>
                          </m:ctrlPr>
                        </m:fPr>
                        <m:num>
                          <m:r>
                            <a:rPr lang="en-AU" b="0" i="1" smtClean="0">
                              <a:solidFill>
                                <a:schemeClr val="accent5">
                                  <a:lumMod val="10000"/>
                                </a:schemeClr>
                              </a:solidFill>
                              <a:latin typeface="Cambria Math" panose="02040503050406030204" pitchFamily="18" charset="0"/>
                            </a:rPr>
                            <m:t>h</m:t>
                          </m:r>
                        </m:num>
                        <m:den>
                          <m:r>
                            <a:rPr lang="en-AU" b="0" i="1" smtClean="0">
                              <a:solidFill>
                                <a:schemeClr val="accent5">
                                  <a:lumMod val="10000"/>
                                </a:schemeClr>
                              </a:solidFill>
                              <a:latin typeface="Cambria Math" panose="02040503050406030204" pitchFamily="18" charset="0"/>
                            </a:rPr>
                            <m:t>𝑝</m:t>
                          </m:r>
                        </m:den>
                      </m:f>
                    </m:oMath>
                  </m:oMathPara>
                </a14:m>
                <a:endParaRPr lang="en-AU" dirty="0">
                  <a:solidFill>
                    <a:schemeClr val="accent5">
                      <a:lumMod val="10000"/>
                    </a:schemeClr>
                  </a:solidFill>
                </a:endParaRPr>
              </a:p>
              <a:p>
                <a:pPr marL="0" indent="0">
                  <a:buNone/>
                </a:pPr>
                <a:endParaRPr lang="en-AU" dirty="0">
                  <a:solidFill>
                    <a:schemeClr val="accent5">
                      <a:lumMod val="10000"/>
                    </a:schemeClr>
                  </a:solidFill>
                </a:endParaRPr>
              </a:p>
            </p:txBody>
          </p:sp>
        </mc:Choice>
        <mc:Fallback>
          <p:sp>
            <p:nvSpPr>
              <p:cNvPr id="3" name="Content Placeholder 2"/>
              <p:cNvSpPr>
                <a:spLocks noGrp="1" noRot="1" noChangeAspect="1" noMove="1" noResize="1" noEditPoints="1" noAdjustHandles="1" noChangeArrowheads="1" noChangeShapeType="1" noTextEdit="1"/>
              </p:cNvSpPr>
              <p:nvPr>
                <p:ph idx="1"/>
              </p:nvPr>
            </p:nvSpPr>
            <p:spPr>
              <a:xfrm>
                <a:off x="671118" y="2054603"/>
                <a:ext cx="8330269" cy="2358005"/>
              </a:xfrm>
              <a:blipFill>
                <a:blip r:embed="rId2"/>
                <a:stretch>
                  <a:fillRect/>
                </a:stretch>
              </a:blipFill>
            </p:spPr>
            <p:txBody>
              <a:bodyPr/>
              <a:lstStyle/>
              <a:p>
                <a:r>
                  <a:rPr lang="en-AU">
                    <a:noFill/>
                  </a:rPr>
                  <a:t> </a:t>
                </a:r>
              </a:p>
            </p:txBody>
          </p:sp>
        </mc:Fallback>
      </mc:AlternateContent>
    </p:spTree>
    <p:extLst>
      <p:ext uri="{BB962C8B-B14F-4D97-AF65-F5344CB8AC3E}">
        <p14:creationId xmlns:p14="http://schemas.microsoft.com/office/powerpoint/2010/main" val="142758538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EA4DD2-C052-4B43-885F-CED8CCFC968A}"/>
              </a:ext>
            </a:extLst>
          </p:cNvPr>
          <p:cNvSpPr>
            <a:spLocks noGrp="1"/>
          </p:cNvSpPr>
          <p:nvPr>
            <p:ph type="title"/>
          </p:nvPr>
        </p:nvSpPr>
        <p:spPr>
          <a:xfrm>
            <a:off x="982133" y="457201"/>
            <a:ext cx="7704667" cy="723529"/>
          </a:xfrm>
        </p:spPr>
        <p:txBody>
          <a:bodyPr/>
          <a:lstStyle/>
          <a:p>
            <a:r>
              <a:rPr lang="en-AU" dirty="0">
                <a:solidFill>
                  <a:srgbClr val="000000"/>
                </a:solidFill>
              </a:rPr>
              <a:t>de Broglie wavelength</a:t>
            </a:r>
          </a:p>
        </p:txBody>
      </p:sp>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61A0EA2E-6CFE-42D0-936A-8EBFE990000E}"/>
                  </a:ext>
                </a:extLst>
              </p:cNvPr>
              <p:cNvSpPr>
                <a:spLocks noGrp="1"/>
              </p:cNvSpPr>
              <p:nvPr>
                <p:ph idx="1"/>
              </p:nvPr>
            </p:nvSpPr>
            <p:spPr>
              <a:xfrm>
                <a:off x="964377" y="1699334"/>
                <a:ext cx="7704667" cy="4816876"/>
              </a:xfrm>
            </p:spPr>
            <p:txBody>
              <a:bodyPr>
                <a:normAutofit lnSpcReduction="10000"/>
              </a:bodyPr>
              <a:lstStyle/>
              <a:p>
                <a:r>
                  <a:rPr lang="en-AU" dirty="0">
                    <a:solidFill>
                      <a:srgbClr val="000000"/>
                    </a:solidFill>
                  </a:rPr>
                  <a:t>Combines momentum equation </a:t>
                </a:r>
                <a14:m>
                  <m:oMath xmlns:m="http://schemas.openxmlformats.org/officeDocument/2006/math">
                    <m:r>
                      <a:rPr lang="en-AU" b="0" i="1" smtClean="0">
                        <a:solidFill>
                          <a:srgbClr val="000000"/>
                        </a:solidFill>
                        <a:latin typeface="Cambria Math" panose="02040503050406030204" pitchFamily="18" charset="0"/>
                      </a:rPr>
                      <m:t>𝑝</m:t>
                    </m:r>
                    <m:r>
                      <a:rPr lang="en-AU" b="0" i="1" smtClean="0">
                        <a:solidFill>
                          <a:srgbClr val="000000"/>
                        </a:solidFill>
                        <a:latin typeface="Cambria Math" panose="02040503050406030204" pitchFamily="18" charset="0"/>
                      </a:rPr>
                      <m:t>=</m:t>
                    </m:r>
                    <m:r>
                      <a:rPr lang="en-AU" b="0" i="1" smtClean="0">
                        <a:solidFill>
                          <a:srgbClr val="000000"/>
                        </a:solidFill>
                        <a:latin typeface="Cambria Math" panose="02040503050406030204" pitchFamily="18" charset="0"/>
                      </a:rPr>
                      <m:t>𝑚𝑣</m:t>
                    </m:r>
                  </m:oMath>
                </a14:m>
                <a:r>
                  <a:rPr lang="en-AU" dirty="0">
                    <a:solidFill>
                      <a:srgbClr val="000000"/>
                    </a:solidFill>
                  </a:rPr>
                  <a:t>   with  the equation for the momentum of light </a:t>
                </a:r>
                <a14:m>
                  <m:oMath xmlns:m="http://schemas.openxmlformats.org/officeDocument/2006/math">
                    <m:r>
                      <a:rPr lang="en-AU" b="0" i="1" smtClean="0">
                        <a:solidFill>
                          <a:srgbClr val="000000"/>
                        </a:solidFill>
                        <a:latin typeface="Cambria Math" panose="02040503050406030204" pitchFamily="18" charset="0"/>
                      </a:rPr>
                      <m:t>𝑝</m:t>
                    </m:r>
                    <m:r>
                      <a:rPr lang="en-AU" b="0" i="1" smtClean="0">
                        <a:solidFill>
                          <a:srgbClr val="000000"/>
                        </a:solidFill>
                        <a:latin typeface="Cambria Math" panose="02040503050406030204" pitchFamily="18" charset="0"/>
                      </a:rPr>
                      <m:t>=</m:t>
                    </m:r>
                    <m:f>
                      <m:fPr>
                        <m:ctrlPr>
                          <a:rPr lang="en-AU" b="0" i="1" smtClean="0">
                            <a:solidFill>
                              <a:srgbClr val="000000"/>
                            </a:solidFill>
                            <a:latin typeface="Cambria Math" panose="02040503050406030204" pitchFamily="18" charset="0"/>
                          </a:rPr>
                        </m:ctrlPr>
                      </m:fPr>
                      <m:num>
                        <m:r>
                          <a:rPr lang="en-AU" b="0" i="1" smtClean="0">
                            <a:solidFill>
                              <a:srgbClr val="000000"/>
                            </a:solidFill>
                            <a:latin typeface="Cambria Math" panose="02040503050406030204" pitchFamily="18" charset="0"/>
                          </a:rPr>
                          <m:t>h</m:t>
                        </m:r>
                      </m:num>
                      <m:den>
                        <m:r>
                          <m:rPr>
                            <m:sty m:val="p"/>
                          </m:rPr>
                          <a:rPr lang="el-GR" b="0" i="1" smtClean="0">
                            <a:solidFill>
                              <a:srgbClr val="000000"/>
                            </a:solidFill>
                            <a:latin typeface="Cambria Math" panose="02040503050406030204" pitchFamily="18" charset="0"/>
                          </a:rPr>
                          <m:t>λ</m:t>
                        </m:r>
                      </m:den>
                    </m:f>
                    <m:r>
                      <a:rPr lang="en-AU" b="0" i="0" smtClean="0">
                        <a:solidFill>
                          <a:srgbClr val="000000"/>
                        </a:solidFill>
                        <a:latin typeface="Cambria Math" panose="02040503050406030204" pitchFamily="18" charset="0"/>
                      </a:rPr>
                      <m:t>.</m:t>
                    </m:r>
                  </m:oMath>
                </a14:m>
                <a:endParaRPr lang="en-AU" dirty="0">
                  <a:solidFill>
                    <a:srgbClr val="000000"/>
                  </a:solidFill>
                </a:endParaRPr>
              </a:p>
              <a:p>
                <a:pPr marL="0" indent="0">
                  <a:buNone/>
                </a:pPr>
                <a:endParaRPr lang="en-AU" dirty="0">
                  <a:solidFill>
                    <a:srgbClr val="000000"/>
                  </a:solidFill>
                </a:endParaRPr>
              </a:p>
              <a:p>
                <a:pPr marL="0" indent="0" algn="ctr">
                  <a:buNone/>
                </a:pPr>
                <a14:m>
                  <m:oMath xmlns:m="http://schemas.openxmlformats.org/officeDocument/2006/math">
                    <m:r>
                      <m:rPr>
                        <m:sty m:val="p"/>
                      </m:rPr>
                      <a:rPr lang="el-GR" sz="3200" i="1" smtClean="0">
                        <a:solidFill>
                          <a:srgbClr val="000000"/>
                        </a:solidFill>
                        <a:latin typeface="Cambria Math" panose="02040503050406030204" pitchFamily="18" charset="0"/>
                      </a:rPr>
                      <m:t>λ</m:t>
                    </m:r>
                    <m:r>
                      <a:rPr lang="en-AU" sz="3200" b="0" i="1" smtClean="0">
                        <a:solidFill>
                          <a:srgbClr val="000000"/>
                        </a:solidFill>
                        <a:latin typeface="Cambria Math" panose="02040503050406030204" pitchFamily="18" charset="0"/>
                      </a:rPr>
                      <m:t>=</m:t>
                    </m:r>
                    <m:f>
                      <m:fPr>
                        <m:ctrlPr>
                          <a:rPr lang="en-AU" sz="3200" b="0" i="1" smtClean="0">
                            <a:solidFill>
                              <a:srgbClr val="000000"/>
                            </a:solidFill>
                            <a:latin typeface="Cambria Math" panose="02040503050406030204" pitchFamily="18" charset="0"/>
                          </a:rPr>
                        </m:ctrlPr>
                      </m:fPr>
                      <m:num>
                        <m:r>
                          <a:rPr lang="en-AU" sz="3200" b="0" i="1" smtClean="0">
                            <a:solidFill>
                              <a:srgbClr val="000000"/>
                            </a:solidFill>
                            <a:latin typeface="Cambria Math" panose="02040503050406030204" pitchFamily="18" charset="0"/>
                          </a:rPr>
                          <m:t>h</m:t>
                        </m:r>
                      </m:num>
                      <m:den>
                        <m:r>
                          <a:rPr lang="en-AU" sz="3200" b="0" i="1" smtClean="0">
                            <a:solidFill>
                              <a:srgbClr val="000000"/>
                            </a:solidFill>
                            <a:latin typeface="Cambria Math" panose="02040503050406030204" pitchFamily="18" charset="0"/>
                          </a:rPr>
                          <m:t>𝑚𝑣</m:t>
                        </m:r>
                      </m:den>
                    </m:f>
                  </m:oMath>
                </a14:m>
                <a:r>
                  <a:rPr lang="en-AU" sz="3200" dirty="0">
                    <a:solidFill>
                      <a:srgbClr val="000000"/>
                    </a:solidFill>
                  </a:rPr>
                  <a:t> </a:t>
                </a:r>
              </a:p>
              <a:p>
                <a:pPr marL="0" indent="0" algn="ctr">
                  <a:buNone/>
                </a:pPr>
                <a:endParaRPr lang="en-AU" dirty="0">
                  <a:solidFill>
                    <a:srgbClr val="000000"/>
                  </a:solidFill>
                </a:endParaRPr>
              </a:p>
              <a:p>
                <a:r>
                  <a:rPr lang="en-AU" dirty="0">
                    <a:solidFill>
                      <a:srgbClr val="000000"/>
                    </a:solidFill>
                  </a:rPr>
                  <a:t>Concluded that if light can behave like a particle, then matter can behave like a wave.</a:t>
                </a:r>
              </a:p>
              <a:p>
                <a:r>
                  <a:rPr lang="en-AU" dirty="0">
                    <a:solidFill>
                      <a:srgbClr val="000000"/>
                    </a:solidFill>
                  </a:rPr>
                  <a:t>Evidence to support this came later, the Davisson-</a:t>
                </a:r>
                <a:r>
                  <a:rPr lang="en-AU" dirty="0" err="1">
                    <a:solidFill>
                      <a:srgbClr val="000000"/>
                    </a:solidFill>
                  </a:rPr>
                  <a:t>Germer</a:t>
                </a:r>
                <a:r>
                  <a:rPr lang="en-AU" dirty="0">
                    <a:solidFill>
                      <a:srgbClr val="000000"/>
                    </a:solidFill>
                  </a:rPr>
                  <a:t> experiment observed electron diffraction which could only be explained if particles have a wave like nature.</a:t>
                </a:r>
              </a:p>
            </p:txBody>
          </p:sp>
        </mc:Choice>
        <mc:Fallback xmlns="">
          <p:sp>
            <p:nvSpPr>
              <p:cNvPr id="3" name="Content Placeholder 2">
                <a:extLst>
                  <a:ext uri="{FF2B5EF4-FFF2-40B4-BE49-F238E27FC236}">
                    <a16:creationId xmlns:a16="http://schemas.microsoft.com/office/drawing/2014/main" id="{61A0EA2E-6CFE-42D0-936A-8EBFE990000E}"/>
                  </a:ext>
                </a:extLst>
              </p:cNvPr>
              <p:cNvSpPr>
                <a:spLocks noGrp="1" noRot="1" noChangeAspect="1" noMove="1" noResize="1" noEditPoints="1" noAdjustHandles="1" noChangeArrowheads="1" noChangeShapeType="1" noTextEdit="1"/>
              </p:cNvSpPr>
              <p:nvPr>
                <p:ph idx="1"/>
              </p:nvPr>
            </p:nvSpPr>
            <p:spPr>
              <a:xfrm>
                <a:off x="964377" y="1699334"/>
                <a:ext cx="7704667" cy="4816876"/>
              </a:xfrm>
              <a:blipFill>
                <a:blip r:embed="rId2"/>
                <a:stretch>
                  <a:fillRect l="-1978" t="-2911" r="-1187" b="-1139"/>
                </a:stretch>
              </a:blipFill>
            </p:spPr>
            <p:txBody>
              <a:bodyPr/>
              <a:lstStyle/>
              <a:p>
                <a:r>
                  <a:rPr lang="en-AU">
                    <a:noFill/>
                  </a:rPr>
                  <a:t> </a:t>
                </a:r>
              </a:p>
            </p:txBody>
          </p:sp>
        </mc:Fallback>
      </mc:AlternateContent>
    </p:spTree>
    <p:extLst>
      <p:ext uri="{BB962C8B-B14F-4D97-AF65-F5344CB8AC3E}">
        <p14:creationId xmlns:p14="http://schemas.microsoft.com/office/powerpoint/2010/main" val="189898482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5397A-E032-4116-AE75-70617FEFA945}"/>
              </a:ext>
            </a:extLst>
          </p:cNvPr>
          <p:cNvSpPr>
            <a:spLocks noGrp="1"/>
          </p:cNvSpPr>
          <p:nvPr>
            <p:ph type="title"/>
          </p:nvPr>
        </p:nvSpPr>
        <p:spPr>
          <a:xfrm>
            <a:off x="982133" y="457201"/>
            <a:ext cx="7704667" cy="987286"/>
          </a:xfrm>
        </p:spPr>
        <p:txBody>
          <a:bodyPr/>
          <a:lstStyle/>
          <a:p>
            <a:r>
              <a:rPr lang="en-AU" dirty="0">
                <a:solidFill>
                  <a:srgbClr val="000000"/>
                </a:solidFill>
              </a:rPr>
              <a:t>Electron diffraction</a:t>
            </a:r>
          </a:p>
        </p:txBody>
      </p:sp>
      <p:sp>
        <p:nvSpPr>
          <p:cNvPr id="3" name="Content Placeholder 2">
            <a:extLst>
              <a:ext uri="{FF2B5EF4-FFF2-40B4-BE49-F238E27FC236}">
                <a16:creationId xmlns:a16="http://schemas.microsoft.com/office/drawing/2014/main" id="{55BE4424-6278-4621-8473-74625F5BAFDF}"/>
              </a:ext>
            </a:extLst>
          </p:cNvPr>
          <p:cNvSpPr>
            <a:spLocks noGrp="1"/>
          </p:cNvSpPr>
          <p:nvPr>
            <p:ph idx="1"/>
          </p:nvPr>
        </p:nvSpPr>
        <p:spPr>
          <a:xfrm>
            <a:off x="1008766" y="1539536"/>
            <a:ext cx="7704667" cy="1185909"/>
          </a:xfrm>
        </p:spPr>
        <p:txBody>
          <a:bodyPr>
            <a:normAutofit lnSpcReduction="10000"/>
          </a:bodyPr>
          <a:lstStyle/>
          <a:p>
            <a:r>
              <a:rPr lang="en-AU" dirty="0">
                <a:solidFill>
                  <a:srgbClr val="000000"/>
                </a:solidFill>
              </a:rPr>
              <a:t>In simple terms:  When electrons reflect from a crystal, a diffraction pattern characteristic of wave interference is observed.</a:t>
            </a:r>
          </a:p>
        </p:txBody>
      </p:sp>
      <p:pic>
        <p:nvPicPr>
          <p:cNvPr id="4" name="Picture 3">
            <a:extLst>
              <a:ext uri="{FF2B5EF4-FFF2-40B4-BE49-F238E27FC236}">
                <a16:creationId xmlns:a16="http://schemas.microsoft.com/office/drawing/2014/main" id="{A5A4D635-4DDE-4657-938F-392D0A733D4C}"/>
              </a:ext>
            </a:extLst>
          </p:cNvPr>
          <p:cNvPicPr>
            <a:picLocks noChangeAspect="1"/>
          </p:cNvPicPr>
          <p:nvPr/>
        </p:nvPicPr>
        <p:blipFill>
          <a:blip r:embed="rId2"/>
          <a:stretch>
            <a:fillRect/>
          </a:stretch>
        </p:blipFill>
        <p:spPr>
          <a:xfrm>
            <a:off x="1774552" y="3402596"/>
            <a:ext cx="3017994" cy="1672472"/>
          </a:xfrm>
          <a:prstGeom prst="rect">
            <a:avLst/>
          </a:prstGeom>
        </p:spPr>
      </p:pic>
      <p:pic>
        <p:nvPicPr>
          <p:cNvPr id="5" name="Picture 4">
            <a:extLst>
              <a:ext uri="{FF2B5EF4-FFF2-40B4-BE49-F238E27FC236}">
                <a16:creationId xmlns:a16="http://schemas.microsoft.com/office/drawing/2014/main" id="{EC155BF3-7ECA-4DFE-BD7E-171735A05382}"/>
              </a:ext>
            </a:extLst>
          </p:cNvPr>
          <p:cNvPicPr>
            <a:picLocks noChangeAspect="1"/>
          </p:cNvPicPr>
          <p:nvPr/>
        </p:nvPicPr>
        <p:blipFill>
          <a:blip r:embed="rId3"/>
          <a:stretch>
            <a:fillRect/>
          </a:stretch>
        </p:blipFill>
        <p:spPr>
          <a:xfrm>
            <a:off x="4751032" y="3298054"/>
            <a:ext cx="2571750" cy="1828800"/>
          </a:xfrm>
          <a:prstGeom prst="rect">
            <a:avLst/>
          </a:prstGeom>
        </p:spPr>
      </p:pic>
    </p:spTree>
    <p:extLst>
      <p:ext uri="{BB962C8B-B14F-4D97-AF65-F5344CB8AC3E}">
        <p14:creationId xmlns:p14="http://schemas.microsoft.com/office/powerpoint/2010/main" val="122994655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9D519A-A622-4172-8C97-C3A920180751}"/>
              </a:ext>
            </a:extLst>
          </p:cNvPr>
          <p:cNvSpPr>
            <a:spLocks noGrp="1"/>
          </p:cNvSpPr>
          <p:nvPr>
            <p:ph type="title"/>
          </p:nvPr>
        </p:nvSpPr>
        <p:spPr>
          <a:xfrm>
            <a:off x="973256" y="110972"/>
            <a:ext cx="7704667" cy="741284"/>
          </a:xfrm>
        </p:spPr>
        <p:txBody>
          <a:bodyPr/>
          <a:lstStyle/>
          <a:p>
            <a:r>
              <a:rPr lang="en-AU" dirty="0">
                <a:solidFill>
                  <a:srgbClr val="000000"/>
                </a:solidFill>
              </a:rPr>
              <a:t>Davisson-</a:t>
            </a:r>
            <a:r>
              <a:rPr lang="en-AU" dirty="0" err="1">
                <a:solidFill>
                  <a:srgbClr val="000000"/>
                </a:solidFill>
              </a:rPr>
              <a:t>Germer</a:t>
            </a:r>
            <a:r>
              <a:rPr lang="en-AU" dirty="0">
                <a:solidFill>
                  <a:srgbClr val="000000"/>
                </a:solidFill>
              </a:rPr>
              <a:t> Experiment</a:t>
            </a:r>
          </a:p>
        </p:txBody>
      </p:sp>
      <p:sp>
        <p:nvSpPr>
          <p:cNvPr id="3" name="Content Placeholder 2">
            <a:extLst>
              <a:ext uri="{FF2B5EF4-FFF2-40B4-BE49-F238E27FC236}">
                <a16:creationId xmlns:a16="http://schemas.microsoft.com/office/drawing/2014/main" id="{47A30C87-9142-42BC-B865-3D1A7C233326}"/>
              </a:ext>
            </a:extLst>
          </p:cNvPr>
          <p:cNvSpPr>
            <a:spLocks noGrp="1"/>
          </p:cNvSpPr>
          <p:nvPr>
            <p:ph idx="1"/>
          </p:nvPr>
        </p:nvSpPr>
        <p:spPr>
          <a:xfrm>
            <a:off x="790113" y="1006875"/>
            <a:ext cx="8353887" cy="4071152"/>
          </a:xfrm>
        </p:spPr>
        <p:txBody>
          <a:bodyPr>
            <a:normAutofit/>
          </a:bodyPr>
          <a:lstStyle/>
          <a:p>
            <a:r>
              <a:rPr lang="en-AU" dirty="0">
                <a:solidFill>
                  <a:srgbClr val="000000"/>
                </a:solidFill>
              </a:rPr>
              <a:t>An electron beam was directed at a target which was a defined crystal structure made of nickel.  The nickel could be rotated to observe angular dependence of the scattered electrons.  The electrons could reflect off from different layers.</a:t>
            </a:r>
          </a:p>
          <a:p>
            <a:r>
              <a:rPr lang="en-AU" dirty="0">
                <a:solidFill>
                  <a:srgbClr val="000000"/>
                </a:solidFill>
              </a:rPr>
              <a:t>Their electron detector was mounted on an arc so that it could be rotated to detect the intensity of the reflected electrons at different angles.</a:t>
            </a:r>
          </a:p>
          <a:p>
            <a:r>
              <a:rPr lang="en-AU" dirty="0">
                <a:solidFill>
                  <a:srgbClr val="000000"/>
                </a:solidFill>
              </a:rPr>
              <a:t>The reflected electrons constructively and destructively interfered with each (a property of waves…)</a:t>
            </a:r>
          </a:p>
          <a:p>
            <a:pPr marL="0" indent="0">
              <a:buNone/>
            </a:pPr>
            <a:endParaRPr lang="en-AU" dirty="0">
              <a:solidFill>
                <a:srgbClr val="000000"/>
              </a:solidFill>
            </a:endParaRPr>
          </a:p>
        </p:txBody>
      </p:sp>
      <p:pic>
        <p:nvPicPr>
          <p:cNvPr id="8" name="Picture 7">
            <a:extLst>
              <a:ext uri="{FF2B5EF4-FFF2-40B4-BE49-F238E27FC236}">
                <a16:creationId xmlns:a16="http://schemas.microsoft.com/office/drawing/2014/main" id="{88119451-3580-4AFB-A2C4-3854CFB154F5}"/>
              </a:ext>
            </a:extLst>
          </p:cNvPr>
          <p:cNvPicPr>
            <a:picLocks noChangeAspect="1"/>
          </p:cNvPicPr>
          <p:nvPr/>
        </p:nvPicPr>
        <p:blipFill>
          <a:blip r:embed="rId2"/>
          <a:stretch>
            <a:fillRect/>
          </a:stretch>
        </p:blipFill>
        <p:spPr>
          <a:xfrm>
            <a:off x="2487112" y="4959840"/>
            <a:ext cx="5377138" cy="1963082"/>
          </a:xfrm>
          <a:prstGeom prst="rect">
            <a:avLst/>
          </a:prstGeom>
        </p:spPr>
      </p:pic>
    </p:spTree>
    <p:extLst>
      <p:ext uri="{BB962C8B-B14F-4D97-AF65-F5344CB8AC3E}">
        <p14:creationId xmlns:p14="http://schemas.microsoft.com/office/powerpoint/2010/main" val="33927382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AB5CBA5E-11BC-4FFC-B0D5-CBD45FA11AC0}"/>
                  </a:ext>
                </a:extLst>
              </p:cNvPr>
              <p:cNvSpPr>
                <a:spLocks noGrp="1"/>
              </p:cNvSpPr>
              <p:nvPr>
                <p:ph idx="1"/>
              </p:nvPr>
            </p:nvSpPr>
            <p:spPr>
              <a:xfrm>
                <a:off x="902234" y="909220"/>
                <a:ext cx="7704667" cy="5198617"/>
              </a:xfrm>
            </p:spPr>
            <p:txBody>
              <a:bodyPr>
                <a:normAutofit fontScale="92500" lnSpcReduction="10000"/>
              </a:bodyPr>
              <a:lstStyle/>
              <a:p>
                <a:r>
                  <a:rPr lang="en-AU" dirty="0">
                    <a:solidFill>
                      <a:srgbClr val="000000"/>
                    </a:solidFill>
                  </a:rPr>
                  <a:t>They found that at certain angles there was a peak in the intensity of the scattered electron beam.  This peak indicated wave behaviour for electrons.</a:t>
                </a:r>
              </a:p>
              <a:p>
                <a:r>
                  <a:rPr lang="en-AU" dirty="0">
                    <a:solidFill>
                      <a:srgbClr val="000000"/>
                    </a:solidFill>
                  </a:rPr>
                  <a:t>When the extra distance travelled by the beam which travelled further into the nickel was an integer multiple of the wavelength (n</a:t>
                </a:r>
                <a:r>
                  <a:rPr lang="el-GR" dirty="0">
                    <a:solidFill>
                      <a:srgbClr val="000000"/>
                    </a:solidFill>
                  </a:rPr>
                  <a:t>λ</a:t>
                </a:r>
                <a:r>
                  <a:rPr lang="en-AU" dirty="0">
                    <a:solidFill>
                      <a:srgbClr val="000000"/>
                    </a:solidFill>
                  </a:rPr>
                  <a:t>) then the beams underwent constructive interference which increased the detected intensity.</a:t>
                </a:r>
              </a:p>
              <a:p>
                <a:r>
                  <a:rPr lang="en-AU" dirty="0">
                    <a:solidFill>
                      <a:srgbClr val="000000"/>
                    </a:solidFill>
                  </a:rPr>
                  <a:t>When the velocity was changed then the wavelength was changed </a:t>
                </a:r>
                <a14:m>
                  <m:oMath xmlns:m="http://schemas.openxmlformats.org/officeDocument/2006/math">
                    <m:d>
                      <m:dPr>
                        <m:ctrlPr>
                          <a:rPr lang="en-AU" b="0" i="1" smtClean="0">
                            <a:solidFill>
                              <a:srgbClr val="000000"/>
                            </a:solidFill>
                            <a:latin typeface="Cambria Math" panose="02040503050406030204" pitchFamily="18" charset="0"/>
                          </a:rPr>
                        </m:ctrlPr>
                      </m:dPr>
                      <m:e>
                        <m:r>
                          <m:rPr>
                            <m:sty m:val="p"/>
                          </m:rPr>
                          <a:rPr lang="el-GR" i="1">
                            <a:solidFill>
                              <a:srgbClr val="000000"/>
                            </a:solidFill>
                            <a:latin typeface="Cambria Math" panose="02040503050406030204" pitchFamily="18" charset="0"/>
                          </a:rPr>
                          <m:t>λ</m:t>
                        </m:r>
                        <m:r>
                          <a:rPr lang="en-AU" i="1">
                            <a:solidFill>
                              <a:srgbClr val="000000"/>
                            </a:solidFill>
                            <a:latin typeface="Cambria Math" panose="02040503050406030204" pitchFamily="18" charset="0"/>
                          </a:rPr>
                          <m:t>=</m:t>
                        </m:r>
                        <m:f>
                          <m:fPr>
                            <m:ctrlPr>
                              <a:rPr lang="en-AU" i="1">
                                <a:solidFill>
                                  <a:srgbClr val="000000"/>
                                </a:solidFill>
                                <a:latin typeface="Cambria Math" panose="02040503050406030204" pitchFamily="18" charset="0"/>
                              </a:rPr>
                            </m:ctrlPr>
                          </m:fPr>
                          <m:num>
                            <m:r>
                              <a:rPr lang="en-AU" i="1">
                                <a:solidFill>
                                  <a:srgbClr val="000000"/>
                                </a:solidFill>
                                <a:latin typeface="Cambria Math" panose="02040503050406030204" pitchFamily="18" charset="0"/>
                              </a:rPr>
                              <m:t>h</m:t>
                            </m:r>
                          </m:num>
                          <m:den>
                            <m:r>
                              <a:rPr lang="en-AU" i="1">
                                <a:solidFill>
                                  <a:srgbClr val="000000"/>
                                </a:solidFill>
                                <a:latin typeface="Cambria Math" panose="02040503050406030204" pitchFamily="18" charset="0"/>
                              </a:rPr>
                              <m:t>𝑚𝑣</m:t>
                            </m:r>
                          </m:den>
                        </m:f>
                      </m:e>
                    </m:d>
                  </m:oMath>
                </a14:m>
                <a:r>
                  <a:rPr lang="en-AU" dirty="0">
                    <a:solidFill>
                      <a:srgbClr val="000000"/>
                    </a:solidFill>
                  </a:rPr>
                  <a:t> so now the</a:t>
                </a:r>
              </a:p>
              <a:p>
                <a:pPr marL="0" indent="0">
                  <a:buNone/>
                </a:pPr>
                <a:r>
                  <a:rPr lang="en-AU" dirty="0">
                    <a:solidFill>
                      <a:srgbClr val="000000"/>
                    </a:solidFill>
                  </a:rPr>
                  <a:t>extra distance was no longer a </a:t>
                </a:r>
              </a:p>
              <a:p>
                <a:pPr marL="0" indent="0">
                  <a:buNone/>
                </a:pPr>
                <a:r>
                  <a:rPr lang="en-AU" dirty="0">
                    <a:solidFill>
                      <a:srgbClr val="000000"/>
                    </a:solidFill>
                  </a:rPr>
                  <a:t>integer multiple of wavelength </a:t>
                </a:r>
              </a:p>
              <a:p>
                <a:pPr marL="0" indent="0">
                  <a:buNone/>
                </a:pPr>
                <a:r>
                  <a:rPr lang="en-AU" dirty="0">
                    <a:solidFill>
                      <a:srgbClr val="000000"/>
                    </a:solidFill>
                  </a:rPr>
                  <a:t>and destructive interference occurred,</a:t>
                </a:r>
              </a:p>
              <a:p>
                <a:pPr marL="0" indent="0">
                  <a:buNone/>
                </a:pPr>
                <a:r>
                  <a:rPr lang="en-AU" dirty="0">
                    <a:solidFill>
                      <a:srgbClr val="000000"/>
                    </a:solidFill>
                  </a:rPr>
                  <a:t>which decreased the detected intensity.</a:t>
                </a:r>
              </a:p>
              <a:p>
                <a:endParaRPr lang="en-AU" dirty="0">
                  <a:solidFill>
                    <a:srgbClr val="000000"/>
                  </a:solidFill>
                </a:endParaRPr>
              </a:p>
              <a:p>
                <a:endParaRPr lang="en-AU" dirty="0">
                  <a:solidFill>
                    <a:srgbClr val="000000"/>
                  </a:solidFill>
                </a:endParaRPr>
              </a:p>
              <a:p>
                <a:endParaRPr lang="en-AU" dirty="0"/>
              </a:p>
            </p:txBody>
          </p:sp>
        </mc:Choice>
        <mc:Fallback xmlns="">
          <p:sp>
            <p:nvSpPr>
              <p:cNvPr id="3" name="Content Placeholder 2">
                <a:extLst>
                  <a:ext uri="{FF2B5EF4-FFF2-40B4-BE49-F238E27FC236}">
                    <a16:creationId xmlns:a16="http://schemas.microsoft.com/office/drawing/2014/main" id="{AB5CBA5E-11BC-4FFC-B0D5-CBD45FA11AC0}"/>
                  </a:ext>
                </a:extLst>
              </p:cNvPr>
              <p:cNvSpPr>
                <a:spLocks noGrp="1" noRot="1" noChangeAspect="1" noMove="1" noResize="1" noEditPoints="1" noAdjustHandles="1" noChangeArrowheads="1" noChangeShapeType="1" noTextEdit="1"/>
              </p:cNvSpPr>
              <p:nvPr>
                <p:ph idx="1"/>
              </p:nvPr>
            </p:nvSpPr>
            <p:spPr>
              <a:xfrm>
                <a:off x="902234" y="909220"/>
                <a:ext cx="7704667" cy="5198617"/>
              </a:xfrm>
              <a:blipFill>
                <a:blip r:embed="rId2"/>
                <a:stretch>
                  <a:fillRect l="-1741" t="-15123" r="-316"/>
                </a:stretch>
              </a:blipFill>
            </p:spPr>
            <p:txBody>
              <a:bodyPr/>
              <a:lstStyle/>
              <a:p>
                <a:r>
                  <a:rPr lang="en-AU">
                    <a:noFill/>
                  </a:rPr>
                  <a:t> </a:t>
                </a:r>
              </a:p>
            </p:txBody>
          </p:sp>
        </mc:Fallback>
      </mc:AlternateContent>
      <p:pic>
        <p:nvPicPr>
          <p:cNvPr id="5" name="Picture 4">
            <a:extLst>
              <a:ext uri="{FF2B5EF4-FFF2-40B4-BE49-F238E27FC236}">
                <a16:creationId xmlns:a16="http://schemas.microsoft.com/office/drawing/2014/main" id="{89EE1802-358E-4DB9-B7E7-64C184ADF0C2}"/>
              </a:ext>
            </a:extLst>
          </p:cNvPr>
          <p:cNvPicPr>
            <a:picLocks noChangeAspect="1"/>
          </p:cNvPicPr>
          <p:nvPr/>
        </p:nvPicPr>
        <p:blipFill>
          <a:blip r:embed="rId3"/>
          <a:stretch>
            <a:fillRect/>
          </a:stretch>
        </p:blipFill>
        <p:spPr>
          <a:xfrm>
            <a:off x="5677811" y="3701988"/>
            <a:ext cx="3211407" cy="2310054"/>
          </a:xfrm>
          <a:prstGeom prst="rect">
            <a:avLst/>
          </a:prstGeom>
        </p:spPr>
      </p:pic>
    </p:spTree>
    <p:extLst>
      <p:ext uri="{BB962C8B-B14F-4D97-AF65-F5344CB8AC3E}">
        <p14:creationId xmlns:p14="http://schemas.microsoft.com/office/powerpoint/2010/main" val="35817640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4C4FE-B5FD-40FB-B445-235CBDD64022}"/>
              </a:ext>
            </a:extLst>
          </p:cNvPr>
          <p:cNvSpPr>
            <a:spLocks noGrp="1"/>
          </p:cNvSpPr>
          <p:nvPr>
            <p:ph type="title"/>
          </p:nvPr>
        </p:nvSpPr>
        <p:spPr>
          <a:xfrm>
            <a:off x="982133" y="457201"/>
            <a:ext cx="7704667" cy="803428"/>
          </a:xfrm>
        </p:spPr>
        <p:txBody>
          <a:bodyPr/>
          <a:lstStyle/>
          <a:p>
            <a:r>
              <a:rPr lang="en-AU" dirty="0">
                <a:solidFill>
                  <a:srgbClr val="000000"/>
                </a:solidFill>
              </a:rPr>
              <a:t>Particles as a wave</a:t>
            </a:r>
          </a:p>
        </p:txBody>
      </p:sp>
      <p:sp>
        <p:nvSpPr>
          <p:cNvPr id="3" name="Content Placeholder 2">
            <a:extLst>
              <a:ext uri="{FF2B5EF4-FFF2-40B4-BE49-F238E27FC236}">
                <a16:creationId xmlns:a16="http://schemas.microsoft.com/office/drawing/2014/main" id="{92EF3BD9-3C91-427E-B05E-F2824641A026}"/>
              </a:ext>
            </a:extLst>
          </p:cNvPr>
          <p:cNvSpPr>
            <a:spLocks noGrp="1"/>
          </p:cNvSpPr>
          <p:nvPr>
            <p:ph idx="1"/>
          </p:nvPr>
        </p:nvSpPr>
        <p:spPr>
          <a:xfrm>
            <a:off x="991011" y="1260629"/>
            <a:ext cx="7704667" cy="2831977"/>
          </a:xfrm>
        </p:spPr>
        <p:txBody>
          <a:bodyPr/>
          <a:lstStyle/>
          <a:p>
            <a:r>
              <a:rPr lang="en-AU" dirty="0">
                <a:solidFill>
                  <a:srgbClr val="000000"/>
                </a:solidFill>
              </a:rPr>
              <a:t>Our understanding of particles is they have a defined location at a defined time.</a:t>
            </a:r>
          </a:p>
          <a:p>
            <a:r>
              <a:rPr lang="en-AU" dirty="0">
                <a:solidFill>
                  <a:srgbClr val="000000"/>
                </a:solidFill>
              </a:rPr>
              <a:t>If particles have a wave nature then that means that particles do not have a defined location at a defined time.</a:t>
            </a:r>
          </a:p>
          <a:p>
            <a:r>
              <a:rPr lang="en-AU" dirty="0">
                <a:solidFill>
                  <a:srgbClr val="000000"/>
                </a:solidFill>
              </a:rPr>
              <a:t>Instead particles have a probability distribution of where they could be.  </a:t>
            </a:r>
          </a:p>
        </p:txBody>
      </p:sp>
      <p:pic>
        <p:nvPicPr>
          <p:cNvPr id="6" name="Picture 5">
            <a:extLst>
              <a:ext uri="{FF2B5EF4-FFF2-40B4-BE49-F238E27FC236}">
                <a16:creationId xmlns:a16="http://schemas.microsoft.com/office/drawing/2014/main" id="{85DA8F61-EEF8-4AA6-99CC-3F931C3C6995}"/>
              </a:ext>
            </a:extLst>
          </p:cNvPr>
          <p:cNvPicPr>
            <a:picLocks noChangeAspect="1"/>
          </p:cNvPicPr>
          <p:nvPr/>
        </p:nvPicPr>
        <p:blipFill>
          <a:blip r:embed="rId2"/>
          <a:stretch>
            <a:fillRect/>
          </a:stretch>
        </p:blipFill>
        <p:spPr>
          <a:xfrm>
            <a:off x="3660605" y="3712576"/>
            <a:ext cx="5267325" cy="3019425"/>
          </a:xfrm>
          <a:prstGeom prst="rect">
            <a:avLst/>
          </a:prstGeom>
        </p:spPr>
      </p:pic>
    </p:spTree>
    <p:extLst>
      <p:ext uri="{BB962C8B-B14F-4D97-AF65-F5344CB8AC3E}">
        <p14:creationId xmlns:p14="http://schemas.microsoft.com/office/powerpoint/2010/main" val="390725763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224BAE-9834-47FF-9FE9-47EA0D8BCB38}"/>
              </a:ext>
            </a:extLst>
          </p:cNvPr>
          <p:cNvSpPr>
            <a:spLocks noGrp="1"/>
          </p:cNvSpPr>
          <p:nvPr>
            <p:ph idx="1"/>
          </p:nvPr>
        </p:nvSpPr>
        <p:spPr>
          <a:xfrm>
            <a:off x="1026521" y="136863"/>
            <a:ext cx="7704667" cy="3600635"/>
          </a:xfrm>
        </p:spPr>
        <p:txBody>
          <a:bodyPr/>
          <a:lstStyle/>
          <a:p>
            <a:r>
              <a:rPr lang="en-AU" dirty="0">
                <a:solidFill>
                  <a:srgbClr val="000000"/>
                </a:solidFill>
              </a:rPr>
              <a:t>Electron interference patterns build up in terms of probability distribution.   </a:t>
            </a:r>
          </a:p>
          <a:p>
            <a:r>
              <a:rPr lang="en-AU" dirty="0">
                <a:solidFill>
                  <a:srgbClr val="000000"/>
                </a:solidFill>
              </a:rPr>
              <a:t>There is a finite probability of the electron appearing at each point on the screen.</a:t>
            </a:r>
          </a:p>
          <a:p>
            <a:r>
              <a:rPr lang="en-AU" dirty="0">
                <a:solidFill>
                  <a:srgbClr val="000000"/>
                </a:solidFill>
              </a:rPr>
              <a:t>After many single events the pattern emerges.</a:t>
            </a:r>
          </a:p>
          <a:p>
            <a:r>
              <a:rPr lang="en-AU" dirty="0">
                <a:solidFill>
                  <a:srgbClr val="000000"/>
                </a:solidFill>
              </a:rPr>
              <a:t>What is interfering is the probability wave.</a:t>
            </a:r>
          </a:p>
        </p:txBody>
      </p:sp>
      <p:pic>
        <p:nvPicPr>
          <p:cNvPr id="4" name="Picture 3">
            <a:extLst>
              <a:ext uri="{FF2B5EF4-FFF2-40B4-BE49-F238E27FC236}">
                <a16:creationId xmlns:a16="http://schemas.microsoft.com/office/drawing/2014/main" id="{72D0E2CD-E259-4F35-B4A8-AAC12674BDE5}"/>
              </a:ext>
            </a:extLst>
          </p:cNvPr>
          <p:cNvPicPr>
            <a:picLocks noChangeAspect="1"/>
          </p:cNvPicPr>
          <p:nvPr/>
        </p:nvPicPr>
        <p:blipFill>
          <a:blip r:embed="rId2"/>
          <a:stretch>
            <a:fillRect/>
          </a:stretch>
        </p:blipFill>
        <p:spPr>
          <a:xfrm>
            <a:off x="1248996" y="3956052"/>
            <a:ext cx="7895004" cy="2901948"/>
          </a:xfrm>
          <a:prstGeom prst="rect">
            <a:avLst/>
          </a:prstGeom>
        </p:spPr>
      </p:pic>
    </p:spTree>
    <p:extLst>
      <p:ext uri="{BB962C8B-B14F-4D97-AF65-F5344CB8AC3E}">
        <p14:creationId xmlns:p14="http://schemas.microsoft.com/office/powerpoint/2010/main" val="32144274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4CDAA-B69B-4F70-B6A1-B73068499037}"/>
              </a:ext>
            </a:extLst>
          </p:cNvPr>
          <p:cNvSpPr>
            <a:spLocks noGrp="1"/>
          </p:cNvSpPr>
          <p:nvPr>
            <p:ph type="title"/>
          </p:nvPr>
        </p:nvSpPr>
        <p:spPr>
          <a:xfrm>
            <a:off x="372863" y="457201"/>
            <a:ext cx="8620218" cy="1105269"/>
          </a:xfrm>
        </p:spPr>
        <p:txBody>
          <a:bodyPr>
            <a:normAutofit/>
          </a:bodyPr>
          <a:lstStyle/>
          <a:p>
            <a:r>
              <a:rPr lang="en-AU" sz="3200">
                <a:solidFill>
                  <a:srgbClr val="000000"/>
                </a:solidFill>
              </a:rPr>
              <a:t>Young’s double slit experiment with electrons</a:t>
            </a:r>
            <a:endParaRPr lang="en-AU" sz="3200" dirty="0">
              <a:solidFill>
                <a:srgbClr val="000000"/>
              </a:solidFill>
            </a:endParaRPr>
          </a:p>
        </p:txBody>
      </p:sp>
      <p:sp>
        <p:nvSpPr>
          <p:cNvPr id="3" name="Content Placeholder 2">
            <a:extLst>
              <a:ext uri="{FF2B5EF4-FFF2-40B4-BE49-F238E27FC236}">
                <a16:creationId xmlns:a16="http://schemas.microsoft.com/office/drawing/2014/main" id="{EF3995BA-9E7A-451F-A660-FE3C52BC4340}"/>
              </a:ext>
            </a:extLst>
          </p:cNvPr>
          <p:cNvSpPr>
            <a:spLocks noGrp="1"/>
          </p:cNvSpPr>
          <p:nvPr>
            <p:ph idx="1"/>
          </p:nvPr>
        </p:nvSpPr>
        <p:spPr>
          <a:xfrm>
            <a:off x="674703" y="1406371"/>
            <a:ext cx="8052047" cy="1833979"/>
          </a:xfrm>
        </p:spPr>
        <p:txBody>
          <a:bodyPr/>
          <a:lstStyle/>
          <a:p>
            <a:r>
              <a:rPr lang="en-AU">
                <a:solidFill>
                  <a:srgbClr val="000000"/>
                </a:solidFill>
              </a:rPr>
              <a:t>In this version we replace the photons with electrons.  The resulting pattern on the viewing screen is the same as observed with photons – a pattern of high intensity regions and low intensity regions.</a:t>
            </a:r>
            <a:endParaRPr lang="en-AU" dirty="0">
              <a:solidFill>
                <a:srgbClr val="000000"/>
              </a:solidFill>
            </a:endParaRPr>
          </a:p>
        </p:txBody>
      </p:sp>
      <p:pic>
        <p:nvPicPr>
          <p:cNvPr id="5" name="Picture 4">
            <a:extLst>
              <a:ext uri="{FF2B5EF4-FFF2-40B4-BE49-F238E27FC236}">
                <a16:creationId xmlns:a16="http://schemas.microsoft.com/office/drawing/2014/main" id="{877CD8D8-B3F7-4023-8954-6CE6A78E6E5E}"/>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108327" y="3173675"/>
            <a:ext cx="4762500" cy="3333750"/>
          </a:xfrm>
          <a:prstGeom prst="rect">
            <a:avLst/>
          </a:prstGeom>
        </p:spPr>
      </p:pic>
      <p:sp>
        <p:nvSpPr>
          <p:cNvPr id="6" name="TextBox 5">
            <a:extLst>
              <a:ext uri="{FF2B5EF4-FFF2-40B4-BE49-F238E27FC236}">
                <a16:creationId xmlns:a16="http://schemas.microsoft.com/office/drawing/2014/main" id="{BA1D8EBC-1ABF-4489-A9E6-03CF32FEC714}"/>
              </a:ext>
            </a:extLst>
          </p:cNvPr>
          <p:cNvSpPr txBox="1"/>
          <p:nvPr/>
        </p:nvSpPr>
        <p:spPr>
          <a:xfrm>
            <a:off x="985421" y="3320249"/>
            <a:ext cx="2867488" cy="3046988"/>
          </a:xfrm>
          <a:prstGeom prst="rect">
            <a:avLst/>
          </a:prstGeom>
          <a:noFill/>
        </p:spPr>
        <p:txBody>
          <a:bodyPr wrap="square" rtlCol="0">
            <a:spAutoFit/>
          </a:bodyPr>
          <a:lstStyle/>
          <a:p>
            <a:pPr marL="342900" indent="-342900">
              <a:buFont typeface="Arial" panose="020B0604020202020204" pitchFamily="34" charset="0"/>
              <a:buChar char="•"/>
            </a:pPr>
            <a:r>
              <a:rPr lang="en-AU" sz="2400" dirty="0">
                <a:solidFill>
                  <a:srgbClr val="000000"/>
                </a:solidFill>
              </a:rPr>
              <a:t>Diffraction and interference occurs.</a:t>
            </a:r>
          </a:p>
          <a:p>
            <a:pPr marL="342900" indent="-342900">
              <a:buFont typeface="Arial" panose="020B0604020202020204" pitchFamily="34" charset="0"/>
              <a:buChar char="•"/>
            </a:pPr>
            <a:r>
              <a:rPr lang="en-AU" sz="2400" dirty="0">
                <a:solidFill>
                  <a:srgbClr val="000000"/>
                </a:solidFill>
              </a:rPr>
              <a:t>This pattern can only be explained if the electrons have a wave like nature</a:t>
            </a:r>
          </a:p>
        </p:txBody>
      </p:sp>
    </p:spTree>
    <p:extLst>
      <p:ext uri="{BB962C8B-B14F-4D97-AF65-F5344CB8AC3E}">
        <p14:creationId xmlns:p14="http://schemas.microsoft.com/office/powerpoint/2010/main" val="10628424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4F93C75-AFDF-49DD-B6ED-41568E29D746}"/>
                  </a:ext>
                </a:extLst>
              </p:cNvPr>
              <p:cNvSpPr>
                <a:spLocks noGrp="1"/>
              </p:cNvSpPr>
              <p:nvPr>
                <p:ph idx="1"/>
              </p:nvPr>
            </p:nvSpPr>
            <p:spPr>
              <a:xfrm>
                <a:off x="973255" y="261151"/>
                <a:ext cx="7704667" cy="5092084"/>
              </a:xfrm>
            </p:spPr>
            <p:txBody>
              <a:bodyPr/>
              <a:lstStyle/>
              <a:p>
                <a:pPr marL="0" indent="0">
                  <a:buNone/>
                </a:pPr>
                <a:r>
                  <a:rPr lang="en-AU" dirty="0">
                    <a:solidFill>
                      <a:srgbClr val="000000"/>
                    </a:solidFill>
                  </a:rPr>
                  <a:t>Question:  What is the wavelength of an electron moving at a velocity of </a:t>
                </a:r>
                <a14:m>
                  <m:oMath xmlns:m="http://schemas.openxmlformats.org/officeDocument/2006/math">
                    <m:r>
                      <a:rPr lang="en-AU" b="0" i="1" smtClean="0">
                        <a:solidFill>
                          <a:srgbClr val="000000"/>
                        </a:solidFill>
                        <a:latin typeface="Cambria Math" panose="02040503050406030204" pitchFamily="18" charset="0"/>
                      </a:rPr>
                      <m:t>3.00</m:t>
                    </m:r>
                    <m:r>
                      <a:rPr lang="en-AU" b="0" i="1" smtClean="0">
                        <a:solidFill>
                          <a:srgbClr val="000000"/>
                        </a:solidFill>
                        <a:latin typeface="Cambria Math" panose="02040503050406030204" pitchFamily="18" charset="0"/>
                        <a:ea typeface="Cambria Math" panose="02040503050406030204" pitchFamily="18" charset="0"/>
                      </a:rPr>
                      <m:t>×</m:t>
                    </m:r>
                    <m:sSup>
                      <m:sSupPr>
                        <m:ctrlPr>
                          <a:rPr lang="en-AU" b="0" i="1" smtClean="0">
                            <a:solidFill>
                              <a:srgbClr val="000000"/>
                            </a:solidFill>
                            <a:latin typeface="Cambria Math" panose="02040503050406030204" pitchFamily="18" charset="0"/>
                            <a:ea typeface="Cambria Math" panose="02040503050406030204" pitchFamily="18" charset="0"/>
                          </a:rPr>
                        </m:ctrlPr>
                      </m:sSupPr>
                      <m:e>
                        <m:r>
                          <a:rPr lang="en-AU" b="0" i="1" smtClean="0">
                            <a:solidFill>
                              <a:srgbClr val="000000"/>
                            </a:solidFill>
                            <a:latin typeface="Cambria Math" panose="02040503050406030204" pitchFamily="18" charset="0"/>
                            <a:ea typeface="Cambria Math" panose="02040503050406030204" pitchFamily="18" charset="0"/>
                          </a:rPr>
                          <m:t>10</m:t>
                        </m:r>
                      </m:e>
                      <m:sup>
                        <m:r>
                          <a:rPr lang="en-AU" b="0" i="1" smtClean="0">
                            <a:solidFill>
                              <a:srgbClr val="000000"/>
                            </a:solidFill>
                            <a:latin typeface="Cambria Math" panose="02040503050406030204" pitchFamily="18" charset="0"/>
                            <a:ea typeface="Cambria Math" panose="02040503050406030204" pitchFamily="18" charset="0"/>
                          </a:rPr>
                          <m:t>5</m:t>
                        </m:r>
                      </m:sup>
                    </m:sSup>
                    <m:r>
                      <a:rPr lang="en-AU" b="0" i="1" smtClean="0">
                        <a:solidFill>
                          <a:srgbClr val="000000"/>
                        </a:solidFill>
                        <a:latin typeface="Cambria Math" panose="02040503050406030204" pitchFamily="18" charset="0"/>
                        <a:ea typeface="Cambria Math" panose="02040503050406030204" pitchFamily="18" charset="0"/>
                      </a:rPr>
                      <m:t>𝑚</m:t>
                    </m:r>
                    <m:r>
                      <a:rPr lang="en-AU" b="0" i="1" smtClean="0">
                        <a:solidFill>
                          <a:srgbClr val="000000"/>
                        </a:solidFill>
                        <a:latin typeface="Cambria Math" panose="02040503050406030204" pitchFamily="18" charset="0"/>
                        <a:ea typeface="Cambria Math" panose="02040503050406030204" pitchFamily="18" charset="0"/>
                      </a:rPr>
                      <m:t> </m:t>
                    </m:r>
                    <m:sSup>
                      <m:sSupPr>
                        <m:ctrlPr>
                          <a:rPr lang="en-AU" b="0" i="1" smtClean="0">
                            <a:solidFill>
                              <a:srgbClr val="000000"/>
                            </a:solidFill>
                            <a:latin typeface="Cambria Math" panose="02040503050406030204" pitchFamily="18" charset="0"/>
                            <a:ea typeface="Cambria Math" panose="02040503050406030204" pitchFamily="18" charset="0"/>
                          </a:rPr>
                        </m:ctrlPr>
                      </m:sSupPr>
                      <m:e>
                        <m:r>
                          <a:rPr lang="en-AU" b="0" i="1" smtClean="0">
                            <a:solidFill>
                              <a:srgbClr val="000000"/>
                            </a:solidFill>
                            <a:latin typeface="Cambria Math" panose="02040503050406030204" pitchFamily="18" charset="0"/>
                            <a:ea typeface="Cambria Math" panose="02040503050406030204" pitchFamily="18" charset="0"/>
                          </a:rPr>
                          <m:t>𝑠</m:t>
                        </m:r>
                      </m:e>
                      <m:sup>
                        <m:r>
                          <a:rPr lang="en-AU" b="0" i="1" smtClean="0">
                            <a:solidFill>
                              <a:srgbClr val="000000"/>
                            </a:solidFill>
                            <a:latin typeface="Cambria Math" panose="02040503050406030204" pitchFamily="18" charset="0"/>
                            <a:ea typeface="Cambria Math" panose="02040503050406030204" pitchFamily="18" charset="0"/>
                          </a:rPr>
                          <m:t>−1</m:t>
                        </m:r>
                      </m:sup>
                    </m:sSup>
                  </m:oMath>
                </a14:m>
                <a:r>
                  <a:rPr lang="en-AU" dirty="0">
                    <a:solidFill>
                      <a:srgbClr val="000000"/>
                    </a:solidFill>
                  </a:rPr>
                  <a:t>?</a:t>
                </a:r>
              </a:p>
              <a:p>
                <a:pPr marL="0" indent="0">
                  <a:buNone/>
                </a:pPr>
                <a:endParaRPr lang="en-AU" dirty="0">
                  <a:solidFill>
                    <a:srgbClr val="000000"/>
                  </a:solidFill>
                </a:endParaRPr>
              </a:p>
              <a:p>
                <a:pPr marL="0" indent="0">
                  <a:buNone/>
                </a:pPr>
                <a:endParaRPr lang="en-AU" dirty="0">
                  <a:solidFill>
                    <a:srgbClr val="000000"/>
                  </a:solidFill>
                </a:endParaRPr>
              </a:p>
              <a:p>
                <a:pPr marL="0" indent="0">
                  <a:buNone/>
                </a:pPr>
                <a:endParaRPr lang="en-AU" dirty="0">
                  <a:solidFill>
                    <a:srgbClr val="000000"/>
                  </a:solidFill>
                </a:endParaRPr>
              </a:p>
              <a:p>
                <a:pPr marL="0" indent="0">
                  <a:buNone/>
                </a:pPr>
                <a:endParaRPr lang="en-AU" dirty="0">
                  <a:solidFill>
                    <a:srgbClr val="000000"/>
                  </a:solidFill>
                </a:endParaRPr>
              </a:p>
            </p:txBody>
          </p:sp>
        </mc:Choice>
        <mc:Fallback xmlns="">
          <p:sp>
            <p:nvSpPr>
              <p:cNvPr id="3" name="Content Placeholder 2">
                <a:extLst>
                  <a:ext uri="{FF2B5EF4-FFF2-40B4-BE49-F238E27FC236}">
                    <a16:creationId xmlns:a16="http://schemas.microsoft.com/office/drawing/2014/main" id="{F4F93C75-AFDF-49DD-B6ED-41568E29D746}"/>
                  </a:ext>
                </a:extLst>
              </p:cNvPr>
              <p:cNvSpPr>
                <a:spLocks noGrp="1" noRot="1" noChangeAspect="1" noMove="1" noResize="1" noEditPoints="1" noAdjustHandles="1" noChangeArrowheads="1" noChangeShapeType="1" noTextEdit="1"/>
              </p:cNvSpPr>
              <p:nvPr>
                <p:ph idx="1"/>
              </p:nvPr>
            </p:nvSpPr>
            <p:spPr>
              <a:xfrm>
                <a:off x="973255" y="261151"/>
                <a:ext cx="7704667" cy="5092084"/>
              </a:xfrm>
              <a:blipFill>
                <a:blip r:embed="rId2"/>
                <a:stretch>
                  <a:fillRect l="-1266"/>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E8B9B5B8-D92B-4273-A65B-402FF1435B63}"/>
                  </a:ext>
                </a:extLst>
              </p:cNvPr>
              <p:cNvSpPr txBox="1"/>
              <p:nvPr/>
            </p:nvSpPr>
            <p:spPr>
              <a:xfrm>
                <a:off x="976544" y="2814222"/>
                <a:ext cx="7723573" cy="716030"/>
              </a:xfrm>
              <a:prstGeom prst="rect">
                <a:avLst/>
              </a:prstGeom>
              <a:noFill/>
            </p:spPr>
            <p:txBody>
              <a:bodyPr wrap="square" rtlCol="0">
                <a:spAutoFit/>
              </a:bodyPr>
              <a:lstStyle/>
              <a:p>
                <a:r>
                  <a:rPr lang="en-AU" sz="2400" dirty="0">
                    <a:solidFill>
                      <a:srgbClr val="000000"/>
                    </a:solidFill>
                  </a:rPr>
                  <a:t>Answer:  </a:t>
                </a:r>
                <a14:m>
                  <m:oMath xmlns:m="http://schemas.openxmlformats.org/officeDocument/2006/math">
                    <m:r>
                      <m:rPr>
                        <m:sty m:val="p"/>
                      </m:rPr>
                      <a:rPr lang="el-GR" sz="2400" i="1" smtClean="0">
                        <a:solidFill>
                          <a:srgbClr val="000000"/>
                        </a:solidFill>
                        <a:latin typeface="Cambria Math" panose="02040503050406030204" pitchFamily="18" charset="0"/>
                      </a:rPr>
                      <m:t>λ</m:t>
                    </m:r>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rPr>
                        </m:ctrlPr>
                      </m:fPr>
                      <m:num>
                        <m:r>
                          <a:rPr lang="en-AU" sz="2400" b="0" i="1" smtClean="0">
                            <a:solidFill>
                              <a:srgbClr val="000000"/>
                            </a:solidFill>
                            <a:latin typeface="Cambria Math" panose="02040503050406030204" pitchFamily="18" charset="0"/>
                          </a:rPr>
                          <m:t>h</m:t>
                        </m:r>
                      </m:num>
                      <m:den>
                        <m:r>
                          <a:rPr lang="en-AU" sz="2400" b="0" i="1" smtClean="0">
                            <a:solidFill>
                              <a:srgbClr val="000000"/>
                            </a:solidFill>
                            <a:latin typeface="Cambria Math" panose="02040503050406030204" pitchFamily="18" charset="0"/>
                          </a:rPr>
                          <m:t>𝑚𝑣</m:t>
                        </m:r>
                      </m:den>
                    </m:f>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ea typeface="Cambria Math" panose="02040503050406030204" pitchFamily="18" charset="0"/>
                          </a:rPr>
                        </m:ctrlPr>
                      </m:fPr>
                      <m:num>
                        <m:r>
                          <a:rPr lang="en-AU" sz="2400" b="0" i="1" smtClean="0">
                            <a:solidFill>
                              <a:srgbClr val="000000"/>
                            </a:solidFill>
                            <a:latin typeface="Cambria Math" panose="02040503050406030204" pitchFamily="18" charset="0"/>
                          </a:rPr>
                          <m:t>6.63</m:t>
                        </m:r>
                        <m:r>
                          <a:rPr lang="en-AU" sz="2400" b="0" i="1" smtClean="0">
                            <a:solidFill>
                              <a:srgbClr val="000000"/>
                            </a:solidFill>
                            <a:latin typeface="Cambria Math" panose="02040503050406030204" pitchFamily="18" charset="0"/>
                            <a:ea typeface="Cambria Math" panose="02040503050406030204" pitchFamily="18" charset="0"/>
                          </a:rPr>
                          <m:t>×</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−34</m:t>
                            </m:r>
                          </m:sup>
                        </m:sSup>
                      </m:num>
                      <m:den>
                        <m:r>
                          <a:rPr lang="en-AU" sz="2400" b="0" i="1" smtClean="0">
                            <a:solidFill>
                              <a:srgbClr val="000000"/>
                            </a:solidFill>
                            <a:latin typeface="Cambria Math" panose="02040503050406030204" pitchFamily="18" charset="0"/>
                            <a:ea typeface="Cambria Math" panose="02040503050406030204" pitchFamily="18" charset="0"/>
                          </a:rPr>
                          <m:t>9.11×</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−31</m:t>
                            </m:r>
                          </m:sup>
                        </m:sSup>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3.00×</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5</m:t>
                                </m:r>
                              </m:sup>
                            </m:sSup>
                          </m:e>
                        </m:d>
                      </m:den>
                    </m:f>
                    <m:r>
                      <a:rPr lang="en-AU" sz="2400" b="0" i="1" smtClean="0">
                        <a:solidFill>
                          <a:srgbClr val="000000"/>
                        </a:solidFill>
                        <a:latin typeface="Cambria Math" panose="02040503050406030204" pitchFamily="18" charset="0"/>
                        <a:ea typeface="Cambria Math" panose="02040503050406030204" pitchFamily="18" charset="0"/>
                      </a:rPr>
                      <m:t>=2.43×</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−9</m:t>
                        </m:r>
                      </m:sup>
                    </m:sSup>
                    <m:r>
                      <a:rPr lang="en-AU" sz="2400" b="0" i="1" smtClean="0">
                        <a:solidFill>
                          <a:srgbClr val="000000"/>
                        </a:solidFill>
                        <a:latin typeface="Cambria Math" panose="02040503050406030204" pitchFamily="18" charset="0"/>
                        <a:ea typeface="Cambria Math" panose="02040503050406030204" pitchFamily="18" charset="0"/>
                      </a:rPr>
                      <m:t>𝑚</m:t>
                    </m:r>
                  </m:oMath>
                </a14:m>
                <a:endParaRPr lang="en-AU" sz="2400" dirty="0">
                  <a:solidFill>
                    <a:srgbClr val="000000"/>
                  </a:solidFill>
                </a:endParaRPr>
              </a:p>
            </p:txBody>
          </p:sp>
        </mc:Choice>
        <mc:Fallback xmlns="">
          <p:sp>
            <p:nvSpPr>
              <p:cNvPr id="5" name="TextBox 4">
                <a:extLst>
                  <a:ext uri="{FF2B5EF4-FFF2-40B4-BE49-F238E27FC236}">
                    <a16:creationId xmlns:a16="http://schemas.microsoft.com/office/drawing/2014/main" id="{E8B9B5B8-D92B-4273-A65B-402FF1435B63}"/>
                  </a:ext>
                </a:extLst>
              </p:cNvPr>
              <p:cNvSpPr txBox="1">
                <a:spLocks noRot="1" noChangeAspect="1" noMove="1" noResize="1" noEditPoints="1" noAdjustHandles="1" noChangeArrowheads="1" noChangeShapeType="1" noTextEdit="1"/>
              </p:cNvSpPr>
              <p:nvPr/>
            </p:nvSpPr>
            <p:spPr>
              <a:xfrm>
                <a:off x="976544" y="2814222"/>
                <a:ext cx="7723573" cy="716030"/>
              </a:xfrm>
              <a:prstGeom prst="rect">
                <a:avLst/>
              </a:prstGeom>
              <a:blipFill>
                <a:blip r:embed="rId3"/>
                <a:stretch>
                  <a:fillRect l="-1184" b="-1709"/>
                </a:stretch>
              </a:blipFill>
            </p:spPr>
            <p:txBody>
              <a:bodyPr/>
              <a:lstStyle/>
              <a:p>
                <a:r>
                  <a:rPr lang="en-AU">
                    <a:noFill/>
                  </a:rPr>
                  <a:t> </a:t>
                </a:r>
              </a:p>
            </p:txBody>
          </p:sp>
        </mc:Fallback>
      </mc:AlternateContent>
      <p:sp>
        <p:nvSpPr>
          <p:cNvPr id="7" name="TextBox 6">
            <a:extLst>
              <a:ext uri="{FF2B5EF4-FFF2-40B4-BE49-F238E27FC236}">
                <a16:creationId xmlns:a16="http://schemas.microsoft.com/office/drawing/2014/main" id="{CAEC5ADA-A4C0-4336-B2C1-DECAFD8CF61E}"/>
              </a:ext>
            </a:extLst>
          </p:cNvPr>
          <p:cNvSpPr txBox="1"/>
          <p:nvPr/>
        </p:nvSpPr>
        <p:spPr>
          <a:xfrm>
            <a:off x="1136342" y="3888419"/>
            <a:ext cx="7102136" cy="2308324"/>
          </a:xfrm>
          <a:prstGeom prst="rect">
            <a:avLst/>
          </a:prstGeom>
          <a:noFill/>
        </p:spPr>
        <p:txBody>
          <a:bodyPr wrap="square" rtlCol="0">
            <a:spAutoFit/>
          </a:bodyPr>
          <a:lstStyle/>
          <a:p>
            <a:r>
              <a:rPr lang="en-AU" sz="2400" dirty="0">
                <a:solidFill>
                  <a:srgbClr val="000000"/>
                </a:solidFill>
              </a:rPr>
              <a:t>Note:  The size of the wavelength for the electron is much greater than the size of the electron.  For everyday particles (like a basketball moving at a given velocity) the wavelength is smaller than the size of the object.  This is why we do not see wave properties in everyday objects. </a:t>
            </a:r>
          </a:p>
        </p:txBody>
      </p:sp>
    </p:spTree>
    <p:extLst>
      <p:ext uri="{BB962C8B-B14F-4D97-AF65-F5344CB8AC3E}">
        <p14:creationId xmlns:p14="http://schemas.microsoft.com/office/powerpoint/2010/main" val="208821493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46B1A9C0-E560-41D9-8C2D-61F5A8BFCDAE}"/>
                  </a:ext>
                </a:extLst>
              </p:cNvPr>
              <p:cNvSpPr>
                <a:spLocks noGrp="1"/>
              </p:cNvSpPr>
              <p:nvPr>
                <p:ph idx="1"/>
              </p:nvPr>
            </p:nvSpPr>
            <p:spPr>
              <a:xfrm>
                <a:off x="840090" y="403194"/>
                <a:ext cx="7704667" cy="2126942"/>
              </a:xfrm>
            </p:spPr>
            <p:txBody>
              <a:bodyPr/>
              <a:lstStyle/>
              <a:p>
                <a:pPr marL="0" indent="0">
                  <a:buNone/>
                </a:pPr>
                <a:r>
                  <a:rPr lang="en-AU" dirty="0">
                    <a:solidFill>
                      <a:srgbClr val="000000"/>
                    </a:solidFill>
                  </a:rPr>
                  <a:t>Question:  What is the de Broglie wavelength of an electron moving with a kinetic energy of </a:t>
                </a:r>
                <a14:m>
                  <m:oMath xmlns:m="http://schemas.openxmlformats.org/officeDocument/2006/math">
                    <m:r>
                      <a:rPr lang="en-AU" i="1">
                        <a:solidFill>
                          <a:srgbClr val="000000"/>
                        </a:solidFill>
                        <a:latin typeface="Cambria Math" panose="02040503050406030204" pitchFamily="18" charset="0"/>
                      </a:rPr>
                      <m:t>2.00</m:t>
                    </m:r>
                    <m:r>
                      <a:rPr lang="en-AU" i="1">
                        <a:solidFill>
                          <a:srgbClr val="000000"/>
                        </a:solidFill>
                        <a:latin typeface="Cambria Math" panose="02040503050406030204" pitchFamily="18" charset="0"/>
                        <a:ea typeface="Cambria Math" panose="02040503050406030204" pitchFamily="18" charset="0"/>
                      </a:rPr>
                      <m:t>×</m:t>
                    </m:r>
                    <m:sSup>
                      <m:sSupPr>
                        <m:ctrlPr>
                          <a:rPr lang="en-AU" i="1">
                            <a:solidFill>
                              <a:srgbClr val="000000"/>
                            </a:solidFill>
                            <a:latin typeface="Cambria Math" panose="02040503050406030204" pitchFamily="18" charset="0"/>
                            <a:ea typeface="Cambria Math" panose="02040503050406030204" pitchFamily="18" charset="0"/>
                          </a:rPr>
                        </m:ctrlPr>
                      </m:sSupPr>
                      <m:e>
                        <m:r>
                          <a:rPr lang="en-AU" i="1">
                            <a:solidFill>
                              <a:srgbClr val="000000"/>
                            </a:solidFill>
                            <a:latin typeface="Cambria Math" panose="02040503050406030204" pitchFamily="18" charset="0"/>
                            <a:ea typeface="Cambria Math" panose="02040503050406030204" pitchFamily="18" charset="0"/>
                          </a:rPr>
                          <m:t>10</m:t>
                        </m:r>
                      </m:e>
                      <m:sup>
                        <m:r>
                          <a:rPr lang="en-AU" i="1">
                            <a:solidFill>
                              <a:srgbClr val="000000"/>
                            </a:solidFill>
                            <a:latin typeface="Cambria Math" panose="02040503050406030204" pitchFamily="18" charset="0"/>
                            <a:ea typeface="Cambria Math" panose="02040503050406030204" pitchFamily="18" charset="0"/>
                          </a:rPr>
                          <m:t>4</m:t>
                        </m:r>
                      </m:sup>
                    </m:sSup>
                    <m:r>
                      <a:rPr lang="en-AU" i="1">
                        <a:solidFill>
                          <a:srgbClr val="000000"/>
                        </a:solidFill>
                        <a:latin typeface="Cambria Math" panose="02040503050406030204" pitchFamily="18" charset="0"/>
                        <a:ea typeface="Cambria Math" panose="02040503050406030204" pitchFamily="18" charset="0"/>
                      </a:rPr>
                      <m:t> </m:t>
                    </m:r>
                    <m:r>
                      <a:rPr lang="en-AU" i="1">
                        <a:solidFill>
                          <a:srgbClr val="000000"/>
                        </a:solidFill>
                        <a:latin typeface="Cambria Math" panose="02040503050406030204" pitchFamily="18" charset="0"/>
                        <a:ea typeface="Cambria Math" panose="02040503050406030204" pitchFamily="18" charset="0"/>
                      </a:rPr>
                      <m:t>𝑒𝑉</m:t>
                    </m:r>
                  </m:oMath>
                </a14:m>
                <a:r>
                  <a:rPr lang="en-AU" dirty="0">
                    <a:solidFill>
                      <a:srgbClr val="000000"/>
                    </a:solidFill>
                  </a:rPr>
                  <a:t> (discounting relativistic effects)?</a:t>
                </a:r>
              </a:p>
              <a:p>
                <a:endParaRPr lang="en-AU" dirty="0"/>
              </a:p>
            </p:txBody>
          </p:sp>
        </mc:Choice>
        <mc:Fallback xmlns="">
          <p:sp>
            <p:nvSpPr>
              <p:cNvPr id="3" name="Content Placeholder 2">
                <a:extLst>
                  <a:ext uri="{FF2B5EF4-FFF2-40B4-BE49-F238E27FC236}">
                    <a16:creationId xmlns:a16="http://schemas.microsoft.com/office/drawing/2014/main" id="{46B1A9C0-E560-41D9-8C2D-61F5A8BFCDAE}"/>
                  </a:ext>
                </a:extLst>
              </p:cNvPr>
              <p:cNvSpPr>
                <a:spLocks noGrp="1" noRot="1" noChangeAspect="1" noMove="1" noResize="1" noEditPoints="1" noAdjustHandles="1" noChangeArrowheads="1" noChangeShapeType="1" noTextEdit="1"/>
              </p:cNvSpPr>
              <p:nvPr>
                <p:ph idx="1"/>
              </p:nvPr>
            </p:nvSpPr>
            <p:spPr>
              <a:xfrm>
                <a:off x="840090" y="403194"/>
                <a:ext cx="7704667" cy="2126942"/>
              </a:xfrm>
              <a:blipFill>
                <a:blip r:embed="rId2"/>
                <a:stretch>
                  <a:fillRect l="-1266" r="-791"/>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98762A80-FD85-4567-B770-8DFADB84C902}"/>
                  </a:ext>
                </a:extLst>
              </p:cNvPr>
              <p:cNvSpPr txBox="1"/>
              <p:nvPr/>
            </p:nvSpPr>
            <p:spPr>
              <a:xfrm>
                <a:off x="1003177" y="2175029"/>
                <a:ext cx="7563775" cy="3928640"/>
              </a:xfrm>
              <a:prstGeom prst="rect">
                <a:avLst/>
              </a:prstGeom>
              <a:noFill/>
            </p:spPr>
            <p:txBody>
              <a:bodyPr wrap="square" rtlCol="0">
                <a:spAutoFit/>
              </a:bodyPr>
              <a:lstStyle/>
              <a:p>
                <a:r>
                  <a:rPr lang="en-AU" sz="2400" dirty="0">
                    <a:solidFill>
                      <a:srgbClr val="000000"/>
                    </a:solidFill>
                  </a:rPr>
                  <a:t>Answer:    </a:t>
                </a:r>
                <a14:m>
                  <m:oMath xmlns:m="http://schemas.openxmlformats.org/officeDocument/2006/math">
                    <m:sSub>
                      <m:sSubPr>
                        <m:ctrlPr>
                          <a:rPr lang="en-AU" sz="2400" b="0" i="1" smtClean="0">
                            <a:solidFill>
                              <a:srgbClr val="000000"/>
                            </a:solidFill>
                            <a:latin typeface="Cambria Math" panose="02040503050406030204" pitchFamily="18" charset="0"/>
                          </a:rPr>
                        </m:ctrlPr>
                      </m:sSubPr>
                      <m:e>
                        <m:r>
                          <a:rPr lang="en-AU" sz="2400" b="0" i="1" smtClean="0">
                            <a:solidFill>
                              <a:srgbClr val="000000"/>
                            </a:solidFill>
                            <a:latin typeface="Cambria Math" panose="02040503050406030204" pitchFamily="18" charset="0"/>
                          </a:rPr>
                          <m:t>𝐸</m:t>
                        </m:r>
                      </m:e>
                      <m:sub>
                        <m:r>
                          <a:rPr lang="en-AU" sz="2400" b="0" i="1" smtClean="0">
                            <a:solidFill>
                              <a:srgbClr val="000000"/>
                            </a:solidFill>
                            <a:latin typeface="Cambria Math" panose="02040503050406030204" pitchFamily="18" charset="0"/>
                          </a:rPr>
                          <m:t>𝑘</m:t>
                        </m:r>
                      </m:sub>
                    </m:sSub>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rPr>
                        </m:ctrlPr>
                      </m:fPr>
                      <m:num>
                        <m:r>
                          <a:rPr lang="en-AU" sz="2400" b="0" i="1" smtClean="0">
                            <a:solidFill>
                              <a:srgbClr val="000000"/>
                            </a:solidFill>
                            <a:latin typeface="Cambria Math" panose="02040503050406030204" pitchFamily="18" charset="0"/>
                          </a:rPr>
                          <m:t>1</m:t>
                        </m:r>
                      </m:num>
                      <m:den>
                        <m:r>
                          <a:rPr lang="en-AU" sz="2400" b="0" i="1" smtClean="0">
                            <a:solidFill>
                              <a:srgbClr val="000000"/>
                            </a:solidFill>
                            <a:latin typeface="Cambria Math" panose="02040503050406030204" pitchFamily="18" charset="0"/>
                          </a:rPr>
                          <m:t>2</m:t>
                        </m:r>
                      </m:den>
                    </m:f>
                    <m:r>
                      <a:rPr lang="en-AU" sz="2400" b="0" i="1" smtClean="0">
                        <a:solidFill>
                          <a:srgbClr val="000000"/>
                        </a:solidFill>
                        <a:latin typeface="Cambria Math" panose="02040503050406030204" pitchFamily="18" charset="0"/>
                      </a:rPr>
                      <m:t>𝑚</m:t>
                    </m:r>
                    <m:sSup>
                      <m:sSupPr>
                        <m:ctrlPr>
                          <a:rPr lang="en-AU" sz="2400" b="0" i="1" smtClean="0">
                            <a:solidFill>
                              <a:srgbClr val="000000"/>
                            </a:solidFill>
                            <a:latin typeface="Cambria Math" panose="02040503050406030204" pitchFamily="18" charset="0"/>
                          </a:rPr>
                        </m:ctrlPr>
                      </m:sSupPr>
                      <m:e>
                        <m:r>
                          <a:rPr lang="en-AU" sz="2400" b="0" i="1" smtClean="0">
                            <a:solidFill>
                              <a:srgbClr val="000000"/>
                            </a:solidFill>
                            <a:latin typeface="Cambria Math" panose="02040503050406030204" pitchFamily="18" charset="0"/>
                          </a:rPr>
                          <m:t>𝑣</m:t>
                        </m:r>
                      </m:e>
                      <m:sup>
                        <m:r>
                          <a:rPr lang="en-AU" sz="2400" b="0" i="1" smtClean="0">
                            <a:solidFill>
                              <a:srgbClr val="000000"/>
                            </a:solidFill>
                            <a:latin typeface="Cambria Math" panose="02040503050406030204" pitchFamily="18" charset="0"/>
                          </a:rPr>
                          <m:t>2</m:t>
                        </m:r>
                      </m:sup>
                    </m:sSup>
                    <m:r>
                      <a:rPr lang="en-AU" sz="2400" b="0" i="1" smtClean="0">
                        <a:solidFill>
                          <a:srgbClr val="000000"/>
                        </a:solidFill>
                        <a:latin typeface="Cambria Math" panose="02040503050406030204" pitchFamily="18" charset="0"/>
                      </a:rPr>
                      <m:t> </m:t>
                    </m:r>
                  </m:oMath>
                </a14:m>
                <a:r>
                  <a:rPr lang="en-AU" sz="2400" dirty="0">
                    <a:solidFill>
                      <a:srgbClr val="000000"/>
                    </a:solidFill>
                  </a:rPr>
                  <a:t>    so    </a:t>
                </a:r>
                <a14:m>
                  <m:oMath xmlns:m="http://schemas.openxmlformats.org/officeDocument/2006/math">
                    <m:r>
                      <a:rPr lang="en-AU" sz="2400" b="0" i="1" smtClean="0">
                        <a:solidFill>
                          <a:srgbClr val="000000"/>
                        </a:solidFill>
                        <a:latin typeface="Cambria Math" panose="02040503050406030204" pitchFamily="18" charset="0"/>
                      </a:rPr>
                      <m:t>𝑣</m:t>
                    </m:r>
                    <m:r>
                      <a:rPr lang="en-AU" sz="2400" b="0" i="1" smtClean="0">
                        <a:solidFill>
                          <a:srgbClr val="000000"/>
                        </a:solidFill>
                        <a:latin typeface="Cambria Math" panose="02040503050406030204" pitchFamily="18" charset="0"/>
                      </a:rPr>
                      <m:t>=</m:t>
                    </m:r>
                    <m:rad>
                      <m:radPr>
                        <m:degHide m:val="on"/>
                        <m:ctrlPr>
                          <a:rPr lang="en-AU" sz="2400" b="0" i="1" smtClean="0">
                            <a:solidFill>
                              <a:srgbClr val="000000"/>
                            </a:solidFill>
                            <a:latin typeface="Cambria Math" panose="02040503050406030204" pitchFamily="18" charset="0"/>
                          </a:rPr>
                        </m:ctrlPr>
                      </m:radPr>
                      <m:deg/>
                      <m:e>
                        <m:d>
                          <m:dPr>
                            <m:ctrlPr>
                              <a:rPr lang="en-AU" sz="2400" b="0" i="1" smtClean="0">
                                <a:solidFill>
                                  <a:srgbClr val="000000"/>
                                </a:solidFill>
                                <a:latin typeface="Cambria Math" panose="02040503050406030204" pitchFamily="18" charset="0"/>
                              </a:rPr>
                            </m:ctrlPr>
                          </m:dPr>
                          <m:e>
                            <m:f>
                              <m:fPr>
                                <m:ctrlPr>
                                  <a:rPr lang="en-AU" sz="2400" b="0" i="1" smtClean="0">
                                    <a:solidFill>
                                      <a:srgbClr val="000000"/>
                                    </a:solidFill>
                                    <a:latin typeface="Cambria Math" panose="02040503050406030204" pitchFamily="18" charset="0"/>
                                  </a:rPr>
                                </m:ctrlPr>
                              </m:fPr>
                              <m:num>
                                <m:r>
                                  <a:rPr lang="en-AU" sz="2400" b="0" i="1" smtClean="0">
                                    <a:solidFill>
                                      <a:srgbClr val="000000"/>
                                    </a:solidFill>
                                    <a:latin typeface="Cambria Math" panose="02040503050406030204" pitchFamily="18" charset="0"/>
                                  </a:rPr>
                                  <m:t>2</m:t>
                                </m:r>
                                <m:sSub>
                                  <m:sSubPr>
                                    <m:ctrlPr>
                                      <a:rPr lang="en-AU" sz="2400" b="0" i="1" smtClean="0">
                                        <a:solidFill>
                                          <a:srgbClr val="000000"/>
                                        </a:solidFill>
                                        <a:latin typeface="Cambria Math" panose="02040503050406030204" pitchFamily="18" charset="0"/>
                                      </a:rPr>
                                    </m:ctrlPr>
                                  </m:sSubPr>
                                  <m:e>
                                    <m:r>
                                      <a:rPr lang="en-AU" sz="2400" b="0" i="1" smtClean="0">
                                        <a:solidFill>
                                          <a:srgbClr val="000000"/>
                                        </a:solidFill>
                                        <a:latin typeface="Cambria Math" panose="02040503050406030204" pitchFamily="18" charset="0"/>
                                      </a:rPr>
                                      <m:t>𝐸</m:t>
                                    </m:r>
                                  </m:e>
                                  <m:sub>
                                    <m:r>
                                      <a:rPr lang="en-AU" sz="2400" b="0" i="1" smtClean="0">
                                        <a:solidFill>
                                          <a:srgbClr val="000000"/>
                                        </a:solidFill>
                                        <a:latin typeface="Cambria Math" panose="02040503050406030204" pitchFamily="18" charset="0"/>
                                      </a:rPr>
                                      <m:t>𝑘</m:t>
                                    </m:r>
                                  </m:sub>
                                </m:sSub>
                              </m:num>
                              <m:den>
                                <m:r>
                                  <a:rPr lang="en-AU" sz="2400" b="0" i="1" smtClean="0">
                                    <a:solidFill>
                                      <a:srgbClr val="000000"/>
                                    </a:solidFill>
                                    <a:latin typeface="Cambria Math" panose="02040503050406030204" pitchFamily="18" charset="0"/>
                                  </a:rPr>
                                  <m:t>𝑚</m:t>
                                </m:r>
                              </m:den>
                            </m:f>
                          </m:e>
                        </m:d>
                      </m:e>
                    </m:rad>
                  </m:oMath>
                </a14:m>
                <a:endParaRPr lang="en-AU" sz="2400" b="0" dirty="0">
                  <a:solidFill>
                    <a:srgbClr val="000000"/>
                  </a:solidFill>
                  <a:ea typeface="Cambria Math" panose="02040503050406030204" pitchFamily="18" charset="0"/>
                </a:endParaRPr>
              </a:p>
              <a:p>
                <a:endParaRPr lang="en-AU" sz="2400" b="0" dirty="0">
                  <a:solidFill>
                    <a:srgbClr val="000000"/>
                  </a:solidFill>
                  <a:ea typeface="Cambria Math" panose="02040503050406030204" pitchFamily="18" charset="0"/>
                </a:endParaRPr>
              </a:p>
              <a:p>
                <a14:m>
                  <m:oMath xmlns:m="http://schemas.openxmlformats.org/officeDocument/2006/math">
                    <m:sSub>
                      <m:sSubPr>
                        <m:ctrlPr>
                          <a:rPr lang="en-AU" sz="2400" b="0" i="1" smtClean="0">
                            <a:solidFill>
                              <a:srgbClr val="000000"/>
                            </a:solidFill>
                            <a:latin typeface="Cambria Math" panose="02040503050406030204" pitchFamily="18" charset="0"/>
                          </a:rPr>
                        </m:ctrlPr>
                      </m:sSubPr>
                      <m:e>
                        <m:r>
                          <a:rPr lang="en-AU" sz="2400" b="0" i="1" smtClean="0">
                            <a:solidFill>
                              <a:srgbClr val="000000"/>
                            </a:solidFill>
                            <a:latin typeface="Cambria Math" panose="02040503050406030204" pitchFamily="18" charset="0"/>
                          </a:rPr>
                          <m:t>𝐸</m:t>
                        </m:r>
                      </m:e>
                      <m:sub>
                        <m:r>
                          <a:rPr lang="en-AU" sz="2400" b="0" i="1" smtClean="0">
                            <a:solidFill>
                              <a:srgbClr val="000000"/>
                            </a:solidFill>
                            <a:latin typeface="Cambria Math" panose="02040503050406030204" pitchFamily="18" charset="0"/>
                          </a:rPr>
                          <m:t>𝑘</m:t>
                        </m:r>
                      </m:sub>
                    </m:sSub>
                    <m:r>
                      <a:rPr lang="en-AU" sz="2400" b="0" i="1" smtClean="0">
                        <a:solidFill>
                          <a:srgbClr val="000000"/>
                        </a:solidFill>
                        <a:latin typeface="Cambria Math" panose="02040503050406030204" pitchFamily="18" charset="0"/>
                      </a:rPr>
                      <m:t>=</m:t>
                    </m:r>
                    <m:d>
                      <m:dPr>
                        <m:ctrlPr>
                          <a:rPr lang="en-AU" sz="2400" b="0" i="1" smtClean="0">
                            <a:solidFill>
                              <a:srgbClr val="000000"/>
                            </a:solidFill>
                            <a:latin typeface="Cambria Math" panose="02040503050406030204" pitchFamily="18" charset="0"/>
                          </a:rPr>
                        </m:ctrlPr>
                      </m:dPr>
                      <m:e>
                        <m:r>
                          <a:rPr lang="en-AU" sz="2400" b="0" i="1" smtClean="0">
                            <a:solidFill>
                              <a:srgbClr val="000000"/>
                            </a:solidFill>
                            <a:latin typeface="Cambria Math" panose="02040503050406030204" pitchFamily="18" charset="0"/>
                          </a:rPr>
                          <m:t>2</m:t>
                        </m:r>
                        <m:r>
                          <a:rPr lang="en-AU" sz="2400" b="0" i="1" smtClean="0">
                            <a:solidFill>
                              <a:srgbClr val="000000"/>
                            </a:solidFill>
                            <a:latin typeface="Cambria Math" panose="02040503050406030204" pitchFamily="18" charset="0"/>
                            <a:ea typeface="Cambria Math" panose="02040503050406030204" pitchFamily="18" charset="0"/>
                          </a:rPr>
                          <m:t>×</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4</m:t>
                            </m:r>
                          </m:sup>
                        </m:sSup>
                      </m:e>
                    </m:d>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1.6×</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−19</m:t>
                            </m:r>
                          </m:sup>
                        </m:sSup>
                      </m:e>
                    </m:d>
                    <m:r>
                      <a:rPr lang="en-AU" sz="2400" b="0" i="1" smtClean="0">
                        <a:solidFill>
                          <a:srgbClr val="000000"/>
                        </a:solidFill>
                        <a:latin typeface="Cambria Math" panose="02040503050406030204" pitchFamily="18" charset="0"/>
                        <a:ea typeface="Cambria Math" panose="02040503050406030204" pitchFamily="18" charset="0"/>
                      </a:rPr>
                      <m:t>=3.2×</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−15</m:t>
                        </m:r>
                      </m:sup>
                    </m:sSup>
                    <m:r>
                      <a:rPr lang="en-AU" sz="2400" b="0" i="1" smtClean="0">
                        <a:solidFill>
                          <a:srgbClr val="000000"/>
                        </a:solidFill>
                        <a:latin typeface="Cambria Math" panose="02040503050406030204" pitchFamily="18" charset="0"/>
                        <a:ea typeface="Cambria Math" panose="02040503050406030204" pitchFamily="18" charset="0"/>
                      </a:rPr>
                      <m:t>𝐽</m:t>
                    </m:r>
                  </m:oMath>
                </a14:m>
                <a:r>
                  <a:rPr lang="en-AU" sz="2400" dirty="0">
                    <a:solidFill>
                      <a:srgbClr val="000000"/>
                    </a:solidFill>
                  </a:rPr>
                  <a:t>  </a:t>
                </a:r>
              </a:p>
              <a:p>
                <a:endParaRPr lang="en-AU" sz="2400" dirty="0">
                  <a:solidFill>
                    <a:srgbClr val="000000"/>
                  </a:solidFill>
                </a:endParaRPr>
              </a:p>
              <a:p>
                <a:pPr/>
                <a14:m>
                  <m:oMathPara xmlns:m="http://schemas.openxmlformats.org/officeDocument/2006/math">
                    <m:oMathParaPr>
                      <m:jc m:val="centerGroup"/>
                    </m:oMathParaPr>
                    <m:oMath xmlns:m="http://schemas.openxmlformats.org/officeDocument/2006/math">
                      <m:r>
                        <a:rPr lang="en-AU" sz="2400" b="0" i="1" smtClean="0">
                          <a:solidFill>
                            <a:srgbClr val="000000"/>
                          </a:solidFill>
                          <a:latin typeface="Cambria Math" panose="02040503050406030204" pitchFamily="18" charset="0"/>
                        </a:rPr>
                        <m:t>𝑣</m:t>
                      </m:r>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ea typeface="Cambria Math" panose="02040503050406030204" pitchFamily="18" charset="0"/>
                            </a:rPr>
                          </m:ctrlPr>
                        </m:fPr>
                        <m:num>
                          <m:rad>
                            <m:radPr>
                              <m:degHide m:val="on"/>
                              <m:ctrlPr>
                                <a:rPr lang="en-AU" sz="2400" b="0" i="1" smtClean="0">
                                  <a:solidFill>
                                    <a:srgbClr val="000000"/>
                                  </a:solidFill>
                                  <a:latin typeface="Cambria Math" panose="02040503050406030204" pitchFamily="18" charset="0"/>
                                  <a:ea typeface="Cambria Math" panose="02040503050406030204" pitchFamily="18" charset="0"/>
                                </a:rPr>
                              </m:ctrlPr>
                            </m:radPr>
                            <m:deg/>
                            <m:e>
                              <m:r>
                                <a:rPr lang="en-AU" sz="2400" b="0" i="1" smtClean="0">
                                  <a:solidFill>
                                    <a:srgbClr val="000000"/>
                                  </a:solidFill>
                                  <a:latin typeface="Cambria Math" panose="02040503050406030204" pitchFamily="18" charset="0"/>
                                  <a:ea typeface="Cambria Math" panose="02040503050406030204" pitchFamily="18" charset="0"/>
                                </a:rPr>
                                <m:t>2</m:t>
                              </m:r>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3.2×</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−15</m:t>
                                      </m:r>
                                    </m:sup>
                                  </m:sSup>
                                </m:e>
                              </m:d>
                            </m:e>
                          </m:rad>
                        </m:num>
                        <m:den>
                          <m:r>
                            <a:rPr lang="en-AU" sz="2400" b="0" i="1" smtClean="0">
                              <a:solidFill>
                                <a:srgbClr val="000000"/>
                              </a:solidFill>
                              <a:latin typeface="Cambria Math" panose="02040503050406030204" pitchFamily="18" charset="0"/>
                              <a:ea typeface="Cambria Math" panose="02040503050406030204" pitchFamily="18" charset="0"/>
                            </a:rPr>
                            <m:t>9.11×</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−31</m:t>
                              </m:r>
                            </m:sup>
                          </m:sSup>
                        </m:den>
                      </m:f>
                      <m:r>
                        <a:rPr lang="en-AU" sz="2400" b="0" i="1" smtClean="0">
                          <a:solidFill>
                            <a:srgbClr val="000000"/>
                          </a:solidFill>
                          <a:latin typeface="Cambria Math" panose="02040503050406030204" pitchFamily="18" charset="0"/>
                          <a:ea typeface="Cambria Math" panose="02040503050406030204" pitchFamily="18" charset="0"/>
                        </a:rPr>
                        <m:t>=8.38×</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7</m:t>
                          </m:r>
                        </m:sup>
                      </m:sSup>
                      <m:r>
                        <a:rPr lang="en-AU" sz="2400" b="0" i="1" smtClean="0">
                          <a:solidFill>
                            <a:srgbClr val="000000"/>
                          </a:solidFill>
                          <a:latin typeface="Cambria Math" panose="02040503050406030204" pitchFamily="18" charset="0"/>
                          <a:ea typeface="Cambria Math" panose="02040503050406030204" pitchFamily="18" charset="0"/>
                        </a:rPr>
                        <m:t> </m:t>
                      </m:r>
                      <m:r>
                        <a:rPr lang="en-AU" sz="2400" b="0" i="1" smtClean="0">
                          <a:solidFill>
                            <a:srgbClr val="000000"/>
                          </a:solidFill>
                          <a:latin typeface="Cambria Math" panose="02040503050406030204" pitchFamily="18" charset="0"/>
                          <a:ea typeface="Cambria Math" panose="02040503050406030204" pitchFamily="18" charset="0"/>
                        </a:rPr>
                        <m:t>𝑚</m:t>
                      </m:r>
                      <m:r>
                        <a:rPr lang="en-AU" sz="2400" b="0" i="1" smtClean="0">
                          <a:solidFill>
                            <a:srgbClr val="000000"/>
                          </a:solidFill>
                          <a:latin typeface="Cambria Math" panose="02040503050406030204" pitchFamily="18" charset="0"/>
                          <a:ea typeface="Cambria Math" panose="02040503050406030204" pitchFamily="18" charset="0"/>
                        </a:rPr>
                        <m:t> </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𝑠</m:t>
                          </m:r>
                        </m:e>
                        <m:sup>
                          <m:r>
                            <a:rPr lang="en-AU" sz="2400" b="0" i="1" smtClean="0">
                              <a:solidFill>
                                <a:srgbClr val="000000"/>
                              </a:solidFill>
                              <a:latin typeface="Cambria Math" panose="02040503050406030204" pitchFamily="18" charset="0"/>
                              <a:ea typeface="Cambria Math" panose="02040503050406030204" pitchFamily="18" charset="0"/>
                            </a:rPr>
                            <m:t>−1</m:t>
                          </m:r>
                        </m:sup>
                      </m:sSup>
                    </m:oMath>
                  </m:oMathPara>
                </a14:m>
                <a:endParaRPr lang="en-AU" sz="2400" dirty="0">
                  <a:solidFill>
                    <a:srgbClr val="000000"/>
                  </a:solidFill>
                </a:endParaRPr>
              </a:p>
              <a:p>
                <a:endParaRPr lang="en-AU" sz="2400" dirty="0">
                  <a:solidFill>
                    <a:srgbClr val="000000"/>
                  </a:solidFill>
                </a:endParaRPr>
              </a:p>
              <a:p>
                <a:pPr/>
                <a14:m>
                  <m:oMathPara xmlns:m="http://schemas.openxmlformats.org/officeDocument/2006/math">
                    <m:oMathParaPr>
                      <m:jc m:val="centerGroup"/>
                    </m:oMathParaPr>
                    <m:oMath xmlns:m="http://schemas.openxmlformats.org/officeDocument/2006/math">
                      <m:r>
                        <m:rPr>
                          <m:sty m:val="p"/>
                        </m:rPr>
                        <a:rPr lang="el-GR" sz="2400" i="1" smtClean="0">
                          <a:solidFill>
                            <a:srgbClr val="000000"/>
                          </a:solidFill>
                          <a:latin typeface="Cambria Math" panose="02040503050406030204" pitchFamily="18" charset="0"/>
                        </a:rPr>
                        <m:t>λ</m:t>
                      </m:r>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rPr>
                          </m:ctrlPr>
                        </m:fPr>
                        <m:num>
                          <m:r>
                            <a:rPr lang="en-AU" sz="2400" b="0" i="1" smtClean="0">
                              <a:solidFill>
                                <a:srgbClr val="000000"/>
                              </a:solidFill>
                              <a:latin typeface="Cambria Math" panose="02040503050406030204" pitchFamily="18" charset="0"/>
                            </a:rPr>
                            <m:t>h</m:t>
                          </m:r>
                        </m:num>
                        <m:den>
                          <m:r>
                            <a:rPr lang="en-AU" sz="2400" b="0" i="1" smtClean="0">
                              <a:solidFill>
                                <a:srgbClr val="000000"/>
                              </a:solidFill>
                              <a:latin typeface="Cambria Math" panose="02040503050406030204" pitchFamily="18" charset="0"/>
                            </a:rPr>
                            <m:t>𝑚𝑣</m:t>
                          </m:r>
                        </m:den>
                      </m:f>
                      <m:r>
                        <a:rPr lang="en-AU" sz="2400" b="0" i="1" smtClean="0">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ea typeface="Cambria Math" panose="02040503050406030204" pitchFamily="18" charset="0"/>
                            </a:rPr>
                          </m:ctrlPr>
                        </m:fPr>
                        <m:num>
                          <m:d>
                            <m:dPr>
                              <m:ctrlPr>
                                <a:rPr lang="en-AU" sz="2400" b="0" i="1" smtClean="0">
                                  <a:solidFill>
                                    <a:srgbClr val="000000"/>
                                  </a:solidFill>
                                  <a:latin typeface="Cambria Math" panose="02040503050406030204" pitchFamily="18" charset="0"/>
                                </a:rPr>
                              </m:ctrlPr>
                            </m:dPr>
                            <m:e>
                              <m:r>
                                <a:rPr lang="en-AU" sz="2400" b="0" i="1" smtClean="0">
                                  <a:solidFill>
                                    <a:srgbClr val="000000"/>
                                  </a:solidFill>
                                  <a:latin typeface="Cambria Math" panose="02040503050406030204" pitchFamily="18" charset="0"/>
                                </a:rPr>
                                <m:t>6.63</m:t>
                              </m:r>
                              <m:r>
                                <a:rPr lang="en-AU" sz="2400" b="0" i="1" smtClean="0">
                                  <a:solidFill>
                                    <a:srgbClr val="000000"/>
                                  </a:solidFill>
                                  <a:latin typeface="Cambria Math" panose="02040503050406030204" pitchFamily="18" charset="0"/>
                                  <a:ea typeface="Cambria Math" panose="02040503050406030204" pitchFamily="18" charset="0"/>
                                </a:rPr>
                                <m:t>×</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−34</m:t>
                                  </m:r>
                                </m:sup>
                              </m:sSup>
                            </m:e>
                          </m:d>
                        </m:num>
                        <m:den>
                          <m:r>
                            <a:rPr lang="en-AU" sz="2400" b="0" i="1" smtClean="0">
                              <a:solidFill>
                                <a:srgbClr val="000000"/>
                              </a:solidFill>
                              <a:latin typeface="Cambria Math" panose="02040503050406030204" pitchFamily="18" charset="0"/>
                              <a:ea typeface="Cambria Math" panose="02040503050406030204" pitchFamily="18" charset="0"/>
                            </a:rPr>
                            <m:t>9.11×</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−31</m:t>
                              </m:r>
                            </m:sup>
                          </m:sSup>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8.38×</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7</m:t>
                                  </m:r>
                                </m:sup>
                              </m:sSup>
                            </m:e>
                          </m:d>
                        </m:den>
                      </m:f>
                      <m:r>
                        <a:rPr lang="en-AU" sz="2400" b="0" i="1" smtClean="0">
                          <a:solidFill>
                            <a:srgbClr val="000000"/>
                          </a:solidFill>
                          <a:latin typeface="Cambria Math" panose="02040503050406030204" pitchFamily="18" charset="0"/>
                          <a:ea typeface="Cambria Math" panose="02040503050406030204" pitchFamily="18" charset="0"/>
                        </a:rPr>
                        <m:t>=8.68×</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−12</m:t>
                          </m:r>
                        </m:sup>
                      </m:sSup>
                      <m:r>
                        <a:rPr lang="en-AU" sz="2400" b="0" i="1" smtClean="0">
                          <a:solidFill>
                            <a:srgbClr val="000000"/>
                          </a:solidFill>
                          <a:latin typeface="Cambria Math" panose="02040503050406030204" pitchFamily="18" charset="0"/>
                          <a:ea typeface="Cambria Math" panose="02040503050406030204" pitchFamily="18" charset="0"/>
                        </a:rPr>
                        <m:t>𝑚</m:t>
                      </m:r>
                    </m:oMath>
                  </m:oMathPara>
                </a14:m>
                <a:endParaRPr lang="en-AU" sz="2400" dirty="0">
                  <a:solidFill>
                    <a:srgbClr val="000000"/>
                  </a:solidFill>
                </a:endParaRPr>
              </a:p>
            </p:txBody>
          </p:sp>
        </mc:Choice>
        <mc:Fallback xmlns="">
          <p:sp>
            <p:nvSpPr>
              <p:cNvPr id="4" name="TextBox 3">
                <a:extLst>
                  <a:ext uri="{FF2B5EF4-FFF2-40B4-BE49-F238E27FC236}">
                    <a16:creationId xmlns:a16="http://schemas.microsoft.com/office/drawing/2014/main" id="{98762A80-FD85-4567-B770-8DFADB84C902}"/>
                  </a:ext>
                </a:extLst>
              </p:cNvPr>
              <p:cNvSpPr txBox="1">
                <a:spLocks noRot="1" noChangeAspect="1" noMove="1" noResize="1" noEditPoints="1" noAdjustHandles="1" noChangeArrowheads="1" noChangeShapeType="1" noTextEdit="1"/>
              </p:cNvSpPr>
              <p:nvPr/>
            </p:nvSpPr>
            <p:spPr>
              <a:xfrm>
                <a:off x="1003177" y="2175029"/>
                <a:ext cx="7563775" cy="3928640"/>
              </a:xfrm>
              <a:prstGeom prst="rect">
                <a:avLst/>
              </a:prstGeom>
              <a:blipFill>
                <a:blip r:embed="rId3"/>
                <a:stretch>
                  <a:fillRect l="-1290"/>
                </a:stretch>
              </a:blipFill>
            </p:spPr>
            <p:txBody>
              <a:bodyPr/>
              <a:lstStyle/>
              <a:p>
                <a:r>
                  <a:rPr lang="en-AU">
                    <a:noFill/>
                  </a:rPr>
                  <a:t> </a:t>
                </a:r>
              </a:p>
            </p:txBody>
          </p:sp>
        </mc:Fallback>
      </mc:AlternateContent>
    </p:spTree>
    <p:extLst>
      <p:ext uri="{BB962C8B-B14F-4D97-AF65-F5344CB8AC3E}">
        <p14:creationId xmlns:p14="http://schemas.microsoft.com/office/powerpoint/2010/main" val="424346274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Content Placeholder 2">
                <a:extLst>
                  <a:ext uri="{FF2B5EF4-FFF2-40B4-BE49-F238E27FC236}">
                    <a16:creationId xmlns:a16="http://schemas.microsoft.com/office/drawing/2014/main" id="{F184C27B-3351-4203-98D2-9143BA6DD3C9}"/>
                  </a:ext>
                </a:extLst>
              </p:cNvPr>
              <p:cNvSpPr>
                <a:spLocks noGrp="1"/>
              </p:cNvSpPr>
              <p:nvPr>
                <p:ph idx="1"/>
              </p:nvPr>
            </p:nvSpPr>
            <p:spPr>
              <a:xfrm>
                <a:off x="1044277" y="323295"/>
                <a:ext cx="7704667" cy="1541016"/>
              </a:xfrm>
            </p:spPr>
            <p:txBody>
              <a:bodyPr/>
              <a:lstStyle/>
              <a:p>
                <a:pPr marL="0" indent="0">
                  <a:buNone/>
                </a:pPr>
                <a:r>
                  <a:rPr lang="en-AU" dirty="0">
                    <a:solidFill>
                      <a:schemeClr val="accent5">
                        <a:lumMod val="10000"/>
                      </a:schemeClr>
                    </a:solidFill>
                  </a:rPr>
                  <a:t>Question:  What is the de Broglie wavelength of a bullet of mass 12.4 g moving at </a:t>
                </a:r>
                <a14:m>
                  <m:oMath xmlns:m="http://schemas.openxmlformats.org/officeDocument/2006/math">
                    <m:r>
                      <a:rPr lang="en-AU" b="0" i="1" smtClean="0">
                        <a:solidFill>
                          <a:schemeClr val="accent5">
                            <a:lumMod val="10000"/>
                          </a:schemeClr>
                        </a:solidFill>
                        <a:latin typeface="Cambria Math" panose="02040503050406030204" pitchFamily="18" charset="0"/>
                      </a:rPr>
                      <m:t>2.51 </m:t>
                    </m:r>
                    <m:r>
                      <a:rPr lang="en-AU" b="0" i="1" smtClean="0">
                        <a:solidFill>
                          <a:schemeClr val="accent5">
                            <a:lumMod val="10000"/>
                          </a:schemeClr>
                        </a:solidFill>
                        <a:latin typeface="Cambria Math" panose="02040503050406030204" pitchFamily="18" charset="0"/>
                        <a:ea typeface="Cambria Math" panose="02040503050406030204" pitchFamily="18" charset="0"/>
                      </a:rPr>
                      <m:t>×</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10</m:t>
                        </m:r>
                      </m:e>
                      <m:sup>
                        <m:r>
                          <a:rPr lang="en-AU" b="0" i="1" smtClean="0">
                            <a:solidFill>
                              <a:schemeClr val="accent5">
                                <a:lumMod val="10000"/>
                              </a:schemeClr>
                            </a:solidFill>
                            <a:latin typeface="Cambria Math" panose="02040503050406030204" pitchFamily="18" charset="0"/>
                            <a:ea typeface="Cambria Math" panose="02040503050406030204" pitchFamily="18" charset="0"/>
                          </a:rPr>
                          <m:t>2</m:t>
                        </m:r>
                      </m:sup>
                    </m:sSup>
                    <m:r>
                      <a:rPr lang="en-AU" b="0" i="1" smtClean="0">
                        <a:solidFill>
                          <a:schemeClr val="accent5">
                            <a:lumMod val="10000"/>
                          </a:schemeClr>
                        </a:solidFill>
                        <a:latin typeface="Cambria Math" panose="02040503050406030204" pitchFamily="18" charset="0"/>
                        <a:ea typeface="Cambria Math" panose="02040503050406030204" pitchFamily="18" charset="0"/>
                      </a:rPr>
                      <m:t> </m:t>
                    </m:r>
                    <m:r>
                      <a:rPr lang="en-AU" b="0" i="1" smtClean="0">
                        <a:solidFill>
                          <a:schemeClr val="accent5">
                            <a:lumMod val="10000"/>
                          </a:schemeClr>
                        </a:solidFill>
                        <a:latin typeface="Cambria Math" panose="02040503050406030204" pitchFamily="18" charset="0"/>
                        <a:ea typeface="Cambria Math" panose="02040503050406030204" pitchFamily="18" charset="0"/>
                      </a:rPr>
                      <m:t>𝑚</m:t>
                    </m:r>
                    <m:r>
                      <a:rPr lang="en-AU" b="0" i="1" smtClean="0">
                        <a:solidFill>
                          <a:schemeClr val="accent5">
                            <a:lumMod val="10000"/>
                          </a:schemeClr>
                        </a:solidFill>
                        <a:latin typeface="Cambria Math" panose="02040503050406030204" pitchFamily="18" charset="0"/>
                        <a:ea typeface="Cambria Math" panose="02040503050406030204" pitchFamily="18" charset="0"/>
                      </a:rPr>
                      <m:t> </m:t>
                    </m:r>
                    <m:sSup>
                      <m:sSupPr>
                        <m:ctrlPr>
                          <a:rPr lang="en-AU" b="0" i="1" smtClean="0">
                            <a:solidFill>
                              <a:schemeClr val="accent5">
                                <a:lumMod val="10000"/>
                              </a:schemeClr>
                            </a:solidFill>
                            <a:latin typeface="Cambria Math" panose="02040503050406030204" pitchFamily="18" charset="0"/>
                            <a:ea typeface="Cambria Math" panose="02040503050406030204" pitchFamily="18" charset="0"/>
                          </a:rPr>
                        </m:ctrlPr>
                      </m:sSupPr>
                      <m:e>
                        <m:r>
                          <a:rPr lang="en-AU" b="0" i="1" smtClean="0">
                            <a:solidFill>
                              <a:schemeClr val="accent5">
                                <a:lumMod val="10000"/>
                              </a:schemeClr>
                            </a:solidFill>
                            <a:latin typeface="Cambria Math" panose="02040503050406030204" pitchFamily="18" charset="0"/>
                            <a:ea typeface="Cambria Math" panose="02040503050406030204" pitchFamily="18" charset="0"/>
                          </a:rPr>
                          <m:t>𝑠</m:t>
                        </m:r>
                      </m:e>
                      <m:sup>
                        <m:r>
                          <a:rPr lang="en-AU" b="0" i="1" smtClean="0">
                            <a:solidFill>
                              <a:schemeClr val="accent5">
                                <a:lumMod val="10000"/>
                              </a:schemeClr>
                            </a:solidFill>
                            <a:latin typeface="Cambria Math" panose="02040503050406030204" pitchFamily="18" charset="0"/>
                            <a:ea typeface="Cambria Math" panose="02040503050406030204" pitchFamily="18" charset="0"/>
                          </a:rPr>
                          <m:t>−1</m:t>
                        </m:r>
                      </m:sup>
                    </m:sSup>
                  </m:oMath>
                </a14:m>
                <a:r>
                  <a:rPr lang="en-AU" dirty="0">
                    <a:solidFill>
                      <a:schemeClr val="accent5">
                        <a:lumMod val="10000"/>
                      </a:schemeClr>
                    </a:solidFill>
                  </a:rPr>
                  <a:t>?</a:t>
                </a:r>
              </a:p>
            </p:txBody>
          </p:sp>
        </mc:Choice>
        <mc:Fallback xmlns="">
          <p:sp>
            <p:nvSpPr>
              <p:cNvPr id="3" name="Content Placeholder 2">
                <a:extLst>
                  <a:ext uri="{FF2B5EF4-FFF2-40B4-BE49-F238E27FC236}">
                    <a16:creationId xmlns:a16="http://schemas.microsoft.com/office/drawing/2014/main" id="{F184C27B-3351-4203-98D2-9143BA6DD3C9}"/>
                  </a:ext>
                </a:extLst>
              </p:cNvPr>
              <p:cNvSpPr>
                <a:spLocks noGrp="1" noRot="1" noChangeAspect="1" noMove="1" noResize="1" noEditPoints="1" noAdjustHandles="1" noChangeArrowheads="1" noChangeShapeType="1" noTextEdit="1"/>
              </p:cNvSpPr>
              <p:nvPr>
                <p:ph idx="1"/>
              </p:nvPr>
            </p:nvSpPr>
            <p:spPr>
              <a:xfrm>
                <a:off x="1044277" y="323295"/>
                <a:ext cx="7704667" cy="1541016"/>
              </a:xfrm>
              <a:blipFill>
                <a:blip r:embed="rId2"/>
                <a:stretch>
                  <a:fillRect l="-1187"/>
                </a:stretch>
              </a:blipFill>
            </p:spPr>
            <p:txBody>
              <a:bodyPr/>
              <a:lstStyle/>
              <a:p>
                <a:r>
                  <a:rPr lang="en-AU">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06B402C1-CEB3-4C0D-B4B9-98040D7C5581}"/>
                  </a:ext>
                </a:extLst>
              </p:cNvPr>
              <p:cNvSpPr txBox="1"/>
              <p:nvPr/>
            </p:nvSpPr>
            <p:spPr>
              <a:xfrm>
                <a:off x="1074198" y="2192784"/>
                <a:ext cx="7501631" cy="706347"/>
              </a:xfrm>
              <a:prstGeom prst="rect">
                <a:avLst/>
              </a:prstGeom>
              <a:noFill/>
            </p:spPr>
            <p:txBody>
              <a:bodyPr wrap="square" rtlCol="0">
                <a:spAutoFit/>
              </a:bodyPr>
              <a:lstStyle/>
              <a:p>
                <a:r>
                  <a:rPr lang="en-AU" sz="2400" dirty="0">
                    <a:solidFill>
                      <a:schemeClr val="accent5">
                        <a:lumMod val="10000"/>
                      </a:schemeClr>
                    </a:solidFill>
                  </a:rPr>
                  <a:t>Answer: </a:t>
                </a:r>
                <a14:m>
                  <m:oMath xmlns:m="http://schemas.openxmlformats.org/officeDocument/2006/math">
                    <m:r>
                      <m:rPr>
                        <m:sty m:val="p"/>
                      </m:rPr>
                      <a:rPr lang="el-GR" sz="2400" i="1">
                        <a:solidFill>
                          <a:srgbClr val="000000"/>
                        </a:solidFill>
                        <a:latin typeface="Cambria Math" panose="02040503050406030204" pitchFamily="18" charset="0"/>
                      </a:rPr>
                      <m:t>λ</m:t>
                    </m:r>
                    <m:r>
                      <a:rPr lang="en-AU" sz="2400" i="1">
                        <a:solidFill>
                          <a:srgbClr val="000000"/>
                        </a:solidFill>
                        <a:latin typeface="Cambria Math" panose="02040503050406030204" pitchFamily="18" charset="0"/>
                      </a:rPr>
                      <m:t>=</m:t>
                    </m:r>
                    <m:f>
                      <m:fPr>
                        <m:ctrlPr>
                          <a:rPr lang="en-AU" sz="2400" i="1">
                            <a:solidFill>
                              <a:srgbClr val="000000"/>
                            </a:solidFill>
                            <a:latin typeface="Cambria Math" panose="02040503050406030204" pitchFamily="18" charset="0"/>
                          </a:rPr>
                        </m:ctrlPr>
                      </m:fPr>
                      <m:num>
                        <m:r>
                          <a:rPr lang="en-AU" sz="2400" i="1">
                            <a:solidFill>
                              <a:srgbClr val="000000"/>
                            </a:solidFill>
                            <a:latin typeface="Cambria Math" panose="02040503050406030204" pitchFamily="18" charset="0"/>
                          </a:rPr>
                          <m:t>h</m:t>
                        </m:r>
                      </m:num>
                      <m:den>
                        <m:r>
                          <a:rPr lang="en-AU" sz="2400" i="1">
                            <a:solidFill>
                              <a:srgbClr val="000000"/>
                            </a:solidFill>
                            <a:latin typeface="Cambria Math" panose="02040503050406030204" pitchFamily="18" charset="0"/>
                          </a:rPr>
                          <m:t>𝑚𝑣</m:t>
                        </m:r>
                      </m:den>
                    </m:f>
                    <m:r>
                      <a:rPr lang="en-AU" sz="2400" i="1">
                        <a:solidFill>
                          <a:srgbClr val="000000"/>
                        </a:solidFill>
                        <a:latin typeface="Cambria Math" panose="02040503050406030204" pitchFamily="18" charset="0"/>
                      </a:rPr>
                      <m:t>=</m:t>
                    </m:r>
                    <m:f>
                      <m:fPr>
                        <m:ctrlPr>
                          <a:rPr lang="en-AU" sz="2400" b="0" i="1" smtClean="0">
                            <a:solidFill>
                              <a:srgbClr val="000000"/>
                            </a:solidFill>
                            <a:latin typeface="Cambria Math" panose="02040503050406030204" pitchFamily="18" charset="0"/>
                            <a:ea typeface="Cambria Math" panose="02040503050406030204" pitchFamily="18" charset="0"/>
                          </a:rPr>
                        </m:ctrlPr>
                      </m:fPr>
                      <m:num>
                        <m:r>
                          <a:rPr lang="en-AU" sz="2400" b="0" i="1" smtClean="0">
                            <a:solidFill>
                              <a:srgbClr val="000000"/>
                            </a:solidFill>
                            <a:latin typeface="Cambria Math" panose="02040503050406030204" pitchFamily="18" charset="0"/>
                          </a:rPr>
                          <m:t>6.63</m:t>
                        </m:r>
                        <m:r>
                          <a:rPr lang="en-AU" sz="2400" b="0" i="1" smtClean="0">
                            <a:solidFill>
                              <a:srgbClr val="000000"/>
                            </a:solidFill>
                            <a:latin typeface="Cambria Math" panose="02040503050406030204" pitchFamily="18" charset="0"/>
                            <a:ea typeface="Cambria Math" panose="02040503050406030204" pitchFamily="18" charset="0"/>
                          </a:rPr>
                          <m:t>×</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−34</m:t>
                            </m:r>
                          </m:sup>
                        </m:sSup>
                      </m:num>
                      <m:den>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12.4×</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m:t>
                                </m:r>
                              </m:sup>
                            </m:sSup>
                          </m:e>
                        </m:d>
                        <m:d>
                          <m:dPr>
                            <m:ctrlPr>
                              <a:rPr lang="en-AU" sz="2400" b="0" i="1" smtClean="0">
                                <a:solidFill>
                                  <a:srgbClr val="000000"/>
                                </a:solidFill>
                                <a:latin typeface="Cambria Math" panose="02040503050406030204" pitchFamily="18" charset="0"/>
                                <a:ea typeface="Cambria Math" panose="02040503050406030204" pitchFamily="18" charset="0"/>
                              </a:rPr>
                            </m:ctrlPr>
                          </m:dPr>
                          <m:e>
                            <m:r>
                              <a:rPr lang="en-AU" sz="2400" b="0" i="1" smtClean="0">
                                <a:solidFill>
                                  <a:srgbClr val="000000"/>
                                </a:solidFill>
                                <a:latin typeface="Cambria Math" panose="02040503050406030204" pitchFamily="18" charset="0"/>
                                <a:ea typeface="Cambria Math" panose="02040503050406030204" pitchFamily="18" charset="0"/>
                              </a:rPr>
                              <m:t>2.51×</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2</m:t>
                                </m:r>
                              </m:sup>
                            </m:sSup>
                          </m:e>
                        </m:d>
                      </m:den>
                    </m:f>
                    <m:r>
                      <a:rPr lang="en-AU" sz="2400" b="0" i="1" smtClean="0">
                        <a:solidFill>
                          <a:srgbClr val="000000"/>
                        </a:solidFill>
                        <a:latin typeface="Cambria Math" panose="02040503050406030204" pitchFamily="18" charset="0"/>
                        <a:ea typeface="Cambria Math" panose="02040503050406030204" pitchFamily="18" charset="0"/>
                      </a:rPr>
                      <m:t>=2.13×</m:t>
                    </m:r>
                    <m:sSup>
                      <m:sSupPr>
                        <m:ctrlPr>
                          <a:rPr lang="en-AU" sz="2400" b="0" i="1" smtClean="0">
                            <a:solidFill>
                              <a:srgbClr val="000000"/>
                            </a:solidFill>
                            <a:latin typeface="Cambria Math" panose="02040503050406030204" pitchFamily="18" charset="0"/>
                            <a:ea typeface="Cambria Math" panose="02040503050406030204" pitchFamily="18" charset="0"/>
                          </a:rPr>
                        </m:ctrlPr>
                      </m:sSupPr>
                      <m:e>
                        <m:r>
                          <a:rPr lang="en-AU" sz="2400" b="0" i="1" smtClean="0">
                            <a:solidFill>
                              <a:srgbClr val="000000"/>
                            </a:solidFill>
                            <a:latin typeface="Cambria Math" panose="02040503050406030204" pitchFamily="18" charset="0"/>
                            <a:ea typeface="Cambria Math" panose="02040503050406030204" pitchFamily="18" charset="0"/>
                          </a:rPr>
                          <m:t>10</m:t>
                        </m:r>
                      </m:e>
                      <m:sup>
                        <m:r>
                          <a:rPr lang="en-AU" sz="2400" b="0" i="1" smtClean="0">
                            <a:solidFill>
                              <a:srgbClr val="000000"/>
                            </a:solidFill>
                            <a:latin typeface="Cambria Math" panose="02040503050406030204" pitchFamily="18" charset="0"/>
                            <a:ea typeface="Cambria Math" panose="02040503050406030204" pitchFamily="18" charset="0"/>
                          </a:rPr>
                          <m:t>−34</m:t>
                        </m:r>
                      </m:sup>
                    </m:sSup>
                    <m:r>
                      <a:rPr lang="en-AU" sz="2400" b="0" i="1" smtClean="0">
                        <a:solidFill>
                          <a:srgbClr val="000000"/>
                        </a:solidFill>
                        <a:latin typeface="Cambria Math" panose="02040503050406030204" pitchFamily="18" charset="0"/>
                        <a:ea typeface="Cambria Math" panose="02040503050406030204" pitchFamily="18" charset="0"/>
                      </a:rPr>
                      <m:t> </m:t>
                    </m:r>
                    <m:r>
                      <a:rPr lang="en-AU" sz="2400" b="0" i="1" smtClean="0">
                        <a:solidFill>
                          <a:srgbClr val="000000"/>
                        </a:solidFill>
                        <a:latin typeface="Cambria Math" panose="02040503050406030204" pitchFamily="18" charset="0"/>
                        <a:ea typeface="Cambria Math" panose="02040503050406030204" pitchFamily="18" charset="0"/>
                      </a:rPr>
                      <m:t>𝑚</m:t>
                    </m:r>
                  </m:oMath>
                </a14:m>
                <a:r>
                  <a:rPr lang="en-AU" sz="2400" dirty="0">
                    <a:solidFill>
                      <a:schemeClr val="accent5">
                        <a:lumMod val="10000"/>
                      </a:schemeClr>
                    </a:solidFill>
                  </a:rPr>
                  <a:t>     </a:t>
                </a:r>
              </a:p>
            </p:txBody>
          </p:sp>
        </mc:Choice>
        <mc:Fallback xmlns="">
          <p:sp>
            <p:nvSpPr>
              <p:cNvPr id="4" name="TextBox 3">
                <a:extLst>
                  <a:ext uri="{FF2B5EF4-FFF2-40B4-BE49-F238E27FC236}">
                    <a16:creationId xmlns:a16="http://schemas.microsoft.com/office/drawing/2014/main" id="{06B402C1-CEB3-4C0D-B4B9-98040D7C5581}"/>
                  </a:ext>
                </a:extLst>
              </p:cNvPr>
              <p:cNvSpPr txBox="1">
                <a:spLocks noRot="1" noChangeAspect="1" noMove="1" noResize="1" noEditPoints="1" noAdjustHandles="1" noChangeArrowheads="1" noChangeShapeType="1" noTextEdit="1"/>
              </p:cNvSpPr>
              <p:nvPr/>
            </p:nvSpPr>
            <p:spPr>
              <a:xfrm>
                <a:off x="1074198" y="2192784"/>
                <a:ext cx="7501631" cy="706347"/>
              </a:xfrm>
              <a:prstGeom prst="rect">
                <a:avLst/>
              </a:prstGeom>
              <a:blipFill>
                <a:blip r:embed="rId3"/>
                <a:stretch>
                  <a:fillRect l="-1219" b="-2586"/>
                </a:stretch>
              </a:blipFill>
            </p:spPr>
            <p:txBody>
              <a:bodyPr/>
              <a:lstStyle/>
              <a:p>
                <a:r>
                  <a:rPr lang="en-AU">
                    <a:noFill/>
                  </a:rPr>
                  <a:t> </a:t>
                </a:r>
              </a:p>
            </p:txBody>
          </p:sp>
        </mc:Fallback>
      </mc:AlternateContent>
    </p:spTree>
    <p:extLst>
      <p:ext uri="{BB962C8B-B14F-4D97-AF65-F5344CB8AC3E}">
        <p14:creationId xmlns:p14="http://schemas.microsoft.com/office/powerpoint/2010/main" val="7821293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Parallax">
  <a:themeElements>
    <a:clrScheme name="Custom 11">
      <a:dk1>
        <a:srgbClr val="B2B2B2"/>
      </a:dk1>
      <a:lt1>
        <a:srgbClr val="CBCBCB"/>
      </a:lt1>
      <a:dk2>
        <a:srgbClr val="FFFFFF"/>
      </a:dk2>
      <a:lt2>
        <a:srgbClr val="FFFFFF"/>
      </a:lt2>
      <a:accent1>
        <a:srgbClr val="CFDFE2"/>
      </a:accent1>
      <a:accent2>
        <a:srgbClr val="D7E3E9"/>
      </a:accent2>
      <a:accent3>
        <a:srgbClr val="CFDFE2"/>
      </a:accent3>
      <a:accent4>
        <a:srgbClr val="CFDFE2"/>
      </a:accent4>
      <a:accent5>
        <a:srgbClr val="C3D5DF"/>
      </a:accent5>
      <a:accent6>
        <a:srgbClr val="BFBFBF"/>
      </a:accent6>
      <a:hlink>
        <a:srgbClr val="497388"/>
      </a:hlink>
      <a:folHlink>
        <a:srgbClr val="8C8C8C"/>
      </a:folHlink>
    </a:clrScheme>
    <a:fontScheme name="Parallax">
      <a:maj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Corbel" panose="020B0503020204020204"/>
        <a:ea typeface=""/>
        <a:cs typeface=""/>
        <a:font script="Jpan" typeface="HGｺﾞｼｯｸM"/>
        <a:font script="Hang" typeface="HY엽서L"/>
        <a:font script="Hans" typeface="华文楷体"/>
        <a:font script="Hant" typeface="新細明體"/>
        <a:font script="Arab" typeface="Tahoma"/>
        <a:font script="Hebr" typeface="Miriam"/>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Parallax">
      <a:fillStyleLst>
        <a:solidFill>
          <a:schemeClr val="phClr"/>
        </a:solidFill>
        <a:gradFill rotWithShape="1">
          <a:gsLst>
            <a:gs pos="0">
              <a:schemeClr val="phClr">
                <a:tint val="60000"/>
                <a:lumMod val="104000"/>
              </a:schemeClr>
            </a:gs>
            <a:gs pos="100000">
              <a:schemeClr val="phClr">
                <a:tint val="84000"/>
              </a:schemeClr>
            </a:gs>
          </a:gsLst>
          <a:lin ang="5400000" scaled="0"/>
        </a:gradFill>
        <a:gradFill rotWithShape="1">
          <a:gsLst>
            <a:gs pos="0">
              <a:schemeClr val="phClr">
                <a:tint val="96000"/>
                <a:lumMod val="102000"/>
              </a:schemeClr>
            </a:gs>
            <a:gs pos="100000">
              <a:schemeClr val="phClr">
                <a:shade val="88000"/>
                <a:lumMod val="94000"/>
              </a:schemeClr>
            </a:gs>
          </a:gsLst>
          <a:path path="circle">
            <a:fillToRect l="50000" t="100000" r="100000" b="50000"/>
          </a:path>
        </a:gradFill>
      </a:fillStyleLst>
      <a:lnStyleLst>
        <a:ln w="9525" cap="rnd" cmpd="sng" algn="ctr">
          <a:solidFill>
            <a:schemeClr val="phClr">
              <a:tint val="60000"/>
            </a:schemeClr>
          </a:solidFill>
          <a:prstDash val="solid"/>
        </a:ln>
        <a:ln w="15875" cap="rnd" cmpd="sng" algn="ctr">
          <a:solidFill>
            <a:schemeClr val="phClr"/>
          </a:solidFill>
          <a:prstDash val="solid"/>
        </a:ln>
        <a:ln w="22225" cap="rnd" cmpd="sng" algn="ctr">
          <a:solidFill>
            <a:schemeClr val="phClr"/>
          </a:solidFill>
          <a:prstDash val="solid"/>
        </a:ln>
      </a:lnStyleLst>
      <a:effectStyleLst>
        <a:effectStyle>
          <a:effectLst/>
        </a:effectStyle>
        <a:effectStyle>
          <a:effectLst>
            <a:reflection blurRad="12700" stA="26000" endPos="32000" dist="12700" dir="5400000" sy="-100000" rotWithShape="0"/>
          </a:effectLst>
        </a:effectStyle>
        <a:effectStyle>
          <a:effectLst>
            <a:outerShdw blurRad="38100" dist="25400" dir="5400000" rotWithShape="0">
              <a:srgbClr val="000000">
                <a:alpha val="64000"/>
              </a:srgbClr>
            </a:outerShdw>
          </a:effectLst>
          <a:scene3d>
            <a:camera prst="orthographicFront">
              <a:rot lat="0" lon="0" rev="0"/>
            </a:camera>
            <a:lightRig rig="threePt" dir="tl">
              <a:rot lat="0" lon="0" rev="1200000"/>
            </a:lightRig>
          </a:scene3d>
          <a:sp3d>
            <a:bevelT w="25400" h="12700"/>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76000"/>
                <a:satMod val="180000"/>
              </a:schemeClr>
              <a:schemeClr val="phClr">
                <a:tint val="80000"/>
                <a:satMod val="120000"/>
                <a:lumMod val="180000"/>
              </a:schemeClr>
            </a:duotone>
          </a:blip>
          <a:stretch/>
        </a:blipFill>
      </a:bgFillStyleLst>
    </a:fmtScheme>
  </a:themeElements>
  <a:objectDefaults/>
  <a:extraClrSchemeLst/>
  <a:extLst>
    <a:ext uri="{05A4C25C-085E-4340-85A3-A5531E510DB2}">
      <thm15:themeFamily xmlns:thm15="http://schemas.microsoft.com/office/thememl/2012/main" name="Parallax" id="{3388167B-A2EB-4685-9635-1831D9AEF8C4}" vid="{4F7A876A-7598-49CA-AFC8-8EDA2551E4A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TM03457496[[fn=Parallax]]</Template>
  <TotalTime>1485</TotalTime>
  <Words>794</Words>
  <Application>Microsoft Office PowerPoint</Application>
  <PresentationFormat>On-screen Show (4:3)</PresentationFormat>
  <Paragraphs>56</Paragraphs>
  <Slides>13</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 Math</vt:lpstr>
      <vt:lpstr>Corbel</vt:lpstr>
      <vt:lpstr>Parallax</vt:lpstr>
      <vt:lpstr>de Broglie  Wavelength</vt:lpstr>
      <vt:lpstr>Key Objectives</vt:lpstr>
      <vt:lpstr>Relevant Equations</vt:lpstr>
      <vt:lpstr>de Broglie wavelength</vt:lpstr>
      <vt:lpstr>Electron diffraction</vt:lpstr>
      <vt:lpstr>Davisson-Germer Experiment</vt:lpstr>
      <vt:lpstr>PowerPoint Presentation</vt:lpstr>
      <vt:lpstr>Particles as a wave</vt:lpstr>
      <vt:lpstr>PowerPoint Presentation</vt:lpstr>
      <vt:lpstr>Young’s double slit experiment with electrons</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LIGHT</dc:title>
  <dc:creator>Leah Anthony</dc:creator>
  <cp:lastModifiedBy>COOPER Sarina [Southern River College]</cp:lastModifiedBy>
  <cp:revision>105</cp:revision>
  <dcterms:created xsi:type="dcterms:W3CDTF">2017-06-13T13:08:34Z</dcterms:created>
  <dcterms:modified xsi:type="dcterms:W3CDTF">2024-07-18T02:04:19Z</dcterms:modified>
</cp:coreProperties>
</file>