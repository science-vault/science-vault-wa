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4"/>
  </p:sldMasterIdLst>
  <p:notesMasterIdLst>
    <p:notesMasterId r:id="rId31"/>
  </p:notesMasterIdLst>
  <p:sldIdLst>
    <p:sldId id="263" r:id="rId5"/>
    <p:sldId id="274" r:id="rId6"/>
    <p:sldId id="264" r:id="rId7"/>
    <p:sldId id="265" r:id="rId8"/>
    <p:sldId id="275" r:id="rId9"/>
    <p:sldId id="276" r:id="rId10"/>
    <p:sldId id="277" r:id="rId11"/>
    <p:sldId id="278" r:id="rId12"/>
    <p:sldId id="279" r:id="rId13"/>
    <p:sldId id="280" r:id="rId14"/>
    <p:sldId id="281" r:id="rId15"/>
    <p:sldId id="282" r:id="rId16"/>
    <p:sldId id="284" r:id="rId17"/>
    <p:sldId id="283" r:id="rId18"/>
    <p:sldId id="285" r:id="rId19"/>
    <p:sldId id="287" r:id="rId20"/>
    <p:sldId id="288" r:id="rId21"/>
    <p:sldId id="289" r:id="rId22"/>
    <p:sldId id="290" r:id="rId23"/>
    <p:sldId id="291" r:id="rId24"/>
    <p:sldId id="292" r:id="rId25"/>
    <p:sldId id="293" r:id="rId26"/>
    <p:sldId id="294" r:id="rId27"/>
    <p:sldId id="295" r:id="rId28"/>
    <p:sldId id="296" r:id="rId29"/>
    <p:sldId id="297" r:id="rId30"/>
  </p:sldIdLst>
  <p:sldSz cx="9144000" cy="5143500" type="screen16x9"/>
  <p:notesSz cx="6858000" cy="9144000"/>
  <p:embeddedFontLs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5A32C6-797B-414A-9575-1DBF260193D0}">
  <a:tblStyle styleId="{AF5A32C6-797B-414A-9575-1DBF260193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03" d="100"/>
          <a:sy n="103" d="100"/>
        </p:scale>
        <p:origin x="758" y="58"/>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75189A66-C2FD-465D-850E-69CD40596E16}"/>
    <pc:docChg chg="delSld">
      <pc:chgData name="COOPER Sarina [Southern River College]" userId="7f2b4663-0468-4605-9163-1ba4158276d8" providerId="ADAL" clId="{75189A66-C2FD-465D-850E-69CD40596E16}" dt="2024-06-24T03:45:26.462" v="45" actId="47"/>
      <pc:docMkLst>
        <pc:docMk/>
      </pc:docMkLst>
      <pc:sldChg chg="del">
        <pc:chgData name="COOPER Sarina [Southern River College]" userId="7f2b4663-0468-4605-9163-1ba4158276d8" providerId="ADAL" clId="{75189A66-C2FD-465D-850E-69CD40596E16}" dt="2024-06-24T03:45:25.140" v="43" actId="47"/>
        <pc:sldMkLst>
          <pc:docMk/>
          <pc:sldMk cId="0" sldId="262"/>
        </pc:sldMkLst>
      </pc:sldChg>
      <pc:sldChg chg="del">
        <pc:chgData name="COOPER Sarina [Southern River College]" userId="7f2b4663-0468-4605-9163-1ba4158276d8" providerId="ADAL" clId="{75189A66-C2FD-465D-850E-69CD40596E16}" dt="2024-06-24T03:45:24.587" v="42" actId="47"/>
        <pc:sldMkLst>
          <pc:docMk/>
          <pc:sldMk cId="2807809239" sldId="273"/>
        </pc:sldMkLst>
      </pc:sldChg>
      <pc:sldChg chg="del">
        <pc:chgData name="COOPER Sarina [Southern River College]" userId="7f2b4663-0468-4605-9163-1ba4158276d8" providerId="ADAL" clId="{75189A66-C2FD-465D-850E-69CD40596E16}" dt="2024-06-24T03:45:25.827" v="44" actId="47"/>
        <pc:sldMkLst>
          <pc:docMk/>
          <pc:sldMk cId="419995759" sldId="298"/>
        </pc:sldMkLst>
      </pc:sldChg>
      <pc:sldChg chg="del">
        <pc:chgData name="COOPER Sarina [Southern River College]" userId="7f2b4663-0468-4605-9163-1ba4158276d8" providerId="ADAL" clId="{75189A66-C2FD-465D-850E-69CD40596E16}" dt="2024-06-24T03:45:26.462" v="45" actId="47"/>
        <pc:sldMkLst>
          <pc:docMk/>
          <pc:sldMk cId="2443332487" sldId="299"/>
        </pc:sldMkLst>
      </pc:sldChg>
      <pc:sldChg chg="del">
        <pc:chgData name="COOPER Sarina [Southern River College]" userId="7f2b4663-0468-4605-9163-1ba4158276d8" providerId="ADAL" clId="{75189A66-C2FD-465D-850E-69CD40596E16}" dt="2024-06-24T03:44:22.127" v="4" actId="47"/>
        <pc:sldMkLst>
          <pc:docMk/>
          <pc:sldMk cId="3069754025" sldId="300"/>
        </pc:sldMkLst>
      </pc:sldChg>
      <pc:sldChg chg="del">
        <pc:chgData name="COOPER Sarina [Southern River College]" userId="7f2b4663-0468-4605-9163-1ba4158276d8" providerId="ADAL" clId="{75189A66-C2FD-465D-850E-69CD40596E16}" dt="2024-06-24T03:44:12.283" v="0" actId="47"/>
        <pc:sldMkLst>
          <pc:docMk/>
          <pc:sldMk cId="3996258669" sldId="302"/>
        </pc:sldMkLst>
      </pc:sldChg>
      <pc:sldChg chg="del">
        <pc:chgData name="COOPER Sarina [Southern River College]" userId="7f2b4663-0468-4605-9163-1ba4158276d8" providerId="ADAL" clId="{75189A66-C2FD-465D-850E-69CD40596E16}" dt="2024-06-24T03:44:13.835" v="1" actId="47"/>
        <pc:sldMkLst>
          <pc:docMk/>
          <pc:sldMk cId="2058668254" sldId="303"/>
        </pc:sldMkLst>
      </pc:sldChg>
      <pc:sldChg chg="del">
        <pc:chgData name="COOPER Sarina [Southern River College]" userId="7f2b4663-0468-4605-9163-1ba4158276d8" providerId="ADAL" clId="{75189A66-C2FD-465D-850E-69CD40596E16}" dt="2024-06-24T03:44:22.799" v="5" actId="47"/>
        <pc:sldMkLst>
          <pc:docMk/>
          <pc:sldMk cId="3472165441" sldId="304"/>
        </pc:sldMkLst>
      </pc:sldChg>
      <pc:sldChg chg="del">
        <pc:chgData name="COOPER Sarina [Southern River College]" userId="7f2b4663-0468-4605-9163-1ba4158276d8" providerId="ADAL" clId="{75189A66-C2FD-465D-850E-69CD40596E16}" dt="2024-06-24T03:44:23.683" v="6" actId="47"/>
        <pc:sldMkLst>
          <pc:docMk/>
          <pc:sldMk cId="3042004750" sldId="305"/>
        </pc:sldMkLst>
      </pc:sldChg>
      <pc:sldChg chg="del">
        <pc:chgData name="COOPER Sarina [Southern River College]" userId="7f2b4663-0468-4605-9163-1ba4158276d8" providerId="ADAL" clId="{75189A66-C2FD-465D-850E-69CD40596E16}" dt="2024-06-24T03:44:25.127" v="8" actId="47"/>
        <pc:sldMkLst>
          <pc:docMk/>
          <pc:sldMk cId="1302565996" sldId="306"/>
        </pc:sldMkLst>
      </pc:sldChg>
      <pc:sldChg chg="del">
        <pc:chgData name="COOPER Sarina [Southern River College]" userId="7f2b4663-0468-4605-9163-1ba4158276d8" providerId="ADAL" clId="{75189A66-C2FD-465D-850E-69CD40596E16}" dt="2024-06-24T03:44:24.462" v="7" actId="47"/>
        <pc:sldMkLst>
          <pc:docMk/>
          <pc:sldMk cId="512184561" sldId="307"/>
        </pc:sldMkLst>
      </pc:sldChg>
      <pc:sldChg chg="del">
        <pc:chgData name="COOPER Sarina [Southern River College]" userId="7f2b4663-0468-4605-9163-1ba4158276d8" providerId="ADAL" clId="{75189A66-C2FD-465D-850E-69CD40596E16}" dt="2024-06-24T03:44:25.763" v="9" actId="47"/>
        <pc:sldMkLst>
          <pc:docMk/>
          <pc:sldMk cId="4125057992" sldId="308"/>
        </pc:sldMkLst>
      </pc:sldChg>
      <pc:sldChg chg="del">
        <pc:chgData name="COOPER Sarina [Southern River College]" userId="7f2b4663-0468-4605-9163-1ba4158276d8" providerId="ADAL" clId="{75189A66-C2FD-465D-850E-69CD40596E16}" dt="2024-06-24T03:44:52.112" v="26" actId="47"/>
        <pc:sldMkLst>
          <pc:docMk/>
          <pc:sldMk cId="1127359904" sldId="309"/>
        </pc:sldMkLst>
      </pc:sldChg>
      <pc:sldChg chg="del">
        <pc:chgData name="COOPER Sarina [Southern River College]" userId="7f2b4663-0468-4605-9163-1ba4158276d8" providerId="ADAL" clId="{75189A66-C2FD-465D-850E-69CD40596E16}" dt="2024-06-24T03:44:55.239" v="30" actId="47"/>
        <pc:sldMkLst>
          <pc:docMk/>
          <pc:sldMk cId="496134443" sldId="311"/>
        </pc:sldMkLst>
      </pc:sldChg>
      <pc:sldChg chg="del">
        <pc:chgData name="COOPER Sarina [Southern River College]" userId="7f2b4663-0468-4605-9163-1ba4158276d8" providerId="ADAL" clId="{75189A66-C2FD-465D-850E-69CD40596E16}" dt="2024-06-24T03:44:55.909" v="31" actId="47"/>
        <pc:sldMkLst>
          <pc:docMk/>
          <pc:sldMk cId="2804724685" sldId="312"/>
        </pc:sldMkLst>
      </pc:sldChg>
      <pc:sldChg chg="del">
        <pc:chgData name="COOPER Sarina [Southern River College]" userId="7f2b4663-0468-4605-9163-1ba4158276d8" providerId="ADAL" clId="{75189A66-C2FD-465D-850E-69CD40596E16}" dt="2024-06-24T03:44:58.903" v="36" actId="47"/>
        <pc:sldMkLst>
          <pc:docMk/>
          <pc:sldMk cId="201947004" sldId="315"/>
        </pc:sldMkLst>
      </pc:sldChg>
      <pc:sldChg chg="del">
        <pc:chgData name="COOPER Sarina [Southern River College]" userId="7f2b4663-0468-4605-9163-1ba4158276d8" providerId="ADAL" clId="{75189A66-C2FD-465D-850E-69CD40596E16}" dt="2024-06-24T03:44:26.578" v="10" actId="47"/>
        <pc:sldMkLst>
          <pc:docMk/>
          <pc:sldMk cId="3894459222" sldId="316"/>
        </pc:sldMkLst>
      </pc:sldChg>
      <pc:sldChg chg="del">
        <pc:chgData name="COOPER Sarina [Southern River College]" userId="7f2b4663-0468-4605-9163-1ba4158276d8" providerId="ADAL" clId="{75189A66-C2FD-465D-850E-69CD40596E16}" dt="2024-06-24T03:44:57.107" v="33" actId="47"/>
        <pc:sldMkLst>
          <pc:docMk/>
          <pc:sldMk cId="3114624929" sldId="318"/>
        </pc:sldMkLst>
      </pc:sldChg>
      <pc:sldChg chg="del">
        <pc:chgData name="COOPER Sarina [Southern River College]" userId="7f2b4663-0468-4605-9163-1ba4158276d8" providerId="ADAL" clId="{75189A66-C2FD-465D-850E-69CD40596E16}" dt="2024-06-24T03:44:58.273" v="35" actId="47"/>
        <pc:sldMkLst>
          <pc:docMk/>
          <pc:sldMk cId="2598673912" sldId="319"/>
        </pc:sldMkLst>
      </pc:sldChg>
      <pc:sldChg chg="del">
        <pc:chgData name="COOPER Sarina [Southern River College]" userId="7f2b4663-0468-4605-9163-1ba4158276d8" providerId="ADAL" clId="{75189A66-C2FD-465D-850E-69CD40596E16}" dt="2024-06-24T03:44:47.116" v="23" actId="47"/>
        <pc:sldMkLst>
          <pc:docMk/>
          <pc:sldMk cId="1597197704" sldId="320"/>
        </pc:sldMkLst>
      </pc:sldChg>
      <pc:sldChg chg="del">
        <pc:chgData name="COOPER Sarina [Southern River College]" userId="7f2b4663-0468-4605-9163-1ba4158276d8" providerId="ADAL" clId="{75189A66-C2FD-465D-850E-69CD40596E16}" dt="2024-06-24T03:44:52.871" v="27" actId="47"/>
        <pc:sldMkLst>
          <pc:docMk/>
          <pc:sldMk cId="1827234011" sldId="321"/>
        </pc:sldMkLst>
      </pc:sldChg>
      <pc:sldChg chg="del">
        <pc:chgData name="COOPER Sarina [Southern River College]" userId="7f2b4663-0468-4605-9163-1ba4158276d8" providerId="ADAL" clId="{75189A66-C2FD-465D-850E-69CD40596E16}" dt="2024-06-24T03:44:53.826" v="28" actId="47"/>
        <pc:sldMkLst>
          <pc:docMk/>
          <pc:sldMk cId="3558499548" sldId="322"/>
        </pc:sldMkLst>
      </pc:sldChg>
      <pc:sldChg chg="del">
        <pc:chgData name="COOPER Sarina [Southern River College]" userId="7f2b4663-0468-4605-9163-1ba4158276d8" providerId="ADAL" clId="{75189A66-C2FD-465D-850E-69CD40596E16}" dt="2024-06-24T03:44:54.540" v="29" actId="47"/>
        <pc:sldMkLst>
          <pc:docMk/>
          <pc:sldMk cId="1103866698" sldId="323"/>
        </pc:sldMkLst>
      </pc:sldChg>
      <pc:sldChg chg="del">
        <pc:chgData name="COOPER Sarina [Southern River College]" userId="7f2b4663-0468-4605-9163-1ba4158276d8" providerId="ADAL" clId="{75189A66-C2FD-465D-850E-69CD40596E16}" dt="2024-06-24T03:44:16.435" v="2" actId="47"/>
        <pc:sldMkLst>
          <pc:docMk/>
          <pc:sldMk cId="3755746947" sldId="324"/>
        </pc:sldMkLst>
      </pc:sldChg>
      <pc:sldChg chg="del">
        <pc:chgData name="COOPER Sarina [Southern River College]" userId="7f2b4663-0468-4605-9163-1ba4158276d8" providerId="ADAL" clId="{75189A66-C2FD-465D-850E-69CD40596E16}" dt="2024-06-24T03:44:17.710" v="3" actId="47"/>
        <pc:sldMkLst>
          <pc:docMk/>
          <pc:sldMk cId="3703776613" sldId="325"/>
        </pc:sldMkLst>
      </pc:sldChg>
      <pc:sldChg chg="del">
        <pc:chgData name="COOPER Sarina [Southern River College]" userId="7f2b4663-0468-4605-9163-1ba4158276d8" providerId="ADAL" clId="{75189A66-C2FD-465D-850E-69CD40596E16}" dt="2024-06-24T03:44:34.537" v="19" actId="47"/>
        <pc:sldMkLst>
          <pc:docMk/>
          <pc:sldMk cId="2155278807" sldId="326"/>
        </pc:sldMkLst>
      </pc:sldChg>
      <pc:sldChg chg="del">
        <pc:chgData name="COOPER Sarina [Southern River College]" userId="7f2b4663-0468-4605-9163-1ba4158276d8" providerId="ADAL" clId="{75189A66-C2FD-465D-850E-69CD40596E16}" dt="2024-06-24T03:44:45.112" v="21" actId="47"/>
        <pc:sldMkLst>
          <pc:docMk/>
          <pc:sldMk cId="3241813106" sldId="327"/>
        </pc:sldMkLst>
      </pc:sldChg>
      <pc:sldChg chg="del">
        <pc:chgData name="COOPER Sarina [Southern River College]" userId="7f2b4663-0468-4605-9163-1ba4158276d8" providerId="ADAL" clId="{75189A66-C2FD-465D-850E-69CD40596E16}" dt="2024-06-24T03:44:46.303" v="22" actId="47"/>
        <pc:sldMkLst>
          <pc:docMk/>
          <pc:sldMk cId="2462639651" sldId="328"/>
        </pc:sldMkLst>
      </pc:sldChg>
      <pc:sldChg chg="del">
        <pc:chgData name="COOPER Sarina [Southern River College]" userId="7f2b4663-0468-4605-9163-1ba4158276d8" providerId="ADAL" clId="{75189A66-C2FD-465D-850E-69CD40596E16}" dt="2024-06-24T03:44:27.306" v="11" actId="47"/>
        <pc:sldMkLst>
          <pc:docMk/>
          <pc:sldMk cId="3715025479" sldId="329"/>
        </pc:sldMkLst>
      </pc:sldChg>
      <pc:sldChg chg="del">
        <pc:chgData name="COOPER Sarina [Southern River College]" userId="7f2b4663-0468-4605-9163-1ba4158276d8" providerId="ADAL" clId="{75189A66-C2FD-465D-850E-69CD40596E16}" dt="2024-06-24T03:44:28.154" v="12" actId="47"/>
        <pc:sldMkLst>
          <pc:docMk/>
          <pc:sldMk cId="543664372" sldId="330"/>
        </pc:sldMkLst>
      </pc:sldChg>
      <pc:sldChg chg="del">
        <pc:chgData name="COOPER Sarina [Southern River College]" userId="7f2b4663-0468-4605-9163-1ba4158276d8" providerId="ADAL" clId="{75189A66-C2FD-465D-850E-69CD40596E16}" dt="2024-06-24T03:44:28.902" v="13" actId="47"/>
        <pc:sldMkLst>
          <pc:docMk/>
          <pc:sldMk cId="3296485752" sldId="331"/>
        </pc:sldMkLst>
      </pc:sldChg>
      <pc:sldChg chg="del">
        <pc:chgData name="COOPER Sarina [Southern River College]" userId="7f2b4663-0468-4605-9163-1ba4158276d8" providerId="ADAL" clId="{75189A66-C2FD-465D-850E-69CD40596E16}" dt="2024-06-24T03:44:44.056" v="20" actId="47"/>
        <pc:sldMkLst>
          <pc:docMk/>
          <pc:sldMk cId="1255206764" sldId="332"/>
        </pc:sldMkLst>
      </pc:sldChg>
      <pc:sldChg chg="del">
        <pc:chgData name="COOPER Sarina [Southern River College]" userId="7f2b4663-0468-4605-9163-1ba4158276d8" providerId="ADAL" clId="{75189A66-C2FD-465D-850E-69CD40596E16}" dt="2024-06-24T03:44:56.497" v="32" actId="47"/>
        <pc:sldMkLst>
          <pc:docMk/>
          <pc:sldMk cId="1519284646" sldId="333"/>
        </pc:sldMkLst>
      </pc:sldChg>
      <pc:sldChg chg="del">
        <pc:chgData name="COOPER Sarina [Southern River College]" userId="7f2b4663-0468-4605-9163-1ba4158276d8" providerId="ADAL" clId="{75189A66-C2FD-465D-850E-69CD40596E16}" dt="2024-06-24T03:44:59.509" v="37" actId="47"/>
        <pc:sldMkLst>
          <pc:docMk/>
          <pc:sldMk cId="282400706" sldId="334"/>
        </pc:sldMkLst>
      </pc:sldChg>
      <pc:sldChg chg="del">
        <pc:chgData name="COOPER Sarina [Southern River College]" userId="7f2b4663-0468-4605-9163-1ba4158276d8" providerId="ADAL" clId="{75189A66-C2FD-465D-850E-69CD40596E16}" dt="2024-06-24T03:44:29.830" v="14" actId="47"/>
        <pc:sldMkLst>
          <pc:docMk/>
          <pc:sldMk cId="4040483499" sldId="335"/>
        </pc:sldMkLst>
      </pc:sldChg>
      <pc:sldChg chg="del">
        <pc:chgData name="COOPER Sarina [Southern River College]" userId="7f2b4663-0468-4605-9163-1ba4158276d8" providerId="ADAL" clId="{75189A66-C2FD-465D-850E-69CD40596E16}" dt="2024-06-24T03:44:30.475" v="15" actId="47"/>
        <pc:sldMkLst>
          <pc:docMk/>
          <pc:sldMk cId="158444821" sldId="336"/>
        </pc:sldMkLst>
      </pc:sldChg>
      <pc:sldChg chg="del">
        <pc:chgData name="COOPER Sarina [Southern River College]" userId="7f2b4663-0468-4605-9163-1ba4158276d8" providerId="ADAL" clId="{75189A66-C2FD-465D-850E-69CD40596E16}" dt="2024-06-24T03:44:31.303" v="16" actId="47"/>
        <pc:sldMkLst>
          <pc:docMk/>
          <pc:sldMk cId="374366459" sldId="337"/>
        </pc:sldMkLst>
      </pc:sldChg>
      <pc:sldChg chg="del">
        <pc:chgData name="COOPER Sarina [Southern River College]" userId="7f2b4663-0468-4605-9163-1ba4158276d8" providerId="ADAL" clId="{75189A66-C2FD-465D-850E-69CD40596E16}" dt="2024-06-24T03:44:31.789" v="17" actId="47"/>
        <pc:sldMkLst>
          <pc:docMk/>
          <pc:sldMk cId="394118730" sldId="338"/>
        </pc:sldMkLst>
      </pc:sldChg>
      <pc:sldChg chg="del">
        <pc:chgData name="COOPER Sarina [Southern River College]" userId="7f2b4663-0468-4605-9163-1ba4158276d8" providerId="ADAL" clId="{75189A66-C2FD-465D-850E-69CD40596E16}" dt="2024-06-24T03:44:32.551" v="18" actId="47"/>
        <pc:sldMkLst>
          <pc:docMk/>
          <pc:sldMk cId="2749680458" sldId="339"/>
        </pc:sldMkLst>
      </pc:sldChg>
      <pc:sldChg chg="del">
        <pc:chgData name="COOPER Sarina [Southern River College]" userId="7f2b4663-0468-4605-9163-1ba4158276d8" providerId="ADAL" clId="{75189A66-C2FD-465D-850E-69CD40596E16}" dt="2024-06-24T03:44:57.703" v="34" actId="47"/>
        <pc:sldMkLst>
          <pc:docMk/>
          <pc:sldMk cId="3533873778" sldId="340"/>
        </pc:sldMkLst>
      </pc:sldChg>
      <pc:sldChg chg="del">
        <pc:chgData name="COOPER Sarina [Southern River College]" userId="7f2b4663-0468-4605-9163-1ba4158276d8" providerId="ADAL" clId="{75189A66-C2FD-465D-850E-69CD40596E16}" dt="2024-06-24T03:44:48.624" v="24" actId="47"/>
        <pc:sldMkLst>
          <pc:docMk/>
          <pc:sldMk cId="1308743208" sldId="341"/>
        </pc:sldMkLst>
      </pc:sldChg>
      <pc:sldChg chg="del">
        <pc:chgData name="COOPER Sarina [Southern River College]" userId="7f2b4663-0468-4605-9163-1ba4158276d8" providerId="ADAL" clId="{75189A66-C2FD-465D-850E-69CD40596E16}" dt="2024-06-24T03:44:51.027" v="25" actId="47"/>
        <pc:sldMkLst>
          <pc:docMk/>
          <pc:sldMk cId="898493809" sldId="342"/>
        </pc:sldMkLst>
      </pc:sldChg>
      <pc:sldChg chg="del">
        <pc:chgData name="COOPER Sarina [Southern River College]" userId="7f2b4663-0468-4605-9163-1ba4158276d8" providerId="ADAL" clId="{75189A66-C2FD-465D-850E-69CD40596E16}" dt="2024-06-24T03:45:02.329" v="40" actId="47"/>
        <pc:sldMkLst>
          <pc:docMk/>
          <pc:sldMk cId="2884421287" sldId="343"/>
        </pc:sldMkLst>
      </pc:sldChg>
      <pc:sldChg chg="del">
        <pc:chgData name="COOPER Sarina [Southern River College]" userId="7f2b4663-0468-4605-9163-1ba4158276d8" providerId="ADAL" clId="{75189A66-C2FD-465D-850E-69CD40596E16}" dt="2024-06-24T03:45:00.106" v="38" actId="47"/>
        <pc:sldMkLst>
          <pc:docMk/>
          <pc:sldMk cId="1015230655" sldId="344"/>
        </pc:sldMkLst>
      </pc:sldChg>
      <pc:sldChg chg="del">
        <pc:chgData name="COOPER Sarina [Southern River College]" userId="7f2b4663-0468-4605-9163-1ba4158276d8" providerId="ADAL" clId="{75189A66-C2FD-465D-850E-69CD40596E16}" dt="2024-06-24T03:45:00.677" v="39" actId="47"/>
        <pc:sldMkLst>
          <pc:docMk/>
          <pc:sldMk cId="1347407950" sldId="345"/>
        </pc:sldMkLst>
      </pc:sldChg>
      <pc:sldChg chg="del">
        <pc:chgData name="COOPER Sarina [Southern River College]" userId="7f2b4663-0468-4605-9163-1ba4158276d8" providerId="ADAL" clId="{75189A66-C2FD-465D-850E-69CD40596E16}" dt="2024-06-24T03:45:03.083" v="41" actId="47"/>
        <pc:sldMkLst>
          <pc:docMk/>
          <pc:sldMk cId="3433183343" sldId="3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e5c105cef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e5c105ce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Learning Objectives contain </a:t>
            </a:r>
            <a:r>
              <a:rPr lang="en-GB" b="1">
                <a:solidFill>
                  <a:schemeClr val="dk1"/>
                </a:solidFill>
              </a:rPr>
              <a:t>concepts </a:t>
            </a:r>
            <a:r>
              <a:rPr lang="en-GB">
                <a:solidFill>
                  <a:schemeClr val="dk1"/>
                </a:solidFill>
              </a:rPr>
              <a:t>(nouns, big ideas), </a:t>
            </a:r>
            <a:r>
              <a:rPr lang="en-GB" b="1">
                <a:solidFill>
                  <a:schemeClr val="dk1"/>
                </a:solidFill>
              </a:rPr>
              <a:t>skills </a:t>
            </a:r>
            <a:r>
              <a:rPr lang="en-GB">
                <a:solidFill>
                  <a:schemeClr val="dk1"/>
                </a:solidFill>
              </a:rPr>
              <a:t>(verbs, measurable behaviours) and sometimes </a:t>
            </a:r>
            <a:r>
              <a:rPr lang="en-GB" b="1">
                <a:solidFill>
                  <a:schemeClr val="dk1"/>
                </a:solidFill>
              </a:rPr>
              <a:t>context </a:t>
            </a:r>
            <a:r>
              <a:rPr lang="en-GB">
                <a:solidFill>
                  <a:schemeClr val="dk1"/>
                </a:solidFill>
              </a:rPr>
              <a:t>(restricting or targeting conditions).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●Example: Students will be able to </a:t>
            </a:r>
            <a:r>
              <a:rPr lang="en-GB" b="1">
                <a:solidFill>
                  <a:schemeClr val="dk1"/>
                </a:solidFill>
              </a:rPr>
              <a:t>describe</a:t>
            </a:r>
            <a:r>
              <a:rPr lang="en-GB">
                <a:solidFill>
                  <a:schemeClr val="dk1"/>
                </a:solidFill>
              </a:rPr>
              <a:t> the concept of </a:t>
            </a:r>
            <a:r>
              <a:rPr lang="en-GB" b="1">
                <a:solidFill>
                  <a:schemeClr val="dk1"/>
                </a:solidFill>
              </a:rPr>
              <a:t>density </a:t>
            </a:r>
            <a:r>
              <a:rPr lang="en-GB">
                <a:solidFill>
                  <a:schemeClr val="dk1"/>
                </a:solidFill>
              </a:rPr>
              <a:t>and apply it to </a:t>
            </a:r>
            <a:r>
              <a:rPr lang="en-GB" b="1">
                <a:solidFill>
                  <a:schemeClr val="dk1"/>
                </a:solidFill>
              </a:rPr>
              <a:t>floating and sinking.</a:t>
            </a: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Success criteria are specific measurable outcomes that if met mean that the student has met the learning objective.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Examples: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•Students will be able to compare densities of substances using mass and volume.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•Students will be able to identify whether a solid or liquid will float or sink in a liquid based on their densities.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e5c105ce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e5c105ce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8460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0276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4141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5785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9218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4733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5364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7304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3981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1865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3001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5040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8295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192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23222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8879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4882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910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6686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96260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5c105ce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e5c105ce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49862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e5c105cef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e5c105ce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chemeClr val="dk1"/>
                </a:solidFill>
              </a:rPr>
              <a:t>Learning Objectives contain </a:t>
            </a:r>
            <a:r>
              <a:rPr lang="en-GB" b="1">
                <a:solidFill>
                  <a:schemeClr val="dk1"/>
                </a:solidFill>
              </a:rPr>
              <a:t>concepts </a:t>
            </a:r>
            <a:r>
              <a:rPr lang="en-GB">
                <a:solidFill>
                  <a:schemeClr val="dk1"/>
                </a:solidFill>
              </a:rPr>
              <a:t>(nouns, big ideas), </a:t>
            </a:r>
            <a:r>
              <a:rPr lang="en-GB" b="1">
                <a:solidFill>
                  <a:schemeClr val="dk1"/>
                </a:solidFill>
              </a:rPr>
              <a:t>skills </a:t>
            </a:r>
            <a:r>
              <a:rPr lang="en-GB">
                <a:solidFill>
                  <a:schemeClr val="dk1"/>
                </a:solidFill>
              </a:rPr>
              <a:t>(verbs, measurable behaviours) and sometimes </a:t>
            </a:r>
            <a:r>
              <a:rPr lang="en-GB" b="1">
                <a:solidFill>
                  <a:schemeClr val="dk1"/>
                </a:solidFill>
              </a:rPr>
              <a:t>context </a:t>
            </a:r>
            <a:r>
              <a:rPr lang="en-GB">
                <a:solidFill>
                  <a:schemeClr val="dk1"/>
                </a:solidFill>
              </a:rPr>
              <a:t>(restricting or targeting conditions).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●Example: Students will be able to </a:t>
            </a:r>
            <a:r>
              <a:rPr lang="en-GB" b="1">
                <a:solidFill>
                  <a:schemeClr val="dk1"/>
                </a:solidFill>
              </a:rPr>
              <a:t>describe</a:t>
            </a:r>
            <a:r>
              <a:rPr lang="en-GB">
                <a:solidFill>
                  <a:schemeClr val="dk1"/>
                </a:solidFill>
              </a:rPr>
              <a:t> the concept of </a:t>
            </a:r>
            <a:r>
              <a:rPr lang="en-GB" b="1">
                <a:solidFill>
                  <a:schemeClr val="dk1"/>
                </a:solidFill>
              </a:rPr>
              <a:t>density </a:t>
            </a:r>
            <a:r>
              <a:rPr lang="en-GB">
                <a:solidFill>
                  <a:schemeClr val="dk1"/>
                </a:solidFill>
              </a:rPr>
              <a:t>and apply it to </a:t>
            </a:r>
            <a:r>
              <a:rPr lang="en-GB" b="1">
                <a:solidFill>
                  <a:schemeClr val="dk1"/>
                </a:solidFill>
              </a:rPr>
              <a:t>floating and sinking.</a:t>
            </a: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Success criteria are specific measurable outcomes that if met mean that the student has met the learning objective.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Examples: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•Students will be able to compare densities of substances using mass and volume.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GB">
                <a:solidFill>
                  <a:schemeClr val="dk1"/>
                </a:solidFill>
              </a:rPr>
              <a:t>•Students will be able to identify whether a solid or liquid will float or sink in a liquid based on their densities.</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601824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aily Review" type="blank">
  <p:cSld name="BLANK">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8" name="Google Shape;18;p3"/>
          <p:cNvSpPr txBox="1"/>
          <p:nvPr/>
        </p:nvSpPr>
        <p:spPr>
          <a:xfrm rot="-5400000">
            <a:off x="-569675" y="2399550"/>
            <a:ext cx="1589100" cy="344400"/>
          </a:xfrm>
          <a:prstGeom prst="rec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a:solidFill>
                  <a:srgbClr val="0B5394"/>
                </a:solidFill>
                <a:latin typeface="Century Gothic"/>
                <a:ea typeface="Century Gothic"/>
                <a:cs typeface="Century Gothic"/>
                <a:sym typeface="Century Gothic"/>
              </a:rPr>
              <a:t>DAILY REVIEW</a:t>
            </a:r>
            <a:endParaRPr sz="1600">
              <a:solidFill>
                <a:srgbClr val="0B5394"/>
              </a:solidFill>
              <a:latin typeface="Century Gothic"/>
              <a:ea typeface="Century Gothic"/>
              <a:cs typeface="Century Gothic"/>
              <a:sym typeface="Century Gothic"/>
            </a:endParaRPr>
          </a:p>
        </p:txBody>
      </p:sp>
      <p:sp>
        <p:nvSpPr>
          <p:cNvPr id="19" name="Google Shape;19;p3"/>
          <p:cNvSpPr txBox="1">
            <a:spLocks noGrp="1"/>
          </p:cNvSpPr>
          <p:nvPr>
            <p:ph type="body" idx="1"/>
          </p:nvPr>
        </p:nvSpPr>
        <p:spPr>
          <a:xfrm>
            <a:off x="709450" y="566200"/>
            <a:ext cx="5123100" cy="4097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000000"/>
              </a:buClr>
              <a:buSzPts val="1800"/>
              <a:buFont typeface="Century Gothic"/>
              <a:buChar char="●"/>
              <a:defRPr>
                <a:solidFill>
                  <a:srgbClr val="000000"/>
                </a:solidFill>
                <a:latin typeface="Century Gothic"/>
                <a:ea typeface="Century Gothic"/>
                <a:cs typeface="Century Gothic"/>
                <a:sym typeface="Century Gothic"/>
              </a:defRPr>
            </a:lvl1pPr>
            <a:lvl2pPr marL="914400" lvl="1"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2pPr>
            <a:lvl3pPr marL="1371600" lvl="2"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3pPr>
            <a:lvl4pPr marL="1828800" lvl="3"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4pPr>
            <a:lvl5pPr marL="2286000" lvl="4"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5pPr>
            <a:lvl6pPr marL="2743200" lvl="5"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6pPr>
            <a:lvl7pPr marL="3200400" lvl="6"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7pPr>
            <a:lvl8pPr marL="3657600" lvl="7"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8pPr>
            <a:lvl9pPr marL="4114800" lvl="8" indent="-317500">
              <a:spcBef>
                <a:spcPts val="1600"/>
              </a:spcBef>
              <a:spcAft>
                <a:spcPts val="1600"/>
              </a:spcAft>
              <a:buClr>
                <a:srgbClr val="000000"/>
              </a:buClr>
              <a:buSzPts val="1400"/>
              <a:buFont typeface="Century Gothic"/>
              <a:buChar char="■"/>
              <a:defRPr>
                <a:solidFill>
                  <a:srgbClr val="000000"/>
                </a:solidFill>
                <a:latin typeface="Century Gothic"/>
                <a:ea typeface="Century Gothic"/>
                <a:cs typeface="Century Gothic"/>
                <a:sym typeface="Century Gothic"/>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arning Objective and Success Criteria">
  <p:cSld name="BLANK_1">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22" name="Google Shape;22;p4"/>
          <p:cNvSpPr txBox="1"/>
          <p:nvPr/>
        </p:nvSpPr>
        <p:spPr>
          <a:xfrm rot="-5400000">
            <a:off x="-929500" y="1209150"/>
            <a:ext cx="2298900" cy="344400"/>
          </a:xfrm>
          <a:prstGeom prst="rec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a:solidFill>
                  <a:srgbClr val="0B5394"/>
                </a:solidFill>
                <a:latin typeface="Century Gothic"/>
                <a:ea typeface="Century Gothic"/>
                <a:cs typeface="Century Gothic"/>
                <a:sym typeface="Century Gothic"/>
              </a:rPr>
              <a:t>LEARNING OBJECTIVE</a:t>
            </a:r>
            <a:endParaRPr sz="1600">
              <a:solidFill>
                <a:srgbClr val="0B5394"/>
              </a:solidFill>
              <a:latin typeface="Century Gothic"/>
              <a:ea typeface="Century Gothic"/>
              <a:cs typeface="Century Gothic"/>
              <a:sym typeface="Century Gothic"/>
            </a:endParaRPr>
          </a:p>
        </p:txBody>
      </p:sp>
      <p:sp>
        <p:nvSpPr>
          <p:cNvPr id="23" name="Google Shape;23;p4"/>
          <p:cNvSpPr/>
          <p:nvPr/>
        </p:nvSpPr>
        <p:spPr>
          <a:xfrm>
            <a:off x="395650" y="231900"/>
            <a:ext cx="6419100" cy="2305800"/>
          </a:xfrm>
          <a:prstGeom prst="homePlate">
            <a:avLst>
              <a:gd name="adj" fmla="val 50000"/>
            </a:avLst>
          </a:prstGeom>
          <a:solidFill>
            <a:srgbClr val="0B5394"/>
          </a:solidFill>
          <a:ln w="952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title"/>
          </p:nvPr>
        </p:nvSpPr>
        <p:spPr>
          <a:xfrm>
            <a:off x="532075" y="477525"/>
            <a:ext cx="5061600" cy="1835100"/>
          </a:xfrm>
          <a:prstGeom prst="rect">
            <a:avLst/>
          </a:prstGeom>
        </p:spPr>
        <p:txBody>
          <a:bodyPr spcFirstLastPara="1" wrap="square" lIns="91425" tIns="91425" rIns="91425" bIns="91425" anchor="t" anchorCtr="0">
            <a:noAutofit/>
          </a:bodyPr>
          <a:lstStyle>
            <a:lvl1pPr lvl="0">
              <a:spcBef>
                <a:spcPts val="0"/>
              </a:spcBef>
              <a:spcAft>
                <a:spcPts val="0"/>
              </a:spcAft>
              <a:buNone/>
              <a:defRPr>
                <a:solidFill>
                  <a:srgbClr val="FFFFFF"/>
                </a:solidFill>
                <a:latin typeface="Century Gothic"/>
                <a:ea typeface="Century Gothic"/>
                <a:cs typeface="Century Gothic"/>
                <a:sym typeface="Century Gothic"/>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5" name="Google Shape;25;p4"/>
          <p:cNvSpPr txBox="1"/>
          <p:nvPr/>
        </p:nvSpPr>
        <p:spPr>
          <a:xfrm rot="-5400000">
            <a:off x="-790750" y="3730950"/>
            <a:ext cx="2021400" cy="344400"/>
          </a:xfrm>
          <a:prstGeom prst="rec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a:solidFill>
                  <a:srgbClr val="0B5394"/>
                </a:solidFill>
                <a:latin typeface="Century Gothic"/>
                <a:ea typeface="Century Gothic"/>
                <a:cs typeface="Century Gothic"/>
                <a:sym typeface="Century Gothic"/>
              </a:rPr>
              <a:t>SUCCESS CRITERIA</a:t>
            </a:r>
            <a:endParaRPr sz="1600">
              <a:solidFill>
                <a:srgbClr val="0B5394"/>
              </a:solidFill>
              <a:latin typeface="Century Gothic"/>
              <a:ea typeface="Century Gothic"/>
              <a:cs typeface="Century Gothic"/>
              <a:sym typeface="Century Gothic"/>
            </a:endParaRPr>
          </a:p>
        </p:txBody>
      </p:sp>
      <p:sp>
        <p:nvSpPr>
          <p:cNvPr id="26" name="Google Shape;26;p4"/>
          <p:cNvSpPr txBox="1">
            <a:spLocks noGrp="1"/>
          </p:cNvSpPr>
          <p:nvPr>
            <p:ph type="body" idx="1"/>
          </p:nvPr>
        </p:nvSpPr>
        <p:spPr>
          <a:xfrm>
            <a:off x="497975" y="2892375"/>
            <a:ext cx="5198100" cy="2012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000000"/>
              </a:buClr>
              <a:buSzPts val="1800"/>
              <a:buFont typeface="Century Gothic"/>
              <a:buChar char="●"/>
              <a:defRPr>
                <a:solidFill>
                  <a:srgbClr val="000000"/>
                </a:solidFill>
                <a:latin typeface="Century Gothic"/>
                <a:ea typeface="Century Gothic"/>
                <a:cs typeface="Century Gothic"/>
                <a:sym typeface="Century Gothic"/>
              </a:defRPr>
            </a:lvl1pPr>
            <a:lvl2pPr marL="914400" lvl="1"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2pPr>
            <a:lvl3pPr marL="1371600" lvl="2"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3pPr>
            <a:lvl4pPr marL="1828800" lvl="3"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4pPr>
            <a:lvl5pPr marL="2286000" lvl="4"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5pPr>
            <a:lvl6pPr marL="2743200" lvl="5"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6pPr>
            <a:lvl7pPr marL="3200400" lvl="6"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7pPr>
            <a:lvl8pPr marL="3657600" lvl="7"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8pPr>
            <a:lvl9pPr marL="4114800" lvl="8" indent="-317500">
              <a:spcBef>
                <a:spcPts val="1600"/>
              </a:spcBef>
              <a:spcAft>
                <a:spcPts val="1600"/>
              </a:spcAft>
              <a:buClr>
                <a:srgbClr val="000000"/>
              </a:buClr>
              <a:buSzPts val="1400"/>
              <a:buFont typeface="Century Gothic"/>
              <a:buChar char="■"/>
              <a:defRPr>
                <a:solidFill>
                  <a:srgbClr val="000000"/>
                </a:solidFill>
                <a:latin typeface="Century Gothic"/>
                <a:ea typeface="Century Gothic"/>
                <a:cs typeface="Century Gothic"/>
                <a:sym typeface="Century Gothic"/>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ctivate Prior Knowledge">
  <p:cSld name="BLANK_1_1">
    <p:spTree>
      <p:nvGrpSpPr>
        <p:cNvPr id="1" name="Shape 27"/>
        <p:cNvGrpSpPr/>
        <p:nvPr/>
      </p:nvGrpSpPr>
      <p:grpSpPr>
        <a:xfrm>
          <a:off x="0" y="0"/>
          <a:ext cx="0" cy="0"/>
          <a:chOff x="0" y="0"/>
          <a:chExt cx="0" cy="0"/>
        </a:xfrm>
      </p:grpSpPr>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29" name="Google Shape;29;p5"/>
          <p:cNvSpPr txBox="1"/>
          <p:nvPr/>
        </p:nvSpPr>
        <p:spPr>
          <a:xfrm rot="-5400000">
            <a:off x="-1398650" y="2399550"/>
            <a:ext cx="3233400" cy="344400"/>
          </a:xfrm>
          <a:prstGeom prst="rec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a:solidFill>
                  <a:srgbClr val="0B5394"/>
                </a:solidFill>
                <a:latin typeface="Century Gothic"/>
                <a:ea typeface="Century Gothic"/>
                <a:cs typeface="Century Gothic"/>
                <a:sym typeface="Century Gothic"/>
              </a:rPr>
              <a:t>ACTIVATE PRIOR KNOWLEDGE</a:t>
            </a:r>
            <a:endParaRPr sz="1600">
              <a:solidFill>
                <a:srgbClr val="0B5394"/>
              </a:solidFill>
              <a:latin typeface="Century Gothic"/>
              <a:ea typeface="Century Gothic"/>
              <a:cs typeface="Century Gothic"/>
              <a:sym typeface="Century Gothic"/>
            </a:endParaRPr>
          </a:p>
        </p:txBody>
      </p:sp>
      <p:sp>
        <p:nvSpPr>
          <p:cNvPr id="30" name="Google Shape;30;p5"/>
          <p:cNvSpPr/>
          <p:nvPr/>
        </p:nvSpPr>
        <p:spPr>
          <a:xfrm>
            <a:off x="45850" y="231925"/>
            <a:ext cx="6680400" cy="423000"/>
          </a:xfrm>
          <a:prstGeom prst="rect">
            <a:avLst/>
          </a:prstGeom>
          <a:solidFill>
            <a:srgbClr val="0B5394"/>
          </a:solidFill>
          <a:ln w="952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lvl1pPr lvl="0">
              <a:spcBef>
                <a:spcPts val="0"/>
              </a:spcBef>
              <a:spcAft>
                <a:spcPts val="0"/>
              </a:spcAft>
              <a:buNone/>
              <a:defRPr>
                <a:solidFill>
                  <a:srgbClr val="FFFFFF"/>
                </a:solidFill>
                <a:latin typeface="Century Gothic"/>
                <a:ea typeface="Century Gothic"/>
                <a:cs typeface="Century Gothic"/>
                <a:sym typeface="Century Gothic"/>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32" name="Google Shape;32;p5"/>
          <p:cNvSpPr txBox="1">
            <a:spLocks noGrp="1"/>
          </p:cNvSpPr>
          <p:nvPr>
            <p:ph type="body" idx="2"/>
          </p:nvPr>
        </p:nvSpPr>
        <p:spPr>
          <a:xfrm>
            <a:off x="552550" y="852700"/>
            <a:ext cx="6173700" cy="40656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000000"/>
              </a:buClr>
              <a:buSzPts val="1800"/>
              <a:buFont typeface="Century Gothic"/>
              <a:buChar char="●"/>
              <a:defRPr>
                <a:solidFill>
                  <a:srgbClr val="000000"/>
                </a:solidFill>
                <a:latin typeface="Century Gothic"/>
                <a:ea typeface="Century Gothic"/>
                <a:cs typeface="Century Gothic"/>
                <a:sym typeface="Century Gothic"/>
              </a:defRPr>
            </a:lvl1pPr>
            <a:lvl2pPr marL="914400" lvl="1"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2pPr>
            <a:lvl3pPr marL="1371600" lvl="2"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3pPr>
            <a:lvl4pPr marL="1828800" lvl="3"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4pPr>
            <a:lvl5pPr marL="2286000" lvl="4"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5pPr>
            <a:lvl6pPr marL="2743200" lvl="5"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6pPr>
            <a:lvl7pPr marL="3200400" lvl="6"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7pPr>
            <a:lvl8pPr marL="3657600" lvl="7" indent="-31750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8pPr>
            <a:lvl9pPr marL="4114800" lvl="8" indent="-317500">
              <a:spcBef>
                <a:spcPts val="1600"/>
              </a:spcBef>
              <a:spcAft>
                <a:spcPts val="1600"/>
              </a:spcAft>
              <a:buClr>
                <a:srgbClr val="000000"/>
              </a:buClr>
              <a:buSzPts val="1400"/>
              <a:buFont typeface="Century Gothic"/>
              <a:buChar char="■"/>
              <a:defRPr>
                <a:solidFill>
                  <a:srgbClr val="000000"/>
                </a:solidFill>
                <a:latin typeface="Century Gothic"/>
                <a:ea typeface="Century Gothic"/>
                <a:cs typeface="Century Gothic"/>
                <a:sym typeface="Century Gothic"/>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cept Development">
  <p:cSld name="BLANK_1_1_1">
    <p:spTree>
      <p:nvGrpSpPr>
        <p:cNvPr id="1" name="Shape 33"/>
        <p:cNvGrpSpPr/>
        <p:nvPr/>
      </p:nvGrpSpPr>
      <p:grpSpPr>
        <a:xfrm>
          <a:off x="0" y="0"/>
          <a:ext cx="0" cy="0"/>
          <a:chOff x="0" y="0"/>
          <a:chExt cx="0" cy="0"/>
        </a:xfrm>
      </p:grpSpPr>
      <p:sp>
        <p:nvSpPr>
          <p:cNvPr id="34" name="Google Shape;3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35" name="Google Shape;35;p6"/>
          <p:cNvSpPr txBox="1"/>
          <p:nvPr/>
        </p:nvSpPr>
        <p:spPr>
          <a:xfrm rot="-5400000">
            <a:off x="-1139375" y="2399550"/>
            <a:ext cx="2728500" cy="344400"/>
          </a:xfrm>
          <a:prstGeom prst="rec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a:solidFill>
                  <a:srgbClr val="0B5394"/>
                </a:solidFill>
                <a:latin typeface="Century Gothic"/>
                <a:ea typeface="Century Gothic"/>
                <a:cs typeface="Century Gothic"/>
                <a:sym typeface="Century Gothic"/>
              </a:rPr>
              <a:t>CONCEPT DEVELOPMENT</a:t>
            </a:r>
            <a:endParaRPr sz="1600">
              <a:solidFill>
                <a:srgbClr val="0B5394"/>
              </a:solidFill>
              <a:latin typeface="Century Gothic"/>
              <a:ea typeface="Century Gothic"/>
              <a:cs typeface="Century Gothic"/>
              <a:sym typeface="Century Gothic"/>
            </a:endParaRPr>
          </a:p>
        </p:txBody>
      </p:sp>
      <p:sp>
        <p:nvSpPr>
          <p:cNvPr id="36" name="Google Shape;36;p6"/>
          <p:cNvSpPr/>
          <p:nvPr/>
        </p:nvSpPr>
        <p:spPr>
          <a:xfrm>
            <a:off x="45850" y="231925"/>
            <a:ext cx="6680400" cy="423000"/>
          </a:xfrm>
          <a:prstGeom prst="rect">
            <a:avLst/>
          </a:prstGeom>
          <a:solidFill>
            <a:srgbClr val="0B5394"/>
          </a:solidFill>
          <a:ln w="952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FFFFFF"/>
                </a:solidFill>
                <a:latin typeface="Century Gothic"/>
                <a:ea typeface="Century Gothic"/>
                <a:cs typeface="Century Gothic"/>
                <a:sym typeface="Century Gothic"/>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8" name="Google Shape;38;p6"/>
          <p:cNvSpPr txBox="1">
            <a:spLocks noGrp="1"/>
          </p:cNvSpPr>
          <p:nvPr>
            <p:ph type="body" idx="2"/>
          </p:nvPr>
        </p:nvSpPr>
        <p:spPr>
          <a:xfrm>
            <a:off x="552550" y="852700"/>
            <a:ext cx="6173700" cy="4065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000000"/>
              </a:buClr>
              <a:buSzPts val="1800"/>
              <a:buFont typeface="Century Gothic"/>
              <a:buChar char="●"/>
              <a:defRPr>
                <a:solidFill>
                  <a:srgbClr val="000000"/>
                </a:solidFill>
                <a:latin typeface="Century Gothic"/>
                <a:ea typeface="Century Gothic"/>
                <a:cs typeface="Century Gothic"/>
                <a:sym typeface="Century Gothic"/>
              </a:defRPr>
            </a:lvl1pPr>
            <a:lvl2pPr marL="914400" lvl="1"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2pPr>
            <a:lvl3pPr marL="1371600" lvl="2"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3pPr>
            <a:lvl4pPr marL="1828800" lvl="3"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4pPr>
            <a:lvl5pPr marL="2286000" lvl="4"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5pPr>
            <a:lvl6pPr marL="2743200" lvl="5"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6pPr>
            <a:lvl7pPr marL="3200400" lvl="6"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7pPr>
            <a:lvl8pPr marL="3657600" lvl="7" indent="-317500" rtl="0">
              <a:spcBef>
                <a:spcPts val="1600"/>
              </a:spcBef>
              <a:spcAft>
                <a:spcPts val="0"/>
              </a:spcAft>
              <a:buClr>
                <a:srgbClr val="000000"/>
              </a:buClr>
              <a:buSzPts val="1400"/>
              <a:buFont typeface="Century Gothic"/>
              <a:buChar char="○"/>
              <a:defRPr>
                <a:solidFill>
                  <a:srgbClr val="000000"/>
                </a:solidFill>
                <a:latin typeface="Century Gothic"/>
                <a:ea typeface="Century Gothic"/>
                <a:cs typeface="Century Gothic"/>
                <a:sym typeface="Century Gothic"/>
              </a:defRPr>
            </a:lvl8pPr>
            <a:lvl9pPr marL="4114800" lvl="8" indent="-317500" rtl="0">
              <a:spcBef>
                <a:spcPts val="1600"/>
              </a:spcBef>
              <a:spcAft>
                <a:spcPts val="1600"/>
              </a:spcAft>
              <a:buClr>
                <a:srgbClr val="000000"/>
              </a:buClr>
              <a:buSzPts val="1400"/>
              <a:buFont typeface="Century Gothic"/>
              <a:buChar char="■"/>
              <a:defRPr>
                <a:solidFill>
                  <a:srgbClr val="000000"/>
                </a:solidFill>
                <a:latin typeface="Century Gothic"/>
                <a:ea typeface="Century Gothic"/>
                <a:cs typeface="Century Gothic"/>
                <a:sym typeface="Century Gothic"/>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
        <p:nvSpPr>
          <p:cNvPr id="9" name="Google Shape;9;p1"/>
          <p:cNvSpPr/>
          <p:nvPr/>
        </p:nvSpPr>
        <p:spPr>
          <a:xfrm>
            <a:off x="47750" y="34100"/>
            <a:ext cx="9063300" cy="5075400"/>
          </a:xfrm>
          <a:prstGeom prst="roundRect">
            <a:avLst>
              <a:gd name="adj" fmla="val 3214"/>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video" Target="https://www.youtube.com/embed/J1yIApZtLos?feature=oembed"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gif"/></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4.gif"/></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body" idx="1"/>
          </p:nvPr>
        </p:nvSpPr>
        <p:spPr>
          <a:xfrm>
            <a:off x="497974" y="2797782"/>
            <a:ext cx="8646026" cy="2012400"/>
          </a:xfrm>
          <a:prstGeom prst="rect">
            <a:avLst/>
          </a:prstGeom>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SzPts val="1800"/>
              <a:buChar char="●"/>
            </a:pPr>
            <a:r>
              <a:rPr lang="en-GB" sz="2000" dirty="0"/>
              <a:t>Identify the wave properties of light</a:t>
            </a:r>
          </a:p>
          <a:p>
            <a:pPr lvl="1">
              <a:lnSpc>
                <a:spcPct val="100000"/>
              </a:lnSpc>
            </a:pPr>
            <a:r>
              <a:rPr lang="en-AU" sz="1200" dirty="0"/>
              <a:t>explain the difference between transverse and longitudinal waves.</a:t>
            </a:r>
          </a:p>
          <a:p>
            <a:pPr lvl="1">
              <a:lnSpc>
                <a:spcPct val="100000"/>
              </a:lnSpc>
            </a:pPr>
            <a:r>
              <a:rPr lang="en-AU" sz="1200" dirty="0"/>
              <a:t>explain the difference between mechanical and electromagnetic waves.</a:t>
            </a:r>
          </a:p>
          <a:p>
            <a:pPr lvl="1">
              <a:lnSpc>
                <a:spcPct val="100000"/>
              </a:lnSpc>
            </a:pPr>
            <a:r>
              <a:rPr lang="en-AU" sz="1200" dirty="0"/>
              <a:t>identify the key characteristics of waves.</a:t>
            </a:r>
          </a:p>
          <a:p>
            <a:pPr lvl="1">
              <a:lnSpc>
                <a:spcPct val="100000"/>
              </a:lnSpc>
            </a:pPr>
            <a:r>
              <a:rPr lang="en-AU" sz="1200" dirty="0"/>
              <a:t>explain reflection, refraction, diffraction and dispersion.</a:t>
            </a:r>
          </a:p>
          <a:p>
            <a:pPr lvl="1">
              <a:lnSpc>
                <a:spcPct val="100000"/>
              </a:lnSpc>
            </a:pPr>
            <a:r>
              <a:rPr lang="en-AU" sz="1200" dirty="0"/>
              <a:t>define polarisation and draw a diagram explaining how Polaroid sunglasses work.</a:t>
            </a:r>
          </a:p>
          <a:p>
            <a:pPr marL="457200" lvl="0" indent="-342900" algn="l" rtl="0">
              <a:lnSpc>
                <a:spcPct val="100000"/>
              </a:lnSpc>
              <a:spcBef>
                <a:spcPts val="0"/>
              </a:spcBef>
              <a:spcAft>
                <a:spcPts val="0"/>
              </a:spcAft>
              <a:buSzPts val="1800"/>
              <a:buChar char="●"/>
            </a:pPr>
            <a:r>
              <a:rPr lang="en-GB" dirty="0"/>
              <a:t>Theorise why light can travel through a vacuum </a:t>
            </a:r>
            <a:endParaRPr dirty="0"/>
          </a:p>
        </p:txBody>
      </p:sp>
      <p:sp>
        <p:nvSpPr>
          <p:cNvPr id="110" name="Google Shape;110;p18"/>
          <p:cNvSpPr txBox="1">
            <a:spLocks noGrp="1"/>
          </p:cNvSpPr>
          <p:nvPr>
            <p:ph type="title"/>
          </p:nvPr>
        </p:nvSpPr>
        <p:spPr>
          <a:xfrm>
            <a:off x="532075" y="477525"/>
            <a:ext cx="5061600" cy="1835100"/>
          </a:xfrm>
          <a:prstGeom prst="rect">
            <a:avLst/>
          </a:prstGeom>
        </p:spPr>
        <p:txBody>
          <a:bodyPr spcFirstLastPara="1" wrap="square" lIns="91425" tIns="91425" rIns="91425" bIns="91425" anchor="ctr" anchorCtr="0">
            <a:noAutofit/>
          </a:bodyPr>
          <a:lstStyle/>
          <a:p>
            <a:r>
              <a:rPr lang="en-AU" sz="2000" i="1" dirty="0"/>
              <a:t>Science Understanding</a:t>
            </a:r>
            <a:br>
              <a:rPr lang="en-AU" sz="2000" b="1" dirty="0"/>
            </a:br>
            <a:r>
              <a:rPr lang="en-AU" sz="2000" b="1" dirty="0"/>
              <a:t>- </a:t>
            </a:r>
            <a:r>
              <a:rPr lang="en-AU" sz="2000" dirty="0"/>
              <a:t>light exhibits many wave properties; however, it cannot only be modelled as a mechanical wave because it can travel through a vacuum</a:t>
            </a:r>
          </a:p>
        </p:txBody>
      </p:sp>
      <p:graphicFrame>
        <p:nvGraphicFramePr>
          <p:cNvPr id="113" name="Google Shape;113;p18"/>
          <p:cNvGraphicFramePr/>
          <p:nvPr/>
        </p:nvGraphicFramePr>
        <p:xfrm>
          <a:off x="7603350" y="229425"/>
          <a:ext cx="1224575" cy="350490"/>
        </p:xfrm>
        <a:graphic>
          <a:graphicData uri="http://schemas.openxmlformats.org/drawingml/2006/table">
            <a:tbl>
              <a:tblPr>
                <a:noFill/>
                <a:tableStyleId>{AF5A32C6-797B-414A-9575-1DBF260193D0}</a:tableStyleId>
              </a:tblPr>
              <a:tblGrid>
                <a:gridCol w="12245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TRACK WITH ME</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0B5394"/>
                      </a:solidFill>
                      <a:prstDash val="solid"/>
                      <a:round/>
                      <a:headEnd type="none" w="sm" len="sm"/>
                      <a:tailEnd type="none" w="sm" len="sm"/>
                    </a:lnL>
                    <a:lnR w="9525" cap="flat" cmpd="sng">
                      <a:solidFill>
                        <a:srgbClr val="0B5394"/>
                      </a:solidFill>
                      <a:prstDash val="solid"/>
                      <a:round/>
                      <a:headEnd type="none" w="sm" len="sm"/>
                      <a:tailEnd type="none" w="sm" len="sm"/>
                    </a:lnR>
                    <a:lnT w="9525" cap="flat" cmpd="sng">
                      <a:solidFill>
                        <a:srgbClr val="0B5394"/>
                      </a:solidFill>
                      <a:prstDash val="solid"/>
                      <a:round/>
                      <a:headEnd type="none" w="sm" len="sm"/>
                      <a:tailEnd type="none" w="sm" len="sm"/>
                    </a:lnT>
                    <a:lnB w="9525" cap="flat" cmpd="sng">
                      <a:solidFill>
                        <a:srgbClr val="0B5394"/>
                      </a:solidFill>
                      <a:prstDash val="solid"/>
                      <a:round/>
                      <a:headEnd type="none" w="sm" len="sm"/>
                      <a:tailEnd type="none" w="sm" len="sm"/>
                    </a:lnB>
                    <a:solidFill>
                      <a:srgbClr val="0B5394"/>
                    </a:solidFill>
                  </a:tcPr>
                </a:tc>
                <a:extLst>
                  <a:ext uri="{0D108BD9-81ED-4DB2-BD59-A6C34878D82A}">
                    <a16:rowId xmlns:a16="http://schemas.microsoft.com/office/drawing/2014/main" val="10000"/>
                  </a:ext>
                </a:extLst>
              </a:tr>
            </a:tbl>
          </a:graphicData>
        </a:graphic>
      </p:graphicFrame>
      <p:graphicFrame>
        <p:nvGraphicFramePr>
          <p:cNvPr id="114" name="Google Shape;114;p18"/>
          <p:cNvGraphicFramePr/>
          <p:nvPr/>
        </p:nvGraphicFramePr>
        <p:xfrm>
          <a:off x="7603350" y="738925"/>
          <a:ext cx="1224575" cy="350490"/>
        </p:xfrm>
        <a:graphic>
          <a:graphicData uri="http://schemas.openxmlformats.org/drawingml/2006/table">
            <a:tbl>
              <a:tblPr>
                <a:noFill/>
                <a:tableStyleId>{AF5A32C6-797B-414A-9575-1DBF260193D0}</a:tableStyleId>
              </a:tblPr>
              <a:tblGrid>
                <a:gridCol w="12245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READ WITH ME</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0B5394"/>
                      </a:solidFill>
                      <a:prstDash val="solid"/>
                      <a:round/>
                      <a:headEnd type="none" w="sm" len="sm"/>
                      <a:tailEnd type="none" w="sm" len="sm"/>
                    </a:lnL>
                    <a:lnR w="9525" cap="flat" cmpd="sng">
                      <a:solidFill>
                        <a:srgbClr val="0B5394"/>
                      </a:solidFill>
                      <a:prstDash val="solid"/>
                      <a:round/>
                      <a:headEnd type="none" w="sm" len="sm"/>
                      <a:tailEnd type="none" w="sm" len="sm"/>
                    </a:lnR>
                    <a:lnT w="9525" cap="flat" cmpd="sng">
                      <a:solidFill>
                        <a:srgbClr val="0B5394"/>
                      </a:solidFill>
                      <a:prstDash val="solid"/>
                      <a:round/>
                      <a:headEnd type="none" w="sm" len="sm"/>
                      <a:tailEnd type="none" w="sm" len="sm"/>
                    </a:lnT>
                    <a:lnB w="9525" cap="flat" cmpd="sng">
                      <a:solidFill>
                        <a:srgbClr val="0B5394"/>
                      </a:solidFill>
                      <a:prstDash val="solid"/>
                      <a:round/>
                      <a:headEnd type="none" w="sm" len="sm"/>
                      <a:tailEnd type="none" w="sm" len="sm"/>
                    </a:lnB>
                    <a:solidFill>
                      <a:srgbClr val="0B5394"/>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C9E822-3678-46FE-BFB7-0719D6111CA3}"/>
              </a:ext>
            </a:extLst>
          </p:cNvPr>
          <p:cNvSpPr>
            <a:spLocks noGrp="1"/>
          </p:cNvSpPr>
          <p:nvPr>
            <p:ph type="body" idx="1"/>
          </p:nvPr>
        </p:nvSpPr>
        <p:spPr>
          <a:xfrm>
            <a:off x="709449" y="566200"/>
            <a:ext cx="8244769" cy="4097100"/>
          </a:xfrm>
        </p:spPr>
        <p:txBody>
          <a:bodyPr/>
          <a:lstStyle/>
          <a:p>
            <a:pPr marL="114300" indent="0">
              <a:buNone/>
            </a:pPr>
            <a:r>
              <a:rPr lang="en-GB" dirty="0"/>
              <a:t>Additional Syllabus Points: </a:t>
            </a:r>
          </a:p>
          <a:p>
            <a:pPr marL="114300" indent="0">
              <a:buNone/>
            </a:pPr>
            <a:r>
              <a:rPr lang="en-GB" i="1" dirty="0"/>
              <a:t>Scientific Understanding </a:t>
            </a:r>
          </a:p>
          <a:p>
            <a:pPr>
              <a:buFontTx/>
              <a:buChar char="-"/>
            </a:pPr>
            <a:r>
              <a:rPr lang="en-AU" dirty="0"/>
              <a:t>a wave model explains a wide range of light-related phenomena, including reflection, refraction, dispersion, diffraction and interference; a transverse wave model is required to explain polarisation</a:t>
            </a:r>
          </a:p>
          <a:p>
            <a:pPr>
              <a:buFontTx/>
              <a:buChar char="-"/>
            </a:pPr>
            <a:r>
              <a:rPr lang="en-AU" dirty="0"/>
              <a:t>electromagnetic waves are transverse waves made up of mutually perpendicular, oscillating electric and magnetic fields</a:t>
            </a:r>
          </a:p>
          <a:p>
            <a:pPr>
              <a:buFontTx/>
              <a:buChar char="-"/>
            </a:pPr>
            <a:r>
              <a:rPr lang="en-AU" dirty="0"/>
              <a:t>oscillating charges produce electromagnetic waves of the same frequency as the oscillation; electromagnetic waves cause charges to oscillate at the frequency of the wave</a:t>
            </a:r>
          </a:p>
          <a:p>
            <a:pPr>
              <a:buFontTx/>
              <a:buChar char="-"/>
            </a:pPr>
            <a:endParaRPr lang="en-AU" dirty="0"/>
          </a:p>
          <a:p>
            <a:pPr>
              <a:buFontTx/>
              <a:buChar char="-"/>
            </a:pPr>
            <a:endParaRPr lang="en-AU" dirty="0"/>
          </a:p>
          <a:p>
            <a:pPr marL="114300" indent="0">
              <a:buNone/>
            </a:pPr>
            <a:endParaRPr lang="en-AU" i="1" dirty="0"/>
          </a:p>
        </p:txBody>
      </p:sp>
    </p:spTree>
    <p:extLst>
      <p:ext uri="{BB962C8B-B14F-4D97-AF65-F5344CB8AC3E}">
        <p14:creationId xmlns:p14="http://schemas.microsoft.com/office/powerpoint/2010/main" val="1189313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20" name="Google Shape;120;p19"/>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GB" dirty="0"/>
              <a:t>Identify the wave properties of light </a:t>
            </a:r>
            <a:endParaRPr dirty="0"/>
          </a:p>
        </p:txBody>
      </p:sp>
      <p:pic>
        <p:nvPicPr>
          <p:cNvPr id="5" name="Online Media 4" title="Is light a particle or a wave? - Colm Kelleher">
            <a:hlinkClick r:id="" action="ppaction://media"/>
            <a:extLst>
              <a:ext uri="{FF2B5EF4-FFF2-40B4-BE49-F238E27FC236}">
                <a16:creationId xmlns:a16="http://schemas.microsoft.com/office/drawing/2014/main" id="{478E653C-8E99-4FB3-B1C1-D82967CDBD8E}"/>
              </a:ext>
            </a:extLst>
          </p:cNvPr>
          <p:cNvPicPr>
            <a:picLocks noRot="1" noChangeAspect="1"/>
          </p:cNvPicPr>
          <p:nvPr>
            <a:videoFile r:link="rId1"/>
          </p:nvPr>
        </p:nvPicPr>
        <p:blipFill>
          <a:blip r:embed="rId4"/>
          <a:stretch>
            <a:fillRect/>
          </a:stretch>
        </p:blipFill>
        <p:spPr>
          <a:xfrm>
            <a:off x="465827" y="614050"/>
            <a:ext cx="7919048" cy="4454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1710273559"/>
              </p:ext>
            </p:extLst>
          </p:nvPr>
        </p:nvGraphicFramePr>
        <p:xfrm>
          <a:off x="6685300" y="852700"/>
          <a:ext cx="2142625" cy="120390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are some real life examples of these properties? </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31DC6194-99F7-4BC3-9D09-9F19E240A0B4}"/>
              </a:ext>
            </a:extLst>
          </p:cNvPr>
          <p:cNvSpPr>
            <a:spLocks noGrp="1"/>
          </p:cNvSpPr>
          <p:nvPr>
            <p:ph type="body" idx="2"/>
          </p:nvPr>
        </p:nvSpPr>
        <p:spPr>
          <a:xfrm>
            <a:off x="552550" y="852700"/>
            <a:ext cx="7211224" cy="4065600"/>
          </a:xfrm>
        </p:spPr>
        <p:txBody>
          <a:bodyPr/>
          <a:lstStyle/>
          <a:p>
            <a:pPr marL="114300" indent="0">
              <a:buNone/>
            </a:pPr>
            <a:r>
              <a:rPr lang="en-GB" dirty="0"/>
              <a:t>List as many properties of 2D waves that you can </a:t>
            </a:r>
            <a:br>
              <a:rPr lang="en-GB" dirty="0"/>
            </a:br>
            <a:r>
              <a:rPr lang="en-GB" dirty="0"/>
              <a:t>remember from Year 11.</a:t>
            </a:r>
          </a:p>
          <a:p>
            <a:pPr marL="114300" indent="0">
              <a:buNone/>
            </a:pPr>
            <a:endParaRPr lang="en-GB" dirty="0"/>
          </a:p>
          <a:p>
            <a:pPr>
              <a:buFontTx/>
              <a:buChar char="-"/>
            </a:pPr>
            <a:r>
              <a:rPr lang="en-GB" dirty="0"/>
              <a:t>Transfer of energy (no/little matter) </a:t>
            </a:r>
          </a:p>
          <a:p>
            <a:pPr lvl="1">
              <a:buFontTx/>
              <a:buChar char="-"/>
            </a:pPr>
            <a:r>
              <a:rPr lang="en-GB" dirty="0"/>
              <a:t>Particles in medium vibrate about their mean positions </a:t>
            </a:r>
          </a:p>
          <a:p>
            <a:pPr lvl="1">
              <a:buFontTx/>
              <a:buChar char="-"/>
            </a:pPr>
            <a:r>
              <a:rPr lang="en-GB" dirty="0"/>
              <a:t>Particles experience no permanent displacement </a:t>
            </a:r>
          </a:p>
          <a:p>
            <a:pPr lvl="1">
              <a:buFontTx/>
              <a:buChar char="-"/>
            </a:pPr>
            <a:r>
              <a:rPr lang="en-GB" dirty="0"/>
              <a:t>Successive particles perform similar motions with slight time delay</a:t>
            </a:r>
          </a:p>
          <a:p>
            <a:pPr lvl="1">
              <a:buFontTx/>
              <a:buChar char="-"/>
            </a:pPr>
            <a:endParaRPr lang="en-GB" dirty="0"/>
          </a:p>
          <a:p>
            <a:pPr>
              <a:buFontTx/>
              <a:buChar char="-"/>
            </a:pPr>
            <a:r>
              <a:rPr lang="en-GB" dirty="0"/>
              <a:t>Draw a diagram and label the other properties…</a:t>
            </a:r>
          </a:p>
          <a:p>
            <a:pPr>
              <a:buFontTx/>
              <a:buChar char="-"/>
            </a:pPr>
            <a:r>
              <a:rPr lang="en-GB" dirty="0"/>
              <a:t>Include: amplitude, wavelength, peak, direction of motion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nvGraphicFramePr>
        <p:xfrm>
          <a:off x="6685300" y="852700"/>
          <a:ext cx="2142625" cy="120390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are some real life examples of these properties? </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 name="Text Placeholder 3">
            <a:extLst>
              <a:ext uri="{FF2B5EF4-FFF2-40B4-BE49-F238E27FC236}">
                <a16:creationId xmlns:a16="http://schemas.microsoft.com/office/drawing/2014/main" id="{2073B178-6507-458B-AF28-100337E7D7F3}"/>
              </a:ext>
            </a:extLst>
          </p:cNvPr>
          <p:cNvSpPr>
            <a:spLocks noGrp="1"/>
          </p:cNvSpPr>
          <p:nvPr>
            <p:ph type="body" idx="2"/>
          </p:nvPr>
        </p:nvSpPr>
        <p:spPr/>
        <p:txBody>
          <a:bodyPr/>
          <a:lstStyle/>
          <a:p>
            <a:endParaRPr lang="en-AU"/>
          </a:p>
        </p:txBody>
      </p:sp>
      <p:pic>
        <p:nvPicPr>
          <p:cNvPr id="7" name="Picture 6">
            <a:extLst>
              <a:ext uri="{FF2B5EF4-FFF2-40B4-BE49-F238E27FC236}">
                <a16:creationId xmlns:a16="http://schemas.microsoft.com/office/drawing/2014/main" id="{1D4E2794-8A9C-4BF5-B1E0-7CB75182D4D3}"/>
              </a:ext>
            </a:extLst>
          </p:cNvPr>
          <p:cNvPicPr/>
          <p:nvPr/>
        </p:nvPicPr>
        <p:blipFill>
          <a:blip r:embed="rId3"/>
          <a:stretch>
            <a:fillRect/>
          </a:stretch>
        </p:blipFill>
        <p:spPr>
          <a:xfrm>
            <a:off x="1" y="852700"/>
            <a:ext cx="9144000" cy="4065600"/>
          </a:xfrm>
          <a:prstGeom prst="rect">
            <a:avLst/>
          </a:prstGeom>
        </p:spPr>
      </p:pic>
    </p:spTree>
    <p:extLst>
      <p:ext uri="{BB962C8B-B14F-4D97-AF65-F5344CB8AC3E}">
        <p14:creationId xmlns:p14="http://schemas.microsoft.com/office/powerpoint/2010/main" val="385398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853833112"/>
              </p:ext>
            </p:extLst>
          </p:nvPr>
        </p:nvGraphicFramePr>
        <p:xfrm>
          <a:off x="6685300" y="852700"/>
          <a:ext cx="2142625" cy="120390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are some other real life examples of transverse waves?</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31DC6194-99F7-4BC3-9D09-9F19E240A0B4}"/>
              </a:ext>
            </a:extLst>
          </p:cNvPr>
          <p:cNvSpPr>
            <a:spLocks noGrp="1"/>
          </p:cNvSpPr>
          <p:nvPr>
            <p:ph type="body" idx="2"/>
          </p:nvPr>
        </p:nvSpPr>
        <p:spPr>
          <a:xfrm>
            <a:off x="552550" y="852700"/>
            <a:ext cx="6132750" cy="4065600"/>
          </a:xfrm>
        </p:spPr>
        <p:txBody>
          <a:bodyPr/>
          <a:lstStyle/>
          <a:p>
            <a:pPr marL="114300" indent="0">
              <a:buNone/>
            </a:pPr>
            <a:r>
              <a:rPr lang="en-GB" b="1" dirty="0"/>
              <a:t>Transverse Waves: </a:t>
            </a:r>
          </a:p>
          <a:p>
            <a:pPr marL="114300" indent="0">
              <a:buNone/>
            </a:pPr>
            <a:r>
              <a:rPr lang="en-AU" dirty="0">
                <a:latin typeface="Calibri" panose="020F0502020204030204" pitchFamily="34" charset="0"/>
                <a:ea typeface="Times New Roman" panose="02020603050405020304" pitchFamily="18" charset="0"/>
                <a:cs typeface="Times New Roman" panose="02020603050405020304" pitchFamily="18" charset="0"/>
              </a:rPr>
              <a:t>Waves have oscillations that are perpendicular to the direction the wave is traveling. </a:t>
            </a:r>
          </a:p>
          <a:p>
            <a:pPr marL="114300" indent="0">
              <a:buNone/>
            </a:pPr>
            <a:endParaRPr lang="en-AU" dirty="0">
              <a:latin typeface="Calibri" panose="020F0502020204030204" pitchFamily="34" charset="0"/>
              <a:cs typeface="Times New Roman" panose="02020603050405020304" pitchFamily="18" charset="0"/>
            </a:endParaRPr>
          </a:p>
          <a:p>
            <a:pPr marL="114300" indent="0">
              <a:buNone/>
            </a:pPr>
            <a:r>
              <a:rPr lang="en-AU" dirty="0">
                <a:latin typeface="Calibri" panose="020F0502020204030204" pitchFamily="34" charset="0"/>
                <a:cs typeface="Times New Roman" panose="02020603050405020304" pitchFamily="18" charset="0"/>
              </a:rPr>
              <a:t>Example: </a:t>
            </a:r>
            <a:r>
              <a:rPr lang="en-AU" b="1" dirty="0">
                <a:latin typeface="Calibri" panose="020F0502020204030204" pitchFamily="34" charset="0"/>
                <a:cs typeface="Times New Roman" panose="02020603050405020304" pitchFamily="18" charset="0"/>
              </a:rPr>
              <a:t>Electromagnetic waves </a:t>
            </a:r>
            <a:r>
              <a:rPr lang="en-AU" dirty="0">
                <a:latin typeface="Calibri" panose="020F0502020204030204" pitchFamily="34" charset="0"/>
                <a:cs typeface="Times New Roman" panose="02020603050405020304" pitchFamily="18" charset="0"/>
              </a:rPr>
              <a:t>are all transverse </a:t>
            </a:r>
            <a:endParaRPr lang="en-GB" dirty="0"/>
          </a:p>
          <a:p>
            <a:pPr marL="114300" indent="0">
              <a:buNone/>
            </a:pPr>
            <a:r>
              <a:rPr lang="en-GB" dirty="0"/>
              <a:t> </a:t>
            </a:r>
          </a:p>
        </p:txBody>
      </p:sp>
      <p:pic>
        <p:nvPicPr>
          <p:cNvPr id="5" name="Picture 4">
            <a:extLst>
              <a:ext uri="{FF2B5EF4-FFF2-40B4-BE49-F238E27FC236}">
                <a16:creationId xmlns:a16="http://schemas.microsoft.com/office/drawing/2014/main" id="{A3E5B596-DE6E-44EB-AD95-A588BF3F0A11}"/>
              </a:ext>
            </a:extLst>
          </p:cNvPr>
          <p:cNvPicPr/>
          <p:nvPr/>
        </p:nvPicPr>
        <p:blipFill>
          <a:blip r:embed="rId3"/>
          <a:stretch>
            <a:fillRect/>
          </a:stretch>
        </p:blipFill>
        <p:spPr>
          <a:xfrm>
            <a:off x="828136" y="2591215"/>
            <a:ext cx="6797614" cy="2397912"/>
          </a:xfrm>
          <a:prstGeom prst="rect">
            <a:avLst/>
          </a:prstGeom>
        </p:spPr>
      </p:pic>
    </p:spTree>
    <p:extLst>
      <p:ext uri="{BB962C8B-B14F-4D97-AF65-F5344CB8AC3E}">
        <p14:creationId xmlns:p14="http://schemas.microsoft.com/office/powerpoint/2010/main" val="338223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4234648787"/>
              </p:ext>
            </p:extLst>
          </p:nvPr>
        </p:nvGraphicFramePr>
        <p:xfrm>
          <a:off x="6685300" y="852700"/>
          <a:ext cx="2142625" cy="120390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are some real life examples of  longitudinal waves?</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31DC6194-99F7-4BC3-9D09-9F19E240A0B4}"/>
              </a:ext>
            </a:extLst>
          </p:cNvPr>
          <p:cNvSpPr>
            <a:spLocks noGrp="1"/>
          </p:cNvSpPr>
          <p:nvPr>
            <p:ph type="body" idx="2"/>
          </p:nvPr>
        </p:nvSpPr>
        <p:spPr>
          <a:xfrm>
            <a:off x="552550" y="852700"/>
            <a:ext cx="6132750" cy="4065600"/>
          </a:xfrm>
        </p:spPr>
        <p:txBody>
          <a:bodyPr/>
          <a:lstStyle/>
          <a:p>
            <a:pPr marL="114300" indent="0">
              <a:buNone/>
            </a:pPr>
            <a:r>
              <a:rPr lang="en-GB" b="1" dirty="0"/>
              <a:t>Longitudinal Waves: </a:t>
            </a:r>
          </a:p>
          <a:p>
            <a:pPr marL="114300" indent="0">
              <a:buNone/>
            </a:pPr>
            <a:r>
              <a:rPr lang="en-AU" dirty="0">
                <a:latin typeface="Calibri" panose="020F0502020204030204" pitchFamily="34" charset="0"/>
                <a:ea typeface="Times New Roman" panose="02020603050405020304" pitchFamily="18" charset="0"/>
                <a:cs typeface="Times New Roman" panose="02020603050405020304" pitchFamily="18" charset="0"/>
              </a:rPr>
              <a:t>Waves have oscillations that are parallel to the direction of propagation</a:t>
            </a:r>
            <a:endParaRPr lang="en-AU" dirty="0">
              <a:latin typeface="Calibri" panose="020F0502020204030204" pitchFamily="34" charset="0"/>
              <a:cs typeface="Times New Roman" panose="02020603050405020304" pitchFamily="18" charset="0"/>
            </a:endParaRPr>
          </a:p>
          <a:p>
            <a:pPr marL="114300" indent="0">
              <a:buNone/>
            </a:pPr>
            <a:r>
              <a:rPr lang="en-AU" dirty="0">
                <a:latin typeface="Calibri" panose="020F0502020204030204" pitchFamily="34" charset="0"/>
                <a:cs typeface="Times New Roman" panose="02020603050405020304" pitchFamily="18" charset="0"/>
              </a:rPr>
              <a:t>Example:  sound waves </a:t>
            </a:r>
            <a:endParaRPr lang="en-GB" dirty="0"/>
          </a:p>
          <a:p>
            <a:pPr marL="114300" indent="0">
              <a:buNone/>
            </a:pPr>
            <a:r>
              <a:rPr lang="en-GB" dirty="0"/>
              <a:t> </a:t>
            </a:r>
          </a:p>
        </p:txBody>
      </p:sp>
      <p:pic>
        <p:nvPicPr>
          <p:cNvPr id="6" name="Picture 5">
            <a:extLst>
              <a:ext uri="{FF2B5EF4-FFF2-40B4-BE49-F238E27FC236}">
                <a16:creationId xmlns:a16="http://schemas.microsoft.com/office/drawing/2014/main" id="{2E841543-4A71-4FD5-9684-8783F2C5459C}"/>
              </a:ext>
            </a:extLst>
          </p:cNvPr>
          <p:cNvPicPr/>
          <p:nvPr/>
        </p:nvPicPr>
        <p:blipFill>
          <a:blip r:embed="rId3"/>
          <a:stretch>
            <a:fillRect/>
          </a:stretch>
        </p:blipFill>
        <p:spPr>
          <a:xfrm>
            <a:off x="501140" y="2571750"/>
            <a:ext cx="8642860" cy="2268185"/>
          </a:xfrm>
          <a:prstGeom prst="rect">
            <a:avLst/>
          </a:prstGeom>
        </p:spPr>
      </p:pic>
    </p:spTree>
    <p:extLst>
      <p:ext uri="{BB962C8B-B14F-4D97-AF65-F5344CB8AC3E}">
        <p14:creationId xmlns:p14="http://schemas.microsoft.com/office/powerpoint/2010/main" val="194186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3028796294"/>
              </p:ext>
            </p:extLst>
          </p:nvPr>
        </p:nvGraphicFramePr>
        <p:xfrm>
          <a:off x="6685300" y="852700"/>
          <a:ext cx="2142625" cy="103626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Are mechanical waves transverse or longitudinal?</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31DC6194-99F7-4BC3-9D09-9F19E240A0B4}"/>
              </a:ext>
            </a:extLst>
          </p:cNvPr>
          <p:cNvSpPr>
            <a:spLocks noGrp="1"/>
          </p:cNvSpPr>
          <p:nvPr>
            <p:ph type="body" idx="2"/>
          </p:nvPr>
        </p:nvSpPr>
        <p:spPr>
          <a:xfrm>
            <a:off x="552550" y="852700"/>
            <a:ext cx="6132750" cy="4065600"/>
          </a:xfrm>
        </p:spPr>
        <p:txBody>
          <a:bodyPr/>
          <a:lstStyle/>
          <a:p>
            <a:pPr marL="114300" indent="0">
              <a:buNone/>
            </a:pPr>
            <a:r>
              <a:rPr lang="en-GB" b="1" dirty="0"/>
              <a:t>Mechanical Waves: </a:t>
            </a:r>
          </a:p>
          <a:p>
            <a:pPr marL="114300" indent="0">
              <a:buNone/>
            </a:pPr>
            <a:endParaRPr lang="en-GB" b="1" dirty="0"/>
          </a:p>
          <a:p>
            <a:pPr marL="114300" indent="0">
              <a:buNone/>
            </a:pPr>
            <a:r>
              <a:rPr lang="en-AU" dirty="0"/>
              <a:t>Waves propagate through a medium (e.g. water, spring, air). They require a medium to carry them – that means they cannot transmit energy through a vacuum. </a:t>
            </a:r>
          </a:p>
          <a:p>
            <a:pPr marL="114300" indent="0">
              <a:buNone/>
            </a:pPr>
            <a:endParaRPr lang="en-AU" dirty="0"/>
          </a:p>
          <a:p>
            <a:pPr marL="114300" indent="0">
              <a:buNone/>
            </a:pPr>
            <a:r>
              <a:rPr lang="en-AU" dirty="0"/>
              <a:t>Examples of </a:t>
            </a:r>
            <a:r>
              <a:rPr lang="en-AU" b="1" dirty="0"/>
              <a:t>mechanical waves </a:t>
            </a:r>
            <a:r>
              <a:rPr lang="en-AU" dirty="0"/>
              <a:t>are sound </a:t>
            </a:r>
            <a:br>
              <a:rPr lang="en-AU" dirty="0"/>
            </a:br>
            <a:r>
              <a:rPr lang="en-AU" dirty="0"/>
              <a:t>waves, water waves and Mexican waves. </a:t>
            </a:r>
            <a:endParaRPr lang="en-GB" dirty="0"/>
          </a:p>
        </p:txBody>
      </p:sp>
      <p:pic>
        <p:nvPicPr>
          <p:cNvPr id="7" name="Picture 6">
            <a:extLst>
              <a:ext uri="{FF2B5EF4-FFF2-40B4-BE49-F238E27FC236}">
                <a16:creationId xmlns:a16="http://schemas.microsoft.com/office/drawing/2014/main" id="{37C0485A-8FFC-488E-A790-613647278A8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520906" y="2743201"/>
            <a:ext cx="3623094" cy="2175100"/>
          </a:xfrm>
          <a:prstGeom prst="rect">
            <a:avLst/>
          </a:prstGeom>
          <a:noFill/>
        </p:spPr>
      </p:pic>
    </p:spTree>
    <p:extLst>
      <p:ext uri="{BB962C8B-B14F-4D97-AF65-F5344CB8AC3E}">
        <p14:creationId xmlns:p14="http://schemas.microsoft.com/office/powerpoint/2010/main" val="192252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942580375"/>
              </p:ext>
            </p:extLst>
          </p:nvPr>
        </p:nvGraphicFramePr>
        <p:xfrm>
          <a:off x="6811593" y="232511"/>
          <a:ext cx="2142625" cy="1036260"/>
        </p:xfrm>
        <a:graphic>
          <a:graphicData uri="http://schemas.openxmlformats.org/drawingml/2006/table">
            <a:tbl>
              <a:tblPr>
                <a:noFill/>
                <a:tableStyleId>{AF5A32C6-797B-414A-9575-1DBF260193D0}</a:tableStyleId>
              </a:tblPr>
              <a:tblGrid>
                <a:gridCol w="21426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Are electromagnetic waves transverse or longitudinal?</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31DC6194-99F7-4BC3-9D09-9F19E240A0B4}"/>
              </a:ext>
            </a:extLst>
          </p:cNvPr>
          <p:cNvSpPr>
            <a:spLocks noGrp="1"/>
          </p:cNvSpPr>
          <p:nvPr>
            <p:ph type="body" idx="2"/>
          </p:nvPr>
        </p:nvSpPr>
        <p:spPr>
          <a:xfrm>
            <a:off x="552549" y="852700"/>
            <a:ext cx="8401669" cy="4065600"/>
          </a:xfrm>
        </p:spPr>
        <p:txBody>
          <a:bodyPr/>
          <a:lstStyle/>
          <a:p>
            <a:pPr marL="114300" indent="0">
              <a:buNone/>
            </a:pPr>
            <a:r>
              <a:rPr lang="en-GB" b="1" dirty="0"/>
              <a:t>Electromagnetic Waves </a:t>
            </a:r>
          </a:p>
          <a:p>
            <a:pPr marL="114300" indent="0">
              <a:buNone/>
            </a:pPr>
            <a:r>
              <a:rPr lang="en-AU" dirty="0"/>
              <a:t>Waves produced by the vibration of charged particles. They consist of periodic oscillations of electric and magnetic fields generated by charged particles. </a:t>
            </a:r>
          </a:p>
          <a:p>
            <a:pPr marL="114300" indent="0">
              <a:buNone/>
            </a:pPr>
            <a:endParaRPr lang="en-AU" dirty="0"/>
          </a:p>
          <a:p>
            <a:pPr marL="114300" indent="0">
              <a:buNone/>
            </a:pPr>
            <a:r>
              <a:rPr lang="en-AU" dirty="0"/>
              <a:t>Examples radio waves, microwaves, infrared radiation, visible light and X-rays. </a:t>
            </a:r>
            <a:r>
              <a:rPr lang="en-AU" i="1" dirty="0"/>
              <a:t>Basically anything that makes up the Electromagnetic Spectrum.</a:t>
            </a:r>
          </a:p>
          <a:p>
            <a:pPr marL="114300" indent="0">
              <a:buNone/>
            </a:pPr>
            <a:endParaRPr lang="en-AU" i="1" dirty="0"/>
          </a:p>
          <a:p>
            <a:pPr marL="114300" indent="0">
              <a:buNone/>
            </a:pPr>
            <a:r>
              <a:rPr lang="en-AU" b="1" dirty="0"/>
              <a:t>Electromagnetic waves </a:t>
            </a:r>
            <a:r>
              <a:rPr lang="en-AU" dirty="0"/>
              <a:t>can travel with or without a medium. </a:t>
            </a:r>
            <a:r>
              <a:rPr lang="en-AU" i="1" dirty="0"/>
              <a:t>The medium determines the speed. </a:t>
            </a:r>
            <a:br>
              <a:rPr lang="en-AU" i="1" dirty="0"/>
            </a:br>
            <a:r>
              <a:rPr lang="en-AU" i="1" dirty="0"/>
              <a:t>The speed of light is not always the same! However, the speed of light through a vacuum is constant.</a:t>
            </a:r>
          </a:p>
          <a:p>
            <a:pPr marL="114300" indent="0">
              <a:buNone/>
            </a:pPr>
            <a:endParaRPr lang="en-AU" dirty="0"/>
          </a:p>
          <a:p>
            <a:pPr marL="114300" indent="0">
              <a:buNone/>
            </a:pPr>
            <a:r>
              <a:rPr lang="en-AU" dirty="0"/>
              <a:t> </a:t>
            </a:r>
            <a:endParaRPr lang="en-GB" dirty="0"/>
          </a:p>
        </p:txBody>
      </p:sp>
    </p:spTree>
    <p:extLst>
      <p:ext uri="{BB962C8B-B14F-4D97-AF65-F5344CB8AC3E}">
        <p14:creationId xmlns:p14="http://schemas.microsoft.com/office/powerpoint/2010/main" val="400772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018886987"/>
              </p:ext>
            </p:extLst>
          </p:nvPr>
        </p:nvGraphicFramePr>
        <p:xfrm>
          <a:off x="7228936" y="987080"/>
          <a:ext cx="1721240" cy="1203900"/>
        </p:xfrm>
        <a:graphic>
          <a:graphicData uri="http://schemas.openxmlformats.org/drawingml/2006/table">
            <a:tbl>
              <a:tblPr>
                <a:noFill/>
                <a:tableStyleId>{AF5A32C6-797B-414A-9575-1DBF260193D0}</a:tableStyleId>
              </a:tblPr>
              <a:tblGrid>
                <a:gridCol w="172124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Why is the magnetic and electric variation at right angles?</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5" name="Picture 4" descr="Image result for electromagnetic waves">
            <a:extLst>
              <a:ext uri="{FF2B5EF4-FFF2-40B4-BE49-F238E27FC236}">
                <a16:creationId xmlns:a16="http://schemas.microsoft.com/office/drawing/2014/main" id="{D08C91BE-07D9-46E1-A21B-7F3D45AED95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93015" y="987080"/>
            <a:ext cx="6735921" cy="3890370"/>
          </a:xfrm>
          <a:prstGeom prst="rect">
            <a:avLst/>
          </a:prstGeom>
          <a:noFill/>
          <a:ln>
            <a:noFill/>
          </a:ln>
        </p:spPr>
      </p:pic>
    </p:spTree>
    <p:extLst>
      <p:ext uri="{BB962C8B-B14F-4D97-AF65-F5344CB8AC3E}">
        <p14:creationId xmlns:p14="http://schemas.microsoft.com/office/powerpoint/2010/main" val="268114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nvGraphicFramePr>
        <p:xfrm>
          <a:off x="7228936" y="987080"/>
          <a:ext cx="1721240" cy="1203900"/>
        </p:xfrm>
        <a:graphic>
          <a:graphicData uri="http://schemas.openxmlformats.org/drawingml/2006/table">
            <a:tbl>
              <a:tblPr>
                <a:noFill/>
                <a:tableStyleId>{AF5A32C6-797B-414A-9575-1DBF260193D0}</a:tableStyleId>
              </a:tblPr>
              <a:tblGrid>
                <a:gridCol w="172124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Why is the magnetic and electric variation at right angles?</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8" y="956243"/>
            <a:ext cx="6589800" cy="2851806"/>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Wave Fronts: </a:t>
            </a:r>
          </a:p>
          <a:p>
            <a:pPr>
              <a:lnSpc>
                <a:spcPct val="115000"/>
              </a:lnSpc>
              <a:spcBef>
                <a:spcPts val="1000"/>
              </a:spcBef>
              <a:spcAft>
                <a:spcPts val="1000"/>
              </a:spcAft>
            </a:pPr>
            <a:r>
              <a:rPr lang="en-AU" sz="1800" dirty="0">
                <a:latin typeface="Calibri" panose="020F0502020204030204" pitchFamily="34" charset="0"/>
                <a:ea typeface="Times New Roman" panose="02020603050405020304" pitchFamily="18" charset="0"/>
                <a:cs typeface="Times New Roman" panose="02020603050405020304" pitchFamily="18" charset="0"/>
              </a:rPr>
              <a:t>A </a:t>
            </a:r>
            <a:r>
              <a:rPr lang="en-AU" sz="1800" b="1" dirty="0">
                <a:latin typeface="Calibri" panose="020F0502020204030204" pitchFamily="34" charset="0"/>
                <a:ea typeface="Times New Roman" panose="02020603050405020304" pitchFamily="18" charset="0"/>
                <a:cs typeface="Times New Roman" panose="02020603050405020304" pitchFamily="18" charset="0"/>
              </a:rPr>
              <a:t>wave front </a:t>
            </a:r>
            <a:r>
              <a:rPr lang="en-AU" sz="1800" dirty="0">
                <a:latin typeface="Calibri" panose="020F0502020204030204" pitchFamily="34" charset="0"/>
                <a:ea typeface="Times New Roman" panose="02020603050405020304" pitchFamily="18" charset="0"/>
                <a:cs typeface="Times New Roman" panose="02020603050405020304" pitchFamily="18" charset="0"/>
              </a:rPr>
              <a:t>represents all particles in the medium which are in the same phase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i="1" dirty="0">
                <a:latin typeface="Calibri" panose="020F0502020204030204" pitchFamily="34" charset="0"/>
                <a:ea typeface="Times New Roman" panose="02020603050405020304" pitchFamily="18" charset="0"/>
                <a:cs typeface="Times New Roman" panose="02020603050405020304" pitchFamily="18" charset="0"/>
              </a:rPr>
              <a:t>All the crests (or troughs) or all the compressions (or rarefactions).</a:t>
            </a:r>
          </a:p>
          <a:p>
            <a:pPr>
              <a:lnSpc>
                <a:spcPct val="115000"/>
              </a:lnSpc>
              <a:spcBef>
                <a:spcPts val="1000"/>
              </a:spcBef>
              <a:spcAft>
                <a:spcPts val="1000"/>
              </a:spcAft>
            </a:pPr>
            <a:r>
              <a:rPr lang="en-AU" sz="1800" dirty="0">
                <a:latin typeface="Calibri" panose="020F0502020204030204" pitchFamily="34" charset="0"/>
                <a:ea typeface="Times New Roman" panose="02020603050405020304" pitchFamily="18" charset="0"/>
                <a:cs typeface="Times New Roman" panose="02020603050405020304" pitchFamily="18" charset="0"/>
              </a:rPr>
              <a:t>A </a:t>
            </a:r>
            <a:r>
              <a:rPr lang="en-AU" sz="1800" b="1" dirty="0">
                <a:latin typeface="Calibri" panose="020F0502020204030204" pitchFamily="34" charset="0"/>
                <a:ea typeface="Times New Roman" panose="02020603050405020304" pitchFamily="18" charset="0"/>
                <a:cs typeface="Times New Roman" panose="02020603050405020304" pitchFamily="18" charset="0"/>
              </a:rPr>
              <a:t>ray</a:t>
            </a:r>
            <a:r>
              <a:rPr lang="en-AU" sz="1800" dirty="0">
                <a:latin typeface="Calibri" panose="020F0502020204030204" pitchFamily="34" charset="0"/>
                <a:ea typeface="Times New Roman" panose="02020603050405020304" pitchFamily="18" charset="0"/>
                <a:cs typeface="Times New Roman" panose="02020603050405020304" pitchFamily="18" charset="0"/>
              </a:rPr>
              <a:t> is a line drawn perpendicular to the wave fronts showing the direction of propagation.  Each successive wave front is a wavelength apart.</a:t>
            </a:r>
          </a:p>
        </p:txBody>
      </p:sp>
      <p:pic>
        <p:nvPicPr>
          <p:cNvPr id="6" name="Picture 5">
            <a:extLst>
              <a:ext uri="{FF2B5EF4-FFF2-40B4-BE49-F238E27FC236}">
                <a16:creationId xmlns:a16="http://schemas.microsoft.com/office/drawing/2014/main" id="{0CDADB80-FC16-4F5C-9F8F-FE7EE29E68A8}"/>
              </a:ext>
            </a:extLst>
          </p:cNvPr>
          <p:cNvPicPr/>
          <p:nvPr/>
        </p:nvPicPr>
        <p:blipFill>
          <a:blip r:embed="rId3"/>
          <a:stretch>
            <a:fillRect/>
          </a:stretch>
        </p:blipFill>
        <p:spPr>
          <a:xfrm>
            <a:off x="5620430" y="3473815"/>
            <a:ext cx="3329746" cy="1426884"/>
          </a:xfrm>
          <a:prstGeom prst="rect">
            <a:avLst/>
          </a:prstGeom>
        </p:spPr>
      </p:pic>
    </p:spTree>
    <p:extLst>
      <p:ext uri="{BB962C8B-B14F-4D97-AF65-F5344CB8AC3E}">
        <p14:creationId xmlns:p14="http://schemas.microsoft.com/office/powerpoint/2010/main" val="3729365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650969502"/>
              </p:ext>
            </p:extLst>
          </p:nvPr>
        </p:nvGraphicFramePr>
        <p:xfrm>
          <a:off x="6685300" y="475307"/>
          <a:ext cx="2065688" cy="120390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should you always include when drawing a reflected wave?</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A09DA48-57FE-48BF-BA13-96608E5B1BC3}"/>
                  </a:ext>
                </a:extLst>
              </p:cNvPr>
              <p:cNvSpPr/>
              <p:nvPr/>
            </p:nvSpPr>
            <p:spPr>
              <a:xfrm>
                <a:off x="439948" y="956243"/>
                <a:ext cx="6589800" cy="2790508"/>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Reflections: </a:t>
                </a:r>
              </a:p>
              <a:p>
                <a:pPr lvl="0" eaLnBrk="0" fontAlgn="base" hangingPunct="0">
                  <a:spcBef>
                    <a:spcPct val="0"/>
                  </a:spcBef>
                  <a:spcAft>
                    <a:spcPct val="0"/>
                  </a:spcAft>
                  <a:buClrTx/>
                  <a:tabLst>
                    <a:tab pos="2692400" algn="l"/>
                  </a:tabLst>
                </a:pP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As waves are travelling through a medium and come across a different medium, they can either </a:t>
                </a:r>
                <a:r>
                  <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reflect</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or</a:t>
                </a:r>
                <a:r>
                  <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refract</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All reflected waves obey this law: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Angle of incidence = angle of reflection </a:t>
                </a:r>
              </a:p>
              <a:p>
                <a:pPr lvl="0" eaLnBrk="0" fontAlgn="base" hangingPunct="0">
                  <a:spcBef>
                    <a:spcPct val="0"/>
                  </a:spcBef>
                  <a:spcAft>
                    <a:spcPct val="0"/>
                  </a:spcAft>
                  <a:buClrTx/>
                  <a:tabLst>
                    <a:tab pos="2692400" algn="l"/>
                  </a:tabLst>
                </a:pP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AU" altLang="en-US" sz="36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r>
                      <a:rPr lang="en-AU" altLang="en-US" sz="360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𝜃</m:t>
                    </m:r>
                  </m:oMath>
                </a14:m>
                <a:r>
                  <a:rPr lang="en-AU" altLang="en-US" sz="3600" i="1" baseline="-25000" dirty="0" err="1">
                    <a:solidFill>
                      <a:schemeClr val="tx1"/>
                    </a:solidFill>
                    <a:latin typeface="Calibri" panose="020F0502020204030204" pitchFamily="34" charset="0"/>
                    <a:ea typeface="Times New Roman" panose="02020603050405020304" pitchFamily="18" charset="0"/>
                    <a:cs typeface="Calibri" panose="020F0502020204030204" pitchFamily="34" charset="0"/>
                  </a:rPr>
                  <a:t>i</a:t>
                </a:r>
                <a:r>
                  <a:rPr lang="en-AU" altLang="en-US" sz="3600" i="1" baseline="-25000"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AU" altLang="en-US" sz="36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    =     </a:t>
                </a:r>
                <a14:m>
                  <m:oMath xmlns:m="http://schemas.openxmlformats.org/officeDocument/2006/math">
                    <m:r>
                      <a:rPr lang="en-AU" altLang="en-US" sz="3600" i="1">
                        <a:solidFill>
                          <a:schemeClr val="tx1"/>
                        </a:solidFill>
                        <a:latin typeface="Cambria Math" panose="02040503050406030204" pitchFamily="18" charset="0"/>
                        <a:ea typeface="Cambria Math" panose="02040503050406030204" pitchFamily="18" charset="0"/>
                        <a:cs typeface="Calibri" panose="020F0502020204030204" pitchFamily="34" charset="0"/>
                      </a:rPr>
                      <m:t>𝜃</m:t>
                    </m:r>
                  </m:oMath>
                </a14:m>
                <a:r>
                  <a:rPr lang="en-AU" altLang="en-US" sz="3600" i="1" baseline="-25000" dirty="0">
                    <a:solidFill>
                      <a:schemeClr val="tx1"/>
                    </a:solidFill>
                    <a:latin typeface="Calibri" panose="020F0502020204030204" pitchFamily="34" charset="0"/>
                    <a:ea typeface="Times New Roman" panose="02020603050405020304" pitchFamily="18" charset="0"/>
                    <a:cs typeface="Calibri" panose="020F0502020204030204" pitchFamily="34" charset="0"/>
                  </a:rPr>
                  <a:t>r </a:t>
                </a:r>
                <a:endPar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mc:Choice>
        <mc:Fallback xmlns="">
          <p:sp>
            <p:nvSpPr>
              <p:cNvPr id="2" name="Rectangle 1">
                <a:extLst>
                  <a:ext uri="{FF2B5EF4-FFF2-40B4-BE49-F238E27FC236}">
                    <a16:creationId xmlns:a16="http://schemas.microsoft.com/office/drawing/2014/main" id="{1A09DA48-57FE-48BF-BA13-96608E5B1BC3}"/>
                  </a:ext>
                </a:extLst>
              </p:cNvPr>
              <p:cNvSpPr>
                <a:spLocks noRot="1" noChangeAspect="1" noMove="1" noResize="1" noEditPoints="1" noAdjustHandles="1" noChangeArrowheads="1" noChangeShapeType="1" noTextEdit="1"/>
              </p:cNvSpPr>
              <p:nvPr/>
            </p:nvSpPr>
            <p:spPr>
              <a:xfrm>
                <a:off x="439948" y="956243"/>
                <a:ext cx="6589800" cy="2790508"/>
              </a:xfrm>
              <a:prstGeom prst="rect">
                <a:avLst/>
              </a:prstGeom>
              <a:blipFill>
                <a:blip r:embed="rId3"/>
                <a:stretch>
                  <a:fillRect l="-925" t="-437" b="-7424"/>
                </a:stretch>
              </a:blipFill>
            </p:spPr>
            <p:txBody>
              <a:bodyPr/>
              <a:lstStyle/>
              <a:p>
                <a:r>
                  <a:rPr lang="en-AU">
                    <a:noFill/>
                  </a:rPr>
                  <a:t> </a:t>
                </a:r>
              </a:p>
            </p:txBody>
          </p:sp>
        </mc:Fallback>
      </mc:AlternateContent>
      <p:pic>
        <p:nvPicPr>
          <p:cNvPr id="7" name="Picture 6" descr="Image result for law of reflection">
            <a:extLst>
              <a:ext uri="{FF2B5EF4-FFF2-40B4-BE49-F238E27FC236}">
                <a16:creationId xmlns:a16="http://schemas.microsoft.com/office/drawing/2014/main" id="{61EF08A3-54C0-44A2-94FE-236F764F27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50303"/>
            <a:ext cx="4049713" cy="302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81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nvGraphicFramePr>
        <p:xfrm>
          <a:off x="6685300" y="475307"/>
          <a:ext cx="2065688" cy="120390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100" dirty="0">
                          <a:latin typeface="Century Gothic"/>
                          <a:ea typeface="Century Gothic"/>
                          <a:cs typeface="Century Gothic"/>
                          <a:sym typeface="Century Gothic"/>
                        </a:rPr>
                        <a:t>What should you always include when drawing a reflected wave?</a:t>
                      </a:r>
                      <a:endParaRPr sz="11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8" y="956243"/>
            <a:ext cx="6589800" cy="2471189"/>
          </a:xfrm>
          <a:prstGeom prst="rect">
            <a:avLst/>
          </a:prstGeom>
        </p:spPr>
        <p:txBody>
          <a:bodyPr wrap="square">
            <a:spAutoFit/>
          </a:bodyPr>
          <a:lstStyle/>
          <a:p>
            <a:pPr>
              <a:lnSpc>
                <a:spcPct val="115000"/>
              </a:lnSpc>
              <a:spcBef>
                <a:spcPts val="1000"/>
              </a:spcBef>
              <a:spcAft>
                <a:spcPts val="1000"/>
              </a:spcAft>
            </a:pPr>
            <a:r>
              <a:rPr lang="en-GB" altLang="en-US" sz="2000" b="1" dirty="0">
                <a:latin typeface="Calibri" panose="020F0502020204030204" pitchFamily="34" charset="0"/>
                <a:ea typeface="Times New Roman" panose="02020603050405020304" pitchFamily="18" charset="0"/>
                <a:cs typeface="Times New Roman" panose="02020603050405020304" pitchFamily="18" charset="0"/>
              </a:rPr>
              <a:t>Real life scenario…..</a:t>
            </a:r>
            <a:r>
              <a:rPr lang="en-GB" altLang="en-US" sz="2000" b="1" dirty="0" err="1">
                <a:latin typeface="Calibri" panose="020F0502020204030204" pitchFamily="34" charset="0"/>
                <a:ea typeface="Times New Roman" panose="02020603050405020304" pitchFamily="18" charset="0"/>
                <a:cs typeface="Times New Roman" panose="02020603050405020304" pitchFamily="18" charset="0"/>
              </a:rPr>
              <a:t>kinda</a:t>
            </a:r>
            <a:r>
              <a:rPr lang="en-GB" altLang="en-US" sz="2000" b="1" dirty="0">
                <a:latin typeface="Calibri" panose="020F0502020204030204" pitchFamily="34" charset="0"/>
                <a:ea typeface="Times New Roman" panose="02020603050405020304" pitchFamily="18" charset="0"/>
                <a:cs typeface="Times New Roman" panose="02020603050405020304" pitchFamily="18" charset="0"/>
              </a:rPr>
              <a:t> </a:t>
            </a:r>
          </a:p>
          <a:p>
            <a:pPr>
              <a:lnSpc>
                <a:spcPct val="115000"/>
              </a:lnSpc>
              <a:spcBef>
                <a:spcPts val="1000"/>
              </a:spcBef>
              <a:spcAft>
                <a:spcPts val="1000"/>
              </a:spcAft>
            </a:pP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Jill really likes spear fishing but she can’t quite seem to catch any…..</a:t>
            </a:r>
          </a:p>
          <a:p>
            <a:pPr>
              <a:lnSpc>
                <a:spcPct val="115000"/>
              </a:lnSpc>
              <a:spcBef>
                <a:spcPts val="1000"/>
              </a:spcBef>
              <a:spcAft>
                <a:spcPts val="1000"/>
              </a:spcAft>
            </a:pPr>
            <a:endPar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000"/>
              </a:spcBef>
              <a:spcAft>
                <a:spcPts val="1000"/>
              </a:spcAft>
            </a:pP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Why do you think she is having trouble? </a:t>
            </a:r>
            <a:b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(hint: physics is the answer to everything) </a:t>
            </a:r>
          </a:p>
        </p:txBody>
      </p:sp>
      <p:pic>
        <p:nvPicPr>
          <p:cNvPr id="1026" name="Picture 2" descr="Refraction Lab - Mrs. Munn's Science">
            <a:extLst>
              <a:ext uri="{FF2B5EF4-FFF2-40B4-BE49-F238E27FC236}">
                <a16:creationId xmlns:a16="http://schemas.microsoft.com/office/drawing/2014/main" id="{31CCAAC4-7A36-435D-BE43-DBBF5C1C9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2552" y="2335636"/>
            <a:ext cx="3714391" cy="2387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376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1817149326"/>
              </p:ext>
            </p:extLst>
          </p:nvPr>
        </p:nvGraphicFramePr>
        <p:xfrm>
          <a:off x="6982812" y="160337"/>
          <a:ext cx="2065688" cy="124962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What would happen if a incident wave hits the surface at 90</a:t>
                      </a:r>
                      <a:r>
                        <a:rPr lang="en-GB" sz="1200" baseline="30000" dirty="0">
                          <a:latin typeface="Century Gothic"/>
                          <a:ea typeface="Century Gothic"/>
                          <a:cs typeface="Century Gothic"/>
                          <a:sym typeface="Century Gothic"/>
                        </a:rPr>
                        <a:t>o </a:t>
                      </a:r>
                      <a:r>
                        <a:rPr lang="en-GB" sz="1200" baseline="0" dirty="0">
                          <a:latin typeface="Century Gothic"/>
                          <a:ea typeface="Century Gothic"/>
                          <a:cs typeface="Century Gothic"/>
                          <a:sym typeface="Century Gothic"/>
                        </a:rPr>
                        <a:t>?</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4440277" cy="3621504"/>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Refraction: </a:t>
            </a:r>
          </a:p>
          <a:p>
            <a:pPr lvl="0" eaLnBrk="0" fontAlgn="base" hangingPunct="0">
              <a:spcBef>
                <a:spcPct val="0"/>
              </a:spcBef>
              <a:spcAft>
                <a:spcPct val="0"/>
              </a:spcAft>
              <a:buClrTx/>
              <a:tabLst>
                <a:tab pos="2692400" algn="l"/>
              </a:tabLst>
            </a:pP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As waves are travelling through a medium and come across a different medium, they can either </a:t>
            </a:r>
            <a:r>
              <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reflect</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or</a:t>
            </a:r>
            <a:r>
              <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refract</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Refracted waves change </a:t>
            </a:r>
            <a:r>
              <a:rPr lang="en-AU" altLang="en-US" sz="1800" u="sng" dirty="0">
                <a:solidFill>
                  <a:schemeClr val="tx1"/>
                </a:solidFill>
                <a:latin typeface="Calibri" panose="020F0502020204030204" pitchFamily="34" charset="0"/>
                <a:ea typeface="Times New Roman" panose="02020603050405020304" pitchFamily="18" charset="0"/>
                <a:cs typeface="Calibri" panose="020F0502020204030204" pitchFamily="34" charset="0"/>
              </a:rPr>
              <a:t>direction, speed </a:t>
            </a:r>
            <a:r>
              <a:rPr lang="en-AU" altLang="en-US" sz="1800" i="1" dirty="0">
                <a:solidFill>
                  <a:schemeClr val="tx1"/>
                </a:solidFill>
                <a:latin typeface="Calibri" panose="020F0502020204030204" pitchFamily="34" charset="0"/>
                <a:ea typeface="Times New Roman" panose="02020603050405020304" pitchFamily="18" charset="0"/>
                <a:cs typeface="Calibri" panose="020F0502020204030204" pitchFamily="34" charset="0"/>
              </a:rPr>
              <a:t>(velocity) </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and </a:t>
            </a:r>
            <a:r>
              <a:rPr lang="en-AU" altLang="en-US" sz="1800" u="sng" dirty="0">
                <a:solidFill>
                  <a:schemeClr val="tx1"/>
                </a:solidFill>
                <a:latin typeface="Calibri" panose="020F0502020204030204" pitchFamily="34" charset="0"/>
                <a:ea typeface="Times New Roman" panose="02020603050405020304" pitchFamily="18" charset="0"/>
                <a:cs typeface="Calibri" panose="020F0502020204030204" pitchFamily="34" charset="0"/>
              </a:rPr>
              <a:t>wavelength</a:t>
            </a: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when the medium changes.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FREQUENCY OF WAVES ARE CONSTANT </a:t>
            </a:r>
          </a:p>
          <a:p>
            <a:pPr lvl="0" eaLnBrk="0" fontAlgn="base" hangingPunct="0">
              <a:spcBef>
                <a:spcPct val="0"/>
              </a:spcBef>
              <a:spcAft>
                <a:spcPct val="0"/>
              </a:spcAft>
              <a:buClrTx/>
              <a:tabLst>
                <a:tab pos="2692400" algn="l"/>
              </a:tabLst>
            </a:pP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6" name="Picture 5" descr="Image result for refraction">
            <a:extLst>
              <a:ext uri="{FF2B5EF4-FFF2-40B4-BE49-F238E27FC236}">
                <a16:creationId xmlns:a16="http://schemas.microsoft.com/office/drawing/2014/main" id="{FCEC2882-FE6E-4BAD-A418-CD9C75D6334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880225" y="1473708"/>
            <a:ext cx="4168275" cy="3600602"/>
          </a:xfrm>
          <a:prstGeom prst="rect">
            <a:avLst/>
          </a:prstGeom>
          <a:noFill/>
          <a:ln>
            <a:noFill/>
          </a:ln>
        </p:spPr>
      </p:pic>
      <p:graphicFrame>
        <p:nvGraphicFramePr>
          <p:cNvPr id="3" name="Table 3">
            <a:extLst>
              <a:ext uri="{FF2B5EF4-FFF2-40B4-BE49-F238E27FC236}">
                <a16:creationId xmlns:a16="http://schemas.microsoft.com/office/drawing/2014/main" id="{301CCC2C-4881-4107-8178-32C454225612}"/>
              </a:ext>
            </a:extLst>
          </p:cNvPr>
          <p:cNvGraphicFramePr>
            <a:graphicFrameLocks noGrp="1"/>
          </p:cNvGraphicFramePr>
          <p:nvPr>
            <p:extLst>
              <p:ext uri="{D42A27DB-BD31-4B8C-83A1-F6EECF244321}">
                <p14:modId xmlns:p14="http://schemas.microsoft.com/office/powerpoint/2010/main" val="4161984839"/>
              </p:ext>
            </p:extLst>
          </p:nvPr>
        </p:nvGraphicFramePr>
        <p:xfrm>
          <a:off x="439947" y="4133247"/>
          <a:ext cx="4440278" cy="889000"/>
        </p:xfrm>
        <a:graphic>
          <a:graphicData uri="http://schemas.openxmlformats.org/drawingml/2006/table">
            <a:tbl>
              <a:tblPr firstRow="1" bandRow="1">
                <a:tableStyleId>{AF5A32C6-797B-414A-9575-1DBF260193D0}</a:tableStyleId>
              </a:tblPr>
              <a:tblGrid>
                <a:gridCol w="2220139">
                  <a:extLst>
                    <a:ext uri="{9D8B030D-6E8A-4147-A177-3AD203B41FA5}">
                      <a16:colId xmlns:a16="http://schemas.microsoft.com/office/drawing/2014/main" val="1659129741"/>
                    </a:ext>
                  </a:extLst>
                </a:gridCol>
                <a:gridCol w="2220139">
                  <a:extLst>
                    <a:ext uri="{9D8B030D-6E8A-4147-A177-3AD203B41FA5}">
                      <a16:colId xmlns:a16="http://schemas.microsoft.com/office/drawing/2014/main" val="1607389782"/>
                    </a:ext>
                  </a:extLst>
                </a:gridCol>
              </a:tblGrid>
              <a:tr h="370840">
                <a:tc>
                  <a:txBody>
                    <a:bodyPr/>
                    <a:lstStyle/>
                    <a:p>
                      <a:r>
                        <a:rPr lang="en-GB" dirty="0"/>
                        <a:t>Wave </a:t>
                      </a:r>
                      <a:r>
                        <a:rPr lang="en-GB" b="1" dirty="0"/>
                        <a:t>increases</a:t>
                      </a:r>
                      <a:r>
                        <a:rPr lang="en-GB" dirty="0"/>
                        <a:t> speed </a:t>
                      </a:r>
                      <a:endParaRPr lang="en-AU" dirty="0"/>
                    </a:p>
                  </a:txBody>
                  <a:tcPr/>
                </a:tc>
                <a:tc>
                  <a:txBody>
                    <a:bodyPr/>
                    <a:lstStyle/>
                    <a:p>
                      <a:r>
                        <a:rPr lang="en-GB" dirty="0"/>
                        <a:t>Wave </a:t>
                      </a:r>
                      <a:r>
                        <a:rPr lang="en-GB" b="1" dirty="0"/>
                        <a:t>decreases</a:t>
                      </a:r>
                      <a:r>
                        <a:rPr lang="en-GB" dirty="0"/>
                        <a:t> speed</a:t>
                      </a:r>
                      <a:endParaRPr lang="en-AU" dirty="0"/>
                    </a:p>
                  </a:txBody>
                  <a:tcPr/>
                </a:tc>
                <a:extLst>
                  <a:ext uri="{0D108BD9-81ED-4DB2-BD59-A6C34878D82A}">
                    <a16:rowId xmlns:a16="http://schemas.microsoft.com/office/drawing/2014/main" val="815299734"/>
                  </a:ext>
                </a:extLst>
              </a:tr>
              <a:tr h="370840">
                <a:tc>
                  <a:txBody>
                    <a:bodyPr/>
                    <a:lstStyle/>
                    <a:p>
                      <a:r>
                        <a:rPr lang="en-GB" dirty="0"/>
                        <a:t>Bends </a:t>
                      </a:r>
                      <a:r>
                        <a:rPr lang="en-GB" b="1" dirty="0"/>
                        <a:t>away from </a:t>
                      </a:r>
                      <a:r>
                        <a:rPr lang="en-GB" b="0" dirty="0"/>
                        <a:t>the normal </a:t>
                      </a:r>
                      <a:endParaRPr lang="en-AU" dirty="0"/>
                    </a:p>
                  </a:txBody>
                  <a:tcPr/>
                </a:tc>
                <a:tc>
                  <a:txBody>
                    <a:bodyPr/>
                    <a:lstStyle/>
                    <a:p>
                      <a:r>
                        <a:rPr lang="en-GB" dirty="0"/>
                        <a:t>Bends </a:t>
                      </a:r>
                      <a:r>
                        <a:rPr lang="en-GB" b="1" dirty="0"/>
                        <a:t>towards </a:t>
                      </a:r>
                      <a:r>
                        <a:rPr lang="en-GB" b="0" dirty="0"/>
                        <a:t>the normal </a:t>
                      </a:r>
                      <a:endParaRPr lang="en-AU" dirty="0"/>
                    </a:p>
                  </a:txBody>
                  <a:tcPr/>
                </a:tc>
                <a:extLst>
                  <a:ext uri="{0D108BD9-81ED-4DB2-BD59-A6C34878D82A}">
                    <a16:rowId xmlns:a16="http://schemas.microsoft.com/office/drawing/2014/main" val="2828886894"/>
                  </a:ext>
                </a:extLst>
              </a:tr>
            </a:tbl>
          </a:graphicData>
        </a:graphic>
      </p:graphicFrame>
    </p:spTree>
    <p:extLst>
      <p:ext uri="{BB962C8B-B14F-4D97-AF65-F5344CB8AC3E}">
        <p14:creationId xmlns:p14="http://schemas.microsoft.com/office/powerpoint/2010/main" val="152698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3253539200"/>
              </p:ext>
            </p:extLst>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Predict what you thinking will happen</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4" name="Rectangle 43">
            <a:extLst>
              <a:ext uri="{FF2B5EF4-FFF2-40B4-BE49-F238E27FC236}">
                <a16:creationId xmlns:a16="http://schemas.microsoft.com/office/drawing/2014/main" id="{FFAC764D-CD6D-4552-8101-B41C5D493169}"/>
              </a:ext>
            </a:extLst>
          </p:cNvPr>
          <p:cNvSpPr/>
          <p:nvPr/>
        </p:nvSpPr>
        <p:spPr>
          <a:xfrm>
            <a:off x="2384917" y="2157157"/>
            <a:ext cx="4403981" cy="96957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cxnSp>
        <p:nvCxnSpPr>
          <p:cNvPr id="45" name="Straight Connector 44">
            <a:extLst>
              <a:ext uri="{FF2B5EF4-FFF2-40B4-BE49-F238E27FC236}">
                <a16:creationId xmlns:a16="http://schemas.microsoft.com/office/drawing/2014/main" id="{B86AF903-99C9-4D33-897F-EA77A8C24498}"/>
              </a:ext>
            </a:extLst>
          </p:cNvPr>
          <p:cNvCxnSpPr>
            <a:cxnSpLocks/>
          </p:cNvCxnSpPr>
          <p:nvPr/>
        </p:nvCxnSpPr>
        <p:spPr>
          <a:xfrm>
            <a:off x="4572000" y="701312"/>
            <a:ext cx="0" cy="3915000"/>
          </a:xfrm>
          <a:prstGeom prst="line">
            <a:avLst/>
          </a:prstGeom>
          <a:ln w="31750"/>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7DD3C1E0-F4A7-44F2-B02F-53429F75A9E2}"/>
              </a:ext>
            </a:extLst>
          </p:cNvPr>
          <p:cNvCxnSpPr/>
          <p:nvPr/>
        </p:nvCxnSpPr>
        <p:spPr>
          <a:xfrm>
            <a:off x="4571999" y="2302460"/>
            <a:ext cx="0" cy="538580"/>
          </a:xfrm>
          <a:prstGeom prst="straightConnector1">
            <a:avLst/>
          </a:prstGeom>
          <a:ln w="25400">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2D860FFB-826D-4307-B6C6-CDED003E2C24}"/>
              </a:ext>
            </a:extLst>
          </p:cNvPr>
          <p:cNvCxnSpPr/>
          <p:nvPr/>
        </p:nvCxnSpPr>
        <p:spPr>
          <a:xfrm>
            <a:off x="4572000" y="1164746"/>
            <a:ext cx="0" cy="538580"/>
          </a:xfrm>
          <a:prstGeom prst="straightConnector1">
            <a:avLst/>
          </a:prstGeom>
          <a:ln w="25400">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E21D295-C2EF-4FF9-B208-14259EF766BC}"/>
              </a:ext>
            </a:extLst>
          </p:cNvPr>
          <p:cNvCxnSpPr/>
          <p:nvPr/>
        </p:nvCxnSpPr>
        <p:spPr>
          <a:xfrm>
            <a:off x="4572000" y="3757252"/>
            <a:ext cx="0" cy="538580"/>
          </a:xfrm>
          <a:prstGeom prst="straightConnector1">
            <a:avLst/>
          </a:prstGeom>
          <a:ln w="25400">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6FD660B5-4ECF-468F-9248-31B4A5163083}"/>
              </a:ext>
            </a:extLst>
          </p:cNvPr>
          <p:cNvCxnSpPr>
            <a:cxnSpLocks/>
          </p:cNvCxnSpPr>
          <p:nvPr/>
        </p:nvCxnSpPr>
        <p:spPr>
          <a:xfrm>
            <a:off x="3357000" y="1832007"/>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0A461CF-12E4-4F5A-83D6-915A5605D600}"/>
              </a:ext>
            </a:extLst>
          </p:cNvPr>
          <p:cNvCxnSpPr>
            <a:cxnSpLocks/>
          </p:cNvCxnSpPr>
          <p:nvPr/>
        </p:nvCxnSpPr>
        <p:spPr>
          <a:xfrm>
            <a:off x="3357000" y="2162035"/>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2452C6F-8778-4A1B-BED2-B9757DC8855B}"/>
              </a:ext>
            </a:extLst>
          </p:cNvPr>
          <p:cNvCxnSpPr>
            <a:cxnSpLocks/>
          </p:cNvCxnSpPr>
          <p:nvPr/>
        </p:nvCxnSpPr>
        <p:spPr>
          <a:xfrm>
            <a:off x="3342713" y="3139779"/>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8345EEE-ECBD-4296-A164-D7CB9888837F}"/>
              </a:ext>
            </a:extLst>
          </p:cNvPr>
          <p:cNvCxnSpPr>
            <a:cxnSpLocks/>
          </p:cNvCxnSpPr>
          <p:nvPr/>
        </p:nvCxnSpPr>
        <p:spPr>
          <a:xfrm>
            <a:off x="3357000" y="1490137"/>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9D4E8E5-16B8-4F17-ABA9-3A88BD3DDCBD}"/>
              </a:ext>
            </a:extLst>
          </p:cNvPr>
          <p:cNvCxnSpPr>
            <a:cxnSpLocks/>
          </p:cNvCxnSpPr>
          <p:nvPr/>
        </p:nvCxnSpPr>
        <p:spPr>
          <a:xfrm>
            <a:off x="3357000" y="2157155"/>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C03605B-E0D8-4C92-9451-A4D372F19E0B}"/>
              </a:ext>
            </a:extLst>
          </p:cNvPr>
          <p:cNvCxnSpPr>
            <a:cxnSpLocks/>
          </p:cNvCxnSpPr>
          <p:nvPr/>
        </p:nvCxnSpPr>
        <p:spPr>
          <a:xfrm>
            <a:off x="3357000" y="3140643"/>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B9FE1AE-220B-4E20-B2E6-EECC83E8E60C}"/>
              </a:ext>
            </a:extLst>
          </p:cNvPr>
          <p:cNvCxnSpPr>
            <a:cxnSpLocks/>
          </p:cNvCxnSpPr>
          <p:nvPr/>
        </p:nvCxnSpPr>
        <p:spPr>
          <a:xfrm>
            <a:off x="3357000" y="1164746"/>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9C8A556-19C5-466B-9B09-20D77663D386}"/>
              </a:ext>
            </a:extLst>
          </p:cNvPr>
          <p:cNvCxnSpPr>
            <a:cxnSpLocks/>
          </p:cNvCxnSpPr>
          <p:nvPr/>
        </p:nvCxnSpPr>
        <p:spPr>
          <a:xfrm>
            <a:off x="3357000" y="2162035"/>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0880E89-412D-430E-87DF-5075DBCA8A70}"/>
              </a:ext>
            </a:extLst>
          </p:cNvPr>
          <p:cNvCxnSpPr>
            <a:cxnSpLocks/>
          </p:cNvCxnSpPr>
          <p:nvPr/>
        </p:nvCxnSpPr>
        <p:spPr>
          <a:xfrm>
            <a:off x="3357000" y="3139779"/>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DBBF771-1F30-48CD-BADB-B08531AA3B86}"/>
              </a:ext>
            </a:extLst>
          </p:cNvPr>
          <p:cNvCxnSpPr>
            <a:cxnSpLocks/>
          </p:cNvCxnSpPr>
          <p:nvPr/>
        </p:nvCxnSpPr>
        <p:spPr>
          <a:xfrm>
            <a:off x="3342713" y="839597"/>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1C323F1-578E-4B48-9F5C-3239FAAA45FD}"/>
              </a:ext>
            </a:extLst>
          </p:cNvPr>
          <p:cNvCxnSpPr>
            <a:cxnSpLocks/>
          </p:cNvCxnSpPr>
          <p:nvPr/>
        </p:nvCxnSpPr>
        <p:spPr>
          <a:xfrm>
            <a:off x="3342713" y="2157155"/>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C078B53-6D2D-490B-98AF-688891BF1994}"/>
              </a:ext>
            </a:extLst>
          </p:cNvPr>
          <p:cNvCxnSpPr>
            <a:cxnSpLocks/>
          </p:cNvCxnSpPr>
          <p:nvPr/>
        </p:nvCxnSpPr>
        <p:spPr>
          <a:xfrm>
            <a:off x="3357000" y="3139779"/>
            <a:ext cx="243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34FD7E5-686B-4F64-A159-AC7EAF47D7B5}"/>
              </a:ext>
            </a:extLst>
          </p:cNvPr>
          <p:cNvSpPr txBox="1"/>
          <p:nvPr/>
        </p:nvSpPr>
        <p:spPr>
          <a:xfrm>
            <a:off x="6334112" y="1164745"/>
            <a:ext cx="682174" cy="415498"/>
          </a:xfrm>
          <a:prstGeom prst="rect">
            <a:avLst/>
          </a:prstGeom>
          <a:noFill/>
        </p:spPr>
        <p:txBody>
          <a:bodyPr wrap="square" rtlCol="0">
            <a:spAutoFit/>
          </a:bodyPr>
          <a:lstStyle/>
          <a:p>
            <a:r>
              <a:rPr lang="en-GB" sz="2100" dirty="0"/>
              <a:t>AIR</a:t>
            </a:r>
          </a:p>
        </p:txBody>
      </p:sp>
      <p:sp>
        <p:nvSpPr>
          <p:cNvPr id="62" name="TextBox 61">
            <a:extLst>
              <a:ext uri="{FF2B5EF4-FFF2-40B4-BE49-F238E27FC236}">
                <a16:creationId xmlns:a16="http://schemas.microsoft.com/office/drawing/2014/main" id="{C8FC6501-38D5-4A66-8CAA-3C18756F658D}"/>
              </a:ext>
            </a:extLst>
          </p:cNvPr>
          <p:cNvSpPr txBox="1"/>
          <p:nvPr/>
        </p:nvSpPr>
        <p:spPr>
          <a:xfrm>
            <a:off x="6334112" y="3580817"/>
            <a:ext cx="682172" cy="415498"/>
          </a:xfrm>
          <a:prstGeom prst="rect">
            <a:avLst/>
          </a:prstGeom>
          <a:noFill/>
        </p:spPr>
        <p:txBody>
          <a:bodyPr wrap="square" rtlCol="0">
            <a:spAutoFit/>
          </a:bodyPr>
          <a:lstStyle/>
          <a:p>
            <a:r>
              <a:rPr lang="en-GB" sz="2100" dirty="0"/>
              <a:t>AIR</a:t>
            </a:r>
          </a:p>
        </p:txBody>
      </p:sp>
      <p:sp>
        <p:nvSpPr>
          <p:cNvPr id="63" name="TextBox 62">
            <a:extLst>
              <a:ext uri="{FF2B5EF4-FFF2-40B4-BE49-F238E27FC236}">
                <a16:creationId xmlns:a16="http://schemas.microsoft.com/office/drawing/2014/main" id="{7B040BD6-FAC9-44E0-B603-E3F98C60E163}"/>
              </a:ext>
            </a:extLst>
          </p:cNvPr>
          <p:cNvSpPr txBox="1"/>
          <p:nvPr/>
        </p:nvSpPr>
        <p:spPr>
          <a:xfrm>
            <a:off x="5933982" y="2381835"/>
            <a:ext cx="1082303" cy="415498"/>
          </a:xfrm>
          <a:prstGeom prst="rect">
            <a:avLst/>
          </a:prstGeom>
          <a:noFill/>
        </p:spPr>
        <p:txBody>
          <a:bodyPr wrap="square" rtlCol="0">
            <a:spAutoFit/>
          </a:bodyPr>
          <a:lstStyle/>
          <a:p>
            <a:r>
              <a:rPr lang="en-GB" sz="2100" dirty="0"/>
              <a:t>GLASS</a:t>
            </a:r>
          </a:p>
        </p:txBody>
      </p:sp>
    </p:spTree>
    <p:extLst>
      <p:ext uri="{BB962C8B-B14F-4D97-AF65-F5344CB8AC3E}">
        <p14:creationId xmlns:p14="http://schemas.microsoft.com/office/powerpoint/2010/main" val="333445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fill="hold" nodeType="clickEffect">
                                  <p:stCondLst>
                                    <p:cond delay="0"/>
                                  </p:stCondLst>
                                  <p:childTnLst>
                                    <p:animMotion origin="layout" path="M 0.00065 0 L -1.04167E-6 0.06412 " pathEditMode="relative" rAng="0" ptsTypes="AA">
                                      <p:cBhvr>
                                        <p:cTn id="6" dur="2000" fill="hold"/>
                                        <p:tgtEl>
                                          <p:spTgt spid="49"/>
                                        </p:tgtEl>
                                        <p:attrNameLst>
                                          <p:attrName>ppt_x</p:attrName>
                                          <p:attrName>ppt_y</p:attrName>
                                        </p:attrNameLst>
                                      </p:cBhvr>
                                      <p:rCtr x="0" y="3102"/>
                                    </p:animMotion>
                                  </p:childTnLst>
                                </p:cTn>
                              </p:par>
                              <p:par>
                                <p:cTn id="7" presetID="42" presetClass="path" presetSubtype="0" fill="hold" nodeType="withEffect">
                                  <p:stCondLst>
                                    <p:cond delay="0"/>
                                  </p:stCondLst>
                                  <p:childTnLst>
                                    <p:animMotion origin="layout" path="M 0 -4.81481E-6 L 0 0.13056 " pathEditMode="relative" rAng="0" ptsTypes="AA">
                                      <p:cBhvr>
                                        <p:cTn id="8" dur="4000" fill="hold"/>
                                        <p:tgtEl>
                                          <p:spTgt spid="52"/>
                                        </p:tgtEl>
                                        <p:attrNameLst>
                                          <p:attrName>ppt_x</p:attrName>
                                          <p:attrName>ppt_y</p:attrName>
                                        </p:attrNameLst>
                                      </p:cBhvr>
                                      <p:rCtr x="0" y="6528"/>
                                    </p:animMotion>
                                  </p:childTnLst>
                                </p:cTn>
                              </p:par>
                              <p:par>
                                <p:cTn id="9" presetID="42" presetClass="path" presetSubtype="0" fill="hold" nodeType="withEffect">
                                  <p:stCondLst>
                                    <p:cond delay="0"/>
                                  </p:stCondLst>
                                  <p:childTnLst>
                                    <p:animMotion origin="layout" path="M -2.08333E-7 3.27429E-17 L -2.08333E-7 0.19537 " pathEditMode="relative" rAng="0" ptsTypes="AA">
                                      <p:cBhvr>
                                        <p:cTn id="10" dur="6000" fill="hold"/>
                                        <p:tgtEl>
                                          <p:spTgt spid="55"/>
                                        </p:tgtEl>
                                        <p:attrNameLst>
                                          <p:attrName>ppt_x</p:attrName>
                                          <p:attrName>ppt_y</p:attrName>
                                        </p:attrNameLst>
                                      </p:cBhvr>
                                      <p:rCtr x="0" y="9769"/>
                                    </p:animMotion>
                                  </p:childTnLst>
                                </p:cTn>
                              </p:par>
                              <p:par>
                                <p:cTn id="11" presetID="42" presetClass="path" presetSubtype="0" fill="hold" nodeType="withEffect">
                                  <p:stCondLst>
                                    <p:cond delay="0"/>
                                  </p:stCondLst>
                                  <p:childTnLst>
                                    <p:animMotion origin="layout" path="M 2.5E-6 -4.44444E-6 L 0.00156 0.25717 " pathEditMode="relative" rAng="0" ptsTypes="AA">
                                      <p:cBhvr>
                                        <p:cTn id="12" dur="8000" fill="hold"/>
                                        <p:tgtEl>
                                          <p:spTgt spid="58"/>
                                        </p:tgtEl>
                                        <p:attrNameLst>
                                          <p:attrName>ppt_x</p:attrName>
                                          <p:attrName>ppt_y</p:attrName>
                                        </p:attrNameLst>
                                      </p:cBhvr>
                                      <p:rCtr x="78" y="12801"/>
                                    </p:animMotion>
                                  </p:childTnLst>
                                </p:cTn>
                              </p:par>
                              <p:par>
                                <p:cTn id="13" presetID="1" presetClass="exit" presetSubtype="0" fill="hold" nodeType="withEffect">
                                  <p:stCondLst>
                                    <p:cond delay="2000"/>
                                  </p:stCondLst>
                                  <p:childTnLst>
                                    <p:set>
                                      <p:cBhvr>
                                        <p:cTn id="14" dur="1" fill="hold">
                                          <p:stCondLst>
                                            <p:cond delay="9"/>
                                          </p:stCondLst>
                                        </p:cTn>
                                        <p:tgtEl>
                                          <p:spTgt spid="49"/>
                                        </p:tgtEl>
                                        <p:attrNameLst>
                                          <p:attrName>style.visibility</p:attrName>
                                        </p:attrNameLst>
                                      </p:cBhvr>
                                      <p:to>
                                        <p:strVal val="hidden"/>
                                      </p:to>
                                    </p:set>
                                  </p:childTnLst>
                                </p:cTn>
                              </p:par>
                              <p:par>
                                <p:cTn id="15" presetID="1" presetClass="exit" presetSubtype="0" fill="hold" nodeType="withEffect">
                                  <p:stCondLst>
                                    <p:cond delay="4000"/>
                                  </p:stCondLst>
                                  <p:childTnLst>
                                    <p:set>
                                      <p:cBhvr>
                                        <p:cTn id="16" dur="1" fill="hold">
                                          <p:stCondLst>
                                            <p:cond delay="9"/>
                                          </p:stCondLst>
                                        </p:cTn>
                                        <p:tgtEl>
                                          <p:spTgt spid="52"/>
                                        </p:tgtEl>
                                        <p:attrNameLst>
                                          <p:attrName>style.visibility</p:attrName>
                                        </p:attrNameLst>
                                      </p:cBhvr>
                                      <p:to>
                                        <p:strVal val="hidden"/>
                                      </p:to>
                                    </p:set>
                                  </p:childTnLst>
                                </p:cTn>
                              </p:par>
                              <p:par>
                                <p:cTn id="17" presetID="1" presetClass="exit" presetSubtype="0" fill="hold" nodeType="withEffect">
                                  <p:stCondLst>
                                    <p:cond delay="6000"/>
                                  </p:stCondLst>
                                  <p:childTnLst>
                                    <p:set>
                                      <p:cBhvr>
                                        <p:cTn id="18" dur="1" fill="hold">
                                          <p:stCondLst>
                                            <p:cond delay="9"/>
                                          </p:stCondLst>
                                        </p:cTn>
                                        <p:tgtEl>
                                          <p:spTgt spid="55"/>
                                        </p:tgtEl>
                                        <p:attrNameLst>
                                          <p:attrName>style.visibility</p:attrName>
                                        </p:attrNameLst>
                                      </p:cBhvr>
                                      <p:to>
                                        <p:strVal val="hidden"/>
                                      </p:to>
                                    </p:set>
                                  </p:childTnLst>
                                </p:cTn>
                              </p:par>
                              <p:par>
                                <p:cTn id="19" presetID="1" presetClass="exit" presetSubtype="0" fill="hold" nodeType="withEffect">
                                  <p:stCondLst>
                                    <p:cond delay="8000"/>
                                  </p:stCondLst>
                                  <p:childTnLst>
                                    <p:set>
                                      <p:cBhvr>
                                        <p:cTn id="20" dur="1" fill="hold">
                                          <p:stCondLst>
                                            <p:cond delay="9"/>
                                          </p:stCondLst>
                                        </p:cTn>
                                        <p:tgtEl>
                                          <p:spTgt spid="58"/>
                                        </p:tgtEl>
                                        <p:attrNameLst>
                                          <p:attrName>style.visibility</p:attrName>
                                        </p:attrNameLst>
                                      </p:cBhvr>
                                      <p:to>
                                        <p:strVal val="hidden"/>
                                      </p:to>
                                    </p:set>
                                  </p:childTnLst>
                                </p:cTn>
                              </p:par>
                              <p:par>
                                <p:cTn id="21" presetID="1" presetClass="entr" presetSubtype="0" fill="hold" nodeType="withEffect">
                                  <p:stCondLst>
                                    <p:cond delay="2000"/>
                                  </p:stCondLst>
                                  <p:childTnLst>
                                    <p:set>
                                      <p:cBhvr>
                                        <p:cTn id="22" dur="1" fill="hold">
                                          <p:stCondLst>
                                            <p:cond delay="9"/>
                                          </p:stCondLst>
                                        </p:cTn>
                                        <p:tgtEl>
                                          <p:spTgt spid="50"/>
                                        </p:tgtEl>
                                        <p:attrNameLst>
                                          <p:attrName>style.visibility</p:attrName>
                                        </p:attrNameLst>
                                      </p:cBhvr>
                                      <p:to>
                                        <p:strVal val="visible"/>
                                      </p:to>
                                    </p:set>
                                  </p:childTnLst>
                                </p:cTn>
                              </p:par>
                              <p:par>
                                <p:cTn id="23" presetID="1" presetClass="entr" presetSubtype="0" fill="hold" nodeType="withEffect">
                                  <p:stCondLst>
                                    <p:cond delay="4000"/>
                                  </p:stCondLst>
                                  <p:childTnLst>
                                    <p:set>
                                      <p:cBhvr>
                                        <p:cTn id="24" dur="1" fill="hold">
                                          <p:stCondLst>
                                            <p:cond delay="9"/>
                                          </p:stCondLst>
                                        </p:cTn>
                                        <p:tgtEl>
                                          <p:spTgt spid="53"/>
                                        </p:tgtEl>
                                        <p:attrNameLst>
                                          <p:attrName>style.visibility</p:attrName>
                                        </p:attrNameLst>
                                      </p:cBhvr>
                                      <p:to>
                                        <p:strVal val="visible"/>
                                      </p:to>
                                    </p:set>
                                  </p:childTnLst>
                                </p:cTn>
                              </p:par>
                              <p:par>
                                <p:cTn id="25" presetID="1" presetClass="entr" presetSubtype="0" fill="hold" nodeType="withEffect">
                                  <p:stCondLst>
                                    <p:cond delay="6000"/>
                                  </p:stCondLst>
                                  <p:childTnLst>
                                    <p:set>
                                      <p:cBhvr>
                                        <p:cTn id="26" dur="1" fill="hold">
                                          <p:stCondLst>
                                            <p:cond delay="9"/>
                                          </p:stCondLst>
                                        </p:cTn>
                                        <p:tgtEl>
                                          <p:spTgt spid="59"/>
                                        </p:tgtEl>
                                        <p:attrNameLst>
                                          <p:attrName>style.visibility</p:attrName>
                                        </p:attrNameLst>
                                      </p:cBhvr>
                                      <p:to>
                                        <p:strVal val="visible"/>
                                      </p:to>
                                    </p:set>
                                  </p:childTnLst>
                                </p:cTn>
                              </p:par>
                              <p:par>
                                <p:cTn id="27" presetID="1" presetClass="entr" presetSubtype="0" fill="hold" nodeType="withEffect">
                                  <p:stCondLst>
                                    <p:cond delay="8000"/>
                                  </p:stCondLst>
                                  <p:childTnLst>
                                    <p:set>
                                      <p:cBhvr>
                                        <p:cTn id="28" dur="1" fill="hold">
                                          <p:stCondLst>
                                            <p:cond delay="9"/>
                                          </p:stCondLst>
                                        </p:cTn>
                                        <p:tgtEl>
                                          <p:spTgt spid="56"/>
                                        </p:tgtEl>
                                        <p:attrNameLst>
                                          <p:attrName>style.visibility</p:attrName>
                                        </p:attrNameLst>
                                      </p:cBhvr>
                                      <p:to>
                                        <p:strVal val="visible"/>
                                      </p:to>
                                    </p:set>
                                  </p:childTnLst>
                                </p:cTn>
                              </p:par>
                              <p:par>
                                <p:cTn id="29" presetID="42" presetClass="path" presetSubtype="0" fill="hold" nodeType="withEffect">
                                  <p:stCondLst>
                                    <p:cond delay="2000"/>
                                  </p:stCondLst>
                                  <p:childTnLst>
                                    <p:animMotion origin="layout" path="M 0 -3.7037E-7 L 0 0.19074 " pathEditMode="relative" rAng="0" ptsTypes="AA">
                                      <p:cBhvr>
                                        <p:cTn id="30" dur="12000" fill="hold"/>
                                        <p:tgtEl>
                                          <p:spTgt spid="50"/>
                                        </p:tgtEl>
                                        <p:attrNameLst>
                                          <p:attrName>ppt_x</p:attrName>
                                          <p:attrName>ppt_y</p:attrName>
                                        </p:attrNameLst>
                                      </p:cBhvr>
                                      <p:rCtr x="0" y="9537"/>
                                    </p:animMotion>
                                  </p:childTnLst>
                                </p:cTn>
                              </p:par>
                              <p:par>
                                <p:cTn id="31" presetID="42" presetClass="path" presetSubtype="0" fill="hold" nodeType="withEffect">
                                  <p:stCondLst>
                                    <p:cond delay="4000"/>
                                  </p:stCondLst>
                                  <p:childTnLst>
                                    <p:animMotion origin="layout" path="M 0 -4.44444E-6 L 0 0.19167 " pathEditMode="relative" rAng="0" ptsTypes="AA">
                                      <p:cBhvr>
                                        <p:cTn id="32" dur="12000" fill="hold"/>
                                        <p:tgtEl>
                                          <p:spTgt spid="53"/>
                                        </p:tgtEl>
                                        <p:attrNameLst>
                                          <p:attrName>ppt_x</p:attrName>
                                          <p:attrName>ppt_y</p:attrName>
                                        </p:attrNameLst>
                                      </p:cBhvr>
                                      <p:rCtr x="0" y="9583"/>
                                    </p:animMotion>
                                  </p:childTnLst>
                                </p:cTn>
                              </p:par>
                              <p:par>
                                <p:cTn id="33" presetID="42" presetClass="path" presetSubtype="0" fill="hold" nodeType="withEffect">
                                  <p:stCondLst>
                                    <p:cond delay="6000"/>
                                  </p:stCondLst>
                                  <p:childTnLst>
                                    <p:animMotion origin="layout" path="M 2.5E-6 -4.44444E-6 L 2.5E-6 0.19167 " pathEditMode="relative" rAng="0" ptsTypes="AA">
                                      <p:cBhvr>
                                        <p:cTn id="34" dur="12000" fill="hold"/>
                                        <p:tgtEl>
                                          <p:spTgt spid="59"/>
                                        </p:tgtEl>
                                        <p:attrNameLst>
                                          <p:attrName>ppt_x</p:attrName>
                                          <p:attrName>ppt_y</p:attrName>
                                        </p:attrNameLst>
                                      </p:cBhvr>
                                      <p:rCtr x="0" y="9583"/>
                                    </p:animMotion>
                                  </p:childTnLst>
                                </p:cTn>
                              </p:par>
                              <p:par>
                                <p:cTn id="35" presetID="42" presetClass="path" presetSubtype="0" fill="hold" nodeType="withEffect">
                                  <p:stCondLst>
                                    <p:cond delay="8000"/>
                                  </p:stCondLst>
                                  <p:childTnLst>
                                    <p:animMotion origin="layout" path="M 0 -3.7037E-7 L 0 0.19167 " pathEditMode="relative" rAng="0" ptsTypes="AA">
                                      <p:cBhvr>
                                        <p:cTn id="36" dur="12000" fill="hold"/>
                                        <p:tgtEl>
                                          <p:spTgt spid="56"/>
                                        </p:tgtEl>
                                        <p:attrNameLst>
                                          <p:attrName>ppt_x</p:attrName>
                                          <p:attrName>ppt_y</p:attrName>
                                        </p:attrNameLst>
                                      </p:cBhvr>
                                      <p:rCtr x="0" y="9583"/>
                                    </p:animMotion>
                                  </p:childTnLst>
                                </p:cTn>
                              </p:par>
                              <p:par>
                                <p:cTn id="37" presetID="1" presetClass="exit" presetSubtype="0" fill="hold" nodeType="withEffect">
                                  <p:stCondLst>
                                    <p:cond delay="14000"/>
                                  </p:stCondLst>
                                  <p:childTnLst>
                                    <p:set>
                                      <p:cBhvr>
                                        <p:cTn id="38" dur="1" fill="hold">
                                          <p:stCondLst>
                                            <p:cond delay="9"/>
                                          </p:stCondLst>
                                        </p:cTn>
                                        <p:tgtEl>
                                          <p:spTgt spid="50"/>
                                        </p:tgtEl>
                                        <p:attrNameLst>
                                          <p:attrName>style.visibility</p:attrName>
                                        </p:attrNameLst>
                                      </p:cBhvr>
                                      <p:to>
                                        <p:strVal val="hidden"/>
                                      </p:to>
                                    </p:set>
                                  </p:childTnLst>
                                </p:cTn>
                              </p:par>
                              <p:par>
                                <p:cTn id="39" presetID="1" presetClass="exit" presetSubtype="0" fill="hold" nodeType="withEffect">
                                  <p:stCondLst>
                                    <p:cond delay="16000"/>
                                  </p:stCondLst>
                                  <p:childTnLst>
                                    <p:set>
                                      <p:cBhvr>
                                        <p:cTn id="40" dur="1" fill="hold">
                                          <p:stCondLst>
                                            <p:cond delay="9"/>
                                          </p:stCondLst>
                                        </p:cTn>
                                        <p:tgtEl>
                                          <p:spTgt spid="53"/>
                                        </p:tgtEl>
                                        <p:attrNameLst>
                                          <p:attrName>style.visibility</p:attrName>
                                        </p:attrNameLst>
                                      </p:cBhvr>
                                      <p:to>
                                        <p:strVal val="hidden"/>
                                      </p:to>
                                    </p:set>
                                  </p:childTnLst>
                                </p:cTn>
                              </p:par>
                              <p:par>
                                <p:cTn id="41" presetID="1" presetClass="exit" presetSubtype="0" fill="hold" nodeType="withEffect">
                                  <p:stCondLst>
                                    <p:cond delay="18000"/>
                                  </p:stCondLst>
                                  <p:childTnLst>
                                    <p:set>
                                      <p:cBhvr>
                                        <p:cTn id="42" dur="1" fill="hold">
                                          <p:stCondLst>
                                            <p:cond delay="9"/>
                                          </p:stCondLst>
                                        </p:cTn>
                                        <p:tgtEl>
                                          <p:spTgt spid="59"/>
                                        </p:tgtEl>
                                        <p:attrNameLst>
                                          <p:attrName>style.visibility</p:attrName>
                                        </p:attrNameLst>
                                      </p:cBhvr>
                                      <p:to>
                                        <p:strVal val="hidden"/>
                                      </p:to>
                                    </p:set>
                                  </p:childTnLst>
                                </p:cTn>
                              </p:par>
                              <p:par>
                                <p:cTn id="43" presetID="1" presetClass="exit" presetSubtype="0" fill="hold" nodeType="withEffect">
                                  <p:stCondLst>
                                    <p:cond delay="20000"/>
                                  </p:stCondLst>
                                  <p:childTnLst>
                                    <p:set>
                                      <p:cBhvr>
                                        <p:cTn id="44" dur="1" fill="hold">
                                          <p:stCondLst>
                                            <p:cond delay="9"/>
                                          </p:stCondLst>
                                        </p:cTn>
                                        <p:tgtEl>
                                          <p:spTgt spid="56"/>
                                        </p:tgtEl>
                                        <p:attrNameLst>
                                          <p:attrName>style.visibility</p:attrName>
                                        </p:attrNameLst>
                                      </p:cBhvr>
                                      <p:to>
                                        <p:strVal val="hidden"/>
                                      </p:to>
                                    </p:set>
                                  </p:childTnLst>
                                </p:cTn>
                              </p:par>
                              <p:par>
                                <p:cTn id="45" presetID="1" presetClass="entr" presetSubtype="0" fill="hold" nodeType="withEffect">
                                  <p:stCondLst>
                                    <p:cond delay="14000"/>
                                  </p:stCondLst>
                                  <p:childTnLst>
                                    <p:set>
                                      <p:cBhvr>
                                        <p:cTn id="46" dur="1" fill="hold">
                                          <p:stCondLst>
                                            <p:cond delay="9"/>
                                          </p:stCondLst>
                                        </p:cTn>
                                        <p:tgtEl>
                                          <p:spTgt spid="51"/>
                                        </p:tgtEl>
                                        <p:attrNameLst>
                                          <p:attrName>style.visibility</p:attrName>
                                        </p:attrNameLst>
                                      </p:cBhvr>
                                      <p:to>
                                        <p:strVal val="visible"/>
                                      </p:to>
                                    </p:set>
                                  </p:childTnLst>
                                </p:cTn>
                              </p:par>
                              <p:par>
                                <p:cTn id="47" presetID="1" presetClass="entr" presetSubtype="0" fill="hold" nodeType="withEffect">
                                  <p:stCondLst>
                                    <p:cond delay="16000"/>
                                  </p:stCondLst>
                                  <p:childTnLst>
                                    <p:set>
                                      <p:cBhvr>
                                        <p:cTn id="48" dur="1" fill="hold">
                                          <p:stCondLst>
                                            <p:cond delay="9"/>
                                          </p:stCondLst>
                                        </p:cTn>
                                        <p:tgtEl>
                                          <p:spTgt spid="54"/>
                                        </p:tgtEl>
                                        <p:attrNameLst>
                                          <p:attrName>style.visibility</p:attrName>
                                        </p:attrNameLst>
                                      </p:cBhvr>
                                      <p:to>
                                        <p:strVal val="visible"/>
                                      </p:to>
                                    </p:set>
                                  </p:childTnLst>
                                </p:cTn>
                              </p:par>
                              <p:par>
                                <p:cTn id="49" presetID="1" presetClass="entr" presetSubtype="0" fill="hold" nodeType="withEffect">
                                  <p:stCondLst>
                                    <p:cond delay="18000"/>
                                  </p:stCondLst>
                                  <p:childTnLst>
                                    <p:set>
                                      <p:cBhvr>
                                        <p:cTn id="50" dur="1" fill="hold">
                                          <p:stCondLst>
                                            <p:cond delay="9"/>
                                          </p:stCondLst>
                                        </p:cTn>
                                        <p:tgtEl>
                                          <p:spTgt spid="57"/>
                                        </p:tgtEl>
                                        <p:attrNameLst>
                                          <p:attrName>style.visibility</p:attrName>
                                        </p:attrNameLst>
                                      </p:cBhvr>
                                      <p:to>
                                        <p:strVal val="visible"/>
                                      </p:to>
                                    </p:set>
                                  </p:childTnLst>
                                </p:cTn>
                              </p:par>
                              <p:par>
                                <p:cTn id="51" presetID="1" presetClass="entr" presetSubtype="0" fill="hold" nodeType="withEffect">
                                  <p:stCondLst>
                                    <p:cond delay="20000"/>
                                  </p:stCondLst>
                                  <p:childTnLst>
                                    <p:set>
                                      <p:cBhvr>
                                        <p:cTn id="52" dur="1" fill="hold">
                                          <p:stCondLst>
                                            <p:cond delay="9"/>
                                          </p:stCondLst>
                                        </p:cTn>
                                        <p:tgtEl>
                                          <p:spTgt spid="60"/>
                                        </p:tgtEl>
                                        <p:attrNameLst>
                                          <p:attrName>style.visibility</p:attrName>
                                        </p:attrNameLst>
                                      </p:cBhvr>
                                      <p:to>
                                        <p:strVal val="visible"/>
                                      </p:to>
                                    </p:set>
                                  </p:childTnLst>
                                </p:cTn>
                              </p:par>
                              <p:par>
                                <p:cTn id="53" presetID="42" presetClass="path" presetSubtype="0" fill="hold" nodeType="withEffect">
                                  <p:stCondLst>
                                    <p:cond delay="14000"/>
                                  </p:stCondLst>
                                  <p:childTnLst>
                                    <p:animMotion origin="layout" path="M 2.5E-6 3.33333E-6 L 0.00156 0.25023 " pathEditMode="relative" rAng="0" ptsTypes="AA">
                                      <p:cBhvr>
                                        <p:cTn id="54" dur="8000" fill="hold"/>
                                        <p:tgtEl>
                                          <p:spTgt spid="51"/>
                                        </p:tgtEl>
                                        <p:attrNameLst>
                                          <p:attrName>ppt_x</p:attrName>
                                          <p:attrName>ppt_y</p:attrName>
                                        </p:attrNameLst>
                                      </p:cBhvr>
                                      <p:rCtr x="78" y="12500"/>
                                    </p:animMotion>
                                  </p:childTnLst>
                                </p:cTn>
                              </p:par>
                              <p:par>
                                <p:cTn id="55" presetID="42" presetClass="path" presetSubtype="0" fill="hold" nodeType="withEffect">
                                  <p:stCondLst>
                                    <p:cond delay="16000"/>
                                  </p:stCondLst>
                                  <p:childTnLst>
                                    <p:animMotion origin="layout" path="M 0 1.85185E-6 L -0.00065 0.1868 " pathEditMode="relative" rAng="0" ptsTypes="AA">
                                      <p:cBhvr>
                                        <p:cTn id="56" dur="6000" fill="hold"/>
                                        <p:tgtEl>
                                          <p:spTgt spid="54"/>
                                        </p:tgtEl>
                                        <p:attrNameLst>
                                          <p:attrName>ppt_x</p:attrName>
                                          <p:attrName>ppt_y</p:attrName>
                                        </p:attrNameLst>
                                      </p:cBhvr>
                                      <p:rCtr x="-39" y="9329"/>
                                    </p:animMotion>
                                  </p:childTnLst>
                                </p:cTn>
                              </p:par>
                              <p:par>
                                <p:cTn id="57" presetID="42" presetClass="path" presetSubtype="0" fill="hold" nodeType="withEffect">
                                  <p:stCondLst>
                                    <p:cond delay="18000"/>
                                  </p:stCondLst>
                                  <p:childTnLst>
                                    <p:animMotion origin="layout" path="M 0 3.33333E-6 L 0 0.12384 " pathEditMode="relative" rAng="0" ptsTypes="AA">
                                      <p:cBhvr>
                                        <p:cTn id="58" dur="4000" fill="hold"/>
                                        <p:tgtEl>
                                          <p:spTgt spid="57"/>
                                        </p:tgtEl>
                                        <p:attrNameLst>
                                          <p:attrName>ppt_x</p:attrName>
                                          <p:attrName>ppt_y</p:attrName>
                                        </p:attrNameLst>
                                      </p:cBhvr>
                                      <p:rCtr x="0" y="6181"/>
                                    </p:animMotion>
                                  </p:childTnLst>
                                </p:cTn>
                              </p:par>
                              <p:par>
                                <p:cTn id="59" presetID="42" presetClass="path" presetSubtype="0" fill="hold" nodeType="withEffect">
                                  <p:stCondLst>
                                    <p:cond delay="20000"/>
                                  </p:stCondLst>
                                  <p:childTnLst>
                                    <p:animMotion origin="layout" path="M 0 3.33333E-6 L -0.00156 0.06319 " pathEditMode="relative" rAng="0" ptsTypes="AA">
                                      <p:cBhvr>
                                        <p:cTn id="60" dur="2000" fill="hold"/>
                                        <p:tgtEl>
                                          <p:spTgt spid="60"/>
                                        </p:tgtEl>
                                        <p:attrNameLst>
                                          <p:attrName>ppt_x</p:attrName>
                                          <p:attrName>ppt_y</p:attrName>
                                        </p:attrNameLst>
                                      </p:cBhvr>
                                      <p:rCtr x="-78" y="3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Predict what you thinking will happen</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4" name="Rectangle 23">
            <a:extLst>
              <a:ext uri="{FF2B5EF4-FFF2-40B4-BE49-F238E27FC236}">
                <a16:creationId xmlns:a16="http://schemas.microsoft.com/office/drawing/2014/main" id="{AECB65DB-61B2-4216-8BC1-75F8A00278EF}"/>
              </a:ext>
            </a:extLst>
          </p:cNvPr>
          <p:cNvSpPr/>
          <p:nvPr/>
        </p:nvSpPr>
        <p:spPr>
          <a:xfrm>
            <a:off x="1414801" y="2299341"/>
            <a:ext cx="4403981" cy="107181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cxnSp>
        <p:nvCxnSpPr>
          <p:cNvPr id="25" name="Straight Connector 24">
            <a:extLst>
              <a:ext uri="{FF2B5EF4-FFF2-40B4-BE49-F238E27FC236}">
                <a16:creationId xmlns:a16="http://schemas.microsoft.com/office/drawing/2014/main" id="{9BBAAF46-21F0-440B-85C2-3C4409071D4E}"/>
              </a:ext>
            </a:extLst>
          </p:cNvPr>
          <p:cNvCxnSpPr>
            <a:cxnSpLocks/>
          </p:cNvCxnSpPr>
          <p:nvPr/>
        </p:nvCxnSpPr>
        <p:spPr>
          <a:xfrm>
            <a:off x="3245823" y="2306145"/>
            <a:ext cx="370969" cy="1071281"/>
          </a:xfrm>
          <a:prstGeom prst="line">
            <a:avLst/>
          </a:prstGeom>
          <a:ln w="22225"/>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092E3C0-3F8A-4F9A-977F-64DA1B8F2BFE}"/>
              </a:ext>
            </a:extLst>
          </p:cNvPr>
          <p:cNvCxnSpPr>
            <a:cxnSpLocks/>
          </p:cNvCxnSpPr>
          <p:nvPr/>
        </p:nvCxnSpPr>
        <p:spPr>
          <a:xfrm>
            <a:off x="3320775" y="2529407"/>
            <a:ext cx="82825" cy="227113"/>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690FE6B-897E-46E8-B260-30D3FB25F546}"/>
              </a:ext>
            </a:extLst>
          </p:cNvPr>
          <p:cNvCxnSpPr>
            <a:cxnSpLocks noChangeAspect="1"/>
          </p:cNvCxnSpPr>
          <p:nvPr/>
        </p:nvCxnSpPr>
        <p:spPr>
          <a:xfrm flipH="1">
            <a:off x="2327070" y="1730933"/>
            <a:ext cx="1674000" cy="57939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B7D8CCC-FAD6-403F-9312-4689C9AE0EF1}"/>
              </a:ext>
            </a:extLst>
          </p:cNvPr>
          <p:cNvCxnSpPr>
            <a:cxnSpLocks noChangeAspect="1"/>
          </p:cNvCxnSpPr>
          <p:nvPr/>
        </p:nvCxnSpPr>
        <p:spPr>
          <a:xfrm flipH="1">
            <a:off x="2327070" y="1729478"/>
            <a:ext cx="1674000" cy="5805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1ED6FEA-58B0-4986-8B9C-FADA5EB2D3A5}"/>
              </a:ext>
            </a:extLst>
          </p:cNvPr>
          <p:cNvSpPr/>
          <p:nvPr/>
        </p:nvSpPr>
        <p:spPr>
          <a:xfrm>
            <a:off x="2163451" y="1269495"/>
            <a:ext cx="2197637" cy="10287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1050" dirty="0"/>
          </a:p>
        </p:txBody>
      </p:sp>
      <p:cxnSp>
        <p:nvCxnSpPr>
          <p:cNvPr id="30" name="Straight Connector 29">
            <a:extLst>
              <a:ext uri="{FF2B5EF4-FFF2-40B4-BE49-F238E27FC236}">
                <a16:creationId xmlns:a16="http://schemas.microsoft.com/office/drawing/2014/main" id="{5D57273A-2248-4569-AE7B-4A980068995F}"/>
              </a:ext>
            </a:extLst>
          </p:cNvPr>
          <p:cNvCxnSpPr>
            <a:cxnSpLocks noChangeAspect="1"/>
          </p:cNvCxnSpPr>
          <p:nvPr/>
        </p:nvCxnSpPr>
        <p:spPr>
          <a:xfrm>
            <a:off x="1376251" y="1238221"/>
            <a:ext cx="1872518" cy="1072634"/>
          </a:xfrm>
          <a:prstGeom prst="line">
            <a:avLst/>
          </a:prstGeom>
          <a:ln w="22225"/>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786ADFC9-D2AE-457A-8972-44D750278979}"/>
              </a:ext>
            </a:extLst>
          </p:cNvPr>
          <p:cNvCxnSpPr>
            <a:cxnSpLocks/>
          </p:cNvCxnSpPr>
          <p:nvPr/>
        </p:nvCxnSpPr>
        <p:spPr>
          <a:xfrm>
            <a:off x="1665820" y="1403352"/>
            <a:ext cx="344525" cy="200127"/>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1360C4-F325-438B-AA12-B7ED1B6A1581}"/>
              </a:ext>
            </a:extLst>
          </p:cNvPr>
          <p:cNvCxnSpPr/>
          <p:nvPr/>
        </p:nvCxnSpPr>
        <p:spPr>
          <a:xfrm flipH="1">
            <a:off x="1230400" y="861627"/>
            <a:ext cx="457200" cy="8251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839FE4-EB47-425C-BBBF-AB71789DFE60}"/>
              </a:ext>
            </a:extLst>
          </p:cNvPr>
          <p:cNvCxnSpPr/>
          <p:nvPr/>
        </p:nvCxnSpPr>
        <p:spPr>
          <a:xfrm flipH="1">
            <a:off x="1526144" y="1027680"/>
            <a:ext cx="457200" cy="8251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6C55B9-85CE-4205-9555-D4D57EEEFB7E}"/>
              </a:ext>
            </a:extLst>
          </p:cNvPr>
          <p:cNvCxnSpPr>
            <a:cxnSpLocks noChangeAspect="1"/>
          </p:cNvCxnSpPr>
          <p:nvPr/>
        </p:nvCxnSpPr>
        <p:spPr>
          <a:xfrm>
            <a:off x="1544938" y="783342"/>
            <a:ext cx="2659643" cy="1523527"/>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0D55D35-08B3-49EE-B78A-EEE1986DEF69}"/>
              </a:ext>
            </a:extLst>
          </p:cNvPr>
          <p:cNvCxnSpPr>
            <a:cxnSpLocks noChangeAspect="1"/>
          </p:cNvCxnSpPr>
          <p:nvPr/>
        </p:nvCxnSpPr>
        <p:spPr>
          <a:xfrm>
            <a:off x="1091523" y="1598554"/>
            <a:ext cx="1235546" cy="707761"/>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665CADD8-254F-435C-A0F5-0492D1E7615D}"/>
              </a:ext>
            </a:extLst>
          </p:cNvPr>
          <p:cNvCxnSpPr>
            <a:cxnSpLocks/>
          </p:cNvCxnSpPr>
          <p:nvPr/>
        </p:nvCxnSpPr>
        <p:spPr>
          <a:xfrm>
            <a:off x="3245823" y="1614263"/>
            <a:ext cx="0" cy="1028700"/>
          </a:xfrm>
          <a:prstGeom prst="line">
            <a:avLst/>
          </a:prstGeom>
          <a:ln w="25400">
            <a:prstDash val="dash"/>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3B795FF8-D033-4CD2-96A6-82BE8FCD26B5}"/>
              </a:ext>
            </a:extLst>
          </p:cNvPr>
          <p:cNvSpPr/>
          <p:nvPr/>
        </p:nvSpPr>
        <p:spPr>
          <a:xfrm>
            <a:off x="2372311" y="3384644"/>
            <a:ext cx="2548676" cy="70092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1050" dirty="0"/>
              <a:t> </a:t>
            </a:r>
          </a:p>
        </p:txBody>
      </p:sp>
      <p:cxnSp>
        <p:nvCxnSpPr>
          <p:cNvPr id="38" name="Straight Connector 37">
            <a:extLst>
              <a:ext uri="{FF2B5EF4-FFF2-40B4-BE49-F238E27FC236}">
                <a16:creationId xmlns:a16="http://schemas.microsoft.com/office/drawing/2014/main" id="{D31DE850-33E7-4F7A-B857-3C8CCBC44F86}"/>
              </a:ext>
            </a:extLst>
          </p:cNvPr>
          <p:cNvCxnSpPr>
            <a:cxnSpLocks noChangeAspect="1"/>
          </p:cNvCxnSpPr>
          <p:nvPr/>
        </p:nvCxnSpPr>
        <p:spPr>
          <a:xfrm>
            <a:off x="2679826" y="3367527"/>
            <a:ext cx="2635895" cy="1509923"/>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008426C1-C1B5-4F28-9ECC-17D600F32867}"/>
              </a:ext>
            </a:extLst>
          </p:cNvPr>
          <p:cNvCxnSpPr>
            <a:cxnSpLocks noChangeAspect="1"/>
          </p:cNvCxnSpPr>
          <p:nvPr/>
        </p:nvCxnSpPr>
        <p:spPr>
          <a:xfrm>
            <a:off x="4572000" y="3374791"/>
            <a:ext cx="1321748" cy="757136"/>
          </a:xfrm>
          <a:prstGeom prst="line">
            <a:avLst/>
          </a:prstGeom>
          <a:ln w="12700">
            <a:solidFill>
              <a:schemeClr val="dk1"/>
            </a:solidFill>
            <a:prstDash val="sysDash"/>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83434F9F-710D-4E7E-8161-0CE67E456F16}"/>
              </a:ext>
            </a:extLst>
          </p:cNvPr>
          <p:cNvCxnSpPr>
            <a:cxnSpLocks/>
          </p:cNvCxnSpPr>
          <p:nvPr/>
        </p:nvCxnSpPr>
        <p:spPr>
          <a:xfrm>
            <a:off x="3616792" y="2954183"/>
            <a:ext cx="0" cy="110700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EB83A109-D3F4-4168-8C6C-D074508CF893}"/>
              </a:ext>
            </a:extLst>
          </p:cNvPr>
          <p:cNvCxnSpPr>
            <a:cxnSpLocks noChangeAspect="1"/>
          </p:cNvCxnSpPr>
          <p:nvPr/>
        </p:nvCxnSpPr>
        <p:spPr>
          <a:xfrm>
            <a:off x="3617992" y="3374791"/>
            <a:ext cx="2356723" cy="1350000"/>
          </a:xfrm>
          <a:prstGeom prst="line">
            <a:avLst/>
          </a:prstGeom>
          <a:ln w="22225"/>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A591B970-3696-47FF-9461-9487215D5E79}"/>
              </a:ext>
            </a:extLst>
          </p:cNvPr>
          <p:cNvCxnSpPr/>
          <p:nvPr/>
        </p:nvCxnSpPr>
        <p:spPr>
          <a:xfrm flipH="1">
            <a:off x="2701180" y="2552322"/>
            <a:ext cx="457200" cy="8251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6B77C6-D550-46D1-B796-DA00DAF07ED5}"/>
              </a:ext>
            </a:extLst>
          </p:cNvPr>
          <p:cNvCxnSpPr/>
          <p:nvPr/>
        </p:nvCxnSpPr>
        <p:spPr>
          <a:xfrm flipH="1">
            <a:off x="2703874" y="2554707"/>
            <a:ext cx="457200" cy="8251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CB981C4-A9CB-427E-B846-2BC7BFF68F98}"/>
              </a:ext>
            </a:extLst>
          </p:cNvPr>
          <p:cNvCxnSpPr>
            <a:cxnSpLocks/>
          </p:cNvCxnSpPr>
          <p:nvPr/>
        </p:nvCxnSpPr>
        <p:spPr>
          <a:xfrm>
            <a:off x="4201031" y="2313268"/>
            <a:ext cx="370969" cy="1071281"/>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053D9398-3722-465D-96C3-AE95E05E0BC2}"/>
              </a:ext>
            </a:extLst>
          </p:cNvPr>
          <p:cNvCxnSpPr>
            <a:cxnSpLocks/>
          </p:cNvCxnSpPr>
          <p:nvPr/>
        </p:nvCxnSpPr>
        <p:spPr>
          <a:xfrm>
            <a:off x="2325966" y="2306144"/>
            <a:ext cx="370969" cy="1071281"/>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6C9354D7-400E-4573-A149-D02D22097AF2}"/>
              </a:ext>
            </a:extLst>
          </p:cNvPr>
          <p:cNvCxnSpPr>
            <a:cxnSpLocks/>
          </p:cNvCxnSpPr>
          <p:nvPr/>
        </p:nvCxnSpPr>
        <p:spPr>
          <a:xfrm>
            <a:off x="5494714" y="4448395"/>
            <a:ext cx="326009" cy="189287"/>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D14FC63E-0FB0-4BA2-AC11-8F945C99D3AB}"/>
              </a:ext>
            </a:extLst>
          </p:cNvPr>
          <p:cNvSpPr txBox="1"/>
          <p:nvPr/>
        </p:nvSpPr>
        <p:spPr>
          <a:xfrm>
            <a:off x="3027854" y="1268940"/>
            <a:ext cx="404926" cy="323165"/>
          </a:xfrm>
          <a:prstGeom prst="rect">
            <a:avLst/>
          </a:prstGeom>
          <a:noFill/>
        </p:spPr>
        <p:txBody>
          <a:bodyPr wrap="square" rtlCol="0">
            <a:spAutoFit/>
          </a:bodyPr>
          <a:lstStyle/>
          <a:p>
            <a:pPr algn="ctr"/>
            <a:r>
              <a:rPr lang="en-GB" sz="1500" b="1" dirty="0"/>
              <a:t>N</a:t>
            </a:r>
          </a:p>
        </p:txBody>
      </p:sp>
      <p:sp>
        <p:nvSpPr>
          <p:cNvPr id="68" name="TextBox 67">
            <a:extLst>
              <a:ext uri="{FF2B5EF4-FFF2-40B4-BE49-F238E27FC236}">
                <a16:creationId xmlns:a16="http://schemas.microsoft.com/office/drawing/2014/main" id="{77787FB1-51A6-4327-87C3-2BB37FB2303D}"/>
              </a:ext>
            </a:extLst>
          </p:cNvPr>
          <p:cNvSpPr txBox="1"/>
          <p:nvPr/>
        </p:nvSpPr>
        <p:spPr>
          <a:xfrm>
            <a:off x="3422149" y="4046450"/>
            <a:ext cx="404926" cy="323165"/>
          </a:xfrm>
          <a:prstGeom prst="rect">
            <a:avLst/>
          </a:prstGeom>
          <a:noFill/>
        </p:spPr>
        <p:txBody>
          <a:bodyPr wrap="square" rtlCol="0">
            <a:spAutoFit/>
          </a:bodyPr>
          <a:lstStyle/>
          <a:p>
            <a:pPr algn="ctr"/>
            <a:r>
              <a:rPr lang="en-GB" sz="1500" b="1" dirty="0"/>
              <a:t>N</a:t>
            </a:r>
          </a:p>
        </p:txBody>
      </p:sp>
      <p:sp>
        <p:nvSpPr>
          <p:cNvPr id="69" name="TextBox 68">
            <a:extLst>
              <a:ext uri="{FF2B5EF4-FFF2-40B4-BE49-F238E27FC236}">
                <a16:creationId xmlns:a16="http://schemas.microsoft.com/office/drawing/2014/main" id="{E9DECDB5-9E01-493C-A684-EB1B81EA0AFE}"/>
              </a:ext>
            </a:extLst>
          </p:cNvPr>
          <p:cNvSpPr txBox="1"/>
          <p:nvPr/>
        </p:nvSpPr>
        <p:spPr>
          <a:xfrm>
            <a:off x="4984653" y="1569022"/>
            <a:ext cx="802508" cy="415498"/>
          </a:xfrm>
          <a:prstGeom prst="rect">
            <a:avLst/>
          </a:prstGeom>
          <a:noFill/>
        </p:spPr>
        <p:txBody>
          <a:bodyPr wrap="square" rtlCol="0">
            <a:spAutoFit/>
          </a:bodyPr>
          <a:lstStyle/>
          <a:p>
            <a:r>
              <a:rPr lang="en-GB" sz="2100" dirty="0"/>
              <a:t>AIR</a:t>
            </a:r>
          </a:p>
        </p:txBody>
      </p:sp>
      <p:sp>
        <p:nvSpPr>
          <p:cNvPr id="70" name="TextBox 69">
            <a:extLst>
              <a:ext uri="{FF2B5EF4-FFF2-40B4-BE49-F238E27FC236}">
                <a16:creationId xmlns:a16="http://schemas.microsoft.com/office/drawing/2014/main" id="{C7B3D413-6FBE-4D9B-90E6-E9F166732807}"/>
              </a:ext>
            </a:extLst>
          </p:cNvPr>
          <p:cNvSpPr txBox="1"/>
          <p:nvPr/>
        </p:nvSpPr>
        <p:spPr>
          <a:xfrm>
            <a:off x="6265724" y="3706990"/>
            <a:ext cx="817370" cy="415498"/>
          </a:xfrm>
          <a:prstGeom prst="rect">
            <a:avLst/>
          </a:prstGeom>
          <a:noFill/>
        </p:spPr>
        <p:txBody>
          <a:bodyPr wrap="square" rtlCol="0">
            <a:spAutoFit/>
          </a:bodyPr>
          <a:lstStyle/>
          <a:p>
            <a:r>
              <a:rPr lang="en-GB" sz="2100" dirty="0"/>
              <a:t>AIR</a:t>
            </a:r>
          </a:p>
        </p:txBody>
      </p:sp>
      <p:sp>
        <p:nvSpPr>
          <p:cNvPr id="71" name="TextBox 70">
            <a:extLst>
              <a:ext uri="{FF2B5EF4-FFF2-40B4-BE49-F238E27FC236}">
                <a16:creationId xmlns:a16="http://schemas.microsoft.com/office/drawing/2014/main" id="{D8490207-0ED1-47B0-8E57-33990F16D136}"/>
              </a:ext>
            </a:extLst>
          </p:cNvPr>
          <p:cNvSpPr txBox="1"/>
          <p:nvPr/>
        </p:nvSpPr>
        <p:spPr>
          <a:xfrm>
            <a:off x="5853348" y="2571750"/>
            <a:ext cx="1221073" cy="415498"/>
          </a:xfrm>
          <a:prstGeom prst="rect">
            <a:avLst/>
          </a:prstGeom>
          <a:noFill/>
        </p:spPr>
        <p:txBody>
          <a:bodyPr wrap="square" rtlCol="0">
            <a:spAutoFit/>
          </a:bodyPr>
          <a:lstStyle/>
          <a:p>
            <a:r>
              <a:rPr lang="en-GB" sz="2100" dirty="0"/>
              <a:t>GLASS</a:t>
            </a:r>
          </a:p>
        </p:txBody>
      </p:sp>
    </p:spTree>
    <p:extLst>
      <p:ext uri="{BB962C8B-B14F-4D97-AF65-F5344CB8AC3E}">
        <p14:creationId xmlns:p14="http://schemas.microsoft.com/office/powerpoint/2010/main" val="284057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fill="hold" nodeType="clickEffect">
                                  <p:stCondLst>
                                    <p:cond delay="0"/>
                                  </p:stCondLst>
                                  <p:childTnLst>
                                    <p:animMotion origin="layout" path="M 0.00017 4.93827E-7 L 0.27673 0.28241 " pathEditMode="relative" rAng="0" ptsTypes="AA">
                                      <p:cBhvr>
                                        <p:cTn id="6" dur="7000" fill="hold"/>
                                        <p:tgtEl>
                                          <p:spTgt spid="32"/>
                                        </p:tgtEl>
                                        <p:attrNameLst>
                                          <p:attrName>ppt_x</p:attrName>
                                          <p:attrName>ppt_y</p:attrName>
                                        </p:attrNameLst>
                                      </p:cBhvr>
                                      <p:rCtr x="13819" y="14105"/>
                                    </p:animMotion>
                                  </p:childTnLst>
                                </p:cTn>
                              </p:par>
                              <p:par>
                                <p:cTn id="7" presetID="22" presetClass="exit" presetSubtype="4" fill="hold" nodeType="withEffect">
                                  <p:stCondLst>
                                    <p:cond delay="2700"/>
                                  </p:stCondLst>
                                  <p:childTnLst>
                                    <p:animEffect transition="out" filter="wipe(down)">
                                      <p:cBhvr>
                                        <p:cTn id="8" dur="4250"/>
                                        <p:tgtEl>
                                          <p:spTgt spid="32"/>
                                        </p:tgtEl>
                                      </p:cBhvr>
                                    </p:animEffect>
                                    <p:set>
                                      <p:cBhvr>
                                        <p:cTn id="9" dur="1" fill="hold">
                                          <p:stCondLst>
                                            <p:cond delay="4249"/>
                                          </p:stCondLst>
                                        </p:cTn>
                                        <p:tgtEl>
                                          <p:spTgt spid="32"/>
                                        </p:tgtEl>
                                        <p:attrNameLst>
                                          <p:attrName>style.visibility</p:attrName>
                                        </p:attrNameLst>
                                      </p:cBhvr>
                                      <p:to>
                                        <p:strVal val="hidden"/>
                                      </p:to>
                                    </p:set>
                                  </p:childTnLst>
                                </p:cTn>
                              </p:par>
                              <p:par>
                                <p:cTn id="10" presetID="49" presetClass="path" presetSubtype="0" fill="hold" nodeType="withEffect">
                                  <p:stCondLst>
                                    <p:cond delay="0"/>
                                  </p:stCondLst>
                                  <p:childTnLst>
                                    <p:animMotion origin="layout" path="M -2.77778E-7 1.7284E-6 L 0.27795 0.28457 " pathEditMode="relative" rAng="0" ptsTypes="AA">
                                      <p:cBhvr>
                                        <p:cTn id="11" dur="7000" fill="hold"/>
                                        <p:tgtEl>
                                          <p:spTgt spid="33"/>
                                        </p:tgtEl>
                                        <p:attrNameLst>
                                          <p:attrName>ppt_x</p:attrName>
                                          <p:attrName>ppt_y</p:attrName>
                                        </p:attrNameLst>
                                      </p:cBhvr>
                                      <p:rCtr x="13889" y="14228"/>
                                    </p:animMotion>
                                  </p:childTnLst>
                                </p:cTn>
                              </p:par>
                              <p:par>
                                <p:cTn id="12" presetID="22" presetClass="exit" presetSubtype="4" fill="hold" nodeType="withEffect">
                                  <p:stCondLst>
                                    <p:cond delay="2000"/>
                                  </p:stCondLst>
                                  <p:childTnLst>
                                    <p:animEffect transition="out" filter="wipe(down)">
                                      <p:cBhvr>
                                        <p:cTn id="13" dur="4250"/>
                                        <p:tgtEl>
                                          <p:spTgt spid="33"/>
                                        </p:tgtEl>
                                      </p:cBhvr>
                                    </p:animEffect>
                                    <p:set>
                                      <p:cBhvr>
                                        <p:cTn id="14" dur="1" fill="hold">
                                          <p:stCondLst>
                                            <p:cond delay="4249"/>
                                          </p:stCondLst>
                                        </p:cTn>
                                        <p:tgtEl>
                                          <p:spTgt spid="33"/>
                                        </p:tgtEl>
                                        <p:attrNameLst>
                                          <p:attrName>style.visibility</p:attrName>
                                        </p:attrNameLst>
                                      </p:cBhvr>
                                      <p:to>
                                        <p:strVal val="hidden"/>
                                      </p:to>
                                    </p:set>
                                  </p:childTnLst>
                                </p:cTn>
                              </p:par>
                              <p:par>
                                <p:cTn id="15" presetID="22" presetClass="entr" presetSubtype="4" fill="hold" nodeType="withEffect">
                                  <p:stCondLst>
                                    <p:cond delay="300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4250"/>
                                        <p:tgtEl>
                                          <p:spTgt spid="28"/>
                                        </p:tgtEl>
                                      </p:cBhvr>
                                    </p:animEffect>
                                  </p:childTnLst>
                                </p:cTn>
                              </p:par>
                              <p:par>
                                <p:cTn id="18" presetID="49" presetClass="path" presetSubtype="0" fill="hold" nodeType="withEffect">
                                  <p:stCondLst>
                                    <p:cond delay="3000"/>
                                  </p:stCondLst>
                                  <p:childTnLst>
                                    <p:animMotion origin="layout" path="M 0.00052 0.00278 L 0.06059 0.3213 " pathEditMode="relative" rAng="0" ptsTypes="AA">
                                      <p:cBhvr>
                                        <p:cTn id="19" dur="11750" fill="hold"/>
                                        <p:tgtEl>
                                          <p:spTgt spid="28"/>
                                        </p:tgtEl>
                                        <p:attrNameLst>
                                          <p:attrName>ppt_x</p:attrName>
                                          <p:attrName>ppt_y</p:attrName>
                                        </p:attrNameLst>
                                      </p:cBhvr>
                                      <p:rCtr x="3003" y="15926"/>
                                    </p:animMotion>
                                  </p:childTnLst>
                                </p:cTn>
                              </p:par>
                              <p:par>
                                <p:cTn id="20" presetID="22" presetClass="exit" presetSubtype="4" fill="hold" nodeType="withEffect">
                                  <p:stCondLst>
                                    <p:cond delay="10750"/>
                                  </p:stCondLst>
                                  <p:childTnLst>
                                    <p:animEffect transition="out" filter="wipe(down)">
                                      <p:cBhvr>
                                        <p:cTn id="21" dur="4500"/>
                                        <p:tgtEl>
                                          <p:spTgt spid="28"/>
                                        </p:tgtEl>
                                      </p:cBhvr>
                                    </p:animEffect>
                                    <p:set>
                                      <p:cBhvr>
                                        <p:cTn id="22" dur="1" fill="hold">
                                          <p:stCondLst>
                                            <p:cond delay="4499"/>
                                          </p:stCondLst>
                                        </p:cTn>
                                        <p:tgtEl>
                                          <p:spTgt spid="28"/>
                                        </p:tgtEl>
                                        <p:attrNameLst>
                                          <p:attrName>style.visibility</p:attrName>
                                        </p:attrNameLst>
                                      </p:cBhvr>
                                      <p:to>
                                        <p:strVal val="hidden"/>
                                      </p:to>
                                    </p:set>
                                  </p:childTnLst>
                                </p:cTn>
                              </p:par>
                              <p:par>
                                <p:cTn id="23" presetID="22" presetClass="entr" presetSubtype="4" fill="hold" nodeType="withEffect">
                                  <p:stCondLst>
                                    <p:cond delay="2000"/>
                                  </p:stCondLst>
                                  <p:childTnLst>
                                    <p:set>
                                      <p:cBhvr>
                                        <p:cTn id="24" dur="1" fill="hold">
                                          <p:stCondLst>
                                            <p:cond delay="0"/>
                                          </p:stCondLst>
                                        </p:cTn>
                                        <p:tgtEl>
                                          <p:spTgt spid="27"/>
                                        </p:tgtEl>
                                        <p:attrNameLst>
                                          <p:attrName>style.visibility</p:attrName>
                                        </p:attrNameLst>
                                      </p:cBhvr>
                                      <p:to>
                                        <p:strVal val="visible"/>
                                      </p:to>
                                    </p:set>
                                    <p:animEffect transition="in" filter="wipe(down)">
                                      <p:cBhvr>
                                        <p:cTn id="25" dur="4750"/>
                                        <p:tgtEl>
                                          <p:spTgt spid="27"/>
                                        </p:tgtEl>
                                      </p:cBhvr>
                                    </p:animEffect>
                                  </p:childTnLst>
                                </p:cTn>
                              </p:par>
                              <p:par>
                                <p:cTn id="26" presetID="49" presetClass="path" presetSubtype="0" fill="hold" nodeType="withEffect">
                                  <p:stCondLst>
                                    <p:cond delay="2000"/>
                                  </p:stCondLst>
                                  <p:childTnLst>
                                    <p:animMotion origin="layout" path="M 3.05556E-6 -2.59259E-6 L 0.06111 0.32006 " pathEditMode="relative" rAng="0" ptsTypes="AA">
                                      <p:cBhvr>
                                        <p:cTn id="27" dur="11750" fill="hold"/>
                                        <p:tgtEl>
                                          <p:spTgt spid="27"/>
                                        </p:tgtEl>
                                        <p:attrNameLst>
                                          <p:attrName>ppt_x</p:attrName>
                                          <p:attrName>ppt_y</p:attrName>
                                        </p:attrNameLst>
                                      </p:cBhvr>
                                      <p:rCtr x="3056" y="15988"/>
                                    </p:animMotion>
                                  </p:childTnLst>
                                </p:cTn>
                              </p:par>
                              <p:par>
                                <p:cTn id="28" presetID="22" presetClass="exit" presetSubtype="4" fill="hold" nodeType="withEffect">
                                  <p:stCondLst>
                                    <p:cond delay="9500"/>
                                  </p:stCondLst>
                                  <p:childTnLst>
                                    <p:animEffect transition="out" filter="wipe(down)">
                                      <p:cBhvr>
                                        <p:cTn id="29" dur="4500"/>
                                        <p:tgtEl>
                                          <p:spTgt spid="27"/>
                                        </p:tgtEl>
                                      </p:cBhvr>
                                    </p:animEffect>
                                    <p:set>
                                      <p:cBhvr>
                                        <p:cTn id="30" dur="1" fill="hold">
                                          <p:stCondLst>
                                            <p:cond delay="4499"/>
                                          </p:stCondLst>
                                        </p:cTn>
                                        <p:tgtEl>
                                          <p:spTgt spid="27"/>
                                        </p:tgtEl>
                                        <p:attrNameLst>
                                          <p:attrName>style.visibility</p:attrName>
                                        </p:attrNameLst>
                                      </p:cBhvr>
                                      <p:to>
                                        <p:strVal val="hidden"/>
                                      </p:to>
                                    </p:set>
                                  </p:childTnLst>
                                </p:cTn>
                              </p:par>
                              <p:par>
                                <p:cTn id="31" presetID="22" presetClass="entr" presetSubtype="4" fill="hold" nodeType="withEffect">
                                  <p:stCondLst>
                                    <p:cond delay="10750"/>
                                  </p:stCondLst>
                                  <p:childTnLst>
                                    <p:set>
                                      <p:cBhvr>
                                        <p:cTn id="32" dur="1" fill="hold">
                                          <p:stCondLst>
                                            <p:cond delay="0"/>
                                          </p:stCondLst>
                                        </p:cTn>
                                        <p:tgtEl>
                                          <p:spTgt spid="43"/>
                                        </p:tgtEl>
                                        <p:attrNameLst>
                                          <p:attrName>style.visibility</p:attrName>
                                        </p:attrNameLst>
                                      </p:cBhvr>
                                      <p:to>
                                        <p:strVal val="visible"/>
                                      </p:to>
                                    </p:set>
                                    <p:animEffect transition="in" filter="wipe(down)">
                                      <p:cBhvr>
                                        <p:cTn id="33" dur="4700"/>
                                        <p:tgtEl>
                                          <p:spTgt spid="43"/>
                                        </p:tgtEl>
                                      </p:cBhvr>
                                    </p:animEffect>
                                  </p:childTnLst>
                                </p:cTn>
                              </p:par>
                              <p:par>
                                <p:cTn id="34" presetID="49" presetClass="path" presetSubtype="0" fill="hold" nodeType="withEffect">
                                  <p:stCondLst>
                                    <p:cond delay="10750"/>
                                  </p:stCondLst>
                                  <p:childTnLst>
                                    <p:animMotion origin="layout" path="M 2.77778E-7 -1.85185E-6 L 0.23681 0.24414 " pathEditMode="relative" rAng="0" ptsTypes="AA">
                                      <p:cBhvr>
                                        <p:cTn id="35" dur="6250" fill="hold"/>
                                        <p:tgtEl>
                                          <p:spTgt spid="43"/>
                                        </p:tgtEl>
                                        <p:attrNameLst>
                                          <p:attrName>ppt_x</p:attrName>
                                          <p:attrName>ppt_y</p:attrName>
                                        </p:attrNameLst>
                                      </p:cBhvr>
                                      <p:rCtr x="11840" y="12191"/>
                                    </p:animMotion>
                                  </p:childTnLst>
                                </p:cTn>
                              </p:par>
                              <p:par>
                                <p:cTn id="36" presetID="22" presetClass="entr" presetSubtype="4" fill="hold" nodeType="withEffect">
                                  <p:stCondLst>
                                    <p:cond delay="9750"/>
                                  </p:stCondLst>
                                  <p:childTnLst>
                                    <p:set>
                                      <p:cBhvr>
                                        <p:cTn id="37" dur="1" fill="hold">
                                          <p:stCondLst>
                                            <p:cond delay="0"/>
                                          </p:stCondLst>
                                        </p:cTn>
                                        <p:tgtEl>
                                          <p:spTgt spid="42"/>
                                        </p:tgtEl>
                                        <p:attrNameLst>
                                          <p:attrName>style.visibility</p:attrName>
                                        </p:attrNameLst>
                                      </p:cBhvr>
                                      <p:to>
                                        <p:strVal val="visible"/>
                                      </p:to>
                                    </p:set>
                                    <p:animEffect transition="in" filter="wipe(down)">
                                      <p:cBhvr>
                                        <p:cTn id="38" dur="4700"/>
                                        <p:tgtEl>
                                          <p:spTgt spid="42"/>
                                        </p:tgtEl>
                                      </p:cBhvr>
                                    </p:animEffect>
                                  </p:childTnLst>
                                </p:cTn>
                              </p:par>
                              <p:par>
                                <p:cTn id="39" presetID="49" presetClass="path" presetSubtype="0" fill="hold" nodeType="withEffect">
                                  <p:stCondLst>
                                    <p:cond delay="9750"/>
                                  </p:stCondLst>
                                  <p:childTnLst>
                                    <p:animMotion origin="layout" path="M 3.88889E-6 -3.20988E-6 L 0.26892 0.2784 " pathEditMode="relative" rAng="0" ptsTypes="AA">
                                      <p:cBhvr>
                                        <p:cTn id="40" dur="7250" fill="hold"/>
                                        <p:tgtEl>
                                          <p:spTgt spid="42"/>
                                        </p:tgtEl>
                                        <p:attrNameLst>
                                          <p:attrName>ppt_x</p:attrName>
                                          <p:attrName>ppt_y</p:attrName>
                                        </p:attrNameLst>
                                      </p:cBhvr>
                                      <p:rCtr x="13438" y="1392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4146603109"/>
              </p:ext>
            </p:extLst>
          </p:nvPr>
        </p:nvGraphicFramePr>
        <p:xfrm>
          <a:off x="6982812" y="160337"/>
          <a:ext cx="2065688" cy="124962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Can you think of any other examples of dispersion?</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589800" cy="2008755"/>
          </a:xfrm>
          <a:prstGeom prst="rect">
            <a:avLst/>
          </a:prstGeom>
        </p:spPr>
        <p:txBody>
          <a:bodyPr wrap="square">
            <a:spAutoFit/>
          </a:bodyPr>
          <a:lstStyle/>
          <a:p>
            <a:pPr>
              <a:lnSpc>
                <a:spcPct val="115000"/>
              </a:lnSpc>
              <a:spcBef>
                <a:spcPts val="1000"/>
              </a:spcBef>
              <a:spcAft>
                <a:spcPts val="1000"/>
              </a:spcAft>
            </a:pPr>
            <a:r>
              <a:rPr lang="en-AU" sz="2800" b="1" dirty="0">
                <a:latin typeface="Calibri" panose="020F0502020204030204" pitchFamily="34" charset="0"/>
                <a:ea typeface="Times New Roman" panose="02020603050405020304" pitchFamily="18" charset="0"/>
                <a:cs typeface="Times New Roman" panose="02020603050405020304" pitchFamily="18" charset="0"/>
              </a:rPr>
              <a:t>Dispersion:</a:t>
            </a:r>
          </a:p>
          <a:p>
            <a:pPr lvl="0" eaLnBrk="0" fontAlgn="base" hangingPunct="0">
              <a:spcBef>
                <a:spcPct val="0"/>
              </a:spcBef>
              <a:spcAft>
                <a:spcPct val="0"/>
              </a:spcAft>
              <a:buClrTx/>
              <a:tabLst>
                <a:tab pos="2692400" algn="l"/>
              </a:tabLst>
            </a:pPr>
            <a:r>
              <a:rPr lang="en-AU" sz="2400" dirty="0">
                <a:latin typeface="Calibri" panose="020F0502020204030204" pitchFamily="34" charset="0"/>
                <a:ea typeface="Times New Roman" panose="02020603050405020304" pitchFamily="18" charset="0"/>
                <a:cs typeface="Times New Roman" panose="02020603050405020304" pitchFamily="18" charset="0"/>
              </a:rPr>
              <a:t>The spreading out of EM waves (particularly light waves) when refracted by a medium. </a:t>
            </a:r>
            <a:endParaRPr lang="en-AU" altLang="en-US" sz="24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7" name="Picture 6">
            <a:extLst>
              <a:ext uri="{FF2B5EF4-FFF2-40B4-BE49-F238E27FC236}">
                <a16:creationId xmlns:a16="http://schemas.microsoft.com/office/drawing/2014/main" id="{0745CCA2-22C9-41E3-81BF-382D3A442C31}"/>
              </a:ext>
            </a:extLst>
          </p:cNvPr>
          <p:cNvPicPr/>
          <p:nvPr/>
        </p:nvPicPr>
        <p:blipFill>
          <a:blip r:embed="rId3"/>
          <a:stretch>
            <a:fillRect/>
          </a:stretch>
        </p:blipFill>
        <p:spPr>
          <a:xfrm>
            <a:off x="5165888" y="1746620"/>
            <a:ext cx="3038824" cy="1682512"/>
          </a:xfrm>
          <a:prstGeom prst="rect">
            <a:avLst/>
          </a:prstGeom>
        </p:spPr>
      </p:pic>
      <p:sp>
        <p:nvSpPr>
          <p:cNvPr id="4" name="Rectangle 3">
            <a:extLst>
              <a:ext uri="{FF2B5EF4-FFF2-40B4-BE49-F238E27FC236}">
                <a16:creationId xmlns:a16="http://schemas.microsoft.com/office/drawing/2014/main" id="{8EB59B17-2CC4-44BC-82F8-982B0B58F6C7}"/>
              </a:ext>
            </a:extLst>
          </p:cNvPr>
          <p:cNvSpPr/>
          <p:nvPr/>
        </p:nvSpPr>
        <p:spPr>
          <a:xfrm>
            <a:off x="4681165" y="3765795"/>
            <a:ext cx="4367335" cy="779444"/>
          </a:xfrm>
          <a:prstGeom prst="rect">
            <a:avLst/>
          </a:prstGeom>
        </p:spPr>
        <p:txBody>
          <a:bodyPr wrap="square">
            <a:spAutoFit/>
          </a:bodyPr>
          <a:lstStyle/>
          <a:p>
            <a:pPr>
              <a:lnSpc>
                <a:spcPct val="115000"/>
              </a:lnSpc>
              <a:spcBef>
                <a:spcPts val="1000"/>
              </a:spcBef>
              <a:spcAft>
                <a:spcPts val="1000"/>
              </a:spcAft>
            </a:pPr>
            <a:r>
              <a:rPr lang="en-AU" sz="2000" dirty="0">
                <a:latin typeface="Calibri" panose="020F0502020204030204" pitchFamily="34" charset="0"/>
                <a:ea typeface="Times New Roman" panose="02020603050405020304" pitchFamily="18" charset="0"/>
                <a:cs typeface="Times New Roman" panose="02020603050405020304" pitchFamily="18" charset="0"/>
              </a:rPr>
              <a:t>A common example is sunlight refracted by a raindrop or glass prism </a:t>
            </a:r>
          </a:p>
        </p:txBody>
      </p:sp>
      <p:pic>
        <p:nvPicPr>
          <p:cNvPr id="2050" name="Picture 2" descr="Dispersion of sunlight through a prism | British Astronomical ...">
            <a:extLst>
              <a:ext uri="{FF2B5EF4-FFF2-40B4-BE49-F238E27FC236}">
                <a16:creationId xmlns:a16="http://schemas.microsoft.com/office/drawing/2014/main" id="{54DE9962-126D-4068-A194-FC9C27E43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48" y="2126334"/>
            <a:ext cx="4022888" cy="3017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81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809473342"/>
              </p:ext>
            </p:extLst>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What are the colours of the rainbow?</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589800" cy="1814856"/>
          </a:xfrm>
          <a:prstGeom prst="rect">
            <a:avLst/>
          </a:prstGeom>
        </p:spPr>
        <p:txBody>
          <a:bodyPr wrap="square">
            <a:spAutoFit/>
          </a:bodyPr>
          <a:lstStyle/>
          <a:p>
            <a:pPr>
              <a:lnSpc>
                <a:spcPct val="115000"/>
              </a:lnSpc>
              <a:spcBef>
                <a:spcPts val="1000"/>
              </a:spcBef>
              <a:spcAft>
                <a:spcPts val="1000"/>
              </a:spcAft>
            </a:pPr>
            <a:r>
              <a:rPr lang="en-AU" sz="2400" b="1" dirty="0">
                <a:latin typeface="Calibri" panose="020F0502020204030204" pitchFamily="34" charset="0"/>
                <a:ea typeface="Times New Roman" panose="02020603050405020304" pitchFamily="18" charset="0"/>
                <a:cs typeface="Times New Roman" panose="02020603050405020304" pitchFamily="18" charset="0"/>
              </a:rPr>
              <a:t>Dispersion:</a:t>
            </a:r>
          </a:p>
          <a:p>
            <a:pPr lvl="0" eaLnBrk="0" fontAlgn="base" hangingPunct="0">
              <a:spcBef>
                <a:spcPct val="0"/>
              </a:spcBef>
              <a:spcAft>
                <a:spcPct val="0"/>
              </a:spcAft>
              <a:buClrTx/>
              <a:tabLst>
                <a:tab pos="2692400" algn="l"/>
              </a:tabLst>
            </a:pPr>
            <a:r>
              <a:rPr lang="en-AU" sz="2000" dirty="0">
                <a:latin typeface="Calibri" panose="020F0502020204030204" pitchFamily="34" charset="0"/>
                <a:ea typeface="Times New Roman" panose="02020603050405020304" pitchFamily="18" charset="0"/>
                <a:cs typeface="Times New Roman" panose="02020603050405020304" pitchFamily="18" charset="0"/>
              </a:rPr>
              <a:t>The spreading out of EM waves (particularly light waves) when refracted by a medium. </a:t>
            </a:r>
            <a:endParaRPr lang="en-AU" altLang="en-US" sz="20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2050" name="Picture 2" descr="Dispersion of sunlight through a prism | British Astronomical ...">
            <a:extLst>
              <a:ext uri="{FF2B5EF4-FFF2-40B4-BE49-F238E27FC236}">
                <a16:creationId xmlns:a16="http://schemas.microsoft.com/office/drawing/2014/main" id="{54DE9962-126D-4068-A194-FC9C27E43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48" y="2126334"/>
            <a:ext cx="4022888" cy="30171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BF22022-2E6C-46D8-BF1F-DC93A527F931}"/>
              </a:ext>
            </a:extLst>
          </p:cNvPr>
          <p:cNvSpPr/>
          <p:nvPr/>
        </p:nvSpPr>
        <p:spPr>
          <a:xfrm>
            <a:off x="4572000" y="2126334"/>
            <a:ext cx="4572000" cy="3108543"/>
          </a:xfrm>
          <a:prstGeom prst="rect">
            <a:avLst/>
          </a:prstGeom>
        </p:spPr>
        <p:txBody>
          <a:bodyPr>
            <a:spAutoFit/>
          </a:bodyPr>
          <a:lstStyle/>
          <a:p>
            <a:r>
              <a:rPr lang="en-AU" dirty="0"/>
              <a:t>Sunlight is a range of EM waves ranging from red light waves to violet light waves. </a:t>
            </a:r>
          </a:p>
          <a:p>
            <a:endParaRPr lang="en-AU" dirty="0"/>
          </a:p>
          <a:p>
            <a:r>
              <a:rPr lang="en-AU" dirty="0"/>
              <a:t>These EM waves travel through a raindrop at slightly different speeds depending on their frequency. Lower frequency red light waves travel faster than higher frequency violet light waves.</a:t>
            </a:r>
          </a:p>
          <a:p>
            <a:endParaRPr lang="en-AU" dirty="0"/>
          </a:p>
          <a:p>
            <a:r>
              <a:rPr lang="en-AU" dirty="0"/>
              <a:t>The result is a range of refraction angles – the light is dispersed. This dispersed light is referred to as a spectrum.</a:t>
            </a:r>
          </a:p>
          <a:p>
            <a:endParaRPr lang="en-AU" dirty="0"/>
          </a:p>
          <a:p>
            <a:endParaRPr lang="en-AU" dirty="0"/>
          </a:p>
          <a:p>
            <a:endParaRPr lang="en-AU" dirty="0"/>
          </a:p>
        </p:txBody>
      </p:sp>
      <p:sp>
        <p:nvSpPr>
          <p:cNvPr id="5" name="Rectangle 4">
            <a:extLst>
              <a:ext uri="{FF2B5EF4-FFF2-40B4-BE49-F238E27FC236}">
                <a16:creationId xmlns:a16="http://schemas.microsoft.com/office/drawing/2014/main" id="{FC71822F-3FF6-483D-9925-AC0CA2F10F64}"/>
              </a:ext>
            </a:extLst>
          </p:cNvPr>
          <p:cNvSpPr/>
          <p:nvPr/>
        </p:nvSpPr>
        <p:spPr>
          <a:xfrm>
            <a:off x="7327259" y="1227077"/>
            <a:ext cx="1381983" cy="369332"/>
          </a:xfrm>
          <a:prstGeom prst="rect">
            <a:avLst/>
          </a:prstGeom>
        </p:spPr>
        <p:txBody>
          <a:bodyPr wrap="square">
            <a:spAutoFit/>
          </a:bodyPr>
          <a:lstStyle/>
          <a:p>
            <a:r>
              <a:rPr lang="en-AU" sz="1800" b="1" dirty="0"/>
              <a:t>ROYGBIV</a:t>
            </a:r>
          </a:p>
        </p:txBody>
      </p:sp>
    </p:spTree>
    <p:extLst>
      <p:ext uri="{BB962C8B-B14F-4D97-AF65-F5344CB8AC3E}">
        <p14:creationId xmlns:p14="http://schemas.microsoft.com/office/powerpoint/2010/main" val="371577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083294304"/>
              </p:ext>
            </p:extLst>
          </p:nvPr>
        </p:nvGraphicFramePr>
        <p:xfrm>
          <a:off x="6982812" y="160337"/>
          <a:ext cx="2065688" cy="179826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Why do you need to understand diffraction as a spy? </a:t>
                      </a:r>
                    </a:p>
                    <a:p>
                      <a:pPr marL="0" lvl="0" indent="0" algn="l" rtl="0">
                        <a:spcBef>
                          <a:spcPts val="0"/>
                        </a:spcBef>
                        <a:spcAft>
                          <a:spcPts val="0"/>
                        </a:spcAft>
                        <a:buNone/>
                      </a:pPr>
                      <a:endParaRPr lang="en-GB" sz="1200" dirty="0">
                        <a:latin typeface="Century Gothic"/>
                        <a:ea typeface="Century Gothic"/>
                        <a:cs typeface="Century Gothic"/>
                        <a:sym typeface="Century Gothic"/>
                      </a:endParaRPr>
                    </a:p>
                    <a:p>
                      <a:pPr marL="0" lvl="0" indent="0" algn="l" rtl="0">
                        <a:spcBef>
                          <a:spcPts val="0"/>
                        </a:spcBef>
                        <a:spcAft>
                          <a:spcPts val="0"/>
                        </a:spcAft>
                        <a:buNone/>
                      </a:pPr>
                      <a:r>
                        <a:rPr lang="en-GB" sz="1200" dirty="0">
                          <a:latin typeface="Century Gothic"/>
                          <a:ea typeface="Century Gothic"/>
                          <a:cs typeface="Century Gothic"/>
                          <a:sym typeface="Century Gothic"/>
                        </a:rPr>
                        <a:t>Who is a better spy? Miss Alex or you?</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4175502"/>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Diffraction: </a:t>
            </a: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Bending of waves as they pass through an opening or around the edge or edges of an obstacle.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If the wavelength is approximately the same length as the opening then maximum diffraction will occur.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When waves are </a:t>
            </a:r>
            <a:b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diffracted, the </a:t>
            </a:r>
            <a:r>
              <a:rPr lang="en-GB" altLang="en-US" sz="1800" u="sng" dirty="0">
                <a:solidFill>
                  <a:schemeClr val="tx1"/>
                </a:solidFill>
                <a:latin typeface="Calibri" panose="020F0502020204030204" pitchFamily="34" charset="0"/>
                <a:ea typeface="Times New Roman" panose="02020603050405020304" pitchFamily="18" charset="0"/>
                <a:cs typeface="Calibri" panose="020F0502020204030204" pitchFamily="34" charset="0"/>
              </a:rPr>
              <a:t>speed</a:t>
            </a: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b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GB" altLang="en-US" sz="1800" u="sng" dirty="0">
                <a:solidFill>
                  <a:schemeClr val="tx1"/>
                </a:solidFill>
                <a:latin typeface="Calibri" panose="020F0502020204030204" pitchFamily="34" charset="0"/>
                <a:ea typeface="Times New Roman" panose="02020603050405020304" pitchFamily="18" charset="0"/>
                <a:cs typeface="Calibri" panose="020F0502020204030204" pitchFamily="34" charset="0"/>
              </a:rPr>
              <a:t>wavelength</a:t>
            </a: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and </a:t>
            </a:r>
            <a:b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GB" altLang="en-US" sz="1800" u="sng" dirty="0">
                <a:solidFill>
                  <a:schemeClr val="tx1"/>
                </a:solidFill>
                <a:latin typeface="Calibri" panose="020F0502020204030204" pitchFamily="34" charset="0"/>
                <a:ea typeface="Times New Roman" panose="02020603050405020304" pitchFamily="18" charset="0"/>
                <a:cs typeface="Calibri" panose="020F0502020204030204" pitchFamily="34" charset="0"/>
              </a:rPr>
              <a:t>frequency</a:t>
            </a: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 of the wave </a:t>
            </a:r>
            <a:b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GB"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DOES NOT CHANGE. </a:t>
            </a:r>
          </a:p>
          <a:p>
            <a:pPr lvl="0" eaLnBrk="0" fontAlgn="base" hangingPunct="0">
              <a:spcBef>
                <a:spcPct val="0"/>
              </a:spcBef>
              <a:spcAft>
                <a:spcPct val="0"/>
              </a:spcAft>
              <a:buClrTx/>
              <a:tabLst>
                <a:tab pos="2692400" algn="l"/>
              </a:tabLst>
            </a:pP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4" name="Rectangle 3">
            <a:extLst>
              <a:ext uri="{FF2B5EF4-FFF2-40B4-BE49-F238E27FC236}">
                <a16:creationId xmlns:a16="http://schemas.microsoft.com/office/drawing/2014/main" id="{9B7F550D-1EB4-4901-9A75-B631B5293DC6}"/>
              </a:ext>
            </a:extLst>
          </p:cNvPr>
          <p:cNvSpPr/>
          <p:nvPr/>
        </p:nvSpPr>
        <p:spPr>
          <a:xfrm>
            <a:off x="6864029" y="2011992"/>
            <a:ext cx="2303253" cy="1815882"/>
          </a:xfrm>
          <a:prstGeom prst="rect">
            <a:avLst/>
          </a:prstGeom>
        </p:spPr>
        <p:txBody>
          <a:bodyPr wrap="square">
            <a:spAutoFit/>
          </a:bodyPr>
          <a:lstStyle/>
          <a:p>
            <a:r>
              <a:rPr lang="en-AU" dirty="0"/>
              <a:t>Higher frequency sound waves have shorter wavelengths so they will diffract less than lower frequency sound waves as lower frequency sound waves have longer wavelengths. </a:t>
            </a:r>
          </a:p>
        </p:txBody>
      </p:sp>
      <p:pic>
        <p:nvPicPr>
          <p:cNvPr id="8" name="Picture 7" descr="Image result for diffraction">
            <a:extLst>
              <a:ext uri="{FF2B5EF4-FFF2-40B4-BE49-F238E27FC236}">
                <a16:creationId xmlns:a16="http://schemas.microsoft.com/office/drawing/2014/main" id="{8D6A3A11-DD31-44CE-8049-C0B6EAB1614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673191" y="2701820"/>
            <a:ext cx="3797617" cy="2151483"/>
          </a:xfrm>
          <a:prstGeom prst="rect">
            <a:avLst/>
          </a:prstGeom>
          <a:noFill/>
          <a:ln>
            <a:noFill/>
          </a:ln>
        </p:spPr>
      </p:pic>
      <p:pic>
        <p:nvPicPr>
          <p:cNvPr id="9" name="Picture 8" descr="Image result for diffraction">
            <a:extLst>
              <a:ext uri="{FF2B5EF4-FFF2-40B4-BE49-F238E27FC236}">
                <a16:creationId xmlns:a16="http://schemas.microsoft.com/office/drawing/2014/main" id="{ECC94C0E-3145-4C46-9268-C504216D4AE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849374" y="3720932"/>
            <a:ext cx="2174853" cy="1262231"/>
          </a:xfrm>
          <a:prstGeom prst="rect">
            <a:avLst/>
          </a:prstGeom>
          <a:noFill/>
          <a:ln>
            <a:noFill/>
          </a:ln>
        </p:spPr>
      </p:pic>
    </p:spTree>
    <p:extLst>
      <p:ext uri="{BB962C8B-B14F-4D97-AF65-F5344CB8AC3E}">
        <p14:creationId xmlns:p14="http://schemas.microsoft.com/office/powerpoint/2010/main" val="79631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2349361"/>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Diffraction: </a:t>
            </a:r>
          </a:p>
          <a:p>
            <a:pPr>
              <a:lnSpc>
                <a:spcPct val="115000"/>
              </a:lnSpc>
              <a:spcBef>
                <a:spcPts val="1000"/>
              </a:spcBef>
              <a:spcAft>
                <a:spcPts val="1000"/>
              </a:spcAft>
            </a:pPr>
            <a:endParaRPr lang="en-AU" sz="2000" b="1"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Bef>
                <a:spcPts val="1000"/>
              </a:spcBef>
              <a:spcAft>
                <a:spcPts val="1000"/>
              </a:spcAft>
            </a:pPr>
            <a:endParaRPr lang="en-AU" sz="2000" dirty="0">
              <a:latin typeface="Calibri" panose="020F050202020403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tabLst>
                <a:tab pos="2692400" algn="l"/>
              </a:tabLst>
            </a:pP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3074" name="Picture 2" descr="Diffraction - Wave Properties">
            <a:extLst>
              <a:ext uri="{FF2B5EF4-FFF2-40B4-BE49-F238E27FC236}">
                <a16:creationId xmlns:a16="http://schemas.microsoft.com/office/drawing/2014/main" id="{AEE59692-3E6F-4D93-BA1C-AAA85227B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3950" y="100012"/>
            <a:ext cx="5924550" cy="494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303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4197827153"/>
              </p:ext>
            </p:extLst>
          </p:nvPr>
        </p:nvGraphicFramePr>
        <p:xfrm>
          <a:off x="6982812" y="160337"/>
          <a:ext cx="2065688" cy="179826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What industry profits off polarisation?</a:t>
                      </a:r>
                    </a:p>
                    <a:p>
                      <a:pPr marL="0" lvl="0" indent="0" algn="l" rtl="0">
                        <a:spcBef>
                          <a:spcPts val="0"/>
                        </a:spcBef>
                        <a:spcAft>
                          <a:spcPts val="0"/>
                        </a:spcAft>
                        <a:buNone/>
                      </a:pPr>
                      <a:endParaRPr lang="en-GB" sz="1200" dirty="0">
                        <a:latin typeface="Century Gothic"/>
                        <a:ea typeface="Century Gothic"/>
                        <a:cs typeface="Century Gothic"/>
                        <a:sym typeface="Century Gothic"/>
                      </a:endParaRPr>
                    </a:p>
                    <a:p>
                      <a:pPr marL="0" lvl="0" indent="0" algn="l" rtl="0">
                        <a:spcBef>
                          <a:spcPts val="0"/>
                        </a:spcBef>
                        <a:spcAft>
                          <a:spcPts val="0"/>
                        </a:spcAft>
                        <a:buNone/>
                      </a:pPr>
                      <a:r>
                        <a:rPr lang="en-GB" sz="1200" dirty="0">
                          <a:latin typeface="Century Gothic"/>
                          <a:ea typeface="Century Gothic"/>
                          <a:cs typeface="Century Gothic"/>
                          <a:sym typeface="Century Gothic"/>
                        </a:rPr>
                        <a:t>Use the image to describe the benefits of polarisation.</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4452501"/>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Polarisation: </a:t>
            </a: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Firstly,</a:t>
            </a:r>
            <a:r>
              <a:rPr lang="en-AU" sz="1800" dirty="0">
                <a:latin typeface="Calibri" panose="020F0502020204030204" pitchFamily="34" charset="0"/>
                <a:ea typeface="Times New Roman" panose="02020603050405020304" pitchFamily="18" charset="0"/>
                <a:cs typeface="Times New Roman" panose="02020603050405020304" pitchFamily="18" charset="0"/>
              </a:rPr>
              <a:t> light is a transverse wave. That means it oscillates ‘up’ and ‘down’, rather than ‘forward’ and ‘back’. </a:t>
            </a:r>
            <a:endPar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sz="1800" dirty="0">
                <a:latin typeface="Calibri" panose="020F0502020204030204" pitchFamily="34" charset="0"/>
                <a:ea typeface="Times New Roman" panose="02020603050405020304" pitchFamily="18" charset="0"/>
                <a:cs typeface="Times New Roman" panose="02020603050405020304" pitchFamily="18" charset="0"/>
              </a:rPr>
              <a:t>Polarisation is the process of transforming unpolarised light into polarised light. </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r>
              <a:rPr lang="en-AU" sz="1800" dirty="0">
                <a:latin typeface="Calibri" panose="020F0502020204030204" pitchFamily="34" charset="0"/>
                <a:ea typeface="Times New Roman" panose="02020603050405020304" pitchFamily="18" charset="0"/>
                <a:cs typeface="Times New Roman" panose="02020603050405020304" pitchFamily="18" charset="0"/>
              </a:rPr>
              <a:t>Light is considered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polarised if the light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waves occur in a single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plane. In the diagram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below (a) represents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polarised light and (b)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represents unpolarised light. </a:t>
            </a: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10" name="Picture 9">
            <a:extLst>
              <a:ext uri="{FF2B5EF4-FFF2-40B4-BE49-F238E27FC236}">
                <a16:creationId xmlns:a16="http://schemas.microsoft.com/office/drawing/2014/main" id="{6F1E4C4F-8068-445C-AC0C-08083C7942A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734572" y="2571750"/>
            <a:ext cx="6409428" cy="2333716"/>
          </a:xfrm>
          <a:prstGeom prst="rect">
            <a:avLst/>
          </a:prstGeom>
          <a:noFill/>
          <a:ln>
            <a:noFill/>
          </a:ln>
        </p:spPr>
      </p:pic>
    </p:spTree>
    <p:extLst>
      <p:ext uri="{BB962C8B-B14F-4D97-AF65-F5344CB8AC3E}">
        <p14:creationId xmlns:p14="http://schemas.microsoft.com/office/powerpoint/2010/main" val="10837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2413923828"/>
              </p:ext>
            </p:extLst>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Which image was taken with a polariser?</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2513509"/>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Polarisation: </a:t>
            </a: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Polarisers can allow us to photograph what happens underwater. This is because that light coming off the surface of a body of water is unpolarised, yet the light coming off the objects under the water is polarised. The polariser will block out the unpolarised light, letting us see what </a:t>
            </a:r>
            <a:b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is underneath.</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6" name="Picture 5" descr="Image result for polarising filter vs no filter water">
            <a:extLst>
              <a:ext uri="{FF2B5EF4-FFF2-40B4-BE49-F238E27FC236}">
                <a16:creationId xmlns:a16="http://schemas.microsoft.com/office/drawing/2014/main" id="{CE4CBE56-BF59-4D7A-A312-6158B253569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94626" y="2380891"/>
            <a:ext cx="6849374" cy="2762609"/>
          </a:xfrm>
          <a:prstGeom prst="rect">
            <a:avLst/>
          </a:prstGeom>
          <a:noFill/>
          <a:ln>
            <a:noFill/>
          </a:ln>
        </p:spPr>
      </p:pic>
      <p:sp>
        <p:nvSpPr>
          <p:cNvPr id="3" name="Rectangle 2">
            <a:extLst>
              <a:ext uri="{FF2B5EF4-FFF2-40B4-BE49-F238E27FC236}">
                <a16:creationId xmlns:a16="http://schemas.microsoft.com/office/drawing/2014/main" id="{8F9EDD08-CE78-4377-9862-87C49A12F018}"/>
              </a:ext>
            </a:extLst>
          </p:cNvPr>
          <p:cNvSpPr/>
          <p:nvPr/>
        </p:nvSpPr>
        <p:spPr>
          <a:xfrm>
            <a:off x="2294626" y="4865298"/>
            <a:ext cx="6849374" cy="278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8939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1285792107"/>
              </p:ext>
            </p:extLst>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Would this analogy apply to visible light?</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1128514"/>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Polarisation: </a:t>
            </a: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Picket fence analogy </a:t>
            </a:r>
            <a:endParaRPr lang="en-AU" alt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6" name="Picture 5" descr="Image result for picket fence polarising">
            <a:extLst>
              <a:ext uri="{FF2B5EF4-FFF2-40B4-BE49-F238E27FC236}">
                <a16:creationId xmlns:a16="http://schemas.microsoft.com/office/drawing/2014/main" id="{48BE25D4-989E-4462-9CD9-6B6A8007072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7219" y="1587260"/>
            <a:ext cx="6078081" cy="3228334"/>
          </a:xfrm>
          <a:prstGeom prst="rect">
            <a:avLst/>
          </a:prstGeom>
          <a:noFill/>
          <a:ln>
            <a:noFill/>
          </a:ln>
        </p:spPr>
      </p:pic>
      <p:pic>
        <p:nvPicPr>
          <p:cNvPr id="7" name="Picture 6">
            <a:extLst>
              <a:ext uri="{FF2B5EF4-FFF2-40B4-BE49-F238E27FC236}">
                <a16:creationId xmlns:a16="http://schemas.microsoft.com/office/drawing/2014/main" id="{A05548C6-3CD6-4311-B14F-112B36EEAFC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07219" y="614050"/>
            <a:ext cx="7909883" cy="4481558"/>
          </a:xfrm>
          <a:prstGeom prst="rect">
            <a:avLst/>
          </a:prstGeom>
          <a:noFill/>
          <a:ln>
            <a:noFill/>
          </a:ln>
        </p:spPr>
      </p:pic>
    </p:spTree>
    <p:extLst>
      <p:ext uri="{BB962C8B-B14F-4D97-AF65-F5344CB8AC3E}">
        <p14:creationId xmlns:p14="http://schemas.microsoft.com/office/powerpoint/2010/main" val="290224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4087166663"/>
              </p:ext>
            </p:extLst>
          </p:nvPr>
        </p:nvGraphicFramePr>
        <p:xfrm>
          <a:off x="6982812" y="160337"/>
          <a:ext cx="2065688" cy="106674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Should you use polaroid </a:t>
                      </a:r>
                      <a:r>
                        <a:rPr lang="en-GB" sz="1200" dirty="0" err="1">
                          <a:latin typeface="Century Gothic"/>
                          <a:ea typeface="Century Gothic"/>
                          <a:cs typeface="Century Gothic"/>
                          <a:sym typeface="Century Gothic"/>
                        </a:rPr>
                        <a:t>sunnies</a:t>
                      </a:r>
                      <a:r>
                        <a:rPr lang="en-GB" sz="1200" dirty="0">
                          <a:latin typeface="Century Gothic"/>
                          <a:ea typeface="Century Gothic"/>
                          <a:cs typeface="Century Gothic"/>
                          <a:sym typeface="Century Gothic"/>
                        </a:rPr>
                        <a:t> when you drive?</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6409427" cy="3221395"/>
          </a:xfrm>
          <a:prstGeom prst="rect">
            <a:avLst/>
          </a:prstGeom>
        </p:spPr>
        <p:txBody>
          <a:bodyPr wrap="square">
            <a:spAutoFit/>
          </a:bodyPr>
          <a:lstStyle/>
          <a:p>
            <a:pPr>
              <a:lnSpc>
                <a:spcPct val="115000"/>
              </a:lnSpc>
              <a:spcBef>
                <a:spcPts val="1000"/>
              </a:spcBef>
              <a:spcAft>
                <a:spcPts val="1000"/>
              </a:spcAft>
            </a:pPr>
            <a:r>
              <a:rPr lang="en-AU" sz="2000" b="1" dirty="0">
                <a:latin typeface="Calibri" panose="020F0502020204030204" pitchFamily="34" charset="0"/>
                <a:ea typeface="Times New Roman" panose="02020603050405020304" pitchFamily="18" charset="0"/>
                <a:cs typeface="Times New Roman" panose="02020603050405020304" pitchFamily="18" charset="0"/>
              </a:rPr>
              <a:t>Polarisation: </a:t>
            </a:r>
          </a:p>
          <a:p>
            <a:pPr lvl="0" eaLnBrk="0" fontAlgn="base" hangingPunct="0">
              <a:spcBef>
                <a:spcPct val="0"/>
              </a:spcBef>
              <a:spcAft>
                <a:spcPct val="0"/>
              </a:spcAft>
              <a:buClrTx/>
              <a:tabLst>
                <a:tab pos="2692400" algn="l"/>
              </a:tabLst>
            </a:pPr>
            <a:r>
              <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rPr>
              <a:t>Now what you’ve all been waiting for…….</a:t>
            </a:r>
          </a:p>
          <a:p>
            <a:pPr lvl="0" eaLnBrk="0" fontAlgn="base" hangingPunct="0">
              <a:spcBef>
                <a:spcPct val="0"/>
              </a:spcBef>
              <a:spcAft>
                <a:spcPct val="0"/>
              </a:spcAft>
              <a:buClrTx/>
              <a:tabLst>
                <a:tab pos="2692400" algn="l"/>
              </a:tabLst>
            </a:pPr>
            <a:r>
              <a:rPr lang="en-GB" altLang="en-US" sz="2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SUNNIES!!</a:t>
            </a:r>
          </a:p>
          <a:p>
            <a:pPr lvl="0" eaLnBrk="0" fontAlgn="base" hangingPunct="0">
              <a:spcBef>
                <a:spcPct val="0"/>
              </a:spcBef>
              <a:spcAft>
                <a:spcPct val="0"/>
              </a:spcAft>
              <a:buClrTx/>
              <a:tabLst>
                <a:tab pos="2692400" algn="l"/>
              </a:tabLst>
            </a:pPr>
            <a:endParaRPr lang="en-GB"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eaLnBrk="0" fontAlgn="base" hangingPunct="0">
              <a:spcBef>
                <a:spcPct val="0"/>
              </a:spcBef>
              <a:spcAft>
                <a:spcPct val="0"/>
              </a:spcAft>
              <a:buClrTx/>
              <a:tabLst>
                <a:tab pos="2692400" algn="l"/>
              </a:tabLst>
            </a:pPr>
            <a:r>
              <a:rPr lang="en-AU" sz="1800" dirty="0">
                <a:latin typeface="Calibri" panose="020F0502020204030204" pitchFamily="34" charset="0"/>
                <a:ea typeface="Times New Roman" panose="02020603050405020304" pitchFamily="18" charset="0"/>
                <a:cs typeface="Times New Roman" panose="02020603050405020304" pitchFamily="18" charset="0"/>
              </a:rPr>
              <a:t>Polaroid sunglasses use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polarisation to reduce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glare. Reflected, polarised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light is allowed to pass, but </a:t>
            </a:r>
            <a:br>
              <a:rPr lang="en-AU" sz="1800" dirty="0">
                <a:latin typeface="Calibri" panose="020F0502020204030204" pitchFamily="34" charset="0"/>
                <a:ea typeface="Times New Roman" panose="02020603050405020304" pitchFamily="18" charset="0"/>
                <a:cs typeface="Times New Roman" panose="02020603050405020304" pitchFamily="18" charset="0"/>
              </a:rPr>
            </a:br>
            <a:r>
              <a:rPr lang="en-AU" sz="1800" dirty="0">
                <a:latin typeface="Calibri" panose="020F0502020204030204" pitchFamily="34" charset="0"/>
                <a:ea typeface="Times New Roman" panose="02020603050405020304" pitchFamily="18" charset="0"/>
                <a:cs typeface="Times New Roman" panose="02020603050405020304" pitchFamily="18" charset="0"/>
              </a:rPr>
              <a:t>unpolarised light does not.</a:t>
            </a: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7" name="Picture 6">
            <a:extLst>
              <a:ext uri="{FF2B5EF4-FFF2-40B4-BE49-F238E27FC236}">
                <a16:creationId xmlns:a16="http://schemas.microsoft.com/office/drawing/2014/main" id="{6FB290D2-F8A9-49D7-9A37-14DF8232708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829464" y="1794294"/>
            <a:ext cx="6078793" cy="3170612"/>
          </a:xfrm>
          <a:prstGeom prst="rect">
            <a:avLst/>
          </a:prstGeom>
          <a:noFill/>
          <a:ln>
            <a:noFill/>
          </a:ln>
        </p:spPr>
      </p:pic>
    </p:spTree>
    <p:extLst>
      <p:ext uri="{BB962C8B-B14F-4D97-AF65-F5344CB8AC3E}">
        <p14:creationId xmlns:p14="http://schemas.microsoft.com/office/powerpoint/2010/main" val="172445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ubTitle" idx="1"/>
          </p:nvPr>
        </p:nvSpPr>
        <p:spPr>
          <a:xfrm>
            <a:off x="95500" y="266050"/>
            <a:ext cx="6589800" cy="348000"/>
          </a:xfrm>
          <a:prstGeom prst="rect">
            <a:avLst/>
          </a:prstGeom>
        </p:spPr>
        <p:txBody>
          <a:bodyPr spcFirstLastPara="1" wrap="square" lIns="91425" tIns="91425" rIns="91425" bIns="91425" anchor="ctr" anchorCtr="0">
            <a:noAutofit/>
          </a:bodyPr>
          <a:lstStyle/>
          <a:p>
            <a:pPr marL="0" lvl="0" indent="0">
              <a:buClr>
                <a:srgbClr val="000000"/>
              </a:buClr>
              <a:buSzPts val="1100"/>
            </a:pPr>
            <a:r>
              <a:rPr lang="en-GB" dirty="0"/>
              <a:t>Identify the wave properties of light </a:t>
            </a:r>
          </a:p>
        </p:txBody>
      </p:sp>
      <p:graphicFrame>
        <p:nvGraphicFramePr>
          <p:cNvPr id="131" name="Google Shape;131;p20"/>
          <p:cNvGraphicFramePr/>
          <p:nvPr>
            <p:extLst>
              <p:ext uri="{D42A27DB-BD31-4B8C-83A1-F6EECF244321}">
                <p14:modId xmlns:p14="http://schemas.microsoft.com/office/powerpoint/2010/main" val="90414948"/>
              </p:ext>
            </p:extLst>
          </p:nvPr>
        </p:nvGraphicFramePr>
        <p:xfrm>
          <a:off x="6982812" y="160337"/>
          <a:ext cx="2065688" cy="914330"/>
        </p:xfrm>
        <a:graphic>
          <a:graphicData uri="http://schemas.openxmlformats.org/drawingml/2006/table">
            <a:tbl>
              <a:tblPr>
                <a:noFill/>
                <a:tableStyleId>{AF5A32C6-797B-414A-9575-1DBF260193D0}</a:tableStyleId>
              </a:tblPr>
              <a:tblGrid>
                <a:gridCol w="2065688">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CHECK FOR UNDERSTANDING</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solidFill>
                      <a:srgbClr val="FF9900"/>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GB" sz="1200" dirty="0">
                          <a:latin typeface="Century Gothic"/>
                          <a:ea typeface="Century Gothic"/>
                          <a:cs typeface="Century Gothic"/>
                          <a:sym typeface="Century Gothic"/>
                        </a:rPr>
                        <a:t>Fist to five for all points </a:t>
                      </a:r>
                      <a:endParaRPr sz="1200" dirty="0">
                        <a:latin typeface="Century Gothic"/>
                        <a:ea typeface="Century Gothic"/>
                        <a:cs typeface="Century Gothic"/>
                        <a:sym typeface="Century Gothic"/>
                      </a:endParaRPr>
                    </a:p>
                  </a:txBody>
                  <a:tcPr marL="91425" marR="91425" marT="91425" marB="91425">
                    <a:lnL w="9525" cap="flat" cmpd="sng">
                      <a:solidFill>
                        <a:srgbClr val="FF9900"/>
                      </a:solidFill>
                      <a:prstDash val="solid"/>
                      <a:round/>
                      <a:headEnd type="none" w="sm" len="sm"/>
                      <a:tailEnd type="none" w="sm" len="sm"/>
                    </a:lnL>
                    <a:lnR w="9525" cap="flat" cmpd="sng">
                      <a:solidFill>
                        <a:srgbClr val="FF9900"/>
                      </a:solidFill>
                      <a:prstDash val="solid"/>
                      <a:round/>
                      <a:headEnd type="none" w="sm" len="sm"/>
                      <a:tailEnd type="none" w="sm" len="sm"/>
                    </a:lnR>
                    <a:lnT w="9525" cap="flat" cmpd="sng">
                      <a:solidFill>
                        <a:srgbClr val="FF9900"/>
                      </a:solidFill>
                      <a:prstDash val="solid"/>
                      <a:round/>
                      <a:headEnd type="none" w="sm" len="sm"/>
                      <a:tailEnd type="none" w="sm" len="sm"/>
                    </a:lnT>
                    <a:lnB w="9525" cap="flat" cmpd="sng">
                      <a:solidFill>
                        <a:srgbClr val="FF99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1A09DA48-57FE-48BF-BA13-96608E5B1BC3}"/>
              </a:ext>
            </a:extLst>
          </p:cNvPr>
          <p:cNvSpPr/>
          <p:nvPr/>
        </p:nvSpPr>
        <p:spPr>
          <a:xfrm>
            <a:off x="439947" y="677801"/>
            <a:ext cx="8608553" cy="5089085"/>
          </a:xfrm>
          <a:prstGeom prst="rect">
            <a:avLst/>
          </a:prstGeom>
        </p:spPr>
        <p:txBody>
          <a:bodyPr wrap="square">
            <a:spAutoFit/>
          </a:bodyPr>
          <a:lstStyle/>
          <a:p>
            <a:pPr>
              <a:lnSpc>
                <a:spcPct val="115000"/>
              </a:lnSpc>
              <a:spcBef>
                <a:spcPts val="1000"/>
              </a:spcBef>
              <a:spcAft>
                <a:spcPts val="1000"/>
              </a:spcAft>
            </a:pPr>
            <a:r>
              <a:rPr lang="en-GB" sz="2000" b="1" dirty="0">
                <a:latin typeface="Calibri" panose="020F0502020204030204" pitchFamily="34" charset="0"/>
                <a:ea typeface="Times New Roman" panose="02020603050405020304" pitchFamily="18" charset="0"/>
                <a:cs typeface="Times New Roman" panose="02020603050405020304" pitchFamily="18" charset="0"/>
              </a:rPr>
              <a:t>Review</a:t>
            </a:r>
          </a:p>
          <a:p>
            <a:pPr fontAlgn="t"/>
            <a:r>
              <a:rPr lang="en-AU" dirty="0"/>
              <a:t>Reflection is caused by a change in direction as a wave strikes a boundary. The velocity, wavelength and frequency of the wavelength does not change. The direction of the wavelength changes. Applications of reflections include echoes and reverberation.</a:t>
            </a:r>
          </a:p>
          <a:p>
            <a:pPr fontAlgn="t"/>
            <a:endParaRPr lang="en-AU" dirty="0"/>
          </a:p>
          <a:p>
            <a:pPr fontAlgn="t"/>
            <a:r>
              <a:rPr lang="en-AU" dirty="0"/>
              <a:t>Refraction is caused by a change in speed of a wave as a result of a change in density of a medium. The frequency remains unchanged, but the wavelength, velocity and direction changes. Importantly this means that the colour of visible light will not change as it changes medium as the frequency remains unchanged.</a:t>
            </a:r>
          </a:p>
          <a:p>
            <a:pPr fontAlgn="t"/>
            <a:endParaRPr lang="en-AU" dirty="0"/>
          </a:p>
          <a:p>
            <a:pPr fontAlgn="t"/>
            <a:r>
              <a:rPr lang="en-AU" dirty="0"/>
              <a:t>Diffraction is caused by a change in direction as a result of a wave passing through a gap or around an edge. The velocity, frequency and wavelength of the wave do not change, but the direction changes. This is how we can hear around corners and through doorways.</a:t>
            </a:r>
          </a:p>
          <a:p>
            <a:pPr fontAlgn="t"/>
            <a:endParaRPr lang="en-AU" dirty="0"/>
          </a:p>
          <a:p>
            <a:pPr fontAlgn="t"/>
            <a:r>
              <a:rPr lang="en-AU" dirty="0"/>
              <a:t>Polarisation is the process of transforming unpolarised light into polarised light. Light is considered polarised if the light waves occur in a single plane</a:t>
            </a:r>
          </a:p>
          <a:p>
            <a:pPr fontAlgn="t"/>
            <a:endParaRPr lang="en-AU" dirty="0"/>
          </a:p>
          <a:p>
            <a:pPr fontAlgn="t"/>
            <a:r>
              <a:rPr lang="en-AU" dirty="0"/>
              <a:t>Polaroid sunglasses reduce glare by blocking unpolarised light.</a:t>
            </a:r>
          </a:p>
          <a:p>
            <a:pPr fontAlgn="t"/>
            <a:r>
              <a:rPr lang="en-AU" dirty="0"/>
              <a:t> </a:t>
            </a:r>
          </a:p>
          <a:p>
            <a:pPr>
              <a:lnSpc>
                <a:spcPct val="115000"/>
              </a:lnSpc>
              <a:spcBef>
                <a:spcPts val="1000"/>
              </a:spcBef>
              <a:spcAft>
                <a:spcPts val="1000"/>
              </a:spcAft>
            </a:pPr>
            <a:endParaRPr lang="en-AU" sz="1800" dirty="0">
              <a:latin typeface="Calibri" panose="020F050202020403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tabLst>
                <a:tab pos="2692400" algn="l"/>
              </a:tabLst>
            </a:pPr>
            <a:endParaRPr lang="en-AU" altLang="en-US" sz="18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02263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body" idx="1"/>
          </p:nvPr>
        </p:nvSpPr>
        <p:spPr>
          <a:xfrm>
            <a:off x="497974" y="2797782"/>
            <a:ext cx="8646026" cy="2012400"/>
          </a:xfrm>
          <a:prstGeom prst="rect">
            <a:avLst/>
          </a:prstGeom>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SzPts val="1800"/>
              <a:buChar char="●"/>
            </a:pPr>
            <a:r>
              <a:rPr lang="en-GB" sz="2000" dirty="0"/>
              <a:t>Identify the wave properties of light</a:t>
            </a:r>
          </a:p>
          <a:p>
            <a:pPr lvl="1">
              <a:lnSpc>
                <a:spcPct val="100000"/>
              </a:lnSpc>
            </a:pPr>
            <a:r>
              <a:rPr lang="en-AU" sz="1200" dirty="0"/>
              <a:t>explain the difference between transverse and longitudinal waves.</a:t>
            </a:r>
          </a:p>
          <a:p>
            <a:pPr lvl="1">
              <a:lnSpc>
                <a:spcPct val="100000"/>
              </a:lnSpc>
            </a:pPr>
            <a:r>
              <a:rPr lang="en-AU" sz="1200" dirty="0"/>
              <a:t>explain the difference between mechanical and electromagnetic waves.</a:t>
            </a:r>
          </a:p>
          <a:p>
            <a:pPr lvl="1">
              <a:lnSpc>
                <a:spcPct val="100000"/>
              </a:lnSpc>
            </a:pPr>
            <a:r>
              <a:rPr lang="en-AU" sz="1200" dirty="0"/>
              <a:t>identify the key characteristics of waves.</a:t>
            </a:r>
          </a:p>
          <a:p>
            <a:pPr lvl="1">
              <a:lnSpc>
                <a:spcPct val="100000"/>
              </a:lnSpc>
            </a:pPr>
            <a:r>
              <a:rPr lang="en-AU" sz="1200" dirty="0"/>
              <a:t>explain reflection, refraction, diffraction and dispersion.</a:t>
            </a:r>
          </a:p>
          <a:p>
            <a:pPr lvl="1">
              <a:lnSpc>
                <a:spcPct val="100000"/>
              </a:lnSpc>
            </a:pPr>
            <a:r>
              <a:rPr lang="en-AU" sz="1200" dirty="0"/>
              <a:t>define polarisation and draw a diagram explaining how Polaroid sunglasses work.</a:t>
            </a:r>
          </a:p>
          <a:p>
            <a:pPr marL="457200" lvl="0" indent="-342900" algn="l" rtl="0">
              <a:lnSpc>
                <a:spcPct val="100000"/>
              </a:lnSpc>
              <a:spcBef>
                <a:spcPts val="0"/>
              </a:spcBef>
              <a:spcAft>
                <a:spcPts val="0"/>
              </a:spcAft>
              <a:buSzPts val="1800"/>
              <a:buChar char="●"/>
            </a:pPr>
            <a:r>
              <a:rPr lang="en-GB" dirty="0"/>
              <a:t>Theorise why light can travel through a vacuum </a:t>
            </a:r>
            <a:endParaRPr dirty="0"/>
          </a:p>
        </p:txBody>
      </p:sp>
      <p:sp>
        <p:nvSpPr>
          <p:cNvPr id="110" name="Google Shape;110;p18"/>
          <p:cNvSpPr txBox="1">
            <a:spLocks noGrp="1"/>
          </p:cNvSpPr>
          <p:nvPr>
            <p:ph type="title"/>
          </p:nvPr>
        </p:nvSpPr>
        <p:spPr>
          <a:xfrm>
            <a:off x="532075" y="477525"/>
            <a:ext cx="5061600" cy="1835100"/>
          </a:xfrm>
          <a:prstGeom prst="rect">
            <a:avLst/>
          </a:prstGeom>
        </p:spPr>
        <p:txBody>
          <a:bodyPr spcFirstLastPara="1" wrap="square" lIns="91425" tIns="91425" rIns="91425" bIns="91425" anchor="ctr" anchorCtr="0">
            <a:noAutofit/>
          </a:bodyPr>
          <a:lstStyle/>
          <a:p>
            <a:r>
              <a:rPr lang="en-AU" sz="2000" i="1" dirty="0"/>
              <a:t>Science Understanding</a:t>
            </a:r>
            <a:br>
              <a:rPr lang="en-AU" sz="2000" b="1" dirty="0"/>
            </a:br>
            <a:r>
              <a:rPr lang="en-AU" sz="2000" b="1" dirty="0"/>
              <a:t>- </a:t>
            </a:r>
            <a:r>
              <a:rPr lang="en-AU" sz="2000" dirty="0"/>
              <a:t>light exhibits many wave properties; however, it cannot only be modelled as a mechanical wave because it can travel through a vacuum</a:t>
            </a:r>
          </a:p>
        </p:txBody>
      </p:sp>
      <p:graphicFrame>
        <p:nvGraphicFramePr>
          <p:cNvPr id="113" name="Google Shape;113;p18"/>
          <p:cNvGraphicFramePr/>
          <p:nvPr/>
        </p:nvGraphicFramePr>
        <p:xfrm>
          <a:off x="7603350" y="229425"/>
          <a:ext cx="1224575" cy="350490"/>
        </p:xfrm>
        <a:graphic>
          <a:graphicData uri="http://schemas.openxmlformats.org/drawingml/2006/table">
            <a:tbl>
              <a:tblPr>
                <a:noFill/>
                <a:tableStyleId>{AF5A32C6-797B-414A-9575-1DBF260193D0}</a:tableStyleId>
              </a:tblPr>
              <a:tblGrid>
                <a:gridCol w="12245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TRACK WITH ME</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0B5394"/>
                      </a:solidFill>
                      <a:prstDash val="solid"/>
                      <a:round/>
                      <a:headEnd type="none" w="sm" len="sm"/>
                      <a:tailEnd type="none" w="sm" len="sm"/>
                    </a:lnL>
                    <a:lnR w="9525" cap="flat" cmpd="sng">
                      <a:solidFill>
                        <a:srgbClr val="0B5394"/>
                      </a:solidFill>
                      <a:prstDash val="solid"/>
                      <a:round/>
                      <a:headEnd type="none" w="sm" len="sm"/>
                      <a:tailEnd type="none" w="sm" len="sm"/>
                    </a:lnR>
                    <a:lnT w="9525" cap="flat" cmpd="sng">
                      <a:solidFill>
                        <a:srgbClr val="0B5394"/>
                      </a:solidFill>
                      <a:prstDash val="solid"/>
                      <a:round/>
                      <a:headEnd type="none" w="sm" len="sm"/>
                      <a:tailEnd type="none" w="sm" len="sm"/>
                    </a:lnT>
                    <a:lnB w="9525" cap="flat" cmpd="sng">
                      <a:solidFill>
                        <a:srgbClr val="0B5394"/>
                      </a:solidFill>
                      <a:prstDash val="solid"/>
                      <a:round/>
                      <a:headEnd type="none" w="sm" len="sm"/>
                      <a:tailEnd type="none" w="sm" len="sm"/>
                    </a:lnB>
                    <a:solidFill>
                      <a:srgbClr val="0B5394"/>
                    </a:solidFill>
                  </a:tcPr>
                </a:tc>
                <a:extLst>
                  <a:ext uri="{0D108BD9-81ED-4DB2-BD59-A6C34878D82A}">
                    <a16:rowId xmlns:a16="http://schemas.microsoft.com/office/drawing/2014/main" val="10000"/>
                  </a:ext>
                </a:extLst>
              </a:tr>
            </a:tbl>
          </a:graphicData>
        </a:graphic>
      </p:graphicFrame>
      <p:graphicFrame>
        <p:nvGraphicFramePr>
          <p:cNvPr id="114" name="Google Shape;114;p18"/>
          <p:cNvGraphicFramePr/>
          <p:nvPr/>
        </p:nvGraphicFramePr>
        <p:xfrm>
          <a:off x="7603350" y="738925"/>
          <a:ext cx="1224575" cy="350490"/>
        </p:xfrm>
        <a:graphic>
          <a:graphicData uri="http://schemas.openxmlformats.org/drawingml/2006/table">
            <a:tbl>
              <a:tblPr>
                <a:noFill/>
                <a:tableStyleId>{AF5A32C6-797B-414A-9575-1DBF260193D0}</a:tableStyleId>
              </a:tblPr>
              <a:tblGrid>
                <a:gridCol w="12245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GB" sz="1100" b="1">
                          <a:solidFill>
                            <a:srgbClr val="FFFFFF"/>
                          </a:solidFill>
                          <a:latin typeface="Century Gothic"/>
                          <a:ea typeface="Century Gothic"/>
                          <a:cs typeface="Century Gothic"/>
                          <a:sym typeface="Century Gothic"/>
                        </a:rPr>
                        <a:t>READ WITH ME</a:t>
                      </a:r>
                      <a:endParaRPr sz="1100" b="1">
                        <a:solidFill>
                          <a:srgbClr val="FFFFFF"/>
                        </a:solidFill>
                        <a:latin typeface="Century Gothic"/>
                        <a:ea typeface="Century Gothic"/>
                        <a:cs typeface="Century Gothic"/>
                        <a:sym typeface="Century Gothic"/>
                      </a:endParaRPr>
                    </a:p>
                  </a:txBody>
                  <a:tcPr marL="91425" marR="91425" marT="91425" marB="91425">
                    <a:lnL w="9525" cap="flat" cmpd="sng">
                      <a:solidFill>
                        <a:srgbClr val="0B5394"/>
                      </a:solidFill>
                      <a:prstDash val="solid"/>
                      <a:round/>
                      <a:headEnd type="none" w="sm" len="sm"/>
                      <a:tailEnd type="none" w="sm" len="sm"/>
                    </a:lnL>
                    <a:lnR w="9525" cap="flat" cmpd="sng">
                      <a:solidFill>
                        <a:srgbClr val="0B5394"/>
                      </a:solidFill>
                      <a:prstDash val="solid"/>
                      <a:round/>
                      <a:headEnd type="none" w="sm" len="sm"/>
                      <a:tailEnd type="none" w="sm" len="sm"/>
                    </a:lnR>
                    <a:lnT w="9525" cap="flat" cmpd="sng">
                      <a:solidFill>
                        <a:srgbClr val="0B5394"/>
                      </a:solidFill>
                      <a:prstDash val="solid"/>
                      <a:round/>
                      <a:headEnd type="none" w="sm" len="sm"/>
                      <a:tailEnd type="none" w="sm" len="sm"/>
                    </a:lnT>
                    <a:lnB w="9525" cap="flat" cmpd="sng">
                      <a:solidFill>
                        <a:srgbClr val="0B5394"/>
                      </a:solidFill>
                      <a:prstDash val="solid"/>
                      <a:round/>
                      <a:headEnd type="none" w="sm" len="sm"/>
                      <a:tailEnd type="none" w="sm" len="sm"/>
                    </a:lnB>
                    <a:solidFill>
                      <a:srgbClr val="0B5394"/>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7444226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7" ma:contentTypeDescription="Create a new document." ma:contentTypeScope="" ma:versionID="a80bebadbce44e7a05ce0f8ed1bf3577">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400fe0a1a6d11ddc4d41185554cf8274"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0CB911-105F-4294-9161-9F3A151529F2}">
  <ds:schemaRefs>
    <ds:schemaRef ds:uri="http://schemas.microsoft.com/office/2006/metadata/properties"/>
    <ds:schemaRef ds:uri="http://schemas.microsoft.com/office/infopath/2007/PartnerControls"/>
    <ds:schemaRef ds:uri="d5c732d2-f217-444a-91d8-37c5714ca695"/>
    <ds:schemaRef ds:uri="8f659357-f805-491c-ad0b-5621b2de6466"/>
  </ds:schemaRefs>
</ds:datastoreItem>
</file>

<file path=customXml/itemProps2.xml><?xml version="1.0" encoding="utf-8"?>
<ds:datastoreItem xmlns:ds="http://schemas.openxmlformats.org/officeDocument/2006/customXml" ds:itemID="{B031F106-B70E-4F27-BD6D-5DBC3B345E80}"/>
</file>

<file path=customXml/itemProps3.xml><?xml version="1.0" encoding="utf-8"?>
<ds:datastoreItem xmlns:ds="http://schemas.openxmlformats.org/officeDocument/2006/customXml" ds:itemID="{43B2E5E8-C278-46D3-BDC5-47D21BE54B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17838</TotalTime>
  <Words>1940</Words>
  <Application>Microsoft Office PowerPoint</Application>
  <PresentationFormat>On-screen Show (16:9)</PresentationFormat>
  <Paragraphs>221</Paragraphs>
  <Slides>26</Slides>
  <Notes>25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 Math</vt:lpstr>
      <vt:lpstr>Century Gothic</vt:lpstr>
      <vt:lpstr>Simple Light</vt:lpstr>
      <vt:lpstr>Science Understanding - light exhibits many wave properties; however, it cannot only be modelled as a mechanical wave because it can travel through a vacuum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Science Understanding - light exhibits many wave properties; however, it cannot only be modelled as a mechanical wave because it can travel through a vacuum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Revolutions in modern physics</dc:title>
  <dc:creator>MissAlex</dc:creator>
  <cp:lastModifiedBy>COOPER Sarina [Southern River College]</cp:lastModifiedBy>
  <cp:revision>50</cp:revision>
  <dcterms:modified xsi:type="dcterms:W3CDTF">2024-06-24T03:45:34Z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y fmtid="{D5CDD505-2E9C-101B-9397-08002B2CF9AE}" pid="3" name="MediaServiceImageTags">
    <vt:lpwstr/>
  </property>
</Properties>
</file>