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8"/>
  </p:notesMasterIdLst>
  <p:sldIdLst>
    <p:sldId id="261" r:id="rId2"/>
    <p:sldId id="257" r:id="rId3"/>
    <p:sldId id="282" r:id="rId4"/>
    <p:sldId id="283" r:id="rId5"/>
    <p:sldId id="284" r:id="rId6"/>
    <p:sldId id="263" r:id="rId7"/>
    <p:sldId id="285" r:id="rId8"/>
    <p:sldId id="286" r:id="rId9"/>
    <p:sldId id="287" r:id="rId10"/>
    <p:sldId id="288" r:id="rId11"/>
    <p:sldId id="289" r:id="rId12"/>
    <p:sldId id="290" r:id="rId13"/>
    <p:sldId id="291" r:id="rId14"/>
    <p:sldId id="292" r:id="rId15"/>
    <p:sldId id="293" r:id="rId16"/>
    <p:sldId id="294" r:id="rId17"/>
    <p:sldId id="295" r:id="rId18"/>
    <p:sldId id="296" r:id="rId19"/>
    <p:sldId id="297" r:id="rId20"/>
    <p:sldId id="298" r:id="rId21"/>
    <p:sldId id="276" r:id="rId22"/>
    <p:sldId id="300" r:id="rId23"/>
    <p:sldId id="301" r:id="rId24"/>
    <p:sldId id="302" r:id="rId25"/>
    <p:sldId id="303" r:id="rId26"/>
    <p:sldId id="304" r:id="rId27"/>
    <p:sldId id="305" r:id="rId28"/>
    <p:sldId id="264" r:id="rId29"/>
    <p:sldId id="262" r:id="rId30"/>
    <p:sldId id="265" r:id="rId31"/>
    <p:sldId id="269" r:id="rId32"/>
    <p:sldId id="270" r:id="rId33"/>
    <p:sldId id="268" r:id="rId34"/>
    <p:sldId id="271" r:id="rId35"/>
    <p:sldId id="266" r:id="rId36"/>
    <p:sldId id="267" r:id="rId3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0475CD-B353-4893-8A82-B0292BACB1ED}" v="44" dt="2024-07-14T17:40:32.3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8" d="100"/>
          <a:sy n="78" d="100"/>
        </p:scale>
        <p:origin x="150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OPER Sarina [Southern River College]" userId="7f2b4663-0468-4605-9163-1ba4158276d8" providerId="ADAL" clId="{BD0475CD-B353-4893-8A82-B0292BACB1ED}"/>
    <pc:docChg chg="undo custSel addSld delSld modSld sldOrd">
      <pc:chgData name="COOPER Sarina [Southern River College]" userId="7f2b4663-0468-4605-9163-1ba4158276d8" providerId="ADAL" clId="{BD0475CD-B353-4893-8A82-B0292BACB1ED}" dt="2024-07-14T17:42:48.337" v="265" actId="20577"/>
      <pc:docMkLst>
        <pc:docMk/>
      </pc:docMkLst>
      <pc:sldChg chg="del">
        <pc:chgData name="COOPER Sarina [Southern River College]" userId="7f2b4663-0468-4605-9163-1ba4158276d8" providerId="ADAL" clId="{BD0475CD-B353-4893-8A82-B0292BACB1ED}" dt="2024-07-14T17:26:44.848" v="27" actId="47"/>
        <pc:sldMkLst>
          <pc:docMk/>
          <pc:sldMk cId="2060414131" sldId="258"/>
        </pc:sldMkLst>
      </pc:sldChg>
      <pc:sldChg chg="del">
        <pc:chgData name="COOPER Sarina [Southern River College]" userId="7f2b4663-0468-4605-9163-1ba4158276d8" providerId="ADAL" clId="{BD0475CD-B353-4893-8A82-B0292BACB1ED}" dt="2024-07-14T17:26:49.160" v="28" actId="47"/>
        <pc:sldMkLst>
          <pc:docMk/>
          <pc:sldMk cId="1427585389" sldId="260"/>
        </pc:sldMkLst>
      </pc:sldChg>
      <pc:sldChg chg="modSp mod">
        <pc:chgData name="COOPER Sarina [Southern River College]" userId="7f2b4663-0468-4605-9163-1ba4158276d8" providerId="ADAL" clId="{BD0475CD-B353-4893-8A82-B0292BACB1ED}" dt="2024-07-14T17:42:48.337" v="265" actId="20577"/>
        <pc:sldMkLst>
          <pc:docMk/>
          <pc:sldMk cId="3301637796" sldId="261"/>
        </pc:sldMkLst>
        <pc:spChg chg="mod">
          <ac:chgData name="COOPER Sarina [Southern River College]" userId="7f2b4663-0468-4605-9163-1ba4158276d8" providerId="ADAL" clId="{BD0475CD-B353-4893-8A82-B0292BACB1ED}" dt="2024-07-14T17:42:48.337" v="265" actId="20577"/>
          <ac:spMkLst>
            <pc:docMk/>
            <pc:sldMk cId="3301637796" sldId="261"/>
            <ac:spMk id="2" creationId="{00000000-0000-0000-0000-000000000000}"/>
          </ac:spMkLst>
        </pc:spChg>
      </pc:sldChg>
      <pc:sldChg chg="add del">
        <pc:chgData name="COOPER Sarina [Southern River College]" userId="7f2b4663-0468-4605-9163-1ba4158276d8" providerId="ADAL" clId="{BD0475CD-B353-4893-8A82-B0292BACB1ED}" dt="2024-07-14T17:37:55.805" v="222"/>
        <pc:sldMkLst>
          <pc:docMk/>
          <pc:sldMk cId="1595299296" sldId="262"/>
        </pc:sldMkLst>
      </pc:sldChg>
      <pc:sldChg chg="add del">
        <pc:chgData name="COOPER Sarina [Southern River College]" userId="7f2b4663-0468-4605-9163-1ba4158276d8" providerId="ADAL" clId="{BD0475CD-B353-4893-8A82-B0292BACB1ED}" dt="2024-07-14T17:37:56.216" v="223" actId="2696"/>
        <pc:sldMkLst>
          <pc:docMk/>
          <pc:sldMk cId="1760640401" sldId="262"/>
        </pc:sldMkLst>
      </pc:sldChg>
      <pc:sldChg chg="add">
        <pc:chgData name="COOPER Sarina [Southern River College]" userId="7f2b4663-0468-4605-9163-1ba4158276d8" providerId="ADAL" clId="{BD0475CD-B353-4893-8A82-B0292BACB1ED}" dt="2024-07-14T16:55:30.594" v="0"/>
        <pc:sldMkLst>
          <pc:docMk/>
          <pc:sldMk cId="806204897" sldId="263"/>
        </pc:sldMkLst>
      </pc:sldChg>
      <pc:sldChg chg="add del">
        <pc:chgData name="COOPER Sarina [Southern River College]" userId="7f2b4663-0468-4605-9163-1ba4158276d8" providerId="ADAL" clId="{BD0475CD-B353-4893-8A82-B0292BACB1ED}" dt="2024-07-14T17:37:56.599" v="224" actId="47"/>
        <pc:sldMkLst>
          <pc:docMk/>
          <pc:sldMk cId="1017255901" sldId="264"/>
        </pc:sldMkLst>
      </pc:sldChg>
      <pc:sldChg chg="del">
        <pc:chgData name="COOPER Sarina [Southern River College]" userId="7f2b4663-0468-4605-9163-1ba4158276d8" providerId="ADAL" clId="{BD0475CD-B353-4893-8A82-B0292BACB1ED}" dt="2024-07-14T17:28:33.879" v="31" actId="2696"/>
        <pc:sldMkLst>
          <pc:docMk/>
          <pc:sldMk cId="1262747536" sldId="265"/>
        </pc:sldMkLst>
      </pc:sldChg>
      <pc:sldChg chg="add">
        <pc:chgData name="COOPER Sarina [Southern River College]" userId="7f2b4663-0468-4605-9163-1ba4158276d8" providerId="ADAL" clId="{BD0475CD-B353-4893-8A82-B0292BACB1ED}" dt="2024-07-14T17:40:32.314" v="244"/>
        <pc:sldMkLst>
          <pc:docMk/>
          <pc:sldMk cId="1918059197" sldId="265"/>
        </pc:sldMkLst>
      </pc:sldChg>
      <pc:sldChg chg="add del">
        <pc:chgData name="COOPER Sarina [Southern River College]" userId="7f2b4663-0468-4605-9163-1ba4158276d8" providerId="ADAL" clId="{BD0475CD-B353-4893-8A82-B0292BACB1ED}" dt="2024-07-14T17:40:22.894" v="243" actId="2696"/>
        <pc:sldMkLst>
          <pc:docMk/>
          <pc:sldMk cId="2341790555" sldId="265"/>
        </pc:sldMkLst>
      </pc:sldChg>
      <pc:sldChg chg="del">
        <pc:chgData name="COOPER Sarina [Southern River College]" userId="7f2b4663-0468-4605-9163-1ba4158276d8" providerId="ADAL" clId="{BD0475CD-B353-4893-8A82-B0292BACB1ED}" dt="2024-07-14T17:27:23.269" v="29" actId="47"/>
        <pc:sldMkLst>
          <pc:docMk/>
          <pc:sldMk cId="1898984825" sldId="272"/>
        </pc:sldMkLst>
      </pc:sldChg>
      <pc:sldChg chg="del">
        <pc:chgData name="COOPER Sarina [Southern River College]" userId="7f2b4663-0468-4605-9163-1ba4158276d8" providerId="ADAL" clId="{BD0475CD-B353-4893-8A82-B0292BACB1ED}" dt="2024-07-14T17:27:32.550" v="30" actId="47"/>
        <pc:sldMkLst>
          <pc:docMk/>
          <pc:sldMk cId="3392738296" sldId="273"/>
        </pc:sldMkLst>
      </pc:sldChg>
      <pc:sldChg chg="del">
        <pc:chgData name="COOPER Sarina [Southern River College]" userId="7f2b4663-0468-4605-9163-1ba4158276d8" providerId="ADAL" clId="{BD0475CD-B353-4893-8A82-B0292BACB1ED}" dt="2024-07-14T17:27:32.550" v="30" actId="47"/>
        <pc:sldMkLst>
          <pc:docMk/>
          <pc:sldMk cId="3581764054" sldId="274"/>
        </pc:sldMkLst>
      </pc:sldChg>
      <pc:sldChg chg="del">
        <pc:chgData name="COOPER Sarina [Southern River College]" userId="7f2b4663-0468-4605-9163-1ba4158276d8" providerId="ADAL" clId="{BD0475CD-B353-4893-8A82-B0292BACB1ED}" dt="2024-07-14T17:27:32.550" v="30" actId="47"/>
        <pc:sldMkLst>
          <pc:docMk/>
          <pc:sldMk cId="1229946553" sldId="275"/>
        </pc:sldMkLst>
      </pc:sldChg>
      <pc:sldChg chg="add">
        <pc:chgData name="COOPER Sarina [Southern River College]" userId="7f2b4663-0468-4605-9163-1ba4158276d8" providerId="ADAL" clId="{BD0475CD-B353-4893-8A82-B0292BACB1ED}" dt="2024-07-14T17:38:39.863" v="241"/>
        <pc:sldMkLst>
          <pc:docMk/>
          <pc:sldMk cId="2175793319" sldId="276"/>
        </pc:sldMkLst>
      </pc:sldChg>
      <pc:sldChg chg="del">
        <pc:chgData name="COOPER Sarina [Southern River College]" userId="7f2b4663-0468-4605-9163-1ba4158276d8" providerId="ADAL" clId="{BD0475CD-B353-4893-8A82-B0292BACB1ED}" dt="2024-07-14T17:27:32.550" v="30" actId="47"/>
        <pc:sldMkLst>
          <pc:docMk/>
          <pc:sldMk cId="3907257638" sldId="276"/>
        </pc:sldMkLst>
      </pc:sldChg>
      <pc:sldChg chg="del">
        <pc:chgData name="COOPER Sarina [Southern River College]" userId="7f2b4663-0468-4605-9163-1ba4158276d8" providerId="ADAL" clId="{BD0475CD-B353-4893-8A82-B0292BACB1ED}" dt="2024-07-14T17:27:32.550" v="30" actId="47"/>
        <pc:sldMkLst>
          <pc:docMk/>
          <pc:sldMk cId="2088214939" sldId="277"/>
        </pc:sldMkLst>
      </pc:sldChg>
      <pc:sldChg chg="del">
        <pc:chgData name="COOPER Sarina [Southern River College]" userId="7f2b4663-0468-4605-9163-1ba4158276d8" providerId="ADAL" clId="{BD0475CD-B353-4893-8A82-B0292BACB1ED}" dt="2024-07-14T17:27:32.550" v="30" actId="47"/>
        <pc:sldMkLst>
          <pc:docMk/>
          <pc:sldMk cId="4243462742" sldId="278"/>
        </pc:sldMkLst>
      </pc:sldChg>
      <pc:sldChg chg="del">
        <pc:chgData name="COOPER Sarina [Southern River College]" userId="7f2b4663-0468-4605-9163-1ba4158276d8" providerId="ADAL" clId="{BD0475CD-B353-4893-8A82-B0292BACB1ED}" dt="2024-07-14T17:27:32.550" v="30" actId="47"/>
        <pc:sldMkLst>
          <pc:docMk/>
          <pc:sldMk cId="3214427423" sldId="279"/>
        </pc:sldMkLst>
      </pc:sldChg>
      <pc:sldChg chg="del">
        <pc:chgData name="COOPER Sarina [Southern River College]" userId="7f2b4663-0468-4605-9163-1ba4158276d8" providerId="ADAL" clId="{BD0475CD-B353-4893-8A82-B0292BACB1ED}" dt="2024-07-14T17:27:32.550" v="30" actId="47"/>
        <pc:sldMkLst>
          <pc:docMk/>
          <pc:sldMk cId="1062842487" sldId="280"/>
        </pc:sldMkLst>
      </pc:sldChg>
      <pc:sldChg chg="del">
        <pc:chgData name="COOPER Sarina [Southern River College]" userId="7f2b4663-0468-4605-9163-1ba4158276d8" providerId="ADAL" clId="{BD0475CD-B353-4893-8A82-B0292BACB1ED}" dt="2024-07-14T17:27:32.550" v="30" actId="47"/>
        <pc:sldMkLst>
          <pc:docMk/>
          <pc:sldMk cId="782129321" sldId="281"/>
        </pc:sldMkLst>
      </pc:sldChg>
      <pc:sldChg chg="add">
        <pc:chgData name="COOPER Sarina [Southern River College]" userId="7f2b4663-0468-4605-9163-1ba4158276d8" providerId="ADAL" clId="{BD0475CD-B353-4893-8A82-B0292BACB1ED}" dt="2024-07-14T16:55:30.594" v="0"/>
        <pc:sldMkLst>
          <pc:docMk/>
          <pc:sldMk cId="3157391672" sldId="282"/>
        </pc:sldMkLst>
      </pc:sldChg>
      <pc:sldChg chg="modSp add mod">
        <pc:chgData name="COOPER Sarina [Southern River College]" userId="7f2b4663-0468-4605-9163-1ba4158276d8" providerId="ADAL" clId="{BD0475CD-B353-4893-8A82-B0292BACB1ED}" dt="2024-07-14T17:03:43.332" v="26" actId="20577"/>
        <pc:sldMkLst>
          <pc:docMk/>
          <pc:sldMk cId="464853708" sldId="283"/>
        </pc:sldMkLst>
        <pc:spChg chg="mod">
          <ac:chgData name="COOPER Sarina [Southern River College]" userId="7f2b4663-0468-4605-9163-1ba4158276d8" providerId="ADAL" clId="{BD0475CD-B353-4893-8A82-B0292BACB1ED}" dt="2024-07-14T17:03:43.332" v="26" actId="20577"/>
          <ac:spMkLst>
            <pc:docMk/>
            <pc:sldMk cId="464853708" sldId="283"/>
            <ac:spMk id="3" creationId="{00000000-0000-0000-0000-000000000000}"/>
          </ac:spMkLst>
        </pc:spChg>
      </pc:sldChg>
      <pc:sldChg chg="modSp add mod">
        <pc:chgData name="COOPER Sarina [Southern River College]" userId="7f2b4663-0468-4605-9163-1ba4158276d8" providerId="ADAL" clId="{BD0475CD-B353-4893-8A82-B0292BACB1ED}" dt="2024-07-14T17:03:08.829" v="22" actId="20577"/>
        <pc:sldMkLst>
          <pc:docMk/>
          <pc:sldMk cId="2985159244" sldId="284"/>
        </pc:sldMkLst>
        <pc:spChg chg="mod">
          <ac:chgData name="COOPER Sarina [Southern River College]" userId="7f2b4663-0468-4605-9163-1ba4158276d8" providerId="ADAL" clId="{BD0475CD-B353-4893-8A82-B0292BACB1ED}" dt="2024-07-14T17:03:08.829" v="22" actId="20577"/>
          <ac:spMkLst>
            <pc:docMk/>
            <pc:sldMk cId="2985159244" sldId="284"/>
            <ac:spMk id="3" creationId="{00000000-0000-0000-0000-000000000000}"/>
          </ac:spMkLst>
        </pc:spChg>
      </pc:sldChg>
      <pc:sldChg chg="add">
        <pc:chgData name="COOPER Sarina [Southern River College]" userId="7f2b4663-0468-4605-9163-1ba4158276d8" providerId="ADAL" clId="{BD0475CD-B353-4893-8A82-B0292BACB1ED}" dt="2024-07-14T16:55:30.594" v="0"/>
        <pc:sldMkLst>
          <pc:docMk/>
          <pc:sldMk cId="2165221354" sldId="285"/>
        </pc:sldMkLst>
      </pc:sldChg>
      <pc:sldChg chg="add">
        <pc:chgData name="COOPER Sarina [Southern River College]" userId="7f2b4663-0468-4605-9163-1ba4158276d8" providerId="ADAL" clId="{BD0475CD-B353-4893-8A82-B0292BACB1ED}" dt="2024-07-14T16:55:30.594" v="0"/>
        <pc:sldMkLst>
          <pc:docMk/>
          <pc:sldMk cId="1826851895" sldId="286"/>
        </pc:sldMkLst>
      </pc:sldChg>
      <pc:sldChg chg="add">
        <pc:chgData name="COOPER Sarina [Southern River College]" userId="7f2b4663-0468-4605-9163-1ba4158276d8" providerId="ADAL" clId="{BD0475CD-B353-4893-8A82-B0292BACB1ED}" dt="2024-07-14T16:55:30.594" v="0"/>
        <pc:sldMkLst>
          <pc:docMk/>
          <pc:sldMk cId="3659261904" sldId="287"/>
        </pc:sldMkLst>
      </pc:sldChg>
      <pc:sldChg chg="add">
        <pc:chgData name="COOPER Sarina [Southern River College]" userId="7f2b4663-0468-4605-9163-1ba4158276d8" providerId="ADAL" clId="{BD0475CD-B353-4893-8A82-B0292BACB1ED}" dt="2024-07-14T16:55:30.594" v="0"/>
        <pc:sldMkLst>
          <pc:docMk/>
          <pc:sldMk cId="1774002838" sldId="288"/>
        </pc:sldMkLst>
      </pc:sldChg>
      <pc:sldChg chg="add">
        <pc:chgData name="COOPER Sarina [Southern River College]" userId="7f2b4663-0468-4605-9163-1ba4158276d8" providerId="ADAL" clId="{BD0475CD-B353-4893-8A82-B0292BACB1ED}" dt="2024-07-14T16:55:30.594" v="0"/>
        <pc:sldMkLst>
          <pc:docMk/>
          <pc:sldMk cId="2646221051" sldId="289"/>
        </pc:sldMkLst>
      </pc:sldChg>
      <pc:sldChg chg="add">
        <pc:chgData name="COOPER Sarina [Southern River College]" userId="7f2b4663-0468-4605-9163-1ba4158276d8" providerId="ADAL" clId="{BD0475CD-B353-4893-8A82-B0292BACB1ED}" dt="2024-07-14T16:55:30.594" v="0"/>
        <pc:sldMkLst>
          <pc:docMk/>
          <pc:sldMk cId="1077771753" sldId="290"/>
        </pc:sldMkLst>
      </pc:sldChg>
      <pc:sldChg chg="add">
        <pc:chgData name="COOPER Sarina [Southern River College]" userId="7f2b4663-0468-4605-9163-1ba4158276d8" providerId="ADAL" clId="{BD0475CD-B353-4893-8A82-B0292BACB1ED}" dt="2024-07-14T16:55:30.594" v="0"/>
        <pc:sldMkLst>
          <pc:docMk/>
          <pc:sldMk cId="2470547990" sldId="291"/>
        </pc:sldMkLst>
      </pc:sldChg>
      <pc:sldChg chg="add">
        <pc:chgData name="COOPER Sarina [Southern River College]" userId="7f2b4663-0468-4605-9163-1ba4158276d8" providerId="ADAL" clId="{BD0475CD-B353-4893-8A82-B0292BACB1ED}" dt="2024-07-14T16:55:30.594" v="0"/>
        <pc:sldMkLst>
          <pc:docMk/>
          <pc:sldMk cId="1180619708" sldId="292"/>
        </pc:sldMkLst>
      </pc:sldChg>
      <pc:sldChg chg="add">
        <pc:chgData name="COOPER Sarina [Southern River College]" userId="7f2b4663-0468-4605-9163-1ba4158276d8" providerId="ADAL" clId="{BD0475CD-B353-4893-8A82-B0292BACB1ED}" dt="2024-07-14T16:55:30.594" v="0"/>
        <pc:sldMkLst>
          <pc:docMk/>
          <pc:sldMk cId="3820296300" sldId="293"/>
        </pc:sldMkLst>
      </pc:sldChg>
      <pc:sldChg chg="add">
        <pc:chgData name="COOPER Sarina [Southern River College]" userId="7f2b4663-0468-4605-9163-1ba4158276d8" providerId="ADAL" clId="{BD0475CD-B353-4893-8A82-B0292BACB1ED}" dt="2024-07-14T16:55:30.594" v="0"/>
        <pc:sldMkLst>
          <pc:docMk/>
          <pc:sldMk cId="339732122" sldId="294"/>
        </pc:sldMkLst>
      </pc:sldChg>
      <pc:sldChg chg="add">
        <pc:chgData name="COOPER Sarina [Southern River College]" userId="7f2b4663-0468-4605-9163-1ba4158276d8" providerId="ADAL" clId="{BD0475CD-B353-4893-8A82-B0292BACB1ED}" dt="2024-07-14T16:55:30.594" v="0"/>
        <pc:sldMkLst>
          <pc:docMk/>
          <pc:sldMk cId="470610556" sldId="295"/>
        </pc:sldMkLst>
      </pc:sldChg>
      <pc:sldChg chg="add">
        <pc:chgData name="COOPER Sarina [Southern River College]" userId="7f2b4663-0468-4605-9163-1ba4158276d8" providerId="ADAL" clId="{BD0475CD-B353-4893-8A82-B0292BACB1ED}" dt="2024-07-14T16:55:30.594" v="0"/>
        <pc:sldMkLst>
          <pc:docMk/>
          <pc:sldMk cId="3301540322" sldId="296"/>
        </pc:sldMkLst>
      </pc:sldChg>
      <pc:sldChg chg="add">
        <pc:chgData name="COOPER Sarina [Southern River College]" userId="7f2b4663-0468-4605-9163-1ba4158276d8" providerId="ADAL" clId="{BD0475CD-B353-4893-8A82-B0292BACB1ED}" dt="2024-07-14T16:55:30.594" v="0"/>
        <pc:sldMkLst>
          <pc:docMk/>
          <pc:sldMk cId="4224325838" sldId="297"/>
        </pc:sldMkLst>
      </pc:sldChg>
      <pc:sldChg chg="add">
        <pc:chgData name="COOPER Sarina [Southern River College]" userId="7f2b4663-0468-4605-9163-1ba4158276d8" providerId="ADAL" clId="{BD0475CD-B353-4893-8A82-B0292BACB1ED}" dt="2024-07-14T16:55:30.594" v="0"/>
        <pc:sldMkLst>
          <pc:docMk/>
          <pc:sldMk cId="3995028357" sldId="298"/>
        </pc:sldMkLst>
      </pc:sldChg>
      <pc:sldChg chg="modSp add del mod ord">
        <pc:chgData name="COOPER Sarina [Southern River College]" userId="7f2b4663-0468-4605-9163-1ba4158276d8" providerId="ADAL" clId="{BD0475CD-B353-4893-8A82-B0292BACB1ED}" dt="2024-07-14T17:38:46.405" v="242" actId="47"/>
        <pc:sldMkLst>
          <pc:docMk/>
          <pc:sldMk cId="2303154577" sldId="299"/>
        </pc:sldMkLst>
        <pc:spChg chg="mod">
          <ac:chgData name="COOPER Sarina [Southern River College]" userId="7f2b4663-0468-4605-9163-1ba4158276d8" providerId="ADAL" clId="{BD0475CD-B353-4893-8A82-B0292BACB1ED}" dt="2024-07-14T17:38:03.153" v="240" actId="20577"/>
          <ac:spMkLst>
            <pc:docMk/>
            <pc:sldMk cId="2303154577" sldId="299"/>
            <ac:spMk id="3" creationId="{F06FC6B0-A2F4-4305-81AF-78D96C638452}"/>
          </ac:spMkLst>
        </pc:spChg>
      </pc:sldChg>
      <pc:sldChg chg="add">
        <pc:chgData name="COOPER Sarina [Southern River College]" userId="7f2b4663-0468-4605-9163-1ba4158276d8" providerId="ADAL" clId="{BD0475CD-B353-4893-8A82-B0292BACB1ED}" dt="2024-07-14T16:55:30.594" v="0"/>
        <pc:sldMkLst>
          <pc:docMk/>
          <pc:sldMk cId="1081811512" sldId="300"/>
        </pc:sldMkLst>
      </pc:sldChg>
      <pc:sldChg chg="add">
        <pc:chgData name="COOPER Sarina [Southern River College]" userId="7f2b4663-0468-4605-9163-1ba4158276d8" providerId="ADAL" clId="{BD0475CD-B353-4893-8A82-B0292BACB1ED}" dt="2024-07-14T16:55:30.594" v="0"/>
        <pc:sldMkLst>
          <pc:docMk/>
          <pc:sldMk cId="1606622811" sldId="301"/>
        </pc:sldMkLst>
      </pc:sldChg>
      <pc:sldChg chg="add">
        <pc:chgData name="COOPER Sarina [Southern River College]" userId="7f2b4663-0468-4605-9163-1ba4158276d8" providerId="ADAL" clId="{BD0475CD-B353-4893-8A82-B0292BACB1ED}" dt="2024-07-14T16:55:30.594" v="0"/>
        <pc:sldMkLst>
          <pc:docMk/>
          <pc:sldMk cId="1262855871" sldId="302"/>
        </pc:sldMkLst>
      </pc:sldChg>
      <pc:sldChg chg="add">
        <pc:chgData name="COOPER Sarina [Southern River College]" userId="7f2b4663-0468-4605-9163-1ba4158276d8" providerId="ADAL" clId="{BD0475CD-B353-4893-8A82-B0292BACB1ED}" dt="2024-07-14T16:55:30.594" v="0"/>
        <pc:sldMkLst>
          <pc:docMk/>
          <pc:sldMk cId="2888241858" sldId="303"/>
        </pc:sldMkLst>
      </pc:sldChg>
      <pc:sldChg chg="add">
        <pc:chgData name="COOPER Sarina [Southern River College]" userId="7f2b4663-0468-4605-9163-1ba4158276d8" providerId="ADAL" clId="{BD0475CD-B353-4893-8A82-B0292BACB1ED}" dt="2024-07-14T16:55:30.594" v="0"/>
        <pc:sldMkLst>
          <pc:docMk/>
          <pc:sldMk cId="252811942" sldId="304"/>
        </pc:sldMkLst>
      </pc:sldChg>
      <pc:sldChg chg="add">
        <pc:chgData name="COOPER Sarina [Southern River College]" userId="7f2b4663-0468-4605-9163-1ba4158276d8" providerId="ADAL" clId="{BD0475CD-B353-4893-8A82-B0292BACB1ED}" dt="2024-07-14T16:55:30.594" v="0"/>
        <pc:sldMkLst>
          <pc:docMk/>
          <pc:sldMk cId="3950717979" sldId="305"/>
        </pc:sldMkLst>
      </pc:sldChg>
      <pc:sldChg chg="add del">
        <pc:chgData name="COOPER Sarina [Southern River College]" userId="7f2b4663-0468-4605-9163-1ba4158276d8" providerId="ADAL" clId="{BD0475CD-B353-4893-8A82-B0292BACB1ED}" dt="2024-07-14T17:37:56.992" v="225"/>
        <pc:sldMkLst>
          <pc:docMk/>
          <pc:sldMk cId="578128033" sldId="30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BD2BA8-3D9B-49DC-98D1-98730BC9C18E}" type="datetimeFigureOut">
              <a:rPr lang="en-AU" smtClean="0"/>
              <a:t>15/07/2024</a:t>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867A61-99AF-4B5E-AD34-71064BFCC3D7}" type="slidenum">
              <a:rPr lang="en-AU" smtClean="0"/>
              <a:t>‹#›</a:t>
            </a:fld>
            <a:endParaRPr lang="en-AU"/>
          </a:p>
        </p:txBody>
      </p:sp>
    </p:spTree>
    <p:extLst>
      <p:ext uri="{BB962C8B-B14F-4D97-AF65-F5344CB8AC3E}">
        <p14:creationId xmlns:p14="http://schemas.microsoft.com/office/powerpoint/2010/main" val="2878066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Data from photoelectric effect experiments challenge predictions based on the electromagnetic model of light. Waves carry energy in their amplitudes, not their frequencies. As long as the intensity is high enough, photoelectrons should be emitted, independently of frequency. </a:t>
            </a:r>
          </a:p>
          <a:p>
            <a:r>
              <a:rPr lang="en-US" altLang="en-US" dirty="0"/>
              <a:t>Waves deliver their energy in a regular way based on frequency. The number of photoelectrons emitted should be greater for both intensity and the rate at which energy is delivered (</a:t>
            </a:r>
            <a:r>
              <a:rPr lang="en-US" altLang="en-US" i="1" dirty="0"/>
              <a:t>f</a:t>
            </a:r>
            <a:r>
              <a:rPr lang="en-US" altLang="en-US" dirty="0"/>
              <a:t>). </a:t>
            </a:r>
          </a:p>
          <a:p>
            <a:r>
              <a:rPr lang="en-US" altLang="en-US" dirty="0"/>
              <a:t>Electron emission will be delayed if the intensity is low because electrons will need some time to absorb enough energy. Maximum energy of photoelectrons will occur because of the energy input, i.e. intensity.</a:t>
            </a:r>
          </a:p>
          <a:p>
            <a:r>
              <a:rPr lang="en-US" altLang="en-US" dirty="0"/>
              <a:t>The results suggest this model does not work.</a:t>
            </a:r>
          </a:p>
          <a:p>
            <a:endParaRPr lang="en-AU" dirty="0"/>
          </a:p>
        </p:txBody>
      </p:sp>
      <p:sp>
        <p:nvSpPr>
          <p:cNvPr id="4" name="Slide Number Placeholder 3"/>
          <p:cNvSpPr>
            <a:spLocks noGrp="1"/>
          </p:cNvSpPr>
          <p:nvPr>
            <p:ph type="sldNum" sz="quarter" idx="10"/>
          </p:nvPr>
        </p:nvSpPr>
        <p:spPr/>
        <p:txBody>
          <a:bodyPr/>
          <a:lstStyle/>
          <a:p>
            <a:fld id="{A7867A61-99AF-4B5E-AD34-71064BFCC3D7}" type="slidenum">
              <a:rPr lang="en-AU" smtClean="0"/>
              <a:t>19</a:t>
            </a:fld>
            <a:endParaRPr lang="en-AU"/>
          </a:p>
        </p:txBody>
      </p:sp>
    </p:spTree>
    <p:extLst>
      <p:ext uri="{BB962C8B-B14F-4D97-AF65-F5344CB8AC3E}">
        <p14:creationId xmlns:p14="http://schemas.microsoft.com/office/powerpoint/2010/main" val="26428650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Conduction band electrons are the least bound of all the electrons, even less bound than outer shell electrons far from the nucleus. </a:t>
            </a:r>
          </a:p>
          <a:p>
            <a:r>
              <a:rPr lang="en-US" altLang="en-US" dirty="0"/>
              <a:t>Some electrons are able to take in a small amount of the incoming photon energy and escape at maximum energy.</a:t>
            </a:r>
          </a:p>
          <a:p>
            <a:r>
              <a:rPr lang="en-US" altLang="en-US" dirty="0"/>
              <a:t>More tightly bound electrons can also escape, but they will have less than maximum energy when they escape.</a:t>
            </a:r>
          </a:p>
          <a:p>
            <a:r>
              <a:rPr lang="en-US" altLang="en-US" dirty="0"/>
              <a:t>Some electrons simply bump into other electrons, causing an increase in temperature but not escaping.</a:t>
            </a:r>
          </a:p>
          <a:p>
            <a:r>
              <a:rPr lang="en-US" altLang="en-US" dirty="0"/>
              <a:t>The range of electron energies as they leave the surface is between 0 and </a:t>
            </a:r>
            <a:r>
              <a:rPr lang="en-US" altLang="en-US" dirty="0" err="1"/>
              <a:t>KE</a:t>
            </a:r>
            <a:r>
              <a:rPr lang="en-US" altLang="en-US" sz="800" baseline="-25000" dirty="0" err="1"/>
              <a:t>max</a:t>
            </a:r>
            <a:r>
              <a:rPr lang="en-US" altLang="en-US" dirty="0"/>
              <a:t> </a:t>
            </a:r>
          </a:p>
          <a:p>
            <a:endParaRPr lang="en-AU" dirty="0"/>
          </a:p>
        </p:txBody>
      </p:sp>
      <p:sp>
        <p:nvSpPr>
          <p:cNvPr id="4" name="Slide Number Placeholder 3"/>
          <p:cNvSpPr>
            <a:spLocks noGrp="1"/>
          </p:cNvSpPr>
          <p:nvPr>
            <p:ph type="sldNum" sz="quarter" idx="10"/>
          </p:nvPr>
        </p:nvSpPr>
        <p:spPr/>
        <p:txBody>
          <a:bodyPr/>
          <a:lstStyle/>
          <a:p>
            <a:fld id="{A7867A61-99AF-4B5E-AD34-71064BFCC3D7}" type="slidenum">
              <a:rPr lang="en-AU" smtClean="0"/>
              <a:t>29</a:t>
            </a:fld>
            <a:endParaRPr lang="en-AU"/>
          </a:p>
        </p:txBody>
      </p:sp>
    </p:spTree>
    <p:extLst>
      <p:ext uri="{BB962C8B-B14F-4D97-AF65-F5344CB8AC3E}">
        <p14:creationId xmlns:p14="http://schemas.microsoft.com/office/powerpoint/2010/main" val="18979146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30C72779-29AB-4ECE-8EA0-D161D12BDB52}" type="datetimeFigureOut">
              <a:rPr lang="en-AU" smtClean="0"/>
              <a:t>15/07/2024</a:t>
            </a:fld>
            <a:endParaRPr lang="en-AU"/>
          </a:p>
        </p:txBody>
      </p:sp>
      <p:sp>
        <p:nvSpPr>
          <p:cNvPr id="5" name="Footer Placeholder 4"/>
          <p:cNvSpPr>
            <a:spLocks noGrp="1"/>
          </p:cNvSpPr>
          <p:nvPr>
            <p:ph type="ftr" sz="quarter" idx="11"/>
          </p:nvPr>
        </p:nvSpPr>
        <p:spPr>
          <a:xfrm>
            <a:off x="3623733" y="6117336"/>
            <a:ext cx="3609438" cy="365125"/>
          </a:xfrm>
        </p:spPr>
        <p:txBody>
          <a:bodyPr/>
          <a:lstStyle/>
          <a:p>
            <a:endParaRPr lang="en-AU"/>
          </a:p>
        </p:txBody>
      </p:sp>
      <p:sp>
        <p:nvSpPr>
          <p:cNvPr id="6" name="Slide Number Placeholder 5"/>
          <p:cNvSpPr>
            <a:spLocks noGrp="1"/>
          </p:cNvSpPr>
          <p:nvPr>
            <p:ph type="sldNum" sz="quarter" idx="12"/>
          </p:nvPr>
        </p:nvSpPr>
        <p:spPr>
          <a:xfrm>
            <a:off x="8275320" y="6117336"/>
            <a:ext cx="411480" cy="365125"/>
          </a:xfrm>
        </p:spPr>
        <p:txBody>
          <a:bodyPr/>
          <a:lstStyle/>
          <a:p>
            <a:fld id="{76880F4B-5908-404D-A5BE-7A4C83FBD9D3}" type="slidenum">
              <a:rPr lang="en-AU" smtClean="0"/>
              <a:t>‹#›</a:t>
            </a:fld>
            <a:endParaRPr lang="en-AU"/>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Tree>
    <p:extLst>
      <p:ext uri="{BB962C8B-B14F-4D97-AF65-F5344CB8AC3E}">
        <p14:creationId xmlns:p14="http://schemas.microsoft.com/office/powerpoint/2010/main" val="2192391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30C72779-29AB-4ECE-8EA0-D161D12BDB52}" type="datetimeFigureOut">
              <a:rPr lang="en-AU" smtClean="0"/>
              <a:t>15/07/2024</a:t>
            </a:fld>
            <a:endParaRPr lang="en-AU"/>
          </a:p>
        </p:txBody>
      </p:sp>
      <p:sp>
        <p:nvSpPr>
          <p:cNvPr id="5" name="Footer Placeholder 4"/>
          <p:cNvSpPr>
            <a:spLocks noGrp="1"/>
          </p:cNvSpPr>
          <p:nvPr>
            <p:ph type="ftr" sz="quarter" idx="11"/>
          </p:nvPr>
        </p:nvSpPr>
        <p:spPr>
          <a:xfrm>
            <a:off x="1972647" y="6108173"/>
            <a:ext cx="5314517" cy="365125"/>
          </a:xfrm>
        </p:spPr>
        <p:txBody>
          <a:bodyPr/>
          <a:lstStyle/>
          <a:p>
            <a:endParaRPr lang="en-AU"/>
          </a:p>
        </p:txBody>
      </p:sp>
      <p:sp>
        <p:nvSpPr>
          <p:cNvPr id="6" name="Slide Number Placeholder 5"/>
          <p:cNvSpPr>
            <a:spLocks noGrp="1"/>
          </p:cNvSpPr>
          <p:nvPr>
            <p:ph type="sldNum" sz="quarter" idx="12"/>
          </p:nvPr>
        </p:nvSpPr>
        <p:spPr>
          <a:xfrm>
            <a:off x="8258967" y="6108173"/>
            <a:ext cx="427833" cy="365125"/>
          </a:xfrm>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3205492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15/07/2024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a:xfrm>
            <a:off x="8273317" y="6116070"/>
            <a:ext cx="413483" cy="365125"/>
          </a:xfrm>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750346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C72779-29AB-4ECE-8EA0-D161D12BDB52}" type="datetimeFigureOut">
              <a:rPr lang="en-AU" smtClean="0"/>
              <a:t>15/07/2024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19894541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C72779-29AB-4ECE-8EA0-D161D12BDB52}" type="datetimeFigureOut">
              <a:rPr lang="en-AU" smtClean="0"/>
              <a:t>15/07/2024</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5372246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C72779-29AB-4ECE-8EA0-D161D12BDB52}" type="datetimeFigureOut">
              <a:rPr lang="en-AU" smtClean="0"/>
              <a:t>15/07/2024</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3660600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C72779-29AB-4ECE-8EA0-D161D12BDB52}" type="datetimeFigureOut">
              <a:rPr lang="en-AU" smtClean="0"/>
              <a:t>15/07/2024</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19133329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0C72779-29AB-4ECE-8EA0-D161D12BDB52}" type="datetimeFigureOut">
              <a:rPr lang="en-AU" smtClean="0"/>
              <a:t>15/07/2024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3052866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0C72779-29AB-4ECE-8EA0-D161D12BDB52}" type="datetimeFigureOut">
              <a:rPr lang="en-AU" smtClean="0"/>
              <a:t>15/07/2024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1310301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0C72779-29AB-4ECE-8EA0-D161D12BDB52}" type="datetimeFigureOut">
              <a:rPr lang="en-AU" smtClean="0"/>
              <a:t>15/07/2024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1497300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15/07/2024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2620675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15/07/2024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23786097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15/07/2024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29917917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15/07/2024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11065587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15/07/2024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27563796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C72779-29AB-4ECE-8EA0-D161D12BDB52}" type="datetimeFigureOut">
              <a:rPr lang="en-AU" smtClean="0"/>
              <a:t>15/07/2024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25646726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C72779-29AB-4ECE-8EA0-D161D12BDB52}" type="datetimeFigureOut">
              <a:rPr lang="en-AU" smtClean="0"/>
              <a:t>15/07/2024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4180278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0C72779-29AB-4ECE-8EA0-D161D12BDB52}" type="datetimeFigureOut">
              <a:rPr lang="en-AU" smtClean="0"/>
              <a:t>15/07/2024</a:t>
            </a:fld>
            <a:endParaRPr lang="en-AU"/>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AU"/>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6880F4B-5908-404D-A5BE-7A4C83FBD9D3}" type="slidenum">
              <a:rPr lang="en-AU" smtClean="0"/>
              <a:t>‹#›</a:t>
            </a:fld>
            <a:endParaRPr lang="en-AU"/>
          </a:p>
        </p:txBody>
      </p:sp>
    </p:spTree>
    <p:extLst>
      <p:ext uri="{BB962C8B-B14F-4D97-AF65-F5344CB8AC3E}">
        <p14:creationId xmlns:p14="http://schemas.microsoft.com/office/powerpoint/2010/main" val="304419008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4.wmf"/><Relationship Id="rId7"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5.wmf"/><Relationship Id="rId4"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3" Type="http://schemas.openxmlformats.org/officeDocument/2006/relationships/image" Target="../media/image7.wmf"/><Relationship Id="rId7" Type="http://schemas.openxmlformats.org/officeDocument/2006/relationships/image" Target="../media/image9.wmf"/><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8.wmf"/><Relationship Id="rId4" Type="http://schemas.openxmlformats.org/officeDocument/2006/relationships/oleObject" Target="../embeddings/oleObject5.bin"/></Relationships>
</file>

<file path=ppt/slides/_rels/slide11.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gi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00.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00.png"/><Relationship Id="rId1" Type="http://schemas.openxmlformats.org/officeDocument/2006/relationships/slideLayout" Target="../slideLayouts/slideLayout2.xml"/><Relationship Id="rId4" Type="http://schemas.openxmlformats.org/officeDocument/2006/relationships/image" Target="../media/image120.png"/></Relationships>
</file>

<file path=ppt/slides/_rels/slide36.xml.rels><?xml version="1.0" encoding="UTF-8" standalone="yes"?>
<Relationships xmlns="http://schemas.openxmlformats.org/package/2006/relationships"><Relationship Id="rId2" Type="http://schemas.openxmlformats.org/officeDocument/2006/relationships/image" Target="../media/image30.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40657" r="15222" b="-2"/>
          <a:stretch/>
        </p:blipFill>
        <p:spPr>
          <a:xfrm>
            <a:off x="20" y="10"/>
            <a:ext cx="4086205" cy="6857990"/>
          </a:xfrm>
          <a:prstGeom prst="rect">
            <a:avLst/>
          </a:prstGeom>
        </p:spPr>
      </p:pic>
      <p:grpSp>
        <p:nvGrpSpPr>
          <p:cNvPr id="24" name="Group 11"/>
          <p:cNvGrpSpPr>
            <a:grpSpLocks noGrp="1" noUngrp="1" noRot="1" noChangeAspect="1" noMove="1" noResize="1"/>
          </p:cNvGrpSpPr>
          <p:nvPr>
            <p:extLst>
              <p:ext uri="{386F3935-93C4-4BCD-93E2-E3B085C9AB24}">
                <p16:designElem xmlns:p16="http://schemas.microsoft.com/office/powerpoint/2015/main" val="1"/>
              </p:ext>
            </p:extLst>
          </p:nvPr>
        </p:nvGrpSpPr>
        <p:grpSpPr>
          <a:xfrm>
            <a:off x="2127539" y="0"/>
            <a:ext cx="1958686" cy="6858000"/>
            <a:chOff x="2836718" y="0"/>
            <a:chExt cx="2611581" cy="6858000"/>
          </a:xfrm>
        </p:grpSpPr>
        <p:sp useBgFill="1">
          <p:nvSpPr>
            <p:cNvPr id="13" name="Rectangle 19"/>
            <p:cNvSpPr/>
            <p:nvPr>
              <p:extLst>
                <p:ext uri="{386F3935-93C4-4BCD-93E2-E3B085C9AB24}">
                  <p16:designElem xmlns:p16="http://schemas.microsoft.com/office/powerpoint/2015/main" val="1"/>
                </p:ext>
              </p:extLst>
            </p:nvPr>
          </p:nvSpPr>
          <p:spPr>
            <a:xfrm>
              <a:off x="2836718" y="0"/>
              <a:ext cx="2611581" cy="2554287"/>
            </a:xfrm>
            <a:custGeom>
              <a:avLst/>
              <a:gdLst>
                <a:gd name="connsiteX0" fmla="*/ 0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0 w 2570017"/>
                <a:gd name="connsiteY4" fmla="*/ 0 h 2554287"/>
                <a:gd name="connsiteX0" fmla="*/ 904009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904009 w 2570017"/>
                <a:gd name="connsiteY4" fmla="*/ 0 h 2554287"/>
                <a:gd name="connsiteX0" fmla="*/ 644236 w 2570017"/>
                <a:gd name="connsiteY0" fmla="*/ 10391 h 2554287"/>
                <a:gd name="connsiteX1" fmla="*/ 2570017 w 2570017"/>
                <a:gd name="connsiteY1" fmla="*/ 0 h 2554287"/>
                <a:gd name="connsiteX2" fmla="*/ 2570017 w 2570017"/>
                <a:gd name="connsiteY2" fmla="*/ 2554287 h 2554287"/>
                <a:gd name="connsiteX3" fmla="*/ 0 w 2570017"/>
                <a:gd name="connsiteY3" fmla="*/ 2554287 h 2554287"/>
                <a:gd name="connsiteX4" fmla="*/ 644236 w 2570017"/>
                <a:gd name="connsiteY4" fmla="*/ 10391 h 2554287"/>
                <a:gd name="connsiteX0" fmla="*/ 633845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633845 w 2570017"/>
                <a:gd name="connsiteY4" fmla="*/ 0 h 2554287"/>
                <a:gd name="connsiteX0" fmla="*/ 675409 w 2611581"/>
                <a:gd name="connsiteY0" fmla="*/ 0 h 2554287"/>
                <a:gd name="connsiteX1" fmla="*/ 2611581 w 2611581"/>
                <a:gd name="connsiteY1" fmla="*/ 0 h 2554287"/>
                <a:gd name="connsiteX2" fmla="*/ 2611581 w 2611581"/>
                <a:gd name="connsiteY2" fmla="*/ 2554287 h 2554287"/>
                <a:gd name="connsiteX3" fmla="*/ 0 w 2611581"/>
                <a:gd name="connsiteY3" fmla="*/ 2554287 h 2554287"/>
                <a:gd name="connsiteX4" fmla="*/ 675409 w 2611581"/>
                <a:gd name="connsiteY4" fmla="*/ 0 h 2554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581" h="2554287">
                  <a:moveTo>
                    <a:pt x="675409" y="0"/>
                  </a:moveTo>
                  <a:lnTo>
                    <a:pt x="2611581" y="0"/>
                  </a:lnTo>
                  <a:lnTo>
                    <a:pt x="2611581" y="2554287"/>
                  </a:lnTo>
                  <a:lnTo>
                    <a:pt x="0" y="2554287"/>
                  </a:lnTo>
                  <a:lnTo>
                    <a:pt x="67540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Rectangle 20"/>
            <p:cNvSpPr/>
            <p:nvPr>
              <p:extLst>
                <p:ext uri="{386F3935-93C4-4BCD-93E2-E3B085C9AB24}">
                  <p16:designElem xmlns:p16="http://schemas.microsoft.com/office/powerpoint/2015/main" val="1"/>
                </p:ext>
              </p:extLst>
            </p:nvPr>
          </p:nvSpPr>
          <p:spPr>
            <a:xfrm>
              <a:off x="2836718" y="2554287"/>
              <a:ext cx="2611581" cy="4303713"/>
            </a:xfrm>
            <a:custGeom>
              <a:avLst/>
              <a:gdLst>
                <a:gd name="connsiteX0" fmla="*/ 0 w 2611581"/>
                <a:gd name="connsiteY0" fmla="*/ 0 h 4303713"/>
                <a:gd name="connsiteX1" fmla="*/ 2611581 w 2611581"/>
                <a:gd name="connsiteY1" fmla="*/ 0 h 4303713"/>
                <a:gd name="connsiteX2" fmla="*/ 2611581 w 2611581"/>
                <a:gd name="connsiteY2" fmla="*/ 4303713 h 4303713"/>
                <a:gd name="connsiteX3" fmla="*/ 0 w 2611581"/>
                <a:gd name="connsiteY3" fmla="*/ 4303713 h 4303713"/>
                <a:gd name="connsiteX4" fmla="*/ 0 w 2611581"/>
                <a:gd name="connsiteY4" fmla="*/ 0 h 4303713"/>
                <a:gd name="connsiteX0" fmla="*/ 0 w 2611581"/>
                <a:gd name="connsiteY0" fmla="*/ 0 h 4314104"/>
                <a:gd name="connsiteX1" fmla="*/ 2611581 w 2611581"/>
                <a:gd name="connsiteY1" fmla="*/ 0 h 4314104"/>
                <a:gd name="connsiteX2" fmla="*/ 2611581 w 2611581"/>
                <a:gd name="connsiteY2" fmla="*/ 4303713 h 4314104"/>
                <a:gd name="connsiteX3" fmla="*/ 1693718 w 2611581"/>
                <a:gd name="connsiteY3" fmla="*/ 4314104 h 4314104"/>
                <a:gd name="connsiteX4" fmla="*/ 0 w 2611581"/>
                <a:gd name="connsiteY4" fmla="*/ 0 h 4314104"/>
                <a:gd name="connsiteX0" fmla="*/ 0 w 2611581"/>
                <a:gd name="connsiteY0" fmla="*/ 0 h 4314104"/>
                <a:gd name="connsiteX1" fmla="*/ 2611581 w 2611581"/>
                <a:gd name="connsiteY1" fmla="*/ 0 h 4314104"/>
                <a:gd name="connsiteX2" fmla="*/ 2611581 w 2611581"/>
                <a:gd name="connsiteY2" fmla="*/ 4303713 h 4314104"/>
                <a:gd name="connsiteX3" fmla="*/ 1963882 w 2611581"/>
                <a:gd name="connsiteY3" fmla="*/ 4314104 h 4314104"/>
                <a:gd name="connsiteX4" fmla="*/ 0 w 2611581"/>
                <a:gd name="connsiteY4" fmla="*/ 0 h 4314104"/>
                <a:gd name="connsiteX0" fmla="*/ 0 w 2611581"/>
                <a:gd name="connsiteY0" fmla="*/ 0 h 4303713"/>
                <a:gd name="connsiteX1" fmla="*/ 2611581 w 2611581"/>
                <a:gd name="connsiteY1" fmla="*/ 0 h 4303713"/>
                <a:gd name="connsiteX2" fmla="*/ 2611581 w 2611581"/>
                <a:gd name="connsiteY2" fmla="*/ 4303713 h 4303713"/>
                <a:gd name="connsiteX3" fmla="*/ 2213264 w 2611581"/>
                <a:gd name="connsiteY3" fmla="*/ 4293322 h 4303713"/>
                <a:gd name="connsiteX4" fmla="*/ 0 w 2611581"/>
                <a:gd name="connsiteY4" fmla="*/ 0 h 4303713"/>
                <a:gd name="connsiteX0" fmla="*/ 0 w 2611581"/>
                <a:gd name="connsiteY0" fmla="*/ 0 h 4303713"/>
                <a:gd name="connsiteX1" fmla="*/ 2611581 w 2611581"/>
                <a:gd name="connsiteY1" fmla="*/ 0 h 4303713"/>
                <a:gd name="connsiteX2" fmla="*/ 2611581 w 2611581"/>
                <a:gd name="connsiteY2" fmla="*/ 4303713 h 4303713"/>
                <a:gd name="connsiteX3" fmla="*/ 2171701 w 2611581"/>
                <a:gd name="connsiteY3" fmla="*/ 3638695 h 4303713"/>
                <a:gd name="connsiteX4" fmla="*/ 0 w 2611581"/>
                <a:gd name="connsiteY4" fmla="*/ 0 h 4303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581" h="4303713">
                  <a:moveTo>
                    <a:pt x="0" y="0"/>
                  </a:moveTo>
                  <a:lnTo>
                    <a:pt x="2611581" y="0"/>
                  </a:lnTo>
                  <a:lnTo>
                    <a:pt x="2611581" y="4303713"/>
                  </a:lnTo>
                  <a:lnTo>
                    <a:pt x="2171701" y="363869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p:cNvGrpSpPr>
            <a:grpSpLocks noGrp="1" noUngrp="1" noRot="1" noChangeAspect="1" noMove="1" noResize="1"/>
          </p:cNvGrpSpPr>
          <p:nvPr>
            <p:extLst>
              <p:ext uri="{386F3935-93C4-4BCD-93E2-E3B085C9AB24}">
                <p16:designElem xmlns:p16="http://schemas.microsoft.com/office/powerpoint/2015/main" val="1"/>
              </p:ext>
            </p:extLst>
          </p:nvPr>
        </p:nvGrpSpPr>
        <p:grpSpPr>
          <a:xfrm>
            <a:off x="2219326" y="-4763"/>
            <a:ext cx="3761187" cy="6862763"/>
            <a:chOff x="2928938" y="-4763"/>
            <a:chExt cx="5014912" cy="6862763"/>
          </a:xfrm>
        </p:grpSpPr>
        <p:sp>
          <p:nvSpPr>
            <p:cNvPr id="17" name="Freeform 6"/>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18" name="Freeform 7"/>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19" name="Freeform 9"/>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0" name="Freeform 10"/>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1" name="Freeform 11"/>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6" name="Freeform 12"/>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516697" y="1912690"/>
            <a:ext cx="6627303" cy="1954634"/>
          </a:xfrm>
        </p:spPr>
        <p:txBody>
          <a:bodyPr>
            <a:normAutofit/>
          </a:bodyPr>
          <a:lstStyle/>
          <a:p>
            <a:pPr algn="ctr"/>
            <a:r>
              <a:rPr lang="en-AU" dirty="0">
                <a:solidFill>
                  <a:schemeClr val="accent3">
                    <a:lumMod val="10000"/>
                  </a:schemeClr>
                </a:solidFill>
              </a:rPr>
              <a:t>Photoelectric </a:t>
            </a:r>
            <a:br>
              <a:rPr lang="en-AU" dirty="0">
                <a:solidFill>
                  <a:schemeClr val="accent3">
                    <a:lumMod val="10000"/>
                  </a:schemeClr>
                </a:solidFill>
              </a:rPr>
            </a:br>
            <a:r>
              <a:rPr lang="en-AU" dirty="0">
                <a:solidFill>
                  <a:schemeClr val="accent3">
                    <a:lumMod val="10000"/>
                  </a:schemeClr>
                </a:solidFill>
              </a:rPr>
              <a:t>Effect</a:t>
            </a:r>
          </a:p>
        </p:txBody>
      </p:sp>
    </p:spTree>
    <p:extLst>
      <p:ext uri="{BB962C8B-B14F-4D97-AF65-F5344CB8AC3E}">
        <p14:creationId xmlns:p14="http://schemas.microsoft.com/office/powerpoint/2010/main" val="33016377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734036"/>
          </a:xfrm>
        </p:spPr>
        <p:txBody>
          <a:bodyPr/>
          <a:lstStyle/>
          <a:p>
            <a:r>
              <a:rPr lang="en-AU" dirty="0">
                <a:solidFill>
                  <a:schemeClr val="accent3">
                    <a:lumMod val="10000"/>
                  </a:schemeClr>
                </a:solidFill>
              </a:rPr>
              <a:t>Key Objectives</a:t>
            </a:r>
          </a:p>
        </p:txBody>
      </p:sp>
      <p:sp>
        <p:nvSpPr>
          <p:cNvPr id="3" name="Content Placeholder 2"/>
          <p:cNvSpPr>
            <a:spLocks noGrp="1"/>
          </p:cNvSpPr>
          <p:nvPr>
            <p:ph idx="1"/>
          </p:nvPr>
        </p:nvSpPr>
        <p:spPr>
          <a:xfrm>
            <a:off x="982133" y="1543574"/>
            <a:ext cx="7843085" cy="4739780"/>
          </a:xfrm>
        </p:spPr>
        <p:txBody>
          <a:bodyPr>
            <a:normAutofit/>
          </a:bodyPr>
          <a:lstStyle/>
          <a:p>
            <a:r>
              <a:rPr lang="en-AU" dirty="0">
                <a:solidFill>
                  <a:schemeClr val="accent5">
                    <a:lumMod val="25000"/>
                  </a:schemeClr>
                </a:solidFill>
              </a:rPr>
              <a:t>The photoelectric effect, is explained using the concept of light quanta.</a:t>
            </a:r>
          </a:p>
          <a:p>
            <a:r>
              <a:rPr lang="en-AU" dirty="0">
                <a:solidFill>
                  <a:schemeClr val="accent5">
                    <a:lumMod val="25000"/>
                  </a:schemeClr>
                </a:solidFill>
              </a:rPr>
              <a:t>On the atomic level, energy and matter exhibit the characteristics of both waves and particles. Young’s double slit experiment is explained with a wave model but produces the same interference and diffraction patterns when one photon at a time or one electron at a time are passed through the slits</a:t>
            </a:r>
          </a:p>
        </p:txBody>
      </p:sp>
    </p:spTree>
    <p:extLst>
      <p:ext uri="{BB962C8B-B14F-4D97-AF65-F5344CB8AC3E}">
        <p14:creationId xmlns:p14="http://schemas.microsoft.com/office/powerpoint/2010/main" val="589363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734036"/>
          </a:xfrm>
        </p:spPr>
        <p:txBody>
          <a:bodyPr/>
          <a:lstStyle/>
          <a:p>
            <a:r>
              <a:rPr lang="en-AU" dirty="0">
                <a:solidFill>
                  <a:schemeClr val="accent3">
                    <a:lumMod val="10000"/>
                  </a:schemeClr>
                </a:solidFill>
              </a:rPr>
              <a:t>Key Objectives</a:t>
            </a:r>
          </a:p>
        </p:txBody>
      </p:sp>
      <p:sp>
        <p:nvSpPr>
          <p:cNvPr id="3" name="Content Placeholder 2"/>
          <p:cNvSpPr>
            <a:spLocks noGrp="1"/>
          </p:cNvSpPr>
          <p:nvPr>
            <p:ph idx="1"/>
          </p:nvPr>
        </p:nvSpPr>
        <p:spPr>
          <a:xfrm>
            <a:off x="982133" y="1543574"/>
            <a:ext cx="7843085" cy="4739780"/>
          </a:xfrm>
        </p:spPr>
        <p:txBody>
          <a:bodyPr>
            <a:normAutofit lnSpcReduction="10000"/>
          </a:bodyPr>
          <a:lstStyle/>
          <a:p>
            <a:r>
              <a:rPr lang="en-AU" dirty="0">
                <a:solidFill>
                  <a:schemeClr val="accent5">
                    <a:lumMod val="10000"/>
                  </a:schemeClr>
                </a:solidFill>
              </a:rPr>
              <a:t>Atomic phenomena and the interaction of light with matter indicate that states of matter and energy are quantised into discrete values.</a:t>
            </a:r>
          </a:p>
          <a:p>
            <a:r>
              <a:rPr lang="en-AU" dirty="0">
                <a:solidFill>
                  <a:schemeClr val="accent5">
                    <a:lumMod val="10000"/>
                  </a:schemeClr>
                </a:solidFill>
              </a:rPr>
              <a:t>On the atomic level, electromagnetic radiation is emitted or absorbed in discrete packets called photons. The energy of a photon is proportional to its frequency and constant of proportionality is Planck’s Constant.</a:t>
            </a:r>
          </a:p>
          <a:p>
            <a:r>
              <a:rPr lang="en-AU" dirty="0">
                <a:solidFill>
                  <a:schemeClr val="accent5">
                    <a:lumMod val="10000"/>
                  </a:schemeClr>
                </a:solidFill>
              </a:rPr>
              <a:t>Blackbody radiation can be explained using the concept of light quanta.</a:t>
            </a:r>
          </a:p>
          <a:p>
            <a:r>
              <a:rPr lang="en-AU" dirty="0">
                <a:solidFill>
                  <a:schemeClr val="accent5">
                    <a:lumMod val="10000"/>
                  </a:schemeClr>
                </a:solidFill>
              </a:rPr>
              <a:t>Planck’s constant, can be determined experimentally using the photoelectric effect and the threshold voltage of coloured LEDs.</a:t>
            </a:r>
          </a:p>
        </p:txBody>
      </p:sp>
    </p:spTree>
    <p:extLst>
      <p:ext uri="{BB962C8B-B14F-4D97-AF65-F5344CB8AC3E}">
        <p14:creationId xmlns:p14="http://schemas.microsoft.com/office/powerpoint/2010/main" val="3157391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solidFill>
                  <a:schemeClr val="accent5">
                    <a:lumMod val="10000"/>
                  </a:schemeClr>
                </a:solidFill>
              </a:rPr>
              <a:t>Relevant Equations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71118" y="2054603"/>
                <a:ext cx="8330269" cy="2358005"/>
              </a:xfrm>
            </p:spPr>
            <p:txBody>
              <a:bodyPr>
                <a:normAutofit/>
              </a:bodyPr>
              <a:lstStyle/>
              <a:p>
                <a:pPr marL="0" indent="0">
                  <a:buNone/>
                </a:pPr>
                <a:endParaRPr lang="en-AU" b="0" i="1" dirty="0">
                  <a:solidFill>
                    <a:schemeClr val="accent5">
                      <a:lumMod val="10000"/>
                    </a:schemeClr>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AU" b="0" i="1" smtClean="0">
                          <a:solidFill>
                            <a:schemeClr val="accent5">
                              <a:lumMod val="10000"/>
                            </a:schemeClr>
                          </a:solidFill>
                          <a:latin typeface="Cambria Math" panose="02040503050406030204" pitchFamily="18" charset="0"/>
                        </a:rPr>
                        <m:t>𝐸</m:t>
                      </m:r>
                      <m:r>
                        <a:rPr lang="en-AU" b="0" i="1" smtClean="0">
                          <a:solidFill>
                            <a:schemeClr val="accent5">
                              <a:lumMod val="10000"/>
                            </a:schemeClr>
                          </a:solidFill>
                          <a:latin typeface="Cambria Math" panose="02040503050406030204" pitchFamily="18" charset="0"/>
                        </a:rPr>
                        <m:t>=</m:t>
                      </m:r>
                      <m:r>
                        <a:rPr lang="en-AU" b="0" i="1" smtClean="0">
                          <a:solidFill>
                            <a:schemeClr val="accent5">
                              <a:lumMod val="10000"/>
                            </a:schemeClr>
                          </a:solidFill>
                          <a:latin typeface="Cambria Math" panose="02040503050406030204" pitchFamily="18" charset="0"/>
                        </a:rPr>
                        <m:t>h𝑓</m:t>
                      </m:r>
                      <m:r>
                        <a:rPr lang="en-AU" b="0" i="1" smtClean="0">
                          <a:solidFill>
                            <a:schemeClr val="accent5">
                              <a:lumMod val="10000"/>
                            </a:schemeClr>
                          </a:solidFill>
                          <a:latin typeface="Cambria Math" panose="02040503050406030204" pitchFamily="18" charset="0"/>
                        </a:rPr>
                        <m:t>=</m:t>
                      </m:r>
                      <m:f>
                        <m:fPr>
                          <m:ctrlPr>
                            <a:rPr lang="en-AU" b="0" i="1" smtClean="0">
                              <a:solidFill>
                                <a:schemeClr val="accent5">
                                  <a:lumMod val="10000"/>
                                </a:schemeClr>
                              </a:solidFill>
                              <a:latin typeface="Cambria Math" panose="02040503050406030204" pitchFamily="18" charset="0"/>
                            </a:rPr>
                          </m:ctrlPr>
                        </m:fPr>
                        <m:num>
                          <m:r>
                            <a:rPr lang="en-AU" b="0" i="1" smtClean="0">
                              <a:solidFill>
                                <a:schemeClr val="accent5">
                                  <a:lumMod val="10000"/>
                                </a:schemeClr>
                              </a:solidFill>
                              <a:latin typeface="Cambria Math" panose="02040503050406030204" pitchFamily="18" charset="0"/>
                            </a:rPr>
                            <m:t>h𝑐</m:t>
                          </m:r>
                        </m:num>
                        <m:den>
                          <m:r>
                            <m:rPr>
                              <m:sty m:val="p"/>
                            </m:rPr>
                            <a:rPr lang="el-GR" b="0" i="1" smtClean="0">
                              <a:solidFill>
                                <a:schemeClr val="accent5">
                                  <a:lumMod val="10000"/>
                                </a:schemeClr>
                              </a:solidFill>
                              <a:latin typeface="Cambria Math" panose="02040503050406030204" pitchFamily="18" charset="0"/>
                            </a:rPr>
                            <m:t>λ</m:t>
                          </m:r>
                        </m:den>
                      </m:f>
                    </m:oMath>
                  </m:oMathPara>
                </a14:m>
                <a:endParaRPr lang="en-AU" dirty="0">
                  <a:solidFill>
                    <a:schemeClr val="accent5">
                      <a:lumMod val="10000"/>
                    </a:schemeClr>
                  </a:solidFill>
                </a:endParaRPr>
              </a:p>
              <a:p>
                <a:pPr marL="0" indent="0">
                  <a:buNone/>
                </a:pPr>
                <a:endParaRPr lang="en-AU" b="0" i="1" dirty="0">
                  <a:solidFill>
                    <a:schemeClr val="accent5">
                      <a:lumMod val="10000"/>
                    </a:schemeClr>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AU" b="0" i="1" smtClean="0">
                              <a:solidFill>
                                <a:schemeClr val="accent5">
                                  <a:lumMod val="10000"/>
                                </a:schemeClr>
                              </a:solidFill>
                              <a:latin typeface="Cambria Math" panose="02040503050406030204" pitchFamily="18" charset="0"/>
                            </a:rPr>
                          </m:ctrlPr>
                        </m:sSubPr>
                        <m:e>
                          <m:r>
                            <a:rPr lang="en-AU" b="0" i="1" smtClean="0">
                              <a:solidFill>
                                <a:schemeClr val="accent5">
                                  <a:lumMod val="10000"/>
                                </a:schemeClr>
                              </a:solidFill>
                              <a:latin typeface="Cambria Math" panose="02040503050406030204" pitchFamily="18" charset="0"/>
                            </a:rPr>
                            <m:t>𝐸</m:t>
                          </m:r>
                        </m:e>
                        <m:sub>
                          <m:r>
                            <a:rPr lang="en-AU" b="0" i="1" smtClean="0">
                              <a:solidFill>
                                <a:schemeClr val="accent5">
                                  <a:lumMod val="10000"/>
                                </a:schemeClr>
                              </a:solidFill>
                              <a:latin typeface="Cambria Math" panose="02040503050406030204" pitchFamily="18" charset="0"/>
                            </a:rPr>
                            <m:t>𝑘</m:t>
                          </m:r>
                        </m:sub>
                      </m:sSub>
                      <m:r>
                        <a:rPr lang="en-AU" b="0" i="1" smtClean="0">
                          <a:solidFill>
                            <a:schemeClr val="accent5">
                              <a:lumMod val="10000"/>
                            </a:schemeClr>
                          </a:solidFill>
                          <a:latin typeface="Cambria Math" panose="02040503050406030204" pitchFamily="18" charset="0"/>
                        </a:rPr>
                        <m:t>=</m:t>
                      </m:r>
                      <m:r>
                        <a:rPr lang="en-AU" b="0" i="1" smtClean="0">
                          <a:solidFill>
                            <a:schemeClr val="accent5">
                              <a:lumMod val="10000"/>
                            </a:schemeClr>
                          </a:solidFill>
                          <a:latin typeface="Cambria Math" panose="02040503050406030204" pitchFamily="18" charset="0"/>
                        </a:rPr>
                        <m:t>h𝑓</m:t>
                      </m:r>
                      <m:r>
                        <a:rPr lang="en-AU" b="0" i="1" smtClean="0">
                          <a:solidFill>
                            <a:schemeClr val="accent5">
                              <a:lumMod val="10000"/>
                            </a:schemeClr>
                          </a:solidFill>
                          <a:latin typeface="Cambria Math" panose="02040503050406030204" pitchFamily="18" charset="0"/>
                        </a:rPr>
                        <m:t>−</m:t>
                      </m:r>
                      <m:r>
                        <a:rPr lang="en-AU" b="0" i="1" smtClean="0">
                          <a:solidFill>
                            <a:schemeClr val="accent5">
                              <a:lumMod val="10000"/>
                            </a:schemeClr>
                          </a:solidFill>
                          <a:latin typeface="Cambria Math" panose="02040503050406030204" pitchFamily="18" charset="0"/>
                        </a:rPr>
                        <m:t>𝑊</m:t>
                      </m:r>
                    </m:oMath>
                  </m:oMathPara>
                </a14:m>
                <a:endParaRPr lang="en-AU" dirty="0">
                  <a:solidFill>
                    <a:schemeClr val="accent5">
                      <a:lumMod val="10000"/>
                    </a:schemeClr>
                  </a:solidFill>
                </a:endParaRPr>
              </a:p>
              <a:p>
                <a:pPr marL="0" indent="0">
                  <a:buNone/>
                </a:pPr>
                <a:endParaRPr lang="en-AU" dirty="0">
                  <a:solidFill>
                    <a:schemeClr val="accent5">
                      <a:lumMod val="10000"/>
                    </a:schemeClr>
                  </a:solidFill>
                </a:endParaRPr>
              </a:p>
              <a:p>
                <a:pPr marL="0" indent="0">
                  <a:buNone/>
                </a:pPr>
                <a:endParaRPr lang="en-AU" dirty="0">
                  <a:solidFill>
                    <a:schemeClr val="accent5">
                      <a:lumMod val="10000"/>
                    </a:schemeClr>
                  </a:solidFill>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671118" y="2054603"/>
                <a:ext cx="8330269" cy="2358005"/>
              </a:xfrm>
              <a:blipFill>
                <a:blip r:embed="rId2"/>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464853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977316"/>
          </a:xfrm>
        </p:spPr>
        <p:txBody>
          <a:bodyPr/>
          <a:lstStyle/>
          <a:p>
            <a:r>
              <a:rPr lang="en-AU" dirty="0">
                <a:solidFill>
                  <a:schemeClr val="accent3">
                    <a:lumMod val="10000"/>
                  </a:schemeClr>
                </a:solidFill>
              </a:rPr>
              <a:t>Text References</a:t>
            </a:r>
          </a:p>
        </p:txBody>
      </p:sp>
      <p:sp>
        <p:nvSpPr>
          <p:cNvPr id="3" name="Content Placeholder 2"/>
          <p:cNvSpPr>
            <a:spLocks noGrp="1"/>
          </p:cNvSpPr>
          <p:nvPr>
            <p:ph idx="1"/>
          </p:nvPr>
        </p:nvSpPr>
        <p:spPr>
          <a:xfrm>
            <a:off x="1040856" y="1911991"/>
            <a:ext cx="7704667" cy="3332816"/>
          </a:xfrm>
        </p:spPr>
        <p:txBody>
          <a:bodyPr>
            <a:normAutofit/>
          </a:bodyPr>
          <a:lstStyle/>
          <a:p>
            <a:r>
              <a:rPr lang="en-AU" sz="2800" dirty="0">
                <a:solidFill>
                  <a:schemeClr val="accent3">
                    <a:lumMod val="10000"/>
                  </a:schemeClr>
                </a:solidFill>
              </a:rPr>
              <a:t>STAWA </a:t>
            </a:r>
          </a:p>
          <a:p>
            <a:pPr lvl="1"/>
            <a:r>
              <a:rPr lang="en-AU" sz="2400" dirty="0">
                <a:solidFill>
                  <a:schemeClr val="accent3">
                    <a:lumMod val="10000"/>
                  </a:schemeClr>
                </a:solidFill>
              </a:rPr>
              <a:t>Set 12.1</a:t>
            </a:r>
          </a:p>
          <a:p>
            <a:pPr lvl="1"/>
            <a:r>
              <a:rPr lang="en-AU" sz="2400" dirty="0">
                <a:solidFill>
                  <a:schemeClr val="accent3">
                    <a:lumMod val="10000"/>
                  </a:schemeClr>
                </a:solidFill>
              </a:rPr>
              <a:t>Set 12.2</a:t>
            </a:r>
          </a:p>
          <a:p>
            <a:pPr marL="0" indent="0">
              <a:buNone/>
            </a:pPr>
            <a:endParaRPr lang="en-AU" sz="2800" dirty="0">
              <a:solidFill>
                <a:schemeClr val="accent3">
                  <a:lumMod val="10000"/>
                </a:schemeClr>
              </a:solidFill>
            </a:endParaRPr>
          </a:p>
        </p:txBody>
      </p:sp>
    </p:spTree>
    <p:extLst>
      <p:ext uri="{BB962C8B-B14F-4D97-AF65-F5344CB8AC3E}">
        <p14:creationId xmlns:p14="http://schemas.microsoft.com/office/powerpoint/2010/main" val="2985159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5623FC-3667-4722-B073-CEABD27718AB}"/>
              </a:ext>
            </a:extLst>
          </p:cNvPr>
          <p:cNvSpPr>
            <a:spLocks noGrp="1"/>
          </p:cNvSpPr>
          <p:nvPr>
            <p:ph idx="1"/>
          </p:nvPr>
        </p:nvSpPr>
        <p:spPr>
          <a:xfrm>
            <a:off x="1007300" y="1400261"/>
            <a:ext cx="7704667" cy="4522365"/>
          </a:xfrm>
        </p:spPr>
        <p:txBody>
          <a:bodyPr>
            <a:normAutofit/>
          </a:bodyPr>
          <a:lstStyle/>
          <a:p>
            <a:r>
              <a:rPr lang="en-AU" dirty="0">
                <a:solidFill>
                  <a:schemeClr val="accent5">
                    <a:lumMod val="10000"/>
                  </a:schemeClr>
                </a:solidFill>
              </a:rPr>
              <a:t>Classical physics modelled light as a transverse wave, and this model successfully explains interference, diffraction, refraction, reflection and polarisation.  </a:t>
            </a:r>
          </a:p>
          <a:p>
            <a:r>
              <a:rPr lang="en-AU" dirty="0">
                <a:solidFill>
                  <a:schemeClr val="accent5">
                    <a:lumMod val="10000"/>
                  </a:schemeClr>
                </a:solidFill>
              </a:rPr>
              <a:t>The ultraviolet catastrophe in blackbody radiation and the photoelectric effect suggested that this model was incomplete.</a:t>
            </a:r>
          </a:p>
          <a:p>
            <a:r>
              <a:rPr lang="en-AU" dirty="0">
                <a:solidFill>
                  <a:schemeClr val="accent5">
                    <a:lumMod val="10000"/>
                  </a:schemeClr>
                </a:solidFill>
              </a:rPr>
              <a:t>In the 1800’s physicists were trying to model atomic vibrations, but they kept getting it wrong.  This was because they assumed that atomic vibrations were continuous (that they could vibrate at any frequency).  Enter Max Planck…</a:t>
            </a:r>
          </a:p>
          <a:p>
            <a:pPr marL="0" indent="0">
              <a:buNone/>
            </a:pPr>
            <a:endParaRPr lang="en-AU" dirty="0">
              <a:solidFill>
                <a:schemeClr val="accent5">
                  <a:lumMod val="10000"/>
                </a:schemeClr>
              </a:solidFill>
            </a:endParaRPr>
          </a:p>
        </p:txBody>
      </p:sp>
    </p:spTree>
    <p:extLst>
      <p:ext uri="{BB962C8B-B14F-4D97-AF65-F5344CB8AC3E}">
        <p14:creationId xmlns:p14="http://schemas.microsoft.com/office/powerpoint/2010/main" val="8062048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95777-8792-46B8-B2B9-2F639AAC76E2}"/>
              </a:ext>
            </a:extLst>
          </p:cNvPr>
          <p:cNvSpPr>
            <a:spLocks noGrp="1"/>
          </p:cNvSpPr>
          <p:nvPr>
            <p:ph type="title"/>
          </p:nvPr>
        </p:nvSpPr>
        <p:spPr>
          <a:xfrm>
            <a:off x="1024078" y="163587"/>
            <a:ext cx="7704667" cy="834704"/>
          </a:xfrm>
        </p:spPr>
        <p:txBody>
          <a:bodyPr/>
          <a:lstStyle/>
          <a:p>
            <a:r>
              <a:rPr lang="en-AU" dirty="0">
                <a:solidFill>
                  <a:schemeClr val="accent5">
                    <a:lumMod val="10000"/>
                  </a:schemeClr>
                </a:solidFill>
              </a:rPr>
              <a:t>Planck’s constant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EC4947-81E1-4AC8-9B1F-F2217336ACB7}"/>
                  </a:ext>
                </a:extLst>
              </p:cNvPr>
              <p:cNvSpPr>
                <a:spLocks noGrp="1"/>
              </p:cNvSpPr>
              <p:nvPr>
                <p:ph idx="1"/>
              </p:nvPr>
            </p:nvSpPr>
            <p:spPr>
              <a:xfrm>
                <a:off x="982133" y="1149291"/>
                <a:ext cx="7704667" cy="5461233"/>
              </a:xfrm>
            </p:spPr>
            <p:txBody>
              <a:bodyPr>
                <a:normAutofit fontScale="92500"/>
              </a:bodyPr>
              <a:lstStyle/>
              <a:p>
                <a:r>
                  <a:rPr lang="en-AU" dirty="0">
                    <a:solidFill>
                      <a:schemeClr val="accent5">
                        <a:lumMod val="10000"/>
                      </a:schemeClr>
                    </a:solidFill>
                  </a:rPr>
                  <a:t>Planck decided to assume that atoms could only vibrate at certain frequencies that were whole number integers of some base frequency.  Planck’s constant was first identified as part of Max Planck’s description of blackbody radiation.</a:t>
                </a:r>
              </a:p>
              <a:p>
                <a:r>
                  <a:rPr lang="en-AU" dirty="0">
                    <a:solidFill>
                      <a:schemeClr val="accent5">
                        <a:lumMod val="10000"/>
                      </a:schemeClr>
                    </a:solidFill>
                  </a:rPr>
                  <a:t>Later, it was shown by Einstein to be the constant of proportionality between the energy (E) and the frequency (f) of photons.</a:t>
                </a:r>
              </a:p>
              <a:p>
                <a:pPr marL="0" indent="0">
                  <a:buNone/>
                </a:pPr>
                <a14:m>
                  <m:oMathPara xmlns:m="http://schemas.openxmlformats.org/officeDocument/2006/math">
                    <m:oMathParaPr>
                      <m:jc m:val="centerGroup"/>
                    </m:oMathParaPr>
                    <m:oMath xmlns:m="http://schemas.openxmlformats.org/officeDocument/2006/math">
                      <m:r>
                        <a:rPr lang="en-AU" b="0" i="1" smtClean="0">
                          <a:solidFill>
                            <a:schemeClr val="accent5">
                              <a:lumMod val="10000"/>
                            </a:schemeClr>
                          </a:solidFill>
                          <a:latin typeface="Cambria Math" panose="02040503050406030204" pitchFamily="18" charset="0"/>
                        </a:rPr>
                        <m:t>𝐸</m:t>
                      </m:r>
                      <m:r>
                        <a:rPr lang="en-AU" b="0" i="1" smtClean="0">
                          <a:solidFill>
                            <a:schemeClr val="accent5">
                              <a:lumMod val="10000"/>
                            </a:schemeClr>
                          </a:solidFill>
                          <a:latin typeface="Cambria Math" panose="02040503050406030204" pitchFamily="18" charset="0"/>
                        </a:rPr>
                        <m:t>=</m:t>
                      </m:r>
                      <m:r>
                        <a:rPr lang="en-AU" b="0" i="1" smtClean="0">
                          <a:solidFill>
                            <a:schemeClr val="accent5">
                              <a:lumMod val="10000"/>
                            </a:schemeClr>
                          </a:solidFill>
                          <a:latin typeface="Cambria Math" panose="02040503050406030204" pitchFamily="18" charset="0"/>
                        </a:rPr>
                        <m:t>𝑛h𝑓</m:t>
                      </m:r>
                    </m:oMath>
                  </m:oMathPara>
                </a14:m>
                <a:endParaRPr lang="en-AU" dirty="0">
                  <a:solidFill>
                    <a:schemeClr val="accent5">
                      <a:lumMod val="10000"/>
                    </a:schemeClr>
                  </a:solidFill>
                </a:endParaRPr>
              </a:p>
              <a:p>
                <a:r>
                  <a:rPr lang="en-AU" dirty="0">
                    <a:solidFill>
                      <a:schemeClr val="accent5">
                        <a:lumMod val="10000"/>
                      </a:schemeClr>
                    </a:solidFill>
                  </a:rPr>
                  <a:t>Where n is a whole number integer. And h is Planck’s constant: </a:t>
                </a:r>
                <a14:m>
                  <m:oMath xmlns:m="http://schemas.openxmlformats.org/officeDocument/2006/math">
                    <m:r>
                      <a:rPr lang="en-AU" b="0" i="1" smtClean="0">
                        <a:solidFill>
                          <a:schemeClr val="accent5">
                            <a:lumMod val="10000"/>
                          </a:schemeClr>
                        </a:solidFill>
                        <a:latin typeface="Cambria Math" panose="02040503050406030204" pitchFamily="18" charset="0"/>
                      </a:rPr>
                      <m:t>h</m:t>
                    </m:r>
                    <m:r>
                      <a:rPr lang="en-AU" b="0" i="1" smtClean="0">
                        <a:solidFill>
                          <a:schemeClr val="accent5">
                            <a:lumMod val="10000"/>
                          </a:schemeClr>
                        </a:solidFill>
                        <a:latin typeface="Cambria Math" panose="02040503050406030204" pitchFamily="18" charset="0"/>
                      </a:rPr>
                      <m:t>=6.63×</m:t>
                    </m:r>
                    <m:sSup>
                      <m:sSupPr>
                        <m:ctrlPr>
                          <a:rPr lang="en-AU"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b="0" i="1" smtClean="0">
                            <a:solidFill>
                              <a:schemeClr val="accent5">
                                <a:lumMod val="10000"/>
                              </a:schemeClr>
                            </a:solidFill>
                            <a:latin typeface="Cambria Math" panose="02040503050406030204" pitchFamily="18" charset="0"/>
                            <a:ea typeface="Cambria Math" panose="02040503050406030204" pitchFamily="18" charset="0"/>
                          </a:rPr>
                          <m:t>−34</m:t>
                        </m:r>
                      </m:sup>
                    </m:sSup>
                    <m:r>
                      <a:rPr lang="en-AU" b="0" i="1" smtClean="0">
                        <a:solidFill>
                          <a:schemeClr val="accent5">
                            <a:lumMod val="10000"/>
                          </a:schemeClr>
                        </a:solidFill>
                        <a:latin typeface="Cambria Math" panose="02040503050406030204" pitchFamily="18" charset="0"/>
                        <a:ea typeface="Cambria Math" panose="02040503050406030204" pitchFamily="18" charset="0"/>
                      </a:rPr>
                      <m:t> </m:t>
                    </m:r>
                    <m:r>
                      <a:rPr lang="en-AU" b="0" i="1" smtClean="0">
                        <a:solidFill>
                          <a:schemeClr val="accent5">
                            <a:lumMod val="10000"/>
                          </a:schemeClr>
                        </a:solidFill>
                        <a:latin typeface="Cambria Math" panose="02040503050406030204" pitchFamily="18" charset="0"/>
                        <a:ea typeface="Cambria Math" panose="02040503050406030204" pitchFamily="18" charset="0"/>
                      </a:rPr>
                      <m:t>𝐽</m:t>
                    </m:r>
                    <m:r>
                      <a:rPr lang="en-AU" b="0" i="1" smtClean="0">
                        <a:solidFill>
                          <a:schemeClr val="accent5">
                            <a:lumMod val="10000"/>
                          </a:schemeClr>
                        </a:solidFill>
                        <a:latin typeface="Cambria Math" panose="02040503050406030204" pitchFamily="18" charset="0"/>
                        <a:ea typeface="Cambria Math" panose="02040503050406030204" pitchFamily="18" charset="0"/>
                      </a:rPr>
                      <m:t> </m:t>
                    </m:r>
                    <m:r>
                      <a:rPr lang="en-AU" b="0" i="1" smtClean="0">
                        <a:solidFill>
                          <a:schemeClr val="accent5">
                            <a:lumMod val="10000"/>
                          </a:schemeClr>
                        </a:solidFill>
                        <a:latin typeface="Cambria Math" panose="02040503050406030204" pitchFamily="18" charset="0"/>
                        <a:ea typeface="Cambria Math" panose="02040503050406030204" pitchFamily="18" charset="0"/>
                      </a:rPr>
                      <m:t>𝑠</m:t>
                    </m:r>
                  </m:oMath>
                </a14:m>
                <a:endParaRPr lang="en-AU" b="0" dirty="0">
                  <a:solidFill>
                    <a:schemeClr val="accent5">
                      <a:lumMod val="10000"/>
                    </a:schemeClr>
                  </a:solidFill>
                  <a:ea typeface="Cambria Math" panose="02040503050406030204" pitchFamily="18" charset="0"/>
                </a:endParaRPr>
              </a:p>
              <a:p>
                <a:r>
                  <a:rPr lang="en-AU" dirty="0">
                    <a:solidFill>
                      <a:schemeClr val="accent5">
                        <a:lumMod val="10000"/>
                      </a:schemeClr>
                    </a:solidFill>
                    <a:ea typeface="Cambria Math" panose="02040503050406030204" pitchFamily="18" charset="0"/>
                  </a:rPr>
                  <a:t>Planck’s constant is also given by:  </a:t>
                </a:r>
                <a14:m>
                  <m:oMath xmlns:m="http://schemas.openxmlformats.org/officeDocument/2006/math">
                    <m:r>
                      <a:rPr lang="en-AU" b="0" i="1" smtClean="0">
                        <a:solidFill>
                          <a:schemeClr val="accent5">
                            <a:lumMod val="10000"/>
                          </a:schemeClr>
                        </a:solidFill>
                        <a:latin typeface="Cambria Math" panose="02040503050406030204" pitchFamily="18" charset="0"/>
                        <a:ea typeface="Cambria Math" panose="02040503050406030204" pitchFamily="18" charset="0"/>
                      </a:rPr>
                      <m:t>h</m:t>
                    </m:r>
                    <m:r>
                      <a:rPr lang="en-AU" b="0" i="1" smtClean="0">
                        <a:solidFill>
                          <a:schemeClr val="accent5">
                            <a:lumMod val="10000"/>
                          </a:schemeClr>
                        </a:solidFill>
                        <a:latin typeface="Cambria Math" panose="02040503050406030204" pitchFamily="18" charset="0"/>
                        <a:ea typeface="Cambria Math" panose="02040503050406030204" pitchFamily="18" charset="0"/>
                      </a:rPr>
                      <m:t>=4.14×</m:t>
                    </m:r>
                    <m:sSup>
                      <m:sSupPr>
                        <m:ctrlPr>
                          <a:rPr lang="en-AU"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b="0" i="1" smtClean="0">
                            <a:solidFill>
                              <a:schemeClr val="accent5">
                                <a:lumMod val="10000"/>
                              </a:schemeClr>
                            </a:solidFill>
                            <a:latin typeface="Cambria Math" panose="02040503050406030204" pitchFamily="18" charset="0"/>
                            <a:ea typeface="Cambria Math" panose="02040503050406030204" pitchFamily="18" charset="0"/>
                          </a:rPr>
                          <m:t>−15</m:t>
                        </m:r>
                      </m:sup>
                    </m:sSup>
                    <m:r>
                      <a:rPr lang="en-AU" b="0" i="1" smtClean="0">
                        <a:solidFill>
                          <a:schemeClr val="accent5">
                            <a:lumMod val="10000"/>
                          </a:schemeClr>
                        </a:solidFill>
                        <a:latin typeface="Cambria Math" panose="02040503050406030204" pitchFamily="18" charset="0"/>
                        <a:ea typeface="Cambria Math" panose="02040503050406030204" pitchFamily="18" charset="0"/>
                      </a:rPr>
                      <m:t>𝑒𝑉</m:t>
                    </m:r>
                    <m:r>
                      <a:rPr lang="en-AU" b="0" i="1" smtClean="0">
                        <a:solidFill>
                          <a:schemeClr val="accent5">
                            <a:lumMod val="10000"/>
                          </a:schemeClr>
                        </a:solidFill>
                        <a:latin typeface="Cambria Math" panose="02040503050406030204" pitchFamily="18" charset="0"/>
                        <a:ea typeface="Cambria Math" panose="02040503050406030204" pitchFamily="18" charset="0"/>
                      </a:rPr>
                      <m:t> </m:t>
                    </m:r>
                    <m:r>
                      <a:rPr lang="en-AU" b="0" i="1" smtClean="0">
                        <a:solidFill>
                          <a:schemeClr val="accent5">
                            <a:lumMod val="10000"/>
                          </a:schemeClr>
                        </a:solidFill>
                        <a:latin typeface="Cambria Math" panose="02040503050406030204" pitchFamily="18" charset="0"/>
                        <a:ea typeface="Cambria Math" panose="02040503050406030204" pitchFamily="18" charset="0"/>
                      </a:rPr>
                      <m:t>𝑠</m:t>
                    </m:r>
                  </m:oMath>
                </a14:m>
                <a:endParaRPr lang="en-AU" b="0" dirty="0">
                  <a:solidFill>
                    <a:schemeClr val="accent5">
                      <a:lumMod val="10000"/>
                    </a:schemeClr>
                  </a:solidFill>
                  <a:ea typeface="Cambria Math" panose="02040503050406030204" pitchFamily="18" charset="0"/>
                </a:endParaRPr>
              </a:p>
              <a:p>
                <a:r>
                  <a:rPr lang="en-AU" b="0" dirty="0">
                    <a:solidFill>
                      <a:schemeClr val="accent5">
                        <a:lumMod val="10000"/>
                      </a:schemeClr>
                    </a:solidFill>
                    <a:ea typeface="Cambria Math" panose="02040503050406030204" pitchFamily="18" charset="0"/>
                  </a:rPr>
                  <a:t>Remember you can convert between J to eV using </a:t>
                </a:r>
              </a:p>
              <a:p>
                <a:pPr marL="0" indent="0">
                  <a:buNone/>
                </a:pPr>
                <a14:m>
                  <m:oMathPara xmlns:m="http://schemas.openxmlformats.org/officeDocument/2006/math">
                    <m:oMathParaPr>
                      <m:jc m:val="centerGroup"/>
                    </m:oMathParaPr>
                    <m:oMath xmlns:m="http://schemas.openxmlformats.org/officeDocument/2006/math">
                      <m:r>
                        <a:rPr lang="en-AU" b="0" i="1" smtClean="0">
                          <a:solidFill>
                            <a:schemeClr val="accent5">
                              <a:lumMod val="10000"/>
                            </a:schemeClr>
                          </a:solidFill>
                          <a:latin typeface="Cambria Math" panose="02040503050406030204" pitchFamily="18" charset="0"/>
                          <a:ea typeface="Cambria Math" panose="02040503050406030204" pitchFamily="18" charset="0"/>
                        </a:rPr>
                        <m:t>1 </m:t>
                      </m:r>
                      <m:r>
                        <a:rPr lang="en-AU" b="0" i="1" smtClean="0">
                          <a:solidFill>
                            <a:schemeClr val="accent5">
                              <a:lumMod val="10000"/>
                            </a:schemeClr>
                          </a:solidFill>
                          <a:latin typeface="Cambria Math" panose="02040503050406030204" pitchFamily="18" charset="0"/>
                          <a:ea typeface="Cambria Math" panose="02040503050406030204" pitchFamily="18" charset="0"/>
                        </a:rPr>
                        <m:t>𝑒𝑉</m:t>
                      </m:r>
                      <m:r>
                        <a:rPr lang="en-AU" b="0" i="1" smtClean="0">
                          <a:solidFill>
                            <a:schemeClr val="accent5">
                              <a:lumMod val="10000"/>
                            </a:schemeClr>
                          </a:solidFill>
                          <a:latin typeface="Cambria Math" panose="02040503050406030204" pitchFamily="18" charset="0"/>
                          <a:ea typeface="Cambria Math" panose="02040503050406030204" pitchFamily="18" charset="0"/>
                        </a:rPr>
                        <m:t>=1.60×</m:t>
                      </m:r>
                      <m:sSup>
                        <m:sSupPr>
                          <m:ctrlPr>
                            <a:rPr lang="en-AU"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b="0" i="1" smtClean="0">
                              <a:solidFill>
                                <a:schemeClr val="accent5">
                                  <a:lumMod val="10000"/>
                                </a:schemeClr>
                              </a:solidFill>
                              <a:latin typeface="Cambria Math" panose="02040503050406030204" pitchFamily="18" charset="0"/>
                              <a:ea typeface="Cambria Math" panose="02040503050406030204" pitchFamily="18" charset="0"/>
                            </a:rPr>
                            <m:t>−19</m:t>
                          </m:r>
                        </m:sup>
                      </m:sSup>
                      <m:r>
                        <a:rPr lang="en-AU" b="0" i="1" smtClean="0">
                          <a:solidFill>
                            <a:schemeClr val="accent5">
                              <a:lumMod val="10000"/>
                            </a:schemeClr>
                          </a:solidFill>
                          <a:latin typeface="Cambria Math" panose="02040503050406030204" pitchFamily="18" charset="0"/>
                          <a:ea typeface="Cambria Math" panose="02040503050406030204" pitchFamily="18" charset="0"/>
                        </a:rPr>
                        <m:t> </m:t>
                      </m:r>
                      <m:r>
                        <a:rPr lang="en-AU" b="0" i="1" smtClean="0">
                          <a:solidFill>
                            <a:schemeClr val="accent5">
                              <a:lumMod val="10000"/>
                            </a:schemeClr>
                          </a:solidFill>
                          <a:latin typeface="Cambria Math" panose="02040503050406030204" pitchFamily="18" charset="0"/>
                          <a:ea typeface="Cambria Math" panose="02040503050406030204" pitchFamily="18" charset="0"/>
                        </a:rPr>
                        <m:t>𝐽</m:t>
                      </m:r>
                    </m:oMath>
                  </m:oMathPara>
                </a14:m>
                <a:endParaRPr lang="en-AU" b="0" dirty="0">
                  <a:solidFill>
                    <a:schemeClr val="accent5">
                      <a:lumMod val="10000"/>
                    </a:schemeClr>
                  </a:solidFill>
                  <a:ea typeface="Cambria Math" panose="02040503050406030204" pitchFamily="18" charset="0"/>
                </a:endParaRPr>
              </a:p>
              <a:p>
                <a:pPr marL="0" indent="0">
                  <a:buNone/>
                </a:pPr>
                <a:endParaRPr lang="en-AU" dirty="0">
                  <a:solidFill>
                    <a:schemeClr val="accent5">
                      <a:lumMod val="10000"/>
                    </a:schemeClr>
                  </a:solidFill>
                </a:endParaRPr>
              </a:p>
              <a:p>
                <a:pPr marL="0" indent="0">
                  <a:buNone/>
                </a:pPr>
                <a:endParaRPr lang="en-AU" dirty="0">
                  <a:solidFill>
                    <a:schemeClr val="accent5">
                      <a:lumMod val="10000"/>
                    </a:schemeClr>
                  </a:solidFill>
                </a:endParaRPr>
              </a:p>
            </p:txBody>
          </p:sp>
        </mc:Choice>
        <mc:Fallback xmlns="">
          <p:sp>
            <p:nvSpPr>
              <p:cNvPr id="3" name="Content Placeholder 2">
                <a:extLst>
                  <a:ext uri="{FF2B5EF4-FFF2-40B4-BE49-F238E27FC236}">
                    <a16:creationId xmlns:a16="http://schemas.microsoft.com/office/drawing/2014/main" id="{24EC4947-81E1-4AC8-9B1F-F2217336ACB7}"/>
                  </a:ext>
                </a:extLst>
              </p:cNvPr>
              <p:cNvSpPr>
                <a:spLocks noGrp="1" noRot="1" noChangeAspect="1" noMove="1" noResize="1" noEditPoints="1" noAdjustHandles="1" noChangeArrowheads="1" noChangeShapeType="1" noTextEdit="1"/>
              </p:cNvSpPr>
              <p:nvPr>
                <p:ph idx="1"/>
              </p:nvPr>
            </p:nvSpPr>
            <p:spPr>
              <a:xfrm>
                <a:off x="982133" y="1149291"/>
                <a:ext cx="7704667" cy="5461233"/>
              </a:xfrm>
              <a:blipFill>
                <a:blip r:embed="rId2"/>
                <a:stretch>
                  <a:fillRect l="-1741" t="-9385" r="-1661"/>
                </a:stretch>
              </a:blipFill>
            </p:spPr>
            <p:txBody>
              <a:bodyPr/>
              <a:lstStyle/>
              <a:p>
                <a:r>
                  <a:rPr lang="en-AU">
                    <a:noFill/>
                  </a:rPr>
                  <a:t> </a:t>
                </a:r>
              </a:p>
            </p:txBody>
          </p:sp>
        </mc:Fallback>
      </mc:AlternateContent>
    </p:spTree>
    <p:extLst>
      <p:ext uri="{BB962C8B-B14F-4D97-AF65-F5344CB8AC3E}">
        <p14:creationId xmlns:p14="http://schemas.microsoft.com/office/powerpoint/2010/main" val="2165221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5D440A9-D8D8-4750-9FAF-8012EB010341}"/>
                  </a:ext>
                </a:extLst>
              </p:cNvPr>
              <p:cNvSpPr>
                <a:spLocks noGrp="1"/>
              </p:cNvSpPr>
              <p:nvPr>
                <p:ph idx="1"/>
              </p:nvPr>
            </p:nvSpPr>
            <p:spPr>
              <a:xfrm>
                <a:off x="897622" y="620785"/>
                <a:ext cx="8246378" cy="1518407"/>
              </a:xfrm>
            </p:spPr>
            <p:txBody>
              <a:bodyPr/>
              <a:lstStyle/>
              <a:p>
                <a:r>
                  <a:rPr lang="en-AU" dirty="0">
                    <a:solidFill>
                      <a:schemeClr val="accent5">
                        <a:lumMod val="10000"/>
                      </a:schemeClr>
                    </a:solidFill>
                  </a:rPr>
                  <a:t>Question:  Orange light has a wavelength of </a:t>
                </a:r>
                <a14:m>
                  <m:oMath xmlns:m="http://schemas.openxmlformats.org/officeDocument/2006/math">
                    <m:r>
                      <a:rPr lang="en-AU" b="0" i="1" smtClean="0">
                        <a:solidFill>
                          <a:schemeClr val="accent5">
                            <a:lumMod val="10000"/>
                          </a:schemeClr>
                        </a:solidFill>
                        <a:latin typeface="Cambria Math" panose="02040503050406030204" pitchFamily="18" charset="0"/>
                      </a:rPr>
                      <m:t>600 </m:t>
                    </m:r>
                    <m:r>
                      <a:rPr lang="en-AU" b="0" i="1" smtClean="0">
                        <a:solidFill>
                          <a:schemeClr val="accent5">
                            <a:lumMod val="10000"/>
                          </a:schemeClr>
                        </a:solidFill>
                        <a:latin typeface="Cambria Math" panose="02040503050406030204" pitchFamily="18" charset="0"/>
                      </a:rPr>
                      <m:t>𝑛𝑚</m:t>
                    </m:r>
                  </m:oMath>
                </a14:m>
                <a:r>
                  <a:rPr lang="en-AU" dirty="0">
                    <a:solidFill>
                      <a:schemeClr val="accent5">
                        <a:lumMod val="10000"/>
                      </a:schemeClr>
                    </a:solidFill>
                  </a:rPr>
                  <a:t>.  Calculate the frequency of orange light if it has a velocity of </a:t>
                </a:r>
                <a14:m>
                  <m:oMath xmlns:m="http://schemas.openxmlformats.org/officeDocument/2006/math">
                    <m:r>
                      <a:rPr lang="en-AU" b="0" i="1" smtClean="0">
                        <a:solidFill>
                          <a:schemeClr val="accent5">
                            <a:lumMod val="10000"/>
                          </a:schemeClr>
                        </a:solidFill>
                        <a:latin typeface="Cambria Math" panose="02040503050406030204" pitchFamily="18" charset="0"/>
                      </a:rPr>
                      <m:t>3.00</m:t>
                    </m:r>
                    <m:r>
                      <a:rPr lang="en-AU" b="0" i="1" smtClean="0">
                        <a:solidFill>
                          <a:schemeClr val="accent5">
                            <a:lumMod val="10000"/>
                          </a:schemeClr>
                        </a:solidFill>
                        <a:latin typeface="Cambria Math" panose="02040503050406030204" pitchFamily="18" charset="0"/>
                        <a:ea typeface="Cambria Math" panose="02040503050406030204" pitchFamily="18" charset="0"/>
                      </a:rPr>
                      <m:t>×</m:t>
                    </m:r>
                    <m:sSup>
                      <m:sSupPr>
                        <m:ctrlPr>
                          <a:rPr lang="en-AU"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b="0" i="1" smtClean="0">
                            <a:solidFill>
                              <a:schemeClr val="accent5">
                                <a:lumMod val="10000"/>
                              </a:schemeClr>
                            </a:solidFill>
                            <a:latin typeface="Cambria Math" panose="02040503050406030204" pitchFamily="18" charset="0"/>
                            <a:ea typeface="Cambria Math" panose="02040503050406030204" pitchFamily="18" charset="0"/>
                          </a:rPr>
                          <m:t>8</m:t>
                        </m:r>
                      </m:sup>
                    </m:sSup>
                    <m:r>
                      <a:rPr lang="en-AU" b="0" i="1" smtClean="0">
                        <a:solidFill>
                          <a:schemeClr val="accent5">
                            <a:lumMod val="10000"/>
                          </a:schemeClr>
                        </a:solidFill>
                        <a:latin typeface="Cambria Math" panose="02040503050406030204" pitchFamily="18" charset="0"/>
                        <a:ea typeface="Cambria Math" panose="02040503050406030204" pitchFamily="18" charset="0"/>
                      </a:rPr>
                      <m:t> </m:t>
                    </m:r>
                    <m:r>
                      <a:rPr lang="en-AU" b="0" i="1" smtClean="0">
                        <a:solidFill>
                          <a:schemeClr val="accent5">
                            <a:lumMod val="10000"/>
                          </a:schemeClr>
                        </a:solidFill>
                        <a:latin typeface="Cambria Math" panose="02040503050406030204" pitchFamily="18" charset="0"/>
                        <a:ea typeface="Cambria Math" panose="02040503050406030204" pitchFamily="18" charset="0"/>
                      </a:rPr>
                      <m:t>𝑚</m:t>
                    </m:r>
                    <m:r>
                      <a:rPr lang="en-AU" b="0" i="1" smtClean="0">
                        <a:solidFill>
                          <a:schemeClr val="accent5">
                            <a:lumMod val="10000"/>
                          </a:schemeClr>
                        </a:solidFill>
                        <a:latin typeface="Cambria Math" panose="02040503050406030204" pitchFamily="18" charset="0"/>
                        <a:ea typeface="Cambria Math" panose="02040503050406030204" pitchFamily="18" charset="0"/>
                      </a:rPr>
                      <m:t> </m:t>
                    </m:r>
                    <m:sSup>
                      <m:sSupPr>
                        <m:ctrlPr>
                          <a:rPr lang="en-AU"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b="0" i="1" smtClean="0">
                            <a:solidFill>
                              <a:schemeClr val="accent5">
                                <a:lumMod val="10000"/>
                              </a:schemeClr>
                            </a:solidFill>
                            <a:latin typeface="Cambria Math" panose="02040503050406030204" pitchFamily="18" charset="0"/>
                            <a:ea typeface="Cambria Math" panose="02040503050406030204" pitchFamily="18" charset="0"/>
                          </a:rPr>
                          <m:t>𝑠</m:t>
                        </m:r>
                      </m:e>
                      <m:sup>
                        <m:r>
                          <a:rPr lang="en-AU" b="0" i="1" smtClean="0">
                            <a:solidFill>
                              <a:schemeClr val="accent5">
                                <a:lumMod val="10000"/>
                              </a:schemeClr>
                            </a:solidFill>
                            <a:latin typeface="Cambria Math" panose="02040503050406030204" pitchFamily="18" charset="0"/>
                            <a:ea typeface="Cambria Math" panose="02040503050406030204" pitchFamily="18" charset="0"/>
                          </a:rPr>
                          <m:t>−1</m:t>
                        </m:r>
                      </m:sup>
                    </m:sSup>
                  </m:oMath>
                </a14:m>
                <a:r>
                  <a:rPr lang="en-AU" dirty="0">
                    <a:solidFill>
                      <a:schemeClr val="accent5">
                        <a:lumMod val="10000"/>
                      </a:schemeClr>
                    </a:solidFill>
                  </a:rPr>
                  <a:t>.</a:t>
                </a:r>
              </a:p>
            </p:txBody>
          </p:sp>
        </mc:Choice>
        <mc:Fallback xmlns="">
          <p:sp>
            <p:nvSpPr>
              <p:cNvPr id="3" name="Content Placeholder 2">
                <a:extLst>
                  <a:ext uri="{FF2B5EF4-FFF2-40B4-BE49-F238E27FC236}">
                    <a16:creationId xmlns:a16="http://schemas.microsoft.com/office/drawing/2014/main" id="{05D440A9-D8D8-4750-9FAF-8012EB010341}"/>
                  </a:ext>
                </a:extLst>
              </p:cNvPr>
              <p:cNvSpPr>
                <a:spLocks noGrp="1" noRot="1" noChangeAspect="1" noMove="1" noResize="1" noEditPoints="1" noAdjustHandles="1" noChangeArrowheads="1" noChangeShapeType="1" noTextEdit="1"/>
              </p:cNvSpPr>
              <p:nvPr>
                <p:ph idx="1"/>
              </p:nvPr>
            </p:nvSpPr>
            <p:spPr>
              <a:xfrm>
                <a:off x="897622" y="620785"/>
                <a:ext cx="8246378" cy="1518407"/>
              </a:xfrm>
              <a:blipFill>
                <a:blip r:embed="rId2"/>
                <a:stretch>
                  <a:fillRect l="-1848" t="-1606"/>
                </a:stretch>
              </a:blipFill>
            </p:spPr>
            <p:txBody>
              <a:bodyPr/>
              <a:lstStyle/>
              <a:p>
                <a:r>
                  <a:rPr lang="en-AU">
                    <a:noFill/>
                  </a:rPr>
                  <a:t> </a:t>
                </a:r>
              </a:p>
            </p:txBody>
          </p:sp>
        </mc:Fallback>
      </mc:AlternateContent>
      <p:sp>
        <p:nvSpPr>
          <p:cNvPr id="4" name="TextBox 3">
            <a:extLst>
              <a:ext uri="{FF2B5EF4-FFF2-40B4-BE49-F238E27FC236}">
                <a16:creationId xmlns:a16="http://schemas.microsoft.com/office/drawing/2014/main" id="{43DCB084-B25D-4A31-A94F-5760A409D7CA}"/>
              </a:ext>
            </a:extLst>
          </p:cNvPr>
          <p:cNvSpPr txBox="1"/>
          <p:nvPr/>
        </p:nvSpPr>
        <p:spPr>
          <a:xfrm>
            <a:off x="4114800" y="2973897"/>
            <a:ext cx="65" cy="276999"/>
          </a:xfrm>
          <a:prstGeom prst="rect">
            <a:avLst/>
          </a:prstGeom>
          <a:noFill/>
        </p:spPr>
        <p:txBody>
          <a:bodyPr wrap="none" lIns="0" tIns="0" rIns="0" bIns="0" rtlCol="0">
            <a:spAutoFit/>
          </a:bodyPr>
          <a:lstStyle/>
          <a:p>
            <a:endParaRPr lang="en-AU"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140D6C4-062C-4FBD-B4D3-3E5123DD2D48}"/>
                  </a:ext>
                </a:extLst>
              </p:cNvPr>
              <p:cNvSpPr txBox="1"/>
              <p:nvPr/>
            </p:nvSpPr>
            <p:spPr>
              <a:xfrm>
                <a:off x="1199626" y="2164360"/>
                <a:ext cx="7357145" cy="1572097"/>
              </a:xfrm>
              <a:prstGeom prst="rect">
                <a:avLst/>
              </a:prstGeom>
              <a:noFill/>
            </p:spPr>
            <p:txBody>
              <a:bodyPr wrap="square" rtlCol="0">
                <a:spAutoFit/>
              </a:bodyPr>
              <a:lstStyle/>
              <a:p>
                <a:r>
                  <a:rPr lang="en-AU" sz="2400" dirty="0">
                    <a:solidFill>
                      <a:schemeClr val="accent5">
                        <a:lumMod val="10000"/>
                      </a:schemeClr>
                    </a:solidFill>
                  </a:rPr>
                  <a:t>Answer:    </a:t>
                </a:r>
                <a14:m>
                  <m:oMath xmlns:m="http://schemas.openxmlformats.org/officeDocument/2006/math">
                    <m:r>
                      <a:rPr lang="en-AU" sz="2400" i="1" dirty="0" smtClean="0">
                        <a:solidFill>
                          <a:schemeClr val="accent5">
                            <a:lumMod val="10000"/>
                          </a:schemeClr>
                        </a:solidFill>
                        <a:latin typeface="Cambria Math" panose="02040503050406030204" pitchFamily="18" charset="0"/>
                      </a:rPr>
                      <m:t>𝑐</m:t>
                    </m:r>
                    <m:r>
                      <a:rPr lang="en-AU" sz="2400" i="1" dirty="0" smtClean="0">
                        <a:solidFill>
                          <a:schemeClr val="accent5">
                            <a:lumMod val="10000"/>
                          </a:schemeClr>
                        </a:solidFill>
                        <a:latin typeface="Cambria Math" panose="02040503050406030204" pitchFamily="18" charset="0"/>
                      </a:rPr>
                      <m:t>=</m:t>
                    </m:r>
                    <m:r>
                      <a:rPr lang="en-AU" sz="2400" i="1" dirty="0" smtClean="0">
                        <a:solidFill>
                          <a:schemeClr val="accent5">
                            <a:lumMod val="10000"/>
                          </a:schemeClr>
                        </a:solidFill>
                        <a:latin typeface="Cambria Math" panose="02040503050406030204" pitchFamily="18" charset="0"/>
                      </a:rPr>
                      <m:t>𝑓</m:t>
                    </m:r>
                    <m:r>
                      <a:rPr lang="el-GR" sz="2400" i="1" dirty="0" smtClean="0">
                        <a:solidFill>
                          <a:schemeClr val="accent5">
                            <a:lumMod val="10000"/>
                          </a:schemeClr>
                        </a:solidFill>
                        <a:latin typeface="Cambria Math" panose="02040503050406030204" pitchFamily="18" charset="0"/>
                      </a:rPr>
                      <m:t>𝜆</m:t>
                    </m:r>
                  </m:oMath>
                </a14:m>
                <a:endParaRPr lang="en-AU" sz="2400" dirty="0">
                  <a:solidFill>
                    <a:schemeClr val="accent5">
                      <a:lumMod val="10000"/>
                    </a:schemeClr>
                  </a:solidFill>
                </a:endParaRPr>
              </a:p>
              <a:p>
                <a:pPr/>
                <a14:m>
                  <m:oMathPara xmlns:m="http://schemas.openxmlformats.org/officeDocument/2006/math">
                    <m:oMathParaPr>
                      <m:jc m:val="centerGroup"/>
                    </m:oMathParaPr>
                    <m:oMath xmlns:m="http://schemas.openxmlformats.org/officeDocument/2006/math">
                      <m:r>
                        <a:rPr lang="en-AU" sz="2400" b="0" i="1" smtClean="0">
                          <a:solidFill>
                            <a:schemeClr val="accent5">
                              <a:lumMod val="10000"/>
                            </a:schemeClr>
                          </a:solidFill>
                          <a:latin typeface="Cambria Math" panose="02040503050406030204" pitchFamily="18" charset="0"/>
                        </a:rPr>
                        <m:t>𝑓</m:t>
                      </m:r>
                      <m:r>
                        <a:rPr lang="en-AU" sz="2400" b="0" i="1" smtClean="0">
                          <a:solidFill>
                            <a:schemeClr val="accent5">
                              <a:lumMod val="10000"/>
                            </a:schemeClr>
                          </a:solidFill>
                          <a:latin typeface="Cambria Math" panose="02040503050406030204" pitchFamily="18" charset="0"/>
                        </a:rPr>
                        <m:t>=</m:t>
                      </m:r>
                      <m:f>
                        <m:fPr>
                          <m:ctrlPr>
                            <a:rPr lang="en-AU" sz="2400" b="0" i="1" smtClean="0">
                              <a:solidFill>
                                <a:schemeClr val="accent5">
                                  <a:lumMod val="10000"/>
                                </a:schemeClr>
                              </a:solidFill>
                              <a:latin typeface="Cambria Math" panose="02040503050406030204" pitchFamily="18" charset="0"/>
                            </a:rPr>
                          </m:ctrlPr>
                        </m:fPr>
                        <m:num>
                          <m:r>
                            <a:rPr lang="en-AU" sz="2400" b="0" i="1" smtClean="0">
                              <a:solidFill>
                                <a:schemeClr val="accent5">
                                  <a:lumMod val="10000"/>
                                </a:schemeClr>
                              </a:solidFill>
                              <a:latin typeface="Cambria Math" panose="02040503050406030204" pitchFamily="18" charset="0"/>
                            </a:rPr>
                            <m:t>𝑐</m:t>
                          </m:r>
                        </m:num>
                        <m:den>
                          <m:r>
                            <m:rPr>
                              <m:sty m:val="p"/>
                            </m:rPr>
                            <a:rPr lang="el-GR" sz="2400" b="0" i="1" smtClean="0">
                              <a:solidFill>
                                <a:schemeClr val="accent5">
                                  <a:lumMod val="10000"/>
                                </a:schemeClr>
                              </a:solidFill>
                              <a:latin typeface="Cambria Math" panose="02040503050406030204" pitchFamily="18" charset="0"/>
                            </a:rPr>
                            <m:t>λ</m:t>
                          </m:r>
                        </m:den>
                      </m:f>
                      <m:r>
                        <a:rPr lang="en-AU" sz="2400" b="0" i="1" smtClean="0">
                          <a:solidFill>
                            <a:schemeClr val="accent5">
                              <a:lumMod val="10000"/>
                            </a:schemeClr>
                          </a:solidFill>
                          <a:latin typeface="Cambria Math" panose="02040503050406030204" pitchFamily="18" charset="0"/>
                        </a:rPr>
                        <m:t>=</m:t>
                      </m:r>
                      <m:f>
                        <m:f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fPr>
                        <m:num>
                          <m:r>
                            <a:rPr lang="en-AU" sz="2400" b="0" i="1" smtClean="0">
                              <a:solidFill>
                                <a:schemeClr val="accent5">
                                  <a:lumMod val="10000"/>
                                </a:schemeClr>
                              </a:solidFill>
                              <a:latin typeface="Cambria Math" panose="02040503050406030204" pitchFamily="18" charset="0"/>
                            </a:rPr>
                            <m:t>3.00</m:t>
                          </m:r>
                          <m:r>
                            <a:rPr lang="en-AU" sz="2400" b="0" i="1" smtClean="0">
                              <a:solidFill>
                                <a:schemeClr val="accent5">
                                  <a:lumMod val="10000"/>
                                </a:schemeClr>
                              </a:solidFill>
                              <a:latin typeface="Cambria Math" panose="02040503050406030204" pitchFamily="18" charset="0"/>
                              <a:ea typeface="Cambria Math" panose="02040503050406030204" pitchFamily="18" charset="0"/>
                            </a:rPr>
                            <m:t>×</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8</m:t>
                              </m:r>
                            </m:sup>
                          </m:sSup>
                        </m:num>
                        <m:den>
                          <m:r>
                            <a:rPr lang="en-AU" sz="2400" b="0" i="1" smtClean="0">
                              <a:solidFill>
                                <a:schemeClr val="accent5">
                                  <a:lumMod val="10000"/>
                                </a:schemeClr>
                              </a:solidFill>
                              <a:latin typeface="Cambria Math" panose="02040503050406030204" pitchFamily="18" charset="0"/>
                              <a:ea typeface="Cambria Math" panose="02040503050406030204" pitchFamily="18" charset="0"/>
                            </a:rPr>
                            <m:t>600×</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−9</m:t>
                              </m:r>
                            </m:sup>
                          </m:sSup>
                        </m:den>
                      </m:f>
                      <m:r>
                        <a:rPr lang="en-AU" sz="2400" b="0" i="1" smtClean="0">
                          <a:solidFill>
                            <a:schemeClr val="accent5">
                              <a:lumMod val="10000"/>
                            </a:schemeClr>
                          </a:solidFill>
                          <a:latin typeface="Cambria Math" panose="02040503050406030204" pitchFamily="18" charset="0"/>
                          <a:ea typeface="Cambria Math" panose="02040503050406030204" pitchFamily="18" charset="0"/>
                        </a:rPr>
                        <m:t> =5.00×</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14</m:t>
                          </m:r>
                        </m:sup>
                      </m:sSup>
                      <m:r>
                        <a:rPr lang="en-AU" sz="2400" b="0" i="1" smtClean="0">
                          <a:solidFill>
                            <a:schemeClr val="accent5">
                              <a:lumMod val="10000"/>
                            </a:schemeClr>
                          </a:solidFill>
                          <a:latin typeface="Cambria Math" panose="02040503050406030204" pitchFamily="18" charset="0"/>
                          <a:ea typeface="Cambria Math" panose="02040503050406030204" pitchFamily="18" charset="0"/>
                        </a:rPr>
                        <m:t>  </m:t>
                      </m:r>
                      <m:r>
                        <a:rPr lang="en-AU" sz="2400" b="0" i="1" smtClean="0">
                          <a:solidFill>
                            <a:schemeClr val="accent5">
                              <a:lumMod val="10000"/>
                            </a:schemeClr>
                          </a:solidFill>
                          <a:latin typeface="Cambria Math" panose="02040503050406030204" pitchFamily="18" charset="0"/>
                          <a:ea typeface="Cambria Math" panose="02040503050406030204" pitchFamily="18" charset="0"/>
                        </a:rPr>
                        <m:t>𝐻𝑧</m:t>
                      </m:r>
                    </m:oMath>
                  </m:oMathPara>
                </a14:m>
                <a:endParaRPr lang="en-AU" sz="2400" dirty="0">
                  <a:solidFill>
                    <a:schemeClr val="accent5">
                      <a:lumMod val="10000"/>
                    </a:schemeClr>
                  </a:solidFill>
                </a:endParaRPr>
              </a:p>
              <a:p>
                <a:endParaRPr lang="en-AU" sz="2400" dirty="0">
                  <a:solidFill>
                    <a:schemeClr val="accent5">
                      <a:lumMod val="10000"/>
                    </a:schemeClr>
                  </a:solidFill>
                </a:endParaRPr>
              </a:p>
            </p:txBody>
          </p:sp>
        </mc:Choice>
        <mc:Fallback xmlns="">
          <p:sp>
            <p:nvSpPr>
              <p:cNvPr id="5" name="TextBox 4">
                <a:extLst>
                  <a:ext uri="{FF2B5EF4-FFF2-40B4-BE49-F238E27FC236}">
                    <a16:creationId xmlns:a16="http://schemas.microsoft.com/office/drawing/2014/main" id="{E140D6C4-062C-4FBD-B4D3-3E5123DD2D48}"/>
                  </a:ext>
                </a:extLst>
              </p:cNvPr>
              <p:cNvSpPr txBox="1">
                <a:spLocks noRot="1" noChangeAspect="1" noMove="1" noResize="1" noEditPoints="1" noAdjustHandles="1" noChangeArrowheads="1" noChangeShapeType="1" noTextEdit="1"/>
              </p:cNvSpPr>
              <p:nvPr/>
            </p:nvSpPr>
            <p:spPr>
              <a:xfrm>
                <a:off x="1199626" y="2164360"/>
                <a:ext cx="7357145" cy="1572097"/>
              </a:xfrm>
              <a:prstGeom prst="rect">
                <a:avLst/>
              </a:prstGeom>
              <a:blipFill>
                <a:blip r:embed="rId3"/>
                <a:stretch>
                  <a:fillRect l="-1326" t="-3101"/>
                </a:stretch>
              </a:blipFill>
            </p:spPr>
            <p:txBody>
              <a:bodyPr/>
              <a:lstStyle/>
              <a:p>
                <a:r>
                  <a:rPr lang="en-AU">
                    <a:noFill/>
                  </a:rPr>
                  <a:t> </a:t>
                </a:r>
              </a:p>
            </p:txBody>
          </p:sp>
        </mc:Fallback>
      </mc:AlternateContent>
      <p:sp>
        <p:nvSpPr>
          <p:cNvPr id="6" name="Content Placeholder 2">
            <a:extLst>
              <a:ext uri="{FF2B5EF4-FFF2-40B4-BE49-F238E27FC236}">
                <a16:creationId xmlns:a16="http://schemas.microsoft.com/office/drawing/2014/main" id="{249A540E-BE97-46BE-8A62-6A92600B2E19}"/>
              </a:ext>
            </a:extLst>
          </p:cNvPr>
          <p:cNvSpPr txBox="1">
            <a:spLocks/>
          </p:cNvSpPr>
          <p:nvPr/>
        </p:nvSpPr>
        <p:spPr>
          <a:xfrm>
            <a:off x="965355" y="3254929"/>
            <a:ext cx="7704667" cy="2139192"/>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r>
              <a:rPr lang="en-AU" dirty="0">
                <a:solidFill>
                  <a:schemeClr val="accent5">
                    <a:lumMod val="10000"/>
                  </a:schemeClr>
                </a:solidFill>
              </a:rPr>
              <a:t>Question:  </a:t>
            </a:r>
            <a:r>
              <a:rPr lang="en-GB" dirty="0">
                <a:solidFill>
                  <a:schemeClr val="accent5">
                    <a:lumMod val="10000"/>
                  </a:schemeClr>
                </a:solidFill>
              </a:rPr>
              <a:t>A radio station broadcasts at a frequency of 774 MHz. How much energy would be contained in a quantum (photon) of this radiation?</a:t>
            </a:r>
            <a:endParaRPr lang="en-AU" dirty="0">
              <a:solidFill>
                <a:schemeClr val="accent5">
                  <a:lumMod val="10000"/>
                </a:schemeClr>
              </a:solidFill>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DD28D96-9355-4E58-A3CB-271301A52327}"/>
                  </a:ext>
                </a:extLst>
              </p:cNvPr>
              <p:cNvSpPr txBox="1"/>
              <p:nvPr/>
            </p:nvSpPr>
            <p:spPr>
              <a:xfrm>
                <a:off x="1342239" y="5142451"/>
                <a:ext cx="7533314" cy="465833"/>
              </a:xfrm>
              <a:prstGeom prst="rect">
                <a:avLst/>
              </a:prstGeom>
              <a:noFill/>
            </p:spPr>
            <p:txBody>
              <a:bodyPr wrap="square" rtlCol="0">
                <a:spAutoFit/>
              </a:bodyPr>
              <a:lstStyle/>
              <a:p>
                <a:r>
                  <a:rPr lang="en-AU" sz="2400" dirty="0">
                    <a:solidFill>
                      <a:schemeClr val="accent5">
                        <a:lumMod val="10000"/>
                      </a:schemeClr>
                    </a:solidFill>
                  </a:rPr>
                  <a:t>Answer:  </a:t>
                </a:r>
                <a14:m>
                  <m:oMath xmlns:m="http://schemas.openxmlformats.org/officeDocument/2006/math">
                    <m:r>
                      <a:rPr lang="en-AU" sz="2400" b="0" i="1" smtClean="0">
                        <a:solidFill>
                          <a:schemeClr val="accent5">
                            <a:lumMod val="10000"/>
                          </a:schemeClr>
                        </a:solidFill>
                        <a:latin typeface="Cambria Math" panose="02040503050406030204" pitchFamily="18" charset="0"/>
                      </a:rPr>
                      <m:t>5.13</m:t>
                    </m:r>
                    <m:r>
                      <a:rPr lang="en-AU" sz="2400" b="0" i="1" smtClean="0">
                        <a:solidFill>
                          <a:schemeClr val="accent5">
                            <a:lumMod val="10000"/>
                          </a:schemeClr>
                        </a:solidFill>
                        <a:latin typeface="Cambria Math" panose="02040503050406030204" pitchFamily="18" charset="0"/>
                        <a:ea typeface="Cambria Math" panose="02040503050406030204" pitchFamily="18" charset="0"/>
                      </a:rPr>
                      <m:t>×</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−25</m:t>
                        </m:r>
                      </m:sup>
                    </m:sSup>
                    <m:r>
                      <a:rPr lang="en-AU" sz="2400" b="0" i="1" smtClean="0">
                        <a:solidFill>
                          <a:schemeClr val="accent5">
                            <a:lumMod val="10000"/>
                          </a:schemeClr>
                        </a:solidFill>
                        <a:latin typeface="Cambria Math" panose="02040503050406030204" pitchFamily="18" charset="0"/>
                        <a:ea typeface="Cambria Math" panose="02040503050406030204" pitchFamily="18" charset="0"/>
                      </a:rPr>
                      <m:t> </m:t>
                    </m:r>
                    <m:r>
                      <a:rPr lang="en-AU" sz="2400" b="0" i="1" smtClean="0">
                        <a:solidFill>
                          <a:schemeClr val="accent5">
                            <a:lumMod val="10000"/>
                          </a:schemeClr>
                        </a:solidFill>
                        <a:latin typeface="Cambria Math" panose="02040503050406030204" pitchFamily="18" charset="0"/>
                        <a:ea typeface="Cambria Math" panose="02040503050406030204" pitchFamily="18" charset="0"/>
                      </a:rPr>
                      <m:t>𝐽</m:t>
                    </m:r>
                  </m:oMath>
                </a14:m>
                <a:endParaRPr lang="en-AU" sz="2400" dirty="0">
                  <a:solidFill>
                    <a:schemeClr val="accent5">
                      <a:lumMod val="10000"/>
                    </a:schemeClr>
                  </a:solidFill>
                </a:endParaRPr>
              </a:p>
            </p:txBody>
          </p:sp>
        </mc:Choice>
        <mc:Fallback xmlns="">
          <p:sp>
            <p:nvSpPr>
              <p:cNvPr id="7" name="TextBox 6">
                <a:extLst>
                  <a:ext uri="{FF2B5EF4-FFF2-40B4-BE49-F238E27FC236}">
                    <a16:creationId xmlns:a16="http://schemas.microsoft.com/office/drawing/2014/main" id="{7DD28D96-9355-4E58-A3CB-271301A52327}"/>
                  </a:ext>
                </a:extLst>
              </p:cNvPr>
              <p:cNvSpPr txBox="1">
                <a:spLocks noRot="1" noChangeAspect="1" noMove="1" noResize="1" noEditPoints="1" noAdjustHandles="1" noChangeArrowheads="1" noChangeShapeType="1" noTextEdit="1"/>
              </p:cNvSpPr>
              <p:nvPr/>
            </p:nvSpPr>
            <p:spPr>
              <a:xfrm>
                <a:off x="1342239" y="5142451"/>
                <a:ext cx="7533314" cy="465833"/>
              </a:xfrm>
              <a:prstGeom prst="rect">
                <a:avLst/>
              </a:prstGeom>
              <a:blipFill>
                <a:blip r:embed="rId4"/>
                <a:stretch>
                  <a:fillRect l="-1214" t="-9211" b="-30263"/>
                </a:stretch>
              </a:blipFill>
            </p:spPr>
            <p:txBody>
              <a:bodyPr/>
              <a:lstStyle/>
              <a:p>
                <a:r>
                  <a:rPr lang="en-AU">
                    <a:noFill/>
                  </a:rPr>
                  <a:t> </a:t>
                </a:r>
              </a:p>
            </p:txBody>
          </p:sp>
        </mc:Fallback>
      </mc:AlternateContent>
    </p:spTree>
    <p:extLst>
      <p:ext uri="{BB962C8B-B14F-4D97-AF65-F5344CB8AC3E}">
        <p14:creationId xmlns:p14="http://schemas.microsoft.com/office/powerpoint/2010/main" val="1826851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570ADC-2160-4382-955B-3BE1AF9409CB}"/>
              </a:ext>
            </a:extLst>
          </p:cNvPr>
          <p:cNvSpPr>
            <a:spLocks noGrp="1"/>
          </p:cNvSpPr>
          <p:nvPr>
            <p:ph idx="1"/>
          </p:nvPr>
        </p:nvSpPr>
        <p:spPr>
          <a:xfrm>
            <a:off x="674703" y="221942"/>
            <a:ext cx="8238478" cy="2743200"/>
          </a:xfrm>
        </p:spPr>
        <p:txBody>
          <a:bodyPr/>
          <a:lstStyle/>
          <a:p>
            <a:r>
              <a:rPr lang="en-AU" dirty="0">
                <a:solidFill>
                  <a:schemeClr val="accent5">
                    <a:lumMod val="10000"/>
                  </a:schemeClr>
                </a:solidFill>
              </a:rPr>
              <a:t>Question:  </a:t>
            </a:r>
            <a:r>
              <a:rPr lang="en-US" dirty="0">
                <a:solidFill>
                  <a:schemeClr val="accent5">
                    <a:lumMod val="10000"/>
                  </a:schemeClr>
                </a:solidFill>
                <a:latin typeface="Arial" charset="0"/>
              </a:rPr>
              <a:t>Consider a red bulb of 100 W and a blue bulb of 100 W emitting light of wavelength of 650 nm and 460 nm respectively.</a:t>
            </a:r>
          </a:p>
          <a:p>
            <a:pPr marL="0" indent="0">
              <a:buNone/>
            </a:pPr>
            <a:r>
              <a:rPr lang="en-US" dirty="0">
                <a:solidFill>
                  <a:schemeClr val="accent5">
                    <a:lumMod val="10000"/>
                  </a:schemeClr>
                </a:solidFill>
                <a:latin typeface="Arial" charset="0"/>
              </a:rPr>
              <a:t>a) Which bulb emits photons of higher energy (provide value for both in eV and then compare)?</a:t>
            </a:r>
          </a:p>
          <a:p>
            <a:pPr marL="0" indent="0">
              <a:buNone/>
            </a:pPr>
            <a:r>
              <a:rPr lang="en-US" dirty="0">
                <a:solidFill>
                  <a:schemeClr val="accent5">
                    <a:lumMod val="10000"/>
                  </a:schemeClr>
                </a:solidFill>
                <a:latin typeface="Arial" charset="0"/>
              </a:rPr>
              <a:t>b) </a:t>
            </a:r>
            <a:r>
              <a:rPr lang="en-AU" dirty="0">
                <a:solidFill>
                  <a:schemeClr val="accent5">
                    <a:lumMod val="10000"/>
                  </a:schemeClr>
                </a:solidFill>
                <a:latin typeface="Arial" charset="0"/>
              </a:rPr>
              <a:t>Which bulb emits more photons/s? </a:t>
            </a:r>
            <a:endParaRPr lang="en-US" dirty="0">
              <a:solidFill>
                <a:schemeClr val="accent5">
                  <a:lumMod val="10000"/>
                </a:schemeClr>
              </a:solidFill>
              <a:latin typeface="Arial" charset="0"/>
            </a:endParaRPr>
          </a:p>
          <a:p>
            <a:endParaRPr lang="en-AU" dirty="0">
              <a:solidFill>
                <a:schemeClr val="accent5">
                  <a:lumMod val="10000"/>
                </a:schemeClr>
              </a:solidFill>
            </a:endParaRPr>
          </a:p>
        </p:txBody>
      </p:sp>
      <p:sp>
        <p:nvSpPr>
          <p:cNvPr id="4" name="TextBox 3">
            <a:extLst>
              <a:ext uri="{FF2B5EF4-FFF2-40B4-BE49-F238E27FC236}">
                <a16:creationId xmlns:a16="http://schemas.microsoft.com/office/drawing/2014/main" id="{EB02776A-CF5A-4E2B-BDEB-84517788F0EB}"/>
              </a:ext>
            </a:extLst>
          </p:cNvPr>
          <p:cNvSpPr txBox="1"/>
          <p:nvPr/>
        </p:nvSpPr>
        <p:spPr>
          <a:xfrm>
            <a:off x="656948" y="2840854"/>
            <a:ext cx="8176334" cy="461665"/>
          </a:xfrm>
          <a:prstGeom prst="rect">
            <a:avLst/>
          </a:prstGeom>
          <a:noFill/>
        </p:spPr>
        <p:txBody>
          <a:bodyPr wrap="square" rtlCol="0">
            <a:spAutoFit/>
          </a:bodyPr>
          <a:lstStyle/>
          <a:p>
            <a:r>
              <a:rPr lang="en-AU" sz="2400" dirty="0">
                <a:solidFill>
                  <a:schemeClr val="accent5">
                    <a:lumMod val="10000"/>
                  </a:schemeClr>
                </a:solidFill>
              </a:rPr>
              <a:t>Answer for a):  </a:t>
            </a:r>
          </a:p>
        </p:txBody>
      </p:sp>
      <p:graphicFrame>
        <p:nvGraphicFramePr>
          <p:cNvPr id="5" name="Object 3">
            <a:extLst>
              <a:ext uri="{FF2B5EF4-FFF2-40B4-BE49-F238E27FC236}">
                <a16:creationId xmlns:a16="http://schemas.microsoft.com/office/drawing/2014/main" id="{7EF6F227-D18C-4FE4-944D-E8DA9172FC4F}"/>
              </a:ext>
            </a:extLst>
          </p:cNvPr>
          <p:cNvGraphicFramePr>
            <a:graphicFrameLocks noChangeAspect="1"/>
          </p:cNvGraphicFramePr>
          <p:nvPr/>
        </p:nvGraphicFramePr>
        <p:xfrm>
          <a:off x="2360089" y="2779621"/>
          <a:ext cx="4381500" cy="1371600"/>
        </p:xfrm>
        <a:graphic>
          <a:graphicData uri="http://schemas.openxmlformats.org/presentationml/2006/ole">
            <mc:AlternateContent xmlns:mc="http://schemas.openxmlformats.org/markup-compatibility/2006">
              <mc:Choice xmlns:v="urn:schemas-microsoft-com:vml" Requires="v">
                <p:oleObj name="Equation" r:id="rId2" imgW="4381200" imgH="1371600" progId="Equation.3">
                  <p:embed/>
                </p:oleObj>
              </mc:Choice>
              <mc:Fallback>
                <p:oleObj name="Equation" r:id="rId2" imgW="4381200" imgH="1371600" progId="Equation.3">
                  <p:embed/>
                  <p:pic>
                    <p:nvPicPr>
                      <p:cNvPr id="5" name="Object 3">
                        <a:extLst>
                          <a:ext uri="{FF2B5EF4-FFF2-40B4-BE49-F238E27FC236}">
                            <a16:creationId xmlns:a16="http://schemas.microsoft.com/office/drawing/2014/main" id="{7EF6F227-D18C-4FE4-944D-E8DA9172FC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0089" y="2779621"/>
                        <a:ext cx="43815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Text Box 18">
            <a:extLst>
              <a:ext uri="{FF2B5EF4-FFF2-40B4-BE49-F238E27FC236}">
                <a16:creationId xmlns:a16="http://schemas.microsoft.com/office/drawing/2014/main" id="{12C2ECF0-E507-41C0-8BD6-9C442E6FEC56}"/>
              </a:ext>
            </a:extLst>
          </p:cNvPr>
          <p:cNvSpPr txBox="1">
            <a:spLocks noChangeArrowheads="1"/>
          </p:cNvSpPr>
          <p:nvPr/>
        </p:nvSpPr>
        <p:spPr bwMode="auto">
          <a:xfrm>
            <a:off x="2412522" y="4261868"/>
            <a:ext cx="4391025" cy="396875"/>
          </a:xfrm>
          <a:prstGeom prst="rect">
            <a:avLst/>
          </a:prstGeom>
          <a:noFill/>
          <a:ln w="9525">
            <a:noFill/>
            <a:miter lim="800000"/>
            <a:headEnd/>
            <a:tailEnd/>
          </a:ln>
        </p:spPr>
        <p:txBody>
          <a:bodyPr>
            <a:spAutoFit/>
          </a:bodyPr>
          <a:lstStyle/>
          <a:p>
            <a:pPr>
              <a:spcBef>
                <a:spcPct val="50000"/>
              </a:spcBef>
            </a:pPr>
            <a:r>
              <a:rPr lang="en-AU" sz="2000" b="1" dirty="0">
                <a:solidFill>
                  <a:srgbClr val="990033"/>
                </a:solidFill>
                <a:latin typeface="Arial" charset="0"/>
              </a:rPr>
              <a:t>Now convert this energy into eV</a:t>
            </a:r>
          </a:p>
        </p:txBody>
      </p:sp>
      <p:graphicFrame>
        <p:nvGraphicFramePr>
          <p:cNvPr id="7" name="Object 2">
            <a:extLst>
              <a:ext uri="{FF2B5EF4-FFF2-40B4-BE49-F238E27FC236}">
                <a16:creationId xmlns:a16="http://schemas.microsoft.com/office/drawing/2014/main" id="{745FFA96-1B33-4F34-BB9E-C41D892CFD4B}"/>
              </a:ext>
            </a:extLst>
          </p:cNvPr>
          <p:cNvGraphicFramePr>
            <a:graphicFrameLocks noChangeAspect="1"/>
          </p:cNvGraphicFramePr>
          <p:nvPr/>
        </p:nvGraphicFramePr>
        <p:xfrm>
          <a:off x="2824147" y="4659744"/>
          <a:ext cx="2730500" cy="1270000"/>
        </p:xfrm>
        <a:graphic>
          <a:graphicData uri="http://schemas.openxmlformats.org/presentationml/2006/ole">
            <mc:AlternateContent xmlns:mc="http://schemas.openxmlformats.org/markup-compatibility/2006">
              <mc:Choice xmlns:v="urn:schemas-microsoft-com:vml" Requires="v">
                <p:oleObj name="Equation" r:id="rId4" imgW="2730240" imgH="1269720" progId="Equation.3">
                  <p:embed/>
                </p:oleObj>
              </mc:Choice>
              <mc:Fallback>
                <p:oleObj name="Equation" r:id="rId4" imgW="2730240" imgH="1269720" progId="Equation.3">
                  <p:embed/>
                  <p:pic>
                    <p:nvPicPr>
                      <p:cNvPr id="7" name="Object 2">
                        <a:extLst>
                          <a:ext uri="{FF2B5EF4-FFF2-40B4-BE49-F238E27FC236}">
                            <a16:creationId xmlns:a16="http://schemas.microsoft.com/office/drawing/2014/main" id="{745FFA96-1B33-4F34-BB9E-C41D892CFD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24147" y="4659744"/>
                        <a:ext cx="2730500" cy="127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Text Box 15">
            <a:extLst>
              <a:ext uri="{FF2B5EF4-FFF2-40B4-BE49-F238E27FC236}">
                <a16:creationId xmlns:a16="http://schemas.microsoft.com/office/drawing/2014/main" id="{D0A627EE-9FBA-4AE8-B012-F2DC1F376580}"/>
              </a:ext>
            </a:extLst>
          </p:cNvPr>
          <p:cNvSpPr txBox="1">
            <a:spLocks noChangeArrowheads="1"/>
          </p:cNvSpPr>
          <p:nvPr/>
        </p:nvSpPr>
        <p:spPr bwMode="auto">
          <a:xfrm>
            <a:off x="1533634" y="5972901"/>
            <a:ext cx="4006032" cy="830997"/>
          </a:xfrm>
          <a:prstGeom prst="rect">
            <a:avLst/>
          </a:prstGeom>
          <a:noFill/>
          <a:ln w="9525">
            <a:noFill/>
            <a:miter lim="800000"/>
            <a:headEnd/>
            <a:tailEnd/>
          </a:ln>
        </p:spPr>
        <p:txBody>
          <a:bodyPr wrap="square">
            <a:spAutoFit/>
          </a:bodyPr>
          <a:lstStyle/>
          <a:p>
            <a:pPr>
              <a:spcBef>
                <a:spcPct val="50000"/>
              </a:spcBef>
            </a:pPr>
            <a:r>
              <a:rPr lang="en-AU" sz="2400" b="1" dirty="0">
                <a:solidFill>
                  <a:srgbClr val="0000FF"/>
                </a:solidFill>
                <a:latin typeface="Arial" charset="0"/>
              </a:rPr>
              <a:t>Similarly calculate energy of a blue photon</a:t>
            </a:r>
          </a:p>
        </p:txBody>
      </p:sp>
      <p:graphicFrame>
        <p:nvGraphicFramePr>
          <p:cNvPr id="9" name="Object 6">
            <a:extLst>
              <a:ext uri="{FF2B5EF4-FFF2-40B4-BE49-F238E27FC236}">
                <a16:creationId xmlns:a16="http://schemas.microsoft.com/office/drawing/2014/main" id="{0D441BB3-7B37-46CA-BB99-903841F64195}"/>
              </a:ext>
            </a:extLst>
          </p:cNvPr>
          <p:cNvGraphicFramePr>
            <a:graphicFrameLocks noChangeAspect="1"/>
          </p:cNvGraphicFramePr>
          <p:nvPr/>
        </p:nvGraphicFramePr>
        <p:xfrm>
          <a:off x="6750914" y="5897470"/>
          <a:ext cx="2095500" cy="812800"/>
        </p:xfrm>
        <a:graphic>
          <a:graphicData uri="http://schemas.openxmlformats.org/presentationml/2006/ole">
            <mc:AlternateContent xmlns:mc="http://schemas.openxmlformats.org/markup-compatibility/2006">
              <mc:Choice xmlns:v="urn:schemas-microsoft-com:vml" Requires="v">
                <p:oleObj name="Equation" r:id="rId6" imgW="2095200" imgH="812520" progId="Equation.3">
                  <p:embed/>
                </p:oleObj>
              </mc:Choice>
              <mc:Fallback>
                <p:oleObj name="Equation" r:id="rId6" imgW="2095200" imgH="812520" progId="Equation.3">
                  <p:embed/>
                  <p:pic>
                    <p:nvPicPr>
                      <p:cNvPr id="9" name="Object 6">
                        <a:extLst>
                          <a:ext uri="{FF2B5EF4-FFF2-40B4-BE49-F238E27FC236}">
                            <a16:creationId xmlns:a16="http://schemas.microsoft.com/office/drawing/2014/main" id="{0D441BB3-7B37-46CA-BB99-903841F6419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50914" y="5897470"/>
                        <a:ext cx="2095500" cy="81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659261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ox(out)">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0-#ppt_w/2"/>
                                          </p:val>
                                        </p:tav>
                                        <p:tav tm="100000">
                                          <p:val>
                                            <p:strVal val="#ppt_x"/>
                                          </p:val>
                                        </p:tav>
                                      </p:tavLst>
                                    </p:anim>
                                    <p:anim calcmode="lin" valueType="num">
                                      <p:cBhvr additive="base">
                                        <p:cTn id="19"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0-#ppt_w/2"/>
                                          </p:val>
                                        </p:tav>
                                        <p:tav tm="100000">
                                          <p:val>
                                            <p:strVal val="#ppt_x"/>
                                          </p:val>
                                        </p:tav>
                                      </p:tavLst>
                                    </p:anim>
                                    <p:anim calcmode="lin" valueType="num">
                                      <p:cBhvr additive="base">
                                        <p:cTn id="25"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fill="hold"/>
                                        <p:tgtEl>
                                          <p:spTgt spid="9"/>
                                        </p:tgtEl>
                                        <p:attrNameLst>
                                          <p:attrName>ppt_x</p:attrName>
                                        </p:attrNameLst>
                                      </p:cBhvr>
                                      <p:tavLst>
                                        <p:tav tm="0">
                                          <p:val>
                                            <p:strVal val="0-#ppt_w/2"/>
                                          </p:val>
                                        </p:tav>
                                        <p:tav tm="100000">
                                          <p:val>
                                            <p:strVal val="#ppt_x"/>
                                          </p:val>
                                        </p:tav>
                                      </p:tavLst>
                                    </p:anim>
                                    <p:anim calcmode="lin" valueType="num">
                                      <p:cBhvr additive="base">
                                        <p:cTn id="31"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5"/>
                                        </p:tgtEl>
                                        <p:attrNameLst>
                                          <p:attrName>style.visibility</p:attrName>
                                        </p:attrNameLst>
                                      </p:cBhvr>
                                      <p:to>
                                        <p:strVal val="visible"/>
                                      </p:to>
                                    </p:set>
                                  </p:childTnLst>
                                </p:cTn>
                              </p:par>
                              <p:par>
                                <p:cTn id="36" presetID="1" presetClass="entr" presetSubtype="0" fill="hold" grpId="1" nodeType="withEffect">
                                  <p:stCondLst>
                                    <p:cond delay="0"/>
                                  </p:stCondLst>
                                  <p:childTnLst>
                                    <p:set>
                                      <p:cBhvr>
                                        <p:cTn id="37" dur="1" fill="hold">
                                          <p:stCondLst>
                                            <p:cond delay="0"/>
                                          </p:stCondLst>
                                        </p:cTn>
                                        <p:tgtEl>
                                          <p:spTgt spid="6"/>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7"/>
                                        </p:tgtEl>
                                        <p:attrNameLst>
                                          <p:attrName>style.visibility</p:attrName>
                                        </p:attrNameLst>
                                      </p:cBhvr>
                                      <p:to>
                                        <p:strVal val="visible"/>
                                      </p:to>
                                    </p:set>
                                  </p:childTnLst>
                                </p:cTn>
                              </p:par>
                              <p:par>
                                <p:cTn id="40" presetID="1" presetClass="entr" presetSubtype="0" fill="hold" grpId="1" nodeType="withEffect">
                                  <p:stCondLst>
                                    <p:cond delay="0"/>
                                  </p:stCondLst>
                                  <p:childTnLst>
                                    <p:set>
                                      <p:cBhvr>
                                        <p:cTn id="41" dur="1" fill="hold">
                                          <p:stCondLst>
                                            <p:cond delay="0"/>
                                          </p:stCondLst>
                                        </p:cTn>
                                        <p:tgtEl>
                                          <p:spTgt spid="8"/>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8" grpId="0"/>
      <p:bldP spid="8"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414F2D-06AE-492D-9002-F0E0CF82C1F7}"/>
              </a:ext>
            </a:extLst>
          </p:cNvPr>
          <p:cNvSpPr>
            <a:spLocks noGrp="1"/>
          </p:cNvSpPr>
          <p:nvPr>
            <p:ph idx="1"/>
          </p:nvPr>
        </p:nvSpPr>
        <p:spPr>
          <a:xfrm>
            <a:off x="982133" y="941033"/>
            <a:ext cx="7704667" cy="523783"/>
          </a:xfrm>
        </p:spPr>
        <p:txBody>
          <a:bodyPr/>
          <a:lstStyle/>
          <a:p>
            <a:pPr marL="0" indent="0">
              <a:buNone/>
            </a:pPr>
            <a:r>
              <a:rPr lang="en-AU" dirty="0">
                <a:solidFill>
                  <a:schemeClr val="accent5">
                    <a:lumMod val="10000"/>
                  </a:schemeClr>
                </a:solidFill>
              </a:rPr>
              <a:t>Answer for b):  </a:t>
            </a:r>
          </a:p>
        </p:txBody>
      </p:sp>
      <p:graphicFrame>
        <p:nvGraphicFramePr>
          <p:cNvPr id="4" name="Object 2">
            <a:extLst>
              <a:ext uri="{FF2B5EF4-FFF2-40B4-BE49-F238E27FC236}">
                <a16:creationId xmlns:a16="http://schemas.microsoft.com/office/drawing/2014/main" id="{41DDCB73-0640-4952-AF3D-8339134CC42B}"/>
              </a:ext>
            </a:extLst>
          </p:cNvPr>
          <p:cNvGraphicFramePr>
            <a:graphicFrameLocks noChangeAspect="1"/>
          </p:cNvGraphicFramePr>
          <p:nvPr/>
        </p:nvGraphicFramePr>
        <p:xfrm>
          <a:off x="2107725" y="1657056"/>
          <a:ext cx="4775200" cy="787400"/>
        </p:xfrm>
        <a:graphic>
          <a:graphicData uri="http://schemas.openxmlformats.org/presentationml/2006/ole">
            <mc:AlternateContent xmlns:mc="http://schemas.openxmlformats.org/markup-compatibility/2006">
              <mc:Choice xmlns:v="urn:schemas-microsoft-com:vml" Requires="v">
                <p:oleObj name="Equation" r:id="rId2" imgW="4775040" imgH="787320" progId="Equation.3">
                  <p:embed/>
                </p:oleObj>
              </mc:Choice>
              <mc:Fallback>
                <p:oleObj name="Equation" r:id="rId2" imgW="4775040" imgH="787320" progId="Equation.3">
                  <p:embed/>
                  <p:pic>
                    <p:nvPicPr>
                      <p:cNvPr id="4" name="Object 2">
                        <a:extLst>
                          <a:ext uri="{FF2B5EF4-FFF2-40B4-BE49-F238E27FC236}">
                            <a16:creationId xmlns:a16="http://schemas.microsoft.com/office/drawing/2014/main" id="{41DDCB73-0640-4952-AF3D-8339134CC4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7725" y="1657056"/>
                        <a:ext cx="4775200" cy="78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Object 3">
            <a:extLst>
              <a:ext uri="{FF2B5EF4-FFF2-40B4-BE49-F238E27FC236}">
                <a16:creationId xmlns:a16="http://schemas.microsoft.com/office/drawing/2014/main" id="{6BE9B588-0B03-4149-9064-36FBBFB03206}"/>
              </a:ext>
            </a:extLst>
          </p:cNvPr>
          <p:cNvGraphicFramePr>
            <a:graphicFrameLocks noChangeAspect="1"/>
          </p:cNvGraphicFramePr>
          <p:nvPr/>
        </p:nvGraphicFramePr>
        <p:xfrm>
          <a:off x="1643001" y="2734492"/>
          <a:ext cx="5384800" cy="787400"/>
        </p:xfrm>
        <a:graphic>
          <a:graphicData uri="http://schemas.openxmlformats.org/presentationml/2006/ole">
            <mc:AlternateContent xmlns:mc="http://schemas.openxmlformats.org/markup-compatibility/2006">
              <mc:Choice xmlns:v="urn:schemas-microsoft-com:vml" Requires="v">
                <p:oleObj name="Equation" r:id="rId4" imgW="5384520" imgH="787320" progId="Equation.3">
                  <p:embed/>
                </p:oleObj>
              </mc:Choice>
              <mc:Fallback>
                <p:oleObj name="Equation" r:id="rId4" imgW="5384520" imgH="787320" progId="Equation.3">
                  <p:embed/>
                  <p:pic>
                    <p:nvPicPr>
                      <p:cNvPr id="5" name="Object 3">
                        <a:extLst>
                          <a:ext uri="{FF2B5EF4-FFF2-40B4-BE49-F238E27FC236}">
                            <a16:creationId xmlns:a16="http://schemas.microsoft.com/office/drawing/2014/main" id="{6BE9B588-0B03-4149-9064-36FBBFB0320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43001" y="2734492"/>
                        <a:ext cx="5384800" cy="78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4">
            <a:extLst>
              <a:ext uri="{FF2B5EF4-FFF2-40B4-BE49-F238E27FC236}">
                <a16:creationId xmlns:a16="http://schemas.microsoft.com/office/drawing/2014/main" id="{82856636-A370-4753-8053-EBA98611481A}"/>
              </a:ext>
            </a:extLst>
          </p:cNvPr>
          <p:cNvGraphicFramePr>
            <a:graphicFrameLocks noChangeAspect="1"/>
          </p:cNvGraphicFramePr>
          <p:nvPr/>
        </p:nvGraphicFramePr>
        <p:xfrm>
          <a:off x="1545347" y="4020598"/>
          <a:ext cx="5626100" cy="787400"/>
        </p:xfrm>
        <a:graphic>
          <a:graphicData uri="http://schemas.openxmlformats.org/presentationml/2006/ole">
            <mc:AlternateContent xmlns:mc="http://schemas.openxmlformats.org/markup-compatibility/2006">
              <mc:Choice xmlns:v="urn:schemas-microsoft-com:vml" Requires="v">
                <p:oleObj name="Equation" r:id="rId6" imgW="5626080" imgH="787320" progId="Equation.3">
                  <p:embed/>
                </p:oleObj>
              </mc:Choice>
              <mc:Fallback>
                <p:oleObj name="Equation" r:id="rId6" imgW="5626080" imgH="787320" progId="Equation.3">
                  <p:embed/>
                  <p:pic>
                    <p:nvPicPr>
                      <p:cNvPr id="6" name="Object 4">
                        <a:extLst>
                          <a:ext uri="{FF2B5EF4-FFF2-40B4-BE49-F238E27FC236}">
                            <a16:creationId xmlns:a16="http://schemas.microsoft.com/office/drawing/2014/main" id="{82856636-A370-4753-8053-EBA98611481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45347" y="4020598"/>
                        <a:ext cx="5626100" cy="78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Text Box 5">
            <a:extLst>
              <a:ext uri="{FF2B5EF4-FFF2-40B4-BE49-F238E27FC236}">
                <a16:creationId xmlns:a16="http://schemas.microsoft.com/office/drawing/2014/main" id="{259EC657-148F-48D0-A6C1-B5BC9479B93B}"/>
              </a:ext>
            </a:extLst>
          </p:cNvPr>
          <p:cNvSpPr txBox="1">
            <a:spLocks noChangeArrowheads="1"/>
          </p:cNvSpPr>
          <p:nvPr/>
        </p:nvSpPr>
        <p:spPr bwMode="auto">
          <a:xfrm>
            <a:off x="1219542" y="5053902"/>
            <a:ext cx="7772400" cy="1016000"/>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spcBef>
                <a:spcPct val="50000"/>
              </a:spcBef>
            </a:pPr>
            <a:r>
              <a:rPr lang="en-AU" sz="2400" b="1" dirty="0">
                <a:solidFill>
                  <a:srgbClr val="990033"/>
                </a:solidFill>
                <a:latin typeface="Arial" charset="0"/>
              </a:rPr>
              <a:t>Red globe emits more photons/s</a:t>
            </a:r>
          </a:p>
          <a:p>
            <a:pPr>
              <a:spcBef>
                <a:spcPct val="50000"/>
              </a:spcBef>
            </a:pPr>
            <a:r>
              <a:rPr lang="en-AU" sz="2400" b="1" dirty="0">
                <a:solidFill>
                  <a:srgbClr val="990033"/>
                </a:solidFill>
                <a:latin typeface="Arial" charset="0"/>
              </a:rPr>
              <a:t>But only a fraction of these are in the visible range.</a:t>
            </a:r>
          </a:p>
        </p:txBody>
      </p:sp>
    </p:spTree>
    <p:extLst>
      <p:ext uri="{BB962C8B-B14F-4D97-AF65-F5344CB8AC3E}">
        <p14:creationId xmlns:p14="http://schemas.microsoft.com/office/powerpoint/2010/main" val="1774002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0-#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123B9EE-7DD7-435E-BD78-1FAC1776878E}"/>
                  </a:ext>
                </a:extLst>
              </p:cNvPr>
              <p:cNvSpPr>
                <a:spLocks noGrp="1"/>
              </p:cNvSpPr>
              <p:nvPr>
                <p:ph idx="1"/>
              </p:nvPr>
            </p:nvSpPr>
            <p:spPr>
              <a:xfrm>
                <a:off x="982133" y="710214"/>
                <a:ext cx="7704667" cy="2553104"/>
              </a:xfrm>
            </p:spPr>
            <p:txBody>
              <a:bodyPr>
                <a:normAutofit fontScale="92500"/>
              </a:bodyPr>
              <a:lstStyle/>
              <a:p>
                <a:r>
                  <a:rPr lang="en-AU" dirty="0">
                    <a:solidFill>
                      <a:schemeClr val="accent5">
                        <a:lumMod val="10000"/>
                      </a:schemeClr>
                    </a:solidFill>
                  </a:rPr>
                  <a:t>Question:  </a:t>
                </a:r>
              </a:p>
              <a:p>
                <a:pPr marL="0" indent="0">
                  <a:buNone/>
                </a:pPr>
                <a:r>
                  <a:rPr lang="en-AU" dirty="0">
                    <a:solidFill>
                      <a:schemeClr val="accent5">
                        <a:lumMod val="10000"/>
                      </a:schemeClr>
                    </a:solidFill>
                  </a:rPr>
                  <a:t>a)  </a:t>
                </a:r>
                <a:r>
                  <a:rPr lang="en-AU" b="1" dirty="0">
                    <a:solidFill>
                      <a:schemeClr val="accent5">
                        <a:lumMod val="10000"/>
                      </a:schemeClr>
                    </a:solidFill>
                  </a:rPr>
                  <a:t>Estimate</a:t>
                </a:r>
                <a:r>
                  <a:rPr lang="en-AU" dirty="0">
                    <a:solidFill>
                      <a:schemeClr val="accent5">
                        <a:lumMod val="10000"/>
                      </a:schemeClr>
                    </a:solidFill>
                  </a:rPr>
                  <a:t> the energy of a typical visible light photon.   HINT the visible spectrum of light is around </a:t>
                </a:r>
                <a14:m>
                  <m:oMath xmlns:m="http://schemas.openxmlformats.org/officeDocument/2006/math">
                    <m:sSup>
                      <m:sSupPr>
                        <m:ctrlPr>
                          <a:rPr lang="en-AU" b="0" i="1" smtClean="0">
                            <a:solidFill>
                              <a:schemeClr val="accent5">
                                <a:lumMod val="10000"/>
                              </a:schemeClr>
                            </a:solidFill>
                            <a:latin typeface="Cambria Math" panose="02040503050406030204" pitchFamily="18" charset="0"/>
                          </a:rPr>
                        </m:ctrlPr>
                      </m:sSupPr>
                      <m:e>
                        <m:r>
                          <a:rPr lang="en-AU" b="0" i="1" smtClean="0">
                            <a:solidFill>
                              <a:schemeClr val="accent5">
                                <a:lumMod val="10000"/>
                              </a:schemeClr>
                            </a:solidFill>
                            <a:latin typeface="Cambria Math" panose="02040503050406030204" pitchFamily="18" charset="0"/>
                          </a:rPr>
                          <m:t>10</m:t>
                        </m:r>
                      </m:e>
                      <m:sup>
                        <m:r>
                          <a:rPr lang="en-AU" b="0" i="1" smtClean="0">
                            <a:solidFill>
                              <a:schemeClr val="accent5">
                                <a:lumMod val="10000"/>
                              </a:schemeClr>
                            </a:solidFill>
                            <a:latin typeface="Cambria Math" panose="02040503050406030204" pitchFamily="18" charset="0"/>
                          </a:rPr>
                          <m:t>15</m:t>
                        </m:r>
                      </m:sup>
                    </m:sSup>
                    <m:r>
                      <a:rPr lang="en-AU" b="0" i="1" smtClean="0">
                        <a:solidFill>
                          <a:schemeClr val="accent5">
                            <a:lumMod val="10000"/>
                          </a:schemeClr>
                        </a:solidFill>
                        <a:latin typeface="Cambria Math" panose="02040503050406030204" pitchFamily="18" charset="0"/>
                      </a:rPr>
                      <m:t> </m:t>
                    </m:r>
                    <m:r>
                      <a:rPr lang="en-AU" b="0" i="1" smtClean="0">
                        <a:solidFill>
                          <a:schemeClr val="accent5">
                            <a:lumMod val="10000"/>
                          </a:schemeClr>
                        </a:solidFill>
                        <a:latin typeface="Cambria Math" panose="02040503050406030204" pitchFamily="18" charset="0"/>
                      </a:rPr>
                      <m:t>𝐻𝑧</m:t>
                    </m:r>
                  </m:oMath>
                </a14:m>
                <a:r>
                  <a:rPr lang="en-AU" dirty="0">
                    <a:solidFill>
                      <a:schemeClr val="accent5">
                        <a:lumMod val="10000"/>
                      </a:schemeClr>
                    </a:solidFill>
                  </a:rPr>
                  <a:t>  (see data sheet).</a:t>
                </a:r>
              </a:p>
              <a:p>
                <a:pPr marL="0" indent="0">
                  <a:buNone/>
                </a:pPr>
                <a:r>
                  <a:rPr lang="en-AU" dirty="0">
                    <a:solidFill>
                      <a:schemeClr val="accent5">
                        <a:lumMod val="10000"/>
                      </a:schemeClr>
                    </a:solidFill>
                  </a:rPr>
                  <a:t>b)  </a:t>
                </a:r>
                <a:r>
                  <a:rPr lang="en-GB" dirty="0">
                    <a:solidFill>
                      <a:schemeClr val="accent5">
                        <a:lumMod val="10000"/>
                      </a:schemeClr>
                    </a:solidFill>
                  </a:rPr>
                  <a:t>A 60 W light globe emits light at around 3 W.  The rest is heat.  </a:t>
                </a:r>
                <a:r>
                  <a:rPr lang="en-GB" b="1" dirty="0">
                    <a:solidFill>
                      <a:schemeClr val="accent5">
                        <a:lumMod val="10000"/>
                      </a:schemeClr>
                    </a:solidFill>
                  </a:rPr>
                  <a:t>Estimate</a:t>
                </a:r>
                <a:r>
                  <a:rPr lang="en-GB" dirty="0">
                    <a:solidFill>
                      <a:schemeClr val="accent5">
                        <a:lumMod val="10000"/>
                      </a:schemeClr>
                    </a:solidFill>
                  </a:rPr>
                  <a:t> how many visible light photons per second are emitted from the light globe.</a:t>
                </a:r>
                <a:endParaRPr lang="en-AU" dirty="0">
                  <a:solidFill>
                    <a:schemeClr val="accent5">
                      <a:lumMod val="10000"/>
                    </a:schemeClr>
                  </a:solidFill>
                </a:endParaRPr>
              </a:p>
            </p:txBody>
          </p:sp>
        </mc:Choice>
        <mc:Fallback xmlns="">
          <p:sp>
            <p:nvSpPr>
              <p:cNvPr id="3" name="Content Placeholder 2">
                <a:extLst>
                  <a:ext uri="{FF2B5EF4-FFF2-40B4-BE49-F238E27FC236}">
                    <a16:creationId xmlns:a16="http://schemas.microsoft.com/office/drawing/2014/main" id="{7123B9EE-7DD7-435E-BD78-1FAC1776878E}"/>
                  </a:ext>
                </a:extLst>
              </p:cNvPr>
              <p:cNvSpPr>
                <a:spLocks noGrp="1" noRot="1" noChangeAspect="1" noMove="1" noResize="1" noEditPoints="1" noAdjustHandles="1" noChangeArrowheads="1" noChangeShapeType="1" noTextEdit="1"/>
              </p:cNvSpPr>
              <p:nvPr>
                <p:ph idx="1"/>
              </p:nvPr>
            </p:nvSpPr>
            <p:spPr>
              <a:xfrm>
                <a:off x="982133" y="710214"/>
                <a:ext cx="7704667" cy="2553104"/>
              </a:xfrm>
              <a:blipFill>
                <a:blip r:embed="rId2"/>
                <a:stretch>
                  <a:fillRect l="-1741" t="-3828" r="-475" b="-1914"/>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81A7E72-0999-4ED6-8BB1-94DC051EB7C5}"/>
                  </a:ext>
                </a:extLst>
              </p:cNvPr>
              <p:cNvSpPr txBox="1"/>
              <p:nvPr/>
            </p:nvSpPr>
            <p:spPr>
              <a:xfrm>
                <a:off x="1065402" y="3313651"/>
                <a:ext cx="7533314" cy="3070328"/>
              </a:xfrm>
              <a:prstGeom prst="rect">
                <a:avLst/>
              </a:prstGeom>
              <a:noFill/>
            </p:spPr>
            <p:txBody>
              <a:bodyPr wrap="square" rtlCol="0">
                <a:spAutoFit/>
              </a:bodyPr>
              <a:lstStyle/>
              <a:p>
                <a:r>
                  <a:rPr lang="en-AU" sz="2400" dirty="0">
                    <a:solidFill>
                      <a:schemeClr val="accent5">
                        <a:lumMod val="10000"/>
                      </a:schemeClr>
                    </a:solidFill>
                  </a:rPr>
                  <a:t>Answer:    </a:t>
                </a:r>
                <a:r>
                  <a:rPr lang="en-AU" sz="2000" dirty="0">
                    <a:solidFill>
                      <a:schemeClr val="accent5">
                        <a:lumMod val="10000"/>
                      </a:schemeClr>
                    </a:solidFill>
                    <a:latin typeface="Verdana" panose="020B0604030504040204" pitchFamily="34" charset="0"/>
                    <a:ea typeface="Verdana" panose="020B0604030504040204" pitchFamily="34" charset="0"/>
                    <a:cs typeface="Verdana" panose="020B0604030504040204" pitchFamily="34" charset="0"/>
                  </a:rPr>
                  <a:t>We estimated </a:t>
                </a:r>
                <a14:m>
                  <m:oMath xmlns:m="http://schemas.openxmlformats.org/officeDocument/2006/math">
                    <m:sSup>
                      <m:sSupPr>
                        <m:ctrlPr>
                          <a:rPr lang="en-AU" sz="2000" i="1">
                            <a:solidFill>
                              <a:schemeClr val="accent5">
                                <a:lumMod val="10000"/>
                              </a:schemeClr>
                            </a:solidFill>
                            <a:latin typeface="Cambria Math" panose="02040503050406030204" pitchFamily="18" charset="0"/>
                          </a:rPr>
                        </m:ctrlPr>
                      </m:sSupPr>
                      <m:e>
                        <m:r>
                          <a:rPr lang="en-AU" sz="2000" i="1">
                            <a:solidFill>
                              <a:schemeClr val="accent5">
                                <a:lumMod val="10000"/>
                              </a:schemeClr>
                            </a:solidFill>
                            <a:latin typeface="Cambria Math" panose="02040503050406030204" pitchFamily="18" charset="0"/>
                          </a:rPr>
                          <m:t>10</m:t>
                        </m:r>
                      </m:e>
                      <m:sup>
                        <m:r>
                          <a:rPr lang="en-AU" sz="2000" i="1">
                            <a:solidFill>
                              <a:schemeClr val="accent5">
                                <a:lumMod val="10000"/>
                              </a:schemeClr>
                            </a:solidFill>
                            <a:latin typeface="Cambria Math" panose="02040503050406030204" pitchFamily="18" charset="0"/>
                          </a:rPr>
                          <m:t>15</m:t>
                        </m:r>
                      </m:sup>
                    </m:sSup>
                    <m:r>
                      <a:rPr lang="en-AU" sz="2000" i="1">
                        <a:solidFill>
                          <a:schemeClr val="accent5">
                            <a:lumMod val="10000"/>
                          </a:schemeClr>
                        </a:solidFill>
                        <a:latin typeface="Cambria Math" panose="02040503050406030204" pitchFamily="18" charset="0"/>
                      </a:rPr>
                      <m:t> </m:t>
                    </m:r>
                    <m:r>
                      <a:rPr lang="en-AU" sz="2000" i="1">
                        <a:solidFill>
                          <a:schemeClr val="accent5">
                            <a:lumMod val="10000"/>
                          </a:schemeClr>
                        </a:solidFill>
                        <a:latin typeface="Cambria Math" panose="02040503050406030204" pitchFamily="18" charset="0"/>
                      </a:rPr>
                      <m:t>𝐻𝑧</m:t>
                    </m:r>
                  </m:oMath>
                </a14:m>
                <a:r>
                  <a:rPr lang="en-AU" sz="2000" dirty="0">
                    <a:solidFill>
                      <a:schemeClr val="accent5">
                        <a:lumMod val="10000"/>
                      </a:schemeClr>
                    </a:solidFill>
                    <a:latin typeface="Verdana" panose="020B0604030504040204" pitchFamily="34" charset="0"/>
                    <a:ea typeface="Verdana" panose="020B0604030504040204" pitchFamily="34" charset="0"/>
                    <a:cs typeface="Verdana" panose="020B0604030504040204" pitchFamily="34" charset="0"/>
                  </a:rPr>
                  <a:t>  as the data sheet shows it to be closer to the </a:t>
                </a:r>
                <a14:m>
                  <m:oMath xmlns:m="http://schemas.openxmlformats.org/officeDocument/2006/math">
                    <m:sSup>
                      <m:sSupPr>
                        <m:ctrlPr>
                          <a:rPr lang="en-AU" sz="2000" i="1">
                            <a:solidFill>
                              <a:schemeClr val="accent5">
                                <a:lumMod val="10000"/>
                              </a:schemeClr>
                            </a:solidFill>
                            <a:latin typeface="Cambria Math" panose="02040503050406030204" pitchFamily="18" charset="0"/>
                          </a:rPr>
                        </m:ctrlPr>
                      </m:sSupPr>
                      <m:e>
                        <m:r>
                          <a:rPr lang="en-AU" sz="2000" i="1">
                            <a:solidFill>
                              <a:schemeClr val="accent5">
                                <a:lumMod val="10000"/>
                              </a:schemeClr>
                            </a:solidFill>
                            <a:latin typeface="Cambria Math" panose="02040503050406030204" pitchFamily="18" charset="0"/>
                          </a:rPr>
                          <m:t>10</m:t>
                        </m:r>
                      </m:e>
                      <m:sup>
                        <m:r>
                          <a:rPr lang="en-AU" sz="2000" i="1">
                            <a:solidFill>
                              <a:schemeClr val="accent5">
                                <a:lumMod val="10000"/>
                              </a:schemeClr>
                            </a:solidFill>
                            <a:latin typeface="Cambria Math" panose="02040503050406030204" pitchFamily="18" charset="0"/>
                          </a:rPr>
                          <m:t>15</m:t>
                        </m:r>
                      </m:sup>
                    </m:sSup>
                    <m:r>
                      <a:rPr lang="en-AU" sz="2000" i="1">
                        <a:solidFill>
                          <a:schemeClr val="accent5">
                            <a:lumMod val="10000"/>
                          </a:schemeClr>
                        </a:solidFill>
                        <a:latin typeface="Cambria Math" panose="02040503050406030204" pitchFamily="18" charset="0"/>
                      </a:rPr>
                      <m:t> </m:t>
                    </m:r>
                    <m:r>
                      <a:rPr lang="en-AU" sz="2000" i="1">
                        <a:solidFill>
                          <a:schemeClr val="accent5">
                            <a:lumMod val="10000"/>
                          </a:schemeClr>
                        </a:solidFill>
                        <a:latin typeface="Cambria Math" panose="02040503050406030204" pitchFamily="18" charset="0"/>
                      </a:rPr>
                      <m:t>𝐻𝑧</m:t>
                    </m:r>
                  </m:oMath>
                </a14:m>
                <a:r>
                  <a:rPr lang="en-AU" sz="2000" dirty="0">
                    <a:solidFill>
                      <a:schemeClr val="accent5">
                        <a:lumMod val="10000"/>
                      </a:schemeClr>
                    </a:solidFill>
                    <a:latin typeface="Verdana" panose="020B0604030504040204" pitchFamily="34" charset="0"/>
                    <a:ea typeface="Verdana" panose="020B0604030504040204" pitchFamily="34" charset="0"/>
                    <a:cs typeface="Verdana" panose="020B0604030504040204" pitchFamily="34" charset="0"/>
                  </a:rPr>
                  <a:t> band than the </a:t>
                </a:r>
                <a14:m>
                  <m:oMath xmlns:m="http://schemas.openxmlformats.org/officeDocument/2006/math">
                    <m:sSup>
                      <m:sSupPr>
                        <m:ctrlPr>
                          <a:rPr lang="en-AU" sz="2000" i="1">
                            <a:solidFill>
                              <a:schemeClr val="accent5">
                                <a:lumMod val="10000"/>
                              </a:schemeClr>
                            </a:solidFill>
                            <a:latin typeface="Cambria Math" panose="02040503050406030204" pitchFamily="18" charset="0"/>
                          </a:rPr>
                        </m:ctrlPr>
                      </m:sSupPr>
                      <m:e>
                        <m:r>
                          <a:rPr lang="en-AU" sz="2000" i="1">
                            <a:solidFill>
                              <a:schemeClr val="accent5">
                                <a:lumMod val="10000"/>
                              </a:schemeClr>
                            </a:solidFill>
                            <a:latin typeface="Cambria Math" panose="02040503050406030204" pitchFamily="18" charset="0"/>
                          </a:rPr>
                          <m:t>10</m:t>
                        </m:r>
                      </m:e>
                      <m:sup>
                        <m:r>
                          <a:rPr lang="en-AU" sz="2000" b="0" i="1" smtClean="0">
                            <a:solidFill>
                              <a:schemeClr val="accent5">
                                <a:lumMod val="10000"/>
                              </a:schemeClr>
                            </a:solidFill>
                            <a:latin typeface="Cambria Math" panose="02040503050406030204" pitchFamily="18" charset="0"/>
                          </a:rPr>
                          <m:t>14</m:t>
                        </m:r>
                      </m:sup>
                    </m:sSup>
                    <m:r>
                      <a:rPr lang="en-AU" sz="2000" i="1">
                        <a:solidFill>
                          <a:schemeClr val="accent5">
                            <a:lumMod val="10000"/>
                          </a:schemeClr>
                        </a:solidFill>
                        <a:latin typeface="Cambria Math" panose="02040503050406030204" pitchFamily="18" charset="0"/>
                      </a:rPr>
                      <m:t> </m:t>
                    </m:r>
                    <m:r>
                      <a:rPr lang="en-AU" sz="2000" i="1">
                        <a:solidFill>
                          <a:schemeClr val="accent5">
                            <a:lumMod val="10000"/>
                          </a:schemeClr>
                        </a:solidFill>
                        <a:latin typeface="Cambria Math" panose="02040503050406030204" pitchFamily="18" charset="0"/>
                      </a:rPr>
                      <m:t>𝐻𝑧</m:t>
                    </m:r>
                  </m:oMath>
                </a14:m>
                <a:r>
                  <a:rPr lang="en-AU" sz="2000" dirty="0">
                    <a:solidFill>
                      <a:schemeClr val="accent5">
                        <a:lumMod val="10000"/>
                      </a:schemeClr>
                    </a:solidFill>
                    <a:latin typeface="Verdana" panose="020B0604030504040204" pitchFamily="34" charset="0"/>
                    <a:ea typeface="Verdana" panose="020B0604030504040204" pitchFamily="34" charset="0"/>
                    <a:cs typeface="Verdana" panose="020B0604030504040204" pitchFamily="34" charset="0"/>
                  </a:rPr>
                  <a:t> band, and all estimates are to be to two significant figures.</a:t>
                </a:r>
              </a:p>
              <a:p>
                <a:endParaRPr lang="en-AU" sz="2000" dirty="0">
                  <a:solidFill>
                    <a:schemeClr val="accent5">
                      <a:lumMod val="10000"/>
                    </a:schemeClr>
                  </a:solidFill>
                  <a:latin typeface="Verdana" panose="020B0604030504040204" pitchFamily="34" charset="0"/>
                  <a:ea typeface="Verdana" panose="020B0604030504040204" pitchFamily="34" charset="0"/>
                  <a:cs typeface="Verdana" panose="020B0604030504040204" pitchFamily="34" charset="0"/>
                </a:endParaRPr>
              </a:p>
              <a:p>
                <a:pPr marL="457200" indent="-457200">
                  <a:buAutoNum type="alphaLcParenR"/>
                </a:pPr>
                <a14:m>
                  <m:oMath xmlns:m="http://schemas.openxmlformats.org/officeDocument/2006/math">
                    <m:r>
                      <m:rPr>
                        <m:sty m:val="p"/>
                      </m:rPr>
                      <a:rPr lang="en-AU" sz="2000" b="0" i="0" smtClean="0">
                        <a:solidFill>
                          <a:schemeClr val="accent5">
                            <a:lumMod val="10000"/>
                          </a:schemeClr>
                        </a:solidFill>
                        <a:latin typeface="Cambria Math" panose="02040503050406030204" pitchFamily="18" charset="0"/>
                        <a:ea typeface="Verdana" panose="020B0604030504040204" pitchFamily="34" charset="0"/>
                        <a:cs typeface="Verdana" panose="020B0604030504040204" pitchFamily="34" charset="0"/>
                      </a:rPr>
                      <m:t>E</m:t>
                    </m:r>
                    <m:r>
                      <a:rPr lang="en-AU" sz="2000" b="0" i="0" smtClean="0">
                        <a:solidFill>
                          <a:schemeClr val="accent5">
                            <a:lumMod val="10000"/>
                          </a:schemeClr>
                        </a:solidFill>
                        <a:latin typeface="Cambria Math" panose="02040503050406030204" pitchFamily="18" charset="0"/>
                        <a:ea typeface="Verdana" panose="020B0604030504040204" pitchFamily="34" charset="0"/>
                        <a:cs typeface="Verdana" panose="020B0604030504040204" pitchFamily="34" charset="0"/>
                      </a:rPr>
                      <m:t>=</m:t>
                    </m:r>
                    <m:r>
                      <m:rPr>
                        <m:sty m:val="p"/>
                      </m:rPr>
                      <a:rPr lang="en-AU" sz="2000" b="0" i="0" smtClean="0">
                        <a:solidFill>
                          <a:schemeClr val="accent5">
                            <a:lumMod val="10000"/>
                          </a:schemeClr>
                        </a:solidFill>
                        <a:latin typeface="Cambria Math" panose="02040503050406030204" pitchFamily="18" charset="0"/>
                        <a:ea typeface="Verdana" panose="020B0604030504040204" pitchFamily="34" charset="0"/>
                        <a:cs typeface="Verdana" panose="020B0604030504040204" pitchFamily="34" charset="0"/>
                      </a:rPr>
                      <m:t>hf</m:t>
                    </m:r>
                    <m:r>
                      <a:rPr lang="en-AU" sz="2000" b="0" i="0" smtClean="0">
                        <a:solidFill>
                          <a:schemeClr val="accent5">
                            <a:lumMod val="10000"/>
                          </a:schemeClr>
                        </a:solidFill>
                        <a:latin typeface="Cambria Math" panose="02040503050406030204" pitchFamily="18" charset="0"/>
                        <a:ea typeface="Verdana" panose="020B0604030504040204" pitchFamily="34" charset="0"/>
                        <a:cs typeface="Verdana" panose="020B0604030504040204" pitchFamily="34" charset="0"/>
                      </a:rPr>
                      <m:t>=</m:t>
                    </m:r>
                    <m:d>
                      <m:dPr>
                        <m:ctrlPr>
                          <a:rPr lang="en-AU" sz="2000" b="0" i="1" smtClean="0">
                            <a:solidFill>
                              <a:schemeClr val="accent5">
                                <a:lumMod val="10000"/>
                              </a:schemeClr>
                            </a:solidFill>
                            <a:latin typeface="Cambria Math" panose="02040503050406030204" pitchFamily="18" charset="0"/>
                            <a:ea typeface="Verdana" panose="020B0604030504040204" pitchFamily="34" charset="0"/>
                            <a:cs typeface="Verdana" panose="020B0604030504040204" pitchFamily="34" charset="0"/>
                          </a:rPr>
                        </m:ctrlPr>
                      </m:dPr>
                      <m:e>
                        <m:r>
                          <a:rPr lang="en-AU" sz="2000" b="0" i="0" smtClean="0">
                            <a:solidFill>
                              <a:schemeClr val="accent5">
                                <a:lumMod val="10000"/>
                              </a:schemeClr>
                            </a:solidFill>
                            <a:latin typeface="Cambria Math" panose="02040503050406030204" pitchFamily="18" charset="0"/>
                            <a:ea typeface="Verdana" panose="020B0604030504040204" pitchFamily="34" charset="0"/>
                            <a:cs typeface="Verdana" panose="020B0604030504040204" pitchFamily="34" charset="0"/>
                          </a:rPr>
                          <m:t>6.63</m:t>
                        </m:r>
                        <m:r>
                          <a:rPr lang="en-AU" sz="2000" b="0" i="0" smtClean="0">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t>×</m:t>
                        </m:r>
                        <m:sSup>
                          <m:sSupPr>
                            <m:ctrlPr>
                              <a:rPr lang="en-AU" sz="2000" b="0" i="1" smtClean="0">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ctrlPr>
                          </m:sSupPr>
                          <m:e>
                            <m:r>
                              <a:rPr lang="en-AU" sz="2000" b="0" i="0" smtClean="0">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t>10</m:t>
                            </m:r>
                          </m:e>
                          <m:sup>
                            <m:r>
                              <a:rPr lang="en-AU" sz="2000" b="0" i="0" smtClean="0">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t>−34</m:t>
                            </m:r>
                          </m:sup>
                        </m:sSup>
                      </m:e>
                    </m:d>
                    <m:d>
                      <m:dPr>
                        <m:ctrlPr>
                          <a:rPr lang="en-AU" sz="2000" b="0" i="1" smtClean="0">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ctrlPr>
                      </m:dPr>
                      <m:e>
                        <m:sSup>
                          <m:sSupPr>
                            <m:ctrlPr>
                              <a:rPr lang="en-AU" sz="2000" b="0" i="1" smtClean="0">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ctrlPr>
                          </m:sSupPr>
                          <m:e>
                            <m:r>
                              <a:rPr lang="en-AU" sz="2000" b="0" i="0" smtClean="0">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t>10</m:t>
                            </m:r>
                          </m:e>
                          <m:sup>
                            <m:r>
                              <a:rPr lang="en-AU" sz="2000" b="0" i="0" smtClean="0">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t>15</m:t>
                            </m:r>
                          </m:sup>
                        </m:sSup>
                      </m:e>
                    </m:d>
                    <m:r>
                      <a:rPr lang="en-AU" sz="2000" b="0" i="0" smtClean="0">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t>=6.6×</m:t>
                    </m:r>
                    <m:sSup>
                      <m:sSupPr>
                        <m:ctrlPr>
                          <a:rPr lang="en-AU" sz="2000" b="0" i="1" smtClean="0">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ctrlPr>
                      </m:sSupPr>
                      <m:e>
                        <m:r>
                          <a:rPr lang="en-AU" sz="2000" b="0" i="0" smtClean="0">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t>10</m:t>
                        </m:r>
                      </m:e>
                      <m:sup>
                        <m:r>
                          <a:rPr lang="en-AU" sz="2000" b="0" i="0" smtClean="0">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t>−19</m:t>
                        </m:r>
                      </m:sup>
                    </m:sSup>
                    <m:r>
                      <a:rPr lang="en-AU" sz="2000" b="0" i="0" smtClean="0">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t> </m:t>
                    </m:r>
                    <m:r>
                      <m:rPr>
                        <m:sty m:val="p"/>
                      </m:rPr>
                      <a:rPr lang="en-AU" sz="2000" b="0" i="0" smtClean="0">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t>J</m:t>
                    </m:r>
                  </m:oMath>
                </a14:m>
                <a:r>
                  <a:rPr lang="en-AU" sz="2000" dirty="0">
                    <a:solidFill>
                      <a:schemeClr val="accent5">
                        <a:lumMod val="10000"/>
                      </a:schemeClr>
                    </a:solidFill>
                    <a:latin typeface="Verdana" panose="020B0604030504040204" pitchFamily="34" charset="0"/>
                    <a:ea typeface="Verdana" panose="020B0604030504040204" pitchFamily="34" charset="0"/>
                    <a:cs typeface="Verdana" panose="020B0604030504040204" pitchFamily="34" charset="0"/>
                  </a:rPr>
                  <a:t> </a:t>
                </a:r>
              </a:p>
              <a:p>
                <a:pPr marL="457200" indent="-457200">
                  <a:buAutoNum type="alphaLcParenR"/>
                </a:pPr>
                <a:r>
                  <a:rPr lang="en-AU" sz="2000" dirty="0">
                    <a:solidFill>
                      <a:schemeClr val="accent5">
                        <a:lumMod val="10000"/>
                      </a:schemeClr>
                    </a:solidFill>
                    <a:latin typeface="Verdana" panose="020B0604030504040204" pitchFamily="34" charset="0"/>
                    <a:ea typeface="Verdana" panose="020B0604030504040204" pitchFamily="34" charset="0"/>
                    <a:cs typeface="Verdana" panose="020B0604030504040204" pitchFamily="34" charset="0"/>
                  </a:rPr>
                  <a:t>Per second 3 J.   So now we just need to find how many times </a:t>
                </a:r>
                <a14:m>
                  <m:oMath xmlns:m="http://schemas.openxmlformats.org/officeDocument/2006/math">
                    <m:r>
                      <a:rPr lang="en-AU" sz="2400" i="1">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t>6.6×</m:t>
                    </m:r>
                    <m:sSup>
                      <m:sSupPr>
                        <m:ctrlPr>
                          <a:rPr lang="en-AU" sz="2400" i="1">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ctrlPr>
                      </m:sSupPr>
                      <m:e>
                        <m:r>
                          <a:rPr lang="en-AU" sz="2400" i="1">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t>10</m:t>
                        </m:r>
                      </m:e>
                      <m:sup>
                        <m:r>
                          <a:rPr lang="en-AU" sz="2400" i="1">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t>−19</m:t>
                        </m:r>
                      </m:sup>
                    </m:sSup>
                    <m:r>
                      <a:rPr lang="en-AU" sz="2400" i="1">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t> </m:t>
                    </m:r>
                    <m:r>
                      <a:rPr lang="en-AU" sz="2400" i="1">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t>𝐽</m:t>
                    </m:r>
                  </m:oMath>
                </a14:m>
                <a:r>
                  <a:rPr lang="en-AU" sz="2200" dirty="0">
                    <a:solidFill>
                      <a:schemeClr val="accent5">
                        <a:lumMod val="10000"/>
                      </a:schemeClr>
                    </a:solidFill>
                    <a:latin typeface="Verdana" panose="020B0604030504040204" pitchFamily="34" charset="0"/>
                    <a:ea typeface="Verdana" panose="020B0604030504040204" pitchFamily="34" charset="0"/>
                    <a:cs typeface="Verdana" panose="020B0604030504040204" pitchFamily="34" charset="0"/>
                  </a:rPr>
                  <a:t> goes into 3 J</a:t>
                </a:r>
              </a:p>
              <a:p>
                <a:pPr/>
                <a14:m>
                  <m:oMathPara xmlns:m="http://schemas.openxmlformats.org/officeDocument/2006/math">
                    <m:oMathParaPr>
                      <m:jc m:val="centerGroup"/>
                    </m:oMathParaPr>
                    <m:oMath xmlns:m="http://schemas.openxmlformats.org/officeDocument/2006/math">
                      <m:f>
                        <m:fPr>
                          <m:ctrlPr>
                            <a:rPr lang="en-AU" sz="2200" b="0" i="1" smtClean="0">
                              <a:solidFill>
                                <a:schemeClr val="accent5">
                                  <a:lumMod val="10000"/>
                                </a:schemeClr>
                              </a:solidFill>
                              <a:latin typeface="Cambria Math" panose="02040503050406030204" pitchFamily="18" charset="0"/>
                              <a:ea typeface="Verdana" panose="020B0604030504040204" pitchFamily="34" charset="0"/>
                              <a:cs typeface="Verdana" panose="020B0604030504040204" pitchFamily="34" charset="0"/>
                            </a:rPr>
                          </m:ctrlPr>
                        </m:fPr>
                        <m:num>
                          <m:r>
                            <a:rPr lang="en-AU" sz="2200" b="0" i="1" smtClean="0">
                              <a:solidFill>
                                <a:schemeClr val="accent5">
                                  <a:lumMod val="10000"/>
                                </a:schemeClr>
                              </a:solidFill>
                              <a:latin typeface="Cambria Math" panose="02040503050406030204" pitchFamily="18" charset="0"/>
                              <a:ea typeface="Verdana" panose="020B0604030504040204" pitchFamily="34" charset="0"/>
                              <a:cs typeface="Verdana" panose="020B0604030504040204" pitchFamily="34" charset="0"/>
                            </a:rPr>
                            <m:t>3</m:t>
                          </m:r>
                        </m:num>
                        <m:den>
                          <m:r>
                            <a:rPr lang="en-AU" sz="2400" i="1">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t>6.6×</m:t>
                          </m:r>
                          <m:sSup>
                            <m:sSupPr>
                              <m:ctrlPr>
                                <a:rPr lang="en-AU" sz="2400" i="1">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ctrlPr>
                            </m:sSupPr>
                            <m:e>
                              <m:r>
                                <a:rPr lang="en-AU" sz="2400" i="1">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t>10</m:t>
                              </m:r>
                            </m:e>
                            <m:sup>
                              <m:r>
                                <a:rPr lang="en-AU" sz="2400" i="1">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t>−19</m:t>
                              </m:r>
                            </m:sup>
                          </m:sSup>
                          <m:r>
                            <a:rPr lang="en-AU" sz="2400" i="1">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t> </m:t>
                          </m:r>
                        </m:den>
                      </m:f>
                      <m:r>
                        <a:rPr lang="en-AU" sz="2200" b="0" i="1" smtClean="0">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t>=4.5×</m:t>
                      </m:r>
                      <m:sSup>
                        <m:sSupPr>
                          <m:ctrlPr>
                            <a:rPr lang="en-AU" sz="2200" b="0" i="1" smtClean="0">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ctrlPr>
                        </m:sSupPr>
                        <m:e>
                          <m:r>
                            <a:rPr lang="en-AU" sz="2200" b="0" i="1" smtClean="0">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t>10</m:t>
                          </m:r>
                        </m:e>
                        <m:sup>
                          <m:r>
                            <a:rPr lang="en-AU" sz="2200" b="0" i="1" smtClean="0">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t>18</m:t>
                          </m:r>
                        </m:sup>
                      </m:sSup>
                      <m:r>
                        <a:rPr lang="en-AU" sz="2200" b="0" i="1" smtClean="0">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t> </m:t>
                      </m:r>
                      <m:r>
                        <a:rPr lang="en-AU" sz="2200" b="0" i="1" smtClean="0">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t>𝑝h𝑜𝑡𝑜𝑛𝑠</m:t>
                      </m:r>
                      <m:r>
                        <a:rPr lang="en-AU" sz="2200" b="0" i="1" smtClean="0">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t> </m:t>
                      </m:r>
                      <m:r>
                        <a:rPr lang="en-AU" sz="2200" b="0" i="1" smtClean="0">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t>𝑝𝑒𝑟</m:t>
                      </m:r>
                      <m:r>
                        <a:rPr lang="en-AU" sz="2200" b="0" i="1" smtClean="0">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t> </m:t>
                      </m:r>
                      <m:r>
                        <a:rPr lang="en-AU" sz="2200" b="0" i="1" smtClean="0">
                          <a:solidFill>
                            <a:schemeClr val="accent5">
                              <a:lumMod val="10000"/>
                            </a:schemeClr>
                          </a:solidFill>
                          <a:latin typeface="Cambria Math" panose="02040503050406030204" pitchFamily="18" charset="0"/>
                          <a:ea typeface="Cambria Math" panose="02040503050406030204" pitchFamily="18" charset="0"/>
                          <a:cs typeface="Verdana" panose="020B0604030504040204" pitchFamily="34" charset="0"/>
                        </a:rPr>
                        <m:t>𝑠𝑒𝑐𝑜𝑛𝑑</m:t>
                      </m:r>
                    </m:oMath>
                  </m:oMathPara>
                </a14:m>
                <a:endParaRPr lang="en-AU" sz="2200" dirty="0">
                  <a:solidFill>
                    <a:schemeClr val="accent5">
                      <a:lumMod val="10000"/>
                    </a:schemeClr>
                  </a:solidFill>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4" name="TextBox 3">
                <a:extLst>
                  <a:ext uri="{FF2B5EF4-FFF2-40B4-BE49-F238E27FC236}">
                    <a16:creationId xmlns:a16="http://schemas.microsoft.com/office/drawing/2014/main" id="{C81A7E72-0999-4ED6-8BB1-94DC051EB7C5}"/>
                  </a:ext>
                </a:extLst>
              </p:cNvPr>
              <p:cNvSpPr txBox="1">
                <a:spLocks noRot="1" noChangeAspect="1" noMove="1" noResize="1" noEditPoints="1" noAdjustHandles="1" noChangeArrowheads="1" noChangeShapeType="1" noTextEdit="1"/>
              </p:cNvSpPr>
              <p:nvPr/>
            </p:nvSpPr>
            <p:spPr>
              <a:xfrm>
                <a:off x="1065402" y="3313651"/>
                <a:ext cx="7533314" cy="3070328"/>
              </a:xfrm>
              <a:prstGeom prst="rect">
                <a:avLst/>
              </a:prstGeom>
              <a:blipFill>
                <a:blip r:embed="rId3"/>
                <a:stretch>
                  <a:fillRect l="-1294" t="-1590" r="-566"/>
                </a:stretch>
              </a:blipFill>
            </p:spPr>
            <p:txBody>
              <a:bodyPr/>
              <a:lstStyle/>
              <a:p>
                <a:r>
                  <a:rPr lang="en-AU">
                    <a:noFill/>
                  </a:rPr>
                  <a:t> </a:t>
                </a:r>
              </a:p>
            </p:txBody>
          </p:sp>
        </mc:Fallback>
      </mc:AlternateContent>
    </p:spTree>
    <p:extLst>
      <p:ext uri="{BB962C8B-B14F-4D97-AF65-F5344CB8AC3E}">
        <p14:creationId xmlns:p14="http://schemas.microsoft.com/office/powerpoint/2010/main" val="2646221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AA9865-7F53-40AC-8443-ECE72F8986E0}"/>
              </a:ext>
            </a:extLst>
          </p:cNvPr>
          <p:cNvSpPr>
            <a:spLocks noGrp="1"/>
          </p:cNvSpPr>
          <p:nvPr>
            <p:ph idx="1"/>
          </p:nvPr>
        </p:nvSpPr>
        <p:spPr>
          <a:xfrm>
            <a:off x="1133135" y="452306"/>
            <a:ext cx="7704667" cy="3332816"/>
          </a:xfrm>
        </p:spPr>
        <p:txBody>
          <a:bodyPr/>
          <a:lstStyle/>
          <a:p>
            <a:r>
              <a:rPr lang="en-AU" dirty="0">
                <a:solidFill>
                  <a:schemeClr val="accent5">
                    <a:lumMod val="10000"/>
                  </a:schemeClr>
                </a:solidFill>
              </a:rPr>
              <a:t>Question:  A typical experimental microwave emitter gives radiation of 40 mm wavelengths and emits microwaves at approximately 50 W.  </a:t>
            </a:r>
          </a:p>
          <a:p>
            <a:pPr marL="457200" indent="-457200">
              <a:buAutoNum type="alphaLcParenR"/>
            </a:pPr>
            <a:r>
              <a:rPr lang="en-AU" dirty="0">
                <a:solidFill>
                  <a:schemeClr val="accent5">
                    <a:lumMod val="10000"/>
                  </a:schemeClr>
                </a:solidFill>
              </a:rPr>
              <a:t>What is the energy of one of the microwave photons?  </a:t>
            </a:r>
          </a:p>
          <a:p>
            <a:pPr marL="457200" indent="-457200">
              <a:buAutoNum type="alphaLcParenR"/>
            </a:pPr>
            <a:r>
              <a:rPr lang="en-AU" dirty="0">
                <a:solidFill>
                  <a:schemeClr val="accent5">
                    <a:lumMod val="10000"/>
                  </a:schemeClr>
                </a:solidFill>
              </a:rPr>
              <a:t>How many photons are emitted each second?</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B049A9-3C93-4A9E-8A21-329A7F7BC5E9}"/>
                  </a:ext>
                </a:extLst>
              </p:cNvPr>
              <p:cNvSpPr txBox="1"/>
              <p:nvPr/>
            </p:nvSpPr>
            <p:spPr>
              <a:xfrm>
                <a:off x="1233182" y="3573710"/>
                <a:ext cx="7474591" cy="2269211"/>
              </a:xfrm>
              <a:prstGeom prst="rect">
                <a:avLst/>
              </a:prstGeom>
              <a:noFill/>
            </p:spPr>
            <p:txBody>
              <a:bodyPr wrap="square" rtlCol="0">
                <a:spAutoFit/>
              </a:bodyPr>
              <a:lstStyle/>
              <a:p>
                <a:r>
                  <a:rPr lang="en-AU" sz="2000" dirty="0">
                    <a:solidFill>
                      <a:schemeClr val="accent5">
                        <a:lumMod val="10000"/>
                      </a:schemeClr>
                    </a:solidFill>
                  </a:rPr>
                  <a:t>Answer:</a:t>
                </a:r>
              </a:p>
              <a:p>
                <a:pPr marL="457200" indent="-457200">
                  <a:lnSpc>
                    <a:spcPct val="200000"/>
                  </a:lnSpc>
                  <a:buAutoNum type="alphaLcParenR"/>
                </a:pPr>
                <a14:m>
                  <m:oMath xmlns:m="http://schemas.openxmlformats.org/officeDocument/2006/math">
                    <m:r>
                      <m:rPr>
                        <m:sty m:val="p"/>
                      </m:rPr>
                      <a:rPr lang="en-AU" sz="2000" b="0" i="0" smtClean="0">
                        <a:solidFill>
                          <a:schemeClr val="accent5">
                            <a:lumMod val="10000"/>
                          </a:schemeClr>
                        </a:solidFill>
                        <a:latin typeface="Cambria Math" panose="02040503050406030204" pitchFamily="18" charset="0"/>
                      </a:rPr>
                      <m:t>E</m:t>
                    </m:r>
                    <m:r>
                      <a:rPr lang="en-AU" sz="2000" b="0" i="0" smtClean="0">
                        <a:solidFill>
                          <a:schemeClr val="accent5">
                            <a:lumMod val="10000"/>
                          </a:schemeClr>
                        </a:solidFill>
                        <a:latin typeface="Cambria Math" panose="02040503050406030204" pitchFamily="18" charset="0"/>
                      </a:rPr>
                      <m:t>=</m:t>
                    </m:r>
                    <m:r>
                      <m:rPr>
                        <m:sty m:val="p"/>
                      </m:rPr>
                      <a:rPr lang="en-AU" sz="2000" b="0" i="0" smtClean="0">
                        <a:solidFill>
                          <a:schemeClr val="accent5">
                            <a:lumMod val="10000"/>
                          </a:schemeClr>
                        </a:solidFill>
                        <a:latin typeface="Cambria Math" panose="02040503050406030204" pitchFamily="18" charset="0"/>
                      </a:rPr>
                      <m:t>hf</m:t>
                    </m:r>
                    <m:r>
                      <a:rPr lang="en-AU" sz="2000" b="0" i="0" smtClean="0">
                        <a:solidFill>
                          <a:schemeClr val="accent5">
                            <a:lumMod val="10000"/>
                          </a:schemeClr>
                        </a:solidFill>
                        <a:latin typeface="Cambria Math" panose="02040503050406030204" pitchFamily="18" charset="0"/>
                      </a:rPr>
                      <m:t>=</m:t>
                    </m:r>
                    <m:f>
                      <m:fPr>
                        <m:ctrlPr>
                          <a:rPr lang="en-AU" sz="2000" b="0" i="1" smtClean="0">
                            <a:solidFill>
                              <a:schemeClr val="accent5">
                                <a:lumMod val="10000"/>
                              </a:schemeClr>
                            </a:solidFill>
                            <a:latin typeface="Cambria Math" panose="02040503050406030204" pitchFamily="18" charset="0"/>
                          </a:rPr>
                        </m:ctrlPr>
                      </m:fPr>
                      <m:num>
                        <m:r>
                          <m:rPr>
                            <m:sty m:val="p"/>
                          </m:rPr>
                          <a:rPr lang="en-AU" sz="2000" b="0" i="0" smtClean="0">
                            <a:solidFill>
                              <a:schemeClr val="accent5">
                                <a:lumMod val="10000"/>
                              </a:schemeClr>
                            </a:solidFill>
                            <a:latin typeface="Cambria Math" panose="02040503050406030204" pitchFamily="18" charset="0"/>
                          </a:rPr>
                          <m:t>hc</m:t>
                        </m:r>
                      </m:num>
                      <m:den>
                        <m:r>
                          <m:rPr>
                            <m:sty m:val="p"/>
                          </m:rPr>
                          <a:rPr lang="el-GR" sz="2000" b="0" i="0" smtClean="0">
                            <a:solidFill>
                              <a:schemeClr val="accent5">
                                <a:lumMod val="10000"/>
                              </a:schemeClr>
                            </a:solidFill>
                            <a:latin typeface="Cambria Math" panose="02040503050406030204" pitchFamily="18" charset="0"/>
                          </a:rPr>
                          <m:t>λ</m:t>
                        </m:r>
                      </m:den>
                    </m:f>
                    <m:r>
                      <a:rPr lang="en-AU" sz="2000" b="0" i="0" smtClean="0">
                        <a:solidFill>
                          <a:schemeClr val="accent5">
                            <a:lumMod val="10000"/>
                          </a:schemeClr>
                        </a:solidFill>
                        <a:latin typeface="Cambria Math" panose="02040503050406030204" pitchFamily="18" charset="0"/>
                      </a:rPr>
                      <m:t>=</m:t>
                    </m:r>
                    <m:f>
                      <m:fPr>
                        <m:ctrlPr>
                          <a:rPr lang="en-AU" sz="2000" b="0" i="1" smtClean="0">
                            <a:solidFill>
                              <a:schemeClr val="accent5">
                                <a:lumMod val="10000"/>
                              </a:schemeClr>
                            </a:solidFill>
                            <a:latin typeface="Cambria Math" panose="02040503050406030204" pitchFamily="18" charset="0"/>
                            <a:ea typeface="Cambria Math" panose="02040503050406030204" pitchFamily="18" charset="0"/>
                          </a:rPr>
                        </m:ctrlPr>
                      </m:fPr>
                      <m:num>
                        <m:d>
                          <m:dPr>
                            <m:ctrlPr>
                              <a:rPr lang="en-AU" sz="2000" b="0" i="1" smtClean="0">
                                <a:solidFill>
                                  <a:schemeClr val="accent5">
                                    <a:lumMod val="10000"/>
                                  </a:schemeClr>
                                </a:solidFill>
                                <a:latin typeface="Cambria Math" panose="02040503050406030204" pitchFamily="18" charset="0"/>
                              </a:rPr>
                            </m:ctrlPr>
                          </m:dPr>
                          <m:e>
                            <m:r>
                              <a:rPr lang="en-AU" sz="2000" b="0" i="0" smtClean="0">
                                <a:solidFill>
                                  <a:schemeClr val="accent5">
                                    <a:lumMod val="10000"/>
                                  </a:schemeClr>
                                </a:solidFill>
                                <a:latin typeface="Cambria Math" panose="02040503050406030204" pitchFamily="18" charset="0"/>
                              </a:rPr>
                              <m:t>6.63</m:t>
                            </m:r>
                            <m:r>
                              <a:rPr lang="en-AU" sz="2000" b="0" i="0" smtClean="0">
                                <a:solidFill>
                                  <a:schemeClr val="accent5">
                                    <a:lumMod val="10000"/>
                                  </a:schemeClr>
                                </a:solidFill>
                                <a:latin typeface="Cambria Math" panose="02040503050406030204" pitchFamily="18" charset="0"/>
                                <a:ea typeface="Cambria Math" panose="02040503050406030204" pitchFamily="18" charset="0"/>
                              </a:rPr>
                              <m:t>×</m:t>
                            </m:r>
                            <m:sSup>
                              <m:sSupPr>
                                <m:ctrlPr>
                                  <a:rPr lang="en-AU" sz="20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000" b="0" i="0" smtClean="0">
                                    <a:solidFill>
                                      <a:schemeClr val="accent5">
                                        <a:lumMod val="10000"/>
                                      </a:schemeClr>
                                    </a:solidFill>
                                    <a:latin typeface="Cambria Math" panose="02040503050406030204" pitchFamily="18" charset="0"/>
                                    <a:ea typeface="Cambria Math" panose="02040503050406030204" pitchFamily="18" charset="0"/>
                                  </a:rPr>
                                  <m:t>10</m:t>
                                </m:r>
                              </m:e>
                              <m:sup>
                                <m:r>
                                  <a:rPr lang="en-AU" sz="2000" b="0" i="0" smtClean="0">
                                    <a:solidFill>
                                      <a:schemeClr val="accent5">
                                        <a:lumMod val="10000"/>
                                      </a:schemeClr>
                                    </a:solidFill>
                                    <a:latin typeface="Cambria Math" panose="02040503050406030204" pitchFamily="18" charset="0"/>
                                    <a:ea typeface="Cambria Math" panose="02040503050406030204" pitchFamily="18" charset="0"/>
                                  </a:rPr>
                                  <m:t>−34</m:t>
                                </m:r>
                              </m:sup>
                            </m:sSup>
                          </m:e>
                        </m:d>
                        <m:d>
                          <m:dPr>
                            <m:ctrlPr>
                              <a:rPr lang="en-AU" sz="2000" b="0" i="1" smtClean="0">
                                <a:solidFill>
                                  <a:schemeClr val="accent5">
                                    <a:lumMod val="10000"/>
                                  </a:schemeClr>
                                </a:solidFill>
                                <a:latin typeface="Cambria Math" panose="02040503050406030204" pitchFamily="18" charset="0"/>
                                <a:ea typeface="Cambria Math" panose="02040503050406030204" pitchFamily="18" charset="0"/>
                              </a:rPr>
                            </m:ctrlPr>
                          </m:dPr>
                          <m:e>
                            <m:r>
                              <a:rPr lang="en-AU" sz="2000" b="0" i="0" smtClean="0">
                                <a:solidFill>
                                  <a:schemeClr val="accent5">
                                    <a:lumMod val="10000"/>
                                  </a:schemeClr>
                                </a:solidFill>
                                <a:latin typeface="Cambria Math" panose="02040503050406030204" pitchFamily="18" charset="0"/>
                                <a:ea typeface="Cambria Math" panose="02040503050406030204" pitchFamily="18" charset="0"/>
                              </a:rPr>
                              <m:t>3×</m:t>
                            </m:r>
                            <m:sSup>
                              <m:sSupPr>
                                <m:ctrlPr>
                                  <a:rPr lang="en-AU" sz="20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000" b="0" i="0" smtClean="0">
                                    <a:solidFill>
                                      <a:schemeClr val="accent5">
                                        <a:lumMod val="10000"/>
                                      </a:schemeClr>
                                    </a:solidFill>
                                    <a:latin typeface="Cambria Math" panose="02040503050406030204" pitchFamily="18" charset="0"/>
                                    <a:ea typeface="Cambria Math" panose="02040503050406030204" pitchFamily="18" charset="0"/>
                                  </a:rPr>
                                  <m:t>10</m:t>
                                </m:r>
                              </m:e>
                              <m:sup>
                                <m:r>
                                  <a:rPr lang="en-AU" sz="2000" b="0" i="0" smtClean="0">
                                    <a:solidFill>
                                      <a:schemeClr val="accent5">
                                        <a:lumMod val="10000"/>
                                      </a:schemeClr>
                                    </a:solidFill>
                                    <a:latin typeface="Cambria Math" panose="02040503050406030204" pitchFamily="18" charset="0"/>
                                    <a:ea typeface="Cambria Math" panose="02040503050406030204" pitchFamily="18" charset="0"/>
                                  </a:rPr>
                                  <m:t>8</m:t>
                                </m:r>
                              </m:sup>
                            </m:sSup>
                          </m:e>
                        </m:d>
                      </m:num>
                      <m:den>
                        <m:r>
                          <a:rPr lang="en-AU" sz="2000" b="0" i="0" smtClean="0">
                            <a:solidFill>
                              <a:schemeClr val="accent5">
                                <a:lumMod val="10000"/>
                              </a:schemeClr>
                            </a:solidFill>
                            <a:latin typeface="Cambria Math" panose="02040503050406030204" pitchFamily="18" charset="0"/>
                            <a:ea typeface="Cambria Math" panose="02040503050406030204" pitchFamily="18" charset="0"/>
                          </a:rPr>
                          <m:t>40×</m:t>
                        </m:r>
                        <m:sSup>
                          <m:sSupPr>
                            <m:ctrlPr>
                              <a:rPr lang="en-AU" sz="20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000" b="0" i="0" smtClean="0">
                                <a:solidFill>
                                  <a:schemeClr val="accent5">
                                    <a:lumMod val="10000"/>
                                  </a:schemeClr>
                                </a:solidFill>
                                <a:latin typeface="Cambria Math" panose="02040503050406030204" pitchFamily="18" charset="0"/>
                                <a:ea typeface="Cambria Math" panose="02040503050406030204" pitchFamily="18" charset="0"/>
                              </a:rPr>
                              <m:t>10</m:t>
                            </m:r>
                          </m:e>
                          <m:sup>
                            <m:r>
                              <a:rPr lang="en-AU" sz="2000" b="0" i="0" smtClean="0">
                                <a:solidFill>
                                  <a:schemeClr val="accent5">
                                    <a:lumMod val="10000"/>
                                  </a:schemeClr>
                                </a:solidFill>
                                <a:latin typeface="Cambria Math" panose="02040503050406030204" pitchFamily="18" charset="0"/>
                                <a:ea typeface="Cambria Math" panose="02040503050406030204" pitchFamily="18" charset="0"/>
                              </a:rPr>
                              <m:t>−3</m:t>
                            </m:r>
                          </m:sup>
                        </m:sSup>
                      </m:den>
                    </m:f>
                    <m:r>
                      <a:rPr lang="en-AU" sz="2000" b="0" i="0" smtClean="0">
                        <a:solidFill>
                          <a:schemeClr val="accent5">
                            <a:lumMod val="10000"/>
                          </a:schemeClr>
                        </a:solidFill>
                        <a:latin typeface="Cambria Math" panose="02040503050406030204" pitchFamily="18" charset="0"/>
                        <a:ea typeface="Cambria Math" panose="02040503050406030204" pitchFamily="18" charset="0"/>
                      </a:rPr>
                      <m:t>=4.97×</m:t>
                    </m:r>
                    <m:sSup>
                      <m:sSupPr>
                        <m:ctrlPr>
                          <a:rPr lang="en-AU" sz="20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000" b="0" i="0" smtClean="0">
                            <a:solidFill>
                              <a:schemeClr val="accent5">
                                <a:lumMod val="10000"/>
                              </a:schemeClr>
                            </a:solidFill>
                            <a:latin typeface="Cambria Math" panose="02040503050406030204" pitchFamily="18" charset="0"/>
                            <a:ea typeface="Cambria Math" panose="02040503050406030204" pitchFamily="18" charset="0"/>
                          </a:rPr>
                          <m:t>10</m:t>
                        </m:r>
                      </m:e>
                      <m:sup>
                        <m:r>
                          <a:rPr lang="en-AU" sz="2000" b="0" i="0" smtClean="0">
                            <a:solidFill>
                              <a:schemeClr val="accent5">
                                <a:lumMod val="10000"/>
                              </a:schemeClr>
                            </a:solidFill>
                            <a:latin typeface="Cambria Math" panose="02040503050406030204" pitchFamily="18" charset="0"/>
                            <a:ea typeface="Cambria Math" panose="02040503050406030204" pitchFamily="18" charset="0"/>
                          </a:rPr>
                          <m:t>−24</m:t>
                        </m:r>
                      </m:sup>
                    </m:sSup>
                    <m:r>
                      <a:rPr lang="en-AU" sz="2000" b="0" i="0" smtClean="0">
                        <a:solidFill>
                          <a:schemeClr val="accent5">
                            <a:lumMod val="10000"/>
                          </a:schemeClr>
                        </a:solidFill>
                        <a:latin typeface="Cambria Math" panose="02040503050406030204" pitchFamily="18" charset="0"/>
                        <a:ea typeface="Cambria Math" panose="02040503050406030204" pitchFamily="18" charset="0"/>
                      </a:rPr>
                      <m:t> </m:t>
                    </m:r>
                    <m:r>
                      <m:rPr>
                        <m:sty m:val="p"/>
                      </m:rPr>
                      <a:rPr lang="en-AU" sz="2000" b="0" i="0" smtClean="0">
                        <a:solidFill>
                          <a:schemeClr val="accent5">
                            <a:lumMod val="10000"/>
                          </a:schemeClr>
                        </a:solidFill>
                        <a:latin typeface="Cambria Math" panose="02040503050406030204" pitchFamily="18" charset="0"/>
                        <a:ea typeface="Cambria Math" panose="02040503050406030204" pitchFamily="18" charset="0"/>
                      </a:rPr>
                      <m:t>J</m:t>
                    </m:r>
                    <m:r>
                      <a:rPr lang="en-AU" sz="2000" b="0" i="1" smtClean="0">
                        <a:solidFill>
                          <a:schemeClr val="accent5">
                            <a:lumMod val="10000"/>
                          </a:schemeClr>
                        </a:solidFill>
                        <a:latin typeface="Cambria Math" panose="02040503050406030204" pitchFamily="18" charset="0"/>
                        <a:ea typeface="Cambria Math" panose="02040503050406030204" pitchFamily="18" charset="0"/>
                      </a:rPr>
                      <m:t> </m:t>
                    </m:r>
                  </m:oMath>
                </a14:m>
                <a:endParaRPr lang="en-AU" sz="2000" b="0" dirty="0">
                  <a:solidFill>
                    <a:schemeClr val="accent5">
                      <a:lumMod val="10000"/>
                    </a:schemeClr>
                  </a:solidFill>
                  <a:ea typeface="Cambria Math" panose="02040503050406030204" pitchFamily="18" charset="0"/>
                </a:endParaRPr>
              </a:p>
              <a:p>
                <a:pPr marL="457200" indent="-457200">
                  <a:lnSpc>
                    <a:spcPct val="200000"/>
                  </a:lnSpc>
                  <a:buAutoNum type="alphaLcParenR"/>
                </a:pPr>
                <a:r>
                  <a:rPr lang="en-AU" sz="2000" dirty="0">
                    <a:solidFill>
                      <a:schemeClr val="accent5">
                        <a:lumMod val="10000"/>
                      </a:schemeClr>
                    </a:solidFill>
                  </a:rPr>
                  <a:t> In one second:  </a:t>
                </a:r>
                <a14:m>
                  <m:oMath xmlns:m="http://schemas.openxmlformats.org/officeDocument/2006/math">
                    <m:f>
                      <m:fPr>
                        <m:ctrlPr>
                          <a:rPr lang="en-AU" sz="2000" b="0" i="1" smtClean="0">
                            <a:solidFill>
                              <a:schemeClr val="accent5">
                                <a:lumMod val="10000"/>
                              </a:schemeClr>
                            </a:solidFill>
                            <a:latin typeface="Cambria Math" panose="02040503050406030204" pitchFamily="18" charset="0"/>
                          </a:rPr>
                        </m:ctrlPr>
                      </m:fPr>
                      <m:num>
                        <m:r>
                          <a:rPr lang="en-AU" sz="2000" b="0" i="1" smtClean="0">
                            <a:solidFill>
                              <a:schemeClr val="accent5">
                                <a:lumMod val="10000"/>
                              </a:schemeClr>
                            </a:solidFill>
                            <a:latin typeface="Cambria Math" panose="02040503050406030204" pitchFamily="18" charset="0"/>
                          </a:rPr>
                          <m:t>50</m:t>
                        </m:r>
                      </m:num>
                      <m:den>
                        <m:r>
                          <a:rPr lang="en-AU" sz="2000" b="0" i="1" smtClean="0">
                            <a:solidFill>
                              <a:schemeClr val="accent5">
                                <a:lumMod val="10000"/>
                              </a:schemeClr>
                            </a:solidFill>
                            <a:latin typeface="Cambria Math" panose="02040503050406030204" pitchFamily="18" charset="0"/>
                          </a:rPr>
                          <m:t>4.97</m:t>
                        </m:r>
                        <m:r>
                          <a:rPr lang="en-AU" sz="2000" b="0" i="1" smtClean="0">
                            <a:solidFill>
                              <a:schemeClr val="accent5">
                                <a:lumMod val="10000"/>
                              </a:schemeClr>
                            </a:solidFill>
                            <a:latin typeface="Cambria Math" panose="02040503050406030204" pitchFamily="18" charset="0"/>
                            <a:ea typeface="Cambria Math" panose="02040503050406030204" pitchFamily="18" charset="0"/>
                          </a:rPr>
                          <m:t>×</m:t>
                        </m:r>
                        <m:sSup>
                          <m:sSupPr>
                            <m:ctrlPr>
                              <a:rPr lang="en-AU" sz="20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000"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sz="2000" b="0" i="1" smtClean="0">
                                <a:solidFill>
                                  <a:schemeClr val="accent5">
                                    <a:lumMod val="10000"/>
                                  </a:schemeClr>
                                </a:solidFill>
                                <a:latin typeface="Cambria Math" panose="02040503050406030204" pitchFamily="18" charset="0"/>
                                <a:ea typeface="Cambria Math" panose="02040503050406030204" pitchFamily="18" charset="0"/>
                              </a:rPr>
                              <m:t>−24</m:t>
                            </m:r>
                          </m:sup>
                        </m:sSup>
                      </m:den>
                    </m:f>
                    <m:r>
                      <a:rPr lang="en-AU" sz="2000" b="0" i="1" smtClean="0">
                        <a:solidFill>
                          <a:schemeClr val="accent5">
                            <a:lumMod val="10000"/>
                          </a:schemeClr>
                        </a:solidFill>
                        <a:latin typeface="Cambria Math" panose="02040503050406030204" pitchFamily="18" charset="0"/>
                        <a:ea typeface="Cambria Math" panose="02040503050406030204" pitchFamily="18" charset="0"/>
                      </a:rPr>
                      <m:t> =1.01×</m:t>
                    </m:r>
                    <m:sSup>
                      <m:sSupPr>
                        <m:ctrlPr>
                          <a:rPr lang="en-AU" sz="20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000"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sz="2000" b="0" i="1" smtClean="0">
                            <a:solidFill>
                              <a:schemeClr val="accent5">
                                <a:lumMod val="10000"/>
                              </a:schemeClr>
                            </a:solidFill>
                            <a:latin typeface="Cambria Math" panose="02040503050406030204" pitchFamily="18" charset="0"/>
                            <a:ea typeface="Cambria Math" panose="02040503050406030204" pitchFamily="18" charset="0"/>
                          </a:rPr>
                          <m:t>25</m:t>
                        </m:r>
                      </m:sup>
                    </m:sSup>
                    <m:r>
                      <a:rPr lang="en-AU" sz="2000" b="0" i="1" smtClean="0">
                        <a:solidFill>
                          <a:schemeClr val="accent5">
                            <a:lumMod val="10000"/>
                          </a:schemeClr>
                        </a:solidFill>
                        <a:latin typeface="Cambria Math" panose="02040503050406030204" pitchFamily="18" charset="0"/>
                        <a:ea typeface="Cambria Math" panose="02040503050406030204" pitchFamily="18" charset="0"/>
                      </a:rPr>
                      <m:t>  </m:t>
                    </m:r>
                    <m:r>
                      <a:rPr lang="en-AU" sz="2000" b="0" i="1" smtClean="0">
                        <a:solidFill>
                          <a:schemeClr val="accent5">
                            <a:lumMod val="10000"/>
                          </a:schemeClr>
                        </a:solidFill>
                        <a:latin typeface="Cambria Math" panose="02040503050406030204" pitchFamily="18" charset="0"/>
                        <a:ea typeface="Cambria Math" panose="02040503050406030204" pitchFamily="18" charset="0"/>
                      </a:rPr>
                      <m:t>𝑝h𝑜𝑡𝑜𝑛𝑠</m:t>
                    </m:r>
                    <m:r>
                      <a:rPr lang="en-AU" sz="2000" b="0" i="1" smtClean="0">
                        <a:solidFill>
                          <a:schemeClr val="accent5">
                            <a:lumMod val="10000"/>
                          </a:schemeClr>
                        </a:solidFill>
                        <a:latin typeface="Cambria Math" panose="02040503050406030204" pitchFamily="18" charset="0"/>
                        <a:ea typeface="Cambria Math" panose="02040503050406030204" pitchFamily="18" charset="0"/>
                      </a:rPr>
                      <m:t> </m:t>
                    </m:r>
                    <m:r>
                      <a:rPr lang="en-AU" sz="2000" b="0" i="1" smtClean="0">
                        <a:solidFill>
                          <a:schemeClr val="accent5">
                            <a:lumMod val="10000"/>
                          </a:schemeClr>
                        </a:solidFill>
                        <a:latin typeface="Cambria Math" panose="02040503050406030204" pitchFamily="18" charset="0"/>
                        <a:ea typeface="Cambria Math" panose="02040503050406030204" pitchFamily="18" charset="0"/>
                      </a:rPr>
                      <m:t>𝑝𝑒𝑟</m:t>
                    </m:r>
                    <m:r>
                      <a:rPr lang="en-AU" sz="2000" b="0" i="1" smtClean="0">
                        <a:solidFill>
                          <a:schemeClr val="accent5">
                            <a:lumMod val="10000"/>
                          </a:schemeClr>
                        </a:solidFill>
                        <a:latin typeface="Cambria Math" panose="02040503050406030204" pitchFamily="18" charset="0"/>
                        <a:ea typeface="Cambria Math" panose="02040503050406030204" pitchFamily="18" charset="0"/>
                      </a:rPr>
                      <m:t> </m:t>
                    </m:r>
                    <m:r>
                      <a:rPr lang="en-AU" sz="2000" b="0" i="1" smtClean="0">
                        <a:solidFill>
                          <a:schemeClr val="accent5">
                            <a:lumMod val="10000"/>
                          </a:schemeClr>
                        </a:solidFill>
                        <a:latin typeface="Cambria Math" panose="02040503050406030204" pitchFamily="18" charset="0"/>
                        <a:ea typeface="Cambria Math" panose="02040503050406030204" pitchFamily="18" charset="0"/>
                      </a:rPr>
                      <m:t>𝑠𝑒𝑐𝑜𝑛𝑑</m:t>
                    </m:r>
                  </m:oMath>
                </a14:m>
                <a:endParaRPr lang="en-AU" sz="2000" dirty="0">
                  <a:solidFill>
                    <a:schemeClr val="accent5">
                      <a:lumMod val="10000"/>
                    </a:schemeClr>
                  </a:solidFill>
                </a:endParaRPr>
              </a:p>
            </p:txBody>
          </p:sp>
        </mc:Choice>
        <mc:Fallback xmlns="">
          <p:sp>
            <p:nvSpPr>
              <p:cNvPr id="4" name="TextBox 3">
                <a:extLst>
                  <a:ext uri="{FF2B5EF4-FFF2-40B4-BE49-F238E27FC236}">
                    <a16:creationId xmlns:a16="http://schemas.microsoft.com/office/drawing/2014/main" id="{08B049A9-3C93-4A9E-8A21-329A7F7BC5E9}"/>
                  </a:ext>
                </a:extLst>
              </p:cNvPr>
              <p:cNvSpPr txBox="1">
                <a:spLocks noRot="1" noChangeAspect="1" noMove="1" noResize="1" noEditPoints="1" noAdjustHandles="1" noChangeArrowheads="1" noChangeShapeType="1" noTextEdit="1"/>
              </p:cNvSpPr>
              <p:nvPr/>
            </p:nvSpPr>
            <p:spPr>
              <a:xfrm>
                <a:off x="1233182" y="3573710"/>
                <a:ext cx="7474591" cy="2269211"/>
              </a:xfrm>
              <a:prstGeom prst="rect">
                <a:avLst/>
              </a:prstGeom>
              <a:blipFill>
                <a:blip r:embed="rId2"/>
                <a:stretch>
                  <a:fillRect l="-897" t="-1344"/>
                </a:stretch>
              </a:blipFill>
            </p:spPr>
            <p:txBody>
              <a:bodyPr/>
              <a:lstStyle/>
              <a:p>
                <a:r>
                  <a:rPr lang="en-AU">
                    <a:noFill/>
                  </a:rPr>
                  <a:t> </a:t>
                </a:r>
              </a:p>
            </p:txBody>
          </p:sp>
        </mc:Fallback>
      </mc:AlternateContent>
    </p:spTree>
    <p:extLst>
      <p:ext uri="{BB962C8B-B14F-4D97-AF65-F5344CB8AC3E}">
        <p14:creationId xmlns:p14="http://schemas.microsoft.com/office/powerpoint/2010/main" val="1077771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09285-8F20-4865-BB52-DAB1272EE8FA}"/>
              </a:ext>
            </a:extLst>
          </p:cNvPr>
          <p:cNvSpPr>
            <a:spLocks noGrp="1"/>
          </p:cNvSpPr>
          <p:nvPr>
            <p:ph type="title"/>
          </p:nvPr>
        </p:nvSpPr>
        <p:spPr>
          <a:xfrm>
            <a:off x="982133" y="457201"/>
            <a:ext cx="7704667" cy="843093"/>
          </a:xfrm>
        </p:spPr>
        <p:txBody>
          <a:bodyPr/>
          <a:lstStyle/>
          <a:p>
            <a:r>
              <a:rPr lang="en-AU" dirty="0">
                <a:solidFill>
                  <a:schemeClr val="accent5">
                    <a:lumMod val="10000"/>
                  </a:schemeClr>
                </a:solidFill>
              </a:rPr>
              <a:t>Photoelectric effect</a:t>
            </a:r>
          </a:p>
        </p:txBody>
      </p:sp>
      <p:sp>
        <p:nvSpPr>
          <p:cNvPr id="3" name="Content Placeholder 2">
            <a:extLst>
              <a:ext uri="{FF2B5EF4-FFF2-40B4-BE49-F238E27FC236}">
                <a16:creationId xmlns:a16="http://schemas.microsoft.com/office/drawing/2014/main" id="{C4F41F7F-2D75-4C06-89A3-92E7483DA534}"/>
              </a:ext>
            </a:extLst>
          </p:cNvPr>
          <p:cNvSpPr>
            <a:spLocks noGrp="1"/>
          </p:cNvSpPr>
          <p:nvPr>
            <p:ph idx="1"/>
          </p:nvPr>
        </p:nvSpPr>
        <p:spPr>
          <a:xfrm>
            <a:off x="982133" y="1232483"/>
            <a:ext cx="7704667" cy="4908258"/>
          </a:xfrm>
        </p:spPr>
        <p:txBody>
          <a:bodyPr>
            <a:normAutofit/>
          </a:bodyPr>
          <a:lstStyle/>
          <a:p>
            <a:r>
              <a:rPr lang="en-AU" dirty="0">
                <a:solidFill>
                  <a:schemeClr val="accent5">
                    <a:lumMod val="10000"/>
                  </a:schemeClr>
                </a:solidFill>
              </a:rPr>
              <a:t>The photoelectric effect is the emission of electrons or other free charge carriers when a light is shone on a material.</a:t>
            </a:r>
          </a:p>
          <a:p>
            <a:r>
              <a:rPr lang="en-AU" dirty="0">
                <a:solidFill>
                  <a:schemeClr val="accent5">
                    <a:lumMod val="10000"/>
                  </a:schemeClr>
                </a:solidFill>
              </a:rPr>
              <a:t>Electrons emitted in this way are called </a:t>
            </a:r>
            <a:r>
              <a:rPr lang="en-AU" dirty="0" err="1">
                <a:solidFill>
                  <a:schemeClr val="accent5">
                    <a:lumMod val="10000"/>
                  </a:schemeClr>
                </a:solidFill>
              </a:rPr>
              <a:t>phototelectrons</a:t>
            </a:r>
            <a:r>
              <a:rPr lang="en-AU" dirty="0">
                <a:solidFill>
                  <a:schemeClr val="accent5">
                    <a:lumMod val="10000"/>
                  </a:schemeClr>
                </a:solidFill>
              </a:rPr>
              <a:t> (but there is nothing to differentiate them other electrons, they have the same mass, charge, spin and magnetic moment).</a:t>
            </a:r>
          </a:p>
          <a:p>
            <a:r>
              <a:rPr lang="en-AU" dirty="0">
                <a:solidFill>
                  <a:schemeClr val="accent5">
                    <a:lumMod val="10000"/>
                  </a:schemeClr>
                </a:solidFill>
              </a:rPr>
              <a:t>The photoelectric effect was first observed by Hertz in 1887 during experiments with a spark-gap generator (the earliest form of radio receiver).</a:t>
            </a:r>
          </a:p>
          <a:p>
            <a:endParaRPr lang="en-AU" dirty="0"/>
          </a:p>
        </p:txBody>
      </p:sp>
    </p:spTree>
    <p:extLst>
      <p:ext uri="{BB962C8B-B14F-4D97-AF65-F5344CB8AC3E}">
        <p14:creationId xmlns:p14="http://schemas.microsoft.com/office/powerpoint/2010/main" val="24705479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27FC79-D69C-453A-9F4B-F6AB23F63442}"/>
              </a:ext>
            </a:extLst>
          </p:cNvPr>
          <p:cNvSpPr>
            <a:spLocks noGrp="1"/>
          </p:cNvSpPr>
          <p:nvPr>
            <p:ph idx="1"/>
          </p:nvPr>
        </p:nvSpPr>
        <p:spPr>
          <a:xfrm>
            <a:off x="1439333" y="3623345"/>
            <a:ext cx="7704667" cy="3332816"/>
          </a:xfrm>
        </p:spPr>
        <p:txBody>
          <a:bodyPr>
            <a:normAutofit fontScale="92500" lnSpcReduction="10000"/>
          </a:bodyPr>
          <a:lstStyle/>
          <a:p>
            <a:r>
              <a:rPr lang="en-AU" dirty="0">
                <a:solidFill>
                  <a:schemeClr val="accent5">
                    <a:lumMod val="10000"/>
                  </a:schemeClr>
                </a:solidFill>
              </a:rPr>
              <a:t>In Hertz’s experiments, a spark is generated between two small metal spheres in the transmitter to induce a similar spark to jump between two metal spheres on the receiver.</a:t>
            </a:r>
          </a:p>
          <a:p>
            <a:r>
              <a:rPr lang="en-AU" dirty="0">
                <a:solidFill>
                  <a:schemeClr val="accent5">
                    <a:lumMod val="10000"/>
                  </a:schemeClr>
                </a:solidFill>
              </a:rPr>
              <a:t>Hertz found that he could increase the sensitivity of the his spark-gap generator by illuminating it with visible or ultraviolet light.</a:t>
            </a:r>
          </a:p>
          <a:p>
            <a:r>
              <a:rPr lang="en-AU" dirty="0">
                <a:solidFill>
                  <a:schemeClr val="accent5">
                    <a:lumMod val="10000"/>
                  </a:schemeClr>
                </a:solidFill>
              </a:rPr>
              <a:t>Later studies by Thomson showed that the increased sensitivity was the result of the interaction of the light with electrons.</a:t>
            </a:r>
          </a:p>
          <a:p>
            <a:endParaRPr lang="en-AU" dirty="0"/>
          </a:p>
        </p:txBody>
      </p:sp>
      <p:pic>
        <p:nvPicPr>
          <p:cNvPr id="4" name="Picture 3">
            <a:extLst>
              <a:ext uri="{FF2B5EF4-FFF2-40B4-BE49-F238E27FC236}">
                <a16:creationId xmlns:a16="http://schemas.microsoft.com/office/drawing/2014/main" id="{7446B52B-C020-4E77-A3C6-A8ECDF256D64}"/>
              </a:ext>
            </a:extLst>
          </p:cNvPr>
          <p:cNvPicPr>
            <a:picLocks noChangeAspect="1"/>
          </p:cNvPicPr>
          <p:nvPr/>
        </p:nvPicPr>
        <p:blipFill>
          <a:blip r:embed="rId2"/>
          <a:stretch>
            <a:fillRect/>
          </a:stretch>
        </p:blipFill>
        <p:spPr>
          <a:xfrm>
            <a:off x="1316822" y="427839"/>
            <a:ext cx="6933751" cy="2860646"/>
          </a:xfrm>
          <a:prstGeom prst="rect">
            <a:avLst/>
          </a:prstGeom>
        </p:spPr>
      </p:pic>
    </p:spTree>
    <p:extLst>
      <p:ext uri="{BB962C8B-B14F-4D97-AF65-F5344CB8AC3E}">
        <p14:creationId xmlns:p14="http://schemas.microsoft.com/office/powerpoint/2010/main" val="11806197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9CE4A9-5190-4235-962D-B90D54EB7933}"/>
              </a:ext>
            </a:extLst>
          </p:cNvPr>
          <p:cNvSpPr>
            <a:spLocks noGrp="1"/>
          </p:cNvSpPr>
          <p:nvPr>
            <p:ph idx="1"/>
          </p:nvPr>
        </p:nvSpPr>
        <p:spPr>
          <a:xfrm>
            <a:off x="1107968" y="452307"/>
            <a:ext cx="7704667" cy="2341227"/>
          </a:xfrm>
        </p:spPr>
        <p:txBody>
          <a:bodyPr>
            <a:normAutofit/>
          </a:bodyPr>
          <a:lstStyle/>
          <a:p>
            <a:r>
              <a:rPr lang="en-AU" dirty="0">
                <a:solidFill>
                  <a:schemeClr val="accent5">
                    <a:lumMod val="10000"/>
                  </a:schemeClr>
                </a:solidFill>
              </a:rPr>
              <a:t>To explain the photoelectric effect modern physics uses a model of light in which it is discrete packets of energy.  We call these energy packets photons.</a:t>
            </a:r>
          </a:p>
          <a:p>
            <a:endParaRPr lang="en-AU" dirty="0">
              <a:solidFill>
                <a:schemeClr val="accent5">
                  <a:lumMod val="10000"/>
                </a:schemeClr>
              </a:solidFill>
            </a:endParaRPr>
          </a:p>
        </p:txBody>
      </p:sp>
      <p:pic>
        <p:nvPicPr>
          <p:cNvPr id="4" name="Picture 3" descr="A picture containing thing&#10;&#10;Description generated with very high confidence">
            <a:extLst>
              <a:ext uri="{FF2B5EF4-FFF2-40B4-BE49-F238E27FC236}">
                <a16:creationId xmlns:a16="http://schemas.microsoft.com/office/drawing/2014/main" id="{A2D2121B-227C-498C-BD07-C505E72F35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3979" y="2830017"/>
            <a:ext cx="5294086" cy="2731884"/>
          </a:xfrm>
          <a:prstGeom prst="rect">
            <a:avLst/>
          </a:prstGeom>
        </p:spPr>
      </p:pic>
    </p:spTree>
    <p:extLst>
      <p:ext uri="{BB962C8B-B14F-4D97-AF65-F5344CB8AC3E}">
        <p14:creationId xmlns:p14="http://schemas.microsoft.com/office/powerpoint/2010/main" val="38202963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CC4C2-7305-49A4-AE26-7B87C4000DF0}"/>
              </a:ext>
            </a:extLst>
          </p:cNvPr>
          <p:cNvSpPr>
            <a:spLocks noGrp="1"/>
          </p:cNvSpPr>
          <p:nvPr>
            <p:ph type="title"/>
          </p:nvPr>
        </p:nvSpPr>
        <p:spPr>
          <a:xfrm>
            <a:off x="1017643" y="288525"/>
            <a:ext cx="7704667" cy="909960"/>
          </a:xfrm>
        </p:spPr>
        <p:txBody>
          <a:bodyPr/>
          <a:lstStyle/>
          <a:p>
            <a:r>
              <a:rPr lang="en-AU" dirty="0">
                <a:solidFill>
                  <a:schemeClr val="accent5">
                    <a:lumMod val="10000"/>
                  </a:schemeClr>
                </a:solidFill>
              </a:rPr>
              <a:t>Photoelectric effect experiment</a:t>
            </a:r>
          </a:p>
        </p:txBody>
      </p:sp>
      <p:sp>
        <p:nvSpPr>
          <p:cNvPr id="3" name="Content Placeholder 2">
            <a:extLst>
              <a:ext uri="{FF2B5EF4-FFF2-40B4-BE49-F238E27FC236}">
                <a16:creationId xmlns:a16="http://schemas.microsoft.com/office/drawing/2014/main" id="{4DC0A7DC-1C8E-42F7-9744-57E287F8986D}"/>
              </a:ext>
            </a:extLst>
          </p:cNvPr>
          <p:cNvSpPr>
            <a:spLocks noGrp="1"/>
          </p:cNvSpPr>
          <p:nvPr>
            <p:ph idx="1"/>
          </p:nvPr>
        </p:nvSpPr>
        <p:spPr>
          <a:xfrm>
            <a:off x="955500" y="1211062"/>
            <a:ext cx="7704667" cy="1691936"/>
          </a:xfrm>
        </p:spPr>
        <p:txBody>
          <a:bodyPr>
            <a:normAutofit lnSpcReduction="10000"/>
          </a:bodyPr>
          <a:lstStyle/>
          <a:p>
            <a:r>
              <a:rPr lang="en-AU" dirty="0">
                <a:solidFill>
                  <a:schemeClr val="accent5">
                    <a:lumMod val="10000"/>
                  </a:schemeClr>
                </a:solidFill>
              </a:rPr>
              <a:t>Light from a monochromatic source is beamed onto a photo emissive surface.  </a:t>
            </a:r>
          </a:p>
          <a:p>
            <a:r>
              <a:rPr lang="en-AU" dirty="0">
                <a:solidFill>
                  <a:schemeClr val="accent5">
                    <a:lumMod val="10000"/>
                  </a:schemeClr>
                </a:solidFill>
              </a:rPr>
              <a:t>When the light hits the surface electrons are released from the surface, leaving the plate with a positive charge.</a:t>
            </a:r>
          </a:p>
        </p:txBody>
      </p:sp>
      <p:pic>
        <p:nvPicPr>
          <p:cNvPr id="5" name="Picture 4" descr="A picture containing screenshot&#10;&#10;Description generated with very high confidence">
            <a:extLst>
              <a:ext uri="{FF2B5EF4-FFF2-40B4-BE49-F238E27FC236}">
                <a16:creationId xmlns:a16="http://schemas.microsoft.com/office/drawing/2014/main" id="{CA5F8C16-BF4D-4418-9586-4A0DB5A754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9654" y="3110925"/>
            <a:ext cx="4284446" cy="3528694"/>
          </a:xfrm>
          <a:prstGeom prst="rect">
            <a:avLst/>
          </a:prstGeom>
        </p:spPr>
      </p:pic>
      <p:sp>
        <p:nvSpPr>
          <p:cNvPr id="6" name="TextBox 5">
            <a:extLst>
              <a:ext uri="{FF2B5EF4-FFF2-40B4-BE49-F238E27FC236}">
                <a16:creationId xmlns:a16="http://schemas.microsoft.com/office/drawing/2014/main" id="{AB735E8B-7633-4E75-BB86-BE143F497DCD}"/>
              </a:ext>
            </a:extLst>
          </p:cNvPr>
          <p:cNvSpPr txBox="1"/>
          <p:nvPr/>
        </p:nvSpPr>
        <p:spPr>
          <a:xfrm>
            <a:off x="967666" y="2814221"/>
            <a:ext cx="3675356" cy="3046988"/>
          </a:xfrm>
          <a:prstGeom prst="rect">
            <a:avLst/>
          </a:prstGeom>
          <a:noFill/>
        </p:spPr>
        <p:txBody>
          <a:bodyPr wrap="square" rtlCol="0">
            <a:spAutoFit/>
          </a:bodyPr>
          <a:lstStyle/>
          <a:p>
            <a:pPr marL="285750" indent="-285750">
              <a:buFont typeface="Arial" panose="020B0604020202020204" pitchFamily="34" charset="0"/>
              <a:buChar char="•"/>
            </a:pPr>
            <a:r>
              <a:rPr lang="en-AU" sz="2400" dirty="0">
                <a:solidFill>
                  <a:schemeClr val="accent5">
                    <a:lumMod val="10000"/>
                  </a:schemeClr>
                </a:solidFill>
              </a:rPr>
              <a:t>The electrons move off in all directions and some make it to be absorbed by the collector surface, leaving the plate with a negative charge.</a:t>
            </a:r>
          </a:p>
          <a:p>
            <a:pPr marL="285750" indent="-285750">
              <a:buFont typeface="Arial" panose="020B0604020202020204" pitchFamily="34" charset="0"/>
              <a:buChar char="•"/>
            </a:pPr>
            <a:r>
              <a:rPr lang="en-AU" sz="2400" dirty="0">
                <a:solidFill>
                  <a:schemeClr val="accent5">
                    <a:lumMod val="10000"/>
                  </a:schemeClr>
                </a:solidFill>
              </a:rPr>
              <a:t>This causes a current to flow.</a:t>
            </a:r>
          </a:p>
        </p:txBody>
      </p:sp>
    </p:spTree>
    <p:extLst>
      <p:ext uri="{BB962C8B-B14F-4D97-AF65-F5344CB8AC3E}">
        <p14:creationId xmlns:p14="http://schemas.microsoft.com/office/powerpoint/2010/main" val="3397321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FAB9E9-3536-494D-8020-D5951D8B6FCA}"/>
              </a:ext>
            </a:extLst>
          </p:cNvPr>
          <p:cNvSpPr>
            <a:spLocks noGrp="1"/>
          </p:cNvSpPr>
          <p:nvPr>
            <p:ph idx="1"/>
          </p:nvPr>
        </p:nvSpPr>
        <p:spPr>
          <a:xfrm>
            <a:off x="941033" y="225804"/>
            <a:ext cx="7947103" cy="1283400"/>
          </a:xfrm>
        </p:spPr>
        <p:txBody>
          <a:bodyPr>
            <a:normAutofit/>
          </a:bodyPr>
          <a:lstStyle/>
          <a:p>
            <a:r>
              <a:rPr lang="en-AU" dirty="0">
                <a:solidFill>
                  <a:schemeClr val="accent5">
                    <a:lumMod val="10000"/>
                  </a:schemeClr>
                </a:solidFill>
              </a:rPr>
              <a:t>To avoid interference of gas in the transfer of electrons the two plates are usually enclosed in a vacuum tube.</a:t>
            </a:r>
            <a:endParaRPr lang="en-AU" dirty="0"/>
          </a:p>
        </p:txBody>
      </p:sp>
      <p:pic>
        <p:nvPicPr>
          <p:cNvPr id="5" name="Graphic 4">
            <a:extLst>
              <a:ext uri="{FF2B5EF4-FFF2-40B4-BE49-F238E27FC236}">
                <a16:creationId xmlns:a16="http://schemas.microsoft.com/office/drawing/2014/main" id="{2F010BF2-D85D-4DE1-8F77-B211A6614D8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9945" y="1482571"/>
            <a:ext cx="8510377" cy="4493337"/>
          </a:xfrm>
          <a:prstGeom prst="rect">
            <a:avLst/>
          </a:prstGeom>
        </p:spPr>
      </p:pic>
    </p:spTree>
    <p:extLst>
      <p:ext uri="{BB962C8B-B14F-4D97-AF65-F5344CB8AC3E}">
        <p14:creationId xmlns:p14="http://schemas.microsoft.com/office/powerpoint/2010/main" val="4706105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01680B0-C893-412D-BBEA-432EF25968FC}"/>
                  </a:ext>
                </a:extLst>
              </p:cNvPr>
              <p:cNvSpPr>
                <a:spLocks noGrp="1"/>
              </p:cNvSpPr>
              <p:nvPr>
                <p:ph idx="1"/>
              </p:nvPr>
            </p:nvSpPr>
            <p:spPr>
              <a:xfrm>
                <a:off x="878890" y="767178"/>
                <a:ext cx="8358326" cy="5296271"/>
              </a:xfrm>
            </p:spPr>
            <p:txBody>
              <a:bodyPr>
                <a:normAutofit/>
              </a:bodyPr>
              <a:lstStyle/>
              <a:p>
                <a:r>
                  <a:rPr lang="en-AU" dirty="0">
                    <a:solidFill>
                      <a:schemeClr val="accent5">
                        <a:lumMod val="10000"/>
                      </a:schemeClr>
                    </a:solidFill>
                  </a:rPr>
                  <a:t>In the circuit we have a ammeter and a variable EMF source with the positive side the EMF attached to the photo emissive end.  </a:t>
                </a:r>
              </a:p>
              <a:p>
                <a:r>
                  <a:rPr lang="en-AU" dirty="0">
                    <a:solidFill>
                      <a:schemeClr val="accent5">
                        <a:lumMod val="10000"/>
                      </a:schemeClr>
                    </a:solidFill>
                  </a:rPr>
                  <a:t>This EMF source can be used to try and stop the current from flowing by increasing the voltage of the EMF source (both driving conventional current in opposing directions).  This helps to determine how fast the electrons are going.</a:t>
                </a:r>
              </a:p>
              <a:p>
                <a:r>
                  <a:rPr lang="en-AU" dirty="0">
                    <a:solidFill>
                      <a:schemeClr val="accent5">
                        <a:lumMod val="10000"/>
                      </a:schemeClr>
                    </a:solidFill>
                  </a:rPr>
                  <a:t>The stopping potential is the voltage the EMF source must produce to stop the photoelectrons reaching the collector plate.  </a:t>
                </a:r>
              </a:p>
              <a:p>
                <a:r>
                  <a:rPr lang="en-AU" dirty="0">
                    <a:solidFill>
                      <a:schemeClr val="accent5">
                        <a:lumMod val="10000"/>
                      </a:schemeClr>
                    </a:solidFill>
                  </a:rPr>
                  <a:t>Finding the stopping potential can be used to calculate the kinetic energy of the photoelectrons using </a:t>
                </a:r>
                <a14:m>
                  <m:oMath xmlns:m="http://schemas.openxmlformats.org/officeDocument/2006/math">
                    <m:r>
                      <a:rPr lang="en-AU" b="0" i="1" smtClean="0">
                        <a:solidFill>
                          <a:schemeClr val="accent5">
                            <a:lumMod val="10000"/>
                          </a:schemeClr>
                        </a:solidFill>
                        <a:latin typeface="Cambria Math" panose="02040503050406030204" pitchFamily="18" charset="0"/>
                      </a:rPr>
                      <m:t>𝑉</m:t>
                    </m:r>
                    <m:r>
                      <a:rPr lang="en-AU" b="0" i="1" smtClean="0">
                        <a:solidFill>
                          <a:schemeClr val="accent5">
                            <a:lumMod val="10000"/>
                          </a:schemeClr>
                        </a:solidFill>
                        <a:latin typeface="Cambria Math" panose="02040503050406030204" pitchFamily="18" charset="0"/>
                      </a:rPr>
                      <m:t>=</m:t>
                    </m:r>
                    <m:f>
                      <m:fPr>
                        <m:ctrlPr>
                          <a:rPr lang="en-AU" b="0" i="1" smtClean="0">
                            <a:solidFill>
                              <a:schemeClr val="accent5">
                                <a:lumMod val="10000"/>
                              </a:schemeClr>
                            </a:solidFill>
                            <a:latin typeface="Cambria Math" panose="02040503050406030204" pitchFamily="18" charset="0"/>
                          </a:rPr>
                        </m:ctrlPr>
                      </m:fPr>
                      <m:num>
                        <m:r>
                          <a:rPr lang="en-AU" b="0" i="1" smtClean="0">
                            <a:solidFill>
                              <a:schemeClr val="accent5">
                                <a:lumMod val="10000"/>
                              </a:schemeClr>
                            </a:solidFill>
                            <a:latin typeface="Cambria Math" panose="02040503050406030204" pitchFamily="18" charset="0"/>
                          </a:rPr>
                          <m:t>𝐸</m:t>
                        </m:r>
                      </m:num>
                      <m:den>
                        <m:r>
                          <a:rPr lang="en-AU" b="0" i="1" smtClean="0">
                            <a:solidFill>
                              <a:schemeClr val="accent5">
                                <a:lumMod val="10000"/>
                              </a:schemeClr>
                            </a:solidFill>
                            <a:latin typeface="Cambria Math" panose="02040503050406030204" pitchFamily="18" charset="0"/>
                          </a:rPr>
                          <m:t>𝑞</m:t>
                        </m:r>
                      </m:den>
                    </m:f>
                  </m:oMath>
                </a14:m>
                <a:endParaRPr lang="en-AU" dirty="0">
                  <a:solidFill>
                    <a:schemeClr val="accent5">
                      <a:lumMod val="10000"/>
                    </a:schemeClr>
                  </a:solidFill>
                </a:endParaRPr>
              </a:p>
              <a:p>
                <a:endParaRPr lang="en-AU" dirty="0"/>
              </a:p>
            </p:txBody>
          </p:sp>
        </mc:Choice>
        <mc:Fallback xmlns="">
          <p:sp>
            <p:nvSpPr>
              <p:cNvPr id="3" name="Content Placeholder 2">
                <a:extLst>
                  <a:ext uri="{FF2B5EF4-FFF2-40B4-BE49-F238E27FC236}">
                    <a16:creationId xmlns:a16="http://schemas.microsoft.com/office/drawing/2014/main" id="{401680B0-C893-412D-BBEA-432EF25968FC}"/>
                  </a:ext>
                </a:extLst>
              </p:cNvPr>
              <p:cNvSpPr>
                <a:spLocks noGrp="1" noRot="1" noChangeAspect="1" noMove="1" noResize="1" noEditPoints="1" noAdjustHandles="1" noChangeArrowheads="1" noChangeShapeType="1" noTextEdit="1"/>
              </p:cNvSpPr>
              <p:nvPr>
                <p:ph idx="1"/>
              </p:nvPr>
            </p:nvSpPr>
            <p:spPr>
              <a:xfrm>
                <a:off x="878890" y="767178"/>
                <a:ext cx="8358326" cy="5296271"/>
              </a:xfrm>
              <a:blipFill>
                <a:blip r:embed="rId2"/>
                <a:stretch>
                  <a:fillRect l="-1823" t="-6789"/>
                </a:stretch>
              </a:blipFill>
            </p:spPr>
            <p:txBody>
              <a:bodyPr/>
              <a:lstStyle/>
              <a:p>
                <a:r>
                  <a:rPr lang="en-AU">
                    <a:noFill/>
                  </a:rPr>
                  <a:t> </a:t>
                </a:r>
              </a:p>
            </p:txBody>
          </p:sp>
        </mc:Fallback>
      </mc:AlternateContent>
    </p:spTree>
    <p:extLst>
      <p:ext uri="{BB962C8B-B14F-4D97-AF65-F5344CB8AC3E}">
        <p14:creationId xmlns:p14="http://schemas.microsoft.com/office/powerpoint/2010/main" val="33015403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3C5DB-D760-496D-9D15-4CD46CAD9BDE}"/>
              </a:ext>
            </a:extLst>
          </p:cNvPr>
          <p:cNvSpPr>
            <a:spLocks noGrp="1"/>
          </p:cNvSpPr>
          <p:nvPr>
            <p:ph type="title"/>
          </p:nvPr>
        </p:nvSpPr>
        <p:spPr>
          <a:xfrm>
            <a:off x="771787" y="457201"/>
            <a:ext cx="8078598" cy="1237375"/>
          </a:xfrm>
        </p:spPr>
        <p:txBody>
          <a:bodyPr>
            <a:normAutofit fontScale="90000"/>
          </a:bodyPr>
          <a:lstStyle/>
          <a:p>
            <a:r>
              <a:rPr lang="en-AU" dirty="0">
                <a:solidFill>
                  <a:schemeClr val="accent5">
                    <a:lumMod val="10000"/>
                  </a:schemeClr>
                </a:solidFill>
              </a:rPr>
              <a:t>The photoelectric effect does not support the wave model…</a:t>
            </a:r>
          </a:p>
        </p:txBody>
      </p:sp>
      <p:pic>
        <p:nvPicPr>
          <p:cNvPr id="4" name="Picture 3">
            <a:extLst>
              <a:ext uri="{FF2B5EF4-FFF2-40B4-BE49-F238E27FC236}">
                <a16:creationId xmlns:a16="http://schemas.microsoft.com/office/drawing/2014/main" id="{2916C8B3-ACED-4FFD-A4EE-1EC26A0BA9E8}"/>
              </a:ext>
            </a:extLst>
          </p:cNvPr>
          <p:cNvPicPr>
            <a:picLocks noChangeAspect="1"/>
          </p:cNvPicPr>
          <p:nvPr/>
        </p:nvPicPr>
        <p:blipFill>
          <a:blip r:embed="rId3"/>
          <a:stretch>
            <a:fillRect/>
          </a:stretch>
        </p:blipFill>
        <p:spPr>
          <a:xfrm>
            <a:off x="1405767" y="1809444"/>
            <a:ext cx="6953250" cy="3876675"/>
          </a:xfrm>
          <a:prstGeom prst="rect">
            <a:avLst/>
          </a:prstGeom>
        </p:spPr>
      </p:pic>
    </p:spTree>
    <p:extLst>
      <p:ext uri="{BB962C8B-B14F-4D97-AF65-F5344CB8AC3E}">
        <p14:creationId xmlns:p14="http://schemas.microsoft.com/office/powerpoint/2010/main" val="42243258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8FD72-85ED-48DF-9B44-AFE4D0EE4106}"/>
              </a:ext>
            </a:extLst>
          </p:cNvPr>
          <p:cNvSpPr>
            <a:spLocks noGrp="1"/>
          </p:cNvSpPr>
          <p:nvPr>
            <p:ph type="title"/>
          </p:nvPr>
        </p:nvSpPr>
        <p:spPr>
          <a:xfrm>
            <a:off x="469783" y="188753"/>
            <a:ext cx="8531604" cy="1044428"/>
          </a:xfrm>
        </p:spPr>
        <p:txBody>
          <a:bodyPr>
            <a:normAutofit/>
          </a:bodyPr>
          <a:lstStyle/>
          <a:p>
            <a:r>
              <a:rPr lang="en-AU" sz="3600" dirty="0">
                <a:solidFill>
                  <a:schemeClr val="accent5">
                    <a:lumMod val="10000"/>
                  </a:schemeClr>
                </a:solidFill>
              </a:rPr>
              <a:t>Key points about the photoelectric effect</a:t>
            </a:r>
          </a:p>
        </p:txBody>
      </p:sp>
      <p:sp>
        <p:nvSpPr>
          <p:cNvPr id="3" name="Content Placeholder 2">
            <a:extLst>
              <a:ext uri="{FF2B5EF4-FFF2-40B4-BE49-F238E27FC236}">
                <a16:creationId xmlns:a16="http://schemas.microsoft.com/office/drawing/2014/main" id="{8EDBAA9E-338B-43B1-89F7-D7FB6BD421F1}"/>
              </a:ext>
            </a:extLst>
          </p:cNvPr>
          <p:cNvSpPr>
            <a:spLocks noGrp="1"/>
          </p:cNvSpPr>
          <p:nvPr>
            <p:ph idx="1"/>
          </p:nvPr>
        </p:nvSpPr>
        <p:spPr>
          <a:xfrm>
            <a:off x="788566" y="989202"/>
            <a:ext cx="7831651" cy="5189656"/>
          </a:xfrm>
        </p:spPr>
        <p:txBody>
          <a:bodyPr>
            <a:normAutofit fontScale="92500" lnSpcReduction="10000"/>
          </a:bodyPr>
          <a:lstStyle/>
          <a:p>
            <a:r>
              <a:rPr lang="en-AU" dirty="0">
                <a:solidFill>
                  <a:schemeClr val="accent5">
                    <a:lumMod val="10000"/>
                  </a:schemeClr>
                </a:solidFill>
              </a:rPr>
              <a:t>Electrons are emitted when light shines on metal surfaces.</a:t>
            </a:r>
          </a:p>
          <a:p>
            <a:r>
              <a:rPr lang="en-AU" dirty="0">
                <a:solidFill>
                  <a:schemeClr val="accent5">
                    <a:lumMod val="10000"/>
                  </a:schemeClr>
                </a:solidFill>
              </a:rPr>
              <a:t>At all intensities; no electrons are emitted unless the frequency of the light in is greater than a critical frequency.</a:t>
            </a:r>
          </a:p>
          <a:p>
            <a:r>
              <a:rPr lang="en-AU" dirty="0">
                <a:solidFill>
                  <a:schemeClr val="accent5">
                    <a:lumMod val="10000"/>
                  </a:schemeClr>
                </a:solidFill>
              </a:rPr>
              <a:t>The number of electrons emitted is proportional to the intensity of the light.</a:t>
            </a:r>
          </a:p>
          <a:p>
            <a:r>
              <a:rPr lang="en-AU" dirty="0">
                <a:solidFill>
                  <a:schemeClr val="accent5">
                    <a:lumMod val="10000"/>
                  </a:schemeClr>
                </a:solidFill>
              </a:rPr>
              <a:t>The work function of a metal is the amount of energy it takes for an incident photon to release an electron from the metal.</a:t>
            </a:r>
          </a:p>
          <a:p>
            <a:r>
              <a:rPr lang="en-AU" dirty="0">
                <a:solidFill>
                  <a:schemeClr val="accent5">
                    <a:lumMod val="10000"/>
                  </a:schemeClr>
                </a:solidFill>
              </a:rPr>
              <a:t>This means the photon must be a certain frequency (the threshold frequency) or greater in order to cause the metal to emit electrons.</a:t>
            </a:r>
          </a:p>
          <a:p>
            <a:r>
              <a:rPr lang="en-AU" dirty="0">
                <a:solidFill>
                  <a:schemeClr val="accent5">
                    <a:lumMod val="10000"/>
                  </a:schemeClr>
                </a:solidFill>
              </a:rPr>
              <a:t>Any photon energy above the amount required to eject a photoelectron is converted into kinetic energy for the photoelectron (so higher frequency means faster moving photoelectron).</a:t>
            </a:r>
          </a:p>
        </p:txBody>
      </p:sp>
    </p:spTree>
    <p:extLst>
      <p:ext uri="{BB962C8B-B14F-4D97-AF65-F5344CB8AC3E}">
        <p14:creationId xmlns:p14="http://schemas.microsoft.com/office/powerpoint/2010/main" val="39950283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06FC6B0-A2F4-4305-81AF-78D96C638452}"/>
                  </a:ext>
                </a:extLst>
              </p:cNvPr>
              <p:cNvSpPr>
                <a:spLocks noGrp="1"/>
              </p:cNvSpPr>
              <p:nvPr>
                <p:ph idx="1"/>
              </p:nvPr>
            </p:nvSpPr>
            <p:spPr>
              <a:xfrm>
                <a:off x="896646" y="110230"/>
                <a:ext cx="7932198" cy="2748380"/>
              </a:xfrm>
            </p:spPr>
            <p:txBody>
              <a:bodyPr>
                <a:normAutofit lnSpcReduction="10000"/>
              </a:bodyPr>
              <a:lstStyle/>
              <a:p>
                <a:endParaRPr lang="en-AU" dirty="0">
                  <a:solidFill>
                    <a:schemeClr val="accent5">
                      <a:lumMod val="10000"/>
                    </a:schemeClr>
                  </a:solidFill>
                </a:endParaRPr>
              </a:p>
              <a:p>
                <a:r>
                  <a:rPr lang="en-AU" dirty="0">
                    <a:solidFill>
                      <a:schemeClr val="accent5">
                        <a:lumMod val="10000"/>
                      </a:schemeClr>
                    </a:solidFill>
                  </a:rPr>
                  <a:t>Equation for the photoelectric effect is:  </a:t>
                </a:r>
                <a14:m>
                  <m:oMath xmlns:m="http://schemas.openxmlformats.org/officeDocument/2006/math">
                    <m:sSub>
                      <m:sSubPr>
                        <m:ctrlPr>
                          <a:rPr lang="en-AU" b="0" i="1" smtClean="0">
                            <a:solidFill>
                              <a:schemeClr val="accent5">
                                <a:lumMod val="10000"/>
                              </a:schemeClr>
                            </a:solidFill>
                            <a:latin typeface="Cambria Math" panose="02040503050406030204" pitchFamily="18" charset="0"/>
                          </a:rPr>
                        </m:ctrlPr>
                      </m:sSubPr>
                      <m:e>
                        <m:r>
                          <a:rPr lang="en-AU" b="0" i="1" smtClean="0">
                            <a:solidFill>
                              <a:schemeClr val="accent5">
                                <a:lumMod val="10000"/>
                              </a:schemeClr>
                            </a:solidFill>
                            <a:latin typeface="Cambria Math" panose="02040503050406030204" pitchFamily="18" charset="0"/>
                          </a:rPr>
                          <m:t>𝐸</m:t>
                        </m:r>
                      </m:e>
                      <m:sub>
                        <m:r>
                          <a:rPr lang="en-AU" b="0" i="1" smtClean="0">
                            <a:solidFill>
                              <a:schemeClr val="accent5">
                                <a:lumMod val="10000"/>
                              </a:schemeClr>
                            </a:solidFill>
                            <a:latin typeface="Cambria Math" panose="02040503050406030204" pitchFamily="18" charset="0"/>
                          </a:rPr>
                          <m:t>𝑘</m:t>
                        </m:r>
                      </m:sub>
                    </m:sSub>
                    <m:r>
                      <a:rPr lang="en-AU" b="0" i="1" smtClean="0">
                        <a:solidFill>
                          <a:schemeClr val="accent5">
                            <a:lumMod val="10000"/>
                          </a:schemeClr>
                        </a:solidFill>
                        <a:latin typeface="Cambria Math" panose="02040503050406030204" pitchFamily="18" charset="0"/>
                      </a:rPr>
                      <m:t>=</m:t>
                    </m:r>
                    <m:r>
                      <a:rPr lang="en-AU" b="0" i="1" smtClean="0">
                        <a:solidFill>
                          <a:schemeClr val="accent5">
                            <a:lumMod val="10000"/>
                          </a:schemeClr>
                        </a:solidFill>
                        <a:latin typeface="Cambria Math" panose="02040503050406030204" pitchFamily="18" charset="0"/>
                      </a:rPr>
                      <m:t>h𝑓</m:t>
                    </m:r>
                    <m:r>
                      <a:rPr lang="en-AU" b="0" i="1" smtClean="0">
                        <a:solidFill>
                          <a:schemeClr val="accent5">
                            <a:lumMod val="10000"/>
                          </a:schemeClr>
                        </a:solidFill>
                        <a:latin typeface="Cambria Math" panose="02040503050406030204" pitchFamily="18" charset="0"/>
                      </a:rPr>
                      <m:t>−</m:t>
                    </m:r>
                    <m:r>
                      <a:rPr lang="en-AU" b="0" i="1" smtClean="0">
                        <a:solidFill>
                          <a:schemeClr val="accent5">
                            <a:lumMod val="10000"/>
                          </a:schemeClr>
                        </a:solidFill>
                        <a:latin typeface="Cambria Math" panose="02040503050406030204" pitchFamily="18" charset="0"/>
                      </a:rPr>
                      <m:t>𝑊</m:t>
                    </m:r>
                  </m:oMath>
                </a14:m>
                <a:endParaRPr lang="en-AU" b="0" dirty="0">
                  <a:solidFill>
                    <a:schemeClr val="accent5">
                      <a:lumMod val="10000"/>
                    </a:schemeClr>
                  </a:solidFill>
                </a:endParaRPr>
              </a:p>
              <a:p>
                <a:pPr marL="0" indent="0">
                  <a:buNone/>
                </a:pPr>
                <a:r>
                  <a:rPr lang="en-AU" dirty="0">
                    <a:solidFill>
                      <a:schemeClr val="accent5">
                        <a:lumMod val="10000"/>
                      </a:schemeClr>
                    </a:solidFill>
                  </a:rPr>
                  <a:t>     Using this equation is part of next weeks content.</a:t>
                </a:r>
              </a:p>
              <a:p>
                <a:r>
                  <a:rPr lang="en-AU" dirty="0">
                    <a:solidFill>
                      <a:schemeClr val="accent5">
                        <a:lumMod val="10000"/>
                      </a:schemeClr>
                    </a:solidFill>
                  </a:rPr>
                  <a:t>Extra thoughts – If the work function of the potassium is 2.0 eV then what is the threshold frequency?</a:t>
                </a:r>
              </a:p>
              <a:p>
                <a:pPr marL="0" indent="0">
                  <a:buNone/>
                </a:pPr>
                <a:r>
                  <a:rPr lang="en-AU" dirty="0">
                    <a:solidFill>
                      <a:schemeClr val="accent5">
                        <a:lumMod val="10000"/>
                      </a:schemeClr>
                    </a:solidFill>
                  </a:rPr>
                  <a:t>				HINT:  </a:t>
                </a:r>
                <a14:m>
                  <m:oMath xmlns:m="http://schemas.openxmlformats.org/officeDocument/2006/math">
                    <m:r>
                      <a:rPr lang="en-AU" i="1" dirty="0">
                        <a:solidFill>
                          <a:schemeClr val="accent5">
                            <a:lumMod val="10000"/>
                          </a:schemeClr>
                        </a:solidFill>
                        <a:latin typeface="Cambria Math" panose="02040503050406030204" pitchFamily="18" charset="0"/>
                      </a:rPr>
                      <m:t>𝑊</m:t>
                    </m:r>
                    <m:r>
                      <a:rPr lang="en-AU" i="1" dirty="0">
                        <a:solidFill>
                          <a:schemeClr val="accent5">
                            <a:lumMod val="10000"/>
                          </a:schemeClr>
                        </a:solidFill>
                        <a:latin typeface="Cambria Math" panose="02040503050406030204" pitchFamily="18" charset="0"/>
                      </a:rPr>
                      <m:t>=</m:t>
                    </m:r>
                    <m:r>
                      <a:rPr lang="en-AU" i="1" dirty="0">
                        <a:solidFill>
                          <a:schemeClr val="accent5">
                            <a:lumMod val="10000"/>
                          </a:schemeClr>
                        </a:solidFill>
                        <a:latin typeface="Cambria Math" panose="02040503050406030204" pitchFamily="18" charset="0"/>
                      </a:rPr>
                      <m:t>h</m:t>
                    </m:r>
                    <m:sSub>
                      <m:sSubPr>
                        <m:ctrlPr>
                          <a:rPr lang="en-AU" i="1" dirty="0">
                            <a:solidFill>
                              <a:schemeClr val="accent5">
                                <a:lumMod val="10000"/>
                              </a:schemeClr>
                            </a:solidFill>
                            <a:latin typeface="Cambria Math" panose="02040503050406030204" pitchFamily="18" charset="0"/>
                          </a:rPr>
                        </m:ctrlPr>
                      </m:sSubPr>
                      <m:e>
                        <m:r>
                          <a:rPr lang="en-AU" i="1" dirty="0">
                            <a:solidFill>
                              <a:schemeClr val="accent5">
                                <a:lumMod val="10000"/>
                              </a:schemeClr>
                            </a:solidFill>
                            <a:latin typeface="Cambria Math" panose="02040503050406030204" pitchFamily="18" charset="0"/>
                          </a:rPr>
                          <m:t>𝑓</m:t>
                        </m:r>
                      </m:e>
                      <m:sub>
                        <m:r>
                          <a:rPr lang="en-AU" i="1" dirty="0">
                            <a:solidFill>
                              <a:schemeClr val="accent5">
                                <a:lumMod val="10000"/>
                              </a:schemeClr>
                            </a:solidFill>
                            <a:latin typeface="Cambria Math" panose="02040503050406030204" pitchFamily="18" charset="0"/>
                          </a:rPr>
                          <m:t>𝑡h𝑟𝑒𝑠h𝑜𝑙𝑑</m:t>
                        </m:r>
                      </m:sub>
                    </m:sSub>
                  </m:oMath>
                </a14:m>
                <a:endParaRPr lang="en-AU" dirty="0"/>
              </a:p>
            </p:txBody>
          </p:sp>
        </mc:Choice>
        <mc:Fallback xmlns="">
          <p:sp>
            <p:nvSpPr>
              <p:cNvPr id="3" name="Content Placeholder 2">
                <a:extLst>
                  <a:ext uri="{FF2B5EF4-FFF2-40B4-BE49-F238E27FC236}">
                    <a16:creationId xmlns:a16="http://schemas.microsoft.com/office/drawing/2014/main" id="{F06FC6B0-A2F4-4305-81AF-78D96C638452}"/>
                  </a:ext>
                </a:extLst>
              </p:cNvPr>
              <p:cNvSpPr>
                <a:spLocks noGrp="1" noRot="1" noChangeAspect="1" noMove="1" noResize="1" noEditPoints="1" noAdjustHandles="1" noChangeArrowheads="1" noChangeShapeType="1" noTextEdit="1"/>
              </p:cNvSpPr>
              <p:nvPr>
                <p:ph idx="1"/>
              </p:nvPr>
            </p:nvSpPr>
            <p:spPr>
              <a:xfrm>
                <a:off x="896646" y="110230"/>
                <a:ext cx="7932198" cy="2748380"/>
              </a:xfrm>
              <a:blipFill>
                <a:blip r:embed="rId2"/>
                <a:stretch>
                  <a:fillRect l="-1922" r="-1922" b="-3548"/>
                </a:stretch>
              </a:blipFill>
            </p:spPr>
            <p:txBody>
              <a:bodyPr/>
              <a:lstStyle/>
              <a:p>
                <a:r>
                  <a:rPr lang="en-AU">
                    <a:noFill/>
                  </a:rPr>
                  <a:t> </a:t>
                </a:r>
              </a:p>
            </p:txBody>
          </p:sp>
        </mc:Fallback>
      </mc:AlternateContent>
      <p:pic>
        <p:nvPicPr>
          <p:cNvPr id="4" name="Picture 3">
            <a:extLst>
              <a:ext uri="{FF2B5EF4-FFF2-40B4-BE49-F238E27FC236}">
                <a16:creationId xmlns:a16="http://schemas.microsoft.com/office/drawing/2014/main" id="{6A188CC6-2C4D-4B6F-AAF4-26D0673790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8597" y="2978576"/>
            <a:ext cx="5763084" cy="3603444"/>
          </a:xfrm>
          <a:prstGeom prst="rect">
            <a:avLst/>
          </a:prstGeom>
        </p:spPr>
      </p:pic>
    </p:spTree>
    <p:extLst>
      <p:ext uri="{BB962C8B-B14F-4D97-AF65-F5344CB8AC3E}">
        <p14:creationId xmlns:p14="http://schemas.microsoft.com/office/powerpoint/2010/main" val="21757933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35564-A681-4DD5-8175-B12D04BFB4AC}"/>
              </a:ext>
            </a:extLst>
          </p:cNvPr>
          <p:cNvSpPr>
            <a:spLocks noGrp="1"/>
          </p:cNvSpPr>
          <p:nvPr>
            <p:ph type="title"/>
          </p:nvPr>
        </p:nvSpPr>
        <p:spPr>
          <a:xfrm>
            <a:off x="928867" y="235259"/>
            <a:ext cx="7704667" cy="641757"/>
          </a:xfrm>
        </p:spPr>
        <p:txBody>
          <a:bodyPr>
            <a:normAutofit fontScale="90000"/>
          </a:bodyPr>
          <a:lstStyle/>
          <a:p>
            <a:r>
              <a:rPr lang="en-AU" dirty="0">
                <a:solidFill>
                  <a:schemeClr val="accent5">
                    <a:lumMod val="10000"/>
                  </a:schemeClr>
                </a:solidFill>
              </a:rPr>
              <a:t>Graphing the photoelectric effect</a:t>
            </a:r>
          </a:p>
        </p:txBody>
      </p:sp>
      <p:sp>
        <p:nvSpPr>
          <p:cNvPr id="3" name="Content Placeholder 2">
            <a:extLst>
              <a:ext uri="{FF2B5EF4-FFF2-40B4-BE49-F238E27FC236}">
                <a16:creationId xmlns:a16="http://schemas.microsoft.com/office/drawing/2014/main" id="{E39E24AA-559E-4A61-A025-68834949FA42}"/>
              </a:ext>
            </a:extLst>
          </p:cNvPr>
          <p:cNvSpPr>
            <a:spLocks noGrp="1"/>
          </p:cNvSpPr>
          <p:nvPr>
            <p:ph idx="1"/>
          </p:nvPr>
        </p:nvSpPr>
        <p:spPr>
          <a:xfrm>
            <a:off x="780176" y="1199627"/>
            <a:ext cx="8128931" cy="1963024"/>
          </a:xfrm>
        </p:spPr>
        <p:txBody>
          <a:bodyPr/>
          <a:lstStyle/>
          <a:p>
            <a:r>
              <a:rPr lang="en-AU" dirty="0">
                <a:solidFill>
                  <a:schemeClr val="accent5">
                    <a:lumMod val="10000"/>
                  </a:schemeClr>
                </a:solidFill>
              </a:rPr>
              <a:t>When creating a graph of the maximum kinetic energy of photo electrons vs the frequency of light then the gradient of the line is Planck’s constant.  It can be seen that each metal has a different threshold frequency for photoelectron emission.</a:t>
            </a:r>
          </a:p>
        </p:txBody>
      </p:sp>
      <p:pic>
        <p:nvPicPr>
          <p:cNvPr id="4" name="Picture 1">
            <a:extLst>
              <a:ext uri="{FF2B5EF4-FFF2-40B4-BE49-F238E27FC236}">
                <a16:creationId xmlns:a16="http://schemas.microsoft.com/office/drawing/2014/main" id="{7E69EE8B-B9D7-4C00-B346-3968231FF57D}"/>
              </a:ext>
            </a:extLst>
          </p:cNvPr>
          <p:cNvPicPr>
            <a:picLocks noChangeAspect="1"/>
          </p:cNvPicPr>
          <p:nvPr/>
        </p:nvPicPr>
        <p:blipFill>
          <a:blip r:embed="rId2">
            <a:extLst>
              <a:ext uri="{28A0092B-C50C-407E-A947-70E740481C1C}">
                <a14:useLocalDpi xmlns:a14="http://schemas.microsoft.com/office/drawing/2010/main" val="0"/>
              </a:ext>
            </a:extLst>
          </a:blip>
          <a:srcRect t="9996" r="23543" b="4318"/>
          <a:stretch>
            <a:fillRect/>
          </a:stretch>
        </p:blipFill>
        <p:spPr bwMode="auto">
          <a:xfrm>
            <a:off x="2746345" y="3484809"/>
            <a:ext cx="6324600" cy="3192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a:extLst>
              <a:ext uri="{FF2B5EF4-FFF2-40B4-BE49-F238E27FC236}">
                <a16:creationId xmlns:a16="http://schemas.microsoft.com/office/drawing/2014/main" id="{7BBE1FD0-D167-44B6-8C02-2A628844ED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5222" y="3472343"/>
            <a:ext cx="1843087" cy="181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818115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691F8AB-E094-4668-A146-B43AAA137A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5273" y="363982"/>
            <a:ext cx="5917391" cy="4518735"/>
          </a:xfrm>
          <a:prstGeom prst="rect">
            <a:avLst/>
          </a:prstGeom>
        </p:spPr>
      </p:pic>
      <p:sp>
        <p:nvSpPr>
          <p:cNvPr id="4" name="TextBox 3">
            <a:extLst>
              <a:ext uri="{FF2B5EF4-FFF2-40B4-BE49-F238E27FC236}">
                <a16:creationId xmlns:a16="http://schemas.microsoft.com/office/drawing/2014/main" id="{C38237B3-045C-454D-A2D2-B0DF2B56C27C}"/>
              </a:ext>
            </a:extLst>
          </p:cNvPr>
          <p:cNvSpPr txBox="1"/>
          <p:nvPr/>
        </p:nvSpPr>
        <p:spPr>
          <a:xfrm>
            <a:off x="1970843" y="5184558"/>
            <a:ext cx="6267635" cy="1569660"/>
          </a:xfrm>
          <a:prstGeom prst="rect">
            <a:avLst/>
          </a:prstGeom>
          <a:noFill/>
        </p:spPr>
        <p:txBody>
          <a:bodyPr wrap="square" rtlCol="0">
            <a:spAutoFit/>
          </a:bodyPr>
          <a:lstStyle/>
          <a:p>
            <a:r>
              <a:rPr lang="en-AU" sz="2400" dirty="0">
                <a:solidFill>
                  <a:schemeClr val="accent5">
                    <a:lumMod val="10000"/>
                  </a:schemeClr>
                </a:solidFill>
              </a:rPr>
              <a:t>The y intercept is the work function of each metal (but you take an absolute of this value).  On a graph that has the y axis in eV the work function can be found in eV. </a:t>
            </a:r>
          </a:p>
        </p:txBody>
      </p:sp>
    </p:spTree>
    <p:extLst>
      <p:ext uri="{BB962C8B-B14F-4D97-AF65-F5344CB8AC3E}">
        <p14:creationId xmlns:p14="http://schemas.microsoft.com/office/powerpoint/2010/main" val="16066228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2DEACB-BEE7-40FC-8CC6-552B523C828C}"/>
              </a:ext>
            </a:extLst>
          </p:cNvPr>
          <p:cNvPicPr>
            <a:picLocks noChangeAspect="1"/>
          </p:cNvPicPr>
          <p:nvPr/>
        </p:nvPicPr>
        <p:blipFill>
          <a:blip r:embed="rId2"/>
          <a:stretch>
            <a:fillRect/>
          </a:stretch>
        </p:blipFill>
        <p:spPr>
          <a:xfrm>
            <a:off x="1418993" y="372861"/>
            <a:ext cx="6911529" cy="4259802"/>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E6BE774-D85C-4346-A278-F6693B91389C}"/>
                  </a:ext>
                </a:extLst>
              </p:cNvPr>
              <p:cNvSpPr txBox="1"/>
              <p:nvPr/>
            </p:nvSpPr>
            <p:spPr>
              <a:xfrm>
                <a:off x="1091954" y="4793942"/>
                <a:ext cx="7785716" cy="993605"/>
              </a:xfrm>
              <a:prstGeom prst="rect">
                <a:avLst/>
              </a:prstGeom>
              <a:noFill/>
            </p:spPr>
            <p:txBody>
              <a:bodyPr wrap="square" rtlCol="0">
                <a:spAutoFit/>
              </a:bodyPr>
              <a:lstStyle/>
              <a:p>
                <a:r>
                  <a:rPr lang="en-AU" sz="2400" dirty="0">
                    <a:solidFill>
                      <a:schemeClr val="accent5">
                        <a:lumMod val="10000"/>
                      </a:schemeClr>
                    </a:solidFill>
                  </a:rPr>
                  <a:t>If the kinetic energy of the graph is displayed in eV then the related equation is </a:t>
                </a:r>
                <a14:m>
                  <m:oMath xmlns:m="http://schemas.openxmlformats.org/officeDocument/2006/math">
                    <m:sSub>
                      <m:sSubPr>
                        <m:ctrlPr>
                          <a:rPr lang="en-AU" sz="2400" b="0" i="1" smtClean="0">
                            <a:solidFill>
                              <a:schemeClr val="accent5">
                                <a:lumMod val="10000"/>
                              </a:schemeClr>
                            </a:solidFill>
                            <a:latin typeface="Cambria Math" panose="02040503050406030204" pitchFamily="18" charset="0"/>
                          </a:rPr>
                        </m:ctrlPr>
                      </m:sSubPr>
                      <m:e>
                        <m:r>
                          <a:rPr lang="en-AU" sz="2400" b="0" i="1" smtClean="0">
                            <a:solidFill>
                              <a:schemeClr val="accent5">
                                <a:lumMod val="10000"/>
                              </a:schemeClr>
                            </a:solidFill>
                            <a:latin typeface="Cambria Math" panose="02040503050406030204" pitchFamily="18" charset="0"/>
                          </a:rPr>
                          <m:t>𝐸</m:t>
                        </m:r>
                      </m:e>
                      <m:sub>
                        <m:r>
                          <a:rPr lang="en-AU" sz="2400" b="0" i="1" smtClean="0">
                            <a:solidFill>
                              <a:schemeClr val="accent5">
                                <a:lumMod val="10000"/>
                              </a:schemeClr>
                            </a:solidFill>
                            <a:latin typeface="Cambria Math" panose="02040503050406030204" pitchFamily="18" charset="0"/>
                          </a:rPr>
                          <m:t>𝑘</m:t>
                        </m:r>
                      </m:sub>
                    </m:sSub>
                    <m:r>
                      <a:rPr lang="en-AU" sz="2400" b="0" i="1" smtClean="0">
                        <a:solidFill>
                          <a:schemeClr val="accent5">
                            <a:lumMod val="10000"/>
                          </a:schemeClr>
                        </a:solidFill>
                        <a:latin typeface="Cambria Math" panose="02040503050406030204" pitchFamily="18" charset="0"/>
                      </a:rPr>
                      <m:t>=</m:t>
                    </m:r>
                    <m:f>
                      <m:fPr>
                        <m:ctrlPr>
                          <a:rPr lang="en-AU" sz="2400" b="0" i="1" smtClean="0">
                            <a:solidFill>
                              <a:schemeClr val="accent5">
                                <a:lumMod val="10000"/>
                              </a:schemeClr>
                            </a:solidFill>
                            <a:latin typeface="Cambria Math" panose="02040503050406030204" pitchFamily="18" charset="0"/>
                          </a:rPr>
                        </m:ctrlPr>
                      </m:fPr>
                      <m:num>
                        <m:r>
                          <a:rPr lang="en-AU" sz="2400" b="0" i="1" smtClean="0">
                            <a:solidFill>
                              <a:schemeClr val="accent5">
                                <a:lumMod val="10000"/>
                              </a:schemeClr>
                            </a:solidFill>
                            <a:latin typeface="Cambria Math" panose="02040503050406030204" pitchFamily="18" charset="0"/>
                          </a:rPr>
                          <m:t>h</m:t>
                        </m:r>
                      </m:num>
                      <m:den>
                        <m:r>
                          <a:rPr lang="en-AU" sz="2400" b="0" i="1" smtClean="0">
                            <a:solidFill>
                              <a:schemeClr val="accent5">
                                <a:lumMod val="10000"/>
                              </a:schemeClr>
                            </a:solidFill>
                            <a:latin typeface="Cambria Math" panose="02040503050406030204" pitchFamily="18" charset="0"/>
                          </a:rPr>
                          <m:t>𝑒</m:t>
                        </m:r>
                      </m:den>
                    </m:f>
                    <m:r>
                      <a:rPr lang="en-AU" sz="2400" b="0" i="1" smtClean="0">
                        <a:solidFill>
                          <a:schemeClr val="accent5">
                            <a:lumMod val="10000"/>
                          </a:schemeClr>
                        </a:solidFill>
                        <a:latin typeface="Cambria Math" panose="02040503050406030204" pitchFamily="18" charset="0"/>
                      </a:rPr>
                      <m:t>𝑓</m:t>
                    </m:r>
                    <m:r>
                      <a:rPr lang="en-AU" sz="2400" b="0" i="1" smtClean="0">
                        <a:solidFill>
                          <a:schemeClr val="accent5">
                            <a:lumMod val="10000"/>
                          </a:schemeClr>
                        </a:solidFill>
                        <a:latin typeface="Cambria Math" panose="02040503050406030204" pitchFamily="18" charset="0"/>
                      </a:rPr>
                      <m:t>−</m:t>
                    </m:r>
                    <m:r>
                      <a:rPr lang="en-AU" sz="2400" b="0" i="1" smtClean="0">
                        <a:solidFill>
                          <a:schemeClr val="accent5">
                            <a:lumMod val="10000"/>
                          </a:schemeClr>
                        </a:solidFill>
                        <a:latin typeface="Cambria Math" panose="02040503050406030204" pitchFamily="18" charset="0"/>
                      </a:rPr>
                      <m:t>𝑊</m:t>
                    </m:r>
                  </m:oMath>
                </a14:m>
                <a:r>
                  <a:rPr lang="en-AU" sz="2400" dirty="0">
                    <a:solidFill>
                      <a:schemeClr val="accent5">
                        <a:lumMod val="10000"/>
                      </a:schemeClr>
                    </a:solidFill>
                  </a:rPr>
                  <a:t>  (gradient would be </a:t>
                </a:r>
                <a14:m>
                  <m:oMath xmlns:m="http://schemas.openxmlformats.org/officeDocument/2006/math">
                    <m:f>
                      <m:fPr>
                        <m:ctrlPr>
                          <a:rPr lang="en-AU" sz="2400" i="1" dirty="0" smtClean="0">
                            <a:solidFill>
                              <a:schemeClr val="accent5">
                                <a:lumMod val="10000"/>
                              </a:schemeClr>
                            </a:solidFill>
                            <a:latin typeface="Cambria Math" panose="02040503050406030204" pitchFamily="18" charset="0"/>
                          </a:rPr>
                        </m:ctrlPr>
                      </m:fPr>
                      <m:num>
                        <m:r>
                          <a:rPr lang="en-AU" sz="2400" i="1" dirty="0" smtClean="0">
                            <a:solidFill>
                              <a:schemeClr val="accent5">
                                <a:lumMod val="10000"/>
                              </a:schemeClr>
                            </a:solidFill>
                            <a:latin typeface="Cambria Math" panose="02040503050406030204" pitchFamily="18" charset="0"/>
                          </a:rPr>
                          <m:t>h</m:t>
                        </m:r>
                      </m:num>
                      <m:den>
                        <m:r>
                          <a:rPr lang="en-AU" sz="2400" i="1" dirty="0" smtClean="0">
                            <a:solidFill>
                              <a:schemeClr val="accent5">
                                <a:lumMod val="10000"/>
                              </a:schemeClr>
                            </a:solidFill>
                            <a:latin typeface="Cambria Math" panose="02040503050406030204" pitchFamily="18" charset="0"/>
                          </a:rPr>
                          <m:t>𝑒</m:t>
                        </m:r>
                      </m:den>
                    </m:f>
                  </m:oMath>
                </a14:m>
                <a:r>
                  <a:rPr lang="en-AU" sz="2400" dirty="0">
                    <a:solidFill>
                      <a:schemeClr val="accent5">
                        <a:lumMod val="10000"/>
                      </a:schemeClr>
                    </a:solidFill>
                  </a:rPr>
                  <a:t>)</a:t>
                </a:r>
              </a:p>
            </p:txBody>
          </p:sp>
        </mc:Choice>
        <mc:Fallback xmlns="">
          <p:sp>
            <p:nvSpPr>
              <p:cNvPr id="5" name="TextBox 4">
                <a:extLst>
                  <a:ext uri="{FF2B5EF4-FFF2-40B4-BE49-F238E27FC236}">
                    <a16:creationId xmlns:a16="http://schemas.microsoft.com/office/drawing/2014/main" id="{4E6BE774-D85C-4346-A278-F6693B91389C}"/>
                  </a:ext>
                </a:extLst>
              </p:cNvPr>
              <p:cNvSpPr txBox="1">
                <a:spLocks noRot="1" noChangeAspect="1" noMove="1" noResize="1" noEditPoints="1" noAdjustHandles="1" noChangeArrowheads="1" noChangeShapeType="1" noTextEdit="1"/>
              </p:cNvSpPr>
              <p:nvPr/>
            </p:nvSpPr>
            <p:spPr>
              <a:xfrm>
                <a:off x="1091954" y="4793942"/>
                <a:ext cx="7785716" cy="993605"/>
              </a:xfrm>
              <a:prstGeom prst="rect">
                <a:avLst/>
              </a:prstGeom>
              <a:blipFill>
                <a:blip r:embed="rId3"/>
                <a:stretch>
                  <a:fillRect l="-1175" t="-4908" b="-5521"/>
                </a:stretch>
              </a:blipFill>
            </p:spPr>
            <p:txBody>
              <a:bodyPr/>
              <a:lstStyle/>
              <a:p>
                <a:r>
                  <a:rPr lang="en-AU">
                    <a:noFill/>
                  </a:rPr>
                  <a:t> </a:t>
                </a:r>
              </a:p>
            </p:txBody>
          </p:sp>
        </mc:Fallback>
      </mc:AlternateContent>
    </p:spTree>
    <p:extLst>
      <p:ext uri="{BB962C8B-B14F-4D97-AF65-F5344CB8AC3E}">
        <p14:creationId xmlns:p14="http://schemas.microsoft.com/office/powerpoint/2010/main" val="12628558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33D7C-9B22-4DC3-8546-9541073E180C}"/>
              </a:ext>
            </a:extLst>
          </p:cNvPr>
          <p:cNvSpPr>
            <a:spLocks noGrp="1"/>
          </p:cNvSpPr>
          <p:nvPr>
            <p:ph type="title"/>
          </p:nvPr>
        </p:nvSpPr>
        <p:spPr>
          <a:xfrm>
            <a:off x="964378" y="181994"/>
            <a:ext cx="7704667" cy="909960"/>
          </a:xfrm>
        </p:spPr>
        <p:txBody>
          <a:bodyPr/>
          <a:lstStyle/>
          <a:p>
            <a:r>
              <a:rPr lang="en-AU" dirty="0">
                <a:solidFill>
                  <a:schemeClr val="accent5">
                    <a:lumMod val="10000"/>
                  </a:schemeClr>
                </a:solidFill>
              </a:rPr>
              <a:t>LEDs and Planck's constant</a:t>
            </a:r>
          </a:p>
        </p:txBody>
      </p:sp>
      <p:sp>
        <p:nvSpPr>
          <p:cNvPr id="3" name="Content Placeholder 2">
            <a:extLst>
              <a:ext uri="{FF2B5EF4-FFF2-40B4-BE49-F238E27FC236}">
                <a16:creationId xmlns:a16="http://schemas.microsoft.com/office/drawing/2014/main" id="{91BD2E83-8090-42B9-A711-906F295274BA}"/>
              </a:ext>
            </a:extLst>
          </p:cNvPr>
          <p:cNvSpPr>
            <a:spLocks noGrp="1"/>
          </p:cNvSpPr>
          <p:nvPr>
            <p:ph idx="1"/>
          </p:nvPr>
        </p:nvSpPr>
        <p:spPr>
          <a:xfrm>
            <a:off x="932157" y="838201"/>
            <a:ext cx="7914442" cy="1638670"/>
          </a:xfrm>
        </p:spPr>
        <p:txBody>
          <a:bodyPr/>
          <a:lstStyle/>
          <a:p>
            <a:r>
              <a:rPr lang="en-AU" dirty="0">
                <a:solidFill>
                  <a:schemeClr val="accent5">
                    <a:lumMod val="10000"/>
                  </a:schemeClr>
                </a:solidFill>
              </a:rPr>
              <a:t>Light-emitting diodes (LEDs) convert electrical energy into light energy. </a:t>
            </a:r>
          </a:p>
          <a:p>
            <a:r>
              <a:rPr lang="en-AU" dirty="0">
                <a:solidFill>
                  <a:schemeClr val="accent5">
                    <a:lumMod val="10000"/>
                  </a:schemeClr>
                </a:solidFill>
              </a:rPr>
              <a:t>They emit radiation (photons) of visible wavelengths.</a:t>
            </a:r>
          </a:p>
        </p:txBody>
      </p:sp>
      <p:pic>
        <p:nvPicPr>
          <p:cNvPr id="5" name="Picture 4">
            <a:extLst>
              <a:ext uri="{FF2B5EF4-FFF2-40B4-BE49-F238E27FC236}">
                <a16:creationId xmlns:a16="http://schemas.microsoft.com/office/drawing/2014/main" id="{47B7F9D6-63F8-42F6-ACFE-A5C77DCAD5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22116" y="3231472"/>
            <a:ext cx="3422342" cy="3422342"/>
          </a:xfrm>
          <a:prstGeom prst="rect">
            <a:avLst/>
          </a:prstGeom>
        </p:spPr>
      </p:pic>
      <p:sp>
        <p:nvSpPr>
          <p:cNvPr id="6" name="TextBox 5">
            <a:extLst>
              <a:ext uri="{FF2B5EF4-FFF2-40B4-BE49-F238E27FC236}">
                <a16:creationId xmlns:a16="http://schemas.microsoft.com/office/drawing/2014/main" id="{E70DA1B9-1FBE-4126-9A7C-1E8020E67D9B}"/>
              </a:ext>
            </a:extLst>
          </p:cNvPr>
          <p:cNvSpPr txBox="1"/>
          <p:nvPr/>
        </p:nvSpPr>
        <p:spPr>
          <a:xfrm>
            <a:off x="1083075" y="2334827"/>
            <a:ext cx="4225771" cy="4154984"/>
          </a:xfrm>
          <a:prstGeom prst="rect">
            <a:avLst/>
          </a:prstGeom>
          <a:noFill/>
        </p:spPr>
        <p:txBody>
          <a:bodyPr wrap="square" rtlCol="0">
            <a:spAutoFit/>
          </a:bodyPr>
          <a:lstStyle/>
          <a:p>
            <a:pPr marL="285750" indent="-285750">
              <a:buFont typeface="Arial" panose="020B0604020202020204" pitchFamily="34" charset="0"/>
              <a:buChar char="•"/>
            </a:pPr>
            <a:r>
              <a:rPr lang="en-AU" sz="2400" dirty="0">
                <a:solidFill>
                  <a:schemeClr val="accent5">
                    <a:lumMod val="10000"/>
                  </a:schemeClr>
                </a:solidFill>
              </a:rPr>
              <a:t>We measure the minimum voltage required to cause current to flow and photons to be emitted.</a:t>
            </a:r>
          </a:p>
          <a:p>
            <a:pPr marL="285750" indent="-285750">
              <a:buFont typeface="Arial" panose="020B0604020202020204" pitchFamily="34" charset="0"/>
              <a:buChar char="•"/>
            </a:pPr>
            <a:r>
              <a:rPr lang="en-AU" sz="2400" dirty="0">
                <a:solidFill>
                  <a:schemeClr val="accent5">
                    <a:lumMod val="10000"/>
                  </a:schemeClr>
                </a:solidFill>
              </a:rPr>
              <a:t>We can use the threshold voltage to find the energy in joules (using E=eV). And use the known wavelength to find the frequency. </a:t>
            </a:r>
          </a:p>
          <a:p>
            <a:pPr marL="285750" indent="-285750">
              <a:buFont typeface="Arial" panose="020B0604020202020204" pitchFamily="34" charset="0"/>
              <a:buChar char="•"/>
            </a:pPr>
            <a:r>
              <a:rPr lang="en-AU" sz="2400" dirty="0">
                <a:solidFill>
                  <a:schemeClr val="accent5">
                    <a:lumMod val="10000"/>
                  </a:schemeClr>
                </a:solidFill>
              </a:rPr>
              <a:t>Then we can use E and f to determine Planck’s constant.</a:t>
            </a:r>
          </a:p>
        </p:txBody>
      </p:sp>
    </p:spTree>
    <p:extLst>
      <p:ext uri="{BB962C8B-B14F-4D97-AF65-F5344CB8AC3E}">
        <p14:creationId xmlns:p14="http://schemas.microsoft.com/office/powerpoint/2010/main" val="28882418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BC27844-3FD1-4418-9D9B-7E8D8F4F0F9E}"/>
                  </a:ext>
                </a:extLst>
              </p:cNvPr>
              <p:cNvSpPr>
                <a:spLocks noGrp="1"/>
              </p:cNvSpPr>
              <p:nvPr>
                <p:ph idx="1"/>
              </p:nvPr>
            </p:nvSpPr>
            <p:spPr>
              <a:xfrm>
                <a:off x="719092" y="420948"/>
                <a:ext cx="8220722" cy="4071153"/>
              </a:xfrm>
            </p:spPr>
            <p:txBody>
              <a:bodyPr>
                <a:normAutofit lnSpcReduction="10000"/>
              </a:bodyPr>
              <a:lstStyle/>
              <a:p>
                <a:r>
                  <a:rPr lang="en-AU" dirty="0">
                    <a:solidFill>
                      <a:schemeClr val="accent5">
                        <a:lumMod val="10000"/>
                      </a:schemeClr>
                    </a:solidFill>
                  </a:rPr>
                  <a:t>Use the data to determine Planck’s constant.</a:t>
                </a:r>
              </a:p>
              <a:p>
                <a:r>
                  <a:rPr lang="en-AU" dirty="0">
                    <a:solidFill>
                      <a:schemeClr val="accent5">
                        <a:lumMod val="10000"/>
                      </a:schemeClr>
                    </a:solidFill>
                  </a:rPr>
                  <a:t>The energy has been calculated as follows:</a:t>
                </a:r>
              </a:p>
              <a:p>
                <a:pPr marL="0" indent="0">
                  <a:buNone/>
                </a:pPr>
                <a14:m>
                  <m:oMathPara xmlns:m="http://schemas.openxmlformats.org/officeDocument/2006/math">
                    <m:oMathParaPr>
                      <m:jc m:val="centerGroup"/>
                    </m:oMathParaPr>
                    <m:oMath xmlns:m="http://schemas.openxmlformats.org/officeDocument/2006/math">
                      <m:r>
                        <a:rPr lang="en-AU" b="0" i="1" smtClean="0">
                          <a:solidFill>
                            <a:schemeClr val="accent5">
                              <a:lumMod val="10000"/>
                            </a:schemeClr>
                          </a:solidFill>
                          <a:latin typeface="Cambria Math" panose="02040503050406030204" pitchFamily="18" charset="0"/>
                        </a:rPr>
                        <m:t>𝐸</m:t>
                      </m:r>
                      <m:r>
                        <a:rPr lang="en-AU" b="0" i="1" smtClean="0">
                          <a:solidFill>
                            <a:schemeClr val="accent5">
                              <a:lumMod val="10000"/>
                            </a:schemeClr>
                          </a:solidFill>
                          <a:latin typeface="Cambria Math" panose="02040503050406030204" pitchFamily="18" charset="0"/>
                        </a:rPr>
                        <m:t>=</m:t>
                      </m:r>
                      <m:r>
                        <a:rPr lang="en-AU" b="0" i="1" smtClean="0">
                          <a:solidFill>
                            <a:schemeClr val="accent5">
                              <a:lumMod val="10000"/>
                            </a:schemeClr>
                          </a:solidFill>
                          <a:latin typeface="Cambria Math" panose="02040503050406030204" pitchFamily="18" charset="0"/>
                        </a:rPr>
                        <m:t>𝑒𝑉</m:t>
                      </m:r>
                      <m:r>
                        <a:rPr lang="en-AU" b="0" i="1" smtClean="0">
                          <a:solidFill>
                            <a:schemeClr val="accent5">
                              <a:lumMod val="10000"/>
                            </a:schemeClr>
                          </a:solidFill>
                          <a:latin typeface="Cambria Math" panose="02040503050406030204" pitchFamily="18" charset="0"/>
                        </a:rPr>
                        <m:t>=</m:t>
                      </m:r>
                      <m:d>
                        <m:dPr>
                          <m:ctrlPr>
                            <a:rPr lang="en-AU" b="0" i="1" smtClean="0">
                              <a:solidFill>
                                <a:schemeClr val="accent5">
                                  <a:lumMod val="10000"/>
                                </a:schemeClr>
                              </a:solidFill>
                              <a:latin typeface="Cambria Math" panose="02040503050406030204" pitchFamily="18" charset="0"/>
                            </a:rPr>
                          </m:ctrlPr>
                        </m:dPr>
                        <m:e>
                          <m:r>
                            <a:rPr lang="en-AU" b="0" i="1" smtClean="0">
                              <a:solidFill>
                                <a:schemeClr val="accent5">
                                  <a:lumMod val="10000"/>
                                </a:schemeClr>
                              </a:solidFill>
                              <a:latin typeface="Cambria Math" panose="02040503050406030204" pitchFamily="18" charset="0"/>
                            </a:rPr>
                            <m:t>1.60</m:t>
                          </m:r>
                          <m:r>
                            <a:rPr lang="en-AU" b="0" i="1" smtClean="0">
                              <a:solidFill>
                                <a:schemeClr val="accent5">
                                  <a:lumMod val="10000"/>
                                </a:schemeClr>
                              </a:solidFill>
                              <a:latin typeface="Cambria Math" panose="02040503050406030204" pitchFamily="18" charset="0"/>
                              <a:ea typeface="Cambria Math" panose="02040503050406030204" pitchFamily="18" charset="0"/>
                            </a:rPr>
                            <m:t>×</m:t>
                          </m:r>
                          <m:sSup>
                            <m:sSupPr>
                              <m:ctrlPr>
                                <a:rPr lang="en-AU" b="0" i="1" smtClean="0">
                                  <a:solidFill>
                                    <a:schemeClr val="accent5">
                                      <a:lumMod val="10000"/>
                                    </a:schemeClr>
                                  </a:solidFill>
                                  <a:latin typeface="Cambria Math" panose="02040503050406030204" pitchFamily="18" charset="0"/>
                                </a:rPr>
                              </m:ctrlPr>
                            </m:sSupPr>
                            <m:e>
                              <m:r>
                                <a:rPr lang="en-AU" b="0" i="1" smtClean="0">
                                  <a:solidFill>
                                    <a:schemeClr val="accent5">
                                      <a:lumMod val="10000"/>
                                    </a:schemeClr>
                                  </a:solidFill>
                                  <a:latin typeface="Cambria Math" panose="02040503050406030204" pitchFamily="18" charset="0"/>
                                </a:rPr>
                                <m:t>10</m:t>
                              </m:r>
                            </m:e>
                            <m:sup>
                              <m:r>
                                <a:rPr lang="en-AU" b="0" i="1" smtClean="0">
                                  <a:solidFill>
                                    <a:schemeClr val="accent5">
                                      <a:lumMod val="10000"/>
                                    </a:schemeClr>
                                  </a:solidFill>
                                  <a:latin typeface="Cambria Math" panose="02040503050406030204" pitchFamily="18" charset="0"/>
                                </a:rPr>
                                <m:t>−19</m:t>
                              </m:r>
                            </m:sup>
                          </m:sSup>
                        </m:e>
                      </m:d>
                      <m:d>
                        <m:dPr>
                          <m:ctrlPr>
                            <a:rPr lang="en-AU" b="0" i="1" smtClean="0">
                              <a:solidFill>
                                <a:schemeClr val="accent5">
                                  <a:lumMod val="10000"/>
                                </a:schemeClr>
                              </a:solidFill>
                              <a:latin typeface="Cambria Math" panose="02040503050406030204" pitchFamily="18" charset="0"/>
                            </a:rPr>
                          </m:ctrlPr>
                        </m:dPr>
                        <m:e>
                          <m:r>
                            <a:rPr lang="en-AU" b="0" i="1" smtClean="0">
                              <a:solidFill>
                                <a:schemeClr val="accent5">
                                  <a:lumMod val="10000"/>
                                </a:schemeClr>
                              </a:solidFill>
                              <a:latin typeface="Cambria Math" panose="02040503050406030204" pitchFamily="18" charset="0"/>
                            </a:rPr>
                            <m:t>3.18</m:t>
                          </m:r>
                        </m:e>
                      </m:d>
                      <m:r>
                        <a:rPr lang="en-AU" b="0" i="1" smtClean="0">
                          <a:solidFill>
                            <a:schemeClr val="accent5">
                              <a:lumMod val="10000"/>
                            </a:schemeClr>
                          </a:solidFill>
                          <a:latin typeface="Cambria Math" panose="02040503050406030204" pitchFamily="18" charset="0"/>
                        </a:rPr>
                        <m:t>=5.1</m:t>
                      </m:r>
                      <m:r>
                        <a:rPr lang="en-AU" b="0" i="1" smtClean="0">
                          <a:solidFill>
                            <a:schemeClr val="accent5">
                              <a:lumMod val="10000"/>
                            </a:schemeClr>
                          </a:solidFill>
                          <a:latin typeface="Cambria Math" panose="02040503050406030204" pitchFamily="18" charset="0"/>
                          <a:ea typeface="Cambria Math" panose="02040503050406030204" pitchFamily="18" charset="0"/>
                        </a:rPr>
                        <m:t>×</m:t>
                      </m:r>
                      <m:sSup>
                        <m:sSupPr>
                          <m:ctrlPr>
                            <a:rPr lang="en-AU"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b="0" i="1" smtClean="0">
                              <a:solidFill>
                                <a:schemeClr val="accent5">
                                  <a:lumMod val="10000"/>
                                </a:schemeClr>
                              </a:solidFill>
                              <a:latin typeface="Cambria Math" panose="02040503050406030204" pitchFamily="18" charset="0"/>
                              <a:ea typeface="Cambria Math" panose="02040503050406030204" pitchFamily="18" charset="0"/>
                            </a:rPr>
                            <m:t>−19</m:t>
                          </m:r>
                        </m:sup>
                      </m:sSup>
                      <m:r>
                        <a:rPr lang="en-AU" b="0" i="1" smtClean="0">
                          <a:solidFill>
                            <a:schemeClr val="accent5">
                              <a:lumMod val="10000"/>
                            </a:schemeClr>
                          </a:solidFill>
                          <a:latin typeface="Cambria Math" panose="02040503050406030204" pitchFamily="18" charset="0"/>
                          <a:ea typeface="Cambria Math" panose="02040503050406030204" pitchFamily="18" charset="0"/>
                        </a:rPr>
                        <m:t> </m:t>
                      </m:r>
                      <m:r>
                        <a:rPr lang="en-AU" b="0" i="1" smtClean="0">
                          <a:solidFill>
                            <a:schemeClr val="accent5">
                              <a:lumMod val="10000"/>
                            </a:schemeClr>
                          </a:solidFill>
                          <a:latin typeface="Cambria Math" panose="02040503050406030204" pitchFamily="18" charset="0"/>
                          <a:ea typeface="Cambria Math" panose="02040503050406030204" pitchFamily="18" charset="0"/>
                        </a:rPr>
                        <m:t>𝐽</m:t>
                      </m:r>
                    </m:oMath>
                  </m:oMathPara>
                </a14:m>
                <a:endParaRPr lang="en-AU" b="0" dirty="0">
                  <a:solidFill>
                    <a:schemeClr val="accent5">
                      <a:lumMod val="10000"/>
                    </a:schemeClr>
                  </a:solidFill>
                  <a:ea typeface="Cambria Math" panose="02040503050406030204" pitchFamily="18" charset="0"/>
                </a:endParaRPr>
              </a:p>
              <a:p>
                <a:r>
                  <a:rPr lang="en-AU" dirty="0">
                    <a:solidFill>
                      <a:schemeClr val="accent5">
                        <a:lumMod val="10000"/>
                      </a:schemeClr>
                    </a:solidFill>
                  </a:rPr>
                  <a:t>The frequency has been calculated as follows:</a:t>
                </a:r>
              </a:p>
              <a:p>
                <a:pPr marL="0" indent="0">
                  <a:buNone/>
                </a:pPr>
                <a:r>
                  <a:rPr lang="en-AU" dirty="0">
                    <a:solidFill>
                      <a:schemeClr val="accent5">
                        <a:lumMod val="10000"/>
                      </a:schemeClr>
                    </a:solidFill>
                  </a:rPr>
                  <a:t>	       </a:t>
                </a:r>
                <a14:m>
                  <m:oMath xmlns:m="http://schemas.openxmlformats.org/officeDocument/2006/math">
                    <m:r>
                      <a:rPr lang="en-AU" b="0" i="1" smtClean="0">
                        <a:solidFill>
                          <a:schemeClr val="accent5">
                            <a:lumMod val="10000"/>
                          </a:schemeClr>
                        </a:solidFill>
                        <a:latin typeface="Cambria Math" panose="02040503050406030204" pitchFamily="18" charset="0"/>
                      </a:rPr>
                      <m:t>𝑓</m:t>
                    </m:r>
                    <m:r>
                      <a:rPr lang="en-AU" b="0" i="1" smtClean="0">
                        <a:solidFill>
                          <a:schemeClr val="accent5">
                            <a:lumMod val="10000"/>
                          </a:schemeClr>
                        </a:solidFill>
                        <a:latin typeface="Cambria Math" panose="02040503050406030204" pitchFamily="18" charset="0"/>
                      </a:rPr>
                      <m:t>=</m:t>
                    </m:r>
                    <m:f>
                      <m:fPr>
                        <m:ctrlPr>
                          <a:rPr lang="en-AU" b="0" i="1" smtClean="0">
                            <a:solidFill>
                              <a:schemeClr val="accent5">
                                <a:lumMod val="10000"/>
                              </a:schemeClr>
                            </a:solidFill>
                            <a:latin typeface="Cambria Math" panose="02040503050406030204" pitchFamily="18" charset="0"/>
                          </a:rPr>
                        </m:ctrlPr>
                      </m:fPr>
                      <m:num>
                        <m:r>
                          <a:rPr lang="en-AU" b="0" i="1" smtClean="0">
                            <a:solidFill>
                              <a:schemeClr val="accent5">
                                <a:lumMod val="10000"/>
                              </a:schemeClr>
                            </a:solidFill>
                            <a:latin typeface="Cambria Math" panose="02040503050406030204" pitchFamily="18" charset="0"/>
                          </a:rPr>
                          <m:t>𝑐</m:t>
                        </m:r>
                      </m:num>
                      <m:den>
                        <m:r>
                          <m:rPr>
                            <m:sty m:val="p"/>
                          </m:rPr>
                          <a:rPr lang="el-GR" b="0" i="1" smtClean="0">
                            <a:solidFill>
                              <a:schemeClr val="accent5">
                                <a:lumMod val="10000"/>
                              </a:schemeClr>
                            </a:solidFill>
                            <a:latin typeface="Cambria Math" panose="02040503050406030204" pitchFamily="18" charset="0"/>
                          </a:rPr>
                          <m:t>λ</m:t>
                        </m:r>
                      </m:den>
                    </m:f>
                    <m:r>
                      <a:rPr lang="en-AU" b="0" i="1" smtClean="0">
                        <a:solidFill>
                          <a:schemeClr val="accent5">
                            <a:lumMod val="10000"/>
                          </a:schemeClr>
                        </a:solidFill>
                        <a:latin typeface="Cambria Math" panose="02040503050406030204" pitchFamily="18" charset="0"/>
                      </a:rPr>
                      <m:t>=</m:t>
                    </m:r>
                    <m:f>
                      <m:fPr>
                        <m:ctrlPr>
                          <a:rPr lang="en-AU" b="0" i="1" smtClean="0">
                            <a:solidFill>
                              <a:schemeClr val="accent5">
                                <a:lumMod val="10000"/>
                              </a:schemeClr>
                            </a:solidFill>
                            <a:latin typeface="Cambria Math" panose="02040503050406030204" pitchFamily="18" charset="0"/>
                            <a:ea typeface="Cambria Math" panose="02040503050406030204" pitchFamily="18" charset="0"/>
                          </a:rPr>
                        </m:ctrlPr>
                      </m:fPr>
                      <m:num>
                        <m:r>
                          <a:rPr lang="en-AU" b="0" i="1" smtClean="0">
                            <a:solidFill>
                              <a:schemeClr val="accent5">
                                <a:lumMod val="10000"/>
                              </a:schemeClr>
                            </a:solidFill>
                            <a:latin typeface="Cambria Math" panose="02040503050406030204" pitchFamily="18" charset="0"/>
                          </a:rPr>
                          <m:t>3</m:t>
                        </m:r>
                        <m:r>
                          <a:rPr lang="en-AU" b="0" i="1" smtClean="0">
                            <a:solidFill>
                              <a:schemeClr val="accent5">
                                <a:lumMod val="10000"/>
                              </a:schemeClr>
                            </a:solidFill>
                            <a:latin typeface="Cambria Math" panose="02040503050406030204" pitchFamily="18" charset="0"/>
                            <a:ea typeface="Cambria Math" panose="02040503050406030204" pitchFamily="18" charset="0"/>
                          </a:rPr>
                          <m:t>×</m:t>
                        </m:r>
                        <m:sSup>
                          <m:sSupPr>
                            <m:ctrlPr>
                              <a:rPr lang="en-AU"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b="0" i="1" smtClean="0">
                                <a:solidFill>
                                  <a:schemeClr val="accent5">
                                    <a:lumMod val="10000"/>
                                  </a:schemeClr>
                                </a:solidFill>
                                <a:latin typeface="Cambria Math" panose="02040503050406030204" pitchFamily="18" charset="0"/>
                                <a:ea typeface="Cambria Math" panose="02040503050406030204" pitchFamily="18" charset="0"/>
                              </a:rPr>
                              <m:t>8</m:t>
                            </m:r>
                          </m:sup>
                        </m:sSup>
                      </m:num>
                      <m:den>
                        <m:r>
                          <a:rPr lang="en-AU" b="0" i="1" smtClean="0">
                            <a:solidFill>
                              <a:schemeClr val="accent5">
                                <a:lumMod val="10000"/>
                              </a:schemeClr>
                            </a:solidFill>
                            <a:latin typeface="Cambria Math" panose="02040503050406030204" pitchFamily="18" charset="0"/>
                            <a:ea typeface="Cambria Math" panose="02040503050406030204" pitchFamily="18" charset="0"/>
                          </a:rPr>
                          <m:t>390×</m:t>
                        </m:r>
                        <m:sSup>
                          <m:sSupPr>
                            <m:ctrlPr>
                              <a:rPr lang="en-AU"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b="0" i="1" smtClean="0">
                                <a:solidFill>
                                  <a:schemeClr val="accent5">
                                    <a:lumMod val="10000"/>
                                  </a:schemeClr>
                                </a:solidFill>
                                <a:latin typeface="Cambria Math" panose="02040503050406030204" pitchFamily="18" charset="0"/>
                                <a:ea typeface="Cambria Math" panose="02040503050406030204" pitchFamily="18" charset="0"/>
                              </a:rPr>
                              <m:t>−9</m:t>
                            </m:r>
                          </m:sup>
                        </m:sSup>
                      </m:den>
                    </m:f>
                    <m:r>
                      <a:rPr lang="en-AU" b="0" i="1" smtClean="0">
                        <a:solidFill>
                          <a:schemeClr val="accent5">
                            <a:lumMod val="10000"/>
                          </a:schemeClr>
                        </a:solidFill>
                        <a:latin typeface="Cambria Math" panose="02040503050406030204" pitchFamily="18" charset="0"/>
                        <a:ea typeface="Cambria Math" panose="02040503050406030204" pitchFamily="18" charset="0"/>
                      </a:rPr>
                      <m:t>=7.69×</m:t>
                    </m:r>
                    <m:sSup>
                      <m:sSupPr>
                        <m:ctrlPr>
                          <a:rPr lang="en-AU"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b="0" i="1" smtClean="0">
                            <a:solidFill>
                              <a:schemeClr val="accent5">
                                <a:lumMod val="10000"/>
                              </a:schemeClr>
                            </a:solidFill>
                            <a:latin typeface="Cambria Math" panose="02040503050406030204" pitchFamily="18" charset="0"/>
                            <a:ea typeface="Cambria Math" panose="02040503050406030204" pitchFamily="18" charset="0"/>
                          </a:rPr>
                          <m:t>14</m:t>
                        </m:r>
                      </m:sup>
                    </m:sSup>
                    <m:r>
                      <a:rPr lang="en-AU" b="0" i="1" smtClean="0">
                        <a:solidFill>
                          <a:schemeClr val="accent5">
                            <a:lumMod val="10000"/>
                          </a:schemeClr>
                        </a:solidFill>
                        <a:latin typeface="Cambria Math" panose="02040503050406030204" pitchFamily="18" charset="0"/>
                        <a:ea typeface="Cambria Math" panose="02040503050406030204" pitchFamily="18" charset="0"/>
                      </a:rPr>
                      <m:t> </m:t>
                    </m:r>
                    <m:r>
                      <a:rPr lang="en-AU" b="0" i="1" smtClean="0">
                        <a:solidFill>
                          <a:schemeClr val="accent5">
                            <a:lumMod val="10000"/>
                          </a:schemeClr>
                        </a:solidFill>
                        <a:latin typeface="Cambria Math" panose="02040503050406030204" pitchFamily="18" charset="0"/>
                        <a:ea typeface="Cambria Math" panose="02040503050406030204" pitchFamily="18" charset="0"/>
                      </a:rPr>
                      <m:t>𝐻𝑧</m:t>
                    </m:r>
                  </m:oMath>
                </a14:m>
                <a:endParaRPr lang="en-AU" dirty="0">
                  <a:solidFill>
                    <a:schemeClr val="accent5">
                      <a:lumMod val="10000"/>
                    </a:schemeClr>
                  </a:solidFill>
                </a:endParaRPr>
              </a:p>
              <a:p>
                <a:pPr marL="0" indent="0">
                  <a:buNone/>
                </a:pPr>
                <a:endParaRPr lang="en-AU" dirty="0">
                  <a:solidFill>
                    <a:schemeClr val="accent5">
                      <a:lumMod val="10000"/>
                    </a:schemeClr>
                  </a:solidFill>
                </a:endParaRPr>
              </a:p>
              <a:p>
                <a:r>
                  <a:rPr lang="en-AU" dirty="0">
                    <a:solidFill>
                      <a:schemeClr val="accent5">
                        <a:lumMod val="10000"/>
                      </a:schemeClr>
                    </a:solidFill>
                  </a:rPr>
                  <a:t>Does the experimental result match Planck’s constant?  Why/why not? </a:t>
                </a:r>
              </a:p>
            </p:txBody>
          </p:sp>
        </mc:Choice>
        <mc:Fallback xmlns="">
          <p:sp>
            <p:nvSpPr>
              <p:cNvPr id="3" name="Content Placeholder 2">
                <a:extLst>
                  <a:ext uri="{FF2B5EF4-FFF2-40B4-BE49-F238E27FC236}">
                    <a16:creationId xmlns:a16="http://schemas.microsoft.com/office/drawing/2014/main" id="{CBC27844-3FD1-4418-9D9B-7E8D8F4F0F9E}"/>
                  </a:ext>
                </a:extLst>
              </p:cNvPr>
              <p:cNvSpPr>
                <a:spLocks noGrp="1" noRot="1" noChangeAspect="1" noMove="1" noResize="1" noEditPoints="1" noAdjustHandles="1" noChangeArrowheads="1" noChangeShapeType="1" noTextEdit="1"/>
              </p:cNvSpPr>
              <p:nvPr>
                <p:ph idx="1"/>
              </p:nvPr>
            </p:nvSpPr>
            <p:spPr>
              <a:xfrm>
                <a:off x="719092" y="420948"/>
                <a:ext cx="8220722" cy="4071153"/>
              </a:xfrm>
              <a:blipFill>
                <a:blip r:embed="rId2"/>
                <a:stretch>
                  <a:fillRect l="-1927" t="-2395" b="-150"/>
                </a:stretch>
              </a:blipFill>
            </p:spPr>
            <p:txBody>
              <a:bodyPr/>
              <a:lstStyle/>
              <a:p>
                <a:r>
                  <a:rPr lang="en-AU">
                    <a:noFill/>
                  </a:rPr>
                  <a:t> </a:t>
                </a:r>
              </a:p>
            </p:txBody>
          </p:sp>
        </mc:Fallback>
      </mc:AlternateContent>
      <p:graphicFrame>
        <p:nvGraphicFramePr>
          <p:cNvPr id="4" name="Table 3">
            <a:extLst>
              <a:ext uri="{FF2B5EF4-FFF2-40B4-BE49-F238E27FC236}">
                <a16:creationId xmlns:a16="http://schemas.microsoft.com/office/drawing/2014/main" id="{40A9DA8F-70D0-428C-89D8-D1A2C6966414}"/>
              </a:ext>
            </a:extLst>
          </p:cNvPr>
          <p:cNvGraphicFramePr>
            <a:graphicFrameLocks noGrp="1"/>
          </p:cNvGraphicFramePr>
          <p:nvPr/>
        </p:nvGraphicFramePr>
        <p:xfrm>
          <a:off x="943253" y="4450673"/>
          <a:ext cx="7978806" cy="1280300"/>
        </p:xfrm>
        <a:graphic>
          <a:graphicData uri="http://schemas.openxmlformats.org/drawingml/2006/table">
            <a:tbl>
              <a:tblPr firstRow="1" bandRow="1">
                <a:tableStyleId>{5C22544A-7EE6-4342-B048-85BDC9FD1C3A}</a:tableStyleId>
              </a:tblPr>
              <a:tblGrid>
                <a:gridCol w="1054223">
                  <a:extLst>
                    <a:ext uri="{9D8B030D-6E8A-4147-A177-3AD203B41FA5}">
                      <a16:colId xmlns:a16="http://schemas.microsoft.com/office/drawing/2014/main" val="20000"/>
                    </a:ext>
                  </a:extLst>
                </a:gridCol>
                <a:gridCol w="1361983">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700073">
                  <a:extLst>
                    <a:ext uri="{9D8B030D-6E8A-4147-A177-3AD203B41FA5}">
                      <a16:colId xmlns:a16="http://schemas.microsoft.com/office/drawing/2014/main" val="20003"/>
                    </a:ext>
                  </a:extLst>
                </a:gridCol>
                <a:gridCol w="1624614">
                  <a:extLst>
                    <a:ext uri="{9D8B030D-6E8A-4147-A177-3AD203B41FA5}">
                      <a16:colId xmlns:a16="http://schemas.microsoft.com/office/drawing/2014/main" val="20004"/>
                    </a:ext>
                  </a:extLst>
                </a:gridCol>
                <a:gridCol w="1018713">
                  <a:extLst>
                    <a:ext uri="{9D8B030D-6E8A-4147-A177-3AD203B41FA5}">
                      <a16:colId xmlns:a16="http://schemas.microsoft.com/office/drawing/2014/main" val="20005"/>
                    </a:ext>
                  </a:extLst>
                </a:gridCol>
              </a:tblGrid>
              <a:tr h="457551">
                <a:tc>
                  <a:txBody>
                    <a:bodyPr/>
                    <a:lstStyle/>
                    <a:p>
                      <a:pPr algn="ctr"/>
                      <a:r>
                        <a:rPr lang="en-US" sz="1600" dirty="0"/>
                        <a:t>LED</a:t>
                      </a:r>
                    </a:p>
                    <a:p>
                      <a:pPr algn="ctr"/>
                      <a:r>
                        <a:rPr lang="en-US" sz="1600" dirty="0"/>
                        <a:t>Color</a:t>
                      </a:r>
                    </a:p>
                  </a:txBody>
                  <a:tcPr marT="45755" marB="45755">
                    <a:solidFill>
                      <a:schemeClr val="accent5">
                        <a:lumMod val="25000"/>
                      </a:schemeClr>
                    </a:solidFill>
                  </a:tcPr>
                </a:tc>
                <a:tc>
                  <a:txBody>
                    <a:bodyPr/>
                    <a:lstStyle/>
                    <a:p>
                      <a:pPr algn="ctr"/>
                      <a:r>
                        <a:rPr lang="en-US" sz="1600" dirty="0"/>
                        <a:t>Wavelength</a:t>
                      </a:r>
                    </a:p>
                    <a:p>
                      <a:pPr algn="ctr"/>
                      <a:r>
                        <a:rPr lang="el-GR" sz="1600" dirty="0"/>
                        <a:t>λ</a:t>
                      </a:r>
                      <a:endParaRPr lang="en-US" sz="1600" dirty="0"/>
                    </a:p>
                  </a:txBody>
                  <a:tcPr marT="45755" marB="45755">
                    <a:solidFill>
                      <a:schemeClr val="accent5">
                        <a:lumMod val="25000"/>
                      </a:schemeClr>
                    </a:solidFill>
                  </a:tcPr>
                </a:tc>
                <a:tc>
                  <a:txBody>
                    <a:bodyPr/>
                    <a:lstStyle/>
                    <a:p>
                      <a:pPr algn="ctr"/>
                      <a:r>
                        <a:rPr lang="en-US" sz="1600" dirty="0"/>
                        <a:t>Voltage</a:t>
                      </a:r>
                    </a:p>
                    <a:p>
                      <a:pPr algn="ctr"/>
                      <a:r>
                        <a:rPr lang="en-US" sz="1600" dirty="0"/>
                        <a:t>V</a:t>
                      </a:r>
                    </a:p>
                  </a:txBody>
                  <a:tcPr marT="45755" marB="45755">
                    <a:solidFill>
                      <a:schemeClr val="accent5">
                        <a:lumMod val="25000"/>
                      </a:schemeClr>
                    </a:solidFill>
                  </a:tcPr>
                </a:tc>
                <a:tc>
                  <a:txBody>
                    <a:bodyPr/>
                    <a:lstStyle/>
                    <a:p>
                      <a:pPr algn="ctr"/>
                      <a:r>
                        <a:rPr lang="en-US" sz="1600" dirty="0"/>
                        <a:t>Energy</a:t>
                      </a:r>
                    </a:p>
                    <a:p>
                      <a:pPr algn="ctr"/>
                      <a:r>
                        <a:rPr lang="en-US" sz="1600" dirty="0"/>
                        <a:t>E = eV</a:t>
                      </a:r>
                    </a:p>
                  </a:txBody>
                  <a:tcPr marT="45755" marB="45755">
                    <a:solidFill>
                      <a:schemeClr val="accent5">
                        <a:lumMod val="25000"/>
                      </a:schemeClr>
                    </a:solidFill>
                  </a:tcPr>
                </a:tc>
                <a:tc>
                  <a:txBody>
                    <a:bodyPr/>
                    <a:lstStyle/>
                    <a:p>
                      <a:pPr algn="ctr"/>
                      <a:r>
                        <a:rPr lang="en-US" sz="1600" dirty="0"/>
                        <a:t>Frequency</a:t>
                      </a:r>
                    </a:p>
                    <a:p>
                      <a:pPr algn="ctr"/>
                      <a:r>
                        <a:rPr lang="en-US" sz="1600" dirty="0"/>
                        <a:t>F = c/</a:t>
                      </a:r>
                      <a:r>
                        <a:rPr lang="el-GR" sz="1600" dirty="0"/>
                        <a:t>λ</a:t>
                      </a:r>
                      <a:endParaRPr lang="en-US" sz="1600" dirty="0"/>
                    </a:p>
                  </a:txBody>
                  <a:tcPr marT="45755" marB="45755">
                    <a:solidFill>
                      <a:schemeClr val="accent5">
                        <a:lumMod val="25000"/>
                      </a:schemeClr>
                    </a:solidFill>
                  </a:tcPr>
                </a:tc>
                <a:tc>
                  <a:txBody>
                    <a:bodyPr/>
                    <a:lstStyle/>
                    <a:p>
                      <a:pPr algn="ctr"/>
                      <a:r>
                        <a:rPr lang="en-US" sz="1600" dirty="0"/>
                        <a:t>Planck’s</a:t>
                      </a:r>
                    </a:p>
                    <a:p>
                      <a:pPr algn="ctr"/>
                      <a:r>
                        <a:rPr lang="en-US" sz="1600" dirty="0"/>
                        <a:t>Constant (h)</a:t>
                      </a:r>
                    </a:p>
                  </a:txBody>
                  <a:tcPr marT="45755" marB="45755">
                    <a:solidFill>
                      <a:schemeClr val="accent5">
                        <a:lumMod val="25000"/>
                      </a:schemeClr>
                    </a:solidFill>
                  </a:tcPr>
                </a:tc>
                <a:extLst>
                  <a:ext uri="{0D108BD9-81ED-4DB2-BD59-A6C34878D82A}">
                    <a16:rowId xmlns:a16="http://schemas.microsoft.com/office/drawing/2014/main" val="10000"/>
                  </a:ext>
                </a:extLst>
              </a:tr>
              <a:tr h="371124">
                <a:tc>
                  <a:txBody>
                    <a:bodyPr/>
                    <a:lstStyle/>
                    <a:p>
                      <a:r>
                        <a:rPr lang="en-US" sz="2400" dirty="0">
                          <a:solidFill>
                            <a:schemeClr val="accent5">
                              <a:lumMod val="10000"/>
                            </a:schemeClr>
                          </a:solidFill>
                        </a:rPr>
                        <a:t>UV</a:t>
                      </a:r>
                    </a:p>
                  </a:txBody>
                  <a:tcPr marT="45755" marB="45755">
                    <a:solidFill>
                      <a:schemeClr val="tx2">
                        <a:lumMod val="95000"/>
                      </a:schemeClr>
                    </a:solidFill>
                  </a:tcPr>
                </a:tc>
                <a:tc>
                  <a:txBody>
                    <a:bodyPr/>
                    <a:lstStyle/>
                    <a:p>
                      <a:r>
                        <a:rPr lang="en-US" sz="1800" dirty="0">
                          <a:solidFill>
                            <a:schemeClr val="accent5">
                              <a:lumMod val="10000"/>
                            </a:schemeClr>
                          </a:solidFill>
                        </a:rPr>
                        <a:t>390 nm</a:t>
                      </a:r>
                    </a:p>
                  </a:txBody>
                  <a:tcPr marT="45755" marB="45755">
                    <a:solidFill>
                      <a:schemeClr val="tx2">
                        <a:lumMod val="95000"/>
                      </a:schemeClr>
                    </a:solidFill>
                  </a:tcPr>
                </a:tc>
                <a:tc>
                  <a:txBody>
                    <a:bodyPr/>
                    <a:lstStyle/>
                    <a:p>
                      <a:r>
                        <a:rPr lang="en-US" sz="1800" dirty="0">
                          <a:solidFill>
                            <a:schemeClr val="accent5">
                              <a:lumMod val="10000"/>
                            </a:schemeClr>
                          </a:solidFill>
                        </a:rPr>
                        <a:t>3.18 V</a:t>
                      </a:r>
                    </a:p>
                  </a:txBody>
                  <a:tcPr marT="45755" marB="45755">
                    <a:solidFill>
                      <a:schemeClr val="tx2">
                        <a:lumMod val="95000"/>
                      </a:schemeClr>
                    </a:solidFill>
                  </a:tcPr>
                </a:tc>
                <a:tc>
                  <a:txBody>
                    <a:bodyPr/>
                    <a:lstStyle/>
                    <a:p>
                      <a:r>
                        <a:rPr lang="en-US" sz="1800" b="0" dirty="0">
                          <a:solidFill>
                            <a:schemeClr val="accent5">
                              <a:lumMod val="10000"/>
                            </a:schemeClr>
                          </a:solidFill>
                        </a:rPr>
                        <a:t>5.1 X 10</a:t>
                      </a:r>
                      <a:r>
                        <a:rPr lang="en-US" sz="1800" b="0" baseline="30000" dirty="0">
                          <a:solidFill>
                            <a:schemeClr val="accent5">
                              <a:lumMod val="10000"/>
                            </a:schemeClr>
                          </a:solidFill>
                        </a:rPr>
                        <a:t>-19</a:t>
                      </a:r>
                      <a:r>
                        <a:rPr lang="en-US" sz="1800" b="0" dirty="0">
                          <a:solidFill>
                            <a:schemeClr val="accent5">
                              <a:lumMod val="10000"/>
                            </a:schemeClr>
                          </a:solidFill>
                        </a:rPr>
                        <a:t> J</a:t>
                      </a:r>
                    </a:p>
                  </a:txBody>
                  <a:tcPr marT="45755" marB="45755">
                    <a:solidFill>
                      <a:schemeClr val="tx2">
                        <a:lumMod val="95000"/>
                      </a:schemeClr>
                    </a:solidFill>
                  </a:tcPr>
                </a:tc>
                <a:tc>
                  <a:txBody>
                    <a:bodyPr/>
                    <a:lstStyle/>
                    <a:p>
                      <a:r>
                        <a:rPr lang="en-US" sz="1800" b="0" dirty="0">
                          <a:solidFill>
                            <a:schemeClr val="accent5">
                              <a:lumMod val="10000"/>
                            </a:schemeClr>
                          </a:solidFill>
                        </a:rPr>
                        <a:t>7.69 X 10</a:t>
                      </a:r>
                      <a:r>
                        <a:rPr lang="en-US" sz="1800" b="0" baseline="30000" dirty="0">
                          <a:solidFill>
                            <a:schemeClr val="accent5">
                              <a:lumMod val="10000"/>
                            </a:schemeClr>
                          </a:solidFill>
                        </a:rPr>
                        <a:t>14</a:t>
                      </a:r>
                      <a:r>
                        <a:rPr lang="en-US" sz="1800" b="0" dirty="0">
                          <a:solidFill>
                            <a:schemeClr val="accent5">
                              <a:lumMod val="10000"/>
                            </a:schemeClr>
                          </a:solidFill>
                        </a:rPr>
                        <a:t> Hz</a:t>
                      </a:r>
                    </a:p>
                  </a:txBody>
                  <a:tcPr marT="45755" marB="45755">
                    <a:solidFill>
                      <a:schemeClr val="tx2">
                        <a:lumMod val="95000"/>
                      </a:schemeClr>
                    </a:solidFill>
                  </a:tcPr>
                </a:tc>
                <a:tc>
                  <a:txBody>
                    <a:bodyPr/>
                    <a:lstStyle/>
                    <a:p>
                      <a:endParaRPr lang="en-US" sz="1800" dirty="0">
                        <a:solidFill>
                          <a:schemeClr val="accent5">
                            <a:lumMod val="10000"/>
                          </a:schemeClr>
                        </a:solidFill>
                      </a:endParaRPr>
                    </a:p>
                  </a:txBody>
                  <a:tcPr marT="45755" marB="45755">
                    <a:solidFill>
                      <a:schemeClr val="tx2">
                        <a:lumMod val="9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528119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9285F8-612C-4528-8876-B43A3996AD5E}"/>
              </a:ext>
            </a:extLst>
          </p:cNvPr>
          <p:cNvSpPr>
            <a:spLocks noGrp="1"/>
          </p:cNvSpPr>
          <p:nvPr>
            <p:ph idx="1"/>
          </p:nvPr>
        </p:nvSpPr>
        <p:spPr>
          <a:xfrm>
            <a:off x="843379" y="509727"/>
            <a:ext cx="8025413" cy="1354584"/>
          </a:xfrm>
        </p:spPr>
        <p:txBody>
          <a:bodyPr>
            <a:normAutofit/>
          </a:bodyPr>
          <a:lstStyle/>
          <a:p>
            <a:r>
              <a:rPr lang="en-AU" dirty="0">
                <a:solidFill>
                  <a:schemeClr val="accent5">
                    <a:lumMod val="10000"/>
                  </a:schemeClr>
                </a:solidFill>
              </a:rPr>
              <a:t>Now complete the following table.</a:t>
            </a:r>
          </a:p>
          <a:p>
            <a:r>
              <a:rPr lang="en-AU" dirty="0">
                <a:solidFill>
                  <a:schemeClr val="accent5">
                    <a:lumMod val="10000"/>
                  </a:schemeClr>
                </a:solidFill>
              </a:rPr>
              <a:t>What do you observe?  How does this align with your knowledge of experimental data?</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46F02865-2196-4ECA-A884-C4116E6561F2}"/>
                  </a:ext>
                </a:extLst>
              </p:cNvPr>
              <p:cNvGraphicFramePr>
                <a:graphicFrameLocks noGrp="1"/>
              </p:cNvGraphicFramePr>
              <p:nvPr/>
            </p:nvGraphicFramePr>
            <p:xfrm>
              <a:off x="949912" y="2515341"/>
              <a:ext cx="7830104" cy="2311195"/>
            </p:xfrm>
            <a:graphic>
              <a:graphicData uri="http://schemas.openxmlformats.org/drawingml/2006/table">
                <a:tbl>
                  <a:tblPr firstRow="1" bandRow="1">
                    <a:tableStyleId>{5C22544A-7EE6-4342-B048-85BDC9FD1C3A}</a:tableStyleId>
                  </a:tblPr>
                  <a:tblGrid>
                    <a:gridCol w="1033647">
                      <a:extLst>
                        <a:ext uri="{9D8B030D-6E8A-4147-A177-3AD203B41FA5}">
                          <a16:colId xmlns:a16="http://schemas.microsoft.com/office/drawing/2014/main" val="20000"/>
                        </a:ext>
                      </a:extLst>
                    </a:gridCol>
                    <a:gridCol w="1243273">
                      <a:extLst>
                        <a:ext uri="{9D8B030D-6E8A-4147-A177-3AD203B41FA5}">
                          <a16:colId xmlns:a16="http://schemas.microsoft.com/office/drawing/2014/main" val="20001"/>
                        </a:ext>
                      </a:extLst>
                    </a:gridCol>
                    <a:gridCol w="915493">
                      <a:extLst>
                        <a:ext uri="{9D8B030D-6E8A-4147-A177-3AD203B41FA5}">
                          <a16:colId xmlns:a16="http://schemas.microsoft.com/office/drawing/2014/main" val="20002"/>
                        </a:ext>
                      </a:extLst>
                    </a:gridCol>
                    <a:gridCol w="1486118">
                      <a:extLst>
                        <a:ext uri="{9D8B030D-6E8A-4147-A177-3AD203B41FA5}">
                          <a16:colId xmlns:a16="http://schemas.microsoft.com/office/drawing/2014/main" val="20003"/>
                        </a:ext>
                      </a:extLst>
                    </a:gridCol>
                    <a:gridCol w="1518081">
                      <a:extLst>
                        <a:ext uri="{9D8B030D-6E8A-4147-A177-3AD203B41FA5}">
                          <a16:colId xmlns:a16="http://schemas.microsoft.com/office/drawing/2014/main" val="20004"/>
                        </a:ext>
                      </a:extLst>
                    </a:gridCol>
                    <a:gridCol w="1633492">
                      <a:extLst>
                        <a:ext uri="{9D8B030D-6E8A-4147-A177-3AD203B41FA5}">
                          <a16:colId xmlns:a16="http://schemas.microsoft.com/office/drawing/2014/main" val="20005"/>
                        </a:ext>
                      </a:extLst>
                    </a:gridCol>
                  </a:tblGrid>
                  <a:tr h="457153">
                    <a:tc>
                      <a:txBody>
                        <a:bodyPr/>
                        <a:lstStyle/>
                        <a:p>
                          <a:pPr algn="ctr"/>
                          <a:r>
                            <a:rPr lang="en-US" sz="1200" dirty="0"/>
                            <a:t>LED</a:t>
                          </a:r>
                        </a:p>
                        <a:p>
                          <a:pPr algn="ctr"/>
                          <a:r>
                            <a:rPr lang="en-US" sz="1200" dirty="0"/>
                            <a:t>Color</a:t>
                          </a:r>
                        </a:p>
                      </a:txBody>
                      <a:tcPr marT="45715" marB="45715">
                        <a:solidFill>
                          <a:schemeClr val="accent4">
                            <a:lumMod val="10000"/>
                          </a:schemeClr>
                        </a:solidFill>
                      </a:tcPr>
                    </a:tc>
                    <a:tc>
                      <a:txBody>
                        <a:bodyPr/>
                        <a:lstStyle/>
                        <a:p>
                          <a:pPr algn="ctr"/>
                          <a:r>
                            <a:rPr lang="en-US" sz="1200" dirty="0"/>
                            <a:t>Wavelength</a:t>
                          </a:r>
                        </a:p>
                        <a:p>
                          <a:pPr algn="ctr"/>
                          <a:r>
                            <a:rPr lang="el-GR" sz="1200" dirty="0"/>
                            <a:t>λ</a:t>
                          </a:r>
                          <a:endParaRPr lang="en-US" sz="1200" dirty="0"/>
                        </a:p>
                      </a:txBody>
                      <a:tcPr marT="45715" marB="45715">
                        <a:solidFill>
                          <a:schemeClr val="accent4">
                            <a:lumMod val="10000"/>
                          </a:schemeClr>
                        </a:solidFill>
                      </a:tcPr>
                    </a:tc>
                    <a:tc>
                      <a:txBody>
                        <a:bodyPr/>
                        <a:lstStyle/>
                        <a:p>
                          <a:pPr algn="ctr"/>
                          <a:r>
                            <a:rPr lang="en-US" sz="1200" dirty="0"/>
                            <a:t>Voltage</a:t>
                          </a:r>
                        </a:p>
                        <a:p>
                          <a:pPr algn="ctr"/>
                          <a:r>
                            <a:rPr lang="en-US" sz="1200" dirty="0"/>
                            <a:t>V</a:t>
                          </a:r>
                        </a:p>
                      </a:txBody>
                      <a:tcPr marT="45715" marB="45715">
                        <a:solidFill>
                          <a:schemeClr val="accent4">
                            <a:lumMod val="10000"/>
                          </a:schemeClr>
                        </a:solidFill>
                      </a:tcPr>
                    </a:tc>
                    <a:tc>
                      <a:txBody>
                        <a:bodyPr/>
                        <a:lstStyle/>
                        <a:p>
                          <a:pPr algn="ctr"/>
                          <a:r>
                            <a:rPr lang="en-US" sz="1200" dirty="0"/>
                            <a:t>Energy</a:t>
                          </a:r>
                        </a:p>
                        <a:p>
                          <a:pPr algn="ctr"/>
                          <a:r>
                            <a:rPr lang="en-US" sz="1200" dirty="0"/>
                            <a:t>E = </a:t>
                          </a:r>
                          <a:r>
                            <a:rPr lang="en-US" sz="1200" dirty="0" err="1"/>
                            <a:t>eV</a:t>
                          </a:r>
                          <a:endParaRPr lang="en-US" sz="1200" dirty="0"/>
                        </a:p>
                      </a:txBody>
                      <a:tcPr marT="45715" marB="45715">
                        <a:solidFill>
                          <a:schemeClr val="accent4">
                            <a:lumMod val="10000"/>
                          </a:schemeClr>
                        </a:solidFill>
                      </a:tcPr>
                    </a:tc>
                    <a:tc>
                      <a:txBody>
                        <a:bodyPr/>
                        <a:lstStyle/>
                        <a:p>
                          <a:pPr algn="ctr"/>
                          <a:r>
                            <a:rPr lang="en-US" sz="1200" dirty="0"/>
                            <a:t>Frequency</a:t>
                          </a:r>
                        </a:p>
                        <a:p>
                          <a:pPr algn="ctr"/>
                          <a:r>
                            <a:rPr lang="en-US" sz="1200" dirty="0"/>
                            <a:t>F = c/</a:t>
                          </a:r>
                          <a:r>
                            <a:rPr lang="el-GR" sz="1200" dirty="0"/>
                            <a:t>λ</a:t>
                          </a:r>
                          <a:endParaRPr lang="en-US" sz="1200" dirty="0"/>
                        </a:p>
                      </a:txBody>
                      <a:tcPr marT="45715" marB="45715">
                        <a:solidFill>
                          <a:schemeClr val="accent4">
                            <a:lumMod val="10000"/>
                          </a:schemeClr>
                        </a:solidFill>
                      </a:tcPr>
                    </a:tc>
                    <a:tc>
                      <a:txBody>
                        <a:bodyPr/>
                        <a:lstStyle/>
                        <a:p>
                          <a:pPr algn="ctr"/>
                          <a:r>
                            <a:rPr lang="en-US" sz="1200" dirty="0"/>
                            <a:t>Planck’s</a:t>
                          </a:r>
                        </a:p>
                        <a:p>
                          <a:pPr algn="ctr"/>
                          <a:r>
                            <a:rPr lang="en-US" sz="1200" dirty="0"/>
                            <a:t>Constant (h)</a:t>
                          </a:r>
                        </a:p>
                      </a:txBody>
                      <a:tcPr marT="45715" marB="45715">
                        <a:solidFill>
                          <a:schemeClr val="accent4">
                            <a:lumMod val="10000"/>
                          </a:schemeClr>
                        </a:solidFill>
                      </a:tcPr>
                    </a:tc>
                    <a:extLst>
                      <a:ext uri="{0D108BD9-81ED-4DB2-BD59-A6C34878D82A}">
                        <a16:rowId xmlns:a16="http://schemas.microsoft.com/office/drawing/2014/main" val="10000"/>
                      </a:ext>
                    </a:extLst>
                  </a:tr>
                  <a:tr h="370801">
                    <a:tc>
                      <a:txBody>
                        <a:bodyPr/>
                        <a:lstStyle/>
                        <a:p>
                          <a:r>
                            <a:rPr lang="en-US" sz="1800" dirty="0">
                              <a:solidFill>
                                <a:schemeClr val="accent5">
                                  <a:lumMod val="10000"/>
                                </a:schemeClr>
                              </a:solidFill>
                            </a:rPr>
                            <a:t>Red</a:t>
                          </a:r>
                        </a:p>
                      </a:txBody>
                      <a:tcPr marT="45715" marB="45715">
                        <a:solidFill>
                          <a:schemeClr val="bg2"/>
                        </a:solidFill>
                      </a:tcPr>
                    </a:tc>
                    <a:tc>
                      <a:txBody>
                        <a:bodyPr/>
                        <a:lstStyle/>
                        <a:p>
                          <a:r>
                            <a:rPr lang="en-US" sz="1800" dirty="0">
                              <a:solidFill>
                                <a:schemeClr val="accent5">
                                  <a:lumMod val="10000"/>
                                </a:schemeClr>
                              </a:solidFill>
                            </a:rPr>
                            <a:t>620 nm</a:t>
                          </a:r>
                        </a:p>
                      </a:txBody>
                      <a:tcPr marT="45715" marB="45715">
                        <a:solidFill>
                          <a:schemeClr val="bg2"/>
                        </a:solidFill>
                      </a:tcPr>
                    </a:tc>
                    <a:tc>
                      <a:txBody>
                        <a:bodyPr/>
                        <a:lstStyle/>
                        <a:p>
                          <a:r>
                            <a:rPr lang="en-US" sz="1800" dirty="0">
                              <a:solidFill>
                                <a:schemeClr val="accent5">
                                  <a:lumMod val="10000"/>
                                </a:schemeClr>
                              </a:solidFill>
                            </a:rPr>
                            <a:t>1.96</a:t>
                          </a:r>
                        </a:p>
                      </a:txBody>
                      <a:tcPr marT="45715" marB="45715">
                        <a:solidFill>
                          <a:schemeClr val="bg2"/>
                        </a:solidFill>
                      </a:tcPr>
                    </a:tc>
                    <a:tc>
                      <a:txBody>
                        <a:bodyPr/>
                        <a:lstStyle/>
                        <a:p>
                          <a:endParaRPr lang="en-US" sz="1800">
                            <a:solidFill>
                              <a:schemeClr val="accent5">
                                <a:lumMod val="10000"/>
                              </a:schemeClr>
                            </a:solidFill>
                          </a:endParaRPr>
                        </a:p>
                      </a:txBody>
                      <a:tcPr marT="45715" marB="45715">
                        <a:solidFill>
                          <a:schemeClr val="bg2"/>
                        </a:solidFill>
                      </a:tcPr>
                    </a:tc>
                    <a:tc>
                      <a:txBody>
                        <a:bodyPr/>
                        <a:lstStyle/>
                        <a:p>
                          <a:endParaRPr lang="en-US" sz="1800">
                            <a:solidFill>
                              <a:schemeClr val="accent5">
                                <a:lumMod val="10000"/>
                              </a:schemeClr>
                            </a:solidFill>
                          </a:endParaRPr>
                        </a:p>
                      </a:txBody>
                      <a:tcPr marT="45715" marB="45715">
                        <a:solidFill>
                          <a:schemeClr val="bg2"/>
                        </a:solidFill>
                      </a:tcPr>
                    </a:tc>
                    <a:tc>
                      <a:txBody>
                        <a:bodyPr/>
                        <a:lstStyle/>
                        <a:p>
                          <a:endParaRPr lang="en-US" sz="1800">
                            <a:solidFill>
                              <a:schemeClr val="accent5">
                                <a:lumMod val="10000"/>
                              </a:schemeClr>
                            </a:solidFill>
                          </a:endParaRPr>
                        </a:p>
                      </a:txBody>
                      <a:tcPr marT="45715" marB="45715">
                        <a:solidFill>
                          <a:schemeClr val="bg2"/>
                        </a:solidFill>
                      </a:tcPr>
                    </a:tc>
                    <a:extLst>
                      <a:ext uri="{0D108BD9-81ED-4DB2-BD59-A6C34878D82A}">
                        <a16:rowId xmlns:a16="http://schemas.microsoft.com/office/drawing/2014/main" val="10001"/>
                      </a:ext>
                    </a:extLst>
                  </a:tr>
                  <a:tr h="370801">
                    <a:tc>
                      <a:txBody>
                        <a:bodyPr/>
                        <a:lstStyle/>
                        <a:p>
                          <a:r>
                            <a:rPr lang="en-US" sz="1800" dirty="0">
                              <a:solidFill>
                                <a:schemeClr val="accent5">
                                  <a:lumMod val="10000"/>
                                </a:schemeClr>
                              </a:solidFill>
                            </a:rPr>
                            <a:t>Yellow</a:t>
                          </a:r>
                        </a:p>
                      </a:txBody>
                      <a:tcPr marT="45715" marB="45715">
                        <a:solidFill>
                          <a:schemeClr val="bg2"/>
                        </a:solidFill>
                      </a:tcPr>
                    </a:tc>
                    <a:tc>
                      <a:txBody>
                        <a:bodyPr/>
                        <a:lstStyle/>
                        <a:p>
                          <a:r>
                            <a:rPr lang="en-US" sz="1800" dirty="0">
                              <a:solidFill>
                                <a:schemeClr val="accent5">
                                  <a:lumMod val="10000"/>
                                </a:schemeClr>
                              </a:solidFill>
                            </a:rPr>
                            <a:t>600 nm</a:t>
                          </a:r>
                        </a:p>
                      </a:txBody>
                      <a:tcPr marT="45715" marB="45715">
                        <a:solidFill>
                          <a:schemeClr val="bg2"/>
                        </a:solidFill>
                      </a:tcPr>
                    </a:tc>
                    <a:tc>
                      <a:txBody>
                        <a:bodyPr/>
                        <a:lstStyle/>
                        <a:p>
                          <a:r>
                            <a:rPr lang="en-US" sz="1800" dirty="0">
                              <a:solidFill>
                                <a:schemeClr val="accent5">
                                  <a:lumMod val="10000"/>
                                </a:schemeClr>
                              </a:solidFill>
                            </a:rPr>
                            <a:t>2.05</a:t>
                          </a:r>
                        </a:p>
                      </a:txBody>
                      <a:tcPr marT="45715" marB="45715">
                        <a:solidFill>
                          <a:schemeClr val="bg2"/>
                        </a:solidFill>
                      </a:tcPr>
                    </a:tc>
                    <a:tc>
                      <a:txBody>
                        <a:bodyPr/>
                        <a:lstStyle/>
                        <a:p>
                          <a:endParaRPr lang="en-US" sz="1800" dirty="0">
                            <a:solidFill>
                              <a:schemeClr val="accent5">
                                <a:lumMod val="10000"/>
                              </a:schemeClr>
                            </a:solidFill>
                          </a:endParaRPr>
                        </a:p>
                      </a:txBody>
                      <a:tcPr marT="45715" marB="45715">
                        <a:solidFill>
                          <a:schemeClr val="bg2"/>
                        </a:solidFill>
                      </a:tcPr>
                    </a:tc>
                    <a:tc>
                      <a:txBody>
                        <a:bodyPr/>
                        <a:lstStyle/>
                        <a:p>
                          <a:endParaRPr lang="en-US" sz="1800">
                            <a:solidFill>
                              <a:schemeClr val="accent5">
                                <a:lumMod val="10000"/>
                              </a:schemeClr>
                            </a:solidFill>
                          </a:endParaRPr>
                        </a:p>
                      </a:txBody>
                      <a:tcPr marT="45715" marB="45715">
                        <a:solidFill>
                          <a:schemeClr val="bg2"/>
                        </a:solidFill>
                      </a:tcPr>
                    </a:tc>
                    <a:tc>
                      <a:txBody>
                        <a:bodyPr/>
                        <a:lstStyle/>
                        <a:p>
                          <a:endParaRPr lang="en-US" sz="1800" dirty="0">
                            <a:solidFill>
                              <a:schemeClr val="accent5">
                                <a:lumMod val="10000"/>
                              </a:schemeClr>
                            </a:solidFill>
                          </a:endParaRPr>
                        </a:p>
                      </a:txBody>
                      <a:tcPr marT="45715" marB="45715">
                        <a:solidFill>
                          <a:schemeClr val="bg2"/>
                        </a:solidFill>
                      </a:tcPr>
                    </a:tc>
                    <a:extLst>
                      <a:ext uri="{0D108BD9-81ED-4DB2-BD59-A6C34878D82A}">
                        <a16:rowId xmlns:a16="http://schemas.microsoft.com/office/drawing/2014/main" val="10003"/>
                      </a:ext>
                    </a:extLst>
                  </a:tr>
                  <a:tr h="370801">
                    <a:tc>
                      <a:txBody>
                        <a:bodyPr/>
                        <a:lstStyle/>
                        <a:p>
                          <a:r>
                            <a:rPr lang="en-US" sz="1800" dirty="0">
                              <a:solidFill>
                                <a:schemeClr val="accent5">
                                  <a:lumMod val="10000"/>
                                </a:schemeClr>
                              </a:solidFill>
                            </a:rPr>
                            <a:t>Green</a:t>
                          </a:r>
                        </a:p>
                      </a:txBody>
                      <a:tcPr marT="45715" marB="45715">
                        <a:solidFill>
                          <a:schemeClr val="bg2"/>
                        </a:solidFill>
                      </a:tcPr>
                    </a:tc>
                    <a:tc>
                      <a:txBody>
                        <a:bodyPr/>
                        <a:lstStyle/>
                        <a:p>
                          <a:r>
                            <a:rPr lang="en-US" sz="1800" dirty="0">
                              <a:solidFill>
                                <a:schemeClr val="accent5">
                                  <a:lumMod val="10000"/>
                                </a:schemeClr>
                              </a:solidFill>
                            </a:rPr>
                            <a:t>565 nm</a:t>
                          </a:r>
                        </a:p>
                      </a:txBody>
                      <a:tcPr marT="45715" marB="45715">
                        <a:solidFill>
                          <a:schemeClr val="bg2"/>
                        </a:solidFill>
                      </a:tcPr>
                    </a:tc>
                    <a:tc>
                      <a:txBody>
                        <a:bodyPr/>
                        <a:lstStyle/>
                        <a:p>
                          <a:r>
                            <a:rPr lang="en-US" sz="1800" dirty="0">
                              <a:solidFill>
                                <a:schemeClr val="accent5">
                                  <a:lumMod val="10000"/>
                                </a:schemeClr>
                              </a:solidFill>
                            </a:rPr>
                            <a:t>2.18</a:t>
                          </a:r>
                        </a:p>
                      </a:txBody>
                      <a:tcPr marT="45715" marB="45715">
                        <a:solidFill>
                          <a:schemeClr val="bg2"/>
                        </a:solidFill>
                      </a:tcPr>
                    </a:tc>
                    <a:tc>
                      <a:txBody>
                        <a:bodyPr/>
                        <a:lstStyle/>
                        <a:p>
                          <a:endParaRPr lang="en-US" sz="1800" dirty="0">
                            <a:solidFill>
                              <a:schemeClr val="accent5">
                                <a:lumMod val="10000"/>
                              </a:schemeClr>
                            </a:solidFill>
                          </a:endParaRPr>
                        </a:p>
                      </a:txBody>
                      <a:tcPr marT="45715" marB="45715">
                        <a:solidFill>
                          <a:schemeClr val="bg2"/>
                        </a:solidFill>
                      </a:tcPr>
                    </a:tc>
                    <a:tc>
                      <a:txBody>
                        <a:bodyPr/>
                        <a:lstStyle/>
                        <a:p>
                          <a:endParaRPr lang="en-US" sz="1800" dirty="0">
                            <a:solidFill>
                              <a:schemeClr val="accent5">
                                <a:lumMod val="10000"/>
                              </a:schemeClr>
                            </a:solidFill>
                          </a:endParaRPr>
                        </a:p>
                      </a:txBody>
                      <a:tcPr marT="45715" marB="45715">
                        <a:solidFill>
                          <a:schemeClr val="bg2"/>
                        </a:solidFill>
                      </a:tcPr>
                    </a:tc>
                    <a:tc>
                      <a:txBody>
                        <a:bodyPr/>
                        <a:lstStyle/>
                        <a:p>
                          <a:endParaRPr lang="en-US" sz="1800">
                            <a:solidFill>
                              <a:schemeClr val="accent5">
                                <a:lumMod val="10000"/>
                              </a:schemeClr>
                            </a:solidFill>
                          </a:endParaRPr>
                        </a:p>
                      </a:txBody>
                      <a:tcPr marT="45715" marB="45715">
                        <a:solidFill>
                          <a:schemeClr val="bg2"/>
                        </a:solidFill>
                      </a:tcPr>
                    </a:tc>
                    <a:extLst>
                      <a:ext uri="{0D108BD9-81ED-4DB2-BD59-A6C34878D82A}">
                        <a16:rowId xmlns:a16="http://schemas.microsoft.com/office/drawing/2014/main" val="10004"/>
                      </a:ext>
                    </a:extLst>
                  </a:tr>
                  <a:tr h="370801">
                    <a:tc>
                      <a:txBody>
                        <a:bodyPr/>
                        <a:lstStyle/>
                        <a:p>
                          <a:r>
                            <a:rPr lang="en-US" sz="1800" dirty="0">
                              <a:solidFill>
                                <a:schemeClr val="accent5">
                                  <a:lumMod val="10000"/>
                                </a:schemeClr>
                              </a:solidFill>
                            </a:rPr>
                            <a:t>Blue</a:t>
                          </a:r>
                        </a:p>
                      </a:txBody>
                      <a:tcPr marT="45715" marB="45715">
                        <a:solidFill>
                          <a:schemeClr val="bg2"/>
                        </a:solidFill>
                      </a:tcPr>
                    </a:tc>
                    <a:tc>
                      <a:txBody>
                        <a:bodyPr/>
                        <a:lstStyle/>
                        <a:p>
                          <a:r>
                            <a:rPr lang="en-US" sz="1800" dirty="0">
                              <a:solidFill>
                                <a:schemeClr val="accent5">
                                  <a:lumMod val="10000"/>
                                </a:schemeClr>
                              </a:solidFill>
                            </a:rPr>
                            <a:t>460 nm</a:t>
                          </a:r>
                        </a:p>
                      </a:txBody>
                      <a:tcPr marT="45715" marB="45715">
                        <a:solidFill>
                          <a:schemeClr val="bg2"/>
                        </a:solidFill>
                      </a:tcPr>
                    </a:tc>
                    <a:tc>
                      <a:txBody>
                        <a:bodyPr/>
                        <a:lstStyle/>
                        <a:p>
                          <a:r>
                            <a:rPr lang="en-US" sz="1800" dirty="0">
                              <a:solidFill>
                                <a:schemeClr val="accent5">
                                  <a:lumMod val="10000"/>
                                </a:schemeClr>
                              </a:solidFill>
                            </a:rPr>
                            <a:t>2.69</a:t>
                          </a:r>
                        </a:p>
                      </a:txBody>
                      <a:tcPr marT="45715" marB="45715">
                        <a:solidFill>
                          <a:schemeClr val="bg2"/>
                        </a:solidFill>
                      </a:tcPr>
                    </a:tc>
                    <a:tc>
                      <a:txBody>
                        <a:bodyPr/>
                        <a:lstStyle/>
                        <a:p>
                          <a:endParaRPr lang="en-US" sz="1800">
                            <a:solidFill>
                              <a:schemeClr val="accent5">
                                <a:lumMod val="10000"/>
                              </a:schemeClr>
                            </a:solidFill>
                          </a:endParaRPr>
                        </a:p>
                      </a:txBody>
                      <a:tcPr marT="45715" marB="45715">
                        <a:solidFill>
                          <a:schemeClr val="bg2"/>
                        </a:solidFill>
                      </a:tcPr>
                    </a:tc>
                    <a:tc>
                      <a:txBody>
                        <a:bodyPr/>
                        <a:lstStyle/>
                        <a:p>
                          <a:endParaRPr lang="en-US" sz="1800" dirty="0">
                            <a:solidFill>
                              <a:schemeClr val="accent5">
                                <a:lumMod val="10000"/>
                              </a:schemeClr>
                            </a:solidFill>
                          </a:endParaRPr>
                        </a:p>
                      </a:txBody>
                      <a:tcPr marT="45715" marB="45715">
                        <a:solidFill>
                          <a:schemeClr val="bg2"/>
                        </a:solidFill>
                      </a:tcPr>
                    </a:tc>
                    <a:tc>
                      <a:txBody>
                        <a:bodyPr/>
                        <a:lstStyle/>
                        <a:p>
                          <a:endParaRPr lang="en-US" sz="1800">
                            <a:solidFill>
                              <a:schemeClr val="accent5">
                                <a:lumMod val="10000"/>
                              </a:schemeClr>
                            </a:solidFill>
                          </a:endParaRPr>
                        </a:p>
                      </a:txBody>
                      <a:tcPr marT="45715" marB="45715">
                        <a:solidFill>
                          <a:schemeClr val="bg2"/>
                        </a:solidFill>
                      </a:tcPr>
                    </a:tc>
                    <a:extLst>
                      <a:ext uri="{0D108BD9-81ED-4DB2-BD59-A6C34878D82A}">
                        <a16:rowId xmlns:a16="http://schemas.microsoft.com/office/drawing/2014/main" val="10005"/>
                      </a:ext>
                    </a:extLst>
                  </a:tr>
                  <a:tr h="370801">
                    <a:tc>
                      <a:txBody>
                        <a:bodyPr/>
                        <a:lstStyle/>
                        <a:p>
                          <a:r>
                            <a:rPr lang="en-US" sz="1800" dirty="0">
                              <a:solidFill>
                                <a:schemeClr val="accent5">
                                  <a:lumMod val="10000"/>
                                </a:schemeClr>
                              </a:solidFill>
                            </a:rPr>
                            <a:t>UV</a:t>
                          </a:r>
                        </a:p>
                      </a:txBody>
                      <a:tcPr marT="45715" marB="45715">
                        <a:solidFill>
                          <a:schemeClr val="bg2"/>
                        </a:solidFill>
                      </a:tcPr>
                    </a:tc>
                    <a:tc>
                      <a:txBody>
                        <a:bodyPr/>
                        <a:lstStyle/>
                        <a:p>
                          <a:r>
                            <a:rPr lang="en-US" sz="1800" dirty="0">
                              <a:solidFill>
                                <a:schemeClr val="accent5">
                                  <a:lumMod val="10000"/>
                                </a:schemeClr>
                              </a:solidFill>
                            </a:rPr>
                            <a:t>390 nm</a:t>
                          </a:r>
                        </a:p>
                      </a:txBody>
                      <a:tcPr marT="45755" marB="45755">
                        <a:solidFill>
                          <a:schemeClr val="bg2"/>
                        </a:solidFill>
                      </a:tcPr>
                    </a:tc>
                    <a:tc>
                      <a:txBody>
                        <a:bodyPr/>
                        <a:lstStyle/>
                        <a:p>
                          <a:r>
                            <a:rPr lang="en-US" sz="1800" dirty="0">
                              <a:solidFill>
                                <a:schemeClr val="accent5">
                                  <a:lumMod val="10000"/>
                                </a:schemeClr>
                              </a:solidFill>
                            </a:rPr>
                            <a:t>3.18 V</a:t>
                          </a:r>
                        </a:p>
                      </a:txBody>
                      <a:tcPr marT="45755" marB="45755">
                        <a:solidFill>
                          <a:schemeClr val="bg2"/>
                        </a:solidFill>
                      </a:tcPr>
                    </a:tc>
                    <a:tc>
                      <a:txBody>
                        <a:bodyPr/>
                        <a:lstStyle/>
                        <a:p>
                          <a:r>
                            <a:rPr lang="en-US" sz="1800" b="0" dirty="0">
                              <a:solidFill>
                                <a:schemeClr val="accent5">
                                  <a:lumMod val="10000"/>
                                </a:schemeClr>
                              </a:solidFill>
                            </a:rPr>
                            <a:t>5.1 X 10</a:t>
                          </a:r>
                          <a:r>
                            <a:rPr lang="en-US" sz="1800" b="0" baseline="30000" dirty="0">
                              <a:solidFill>
                                <a:schemeClr val="accent5">
                                  <a:lumMod val="10000"/>
                                </a:schemeClr>
                              </a:solidFill>
                            </a:rPr>
                            <a:t>-19</a:t>
                          </a:r>
                          <a:r>
                            <a:rPr lang="en-US" sz="1800" b="0" dirty="0">
                              <a:solidFill>
                                <a:schemeClr val="accent5">
                                  <a:lumMod val="10000"/>
                                </a:schemeClr>
                              </a:solidFill>
                            </a:rPr>
                            <a:t> J</a:t>
                          </a:r>
                        </a:p>
                      </a:txBody>
                      <a:tcPr marT="45755" marB="45755">
                        <a:solidFill>
                          <a:schemeClr val="bg2"/>
                        </a:solidFill>
                      </a:tcPr>
                    </a:tc>
                    <a:tc>
                      <a:txBody>
                        <a:bodyPr/>
                        <a:lstStyle/>
                        <a:p>
                          <a:r>
                            <a:rPr lang="en-US" sz="1800" b="0" dirty="0">
                              <a:solidFill>
                                <a:schemeClr val="accent5">
                                  <a:lumMod val="10000"/>
                                </a:schemeClr>
                              </a:solidFill>
                            </a:rPr>
                            <a:t>7.69 X 10</a:t>
                          </a:r>
                          <a:r>
                            <a:rPr lang="en-US" sz="1800" b="0" baseline="30000" dirty="0">
                              <a:solidFill>
                                <a:schemeClr val="accent5">
                                  <a:lumMod val="10000"/>
                                </a:schemeClr>
                              </a:solidFill>
                            </a:rPr>
                            <a:t>14</a:t>
                          </a:r>
                          <a:r>
                            <a:rPr lang="en-US" sz="1800" b="0" dirty="0">
                              <a:solidFill>
                                <a:schemeClr val="accent5">
                                  <a:lumMod val="10000"/>
                                </a:schemeClr>
                              </a:solidFill>
                            </a:rPr>
                            <a:t> Hz</a:t>
                          </a:r>
                        </a:p>
                      </a:txBody>
                      <a:tcPr marT="45755" marB="45755">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n-US" sz="1800" i="1" dirty="0" smtClean="0">
                                    <a:solidFill>
                                      <a:schemeClr val="accent5">
                                        <a:lumMod val="10000"/>
                                      </a:schemeClr>
                                    </a:solidFill>
                                    <a:latin typeface="Cambria Math" panose="02040503050406030204" pitchFamily="18" charset="0"/>
                                  </a:rPr>
                                  <m:t>6.</m:t>
                                </m:r>
                                <m:r>
                                  <a:rPr lang="en-AU" sz="1800" b="0" i="1" dirty="0" smtClean="0">
                                    <a:solidFill>
                                      <a:schemeClr val="accent5">
                                        <a:lumMod val="10000"/>
                                      </a:schemeClr>
                                    </a:solidFill>
                                    <a:latin typeface="Cambria Math" panose="02040503050406030204" pitchFamily="18" charset="0"/>
                                  </a:rPr>
                                  <m:t>63</m:t>
                                </m:r>
                                <m:r>
                                  <a:rPr lang="en-US" sz="1800" i="1" dirty="0" smtClean="0">
                                    <a:solidFill>
                                      <a:schemeClr val="accent5">
                                        <a:lumMod val="10000"/>
                                      </a:schemeClr>
                                    </a:solidFill>
                                    <a:latin typeface="Cambria Math" panose="02040503050406030204" pitchFamily="18" charset="0"/>
                                    <a:ea typeface="Cambria Math" panose="02040503050406030204" pitchFamily="18" charset="0"/>
                                  </a:rPr>
                                  <m:t>×</m:t>
                                </m:r>
                                <m:sSup>
                                  <m:sSupPr>
                                    <m:ctrlPr>
                                      <a:rPr lang="en-AU" sz="1800" b="0" i="1" dirty="0" smtClean="0">
                                        <a:solidFill>
                                          <a:schemeClr val="accent5">
                                            <a:lumMod val="10000"/>
                                          </a:schemeClr>
                                        </a:solidFill>
                                        <a:latin typeface="Cambria Math" panose="02040503050406030204" pitchFamily="18" charset="0"/>
                                        <a:ea typeface="Cambria Math" panose="02040503050406030204" pitchFamily="18" charset="0"/>
                                      </a:rPr>
                                    </m:ctrlPr>
                                  </m:sSupPr>
                                  <m:e>
                                    <m:r>
                                      <a:rPr lang="en-AU" sz="1800" b="0" i="1" dirty="0" smtClean="0">
                                        <a:solidFill>
                                          <a:schemeClr val="accent5">
                                            <a:lumMod val="10000"/>
                                          </a:schemeClr>
                                        </a:solidFill>
                                        <a:latin typeface="Cambria Math" panose="02040503050406030204" pitchFamily="18" charset="0"/>
                                        <a:ea typeface="Cambria Math" panose="02040503050406030204" pitchFamily="18" charset="0"/>
                                      </a:rPr>
                                      <m:t>10</m:t>
                                    </m:r>
                                  </m:e>
                                  <m:sup>
                                    <m:r>
                                      <a:rPr lang="en-AU" sz="1800" b="0" i="1" dirty="0" smtClean="0">
                                        <a:solidFill>
                                          <a:schemeClr val="accent5">
                                            <a:lumMod val="10000"/>
                                          </a:schemeClr>
                                        </a:solidFill>
                                        <a:latin typeface="Cambria Math" panose="02040503050406030204" pitchFamily="18" charset="0"/>
                                        <a:ea typeface="Cambria Math" panose="02040503050406030204" pitchFamily="18" charset="0"/>
                                      </a:rPr>
                                      <m:t>−34</m:t>
                                    </m:r>
                                  </m:sup>
                                </m:sSup>
                              </m:oMath>
                            </m:oMathPara>
                          </a14:m>
                          <a:endParaRPr lang="en-US" sz="1800" dirty="0">
                            <a:solidFill>
                              <a:schemeClr val="accent5">
                                <a:lumMod val="10000"/>
                              </a:schemeClr>
                            </a:solidFill>
                          </a:endParaRPr>
                        </a:p>
                      </a:txBody>
                      <a:tcPr marT="45715" marB="45715">
                        <a:solidFill>
                          <a:schemeClr val="bg2"/>
                        </a:solidFill>
                      </a:tcPr>
                    </a:tc>
                    <a:extLst>
                      <a:ext uri="{0D108BD9-81ED-4DB2-BD59-A6C34878D82A}">
                        <a16:rowId xmlns:a16="http://schemas.microsoft.com/office/drawing/2014/main" val="10006"/>
                      </a:ext>
                    </a:extLst>
                  </a:tr>
                </a:tbl>
              </a:graphicData>
            </a:graphic>
          </p:graphicFrame>
        </mc:Choice>
        <mc:Fallback xmlns="">
          <p:graphicFrame>
            <p:nvGraphicFramePr>
              <p:cNvPr id="4" name="Table 3">
                <a:extLst>
                  <a:ext uri="{FF2B5EF4-FFF2-40B4-BE49-F238E27FC236}">
                    <a16:creationId xmlns:a16="http://schemas.microsoft.com/office/drawing/2014/main" id="{46F02865-2196-4ECA-A884-C4116E6561F2}"/>
                  </a:ext>
                </a:extLst>
              </p:cNvPr>
              <p:cNvGraphicFramePr>
                <a:graphicFrameLocks noGrp="1"/>
              </p:cNvGraphicFramePr>
              <p:nvPr>
                <p:extLst>
                  <p:ext uri="{D42A27DB-BD31-4B8C-83A1-F6EECF244321}">
                    <p14:modId xmlns:p14="http://schemas.microsoft.com/office/powerpoint/2010/main" val="4096711109"/>
                  </p:ext>
                </p:extLst>
              </p:nvPr>
            </p:nvGraphicFramePr>
            <p:xfrm>
              <a:off x="949912" y="2515341"/>
              <a:ext cx="7830104" cy="2311195"/>
            </p:xfrm>
            <a:graphic>
              <a:graphicData uri="http://schemas.openxmlformats.org/drawingml/2006/table">
                <a:tbl>
                  <a:tblPr firstRow="1" bandRow="1">
                    <a:tableStyleId>{5C22544A-7EE6-4342-B048-85BDC9FD1C3A}</a:tableStyleId>
                  </a:tblPr>
                  <a:tblGrid>
                    <a:gridCol w="1033647">
                      <a:extLst>
                        <a:ext uri="{9D8B030D-6E8A-4147-A177-3AD203B41FA5}">
                          <a16:colId xmlns:a16="http://schemas.microsoft.com/office/drawing/2014/main" val="20000"/>
                        </a:ext>
                      </a:extLst>
                    </a:gridCol>
                    <a:gridCol w="1243273">
                      <a:extLst>
                        <a:ext uri="{9D8B030D-6E8A-4147-A177-3AD203B41FA5}">
                          <a16:colId xmlns:a16="http://schemas.microsoft.com/office/drawing/2014/main" val="20001"/>
                        </a:ext>
                      </a:extLst>
                    </a:gridCol>
                    <a:gridCol w="915493">
                      <a:extLst>
                        <a:ext uri="{9D8B030D-6E8A-4147-A177-3AD203B41FA5}">
                          <a16:colId xmlns:a16="http://schemas.microsoft.com/office/drawing/2014/main" val="20002"/>
                        </a:ext>
                      </a:extLst>
                    </a:gridCol>
                    <a:gridCol w="1486118">
                      <a:extLst>
                        <a:ext uri="{9D8B030D-6E8A-4147-A177-3AD203B41FA5}">
                          <a16:colId xmlns:a16="http://schemas.microsoft.com/office/drawing/2014/main" val="20003"/>
                        </a:ext>
                      </a:extLst>
                    </a:gridCol>
                    <a:gridCol w="1518081">
                      <a:extLst>
                        <a:ext uri="{9D8B030D-6E8A-4147-A177-3AD203B41FA5}">
                          <a16:colId xmlns:a16="http://schemas.microsoft.com/office/drawing/2014/main" val="20004"/>
                        </a:ext>
                      </a:extLst>
                    </a:gridCol>
                    <a:gridCol w="1633492">
                      <a:extLst>
                        <a:ext uri="{9D8B030D-6E8A-4147-A177-3AD203B41FA5}">
                          <a16:colId xmlns:a16="http://schemas.microsoft.com/office/drawing/2014/main" val="20005"/>
                        </a:ext>
                      </a:extLst>
                    </a:gridCol>
                  </a:tblGrid>
                  <a:tr h="457190">
                    <a:tc>
                      <a:txBody>
                        <a:bodyPr/>
                        <a:lstStyle/>
                        <a:p>
                          <a:pPr algn="ctr"/>
                          <a:r>
                            <a:rPr lang="en-US" sz="1200" dirty="0"/>
                            <a:t>LED</a:t>
                          </a:r>
                        </a:p>
                        <a:p>
                          <a:pPr algn="ctr"/>
                          <a:r>
                            <a:rPr lang="en-US" sz="1200" dirty="0"/>
                            <a:t>Color</a:t>
                          </a:r>
                        </a:p>
                      </a:txBody>
                      <a:tcPr marT="45715" marB="45715">
                        <a:solidFill>
                          <a:schemeClr val="accent4">
                            <a:lumMod val="10000"/>
                          </a:schemeClr>
                        </a:solidFill>
                      </a:tcPr>
                    </a:tc>
                    <a:tc>
                      <a:txBody>
                        <a:bodyPr/>
                        <a:lstStyle/>
                        <a:p>
                          <a:pPr algn="ctr"/>
                          <a:r>
                            <a:rPr lang="en-US" sz="1200" dirty="0"/>
                            <a:t>Wavelength</a:t>
                          </a:r>
                        </a:p>
                        <a:p>
                          <a:pPr algn="ctr"/>
                          <a:r>
                            <a:rPr lang="el-GR" sz="1200" dirty="0"/>
                            <a:t>λ</a:t>
                          </a:r>
                          <a:endParaRPr lang="en-US" sz="1200" dirty="0"/>
                        </a:p>
                      </a:txBody>
                      <a:tcPr marT="45715" marB="45715">
                        <a:solidFill>
                          <a:schemeClr val="accent4">
                            <a:lumMod val="10000"/>
                          </a:schemeClr>
                        </a:solidFill>
                      </a:tcPr>
                    </a:tc>
                    <a:tc>
                      <a:txBody>
                        <a:bodyPr/>
                        <a:lstStyle/>
                        <a:p>
                          <a:pPr algn="ctr"/>
                          <a:r>
                            <a:rPr lang="en-US" sz="1200" dirty="0"/>
                            <a:t>Voltage</a:t>
                          </a:r>
                        </a:p>
                        <a:p>
                          <a:pPr algn="ctr"/>
                          <a:r>
                            <a:rPr lang="en-US" sz="1200" dirty="0"/>
                            <a:t>V</a:t>
                          </a:r>
                        </a:p>
                      </a:txBody>
                      <a:tcPr marT="45715" marB="45715">
                        <a:solidFill>
                          <a:schemeClr val="accent4">
                            <a:lumMod val="10000"/>
                          </a:schemeClr>
                        </a:solidFill>
                      </a:tcPr>
                    </a:tc>
                    <a:tc>
                      <a:txBody>
                        <a:bodyPr/>
                        <a:lstStyle/>
                        <a:p>
                          <a:pPr algn="ctr"/>
                          <a:r>
                            <a:rPr lang="en-US" sz="1200" dirty="0"/>
                            <a:t>Energy</a:t>
                          </a:r>
                        </a:p>
                        <a:p>
                          <a:pPr algn="ctr"/>
                          <a:r>
                            <a:rPr lang="en-US" sz="1200" dirty="0"/>
                            <a:t>E = </a:t>
                          </a:r>
                          <a:r>
                            <a:rPr lang="en-US" sz="1200" dirty="0" err="1"/>
                            <a:t>eV</a:t>
                          </a:r>
                          <a:endParaRPr lang="en-US" sz="1200" dirty="0"/>
                        </a:p>
                      </a:txBody>
                      <a:tcPr marT="45715" marB="45715">
                        <a:solidFill>
                          <a:schemeClr val="accent4">
                            <a:lumMod val="10000"/>
                          </a:schemeClr>
                        </a:solidFill>
                      </a:tcPr>
                    </a:tc>
                    <a:tc>
                      <a:txBody>
                        <a:bodyPr/>
                        <a:lstStyle/>
                        <a:p>
                          <a:pPr algn="ctr"/>
                          <a:r>
                            <a:rPr lang="en-US" sz="1200" dirty="0"/>
                            <a:t>Frequency</a:t>
                          </a:r>
                        </a:p>
                        <a:p>
                          <a:pPr algn="ctr"/>
                          <a:r>
                            <a:rPr lang="en-US" sz="1200" dirty="0"/>
                            <a:t>F = c/</a:t>
                          </a:r>
                          <a:r>
                            <a:rPr lang="el-GR" sz="1200" dirty="0"/>
                            <a:t>λ</a:t>
                          </a:r>
                          <a:endParaRPr lang="en-US" sz="1200" dirty="0"/>
                        </a:p>
                      </a:txBody>
                      <a:tcPr marT="45715" marB="45715">
                        <a:solidFill>
                          <a:schemeClr val="accent4">
                            <a:lumMod val="10000"/>
                          </a:schemeClr>
                        </a:solidFill>
                      </a:tcPr>
                    </a:tc>
                    <a:tc>
                      <a:txBody>
                        <a:bodyPr/>
                        <a:lstStyle/>
                        <a:p>
                          <a:pPr algn="ctr"/>
                          <a:r>
                            <a:rPr lang="en-US" sz="1200" dirty="0"/>
                            <a:t>Planck’s</a:t>
                          </a:r>
                        </a:p>
                        <a:p>
                          <a:pPr algn="ctr"/>
                          <a:r>
                            <a:rPr lang="en-US" sz="1200" dirty="0"/>
                            <a:t>Constant (h)</a:t>
                          </a:r>
                        </a:p>
                      </a:txBody>
                      <a:tcPr marT="45715" marB="45715">
                        <a:solidFill>
                          <a:schemeClr val="accent4">
                            <a:lumMod val="10000"/>
                          </a:schemeClr>
                        </a:solidFill>
                      </a:tcPr>
                    </a:tc>
                    <a:extLst>
                      <a:ext uri="{0D108BD9-81ED-4DB2-BD59-A6C34878D82A}">
                        <a16:rowId xmlns:a16="http://schemas.microsoft.com/office/drawing/2014/main" val="10000"/>
                      </a:ext>
                    </a:extLst>
                  </a:tr>
                  <a:tr h="370801">
                    <a:tc>
                      <a:txBody>
                        <a:bodyPr/>
                        <a:lstStyle/>
                        <a:p>
                          <a:r>
                            <a:rPr lang="en-US" sz="1800" dirty="0">
                              <a:solidFill>
                                <a:schemeClr val="accent5">
                                  <a:lumMod val="10000"/>
                                </a:schemeClr>
                              </a:solidFill>
                            </a:rPr>
                            <a:t>Red</a:t>
                          </a:r>
                        </a:p>
                      </a:txBody>
                      <a:tcPr marT="45715" marB="45715">
                        <a:solidFill>
                          <a:schemeClr val="bg2"/>
                        </a:solidFill>
                      </a:tcPr>
                    </a:tc>
                    <a:tc>
                      <a:txBody>
                        <a:bodyPr/>
                        <a:lstStyle/>
                        <a:p>
                          <a:r>
                            <a:rPr lang="en-US" sz="1800" dirty="0">
                              <a:solidFill>
                                <a:schemeClr val="accent5">
                                  <a:lumMod val="10000"/>
                                </a:schemeClr>
                              </a:solidFill>
                            </a:rPr>
                            <a:t>620 nm</a:t>
                          </a:r>
                        </a:p>
                      </a:txBody>
                      <a:tcPr marT="45715" marB="45715">
                        <a:solidFill>
                          <a:schemeClr val="bg2"/>
                        </a:solidFill>
                      </a:tcPr>
                    </a:tc>
                    <a:tc>
                      <a:txBody>
                        <a:bodyPr/>
                        <a:lstStyle/>
                        <a:p>
                          <a:r>
                            <a:rPr lang="en-US" sz="1800" dirty="0">
                              <a:solidFill>
                                <a:schemeClr val="accent5">
                                  <a:lumMod val="10000"/>
                                </a:schemeClr>
                              </a:solidFill>
                            </a:rPr>
                            <a:t>1.96</a:t>
                          </a:r>
                        </a:p>
                      </a:txBody>
                      <a:tcPr marT="45715" marB="45715">
                        <a:solidFill>
                          <a:schemeClr val="bg2"/>
                        </a:solidFill>
                      </a:tcPr>
                    </a:tc>
                    <a:tc>
                      <a:txBody>
                        <a:bodyPr/>
                        <a:lstStyle/>
                        <a:p>
                          <a:endParaRPr lang="en-US" sz="1800">
                            <a:solidFill>
                              <a:schemeClr val="accent5">
                                <a:lumMod val="10000"/>
                              </a:schemeClr>
                            </a:solidFill>
                          </a:endParaRPr>
                        </a:p>
                      </a:txBody>
                      <a:tcPr marT="45715" marB="45715">
                        <a:solidFill>
                          <a:schemeClr val="bg2"/>
                        </a:solidFill>
                      </a:tcPr>
                    </a:tc>
                    <a:tc>
                      <a:txBody>
                        <a:bodyPr/>
                        <a:lstStyle/>
                        <a:p>
                          <a:endParaRPr lang="en-US" sz="1800">
                            <a:solidFill>
                              <a:schemeClr val="accent5">
                                <a:lumMod val="10000"/>
                              </a:schemeClr>
                            </a:solidFill>
                          </a:endParaRPr>
                        </a:p>
                      </a:txBody>
                      <a:tcPr marT="45715" marB="45715">
                        <a:solidFill>
                          <a:schemeClr val="bg2"/>
                        </a:solidFill>
                      </a:tcPr>
                    </a:tc>
                    <a:tc>
                      <a:txBody>
                        <a:bodyPr/>
                        <a:lstStyle/>
                        <a:p>
                          <a:endParaRPr lang="en-US" sz="1800">
                            <a:solidFill>
                              <a:schemeClr val="accent5">
                                <a:lumMod val="10000"/>
                              </a:schemeClr>
                            </a:solidFill>
                          </a:endParaRPr>
                        </a:p>
                      </a:txBody>
                      <a:tcPr marT="45715" marB="45715">
                        <a:solidFill>
                          <a:schemeClr val="bg2"/>
                        </a:solidFill>
                      </a:tcPr>
                    </a:tc>
                    <a:extLst>
                      <a:ext uri="{0D108BD9-81ED-4DB2-BD59-A6C34878D82A}">
                        <a16:rowId xmlns:a16="http://schemas.microsoft.com/office/drawing/2014/main" val="10001"/>
                      </a:ext>
                    </a:extLst>
                  </a:tr>
                  <a:tr h="370801">
                    <a:tc>
                      <a:txBody>
                        <a:bodyPr/>
                        <a:lstStyle/>
                        <a:p>
                          <a:r>
                            <a:rPr lang="en-US" sz="1800" dirty="0">
                              <a:solidFill>
                                <a:schemeClr val="accent5">
                                  <a:lumMod val="10000"/>
                                </a:schemeClr>
                              </a:solidFill>
                            </a:rPr>
                            <a:t>Yellow</a:t>
                          </a:r>
                        </a:p>
                      </a:txBody>
                      <a:tcPr marT="45715" marB="45715">
                        <a:solidFill>
                          <a:schemeClr val="bg2"/>
                        </a:solidFill>
                      </a:tcPr>
                    </a:tc>
                    <a:tc>
                      <a:txBody>
                        <a:bodyPr/>
                        <a:lstStyle/>
                        <a:p>
                          <a:r>
                            <a:rPr lang="en-US" sz="1800" dirty="0">
                              <a:solidFill>
                                <a:schemeClr val="accent5">
                                  <a:lumMod val="10000"/>
                                </a:schemeClr>
                              </a:solidFill>
                            </a:rPr>
                            <a:t>600 nm</a:t>
                          </a:r>
                        </a:p>
                      </a:txBody>
                      <a:tcPr marT="45715" marB="45715">
                        <a:solidFill>
                          <a:schemeClr val="bg2"/>
                        </a:solidFill>
                      </a:tcPr>
                    </a:tc>
                    <a:tc>
                      <a:txBody>
                        <a:bodyPr/>
                        <a:lstStyle/>
                        <a:p>
                          <a:r>
                            <a:rPr lang="en-US" sz="1800" dirty="0">
                              <a:solidFill>
                                <a:schemeClr val="accent5">
                                  <a:lumMod val="10000"/>
                                </a:schemeClr>
                              </a:solidFill>
                            </a:rPr>
                            <a:t>2.05</a:t>
                          </a:r>
                        </a:p>
                      </a:txBody>
                      <a:tcPr marT="45715" marB="45715">
                        <a:solidFill>
                          <a:schemeClr val="bg2"/>
                        </a:solidFill>
                      </a:tcPr>
                    </a:tc>
                    <a:tc>
                      <a:txBody>
                        <a:bodyPr/>
                        <a:lstStyle/>
                        <a:p>
                          <a:endParaRPr lang="en-US" sz="1800" dirty="0">
                            <a:solidFill>
                              <a:schemeClr val="accent5">
                                <a:lumMod val="10000"/>
                              </a:schemeClr>
                            </a:solidFill>
                          </a:endParaRPr>
                        </a:p>
                      </a:txBody>
                      <a:tcPr marT="45715" marB="45715">
                        <a:solidFill>
                          <a:schemeClr val="bg2"/>
                        </a:solidFill>
                      </a:tcPr>
                    </a:tc>
                    <a:tc>
                      <a:txBody>
                        <a:bodyPr/>
                        <a:lstStyle/>
                        <a:p>
                          <a:endParaRPr lang="en-US" sz="1800">
                            <a:solidFill>
                              <a:schemeClr val="accent5">
                                <a:lumMod val="10000"/>
                              </a:schemeClr>
                            </a:solidFill>
                          </a:endParaRPr>
                        </a:p>
                      </a:txBody>
                      <a:tcPr marT="45715" marB="45715">
                        <a:solidFill>
                          <a:schemeClr val="bg2"/>
                        </a:solidFill>
                      </a:tcPr>
                    </a:tc>
                    <a:tc>
                      <a:txBody>
                        <a:bodyPr/>
                        <a:lstStyle/>
                        <a:p>
                          <a:endParaRPr lang="en-US" sz="1800" dirty="0">
                            <a:solidFill>
                              <a:schemeClr val="accent5">
                                <a:lumMod val="10000"/>
                              </a:schemeClr>
                            </a:solidFill>
                          </a:endParaRPr>
                        </a:p>
                      </a:txBody>
                      <a:tcPr marT="45715" marB="45715">
                        <a:solidFill>
                          <a:schemeClr val="bg2"/>
                        </a:solidFill>
                      </a:tcPr>
                    </a:tc>
                    <a:extLst>
                      <a:ext uri="{0D108BD9-81ED-4DB2-BD59-A6C34878D82A}">
                        <a16:rowId xmlns:a16="http://schemas.microsoft.com/office/drawing/2014/main" val="10003"/>
                      </a:ext>
                    </a:extLst>
                  </a:tr>
                  <a:tr h="370801">
                    <a:tc>
                      <a:txBody>
                        <a:bodyPr/>
                        <a:lstStyle/>
                        <a:p>
                          <a:r>
                            <a:rPr lang="en-US" sz="1800" dirty="0">
                              <a:solidFill>
                                <a:schemeClr val="accent5">
                                  <a:lumMod val="10000"/>
                                </a:schemeClr>
                              </a:solidFill>
                            </a:rPr>
                            <a:t>Green</a:t>
                          </a:r>
                        </a:p>
                      </a:txBody>
                      <a:tcPr marT="45715" marB="45715">
                        <a:solidFill>
                          <a:schemeClr val="bg2"/>
                        </a:solidFill>
                      </a:tcPr>
                    </a:tc>
                    <a:tc>
                      <a:txBody>
                        <a:bodyPr/>
                        <a:lstStyle/>
                        <a:p>
                          <a:r>
                            <a:rPr lang="en-US" sz="1800" dirty="0">
                              <a:solidFill>
                                <a:schemeClr val="accent5">
                                  <a:lumMod val="10000"/>
                                </a:schemeClr>
                              </a:solidFill>
                            </a:rPr>
                            <a:t>565 nm</a:t>
                          </a:r>
                        </a:p>
                      </a:txBody>
                      <a:tcPr marT="45715" marB="45715">
                        <a:solidFill>
                          <a:schemeClr val="bg2"/>
                        </a:solidFill>
                      </a:tcPr>
                    </a:tc>
                    <a:tc>
                      <a:txBody>
                        <a:bodyPr/>
                        <a:lstStyle/>
                        <a:p>
                          <a:r>
                            <a:rPr lang="en-US" sz="1800" dirty="0">
                              <a:solidFill>
                                <a:schemeClr val="accent5">
                                  <a:lumMod val="10000"/>
                                </a:schemeClr>
                              </a:solidFill>
                            </a:rPr>
                            <a:t>2.18</a:t>
                          </a:r>
                        </a:p>
                      </a:txBody>
                      <a:tcPr marT="45715" marB="45715">
                        <a:solidFill>
                          <a:schemeClr val="bg2"/>
                        </a:solidFill>
                      </a:tcPr>
                    </a:tc>
                    <a:tc>
                      <a:txBody>
                        <a:bodyPr/>
                        <a:lstStyle/>
                        <a:p>
                          <a:endParaRPr lang="en-US" sz="1800" dirty="0">
                            <a:solidFill>
                              <a:schemeClr val="accent5">
                                <a:lumMod val="10000"/>
                              </a:schemeClr>
                            </a:solidFill>
                          </a:endParaRPr>
                        </a:p>
                      </a:txBody>
                      <a:tcPr marT="45715" marB="45715">
                        <a:solidFill>
                          <a:schemeClr val="bg2"/>
                        </a:solidFill>
                      </a:tcPr>
                    </a:tc>
                    <a:tc>
                      <a:txBody>
                        <a:bodyPr/>
                        <a:lstStyle/>
                        <a:p>
                          <a:endParaRPr lang="en-US" sz="1800" dirty="0">
                            <a:solidFill>
                              <a:schemeClr val="accent5">
                                <a:lumMod val="10000"/>
                              </a:schemeClr>
                            </a:solidFill>
                          </a:endParaRPr>
                        </a:p>
                      </a:txBody>
                      <a:tcPr marT="45715" marB="45715">
                        <a:solidFill>
                          <a:schemeClr val="bg2"/>
                        </a:solidFill>
                      </a:tcPr>
                    </a:tc>
                    <a:tc>
                      <a:txBody>
                        <a:bodyPr/>
                        <a:lstStyle/>
                        <a:p>
                          <a:endParaRPr lang="en-US" sz="1800">
                            <a:solidFill>
                              <a:schemeClr val="accent5">
                                <a:lumMod val="10000"/>
                              </a:schemeClr>
                            </a:solidFill>
                          </a:endParaRPr>
                        </a:p>
                      </a:txBody>
                      <a:tcPr marT="45715" marB="45715">
                        <a:solidFill>
                          <a:schemeClr val="bg2"/>
                        </a:solidFill>
                      </a:tcPr>
                    </a:tc>
                    <a:extLst>
                      <a:ext uri="{0D108BD9-81ED-4DB2-BD59-A6C34878D82A}">
                        <a16:rowId xmlns:a16="http://schemas.microsoft.com/office/drawing/2014/main" val="10004"/>
                      </a:ext>
                    </a:extLst>
                  </a:tr>
                  <a:tr h="370801">
                    <a:tc>
                      <a:txBody>
                        <a:bodyPr/>
                        <a:lstStyle/>
                        <a:p>
                          <a:r>
                            <a:rPr lang="en-US" sz="1800" dirty="0">
                              <a:solidFill>
                                <a:schemeClr val="accent5">
                                  <a:lumMod val="10000"/>
                                </a:schemeClr>
                              </a:solidFill>
                            </a:rPr>
                            <a:t>Blue</a:t>
                          </a:r>
                        </a:p>
                      </a:txBody>
                      <a:tcPr marT="45715" marB="45715">
                        <a:solidFill>
                          <a:schemeClr val="bg2"/>
                        </a:solidFill>
                      </a:tcPr>
                    </a:tc>
                    <a:tc>
                      <a:txBody>
                        <a:bodyPr/>
                        <a:lstStyle/>
                        <a:p>
                          <a:r>
                            <a:rPr lang="en-US" sz="1800" dirty="0">
                              <a:solidFill>
                                <a:schemeClr val="accent5">
                                  <a:lumMod val="10000"/>
                                </a:schemeClr>
                              </a:solidFill>
                            </a:rPr>
                            <a:t>460 nm</a:t>
                          </a:r>
                        </a:p>
                      </a:txBody>
                      <a:tcPr marT="45715" marB="45715">
                        <a:solidFill>
                          <a:schemeClr val="bg2"/>
                        </a:solidFill>
                      </a:tcPr>
                    </a:tc>
                    <a:tc>
                      <a:txBody>
                        <a:bodyPr/>
                        <a:lstStyle/>
                        <a:p>
                          <a:r>
                            <a:rPr lang="en-US" sz="1800" dirty="0">
                              <a:solidFill>
                                <a:schemeClr val="accent5">
                                  <a:lumMod val="10000"/>
                                </a:schemeClr>
                              </a:solidFill>
                            </a:rPr>
                            <a:t>2.69</a:t>
                          </a:r>
                        </a:p>
                      </a:txBody>
                      <a:tcPr marT="45715" marB="45715">
                        <a:solidFill>
                          <a:schemeClr val="bg2"/>
                        </a:solidFill>
                      </a:tcPr>
                    </a:tc>
                    <a:tc>
                      <a:txBody>
                        <a:bodyPr/>
                        <a:lstStyle/>
                        <a:p>
                          <a:endParaRPr lang="en-US" sz="1800">
                            <a:solidFill>
                              <a:schemeClr val="accent5">
                                <a:lumMod val="10000"/>
                              </a:schemeClr>
                            </a:solidFill>
                          </a:endParaRPr>
                        </a:p>
                      </a:txBody>
                      <a:tcPr marT="45715" marB="45715">
                        <a:solidFill>
                          <a:schemeClr val="bg2"/>
                        </a:solidFill>
                      </a:tcPr>
                    </a:tc>
                    <a:tc>
                      <a:txBody>
                        <a:bodyPr/>
                        <a:lstStyle/>
                        <a:p>
                          <a:endParaRPr lang="en-US" sz="1800" dirty="0">
                            <a:solidFill>
                              <a:schemeClr val="accent5">
                                <a:lumMod val="10000"/>
                              </a:schemeClr>
                            </a:solidFill>
                          </a:endParaRPr>
                        </a:p>
                      </a:txBody>
                      <a:tcPr marT="45715" marB="45715">
                        <a:solidFill>
                          <a:schemeClr val="bg2"/>
                        </a:solidFill>
                      </a:tcPr>
                    </a:tc>
                    <a:tc>
                      <a:txBody>
                        <a:bodyPr/>
                        <a:lstStyle/>
                        <a:p>
                          <a:endParaRPr lang="en-US" sz="1800">
                            <a:solidFill>
                              <a:schemeClr val="accent5">
                                <a:lumMod val="10000"/>
                              </a:schemeClr>
                            </a:solidFill>
                          </a:endParaRPr>
                        </a:p>
                      </a:txBody>
                      <a:tcPr marT="45715" marB="45715">
                        <a:solidFill>
                          <a:schemeClr val="bg2"/>
                        </a:solidFill>
                      </a:tcPr>
                    </a:tc>
                    <a:extLst>
                      <a:ext uri="{0D108BD9-81ED-4DB2-BD59-A6C34878D82A}">
                        <a16:rowId xmlns:a16="http://schemas.microsoft.com/office/drawing/2014/main" val="10005"/>
                      </a:ext>
                    </a:extLst>
                  </a:tr>
                  <a:tr h="370801">
                    <a:tc>
                      <a:txBody>
                        <a:bodyPr/>
                        <a:lstStyle/>
                        <a:p>
                          <a:r>
                            <a:rPr lang="en-US" sz="1800" dirty="0">
                              <a:solidFill>
                                <a:schemeClr val="accent5">
                                  <a:lumMod val="10000"/>
                                </a:schemeClr>
                              </a:solidFill>
                            </a:rPr>
                            <a:t>UV</a:t>
                          </a:r>
                        </a:p>
                      </a:txBody>
                      <a:tcPr marT="45715" marB="45715">
                        <a:solidFill>
                          <a:schemeClr val="bg2"/>
                        </a:solidFill>
                      </a:tcPr>
                    </a:tc>
                    <a:tc>
                      <a:txBody>
                        <a:bodyPr/>
                        <a:lstStyle/>
                        <a:p>
                          <a:r>
                            <a:rPr lang="en-US" sz="1800" dirty="0">
                              <a:solidFill>
                                <a:schemeClr val="accent5">
                                  <a:lumMod val="10000"/>
                                </a:schemeClr>
                              </a:solidFill>
                            </a:rPr>
                            <a:t>390 nm</a:t>
                          </a:r>
                        </a:p>
                      </a:txBody>
                      <a:tcPr marT="45755" marB="45755">
                        <a:solidFill>
                          <a:schemeClr val="bg2"/>
                        </a:solidFill>
                      </a:tcPr>
                    </a:tc>
                    <a:tc>
                      <a:txBody>
                        <a:bodyPr/>
                        <a:lstStyle/>
                        <a:p>
                          <a:r>
                            <a:rPr lang="en-US" sz="1800" dirty="0">
                              <a:solidFill>
                                <a:schemeClr val="accent5">
                                  <a:lumMod val="10000"/>
                                </a:schemeClr>
                              </a:solidFill>
                            </a:rPr>
                            <a:t>3.18 V</a:t>
                          </a:r>
                        </a:p>
                      </a:txBody>
                      <a:tcPr marT="45755" marB="45755">
                        <a:solidFill>
                          <a:schemeClr val="bg2"/>
                        </a:solidFill>
                      </a:tcPr>
                    </a:tc>
                    <a:tc>
                      <a:txBody>
                        <a:bodyPr/>
                        <a:lstStyle/>
                        <a:p>
                          <a:r>
                            <a:rPr lang="en-US" sz="1800" b="0" dirty="0">
                              <a:solidFill>
                                <a:schemeClr val="accent5">
                                  <a:lumMod val="10000"/>
                                </a:schemeClr>
                              </a:solidFill>
                            </a:rPr>
                            <a:t>5.1 X 10</a:t>
                          </a:r>
                          <a:r>
                            <a:rPr lang="en-US" sz="1800" b="0" baseline="30000" dirty="0">
                              <a:solidFill>
                                <a:schemeClr val="accent5">
                                  <a:lumMod val="10000"/>
                                </a:schemeClr>
                              </a:solidFill>
                            </a:rPr>
                            <a:t>-19</a:t>
                          </a:r>
                          <a:r>
                            <a:rPr lang="en-US" sz="1800" b="0" dirty="0">
                              <a:solidFill>
                                <a:schemeClr val="accent5">
                                  <a:lumMod val="10000"/>
                                </a:schemeClr>
                              </a:solidFill>
                            </a:rPr>
                            <a:t> J</a:t>
                          </a:r>
                        </a:p>
                      </a:txBody>
                      <a:tcPr marT="45755" marB="45755">
                        <a:solidFill>
                          <a:schemeClr val="bg2"/>
                        </a:solidFill>
                      </a:tcPr>
                    </a:tc>
                    <a:tc>
                      <a:txBody>
                        <a:bodyPr/>
                        <a:lstStyle/>
                        <a:p>
                          <a:r>
                            <a:rPr lang="en-US" sz="1800" b="0" dirty="0">
                              <a:solidFill>
                                <a:schemeClr val="accent5">
                                  <a:lumMod val="10000"/>
                                </a:schemeClr>
                              </a:solidFill>
                            </a:rPr>
                            <a:t>7.69 X 10</a:t>
                          </a:r>
                          <a:r>
                            <a:rPr lang="en-US" sz="1800" b="0" baseline="30000" dirty="0">
                              <a:solidFill>
                                <a:schemeClr val="accent5">
                                  <a:lumMod val="10000"/>
                                </a:schemeClr>
                              </a:solidFill>
                            </a:rPr>
                            <a:t>14</a:t>
                          </a:r>
                          <a:r>
                            <a:rPr lang="en-US" sz="1800" b="0" dirty="0">
                              <a:solidFill>
                                <a:schemeClr val="accent5">
                                  <a:lumMod val="10000"/>
                                </a:schemeClr>
                              </a:solidFill>
                            </a:rPr>
                            <a:t> Hz</a:t>
                          </a:r>
                        </a:p>
                      </a:txBody>
                      <a:tcPr marT="45755" marB="45755">
                        <a:solidFill>
                          <a:schemeClr val="bg2"/>
                        </a:solidFill>
                      </a:tcPr>
                    </a:tc>
                    <a:tc>
                      <a:txBody>
                        <a:bodyPr/>
                        <a:lstStyle/>
                        <a:p>
                          <a:endParaRPr lang="en-US"/>
                        </a:p>
                      </a:txBody>
                      <a:tcPr marT="45715" marB="45715">
                        <a:blipFill>
                          <a:blip r:embed="rId2"/>
                          <a:stretch>
                            <a:fillRect l="-380224" t="-524590" r="-1493" b="-24590"/>
                          </a:stretch>
                        </a:blipFill>
                      </a:tcPr>
                    </a:tc>
                    <a:extLst>
                      <a:ext uri="{0D108BD9-81ED-4DB2-BD59-A6C34878D82A}">
                        <a16:rowId xmlns:a16="http://schemas.microsoft.com/office/drawing/2014/main" val="10006"/>
                      </a:ext>
                    </a:extLst>
                  </a:tr>
                </a:tbl>
              </a:graphicData>
            </a:graphic>
          </p:graphicFrame>
        </mc:Fallback>
      </mc:AlternateContent>
    </p:spTree>
    <p:extLst>
      <p:ext uri="{BB962C8B-B14F-4D97-AF65-F5344CB8AC3E}">
        <p14:creationId xmlns:p14="http://schemas.microsoft.com/office/powerpoint/2010/main" val="39507179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947F1-CAB5-4AC5-A43B-3EB581B9874D}"/>
              </a:ext>
            </a:extLst>
          </p:cNvPr>
          <p:cNvSpPr>
            <a:spLocks noGrp="1"/>
          </p:cNvSpPr>
          <p:nvPr>
            <p:ph type="title"/>
          </p:nvPr>
        </p:nvSpPr>
        <p:spPr>
          <a:xfrm>
            <a:off x="982133" y="119850"/>
            <a:ext cx="7704667" cy="936593"/>
          </a:xfrm>
        </p:spPr>
        <p:txBody>
          <a:bodyPr/>
          <a:lstStyle/>
          <a:p>
            <a:r>
              <a:rPr lang="en-AU" dirty="0">
                <a:solidFill>
                  <a:schemeClr val="accent5">
                    <a:lumMod val="10000"/>
                  </a:schemeClr>
                </a:solidFill>
              </a:rPr>
              <a:t>Photoelectric effect</a:t>
            </a:r>
          </a:p>
        </p:txBody>
      </p:sp>
      <p:sp>
        <p:nvSpPr>
          <p:cNvPr id="3" name="Content Placeholder 2">
            <a:extLst>
              <a:ext uri="{FF2B5EF4-FFF2-40B4-BE49-F238E27FC236}">
                <a16:creationId xmlns:a16="http://schemas.microsoft.com/office/drawing/2014/main" id="{8DB1951E-35CF-4DEF-B860-9C7182983494}"/>
              </a:ext>
            </a:extLst>
          </p:cNvPr>
          <p:cNvSpPr>
            <a:spLocks noGrp="1"/>
          </p:cNvSpPr>
          <p:nvPr>
            <p:ph idx="1"/>
          </p:nvPr>
        </p:nvSpPr>
        <p:spPr>
          <a:xfrm>
            <a:off x="834501" y="639192"/>
            <a:ext cx="5344357" cy="6036815"/>
          </a:xfrm>
        </p:spPr>
        <p:txBody>
          <a:bodyPr>
            <a:normAutofit/>
          </a:bodyPr>
          <a:lstStyle/>
          <a:p>
            <a:r>
              <a:rPr lang="en-AU" dirty="0">
                <a:solidFill>
                  <a:schemeClr val="accent5">
                    <a:lumMod val="10000"/>
                  </a:schemeClr>
                </a:solidFill>
              </a:rPr>
              <a:t>Electrons are ejected when a light strikes a metal surface, provided that the frequency of the light is ≥ the threshold frequency of the metal.</a:t>
            </a:r>
          </a:p>
          <a:p>
            <a:r>
              <a:rPr lang="en-AU" dirty="0">
                <a:solidFill>
                  <a:schemeClr val="accent5">
                    <a:lumMod val="10000"/>
                  </a:schemeClr>
                </a:solidFill>
              </a:rPr>
              <a:t>The photocurrent produced is proportional to the intensity of light.</a:t>
            </a:r>
          </a:p>
          <a:p>
            <a:r>
              <a:rPr lang="en-AU" dirty="0">
                <a:solidFill>
                  <a:schemeClr val="accent5">
                    <a:lumMod val="10000"/>
                  </a:schemeClr>
                </a:solidFill>
              </a:rPr>
              <a:t>The maximum kinetic energy of photoelectrons is proportional to the frequency of the incident light.</a:t>
            </a:r>
          </a:p>
          <a:p>
            <a:r>
              <a:rPr lang="en-AU" dirty="0">
                <a:solidFill>
                  <a:schemeClr val="accent5">
                    <a:lumMod val="10000"/>
                  </a:schemeClr>
                </a:solidFill>
              </a:rPr>
              <a:t>The maximum kinetic energy of photoelectrons is NOT proportional to the intensity of the light.</a:t>
            </a:r>
          </a:p>
        </p:txBody>
      </p:sp>
      <p:pic>
        <p:nvPicPr>
          <p:cNvPr id="4" name="Picture 5" descr="27_06">
            <a:extLst>
              <a:ext uri="{FF2B5EF4-FFF2-40B4-BE49-F238E27FC236}">
                <a16:creationId xmlns:a16="http://schemas.microsoft.com/office/drawing/2014/main" id="{6570B3CA-BFF6-4D21-A84C-681E899FEE4F}"/>
              </a:ext>
            </a:extLst>
          </p:cNvPr>
          <p:cNvPicPr>
            <a:picLocks noChangeAspect="1" noChangeArrowheads="1"/>
          </p:cNvPicPr>
          <p:nvPr/>
        </p:nvPicPr>
        <p:blipFill>
          <a:blip r:embed="rId2" cstate="print"/>
          <a:srcRect/>
          <a:stretch>
            <a:fillRect/>
          </a:stretch>
        </p:blipFill>
        <p:spPr bwMode="auto">
          <a:xfrm>
            <a:off x="6360927" y="1117122"/>
            <a:ext cx="2459037" cy="3886200"/>
          </a:xfrm>
          <a:prstGeom prst="rect">
            <a:avLst/>
          </a:prstGeom>
          <a:noFill/>
          <a:ln w="9525">
            <a:noFill/>
            <a:miter lim="800000"/>
            <a:headEnd/>
            <a:tailEnd/>
          </a:ln>
        </p:spPr>
      </p:pic>
      <p:pic>
        <p:nvPicPr>
          <p:cNvPr id="5" name="Picture 4">
            <a:extLst>
              <a:ext uri="{FF2B5EF4-FFF2-40B4-BE49-F238E27FC236}">
                <a16:creationId xmlns:a16="http://schemas.microsoft.com/office/drawing/2014/main" id="{BE1B3F76-D795-489D-B954-50EDFFD88272}"/>
              </a:ext>
            </a:extLst>
          </p:cNvPr>
          <p:cNvPicPr>
            <a:picLocks noChangeAspect="1"/>
          </p:cNvPicPr>
          <p:nvPr/>
        </p:nvPicPr>
        <p:blipFill>
          <a:blip r:embed="rId3"/>
          <a:stretch>
            <a:fillRect/>
          </a:stretch>
        </p:blipFill>
        <p:spPr>
          <a:xfrm>
            <a:off x="6397765" y="4986884"/>
            <a:ext cx="2897155" cy="1796869"/>
          </a:xfrm>
          <a:prstGeom prst="rect">
            <a:avLst/>
          </a:prstGeom>
        </p:spPr>
      </p:pic>
    </p:spTree>
    <p:extLst>
      <p:ext uri="{BB962C8B-B14F-4D97-AF65-F5344CB8AC3E}">
        <p14:creationId xmlns:p14="http://schemas.microsoft.com/office/powerpoint/2010/main" val="10172559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57F04A-5B4C-4CB1-ABAB-8ED8E28E835B}"/>
                  </a:ext>
                </a:extLst>
              </p:cNvPr>
              <p:cNvSpPr>
                <a:spLocks noGrp="1"/>
              </p:cNvSpPr>
              <p:nvPr>
                <p:ph idx="1"/>
              </p:nvPr>
            </p:nvSpPr>
            <p:spPr>
              <a:xfrm>
                <a:off x="982133" y="399495"/>
                <a:ext cx="7939925" cy="6458505"/>
              </a:xfrm>
            </p:spPr>
            <p:txBody>
              <a:bodyPr>
                <a:normAutofit/>
              </a:bodyPr>
              <a:lstStyle/>
              <a:p>
                <a:r>
                  <a:rPr lang="en-AU" dirty="0">
                    <a:solidFill>
                      <a:schemeClr val="accent5">
                        <a:lumMod val="10000"/>
                      </a:schemeClr>
                    </a:solidFill>
                  </a:rPr>
                  <a:t>Electrons are bound to the surface and need a certain amount of energy to escape the surface.  This amount of energy is given by the work function.</a:t>
                </a:r>
              </a:p>
              <a:p>
                <a:r>
                  <a:rPr lang="en-AU" dirty="0">
                    <a:solidFill>
                      <a:schemeClr val="accent5">
                        <a:lumMod val="10000"/>
                      </a:schemeClr>
                    </a:solidFill>
                  </a:rPr>
                  <a:t>Work function:  the minimum energy required to eject an electron from a material.      </a:t>
                </a:r>
                <a14:m>
                  <m:oMath xmlns:m="http://schemas.openxmlformats.org/officeDocument/2006/math">
                    <m:r>
                      <a:rPr lang="en-AU" b="0" i="1" smtClean="0">
                        <a:solidFill>
                          <a:schemeClr val="accent5">
                            <a:lumMod val="10000"/>
                          </a:schemeClr>
                        </a:solidFill>
                        <a:latin typeface="Cambria Math" panose="02040503050406030204" pitchFamily="18" charset="0"/>
                      </a:rPr>
                      <m:t>𝑊</m:t>
                    </m:r>
                    <m:r>
                      <a:rPr lang="en-AU" b="0" i="1" smtClean="0">
                        <a:solidFill>
                          <a:schemeClr val="accent5">
                            <a:lumMod val="10000"/>
                          </a:schemeClr>
                        </a:solidFill>
                        <a:latin typeface="Cambria Math" panose="02040503050406030204" pitchFamily="18" charset="0"/>
                      </a:rPr>
                      <m:t>=</m:t>
                    </m:r>
                    <m:r>
                      <a:rPr lang="en-AU" b="0" i="1" smtClean="0">
                        <a:solidFill>
                          <a:schemeClr val="accent5">
                            <a:lumMod val="10000"/>
                          </a:schemeClr>
                        </a:solidFill>
                        <a:latin typeface="Cambria Math" panose="02040503050406030204" pitchFamily="18" charset="0"/>
                      </a:rPr>
                      <m:t>h</m:t>
                    </m:r>
                    <m:sSub>
                      <m:sSubPr>
                        <m:ctrlPr>
                          <a:rPr lang="en-AU" b="0" i="1" smtClean="0">
                            <a:solidFill>
                              <a:schemeClr val="accent5">
                                <a:lumMod val="10000"/>
                              </a:schemeClr>
                            </a:solidFill>
                            <a:latin typeface="Cambria Math" panose="02040503050406030204" pitchFamily="18" charset="0"/>
                          </a:rPr>
                        </m:ctrlPr>
                      </m:sSubPr>
                      <m:e>
                        <m:r>
                          <a:rPr lang="en-AU" b="0" i="1" smtClean="0">
                            <a:solidFill>
                              <a:schemeClr val="accent5">
                                <a:lumMod val="10000"/>
                              </a:schemeClr>
                            </a:solidFill>
                            <a:latin typeface="Cambria Math" panose="02040503050406030204" pitchFamily="18" charset="0"/>
                          </a:rPr>
                          <m:t>𝑓</m:t>
                        </m:r>
                      </m:e>
                      <m:sub>
                        <m:r>
                          <a:rPr lang="en-AU" b="0" i="1" smtClean="0">
                            <a:solidFill>
                              <a:schemeClr val="accent5">
                                <a:lumMod val="10000"/>
                              </a:schemeClr>
                            </a:solidFill>
                            <a:latin typeface="Cambria Math" panose="02040503050406030204" pitchFamily="18" charset="0"/>
                          </a:rPr>
                          <m:t>𝑜</m:t>
                        </m:r>
                      </m:sub>
                    </m:sSub>
                  </m:oMath>
                </a14:m>
                <a:endParaRPr lang="en-AU" dirty="0">
                  <a:solidFill>
                    <a:schemeClr val="accent5">
                      <a:lumMod val="10000"/>
                    </a:schemeClr>
                  </a:solidFill>
                </a:endParaRPr>
              </a:p>
              <a:p>
                <a:pPr lvl="1"/>
                <a:r>
                  <a:rPr lang="en-AU" dirty="0">
                    <a:solidFill>
                      <a:schemeClr val="accent5">
                        <a:lumMod val="10000"/>
                      </a:schemeClr>
                    </a:solidFill>
                  </a:rPr>
                  <a:t>For example   </a:t>
                </a:r>
                <a14:m>
                  <m:oMath xmlns:m="http://schemas.openxmlformats.org/officeDocument/2006/math">
                    <m:r>
                      <a:rPr lang="en-AU" i="1" dirty="0">
                        <a:solidFill>
                          <a:schemeClr val="accent5">
                            <a:lumMod val="10000"/>
                          </a:schemeClr>
                        </a:solidFill>
                        <a:latin typeface="Cambria Math" panose="02040503050406030204" pitchFamily="18" charset="0"/>
                      </a:rPr>
                      <m:t>𝑁𝑎</m:t>
                    </m:r>
                    <m:r>
                      <a:rPr lang="en-AU" i="1" dirty="0">
                        <a:solidFill>
                          <a:schemeClr val="accent5">
                            <a:lumMod val="10000"/>
                          </a:schemeClr>
                        </a:solidFill>
                        <a:latin typeface="Cambria Math" panose="02040503050406030204" pitchFamily="18" charset="0"/>
                      </a:rPr>
                      <m:t>=2.28 </m:t>
                    </m:r>
                    <m:r>
                      <a:rPr lang="en-AU" i="1" dirty="0">
                        <a:solidFill>
                          <a:schemeClr val="accent5">
                            <a:lumMod val="10000"/>
                          </a:schemeClr>
                        </a:solidFill>
                        <a:latin typeface="Cambria Math" panose="02040503050406030204" pitchFamily="18" charset="0"/>
                      </a:rPr>
                      <m:t>𝑒𝑉</m:t>
                    </m:r>
                  </m:oMath>
                </a14:m>
                <a:r>
                  <a:rPr lang="en-AU" dirty="0">
                    <a:solidFill>
                      <a:schemeClr val="accent5">
                        <a:lumMod val="10000"/>
                      </a:schemeClr>
                    </a:solidFill>
                  </a:rPr>
                  <a:t>        </a:t>
                </a:r>
                <a14:m>
                  <m:oMath xmlns:m="http://schemas.openxmlformats.org/officeDocument/2006/math">
                    <m:r>
                      <a:rPr lang="en-AU" i="1" dirty="0">
                        <a:solidFill>
                          <a:schemeClr val="accent5">
                            <a:lumMod val="10000"/>
                          </a:schemeClr>
                        </a:solidFill>
                        <a:latin typeface="Cambria Math" panose="02040503050406030204" pitchFamily="18" charset="0"/>
                      </a:rPr>
                      <m:t>𝐶𝑢</m:t>
                    </m:r>
                    <m:r>
                      <a:rPr lang="en-AU" i="1" dirty="0">
                        <a:solidFill>
                          <a:schemeClr val="accent5">
                            <a:lumMod val="10000"/>
                          </a:schemeClr>
                        </a:solidFill>
                        <a:latin typeface="Cambria Math" panose="02040503050406030204" pitchFamily="18" charset="0"/>
                      </a:rPr>
                      <m:t>=4.70 </m:t>
                    </m:r>
                    <m:r>
                      <a:rPr lang="en-AU" i="1" dirty="0">
                        <a:solidFill>
                          <a:schemeClr val="accent5">
                            <a:lumMod val="10000"/>
                          </a:schemeClr>
                        </a:solidFill>
                        <a:latin typeface="Cambria Math" panose="02040503050406030204" pitchFamily="18" charset="0"/>
                      </a:rPr>
                      <m:t>𝑒𝑉</m:t>
                    </m:r>
                  </m:oMath>
                </a14:m>
                <a:endParaRPr lang="en-AU" dirty="0">
                  <a:solidFill>
                    <a:schemeClr val="accent5">
                      <a:lumMod val="10000"/>
                    </a:schemeClr>
                  </a:solidFill>
                </a:endParaRPr>
              </a:p>
              <a:p>
                <a:pPr marL="457200" lvl="1" indent="0">
                  <a:buNone/>
                </a:pPr>
                <a:endParaRPr lang="en-AU" dirty="0">
                  <a:solidFill>
                    <a:schemeClr val="accent5">
                      <a:lumMod val="10000"/>
                    </a:schemeClr>
                  </a:solidFill>
                </a:endParaRPr>
              </a:p>
              <a:p>
                <a:r>
                  <a:rPr lang="en-AU" dirty="0">
                    <a:solidFill>
                      <a:schemeClr val="accent5">
                        <a:lumMod val="10000"/>
                      </a:schemeClr>
                    </a:solidFill>
                  </a:rPr>
                  <a:t>Light gives up energy in discrete amounts (E=</a:t>
                </a:r>
                <a:r>
                  <a:rPr lang="en-AU" dirty="0" err="1">
                    <a:solidFill>
                      <a:schemeClr val="accent5">
                        <a:lumMod val="10000"/>
                      </a:schemeClr>
                    </a:solidFill>
                  </a:rPr>
                  <a:t>hf</a:t>
                </a:r>
                <a:r>
                  <a:rPr lang="en-AU" dirty="0">
                    <a:solidFill>
                      <a:schemeClr val="accent5">
                        <a:lumMod val="10000"/>
                      </a:schemeClr>
                    </a:solidFill>
                  </a:rPr>
                  <a:t>). One photon ejects one electron.  </a:t>
                </a:r>
              </a:p>
              <a:p>
                <a:pPr lvl="1"/>
                <a:r>
                  <a:rPr lang="en-AU" dirty="0">
                    <a:solidFill>
                      <a:schemeClr val="accent5">
                        <a:lumMod val="10000"/>
                      </a:schemeClr>
                    </a:solidFill>
                  </a:rPr>
                  <a:t>How does this fit in with our understanding about intensity and photocurrent?</a:t>
                </a:r>
              </a:p>
              <a:p>
                <a:pPr marL="457200" lvl="1" indent="0">
                  <a:buNone/>
                </a:pPr>
                <a:endParaRPr lang="en-AU" dirty="0">
                  <a:solidFill>
                    <a:schemeClr val="accent5">
                      <a:lumMod val="10000"/>
                    </a:schemeClr>
                  </a:solidFill>
                </a:endParaRPr>
              </a:p>
              <a:p>
                <a:r>
                  <a:rPr lang="en-AU" dirty="0">
                    <a:solidFill>
                      <a:schemeClr val="accent5">
                        <a:lumMod val="10000"/>
                      </a:schemeClr>
                    </a:solidFill>
                  </a:rPr>
                  <a:t>The energy provided by the photon that exceeds the work function contributes to the kinetic energy (and therefore velocity) of the emitted photoelectron.</a:t>
                </a:r>
              </a:p>
              <a:p>
                <a:endParaRPr lang="en-AU" dirty="0">
                  <a:solidFill>
                    <a:schemeClr val="accent5">
                      <a:lumMod val="10000"/>
                    </a:schemeClr>
                  </a:solidFill>
                </a:endParaRPr>
              </a:p>
            </p:txBody>
          </p:sp>
        </mc:Choice>
        <mc:Fallback xmlns="">
          <p:sp>
            <p:nvSpPr>
              <p:cNvPr id="3" name="Content Placeholder 2">
                <a:extLst>
                  <a:ext uri="{FF2B5EF4-FFF2-40B4-BE49-F238E27FC236}">
                    <a16:creationId xmlns:a16="http://schemas.microsoft.com/office/drawing/2014/main" id="{1257F04A-5B4C-4CB1-ABAB-8ED8E28E835B}"/>
                  </a:ext>
                </a:extLst>
              </p:cNvPr>
              <p:cNvSpPr>
                <a:spLocks noGrp="1" noRot="1" noChangeAspect="1" noMove="1" noResize="1" noEditPoints="1" noAdjustHandles="1" noChangeArrowheads="1" noChangeShapeType="1" noTextEdit="1"/>
              </p:cNvSpPr>
              <p:nvPr>
                <p:ph idx="1"/>
              </p:nvPr>
            </p:nvSpPr>
            <p:spPr>
              <a:xfrm>
                <a:off x="982133" y="399495"/>
                <a:ext cx="7939925" cy="6458505"/>
              </a:xfrm>
              <a:blipFill>
                <a:blip r:embed="rId3"/>
                <a:stretch>
                  <a:fillRect l="-1919" t="-5477"/>
                </a:stretch>
              </a:blipFill>
            </p:spPr>
            <p:txBody>
              <a:bodyPr/>
              <a:lstStyle/>
              <a:p>
                <a:r>
                  <a:rPr lang="en-AU">
                    <a:noFill/>
                  </a:rPr>
                  <a:t> </a:t>
                </a:r>
              </a:p>
            </p:txBody>
          </p:sp>
        </mc:Fallback>
      </mc:AlternateContent>
    </p:spTree>
    <p:extLst>
      <p:ext uri="{BB962C8B-B14F-4D97-AF65-F5344CB8AC3E}">
        <p14:creationId xmlns:p14="http://schemas.microsoft.com/office/powerpoint/2010/main" val="17606404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7EF8333-8D53-431C-9CD3-2108D27D715B}"/>
                  </a:ext>
                </a:extLst>
              </p:cNvPr>
              <p:cNvSpPr>
                <a:spLocks noGrp="1"/>
              </p:cNvSpPr>
              <p:nvPr>
                <p:ph idx="1"/>
              </p:nvPr>
            </p:nvSpPr>
            <p:spPr>
              <a:xfrm>
                <a:off x="479394" y="372863"/>
                <a:ext cx="8664606" cy="3000652"/>
              </a:xfrm>
            </p:spPr>
            <p:txBody>
              <a:bodyPr>
                <a:normAutofit/>
              </a:bodyPr>
              <a:lstStyle/>
              <a:p>
                <a:pPr marL="0" indent="0">
                  <a:buNone/>
                </a:pPr>
                <a14:m>
                  <m:oMathPara xmlns:m="http://schemas.openxmlformats.org/officeDocument/2006/math">
                    <m:oMathParaPr>
                      <m:jc m:val="centerGroup"/>
                    </m:oMathParaPr>
                    <m:oMath xmlns:m="http://schemas.openxmlformats.org/officeDocument/2006/math">
                      <m:r>
                        <m:rPr>
                          <m:sty m:val="p"/>
                        </m:rPr>
                        <a:rPr lang="en-AU" sz="2000" b="0" i="0" smtClean="0">
                          <a:solidFill>
                            <a:schemeClr val="accent5">
                              <a:lumMod val="10000"/>
                            </a:schemeClr>
                          </a:solidFill>
                          <a:latin typeface="Cambria Math" panose="02040503050406030204" pitchFamily="18" charset="0"/>
                        </a:rPr>
                        <m:t>Kinetic</m:t>
                      </m:r>
                      <m:r>
                        <a:rPr lang="en-AU" sz="2000" b="0" i="0" smtClean="0">
                          <a:solidFill>
                            <a:schemeClr val="accent5">
                              <a:lumMod val="10000"/>
                            </a:schemeClr>
                          </a:solidFill>
                          <a:latin typeface="Cambria Math" panose="02040503050406030204" pitchFamily="18" charset="0"/>
                        </a:rPr>
                        <m:t> </m:t>
                      </m:r>
                      <m:r>
                        <m:rPr>
                          <m:sty m:val="p"/>
                        </m:rPr>
                        <a:rPr lang="en-AU" sz="2000" b="0" i="0" smtClean="0">
                          <a:solidFill>
                            <a:schemeClr val="accent5">
                              <a:lumMod val="10000"/>
                            </a:schemeClr>
                          </a:solidFill>
                          <a:latin typeface="Cambria Math" panose="02040503050406030204" pitchFamily="18" charset="0"/>
                        </a:rPr>
                        <m:t>Energy</m:t>
                      </m:r>
                      <m:r>
                        <a:rPr lang="en-AU" sz="2000" b="0" i="0" smtClean="0">
                          <a:solidFill>
                            <a:schemeClr val="accent5">
                              <a:lumMod val="10000"/>
                            </a:schemeClr>
                          </a:solidFill>
                          <a:latin typeface="Cambria Math" panose="02040503050406030204" pitchFamily="18" charset="0"/>
                        </a:rPr>
                        <m:t> </m:t>
                      </m:r>
                      <m:r>
                        <m:rPr>
                          <m:sty m:val="p"/>
                        </m:rPr>
                        <a:rPr lang="en-AU" sz="2000" b="0" i="0" smtClean="0">
                          <a:solidFill>
                            <a:schemeClr val="accent5">
                              <a:lumMod val="10000"/>
                            </a:schemeClr>
                          </a:solidFill>
                          <a:latin typeface="Cambria Math" panose="02040503050406030204" pitchFamily="18" charset="0"/>
                        </a:rPr>
                        <m:t>of</m:t>
                      </m:r>
                      <m:r>
                        <a:rPr lang="en-AU" sz="2000" b="0" i="0" smtClean="0">
                          <a:solidFill>
                            <a:schemeClr val="accent5">
                              <a:lumMod val="10000"/>
                            </a:schemeClr>
                          </a:solidFill>
                          <a:latin typeface="Cambria Math" panose="02040503050406030204" pitchFamily="18" charset="0"/>
                        </a:rPr>
                        <m:t> </m:t>
                      </m:r>
                      <m:r>
                        <m:rPr>
                          <m:sty m:val="p"/>
                        </m:rPr>
                        <a:rPr lang="en-AU" sz="2000" b="0" i="0" smtClean="0">
                          <a:solidFill>
                            <a:schemeClr val="accent5">
                              <a:lumMod val="10000"/>
                            </a:schemeClr>
                          </a:solidFill>
                          <a:latin typeface="Cambria Math" panose="02040503050406030204" pitchFamily="18" charset="0"/>
                        </a:rPr>
                        <m:t>photoelectron</m:t>
                      </m:r>
                      <m:r>
                        <a:rPr lang="en-AU" sz="2000" b="0" i="0" smtClean="0">
                          <a:solidFill>
                            <a:schemeClr val="accent5">
                              <a:lumMod val="10000"/>
                            </a:schemeClr>
                          </a:solidFill>
                          <a:latin typeface="Cambria Math" panose="02040503050406030204" pitchFamily="18" charset="0"/>
                        </a:rPr>
                        <m:t>=</m:t>
                      </m:r>
                      <m:r>
                        <m:rPr>
                          <m:sty m:val="p"/>
                        </m:rPr>
                        <a:rPr lang="en-AU" sz="2000" b="0" i="0" smtClean="0">
                          <a:solidFill>
                            <a:schemeClr val="accent5">
                              <a:lumMod val="10000"/>
                            </a:schemeClr>
                          </a:solidFill>
                          <a:latin typeface="Cambria Math" panose="02040503050406030204" pitchFamily="18" charset="0"/>
                        </a:rPr>
                        <m:t>Energy</m:t>
                      </m:r>
                      <m:r>
                        <a:rPr lang="en-AU" sz="2000" b="0" i="0" smtClean="0">
                          <a:solidFill>
                            <a:schemeClr val="accent5">
                              <a:lumMod val="10000"/>
                            </a:schemeClr>
                          </a:solidFill>
                          <a:latin typeface="Cambria Math" panose="02040503050406030204" pitchFamily="18" charset="0"/>
                        </a:rPr>
                        <m:t> </m:t>
                      </m:r>
                      <m:r>
                        <m:rPr>
                          <m:sty m:val="p"/>
                        </m:rPr>
                        <a:rPr lang="en-AU" sz="2000" b="0" i="0" smtClean="0">
                          <a:solidFill>
                            <a:schemeClr val="accent5">
                              <a:lumMod val="10000"/>
                            </a:schemeClr>
                          </a:solidFill>
                          <a:latin typeface="Cambria Math" panose="02040503050406030204" pitchFamily="18" charset="0"/>
                        </a:rPr>
                        <m:t>supplied</m:t>
                      </m:r>
                      <m:r>
                        <a:rPr lang="en-AU" sz="2000" b="0" i="0" smtClean="0">
                          <a:solidFill>
                            <a:schemeClr val="accent5">
                              <a:lumMod val="10000"/>
                            </a:schemeClr>
                          </a:solidFill>
                          <a:latin typeface="Cambria Math" panose="02040503050406030204" pitchFamily="18" charset="0"/>
                        </a:rPr>
                        <m:t> </m:t>
                      </m:r>
                      <m:r>
                        <m:rPr>
                          <m:sty m:val="p"/>
                        </m:rPr>
                        <a:rPr lang="en-AU" sz="2000" b="0" i="0" smtClean="0">
                          <a:solidFill>
                            <a:schemeClr val="accent5">
                              <a:lumMod val="10000"/>
                            </a:schemeClr>
                          </a:solidFill>
                          <a:latin typeface="Cambria Math" panose="02040503050406030204" pitchFamily="18" charset="0"/>
                        </a:rPr>
                        <m:t>by</m:t>
                      </m:r>
                      <m:r>
                        <a:rPr lang="en-AU" sz="2000" b="0" i="0" smtClean="0">
                          <a:solidFill>
                            <a:schemeClr val="accent5">
                              <a:lumMod val="10000"/>
                            </a:schemeClr>
                          </a:solidFill>
                          <a:latin typeface="Cambria Math" panose="02040503050406030204" pitchFamily="18" charset="0"/>
                        </a:rPr>
                        <m:t> </m:t>
                      </m:r>
                      <m:r>
                        <m:rPr>
                          <m:sty m:val="p"/>
                        </m:rPr>
                        <a:rPr lang="en-AU" sz="2000" b="0" i="0" smtClean="0">
                          <a:solidFill>
                            <a:schemeClr val="accent5">
                              <a:lumMod val="10000"/>
                            </a:schemeClr>
                          </a:solidFill>
                          <a:latin typeface="Cambria Math" panose="02040503050406030204" pitchFamily="18" charset="0"/>
                        </a:rPr>
                        <m:t>photon</m:t>
                      </m:r>
                      <m:r>
                        <a:rPr lang="en-AU" sz="2000" b="0" i="0" smtClean="0">
                          <a:solidFill>
                            <a:schemeClr val="accent5">
                              <a:lumMod val="10000"/>
                            </a:schemeClr>
                          </a:solidFill>
                          <a:latin typeface="Cambria Math" panose="02040503050406030204" pitchFamily="18" charset="0"/>
                        </a:rPr>
                        <m:t> −</m:t>
                      </m:r>
                      <m:r>
                        <m:rPr>
                          <m:sty m:val="p"/>
                        </m:rPr>
                        <a:rPr lang="en-AU" sz="2000" b="0" i="0" smtClean="0">
                          <a:solidFill>
                            <a:schemeClr val="accent5">
                              <a:lumMod val="10000"/>
                            </a:schemeClr>
                          </a:solidFill>
                          <a:latin typeface="Cambria Math" panose="02040503050406030204" pitchFamily="18" charset="0"/>
                        </a:rPr>
                        <m:t>the</m:t>
                      </m:r>
                      <m:r>
                        <a:rPr lang="en-AU" sz="2000" b="0" i="0" smtClean="0">
                          <a:solidFill>
                            <a:schemeClr val="accent5">
                              <a:lumMod val="10000"/>
                            </a:schemeClr>
                          </a:solidFill>
                          <a:latin typeface="Cambria Math" panose="02040503050406030204" pitchFamily="18" charset="0"/>
                        </a:rPr>
                        <m:t> </m:t>
                      </m:r>
                      <m:r>
                        <m:rPr>
                          <m:sty m:val="p"/>
                        </m:rPr>
                        <a:rPr lang="en-AU" sz="2000" b="0" i="0" smtClean="0">
                          <a:solidFill>
                            <a:schemeClr val="accent5">
                              <a:lumMod val="10000"/>
                            </a:schemeClr>
                          </a:solidFill>
                          <a:latin typeface="Cambria Math" panose="02040503050406030204" pitchFamily="18" charset="0"/>
                        </a:rPr>
                        <m:t>Energy</m:t>
                      </m:r>
                      <m:r>
                        <a:rPr lang="en-AU" sz="2000" b="0" i="0" smtClean="0">
                          <a:solidFill>
                            <a:schemeClr val="accent5">
                              <a:lumMod val="10000"/>
                            </a:schemeClr>
                          </a:solidFill>
                          <a:latin typeface="Cambria Math" panose="02040503050406030204" pitchFamily="18" charset="0"/>
                        </a:rPr>
                        <m:t> </m:t>
                      </m:r>
                      <m:r>
                        <m:rPr>
                          <m:sty m:val="p"/>
                        </m:rPr>
                        <a:rPr lang="en-AU" sz="2000" b="0" i="0" smtClean="0">
                          <a:solidFill>
                            <a:schemeClr val="accent5">
                              <a:lumMod val="10000"/>
                            </a:schemeClr>
                          </a:solidFill>
                          <a:latin typeface="Cambria Math" panose="02040503050406030204" pitchFamily="18" charset="0"/>
                        </a:rPr>
                        <m:t>required</m:t>
                      </m:r>
                      <m:r>
                        <a:rPr lang="en-AU" sz="2000" b="0" i="0" smtClean="0">
                          <a:solidFill>
                            <a:schemeClr val="accent5">
                              <a:lumMod val="10000"/>
                            </a:schemeClr>
                          </a:solidFill>
                          <a:latin typeface="Cambria Math" panose="02040503050406030204" pitchFamily="18" charset="0"/>
                        </a:rPr>
                        <m:t> </m:t>
                      </m:r>
                      <m:r>
                        <m:rPr>
                          <m:sty m:val="p"/>
                        </m:rPr>
                        <a:rPr lang="en-AU" sz="2000" b="0" i="0" smtClean="0">
                          <a:solidFill>
                            <a:schemeClr val="accent5">
                              <a:lumMod val="10000"/>
                            </a:schemeClr>
                          </a:solidFill>
                          <a:latin typeface="Cambria Math" panose="02040503050406030204" pitchFamily="18" charset="0"/>
                        </a:rPr>
                        <m:t>to</m:t>
                      </m:r>
                      <m:r>
                        <a:rPr lang="en-AU" sz="2000" b="0" i="0" smtClean="0">
                          <a:solidFill>
                            <a:schemeClr val="accent5">
                              <a:lumMod val="10000"/>
                            </a:schemeClr>
                          </a:solidFill>
                          <a:latin typeface="Cambria Math" panose="02040503050406030204" pitchFamily="18" charset="0"/>
                        </a:rPr>
                        <m:t> </m:t>
                      </m:r>
                      <m:r>
                        <m:rPr>
                          <m:sty m:val="p"/>
                        </m:rPr>
                        <a:rPr lang="en-AU" sz="2000" b="0" i="0" smtClean="0">
                          <a:solidFill>
                            <a:schemeClr val="accent5">
                              <a:lumMod val="10000"/>
                            </a:schemeClr>
                          </a:solidFill>
                          <a:latin typeface="Cambria Math" panose="02040503050406030204" pitchFamily="18" charset="0"/>
                        </a:rPr>
                        <m:t>release</m:t>
                      </m:r>
                      <m:r>
                        <a:rPr lang="en-AU" sz="2000" b="0" i="0" smtClean="0">
                          <a:solidFill>
                            <a:schemeClr val="accent5">
                              <a:lumMod val="10000"/>
                            </a:schemeClr>
                          </a:solidFill>
                          <a:latin typeface="Cambria Math" panose="02040503050406030204" pitchFamily="18" charset="0"/>
                        </a:rPr>
                        <m:t> </m:t>
                      </m:r>
                      <m:r>
                        <m:rPr>
                          <m:sty m:val="p"/>
                        </m:rPr>
                        <a:rPr lang="en-AU" sz="2000" b="0" i="0" smtClean="0">
                          <a:solidFill>
                            <a:schemeClr val="accent5">
                              <a:lumMod val="10000"/>
                            </a:schemeClr>
                          </a:solidFill>
                          <a:latin typeface="Cambria Math" panose="02040503050406030204" pitchFamily="18" charset="0"/>
                        </a:rPr>
                        <m:t>an</m:t>
                      </m:r>
                      <m:r>
                        <a:rPr lang="en-AU" sz="2000" b="0" i="0" smtClean="0">
                          <a:solidFill>
                            <a:schemeClr val="accent5">
                              <a:lumMod val="10000"/>
                            </a:schemeClr>
                          </a:solidFill>
                          <a:latin typeface="Cambria Math" panose="02040503050406030204" pitchFamily="18" charset="0"/>
                        </a:rPr>
                        <m:t> </m:t>
                      </m:r>
                      <m:r>
                        <m:rPr>
                          <m:sty m:val="p"/>
                        </m:rPr>
                        <a:rPr lang="en-AU" sz="2000" b="0" i="0" smtClean="0">
                          <a:solidFill>
                            <a:schemeClr val="accent5">
                              <a:lumMod val="10000"/>
                            </a:schemeClr>
                          </a:solidFill>
                          <a:latin typeface="Cambria Math" panose="02040503050406030204" pitchFamily="18" charset="0"/>
                        </a:rPr>
                        <m:t>electron</m:t>
                      </m:r>
                      <m:r>
                        <a:rPr lang="en-AU" sz="2000" b="0" i="0" smtClean="0">
                          <a:solidFill>
                            <a:schemeClr val="accent5">
                              <a:lumMod val="10000"/>
                            </a:schemeClr>
                          </a:solidFill>
                          <a:latin typeface="Cambria Math" panose="02040503050406030204" pitchFamily="18" charset="0"/>
                        </a:rPr>
                        <m:t> </m:t>
                      </m:r>
                    </m:oMath>
                  </m:oMathPara>
                </a14:m>
                <a:endParaRPr lang="en-AU" sz="2000" b="0" dirty="0">
                  <a:solidFill>
                    <a:schemeClr val="accent5">
                      <a:lumMod val="10000"/>
                    </a:schemeClr>
                  </a:solidFill>
                </a:endParaRPr>
              </a:p>
              <a:p>
                <a:pPr marL="0" indent="0">
                  <a:buNone/>
                </a:pPr>
                <a:endParaRPr lang="en-AU" sz="2000" dirty="0">
                  <a:solidFill>
                    <a:schemeClr val="accent5">
                      <a:lumMod val="10000"/>
                    </a:schemeClr>
                  </a:solidFill>
                </a:endParaRPr>
              </a:p>
              <a:p>
                <a:pPr marL="0" indent="0">
                  <a:buNone/>
                </a:pPr>
                <a14:m>
                  <m:oMathPara xmlns:m="http://schemas.openxmlformats.org/officeDocument/2006/math">
                    <m:oMathParaPr>
                      <m:jc m:val="centerGroup"/>
                    </m:oMathParaPr>
                    <m:oMath xmlns:m="http://schemas.openxmlformats.org/officeDocument/2006/math">
                      <m:sSub>
                        <m:sSubPr>
                          <m:ctrlPr>
                            <a:rPr lang="en-AU" sz="2000" i="1">
                              <a:solidFill>
                                <a:schemeClr val="accent5">
                                  <a:lumMod val="10000"/>
                                </a:schemeClr>
                              </a:solidFill>
                              <a:latin typeface="Cambria Math" panose="02040503050406030204" pitchFamily="18" charset="0"/>
                            </a:rPr>
                          </m:ctrlPr>
                        </m:sSubPr>
                        <m:e>
                          <m:r>
                            <a:rPr lang="en-AU" sz="2000" i="1">
                              <a:solidFill>
                                <a:schemeClr val="accent5">
                                  <a:lumMod val="10000"/>
                                </a:schemeClr>
                              </a:solidFill>
                              <a:latin typeface="Cambria Math" panose="02040503050406030204" pitchFamily="18" charset="0"/>
                            </a:rPr>
                            <m:t>𝐸</m:t>
                          </m:r>
                        </m:e>
                        <m:sub>
                          <m:r>
                            <a:rPr lang="en-AU" sz="2000" i="1">
                              <a:solidFill>
                                <a:schemeClr val="accent5">
                                  <a:lumMod val="10000"/>
                                </a:schemeClr>
                              </a:solidFill>
                              <a:latin typeface="Cambria Math" panose="02040503050406030204" pitchFamily="18" charset="0"/>
                            </a:rPr>
                            <m:t>𝑘</m:t>
                          </m:r>
                        </m:sub>
                      </m:sSub>
                      <m:r>
                        <a:rPr lang="en-AU" sz="2000" i="1">
                          <a:solidFill>
                            <a:schemeClr val="accent5">
                              <a:lumMod val="10000"/>
                            </a:schemeClr>
                          </a:solidFill>
                          <a:latin typeface="Cambria Math" panose="02040503050406030204" pitchFamily="18" charset="0"/>
                        </a:rPr>
                        <m:t>=</m:t>
                      </m:r>
                      <m:r>
                        <a:rPr lang="en-AU" sz="2000" i="1">
                          <a:solidFill>
                            <a:schemeClr val="accent5">
                              <a:lumMod val="10000"/>
                            </a:schemeClr>
                          </a:solidFill>
                          <a:latin typeface="Cambria Math" panose="02040503050406030204" pitchFamily="18" charset="0"/>
                        </a:rPr>
                        <m:t>h𝑓</m:t>
                      </m:r>
                      <m:r>
                        <a:rPr lang="en-AU" sz="2000" i="1">
                          <a:solidFill>
                            <a:schemeClr val="accent5">
                              <a:lumMod val="10000"/>
                            </a:schemeClr>
                          </a:solidFill>
                          <a:latin typeface="Cambria Math" panose="02040503050406030204" pitchFamily="18" charset="0"/>
                        </a:rPr>
                        <m:t>−</m:t>
                      </m:r>
                      <m:r>
                        <a:rPr lang="en-AU" sz="2000" i="1">
                          <a:solidFill>
                            <a:schemeClr val="accent5">
                              <a:lumMod val="10000"/>
                            </a:schemeClr>
                          </a:solidFill>
                          <a:latin typeface="Cambria Math" panose="02040503050406030204" pitchFamily="18" charset="0"/>
                        </a:rPr>
                        <m:t>𝑊</m:t>
                      </m:r>
                    </m:oMath>
                  </m:oMathPara>
                </a14:m>
                <a:endParaRPr lang="en-AU" sz="2000" dirty="0">
                  <a:solidFill>
                    <a:schemeClr val="accent5">
                      <a:lumMod val="10000"/>
                    </a:schemeClr>
                  </a:solidFill>
                </a:endParaRPr>
              </a:p>
              <a:p>
                <a:pPr marL="0" indent="0">
                  <a:buNone/>
                </a:pPr>
                <a:endParaRPr lang="en-AU" sz="2000" dirty="0">
                  <a:solidFill>
                    <a:schemeClr val="accent5">
                      <a:lumMod val="10000"/>
                    </a:schemeClr>
                  </a:solidFill>
                </a:endParaRPr>
              </a:p>
              <a:p>
                <a:pPr marL="0" indent="0">
                  <a:buNone/>
                </a:pPr>
                <a:endParaRPr lang="en-AU" sz="2000" dirty="0">
                  <a:solidFill>
                    <a:schemeClr val="accent5">
                      <a:lumMod val="10000"/>
                    </a:schemeClr>
                  </a:solidFill>
                </a:endParaRPr>
              </a:p>
            </p:txBody>
          </p:sp>
        </mc:Choice>
        <mc:Fallback xmlns="">
          <p:sp>
            <p:nvSpPr>
              <p:cNvPr id="3" name="Content Placeholder 2">
                <a:extLst>
                  <a:ext uri="{FF2B5EF4-FFF2-40B4-BE49-F238E27FC236}">
                    <a16:creationId xmlns:a16="http://schemas.microsoft.com/office/drawing/2014/main" id="{37EF8333-8D53-431C-9CD3-2108D27D715B}"/>
                  </a:ext>
                </a:extLst>
              </p:cNvPr>
              <p:cNvSpPr>
                <a:spLocks noGrp="1" noRot="1" noChangeAspect="1" noMove="1" noResize="1" noEditPoints="1" noAdjustHandles="1" noChangeArrowheads="1" noChangeShapeType="1" noTextEdit="1"/>
              </p:cNvSpPr>
              <p:nvPr>
                <p:ph idx="1"/>
              </p:nvPr>
            </p:nvSpPr>
            <p:spPr>
              <a:xfrm>
                <a:off x="479394" y="372863"/>
                <a:ext cx="8664606" cy="3000652"/>
              </a:xfrm>
              <a:blipFill>
                <a:blip r:embed="rId2"/>
                <a:stretch>
                  <a:fillRect/>
                </a:stretch>
              </a:blipFill>
            </p:spPr>
            <p:txBody>
              <a:bodyPr/>
              <a:lstStyle/>
              <a:p>
                <a:r>
                  <a:rPr lang="en-AU">
                    <a:noFill/>
                  </a:rPr>
                  <a:t> </a:t>
                </a:r>
              </a:p>
            </p:txBody>
          </p:sp>
        </mc:Fallback>
      </mc:AlternateContent>
      <p:pic>
        <p:nvPicPr>
          <p:cNvPr id="4" name="Picture 3">
            <a:extLst>
              <a:ext uri="{FF2B5EF4-FFF2-40B4-BE49-F238E27FC236}">
                <a16:creationId xmlns:a16="http://schemas.microsoft.com/office/drawing/2014/main" id="{8611B66C-37E1-494F-849D-605119D9E50D}"/>
              </a:ext>
            </a:extLst>
          </p:cNvPr>
          <p:cNvPicPr>
            <a:picLocks noChangeAspect="1"/>
          </p:cNvPicPr>
          <p:nvPr/>
        </p:nvPicPr>
        <p:blipFill>
          <a:blip r:embed="rId3"/>
          <a:stretch>
            <a:fillRect/>
          </a:stretch>
        </p:blipFill>
        <p:spPr>
          <a:xfrm>
            <a:off x="2094571" y="2672178"/>
            <a:ext cx="5636722" cy="3524435"/>
          </a:xfrm>
          <a:prstGeom prst="rect">
            <a:avLst/>
          </a:prstGeom>
        </p:spPr>
      </p:pic>
    </p:spTree>
    <p:extLst>
      <p:ext uri="{BB962C8B-B14F-4D97-AF65-F5344CB8AC3E}">
        <p14:creationId xmlns:p14="http://schemas.microsoft.com/office/powerpoint/2010/main" val="19180591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4CC3B70-0D10-4F4B-9D3E-35FA907B1951}"/>
                  </a:ext>
                </a:extLst>
              </p:cNvPr>
              <p:cNvSpPr>
                <a:spLocks noGrp="1"/>
              </p:cNvSpPr>
              <p:nvPr>
                <p:ph idx="1"/>
              </p:nvPr>
            </p:nvSpPr>
            <p:spPr>
              <a:xfrm>
                <a:off x="955500" y="483093"/>
                <a:ext cx="7704667" cy="1922755"/>
              </a:xfrm>
            </p:spPr>
            <p:txBody>
              <a:bodyPr/>
              <a:lstStyle/>
              <a:p>
                <a:pPr marL="0" indent="0">
                  <a:buNone/>
                </a:pPr>
                <a:r>
                  <a:rPr lang="en-AU" dirty="0">
                    <a:solidFill>
                      <a:schemeClr val="accent5">
                        <a:lumMod val="10000"/>
                      </a:schemeClr>
                    </a:solidFill>
                  </a:rPr>
                  <a:t>Question:  The energy required to remove an electron from aluminium is </a:t>
                </a:r>
                <a14:m>
                  <m:oMath xmlns:m="http://schemas.openxmlformats.org/officeDocument/2006/math">
                    <m:r>
                      <a:rPr lang="en-AU" i="1" dirty="0" smtClean="0">
                        <a:solidFill>
                          <a:schemeClr val="accent5">
                            <a:lumMod val="10000"/>
                          </a:schemeClr>
                        </a:solidFill>
                        <a:latin typeface="Cambria Math" panose="02040503050406030204" pitchFamily="18" charset="0"/>
                      </a:rPr>
                      <m:t>6.83</m:t>
                    </m:r>
                    <m:r>
                      <a:rPr lang="en-AU" i="1" dirty="0" smtClean="0">
                        <a:solidFill>
                          <a:schemeClr val="accent5">
                            <a:lumMod val="10000"/>
                          </a:schemeClr>
                        </a:solidFill>
                        <a:latin typeface="Cambria Math" panose="02040503050406030204" pitchFamily="18" charset="0"/>
                        <a:ea typeface="Cambria Math" panose="02040503050406030204" pitchFamily="18" charset="0"/>
                      </a:rPr>
                      <m:t>×</m:t>
                    </m:r>
                    <m:sSup>
                      <m:sSupPr>
                        <m:ctrlPr>
                          <a:rPr lang="en-AU" b="0" i="1" dirty="0" smtClean="0">
                            <a:solidFill>
                              <a:schemeClr val="accent5">
                                <a:lumMod val="10000"/>
                              </a:schemeClr>
                            </a:solidFill>
                            <a:latin typeface="Cambria Math" panose="02040503050406030204" pitchFamily="18" charset="0"/>
                            <a:ea typeface="Cambria Math" panose="02040503050406030204" pitchFamily="18" charset="0"/>
                          </a:rPr>
                        </m:ctrlPr>
                      </m:sSupPr>
                      <m:e>
                        <m:r>
                          <a:rPr lang="en-AU" b="0" i="1" dirty="0" smtClean="0">
                            <a:solidFill>
                              <a:schemeClr val="accent5">
                                <a:lumMod val="10000"/>
                              </a:schemeClr>
                            </a:solidFill>
                            <a:latin typeface="Cambria Math" panose="02040503050406030204" pitchFamily="18" charset="0"/>
                            <a:ea typeface="Cambria Math" panose="02040503050406030204" pitchFamily="18" charset="0"/>
                          </a:rPr>
                          <m:t>10</m:t>
                        </m:r>
                      </m:e>
                      <m:sup>
                        <m:r>
                          <a:rPr lang="en-AU" b="0" i="1" dirty="0" smtClean="0">
                            <a:solidFill>
                              <a:schemeClr val="accent5">
                                <a:lumMod val="10000"/>
                              </a:schemeClr>
                            </a:solidFill>
                            <a:latin typeface="Cambria Math" panose="02040503050406030204" pitchFamily="18" charset="0"/>
                            <a:ea typeface="Cambria Math" panose="02040503050406030204" pitchFamily="18" charset="0"/>
                          </a:rPr>
                          <m:t>−19</m:t>
                        </m:r>
                      </m:sup>
                    </m:sSup>
                    <m:r>
                      <a:rPr lang="en-AU" b="0" i="1" dirty="0" smtClean="0">
                        <a:solidFill>
                          <a:schemeClr val="accent5">
                            <a:lumMod val="10000"/>
                          </a:schemeClr>
                        </a:solidFill>
                        <a:latin typeface="Cambria Math" panose="02040503050406030204" pitchFamily="18" charset="0"/>
                        <a:ea typeface="Cambria Math" panose="02040503050406030204" pitchFamily="18" charset="0"/>
                      </a:rPr>
                      <m:t>𝐽</m:t>
                    </m:r>
                  </m:oMath>
                </a14:m>
                <a:r>
                  <a:rPr lang="en-AU" dirty="0">
                    <a:solidFill>
                      <a:schemeClr val="accent5">
                        <a:lumMod val="10000"/>
                      </a:schemeClr>
                    </a:solidFill>
                  </a:rPr>
                  <a:t>.  Will light of wavelength </a:t>
                </a:r>
                <a14:m>
                  <m:oMath xmlns:m="http://schemas.openxmlformats.org/officeDocument/2006/math">
                    <m:r>
                      <a:rPr lang="en-AU" b="0" i="1" smtClean="0">
                        <a:solidFill>
                          <a:schemeClr val="accent5">
                            <a:lumMod val="10000"/>
                          </a:schemeClr>
                        </a:solidFill>
                        <a:latin typeface="Cambria Math" panose="02040503050406030204" pitchFamily="18" charset="0"/>
                      </a:rPr>
                      <m:t>3.50</m:t>
                    </m:r>
                    <m:r>
                      <a:rPr lang="en-AU" b="0" i="1" smtClean="0">
                        <a:solidFill>
                          <a:schemeClr val="accent5">
                            <a:lumMod val="10000"/>
                          </a:schemeClr>
                        </a:solidFill>
                        <a:latin typeface="Cambria Math" panose="02040503050406030204" pitchFamily="18" charset="0"/>
                        <a:ea typeface="Cambria Math" panose="02040503050406030204" pitchFamily="18" charset="0"/>
                      </a:rPr>
                      <m:t>×</m:t>
                    </m:r>
                    <m:sSup>
                      <m:sSupPr>
                        <m:ctrlPr>
                          <a:rPr lang="en-AU"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b="0" i="1" smtClean="0">
                            <a:solidFill>
                              <a:schemeClr val="accent5">
                                <a:lumMod val="10000"/>
                              </a:schemeClr>
                            </a:solidFill>
                            <a:latin typeface="Cambria Math" panose="02040503050406030204" pitchFamily="18" charset="0"/>
                            <a:ea typeface="Cambria Math" panose="02040503050406030204" pitchFamily="18" charset="0"/>
                          </a:rPr>
                          <m:t>−7</m:t>
                        </m:r>
                      </m:sup>
                    </m:sSup>
                  </m:oMath>
                </a14:m>
                <a:r>
                  <a:rPr lang="en-AU" dirty="0">
                    <a:solidFill>
                      <a:schemeClr val="accent5">
                        <a:lumMod val="10000"/>
                      </a:schemeClr>
                    </a:solidFill>
                  </a:rPr>
                  <a:t> m be able to eject an electron from aluminium?</a:t>
                </a:r>
              </a:p>
            </p:txBody>
          </p:sp>
        </mc:Choice>
        <mc:Fallback xmlns="">
          <p:sp>
            <p:nvSpPr>
              <p:cNvPr id="3" name="Content Placeholder 2">
                <a:extLst>
                  <a:ext uri="{FF2B5EF4-FFF2-40B4-BE49-F238E27FC236}">
                    <a16:creationId xmlns:a16="http://schemas.microsoft.com/office/drawing/2014/main" id="{14CC3B70-0D10-4F4B-9D3E-35FA907B1951}"/>
                  </a:ext>
                </a:extLst>
              </p:cNvPr>
              <p:cNvSpPr>
                <a:spLocks noGrp="1" noRot="1" noChangeAspect="1" noMove="1" noResize="1" noEditPoints="1" noAdjustHandles="1" noChangeArrowheads="1" noChangeShapeType="1" noTextEdit="1"/>
              </p:cNvSpPr>
              <p:nvPr>
                <p:ph idx="1"/>
              </p:nvPr>
            </p:nvSpPr>
            <p:spPr>
              <a:xfrm>
                <a:off x="955500" y="483093"/>
                <a:ext cx="7704667" cy="1922755"/>
              </a:xfrm>
              <a:blipFill>
                <a:blip r:embed="rId2"/>
                <a:stretch>
                  <a:fillRect l="-1266"/>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E23C9DF-CE02-48C4-BE7B-7B8E1B4EEB7F}"/>
                  </a:ext>
                </a:extLst>
              </p:cNvPr>
              <p:cNvSpPr txBox="1"/>
              <p:nvPr/>
            </p:nvSpPr>
            <p:spPr>
              <a:xfrm>
                <a:off x="1056443" y="2565647"/>
                <a:ext cx="7492753" cy="2310761"/>
              </a:xfrm>
              <a:prstGeom prst="rect">
                <a:avLst/>
              </a:prstGeom>
              <a:noFill/>
            </p:spPr>
            <p:txBody>
              <a:bodyPr wrap="square" rtlCol="0">
                <a:spAutoFit/>
              </a:bodyPr>
              <a:lstStyle/>
              <a:p>
                <a:r>
                  <a:rPr lang="en-AU" sz="2400" dirty="0">
                    <a:solidFill>
                      <a:schemeClr val="accent5">
                        <a:lumMod val="10000"/>
                      </a:schemeClr>
                    </a:solidFill>
                  </a:rPr>
                  <a:t>Answer:  </a:t>
                </a:r>
              </a:p>
              <a:p>
                <a:pPr/>
                <a14:m>
                  <m:oMathPara xmlns:m="http://schemas.openxmlformats.org/officeDocument/2006/math">
                    <m:oMathParaPr>
                      <m:jc m:val="centerGroup"/>
                    </m:oMathParaPr>
                    <m:oMath xmlns:m="http://schemas.openxmlformats.org/officeDocument/2006/math">
                      <m:r>
                        <a:rPr lang="en-AU" sz="2400" b="0" i="1" smtClean="0">
                          <a:solidFill>
                            <a:schemeClr val="accent5">
                              <a:lumMod val="10000"/>
                            </a:schemeClr>
                          </a:solidFill>
                          <a:latin typeface="Cambria Math" panose="02040503050406030204" pitchFamily="18" charset="0"/>
                        </a:rPr>
                        <m:t>𝐸</m:t>
                      </m:r>
                      <m:r>
                        <a:rPr lang="en-AU" sz="2400" b="0" i="1" smtClean="0">
                          <a:solidFill>
                            <a:schemeClr val="accent5">
                              <a:lumMod val="10000"/>
                            </a:schemeClr>
                          </a:solidFill>
                          <a:latin typeface="Cambria Math" panose="02040503050406030204" pitchFamily="18" charset="0"/>
                        </a:rPr>
                        <m:t>=</m:t>
                      </m:r>
                      <m:r>
                        <a:rPr lang="en-AU" sz="2400" b="0" i="1" smtClean="0">
                          <a:solidFill>
                            <a:schemeClr val="accent5">
                              <a:lumMod val="10000"/>
                            </a:schemeClr>
                          </a:solidFill>
                          <a:latin typeface="Cambria Math" panose="02040503050406030204" pitchFamily="18" charset="0"/>
                        </a:rPr>
                        <m:t>h𝑓</m:t>
                      </m:r>
                      <m:r>
                        <a:rPr lang="en-AU" sz="2400" b="0" i="1" smtClean="0">
                          <a:solidFill>
                            <a:schemeClr val="accent5">
                              <a:lumMod val="10000"/>
                            </a:schemeClr>
                          </a:solidFill>
                          <a:latin typeface="Cambria Math" panose="02040503050406030204" pitchFamily="18" charset="0"/>
                        </a:rPr>
                        <m:t>=</m:t>
                      </m:r>
                      <m:f>
                        <m:fPr>
                          <m:ctrlPr>
                            <a:rPr lang="en-AU" sz="2400" b="0" i="1" smtClean="0">
                              <a:solidFill>
                                <a:schemeClr val="accent5">
                                  <a:lumMod val="10000"/>
                                </a:schemeClr>
                              </a:solidFill>
                              <a:latin typeface="Cambria Math" panose="02040503050406030204" pitchFamily="18" charset="0"/>
                            </a:rPr>
                          </m:ctrlPr>
                        </m:fPr>
                        <m:num>
                          <m:r>
                            <a:rPr lang="en-AU" sz="2400" b="0" i="1" smtClean="0">
                              <a:solidFill>
                                <a:schemeClr val="accent5">
                                  <a:lumMod val="10000"/>
                                </a:schemeClr>
                              </a:solidFill>
                              <a:latin typeface="Cambria Math" panose="02040503050406030204" pitchFamily="18" charset="0"/>
                            </a:rPr>
                            <m:t>h𝑐</m:t>
                          </m:r>
                        </m:num>
                        <m:den>
                          <m:r>
                            <m:rPr>
                              <m:sty m:val="p"/>
                            </m:rPr>
                            <a:rPr lang="el-GR" sz="2400" b="0" i="1" smtClean="0">
                              <a:solidFill>
                                <a:schemeClr val="accent5">
                                  <a:lumMod val="10000"/>
                                </a:schemeClr>
                              </a:solidFill>
                              <a:latin typeface="Cambria Math" panose="02040503050406030204" pitchFamily="18" charset="0"/>
                            </a:rPr>
                            <m:t>λ</m:t>
                          </m:r>
                        </m:den>
                      </m:f>
                      <m:r>
                        <a:rPr lang="en-AU" sz="2400" b="0" i="1" smtClean="0">
                          <a:solidFill>
                            <a:schemeClr val="accent5">
                              <a:lumMod val="10000"/>
                            </a:schemeClr>
                          </a:solidFill>
                          <a:latin typeface="Cambria Math" panose="02040503050406030204" pitchFamily="18" charset="0"/>
                        </a:rPr>
                        <m:t>=</m:t>
                      </m:r>
                      <m:f>
                        <m:f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fPr>
                        <m:num>
                          <m:d>
                            <m:dPr>
                              <m:ctrlPr>
                                <a:rPr lang="en-AU" sz="2400" b="0" i="1" smtClean="0">
                                  <a:solidFill>
                                    <a:schemeClr val="accent5">
                                      <a:lumMod val="10000"/>
                                    </a:schemeClr>
                                  </a:solidFill>
                                  <a:latin typeface="Cambria Math" panose="02040503050406030204" pitchFamily="18" charset="0"/>
                                </a:rPr>
                              </m:ctrlPr>
                            </m:dPr>
                            <m:e>
                              <m:r>
                                <a:rPr lang="en-AU" sz="2400" b="0" i="1" smtClean="0">
                                  <a:solidFill>
                                    <a:schemeClr val="accent5">
                                      <a:lumMod val="10000"/>
                                    </a:schemeClr>
                                  </a:solidFill>
                                  <a:latin typeface="Cambria Math" panose="02040503050406030204" pitchFamily="18" charset="0"/>
                                </a:rPr>
                                <m:t>6.63</m:t>
                              </m:r>
                              <m:r>
                                <a:rPr lang="en-AU" sz="2400" b="0" i="1" smtClean="0">
                                  <a:solidFill>
                                    <a:schemeClr val="accent5">
                                      <a:lumMod val="10000"/>
                                    </a:schemeClr>
                                  </a:solidFill>
                                  <a:latin typeface="Cambria Math" panose="02040503050406030204" pitchFamily="18" charset="0"/>
                                  <a:ea typeface="Cambria Math" panose="02040503050406030204" pitchFamily="18" charset="0"/>
                                </a:rPr>
                                <m:t>×</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−34</m:t>
                                  </m:r>
                                </m:sup>
                              </m:sSup>
                            </m:e>
                          </m:d>
                          <m:d>
                            <m:d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dPr>
                            <m:e>
                              <m:r>
                                <a:rPr lang="en-AU" sz="2400" b="0" i="1" smtClean="0">
                                  <a:solidFill>
                                    <a:schemeClr val="accent5">
                                      <a:lumMod val="10000"/>
                                    </a:schemeClr>
                                  </a:solidFill>
                                  <a:latin typeface="Cambria Math" panose="02040503050406030204" pitchFamily="18" charset="0"/>
                                  <a:ea typeface="Cambria Math" panose="02040503050406030204" pitchFamily="18" charset="0"/>
                                </a:rPr>
                                <m:t>3×</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8</m:t>
                                  </m:r>
                                </m:sup>
                              </m:sSup>
                            </m:e>
                          </m:d>
                        </m:num>
                        <m:den>
                          <m:r>
                            <a:rPr lang="en-AU" sz="2400" b="0" i="1" smtClean="0">
                              <a:solidFill>
                                <a:schemeClr val="accent5">
                                  <a:lumMod val="10000"/>
                                </a:schemeClr>
                              </a:solidFill>
                              <a:latin typeface="Cambria Math" panose="02040503050406030204" pitchFamily="18" charset="0"/>
                              <a:ea typeface="Cambria Math" panose="02040503050406030204" pitchFamily="18" charset="0"/>
                            </a:rPr>
                            <m:t>3.50×</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−7</m:t>
                              </m:r>
                            </m:sup>
                          </m:sSup>
                        </m:den>
                      </m:f>
                    </m:oMath>
                  </m:oMathPara>
                </a14:m>
                <a:endParaRPr lang="en-AU" sz="2400" b="0" dirty="0">
                  <a:solidFill>
                    <a:schemeClr val="accent5">
                      <a:lumMod val="10000"/>
                    </a:schemeClr>
                  </a:solidFill>
                  <a:ea typeface="Cambria Math" panose="02040503050406030204" pitchFamily="18" charset="0"/>
                </a:endParaRPr>
              </a:p>
              <a:p>
                <a:endParaRPr lang="en-AU" sz="2400" dirty="0">
                  <a:solidFill>
                    <a:schemeClr val="accent5">
                      <a:lumMod val="10000"/>
                    </a:schemeClr>
                  </a:solidFill>
                </a:endParaRPr>
              </a:p>
              <a:p>
                <a:r>
                  <a:rPr lang="en-AU" sz="2400" dirty="0">
                    <a:solidFill>
                      <a:schemeClr val="accent5">
                        <a:lumMod val="10000"/>
                      </a:schemeClr>
                    </a:solidFill>
                  </a:rPr>
                  <a:t>No, the energy of the light is </a:t>
                </a:r>
                <a14:m>
                  <m:oMath xmlns:m="http://schemas.openxmlformats.org/officeDocument/2006/math">
                    <m:r>
                      <a:rPr lang="en-AU" sz="2400" b="0" i="1" smtClean="0">
                        <a:solidFill>
                          <a:schemeClr val="accent5">
                            <a:lumMod val="10000"/>
                          </a:schemeClr>
                        </a:solidFill>
                        <a:latin typeface="Cambria Math" panose="02040503050406030204" pitchFamily="18" charset="0"/>
                      </a:rPr>
                      <m:t>5.68</m:t>
                    </m:r>
                    <m:r>
                      <a:rPr lang="en-AU" sz="2400" b="0" i="1" smtClean="0">
                        <a:solidFill>
                          <a:schemeClr val="accent5">
                            <a:lumMod val="10000"/>
                          </a:schemeClr>
                        </a:solidFill>
                        <a:latin typeface="Cambria Math" panose="02040503050406030204" pitchFamily="18" charset="0"/>
                        <a:ea typeface="Cambria Math" panose="02040503050406030204" pitchFamily="18" charset="0"/>
                      </a:rPr>
                      <m:t>×</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−19</m:t>
                        </m:r>
                      </m:sup>
                    </m:sSup>
                    <m:r>
                      <a:rPr lang="en-AU" sz="2400" b="0" i="1" smtClean="0">
                        <a:solidFill>
                          <a:schemeClr val="accent5">
                            <a:lumMod val="10000"/>
                          </a:schemeClr>
                        </a:solidFill>
                        <a:latin typeface="Cambria Math" panose="02040503050406030204" pitchFamily="18" charset="0"/>
                        <a:ea typeface="Cambria Math" panose="02040503050406030204" pitchFamily="18" charset="0"/>
                      </a:rPr>
                      <m:t>𝐽</m:t>
                    </m:r>
                  </m:oMath>
                </a14:m>
                <a:r>
                  <a:rPr lang="en-AU" sz="2400" dirty="0">
                    <a:solidFill>
                      <a:schemeClr val="accent5">
                        <a:lumMod val="10000"/>
                      </a:schemeClr>
                    </a:solidFill>
                  </a:rPr>
                  <a:t> therefore it does not have sufficient energy to eject an electron.</a:t>
                </a:r>
              </a:p>
            </p:txBody>
          </p:sp>
        </mc:Choice>
        <mc:Fallback xmlns="">
          <p:sp>
            <p:nvSpPr>
              <p:cNvPr id="4" name="TextBox 3">
                <a:extLst>
                  <a:ext uri="{FF2B5EF4-FFF2-40B4-BE49-F238E27FC236}">
                    <a16:creationId xmlns:a16="http://schemas.microsoft.com/office/drawing/2014/main" id="{7E23C9DF-CE02-48C4-BE7B-7B8E1B4EEB7F}"/>
                  </a:ext>
                </a:extLst>
              </p:cNvPr>
              <p:cNvSpPr txBox="1">
                <a:spLocks noRot="1" noChangeAspect="1" noMove="1" noResize="1" noEditPoints="1" noAdjustHandles="1" noChangeArrowheads="1" noChangeShapeType="1" noTextEdit="1"/>
              </p:cNvSpPr>
              <p:nvPr/>
            </p:nvSpPr>
            <p:spPr>
              <a:xfrm>
                <a:off x="1056443" y="2565647"/>
                <a:ext cx="7492753" cy="2310761"/>
              </a:xfrm>
              <a:prstGeom prst="rect">
                <a:avLst/>
              </a:prstGeom>
              <a:blipFill>
                <a:blip r:embed="rId3"/>
                <a:stretch>
                  <a:fillRect l="-1221" t="-2111" b="-5013"/>
                </a:stretch>
              </a:blipFill>
            </p:spPr>
            <p:txBody>
              <a:bodyPr/>
              <a:lstStyle/>
              <a:p>
                <a:r>
                  <a:rPr lang="en-AU">
                    <a:noFill/>
                  </a:rPr>
                  <a:t> </a:t>
                </a:r>
              </a:p>
            </p:txBody>
          </p:sp>
        </mc:Fallback>
      </mc:AlternateContent>
    </p:spTree>
    <p:extLst>
      <p:ext uri="{BB962C8B-B14F-4D97-AF65-F5344CB8AC3E}">
        <p14:creationId xmlns:p14="http://schemas.microsoft.com/office/powerpoint/2010/main" val="3421066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1292CE3-3A6F-4F08-9C2E-544995318F42}"/>
                  </a:ext>
                </a:extLst>
              </p:cNvPr>
              <p:cNvSpPr>
                <a:spLocks noGrp="1"/>
              </p:cNvSpPr>
              <p:nvPr>
                <p:ph idx="1"/>
              </p:nvPr>
            </p:nvSpPr>
            <p:spPr>
              <a:xfrm>
                <a:off x="523783" y="230820"/>
                <a:ext cx="8806648" cy="1775534"/>
              </a:xfrm>
            </p:spPr>
            <p:txBody>
              <a:bodyPr/>
              <a:lstStyle/>
              <a:p>
                <a:pPr marL="0" indent="0">
                  <a:buNone/>
                </a:pPr>
                <a:r>
                  <a:rPr lang="en-AU" dirty="0">
                    <a:solidFill>
                      <a:schemeClr val="accent5">
                        <a:lumMod val="10000"/>
                      </a:schemeClr>
                    </a:solidFill>
                  </a:rPr>
                  <a:t>Question:  It was found that a neutron traveling at </a:t>
                </a:r>
                <a14:m>
                  <m:oMath xmlns:m="http://schemas.openxmlformats.org/officeDocument/2006/math">
                    <m:r>
                      <a:rPr lang="en-AU" b="0" i="1" smtClean="0">
                        <a:solidFill>
                          <a:schemeClr val="accent5">
                            <a:lumMod val="10000"/>
                          </a:schemeClr>
                        </a:solidFill>
                        <a:latin typeface="Cambria Math" panose="02040503050406030204" pitchFamily="18" charset="0"/>
                      </a:rPr>
                      <m:t>1.98</m:t>
                    </m:r>
                    <m:r>
                      <a:rPr lang="en-AU" b="0" i="1" smtClean="0">
                        <a:solidFill>
                          <a:schemeClr val="accent5">
                            <a:lumMod val="10000"/>
                          </a:schemeClr>
                        </a:solidFill>
                        <a:latin typeface="Cambria Math" panose="02040503050406030204" pitchFamily="18" charset="0"/>
                        <a:ea typeface="Cambria Math" panose="02040503050406030204" pitchFamily="18" charset="0"/>
                      </a:rPr>
                      <m:t>×</m:t>
                    </m:r>
                    <m:sSup>
                      <m:sSupPr>
                        <m:ctrlPr>
                          <a:rPr lang="en-AU"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b="0" i="1" smtClean="0">
                            <a:solidFill>
                              <a:schemeClr val="accent5">
                                <a:lumMod val="10000"/>
                              </a:schemeClr>
                            </a:solidFill>
                            <a:latin typeface="Cambria Math" panose="02040503050406030204" pitchFamily="18" charset="0"/>
                            <a:ea typeface="Cambria Math" panose="02040503050406030204" pitchFamily="18" charset="0"/>
                          </a:rPr>
                          <m:t>4</m:t>
                        </m:r>
                      </m:sup>
                    </m:sSup>
                    <m:r>
                      <a:rPr lang="en-AU" b="0" i="1" smtClean="0">
                        <a:solidFill>
                          <a:schemeClr val="accent5">
                            <a:lumMod val="10000"/>
                          </a:schemeClr>
                        </a:solidFill>
                        <a:latin typeface="Cambria Math" panose="02040503050406030204" pitchFamily="18" charset="0"/>
                        <a:ea typeface="Cambria Math" panose="02040503050406030204" pitchFamily="18" charset="0"/>
                      </a:rPr>
                      <m:t>𝑚</m:t>
                    </m:r>
                    <m:r>
                      <a:rPr lang="en-AU" b="0" i="1" smtClean="0">
                        <a:solidFill>
                          <a:schemeClr val="accent5">
                            <a:lumMod val="10000"/>
                          </a:schemeClr>
                        </a:solidFill>
                        <a:latin typeface="Cambria Math" panose="02040503050406030204" pitchFamily="18" charset="0"/>
                        <a:ea typeface="Cambria Math" panose="02040503050406030204" pitchFamily="18" charset="0"/>
                      </a:rPr>
                      <m:t> </m:t>
                    </m:r>
                    <m:sSup>
                      <m:sSupPr>
                        <m:ctrlPr>
                          <a:rPr lang="en-AU"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b="0" i="1" smtClean="0">
                            <a:solidFill>
                              <a:schemeClr val="accent5">
                                <a:lumMod val="10000"/>
                              </a:schemeClr>
                            </a:solidFill>
                            <a:latin typeface="Cambria Math" panose="02040503050406030204" pitchFamily="18" charset="0"/>
                            <a:ea typeface="Cambria Math" panose="02040503050406030204" pitchFamily="18" charset="0"/>
                          </a:rPr>
                          <m:t>𝑠</m:t>
                        </m:r>
                      </m:e>
                      <m:sup>
                        <m:r>
                          <a:rPr lang="en-AU" b="0" i="1" smtClean="0">
                            <a:solidFill>
                              <a:schemeClr val="accent5">
                                <a:lumMod val="10000"/>
                              </a:schemeClr>
                            </a:solidFill>
                            <a:latin typeface="Cambria Math" panose="02040503050406030204" pitchFamily="18" charset="0"/>
                            <a:ea typeface="Cambria Math" panose="02040503050406030204" pitchFamily="18" charset="0"/>
                          </a:rPr>
                          <m:t>−1</m:t>
                        </m:r>
                      </m:sup>
                    </m:sSup>
                  </m:oMath>
                </a14:m>
                <a:r>
                  <a:rPr lang="en-AU" dirty="0">
                    <a:solidFill>
                      <a:schemeClr val="accent5">
                        <a:lumMod val="10000"/>
                      </a:schemeClr>
                    </a:solidFill>
                  </a:rPr>
                  <a:t> has the same energy as electromagnetic radiation of frequency </a:t>
                </a:r>
                <a14:m>
                  <m:oMath xmlns:m="http://schemas.openxmlformats.org/officeDocument/2006/math">
                    <m:r>
                      <a:rPr lang="en-AU" b="0" i="1" smtClean="0">
                        <a:solidFill>
                          <a:schemeClr val="accent5">
                            <a:lumMod val="10000"/>
                          </a:schemeClr>
                        </a:solidFill>
                        <a:latin typeface="Cambria Math" panose="02040503050406030204" pitchFamily="18" charset="0"/>
                      </a:rPr>
                      <m:t>5.00</m:t>
                    </m:r>
                    <m:r>
                      <a:rPr lang="en-AU" b="0" i="1" smtClean="0">
                        <a:solidFill>
                          <a:schemeClr val="accent5">
                            <a:lumMod val="10000"/>
                          </a:schemeClr>
                        </a:solidFill>
                        <a:latin typeface="Cambria Math" panose="02040503050406030204" pitchFamily="18" charset="0"/>
                        <a:ea typeface="Cambria Math" panose="02040503050406030204" pitchFamily="18" charset="0"/>
                      </a:rPr>
                      <m:t>×</m:t>
                    </m:r>
                    <m:sSup>
                      <m:sSupPr>
                        <m:ctrlPr>
                          <a:rPr lang="en-AU"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b="0" i="1" smtClean="0">
                            <a:solidFill>
                              <a:schemeClr val="accent5">
                                <a:lumMod val="10000"/>
                              </a:schemeClr>
                            </a:solidFill>
                            <a:latin typeface="Cambria Math" panose="02040503050406030204" pitchFamily="18" charset="0"/>
                            <a:ea typeface="Cambria Math" panose="02040503050406030204" pitchFamily="18" charset="0"/>
                          </a:rPr>
                          <m:t>14</m:t>
                        </m:r>
                      </m:sup>
                    </m:sSup>
                    <m:r>
                      <a:rPr lang="en-AU" b="0" i="1" smtClean="0">
                        <a:solidFill>
                          <a:schemeClr val="accent5">
                            <a:lumMod val="10000"/>
                          </a:schemeClr>
                        </a:solidFill>
                        <a:latin typeface="Cambria Math" panose="02040503050406030204" pitchFamily="18" charset="0"/>
                        <a:ea typeface="Cambria Math" panose="02040503050406030204" pitchFamily="18" charset="0"/>
                      </a:rPr>
                      <m:t> </m:t>
                    </m:r>
                    <m:r>
                      <a:rPr lang="en-AU" b="0" i="1" smtClean="0">
                        <a:solidFill>
                          <a:schemeClr val="accent5">
                            <a:lumMod val="10000"/>
                          </a:schemeClr>
                        </a:solidFill>
                        <a:latin typeface="Cambria Math" panose="02040503050406030204" pitchFamily="18" charset="0"/>
                        <a:ea typeface="Cambria Math" panose="02040503050406030204" pitchFamily="18" charset="0"/>
                      </a:rPr>
                      <m:t>𝐻𝑧</m:t>
                    </m:r>
                  </m:oMath>
                </a14:m>
                <a:r>
                  <a:rPr lang="en-AU" dirty="0">
                    <a:solidFill>
                      <a:schemeClr val="accent5">
                        <a:lumMod val="10000"/>
                      </a:schemeClr>
                    </a:solidFill>
                  </a:rPr>
                  <a:t>.  Show that the mass of a neutron is approximately </a:t>
                </a:r>
                <a14:m>
                  <m:oMath xmlns:m="http://schemas.openxmlformats.org/officeDocument/2006/math">
                    <m:r>
                      <a:rPr lang="en-AU" b="0" i="1" smtClean="0">
                        <a:solidFill>
                          <a:schemeClr val="accent5">
                            <a:lumMod val="10000"/>
                          </a:schemeClr>
                        </a:solidFill>
                        <a:latin typeface="Cambria Math" panose="02040503050406030204" pitchFamily="18" charset="0"/>
                      </a:rPr>
                      <m:t>1.7</m:t>
                    </m:r>
                    <m:r>
                      <a:rPr lang="en-AU" b="0" i="1" smtClean="0">
                        <a:solidFill>
                          <a:schemeClr val="accent5">
                            <a:lumMod val="10000"/>
                          </a:schemeClr>
                        </a:solidFill>
                        <a:latin typeface="Cambria Math" panose="02040503050406030204" pitchFamily="18" charset="0"/>
                        <a:ea typeface="Cambria Math" panose="02040503050406030204" pitchFamily="18" charset="0"/>
                      </a:rPr>
                      <m:t>×</m:t>
                    </m:r>
                    <m:sSup>
                      <m:sSupPr>
                        <m:ctrlPr>
                          <a:rPr lang="en-AU"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b="0" i="1" smtClean="0">
                            <a:solidFill>
                              <a:schemeClr val="accent5">
                                <a:lumMod val="10000"/>
                              </a:schemeClr>
                            </a:solidFill>
                            <a:latin typeface="Cambria Math" panose="02040503050406030204" pitchFamily="18" charset="0"/>
                            <a:ea typeface="Cambria Math" panose="02040503050406030204" pitchFamily="18" charset="0"/>
                          </a:rPr>
                          <m:t>−27</m:t>
                        </m:r>
                      </m:sup>
                    </m:sSup>
                    <m:r>
                      <a:rPr lang="en-AU" b="0" i="1" smtClean="0">
                        <a:solidFill>
                          <a:schemeClr val="accent5">
                            <a:lumMod val="10000"/>
                          </a:schemeClr>
                        </a:solidFill>
                        <a:latin typeface="Cambria Math" panose="02040503050406030204" pitchFamily="18" charset="0"/>
                        <a:ea typeface="Cambria Math" panose="02040503050406030204" pitchFamily="18" charset="0"/>
                      </a:rPr>
                      <m:t> </m:t>
                    </m:r>
                    <m:r>
                      <a:rPr lang="en-AU" b="0" i="1" smtClean="0">
                        <a:solidFill>
                          <a:schemeClr val="accent5">
                            <a:lumMod val="10000"/>
                          </a:schemeClr>
                        </a:solidFill>
                        <a:latin typeface="Cambria Math" panose="02040503050406030204" pitchFamily="18" charset="0"/>
                        <a:ea typeface="Cambria Math" panose="02040503050406030204" pitchFamily="18" charset="0"/>
                      </a:rPr>
                      <m:t>𝑘𝑔</m:t>
                    </m:r>
                  </m:oMath>
                </a14:m>
                <a:r>
                  <a:rPr lang="en-AU" dirty="0">
                    <a:solidFill>
                      <a:schemeClr val="accent5">
                        <a:lumMod val="10000"/>
                      </a:schemeClr>
                    </a:solidFill>
                  </a:rPr>
                  <a:t>.</a:t>
                </a:r>
              </a:p>
            </p:txBody>
          </p:sp>
        </mc:Choice>
        <mc:Fallback xmlns="">
          <p:sp>
            <p:nvSpPr>
              <p:cNvPr id="3" name="Content Placeholder 2">
                <a:extLst>
                  <a:ext uri="{FF2B5EF4-FFF2-40B4-BE49-F238E27FC236}">
                    <a16:creationId xmlns:a16="http://schemas.microsoft.com/office/drawing/2014/main" id="{91292CE3-3A6F-4F08-9C2E-544995318F42}"/>
                  </a:ext>
                </a:extLst>
              </p:cNvPr>
              <p:cNvSpPr>
                <a:spLocks noGrp="1" noRot="1" noChangeAspect="1" noMove="1" noResize="1" noEditPoints="1" noAdjustHandles="1" noChangeArrowheads="1" noChangeShapeType="1" noTextEdit="1"/>
              </p:cNvSpPr>
              <p:nvPr>
                <p:ph idx="1"/>
              </p:nvPr>
            </p:nvSpPr>
            <p:spPr>
              <a:xfrm>
                <a:off x="523783" y="230820"/>
                <a:ext cx="8806648" cy="1775534"/>
              </a:xfrm>
              <a:blipFill>
                <a:blip r:embed="rId2"/>
                <a:stretch>
                  <a:fillRect l="-1107" b="-1718"/>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6502580-1FFE-4E1E-A13B-882CFC8A247B}"/>
                  </a:ext>
                </a:extLst>
              </p:cNvPr>
              <p:cNvSpPr txBox="1"/>
              <p:nvPr/>
            </p:nvSpPr>
            <p:spPr>
              <a:xfrm>
                <a:off x="958788" y="2317072"/>
                <a:ext cx="7723573" cy="3054491"/>
              </a:xfrm>
              <a:prstGeom prst="rect">
                <a:avLst/>
              </a:prstGeom>
              <a:noFill/>
            </p:spPr>
            <p:txBody>
              <a:bodyPr wrap="square" rtlCol="0">
                <a:spAutoFit/>
              </a:bodyPr>
              <a:lstStyle/>
              <a:p>
                <a:r>
                  <a:rPr lang="en-AU" sz="2400" dirty="0">
                    <a:solidFill>
                      <a:schemeClr val="accent5">
                        <a:lumMod val="10000"/>
                      </a:schemeClr>
                    </a:solidFill>
                  </a:rPr>
                  <a:t>Answer:</a:t>
                </a:r>
              </a:p>
              <a:p>
                <a:pPr/>
                <a14:m>
                  <m:oMathPara xmlns:m="http://schemas.openxmlformats.org/officeDocument/2006/math">
                    <m:oMathParaPr>
                      <m:jc m:val="centerGroup"/>
                    </m:oMathParaPr>
                    <m:oMath xmlns:m="http://schemas.openxmlformats.org/officeDocument/2006/math">
                      <m:f>
                        <m:fPr>
                          <m:ctrlPr>
                            <a:rPr lang="en-AU" sz="2400" b="0" i="1" smtClean="0">
                              <a:solidFill>
                                <a:schemeClr val="accent5">
                                  <a:lumMod val="10000"/>
                                </a:schemeClr>
                              </a:solidFill>
                              <a:latin typeface="Cambria Math" panose="02040503050406030204" pitchFamily="18" charset="0"/>
                            </a:rPr>
                          </m:ctrlPr>
                        </m:fPr>
                        <m:num>
                          <m:r>
                            <a:rPr lang="en-AU" sz="2400" b="0" i="1" smtClean="0">
                              <a:solidFill>
                                <a:schemeClr val="accent5">
                                  <a:lumMod val="10000"/>
                                </a:schemeClr>
                              </a:solidFill>
                              <a:latin typeface="Cambria Math" panose="02040503050406030204" pitchFamily="18" charset="0"/>
                            </a:rPr>
                            <m:t>1</m:t>
                          </m:r>
                        </m:num>
                        <m:den>
                          <m:r>
                            <a:rPr lang="en-AU" sz="2400" b="0" i="1" smtClean="0">
                              <a:solidFill>
                                <a:schemeClr val="accent5">
                                  <a:lumMod val="10000"/>
                                </a:schemeClr>
                              </a:solidFill>
                              <a:latin typeface="Cambria Math" panose="02040503050406030204" pitchFamily="18" charset="0"/>
                            </a:rPr>
                            <m:t>2</m:t>
                          </m:r>
                        </m:den>
                      </m:f>
                      <m:r>
                        <a:rPr lang="en-AU" sz="2400" b="0" i="1" smtClean="0">
                          <a:solidFill>
                            <a:schemeClr val="accent5">
                              <a:lumMod val="10000"/>
                            </a:schemeClr>
                          </a:solidFill>
                          <a:latin typeface="Cambria Math" panose="02040503050406030204" pitchFamily="18" charset="0"/>
                        </a:rPr>
                        <m:t>𝑚</m:t>
                      </m:r>
                      <m:sSup>
                        <m:sSupPr>
                          <m:ctrlPr>
                            <a:rPr lang="en-AU" sz="2400" b="0" i="1" smtClean="0">
                              <a:solidFill>
                                <a:schemeClr val="accent5">
                                  <a:lumMod val="10000"/>
                                </a:schemeClr>
                              </a:solidFill>
                              <a:latin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rPr>
                            <m:t>𝑣</m:t>
                          </m:r>
                        </m:e>
                        <m:sup>
                          <m:r>
                            <a:rPr lang="en-AU" sz="2400" b="0" i="1" smtClean="0">
                              <a:solidFill>
                                <a:schemeClr val="accent5">
                                  <a:lumMod val="10000"/>
                                </a:schemeClr>
                              </a:solidFill>
                              <a:latin typeface="Cambria Math" panose="02040503050406030204" pitchFamily="18" charset="0"/>
                            </a:rPr>
                            <m:t>2</m:t>
                          </m:r>
                        </m:sup>
                      </m:sSup>
                      <m:r>
                        <a:rPr lang="en-AU" sz="2400" b="0" i="1" smtClean="0">
                          <a:solidFill>
                            <a:schemeClr val="accent5">
                              <a:lumMod val="10000"/>
                            </a:schemeClr>
                          </a:solidFill>
                          <a:latin typeface="Cambria Math" panose="02040503050406030204" pitchFamily="18" charset="0"/>
                        </a:rPr>
                        <m:t>=</m:t>
                      </m:r>
                      <m:r>
                        <a:rPr lang="en-AU" sz="2400" b="0" i="1" smtClean="0">
                          <a:solidFill>
                            <a:schemeClr val="accent5">
                              <a:lumMod val="10000"/>
                            </a:schemeClr>
                          </a:solidFill>
                          <a:latin typeface="Cambria Math" panose="02040503050406030204" pitchFamily="18" charset="0"/>
                        </a:rPr>
                        <m:t>h𝑓</m:t>
                      </m:r>
                    </m:oMath>
                  </m:oMathPara>
                </a14:m>
                <a:endParaRPr lang="en-AU" sz="2400" b="0" dirty="0">
                  <a:solidFill>
                    <a:schemeClr val="accent5">
                      <a:lumMod val="10000"/>
                    </a:schemeClr>
                  </a:solidFill>
                </a:endParaRPr>
              </a:p>
              <a:p>
                <a:endParaRPr lang="en-AU" sz="2400" dirty="0">
                  <a:solidFill>
                    <a:schemeClr val="accent5">
                      <a:lumMod val="10000"/>
                    </a:schemeClr>
                  </a:solidFill>
                </a:endParaRPr>
              </a:p>
              <a:p>
                <a:pPr/>
                <a14:m>
                  <m:oMathPara xmlns:m="http://schemas.openxmlformats.org/officeDocument/2006/math">
                    <m:oMathParaPr>
                      <m:jc m:val="centerGroup"/>
                    </m:oMathParaPr>
                    <m:oMath xmlns:m="http://schemas.openxmlformats.org/officeDocument/2006/math">
                      <m:r>
                        <a:rPr lang="en-AU" sz="2400" b="0" i="1" smtClean="0">
                          <a:solidFill>
                            <a:schemeClr val="accent5">
                              <a:lumMod val="10000"/>
                            </a:schemeClr>
                          </a:solidFill>
                          <a:latin typeface="Cambria Math" panose="02040503050406030204" pitchFamily="18" charset="0"/>
                        </a:rPr>
                        <m:t>𝑚</m:t>
                      </m:r>
                      <m:r>
                        <a:rPr lang="en-AU" sz="2400" b="0" i="1" smtClean="0">
                          <a:solidFill>
                            <a:schemeClr val="accent5">
                              <a:lumMod val="10000"/>
                            </a:schemeClr>
                          </a:solidFill>
                          <a:latin typeface="Cambria Math" panose="02040503050406030204" pitchFamily="18" charset="0"/>
                        </a:rPr>
                        <m:t>=</m:t>
                      </m:r>
                      <m:f>
                        <m:fPr>
                          <m:ctrlPr>
                            <a:rPr lang="en-AU" sz="2400" b="0" i="1" smtClean="0">
                              <a:solidFill>
                                <a:schemeClr val="accent5">
                                  <a:lumMod val="10000"/>
                                </a:schemeClr>
                              </a:solidFill>
                              <a:latin typeface="Cambria Math" panose="02040503050406030204" pitchFamily="18" charset="0"/>
                            </a:rPr>
                          </m:ctrlPr>
                        </m:fPr>
                        <m:num>
                          <m:r>
                            <a:rPr lang="en-AU" sz="2400" b="0" i="1" smtClean="0">
                              <a:solidFill>
                                <a:schemeClr val="accent5">
                                  <a:lumMod val="10000"/>
                                </a:schemeClr>
                              </a:solidFill>
                              <a:latin typeface="Cambria Math" panose="02040503050406030204" pitchFamily="18" charset="0"/>
                            </a:rPr>
                            <m:t>2</m:t>
                          </m:r>
                          <m:r>
                            <a:rPr lang="en-AU" sz="2400" b="0" i="1" smtClean="0">
                              <a:solidFill>
                                <a:schemeClr val="accent5">
                                  <a:lumMod val="10000"/>
                                </a:schemeClr>
                              </a:solidFill>
                              <a:latin typeface="Cambria Math" panose="02040503050406030204" pitchFamily="18" charset="0"/>
                            </a:rPr>
                            <m:t>h𝑓</m:t>
                          </m:r>
                        </m:num>
                        <m:den>
                          <m:sSup>
                            <m:sSupPr>
                              <m:ctrlPr>
                                <a:rPr lang="en-AU" sz="2400" b="0" i="1" smtClean="0">
                                  <a:solidFill>
                                    <a:schemeClr val="accent5">
                                      <a:lumMod val="10000"/>
                                    </a:schemeClr>
                                  </a:solidFill>
                                  <a:latin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rPr>
                                <m:t>𝑣</m:t>
                              </m:r>
                            </m:e>
                            <m:sup>
                              <m:r>
                                <a:rPr lang="en-AU" sz="2400" b="0" i="1" smtClean="0">
                                  <a:solidFill>
                                    <a:schemeClr val="accent5">
                                      <a:lumMod val="10000"/>
                                    </a:schemeClr>
                                  </a:solidFill>
                                  <a:latin typeface="Cambria Math" panose="02040503050406030204" pitchFamily="18" charset="0"/>
                                </a:rPr>
                                <m:t>2</m:t>
                              </m:r>
                            </m:sup>
                          </m:sSup>
                        </m:den>
                      </m:f>
                      <m:r>
                        <a:rPr lang="en-AU" sz="2400" b="0" i="1" smtClean="0">
                          <a:solidFill>
                            <a:schemeClr val="accent5">
                              <a:lumMod val="10000"/>
                            </a:schemeClr>
                          </a:solidFill>
                          <a:latin typeface="Cambria Math" panose="02040503050406030204" pitchFamily="18" charset="0"/>
                        </a:rPr>
                        <m:t>=</m:t>
                      </m:r>
                      <m:f>
                        <m:f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fPr>
                        <m:num>
                          <m:r>
                            <a:rPr lang="en-AU" sz="2400" b="0" i="1" smtClean="0">
                              <a:solidFill>
                                <a:schemeClr val="accent5">
                                  <a:lumMod val="10000"/>
                                </a:schemeClr>
                              </a:solidFill>
                              <a:latin typeface="Cambria Math" panose="02040503050406030204" pitchFamily="18" charset="0"/>
                            </a:rPr>
                            <m:t>2</m:t>
                          </m:r>
                          <m:d>
                            <m:dPr>
                              <m:ctrlPr>
                                <a:rPr lang="en-AU" sz="2400" b="0" i="1" smtClean="0">
                                  <a:solidFill>
                                    <a:schemeClr val="accent5">
                                      <a:lumMod val="10000"/>
                                    </a:schemeClr>
                                  </a:solidFill>
                                  <a:latin typeface="Cambria Math" panose="02040503050406030204" pitchFamily="18" charset="0"/>
                                </a:rPr>
                              </m:ctrlPr>
                            </m:dPr>
                            <m:e>
                              <m:r>
                                <a:rPr lang="en-AU" sz="2400" b="0" i="1" smtClean="0">
                                  <a:solidFill>
                                    <a:schemeClr val="accent5">
                                      <a:lumMod val="10000"/>
                                    </a:schemeClr>
                                  </a:solidFill>
                                  <a:latin typeface="Cambria Math" panose="02040503050406030204" pitchFamily="18" charset="0"/>
                                </a:rPr>
                                <m:t>6.63</m:t>
                              </m:r>
                              <m:r>
                                <a:rPr lang="en-AU" sz="2400" b="0" i="1" smtClean="0">
                                  <a:solidFill>
                                    <a:schemeClr val="accent5">
                                      <a:lumMod val="10000"/>
                                    </a:schemeClr>
                                  </a:solidFill>
                                  <a:latin typeface="Cambria Math" panose="02040503050406030204" pitchFamily="18" charset="0"/>
                                  <a:ea typeface="Cambria Math" panose="02040503050406030204" pitchFamily="18" charset="0"/>
                                </a:rPr>
                                <m:t>×</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−34</m:t>
                                  </m:r>
                                </m:sup>
                              </m:sSup>
                            </m:e>
                          </m:d>
                          <m:d>
                            <m:d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dPr>
                            <m:e>
                              <m:r>
                                <a:rPr lang="en-AU" sz="2400" b="0" i="1" smtClean="0">
                                  <a:solidFill>
                                    <a:schemeClr val="accent5">
                                      <a:lumMod val="10000"/>
                                    </a:schemeClr>
                                  </a:solidFill>
                                  <a:latin typeface="Cambria Math" panose="02040503050406030204" pitchFamily="18" charset="0"/>
                                  <a:ea typeface="Cambria Math" panose="02040503050406030204" pitchFamily="18" charset="0"/>
                                </a:rPr>
                                <m:t>5×</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14</m:t>
                                  </m:r>
                                </m:sup>
                              </m:sSup>
                            </m:e>
                          </m:d>
                        </m:num>
                        <m:den>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d>
                                <m:d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dPr>
                                <m:e>
                                  <m:r>
                                    <a:rPr lang="en-AU" sz="2400" b="0" i="1" smtClean="0">
                                      <a:solidFill>
                                        <a:schemeClr val="accent5">
                                          <a:lumMod val="10000"/>
                                        </a:schemeClr>
                                      </a:solidFill>
                                      <a:latin typeface="Cambria Math" panose="02040503050406030204" pitchFamily="18" charset="0"/>
                                      <a:ea typeface="Cambria Math" panose="02040503050406030204" pitchFamily="18" charset="0"/>
                                    </a:rPr>
                                    <m:t>1.98×</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4</m:t>
                                      </m:r>
                                    </m:sup>
                                  </m:sSup>
                                </m:e>
                              </m:d>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2</m:t>
                              </m:r>
                            </m:sup>
                          </m:sSup>
                        </m:den>
                      </m:f>
                    </m:oMath>
                  </m:oMathPara>
                </a14:m>
                <a:endParaRPr lang="en-AU" sz="2400" b="0" dirty="0">
                  <a:solidFill>
                    <a:schemeClr val="accent5">
                      <a:lumMod val="10000"/>
                    </a:schemeClr>
                  </a:solidFill>
                  <a:ea typeface="Cambria Math" panose="02040503050406030204" pitchFamily="18" charset="0"/>
                </a:endParaRPr>
              </a:p>
              <a:p>
                <a:endParaRPr lang="en-AU" sz="2400" dirty="0">
                  <a:solidFill>
                    <a:schemeClr val="accent5">
                      <a:lumMod val="10000"/>
                    </a:schemeClr>
                  </a:solidFill>
                </a:endParaRPr>
              </a:p>
              <a:p>
                <a:pPr/>
                <a14:m>
                  <m:oMathPara xmlns:m="http://schemas.openxmlformats.org/officeDocument/2006/math">
                    <m:oMathParaPr>
                      <m:jc m:val="centerGroup"/>
                    </m:oMathParaPr>
                    <m:oMath xmlns:m="http://schemas.openxmlformats.org/officeDocument/2006/math">
                      <m:r>
                        <a:rPr lang="en-AU" sz="2400" b="0" i="1" smtClean="0">
                          <a:solidFill>
                            <a:schemeClr val="accent5">
                              <a:lumMod val="10000"/>
                            </a:schemeClr>
                          </a:solidFill>
                          <a:latin typeface="Cambria Math" panose="02040503050406030204" pitchFamily="18" charset="0"/>
                        </a:rPr>
                        <m:t>𝑚</m:t>
                      </m:r>
                      <m:r>
                        <a:rPr lang="en-AU" sz="2400" b="0" i="1" smtClean="0">
                          <a:solidFill>
                            <a:schemeClr val="accent5">
                              <a:lumMod val="10000"/>
                            </a:schemeClr>
                          </a:solidFill>
                          <a:latin typeface="Cambria Math" panose="02040503050406030204" pitchFamily="18" charset="0"/>
                        </a:rPr>
                        <m:t>=1.7×</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−27</m:t>
                          </m:r>
                        </m:sup>
                      </m:sSup>
                      <m:r>
                        <a:rPr lang="en-AU" sz="2400" b="0" i="1" smtClean="0">
                          <a:solidFill>
                            <a:schemeClr val="accent5">
                              <a:lumMod val="10000"/>
                            </a:schemeClr>
                          </a:solidFill>
                          <a:latin typeface="Cambria Math" panose="02040503050406030204" pitchFamily="18" charset="0"/>
                          <a:ea typeface="Cambria Math" panose="02040503050406030204" pitchFamily="18" charset="0"/>
                        </a:rPr>
                        <m:t>𝑘𝑔</m:t>
                      </m:r>
                    </m:oMath>
                  </m:oMathPara>
                </a14:m>
                <a:endParaRPr lang="en-AU" sz="2400" dirty="0">
                  <a:solidFill>
                    <a:schemeClr val="accent5">
                      <a:lumMod val="10000"/>
                    </a:schemeClr>
                  </a:solidFill>
                </a:endParaRPr>
              </a:p>
            </p:txBody>
          </p:sp>
        </mc:Choice>
        <mc:Fallback xmlns="">
          <p:sp>
            <p:nvSpPr>
              <p:cNvPr id="4" name="TextBox 3">
                <a:extLst>
                  <a:ext uri="{FF2B5EF4-FFF2-40B4-BE49-F238E27FC236}">
                    <a16:creationId xmlns:a16="http://schemas.microsoft.com/office/drawing/2014/main" id="{76502580-1FFE-4E1E-A13B-882CFC8A247B}"/>
                  </a:ext>
                </a:extLst>
              </p:cNvPr>
              <p:cNvSpPr txBox="1">
                <a:spLocks noRot="1" noChangeAspect="1" noMove="1" noResize="1" noEditPoints="1" noAdjustHandles="1" noChangeArrowheads="1" noChangeShapeType="1" noTextEdit="1"/>
              </p:cNvSpPr>
              <p:nvPr/>
            </p:nvSpPr>
            <p:spPr>
              <a:xfrm>
                <a:off x="958788" y="2317072"/>
                <a:ext cx="7723573" cy="3054491"/>
              </a:xfrm>
              <a:prstGeom prst="rect">
                <a:avLst/>
              </a:prstGeom>
              <a:blipFill>
                <a:blip r:embed="rId3"/>
                <a:stretch>
                  <a:fillRect l="-1184" t="-1597" b="-1796"/>
                </a:stretch>
              </a:blipFill>
            </p:spPr>
            <p:txBody>
              <a:bodyPr/>
              <a:lstStyle/>
              <a:p>
                <a:r>
                  <a:rPr lang="en-AU">
                    <a:noFill/>
                  </a:rPr>
                  <a:t> </a:t>
                </a:r>
              </a:p>
            </p:txBody>
          </p:sp>
        </mc:Fallback>
      </mc:AlternateContent>
    </p:spTree>
    <p:extLst>
      <p:ext uri="{BB962C8B-B14F-4D97-AF65-F5344CB8AC3E}">
        <p14:creationId xmlns:p14="http://schemas.microsoft.com/office/powerpoint/2010/main" val="2022911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E911E39-38B7-4ABD-9442-19DA45689ACB}"/>
                  </a:ext>
                </a:extLst>
              </p:cNvPr>
              <p:cNvSpPr>
                <a:spLocks noGrp="1"/>
              </p:cNvSpPr>
              <p:nvPr>
                <p:ph idx="1"/>
              </p:nvPr>
            </p:nvSpPr>
            <p:spPr>
              <a:xfrm>
                <a:off x="790114" y="429827"/>
                <a:ext cx="8353886" cy="1443361"/>
              </a:xfrm>
            </p:spPr>
            <p:txBody>
              <a:bodyPr/>
              <a:lstStyle/>
              <a:p>
                <a:pPr marL="0" indent="0">
                  <a:buNone/>
                </a:pPr>
                <a:r>
                  <a:rPr lang="en-AU" dirty="0">
                    <a:solidFill>
                      <a:schemeClr val="accent5">
                        <a:lumMod val="10000"/>
                      </a:schemeClr>
                    </a:solidFill>
                  </a:rPr>
                  <a:t>Question:  What minimum frequency of light is needed to eject electrons from a metal whose work function is </a:t>
                </a:r>
                <a14:m>
                  <m:oMath xmlns:m="http://schemas.openxmlformats.org/officeDocument/2006/math">
                    <m:r>
                      <a:rPr lang="en-AU" b="0" i="1" smtClean="0">
                        <a:solidFill>
                          <a:schemeClr val="accent5">
                            <a:lumMod val="10000"/>
                          </a:schemeClr>
                        </a:solidFill>
                        <a:latin typeface="Cambria Math" panose="02040503050406030204" pitchFamily="18" charset="0"/>
                      </a:rPr>
                      <m:t>4.3</m:t>
                    </m:r>
                    <m:r>
                      <a:rPr lang="en-AU" b="0" i="1" smtClean="0">
                        <a:solidFill>
                          <a:schemeClr val="accent5">
                            <a:lumMod val="10000"/>
                          </a:schemeClr>
                        </a:solidFill>
                        <a:latin typeface="Cambria Math" panose="02040503050406030204" pitchFamily="18" charset="0"/>
                        <a:ea typeface="Cambria Math" panose="02040503050406030204" pitchFamily="18" charset="0"/>
                      </a:rPr>
                      <m:t>×</m:t>
                    </m:r>
                    <m:sSup>
                      <m:sSupPr>
                        <m:ctrlPr>
                          <a:rPr lang="en-AU"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b="0" i="1" smtClean="0">
                            <a:solidFill>
                              <a:schemeClr val="accent5">
                                <a:lumMod val="10000"/>
                              </a:schemeClr>
                            </a:solidFill>
                            <a:latin typeface="Cambria Math" panose="02040503050406030204" pitchFamily="18" charset="0"/>
                            <a:ea typeface="Cambria Math" panose="02040503050406030204" pitchFamily="18" charset="0"/>
                          </a:rPr>
                          <m:t>−19</m:t>
                        </m:r>
                      </m:sup>
                    </m:sSup>
                    <m:r>
                      <a:rPr lang="en-AU" b="0" i="1" smtClean="0">
                        <a:solidFill>
                          <a:schemeClr val="accent5">
                            <a:lumMod val="10000"/>
                          </a:schemeClr>
                        </a:solidFill>
                        <a:latin typeface="Cambria Math" panose="02040503050406030204" pitchFamily="18" charset="0"/>
                        <a:ea typeface="Cambria Math" panose="02040503050406030204" pitchFamily="18" charset="0"/>
                      </a:rPr>
                      <m:t>𝐽</m:t>
                    </m:r>
                  </m:oMath>
                </a14:m>
                <a:endParaRPr lang="en-AU" dirty="0">
                  <a:solidFill>
                    <a:schemeClr val="accent5">
                      <a:lumMod val="10000"/>
                    </a:schemeClr>
                  </a:solidFill>
                </a:endParaRPr>
              </a:p>
            </p:txBody>
          </p:sp>
        </mc:Choice>
        <mc:Fallback xmlns="">
          <p:sp>
            <p:nvSpPr>
              <p:cNvPr id="3" name="Content Placeholder 2">
                <a:extLst>
                  <a:ext uri="{FF2B5EF4-FFF2-40B4-BE49-F238E27FC236}">
                    <a16:creationId xmlns:a16="http://schemas.microsoft.com/office/drawing/2014/main" id="{CE911E39-38B7-4ABD-9442-19DA45689ACB}"/>
                  </a:ext>
                </a:extLst>
              </p:cNvPr>
              <p:cNvSpPr>
                <a:spLocks noGrp="1" noRot="1" noChangeAspect="1" noMove="1" noResize="1" noEditPoints="1" noAdjustHandles="1" noChangeArrowheads="1" noChangeShapeType="1" noTextEdit="1"/>
              </p:cNvSpPr>
              <p:nvPr>
                <p:ph idx="1"/>
              </p:nvPr>
            </p:nvSpPr>
            <p:spPr>
              <a:xfrm>
                <a:off x="790114" y="429827"/>
                <a:ext cx="8353886" cy="1443361"/>
              </a:xfrm>
              <a:blipFill>
                <a:blip r:embed="rId2"/>
                <a:stretch>
                  <a:fillRect l="-1168"/>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3959377-25D7-45CB-B3EE-FA86E5B0C843}"/>
                  </a:ext>
                </a:extLst>
              </p:cNvPr>
              <p:cNvSpPr txBox="1"/>
              <p:nvPr/>
            </p:nvSpPr>
            <p:spPr>
              <a:xfrm>
                <a:off x="923278" y="2077375"/>
                <a:ext cx="7741328" cy="3785652"/>
              </a:xfrm>
              <a:prstGeom prst="rect">
                <a:avLst/>
              </a:prstGeom>
              <a:noFill/>
            </p:spPr>
            <p:txBody>
              <a:bodyPr wrap="square" rtlCol="0">
                <a:spAutoFit/>
              </a:bodyPr>
              <a:lstStyle/>
              <a:p>
                <a:r>
                  <a:rPr lang="en-AU" sz="2400" dirty="0">
                    <a:solidFill>
                      <a:schemeClr val="accent5">
                        <a:lumMod val="10000"/>
                      </a:schemeClr>
                    </a:solidFill>
                  </a:rPr>
                  <a:t>Answer:  At threshold frequency, the kinetic energy of photoelectrons , so we have:</a:t>
                </a:r>
              </a:p>
              <a:p>
                <a:pPr/>
                <a14:m>
                  <m:oMathPara xmlns:m="http://schemas.openxmlformats.org/officeDocument/2006/math">
                    <m:oMathParaPr>
                      <m:jc m:val="centerGroup"/>
                    </m:oMathParaPr>
                    <m:oMath xmlns:m="http://schemas.openxmlformats.org/officeDocument/2006/math">
                      <m:sSub>
                        <m:sSubPr>
                          <m:ctrlPr>
                            <a:rPr lang="en-AU" sz="2400" b="0" i="1" smtClean="0">
                              <a:solidFill>
                                <a:schemeClr val="accent5">
                                  <a:lumMod val="10000"/>
                                </a:schemeClr>
                              </a:solidFill>
                              <a:latin typeface="Cambria Math" panose="02040503050406030204" pitchFamily="18" charset="0"/>
                            </a:rPr>
                          </m:ctrlPr>
                        </m:sSubPr>
                        <m:e>
                          <m:r>
                            <a:rPr lang="en-AU" sz="2400" b="0" i="1" smtClean="0">
                              <a:solidFill>
                                <a:schemeClr val="accent5">
                                  <a:lumMod val="10000"/>
                                </a:schemeClr>
                              </a:solidFill>
                              <a:latin typeface="Cambria Math" panose="02040503050406030204" pitchFamily="18" charset="0"/>
                            </a:rPr>
                            <m:t>𝐸</m:t>
                          </m:r>
                        </m:e>
                        <m:sub>
                          <m:r>
                            <a:rPr lang="en-AU" sz="2400" b="0" i="1" smtClean="0">
                              <a:solidFill>
                                <a:schemeClr val="accent5">
                                  <a:lumMod val="10000"/>
                                </a:schemeClr>
                              </a:solidFill>
                              <a:latin typeface="Cambria Math" panose="02040503050406030204" pitchFamily="18" charset="0"/>
                            </a:rPr>
                            <m:t>𝑘</m:t>
                          </m:r>
                        </m:sub>
                      </m:sSub>
                      <m:r>
                        <a:rPr lang="en-AU" sz="2400" b="0" i="1" smtClean="0">
                          <a:solidFill>
                            <a:schemeClr val="accent5">
                              <a:lumMod val="10000"/>
                            </a:schemeClr>
                          </a:solidFill>
                          <a:latin typeface="Cambria Math" panose="02040503050406030204" pitchFamily="18" charset="0"/>
                        </a:rPr>
                        <m:t>=</m:t>
                      </m:r>
                      <m:r>
                        <a:rPr lang="en-AU" sz="2400" b="0" i="1" smtClean="0">
                          <a:solidFill>
                            <a:schemeClr val="accent5">
                              <a:lumMod val="10000"/>
                            </a:schemeClr>
                          </a:solidFill>
                          <a:latin typeface="Cambria Math" panose="02040503050406030204" pitchFamily="18" charset="0"/>
                        </a:rPr>
                        <m:t>h𝑓</m:t>
                      </m:r>
                      <m:r>
                        <a:rPr lang="en-AU" sz="2400" b="0" i="1" smtClean="0">
                          <a:solidFill>
                            <a:schemeClr val="accent5">
                              <a:lumMod val="10000"/>
                            </a:schemeClr>
                          </a:solidFill>
                          <a:latin typeface="Cambria Math" panose="02040503050406030204" pitchFamily="18" charset="0"/>
                        </a:rPr>
                        <m:t>−</m:t>
                      </m:r>
                      <m:r>
                        <a:rPr lang="en-AU" sz="2400" b="0" i="1" smtClean="0">
                          <a:solidFill>
                            <a:schemeClr val="accent5">
                              <a:lumMod val="10000"/>
                            </a:schemeClr>
                          </a:solidFill>
                          <a:latin typeface="Cambria Math" panose="02040503050406030204" pitchFamily="18" charset="0"/>
                        </a:rPr>
                        <m:t>𝑊</m:t>
                      </m:r>
                      <m:r>
                        <a:rPr lang="en-AU" sz="2400" b="0" i="1" smtClean="0">
                          <a:solidFill>
                            <a:schemeClr val="accent5">
                              <a:lumMod val="10000"/>
                            </a:schemeClr>
                          </a:solidFill>
                          <a:latin typeface="Cambria Math" panose="02040503050406030204" pitchFamily="18" charset="0"/>
                        </a:rPr>
                        <m:t>=0</m:t>
                      </m:r>
                    </m:oMath>
                  </m:oMathPara>
                </a14:m>
                <a:endParaRPr lang="en-AU" sz="2400" b="0" dirty="0">
                  <a:solidFill>
                    <a:schemeClr val="accent5">
                      <a:lumMod val="10000"/>
                    </a:schemeClr>
                  </a:solidFill>
                </a:endParaRPr>
              </a:p>
              <a:p>
                <a:endParaRPr lang="en-AU" sz="2400" dirty="0">
                  <a:solidFill>
                    <a:schemeClr val="accent5">
                      <a:lumMod val="10000"/>
                    </a:schemeClr>
                  </a:solidFill>
                </a:endParaRPr>
              </a:p>
              <a:p>
                <a:pPr/>
                <a14:m>
                  <m:oMathPara xmlns:m="http://schemas.openxmlformats.org/officeDocument/2006/math">
                    <m:oMathParaPr>
                      <m:jc m:val="centerGroup"/>
                    </m:oMathParaPr>
                    <m:oMath xmlns:m="http://schemas.openxmlformats.org/officeDocument/2006/math">
                      <m:r>
                        <a:rPr lang="en-AU" sz="2400" b="0" i="1" smtClean="0">
                          <a:solidFill>
                            <a:schemeClr val="accent5">
                              <a:lumMod val="10000"/>
                            </a:schemeClr>
                          </a:solidFill>
                          <a:latin typeface="Cambria Math" panose="02040503050406030204" pitchFamily="18" charset="0"/>
                        </a:rPr>
                        <m:t>h</m:t>
                      </m:r>
                      <m:sSub>
                        <m:sSubPr>
                          <m:ctrlPr>
                            <a:rPr lang="en-AU" sz="2400" b="0" i="1" smtClean="0">
                              <a:solidFill>
                                <a:schemeClr val="accent5">
                                  <a:lumMod val="10000"/>
                                </a:schemeClr>
                              </a:solidFill>
                              <a:latin typeface="Cambria Math" panose="02040503050406030204" pitchFamily="18" charset="0"/>
                            </a:rPr>
                          </m:ctrlPr>
                        </m:sSubPr>
                        <m:e>
                          <m:r>
                            <a:rPr lang="en-AU" sz="2400" b="0" i="1" smtClean="0">
                              <a:solidFill>
                                <a:schemeClr val="accent5">
                                  <a:lumMod val="10000"/>
                                </a:schemeClr>
                              </a:solidFill>
                              <a:latin typeface="Cambria Math" panose="02040503050406030204" pitchFamily="18" charset="0"/>
                            </a:rPr>
                            <m:t>𝑓</m:t>
                          </m:r>
                        </m:e>
                        <m:sub>
                          <m:r>
                            <a:rPr lang="en-AU" sz="2400" b="0" i="1" smtClean="0">
                              <a:solidFill>
                                <a:schemeClr val="accent5">
                                  <a:lumMod val="10000"/>
                                </a:schemeClr>
                              </a:solidFill>
                              <a:latin typeface="Cambria Math" panose="02040503050406030204" pitchFamily="18" charset="0"/>
                            </a:rPr>
                            <m:t>𝑚𝑖𝑛𝑖𝑚𝑢𝑚</m:t>
                          </m:r>
                        </m:sub>
                      </m:sSub>
                      <m:r>
                        <a:rPr lang="en-AU" sz="2400" b="0" i="1" smtClean="0">
                          <a:solidFill>
                            <a:schemeClr val="accent5">
                              <a:lumMod val="10000"/>
                            </a:schemeClr>
                          </a:solidFill>
                          <a:latin typeface="Cambria Math" panose="02040503050406030204" pitchFamily="18" charset="0"/>
                        </a:rPr>
                        <m:t>=</m:t>
                      </m:r>
                      <m:r>
                        <a:rPr lang="en-AU" sz="2400" b="0" i="1" smtClean="0">
                          <a:solidFill>
                            <a:schemeClr val="accent5">
                              <a:lumMod val="10000"/>
                            </a:schemeClr>
                          </a:solidFill>
                          <a:latin typeface="Cambria Math" panose="02040503050406030204" pitchFamily="18" charset="0"/>
                        </a:rPr>
                        <m:t>𝑊</m:t>
                      </m:r>
                    </m:oMath>
                  </m:oMathPara>
                </a14:m>
                <a:endParaRPr lang="en-AU" sz="2400" b="0" dirty="0">
                  <a:solidFill>
                    <a:schemeClr val="accent5">
                      <a:lumMod val="10000"/>
                    </a:schemeClr>
                  </a:solidFill>
                </a:endParaRPr>
              </a:p>
              <a:p>
                <a:endParaRPr lang="en-AU" sz="2400" dirty="0">
                  <a:solidFill>
                    <a:schemeClr val="accent5">
                      <a:lumMod val="10000"/>
                    </a:schemeClr>
                  </a:solidFill>
                </a:endParaRPr>
              </a:p>
              <a:p>
                <a:pPr/>
                <a14:m>
                  <m:oMathPara xmlns:m="http://schemas.openxmlformats.org/officeDocument/2006/math">
                    <m:oMathParaPr>
                      <m:jc m:val="centerGroup"/>
                    </m:oMathParaPr>
                    <m:oMath xmlns:m="http://schemas.openxmlformats.org/officeDocument/2006/math">
                      <m:d>
                        <m:dPr>
                          <m:ctrlPr>
                            <a:rPr lang="en-AU" sz="2400" b="0" i="1" smtClean="0">
                              <a:solidFill>
                                <a:schemeClr val="accent5">
                                  <a:lumMod val="10000"/>
                                </a:schemeClr>
                              </a:solidFill>
                              <a:latin typeface="Cambria Math" panose="02040503050406030204" pitchFamily="18" charset="0"/>
                            </a:rPr>
                          </m:ctrlPr>
                        </m:dPr>
                        <m:e>
                          <m:r>
                            <a:rPr lang="en-AU" sz="2400" b="0" i="1" smtClean="0">
                              <a:solidFill>
                                <a:schemeClr val="accent5">
                                  <a:lumMod val="10000"/>
                                </a:schemeClr>
                              </a:solidFill>
                              <a:latin typeface="Cambria Math" panose="02040503050406030204" pitchFamily="18" charset="0"/>
                            </a:rPr>
                            <m:t>6.63</m:t>
                          </m:r>
                          <m:r>
                            <a:rPr lang="en-AU" sz="2400" b="0" i="1" smtClean="0">
                              <a:solidFill>
                                <a:schemeClr val="accent5">
                                  <a:lumMod val="10000"/>
                                </a:schemeClr>
                              </a:solidFill>
                              <a:latin typeface="Cambria Math" panose="02040503050406030204" pitchFamily="18" charset="0"/>
                              <a:ea typeface="Cambria Math" panose="02040503050406030204" pitchFamily="18" charset="0"/>
                            </a:rPr>
                            <m:t>×</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−34</m:t>
                              </m:r>
                            </m:sup>
                          </m:sSup>
                        </m:e>
                      </m:d>
                      <m:r>
                        <a:rPr lang="en-AU" sz="2400" b="0" i="1" smtClean="0">
                          <a:solidFill>
                            <a:schemeClr val="accent5">
                              <a:lumMod val="10000"/>
                            </a:schemeClr>
                          </a:solidFill>
                          <a:latin typeface="Cambria Math" panose="02040503050406030204" pitchFamily="18" charset="0"/>
                          <a:ea typeface="Cambria Math" panose="02040503050406030204" pitchFamily="18" charset="0"/>
                        </a:rPr>
                        <m:t>𝑓</m:t>
                      </m:r>
                      <m:r>
                        <a:rPr lang="en-AU" sz="2400" b="0" i="1" smtClean="0">
                          <a:solidFill>
                            <a:schemeClr val="accent5">
                              <a:lumMod val="10000"/>
                            </a:schemeClr>
                          </a:solidFill>
                          <a:latin typeface="Cambria Math" panose="02040503050406030204" pitchFamily="18" charset="0"/>
                          <a:ea typeface="Cambria Math" panose="02040503050406030204" pitchFamily="18" charset="0"/>
                        </a:rPr>
                        <m:t>=4.3×</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−19</m:t>
                          </m:r>
                        </m:sup>
                      </m:sSup>
                    </m:oMath>
                  </m:oMathPara>
                </a14:m>
                <a:endParaRPr lang="en-AU" sz="2400" b="0" dirty="0">
                  <a:solidFill>
                    <a:schemeClr val="accent5">
                      <a:lumMod val="10000"/>
                    </a:schemeClr>
                  </a:solidFill>
                  <a:ea typeface="Cambria Math" panose="02040503050406030204" pitchFamily="18" charset="0"/>
                </a:endParaRPr>
              </a:p>
              <a:p>
                <a:endParaRPr lang="en-AU" sz="2400" dirty="0">
                  <a:solidFill>
                    <a:schemeClr val="accent5">
                      <a:lumMod val="10000"/>
                    </a:schemeClr>
                  </a:solidFill>
                </a:endParaRPr>
              </a:p>
              <a:p>
                <a:pPr/>
                <a14:m>
                  <m:oMathPara xmlns:m="http://schemas.openxmlformats.org/officeDocument/2006/math">
                    <m:oMathParaPr>
                      <m:jc m:val="centerGroup"/>
                    </m:oMathParaPr>
                    <m:oMath xmlns:m="http://schemas.openxmlformats.org/officeDocument/2006/math">
                      <m:r>
                        <a:rPr lang="en-AU" sz="2400" b="0" i="1" smtClean="0">
                          <a:solidFill>
                            <a:schemeClr val="accent5">
                              <a:lumMod val="10000"/>
                            </a:schemeClr>
                          </a:solidFill>
                          <a:latin typeface="Cambria Math" panose="02040503050406030204" pitchFamily="18" charset="0"/>
                        </a:rPr>
                        <m:t>𝑓</m:t>
                      </m:r>
                      <m:r>
                        <a:rPr lang="en-AU" sz="2400" b="0" i="1" smtClean="0">
                          <a:solidFill>
                            <a:schemeClr val="accent5">
                              <a:lumMod val="10000"/>
                            </a:schemeClr>
                          </a:solidFill>
                          <a:latin typeface="Cambria Math" panose="02040503050406030204" pitchFamily="18" charset="0"/>
                        </a:rPr>
                        <m:t>=6.49×</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14</m:t>
                          </m:r>
                        </m:sup>
                      </m:sSup>
                      <m:r>
                        <a:rPr lang="en-AU" sz="2400" b="0" i="1" smtClean="0">
                          <a:solidFill>
                            <a:schemeClr val="accent5">
                              <a:lumMod val="10000"/>
                            </a:schemeClr>
                          </a:solidFill>
                          <a:latin typeface="Cambria Math" panose="02040503050406030204" pitchFamily="18" charset="0"/>
                          <a:ea typeface="Cambria Math" panose="02040503050406030204" pitchFamily="18" charset="0"/>
                        </a:rPr>
                        <m:t>  </m:t>
                      </m:r>
                      <m:r>
                        <a:rPr lang="en-AU" sz="2400" b="0" i="1" smtClean="0">
                          <a:solidFill>
                            <a:schemeClr val="accent5">
                              <a:lumMod val="10000"/>
                            </a:schemeClr>
                          </a:solidFill>
                          <a:latin typeface="Cambria Math" panose="02040503050406030204" pitchFamily="18" charset="0"/>
                          <a:ea typeface="Cambria Math" panose="02040503050406030204" pitchFamily="18" charset="0"/>
                        </a:rPr>
                        <m:t>𝐻𝑧</m:t>
                      </m:r>
                    </m:oMath>
                  </m:oMathPara>
                </a14:m>
                <a:endParaRPr lang="en-AU" sz="2400" b="0" dirty="0">
                  <a:solidFill>
                    <a:schemeClr val="accent5">
                      <a:lumMod val="10000"/>
                    </a:schemeClr>
                  </a:solidFill>
                  <a:ea typeface="Cambria Math" panose="02040503050406030204" pitchFamily="18" charset="0"/>
                </a:endParaRPr>
              </a:p>
              <a:p>
                <a:endParaRPr lang="en-AU" sz="2400" dirty="0">
                  <a:solidFill>
                    <a:schemeClr val="accent5">
                      <a:lumMod val="10000"/>
                    </a:schemeClr>
                  </a:solidFill>
                </a:endParaRPr>
              </a:p>
            </p:txBody>
          </p:sp>
        </mc:Choice>
        <mc:Fallback xmlns="">
          <p:sp>
            <p:nvSpPr>
              <p:cNvPr id="4" name="TextBox 3">
                <a:extLst>
                  <a:ext uri="{FF2B5EF4-FFF2-40B4-BE49-F238E27FC236}">
                    <a16:creationId xmlns:a16="http://schemas.microsoft.com/office/drawing/2014/main" id="{43959377-25D7-45CB-B3EE-FA86E5B0C843}"/>
                  </a:ext>
                </a:extLst>
              </p:cNvPr>
              <p:cNvSpPr txBox="1">
                <a:spLocks noRot="1" noChangeAspect="1" noMove="1" noResize="1" noEditPoints="1" noAdjustHandles="1" noChangeArrowheads="1" noChangeShapeType="1" noTextEdit="1"/>
              </p:cNvSpPr>
              <p:nvPr/>
            </p:nvSpPr>
            <p:spPr>
              <a:xfrm>
                <a:off x="923278" y="2077375"/>
                <a:ext cx="7741328" cy="3785652"/>
              </a:xfrm>
              <a:prstGeom prst="rect">
                <a:avLst/>
              </a:prstGeom>
              <a:blipFill>
                <a:blip r:embed="rId3"/>
                <a:stretch>
                  <a:fillRect l="-1181" t="-1288"/>
                </a:stretch>
              </a:blipFill>
            </p:spPr>
            <p:txBody>
              <a:bodyPr/>
              <a:lstStyle/>
              <a:p>
                <a:r>
                  <a:rPr lang="en-AU">
                    <a:noFill/>
                  </a:rPr>
                  <a:t> </a:t>
                </a:r>
              </a:p>
            </p:txBody>
          </p:sp>
        </mc:Fallback>
      </mc:AlternateContent>
    </p:spTree>
    <p:extLst>
      <p:ext uri="{BB962C8B-B14F-4D97-AF65-F5344CB8AC3E}">
        <p14:creationId xmlns:p14="http://schemas.microsoft.com/office/powerpoint/2010/main" val="2910761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BD4D5B4-048B-4FEC-BEC1-CC8DC57E3312}"/>
                  </a:ext>
                </a:extLst>
              </p:cNvPr>
              <p:cNvSpPr>
                <a:spLocks noGrp="1"/>
              </p:cNvSpPr>
              <p:nvPr>
                <p:ph idx="1"/>
              </p:nvPr>
            </p:nvSpPr>
            <p:spPr>
              <a:xfrm>
                <a:off x="656948" y="74721"/>
                <a:ext cx="8700115" cy="3332816"/>
              </a:xfrm>
            </p:spPr>
            <p:txBody>
              <a:bodyPr/>
              <a:lstStyle/>
              <a:p>
                <a:pPr marL="0" indent="0">
                  <a:buNone/>
                </a:pPr>
                <a:r>
                  <a:rPr lang="en-AU" dirty="0">
                    <a:solidFill>
                      <a:schemeClr val="accent5">
                        <a:lumMod val="10000"/>
                      </a:schemeClr>
                    </a:solidFill>
                  </a:rPr>
                  <a:t>Question: Suppose that photons of light of energy </a:t>
                </a:r>
                <a14:m>
                  <m:oMath xmlns:m="http://schemas.openxmlformats.org/officeDocument/2006/math">
                    <m:r>
                      <a:rPr lang="en-AU" b="0" i="1" smtClean="0">
                        <a:solidFill>
                          <a:schemeClr val="accent5">
                            <a:lumMod val="10000"/>
                          </a:schemeClr>
                        </a:solidFill>
                        <a:latin typeface="Cambria Math" panose="02040503050406030204" pitchFamily="18" charset="0"/>
                      </a:rPr>
                      <m:t>3.66</m:t>
                    </m:r>
                    <m:r>
                      <a:rPr lang="en-AU" b="0" i="1" smtClean="0">
                        <a:solidFill>
                          <a:schemeClr val="accent5">
                            <a:lumMod val="10000"/>
                          </a:schemeClr>
                        </a:solidFill>
                        <a:latin typeface="Cambria Math" panose="02040503050406030204" pitchFamily="18" charset="0"/>
                        <a:ea typeface="Cambria Math" panose="02040503050406030204" pitchFamily="18" charset="0"/>
                      </a:rPr>
                      <m:t>×</m:t>
                    </m:r>
                    <m:sSup>
                      <m:sSupPr>
                        <m:ctrlPr>
                          <a:rPr lang="en-AU"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b="0" i="1" smtClean="0">
                            <a:solidFill>
                              <a:schemeClr val="accent5">
                                <a:lumMod val="10000"/>
                              </a:schemeClr>
                            </a:solidFill>
                            <a:latin typeface="Cambria Math" panose="02040503050406030204" pitchFamily="18" charset="0"/>
                            <a:ea typeface="Cambria Math" panose="02040503050406030204" pitchFamily="18" charset="0"/>
                          </a:rPr>
                          <m:t>−19</m:t>
                        </m:r>
                      </m:sup>
                    </m:sSup>
                    <m:r>
                      <a:rPr lang="en-AU" b="0" i="1" smtClean="0">
                        <a:solidFill>
                          <a:schemeClr val="accent5">
                            <a:lumMod val="10000"/>
                          </a:schemeClr>
                        </a:solidFill>
                        <a:latin typeface="Cambria Math" panose="02040503050406030204" pitchFamily="18" charset="0"/>
                        <a:ea typeface="Cambria Math" panose="02040503050406030204" pitchFamily="18" charset="0"/>
                      </a:rPr>
                      <m:t>𝐽</m:t>
                    </m:r>
                  </m:oMath>
                </a14:m>
                <a:r>
                  <a:rPr lang="en-AU" dirty="0">
                    <a:solidFill>
                      <a:schemeClr val="accent5">
                        <a:lumMod val="10000"/>
                      </a:schemeClr>
                    </a:solidFill>
                  </a:rPr>
                  <a:t> illuminate the surface of a block of metal which has a work function of </a:t>
                </a:r>
                <a14:m>
                  <m:oMath xmlns:m="http://schemas.openxmlformats.org/officeDocument/2006/math">
                    <m:r>
                      <a:rPr lang="en-AU" b="0" i="1" smtClean="0">
                        <a:solidFill>
                          <a:schemeClr val="accent5">
                            <a:lumMod val="10000"/>
                          </a:schemeClr>
                        </a:solidFill>
                        <a:latin typeface="Cambria Math" panose="02040503050406030204" pitchFamily="18" charset="0"/>
                      </a:rPr>
                      <m:t>2.64</m:t>
                    </m:r>
                    <m:r>
                      <a:rPr lang="en-AU" b="0" i="1" smtClean="0">
                        <a:solidFill>
                          <a:schemeClr val="accent5">
                            <a:lumMod val="10000"/>
                          </a:schemeClr>
                        </a:solidFill>
                        <a:latin typeface="Cambria Math" panose="02040503050406030204" pitchFamily="18" charset="0"/>
                        <a:ea typeface="Cambria Math" panose="02040503050406030204" pitchFamily="18" charset="0"/>
                      </a:rPr>
                      <m:t>×</m:t>
                    </m:r>
                    <m:sSup>
                      <m:sSupPr>
                        <m:ctrlPr>
                          <a:rPr lang="en-AU"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b="0" i="1" smtClean="0">
                            <a:solidFill>
                              <a:schemeClr val="accent5">
                                <a:lumMod val="10000"/>
                              </a:schemeClr>
                            </a:solidFill>
                            <a:latin typeface="Cambria Math" panose="02040503050406030204" pitchFamily="18" charset="0"/>
                            <a:ea typeface="Cambria Math" panose="02040503050406030204" pitchFamily="18" charset="0"/>
                          </a:rPr>
                          <m:t>−19</m:t>
                        </m:r>
                      </m:sup>
                    </m:sSup>
                    <m:r>
                      <a:rPr lang="en-AU" b="0" i="1" smtClean="0">
                        <a:solidFill>
                          <a:schemeClr val="accent5">
                            <a:lumMod val="10000"/>
                          </a:schemeClr>
                        </a:solidFill>
                        <a:latin typeface="Cambria Math" panose="02040503050406030204" pitchFamily="18" charset="0"/>
                        <a:ea typeface="Cambria Math" panose="02040503050406030204" pitchFamily="18" charset="0"/>
                      </a:rPr>
                      <m:t>𝐽</m:t>
                    </m:r>
                  </m:oMath>
                </a14:m>
                <a:r>
                  <a:rPr lang="en-AU" dirty="0">
                    <a:solidFill>
                      <a:schemeClr val="accent5">
                        <a:lumMod val="10000"/>
                      </a:schemeClr>
                    </a:solidFill>
                  </a:rPr>
                  <a:t>.</a:t>
                </a:r>
              </a:p>
              <a:p>
                <a:pPr marL="457200" indent="-457200">
                  <a:buAutoNum type="alphaLcParenR"/>
                </a:pPr>
                <a:r>
                  <a:rPr lang="en-AU" dirty="0">
                    <a:solidFill>
                      <a:schemeClr val="accent5">
                        <a:lumMod val="10000"/>
                      </a:schemeClr>
                    </a:solidFill>
                  </a:rPr>
                  <a:t>What is the kinetic energy possessed by the ejected electrons?</a:t>
                </a:r>
              </a:p>
              <a:p>
                <a:pPr marL="457200" indent="-457200">
                  <a:buAutoNum type="alphaLcParenR"/>
                </a:pPr>
                <a:r>
                  <a:rPr lang="en-AU" dirty="0">
                    <a:solidFill>
                      <a:schemeClr val="accent5">
                        <a:lumMod val="10000"/>
                      </a:schemeClr>
                    </a:solidFill>
                  </a:rPr>
                  <a:t>What is the maximum velocity of the emitted electrons?</a:t>
                </a:r>
              </a:p>
            </p:txBody>
          </p:sp>
        </mc:Choice>
        <mc:Fallback xmlns="">
          <p:sp>
            <p:nvSpPr>
              <p:cNvPr id="3" name="Content Placeholder 2">
                <a:extLst>
                  <a:ext uri="{FF2B5EF4-FFF2-40B4-BE49-F238E27FC236}">
                    <a16:creationId xmlns:a16="http://schemas.microsoft.com/office/drawing/2014/main" id="{5BD4D5B4-048B-4FEC-BEC1-CC8DC57E3312}"/>
                  </a:ext>
                </a:extLst>
              </p:cNvPr>
              <p:cNvSpPr>
                <a:spLocks noGrp="1" noRot="1" noChangeAspect="1" noMove="1" noResize="1" noEditPoints="1" noAdjustHandles="1" noChangeArrowheads="1" noChangeShapeType="1" noTextEdit="1"/>
              </p:cNvSpPr>
              <p:nvPr>
                <p:ph idx="1"/>
              </p:nvPr>
            </p:nvSpPr>
            <p:spPr>
              <a:xfrm>
                <a:off x="656948" y="74721"/>
                <a:ext cx="8700115" cy="3332816"/>
              </a:xfrm>
              <a:blipFill>
                <a:blip r:embed="rId2"/>
                <a:stretch>
                  <a:fillRect l="-2102" r="-491"/>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B37695A-0C2F-4F21-874B-4EF94C3E4FCA}"/>
                  </a:ext>
                </a:extLst>
              </p:cNvPr>
              <p:cNvSpPr txBox="1"/>
              <p:nvPr/>
            </p:nvSpPr>
            <p:spPr>
              <a:xfrm>
                <a:off x="727969" y="3098307"/>
                <a:ext cx="7963270" cy="3738459"/>
              </a:xfrm>
              <a:prstGeom prst="rect">
                <a:avLst/>
              </a:prstGeom>
              <a:noFill/>
            </p:spPr>
            <p:txBody>
              <a:bodyPr wrap="square" rtlCol="0">
                <a:spAutoFit/>
              </a:bodyPr>
              <a:lstStyle/>
              <a:p>
                <a:r>
                  <a:rPr lang="en-AU" sz="2400" dirty="0">
                    <a:solidFill>
                      <a:schemeClr val="accent5">
                        <a:lumMod val="10000"/>
                      </a:schemeClr>
                    </a:solidFill>
                  </a:rPr>
                  <a:t>Answer: a)    				</a:t>
                </a:r>
                <a14:m>
                  <m:oMath xmlns:m="http://schemas.openxmlformats.org/officeDocument/2006/math">
                    <m:sSub>
                      <m:sSubPr>
                        <m:ctrlPr>
                          <a:rPr lang="en-AU" sz="2400" i="1">
                            <a:solidFill>
                              <a:schemeClr val="accent5">
                                <a:lumMod val="10000"/>
                              </a:schemeClr>
                            </a:solidFill>
                            <a:latin typeface="Cambria Math" panose="02040503050406030204" pitchFamily="18" charset="0"/>
                          </a:rPr>
                        </m:ctrlPr>
                      </m:sSubPr>
                      <m:e>
                        <m:r>
                          <a:rPr lang="en-AU" sz="2400" i="1">
                            <a:solidFill>
                              <a:schemeClr val="accent5">
                                <a:lumMod val="10000"/>
                              </a:schemeClr>
                            </a:solidFill>
                            <a:latin typeface="Cambria Math" panose="02040503050406030204" pitchFamily="18" charset="0"/>
                          </a:rPr>
                          <m:t>𝐸</m:t>
                        </m:r>
                      </m:e>
                      <m:sub>
                        <m:r>
                          <a:rPr lang="en-AU" sz="2400" i="1">
                            <a:solidFill>
                              <a:schemeClr val="accent5">
                                <a:lumMod val="10000"/>
                              </a:schemeClr>
                            </a:solidFill>
                            <a:latin typeface="Cambria Math" panose="02040503050406030204" pitchFamily="18" charset="0"/>
                          </a:rPr>
                          <m:t>𝑘</m:t>
                        </m:r>
                      </m:sub>
                    </m:sSub>
                    <m:r>
                      <a:rPr lang="en-AU" sz="2400" i="1">
                        <a:solidFill>
                          <a:schemeClr val="accent5">
                            <a:lumMod val="10000"/>
                          </a:schemeClr>
                        </a:solidFill>
                        <a:latin typeface="Cambria Math" panose="02040503050406030204" pitchFamily="18" charset="0"/>
                      </a:rPr>
                      <m:t>=</m:t>
                    </m:r>
                    <m:r>
                      <a:rPr lang="en-AU" sz="2400" i="1" smtClean="0">
                        <a:solidFill>
                          <a:schemeClr val="accent5">
                            <a:lumMod val="10000"/>
                          </a:schemeClr>
                        </a:solidFill>
                        <a:latin typeface="Cambria Math" panose="02040503050406030204" pitchFamily="18" charset="0"/>
                      </a:rPr>
                      <m:t>h</m:t>
                    </m:r>
                    <m:r>
                      <a:rPr lang="en-AU" sz="2400" i="1">
                        <a:solidFill>
                          <a:schemeClr val="accent5">
                            <a:lumMod val="10000"/>
                          </a:schemeClr>
                        </a:solidFill>
                        <a:latin typeface="Cambria Math" panose="02040503050406030204" pitchFamily="18" charset="0"/>
                      </a:rPr>
                      <m:t>𝑓</m:t>
                    </m:r>
                    <m:r>
                      <a:rPr lang="en-AU" sz="2400" i="1">
                        <a:solidFill>
                          <a:schemeClr val="accent5">
                            <a:lumMod val="10000"/>
                          </a:schemeClr>
                        </a:solidFill>
                        <a:latin typeface="Cambria Math" panose="02040503050406030204" pitchFamily="18" charset="0"/>
                      </a:rPr>
                      <m:t>−</m:t>
                    </m:r>
                    <m:r>
                      <a:rPr lang="en-AU" sz="2400" i="1">
                        <a:solidFill>
                          <a:schemeClr val="accent5">
                            <a:lumMod val="10000"/>
                          </a:schemeClr>
                        </a:solidFill>
                        <a:latin typeface="Cambria Math" panose="02040503050406030204" pitchFamily="18" charset="0"/>
                      </a:rPr>
                      <m:t>𝑊</m:t>
                    </m:r>
                  </m:oMath>
                </a14:m>
                <a:endParaRPr lang="en-AU" sz="2400" dirty="0">
                  <a:solidFill>
                    <a:schemeClr val="accent5">
                      <a:lumMod val="10000"/>
                    </a:schemeClr>
                  </a:solidFill>
                </a:endParaRPr>
              </a:p>
              <a:p>
                <a:endParaRPr lang="en-AU" sz="2400" dirty="0">
                  <a:solidFill>
                    <a:schemeClr val="accent5">
                      <a:lumMod val="10000"/>
                    </a:schemeClr>
                  </a:solidFill>
                </a:endParaRPr>
              </a:p>
              <a:p>
                <a:pPr/>
                <a14:m>
                  <m:oMathPara xmlns:m="http://schemas.openxmlformats.org/officeDocument/2006/math">
                    <m:oMathParaPr>
                      <m:jc m:val="centerGroup"/>
                    </m:oMathParaPr>
                    <m:oMath xmlns:m="http://schemas.openxmlformats.org/officeDocument/2006/math">
                      <m:sSub>
                        <m:sSubPr>
                          <m:ctrlPr>
                            <a:rPr lang="en-AU" sz="2400" i="1">
                              <a:solidFill>
                                <a:schemeClr val="accent5">
                                  <a:lumMod val="10000"/>
                                </a:schemeClr>
                              </a:solidFill>
                              <a:latin typeface="Cambria Math" panose="02040503050406030204" pitchFamily="18" charset="0"/>
                            </a:rPr>
                          </m:ctrlPr>
                        </m:sSubPr>
                        <m:e>
                          <m:r>
                            <a:rPr lang="en-AU" sz="2400" i="1">
                              <a:solidFill>
                                <a:schemeClr val="accent5">
                                  <a:lumMod val="10000"/>
                                </a:schemeClr>
                              </a:solidFill>
                              <a:latin typeface="Cambria Math" panose="02040503050406030204" pitchFamily="18" charset="0"/>
                            </a:rPr>
                            <m:t>𝐸</m:t>
                          </m:r>
                        </m:e>
                        <m:sub>
                          <m:r>
                            <a:rPr lang="en-AU" sz="2400" i="1">
                              <a:solidFill>
                                <a:schemeClr val="accent5">
                                  <a:lumMod val="10000"/>
                                </a:schemeClr>
                              </a:solidFill>
                              <a:latin typeface="Cambria Math" panose="02040503050406030204" pitchFamily="18" charset="0"/>
                            </a:rPr>
                            <m:t>𝑘</m:t>
                          </m:r>
                        </m:sub>
                      </m:sSub>
                      <m:r>
                        <a:rPr lang="en-AU" sz="2400" i="1">
                          <a:solidFill>
                            <a:schemeClr val="accent5">
                              <a:lumMod val="10000"/>
                            </a:schemeClr>
                          </a:solidFill>
                          <a:latin typeface="Cambria Math" panose="02040503050406030204" pitchFamily="18" charset="0"/>
                        </a:rPr>
                        <m:t>=</m:t>
                      </m:r>
                      <m:r>
                        <a:rPr lang="en-AU" sz="2400" b="0" i="1" smtClean="0">
                          <a:solidFill>
                            <a:schemeClr val="accent5">
                              <a:lumMod val="10000"/>
                            </a:schemeClr>
                          </a:solidFill>
                          <a:latin typeface="Cambria Math" panose="02040503050406030204" pitchFamily="18" charset="0"/>
                        </a:rPr>
                        <m:t>3.66</m:t>
                      </m:r>
                      <m:r>
                        <a:rPr lang="en-AU" sz="2400" b="0" i="1" smtClean="0">
                          <a:solidFill>
                            <a:schemeClr val="accent5">
                              <a:lumMod val="10000"/>
                            </a:schemeClr>
                          </a:solidFill>
                          <a:latin typeface="Cambria Math" panose="02040503050406030204" pitchFamily="18" charset="0"/>
                          <a:ea typeface="Cambria Math" panose="02040503050406030204" pitchFamily="18" charset="0"/>
                        </a:rPr>
                        <m:t>×</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−19</m:t>
                          </m:r>
                        </m:sup>
                      </m:sSup>
                      <m:r>
                        <a:rPr lang="en-AU" sz="2400" i="1">
                          <a:solidFill>
                            <a:schemeClr val="accent5">
                              <a:lumMod val="10000"/>
                            </a:schemeClr>
                          </a:solidFill>
                          <a:latin typeface="Cambria Math" panose="02040503050406030204" pitchFamily="18" charset="0"/>
                        </a:rPr>
                        <m:t>−</m:t>
                      </m:r>
                      <m:r>
                        <a:rPr lang="en-AU" sz="2400" b="0" i="1" smtClean="0">
                          <a:solidFill>
                            <a:schemeClr val="accent5">
                              <a:lumMod val="10000"/>
                            </a:schemeClr>
                          </a:solidFill>
                          <a:latin typeface="Cambria Math" panose="02040503050406030204" pitchFamily="18" charset="0"/>
                        </a:rPr>
                        <m:t>2.64</m:t>
                      </m:r>
                      <m:r>
                        <a:rPr lang="en-AU" sz="2400" b="0" i="1" smtClean="0">
                          <a:solidFill>
                            <a:schemeClr val="accent5">
                              <a:lumMod val="10000"/>
                            </a:schemeClr>
                          </a:solidFill>
                          <a:latin typeface="Cambria Math" panose="02040503050406030204" pitchFamily="18" charset="0"/>
                          <a:ea typeface="Cambria Math" panose="02040503050406030204" pitchFamily="18" charset="0"/>
                        </a:rPr>
                        <m:t>×</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−19</m:t>
                          </m:r>
                        </m:sup>
                      </m:sSup>
                      <m:r>
                        <a:rPr lang="en-AU" sz="2400" b="0" i="1" smtClean="0">
                          <a:solidFill>
                            <a:schemeClr val="accent5">
                              <a:lumMod val="10000"/>
                            </a:schemeClr>
                          </a:solidFill>
                          <a:latin typeface="Cambria Math" panose="02040503050406030204" pitchFamily="18" charset="0"/>
                          <a:ea typeface="Cambria Math" panose="02040503050406030204" pitchFamily="18" charset="0"/>
                        </a:rPr>
                        <m:t>=1.02×</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−19</m:t>
                          </m:r>
                        </m:sup>
                      </m:sSup>
                      <m:r>
                        <a:rPr lang="en-AU" sz="2400" b="0" i="1" smtClean="0">
                          <a:solidFill>
                            <a:schemeClr val="accent5">
                              <a:lumMod val="10000"/>
                            </a:schemeClr>
                          </a:solidFill>
                          <a:latin typeface="Cambria Math" panose="02040503050406030204" pitchFamily="18" charset="0"/>
                          <a:ea typeface="Cambria Math" panose="02040503050406030204" pitchFamily="18" charset="0"/>
                        </a:rPr>
                        <m:t> </m:t>
                      </m:r>
                      <m:r>
                        <a:rPr lang="en-AU" sz="2400" b="0" i="1" smtClean="0">
                          <a:solidFill>
                            <a:schemeClr val="accent5">
                              <a:lumMod val="10000"/>
                            </a:schemeClr>
                          </a:solidFill>
                          <a:latin typeface="Cambria Math" panose="02040503050406030204" pitchFamily="18" charset="0"/>
                          <a:ea typeface="Cambria Math" panose="02040503050406030204" pitchFamily="18" charset="0"/>
                        </a:rPr>
                        <m:t>𝐽</m:t>
                      </m:r>
                    </m:oMath>
                  </m:oMathPara>
                </a14:m>
                <a:endParaRPr lang="en-AU" sz="2400" b="0" dirty="0">
                  <a:solidFill>
                    <a:schemeClr val="accent5">
                      <a:lumMod val="10000"/>
                    </a:schemeClr>
                  </a:solidFill>
                  <a:ea typeface="Cambria Math" panose="02040503050406030204" pitchFamily="18" charset="0"/>
                </a:endParaRPr>
              </a:p>
              <a:p>
                <a:endParaRPr lang="en-AU" sz="2400" dirty="0">
                  <a:solidFill>
                    <a:schemeClr val="accent5">
                      <a:lumMod val="10000"/>
                    </a:schemeClr>
                  </a:solidFill>
                </a:endParaRPr>
              </a:p>
              <a:p>
                <a:endParaRPr lang="en-AU" sz="2400" dirty="0">
                  <a:solidFill>
                    <a:schemeClr val="accent5">
                      <a:lumMod val="10000"/>
                    </a:schemeClr>
                  </a:solidFill>
                </a:endParaRPr>
              </a:p>
              <a:p>
                <a:r>
                  <a:rPr lang="en-AU" sz="2400" dirty="0">
                    <a:solidFill>
                      <a:schemeClr val="accent5">
                        <a:lumMod val="10000"/>
                      </a:schemeClr>
                    </a:solidFill>
                  </a:rPr>
                  <a:t>   b)     </a:t>
                </a:r>
              </a:p>
              <a:p>
                <a:pPr/>
                <a14:m>
                  <m:oMathPara xmlns:m="http://schemas.openxmlformats.org/officeDocument/2006/math">
                    <m:oMathParaPr>
                      <m:jc m:val="centerGroup"/>
                    </m:oMathParaPr>
                    <m:oMath xmlns:m="http://schemas.openxmlformats.org/officeDocument/2006/math">
                      <m:f>
                        <m:f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fPr>
                        <m:num>
                          <m:r>
                            <a:rPr lang="en-AU" sz="2400" b="0" i="1" smtClean="0">
                              <a:solidFill>
                                <a:schemeClr val="accent5">
                                  <a:lumMod val="10000"/>
                                </a:schemeClr>
                              </a:solidFill>
                              <a:latin typeface="Cambria Math" panose="02040503050406030204" pitchFamily="18" charset="0"/>
                              <a:ea typeface="Cambria Math" panose="02040503050406030204" pitchFamily="18" charset="0"/>
                            </a:rPr>
                            <m:t>1</m:t>
                          </m:r>
                        </m:num>
                        <m:den>
                          <m:r>
                            <a:rPr lang="en-AU" sz="2400" b="0" i="1" smtClean="0">
                              <a:solidFill>
                                <a:schemeClr val="accent5">
                                  <a:lumMod val="10000"/>
                                </a:schemeClr>
                              </a:solidFill>
                              <a:latin typeface="Cambria Math" panose="02040503050406030204" pitchFamily="18" charset="0"/>
                              <a:ea typeface="Cambria Math" panose="02040503050406030204" pitchFamily="18" charset="0"/>
                            </a:rPr>
                            <m:t>2</m:t>
                          </m:r>
                        </m:den>
                      </m:f>
                      <m:r>
                        <a:rPr lang="en-AU" sz="2400" b="0" i="1" smtClean="0">
                          <a:solidFill>
                            <a:schemeClr val="accent5">
                              <a:lumMod val="10000"/>
                            </a:schemeClr>
                          </a:solidFill>
                          <a:latin typeface="Cambria Math" panose="02040503050406030204" pitchFamily="18" charset="0"/>
                          <a:ea typeface="Cambria Math" panose="02040503050406030204" pitchFamily="18" charset="0"/>
                        </a:rPr>
                        <m:t>(9.11×</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−31</m:t>
                          </m:r>
                        </m:sup>
                      </m:sSup>
                      <m:r>
                        <a:rPr lang="en-AU" sz="2400" b="0" i="1" smtClean="0">
                          <a:solidFill>
                            <a:schemeClr val="accent5">
                              <a:lumMod val="10000"/>
                            </a:schemeClr>
                          </a:solidFill>
                          <a:latin typeface="Cambria Math" panose="02040503050406030204" pitchFamily="18" charset="0"/>
                          <a:ea typeface="Cambria Math" panose="02040503050406030204" pitchFamily="18" charset="0"/>
                        </a:rPr>
                        <m:t>)</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𝑣</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2</m:t>
                          </m:r>
                        </m:sup>
                      </m:sSup>
                      <m:r>
                        <a:rPr lang="en-AU" sz="2400" b="0" i="1" smtClean="0">
                          <a:solidFill>
                            <a:schemeClr val="accent5">
                              <a:lumMod val="10000"/>
                            </a:schemeClr>
                          </a:solidFill>
                          <a:latin typeface="Cambria Math" panose="02040503050406030204" pitchFamily="18" charset="0"/>
                          <a:ea typeface="Cambria Math" panose="02040503050406030204" pitchFamily="18" charset="0"/>
                        </a:rPr>
                        <m:t>=</m:t>
                      </m:r>
                      <m:r>
                        <a:rPr lang="en-AU" sz="2400" i="1">
                          <a:solidFill>
                            <a:schemeClr val="accent5">
                              <a:lumMod val="10000"/>
                            </a:schemeClr>
                          </a:solidFill>
                          <a:latin typeface="Cambria Math" panose="02040503050406030204" pitchFamily="18" charset="0"/>
                          <a:ea typeface="Cambria Math" panose="02040503050406030204" pitchFamily="18" charset="0"/>
                        </a:rPr>
                        <m:t>1.02×</m:t>
                      </m:r>
                      <m:sSup>
                        <m:sSupPr>
                          <m:ctrlPr>
                            <a:rPr lang="en-AU" sz="2400" i="1">
                              <a:solidFill>
                                <a:schemeClr val="accent5">
                                  <a:lumMod val="10000"/>
                                </a:schemeClr>
                              </a:solidFill>
                              <a:latin typeface="Cambria Math" panose="02040503050406030204" pitchFamily="18" charset="0"/>
                              <a:ea typeface="Cambria Math" panose="02040503050406030204" pitchFamily="18" charset="0"/>
                            </a:rPr>
                          </m:ctrlPr>
                        </m:sSupPr>
                        <m:e>
                          <m:r>
                            <a:rPr lang="en-AU" sz="2400" i="1">
                              <a:solidFill>
                                <a:schemeClr val="accent5">
                                  <a:lumMod val="10000"/>
                                </a:schemeClr>
                              </a:solidFill>
                              <a:latin typeface="Cambria Math" panose="02040503050406030204" pitchFamily="18" charset="0"/>
                              <a:ea typeface="Cambria Math" panose="02040503050406030204" pitchFamily="18" charset="0"/>
                            </a:rPr>
                            <m:t>10</m:t>
                          </m:r>
                        </m:e>
                        <m:sup>
                          <m:r>
                            <a:rPr lang="en-AU" sz="2400" i="1">
                              <a:solidFill>
                                <a:schemeClr val="accent5">
                                  <a:lumMod val="10000"/>
                                </a:schemeClr>
                              </a:solidFill>
                              <a:latin typeface="Cambria Math" panose="02040503050406030204" pitchFamily="18" charset="0"/>
                              <a:ea typeface="Cambria Math" panose="02040503050406030204" pitchFamily="18" charset="0"/>
                            </a:rPr>
                            <m:t>−19</m:t>
                          </m:r>
                        </m:sup>
                      </m:sSup>
                    </m:oMath>
                  </m:oMathPara>
                </a14:m>
                <a:endParaRPr lang="en-AU" sz="2400" dirty="0">
                  <a:solidFill>
                    <a:schemeClr val="accent5">
                      <a:lumMod val="10000"/>
                    </a:schemeClr>
                  </a:solidFill>
                </a:endParaRPr>
              </a:p>
              <a:p>
                <a:pPr/>
                <a14:m>
                  <m:oMathPara xmlns:m="http://schemas.openxmlformats.org/officeDocument/2006/math">
                    <m:oMathParaPr>
                      <m:jc m:val="centerGroup"/>
                    </m:oMathParaPr>
                    <m:oMath xmlns:m="http://schemas.openxmlformats.org/officeDocument/2006/math">
                      <m:r>
                        <a:rPr lang="en-AU" sz="2400" b="0" i="1" smtClean="0">
                          <a:solidFill>
                            <a:schemeClr val="accent5">
                              <a:lumMod val="10000"/>
                            </a:schemeClr>
                          </a:solidFill>
                          <a:latin typeface="Cambria Math" panose="02040503050406030204" pitchFamily="18" charset="0"/>
                        </a:rPr>
                        <m:t>𝑣</m:t>
                      </m:r>
                      <m:r>
                        <a:rPr lang="en-AU" sz="2400" b="0" i="1" smtClean="0">
                          <a:solidFill>
                            <a:schemeClr val="accent5">
                              <a:lumMod val="10000"/>
                            </a:schemeClr>
                          </a:solidFill>
                          <a:latin typeface="Cambria Math" panose="02040503050406030204" pitchFamily="18" charset="0"/>
                        </a:rPr>
                        <m:t>=4.73×</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5</m:t>
                          </m:r>
                        </m:sup>
                      </m:sSup>
                      <m:r>
                        <a:rPr lang="en-AU" sz="2400" b="0" i="1" smtClean="0">
                          <a:solidFill>
                            <a:schemeClr val="accent5">
                              <a:lumMod val="10000"/>
                            </a:schemeClr>
                          </a:solidFill>
                          <a:latin typeface="Cambria Math" panose="02040503050406030204" pitchFamily="18" charset="0"/>
                          <a:ea typeface="Cambria Math" panose="02040503050406030204" pitchFamily="18" charset="0"/>
                        </a:rPr>
                        <m:t> </m:t>
                      </m:r>
                      <m:r>
                        <a:rPr lang="en-AU" sz="2400" b="0" i="1" smtClean="0">
                          <a:solidFill>
                            <a:schemeClr val="accent5">
                              <a:lumMod val="10000"/>
                            </a:schemeClr>
                          </a:solidFill>
                          <a:latin typeface="Cambria Math" panose="02040503050406030204" pitchFamily="18" charset="0"/>
                          <a:ea typeface="Cambria Math" panose="02040503050406030204" pitchFamily="18" charset="0"/>
                        </a:rPr>
                        <m:t>𝑚</m:t>
                      </m:r>
                      <m:r>
                        <a:rPr lang="en-AU" sz="2400" b="0" i="1" smtClean="0">
                          <a:solidFill>
                            <a:schemeClr val="accent5">
                              <a:lumMod val="10000"/>
                            </a:schemeClr>
                          </a:solidFill>
                          <a:latin typeface="Cambria Math" panose="02040503050406030204" pitchFamily="18" charset="0"/>
                          <a:ea typeface="Cambria Math" panose="02040503050406030204" pitchFamily="18" charset="0"/>
                        </a:rPr>
                        <m:t> </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𝑠</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−1</m:t>
                          </m:r>
                        </m:sup>
                      </m:sSup>
                    </m:oMath>
                  </m:oMathPara>
                </a14:m>
                <a:endParaRPr lang="en-AU" sz="2400" dirty="0">
                  <a:solidFill>
                    <a:schemeClr val="accent5">
                      <a:lumMod val="10000"/>
                    </a:schemeClr>
                  </a:solidFill>
                </a:endParaRPr>
              </a:p>
              <a:p>
                <a:endParaRPr lang="en-AU" sz="2400" dirty="0">
                  <a:solidFill>
                    <a:schemeClr val="accent5">
                      <a:lumMod val="10000"/>
                    </a:schemeClr>
                  </a:solidFill>
                </a:endParaRPr>
              </a:p>
            </p:txBody>
          </p:sp>
        </mc:Choice>
        <mc:Fallback xmlns="">
          <p:sp>
            <p:nvSpPr>
              <p:cNvPr id="4" name="TextBox 3">
                <a:extLst>
                  <a:ext uri="{FF2B5EF4-FFF2-40B4-BE49-F238E27FC236}">
                    <a16:creationId xmlns:a16="http://schemas.microsoft.com/office/drawing/2014/main" id="{3B37695A-0C2F-4F21-874B-4EF94C3E4FCA}"/>
                  </a:ext>
                </a:extLst>
              </p:cNvPr>
              <p:cNvSpPr txBox="1">
                <a:spLocks noRot="1" noChangeAspect="1" noMove="1" noResize="1" noEditPoints="1" noAdjustHandles="1" noChangeArrowheads="1" noChangeShapeType="1" noTextEdit="1"/>
              </p:cNvSpPr>
              <p:nvPr/>
            </p:nvSpPr>
            <p:spPr>
              <a:xfrm>
                <a:off x="727969" y="3098307"/>
                <a:ext cx="7963270" cy="3738459"/>
              </a:xfrm>
              <a:prstGeom prst="rect">
                <a:avLst/>
              </a:prstGeom>
              <a:blipFill>
                <a:blip r:embed="rId3"/>
                <a:stretch>
                  <a:fillRect l="-1148" t="-1303"/>
                </a:stretch>
              </a:blipFill>
            </p:spPr>
            <p:txBody>
              <a:bodyPr/>
              <a:lstStyle/>
              <a:p>
                <a:r>
                  <a:rPr lang="en-AU">
                    <a:noFill/>
                  </a:rPr>
                  <a:t> </a:t>
                </a:r>
              </a:p>
            </p:txBody>
          </p:sp>
        </mc:Fallback>
      </mc:AlternateContent>
    </p:spTree>
    <p:extLst>
      <p:ext uri="{BB962C8B-B14F-4D97-AF65-F5344CB8AC3E}">
        <p14:creationId xmlns:p14="http://schemas.microsoft.com/office/powerpoint/2010/main" val="3267623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43CD41-7C45-4F49-9B2F-395698FE35DA}"/>
                  </a:ext>
                </a:extLst>
              </p:cNvPr>
              <p:cNvSpPr>
                <a:spLocks noGrp="1"/>
              </p:cNvSpPr>
              <p:nvPr>
                <p:ph idx="1"/>
              </p:nvPr>
            </p:nvSpPr>
            <p:spPr>
              <a:xfrm>
                <a:off x="955499" y="83598"/>
                <a:ext cx="7704667" cy="1833979"/>
              </a:xfrm>
            </p:spPr>
            <p:txBody>
              <a:bodyPr/>
              <a:lstStyle/>
              <a:p>
                <a:pPr marL="0" indent="0">
                  <a:buNone/>
                </a:pPr>
                <a:r>
                  <a:rPr lang="en-AU" dirty="0">
                    <a:solidFill>
                      <a:schemeClr val="accent5">
                        <a:lumMod val="10000"/>
                      </a:schemeClr>
                    </a:solidFill>
                  </a:rPr>
                  <a:t>Question:  Sodium metal has a work function of 2.28 eV.  Find the maximum kinetic energy and speed of electrons ejected from a sodium surface, when illuminated by a light of </a:t>
                </a:r>
                <a14:m>
                  <m:oMath xmlns:m="http://schemas.openxmlformats.org/officeDocument/2006/math">
                    <m:r>
                      <a:rPr lang="el-GR" i="1" dirty="0" smtClean="0">
                        <a:solidFill>
                          <a:schemeClr val="accent5">
                            <a:lumMod val="10000"/>
                          </a:schemeClr>
                        </a:solidFill>
                        <a:latin typeface="Cambria Math" panose="02040503050406030204" pitchFamily="18" charset="0"/>
                      </a:rPr>
                      <m:t>𝜆</m:t>
                    </m:r>
                    <m:r>
                      <a:rPr lang="en-AU" b="0" i="1" dirty="0" smtClean="0">
                        <a:solidFill>
                          <a:schemeClr val="accent5">
                            <a:lumMod val="10000"/>
                          </a:schemeClr>
                        </a:solidFill>
                        <a:latin typeface="Cambria Math" panose="02040503050406030204" pitchFamily="18" charset="0"/>
                      </a:rPr>
                      <m:t>=410 </m:t>
                    </m:r>
                    <m:r>
                      <a:rPr lang="en-AU" b="0" i="1" dirty="0" smtClean="0">
                        <a:solidFill>
                          <a:schemeClr val="accent5">
                            <a:lumMod val="10000"/>
                          </a:schemeClr>
                        </a:solidFill>
                        <a:latin typeface="Cambria Math" panose="02040503050406030204" pitchFamily="18" charset="0"/>
                      </a:rPr>
                      <m:t>𝑛𝑚</m:t>
                    </m:r>
                  </m:oMath>
                </a14:m>
                <a:r>
                  <a:rPr lang="en-AU" dirty="0">
                    <a:solidFill>
                      <a:schemeClr val="accent5">
                        <a:lumMod val="10000"/>
                      </a:schemeClr>
                    </a:solidFill>
                  </a:rPr>
                  <a:t>.</a:t>
                </a:r>
              </a:p>
            </p:txBody>
          </p:sp>
        </mc:Choice>
        <mc:Fallback xmlns="">
          <p:sp>
            <p:nvSpPr>
              <p:cNvPr id="3" name="Content Placeholder 2">
                <a:extLst>
                  <a:ext uri="{FF2B5EF4-FFF2-40B4-BE49-F238E27FC236}">
                    <a16:creationId xmlns:a16="http://schemas.microsoft.com/office/drawing/2014/main" id="{2443CD41-7C45-4F49-9B2F-395698FE35DA}"/>
                  </a:ext>
                </a:extLst>
              </p:cNvPr>
              <p:cNvSpPr>
                <a:spLocks noGrp="1" noRot="1" noChangeAspect="1" noMove="1" noResize="1" noEditPoints="1" noAdjustHandles="1" noChangeArrowheads="1" noChangeShapeType="1" noTextEdit="1"/>
              </p:cNvSpPr>
              <p:nvPr>
                <p:ph idx="1"/>
              </p:nvPr>
            </p:nvSpPr>
            <p:spPr>
              <a:xfrm>
                <a:off x="955499" y="83598"/>
                <a:ext cx="7704667" cy="1833979"/>
              </a:xfrm>
              <a:blipFill>
                <a:blip r:embed="rId2"/>
                <a:stretch>
                  <a:fillRect l="-1266"/>
                </a:stretch>
              </a:blipFill>
            </p:spPr>
            <p:txBody>
              <a:bodyPr/>
              <a:lstStyle/>
              <a:p>
                <a:r>
                  <a:rPr lang="en-AU">
                    <a:noFill/>
                  </a:rPr>
                  <a:t> </a:t>
                </a:r>
              </a:p>
            </p:txBody>
          </p:sp>
        </mc:Fallback>
      </mc:AlternateContent>
      <p:pic>
        <p:nvPicPr>
          <p:cNvPr id="5" name="Picture 4">
            <a:extLst>
              <a:ext uri="{FF2B5EF4-FFF2-40B4-BE49-F238E27FC236}">
                <a16:creationId xmlns:a16="http://schemas.microsoft.com/office/drawing/2014/main" id="{79203129-5361-46E5-97ED-94870A24BAB3}"/>
              </a:ext>
            </a:extLst>
          </p:cNvPr>
          <p:cNvPicPr>
            <a:picLocks noChangeAspect="1"/>
          </p:cNvPicPr>
          <p:nvPr/>
        </p:nvPicPr>
        <p:blipFill>
          <a:blip r:embed="rId3"/>
          <a:stretch>
            <a:fillRect/>
          </a:stretch>
        </p:blipFill>
        <p:spPr>
          <a:xfrm>
            <a:off x="6122911" y="4395003"/>
            <a:ext cx="2952750" cy="2400300"/>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18D9591-710C-49A9-B229-ACEB8CE9735F}"/>
                  </a:ext>
                </a:extLst>
              </p:cNvPr>
              <p:cNvSpPr txBox="1"/>
              <p:nvPr/>
            </p:nvSpPr>
            <p:spPr>
              <a:xfrm>
                <a:off x="810441" y="1671965"/>
                <a:ext cx="5565914" cy="5186035"/>
              </a:xfrm>
              <a:prstGeom prst="rect">
                <a:avLst/>
              </a:prstGeom>
              <a:noFill/>
            </p:spPr>
            <p:txBody>
              <a:bodyPr wrap="square" rtlCol="0">
                <a:spAutoFit/>
              </a:bodyPr>
              <a:lstStyle/>
              <a:p>
                <a:r>
                  <a:rPr lang="en-AU" sz="2400" dirty="0">
                    <a:solidFill>
                      <a:schemeClr val="accent5">
                        <a:lumMod val="10000"/>
                      </a:schemeClr>
                    </a:solidFill>
                  </a:rPr>
                  <a:t>Answer: </a:t>
                </a:r>
                <a14:m>
                  <m:oMath xmlns:m="http://schemas.openxmlformats.org/officeDocument/2006/math">
                    <m:sSub>
                      <m:sSubPr>
                        <m:ctrlPr>
                          <a:rPr lang="en-AU" sz="2400" i="1">
                            <a:solidFill>
                              <a:schemeClr val="accent5">
                                <a:lumMod val="10000"/>
                              </a:schemeClr>
                            </a:solidFill>
                            <a:latin typeface="Cambria Math" panose="02040503050406030204" pitchFamily="18" charset="0"/>
                          </a:rPr>
                        </m:ctrlPr>
                      </m:sSubPr>
                      <m:e>
                        <m:r>
                          <a:rPr lang="en-AU" sz="2400" i="1">
                            <a:solidFill>
                              <a:schemeClr val="accent5">
                                <a:lumMod val="10000"/>
                              </a:schemeClr>
                            </a:solidFill>
                            <a:latin typeface="Cambria Math" panose="02040503050406030204" pitchFamily="18" charset="0"/>
                          </a:rPr>
                          <m:t>𝐸</m:t>
                        </m:r>
                      </m:e>
                      <m:sub>
                        <m:r>
                          <a:rPr lang="en-AU" sz="2400" i="1">
                            <a:solidFill>
                              <a:schemeClr val="accent5">
                                <a:lumMod val="10000"/>
                              </a:schemeClr>
                            </a:solidFill>
                            <a:latin typeface="Cambria Math" panose="02040503050406030204" pitchFamily="18" charset="0"/>
                          </a:rPr>
                          <m:t>𝑘</m:t>
                        </m:r>
                      </m:sub>
                    </m:sSub>
                    <m:r>
                      <a:rPr lang="en-AU" sz="2400" i="1">
                        <a:solidFill>
                          <a:schemeClr val="accent5">
                            <a:lumMod val="10000"/>
                          </a:schemeClr>
                        </a:solidFill>
                        <a:latin typeface="Cambria Math" panose="02040503050406030204" pitchFamily="18" charset="0"/>
                      </a:rPr>
                      <m:t>=</m:t>
                    </m:r>
                    <m:r>
                      <a:rPr lang="en-AU" sz="2400" i="1">
                        <a:solidFill>
                          <a:schemeClr val="accent5">
                            <a:lumMod val="10000"/>
                          </a:schemeClr>
                        </a:solidFill>
                        <a:latin typeface="Cambria Math" panose="02040503050406030204" pitchFamily="18" charset="0"/>
                      </a:rPr>
                      <m:t>h𝑓</m:t>
                    </m:r>
                    <m:r>
                      <a:rPr lang="en-AU" sz="2400" i="1">
                        <a:solidFill>
                          <a:schemeClr val="accent5">
                            <a:lumMod val="10000"/>
                          </a:schemeClr>
                        </a:solidFill>
                        <a:latin typeface="Cambria Math" panose="02040503050406030204" pitchFamily="18" charset="0"/>
                      </a:rPr>
                      <m:t>−</m:t>
                    </m:r>
                    <m:r>
                      <a:rPr lang="en-AU" sz="2400" i="1">
                        <a:solidFill>
                          <a:schemeClr val="accent5">
                            <a:lumMod val="10000"/>
                          </a:schemeClr>
                        </a:solidFill>
                        <a:latin typeface="Cambria Math" panose="02040503050406030204" pitchFamily="18" charset="0"/>
                      </a:rPr>
                      <m:t>𝑊</m:t>
                    </m:r>
                  </m:oMath>
                </a14:m>
                <a:endParaRPr lang="en-AU" sz="2400" dirty="0">
                  <a:solidFill>
                    <a:schemeClr val="accent5">
                      <a:lumMod val="10000"/>
                    </a:schemeClr>
                  </a:solidFill>
                </a:endParaRPr>
              </a:p>
              <a:p>
                <a:endParaRPr lang="en-AU" sz="2400" dirty="0">
                  <a:solidFill>
                    <a:schemeClr val="accent5">
                      <a:lumMod val="10000"/>
                    </a:schemeClr>
                  </a:solidFill>
                </a:endParaRPr>
              </a:p>
              <a:p>
                <a:pPr/>
                <a14:m>
                  <m:oMathPara xmlns:m="http://schemas.openxmlformats.org/officeDocument/2006/math">
                    <m:oMathParaPr>
                      <m:jc m:val="centerGroup"/>
                    </m:oMathParaPr>
                    <m:oMath xmlns:m="http://schemas.openxmlformats.org/officeDocument/2006/math">
                      <m:f>
                        <m:fPr>
                          <m:ctrlPr>
                            <a:rPr lang="en-AU" sz="2400" b="0" i="1" smtClean="0">
                              <a:solidFill>
                                <a:schemeClr val="accent5">
                                  <a:lumMod val="10000"/>
                                </a:schemeClr>
                              </a:solidFill>
                              <a:latin typeface="Cambria Math" panose="02040503050406030204" pitchFamily="18" charset="0"/>
                            </a:rPr>
                          </m:ctrlPr>
                        </m:fPr>
                        <m:num>
                          <m:r>
                            <a:rPr lang="en-AU" sz="2400" b="0" i="1" smtClean="0">
                              <a:solidFill>
                                <a:schemeClr val="accent5">
                                  <a:lumMod val="10000"/>
                                </a:schemeClr>
                              </a:solidFill>
                              <a:latin typeface="Cambria Math" panose="02040503050406030204" pitchFamily="18" charset="0"/>
                            </a:rPr>
                            <m:t>1</m:t>
                          </m:r>
                        </m:num>
                        <m:den>
                          <m:r>
                            <a:rPr lang="en-AU" sz="2400" b="0" i="1" smtClean="0">
                              <a:solidFill>
                                <a:schemeClr val="accent5">
                                  <a:lumMod val="10000"/>
                                </a:schemeClr>
                              </a:solidFill>
                              <a:latin typeface="Cambria Math" panose="02040503050406030204" pitchFamily="18" charset="0"/>
                            </a:rPr>
                            <m:t>2</m:t>
                          </m:r>
                        </m:den>
                      </m:f>
                      <m:r>
                        <a:rPr lang="en-AU" sz="2400" b="0" i="1" smtClean="0">
                          <a:solidFill>
                            <a:schemeClr val="accent5">
                              <a:lumMod val="10000"/>
                            </a:schemeClr>
                          </a:solidFill>
                          <a:latin typeface="Cambria Math" panose="02040503050406030204" pitchFamily="18" charset="0"/>
                        </a:rPr>
                        <m:t>𝑚</m:t>
                      </m:r>
                      <m:sSup>
                        <m:sSupPr>
                          <m:ctrlPr>
                            <a:rPr lang="en-AU" sz="2400" b="0" i="1" smtClean="0">
                              <a:solidFill>
                                <a:schemeClr val="accent5">
                                  <a:lumMod val="10000"/>
                                </a:schemeClr>
                              </a:solidFill>
                              <a:latin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rPr>
                            <m:t>𝑣</m:t>
                          </m:r>
                        </m:e>
                        <m:sup>
                          <m:r>
                            <a:rPr lang="en-AU" sz="2400" b="0" i="1" smtClean="0">
                              <a:solidFill>
                                <a:schemeClr val="accent5">
                                  <a:lumMod val="10000"/>
                                </a:schemeClr>
                              </a:solidFill>
                              <a:latin typeface="Cambria Math" panose="02040503050406030204" pitchFamily="18" charset="0"/>
                            </a:rPr>
                            <m:t>2</m:t>
                          </m:r>
                        </m:sup>
                      </m:sSup>
                      <m:r>
                        <a:rPr lang="en-AU" sz="2400" i="1">
                          <a:solidFill>
                            <a:schemeClr val="accent5">
                              <a:lumMod val="10000"/>
                            </a:schemeClr>
                          </a:solidFill>
                          <a:latin typeface="Cambria Math" panose="02040503050406030204" pitchFamily="18" charset="0"/>
                        </a:rPr>
                        <m:t>=</m:t>
                      </m:r>
                      <m:f>
                        <m:fPr>
                          <m:ctrlPr>
                            <a:rPr lang="en-AU" sz="2400" b="0" i="1" smtClean="0">
                              <a:solidFill>
                                <a:schemeClr val="accent5">
                                  <a:lumMod val="10000"/>
                                </a:schemeClr>
                              </a:solidFill>
                              <a:latin typeface="Cambria Math" panose="02040503050406030204" pitchFamily="18" charset="0"/>
                            </a:rPr>
                          </m:ctrlPr>
                        </m:fPr>
                        <m:num>
                          <m:r>
                            <a:rPr lang="en-AU" sz="2400" i="1">
                              <a:solidFill>
                                <a:schemeClr val="accent5">
                                  <a:lumMod val="10000"/>
                                </a:schemeClr>
                              </a:solidFill>
                              <a:latin typeface="Cambria Math" panose="02040503050406030204" pitchFamily="18" charset="0"/>
                            </a:rPr>
                            <m:t>h</m:t>
                          </m:r>
                          <m:r>
                            <a:rPr lang="en-AU" sz="2400" b="0" i="1" smtClean="0">
                              <a:solidFill>
                                <a:schemeClr val="accent5">
                                  <a:lumMod val="10000"/>
                                </a:schemeClr>
                              </a:solidFill>
                              <a:latin typeface="Cambria Math" panose="02040503050406030204" pitchFamily="18" charset="0"/>
                            </a:rPr>
                            <m:t>𝑐</m:t>
                          </m:r>
                        </m:num>
                        <m:den>
                          <m:r>
                            <m:rPr>
                              <m:sty m:val="p"/>
                            </m:rPr>
                            <a:rPr lang="el-GR" sz="2400" b="0" i="1" smtClean="0">
                              <a:solidFill>
                                <a:schemeClr val="accent5">
                                  <a:lumMod val="10000"/>
                                </a:schemeClr>
                              </a:solidFill>
                              <a:latin typeface="Cambria Math" panose="02040503050406030204" pitchFamily="18" charset="0"/>
                            </a:rPr>
                            <m:t>λ</m:t>
                          </m:r>
                        </m:den>
                      </m:f>
                      <m:r>
                        <a:rPr lang="en-AU" sz="2400" i="1">
                          <a:solidFill>
                            <a:schemeClr val="accent5">
                              <a:lumMod val="10000"/>
                            </a:schemeClr>
                          </a:solidFill>
                          <a:latin typeface="Cambria Math" panose="02040503050406030204" pitchFamily="18" charset="0"/>
                        </a:rPr>
                        <m:t>−</m:t>
                      </m:r>
                      <m:r>
                        <a:rPr lang="en-AU" sz="2400" i="1">
                          <a:solidFill>
                            <a:schemeClr val="accent5">
                              <a:lumMod val="10000"/>
                            </a:schemeClr>
                          </a:solidFill>
                          <a:latin typeface="Cambria Math" panose="02040503050406030204" pitchFamily="18" charset="0"/>
                        </a:rPr>
                        <m:t>𝑊</m:t>
                      </m:r>
                    </m:oMath>
                  </m:oMathPara>
                </a14:m>
                <a:endParaRPr lang="en-AU" sz="2400" dirty="0">
                  <a:solidFill>
                    <a:schemeClr val="accent5">
                      <a:lumMod val="10000"/>
                    </a:schemeClr>
                  </a:solidFill>
                </a:endParaRPr>
              </a:p>
              <a:p>
                <a:endParaRPr lang="en-AU" sz="2400" dirty="0">
                  <a:solidFill>
                    <a:schemeClr val="accent5">
                      <a:lumMod val="10000"/>
                    </a:schemeClr>
                  </a:solidFill>
                </a:endParaRPr>
              </a:p>
              <a:p>
                <a:pPr/>
                <a14:m>
                  <m:oMathPara xmlns:m="http://schemas.openxmlformats.org/officeDocument/2006/math">
                    <m:oMathParaPr>
                      <m:jc m:val="centerGroup"/>
                    </m:oMathParaPr>
                    <m:oMath xmlns:m="http://schemas.openxmlformats.org/officeDocument/2006/math">
                      <m:sSub>
                        <m:sSubPr>
                          <m:ctrlPr>
                            <a:rPr lang="en-AU" sz="2400" b="0" i="1" smtClean="0">
                              <a:solidFill>
                                <a:schemeClr val="accent5">
                                  <a:lumMod val="10000"/>
                                </a:schemeClr>
                              </a:solidFill>
                              <a:latin typeface="Cambria Math" panose="02040503050406030204" pitchFamily="18" charset="0"/>
                            </a:rPr>
                          </m:ctrlPr>
                        </m:sSubPr>
                        <m:e>
                          <m:r>
                            <a:rPr lang="en-AU" sz="2400" b="0" i="1" smtClean="0">
                              <a:solidFill>
                                <a:schemeClr val="accent5">
                                  <a:lumMod val="10000"/>
                                </a:schemeClr>
                              </a:solidFill>
                              <a:latin typeface="Cambria Math" panose="02040503050406030204" pitchFamily="18" charset="0"/>
                            </a:rPr>
                            <m:t>𝐸</m:t>
                          </m:r>
                        </m:e>
                        <m:sub>
                          <m:r>
                            <a:rPr lang="en-AU" sz="2400" b="0" i="1" smtClean="0">
                              <a:solidFill>
                                <a:schemeClr val="accent5">
                                  <a:lumMod val="10000"/>
                                </a:schemeClr>
                              </a:solidFill>
                              <a:latin typeface="Cambria Math" panose="02040503050406030204" pitchFamily="18" charset="0"/>
                            </a:rPr>
                            <m:t>𝑘</m:t>
                          </m:r>
                        </m:sub>
                      </m:sSub>
                      <m:r>
                        <a:rPr lang="en-AU" sz="2400" i="1">
                          <a:solidFill>
                            <a:schemeClr val="accent5">
                              <a:lumMod val="10000"/>
                            </a:schemeClr>
                          </a:solidFill>
                          <a:latin typeface="Cambria Math" panose="02040503050406030204" pitchFamily="18" charset="0"/>
                        </a:rPr>
                        <m:t>=</m:t>
                      </m:r>
                      <m:f>
                        <m:fPr>
                          <m:ctrlPr>
                            <a:rPr lang="en-AU" sz="2400" i="1">
                              <a:solidFill>
                                <a:schemeClr val="accent5">
                                  <a:lumMod val="10000"/>
                                </a:schemeClr>
                              </a:solidFill>
                              <a:latin typeface="Cambria Math" panose="02040503050406030204" pitchFamily="18" charset="0"/>
                            </a:rPr>
                          </m:ctrlPr>
                        </m:fPr>
                        <m:num>
                          <m:d>
                            <m:dPr>
                              <m:ctrlPr>
                                <a:rPr lang="en-AU" sz="2400" b="0" i="1" smtClean="0">
                                  <a:solidFill>
                                    <a:schemeClr val="accent5">
                                      <a:lumMod val="10000"/>
                                    </a:schemeClr>
                                  </a:solidFill>
                                  <a:latin typeface="Cambria Math" panose="02040503050406030204" pitchFamily="18" charset="0"/>
                                </a:rPr>
                              </m:ctrlPr>
                            </m:dPr>
                            <m:e>
                              <m:r>
                                <a:rPr lang="en-AU" sz="2400" b="0" i="1" smtClean="0">
                                  <a:solidFill>
                                    <a:schemeClr val="accent5">
                                      <a:lumMod val="10000"/>
                                    </a:schemeClr>
                                  </a:solidFill>
                                  <a:latin typeface="Cambria Math" panose="02040503050406030204" pitchFamily="18" charset="0"/>
                                </a:rPr>
                                <m:t>4.14</m:t>
                              </m:r>
                              <m:r>
                                <a:rPr lang="en-AU" sz="2400" b="0" i="1" smtClean="0">
                                  <a:solidFill>
                                    <a:schemeClr val="accent5">
                                      <a:lumMod val="10000"/>
                                    </a:schemeClr>
                                  </a:solidFill>
                                  <a:latin typeface="Cambria Math" panose="02040503050406030204" pitchFamily="18" charset="0"/>
                                  <a:ea typeface="Cambria Math" panose="02040503050406030204" pitchFamily="18" charset="0"/>
                                </a:rPr>
                                <m:t>×</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−15</m:t>
                                  </m:r>
                                </m:sup>
                              </m:sSup>
                            </m:e>
                          </m:d>
                          <m:d>
                            <m:d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dPr>
                            <m:e>
                              <m:r>
                                <a:rPr lang="en-AU" sz="2400" b="0" i="1" smtClean="0">
                                  <a:solidFill>
                                    <a:schemeClr val="accent5">
                                      <a:lumMod val="10000"/>
                                    </a:schemeClr>
                                  </a:solidFill>
                                  <a:latin typeface="Cambria Math" panose="02040503050406030204" pitchFamily="18" charset="0"/>
                                  <a:ea typeface="Cambria Math" panose="02040503050406030204" pitchFamily="18" charset="0"/>
                                </a:rPr>
                                <m:t>3×</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8</m:t>
                                  </m:r>
                                </m:sup>
                              </m:sSup>
                            </m:e>
                          </m:d>
                        </m:num>
                        <m:den>
                          <m:r>
                            <a:rPr lang="en-AU" sz="2400" b="0" i="1" smtClean="0">
                              <a:solidFill>
                                <a:schemeClr val="accent5">
                                  <a:lumMod val="10000"/>
                                </a:schemeClr>
                              </a:solidFill>
                              <a:latin typeface="Cambria Math" panose="02040503050406030204" pitchFamily="18" charset="0"/>
                            </a:rPr>
                            <m:t>410</m:t>
                          </m:r>
                          <m:r>
                            <a:rPr lang="en-AU" sz="2400" b="0" i="1" smtClean="0">
                              <a:solidFill>
                                <a:schemeClr val="accent5">
                                  <a:lumMod val="10000"/>
                                </a:schemeClr>
                              </a:solidFill>
                              <a:latin typeface="Cambria Math" panose="02040503050406030204" pitchFamily="18" charset="0"/>
                              <a:ea typeface="Cambria Math" panose="02040503050406030204" pitchFamily="18" charset="0"/>
                            </a:rPr>
                            <m:t>×</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−9</m:t>
                              </m:r>
                            </m:sup>
                          </m:sSup>
                        </m:den>
                      </m:f>
                      <m:r>
                        <a:rPr lang="en-AU" sz="2400" i="1">
                          <a:solidFill>
                            <a:schemeClr val="accent5">
                              <a:lumMod val="10000"/>
                            </a:schemeClr>
                          </a:solidFill>
                          <a:latin typeface="Cambria Math" panose="02040503050406030204" pitchFamily="18" charset="0"/>
                        </a:rPr>
                        <m:t>−</m:t>
                      </m:r>
                      <m:r>
                        <a:rPr lang="en-AU" sz="2400" b="0" i="1" smtClean="0">
                          <a:solidFill>
                            <a:schemeClr val="accent5">
                              <a:lumMod val="10000"/>
                            </a:schemeClr>
                          </a:solidFill>
                          <a:latin typeface="Cambria Math" panose="02040503050406030204" pitchFamily="18" charset="0"/>
                        </a:rPr>
                        <m:t>2.28 </m:t>
                      </m:r>
                    </m:oMath>
                  </m:oMathPara>
                </a14:m>
                <a:endParaRPr lang="en-AU" sz="2400" b="0" dirty="0">
                  <a:solidFill>
                    <a:schemeClr val="accent5">
                      <a:lumMod val="10000"/>
                    </a:schemeClr>
                  </a:solidFill>
                </a:endParaRPr>
              </a:p>
              <a:p>
                <a:endParaRPr lang="en-AU" sz="2400" b="0" dirty="0">
                  <a:solidFill>
                    <a:schemeClr val="accent5">
                      <a:lumMod val="10000"/>
                    </a:schemeClr>
                  </a:solidFill>
                </a:endParaRPr>
              </a:p>
              <a:p>
                <a:pPr/>
                <a14:m>
                  <m:oMathPara xmlns:m="http://schemas.openxmlformats.org/officeDocument/2006/math">
                    <m:oMathParaPr>
                      <m:jc m:val="centerGroup"/>
                    </m:oMathParaPr>
                    <m:oMath xmlns:m="http://schemas.openxmlformats.org/officeDocument/2006/math">
                      <m:sSub>
                        <m:sSubPr>
                          <m:ctrlPr>
                            <a:rPr lang="en-AU" sz="2400" b="0" i="1" smtClean="0">
                              <a:solidFill>
                                <a:schemeClr val="accent5">
                                  <a:lumMod val="10000"/>
                                </a:schemeClr>
                              </a:solidFill>
                              <a:latin typeface="Cambria Math" panose="02040503050406030204" pitchFamily="18" charset="0"/>
                            </a:rPr>
                          </m:ctrlPr>
                        </m:sSubPr>
                        <m:e>
                          <m:r>
                            <a:rPr lang="en-AU" sz="2400" b="0" i="1" smtClean="0">
                              <a:solidFill>
                                <a:schemeClr val="accent5">
                                  <a:lumMod val="10000"/>
                                </a:schemeClr>
                              </a:solidFill>
                              <a:latin typeface="Cambria Math" panose="02040503050406030204" pitchFamily="18" charset="0"/>
                            </a:rPr>
                            <m:t>𝐸</m:t>
                          </m:r>
                        </m:e>
                        <m:sub>
                          <m:r>
                            <a:rPr lang="en-AU" sz="2400" b="0" i="1" smtClean="0">
                              <a:solidFill>
                                <a:schemeClr val="accent5">
                                  <a:lumMod val="10000"/>
                                </a:schemeClr>
                              </a:solidFill>
                              <a:latin typeface="Cambria Math" panose="02040503050406030204" pitchFamily="18" charset="0"/>
                            </a:rPr>
                            <m:t>𝑘</m:t>
                          </m:r>
                        </m:sub>
                      </m:sSub>
                      <m:r>
                        <a:rPr lang="en-AU" sz="2400" b="0" i="1" smtClean="0">
                          <a:solidFill>
                            <a:schemeClr val="accent5">
                              <a:lumMod val="10000"/>
                            </a:schemeClr>
                          </a:solidFill>
                          <a:latin typeface="Cambria Math" panose="02040503050406030204" pitchFamily="18" charset="0"/>
                        </a:rPr>
                        <m:t>=0.749 </m:t>
                      </m:r>
                      <m:r>
                        <a:rPr lang="en-AU" sz="2400" b="0" i="1" smtClean="0">
                          <a:solidFill>
                            <a:schemeClr val="accent5">
                              <a:lumMod val="10000"/>
                            </a:schemeClr>
                          </a:solidFill>
                          <a:latin typeface="Cambria Math" panose="02040503050406030204" pitchFamily="18" charset="0"/>
                        </a:rPr>
                        <m:t>𝑒𝑉</m:t>
                      </m:r>
                      <m:r>
                        <a:rPr lang="en-AU" sz="2400" b="0" i="1" smtClean="0">
                          <a:solidFill>
                            <a:schemeClr val="accent5">
                              <a:lumMod val="10000"/>
                            </a:schemeClr>
                          </a:solidFill>
                          <a:latin typeface="Cambria Math" panose="02040503050406030204" pitchFamily="18" charset="0"/>
                        </a:rPr>
                        <m:t>=1.1988×</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−19</m:t>
                          </m:r>
                        </m:sup>
                      </m:sSup>
                      <m:r>
                        <a:rPr lang="en-AU" sz="2400" b="0" i="1" smtClean="0">
                          <a:solidFill>
                            <a:schemeClr val="accent5">
                              <a:lumMod val="10000"/>
                            </a:schemeClr>
                          </a:solidFill>
                          <a:latin typeface="Cambria Math" panose="02040503050406030204" pitchFamily="18" charset="0"/>
                        </a:rPr>
                        <m:t> </m:t>
                      </m:r>
                      <m:r>
                        <a:rPr lang="en-AU" sz="2400" b="0" i="1" smtClean="0">
                          <a:solidFill>
                            <a:schemeClr val="accent5">
                              <a:lumMod val="10000"/>
                            </a:schemeClr>
                          </a:solidFill>
                          <a:latin typeface="Cambria Math" panose="02040503050406030204" pitchFamily="18" charset="0"/>
                        </a:rPr>
                        <m:t>𝐽</m:t>
                      </m:r>
                    </m:oMath>
                  </m:oMathPara>
                </a14:m>
                <a:endParaRPr lang="en-AU" sz="2400" b="0" dirty="0">
                  <a:solidFill>
                    <a:schemeClr val="accent5">
                      <a:lumMod val="10000"/>
                    </a:schemeClr>
                  </a:solidFill>
                </a:endParaRPr>
              </a:p>
              <a:p>
                <a:endParaRPr lang="en-AU" sz="2400" dirty="0">
                  <a:solidFill>
                    <a:schemeClr val="accent5">
                      <a:lumMod val="10000"/>
                    </a:schemeClr>
                  </a:solidFill>
                </a:endParaRPr>
              </a:p>
              <a:p>
                <a:pPr/>
                <a14:m>
                  <m:oMathPara xmlns:m="http://schemas.openxmlformats.org/officeDocument/2006/math">
                    <m:oMathParaPr>
                      <m:jc m:val="centerGroup"/>
                    </m:oMathParaPr>
                    <m:oMath xmlns:m="http://schemas.openxmlformats.org/officeDocument/2006/math">
                      <m:f>
                        <m:fPr>
                          <m:ctrlPr>
                            <a:rPr lang="en-AU" sz="2400" i="1">
                              <a:solidFill>
                                <a:schemeClr val="accent5">
                                  <a:lumMod val="10000"/>
                                </a:schemeClr>
                              </a:solidFill>
                              <a:latin typeface="Cambria Math" panose="02040503050406030204" pitchFamily="18" charset="0"/>
                            </a:rPr>
                          </m:ctrlPr>
                        </m:fPr>
                        <m:num>
                          <m:r>
                            <a:rPr lang="en-AU" sz="2400" i="1">
                              <a:solidFill>
                                <a:schemeClr val="accent5">
                                  <a:lumMod val="10000"/>
                                </a:schemeClr>
                              </a:solidFill>
                              <a:latin typeface="Cambria Math" panose="02040503050406030204" pitchFamily="18" charset="0"/>
                            </a:rPr>
                            <m:t>1</m:t>
                          </m:r>
                        </m:num>
                        <m:den>
                          <m:r>
                            <a:rPr lang="en-AU" sz="2400" i="1">
                              <a:solidFill>
                                <a:schemeClr val="accent5">
                                  <a:lumMod val="10000"/>
                                </a:schemeClr>
                              </a:solidFill>
                              <a:latin typeface="Cambria Math" panose="02040503050406030204" pitchFamily="18" charset="0"/>
                            </a:rPr>
                            <m:t>2</m:t>
                          </m:r>
                        </m:den>
                      </m:f>
                      <m:d>
                        <m:dPr>
                          <m:ctrlPr>
                            <a:rPr lang="en-AU" sz="2400" b="0" i="1" smtClean="0">
                              <a:solidFill>
                                <a:schemeClr val="accent5">
                                  <a:lumMod val="10000"/>
                                </a:schemeClr>
                              </a:solidFill>
                              <a:latin typeface="Cambria Math" panose="02040503050406030204" pitchFamily="18" charset="0"/>
                            </a:rPr>
                          </m:ctrlPr>
                        </m:dPr>
                        <m:e>
                          <m:r>
                            <a:rPr lang="en-AU" sz="2400" b="0" i="1" smtClean="0">
                              <a:solidFill>
                                <a:schemeClr val="accent5">
                                  <a:lumMod val="10000"/>
                                </a:schemeClr>
                              </a:solidFill>
                              <a:latin typeface="Cambria Math" panose="02040503050406030204" pitchFamily="18" charset="0"/>
                            </a:rPr>
                            <m:t>9.11</m:t>
                          </m:r>
                          <m:r>
                            <a:rPr lang="en-AU" sz="2400" b="0" i="1" smtClean="0">
                              <a:solidFill>
                                <a:schemeClr val="accent5">
                                  <a:lumMod val="10000"/>
                                </a:schemeClr>
                              </a:solidFill>
                              <a:latin typeface="Cambria Math" panose="02040503050406030204" pitchFamily="18" charset="0"/>
                              <a:ea typeface="Cambria Math" panose="02040503050406030204" pitchFamily="18" charset="0"/>
                            </a:rPr>
                            <m:t>×</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−31</m:t>
                              </m:r>
                            </m:sup>
                          </m:sSup>
                        </m:e>
                      </m:d>
                      <m:sSup>
                        <m:sSupPr>
                          <m:ctrlPr>
                            <a:rPr lang="en-AU" sz="2400" i="1">
                              <a:solidFill>
                                <a:schemeClr val="accent5">
                                  <a:lumMod val="10000"/>
                                </a:schemeClr>
                              </a:solidFill>
                              <a:latin typeface="Cambria Math" panose="02040503050406030204" pitchFamily="18" charset="0"/>
                            </a:rPr>
                          </m:ctrlPr>
                        </m:sSupPr>
                        <m:e>
                          <m:r>
                            <a:rPr lang="en-AU" sz="2400" i="1">
                              <a:solidFill>
                                <a:schemeClr val="accent5">
                                  <a:lumMod val="10000"/>
                                </a:schemeClr>
                              </a:solidFill>
                              <a:latin typeface="Cambria Math" panose="02040503050406030204" pitchFamily="18" charset="0"/>
                            </a:rPr>
                            <m:t>𝑣</m:t>
                          </m:r>
                        </m:e>
                        <m:sup>
                          <m:r>
                            <a:rPr lang="en-AU" sz="2400" i="1">
                              <a:solidFill>
                                <a:schemeClr val="accent5">
                                  <a:lumMod val="10000"/>
                                </a:schemeClr>
                              </a:solidFill>
                              <a:latin typeface="Cambria Math" panose="02040503050406030204" pitchFamily="18" charset="0"/>
                            </a:rPr>
                            <m:t>2</m:t>
                          </m:r>
                        </m:sup>
                      </m:sSup>
                      <m:r>
                        <a:rPr lang="en-AU" sz="2400" i="1">
                          <a:solidFill>
                            <a:schemeClr val="accent5">
                              <a:lumMod val="10000"/>
                            </a:schemeClr>
                          </a:solidFill>
                          <a:latin typeface="Cambria Math" panose="02040503050406030204" pitchFamily="18" charset="0"/>
                        </a:rPr>
                        <m:t>=</m:t>
                      </m:r>
                      <m:r>
                        <a:rPr lang="en-AU" sz="2400" b="0" i="1" smtClean="0">
                          <a:solidFill>
                            <a:schemeClr val="accent5">
                              <a:lumMod val="10000"/>
                            </a:schemeClr>
                          </a:solidFill>
                          <a:latin typeface="Cambria Math" panose="02040503050406030204" pitchFamily="18" charset="0"/>
                        </a:rPr>
                        <m:t>1.1988</m:t>
                      </m:r>
                      <m:r>
                        <a:rPr lang="en-AU" sz="2400" b="0" i="1" smtClean="0">
                          <a:solidFill>
                            <a:schemeClr val="accent5">
                              <a:lumMod val="10000"/>
                            </a:schemeClr>
                          </a:solidFill>
                          <a:latin typeface="Cambria Math" panose="02040503050406030204" pitchFamily="18" charset="0"/>
                          <a:ea typeface="Cambria Math" panose="02040503050406030204" pitchFamily="18" charset="0"/>
                        </a:rPr>
                        <m:t>×</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−19</m:t>
                          </m:r>
                        </m:sup>
                      </m:sSup>
                    </m:oMath>
                  </m:oMathPara>
                </a14:m>
                <a:endParaRPr lang="en-AU" sz="2400" b="0" dirty="0">
                  <a:solidFill>
                    <a:schemeClr val="accent5">
                      <a:lumMod val="10000"/>
                    </a:schemeClr>
                  </a:solidFill>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sz="2400" b="0" i="1" smtClean="0">
                          <a:solidFill>
                            <a:schemeClr val="accent5">
                              <a:lumMod val="10000"/>
                            </a:schemeClr>
                          </a:solidFill>
                          <a:latin typeface="Cambria Math" panose="02040503050406030204" pitchFamily="18" charset="0"/>
                        </a:rPr>
                        <m:t>𝑣</m:t>
                      </m:r>
                      <m:r>
                        <a:rPr lang="en-AU" sz="2400" b="0" i="1" smtClean="0">
                          <a:solidFill>
                            <a:schemeClr val="accent5">
                              <a:lumMod val="10000"/>
                            </a:schemeClr>
                          </a:solidFill>
                          <a:latin typeface="Cambria Math" panose="02040503050406030204" pitchFamily="18" charset="0"/>
                        </a:rPr>
                        <m:t>=5.13×</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5</m:t>
                          </m:r>
                        </m:sup>
                      </m:sSup>
                      <m:r>
                        <a:rPr lang="en-AU" sz="2400" b="0" i="1" smtClean="0">
                          <a:solidFill>
                            <a:schemeClr val="accent5">
                              <a:lumMod val="10000"/>
                            </a:schemeClr>
                          </a:solidFill>
                          <a:latin typeface="Cambria Math" panose="02040503050406030204" pitchFamily="18" charset="0"/>
                          <a:ea typeface="Cambria Math" panose="02040503050406030204" pitchFamily="18" charset="0"/>
                        </a:rPr>
                        <m:t> </m:t>
                      </m:r>
                      <m:r>
                        <a:rPr lang="en-AU" sz="2400" b="0" i="1" smtClean="0">
                          <a:solidFill>
                            <a:schemeClr val="accent5">
                              <a:lumMod val="10000"/>
                            </a:schemeClr>
                          </a:solidFill>
                          <a:latin typeface="Cambria Math" panose="02040503050406030204" pitchFamily="18" charset="0"/>
                          <a:ea typeface="Cambria Math" panose="02040503050406030204" pitchFamily="18" charset="0"/>
                        </a:rPr>
                        <m:t>𝑚</m:t>
                      </m:r>
                      <m:r>
                        <a:rPr lang="en-AU" sz="2400" b="0" i="1" smtClean="0">
                          <a:solidFill>
                            <a:schemeClr val="accent5">
                              <a:lumMod val="10000"/>
                            </a:schemeClr>
                          </a:solidFill>
                          <a:latin typeface="Cambria Math" panose="02040503050406030204" pitchFamily="18" charset="0"/>
                          <a:ea typeface="Cambria Math" panose="02040503050406030204" pitchFamily="18" charset="0"/>
                        </a:rPr>
                        <m:t> </m:t>
                      </m:r>
                      <m:sSup>
                        <m:sSupPr>
                          <m:ctrlPr>
                            <a:rPr lang="en-AU" sz="2400"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sz="2400" b="0" i="1" smtClean="0">
                              <a:solidFill>
                                <a:schemeClr val="accent5">
                                  <a:lumMod val="10000"/>
                                </a:schemeClr>
                              </a:solidFill>
                              <a:latin typeface="Cambria Math" panose="02040503050406030204" pitchFamily="18" charset="0"/>
                              <a:ea typeface="Cambria Math" panose="02040503050406030204" pitchFamily="18" charset="0"/>
                            </a:rPr>
                            <m:t>𝑠</m:t>
                          </m:r>
                        </m:e>
                        <m:sup>
                          <m:r>
                            <a:rPr lang="en-AU" sz="2400" b="0" i="1" smtClean="0">
                              <a:solidFill>
                                <a:schemeClr val="accent5">
                                  <a:lumMod val="10000"/>
                                </a:schemeClr>
                              </a:solidFill>
                              <a:latin typeface="Cambria Math" panose="02040503050406030204" pitchFamily="18" charset="0"/>
                              <a:ea typeface="Cambria Math" panose="02040503050406030204" pitchFamily="18" charset="0"/>
                            </a:rPr>
                            <m:t>−1</m:t>
                          </m:r>
                        </m:sup>
                      </m:sSup>
                    </m:oMath>
                  </m:oMathPara>
                </a14:m>
                <a:endParaRPr lang="en-AU" sz="2400" dirty="0">
                  <a:solidFill>
                    <a:schemeClr val="accent5">
                      <a:lumMod val="10000"/>
                    </a:schemeClr>
                  </a:solidFill>
                </a:endParaRPr>
              </a:p>
              <a:p>
                <a:r>
                  <a:rPr lang="en-AU" sz="2400" dirty="0">
                    <a:solidFill>
                      <a:schemeClr val="accent5">
                        <a:lumMod val="10000"/>
                      </a:schemeClr>
                    </a:solidFill>
                  </a:rPr>
                  <a:t> </a:t>
                </a:r>
              </a:p>
            </p:txBody>
          </p:sp>
        </mc:Choice>
        <mc:Fallback xmlns="">
          <p:sp>
            <p:nvSpPr>
              <p:cNvPr id="6" name="TextBox 5">
                <a:extLst>
                  <a:ext uri="{FF2B5EF4-FFF2-40B4-BE49-F238E27FC236}">
                    <a16:creationId xmlns:a16="http://schemas.microsoft.com/office/drawing/2014/main" id="{418D9591-710C-49A9-B229-ACEB8CE9735F}"/>
                  </a:ext>
                </a:extLst>
              </p:cNvPr>
              <p:cNvSpPr txBox="1">
                <a:spLocks noRot="1" noChangeAspect="1" noMove="1" noResize="1" noEditPoints="1" noAdjustHandles="1" noChangeArrowheads="1" noChangeShapeType="1" noTextEdit="1"/>
              </p:cNvSpPr>
              <p:nvPr/>
            </p:nvSpPr>
            <p:spPr>
              <a:xfrm>
                <a:off x="810441" y="1671965"/>
                <a:ext cx="5565914" cy="5186035"/>
              </a:xfrm>
              <a:prstGeom prst="rect">
                <a:avLst/>
              </a:prstGeom>
              <a:blipFill>
                <a:blip r:embed="rId4"/>
                <a:stretch>
                  <a:fillRect l="-1752" t="-940"/>
                </a:stretch>
              </a:blipFill>
            </p:spPr>
            <p:txBody>
              <a:bodyPr/>
              <a:lstStyle/>
              <a:p>
                <a:r>
                  <a:rPr lang="en-AU">
                    <a:noFill/>
                  </a:rPr>
                  <a:t> </a:t>
                </a:r>
              </a:p>
            </p:txBody>
          </p:sp>
        </mc:Fallback>
      </mc:AlternateContent>
    </p:spTree>
    <p:extLst>
      <p:ext uri="{BB962C8B-B14F-4D97-AF65-F5344CB8AC3E}">
        <p14:creationId xmlns:p14="http://schemas.microsoft.com/office/powerpoint/2010/main" val="326604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6AB1ECD-45A7-4032-9A98-4772F6D862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6937" y="1624614"/>
            <a:ext cx="5917704" cy="3932807"/>
          </a:xfrm>
          <a:prstGeom prst="rect">
            <a:avLst/>
          </a:prstGeom>
        </p:spPr>
      </p:pic>
    </p:spTree>
    <p:extLst>
      <p:ext uri="{BB962C8B-B14F-4D97-AF65-F5344CB8AC3E}">
        <p14:creationId xmlns:p14="http://schemas.microsoft.com/office/powerpoint/2010/main" val="100387434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Custom 11">
      <a:dk1>
        <a:srgbClr val="B2B2B2"/>
      </a:dk1>
      <a:lt1>
        <a:srgbClr val="CBCBCB"/>
      </a:lt1>
      <a:dk2>
        <a:srgbClr val="FFFFFF"/>
      </a:dk2>
      <a:lt2>
        <a:srgbClr val="FFFFFF"/>
      </a:lt2>
      <a:accent1>
        <a:srgbClr val="CFDFE2"/>
      </a:accent1>
      <a:accent2>
        <a:srgbClr val="D7E3E9"/>
      </a:accent2>
      <a:accent3>
        <a:srgbClr val="CFDFE2"/>
      </a:accent3>
      <a:accent4>
        <a:srgbClr val="CFDFE2"/>
      </a:accent4>
      <a:accent5>
        <a:srgbClr val="C3D5DF"/>
      </a:accent5>
      <a:accent6>
        <a:srgbClr val="BFBFBF"/>
      </a:accent6>
      <a:hlink>
        <a:srgbClr val="497388"/>
      </a:hlink>
      <a:folHlink>
        <a:srgbClr val="8C8C8C"/>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TM03457496[[fn=Parallax]]</Template>
  <TotalTime>1466</TotalTime>
  <Words>2531</Words>
  <Application>Microsoft Office PowerPoint</Application>
  <PresentationFormat>On-screen Show (4:3)</PresentationFormat>
  <Paragraphs>225</Paragraphs>
  <Slides>36</Slides>
  <Notes>2</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43" baseType="lpstr">
      <vt:lpstr>Arial</vt:lpstr>
      <vt:lpstr>Calibri</vt:lpstr>
      <vt:lpstr>Cambria Math</vt:lpstr>
      <vt:lpstr>Corbel</vt:lpstr>
      <vt:lpstr>Verdana</vt:lpstr>
      <vt:lpstr>Parallax</vt:lpstr>
      <vt:lpstr>Equation</vt:lpstr>
      <vt:lpstr>Photoelectric  Effect</vt:lpstr>
      <vt:lpstr>Key Objectives</vt:lpstr>
      <vt:lpstr>Key Objectives</vt:lpstr>
      <vt:lpstr>Relevant Equations</vt:lpstr>
      <vt:lpstr>Text References</vt:lpstr>
      <vt:lpstr>PowerPoint Presentation</vt:lpstr>
      <vt:lpstr>Planck’s constant</vt:lpstr>
      <vt:lpstr>PowerPoint Presentation</vt:lpstr>
      <vt:lpstr>PowerPoint Presentation</vt:lpstr>
      <vt:lpstr>PowerPoint Presentation</vt:lpstr>
      <vt:lpstr>PowerPoint Presentation</vt:lpstr>
      <vt:lpstr>PowerPoint Presentation</vt:lpstr>
      <vt:lpstr>Photoelectric effect</vt:lpstr>
      <vt:lpstr>PowerPoint Presentation</vt:lpstr>
      <vt:lpstr>PowerPoint Presentation</vt:lpstr>
      <vt:lpstr>Photoelectric effect experiment</vt:lpstr>
      <vt:lpstr>PowerPoint Presentation</vt:lpstr>
      <vt:lpstr>PowerPoint Presentation</vt:lpstr>
      <vt:lpstr>The photoelectric effect does not support the wave model…</vt:lpstr>
      <vt:lpstr>Key points about the photoelectric effect</vt:lpstr>
      <vt:lpstr>PowerPoint Presentation</vt:lpstr>
      <vt:lpstr>Graphing the photoelectric effect</vt:lpstr>
      <vt:lpstr>PowerPoint Presentation</vt:lpstr>
      <vt:lpstr>PowerPoint Presentation</vt:lpstr>
      <vt:lpstr>LEDs and Planck's constant</vt:lpstr>
      <vt:lpstr>PowerPoint Presentation</vt:lpstr>
      <vt:lpstr>PowerPoint Presentation</vt:lpstr>
      <vt:lpstr>Photoelectric effect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LIGHT</dc:title>
  <dc:creator>Leah Anthony</dc:creator>
  <cp:lastModifiedBy>COOPER Sarina [Southern River College]</cp:lastModifiedBy>
  <cp:revision>105</cp:revision>
  <dcterms:created xsi:type="dcterms:W3CDTF">2017-06-13T13:08:34Z</dcterms:created>
  <dcterms:modified xsi:type="dcterms:W3CDTF">2024-07-14T17:42:59Z</dcterms:modified>
</cp:coreProperties>
</file>