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32" r:id="rId4"/>
    <p:sldMasterId id="2147484274" r:id="rId5"/>
  </p:sldMasterIdLst>
  <p:notesMasterIdLst>
    <p:notesMasterId r:id="rId17"/>
  </p:notesMasterIdLst>
  <p:handoutMasterIdLst>
    <p:handoutMasterId r:id="rId18"/>
  </p:handoutMasterIdLst>
  <p:sldIdLst>
    <p:sldId id="577" r:id="rId6"/>
    <p:sldId id="528" r:id="rId7"/>
    <p:sldId id="653" r:id="rId8"/>
    <p:sldId id="634" r:id="rId9"/>
    <p:sldId id="635" r:id="rId10"/>
    <p:sldId id="636" r:id="rId11"/>
    <p:sldId id="654" r:id="rId12"/>
    <p:sldId id="655" r:id="rId13"/>
    <p:sldId id="640" r:id="rId14"/>
    <p:sldId id="656" r:id="rId15"/>
    <p:sldId id="65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Buss" initials="M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3C18"/>
    <a:srgbClr val="4472C4"/>
    <a:srgbClr val="FF0000"/>
    <a:srgbClr val="FFD966"/>
    <a:srgbClr val="8FAADC"/>
    <a:srgbClr val="159B4B"/>
    <a:srgbClr val="0070C0"/>
    <a:srgbClr val="C55A11"/>
    <a:srgbClr val="6E407C"/>
    <a:srgbClr val="FBCA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484" autoAdjust="0"/>
    <p:restoredTop sz="74194" autoAdjust="0"/>
  </p:normalViewPr>
  <p:slideViewPr>
    <p:cSldViewPr snapToGrid="0" snapToObjects="1">
      <p:cViewPr varScale="1">
        <p:scale>
          <a:sx n="83" d="100"/>
          <a:sy n="83" d="100"/>
        </p:scale>
        <p:origin x="732" y="90"/>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7" d="100"/>
          <a:sy n="77" d="100"/>
        </p:scale>
        <p:origin x="2592"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8E4B7C-96ED-E449-9693-B655C4671F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28D809C4-E54C-A54E-B9F4-56C375E0D8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53AD932-3578-6E4B-810C-4CF7533A98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A9B4CA-DA29-0849-8519-4B81F4CE08AD}" type="slidenum">
              <a:rPr lang="en-US" smtClean="0"/>
              <a:t>‹#›</a:t>
            </a:fld>
            <a:endParaRPr lang="en-US"/>
          </a:p>
        </p:txBody>
      </p:sp>
      <p:sp>
        <p:nvSpPr>
          <p:cNvPr id="6" name="Date Placeholder 5">
            <a:extLst>
              <a:ext uri="{FF2B5EF4-FFF2-40B4-BE49-F238E27FC236}">
                <a16:creationId xmlns:a16="http://schemas.microsoft.com/office/drawing/2014/main" id="{27115A18-6E6E-F748-9363-1DB667F252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89F1C8-9A67-204B-8DB6-6C2E5B2C92D6}" type="datetimeFigureOut">
              <a:rPr lang="en-US" smtClean="0"/>
              <a:t>6/14/2023</a:t>
            </a:fld>
            <a:endParaRPr lang="en-US"/>
          </a:p>
        </p:txBody>
      </p:sp>
    </p:spTree>
    <p:extLst>
      <p:ext uri="{BB962C8B-B14F-4D97-AF65-F5344CB8AC3E}">
        <p14:creationId xmlns:p14="http://schemas.microsoft.com/office/powerpoint/2010/main" val="1631531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AAB6C6-360D-448E-B12B-FCD285160A81}" type="datetimeFigureOut">
              <a:rPr lang="en-AU" smtClean="0"/>
              <a:t>14/06/2023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B756B8-97A8-4FA1-B26A-2500BA5D4D05}" type="slidenum">
              <a:rPr lang="en-AU" smtClean="0"/>
              <a:t>‹#›</a:t>
            </a:fld>
            <a:endParaRPr lang="en-AU"/>
          </a:p>
        </p:txBody>
      </p:sp>
    </p:spTree>
    <p:extLst>
      <p:ext uri="{BB962C8B-B14F-4D97-AF65-F5344CB8AC3E}">
        <p14:creationId xmlns:p14="http://schemas.microsoft.com/office/powerpoint/2010/main" val="1866448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Eddy currents</a:t>
            </a:r>
            <a:endParaRPr lang="en-AU" u="sng" dirty="0"/>
          </a:p>
          <a:p>
            <a:r>
              <a:rPr lang="en-AU" u="sng" dirty="0"/>
              <a:t>Solenoid induced currents</a:t>
            </a:r>
          </a:p>
          <a:p>
            <a:r>
              <a:rPr lang="en-AU" u="sng" dirty="0"/>
              <a:t>Generators</a:t>
            </a:r>
          </a:p>
          <a:p>
            <a:r>
              <a:rPr lang="en-AU" dirty="0"/>
              <a:t>Induced current due to Earth’s magnetic field</a:t>
            </a:r>
          </a:p>
          <a:p>
            <a:endParaRPr lang="en-AU" dirty="0"/>
          </a:p>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a:t>
            </a:fld>
            <a:endParaRPr lang="en-AU"/>
          </a:p>
        </p:txBody>
      </p:sp>
    </p:spTree>
    <p:extLst>
      <p:ext uri="{BB962C8B-B14F-4D97-AF65-F5344CB8AC3E}">
        <p14:creationId xmlns:p14="http://schemas.microsoft.com/office/powerpoint/2010/main" val="20721085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a:t>
            </a:fld>
            <a:endParaRPr lang="en-AU"/>
          </a:p>
        </p:txBody>
      </p:sp>
    </p:spTree>
    <p:extLst>
      <p:ext uri="{BB962C8B-B14F-4D97-AF65-F5344CB8AC3E}">
        <p14:creationId xmlns:p14="http://schemas.microsoft.com/office/powerpoint/2010/main" val="799357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3</a:t>
            </a:fld>
            <a:endParaRPr lang="en-AU"/>
          </a:p>
        </p:txBody>
      </p:sp>
    </p:spTree>
    <p:extLst>
      <p:ext uri="{BB962C8B-B14F-4D97-AF65-F5344CB8AC3E}">
        <p14:creationId xmlns:p14="http://schemas.microsoft.com/office/powerpoint/2010/main" val="9096885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4</a:t>
            </a:fld>
            <a:endParaRPr lang="en-AU"/>
          </a:p>
        </p:txBody>
      </p:sp>
    </p:spTree>
    <p:extLst>
      <p:ext uri="{BB962C8B-B14F-4D97-AF65-F5344CB8AC3E}">
        <p14:creationId xmlns:p14="http://schemas.microsoft.com/office/powerpoint/2010/main" val="8433964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5</a:t>
            </a:fld>
            <a:endParaRPr lang="en-AU"/>
          </a:p>
        </p:txBody>
      </p:sp>
    </p:spTree>
    <p:extLst>
      <p:ext uri="{BB962C8B-B14F-4D97-AF65-F5344CB8AC3E}">
        <p14:creationId xmlns:p14="http://schemas.microsoft.com/office/powerpoint/2010/main" val="4167853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Current flows D </a:t>
            </a:r>
            <a:r>
              <a:rPr lang="en-US" b="0" dirty="0">
                <a:sym typeface="Wingdings" panose="05000000000000000000" pitchFamily="2" charset="2"/>
              </a:rPr>
              <a:t> C  B  A</a:t>
            </a:r>
            <a:endParaRPr lang="en-US" b="0" dirty="0"/>
          </a:p>
          <a:p>
            <a:endParaRPr lang="en-US" b="0" dirty="0"/>
          </a:p>
          <a:p>
            <a:r>
              <a:rPr lang="en-US" b="0" dirty="0"/>
              <a:t>Current reverses every time the plane is perpendicular to the field (0, 180, 360)</a:t>
            </a:r>
          </a:p>
          <a:p>
            <a:endParaRPr lang="en-US" b="0" dirty="0"/>
          </a:p>
          <a:p>
            <a:r>
              <a:rPr lang="en-US" b="0" dirty="0"/>
              <a:t>Emf is a maximum when the rate of change of flux is a maximum. This is when the coil is parallel to the field (90 and 270 degrees in picture) (goes from no flux to flux)</a:t>
            </a:r>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6</a:t>
            </a:fld>
            <a:endParaRPr lang="en-AU"/>
          </a:p>
        </p:txBody>
      </p:sp>
    </p:spTree>
    <p:extLst>
      <p:ext uri="{BB962C8B-B14F-4D97-AF65-F5344CB8AC3E}">
        <p14:creationId xmlns:p14="http://schemas.microsoft.com/office/powerpoint/2010/main" val="1507963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7</a:t>
            </a:fld>
            <a:endParaRPr lang="en-AU"/>
          </a:p>
        </p:txBody>
      </p:sp>
    </p:spTree>
    <p:extLst>
      <p:ext uri="{BB962C8B-B14F-4D97-AF65-F5344CB8AC3E}">
        <p14:creationId xmlns:p14="http://schemas.microsoft.com/office/powerpoint/2010/main" val="10600425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f = RPM/60 = 1.6 Hz</a:t>
            </a:r>
          </a:p>
          <a:p>
            <a:r>
              <a:rPr lang="en-US" b="0" dirty="0"/>
              <a:t>Emf max = 55.6 V</a:t>
            </a:r>
          </a:p>
          <a:p>
            <a:endParaRPr lang="en-AU" b="0" dirty="0"/>
          </a:p>
          <a:p>
            <a:r>
              <a:rPr lang="en-AU" b="0" dirty="0"/>
              <a:t>If the current is flowing into the positive end of the voltmeter, positive emf</a:t>
            </a:r>
          </a:p>
          <a:p>
            <a:endParaRPr lang="en-AU" b="0" dirty="0"/>
          </a:p>
          <a:p>
            <a:r>
              <a:rPr lang="en-AU" b="0" dirty="0"/>
              <a:t>Starting:</a:t>
            </a:r>
          </a:p>
          <a:p>
            <a:r>
              <a:rPr lang="en-AU" b="0" dirty="0"/>
              <a:t>Field is parallel with the coil. Lowest flux going through coil. Largest change in flux. Largest emf. </a:t>
            </a:r>
          </a:p>
          <a:p>
            <a:r>
              <a:rPr lang="en-AU" b="0" dirty="0"/>
              <a:t>So starting at maximum emf.</a:t>
            </a:r>
          </a:p>
          <a:p>
            <a:endParaRPr lang="en-AU" b="0" dirty="0"/>
          </a:p>
          <a:p>
            <a:r>
              <a:rPr lang="en-AU" b="0" dirty="0"/>
              <a:t>Direction:</a:t>
            </a:r>
          </a:p>
          <a:p>
            <a:r>
              <a:rPr lang="en-AU" b="0" dirty="0"/>
              <a:t>Use right hand velocity palm rule for segment of coil (the one closest to N). Thumb points towards velocity. Fingers point towards field lines. Palm is the force on the positive charges </a:t>
            </a:r>
            <a:r>
              <a:rPr lang="en-AU" b="0" dirty="0">
                <a:sym typeface="Wingdings" panose="05000000000000000000" pitchFamily="2" charset="2"/>
              </a:rPr>
              <a:t> up (clockwise, towards the positive end of the voltmeter). Therefore starting with a positive voltage.</a:t>
            </a:r>
            <a:endParaRPr lang="en-AU" b="0" dirty="0"/>
          </a:p>
          <a:p>
            <a:endParaRPr lang="en-AU" b="0" dirty="0"/>
          </a:p>
          <a:p>
            <a:r>
              <a:rPr lang="en-AU" b="0" dirty="0"/>
              <a:t>At 90 deg: </a:t>
            </a:r>
          </a:p>
          <a:p>
            <a:r>
              <a:rPr lang="en-AU" b="0" dirty="0"/>
              <a:t>Field is perpendicular to coil. Largest flux going through. Lowest change in flux. Lowest emf.</a:t>
            </a:r>
          </a:p>
          <a:p>
            <a:r>
              <a:rPr lang="en-AU" b="0" dirty="0"/>
              <a:t>So minimum at 90deg.</a:t>
            </a:r>
          </a:p>
          <a:p>
            <a:endParaRPr lang="en-AU" b="0" dirty="0"/>
          </a:p>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8</a:t>
            </a:fld>
            <a:endParaRPr lang="en-AU"/>
          </a:p>
        </p:txBody>
      </p:sp>
    </p:spTree>
    <p:extLst>
      <p:ext uri="{BB962C8B-B14F-4D97-AF65-F5344CB8AC3E}">
        <p14:creationId xmlns:p14="http://schemas.microsoft.com/office/powerpoint/2010/main" val="42068523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Emf = V = IR = L v B</a:t>
            </a:r>
          </a:p>
          <a:p>
            <a:endParaRPr lang="en-AU" b="0" dirty="0"/>
          </a:p>
          <a:p>
            <a:r>
              <a:rPr lang="en-AU" b="0" dirty="0"/>
              <a:t>R = </a:t>
            </a:r>
            <a:r>
              <a:rPr lang="en-AU" b="0" dirty="0" err="1"/>
              <a:t>LvB</a:t>
            </a:r>
            <a:r>
              <a:rPr lang="en-AU" b="0" dirty="0"/>
              <a:t> / I = 0.8 * 2 * 4 / 2 = 3.2 ohms</a:t>
            </a:r>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9</a:t>
            </a:fld>
            <a:endParaRPr lang="en-AU"/>
          </a:p>
        </p:txBody>
      </p:sp>
    </p:spTree>
    <p:extLst>
      <p:ext uri="{BB962C8B-B14F-4D97-AF65-F5344CB8AC3E}">
        <p14:creationId xmlns:p14="http://schemas.microsoft.com/office/powerpoint/2010/main" val="32193864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10</a:t>
            </a:fld>
            <a:endParaRPr lang="en-AU"/>
          </a:p>
        </p:txBody>
      </p:sp>
    </p:spTree>
    <p:extLst>
      <p:ext uri="{BB962C8B-B14F-4D97-AF65-F5344CB8AC3E}">
        <p14:creationId xmlns:p14="http://schemas.microsoft.com/office/powerpoint/2010/main" val="2273656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11</a:t>
            </a:fld>
            <a:endParaRPr lang="en-AU"/>
          </a:p>
        </p:txBody>
      </p:sp>
    </p:spTree>
    <p:extLst>
      <p:ext uri="{BB962C8B-B14F-4D97-AF65-F5344CB8AC3E}">
        <p14:creationId xmlns:p14="http://schemas.microsoft.com/office/powerpoint/2010/main" val="2315244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Edit</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08655"/>
            <a:ext cx="10004958" cy="515263"/>
          </a:xfrm>
          <a:prstGeom prst="rect">
            <a:avLst/>
          </a:prstGeom>
          <a:no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71043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b="1" i="0" dirty="0">
                <a:latin typeface="Century Gothic" panose="020B0502020202020204" pitchFamily="34" charset="0"/>
              </a:rPr>
              <a:t>SRC Core</a:t>
            </a:r>
            <a:r>
              <a:rPr lang="en-US" sz="7200" b="1" i="0" baseline="0" dirty="0">
                <a:latin typeface="Century Gothic" panose="020B0502020202020204" pitchFamily="34" charset="0"/>
              </a:rPr>
              <a:t> Standards</a:t>
            </a:r>
            <a:endParaRPr lang="en-US" sz="7200" b="1" i="0" dirty="0">
              <a:latin typeface="Century Gothic" panose="020B050202020202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692B7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827749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722087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74220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597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692B7D"/>
          </a:solidFill>
          <a:ln>
            <a:noFill/>
          </a:ln>
        </p:spPr>
        <p:txBody>
          <a:bodyPr wrap="square" rtlCol="0" anchor="ctr">
            <a:normAutofit/>
          </a:bodyPr>
          <a:lstStyle/>
          <a:p>
            <a:pPr marL="0" indent="0">
              <a:tabLst>
                <a:tab pos="3597275" algn="l"/>
              </a:tabLst>
            </a:pPr>
            <a:r>
              <a:rPr lang="en-US" sz="6000" b="1" i="0" dirty="0">
                <a:solidFill>
                  <a:schemeClr val="bg1"/>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740704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692B7D"/>
          </a:solidFill>
        </p:spPr>
        <p:txBody>
          <a:bodyPr wrap="square" rtlCol="0" anchor="ctr">
            <a:noAutofit/>
          </a:bodyPr>
          <a:lstStyle/>
          <a:p>
            <a:pPr algn="l"/>
            <a:r>
              <a:rPr lang="en-US" sz="2000" b="1" i="0" dirty="0">
                <a:solidFill>
                  <a:srgbClr val="FBCA58"/>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1221096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007288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294523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3028238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1779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92B7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692B7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220285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eneric Title Slide">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
        <p:nvSpPr>
          <p:cNvPr id="3" name="Text Placeholder 2">
            <a:extLst>
              <a:ext uri="{FF2B5EF4-FFF2-40B4-BE49-F238E27FC236}">
                <a16:creationId xmlns:a16="http://schemas.microsoft.com/office/drawing/2014/main" id="{35918694-72DD-404C-BFE2-AE8FDFB6A47D}"/>
              </a:ext>
            </a:extLst>
          </p:cNvPr>
          <p:cNvSpPr>
            <a:spLocks noGrp="1"/>
          </p:cNvSpPr>
          <p:nvPr>
            <p:ph type="body" sz="quarter" idx="11" hasCustomPrompt="1"/>
          </p:nvPr>
        </p:nvSpPr>
        <p:spPr>
          <a:xfrm>
            <a:off x="295219" y="1019162"/>
            <a:ext cx="2630862" cy="538162"/>
          </a:xfrm>
          <a:prstGeom prst="rect">
            <a:avLst/>
          </a:prstGeom>
          <a:solidFill>
            <a:srgbClr val="2E546D"/>
          </a:solidFill>
        </p:spPr>
        <p:txBody>
          <a:bodyPr/>
          <a:lstStyle>
            <a:lvl1pPr marL="0" indent="0">
              <a:buNone/>
              <a:defRPr sz="3200" b="0"/>
            </a:lvl1pPr>
          </a:lstStyle>
          <a:p>
            <a:r>
              <a:rPr lang="en-US" sz="2800" b="1" i="0" dirty="0">
                <a:solidFill>
                  <a:srgbClr val="FBCA58"/>
                </a:solidFill>
                <a:latin typeface="Century Gothic" panose="020B0502020202020204" pitchFamily="34" charset="0"/>
                <a:cs typeface="Futura Medium" panose="020B0602020204020303" pitchFamily="34" charset="-79"/>
              </a:rPr>
              <a:t>Learning Goal</a:t>
            </a:r>
          </a:p>
        </p:txBody>
      </p:sp>
    </p:spTree>
    <p:extLst>
      <p:ext uri="{BB962C8B-B14F-4D97-AF65-F5344CB8AC3E}">
        <p14:creationId xmlns:p14="http://schemas.microsoft.com/office/powerpoint/2010/main" val="23702189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eneric Content Slid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
        <p:nvSpPr>
          <p:cNvPr id="5" name="Text Placeholder 4">
            <a:extLst>
              <a:ext uri="{FF2B5EF4-FFF2-40B4-BE49-F238E27FC236}">
                <a16:creationId xmlns:a16="http://schemas.microsoft.com/office/drawing/2014/main" id="{26005884-EA56-4A5F-8C82-1956C2ADF2F8}"/>
              </a:ext>
            </a:extLst>
          </p:cNvPr>
          <p:cNvSpPr>
            <a:spLocks noGrp="1"/>
          </p:cNvSpPr>
          <p:nvPr>
            <p:ph type="body" sz="quarter" idx="17" hasCustomPrompt="1"/>
          </p:nvPr>
        </p:nvSpPr>
        <p:spPr>
          <a:xfrm>
            <a:off x="295275" y="595269"/>
            <a:ext cx="3779478" cy="319722"/>
          </a:xfrm>
          <a:prstGeom prst="rect">
            <a:avLst/>
          </a:prstGeom>
          <a:solidFill>
            <a:srgbClr val="FBCA58"/>
          </a:solidFill>
        </p:spPr>
        <p:txBody>
          <a:bodyPr/>
          <a:lstStyle>
            <a:lvl1pPr marL="0" indent="0">
              <a:buNone/>
              <a:defRPr sz="1600" b="1">
                <a:solidFill>
                  <a:srgbClr val="2E546D"/>
                </a:solidFill>
                <a:latin typeface="+mj-lt"/>
              </a:defRPr>
            </a:lvl1pPr>
            <a:lvl2pPr>
              <a:defRPr sz="1800"/>
            </a:lvl2pPr>
            <a:lvl3pPr>
              <a:defRPr sz="1600"/>
            </a:lvl3pPr>
            <a:lvl4pPr>
              <a:defRPr sz="1400"/>
            </a:lvl4pPr>
            <a:lvl5pPr>
              <a:defRPr sz="1400"/>
            </a:lvl5pPr>
          </a:lstStyle>
          <a:p>
            <a:pPr lvl="0"/>
            <a:r>
              <a:rPr lang="en-US" dirty="0"/>
              <a:t>Type Subheading here</a:t>
            </a:r>
          </a:p>
        </p:txBody>
      </p:sp>
    </p:spTree>
    <p:extLst>
      <p:ext uri="{BB962C8B-B14F-4D97-AF65-F5344CB8AC3E}">
        <p14:creationId xmlns:p14="http://schemas.microsoft.com/office/powerpoint/2010/main" val="34852791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6460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 Now">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Do Now</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24237"/>
            <a:ext cx="10004958" cy="499682"/>
          </a:xfrm>
          <a:prstGeom prst="rect">
            <a:avLst/>
          </a:prstGeom>
          <a:solidFill>
            <a:schemeClr val="bg1"/>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409273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2E546D"/>
                </a:solidFill>
                <a:latin typeface="Calibri" panose="020F0502020204030204" pitchFamily="34" charset="0"/>
                <a:cs typeface="Calibri" panose="020F0502020204030204" pitchFamily="34" charset="0"/>
              </a:rPr>
              <a:t>Think </a:t>
            </a:r>
          </a:p>
          <a:p>
            <a:r>
              <a:rPr lang="en-US" sz="3600" b="1" i="0" dirty="0">
                <a:solidFill>
                  <a:srgbClr val="2E546D"/>
                </a:solidFill>
                <a:latin typeface="Calibri" panose="020F0502020204030204" pitchFamily="34" charset="0"/>
                <a:cs typeface="Calibri" panose="020F0502020204030204" pitchFamily="34" charset="0"/>
              </a:rPr>
              <a:t>Pair</a:t>
            </a:r>
          </a:p>
          <a:p>
            <a:r>
              <a:rPr lang="en-US" sz="3600" b="1" i="0" dirty="0">
                <a:solidFill>
                  <a:srgbClr val="2E546D"/>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50352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arning Goal Simple">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Tree>
    <p:extLst>
      <p:ext uri="{BB962C8B-B14F-4D97-AF65-F5344CB8AC3E}">
        <p14:creationId xmlns:p14="http://schemas.microsoft.com/office/powerpoint/2010/main" val="4004097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E546D"/>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8144513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12365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F556E"/>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F556E"/>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9054138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34819495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4894422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780312292"/>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77204013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7490494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6172997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4288181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userDrawn="1"/>
        </p:nvSpPr>
        <p:spPr>
          <a:xfrm>
            <a:off x="0" y="0"/>
            <a:ext cx="12192000" cy="6858000"/>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userDrawn="1"/>
        </p:nvSpPr>
        <p:spPr>
          <a:xfrm>
            <a:off x="-66676" y="221673"/>
            <a:ext cx="12258675"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C4F9A874-5CE1-8647-AFA9-BD43474DD64E}"/>
              </a:ext>
            </a:extLst>
          </p:cNvPr>
          <p:cNvPicPr>
            <a:picLocks noChangeAspect="1"/>
          </p:cNvPicPr>
          <p:nvPr userDrawn="1"/>
        </p:nvPicPr>
        <p:blipFill>
          <a:blip r:embed="rId14"/>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4030593586"/>
      </p:ext>
    </p:extLst>
  </p:cSld>
  <p:clrMap bg1="lt1" tx1="dk1" bg2="lt2" tx2="dk2" accent1="accent1" accent2="accent2" accent3="accent3" accent4="accent4" accent5="accent5" accent6="accent6" hlink="hlink" folHlink="folHlink"/>
  <p:sldLayoutIdLst>
    <p:sldLayoutId id="2147484258" r:id="rId1"/>
    <p:sldLayoutId id="2147484233" r:id="rId2"/>
    <p:sldLayoutId id="2147484234" r:id="rId3"/>
    <p:sldLayoutId id="2147484235" r:id="rId4"/>
    <p:sldLayoutId id="2147484236" r:id="rId5"/>
    <p:sldLayoutId id="2147484257" r:id="rId6"/>
    <p:sldLayoutId id="2147484255" r:id="rId7"/>
    <p:sldLayoutId id="2147484237" r:id="rId8"/>
    <p:sldLayoutId id="2147484238" r:id="rId9"/>
    <p:sldLayoutId id="2147484239" r:id="rId10"/>
    <p:sldLayoutId id="2147484240" r:id="rId11"/>
    <p:sldLayoutId id="214748429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userDrawn="1"/>
        </p:nvSpPr>
        <p:spPr>
          <a:xfrm>
            <a:off x="0" y="0"/>
            <a:ext cx="12192000" cy="6858000"/>
          </a:xfrm>
          <a:prstGeom prst="rect">
            <a:avLst/>
          </a:prstGeom>
          <a:solidFill>
            <a:srgbClr val="2E5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userDrawn="1"/>
        </p:nvSpPr>
        <p:spPr>
          <a:xfrm>
            <a:off x="0" y="221672"/>
            <a:ext cx="12192000" cy="63728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DC76C98-0227-3747-80B1-ED384456CDE8}"/>
              </a:ext>
            </a:extLst>
          </p:cNvPr>
          <p:cNvPicPr>
            <a:picLocks noChangeAspect="1"/>
          </p:cNvPicPr>
          <p:nvPr userDrawn="1"/>
        </p:nvPicPr>
        <p:blipFill>
          <a:blip r:embed="rId18"/>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288887113"/>
      </p:ext>
    </p:extLst>
  </p:cSld>
  <p:clrMap bg1="lt1" tx1="dk1" bg2="lt2" tx2="dk2" accent1="accent1" accent2="accent2" accent3="accent3" accent4="accent4" accent5="accent5" accent6="accent6" hlink="hlink" folHlink="folHlink"/>
  <p:sldLayoutIdLst>
    <p:sldLayoutId id="2147484294" r:id="rId1"/>
    <p:sldLayoutId id="2147484295" r:id="rId2"/>
    <p:sldLayoutId id="2147484288" r:id="rId3"/>
    <p:sldLayoutId id="2147484275" r:id="rId4"/>
    <p:sldLayoutId id="2147484276" r:id="rId5"/>
    <p:sldLayoutId id="2147484293" r:id="rId6"/>
    <p:sldLayoutId id="2147484277" r:id="rId7"/>
    <p:sldLayoutId id="2147484278" r:id="rId8"/>
    <p:sldLayoutId id="2147484279" r:id="rId9"/>
    <p:sldLayoutId id="2147484280" r:id="rId10"/>
    <p:sldLayoutId id="2147484281" r:id="rId11"/>
    <p:sldLayoutId id="2147484282" r:id="rId12"/>
    <p:sldLayoutId id="2147484283" r:id="rId13"/>
    <p:sldLayoutId id="2147484284" r:id="rId14"/>
    <p:sldLayoutId id="2147484285" r:id="rId15"/>
    <p:sldLayoutId id="214748428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Generators</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2000" b="0" i="0" dirty="0">
                <a:solidFill>
                  <a:srgbClr val="000303"/>
                </a:solidFill>
                <a:effectLst/>
                <a:latin typeface="Roboto" panose="02000000000000000000" pitchFamily="2" charset="0"/>
              </a:rPr>
              <a:t>I can determine the direction of eddy currents.</a:t>
            </a:r>
          </a:p>
          <a:p>
            <a:pPr algn="l"/>
            <a:r>
              <a:rPr lang="en-US" sz="2000" b="0" dirty="0">
                <a:solidFill>
                  <a:srgbClr val="000303"/>
                </a:solidFill>
                <a:latin typeface="Roboto" panose="02000000000000000000" pitchFamily="2" charset="0"/>
              </a:rPr>
              <a:t>I can calculate emf generated from an AC generator.</a:t>
            </a:r>
          </a:p>
          <a:p>
            <a:pPr algn="l"/>
            <a:r>
              <a:rPr lang="en-US" sz="2000" b="0" i="0" dirty="0">
                <a:solidFill>
                  <a:srgbClr val="000303"/>
                </a:solidFill>
                <a:effectLst/>
                <a:latin typeface="Roboto" panose="02000000000000000000" pitchFamily="2" charset="0"/>
              </a:rPr>
              <a:t>I can relate change in magnetic flux to voltage in an AC generator.</a:t>
            </a:r>
          </a:p>
        </p:txBody>
      </p:sp>
    </p:spTree>
    <p:extLst>
      <p:ext uri="{BB962C8B-B14F-4D97-AF65-F5344CB8AC3E}">
        <p14:creationId xmlns:p14="http://schemas.microsoft.com/office/powerpoint/2010/main" val="3779206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Eddy currents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7950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17" name="TextBox 16">
            <a:extLst>
              <a:ext uri="{FF2B5EF4-FFF2-40B4-BE49-F238E27FC236}">
                <a16:creationId xmlns:a16="http://schemas.microsoft.com/office/drawing/2014/main" id="{46585C8E-D080-FB12-7073-0E50D5C13329}"/>
              </a:ext>
            </a:extLst>
          </p:cNvPr>
          <p:cNvSpPr txBox="1"/>
          <p:nvPr/>
        </p:nvSpPr>
        <p:spPr>
          <a:xfrm>
            <a:off x="295274" y="1014147"/>
            <a:ext cx="11427539" cy="5264350"/>
          </a:xfrm>
          <a:prstGeom prst="rect">
            <a:avLst/>
          </a:prstGeom>
          <a:noFill/>
          <a:ln>
            <a:noFill/>
          </a:ln>
        </p:spPr>
        <p:txBody>
          <a:bodyPr wrap="none" rtlCol="0" anchor="t" anchorCtr="0">
            <a:normAutofit/>
          </a:bodyPr>
          <a:lstStyle/>
          <a:p>
            <a:pPr algn="l"/>
            <a:r>
              <a:rPr lang="en-AU" sz="2000" dirty="0">
                <a:latin typeface="Century Gothic" panose="020B0502020202020204" pitchFamily="34" charset="0"/>
                <a:cs typeface="Futura Medium" panose="020B0602020204020303" pitchFamily="34" charset="-79"/>
              </a:rPr>
              <a:t>A circular electric current induced by a conductor in a changing magnetic field.</a:t>
            </a:r>
          </a:p>
          <a:p>
            <a:pPr algn="l"/>
            <a:r>
              <a:rPr lang="en-AU" sz="2000" dirty="0">
                <a:latin typeface="Century Gothic" panose="020B0502020202020204" pitchFamily="34" charset="0"/>
                <a:cs typeface="Futura Medium" panose="020B0602020204020303" pitchFamily="34" charset="-79"/>
              </a:rPr>
              <a:t>Acts to oppose the motion that causes the change in magnetic flux. Useful for regenerative </a:t>
            </a:r>
          </a:p>
          <a:p>
            <a:pPr algn="l"/>
            <a:r>
              <a:rPr lang="en-AU" sz="2000" dirty="0">
                <a:latin typeface="Century Gothic" panose="020B0502020202020204" pitchFamily="34" charset="0"/>
                <a:cs typeface="Futura Medium" panose="020B0602020204020303" pitchFamily="34" charset="-79"/>
              </a:rPr>
              <a:t>braking and induction stovetops. A major energy loss in AC generators. </a:t>
            </a:r>
          </a:p>
          <a:p>
            <a:pPr algn="l"/>
            <a:endParaRPr lang="en-AU" sz="2000" dirty="0">
              <a:latin typeface="Century Gothic" panose="020B0502020202020204" pitchFamily="34" charset="0"/>
              <a:cs typeface="Futura Medium" panose="020B0602020204020303" pitchFamily="34" charset="-79"/>
            </a:endParaRPr>
          </a:p>
          <a:p>
            <a:pPr algn="l"/>
            <a:r>
              <a:rPr lang="en-AU" sz="2000" dirty="0">
                <a:latin typeface="Century Gothic" panose="020B0502020202020204" pitchFamily="34" charset="0"/>
                <a:cs typeface="Futura Medium" panose="020B0602020204020303" pitchFamily="34" charset="-79"/>
              </a:rPr>
              <a:t>If the motion causes an increase in flux into the page, the eddy current works in the </a:t>
            </a:r>
          </a:p>
          <a:p>
            <a:pPr algn="l"/>
            <a:r>
              <a:rPr lang="en-AU" sz="2000" dirty="0">
                <a:latin typeface="Century Gothic" panose="020B0502020202020204" pitchFamily="34" charset="0"/>
                <a:cs typeface="Futura Medium" panose="020B0602020204020303" pitchFamily="34" charset="-79"/>
              </a:rPr>
              <a:t>direction to cause an increase in flux out of the page.</a:t>
            </a:r>
          </a:p>
          <a:p>
            <a:pPr algn="l"/>
            <a:endParaRPr lang="en-AU" sz="2000" b="1" dirty="0">
              <a:latin typeface="Century Gothic" panose="020B0502020202020204" pitchFamily="34" charset="0"/>
              <a:cs typeface="Futura Medium" panose="020B0602020204020303" pitchFamily="34" charset="-79"/>
            </a:endParaRPr>
          </a:p>
          <a:p>
            <a:pPr algn="l"/>
            <a:endParaRPr lang="en-AU" sz="2000" b="1" dirty="0">
              <a:latin typeface="Century Gothic" panose="020B0502020202020204" pitchFamily="34" charset="0"/>
              <a:cs typeface="Futura Medium" panose="020B0602020204020303" pitchFamily="34" charset="-79"/>
            </a:endParaRPr>
          </a:p>
        </p:txBody>
      </p:sp>
      <p:sp>
        <p:nvSpPr>
          <p:cNvPr id="6" name="Rectangle 5">
            <a:extLst>
              <a:ext uri="{FF2B5EF4-FFF2-40B4-BE49-F238E27FC236}">
                <a16:creationId xmlns:a16="http://schemas.microsoft.com/office/drawing/2014/main" id="{15578A69-BC16-4D6E-18CF-4CE2B892313E}"/>
              </a:ext>
            </a:extLst>
          </p:cNvPr>
          <p:cNvSpPr/>
          <p:nvPr/>
        </p:nvSpPr>
        <p:spPr>
          <a:xfrm>
            <a:off x="388621" y="3646322"/>
            <a:ext cx="5707380" cy="27659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AU" sz="2000" dirty="0">
                <a:solidFill>
                  <a:schemeClr val="tx1"/>
                </a:solidFill>
              </a:rPr>
              <a:t>Steps:</a:t>
            </a:r>
          </a:p>
          <a:p>
            <a:pPr marL="457200" indent="-457200">
              <a:buAutoNum type="arabicPeriod"/>
            </a:pPr>
            <a:r>
              <a:rPr lang="en-AU" sz="2000" dirty="0">
                <a:solidFill>
                  <a:schemeClr val="tx1"/>
                </a:solidFill>
              </a:rPr>
              <a:t>Work out how the flux is changing</a:t>
            </a:r>
          </a:p>
          <a:p>
            <a:pPr marL="457200" indent="-457200">
              <a:buAutoNum type="arabicPeriod"/>
            </a:pPr>
            <a:r>
              <a:rPr lang="en-AU" sz="2000" dirty="0">
                <a:solidFill>
                  <a:schemeClr val="tx1"/>
                </a:solidFill>
              </a:rPr>
              <a:t>The opposing flux must be opposite this</a:t>
            </a:r>
          </a:p>
          <a:p>
            <a:pPr marL="457200" indent="-457200">
              <a:buAutoNum type="arabicPeriod"/>
            </a:pPr>
            <a:r>
              <a:rPr lang="en-AU" sz="2000" dirty="0">
                <a:solidFill>
                  <a:schemeClr val="tx1"/>
                </a:solidFill>
              </a:rPr>
              <a:t>Use right-hand rule to determine direction of current</a:t>
            </a:r>
          </a:p>
        </p:txBody>
      </p:sp>
      <p:pic>
        <p:nvPicPr>
          <p:cNvPr id="8" name="Picture 7">
            <a:extLst>
              <a:ext uri="{FF2B5EF4-FFF2-40B4-BE49-F238E27FC236}">
                <a16:creationId xmlns:a16="http://schemas.microsoft.com/office/drawing/2014/main" id="{7F85BF6F-C8D0-FEDF-40FD-DD317E827F1C}"/>
              </a:ext>
            </a:extLst>
          </p:cNvPr>
          <p:cNvPicPr>
            <a:picLocks noChangeAspect="1"/>
          </p:cNvPicPr>
          <p:nvPr/>
        </p:nvPicPr>
        <p:blipFill>
          <a:blip r:embed="rId3"/>
          <a:stretch>
            <a:fillRect/>
          </a:stretch>
        </p:blipFill>
        <p:spPr>
          <a:xfrm>
            <a:off x="6710994" y="3226887"/>
            <a:ext cx="4774872" cy="3051610"/>
          </a:xfrm>
          <a:prstGeom prst="rect">
            <a:avLst/>
          </a:prstGeom>
        </p:spPr>
      </p:pic>
    </p:spTree>
    <p:extLst>
      <p:ext uri="{BB962C8B-B14F-4D97-AF65-F5344CB8AC3E}">
        <p14:creationId xmlns:p14="http://schemas.microsoft.com/office/powerpoint/2010/main" val="1200013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Eddy currents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7950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17" name="TextBox 16">
            <a:extLst>
              <a:ext uri="{FF2B5EF4-FFF2-40B4-BE49-F238E27FC236}">
                <a16:creationId xmlns:a16="http://schemas.microsoft.com/office/drawing/2014/main" id="{46585C8E-D080-FB12-7073-0E50D5C13329}"/>
              </a:ext>
            </a:extLst>
          </p:cNvPr>
          <p:cNvSpPr txBox="1"/>
          <p:nvPr/>
        </p:nvSpPr>
        <p:spPr>
          <a:xfrm>
            <a:off x="58327" y="-1784983"/>
            <a:ext cx="11427539" cy="5264350"/>
          </a:xfrm>
          <a:prstGeom prst="rect">
            <a:avLst/>
          </a:prstGeom>
          <a:noFill/>
          <a:ln>
            <a:noFill/>
          </a:ln>
        </p:spPr>
        <p:txBody>
          <a:bodyPr wrap="none" rtlCol="0" anchor="t" anchorCtr="0">
            <a:normAutofit/>
          </a:bodyPr>
          <a:lstStyle/>
          <a:p>
            <a:pPr algn="l"/>
            <a:endParaRPr lang="en-AU" sz="2000" b="1" dirty="0">
              <a:latin typeface="Century Gothic" panose="020B0502020202020204" pitchFamily="34" charset="0"/>
              <a:cs typeface="Futura Medium" panose="020B0602020204020303" pitchFamily="34" charset="-79"/>
            </a:endParaRPr>
          </a:p>
          <a:p>
            <a:pPr algn="l"/>
            <a:endParaRPr lang="en-AU" sz="2000" b="1" dirty="0">
              <a:latin typeface="Century Gothic" panose="020B0502020202020204" pitchFamily="34" charset="0"/>
              <a:cs typeface="Futura Medium" panose="020B0602020204020303" pitchFamily="34" charset="-79"/>
            </a:endParaRPr>
          </a:p>
        </p:txBody>
      </p:sp>
      <p:sp>
        <p:nvSpPr>
          <p:cNvPr id="6" name="Rectangle 5">
            <a:extLst>
              <a:ext uri="{FF2B5EF4-FFF2-40B4-BE49-F238E27FC236}">
                <a16:creationId xmlns:a16="http://schemas.microsoft.com/office/drawing/2014/main" id="{15578A69-BC16-4D6E-18CF-4CE2B892313E}"/>
              </a:ext>
            </a:extLst>
          </p:cNvPr>
          <p:cNvSpPr/>
          <p:nvPr/>
        </p:nvSpPr>
        <p:spPr>
          <a:xfrm>
            <a:off x="295275" y="1016956"/>
            <a:ext cx="5707380" cy="27659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AU" sz="2000" dirty="0">
                <a:solidFill>
                  <a:schemeClr val="tx1"/>
                </a:solidFill>
              </a:rPr>
              <a:t>Steps:</a:t>
            </a:r>
          </a:p>
          <a:p>
            <a:pPr marL="457200" indent="-457200">
              <a:buAutoNum type="arabicPeriod"/>
            </a:pPr>
            <a:r>
              <a:rPr lang="en-AU" sz="2000" dirty="0">
                <a:solidFill>
                  <a:schemeClr val="tx1"/>
                </a:solidFill>
              </a:rPr>
              <a:t>Work out how the flux is changing</a:t>
            </a:r>
          </a:p>
          <a:p>
            <a:pPr marL="457200" indent="-457200">
              <a:buAutoNum type="arabicPeriod"/>
            </a:pPr>
            <a:r>
              <a:rPr lang="en-AU" sz="2000" dirty="0">
                <a:solidFill>
                  <a:schemeClr val="tx1"/>
                </a:solidFill>
              </a:rPr>
              <a:t>The opposing flux must be opposite this</a:t>
            </a:r>
          </a:p>
          <a:p>
            <a:pPr marL="457200" indent="-457200">
              <a:buAutoNum type="arabicPeriod"/>
            </a:pPr>
            <a:r>
              <a:rPr lang="en-AU" sz="2000" dirty="0">
                <a:solidFill>
                  <a:schemeClr val="tx1"/>
                </a:solidFill>
              </a:rPr>
              <a:t>Use right-hand rule to determine direction of current</a:t>
            </a:r>
          </a:p>
        </p:txBody>
      </p:sp>
      <p:pic>
        <p:nvPicPr>
          <p:cNvPr id="1026" name="Picture 2" descr="Simulating Eddy Current Brakes | COMSOL Blog">
            <a:extLst>
              <a:ext uri="{FF2B5EF4-FFF2-40B4-BE49-F238E27FC236}">
                <a16:creationId xmlns:a16="http://schemas.microsoft.com/office/drawing/2014/main" id="{E54C17E3-0680-0436-B516-FCC4F93523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796" y="2694993"/>
            <a:ext cx="6679914" cy="347912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6F9F0B0-E882-7562-AAC9-EB5C7BD3EEEA}"/>
              </a:ext>
            </a:extLst>
          </p:cNvPr>
          <p:cNvSpPr txBox="1"/>
          <p:nvPr/>
        </p:nvSpPr>
        <p:spPr>
          <a:xfrm>
            <a:off x="3678148" y="4190729"/>
            <a:ext cx="324686" cy="393880"/>
          </a:xfrm>
          <a:prstGeom prst="rect">
            <a:avLst/>
          </a:prstGeom>
          <a:noFill/>
          <a:ln>
            <a:noFill/>
          </a:ln>
        </p:spPr>
        <p:txBody>
          <a:bodyPr wrap="square" rtlCol="0" anchor="t" anchorCtr="0">
            <a:normAutofit fontScale="40000" lnSpcReduction="20000"/>
          </a:bodyPr>
          <a:lstStyle/>
          <a:p>
            <a:pPr algn="l"/>
            <a:r>
              <a:rPr lang="en-AU" sz="5400" b="1" dirty="0">
                <a:latin typeface="Century Gothic" panose="020B0502020202020204" pitchFamily="34" charset="0"/>
                <a:cs typeface="Futura Medium" panose="020B0602020204020303" pitchFamily="34" charset="-79"/>
              </a:rPr>
              <a:t>N</a:t>
            </a:r>
          </a:p>
        </p:txBody>
      </p:sp>
      <p:sp>
        <p:nvSpPr>
          <p:cNvPr id="10" name="TextBox 9">
            <a:extLst>
              <a:ext uri="{FF2B5EF4-FFF2-40B4-BE49-F238E27FC236}">
                <a16:creationId xmlns:a16="http://schemas.microsoft.com/office/drawing/2014/main" id="{5CC5CA71-7E19-1ED8-911D-B6A5FA93F1FA}"/>
              </a:ext>
            </a:extLst>
          </p:cNvPr>
          <p:cNvSpPr txBox="1"/>
          <p:nvPr/>
        </p:nvSpPr>
        <p:spPr>
          <a:xfrm>
            <a:off x="3736368" y="4985482"/>
            <a:ext cx="324686" cy="393880"/>
          </a:xfrm>
          <a:prstGeom prst="rect">
            <a:avLst/>
          </a:prstGeom>
          <a:noFill/>
          <a:ln>
            <a:noFill/>
          </a:ln>
        </p:spPr>
        <p:txBody>
          <a:bodyPr wrap="square" rtlCol="0" anchor="t" anchorCtr="0">
            <a:normAutofit fontScale="40000" lnSpcReduction="20000"/>
          </a:bodyPr>
          <a:lstStyle/>
          <a:p>
            <a:pPr algn="l"/>
            <a:r>
              <a:rPr lang="en-AU" sz="5400" b="1" dirty="0">
                <a:latin typeface="Century Gothic" panose="020B0502020202020204" pitchFamily="34" charset="0"/>
                <a:cs typeface="Futura Medium" panose="020B0602020204020303" pitchFamily="34" charset="-79"/>
              </a:rPr>
              <a:t>S</a:t>
            </a:r>
          </a:p>
        </p:txBody>
      </p:sp>
      <p:pic>
        <p:nvPicPr>
          <p:cNvPr id="5" name="Picture 4">
            <a:extLst>
              <a:ext uri="{FF2B5EF4-FFF2-40B4-BE49-F238E27FC236}">
                <a16:creationId xmlns:a16="http://schemas.microsoft.com/office/drawing/2014/main" id="{10F01446-4194-E60F-A0B5-BAC127D9D2D0}"/>
              </a:ext>
            </a:extLst>
          </p:cNvPr>
          <p:cNvPicPr>
            <a:picLocks noChangeAspect="1"/>
          </p:cNvPicPr>
          <p:nvPr/>
        </p:nvPicPr>
        <p:blipFill>
          <a:blip r:embed="rId4"/>
          <a:stretch>
            <a:fillRect/>
          </a:stretch>
        </p:blipFill>
        <p:spPr>
          <a:xfrm>
            <a:off x="7139080" y="735792"/>
            <a:ext cx="4503326" cy="3033232"/>
          </a:xfrm>
          <a:prstGeom prst="rect">
            <a:avLst/>
          </a:prstGeom>
        </p:spPr>
      </p:pic>
      <p:sp>
        <p:nvSpPr>
          <p:cNvPr id="14" name="Arrow: Curved Right 13">
            <a:extLst>
              <a:ext uri="{FF2B5EF4-FFF2-40B4-BE49-F238E27FC236}">
                <a16:creationId xmlns:a16="http://schemas.microsoft.com/office/drawing/2014/main" id="{695AE994-C00E-4130-2AE8-B833E0B35B5D}"/>
              </a:ext>
            </a:extLst>
          </p:cNvPr>
          <p:cNvSpPr/>
          <p:nvPr/>
        </p:nvSpPr>
        <p:spPr>
          <a:xfrm rot="11711370">
            <a:off x="4868178" y="3894403"/>
            <a:ext cx="552544" cy="978756"/>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Tree>
    <p:extLst>
      <p:ext uri="{BB962C8B-B14F-4D97-AF65-F5344CB8AC3E}">
        <p14:creationId xmlns:p14="http://schemas.microsoft.com/office/powerpoint/2010/main" val="4272060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US" dirty="0"/>
              <a:t>M</a:t>
            </a:r>
            <a:r>
              <a:rPr lang="en-AU" dirty="0" err="1"/>
              <a:t>agnetic</a:t>
            </a:r>
            <a:r>
              <a:rPr lang="en-AU" dirty="0"/>
              <a:t> field lines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6" name="Rectangle 5">
            <a:extLst>
              <a:ext uri="{FF2B5EF4-FFF2-40B4-BE49-F238E27FC236}">
                <a16:creationId xmlns:a16="http://schemas.microsoft.com/office/drawing/2014/main" id="{B6495A8A-35A5-55BB-97A2-56ABAEF634B4}"/>
              </a:ext>
            </a:extLst>
          </p:cNvPr>
          <p:cNvSpPr/>
          <p:nvPr/>
        </p:nvSpPr>
        <p:spPr>
          <a:xfrm>
            <a:off x="280206" y="925271"/>
            <a:ext cx="11603355" cy="5360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AU" sz="2800" dirty="0">
                <a:solidFill>
                  <a:schemeClr val="tx1"/>
                </a:solidFill>
              </a:rPr>
              <a:t>For magnetic field lines of a wire, make sure that:</a:t>
            </a:r>
          </a:p>
          <a:p>
            <a:pPr marL="457200" indent="-457200">
              <a:buFont typeface="Arial" panose="020B0604020202020204" pitchFamily="34" charset="0"/>
              <a:buChar char="•"/>
            </a:pPr>
            <a:r>
              <a:rPr lang="en-AU" sz="2800" dirty="0">
                <a:solidFill>
                  <a:schemeClr val="tx1"/>
                </a:solidFill>
              </a:rPr>
              <a:t>You draw at least 3 lines</a:t>
            </a:r>
          </a:p>
          <a:p>
            <a:pPr marL="457200" indent="-457200">
              <a:buFont typeface="Arial" panose="020B0604020202020204" pitchFamily="34" charset="0"/>
              <a:buChar char="•"/>
            </a:pPr>
            <a:r>
              <a:rPr lang="en-AU" sz="2800" dirty="0">
                <a:solidFill>
                  <a:schemeClr val="tx1"/>
                </a:solidFill>
              </a:rPr>
              <a:t>The circles are increasing in distance away from the wire.</a:t>
            </a:r>
          </a:p>
        </p:txBody>
      </p:sp>
      <p:sp>
        <p:nvSpPr>
          <p:cNvPr id="3" name="Oval 2">
            <a:extLst>
              <a:ext uri="{FF2B5EF4-FFF2-40B4-BE49-F238E27FC236}">
                <a16:creationId xmlns:a16="http://schemas.microsoft.com/office/drawing/2014/main" id="{204C40D5-EBA1-45ED-5663-5BDE83092630}"/>
              </a:ext>
            </a:extLst>
          </p:cNvPr>
          <p:cNvSpPr/>
          <p:nvPr/>
        </p:nvSpPr>
        <p:spPr>
          <a:xfrm>
            <a:off x="5324357" y="4132163"/>
            <a:ext cx="497711" cy="49771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Oval 4">
            <a:extLst>
              <a:ext uri="{FF2B5EF4-FFF2-40B4-BE49-F238E27FC236}">
                <a16:creationId xmlns:a16="http://schemas.microsoft.com/office/drawing/2014/main" id="{94864827-AF80-8A07-F128-67244EEC2668}"/>
              </a:ext>
            </a:extLst>
          </p:cNvPr>
          <p:cNvSpPr/>
          <p:nvPr/>
        </p:nvSpPr>
        <p:spPr>
          <a:xfrm>
            <a:off x="4946249" y="3754055"/>
            <a:ext cx="1253924" cy="12539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Oval 8">
            <a:extLst>
              <a:ext uri="{FF2B5EF4-FFF2-40B4-BE49-F238E27FC236}">
                <a16:creationId xmlns:a16="http://schemas.microsoft.com/office/drawing/2014/main" id="{D70B6FB3-7CA6-D1D9-7566-A5FE7974965D}"/>
              </a:ext>
            </a:extLst>
          </p:cNvPr>
          <p:cNvSpPr/>
          <p:nvPr/>
        </p:nvSpPr>
        <p:spPr>
          <a:xfrm>
            <a:off x="4293477" y="3101283"/>
            <a:ext cx="2559470" cy="255947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Oval 10">
            <a:extLst>
              <a:ext uri="{FF2B5EF4-FFF2-40B4-BE49-F238E27FC236}">
                <a16:creationId xmlns:a16="http://schemas.microsoft.com/office/drawing/2014/main" id="{617BF379-AF09-6A4A-D645-E96CCFA610CD}"/>
              </a:ext>
            </a:extLst>
          </p:cNvPr>
          <p:cNvSpPr/>
          <p:nvPr/>
        </p:nvSpPr>
        <p:spPr>
          <a:xfrm>
            <a:off x="3419587" y="2227393"/>
            <a:ext cx="4307249" cy="43072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Isosceles Triangle 15">
            <a:extLst>
              <a:ext uri="{FF2B5EF4-FFF2-40B4-BE49-F238E27FC236}">
                <a16:creationId xmlns:a16="http://schemas.microsoft.com/office/drawing/2014/main" id="{8B782121-2E0A-17F8-4B92-A11962D02749}"/>
              </a:ext>
            </a:extLst>
          </p:cNvPr>
          <p:cNvSpPr/>
          <p:nvPr/>
        </p:nvSpPr>
        <p:spPr>
          <a:xfrm>
            <a:off x="4854499" y="4209061"/>
            <a:ext cx="210041" cy="18107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Isosceles Triangle 16">
            <a:extLst>
              <a:ext uri="{FF2B5EF4-FFF2-40B4-BE49-F238E27FC236}">
                <a16:creationId xmlns:a16="http://schemas.microsoft.com/office/drawing/2014/main" id="{FB89833E-CFBC-F82E-24CE-C758E7995C92}"/>
              </a:ext>
            </a:extLst>
          </p:cNvPr>
          <p:cNvSpPr/>
          <p:nvPr/>
        </p:nvSpPr>
        <p:spPr>
          <a:xfrm>
            <a:off x="4207513" y="4199947"/>
            <a:ext cx="210041" cy="18107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Isosceles Triangle 17">
            <a:extLst>
              <a:ext uri="{FF2B5EF4-FFF2-40B4-BE49-F238E27FC236}">
                <a16:creationId xmlns:a16="http://schemas.microsoft.com/office/drawing/2014/main" id="{56283EAE-7781-02C3-E8F2-C9E91DF4B05A}"/>
              </a:ext>
            </a:extLst>
          </p:cNvPr>
          <p:cNvSpPr/>
          <p:nvPr/>
        </p:nvSpPr>
        <p:spPr>
          <a:xfrm>
            <a:off x="3333624" y="4190833"/>
            <a:ext cx="210041" cy="18107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Isosceles Triangle 18">
            <a:extLst>
              <a:ext uri="{FF2B5EF4-FFF2-40B4-BE49-F238E27FC236}">
                <a16:creationId xmlns:a16="http://schemas.microsoft.com/office/drawing/2014/main" id="{4C732038-DCB4-54BF-A793-A17210711BEF}"/>
              </a:ext>
            </a:extLst>
          </p:cNvPr>
          <p:cNvSpPr/>
          <p:nvPr/>
        </p:nvSpPr>
        <p:spPr>
          <a:xfrm rot="10800000">
            <a:off x="6081885" y="4272254"/>
            <a:ext cx="210041" cy="18107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Isosceles Triangle 19">
            <a:extLst>
              <a:ext uri="{FF2B5EF4-FFF2-40B4-BE49-F238E27FC236}">
                <a16:creationId xmlns:a16="http://schemas.microsoft.com/office/drawing/2014/main" id="{EB9A8CD0-F3DE-B47E-EDB3-65A3D9F3A3EF}"/>
              </a:ext>
            </a:extLst>
          </p:cNvPr>
          <p:cNvSpPr/>
          <p:nvPr/>
        </p:nvSpPr>
        <p:spPr>
          <a:xfrm rot="10800000">
            <a:off x="6747924" y="4272255"/>
            <a:ext cx="210041" cy="18107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Isosceles Triangle 20">
            <a:extLst>
              <a:ext uri="{FF2B5EF4-FFF2-40B4-BE49-F238E27FC236}">
                <a16:creationId xmlns:a16="http://schemas.microsoft.com/office/drawing/2014/main" id="{B012851E-87D5-D404-202E-25D55D8127B3}"/>
              </a:ext>
            </a:extLst>
          </p:cNvPr>
          <p:cNvSpPr/>
          <p:nvPr/>
        </p:nvSpPr>
        <p:spPr>
          <a:xfrm rot="10800000">
            <a:off x="7631695" y="4272254"/>
            <a:ext cx="210041" cy="18107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836312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AC Generators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11" name="Rectangle 10">
            <a:extLst>
              <a:ext uri="{FF2B5EF4-FFF2-40B4-BE49-F238E27FC236}">
                <a16:creationId xmlns:a16="http://schemas.microsoft.com/office/drawing/2014/main" id="{2B4DE4DB-6EAC-05DA-E468-02DFFBCA4EF4}"/>
              </a:ext>
            </a:extLst>
          </p:cNvPr>
          <p:cNvSpPr/>
          <p:nvPr/>
        </p:nvSpPr>
        <p:spPr>
          <a:xfrm>
            <a:off x="456451" y="1035124"/>
            <a:ext cx="11198519" cy="4364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AU" sz="2000" b="1" dirty="0">
                <a:solidFill>
                  <a:schemeClr val="tx1"/>
                </a:solidFill>
              </a:rPr>
              <a:t>Motor</a:t>
            </a:r>
            <a:r>
              <a:rPr lang="en-AU" sz="2000" dirty="0">
                <a:solidFill>
                  <a:schemeClr val="tx1"/>
                </a:solidFill>
              </a:rPr>
              <a:t>: flows a current through a coil inside a magnetic field to generate motion</a:t>
            </a:r>
          </a:p>
          <a:p>
            <a:r>
              <a:rPr lang="en-AU" sz="2000" dirty="0">
                <a:solidFill>
                  <a:schemeClr val="tx1"/>
                </a:solidFill>
              </a:rPr>
              <a:t>	electrical energy </a:t>
            </a:r>
            <a:r>
              <a:rPr lang="en-AU" sz="2000" dirty="0">
                <a:solidFill>
                  <a:schemeClr val="tx1"/>
                </a:solidFill>
                <a:sym typeface="Wingdings" panose="05000000000000000000" pitchFamily="2" charset="2"/>
              </a:rPr>
              <a:t></a:t>
            </a:r>
            <a:r>
              <a:rPr lang="en-AU" sz="2000" dirty="0">
                <a:solidFill>
                  <a:schemeClr val="tx1"/>
                </a:solidFill>
              </a:rPr>
              <a:t> kinetic energy</a:t>
            </a:r>
          </a:p>
          <a:p>
            <a:endParaRPr lang="en-AU" sz="2000" dirty="0">
              <a:solidFill>
                <a:schemeClr val="tx1"/>
              </a:solidFill>
            </a:endParaRPr>
          </a:p>
          <a:p>
            <a:r>
              <a:rPr lang="en-AU" sz="2000" b="1" dirty="0">
                <a:solidFill>
                  <a:schemeClr val="tx1"/>
                </a:solidFill>
              </a:rPr>
              <a:t>Generator: </a:t>
            </a:r>
            <a:r>
              <a:rPr lang="en-AU" sz="2000" dirty="0">
                <a:solidFill>
                  <a:schemeClr val="tx1"/>
                </a:solidFill>
              </a:rPr>
              <a:t>moves a coil inside a magnetic field to generate electricity</a:t>
            </a:r>
          </a:p>
          <a:p>
            <a:r>
              <a:rPr lang="en-AU" sz="2000" b="1" dirty="0">
                <a:solidFill>
                  <a:schemeClr val="tx1"/>
                </a:solidFill>
              </a:rPr>
              <a:t>	</a:t>
            </a:r>
            <a:r>
              <a:rPr lang="en-AU" sz="2000" dirty="0">
                <a:solidFill>
                  <a:schemeClr val="tx1"/>
                </a:solidFill>
              </a:rPr>
              <a:t>kinetic energy </a:t>
            </a:r>
            <a:r>
              <a:rPr lang="en-AU" sz="2000" dirty="0">
                <a:solidFill>
                  <a:schemeClr val="tx1"/>
                </a:solidFill>
                <a:sym typeface="Wingdings" panose="05000000000000000000" pitchFamily="2" charset="2"/>
              </a:rPr>
              <a:t> electrical energy</a:t>
            </a:r>
            <a:endParaRPr lang="en-AU" sz="2000" dirty="0">
              <a:solidFill>
                <a:schemeClr val="tx1"/>
              </a:solidFill>
            </a:endParaRPr>
          </a:p>
          <a:p>
            <a:endParaRPr lang="en-AU" dirty="0">
              <a:solidFill>
                <a:schemeClr val="tx1"/>
              </a:solidFill>
            </a:endParaRPr>
          </a:p>
          <a:p>
            <a:endParaRPr lang="en-AU" dirty="0">
              <a:solidFill>
                <a:schemeClr val="tx1"/>
              </a:solidFill>
            </a:endParaRPr>
          </a:p>
          <a:p>
            <a:endParaRPr lang="en-AU" sz="1600" dirty="0">
              <a:solidFill>
                <a:schemeClr val="tx1"/>
              </a:solidFill>
            </a:endParaRPr>
          </a:p>
        </p:txBody>
      </p:sp>
      <p:pic>
        <p:nvPicPr>
          <p:cNvPr id="8" name="Picture 7">
            <a:extLst>
              <a:ext uri="{FF2B5EF4-FFF2-40B4-BE49-F238E27FC236}">
                <a16:creationId xmlns:a16="http://schemas.microsoft.com/office/drawing/2014/main" id="{4ED67C2A-A2A3-2581-3A7D-1733F6EBF8D4}"/>
              </a:ext>
            </a:extLst>
          </p:cNvPr>
          <p:cNvPicPr>
            <a:picLocks noChangeAspect="1"/>
          </p:cNvPicPr>
          <p:nvPr/>
        </p:nvPicPr>
        <p:blipFill>
          <a:blip r:embed="rId3"/>
          <a:stretch>
            <a:fillRect/>
          </a:stretch>
        </p:blipFill>
        <p:spPr>
          <a:xfrm>
            <a:off x="-8804275" y="574709"/>
            <a:ext cx="7800975" cy="1038225"/>
          </a:xfrm>
          <a:prstGeom prst="rect">
            <a:avLst/>
          </a:prstGeom>
        </p:spPr>
      </p:pic>
      <p:pic>
        <p:nvPicPr>
          <p:cNvPr id="6" name="Picture 5">
            <a:extLst>
              <a:ext uri="{FF2B5EF4-FFF2-40B4-BE49-F238E27FC236}">
                <a16:creationId xmlns:a16="http://schemas.microsoft.com/office/drawing/2014/main" id="{8A5AE26C-46DF-B065-E538-1B63B0F16036}"/>
              </a:ext>
            </a:extLst>
          </p:cNvPr>
          <p:cNvPicPr>
            <a:picLocks noChangeAspect="1"/>
          </p:cNvPicPr>
          <p:nvPr/>
        </p:nvPicPr>
        <p:blipFill>
          <a:blip r:embed="rId4"/>
          <a:stretch>
            <a:fillRect/>
          </a:stretch>
        </p:blipFill>
        <p:spPr>
          <a:xfrm>
            <a:off x="-6367690" y="1906247"/>
            <a:ext cx="5743575" cy="1971675"/>
          </a:xfrm>
          <a:prstGeom prst="rect">
            <a:avLst/>
          </a:prstGeom>
        </p:spPr>
      </p:pic>
      <p:pic>
        <p:nvPicPr>
          <p:cNvPr id="9" name="Picture 8">
            <a:extLst>
              <a:ext uri="{FF2B5EF4-FFF2-40B4-BE49-F238E27FC236}">
                <a16:creationId xmlns:a16="http://schemas.microsoft.com/office/drawing/2014/main" id="{E129CA15-46D0-9CCA-CFD9-458136AEC162}"/>
              </a:ext>
            </a:extLst>
          </p:cNvPr>
          <p:cNvPicPr>
            <a:picLocks noChangeAspect="1"/>
          </p:cNvPicPr>
          <p:nvPr/>
        </p:nvPicPr>
        <p:blipFill>
          <a:blip r:embed="rId5"/>
          <a:stretch>
            <a:fillRect/>
          </a:stretch>
        </p:blipFill>
        <p:spPr>
          <a:xfrm>
            <a:off x="-6367690" y="3954235"/>
            <a:ext cx="5686425" cy="2238375"/>
          </a:xfrm>
          <a:prstGeom prst="rect">
            <a:avLst/>
          </a:prstGeom>
        </p:spPr>
      </p:pic>
      <p:pic>
        <p:nvPicPr>
          <p:cNvPr id="14" name="Picture 13">
            <a:extLst>
              <a:ext uri="{FF2B5EF4-FFF2-40B4-BE49-F238E27FC236}">
                <a16:creationId xmlns:a16="http://schemas.microsoft.com/office/drawing/2014/main" id="{5DC4AD08-180C-C12C-AA93-B0533C569798}"/>
              </a:ext>
            </a:extLst>
          </p:cNvPr>
          <p:cNvPicPr>
            <a:picLocks noChangeAspect="1"/>
          </p:cNvPicPr>
          <p:nvPr/>
        </p:nvPicPr>
        <p:blipFill rotWithShape="1">
          <a:blip r:embed="rId6"/>
          <a:srcRect b="4864"/>
          <a:stretch/>
        </p:blipFill>
        <p:spPr>
          <a:xfrm>
            <a:off x="655906" y="2913631"/>
            <a:ext cx="11079643" cy="2930792"/>
          </a:xfrm>
          <a:prstGeom prst="rect">
            <a:avLst/>
          </a:prstGeom>
        </p:spPr>
      </p:pic>
      <p:sp>
        <p:nvSpPr>
          <p:cNvPr id="15" name="Rectangle 14">
            <a:extLst>
              <a:ext uri="{FF2B5EF4-FFF2-40B4-BE49-F238E27FC236}">
                <a16:creationId xmlns:a16="http://schemas.microsoft.com/office/drawing/2014/main" id="{29A44937-A578-A417-1C5D-19857AFCC9E3}"/>
              </a:ext>
            </a:extLst>
          </p:cNvPr>
          <p:cNvSpPr/>
          <p:nvPr/>
        </p:nvSpPr>
        <p:spPr>
          <a:xfrm>
            <a:off x="1853451" y="5937177"/>
            <a:ext cx="1423149" cy="5207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AU" sz="2000" b="1" dirty="0">
                <a:solidFill>
                  <a:schemeClr val="tx1"/>
                </a:solidFill>
              </a:rPr>
              <a:t>Motor</a:t>
            </a:r>
            <a:endParaRPr lang="en-AU" dirty="0">
              <a:solidFill>
                <a:schemeClr val="tx1"/>
              </a:solidFill>
            </a:endParaRPr>
          </a:p>
          <a:p>
            <a:endParaRPr lang="en-AU" dirty="0">
              <a:solidFill>
                <a:schemeClr val="tx1"/>
              </a:solidFill>
            </a:endParaRPr>
          </a:p>
          <a:p>
            <a:endParaRPr lang="en-AU" sz="1600" dirty="0">
              <a:solidFill>
                <a:schemeClr val="tx1"/>
              </a:solidFill>
            </a:endParaRPr>
          </a:p>
        </p:txBody>
      </p:sp>
      <p:sp>
        <p:nvSpPr>
          <p:cNvPr id="16" name="Rectangle 15">
            <a:extLst>
              <a:ext uri="{FF2B5EF4-FFF2-40B4-BE49-F238E27FC236}">
                <a16:creationId xmlns:a16="http://schemas.microsoft.com/office/drawing/2014/main" id="{E9C48F34-4532-0826-40B8-2D229A3CEAFB}"/>
              </a:ext>
            </a:extLst>
          </p:cNvPr>
          <p:cNvSpPr/>
          <p:nvPr/>
        </p:nvSpPr>
        <p:spPr>
          <a:xfrm>
            <a:off x="7791451" y="5937177"/>
            <a:ext cx="1785938" cy="5207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AU" sz="2000" b="1" dirty="0">
                <a:solidFill>
                  <a:schemeClr val="tx1"/>
                </a:solidFill>
              </a:rPr>
              <a:t>Generator</a:t>
            </a:r>
            <a:endParaRPr lang="en-AU" dirty="0">
              <a:solidFill>
                <a:schemeClr val="tx1"/>
              </a:solidFill>
            </a:endParaRPr>
          </a:p>
          <a:p>
            <a:endParaRPr lang="en-AU" dirty="0">
              <a:solidFill>
                <a:schemeClr val="tx1"/>
              </a:solidFill>
            </a:endParaRPr>
          </a:p>
          <a:p>
            <a:endParaRPr lang="en-AU" sz="1600" dirty="0">
              <a:solidFill>
                <a:schemeClr val="tx1"/>
              </a:solidFill>
            </a:endParaRPr>
          </a:p>
        </p:txBody>
      </p:sp>
    </p:spTree>
    <p:extLst>
      <p:ext uri="{BB962C8B-B14F-4D97-AF65-F5344CB8AC3E}">
        <p14:creationId xmlns:p14="http://schemas.microsoft.com/office/powerpoint/2010/main" val="856852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US" dirty="0"/>
              <a:t>A</a:t>
            </a:r>
            <a:r>
              <a:rPr lang="en-AU" dirty="0"/>
              <a:t>C Generators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pic>
        <p:nvPicPr>
          <p:cNvPr id="6" name="Picture 5">
            <a:extLst>
              <a:ext uri="{FF2B5EF4-FFF2-40B4-BE49-F238E27FC236}">
                <a16:creationId xmlns:a16="http://schemas.microsoft.com/office/drawing/2014/main" id="{7C10D126-1F4C-3B43-74EE-DE6FD5E34294}"/>
              </a:ext>
            </a:extLst>
          </p:cNvPr>
          <p:cNvPicPr>
            <a:picLocks noChangeAspect="1"/>
          </p:cNvPicPr>
          <p:nvPr/>
        </p:nvPicPr>
        <p:blipFill>
          <a:blip r:embed="rId3"/>
          <a:stretch>
            <a:fillRect/>
          </a:stretch>
        </p:blipFill>
        <p:spPr>
          <a:xfrm>
            <a:off x="29029" y="1105603"/>
            <a:ext cx="3132138" cy="3949679"/>
          </a:xfrm>
          <a:prstGeom prst="rect">
            <a:avLst/>
          </a:prstGeom>
        </p:spPr>
      </p:pic>
      <p:pic>
        <p:nvPicPr>
          <p:cNvPr id="8" name="Picture 7">
            <a:extLst>
              <a:ext uri="{FF2B5EF4-FFF2-40B4-BE49-F238E27FC236}">
                <a16:creationId xmlns:a16="http://schemas.microsoft.com/office/drawing/2014/main" id="{19CC623E-3A98-52EF-F0B4-EF522BEEB4C3}"/>
              </a:ext>
            </a:extLst>
          </p:cNvPr>
          <p:cNvPicPr>
            <a:picLocks noChangeAspect="1"/>
          </p:cNvPicPr>
          <p:nvPr/>
        </p:nvPicPr>
        <p:blipFill>
          <a:blip r:embed="rId4"/>
          <a:stretch>
            <a:fillRect/>
          </a:stretch>
        </p:blipFill>
        <p:spPr>
          <a:xfrm>
            <a:off x="3161167" y="1105603"/>
            <a:ext cx="3079808" cy="3818118"/>
          </a:xfrm>
          <a:prstGeom prst="rect">
            <a:avLst/>
          </a:prstGeom>
        </p:spPr>
      </p:pic>
      <p:pic>
        <p:nvPicPr>
          <p:cNvPr id="12" name="Picture 11">
            <a:extLst>
              <a:ext uri="{FF2B5EF4-FFF2-40B4-BE49-F238E27FC236}">
                <a16:creationId xmlns:a16="http://schemas.microsoft.com/office/drawing/2014/main" id="{A4A0B35A-2A0E-AA6F-4CA6-D2855C587C1B}"/>
              </a:ext>
            </a:extLst>
          </p:cNvPr>
          <p:cNvPicPr>
            <a:picLocks noChangeAspect="1"/>
          </p:cNvPicPr>
          <p:nvPr/>
        </p:nvPicPr>
        <p:blipFill>
          <a:blip r:embed="rId5"/>
          <a:stretch>
            <a:fillRect/>
          </a:stretch>
        </p:blipFill>
        <p:spPr>
          <a:xfrm>
            <a:off x="3161167" y="5076870"/>
            <a:ext cx="2562225" cy="1419225"/>
          </a:xfrm>
          <a:prstGeom prst="rect">
            <a:avLst/>
          </a:prstGeom>
        </p:spPr>
      </p:pic>
      <p:pic>
        <p:nvPicPr>
          <p:cNvPr id="15" name="Picture 14">
            <a:extLst>
              <a:ext uri="{FF2B5EF4-FFF2-40B4-BE49-F238E27FC236}">
                <a16:creationId xmlns:a16="http://schemas.microsoft.com/office/drawing/2014/main" id="{0B5609E2-F861-9BE4-B284-4197A199156D}"/>
              </a:ext>
            </a:extLst>
          </p:cNvPr>
          <p:cNvPicPr>
            <a:picLocks noChangeAspect="1"/>
          </p:cNvPicPr>
          <p:nvPr/>
        </p:nvPicPr>
        <p:blipFill>
          <a:blip r:embed="rId6"/>
          <a:stretch>
            <a:fillRect/>
          </a:stretch>
        </p:blipFill>
        <p:spPr>
          <a:xfrm>
            <a:off x="6197147" y="755130"/>
            <a:ext cx="5667375" cy="4438650"/>
          </a:xfrm>
          <a:prstGeom prst="rect">
            <a:avLst/>
          </a:prstGeom>
        </p:spPr>
      </p:pic>
    </p:spTree>
    <p:extLst>
      <p:ext uri="{BB962C8B-B14F-4D97-AF65-F5344CB8AC3E}">
        <p14:creationId xmlns:p14="http://schemas.microsoft.com/office/powerpoint/2010/main" val="134975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AC Generators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11" name="Rectangle 10">
            <a:extLst>
              <a:ext uri="{FF2B5EF4-FFF2-40B4-BE49-F238E27FC236}">
                <a16:creationId xmlns:a16="http://schemas.microsoft.com/office/drawing/2014/main" id="{2B4DE4DB-6EAC-05DA-E468-02DFFBCA4EF4}"/>
              </a:ext>
            </a:extLst>
          </p:cNvPr>
          <p:cNvSpPr/>
          <p:nvPr/>
        </p:nvSpPr>
        <p:spPr>
          <a:xfrm>
            <a:off x="456451" y="1035124"/>
            <a:ext cx="11198519" cy="4364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AU" dirty="0">
              <a:solidFill>
                <a:schemeClr val="tx1"/>
              </a:solidFill>
            </a:endParaRPr>
          </a:p>
          <a:p>
            <a:endParaRPr lang="en-AU" sz="1600" dirty="0">
              <a:solidFill>
                <a:schemeClr val="tx1"/>
              </a:solidFill>
            </a:endParaRPr>
          </a:p>
        </p:txBody>
      </p:sp>
      <p:pic>
        <p:nvPicPr>
          <p:cNvPr id="8" name="Picture 7">
            <a:extLst>
              <a:ext uri="{FF2B5EF4-FFF2-40B4-BE49-F238E27FC236}">
                <a16:creationId xmlns:a16="http://schemas.microsoft.com/office/drawing/2014/main" id="{4ED67C2A-A2A3-2581-3A7D-1733F6EBF8D4}"/>
              </a:ext>
            </a:extLst>
          </p:cNvPr>
          <p:cNvPicPr>
            <a:picLocks noChangeAspect="1"/>
          </p:cNvPicPr>
          <p:nvPr/>
        </p:nvPicPr>
        <p:blipFill>
          <a:blip r:embed="rId3"/>
          <a:stretch>
            <a:fillRect/>
          </a:stretch>
        </p:blipFill>
        <p:spPr>
          <a:xfrm>
            <a:off x="2155222" y="1035124"/>
            <a:ext cx="7800975" cy="1038225"/>
          </a:xfrm>
          <a:prstGeom prst="rect">
            <a:avLst/>
          </a:prstGeom>
        </p:spPr>
      </p:pic>
      <p:sp>
        <p:nvSpPr>
          <p:cNvPr id="12" name="Rectangle 11">
            <a:extLst>
              <a:ext uri="{FF2B5EF4-FFF2-40B4-BE49-F238E27FC236}">
                <a16:creationId xmlns:a16="http://schemas.microsoft.com/office/drawing/2014/main" id="{26143E64-9A99-EB65-5714-986E17D1CA35}"/>
              </a:ext>
            </a:extLst>
          </p:cNvPr>
          <p:cNvSpPr/>
          <p:nvPr/>
        </p:nvSpPr>
        <p:spPr>
          <a:xfrm>
            <a:off x="456449" y="2193482"/>
            <a:ext cx="11198519" cy="29251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AU" sz="2000" dirty="0">
                <a:solidFill>
                  <a:schemeClr val="tx1"/>
                </a:solidFill>
              </a:rPr>
              <a:t>Where f = the frequency (Hz) = 1 / period</a:t>
            </a:r>
            <a:endParaRPr lang="en-AU" dirty="0">
              <a:solidFill>
                <a:schemeClr val="tx1"/>
              </a:solidFill>
            </a:endParaRPr>
          </a:p>
          <a:p>
            <a:endParaRPr lang="en-AU" sz="1600" dirty="0">
              <a:solidFill>
                <a:schemeClr val="tx1"/>
              </a:solidFill>
            </a:endParaRPr>
          </a:p>
        </p:txBody>
      </p:sp>
    </p:spTree>
    <p:extLst>
      <p:ext uri="{BB962C8B-B14F-4D97-AF65-F5344CB8AC3E}">
        <p14:creationId xmlns:p14="http://schemas.microsoft.com/office/powerpoint/2010/main" val="1359130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AC Generators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11" name="Rectangle 10">
            <a:extLst>
              <a:ext uri="{FF2B5EF4-FFF2-40B4-BE49-F238E27FC236}">
                <a16:creationId xmlns:a16="http://schemas.microsoft.com/office/drawing/2014/main" id="{2B4DE4DB-6EAC-05DA-E468-02DFFBCA4EF4}"/>
              </a:ext>
            </a:extLst>
          </p:cNvPr>
          <p:cNvSpPr/>
          <p:nvPr/>
        </p:nvSpPr>
        <p:spPr>
          <a:xfrm>
            <a:off x="456451" y="1035124"/>
            <a:ext cx="11198519" cy="4364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AU" dirty="0">
              <a:solidFill>
                <a:schemeClr val="tx1"/>
              </a:solidFill>
            </a:endParaRPr>
          </a:p>
          <a:p>
            <a:endParaRPr lang="en-AU" sz="1600" dirty="0">
              <a:solidFill>
                <a:schemeClr val="tx1"/>
              </a:solidFill>
            </a:endParaRPr>
          </a:p>
        </p:txBody>
      </p:sp>
      <p:pic>
        <p:nvPicPr>
          <p:cNvPr id="8" name="Picture 7">
            <a:extLst>
              <a:ext uri="{FF2B5EF4-FFF2-40B4-BE49-F238E27FC236}">
                <a16:creationId xmlns:a16="http://schemas.microsoft.com/office/drawing/2014/main" id="{4ED67C2A-A2A3-2581-3A7D-1733F6EBF8D4}"/>
              </a:ext>
            </a:extLst>
          </p:cNvPr>
          <p:cNvPicPr>
            <a:picLocks noChangeAspect="1"/>
          </p:cNvPicPr>
          <p:nvPr/>
        </p:nvPicPr>
        <p:blipFill>
          <a:blip r:embed="rId3"/>
          <a:stretch>
            <a:fillRect/>
          </a:stretch>
        </p:blipFill>
        <p:spPr>
          <a:xfrm>
            <a:off x="5486400" y="596475"/>
            <a:ext cx="6705600" cy="892442"/>
          </a:xfrm>
          <a:prstGeom prst="rect">
            <a:avLst/>
          </a:prstGeom>
        </p:spPr>
      </p:pic>
      <p:sp>
        <p:nvSpPr>
          <p:cNvPr id="12" name="Rectangle 11">
            <a:extLst>
              <a:ext uri="{FF2B5EF4-FFF2-40B4-BE49-F238E27FC236}">
                <a16:creationId xmlns:a16="http://schemas.microsoft.com/office/drawing/2014/main" id="{26143E64-9A99-EB65-5714-986E17D1CA35}"/>
              </a:ext>
            </a:extLst>
          </p:cNvPr>
          <p:cNvSpPr/>
          <p:nvPr/>
        </p:nvSpPr>
        <p:spPr>
          <a:xfrm>
            <a:off x="295275" y="1360513"/>
            <a:ext cx="11198519" cy="29251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AU" sz="2000" dirty="0">
                <a:solidFill>
                  <a:schemeClr val="tx1"/>
                </a:solidFill>
              </a:rPr>
              <a:t>A generator is made up of 80 turns of a coil and is rotating at 96.0 rpm within a 8.00 T field. The coil is 7.20 cm wide and 12.0 cm long.</a:t>
            </a:r>
          </a:p>
          <a:p>
            <a:pPr marL="457200" indent="-457200">
              <a:buAutoNum type="alphaLcParenR"/>
            </a:pPr>
            <a:r>
              <a:rPr lang="en-AU" sz="2000" dirty="0">
                <a:solidFill>
                  <a:schemeClr val="tx1"/>
                </a:solidFill>
              </a:rPr>
              <a:t>Calculate the max emf produced</a:t>
            </a:r>
          </a:p>
          <a:p>
            <a:pPr marL="342900" indent="-342900">
              <a:buAutoNum type="alphaLcParenR"/>
            </a:pPr>
            <a:r>
              <a:rPr lang="en-AU" sz="2000" dirty="0">
                <a:solidFill>
                  <a:schemeClr val="tx1"/>
                </a:solidFill>
              </a:rPr>
              <a:t>Plot the emf (as measured by the voltmeter for one complete turn.</a:t>
            </a:r>
            <a:endParaRPr lang="en-AU" dirty="0">
              <a:solidFill>
                <a:schemeClr val="tx1"/>
              </a:solidFill>
            </a:endParaRPr>
          </a:p>
          <a:p>
            <a:endParaRPr lang="en-AU" sz="1600" dirty="0">
              <a:solidFill>
                <a:schemeClr val="tx1"/>
              </a:solidFill>
            </a:endParaRPr>
          </a:p>
        </p:txBody>
      </p:sp>
      <p:pic>
        <p:nvPicPr>
          <p:cNvPr id="5" name="Picture 4">
            <a:extLst>
              <a:ext uri="{FF2B5EF4-FFF2-40B4-BE49-F238E27FC236}">
                <a16:creationId xmlns:a16="http://schemas.microsoft.com/office/drawing/2014/main" id="{B43BB3BF-155C-9D08-A815-807D9C599938}"/>
              </a:ext>
            </a:extLst>
          </p:cNvPr>
          <p:cNvPicPr>
            <a:picLocks noChangeAspect="1"/>
          </p:cNvPicPr>
          <p:nvPr/>
        </p:nvPicPr>
        <p:blipFill>
          <a:blip r:embed="rId4"/>
          <a:stretch>
            <a:fillRect/>
          </a:stretch>
        </p:blipFill>
        <p:spPr>
          <a:xfrm>
            <a:off x="537030" y="3349659"/>
            <a:ext cx="3560043" cy="2373362"/>
          </a:xfrm>
          <a:prstGeom prst="rect">
            <a:avLst/>
          </a:prstGeom>
        </p:spPr>
      </p:pic>
      <p:pic>
        <p:nvPicPr>
          <p:cNvPr id="7" name="Picture 6">
            <a:extLst>
              <a:ext uri="{FF2B5EF4-FFF2-40B4-BE49-F238E27FC236}">
                <a16:creationId xmlns:a16="http://schemas.microsoft.com/office/drawing/2014/main" id="{476A71D3-B9E8-1BCE-053C-E4FA2EED70B7}"/>
              </a:ext>
            </a:extLst>
          </p:cNvPr>
          <p:cNvPicPr>
            <a:picLocks noChangeAspect="1"/>
          </p:cNvPicPr>
          <p:nvPr/>
        </p:nvPicPr>
        <p:blipFill>
          <a:blip r:embed="rId5"/>
          <a:stretch>
            <a:fillRect/>
          </a:stretch>
        </p:blipFill>
        <p:spPr>
          <a:xfrm>
            <a:off x="5357288" y="3226662"/>
            <a:ext cx="6136506" cy="2596214"/>
          </a:xfrm>
          <a:prstGeom prst="rect">
            <a:avLst/>
          </a:prstGeom>
        </p:spPr>
      </p:pic>
    </p:spTree>
    <p:extLst>
      <p:ext uri="{BB962C8B-B14F-4D97-AF65-F5344CB8AC3E}">
        <p14:creationId xmlns:p14="http://schemas.microsoft.com/office/powerpoint/2010/main" val="3800856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emf due to moving conductor</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pic>
        <p:nvPicPr>
          <p:cNvPr id="5" name="Picture 4">
            <a:extLst>
              <a:ext uri="{FF2B5EF4-FFF2-40B4-BE49-F238E27FC236}">
                <a16:creationId xmlns:a16="http://schemas.microsoft.com/office/drawing/2014/main" id="{63AB4DED-8E84-E1D3-9EE9-D7440D5BBA44}"/>
              </a:ext>
            </a:extLst>
          </p:cNvPr>
          <p:cNvPicPr>
            <a:picLocks noChangeAspect="1"/>
          </p:cNvPicPr>
          <p:nvPr/>
        </p:nvPicPr>
        <p:blipFill>
          <a:blip r:embed="rId3"/>
          <a:stretch>
            <a:fillRect/>
          </a:stretch>
        </p:blipFill>
        <p:spPr>
          <a:xfrm>
            <a:off x="8246156" y="667556"/>
            <a:ext cx="3699736" cy="494869"/>
          </a:xfrm>
          <a:prstGeom prst="rect">
            <a:avLst/>
          </a:prstGeom>
        </p:spPr>
      </p:pic>
      <p:pic>
        <p:nvPicPr>
          <p:cNvPr id="10" name="Picture 9">
            <a:extLst>
              <a:ext uri="{FF2B5EF4-FFF2-40B4-BE49-F238E27FC236}">
                <a16:creationId xmlns:a16="http://schemas.microsoft.com/office/drawing/2014/main" id="{ADA1C2A9-13D7-6E64-A3DD-89F0CE278FB6}"/>
              </a:ext>
            </a:extLst>
          </p:cNvPr>
          <p:cNvPicPr>
            <a:picLocks noChangeAspect="1"/>
          </p:cNvPicPr>
          <p:nvPr/>
        </p:nvPicPr>
        <p:blipFill>
          <a:blip r:embed="rId4"/>
          <a:stretch>
            <a:fillRect/>
          </a:stretch>
        </p:blipFill>
        <p:spPr>
          <a:xfrm>
            <a:off x="737133" y="2661758"/>
            <a:ext cx="4199198" cy="2934755"/>
          </a:xfrm>
          <a:prstGeom prst="rect">
            <a:avLst/>
          </a:prstGeom>
        </p:spPr>
      </p:pic>
      <p:sp>
        <p:nvSpPr>
          <p:cNvPr id="11" name="Rectangle 10">
            <a:extLst>
              <a:ext uri="{FF2B5EF4-FFF2-40B4-BE49-F238E27FC236}">
                <a16:creationId xmlns:a16="http://schemas.microsoft.com/office/drawing/2014/main" id="{2B4DE4DB-6EAC-05DA-E468-02DFFBCA4EF4}"/>
              </a:ext>
            </a:extLst>
          </p:cNvPr>
          <p:cNvSpPr/>
          <p:nvPr/>
        </p:nvSpPr>
        <p:spPr>
          <a:xfrm>
            <a:off x="456452" y="1035124"/>
            <a:ext cx="7578838" cy="4364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r>
              <a:rPr lang="en-AU" sz="2000" b="1" dirty="0">
                <a:solidFill>
                  <a:schemeClr val="tx1"/>
                </a:solidFill>
              </a:rPr>
              <a:t>Remember: emf is a voltage</a:t>
            </a:r>
          </a:p>
          <a:p>
            <a:pPr algn="just"/>
            <a:endParaRPr lang="en-AU" sz="2000" b="1" dirty="0">
              <a:solidFill>
                <a:schemeClr val="tx1"/>
              </a:solidFill>
            </a:endParaRPr>
          </a:p>
          <a:p>
            <a:pPr algn="ctr"/>
            <a:r>
              <a:rPr lang="en-AU" sz="2400" b="1" dirty="0">
                <a:solidFill>
                  <a:schemeClr val="tx1"/>
                </a:solidFill>
                <a:sym typeface="Symbol" panose="05050102010706020507" pitchFamily="18" charset="2"/>
              </a:rPr>
              <a:t> = V = IR = L v B</a:t>
            </a:r>
            <a:endParaRPr lang="en-AU" sz="2000" b="1" dirty="0">
              <a:solidFill>
                <a:schemeClr val="tx1"/>
              </a:solidFill>
            </a:endParaRPr>
          </a:p>
        </p:txBody>
      </p:sp>
      <p:cxnSp>
        <p:nvCxnSpPr>
          <p:cNvPr id="15" name="Straight Connector 14">
            <a:extLst>
              <a:ext uri="{FF2B5EF4-FFF2-40B4-BE49-F238E27FC236}">
                <a16:creationId xmlns:a16="http://schemas.microsoft.com/office/drawing/2014/main" id="{CC54CF8A-9DA5-B1D7-DF09-866488444926}"/>
              </a:ext>
            </a:extLst>
          </p:cNvPr>
          <p:cNvCxnSpPr>
            <a:cxnSpLocks/>
          </p:cNvCxnSpPr>
          <p:nvPr/>
        </p:nvCxnSpPr>
        <p:spPr>
          <a:xfrm>
            <a:off x="2336800" y="4310743"/>
            <a:ext cx="3704324"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CCAD6B0-1D0F-AEAF-1936-732CD98F29A1}"/>
              </a:ext>
            </a:extLst>
          </p:cNvPr>
          <p:cNvCxnSpPr>
            <a:cxnSpLocks/>
          </p:cNvCxnSpPr>
          <p:nvPr/>
        </p:nvCxnSpPr>
        <p:spPr>
          <a:xfrm>
            <a:off x="3258457" y="3621314"/>
            <a:ext cx="3534229"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CE13A60-18E5-165C-30D7-1DA531770B62}"/>
              </a:ext>
            </a:extLst>
          </p:cNvPr>
          <p:cNvCxnSpPr/>
          <p:nvPr/>
        </p:nvCxnSpPr>
        <p:spPr>
          <a:xfrm flipH="1">
            <a:off x="6041124" y="3621314"/>
            <a:ext cx="751562" cy="689429"/>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C7B50F10-09F7-DF5E-B135-066DAC382D9B}"/>
              </a:ext>
            </a:extLst>
          </p:cNvPr>
          <p:cNvSpPr/>
          <p:nvPr/>
        </p:nvSpPr>
        <p:spPr>
          <a:xfrm rot="2650791">
            <a:off x="6362929" y="3762830"/>
            <a:ext cx="107950" cy="40639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1" name="Rectangle 40">
            <a:extLst>
              <a:ext uri="{FF2B5EF4-FFF2-40B4-BE49-F238E27FC236}">
                <a16:creationId xmlns:a16="http://schemas.microsoft.com/office/drawing/2014/main" id="{4FFE15E1-3CD5-CADE-1A0B-B0B05FE946B2}"/>
              </a:ext>
            </a:extLst>
          </p:cNvPr>
          <p:cNvSpPr/>
          <p:nvPr/>
        </p:nvSpPr>
        <p:spPr>
          <a:xfrm>
            <a:off x="7098515" y="1600324"/>
            <a:ext cx="4957746" cy="4364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r>
              <a:rPr lang="en-AU" sz="2000" dirty="0">
                <a:solidFill>
                  <a:schemeClr val="tx1"/>
                </a:solidFill>
              </a:rPr>
              <a:t>With the setup to the left, calculate the resistance in the resistor when:</a:t>
            </a:r>
          </a:p>
          <a:p>
            <a:pPr marL="342900" indent="-342900" algn="just">
              <a:buFont typeface="Arial" panose="020B0604020202020204" pitchFamily="34" charset="0"/>
              <a:buChar char="•"/>
            </a:pPr>
            <a:r>
              <a:rPr lang="en-AU" sz="2000" dirty="0">
                <a:solidFill>
                  <a:schemeClr val="tx1"/>
                </a:solidFill>
              </a:rPr>
              <a:t>Current is 2A</a:t>
            </a:r>
          </a:p>
          <a:p>
            <a:pPr marL="342900" indent="-342900" algn="just">
              <a:buFont typeface="Arial" panose="020B0604020202020204" pitchFamily="34" charset="0"/>
              <a:buChar char="•"/>
            </a:pPr>
            <a:r>
              <a:rPr lang="en-AU" sz="2000" dirty="0">
                <a:solidFill>
                  <a:schemeClr val="tx1"/>
                </a:solidFill>
              </a:rPr>
              <a:t>Velocity is 2 m/s</a:t>
            </a:r>
          </a:p>
          <a:p>
            <a:pPr marL="342900" indent="-342900" algn="just">
              <a:buFont typeface="Arial" panose="020B0604020202020204" pitchFamily="34" charset="0"/>
              <a:buChar char="•"/>
            </a:pPr>
            <a:r>
              <a:rPr lang="en-AU" sz="2000" dirty="0">
                <a:solidFill>
                  <a:schemeClr val="tx1"/>
                </a:solidFill>
              </a:rPr>
              <a:t>The length of wire inside the magnetic field is 0.8 m</a:t>
            </a:r>
          </a:p>
          <a:p>
            <a:pPr marL="342900" indent="-342900" algn="just">
              <a:buFont typeface="Arial" panose="020B0604020202020204" pitchFamily="34" charset="0"/>
              <a:buChar char="•"/>
            </a:pPr>
            <a:r>
              <a:rPr lang="en-AU" sz="2000" dirty="0">
                <a:solidFill>
                  <a:schemeClr val="tx1"/>
                </a:solidFill>
              </a:rPr>
              <a:t>Magnetic field strength is 4 T.</a:t>
            </a:r>
          </a:p>
          <a:p>
            <a:pPr algn="just"/>
            <a:endParaRPr lang="en-AU" sz="2000" b="1" dirty="0">
              <a:solidFill>
                <a:schemeClr val="tx1"/>
              </a:solidFill>
            </a:endParaRPr>
          </a:p>
        </p:txBody>
      </p:sp>
    </p:spTree>
    <p:extLst>
      <p:ext uri="{BB962C8B-B14F-4D97-AF65-F5344CB8AC3E}">
        <p14:creationId xmlns:p14="http://schemas.microsoft.com/office/powerpoint/2010/main" val="1032548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AC Generators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pic>
        <p:nvPicPr>
          <p:cNvPr id="6" name="Picture 5">
            <a:extLst>
              <a:ext uri="{FF2B5EF4-FFF2-40B4-BE49-F238E27FC236}">
                <a16:creationId xmlns:a16="http://schemas.microsoft.com/office/drawing/2014/main" id="{CAC2E2A9-AE61-9859-0C5B-695AC1D2573E}"/>
              </a:ext>
            </a:extLst>
          </p:cNvPr>
          <p:cNvPicPr>
            <a:picLocks noChangeAspect="1"/>
          </p:cNvPicPr>
          <p:nvPr/>
        </p:nvPicPr>
        <p:blipFill>
          <a:blip r:embed="rId3"/>
          <a:stretch>
            <a:fillRect/>
          </a:stretch>
        </p:blipFill>
        <p:spPr>
          <a:xfrm>
            <a:off x="801867" y="1360832"/>
            <a:ext cx="10325249" cy="3946663"/>
          </a:xfrm>
          <a:prstGeom prst="rect">
            <a:avLst/>
          </a:prstGeom>
        </p:spPr>
      </p:pic>
    </p:spTree>
    <p:extLst>
      <p:ext uri="{BB962C8B-B14F-4D97-AF65-F5344CB8AC3E}">
        <p14:creationId xmlns:p14="http://schemas.microsoft.com/office/powerpoint/2010/main" val="947083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AC Generators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pic>
        <p:nvPicPr>
          <p:cNvPr id="5" name="Picture 4">
            <a:extLst>
              <a:ext uri="{FF2B5EF4-FFF2-40B4-BE49-F238E27FC236}">
                <a16:creationId xmlns:a16="http://schemas.microsoft.com/office/drawing/2014/main" id="{048950C4-EEB0-7BC8-44E3-D88295317AC7}"/>
              </a:ext>
            </a:extLst>
          </p:cNvPr>
          <p:cNvPicPr>
            <a:picLocks noChangeAspect="1"/>
          </p:cNvPicPr>
          <p:nvPr/>
        </p:nvPicPr>
        <p:blipFill>
          <a:blip r:embed="rId3"/>
          <a:stretch>
            <a:fillRect/>
          </a:stretch>
        </p:blipFill>
        <p:spPr>
          <a:xfrm>
            <a:off x="1454943" y="1168262"/>
            <a:ext cx="9883863" cy="4894608"/>
          </a:xfrm>
          <a:prstGeom prst="rect">
            <a:avLst/>
          </a:prstGeom>
        </p:spPr>
      </p:pic>
    </p:spTree>
    <p:extLst>
      <p:ext uri="{BB962C8B-B14F-4D97-AF65-F5344CB8AC3E}">
        <p14:creationId xmlns:p14="http://schemas.microsoft.com/office/powerpoint/2010/main" val="1303576876"/>
      </p:ext>
    </p:extLst>
  </p:cSld>
  <p:clrMapOvr>
    <a:masterClrMapping/>
  </p:clrMapOvr>
</p:sld>
</file>

<file path=ppt/theme/theme1.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Explicit Instruction_Dar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Theme2" id="{15861BA0-56D5-1E4E-B56A-268D38A279BF}" vid="{9D14DC9A-E19D-5949-B871-56F3C64BEB6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5c732d2-f217-444a-91d8-37c5714ca695" xsi:nil="true"/>
    <lcf76f155ced4ddcb4097134ff3c332f xmlns="8f659357-f805-491c-ad0b-5621b2de6466">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8157990E5B9394AB60DC397E95032F9" ma:contentTypeVersion="16" ma:contentTypeDescription="Create a new document." ma:contentTypeScope="" ma:versionID="02697e3214b2f55142a2e7b89ba6de54">
  <xsd:schema xmlns:xsd="http://www.w3.org/2001/XMLSchema" xmlns:xs="http://www.w3.org/2001/XMLSchema" xmlns:p="http://schemas.microsoft.com/office/2006/metadata/properties" xmlns:ns2="8f659357-f805-491c-ad0b-5621b2de6466" xmlns:ns3="d5c732d2-f217-444a-91d8-37c5714ca695" targetNamespace="http://schemas.microsoft.com/office/2006/metadata/properties" ma:root="true" ma:fieldsID="67be6965022b95aa9d7585358a9bb7fc" ns2:_="" ns3:_="">
    <xsd:import namespace="8f659357-f805-491c-ad0b-5621b2de6466"/>
    <xsd:import namespace="d5c732d2-f217-444a-91d8-37c5714ca69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659357-f805-491c-ad0b-5621b2de64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a606fe5-00d0-49e1-aa33-d9ffd02091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c732d2-f217-444a-91d8-37c5714ca69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787221a7-1fed-4694-a1ec-bb608177e353}" ma:internalName="TaxCatchAll" ma:showField="CatchAllData" ma:web="d5c732d2-f217-444a-91d8-37c5714ca6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D5BC30B-A8FB-4389-B40F-C069B6D2FAB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3121BB5-4C1D-48E9-90AE-5DD505683AB1}"/>
</file>

<file path=customXml/itemProps3.xml><?xml version="1.0" encoding="utf-8"?>
<ds:datastoreItem xmlns:ds="http://schemas.openxmlformats.org/officeDocument/2006/customXml" ds:itemID="{77F09D33-A1B5-4438-8F96-65DD7176249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{33057687-8793-EB47-A5E0-08E93C53D0F2}tf10001071</Template>
  <TotalTime>7736</TotalTime>
  <Words>657</Words>
  <Application>Microsoft Office PowerPoint</Application>
  <PresentationFormat>Widescreen</PresentationFormat>
  <Paragraphs>103</Paragraphs>
  <Slides>11</Slides>
  <Notes>11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11</vt:i4>
      </vt:variant>
    </vt:vector>
  </HeadingPairs>
  <TitlesOfParts>
    <vt:vector size="18" baseType="lpstr">
      <vt:lpstr>Arial</vt:lpstr>
      <vt:lpstr>Calibri</vt:lpstr>
      <vt:lpstr>Century Gothic</vt:lpstr>
      <vt:lpstr>Futura Medium</vt:lpstr>
      <vt:lpstr>Roboto</vt:lpstr>
      <vt:lpstr>Daily Review</vt:lpstr>
      <vt:lpstr>1_Explicit Instruction_Dark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BAKER Mark [Southern River College]</cp:lastModifiedBy>
  <cp:revision>461</cp:revision>
  <cp:lastPrinted>2018-05-27T06:54:10Z</cp:lastPrinted>
  <dcterms:created xsi:type="dcterms:W3CDTF">2018-03-29T05:56:09Z</dcterms:created>
  <dcterms:modified xsi:type="dcterms:W3CDTF">2023-06-14T00:39:20Z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0x010100C8157990E5B9394AB60DC397E95032F9</vt:lpwstr>
  </property>
</Properties>
</file>