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74" r:id="rId4"/>
  </p:sldMasterIdLst>
  <p:notesMasterIdLst>
    <p:notesMasterId r:id="rId35"/>
  </p:notesMasterIdLst>
  <p:handoutMasterIdLst>
    <p:handoutMasterId r:id="rId36"/>
  </p:handoutMasterIdLst>
  <p:sldIdLst>
    <p:sldId id="593" r:id="rId5"/>
    <p:sldId id="594" r:id="rId6"/>
    <p:sldId id="577" r:id="rId7"/>
    <p:sldId id="528" r:id="rId8"/>
    <p:sldId id="603" r:id="rId9"/>
    <p:sldId id="600" r:id="rId10"/>
    <p:sldId id="619" r:id="rId11"/>
    <p:sldId id="601" r:id="rId12"/>
    <p:sldId id="620" r:id="rId13"/>
    <p:sldId id="621" r:id="rId14"/>
    <p:sldId id="622" r:id="rId15"/>
    <p:sldId id="602" r:id="rId16"/>
    <p:sldId id="604" r:id="rId17"/>
    <p:sldId id="605" r:id="rId18"/>
    <p:sldId id="592" r:id="rId19"/>
    <p:sldId id="597" r:id="rId20"/>
    <p:sldId id="606" r:id="rId21"/>
    <p:sldId id="607" r:id="rId22"/>
    <p:sldId id="615" r:id="rId23"/>
    <p:sldId id="616" r:id="rId24"/>
    <p:sldId id="617" r:id="rId25"/>
    <p:sldId id="608" r:id="rId26"/>
    <p:sldId id="609" r:id="rId27"/>
    <p:sldId id="612" r:id="rId28"/>
    <p:sldId id="613" r:id="rId29"/>
    <p:sldId id="614" r:id="rId30"/>
    <p:sldId id="623" r:id="rId31"/>
    <p:sldId id="467" r:id="rId32"/>
    <p:sldId id="625" r:id="rId33"/>
    <p:sldId id="61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Buss" initials="MB"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966"/>
    <a:srgbClr val="8FAADC"/>
    <a:srgbClr val="F03C18"/>
    <a:srgbClr val="FF0000"/>
    <a:srgbClr val="159B4B"/>
    <a:srgbClr val="0070C0"/>
    <a:srgbClr val="C55A11"/>
    <a:srgbClr val="6E407C"/>
    <a:srgbClr val="FBCA58"/>
    <a:srgbClr val="2E54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57" autoAdjust="0"/>
    <p:restoredTop sz="87470" autoAdjust="0"/>
  </p:normalViewPr>
  <p:slideViewPr>
    <p:cSldViewPr snapToGrid="0" snapToObjects="1">
      <p:cViewPr varScale="1">
        <p:scale>
          <a:sx n="98" d="100"/>
          <a:sy n="98" d="100"/>
        </p:scale>
        <p:origin x="546" y="84"/>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7" d="100"/>
          <a:sy n="77" d="100"/>
        </p:scale>
        <p:origin x="2592"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8E4B7C-96ED-E449-9693-B655C4671F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28D809C4-E54C-A54E-B9F4-56C375E0D8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53AD932-3578-6E4B-810C-4CF7533A98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A9B4CA-DA29-0849-8519-4B81F4CE08AD}" type="slidenum">
              <a:rPr lang="en-US" smtClean="0"/>
              <a:t>‹#›</a:t>
            </a:fld>
            <a:endParaRPr lang="en-US"/>
          </a:p>
        </p:txBody>
      </p:sp>
      <p:sp>
        <p:nvSpPr>
          <p:cNvPr id="6" name="Date Placeholder 5">
            <a:extLst>
              <a:ext uri="{FF2B5EF4-FFF2-40B4-BE49-F238E27FC236}">
                <a16:creationId xmlns:a16="http://schemas.microsoft.com/office/drawing/2014/main" id="{27115A18-6E6E-F748-9363-1DB667F252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89F1C8-9A67-204B-8DB6-6C2E5B2C92D6}" type="datetimeFigureOut">
              <a:rPr lang="en-US" smtClean="0"/>
              <a:t>1/21/2023</a:t>
            </a:fld>
            <a:endParaRPr lang="en-US"/>
          </a:p>
        </p:txBody>
      </p:sp>
    </p:spTree>
    <p:extLst>
      <p:ext uri="{BB962C8B-B14F-4D97-AF65-F5344CB8AC3E}">
        <p14:creationId xmlns:p14="http://schemas.microsoft.com/office/powerpoint/2010/main" val="16315313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AAB6C6-360D-448E-B12B-FCD285160A81}" type="datetimeFigureOut">
              <a:rPr lang="en-AU" smtClean="0"/>
              <a:t>21/01/2023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B756B8-97A8-4FA1-B26A-2500BA5D4D05}" type="slidenum">
              <a:rPr lang="en-AU" smtClean="0"/>
              <a:t>‹#›</a:t>
            </a:fld>
            <a:endParaRPr lang="en-AU"/>
          </a:p>
        </p:txBody>
      </p:sp>
    </p:spTree>
    <p:extLst>
      <p:ext uri="{BB962C8B-B14F-4D97-AF65-F5344CB8AC3E}">
        <p14:creationId xmlns:p14="http://schemas.microsoft.com/office/powerpoint/2010/main" val="1866448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a:t>
            </a:fld>
            <a:endParaRPr lang="en-AU"/>
          </a:p>
        </p:txBody>
      </p:sp>
    </p:spTree>
    <p:extLst>
      <p:ext uri="{BB962C8B-B14F-4D97-AF65-F5344CB8AC3E}">
        <p14:creationId xmlns:p14="http://schemas.microsoft.com/office/powerpoint/2010/main" val="26378525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a:t>
            </a:fld>
            <a:endParaRPr lang="en-AU"/>
          </a:p>
        </p:txBody>
      </p:sp>
    </p:spTree>
    <p:extLst>
      <p:ext uri="{BB962C8B-B14F-4D97-AF65-F5344CB8AC3E}">
        <p14:creationId xmlns:p14="http://schemas.microsoft.com/office/powerpoint/2010/main" val="16598776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r>
              <a:rPr lang="en-AU" b="0" dirty="0"/>
              <a:t>How would a positive charge be affected by this field?</a:t>
            </a:r>
          </a:p>
          <a:p>
            <a:endParaRPr lang="en-AU" b="0" dirty="0"/>
          </a:p>
          <a:p>
            <a:r>
              <a:rPr lang="en-AU" b="0" dirty="0"/>
              <a:t>1. Positive charge moves with the field. Work is being done </a:t>
            </a:r>
            <a:r>
              <a:rPr lang="en-AU" b="1" dirty="0"/>
              <a:t>by</a:t>
            </a:r>
            <a:r>
              <a:rPr lang="en-AU" b="0" dirty="0"/>
              <a:t> the field</a:t>
            </a:r>
          </a:p>
          <a:p>
            <a:r>
              <a:rPr lang="en-AU" b="0" dirty="0"/>
              <a:t>2. Positive charge moves against the field. Work is being done </a:t>
            </a:r>
            <a:r>
              <a:rPr lang="en-AU" b="1" dirty="0"/>
              <a:t>on</a:t>
            </a:r>
            <a:r>
              <a:rPr lang="en-AU" b="0" dirty="0"/>
              <a:t> the field.</a:t>
            </a:r>
            <a:endParaRPr lang="en-AU" b="1" dirty="0"/>
          </a:p>
        </p:txBody>
      </p:sp>
      <p:sp>
        <p:nvSpPr>
          <p:cNvPr id="4" name="Slide Number Placeholder 3"/>
          <p:cNvSpPr>
            <a:spLocks noGrp="1"/>
          </p:cNvSpPr>
          <p:nvPr>
            <p:ph type="sldNum" sz="quarter" idx="5"/>
          </p:nvPr>
        </p:nvSpPr>
        <p:spPr/>
        <p:txBody>
          <a:bodyPr/>
          <a:lstStyle/>
          <a:p>
            <a:fld id="{B5B756B8-97A8-4FA1-B26A-2500BA5D4D05}" type="slidenum">
              <a:rPr lang="en-AU" smtClean="0"/>
              <a:t>4</a:t>
            </a:fld>
            <a:endParaRPr lang="en-AU"/>
          </a:p>
        </p:txBody>
      </p:sp>
    </p:spTree>
    <p:extLst>
      <p:ext uri="{BB962C8B-B14F-4D97-AF65-F5344CB8AC3E}">
        <p14:creationId xmlns:p14="http://schemas.microsoft.com/office/powerpoint/2010/main" val="799357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TL: Done by field</a:t>
            </a:r>
          </a:p>
          <a:p>
            <a:r>
              <a:rPr lang="en-AU" b="0" dirty="0"/>
              <a:t>TR: Done on field</a:t>
            </a:r>
          </a:p>
          <a:p>
            <a:r>
              <a:rPr lang="en-AU" b="0" dirty="0"/>
              <a:t>BL: done on field</a:t>
            </a:r>
          </a:p>
          <a:p>
            <a:r>
              <a:rPr lang="en-AU" b="0" dirty="0"/>
              <a:t>BR: done by field</a:t>
            </a:r>
          </a:p>
        </p:txBody>
      </p:sp>
      <p:sp>
        <p:nvSpPr>
          <p:cNvPr id="4" name="Slide Number Placeholder 3"/>
          <p:cNvSpPr>
            <a:spLocks noGrp="1"/>
          </p:cNvSpPr>
          <p:nvPr>
            <p:ph type="sldNum" sz="quarter" idx="5"/>
          </p:nvPr>
        </p:nvSpPr>
        <p:spPr/>
        <p:txBody>
          <a:bodyPr/>
          <a:lstStyle/>
          <a:p>
            <a:fld id="{B5B756B8-97A8-4FA1-B26A-2500BA5D4D05}" type="slidenum">
              <a:rPr lang="en-AU" smtClean="0"/>
              <a:t>5</a:t>
            </a:fld>
            <a:endParaRPr lang="en-AU"/>
          </a:p>
        </p:txBody>
      </p:sp>
    </p:spTree>
    <p:extLst>
      <p:ext uri="{BB962C8B-B14F-4D97-AF65-F5344CB8AC3E}">
        <p14:creationId xmlns:p14="http://schemas.microsoft.com/office/powerpoint/2010/main" val="40292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Focus on potential energy</a:t>
            </a:r>
          </a:p>
        </p:txBody>
      </p:sp>
      <p:sp>
        <p:nvSpPr>
          <p:cNvPr id="4" name="Slide Number Placeholder 3"/>
          <p:cNvSpPr>
            <a:spLocks noGrp="1"/>
          </p:cNvSpPr>
          <p:nvPr>
            <p:ph type="sldNum" sz="quarter" idx="5"/>
          </p:nvPr>
        </p:nvSpPr>
        <p:spPr/>
        <p:txBody>
          <a:bodyPr/>
          <a:lstStyle/>
          <a:p>
            <a:fld id="{B5B756B8-97A8-4FA1-B26A-2500BA5D4D05}" type="slidenum">
              <a:rPr lang="en-AU" smtClean="0"/>
              <a:t>6</a:t>
            </a:fld>
            <a:endParaRPr lang="en-AU"/>
          </a:p>
        </p:txBody>
      </p:sp>
    </p:spTree>
    <p:extLst>
      <p:ext uri="{BB962C8B-B14F-4D97-AF65-F5344CB8AC3E}">
        <p14:creationId xmlns:p14="http://schemas.microsoft.com/office/powerpoint/2010/main" val="8028166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Focus on potential energy</a:t>
            </a:r>
          </a:p>
        </p:txBody>
      </p:sp>
      <p:sp>
        <p:nvSpPr>
          <p:cNvPr id="4" name="Slide Number Placeholder 3"/>
          <p:cNvSpPr>
            <a:spLocks noGrp="1"/>
          </p:cNvSpPr>
          <p:nvPr>
            <p:ph type="sldNum" sz="quarter" idx="5"/>
          </p:nvPr>
        </p:nvSpPr>
        <p:spPr/>
        <p:txBody>
          <a:bodyPr/>
          <a:lstStyle/>
          <a:p>
            <a:fld id="{B5B756B8-97A8-4FA1-B26A-2500BA5D4D05}" type="slidenum">
              <a:rPr lang="en-AU" smtClean="0"/>
              <a:t>7</a:t>
            </a:fld>
            <a:endParaRPr lang="en-AU"/>
          </a:p>
        </p:txBody>
      </p:sp>
    </p:spTree>
    <p:extLst>
      <p:ext uri="{BB962C8B-B14F-4D97-AF65-F5344CB8AC3E}">
        <p14:creationId xmlns:p14="http://schemas.microsoft.com/office/powerpoint/2010/main" val="34129195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8</a:t>
            </a:fld>
            <a:endParaRPr lang="en-AU"/>
          </a:p>
        </p:txBody>
      </p:sp>
    </p:spTree>
    <p:extLst>
      <p:ext uri="{BB962C8B-B14F-4D97-AF65-F5344CB8AC3E}">
        <p14:creationId xmlns:p14="http://schemas.microsoft.com/office/powerpoint/2010/main" val="40781756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9</a:t>
            </a:fld>
            <a:endParaRPr lang="en-AU"/>
          </a:p>
        </p:txBody>
      </p:sp>
    </p:spTree>
    <p:extLst>
      <p:ext uri="{BB962C8B-B14F-4D97-AF65-F5344CB8AC3E}">
        <p14:creationId xmlns:p14="http://schemas.microsoft.com/office/powerpoint/2010/main" val="35616027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10</a:t>
            </a:fld>
            <a:endParaRPr lang="en-AU"/>
          </a:p>
        </p:txBody>
      </p:sp>
    </p:spTree>
    <p:extLst>
      <p:ext uri="{BB962C8B-B14F-4D97-AF65-F5344CB8AC3E}">
        <p14:creationId xmlns:p14="http://schemas.microsoft.com/office/powerpoint/2010/main" val="2016148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11</a:t>
            </a:fld>
            <a:endParaRPr lang="en-AU"/>
          </a:p>
        </p:txBody>
      </p:sp>
    </p:spTree>
    <p:extLst>
      <p:ext uri="{BB962C8B-B14F-4D97-AF65-F5344CB8AC3E}">
        <p14:creationId xmlns:p14="http://schemas.microsoft.com/office/powerpoint/2010/main" val="40156666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W  = Fs</a:t>
            </a:r>
          </a:p>
          <a:p>
            <a:r>
              <a:rPr lang="en-AU" b="0" dirty="0"/>
              <a:t>Fe = Eq</a:t>
            </a:r>
          </a:p>
          <a:p>
            <a:r>
              <a:rPr lang="en-AU" b="0" dirty="0"/>
              <a:t>Therefore  W = </a:t>
            </a:r>
            <a:r>
              <a:rPr lang="en-AU" b="0" dirty="0" err="1"/>
              <a:t>Eqs</a:t>
            </a:r>
            <a:r>
              <a:rPr lang="en-AU" b="0" dirty="0"/>
              <a:t> (where E = electric field strength)</a:t>
            </a:r>
          </a:p>
          <a:p>
            <a:r>
              <a:rPr lang="en-AU" b="0" dirty="0"/>
              <a:t> = 200 x 2.30*10</a:t>
            </a:r>
            <a:r>
              <a:rPr lang="en-AU" b="0" baseline="30000" dirty="0"/>
              <a:t>-5</a:t>
            </a:r>
            <a:r>
              <a:rPr lang="en-AU" b="0" baseline="0" dirty="0"/>
              <a:t> x 0.03 = 1.38 x 10^-4 J</a:t>
            </a:r>
          </a:p>
          <a:p>
            <a:endParaRPr lang="en-AU" b="0" baseline="0" dirty="0"/>
          </a:p>
          <a:p>
            <a:r>
              <a:rPr lang="en-AU" b="0" baseline="0" dirty="0"/>
              <a:t>KE final = KE initial – W = 50*10^-3 – 1.38*10^4 = 4.99*10^-2 J</a:t>
            </a:r>
          </a:p>
          <a:p>
            <a:endParaRPr lang="en-AU" b="0" baseline="0" dirty="0"/>
          </a:p>
          <a:p>
            <a:r>
              <a:rPr lang="en-AU" b="0" baseline="0" dirty="0"/>
              <a:t>V = W/q = 6 V</a:t>
            </a:r>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12</a:t>
            </a:fld>
            <a:endParaRPr lang="en-AU"/>
          </a:p>
        </p:txBody>
      </p:sp>
    </p:spTree>
    <p:extLst>
      <p:ext uri="{BB962C8B-B14F-4D97-AF65-F5344CB8AC3E}">
        <p14:creationId xmlns:p14="http://schemas.microsoft.com/office/powerpoint/2010/main" val="40243751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13</a:t>
            </a:fld>
            <a:endParaRPr lang="en-AU"/>
          </a:p>
        </p:txBody>
      </p:sp>
    </p:spTree>
    <p:extLst>
      <p:ext uri="{BB962C8B-B14F-4D97-AF65-F5344CB8AC3E}">
        <p14:creationId xmlns:p14="http://schemas.microsoft.com/office/powerpoint/2010/main" val="41527808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14</a:t>
            </a:fld>
            <a:endParaRPr lang="en-AU"/>
          </a:p>
        </p:txBody>
      </p:sp>
    </p:spTree>
    <p:extLst>
      <p:ext uri="{BB962C8B-B14F-4D97-AF65-F5344CB8AC3E}">
        <p14:creationId xmlns:p14="http://schemas.microsoft.com/office/powerpoint/2010/main" val="2035120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Remember that the field at the edges of the plates has a curve.</a:t>
            </a:r>
          </a:p>
          <a:p>
            <a:r>
              <a:rPr lang="en-AU" b="0" dirty="0"/>
              <a:t>Draw the field from +</a:t>
            </a:r>
            <a:r>
              <a:rPr lang="en-AU" b="0" dirty="0" err="1"/>
              <a:t>ve</a:t>
            </a:r>
            <a:r>
              <a:rPr lang="en-AU" b="0" dirty="0"/>
              <a:t> to –</a:t>
            </a:r>
            <a:r>
              <a:rPr lang="en-AU" b="0" dirty="0" err="1"/>
              <a:t>ve</a:t>
            </a:r>
            <a:r>
              <a:rPr lang="en-AU" b="0" dirty="0"/>
              <a:t>. It is the force that a positive charge experiences therefore away from the positive plate and towards the negative plate.</a:t>
            </a:r>
          </a:p>
          <a:p>
            <a:endParaRPr lang="en-AU" b="0" dirty="0"/>
          </a:p>
          <a:p>
            <a:r>
              <a:rPr lang="en-AU" b="0" dirty="0"/>
              <a:t>Link to cathode ray tubes.</a:t>
            </a:r>
          </a:p>
        </p:txBody>
      </p:sp>
      <p:sp>
        <p:nvSpPr>
          <p:cNvPr id="4" name="Slide Number Placeholder 3"/>
          <p:cNvSpPr>
            <a:spLocks noGrp="1"/>
          </p:cNvSpPr>
          <p:nvPr>
            <p:ph type="sldNum" sz="quarter" idx="5"/>
          </p:nvPr>
        </p:nvSpPr>
        <p:spPr/>
        <p:txBody>
          <a:bodyPr/>
          <a:lstStyle/>
          <a:p>
            <a:fld id="{B5B756B8-97A8-4FA1-B26A-2500BA5D4D05}" type="slidenum">
              <a:rPr lang="en-AU" smtClean="0"/>
              <a:t>15</a:t>
            </a:fld>
            <a:endParaRPr lang="en-AU"/>
          </a:p>
        </p:txBody>
      </p:sp>
    </p:spTree>
    <p:extLst>
      <p:ext uri="{BB962C8B-B14F-4D97-AF65-F5344CB8AC3E}">
        <p14:creationId xmlns:p14="http://schemas.microsoft.com/office/powerpoint/2010/main" val="19844863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a) ½ m v^2 = </a:t>
            </a:r>
            <a:r>
              <a:rPr lang="en-AU" b="0" dirty="0" err="1"/>
              <a:t>qV</a:t>
            </a:r>
            <a:endParaRPr lang="en-AU" b="0" dirty="0"/>
          </a:p>
          <a:p>
            <a:r>
              <a:rPr lang="en-AU" b="0" dirty="0"/>
              <a:t>v^2 = 2qV / m </a:t>
            </a:r>
          </a:p>
          <a:p>
            <a:r>
              <a:rPr lang="en-AU" b="0" dirty="0"/>
              <a:t>v = 4.2 x 10^7 m/s</a:t>
            </a:r>
          </a:p>
          <a:p>
            <a:br>
              <a:rPr lang="en-AU" b="0" dirty="0"/>
            </a:br>
            <a:r>
              <a:rPr lang="en-AU" b="0" dirty="0"/>
              <a:t>b) Electric field strength = V/d = 5.0 x 10^5 V/m</a:t>
            </a:r>
          </a:p>
          <a:p>
            <a:r>
              <a:rPr lang="en-AU" b="0" dirty="0" err="1"/>
              <a:t>Fnet</a:t>
            </a:r>
            <a:r>
              <a:rPr lang="en-AU" b="0" dirty="0"/>
              <a:t> = ma = </a:t>
            </a:r>
            <a:r>
              <a:rPr lang="en-AU" b="0" dirty="0" err="1"/>
              <a:t>qE</a:t>
            </a:r>
            <a:endParaRPr lang="en-AU" b="0" dirty="0"/>
          </a:p>
          <a:p>
            <a:r>
              <a:rPr lang="en-AU" b="0" dirty="0"/>
              <a:t>a = </a:t>
            </a:r>
            <a:r>
              <a:rPr lang="en-AU" b="0" dirty="0" err="1"/>
              <a:t>qE</a:t>
            </a:r>
            <a:r>
              <a:rPr lang="en-AU" b="0" dirty="0"/>
              <a:t> / m</a:t>
            </a:r>
          </a:p>
          <a:p>
            <a:r>
              <a:rPr lang="en-AU" b="0" dirty="0"/>
              <a:t>a = 8.8 x 10^-16 m/s^2</a:t>
            </a:r>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16</a:t>
            </a:fld>
            <a:endParaRPr lang="en-AU"/>
          </a:p>
        </p:txBody>
      </p:sp>
    </p:spTree>
    <p:extLst>
      <p:ext uri="{BB962C8B-B14F-4D97-AF65-F5344CB8AC3E}">
        <p14:creationId xmlns:p14="http://schemas.microsoft.com/office/powerpoint/2010/main" val="22079017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s = </a:t>
            </a:r>
            <a:r>
              <a:rPr lang="en-AU" b="0" dirty="0" err="1"/>
              <a:t>ut</a:t>
            </a:r>
            <a:r>
              <a:rPr lang="en-AU" b="0" dirty="0"/>
              <a:t> + 0.5at^2</a:t>
            </a:r>
          </a:p>
          <a:p>
            <a:r>
              <a:rPr lang="en-AU" b="0" dirty="0"/>
              <a:t>0.005 = 0*t</a:t>
            </a:r>
          </a:p>
        </p:txBody>
      </p:sp>
      <p:sp>
        <p:nvSpPr>
          <p:cNvPr id="4" name="Slide Number Placeholder 3"/>
          <p:cNvSpPr>
            <a:spLocks noGrp="1"/>
          </p:cNvSpPr>
          <p:nvPr>
            <p:ph type="sldNum" sz="quarter" idx="5"/>
          </p:nvPr>
        </p:nvSpPr>
        <p:spPr/>
        <p:txBody>
          <a:bodyPr/>
          <a:lstStyle/>
          <a:p>
            <a:fld id="{B5B756B8-97A8-4FA1-B26A-2500BA5D4D05}" type="slidenum">
              <a:rPr lang="en-AU" smtClean="0"/>
              <a:t>17</a:t>
            </a:fld>
            <a:endParaRPr lang="en-AU"/>
          </a:p>
        </p:txBody>
      </p:sp>
    </p:spTree>
    <p:extLst>
      <p:ext uri="{BB962C8B-B14F-4D97-AF65-F5344CB8AC3E}">
        <p14:creationId xmlns:p14="http://schemas.microsoft.com/office/powerpoint/2010/main" val="17509653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s = </a:t>
            </a:r>
            <a:r>
              <a:rPr lang="en-AU" b="0" dirty="0" err="1"/>
              <a:t>ut</a:t>
            </a:r>
            <a:r>
              <a:rPr lang="en-AU" b="0" dirty="0"/>
              <a:t> + 0.5at^2</a:t>
            </a:r>
          </a:p>
          <a:p>
            <a:r>
              <a:rPr lang="en-AU" b="0" dirty="0"/>
              <a:t>0.005 = 0*t</a:t>
            </a:r>
          </a:p>
        </p:txBody>
      </p:sp>
      <p:sp>
        <p:nvSpPr>
          <p:cNvPr id="4" name="Slide Number Placeholder 3"/>
          <p:cNvSpPr>
            <a:spLocks noGrp="1"/>
          </p:cNvSpPr>
          <p:nvPr>
            <p:ph type="sldNum" sz="quarter" idx="5"/>
          </p:nvPr>
        </p:nvSpPr>
        <p:spPr/>
        <p:txBody>
          <a:bodyPr/>
          <a:lstStyle/>
          <a:p>
            <a:fld id="{B5B756B8-97A8-4FA1-B26A-2500BA5D4D05}" type="slidenum">
              <a:rPr lang="en-AU" smtClean="0"/>
              <a:t>18</a:t>
            </a:fld>
            <a:endParaRPr lang="en-AU"/>
          </a:p>
        </p:txBody>
      </p:sp>
    </p:spTree>
    <p:extLst>
      <p:ext uri="{BB962C8B-B14F-4D97-AF65-F5344CB8AC3E}">
        <p14:creationId xmlns:p14="http://schemas.microsoft.com/office/powerpoint/2010/main" val="17881111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s = </a:t>
            </a:r>
            <a:r>
              <a:rPr lang="en-AU" b="0" dirty="0" err="1"/>
              <a:t>ut</a:t>
            </a:r>
            <a:r>
              <a:rPr lang="en-AU" b="0" dirty="0"/>
              <a:t> + 0.5at^2</a:t>
            </a:r>
          </a:p>
          <a:p>
            <a:r>
              <a:rPr lang="en-AU" b="0" dirty="0"/>
              <a:t>0.005 = 0*t</a:t>
            </a:r>
          </a:p>
        </p:txBody>
      </p:sp>
      <p:sp>
        <p:nvSpPr>
          <p:cNvPr id="4" name="Slide Number Placeholder 3"/>
          <p:cNvSpPr>
            <a:spLocks noGrp="1"/>
          </p:cNvSpPr>
          <p:nvPr>
            <p:ph type="sldNum" sz="quarter" idx="5"/>
          </p:nvPr>
        </p:nvSpPr>
        <p:spPr/>
        <p:txBody>
          <a:bodyPr/>
          <a:lstStyle/>
          <a:p>
            <a:fld id="{B5B756B8-97A8-4FA1-B26A-2500BA5D4D05}" type="slidenum">
              <a:rPr lang="en-AU" smtClean="0"/>
              <a:t>19</a:t>
            </a:fld>
            <a:endParaRPr lang="en-AU"/>
          </a:p>
        </p:txBody>
      </p:sp>
    </p:spTree>
    <p:extLst>
      <p:ext uri="{BB962C8B-B14F-4D97-AF65-F5344CB8AC3E}">
        <p14:creationId xmlns:p14="http://schemas.microsoft.com/office/powerpoint/2010/main" val="4738146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s = </a:t>
            </a:r>
            <a:r>
              <a:rPr lang="en-AU" b="0" dirty="0" err="1"/>
              <a:t>ut</a:t>
            </a:r>
            <a:r>
              <a:rPr lang="en-AU" b="0" dirty="0"/>
              <a:t> + 0.5at^2</a:t>
            </a:r>
          </a:p>
          <a:p>
            <a:r>
              <a:rPr lang="en-AU" b="0" dirty="0"/>
              <a:t>0.005 = 0*t</a:t>
            </a:r>
          </a:p>
        </p:txBody>
      </p:sp>
      <p:sp>
        <p:nvSpPr>
          <p:cNvPr id="4" name="Slide Number Placeholder 3"/>
          <p:cNvSpPr>
            <a:spLocks noGrp="1"/>
          </p:cNvSpPr>
          <p:nvPr>
            <p:ph type="sldNum" sz="quarter" idx="5"/>
          </p:nvPr>
        </p:nvSpPr>
        <p:spPr/>
        <p:txBody>
          <a:bodyPr/>
          <a:lstStyle/>
          <a:p>
            <a:fld id="{B5B756B8-97A8-4FA1-B26A-2500BA5D4D05}" type="slidenum">
              <a:rPr lang="en-AU" smtClean="0"/>
              <a:t>20</a:t>
            </a:fld>
            <a:endParaRPr lang="en-AU"/>
          </a:p>
        </p:txBody>
      </p:sp>
    </p:spTree>
    <p:extLst>
      <p:ext uri="{BB962C8B-B14F-4D97-AF65-F5344CB8AC3E}">
        <p14:creationId xmlns:p14="http://schemas.microsoft.com/office/powerpoint/2010/main" val="32997304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s = </a:t>
            </a:r>
            <a:r>
              <a:rPr lang="en-AU" b="0" dirty="0" err="1"/>
              <a:t>ut</a:t>
            </a:r>
            <a:r>
              <a:rPr lang="en-AU" b="0" dirty="0"/>
              <a:t> + 0.5at^2</a:t>
            </a:r>
          </a:p>
          <a:p>
            <a:r>
              <a:rPr lang="en-AU" b="0" dirty="0"/>
              <a:t>0.005 = 0*t</a:t>
            </a:r>
          </a:p>
        </p:txBody>
      </p:sp>
      <p:sp>
        <p:nvSpPr>
          <p:cNvPr id="4" name="Slide Number Placeholder 3"/>
          <p:cNvSpPr>
            <a:spLocks noGrp="1"/>
          </p:cNvSpPr>
          <p:nvPr>
            <p:ph type="sldNum" sz="quarter" idx="5"/>
          </p:nvPr>
        </p:nvSpPr>
        <p:spPr/>
        <p:txBody>
          <a:bodyPr/>
          <a:lstStyle/>
          <a:p>
            <a:fld id="{B5B756B8-97A8-4FA1-B26A-2500BA5D4D05}" type="slidenum">
              <a:rPr lang="en-AU" smtClean="0"/>
              <a:t>21</a:t>
            </a:fld>
            <a:endParaRPr lang="en-AU"/>
          </a:p>
        </p:txBody>
      </p:sp>
    </p:spTree>
    <p:extLst>
      <p:ext uri="{BB962C8B-B14F-4D97-AF65-F5344CB8AC3E}">
        <p14:creationId xmlns:p14="http://schemas.microsoft.com/office/powerpoint/2010/main" val="26138183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s = </a:t>
            </a:r>
            <a:r>
              <a:rPr lang="en-AU" b="0" dirty="0" err="1"/>
              <a:t>ut</a:t>
            </a:r>
            <a:r>
              <a:rPr lang="en-AU" b="0" dirty="0"/>
              <a:t> + 0.5at^2</a:t>
            </a:r>
          </a:p>
          <a:p>
            <a:r>
              <a:rPr lang="en-AU" b="0" dirty="0"/>
              <a:t>0.005 = 0*t</a:t>
            </a:r>
          </a:p>
        </p:txBody>
      </p:sp>
      <p:sp>
        <p:nvSpPr>
          <p:cNvPr id="4" name="Slide Number Placeholder 3"/>
          <p:cNvSpPr>
            <a:spLocks noGrp="1"/>
          </p:cNvSpPr>
          <p:nvPr>
            <p:ph type="sldNum" sz="quarter" idx="5"/>
          </p:nvPr>
        </p:nvSpPr>
        <p:spPr/>
        <p:txBody>
          <a:bodyPr/>
          <a:lstStyle/>
          <a:p>
            <a:fld id="{B5B756B8-97A8-4FA1-B26A-2500BA5D4D05}" type="slidenum">
              <a:rPr lang="en-AU" smtClean="0"/>
              <a:t>22</a:t>
            </a:fld>
            <a:endParaRPr lang="en-AU"/>
          </a:p>
        </p:txBody>
      </p:sp>
    </p:spTree>
    <p:extLst>
      <p:ext uri="{BB962C8B-B14F-4D97-AF65-F5344CB8AC3E}">
        <p14:creationId xmlns:p14="http://schemas.microsoft.com/office/powerpoint/2010/main" val="34876139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s = </a:t>
            </a:r>
            <a:r>
              <a:rPr lang="en-AU" b="0" dirty="0" err="1"/>
              <a:t>ut</a:t>
            </a:r>
            <a:r>
              <a:rPr lang="en-AU" b="0" dirty="0"/>
              <a:t> + 0.5at^2</a:t>
            </a:r>
          </a:p>
          <a:p>
            <a:r>
              <a:rPr lang="en-AU" b="0" dirty="0"/>
              <a:t>0.005 = 0*t</a:t>
            </a:r>
          </a:p>
        </p:txBody>
      </p:sp>
      <p:sp>
        <p:nvSpPr>
          <p:cNvPr id="4" name="Slide Number Placeholder 3"/>
          <p:cNvSpPr>
            <a:spLocks noGrp="1"/>
          </p:cNvSpPr>
          <p:nvPr>
            <p:ph type="sldNum" sz="quarter" idx="5"/>
          </p:nvPr>
        </p:nvSpPr>
        <p:spPr/>
        <p:txBody>
          <a:bodyPr/>
          <a:lstStyle/>
          <a:p>
            <a:fld id="{B5B756B8-97A8-4FA1-B26A-2500BA5D4D05}" type="slidenum">
              <a:rPr lang="en-AU" smtClean="0"/>
              <a:t>23</a:t>
            </a:fld>
            <a:endParaRPr lang="en-AU"/>
          </a:p>
        </p:txBody>
      </p:sp>
    </p:spTree>
    <p:extLst>
      <p:ext uri="{BB962C8B-B14F-4D97-AF65-F5344CB8AC3E}">
        <p14:creationId xmlns:p14="http://schemas.microsoft.com/office/powerpoint/2010/main" val="36270057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s = </a:t>
            </a:r>
            <a:r>
              <a:rPr lang="en-AU" b="0" dirty="0" err="1"/>
              <a:t>ut</a:t>
            </a:r>
            <a:r>
              <a:rPr lang="en-AU" b="0" dirty="0"/>
              <a:t> + 0.5at^2</a:t>
            </a:r>
          </a:p>
          <a:p>
            <a:r>
              <a:rPr lang="en-AU" b="0" dirty="0"/>
              <a:t>0.005 = 0*t</a:t>
            </a:r>
          </a:p>
        </p:txBody>
      </p:sp>
      <p:sp>
        <p:nvSpPr>
          <p:cNvPr id="4" name="Slide Number Placeholder 3"/>
          <p:cNvSpPr>
            <a:spLocks noGrp="1"/>
          </p:cNvSpPr>
          <p:nvPr>
            <p:ph type="sldNum" sz="quarter" idx="5"/>
          </p:nvPr>
        </p:nvSpPr>
        <p:spPr/>
        <p:txBody>
          <a:bodyPr/>
          <a:lstStyle/>
          <a:p>
            <a:fld id="{B5B756B8-97A8-4FA1-B26A-2500BA5D4D05}" type="slidenum">
              <a:rPr lang="en-AU" smtClean="0"/>
              <a:t>24</a:t>
            </a:fld>
            <a:endParaRPr lang="en-AU"/>
          </a:p>
        </p:txBody>
      </p:sp>
    </p:spTree>
    <p:extLst>
      <p:ext uri="{BB962C8B-B14F-4D97-AF65-F5344CB8AC3E}">
        <p14:creationId xmlns:p14="http://schemas.microsoft.com/office/powerpoint/2010/main" val="29844452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s = </a:t>
            </a:r>
            <a:r>
              <a:rPr lang="en-AU" b="0" dirty="0" err="1"/>
              <a:t>ut</a:t>
            </a:r>
            <a:r>
              <a:rPr lang="en-AU" b="0" dirty="0"/>
              <a:t> + 0.5at^2</a:t>
            </a:r>
          </a:p>
          <a:p>
            <a:r>
              <a:rPr lang="en-AU" b="0" dirty="0"/>
              <a:t>0.005 = 0*t</a:t>
            </a:r>
          </a:p>
        </p:txBody>
      </p:sp>
      <p:sp>
        <p:nvSpPr>
          <p:cNvPr id="4" name="Slide Number Placeholder 3"/>
          <p:cNvSpPr>
            <a:spLocks noGrp="1"/>
          </p:cNvSpPr>
          <p:nvPr>
            <p:ph type="sldNum" sz="quarter" idx="5"/>
          </p:nvPr>
        </p:nvSpPr>
        <p:spPr/>
        <p:txBody>
          <a:bodyPr/>
          <a:lstStyle/>
          <a:p>
            <a:fld id="{B5B756B8-97A8-4FA1-B26A-2500BA5D4D05}" type="slidenum">
              <a:rPr lang="en-AU" smtClean="0"/>
              <a:t>25</a:t>
            </a:fld>
            <a:endParaRPr lang="en-AU"/>
          </a:p>
        </p:txBody>
      </p:sp>
    </p:spTree>
    <p:extLst>
      <p:ext uri="{BB962C8B-B14F-4D97-AF65-F5344CB8AC3E}">
        <p14:creationId xmlns:p14="http://schemas.microsoft.com/office/powerpoint/2010/main" val="26459693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s = </a:t>
            </a:r>
            <a:r>
              <a:rPr lang="en-AU" b="0" dirty="0" err="1"/>
              <a:t>ut</a:t>
            </a:r>
            <a:r>
              <a:rPr lang="en-AU" b="0" dirty="0"/>
              <a:t> + 0.5at^2</a:t>
            </a:r>
          </a:p>
          <a:p>
            <a:r>
              <a:rPr lang="en-AU" b="0" dirty="0"/>
              <a:t>0.005 = 0*t</a:t>
            </a:r>
          </a:p>
        </p:txBody>
      </p:sp>
      <p:sp>
        <p:nvSpPr>
          <p:cNvPr id="4" name="Slide Number Placeholder 3"/>
          <p:cNvSpPr>
            <a:spLocks noGrp="1"/>
          </p:cNvSpPr>
          <p:nvPr>
            <p:ph type="sldNum" sz="quarter" idx="5"/>
          </p:nvPr>
        </p:nvSpPr>
        <p:spPr/>
        <p:txBody>
          <a:bodyPr/>
          <a:lstStyle/>
          <a:p>
            <a:fld id="{B5B756B8-97A8-4FA1-B26A-2500BA5D4D05}" type="slidenum">
              <a:rPr lang="en-AU" smtClean="0"/>
              <a:t>26</a:t>
            </a:fld>
            <a:endParaRPr lang="en-AU"/>
          </a:p>
        </p:txBody>
      </p:sp>
    </p:spTree>
    <p:extLst>
      <p:ext uri="{BB962C8B-B14F-4D97-AF65-F5344CB8AC3E}">
        <p14:creationId xmlns:p14="http://schemas.microsoft.com/office/powerpoint/2010/main" val="30493974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AU" b="0" dirty="0"/>
              <a:t>a) 3 x 10^16 </a:t>
            </a:r>
            <a:r>
              <a:rPr lang="en-AU" b="0" dirty="0" err="1"/>
              <a:t>ms</a:t>
            </a:r>
            <a:r>
              <a:rPr lang="en-AU" b="0" dirty="0"/>
              <a:t>^-2 in the opposite direction to the field	b) 4.0 x 10^-10 s</a:t>
            </a:r>
          </a:p>
          <a:p>
            <a:pPr marL="0" indent="0">
              <a:buNone/>
            </a:pPr>
            <a:r>
              <a:rPr lang="en-AU" b="0" dirty="0"/>
              <a:t>	</a:t>
            </a:r>
          </a:p>
          <a:p>
            <a:pPr marL="228600" indent="-228600">
              <a:buAutoNum type="arabicPeriod"/>
            </a:pPr>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29</a:t>
            </a:fld>
            <a:endParaRPr lang="en-AU"/>
          </a:p>
        </p:txBody>
      </p:sp>
    </p:spTree>
    <p:extLst>
      <p:ext uri="{BB962C8B-B14F-4D97-AF65-F5344CB8AC3E}">
        <p14:creationId xmlns:p14="http://schemas.microsoft.com/office/powerpoint/2010/main" val="39918879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30</a:t>
            </a:fld>
            <a:endParaRPr lang="en-AU"/>
          </a:p>
        </p:txBody>
      </p:sp>
    </p:spTree>
    <p:extLst>
      <p:ext uri="{BB962C8B-B14F-4D97-AF65-F5344CB8AC3E}">
        <p14:creationId xmlns:p14="http://schemas.microsoft.com/office/powerpoint/2010/main" val="25037329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eneric Title Slide">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
        <p:nvSpPr>
          <p:cNvPr id="3" name="Text Placeholder 2">
            <a:extLst>
              <a:ext uri="{FF2B5EF4-FFF2-40B4-BE49-F238E27FC236}">
                <a16:creationId xmlns:a16="http://schemas.microsoft.com/office/drawing/2014/main" id="{35918694-72DD-404C-BFE2-AE8FDFB6A47D}"/>
              </a:ext>
            </a:extLst>
          </p:cNvPr>
          <p:cNvSpPr>
            <a:spLocks noGrp="1"/>
          </p:cNvSpPr>
          <p:nvPr>
            <p:ph type="body" sz="quarter" idx="11" hasCustomPrompt="1"/>
          </p:nvPr>
        </p:nvSpPr>
        <p:spPr>
          <a:xfrm>
            <a:off x="295219" y="1019162"/>
            <a:ext cx="2630862" cy="538162"/>
          </a:xfrm>
          <a:prstGeom prst="rect">
            <a:avLst/>
          </a:prstGeom>
          <a:solidFill>
            <a:srgbClr val="2E546D"/>
          </a:solidFill>
        </p:spPr>
        <p:txBody>
          <a:bodyPr/>
          <a:lstStyle>
            <a:lvl1pPr marL="0" indent="0">
              <a:buNone/>
              <a:defRPr sz="3200" b="0"/>
            </a:lvl1pPr>
          </a:lstStyle>
          <a:p>
            <a:r>
              <a:rPr lang="en-US" sz="2800" b="1" i="0" dirty="0">
                <a:solidFill>
                  <a:srgbClr val="FBCA58"/>
                </a:solidFill>
                <a:latin typeface="Century Gothic" panose="020B0502020202020204" pitchFamily="34" charset="0"/>
                <a:cs typeface="Futura Medium" panose="020B0602020204020303" pitchFamily="34" charset="-79"/>
              </a:rPr>
              <a:t>Learning Goal</a:t>
            </a:r>
          </a:p>
        </p:txBody>
      </p:sp>
    </p:spTree>
    <p:extLst>
      <p:ext uri="{BB962C8B-B14F-4D97-AF65-F5344CB8AC3E}">
        <p14:creationId xmlns:p14="http://schemas.microsoft.com/office/powerpoint/2010/main" val="2370218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eneric Content Slid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
        <p:nvSpPr>
          <p:cNvPr id="5" name="Text Placeholder 4">
            <a:extLst>
              <a:ext uri="{FF2B5EF4-FFF2-40B4-BE49-F238E27FC236}">
                <a16:creationId xmlns:a16="http://schemas.microsoft.com/office/drawing/2014/main" id="{26005884-EA56-4A5F-8C82-1956C2ADF2F8}"/>
              </a:ext>
            </a:extLst>
          </p:cNvPr>
          <p:cNvSpPr>
            <a:spLocks noGrp="1"/>
          </p:cNvSpPr>
          <p:nvPr>
            <p:ph type="body" sz="quarter" idx="17" hasCustomPrompt="1"/>
          </p:nvPr>
        </p:nvSpPr>
        <p:spPr>
          <a:xfrm>
            <a:off x="295275" y="591240"/>
            <a:ext cx="3779478" cy="319722"/>
          </a:xfrm>
          <a:prstGeom prst="rect">
            <a:avLst/>
          </a:prstGeom>
          <a:solidFill>
            <a:srgbClr val="FBCA58"/>
          </a:solidFill>
        </p:spPr>
        <p:txBody>
          <a:bodyPr/>
          <a:lstStyle>
            <a:lvl1pPr marL="0" indent="0">
              <a:buNone/>
              <a:defRPr sz="1600" b="1">
                <a:solidFill>
                  <a:srgbClr val="2E546D"/>
                </a:solidFill>
                <a:latin typeface="+mj-lt"/>
              </a:defRPr>
            </a:lvl1pPr>
            <a:lvl2pPr>
              <a:defRPr sz="1800"/>
            </a:lvl2pPr>
            <a:lvl3pPr>
              <a:defRPr sz="1600"/>
            </a:lvl3pPr>
            <a:lvl4pPr>
              <a:defRPr sz="1400"/>
            </a:lvl4pPr>
            <a:lvl5pPr>
              <a:defRPr sz="1400"/>
            </a:lvl5pPr>
          </a:lstStyle>
          <a:p>
            <a:pPr lvl="0"/>
            <a:r>
              <a:rPr lang="en-US" dirty="0"/>
              <a:t>Type Subheading here</a:t>
            </a:r>
          </a:p>
        </p:txBody>
      </p:sp>
    </p:spTree>
    <p:extLst>
      <p:ext uri="{BB962C8B-B14F-4D97-AF65-F5344CB8AC3E}">
        <p14:creationId xmlns:p14="http://schemas.microsoft.com/office/powerpoint/2010/main" val="3485279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646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o Now">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Do Now</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24237"/>
            <a:ext cx="10004958" cy="499682"/>
          </a:xfrm>
          <a:prstGeom prst="rect">
            <a:avLst/>
          </a:prstGeom>
          <a:solidFill>
            <a:schemeClr val="bg1"/>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409273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2E546D"/>
                </a:solidFill>
                <a:latin typeface="Calibri" panose="020F0502020204030204" pitchFamily="34" charset="0"/>
                <a:cs typeface="Calibri" panose="020F0502020204030204" pitchFamily="34" charset="0"/>
              </a:rPr>
              <a:t>Think </a:t>
            </a:r>
          </a:p>
          <a:p>
            <a:r>
              <a:rPr lang="en-US" sz="3600" b="1" i="0" dirty="0">
                <a:solidFill>
                  <a:srgbClr val="2E546D"/>
                </a:solidFill>
                <a:latin typeface="Calibri" panose="020F0502020204030204" pitchFamily="34" charset="0"/>
                <a:cs typeface="Calibri" panose="020F0502020204030204" pitchFamily="34" charset="0"/>
              </a:rPr>
              <a:t>Pair</a:t>
            </a:r>
          </a:p>
          <a:p>
            <a:r>
              <a:rPr lang="en-US" sz="3600" b="1" i="0" dirty="0">
                <a:solidFill>
                  <a:srgbClr val="2E546D"/>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50352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Goal Simple">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Tree>
    <p:extLst>
      <p:ext uri="{BB962C8B-B14F-4D97-AF65-F5344CB8AC3E}">
        <p14:creationId xmlns:p14="http://schemas.microsoft.com/office/powerpoint/2010/main" val="4004097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E546D"/>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814451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123652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F556E"/>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F556E"/>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905413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3481949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4894422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78031229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77204013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7490494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6172997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4288181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userDrawn="1"/>
        </p:nvSpPr>
        <p:spPr>
          <a:xfrm>
            <a:off x="0" y="0"/>
            <a:ext cx="12192000" cy="6858000"/>
          </a:xfrm>
          <a:prstGeom prst="rect">
            <a:avLst/>
          </a:prstGeom>
          <a:solidFill>
            <a:srgbClr val="2E5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userDrawn="1"/>
        </p:nvSpPr>
        <p:spPr>
          <a:xfrm>
            <a:off x="0" y="221672"/>
            <a:ext cx="12192000" cy="63728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DC76C98-0227-3747-80B1-ED384456CDE8}"/>
              </a:ext>
            </a:extLst>
          </p:cNvPr>
          <p:cNvPicPr>
            <a:picLocks noChangeAspect="1"/>
          </p:cNvPicPr>
          <p:nvPr userDrawn="1"/>
        </p:nvPicPr>
        <p:blipFill>
          <a:blip r:embed="rId18"/>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288887113"/>
      </p:ext>
    </p:extLst>
  </p:cSld>
  <p:clrMap bg1="lt1" tx1="dk1" bg2="lt2" tx2="dk2" accent1="accent1" accent2="accent2" accent3="accent3" accent4="accent4" accent5="accent5" accent6="accent6" hlink="hlink" folHlink="folHlink"/>
  <p:sldLayoutIdLst>
    <p:sldLayoutId id="2147484294" r:id="rId1"/>
    <p:sldLayoutId id="2147484295" r:id="rId2"/>
    <p:sldLayoutId id="2147484288" r:id="rId3"/>
    <p:sldLayoutId id="2147484275" r:id="rId4"/>
    <p:sldLayoutId id="2147484276" r:id="rId5"/>
    <p:sldLayoutId id="2147484293" r:id="rId6"/>
    <p:sldLayoutId id="2147484277" r:id="rId7"/>
    <p:sldLayoutId id="2147484278" r:id="rId8"/>
    <p:sldLayoutId id="2147484279" r:id="rId9"/>
    <p:sldLayoutId id="2147484280" r:id="rId10"/>
    <p:sldLayoutId id="2147484281" r:id="rId11"/>
    <p:sldLayoutId id="2147484282" r:id="rId12"/>
    <p:sldLayoutId id="2147484283" r:id="rId13"/>
    <p:sldLayoutId id="2147484284" r:id="rId14"/>
    <p:sldLayoutId id="2147484285" r:id="rId15"/>
    <p:sldLayoutId id="214748428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 Coulomb’s Law</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07686"/>
            <a:ext cx="1186597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A sodium ion has a +1 relative atomic charge which indicates it has one more proton than electron. This ion is placed in a 4.00 NC</a:t>
            </a:r>
            <a:r>
              <a:rPr lang="en-AU" sz="2400" b="0" baseline="30000" dirty="0"/>
              <a:t>-1 </a:t>
            </a:r>
            <a:r>
              <a:rPr lang="en-AU" sz="2400" b="0" dirty="0"/>
              <a:t>electric field.</a:t>
            </a:r>
          </a:p>
          <a:p>
            <a:pPr marL="457200" indent="-457200" algn="just">
              <a:buAutoNum type="alphaLcParenR"/>
            </a:pPr>
            <a:r>
              <a:rPr lang="en-AU" sz="2400" b="0" dirty="0"/>
              <a:t>Calculate the force applied to a single sodium ion in this electric field</a:t>
            </a:r>
          </a:p>
          <a:p>
            <a:pPr marL="457200" indent="-457200" algn="just">
              <a:buAutoNum type="alphaLcParenR"/>
            </a:pPr>
            <a:r>
              <a:rPr lang="en-AU" sz="2400" b="0" dirty="0"/>
              <a:t>A different ion is placed in the electric field. It moves in the opposite direction to the sodium ion and experiences a 1.28 * 10</a:t>
            </a:r>
            <a:r>
              <a:rPr lang="en-AU" sz="2400" b="0" baseline="30000" dirty="0"/>
              <a:t>-18</a:t>
            </a:r>
            <a:r>
              <a:rPr lang="en-AU" sz="2400" b="0" baseline="-25000" dirty="0"/>
              <a:t> </a:t>
            </a:r>
            <a:r>
              <a:rPr lang="en-AU" sz="2400" b="0" dirty="0"/>
              <a:t> N force. Calculate the relative atomic charge of the ion.</a:t>
            </a:r>
          </a:p>
          <a:p>
            <a:pPr lvl="1" indent="0" algn="just">
              <a:buNone/>
            </a:pPr>
            <a:endParaRPr lang="en-AU" sz="2000" dirty="0"/>
          </a:p>
        </p:txBody>
      </p:sp>
    </p:spTree>
    <p:extLst>
      <p:ext uri="{BB962C8B-B14F-4D97-AF65-F5344CB8AC3E}">
        <p14:creationId xmlns:p14="http://schemas.microsoft.com/office/powerpoint/2010/main" val="3238768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 Coulomb’s Law</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07686"/>
            <a:ext cx="1186597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A sodium ion has a +1 relative atomic charge which indicates it has one more proton than electron. This ion is placed in a 4.00 NC</a:t>
            </a:r>
            <a:r>
              <a:rPr lang="en-AU" sz="2400" b="0" baseline="30000" dirty="0"/>
              <a:t>-1 </a:t>
            </a:r>
            <a:r>
              <a:rPr lang="en-AU" sz="2400" b="0" dirty="0"/>
              <a:t>electric field.</a:t>
            </a:r>
          </a:p>
          <a:p>
            <a:pPr marL="457200" indent="-457200" algn="just">
              <a:buAutoNum type="alphaLcParenR"/>
            </a:pPr>
            <a:r>
              <a:rPr lang="en-AU" sz="2400" b="0" dirty="0"/>
              <a:t>Calculate the force applied to a single sodium ion in this electric field</a:t>
            </a:r>
          </a:p>
          <a:p>
            <a:pPr marL="457200" indent="-457200" algn="just">
              <a:buAutoNum type="alphaLcParenR"/>
            </a:pPr>
            <a:r>
              <a:rPr lang="en-AU" sz="2400" b="0" dirty="0"/>
              <a:t>A different ion is placed in the electric field. It moves in the opposite direction to the sodium ion and experiences a 1.28 * 10</a:t>
            </a:r>
            <a:r>
              <a:rPr lang="en-AU" sz="2400" b="0" baseline="30000" dirty="0"/>
              <a:t>-18</a:t>
            </a:r>
            <a:r>
              <a:rPr lang="en-AU" sz="2400" b="0" baseline="-25000" dirty="0"/>
              <a:t> </a:t>
            </a:r>
            <a:r>
              <a:rPr lang="en-AU" sz="2400" b="0" dirty="0"/>
              <a:t> N force. Calculate the relative atomic charge of the ion.</a:t>
            </a:r>
          </a:p>
          <a:p>
            <a:pPr lvl="1" indent="0" algn="just">
              <a:buNone/>
            </a:pPr>
            <a:endParaRPr lang="en-AU" sz="2000" dirty="0"/>
          </a:p>
        </p:txBody>
      </p:sp>
      <p:pic>
        <p:nvPicPr>
          <p:cNvPr id="3" name="Picture 2">
            <a:extLst>
              <a:ext uri="{FF2B5EF4-FFF2-40B4-BE49-F238E27FC236}">
                <a16:creationId xmlns:a16="http://schemas.microsoft.com/office/drawing/2014/main" id="{85918309-10AC-B039-BAF8-791526C441A8}"/>
              </a:ext>
            </a:extLst>
          </p:cNvPr>
          <p:cNvPicPr>
            <a:picLocks noChangeAspect="1"/>
          </p:cNvPicPr>
          <p:nvPr/>
        </p:nvPicPr>
        <p:blipFill rotWithShape="1">
          <a:blip r:embed="rId3"/>
          <a:srcRect l="1949" t="63716" r="3615"/>
          <a:stretch/>
        </p:blipFill>
        <p:spPr>
          <a:xfrm>
            <a:off x="284026" y="1873945"/>
            <a:ext cx="11748688" cy="3976369"/>
          </a:xfrm>
          <a:prstGeom prst="rect">
            <a:avLst/>
          </a:prstGeom>
        </p:spPr>
      </p:pic>
    </p:spTree>
    <p:extLst>
      <p:ext uri="{BB962C8B-B14F-4D97-AF65-F5344CB8AC3E}">
        <p14:creationId xmlns:p14="http://schemas.microsoft.com/office/powerpoint/2010/main" val="2371365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Work in an electric field</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2400" b="0" i="0" dirty="0">
                <a:solidFill>
                  <a:srgbClr val="000303"/>
                </a:solidFill>
                <a:effectLst/>
                <a:latin typeface="+mj-lt"/>
              </a:rPr>
              <a:t>I can calculate the work done on a charged object by an electric field</a:t>
            </a:r>
          </a:p>
        </p:txBody>
      </p:sp>
    </p:spTree>
    <p:extLst>
      <p:ext uri="{BB962C8B-B14F-4D97-AF65-F5344CB8AC3E}">
        <p14:creationId xmlns:p14="http://schemas.microsoft.com/office/powerpoint/2010/main" val="3779206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Work in an electric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1007686"/>
            <a:ext cx="1176226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A charged moving through a field has work done on it (a force is moving an object a distance).</a:t>
            </a:r>
          </a:p>
          <a:p>
            <a:pPr algn="just"/>
            <a:r>
              <a:rPr lang="en-AU" sz="2400" b="0" dirty="0"/>
              <a:t>Work is a change in an energy. The energy of an object is due to its location in the electric field.</a:t>
            </a:r>
            <a:endParaRPr lang="en-AU" sz="2000" dirty="0"/>
          </a:p>
          <a:p>
            <a:pPr lvl="1" indent="0" algn="just">
              <a:buNone/>
            </a:pPr>
            <a:endParaRPr lang="en-AU" sz="2000" dirty="0"/>
          </a:p>
        </p:txBody>
      </p:sp>
      <p:cxnSp>
        <p:nvCxnSpPr>
          <p:cNvPr id="6" name="Straight Arrow Connector 5">
            <a:extLst>
              <a:ext uri="{FF2B5EF4-FFF2-40B4-BE49-F238E27FC236}">
                <a16:creationId xmlns:a16="http://schemas.microsoft.com/office/drawing/2014/main" id="{514A4422-74BF-4205-A368-D6D4E843AB37}"/>
              </a:ext>
            </a:extLst>
          </p:cNvPr>
          <p:cNvCxnSpPr/>
          <p:nvPr/>
        </p:nvCxnSpPr>
        <p:spPr>
          <a:xfrm>
            <a:off x="767738" y="2968242"/>
            <a:ext cx="532114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0254621-5947-4D02-AED3-62759F83C65D}"/>
              </a:ext>
            </a:extLst>
          </p:cNvPr>
          <p:cNvCxnSpPr/>
          <p:nvPr/>
        </p:nvCxnSpPr>
        <p:spPr>
          <a:xfrm>
            <a:off x="767738" y="3609975"/>
            <a:ext cx="532114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7E722DB-8DAE-4D40-BB7C-DE33A0D45142}"/>
              </a:ext>
            </a:extLst>
          </p:cNvPr>
          <p:cNvCxnSpPr/>
          <p:nvPr/>
        </p:nvCxnSpPr>
        <p:spPr>
          <a:xfrm>
            <a:off x="767738" y="4251708"/>
            <a:ext cx="532114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2771087-5538-4455-86FA-A3ECF114351C}"/>
              </a:ext>
            </a:extLst>
          </p:cNvPr>
          <p:cNvCxnSpPr/>
          <p:nvPr/>
        </p:nvCxnSpPr>
        <p:spPr>
          <a:xfrm>
            <a:off x="767738" y="4893441"/>
            <a:ext cx="532114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7D2D8C3-D181-4E93-8AF0-C69B58B5FB48}"/>
              </a:ext>
            </a:extLst>
          </p:cNvPr>
          <p:cNvCxnSpPr/>
          <p:nvPr/>
        </p:nvCxnSpPr>
        <p:spPr>
          <a:xfrm>
            <a:off x="767738" y="5535174"/>
            <a:ext cx="532114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83208E2C-9E9F-71A8-8FA5-D12E710FB63E}"/>
              </a:ext>
            </a:extLst>
          </p:cNvPr>
          <p:cNvSpPr/>
          <p:nvPr/>
        </p:nvSpPr>
        <p:spPr>
          <a:xfrm>
            <a:off x="1142124" y="3933452"/>
            <a:ext cx="567590" cy="567590"/>
          </a:xfrm>
          <a:prstGeom prst="ellipse">
            <a:avLst/>
          </a:prstGeom>
          <a:solidFill>
            <a:srgbClr val="F03C1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rPr>
              <a:t>+</a:t>
            </a:r>
          </a:p>
        </p:txBody>
      </p:sp>
      <p:sp>
        <p:nvSpPr>
          <p:cNvPr id="8" name="Rectangle 7">
            <a:extLst>
              <a:ext uri="{FF2B5EF4-FFF2-40B4-BE49-F238E27FC236}">
                <a16:creationId xmlns:a16="http://schemas.microsoft.com/office/drawing/2014/main" id="{329D15A2-927E-B1E2-D8CF-C1F5CDD75E6E}"/>
              </a:ext>
            </a:extLst>
          </p:cNvPr>
          <p:cNvSpPr/>
          <p:nvPr/>
        </p:nvSpPr>
        <p:spPr>
          <a:xfrm>
            <a:off x="6637547" y="2726117"/>
            <a:ext cx="5202027" cy="3124197"/>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a:solidFill>
                  <a:schemeClr val="tx1"/>
                </a:solidFill>
              </a:rPr>
              <a:t>If the charged object is moving in the direction it would naturally go in the field, the work is being done </a:t>
            </a:r>
            <a:r>
              <a:rPr lang="en-AU" sz="2000" b="1" dirty="0">
                <a:solidFill>
                  <a:schemeClr val="tx1"/>
                </a:solidFill>
              </a:rPr>
              <a:t>by </a:t>
            </a:r>
            <a:r>
              <a:rPr lang="en-AU" sz="2000" dirty="0">
                <a:solidFill>
                  <a:schemeClr val="tx1"/>
                </a:solidFill>
              </a:rPr>
              <a:t>the field.</a:t>
            </a:r>
          </a:p>
          <a:p>
            <a:pPr algn="ctr"/>
            <a:endParaRPr lang="en-AU" sz="2000" dirty="0">
              <a:solidFill>
                <a:schemeClr val="tx1"/>
              </a:solidFill>
            </a:endParaRPr>
          </a:p>
          <a:p>
            <a:pPr algn="ctr"/>
            <a:r>
              <a:rPr lang="en-AU" sz="2000" dirty="0">
                <a:solidFill>
                  <a:schemeClr val="tx1"/>
                </a:solidFill>
              </a:rPr>
              <a:t>If it is moving against the natural direction, the work is being done </a:t>
            </a:r>
            <a:r>
              <a:rPr lang="en-AU" sz="2000" b="1" dirty="0">
                <a:solidFill>
                  <a:schemeClr val="tx1"/>
                </a:solidFill>
              </a:rPr>
              <a:t>on</a:t>
            </a:r>
            <a:r>
              <a:rPr lang="en-AU" sz="2000" dirty="0">
                <a:solidFill>
                  <a:schemeClr val="tx1"/>
                </a:solidFill>
              </a:rPr>
              <a:t> the field.</a:t>
            </a:r>
          </a:p>
          <a:p>
            <a:pPr algn="ctr"/>
            <a:endParaRPr lang="en-AU" sz="2000" dirty="0">
              <a:solidFill>
                <a:schemeClr val="tx1"/>
              </a:solidFill>
            </a:endParaRPr>
          </a:p>
          <a:p>
            <a:pPr algn="ctr"/>
            <a:r>
              <a:rPr lang="en-AU" sz="2000" dirty="0">
                <a:solidFill>
                  <a:schemeClr val="tx1"/>
                </a:solidFill>
              </a:rPr>
              <a:t>If it is moving perpendicular to the field, no work is being done.</a:t>
            </a:r>
          </a:p>
        </p:txBody>
      </p:sp>
    </p:spTree>
    <p:extLst>
      <p:ext uri="{BB962C8B-B14F-4D97-AF65-F5344CB8AC3E}">
        <p14:creationId xmlns:p14="http://schemas.microsoft.com/office/powerpoint/2010/main" val="1200013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2.91667E-6 -4.81481E-6 L 0.24088 -4.81481E-6 " pathEditMode="relative" rAng="0" ptsTypes="AA">
                                      <p:cBhvr>
                                        <p:cTn id="6" dur="3000" fill="hold"/>
                                        <p:tgtEl>
                                          <p:spTgt spid="5"/>
                                        </p:tgtEl>
                                        <p:attrNameLst>
                                          <p:attrName>ppt_x</p:attrName>
                                          <p:attrName>ppt_y</p:attrName>
                                        </p:attrNameLst>
                                      </p:cBhvr>
                                      <p:rCtr x="12044" y="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1" nodeType="clickEffect">
                                  <p:stCondLst>
                                    <p:cond delay="0"/>
                                  </p:stCondLst>
                                  <p:childTnLst>
                                    <p:animMotion origin="layout" path="M 0.24088 -4.81481E-6 L 2.91667E-6 -4.81481E-6 " pathEditMode="relative" rAng="0" ptsTypes="AA">
                                      <p:cBhvr>
                                        <p:cTn id="10" dur="3000" fill="hold"/>
                                        <p:tgtEl>
                                          <p:spTgt spid="5"/>
                                        </p:tgtEl>
                                        <p:attrNameLst>
                                          <p:attrName>ppt_x</p:attrName>
                                          <p:attrName>ppt_y</p:attrName>
                                        </p:attrNameLst>
                                      </p:cBhvr>
                                      <p:rCtr x="-12044" y="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2" nodeType="clickEffect">
                                  <p:stCondLst>
                                    <p:cond delay="0"/>
                                  </p:stCondLst>
                                  <p:childTnLst>
                                    <p:animMotion origin="layout" path="M 0.15117 -0.18194 L 0.14935 0.19237 " pathEditMode="relative" rAng="0" ptsTypes="AA">
                                      <p:cBhvr>
                                        <p:cTn id="14" dur="3000" fill="hold"/>
                                        <p:tgtEl>
                                          <p:spTgt spid="5"/>
                                        </p:tgtEl>
                                        <p:attrNameLst>
                                          <p:attrName>ppt_x</p:attrName>
                                          <p:attrName>ppt_y</p:attrName>
                                        </p:attrNameLst>
                                      </p:cBhvr>
                                      <p:rCtr x="-91" y="18704"/>
                                    </p:animMotion>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Work in an electric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1007686"/>
            <a:ext cx="1209741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Is work done by the field or on the field?</a:t>
            </a:r>
            <a:endParaRPr lang="en-AU" sz="2000" dirty="0"/>
          </a:p>
          <a:p>
            <a:pPr lvl="1" indent="0" algn="just">
              <a:buNone/>
            </a:pPr>
            <a:endParaRPr lang="en-AU" sz="2000" dirty="0"/>
          </a:p>
        </p:txBody>
      </p:sp>
      <p:pic>
        <p:nvPicPr>
          <p:cNvPr id="5" name="Picture 4">
            <a:extLst>
              <a:ext uri="{FF2B5EF4-FFF2-40B4-BE49-F238E27FC236}">
                <a16:creationId xmlns:a16="http://schemas.microsoft.com/office/drawing/2014/main" id="{80715BED-1D41-4407-B4AD-0496E634896A}"/>
              </a:ext>
            </a:extLst>
          </p:cNvPr>
          <p:cNvPicPr>
            <a:picLocks noChangeAspect="1"/>
          </p:cNvPicPr>
          <p:nvPr/>
        </p:nvPicPr>
        <p:blipFill rotWithShape="1">
          <a:blip r:embed="rId3"/>
          <a:srcRect t="1634"/>
          <a:stretch/>
        </p:blipFill>
        <p:spPr>
          <a:xfrm>
            <a:off x="2009776" y="1562100"/>
            <a:ext cx="7991474" cy="4873493"/>
          </a:xfrm>
          <a:prstGeom prst="rect">
            <a:avLst/>
          </a:prstGeom>
        </p:spPr>
      </p:pic>
    </p:spTree>
    <p:extLst>
      <p:ext uri="{BB962C8B-B14F-4D97-AF65-F5344CB8AC3E}">
        <p14:creationId xmlns:p14="http://schemas.microsoft.com/office/powerpoint/2010/main" val="2634993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B658A8D-BF1D-EC11-11C1-844EEB8131F6}"/>
              </a:ext>
            </a:extLst>
          </p:cNvPr>
          <p:cNvCxnSpPr>
            <a:cxnSpLocks/>
          </p:cNvCxnSpPr>
          <p:nvPr/>
        </p:nvCxnSpPr>
        <p:spPr>
          <a:xfrm>
            <a:off x="489585" y="4095838"/>
            <a:ext cx="549898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ube 7">
            <a:extLst>
              <a:ext uri="{FF2B5EF4-FFF2-40B4-BE49-F238E27FC236}">
                <a16:creationId xmlns:a16="http://schemas.microsoft.com/office/drawing/2014/main" id="{A9D5D396-AB6A-31CC-F067-5E87F0B0D5E4}"/>
              </a:ext>
            </a:extLst>
          </p:cNvPr>
          <p:cNvSpPr/>
          <p:nvPr/>
        </p:nvSpPr>
        <p:spPr>
          <a:xfrm flipH="1">
            <a:off x="2373452" y="2414157"/>
            <a:ext cx="3110738" cy="2393538"/>
          </a:xfrm>
          <a:prstGeom prst="cube">
            <a:avLst>
              <a:gd name="adj" fmla="val 3135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Work in an electric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935668"/>
            <a:ext cx="1209741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Compare gravitational and electric fields:</a:t>
            </a:r>
            <a:endParaRPr lang="en-AU" sz="2000" dirty="0"/>
          </a:p>
          <a:p>
            <a:pPr lvl="1" indent="0" algn="just">
              <a:buNone/>
            </a:pPr>
            <a:endParaRPr lang="en-AU" sz="2000" dirty="0"/>
          </a:p>
        </p:txBody>
      </p:sp>
      <p:sp>
        <p:nvSpPr>
          <p:cNvPr id="3" name="Text Placeholder 3">
            <a:extLst>
              <a:ext uri="{FF2B5EF4-FFF2-40B4-BE49-F238E27FC236}">
                <a16:creationId xmlns:a16="http://schemas.microsoft.com/office/drawing/2014/main" id="{2865A860-8824-B6D6-F14F-D8C30DAB401D}"/>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7" name="Picture 6">
            <a:extLst>
              <a:ext uri="{FF2B5EF4-FFF2-40B4-BE49-F238E27FC236}">
                <a16:creationId xmlns:a16="http://schemas.microsoft.com/office/drawing/2014/main" id="{F8CA1160-1600-99F0-70E6-B62F5B651BE1}"/>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8628" b="77650" l="10000" r="90000">
                        <a14:foregroundMark x1="52174" y1="25126" x2="35573" y2="27136"/>
                        <a14:foregroundMark x1="35178" y1="28643" x2="12648" y2="32663"/>
                        <a14:foregroundMark x1="12648" y1="32663" x2="39130" y2="53266"/>
                        <a14:foregroundMark x1="39130" y1="53266" x2="69960" y2="59296"/>
                        <a14:foregroundMark x1="69960" y1="59296" x2="77075" y2="58291"/>
                        <a14:foregroundMark x1="13834" y1="37688" x2="13043" y2="35176"/>
                        <a14:foregroundMark x1="87352" y1="46734" x2="58103" y2="24121"/>
                      </a14:backgroundRemoval>
                    </a14:imgEffect>
                  </a14:imgLayer>
                </a14:imgProps>
              </a:ext>
            </a:extLst>
          </a:blip>
          <a:srcRect b="13722"/>
          <a:stretch/>
        </p:blipFill>
        <p:spPr>
          <a:xfrm>
            <a:off x="632634" y="3610926"/>
            <a:ext cx="1977988" cy="1342317"/>
          </a:xfrm>
          <a:prstGeom prst="rect">
            <a:avLst/>
          </a:prstGeom>
        </p:spPr>
      </p:pic>
      <p:sp>
        <p:nvSpPr>
          <p:cNvPr id="15" name="Text Placeholder 3">
            <a:extLst>
              <a:ext uri="{FF2B5EF4-FFF2-40B4-BE49-F238E27FC236}">
                <a16:creationId xmlns:a16="http://schemas.microsoft.com/office/drawing/2014/main" id="{D46B21DA-3940-9BA1-0969-FB392AD2E6F7}"/>
              </a:ext>
            </a:extLst>
          </p:cNvPr>
          <p:cNvSpPr txBox="1">
            <a:spLocks/>
          </p:cNvSpPr>
          <p:nvPr/>
        </p:nvSpPr>
        <p:spPr>
          <a:xfrm>
            <a:off x="5988566" y="1481625"/>
            <a:ext cx="5997016" cy="460942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To move the book onto the box, we have to do work. We are doing work to the gravitational field.</a:t>
            </a:r>
          </a:p>
          <a:p>
            <a:pPr algn="just"/>
            <a:endParaRPr lang="en-AU" sz="2000" b="0" dirty="0"/>
          </a:p>
          <a:p>
            <a:pPr algn="just"/>
            <a:r>
              <a:rPr lang="en-AU" sz="2400" b="0" dirty="0"/>
              <a:t>This results in an increase in the book’s gravitational potential energy. The book has more energy due to its location in the gravitational field.</a:t>
            </a:r>
          </a:p>
          <a:p>
            <a:pPr algn="just"/>
            <a:endParaRPr lang="en-AU" sz="2400" b="0" dirty="0"/>
          </a:p>
          <a:p>
            <a:pPr algn="just"/>
            <a:r>
              <a:rPr lang="en-AU" sz="2400" b="0" dirty="0"/>
              <a:t>The more mass the book has, the more work we had to do to change its location.</a:t>
            </a:r>
            <a:endParaRPr lang="en-AU" sz="2000" b="0" dirty="0"/>
          </a:p>
          <a:p>
            <a:pPr algn="just"/>
            <a:endParaRPr lang="en-AU" sz="2000" b="0" dirty="0"/>
          </a:p>
        </p:txBody>
      </p:sp>
    </p:spTree>
    <p:extLst>
      <p:ext uri="{BB962C8B-B14F-4D97-AF65-F5344CB8AC3E}">
        <p14:creationId xmlns:p14="http://schemas.microsoft.com/office/powerpoint/2010/main" val="3119164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7" presetClass="path" presetSubtype="0" accel="50000" decel="50000" fill="hold" nodeType="clickEffect">
                                  <p:stCondLst>
                                    <p:cond delay="0"/>
                                  </p:stCondLst>
                                  <p:childTnLst>
                                    <p:animMotion origin="layout" path="M -2.70833E-6 4.44444E-6 L -2.70833E-6 -0.11968 C -2.70833E-6 -0.17338 0.05144 -0.23936 0.09336 -0.23936 L 0.18672 -0.23936 " pathEditMode="relative" rAng="0" ptsTypes="AAAA">
                                      <p:cBhvr>
                                        <p:cTn id="6" dur="2000" fill="hold"/>
                                        <p:tgtEl>
                                          <p:spTgt spid="7"/>
                                        </p:tgtEl>
                                        <p:attrNameLst>
                                          <p:attrName>ppt_x</p:attrName>
                                          <p:attrName>ppt_y</p:attrName>
                                        </p:attrNameLst>
                                      </p:cBhvr>
                                      <p:rCtr x="9336" y="-11968"/>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Work in an electric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935668"/>
            <a:ext cx="1209741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Compare gravitational and electric fields:</a:t>
            </a:r>
            <a:endParaRPr lang="en-AU" sz="2000" dirty="0"/>
          </a:p>
          <a:p>
            <a:pPr lvl="1" indent="0" algn="just">
              <a:buNone/>
            </a:pPr>
            <a:endParaRPr lang="en-AU" sz="2000" dirty="0"/>
          </a:p>
        </p:txBody>
      </p:sp>
      <p:sp>
        <p:nvSpPr>
          <p:cNvPr id="3" name="Text Placeholder 3">
            <a:extLst>
              <a:ext uri="{FF2B5EF4-FFF2-40B4-BE49-F238E27FC236}">
                <a16:creationId xmlns:a16="http://schemas.microsoft.com/office/drawing/2014/main" id="{2865A860-8824-B6D6-F14F-D8C30DAB401D}"/>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5" name="Text Placeholder 3">
            <a:extLst>
              <a:ext uri="{FF2B5EF4-FFF2-40B4-BE49-F238E27FC236}">
                <a16:creationId xmlns:a16="http://schemas.microsoft.com/office/drawing/2014/main" id="{D46B21DA-3940-9BA1-0969-FB392AD2E6F7}"/>
              </a:ext>
            </a:extLst>
          </p:cNvPr>
          <p:cNvSpPr txBox="1">
            <a:spLocks/>
          </p:cNvSpPr>
          <p:nvPr/>
        </p:nvSpPr>
        <p:spPr>
          <a:xfrm>
            <a:off x="5988566" y="1481625"/>
            <a:ext cx="5997016" cy="460942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To move the charged object, we have to do work. We are doing work to the electric field.</a:t>
            </a:r>
          </a:p>
          <a:p>
            <a:pPr algn="just"/>
            <a:endParaRPr lang="en-AU" sz="2000" b="0" dirty="0"/>
          </a:p>
          <a:p>
            <a:pPr algn="just"/>
            <a:r>
              <a:rPr lang="en-AU" sz="2400" b="0" dirty="0"/>
              <a:t>This results in an increase in the object’s electric potential energy. The object has more energy due to its location in the electric field.</a:t>
            </a:r>
          </a:p>
          <a:p>
            <a:pPr algn="just"/>
            <a:endParaRPr lang="en-AU" sz="2400" b="0" dirty="0"/>
          </a:p>
          <a:p>
            <a:pPr algn="just"/>
            <a:r>
              <a:rPr lang="en-AU" sz="2400" b="0" dirty="0"/>
              <a:t>The more charge the object has, the more work we had to do to change its location.</a:t>
            </a:r>
            <a:endParaRPr lang="en-AU" sz="2000" b="0" dirty="0"/>
          </a:p>
          <a:p>
            <a:pPr algn="just"/>
            <a:endParaRPr lang="en-AU" sz="2000" b="0" dirty="0"/>
          </a:p>
        </p:txBody>
      </p:sp>
      <p:cxnSp>
        <p:nvCxnSpPr>
          <p:cNvPr id="14" name="Straight Arrow Connector 13">
            <a:extLst>
              <a:ext uri="{FF2B5EF4-FFF2-40B4-BE49-F238E27FC236}">
                <a16:creationId xmlns:a16="http://schemas.microsoft.com/office/drawing/2014/main" id="{E191B456-D35A-83DC-D3C7-3C95FC65A7CC}"/>
              </a:ext>
            </a:extLst>
          </p:cNvPr>
          <p:cNvCxnSpPr/>
          <p:nvPr/>
        </p:nvCxnSpPr>
        <p:spPr>
          <a:xfrm>
            <a:off x="461001" y="2158295"/>
            <a:ext cx="532114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5515E17-12E5-2304-8A64-1A7196E67930}"/>
              </a:ext>
            </a:extLst>
          </p:cNvPr>
          <p:cNvCxnSpPr/>
          <p:nvPr/>
        </p:nvCxnSpPr>
        <p:spPr>
          <a:xfrm>
            <a:off x="461001" y="2800028"/>
            <a:ext cx="532114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BD751CC-B048-0512-84EB-7536BB2745C2}"/>
              </a:ext>
            </a:extLst>
          </p:cNvPr>
          <p:cNvCxnSpPr/>
          <p:nvPr/>
        </p:nvCxnSpPr>
        <p:spPr>
          <a:xfrm>
            <a:off x="461001" y="3441761"/>
            <a:ext cx="532114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800072D-C716-3076-D78A-BD53C5158B8F}"/>
              </a:ext>
            </a:extLst>
          </p:cNvPr>
          <p:cNvCxnSpPr/>
          <p:nvPr/>
        </p:nvCxnSpPr>
        <p:spPr>
          <a:xfrm>
            <a:off x="461001" y="4083494"/>
            <a:ext cx="532114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B23A70A-6634-8CE5-9C0E-DD2F403BDCAC}"/>
              </a:ext>
            </a:extLst>
          </p:cNvPr>
          <p:cNvCxnSpPr/>
          <p:nvPr/>
        </p:nvCxnSpPr>
        <p:spPr>
          <a:xfrm>
            <a:off x="461001" y="4725227"/>
            <a:ext cx="532114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B2847093-F243-29BB-41F1-01F85A14C0A9}"/>
              </a:ext>
            </a:extLst>
          </p:cNvPr>
          <p:cNvSpPr/>
          <p:nvPr/>
        </p:nvSpPr>
        <p:spPr>
          <a:xfrm>
            <a:off x="3790958" y="3145205"/>
            <a:ext cx="567590" cy="567590"/>
          </a:xfrm>
          <a:prstGeom prst="ellipse">
            <a:avLst/>
          </a:prstGeom>
          <a:solidFill>
            <a:srgbClr val="F03C1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rPr>
              <a:t>+</a:t>
            </a:r>
          </a:p>
        </p:txBody>
      </p:sp>
    </p:spTree>
    <p:extLst>
      <p:ext uri="{BB962C8B-B14F-4D97-AF65-F5344CB8AC3E}">
        <p14:creationId xmlns:p14="http://schemas.microsoft.com/office/powerpoint/2010/main" val="4266083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79167E-6 0 L -0.23398 0.0044 " pathEditMode="relative" rAng="0" ptsTypes="AA">
                                      <p:cBhvr>
                                        <p:cTn id="6" dur="3000" fill="hold"/>
                                        <p:tgtEl>
                                          <p:spTgt spid="20"/>
                                        </p:tgtEl>
                                        <p:attrNameLst>
                                          <p:attrName>ppt_x</p:attrName>
                                          <p:attrName>ppt_y</p:attrName>
                                        </p:attrNameLst>
                                      </p:cBhvr>
                                      <p:rCtr x="-11706" y="208"/>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Work in an electric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47083"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1007686"/>
            <a:ext cx="1161518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dirty="0"/>
              <a:t>Electric potential difference</a:t>
            </a:r>
          </a:p>
          <a:p>
            <a:pPr algn="just"/>
            <a:endParaRPr lang="en-AU" sz="1100" b="0" dirty="0"/>
          </a:p>
          <a:p>
            <a:pPr algn="just"/>
            <a:r>
              <a:rPr lang="en-AU" b="0" i="1" dirty="0"/>
              <a:t>Electric potential </a:t>
            </a:r>
            <a:r>
              <a:rPr lang="en-AU" b="0" dirty="0"/>
              <a:t>is the “potential energy per unit of charge”</a:t>
            </a:r>
            <a:endParaRPr lang="en-AU" sz="2400" b="0" dirty="0"/>
          </a:p>
          <a:p>
            <a:pPr algn="just"/>
            <a:endParaRPr lang="en-AU" sz="1000" b="0" dirty="0"/>
          </a:p>
          <a:p>
            <a:pPr algn="just"/>
            <a:r>
              <a:rPr lang="en-AU" b="0" i="1" dirty="0"/>
              <a:t>Electric potential difference </a:t>
            </a:r>
            <a:r>
              <a:rPr lang="en-AU" b="0" dirty="0"/>
              <a:t>is the difference in the electric potential between two points.</a:t>
            </a:r>
          </a:p>
          <a:p>
            <a:pPr algn="just"/>
            <a:endParaRPr lang="en-AU" b="0" dirty="0"/>
          </a:p>
          <a:p>
            <a:pPr algn="just"/>
            <a:endParaRPr lang="en-AU" b="0" dirty="0"/>
          </a:p>
        </p:txBody>
      </p:sp>
      <p:pic>
        <p:nvPicPr>
          <p:cNvPr id="7" name="Picture 6">
            <a:extLst>
              <a:ext uri="{FF2B5EF4-FFF2-40B4-BE49-F238E27FC236}">
                <a16:creationId xmlns:a16="http://schemas.microsoft.com/office/drawing/2014/main" id="{D22ADF66-34E9-4CBB-98B6-901E9ADBF005}"/>
              </a:ext>
            </a:extLst>
          </p:cNvPr>
          <p:cNvPicPr>
            <a:picLocks noChangeAspect="1"/>
          </p:cNvPicPr>
          <p:nvPr/>
        </p:nvPicPr>
        <p:blipFill>
          <a:blip r:embed="rId3"/>
          <a:stretch>
            <a:fillRect/>
          </a:stretch>
        </p:blipFill>
        <p:spPr>
          <a:xfrm>
            <a:off x="286027" y="3429000"/>
            <a:ext cx="4772025" cy="876300"/>
          </a:xfrm>
          <a:prstGeom prst="rect">
            <a:avLst/>
          </a:prstGeom>
        </p:spPr>
      </p:pic>
      <p:pic>
        <p:nvPicPr>
          <p:cNvPr id="9" name="Picture 8">
            <a:extLst>
              <a:ext uri="{FF2B5EF4-FFF2-40B4-BE49-F238E27FC236}">
                <a16:creationId xmlns:a16="http://schemas.microsoft.com/office/drawing/2014/main" id="{3C84E87F-519C-40DE-B5C5-73931631CD7D}"/>
              </a:ext>
            </a:extLst>
          </p:cNvPr>
          <p:cNvPicPr>
            <a:picLocks noChangeAspect="1"/>
          </p:cNvPicPr>
          <p:nvPr/>
        </p:nvPicPr>
        <p:blipFill rotWithShape="1">
          <a:blip r:embed="rId4"/>
          <a:srcRect t="34854" r="79079"/>
          <a:stretch/>
        </p:blipFill>
        <p:spPr>
          <a:xfrm>
            <a:off x="5841483" y="3539273"/>
            <a:ext cx="2105579" cy="708817"/>
          </a:xfrm>
          <a:prstGeom prst="rect">
            <a:avLst/>
          </a:prstGeom>
        </p:spPr>
      </p:pic>
      <p:pic>
        <p:nvPicPr>
          <p:cNvPr id="13" name="Picture 12">
            <a:extLst>
              <a:ext uri="{FF2B5EF4-FFF2-40B4-BE49-F238E27FC236}">
                <a16:creationId xmlns:a16="http://schemas.microsoft.com/office/drawing/2014/main" id="{BD2C8E7E-8498-4763-8CB8-C3E4B778E061}"/>
              </a:ext>
            </a:extLst>
          </p:cNvPr>
          <p:cNvPicPr>
            <a:picLocks noChangeAspect="1"/>
          </p:cNvPicPr>
          <p:nvPr/>
        </p:nvPicPr>
        <p:blipFill rotWithShape="1">
          <a:blip r:embed="rId4"/>
          <a:srcRect l="54438" t="24739" r="3642" b="10115"/>
          <a:stretch/>
        </p:blipFill>
        <p:spPr>
          <a:xfrm>
            <a:off x="7867649" y="3505200"/>
            <a:ext cx="4236721" cy="711799"/>
          </a:xfrm>
          <a:prstGeom prst="rect">
            <a:avLst/>
          </a:prstGeom>
        </p:spPr>
      </p:pic>
      <p:sp>
        <p:nvSpPr>
          <p:cNvPr id="14" name="Text Placeholder 3">
            <a:extLst>
              <a:ext uri="{FF2B5EF4-FFF2-40B4-BE49-F238E27FC236}">
                <a16:creationId xmlns:a16="http://schemas.microsoft.com/office/drawing/2014/main" id="{F03563B1-C58A-4FDE-A320-ED91090B13E9}"/>
              </a:ext>
            </a:extLst>
          </p:cNvPr>
          <p:cNvSpPr txBox="1">
            <a:spLocks/>
          </p:cNvSpPr>
          <p:nvPr/>
        </p:nvSpPr>
        <p:spPr>
          <a:xfrm>
            <a:off x="214867" y="4561023"/>
            <a:ext cx="5881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V = potential difference (V  or JC</a:t>
            </a:r>
            <a:r>
              <a:rPr lang="en-AU" sz="2400" b="0" baseline="30000" dirty="0"/>
              <a:t>-1</a:t>
            </a:r>
            <a:r>
              <a:rPr lang="en-AU" sz="2400" b="0" dirty="0"/>
              <a:t>)</a:t>
            </a:r>
          </a:p>
          <a:p>
            <a:pPr algn="just"/>
            <a:r>
              <a:rPr lang="en-AU" sz="2400" b="0" dirty="0"/>
              <a:t>W = work (J)</a:t>
            </a:r>
          </a:p>
          <a:p>
            <a:pPr algn="just"/>
            <a:r>
              <a:rPr lang="en-AU" sz="2400" b="0" dirty="0"/>
              <a:t>q = charge (C)</a:t>
            </a:r>
          </a:p>
          <a:p>
            <a:pPr algn="just"/>
            <a:r>
              <a:rPr lang="en-AU" sz="2400" b="0" dirty="0"/>
              <a:t>F = force (N)	     s = displacement (m)</a:t>
            </a:r>
            <a:endParaRPr lang="en-AU" sz="2000" dirty="0"/>
          </a:p>
          <a:p>
            <a:pPr lvl="1" indent="0" algn="just">
              <a:buNone/>
            </a:pPr>
            <a:endParaRPr lang="en-AU" sz="2000" dirty="0"/>
          </a:p>
        </p:txBody>
      </p:sp>
    </p:spTree>
    <p:extLst>
      <p:ext uri="{BB962C8B-B14F-4D97-AF65-F5344CB8AC3E}">
        <p14:creationId xmlns:p14="http://schemas.microsoft.com/office/powerpoint/2010/main" val="4200110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Work in an electric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47083"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1007686"/>
            <a:ext cx="1161518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dirty="0"/>
              <a:t>Electric potential vs Gravitational potential</a:t>
            </a:r>
          </a:p>
          <a:p>
            <a:pPr algn="just"/>
            <a:endParaRPr lang="en-AU" sz="1100" b="0" dirty="0"/>
          </a:p>
          <a:p>
            <a:pPr algn="just"/>
            <a:r>
              <a:rPr lang="en-AU" dirty="0"/>
              <a:t>Gravity</a:t>
            </a:r>
            <a:r>
              <a:rPr lang="en-AU" b="0" dirty="0"/>
              <a:t>:		W = </a:t>
            </a:r>
            <a:r>
              <a:rPr lang="en-AU" b="0" dirty="0">
                <a:sym typeface="Symbol" panose="05050102010706020507" pitchFamily="18" charset="2"/>
              </a:rPr>
              <a:t>PE = m g ∆h</a:t>
            </a:r>
          </a:p>
          <a:p>
            <a:pPr algn="just"/>
            <a:r>
              <a:rPr lang="en-AU" b="0" dirty="0">
                <a:sym typeface="Symbol" panose="05050102010706020507" pitchFamily="18" charset="2"/>
              </a:rPr>
              <a:t>mass	= the amount of substance affected by the field</a:t>
            </a:r>
          </a:p>
          <a:p>
            <a:pPr algn="just"/>
            <a:r>
              <a:rPr lang="en-AU" b="0" dirty="0">
                <a:sym typeface="Symbol" panose="05050102010706020507" pitchFamily="18" charset="2"/>
              </a:rPr>
              <a:t>g	= gravitational field strength</a:t>
            </a:r>
          </a:p>
          <a:p>
            <a:pPr algn="just"/>
            <a:r>
              <a:rPr lang="en-AU" b="0" dirty="0">
                <a:sym typeface="Symbol" panose="05050102010706020507" pitchFamily="18" charset="2"/>
              </a:rPr>
              <a:t>h	= the change in location</a:t>
            </a:r>
          </a:p>
          <a:p>
            <a:pPr algn="just"/>
            <a:endParaRPr lang="en-AU" b="0" dirty="0">
              <a:sym typeface="Symbol" panose="05050102010706020507" pitchFamily="18" charset="2"/>
            </a:endParaRPr>
          </a:p>
          <a:p>
            <a:pPr algn="just"/>
            <a:r>
              <a:rPr lang="en-AU" dirty="0"/>
              <a:t>Electric</a:t>
            </a:r>
            <a:r>
              <a:rPr lang="en-AU" b="0" dirty="0"/>
              <a:t>:		W = </a:t>
            </a:r>
            <a:r>
              <a:rPr lang="en-AU" b="0" dirty="0" err="1">
                <a:sym typeface="Symbol" panose="05050102010706020507" pitchFamily="18" charset="2"/>
              </a:rPr>
              <a:t>Vq</a:t>
            </a:r>
            <a:r>
              <a:rPr lang="en-AU" b="0" dirty="0">
                <a:sym typeface="Symbol" panose="05050102010706020507" pitchFamily="18" charset="2"/>
              </a:rPr>
              <a:t> = q E d</a:t>
            </a:r>
          </a:p>
          <a:p>
            <a:pPr algn="just"/>
            <a:r>
              <a:rPr lang="en-AU" b="0" dirty="0">
                <a:sym typeface="Symbol" panose="05050102010706020507" pitchFamily="18" charset="2"/>
              </a:rPr>
              <a:t>q	= the amount of substance affected by the field</a:t>
            </a:r>
          </a:p>
          <a:p>
            <a:pPr algn="just"/>
            <a:r>
              <a:rPr lang="en-AU" b="0" dirty="0">
                <a:sym typeface="Symbol" panose="05050102010706020507" pitchFamily="18" charset="2"/>
              </a:rPr>
              <a:t>E	= electric field strength</a:t>
            </a:r>
          </a:p>
          <a:p>
            <a:pPr algn="just"/>
            <a:r>
              <a:rPr lang="en-AU" b="0" dirty="0">
                <a:sym typeface="Symbol" panose="05050102010706020507" pitchFamily="18" charset="2"/>
              </a:rPr>
              <a:t>d	= the change in location</a:t>
            </a:r>
          </a:p>
          <a:p>
            <a:pPr algn="just"/>
            <a:endParaRPr lang="en-AU" dirty="0">
              <a:sym typeface="Symbol" panose="05050102010706020507" pitchFamily="18" charset="2"/>
            </a:endParaRPr>
          </a:p>
          <a:p>
            <a:pPr algn="just"/>
            <a:endParaRPr lang="en-AU" b="0" dirty="0">
              <a:sym typeface="Symbol" panose="05050102010706020507" pitchFamily="18" charset="2"/>
            </a:endParaRPr>
          </a:p>
          <a:p>
            <a:pPr algn="just"/>
            <a:endParaRPr lang="en-AU" b="0" dirty="0">
              <a:sym typeface="Symbol" panose="05050102010706020507" pitchFamily="18" charset="2"/>
            </a:endParaRPr>
          </a:p>
        </p:txBody>
      </p:sp>
    </p:spTree>
    <p:extLst>
      <p:ext uri="{BB962C8B-B14F-4D97-AF65-F5344CB8AC3E}">
        <p14:creationId xmlns:p14="http://schemas.microsoft.com/office/powerpoint/2010/main" val="1006991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Work in an electric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47083"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1007686"/>
            <a:ext cx="1161518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dirty="0"/>
              <a:t>Electric potential vs Gravitational potential</a:t>
            </a:r>
          </a:p>
          <a:p>
            <a:pPr algn="just"/>
            <a:r>
              <a:rPr lang="en-AU" sz="2400" b="0" dirty="0"/>
              <a:t>The difference is that, with gravity, we talk about absolutes (the energy of the object). With electric fields, we talk about differences per unit of charge.</a:t>
            </a:r>
            <a:endParaRPr lang="en-AU" b="0" dirty="0">
              <a:sym typeface="Symbol" panose="05050102010706020507" pitchFamily="18" charset="2"/>
            </a:endParaRPr>
          </a:p>
          <a:p>
            <a:pPr algn="just"/>
            <a:endParaRPr lang="en-AU" b="0" dirty="0">
              <a:sym typeface="Symbol" panose="05050102010706020507" pitchFamily="18" charset="2"/>
            </a:endParaRPr>
          </a:p>
        </p:txBody>
      </p:sp>
      <p:sp>
        <p:nvSpPr>
          <p:cNvPr id="3" name="Rectangle 2">
            <a:extLst>
              <a:ext uri="{FF2B5EF4-FFF2-40B4-BE49-F238E27FC236}">
                <a16:creationId xmlns:a16="http://schemas.microsoft.com/office/drawing/2014/main" id="{DF3FA12E-28CD-7CAE-B95E-F7E6004C5164}"/>
              </a:ext>
            </a:extLst>
          </p:cNvPr>
          <p:cNvSpPr/>
          <p:nvPr/>
        </p:nvSpPr>
        <p:spPr>
          <a:xfrm>
            <a:off x="640080" y="4560570"/>
            <a:ext cx="1040130" cy="731520"/>
          </a:xfrm>
          <a:prstGeom prst="rect">
            <a:avLst/>
          </a:prstGeom>
          <a:solidFill>
            <a:schemeClr val="bg2">
              <a:lumMod val="5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AU" b="1" dirty="0"/>
              <a:t>10 kg</a:t>
            </a:r>
          </a:p>
        </p:txBody>
      </p:sp>
      <p:sp>
        <p:nvSpPr>
          <p:cNvPr id="5" name="Rectangle 4">
            <a:extLst>
              <a:ext uri="{FF2B5EF4-FFF2-40B4-BE49-F238E27FC236}">
                <a16:creationId xmlns:a16="http://schemas.microsoft.com/office/drawing/2014/main" id="{7022E4B8-AF00-A7BD-561B-E14DCB248D18}"/>
              </a:ext>
            </a:extLst>
          </p:cNvPr>
          <p:cNvSpPr/>
          <p:nvPr/>
        </p:nvSpPr>
        <p:spPr>
          <a:xfrm>
            <a:off x="651510" y="2622750"/>
            <a:ext cx="1040130" cy="731520"/>
          </a:xfrm>
          <a:prstGeom prst="rect">
            <a:avLst/>
          </a:prstGeom>
          <a:solidFill>
            <a:schemeClr val="bg2">
              <a:lumMod val="5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AU" b="1" dirty="0"/>
              <a:t>10 kg</a:t>
            </a:r>
          </a:p>
        </p:txBody>
      </p:sp>
      <p:cxnSp>
        <p:nvCxnSpPr>
          <p:cNvPr id="7" name="Straight Arrow Connector 6">
            <a:extLst>
              <a:ext uri="{FF2B5EF4-FFF2-40B4-BE49-F238E27FC236}">
                <a16:creationId xmlns:a16="http://schemas.microsoft.com/office/drawing/2014/main" id="{4645300C-605C-31AE-E302-AE805BE3361E}"/>
              </a:ext>
            </a:extLst>
          </p:cNvPr>
          <p:cNvCxnSpPr/>
          <p:nvPr/>
        </p:nvCxnSpPr>
        <p:spPr>
          <a:xfrm>
            <a:off x="466725" y="2767633"/>
            <a:ext cx="0" cy="216027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96E35861-3FF7-7697-BA97-49EB949E62BD}"/>
              </a:ext>
            </a:extLst>
          </p:cNvPr>
          <p:cNvSpPr/>
          <p:nvPr/>
        </p:nvSpPr>
        <p:spPr>
          <a:xfrm>
            <a:off x="214867" y="3354270"/>
            <a:ext cx="1040130" cy="73152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AU" b="1" dirty="0"/>
              <a:t>1m</a:t>
            </a:r>
          </a:p>
        </p:txBody>
      </p:sp>
      <p:sp>
        <p:nvSpPr>
          <p:cNvPr id="9" name="Rectangle 8">
            <a:extLst>
              <a:ext uri="{FF2B5EF4-FFF2-40B4-BE49-F238E27FC236}">
                <a16:creationId xmlns:a16="http://schemas.microsoft.com/office/drawing/2014/main" id="{955D6885-3AD8-38EE-D18E-D681FFD9B126}"/>
              </a:ext>
            </a:extLst>
          </p:cNvPr>
          <p:cNvSpPr/>
          <p:nvPr/>
        </p:nvSpPr>
        <p:spPr>
          <a:xfrm>
            <a:off x="2804713" y="3482008"/>
            <a:ext cx="3390343" cy="73152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ym typeface="Symbol" panose="05050102010706020507" pitchFamily="18" charset="2"/>
              </a:rPr>
              <a:t></a:t>
            </a:r>
            <a:r>
              <a:rPr lang="en-AU" sz="2400" dirty="0"/>
              <a:t>PE = </a:t>
            </a:r>
            <a:r>
              <a:rPr lang="en-AU" sz="2400" dirty="0" err="1"/>
              <a:t>mg∆h</a:t>
            </a:r>
            <a:endParaRPr lang="en-AU" sz="2400" dirty="0"/>
          </a:p>
          <a:p>
            <a:pPr algn="ctr"/>
            <a:endParaRPr lang="en-AU" sz="2400" dirty="0"/>
          </a:p>
          <a:p>
            <a:pPr algn="ctr"/>
            <a:r>
              <a:rPr lang="en-AU" sz="2400" dirty="0">
                <a:sym typeface="Symbol" panose="05050102010706020507" pitchFamily="18" charset="2"/>
              </a:rPr>
              <a:t></a:t>
            </a:r>
            <a:r>
              <a:rPr lang="en-AU" sz="2400" dirty="0"/>
              <a:t>PE = 10 * 10 * 1</a:t>
            </a:r>
          </a:p>
          <a:p>
            <a:pPr algn="ctr"/>
            <a:endParaRPr lang="en-AU" sz="2400" dirty="0"/>
          </a:p>
          <a:p>
            <a:pPr algn="ctr"/>
            <a:r>
              <a:rPr lang="en-AU" sz="2400" dirty="0">
                <a:sym typeface="Symbol" panose="05050102010706020507" pitchFamily="18" charset="2"/>
              </a:rPr>
              <a:t></a:t>
            </a:r>
            <a:r>
              <a:rPr lang="en-AU" sz="2400" dirty="0"/>
              <a:t>PE = 100 J</a:t>
            </a:r>
          </a:p>
        </p:txBody>
      </p:sp>
      <p:sp>
        <p:nvSpPr>
          <p:cNvPr id="10" name="Rectangle 9">
            <a:extLst>
              <a:ext uri="{FF2B5EF4-FFF2-40B4-BE49-F238E27FC236}">
                <a16:creationId xmlns:a16="http://schemas.microsoft.com/office/drawing/2014/main" id="{D1A0FA76-A08D-1CDA-752B-ABA10FA0F0F5}"/>
              </a:ext>
            </a:extLst>
          </p:cNvPr>
          <p:cNvSpPr/>
          <p:nvPr/>
        </p:nvSpPr>
        <p:spPr>
          <a:xfrm>
            <a:off x="7426243" y="3429000"/>
            <a:ext cx="4299031" cy="73152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ym typeface="Symbol" panose="05050102010706020507" pitchFamily="18" charset="2"/>
              </a:rPr>
              <a:t>PE per kg</a:t>
            </a:r>
            <a:r>
              <a:rPr lang="en-AU" sz="2400" dirty="0"/>
              <a:t> = </a:t>
            </a:r>
            <a:r>
              <a:rPr lang="en-AU" sz="2400" dirty="0" err="1"/>
              <a:t>mg∆h</a:t>
            </a:r>
            <a:r>
              <a:rPr lang="en-AU" sz="2400" dirty="0"/>
              <a:t> / m</a:t>
            </a:r>
          </a:p>
          <a:p>
            <a:pPr algn="ctr"/>
            <a:endParaRPr lang="en-AU" sz="2400" dirty="0"/>
          </a:p>
          <a:p>
            <a:pPr algn="ctr"/>
            <a:r>
              <a:rPr lang="en-AU" sz="2400" dirty="0">
                <a:sym typeface="Symbol" panose="05050102010706020507" pitchFamily="18" charset="2"/>
              </a:rPr>
              <a:t></a:t>
            </a:r>
            <a:r>
              <a:rPr lang="en-AU" sz="2400" dirty="0"/>
              <a:t>PE per kg = 10 * 10 * 1 / 10</a:t>
            </a:r>
          </a:p>
          <a:p>
            <a:pPr algn="ctr"/>
            <a:endParaRPr lang="en-AU" sz="2400" dirty="0"/>
          </a:p>
          <a:p>
            <a:pPr algn="ctr"/>
            <a:r>
              <a:rPr lang="en-AU" sz="2400" dirty="0">
                <a:sym typeface="Symbol" panose="05050102010706020507" pitchFamily="18" charset="2"/>
              </a:rPr>
              <a:t></a:t>
            </a:r>
            <a:r>
              <a:rPr lang="en-AU" sz="2400" dirty="0"/>
              <a:t>PE per kg = 10 Jkg</a:t>
            </a:r>
            <a:r>
              <a:rPr lang="en-AU" sz="2400" baseline="30000" dirty="0"/>
              <a:t>-1</a:t>
            </a:r>
            <a:endParaRPr lang="en-AU" sz="2400" dirty="0"/>
          </a:p>
        </p:txBody>
      </p:sp>
      <p:sp>
        <p:nvSpPr>
          <p:cNvPr id="11" name="Rectangle 10">
            <a:extLst>
              <a:ext uri="{FF2B5EF4-FFF2-40B4-BE49-F238E27FC236}">
                <a16:creationId xmlns:a16="http://schemas.microsoft.com/office/drawing/2014/main" id="{053A7726-1A01-8580-6401-D5CA6AAA9640}"/>
              </a:ext>
            </a:extLst>
          </p:cNvPr>
          <p:cNvSpPr/>
          <p:nvPr/>
        </p:nvSpPr>
        <p:spPr>
          <a:xfrm>
            <a:off x="2804713" y="2361024"/>
            <a:ext cx="3516077" cy="41190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AU" b="1" dirty="0"/>
              <a:t>Gravity style</a:t>
            </a:r>
          </a:p>
        </p:txBody>
      </p:sp>
      <p:sp>
        <p:nvSpPr>
          <p:cNvPr id="12" name="Rectangle 11">
            <a:extLst>
              <a:ext uri="{FF2B5EF4-FFF2-40B4-BE49-F238E27FC236}">
                <a16:creationId xmlns:a16="http://schemas.microsoft.com/office/drawing/2014/main" id="{D75B05CB-66D6-AD35-900C-A3F39A138C03}"/>
              </a:ext>
            </a:extLst>
          </p:cNvPr>
          <p:cNvSpPr/>
          <p:nvPr/>
        </p:nvSpPr>
        <p:spPr>
          <a:xfrm>
            <a:off x="7819349" y="2361024"/>
            <a:ext cx="3516077" cy="41190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AU" b="1" dirty="0"/>
              <a:t>Electric style</a:t>
            </a:r>
          </a:p>
        </p:txBody>
      </p:sp>
      <p:sp>
        <p:nvSpPr>
          <p:cNvPr id="13" name="Rectangle 12">
            <a:extLst>
              <a:ext uri="{FF2B5EF4-FFF2-40B4-BE49-F238E27FC236}">
                <a16:creationId xmlns:a16="http://schemas.microsoft.com/office/drawing/2014/main" id="{C4B991AD-BE2D-2EAB-5344-D7A2F765A62C}"/>
              </a:ext>
            </a:extLst>
          </p:cNvPr>
          <p:cNvSpPr/>
          <p:nvPr/>
        </p:nvSpPr>
        <p:spPr>
          <a:xfrm>
            <a:off x="6407069" y="5178397"/>
            <a:ext cx="5784931" cy="73152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i="1" dirty="0">
                <a:sym typeface="Symbol" panose="05050102010706020507" pitchFamily="18" charset="2"/>
              </a:rPr>
              <a:t>10 J of work is required to move the object per kilogram</a:t>
            </a:r>
            <a:endParaRPr lang="en-AU" sz="2400" i="1" dirty="0"/>
          </a:p>
        </p:txBody>
      </p:sp>
    </p:spTree>
    <p:extLst>
      <p:ext uri="{BB962C8B-B14F-4D97-AF65-F5344CB8AC3E}">
        <p14:creationId xmlns:p14="http://schemas.microsoft.com/office/powerpoint/2010/main" val="3913346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734E535-3E09-54DC-3B96-13CF9E5A4E36}"/>
              </a:ext>
            </a:extLst>
          </p:cNvPr>
          <p:cNvGrpSpPr/>
          <p:nvPr/>
        </p:nvGrpSpPr>
        <p:grpSpPr>
          <a:xfrm rot="5400000">
            <a:off x="-808224" y="3565250"/>
            <a:ext cx="3040547" cy="641733"/>
            <a:chOff x="2397035" y="4341425"/>
            <a:chExt cx="5321147" cy="641733"/>
          </a:xfrm>
        </p:grpSpPr>
        <p:cxnSp>
          <p:nvCxnSpPr>
            <p:cNvPr id="14" name="Straight Arrow Connector 13">
              <a:extLst>
                <a:ext uri="{FF2B5EF4-FFF2-40B4-BE49-F238E27FC236}">
                  <a16:creationId xmlns:a16="http://schemas.microsoft.com/office/drawing/2014/main" id="{48567C7E-025B-D3D7-E36D-29CCE36CE107}"/>
                </a:ext>
              </a:extLst>
            </p:cNvPr>
            <p:cNvCxnSpPr/>
            <p:nvPr/>
          </p:nvCxnSpPr>
          <p:spPr>
            <a:xfrm>
              <a:off x="2397035" y="4341425"/>
              <a:ext cx="532114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2F67D8C-807D-D83E-937D-EE7432A95EE3}"/>
                </a:ext>
              </a:extLst>
            </p:cNvPr>
            <p:cNvCxnSpPr/>
            <p:nvPr/>
          </p:nvCxnSpPr>
          <p:spPr>
            <a:xfrm>
              <a:off x="2397035" y="4983158"/>
              <a:ext cx="532114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9A8EBFCD-3FB2-1D77-B152-C0082CA80300}"/>
              </a:ext>
            </a:extLst>
          </p:cNvPr>
          <p:cNvGrpSpPr/>
          <p:nvPr/>
        </p:nvGrpSpPr>
        <p:grpSpPr>
          <a:xfrm rot="5400000">
            <a:off x="329866" y="3565250"/>
            <a:ext cx="3040547" cy="641733"/>
            <a:chOff x="2397035" y="4341425"/>
            <a:chExt cx="5321147" cy="641733"/>
          </a:xfrm>
        </p:grpSpPr>
        <p:cxnSp>
          <p:nvCxnSpPr>
            <p:cNvPr id="18" name="Straight Arrow Connector 17">
              <a:extLst>
                <a:ext uri="{FF2B5EF4-FFF2-40B4-BE49-F238E27FC236}">
                  <a16:creationId xmlns:a16="http://schemas.microsoft.com/office/drawing/2014/main" id="{9C520440-7A7F-7D86-2125-AFA5A359006D}"/>
                </a:ext>
              </a:extLst>
            </p:cNvPr>
            <p:cNvCxnSpPr/>
            <p:nvPr/>
          </p:nvCxnSpPr>
          <p:spPr>
            <a:xfrm>
              <a:off x="2397035" y="4341425"/>
              <a:ext cx="532114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392DF76-4ED7-6034-D024-7C6DD6CC8304}"/>
                </a:ext>
              </a:extLst>
            </p:cNvPr>
            <p:cNvCxnSpPr/>
            <p:nvPr/>
          </p:nvCxnSpPr>
          <p:spPr>
            <a:xfrm>
              <a:off x="2397035" y="4983158"/>
              <a:ext cx="532114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Work in an electric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47083"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1007686"/>
            <a:ext cx="1161518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dirty="0"/>
              <a:t>Electric potential vs Gravitational potential</a:t>
            </a:r>
          </a:p>
          <a:p>
            <a:pPr algn="just"/>
            <a:r>
              <a:rPr lang="en-AU" sz="2400" b="0" dirty="0"/>
              <a:t>The difference is that, with gravity, we talk about absolutes (the energy of the object). With electric fields, we talk about differences per unit of charge.</a:t>
            </a:r>
            <a:endParaRPr lang="en-AU" b="0" dirty="0">
              <a:sym typeface="Symbol" panose="05050102010706020507" pitchFamily="18" charset="2"/>
            </a:endParaRPr>
          </a:p>
          <a:p>
            <a:pPr algn="just"/>
            <a:endParaRPr lang="en-AU" b="0" dirty="0">
              <a:sym typeface="Symbol" panose="05050102010706020507" pitchFamily="18" charset="2"/>
            </a:endParaRPr>
          </a:p>
        </p:txBody>
      </p:sp>
      <p:cxnSp>
        <p:nvCxnSpPr>
          <p:cNvPr id="7" name="Straight Arrow Connector 6">
            <a:extLst>
              <a:ext uri="{FF2B5EF4-FFF2-40B4-BE49-F238E27FC236}">
                <a16:creationId xmlns:a16="http://schemas.microsoft.com/office/drawing/2014/main" id="{4645300C-605C-31AE-E302-AE805BE3361E}"/>
              </a:ext>
            </a:extLst>
          </p:cNvPr>
          <p:cNvCxnSpPr/>
          <p:nvPr/>
        </p:nvCxnSpPr>
        <p:spPr>
          <a:xfrm>
            <a:off x="466725" y="2767633"/>
            <a:ext cx="0" cy="216027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96E35861-3FF7-7697-BA97-49EB949E62BD}"/>
              </a:ext>
            </a:extLst>
          </p:cNvPr>
          <p:cNvSpPr/>
          <p:nvPr/>
        </p:nvSpPr>
        <p:spPr>
          <a:xfrm>
            <a:off x="1276033" y="4562143"/>
            <a:ext cx="1040130" cy="73152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AU" b="1" dirty="0"/>
              <a:t>10 C</a:t>
            </a:r>
          </a:p>
        </p:txBody>
      </p:sp>
      <p:sp>
        <p:nvSpPr>
          <p:cNvPr id="9" name="Rectangle 8">
            <a:extLst>
              <a:ext uri="{FF2B5EF4-FFF2-40B4-BE49-F238E27FC236}">
                <a16:creationId xmlns:a16="http://schemas.microsoft.com/office/drawing/2014/main" id="{955D6885-3AD8-38EE-D18E-D681FFD9B126}"/>
              </a:ext>
            </a:extLst>
          </p:cNvPr>
          <p:cNvSpPr/>
          <p:nvPr/>
        </p:nvSpPr>
        <p:spPr>
          <a:xfrm>
            <a:off x="3193334" y="3482008"/>
            <a:ext cx="2754630" cy="73152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ym typeface="Symbol" panose="05050102010706020507" pitchFamily="18" charset="2"/>
              </a:rPr>
              <a:t></a:t>
            </a:r>
            <a:r>
              <a:rPr lang="en-AU" sz="2400" dirty="0"/>
              <a:t>PE = W = </a:t>
            </a:r>
            <a:r>
              <a:rPr lang="en-AU" sz="2400" dirty="0" err="1"/>
              <a:t>qEd</a:t>
            </a:r>
            <a:endParaRPr lang="en-AU" sz="2400" dirty="0"/>
          </a:p>
          <a:p>
            <a:pPr algn="ctr"/>
            <a:endParaRPr lang="en-AU" sz="2400" dirty="0"/>
          </a:p>
          <a:p>
            <a:pPr algn="ctr"/>
            <a:r>
              <a:rPr lang="en-AU" sz="2400" dirty="0">
                <a:sym typeface="Symbol" panose="05050102010706020507" pitchFamily="18" charset="2"/>
              </a:rPr>
              <a:t></a:t>
            </a:r>
            <a:r>
              <a:rPr lang="en-AU" sz="2400" dirty="0"/>
              <a:t>PE = 10 * 10 * 1</a:t>
            </a:r>
          </a:p>
          <a:p>
            <a:pPr algn="ctr"/>
            <a:endParaRPr lang="en-AU" sz="2400" dirty="0"/>
          </a:p>
          <a:p>
            <a:pPr algn="ctr"/>
            <a:r>
              <a:rPr lang="en-AU" sz="2400" dirty="0">
                <a:sym typeface="Symbol" panose="05050102010706020507" pitchFamily="18" charset="2"/>
              </a:rPr>
              <a:t></a:t>
            </a:r>
            <a:r>
              <a:rPr lang="en-AU" sz="2400" dirty="0"/>
              <a:t>PE = 100 J</a:t>
            </a:r>
          </a:p>
        </p:txBody>
      </p:sp>
      <p:sp>
        <p:nvSpPr>
          <p:cNvPr id="10" name="Rectangle 9">
            <a:extLst>
              <a:ext uri="{FF2B5EF4-FFF2-40B4-BE49-F238E27FC236}">
                <a16:creationId xmlns:a16="http://schemas.microsoft.com/office/drawing/2014/main" id="{D1A0FA76-A08D-1CDA-752B-ABA10FA0F0F5}"/>
              </a:ext>
            </a:extLst>
          </p:cNvPr>
          <p:cNvSpPr/>
          <p:nvPr/>
        </p:nvSpPr>
        <p:spPr>
          <a:xfrm>
            <a:off x="7391953" y="3482008"/>
            <a:ext cx="4299025" cy="73152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ym typeface="Symbol" panose="05050102010706020507" pitchFamily="18" charset="2"/>
              </a:rPr>
              <a:t>V = PE per C </a:t>
            </a:r>
            <a:r>
              <a:rPr lang="en-AU" sz="2400" dirty="0"/>
              <a:t>= </a:t>
            </a:r>
            <a:r>
              <a:rPr lang="en-AU" sz="2400" dirty="0" err="1"/>
              <a:t>qEd</a:t>
            </a:r>
            <a:r>
              <a:rPr lang="en-AU" sz="2400" dirty="0"/>
              <a:t> / q</a:t>
            </a:r>
          </a:p>
          <a:p>
            <a:pPr algn="ctr"/>
            <a:endParaRPr lang="en-AU" sz="2400" dirty="0"/>
          </a:p>
          <a:p>
            <a:pPr algn="ctr"/>
            <a:r>
              <a:rPr lang="en-AU" sz="2400" dirty="0">
                <a:sym typeface="Symbol" panose="05050102010706020507" pitchFamily="18" charset="2"/>
              </a:rPr>
              <a:t>V</a:t>
            </a:r>
            <a:r>
              <a:rPr lang="en-AU" sz="2400" dirty="0"/>
              <a:t> = 10 * 10 * 1 / 10</a:t>
            </a:r>
          </a:p>
          <a:p>
            <a:pPr algn="ctr"/>
            <a:endParaRPr lang="en-AU" sz="2400" dirty="0"/>
          </a:p>
          <a:p>
            <a:pPr algn="ctr"/>
            <a:r>
              <a:rPr lang="en-AU" sz="2400" dirty="0">
                <a:sym typeface="Symbol" panose="05050102010706020507" pitchFamily="18" charset="2"/>
              </a:rPr>
              <a:t>V</a:t>
            </a:r>
            <a:r>
              <a:rPr lang="en-AU" sz="2400" dirty="0"/>
              <a:t>= 10 JC</a:t>
            </a:r>
            <a:r>
              <a:rPr lang="en-AU" sz="2400" baseline="30000" dirty="0"/>
              <a:t>-1 </a:t>
            </a:r>
            <a:r>
              <a:rPr lang="en-AU" sz="2400" dirty="0"/>
              <a:t>= 10 V</a:t>
            </a:r>
          </a:p>
        </p:txBody>
      </p:sp>
      <p:sp>
        <p:nvSpPr>
          <p:cNvPr id="6" name="Oval 5">
            <a:extLst>
              <a:ext uri="{FF2B5EF4-FFF2-40B4-BE49-F238E27FC236}">
                <a16:creationId xmlns:a16="http://schemas.microsoft.com/office/drawing/2014/main" id="{A9ED7940-B4F2-C35E-30B5-40FA949D65B7}"/>
              </a:ext>
            </a:extLst>
          </p:cNvPr>
          <p:cNvSpPr/>
          <p:nvPr/>
        </p:nvSpPr>
        <p:spPr>
          <a:xfrm>
            <a:off x="971202" y="4659508"/>
            <a:ext cx="567590" cy="567590"/>
          </a:xfrm>
          <a:prstGeom prst="ellipse">
            <a:avLst/>
          </a:prstGeom>
          <a:solidFill>
            <a:srgbClr val="F03C1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rPr>
              <a:t>+</a:t>
            </a:r>
          </a:p>
        </p:txBody>
      </p:sp>
      <p:sp>
        <p:nvSpPr>
          <p:cNvPr id="11" name="Oval 10">
            <a:extLst>
              <a:ext uri="{FF2B5EF4-FFF2-40B4-BE49-F238E27FC236}">
                <a16:creationId xmlns:a16="http://schemas.microsoft.com/office/drawing/2014/main" id="{B49F71FB-4108-2F7E-613A-2F327947FA53}"/>
              </a:ext>
            </a:extLst>
          </p:cNvPr>
          <p:cNvSpPr/>
          <p:nvPr/>
        </p:nvSpPr>
        <p:spPr>
          <a:xfrm>
            <a:off x="971202" y="2531864"/>
            <a:ext cx="567590" cy="567590"/>
          </a:xfrm>
          <a:prstGeom prst="ellipse">
            <a:avLst/>
          </a:prstGeom>
          <a:solidFill>
            <a:srgbClr val="F03C1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rPr>
              <a:t>+</a:t>
            </a:r>
          </a:p>
        </p:txBody>
      </p:sp>
      <p:sp>
        <p:nvSpPr>
          <p:cNvPr id="20" name="Rectangle 19">
            <a:extLst>
              <a:ext uri="{FF2B5EF4-FFF2-40B4-BE49-F238E27FC236}">
                <a16:creationId xmlns:a16="http://schemas.microsoft.com/office/drawing/2014/main" id="{413B21E9-8E42-7925-5EA7-941B3694E96A}"/>
              </a:ext>
            </a:extLst>
          </p:cNvPr>
          <p:cNvSpPr/>
          <p:nvPr/>
        </p:nvSpPr>
        <p:spPr>
          <a:xfrm>
            <a:off x="214867" y="3498176"/>
            <a:ext cx="1040130" cy="73152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AU" b="1" dirty="0"/>
              <a:t>1m</a:t>
            </a:r>
          </a:p>
        </p:txBody>
      </p:sp>
      <p:sp>
        <p:nvSpPr>
          <p:cNvPr id="21" name="Rectangle 20">
            <a:extLst>
              <a:ext uri="{FF2B5EF4-FFF2-40B4-BE49-F238E27FC236}">
                <a16:creationId xmlns:a16="http://schemas.microsoft.com/office/drawing/2014/main" id="{821C5F05-C84F-C486-E5C1-7945CE5BCC59}"/>
              </a:ext>
            </a:extLst>
          </p:cNvPr>
          <p:cNvSpPr/>
          <p:nvPr/>
        </p:nvSpPr>
        <p:spPr>
          <a:xfrm>
            <a:off x="1294766" y="2451197"/>
            <a:ext cx="1040130" cy="73152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AU" b="1" dirty="0"/>
              <a:t>10 C</a:t>
            </a:r>
          </a:p>
        </p:txBody>
      </p:sp>
      <p:sp>
        <p:nvSpPr>
          <p:cNvPr id="23" name="Rectangle 22">
            <a:extLst>
              <a:ext uri="{FF2B5EF4-FFF2-40B4-BE49-F238E27FC236}">
                <a16:creationId xmlns:a16="http://schemas.microsoft.com/office/drawing/2014/main" id="{66E07E28-6D02-3D92-07D1-73F9154B113C}"/>
              </a:ext>
            </a:extLst>
          </p:cNvPr>
          <p:cNvSpPr/>
          <p:nvPr/>
        </p:nvSpPr>
        <p:spPr>
          <a:xfrm>
            <a:off x="-53340" y="5534495"/>
            <a:ext cx="2602230" cy="73152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AU" dirty="0"/>
              <a:t>Electric field strength = 10 NC</a:t>
            </a:r>
            <a:r>
              <a:rPr lang="en-AU" baseline="30000" dirty="0"/>
              <a:t>-1</a:t>
            </a:r>
            <a:endParaRPr lang="en-AU" dirty="0"/>
          </a:p>
        </p:txBody>
      </p:sp>
      <p:sp>
        <p:nvSpPr>
          <p:cNvPr id="24" name="Rectangle 23">
            <a:extLst>
              <a:ext uri="{FF2B5EF4-FFF2-40B4-BE49-F238E27FC236}">
                <a16:creationId xmlns:a16="http://schemas.microsoft.com/office/drawing/2014/main" id="{5F8B4068-F592-965A-CC30-8884579DC931}"/>
              </a:ext>
            </a:extLst>
          </p:cNvPr>
          <p:cNvSpPr/>
          <p:nvPr/>
        </p:nvSpPr>
        <p:spPr>
          <a:xfrm>
            <a:off x="2804713" y="2361024"/>
            <a:ext cx="3516077" cy="41190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AU" b="1" dirty="0"/>
              <a:t>Gravity style</a:t>
            </a:r>
          </a:p>
        </p:txBody>
      </p:sp>
      <p:sp>
        <p:nvSpPr>
          <p:cNvPr id="25" name="Rectangle 24">
            <a:extLst>
              <a:ext uri="{FF2B5EF4-FFF2-40B4-BE49-F238E27FC236}">
                <a16:creationId xmlns:a16="http://schemas.microsoft.com/office/drawing/2014/main" id="{CEDE0436-8B36-4534-8FEB-9B2DC8476F15}"/>
              </a:ext>
            </a:extLst>
          </p:cNvPr>
          <p:cNvSpPr/>
          <p:nvPr/>
        </p:nvSpPr>
        <p:spPr>
          <a:xfrm>
            <a:off x="7819349" y="2361024"/>
            <a:ext cx="3516077" cy="41190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AU" b="1" dirty="0"/>
              <a:t>Electric style</a:t>
            </a:r>
          </a:p>
        </p:txBody>
      </p:sp>
      <p:sp>
        <p:nvSpPr>
          <p:cNvPr id="26" name="Rectangle 25">
            <a:extLst>
              <a:ext uri="{FF2B5EF4-FFF2-40B4-BE49-F238E27FC236}">
                <a16:creationId xmlns:a16="http://schemas.microsoft.com/office/drawing/2014/main" id="{52AE67BC-910C-4830-6E98-51FE80C9796A}"/>
              </a:ext>
            </a:extLst>
          </p:cNvPr>
          <p:cNvSpPr/>
          <p:nvPr/>
        </p:nvSpPr>
        <p:spPr>
          <a:xfrm>
            <a:off x="6407069" y="5178397"/>
            <a:ext cx="5784931" cy="73152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i="1" dirty="0">
                <a:sym typeface="Symbol" panose="05050102010706020507" pitchFamily="18" charset="2"/>
              </a:rPr>
              <a:t>10 J of work is required to move the object per coulomb of charge</a:t>
            </a:r>
            <a:endParaRPr lang="en-AU" sz="2400" i="1" dirty="0"/>
          </a:p>
        </p:txBody>
      </p:sp>
    </p:spTree>
    <p:extLst>
      <p:ext uri="{BB962C8B-B14F-4D97-AF65-F5344CB8AC3E}">
        <p14:creationId xmlns:p14="http://schemas.microsoft.com/office/powerpoint/2010/main" val="2640464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Work in an electric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47083"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1007686"/>
            <a:ext cx="1161518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000" b="0" dirty="0"/>
              <a:t>A charged dust particle enters a 200 NC</a:t>
            </a:r>
            <a:r>
              <a:rPr lang="en-AU" sz="2000" b="0" baseline="30000" dirty="0"/>
              <a:t>-1</a:t>
            </a:r>
            <a:r>
              <a:rPr lang="en-AU" sz="2000" b="0" dirty="0"/>
              <a:t> electric field in the direction shown below. The dust particle carries a -2.30*10</a:t>
            </a:r>
            <a:r>
              <a:rPr lang="en-AU" sz="2000" b="0" baseline="30000" dirty="0"/>
              <a:t>-5</a:t>
            </a:r>
            <a:r>
              <a:rPr lang="en-AU" sz="2000" b="0" dirty="0"/>
              <a:t> C charge and has 50.0 </a:t>
            </a:r>
            <a:r>
              <a:rPr lang="en-AU" sz="2000" b="0" dirty="0" err="1"/>
              <a:t>mJ</a:t>
            </a:r>
            <a:r>
              <a:rPr lang="en-AU" sz="2000" b="0" dirty="0"/>
              <a:t> of kinetic energy upon entering the field.</a:t>
            </a:r>
          </a:p>
          <a:p>
            <a:pPr algn="just"/>
            <a:r>
              <a:rPr lang="en-AU" sz="2000" b="0" dirty="0"/>
              <a:t>It moves 3.00cm into the field.</a:t>
            </a:r>
          </a:p>
          <a:p>
            <a:pPr marL="514350" indent="-514350" algn="just">
              <a:buAutoNum type="alphaLcParenR"/>
            </a:pPr>
            <a:r>
              <a:rPr lang="en-AU" sz="2000" b="0" dirty="0"/>
              <a:t>Draw a </a:t>
            </a:r>
            <a:r>
              <a:rPr lang="en-AU" sz="2000" b="0" dirty="0" err="1"/>
              <a:t>freebody</a:t>
            </a:r>
            <a:r>
              <a:rPr lang="en-AU" sz="2000" b="0" dirty="0"/>
              <a:t> diagram and the electric field</a:t>
            </a:r>
          </a:p>
          <a:p>
            <a:pPr marL="514350" indent="-514350" algn="just">
              <a:buAutoNum type="alphaLcParenR"/>
            </a:pPr>
            <a:r>
              <a:rPr lang="en-AU" sz="2000" b="0" dirty="0"/>
              <a:t>Calculate the final kinetic energy of the dust particle</a:t>
            </a:r>
          </a:p>
          <a:p>
            <a:pPr marL="514350" indent="-514350" algn="just">
              <a:buAutoNum type="alphaLcParenR"/>
            </a:pPr>
            <a:r>
              <a:rPr lang="en-AU" sz="2000" b="0" dirty="0"/>
              <a:t>Calculate the potential difference the dust particle moved through</a:t>
            </a:r>
          </a:p>
          <a:p>
            <a:pPr algn="just"/>
            <a:endParaRPr lang="en-AU" b="0" dirty="0"/>
          </a:p>
        </p:txBody>
      </p:sp>
    </p:spTree>
    <p:extLst>
      <p:ext uri="{BB962C8B-B14F-4D97-AF65-F5344CB8AC3E}">
        <p14:creationId xmlns:p14="http://schemas.microsoft.com/office/powerpoint/2010/main" val="1282288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Work in an electric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47083"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1007686"/>
            <a:ext cx="1161518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AU" b="0" dirty="0"/>
          </a:p>
        </p:txBody>
      </p:sp>
      <p:pic>
        <p:nvPicPr>
          <p:cNvPr id="5" name="Picture 4">
            <a:extLst>
              <a:ext uri="{FF2B5EF4-FFF2-40B4-BE49-F238E27FC236}">
                <a16:creationId xmlns:a16="http://schemas.microsoft.com/office/drawing/2014/main" id="{E411B94F-DEFC-4401-8128-F0019D846DFE}"/>
              </a:ext>
            </a:extLst>
          </p:cNvPr>
          <p:cNvPicPr>
            <a:picLocks noChangeAspect="1"/>
          </p:cNvPicPr>
          <p:nvPr/>
        </p:nvPicPr>
        <p:blipFill>
          <a:blip r:embed="rId3"/>
          <a:stretch>
            <a:fillRect/>
          </a:stretch>
        </p:blipFill>
        <p:spPr>
          <a:xfrm>
            <a:off x="733940" y="1007686"/>
            <a:ext cx="10724119" cy="2634605"/>
          </a:xfrm>
          <a:prstGeom prst="rect">
            <a:avLst/>
          </a:prstGeom>
        </p:spPr>
      </p:pic>
    </p:spTree>
    <p:extLst>
      <p:ext uri="{BB962C8B-B14F-4D97-AF65-F5344CB8AC3E}">
        <p14:creationId xmlns:p14="http://schemas.microsoft.com/office/powerpoint/2010/main" val="3263305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Work in an electric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47083"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1007686"/>
            <a:ext cx="1161518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AU" b="0" dirty="0"/>
          </a:p>
        </p:txBody>
      </p:sp>
      <p:pic>
        <p:nvPicPr>
          <p:cNvPr id="6" name="Picture 5">
            <a:extLst>
              <a:ext uri="{FF2B5EF4-FFF2-40B4-BE49-F238E27FC236}">
                <a16:creationId xmlns:a16="http://schemas.microsoft.com/office/drawing/2014/main" id="{DAF2C24C-44CF-4B64-BD73-CC891DA74585}"/>
              </a:ext>
            </a:extLst>
          </p:cNvPr>
          <p:cNvPicPr>
            <a:picLocks noChangeAspect="1"/>
          </p:cNvPicPr>
          <p:nvPr/>
        </p:nvPicPr>
        <p:blipFill>
          <a:blip r:embed="rId3"/>
          <a:stretch>
            <a:fillRect/>
          </a:stretch>
        </p:blipFill>
        <p:spPr>
          <a:xfrm>
            <a:off x="362723" y="1256943"/>
            <a:ext cx="11681419" cy="3421703"/>
          </a:xfrm>
          <a:prstGeom prst="rect">
            <a:avLst/>
          </a:prstGeom>
        </p:spPr>
      </p:pic>
    </p:spTree>
    <p:extLst>
      <p:ext uri="{BB962C8B-B14F-4D97-AF65-F5344CB8AC3E}">
        <p14:creationId xmlns:p14="http://schemas.microsoft.com/office/powerpoint/2010/main" val="24967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Work in an electric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76981"/>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3" name="Rectangle 2">
            <a:extLst>
              <a:ext uri="{FF2B5EF4-FFF2-40B4-BE49-F238E27FC236}">
                <a16:creationId xmlns:a16="http://schemas.microsoft.com/office/drawing/2014/main" id="{DCF893A8-4058-425F-888F-D345B6ABCCCD}"/>
              </a:ext>
            </a:extLst>
          </p:cNvPr>
          <p:cNvSpPr/>
          <p:nvPr/>
        </p:nvSpPr>
        <p:spPr>
          <a:xfrm>
            <a:off x="6330950" y="1747520"/>
            <a:ext cx="3048000" cy="3787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tx1"/>
                </a:solidFill>
              </a:rPr>
              <a:t>+  +  +  +  +  +  +  +  +  +  +</a:t>
            </a:r>
          </a:p>
        </p:txBody>
      </p:sp>
      <p:sp>
        <p:nvSpPr>
          <p:cNvPr id="9" name="Rectangle 8">
            <a:extLst>
              <a:ext uri="{FF2B5EF4-FFF2-40B4-BE49-F238E27FC236}">
                <a16:creationId xmlns:a16="http://schemas.microsoft.com/office/drawing/2014/main" id="{4A9871E1-52FE-4C54-A5B6-FC14F83E4028}"/>
              </a:ext>
            </a:extLst>
          </p:cNvPr>
          <p:cNvSpPr/>
          <p:nvPr/>
        </p:nvSpPr>
        <p:spPr>
          <a:xfrm>
            <a:off x="6330950" y="5353050"/>
            <a:ext cx="3048000" cy="3787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tx1"/>
                </a:solidFill>
              </a:rPr>
              <a:t>-  -  -  -  -  -  -  -   -  -  -  </a:t>
            </a:r>
          </a:p>
        </p:txBody>
      </p:sp>
      <p:cxnSp>
        <p:nvCxnSpPr>
          <p:cNvPr id="12" name="Straight Connector 11">
            <a:extLst>
              <a:ext uri="{FF2B5EF4-FFF2-40B4-BE49-F238E27FC236}">
                <a16:creationId xmlns:a16="http://schemas.microsoft.com/office/drawing/2014/main" id="{78421AE5-2DF7-4D7C-8ADB-E3214C015756}"/>
              </a:ext>
            </a:extLst>
          </p:cNvPr>
          <p:cNvCxnSpPr>
            <a:cxnSpLocks/>
          </p:cNvCxnSpPr>
          <p:nvPr/>
        </p:nvCxnSpPr>
        <p:spPr>
          <a:xfrm flipV="1">
            <a:off x="7800521" y="1175657"/>
            <a:ext cx="0" cy="571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7C777D1-94A1-4812-AA38-BFB02CA9D748}"/>
              </a:ext>
            </a:extLst>
          </p:cNvPr>
          <p:cNvCxnSpPr>
            <a:cxnSpLocks/>
          </p:cNvCxnSpPr>
          <p:nvPr/>
        </p:nvCxnSpPr>
        <p:spPr>
          <a:xfrm flipV="1">
            <a:off x="7800521" y="5731832"/>
            <a:ext cx="0" cy="571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AF12411-22C0-4E40-8060-D76BD7F219D8}"/>
              </a:ext>
            </a:extLst>
          </p:cNvPr>
          <p:cNvCxnSpPr>
            <a:cxnSpLocks/>
          </p:cNvCxnSpPr>
          <p:nvPr/>
        </p:nvCxnSpPr>
        <p:spPr>
          <a:xfrm flipH="1">
            <a:off x="7804149" y="6303695"/>
            <a:ext cx="37519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20C04D0-2215-423C-8A66-573F5E81C18E}"/>
              </a:ext>
            </a:extLst>
          </p:cNvPr>
          <p:cNvCxnSpPr>
            <a:cxnSpLocks/>
          </p:cNvCxnSpPr>
          <p:nvPr/>
        </p:nvCxnSpPr>
        <p:spPr>
          <a:xfrm flipH="1">
            <a:off x="7796894" y="1162413"/>
            <a:ext cx="37591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114F26F-9CE8-4888-AF55-6E071D992EF9}"/>
              </a:ext>
            </a:extLst>
          </p:cNvPr>
          <p:cNvCxnSpPr>
            <a:cxnSpLocks/>
          </p:cNvCxnSpPr>
          <p:nvPr/>
        </p:nvCxnSpPr>
        <p:spPr>
          <a:xfrm flipH="1" flipV="1">
            <a:off x="11527064" y="3205132"/>
            <a:ext cx="29028" cy="30985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5B537EC-9521-4564-8989-29CC26403AB5}"/>
              </a:ext>
            </a:extLst>
          </p:cNvPr>
          <p:cNvCxnSpPr>
            <a:cxnSpLocks/>
          </p:cNvCxnSpPr>
          <p:nvPr/>
        </p:nvCxnSpPr>
        <p:spPr>
          <a:xfrm flipV="1">
            <a:off x="11527064" y="1197045"/>
            <a:ext cx="0" cy="11009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051A920-C468-48CB-A31B-9A7223917DC4}"/>
              </a:ext>
            </a:extLst>
          </p:cNvPr>
          <p:cNvCxnSpPr>
            <a:cxnSpLocks/>
          </p:cNvCxnSpPr>
          <p:nvPr/>
        </p:nvCxnSpPr>
        <p:spPr>
          <a:xfrm flipH="1">
            <a:off x="10979150" y="2297994"/>
            <a:ext cx="109582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8756A68-6522-4AD4-A344-C887184640F2}"/>
              </a:ext>
            </a:extLst>
          </p:cNvPr>
          <p:cNvCxnSpPr>
            <a:cxnSpLocks/>
          </p:cNvCxnSpPr>
          <p:nvPr/>
        </p:nvCxnSpPr>
        <p:spPr>
          <a:xfrm flipH="1">
            <a:off x="10979150" y="2668108"/>
            <a:ext cx="109582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F715732-28B6-4575-8CDF-37C31537E920}"/>
              </a:ext>
            </a:extLst>
          </p:cNvPr>
          <p:cNvCxnSpPr>
            <a:cxnSpLocks/>
          </p:cNvCxnSpPr>
          <p:nvPr/>
        </p:nvCxnSpPr>
        <p:spPr>
          <a:xfrm flipH="1">
            <a:off x="10979150" y="3038222"/>
            <a:ext cx="109582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9F99F8B-592F-4AFA-A00D-19520244F920}"/>
              </a:ext>
            </a:extLst>
          </p:cNvPr>
          <p:cNvCxnSpPr>
            <a:cxnSpLocks/>
          </p:cNvCxnSpPr>
          <p:nvPr/>
        </p:nvCxnSpPr>
        <p:spPr>
          <a:xfrm flipH="1">
            <a:off x="11342006" y="2493936"/>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84E0C4F-3E3B-45FC-A59B-E722CE31BC41}"/>
              </a:ext>
            </a:extLst>
          </p:cNvPr>
          <p:cNvCxnSpPr>
            <a:cxnSpLocks/>
          </p:cNvCxnSpPr>
          <p:nvPr/>
        </p:nvCxnSpPr>
        <p:spPr>
          <a:xfrm flipH="1">
            <a:off x="11327493" y="2849534"/>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659DD8A-52D4-4538-8546-612F56C13179}"/>
              </a:ext>
            </a:extLst>
          </p:cNvPr>
          <p:cNvCxnSpPr>
            <a:cxnSpLocks/>
          </p:cNvCxnSpPr>
          <p:nvPr/>
        </p:nvCxnSpPr>
        <p:spPr>
          <a:xfrm flipH="1">
            <a:off x="11312980" y="3205132"/>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Text Placeholder 3">
            <a:extLst>
              <a:ext uri="{FF2B5EF4-FFF2-40B4-BE49-F238E27FC236}">
                <a16:creationId xmlns:a16="http://schemas.microsoft.com/office/drawing/2014/main" id="{72EBD31E-99B2-441A-89F6-17E817BC8A40}"/>
              </a:ext>
            </a:extLst>
          </p:cNvPr>
          <p:cNvSpPr txBox="1">
            <a:spLocks/>
          </p:cNvSpPr>
          <p:nvPr/>
        </p:nvSpPr>
        <p:spPr>
          <a:xfrm>
            <a:off x="214867" y="1007686"/>
            <a:ext cx="588112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Imagine an electron at rest, sitting on the negative plate.</a:t>
            </a:r>
          </a:p>
          <a:p>
            <a:pPr algn="just"/>
            <a:r>
              <a:rPr lang="en-AU" sz="2400" b="0" i="1" dirty="0"/>
              <a:t>What direction would it move?</a:t>
            </a:r>
          </a:p>
          <a:p>
            <a:pPr algn="just"/>
            <a:r>
              <a:rPr lang="en-AU" sz="2400" b="0" i="1" dirty="0"/>
              <a:t>What is the work done on this electron?</a:t>
            </a:r>
          </a:p>
          <a:p>
            <a:pPr algn="just"/>
            <a:endParaRPr lang="en-AU" sz="2400" b="0" dirty="0"/>
          </a:p>
        </p:txBody>
      </p:sp>
      <p:pic>
        <p:nvPicPr>
          <p:cNvPr id="38" name="Picture 37">
            <a:extLst>
              <a:ext uri="{FF2B5EF4-FFF2-40B4-BE49-F238E27FC236}">
                <a16:creationId xmlns:a16="http://schemas.microsoft.com/office/drawing/2014/main" id="{72238B23-DD4D-484C-8DBF-5C8E91D968C8}"/>
              </a:ext>
            </a:extLst>
          </p:cNvPr>
          <p:cNvPicPr>
            <a:picLocks noChangeAspect="1"/>
          </p:cNvPicPr>
          <p:nvPr/>
        </p:nvPicPr>
        <p:blipFill rotWithShape="1">
          <a:blip r:embed="rId3"/>
          <a:srcRect l="74618" t="-15319"/>
          <a:stretch/>
        </p:blipFill>
        <p:spPr>
          <a:xfrm>
            <a:off x="10232535" y="-80299"/>
            <a:ext cx="1873277" cy="1152000"/>
          </a:xfrm>
          <a:prstGeom prst="rect">
            <a:avLst/>
          </a:prstGeom>
        </p:spPr>
      </p:pic>
      <p:pic>
        <p:nvPicPr>
          <p:cNvPr id="25" name="Picture 24">
            <a:extLst>
              <a:ext uri="{FF2B5EF4-FFF2-40B4-BE49-F238E27FC236}">
                <a16:creationId xmlns:a16="http://schemas.microsoft.com/office/drawing/2014/main" id="{32754177-9BA2-4B2D-8775-0FDF4946A559}"/>
              </a:ext>
            </a:extLst>
          </p:cNvPr>
          <p:cNvPicPr>
            <a:picLocks noChangeAspect="1"/>
          </p:cNvPicPr>
          <p:nvPr/>
        </p:nvPicPr>
        <p:blipFill rotWithShape="1">
          <a:blip r:embed="rId4"/>
          <a:srcRect l="67877"/>
          <a:stretch/>
        </p:blipFill>
        <p:spPr>
          <a:xfrm>
            <a:off x="7865836" y="36367"/>
            <a:ext cx="1532896" cy="876300"/>
          </a:xfrm>
          <a:prstGeom prst="rect">
            <a:avLst/>
          </a:prstGeom>
        </p:spPr>
      </p:pic>
      <p:sp>
        <p:nvSpPr>
          <p:cNvPr id="27" name="Text Placeholder 3">
            <a:extLst>
              <a:ext uri="{FF2B5EF4-FFF2-40B4-BE49-F238E27FC236}">
                <a16:creationId xmlns:a16="http://schemas.microsoft.com/office/drawing/2014/main" id="{A352AE18-55F3-4F21-9876-00DF35CCEE7A}"/>
              </a:ext>
            </a:extLst>
          </p:cNvPr>
          <p:cNvSpPr txBox="1">
            <a:spLocks/>
          </p:cNvSpPr>
          <p:nvPr/>
        </p:nvSpPr>
        <p:spPr>
          <a:xfrm>
            <a:off x="214867" y="3868851"/>
            <a:ext cx="588112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What is the final kinetic energy of the electron?</a:t>
            </a:r>
            <a:endParaRPr lang="en-AU" sz="2400" b="0" i="1" dirty="0"/>
          </a:p>
          <a:p>
            <a:pPr algn="just"/>
            <a:endParaRPr lang="en-AU" sz="2400" b="0" dirty="0"/>
          </a:p>
        </p:txBody>
      </p:sp>
      <mc:AlternateContent xmlns:mc="http://schemas.openxmlformats.org/markup-compatibility/2006" xmlns:a14="http://schemas.microsoft.com/office/drawing/2010/main">
        <mc:Choice Requires="a14">
          <p:sp>
            <p:nvSpPr>
              <p:cNvPr id="28" name="Text Placeholder 3">
                <a:extLst>
                  <a:ext uri="{FF2B5EF4-FFF2-40B4-BE49-F238E27FC236}">
                    <a16:creationId xmlns:a16="http://schemas.microsoft.com/office/drawing/2014/main" id="{AC47ED51-B2BD-4285-A3A8-0AF682302DB5}"/>
                  </a:ext>
                </a:extLst>
              </p:cNvPr>
              <p:cNvSpPr txBox="1">
                <a:spLocks/>
              </p:cNvSpPr>
              <p:nvPr/>
            </p:nvSpPr>
            <p:spPr>
              <a:xfrm>
                <a:off x="214866" y="4556747"/>
                <a:ext cx="588112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𝐾𝐸</m:t>
                      </m:r>
                      <m:r>
                        <a:rPr lang="en-AU" sz="2400" b="0" i="1" smtClean="0">
                          <a:latin typeface="Cambria Math" panose="02040503050406030204" pitchFamily="18" charset="0"/>
                        </a:rPr>
                        <m:t>= </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num>
                        <m:den>
                          <m:r>
                            <a:rPr lang="en-AU" sz="2400" b="0" i="1" smtClean="0">
                              <a:latin typeface="Cambria Math" panose="02040503050406030204" pitchFamily="18" charset="0"/>
                            </a:rPr>
                            <m:t>2</m:t>
                          </m:r>
                        </m:den>
                      </m:f>
                      <m:r>
                        <a:rPr lang="en-AU" sz="2400" b="0" i="1" smtClean="0">
                          <a:latin typeface="Cambria Math" panose="02040503050406030204" pitchFamily="18" charset="0"/>
                        </a:rPr>
                        <m:t>𝑚</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𝑣</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m:t>
                      </m:r>
                      <m:r>
                        <a:rPr lang="en-AU" sz="2400" b="0" i="1" smtClean="0">
                          <a:latin typeface="Cambria Math" panose="02040503050406030204" pitchFamily="18" charset="0"/>
                        </a:rPr>
                        <m:t>𝑞𝑉</m:t>
                      </m:r>
                    </m:oMath>
                  </m:oMathPara>
                </a14:m>
                <a:endParaRPr lang="en-AU" sz="2400" b="0" dirty="0"/>
              </a:p>
            </p:txBody>
          </p:sp>
        </mc:Choice>
        <mc:Fallback xmlns="">
          <p:sp>
            <p:nvSpPr>
              <p:cNvPr id="28" name="Text Placeholder 3">
                <a:extLst>
                  <a:ext uri="{FF2B5EF4-FFF2-40B4-BE49-F238E27FC236}">
                    <a16:creationId xmlns:a16="http://schemas.microsoft.com/office/drawing/2014/main" id="{AC47ED51-B2BD-4285-A3A8-0AF682302DB5}"/>
                  </a:ext>
                </a:extLst>
              </p:cNvPr>
              <p:cNvSpPr txBox="1">
                <a:spLocks noRot="1" noChangeAspect="1" noMove="1" noResize="1" noEditPoints="1" noAdjustHandles="1" noChangeArrowheads="1" noChangeShapeType="1" noTextEdit="1"/>
              </p:cNvSpPr>
              <p:nvPr/>
            </p:nvSpPr>
            <p:spPr>
              <a:xfrm>
                <a:off x="214866" y="4556747"/>
                <a:ext cx="5881127" cy="885562"/>
              </a:xfrm>
              <a:prstGeom prst="rect">
                <a:avLst/>
              </a:prstGeom>
              <a:blipFill>
                <a:blip r:embed="rId5"/>
                <a:stretch>
                  <a:fillRect/>
                </a:stretch>
              </a:blipFill>
            </p:spPr>
            <p:txBody>
              <a:bodyPr/>
              <a:lstStyle/>
              <a:p>
                <a:r>
                  <a:rPr lang="en-AU">
                    <a:noFill/>
                  </a:rPr>
                  <a:t> </a:t>
                </a:r>
              </a:p>
            </p:txBody>
          </p:sp>
        </mc:Fallback>
      </mc:AlternateContent>
      <p:sp>
        <p:nvSpPr>
          <p:cNvPr id="35" name="Text Placeholder 3">
            <a:extLst>
              <a:ext uri="{FF2B5EF4-FFF2-40B4-BE49-F238E27FC236}">
                <a16:creationId xmlns:a16="http://schemas.microsoft.com/office/drawing/2014/main" id="{EF6F0260-8B7D-4751-B961-E3A686FE9980}"/>
              </a:ext>
            </a:extLst>
          </p:cNvPr>
          <p:cNvSpPr txBox="1">
            <a:spLocks/>
          </p:cNvSpPr>
          <p:nvPr/>
        </p:nvSpPr>
        <p:spPr>
          <a:xfrm>
            <a:off x="214865" y="5574982"/>
            <a:ext cx="588112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This is known as the ‘electron gun’ equation.</a:t>
            </a:r>
            <a:endParaRPr lang="en-AU" sz="2400" b="0" i="1" dirty="0"/>
          </a:p>
          <a:p>
            <a:pPr algn="just"/>
            <a:endParaRPr lang="en-AU" sz="2400" b="0" dirty="0"/>
          </a:p>
        </p:txBody>
      </p:sp>
    </p:spTree>
    <p:extLst>
      <p:ext uri="{BB962C8B-B14F-4D97-AF65-F5344CB8AC3E}">
        <p14:creationId xmlns:p14="http://schemas.microsoft.com/office/powerpoint/2010/main" val="115694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27" grpId="0"/>
      <p:bldP spid="28" grpId="0"/>
      <p:bldP spid="3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Work in an electric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07686"/>
            <a:ext cx="1186597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Two parallel plates are separated by 1.0cm. One plate is earthed and the other has a potential of 5.0kV.</a:t>
            </a:r>
          </a:p>
          <a:p>
            <a:pPr marL="457200" indent="-457200" algn="just">
              <a:buAutoNum type="alphaLcParenR"/>
            </a:pPr>
            <a:r>
              <a:rPr lang="en-AU" sz="2400" b="0" dirty="0"/>
              <a:t>Determine the final speed of a single electron when accelerating from rest across this potential difference.</a:t>
            </a:r>
          </a:p>
          <a:p>
            <a:pPr algn="just"/>
            <a:r>
              <a:rPr lang="en-AU" sz="2400" b="0" dirty="0"/>
              <a:t>	</a:t>
            </a:r>
            <a:r>
              <a:rPr lang="en-AU" sz="1800" b="0" dirty="0"/>
              <a:t>charge of electron = -1.602 x 10</a:t>
            </a:r>
            <a:r>
              <a:rPr lang="en-AU" sz="1800" b="0" baseline="30000" dirty="0"/>
              <a:t>-19</a:t>
            </a:r>
            <a:r>
              <a:rPr lang="en-AU" sz="1800" b="0" dirty="0"/>
              <a:t> C     mass of electron = 9.109 x 10</a:t>
            </a:r>
            <a:r>
              <a:rPr lang="en-AU" sz="1800" b="0" baseline="30000" dirty="0"/>
              <a:t>-31 </a:t>
            </a:r>
            <a:r>
              <a:rPr lang="en-AU" sz="1800" b="0" dirty="0"/>
              <a:t>kg</a:t>
            </a:r>
          </a:p>
          <a:p>
            <a:pPr algn="just"/>
            <a:r>
              <a:rPr lang="en-AU" sz="2400" b="0" dirty="0"/>
              <a:t>b) Calculate the acceleration of the electron.</a:t>
            </a:r>
          </a:p>
          <a:p>
            <a:pPr algn="just"/>
            <a:endParaRPr lang="en-AU" sz="1800" b="0" dirty="0"/>
          </a:p>
          <a:p>
            <a:pPr lvl="1" indent="0" algn="just">
              <a:buNone/>
            </a:pPr>
            <a:endParaRPr lang="en-AU" sz="2000" dirty="0"/>
          </a:p>
        </p:txBody>
      </p:sp>
    </p:spTree>
    <p:extLst>
      <p:ext uri="{BB962C8B-B14F-4D97-AF65-F5344CB8AC3E}">
        <p14:creationId xmlns:p14="http://schemas.microsoft.com/office/powerpoint/2010/main" val="2659430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Work in an electric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07686"/>
            <a:ext cx="1186597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Two parallel plates are separated by 1.0cm. One plate is earthed and the other has a potential of 5.0kV.</a:t>
            </a:r>
          </a:p>
          <a:p>
            <a:pPr algn="just"/>
            <a:r>
              <a:rPr lang="en-AU" sz="2400" b="0" dirty="0"/>
              <a:t>c) Now assume the initial velocity of the electron was 5.0x10^7 m/s travelling horizontally as it enters halfway between the plates. How long does it take for the electron to hit the positive plate?</a:t>
            </a:r>
          </a:p>
          <a:p>
            <a:pPr algn="just"/>
            <a:r>
              <a:rPr lang="en-AU" sz="2400" b="0" dirty="0"/>
              <a:t>	</a:t>
            </a:r>
            <a:r>
              <a:rPr lang="en-AU" sz="1800" b="0" dirty="0"/>
              <a:t>charge of electron = -1.602 x 10</a:t>
            </a:r>
            <a:r>
              <a:rPr lang="en-AU" sz="1800" b="0" baseline="30000" dirty="0"/>
              <a:t>-19</a:t>
            </a:r>
            <a:r>
              <a:rPr lang="en-AU" sz="1800" b="0" dirty="0"/>
              <a:t> C     mass of electron = 9.109 x 10</a:t>
            </a:r>
            <a:r>
              <a:rPr lang="en-AU" sz="1800" b="0" baseline="30000" dirty="0"/>
              <a:t>-31 </a:t>
            </a:r>
            <a:r>
              <a:rPr lang="en-AU" sz="1800" b="0" dirty="0"/>
              <a:t>kg</a:t>
            </a:r>
          </a:p>
          <a:p>
            <a:pPr algn="just"/>
            <a:endParaRPr lang="en-AU" sz="1800" b="0" dirty="0"/>
          </a:p>
          <a:p>
            <a:pPr lvl="1" indent="0" algn="just">
              <a:buNone/>
            </a:pPr>
            <a:endParaRPr lang="en-AU" sz="2000" dirty="0"/>
          </a:p>
        </p:txBody>
      </p:sp>
      <p:pic>
        <p:nvPicPr>
          <p:cNvPr id="5" name="Picture 4">
            <a:extLst>
              <a:ext uri="{FF2B5EF4-FFF2-40B4-BE49-F238E27FC236}">
                <a16:creationId xmlns:a16="http://schemas.microsoft.com/office/drawing/2014/main" id="{424D5F88-5D65-4F6E-AE6A-41A6E8D2BD1C}"/>
              </a:ext>
            </a:extLst>
          </p:cNvPr>
          <p:cNvPicPr>
            <a:picLocks noChangeAspect="1"/>
          </p:cNvPicPr>
          <p:nvPr/>
        </p:nvPicPr>
        <p:blipFill>
          <a:blip r:embed="rId3"/>
          <a:stretch>
            <a:fillRect/>
          </a:stretch>
        </p:blipFill>
        <p:spPr>
          <a:xfrm>
            <a:off x="2542041" y="3393128"/>
            <a:ext cx="7572375" cy="3143250"/>
          </a:xfrm>
          <a:prstGeom prst="rect">
            <a:avLst/>
          </a:prstGeom>
        </p:spPr>
      </p:pic>
    </p:spTree>
    <p:extLst>
      <p:ext uri="{BB962C8B-B14F-4D97-AF65-F5344CB8AC3E}">
        <p14:creationId xmlns:p14="http://schemas.microsoft.com/office/powerpoint/2010/main" val="1949454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Work in an electric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07686"/>
            <a:ext cx="1186597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Two parallel plates are separated by 1.0cm. One plate is earthed and the other has a potential of 5.0kV.</a:t>
            </a:r>
          </a:p>
          <a:p>
            <a:pPr algn="just"/>
            <a:r>
              <a:rPr lang="en-AU" sz="2400" b="0" dirty="0"/>
              <a:t>c) Now assume the initial velocity of the electron was 5.0x10^7 m/s travelling horizontally as it enters halfway between the plates. How long does it take for the electron to hit the positive plate?</a:t>
            </a:r>
          </a:p>
          <a:p>
            <a:pPr algn="just"/>
            <a:r>
              <a:rPr lang="en-AU" sz="2400" b="0" dirty="0"/>
              <a:t>	</a:t>
            </a:r>
            <a:r>
              <a:rPr lang="en-AU" sz="1800" b="0" dirty="0"/>
              <a:t>charge of electron = -1.602 x 10</a:t>
            </a:r>
            <a:r>
              <a:rPr lang="en-AU" sz="1800" b="0" baseline="30000" dirty="0"/>
              <a:t>-19</a:t>
            </a:r>
            <a:r>
              <a:rPr lang="en-AU" sz="1800" b="0" dirty="0"/>
              <a:t> C     mass of electron = 9.109 x 10</a:t>
            </a:r>
            <a:r>
              <a:rPr lang="en-AU" sz="1800" b="0" baseline="30000" dirty="0"/>
              <a:t>-31 </a:t>
            </a:r>
            <a:r>
              <a:rPr lang="en-AU" sz="1800" b="0" dirty="0"/>
              <a:t>kg</a:t>
            </a:r>
          </a:p>
          <a:p>
            <a:pPr algn="just"/>
            <a:endParaRPr lang="en-AU" sz="1800" b="0" dirty="0"/>
          </a:p>
          <a:p>
            <a:pPr lvl="1" indent="0" algn="just">
              <a:buNone/>
            </a:pPr>
            <a:endParaRPr lang="en-AU" sz="2000" dirty="0"/>
          </a:p>
        </p:txBody>
      </p:sp>
      <p:pic>
        <p:nvPicPr>
          <p:cNvPr id="6" name="Picture 5">
            <a:extLst>
              <a:ext uri="{FF2B5EF4-FFF2-40B4-BE49-F238E27FC236}">
                <a16:creationId xmlns:a16="http://schemas.microsoft.com/office/drawing/2014/main" id="{C7408FB5-9F44-40AC-BB72-C29A68EE3898}"/>
              </a:ext>
            </a:extLst>
          </p:cNvPr>
          <p:cNvPicPr>
            <a:picLocks noChangeAspect="1"/>
          </p:cNvPicPr>
          <p:nvPr/>
        </p:nvPicPr>
        <p:blipFill rotWithShape="1">
          <a:blip r:embed="rId3"/>
          <a:srcRect b="48906"/>
          <a:stretch/>
        </p:blipFill>
        <p:spPr>
          <a:xfrm>
            <a:off x="3776462" y="3429000"/>
            <a:ext cx="5600700" cy="3401826"/>
          </a:xfrm>
          <a:prstGeom prst="rect">
            <a:avLst/>
          </a:prstGeom>
        </p:spPr>
      </p:pic>
    </p:spTree>
    <p:extLst>
      <p:ext uri="{BB962C8B-B14F-4D97-AF65-F5344CB8AC3E}">
        <p14:creationId xmlns:p14="http://schemas.microsoft.com/office/powerpoint/2010/main" val="8093655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Work in an electric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07686"/>
            <a:ext cx="1186597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Two parallel plates are separated by 1.0cm. One plate is earthed and the other has a potential of 5.0kV.</a:t>
            </a:r>
          </a:p>
          <a:p>
            <a:pPr algn="just"/>
            <a:r>
              <a:rPr lang="en-AU" sz="2400" b="0" dirty="0"/>
              <a:t>d) Assuming the same conditions as for part c, calculate the final horizontal displacement of the electron.</a:t>
            </a:r>
          </a:p>
          <a:p>
            <a:pPr algn="just"/>
            <a:r>
              <a:rPr lang="en-AU" sz="2400" b="0" dirty="0"/>
              <a:t>	</a:t>
            </a:r>
            <a:r>
              <a:rPr lang="en-AU" sz="1800" b="0" dirty="0"/>
              <a:t>charge of electron = -1.602 x 10</a:t>
            </a:r>
            <a:r>
              <a:rPr lang="en-AU" sz="1800" b="0" baseline="30000" dirty="0"/>
              <a:t>-19</a:t>
            </a:r>
            <a:r>
              <a:rPr lang="en-AU" sz="1800" b="0" dirty="0"/>
              <a:t> C     mass of electron = 9.109 x 10</a:t>
            </a:r>
            <a:r>
              <a:rPr lang="en-AU" sz="1800" b="0" baseline="30000" dirty="0"/>
              <a:t>-31 </a:t>
            </a:r>
            <a:r>
              <a:rPr lang="en-AU" sz="1800" b="0" dirty="0"/>
              <a:t>kg</a:t>
            </a:r>
          </a:p>
          <a:p>
            <a:pPr algn="just"/>
            <a:endParaRPr lang="en-AU" sz="1800" b="0" dirty="0"/>
          </a:p>
          <a:p>
            <a:pPr lvl="1" indent="0" algn="just">
              <a:buNone/>
            </a:pPr>
            <a:endParaRPr lang="en-AU" sz="2000" dirty="0"/>
          </a:p>
        </p:txBody>
      </p:sp>
    </p:spTree>
    <p:extLst>
      <p:ext uri="{BB962C8B-B14F-4D97-AF65-F5344CB8AC3E}">
        <p14:creationId xmlns:p14="http://schemas.microsoft.com/office/powerpoint/2010/main" val="6786049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Work in an electric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07686"/>
            <a:ext cx="1186597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Two parallel plates are separated by 1.0cm. One plate is earthed and the other has a potential of 5.0kV.</a:t>
            </a:r>
          </a:p>
          <a:p>
            <a:pPr algn="just"/>
            <a:r>
              <a:rPr lang="en-AU" sz="2400" b="0" dirty="0"/>
              <a:t>d) Assuming the same conditions as for part c, calculate the final horizontal displacement of the electron.</a:t>
            </a:r>
          </a:p>
          <a:p>
            <a:pPr algn="just"/>
            <a:r>
              <a:rPr lang="en-AU" sz="2400" b="0" dirty="0"/>
              <a:t>	</a:t>
            </a:r>
            <a:r>
              <a:rPr lang="en-AU" sz="1800" b="0" dirty="0"/>
              <a:t>charge of electron = -1.602 x 10</a:t>
            </a:r>
            <a:r>
              <a:rPr lang="en-AU" sz="1800" b="0" baseline="30000" dirty="0"/>
              <a:t>-19</a:t>
            </a:r>
            <a:r>
              <a:rPr lang="en-AU" sz="1800" b="0" dirty="0"/>
              <a:t> C     mass of electron = 9.109 x 10</a:t>
            </a:r>
            <a:r>
              <a:rPr lang="en-AU" sz="1800" b="0" baseline="30000" dirty="0"/>
              <a:t>-31 </a:t>
            </a:r>
            <a:r>
              <a:rPr lang="en-AU" sz="1800" b="0" dirty="0"/>
              <a:t>kg</a:t>
            </a:r>
          </a:p>
          <a:p>
            <a:pPr algn="just"/>
            <a:endParaRPr lang="en-AU" sz="1800" b="0" dirty="0"/>
          </a:p>
          <a:p>
            <a:pPr lvl="1" indent="0" algn="just">
              <a:buNone/>
            </a:pPr>
            <a:endParaRPr lang="en-AU" sz="2000" dirty="0"/>
          </a:p>
        </p:txBody>
      </p:sp>
      <p:pic>
        <p:nvPicPr>
          <p:cNvPr id="5" name="Picture 4">
            <a:extLst>
              <a:ext uri="{FF2B5EF4-FFF2-40B4-BE49-F238E27FC236}">
                <a16:creationId xmlns:a16="http://schemas.microsoft.com/office/drawing/2014/main" id="{F200809E-EB32-478E-878F-CF4119728765}"/>
              </a:ext>
            </a:extLst>
          </p:cNvPr>
          <p:cNvPicPr>
            <a:picLocks noChangeAspect="1"/>
          </p:cNvPicPr>
          <p:nvPr/>
        </p:nvPicPr>
        <p:blipFill>
          <a:blip r:embed="rId3"/>
          <a:stretch>
            <a:fillRect/>
          </a:stretch>
        </p:blipFill>
        <p:spPr>
          <a:xfrm>
            <a:off x="3403083" y="3137646"/>
            <a:ext cx="5600700" cy="3276600"/>
          </a:xfrm>
          <a:prstGeom prst="rect">
            <a:avLst/>
          </a:prstGeom>
        </p:spPr>
      </p:pic>
    </p:spTree>
    <p:extLst>
      <p:ext uri="{BB962C8B-B14F-4D97-AF65-F5344CB8AC3E}">
        <p14:creationId xmlns:p14="http://schemas.microsoft.com/office/powerpoint/2010/main" val="39373979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Work in an electric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14867" y="1007686"/>
            <a:ext cx="1186597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AU" sz="1800" b="0" dirty="0"/>
          </a:p>
          <a:p>
            <a:pPr lvl="1" indent="0" algn="just">
              <a:buNone/>
            </a:pPr>
            <a:endParaRPr lang="en-AU" sz="2000" dirty="0"/>
          </a:p>
        </p:txBody>
      </p:sp>
      <p:pic>
        <p:nvPicPr>
          <p:cNvPr id="6" name="Picture 5">
            <a:extLst>
              <a:ext uri="{FF2B5EF4-FFF2-40B4-BE49-F238E27FC236}">
                <a16:creationId xmlns:a16="http://schemas.microsoft.com/office/drawing/2014/main" id="{04F177FC-696B-4245-9CF1-A8D86937F1D8}"/>
              </a:ext>
            </a:extLst>
          </p:cNvPr>
          <p:cNvPicPr>
            <a:picLocks noChangeAspect="1"/>
          </p:cNvPicPr>
          <p:nvPr/>
        </p:nvPicPr>
        <p:blipFill>
          <a:blip r:embed="rId3"/>
          <a:stretch>
            <a:fillRect/>
          </a:stretch>
        </p:blipFill>
        <p:spPr>
          <a:xfrm>
            <a:off x="2005787" y="1149564"/>
            <a:ext cx="7965558" cy="4827611"/>
          </a:xfrm>
          <a:prstGeom prst="rect">
            <a:avLst/>
          </a:prstGeom>
        </p:spPr>
      </p:pic>
    </p:spTree>
    <p:extLst>
      <p:ext uri="{BB962C8B-B14F-4D97-AF65-F5344CB8AC3E}">
        <p14:creationId xmlns:p14="http://schemas.microsoft.com/office/powerpoint/2010/main" val="31372631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Work in an electric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5" name="Picture 4">
            <a:extLst>
              <a:ext uri="{FF2B5EF4-FFF2-40B4-BE49-F238E27FC236}">
                <a16:creationId xmlns:a16="http://schemas.microsoft.com/office/drawing/2014/main" id="{08F0D48B-DBEA-48F9-8EC3-844B64D530B9}"/>
              </a:ext>
            </a:extLst>
          </p:cNvPr>
          <p:cNvPicPr>
            <a:picLocks noChangeAspect="1"/>
          </p:cNvPicPr>
          <p:nvPr/>
        </p:nvPicPr>
        <p:blipFill>
          <a:blip r:embed="rId3"/>
          <a:stretch>
            <a:fillRect/>
          </a:stretch>
        </p:blipFill>
        <p:spPr>
          <a:xfrm>
            <a:off x="893245" y="914991"/>
            <a:ext cx="10620375" cy="5619750"/>
          </a:xfrm>
          <a:prstGeom prst="rect">
            <a:avLst/>
          </a:prstGeom>
        </p:spPr>
      </p:pic>
    </p:spTree>
    <p:extLst>
      <p:ext uri="{BB962C8B-B14F-4D97-AF65-F5344CB8AC3E}">
        <p14:creationId xmlns:p14="http://schemas.microsoft.com/office/powerpoint/2010/main" val="14100041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Work in an electric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6" name="Picture 5">
            <a:extLst>
              <a:ext uri="{FF2B5EF4-FFF2-40B4-BE49-F238E27FC236}">
                <a16:creationId xmlns:a16="http://schemas.microsoft.com/office/drawing/2014/main" id="{982DE1CB-8A26-4EDD-B6F7-436AC2C0FB5E}"/>
              </a:ext>
            </a:extLst>
          </p:cNvPr>
          <p:cNvPicPr>
            <a:picLocks noChangeAspect="1"/>
          </p:cNvPicPr>
          <p:nvPr/>
        </p:nvPicPr>
        <p:blipFill>
          <a:blip r:embed="rId3"/>
          <a:stretch>
            <a:fillRect/>
          </a:stretch>
        </p:blipFill>
        <p:spPr>
          <a:xfrm>
            <a:off x="1718632" y="595269"/>
            <a:ext cx="9164592" cy="5779680"/>
          </a:xfrm>
          <a:prstGeom prst="rect">
            <a:avLst/>
          </a:prstGeom>
        </p:spPr>
      </p:pic>
    </p:spTree>
    <p:extLst>
      <p:ext uri="{BB962C8B-B14F-4D97-AF65-F5344CB8AC3E}">
        <p14:creationId xmlns:p14="http://schemas.microsoft.com/office/powerpoint/2010/main" val="7616488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Work in an electric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6" name="Picture 5">
            <a:extLst>
              <a:ext uri="{FF2B5EF4-FFF2-40B4-BE49-F238E27FC236}">
                <a16:creationId xmlns:a16="http://schemas.microsoft.com/office/drawing/2014/main" id="{7C5571C6-E906-4F6F-9FA7-341B6934EA5F}"/>
              </a:ext>
            </a:extLst>
          </p:cNvPr>
          <p:cNvPicPr>
            <a:picLocks noChangeAspect="1"/>
          </p:cNvPicPr>
          <p:nvPr/>
        </p:nvPicPr>
        <p:blipFill>
          <a:blip r:embed="rId3"/>
          <a:stretch>
            <a:fillRect/>
          </a:stretch>
        </p:blipFill>
        <p:spPr>
          <a:xfrm>
            <a:off x="295275" y="595269"/>
            <a:ext cx="10366069" cy="6140866"/>
          </a:xfrm>
          <a:prstGeom prst="rect">
            <a:avLst/>
          </a:prstGeom>
        </p:spPr>
      </p:pic>
    </p:spTree>
    <p:extLst>
      <p:ext uri="{BB962C8B-B14F-4D97-AF65-F5344CB8AC3E}">
        <p14:creationId xmlns:p14="http://schemas.microsoft.com/office/powerpoint/2010/main" val="19822360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Work in an electric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5" name="Picture 4">
            <a:extLst>
              <a:ext uri="{FF2B5EF4-FFF2-40B4-BE49-F238E27FC236}">
                <a16:creationId xmlns:a16="http://schemas.microsoft.com/office/drawing/2014/main" id="{3D4B8EF6-250A-4D45-9DAE-A933274BFB07}"/>
              </a:ext>
            </a:extLst>
          </p:cNvPr>
          <p:cNvPicPr>
            <a:picLocks noChangeAspect="1"/>
          </p:cNvPicPr>
          <p:nvPr/>
        </p:nvPicPr>
        <p:blipFill>
          <a:blip r:embed="rId3"/>
          <a:stretch>
            <a:fillRect/>
          </a:stretch>
        </p:blipFill>
        <p:spPr>
          <a:xfrm>
            <a:off x="0" y="914991"/>
            <a:ext cx="10001250" cy="5600700"/>
          </a:xfrm>
          <a:prstGeom prst="rect">
            <a:avLst/>
          </a:prstGeom>
        </p:spPr>
      </p:pic>
    </p:spTree>
    <p:extLst>
      <p:ext uri="{BB962C8B-B14F-4D97-AF65-F5344CB8AC3E}">
        <p14:creationId xmlns:p14="http://schemas.microsoft.com/office/powerpoint/2010/main" val="42901729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Work in an electric field</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8" name="Picture 7">
            <a:extLst>
              <a:ext uri="{FF2B5EF4-FFF2-40B4-BE49-F238E27FC236}">
                <a16:creationId xmlns:a16="http://schemas.microsoft.com/office/drawing/2014/main" id="{FE20B42E-0290-4BB8-BF82-137FE45A2C1D}"/>
              </a:ext>
            </a:extLst>
          </p:cNvPr>
          <p:cNvPicPr>
            <a:picLocks noChangeAspect="1"/>
          </p:cNvPicPr>
          <p:nvPr/>
        </p:nvPicPr>
        <p:blipFill>
          <a:blip r:embed="rId3"/>
          <a:stretch>
            <a:fillRect/>
          </a:stretch>
        </p:blipFill>
        <p:spPr>
          <a:xfrm>
            <a:off x="295275" y="1211470"/>
            <a:ext cx="11681858" cy="4307339"/>
          </a:xfrm>
          <a:prstGeom prst="rect">
            <a:avLst/>
          </a:prstGeom>
        </p:spPr>
      </p:pic>
    </p:spTree>
    <p:extLst>
      <p:ext uri="{BB962C8B-B14F-4D97-AF65-F5344CB8AC3E}">
        <p14:creationId xmlns:p14="http://schemas.microsoft.com/office/powerpoint/2010/main" val="11611388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Work in an electric field</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2400" b="0" i="0" dirty="0">
                <a:solidFill>
                  <a:srgbClr val="000303"/>
                </a:solidFill>
                <a:effectLst/>
                <a:latin typeface="+mj-lt"/>
              </a:rPr>
              <a:t>I can calculate the work done on a charged object by an electric field</a:t>
            </a:r>
          </a:p>
        </p:txBody>
      </p:sp>
    </p:spTree>
    <p:extLst>
      <p:ext uri="{BB962C8B-B14F-4D97-AF65-F5344CB8AC3E}">
        <p14:creationId xmlns:p14="http://schemas.microsoft.com/office/powerpoint/2010/main" val="6644653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sz="4000" dirty="0">
                <a:effectLst/>
                <a:latin typeface="Calibri" panose="020F0502020204030204" pitchFamily="34" charset="0"/>
                <a:ea typeface="Times New Roman" panose="02020603050405020304" pitchFamily="18" charset="0"/>
              </a:rPr>
              <a:t>STAWA Set 9  p 124</a:t>
            </a:r>
          </a:p>
          <a:p>
            <a:endParaRPr lang="en-AU" sz="4000" dirty="0">
              <a:latin typeface="Calibri" panose="020F0502020204030204" pitchFamily="34" charset="0"/>
              <a:ea typeface="Times New Roman" panose="02020603050405020304" pitchFamily="18" charset="0"/>
            </a:endParaRPr>
          </a:p>
          <a:p>
            <a:r>
              <a:rPr lang="en-AU" sz="4000" dirty="0">
                <a:effectLst/>
                <a:latin typeface="Calibri" panose="020F0502020204030204" pitchFamily="34" charset="0"/>
                <a:ea typeface="Times New Roman" panose="02020603050405020304" pitchFamily="18" charset="0"/>
              </a:rPr>
              <a:t>Questions 1, 2, 3, 5, 6, 7, 8, 9</a:t>
            </a:r>
          </a:p>
          <a:p>
            <a:endParaRPr lang="en-AU" sz="4000" dirty="0">
              <a:latin typeface="Calibri" panose="020F0502020204030204" pitchFamily="34" charset="0"/>
            </a:endParaRPr>
          </a:p>
          <a:p>
            <a:endParaRPr lang="en-AU" sz="11500" dirty="0"/>
          </a:p>
        </p:txBody>
      </p:sp>
      <p:sp>
        <p:nvSpPr>
          <p:cNvPr id="3" name="Text Placeholder 2">
            <a:extLst>
              <a:ext uri="{FF2B5EF4-FFF2-40B4-BE49-F238E27FC236}">
                <a16:creationId xmlns:a16="http://schemas.microsoft.com/office/drawing/2014/main" id="{077C5160-7C61-4493-B223-FEA0BC7A48F2}"/>
              </a:ext>
            </a:extLst>
          </p:cNvPr>
          <p:cNvSpPr>
            <a:spLocks noGrp="1"/>
          </p:cNvSpPr>
          <p:nvPr>
            <p:ph type="body" sz="quarter" idx="11"/>
          </p:nvPr>
        </p:nvSpPr>
        <p:spPr/>
        <p:txBody>
          <a:bodyPr/>
          <a:lstStyle/>
          <a:p>
            <a:r>
              <a:rPr lang="en-AU" b="1" dirty="0">
                <a:solidFill>
                  <a:srgbClr val="FFD966"/>
                </a:solidFill>
              </a:rPr>
              <a:t>Homework</a:t>
            </a:r>
          </a:p>
        </p:txBody>
      </p:sp>
    </p:spTree>
    <p:extLst>
      <p:ext uri="{BB962C8B-B14F-4D97-AF65-F5344CB8AC3E}">
        <p14:creationId xmlns:p14="http://schemas.microsoft.com/office/powerpoint/2010/main" val="16049901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Work in Electric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Additional Study</a:t>
            </a:r>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10" name="Picture 9">
            <a:extLst>
              <a:ext uri="{FF2B5EF4-FFF2-40B4-BE49-F238E27FC236}">
                <a16:creationId xmlns:a16="http://schemas.microsoft.com/office/drawing/2014/main" id="{2B1CB9B2-E762-3887-9D8A-6A871F7CCF22}"/>
              </a:ext>
            </a:extLst>
          </p:cNvPr>
          <p:cNvPicPr>
            <a:picLocks noChangeAspect="1"/>
          </p:cNvPicPr>
          <p:nvPr/>
        </p:nvPicPr>
        <p:blipFill>
          <a:blip r:embed="rId3"/>
          <a:stretch>
            <a:fillRect/>
          </a:stretch>
        </p:blipFill>
        <p:spPr>
          <a:xfrm>
            <a:off x="295275" y="1109021"/>
            <a:ext cx="1998635" cy="503593"/>
          </a:xfrm>
          <a:prstGeom prst="rect">
            <a:avLst/>
          </a:prstGeom>
        </p:spPr>
      </p:pic>
      <p:pic>
        <p:nvPicPr>
          <p:cNvPr id="13" name="Picture 12">
            <a:extLst>
              <a:ext uri="{FF2B5EF4-FFF2-40B4-BE49-F238E27FC236}">
                <a16:creationId xmlns:a16="http://schemas.microsoft.com/office/drawing/2014/main" id="{0A6F2DE1-50DC-DBCE-E041-5441D92980EF}"/>
              </a:ext>
            </a:extLst>
          </p:cNvPr>
          <p:cNvPicPr>
            <a:picLocks noChangeAspect="1"/>
          </p:cNvPicPr>
          <p:nvPr/>
        </p:nvPicPr>
        <p:blipFill rotWithShape="1">
          <a:blip r:embed="rId4"/>
          <a:srcRect l="50588" t="73812"/>
          <a:stretch/>
        </p:blipFill>
        <p:spPr>
          <a:xfrm>
            <a:off x="295275" y="1736683"/>
            <a:ext cx="4841722" cy="1692317"/>
          </a:xfrm>
          <a:prstGeom prst="rect">
            <a:avLst/>
          </a:prstGeom>
        </p:spPr>
      </p:pic>
    </p:spTree>
    <p:extLst>
      <p:ext uri="{BB962C8B-B14F-4D97-AF65-F5344CB8AC3E}">
        <p14:creationId xmlns:p14="http://schemas.microsoft.com/office/powerpoint/2010/main" val="24750290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Electric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Videos on cathode ray tubes</a:t>
            </a:r>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2" name="TextBox 11">
            <a:extLst>
              <a:ext uri="{FF2B5EF4-FFF2-40B4-BE49-F238E27FC236}">
                <a16:creationId xmlns:a16="http://schemas.microsoft.com/office/drawing/2014/main" id="{406617CD-BB1D-4612-8E6B-EA4F634977A3}"/>
              </a:ext>
            </a:extLst>
          </p:cNvPr>
          <p:cNvSpPr txBox="1"/>
          <p:nvPr/>
        </p:nvSpPr>
        <p:spPr>
          <a:xfrm>
            <a:off x="295274" y="1906801"/>
            <a:ext cx="11439525" cy="369332"/>
          </a:xfrm>
          <a:prstGeom prst="rect">
            <a:avLst/>
          </a:prstGeom>
          <a:noFill/>
          <a:ln>
            <a:noFill/>
          </a:ln>
        </p:spPr>
        <p:txBody>
          <a:bodyPr wrap="square">
            <a:spAutoFit/>
          </a:bodyPr>
          <a:lstStyle/>
          <a:p>
            <a:r>
              <a:rPr lang="en-AU" dirty="0"/>
              <a:t>https://www.youtube.com/watch?v=l4UgZBs7ZGo&amp;t=551s&amp;ab_channel=TechnologyConnections</a:t>
            </a:r>
          </a:p>
        </p:txBody>
      </p:sp>
      <p:sp>
        <p:nvSpPr>
          <p:cNvPr id="13" name="TextBox 12">
            <a:extLst>
              <a:ext uri="{FF2B5EF4-FFF2-40B4-BE49-F238E27FC236}">
                <a16:creationId xmlns:a16="http://schemas.microsoft.com/office/drawing/2014/main" id="{DFDDE774-A0C9-4D15-A814-D5AF7DC80E09}"/>
              </a:ext>
            </a:extLst>
          </p:cNvPr>
          <p:cNvSpPr txBox="1"/>
          <p:nvPr/>
        </p:nvSpPr>
        <p:spPr>
          <a:xfrm>
            <a:off x="295274" y="2615978"/>
            <a:ext cx="10906125" cy="369332"/>
          </a:xfrm>
          <a:prstGeom prst="rect">
            <a:avLst/>
          </a:prstGeom>
          <a:noFill/>
          <a:ln>
            <a:noFill/>
          </a:ln>
        </p:spPr>
        <p:txBody>
          <a:bodyPr wrap="square">
            <a:spAutoFit/>
          </a:bodyPr>
          <a:lstStyle/>
          <a:p>
            <a:r>
              <a:rPr lang="en-AU" dirty="0"/>
              <a:t>https://www.youtube.com/watch?v=Rb6MguN0Uj4&amp;t=491s&amp;ab_channel=TylerDeWitt</a:t>
            </a:r>
          </a:p>
        </p:txBody>
      </p:sp>
      <p:sp>
        <p:nvSpPr>
          <p:cNvPr id="15" name="TextBox 14">
            <a:extLst>
              <a:ext uri="{FF2B5EF4-FFF2-40B4-BE49-F238E27FC236}">
                <a16:creationId xmlns:a16="http://schemas.microsoft.com/office/drawing/2014/main" id="{06566715-4386-4C56-B019-8BAFA1903BC1}"/>
              </a:ext>
            </a:extLst>
          </p:cNvPr>
          <p:cNvSpPr txBox="1"/>
          <p:nvPr/>
        </p:nvSpPr>
        <p:spPr>
          <a:xfrm>
            <a:off x="295274" y="3429000"/>
            <a:ext cx="10753725" cy="369332"/>
          </a:xfrm>
          <a:prstGeom prst="rect">
            <a:avLst/>
          </a:prstGeom>
          <a:noFill/>
          <a:ln>
            <a:noFill/>
          </a:ln>
        </p:spPr>
        <p:txBody>
          <a:bodyPr wrap="square">
            <a:spAutoFit/>
          </a:bodyPr>
          <a:lstStyle/>
          <a:p>
            <a:r>
              <a:rPr lang="en-AU" dirty="0"/>
              <a:t>https://www.youtube.com/watch?v=O9Goyscbazk&amp;ab_channel=dchummerCHEMISTRY</a:t>
            </a:r>
          </a:p>
        </p:txBody>
      </p:sp>
    </p:spTree>
    <p:extLst>
      <p:ext uri="{BB962C8B-B14F-4D97-AF65-F5344CB8AC3E}">
        <p14:creationId xmlns:p14="http://schemas.microsoft.com/office/powerpoint/2010/main" val="63984988"/>
      </p:ext>
    </p:extLst>
  </p:cSld>
  <p:clrMapOvr>
    <a:masterClrMapping/>
  </p:clrMapOvr>
</p:sld>
</file>

<file path=ppt/theme/theme1.xml><?xml version="1.0" encoding="utf-8"?>
<a:theme xmlns:a="http://schemas.openxmlformats.org/drawingml/2006/main" name="1_Explicit Instruction_Dar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Theme2" id="{15861BA0-56D5-1E4E-B56A-268D38A279BF}" vid="{9D14DC9A-E19D-5949-B871-56F3C64BEB6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5c732d2-f217-444a-91d8-37c5714ca695" xsi:nil="true"/>
    <lcf76f155ced4ddcb4097134ff3c332f xmlns="8f659357-f805-491c-ad0b-5621b2de6466">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8157990E5B9394AB60DC397E95032F9" ma:contentTypeVersion="16" ma:contentTypeDescription="Create a new document." ma:contentTypeScope="" ma:versionID="02697e3214b2f55142a2e7b89ba6de54">
  <xsd:schema xmlns:xsd="http://www.w3.org/2001/XMLSchema" xmlns:xs="http://www.w3.org/2001/XMLSchema" xmlns:p="http://schemas.microsoft.com/office/2006/metadata/properties" xmlns:ns2="8f659357-f805-491c-ad0b-5621b2de6466" xmlns:ns3="d5c732d2-f217-444a-91d8-37c5714ca695" targetNamespace="http://schemas.microsoft.com/office/2006/metadata/properties" ma:root="true" ma:fieldsID="67be6965022b95aa9d7585358a9bb7fc" ns2:_="" ns3:_="">
    <xsd:import namespace="8f659357-f805-491c-ad0b-5621b2de6466"/>
    <xsd:import namespace="d5c732d2-f217-444a-91d8-37c5714ca69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659357-f805-491c-ad0b-5621b2de64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a606fe5-00d0-49e1-aa33-d9ffd02091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c732d2-f217-444a-91d8-37c5714ca69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787221a7-1fed-4694-a1ec-bb608177e353}" ma:internalName="TaxCatchAll" ma:showField="CatchAllData" ma:web="d5c732d2-f217-444a-91d8-37c5714ca6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D5BC30B-A8FB-4389-B40F-C069B6D2FAB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44E6DD08-0D88-488A-BBFB-9E182F8E22F3}"/>
</file>

<file path=customXml/itemProps3.xml><?xml version="1.0" encoding="utf-8"?>
<ds:datastoreItem xmlns:ds="http://schemas.openxmlformats.org/officeDocument/2006/customXml" ds:itemID="{77F09D33-A1B5-4438-8F96-65DD7176249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{33057687-8793-EB47-A5E0-08E93C53D0F2}tf10001071</Template>
  <TotalTime>6563</TotalTime>
  <Words>2008</Words>
  <Application>Microsoft Office PowerPoint</Application>
  <PresentationFormat>Widescreen</PresentationFormat>
  <Paragraphs>264</Paragraphs>
  <Slides>30</Slides>
  <Notes>27</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Cambria Math</vt:lpstr>
      <vt:lpstr>Century Gothic</vt:lpstr>
      <vt:lpstr>Futura Medium</vt:lpstr>
      <vt:lpstr>1_Explicit Instruction_Dark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BAKER Mark [Southern River College]</cp:lastModifiedBy>
  <cp:revision>440</cp:revision>
  <cp:lastPrinted>2018-05-27T06:54:10Z</cp:lastPrinted>
  <dcterms:created xsi:type="dcterms:W3CDTF">2018-03-29T05:56:09Z</dcterms:created>
  <dcterms:modified xsi:type="dcterms:W3CDTF">2023-01-21T07:05:15Z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0x010100C8157990E5B9394AB60DC397E95032F9</vt:lpwstr>
  </property>
</Properties>
</file>