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232" r:id="rId4"/>
    <p:sldMasterId id="2147484274" r:id="rId5"/>
  </p:sldMasterIdLst>
  <p:notesMasterIdLst>
    <p:notesMasterId r:id="rId28"/>
  </p:notesMasterIdLst>
  <p:handoutMasterIdLst>
    <p:handoutMasterId r:id="rId29"/>
  </p:handoutMasterIdLst>
  <p:sldIdLst>
    <p:sldId id="631" r:id="rId6"/>
    <p:sldId id="632" r:id="rId7"/>
    <p:sldId id="633" r:id="rId8"/>
    <p:sldId id="577" r:id="rId9"/>
    <p:sldId id="528" r:id="rId10"/>
    <p:sldId id="634" r:id="rId11"/>
    <p:sldId id="650" r:id="rId12"/>
    <p:sldId id="651" r:id="rId13"/>
    <p:sldId id="620" r:id="rId14"/>
    <p:sldId id="636" r:id="rId15"/>
    <p:sldId id="642" r:id="rId16"/>
    <p:sldId id="643" r:id="rId17"/>
    <p:sldId id="648" r:id="rId18"/>
    <p:sldId id="649" r:id="rId19"/>
    <p:sldId id="640" r:id="rId20"/>
    <p:sldId id="641" r:id="rId21"/>
    <p:sldId id="644" r:id="rId22"/>
    <p:sldId id="646" r:id="rId23"/>
    <p:sldId id="647" r:id="rId24"/>
    <p:sldId id="638" r:id="rId25"/>
    <p:sldId id="639" r:id="rId26"/>
    <p:sldId id="467"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helle Buss" initials="MB"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3C18"/>
    <a:srgbClr val="4472C4"/>
    <a:srgbClr val="FF0000"/>
    <a:srgbClr val="FFD966"/>
    <a:srgbClr val="8FAADC"/>
    <a:srgbClr val="159B4B"/>
    <a:srgbClr val="0070C0"/>
    <a:srgbClr val="C55A11"/>
    <a:srgbClr val="6E407C"/>
    <a:srgbClr val="FBCA5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857" autoAdjust="0"/>
    <p:restoredTop sz="74552" autoAdjust="0"/>
  </p:normalViewPr>
  <p:slideViewPr>
    <p:cSldViewPr snapToGrid="0" snapToObjects="1">
      <p:cViewPr varScale="1">
        <p:scale>
          <a:sx n="84" d="100"/>
          <a:sy n="84" d="100"/>
        </p:scale>
        <p:origin x="1134" y="78"/>
      </p:cViewPr>
      <p:guideLst>
        <p:guide orient="horz" pos="2160"/>
        <p:guide pos="3840"/>
      </p:guideLst>
    </p:cSldViewPr>
  </p:slid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77" d="100"/>
          <a:sy n="77" d="100"/>
        </p:scale>
        <p:origin x="2592"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commentAuthors" Target="commentAuthors.xml"/><Relationship Id="rId8" Type="http://schemas.openxmlformats.org/officeDocument/2006/relationships/slide" Target="slides/slide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78E4B7C-96ED-E449-9693-B655C4671FD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4" name="Footer Placeholder 3">
            <a:extLst>
              <a:ext uri="{FF2B5EF4-FFF2-40B4-BE49-F238E27FC236}">
                <a16:creationId xmlns:a16="http://schemas.microsoft.com/office/drawing/2014/main" id="{28D809C4-E54C-A54E-B9F4-56C375E0D8D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53AD932-3578-6E4B-810C-4CF7533A983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DA9B4CA-DA29-0849-8519-4B81F4CE08AD}" type="slidenum">
              <a:rPr lang="en-US" smtClean="0"/>
              <a:t>‹#›</a:t>
            </a:fld>
            <a:endParaRPr lang="en-US"/>
          </a:p>
        </p:txBody>
      </p:sp>
      <p:sp>
        <p:nvSpPr>
          <p:cNvPr id="6" name="Date Placeholder 5">
            <a:extLst>
              <a:ext uri="{FF2B5EF4-FFF2-40B4-BE49-F238E27FC236}">
                <a16:creationId xmlns:a16="http://schemas.microsoft.com/office/drawing/2014/main" id="{27115A18-6E6E-F748-9363-1DB667F2522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A89F1C8-9A67-204B-8DB6-6C2E5B2C92D6}" type="datetimeFigureOut">
              <a:rPr lang="en-US" smtClean="0"/>
              <a:t>5/2/2023</a:t>
            </a:fld>
            <a:endParaRPr lang="en-US"/>
          </a:p>
        </p:txBody>
      </p:sp>
    </p:spTree>
    <p:extLst>
      <p:ext uri="{BB962C8B-B14F-4D97-AF65-F5344CB8AC3E}">
        <p14:creationId xmlns:p14="http://schemas.microsoft.com/office/powerpoint/2010/main" val="16315313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AAB6C6-360D-448E-B12B-FCD285160A81}" type="datetimeFigureOut">
              <a:rPr lang="en-AU" smtClean="0"/>
              <a:t>2/05/2023</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B756B8-97A8-4FA1-B26A-2500BA5D4D05}" type="slidenum">
              <a:rPr lang="en-AU" smtClean="0"/>
              <a:t>‹#›</a:t>
            </a:fld>
            <a:endParaRPr lang="en-AU"/>
          </a:p>
        </p:txBody>
      </p:sp>
    </p:spTree>
    <p:extLst>
      <p:ext uri="{BB962C8B-B14F-4D97-AF65-F5344CB8AC3E}">
        <p14:creationId xmlns:p14="http://schemas.microsoft.com/office/powerpoint/2010/main" val="18664480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a:t>
            </a:fld>
            <a:endParaRPr lang="en-AU"/>
          </a:p>
        </p:txBody>
      </p:sp>
    </p:spTree>
    <p:extLst>
      <p:ext uri="{BB962C8B-B14F-4D97-AF65-F5344CB8AC3E}">
        <p14:creationId xmlns:p14="http://schemas.microsoft.com/office/powerpoint/2010/main" val="32510968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2</a:t>
            </a:fld>
            <a:endParaRPr lang="en-AU"/>
          </a:p>
        </p:txBody>
      </p:sp>
    </p:spTree>
    <p:extLst>
      <p:ext uri="{BB962C8B-B14F-4D97-AF65-F5344CB8AC3E}">
        <p14:creationId xmlns:p14="http://schemas.microsoft.com/office/powerpoint/2010/main" val="11696880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lphaLcParenR"/>
            </a:pPr>
            <a:r>
              <a:rPr lang="en-AU" b="0" dirty="0"/>
              <a:t>North</a:t>
            </a:r>
          </a:p>
          <a:p>
            <a:pPr marL="228600" indent="-228600">
              <a:buAutoNum type="alphaLcParenR"/>
            </a:pPr>
            <a:r>
              <a:rPr lang="en-AU" b="0" dirty="0" err="1"/>
              <a:t>Bh</a:t>
            </a:r>
            <a:r>
              <a:rPr lang="en-AU" b="0" dirty="0"/>
              <a:t> = B cos 19 = 5.48x10^-5 T</a:t>
            </a:r>
          </a:p>
        </p:txBody>
      </p:sp>
      <p:sp>
        <p:nvSpPr>
          <p:cNvPr id="4" name="Slide Number Placeholder 3"/>
          <p:cNvSpPr>
            <a:spLocks noGrp="1"/>
          </p:cNvSpPr>
          <p:nvPr>
            <p:ph type="sldNum" sz="quarter" idx="5"/>
          </p:nvPr>
        </p:nvSpPr>
        <p:spPr/>
        <p:txBody>
          <a:bodyPr/>
          <a:lstStyle/>
          <a:p>
            <a:fld id="{B5B756B8-97A8-4FA1-B26A-2500BA5D4D05}" type="slidenum">
              <a:rPr lang="en-AU" smtClean="0"/>
              <a:t>3</a:t>
            </a:fld>
            <a:endParaRPr lang="en-AU"/>
          </a:p>
        </p:txBody>
      </p:sp>
    </p:spTree>
    <p:extLst>
      <p:ext uri="{BB962C8B-B14F-4D97-AF65-F5344CB8AC3E}">
        <p14:creationId xmlns:p14="http://schemas.microsoft.com/office/powerpoint/2010/main" val="36938233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dirty="0"/>
              <a:t>Straight wire produces a circular magnetic field that quickly weakens as you move away from the wire - not a very useful field for practical purposes.</a:t>
            </a:r>
          </a:p>
          <a:p>
            <a:r>
              <a:rPr lang="en-GB" sz="1200" dirty="0"/>
              <a:t>In a single loop, the magnetic field is magnified in the centre of the loop but is still not strong enough.	</a:t>
            </a:r>
          </a:p>
          <a:p>
            <a:r>
              <a:rPr lang="en-GB" sz="1200" dirty="0"/>
              <a:t>By twisting the wire into a large number of helical coils (spirals) a magnetic field of a permanent magnet can be simulated. This electromagnet (or solenoid) is strong enough to replace permanent magnets and as the number of coils is increased, a very powerful magnet can be created that has the advantage of being able to be switched off.</a:t>
            </a:r>
          </a:p>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5</a:t>
            </a:fld>
            <a:endParaRPr lang="en-AU"/>
          </a:p>
        </p:txBody>
      </p:sp>
    </p:spTree>
    <p:extLst>
      <p:ext uri="{BB962C8B-B14F-4D97-AF65-F5344CB8AC3E}">
        <p14:creationId xmlns:p14="http://schemas.microsoft.com/office/powerpoint/2010/main" val="7993577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6</a:t>
            </a:fld>
            <a:endParaRPr lang="en-AU"/>
          </a:p>
        </p:txBody>
      </p:sp>
    </p:spTree>
    <p:extLst>
      <p:ext uri="{BB962C8B-B14F-4D97-AF65-F5344CB8AC3E}">
        <p14:creationId xmlns:p14="http://schemas.microsoft.com/office/powerpoint/2010/main" val="8433964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7</a:t>
            </a:fld>
            <a:endParaRPr lang="en-AU"/>
          </a:p>
        </p:txBody>
      </p:sp>
    </p:spTree>
    <p:extLst>
      <p:ext uri="{BB962C8B-B14F-4D97-AF65-F5344CB8AC3E}">
        <p14:creationId xmlns:p14="http://schemas.microsoft.com/office/powerpoint/2010/main" val="13121466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8</a:t>
            </a:fld>
            <a:endParaRPr lang="en-AU"/>
          </a:p>
        </p:txBody>
      </p:sp>
    </p:spTree>
    <p:extLst>
      <p:ext uri="{BB962C8B-B14F-4D97-AF65-F5344CB8AC3E}">
        <p14:creationId xmlns:p14="http://schemas.microsoft.com/office/powerpoint/2010/main" val="12091806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https://www.youtube.com/watch?v=nRDVm5rn_2A&amp;ab_channel=NationalMagLab</a:t>
            </a:r>
          </a:p>
        </p:txBody>
      </p:sp>
      <p:sp>
        <p:nvSpPr>
          <p:cNvPr id="4" name="Slide Number Placeholder 3"/>
          <p:cNvSpPr>
            <a:spLocks noGrp="1"/>
          </p:cNvSpPr>
          <p:nvPr>
            <p:ph type="sldNum" sz="quarter" idx="5"/>
          </p:nvPr>
        </p:nvSpPr>
        <p:spPr/>
        <p:txBody>
          <a:bodyPr/>
          <a:lstStyle/>
          <a:p>
            <a:fld id="{B5B756B8-97A8-4FA1-B26A-2500BA5D4D05}" type="slidenum">
              <a:rPr lang="en-AU" smtClean="0"/>
              <a:t>9</a:t>
            </a:fld>
            <a:endParaRPr lang="en-AU"/>
          </a:p>
        </p:txBody>
      </p:sp>
    </p:spTree>
    <p:extLst>
      <p:ext uri="{BB962C8B-B14F-4D97-AF65-F5344CB8AC3E}">
        <p14:creationId xmlns:p14="http://schemas.microsoft.com/office/powerpoint/2010/main" val="13077346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https://www.youtube.com/watch?v=nRDVm5rn_2A&amp;ab_channel=NationalMagLab</a:t>
            </a:r>
          </a:p>
        </p:txBody>
      </p:sp>
      <p:sp>
        <p:nvSpPr>
          <p:cNvPr id="4" name="Slide Number Placeholder 3"/>
          <p:cNvSpPr>
            <a:spLocks noGrp="1"/>
          </p:cNvSpPr>
          <p:nvPr>
            <p:ph type="sldNum" sz="quarter" idx="5"/>
          </p:nvPr>
        </p:nvSpPr>
        <p:spPr/>
        <p:txBody>
          <a:bodyPr/>
          <a:lstStyle/>
          <a:p>
            <a:fld id="{B5B756B8-97A8-4FA1-B26A-2500BA5D4D05}" type="slidenum">
              <a:rPr lang="en-AU" smtClean="0"/>
              <a:t>10</a:t>
            </a:fld>
            <a:endParaRPr lang="en-AU"/>
          </a:p>
        </p:txBody>
      </p:sp>
    </p:spTree>
    <p:extLst>
      <p:ext uri="{BB962C8B-B14F-4D97-AF65-F5344CB8AC3E}">
        <p14:creationId xmlns:p14="http://schemas.microsoft.com/office/powerpoint/2010/main" val="4085318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https://www.youtube.com/watch?v=nRDVm5rn_2A&amp;ab_channel=NationalMagLab</a:t>
            </a:r>
          </a:p>
        </p:txBody>
      </p:sp>
      <p:sp>
        <p:nvSpPr>
          <p:cNvPr id="4" name="Slide Number Placeholder 3"/>
          <p:cNvSpPr>
            <a:spLocks noGrp="1"/>
          </p:cNvSpPr>
          <p:nvPr>
            <p:ph type="sldNum" sz="quarter" idx="5"/>
          </p:nvPr>
        </p:nvSpPr>
        <p:spPr/>
        <p:txBody>
          <a:bodyPr/>
          <a:lstStyle/>
          <a:p>
            <a:fld id="{B5B756B8-97A8-4FA1-B26A-2500BA5D4D05}" type="slidenum">
              <a:rPr lang="en-AU" smtClean="0"/>
              <a:t>11</a:t>
            </a:fld>
            <a:endParaRPr lang="en-AU"/>
          </a:p>
        </p:txBody>
      </p:sp>
    </p:spTree>
    <p:extLst>
      <p:ext uri="{BB962C8B-B14F-4D97-AF65-F5344CB8AC3E}">
        <p14:creationId xmlns:p14="http://schemas.microsoft.com/office/powerpoint/2010/main" val="34410255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Assume no inclination.</a:t>
            </a:r>
          </a:p>
          <a:p>
            <a:r>
              <a:rPr lang="en-AU" b="0" dirty="0"/>
              <a:t>West to the left, north up. Palm pushes into page which is the ground here.</a:t>
            </a:r>
          </a:p>
          <a:p>
            <a:endParaRPr lang="en-AU" b="0" dirty="0"/>
          </a:p>
          <a:p>
            <a:r>
              <a:rPr lang="en-AU" b="0" dirty="0"/>
              <a:t>F = current*length*B = 2.20 * 10^-2 N</a:t>
            </a:r>
          </a:p>
        </p:txBody>
      </p:sp>
      <p:sp>
        <p:nvSpPr>
          <p:cNvPr id="4" name="Slide Number Placeholder 3"/>
          <p:cNvSpPr>
            <a:spLocks noGrp="1"/>
          </p:cNvSpPr>
          <p:nvPr>
            <p:ph type="sldNum" sz="quarter" idx="5"/>
          </p:nvPr>
        </p:nvSpPr>
        <p:spPr/>
        <p:txBody>
          <a:bodyPr/>
          <a:lstStyle/>
          <a:p>
            <a:fld id="{B5B756B8-97A8-4FA1-B26A-2500BA5D4D05}" type="slidenum">
              <a:rPr lang="en-AU" smtClean="0"/>
              <a:t>12</a:t>
            </a:fld>
            <a:endParaRPr lang="en-AU"/>
          </a:p>
        </p:txBody>
      </p:sp>
    </p:spTree>
    <p:extLst>
      <p:ext uri="{BB962C8B-B14F-4D97-AF65-F5344CB8AC3E}">
        <p14:creationId xmlns:p14="http://schemas.microsoft.com/office/powerpoint/2010/main" val="6633174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13</a:t>
            </a:fld>
            <a:endParaRPr lang="en-AU"/>
          </a:p>
        </p:txBody>
      </p:sp>
    </p:spTree>
    <p:extLst>
      <p:ext uri="{BB962C8B-B14F-4D97-AF65-F5344CB8AC3E}">
        <p14:creationId xmlns:p14="http://schemas.microsoft.com/office/powerpoint/2010/main" val="30830132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14</a:t>
            </a:fld>
            <a:endParaRPr lang="en-AU"/>
          </a:p>
        </p:txBody>
      </p:sp>
    </p:spTree>
    <p:extLst>
      <p:ext uri="{BB962C8B-B14F-4D97-AF65-F5344CB8AC3E}">
        <p14:creationId xmlns:p14="http://schemas.microsoft.com/office/powerpoint/2010/main" val="6315656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15</a:t>
            </a:fld>
            <a:endParaRPr lang="en-AU"/>
          </a:p>
        </p:txBody>
      </p:sp>
    </p:spTree>
    <p:extLst>
      <p:ext uri="{BB962C8B-B14F-4D97-AF65-F5344CB8AC3E}">
        <p14:creationId xmlns:p14="http://schemas.microsoft.com/office/powerpoint/2010/main" val="13902585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https://www.youtube.com/watch?v=nRDVm5rn_2A&amp;ab_channel=NationalMagLab</a:t>
            </a:r>
          </a:p>
        </p:txBody>
      </p:sp>
      <p:sp>
        <p:nvSpPr>
          <p:cNvPr id="4" name="Slide Number Placeholder 3"/>
          <p:cNvSpPr>
            <a:spLocks noGrp="1"/>
          </p:cNvSpPr>
          <p:nvPr>
            <p:ph type="sldNum" sz="quarter" idx="5"/>
          </p:nvPr>
        </p:nvSpPr>
        <p:spPr/>
        <p:txBody>
          <a:bodyPr/>
          <a:lstStyle/>
          <a:p>
            <a:fld id="{B5B756B8-97A8-4FA1-B26A-2500BA5D4D05}" type="slidenum">
              <a:rPr lang="en-AU" smtClean="0"/>
              <a:t>16</a:t>
            </a:fld>
            <a:endParaRPr lang="en-AU"/>
          </a:p>
        </p:txBody>
      </p:sp>
    </p:spTree>
    <p:extLst>
      <p:ext uri="{BB962C8B-B14F-4D97-AF65-F5344CB8AC3E}">
        <p14:creationId xmlns:p14="http://schemas.microsoft.com/office/powerpoint/2010/main" val="17945429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Compare to an electron travelling. Can you left hand or just flip where your thumb points (point to flow of positive)</a:t>
            </a:r>
          </a:p>
        </p:txBody>
      </p:sp>
      <p:sp>
        <p:nvSpPr>
          <p:cNvPr id="4" name="Slide Number Placeholder 3"/>
          <p:cNvSpPr>
            <a:spLocks noGrp="1"/>
          </p:cNvSpPr>
          <p:nvPr>
            <p:ph type="sldNum" sz="quarter" idx="5"/>
          </p:nvPr>
        </p:nvSpPr>
        <p:spPr/>
        <p:txBody>
          <a:bodyPr/>
          <a:lstStyle/>
          <a:p>
            <a:fld id="{B5B756B8-97A8-4FA1-B26A-2500BA5D4D05}" type="slidenum">
              <a:rPr lang="en-AU" smtClean="0"/>
              <a:t>17</a:t>
            </a:fld>
            <a:endParaRPr lang="en-AU"/>
          </a:p>
        </p:txBody>
      </p:sp>
    </p:spTree>
    <p:extLst>
      <p:ext uri="{BB962C8B-B14F-4D97-AF65-F5344CB8AC3E}">
        <p14:creationId xmlns:p14="http://schemas.microsoft.com/office/powerpoint/2010/main" val="31767587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18</a:t>
            </a:fld>
            <a:endParaRPr lang="en-AU"/>
          </a:p>
        </p:txBody>
      </p:sp>
    </p:spTree>
    <p:extLst>
      <p:ext uri="{BB962C8B-B14F-4D97-AF65-F5344CB8AC3E}">
        <p14:creationId xmlns:p14="http://schemas.microsoft.com/office/powerpoint/2010/main" val="42196459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19</a:t>
            </a:fld>
            <a:endParaRPr lang="en-AU"/>
          </a:p>
        </p:txBody>
      </p:sp>
    </p:spTree>
    <p:extLst>
      <p:ext uri="{BB962C8B-B14F-4D97-AF65-F5344CB8AC3E}">
        <p14:creationId xmlns:p14="http://schemas.microsoft.com/office/powerpoint/2010/main" val="16334101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20</a:t>
            </a:fld>
            <a:endParaRPr lang="en-AU"/>
          </a:p>
        </p:txBody>
      </p:sp>
    </p:spTree>
    <p:extLst>
      <p:ext uri="{BB962C8B-B14F-4D97-AF65-F5344CB8AC3E}">
        <p14:creationId xmlns:p14="http://schemas.microsoft.com/office/powerpoint/2010/main" val="13057918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21</a:t>
            </a:fld>
            <a:endParaRPr lang="en-AU"/>
          </a:p>
        </p:txBody>
      </p:sp>
    </p:spTree>
    <p:extLst>
      <p:ext uri="{BB962C8B-B14F-4D97-AF65-F5344CB8AC3E}">
        <p14:creationId xmlns:p14="http://schemas.microsoft.com/office/powerpoint/2010/main" val="17281546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https://ophysics.com/em7.html</a:t>
            </a:r>
          </a:p>
          <a:p>
            <a:endParaRPr lang="en-AU" dirty="0"/>
          </a:p>
          <a:p>
            <a:r>
              <a:rPr lang="en-AU" dirty="0"/>
              <a:t>https://ophysics.com/em8.html</a:t>
            </a:r>
          </a:p>
          <a:p>
            <a:endParaRPr lang="en-AU" dirty="0"/>
          </a:p>
        </p:txBody>
      </p:sp>
      <p:sp>
        <p:nvSpPr>
          <p:cNvPr id="4" name="Slide Number Placeholder 3"/>
          <p:cNvSpPr>
            <a:spLocks noGrp="1"/>
          </p:cNvSpPr>
          <p:nvPr>
            <p:ph type="sldNum" sz="quarter" idx="5"/>
          </p:nvPr>
        </p:nvSpPr>
        <p:spPr/>
        <p:txBody>
          <a:bodyPr/>
          <a:lstStyle/>
          <a:p>
            <a:fld id="{B5B756B8-97A8-4FA1-B26A-2500BA5D4D05}" type="slidenum">
              <a:rPr lang="en-AU" smtClean="0"/>
              <a:t>22</a:t>
            </a:fld>
            <a:endParaRPr lang="en-AU"/>
          </a:p>
        </p:txBody>
      </p:sp>
    </p:spTree>
    <p:extLst>
      <p:ext uri="{BB962C8B-B14F-4D97-AF65-F5344CB8AC3E}">
        <p14:creationId xmlns:p14="http://schemas.microsoft.com/office/powerpoint/2010/main" val="4060770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2.xml"/><Relationship Id="rId4" Type="http://schemas.openxmlformats.org/officeDocument/2006/relationships/image" Target="../media/image4.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2.xml"/><Relationship Id="rId4" Type="http://schemas.openxmlformats.org/officeDocument/2006/relationships/image" Target="../media/image4.jp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R) Daily Edit">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572219"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Daily Edit</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1867437" y="208655"/>
            <a:ext cx="10004958" cy="515263"/>
          </a:xfrm>
          <a:prstGeom prst="rect">
            <a:avLst/>
          </a:prstGeom>
          <a:noFill/>
          <a:ln>
            <a:noFill/>
          </a:ln>
        </p:spPr>
        <p:txBody>
          <a:bodyPr wrap="square" rtlCol="0" anchor="ctr">
            <a:normAutofit/>
          </a:bodyPr>
          <a:lstStyle/>
          <a:p>
            <a:r>
              <a:rPr lang="en-US" sz="2400" b="1" i="0" dirty="0">
                <a:solidFill>
                  <a:srgbClr val="692B7D"/>
                </a:solidFill>
                <a:latin typeface="Century Gothic" panose="020B0502020202020204" pitchFamily="34" charset="0"/>
                <a:cs typeface="Futura Medium" panose="020B0602020204020303" pitchFamily="34" charset="-79"/>
              </a:rPr>
              <a:t>Sit down and begin this task immediately.</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671043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R) Daily Edit Titl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253E48-F01A-C040-9F45-1F9C5FDF10AA}"/>
              </a:ext>
            </a:extLst>
          </p:cNvPr>
          <p:cNvSpPr/>
          <p:nvPr userDrawn="1"/>
        </p:nvSpPr>
        <p:spPr>
          <a:xfrm>
            <a:off x="295219" y="1549400"/>
            <a:ext cx="11578126" cy="2929609"/>
          </a:xfrm>
          <a:prstGeom prst="rect">
            <a:avLst/>
          </a:prstGeom>
          <a:solidFill>
            <a:srgbClr val="692B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200" b="1" i="0" dirty="0">
                <a:latin typeface="Century Gothic" panose="020B0502020202020204" pitchFamily="34" charset="0"/>
              </a:rPr>
              <a:t>SRC Core</a:t>
            </a:r>
            <a:r>
              <a:rPr lang="en-US" sz="7200" b="1" i="0" baseline="0" dirty="0">
                <a:latin typeface="Century Gothic" panose="020B0502020202020204" pitchFamily="34" charset="0"/>
              </a:rPr>
              <a:t> Standards</a:t>
            </a:r>
            <a:endParaRPr lang="en-US" sz="7200" b="1" i="0" dirty="0">
              <a:latin typeface="Century Gothic" panose="020B0502020202020204" pitchFamily="34" charset="0"/>
            </a:endParaRPr>
          </a:p>
        </p:txBody>
      </p:sp>
      <p:sp>
        <p:nvSpPr>
          <p:cNvPr id="5" name="TextBox 4">
            <a:extLst>
              <a:ext uri="{FF2B5EF4-FFF2-40B4-BE49-F238E27FC236}">
                <a16:creationId xmlns:a16="http://schemas.microsoft.com/office/drawing/2014/main" id="{3BD815F0-1745-0C4E-A5DC-70E741C78081}"/>
              </a:ext>
            </a:extLst>
          </p:cNvPr>
          <p:cNvSpPr txBox="1"/>
          <p:nvPr userDrawn="1"/>
        </p:nvSpPr>
        <p:spPr>
          <a:xfrm>
            <a:off x="295218" y="1011383"/>
            <a:ext cx="2106787" cy="538446"/>
          </a:xfrm>
          <a:prstGeom prst="rect">
            <a:avLst/>
          </a:prstGeom>
          <a:solidFill>
            <a:srgbClr val="692B7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Daily Review</a:t>
            </a:r>
          </a:p>
        </p:txBody>
      </p:sp>
    </p:spTree>
    <p:extLst>
      <p:ext uri="{BB962C8B-B14F-4D97-AF65-F5344CB8AC3E}">
        <p14:creationId xmlns:p14="http://schemas.microsoft.com/office/powerpoint/2010/main" val="8277499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R)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FBCA58"/>
          </a:solidFill>
          <a:ln>
            <a:noFill/>
          </a:ln>
        </p:spPr>
        <p:txBody>
          <a:bodyPr wrap="square" rtlCol="0" anchor="ctr">
            <a:normAutofit/>
          </a:bodyPr>
          <a:lstStyle/>
          <a:p>
            <a:r>
              <a:rPr lang="en-US" sz="2400" b="1" i="0" dirty="0">
                <a:solidFill>
                  <a:srgbClr val="692B7D"/>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92B7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17220871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R)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5600"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92B7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FBCA58"/>
          </a:solidFill>
          <a:ln>
            <a:noFill/>
          </a:ln>
        </p:spPr>
        <p:txBody>
          <a:bodyPr wrap="square" rtlCol="0" anchor="ctr">
            <a:normAutofit/>
          </a:bodyPr>
          <a:lstStyle/>
          <a:p>
            <a:r>
              <a:rPr lang="en-US" sz="2400" b="1" i="0" dirty="0">
                <a:solidFill>
                  <a:srgbClr val="692B7D"/>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1742202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R)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71437"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FBCA58"/>
          </a:solidFill>
          <a:ln>
            <a:noFill/>
          </a:ln>
        </p:spPr>
        <p:txBody>
          <a:bodyPr wrap="square" rtlCol="0" anchor="ctr">
            <a:normAutofit/>
          </a:bodyPr>
          <a:lstStyle/>
          <a:p>
            <a:r>
              <a:rPr lang="en-US" sz="2400" b="1" i="0" dirty="0">
                <a:solidFill>
                  <a:srgbClr val="692B7D"/>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92B7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3459742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R)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9" y="208656"/>
            <a:ext cx="1347844"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723918"/>
            <a:ext cx="11577177" cy="1204895"/>
          </a:xfrm>
          <a:prstGeom prst="rect">
            <a:avLst/>
          </a:prstGeom>
          <a:solidFill>
            <a:srgbClr val="692B7D"/>
          </a:solidFill>
          <a:ln>
            <a:noFill/>
          </a:ln>
        </p:spPr>
        <p:txBody>
          <a:bodyPr wrap="square" rtlCol="0" anchor="ctr">
            <a:normAutofit/>
          </a:bodyPr>
          <a:lstStyle/>
          <a:p>
            <a:pPr marL="0" indent="0">
              <a:tabLst>
                <a:tab pos="3597275" algn="l"/>
              </a:tabLst>
            </a:pPr>
            <a:r>
              <a:rPr lang="en-US" sz="6000" b="1" i="0" dirty="0">
                <a:solidFill>
                  <a:schemeClr val="bg1"/>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2649248"/>
          </a:xfrm>
          <a:prstGeom prst="rect">
            <a:avLst/>
          </a:prstGeom>
          <a:noFill/>
        </p:spPr>
        <p:txBody>
          <a:bodyPr tIns="144000" bIns="0" anchor="ctr"/>
          <a:lstStyle>
            <a:lvl1pPr marL="0" indent="0" algn="ctr">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it into pieces</a:t>
            </a:r>
          </a:p>
        </p:txBody>
      </p:sp>
    </p:spTree>
    <p:extLst>
      <p:ext uri="{BB962C8B-B14F-4D97-AF65-F5344CB8AC3E}">
        <p14:creationId xmlns:p14="http://schemas.microsoft.com/office/powerpoint/2010/main" val="37407046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R) Hyper-speed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692B7D"/>
          </a:solidFill>
        </p:spPr>
        <p:txBody>
          <a:bodyPr wrap="square" rtlCol="0" anchor="ctr">
            <a:noAutofit/>
          </a:bodyPr>
          <a:lstStyle/>
          <a:p>
            <a:pPr algn="l"/>
            <a:r>
              <a:rPr lang="en-US" sz="2000" b="1" i="0" dirty="0">
                <a:solidFill>
                  <a:srgbClr val="FBCA58"/>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rgbClr val="A14986"/>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solidFill>
                <a:srgbClr val="A14986"/>
              </a:solidFill>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63638" y="629514"/>
            <a:ext cx="5466107"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63638" y="1772516"/>
            <a:ext cx="5466108"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2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63638" y="2915518"/>
            <a:ext cx="546827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63638" y="4058520"/>
            <a:ext cx="546827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63638" y="5201522"/>
            <a:ext cx="5466108"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1221096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cTn>
              </p:par>
            </p:tnLst>
          </p:tmpl>
        </p:tmplLst>
      </p:bldP>
      <p:bldP spid="12" grpId="0" build="p">
        <p:tmplLst>
          <p:tmpl lvl="1">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Lst>
      </p:bldP>
      <p:bldP spid="13" grpId="0" build="p">
        <p:tmplLst>
          <p:tmpl lvl="1">
            <p:tnLst>
              <p:par>
                <p:cTn presetID="1" presetClass="entr" presetSubtype="0" fill="hold" nodeType="clickEffect">
                  <p:stCondLst>
                    <p:cond delay="0"/>
                  </p:stCondLst>
                  <p:childTnLst>
                    <p:set>
                      <p:cBhvr>
                        <p:cTn dur="1" fill="hold">
                          <p:stCondLst>
                            <p:cond delay="0"/>
                          </p:stCondLst>
                        </p:cTn>
                        <p:tgtEl>
                          <p:spTgt spid="13"/>
                        </p:tgtEl>
                        <p:attrNameLst>
                          <p:attrName>style.visibility</p:attrName>
                        </p:attrNameLst>
                      </p:cBhvr>
                      <p:to>
                        <p:strVal val="visible"/>
                      </p:to>
                    </p:set>
                  </p:childTnLst>
                </p:cTn>
              </p:par>
            </p:tnLst>
          </p:tmpl>
        </p:tmplLst>
      </p:bldP>
      <p:bldP spid="14" grpId="0" build="p">
        <p:tmplLst>
          <p:tmpl lvl="1">
            <p:tnLst>
              <p:par>
                <p:cTn presetID="1" presetClass="entr" presetSubtype="0" fill="hold" nodeType="clickEffect">
                  <p:stCondLst>
                    <p:cond delay="0"/>
                  </p:stCondLst>
                  <p:childTnLst>
                    <p:set>
                      <p:cBhvr>
                        <p:cTn dur="1" fill="hold">
                          <p:stCondLst>
                            <p:cond delay="0"/>
                          </p:stCondLst>
                        </p:cTn>
                        <p:tgtEl>
                          <p:spTgt spid="14"/>
                        </p:tgtEl>
                        <p:attrNameLst>
                          <p:attrName>style.visibility</p:attrName>
                        </p:attrNameLst>
                      </p:cBhvr>
                      <p:to>
                        <p:strVal val="visible"/>
                      </p:to>
                    </p:set>
                  </p:childTnLst>
                </p:cTn>
              </p:par>
            </p:tnLst>
          </p:tmpl>
        </p:tmplLst>
      </p:bldP>
      <p:bldP spid="15" grpId="0" build="p">
        <p:tmplLst>
          <p:tmpl lvl="1">
            <p:tnLst>
              <p:par>
                <p:cTn presetID="1" presetClass="entr" presetSubtype="0" fill="hold" nodeType="clickEffect">
                  <p:stCondLst>
                    <p:cond delay="0"/>
                  </p:stCondLst>
                  <p:childTnLst>
                    <p:set>
                      <p:cBhvr>
                        <p:cTn dur="1" fill="hold">
                          <p:stCondLst>
                            <p:cond delay="0"/>
                          </p:stCondLst>
                        </p:cTn>
                        <p:tgtEl>
                          <p:spTgt spid="15"/>
                        </p:tgtEl>
                        <p:attrNameLst>
                          <p:attrName>style.visibility</p:attrName>
                        </p:attrNameLst>
                      </p:cBhvr>
                      <p:to>
                        <p:strVal val="visible"/>
                      </p:to>
                    </p:set>
                  </p:childTnLst>
                </p:cTn>
              </p:par>
            </p:tnLst>
          </p:tmpl>
        </p:tmplLst>
      </p:bldP>
      <p:bldP spid="16" grpId="0" build="p">
        <p:tmplLst>
          <p:tmpl lvl="1">
            <p:tnLst>
              <p:par>
                <p:cTn presetID="1" presetClass="entr" presetSubtype="0" fill="hold" nodeType="clickEffect">
                  <p:stCondLst>
                    <p:cond delay="0"/>
                  </p:stCondLst>
                  <p:childTnLst>
                    <p:set>
                      <p:cBhvr>
                        <p:cTn dur="1" fill="hold">
                          <p:stCondLst>
                            <p:cond delay="0"/>
                          </p:stCondLst>
                        </p:cTn>
                        <p:tgtEl>
                          <p:spTgt spid="16"/>
                        </p:tgtEl>
                        <p:attrNameLst>
                          <p:attrName>style.visibility</p:attrName>
                        </p:attrNameLst>
                      </p:cBhvr>
                      <p:to>
                        <p:strVal val="visible"/>
                      </p:to>
                    </p:set>
                  </p:childTnLst>
                </p:cTn>
              </p:par>
            </p:tnLst>
          </p:tmpl>
        </p:tmplLst>
      </p:bldP>
      <p:bldP spid="17" grpId="0" build="p">
        <p:tmplLst>
          <p:tmpl lvl="1">
            <p:tnLst>
              <p:par>
                <p:cTn presetID="1" presetClass="entr" presetSubtype="0" fill="hold" nodeType="clickEffect">
                  <p:stCondLst>
                    <p:cond delay="0"/>
                  </p:stCondLst>
                  <p:childTnLst>
                    <p:set>
                      <p:cBhvr>
                        <p:cTn dur="1" fill="hold">
                          <p:stCondLst>
                            <p:cond delay="0"/>
                          </p:stCondLst>
                        </p:cTn>
                        <p:tgtEl>
                          <p:spTgt spid="17"/>
                        </p:tgtEl>
                        <p:attrNameLst>
                          <p:attrName>style.visibility</p:attrName>
                        </p:attrNameLst>
                      </p:cBhvr>
                      <p:to>
                        <p:strVal val="visible"/>
                      </p:to>
                    </p:set>
                  </p:childTnLst>
                </p:cTn>
              </p:par>
            </p:tnLst>
          </p:tmpl>
        </p:tmplLst>
      </p:bldP>
      <p:bldP spid="18" grpId="0" build="p">
        <p:tmplLst>
          <p:tmpl lvl="1">
            <p:tnLst>
              <p:par>
                <p:cTn presetID="1" presetClass="entr" presetSubtype="0" fill="hold" nodeType="clickEffect">
                  <p:stCondLst>
                    <p:cond delay="0"/>
                  </p:stCondLst>
                  <p:childTnLst>
                    <p:set>
                      <p:cBhvr>
                        <p:cTn dur="1" fill="hold">
                          <p:stCondLst>
                            <p:cond delay="0"/>
                          </p:stCondLst>
                        </p:cTn>
                        <p:tgtEl>
                          <p:spTgt spid="18"/>
                        </p:tgtEl>
                        <p:attrNameLst>
                          <p:attrName>style.visibility</p:attrName>
                        </p:attrNameLst>
                      </p:cBhvr>
                      <p:to>
                        <p:strVal val="visible"/>
                      </p:to>
                    </p:set>
                  </p:childTnLst>
                </p:cTn>
              </p:par>
            </p:tnLst>
          </p:tmpl>
        </p:tmplLst>
      </p:bldP>
      <p:bldP spid="19" grpId="0" build="p">
        <p:tmplLst>
          <p:tmpl lvl="1">
            <p:tnLst>
              <p:par>
                <p:cTn presetID="1" presetClass="entr" presetSubtype="0" fill="hold" nodeType="clickEffect">
                  <p:stCondLst>
                    <p:cond delay="0"/>
                  </p:stCondLst>
                  <p:childTnLst>
                    <p:set>
                      <p:cBhvr>
                        <p:cTn dur="1" fill="hold">
                          <p:stCondLst>
                            <p:cond delay="0"/>
                          </p:stCondLst>
                        </p:cTn>
                        <p:tgtEl>
                          <p:spTgt spid="19"/>
                        </p:tgtEl>
                        <p:attrNameLst>
                          <p:attrName>style.visibility</p:attrName>
                        </p:attrNameLst>
                      </p:cBhvr>
                      <p:to>
                        <p:strVal val="visible"/>
                      </p:to>
                    </p:set>
                  </p:childTnLst>
                </p:cTn>
              </p:par>
            </p:tnLst>
          </p:tmpl>
        </p:tmplLst>
      </p:bldP>
      <p:bldP spid="20" grpId="0" build="p">
        <p:tmplLst>
          <p:tmpl lvl="1">
            <p:tnLst>
              <p:par>
                <p:cTn presetID="1" presetClass="entr" presetSubtype="0" fill="hold" nodeType="clickEffect">
                  <p:stCondLst>
                    <p:cond delay="0"/>
                  </p:stCondLst>
                  <p:childTnLst>
                    <p:set>
                      <p:cBhvr>
                        <p:cTn dur="1" fill="hold">
                          <p:stCondLst>
                            <p:cond delay="0"/>
                          </p:stCondLst>
                        </p:cTn>
                        <p:tgtEl>
                          <p:spTgt spid="20"/>
                        </p:tgtEl>
                        <p:attrNameLst>
                          <p:attrName>style.visibility</p:attrName>
                        </p:attrNameLst>
                      </p:cBhvr>
                      <p:to>
                        <p:strVal val="visible"/>
                      </p:to>
                    </p:set>
                  </p:childTnLst>
                </p:cTn>
              </p:par>
            </p:tnLst>
          </p:tmpl>
        </p:tmplLst>
      </p:bldP>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R) Recite">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06066"/>
            <a:ext cx="1533525" cy="352426"/>
          </a:xfrm>
          <a:prstGeom prst="rect">
            <a:avLst/>
          </a:prstGeom>
          <a:solidFill>
            <a:srgbClr val="692B7D"/>
          </a:solidFill>
        </p:spPr>
        <p:txBody>
          <a:bodyPr wrap="square" rtlCol="0" anchor="ctr">
            <a:noAutofit/>
          </a:bodyPr>
          <a:lstStyle/>
          <a:p>
            <a:pPr algn="l"/>
            <a:r>
              <a:rPr lang="en-US" sz="1600" b="1" i="0" dirty="0">
                <a:solidFill>
                  <a:srgbClr val="FBCA58"/>
                </a:solidFill>
                <a:latin typeface="Century Gothic" panose="020B0502020202020204" pitchFamily="34" charset="0"/>
                <a:cs typeface="Futura Medium" panose="020B0602020204020303" pitchFamily="34" charset="-79"/>
              </a:rPr>
              <a:t>Recite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58432"/>
            <a:ext cx="8954305" cy="1914525"/>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Go over the steps they already know from this unit, or from relevant prior knowledge.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10072881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R)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19714"/>
            <a:ext cx="1533525" cy="352426"/>
          </a:xfrm>
          <a:prstGeom prst="rect">
            <a:avLst/>
          </a:prstGeom>
          <a:solidFill>
            <a:srgbClr val="692B7D"/>
          </a:solidFill>
        </p:spPr>
        <p:txBody>
          <a:bodyPr wrap="square" rtlCol="0" anchor="ctr">
            <a:noAutofit/>
          </a:bodyPr>
          <a:lstStyle/>
          <a:p>
            <a:pPr algn="l"/>
            <a:r>
              <a:rPr lang="en-US" sz="1600" b="1" i="0" dirty="0">
                <a:solidFill>
                  <a:srgbClr val="FBCA58"/>
                </a:solidFill>
                <a:latin typeface="Century Gothic" panose="020B0502020202020204" pitchFamily="34" charset="0"/>
                <a:cs typeface="Futura Medium" panose="020B0602020204020303" pitchFamily="34" charset="-79"/>
              </a:rPr>
              <a:t>Recall</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84190"/>
            <a:ext cx="8954305" cy="1900238"/>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Practicing the steps they already know together. This should be guided practice.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12945237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R) Apply">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19714"/>
            <a:ext cx="1533525" cy="352426"/>
          </a:xfrm>
          <a:prstGeom prst="rect">
            <a:avLst/>
          </a:prstGeom>
          <a:solidFill>
            <a:srgbClr val="692B7D"/>
          </a:solidFill>
        </p:spPr>
        <p:txBody>
          <a:bodyPr wrap="square" rtlCol="0" anchor="ctr">
            <a:noAutofit/>
          </a:bodyPr>
          <a:lstStyle/>
          <a:p>
            <a:pPr algn="l"/>
            <a:r>
              <a:rPr lang="en-US" sz="1600" b="1" i="0" dirty="0">
                <a:solidFill>
                  <a:srgbClr val="FBCA58"/>
                </a:solidFill>
                <a:latin typeface="Century Gothic" panose="020B0502020202020204" pitchFamily="34" charset="0"/>
                <a:cs typeface="Futura Medium" panose="020B0602020204020303" pitchFamily="34" charset="-79"/>
              </a:rPr>
              <a:t>Apply</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85599"/>
            <a:ext cx="8954305" cy="1985962"/>
          </a:xfrm>
          <a:prstGeom prst="rect">
            <a:avLst/>
          </a:prstGeom>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Quickly check that all students can still complete the previous steps learnt.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30282384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R)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17794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EI) 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692B7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692B7D"/>
                </a:solidFill>
                <a:latin typeface="Century Gothic" panose="020B0502020202020204" pitchFamily="34" charset="0"/>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0" name="Text Placeholder 9">
            <a:extLst>
              <a:ext uri="{FF2B5EF4-FFF2-40B4-BE49-F238E27FC236}">
                <a16:creationId xmlns:a16="http://schemas.microsoft.com/office/drawing/2014/main" id="{3A872705-675F-C243-9643-639EE2D96A8C}"/>
              </a:ext>
            </a:extLst>
          </p:cNvPr>
          <p:cNvSpPr>
            <a:spLocks noGrp="1"/>
          </p:cNvSpPr>
          <p:nvPr>
            <p:ph type="body" sz="quarter" idx="15" hasCustomPrompt="1"/>
          </p:nvPr>
        </p:nvSpPr>
        <p:spPr>
          <a:xfrm>
            <a:off x="390524" y="965946"/>
            <a:ext cx="9091613" cy="307181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b="1" i="0">
                <a:latin typeface="Century Gothic" panose="020B0502020202020204" pitchFamily="34" charset="0"/>
              </a:defRPr>
            </a:lvl1pPr>
          </a:lstStyle>
          <a:p>
            <a:pPr lvl="0"/>
            <a:r>
              <a:rPr lang="en-US" dirty="0"/>
              <a:t>Link previous learning, or a universal experience, to the topic being studied taught.  For example, key concepts already learnt in this unit, or something we all do in our lives that will connect to the learning.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a:p>
            <a:pPr lvl="0"/>
            <a:endParaRPr lang="en-US" dirty="0"/>
          </a:p>
        </p:txBody>
      </p:sp>
    </p:spTree>
    <p:extLst>
      <p:ext uri="{BB962C8B-B14F-4D97-AF65-F5344CB8AC3E}">
        <p14:creationId xmlns:p14="http://schemas.microsoft.com/office/powerpoint/2010/main" val="22202850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Generic Title Slide">
    <p:bg>
      <p:bgPr>
        <a:solidFill>
          <a:schemeClr val="bg1"/>
        </a:solidFill>
        <a:effectLst/>
      </p:bgPr>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601508" cy="2929609"/>
          </a:xfrm>
          <a:prstGeom prst="rect">
            <a:avLst/>
          </a:prstGeom>
          <a:solidFill>
            <a:srgbClr val="2E546D"/>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sp>
        <p:nvSpPr>
          <p:cNvPr id="3" name="Text Placeholder 2">
            <a:extLst>
              <a:ext uri="{FF2B5EF4-FFF2-40B4-BE49-F238E27FC236}">
                <a16:creationId xmlns:a16="http://schemas.microsoft.com/office/drawing/2014/main" id="{35918694-72DD-404C-BFE2-AE8FDFB6A47D}"/>
              </a:ext>
            </a:extLst>
          </p:cNvPr>
          <p:cNvSpPr>
            <a:spLocks noGrp="1"/>
          </p:cNvSpPr>
          <p:nvPr>
            <p:ph type="body" sz="quarter" idx="11" hasCustomPrompt="1"/>
          </p:nvPr>
        </p:nvSpPr>
        <p:spPr>
          <a:xfrm>
            <a:off x="295219" y="1019162"/>
            <a:ext cx="2630862" cy="538162"/>
          </a:xfrm>
          <a:prstGeom prst="rect">
            <a:avLst/>
          </a:prstGeom>
          <a:solidFill>
            <a:srgbClr val="2E546D"/>
          </a:solidFill>
        </p:spPr>
        <p:txBody>
          <a:bodyPr/>
          <a:lstStyle>
            <a:lvl1pPr marL="0" indent="0">
              <a:buNone/>
              <a:defRPr sz="3200" b="0"/>
            </a:lvl1pPr>
          </a:lstStyle>
          <a:p>
            <a:r>
              <a:rPr lang="en-US" sz="2800" b="1" i="0" dirty="0">
                <a:solidFill>
                  <a:srgbClr val="FBCA58"/>
                </a:solidFill>
                <a:latin typeface="Century Gothic" panose="020B0502020202020204" pitchFamily="34" charset="0"/>
                <a:cs typeface="Futura Medium" panose="020B0602020204020303" pitchFamily="34" charset="-79"/>
              </a:rPr>
              <a:t>Learning Goal</a:t>
            </a:r>
          </a:p>
        </p:txBody>
      </p:sp>
    </p:spTree>
    <p:extLst>
      <p:ext uri="{BB962C8B-B14F-4D97-AF65-F5344CB8AC3E}">
        <p14:creationId xmlns:p14="http://schemas.microsoft.com/office/powerpoint/2010/main" val="23702189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Generic Content Slid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FC000"/>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21" name="TextBox 20">
            <a:extLst>
              <a:ext uri="{FF2B5EF4-FFF2-40B4-BE49-F238E27FC236}">
                <a16:creationId xmlns:a16="http://schemas.microsoft.com/office/drawing/2014/main" id="{8057D734-81AA-2049-8345-B99B4BA91645}"/>
              </a:ext>
            </a:extLst>
          </p:cNvPr>
          <p:cNvSpPr txBox="1"/>
          <p:nvPr userDrawn="1"/>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
        <p:nvSpPr>
          <p:cNvPr id="5" name="Text Placeholder 4">
            <a:extLst>
              <a:ext uri="{FF2B5EF4-FFF2-40B4-BE49-F238E27FC236}">
                <a16:creationId xmlns:a16="http://schemas.microsoft.com/office/drawing/2014/main" id="{26005884-EA56-4A5F-8C82-1956C2ADF2F8}"/>
              </a:ext>
            </a:extLst>
          </p:cNvPr>
          <p:cNvSpPr>
            <a:spLocks noGrp="1"/>
          </p:cNvSpPr>
          <p:nvPr>
            <p:ph type="body" sz="quarter" idx="17" hasCustomPrompt="1"/>
          </p:nvPr>
        </p:nvSpPr>
        <p:spPr>
          <a:xfrm>
            <a:off x="295275" y="595269"/>
            <a:ext cx="3779478" cy="319722"/>
          </a:xfrm>
          <a:prstGeom prst="rect">
            <a:avLst/>
          </a:prstGeom>
          <a:solidFill>
            <a:srgbClr val="FBCA58"/>
          </a:solidFill>
        </p:spPr>
        <p:txBody>
          <a:bodyPr/>
          <a:lstStyle>
            <a:lvl1pPr marL="0" indent="0">
              <a:buNone/>
              <a:defRPr sz="1600" b="1">
                <a:solidFill>
                  <a:srgbClr val="2E546D"/>
                </a:solidFill>
                <a:latin typeface="+mj-lt"/>
              </a:defRPr>
            </a:lvl1pPr>
            <a:lvl2pPr>
              <a:defRPr sz="1800"/>
            </a:lvl2pPr>
            <a:lvl3pPr>
              <a:defRPr sz="1600"/>
            </a:lvl3pPr>
            <a:lvl4pPr>
              <a:defRPr sz="1400"/>
            </a:lvl4pPr>
            <a:lvl5pPr>
              <a:defRPr sz="1400"/>
            </a:lvl5pPr>
          </a:lstStyle>
          <a:p>
            <a:pPr lvl="0"/>
            <a:r>
              <a:rPr lang="en-US" dirty="0"/>
              <a:t>Type Subheading here</a:t>
            </a:r>
          </a:p>
        </p:txBody>
      </p:sp>
    </p:spTree>
    <p:extLst>
      <p:ext uri="{BB962C8B-B14F-4D97-AF65-F5344CB8AC3E}">
        <p14:creationId xmlns:p14="http://schemas.microsoft.com/office/powerpoint/2010/main" val="34852791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36460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o Now">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572219" cy="515262"/>
          </a:xfrm>
          <a:prstGeom prst="rect">
            <a:avLst/>
          </a:prstGeom>
          <a:solidFill>
            <a:srgbClr val="2E546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Do Now</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1867437" y="224237"/>
            <a:ext cx="10004958" cy="499682"/>
          </a:xfrm>
          <a:prstGeom prst="rect">
            <a:avLst/>
          </a:prstGeom>
          <a:solidFill>
            <a:schemeClr val="bg1"/>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Sit down and begin this task immediately.</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4092731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EI) Learning Goal Setup">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8" y="1011383"/>
            <a:ext cx="2364855" cy="538446"/>
          </a:xfrm>
          <a:prstGeom prst="rect">
            <a:avLst/>
          </a:prstGeom>
          <a:solidFill>
            <a:srgbClr val="2E546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Learning Goal</a:t>
            </a:r>
          </a:p>
        </p:txBody>
      </p:sp>
      <p:sp>
        <p:nvSpPr>
          <p:cNvPr id="9" name="TextBox 8">
            <a:extLst>
              <a:ext uri="{FF2B5EF4-FFF2-40B4-BE49-F238E27FC236}">
                <a16:creationId xmlns:a16="http://schemas.microsoft.com/office/drawing/2014/main" id="{DF9C2B4A-0943-CC42-BE38-4F715F7CAA2B}"/>
              </a:ext>
            </a:extLst>
          </p:cNvPr>
          <p:cNvSpPr txBox="1"/>
          <p:nvPr userDrawn="1"/>
        </p:nvSpPr>
        <p:spPr>
          <a:xfrm>
            <a:off x="517951" y="4565193"/>
            <a:ext cx="2734700" cy="1947917"/>
          </a:xfrm>
          <a:prstGeom prst="rect">
            <a:avLst/>
          </a:prstGeom>
          <a:noFill/>
        </p:spPr>
        <p:txBody>
          <a:bodyPr wrap="square" tIns="180000" rtlCol="0" anchor="t">
            <a:normAutofit/>
          </a:bodyPr>
          <a:lstStyle/>
          <a:p>
            <a:r>
              <a:rPr lang="en-US" sz="3600" b="1" i="0" dirty="0">
                <a:solidFill>
                  <a:srgbClr val="2E546D"/>
                </a:solidFill>
                <a:latin typeface="Calibri" panose="020F0502020204030204" pitchFamily="34" charset="0"/>
                <a:cs typeface="Calibri" panose="020F0502020204030204" pitchFamily="34" charset="0"/>
              </a:rPr>
              <a:t>Think </a:t>
            </a:r>
          </a:p>
          <a:p>
            <a:r>
              <a:rPr lang="en-US" sz="3600" b="1" i="0" dirty="0">
                <a:solidFill>
                  <a:srgbClr val="2E546D"/>
                </a:solidFill>
                <a:latin typeface="Calibri" panose="020F0502020204030204" pitchFamily="34" charset="0"/>
                <a:cs typeface="Calibri" panose="020F0502020204030204" pitchFamily="34" charset="0"/>
              </a:rPr>
              <a:t>Pair</a:t>
            </a:r>
          </a:p>
          <a:p>
            <a:r>
              <a:rPr lang="en-US" sz="3600" b="1" i="0" dirty="0">
                <a:solidFill>
                  <a:srgbClr val="2E546D"/>
                </a:solidFill>
                <a:latin typeface="Calibri" panose="020F0502020204030204" pitchFamily="34" charset="0"/>
                <a:cs typeface="Calibri" panose="020F0502020204030204" pitchFamily="34" charset="0"/>
              </a:rPr>
              <a:t>Share</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601508" cy="2929609"/>
          </a:xfrm>
          <a:prstGeom prst="rect">
            <a:avLst/>
          </a:prstGeom>
          <a:solidFill>
            <a:srgbClr val="2E546D"/>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252651" y="475428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2503526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xit" presetSubtype="0" fill="hold" grpId="1" nodeType="withEffect">
                                  <p:stCondLst>
                                    <p:cond delay="0"/>
                                  </p:stCondLst>
                                  <p:childTnLst>
                                    <p:set>
                                      <p:cBhvr>
                                        <p:cTn id="12"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earning Goal Simple">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8" y="1011383"/>
            <a:ext cx="2364855" cy="538446"/>
          </a:xfrm>
          <a:prstGeom prst="rect">
            <a:avLst/>
          </a:prstGeom>
          <a:solidFill>
            <a:srgbClr val="2E546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601508" cy="2929609"/>
          </a:xfrm>
          <a:prstGeom prst="rect">
            <a:avLst/>
          </a:prstGeom>
          <a:solidFill>
            <a:srgbClr val="2E546D"/>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spTree>
    <p:extLst>
      <p:ext uri="{BB962C8B-B14F-4D97-AF65-F5344CB8AC3E}">
        <p14:creationId xmlns:p14="http://schemas.microsoft.com/office/powerpoint/2010/main" val="40040971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EI)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2E546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FBCA58"/>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601564" cy="1150657"/>
          </a:xfrm>
          <a:prstGeom prst="rect">
            <a:avLst/>
          </a:prstGeom>
          <a:solidFill>
            <a:srgbClr val="2E546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2E546D"/>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8144513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EI)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5600" cy="515262"/>
          </a:xfrm>
          <a:prstGeom prst="rect">
            <a:avLst/>
          </a:prstGeom>
          <a:solidFill>
            <a:srgbClr val="2E546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601564" cy="1150657"/>
          </a:xfrm>
          <a:prstGeom prst="rect">
            <a:avLst/>
          </a:prstGeom>
          <a:solidFill>
            <a:srgbClr val="2E546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2F556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2F556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FBCA58"/>
          </a:solidFill>
          <a:ln>
            <a:noFill/>
          </a:ln>
        </p:spPr>
        <p:txBody>
          <a:bodyPr wrap="square" rtlCol="0" anchor="ctr">
            <a:normAutofit/>
          </a:bodyPr>
          <a:lstStyle/>
          <a:p>
            <a:r>
              <a:rPr lang="en-US" sz="2400" b="1" i="0" dirty="0">
                <a:solidFill>
                  <a:srgbClr val="2F556E"/>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2123652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EI)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5600" cy="515262"/>
          </a:xfrm>
          <a:prstGeom prst="rect">
            <a:avLst/>
          </a:prstGeom>
          <a:solidFill>
            <a:srgbClr val="2F556E"/>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FBCA58"/>
          </a:solidFill>
          <a:ln>
            <a:noFill/>
          </a:ln>
        </p:spPr>
        <p:txBody>
          <a:bodyPr wrap="square" rtlCol="0" anchor="ctr">
            <a:normAutofit/>
          </a:bodyPr>
          <a:lstStyle/>
          <a:p>
            <a:r>
              <a:rPr lang="en-US" sz="2400" b="1" i="0" dirty="0">
                <a:solidFill>
                  <a:srgbClr val="2F556E"/>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601564" cy="1150657"/>
          </a:xfrm>
          <a:prstGeom prst="rect">
            <a:avLst/>
          </a:prstGeom>
          <a:solidFill>
            <a:srgbClr val="2F556E"/>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2F556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190541380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EI) 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FC000"/>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0" name="Text Placeholder 9">
            <a:extLst>
              <a:ext uri="{FF2B5EF4-FFF2-40B4-BE49-F238E27FC236}">
                <a16:creationId xmlns:a16="http://schemas.microsoft.com/office/drawing/2014/main" id="{3A872705-675F-C243-9643-639EE2D96A8C}"/>
              </a:ext>
            </a:extLst>
          </p:cNvPr>
          <p:cNvSpPr>
            <a:spLocks noGrp="1"/>
          </p:cNvSpPr>
          <p:nvPr>
            <p:ph type="body" sz="quarter" idx="15" hasCustomPrompt="1"/>
          </p:nvPr>
        </p:nvSpPr>
        <p:spPr>
          <a:xfrm>
            <a:off x="390524" y="965946"/>
            <a:ext cx="9091613" cy="307181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b="1" i="0">
                <a:latin typeface="Century Gothic" panose="020B0502020202020204" pitchFamily="34" charset="0"/>
              </a:defRPr>
            </a:lvl1pPr>
          </a:lstStyle>
          <a:p>
            <a:pPr lvl="0"/>
            <a:r>
              <a:rPr lang="en-US" dirty="0"/>
              <a:t>Link previous learning, or a universal experience, to the topic being studied taught.  For example, key concepts already learnt in this unit, or something we all do in our lives that will connect to the learning.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a:p>
            <a:pPr lvl="0"/>
            <a:endParaRPr lang="en-US" dirty="0"/>
          </a:p>
        </p:txBody>
      </p:sp>
    </p:spTree>
    <p:extLst>
      <p:ext uri="{BB962C8B-B14F-4D97-AF65-F5344CB8AC3E}">
        <p14:creationId xmlns:p14="http://schemas.microsoft.com/office/powerpoint/2010/main" val="348194959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EI) Content Development">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93932381-72B7-B349-BBA8-6AFEB84E18A9}"/>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F989A473-568F-E948-8378-638693483165}"/>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Content Development</a:t>
            </a:r>
          </a:p>
        </p:txBody>
      </p:sp>
      <p:sp>
        <p:nvSpPr>
          <p:cNvPr id="3" name="Text Placeholder 2">
            <a:extLst>
              <a:ext uri="{FF2B5EF4-FFF2-40B4-BE49-F238E27FC236}">
                <a16:creationId xmlns:a16="http://schemas.microsoft.com/office/drawing/2014/main" id="{67489761-345C-4546-B69F-7F767EEB19E6}"/>
              </a:ext>
            </a:extLst>
          </p:cNvPr>
          <p:cNvSpPr>
            <a:spLocks noGrp="1"/>
          </p:cNvSpPr>
          <p:nvPr>
            <p:ph type="body" sz="quarter" idx="15" hasCustomPrompt="1"/>
          </p:nvPr>
        </p:nvSpPr>
        <p:spPr>
          <a:xfrm>
            <a:off x="397668" y="965946"/>
            <a:ext cx="9077325" cy="1885950"/>
          </a:xfrm>
          <a:prstGeom prst="rect">
            <a:avLst/>
          </a:prstGeom>
        </p:spPr>
        <p:txBody>
          <a:bodyPr/>
          <a:lstStyle>
            <a:lvl1pPr marL="0" indent="0">
              <a:buNone/>
              <a:defRPr sz="2800" b="1" i="0">
                <a:latin typeface="Century Gothic" panose="020B0502020202020204" pitchFamily="34" charset="0"/>
              </a:defRPr>
            </a:lvl1pPr>
          </a:lstStyle>
          <a:p>
            <a:pPr lvl="0"/>
            <a:r>
              <a:rPr lang="en-US" dirty="0"/>
              <a:t>The teacher explains the concepts and steps that lead to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34894422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EI) Skill Development with Guided Practice">
    <p:spTree>
      <p:nvGrpSpPr>
        <p:cNvPr id="1" name=""/>
        <p:cNvGrpSpPr/>
        <p:nvPr/>
      </p:nvGrpSpPr>
      <p:grpSpPr>
        <a:xfrm>
          <a:off x="0" y="0"/>
          <a:ext cx="0" cy="0"/>
          <a:chOff x="0" y="0"/>
          <a:chExt cx="0" cy="0"/>
        </a:xfrm>
      </p:grpSpPr>
      <p:sp>
        <p:nvSpPr>
          <p:cNvPr id="8" name="Text Placeholder 37">
            <a:extLst>
              <a:ext uri="{FF2B5EF4-FFF2-40B4-BE49-F238E27FC236}">
                <a16:creationId xmlns:a16="http://schemas.microsoft.com/office/drawing/2014/main" id="{AA64D5DD-9491-7244-8D83-7F535F058A54}"/>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9" name="TextBox 8">
            <a:extLst>
              <a:ext uri="{FF2B5EF4-FFF2-40B4-BE49-F238E27FC236}">
                <a16:creationId xmlns:a16="http://schemas.microsoft.com/office/drawing/2014/main" id="{FEC8520F-CB36-4A45-A44F-F23C38DF4554}"/>
              </a:ext>
            </a:extLst>
          </p:cNvPr>
          <p:cNvSpPr txBox="1"/>
          <p:nvPr userDrawn="1"/>
        </p:nvSpPr>
        <p:spPr>
          <a:xfrm>
            <a:off x="295275" y="590550"/>
            <a:ext cx="4199996" cy="352425"/>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Skill Development with Guided Practice</a:t>
            </a:r>
          </a:p>
        </p:txBody>
      </p:sp>
      <p:sp>
        <p:nvSpPr>
          <p:cNvPr id="10" name="Text Placeholder 2">
            <a:extLst>
              <a:ext uri="{FF2B5EF4-FFF2-40B4-BE49-F238E27FC236}">
                <a16:creationId xmlns:a16="http://schemas.microsoft.com/office/drawing/2014/main" id="{CF0F374D-B3C3-694C-9E4C-49E7305FA052}"/>
              </a:ext>
            </a:extLst>
          </p:cNvPr>
          <p:cNvSpPr>
            <a:spLocks noGrp="1"/>
          </p:cNvSpPr>
          <p:nvPr>
            <p:ph type="body" sz="quarter" idx="15" hasCustomPrompt="1"/>
          </p:nvPr>
        </p:nvSpPr>
        <p:spPr>
          <a:xfrm>
            <a:off x="397668" y="1067135"/>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Go through the steps one by one that will guide the students to the learning goal. Ensure the students are involved so that you can check for understanding.</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1780312292"/>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EI) Lesson Closure">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FCE3226E-4E89-B94B-8392-37AA41A2503C}"/>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11" name="TextBox 10">
            <a:extLst>
              <a:ext uri="{FF2B5EF4-FFF2-40B4-BE49-F238E27FC236}">
                <a16:creationId xmlns:a16="http://schemas.microsoft.com/office/drawing/2014/main" id="{CFD1FBC2-8B0A-054F-BD50-5A1E77153844}"/>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Lesson Closure</a:t>
            </a:r>
          </a:p>
        </p:txBody>
      </p:sp>
      <p:sp>
        <p:nvSpPr>
          <p:cNvPr id="12" name="Text Placeholder 2">
            <a:extLst>
              <a:ext uri="{FF2B5EF4-FFF2-40B4-BE49-F238E27FC236}">
                <a16:creationId xmlns:a16="http://schemas.microsoft.com/office/drawing/2014/main" id="{9ABE9B17-B75E-C845-8C05-25DEB214B5BE}"/>
              </a:ext>
            </a:extLst>
          </p:cNvPr>
          <p:cNvSpPr>
            <a:spLocks noGrp="1"/>
          </p:cNvSpPr>
          <p:nvPr>
            <p:ph type="body" sz="quarter" idx="15" hasCustomPrompt="1"/>
          </p:nvPr>
        </p:nvSpPr>
        <p:spPr>
          <a:xfrm>
            <a:off x="397668" y="999954"/>
            <a:ext cx="9077325" cy="2314576"/>
          </a:xfrm>
          <a:prstGeom prst="rect">
            <a:avLst/>
          </a:prstGeom>
        </p:spPr>
        <p:txBody>
          <a:bodyPr/>
          <a:lstStyle>
            <a:lvl1pPr marL="0" indent="0">
              <a:buNone/>
              <a:defRPr sz="2800" b="1" i="0">
                <a:latin typeface="Century Gothic" panose="020B0502020202020204" pitchFamily="34" charset="0"/>
              </a:defRPr>
            </a:lvl1pPr>
          </a:lstStyle>
          <a:p>
            <a:pPr lvl="0"/>
            <a:r>
              <a:rPr lang="en-US" dirty="0"/>
              <a:t>Have students answer questions, explain a concept, complete an equation, </a:t>
            </a:r>
            <a:r>
              <a:rPr lang="en-US" dirty="0" err="1"/>
              <a:t>etc</a:t>
            </a:r>
            <a:r>
              <a:rPr lang="en-US" dirty="0"/>
              <a:t> to show they have reached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3772040135"/>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EI) Relevanc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FC000"/>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199EBB26-204F-A049-A589-CBB9A02C05F4}"/>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Relevance</a:t>
            </a:r>
          </a:p>
        </p:txBody>
      </p:sp>
      <p:sp>
        <p:nvSpPr>
          <p:cNvPr id="21" name="TextBox 20">
            <a:extLst>
              <a:ext uri="{FF2B5EF4-FFF2-40B4-BE49-F238E27FC236}">
                <a16:creationId xmlns:a16="http://schemas.microsoft.com/office/drawing/2014/main" id="{8057D734-81AA-2049-8345-B99B4BA91645}"/>
              </a:ext>
            </a:extLst>
          </p:cNvPr>
          <p:cNvSpPr txBox="1"/>
          <p:nvPr userDrawn="1"/>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74904949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EI) Learning Goal Complet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9" y="1053881"/>
            <a:ext cx="2350999" cy="495947"/>
          </a:xfrm>
          <a:prstGeom prst="rect">
            <a:avLst/>
          </a:prstGeom>
          <a:solidFill>
            <a:srgbClr val="2E546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2E546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065316" y="473523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36172997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EI) Independant Practice">
    <p:spTree>
      <p:nvGrpSpPr>
        <p:cNvPr id="1" name=""/>
        <p:cNvGrpSpPr/>
        <p:nvPr/>
      </p:nvGrpSpPr>
      <p:grpSpPr>
        <a:xfrm>
          <a:off x="0" y="0"/>
          <a:ext cx="0" cy="0"/>
          <a:chOff x="0" y="0"/>
          <a:chExt cx="0" cy="0"/>
        </a:xfrm>
      </p:grpSpPr>
      <p:sp>
        <p:nvSpPr>
          <p:cNvPr id="6" name="Text Placeholder 37">
            <a:extLst>
              <a:ext uri="{FF2B5EF4-FFF2-40B4-BE49-F238E27FC236}">
                <a16:creationId xmlns:a16="http://schemas.microsoft.com/office/drawing/2014/main" id="{BA5CBAB5-B25F-4B4C-804A-AD021B9010E4}"/>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7" name="TextBox 6">
            <a:extLst>
              <a:ext uri="{FF2B5EF4-FFF2-40B4-BE49-F238E27FC236}">
                <a16:creationId xmlns:a16="http://schemas.microsoft.com/office/drawing/2014/main" id="{B7D226EA-4EBE-2F4F-B4B3-8C66D44A3FDC}"/>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Independent Practice</a:t>
            </a:r>
          </a:p>
        </p:txBody>
      </p:sp>
      <p:sp>
        <p:nvSpPr>
          <p:cNvPr id="10" name="Text Placeholder 2">
            <a:extLst>
              <a:ext uri="{FF2B5EF4-FFF2-40B4-BE49-F238E27FC236}">
                <a16:creationId xmlns:a16="http://schemas.microsoft.com/office/drawing/2014/main" id="{2F2AA107-37A0-6640-94E6-ADA5A39A9FA3}"/>
              </a:ext>
            </a:extLst>
          </p:cNvPr>
          <p:cNvSpPr>
            <a:spLocks noGrp="1"/>
          </p:cNvSpPr>
          <p:nvPr>
            <p:ph type="body" sz="quarter" idx="15" hasCustomPrompt="1"/>
          </p:nvPr>
        </p:nvSpPr>
        <p:spPr>
          <a:xfrm>
            <a:off x="397668" y="1002771"/>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Once the students have reached the learning goal create activities that have them practice the exact skill that has just been taught. This section can be differentiated.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42881814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image" Target="../media/image1.jpe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theme" Target="../theme/theme2.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ACB8789-C5D7-6249-9847-EB3816E191ED}"/>
              </a:ext>
            </a:extLst>
          </p:cNvPr>
          <p:cNvSpPr/>
          <p:nvPr userDrawn="1"/>
        </p:nvSpPr>
        <p:spPr>
          <a:xfrm>
            <a:off x="0" y="0"/>
            <a:ext cx="12192000" cy="6858000"/>
          </a:xfrm>
          <a:prstGeom prst="rect">
            <a:avLst/>
          </a:prstGeom>
          <a:solidFill>
            <a:srgbClr val="692B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886F1C9-C15E-0448-B006-3ECFAB54CD2D}"/>
              </a:ext>
            </a:extLst>
          </p:cNvPr>
          <p:cNvSpPr/>
          <p:nvPr userDrawn="1"/>
        </p:nvSpPr>
        <p:spPr>
          <a:xfrm>
            <a:off x="-66676" y="221673"/>
            <a:ext cx="12258675"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a:extLst>
              <a:ext uri="{FF2B5EF4-FFF2-40B4-BE49-F238E27FC236}">
                <a16:creationId xmlns:a16="http://schemas.microsoft.com/office/drawing/2014/main" id="{C4F9A874-5CE1-8647-AFA9-BD43474DD64E}"/>
              </a:ext>
            </a:extLst>
          </p:cNvPr>
          <p:cNvPicPr>
            <a:picLocks noChangeAspect="1"/>
          </p:cNvPicPr>
          <p:nvPr userDrawn="1"/>
        </p:nvPicPr>
        <p:blipFill>
          <a:blip r:embed="rId14"/>
          <a:stretch>
            <a:fillRect/>
          </a:stretch>
        </p:blipFill>
        <p:spPr>
          <a:xfrm>
            <a:off x="10640451" y="6085119"/>
            <a:ext cx="1168470" cy="509380"/>
          </a:xfrm>
          <a:prstGeom prst="rect">
            <a:avLst/>
          </a:prstGeom>
        </p:spPr>
      </p:pic>
    </p:spTree>
    <p:extLst>
      <p:ext uri="{BB962C8B-B14F-4D97-AF65-F5344CB8AC3E}">
        <p14:creationId xmlns:p14="http://schemas.microsoft.com/office/powerpoint/2010/main" val="4030593586"/>
      </p:ext>
    </p:extLst>
  </p:cSld>
  <p:clrMap bg1="lt1" tx1="dk1" bg2="lt2" tx2="dk2" accent1="accent1" accent2="accent2" accent3="accent3" accent4="accent4" accent5="accent5" accent6="accent6" hlink="hlink" folHlink="folHlink"/>
  <p:sldLayoutIdLst>
    <p:sldLayoutId id="2147484258" r:id="rId1"/>
    <p:sldLayoutId id="2147484233" r:id="rId2"/>
    <p:sldLayoutId id="2147484234" r:id="rId3"/>
    <p:sldLayoutId id="2147484235" r:id="rId4"/>
    <p:sldLayoutId id="2147484236" r:id="rId5"/>
    <p:sldLayoutId id="2147484257" r:id="rId6"/>
    <p:sldLayoutId id="2147484255" r:id="rId7"/>
    <p:sldLayoutId id="2147484237" r:id="rId8"/>
    <p:sldLayoutId id="2147484238" r:id="rId9"/>
    <p:sldLayoutId id="2147484239" r:id="rId10"/>
    <p:sldLayoutId id="2147484240" r:id="rId11"/>
    <p:sldLayoutId id="214748429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3AA52D-1531-D74F-B0A5-6078D4C9110F}"/>
              </a:ext>
            </a:extLst>
          </p:cNvPr>
          <p:cNvSpPr/>
          <p:nvPr userDrawn="1"/>
        </p:nvSpPr>
        <p:spPr>
          <a:xfrm>
            <a:off x="0" y="0"/>
            <a:ext cx="12192000" cy="6858000"/>
          </a:xfrm>
          <a:prstGeom prst="rect">
            <a:avLst/>
          </a:prstGeom>
          <a:solidFill>
            <a:srgbClr val="2E54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3BC489FE-D005-E249-B3C3-A41B78A14714}"/>
              </a:ext>
            </a:extLst>
          </p:cNvPr>
          <p:cNvSpPr/>
          <p:nvPr userDrawn="1"/>
        </p:nvSpPr>
        <p:spPr>
          <a:xfrm>
            <a:off x="0" y="221672"/>
            <a:ext cx="12192000" cy="63728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9DC76C98-0227-3747-80B1-ED384456CDE8}"/>
              </a:ext>
            </a:extLst>
          </p:cNvPr>
          <p:cNvPicPr>
            <a:picLocks noChangeAspect="1"/>
          </p:cNvPicPr>
          <p:nvPr userDrawn="1"/>
        </p:nvPicPr>
        <p:blipFill>
          <a:blip r:embed="rId18"/>
          <a:stretch>
            <a:fillRect/>
          </a:stretch>
        </p:blipFill>
        <p:spPr>
          <a:xfrm>
            <a:off x="10640451" y="6085119"/>
            <a:ext cx="1168470" cy="509380"/>
          </a:xfrm>
          <a:prstGeom prst="rect">
            <a:avLst/>
          </a:prstGeom>
        </p:spPr>
      </p:pic>
    </p:spTree>
    <p:extLst>
      <p:ext uri="{BB962C8B-B14F-4D97-AF65-F5344CB8AC3E}">
        <p14:creationId xmlns:p14="http://schemas.microsoft.com/office/powerpoint/2010/main" val="288887113"/>
      </p:ext>
    </p:extLst>
  </p:cSld>
  <p:clrMap bg1="lt1" tx1="dk1" bg2="lt2" tx2="dk2" accent1="accent1" accent2="accent2" accent3="accent3" accent4="accent4" accent5="accent5" accent6="accent6" hlink="hlink" folHlink="folHlink"/>
  <p:sldLayoutIdLst>
    <p:sldLayoutId id="2147484294" r:id="rId1"/>
    <p:sldLayoutId id="2147484295" r:id="rId2"/>
    <p:sldLayoutId id="2147484288" r:id="rId3"/>
    <p:sldLayoutId id="2147484275" r:id="rId4"/>
    <p:sldLayoutId id="2147484276" r:id="rId5"/>
    <p:sldLayoutId id="2147484293" r:id="rId6"/>
    <p:sldLayoutId id="2147484277" r:id="rId7"/>
    <p:sldLayoutId id="2147484278" r:id="rId8"/>
    <p:sldLayoutId id="2147484279" r:id="rId9"/>
    <p:sldLayoutId id="2147484280" r:id="rId10"/>
    <p:sldLayoutId id="2147484281" r:id="rId11"/>
    <p:sldLayoutId id="2147484282" r:id="rId12"/>
    <p:sldLayoutId id="2147484283" r:id="rId13"/>
    <p:sldLayoutId id="2147484284" r:id="rId14"/>
    <p:sldLayoutId id="2147484285" r:id="rId15"/>
    <p:sldLayoutId id="2147484286"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4.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4.xml"/><Relationship Id="rId1" Type="http://schemas.openxmlformats.org/officeDocument/2006/relationships/video" Target="https://www.youtube.com/embed/6PEGXn34_ig?feature=oembed" TargetMode="External"/><Relationship Id="rId4" Type="http://schemas.openxmlformats.org/officeDocument/2006/relationships/image" Target="../media/image9.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4.xml"/><Relationship Id="rId1" Type="http://schemas.openxmlformats.org/officeDocument/2006/relationships/video" Target="https://www.youtube.com/embed/yI987x8UXsk?start=263&amp;feature=oembed" TargetMode="External"/><Relationship Id="rId4" Type="http://schemas.openxmlformats.org/officeDocument/2006/relationships/image" Target="../media/image10.jpeg"/></Relationships>
</file>

<file path=ppt/slides/_rels/slide9.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4.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4.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4.xml"/><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14.xml"/><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Magnetic fields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2" name="Text Placeholder 3">
            <a:extLst>
              <a:ext uri="{FF2B5EF4-FFF2-40B4-BE49-F238E27FC236}">
                <a16:creationId xmlns:a16="http://schemas.microsoft.com/office/drawing/2014/main" id="{F6AEE6B5-64BD-46D1-A050-038FF25910D9}"/>
              </a:ext>
            </a:extLst>
          </p:cNvPr>
          <p:cNvSpPr txBox="1">
            <a:spLocks/>
          </p:cNvSpPr>
          <p:nvPr/>
        </p:nvSpPr>
        <p:spPr>
          <a:xfrm>
            <a:off x="214867" y="1007686"/>
            <a:ext cx="114437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buFont typeface="Arial" panose="020B0604020202020204" pitchFamily="34" charset="0"/>
              <a:buChar char="•"/>
            </a:pPr>
            <a:r>
              <a:rPr lang="en-AU" sz="2400" b="0" dirty="0"/>
              <a:t>Draw the magnetic field of the Earth</a:t>
            </a:r>
          </a:p>
          <a:p>
            <a:pPr marL="1028700" lvl="1" indent="-342900" algn="just"/>
            <a:r>
              <a:rPr lang="en-AU" sz="2000" b="0" dirty="0"/>
              <a:t>Think about what a magnetic field line means </a:t>
            </a:r>
          </a:p>
          <a:p>
            <a:pPr lvl="1" indent="0" algn="just">
              <a:buNone/>
            </a:pPr>
            <a:r>
              <a:rPr lang="en-AU" sz="2000" dirty="0"/>
              <a:t>				</a:t>
            </a:r>
            <a:r>
              <a:rPr lang="en-AU" sz="2000" b="0" dirty="0"/>
              <a:t>(where does the North pole of a compass point?)</a:t>
            </a:r>
          </a:p>
          <a:p>
            <a:pPr marL="342900" indent="-342900" algn="just">
              <a:buFont typeface="Arial" panose="020B0604020202020204" pitchFamily="34" charset="0"/>
              <a:buChar char="•"/>
            </a:pPr>
            <a:endParaRPr lang="en-AU" sz="2400" b="0" dirty="0"/>
          </a:p>
          <a:p>
            <a:pPr marL="342900" indent="-342900" algn="just">
              <a:buFont typeface="Arial" panose="020B0604020202020204" pitchFamily="34" charset="0"/>
              <a:buChar char="•"/>
            </a:pPr>
            <a:endParaRPr lang="en-AU" sz="2400" b="0" dirty="0"/>
          </a:p>
          <a:p>
            <a:pPr marL="342900" indent="-342900" algn="just">
              <a:buFont typeface="Arial" panose="020B0604020202020204" pitchFamily="34" charset="0"/>
              <a:buChar char="•"/>
            </a:pPr>
            <a:endParaRPr lang="en-AU" sz="2400" b="0" dirty="0"/>
          </a:p>
          <a:p>
            <a:pPr marL="342900" indent="-342900" algn="just">
              <a:buFont typeface="Arial" panose="020B0604020202020204" pitchFamily="34" charset="0"/>
              <a:buChar char="•"/>
            </a:pPr>
            <a:endParaRPr lang="en-AU" sz="2400" b="0" dirty="0"/>
          </a:p>
          <a:p>
            <a:pPr marL="342900" indent="-342900" algn="just">
              <a:buFont typeface="Arial" panose="020B0604020202020204" pitchFamily="34" charset="0"/>
              <a:buChar char="•"/>
            </a:pPr>
            <a:endParaRPr lang="en-AU" sz="2400" b="0" dirty="0"/>
          </a:p>
          <a:p>
            <a:pPr marL="342900" indent="-342900" algn="just">
              <a:buFont typeface="Arial" panose="020B0604020202020204" pitchFamily="34" charset="0"/>
              <a:buChar char="•"/>
            </a:pPr>
            <a:endParaRPr lang="en-AU" sz="2400" b="0" dirty="0"/>
          </a:p>
          <a:p>
            <a:pPr marL="342900" indent="-342900" algn="just">
              <a:buFont typeface="Arial" panose="020B0604020202020204" pitchFamily="34" charset="0"/>
              <a:buChar char="•"/>
            </a:pPr>
            <a:endParaRPr lang="en-AU" sz="2400" b="0" dirty="0"/>
          </a:p>
          <a:p>
            <a:pPr lvl="1" indent="0" algn="just">
              <a:buNone/>
            </a:pPr>
            <a:endParaRPr lang="en-AU" sz="2000" dirty="0"/>
          </a:p>
        </p:txBody>
      </p:sp>
      <p:pic>
        <p:nvPicPr>
          <p:cNvPr id="6" name="Picture 5">
            <a:extLst>
              <a:ext uri="{FF2B5EF4-FFF2-40B4-BE49-F238E27FC236}">
                <a16:creationId xmlns:a16="http://schemas.microsoft.com/office/drawing/2014/main" id="{D46E7B3F-55D6-EB7F-201F-43657CA56424}"/>
              </a:ext>
            </a:extLst>
          </p:cNvPr>
          <p:cNvPicPr>
            <a:picLocks noChangeAspect="1"/>
          </p:cNvPicPr>
          <p:nvPr/>
        </p:nvPicPr>
        <p:blipFill>
          <a:blip r:embed="rId3"/>
          <a:stretch>
            <a:fillRect/>
          </a:stretch>
        </p:blipFill>
        <p:spPr>
          <a:xfrm rot="1020000">
            <a:off x="2201154" y="2861283"/>
            <a:ext cx="3090223" cy="2793562"/>
          </a:xfrm>
          <a:prstGeom prst="rect">
            <a:avLst/>
          </a:prstGeom>
        </p:spPr>
      </p:pic>
    </p:spTree>
    <p:extLst>
      <p:ext uri="{BB962C8B-B14F-4D97-AF65-F5344CB8AC3E}">
        <p14:creationId xmlns:p14="http://schemas.microsoft.com/office/powerpoint/2010/main" val="4123806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DFDC551-733E-9519-8CF0-EB53480FFEB8}"/>
              </a:ext>
            </a:extLst>
          </p:cNvPr>
          <p:cNvSpPr/>
          <p:nvPr/>
        </p:nvSpPr>
        <p:spPr>
          <a:xfrm>
            <a:off x="10333065" y="6057782"/>
            <a:ext cx="1804988" cy="49160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Magnetic fields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2" name="Text Placeholder 3">
            <a:extLst>
              <a:ext uri="{FF2B5EF4-FFF2-40B4-BE49-F238E27FC236}">
                <a16:creationId xmlns:a16="http://schemas.microsoft.com/office/drawing/2014/main" id="{F6AEE6B5-64BD-46D1-A050-038FF25910D9}"/>
              </a:ext>
            </a:extLst>
          </p:cNvPr>
          <p:cNvSpPr txBox="1">
            <a:spLocks/>
          </p:cNvSpPr>
          <p:nvPr/>
        </p:nvSpPr>
        <p:spPr>
          <a:xfrm>
            <a:off x="214867" y="1007686"/>
            <a:ext cx="114437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buFont typeface="Arial" panose="020B0604020202020204" pitchFamily="34" charset="0"/>
              <a:buChar char="•"/>
            </a:pPr>
            <a:r>
              <a:rPr lang="en-AU" sz="2400" b="0" dirty="0"/>
              <a:t>The magnetic field lines at the magnetic poles is similar to the gravitational field lines at the surface of the Earth – they act parallel but at an angle to the surface</a:t>
            </a:r>
          </a:p>
          <a:p>
            <a:pPr marL="342900" indent="-342900" algn="just">
              <a:buFont typeface="Arial" panose="020B0604020202020204" pitchFamily="34" charset="0"/>
              <a:buChar char="•"/>
            </a:pPr>
            <a:endParaRPr lang="en-AU" sz="2400" b="0" dirty="0"/>
          </a:p>
          <a:p>
            <a:pPr marL="342900" indent="-342900" algn="just">
              <a:buFont typeface="Arial" panose="020B0604020202020204" pitchFamily="34" charset="0"/>
              <a:buChar char="•"/>
            </a:pPr>
            <a:endParaRPr lang="en-AU" sz="2400" b="0" dirty="0"/>
          </a:p>
          <a:p>
            <a:pPr marL="342900" indent="-342900" algn="just">
              <a:buFont typeface="Arial" panose="020B0604020202020204" pitchFamily="34" charset="0"/>
              <a:buChar char="•"/>
            </a:pPr>
            <a:endParaRPr lang="en-AU" sz="2400" b="0" dirty="0"/>
          </a:p>
          <a:p>
            <a:pPr marL="342900" indent="-342900" algn="just">
              <a:buFont typeface="Arial" panose="020B0604020202020204" pitchFamily="34" charset="0"/>
              <a:buChar char="•"/>
            </a:pPr>
            <a:endParaRPr lang="en-AU" sz="2400" b="0" dirty="0"/>
          </a:p>
          <a:p>
            <a:pPr marL="342900" indent="-342900" algn="just">
              <a:buFont typeface="Arial" panose="020B0604020202020204" pitchFamily="34" charset="0"/>
              <a:buChar char="•"/>
            </a:pPr>
            <a:endParaRPr lang="en-AU" sz="2400" b="0" dirty="0"/>
          </a:p>
          <a:p>
            <a:pPr marL="342900" indent="-342900" algn="just">
              <a:buFont typeface="Arial" panose="020B0604020202020204" pitchFamily="34" charset="0"/>
              <a:buChar char="•"/>
            </a:pPr>
            <a:endParaRPr lang="en-AU" sz="2400" b="0" dirty="0"/>
          </a:p>
          <a:p>
            <a:pPr marL="342900" indent="-342900" algn="just">
              <a:buFont typeface="Arial" panose="020B0604020202020204" pitchFamily="34" charset="0"/>
              <a:buChar char="•"/>
            </a:pPr>
            <a:endParaRPr lang="en-AU" sz="2400" b="0" dirty="0"/>
          </a:p>
          <a:p>
            <a:pPr lvl="1" indent="0" algn="just">
              <a:buNone/>
            </a:pPr>
            <a:endParaRPr lang="en-AU" sz="2000" dirty="0"/>
          </a:p>
        </p:txBody>
      </p:sp>
      <p:pic>
        <p:nvPicPr>
          <p:cNvPr id="6" name="Picture 5">
            <a:extLst>
              <a:ext uri="{FF2B5EF4-FFF2-40B4-BE49-F238E27FC236}">
                <a16:creationId xmlns:a16="http://schemas.microsoft.com/office/drawing/2014/main" id="{D46E7B3F-55D6-EB7F-201F-43657CA56424}"/>
              </a:ext>
            </a:extLst>
          </p:cNvPr>
          <p:cNvPicPr>
            <a:picLocks noChangeAspect="1"/>
          </p:cNvPicPr>
          <p:nvPr/>
        </p:nvPicPr>
        <p:blipFill>
          <a:blip r:embed="rId3"/>
          <a:stretch>
            <a:fillRect/>
          </a:stretch>
        </p:blipFill>
        <p:spPr>
          <a:xfrm rot="1020000">
            <a:off x="555732" y="2666037"/>
            <a:ext cx="3090223" cy="2793562"/>
          </a:xfrm>
          <a:prstGeom prst="rect">
            <a:avLst/>
          </a:prstGeom>
        </p:spPr>
      </p:pic>
      <p:sp>
        <p:nvSpPr>
          <p:cNvPr id="3" name="Rectangle 2">
            <a:extLst>
              <a:ext uri="{FF2B5EF4-FFF2-40B4-BE49-F238E27FC236}">
                <a16:creationId xmlns:a16="http://schemas.microsoft.com/office/drawing/2014/main" id="{B311550B-325D-0DE4-A09F-D64135D58711}"/>
              </a:ext>
            </a:extLst>
          </p:cNvPr>
          <p:cNvSpPr/>
          <p:nvPr/>
        </p:nvSpPr>
        <p:spPr>
          <a:xfrm>
            <a:off x="4411980" y="5337810"/>
            <a:ext cx="3589020" cy="137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Rectangle 7">
            <a:extLst>
              <a:ext uri="{FF2B5EF4-FFF2-40B4-BE49-F238E27FC236}">
                <a16:creationId xmlns:a16="http://schemas.microsoft.com/office/drawing/2014/main" id="{9F2856BC-0678-8D8B-C02D-00A171815457}"/>
              </a:ext>
            </a:extLst>
          </p:cNvPr>
          <p:cNvSpPr/>
          <p:nvPr/>
        </p:nvSpPr>
        <p:spPr>
          <a:xfrm>
            <a:off x="8388114" y="5337810"/>
            <a:ext cx="3589020" cy="137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TextBox 4">
            <a:extLst>
              <a:ext uri="{FF2B5EF4-FFF2-40B4-BE49-F238E27FC236}">
                <a16:creationId xmlns:a16="http://schemas.microsoft.com/office/drawing/2014/main" id="{AF649A15-743A-0711-C00D-AF7DFC310481}"/>
              </a:ext>
            </a:extLst>
          </p:cNvPr>
          <p:cNvSpPr txBox="1"/>
          <p:nvPr/>
        </p:nvSpPr>
        <p:spPr>
          <a:xfrm>
            <a:off x="4766310" y="5630198"/>
            <a:ext cx="3234690" cy="146744"/>
          </a:xfrm>
          <a:prstGeom prst="rect">
            <a:avLst/>
          </a:prstGeom>
          <a:noFill/>
          <a:ln>
            <a:noFill/>
          </a:ln>
        </p:spPr>
        <p:txBody>
          <a:bodyPr wrap="square" rtlCol="0" anchor="t" anchorCtr="0">
            <a:noAutofit/>
          </a:bodyPr>
          <a:lstStyle/>
          <a:p>
            <a:pPr algn="l"/>
            <a:r>
              <a:rPr lang="en-AU" sz="2400" b="1" dirty="0">
                <a:latin typeface="Century Gothic" panose="020B0502020202020204" pitchFamily="34" charset="0"/>
                <a:cs typeface="Futura Medium" panose="020B0602020204020303" pitchFamily="34" charset="-79"/>
              </a:rPr>
              <a:t>Geographic North</a:t>
            </a:r>
          </a:p>
        </p:txBody>
      </p:sp>
      <p:sp>
        <p:nvSpPr>
          <p:cNvPr id="10" name="TextBox 9">
            <a:extLst>
              <a:ext uri="{FF2B5EF4-FFF2-40B4-BE49-F238E27FC236}">
                <a16:creationId xmlns:a16="http://schemas.microsoft.com/office/drawing/2014/main" id="{A3B801F5-0E71-4EA9-2A4F-3D65078FDEA5}"/>
              </a:ext>
            </a:extLst>
          </p:cNvPr>
          <p:cNvSpPr txBox="1"/>
          <p:nvPr/>
        </p:nvSpPr>
        <p:spPr>
          <a:xfrm>
            <a:off x="8780489" y="5635854"/>
            <a:ext cx="3234690" cy="146744"/>
          </a:xfrm>
          <a:prstGeom prst="rect">
            <a:avLst/>
          </a:prstGeom>
          <a:noFill/>
          <a:ln>
            <a:noFill/>
          </a:ln>
        </p:spPr>
        <p:txBody>
          <a:bodyPr wrap="square" rtlCol="0" anchor="t" anchorCtr="0">
            <a:noAutofit/>
          </a:bodyPr>
          <a:lstStyle/>
          <a:p>
            <a:pPr algn="l"/>
            <a:r>
              <a:rPr lang="en-AU" sz="2400" b="1" dirty="0">
                <a:latin typeface="Century Gothic" panose="020B0502020202020204" pitchFamily="34" charset="0"/>
                <a:cs typeface="Futura Medium" panose="020B0602020204020303" pitchFamily="34" charset="-79"/>
              </a:rPr>
              <a:t>Geographic South</a:t>
            </a:r>
          </a:p>
        </p:txBody>
      </p:sp>
      <p:grpSp>
        <p:nvGrpSpPr>
          <p:cNvPr id="16" name="Group 15">
            <a:extLst>
              <a:ext uri="{FF2B5EF4-FFF2-40B4-BE49-F238E27FC236}">
                <a16:creationId xmlns:a16="http://schemas.microsoft.com/office/drawing/2014/main" id="{AE414A44-F8B8-293F-6D3C-4162E16731CA}"/>
              </a:ext>
            </a:extLst>
          </p:cNvPr>
          <p:cNvGrpSpPr/>
          <p:nvPr/>
        </p:nvGrpSpPr>
        <p:grpSpPr>
          <a:xfrm>
            <a:off x="8780489" y="4446270"/>
            <a:ext cx="2581276" cy="902970"/>
            <a:chOff x="8780489" y="4446270"/>
            <a:chExt cx="2581276" cy="902970"/>
          </a:xfrm>
        </p:grpSpPr>
        <p:cxnSp>
          <p:nvCxnSpPr>
            <p:cNvPr id="15" name="Straight Arrow Connector 14">
              <a:extLst>
                <a:ext uri="{FF2B5EF4-FFF2-40B4-BE49-F238E27FC236}">
                  <a16:creationId xmlns:a16="http://schemas.microsoft.com/office/drawing/2014/main" id="{B5D6E8DD-8CA7-F4FE-1745-29A17DFEC787}"/>
                </a:ext>
              </a:extLst>
            </p:cNvPr>
            <p:cNvCxnSpPr>
              <a:cxnSpLocks/>
            </p:cNvCxnSpPr>
            <p:nvPr/>
          </p:nvCxnSpPr>
          <p:spPr>
            <a:xfrm flipH="1">
              <a:off x="8780489" y="4446270"/>
              <a:ext cx="1028700" cy="880110"/>
            </a:xfrm>
            <a:prstGeom prst="straightConnector1">
              <a:avLst/>
            </a:prstGeom>
            <a:ln w="3810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8E072D0A-EE02-C0AC-C06F-68D4DEF0130D}"/>
                </a:ext>
              </a:extLst>
            </p:cNvPr>
            <p:cNvCxnSpPr>
              <a:cxnSpLocks/>
            </p:cNvCxnSpPr>
            <p:nvPr/>
          </p:nvCxnSpPr>
          <p:spPr>
            <a:xfrm flipH="1">
              <a:off x="9556777" y="4457700"/>
              <a:ext cx="1028700" cy="880110"/>
            </a:xfrm>
            <a:prstGeom prst="straightConnector1">
              <a:avLst/>
            </a:prstGeom>
            <a:ln w="3810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6D57D554-6E22-5634-E6CD-F95DBAE29A5B}"/>
                </a:ext>
              </a:extLst>
            </p:cNvPr>
            <p:cNvCxnSpPr>
              <a:cxnSpLocks/>
            </p:cNvCxnSpPr>
            <p:nvPr/>
          </p:nvCxnSpPr>
          <p:spPr>
            <a:xfrm flipH="1">
              <a:off x="10333065" y="4469130"/>
              <a:ext cx="1028700" cy="880110"/>
            </a:xfrm>
            <a:prstGeom prst="straightConnector1">
              <a:avLst/>
            </a:prstGeom>
            <a:ln w="3810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2A9176EC-5B53-1BE9-9B33-883B7E7F5A79}"/>
              </a:ext>
            </a:extLst>
          </p:cNvPr>
          <p:cNvGrpSpPr/>
          <p:nvPr/>
        </p:nvGrpSpPr>
        <p:grpSpPr>
          <a:xfrm>
            <a:off x="4491990" y="4377690"/>
            <a:ext cx="2695974" cy="960120"/>
            <a:chOff x="4491990" y="4377690"/>
            <a:chExt cx="2695974" cy="960120"/>
          </a:xfrm>
        </p:grpSpPr>
        <p:cxnSp>
          <p:nvCxnSpPr>
            <p:cNvPr id="9" name="Straight Arrow Connector 8">
              <a:extLst>
                <a:ext uri="{FF2B5EF4-FFF2-40B4-BE49-F238E27FC236}">
                  <a16:creationId xmlns:a16="http://schemas.microsoft.com/office/drawing/2014/main" id="{1B2D846C-A23D-3679-5422-038E44742C70}"/>
                </a:ext>
              </a:extLst>
            </p:cNvPr>
            <p:cNvCxnSpPr/>
            <p:nvPr/>
          </p:nvCxnSpPr>
          <p:spPr>
            <a:xfrm>
              <a:off x="4491990" y="4377690"/>
              <a:ext cx="1177290" cy="96012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12367ABA-6761-ED9D-F0B2-B3DE63FA3712}"/>
                </a:ext>
              </a:extLst>
            </p:cNvPr>
            <p:cNvCxnSpPr/>
            <p:nvPr/>
          </p:nvCxnSpPr>
          <p:spPr>
            <a:xfrm>
              <a:off x="5251332" y="4377690"/>
              <a:ext cx="1177290" cy="96012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18267169-F07F-F3DA-A0D7-95792EFB131C}"/>
                </a:ext>
              </a:extLst>
            </p:cNvPr>
            <p:cNvCxnSpPr/>
            <p:nvPr/>
          </p:nvCxnSpPr>
          <p:spPr>
            <a:xfrm>
              <a:off x="6010674" y="4377690"/>
              <a:ext cx="1177290" cy="96012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3" name="Group 22">
            <a:extLst>
              <a:ext uri="{FF2B5EF4-FFF2-40B4-BE49-F238E27FC236}">
                <a16:creationId xmlns:a16="http://schemas.microsoft.com/office/drawing/2014/main" id="{E5C53265-BA20-53A0-3B52-2CE3C3E78465}"/>
              </a:ext>
            </a:extLst>
          </p:cNvPr>
          <p:cNvGrpSpPr/>
          <p:nvPr/>
        </p:nvGrpSpPr>
        <p:grpSpPr>
          <a:xfrm rot="17637044">
            <a:off x="841302" y="3802200"/>
            <a:ext cx="2428183" cy="489820"/>
            <a:chOff x="2581835" y="2256423"/>
            <a:chExt cx="6508377" cy="888247"/>
          </a:xfrm>
        </p:grpSpPr>
        <p:sp>
          <p:nvSpPr>
            <p:cNvPr id="24" name="Rectangle 23">
              <a:extLst>
                <a:ext uri="{FF2B5EF4-FFF2-40B4-BE49-F238E27FC236}">
                  <a16:creationId xmlns:a16="http://schemas.microsoft.com/office/drawing/2014/main" id="{2F45B70D-C93F-3A67-6440-9A698E6B0874}"/>
                </a:ext>
              </a:extLst>
            </p:cNvPr>
            <p:cNvSpPr/>
            <p:nvPr/>
          </p:nvSpPr>
          <p:spPr>
            <a:xfrm>
              <a:off x="2581835" y="2259108"/>
              <a:ext cx="6508377" cy="8855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5" name="Rectangle 24">
              <a:extLst>
                <a:ext uri="{FF2B5EF4-FFF2-40B4-BE49-F238E27FC236}">
                  <a16:creationId xmlns:a16="http://schemas.microsoft.com/office/drawing/2014/main" id="{D968ABFF-7798-90F3-64D6-A06030B89668}"/>
                </a:ext>
              </a:extLst>
            </p:cNvPr>
            <p:cNvSpPr/>
            <p:nvPr/>
          </p:nvSpPr>
          <p:spPr>
            <a:xfrm>
              <a:off x="2581835" y="2259107"/>
              <a:ext cx="3406588" cy="868411"/>
            </a:xfrm>
            <a:prstGeom prst="rect">
              <a:avLst/>
            </a:prstGeom>
            <a:solidFill>
              <a:srgbClr val="F03C1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Rectangle 25">
              <a:extLst>
                <a:ext uri="{FF2B5EF4-FFF2-40B4-BE49-F238E27FC236}">
                  <a16:creationId xmlns:a16="http://schemas.microsoft.com/office/drawing/2014/main" id="{E62466CE-E511-5B1C-A681-C278EBE3DAF7}"/>
                </a:ext>
              </a:extLst>
            </p:cNvPr>
            <p:cNvSpPr/>
            <p:nvPr/>
          </p:nvSpPr>
          <p:spPr>
            <a:xfrm>
              <a:off x="2904565" y="2259108"/>
              <a:ext cx="878541" cy="8855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600" b="1" dirty="0"/>
                <a:t>N</a:t>
              </a:r>
            </a:p>
          </p:txBody>
        </p:sp>
        <p:sp>
          <p:nvSpPr>
            <p:cNvPr id="27" name="Rectangle 26">
              <a:extLst>
                <a:ext uri="{FF2B5EF4-FFF2-40B4-BE49-F238E27FC236}">
                  <a16:creationId xmlns:a16="http://schemas.microsoft.com/office/drawing/2014/main" id="{BE2E2018-CE35-D963-0BCA-E26CB447284B}"/>
                </a:ext>
              </a:extLst>
            </p:cNvPr>
            <p:cNvSpPr/>
            <p:nvPr/>
          </p:nvSpPr>
          <p:spPr>
            <a:xfrm>
              <a:off x="7969625" y="2256423"/>
              <a:ext cx="878541" cy="8855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600" b="1" dirty="0"/>
                <a:t>S</a:t>
              </a:r>
            </a:p>
          </p:txBody>
        </p:sp>
      </p:grpSp>
      <p:grpSp>
        <p:nvGrpSpPr>
          <p:cNvPr id="35" name="Group 34">
            <a:extLst>
              <a:ext uri="{FF2B5EF4-FFF2-40B4-BE49-F238E27FC236}">
                <a16:creationId xmlns:a16="http://schemas.microsoft.com/office/drawing/2014/main" id="{CA105E54-2258-A676-34E6-6771AED58310}"/>
              </a:ext>
            </a:extLst>
          </p:cNvPr>
          <p:cNvGrpSpPr/>
          <p:nvPr/>
        </p:nvGrpSpPr>
        <p:grpSpPr>
          <a:xfrm>
            <a:off x="4346102" y="2603577"/>
            <a:ext cx="3486151" cy="2293572"/>
            <a:chOff x="4346102" y="2603577"/>
            <a:chExt cx="3486151" cy="2293572"/>
          </a:xfrm>
        </p:grpSpPr>
        <p:sp>
          <p:nvSpPr>
            <p:cNvPr id="28" name="Text Placeholder 3">
              <a:extLst>
                <a:ext uri="{FF2B5EF4-FFF2-40B4-BE49-F238E27FC236}">
                  <a16:creationId xmlns:a16="http://schemas.microsoft.com/office/drawing/2014/main" id="{67CE004F-F610-8889-D23D-89F802BF2D6D}"/>
                </a:ext>
              </a:extLst>
            </p:cNvPr>
            <p:cNvSpPr txBox="1">
              <a:spLocks/>
            </p:cNvSpPr>
            <p:nvPr/>
          </p:nvSpPr>
          <p:spPr>
            <a:xfrm>
              <a:off x="4346102" y="2603577"/>
              <a:ext cx="3486151"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b="0" dirty="0"/>
                <a:t>Magnetic field lines are </a:t>
              </a:r>
              <a:r>
                <a:rPr lang="en-AU" sz="2400" dirty="0"/>
                <a:t>declined</a:t>
              </a:r>
              <a:r>
                <a:rPr lang="en-AU" sz="2400" b="0" dirty="0"/>
                <a:t> in the northern hemisphere.</a:t>
              </a:r>
            </a:p>
            <a:p>
              <a:pPr lvl="1" indent="0" algn="just">
                <a:buNone/>
              </a:pPr>
              <a:endParaRPr lang="en-AU" sz="2000" dirty="0"/>
            </a:p>
          </p:txBody>
        </p:sp>
        <p:cxnSp>
          <p:nvCxnSpPr>
            <p:cNvPr id="31" name="Straight Connector 30">
              <a:extLst>
                <a:ext uri="{FF2B5EF4-FFF2-40B4-BE49-F238E27FC236}">
                  <a16:creationId xmlns:a16="http://schemas.microsoft.com/office/drawing/2014/main" id="{6AAB0B47-0E34-CAED-5120-C1F8DFBB761C}"/>
                </a:ext>
              </a:extLst>
            </p:cNvPr>
            <p:cNvCxnSpPr/>
            <p:nvPr/>
          </p:nvCxnSpPr>
          <p:spPr>
            <a:xfrm>
              <a:off x="5251332" y="4377690"/>
              <a:ext cx="2429628"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4C7B89DB-CB39-6F70-D8AC-4D21E12ED331}"/>
                </a:ext>
              </a:extLst>
            </p:cNvPr>
            <p:cNvSpPr txBox="1"/>
            <p:nvPr/>
          </p:nvSpPr>
          <p:spPr>
            <a:xfrm>
              <a:off x="6355634" y="4337670"/>
              <a:ext cx="1257300" cy="559479"/>
            </a:xfrm>
            <a:prstGeom prst="rect">
              <a:avLst/>
            </a:prstGeom>
            <a:noFill/>
            <a:ln>
              <a:noFill/>
            </a:ln>
          </p:spPr>
          <p:txBody>
            <a:bodyPr wrap="square" rtlCol="0" anchor="t" anchorCtr="0">
              <a:normAutofit/>
            </a:bodyPr>
            <a:lstStyle/>
            <a:p>
              <a:pPr algn="l"/>
              <a:r>
                <a:rPr lang="en-AU" sz="2000" b="1" dirty="0">
                  <a:latin typeface="Century Gothic" panose="020B0502020202020204" pitchFamily="34" charset="0"/>
                  <a:cs typeface="Futura Medium" panose="020B0602020204020303" pitchFamily="34" charset="-79"/>
                  <a:sym typeface="Symbol" panose="05050102010706020507" pitchFamily="18" charset="2"/>
                </a:rPr>
                <a:t></a:t>
              </a:r>
              <a:endParaRPr lang="en-AU" sz="2000" b="1" dirty="0">
                <a:latin typeface="Century Gothic" panose="020B0502020202020204" pitchFamily="34" charset="0"/>
                <a:cs typeface="Futura Medium" panose="020B0602020204020303" pitchFamily="34" charset="-79"/>
              </a:endParaRPr>
            </a:p>
          </p:txBody>
        </p:sp>
      </p:grpSp>
      <p:grpSp>
        <p:nvGrpSpPr>
          <p:cNvPr id="37" name="Group 36">
            <a:extLst>
              <a:ext uri="{FF2B5EF4-FFF2-40B4-BE49-F238E27FC236}">
                <a16:creationId xmlns:a16="http://schemas.microsoft.com/office/drawing/2014/main" id="{139E4C3C-F134-211B-88FA-C5F032F6A4B1}"/>
              </a:ext>
            </a:extLst>
          </p:cNvPr>
          <p:cNvGrpSpPr/>
          <p:nvPr/>
        </p:nvGrpSpPr>
        <p:grpSpPr>
          <a:xfrm>
            <a:off x="8780489" y="2543438"/>
            <a:ext cx="3369548" cy="2988546"/>
            <a:chOff x="8780489" y="2543438"/>
            <a:chExt cx="3369548" cy="2988546"/>
          </a:xfrm>
        </p:grpSpPr>
        <p:sp>
          <p:nvSpPr>
            <p:cNvPr id="29" name="Text Placeholder 3">
              <a:extLst>
                <a:ext uri="{FF2B5EF4-FFF2-40B4-BE49-F238E27FC236}">
                  <a16:creationId xmlns:a16="http://schemas.microsoft.com/office/drawing/2014/main" id="{CAC4771D-EC72-0A92-EBF9-6F0C3361754F}"/>
                </a:ext>
              </a:extLst>
            </p:cNvPr>
            <p:cNvSpPr txBox="1">
              <a:spLocks/>
            </p:cNvSpPr>
            <p:nvPr/>
          </p:nvSpPr>
          <p:spPr>
            <a:xfrm>
              <a:off x="8780489" y="2543438"/>
              <a:ext cx="3369548"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b="0" dirty="0"/>
                <a:t>Magnetic field lines are </a:t>
              </a:r>
              <a:r>
                <a:rPr lang="en-AU" sz="2400" dirty="0"/>
                <a:t>inclined</a:t>
              </a:r>
              <a:r>
                <a:rPr lang="en-AU" sz="2400" b="0" dirty="0"/>
                <a:t> in the southern hemisphere.</a:t>
              </a:r>
            </a:p>
            <a:p>
              <a:pPr algn="just"/>
              <a:endParaRPr lang="en-AU" sz="2400" b="0" dirty="0"/>
            </a:p>
          </p:txBody>
        </p:sp>
        <p:sp>
          <p:nvSpPr>
            <p:cNvPr id="36" name="TextBox 35">
              <a:extLst>
                <a:ext uri="{FF2B5EF4-FFF2-40B4-BE49-F238E27FC236}">
                  <a16:creationId xmlns:a16="http://schemas.microsoft.com/office/drawing/2014/main" id="{899E75DF-96A6-C277-72E1-2D8A3162136B}"/>
                </a:ext>
              </a:extLst>
            </p:cNvPr>
            <p:cNvSpPr txBox="1"/>
            <p:nvPr/>
          </p:nvSpPr>
          <p:spPr>
            <a:xfrm>
              <a:off x="10719834" y="4972505"/>
              <a:ext cx="1257300" cy="559479"/>
            </a:xfrm>
            <a:prstGeom prst="rect">
              <a:avLst/>
            </a:prstGeom>
            <a:noFill/>
            <a:ln>
              <a:noFill/>
            </a:ln>
          </p:spPr>
          <p:txBody>
            <a:bodyPr wrap="square" rtlCol="0" anchor="t" anchorCtr="0">
              <a:normAutofit/>
            </a:bodyPr>
            <a:lstStyle/>
            <a:p>
              <a:pPr algn="l"/>
              <a:r>
                <a:rPr lang="en-AU" sz="2000" b="1" dirty="0">
                  <a:latin typeface="Century Gothic" panose="020B0502020202020204" pitchFamily="34" charset="0"/>
                  <a:cs typeface="Futura Medium" panose="020B0602020204020303" pitchFamily="34" charset="-79"/>
                  <a:sym typeface="Symbol" panose="05050102010706020507" pitchFamily="18" charset="2"/>
                </a:rPr>
                <a:t></a:t>
              </a:r>
              <a:endParaRPr lang="en-AU" sz="2000" b="1" dirty="0">
                <a:latin typeface="Century Gothic" panose="020B0502020202020204" pitchFamily="34" charset="0"/>
                <a:cs typeface="Futura Medium" panose="020B0602020204020303" pitchFamily="34" charset="-79"/>
              </a:endParaRPr>
            </a:p>
          </p:txBody>
        </p:sp>
      </p:grpSp>
    </p:spTree>
    <p:extLst>
      <p:ext uri="{BB962C8B-B14F-4D97-AF65-F5344CB8AC3E}">
        <p14:creationId xmlns:p14="http://schemas.microsoft.com/office/powerpoint/2010/main" val="2448748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Magnetic fields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2" name="Text Placeholder 3">
            <a:extLst>
              <a:ext uri="{FF2B5EF4-FFF2-40B4-BE49-F238E27FC236}">
                <a16:creationId xmlns:a16="http://schemas.microsoft.com/office/drawing/2014/main" id="{F6AEE6B5-64BD-46D1-A050-038FF25910D9}"/>
              </a:ext>
            </a:extLst>
          </p:cNvPr>
          <p:cNvSpPr txBox="1">
            <a:spLocks/>
          </p:cNvSpPr>
          <p:nvPr/>
        </p:nvSpPr>
        <p:spPr>
          <a:xfrm>
            <a:off x="214867" y="1007686"/>
            <a:ext cx="114437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b="0" dirty="0"/>
              <a:t>A sensitive magnetic based experiment is being conducted in a region where the Earth’s magnetic field is decline at 19.0</a:t>
            </a:r>
            <a:r>
              <a:rPr lang="en-AU" sz="2400" b="0" baseline="30000" dirty="0"/>
              <a:t>o </a:t>
            </a:r>
            <a:r>
              <a:rPr lang="en-AU" sz="2400" b="0" dirty="0"/>
              <a:t>and has a density of 58.0 </a:t>
            </a:r>
            <a:r>
              <a:rPr lang="en-AU" sz="2400" b="0" dirty="0">
                <a:sym typeface="Symbol" panose="05050102010706020507" pitchFamily="18" charset="2"/>
              </a:rPr>
              <a:t>T.</a:t>
            </a:r>
          </a:p>
          <a:p>
            <a:pPr marL="457200" indent="-457200" algn="just">
              <a:buAutoNum type="alphaLcParenR"/>
            </a:pPr>
            <a:r>
              <a:rPr lang="en-AU" sz="2400" b="0" dirty="0">
                <a:sym typeface="Symbol" panose="05050102010706020507" pitchFamily="18" charset="2"/>
              </a:rPr>
              <a:t>Which hemisphere is the experiment being conducted?</a:t>
            </a:r>
          </a:p>
          <a:p>
            <a:pPr marL="457200" indent="-457200" algn="just">
              <a:buAutoNum type="alphaLcParenR"/>
            </a:pPr>
            <a:r>
              <a:rPr lang="en-AU" sz="2400" b="0" dirty="0">
                <a:sym typeface="Symbol" panose="05050102010706020507" pitchFamily="18" charset="2"/>
              </a:rPr>
              <a:t>Calculate the component of the Earth’s magnetic field parallel with the surface in the region.</a:t>
            </a:r>
            <a:endParaRPr lang="en-AU" sz="2400" b="0" dirty="0"/>
          </a:p>
          <a:p>
            <a:pPr marL="342900" indent="-342900" algn="just">
              <a:buFont typeface="Arial" panose="020B0604020202020204" pitchFamily="34" charset="0"/>
              <a:buChar char="•"/>
            </a:pPr>
            <a:endParaRPr lang="en-AU" sz="2400" b="0" dirty="0"/>
          </a:p>
          <a:p>
            <a:pPr marL="342900" indent="-342900" algn="just">
              <a:buFont typeface="Arial" panose="020B0604020202020204" pitchFamily="34" charset="0"/>
              <a:buChar char="•"/>
            </a:pPr>
            <a:endParaRPr lang="en-AU" sz="2400" b="0" dirty="0"/>
          </a:p>
          <a:p>
            <a:pPr marL="342900" indent="-342900" algn="just">
              <a:buFont typeface="Arial" panose="020B0604020202020204" pitchFamily="34" charset="0"/>
              <a:buChar char="•"/>
            </a:pPr>
            <a:endParaRPr lang="en-AU" sz="2400" b="0" dirty="0"/>
          </a:p>
          <a:p>
            <a:pPr marL="342900" indent="-342900" algn="just">
              <a:buFont typeface="Arial" panose="020B0604020202020204" pitchFamily="34" charset="0"/>
              <a:buChar char="•"/>
            </a:pPr>
            <a:endParaRPr lang="en-AU" sz="2400" b="0" dirty="0"/>
          </a:p>
          <a:p>
            <a:pPr marL="342900" indent="-342900" algn="just">
              <a:buFont typeface="Arial" panose="020B0604020202020204" pitchFamily="34" charset="0"/>
              <a:buChar char="•"/>
            </a:pPr>
            <a:endParaRPr lang="en-AU" sz="2400" b="0" dirty="0"/>
          </a:p>
          <a:p>
            <a:pPr marL="342900" indent="-342900" algn="just">
              <a:buFont typeface="Arial" panose="020B0604020202020204" pitchFamily="34" charset="0"/>
              <a:buChar char="•"/>
            </a:pPr>
            <a:endParaRPr lang="en-AU" sz="2400" b="0" dirty="0"/>
          </a:p>
          <a:p>
            <a:pPr lvl="1" indent="0" algn="just">
              <a:buNone/>
            </a:pPr>
            <a:endParaRPr lang="en-AU" sz="2000" dirty="0"/>
          </a:p>
        </p:txBody>
      </p:sp>
    </p:spTree>
    <p:extLst>
      <p:ext uri="{BB962C8B-B14F-4D97-AF65-F5344CB8AC3E}">
        <p14:creationId xmlns:p14="http://schemas.microsoft.com/office/powerpoint/2010/main" val="24991625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22FDFC4-7213-4B80-88AC-CFDA713A6754}"/>
              </a:ext>
            </a:extLst>
          </p:cNvPr>
          <p:cNvSpPr>
            <a:spLocks noGrp="1"/>
          </p:cNvSpPr>
          <p:nvPr>
            <p:ph type="body" sz="quarter" idx="10"/>
          </p:nvPr>
        </p:nvSpPr>
        <p:spPr/>
        <p:txBody>
          <a:bodyPr/>
          <a:lstStyle/>
          <a:p>
            <a:r>
              <a:rPr lang="en-AU" dirty="0"/>
              <a:t>Motion in magnetic fields</a:t>
            </a:r>
          </a:p>
        </p:txBody>
      </p:sp>
      <p:sp>
        <p:nvSpPr>
          <p:cNvPr id="3" name="Text Placeholder 3">
            <a:extLst>
              <a:ext uri="{FF2B5EF4-FFF2-40B4-BE49-F238E27FC236}">
                <a16:creationId xmlns:a16="http://schemas.microsoft.com/office/drawing/2014/main" id="{15B39FF7-CE51-4DDE-B8F7-A2B32DD72593}"/>
              </a:ext>
            </a:extLst>
          </p:cNvPr>
          <p:cNvSpPr txBox="1">
            <a:spLocks/>
          </p:cNvSpPr>
          <p:nvPr/>
        </p:nvSpPr>
        <p:spPr>
          <a:xfrm>
            <a:off x="295274" y="4571479"/>
            <a:ext cx="3779478" cy="319722"/>
          </a:xfrm>
          <a:prstGeom prst="rect">
            <a:avLst/>
          </a:prstGeom>
          <a:solidFill>
            <a:srgbClr val="FBCA58"/>
          </a:solidFill>
        </p:spPr>
        <p:txBody>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2E546D"/>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Success Criteria</a:t>
            </a:r>
          </a:p>
        </p:txBody>
      </p:sp>
      <p:sp>
        <p:nvSpPr>
          <p:cNvPr id="4" name="Text Placeholder 2">
            <a:extLst>
              <a:ext uri="{FF2B5EF4-FFF2-40B4-BE49-F238E27FC236}">
                <a16:creationId xmlns:a16="http://schemas.microsoft.com/office/drawing/2014/main" id="{376F90D9-C05E-4F92-AA21-6770C35F6CD9}"/>
              </a:ext>
            </a:extLst>
          </p:cNvPr>
          <p:cNvSpPr txBox="1">
            <a:spLocks/>
          </p:cNvSpPr>
          <p:nvPr/>
        </p:nvSpPr>
        <p:spPr>
          <a:xfrm>
            <a:off x="209549" y="4921871"/>
            <a:ext cx="11601508" cy="1382567"/>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sz="1600" b="0" i="0" dirty="0">
                <a:solidFill>
                  <a:srgbClr val="000303"/>
                </a:solidFill>
                <a:effectLst/>
                <a:latin typeface="Roboto" panose="02000000000000000000" pitchFamily="2" charset="0"/>
              </a:rPr>
              <a:t>I can draw the magnetic field generated by a solenoid.</a:t>
            </a:r>
          </a:p>
          <a:p>
            <a:pPr algn="l"/>
            <a:r>
              <a:rPr lang="en-US" sz="1600" b="0" i="0" dirty="0">
                <a:solidFill>
                  <a:srgbClr val="000303"/>
                </a:solidFill>
                <a:effectLst/>
                <a:latin typeface="Roboto" panose="02000000000000000000" pitchFamily="2" charset="0"/>
              </a:rPr>
              <a:t>I can draw the Earth's magnetic field.</a:t>
            </a:r>
          </a:p>
          <a:p>
            <a:pPr algn="l"/>
            <a:r>
              <a:rPr lang="en-US" sz="1600" b="0" i="0" dirty="0">
                <a:solidFill>
                  <a:srgbClr val="000303"/>
                </a:solidFill>
                <a:effectLst/>
                <a:latin typeface="Roboto" panose="02000000000000000000" pitchFamily="2" charset="0"/>
              </a:rPr>
              <a:t>I can perform vector calculations of Earth's magnetic field.</a:t>
            </a:r>
          </a:p>
          <a:p>
            <a:pPr algn="l"/>
            <a:r>
              <a:rPr lang="en-US" sz="1600" b="0" i="0" dirty="0">
                <a:solidFill>
                  <a:srgbClr val="000303"/>
                </a:solidFill>
                <a:effectLst/>
                <a:latin typeface="Roboto" panose="02000000000000000000" pitchFamily="2" charset="0"/>
              </a:rPr>
              <a:t>I can describe the motion of charged particles in a magnetic field.</a:t>
            </a:r>
          </a:p>
        </p:txBody>
      </p:sp>
    </p:spTree>
    <p:extLst>
      <p:ext uri="{BB962C8B-B14F-4D97-AF65-F5344CB8AC3E}">
        <p14:creationId xmlns:p14="http://schemas.microsoft.com/office/powerpoint/2010/main" val="37792069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Solenoids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79503"/>
            <a:ext cx="3779478" cy="319722"/>
          </a:xfrm>
        </p:spPr>
        <p:txBody>
          <a:bodyPr/>
          <a:lstStyle/>
          <a:p>
            <a:r>
              <a:rPr lang="en-AU" dirty="0"/>
              <a:t>Content Development</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2" name="Text Placeholder 3">
            <a:extLst>
              <a:ext uri="{FF2B5EF4-FFF2-40B4-BE49-F238E27FC236}">
                <a16:creationId xmlns:a16="http://schemas.microsoft.com/office/drawing/2014/main" id="{F6AEE6B5-64BD-46D1-A050-038FF25910D9}"/>
              </a:ext>
            </a:extLst>
          </p:cNvPr>
          <p:cNvSpPr txBox="1">
            <a:spLocks/>
          </p:cNvSpPr>
          <p:nvPr/>
        </p:nvSpPr>
        <p:spPr>
          <a:xfrm>
            <a:off x="214867" y="1007686"/>
            <a:ext cx="11593505"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400" b="0" dirty="0"/>
              <a:t>If many loops are placed side by side, their fields all add and there is a much stronger effect. This can be done by winding many turns of wire into a coil, called a </a:t>
            </a:r>
            <a:r>
              <a:rPr lang="en-US" sz="2400" dirty="0"/>
              <a:t>solenoid</a:t>
            </a:r>
            <a:r>
              <a:rPr lang="en-US" sz="2400" b="0" dirty="0"/>
              <a:t>. The field around the solenoid is like the field around a normal bar magnet.</a:t>
            </a:r>
            <a:endParaRPr lang="en-AU" sz="2000" dirty="0"/>
          </a:p>
        </p:txBody>
      </p:sp>
      <p:pic>
        <p:nvPicPr>
          <p:cNvPr id="7" name="Picture 6">
            <a:extLst>
              <a:ext uri="{FF2B5EF4-FFF2-40B4-BE49-F238E27FC236}">
                <a16:creationId xmlns:a16="http://schemas.microsoft.com/office/drawing/2014/main" id="{1D2FEB2F-99A2-377A-C8A1-9194EE166945}"/>
              </a:ext>
            </a:extLst>
          </p:cNvPr>
          <p:cNvPicPr>
            <a:picLocks noChangeAspect="1"/>
          </p:cNvPicPr>
          <p:nvPr/>
        </p:nvPicPr>
        <p:blipFill>
          <a:blip r:embed="rId3"/>
          <a:stretch>
            <a:fillRect/>
          </a:stretch>
        </p:blipFill>
        <p:spPr>
          <a:xfrm>
            <a:off x="919465" y="3142248"/>
            <a:ext cx="4857647" cy="1723091"/>
          </a:xfrm>
          <a:prstGeom prst="rect">
            <a:avLst/>
          </a:prstGeom>
        </p:spPr>
      </p:pic>
      <p:pic>
        <p:nvPicPr>
          <p:cNvPr id="9" name="Picture 8">
            <a:extLst>
              <a:ext uri="{FF2B5EF4-FFF2-40B4-BE49-F238E27FC236}">
                <a16:creationId xmlns:a16="http://schemas.microsoft.com/office/drawing/2014/main" id="{719F606B-5E0E-22A7-4DBD-DAE0F24D5BF6}"/>
              </a:ext>
            </a:extLst>
          </p:cNvPr>
          <p:cNvPicPr>
            <a:picLocks noChangeAspect="1"/>
          </p:cNvPicPr>
          <p:nvPr/>
        </p:nvPicPr>
        <p:blipFill>
          <a:blip r:embed="rId4"/>
          <a:stretch>
            <a:fillRect/>
          </a:stretch>
        </p:blipFill>
        <p:spPr>
          <a:xfrm>
            <a:off x="6889014" y="2849450"/>
            <a:ext cx="4210100" cy="2581804"/>
          </a:xfrm>
          <a:prstGeom prst="rect">
            <a:avLst/>
          </a:prstGeom>
        </p:spPr>
      </p:pic>
    </p:spTree>
    <p:extLst>
      <p:ext uri="{BB962C8B-B14F-4D97-AF65-F5344CB8AC3E}">
        <p14:creationId xmlns:p14="http://schemas.microsoft.com/office/powerpoint/2010/main" val="1200013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Solenoids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2" name="Text Placeholder 3">
            <a:extLst>
              <a:ext uri="{FF2B5EF4-FFF2-40B4-BE49-F238E27FC236}">
                <a16:creationId xmlns:a16="http://schemas.microsoft.com/office/drawing/2014/main" id="{F6AEE6B5-64BD-46D1-A050-038FF25910D9}"/>
              </a:ext>
            </a:extLst>
          </p:cNvPr>
          <p:cNvSpPr txBox="1">
            <a:spLocks/>
          </p:cNvSpPr>
          <p:nvPr/>
        </p:nvSpPr>
        <p:spPr>
          <a:xfrm>
            <a:off x="214867" y="1007686"/>
            <a:ext cx="11593505"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400" b="0" dirty="0"/>
              <a:t>If many loops are placed side by side, their fields all add and there is a much stronger effect. This can be done by winding many turns of wire into a coil, called a </a:t>
            </a:r>
            <a:r>
              <a:rPr lang="en-US" sz="2400" dirty="0"/>
              <a:t>solenoid</a:t>
            </a:r>
            <a:r>
              <a:rPr lang="en-US" sz="2400" b="0" dirty="0"/>
              <a:t>. The field around the solenoid is like the field around a normal bar magnet.</a:t>
            </a:r>
            <a:endParaRPr lang="en-AU" sz="2000" dirty="0"/>
          </a:p>
        </p:txBody>
      </p:sp>
      <p:pic>
        <p:nvPicPr>
          <p:cNvPr id="24" name="Picture 23">
            <a:extLst>
              <a:ext uri="{FF2B5EF4-FFF2-40B4-BE49-F238E27FC236}">
                <a16:creationId xmlns:a16="http://schemas.microsoft.com/office/drawing/2014/main" id="{00471E02-177A-E3E6-3951-1D441C68E71A}"/>
              </a:ext>
            </a:extLst>
          </p:cNvPr>
          <p:cNvPicPr/>
          <p:nvPr/>
        </p:nvPicPr>
        <p:blipFill>
          <a:blip r:embed="rId3"/>
          <a:stretch>
            <a:fillRect/>
          </a:stretch>
        </p:blipFill>
        <p:spPr>
          <a:xfrm>
            <a:off x="1113608" y="2526491"/>
            <a:ext cx="10179649" cy="3736240"/>
          </a:xfrm>
          <a:prstGeom prst="rect">
            <a:avLst/>
          </a:prstGeom>
        </p:spPr>
      </p:pic>
    </p:spTree>
    <p:extLst>
      <p:ext uri="{BB962C8B-B14F-4D97-AF65-F5344CB8AC3E}">
        <p14:creationId xmlns:p14="http://schemas.microsoft.com/office/powerpoint/2010/main" val="38363125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Solenoids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pic>
        <p:nvPicPr>
          <p:cNvPr id="3" name="Online Media 2" title="Magnetic Field of a Wire and a Solenoid - GCSE Physics Practical">
            <a:hlinkClick r:id="" action="ppaction://media"/>
            <a:extLst>
              <a:ext uri="{FF2B5EF4-FFF2-40B4-BE49-F238E27FC236}">
                <a16:creationId xmlns:a16="http://schemas.microsoft.com/office/drawing/2014/main" id="{D8DF147F-E1A1-4A17-D383-9A17EEBA1B5B}"/>
              </a:ext>
            </a:extLst>
          </p:cNvPr>
          <p:cNvPicPr>
            <a:picLocks noRot="1" noChangeAspect="1"/>
          </p:cNvPicPr>
          <p:nvPr>
            <a:videoFile r:link="rId1"/>
          </p:nvPr>
        </p:nvPicPr>
        <p:blipFill>
          <a:blip r:embed="rId4"/>
          <a:stretch>
            <a:fillRect/>
          </a:stretch>
        </p:blipFill>
        <p:spPr>
          <a:xfrm>
            <a:off x="214867" y="107577"/>
            <a:ext cx="11757249" cy="6642846"/>
          </a:xfrm>
          <a:prstGeom prst="rect">
            <a:avLst/>
          </a:prstGeom>
        </p:spPr>
      </p:pic>
    </p:spTree>
    <p:extLst>
      <p:ext uri="{BB962C8B-B14F-4D97-AF65-F5344CB8AC3E}">
        <p14:creationId xmlns:p14="http://schemas.microsoft.com/office/powerpoint/2010/main" val="3116861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Solenoids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pic>
        <p:nvPicPr>
          <p:cNvPr id="5" name="Online Media 4" title="Chapter 5 - Solenoid - magnetic field, right hand rule and electromagnets">
            <a:hlinkClick r:id="" action="ppaction://media"/>
            <a:extLst>
              <a:ext uri="{FF2B5EF4-FFF2-40B4-BE49-F238E27FC236}">
                <a16:creationId xmlns:a16="http://schemas.microsoft.com/office/drawing/2014/main" id="{B5DDE67B-C708-7E83-D802-AAB935F403D9}"/>
              </a:ext>
            </a:extLst>
          </p:cNvPr>
          <p:cNvPicPr>
            <a:picLocks noRot="1" noChangeAspect="1"/>
          </p:cNvPicPr>
          <p:nvPr>
            <a:videoFile r:link="rId1"/>
          </p:nvPr>
        </p:nvPicPr>
        <p:blipFill>
          <a:blip r:embed="rId4"/>
          <a:stretch>
            <a:fillRect/>
          </a:stretch>
        </p:blipFill>
        <p:spPr>
          <a:xfrm>
            <a:off x="247082" y="115260"/>
            <a:ext cx="11730051" cy="6627479"/>
          </a:xfrm>
          <a:prstGeom prst="rect">
            <a:avLst/>
          </a:prstGeom>
        </p:spPr>
      </p:pic>
    </p:spTree>
    <p:extLst>
      <p:ext uri="{BB962C8B-B14F-4D97-AF65-F5344CB8AC3E}">
        <p14:creationId xmlns:p14="http://schemas.microsoft.com/office/powerpoint/2010/main" val="2361082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Lorentz Force</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58693"/>
            <a:ext cx="3779478" cy="319722"/>
          </a:xfrm>
        </p:spPr>
        <p:txBody>
          <a:bodyPr/>
          <a:lstStyle/>
          <a:p>
            <a:r>
              <a:rPr lang="en-AU" dirty="0"/>
              <a:t>Content Development</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2" name="Text Placeholder 3">
            <a:extLst>
              <a:ext uri="{FF2B5EF4-FFF2-40B4-BE49-F238E27FC236}">
                <a16:creationId xmlns:a16="http://schemas.microsoft.com/office/drawing/2014/main" id="{F6AEE6B5-64BD-46D1-A050-038FF25910D9}"/>
              </a:ext>
            </a:extLst>
          </p:cNvPr>
          <p:cNvSpPr txBox="1">
            <a:spLocks/>
          </p:cNvSpPr>
          <p:nvPr/>
        </p:nvSpPr>
        <p:spPr>
          <a:xfrm>
            <a:off x="214867" y="1007686"/>
            <a:ext cx="12097418"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buFont typeface="Arial" panose="020B0604020202020204" pitchFamily="34" charset="0"/>
              <a:buChar char="•"/>
            </a:pPr>
            <a:r>
              <a:rPr lang="en-AU" sz="2400" b="0" dirty="0"/>
              <a:t>A current carrying conductor in an external magnetic field will experience a force. Remember, the current is creating a magnetic field. This interacts with the external magnetic field, like two magnets would.</a:t>
            </a:r>
          </a:p>
        </p:txBody>
      </p:sp>
      <p:pic>
        <p:nvPicPr>
          <p:cNvPr id="13" name="Picture 12">
            <a:extLst>
              <a:ext uri="{FF2B5EF4-FFF2-40B4-BE49-F238E27FC236}">
                <a16:creationId xmlns:a16="http://schemas.microsoft.com/office/drawing/2014/main" id="{FA01EBFB-03BC-260D-6834-97F5DE5BC4C6}"/>
              </a:ext>
            </a:extLst>
          </p:cNvPr>
          <p:cNvPicPr>
            <a:picLocks noChangeAspect="1"/>
          </p:cNvPicPr>
          <p:nvPr/>
        </p:nvPicPr>
        <p:blipFill>
          <a:blip r:embed="rId3"/>
          <a:stretch>
            <a:fillRect/>
          </a:stretch>
        </p:blipFill>
        <p:spPr>
          <a:xfrm>
            <a:off x="776981" y="3901663"/>
            <a:ext cx="3668758" cy="974326"/>
          </a:xfrm>
          <a:prstGeom prst="rect">
            <a:avLst/>
          </a:prstGeom>
        </p:spPr>
      </p:pic>
      <p:pic>
        <p:nvPicPr>
          <p:cNvPr id="11" name="Picture 10">
            <a:extLst>
              <a:ext uri="{FF2B5EF4-FFF2-40B4-BE49-F238E27FC236}">
                <a16:creationId xmlns:a16="http://schemas.microsoft.com/office/drawing/2014/main" id="{C22C6E85-8733-1182-6637-483E4E40F34A}"/>
              </a:ext>
            </a:extLst>
          </p:cNvPr>
          <p:cNvPicPr>
            <a:picLocks noChangeAspect="1"/>
          </p:cNvPicPr>
          <p:nvPr/>
        </p:nvPicPr>
        <p:blipFill>
          <a:blip r:embed="rId4"/>
          <a:stretch>
            <a:fillRect/>
          </a:stretch>
        </p:blipFill>
        <p:spPr>
          <a:xfrm>
            <a:off x="700243" y="3510530"/>
            <a:ext cx="3395255" cy="1709929"/>
          </a:xfrm>
          <a:prstGeom prst="rect">
            <a:avLst/>
          </a:prstGeom>
        </p:spPr>
      </p:pic>
      <p:pic>
        <p:nvPicPr>
          <p:cNvPr id="9" name="Picture 8">
            <a:extLst>
              <a:ext uri="{FF2B5EF4-FFF2-40B4-BE49-F238E27FC236}">
                <a16:creationId xmlns:a16="http://schemas.microsoft.com/office/drawing/2014/main" id="{EDFF8C8D-5A45-6A6F-CBC0-27A3AE7EC787}"/>
              </a:ext>
            </a:extLst>
          </p:cNvPr>
          <p:cNvPicPr>
            <a:picLocks noChangeAspect="1"/>
          </p:cNvPicPr>
          <p:nvPr/>
        </p:nvPicPr>
        <p:blipFill>
          <a:blip r:embed="rId5"/>
          <a:stretch>
            <a:fillRect/>
          </a:stretch>
        </p:blipFill>
        <p:spPr>
          <a:xfrm>
            <a:off x="743757" y="2629371"/>
            <a:ext cx="3421739" cy="3472245"/>
          </a:xfrm>
          <a:prstGeom prst="rect">
            <a:avLst/>
          </a:prstGeom>
        </p:spPr>
      </p:pic>
      <p:pic>
        <p:nvPicPr>
          <p:cNvPr id="6" name="Picture 5">
            <a:extLst>
              <a:ext uri="{FF2B5EF4-FFF2-40B4-BE49-F238E27FC236}">
                <a16:creationId xmlns:a16="http://schemas.microsoft.com/office/drawing/2014/main" id="{A54CF9FE-41DC-FE62-87C8-E27A22D5DBFF}"/>
              </a:ext>
            </a:extLst>
          </p:cNvPr>
          <p:cNvPicPr>
            <a:picLocks noChangeAspect="1"/>
          </p:cNvPicPr>
          <p:nvPr/>
        </p:nvPicPr>
        <p:blipFill>
          <a:blip r:embed="rId6"/>
          <a:stretch>
            <a:fillRect/>
          </a:stretch>
        </p:blipFill>
        <p:spPr>
          <a:xfrm>
            <a:off x="776981" y="2507332"/>
            <a:ext cx="3637250" cy="3716321"/>
          </a:xfrm>
          <a:prstGeom prst="rect">
            <a:avLst/>
          </a:prstGeom>
        </p:spPr>
      </p:pic>
      <p:pic>
        <p:nvPicPr>
          <p:cNvPr id="35" name="Picture 34">
            <a:extLst>
              <a:ext uri="{FF2B5EF4-FFF2-40B4-BE49-F238E27FC236}">
                <a16:creationId xmlns:a16="http://schemas.microsoft.com/office/drawing/2014/main" id="{956B7AD8-B488-EE0B-0C23-7E798B7C5157}"/>
              </a:ext>
            </a:extLst>
          </p:cNvPr>
          <p:cNvPicPr/>
          <p:nvPr/>
        </p:nvPicPr>
        <p:blipFill>
          <a:blip r:embed="rId7"/>
          <a:stretch>
            <a:fillRect/>
          </a:stretch>
        </p:blipFill>
        <p:spPr>
          <a:xfrm>
            <a:off x="6574516" y="2118223"/>
            <a:ext cx="4109526" cy="3102236"/>
          </a:xfrm>
          <a:prstGeom prst="rect">
            <a:avLst/>
          </a:prstGeom>
        </p:spPr>
      </p:pic>
      <p:pic>
        <p:nvPicPr>
          <p:cNvPr id="20" name="Picture 19">
            <a:extLst>
              <a:ext uri="{FF2B5EF4-FFF2-40B4-BE49-F238E27FC236}">
                <a16:creationId xmlns:a16="http://schemas.microsoft.com/office/drawing/2014/main" id="{611B1F7F-E253-EC84-B528-57C8ED46923D}"/>
              </a:ext>
            </a:extLst>
          </p:cNvPr>
          <p:cNvPicPr>
            <a:picLocks noChangeAspect="1"/>
          </p:cNvPicPr>
          <p:nvPr/>
        </p:nvPicPr>
        <p:blipFill>
          <a:blip r:embed="rId8"/>
          <a:stretch>
            <a:fillRect/>
          </a:stretch>
        </p:blipFill>
        <p:spPr>
          <a:xfrm>
            <a:off x="776981" y="2513650"/>
            <a:ext cx="3668758" cy="3642553"/>
          </a:xfrm>
          <a:prstGeom prst="rect">
            <a:avLst/>
          </a:prstGeom>
        </p:spPr>
      </p:pic>
      <p:sp>
        <p:nvSpPr>
          <p:cNvPr id="36" name="Text Placeholder 3">
            <a:extLst>
              <a:ext uri="{FF2B5EF4-FFF2-40B4-BE49-F238E27FC236}">
                <a16:creationId xmlns:a16="http://schemas.microsoft.com/office/drawing/2014/main" id="{CB183853-7653-A91F-5178-AD1296A5AB2C}"/>
              </a:ext>
            </a:extLst>
          </p:cNvPr>
          <p:cNvSpPr txBox="1">
            <a:spLocks/>
          </p:cNvSpPr>
          <p:nvPr/>
        </p:nvSpPr>
        <p:spPr>
          <a:xfrm>
            <a:off x="4957010" y="5371816"/>
            <a:ext cx="7140407"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buFont typeface="Arial" panose="020B0604020202020204" pitchFamily="34" charset="0"/>
              <a:buChar char="•"/>
            </a:pPr>
            <a:r>
              <a:rPr lang="en-AU" sz="2400" b="0" dirty="0"/>
              <a:t>Thumb always points towards conventional current. Fingers always points in direction of field. Palm is the force direction.</a:t>
            </a:r>
          </a:p>
        </p:txBody>
      </p:sp>
    </p:spTree>
    <p:extLst>
      <p:ext uri="{BB962C8B-B14F-4D97-AF65-F5344CB8AC3E}">
        <p14:creationId xmlns:p14="http://schemas.microsoft.com/office/powerpoint/2010/main" val="432271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Lorentz Force</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58693"/>
            <a:ext cx="3779478" cy="319722"/>
          </a:xfrm>
        </p:spPr>
        <p:txBody>
          <a:bodyPr/>
          <a:lstStyle/>
          <a:p>
            <a:r>
              <a:rPr lang="en-AU" dirty="0"/>
              <a:t>Content Development</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2" name="Text Placeholder 3">
            <a:extLst>
              <a:ext uri="{FF2B5EF4-FFF2-40B4-BE49-F238E27FC236}">
                <a16:creationId xmlns:a16="http://schemas.microsoft.com/office/drawing/2014/main" id="{F6AEE6B5-64BD-46D1-A050-038FF25910D9}"/>
              </a:ext>
            </a:extLst>
          </p:cNvPr>
          <p:cNvSpPr txBox="1">
            <a:spLocks/>
          </p:cNvSpPr>
          <p:nvPr/>
        </p:nvSpPr>
        <p:spPr>
          <a:xfrm>
            <a:off x="214867" y="1007686"/>
            <a:ext cx="8633299"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buFont typeface="Arial" panose="020B0604020202020204" pitchFamily="34" charset="0"/>
              <a:buChar char="•"/>
            </a:pPr>
            <a:r>
              <a:rPr lang="en-US" sz="2400" b="0" dirty="0"/>
              <a:t>It is very important not to get the two right-hand rules mixed up, as they apply to quite different situations. </a:t>
            </a:r>
          </a:p>
          <a:p>
            <a:pPr marL="342900" indent="-342900" algn="just">
              <a:buFont typeface="Arial" panose="020B0604020202020204" pitchFamily="34" charset="0"/>
              <a:buChar char="•"/>
            </a:pPr>
            <a:endParaRPr lang="en-US" sz="2400" b="0" dirty="0"/>
          </a:p>
          <a:p>
            <a:pPr marL="342900" indent="-342900" algn="just">
              <a:buFont typeface="Arial" panose="020B0604020202020204" pitchFamily="34" charset="0"/>
              <a:buChar char="•"/>
            </a:pPr>
            <a:r>
              <a:rPr lang="en-US" sz="2400" b="0" dirty="0"/>
              <a:t>The right-hand grip rule tells us the direction of the circular magnetic field that occurs around a current carrying conductor. This field is created by the current. </a:t>
            </a:r>
          </a:p>
          <a:p>
            <a:pPr marL="342900" indent="-342900" algn="just">
              <a:buFont typeface="Arial" panose="020B0604020202020204" pitchFamily="34" charset="0"/>
              <a:buChar char="•"/>
            </a:pPr>
            <a:endParaRPr lang="en-US" sz="2400" b="0" dirty="0"/>
          </a:p>
          <a:p>
            <a:pPr marL="342900" indent="-342900" algn="just">
              <a:buFont typeface="Arial" panose="020B0604020202020204" pitchFamily="34" charset="0"/>
              <a:buChar char="•"/>
            </a:pPr>
            <a:r>
              <a:rPr lang="en-US" sz="2400" b="0" dirty="0"/>
              <a:t>The right-hand force rule (sometimes called the right-hand palm rule or just the right-hand rule) tells us the direction of the force on a current in a magnetic field. This force is the result of putting a current in a magnetic field. Don’t confuse it with the field created by the current itself.</a:t>
            </a:r>
          </a:p>
        </p:txBody>
      </p:sp>
      <p:pic>
        <p:nvPicPr>
          <p:cNvPr id="35" name="Picture 34">
            <a:extLst>
              <a:ext uri="{FF2B5EF4-FFF2-40B4-BE49-F238E27FC236}">
                <a16:creationId xmlns:a16="http://schemas.microsoft.com/office/drawing/2014/main" id="{956B7AD8-B488-EE0B-0C23-7E798B7C5157}"/>
              </a:ext>
            </a:extLst>
          </p:cNvPr>
          <p:cNvPicPr/>
          <p:nvPr/>
        </p:nvPicPr>
        <p:blipFill>
          <a:blip r:embed="rId3"/>
          <a:stretch>
            <a:fillRect/>
          </a:stretch>
        </p:blipFill>
        <p:spPr>
          <a:xfrm>
            <a:off x="9070847" y="878415"/>
            <a:ext cx="2561303" cy="2054645"/>
          </a:xfrm>
          <a:prstGeom prst="rect">
            <a:avLst/>
          </a:prstGeom>
        </p:spPr>
      </p:pic>
    </p:spTree>
    <p:extLst>
      <p:ext uri="{BB962C8B-B14F-4D97-AF65-F5344CB8AC3E}">
        <p14:creationId xmlns:p14="http://schemas.microsoft.com/office/powerpoint/2010/main" val="668447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Lorentz Force</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58693"/>
            <a:ext cx="3779478" cy="319722"/>
          </a:xfrm>
        </p:spPr>
        <p:txBody>
          <a:bodyPr/>
          <a:lstStyle/>
          <a:p>
            <a:r>
              <a:rPr lang="en-AU" dirty="0"/>
              <a:t>Content Development</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pic>
        <p:nvPicPr>
          <p:cNvPr id="5" name="Picture 4">
            <a:extLst>
              <a:ext uri="{FF2B5EF4-FFF2-40B4-BE49-F238E27FC236}">
                <a16:creationId xmlns:a16="http://schemas.microsoft.com/office/drawing/2014/main" id="{7351FB33-1641-494C-51FD-50926EEFD768}"/>
              </a:ext>
            </a:extLst>
          </p:cNvPr>
          <p:cNvPicPr>
            <a:picLocks noChangeAspect="1"/>
          </p:cNvPicPr>
          <p:nvPr/>
        </p:nvPicPr>
        <p:blipFill rotWithShape="1">
          <a:blip r:embed="rId3"/>
          <a:srcRect t="55954"/>
          <a:stretch/>
        </p:blipFill>
        <p:spPr>
          <a:xfrm>
            <a:off x="129428" y="1244395"/>
            <a:ext cx="9018667" cy="938645"/>
          </a:xfrm>
          <a:prstGeom prst="rect">
            <a:avLst/>
          </a:prstGeom>
        </p:spPr>
      </p:pic>
      <p:sp>
        <p:nvSpPr>
          <p:cNvPr id="16" name="TextBox 15">
            <a:extLst>
              <a:ext uri="{FF2B5EF4-FFF2-40B4-BE49-F238E27FC236}">
                <a16:creationId xmlns:a16="http://schemas.microsoft.com/office/drawing/2014/main" id="{1C8ECE8F-C16B-D7EF-C66D-77F30086A104}"/>
              </a:ext>
            </a:extLst>
          </p:cNvPr>
          <p:cNvSpPr txBox="1"/>
          <p:nvPr/>
        </p:nvSpPr>
        <p:spPr>
          <a:xfrm>
            <a:off x="309181" y="2674727"/>
            <a:ext cx="11573637" cy="3108543"/>
          </a:xfrm>
          <a:prstGeom prst="rect">
            <a:avLst/>
          </a:prstGeom>
          <a:noFill/>
          <a:ln>
            <a:noFill/>
          </a:ln>
        </p:spPr>
        <p:txBody>
          <a:bodyPr wrap="square">
            <a:spAutoFit/>
          </a:bodyPr>
          <a:lstStyle/>
          <a:p>
            <a:r>
              <a:rPr lang="en-AU" sz="2800" dirty="0"/>
              <a:t>B = 	Magnetic Field strength (T)</a:t>
            </a:r>
          </a:p>
          <a:p>
            <a:r>
              <a:rPr lang="en-AU" sz="2800" dirty="0"/>
              <a:t>l = 	Length of wire in the field (m)</a:t>
            </a:r>
          </a:p>
          <a:p>
            <a:r>
              <a:rPr lang="en-AU" sz="2800" dirty="0">
                <a:latin typeface="Times New Roman" panose="02020603050405020304" pitchFamily="18" charset="0"/>
                <a:cs typeface="Times New Roman" panose="02020603050405020304" pitchFamily="18" charset="0"/>
              </a:rPr>
              <a:t>I </a:t>
            </a:r>
            <a:r>
              <a:rPr lang="en-AU" sz="2800" dirty="0"/>
              <a:t>= 	Current (A)</a:t>
            </a:r>
          </a:p>
          <a:p>
            <a:r>
              <a:rPr lang="en-AU" sz="2800" dirty="0"/>
              <a:t>F =	force (N)</a:t>
            </a:r>
          </a:p>
          <a:p>
            <a:endParaRPr lang="en-AU" sz="2800" dirty="0"/>
          </a:p>
          <a:p>
            <a:r>
              <a:rPr lang="en-AU" sz="2800" dirty="0"/>
              <a:t>The length of wire </a:t>
            </a:r>
            <a:r>
              <a:rPr lang="en-AU" sz="2800" b="1" dirty="0"/>
              <a:t>perpendicular</a:t>
            </a:r>
            <a:r>
              <a:rPr lang="en-AU" sz="2800" dirty="0"/>
              <a:t> to the field is used. </a:t>
            </a:r>
          </a:p>
          <a:p>
            <a:endParaRPr lang="en-AU" sz="2800" dirty="0"/>
          </a:p>
        </p:txBody>
      </p:sp>
      <p:pic>
        <p:nvPicPr>
          <p:cNvPr id="10" name="Picture 9">
            <a:extLst>
              <a:ext uri="{FF2B5EF4-FFF2-40B4-BE49-F238E27FC236}">
                <a16:creationId xmlns:a16="http://schemas.microsoft.com/office/drawing/2014/main" id="{D36E99F5-C58C-41EC-277C-B84DDB8574BE}"/>
              </a:ext>
            </a:extLst>
          </p:cNvPr>
          <p:cNvPicPr>
            <a:picLocks noChangeAspect="1"/>
          </p:cNvPicPr>
          <p:nvPr/>
        </p:nvPicPr>
        <p:blipFill>
          <a:blip r:embed="rId4"/>
          <a:stretch>
            <a:fillRect/>
          </a:stretch>
        </p:blipFill>
        <p:spPr>
          <a:xfrm>
            <a:off x="8845249" y="878415"/>
            <a:ext cx="3217323" cy="3487686"/>
          </a:xfrm>
          <a:prstGeom prst="rect">
            <a:avLst/>
          </a:prstGeom>
        </p:spPr>
      </p:pic>
    </p:spTree>
    <p:extLst>
      <p:ext uri="{BB962C8B-B14F-4D97-AF65-F5344CB8AC3E}">
        <p14:creationId xmlns:p14="http://schemas.microsoft.com/office/powerpoint/2010/main" val="9283596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Lorentz Force</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58693"/>
            <a:ext cx="3779478" cy="319722"/>
          </a:xfrm>
        </p:spPr>
        <p:txBody>
          <a:bodyPr/>
          <a:lstStyle/>
          <a:p>
            <a:r>
              <a:rPr lang="en-AU" dirty="0"/>
              <a:t>Content Development</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pic>
        <p:nvPicPr>
          <p:cNvPr id="5" name="Picture 4">
            <a:extLst>
              <a:ext uri="{FF2B5EF4-FFF2-40B4-BE49-F238E27FC236}">
                <a16:creationId xmlns:a16="http://schemas.microsoft.com/office/drawing/2014/main" id="{7351FB33-1641-494C-51FD-50926EEFD768}"/>
              </a:ext>
            </a:extLst>
          </p:cNvPr>
          <p:cNvPicPr>
            <a:picLocks noChangeAspect="1"/>
          </p:cNvPicPr>
          <p:nvPr/>
        </p:nvPicPr>
        <p:blipFill rotWithShape="1">
          <a:blip r:embed="rId3"/>
          <a:srcRect t="55954"/>
          <a:stretch/>
        </p:blipFill>
        <p:spPr>
          <a:xfrm>
            <a:off x="2390511" y="2677312"/>
            <a:ext cx="7222348" cy="751688"/>
          </a:xfrm>
          <a:prstGeom prst="rect">
            <a:avLst/>
          </a:prstGeom>
        </p:spPr>
      </p:pic>
      <p:sp>
        <p:nvSpPr>
          <p:cNvPr id="16" name="TextBox 15">
            <a:extLst>
              <a:ext uri="{FF2B5EF4-FFF2-40B4-BE49-F238E27FC236}">
                <a16:creationId xmlns:a16="http://schemas.microsoft.com/office/drawing/2014/main" id="{1C8ECE8F-C16B-D7EF-C66D-77F30086A104}"/>
              </a:ext>
            </a:extLst>
          </p:cNvPr>
          <p:cNvSpPr txBox="1"/>
          <p:nvPr/>
        </p:nvSpPr>
        <p:spPr>
          <a:xfrm>
            <a:off x="214867" y="1030653"/>
            <a:ext cx="11573637" cy="1815882"/>
          </a:xfrm>
          <a:prstGeom prst="rect">
            <a:avLst/>
          </a:prstGeom>
          <a:noFill/>
          <a:ln>
            <a:noFill/>
          </a:ln>
        </p:spPr>
        <p:txBody>
          <a:bodyPr wrap="square">
            <a:spAutoFit/>
          </a:bodyPr>
          <a:lstStyle/>
          <a:p>
            <a:r>
              <a:rPr lang="en-AU" sz="2800" dirty="0"/>
              <a:t>A 5.00m power line carries a 88.0 A current running from east to west. The Earth’s magnetic flux density in this area is 5.00 x 10</a:t>
            </a:r>
            <a:r>
              <a:rPr lang="en-AU" sz="2800" baseline="30000" dirty="0"/>
              <a:t>-5</a:t>
            </a:r>
            <a:r>
              <a:rPr lang="en-AU" sz="2800" dirty="0"/>
              <a:t> T. Calculate the force acting on the wire.</a:t>
            </a:r>
          </a:p>
          <a:p>
            <a:endParaRPr lang="en-AU" sz="2800" dirty="0"/>
          </a:p>
        </p:txBody>
      </p:sp>
    </p:spTree>
    <p:extLst>
      <p:ext uri="{BB962C8B-B14F-4D97-AF65-F5344CB8AC3E}">
        <p14:creationId xmlns:p14="http://schemas.microsoft.com/office/powerpoint/2010/main" val="8705004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Lorentz Force</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58693"/>
            <a:ext cx="3779478" cy="319722"/>
          </a:xfrm>
        </p:spPr>
        <p:txBody>
          <a:bodyPr/>
          <a:lstStyle/>
          <a:p>
            <a:r>
              <a:rPr lang="en-AU" dirty="0"/>
              <a:t>Content Development</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pic>
        <p:nvPicPr>
          <p:cNvPr id="6" name="Picture 5">
            <a:extLst>
              <a:ext uri="{FF2B5EF4-FFF2-40B4-BE49-F238E27FC236}">
                <a16:creationId xmlns:a16="http://schemas.microsoft.com/office/drawing/2014/main" id="{74341611-5244-C672-5D5F-76EEFADC2945}"/>
              </a:ext>
            </a:extLst>
          </p:cNvPr>
          <p:cNvPicPr>
            <a:picLocks noChangeAspect="1"/>
          </p:cNvPicPr>
          <p:nvPr/>
        </p:nvPicPr>
        <p:blipFill>
          <a:blip r:embed="rId3"/>
          <a:stretch>
            <a:fillRect/>
          </a:stretch>
        </p:blipFill>
        <p:spPr>
          <a:xfrm>
            <a:off x="455160" y="1007686"/>
            <a:ext cx="11281680" cy="3252236"/>
          </a:xfrm>
          <a:prstGeom prst="rect">
            <a:avLst/>
          </a:prstGeom>
        </p:spPr>
      </p:pic>
    </p:spTree>
    <p:extLst>
      <p:ext uri="{BB962C8B-B14F-4D97-AF65-F5344CB8AC3E}">
        <p14:creationId xmlns:p14="http://schemas.microsoft.com/office/powerpoint/2010/main" val="8191242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Lorentz Force</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58693"/>
            <a:ext cx="3779478" cy="319722"/>
          </a:xfrm>
        </p:spPr>
        <p:txBody>
          <a:bodyPr/>
          <a:lstStyle/>
          <a:p>
            <a:r>
              <a:rPr lang="en-AU" dirty="0"/>
              <a:t>Content Development</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pic>
        <p:nvPicPr>
          <p:cNvPr id="5" name="Picture 4">
            <a:extLst>
              <a:ext uri="{FF2B5EF4-FFF2-40B4-BE49-F238E27FC236}">
                <a16:creationId xmlns:a16="http://schemas.microsoft.com/office/drawing/2014/main" id="{B9B615DB-2612-49D3-94CA-31B1645D52D9}"/>
              </a:ext>
            </a:extLst>
          </p:cNvPr>
          <p:cNvPicPr>
            <a:picLocks noChangeAspect="1"/>
          </p:cNvPicPr>
          <p:nvPr/>
        </p:nvPicPr>
        <p:blipFill>
          <a:blip r:embed="rId3"/>
          <a:stretch>
            <a:fillRect/>
          </a:stretch>
        </p:blipFill>
        <p:spPr>
          <a:xfrm>
            <a:off x="511788" y="1295551"/>
            <a:ext cx="11168424" cy="4374174"/>
          </a:xfrm>
          <a:prstGeom prst="rect">
            <a:avLst/>
          </a:prstGeom>
        </p:spPr>
      </p:pic>
    </p:spTree>
    <p:extLst>
      <p:ext uri="{BB962C8B-B14F-4D97-AF65-F5344CB8AC3E}">
        <p14:creationId xmlns:p14="http://schemas.microsoft.com/office/powerpoint/2010/main" val="33827716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Lorentz Force</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58693"/>
            <a:ext cx="3779478" cy="319722"/>
          </a:xfrm>
        </p:spPr>
        <p:txBody>
          <a:bodyPr/>
          <a:lstStyle/>
          <a:p>
            <a:r>
              <a:rPr lang="en-AU" dirty="0"/>
              <a:t>Content Development</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pic>
        <p:nvPicPr>
          <p:cNvPr id="5" name="Picture 4">
            <a:extLst>
              <a:ext uri="{FF2B5EF4-FFF2-40B4-BE49-F238E27FC236}">
                <a16:creationId xmlns:a16="http://schemas.microsoft.com/office/drawing/2014/main" id="{01459F7D-E1DA-1D69-0BAE-A9D5CF1DF36E}"/>
              </a:ext>
            </a:extLst>
          </p:cNvPr>
          <p:cNvPicPr>
            <a:picLocks noChangeAspect="1"/>
          </p:cNvPicPr>
          <p:nvPr/>
        </p:nvPicPr>
        <p:blipFill>
          <a:blip r:embed="rId3"/>
          <a:stretch>
            <a:fillRect/>
          </a:stretch>
        </p:blipFill>
        <p:spPr>
          <a:xfrm>
            <a:off x="677032" y="1010221"/>
            <a:ext cx="11300101" cy="4220147"/>
          </a:xfrm>
          <a:prstGeom prst="rect">
            <a:avLst/>
          </a:prstGeom>
        </p:spPr>
      </p:pic>
    </p:spTree>
    <p:extLst>
      <p:ext uri="{BB962C8B-B14F-4D97-AF65-F5344CB8AC3E}">
        <p14:creationId xmlns:p14="http://schemas.microsoft.com/office/powerpoint/2010/main" val="9545160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Lorentz Force</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58693"/>
            <a:ext cx="3779478" cy="319722"/>
          </a:xfrm>
        </p:spPr>
        <p:txBody>
          <a:bodyPr/>
          <a:lstStyle/>
          <a:p>
            <a:r>
              <a:rPr lang="en-AU" dirty="0"/>
              <a:t>Content Development</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pic>
        <p:nvPicPr>
          <p:cNvPr id="6" name="Picture 5">
            <a:extLst>
              <a:ext uri="{FF2B5EF4-FFF2-40B4-BE49-F238E27FC236}">
                <a16:creationId xmlns:a16="http://schemas.microsoft.com/office/drawing/2014/main" id="{E77EB08B-D6E3-DB78-0D6A-90E398D1DC7E}"/>
              </a:ext>
            </a:extLst>
          </p:cNvPr>
          <p:cNvPicPr>
            <a:picLocks noChangeAspect="1"/>
          </p:cNvPicPr>
          <p:nvPr/>
        </p:nvPicPr>
        <p:blipFill>
          <a:blip r:embed="rId3"/>
          <a:stretch>
            <a:fillRect/>
          </a:stretch>
        </p:blipFill>
        <p:spPr>
          <a:xfrm>
            <a:off x="584291" y="1295551"/>
            <a:ext cx="11023417" cy="4554763"/>
          </a:xfrm>
          <a:prstGeom prst="rect">
            <a:avLst/>
          </a:prstGeom>
        </p:spPr>
      </p:pic>
    </p:spTree>
    <p:extLst>
      <p:ext uri="{BB962C8B-B14F-4D97-AF65-F5344CB8AC3E}">
        <p14:creationId xmlns:p14="http://schemas.microsoft.com/office/powerpoint/2010/main" val="39371415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Force on a charge moving through a magnetic field</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58693"/>
            <a:ext cx="3779478" cy="319722"/>
          </a:xfrm>
        </p:spPr>
        <p:txBody>
          <a:bodyPr/>
          <a:lstStyle/>
          <a:p>
            <a:r>
              <a:rPr lang="en-AU" dirty="0"/>
              <a:t>Content Development</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2" name="Text Placeholder 3">
            <a:extLst>
              <a:ext uri="{FF2B5EF4-FFF2-40B4-BE49-F238E27FC236}">
                <a16:creationId xmlns:a16="http://schemas.microsoft.com/office/drawing/2014/main" id="{F6AEE6B5-64BD-46D1-A050-038FF25910D9}"/>
              </a:ext>
            </a:extLst>
          </p:cNvPr>
          <p:cNvSpPr txBox="1">
            <a:spLocks/>
          </p:cNvSpPr>
          <p:nvPr/>
        </p:nvSpPr>
        <p:spPr>
          <a:xfrm>
            <a:off x="214867" y="989741"/>
            <a:ext cx="1176226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buFont typeface="Arial" panose="020B0604020202020204" pitchFamily="34" charset="0"/>
              <a:buChar char="•"/>
            </a:pPr>
            <a:r>
              <a:rPr lang="en-AU" sz="2400" b="0" dirty="0"/>
              <a:t>Any charge moving through an external magnetic field will always experience a force on it. A moving charge creates a magnetic field which interacts with the external field to exert a force.</a:t>
            </a:r>
          </a:p>
          <a:p>
            <a:pPr marL="342900" indent="-342900" algn="just">
              <a:buFont typeface="Arial" panose="020B0604020202020204" pitchFamily="34" charset="0"/>
              <a:buChar char="•"/>
            </a:pPr>
            <a:r>
              <a:rPr lang="en-AU" sz="2400" b="0" dirty="0"/>
              <a:t>The concepts for current-carrying wires, the same rules apply.</a:t>
            </a:r>
          </a:p>
        </p:txBody>
      </p:sp>
      <p:pic>
        <p:nvPicPr>
          <p:cNvPr id="35" name="Picture 34">
            <a:extLst>
              <a:ext uri="{FF2B5EF4-FFF2-40B4-BE49-F238E27FC236}">
                <a16:creationId xmlns:a16="http://schemas.microsoft.com/office/drawing/2014/main" id="{956B7AD8-B488-EE0B-0C23-7E798B7C5157}"/>
              </a:ext>
            </a:extLst>
          </p:cNvPr>
          <p:cNvPicPr/>
          <p:nvPr/>
        </p:nvPicPr>
        <p:blipFill>
          <a:blip r:embed="rId3"/>
          <a:stretch>
            <a:fillRect/>
          </a:stretch>
        </p:blipFill>
        <p:spPr>
          <a:xfrm>
            <a:off x="6454162" y="2648028"/>
            <a:ext cx="3805406" cy="2640935"/>
          </a:xfrm>
          <a:prstGeom prst="rect">
            <a:avLst/>
          </a:prstGeom>
        </p:spPr>
      </p:pic>
      <p:sp>
        <p:nvSpPr>
          <p:cNvPr id="36" name="Text Placeholder 3">
            <a:extLst>
              <a:ext uri="{FF2B5EF4-FFF2-40B4-BE49-F238E27FC236}">
                <a16:creationId xmlns:a16="http://schemas.microsoft.com/office/drawing/2014/main" id="{CB183853-7653-A91F-5178-AD1296A5AB2C}"/>
              </a:ext>
            </a:extLst>
          </p:cNvPr>
          <p:cNvSpPr txBox="1">
            <a:spLocks/>
          </p:cNvSpPr>
          <p:nvPr/>
        </p:nvSpPr>
        <p:spPr>
          <a:xfrm>
            <a:off x="4957010" y="5371816"/>
            <a:ext cx="7140407"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buFont typeface="Arial" panose="020B0604020202020204" pitchFamily="34" charset="0"/>
              <a:buChar char="•"/>
            </a:pPr>
            <a:r>
              <a:rPr lang="en-AU" sz="2400" dirty="0"/>
              <a:t>Remember</a:t>
            </a:r>
            <a:r>
              <a:rPr lang="en-AU" sz="2400" b="0" dirty="0"/>
              <a:t>: conventional current is positive. It is the flow of positive charge!</a:t>
            </a:r>
            <a:endParaRPr lang="en-AU" sz="2400" dirty="0"/>
          </a:p>
        </p:txBody>
      </p:sp>
      <p:pic>
        <p:nvPicPr>
          <p:cNvPr id="5" name="Picture 4">
            <a:extLst>
              <a:ext uri="{FF2B5EF4-FFF2-40B4-BE49-F238E27FC236}">
                <a16:creationId xmlns:a16="http://schemas.microsoft.com/office/drawing/2014/main" id="{0DCF16BB-17DF-5BE3-D95F-9BC6EA35E5C1}"/>
              </a:ext>
            </a:extLst>
          </p:cNvPr>
          <p:cNvPicPr>
            <a:picLocks noChangeAspect="1"/>
          </p:cNvPicPr>
          <p:nvPr/>
        </p:nvPicPr>
        <p:blipFill>
          <a:blip r:embed="rId4"/>
          <a:stretch>
            <a:fillRect/>
          </a:stretch>
        </p:blipFill>
        <p:spPr>
          <a:xfrm>
            <a:off x="376900" y="2830539"/>
            <a:ext cx="4254786" cy="3669936"/>
          </a:xfrm>
          <a:prstGeom prst="rect">
            <a:avLst/>
          </a:prstGeom>
        </p:spPr>
      </p:pic>
      <p:cxnSp>
        <p:nvCxnSpPr>
          <p:cNvPr id="8" name="Straight Arrow Connector 7">
            <a:extLst>
              <a:ext uri="{FF2B5EF4-FFF2-40B4-BE49-F238E27FC236}">
                <a16:creationId xmlns:a16="http://schemas.microsoft.com/office/drawing/2014/main" id="{BFDC4682-5E7A-AF70-9BE1-6879C99BCB22}"/>
              </a:ext>
            </a:extLst>
          </p:cNvPr>
          <p:cNvCxnSpPr>
            <a:cxnSpLocks/>
          </p:cNvCxnSpPr>
          <p:nvPr/>
        </p:nvCxnSpPr>
        <p:spPr>
          <a:xfrm>
            <a:off x="2487168" y="4608576"/>
            <a:ext cx="676656"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98B4C797-0FEC-6BA8-CCFF-1B335675CA4A}"/>
              </a:ext>
            </a:extLst>
          </p:cNvPr>
          <p:cNvSpPr txBox="1"/>
          <p:nvPr/>
        </p:nvSpPr>
        <p:spPr>
          <a:xfrm>
            <a:off x="2706624" y="3968496"/>
            <a:ext cx="914400" cy="914400"/>
          </a:xfrm>
          <a:prstGeom prst="rect">
            <a:avLst/>
          </a:prstGeom>
          <a:noFill/>
          <a:ln>
            <a:noFill/>
          </a:ln>
        </p:spPr>
        <p:txBody>
          <a:bodyPr wrap="none" rtlCol="0" anchor="t" anchorCtr="0">
            <a:normAutofit/>
          </a:bodyPr>
          <a:lstStyle/>
          <a:p>
            <a:pPr algn="l"/>
            <a:r>
              <a:rPr lang="en-AU" sz="3200" b="1" dirty="0">
                <a:latin typeface="Century Gothic" panose="020B0502020202020204" pitchFamily="34" charset="0"/>
                <a:cs typeface="Futura Medium" panose="020B0602020204020303" pitchFamily="34" charset="-79"/>
              </a:rPr>
              <a:t>v</a:t>
            </a:r>
          </a:p>
        </p:txBody>
      </p:sp>
    </p:spTree>
    <p:extLst>
      <p:ext uri="{BB962C8B-B14F-4D97-AF65-F5344CB8AC3E}">
        <p14:creationId xmlns:p14="http://schemas.microsoft.com/office/powerpoint/2010/main" val="2542559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Lorentz Force</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58693"/>
            <a:ext cx="3779478" cy="319722"/>
          </a:xfrm>
        </p:spPr>
        <p:txBody>
          <a:bodyPr/>
          <a:lstStyle/>
          <a:p>
            <a:r>
              <a:rPr lang="en-AU" dirty="0"/>
              <a:t>Content Development</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pic>
        <p:nvPicPr>
          <p:cNvPr id="6" name="Picture 5">
            <a:extLst>
              <a:ext uri="{FF2B5EF4-FFF2-40B4-BE49-F238E27FC236}">
                <a16:creationId xmlns:a16="http://schemas.microsoft.com/office/drawing/2014/main" id="{074E608A-87E3-B330-2BC6-AF50572A7EB9}"/>
              </a:ext>
            </a:extLst>
          </p:cNvPr>
          <p:cNvPicPr>
            <a:picLocks noChangeAspect="1"/>
          </p:cNvPicPr>
          <p:nvPr/>
        </p:nvPicPr>
        <p:blipFill>
          <a:blip r:embed="rId3"/>
          <a:stretch>
            <a:fillRect/>
          </a:stretch>
        </p:blipFill>
        <p:spPr>
          <a:xfrm>
            <a:off x="554060" y="1007686"/>
            <a:ext cx="8516788" cy="5389071"/>
          </a:xfrm>
          <a:prstGeom prst="rect">
            <a:avLst/>
          </a:prstGeom>
        </p:spPr>
      </p:pic>
    </p:spTree>
    <p:extLst>
      <p:ext uri="{BB962C8B-B14F-4D97-AF65-F5344CB8AC3E}">
        <p14:creationId xmlns:p14="http://schemas.microsoft.com/office/powerpoint/2010/main" val="22134586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Lorentz Force</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58693"/>
            <a:ext cx="3779478" cy="319722"/>
          </a:xfrm>
        </p:spPr>
        <p:txBody>
          <a:bodyPr/>
          <a:lstStyle/>
          <a:p>
            <a:r>
              <a:rPr lang="en-AU" dirty="0"/>
              <a:t>Content Development</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pic>
        <p:nvPicPr>
          <p:cNvPr id="5" name="Picture 4">
            <a:extLst>
              <a:ext uri="{FF2B5EF4-FFF2-40B4-BE49-F238E27FC236}">
                <a16:creationId xmlns:a16="http://schemas.microsoft.com/office/drawing/2014/main" id="{BCADEFB4-4928-1FB3-05F2-1F9973ADC087}"/>
              </a:ext>
            </a:extLst>
          </p:cNvPr>
          <p:cNvPicPr>
            <a:picLocks noChangeAspect="1"/>
          </p:cNvPicPr>
          <p:nvPr/>
        </p:nvPicPr>
        <p:blipFill>
          <a:blip r:embed="rId3"/>
          <a:stretch>
            <a:fillRect/>
          </a:stretch>
        </p:blipFill>
        <p:spPr>
          <a:xfrm>
            <a:off x="491321" y="878415"/>
            <a:ext cx="11424224" cy="3850328"/>
          </a:xfrm>
          <a:prstGeom prst="rect">
            <a:avLst/>
          </a:prstGeom>
        </p:spPr>
      </p:pic>
      <p:pic>
        <p:nvPicPr>
          <p:cNvPr id="8" name="Picture 7">
            <a:extLst>
              <a:ext uri="{FF2B5EF4-FFF2-40B4-BE49-F238E27FC236}">
                <a16:creationId xmlns:a16="http://schemas.microsoft.com/office/drawing/2014/main" id="{46AFA66B-A01A-99D3-4866-E5CFCAAAF83D}"/>
              </a:ext>
            </a:extLst>
          </p:cNvPr>
          <p:cNvPicPr>
            <a:picLocks noChangeAspect="1"/>
          </p:cNvPicPr>
          <p:nvPr/>
        </p:nvPicPr>
        <p:blipFill>
          <a:blip r:embed="rId4"/>
          <a:stretch>
            <a:fillRect/>
          </a:stretch>
        </p:blipFill>
        <p:spPr>
          <a:xfrm>
            <a:off x="469562" y="5137370"/>
            <a:ext cx="11424224" cy="976019"/>
          </a:xfrm>
          <a:prstGeom prst="rect">
            <a:avLst/>
          </a:prstGeom>
        </p:spPr>
      </p:pic>
    </p:spTree>
    <p:extLst>
      <p:ext uri="{BB962C8B-B14F-4D97-AF65-F5344CB8AC3E}">
        <p14:creationId xmlns:p14="http://schemas.microsoft.com/office/powerpoint/2010/main" val="2684897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Lorentz Force</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58693"/>
            <a:ext cx="3779478" cy="319722"/>
          </a:xfrm>
        </p:spPr>
        <p:txBody>
          <a:bodyPr/>
          <a:lstStyle/>
          <a:p>
            <a:r>
              <a:rPr lang="en-AU" dirty="0"/>
              <a:t>Content Development</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pic>
        <p:nvPicPr>
          <p:cNvPr id="8" name="Picture 7">
            <a:extLst>
              <a:ext uri="{FF2B5EF4-FFF2-40B4-BE49-F238E27FC236}">
                <a16:creationId xmlns:a16="http://schemas.microsoft.com/office/drawing/2014/main" id="{BD73DA12-357B-EBB8-876D-1ACB366E96DC}"/>
              </a:ext>
            </a:extLst>
          </p:cNvPr>
          <p:cNvPicPr>
            <a:picLocks noChangeAspect="1"/>
          </p:cNvPicPr>
          <p:nvPr/>
        </p:nvPicPr>
        <p:blipFill>
          <a:blip r:embed="rId3"/>
          <a:stretch>
            <a:fillRect/>
          </a:stretch>
        </p:blipFill>
        <p:spPr>
          <a:xfrm>
            <a:off x="2037968" y="1007686"/>
            <a:ext cx="8966709" cy="5291621"/>
          </a:xfrm>
          <a:prstGeom prst="rect">
            <a:avLst/>
          </a:prstGeom>
        </p:spPr>
      </p:pic>
    </p:spTree>
    <p:extLst>
      <p:ext uri="{BB962C8B-B14F-4D97-AF65-F5344CB8AC3E}">
        <p14:creationId xmlns:p14="http://schemas.microsoft.com/office/powerpoint/2010/main" val="184819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Lorentz Force</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58693"/>
            <a:ext cx="3779478" cy="319722"/>
          </a:xfrm>
        </p:spPr>
        <p:txBody>
          <a:bodyPr/>
          <a:lstStyle/>
          <a:p>
            <a:r>
              <a:rPr lang="en-AU" dirty="0"/>
              <a:t>Content Development</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pic>
        <p:nvPicPr>
          <p:cNvPr id="8" name="Picture 7">
            <a:extLst>
              <a:ext uri="{FF2B5EF4-FFF2-40B4-BE49-F238E27FC236}">
                <a16:creationId xmlns:a16="http://schemas.microsoft.com/office/drawing/2014/main" id="{FACE0151-383F-BD22-A834-A6EC9EFA9450}"/>
              </a:ext>
            </a:extLst>
          </p:cNvPr>
          <p:cNvPicPr>
            <a:picLocks noChangeAspect="1"/>
          </p:cNvPicPr>
          <p:nvPr/>
        </p:nvPicPr>
        <p:blipFill>
          <a:blip r:embed="rId3"/>
          <a:stretch>
            <a:fillRect/>
          </a:stretch>
        </p:blipFill>
        <p:spPr>
          <a:xfrm>
            <a:off x="1580959" y="1007685"/>
            <a:ext cx="9428417" cy="5402367"/>
          </a:xfrm>
          <a:prstGeom prst="rect">
            <a:avLst/>
          </a:prstGeom>
        </p:spPr>
      </p:pic>
    </p:spTree>
    <p:extLst>
      <p:ext uri="{BB962C8B-B14F-4D97-AF65-F5344CB8AC3E}">
        <p14:creationId xmlns:p14="http://schemas.microsoft.com/office/powerpoint/2010/main" val="13843548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22FDFC4-7213-4B80-88AC-CFDA713A6754}"/>
              </a:ext>
            </a:extLst>
          </p:cNvPr>
          <p:cNvSpPr>
            <a:spLocks noGrp="1"/>
          </p:cNvSpPr>
          <p:nvPr>
            <p:ph type="body" sz="quarter" idx="10"/>
          </p:nvPr>
        </p:nvSpPr>
        <p:spPr/>
        <p:txBody>
          <a:bodyPr/>
          <a:lstStyle/>
          <a:p>
            <a:r>
              <a:rPr lang="en-AU" sz="11500" dirty="0"/>
              <a:t> </a:t>
            </a:r>
          </a:p>
        </p:txBody>
      </p:sp>
      <p:sp>
        <p:nvSpPr>
          <p:cNvPr id="3" name="Text Placeholder 2">
            <a:extLst>
              <a:ext uri="{FF2B5EF4-FFF2-40B4-BE49-F238E27FC236}">
                <a16:creationId xmlns:a16="http://schemas.microsoft.com/office/drawing/2014/main" id="{077C5160-7C61-4493-B223-FEA0BC7A48F2}"/>
              </a:ext>
            </a:extLst>
          </p:cNvPr>
          <p:cNvSpPr>
            <a:spLocks noGrp="1"/>
          </p:cNvSpPr>
          <p:nvPr>
            <p:ph type="body" sz="quarter" idx="11"/>
          </p:nvPr>
        </p:nvSpPr>
        <p:spPr/>
        <p:txBody>
          <a:bodyPr/>
          <a:lstStyle/>
          <a:p>
            <a:r>
              <a:rPr lang="en-AU" b="1" dirty="0">
                <a:solidFill>
                  <a:srgbClr val="FFD966"/>
                </a:solidFill>
              </a:rPr>
              <a:t>Homework</a:t>
            </a:r>
          </a:p>
        </p:txBody>
      </p:sp>
    </p:spTree>
    <p:extLst>
      <p:ext uri="{BB962C8B-B14F-4D97-AF65-F5344CB8AC3E}">
        <p14:creationId xmlns:p14="http://schemas.microsoft.com/office/powerpoint/2010/main" val="1604990180"/>
      </p:ext>
    </p:extLst>
  </p:cSld>
  <p:clrMapOvr>
    <a:masterClrMapping/>
  </p:clrMapOvr>
</p:sld>
</file>

<file path=ppt/theme/theme1.xml><?xml version="1.0" encoding="utf-8"?>
<a:theme xmlns:a="http://schemas.openxmlformats.org/drawingml/2006/main" name="Daily Review">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Explicit Instruction_Dark">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a:noFill/>
        </a:ln>
      </a:spPr>
      <a:bodyPr wrap="square" rtlCol="0" anchor="t" anchorCtr="0">
        <a:normAutofit fontScale="92500"/>
      </a:bodyPr>
      <a:lstStyle>
        <a:defPPr algn="l">
          <a:defRPr sz="5400" b="1" dirty="0" smtClean="0">
            <a:latin typeface="Century Gothic" panose="020B0502020202020204" pitchFamily="34" charset="0"/>
            <a:cs typeface="Futura Medium" panose="020B0602020204020303" pitchFamily="34" charset="-79"/>
          </a:defRPr>
        </a:defPPr>
      </a:lstStyle>
    </a:txDef>
  </a:objectDefaults>
  <a:extraClrSchemeLst/>
  <a:extLst>
    <a:ext uri="{05A4C25C-085E-4340-85A3-A5531E510DB2}">
      <thm15:themeFamily xmlns:thm15="http://schemas.microsoft.com/office/thememl/2012/main" name="Theme2" id="{15861BA0-56D5-1E4E-B56A-268D38A279BF}" vid="{9D14DC9A-E19D-5949-B871-56F3C64BEB6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d5c732d2-f217-444a-91d8-37c5714ca695" xsi:nil="true"/>
    <lcf76f155ced4ddcb4097134ff3c332f xmlns="8f659357-f805-491c-ad0b-5621b2de6466">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8157990E5B9394AB60DC397E95032F9" ma:contentTypeVersion="16" ma:contentTypeDescription="Create a new document." ma:contentTypeScope="" ma:versionID="02697e3214b2f55142a2e7b89ba6de54">
  <xsd:schema xmlns:xsd="http://www.w3.org/2001/XMLSchema" xmlns:xs="http://www.w3.org/2001/XMLSchema" xmlns:p="http://schemas.microsoft.com/office/2006/metadata/properties" xmlns:ns2="8f659357-f805-491c-ad0b-5621b2de6466" xmlns:ns3="d5c732d2-f217-444a-91d8-37c5714ca695" targetNamespace="http://schemas.microsoft.com/office/2006/metadata/properties" ma:root="true" ma:fieldsID="67be6965022b95aa9d7585358a9bb7fc" ns2:_="" ns3:_="">
    <xsd:import namespace="8f659357-f805-491c-ad0b-5621b2de6466"/>
    <xsd:import namespace="d5c732d2-f217-444a-91d8-37c5714ca69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LengthInSeconds" minOccurs="0"/>
                <xsd:element ref="ns2:MediaServiceOCR" minOccurs="0"/>
                <xsd:element ref="ns2:MediaServiceGenerationTime" minOccurs="0"/>
                <xsd:element ref="ns2:MediaServiceEventHashCode" minOccurs="0"/>
                <xsd:element ref="ns3:SharedWithUsers" minOccurs="0"/>
                <xsd:element ref="ns3:SharedWithDetails" minOccurs="0"/>
                <xsd:element ref="ns2:lcf76f155ced4ddcb4097134ff3c332f" minOccurs="0"/>
                <xsd:element ref="ns3:TaxCatchAll"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f659357-f805-491c-ad0b-5621b2de646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LengthInSeconds" ma:index="14" nillable="true" ma:displayName="Length (seconds)" ma:internalName="MediaLengthInSeconds" ma:readOnly="true">
      <xsd:simpleType>
        <xsd:restriction base="dms:Unknown"/>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ea606fe5-00d0-49e1-aa33-d9ffd0209102"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5c732d2-f217-444a-91d8-37c5714ca695"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787221a7-1fed-4694-a1ec-bb608177e353}" ma:internalName="TaxCatchAll" ma:showField="CatchAllData" ma:web="d5c732d2-f217-444a-91d8-37c5714ca69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D5BC30B-A8FB-4389-B40F-C069B6D2FAB9}">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77F09D33-A1B5-4438-8F96-65DD71762491}">
  <ds:schemaRefs>
    <ds:schemaRef ds:uri="http://schemas.microsoft.com/sharepoint/v3/contenttype/forms"/>
  </ds:schemaRefs>
</ds:datastoreItem>
</file>

<file path=customXml/itemProps3.xml><?xml version="1.0" encoding="utf-8"?>
<ds:datastoreItem xmlns:ds="http://schemas.openxmlformats.org/officeDocument/2006/customXml" ds:itemID="{83646C99-98D9-44BB-A893-B88CB8C82954}"/>
</file>

<file path=docProps/app.xml><?xml version="1.0" encoding="utf-8"?>
<Properties xmlns="http://schemas.openxmlformats.org/officeDocument/2006/extended-properties" xmlns:vt="http://schemas.openxmlformats.org/officeDocument/2006/docPropsVTypes">
  <Template>{33057687-8793-EB47-A5E0-08E93C53D0F2}tf10001071</Template>
  <TotalTime>6813</TotalTime>
  <Words>1006</Words>
  <Application>Microsoft Office PowerPoint</Application>
  <PresentationFormat>Widescreen</PresentationFormat>
  <Paragraphs>138</Paragraphs>
  <Slides>22</Slides>
  <Notes>21</Notes>
  <HiddenSlides>0</HiddenSlides>
  <MMClips>2</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22</vt:i4>
      </vt:variant>
    </vt:vector>
  </HeadingPairs>
  <TitlesOfParts>
    <vt:vector size="30" baseType="lpstr">
      <vt:lpstr>Arial</vt:lpstr>
      <vt:lpstr>Calibri</vt:lpstr>
      <vt:lpstr>Century Gothic</vt:lpstr>
      <vt:lpstr>Futura Medium</vt:lpstr>
      <vt:lpstr>Roboto</vt:lpstr>
      <vt:lpstr>Times New Roman</vt:lpstr>
      <vt:lpstr>Daily Review</vt:lpstr>
      <vt:lpstr>1_Explicit Instruction_Dark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BAKER Mark [Southern River College]</cp:lastModifiedBy>
  <cp:revision>445</cp:revision>
  <cp:lastPrinted>2018-05-27T06:54:10Z</cp:lastPrinted>
  <dcterms:created xsi:type="dcterms:W3CDTF">2018-03-29T05:56:09Z</dcterms:created>
  <dcterms:modified xsi:type="dcterms:W3CDTF">2023-05-02T06:54:59Z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0x010100C8157990E5B9394AB60DC397E95032F9</vt:lpwstr>
  </property>
</Properties>
</file>