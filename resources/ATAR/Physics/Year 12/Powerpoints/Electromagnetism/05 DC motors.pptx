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11"/>
  </p:notesMasterIdLst>
  <p:handoutMasterIdLst>
    <p:handoutMasterId r:id="rId12"/>
  </p:handoutMasterIdLst>
  <p:sldIdLst>
    <p:sldId id="577" r:id="rId6"/>
    <p:sldId id="528" r:id="rId7"/>
    <p:sldId id="634" r:id="rId8"/>
    <p:sldId id="635" r:id="rId9"/>
    <p:sldId id="4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C18"/>
    <a:srgbClr val="4472C4"/>
    <a:srgbClr val="FF0000"/>
    <a:srgbClr val="FFD966"/>
    <a:srgbClr val="8FAADC"/>
    <a:srgbClr val="159B4B"/>
    <a:srgbClr val="0070C0"/>
    <a:srgbClr val="C55A11"/>
    <a:srgbClr val="6E407C"/>
    <a:srgbClr val="FBCA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7" autoAdjust="0"/>
    <p:restoredTop sz="74552" autoAdjust="0"/>
  </p:normalViewPr>
  <p:slideViewPr>
    <p:cSldViewPr snapToGrid="0" snapToObjects="1">
      <p:cViewPr varScale="1">
        <p:scale>
          <a:sx n="84" d="100"/>
          <a:sy n="84" d="100"/>
        </p:scale>
        <p:origin x="1134"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5/10/2023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10/05/2023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843396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4167853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https://ophysics.com/em7.html</a:t>
            </a:r>
          </a:p>
          <a:p>
            <a:endParaRPr lang="en-AU" dirty="0"/>
          </a:p>
          <a:p>
            <a:r>
              <a:rPr lang="en-AU" dirty="0"/>
              <a:t>https://ophysics.com/em8.html</a:t>
            </a:r>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406077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DC motors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lang="en-US" sz="2000" b="0" i="0" dirty="0">
                <a:solidFill>
                  <a:srgbClr val="000303"/>
                </a:solidFill>
                <a:effectLst/>
                <a:latin typeface="Roboto" panose="02000000000000000000" pitchFamily="2" charset="0"/>
              </a:rPr>
              <a:t> identify parts on DC motors and state their function and purpose</a:t>
            </a:r>
          </a:p>
          <a:p>
            <a:pPr algn="l">
              <a:buFont typeface="Arial" panose="020B0604020202020204" pitchFamily="34" charset="0"/>
              <a:buChar char="•"/>
            </a:pPr>
            <a:r>
              <a:rPr lang="en-US" sz="2000" b="0" i="0" dirty="0">
                <a:solidFill>
                  <a:srgbClr val="000303"/>
                </a:solidFill>
                <a:effectLst/>
                <a:latin typeface="Roboto" panose="02000000000000000000" pitchFamily="2" charset="0"/>
              </a:rPr>
              <a:t> calculate force and torque on a motor</a:t>
            </a:r>
          </a:p>
          <a:p>
            <a:pPr algn="l">
              <a:buFont typeface="Arial" panose="020B0604020202020204" pitchFamily="34" charset="0"/>
              <a:buChar char="•"/>
            </a:pPr>
            <a:r>
              <a:rPr lang="en-US" sz="2000" b="0" i="0" dirty="0">
                <a:solidFill>
                  <a:srgbClr val="000303"/>
                </a:solidFill>
                <a:effectLst/>
                <a:latin typeface="Roboto" panose="02000000000000000000" pitchFamily="2" charset="0"/>
              </a:rPr>
              <a:t> correctly determine direction of current, magnetic field and force</a:t>
            </a:r>
            <a:endParaRPr lang="en-US" sz="3200" b="0" i="0" dirty="0">
              <a:solidFill>
                <a:srgbClr val="000303"/>
              </a:solidFill>
              <a:effectLst/>
              <a:latin typeface="Roboto" panose="02000000000000000000" pitchFamily="2" charset="0"/>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DC Motor Parts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8BD0C51C-07B0-66ED-F129-D146FB19C47A}"/>
              </a:ext>
            </a:extLst>
          </p:cNvPr>
          <p:cNvPicPr>
            <a:picLocks noChangeAspect="1"/>
          </p:cNvPicPr>
          <p:nvPr/>
        </p:nvPicPr>
        <p:blipFill>
          <a:blip r:embed="rId3"/>
          <a:stretch>
            <a:fillRect/>
          </a:stretch>
        </p:blipFill>
        <p:spPr>
          <a:xfrm>
            <a:off x="414848" y="1695573"/>
            <a:ext cx="6482715" cy="3269180"/>
          </a:xfrm>
          <a:prstGeom prst="rect">
            <a:avLst/>
          </a:prstGeom>
        </p:spPr>
      </p:pic>
      <p:pic>
        <p:nvPicPr>
          <p:cNvPr id="8" name="Picture 7">
            <a:extLst>
              <a:ext uri="{FF2B5EF4-FFF2-40B4-BE49-F238E27FC236}">
                <a16:creationId xmlns:a16="http://schemas.microsoft.com/office/drawing/2014/main" id="{E9C97D49-B6DC-1C85-D412-02DC6483DA7B}"/>
              </a:ext>
            </a:extLst>
          </p:cNvPr>
          <p:cNvPicPr>
            <a:picLocks noChangeAspect="1"/>
          </p:cNvPicPr>
          <p:nvPr/>
        </p:nvPicPr>
        <p:blipFill rotWithShape="1">
          <a:blip r:embed="rId4"/>
          <a:srcRect l="3059" r="4695"/>
          <a:stretch/>
        </p:blipFill>
        <p:spPr>
          <a:xfrm>
            <a:off x="6897563" y="1204107"/>
            <a:ext cx="5174863" cy="3438584"/>
          </a:xfrm>
          <a:prstGeom prst="rect">
            <a:avLst/>
          </a:prstGeom>
        </p:spPr>
      </p:pic>
      <p:sp>
        <p:nvSpPr>
          <p:cNvPr id="10" name="TextBox 9">
            <a:extLst>
              <a:ext uri="{FF2B5EF4-FFF2-40B4-BE49-F238E27FC236}">
                <a16:creationId xmlns:a16="http://schemas.microsoft.com/office/drawing/2014/main" id="{C630EF75-2C20-997C-7527-04886656D907}"/>
              </a:ext>
            </a:extLst>
          </p:cNvPr>
          <p:cNvSpPr txBox="1"/>
          <p:nvPr/>
        </p:nvSpPr>
        <p:spPr>
          <a:xfrm>
            <a:off x="40538" y="2020380"/>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A</a:t>
            </a:r>
          </a:p>
        </p:txBody>
      </p:sp>
      <p:sp>
        <p:nvSpPr>
          <p:cNvPr id="13" name="TextBox 12">
            <a:extLst>
              <a:ext uri="{FF2B5EF4-FFF2-40B4-BE49-F238E27FC236}">
                <a16:creationId xmlns:a16="http://schemas.microsoft.com/office/drawing/2014/main" id="{5BDC5419-6055-5A30-ECA9-F6E6286ACB40}"/>
              </a:ext>
            </a:extLst>
          </p:cNvPr>
          <p:cNvSpPr txBox="1"/>
          <p:nvPr/>
        </p:nvSpPr>
        <p:spPr>
          <a:xfrm>
            <a:off x="40538" y="2525890"/>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D</a:t>
            </a:r>
          </a:p>
        </p:txBody>
      </p:sp>
      <p:sp>
        <p:nvSpPr>
          <p:cNvPr id="14" name="TextBox 13">
            <a:extLst>
              <a:ext uri="{FF2B5EF4-FFF2-40B4-BE49-F238E27FC236}">
                <a16:creationId xmlns:a16="http://schemas.microsoft.com/office/drawing/2014/main" id="{0F9B26CD-1648-591B-0CDA-2F907A04580A}"/>
              </a:ext>
            </a:extLst>
          </p:cNvPr>
          <p:cNvSpPr txBox="1"/>
          <p:nvPr/>
        </p:nvSpPr>
        <p:spPr>
          <a:xfrm>
            <a:off x="40538" y="3171034"/>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B</a:t>
            </a:r>
          </a:p>
        </p:txBody>
      </p:sp>
      <p:sp>
        <p:nvSpPr>
          <p:cNvPr id="15" name="TextBox 14">
            <a:extLst>
              <a:ext uri="{FF2B5EF4-FFF2-40B4-BE49-F238E27FC236}">
                <a16:creationId xmlns:a16="http://schemas.microsoft.com/office/drawing/2014/main" id="{B0DC1889-C05A-5E0D-82BC-A081456E9408}"/>
              </a:ext>
            </a:extLst>
          </p:cNvPr>
          <p:cNvSpPr txBox="1"/>
          <p:nvPr/>
        </p:nvSpPr>
        <p:spPr>
          <a:xfrm>
            <a:off x="40538" y="3695348"/>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E</a:t>
            </a:r>
          </a:p>
        </p:txBody>
      </p:sp>
      <p:sp>
        <p:nvSpPr>
          <p:cNvPr id="16" name="TextBox 15">
            <a:extLst>
              <a:ext uri="{FF2B5EF4-FFF2-40B4-BE49-F238E27FC236}">
                <a16:creationId xmlns:a16="http://schemas.microsoft.com/office/drawing/2014/main" id="{A80E8385-1BFF-4417-2FAD-563111AABC52}"/>
              </a:ext>
            </a:extLst>
          </p:cNvPr>
          <p:cNvSpPr txBox="1"/>
          <p:nvPr/>
        </p:nvSpPr>
        <p:spPr>
          <a:xfrm>
            <a:off x="40538" y="4219662"/>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C</a:t>
            </a:r>
          </a:p>
        </p:txBody>
      </p:sp>
      <p:sp>
        <p:nvSpPr>
          <p:cNvPr id="17" name="TextBox 16">
            <a:extLst>
              <a:ext uri="{FF2B5EF4-FFF2-40B4-BE49-F238E27FC236}">
                <a16:creationId xmlns:a16="http://schemas.microsoft.com/office/drawing/2014/main" id="{46585C8E-D080-FB12-7073-0E50D5C13329}"/>
              </a:ext>
            </a:extLst>
          </p:cNvPr>
          <p:cNvSpPr txBox="1"/>
          <p:nvPr/>
        </p:nvSpPr>
        <p:spPr>
          <a:xfrm>
            <a:off x="20955" y="5248920"/>
            <a:ext cx="548640" cy="414597"/>
          </a:xfrm>
          <a:prstGeom prst="rect">
            <a:avLst/>
          </a:prstGeom>
          <a:noFill/>
          <a:ln>
            <a:noFill/>
          </a:ln>
        </p:spPr>
        <p:txBody>
          <a:bodyPr wrap="none" rtlCol="0" anchor="t" anchorCtr="0">
            <a:normAutofit/>
          </a:bodyPr>
          <a:lstStyle/>
          <a:p>
            <a:pPr algn="l"/>
            <a:r>
              <a:rPr lang="en-AU" sz="2000" b="1" dirty="0">
                <a:latin typeface="Century Gothic" panose="020B0502020202020204" pitchFamily="34" charset="0"/>
                <a:cs typeface="Futura Medium" panose="020B0602020204020303" pitchFamily="34" charset="-79"/>
              </a:rPr>
              <a:t>F	</a:t>
            </a:r>
            <a:r>
              <a:rPr lang="en-AU" sz="2000" dirty="0">
                <a:latin typeface="Century Gothic" panose="020B0502020202020204" pitchFamily="34" charset="0"/>
                <a:cs typeface="Futura Medium" panose="020B0602020204020303" pitchFamily="34" charset="-79"/>
              </a:rPr>
              <a:t>Something that utilises the torque</a:t>
            </a:r>
            <a:endParaRPr lang="en-AU" sz="2000" b="1" dirty="0">
              <a:latin typeface="Century Gothic" panose="020B0502020202020204" pitchFamily="34" charset="0"/>
              <a:cs typeface="Futura Medium" panose="020B0602020204020303" pitchFamily="34" charset="-79"/>
            </a:endParaRPr>
          </a:p>
        </p:txBody>
      </p:sp>
    </p:spTree>
    <p:extLst>
      <p:ext uri="{BB962C8B-B14F-4D97-AF65-F5344CB8AC3E}">
        <p14:creationId xmlns:p14="http://schemas.microsoft.com/office/powerpoint/2010/main" val="120001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DC Motor Calculations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5" name="Picture 4">
            <a:extLst>
              <a:ext uri="{FF2B5EF4-FFF2-40B4-BE49-F238E27FC236}">
                <a16:creationId xmlns:a16="http://schemas.microsoft.com/office/drawing/2014/main" id="{DD3E1DA9-77B0-B890-1DFD-7E2102271BE1}"/>
              </a:ext>
            </a:extLst>
          </p:cNvPr>
          <p:cNvPicPr>
            <a:picLocks noChangeAspect="1"/>
          </p:cNvPicPr>
          <p:nvPr/>
        </p:nvPicPr>
        <p:blipFill rotWithShape="1">
          <a:blip r:embed="rId3"/>
          <a:srcRect t="15880"/>
          <a:stretch/>
        </p:blipFill>
        <p:spPr>
          <a:xfrm>
            <a:off x="295275" y="1097280"/>
            <a:ext cx="8841760" cy="4320540"/>
          </a:xfrm>
          <a:prstGeom prst="rect">
            <a:avLst/>
          </a:prstGeom>
        </p:spPr>
      </p:pic>
    </p:spTree>
    <p:extLst>
      <p:ext uri="{BB962C8B-B14F-4D97-AF65-F5344CB8AC3E}">
        <p14:creationId xmlns:p14="http://schemas.microsoft.com/office/powerpoint/2010/main" val="3836312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DC Motor Calculations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pic>
        <p:nvPicPr>
          <p:cNvPr id="6" name="Picture 5">
            <a:extLst>
              <a:ext uri="{FF2B5EF4-FFF2-40B4-BE49-F238E27FC236}">
                <a16:creationId xmlns:a16="http://schemas.microsoft.com/office/drawing/2014/main" id="{36FAB92C-4161-14EB-2F49-BFB271817BC0}"/>
              </a:ext>
            </a:extLst>
          </p:cNvPr>
          <p:cNvPicPr>
            <a:picLocks noChangeAspect="1"/>
          </p:cNvPicPr>
          <p:nvPr/>
        </p:nvPicPr>
        <p:blipFill>
          <a:blip r:embed="rId3"/>
          <a:stretch>
            <a:fillRect/>
          </a:stretch>
        </p:blipFill>
        <p:spPr>
          <a:xfrm>
            <a:off x="387668" y="1728504"/>
            <a:ext cx="3412766" cy="2246278"/>
          </a:xfrm>
          <a:prstGeom prst="rect">
            <a:avLst/>
          </a:prstGeom>
        </p:spPr>
      </p:pic>
      <p:sp>
        <p:nvSpPr>
          <p:cNvPr id="7" name="TextBox 6">
            <a:extLst>
              <a:ext uri="{FF2B5EF4-FFF2-40B4-BE49-F238E27FC236}">
                <a16:creationId xmlns:a16="http://schemas.microsoft.com/office/drawing/2014/main" id="{1BF05FA0-9C07-9A26-9A6C-A02E066C656A}"/>
              </a:ext>
            </a:extLst>
          </p:cNvPr>
          <p:cNvSpPr txBox="1"/>
          <p:nvPr/>
        </p:nvSpPr>
        <p:spPr>
          <a:xfrm>
            <a:off x="295275" y="1050016"/>
            <a:ext cx="914400" cy="914400"/>
          </a:xfrm>
          <a:prstGeom prst="rect">
            <a:avLst/>
          </a:prstGeom>
          <a:noFill/>
          <a:ln>
            <a:noFill/>
          </a:ln>
        </p:spPr>
        <p:txBody>
          <a:bodyPr wrap="none" rtlCol="0" anchor="t" anchorCtr="0">
            <a:normAutofit/>
          </a:bodyPr>
          <a:lstStyle/>
          <a:p>
            <a:pPr algn="l"/>
            <a:r>
              <a:rPr lang="en-AU" sz="2800" b="1" dirty="0">
                <a:latin typeface="Century Gothic" panose="020B0502020202020204" pitchFamily="34" charset="0"/>
                <a:cs typeface="Futura Medium" panose="020B0602020204020303" pitchFamily="34" charset="-79"/>
              </a:rPr>
              <a:t>Torque on one side of the coil</a:t>
            </a:r>
          </a:p>
        </p:txBody>
      </p:sp>
      <p:sp>
        <p:nvSpPr>
          <p:cNvPr id="8" name="TextBox 7">
            <a:extLst>
              <a:ext uri="{FF2B5EF4-FFF2-40B4-BE49-F238E27FC236}">
                <a16:creationId xmlns:a16="http://schemas.microsoft.com/office/drawing/2014/main" id="{50E6FAE1-F54B-B9A5-2AAF-435201A701CB}"/>
              </a:ext>
            </a:extLst>
          </p:cNvPr>
          <p:cNvSpPr txBox="1"/>
          <p:nvPr/>
        </p:nvSpPr>
        <p:spPr>
          <a:xfrm>
            <a:off x="6688454" y="1025612"/>
            <a:ext cx="4787266" cy="4883698"/>
          </a:xfrm>
          <a:prstGeom prst="rect">
            <a:avLst/>
          </a:prstGeom>
          <a:noFill/>
          <a:ln>
            <a:noFill/>
          </a:ln>
        </p:spPr>
        <p:txBody>
          <a:bodyPr wrap="none" rtlCol="0" anchor="t" anchorCtr="0">
            <a:normAutofit/>
          </a:bodyPr>
          <a:lstStyle/>
          <a:p>
            <a:pPr algn="l"/>
            <a:r>
              <a:rPr lang="en-AU" sz="2800" b="1" dirty="0">
                <a:latin typeface="Century Gothic" panose="020B0502020202020204" pitchFamily="34" charset="0"/>
                <a:cs typeface="Futura Medium" panose="020B0602020204020303" pitchFamily="34" charset="-79"/>
              </a:rPr>
              <a:t>Total torque</a:t>
            </a:r>
          </a:p>
          <a:p>
            <a:pPr algn="l"/>
            <a:endParaRPr lang="en-AU" sz="2800" b="1" dirty="0">
              <a:latin typeface="Century Gothic" panose="020B0502020202020204" pitchFamily="34" charset="0"/>
              <a:cs typeface="Futura Medium" panose="020B0602020204020303" pitchFamily="34" charset="-79"/>
            </a:endParaRPr>
          </a:p>
          <a:p>
            <a:pPr algn="l"/>
            <a:r>
              <a:rPr lang="en-AU" sz="3200" b="1" dirty="0">
                <a:latin typeface="Century Gothic" panose="020B0502020202020204" pitchFamily="34" charset="0"/>
                <a:cs typeface="Futura Medium" panose="020B0602020204020303" pitchFamily="34" charset="-79"/>
                <a:sym typeface="Symbol" panose="05050102010706020507" pitchFamily="18" charset="2"/>
              </a:rPr>
              <a:t></a:t>
            </a:r>
            <a:r>
              <a:rPr lang="en-AU" sz="3200" b="1" baseline="-25000" dirty="0">
                <a:latin typeface="Century Gothic" panose="020B0502020202020204" pitchFamily="34" charset="0"/>
                <a:cs typeface="Futura Medium" panose="020B0602020204020303" pitchFamily="34" charset="-79"/>
                <a:sym typeface="Symbol" panose="05050102010706020507" pitchFamily="18" charset="2"/>
              </a:rPr>
              <a:t>t</a:t>
            </a:r>
            <a:r>
              <a:rPr lang="en-AU" sz="3200" b="1" dirty="0">
                <a:latin typeface="Century Gothic" panose="020B0502020202020204" pitchFamily="34" charset="0"/>
                <a:cs typeface="Futura Medium" panose="020B0602020204020303" pitchFamily="34" charset="-79"/>
                <a:sym typeface="Symbol" panose="05050102010706020507" pitchFamily="18" charset="2"/>
              </a:rPr>
              <a:t> = 2</a:t>
            </a:r>
          </a:p>
          <a:p>
            <a:pPr algn="l"/>
            <a:endParaRPr lang="en-AU" sz="3200" b="1" dirty="0">
              <a:latin typeface="Century Gothic" panose="020B0502020202020204" pitchFamily="34" charset="0"/>
              <a:cs typeface="Futura Medium" panose="020B0602020204020303" pitchFamily="34" charset="-79"/>
              <a:sym typeface="Symbol" panose="05050102010706020507" pitchFamily="18" charset="2"/>
            </a:endParaRPr>
          </a:p>
          <a:p>
            <a:pPr algn="l"/>
            <a:r>
              <a:rPr lang="en-AU" sz="3200" b="1" dirty="0">
                <a:latin typeface="Century Gothic" panose="020B0502020202020204" pitchFamily="34" charset="0"/>
                <a:cs typeface="Futura Medium" panose="020B0602020204020303" pitchFamily="34" charset="-79"/>
                <a:sym typeface="Symbol" panose="05050102010706020507" pitchFamily="18" charset="2"/>
              </a:rPr>
              <a:t>    = 2 F r</a:t>
            </a:r>
          </a:p>
          <a:p>
            <a:pPr algn="l"/>
            <a:endParaRPr lang="en-AU" sz="3200" b="1" dirty="0">
              <a:latin typeface="Century Gothic" panose="020B0502020202020204" pitchFamily="34" charset="0"/>
              <a:cs typeface="Futura Medium" panose="020B0602020204020303" pitchFamily="34" charset="-79"/>
              <a:sym typeface="Symbol" panose="05050102010706020507" pitchFamily="18" charset="2"/>
            </a:endParaRPr>
          </a:p>
          <a:p>
            <a:pPr algn="l"/>
            <a:r>
              <a:rPr lang="en-AU" sz="3200" b="1" dirty="0">
                <a:latin typeface="Century Gothic" panose="020B0502020202020204" pitchFamily="34" charset="0"/>
                <a:cs typeface="Futura Medium" panose="020B0602020204020303" pitchFamily="34" charset="-79"/>
                <a:sym typeface="Symbol" panose="05050102010706020507" pitchFamily="18" charset="2"/>
              </a:rPr>
              <a:t>    = 2 </a:t>
            </a:r>
            <a:r>
              <a:rPr lang="en-AU" sz="3200" b="1" dirty="0">
                <a:latin typeface="Times New Roman" panose="02020603050405020304" pitchFamily="18" charset="0"/>
                <a:cs typeface="Times New Roman" panose="02020603050405020304" pitchFamily="18" charset="0"/>
                <a:sym typeface="Symbol" panose="05050102010706020507" pitchFamily="18" charset="2"/>
              </a:rPr>
              <a:t>I l </a:t>
            </a:r>
            <a:r>
              <a:rPr lang="en-AU" sz="3200" b="1" dirty="0">
                <a:latin typeface="Century Gothic" panose="020B0502020202020204" pitchFamily="34" charset="0"/>
                <a:cs typeface="Futura Medium" panose="020B0602020204020303" pitchFamily="34" charset="-79"/>
                <a:sym typeface="Symbol" panose="05050102010706020507" pitchFamily="18" charset="2"/>
              </a:rPr>
              <a:t>B r</a:t>
            </a:r>
          </a:p>
          <a:p>
            <a:pPr algn="l"/>
            <a:endParaRPr lang="en-AU" sz="3200" b="1" dirty="0">
              <a:latin typeface="Century Gothic" panose="020B0502020202020204" pitchFamily="34" charset="0"/>
              <a:cs typeface="Futura Medium" panose="020B0602020204020303" pitchFamily="34" charset="-79"/>
              <a:sym typeface="Symbol" panose="05050102010706020507" pitchFamily="18" charset="2"/>
            </a:endParaRPr>
          </a:p>
          <a:p>
            <a:pPr algn="l"/>
            <a:r>
              <a:rPr lang="en-AU" sz="3200" b="1" dirty="0">
                <a:latin typeface="Century Gothic" panose="020B0502020202020204" pitchFamily="34" charset="0"/>
                <a:cs typeface="Futura Medium" panose="020B0602020204020303" pitchFamily="34" charset="-79"/>
                <a:sym typeface="Symbol" panose="05050102010706020507" pitchFamily="18" charset="2"/>
              </a:rPr>
              <a:t> </a:t>
            </a:r>
            <a:r>
              <a:rPr lang="en-AU" sz="3200" b="1" baseline="-25000" dirty="0">
                <a:latin typeface="Century Gothic" panose="020B0502020202020204" pitchFamily="34" charset="0"/>
                <a:cs typeface="Futura Medium" panose="020B0602020204020303" pitchFamily="34" charset="-79"/>
                <a:sym typeface="Symbol" panose="05050102010706020507" pitchFamily="18" charset="2"/>
              </a:rPr>
              <a:t>t</a:t>
            </a:r>
            <a:r>
              <a:rPr lang="en-AU" sz="3200" b="1" dirty="0">
                <a:latin typeface="Century Gothic" panose="020B0502020202020204" pitchFamily="34" charset="0"/>
                <a:cs typeface="Futura Medium" panose="020B0602020204020303" pitchFamily="34" charset="-79"/>
                <a:sym typeface="Symbol" panose="05050102010706020507" pitchFamily="18" charset="2"/>
              </a:rPr>
              <a:t> = N I B A</a:t>
            </a:r>
            <a:endParaRPr lang="en-AU" sz="3200" b="1" dirty="0">
              <a:latin typeface="Century Gothic" panose="020B0502020202020204" pitchFamily="34" charset="0"/>
              <a:cs typeface="Futura Medium" panose="020B0602020204020303" pitchFamily="34" charset="-79"/>
            </a:endParaRPr>
          </a:p>
        </p:txBody>
      </p:sp>
      <p:sp>
        <p:nvSpPr>
          <p:cNvPr id="9" name="TextBox 8">
            <a:extLst>
              <a:ext uri="{FF2B5EF4-FFF2-40B4-BE49-F238E27FC236}">
                <a16:creationId xmlns:a16="http://schemas.microsoft.com/office/drawing/2014/main" id="{6B76E3A0-0015-C0C7-921D-E1DC8967F95D}"/>
              </a:ext>
            </a:extLst>
          </p:cNvPr>
          <p:cNvSpPr txBox="1"/>
          <p:nvPr/>
        </p:nvSpPr>
        <p:spPr>
          <a:xfrm>
            <a:off x="9082087" y="4366260"/>
            <a:ext cx="2903220" cy="845820"/>
          </a:xfrm>
          <a:prstGeom prst="rect">
            <a:avLst/>
          </a:prstGeom>
          <a:noFill/>
          <a:ln>
            <a:noFill/>
          </a:ln>
        </p:spPr>
        <p:txBody>
          <a:bodyPr wrap="square" rtlCol="0" anchor="t" anchorCtr="0">
            <a:normAutofit/>
          </a:bodyPr>
          <a:lstStyle/>
          <a:p>
            <a:pPr algn="l"/>
            <a:r>
              <a:rPr lang="en-AU" sz="2000" dirty="0">
                <a:latin typeface="Century Gothic" panose="020B0502020202020204" pitchFamily="34" charset="0"/>
                <a:cs typeface="Futura Medium" panose="020B0602020204020303" pitchFamily="34" charset="-79"/>
              </a:rPr>
              <a:t>A = 2* length*width</a:t>
            </a:r>
          </a:p>
        </p:txBody>
      </p:sp>
    </p:spTree>
    <p:extLst>
      <p:ext uri="{BB962C8B-B14F-4D97-AF65-F5344CB8AC3E}">
        <p14:creationId xmlns:p14="http://schemas.microsoft.com/office/powerpoint/2010/main" val="85685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sz="11500" dirty="0"/>
              <a:t> </a:t>
            </a:r>
          </a:p>
        </p:txBody>
      </p:sp>
      <p:sp>
        <p:nvSpPr>
          <p:cNvPr id="3" name="Text Placeholder 2">
            <a:extLst>
              <a:ext uri="{FF2B5EF4-FFF2-40B4-BE49-F238E27FC236}">
                <a16:creationId xmlns:a16="http://schemas.microsoft.com/office/drawing/2014/main" id="{077C5160-7C61-4493-B223-FEA0BC7A48F2}"/>
              </a:ext>
            </a:extLst>
          </p:cNvPr>
          <p:cNvSpPr>
            <a:spLocks noGrp="1"/>
          </p:cNvSpPr>
          <p:nvPr>
            <p:ph type="body" sz="quarter" idx="11"/>
          </p:nvPr>
        </p:nvSpPr>
        <p:spPr/>
        <p:txBody>
          <a:bodyPr/>
          <a:lstStyle/>
          <a:p>
            <a:r>
              <a:rPr lang="en-AU" b="1" dirty="0">
                <a:solidFill>
                  <a:srgbClr val="FFD966"/>
                </a:solidFill>
              </a:rPr>
              <a:t>Homework</a:t>
            </a:r>
          </a:p>
        </p:txBody>
      </p:sp>
      <p:sp>
        <p:nvSpPr>
          <p:cNvPr id="4" name="Text Placeholder 1">
            <a:extLst>
              <a:ext uri="{FF2B5EF4-FFF2-40B4-BE49-F238E27FC236}">
                <a16:creationId xmlns:a16="http://schemas.microsoft.com/office/drawing/2014/main" id="{7BDBBFB5-956F-2527-FA28-A05F59144EFE}"/>
              </a:ext>
            </a:extLst>
          </p:cNvPr>
          <p:cNvSpPr txBox="1">
            <a:spLocks/>
          </p:cNvSpPr>
          <p:nvPr/>
        </p:nvSpPr>
        <p:spPr>
          <a:xfrm>
            <a:off x="295274" y="1567484"/>
            <a:ext cx="11601508" cy="2929609"/>
          </a:xfrm>
          <a:prstGeom prst="rect">
            <a:avLst/>
          </a:prstGeom>
          <a:solidFill>
            <a:srgbClr val="2E546D"/>
          </a:solidFill>
          <a:ln>
            <a:noFill/>
          </a:ln>
        </p:spPr>
        <p:txBody>
          <a:bodyPr tIns="144000" bIns="0"/>
          <a:lstStyle>
            <a:lvl1pPr marL="0" indent="0" algn="l" defTabSz="914400" rtl="0" eaLnBrk="1" latinLnBrk="0" hangingPunct="1">
              <a:lnSpc>
                <a:spcPct val="90000"/>
              </a:lnSpc>
              <a:spcBef>
                <a:spcPts val="1000"/>
              </a:spcBef>
              <a:buFont typeface="Arial" panose="020B0604020202020204" pitchFamily="34" charset="0"/>
              <a:buNone/>
              <a:defRPr sz="6000" b="1" i="0" kern="1200">
                <a:solidFill>
                  <a:schemeClr val="bg1"/>
                </a:solidFill>
                <a:latin typeface="Century Gothic" panose="020B0502020202020204" pitchFamily="34" charset="0"/>
                <a:ea typeface="+mn-ea"/>
                <a:cs typeface="Futura Medium" panose="020B0602020204020303" pitchFamily="34" charset="-79"/>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bg1"/>
                </a:solidFill>
                <a:latin typeface="Futura Medium" panose="020B0602020204020303" pitchFamily="34" charset="-79"/>
                <a:ea typeface="+mn-ea"/>
                <a:cs typeface="Futura Medium" panose="020B0602020204020303" pitchFamily="34" charset="-79"/>
              </a:defRPr>
            </a:lvl2pPr>
            <a:lvl3pPr marL="9144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Futura Medium" panose="020B0602020204020303" pitchFamily="34" charset="-79"/>
                <a:ea typeface="+mn-ea"/>
                <a:cs typeface="Futura Medium" panose="020B0602020204020303" pitchFamily="34" charset="-79"/>
              </a:defRPr>
            </a:lvl3pPr>
            <a:lvl4pPr marL="13716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Futura Medium" panose="020B0602020204020303" pitchFamily="34" charset="-79"/>
                <a:ea typeface="+mn-ea"/>
                <a:cs typeface="Futura Medium" panose="020B0602020204020303" pitchFamily="34" charset="-79"/>
              </a:defRPr>
            </a:lvl4pPr>
            <a:lvl5pPr marL="18288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Futura Medium" panose="020B0602020204020303" pitchFamily="34" charset="-79"/>
                <a:ea typeface="+mn-ea"/>
                <a:cs typeface="Futura Medium" panose="020B06020202040203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Questions on DC Motor worksheet</a:t>
            </a:r>
          </a:p>
        </p:txBody>
      </p:sp>
    </p:spTree>
    <p:extLst>
      <p:ext uri="{BB962C8B-B14F-4D97-AF65-F5344CB8AC3E}">
        <p14:creationId xmlns:p14="http://schemas.microsoft.com/office/powerpoint/2010/main" val="1604990180"/>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2.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DB6024B-8F24-47C4-8771-06A4B1A88B11}"/>
</file>

<file path=docProps/app.xml><?xml version="1.0" encoding="utf-8"?>
<Properties xmlns="http://schemas.openxmlformats.org/officeDocument/2006/extended-properties" xmlns:vt="http://schemas.openxmlformats.org/officeDocument/2006/docPropsVTypes">
  <Template>{33057687-8793-EB47-A5E0-08E93C53D0F2}tf10001071</Template>
  <TotalTime>6891</TotalTime>
  <Words>132</Words>
  <Application>Microsoft Office PowerPoint</Application>
  <PresentationFormat>Widescreen</PresentationFormat>
  <Paragraphs>38</Paragraphs>
  <Slides>5</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vt:i4>
      </vt:variant>
    </vt:vector>
  </HeadingPairs>
  <TitlesOfParts>
    <vt:vector size="13" baseType="lpstr">
      <vt:lpstr>Arial</vt:lpstr>
      <vt:lpstr>Calibri</vt:lpstr>
      <vt:lpstr>Century Gothic</vt:lpstr>
      <vt:lpstr>Futura Medium</vt:lpstr>
      <vt:lpstr>Roboto</vt:lpstr>
      <vt:lpstr>Times New Roman</vt:lpstr>
      <vt:lpstr>Daily Review</vt:lpstr>
      <vt:lpstr>1_Explicit Instruction_Dark</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Mark BAKER</cp:lastModifiedBy>
  <cp:revision>448</cp:revision>
  <cp:lastPrinted>2018-05-27T06:54:10Z</cp:lastPrinted>
  <dcterms:created xsi:type="dcterms:W3CDTF">2018-03-29T05:56:09Z</dcterms:created>
  <dcterms:modified xsi:type="dcterms:W3CDTF">2023-05-10T02:48:58Z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