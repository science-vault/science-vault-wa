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74" r:id="rId4"/>
  </p:sldMasterIdLst>
  <p:notesMasterIdLst>
    <p:notesMasterId r:id="rId31"/>
  </p:notesMasterIdLst>
  <p:handoutMasterIdLst>
    <p:handoutMasterId r:id="rId32"/>
  </p:handoutMasterIdLst>
  <p:sldIdLst>
    <p:sldId id="577" r:id="rId5"/>
    <p:sldId id="528" r:id="rId6"/>
    <p:sldId id="580" r:id="rId7"/>
    <p:sldId id="581" r:id="rId8"/>
    <p:sldId id="582" r:id="rId9"/>
    <p:sldId id="583" r:id="rId10"/>
    <p:sldId id="584" r:id="rId11"/>
    <p:sldId id="585" r:id="rId12"/>
    <p:sldId id="603" r:id="rId13"/>
    <p:sldId id="586" r:id="rId14"/>
    <p:sldId id="588" r:id="rId15"/>
    <p:sldId id="589" r:id="rId16"/>
    <p:sldId id="590" r:id="rId17"/>
    <p:sldId id="591" r:id="rId18"/>
    <p:sldId id="593" r:id="rId19"/>
    <p:sldId id="594" r:id="rId20"/>
    <p:sldId id="595" r:id="rId21"/>
    <p:sldId id="596" r:id="rId22"/>
    <p:sldId id="592" r:id="rId23"/>
    <p:sldId id="602" r:id="rId24"/>
    <p:sldId id="597" r:id="rId25"/>
    <p:sldId id="598" r:id="rId26"/>
    <p:sldId id="599" r:id="rId27"/>
    <p:sldId id="600" r:id="rId28"/>
    <p:sldId id="579" r:id="rId29"/>
    <p:sldId id="60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AADC"/>
    <a:srgbClr val="F03C18"/>
    <a:srgbClr val="FFD966"/>
    <a:srgbClr val="FF0000"/>
    <a:srgbClr val="159B4B"/>
    <a:srgbClr val="0070C0"/>
    <a:srgbClr val="C55A11"/>
    <a:srgbClr val="6E407C"/>
    <a:srgbClr val="FBCA58"/>
    <a:srgbClr val="2E54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74700" autoAdjust="0"/>
  </p:normalViewPr>
  <p:slideViewPr>
    <p:cSldViewPr snapToGrid="0" snapToObjects="1">
      <p:cViewPr varScale="1">
        <p:scale>
          <a:sx n="94" d="100"/>
          <a:sy n="94" d="100"/>
        </p:scale>
        <p:origin x="702"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1/21/2023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Example of positively charged object: proton, alpha particle, positively charged ion (Na</a:t>
            </a:r>
            <a:r>
              <a:rPr lang="en-AU" b="0" baseline="30000" dirty="0"/>
              <a:t>+</a:t>
            </a:r>
            <a:r>
              <a:rPr lang="en-AU" b="0" dirty="0"/>
              <a:t>)</a:t>
            </a:r>
          </a:p>
          <a:p>
            <a:endParaRPr lang="en-AU" b="0" dirty="0"/>
          </a:p>
          <a:p>
            <a:r>
              <a:rPr lang="en-AU" b="0" dirty="0"/>
              <a:t>Example of negatively charged object: electron, negatively charged ion (Cl</a:t>
            </a:r>
            <a:r>
              <a:rPr lang="en-AU" b="0" baseline="30000" dirty="0"/>
              <a:t>-</a:t>
            </a:r>
            <a:r>
              <a:rPr lang="en-AU" b="0" dirty="0"/>
              <a:t>)</a:t>
            </a:r>
          </a:p>
          <a:p>
            <a:endParaRPr lang="en-AU" b="0" dirty="0"/>
          </a:p>
          <a:p>
            <a:r>
              <a:rPr lang="en-AU" b="0" dirty="0"/>
              <a:t>What would happen if +</a:t>
            </a:r>
            <a:r>
              <a:rPr lang="en-AU" b="0" dirty="0" err="1"/>
              <a:t>ve</a:t>
            </a:r>
            <a:r>
              <a:rPr lang="en-AU" b="0" dirty="0"/>
              <a:t> and -</a:t>
            </a:r>
            <a:r>
              <a:rPr lang="en-AU" b="0" dirty="0" err="1"/>
              <a:t>ve</a:t>
            </a:r>
            <a:r>
              <a:rPr lang="en-AU" b="0" dirty="0"/>
              <a:t> close to each other?   Attract</a:t>
            </a:r>
          </a:p>
          <a:p>
            <a:r>
              <a:rPr lang="en-AU" b="0" dirty="0"/>
              <a:t>+</a:t>
            </a:r>
            <a:r>
              <a:rPr lang="en-AU" b="0" dirty="0" err="1"/>
              <a:t>ve</a:t>
            </a:r>
            <a:r>
              <a:rPr lang="en-AU" b="0" dirty="0"/>
              <a:t> and +</a:t>
            </a:r>
            <a:r>
              <a:rPr lang="en-AU" b="0" dirty="0" err="1"/>
              <a:t>ve</a:t>
            </a:r>
            <a:r>
              <a:rPr lang="en-AU" b="0" dirty="0"/>
              <a:t>? 	Repel</a:t>
            </a:r>
          </a:p>
          <a:p>
            <a:r>
              <a:rPr lang="en-AU" b="0" dirty="0"/>
              <a:t>-</a:t>
            </a:r>
            <a:r>
              <a:rPr lang="en-AU" b="0" dirty="0" err="1"/>
              <a:t>ve</a:t>
            </a:r>
            <a:r>
              <a:rPr lang="en-AU" b="0" dirty="0"/>
              <a:t> and -</a:t>
            </a:r>
            <a:r>
              <a:rPr lang="en-AU" b="0" dirty="0" err="1"/>
              <a:t>ve</a:t>
            </a:r>
            <a:r>
              <a:rPr lang="en-AU" b="0" dirty="0"/>
              <a:t>?	Repel</a:t>
            </a:r>
          </a:p>
          <a:p>
            <a:endParaRPr lang="en-AU" b="0" dirty="0"/>
          </a:p>
          <a:p>
            <a:r>
              <a:rPr lang="en-AU" b="0"/>
              <a:t>But why?</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Example of positively charged object: proton, alpha particle, positively charged ion (Na</a:t>
            </a:r>
            <a:r>
              <a:rPr lang="en-AU" b="0" baseline="30000" dirty="0"/>
              <a:t>+</a:t>
            </a:r>
            <a:r>
              <a:rPr lang="en-AU" b="0" dirty="0"/>
              <a:t>)</a:t>
            </a:r>
          </a:p>
          <a:p>
            <a:endParaRPr lang="en-AU" b="0" dirty="0"/>
          </a:p>
          <a:p>
            <a:r>
              <a:rPr lang="en-AU" b="0" dirty="0"/>
              <a:t>Example of negatively charged object: electron, negatively charged ion (Cl</a:t>
            </a:r>
            <a:r>
              <a:rPr lang="en-AU" b="0" baseline="30000" dirty="0"/>
              <a:t>-</a:t>
            </a:r>
            <a:r>
              <a:rPr lang="en-AU" b="0" dirty="0"/>
              <a:t>)</a:t>
            </a:r>
          </a:p>
          <a:p>
            <a:endParaRPr lang="en-AU" b="0" dirty="0"/>
          </a:p>
          <a:p>
            <a:r>
              <a:rPr lang="en-AU" b="0" dirty="0"/>
              <a:t>What would happen if +</a:t>
            </a:r>
            <a:r>
              <a:rPr lang="en-AU" b="0" dirty="0" err="1"/>
              <a:t>ve</a:t>
            </a:r>
            <a:r>
              <a:rPr lang="en-AU" b="0" dirty="0"/>
              <a:t> and -</a:t>
            </a:r>
            <a:r>
              <a:rPr lang="en-AU" b="0" dirty="0" err="1"/>
              <a:t>ve</a:t>
            </a:r>
            <a:r>
              <a:rPr lang="en-AU" b="0" dirty="0"/>
              <a:t> close to each other?   Attract</a:t>
            </a:r>
          </a:p>
          <a:p>
            <a:r>
              <a:rPr lang="en-AU" b="0" dirty="0"/>
              <a:t>+</a:t>
            </a:r>
            <a:r>
              <a:rPr lang="en-AU" b="0" dirty="0" err="1"/>
              <a:t>ve</a:t>
            </a:r>
            <a:r>
              <a:rPr lang="en-AU" b="0" dirty="0"/>
              <a:t> and +</a:t>
            </a:r>
            <a:r>
              <a:rPr lang="en-AU" b="0" dirty="0" err="1"/>
              <a:t>ve</a:t>
            </a:r>
            <a:r>
              <a:rPr lang="en-AU" b="0" dirty="0"/>
              <a:t>? 	Repel</a:t>
            </a:r>
          </a:p>
          <a:p>
            <a:r>
              <a:rPr lang="en-AU" b="0" dirty="0"/>
              <a:t>-</a:t>
            </a:r>
            <a:r>
              <a:rPr lang="en-AU" b="0" dirty="0" err="1"/>
              <a:t>ve</a:t>
            </a:r>
            <a:r>
              <a:rPr lang="en-AU" b="0" dirty="0"/>
              <a:t> and -</a:t>
            </a:r>
            <a:r>
              <a:rPr lang="en-AU" b="0" dirty="0" err="1"/>
              <a:t>ve</a:t>
            </a:r>
            <a:r>
              <a:rPr lang="en-AU" b="0" dirty="0"/>
              <a:t>?	Repel</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1373836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Draw the gravitational fields of each object individually</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430301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3080565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1562441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2446123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2045213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https://www.youtube.com/watch?v=63FnT0W-Hxc&amp;ab_channel=JamesLincoln</a:t>
            </a:r>
          </a:p>
          <a:p>
            <a:endParaRPr lang="en-AU" b="0" dirty="0"/>
          </a:p>
          <a:p>
            <a:r>
              <a:rPr lang="en-US" b="0" i="0" dirty="0">
                <a:solidFill>
                  <a:srgbClr val="0F0F0F"/>
                </a:solidFill>
                <a:effectLst/>
                <a:latin typeface="Roboto" panose="02000000000000000000" pitchFamily="2" charset="0"/>
              </a:rPr>
              <a:t>In this video crystals of potassium permanganate dissolve and flow toward the positive electrode. This is because the manganate ion is negative.</a:t>
            </a:r>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610437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1818200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Note:</a:t>
            </a:r>
          </a:p>
          <a:p>
            <a:r>
              <a:rPr lang="en-AU" b="0" dirty="0"/>
              <a:t>The charge is of the object being studied, not the object creating the field.</a:t>
            </a:r>
          </a:p>
          <a:p>
            <a:endParaRPr lang="en-AU" b="0" dirty="0"/>
          </a:p>
          <a:p>
            <a:r>
              <a:rPr lang="en-AU" b="0" dirty="0"/>
              <a:t>Similar to gravitational field strength where we look at the mass of the person, not the mass of the Earth</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332694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b="1" dirty="0"/>
              <a:t>ε</a:t>
            </a:r>
            <a:r>
              <a:rPr lang="en-AU" b="1" dirty="0"/>
              <a:t> = </a:t>
            </a:r>
            <a:r>
              <a:rPr lang="en-AU" b="0" dirty="0"/>
              <a:t>electric permittivity: how well electric fields will pass through a medium</a:t>
            </a:r>
            <a:endParaRPr lang="en-AU" b="1" dirty="0"/>
          </a:p>
          <a:p>
            <a:endParaRPr lang="en-AU" b="1" dirty="0"/>
          </a:p>
          <a:p>
            <a:r>
              <a:rPr lang="en-AU" b="1" dirty="0"/>
              <a:t>Point charges:</a:t>
            </a:r>
          </a:p>
          <a:p>
            <a:r>
              <a:rPr lang="en-AU" b="0" dirty="0"/>
              <a:t>Something so small that the charge isn’t distributed. The charge occurs at one single point in space (like an electron)</a:t>
            </a:r>
          </a:p>
          <a:p>
            <a:endParaRPr lang="en-AU" b="0" dirty="0"/>
          </a:p>
          <a:p>
            <a:endParaRPr lang="en-AU" b="0" dirty="0"/>
          </a:p>
          <a:p>
            <a:r>
              <a:rPr lang="en-AU" b="0" dirty="0"/>
              <a:t>https://www.wtamu.edu/~cbaird/sq/2014/02/07/what-is-the-shape-of-an-electron/</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271299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456484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 = 4.49X10^8 N (remember to convert </a:t>
            </a:r>
            <a:r>
              <a:rPr lang="en-AU" b="0" dirty="0" err="1"/>
              <a:t>mC</a:t>
            </a:r>
            <a:r>
              <a:rPr lang="en-AU" b="0" dirty="0"/>
              <a:t> to C)</a:t>
            </a:r>
          </a:p>
          <a:p>
            <a:endParaRPr lang="en-AU" b="0" dirty="0"/>
          </a:p>
          <a:p>
            <a:r>
              <a:rPr lang="en-AU" b="0" dirty="0"/>
              <a:t>E1 (strength of big charge) = force at charge 2 / charge 2 = 4.49*10^8 / 1*10^-3 = 4.49 X 10^11 NC</a:t>
            </a:r>
            <a:r>
              <a:rPr lang="en-AU" b="0" baseline="30000" dirty="0"/>
              <a:t>-1</a:t>
            </a:r>
            <a:endParaRPr lang="en-AU" b="0" dirty="0"/>
          </a:p>
          <a:p>
            <a:r>
              <a:rPr lang="en-AU" b="0" dirty="0"/>
              <a:t>(remember: field strength is force per unit charge. You already have the force, so need to divide by the charge. Charge of the </a:t>
            </a:r>
            <a:r>
              <a:rPr lang="en-AU" b="1" dirty="0"/>
              <a:t>other</a:t>
            </a:r>
            <a:r>
              <a:rPr lang="en-AU" b="0" dirty="0"/>
              <a:t> object, not the central object).</a:t>
            </a:r>
          </a:p>
          <a:p>
            <a:endParaRPr lang="en-AU" b="0" dirty="0"/>
          </a:p>
          <a:p>
            <a:r>
              <a:rPr lang="en-AU" b="0" dirty="0"/>
              <a:t>E2 (strength of the small charge) = 4.49*10^8 / 20*10^-3 = 2.25*10^10 NC</a:t>
            </a:r>
            <a:r>
              <a:rPr lang="en-AU" b="0" baseline="30000" dirty="0"/>
              <a:t>-1</a:t>
            </a:r>
            <a:endParaRPr lang="en-AU" b="0" dirty="0"/>
          </a:p>
          <a:p>
            <a:r>
              <a:rPr lang="en-AU" b="0" dirty="0"/>
              <a:t>(remember: equal and opposite forces)</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3414951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3492087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3226352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3244467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265302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Remember that the field at the edges of the plates has a curve.</a:t>
            </a:r>
          </a:p>
          <a:p>
            <a:r>
              <a:rPr lang="en-AU" b="0" dirty="0"/>
              <a:t>Draw the field from +</a:t>
            </a:r>
            <a:r>
              <a:rPr lang="en-AU" b="0" dirty="0" err="1"/>
              <a:t>ve</a:t>
            </a:r>
            <a:r>
              <a:rPr lang="en-AU" b="0" dirty="0"/>
              <a:t> to –</a:t>
            </a:r>
            <a:r>
              <a:rPr lang="en-AU" b="0" dirty="0" err="1"/>
              <a:t>ve</a:t>
            </a:r>
            <a:r>
              <a:rPr lang="en-AU" b="0" dirty="0"/>
              <a:t>. It is the force that a positive charge experiences therefore away from the positive plate and towards the negative plate.</a:t>
            </a:r>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1984486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Remember that the field at the edges of the plates has a curve.</a:t>
            </a:r>
          </a:p>
          <a:p>
            <a:r>
              <a:rPr lang="en-AU" b="0" dirty="0"/>
              <a:t>Draw the field from +</a:t>
            </a:r>
            <a:r>
              <a:rPr lang="en-AU" b="0" dirty="0" err="1"/>
              <a:t>ve</a:t>
            </a:r>
            <a:r>
              <a:rPr lang="en-AU" b="0" dirty="0"/>
              <a:t> to –</a:t>
            </a:r>
            <a:r>
              <a:rPr lang="en-AU" b="0" dirty="0" err="1"/>
              <a:t>ve</a:t>
            </a:r>
            <a:r>
              <a:rPr lang="en-AU" b="0" dirty="0"/>
              <a:t>. It is the force that a positive charge experiences therefore away from the positive plate and towards the negative plate.</a:t>
            </a:r>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546378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E = V/d = 120/0.1 = 120*10^3 N/C</a:t>
            </a:r>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2207901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1903765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a:p>
        </p:txBody>
      </p:sp>
    </p:spTree>
    <p:extLst>
      <p:ext uri="{BB962C8B-B14F-4D97-AF65-F5344CB8AC3E}">
        <p14:creationId xmlns:p14="http://schemas.microsoft.com/office/powerpoint/2010/main" val="90999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25</a:t>
            </a:fld>
            <a:endParaRPr lang="en-AU"/>
          </a:p>
        </p:txBody>
      </p:sp>
    </p:spTree>
    <p:extLst>
      <p:ext uri="{BB962C8B-B14F-4D97-AF65-F5344CB8AC3E}">
        <p14:creationId xmlns:p14="http://schemas.microsoft.com/office/powerpoint/2010/main" val="2823757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b="0" dirty="0"/>
              <a:t>C</a:t>
            </a:r>
          </a:p>
          <a:p>
            <a:pPr marL="228600" indent="-228600">
              <a:buAutoNum type="arabicPeriod"/>
            </a:pPr>
            <a:r>
              <a:rPr lang="en-AU" b="0" dirty="0"/>
              <a:t>B</a:t>
            </a:r>
          </a:p>
          <a:p>
            <a:pPr marL="228600" indent="-228600">
              <a:buAutoNum type="arabicPeriod"/>
            </a:pPr>
            <a:r>
              <a:rPr lang="en-AU" b="0" dirty="0"/>
              <a:t>T, F (no crossing!), F (away from positively charged objects), T (though not super important I think – you might want to draw fewer lines to indicate a difference in field strengths between two charges), T, F (need to consider how the fields interact. How would a positive charge move if it appeared in that location?), False (draw from the positive to the negative and include the curved sides)</a:t>
            </a:r>
          </a:p>
          <a:p>
            <a:pPr marL="228600" indent="-228600">
              <a:buAutoNum type="arabicPeriod"/>
            </a:pPr>
            <a:r>
              <a:rPr lang="en-AU" b="0" dirty="0"/>
              <a:t>1.25 x 10^-2 N</a:t>
            </a:r>
          </a:p>
          <a:p>
            <a:pPr marL="228600" indent="-228600">
              <a:buAutoNum type="arabicPeriod"/>
            </a:pPr>
            <a:r>
              <a:rPr lang="en-AU" b="0" dirty="0"/>
              <a:t>5.72 x 10^-11 </a:t>
            </a:r>
            <a:r>
              <a:rPr lang="en-AU" b="0" dirty="0" err="1"/>
              <a:t>ms</a:t>
            </a:r>
            <a:r>
              <a:rPr lang="en-AU" b="0" dirty="0"/>
              <a:t>^-2</a:t>
            </a:r>
          </a:p>
          <a:p>
            <a:pPr marL="228600" indent="-228600">
              <a:buAutoNum type="arabicPeriod"/>
            </a:pPr>
            <a:r>
              <a:rPr lang="en-AU" b="0" dirty="0"/>
              <a:t>1200 V</a:t>
            </a:r>
          </a:p>
          <a:p>
            <a:pPr marL="228600" indent="-228600">
              <a:buAutoNum type="arabicPeriod"/>
            </a:pPr>
            <a:r>
              <a:rPr lang="en-AU" b="0" dirty="0"/>
              <a:t>Radial, static, non-uniform. ‘Uniformity’ is a bit confusing here. The lines are straight, equally spaced, and radiating from the centre. Any equidistant location has the same field strength, but the field strength decreases with radius (note that the density of lines decreases as you move away from the charged object).</a:t>
            </a:r>
          </a:p>
          <a:p>
            <a:pPr marL="228600" indent="-228600">
              <a:buAutoNum type="arabicPeriod"/>
            </a:pPr>
            <a:r>
              <a:rPr lang="en-AU" b="0" dirty="0"/>
              <a:t>a) 3 x 10^16 </a:t>
            </a:r>
            <a:r>
              <a:rPr lang="en-AU" b="0" dirty="0" err="1"/>
              <a:t>ms</a:t>
            </a:r>
            <a:r>
              <a:rPr lang="en-AU" b="0" dirty="0"/>
              <a:t>^-2 in the opposite direction to the field	b) 4.0 x 10^-10 s</a:t>
            </a:r>
          </a:p>
          <a:p>
            <a:pPr marL="0" indent="0">
              <a:buNone/>
            </a:pPr>
            <a:r>
              <a:rPr lang="en-AU" b="0" dirty="0"/>
              <a:t>	</a:t>
            </a:r>
          </a:p>
          <a:p>
            <a:pPr marL="228600" indent="-228600">
              <a:buAutoNum type="arabicPeriod"/>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26</a:t>
            </a:fld>
            <a:endParaRPr lang="en-AU"/>
          </a:p>
        </p:txBody>
      </p:sp>
    </p:spTree>
    <p:extLst>
      <p:ext uri="{BB962C8B-B14F-4D97-AF65-F5344CB8AC3E}">
        <p14:creationId xmlns:p14="http://schemas.microsoft.com/office/powerpoint/2010/main" val="399188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0507"/>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63FnT0W-Hxc?feature=oembed" TargetMode="Externa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Electric fields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0" i="0" dirty="0">
                <a:solidFill>
                  <a:srgbClr val="000303"/>
                </a:solidFill>
                <a:effectLst/>
                <a:latin typeface="+mj-lt"/>
              </a:rPr>
              <a:t>I can draw electric field diagrams and explain the properties shown in the diagrams.</a:t>
            </a:r>
          </a:p>
          <a:p>
            <a:pPr algn="l"/>
            <a:r>
              <a:rPr lang="en-US" sz="2000" b="0" i="0" dirty="0">
                <a:solidFill>
                  <a:srgbClr val="000303"/>
                </a:solidFill>
                <a:effectLst/>
                <a:latin typeface="+mj-lt"/>
              </a:rPr>
              <a:t>I can calculate the force on a free charge in an electric field.</a:t>
            </a: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Prior Knowledge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8" name="Group 7">
            <a:extLst>
              <a:ext uri="{FF2B5EF4-FFF2-40B4-BE49-F238E27FC236}">
                <a16:creationId xmlns:a16="http://schemas.microsoft.com/office/drawing/2014/main" id="{74195AA1-BAD4-4F5B-9628-5D6AEF4D183C}"/>
              </a:ext>
            </a:extLst>
          </p:cNvPr>
          <p:cNvGrpSpPr/>
          <p:nvPr/>
        </p:nvGrpSpPr>
        <p:grpSpPr>
          <a:xfrm>
            <a:off x="3051033" y="1111003"/>
            <a:ext cx="6304799" cy="1603537"/>
            <a:chOff x="3196233" y="1729910"/>
            <a:chExt cx="6304799" cy="1603537"/>
          </a:xfrm>
        </p:grpSpPr>
        <p:sp>
          <p:nvSpPr>
            <p:cNvPr id="3" name="Oval 2">
              <a:extLst>
                <a:ext uri="{FF2B5EF4-FFF2-40B4-BE49-F238E27FC236}">
                  <a16:creationId xmlns:a16="http://schemas.microsoft.com/office/drawing/2014/main" id="{70889490-D2E4-4863-A1E1-DC43A1328684}"/>
                </a:ext>
              </a:extLst>
            </p:cNvPr>
            <p:cNvSpPr/>
            <p:nvPr/>
          </p:nvSpPr>
          <p:spPr>
            <a:xfrm>
              <a:off x="3196233" y="1729910"/>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14" name="Oval 13">
              <a:extLst>
                <a:ext uri="{FF2B5EF4-FFF2-40B4-BE49-F238E27FC236}">
                  <a16:creationId xmlns:a16="http://schemas.microsoft.com/office/drawing/2014/main" id="{F67C76C5-4C30-4928-A781-F46780C1319F}"/>
                </a:ext>
              </a:extLst>
            </p:cNvPr>
            <p:cNvSpPr/>
            <p:nvPr/>
          </p:nvSpPr>
          <p:spPr>
            <a:xfrm>
              <a:off x="7897495" y="1729910"/>
              <a:ext cx="1603537" cy="1603537"/>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grpSp>
        <p:nvGrpSpPr>
          <p:cNvPr id="16" name="Group 15">
            <a:extLst>
              <a:ext uri="{FF2B5EF4-FFF2-40B4-BE49-F238E27FC236}">
                <a16:creationId xmlns:a16="http://schemas.microsoft.com/office/drawing/2014/main" id="{B9A6E2DB-0FEF-459E-A0F8-4C01EFE2A94C}"/>
              </a:ext>
            </a:extLst>
          </p:cNvPr>
          <p:cNvGrpSpPr/>
          <p:nvPr/>
        </p:nvGrpSpPr>
        <p:grpSpPr>
          <a:xfrm>
            <a:off x="3051033" y="3028115"/>
            <a:ext cx="6304799" cy="1603537"/>
            <a:chOff x="3196233" y="1729910"/>
            <a:chExt cx="6304799" cy="1603537"/>
          </a:xfrm>
        </p:grpSpPr>
        <p:sp>
          <p:nvSpPr>
            <p:cNvPr id="17" name="Oval 16">
              <a:extLst>
                <a:ext uri="{FF2B5EF4-FFF2-40B4-BE49-F238E27FC236}">
                  <a16:creationId xmlns:a16="http://schemas.microsoft.com/office/drawing/2014/main" id="{4FEF3FA5-2632-43A7-80FF-C41924FE8393}"/>
                </a:ext>
              </a:extLst>
            </p:cNvPr>
            <p:cNvSpPr/>
            <p:nvPr/>
          </p:nvSpPr>
          <p:spPr>
            <a:xfrm>
              <a:off x="3196233" y="1729910"/>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18" name="Oval 17">
              <a:extLst>
                <a:ext uri="{FF2B5EF4-FFF2-40B4-BE49-F238E27FC236}">
                  <a16:creationId xmlns:a16="http://schemas.microsoft.com/office/drawing/2014/main" id="{CC4F3AF6-30A3-4DBB-8C4D-495280C6C7EA}"/>
                </a:ext>
              </a:extLst>
            </p:cNvPr>
            <p:cNvSpPr/>
            <p:nvPr/>
          </p:nvSpPr>
          <p:spPr>
            <a:xfrm>
              <a:off x="7897495" y="1729910"/>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grpSp>
        <p:nvGrpSpPr>
          <p:cNvPr id="19" name="Group 18">
            <a:extLst>
              <a:ext uri="{FF2B5EF4-FFF2-40B4-BE49-F238E27FC236}">
                <a16:creationId xmlns:a16="http://schemas.microsoft.com/office/drawing/2014/main" id="{C24B7F34-73FA-4962-AB39-70D1AB61B139}"/>
              </a:ext>
            </a:extLst>
          </p:cNvPr>
          <p:cNvGrpSpPr/>
          <p:nvPr/>
        </p:nvGrpSpPr>
        <p:grpSpPr>
          <a:xfrm>
            <a:off x="3051033" y="4945228"/>
            <a:ext cx="6304799" cy="1603537"/>
            <a:chOff x="3196233" y="1729910"/>
            <a:chExt cx="6304799" cy="1603537"/>
          </a:xfrm>
        </p:grpSpPr>
        <p:sp>
          <p:nvSpPr>
            <p:cNvPr id="20" name="Oval 19">
              <a:extLst>
                <a:ext uri="{FF2B5EF4-FFF2-40B4-BE49-F238E27FC236}">
                  <a16:creationId xmlns:a16="http://schemas.microsoft.com/office/drawing/2014/main" id="{4A3A851C-D672-4CC4-B34B-9FBD86A02CF9}"/>
                </a:ext>
              </a:extLst>
            </p:cNvPr>
            <p:cNvSpPr/>
            <p:nvPr/>
          </p:nvSpPr>
          <p:spPr>
            <a:xfrm>
              <a:off x="3196233" y="1729910"/>
              <a:ext cx="1603537" cy="1603537"/>
            </a:xfrm>
            <a:prstGeom prst="ellipse">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21" name="Oval 20">
              <a:extLst>
                <a:ext uri="{FF2B5EF4-FFF2-40B4-BE49-F238E27FC236}">
                  <a16:creationId xmlns:a16="http://schemas.microsoft.com/office/drawing/2014/main" id="{18DE096A-470B-4D77-BAA2-DB3B476B27BF}"/>
                </a:ext>
              </a:extLst>
            </p:cNvPr>
            <p:cNvSpPr/>
            <p:nvPr/>
          </p:nvSpPr>
          <p:spPr>
            <a:xfrm>
              <a:off x="7897495" y="1729910"/>
              <a:ext cx="1603537" cy="1603537"/>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Prior Knowledge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664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Fields are used to visually display non-contact forces:</a:t>
            </a:r>
          </a:p>
          <a:p>
            <a:pPr marL="1028700" lvl="1" indent="-342900" algn="just"/>
            <a:r>
              <a:rPr lang="en-AU" sz="2000" dirty="0"/>
              <a:t>Gravitational fields</a:t>
            </a:r>
          </a:p>
          <a:p>
            <a:pPr marL="1028700" lvl="1" indent="-342900" algn="just"/>
            <a:r>
              <a:rPr lang="en-AU" sz="2000" b="0" dirty="0"/>
              <a:t>Electric fields</a:t>
            </a:r>
          </a:p>
          <a:p>
            <a:pPr marL="1028700" lvl="1" indent="-342900" algn="just"/>
            <a:r>
              <a:rPr lang="en-AU" sz="2000" dirty="0"/>
              <a:t>Magnetic fields</a:t>
            </a:r>
          </a:p>
          <a:p>
            <a:pPr lvl="1" indent="0" algn="just">
              <a:buNone/>
            </a:pPr>
            <a:endParaRPr lang="en-AU" sz="2000" dirty="0"/>
          </a:p>
          <a:p>
            <a:pPr marL="0" lvl="1" indent="0" algn="just">
              <a:buNone/>
            </a:pPr>
            <a:r>
              <a:rPr lang="en-AU" sz="2400" b="0" dirty="0"/>
              <a:t>Just like how </a:t>
            </a:r>
            <a:r>
              <a:rPr lang="en-AU" sz="2400" b="1" dirty="0"/>
              <a:t>all objects with mass produce a gravitational field </a:t>
            </a:r>
            <a:r>
              <a:rPr lang="en-AU" sz="2400" b="0" dirty="0"/>
              <a:t>(exert a force due to gravity on other objects with mass), </a:t>
            </a:r>
            <a:r>
              <a:rPr lang="en-AU" sz="2400" b="1" dirty="0"/>
              <a:t>all objects with charge exert an electric field</a:t>
            </a:r>
            <a:r>
              <a:rPr lang="en-AU" sz="2400" dirty="0"/>
              <a:t>.</a:t>
            </a:r>
            <a:endParaRPr lang="en-AU" sz="2400" b="1"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8" name="Group 7">
            <a:extLst>
              <a:ext uri="{FF2B5EF4-FFF2-40B4-BE49-F238E27FC236}">
                <a16:creationId xmlns:a16="http://schemas.microsoft.com/office/drawing/2014/main" id="{74195AA1-BAD4-4F5B-9628-5D6AEF4D183C}"/>
              </a:ext>
            </a:extLst>
          </p:cNvPr>
          <p:cNvGrpSpPr/>
          <p:nvPr/>
        </p:nvGrpSpPr>
        <p:grpSpPr>
          <a:xfrm>
            <a:off x="3051033" y="4350328"/>
            <a:ext cx="6304799" cy="1603537"/>
            <a:chOff x="3196233" y="1729910"/>
            <a:chExt cx="6304799" cy="1603537"/>
          </a:xfrm>
        </p:grpSpPr>
        <p:sp>
          <p:nvSpPr>
            <p:cNvPr id="3" name="Oval 2">
              <a:extLst>
                <a:ext uri="{FF2B5EF4-FFF2-40B4-BE49-F238E27FC236}">
                  <a16:creationId xmlns:a16="http://schemas.microsoft.com/office/drawing/2014/main" id="{70889490-D2E4-4863-A1E1-DC43A1328684}"/>
                </a:ext>
              </a:extLst>
            </p:cNvPr>
            <p:cNvSpPr/>
            <p:nvPr/>
          </p:nvSpPr>
          <p:spPr>
            <a:xfrm>
              <a:off x="3196233" y="1729910"/>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14" name="Oval 13">
              <a:extLst>
                <a:ext uri="{FF2B5EF4-FFF2-40B4-BE49-F238E27FC236}">
                  <a16:creationId xmlns:a16="http://schemas.microsoft.com/office/drawing/2014/main" id="{F67C76C5-4C30-4928-A781-F46780C1319F}"/>
                </a:ext>
              </a:extLst>
            </p:cNvPr>
            <p:cNvSpPr/>
            <p:nvPr/>
          </p:nvSpPr>
          <p:spPr>
            <a:xfrm>
              <a:off x="7897495" y="1729910"/>
              <a:ext cx="1603537" cy="1603537"/>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spTree>
    <p:extLst>
      <p:ext uri="{BB962C8B-B14F-4D97-AF65-F5344CB8AC3E}">
        <p14:creationId xmlns:p14="http://schemas.microsoft.com/office/powerpoint/2010/main" val="937077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Prior Knowledge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800" b="0" dirty="0"/>
              <a:t>Remember:</a:t>
            </a:r>
          </a:p>
          <a:p>
            <a:pPr marL="342900" indent="-342900" algn="just">
              <a:buFont typeface="Arial" panose="020B0604020202020204" pitchFamily="34" charset="0"/>
              <a:buChar char="•"/>
            </a:pPr>
            <a:r>
              <a:rPr lang="en-AU" sz="1800" b="0" dirty="0"/>
              <a:t>Arrows show the direction of the force</a:t>
            </a:r>
          </a:p>
          <a:p>
            <a:pPr marL="342900" indent="-342900" algn="just">
              <a:buFont typeface="Arial" panose="020B0604020202020204" pitchFamily="34" charset="0"/>
              <a:buChar char="•"/>
            </a:pPr>
            <a:r>
              <a:rPr lang="en-AU" sz="1800" b="0" dirty="0"/>
              <a:t>Density of lines indicate strength of force</a:t>
            </a:r>
            <a:endParaRPr lang="en-AU" sz="200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3" name="Oval 2">
            <a:extLst>
              <a:ext uri="{FF2B5EF4-FFF2-40B4-BE49-F238E27FC236}">
                <a16:creationId xmlns:a16="http://schemas.microsoft.com/office/drawing/2014/main" id="{70889490-D2E4-4863-A1E1-DC43A1328684}"/>
              </a:ext>
            </a:extLst>
          </p:cNvPr>
          <p:cNvSpPr/>
          <p:nvPr/>
        </p:nvSpPr>
        <p:spPr>
          <a:xfrm>
            <a:off x="2393427" y="3429000"/>
            <a:ext cx="2338548" cy="2338548"/>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Earth</a:t>
            </a:r>
          </a:p>
        </p:txBody>
      </p:sp>
      <p:sp>
        <p:nvSpPr>
          <p:cNvPr id="14" name="Oval 13">
            <a:extLst>
              <a:ext uri="{FF2B5EF4-FFF2-40B4-BE49-F238E27FC236}">
                <a16:creationId xmlns:a16="http://schemas.microsoft.com/office/drawing/2014/main" id="{F67C76C5-4C30-4928-A781-F46780C1319F}"/>
              </a:ext>
            </a:extLst>
          </p:cNvPr>
          <p:cNvSpPr/>
          <p:nvPr/>
        </p:nvSpPr>
        <p:spPr>
          <a:xfrm>
            <a:off x="9208975" y="4042341"/>
            <a:ext cx="1025962" cy="1025962"/>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solidFill>
                  <a:schemeClr val="tx1"/>
                </a:solidFill>
              </a:rPr>
              <a:t>Moon</a:t>
            </a:r>
          </a:p>
        </p:txBody>
      </p:sp>
      <p:grpSp>
        <p:nvGrpSpPr>
          <p:cNvPr id="58" name="Group 57">
            <a:extLst>
              <a:ext uri="{FF2B5EF4-FFF2-40B4-BE49-F238E27FC236}">
                <a16:creationId xmlns:a16="http://schemas.microsoft.com/office/drawing/2014/main" id="{917066D1-74E2-4EFC-8BAB-CFE6F1EA0915}"/>
              </a:ext>
            </a:extLst>
          </p:cNvPr>
          <p:cNvGrpSpPr/>
          <p:nvPr/>
        </p:nvGrpSpPr>
        <p:grpSpPr>
          <a:xfrm>
            <a:off x="1258645" y="2481299"/>
            <a:ext cx="4608112" cy="4161547"/>
            <a:chOff x="1258645" y="2481299"/>
            <a:chExt cx="4608112" cy="4161547"/>
          </a:xfrm>
        </p:grpSpPr>
        <p:cxnSp>
          <p:nvCxnSpPr>
            <p:cNvPr id="6" name="Straight Arrow Connector 5">
              <a:extLst>
                <a:ext uri="{FF2B5EF4-FFF2-40B4-BE49-F238E27FC236}">
                  <a16:creationId xmlns:a16="http://schemas.microsoft.com/office/drawing/2014/main" id="{FB2D772D-8A6D-490D-8A43-93F4ADD84214}"/>
                </a:ext>
              </a:extLst>
            </p:cNvPr>
            <p:cNvCxnSpPr>
              <a:endCxn id="3" idx="2"/>
            </p:cNvCxnSpPr>
            <p:nvPr/>
          </p:nvCxnSpPr>
          <p:spPr>
            <a:xfrm>
              <a:off x="1258645" y="4598274"/>
              <a:ext cx="113478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5C6258B-9E49-4A32-9D27-48FE150974A8}"/>
                </a:ext>
              </a:extLst>
            </p:cNvPr>
            <p:cNvCxnSpPr>
              <a:cxnSpLocks/>
              <a:endCxn id="3" idx="1"/>
            </p:cNvCxnSpPr>
            <p:nvPr/>
          </p:nvCxnSpPr>
          <p:spPr>
            <a:xfrm>
              <a:off x="1826036" y="3022070"/>
              <a:ext cx="909863" cy="7494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FDAB994-30C2-43D7-BE3C-AFB18D16629B}"/>
                </a:ext>
              </a:extLst>
            </p:cNvPr>
            <p:cNvCxnSpPr>
              <a:cxnSpLocks/>
              <a:endCxn id="3" idx="0"/>
            </p:cNvCxnSpPr>
            <p:nvPr/>
          </p:nvCxnSpPr>
          <p:spPr>
            <a:xfrm>
              <a:off x="3562701" y="2481299"/>
              <a:ext cx="0" cy="947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BD93779-A626-40FA-BF01-75000394F5BB}"/>
                </a:ext>
              </a:extLst>
            </p:cNvPr>
            <p:cNvCxnSpPr>
              <a:cxnSpLocks/>
              <a:endCxn id="3" idx="7"/>
            </p:cNvCxnSpPr>
            <p:nvPr/>
          </p:nvCxnSpPr>
          <p:spPr>
            <a:xfrm flipH="1">
              <a:off x="4389503" y="3088725"/>
              <a:ext cx="909863" cy="6827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D6098FB-F49F-46BE-9AF8-DDD7A8DC6FEC}"/>
                </a:ext>
              </a:extLst>
            </p:cNvPr>
            <p:cNvCxnSpPr>
              <a:cxnSpLocks/>
              <a:endCxn id="3" idx="6"/>
            </p:cNvCxnSpPr>
            <p:nvPr/>
          </p:nvCxnSpPr>
          <p:spPr>
            <a:xfrm flipH="1">
              <a:off x="4731975" y="4598274"/>
              <a:ext cx="113478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7BEB54D-710D-4129-9DDC-6EA6541448AB}"/>
                </a:ext>
              </a:extLst>
            </p:cNvPr>
            <p:cNvCxnSpPr>
              <a:cxnSpLocks/>
              <a:endCxn id="3" idx="5"/>
            </p:cNvCxnSpPr>
            <p:nvPr/>
          </p:nvCxnSpPr>
          <p:spPr>
            <a:xfrm flipH="1" flipV="1">
              <a:off x="4389503" y="5425076"/>
              <a:ext cx="741895" cy="8984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86F264A-4C80-4B6E-9A96-6A0A1D35E91D}"/>
                </a:ext>
              </a:extLst>
            </p:cNvPr>
            <p:cNvCxnSpPr>
              <a:cxnSpLocks/>
              <a:endCxn id="3" idx="4"/>
            </p:cNvCxnSpPr>
            <p:nvPr/>
          </p:nvCxnSpPr>
          <p:spPr>
            <a:xfrm flipV="1">
              <a:off x="3562701" y="5767548"/>
              <a:ext cx="0" cy="875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0E07074-3D93-4E97-9DAA-5A46945B25A3}"/>
                </a:ext>
              </a:extLst>
            </p:cNvPr>
            <p:cNvCxnSpPr>
              <a:cxnSpLocks/>
              <a:endCxn id="3" idx="3"/>
            </p:cNvCxnSpPr>
            <p:nvPr/>
          </p:nvCxnSpPr>
          <p:spPr>
            <a:xfrm flipV="1">
              <a:off x="1826036" y="5425076"/>
              <a:ext cx="909863" cy="6827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67AB8D99-4D4D-4874-9B5C-E5F1E41971F2}"/>
              </a:ext>
            </a:extLst>
          </p:cNvPr>
          <p:cNvGrpSpPr/>
          <p:nvPr/>
        </p:nvGrpSpPr>
        <p:grpSpPr>
          <a:xfrm>
            <a:off x="8520056" y="3429000"/>
            <a:ext cx="2420471" cy="2266073"/>
            <a:chOff x="8520056" y="3429000"/>
            <a:chExt cx="2420471" cy="2266073"/>
          </a:xfrm>
        </p:grpSpPr>
        <p:cxnSp>
          <p:nvCxnSpPr>
            <p:cNvPr id="36" name="Straight Arrow Connector 35">
              <a:extLst>
                <a:ext uri="{FF2B5EF4-FFF2-40B4-BE49-F238E27FC236}">
                  <a16:creationId xmlns:a16="http://schemas.microsoft.com/office/drawing/2014/main" id="{D4E2A34E-2EED-40CD-B297-D523390E4A50}"/>
                </a:ext>
              </a:extLst>
            </p:cNvPr>
            <p:cNvCxnSpPr>
              <a:cxnSpLocks/>
              <a:endCxn id="14" idx="0"/>
            </p:cNvCxnSpPr>
            <p:nvPr/>
          </p:nvCxnSpPr>
          <p:spPr>
            <a:xfrm>
              <a:off x="9721956" y="3429000"/>
              <a:ext cx="0" cy="613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13A7640-D5D0-41DB-A629-03D6D3FF9ECE}"/>
                </a:ext>
              </a:extLst>
            </p:cNvPr>
            <p:cNvCxnSpPr>
              <a:cxnSpLocks/>
              <a:endCxn id="14" idx="6"/>
            </p:cNvCxnSpPr>
            <p:nvPr/>
          </p:nvCxnSpPr>
          <p:spPr>
            <a:xfrm flipH="1">
              <a:off x="10234937" y="4555322"/>
              <a:ext cx="70559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2BACE6A-CD91-46E7-8AD8-061CF2533C18}"/>
                </a:ext>
              </a:extLst>
            </p:cNvPr>
            <p:cNvCxnSpPr>
              <a:cxnSpLocks/>
            </p:cNvCxnSpPr>
            <p:nvPr/>
          </p:nvCxnSpPr>
          <p:spPr>
            <a:xfrm flipV="1">
              <a:off x="9721956" y="5081732"/>
              <a:ext cx="0" cy="613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F180F27-63CC-40A5-966D-B482BBED2B04}"/>
                </a:ext>
              </a:extLst>
            </p:cNvPr>
            <p:cNvCxnSpPr>
              <a:cxnSpLocks/>
              <a:endCxn id="14" idx="2"/>
            </p:cNvCxnSpPr>
            <p:nvPr/>
          </p:nvCxnSpPr>
          <p:spPr>
            <a:xfrm>
              <a:off x="8520056" y="4555322"/>
              <a:ext cx="68891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7B8C4DB4-01B9-4008-BF3E-DB115B3FBF80}"/>
              </a:ext>
            </a:extLst>
          </p:cNvPr>
          <p:cNvSpPr txBox="1"/>
          <p:nvPr/>
        </p:nvSpPr>
        <p:spPr>
          <a:xfrm>
            <a:off x="6446043" y="977508"/>
            <a:ext cx="4836943" cy="1200329"/>
          </a:xfrm>
          <a:prstGeom prst="rect">
            <a:avLst/>
          </a:prstGeom>
          <a:noFill/>
          <a:ln>
            <a:noFill/>
          </a:ln>
        </p:spPr>
        <p:txBody>
          <a:bodyPr wrap="square">
            <a:spAutoFit/>
          </a:bodyPr>
          <a:lstStyle/>
          <a:p>
            <a:r>
              <a:rPr lang="en-AU" b="1" dirty="0"/>
              <a:t>Draw the gravitational fields of each object </a:t>
            </a:r>
          </a:p>
          <a:p>
            <a:pPr marL="285750" indent="-285750">
              <a:buFont typeface="Arial" panose="020B0604020202020204" pitchFamily="34" charset="0"/>
              <a:buChar char="•"/>
            </a:pPr>
            <a:r>
              <a:rPr lang="en-AU" b="1" dirty="0"/>
              <a:t>Individually</a:t>
            </a:r>
          </a:p>
          <a:p>
            <a:pPr marL="285750" indent="-285750">
              <a:buFont typeface="Arial" panose="020B0604020202020204" pitchFamily="34" charset="0"/>
              <a:buChar char="•"/>
            </a:pPr>
            <a:r>
              <a:rPr lang="en-AU" b="1" dirty="0"/>
              <a:t>Combined</a:t>
            </a:r>
          </a:p>
        </p:txBody>
      </p:sp>
    </p:spTree>
    <p:extLst>
      <p:ext uri="{BB962C8B-B14F-4D97-AF65-F5344CB8AC3E}">
        <p14:creationId xmlns:p14="http://schemas.microsoft.com/office/powerpoint/2010/main" val="3177243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Prior Knowledge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68120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Remember:</a:t>
            </a:r>
          </a:p>
          <a:p>
            <a:pPr marL="342900" indent="-342900" algn="just">
              <a:buFont typeface="Arial" panose="020B0604020202020204" pitchFamily="34" charset="0"/>
              <a:buChar char="•"/>
            </a:pPr>
            <a:r>
              <a:rPr lang="en-AU" sz="2400" b="0" dirty="0"/>
              <a:t>Arrows show the direction of the force</a:t>
            </a:r>
          </a:p>
          <a:p>
            <a:pPr marL="342900" indent="-342900" algn="just">
              <a:buFont typeface="Arial" panose="020B0604020202020204" pitchFamily="34" charset="0"/>
              <a:buChar char="•"/>
            </a:pPr>
            <a:r>
              <a:rPr lang="en-AU" sz="2400" b="0" dirty="0"/>
              <a:t>Density of lines indicate strength of force</a:t>
            </a:r>
            <a:endParaRPr lang="en-AU" sz="200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47FF12B8-4312-4C5A-888C-CE5D3652A3EF}"/>
              </a:ext>
            </a:extLst>
          </p:cNvPr>
          <p:cNvPicPr>
            <a:picLocks noChangeAspect="1"/>
          </p:cNvPicPr>
          <p:nvPr/>
        </p:nvPicPr>
        <p:blipFill rotWithShape="1">
          <a:blip r:embed="rId3"/>
          <a:srcRect t="22588"/>
          <a:stretch/>
        </p:blipFill>
        <p:spPr>
          <a:xfrm>
            <a:off x="3299012" y="2817856"/>
            <a:ext cx="6092414" cy="3537184"/>
          </a:xfrm>
          <a:prstGeom prst="rect">
            <a:avLst/>
          </a:prstGeom>
        </p:spPr>
      </p:pic>
    </p:spTree>
    <p:extLst>
      <p:ext uri="{BB962C8B-B14F-4D97-AF65-F5344CB8AC3E}">
        <p14:creationId xmlns:p14="http://schemas.microsoft.com/office/powerpoint/2010/main" val="1988623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Electric fields show the forces exerted on a </a:t>
            </a:r>
            <a:r>
              <a:rPr lang="en-AU" sz="2400" dirty="0"/>
              <a:t>positively</a:t>
            </a:r>
            <a:r>
              <a:rPr lang="en-AU" sz="2400" b="0" dirty="0"/>
              <a:t> charged object.</a:t>
            </a:r>
          </a:p>
          <a:p>
            <a:pPr marL="1028700" lvl="1" indent="-342900" algn="just"/>
            <a:r>
              <a:rPr lang="en-AU" sz="2000" dirty="0"/>
              <a:t>The arrows point </a:t>
            </a:r>
            <a:r>
              <a:rPr lang="en-AU" sz="2000" b="1" dirty="0"/>
              <a:t>away from a positive source </a:t>
            </a:r>
            <a:r>
              <a:rPr lang="en-AU" sz="2000" dirty="0"/>
              <a:t>and </a:t>
            </a:r>
            <a:r>
              <a:rPr lang="en-AU" sz="2000" b="1" dirty="0"/>
              <a:t>towards a negative source</a:t>
            </a:r>
            <a:r>
              <a:rPr lang="en-AU" sz="2000" dirty="0"/>
              <a:t>.</a:t>
            </a:r>
            <a:endParaRPr lang="en-AU" sz="2000" b="0" dirty="0"/>
          </a:p>
          <a:p>
            <a:pPr lvl="1" indent="0" algn="just">
              <a:buNone/>
            </a:pPr>
            <a:endParaRPr lang="en-AU" sz="2000" dirty="0"/>
          </a:p>
        </p:txBody>
      </p:sp>
      <p:sp>
        <p:nvSpPr>
          <p:cNvPr id="3" name="Oval 2">
            <a:extLst>
              <a:ext uri="{FF2B5EF4-FFF2-40B4-BE49-F238E27FC236}">
                <a16:creationId xmlns:a16="http://schemas.microsoft.com/office/drawing/2014/main" id="{70889490-D2E4-4863-A1E1-DC43A1328684}"/>
              </a:ext>
            </a:extLst>
          </p:cNvPr>
          <p:cNvSpPr/>
          <p:nvPr/>
        </p:nvSpPr>
        <p:spPr>
          <a:xfrm>
            <a:off x="2486591" y="3262244"/>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nvGrpSpPr>
          <p:cNvPr id="11" name="Group 10">
            <a:extLst>
              <a:ext uri="{FF2B5EF4-FFF2-40B4-BE49-F238E27FC236}">
                <a16:creationId xmlns:a16="http://schemas.microsoft.com/office/drawing/2014/main" id="{AFB786AF-F011-4250-96B9-EB2DA198EB2F}"/>
              </a:ext>
            </a:extLst>
          </p:cNvPr>
          <p:cNvGrpSpPr/>
          <p:nvPr/>
        </p:nvGrpSpPr>
        <p:grpSpPr>
          <a:xfrm>
            <a:off x="1007142" y="2041627"/>
            <a:ext cx="4496696" cy="4152548"/>
            <a:chOff x="302925" y="1758974"/>
            <a:chExt cx="6395455" cy="5926278"/>
          </a:xfrm>
        </p:grpSpPr>
        <p:cxnSp>
          <p:nvCxnSpPr>
            <p:cNvPr id="12" name="Straight Arrow Connector 11">
              <a:extLst>
                <a:ext uri="{FF2B5EF4-FFF2-40B4-BE49-F238E27FC236}">
                  <a16:creationId xmlns:a16="http://schemas.microsoft.com/office/drawing/2014/main" id="{921D5FED-B794-4F03-BDEA-A226EBE74540}"/>
                </a:ext>
              </a:extLst>
            </p:cNvPr>
            <p:cNvCxnSpPr>
              <a:cxnSpLocks/>
            </p:cNvCxnSpPr>
            <p:nvPr/>
          </p:nvCxnSpPr>
          <p:spPr>
            <a:xfrm>
              <a:off x="302925" y="4598274"/>
              <a:ext cx="2090502"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829998D-1B6C-49C2-847E-825D1B131EED}"/>
                </a:ext>
              </a:extLst>
            </p:cNvPr>
            <p:cNvCxnSpPr>
              <a:cxnSpLocks/>
            </p:cNvCxnSpPr>
            <p:nvPr/>
          </p:nvCxnSpPr>
          <p:spPr>
            <a:xfrm>
              <a:off x="1456255" y="2598085"/>
              <a:ext cx="1310245" cy="118874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69E1BEF-AE62-431F-9FA6-E4BCFF5C9F7A}"/>
                </a:ext>
              </a:extLst>
            </p:cNvPr>
            <p:cNvCxnSpPr>
              <a:cxnSpLocks/>
            </p:cNvCxnSpPr>
            <p:nvPr/>
          </p:nvCxnSpPr>
          <p:spPr>
            <a:xfrm>
              <a:off x="3562701" y="1758974"/>
              <a:ext cx="0" cy="174679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E39E1B-D6FB-456A-B55E-280D9A3A6FEE}"/>
                </a:ext>
              </a:extLst>
            </p:cNvPr>
            <p:cNvCxnSpPr>
              <a:cxnSpLocks/>
            </p:cNvCxnSpPr>
            <p:nvPr/>
          </p:nvCxnSpPr>
          <p:spPr>
            <a:xfrm flipH="1">
              <a:off x="4358901" y="2527359"/>
              <a:ext cx="1329669" cy="1275328"/>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74233F-8D0B-49F2-809D-CE066C401022}"/>
                </a:ext>
              </a:extLst>
            </p:cNvPr>
            <p:cNvCxnSpPr>
              <a:cxnSpLocks/>
            </p:cNvCxnSpPr>
            <p:nvPr/>
          </p:nvCxnSpPr>
          <p:spPr>
            <a:xfrm flipH="1" flipV="1">
              <a:off x="4731975" y="4598273"/>
              <a:ext cx="1966405" cy="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699D5A-39CA-4F35-8825-C826EFBA2436}"/>
                </a:ext>
              </a:extLst>
            </p:cNvPr>
            <p:cNvCxnSpPr>
              <a:cxnSpLocks/>
            </p:cNvCxnSpPr>
            <p:nvPr/>
          </p:nvCxnSpPr>
          <p:spPr>
            <a:xfrm flipH="1" flipV="1">
              <a:off x="4389503" y="5425076"/>
              <a:ext cx="1335906" cy="1368684"/>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07FDED9-EE42-4500-89DC-780322D069B2}"/>
                </a:ext>
              </a:extLst>
            </p:cNvPr>
            <p:cNvCxnSpPr>
              <a:cxnSpLocks/>
            </p:cNvCxnSpPr>
            <p:nvPr/>
          </p:nvCxnSpPr>
          <p:spPr>
            <a:xfrm flipV="1">
              <a:off x="3547400" y="5767548"/>
              <a:ext cx="15301" cy="1917704"/>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5CA9D76-88FC-47A9-8AC3-98E5B4D3F9BE}"/>
                </a:ext>
              </a:extLst>
            </p:cNvPr>
            <p:cNvCxnSpPr>
              <a:cxnSpLocks/>
            </p:cNvCxnSpPr>
            <p:nvPr/>
          </p:nvCxnSpPr>
          <p:spPr>
            <a:xfrm flipV="1">
              <a:off x="1369394" y="5425077"/>
              <a:ext cx="1366505" cy="1217769"/>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F67C76C5-4C30-4928-A781-F46780C1319F}"/>
              </a:ext>
            </a:extLst>
          </p:cNvPr>
          <p:cNvSpPr/>
          <p:nvPr/>
        </p:nvSpPr>
        <p:spPr>
          <a:xfrm>
            <a:off x="8462288" y="3269770"/>
            <a:ext cx="1603537" cy="1603537"/>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nvGrpSpPr>
          <p:cNvPr id="21" name="Group 20">
            <a:extLst>
              <a:ext uri="{FF2B5EF4-FFF2-40B4-BE49-F238E27FC236}">
                <a16:creationId xmlns:a16="http://schemas.microsoft.com/office/drawing/2014/main" id="{7D622CB1-2A8C-411C-9724-791F3A1F1C11}"/>
              </a:ext>
            </a:extLst>
          </p:cNvPr>
          <p:cNvGrpSpPr/>
          <p:nvPr/>
        </p:nvGrpSpPr>
        <p:grpSpPr>
          <a:xfrm>
            <a:off x="7055010" y="2130014"/>
            <a:ext cx="4292302" cy="4064161"/>
            <a:chOff x="445771" y="1863808"/>
            <a:chExt cx="6056371" cy="5734469"/>
          </a:xfrm>
        </p:grpSpPr>
        <p:cxnSp>
          <p:nvCxnSpPr>
            <p:cNvPr id="22" name="Straight Arrow Connector 21">
              <a:extLst>
                <a:ext uri="{FF2B5EF4-FFF2-40B4-BE49-F238E27FC236}">
                  <a16:creationId xmlns:a16="http://schemas.microsoft.com/office/drawing/2014/main" id="{B2283841-80E8-4CD0-8F03-FF30DA03FDFE}"/>
                </a:ext>
              </a:extLst>
            </p:cNvPr>
            <p:cNvCxnSpPr>
              <a:cxnSpLocks/>
            </p:cNvCxnSpPr>
            <p:nvPr/>
          </p:nvCxnSpPr>
          <p:spPr>
            <a:xfrm>
              <a:off x="445771" y="4598274"/>
              <a:ext cx="194765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68E03CA-9D06-4243-9FB1-8F4A75127C4D}"/>
                </a:ext>
              </a:extLst>
            </p:cNvPr>
            <p:cNvCxnSpPr>
              <a:cxnSpLocks/>
            </p:cNvCxnSpPr>
            <p:nvPr/>
          </p:nvCxnSpPr>
          <p:spPr>
            <a:xfrm>
              <a:off x="1258645" y="2568707"/>
              <a:ext cx="1477254" cy="1202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FBCA9B0-7283-4A40-8883-EB1E672B8A45}"/>
                </a:ext>
              </a:extLst>
            </p:cNvPr>
            <p:cNvCxnSpPr>
              <a:cxnSpLocks/>
            </p:cNvCxnSpPr>
            <p:nvPr/>
          </p:nvCxnSpPr>
          <p:spPr>
            <a:xfrm>
              <a:off x="3562700" y="1863808"/>
              <a:ext cx="0" cy="15651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33D49F-6BBD-4541-863F-66943E66F052}"/>
                </a:ext>
              </a:extLst>
            </p:cNvPr>
            <p:cNvCxnSpPr>
              <a:cxnSpLocks/>
            </p:cNvCxnSpPr>
            <p:nvPr/>
          </p:nvCxnSpPr>
          <p:spPr>
            <a:xfrm flipH="1">
              <a:off x="4389503" y="2481299"/>
              <a:ext cx="1770167" cy="12901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AD4BA01-1F1E-4980-8774-759720381925}"/>
                </a:ext>
              </a:extLst>
            </p:cNvPr>
            <p:cNvCxnSpPr>
              <a:cxnSpLocks/>
            </p:cNvCxnSpPr>
            <p:nvPr/>
          </p:nvCxnSpPr>
          <p:spPr>
            <a:xfrm flipH="1">
              <a:off x="4731975" y="4546248"/>
              <a:ext cx="1770167" cy="520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FF1BB58-F266-46A5-AB7B-E20352D81F4D}"/>
                </a:ext>
              </a:extLst>
            </p:cNvPr>
            <p:cNvCxnSpPr>
              <a:cxnSpLocks/>
            </p:cNvCxnSpPr>
            <p:nvPr/>
          </p:nvCxnSpPr>
          <p:spPr>
            <a:xfrm flipH="1" flipV="1">
              <a:off x="4389503" y="5425076"/>
              <a:ext cx="1607078" cy="16880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25FBC86-CF39-4776-9797-814069D0372C}"/>
                </a:ext>
              </a:extLst>
            </p:cNvPr>
            <p:cNvCxnSpPr>
              <a:cxnSpLocks/>
            </p:cNvCxnSpPr>
            <p:nvPr/>
          </p:nvCxnSpPr>
          <p:spPr>
            <a:xfrm flipV="1">
              <a:off x="3562701" y="5767548"/>
              <a:ext cx="0" cy="18307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3672684-373D-4F41-A213-CC15E97FAC1D}"/>
                </a:ext>
              </a:extLst>
            </p:cNvPr>
            <p:cNvCxnSpPr>
              <a:cxnSpLocks/>
            </p:cNvCxnSpPr>
            <p:nvPr/>
          </p:nvCxnSpPr>
          <p:spPr>
            <a:xfrm flipV="1">
              <a:off x="1128822" y="5425076"/>
              <a:ext cx="1607078" cy="12495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030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Electric fields show the forces exerted on a </a:t>
            </a:r>
            <a:r>
              <a:rPr lang="en-AU" sz="2400" dirty="0"/>
              <a:t>positively</a:t>
            </a:r>
            <a:r>
              <a:rPr lang="en-AU" sz="2400" b="0" dirty="0"/>
              <a:t> charged object.</a:t>
            </a:r>
          </a:p>
          <a:p>
            <a:pPr marL="1028700" lvl="1" indent="-342900" algn="just"/>
            <a:r>
              <a:rPr lang="en-AU" sz="2000" dirty="0"/>
              <a:t>The arrows point </a:t>
            </a:r>
            <a:r>
              <a:rPr lang="en-AU" sz="2000" b="1" dirty="0"/>
              <a:t>away from a positive source </a:t>
            </a:r>
            <a:r>
              <a:rPr lang="en-AU" sz="2000" dirty="0"/>
              <a:t>and </a:t>
            </a:r>
            <a:r>
              <a:rPr lang="en-AU" sz="2000" b="1" dirty="0"/>
              <a:t>towards a negative source</a:t>
            </a:r>
            <a:r>
              <a:rPr lang="en-AU" sz="2000" dirty="0"/>
              <a:t>.</a:t>
            </a:r>
            <a:endParaRPr lang="en-AU" sz="2000" b="0" dirty="0"/>
          </a:p>
          <a:p>
            <a:pPr lvl="1" indent="0" algn="just">
              <a:buNone/>
            </a:pPr>
            <a:endParaRPr lang="en-AU" sz="2000" dirty="0"/>
          </a:p>
        </p:txBody>
      </p:sp>
      <p:sp>
        <p:nvSpPr>
          <p:cNvPr id="29" name="Oval 28">
            <a:extLst>
              <a:ext uri="{FF2B5EF4-FFF2-40B4-BE49-F238E27FC236}">
                <a16:creationId xmlns:a16="http://schemas.microsoft.com/office/drawing/2014/main" id="{5E98A55E-F1F6-475F-9AF9-32596E6692D9}"/>
              </a:ext>
            </a:extLst>
          </p:cNvPr>
          <p:cNvSpPr/>
          <p:nvPr/>
        </p:nvSpPr>
        <p:spPr>
          <a:xfrm>
            <a:off x="3800817" y="4166576"/>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32" name="Oval 31">
            <a:extLst>
              <a:ext uri="{FF2B5EF4-FFF2-40B4-BE49-F238E27FC236}">
                <a16:creationId xmlns:a16="http://schemas.microsoft.com/office/drawing/2014/main" id="{698A3EF6-920C-4443-B556-DA05B622A1FA}"/>
              </a:ext>
            </a:extLst>
          </p:cNvPr>
          <p:cNvSpPr/>
          <p:nvPr/>
        </p:nvSpPr>
        <p:spPr>
          <a:xfrm>
            <a:off x="801227" y="4166576"/>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5" name="Rectangle 4">
            <a:extLst>
              <a:ext uri="{FF2B5EF4-FFF2-40B4-BE49-F238E27FC236}">
                <a16:creationId xmlns:a16="http://schemas.microsoft.com/office/drawing/2014/main" id="{C7CD45E5-A638-408B-88C1-AB8A6B058AB0}"/>
              </a:ext>
            </a:extLst>
          </p:cNvPr>
          <p:cNvSpPr/>
          <p:nvPr/>
        </p:nvSpPr>
        <p:spPr>
          <a:xfrm>
            <a:off x="75304" y="2528047"/>
            <a:ext cx="5045336" cy="37346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3B3B42A8-9152-41E2-8D5C-5F305E4A4A57}"/>
              </a:ext>
            </a:extLst>
          </p:cNvPr>
          <p:cNvSpPr/>
          <p:nvPr/>
        </p:nvSpPr>
        <p:spPr>
          <a:xfrm>
            <a:off x="6800407" y="4134303"/>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35" name="Rectangle 34">
            <a:extLst>
              <a:ext uri="{FF2B5EF4-FFF2-40B4-BE49-F238E27FC236}">
                <a16:creationId xmlns:a16="http://schemas.microsoft.com/office/drawing/2014/main" id="{CD9796CA-6687-4914-BD20-48F12C6637BB}"/>
              </a:ext>
            </a:extLst>
          </p:cNvPr>
          <p:cNvSpPr/>
          <p:nvPr/>
        </p:nvSpPr>
        <p:spPr>
          <a:xfrm>
            <a:off x="6193037" y="2528047"/>
            <a:ext cx="5045336" cy="37346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4269908D-D33D-D64F-BD39-32FA0F4419E1}"/>
              </a:ext>
            </a:extLst>
          </p:cNvPr>
          <p:cNvGrpSpPr/>
          <p:nvPr/>
        </p:nvGrpSpPr>
        <p:grpSpPr>
          <a:xfrm>
            <a:off x="9552787" y="2810768"/>
            <a:ext cx="962418" cy="731865"/>
            <a:chOff x="9552787" y="2810768"/>
            <a:chExt cx="962418" cy="731865"/>
          </a:xfrm>
        </p:grpSpPr>
        <p:sp>
          <p:nvSpPr>
            <p:cNvPr id="33" name="Oval 32">
              <a:extLst>
                <a:ext uri="{FF2B5EF4-FFF2-40B4-BE49-F238E27FC236}">
                  <a16:creationId xmlns:a16="http://schemas.microsoft.com/office/drawing/2014/main" id="{8E76363B-2D00-4D37-BE2F-F407C504F6B6}"/>
                </a:ext>
              </a:extLst>
            </p:cNvPr>
            <p:cNvSpPr/>
            <p:nvPr/>
          </p:nvSpPr>
          <p:spPr>
            <a:xfrm>
              <a:off x="9552787" y="2943572"/>
              <a:ext cx="599061" cy="599061"/>
            </a:xfrm>
            <a:prstGeom prst="ellipse">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4400" b="1" dirty="0">
                <a:solidFill>
                  <a:schemeClr val="tx1"/>
                </a:solidFill>
              </a:endParaRPr>
            </a:p>
          </p:txBody>
        </p:sp>
        <p:sp>
          <p:nvSpPr>
            <p:cNvPr id="3" name="TextBox 2">
              <a:extLst>
                <a:ext uri="{FF2B5EF4-FFF2-40B4-BE49-F238E27FC236}">
                  <a16:creationId xmlns:a16="http://schemas.microsoft.com/office/drawing/2014/main" id="{C214011E-BCB7-2D62-88DB-B50BDB50BDE2}"/>
                </a:ext>
              </a:extLst>
            </p:cNvPr>
            <p:cNvSpPr txBox="1"/>
            <p:nvPr/>
          </p:nvSpPr>
          <p:spPr>
            <a:xfrm>
              <a:off x="9656458" y="2810768"/>
              <a:ext cx="858747" cy="443833"/>
            </a:xfrm>
            <a:prstGeom prst="rect">
              <a:avLst/>
            </a:prstGeom>
            <a:noFill/>
            <a:ln>
              <a:noFill/>
            </a:ln>
          </p:spPr>
          <p:txBody>
            <a:bodyPr wrap="square" rtlCol="0" anchor="t" anchorCtr="0">
              <a:noAutofit/>
            </a:bodyPr>
            <a:lstStyle/>
            <a:p>
              <a:pPr algn="l"/>
              <a:r>
                <a:rPr lang="en-AU" sz="4400" b="1" dirty="0">
                  <a:latin typeface="Century Gothic" panose="020B0502020202020204" pitchFamily="34" charset="0"/>
                  <a:cs typeface="Futura Medium" panose="020B0602020204020303" pitchFamily="34" charset="-79"/>
                </a:rPr>
                <a:t>-</a:t>
              </a:r>
            </a:p>
          </p:txBody>
        </p:sp>
      </p:grpSp>
      <p:grpSp>
        <p:nvGrpSpPr>
          <p:cNvPr id="8" name="Group 7">
            <a:extLst>
              <a:ext uri="{FF2B5EF4-FFF2-40B4-BE49-F238E27FC236}">
                <a16:creationId xmlns:a16="http://schemas.microsoft.com/office/drawing/2014/main" id="{2CAD0031-A0A7-9FAF-5633-2043660BBEB0}"/>
              </a:ext>
            </a:extLst>
          </p:cNvPr>
          <p:cNvGrpSpPr/>
          <p:nvPr/>
        </p:nvGrpSpPr>
        <p:grpSpPr>
          <a:xfrm>
            <a:off x="9577388" y="4996443"/>
            <a:ext cx="968441" cy="743364"/>
            <a:chOff x="9577388" y="4996443"/>
            <a:chExt cx="968441" cy="743364"/>
          </a:xfrm>
        </p:grpSpPr>
        <p:sp>
          <p:nvSpPr>
            <p:cNvPr id="36" name="Oval 35">
              <a:extLst>
                <a:ext uri="{FF2B5EF4-FFF2-40B4-BE49-F238E27FC236}">
                  <a16:creationId xmlns:a16="http://schemas.microsoft.com/office/drawing/2014/main" id="{72F8AC64-A4DD-4074-A34B-4065487CBAFA}"/>
                </a:ext>
              </a:extLst>
            </p:cNvPr>
            <p:cNvSpPr/>
            <p:nvPr/>
          </p:nvSpPr>
          <p:spPr>
            <a:xfrm>
              <a:off x="9577388" y="5140746"/>
              <a:ext cx="599061" cy="599061"/>
            </a:xfrm>
            <a:prstGeom prst="ellipse">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4400" b="1" dirty="0">
                <a:solidFill>
                  <a:schemeClr val="tx1"/>
                </a:solidFill>
              </a:endParaRPr>
            </a:p>
          </p:txBody>
        </p:sp>
        <p:sp>
          <p:nvSpPr>
            <p:cNvPr id="6" name="TextBox 5">
              <a:extLst>
                <a:ext uri="{FF2B5EF4-FFF2-40B4-BE49-F238E27FC236}">
                  <a16:creationId xmlns:a16="http://schemas.microsoft.com/office/drawing/2014/main" id="{477A1193-945D-E718-82D5-2961548032FD}"/>
                </a:ext>
              </a:extLst>
            </p:cNvPr>
            <p:cNvSpPr txBox="1"/>
            <p:nvPr/>
          </p:nvSpPr>
          <p:spPr>
            <a:xfrm>
              <a:off x="9687082" y="4996443"/>
              <a:ext cx="858747" cy="443833"/>
            </a:xfrm>
            <a:prstGeom prst="rect">
              <a:avLst/>
            </a:prstGeom>
            <a:noFill/>
            <a:ln>
              <a:noFill/>
            </a:ln>
          </p:spPr>
          <p:txBody>
            <a:bodyPr wrap="square" rtlCol="0" anchor="t" anchorCtr="0">
              <a:noAutofit/>
            </a:bodyPr>
            <a:lstStyle/>
            <a:p>
              <a:pPr algn="l"/>
              <a:r>
                <a:rPr lang="en-AU" sz="4400" b="1" dirty="0">
                  <a:latin typeface="Century Gothic" panose="020B0502020202020204" pitchFamily="34" charset="0"/>
                  <a:cs typeface="Futura Medium" panose="020B0602020204020303" pitchFamily="34" charset="-79"/>
                </a:rPr>
                <a:t>-</a:t>
              </a:r>
            </a:p>
          </p:txBody>
        </p:sp>
      </p:grpSp>
    </p:spTree>
    <p:extLst>
      <p:ext uri="{BB962C8B-B14F-4D97-AF65-F5344CB8AC3E}">
        <p14:creationId xmlns:p14="http://schemas.microsoft.com/office/powerpoint/2010/main" val="44591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Electric fields show the forces exerted on a </a:t>
            </a:r>
            <a:r>
              <a:rPr lang="en-AU" sz="2400" dirty="0"/>
              <a:t>positively</a:t>
            </a:r>
            <a:r>
              <a:rPr lang="en-AU" sz="2400" b="0" dirty="0"/>
              <a:t> charged object.</a:t>
            </a:r>
          </a:p>
          <a:p>
            <a:pPr marL="1028700" lvl="1" indent="-342900" algn="just"/>
            <a:r>
              <a:rPr lang="en-AU" sz="2000" dirty="0"/>
              <a:t>The arrows point </a:t>
            </a:r>
            <a:r>
              <a:rPr lang="en-AU" sz="2000" b="1" dirty="0"/>
              <a:t>away from a positive source </a:t>
            </a:r>
            <a:r>
              <a:rPr lang="en-AU" sz="2000" dirty="0"/>
              <a:t>and </a:t>
            </a:r>
            <a:r>
              <a:rPr lang="en-AU" sz="2000" b="1" dirty="0"/>
              <a:t>towards a negative source</a:t>
            </a:r>
            <a:r>
              <a:rPr lang="en-AU" sz="2000" dirty="0"/>
              <a:t>.</a:t>
            </a:r>
            <a:endParaRPr lang="en-AU" sz="2000" b="0" dirty="0"/>
          </a:p>
          <a:p>
            <a:pPr lvl="1" indent="0" algn="just">
              <a:buNone/>
            </a:pPr>
            <a:endParaRPr lang="en-AU" sz="2000" dirty="0"/>
          </a:p>
        </p:txBody>
      </p:sp>
      <p:sp>
        <p:nvSpPr>
          <p:cNvPr id="29" name="Oval 28">
            <a:extLst>
              <a:ext uri="{FF2B5EF4-FFF2-40B4-BE49-F238E27FC236}">
                <a16:creationId xmlns:a16="http://schemas.microsoft.com/office/drawing/2014/main" id="{5E98A55E-F1F6-475F-9AF9-32596E6692D9}"/>
              </a:ext>
            </a:extLst>
          </p:cNvPr>
          <p:cNvSpPr/>
          <p:nvPr/>
        </p:nvSpPr>
        <p:spPr>
          <a:xfrm>
            <a:off x="3800817" y="4166576"/>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32" name="Oval 31">
            <a:extLst>
              <a:ext uri="{FF2B5EF4-FFF2-40B4-BE49-F238E27FC236}">
                <a16:creationId xmlns:a16="http://schemas.microsoft.com/office/drawing/2014/main" id="{698A3EF6-920C-4443-B556-DA05B622A1FA}"/>
              </a:ext>
            </a:extLst>
          </p:cNvPr>
          <p:cNvSpPr/>
          <p:nvPr/>
        </p:nvSpPr>
        <p:spPr>
          <a:xfrm>
            <a:off x="801227" y="4166576"/>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5" name="Rectangle 4">
            <a:extLst>
              <a:ext uri="{FF2B5EF4-FFF2-40B4-BE49-F238E27FC236}">
                <a16:creationId xmlns:a16="http://schemas.microsoft.com/office/drawing/2014/main" id="{C7CD45E5-A638-408B-88C1-AB8A6B058AB0}"/>
              </a:ext>
            </a:extLst>
          </p:cNvPr>
          <p:cNvSpPr/>
          <p:nvPr/>
        </p:nvSpPr>
        <p:spPr>
          <a:xfrm>
            <a:off x="75304" y="2528047"/>
            <a:ext cx="5045336" cy="37346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8E76363B-2D00-4D37-BE2F-F407C504F6B6}"/>
              </a:ext>
            </a:extLst>
          </p:cNvPr>
          <p:cNvSpPr/>
          <p:nvPr/>
        </p:nvSpPr>
        <p:spPr>
          <a:xfrm>
            <a:off x="9552787" y="2943572"/>
            <a:ext cx="599061" cy="599061"/>
          </a:xfrm>
          <a:prstGeom prst="ellipse">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34" name="Oval 33">
            <a:extLst>
              <a:ext uri="{FF2B5EF4-FFF2-40B4-BE49-F238E27FC236}">
                <a16:creationId xmlns:a16="http://schemas.microsoft.com/office/drawing/2014/main" id="{3B3B42A8-9152-41E2-8D5C-5F305E4A4A57}"/>
              </a:ext>
            </a:extLst>
          </p:cNvPr>
          <p:cNvSpPr/>
          <p:nvPr/>
        </p:nvSpPr>
        <p:spPr>
          <a:xfrm>
            <a:off x="6800407" y="4134303"/>
            <a:ext cx="599061" cy="599061"/>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35" name="Rectangle 34">
            <a:extLst>
              <a:ext uri="{FF2B5EF4-FFF2-40B4-BE49-F238E27FC236}">
                <a16:creationId xmlns:a16="http://schemas.microsoft.com/office/drawing/2014/main" id="{CD9796CA-6687-4914-BD20-48F12C6637BB}"/>
              </a:ext>
            </a:extLst>
          </p:cNvPr>
          <p:cNvSpPr/>
          <p:nvPr/>
        </p:nvSpPr>
        <p:spPr>
          <a:xfrm>
            <a:off x="6193037" y="2528047"/>
            <a:ext cx="5045336" cy="37346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Oval 35">
            <a:extLst>
              <a:ext uri="{FF2B5EF4-FFF2-40B4-BE49-F238E27FC236}">
                <a16:creationId xmlns:a16="http://schemas.microsoft.com/office/drawing/2014/main" id="{72F8AC64-A4DD-4074-A34B-4065487CBAFA}"/>
              </a:ext>
            </a:extLst>
          </p:cNvPr>
          <p:cNvSpPr/>
          <p:nvPr/>
        </p:nvSpPr>
        <p:spPr>
          <a:xfrm>
            <a:off x="9577388" y="5140746"/>
            <a:ext cx="599061" cy="599061"/>
          </a:xfrm>
          <a:prstGeom prst="ellipse">
            <a:avLst/>
          </a:prstGeom>
          <a:solidFill>
            <a:srgbClr val="8FAA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pic>
        <p:nvPicPr>
          <p:cNvPr id="6" name="Picture 5">
            <a:extLst>
              <a:ext uri="{FF2B5EF4-FFF2-40B4-BE49-F238E27FC236}">
                <a16:creationId xmlns:a16="http://schemas.microsoft.com/office/drawing/2014/main" id="{0987B19A-DFF2-404E-9419-C156557FD8F9}"/>
              </a:ext>
            </a:extLst>
          </p:cNvPr>
          <p:cNvPicPr>
            <a:picLocks noChangeAspect="1"/>
          </p:cNvPicPr>
          <p:nvPr/>
        </p:nvPicPr>
        <p:blipFill>
          <a:blip r:embed="rId3"/>
          <a:stretch>
            <a:fillRect/>
          </a:stretch>
        </p:blipFill>
        <p:spPr>
          <a:xfrm>
            <a:off x="275162" y="3185434"/>
            <a:ext cx="4661169" cy="2419910"/>
          </a:xfrm>
          <a:prstGeom prst="rect">
            <a:avLst/>
          </a:prstGeom>
        </p:spPr>
      </p:pic>
      <p:pic>
        <p:nvPicPr>
          <p:cNvPr id="8" name="Picture 7">
            <a:extLst>
              <a:ext uri="{FF2B5EF4-FFF2-40B4-BE49-F238E27FC236}">
                <a16:creationId xmlns:a16="http://schemas.microsoft.com/office/drawing/2014/main" id="{6BE55C1E-BB84-489F-B117-1CEC1265851A}"/>
              </a:ext>
            </a:extLst>
          </p:cNvPr>
          <p:cNvPicPr>
            <a:picLocks noChangeAspect="1"/>
          </p:cNvPicPr>
          <p:nvPr/>
        </p:nvPicPr>
        <p:blipFill>
          <a:blip r:embed="rId4"/>
          <a:stretch>
            <a:fillRect/>
          </a:stretch>
        </p:blipFill>
        <p:spPr>
          <a:xfrm>
            <a:off x="6291126" y="3113327"/>
            <a:ext cx="4849158" cy="2564123"/>
          </a:xfrm>
          <a:prstGeom prst="rect">
            <a:avLst/>
          </a:prstGeom>
        </p:spPr>
      </p:pic>
    </p:spTree>
    <p:extLst>
      <p:ext uri="{BB962C8B-B14F-4D97-AF65-F5344CB8AC3E}">
        <p14:creationId xmlns:p14="http://schemas.microsoft.com/office/powerpoint/2010/main" val="364318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3" name="Online Media 2" title="ELECTRIC FIELD Visualized with Crystals">
            <a:hlinkClick r:id="" action="ppaction://media"/>
            <a:extLst>
              <a:ext uri="{FF2B5EF4-FFF2-40B4-BE49-F238E27FC236}">
                <a16:creationId xmlns:a16="http://schemas.microsoft.com/office/drawing/2014/main" id="{55D03300-F94D-C6B4-943F-BFEFAA8F74B7}"/>
              </a:ext>
            </a:extLst>
          </p:cNvPr>
          <p:cNvPicPr>
            <a:picLocks noRot="1" noChangeAspect="1"/>
          </p:cNvPicPr>
          <p:nvPr>
            <a:videoFile r:link="rId1"/>
          </p:nvPr>
        </p:nvPicPr>
        <p:blipFill>
          <a:blip r:embed="rId4"/>
          <a:stretch>
            <a:fillRect/>
          </a:stretch>
        </p:blipFill>
        <p:spPr>
          <a:xfrm>
            <a:off x="0" y="-15240"/>
            <a:ext cx="12192000" cy="6888480"/>
          </a:xfrm>
          <a:prstGeom prst="rect">
            <a:avLst/>
          </a:prstGeom>
        </p:spPr>
      </p:pic>
    </p:spTree>
    <p:extLst>
      <p:ext uri="{BB962C8B-B14F-4D97-AF65-F5344CB8AC3E}">
        <p14:creationId xmlns:p14="http://schemas.microsoft.com/office/powerpoint/2010/main" val="86220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lines in an electric field display the </a:t>
            </a:r>
            <a:r>
              <a:rPr lang="en-AU" sz="2400" dirty="0"/>
              <a:t>forces</a:t>
            </a:r>
            <a:r>
              <a:rPr lang="en-AU" sz="2400" b="0" dirty="0"/>
              <a:t> – the force that will be exerted on a positively charged object. A negatively charged object will experience a force in the opposite direction of the lines.</a:t>
            </a:r>
          </a:p>
          <a:p>
            <a:pPr lvl="1" indent="0" algn="just">
              <a:buNone/>
            </a:pPr>
            <a:endParaRPr lang="en-AU" sz="2000" dirty="0"/>
          </a:p>
        </p:txBody>
      </p:sp>
      <p:sp>
        <p:nvSpPr>
          <p:cNvPr id="3" name="Oval 2">
            <a:extLst>
              <a:ext uri="{FF2B5EF4-FFF2-40B4-BE49-F238E27FC236}">
                <a16:creationId xmlns:a16="http://schemas.microsoft.com/office/drawing/2014/main" id="{70889490-D2E4-4863-A1E1-DC43A1328684}"/>
              </a:ext>
            </a:extLst>
          </p:cNvPr>
          <p:cNvSpPr/>
          <p:nvPr/>
        </p:nvSpPr>
        <p:spPr>
          <a:xfrm>
            <a:off x="9149757" y="3240572"/>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grpSp>
        <p:nvGrpSpPr>
          <p:cNvPr id="11" name="Group 10">
            <a:extLst>
              <a:ext uri="{FF2B5EF4-FFF2-40B4-BE49-F238E27FC236}">
                <a16:creationId xmlns:a16="http://schemas.microsoft.com/office/drawing/2014/main" id="{AFB786AF-F011-4250-96B9-EB2DA198EB2F}"/>
              </a:ext>
            </a:extLst>
          </p:cNvPr>
          <p:cNvGrpSpPr/>
          <p:nvPr/>
        </p:nvGrpSpPr>
        <p:grpSpPr>
          <a:xfrm>
            <a:off x="7670308" y="2019955"/>
            <a:ext cx="4496696" cy="4152548"/>
            <a:chOff x="302925" y="1758974"/>
            <a:chExt cx="6395455" cy="5926278"/>
          </a:xfrm>
        </p:grpSpPr>
        <p:cxnSp>
          <p:nvCxnSpPr>
            <p:cNvPr id="12" name="Straight Arrow Connector 11">
              <a:extLst>
                <a:ext uri="{FF2B5EF4-FFF2-40B4-BE49-F238E27FC236}">
                  <a16:creationId xmlns:a16="http://schemas.microsoft.com/office/drawing/2014/main" id="{921D5FED-B794-4F03-BDEA-A226EBE74540}"/>
                </a:ext>
              </a:extLst>
            </p:cNvPr>
            <p:cNvCxnSpPr>
              <a:cxnSpLocks/>
            </p:cNvCxnSpPr>
            <p:nvPr/>
          </p:nvCxnSpPr>
          <p:spPr>
            <a:xfrm>
              <a:off x="302925" y="4598274"/>
              <a:ext cx="2090502"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829998D-1B6C-49C2-847E-825D1B131EED}"/>
                </a:ext>
              </a:extLst>
            </p:cNvPr>
            <p:cNvCxnSpPr>
              <a:cxnSpLocks/>
            </p:cNvCxnSpPr>
            <p:nvPr/>
          </p:nvCxnSpPr>
          <p:spPr>
            <a:xfrm>
              <a:off x="1456255" y="2598085"/>
              <a:ext cx="1310245" cy="118874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69E1BEF-AE62-431F-9FA6-E4BCFF5C9F7A}"/>
                </a:ext>
              </a:extLst>
            </p:cNvPr>
            <p:cNvCxnSpPr>
              <a:cxnSpLocks/>
            </p:cNvCxnSpPr>
            <p:nvPr/>
          </p:nvCxnSpPr>
          <p:spPr>
            <a:xfrm>
              <a:off x="3562701" y="1758974"/>
              <a:ext cx="0" cy="174679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E39E1B-D6FB-456A-B55E-280D9A3A6FEE}"/>
                </a:ext>
              </a:extLst>
            </p:cNvPr>
            <p:cNvCxnSpPr>
              <a:cxnSpLocks/>
            </p:cNvCxnSpPr>
            <p:nvPr/>
          </p:nvCxnSpPr>
          <p:spPr>
            <a:xfrm flipH="1">
              <a:off x="4358901" y="2527359"/>
              <a:ext cx="1329669" cy="1275328"/>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74233F-8D0B-49F2-809D-CE066C401022}"/>
                </a:ext>
              </a:extLst>
            </p:cNvPr>
            <p:cNvCxnSpPr>
              <a:cxnSpLocks/>
            </p:cNvCxnSpPr>
            <p:nvPr/>
          </p:nvCxnSpPr>
          <p:spPr>
            <a:xfrm flipH="1" flipV="1">
              <a:off x="4731975" y="4598273"/>
              <a:ext cx="1966405" cy="1"/>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699D5A-39CA-4F35-8825-C826EFBA2436}"/>
                </a:ext>
              </a:extLst>
            </p:cNvPr>
            <p:cNvCxnSpPr>
              <a:cxnSpLocks/>
            </p:cNvCxnSpPr>
            <p:nvPr/>
          </p:nvCxnSpPr>
          <p:spPr>
            <a:xfrm flipH="1" flipV="1">
              <a:off x="4389503" y="5425076"/>
              <a:ext cx="1335906" cy="1368684"/>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07FDED9-EE42-4500-89DC-780322D069B2}"/>
                </a:ext>
              </a:extLst>
            </p:cNvPr>
            <p:cNvCxnSpPr>
              <a:cxnSpLocks/>
            </p:cNvCxnSpPr>
            <p:nvPr/>
          </p:nvCxnSpPr>
          <p:spPr>
            <a:xfrm flipV="1">
              <a:off x="3547400" y="5767548"/>
              <a:ext cx="15301" cy="1917704"/>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5CA9D76-88FC-47A9-8AC3-98E5B4D3F9BE}"/>
                </a:ext>
              </a:extLst>
            </p:cNvPr>
            <p:cNvCxnSpPr>
              <a:cxnSpLocks/>
            </p:cNvCxnSpPr>
            <p:nvPr/>
          </p:nvCxnSpPr>
          <p:spPr>
            <a:xfrm flipV="1">
              <a:off x="1369394" y="5425077"/>
              <a:ext cx="1366505" cy="1217769"/>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9" name="Text Placeholder 3">
            <a:extLst>
              <a:ext uri="{FF2B5EF4-FFF2-40B4-BE49-F238E27FC236}">
                <a16:creationId xmlns:a16="http://schemas.microsoft.com/office/drawing/2014/main" id="{3CF16CFF-B4F8-4A4E-B96F-048BC19DE3B7}"/>
              </a:ext>
            </a:extLst>
          </p:cNvPr>
          <p:cNvSpPr txBox="1">
            <a:spLocks/>
          </p:cNvSpPr>
          <p:nvPr/>
        </p:nvSpPr>
        <p:spPr>
          <a:xfrm>
            <a:off x="301034" y="1912179"/>
            <a:ext cx="543279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r>
              <a:rPr lang="en-AU" sz="2400" dirty="0"/>
              <a:t>Electric field strength</a:t>
            </a:r>
            <a:endParaRPr lang="en-AU" sz="2400" b="0" dirty="0"/>
          </a:p>
          <a:p>
            <a:pPr algn="just"/>
            <a:r>
              <a:rPr lang="en-AU" sz="2000" b="0" dirty="0"/>
              <a:t>The amount of force that the field applies to a unit of charge</a:t>
            </a:r>
          </a:p>
          <a:p>
            <a:pPr algn="just"/>
            <a:endParaRPr lang="en-AU" sz="2000" b="0" dirty="0"/>
          </a:p>
          <a:p>
            <a:pPr algn="just"/>
            <a:endParaRPr lang="en-AU" sz="2000" b="0" dirty="0"/>
          </a:p>
          <a:p>
            <a:pPr algn="just"/>
            <a:endParaRPr lang="en-AU" sz="2000" b="0" dirty="0"/>
          </a:p>
          <a:p>
            <a:pPr algn="just"/>
            <a:endParaRPr lang="en-AU" sz="2000" b="0" dirty="0"/>
          </a:p>
          <a:p>
            <a:pPr algn="just"/>
            <a:r>
              <a:rPr lang="en-AU" sz="2000" b="0" dirty="0"/>
              <a:t>E = electric field strength (NC</a:t>
            </a:r>
            <a:r>
              <a:rPr lang="en-AU" sz="2000" b="0" baseline="30000" dirty="0"/>
              <a:t>-1</a:t>
            </a:r>
            <a:r>
              <a:rPr lang="en-AU" sz="2000" b="0" dirty="0"/>
              <a:t>)</a:t>
            </a:r>
          </a:p>
          <a:p>
            <a:pPr algn="just"/>
            <a:r>
              <a:rPr lang="en-AU" sz="2000" b="0" dirty="0"/>
              <a:t>F = force acting on the charge (N)</a:t>
            </a:r>
          </a:p>
          <a:p>
            <a:pPr algn="just"/>
            <a:r>
              <a:rPr lang="en-AU" sz="2000" b="0" dirty="0"/>
              <a:t>q = quantity of the charge (C)</a:t>
            </a:r>
            <a:endParaRPr lang="en-AU" sz="1800" dirty="0"/>
          </a:p>
          <a:p>
            <a:pPr lvl="1" indent="0" algn="just">
              <a:buNone/>
            </a:pPr>
            <a:endParaRPr lang="en-AU" sz="2000" dirty="0"/>
          </a:p>
        </p:txBody>
      </p:sp>
      <p:pic>
        <p:nvPicPr>
          <p:cNvPr id="32" name="Picture 31">
            <a:extLst>
              <a:ext uri="{FF2B5EF4-FFF2-40B4-BE49-F238E27FC236}">
                <a16:creationId xmlns:a16="http://schemas.microsoft.com/office/drawing/2014/main" id="{72D3685E-AED2-4CAA-914B-209A1E752B4E}"/>
              </a:ext>
            </a:extLst>
          </p:cNvPr>
          <p:cNvPicPr>
            <a:picLocks noChangeAspect="1"/>
          </p:cNvPicPr>
          <p:nvPr/>
        </p:nvPicPr>
        <p:blipFill rotWithShape="1">
          <a:blip r:embed="rId3"/>
          <a:srcRect l="71903" r="10963"/>
          <a:stretch/>
        </p:blipFill>
        <p:spPr>
          <a:xfrm>
            <a:off x="2811048" y="3426882"/>
            <a:ext cx="1603537" cy="1266756"/>
          </a:xfrm>
          <a:prstGeom prst="rect">
            <a:avLst/>
          </a:prstGeom>
        </p:spPr>
      </p:pic>
      <p:sp>
        <p:nvSpPr>
          <p:cNvPr id="33" name="Oval 32">
            <a:extLst>
              <a:ext uri="{FF2B5EF4-FFF2-40B4-BE49-F238E27FC236}">
                <a16:creationId xmlns:a16="http://schemas.microsoft.com/office/drawing/2014/main" id="{EE77D492-4DFD-41A8-B01F-D453895F017C}"/>
              </a:ext>
            </a:extLst>
          </p:cNvPr>
          <p:cNvSpPr/>
          <p:nvPr/>
        </p:nvSpPr>
        <p:spPr>
          <a:xfrm>
            <a:off x="7225917" y="3841415"/>
            <a:ext cx="368967" cy="36896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a:t>
            </a:r>
          </a:p>
        </p:txBody>
      </p:sp>
    </p:spTree>
    <p:extLst>
      <p:ext uri="{BB962C8B-B14F-4D97-AF65-F5344CB8AC3E}">
        <p14:creationId xmlns:p14="http://schemas.microsoft.com/office/powerpoint/2010/main" val="317262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lines in an electric field display the </a:t>
            </a:r>
            <a:r>
              <a:rPr lang="en-AU" sz="2400" dirty="0"/>
              <a:t>forces</a:t>
            </a:r>
            <a:r>
              <a:rPr lang="en-AU" sz="2400" b="0" dirty="0"/>
              <a:t> – the force that will be exerted on a positively charged object. A negatively charged object will experience a force in the opposite direction of the lines.</a:t>
            </a:r>
          </a:p>
          <a:p>
            <a:pPr lvl="1" indent="0" algn="just">
              <a:buNone/>
            </a:pPr>
            <a:endParaRPr lang="en-AU" sz="2000" dirty="0"/>
          </a:p>
        </p:txBody>
      </p:sp>
      <p:sp>
        <p:nvSpPr>
          <p:cNvPr id="29" name="Text Placeholder 3">
            <a:extLst>
              <a:ext uri="{FF2B5EF4-FFF2-40B4-BE49-F238E27FC236}">
                <a16:creationId xmlns:a16="http://schemas.microsoft.com/office/drawing/2014/main" id="{3CF16CFF-B4F8-4A4E-B96F-048BC19DE3B7}"/>
              </a:ext>
            </a:extLst>
          </p:cNvPr>
          <p:cNvSpPr txBox="1">
            <a:spLocks/>
          </p:cNvSpPr>
          <p:nvPr/>
        </p:nvSpPr>
        <p:spPr>
          <a:xfrm>
            <a:off x="301034" y="1912179"/>
            <a:ext cx="543279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r>
              <a:rPr lang="en-AU" sz="2400" dirty="0"/>
              <a:t>Electric field strength</a:t>
            </a:r>
            <a:endParaRPr lang="en-AU" sz="2400" b="0" dirty="0"/>
          </a:p>
          <a:p>
            <a:pPr algn="just"/>
            <a:r>
              <a:rPr lang="en-AU" sz="2000" b="0" dirty="0"/>
              <a:t>The amount of force that the field applies to a unit of charge</a:t>
            </a:r>
          </a:p>
          <a:p>
            <a:pPr algn="just"/>
            <a:endParaRPr lang="en-AU" sz="2000" b="0" dirty="0"/>
          </a:p>
          <a:p>
            <a:pPr algn="just"/>
            <a:endParaRPr lang="en-AU" sz="2000" b="0" dirty="0"/>
          </a:p>
          <a:p>
            <a:pPr algn="just"/>
            <a:endParaRPr lang="en-AU" sz="2000" b="0" dirty="0"/>
          </a:p>
          <a:p>
            <a:pPr algn="just"/>
            <a:endParaRPr lang="en-AU" sz="2000" b="0" dirty="0"/>
          </a:p>
          <a:p>
            <a:pPr algn="just"/>
            <a:r>
              <a:rPr lang="en-AU" sz="2000" b="0" dirty="0"/>
              <a:t>E = electric field strength (NC</a:t>
            </a:r>
            <a:r>
              <a:rPr lang="en-AU" sz="2000" b="0" baseline="30000" dirty="0"/>
              <a:t>-1</a:t>
            </a:r>
            <a:r>
              <a:rPr lang="en-AU" sz="2000" b="0" dirty="0"/>
              <a:t>)</a:t>
            </a:r>
          </a:p>
          <a:p>
            <a:pPr algn="just"/>
            <a:r>
              <a:rPr lang="en-AU" sz="2000" b="0" dirty="0"/>
              <a:t>F = force acting on the charge (N)</a:t>
            </a:r>
          </a:p>
          <a:p>
            <a:pPr algn="just"/>
            <a:r>
              <a:rPr lang="en-AU" sz="2000" b="0" dirty="0"/>
              <a:t>q = quantity of the charge (C)</a:t>
            </a:r>
            <a:endParaRPr lang="en-AU" sz="1800" dirty="0"/>
          </a:p>
          <a:p>
            <a:pPr lvl="1" indent="0" algn="just">
              <a:buNone/>
            </a:pPr>
            <a:endParaRPr lang="en-AU" sz="2000" dirty="0"/>
          </a:p>
        </p:txBody>
      </p:sp>
      <p:pic>
        <p:nvPicPr>
          <p:cNvPr id="32" name="Picture 31">
            <a:extLst>
              <a:ext uri="{FF2B5EF4-FFF2-40B4-BE49-F238E27FC236}">
                <a16:creationId xmlns:a16="http://schemas.microsoft.com/office/drawing/2014/main" id="{72D3685E-AED2-4CAA-914B-209A1E752B4E}"/>
              </a:ext>
            </a:extLst>
          </p:cNvPr>
          <p:cNvPicPr>
            <a:picLocks noChangeAspect="1"/>
          </p:cNvPicPr>
          <p:nvPr/>
        </p:nvPicPr>
        <p:blipFill rotWithShape="1">
          <a:blip r:embed="rId3"/>
          <a:srcRect l="71903" r="10963"/>
          <a:stretch/>
        </p:blipFill>
        <p:spPr>
          <a:xfrm>
            <a:off x="2811048" y="3426882"/>
            <a:ext cx="1603537" cy="1266756"/>
          </a:xfrm>
          <a:prstGeom prst="rect">
            <a:avLst/>
          </a:prstGeom>
        </p:spPr>
      </p:pic>
      <p:sp>
        <p:nvSpPr>
          <p:cNvPr id="21" name="Text Placeholder 3">
            <a:extLst>
              <a:ext uri="{FF2B5EF4-FFF2-40B4-BE49-F238E27FC236}">
                <a16:creationId xmlns:a16="http://schemas.microsoft.com/office/drawing/2014/main" id="{0B18D3D0-58C5-4D5D-83EB-6D7EA8522620}"/>
              </a:ext>
            </a:extLst>
          </p:cNvPr>
          <p:cNvSpPr txBox="1">
            <a:spLocks/>
          </p:cNvSpPr>
          <p:nvPr/>
        </p:nvSpPr>
        <p:spPr>
          <a:xfrm>
            <a:off x="6458177" y="1835150"/>
            <a:ext cx="543279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r>
              <a:rPr lang="en-AU" sz="2400" dirty="0"/>
              <a:t>Gravitational field strength</a:t>
            </a:r>
            <a:endParaRPr lang="en-AU" sz="2400" b="0" dirty="0"/>
          </a:p>
          <a:p>
            <a:pPr algn="just"/>
            <a:r>
              <a:rPr lang="en-AU" sz="2000" b="0" dirty="0"/>
              <a:t>The amount of force that the field applies to a unit of mass</a:t>
            </a:r>
          </a:p>
          <a:p>
            <a:pPr algn="just"/>
            <a:endParaRPr lang="en-AU" sz="2000" b="0" dirty="0"/>
          </a:p>
          <a:p>
            <a:pPr algn="just"/>
            <a:endParaRPr lang="en-AU" sz="2000" b="0" dirty="0"/>
          </a:p>
          <a:p>
            <a:pPr algn="just"/>
            <a:endParaRPr lang="en-AU" sz="2000" b="0" dirty="0"/>
          </a:p>
          <a:p>
            <a:pPr algn="just"/>
            <a:endParaRPr lang="en-AU" sz="2000" b="0" dirty="0"/>
          </a:p>
          <a:p>
            <a:pPr algn="just"/>
            <a:r>
              <a:rPr lang="en-AU" sz="2000" b="0" dirty="0"/>
              <a:t>g = gravitational field strength (Nkg</a:t>
            </a:r>
            <a:r>
              <a:rPr lang="en-AU" sz="2000" b="0" baseline="30000" dirty="0"/>
              <a:t>-1</a:t>
            </a:r>
            <a:r>
              <a:rPr lang="en-AU" sz="2000" b="0" dirty="0"/>
              <a:t>)</a:t>
            </a:r>
          </a:p>
          <a:p>
            <a:pPr algn="just"/>
            <a:r>
              <a:rPr lang="en-AU" sz="2000" b="0" dirty="0" err="1"/>
              <a:t>F</a:t>
            </a:r>
            <a:r>
              <a:rPr lang="en-AU" sz="2000" b="0" baseline="-25000" dirty="0" err="1"/>
              <a:t>g</a:t>
            </a:r>
            <a:r>
              <a:rPr lang="en-AU" sz="2000" b="0" dirty="0"/>
              <a:t> = force acting on the object (N)</a:t>
            </a:r>
          </a:p>
          <a:p>
            <a:pPr algn="just"/>
            <a:r>
              <a:rPr lang="en-AU" sz="2000" b="0" dirty="0"/>
              <a:t>m = mass of the object (kg)</a:t>
            </a:r>
            <a:endParaRPr lang="en-AU" sz="1800" dirty="0"/>
          </a:p>
          <a:p>
            <a:pPr lvl="1" indent="0" algn="just">
              <a:buNone/>
            </a:pPr>
            <a:endParaRPr lang="en-AU" sz="2000" dirty="0"/>
          </a:p>
        </p:txBody>
      </p:sp>
      <p:pic>
        <p:nvPicPr>
          <p:cNvPr id="22" name="Picture 21">
            <a:extLst>
              <a:ext uri="{FF2B5EF4-FFF2-40B4-BE49-F238E27FC236}">
                <a16:creationId xmlns:a16="http://schemas.microsoft.com/office/drawing/2014/main" id="{B43CAD39-5307-4E56-9AC8-AB120803E25D}"/>
              </a:ext>
            </a:extLst>
          </p:cNvPr>
          <p:cNvPicPr>
            <a:picLocks noChangeAspect="1"/>
          </p:cNvPicPr>
          <p:nvPr/>
        </p:nvPicPr>
        <p:blipFill rotWithShape="1">
          <a:blip r:embed="rId4"/>
          <a:srcRect l="69142" r="14779"/>
          <a:stretch/>
        </p:blipFill>
        <p:spPr>
          <a:xfrm>
            <a:off x="8881691" y="3499651"/>
            <a:ext cx="1100745" cy="1050834"/>
          </a:xfrm>
          <a:prstGeom prst="rect">
            <a:avLst/>
          </a:prstGeom>
        </p:spPr>
      </p:pic>
    </p:spTree>
    <p:extLst>
      <p:ext uri="{BB962C8B-B14F-4D97-AF65-F5344CB8AC3E}">
        <p14:creationId xmlns:p14="http://schemas.microsoft.com/office/powerpoint/2010/main" val="147180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force between two point charges can be calculated using Coulomb’s Law.</a:t>
            </a:r>
          </a:p>
          <a:p>
            <a:pPr lvl="1" indent="0" algn="just">
              <a:buNone/>
            </a:pPr>
            <a:endParaRPr lang="en-AU" sz="2000" dirty="0"/>
          </a:p>
        </p:txBody>
      </p:sp>
      <p:sp>
        <p:nvSpPr>
          <p:cNvPr id="29" name="Text Placeholder 3">
            <a:extLst>
              <a:ext uri="{FF2B5EF4-FFF2-40B4-BE49-F238E27FC236}">
                <a16:creationId xmlns:a16="http://schemas.microsoft.com/office/drawing/2014/main" id="{3CF16CFF-B4F8-4A4E-B96F-048BC19DE3B7}"/>
              </a:ext>
            </a:extLst>
          </p:cNvPr>
          <p:cNvSpPr txBox="1">
            <a:spLocks/>
          </p:cNvSpPr>
          <p:nvPr/>
        </p:nvSpPr>
        <p:spPr>
          <a:xfrm>
            <a:off x="214868" y="2720712"/>
            <a:ext cx="506713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r>
              <a:rPr lang="en-AU" sz="2000" b="0" dirty="0"/>
              <a:t>The amount of force that one point charge applies to another</a:t>
            </a:r>
          </a:p>
          <a:p>
            <a:pPr algn="just"/>
            <a:endParaRPr lang="en-AU" sz="2000" b="0" dirty="0"/>
          </a:p>
          <a:p>
            <a:pPr algn="just"/>
            <a:r>
              <a:rPr lang="en-AU" sz="2000" b="0" dirty="0"/>
              <a:t>F = force (N)</a:t>
            </a:r>
          </a:p>
          <a:p>
            <a:pPr algn="just"/>
            <a:r>
              <a:rPr lang="el-GR" sz="2000" b="0" dirty="0"/>
              <a:t>ε</a:t>
            </a:r>
            <a:r>
              <a:rPr lang="en-AU" sz="2000" b="0" baseline="-25000" dirty="0"/>
              <a:t>0</a:t>
            </a:r>
            <a:r>
              <a:rPr lang="en-AU" sz="2000" b="0" dirty="0"/>
              <a:t> = electric permittivity of a vacuum (8.85 x 10</a:t>
            </a:r>
            <a:r>
              <a:rPr lang="en-AU" sz="2000" b="0" baseline="30000" dirty="0"/>
              <a:t>-12</a:t>
            </a:r>
            <a:r>
              <a:rPr lang="en-AU" sz="2000" b="0" dirty="0"/>
              <a:t> Fm</a:t>
            </a:r>
            <a:r>
              <a:rPr lang="en-AU" sz="2000" b="0" baseline="30000" dirty="0"/>
              <a:t>-1</a:t>
            </a:r>
            <a:r>
              <a:rPr lang="en-AU" sz="2000" b="0" dirty="0"/>
              <a:t>) (“</a:t>
            </a:r>
            <a:r>
              <a:rPr lang="en-AU" sz="2000" b="0" i="1" dirty="0"/>
              <a:t>epsilon-nought”</a:t>
            </a:r>
            <a:r>
              <a:rPr lang="en-AU" sz="2000" b="0" dirty="0"/>
              <a:t>)</a:t>
            </a:r>
          </a:p>
          <a:p>
            <a:pPr algn="just"/>
            <a:r>
              <a:rPr lang="en-AU" sz="2000" b="0" dirty="0"/>
              <a:t>q</a:t>
            </a:r>
            <a:r>
              <a:rPr lang="en-AU" sz="2000" b="0" baseline="-25000" dirty="0"/>
              <a:t>1</a:t>
            </a:r>
            <a:r>
              <a:rPr lang="en-AU" sz="2000" b="0" dirty="0"/>
              <a:t> and q</a:t>
            </a:r>
            <a:r>
              <a:rPr lang="en-AU" sz="2000" b="0" baseline="-25000" dirty="0"/>
              <a:t>2 </a:t>
            </a:r>
            <a:r>
              <a:rPr lang="en-AU" sz="2000" b="0" dirty="0"/>
              <a:t>= the electric charges (C)</a:t>
            </a:r>
          </a:p>
          <a:p>
            <a:pPr algn="just"/>
            <a:r>
              <a:rPr lang="en-AU" sz="2000" b="0" dirty="0"/>
              <a:t>r = the separation (m)</a:t>
            </a:r>
            <a:endParaRPr lang="en-AU" sz="1800" dirty="0"/>
          </a:p>
          <a:p>
            <a:pPr lvl="1" indent="0" algn="just">
              <a:buNone/>
            </a:pPr>
            <a:endParaRPr lang="en-AU" sz="2000" dirty="0"/>
          </a:p>
        </p:txBody>
      </p:sp>
      <p:pic>
        <p:nvPicPr>
          <p:cNvPr id="12" name="Picture 11">
            <a:extLst>
              <a:ext uri="{FF2B5EF4-FFF2-40B4-BE49-F238E27FC236}">
                <a16:creationId xmlns:a16="http://schemas.microsoft.com/office/drawing/2014/main" id="{EE3337D6-9A03-4105-AAA2-273E7C1494DE}"/>
              </a:ext>
            </a:extLst>
          </p:cNvPr>
          <p:cNvPicPr>
            <a:picLocks noChangeAspect="1"/>
          </p:cNvPicPr>
          <p:nvPr/>
        </p:nvPicPr>
        <p:blipFill rotWithShape="1">
          <a:blip r:embed="rId3"/>
          <a:srcRect l="67108"/>
          <a:stretch/>
        </p:blipFill>
        <p:spPr>
          <a:xfrm>
            <a:off x="1558422" y="1893248"/>
            <a:ext cx="2641934" cy="1004026"/>
          </a:xfrm>
          <a:prstGeom prst="rect">
            <a:avLst/>
          </a:prstGeom>
        </p:spPr>
      </p:pic>
      <p:sp>
        <p:nvSpPr>
          <p:cNvPr id="15" name="Oval 14">
            <a:extLst>
              <a:ext uri="{FF2B5EF4-FFF2-40B4-BE49-F238E27FC236}">
                <a16:creationId xmlns:a16="http://schemas.microsoft.com/office/drawing/2014/main" id="{0A60851B-7BE7-4B7C-B613-3524C5ACA0C6}"/>
              </a:ext>
            </a:extLst>
          </p:cNvPr>
          <p:cNvSpPr/>
          <p:nvPr/>
        </p:nvSpPr>
        <p:spPr>
          <a:xfrm>
            <a:off x="9518724" y="2606845"/>
            <a:ext cx="1603537" cy="160353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16" name="Oval 15">
            <a:extLst>
              <a:ext uri="{FF2B5EF4-FFF2-40B4-BE49-F238E27FC236}">
                <a16:creationId xmlns:a16="http://schemas.microsoft.com/office/drawing/2014/main" id="{CD988D49-4F43-4BD9-8EA7-A94BF502022D}"/>
              </a:ext>
            </a:extLst>
          </p:cNvPr>
          <p:cNvSpPr/>
          <p:nvPr/>
        </p:nvSpPr>
        <p:spPr>
          <a:xfrm>
            <a:off x="7594884" y="3207688"/>
            <a:ext cx="368967" cy="368967"/>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a:t>
            </a:r>
          </a:p>
        </p:txBody>
      </p:sp>
    </p:spTree>
    <p:extLst>
      <p:ext uri="{BB962C8B-B14F-4D97-AF65-F5344CB8AC3E}">
        <p14:creationId xmlns:p14="http://schemas.microsoft.com/office/powerpoint/2010/main" val="16192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force between two point charges can be calculated using Coulomb’s Law.</a:t>
            </a:r>
          </a:p>
          <a:p>
            <a:pPr lvl="1" indent="0" algn="just">
              <a:buNone/>
            </a:pPr>
            <a:endParaRPr lang="en-AU" sz="2000" dirty="0"/>
          </a:p>
        </p:txBody>
      </p:sp>
      <p:sp>
        <p:nvSpPr>
          <p:cNvPr id="29" name="Text Placeholder 3">
            <a:extLst>
              <a:ext uri="{FF2B5EF4-FFF2-40B4-BE49-F238E27FC236}">
                <a16:creationId xmlns:a16="http://schemas.microsoft.com/office/drawing/2014/main" id="{3CF16CFF-B4F8-4A4E-B96F-048BC19DE3B7}"/>
              </a:ext>
            </a:extLst>
          </p:cNvPr>
          <p:cNvSpPr txBox="1">
            <a:spLocks/>
          </p:cNvSpPr>
          <p:nvPr/>
        </p:nvSpPr>
        <p:spPr>
          <a:xfrm>
            <a:off x="214868" y="2720712"/>
            <a:ext cx="506713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r>
              <a:rPr lang="en-AU" sz="2000" b="0" dirty="0"/>
              <a:t>The amount of force that one point charge applies to another</a:t>
            </a:r>
          </a:p>
          <a:p>
            <a:pPr algn="just"/>
            <a:endParaRPr lang="en-AU" sz="2000" b="0" dirty="0"/>
          </a:p>
          <a:p>
            <a:pPr algn="just"/>
            <a:r>
              <a:rPr lang="en-AU" sz="2000" b="0" dirty="0"/>
              <a:t>F = force (N)</a:t>
            </a:r>
          </a:p>
          <a:p>
            <a:pPr algn="just"/>
            <a:r>
              <a:rPr lang="el-GR" sz="2000" b="0" dirty="0"/>
              <a:t>ε</a:t>
            </a:r>
            <a:r>
              <a:rPr lang="en-AU" sz="2000" b="0" baseline="-25000" dirty="0"/>
              <a:t>0</a:t>
            </a:r>
            <a:r>
              <a:rPr lang="en-AU" sz="2000" b="0" dirty="0"/>
              <a:t> = electric permittivity of a vacuum (8.85 x 10</a:t>
            </a:r>
            <a:r>
              <a:rPr lang="en-AU" sz="2000" b="0" baseline="30000" dirty="0"/>
              <a:t>-12</a:t>
            </a:r>
            <a:r>
              <a:rPr lang="en-AU" sz="2000" b="0" dirty="0"/>
              <a:t> Fm</a:t>
            </a:r>
            <a:r>
              <a:rPr lang="en-AU" sz="2000" b="0" baseline="30000" dirty="0"/>
              <a:t>-1</a:t>
            </a:r>
            <a:r>
              <a:rPr lang="en-AU" sz="2000" b="0" dirty="0"/>
              <a:t>) (“</a:t>
            </a:r>
            <a:r>
              <a:rPr lang="en-AU" sz="2000" b="0" i="1" dirty="0"/>
              <a:t>epsilon-nought”</a:t>
            </a:r>
            <a:r>
              <a:rPr lang="en-AU" sz="2000" b="0" dirty="0"/>
              <a:t>)</a:t>
            </a:r>
          </a:p>
          <a:p>
            <a:pPr algn="just"/>
            <a:r>
              <a:rPr lang="en-AU" sz="2000" b="0" dirty="0"/>
              <a:t>q</a:t>
            </a:r>
            <a:r>
              <a:rPr lang="en-AU" sz="2000" b="0" baseline="-25000" dirty="0"/>
              <a:t>1</a:t>
            </a:r>
            <a:r>
              <a:rPr lang="en-AU" sz="2000" b="0" dirty="0"/>
              <a:t> and q</a:t>
            </a:r>
            <a:r>
              <a:rPr lang="en-AU" sz="2000" b="0" baseline="-25000" dirty="0"/>
              <a:t>2 </a:t>
            </a:r>
            <a:r>
              <a:rPr lang="en-AU" sz="2000" b="0" dirty="0"/>
              <a:t>= the electric charges (C)</a:t>
            </a:r>
          </a:p>
          <a:p>
            <a:pPr algn="just"/>
            <a:r>
              <a:rPr lang="en-AU" sz="2000" b="0" dirty="0"/>
              <a:t>r = the separation (m)</a:t>
            </a:r>
            <a:endParaRPr lang="en-AU" sz="1800" dirty="0"/>
          </a:p>
          <a:p>
            <a:pPr lvl="1" indent="0" algn="just">
              <a:buNone/>
            </a:pPr>
            <a:endParaRPr lang="en-AU" sz="2000" dirty="0"/>
          </a:p>
        </p:txBody>
      </p:sp>
      <p:pic>
        <p:nvPicPr>
          <p:cNvPr id="11" name="Picture 10">
            <a:extLst>
              <a:ext uri="{FF2B5EF4-FFF2-40B4-BE49-F238E27FC236}">
                <a16:creationId xmlns:a16="http://schemas.microsoft.com/office/drawing/2014/main" id="{0EE586A2-2C3E-47BF-9A80-A02F996CDA53}"/>
              </a:ext>
            </a:extLst>
          </p:cNvPr>
          <p:cNvPicPr>
            <a:picLocks noChangeAspect="1"/>
          </p:cNvPicPr>
          <p:nvPr/>
        </p:nvPicPr>
        <p:blipFill rotWithShape="1">
          <a:blip r:embed="rId3"/>
          <a:srcRect l="67345"/>
          <a:stretch/>
        </p:blipFill>
        <p:spPr>
          <a:xfrm>
            <a:off x="7694058" y="1649234"/>
            <a:ext cx="2495494" cy="1248040"/>
          </a:xfrm>
          <a:prstGeom prst="rect">
            <a:avLst/>
          </a:prstGeom>
        </p:spPr>
      </p:pic>
      <p:pic>
        <p:nvPicPr>
          <p:cNvPr id="12" name="Picture 11">
            <a:extLst>
              <a:ext uri="{FF2B5EF4-FFF2-40B4-BE49-F238E27FC236}">
                <a16:creationId xmlns:a16="http://schemas.microsoft.com/office/drawing/2014/main" id="{EE3337D6-9A03-4105-AAA2-273E7C1494DE}"/>
              </a:ext>
            </a:extLst>
          </p:cNvPr>
          <p:cNvPicPr>
            <a:picLocks noChangeAspect="1"/>
          </p:cNvPicPr>
          <p:nvPr/>
        </p:nvPicPr>
        <p:blipFill rotWithShape="1">
          <a:blip r:embed="rId4"/>
          <a:srcRect l="67108"/>
          <a:stretch/>
        </p:blipFill>
        <p:spPr>
          <a:xfrm>
            <a:off x="1558422" y="1893248"/>
            <a:ext cx="2641934" cy="1004026"/>
          </a:xfrm>
          <a:prstGeom prst="rect">
            <a:avLst/>
          </a:prstGeom>
        </p:spPr>
      </p:pic>
      <p:pic>
        <p:nvPicPr>
          <p:cNvPr id="13" name="Picture 12">
            <a:extLst>
              <a:ext uri="{FF2B5EF4-FFF2-40B4-BE49-F238E27FC236}">
                <a16:creationId xmlns:a16="http://schemas.microsoft.com/office/drawing/2014/main" id="{799CD06B-BE99-446F-8833-0840AAB055B1}"/>
              </a:ext>
            </a:extLst>
          </p:cNvPr>
          <p:cNvPicPr>
            <a:picLocks noChangeAspect="1"/>
          </p:cNvPicPr>
          <p:nvPr/>
        </p:nvPicPr>
        <p:blipFill rotWithShape="1">
          <a:blip r:embed="rId3"/>
          <a:srcRect r="44558"/>
          <a:stretch/>
        </p:blipFill>
        <p:spPr>
          <a:xfrm>
            <a:off x="7358709" y="2897274"/>
            <a:ext cx="3166192" cy="932645"/>
          </a:xfrm>
          <a:prstGeom prst="rect">
            <a:avLst/>
          </a:prstGeom>
        </p:spPr>
      </p:pic>
    </p:spTree>
    <p:extLst>
      <p:ext uri="{BB962C8B-B14F-4D97-AF65-F5344CB8AC3E}">
        <p14:creationId xmlns:p14="http://schemas.microsoft.com/office/powerpoint/2010/main" val="1823092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AutoNum type="alphaLcParenR"/>
            </a:pPr>
            <a:r>
              <a:rPr lang="en-AU" sz="2400" b="0" dirty="0"/>
              <a:t>What force is applied to a 1.00 </a:t>
            </a:r>
            <a:r>
              <a:rPr lang="en-AU" sz="2400" b="0" dirty="0" err="1"/>
              <a:t>mC</a:t>
            </a:r>
            <a:r>
              <a:rPr lang="en-AU" sz="2400" b="0" dirty="0"/>
              <a:t> point charge located 2.00 cm from a 20.0 </a:t>
            </a:r>
            <a:r>
              <a:rPr lang="en-AU" sz="2400" b="0" dirty="0" err="1"/>
              <a:t>mC</a:t>
            </a:r>
            <a:r>
              <a:rPr lang="en-AU" sz="2400" b="0" dirty="0"/>
              <a:t> point charge?</a:t>
            </a:r>
          </a:p>
          <a:p>
            <a:pPr marL="457200" indent="-457200" algn="just">
              <a:buAutoNum type="alphaLcParenR"/>
            </a:pPr>
            <a:r>
              <a:rPr lang="en-AU" sz="2400" b="0" dirty="0"/>
              <a:t>Calculate the electric field strength 2.00 cm from each of the charges, absent the other charge (i.e., assume only one charge is present at a time).</a:t>
            </a:r>
          </a:p>
          <a:p>
            <a:pPr lvl="1" indent="0" algn="just">
              <a:buNone/>
            </a:pPr>
            <a:endParaRPr lang="en-AU" sz="2000" dirty="0"/>
          </a:p>
        </p:txBody>
      </p:sp>
    </p:spTree>
    <p:extLst>
      <p:ext uri="{BB962C8B-B14F-4D97-AF65-F5344CB8AC3E}">
        <p14:creationId xmlns:p14="http://schemas.microsoft.com/office/powerpoint/2010/main" val="118737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sodium ion has a +1 relative atomic charge which indicates it has one more proton than electron. This ion is placed in a 4.00 NC</a:t>
            </a:r>
            <a:r>
              <a:rPr lang="en-AU" sz="2400" b="0" baseline="30000" dirty="0"/>
              <a:t>-1 </a:t>
            </a:r>
            <a:r>
              <a:rPr lang="en-AU" sz="2400" b="0" dirty="0"/>
              <a:t>electric field.</a:t>
            </a:r>
          </a:p>
          <a:p>
            <a:pPr marL="457200" indent="-457200" algn="just">
              <a:buAutoNum type="alphaLcParenR"/>
            </a:pPr>
            <a:r>
              <a:rPr lang="en-AU" sz="2400" b="0" dirty="0"/>
              <a:t>Calculate the force applied to a single sodium ion in this electric field</a:t>
            </a:r>
          </a:p>
          <a:p>
            <a:pPr marL="457200" indent="-457200" algn="just">
              <a:buAutoNum type="alphaLcParenR"/>
            </a:pPr>
            <a:r>
              <a:rPr lang="en-AU" sz="2400" b="0" dirty="0"/>
              <a:t>A different ion is placed in the electric field. It moves in the opposite direction to the sodium ion and experiences a 1.28 * 10</a:t>
            </a:r>
            <a:r>
              <a:rPr lang="en-AU" sz="2400" b="0" baseline="30000" dirty="0"/>
              <a:t>-18</a:t>
            </a:r>
            <a:r>
              <a:rPr lang="en-AU" sz="2400" b="0" baseline="-25000" dirty="0"/>
              <a:t> </a:t>
            </a:r>
            <a:r>
              <a:rPr lang="en-AU" sz="2400" b="0" dirty="0"/>
              <a:t> N force. Calculate the relative atomic charge of the ion.</a:t>
            </a:r>
          </a:p>
          <a:p>
            <a:pPr lvl="1" indent="0" algn="just">
              <a:buNone/>
            </a:pPr>
            <a:endParaRPr lang="en-AU" sz="2000" dirty="0"/>
          </a:p>
        </p:txBody>
      </p:sp>
    </p:spTree>
    <p:extLst>
      <p:ext uri="{BB962C8B-B14F-4D97-AF65-F5344CB8AC3E}">
        <p14:creationId xmlns:p14="http://schemas.microsoft.com/office/powerpoint/2010/main" val="308719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sodium ion has a +1 relative atomic charge which indicates it has one more proton than electron. This ion is placed in a 4.00 NC</a:t>
            </a:r>
            <a:r>
              <a:rPr lang="en-AU" sz="2400" b="0" baseline="30000" dirty="0"/>
              <a:t>-1 </a:t>
            </a:r>
            <a:r>
              <a:rPr lang="en-AU" sz="2400" b="0" dirty="0"/>
              <a:t>electric field.</a:t>
            </a:r>
          </a:p>
          <a:p>
            <a:pPr marL="457200" indent="-457200" algn="just">
              <a:buAutoNum type="alphaLcParenR"/>
            </a:pPr>
            <a:r>
              <a:rPr lang="en-AU" sz="2400" b="0" dirty="0"/>
              <a:t>Calculate the force applied to a single sodium ion in this electric field</a:t>
            </a:r>
          </a:p>
          <a:p>
            <a:pPr marL="457200" indent="-457200" algn="just">
              <a:buAutoNum type="alphaLcParenR"/>
            </a:pPr>
            <a:r>
              <a:rPr lang="en-AU" sz="2400" b="0" dirty="0"/>
              <a:t>A different ion is placed in the electric field. It moves in the opposite direction to the sodium ion and experiences a 1.28 * 10</a:t>
            </a:r>
            <a:r>
              <a:rPr lang="en-AU" sz="2400" b="0" baseline="30000" dirty="0"/>
              <a:t>-18</a:t>
            </a:r>
            <a:r>
              <a:rPr lang="en-AU" sz="2400" b="0" baseline="-25000" dirty="0"/>
              <a:t> </a:t>
            </a:r>
            <a:r>
              <a:rPr lang="en-AU" sz="2400" b="0" dirty="0"/>
              <a:t> N force. Calculate the relative atomic charge of the ion.</a:t>
            </a:r>
          </a:p>
          <a:p>
            <a:pPr lvl="1" indent="0" algn="just">
              <a:buNone/>
            </a:pPr>
            <a:endParaRPr lang="en-AU" sz="2000" dirty="0"/>
          </a:p>
        </p:txBody>
      </p:sp>
      <p:pic>
        <p:nvPicPr>
          <p:cNvPr id="5" name="Picture 4">
            <a:extLst>
              <a:ext uri="{FF2B5EF4-FFF2-40B4-BE49-F238E27FC236}">
                <a16:creationId xmlns:a16="http://schemas.microsoft.com/office/drawing/2014/main" id="{2D569C2B-FD95-4556-B143-06745822C307}"/>
              </a:ext>
            </a:extLst>
          </p:cNvPr>
          <p:cNvPicPr>
            <a:picLocks noChangeAspect="1"/>
          </p:cNvPicPr>
          <p:nvPr/>
        </p:nvPicPr>
        <p:blipFill>
          <a:blip r:embed="rId3"/>
          <a:stretch>
            <a:fillRect/>
          </a:stretch>
        </p:blipFill>
        <p:spPr>
          <a:xfrm>
            <a:off x="120752" y="1798320"/>
            <a:ext cx="11856381" cy="3744981"/>
          </a:xfrm>
          <a:prstGeom prst="rect">
            <a:avLst/>
          </a:prstGeom>
        </p:spPr>
      </p:pic>
    </p:spTree>
    <p:extLst>
      <p:ext uri="{BB962C8B-B14F-4D97-AF65-F5344CB8AC3E}">
        <p14:creationId xmlns:p14="http://schemas.microsoft.com/office/powerpoint/2010/main" val="199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Calculate the electric field intensity in the region of space 20.0 cm away from a 125 </a:t>
            </a:r>
            <a:r>
              <a:rPr lang="en-AU" sz="2400" b="0" dirty="0" err="1"/>
              <a:t>mC</a:t>
            </a:r>
            <a:r>
              <a:rPr lang="en-AU" sz="2400" b="0" dirty="0"/>
              <a:t> point charge.</a:t>
            </a:r>
          </a:p>
          <a:p>
            <a:pPr algn="just"/>
            <a:r>
              <a:rPr lang="en-AU" sz="2400" b="0" dirty="0"/>
              <a:t>								Note: intensity = strength</a:t>
            </a:r>
            <a:endParaRPr lang="en-AU" sz="2000" dirty="0"/>
          </a:p>
        </p:txBody>
      </p:sp>
    </p:spTree>
    <p:extLst>
      <p:ext uri="{BB962C8B-B14F-4D97-AF65-F5344CB8AC3E}">
        <p14:creationId xmlns:p14="http://schemas.microsoft.com/office/powerpoint/2010/main" val="3210937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Calculate the electric field intensity in the region of space 20.0 cm away from a 125 </a:t>
            </a:r>
            <a:r>
              <a:rPr lang="en-AU" sz="2400" b="0" dirty="0" err="1"/>
              <a:t>mC</a:t>
            </a:r>
            <a:r>
              <a:rPr lang="en-AU" sz="2400" b="0" dirty="0"/>
              <a:t> point charge.</a:t>
            </a:r>
          </a:p>
          <a:p>
            <a:pPr algn="just"/>
            <a:r>
              <a:rPr lang="en-AU" sz="2400" b="0" dirty="0"/>
              <a:t>								Note: intensity = strength</a:t>
            </a:r>
            <a:endParaRPr lang="en-AU" sz="2000" dirty="0"/>
          </a:p>
        </p:txBody>
      </p:sp>
      <p:pic>
        <p:nvPicPr>
          <p:cNvPr id="5" name="Picture 4">
            <a:extLst>
              <a:ext uri="{FF2B5EF4-FFF2-40B4-BE49-F238E27FC236}">
                <a16:creationId xmlns:a16="http://schemas.microsoft.com/office/drawing/2014/main" id="{6DCFDE41-B60A-4631-9050-137F8C264A10}"/>
              </a:ext>
            </a:extLst>
          </p:cNvPr>
          <p:cNvPicPr>
            <a:picLocks noChangeAspect="1"/>
          </p:cNvPicPr>
          <p:nvPr/>
        </p:nvPicPr>
        <p:blipFill>
          <a:blip r:embed="rId3"/>
          <a:stretch>
            <a:fillRect/>
          </a:stretch>
        </p:blipFill>
        <p:spPr>
          <a:xfrm>
            <a:off x="214866" y="2775567"/>
            <a:ext cx="11977133" cy="2849399"/>
          </a:xfrm>
          <a:prstGeom prst="rect">
            <a:avLst/>
          </a:prstGeom>
        </p:spPr>
      </p:pic>
    </p:spTree>
    <p:extLst>
      <p:ext uri="{BB962C8B-B14F-4D97-AF65-F5344CB8AC3E}">
        <p14:creationId xmlns:p14="http://schemas.microsoft.com/office/powerpoint/2010/main" val="2374735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Uniform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9681"/>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 name="Rectangle 2">
            <a:extLst>
              <a:ext uri="{FF2B5EF4-FFF2-40B4-BE49-F238E27FC236}">
                <a16:creationId xmlns:a16="http://schemas.microsoft.com/office/drawing/2014/main" id="{DCF893A8-4058-425F-888F-D345B6ABCCCD}"/>
              </a:ext>
            </a:extLst>
          </p:cNvPr>
          <p:cNvSpPr/>
          <p:nvPr/>
        </p:nvSpPr>
        <p:spPr>
          <a:xfrm>
            <a:off x="5283200" y="174752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  +  +  +  +  +  +  +  +  +  +</a:t>
            </a:r>
          </a:p>
        </p:txBody>
      </p:sp>
      <p:sp>
        <p:nvSpPr>
          <p:cNvPr id="9" name="Rectangle 8">
            <a:extLst>
              <a:ext uri="{FF2B5EF4-FFF2-40B4-BE49-F238E27FC236}">
                <a16:creationId xmlns:a16="http://schemas.microsoft.com/office/drawing/2014/main" id="{4A9871E1-52FE-4C54-A5B6-FC14F83E4028}"/>
              </a:ext>
            </a:extLst>
          </p:cNvPr>
          <p:cNvSpPr/>
          <p:nvPr/>
        </p:nvSpPr>
        <p:spPr>
          <a:xfrm>
            <a:off x="5283200" y="342900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  -  -  -  -  -  -  -   -  -  -  </a:t>
            </a:r>
          </a:p>
        </p:txBody>
      </p:sp>
      <p:cxnSp>
        <p:nvCxnSpPr>
          <p:cNvPr id="12" name="Straight Connector 11">
            <a:extLst>
              <a:ext uri="{FF2B5EF4-FFF2-40B4-BE49-F238E27FC236}">
                <a16:creationId xmlns:a16="http://schemas.microsoft.com/office/drawing/2014/main" id="{78421AE5-2DF7-4D7C-8ADB-E3214C015756}"/>
              </a:ext>
            </a:extLst>
          </p:cNvPr>
          <p:cNvCxnSpPr>
            <a:cxnSpLocks/>
          </p:cNvCxnSpPr>
          <p:nvPr/>
        </p:nvCxnSpPr>
        <p:spPr>
          <a:xfrm flipV="1">
            <a:off x="6752771" y="1175657"/>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C777D1-94A1-4812-AA38-BFB02CA9D748}"/>
              </a:ext>
            </a:extLst>
          </p:cNvPr>
          <p:cNvCxnSpPr>
            <a:cxnSpLocks/>
          </p:cNvCxnSpPr>
          <p:nvPr/>
        </p:nvCxnSpPr>
        <p:spPr>
          <a:xfrm flipV="1">
            <a:off x="6752771" y="3807782"/>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F12411-22C0-4E40-8060-D76BD7F219D8}"/>
              </a:ext>
            </a:extLst>
          </p:cNvPr>
          <p:cNvCxnSpPr>
            <a:cxnSpLocks/>
          </p:cNvCxnSpPr>
          <p:nvPr/>
        </p:nvCxnSpPr>
        <p:spPr>
          <a:xfrm flipH="1">
            <a:off x="6756399" y="4379645"/>
            <a:ext cx="37519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0C04D0-2215-423C-8A66-573F5E81C18E}"/>
              </a:ext>
            </a:extLst>
          </p:cNvPr>
          <p:cNvCxnSpPr>
            <a:cxnSpLocks/>
          </p:cNvCxnSpPr>
          <p:nvPr/>
        </p:nvCxnSpPr>
        <p:spPr>
          <a:xfrm flipH="1">
            <a:off x="6749144" y="1162413"/>
            <a:ext cx="3759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14F26F-9CE8-4888-AF55-6E071D992EF9}"/>
              </a:ext>
            </a:extLst>
          </p:cNvPr>
          <p:cNvCxnSpPr>
            <a:cxnSpLocks/>
          </p:cNvCxnSpPr>
          <p:nvPr/>
        </p:nvCxnSpPr>
        <p:spPr>
          <a:xfrm flipV="1">
            <a:off x="10479314" y="3205132"/>
            <a:ext cx="0" cy="117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5B537EC-9521-4564-8989-29CC26403AB5}"/>
              </a:ext>
            </a:extLst>
          </p:cNvPr>
          <p:cNvCxnSpPr>
            <a:cxnSpLocks/>
          </p:cNvCxnSpPr>
          <p:nvPr/>
        </p:nvCxnSpPr>
        <p:spPr>
          <a:xfrm flipV="1">
            <a:off x="10479314" y="1197045"/>
            <a:ext cx="0" cy="1100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51A920-C468-48CB-A31B-9A7223917DC4}"/>
              </a:ext>
            </a:extLst>
          </p:cNvPr>
          <p:cNvCxnSpPr>
            <a:cxnSpLocks/>
          </p:cNvCxnSpPr>
          <p:nvPr/>
        </p:nvCxnSpPr>
        <p:spPr>
          <a:xfrm flipH="1">
            <a:off x="9931400" y="2297994"/>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8756A68-6522-4AD4-A344-C887184640F2}"/>
              </a:ext>
            </a:extLst>
          </p:cNvPr>
          <p:cNvCxnSpPr>
            <a:cxnSpLocks/>
          </p:cNvCxnSpPr>
          <p:nvPr/>
        </p:nvCxnSpPr>
        <p:spPr>
          <a:xfrm flipH="1">
            <a:off x="9931400" y="2668108"/>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715732-28B6-4575-8CDF-37C31537E920}"/>
              </a:ext>
            </a:extLst>
          </p:cNvPr>
          <p:cNvCxnSpPr>
            <a:cxnSpLocks/>
          </p:cNvCxnSpPr>
          <p:nvPr/>
        </p:nvCxnSpPr>
        <p:spPr>
          <a:xfrm flipH="1">
            <a:off x="9931400" y="3038222"/>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F99F8B-592F-4AFA-A00D-19520244F920}"/>
              </a:ext>
            </a:extLst>
          </p:cNvPr>
          <p:cNvCxnSpPr>
            <a:cxnSpLocks/>
          </p:cNvCxnSpPr>
          <p:nvPr/>
        </p:nvCxnSpPr>
        <p:spPr>
          <a:xfrm flipH="1">
            <a:off x="10294256" y="249393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84E0C4F-3E3B-45FC-A59B-E722CE31BC41}"/>
              </a:ext>
            </a:extLst>
          </p:cNvPr>
          <p:cNvCxnSpPr>
            <a:cxnSpLocks/>
          </p:cNvCxnSpPr>
          <p:nvPr/>
        </p:nvCxnSpPr>
        <p:spPr>
          <a:xfrm flipH="1">
            <a:off x="10279743" y="284953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59DD8A-52D4-4538-8546-612F56C13179}"/>
              </a:ext>
            </a:extLst>
          </p:cNvPr>
          <p:cNvCxnSpPr>
            <a:cxnSpLocks/>
          </p:cNvCxnSpPr>
          <p:nvPr/>
        </p:nvCxnSpPr>
        <p:spPr>
          <a:xfrm flipH="1">
            <a:off x="10265230" y="320513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 Placeholder 3">
            <a:extLst>
              <a:ext uri="{FF2B5EF4-FFF2-40B4-BE49-F238E27FC236}">
                <a16:creationId xmlns:a16="http://schemas.microsoft.com/office/drawing/2014/main" id="{72EBD31E-99B2-441A-89F6-17E817BC8A40}"/>
              </a:ext>
            </a:extLst>
          </p:cNvPr>
          <p:cNvSpPr txBox="1">
            <a:spLocks/>
          </p:cNvSpPr>
          <p:nvPr/>
        </p:nvSpPr>
        <p:spPr>
          <a:xfrm>
            <a:off x="214868" y="1007686"/>
            <a:ext cx="45204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electric field between two charged parallel plates:</a:t>
            </a:r>
          </a:p>
        </p:txBody>
      </p:sp>
      <p:pic>
        <p:nvPicPr>
          <p:cNvPr id="38" name="Picture 37">
            <a:extLst>
              <a:ext uri="{FF2B5EF4-FFF2-40B4-BE49-F238E27FC236}">
                <a16:creationId xmlns:a16="http://schemas.microsoft.com/office/drawing/2014/main" id="{72238B23-DD4D-484C-8DBF-5C8E91D968C8}"/>
              </a:ext>
            </a:extLst>
          </p:cNvPr>
          <p:cNvPicPr>
            <a:picLocks noChangeAspect="1"/>
          </p:cNvPicPr>
          <p:nvPr/>
        </p:nvPicPr>
        <p:blipFill rotWithShape="1">
          <a:blip r:embed="rId3"/>
          <a:srcRect l="74618" t="-15319"/>
          <a:stretch/>
        </p:blipFill>
        <p:spPr>
          <a:xfrm>
            <a:off x="1219751" y="1989524"/>
            <a:ext cx="1873277" cy="1152000"/>
          </a:xfrm>
          <a:prstGeom prst="rect">
            <a:avLst/>
          </a:prstGeom>
        </p:spPr>
      </p:pic>
      <p:sp>
        <p:nvSpPr>
          <p:cNvPr id="39" name="Text Placeholder 3">
            <a:extLst>
              <a:ext uri="{FF2B5EF4-FFF2-40B4-BE49-F238E27FC236}">
                <a16:creationId xmlns:a16="http://schemas.microsoft.com/office/drawing/2014/main" id="{4860B078-9B14-4C90-9B4D-0160926007D0}"/>
              </a:ext>
            </a:extLst>
          </p:cNvPr>
          <p:cNvSpPr txBox="1">
            <a:spLocks/>
          </p:cNvSpPr>
          <p:nvPr/>
        </p:nvSpPr>
        <p:spPr>
          <a:xfrm>
            <a:off x="214868" y="2720712"/>
            <a:ext cx="506713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endParaRPr lang="en-AU" sz="2000" b="0" dirty="0"/>
          </a:p>
          <a:p>
            <a:pPr algn="just"/>
            <a:r>
              <a:rPr lang="en-AU" sz="2000" b="0" dirty="0"/>
              <a:t>E = electric field strength (Vm</a:t>
            </a:r>
            <a:r>
              <a:rPr lang="en-AU" sz="2000" b="0" baseline="30000" dirty="0"/>
              <a:t>-1</a:t>
            </a:r>
            <a:r>
              <a:rPr lang="en-AU" sz="2000" b="0" dirty="0"/>
              <a:t>)</a:t>
            </a:r>
          </a:p>
          <a:p>
            <a:pPr algn="just"/>
            <a:r>
              <a:rPr lang="en-AU" sz="2000" b="0" dirty="0"/>
              <a:t>V = potential difference between the plates (V)</a:t>
            </a:r>
          </a:p>
          <a:p>
            <a:pPr algn="just"/>
            <a:r>
              <a:rPr lang="en-AU" sz="2000" b="0" dirty="0"/>
              <a:t>r = the separation of the plates (m)</a:t>
            </a:r>
            <a:endParaRPr lang="en-AU" sz="1800" dirty="0"/>
          </a:p>
          <a:p>
            <a:pPr lvl="1" indent="0" algn="just">
              <a:buNone/>
            </a:pPr>
            <a:endParaRPr lang="en-AU" sz="2000" dirty="0"/>
          </a:p>
        </p:txBody>
      </p:sp>
    </p:spTree>
    <p:extLst>
      <p:ext uri="{BB962C8B-B14F-4D97-AF65-F5344CB8AC3E}">
        <p14:creationId xmlns:p14="http://schemas.microsoft.com/office/powerpoint/2010/main" val="115694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Uniform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9681"/>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 name="Rectangle 2">
            <a:extLst>
              <a:ext uri="{FF2B5EF4-FFF2-40B4-BE49-F238E27FC236}">
                <a16:creationId xmlns:a16="http://schemas.microsoft.com/office/drawing/2014/main" id="{DCF893A8-4058-425F-888F-D345B6ABCCCD}"/>
              </a:ext>
            </a:extLst>
          </p:cNvPr>
          <p:cNvSpPr/>
          <p:nvPr/>
        </p:nvSpPr>
        <p:spPr>
          <a:xfrm>
            <a:off x="5283200" y="174752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  +  +  +  +  +  +  +  +  +  +</a:t>
            </a:r>
          </a:p>
        </p:txBody>
      </p:sp>
      <p:sp>
        <p:nvSpPr>
          <p:cNvPr id="9" name="Rectangle 8">
            <a:extLst>
              <a:ext uri="{FF2B5EF4-FFF2-40B4-BE49-F238E27FC236}">
                <a16:creationId xmlns:a16="http://schemas.microsoft.com/office/drawing/2014/main" id="{4A9871E1-52FE-4C54-A5B6-FC14F83E4028}"/>
              </a:ext>
            </a:extLst>
          </p:cNvPr>
          <p:cNvSpPr/>
          <p:nvPr/>
        </p:nvSpPr>
        <p:spPr>
          <a:xfrm>
            <a:off x="5283200" y="342900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  -  -  -  -  -  -  -   -  -  -  </a:t>
            </a:r>
          </a:p>
        </p:txBody>
      </p:sp>
      <p:cxnSp>
        <p:nvCxnSpPr>
          <p:cNvPr id="12" name="Straight Connector 11">
            <a:extLst>
              <a:ext uri="{FF2B5EF4-FFF2-40B4-BE49-F238E27FC236}">
                <a16:creationId xmlns:a16="http://schemas.microsoft.com/office/drawing/2014/main" id="{78421AE5-2DF7-4D7C-8ADB-E3214C015756}"/>
              </a:ext>
            </a:extLst>
          </p:cNvPr>
          <p:cNvCxnSpPr>
            <a:cxnSpLocks/>
          </p:cNvCxnSpPr>
          <p:nvPr/>
        </p:nvCxnSpPr>
        <p:spPr>
          <a:xfrm flipV="1">
            <a:off x="6752771" y="1175657"/>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F12411-22C0-4E40-8060-D76BD7F219D8}"/>
              </a:ext>
            </a:extLst>
          </p:cNvPr>
          <p:cNvCxnSpPr>
            <a:cxnSpLocks/>
          </p:cNvCxnSpPr>
          <p:nvPr/>
        </p:nvCxnSpPr>
        <p:spPr>
          <a:xfrm flipH="1">
            <a:off x="6756399" y="4379645"/>
            <a:ext cx="37519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0C04D0-2215-423C-8A66-573F5E81C18E}"/>
              </a:ext>
            </a:extLst>
          </p:cNvPr>
          <p:cNvCxnSpPr>
            <a:cxnSpLocks/>
          </p:cNvCxnSpPr>
          <p:nvPr/>
        </p:nvCxnSpPr>
        <p:spPr>
          <a:xfrm flipH="1">
            <a:off x="6749144" y="1162413"/>
            <a:ext cx="3759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14F26F-9CE8-4888-AF55-6E071D992EF9}"/>
              </a:ext>
            </a:extLst>
          </p:cNvPr>
          <p:cNvCxnSpPr>
            <a:cxnSpLocks/>
          </p:cNvCxnSpPr>
          <p:nvPr/>
        </p:nvCxnSpPr>
        <p:spPr>
          <a:xfrm flipV="1">
            <a:off x="10479314" y="3205132"/>
            <a:ext cx="0" cy="117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5B537EC-9521-4564-8989-29CC26403AB5}"/>
              </a:ext>
            </a:extLst>
          </p:cNvPr>
          <p:cNvCxnSpPr>
            <a:cxnSpLocks/>
          </p:cNvCxnSpPr>
          <p:nvPr/>
        </p:nvCxnSpPr>
        <p:spPr>
          <a:xfrm flipV="1">
            <a:off x="10479314" y="1197045"/>
            <a:ext cx="0" cy="1100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51A920-C468-48CB-A31B-9A7223917DC4}"/>
              </a:ext>
            </a:extLst>
          </p:cNvPr>
          <p:cNvCxnSpPr>
            <a:cxnSpLocks/>
          </p:cNvCxnSpPr>
          <p:nvPr/>
        </p:nvCxnSpPr>
        <p:spPr>
          <a:xfrm flipH="1">
            <a:off x="9931400" y="2297994"/>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8756A68-6522-4AD4-A344-C887184640F2}"/>
              </a:ext>
            </a:extLst>
          </p:cNvPr>
          <p:cNvCxnSpPr>
            <a:cxnSpLocks/>
          </p:cNvCxnSpPr>
          <p:nvPr/>
        </p:nvCxnSpPr>
        <p:spPr>
          <a:xfrm flipH="1">
            <a:off x="9931400" y="2668108"/>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715732-28B6-4575-8CDF-37C31537E920}"/>
              </a:ext>
            </a:extLst>
          </p:cNvPr>
          <p:cNvCxnSpPr>
            <a:cxnSpLocks/>
          </p:cNvCxnSpPr>
          <p:nvPr/>
        </p:nvCxnSpPr>
        <p:spPr>
          <a:xfrm flipH="1">
            <a:off x="9931400" y="3038222"/>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F99F8B-592F-4AFA-A00D-19520244F920}"/>
              </a:ext>
            </a:extLst>
          </p:cNvPr>
          <p:cNvCxnSpPr>
            <a:cxnSpLocks/>
          </p:cNvCxnSpPr>
          <p:nvPr/>
        </p:nvCxnSpPr>
        <p:spPr>
          <a:xfrm flipH="1">
            <a:off x="10294256" y="249393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84E0C4F-3E3B-45FC-A59B-E722CE31BC41}"/>
              </a:ext>
            </a:extLst>
          </p:cNvPr>
          <p:cNvCxnSpPr>
            <a:cxnSpLocks/>
          </p:cNvCxnSpPr>
          <p:nvPr/>
        </p:nvCxnSpPr>
        <p:spPr>
          <a:xfrm flipH="1">
            <a:off x="10279743" y="284953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59DD8A-52D4-4538-8546-612F56C13179}"/>
              </a:ext>
            </a:extLst>
          </p:cNvPr>
          <p:cNvCxnSpPr>
            <a:cxnSpLocks/>
          </p:cNvCxnSpPr>
          <p:nvPr/>
        </p:nvCxnSpPr>
        <p:spPr>
          <a:xfrm flipH="1">
            <a:off x="10265230" y="320513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 Placeholder 3">
            <a:extLst>
              <a:ext uri="{FF2B5EF4-FFF2-40B4-BE49-F238E27FC236}">
                <a16:creationId xmlns:a16="http://schemas.microsoft.com/office/drawing/2014/main" id="{72EBD31E-99B2-441A-89F6-17E817BC8A40}"/>
              </a:ext>
            </a:extLst>
          </p:cNvPr>
          <p:cNvSpPr txBox="1">
            <a:spLocks/>
          </p:cNvSpPr>
          <p:nvPr/>
        </p:nvSpPr>
        <p:spPr>
          <a:xfrm>
            <a:off x="214868" y="1007686"/>
            <a:ext cx="45204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electric field between two charged parallel plates:</a:t>
            </a:r>
          </a:p>
        </p:txBody>
      </p:sp>
      <p:pic>
        <p:nvPicPr>
          <p:cNvPr id="38" name="Picture 37">
            <a:extLst>
              <a:ext uri="{FF2B5EF4-FFF2-40B4-BE49-F238E27FC236}">
                <a16:creationId xmlns:a16="http://schemas.microsoft.com/office/drawing/2014/main" id="{72238B23-DD4D-484C-8DBF-5C8E91D968C8}"/>
              </a:ext>
            </a:extLst>
          </p:cNvPr>
          <p:cNvPicPr>
            <a:picLocks noChangeAspect="1"/>
          </p:cNvPicPr>
          <p:nvPr/>
        </p:nvPicPr>
        <p:blipFill rotWithShape="1">
          <a:blip r:embed="rId3"/>
          <a:srcRect l="74618" t="-15319"/>
          <a:stretch/>
        </p:blipFill>
        <p:spPr>
          <a:xfrm>
            <a:off x="1219751" y="1989524"/>
            <a:ext cx="1873277" cy="1152000"/>
          </a:xfrm>
          <a:prstGeom prst="rect">
            <a:avLst/>
          </a:prstGeom>
        </p:spPr>
      </p:pic>
      <p:sp>
        <p:nvSpPr>
          <p:cNvPr id="39" name="Text Placeholder 3">
            <a:extLst>
              <a:ext uri="{FF2B5EF4-FFF2-40B4-BE49-F238E27FC236}">
                <a16:creationId xmlns:a16="http://schemas.microsoft.com/office/drawing/2014/main" id="{4860B078-9B14-4C90-9B4D-0160926007D0}"/>
              </a:ext>
            </a:extLst>
          </p:cNvPr>
          <p:cNvSpPr txBox="1">
            <a:spLocks/>
          </p:cNvSpPr>
          <p:nvPr/>
        </p:nvSpPr>
        <p:spPr>
          <a:xfrm>
            <a:off x="214868" y="2720712"/>
            <a:ext cx="506713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endParaRPr lang="en-AU" sz="2000" b="0" dirty="0"/>
          </a:p>
          <a:p>
            <a:pPr algn="just"/>
            <a:r>
              <a:rPr lang="en-AU" sz="2000" b="0" dirty="0"/>
              <a:t>E = electric field strength (Vm</a:t>
            </a:r>
            <a:r>
              <a:rPr lang="en-AU" sz="2000" b="0" baseline="30000" dirty="0"/>
              <a:t>-1</a:t>
            </a:r>
            <a:r>
              <a:rPr lang="en-AU" sz="2000" b="0" dirty="0"/>
              <a:t>)</a:t>
            </a:r>
          </a:p>
          <a:p>
            <a:pPr algn="just"/>
            <a:r>
              <a:rPr lang="en-AU" sz="2000" b="0" dirty="0"/>
              <a:t>V = potential difference between the plates (V)</a:t>
            </a:r>
          </a:p>
          <a:p>
            <a:pPr algn="just"/>
            <a:r>
              <a:rPr lang="en-AU" sz="2000" b="0" dirty="0"/>
              <a:t>r = the separation of the plates (m)</a:t>
            </a:r>
            <a:endParaRPr lang="en-AU" sz="1800" dirty="0"/>
          </a:p>
          <a:p>
            <a:pPr lvl="1" indent="0" algn="just">
              <a:buNone/>
            </a:pPr>
            <a:endParaRPr lang="en-AU" sz="2000" dirty="0"/>
          </a:p>
        </p:txBody>
      </p:sp>
      <p:cxnSp>
        <p:nvCxnSpPr>
          <p:cNvPr id="6" name="Straight Arrow Connector 5">
            <a:extLst>
              <a:ext uri="{FF2B5EF4-FFF2-40B4-BE49-F238E27FC236}">
                <a16:creationId xmlns:a16="http://schemas.microsoft.com/office/drawing/2014/main" id="{7783BB17-B8DC-D318-EC6A-A696814C42A7}"/>
              </a:ext>
            </a:extLst>
          </p:cNvPr>
          <p:cNvCxnSpPr/>
          <p:nvPr/>
        </p:nvCxnSpPr>
        <p:spPr>
          <a:xfrm>
            <a:off x="573532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4EF5F06-1990-5BF3-6FBD-74CA7413EF8D}"/>
              </a:ext>
            </a:extLst>
          </p:cNvPr>
          <p:cNvCxnSpPr/>
          <p:nvPr/>
        </p:nvCxnSpPr>
        <p:spPr>
          <a:xfrm>
            <a:off x="600456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064D657-B5B0-6359-FA72-D265EB4BDEBC}"/>
              </a:ext>
            </a:extLst>
          </p:cNvPr>
          <p:cNvCxnSpPr/>
          <p:nvPr/>
        </p:nvCxnSpPr>
        <p:spPr>
          <a:xfrm>
            <a:off x="627380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5261617-3667-02D8-D653-729615182BD8}"/>
              </a:ext>
            </a:extLst>
          </p:cNvPr>
          <p:cNvCxnSpPr/>
          <p:nvPr/>
        </p:nvCxnSpPr>
        <p:spPr>
          <a:xfrm>
            <a:off x="654304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60025F-9D65-D7D2-A5CC-5D0E0F5FBEF3}"/>
              </a:ext>
            </a:extLst>
          </p:cNvPr>
          <p:cNvCxnSpPr/>
          <p:nvPr/>
        </p:nvCxnSpPr>
        <p:spPr>
          <a:xfrm>
            <a:off x="681228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9E75D34-0021-F216-F87B-27E54760FA98}"/>
              </a:ext>
            </a:extLst>
          </p:cNvPr>
          <p:cNvCxnSpPr/>
          <p:nvPr/>
        </p:nvCxnSpPr>
        <p:spPr>
          <a:xfrm>
            <a:off x="708152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EC52CD0-8699-8571-1E44-00836F05FEDD}"/>
              </a:ext>
            </a:extLst>
          </p:cNvPr>
          <p:cNvCxnSpPr/>
          <p:nvPr/>
        </p:nvCxnSpPr>
        <p:spPr>
          <a:xfrm>
            <a:off x="735076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FA98730-D278-D95F-3991-E881FC7FDD0C}"/>
              </a:ext>
            </a:extLst>
          </p:cNvPr>
          <p:cNvCxnSpPr/>
          <p:nvPr/>
        </p:nvCxnSpPr>
        <p:spPr>
          <a:xfrm>
            <a:off x="762000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CD308A0-FB1C-1B47-2CE4-6E1389577BF9}"/>
              </a:ext>
            </a:extLst>
          </p:cNvPr>
          <p:cNvCxnSpPr/>
          <p:nvPr/>
        </p:nvCxnSpPr>
        <p:spPr>
          <a:xfrm>
            <a:off x="788924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09C1770-4536-F9A3-A5DB-86A07715C868}"/>
              </a:ext>
            </a:extLst>
          </p:cNvPr>
          <p:cNvCxnSpPr/>
          <p:nvPr/>
        </p:nvCxnSpPr>
        <p:spPr>
          <a:xfrm>
            <a:off x="815848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EAE5AE-5A5C-2AD2-ED11-A1F67EAADAC7}"/>
              </a:ext>
            </a:extLst>
          </p:cNvPr>
          <p:cNvCxnSpPr/>
          <p:nvPr/>
        </p:nvCxnSpPr>
        <p:spPr>
          <a:xfrm>
            <a:off x="5466080" y="2126302"/>
            <a:ext cx="0" cy="13026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CB177806-ED97-1187-BC81-4B35CC07309C}"/>
              </a:ext>
            </a:extLst>
          </p:cNvPr>
          <p:cNvSpPr/>
          <p:nvPr/>
        </p:nvSpPr>
        <p:spPr>
          <a:xfrm rot="10800000">
            <a:off x="5145602" y="2126303"/>
            <a:ext cx="426718" cy="1302698"/>
          </a:xfrm>
          <a:prstGeom prst="arc">
            <a:avLst>
              <a:gd name="adj1" fmla="val 16453673"/>
              <a:gd name="adj2" fmla="val 5330484"/>
            </a:avLst>
          </a:prstGeom>
          <a:ln>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0" name="Arc 39">
            <a:extLst>
              <a:ext uri="{FF2B5EF4-FFF2-40B4-BE49-F238E27FC236}">
                <a16:creationId xmlns:a16="http://schemas.microsoft.com/office/drawing/2014/main" id="{B16568F1-A613-F942-3304-D7BF4DFF1223}"/>
              </a:ext>
            </a:extLst>
          </p:cNvPr>
          <p:cNvSpPr/>
          <p:nvPr/>
        </p:nvSpPr>
        <p:spPr>
          <a:xfrm>
            <a:off x="8067482" y="2120875"/>
            <a:ext cx="426718" cy="1302698"/>
          </a:xfrm>
          <a:prstGeom prst="arc">
            <a:avLst>
              <a:gd name="adj1" fmla="val 16453673"/>
              <a:gd name="adj2" fmla="val 5330484"/>
            </a:avLst>
          </a:prstGeom>
          <a:ln>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nvGrpSpPr>
          <p:cNvPr id="44" name="Group 43">
            <a:extLst>
              <a:ext uri="{FF2B5EF4-FFF2-40B4-BE49-F238E27FC236}">
                <a16:creationId xmlns:a16="http://schemas.microsoft.com/office/drawing/2014/main" id="{A1DDD012-1FAE-92CA-EB58-5908F517DAE0}"/>
              </a:ext>
            </a:extLst>
          </p:cNvPr>
          <p:cNvGrpSpPr/>
          <p:nvPr/>
        </p:nvGrpSpPr>
        <p:grpSpPr>
          <a:xfrm>
            <a:off x="7534030" y="3423573"/>
            <a:ext cx="4520420" cy="2751985"/>
            <a:chOff x="7534030" y="3423573"/>
            <a:chExt cx="4520420" cy="2751985"/>
          </a:xfrm>
        </p:grpSpPr>
        <p:cxnSp>
          <p:nvCxnSpPr>
            <p:cNvPr id="42" name="Straight Arrow Connector 41">
              <a:extLst>
                <a:ext uri="{FF2B5EF4-FFF2-40B4-BE49-F238E27FC236}">
                  <a16:creationId xmlns:a16="http://schemas.microsoft.com/office/drawing/2014/main" id="{90690681-070E-178D-7895-E5794FDF730B}"/>
                </a:ext>
              </a:extLst>
            </p:cNvPr>
            <p:cNvCxnSpPr/>
            <p:nvPr/>
          </p:nvCxnSpPr>
          <p:spPr>
            <a:xfrm flipH="1" flipV="1">
              <a:off x="8494200" y="3423573"/>
              <a:ext cx="1300040" cy="17478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3">
              <a:extLst>
                <a:ext uri="{FF2B5EF4-FFF2-40B4-BE49-F238E27FC236}">
                  <a16:creationId xmlns:a16="http://schemas.microsoft.com/office/drawing/2014/main" id="{4917FD09-3853-84E0-97DB-E405658CD03F}"/>
                </a:ext>
              </a:extLst>
            </p:cNvPr>
            <p:cNvSpPr txBox="1">
              <a:spLocks/>
            </p:cNvSpPr>
            <p:nvPr/>
          </p:nvSpPr>
          <p:spPr>
            <a:xfrm>
              <a:off x="7534030" y="5289996"/>
              <a:ext cx="45204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Remember the curves lines on the edge of the plates!</a:t>
              </a:r>
            </a:p>
          </p:txBody>
        </p:sp>
      </p:grpSp>
      <p:cxnSp>
        <p:nvCxnSpPr>
          <p:cNvPr id="45" name="Straight Connector 44">
            <a:extLst>
              <a:ext uri="{FF2B5EF4-FFF2-40B4-BE49-F238E27FC236}">
                <a16:creationId xmlns:a16="http://schemas.microsoft.com/office/drawing/2014/main" id="{7843B1D0-0F05-CBE0-79D5-77A178B5E753}"/>
              </a:ext>
            </a:extLst>
          </p:cNvPr>
          <p:cNvCxnSpPr>
            <a:cxnSpLocks/>
          </p:cNvCxnSpPr>
          <p:nvPr/>
        </p:nvCxnSpPr>
        <p:spPr>
          <a:xfrm flipV="1">
            <a:off x="6752771" y="3807782"/>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89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Calculate the electric field strength between two long parallel plates separated by 10.0 cm when a 120 V potential difference is applied to the plates.</a:t>
            </a:r>
          </a:p>
          <a:p>
            <a:pPr lvl="1" indent="0" algn="just">
              <a:buNone/>
            </a:pPr>
            <a:endParaRPr lang="en-AU" sz="2000" dirty="0"/>
          </a:p>
        </p:txBody>
      </p:sp>
    </p:spTree>
    <p:extLst>
      <p:ext uri="{BB962C8B-B14F-4D97-AF65-F5344CB8AC3E}">
        <p14:creationId xmlns:p14="http://schemas.microsoft.com/office/powerpoint/2010/main" val="2659430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24FE25-BA9A-62BC-5995-3059D6EB98BA}"/>
              </a:ext>
            </a:extLst>
          </p:cNvPr>
          <p:cNvPicPr>
            <a:picLocks noChangeAspect="1"/>
          </p:cNvPicPr>
          <p:nvPr/>
        </p:nvPicPr>
        <p:blipFill>
          <a:blip r:embed="rId3"/>
          <a:stretch>
            <a:fillRect/>
          </a:stretch>
        </p:blipFill>
        <p:spPr>
          <a:xfrm>
            <a:off x="314610" y="818789"/>
            <a:ext cx="11347911" cy="3000364"/>
          </a:xfrm>
          <a:prstGeom prst="rect">
            <a:avLst/>
          </a:prstGeom>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Tree>
    <p:extLst>
      <p:ext uri="{BB962C8B-B14F-4D97-AF65-F5344CB8AC3E}">
        <p14:creationId xmlns:p14="http://schemas.microsoft.com/office/powerpoint/2010/main" val="1637306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A7CDB21-8842-E017-E2BA-C227946F9DBE}"/>
              </a:ext>
            </a:extLst>
          </p:cNvPr>
          <p:cNvPicPr>
            <a:picLocks noChangeAspect="1"/>
          </p:cNvPicPr>
          <p:nvPr/>
        </p:nvPicPr>
        <p:blipFill>
          <a:blip r:embed="rId3"/>
          <a:stretch>
            <a:fillRect/>
          </a:stretch>
        </p:blipFill>
        <p:spPr>
          <a:xfrm>
            <a:off x="314610" y="818789"/>
            <a:ext cx="11347911" cy="3000364"/>
          </a:xfrm>
          <a:prstGeom prst="rect">
            <a:avLst/>
          </a:prstGeom>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7F8A0DBB-A15A-4C47-96BE-E72FAC4E9F50}"/>
              </a:ext>
            </a:extLst>
          </p:cNvPr>
          <p:cNvPicPr>
            <a:picLocks noChangeAspect="1"/>
          </p:cNvPicPr>
          <p:nvPr/>
        </p:nvPicPr>
        <p:blipFill>
          <a:blip r:embed="rId4"/>
          <a:stretch>
            <a:fillRect/>
          </a:stretch>
        </p:blipFill>
        <p:spPr>
          <a:xfrm>
            <a:off x="2185014" y="1731611"/>
            <a:ext cx="7124700" cy="4829175"/>
          </a:xfrm>
          <a:prstGeom prst="rect">
            <a:avLst/>
          </a:prstGeom>
        </p:spPr>
      </p:pic>
    </p:spTree>
    <p:extLst>
      <p:ext uri="{BB962C8B-B14F-4D97-AF65-F5344CB8AC3E}">
        <p14:creationId xmlns:p14="http://schemas.microsoft.com/office/powerpoint/2010/main" val="799054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Electric fields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0" i="0" dirty="0">
                <a:solidFill>
                  <a:srgbClr val="000303"/>
                </a:solidFill>
                <a:effectLst/>
                <a:latin typeface="+mj-lt"/>
              </a:rPr>
              <a:t>I can draw electric field diagrams and explain the properties shown in the diagrams.</a:t>
            </a:r>
          </a:p>
          <a:p>
            <a:pPr algn="l"/>
            <a:r>
              <a:rPr lang="en-US" sz="2000" b="0" i="0" dirty="0">
                <a:solidFill>
                  <a:srgbClr val="000303"/>
                </a:solidFill>
                <a:effectLst/>
                <a:latin typeface="+mj-lt"/>
              </a:rPr>
              <a:t>I can calculate the force on a free charge in an electric field.</a:t>
            </a:r>
          </a:p>
        </p:txBody>
      </p:sp>
    </p:spTree>
    <p:extLst>
      <p:ext uri="{BB962C8B-B14F-4D97-AF65-F5344CB8AC3E}">
        <p14:creationId xmlns:p14="http://schemas.microsoft.com/office/powerpoint/2010/main" val="3749997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FE369D86-B671-4E4D-9E13-6D02050027AB}"/>
              </a:ext>
            </a:extLst>
          </p:cNvPr>
          <p:cNvPicPr>
            <a:picLocks noChangeAspect="1"/>
          </p:cNvPicPr>
          <p:nvPr/>
        </p:nvPicPr>
        <p:blipFill>
          <a:blip r:embed="rId3"/>
          <a:stretch>
            <a:fillRect/>
          </a:stretch>
        </p:blipFill>
        <p:spPr>
          <a:xfrm>
            <a:off x="3562702" y="1428389"/>
            <a:ext cx="5710854" cy="932645"/>
          </a:xfrm>
          <a:prstGeom prst="rect">
            <a:avLst/>
          </a:prstGeom>
        </p:spPr>
      </p:pic>
      <p:pic>
        <p:nvPicPr>
          <p:cNvPr id="7" name="Picture 6">
            <a:extLst>
              <a:ext uri="{FF2B5EF4-FFF2-40B4-BE49-F238E27FC236}">
                <a16:creationId xmlns:a16="http://schemas.microsoft.com/office/drawing/2014/main" id="{9B89D9AF-9DD0-4733-B5FE-EA5A53191348}"/>
              </a:ext>
            </a:extLst>
          </p:cNvPr>
          <p:cNvPicPr>
            <a:picLocks noChangeAspect="1"/>
          </p:cNvPicPr>
          <p:nvPr/>
        </p:nvPicPr>
        <p:blipFill>
          <a:blip r:embed="rId4"/>
          <a:stretch>
            <a:fillRect/>
          </a:stretch>
        </p:blipFill>
        <p:spPr>
          <a:xfrm>
            <a:off x="3562701" y="2667896"/>
            <a:ext cx="5196520" cy="797660"/>
          </a:xfrm>
          <a:prstGeom prst="rect">
            <a:avLst/>
          </a:prstGeom>
        </p:spPr>
      </p:pic>
      <p:pic>
        <p:nvPicPr>
          <p:cNvPr id="9" name="Picture 8">
            <a:extLst>
              <a:ext uri="{FF2B5EF4-FFF2-40B4-BE49-F238E27FC236}">
                <a16:creationId xmlns:a16="http://schemas.microsoft.com/office/drawing/2014/main" id="{38134375-D279-47C6-8C9E-8498F954183D}"/>
              </a:ext>
            </a:extLst>
          </p:cNvPr>
          <p:cNvPicPr>
            <a:picLocks noChangeAspect="1"/>
          </p:cNvPicPr>
          <p:nvPr/>
        </p:nvPicPr>
        <p:blipFill>
          <a:blip r:embed="rId5"/>
          <a:stretch>
            <a:fillRect/>
          </a:stretch>
        </p:blipFill>
        <p:spPr>
          <a:xfrm>
            <a:off x="3562701" y="3687263"/>
            <a:ext cx="5710854" cy="713857"/>
          </a:xfrm>
          <a:prstGeom prst="rect">
            <a:avLst/>
          </a:prstGeom>
        </p:spPr>
      </p:pic>
      <p:pic>
        <p:nvPicPr>
          <p:cNvPr id="11" name="Picture 10">
            <a:extLst>
              <a:ext uri="{FF2B5EF4-FFF2-40B4-BE49-F238E27FC236}">
                <a16:creationId xmlns:a16="http://schemas.microsoft.com/office/drawing/2014/main" id="{9C41E5CC-4320-4DCD-A4BC-951B964F61A9}"/>
              </a:ext>
            </a:extLst>
          </p:cNvPr>
          <p:cNvPicPr>
            <a:picLocks noChangeAspect="1"/>
          </p:cNvPicPr>
          <p:nvPr/>
        </p:nvPicPr>
        <p:blipFill>
          <a:blip r:embed="rId6"/>
          <a:stretch>
            <a:fillRect/>
          </a:stretch>
        </p:blipFill>
        <p:spPr>
          <a:xfrm>
            <a:off x="3562701" y="4754350"/>
            <a:ext cx="5274018" cy="713857"/>
          </a:xfrm>
          <a:prstGeom prst="rect">
            <a:avLst/>
          </a:prstGeom>
        </p:spPr>
      </p:pic>
    </p:spTree>
    <p:extLst>
      <p:ext uri="{BB962C8B-B14F-4D97-AF65-F5344CB8AC3E}">
        <p14:creationId xmlns:p14="http://schemas.microsoft.com/office/powerpoint/2010/main" val="3347895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Additional Study</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0" name="Picture 9">
            <a:extLst>
              <a:ext uri="{FF2B5EF4-FFF2-40B4-BE49-F238E27FC236}">
                <a16:creationId xmlns:a16="http://schemas.microsoft.com/office/drawing/2014/main" id="{2B1CB9B2-E762-3887-9D8A-6A871F7CCF22}"/>
              </a:ext>
            </a:extLst>
          </p:cNvPr>
          <p:cNvPicPr>
            <a:picLocks noChangeAspect="1"/>
          </p:cNvPicPr>
          <p:nvPr/>
        </p:nvPicPr>
        <p:blipFill>
          <a:blip r:embed="rId3"/>
          <a:stretch>
            <a:fillRect/>
          </a:stretch>
        </p:blipFill>
        <p:spPr>
          <a:xfrm>
            <a:off x="295275" y="1109021"/>
            <a:ext cx="1998635" cy="503593"/>
          </a:xfrm>
          <a:prstGeom prst="rect">
            <a:avLst/>
          </a:prstGeom>
        </p:spPr>
      </p:pic>
      <p:pic>
        <p:nvPicPr>
          <p:cNvPr id="13" name="Picture 12">
            <a:extLst>
              <a:ext uri="{FF2B5EF4-FFF2-40B4-BE49-F238E27FC236}">
                <a16:creationId xmlns:a16="http://schemas.microsoft.com/office/drawing/2014/main" id="{0A6F2DE1-50DC-DBCE-E041-5441D92980EF}"/>
              </a:ext>
            </a:extLst>
          </p:cNvPr>
          <p:cNvPicPr>
            <a:picLocks noChangeAspect="1"/>
          </p:cNvPicPr>
          <p:nvPr/>
        </p:nvPicPr>
        <p:blipFill>
          <a:blip r:embed="rId4"/>
          <a:stretch>
            <a:fillRect/>
          </a:stretch>
        </p:blipFill>
        <p:spPr>
          <a:xfrm>
            <a:off x="2393298" y="352687"/>
            <a:ext cx="9798702" cy="6462226"/>
          </a:xfrm>
          <a:prstGeom prst="rect">
            <a:avLst/>
          </a:prstGeom>
        </p:spPr>
      </p:pic>
      <p:sp>
        <p:nvSpPr>
          <p:cNvPr id="5" name="Rectangle 4">
            <a:extLst>
              <a:ext uri="{FF2B5EF4-FFF2-40B4-BE49-F238E27FC236}">
                <a16:creationId xmlns:a16="http://schemas.microsoft.com/office/drawing/2014/main" id="{C14B086A-E070-3A80-0626-0515BBBA4FD7}"/>
              </a:ext>
            </a:extLst>
          </p:cNvPr>
          <p:cNvSpPr/>
          <p:nvPr/>
        </p:nvSpPr>
        <p:spPr>
          <a:xfrm>
            <a:off x="7184708" y="5110480"/>
            <a:ext cx="4785360" cy="1628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07992525"/>
      </p:ext>
    </p:extLst>
  </p:cSld>
  <p:clrMapOvr>
    <a:masterClrMapping/>
  </p:clrMapOvr>
</p:sld>
</file>

<file path=ppt/theme/theme1.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F8A29875-512C-4C6B-8147-668A6B347DFB}"/>
</file>

<file path=docProps/app.xml><?xml version="1.0" encoding="utf-8"?>
<Properties xmlns="http://schemas.openxmlformats.org/officeDocument/2006/extended-properties" xmlns:vt="http://schemas.openxmlformats.org/officeDocument/2006/docPropsVTypes">
  <Template>{33057687-8793-EB47-A5E0-08E93C53D0F2}tf10001071</Template>
  <TotalTime>6340</TotalTime>
  <Words>1848</Words>
  <Application>Microsoft Office PowerPoint</Application>
  <PresentationFormat>Widescreen</PresentationFormat>
  <Paragraphs>259</Paragraphs>
  <Slides>26</Slides>
  <Notes>24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Century Gothic</vt:lpstr>
      <vt:lpstr>Futura Medium</vt:lpstr>
      <vt:lpstr>Roboto</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436</cp:revision>
  <cp:lastPrinted>2018-05-27T06:54:10Z</cp:lastPrinted>
  <dcterms:created xsi:type="dcterms:W3CDTF">2018-03-29T05:56:09Z</dcterms:created>
  <dcterms:modified xsi:type="dcterms:W3CDTF">2023-01-21T07:05:21Z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