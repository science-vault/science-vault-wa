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2" r:id="rId2"/>
  </p:sldMasterIdLst>
  <p:notesMasterIdLst>
    <p:notesMasterId r:id="rId18"/>
  </p:notesMasterIdLst>
  <p:sldIdLst>
    <p:sldId id="286" r:id="rId3"/>
    <p:sldId id="257" r:id="rId4"/>
    <p:sldId id="258" r:id="rId5"/>
    <p:sldId id="259" r:id="rId6"/>
    <p:sldId id="264" r:id="rId7"/>
    <p:sldId id="271" r:id="rId8"/>
    <p:sldId id="265" r:id="rId9"/>
    <p:sldId id="266" r:id="rId10"/>
    <p:sldId id="267" r:id="rId11"/>
    <p:sldId id="269" r:id="rId12"/>
    <p:sldId id="268" r:id="rId13"/>
    <p:sldId id="272" r:id="rId14"/>
    <p:sldId id="270" r:id="rId15"/>
    <p:sldId id="273" r:id="rId16"/>
    <p:sldId id="284"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10FC2F-08F5-47D9-9077-4DFC330B26B2}" v="120" dt="2024-08-18T15:44:27.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15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B210FC2F-08F5-47D9-9077-4DFC330B26B2}"/>
    <pc:docChg chg="undo custSel addSld delSld modSld">
      <pc:chgData name="COOPER Sarina [Southern River College]" userId="7f2b4663-0468-4605-9163-1ba4158276d8" providerId="ADAL" clId="{B210FC2F-08F5-47D9-9077-4DFC330B26B2}" dt="2024-08-18T15:44:27.435" v="283" actId="20577"/>
      <pc:docMkLst>
        <pc:docMk/>
      </pc:docMkLst>
      <pc:sldChg chg="modSp mod">
        <pc:chgData name="COOPER Sarina [Southern River College]" userId="7f2b4663-0468-4605-9163-1ba4158276d8" providerId="ADAL" clId="{B210FC2F-08F5-47D9-9077-4DFC330B26B2}" dt="2024-08-09T04:24:13.781" v="20" actId="27636"/>
        <pc:sldMkLst>
          <pc:docMk/>
          <pc:sldMk cId="1774760215" sldId="257"/>
        </pc:sldMkLst>
        <pc:spChg chg="mod">
          <ac:chgData name="COOPER Sarina [Southern River College]" userId="7f2b4663-0468-4605-9163-1ba4158276d8" providerId="ADAL" clId="{B210FC2F-08F5-47D9-9077-4DFC330B26B2}" dt="2024-08-07T23:39:04.005" v="2" actId="14100"/>
          <ac:spMkLst>
            <pc:docMk/>
            <pc:sldMk cId="1774760215" sldId="257"/>
            <ac:spMk id="2" creationId="{883CA19C-672A-4B78-866F-14FCA52E70B5}"/>
          </ac:spMkLst>
        </pc:spChg>
        <pc:spChg chg="mod">
          <ac:chgData name="COOPER Sarina [Southern River College]" userId="7f2b4663-0468-4605-9163-1ba4158276d8" providerId="ADAL" clId="{B210FC2F-08F5-47D9-9077-4DFC330B26B2}" dt="2024-08-09T04:24:13.781" v="20" actId="27636"/>
          <ac:spMkLst>
            <pc:docMk/>
            <pc:sldMk cId="1774760215" sldId="257"/>
            <ac:spMk id="3" creationId="{8A93D24D-7B7D-4358-A763-B7597BC02624}"/>
          </ac:spMkLst>
        </pc:spChg>
      </pc:sldChg>
      <pc:sldChg chg="modSp mod">
        <pc:chgData name="COOPER Sarina [Southern River College]" userId="7f2b4663-0468-4605-9163-1ba4158276d8" providerId="ADAL" clId="{B210FC2F-08F5-47D9-9077-4DFC330B26B2}" dt="2024-08-09T04:24:58.336" v="28" actId="14100"/>
        <pc:sldMkLst>
          <pc:docMk/>
          <pc:sldMk cId="2189599264" sldId="258"/>
        </pc:sldMkLst>
        <pc:spChg chg="mod">
          <ac:chgData name="COOPER Sarina [Southern River College]" userId="7f2b4663-0468-4605-9163-1ba4158276d8" providerId="ADAL" clId="{B210FC2F-08F5-47D9-9077-4DFC330B26B2}" dt="2024-08-09T04:24:58.336" v="28" actId="14100"/>
          <ac:spMkLst>
            <pc:docMk/>
            <pc:sldMk cId="2189599264" sldId="258"/>
            <ac:spMk id="3" creationId="{83F56ACB-884B-4C85-AB06-DB5410DE883A}"/>
          </ac:spMkLst>
        </pc:spChg>
      </pc:sldChg>
      <pc:sldChg chg="del">
        <pc:chgData name="COOPER Sarina [Southern River College]" userId="7f2b4663-0468-4605-9163-1ba4158276d8" providerId="ADAL" clId="{B210FC2F-08F5-47D9-9077-4DFC330B26B2}" dt="2024-08-07T23:39:20.605" v="3" actId="47"/>
        <pc:sldMkLst>
          <pc:docMk/>
          <pc:sldMk cId="575687664" sldId="262"/>
        </pc:sldMkLst>
      </pc:sldChg>
      <pc:sldChg chg="del">
        <pc:chgData name="COOPER Sarina [Southern River College]" userId="7f2b4663-0468-4605-9163-1ba4158276d8" providerId="ADAL" clId="{B210FC2F-08F5-47D9-9077-4DFC330B26B2}" dt="2024-08-07T23:39:36.963" v="15" actId="47"/>
        <pc:sldMkLst>
          <pc:docMk/>
          <pc:sldMk cId="3622405830" sldId="263"/>
        </pc:sldMkLst>
      </pc:sldChg>
      <pc:sldChg chg="modSp mod">
        <pc:chgData name="COOPER Sarina [Southern River College]" userId="7f2b4663-0468-4605-9163-1ba4158276d8" providerId="ADAL" clId="{B210FC2F-08F5-47D9-9077-4DFC330B26B2}" dt="2024-08-09T05:26:04.499" v="218" actId="20577"/>
        <pc:sldMkLst>
          <pc:docMk/>
          <pc:sldMk cId="144655086" sldId="270"/>
        </pc:sldMkLst>
        <pc:spChg chg="mod">
          <ac:chgData name="COOPER Sarina [Southern River College]" userId="7f2b4663-0468-4605-9163-1ba4158276d8" providerId="ADAL" clId="{B210FC2F-08F5-47D9-9077-4DFC330B26B2}" dt="2024-08-09T04:34:10.426" v="101" actId="27636"/>
          <ac:spMkLst>
            <pc:docMk/>
            <pc:sldMk cId="144655086" sldId="270"/>
            <ac:spMk id="3" creationId="{9F0E36DE-C58F-4B15-9789-15C5B811C714}"/>
          </ac:spMkLst>
        </pc:spChg>
        <pc:spChg chg="mod">
          <ac:chgData name="COOPER Sarina [Southern River College]" userId="7f2b4663-0468-4605-9163-1ba4158276d8" providerId="ADAL" clId="{B210FC2F-08F5-47D9-9077-4DFC330B26B2}" dt="2024-08-09T04:33:43.923" v="99" actId="20577"/>
          <ac:spMkLst>
            <pc:docMk/>
            <pc:sldMk cId="144655086" sldId="270"/>
            <ac:spMk id="19" creationId="{B76041D9-A063-447C-8108-4939E9CF8C94}"/>
          </ac:spMkLst>
        </pc:spChg>
        <pc:spChg chg="mod">
          <ac:chgData name="COOPER Sarina [Southern River College]" userId="7f2b4663-0468-4605-9163-1ba4158276d8" providerId="ADAL" clId="{B210FC2F-08F5-47D9-9077-4DFC330B26B2}" dt="2024-08-09T05:26:04.499" v="218" actId="20577"/>
          <ac:spMkLst>
            <pc:docMk/>
            <pc:sldMk cId="144655086" sldId="270"/>
            <ac:spMk id="22" creationId="{E5CF01D0-81B4-4FB5-B23A-0877E8EBC4CB}"/>
          </ac:spMkLst>
        </pc:spChg>
      </pc:sldChg>
      <pc:sldChg chg="modSp mod">
        <pc:chgData name="COOPER Sarina [Southern River College]" userId="7f2b4663-0468-4605-9163-1ba4158276d8" providerId="ADAL" clId="{B210FC2F-08F5-47D9-9077-4DFC330B26B2}" dt="2024-08-12T01:44:31.874" v="276" actId="20577"/>
        <pc:sldMkLst>
          <pc:docMk/>
          <pc:sldMk cId="2103383559" sldId="273"/>
        </pc:sldMkLst>
        <pc:spChg chg="mod">
          <ac:chgData name="COOPER Sarina [Southern River College]" userId="7f2b4663-0468-4605-9163-1ba4158276d8" providerId="ADAL" clId="{B210FC2F-08F5-47D9-9077-4DFC330B26B2}" dt="2024-08-12T01:44:31.874" v="276" actId="20577"/>
          <ac:spMkLst>
            <pc:docMk/>
            <pc:sldMk cId="2103383559" sldId="273"/>
            <ac:spMk id="2" creationId="{B0BE64F6-867D-4E3D-BDF3-05250FD2EE0D}"/>
          </ac:spMkLst>
        </pc:spChg>
        <pc:spChg chg="mod">
          <ac:chgData name="COOPER Sarina [Southern River College]" userId="7f2b4663-0468-4605-9163-1ba4158276d8" providerId="ADAL" clId="{B210FC2F-08F5-47D9-9077-4DFC330B26B2}" dt="2024-08-09T04:57:48.126" v="163" actId="20577"/>
          <ac:spMkLst>
            <pc:docMk/>
            <pc:sldMk cId="2103383559" sldId="273"/>
            <ac:spMk id="3" creationId="{96AE6E21-ECD2-41DD-9720-F963030BE0B9}"/>
          </ac:spMkLst>
        </pc:spChg>
      </pc:sldChg>
      <pc:sldChg chg="del">
        <pc:chgData name="COOPER Sarina [Southern River College]" userId="7f2b4663-0468-4605-9163-1ba4158276d8" providerId="ADAL" clId="{B210FC2F-08F5-47D9-9077-4DFC330B26B2}" dt="2024-08-07T23:39:21.604" v="4" actId="47"/>
        <pc:sldMkLst>
          <pc:docMk/>
          <pc:sldMk cId="3993655103" sldId="274"/>
        </pc:sldMkLst>
      </pc:sldChg>
      <pc:sldChg chg="add del">
        <pc:chgData name="COOPER Sarina [Southern River College]" userId="7f2b4663-0468-4605-9163-1ba4158276d8" providerId="ADAL" clId="{B210FC2F-08F5-47D9-9077-4DFC330B26B2}" dt="2024-08-07T23:39:37.772" v="16" actId="47"/>
        <pc:sldMkLst>
          <pc:docMk/>
          <pc:sldMk cId="3346659622" sldId="275"/>
        </pc:sldMkLst>
      </pc:sldChg>
      <pc:sldChg chg="del">
        <pc:chgData name="COOPER Sarina [Southern River College]" userId="7f2b4663-0468-4605-9163-1ba4158276d8" providerId="ADAL" clId="{B210FC2F-08F5-47D9-9077-4DFC330B26B2}" dt="2024-08-07T23:39:36.122" v="14" actId="47"/>
        <pc:sldMkLst>
          <pc:docMk/>
          <pc:sldMk cId="2462554309" sldId="276"/>
        </pc:sldMkLst>
      </pc:sldChg>
      <pc:sldChg chg="del">
        <pc:chgData name="COOPER Sarina [Southern River College]" userId="7f2b4663-0468-4605-9163-1ba4158276d8" providerId="ADAL" clId="{B210FC2F-08F5-47D9-9077-4DFC330B26B2}" dt="2024-08-07T23:39:35.248" v="13" actId="47"/>
        <pc:sldMkLst>
          <pc:docMk/>
          <pc:sldMk cId="4223230422" sldId="277"/>
        </pc:sldMkLst>
      </pc:sldChg>
      <pc:sldChg chg="del">
        <pc:chgData name="COOPER Sarina [Southern River College]" userId="7f2b4663-0468-4605-9163-1ba4158276d8" providerId="ADAL" clId="{B210FC2F-08F5-47D9-9077-4DFC330B26B2}" dt="2024-08-07T23:39:33.831" v="11" actId="47"/>
        <pc:sldMkLst>
          <pc:docMk/>
          <pc:sldMk cId="401990514" sldId="278"/>
        </pc:sldMkLst>
      </pc:sldChg>
      <pc:sldChg chg="del">
        <pc:chgData name="COOPER Sarina [Southern River College]" userId="7f2b4663-0468-4605-9163-1ba4158276d8" providerId="ADAL" clId="{B210FC2F-08F5-47D9-9077-4DFC330B26B2}" dt="2024-08-07T23:39:34.610" v="12" actId="47"/>
        <pc:sldMkLst>
          <pc:docMk/>
          <pc:sldMk cId="822833391" sldId="279"/>
        </pc:sldMkLst>
      </pc:sldChg>
      <pc:sldChg chg="del">
        <pc:chgData name="COOPER Sarina [Southern River College]" userId="7f2b4663-0468-4605-9163-1ba4158276d8" providerId="ADAL" clId="{B210FC2F-08F5-47D9-9077-4DFC330B26B2}" dt="2024-08-07T23:39:33.220" v="10" actId="47"/>
        <pc:sldMkLst>
          <pc:docMk/>
          <pc:sldMk cId="1351008254" sldId="280"/>
        </pc:sldMkLst>
      </pc:sldChg>
      <pc:sldChg chg="del">
        <pc:chgData name="COOPER Sarina [Southern River College]" userId="7f2b4663-0468-4605-9163-1ba4158276d8" providerId="ADAL" clId="{B210FC2F-08F5-47D9-9077-4DFC330B26B2}" dt="2024-08-07T23:39:32.604" v="9" actId="47"/>
        <pc:sldMkLst>
          <pc:docMk/>
          <pc:sldMk cId="2225766114" sldId="281"/>
        </pc:sldMkLst>
      </pc:sldChg>
      <pc:sldChg chg="del">
        <pc:chgData name="COOPER Sarina [Southern River College]" userId="7f2b4663-0468-4605-9163-1ba4158276d8" providerId="ADAL" clId="{B210FC2F-08F5-47D9-9077-4DFC330B26B2}" dt="2024-08-07T23:39:31.992" v="8" actId="47"/>
        <pc:sldMkLst>
          <pc:docMk/>
          <pc:sldMk cId="1715706004" sldId="282"/>
        </pc:sldMkLst>
      </pc:sldChg>
      <pc:sldChg chg="del">
        <pc:chgData name="COOPER Sarina [Southern River College]" userId="7f2b4663-0468-4605-9163-1ba4158276d8" providerId="ADAL" clId="{B210FC2F-08F5-47D9-9077-4DFC330B26B2}" dt="2024-08-07T23:39:31.231" v="7" actId="47"/>
        <pc:sldMkLst>
          <pc:docMk/>
          <pc:sldMk cId="970069324" sldId="283"/>
        </pc:sldMkLst>
      </pc:sldChg>
      <pc:sldChg chg="modSp">
        <pc:chgData name="COOPER Sarina [Southern River College]" userId="7f2b4663-0468-4605-9163-1ba4158276d8" providerId="ADAL" clId="{B210FC2F-08F5-47D9-9077-4DFC330B26B2}" dt="2024-08-18T15:44:27.435" v="283" actId="20577"/>
        <pc:sldMkLst>
          <pc:docMk/>
          <pc:sldMk cId="4133747821" sldId="284"/>
        </pc:sldMkLst>
        <pc:spChg chg="mod">
          <ac:chgData name="COOPER Sarina [Southern River College]" userId="7f2b4663-0468-4605-9163-1ba4158276d8" providerId="ADAL" clId="{B210FC2F-08F5-47D9-9077-4DFC330B26B2}" dt="2024-08-18T15:44:27.435" v="283" actId="20577"/>
          <ac:spMkLst>
            <pc:docMk/>
            <pc:sldMk cId="4133747821" sldId="284"/>
            <ac:spMk id="2" creationId="{B0BE64F6-867D-4E3D-BDF3-05250FD2EE0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DDFFC-BED2-4BF7-B6DC-0F2B09EDE2B0}" type="datetimeFigureOut">
              <a:rPr lang="en-AU" smtClean="0"/>
              <a:t>8/08/2024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363323-71A0-4A21-ACF0-82174FDE4202}" type="slidenum">
              <a:rPr lang="en-AU" smtClean="0"/>
              <a:t>‹#›</a:t>
            </a:fld>
            <a:endParaRPr lang="en-AU"/>
          </a:p>
        </p:txBody>
      </p:sp>
    </p:spTree>
    <p:extLst>
      <p:ext uri="{BB962C8B-B14F-4D97-AF65-F5344CB8AC3E}">
        <p14:creationId xmlns:p14="http://schemas.microsoft.com/office/powerpoint/2010/main" val="418789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1A24EA21-8844-4577-A2C6-6C597ED7CCCF}"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399196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850026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369472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69A04A-9046-44BF-82DB-668F28F21BC9}"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639383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69A04A-9046-44BF-82DB-668F28F21BC9}" type="datetimeFigureOut">
              <a:rPr lang="en-AU" smtClean="0"/>
              <a:t>8/08/2024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81536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69A04A-9046-44BF-82DB-668F28F21BC9}" type="datetimeFigureOut">
              <a:rPr lang="en-AU" smtClean="0"/>
              <a:t>8/08/2024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81491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69A04A-9046-44BF-82DB-668F28F21BC9}" type="datetimeFigureOut">
              <a:rPr lang="en-AU" smtClean="0"/>
              <a:t>8/08/2024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015977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31469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008089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4023773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0664046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946026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523081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398670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48275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440193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9A04A-9046-44BF-82DB-668F28F21BC9}"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6522309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169513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386241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722065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792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8/08/2024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932027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8/08/2024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324791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8/08/2024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779880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194679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5545419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8/08/2024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5228675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155817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0502782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42695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2146653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8467759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384298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8/08/2024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036952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69A04A-9046-44BF-82DB-668F28F21BC9}" type="datetimeFigureOut">
              <a:rPr lang="en-AU" smtClean="0"/>
              <a:t>8/08/2024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24EA21-8844-4577-A2C6-6C597ED7CCCF}" type="slidenum">
              <a:rPr lang="en-AU" smtClean="0"/>
              <a:t>‹#›</a:t>
            </a:fld>
            <a:endParaRPr lang="en-AU"/>
          </a:p>
        </p:txBody>
      </p:sp>
    </p:spTree>
    <p:extLst>
      <p:ext uri="{BB962C8B-B14F-4D97-AF65-F5344CB8AC3E}">
        <p14:creationId xmlns:p14="http://schemas.microsoft.com/office/powerpoint/2010/main" val="25777135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8/08/2024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273862079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BCBCB"/>
                </a:solidFill>
                <a:effectLst/>
                <a:uLnTx/>
                <a:uFillTx/>
                <a:latin typeface="Corbel" panose="020B0503020204020204"/>
                <a:ea typeface="+mn-ea"/>
                <a:cs typeface="+mn-cs"/>
              </a:endParaRPr>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BCBCB"/>
                </a:solidFill>
                <a:effectLst/>
                <a:uLnTx/>
                <a:uFillTx/>
                <a:latin typeface="Corbel" panose="020B0503020204020204"/>
                <a:ea typeface="+mn-ea"/>
                <a:cs typeface="+mn-cs"/>
              </a:endParaRPr>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3087401" y="1886111"/>
            <a:ext cx="6627303" cy="1954634"/>
          </a:xfrm>
        </p:spPr>
        <p:txBody>
          <a:bodyPr>
            <a:normAutofit/>
          </a:bodyPr>
          <a:lstStyle/>
          <a:p>
            <a:pPr algn="ctr"/>
            <a:r>
              <a:rPr lang="en-AU" dirty="0">
                <a:solidFill>
                  <a:schemeClr val="accent3">
                    <a:lumMod val="10000"/>
                  </a:schemeClr>
                </a:solidFill>
              </a:rPr>
              <a:t>Relativistic </a:t>
            </a:r>
            <a:br>
              <a:rPr lang="en-AU" dirty="0">
                <a:solidFill>
                  <a:schemeClr val="accent3">
                    <a:lumMod val="10000"/>
                  </a:schemeClr>
                </a:solidFill>
              </a:rPr>
            </a:br>
            <a:r>
              <a:rPr lang="en-AU" dirty="0">
                <a:solidFill>
                  <a:schemeClr val="accent3">
                    <a:lumMod val="10000"/>
                  </a:schemeClr>
                </a:solidFill>
              </a:rPr>
              <a:t>Velocity</a:t>
            </a:r>
          </a:p>
        </p:txBody>
      </p:sp>
    </p:spTree>
    <p:extLst>
      <p:ext uri="{BB962C8B-B14F-4D97-AF65-F5344CB8AC3E}">
        <p14:creationId xmlns:p14="http://schemas.microsoft.com/office/powerpoint/2010/main" val="2318432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CA19C-672A-4B78-866F-14FCA52E70B5}"/>
              </a:ext>
            </a:extLst>
          </p:cNvPr>
          <p:cNvSpPr>
            <a:spLocks noGrp="1"/>
          </p:cNvSpPr>
          <p:nvPr>
            <p:ph type="title"/>
          </p:nvPr>
        </p:nvSpPr>
        <p:spPr>
          <a:xfrm>
            <a:off x="982133" y="457201"/>
            <a:ext cx="7704667" cy="997973"/>
          </a:xfrm>
        </p:spPr>
        <p:txBody>
          <a:bodyPr/>
          <a:lstStyle/>
          <a:p>
            <a:r>
              <a:rPr lang="en-AU" dirty="0"/>
              <a:t>Key objectives</a:t>
            </a:r>
          </a:p>
        </p:txBody>
      </p:sp>
      <p:sp>
        <p:nvSpPr>
          <p:cNvPr id="3" name="Content Placeholder 2">
            <a:extLst>
              <a:ext uri="{FF2B5EF4-FFF2-40B4-BE49-F238E27FC236}">
                <a16:creationId xmlns:a16="http://schemas.microsoft.com/office/drawing/2014/main" id="{8A93D24D-7B7D-4358-A763-B7597BC02624}"/>
              </a:ext>
            </a:extLst>
          </p:cNvPr>
          <p:cNvSpPr>
            <a:spLocks noGrp="1"/>
          </p:cNvSpPr>
          <p:nvPr>
            <p:ph idx="1"/>
          </p:nvPr>
        </p:nvSpPr>
        <p:spPr>
          <a:xfrm>
            <a:off x="982133" y="1337187"/>
            <a:ext cx="7704667" cy="4662629"/>
          </a:xfrm>
        </p:spPr>
        <p:txBody>
          <a:bodyPr>
            <a:normAutofit/>
          </a:bodyPr>
          <a:lstStyle/>
          <a:p>
            <a:pPr>
              <a:lnSpc>
                <a:spcPct val="100000"/>
              </a:lnSpc>
            </a:pPr>
            <a:r>
              <a:rPr lang="en-AU" sz="2800" dirty="0"/>
              <a:t>Observations of objects travelling at very high speeds cannot be explained by Newtonian physics. These include the dilated half-life of high-speed muons created in the upper atmosphere, and the momentum of high-speed particles in particle accelerators.</a:t>
            </a:r>
          </a:p>
          <a:p>
            <a:pPr>
              <a:lnSpc>
                <a:spcPct val="100000"/>
              </a:lnSpc>
            </a:pPr>
            <a:r>
              <a:rPr lang="en-AU" sz="2800" dirty="0"/>
              <a:t>Velocity transformations</a:t>
            </a:r>
          </a:p>
        </p:txBody>
      </p:sp>
    </p:spTree>
    <p:extLst>
      <p:ext uri="{BB962C8B-B14F-4D97-AF65-F5344CB8AC3E}">
        <p14:creationId xmlns:p14="http://schemas.microsoft.com/office/powerpoint/2010/main" val="177476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C9922-69D6-4C2D-A3ED-4B172A33228A}"/>
              </a:ext>
            </a:extLst>
          </p:cNvPr>
          <p:cNvSpPr>
            <a:spLocks noGrp="1"/>
          </p:cNvSpPr>
          <p:nvPr>
            <p:ph type="title"/>
          </p:nvPr>
        </p:nvSpPr>
        <p:spPr>
          <a:xfrm>
            <a:off x="982133" y="457201"/>
            <a:ext cx="7704667" cy="820993"/>
          </a:xfrm>
        </p:spPr>
        <p:txBody>
          <a:bodyPr/>
          <a:lstStyle/>
          <a:p>
            <a:r>
              <a:rPr lang="en-AU" dirty="0"/>
              <a:t>Equations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F56ACB-884B-4C85-AB06-DB5410DE883A}"/>
                  </a:ext>
                </a:extLst>
              </p:cNvPr>
              <p:cNvSpPr>
                <a:spLocks noGrp="1"/>
              </p:cNvSpPr>
              <p:nvPr>
                <p:ph idx="1"/>
              </p:nvPr>
            </p:nvSpPr>
            <p:spPr>
              <a:xfrm>
                <a:off x="982133" y="1828800"/>
                <a:ext cx="7704667" cy="3077497"/>
              </a:xfrm>
            </p:spPr>
            <p:txBody>
              <a:bodyPr>
                <a:noAutofit/>
              </a:bodyPr>
              <a:lstStyle/>
              <a:p>
                <a:endParaRPr lang="en-AU" dirty="0"/>
              </a:p>
              <a:p>
                <a:r>
                  <a:rPr lang="en-AU" sz="3200" dirty="0"/>
                  <a:t>Velocity transformations:</a:t>
                </a:r>
              </a:p>
              <a:p>
                <a:pPr marL="0" indent="0" algn="ctr">
                  <a:buNone/>
                </a:pPr>
                <a14:m>
                  <m:oMath xmlns:m="http://schemas.openxmlformats.org/officeDocument/2006/math">
                    <m:r>
                      <a:rPr lang="en-AU" sz="3200" b="0" i="1" smtClean="0">
                        <a:latin typeface="Cambria Math" panose="02040503050406030204" pitchFamily="18" charset="0"/>
                      </a:rPr>
                      <m:t>𝑢</m:t>
                    </m:r>
                    <m:r>
                      <a:rPr lang="en-AU" sz="3200" b="0" i="1" smtClean="0">
                        <a:latin typeface="Cambria Math" panose="02040503050406030204" pitchFamily="18" charset="0"/>
                      </a:rPr>
                      <m:t>=</m:t>
                    </m:r>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𝑣</m:t>
                        </m:r>
                        <m:r>
                          <a:rPr lang="en-AU" sz="3200" b="0" i="1" smtClean="0">
                            <a:latin typeface="Cambria Math" panose="02040503050406030204" pitchFamily="18" charset="0"/>
                          </a:rPr>
                          <m:t>+</m:t>
                        </m:r>
                        <m:sSup>
                          <m:sSupPr>
                            <m:ctrlPr>
                              <a:rPr lang="en-AU" sz="3200" b="0" i="1" smtClean="0">
                                <a:latin typeface="Cambria Math" panose="02040503050406030204" pitchFamily="18" charset="0"/>
                              </a:rPr>
                            </m:ctrlPr>
                          </m:sSupPr>
                          <m:e>
                            <m:r>
                              <a:rPr lang="en-AU" sz="3200" b="0" i="1" smtClean="0">
                                <a:latin typeface="Cambria Math" panose="02040503050406030204" pitchFamily="18" charset="0"/>
                              </a:rPr>
                              <m:t>𝑢</m:t>
                            </m:r>
                          </m:e>
                          <m:sup>
                            <m:r>
                              <a:rPr lang="en-AU" sz="3200" b="0" i="1" smtClean="0">
                                <a:latin typeface="Cambria Math" panose="02040503050406030204" pitchFamily="18" charset="0"/>
                              </a:rPr>
                              <m:t>′</m:t>
                            </m:r>
                          </m:sup>
                        </m:sSup>
                      </m:num>
                      <m:den>
                        <m:r>
                          <a:rPr lang="en-AU" sz="3200" b="0" i="1" smtClean="0">
                            <a:latin typeface="Cambria Math" panose="02040503050406030204" pitchFamily="18" charset="0"/>
                          </a:rPr>
                          <m:t>1+</m:t>
                        </m:r>
                        <m:f>
                          <m:fPr>
                            <m:ctrlPr>
                              <a:rPr lang="en-AU" sz="3200" b="0" i="1" smtClean="0">
                                <a:latin typeface="Cambria Math" panose="02040503050406030204" pitchFamily="18" charset="0"/>
                              </a:rPr>
                            </m:ctrlPr>
                          </m:fPr>
                          <m:num>
                            <m:r>
                              <a:rPr lang="en-AU" sz="3200" b="0" i="1" smtClean="0">
                                <a:latin typeface="Cambria Math" panose="02040503050406030204" pitchFamily="18" charset="0"/>
                              </a:rPr>
                              <m:t>𝑣</m:t>
                            </m:r>
                            <m:sSup>
                              <m:sSupPr>
                                <m:ctrlPr>
                                  <a:rPr lang="en-AU" sz="3200" b="0" i="1" smtClean="0">
                                    <a:latin typeface="Cambria Math" panose="02040503050406030204" pitchFamily="18" charset="0"/>
                                  </a:rPr>
                                </m:ctrlPr>
                              </m:sSupPr>
                              <m:e>
                                <m:r>
                                  <a:rPr lang="en-AU" sz="3200" b="0" i="1" smtClean="0">
                                    <a:latin typeface="Cambria Math" panose="02040503050406030204" pitchFamily="18" charset="0"/>
                                  </a:rPr>
                                  <m:t>𝑢</m:t>
                                </m:r>
                              </m:e>
                              <m:sup>
                                <m:r>
                                  <a:rPr lang="en-AU" sz="3200" b="0" i="1" smtClean="0">
                                    <a:latin typeface="Cambria Math" panose="02040503050406030204" pitchFamily="18" charset="0"/>
                                  </a:rPr>
                                  <m:t>′</m:t>
                                </m:r>
                              </m:sup>
                            </m:sSup>
                          </m:num>
                          <m:den>
                            <m:sSup>
                              <m:sSupPr>
                                <m:ctrlPr>
                                  <a:rPr lang="en-AU" sz="3200" b="0" i="1" smtClean="0">
                                    <a:latin typeface="Cambria Math" panose="02040503050406030204" pitchFamily="18" charset="0"/>
                                  </a:rPr>
                                </m:ctrlPr>
                              </m:sSupPr>
                              <m:e>
                                <m:r>
                                  <a:rPr lang="en-AU" sz="3200" b="0" i="1" smtClean="0">
                                    <a:latin typeface="Cambria Math" panose="02040503050406030204" pitchFamily="18" charset="0"/>
                                  </a:rPr>
                                  <m:t>𝑐</m:t>
                                </m:r>
                              </m:e>
                              <m:sup>
                                <m:r>
                                  <a:rPr lang="en-AU" sz="3200" b="0" i="1" smtClean="0">
                                    <a:latin typeface="Cambria Math" panose="02040503050406030204" pitchFamily="18" charset="0"/>
                                  </a:rPr>
                                  <m:t>2</m:t>
                                </m:r>
                              </m:sup>
                            </m:sSup>
                          </m:den>
                        </m:f>
                      </m:den>
                    </m:f>
                  </m:oMath>
                </a14:m>
                <a:r>
                  <a:rPr lang="en-AU" sz="3200" dirty="0"/>
                  <a:t>         </a:t>
                </a:r>
                <a14:m>
                  <m:oMath xmlns:m="http://schemas.openxmlformats.org/officeDocument/2006/math">
                    <m:sSup>
                      <m:sSupPr>
                        <m:ctrlPr>
                          <a:rPr lang="en-AU" sz="3200" b="0" i="1" dirty="0" smtClean="0">
                            <a:latin typeface="Cambria Math" panose="02040503050406030204" pitchFamily="18" charset="0"/>
                          </a:rPr>
                        </m:ctrlPr>
                      </m:sSupPr>
                      <m:e>
                        <m:r>
                          <a:rPr lang="en-AU" sz="3200" b="0" i="1" dirty="0" smtClean="0">
                            <a:latin typeface="Cambria Math" panose="02040503050406030204" pitchFamily="18" charset="0"/>
                          </a:rPr>
                          <m:t>𝑢</m:t>
                        </m:r>
                      </m:e>
                      <m:sup>
                        <m:r>
                          <a:rPr lang="en-AU" sz="3200" b="0" i="1" dirty="0" smtClean="0">
                            <a:latin typeface="Cambria Math" panose="02040503050406030204" pitchFamily="18" charset="0"/>
                          </a:rPr>
                          <m:t>′</m:t>
                        </m:r>
                      </m:sup>
                    </m:sSup>
                    <m:r>
                      <a:rPr lang="en-AU" sz="3200" b="0" i="1" dirty="0" smtClean="0">
                        <a:latin typeface="Cambria Math" panose="02040503050406030204" pitchFamily="18" charset="0"/>
                      </a:rPr>
                      <m:t>=</m:t>
                    </m:r>
                    <m:f>
                      <m:fPr>
                        <m:ctrlPr>
                          <a:rPr lang="en-AU" sz="3200" b="0" i="1" dirty="0" smtClean="0">
                            <a:latin typeface="Cambria Math" panose="02040503050406030204" pitchFamily="18" charset="0"/>
                          </a:rPr>
                        </m:ctrlPr>
                      </m:fPr>
                      <m:num>
                        <m:r>
                          <a:rPr lang="en-AU" sz="3200" b="0" i="1" dirty="0" smtClean="0">
                            <a:latin typeface="Cambria Math" panose="02040503050406030204" pitchFamily="18" charset="0"/>
                          </a:rPr>
                          <m:t>𝑢</m:t>
                        </m:r>
                        <m:r>
                          <a:rPr lang="en-AU" sz="3200" b="0" i="1" dirty="0" smtClean="0">
                            <a:latin typeface="Cambria Math" panose="02040503050406030204" pitchFamily="18" charset="0"/>
                          </a:rPr>
                          <m:t>−</m:t>
                        </m:r>
                        <m:r>
                          <a:rPr lang="en-AU" sz="3200" b="0" i="1" dirty="0" smtClean="0">
                            <a:latin typeface="Cambria Math" panose="02040503050406030204" pitchFamily="18" charset="0"/>
                          </a:rPr>
                          <m:t>𝑣</m:t>
                        </m:r>
                      </m:num>
                      <m:den>
                        <m:r>
                          <a:rPr lang="en-AU" sz="3200" b="0" i="1" dirty="0" smtClean="0">
                            <a:latin typeface="Cambria Math" panose="02040503050406030204" pitchFamily="18" charset="0"/>
                          </a:rPr>
                          <m:t>1−</m:t>
                        </m:r>
                        <m:f>
                          <m:fPr>
                            <m:ctrlPr>
                              <a:rPr lang="en-AU" sz="3200" b="0" i="1" dirty="0" smtClean="0">
                                <a:latin typeface="Cambria Math" panose="02040503050406030204" pitchFamily="18" charset="0"/>
                              </a:rPr>
                            </m:ctrlPr>
                          </m:fPr>
                          <m:num>
                            <m:r>
                              <a:rPr lang="en-AU" sz="3200" b="0" i="1" dirty="0" smtClean="0">
                                <a:latin typeface="Cambria Math" panose="02040503050406030204" pitchFamily="18" charset="0"/>
                              </a:rPr>
                              <m:t>𝑢𝑣</m:t>
                            </m:r>
                          </m:num>
                          <m:den>
                            <m:sSup>
                              <m:sSupPr>
                                <m:ctrlPr>
                                  <a:rPr lang="en-AU" sz="3200" b="0" i="1" dirty="0" smtClean="0">
                                    <a:latin typeface="Cambria Math" panose="02040503050406030204" pitchFamily="18" charset="0"/>
                                  </a:rPr>
                                </m:ctrlPr>
                              </m:sSupPr>
                              <m:e>
                                <m:r>
                                  <a:rPr lang="en-AU" sz="3200" b="0" i="1" dirty="0" smtClean="0">
                                    <a:latin typeface="Cambria Math" panose="02040503050406030204" pitchFamily="18" charset="0"/>
                                  </a:rPr>
                                  <m:t>𝑐</m:t>
                                </m:r>
                              </m:e>
                              <m:sup>
                                <m:r>
                                  <a:rPr lang="en-AU" sz="3200" b="0" i="1" dirty="0" smtClean="0">
                                    <a:latin typeface="Cambria Math" panose="02040503050406030204" pitchFamily="18" charset="0"/>
                                  </a:rPr>
                                  <m:t>2</m:t>
                                </m:r>
                              </m:sup>
                            </m:sSup>
                          </m:den>
                        </m:f>
                      </m:den>
                    </m:f>
                  </m:oMath>
                </a14:m>
                <a:endParaRPr lang="en-AU" sz="3200" dirty="0"/>
              </a:p>
            </p:txBody>
          </p:sp>
        </mc:Choice>
        <mc:Fallback>
          <p:sp>
            <p:nvSpPr>
              <p:cNvPr id="3" name="Content Placeholder 2">
                <a:extLst>
                  <a:ext uri="{FF2B5EF4-FFF2-40B4-BE49-F238E27FC236}">
                    <a16:creationId xmlns:a16="http://schemas.microsoft.com/office/drawing/2014/main" id="{83F56ACB-884B-4C85-AB06-DB5410DE883A}"/>
                  </a:ext>
                </a:extLst>
              </p:cNvPr>
              <p:cNvSpPr>
                <a:spLocks noGrp="1" noRot="1" noChangeAspect="1" noMove="1" noResize="1" noEditPoints="1" noAdjustHandles="1" noChangeArrowheads="1" noChangeShapeType="1" noTextEdit="1"/>
              </p:cNvSpPr>
              <p:nvPr>
                <p:ph idx="1"/>
              </p:nvPr>
            </p:nvSpPr>
            <p:spPr>
              <a:xfrm>
                <a:off x="982133" y="1828800"/>
                <a:ext cx="7704667" cy="3077497"/>
              </a:xfrm>
              <a:blipFill>
                <a:blip r:embed="rId2"/>
                <a:stretch>
                  <a:fillRect l="-3165"/>
                </a:stretch>
              </a:blipFill>
            </p:spPr>
            <p:txBody>
              <a:bodyPr/>
              <a:lstStyle/>
              <a:p>
                <a:r>
                  <a:rPr lang="en-AU">
                    <a:noFill/>
                  </a:rPr>
                  <a:t> </a:t>
                </a:r>
              </a:p>
            </p:txBody>
          </p:sp>
        </mc:Fallback>
      </mc:AlternateContent>
    </p:spTree>
    <p:extLst>
      <p:ext uri="{BB962C8B-B14F-4D97-AF65-F5344CB8AC3E}">
        <p14:creationId xmlns:p14="http://schemas.microsoft.com/office/powerpoint/2010/main" val="218959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846C4-2298-4DC2-9D94-E5860435ACF3}"/>
              </a:ext>
            </a:extLst>
          </p:cNvPr>
          <p:cNvSpPr>
            <a:spLocks noGrp="1"/>
          </p:cNvSpPr>
          <p:nvPr>
            <p:ph type="title"/>
          </p:nvPr>
        </p:nvSpPr>
        <p:spPr/>
        <p:txBody>
          <a:bodyPr/>
          <a:lstStyle/>
          <a:p>
            <a:r>
              <a:rPr lang="en-AU" dirty="0"/>
              <a:t>Text References </a:t>
            </a:r>
          </a:p>
        </p:txBody>
      </p:sp>
      <p:sp>
        <p:nvSpPr>
          <p:cNvPr id="3" name="Content Placeholder 2">
            <a:extLst>
              <a:ext uri="{FF2B5EF4-FFF2-40B4-BE49-F238E27FC236}">
                <a16:creationId xmlns:a16="http://schemas.microsoft.com/office/drawing/2014/main" id="{8AD37719-5F5A-4C7C-AAD6-5A10CB03F03F}"/>
              </a:ext>
            </a:extLst>
          </p:cNvPr>
          <p:cNvSpPr>
            <a:spLocks noGrp="1"/>
          </p:cNvSpPr>
          <p:nvPr>
            <p:ph idx="1"/>
          </p:nvPr>
        </p:nvSpPr>
        <p:spPr>
          <a:xfrm>
            <a:off x="982133" y="2667000"/>
            <a:ext cx="7704667" cy="1079090"/>
          </a:xfrm>
        </p:spPr>
        <p:txBody>
          <a:bodyPr>
            <a:normAutofit/>
          </a:bodyPr>
          <a:lstStyle/>
          <a:p>
            <a:r>
              <a:rPr lang="en-AU" sz="2400" dirty="0"/>
              <a:t>Step Up 4.4</a:t>
            </a:r>
          </a:p>
        </p:txBody>
      </p:sp>
    </p:spTree>
    <p:extLst>
      <p:ext uri="{BB962C8B-B14F-4D97-AF65-F5344CB8AC3E}">
        <p14:creationId xmlns:p14="http://schemas.microsoft.com/office/powerpoint/2010/main" val="872635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38C4-50E2-4913-BE23-EDEB546481B7}"/>
              </a:ext>
            </a:extLst>
          </p:cNvPr>
          <p:cNvSpPr>
            <a:spLocks noGrp="1"/>
          </p:cNvSpPr>
          <p:nvPr>
            <p:ph type="title"/>
          </p:nvPr>
        </p:nvSpPr>
        <p:spPr>
          <a:xfrm>
            <a:off x="982133" y="457201"/>
            <a:ext cx="7704667" cy="899651"/>
          </a:xfrm>
        </p:spPr>
        <p:txBody>
          <a:bodyPr>
            <a:normAutofit/>
          </a:bodyPr>
          <a:lstStyle/>
          <a:p>
            <a:r>
              <a:rPr lang="en-AU" dirty="0"/>
              <a:t>Relativistic addition of velocities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CD77827-49A2-4C8D-8E4B-50806308CCD6}"/>
                  </a:ext>
                </a:extLst>
              </p:cNvPr>
              <p:cNvSpPr>
                <a:spLocks noGrp="1"/>
              </p:cNvSpPr>
              <p:nvPr>
                <p:ph idx="1"/>
              </p:nvPr>
            </p:nvSpPr>
            <p:spPr>
              <a:xfrm>
                <a:off x="982133" y="1356852"/>
                <a:ext cx="7704667" cy="4642964"/>
              </a:xfrm>
            </p:spPr>
            <p:txBody>
              <a:bodyPr>
                <a:normAutofit fontScale="92500" lnSpcReduction="10000"/>
              </a:bodyPr>
              <a:lstStyle/>
              <a:p>
                <a:r>
                  <a:rPr lang="en-AU" sz="2400" dirty="0"/>
                  <a:t>Relativistic velocities cannot be added if the same way they are in classical mechanics.  The speed of light is an absolute limit and this cannot be exceeded.</a:t>
                </a:r>
              </a:p>
              <a:p>
                <a:r>
                  <a:rPr lang="en-AU" sz="2400" dirty="0"/>
                  <a:t>The relativistic formula are:</a:t>
                </a:r>
              </a:p>
              <a:p>
                <a:pPr marL="0" indent="0" algn="ctr">
                  <a:buNone/>
                </a:pPr>
                <a14:m>
                  <m:oMath xmlns:m="http://schemas.openxmlformats.org/officeDocument/2006/math">
                    <m:r>
                      <a:rPr lang="en-AU" sz="3200" i="1">
                        <a:latin typeface="Cambria Math" panose="02040503050406030204" pitchFamily="18" charset="0"/>
                      </a:rPr>
                      <m:t>𝑢</m:t>
                    </m:r>
                    <m:r>
                      <a:rPr lang="en-AU" sz="3200" i="1">
                        <a:latin typeface="Cambria Math" panose="02040503050406030204" pitchFamily="18" charset="0"/>
                      </a:rPr>
                      <m:t>=</m:t>
                    </m:r>
                    <m:f>
                      <m:fPr>
                        <m:ctrlPr>
                          <a:rPr lang="en-AU" sz="3200" i="1">
                            <a:latin typeface="Cambria Math" panose="02040503050406030204" pitchFamily="18" charset="0"/>
                          </a:rPr>
                        </m:ctrlPr>
                      </m:fPr>
                      <m:num>
                        <m:r>
                          <a:rPr lang="en-AU" sz="3200" i="1">
                            <a:latin typeface="Cambria Math" panose="02040503050406030204" pitchFamily="18" charset="0"/>
                          </a:rPr>
                          <m:t>𝑣</m:t>
                        </m:r>
                        <m:r>
                          <a:rPr lang="en-AU" sz="3200" i="1">
                            <a:latin typeface="Cambria Math" panose="02040503050406030204" pitchFamily="18" charset="0"/>
                          </a:rPr>
                          <m:t>+</m:t>
                        </m:r>
                        <m:sSup>
                          <m:sSupPr>
                            <m:ctrlPr>
                              <a:rPr lang="en-AU" sz="3200" i="1">
                                <a:latin typeface="Cambria Math" panose="02040503050406030204" pitchFamily="18" charset="0"/>
                              </a:rPr>
                            </m:ctrlPr>
                          </m:sSupPr>
                          <m:e>
                            <m:r>
                              <a:rPr lang="en-AU" sz="3200" i="1">
                                <a:latin typeface="Cambria Math" panose="02040503050406030204" pitchFamily="18" charset="0"/>
                              </a:rPr>
                              <m:t>𝑢</m:t>
                            </m:r>
                          </m:e>
                          <m:sup>
                            <m:r>
                              <a:rPr lang="en-AU" sz="3200" i="1">
                                <a:latin typeface="Cambria Math" panose="02040503050406030204" pitchFamily="18" charset="0"/>
                              </a:rPr>
                              <m:t>′</m:t>
                            </m:r>
                          </m:sup>
                        </m:sSup>
                      </m:num>
                      <m:den>
                        <m:r>
                          <a:rPr lang="en-AU" sz="3200" i="1">
                            <a:latin typeface="Cambria Math" panose="02040503050406030204" pitchFamily="18" charset="0"/>
                          </a:rPr>
                          <m:t>1+</m:t>
                        </m:r>
                        <m:f>
                          <m:fPr>
                            <m:ctrlPr>
                              <a:rPr lang="en-AU" sz="3200" i="1">
                                <a:latin typeface="Cambria Math" panose="02040503050406030204" pitchFamily="18" charset="0"/>
                              </a:rPr>
                            </m:ctrlPr>
                          </m:fPr>
                          <m:num>
                            <m:r>
                              <a:rPr lang="en-AU" sz="3200" i="1">
                                <a:latin typeface="Cambria Math" panose="02040503050406030204" pitchFamily="18" charset="0"/>
                              </a:rPr>
                              <m:t>𝑣</m:t>
                            </m:r>
                            <m:sSup>
                              <m:sSupPr>
                                <m:ctrlPr>
                                  <a:rPr lang="en-AU" sz="3200" i="1">
                                    <a:latin typeface="Cambria Math" panose="02040503050406030204" pitchFamily="18" charset="0"/>
                                  </a:rPr>
                                </m:ctrlPr>
                              </m:sSupPr>
                              <m:e>
                                <m:r>
                                  <a:rPr lang="en-AU" sz="3200" i="1">
                                    <a:latin typeface="Cambria Math" panose="02040503050406030204" pitchFamily="18" charset="0"/>
                                  </a:rPr>
                                  <m:t>𝑢</m:t>
                                </m:r>
                              </m:e>
                              <m:sup>
                                <m:r>
                                  <a:rPr lang="en-AU" sz="3200" i="1">
                                    <a:latin typeface="Cambria Math" panose="02040503050406030204" pitchFamily="18" charset="0"/>
                                  </a:rPr>
                                  <m:t>′</m:t>
                                </m:r>
                              </m:sup>
                            </m:sSup>
                          </m:num>
                          <m:den>
                            <m:sSup>
                              <m:sSupPr>
                                <m:ctrlPr>
                                  <a:rPr lang="en-AU" sz="3200" i="1">
                                    <a:latin typeface="Cambria Math" panose="02040503050406030204" pitchFamily="18" charset="0"/>
                                  </a:rPr>
                                </m:ctrlPr>
                              </m:sSupPr>
                              <m:e>
                                <m:r>
                                  <a:rPr lang="en-AU" sz="3200" i="1">
                                    <a:latin typeface="Cambria Math" panose="02040503050406030204" pitchFamily="18" charset="0"/>
                                  </a:rPr>
                                  <m:t>𝑐</m:t>
                                </m:r>
                              </m:e>
                              <m:sup>
                                <m:r>
                                  <a:rPr lang="en-AU" sz="3200" i="1">
                                    <a:latin typeface="Cambria Math" panose="02040503050406030204" pitchFamily="18" charset="0"/>
                                  </a:rPr>
                                  <m:t>2</m:t>
                                </m:r>
                              </m:sup>
                            </m:sSup>
                          </m:den>
                        </m:f>
                      </m:den>
                    </m:f>
                  </m:oMath>
                </a14:m>
                <a:r>
                  <a:rPr lang="en-AU" sz="3200" dirty="0"/>
                  <a:t>         </a:t>
                </a:r>
                <a14:m>
                  <m:oMath xmlns:m="http://schemas.openxmlformats.org/officeDocument/2006/math">
                    <m:sSup>
                      <m:sSupPr>
                        <m:ctrlPr>
                          <a:rPr lang="en-AU" sz="3200" i="1" dirty="0">
                            <a:latin typeface="Cambria Math" panose="02040503050406030204" pitchFamily="18" charset="0"/>
                          </a:rPr>
                        </m:ctrlPr>
                      </m:sSupPr>
                      <m:e>
                        <m:r>
                          <a:rPr lang="en-AU" sz="3200" i="1" dirty="0">
                            <a:latin typeface="Cambria Math" panose="02040503050406030204" pitchFamily="18" charset="0"/>
                          </a:rPr>
                          <m:t>𝑢</m:t>
                        </m:r>
                      </m:e>
                      <m:sup>
                        <m:r>
                          <a:rPr lang="en-AU" sz="3200" i="1" dirty="0">
                            <a:latin typeface="Cambria Math" panose="02040503050406030204" pitchFamily="18" charset="0"/>
                          </a:rPr>
                          <m:t>′</m:t>
                        </m:r>
                      </m:sup>
                    </m:sSup>
                    <m:r>
                      <a:rPr lang="en-AU" sz="3200" i="1" dirty="0">
                        <a:latin typeface="Cambria Math" panose="02040503050406030204" pitchFamily="18" charset="0"/>
                      </a:rPr>
                      <m:t>=</m:t>
                    </m:r>
                    <m:f>
                      <m:fPr>
                        <m:ctrlPr>
                          <a:rPr lang="en-AU" sz="3200" i="1" dirty="0">
                            <a:latin typeface="Cambria Math" panose="02040503050406030204" pitchFamily="18" charset="0"/>
                          </a:rPr>
                        </m:ctrlPr>
                      </m:fPr>
                      <m:num>
                        <m:r>
                          <a:rPr lang="en-AU" sz="3200" i="1" dirty="0">
                            <a:latin typeface="Cambria Math" panose="02040503050406030204" pitchFamily="18" charset="0"/>
                          </a:rPr>
                          <m:t>𝑢</m:t>
                        </m:r>
                        <m:r>
                          <a:rPr lang="en-AU" sz="3200" i="1" dirty="0">
                            <a:latin typeface="Cambria Math" panose="02040503050406030204" pitchFamily="18" charset="0"/>
                          </a:rPr>
                          <m:t>−</m:t>
                        </m:r>
                        <m:r>
                          <a:rPr lang="en-AU" sz="3200" i="1" dirty="0">
                            <a:latin typeface="Cambria Math" panose="02040503050406030204" pitchFamily="18" charset="0"/>
                          </a:rPr>
                          <m:t>𝑣</m:t>
                        </m:r>
                      </m:num>
                      <m:den>
                        <m:r>
                          <a:rPr lang="en-AU" sz="3200" i="1" dirty="0">
                            <a:latin typeface="Cambria Math" panose="02040503050406030204" pitchFamily="18" charset="0"/>
                          </a:rPr>
                          <m:t>1−</m:t>
                        </m:r>
                        <m:f>
                          <m:fPr>
                            <m:ctrlPr>
                              <a:rPr lang="en-AU" sz="3200" i="1" dirty="0">
                                <a:latin typeface="Cambria Math" panose="02040503050406030204" pitchFamily="18" charset="0"/>
                              </a:rPr>
                            </m:ctrlPr>
                          </m:fPr>
                          <m:num>
                            <m:r>
                              <a:rPr lang="en-AU" sz="3200" b="0" i="1" dirty="0" smtClean="0">
                                <a:latin typeface="Cambria Math" panose="02040503050406030204" pitchFamily="18" charset="0"/>
                              </a:rPr>
                              <m:t>𝑣𝑢</m:t>
                            </m:r>
                          </m:num>
                          <m:den>
                            <m:sSup>
                              <m:sSupPr>
                                <m:ctrlPr>
                                  <a:rPr lang="en-AU" sz="3200" i="1" dirty="0">
                                    <a:latin typeface="Cambria Math" panose="02040503050406030204" pitchFamily="18" charset="0"/>
                                  </a:rPr>
                                </m:ctrlPr>
                              </m:sSupPr>
                              <m:e>
                                <m:r>
                                  <a:rPr lang="en-AU" sz="3200" i="1" dirty="0">
                                    <a:latin typeface="Cambria Math" panose="02040503050406030204" pitchFamily="18" charset="0"/>
                                  </a:rPr>
                                  <m:t>𝑐</m:t>
                                </m:r>
                              </m:e>
                              <m:sup>
                                <m:r>
                                  <a:rPr lang="en-AU" sz="3200" i="1" dirty="0">
                                    <a:latin typeface="Cambria Math" panose="02040503050406030204" pitchFamily="18" charset="0"/>
                                  </a:rPr>
                                  <m:t>2</m:t>
                                </m:r>
                              </m:sup>
                            </m:sSup>
                          </m:den>
                        </m:f>
                      </m:den>
                    </m:f>
                  </m:oMath>
                </a14:m>
                <a:endParaRPr lang="en-AU" sz="2400" dirty="0"/>
              </a:p>
              <a:p>
                <a:r>
                  <a:rPr lang="en-AU" sz="2400" dirty="0"/>
                  <a:t>u is the velocity of the object as observed from a stationary frame</a:t>
                </a:r>
              </a:p>
              <a:p>
                <a:r>
                  <a:rPr lang="en-AU" sz="2400" dirty="0"/>
                  <a:t>u’ is the velocity of the object as observed in the moving frame</a:t>
                </a:r>
              </a:p>
              <a:p>
                <a:r>
                  <a:rPr lang="en-AU" sz="2400" dirty="0"/>
                  <a:t>v is the velocity of the moving frame relative to the stationary frame</a:t>
                </a:r>
              </a:p>
            </p:txBody>
          </p:sp>
        </mc:Choice>
        <mc:Fallback>
          <p:sp>
            <p:nvSpPr>
              <p:cNvPr id="3" name="Content Placeholder 2">
                <a:extLst>
                  <a:ext uri="{FF2B5EF4-FFF2-40B4-BE49-F238E27FC236}">
                    <a16:creationId xmlns:a16="http://schemas.microsoft.com/office/drawing/2014/main" id="{ECD77827-49A2-4C8D-8E4B-50806308CCD6}"/>
                  </a:ext>
                </a:extLst>
              </p:cNvPr>
              <p:cNvSpPr>
                <a:spLocks noGrp="1" noRot="1" noChangeAspect="1" noMove="1" noResize="1" noEditPoints="1" noAdjustHandles="1" noChangeArrowheads="1" noChangeShapeType="1" noTextEdit="1"/>
              </p:cNvSpPr>
              <p:nvPr>
                <p:ph idx="1"/>
              </p:nvPr>
            </p:nvSpPr>
            <p:spPr>
              <a:xfrm>
                <a:off x="982133" y="1356852"/>
                <a:ext cx="7704667" cy="4642964"/>
              </a:xfrm>
              <a:blipFill>
                <a:blip r:embed="rId2"/>
                <a:stretch>
                  <a:fillRect l="-1741" t="-3285" r="-1582" b="-1577"/>
                </a:stretch>
              </a:blipFill>
            </p:spPr>
            <p:txBody>
              <a:bodyPr/>
              <a:lstStyle/>
              <a:p>
                <a:r>
                  <a:rPr lang="en-AU">
                    <a:noFill/>
                  </a:rPr>
                  <a:t> </a:t>
                </a:r>
              </a:p>
            </p:txBody>
          </p:sp>
        </mc:Fallback>
      </mc:AlternateContent>
    </p:spTree>
    <p:extLst>
      <p:ext uri="{BB962C8B-B14F-4D97-AF65-F5344CB8AC3E}">
        <p14:creationId xmlns:p14="http://schemas.microsoft.com/office/powerpoint/2010/main" val="157950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BF058-FDC8-4136-A688-62E0A724641A}"/>
              </a:ext>
            </a:extLst>
          </p:cNvPr>
          <p:cNvSpPr>
            <a:spLocks noGrp="1"/>
          </p:cNvSpPr>
          <p:nvPr>
            <p:ph type="title"/>
          </p:nvPr>
        </p:nvSpPr>
        <p:spPr>
          <a:xfrm>
            <a:off x="982133" y="457201"/>
            <a:ext cx="7704667" cy="911449"/>
          </a:xfrm>
        </p:spPr>
        <p:txBody>
          <a:bodyPr/>
          <a:lstStyle/>
          <a:p>
            <a:r>
              <a:rPr lang="en-AU" dirty="0"/>
              <a:t>Assigning u, u’ and v</a:t>
            </a:r>
          </a:p>
        </p:txBody>
      </p:sp>
      <p:sp>
        <p:nvSpPr>
          <p:cNvPr id="3" name="Content Placeholder 2">
            <a:extLst>
              <a:ext uri="{FF2B5EF4-FFF2-40B4-BE49-F238E27FC236}">
                <a16:creationId xmlns:a16="http://schemas.microsoft.com/office/drawing/2014/main" id="{471F279C-8FFE-4FDA-92AF-C5B02CEB83E7}"/>
              </a:ext>
            </a:extLst>
          </p:cNvPr>
          <p:cNvSpPr>
            <a:spLocks noGrp="1"/>
          </p:cNvSpPr>
          <p:nvPr>
            <p:ph idx="1"/>
          </p:nvPr>
        </p:nvSpPr>
        <p:spPr>
          <a:xfrm>
            <a:off x="982133" y="1368650"/>
            <a:ext cx="7704667" cy="2075886"/>
          </a:xfrm>
        </p:spPr>
        <p:txBody>
          <a:bodyPr>
            <a:normAutofit/>
          </a:bodyPr>
          <a:lstStyle/>
          <a:p>
            <a:r>
              <a:rPr lang="en-AU" sz="2400" dirty="0"/>
              <a:t>One way to remember which is which is to think of a scenario like this:  A person on Earth sees two objects moving at given velocities, v and u.  Then that means that the object travelling at v will see the other object as travelling at u’.</a:t>
            </a:r>
          </a:p>
        </p:txBody>
      </p:sp>
      <p:pic>
        <p:nvPicPr>
          <p:cNvPr id="4" name="Picture 3">
            <a:extLst>
              <a:ext uri="{FF2B5EF4-FFF2-40B4-BE49-F238E27FC236}">
                <a16:creationId xmlns:a16="http://schemas.microsoft.com/office/drawing/2014/main" id="{A433CDB9-4DCA-44DC-BA17-D36D8CA6E5CC}"/>
              </a:ext>
            </a:extLst>
          </p:cNvPr>
          <p:cNvPicPr>
            <a:picLocks noChangeAspect="1"/>
          </p:cNvPicPr>
          <p:nvPr/>
        </p:nvPicPr>
        <p:blipFill>
          <a:blip r:embed="rId2"/>
          <a:stretch>
            <a:fillRect/>
          </a:stretch>
        </p:blipFill>
        <p:spPr>
          <a:xfrm>
            <a:off x="4453954" y="5113538"/>
            <a:ext cx="624765" cy="1245601"/>
          </a:xfrm>
          <a:prstGeom prst="rect">
            <a:avLst/>
          </a:prstGeom>
        </p:spPr>
      </p:pic>
      <p:pic>
        <p:nvPicPr>
          <p:cNvPr id="6" name="Picture 5" descr="A picture containing clipart&#10;&#10;Description generated with very high confidence">
            <a:extLst>
              <a:ext uri="{FF2B5EF4-FFF2-40B4-BE49-F238E27FC236}">
                <a16:creationId xmlns:a16="http://schemas.microsoft.com/office/drawing/2014/main" id="{F3897998-C756-417E-943F-84EBE81D9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4097" y="3657599"/>
            <a:ext cx="958371" cy="958371"/>
          </a:xfrm>
          <a:prstGeom prst="rect">
            <a:avLst/>
          </a:prstGeom>
        </p:spPr>
      </p:pic>
      <p:pic>
        <p:nvPicPr>
          <p:cNvPr id="8" name="Picture 7" descr="A picture containing clipart&#10;&#10;Description generated with very high confidence">
            <a:extLst>
              <a:ext uri="{FF2B5EF4-FFF2-40B4-BE49-F238E27FC236}">
                <a16:creationId xmlns:a16="http://schemas.microsoft.com/office/drawing/2014/main" id="{04778CD3-F697-4E58-AD6F-0EB9BC640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1394" y="3675354"/>
            <a:ext cx="905106" cy="905106"/>
          </a:xfrm>
          <a:prstGeom prst="rect">
            <a:avLst/>
          </a:prstGeom>
        </p:spPr>
      </p:pic>
      <p:cxnSp>
        <p:nvCxnSpPr>
          <p:cNvPr id="12" name="Straight Arrow Connector 11">
            <a:extLst>
              <a:ext uri="{FF2B5EF4-FFF2-40B4-BE49-F238E27FC236}">
                <a16:creationId xmlns:a16="http://schemas.microsoft.com/office/drawing/2014/main" id="{86EC9333-B94B-41B7-89AB-632C6360D329}"/>
              </a:ext>
            </a:extLst>
          </p:cNvPr>
          <p:cNvCxnSpPr/>
          <p:nvPr/>
        </p:nvCxnSpPr>
        <p:spPr>
          <a:xfrm flipH="1" flipV="1">
            <a:off x="3240349" y="4492101"/>
            <a:ext cx="1233996" cy="790112"/>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3AE55A0-BC26-4725-B051-03DD0B0E6AF2}"/>
              </a:ext>
            </a:extLst>
          </p:cNvPr>
          <p:cNvSpPr txBox="1"/>
          <p:nvPr/>
        </p:nvSpPr>
        <p:spPr>
          <a:xfrm>
            <a:off x="3329126" y="4891596"/>
            <a:ext cx="497150" cy="369332"/>
          </a:xfrm>
          <a:prstGeom prst="rect">
            <a:avLst/>
          </a:prstGeom>
          <a:noFill/>
        </p:spPr>
        <p:txBody>
          <a:bodyPr wrap="square" rtlCol="0">
            <a:spAutoFit/>
          </a:bodyPr>
          <a:lstStyle/>
          <a:p>
            <a:r>
              <a:rPr lang="en-AU" dirty="0"/>
              <a:t>v</a:t>
            </a:r>
          </a:p>
        </p:txBody>
      </p:sp>
      <p:cxnSp>
        <p:nvCxnSpPr>
          <p:cNvPr id="15" name="Straight Arrow Connector 14">
            <a:extLst>
              <a:ext uri="{FF2B5EF4-FFF2-40B4-BE49-F238E27FC236}">
                <a16:creationId xmlns:a16="http://schemas.microsoft.com/office/drawing/2014/main" id="{1BA2C65B-E908-44D3-8A38-8D4A02099459}"/>
              </a:ext>
            </a:extLst>
          </p:cNvPr>
          <p:cNvCxnSpPr/>
          <p:nvPr/>
        </p:nvCxnSpPr>
        <p:spPr>
          <a:xfrm flipV="1">
            <a:off x="5140171" y="4714043"/>
            <a:ext cx="1171852" cy="665825"/>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9628323-0439-408A-81EE-0DEB67F0E13F}"/>
              </a:ext>
            </a:extLst>
          </p:cNvPr>
          <p:cNvSpPr txBox="1"/>
          <p:nvPr/>
        </p:nvSpPr>
        <p:spPr>
          <a:xfrm>
            <a:off x="5743852" y="5273336"/>
            <a:ext cx="692459" cy="372862"/>
          </a:xfrm>
          <a:prstGeom prst="rect">
            <a:avLst/>
          </a:prstGeom>
          <a:noFill/>
        </p:spPr>
        <p:txBody>
          <a:bodyPr wrap="square" rtlCol="0">
            <a:spAutoFit/>
          </a:bodyPr>
          <a:lstStyle/>
          <a:p>
            <a:r>
              <a:rPr lang="en-AU" dirty="0"/>
              <a:t>u</a:t>
            </a:r>
          </a:p>
        </p:txBody>
      </p:sp>
      <p:cxnSp>
        <p:nvCxnSpPr>
          <p:cNvPr id="18" name="Straight Arrow Connector 17">
            <a:extLst>
              <a:ext uri="{FF2B5EF4-FFF2-40B4-BE49-F238E27FC236}">
                <a16:creationId xmlns:a16="http://schemas.microsoft.com/office/drawing/2014/main" id="{D69A0492-E22B-433D-9FC7-F1D0A8D4D14F}"/>
              </a:ext>
            </a:extLst>
          </p:cNvPr>
          <p:cNvCxnSpPr>
            <a:cxnSpLocks/>
          </p:cNvCxnSpPr>
          <p:nvPr/>
        </p:nvCxnSpPr>
        <p:spPr>
          <a:xfrm>
            <a:off x="3409025" y="3710866"/>
            <a:ext cx="3107185"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3EE7F03-A8B8-4074-B228-16C22C3568EC}"/>
              </a:ext>
            </a:extLst>
          </p:cNvPr>
          <p:cNvSpPr txBox="1"/>
          <p:nvPr/>
        </p:nvSpPr>
        <p:spPr>
          <a:xfrm>
            <a:off x="4616389" y="3284738"/>
            <a:ext cx="1118586" cy="369332"/>
          </a:xfrm>
          <a:prstGeom prst="rect">
            <a:avLst/>
          </a:prstGeom>
          <a:noFill/>
        </p:spPr>
        <p:txBody>
          <a:bodyPr wrap="square" rtlCol="0">
            <a:spAutoFit/>
          </a:bodyPr>
          <a:lstStyle/>
          <a:p>
            <a:r>
              <a:rPr lang="en-AU" dirty="0"/>
              <a:t>u’</a:t>
            </a:r>
          </a:p>
        </p:txBody>
      </p:sp>
    </p:spTree>
    <p:extLst>
      <p:ext uri="{BB962C8B-B14F-4D97-AF65-F5344CB8AC3E}">
        <p14:creationId xmlns:p14="http://schemas.microsoft.com/office/powerpoint/2010/main" val="372429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2F64BB-5BF3-43A2-8BE1-F8F72C4C848C}"/>
              </a:ext>
            </a:extLst>
          </p:cNvPr>
          <p:cNvPicPr>
            <a:picLocks noChangeAspect="1"/>
          </p:cNvPicPr>
          <p:nvPr/>
        </p:nvPicPr>
        <p:blipFill>
          <a:blip r:embed="rId2"/>
          <a:stretch>
            <a:fillRect/>
          </a:stretch>
        </p:blipFill>
        <p:spPr>
          <a:xfrm>
            <a:off x="1069644" y="672469"/>
            <a:ext cx="3721053" cy="4291365"/>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57C32B-5398-4B4C-B7F1-5EA1840E82EC}"/>
                  </a:ext>
                </a:extLst>
              </p:cNvPr>
              <p:cNvSpPr>
                <a:spLocks noGrp="1"/>
              </p:cNvSpPr>
              <p:nvPr>
                <p:ph idx="1"/>
              </p:nvPr>
            </p:nvSpPr>
            <p:spPr>
              <a:xfrm>
                <a:off x="4961668" y="258059"/>
                <a:ext cx="3857867" cy="5120186"/>
              </a:xfrm>
            </p:spPr>
            <p:txBody>
              <a:bodyPr>
                <a:noAutofit/>
              </a:bodyPr>
              <a:lstStyle/>
              <a:p>
                <a:r>
                  <a:rPr lang="en-AU" sz="2400" dirty="0"/>
                  <a:t>Consider a rocket ship that travels away from Earth with a speed v, and assume this rocket has fired off a second rocket that travels at a speed u’.</a:t>
                </a:r>
              </a:p>
              <a:p>
                <a:r>
                  <a:rPr lang="en-AU" sz="2400" dirty="0"/>
                  <a:t>Using classical physics we would assume the velocity of the second rocket can be found using  </a:t>
                </a:r>
                <a14:m>
                  <m:oMath xmlns:m="http://schemas.openxmlformats.org/officeDocument/2006/math">
                    <m:r>
                      <a:rPr lang="en-AU" sz="2400" b="0" i="1" smtClean="0">
                        <a:latin typeface="Cambria Math" panose="02040503050406030204" pitchFamily="18" charset="0"/>
                      </a:rPr>
                      <m:t>𝑢</m:t>
                    </m:r>
                    <m:r>
                      <a:rPr lang="en-AU" sz="2400" b="0" i="1" smtClean="0">
                        <a:latin typeface="Cambria Math" panose="02040503050406030204" pitchFamily="18" charset="0"/>
                      </a:rPr>
                      <m:t>=</m:t>
                    </m:r>
                    <m:r>
                      <a:rPr lang="en-AU" sz="2400" b="0" i="1" smtClean="0">
                        <a:latin typeface="Cambria Math" panose="02040503050406030204" pitchFamily="18" charset="0"/>
                      </a:rPr>
                      <m:t>𝑣</m:t>
                    </m:r>
                    <m:r>
                      <a:rPr lang="en-AU" sz="2400" b="0" i="1" smtClean="0">
                        <a:latin typeface="Cambria Math" panose="02040503050406030204" pitchFamily="18" charset="0"/>
                      </a:rPr>
                      <m:t>+</m:t>
                    </m:r>
                    <m:r>
                      <a:rPr lang="en-AU" sz="2400" b="0" i="1" smtClean="0">
                        <a:latin typeface="Cambria Math" panose="02040503050406030204" pitchFamily="18" charset="0"/>
                      </a:rPr>
                      <m:t>𝑢</m:t>
                    </m:r>
                    <m:r>
                      <a:rPr lang="en-AU" sz="2400" b="0" i="1" smtClean="0">
                        <a:latin typeface="Cambria Math" panose="02040503050406030204" pitchFamily="18" charset="0"/>
                      </a:rPr>
                      <m:t>′</m:t>
                    </m:r>
                  </m:oMath>
                </a14:m>
                <a:r>
                  <a:rPr lang="en-AU" sz="2400" dirty="0"/>
                  <a:t>. </a:t>
                </a:r>
              </a:p>
              <a:p>
                <a:r>
                  <a:rPr lang="en-AU" sz="2400" dirty="0"/>
                  <a:t>Why is this result not possible? </a:t>
                </a:r>
              </a:p>
            </p:txBody>
          </p:sp>
        </mc:Choice>
        <mc:Fallback>
          <p:sp>
            <p:nvSpPr>
              <p:cNvPr id="3" name="Content Placeholder 2">
                <a:extLst>
                  <a:ext uri="{FF2B5EF4-FFF2-40B4-BE49-F238E27FC236}">
                    <a16:creationId xmlns:a16="http://schemas.microsoft.com/office/drawing/2014/main" id="{1557C32B-5398-4B4C-B7F1-5EA1840E82EC}"/>
                  </a:ext>
                </a:extLst>
              </p:cNvPr>
              <p:cNvSpPr>
                <a:spLocks noGrp="1" noRot="1" noChangeAspect="1" noMove="1" noResize="1" noEditPoints="1" noAdjustHandles="1" noChangeArrowheads="1" noChangeShapeType="1" noTextEdit="1"/>
              </p:cNvSpPr>
              <p:nvPr>
                <p:ph idx="1"/>
              </p:nvPr>
            </p:nvSpPr>
            <p:spPr>
              <a:xfrm>
                <a:off x="4961668" y="258059"/>
                <a:ext cx="3857867" cy="5120186"/>
              </a:xfrm>
              <a:blipFill>
                <a:blip r:embed="rId3"/>
                <a:stretch>
                  <a:fillRect l="-4107" t="-3929" r="-2844" b="-2976"/>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C32E426-9A97-4D56-853E-BBD84D65CF5F}"/>
                  </a:ext>
                </a:extLst>
              </p:cNvPr>
              <p:cNvSpPr txBox="1"/>
              <p:nvPr/>
            </p:nvSpPr>
            <p:spPr>
              <a:xfrm>
                <a:off x="1882066" y="5499384"/>
                <a:ext cx="7261934" cy="1200329"/>
              </a:xfrm>
              <a:prstGeom prst="rect">
                <a:avLst/>
              </a:prstGeom>
              <a:noFill/>
            </p:spPr>
            <p:txBody>
              <a:bodyPr wrap="square" rtlCol="0">
                <a:spAutoFit/>
              </a:bodyPr>
              <a:lstStyle/>
              <a:p>
                <a:r>
                  <a:rPr lang="en-AU" sz="2400" dirty="0"/>
                  <a:t>Using </a:t>
                </a:r>
                <a14:m>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oMath>
                </a14:m>
                <a:r>
                  <a:rPr lang="en-AU" sz="2400" i="1" dirty="0">
                    <a:latin typeface="Cambria Math" panose="02040503050406030204" pitchFamily="18" charset="0"/>
                  </a:rPr>
                  <a:t>  </a:t>
                </a:r>
                <a:r>
                  <a:rPr lang="en-AU" sz="2400" dirty="0">
                    <a:latin typeface="Cambria Math" panose="02040503050406030204" pitchFamily="18" charset="0"/>
                  </a:rPr>
                  <a:t>we get </a:t>
                </a:r>
                <a14:m>
                  <m:oMath xmlns:m="http://schemas.openxmlformats.org/officeDocument/2006/math">
                    <m:r>
                      <m:rPr>
                        <m:sty m:val="p"/>
                      </m:rPr>
                      <a:rPr lang="en-AU" sz="2400" b="0" i="0" smtClean="0">
                        <a:latin typeface="Cambria Math" panose="02040503050406030204" pitchFamily="18" charset="0"/>
                      </a:rPr>
                      <m:t>v</m:t>
                    </m:r>
                    <m:r>
                      <a:rPr lang="en-AU" sz="2400" b="0" i="1" smtClean="0">
                        <a:latin typeface="Cambria Math" panose="02040503050406030204" pitchFamily="18" charset="0"/>
                      </a:rPr>
                      <m:t>=0.60+0.60=1.20 </m:t>
                    </m:r>
                    <m:r>
                      <a:rPr lang="en-AU" sz="2400" b="0" i="1" smtClean="0">
                        <a:latin typeface="Cambria Math" panose="02040503050406030204" pitchFamily="18" charset="0"/>
                      </a:rPr>
                      <m:t>𝑐</m:t>
                    </m:r>
                  </m:oMath>
                </a14:m>
                <a:endParaRPr lang="en-AU" sz="2400" b="0" dirty="0">
                  <a:latin typeface="Cambria Math" panose="02040503050406030204" pitchFamily="18" charset="0"/>
                </a:endParaRPr>
              </a:p>
              <a:p>
                <a:r>
                  <a:rPr lang="en-AU" sz="2400" dirty="0"/>
                  <a:t>This result exceeds the speed of light and does not follow the second postulate of special relativity </a:t>
                </a:r>
              </a:p>
            </p:txBody>
          </p:sp>
        </mc:Choice>
        <mc:Fallback>
          <p:sp>
            <p:nvSpPr>
              <p:cNvPr id="5" name="TextBox 4">
                <a:extLst>
                  <a:ext uri="{FF2B5EF4-FFF2-40B4-BE49-F238E27FC236}">
                    <a16:creationId xmlns:a16="http://schemas.microsoft.com/office/drawing/2014/main" id="{BC32E426-9A97-4D56-853E-BBD84D65CF5F}"/>
                  </a:ext>
                </a:extLst>
              </p:cNvPr>
              <p:cNvSpPr txBox="1">
                <a:spLocks noRot="1" noChangeAspect="1" noMove="1" noResize="1" noEditPoints="1" noAdjustHandles="1" noChangeArrowheads="1" noChangeShapeType="1" noTextEdit="1"/>
              </p:cNvSpPr>
              <p:nvPr/>
            </p:nvSpPr>
            <p:spPr>
              <a:xfrm>
                <a:off x="1882066" y="5499384"/>
                <a:ext cx="7261934" cy="1200329"/>
              </a:xfrm>
              <a:prstGeom prst="rect">
                <a:avLst/>
              </a:prstGeom>
              <a:blipFill>
                <a:blip r:embed="rId4"/>
                <a:stretch>
                  <a:fillRect l="-1343" t="-5076" b="-10660"/>
                </a:stretch>
              </a:blipFill>
            </p:spPr>
            <p:txBody>
              <a:bodyPr/>
              <a:lstStyle/>
              <a:p>
                <a:r>
                  <a:rPr lang="en-AU">
                    <a:noFill/>
                  </a:rPr>
                  <a:t> </a:t>
                </a:r>
              </a:p>
            </p:txBody>
          </p:sp>
        </mc:Fallback>
      </mc:AlternateContent>
    </p:spTree>
    <p:extLst>
      <p:ext uri="{BB962C8B-B14F-4D97-AF65-F5344CB8AC3E}">
        <p14:creationId xmlns:p14="http://schemas.microsoft.com/office/powerpoint/2010/main" val="262134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247056-1F42-41B6-9E87-CC12EAF35945}"/>
                  </a:ext>
                </a:extLst>
              </p:cNvPr>
              <p:cNvSpPr>
                <a:spLocks noGrp="1"/>
              </p:cNvSpPr>
              <p:nvPr>
                <p:ph idx="1"/>
              </p:nvPr>
            </p:nvSpPr>
            <p:spPr>
              <a:xfrm>
                <a:off x="1090288" y="96184"/>
                <a:ext cx="7704667" cy="3332816"/>
              </a:xfrm>
            </p:spPr>
            <p:txBody>
              <a:bodyPr>
                <a:normAutofit fontScale="85000" lnSpcReduction="10000"/>
              </a:bodyPr>
              <a:lstStyle/>
              <a:p>
                <a:r>
                  <a:rPr lang="en-AU" sz="2400" dirty="0"/>
                  <a:t>Since classical addition of velocities gives us a result higher than the speed of light obviously classical results do not suit this scenario. </a:t>
                </a:r>
              </a:p>
              <a:p>
                <a:r>
                  <a:rPr lang="en-AU" sz="2400" dirty="0"/>
                  <a:t>Instead we use:</a:t>
                </a:r>
              </a:p>
              <a:p>
                <a:pPr marL="0" indent="0">
                  <a:buNone/>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0.6</m:t>
                          </m:r>
                          <m:r>
                            <a:rPr lang="en-AU" sz="2400" b="0" i="1" smtClean="0">
                              <a:latin typeface="Cambria Math" panose="02040503050406030204" pitchFamily="18" charset="0"/>
                            </a:rPr>
                            <m:t>𝑐</m:t>
                          </m:r>
                          <m:r>
                            <a:rPr lang="en-AU" sz="2400" i="1">
                              <a:latin typeface="Cambria Math" panose="02040503050406030204" pitchFamily="18" charset="0"/>
                            </a:rPr>
                            <m:t>+</m:t>
                          </m:r>
                          <m:r>
                            <a:rPr lang="en-AU" sz="2400" b="0" i="1" smtClean="0">
                              <a:latin typeface="Cambria Math" panose="02040503050406030204" pitchFamily="18" charset="0"/>
                            </a:rPr>
                            <m:t>0.6</m:t>
                          </m:r>
                          <m:r>
                            <a:rPr lang="en-AU" sz="2400" b="0" i="1" smtClean="0">
                              <a:latin typeface="Cambria Math" panose="02040503050406030204" pitchFamily="18" charset="0"/>
                            </a:rPr>
                            <m:t>𝑐</m:t>
                          </m:r>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b="0" i="1" smtClean="0">
                                  <a:latin typeface="Cambria Math" panose="02040503050406030204" pitchFamily="18" charset="0"/>
                                </a:rPr>
                                <m:t>(0.6</m:t>
                              </m:r>
                              <m:r>
                                <a:rPr lang="en-AU" sz="2400" b="0" i="1" smtClean="0">
                                  <a:latin typeface="Cambria Math" panose="02040503050406030204" pitchFamily="18" charset="0"/>
                                </a:rPr>
                                <m:t>𝑐</m:t>
                              </m:r>
                              <m:r>
                                <a:rPr lang="en-AU" sz="2400" b="0" i="1" smtClean="0">
                                  <a:latin typeface="Cambria Math" panose="02040503050406030204" pitchFamily="18" charset="0"/>
                                </a:rPr>
                                <m:t>)(0.6</m:t>
                              </m:r>
                              <m:r>
                                <a:rPr lang="en-AU" sz="2400" b="0" i="1" smtClean="0">
                                  <a:latin typeface="Cambria Math" panose="02040503050406030204" pitchFamily="18" charset="0"/>
                                </a:rPr>
                                <m:t>𝑐</m:t>
                              </m:r>
                              <m:r>
                                <a:rPr lang="en-AU" sz="2400" b="0" i="1" smtClean="0">
                                  <a:latin typeface="Cambria Math" panose="02040503050406030204" pitchFamily="18" charset="0"/>
                                </a:rPr>
                                <m:t>)</m:t>
                              </m:r>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oMath>
                  </m:oMathPara>
                </a14:m>
                <a:endParaRPr lang="en-AU" sz="2400" dirty="0"/>
              </a:p>
              <a:p>
                <a:pPr marL="0" indent="0">
                  <a:buNone/>
                </a:pPr>
                <a:endParaRPr lang="en-AU" sz="2400" dirty="0"/>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𝑢</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1.20</m:t>
                          </m:r>
                          <m:r>
                            <a:rPr lang="en-AU" sz="2400" b="0" i="1" smtClean="0">
                              <a:latin typeface="Cambria Math" panose="02040503050406030204" pitchFamily="18" charset="0"/>
                            </a:rPr>
                            <m:t>𝑐</m:t>
                          </m:r>
                        </m:num>
                        <m:den>
                          <m:r>
                            <a:rPr lang="en-AU" sz="2400" b="0" i="1" smtClean="0">
                              <a:latin typeface="Cambria Math" panose="02040503050406030204" pitchFamily="18" charset="0"/>
                            </a:rPr>
                            <m:t>1.36</m:t>
                          </m:r>
                        </m:den>
                      </m:f>
                      <m:r>
                        <a:rPr lang="en-AU" sz="2400" b="0" i="1" smtClean="0">
                          <a:latin typeface="Cambria Math" panose="02040503050406030204" pitchFamily="18" charset="0"/>
                        </a:rPr>
                        <m:t>=0.882</m:t>
                      </m:r>
                      <m:r>
                        <a:rPr lang="en-AU" sz="2400" b="0" i="1" smtClean="0">
                          <a:latin typeface="Cambria Math" panose="02040503050406030204" pitchFamily="18" charset="0"/>
                        </a:rPr>
                        <m:t>𝑐</m:t>
                      </m:r>
                    </m:oMath>
                  </m:oMathPara>
                </a14:m>
                <a:endParaRPr lang="en-AU" sz="2400" dirty="0"/>
              </a:p>
            </p:txBody>
          </p:sp>
        </mc:Choice>
        <mc:Fallback>
          <p:sp>
            <p:nvSpPr>
              <p:cNvPr id="3" name="Content Placeholder 2">
                <a:extLst>
                  <a:ext uri="{FF2B5EF4-FFF2-40B4-BE49-F238E27FC236}">
                    <a16:creationId xmlns:a16="http://schemas.microsoft.com/office/drawing/2014/main" id="{BA247056-1F42-41B6-9E87-CC12EAF35945}"/>
                  </a:ext>
                </a:extLst>
              </p:cNvPr>
              <p:cNvSpPr>
                <a:spLocks noGrp="1" noRot="1" noChangeAspect="1" noMove="1" noResize="1" noEditPoints="1" noAdjustHandles="1" noChangeArrowheads="1" noChangeShapeType="1" noTextEdit="1"/>
              </p:cNvSpPr>
              <p:nvPr>
                <p:ph idx="1"/>
              </p:nvPr>
            </p:nvSpPr>
            <p:spPr>
              <a:xfrm>
                <a:off x="1090288" y="96184"/>
                <a:ext cx="7704667" cy="3332816"/>
              </a:xfrm>
              <a:blipFill>
                <a:blip r:embed="rId2"/>
                <a:stretch>
                  <a:fillRect l="-1503" t="-2377"/>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7AE00944-9469-482B-8412-7E2AE7037305}"/>
              </a:ext>
            </a:extLst>
          </p:cNvPr>
          <p:cNvPicPr>
            <a:picLocks noChangeAspect="1"/>
          </p:cNvPicPr>
          <p:nvPr/>
        </p:nvPicPr>
        <p:blipFill>
          <a:blip r:embed="rId3"/>
          <a:stretch>
            <a:fillRect/>
          </a:stretch>
        </p:blipFill>
        <p:spPr>
          <a:xfrm>
            <a:off x="6467299" y="3630967"/>
            <a:ext cx="2578159" cy="2973304"/>
          </a:xfrm>
          <a:prstGeom prst="rect">
            <a:avLst/>
          </a:prstGeom>
        </p:spPr>
      </p:pic>
      <p:sp>
        <p:nvSpPr>
          <p:cNvPr id="5" name="TextBox 4">
            <a:extLst>
              <a:ext uri="{FF2B5EF4-FFF2-40B4-BE49-F238E27FC236}">
                <a16:creationId xmlns:a16="http://schemas.microsoft.com/office/drawing/2014/main" id="{844C1615-B131-4079-A92A-4B09C30847D6}"/>
              </a:ext>
            </a:extLst>
          </p:cNvPr>
          <p:cNvSpPr txBox="1"/>
          <p:nvPr/>
        </p:nvSpPr>
        <p:spPr>
          <a:xfrm>
            <a:off x="4114800" y="2974019"/>
            <a:ext cx="65" cy="276999"/>
          </a:xfrm>
          <a:prstGeom prst="rect">
            <a:avLst/>
          </a:prstGeom>
          <a:noFill/>
        </p:spPr>
        <p:txBody>
          <a:bodyPr wrap="none" lIns="0" tIns="0" rIns="0" bIns="0" rtlCol="0">
            <a:spAutoFit/>
          </a:bodyPr>
          <a:lstStyle/>
          <a:p>
            <a:endParaRPr lang="en-AU"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94AA4FA-A554-4FD6-B5AD-E8277C49FAAF}"/>
                  </a:ext>
                </a:extLst>
              </p:cNvPr>
              <p:cNvSpPr txBox="1"/>
              <p:nvPr/>
            </p:nvSpPr>
            <p:spPr>
              <a:xfrm>
                <a:off x="865490" y="3452985"/>
                <a:ext cx="5601809" cy="2462021"/>
              </a:xfrm>
              <a:prstGeom prst="rect">
                <a:avLst/>
              </a:prstGeom>
              <a:noFill/>
            </p:spPr>
            <p:txBody>
              <a:bodyPr wrap="square" rtlCol="0">
                <a:spAutoFit/>
              </a:bodyPr>
              <a:lstStyle/>
              <a:p>
                <a:r>
                  <a:rPr lang="en-AU" sz="2400" dirty="0"/>
                  <a:t>Now use the second velocity transformation equation </a:t>
                </a:r>
              </a:p>
              <a:p>
                <a:pPr/>
                <a14:m>
                  <m:oMathPara xmlns:m="http://schemas.openxmlformats.org/officeDocument/2006/math">
                    <m:oMathParaPr>
                      <m:jc m:val="centerGroup"/>
                    </m:oMathParaPr>
                    <m:oMath xmlns:m="http://schemas.openxmlformats.org/officeDocument/2006/math">
                      <m:sSup>
                        <m:sSupPr>
                          <m:ctrlPr>
                            <a:rPr lang="en-AU" sz="2400" i="1" dirty="0">
                              <a:latin typeface="Cambria Math" panose="02040503050406030204" pitchFamily="18" charset="0"/>
                            </a:rPr>
                          </m:ctrlPr>
                        </m:sSupPr>
                        <m:e>
                          <m:r>
                            <a:rPr lang="en-AU" sz="2400" i="1" dirty="0">
                              <a:latin typeface="Cambria Math" panose="02040503050406030204" pitchFamily="18" charset="0"/>
                            </a:rPr>
                            <m:t>𝑢</m:t>
                          </m:r>
                        </m:e>
                        <m:sup>
                          <m:r>
                            <a:rPr lang="en-AU" sz="2400" i="1" dirty="0">
                              <a:latin typeface="Cambria Math" panose="02040503050406030204" pitchFamily="18" charset="0"/>
                            </a:rPr>
                            <m:t>′</m:t>
                          </m:r>
                        </m:sup>
                      </m:sSup>
                      <m:r>
                        <a:rPr lang="en-AU" sz="2400" i="1" dirty="0">
                          <a:latin typeface="Cambria Math" panose="02040503050406030204" pitchFamily="18" charset="0"/>
                        </a:rPr>
                        <m:t>=</m:t>
                      </m:r>
                      <m:f>
                        <m:fPr>
                          <m:ctrlPr>
                            <a:rPr lang="en-AU" sz="2400" i="1" dirty="0">
                              <a:latin typeface="Cambria Math" panose="02040503050406030204" pitchFamily="18" charset="0"/>
                            </a:rPr>
                          </m:ctrlPr>
                        </m:fPr>
                        <m:num>
                          <m:r>
                            <a:rPr lang="en-AU" sz="2400" i="1" dirty="0">
                              <a:latin typeface="Cambria Math" panose="02040503050406030204" pitchFamily="18" charset="0"/>
                            </a:rPr>
                            <m:t>𝑢</m:t>
                          </m:r>
                          <m:r>
                            <a:rPr lang="en-AU" sz="2400" i="1" dirty="0">
                              <a:latin typeface="Cambria Math" panose="02040503050406030204" pitchFamily="18" charset="0"/>
                            </a:rPr>
                            <m:t>−</m:t>
                          </m:r>
                          <m:r>
                            <a:rPr lang="en-AU" sz="2400" i="1" dirty="0">
                              <a:latin typeface="Cambria Math" panose="02040503050406030204" pitchFamily="18" charset="0"/>
                            </a:rPr>
                            <m:t>𝑣</m:t>
                          </m:r>
                        </m:num>
                        <m:den>
                          <m:r>
                            <a:rPr lang="en-AU" sz="2400" i="1" dirty="0">
                              <a:latin typeface="Cambria Math" panose="02040503050406030204" pitchFamily="18" charset="0"/>
                            </a:rPr>
                            <m:t>1−</m:t>
                          </m:r>
                          <m:f>
                            <m:fPr>
                              <m:ctrlPr>
                                <a:rPr lang="en-AU" sz="2400" i="1" dirty="0">
                                  <a:latin typeface="Cambria Math" panose="02040503050406030204" pitchFamily="18" charset="0"/>
                                </a:rPr>
                              </m:ctrlPr>
                            </m:fPr>
                            <m:num>
                              <m:r>
                                <a:rPr lang="en-AU" sz="2400" i="1" dirty="0">
                                  <a:latin typeface="Cambria Math" panose="02040503050406030204" pitchFamily="18" charset="0"/>
                                </a:rPr>
                                <m:t>𝑣𝑢</m:t>
                              </m:r>
                            </m:num>
                            <m:den>
                              <m:sSup>
                                <m:sSupPr>
                                  <m:ctrlPr>
                                    <a:rPr lang="en-AU" sz="2400" i="1" dirty="0">
                                      <a:latin typeface="Cambria Math" panose="02040503050406030204" pitchFamily="18" charset="0"/>
                                    </a:rPr>
                                  </m:ctrlPr>
                                </m:sSupPr>
                                <m:e>
                                  <m:r>
                                    <a:rPr lang="en-AU" sz="2400" i="1" dirty="0">
                                      <a:latin typeface="Cambria Math" panose="02040503050406030204" pitchFamily="18" charset="0"/>
                                    </a:rPr>
                                    <m:t>𝑐</m:t>
                                  </m:r>
                                </m:e>
                                <m:sup>
                                  <m:r>
                                    <a:rPr lang="en-AU" sz="2400" i="1" dirty="0">
                                      <a:latin typeface="Cambria Math" panose="02040503050406030204" pitchFamily="18" charset="0"/>
                                    </a:rPr>
                                    <m:t>2</m:t>
                                  </m:r>
                                </m:sup>
                              </m:sSup>
                            </m:den>
                          </m:f>
                        </m:den>
                      </m:f>
                      <m:r>
                        <a:rPr lang="en-AU" sz="2400" i="1" dirty="0">
                          <a:latin typeface="Cambria Math" panose="02040503050406030204" pitchFamily="18" charset="0"/>
                        </a:rPr>
                        <m:t> </m:t>
                      </m:r>
                    </m:oMath>
                  </m:oMathPara>
                </a14:m>
                <a:endParaRPr lang="en-AU" sz="2400" dirty="0"/>
              </a:p>
              <a:p>
                <a:r>
                  <a:rPr lang="en-AU" sz="2400" dirty="0"/>
                  <a:t>and the knowledge that u=0.882c to prove that u’=0.60 c </a:t>
                </a:r>
              </a:p>
            </p:txBody>
          </p:sp>
        </mc:Choice>
        <mc:Fallback>
          <p:sp>
            <p:nvSpPr>
              <p:cNvPr id="6" name="TextBox 5">
                <a:extLst>
                  <a:ext uri="{FF2B5EF4-FFF2-40B4-BE49-F238E27FC236}">
                    <a16:creationId xmlns:a16="http://schemas.microsoft.com/office/drawing/2014/main" id="{A94AA4FA-A554-4FD6-B5AD-E8277C49FAAF}"/>
                  </a:ext>
                </a:extLst>
              </p:cNvPr>
              <p:cNvSpPr txBox="1">
                <a:spLocks noRot="1" noChangeAspect="1" noMove="1" noResize="1" noEditPoints="1" noAdjustHandles="1" noChangeArrowheads="1" noChangeShapeType="1" noTextEdit="1"/>
              </p:cNvSpPr>
              <p:nvPr/>
            </p:nvSpPr>
            <p:spPr>
              <a:xfrm>
                <a:off x="865490" y="3452985"/>
                <a:ext cx="5601809" cy="2462021"/>
              </a:xfrm>
              <a:prstGeom prst="rect">
                <a:avLst/>
              </a:prstGeom>
              <a:blipFill>
                <a:blip r:embed="rId4"/>
                <a:stretch>
                  <a:fillRect l="-1741" t="-1980" r="-653" b="-4703"/>
                </a:stretch>
              </a:blipFill>
            </p:spPr>
            <p:txBody>
              <a:bodyPr/>
              <a:lstStyle/>
              <a:p>
                <a:r>
                  <a:rPr lang="en-AU">
                    <a:noFill/>
                  </a:rPr>
                  <a:t> </a:t>
                </a:r>
              </a:p>
            </p:txBody>
          </p:sp>
        </mc:Fallback>
      </mc:AlternateContent>
    </p:spTree>
    <p:extLst>
      <p:ext uri="{BB962C8B-B14F-4D97-AF65-F5344CB8AC3E}">
        <p14:creationId xmlns:p14="http://schemas.microsoft.com/office/powerpoint/2010/main" val="1664370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26780-A79E-4A64-88B3-09D80A3E6A56}"/>
              </a:ext>
            </a:extLst>
          </p:cNvPr>
          <p:cNvSpPr>
            <a:spLocks noGrp="1"/>
          </p:cNvSpPr>
          <p:nvPr>
            <p:ph idx="1"/>
          </p:nvPr>
        </p:nvSpPr>
        <p:spPr>
          <a:xfrm>
            <a:off x="1296765" y="96184"/>
            <a:ext cx="7704667" cy="3332816"/>
          </a:xfrm>
        </p:spPr>
        <p:txBody>
          <a:bodyPr>
            <a:normAutofit/>
          </a:bodyPr>
          <a:lstStyle/>
          <a:p>
            <a:r>
              <a:rPr lang="en-AU" sz="2400" dirty="0"/>
              <a:t>Now lets test our formula in another case:  suppose that rocket one sends out a beam of light (so now u’=c).</a:t>
            </a:r>
          </a:p>
          <a:p>
            <a:r>
              <a:rPr lang="en-AU" sz="2400" dirty="0"/>
              <a:t>What do you expect the speed of light to be with reference to an observer on Earth?  Support your response by stating the relevant postulate of special relativity and providing relevant calculations</a:t>
            </a:r>
          </a:p>
        </p:txBody>
      </p:sp>
      <p:pic>
        <p:nvPicPr>
          <p:cNvPr id="4" name="Picture 3">
            <a:extLst>
              <a:ext uri="{FF2B5EF4-FFF2-40B4-BE49-F238E27FC236}">
                <a16:creationId xmlns:a16="http://schemas.microsoft.com/office/drawing/2014/main" id="{1BBA0A18-3E7E-4AC5-AA09-AD5BA7B3B866}"/>
              </a:ext>
            </a:extLst>
          </p:cNvPr>
          <p:cNvPicPr>
            <a:picLocks noChangeAspect="1"/>
          </p:cNvPicPr>
          <p:nvPr/>
        </p:nvPicPr>
        <p:blipFill>
          <a:blip r:embed="rId2"/>
          <a:stretch>
            <a:fillRect/>
          </a:stretch>
        </p:blipFill>
        <p:spPr>
          <a:xfrm>
            <a:off x="1389056" y="3351678"/>
            <a:ext cx="2424202" cy="2795750"/>
          </a:xfrm>
          <a:prstGeom prst="rect">
            <a:avLst/>
          </a:prstGeom>
        </p:spPr>
      </p:pic>
      <p:sp>
        <p:nvSpPr>
          <p:cNvPr id="5" name="TextBox 4">
            <a:extLst>
              <a:ext uri="{FF2B5EF4-FFF2-40B4-BE49-F238E27FC236}">
                <a16:creationId xmlns:a16="http://schemas.microsoft.com/office/drawing/2014/main" id="{DF2F6886-742A-41A7-AED1-E27E04920F85}"/>
              </a:ext>
            </a:extLst>
          </p:cNvPr>
          <p:cNvSpPr txBox="1"/>
          <p:nvPr/>
        </p:nvSpPr>
        <p:spPr>
          <a:xfrm>
            <a:off x="2480105" y="3351678"/>
            <a:ext cx="1038687" cy="646331"/>
          </a:xfrm>
          <a:prstGeom prst="rect">
            <a:avLst/>
          </a:prstGeom>
          <a:solidFill>
            <a:schemeClr val="bg1"/>
          </a:solidFill>
        </p:spPr>
        <p:txBody>
          <a:bodyPr wrap="square" rtlCol="0">
            <a:spAutoFit/>
          </a:bodyPr>
          <a:lstStyle/>
          <a:p>
            <a:r>
              <a:rPr lang="en-AU" dirty="0"/>
              <a:t>u’=c</a:t>
            </a:r>
          </a:p>
          <a:p>
            <a:endParaRPr lang="en-AU" dirty="0"/>
          </a:p>
        </p:txBody>
      </p:sp>
      <p:sp>
        <p:nvSpPr>
          <p:cNvPr id="6" name="Rectangle 5">
            <a:extLst>
              <a:ext uri="{FF2B5EF4-FFF2-40B4-BE49-F238E27FC236}">
                <a16:creationId xmlns:a16="http://schemas.microsoft.com/office/drawing/2014/main" id="{7E77D515-C929-405B-ADD5-7FB40181A341}"/>
              </a:ext>
            </a:extLst>
          </p:cNvPr>
          <p:cNvSpPr/>
          <p:nvPr/>
        </p:nvSpPr>
        <p:spPr>
          <a:xfrm>
            <a:off x="3174370" y="3542190"/>
            <a:ext cx="532660" cy="65694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 name="Straight Connector 7">
            <a:extLst>
              <a:ext uri="{FF2B5EF4-FFF2-40B4-BE49-F238E27FC236}">
                <a16:creationId xmlns:a16="http://schemas.microsoft.com/office/drawing/2014/main" id="{F513FBBE-EC93-4B1E-ACFC-C785B510C185}"/>
              </a:ext>
            </a:extLst>
          </p:cNvPr>
          <p:cNvCxnSpPr/>
          <p:nvPr/>
        </p:nvCxnSpPr>
        <p:spPr>
          <a:xfrm flipV="1">
            <a:off x="3214319" y="3648721"/>
            <a:ext cx="452761" cy="44388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79F54EB-0A90-4C3D-A1C7-F1BFD9ECD111}"/>
                  </a:ext>
                </a:extLst>
              </p:cNvPr>
              <p:cNvSpPr txBox="1"/>
              <p:nvPr/>
            </p:nvSpPr>
            <p:spPr>
              <a:xfrm>
                <a:off x="4243000" y="3179159"/>
                <a:ext cx="4793942" cy="3313856"/>
              </a:xfrm>
              <a:prstGeom prst="rect">
                <a:avLst/>
              </a:prstGeom>
              <a:noFill/>
            </p:spPr>
            <p:txBody>
              <a:bodyPr wrap="square" rtlCol="0">
                <a:spAutoFit/>
              </a:bodyPr>
              <a:lstStyle/>
              <a:p>
                <a:r>
                  <a:rPr lang="en-AU" sz="2400" dirty="0"/>
                  <a:t>Answer:  The speed of light in a vacuum is an absolute constant.</a:t>
                </a:r>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0.6</m:t>
                          </m:r>
                          <m:r>
                            <a:rPr lang="en-AU" sz="2400" i="1">
                              <a:latin typeface="Cambria Math" panose="02040503050406030204" pitchFamily="18" charset="0"/>
                            </a:rPr>
                            <m:t>𝑐</m:t>
                          </m:r>
                          <m:r>
                            <a:rPr lang="en-AU" sz="2400" i="1">
                              <a:latin typeface="Cambria Math" panose="02040503050406030204" pitchFamily="18" charset="0"/>
                            </a:rPr>
                            <m:t>+</m:t>
                          </m:r>
                          <m:r>
                            <a:rPr lang="en-AU" sz="2400" i="1">
                              <a:latin typeface="Cambria Math" panose="02040503050406030204" pitchFamily="18" charset="0"/>
                            </a:rPr>
                            <m:t>𝑐</m:t>
                          </m:r>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(0.6</m:t>
                              </m:r>
                              <m:r>
                                <a:rPr lang="en-AU" sz="2400" i="1">
                                  <a:latin typeface="Cambria Math" panose="02040503050406030204" pitchFamily="18" charset="0"/>
                                </a:rPr>
                                <m:t>𝑐</m:t>
                              </m:r>
                              <m:r>
                                <a:rPr lang="en-AU" sz="2400" i="1">
                                  <a:latin typeface="Cambria Math" panose="02040503050406030204" pitchFamily="18" charset="0"/>
                                </a:rPr>
                                <m:t>)(</m:t>
                              </m:r>
                              <m:r>
                                <a:rPr lang="en-AU" sz="2400" i="1">
                                  <a:latin typeface="Cambria Math" panose="02040503050406030204" pitchFamily="18" charset="0"/>
                                </a:rPr>
                                <m:t>𝑐</m:t>
                              </m:r>
                              <m:r>
                                <a:rPr lang="en-AU" sz="2400" i="1">
                                  <a:latin typeface="Cambria Math" panose="02040503050406030204" pitchFamily="18" charset="0"/>
                                </a:rPr>
                                <m:t>)</m:t>
                              </m:r>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oMath>
                  </m:oMathPara>
                </a14:m>
                <a:endParaRPr lang="en-AU" sz="2400" dirty="0"/>
              </a:p>
              <a:p>
                <a:endParaRPr lang="en-AU" sz="2400" dirty="0"/>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𝑢</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1.60</m:t>
                          </m:r>
                          <m:r>
                            <a:rPr lang="en-AU" sz="2400" b="0" i="1" smtClean="0">
                              <a:latin typeface="Cambria Math" panose="02040503050406030204" pitchFamily="18" charset="0"/>
                            </a:rPr>
                            <m:t>𝑐</m:t>
                          </m:r>
                        </m:num>
                        <m:den>
                          <m:r>
                            <a:rPr lang="en-AU" sz="2400" b="0" i="1" smtClean="0">
                              <a:latin typeface="Cambria Math" panose="02040503050406030204" pitchFamily="18" charset="0"/>
                            </a:rPr>
                            <m:t>1.60</m:t>
                          </m:r>
                        </m:den>
                      </m:f>
                      <m:r>
                        <a:rPr lang="en-AU" sz="2400" b="0" i="1" smtClean="0">
                          <a:latin typeface="Cambria Math" panose="02040503050406030204" pitchFamily="18" charset="0"/>
                        </a:rPr>
                        <m:t>=</m:t>
                      </m:r>
                      <m:r>
                        <a:rPr lang="en-AU" sz="2400" b="0" i="1" smtClean="0">
                          <a:latin typeface="Cambria Math" panose="02040503050406030204" pitchFamily="18" charset="0"/>
                        </a:rPr>
                        <m:t>𝑐</m:t>
                      </m:r>
                    </m:oMath>
                  </m:oMathPara>
                </a14:m>
                <a:endParaRPr lang="en-AU" sz="2400" dirty="0"/>
              </a:p>
              <a:p>
                <a:endParaRPr lang="en-AU" sz="2400" dirty="0"/>
              </a:p>
            </p:txBody>
          </p:sp>
        </mc:Choice>
        <mc:Fallback>
          <p:sp>
            <p:nvSpPr>
              <p:cNvPr id="9" name="TextBox 8">
                <a:extLst>
                  <a:ext uri="{FF2B5EF4-FFF2-40B4-BE49-F238E27FC236}">
                    <a16:creationId xmlns:a16="http://schemas.microsoft.com/office/drawing/2014/main" id="{279F54EB-0A90-4C3D-A1C7-F1BFD9ECD111}"/>
                  </a:ext>
                </a:extLst>
              </p:cNvPr>
              <p:cNvSpPr txBox="1">
                <a:spLocks noRot="1" noChangeAspect="1" noMove="1" noResize="1" noEditPoints="1" noAdjustHandles="1" noChangeArrowheads="1" noChangeShapeType="1" noTextEdit="1"/>
              </p:cNvSpPr>
              <p:nvPr/>
            </p:nvSpPr>
            <p:spPr>
              <a:xfrm>
                <a:off x="4243000" y="3179159"/>
                <a:ext cx="4793942" cy="3313856"/>
              </a:xfrm>
              <a:prstGeom prst="rect">
                <a:avLst/>
              </a:prstGeom>
              <a:blipFill>
                <a:blip r:embed="rId3"/>
                <a:stretch>
                  <a:fillRect l="-1908" t="-1473"/>
                </a:stretch>
              </a:blipFill>
            </p:spPr>
            <p:txBody>
              <a:bodyPr/>
              <a:lstStyle/>
              <a:p>
                <a:r>
                  <a:rPr lang="en-AU">
                    <a:noFill/>
                  </a:rPr>
                  <a:t> </a:t>
                </a:r>
              </a:p>
            </p:txBody>
          </p:sp>
        </mc:Fallback>
      </mc:AlternateContent>
    </p:spTree>
    <p:extLst>
      <p:ext uri="{BB962C8B-B14F-4D97-AF65-F5344CB8AC3E}">
        <p14:creationId xmlns:p14="http://schemas.microsoft.com/office/powerpoint/2010/main" val="361107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BEB84-5202-49B4-9F49-38DEA323A60B}"/>
              </a:ext>
            </a:extLst>
          </p:cNvPr>
          <p:cNvSpPr>
            <a:spLocks noGrp="1"/>
          </p:cNvSpPr>
          <p:nvPr>
            <p:ph idx="1"/>
          </p:nvPr>
        </p:nvSpPr>
        <p:spPr>
          <a:xfrm>
            <a:off x="1113494" y="149942"/>
            <a:ext cx="7704667" cy="2116966"/>
          </a:xfrm>
        </p:spPr>
        <p:txBody>
          <a:bodyPr>
            <a:normAutofit/>
          </a:bodyPr>
          <a:lstStyle/>
          <a:p>
            <a:pPr marL="0" indent="0">
              <a:buNone/>
            </a:pPr>
            <a:r>
              <a:rPr lang="en-AU" sz="2400" dirty="0"/>
              <a:t>Question:  Two spaceships leave Earth in opposite directions, each with a speed of 0.50 c with respect to Earth.  </a:t>
            </a:r>
          </a:p>
          <a:p>
            <a:pPr marL="457200" indent="-457200">
              <a:buAutoNum type="alphaLcParenR"/>
            </a:pPr>
            <a:r>
              <a:rPr lang="en-AU" sz="2400" dirty="0"/>
              <a:t>What is the velocity of spaceship 1 relative to spaceship 2?</a:t>
            </a:r>
          </a:p>
        </p:txBody>
      </p:sp>
      <p:pic>
        <p:nvPicPr>
          <p:cNvPr id="4" name="Picture 3">
            <a:extLst>
              <a:ext uri="{FF2B5EF4-FFF2-40B4-BE49-F238E27FC236}">
                <a16:creationId xmlns:a16="http://schemas.microsoft.com/office/drawing/2014/main" id="{885B5097-B41F-4823-993F-E9EBBA38541E}"/>
              </a:ext>
            </a:extLst>
          </p:cNvPr>
          <p:cNvPicPr>
            <a:picLocks noChangeAspect="1"/>
          </p:cNvPicPr>
          <p:nvPr/>
        </p:nvPicPr>
        <p:blipFill>
          <a:blip r:embed="rId2"/>
          <a:stretch>
            <a:fillRect/>
          </a:stretch>
        </p:blipFill>
        <p:spPr>
          <a:xfrm>
            <a:off x="7303686" y="2012827"/>
            <a:ext cx="1514475" cy="1181100"/>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5268CA7-FF03-42F7-A597-439F4EBFD1A6}"/>
                  </a:ext>
                </a:extLst>
              </p:cNvPr>
              <p:cNvSpPr txBox="1"/>
              <p:nvPr/>
            </p:nvSpPr>
            <p:spPr>
              <a:xfrm>
                <a:off x="948681" y="3332563"/>
                <a:ext cx="8034291" cy="2975430"/>
              </a:xfrm>
              <a:prstGeom prst="rect">
                <a:avLst/>
              </a:prstGeom>
              <a:noFill/>
            </p:spPr>
            <p:txBody>
              <a:bodyPr wrap="square" rtlCol="0">
                <a:spAutoFit/>
              </a:bodyPr>
              <a:lstStyle/>
              <a:p>
                <a:r>
                  <a:rPr lang="en-AU" sz="2400" dirty="0"/>
                  <a:t>Answer:  In the reference frame of the second ship, the Earth is moving at 0.50 c, and the first ship is moving at 0.50 c relative to the Earth.</a:t>
                </a:r>
              </a:p>
              <a:p>
                <a:r>
                  <a:rPr lang="en-AU" sz="2400" dirty="0"/>
                  <a:t>So v=0.50 c and u’=0.50 c</a:t>
                </a:r>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0.50</m:t>
                          </m:r>
                          <m:r>
                            <a:rPr lang="en-AU" sz="2400" b="0" i="1" smtClean="0">
                              <a:latin typeface="Cambria Math" panose="02040503050406030204" pitchFamily="18" charset="0"/>
                            </a:rPr>
                            <m:t>𝑐</m:t>
                          </m:r>
                          <m:r>
                            <a:rPr lang="en-AU" sz="2400" i="1">
                              <a:latin typeface="Cambria Math" panose="02040503050406030204" pitchFamily="18" charset="0"/>
                            </a:rPr>
                            <m:t>+</m:t>
                          </m:r>
                          <m:r>
                            <a:rPr lang="en-AU" sz="2400" b="0" i="1" smtClean="0">
                              <a:latin typeface="Cambria Math" panose="02040503050406030204" pitchFamily="18" charset="0"/>
                            </a:rPr>
                            <m:t>0.50</m:t>
                          </m:r>
                          <m:r>
                            <a:rPr lang="en-AU" sz="2400" b="0" i="1" smtClean="0">
                              <a:latin typeface="Cambria Math" panose="02040503050406030204" pitchFamily="18" charset="0"/>
                            </a:rPr>
                            <m:t>𝑐</m:t>
                          </m:r>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b="0" i="1" smtClean="0">
                                  <a:latin typeface="Cambria Math" panose="02040503050406030204" pitchFamily="18" charset="0"/>
                                </a:rPr>
                                <m:t>(0.50</m:t>
                              </m:r>
                              <m:r>
                                <a:rPr lang="en-AU" sz="2400" b="0" i="1" smtClean="0">
                                  <a:latin typeface="Cambria Math" panose="02040503050406030204" pitchFamily="18" charset="0"/>
                                </a:rPr>
                                <m:t>𝑐</m:t>
                              </m:r>
                              <m:r>
                                <a:rPr lang="en-AU" sz="2400" b="0" i="1" smtClean="0">
                                  <a:latin typeface="Cambria Math" panose="02040503050406030204" pitchFamily="18" charset="0"/>
                                </a:rPr>
                                <m:t>)(0.50</m:t>
                              </m:r>
                              <m:r>
                                <a:rPr lang="en-AU" sz="2400" b="0" i="1" smtClean="0">
                                  <a:latin typeface="Cambria Math" panose="02040503050406030204" pitchFamily="18" charset="0"/>
                                </a:rPr>
                                <m:t>𝑐</m:t>
                              </m:r>
                              <m:r>
                                <a:rPr lang="en-AU" sz="2400" b="0" i="1" smtClean="0">
                                  <a:latin typeface="Cambria Math" panose="02040503050406030204" pitchFamily="18" charset="0"/>
                                </a:rPr>
                                <m:t>) </m:t>
                              </m:r>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b="0" i="1" smtClean="0">
                          <a:latin typeface="Cambria Math" panose="02040503050406030204" pitchFamily="18" charset="0"/>
                        </a:rPr>
                        <m:t>=0.80 </m:t>
                      </m:r>
                      <m:r>
                        <a:rPr lang="en-AU" sz="2400" b="0" i="1" smtClean="0">
                          <a:latin typeface="Cambria Math" panose="02040503050406030204" pitchFamily="18" charset="0"/>
                        </a:rPr>
                        <m:t>𝑐</m:t>
                      </m:r>
                    </m:oMath>
                  </m:oMathPara>
                </a14:m>
                <a:endParaRPr lang="en-AU" sz="2400" dirty="0"/>
              </a:p>
              <a:p>
                <a:endParaRPr lang="en-AU" sz="2400" dirty="0"/>
              </a:p>
            </p:txBody>
          </p:sp>
        </mc:Choice>
        <mc:Fallback>
          <p:sp>
            <p:nvSpPr>
              <p:cNvPr id="5" name="TextBox 4">
                <a:extLst>
                  <a:ext uri="{FF2B5EF4-FFF2-40B4-BE49-F238E27FC236}">
                    <a16:creationId xmlns:a16="http://schemas.microsoft.com/office/drawing/2014/main" id="{15268CA7-FF03-42F7-A597-439F4EBFD1A6}"/>
                  </a:ext>
                </a:extLst>
              </p:cNvPr>
              <p:cNvSpPr txBox="1">
                <a:spLocks noRot="1" noChangeAspect="1" noMove="1" noResize="1" noEditPoints="1" noAdjustHandles="1" noChangeArrowheads="1" noChangeShapeType="1" noTextEdit="1"/>
              </p:cNvSpPr>
              <p:nvPr/>
            </p:nvSpPr>
            <p:spPr>
              <a:xfrm>
                <a:off x="948681" y="3332563"/>
                <a:ext cx="8034291" cy="2975430"/>
              </a:xfrm>
              <a:prstGeom prst="rect">
                <a:avLst/>
              </a:prstGeom>
              <a:blipFill>
                <a:blip r:embed="rId3"/>
                <a:stretch>
                  <a:fillRect l="-1214" t="-1639" r="-1821"/>
                </a:stretch>
              </a:blipFill>
            </p:spPr>
            <p:txBody>
              <a:bodyPr/>
              <a:lstStyle/>
              <a:p>
                <a:r>
                  <a:rPr lang="en-AU">
                    <a:noFill/>
                  </a:rPr>
                  <a:t> </a:t>
                </a:r>
              </a:p>
            </p:txBody>
          </p:sp>
        </mc:Fallback>
      </mc:AlternateContent>
    </p:spTree>
    <p:extLst>
      <p:ext uri="{BB962C8B-B14F-4D97-AF65-F5344CB8AC3E}">
        <p14:creationId xmlns:p14="http://schemas.microsoft.com/office/powerpoint/2010/main" val="250031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0E91-E0F4-449A-90F8-19973CEEED77}"/>
              </a:ext>
            </a:extLst>
          </p:cNvPr>
          <p:cNvSpPr>
            <a:spLocks noGrp="1"/>
          </p:cNvSpPr>
          <p:nvPr>
            <p:ph type="title"/>
          </p:nvPr>
        </p:nvSpPr>
        <p:spPr>
          <a:xfrm>
            <a:off x="982133" y="457201"/>
            <a:ext cx="7704667" cy="742334"/>
          </a:xfrm>
        </p:spPr>
        <p:txBody>
          <a:bodyPr/>
          <a:lstStyle/>
          <a:p>
            <a:r>
              <a:rPr lang="en-AU" dirty="0"/>
              <a:t>Opposite directions…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38FCF8C-594F-4EF1-88A6-E1D4DD16D61F}"/>
                  </a:ext>
                </a:extLst>
              </p:cNvPr>
              <p:cNvSpPr>
                <a:spLocks noGrp="1"/>
              </p:cNvSpPr>
              <p:nvPr>
                <p:ph idx="1"/>
              </p:nvPr>
            </p:nvSpPr>
            <p:spPr>
              <a:xfrm>
                <a:off x="982133" y="1376516"/>
                <a:ext cx="7704667" cy="4623300"/>
              </a:xfrm>
            </p:spPr>
            <p:txBody>
              <a:bodyPr>
                <a:normAutofit fontScale="92500" lnSpcReduction="20000"/>
              </a:bodyPr>
              <a:lstStyle/>
              <a:p>
                <a:r>
                  <a:rPr lang="en-AU" sz="2400" dirty="0"/>
                  <a:t>When </a:t>
                </a:r>
                <a:r>
                  <a:rPr lang="en-AU" sz="2400" b="1" dirty="0"/>
                  <a:t>u’ </a:t>
                </a:r>
                <a:r>
                  <a:rPr lang="en-AU" sz="2400" dirty="0"/>
                  <a:t>is moving in the opposite direction from </a:t>
                </a:r>
                <a:r>
                  <a:rPr lang="en-AU" sz="2400" b="1" dirty="0"/>
                  <a:t>v</a:t>
                </a:r>
                <a:r>
                  <a:rPr lang="en-AU" sz="2400" dirty="0"/>
                  <a:t> we modify the given equation from:</a:t>
                </a:r>
              </a:p>
              <a:p>
                <a:pPr marL="0" indent="0">
                  <a:buNone/>
                </a:pPr>
                <a:endParaRPr lang="en-AU" sz="2400" dirty="0"/>
              </a:p>
              <a:p>
                <a:pPr marL="0" indent="0">
                  <a:buNone/>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oMath>
                  </m:oMathPara>
                </a14:m>
                <a:endParaRPr lang="en-AU" sz="2400" dirty="0"/>
              </a:p>
              <a:p>
                <a:pPr marL="0" indent="0">
                  <a:buNone/>
                </a:pPr>
                <a:r>
                  <a:rPr lang="en-AU" sz="2400" dirty="0"/>
                  <a:t>To</a:t>
                </a:r>
              </a:p>
              <a:p>
                <a:pPr marL="0" indent="0">
                  <a:buNone/>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b="0" i="1" smtClean="0">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oMath>
                  </m:oMathPara>
                </a14:m>
                <a:endParaRPr lang="en-AU" sz="2400" dirty="0"/>
              </a:p>
              <a:p>
                <a:r>
                  <a:rPr lang="en-AU" sz="2400" dirty="0"/>
                  <a:t>This is done by assigning v to be a positive direction, therefore if u’ is acting in the opposite direction then u’ is a negative quantity.</a:t>
                </a:r>
              </a:p>
            </p:txBody>
          </p:sp>
        </mc:Choice>
        <mc:Fallback>
          <p:sp>
            <p:nvSpPr>
              <p:cNvPr id="3" name="Content Placeholder 2">
                <a:extLst>
                  <a:ext uri="{FF2B5EF4-FFF2-40B4-BE49-F238E27FC236}">
                    <a16:creationId xmlns:a16="http://schemas.microsoft.com/office/drawing/2014/main" id="{738FCF8C-594F-4EF1-88A6-E1D4DD16D61F}"/>
                  </a:ext>
                </a:extLst>
              </p:cNvPr>
              <p:cNvSpPr>
                <a:spLocks noGrp="1" noRot="1" noChangeAspect="1" noMove="1" noResize="1" noEditPoints="1" noAdjustHandles="1" noChangeArrowheads="1" noChangeShapeType="1" noTextEdit="1"/>
              </p:cNvSpPr>
              <p:nvPr>
                <p:ph idx="1"/>
              </p:nvPr>
            </p:nvSpPr>
            <p:spPr>
              <a:xfrm>
                <a:off x="982133" y="1376516"/>
                <a:ext cx="7704667" cy="4623300"/>
              </a:xfrm>
              <a:blipFill>
                <a:blip r:embed="rId2"/>
                <a:stretch>
                  <a:fillRect l="-1741" t="-3166" r="-237" b="-660"/>
                </a:stretch>
              </a:blipFill>
            </p:spPr>
            <p:txBody>
              <a:bodyPr/>
              <a:lstStyle/>
              <a:p>
                <a:r>
                  <a:rPr lang="en-AU">
                    <a:noFill/>
                  </a:rPr>
                  <a:t> </a:t>
                </a:r>
              </a:p>
            </p:txBody>
          </p:sp>
        </mc:Fallback>
      </mc:AlternateContent>
    </p:spTree>
    <p:extLst>
      <p:ext uri="{BB962C8B-B14F-4D97-AF65-F5344CB8AC3E}">
        <p14:creationId xmlns:p14="http://schemas.microsoft.com/office/powerpoint/2010/main" val="2237722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10B8719-7DC5-4E1C-8C55-75F05D9F5700}"/>
                  </a:ext>
                </a:extLst>
              </p:cNvPr>
              <p:cNvSpPr>
                <a:spLocks noGrp="1"/>
              </p:cNvSpPr>
              <p:nvPr>
                <p:ph idx="1"/>
              </p:nvPr>
            </p:nvSpPr>
            <p:spPr>
              <a:xfrm>
                <a:off x="1198443" y="462116"/>
                <a:ext cx="7704667" cy="5498371"/>
              </a:xfrm>
            </p:spPr>
            <p:txBody>
              <a:bodyPr>
                <a:normAutofit fontScale="92500" lnSpcReduction="10000"/>
              </a:bodyPr>
              <a:lstStyle/>
              <a:p>
                <a:r>
                  <a:rPr lang="en-AU" sz="2400" dirty="0"/>
                  <a:t>When u is moving in an opposite direction from v we again recognise that if we take the direction of v to be positive then the direction of u must be negative.</a:t>
                </a:r>
              </a:p>
              <a:p>
                <a:r>
                  <a:rPr lang="en-AU" sz="2400" dirty="0"/>
                  <a:t>So the following equation:</a:t>
                </a:r>
              </a:p>
              <a:p>
                <a:pPr marL="0" indent="0">
                  <a:buNone/>
                </a:pPr>
                <a14:m>
                  <m:oMathPara xmlns:m="http://schemas.openxmlformats.org/officeDocument/2006/math">
                    <m:oMathParaPr>
                      <m:jc m:val="centerGroup"/>
                    </m:oMathParaPr>
                    <m:oMath xmlns:m="http://schemas.openxmlformats.org/officeDocument/2006/math">
                      <m:sSup>
                        <m:sSupPr>
                          <m:ctrlPr>
                            <a:rPr lang="en-AU" sz="2400" i="1" dirty="0">
                              <a:latin typeface="Cambria Math" panose="02040503050406030204" pitchFamily="18" charset="0"/>
                            </a:rPr>
                          </m:ctrlPr>
                        </m:sSupPr>
                        <m:e>
                          <m:r>
                            <a:rPr lang="en-AU" sz="2400" i="1" dirty="0">
                              <a:latin typeface="Cambria Math" panose="02040503050406030204" pitchFamily="18" charset="0"/>
                            </a:rPr>
                            <m:t>𝑢</m:t>
                          </m:r>
                        </m:e>
                        <m:sup>
                          <m:r>
                            <a:rPr lang="en-AU" sz="2400" i="1" dirty="0">
                              <a:latin typeface="Cambria Math" panose="02040503050406030204" pitchFamily="18" charset="0"/>
                            </a:rPr>
                            <m:t>′</m:t>
                          </m:r>
                        </m:sup>
                      </m:sSup>
                      <m:r>
                        <a:rPr lang="en-AU" sz="2400" i="1" dirty="0">
                          <a:latin typeface="Cambria Math" panose="02040503050406030204" pitchFamily="18" charset="0"/>
                        </a:rPr>
                        <m:t>=</m:t>
                      </m:r>
                      <m:f>
                        <m:fPr>
                          <m:ctrlPr>
                            <a:rPr lang="en-AU" sz="2400" i="1" dirty="0">
                              <a:latin typeface="Cambria Math" panose="02040503050406030204" pitchFamily="18" charset="0"/>
                            </a:rPr>
                          </m:ctrlPr>
                        </m:fPr>
                        <m:num>
                          <m:r>
                            <a:rPr lang="en-AU" sz="2400" i="1" dirty="0">
                              <a:latin typeface="Cambria Math" panose="02040503050406030204" pitchFamily="18" charset="0"/>
                            </a:rPr>
                            <m:t>𝑢</m:t>
                          </m:r>
                          <m:r>
                            <a:rPr lang="en-AU" sz="2400" i="1" dirty="0">
                              <a:latin typeface="Cambria Math" panose="02040503050406030204" pitchFamily="18" charset="0"/>
                            </a:rPr>
                            <m:t>−</m:t>
                          </m:r>
                          <m:r>
                            <a:rPr lang="en-AU" sz="2400" i="1" dirty="0">
                              <a:latin typeface="Cambria Math" panose="02040503050406030204" pitchFamily="18" charset="0"/>
                            </a:rPr>
                            <m:t>𝑣</m:t>
                          </m:r>
                        </m:num>
                        <m:den>
                          <m:r>
                            <a:rPr lang="en-AU" sz="2400" i="1" dirty="0">
                              <a:latin typeface="Cambria Math" panose="02040503050406030204" pitchFamily="18" charset="0"/>
                            </a:rPr>
                            <m:t>1−</m:t>
                          </m:r>
                          <m:f>
                            <m:fPr>
                              <m:ctrlPr>
                                <a:rPr lang="en-AU" sz="2400" i="1" dirty="0">
                                  <a:latin typeface="Cambria Math" panose="02040503050406030204" pitchFamily="18" charset="0"/>
                                </a:rPr>
                              </m:ctrlPr>
                            </m:fPr>
                            <m:num>
                              <m:r>
                                <a:rPr lang="en-AU" sz="2400" i="1" dirty="0">
                                  <a:latin typeface="Cambria Math" panose="02040503050406030204" pitchFamily="18" charset="0"/>
                                </a:rPr>
                                <m:t>𝑢𝑣</m:t>
                              </m:r>
                            </m:num>
                            <m:den>
                              <m:sSup>
                                <m:sSupPr>
                                  <m:ctrlPr>
                                    <a:rPr lang="en-AU" sz="2400" i="1" dirty="0">
                                      <a:latin typeface="Cambria Math" panose="02040503050406030204" pitchFamily="18" charset="0"/>
                                    </a:rPr>
                                  </m:ctrlPr>
                                </m:sSupPr>
                                <m:e>
                                  <m:r>
                                    <a:rPr lang="en-AU" sz="2400" i="1" dirty="0">
                                      <a:latin typeface="Cambria Math" panose="02040503050406030204" pitchFamily="18" charset="0"/>
                                    </a:rPr>
                                    <m:t>𝑐</m:t>
                                  </m:r>
                                </m:e>
                                <m:sup>
                                  <m:r>
                                    <a:rPr lang="en-AU" sz="2400" i="1" dirty="0">
                                      <a:latin typeface="Cambria Math" panose="02040503050406030204" pitchFamily="18" charset="0"/>
                                    </a:rPr>
                                    <m:t>2</m:t>
                                  </m:r>
                                </m:sup>
                              </m:sSup>
                            </m:den>
                          </m:f>
                        </m:den>
                      </m:f>
                    </m:oMath>
                  </m:oMathPara>
                </a14:m>
                <a:endParaRPr lang="en-AU" sz="2400" dirty="0"/>
              </a:p>
              <a:p>
                <a:pPr marL="0" indent="0">
                  <a:buNone/>
                </a:pPr>
                <a:r>
                  <a:rPr lang="en-AU" sz="2400" dirty="0"/>
                  <a:t>Becomes</a:t>
                </a:r>
              </a:p>
              <a:p>
                <a:pPr marL="0" indent="0">
                  <a:buNone/>
                </a:pPr>
                <a14:m>
                  <m:oMathPara xmlns:m="http://schemas.openxmlformats.org/officeDocument/2006/math">
                    <m:oMathParaPr>
                      <m:jc m:val="centerGroup"/>
                    </m:oMathParaPr>
                    <m:oMath xmlns:m="http://schemas.openxmlformats.org/officeDocument/2006/math">
                      <m:sSup>
                        <m:sSupPr>
                          <m:ctrlPr>
                            <a:rPr lang="en-AU" sz="2400" i="1" dirty="0">
                              <a:latin typeface="Cambria Math" panose="02040503050406030204" pitchFamily="18" charset="0"/>
                            </a:rPr>
                          </m:ctrlPr>
                        </m:sSupPr>
                        <m:e>
                          <m:r>
                            <a:rPr lang="en-AU" sz="2400" i="1" dirty="0">
                              <a:latin typeface="Cambria Math" panose="02040503050406030204" pitchFamily="18" charset="0"/>
                            </a:rPr>
                            <m:t>𝑢</m:t>
                          </m:r>
                        </m:e>
                        <m:sup>
                          <m:r>
                            <a:rPr lang="en-AU" sz="2400" i="1" dirty="0">
                              <a:latin typeface="Cambria Math" panose="02040503050406030204" pitchFamily="18" charset="0"/>
                            </a:rPr>
                            <m:t>′</m:t>
                          </m:r>
                        </m:sup>
                      </m:sSup>
                      <m:r>
                        <a:rPr lang="en-AU" sz="2400" i="1" dirty="0">
                          <a:latin typeface="Cambria Math" panose="02040503050406030204" pitchFamily="18" charset="0"/>
                        </a:rPr>
                        <m:t>=</m:t>
                      </m:r>
                      <m:f>
                        <m:fPr>
                          <m:ctrlPr>
                            <a:rPr lang="en-AU" sz="2400" i="1" dirty="0">
                              <a:latin typeface="Cambria Math" panose="02040503050406030204" pitchFamily="18" charset="0"/>
                            </a:rPr>
                          </m:ctrlPr>
                        </m:fPr>
                        <m:num>
                          <m:r>
                            <a:rPr lang="en-AU" sz="2400" b="0" i="1" dirty="0" smtClean="0">
                              <a:latin typeface="Cambria Math" panose="02040503050406030204" pitchFamily="18" charset="0"/>
                            </a:rPr>
                            <m:t>−</m:t>
                          </m:r>
                          <m:r>
                            <a:rPr lang="en-AU" sz="2400" i="1" dirty="0">
                              <a:latin typeface="Cambria Math" panose="02040503050406030204" pitchFamily="18" charset="0"/>
                            </a:rPr>
                            <m:t>𝑢</m:t>
                          </m:r>
                          <m:r>
                            <a:rPr lang="en-AU" sz="2400" i="1" dirty="0">
                              <a:latin typeface="Cambria Math" panose="02040503050406030204" pitchFamily="18" charset="0"/>
                            </a:rPr>
                            <m:t>−</m:t>
                          </m:r>
                          <m:r>
                            <a:rPr lang="en-AU" sz="2400" i="1" dirty="0">
                              <a:latin typeface="Cambria Math" panose="02040503050406030204" pitchFamily="18" charset="0"/>
                            </a:rPr>
                            <m:t>𝑣</m:t>
                          </m:r>
                        </m:num>
                        <m:den>
                          <m:r>
                            <a:rPr lang="en-AU" sz="2400" i="1" dirty="0">
                              <a:latin typeface="Cambria Math" panose="02040503050406030204" pitchFamily="18" charset="0"/>
                            </a:rPr>
                            <m:t>1</m:t>
                          </m:r>
                          <m:r>
                            <a:rPr lang="en-AU" sz="2400" b="0" i="1" dirty="0" smtClean="0">
                              <a:latin typeface="Cambria Math" panose="02040503050406030204" pitchFamily="18" charset="0"/>
                            </a:rPr>
                            <m:t>+</m:t>
                          </m:r>
                          <m:f>
                            <m:fPr>
                              <m:ctrlPr>
                                <a:rPr lang="en-AU" sz="2400" i="1" dirty="0">
                                  <a:latin typeface="Cambria Math" panose="02040503050406030204" pitchFamily="18" charset="0"/>
                                </a:rPr>
                              </m:ctrlPr>
                            </m:fPr>
                            <m:num>
                              <m:r>
                                <a:rPr lang="en-AU" sz="2400" i="1" dirty="0">
                                  <a:latin typeface="Cambria Math" panose="02040503050406030204" pitchFamily="18" charset="0"/>
                                </a:rPr>
                                <m:t>𝑢𝑣</m:t>
                              </m:r>
                            </m:num>
                            <m:den>
                              <m:sSup>
                                <m:sSupPr>
                                  <m:ctrlPr>
                                    <a:rPr lang="en-AU" sz="2400" i="1" dirty="0">
                                      <a:latin typeface="Cambria Math" panose="02040503050406030204" pitchFamily="18" charset="0"/>
                                    </a:rPr>
                                  </m:ctrlPr>
                                </m:sSupPr>
                                <m:e>
                                  <m:r>
                                    <a:rPr lang="en-AU" sz="2400" i="1" dirty="0">
                                      <a:latin typeface="Cambria Math" panose="02040503050406030204" pitchFamily="18" charset="0"/>
                                    </a:rPr>
                                    <m:t>𝑐</m:t>
                                  </m:r>
                                </m:e>
                                <m:sup>
                                  <m:r>
                                    <a:rPr lang="en-AU" sz="2400" i="1" dirty="0">
                                      <a:latin typeface="Cambria Math" panose="02040503050406030204" pitchFamily="18" charset="0"/>
                                    </a:rPr>
                                    <m:t>2</m:t>
                                  </m:r>
                                </m:sup>
                              </m:sSup>
                            </m:den>
                          </m:f>
                        </m:den>
                      </m:f>
                    </m:oMath>
                  </m:oMathPara>
                </a14:m>
                <a:endParaRPr lang="en-AU" sz="2400" dirty="0"/>
              </a:p>
              <a:p>
                <a:pPr marL="0" indent="0">
                  <a:buNone/>
                </a:pPr>
                <a:endParaRPr lang="en-AU" sz="2400" dirty="0"/>
              </a:p>
              <a:p>
                <a:pPr marL="0" indent="0">
                  <a:buNone/>
                </a:pPr>
                <a:r>
                  <a:rPr lang="en-AU" sz="2400" dirty="0"/>
                  <a:t>Note:  these modified are equations are simply the result of adding a negative sign to vector quantities travelling in a direction opposite to what we have defined to a positive direction.</a:t>
                </a:r>
              </a:p>
            </p:txBody>
          </p:sp>
        </mc:Choice>
        <mc:Fallback>
          <p:sp>
            <p:nvSpPr>
              <p:cNvPr id="3" name="Content Placeholder 2">
                <a:extLst>
                  <a:ext uri="{FF2B5EF4-FFF2-40B4-BE49-F238E27FC236}">
                    <a16:creationId xmlns:a16="http://schemas.microsoft.com/office/drawing/2014/main" id="{510B8719-7DC5-4E1C-8C55-75F05D9F5700}"/>
                  </a:ext>
                </a:extLst>
              </p:cNvPr>
              <p:cNvSpPr>
                <a:spLocks noGrp="1" noRot="1" noChangeAspect="1" noMove="1" noResize="1" noEditPoints="1" noAdjustHandles="1" noChangeArrowheads="1" noChangeShapeType="1" noTextEdit="1"/>
              </p:cNvSpPr>
              <p:nvPr>
                <p:ph idx="1"/>
              </p:nvPr>
            </p:nvSpPr>
            <p:spPr>
              <a:xfrm>
                <a:off x="1198443" y="462116"/>
                <a:ext cx="7704667" cy="5498371"/>
              </a:xfrm>
              <a:blipFill>
                <a:blip r:embed="rId2"/>
                <a:stretch>
                  <a:fillRect l="-1821" t="-3437" b="-1885"/>
                </a:stretch>
              </a:blipFill>
            </p:spPr>
            <p:txBody>
              <a:bodyPr/>
              <a:lstStyle/>
              <a:p>
                <a:r>
                  <a:rPr lang="en-AU">
                    <a:noFill/>
                  </a:rPr>
                  <a:t> </a:t>
                </a:r>
              </a:p>
            </p:txBody>
          </p:sp>
        </mc:Fallback>
      </mc:AlternateContent>
    </p:spTree>
    <p:extLst>
      <p:ext uri="{BB962C8B-B14F-4D97-AF65-F5344CB8AC3E}">
        <p14:creationId xmlns:p14="http://schemas.microsoft.com/office/powerpoint/2010/main" val="662257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0E36DE-C58F-4B15-9789-15C5B811C714}"/>
              </a:ext>
            </a:extLst>
          </p:cNvPr>
          <p:cNvSpPr>
            <a:spLocks noGrp="1"/>
          </p:cNvSpPr>
          <p:nvPr>
            <p:ph idx="1"/>
          </p:nvPr>
        </p:nvSpPr>
        <p:spPr>
          <a:xfrm>
            <a:off x="1205458" y="328540"/>
            <a:ext cx="7704667" cy="4331950"/>
          </a:xfrm>
        </p:spPr>
        <p:txBody>
          <a:bodyPr>
            <a:normAutofit fontScale="92500" lnSpcReduction="20000"/>
          </a:bodyPr>
          <a:lstStyle/>
          <a:p>
            <a:pPr marL="0" indent="0">
              <a:buNone/>
            </a:pPr>
            <a:r>
              <a:rPr lang="en-AU" sz="2600" dirty="0"/>
              <a:t>Question:  An X-wing and a starfighter are flying towards each other the X-wing has a velocity of 0.650 c and the starfighter of 0.600C as measured in Earths reference frame.  </a:t>
            </a:r>
          </a:p>
          <a:p>
            <a:pPr marL="0" indent="0">
              <a:buNone/>
            </a:pPr>
            <a:endParaRPr lang="en-AU" sz="2400" dirty="0"/>
          </a:p>
          <a:p>
            <a:pPr marL="0" indent="0">
              <a:buNone/>
            </a:pPr>
            <a:endParaRPr lang="en-AU" sz="2400" dirty="0"/>
          </a:p>
          <a:p>
            <a:pPr marL="0" indent="0">
              <a:buNone/>
            </a:pPr>
            <a:endParaRPr lang="en-AU" sz="2400" dirty="0"/>
          </a:p>
          <a:p>
            <a:pPr marL="0" indent="0">
              <a:buNone/>
            </a:pPr>
            <a:endParaRPr lang="en-AU" sz="2400" dirty="0"/>
          </a:p>
          <a:p>
            <a:pPr marL="0" indent="0">
              <a:buNone/>
            </a:pPr>
            <a:endParaRPr lang="en-AU" sz="2400" dirty="0"/>
          </a:p>
          <a:p>
            <a:pPr marL="0" indent="0">
              <a:buNone/>
            </a:pPr>
            <a:r>
              <a:rPr lang="en-AU" sz="2400" dirty="0"/>
              <a:t>Calculate the velocity (in m/s) of the starfighter as measured by the crew of the X-wing</a:t>
            </a:r>
          </a:p>
        </p:txBody>
      </p:sp>
      <p:pic>
        <p:nvPicPr>
          <p:cNvPr id="5" name="Picture 4">
            <a:extLst>
              <a:ext uri="{FF2B5EF4-FFF2-40B4-BE49-F238E27FC236}">
                <a16:creationId xmlns:a16="http://schemas.microsoft.com/office/drawing/2014/main" id="{26756FA7-04A4-4325-A577-3CDF32DA9E3A}"/>
              </a:ext>
            </a:extLst>
          </p:cNvPr>
          <p:cNvPicPr>
            <a:picLocks noChangeAspect="1"/>
          </p:cNvPicPr>
          <p:nvPr/>
        </p:nvPicPr>
        <p:blipFill>
          <a:blip r:embed="rId2"/>
          <a:stretch>
            <a:fillRect/>
          </a:stretch>
        </p:blipFill>
        <p:spPr>
          <a:xfrm>
            <a:off x="3735279" y="1677880"/>
            <a:ext cx="1859871" cy="1859871"/>
          </a:xfrm>
          <a:prstGeom prst="rect">
            <a:avLst/>
          </a:prstGeom>
        </p:spPr>
      </p:pic>
      <p:pic>
        <p:nvPicPr>
          <p:cNvPr id="8" name="Picture 7" descr="A picture containing transport, satellite, plane&#10;&#10;Description generated with high confidence">
            <a:extLst>
              <a:ext uri="{FF2B5EF4-FFF2-40B4-BE49-F238E27FC236}">
                <a16:creationId xmlns:a16="http://schemas.microsoft.com/office/drawing/2014/main" id="{DD3092E2-F78F-4F15-B7F0-CEA17C422F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9588" y="2618913"/>
            <a:ext cx="1320385" cy="784686"/>
          </a:xfrm>
          <a:prstGeom prst="rect">
            <a:avLst/>
          </a:prstGeom>
        </p:spPr>
      </p:pic>
      <p:cxnSp>
        <p:nvCxnSpPr>
          <p:cNvPr id="10" name="Straight Arrow Connector 9">
            <a:extLst>
              <a:ext uri="{FF2B5EF4-FFF2-40B4-BE49-F238E27FC236}">
                <a16:creationId xmlns:a16="http://schemas.microsoft.com/office/drawing/2014/main" id="{92A59921-DD89-4169-8956-0C4A4B287E4C}"/>
              </a:ext>
            </a:extLst>
          </p:cNvPr>
          <p:cNvCxnSpPr>
            <a:cxnSpLocks/>
          </p:cNvCxnSpPr>
          <p:nvPr/>
        </p:nvCxnSpPr>
        <p:spPr>
          <a:xfrm>
            <a:off x="1349406" y="2157274"/>
            <a:ext cx="150032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E6E6DB3-A41B-4A55-956C-3BA0A0DF2B05}"/>
              </a:ext>
            </a:extLst>
          </p:cNvPr>
          <p:cNvCxnSpPr/>
          <p:nvPr/>
        </p:nvCxnSpPr>
        <p:spPr>
          <a:xfrm>
            <a:off x="3329126" y="3089429"/>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7AFF142-CCDA-49B4-90FB-BFEB1F856EC2}"/>
              </a:ext>
            </a:extLst>
          </p:cNvPr>
          <p:cNvSpPr txBox="1"/>
          <p:nvPr/>
        </p:nvSpPr>
        <p:spPr>
          <a:xfrm>
            <a:off x="1526960" y="1757779"/>
            <a:ext cx="1535836" cy="369332"/>
          </a:xfrm>
          <a:prstGeom prst="rect">
            <a:avLst/>
          </a:prstGeom>
          <a:noFill/>
        </p:spPr>
        <p:txBody>
          <a:bodyPr wrap="square" rtlCol="0">
            <a:spAutoFit/>
          </a:bodyPr>
          <a:lstStyle/>
          <a:p>
            <a:r>
              <a:rPr lang="en-AU" dirty="0"/>
              <a:t>v=0.650 c</a:t>
            </a:r>
          </a:p>
        </p:txBody>
      </p:sp>
      <p:pic>
        <p:nvPicPr>
          <p:cNvPr id="15" name="Picture 14">
            <a:extLst>
              <a:ext uri="{FF2B5EF4-FFF2-40B4-BE49-F238E27FC236}">
                <a16:creationId xmlns:a16="http://schemas.microsoft.com/office/drawing/2014/main" id="{74CB01AA-0938-4885-BC5B-EFC04593EA9E}"/>
              </a:ext>
            </a:extLst>
          </p:cNvPr>
          <p:cNvPicPr>
            <a:picLocks noChangeAspect="1"/>
          </p:cNvPicPr>
          <p:nvPr/>
        </p:nvPicPr>
        <p:blipFill>
          <a:blip r:embed="rId4"/>
          <a:stretch>
            <a:fillRect/>
          </a:stretch>
        </p:blipFill>
        <p:spPr>
          <a:xfrm>
            <a:off x="6225974" y="2683882"/>
            <a:ext cx="1444333" cy="771566"/>
          </a:xfrm>
          <a:prstGeom prst="rect">
            <a:avLst/>
          </a:prstGeom>
        </p:spPr>
      </p:pic>
      <p:cxnSp>
        <p:nvCxnSpPr>
          <p:cNvPr id="17" name="Straight Arrow Connector 16">
            <a:extLst>
              <a:ext uri="{FF2B5EF4-FFF2-40B4-BE49-F238E27FC236}">
                <a16:creationId xmlns:a16="http://schemas.microsoft.com/office/drawing/2014/main" id="{A2311CE5-44FF-48EE-877E-E83C8DEB0DF1}"/>
              </a:ext>
            </a:extLst>
          </p:cNvPr>
          <p:cNvCxnSpPr>
            <a:cxnSpLocks/>
          </p:cNvCxnSpPr>
          <p:nvPr/>
        </p:nvCxnSpPr>
        <p:spPr>
          <a:xfrm flipH="1" flipV="1">
            <a:off x="6196614" y="2219417"/>
            <a:ext cx="1455938"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76041D9-A063-447C-8108-4939E9CF8C94}"/>
              </a:ext>
            </a:extLst>
          </p:cNvPr>
          <p:cNvSpPr txBox="1"/>
          <p:nvPr/>
        </p:nvSpPr>
        <p:spPr>
          <a:xfrm>
            <a:off x="6258757" y="1722267"/>
            <a:ext cx="1509204" cy="369332"/>
          </a:xfrm>
          <a:prstGeom prst="rect">
            <a:avLst/>
          </a:prstGeom>
          <a:noFill/>
        </p:spPr>
        <p:txBody>
          <a:bodyPr wrap="square" rtlCol="0">
            <a:spAutoFit/>
          </a:bodyPr>
          <a:lstStyle/>
          <a:p>
            <a:r>
              <a:rPr lang="en-AU" dirty="0"/>
              <a:t>u=0.600 c</a:t>
            </a:r>
          </a:p>
        </p:txBody>
      </p:sp>
      <p:sp>
        <p:nvSpPr>
          <p:cNvPr id="20" name="TextBox 19">
            <a:extLst>
              <a:ext uri="{FF2B5EF4-FFF2-40B4-BE49-F238E27FC236}">
                <a16:creationId xmlns:a16="http://schemas.microsoft.com/office/drawing/2014/main" id="{19584077-13FE-4807-B118-E477DB9B7030}"/>
              </a:ext>
            </a:extLst>
          </p:cNvPr>
          <p:cNvSpPr txBox="1"/>
          <p:nvPr/>
        </p:nvSpPr>
        <p:spPr>
          <a:xfrm>
            <a:off x="1669002" y="3426781"/>
            <a:ext cx="1677880" cy="369332"/>
          </a:xfrm>
          <a:prstGeom prst="rect">
            <a:avLst/>
          </a:prstGeom>
          <a:noFill/>
        </p:spPr>
        <p:txBody>
          <a:bodyPr wrap="square" rtlCol="0">
            <a:spAutoFit/>
          </a:bodyPr>
          <a:lstStyle/>
          <a:p>
            <a:r>
              <a:rPr lang="en-AU" dirty="0"/>
              <a:t>X-wing</a:t>
            </a:r>
          </a:p>
        </p:txBody>
      </p:sp>
      <p:sp>
        <p:nvSpPr>
          <p:cNvPr id="21" name="TextBox 20">
            <a:extLst>
              <a:ext uri="{FF2B5EF4-FFF2-40B4-BE49-F238E27FC236}">
                <a16:creationId xmlns:a16="http://schemas.microsoft.com/office/drawing/2014/main" id="{0FF5AC92-6CC2-4E8D-AA43-4E9D1040EE34}"/>
              </a:ext>
            </a:extLst>
          </p:cNvPr>
          <p:cNvSpPr txBox="1"/>
          <p:nvPr/>
        </p:nvSpPr>
        <p:spPr>
          <a:xfrm>
            <a:off x="6347535" y="3515557"/>
            <a:ext cx="2290438" cy="369332"/>
          </a:xfrm>
          <a:prstGeom prst="rect">
            <a:avLst/>
          </a:prstGeom>
          <a:noFill/>
        </p:spPr>
        <p:txBody>
          <a:bodyPr wrap="square" rtlCol="0">
            <a:spAutoFit/>
          </a:bodyPr>
          <a:lstStyle/>
          <a:p>
            <a:r>
              <a:rPr lang="en-AU" dirty="0"/>
              <a:t>Starfighter</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E5CF01D0-81B4-4FB5-B23A-0877E8EBC4CB}"/>
                  </a:ext>
                </a:extLst>
              </p:cNvPr>
              <p:cNvSpPr txBox="1"/>
              <p:nvPr/>
            </p:nvSpPr>
            <p:spPr>
              <a:xfrm>
                <a:off x="910677" y="4703269"/>
                <a:ext cx="8140823" cy="1867371"/>
              </a:xfrm>
              <a:prstGeom prst="rect">
                <a:avLst/>
              </a:prstGeom>
              <a:noFill/>
            </p:spPr>
            <p:txBody>
              <a:bodyPr wrap="square" rtlCol="0">
                <a:spAutoFit/>
              </a:bodyPr>
              <a:lstStyle/>
              <a:p>
                <a:r>
                  <a:rPr lang="en-AU" sz="2400" dirty="0"/>
                  <a:t>Answer:  let the direction of v be positive then u is negative.</a:t>
                </a:r>
              </a:p>
              <a:p>
                <a:pPr/>
                <a14:m>
                  <m:oMathPara xmlns:m="http://schemas.openxmlformats.org/officeDocument/2006/math">
                    <m:oMathParaPr>
                      <m:jc m:val="centerGroup"/>
                    </m:oMathParaPr>
                    <m:oMath xmlns:m="http://schemas.openxmlformats.org/officeDocument/2006/math">
                      <m:sSup>
                        <m:sSupPr>
                          <m:ctrlPr>
                            <a:rPr lang="en-AU" sz="2400" i="1" dirty="0">
                              <a:latin typeface="Cambria Math" panose="02040503050406030204" pitchFamily="18" charset="0"/>
                            </a:rPr>
                          </m:ctrlPr>
                        </m:sSupPr>
                        <m:e>
                          <m:r>
                            <a:rPr lang="en-AU" sz="2400" i="1" dirty="0">
                              <a:latin typeface="Cambria Math" panose="02040503050406030204" pitchFamily="18" charset="0"/>
                            </a:rPr>
                            <m:t>𝑢</m:t>
                          </m:r>
                        </m:e>
                        <m:sup>
                          <m:r>
                            <a:rPr lang="en-AU" sz="2400" i="1" dirty="0">
                              <a:latin typeface="Cambria Math" panose="02040503050406030204" pitchFamily="18" charset="0"/>
                            </a:rPr>
                            <m:t>′</m:t>
                          </m:r>
                        </m:sup>
                      </m:sSup>
                      <m:r>
                        <a:rPr lang="en-AU" sz="2400" i="1" dirty="0">
                          <a:latin typeface="Cambria Math" panose="02040503050406030204" pitchFamily="18" charset="0"/>
                        </a:rPr>
                        <m:t>=</m:t>
                      </m:r>
                      <m:f>
                        <m:fPr>
                          <m:ctrlPr>
                            <a:rPr lang="en-AU" sz="2400" i="1" dirty="0">
                              <a:latin typeface="Cambria Math" panose="02040503050406030204" pitchFamily="18" charset="0"/>
                            </a:rPr>
                          </m:ctrlPr>
                        </m:fPr>
                        <m:num>
                          <m:r>
                            <a:rPr lang="en-AU" sz="2400" i="1" dirty="0">
                              <a:latin typeface="Cambria Math" panose="02040503050406030204" pitchFamily="18" charset="0"/>
                            </a:rPr>
                            <m:t>𝑢</m:t>
                          </m:r>
                          <m:r>
                            <a:rPr lang="en-AU" sz="2400" i="1" dirty="0">
                              <a:latin typeface="Cambria Math" panose="02040503050406030204" pitchFamily="18" charset="0"/>
                            </a:rPr>
                            <m:t>−</m:t>
                          </m:r>
                          <m:r>
                            <a:rPr lang="en-AU" sz="2400" i="1" dirty="0">
                              <a:latin typeface="Cambria Math" panose="02040503050406030204" pitchFamily="18" charset="0"/>
                            </a:rPr>
                            <m:t>𝑣</m:t>
                          </m:r>
                        </m:num>
                        <m:den>
                          <m:r>
                            <a:rPr lang="en-AU" sz="2400" i="1" dirty="0">
                              <a:latin typeface="Cambria Math" panose="02040503050406030204" pitchFamily="18" charset="0"/>
                            </a:rPr>
                            <m:t>1−</m:t>
                          </m:r>
                          <m:f>
                            <m:fPr>
                              <m:ctrlPr>
                                <a:rPr lang="en-AU" sz="2400" i="1" dirty="0">
                                  <a:latin typeface="Cambria Math" panose="02040503050406030204" pitchFamily="18" charset="0"/>
                                </a:rPr>
                              </m:ctrlPr>
                            </m:fPr>
                            <m:num>
                              <m:r>
                                <a:rPr lang="en-AU" sz="2400" i="1" dirty="0">
                                  <a:latin typeface="Cambria Math" panose="02040503050406030204" pitchFamily="18" charset="0"/>
                                </a:rPr>
                                <m:t>𝑢𝑣</m:t>
                              </m:r>
                            </m:num>
                            <m:den>
                              <m:sSup>
                                <m:sSupPr>
                                  <m:ctrlPr>
                                    <a:rPr lang="en-AU" sz="2400" i="1" dirty="0">
                                      <a:latin typeface="Cambria Math" panose="02040503050406030204" pitchFamily="18" charset="0"/>
                                    </a:rPr>
                                  </m:ctrlPr>
                                </m:sSupPr>
                                <m:e>
                                  <m:r>
                                    <a:rPr lang="en-AU" sz="2400" i="1" dirty="0">
                                      <a:latin typeface="Cambria Math" panose="02040503050406030204" pitchFamily="18" charset="0"/>
                                    </a:rPr>
                                    <m:t>𝑐</m:t>
                                  </m:r>
                                </m:e>
                                <m:sup>
                                  <m:r>
                                    <a:rPr lang="en-AU" sz="2400" i="1" dirty="0">
                                      <a:latin typeface="Cambria Math" panose="02040503050406030204" pitchFamily="18" charset="0"/>
                                    </a:rPr>
                                    <m:t>2</m:t>
                                  </m:r>
                                </m:sup>
                              </m:sSup>
                            </m:den>
                          </m:f>
                        </m:den>
                      </m:f>
                      <m:r>
                        <a:rPr lang="en-AU" sz="2400" b="0" i="1" dirty="0" smtClean="0">
                          <a:latin typeface="Cambria Math" panose="02040503050406030204" pitchFamily="18" charset="0"/>
                        </a:rPr>
                        <m:t>=</m:t>
                      </m:r>
                      <m:f>
                        <m:fPr>
                          <m:ctrlPr>
                            <a:rPr lang="en-AU" sz="2400" i="1" dirty="0">
                              <a:latin typeface="Cambria Math" panose="02040503050406030204" pitchFamily="18" charset="0"/>
                            </a:rPr>
                          </m:ctrlPr>
                        </m:fPr>
                        <m:num>
                          <m:r>
                            <a:rPr lang="en-AU" sz="2400" b="0" i="1" dirty="0" smtClean="0">
                              <a:latin typeface="Cambria Math" panose="02040503050406030204" pitchFamily="18" charset="0"/>
                            </a:rPr>
                            <m:t>−0.</m:t>
                          </m:r>
                          <m:r>
                            <a:rPr lang="en-US" sz="2400" b="0" i="1" dirty="0" smtClean="0">
                              <a:latin typeface="Cambria Math" panose="02040503050406030204" pitchFamily="18" charset="0"/>
                            </a:rPr>
                            <m:t>60</m:t>
                          </m:r>
                          <m:r>
                            <a:rPr lang="en-AU" sz="2400" b="0" i="1" dirty="0" smtClean="0">
                              <a:latin typeface="Cambria Math" panose="02040503050406030204" pitchFamily="18" charset="0"/>
                            </a:rPr>
                            <m:t>𝑐</m:t>
                          </m:r>
                          <m:r>
                            <a:rPr lang="en-AU" sz="2400" i="1" dirty="0">
                              <a:latin typeface="Cambria Math" panose="02040503050406030204" pitchFamily="18" charset="0"/>
                            </a:rPr>
                            <m:t>−</m:t>
                          </m:r>
                          <m:r>
                            <a:rPr lang="en-AU" sz="2400" b="0" i="1" dirty="0" smtClean="0">
                              <a:latin typeface="Cambria Math" panose="02040503050406030204" pitchFamily="18" charset="0"/>
                            </a:rPr>
                            <m:t>0.65</m:t>
                          </m:r>
                          <m:r>
                            <a:rPr lang="en-AU" sz="2400" b="0" i="1" dirty="0" smtClean="0">
                              <a:latin typeface="Cambria Math" panose="02040503050406030204" pitchFamily="18" charset="0"/>
                            </a:rPr>
                            <m:t>𝑐</m:t>
                          </m:r>
                        </m:num>
                        <m:den>
                          <m:r>
                            <a:rPr lang="en-AU" sz="2400" i="1" dirty="0">
                              <a:latin typeface="Cambria Math" panose="02040503050406030204" pitchFamily="18" charset="0"/>
                            </a:rPr>
                            <m:t>1−</m:t>
                          </m:r>
                          <m:f>
                            <m:fPr>
                              <m:ctrlPr>
                                <a:rPr lang="en-AU" sz="2400" i="1" dirty="0">
                                  <a:latin typeface="Cambria Math" panose="02040503050406030204" pitchFamily="18" charset="0"/>
                                </a:rPr>
                              </m:ctrlPr>
                            </m:fPr>
                            <m:num>
                              <m:r>
                                <a:rPr lang="en-AU" sz="2400" b="0" i="1" dirty="0" smtClean="0">
                                  <a:latin typeface="Cambria Math" panose="02040503050406030204" pitchFamily="18" charset="0"/>
                                </a:rPr>
                                <m:t>(</m:t>
                              </m:r>
                              <m:r>
                                <a:rPr lang="en-US" sz="2400" b="0" i="1" dirty="0" smtClean="0">
                                  <a:latin typeface="Cambria Math" panose="02040503050406030204" pitchFamily="18" charset="0"/>
                                </a:rPr>
                                <m:t>−</m:t>
                              </m:r>
                              <m:r>
                                <a:rPr lang="en-AU" sz="2400" b="0" i="1" dirty="0" smtClean="0">
                                  <a:latin typeface="Cambria Math" panose="02040503050406030204" pitchFamily="18" charset="0"/>
                                </a:rPr>
                                <m:t>0.6</m:t>
                              </m:r>
                              <m:r>
                                <a:rPr lang="en-US" sz="2400" b="0" i="1" dirty="0" smtClean="0">
                                  <a:latin typeface="Cambria Math" panose="02040503050406030204" pitchFamily="18" charset="0"/>
                                </a:rPr>
                                <m:t>0</m:t>
                              </m:r>
                              <m:r>
                                <a:rPr lang="en-AU" sz="2400" b="0" i="1" dirty="0" smtClean="0">
                                  <a:latin typeface="Cambria Math" panose="02040503050406030204" pitchFamily="18" charset="0"/>
                                </a:rPr>
                                <m:t>𝑐</m:t>
                              </m:r>
                              <m:r>
                                <a:rPr lang="en-AU" sz="2400" b="0" i="1" dirty="0" smtClean="0">
                                  <a:latin typeface="Cambria Math" panose="02040503050406030204" pitchFamily="18" charset="0"/>
                                </a:rPr>
                                <m:t>)(0.65</m:t>
                              </m:r>
                              <m:r>
                                <a:rPr lang="en-AU" sz="2400" b="0" i="1" dirty="0" smtClean="0">
                                  <a:latin typeface="Cambria Math" panose="02040503050406030204" pitchFamily="18" charset="0"/>
                                </a:rPr>
                                <m:t>𝑐</m:t>
                              </m:r>
                              <m:r>
                                <a:rPr lang="en-AU" sz="2400" b="0" i="1" dirty="0" smtClean="0">
                                  <a:latin typeface="Cambria Math" panose="02040503050406030204" pitchFamily="18" charset="0"/>
                                </a:rPr>
                                <m:t>)</m:t>
                              </m:r>
                            </m:num>
                            <m:den>
                              <m:sSup>
                                <m:sSupPr>
                                  <m:ctrlPr>
                                    <a:rPr lang="en-AU" sz="2400" i="1" dirty="0">
                                      <a:latin typeface="Cambria Math" panose="02040503050406030204" pitchFamily="18" charset="0"/>
                                    </a:rPr>
                                  </m:ctrlPr>
                                </m:sSupPr>
                                <m:e>
                                  <m:r>
                                    <a:rPr lang="en-AU" sz="2400" i="1" dirty="0">
                                      <a:latin typeface="Cambria Math" panose="02040503050406030204" pitchFamily="18" charset="0"/>
                                    </a:rPr>
                                    <m:t>𝑐</m:t>
                                  </m:r>
                                </m:e>
                                <m:sup>
                                  <m:r>
                                    <a:rPr lang="en-AU" sz="2400" i="1" dirty="0">
                                      <a:latin typeface="Cambria Math" panose="02040503050406030204" pitchFamily="18" charset="0"/>
                                    </a:rPr>
                                    <m:t>2</m:t>
                                  </m:r>
                                </m:sup>
                              </m:sSup>
                            </m:den>
                          </m:f>
                        </m:den>
                      </m:f>
                      <m:r>
                        <a:rPr lang="en-AU" sz="2400" b="0" i="1" dirty="0" smtClean="0">
                          <a:latin typeface="Cambria Math" panose="02040503050406030204" pitchFamily="18" charset="0"/>
                        </a:rPr>
                        <m:t>=</m:t>
                      </m:r>
                      <m:f>
                        <m:fPr>
                          <m:ctrlPr>
                            <a:rPr lang="en-AU" sz="2400" i="1" dirty="0">
                              <a:latin typeface="Cambria Math" panose="02040503050406030204" pitchFamily="18" charset="0"/>
                            </a:rPr>
                          </m:ctrlPr>
                        </m:fPr>
                        <m:num>
                          <m:r>
                            <a:rPr lang="en-AU" sz="2400" i="1" dirty="0">
                              <a:latin typeface="Cambria Math" panose="02040503050406030204" pitchFamily="18" charset="0"/>
                            </a:rPr>
                            <m:t>−</m:t>
                          </m:r>
                          <m:r>
                            <a:rPr lang="en-US" sz="2400" b="0" i="1" dirty="0" smtClean="0">
                              <a:latin typeface="Cambria Math" panose="02040503050406030204" pitchFamily="18" charset="0"/>
                            </a:rPr>
                            <m:t>1.25</m:t>
                          </m:r>
                          <m:r>
                            <a:rPr lang="en-AU" sz="2400" i="1" dirty="0">
                              <a:latin typeface="Cambria Math" panose="02040503050406030204" pitchFamily="18" charset="0"/>
                            </a:rPr>
                            <m:t>𝑐</m:t>
                          </m:r>
                        </m:num>
                        <m:den>
                          <m:r>
                            <a:rPr lang="en-AU" sz="2400" i="1" dirty="0">
                              <a:latin typeface="Cambria Math" panose="02040503050406030204" pitchFamily="18" charset="0"/>
                            </a:rPr>
                            <m:t>1</m:t>
                          </m:r>
                          <m:r>
                            <a:rPr lang="en-US" sz="2400" b="0" i="1" dirty="0" smtClean="0">
                              <a:latin typeface="Cambria Math" panose="02040503050406030204" pitchFamily="18" charset="0"/>
                            </a:rPr>
                            <m:t>.39</m:t>
                          </m:r>
                        </m:den>
                      </m:f>
                      <m:r>
                        <a:rPr lang="en-US" sz="2400" b="0" i="1" dirty="0" smtClean="0">
                          <a:latin typeface="Cambria Math" panose="02040503050406030204" pitchFamily="18" charset="0"/>
                        </a:rPr>
                        <m:t>=</m:t>
                      </m:r>
                      <m:r>
                        <a:rPr lang="en-AU" sz="2400" b="0" i="1" dirty="0" smtClean="0">
                          <a:latin typeface="Cambria Math" panose="02040503050406030204" pitchFamily="18" charset="0"/>
                        </a:rPr>
                        <m:t>−0.</m:t>
                      </m:r>
                      <m:r>
                        <a:rPr lang="en-US" sz="2400" b="0" i="1" dirty="0" smtClean="0">
                          <a:latin typeface="Cambria Math" panose="02040503050406030204" pitchFamily="18" charset="0"/>
                        </a:rPr>
                        <m:t>899</m:t>
                      </m:r>
                      <m:r>
                        <a:rPr lang="en-AU" sz="2400" b="0" i="1" dirty="0" smtClean="0">
                          <a:latin typeface="Cambria Math" panose="02040503050406030204" pitchFamily="18" charset="0"/>
                        </a:rPr>
                        <m:t>𝑐</m:t>
                      </m:r>
                    </m:oMath>
                  </m:oMathPara>
                </a14:m>
                <a:endParaRPr lang="en-AU" sz="2400" dirty="0"/>
              </a:p>
              <a:p>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𝑢</m:t>
                          </m:r>
                        </m:e>
                        <m:sup>
                          <m:r>
                            <a:rPr lang="en-AU" sz="2400" b="0" i="1" smtClean="0">
                              <a:latin typeface="Cambria Math" panose="02040503050406030204" pitchFamily="18" charset="0"/>
                            </a:rPr>
                            <m:t>′</m:t>
                          </m:r>
                        </m:sup>
                      </m:sSup>
                      <m:r>
                        <a:rPr lang="en-AU" sz="2400" b="0" i="1" smtClean="0">
                          <a:latin typeface="Cambria Math" panose="02040503050406030204" pitchFamily="18" charset="0"/>
                        </a:rPr>
                        <m:t>=2.7</m:t>
                      </m:r>
                      <m:r>
                        <a:rPr lang="en-US" sz="2400" b="0" i="1" smtClean="0">
                          <a:latin typeface="Cambria Math" panose="02040503050406030204" pitchFamily="18" charset="0"/>
                        </a:rPr>
                        <m:t>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𝑡𝑜𝑤𝑎𝑟𝑑𝑠</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𝑡h𝑒</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𝑤𝑖𝑛𝑔</m:t>
                      </m:r>
                    </m:oMath>
                  </m:oMathPara>
                </a14:m>
                <a:endParaRPr lang="en-AU" sz="2400" dirty="0"/>
              </a:p>
            </p:txBody>
          </p:sp>
        </mc:Choice>
        <mc:Fallback>
          <p:sp>
            <p:nvSpPr>
              <p:cNvPr id="22" name="TextBox 21">
                <a:extLst>
                  <a:ext uri="{FF2B5EF4-FFF2-40B4-BE49-F238E27FC236}">
                    <a16:creationId xmlns:a16="http://schemas.microsoft.com/office/drawing/2014/main" id="{E5CF01D0-81B4-4FB5-B23A-0877E8EBC4CB}"/>
                  </a:ext>
                </a:extLst>
              </p:cNvPr>
              <p:cNvSpPr txBox="1">
                <a:spLocks noRot="1" noChangeAspect="1" noMove="1" noResize="1" noEditPoints="1" noAdjustHandles="1" noChangeArrowheads="1" noChangeShapeType="1" noTextEdit="1"/>
              </p:cNvSpPr>
              <p:nvPr/>
            </p:nvSpPr>
            <p:spPr>
              <a:xfrm>
                <a:off x="910677" y="4703269"/>
                <a:ext cx="8140823" cy="1867371"/>
              </a:xfrm>
              <a:prstGeom prst="rect">
                <a:avLst/>
              </a:prstGeom>
              <a:blipFill>
                <a:blip r:embed="rId5"/>
                <a:stretch>
                  <a:fillRect l="-1123" t="-2614" b="-3595"/>
                </a:stretch>
              </a:blipFill>
            </p:spPr>
            <p:txBody>
              <a:bodyPr/>
              <a:lstStyle/>
              <a:p>
                <a:r>
                  <a:rPr lang="en-AU">
                    <a:noFill/>
                  </a:rPr>
                  <a:t> </a:t>
                </a:r>
              </a:p>
            </p:txBody>
          </p:sp>
        </mc:Fallback>
      </mc:AlternateContent>
    </p:spTree>
    <p:extLst>
      <p:ext uri="{BB962C8B-B14F-4D97-AF65-F5344CB8AC3E}">
        <p14:creationId xmlns:p14="http://schemas.microsoft.com/office/powerpoint/2010/main" val="1446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AE6E21-ECD2-41DD-9720-F963030BE0B9}"/>
              </a:ext>
            </a:extLst>
          </p:cNvPr>
          <p:cNvSpPr>
            <a:spLocks noGrp="1"/>
          </p:cNvSpPr>
          <p:nvPr>
            <p:ph idx="1"/>
          </p:nvPr>
        </p:nvSpPr>
        <p:spPr>
          <a:xfrm>
            <a:off x="1208275" y="96184"/>
            <a:ext cx="7704667" cy="3332816"/>
          </a:xfrm>
        </p:spPr>
        <p:txBody>
          <a:bodyPr>
            <a:normAutofit/>
          </a:bodyPr>
          <a:lstStyle/>
          <a:p>
            <a:pPr marL="0" indent="0">
              <a:buNone/>
            </a:pPr>
            <a:r>
              <a:rPr lang="en-AU" sz="2400" dirty="0"/>
              <a:t>Question: Two spaceships leave Earth in opposite directions, spaceship 1 with a speed of 0.50 c and spaceship 2 with a speed of 0.70 c with respect to Earth.</a:t>
            </a:r>
          </a:p>
          <a:p>
            <a:pPr marL="457200" indent="-457200">
              <a:buAutoNum type="alphaLcParenR"/>
            </a:pPr>
            <a:r>
              <a:rPr lang="en-AU" sz="2400" dirty="0"/>
              <a:t>What is the velocity of spaceship 1 relative to spaceship 2?</a:t>
            </a:r>
          </a:p>
          <a:p>
            <a:pPr marL="457200" indent="-457200">
              <a:buAutoNum type="alphaLcParenR"/>
            </a:pPr>
            <a:r>
              <a:rPr lang="en-AU" sz="2400" dirty="0"/>
              <a:t>What is the velocity of spaceship 2 relative to spaceship 1?</a:t>
            </a:r>
          </a:p>
          <a:p>
            <a:pPr marL="0" indent="0">
              <a:buNone/>
            </a:pPr>
            <a:endParaRPr lang="en-AU" sz="2400"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0BE64F6-867D-4E3D-BDF3-05250FD2EE0D}"/>
                  </a:ext>
                </a:extLst>
              </p:cNvPr>
              <p:cNvSpPr txBox="1"/>
              <p:nvPr/>
            </p:nvSpPr>
            <p:spPr>
              <a:xfrm>
                <a:off x="941369" y="2945955"/>
                <a:ext cx="8238478" cy="3728008"/>
              </a:xfrm>
              <a:prstGeom prst="rect">
                <a:avLst/>
              </a:prstGeom>
              <a:noFill/>
            </p:spPr>
            <p:txBody>
              <a:bodyPr wrap="square" rtlCol="0">
                <a:spAutoFit/>
              </a:bodyPr>
              <a:lstStyle/>
              <a:p>
                <a:r>
                  <a:rPr lang="en-AU" sz="2400" dirty="0"/>
                  <a:t>Answer:  </a:t>
                </a:r>
              </a:p>
              <a:p>
                <a:pPr marL="457200" indent="-457200">
                  <a:buAutoNum type="alphaLcParenR"/>
                </a:pPr>
                <a:r>
                  <a:rPr lang="en-AU" sz="2400" dirty="0"/>
                  <a:t>In the reference frame of the second spaceship, the Earth is moving at 0.70c, and the first spaceship is moving at 0.50c relative to the Earth.  The speed of the first spaceship relative to the second is:</a:t>
                </a:r>
              </a:p>
              <a:p>
                <a:endParaRPr lang="en-AU" sz="2400" dirty="0"/>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0.50</m:t>
                          </m:r>
                          <m:r>
                            <a:rPr lang="en-AU" sz="2400" b="0" i="1" smtClean="0">
                              <a:latin typeface="Cambria Math" panose="02040503050406030204" pitchFamily="18" charset="0"/>
                            </a:rPr>
                            <m:t>𝑐</m:t>
                          </m:r>
                          <m:r>
                            <a:rPr lang="en-AU" sz="2400" i="1">
                              <a:latin typeface="Cambria Math" panose="02040503050406030204" pitchFamily="18" charset="0"/>
                            </a:rPr>
                            <m:t>+</m:t>
                          </m:r>
                          <m:r>
                            <a:rPr lang="en-AU" sz="2400" b="0" i="1" smtClean="0">
                              <a:latin typeface="Cambria Math" panose="02040503050406030204" pitchFamily="18" charset="0"/>
                            </a:rPr>
                            <m:t>0.</m:t>
                          </m:r>
                          <m:r>
                            <a:rPr lang="en-US" sz="2400" b="0" i="1" smtClean="0">
                              <a:latin typeface="Cambria Math" panose="02040503050406030204" pitchFamily="18" charset="0"/>
                            </a:rPr>
                            <m:t>7</m:t>
                          </m:r>
                          <m:r>
                            <a:rPr lang="en-AU" sz="2400" b="0" i="1" smtClean="0">
                              <a:latin typeface="Cambria Math" panose="02040503050406030204" pitchFamily="18" charset="0"/>
                            </a:rPr>
                            <m:t>0</m:t>
                          </m:r>
                          <m:r>
                            <a:rPr lang="en-AU" sz="2400" b="0" i="1" smtClean="0">
                              <a:latin typeface="Cambria Math" panose="02040503050406030204" pitchFamily="18" charset="0"/>
                            </a:rPr>
                            <m:t>𝑐</m:t>
                          </m:r>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b="0" i="1" smtClean="0">
                                  <a:latin typeface="Cambria Math" panose="02040503050406030204" pitchFamily="18" charset="0"/>
                                </a:rPr>
                                <m:t>(0.50</m:t>
                              </m:r>
                              <m:r>
                                <a:rPr lang="en-AU" sz="2400" b="0" i="1" smtClean="0">
                                  <a:latin typeface="Cambria Math" panose="02040503050406030204" pitchFamily="18" charset="0"/>
                                </a:rPr>
                                <m:t>𝑐</m:t>
                              </m:r>
                              <m:r>
                                <a:rPr lang="en-AU" sz="2400" b="0" i="1" smtClean="0">
                                  <a:latin typeface="Cambria Math" panose="02040503050406030204" pitchFamily="18" charset="0"/>
                                </a:rPr>
                                <m:t>)(0.70</m:t>
                              </m:r>
                              <m:r>
                                <a:rPr lang="en-AU" sz="2400" b="0" i="1" smtClean="0">
                                  <a:latin typeface="Cambria Math" panose="02040503050406030204" pitchFamily="18" charset="0"/>
                                </a:rPr>
                                <m:t>𝑐</m:t>
                              </m:r>
                              <m:r>
                                <a:rPr lang="en-AU" sz="2400" b="0" i="1" smtClean="0">
                                  <a:latin typeface="Cambria Math" panose="02040503050406030204" pitchFamily="18" charset="0"/>
                                </a:rPr>
                                <m:t>)</m:t>
                              </m:r>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US" sz="2400" b="0" i="1" smtClean="0">
                              <a:latin typeface="Cambria Math" panose="02040503050406030204" pitchFamily="18" charset="0"/>
                            </a:rPr>
                            <m:t>1.20</m:t>
                          </m:r>
                          <m:r>
                            <a:rPr lang="en-AU" sz="2400" i="1">
                              <a:latin typeface="Cambria Math" panose="02040503050406030204" pitchFamily="18" charset="0"/>
                            </a:rPr>
                            <m:t>𝑐</m:t>
                          </m:r>
                        </m:num>
                        <m:den>
                          <m:r>
                            <a:rPr lang="en-US" sz="2400" b="0" i="1" smtClean="0">
                              <a:latin typeface="Cambria Math" panose="02040503050406030204" pitchFamily="18" charset="0"/>
                            </a:rPr>
                            <m:t>1</m:t>
                          </m:r>
                          <m:r>
                            <a:rPr lang="en-AU" sz="2400" i="1">
                              <a:latin typeface="Cambria Math" panose="02040503050406030204" pitchFamily="18" charset="0"/>
                            </a:rPr>
                            <m:t>+</m:t>
                          </m:r>
                          <m:r>
                            <a:rPr lang="en-US" sz="2400" b="0" i="1" smtClean="0">
                              <a:latin typeface="Cambria Math" panose="02040503050406030204" pitchFamily="18" charset="0"/>
                            </a:rPr>
                            <m:t>0.35</m:t>
                          </m:r>
                        </m:den>
                      </m:f>
                      <m:r>
                        <a:rPr lang="en-US" sz="2400" b="0" i="1" smtClean="0">
                          <a:latin typeface="Cambria Math" panose="02040503050406030204" pitchFamily="18" charset="0"/>
                        </a:rPr>
                        <m:t>=</m:t>
                      </m:r>
                      <m:r>
                        <a:rPr lang="en-AU" sz="2400" b="0" i="1" smtClean="0">
                          <a:latin typeface="Cambria Math" panose="02040503050406030204" pitchFamily="18" charset="0"/>
                        </a:rPr>
                        <m:t>0.8</m:t>
                      </m:r>
                      <m:r>
                        <a:rPr lang="en-US" sz="2400" b="0" i="1" smtClean="0">
                          <a:latin typeface="Cambria Math" panose="02040503050406030204" pitchFamily="18" charset="0"/>
                        </a:rPr>
                        <m:t>89</m:t>
                      </m:r>
                      <m:r>
                        <a:rPr lang="en-AU" sz="2400" b="0" i="1" smtClean="0">
                          <a:latin typeface="Cambria Math" panose="02040503050406030204" pitchFamily="18" charset="0"/>
                        </a:rPr>
                        <m:t>𝑐</m:t>
                      </m:r>
                    </m:oMath>
                  </m:oMathPara>
                </a14:m>
                <a:endParaRPr lang="en-AU" sz="2400" dirty="0"/>
              </a:p>
              <a:p>
                <a:endParaRPr lang="en-AU" sz="2400" dirty="0"/>
              </a:p>
            </p:txBody>
          </p:sp>
        </mc:Choice>
        <mc:Fallback>
          <p:sp>
            <p:nvSpPr>
              <p:cNvPr id="2" name="TextBox 1">
                <a:extLst>
                  <a:ext uri="{FF2B5EF4-FFF2-40B4-BE49-F238E27FC236}">
                    <a16:creationId xmlns:a16="http://schemas.microsoft.com/office/drawing/2014/main" id="{B0BE64F6-867D-4E3D-BDF3-05250FD2EE0D}"/>
                  </a:ext>
                </a:extLst>
              </p:cNvPr>
              <p:cNvSpPr txBox="1">
                <a:spLocks noRot="1" noChangeAspect="1" noMove="1" noResize="1" noEditPoints="1" noAdjustHandles="1" noChangeArrowheads="1" noChangeShapeType="1" noTextEdit="1"/>
              </p:cNvSpPr>
              <p:nvPr/>
            </p:nvSpPr>
            <p:spPr>
              <a:xfrm>
                <a:off x="941369" y="2945955"/>
                <a:ext cx="8238478" cy="3728008"/>
              </a:xfrm>
              <a:prstGeom prst="rect">
                <a:avLst/>
              </a:prstGeom>
              <a:blipFill>
                <a:blip r:embed="rId2"/>
                <a:stretch>
                  <a:fillRect l="-1183" t="-1307"/>
                </a:stretch>
              </a:blipFill>
            </p:spPr>
            <p:txBody>
              <a:bodyPr/>
              <a:lstStyle/>
              <a:p>
                <a:r>
                  <a:rPr lang="en-AU">
                    <a:noFill/>
                  </a:rPr>
                  <a:t> </a:t>
                </a:r>
              </a:p>
            </p:txBody>
          </p:sp>
        </mc:Fallback>
      </mc:AlternateContent>
    </p:spTree>
    <p:extLst>
      <p:ext uri="{BB962C8B-B14F-4D97-AF65-F5344CB8AC3E}">
        <p14:creationId xmlns:p14="http://schemas.microsoft.com/office/powerpoint/2010/main" val="210338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AE6E21-ECD2-41DD-9720-F963030BE0B9}"/>
              </a:ext>
            </a:extLst>
          </p:cNvPr>
          <p:cNvSpPr>
            <a:spLocks noGrp="1"/>
          </p:cNvSpPr>
          <p:nvPr>
            <p:ph idx="1"/>
          </p:nvPr>
        </p:nvSpPr>
        <p:spPr>
          <a:xfrm>
            <a:off x="1293426" y="96184"/>
            <a:ext cx="7704667" cy="3332816"/>
          </a:xfrm>
        </p:spPr>
        <p:txBody>
          <a:bodyPr>
            <a:normAutofit/>
          </a:bodyPr>
          <a:lstStyle/>
          <a:p>
            <a:pPr marL="0" indent="0">
              <a:buNone/>
            </a:pPr>
            <a:r>
              <a:rPr lang="en-AU" sz="2400" dirty="0"/>
              <a:t>Question: Two spaceships leave Earth in opposite directions, each with a speed of 0.50 c with respect to Earth.</a:t>
            </a:r>
          </a:p>
          <a:p>
            <a:pPr marL="457200" indent="-457200">
              <a:buAutoNum type="alphaLcParenR"/>
            </a:pPr>
            <a:r>
              <a:rPr lang="en-AU" sz="2400" dirty="0"/>
              <a:t>What is the velocity of spaceship 1 relative to spaceship 2?</a:t>
            </a:r>
          </a:p>
          <a:p>
            <a:pPr marL="457200" indent="-457200">
              <a:buAutoNum type="alphaLcParenR"/>
            </a:pPr>
            <a:r>
              <a:rPr lang="en-AU" sz="2400" dirty="0"/>
              <a:t>What is the velocity of spaceship 2 relative to spaceship 1?</a:t>
            </a:r>
          </a:p>
          <a:p>
            <a:pPr marL="0" indent="0">
              <a:buNone/>
            </a:pPr>
            <a:endParaRPr lang="en-AU" sz="2400"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0BE64F6-867D-4E3D-BDF3-05250FD2EE0D}"/>
                  </a:ext>
                </a:extLst>
              </p:cNvPr>
              <p:cNvSpPr txBox="1"/>
              <p:nvPr/>
            </p:nvSpPr>
            <p:spPr>
              <a:xfrm>
                <a:off x="1172283" y="2911074"/>
                <a:ext cx="8327255" cy="4466672"/>
              </a:xfrm>
              <a:prstGeom prst="rect">
                <a:avLst/>
              </a:prstGeom>
              <a:noFill/>
            </p:spPr>
            <p:txBody>
              <a:bodyPr wrap="square" rtlCol="0">
                <a:spAutoFit/>
              </a:bodyPr>
              <a:lstStyle/>
              <a:p>
                <a:r>
                  <a:rPr lang="en-AU" sz="2400" dirty="0"/>
                  <a:t>Answer:  </a:t>
                </a:r>
              </a:p>
              <a:p>
                <a:pPr marL="457200" indent="-457200">
                  <a:buAutoNum type="alphaLcParenR" startAt="2"/>
                </a:pPr>
                <a:r>
                  <a:rPr lang="en-AU" sz="2400" dirty="0"/>
                  <a:t>In the reference frame of the first spaceship, the Earth is moving at -0.50c, and the second spaceship is moving at </a:t>
                </a:r>
              </a:p>
              <a:p>
                <a:r>
                  <a:rPr lang="en-AU" sz="2400" dirty="0"/>
                  <a:t>      -0.50c relative to the Earth.  So the speed of the second                             	spaceship relative to the first is:</a:t>
                </a:r>
              </a:p>
              <a:p>
                <a:endParaRPr lang="en-AU" sz="2400" dirty="0"/>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𝑢</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i="1">
                              <a:latin typeface="Cambria Math" panose="02040503050406030204" pitchFamily="18" charset="0"/>
                            </a:rPr>
                            <m:t>𝑣</m:t>
                          </m:r>
                          <m:r>
                            <a:rPr lang="en-AU" sz="2400" i="1">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𝑣</m:t>
                              </m:r>
                              <m:sSup>
                                <m:sSupPr>
                                  <m:ctrlPr>
                                    <a:rPr lang="en-AU" sz="2400" i="1">
                                      <a:latin typeface="Cambria Math" panose="02040503050406030204" pitchFamily="18" charset="0"/>
                                    </a:rPr>
                                  </m:ctrlPr>
                                </m:sSupPr>
                                <m:e>
                                  <m:r>
                                    <a:rPr lang="en-AU" sz="2400" i="1">
                                      <a:latin typeface="Cambria Math" panose="02040503050406030204" pitchFamily="18" charset="0"/>
                                    </a:rPr>
                                    <m:t>𝑢</m:t>
                                  </m:r>
                                </m:e>
                                <m:sup>
                                  <m:r>
                                    <a:rPr lang="en-AU" sz="2400" i="1">
                                      <a:latin typeface="Cambria Math" panose="02040503050406030204" pitchFamily="18" charset="0"/>
                                    </a:rPr>
                                    <m:t>′</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m:t>
                          </m:r>
                          <m:r>
                            <a:rPr lang="en-AU" sz="2400" i="1">
                              <a:latin typeface="Cambria Math" panose="02040503050406030204" pitchFamily="18" charset="0"/>
                            </a:rPr>
                            <m:t>0.50</m:t>
                          </m:r>
                          <m:r>
                            <a:rPr lang="en-AU" sz="2400" b="0" i="1" smtClean="0">
                              <a:latin typeface="Cambria Math" panose="02040503050406030204" pitchFamily="18" charset="0"/>
                            </a:rPr>
                            <m:t>𝑐</m:t>
                          </m:r>
                          <m:r>
                            <a:rPr lang="en-AU" sz="2400" i="1">
                              <a:latin typeface="Cambria Math" panose="02040503050406030204" pitchFamily="18" charset="0"/>
                            </a:rPr>
                            <m:t>+</m:t>
                          </m:r>
                          <m:r>
                            <a:rPr lang="en-AU" sz="2400" b="0" i="1" smtClean="0">
                              <a:latin typeface="Cambria Math" panose="02040503050406030204" pitchFamily="18" charset="0"/>
                            </a:rPr>
                            <m:t>(−</m:t>
                          </m:r>
                          <m:r>
                            <a:rPr lang="en-AU" sz="2400" i="1">
                              <a:latin typeface="Cambria Math" panose="02040503050406030204" pitchFamily="18" charset="0"/>
                            </a:rPr>
                            <m:t>0.</m:t>
                          </m:r>
                          <m:r>
                            <a:rPr lang="en-US" sz="2400" b="0" i="1" smtClean="0">
                              <a:latin typeface="Cambria Math" panose="02040503050406030204" pitchFamily="18" charset="0"/>
                            </a:rPr>
                            <m:t>7</m:t>
                          </m:r>
                          <m:r>
                            <a:rPr lang="en-AU" sz="2400" i="1">
                              <a:latin typeface="Cambria Math" panose="02040503050406030204" pitchFamily="18" charset="0"/>
                            </a:rPr>
                            <m:t>0</m:t>
                          </m:r>
                          <m:r>
                            <a:rPr lang="en-AU" sz="2400" b="0" i="1" smtClean="0">
                              <a:latin typeface="Cambria Math" panose="02040503050406030204" pitchFamily="18" charset="0"/>
                            </a:rPr>
                            <m:t>𝑐</m:t>
                          </m:r>
                          <m:r>
                            <a:rPr lang="en-AU" sz="2400" b="0" i="1" smtClean="0">
                              <a:latin typeface="Cambria Math" panose="02040503050406030204" pitchFamily="18" charset="0"/>
                            </a:rPr>
                            <m:t>)</m:t>
                          </m:r>
                        </m:num>
                        <m:den>
                          <m:r>
                            <a:rPr lang="en-AU" sz="2400" i="1">
                              <a:latin typeface="Cambria Math" panose="02040503050406030204" pitchFamily="18" charset="0"/>
                            </a:rPr>
                            <m:t>1+</m:t>
                          </m:r>
                          <m:f>
                            <m:fPr>
                              <m:ctrlPr>
                                <a:rPr lang="en-AU" sz="2400" i="1">
                                  <a:latin typeface="Cambria Math" panose="02040503050406030204" pitchFamily="18" charset="0"/>
                                </a:rPr>
                              </m:ctrlPr>
                            </m:fPr>
                            <m:num>
                              <m:r>
                                <a:rPr lang="en-AU" sz="2400" i="1">
                                  <a:latin typeface="Cambria Math" panose="02040503050406030204" pitchFamily="18" charset="0"/>
                                </a:rPr>
                                <m:t>(</m:t>
                              </m:r>
                              <m:r>
                                <a:rPr lang="en-AU" sz="2400" b="0" i="1" smtClean="0">
                                  <a:latin typeface="Cambria Math" panose="02040503050406030204" pitchFamily="18" charset="0"/>
                                </a:rPr>
                                <m:t>−</m:t>
                              </m:r>
                              <m:r>
                                <a:rPr lang="en-AU" sz="2400" i="1">
                                  <a:latin typeface="Cambria Math" panose="02040503050406030204" pitchFamily="18" charset="0"/>
                                </a:rPr>
                                <m:t>0.50</m:t>
                              </m:r>
                              <m:r>
                                <a:rPr lang="en-AU" sz="2400" i="1">
                                  <a:latin typeface="Cambria Math" panose="02040503050406030204" pitchFamily="18" charset="0"/>
                                </a:rPr>
                                <m:t>𝑐</m:t>
                              </m:r>
                              <m:r>
                                <a:rPr lang="en-AU" sz="2400" i="1">
                                  <a:latin typeface="Cambria Math" panose="02040503050406030204" pitchFamily="18" charset="0"/>
                                </a:rPr>
                                <m:t>)(−0.70</m:t>
                              </m:r>
                              <m:r>
                                <a:rPr lang="en-AU" sz="2400" i="1">
                                  <a:latin typeface="Cambria Math" panose="02040503050406030204" pitchFamily="18" charset="0"/>
                                </a:rPr>
                                <m:t>𝑐</m:t>
                              </m:r>
                              <m:r>
                                <a:rPr lang="en-AU" sz="2400" i="1">
                                  <a:latin typeface="Cambria Math" panose="02040503050406030204" pitchFamily="18" charset="0"/>
                                </a:rPr>
                                <m:t>)</m:t>
                              </m:r>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den>
                      </m:f>
                      <m:r>
                        <a:rPr lang="en-AU" sz="2400" i="1">
                          <a:latin typeface="Cambria Math" panose="02040503050406030204" pitchFamily="18" charset="0"/>
                        </a:rPr>
                        <m:t>=</m:t>
                      </m:r>
                      <m:r>
                        <a:rPr lang="en-AU" sz="2400" b="0" i="1" smtClean="0">
                          <a:latin typeface="Cambria Math" panose="02040503050406030204" pitchFamily="18" charset="0"/>
                        </a:rPr>
                        <m:t>−</m:t>
                      </m:r>
                      <m:r>
                        <a:rPr lang="en-AU" sz="2400" i="1">
                          <a:latin typeface="Cambria Math" panose="02040503050406030204" pitchFamily="18" charset="0"/>
                        </a:rPr>
                        <m:t>0.8</m:t>
                      </m:r>
                      <m:r>
                        <a:rPr lang="en-US" sz="2400" b="0" i="1" smtClean="0">
                          <a:latin typeface="Cambria Math" panose="02040503050406030204" pitchFamily="18" charset="0"/>
                        </a:rPr>
                        <m:t>89</m:t>
                      </m:r>
                      <m:r>
                        <a:rPr lang="en-AU" sz="2400" i="1">
                          <a:latin typeface="Cambria Math" panose="02040503050406030204" pitchFamily="18" charset="0"/>
                        </a:rPr>
                        <m:t>𝑐</m:t>
                      </m:r>
                    </m:oMath>
                  </m:oMathPara>
                </a14:m>
                <a:endParaRPr lang="en-AU" sz="2400" dirty="0"/>
              </a:p>
              <a:p>
                <a:endParaRPr lang="en-AU" sz="2400" dirty="0"/>
              </a:p>
              <a:p>
                <a:endParaRPr lang="en-AU" sz="2400" dirty="0"/>
              </a:p>
              <a:p>
                <a:endParaRPr lang="en-AU" sz="2400" dirty="0"/>
              </a:p>
            </p:txBody>
          </p:sp>
        </mc:Choice>
        <mc:Fallback>
          <p:sp>
            <p:nvSpPr>
              <p:cNvPr id="2" name="TextBox 1">
                <a:extLst>
                  <a:ext uri="{FF2B5EF4-FFF2-40B4-BE49-F238E27FC236}">
                    <a16:creationId xmlns:a16="http://schemas.microsoft.com/office/drawing/2014/main" id="{B0BE64F6-867D-4E3D-BDF3-05250FD2EE0D}"/>
                  </a:ext>
                </a:extLst>
              </p:cNvPr>
              <p:cNvSpPr txBox="1">
                <a:spLocks noRot="1" noChangeAspect="1" noMove="1" noResize="1" noEditPoints="1" noAdjustHandles="1" noChangeArrowheads="1" noChangeShapeType="1" noTextEdit="1"/>
              </p:cNvSpPr>
              <p:nvPr/>
            </p:nvSpPr>
            <p:spPr>
              <a:xfrm>
                <a:off x="1172283" y="2911074"/>
                <a:ext cx="8327255" cy="4466672"/>
              </a:xfrm>
              <a:prstGeom prst="rect">
                <a:avLst/>
              </a:prstGeom>
              <a:blipFill>
                <a:blip r:embed="rId2"/>
                <a:stretch>
                  <a:fillRect l="-1171" t="-1093" r="-11713"/>
                </a:stretch>
              </a:blipFill>
            </p:spPr>
            <p:txBody>
              <a:bodyPr/>
              <a:lstStyle/>
              <a:p>
                <a:r>
                  <a:rPr lang="en-AU">
                    <a:noFill/>
                  </a:rPr>
                  <a:t> </a:t>
                </a:r>
              </a:p>
            </p:txBody>
          </p:sp>
        </mc:Fallback>
      </mc:AlternateContent>
    </p:spTree>
    <p:extLst>
      <p:ext uri="{BB962C8B-B14F-4D97-AF65-F5344CB8AC3E}">
        <p14:creationId xmlns:p14="http://schemas.microsoft.com/office/powerpoint/2010/main" val="41337478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1_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TM10001105[[fn=Crop]]</Template>
  <TotalTime>16281</TotalTime>
  <Words>983</Words>
  <Application>Microsoft Office PowerPoint</Application>
  <PresentationFormat>On-screen Show (4:3)</PresentationFormat>
  <Paragraphs>91</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Cambria Math</vt:lpstr>
      <vt:lpstr>Corbel</vt:lpstr>
      <vt:lpstr>Parallax</vt:lpstr>
      <vt:lpstr>1_Parallax</vt:lpstr>
      <vt:lpstr>Relativistic  Velocity</vt:lpstr>
      <vt:lpstr>Key objectives</vt:lpstr>
      <vt:lpstr>Equations</vt:lpstr>
      <vt:lpstr>Text References </vt:lpstr>
      <vt:lpstr>Relativistic addition of velocities</vt:lpstr>
      <vt:lpstr>Assigning u, u’ and v</vt:lpstr>
      <vt:lpstr>PowerPoint Presentation</vt:lpstr>
      <vt:lpstr>PowerPoint Presentation</vt:lpstr>
      <vt:lpstr>PowerPoint Presentation</vt:lpstr>
      <vt:lpstr>PowerPoint Presentation</vt:lpstr>
      <vt:lpstr>Opposite directions…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Special relativity</dc:title>
  <dc:creator>Leah Anthony</dc:creator>
  <cp:lastModifiedBy>COOPER Sarina [Southern River College]</cp:lastModifiedBy>
  <cp:revision>83</cp:revision>
  <dcterms:created xsi:type="dcterms:W3CDTF">2017-07-09T13:45:12Z</dcterms:created>
  <dcterms:modified xsi:type="dcterms:W3CDTF">2024-08-18T15:44:36Z</dcterms:modified>
</cp:coreProperties>
</file>