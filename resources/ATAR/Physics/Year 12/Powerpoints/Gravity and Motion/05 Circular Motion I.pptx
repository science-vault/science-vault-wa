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232" r:id="rId4"/>
    <p:sldMasterId id="2147484274" r:id="rId5"/>
  </p:sldMasterIdLst>
  <p:notesMasterIdLst>
    <p:notesMasterId r:id="rId22"/>
  </p:notesMasterIdLst>
  <p:handoutMasterIdLst>
    <p:handoutMasterId r:id="rId23"/>
  </p:handoutMasterIdLst>
  <p:sldIdLst>
    <p:sldId id="416" r:id="rId6"/>
    <p:sldId id="462" r:id="rId7"/>
    <p:sldId id="490" r:id="rId8"/>
    <p:sldId id="493" r:id="rId9"/>
    <p:sldId id="495" r:id="rId10"/>
    <p:sldId id="494" r:id="rId11"/>
    <p:sldId id="496" r:id="rId12"/>
    <p:sldId id="497" r:id="rId13"/>
    <p:sldId id="498" r:id="rId14"/>
    <p:sldId id="499" r:id="rId15"/>
    <p:sldId id="502" r:id="rId16"/>
    <p:sldId id="500" r:id="rId17"/>
    <p:sldId id="501" r:id="rId18"/>
    <p:sldId id="520" r:id="rId19"/>
    <p:sldId id="508" r:id="rId20"/>
    <p:sldId id="509"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helle Buss" initials="MB"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55A11"/>
    <a:srgbClr val="6E407C"/>
    <a:srgbClr val="159B4B"/>
    <a:srgbClr val="FBCA58"/>
    <a:srgbClr val="2E546D"/>
    <a:srgbClr val="DEEBF7"/>
    <a:srgbClr val="692B7D"/>
    <a:srgbClr val="472A50"/>
    <a:srgbClr val="2F556E"/>
    <a:srgbClr val="A672B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750" autoAdjust="0"/>
    <p:restoredTop sz="85588" autoAdjust="0"/>
  </p:normalViewPr>
  <p:slideViewPr>
    <p:cSldViewPr snapToGrid="0" snapToObjects="1">
      <p:cViewPr varScale="1">
        <p:scale>
          <a:sx n="94" d="100"/>
          <a:sy n="94" d="100"/>
        </p:scale>
        <p:origin x="198" y="78"/>
      </p:cViewPr>
      <p:guideLst>
        <p:guide orient="horz" pos="2160"/>
        <p:guide pos="3840"/>
      </p:guideLst>
    </p:cSldViewPr>
  </p:slid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77" d="100"/>
          <a:sy n="77" d="100"/>
        </p:scale>
        <p:origin x="2592" y="20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commentAuthors" Target="commentAuthor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notesMaster" Target="notesMasters/notesMaster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78E4B7C-96ED-E449-9693-B655C4671FD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4" name="Footer Placeholder 3">
            <a:extLst>
              <a:ext uri="{FF2B5EF4-FFF2-40B4-BE49-F238E27FC236}">
                <a16:creationId xmlns:a16="http://schemas.microsoft.com/office/drawing/2014/main" id="{28D809C4-E54C-A54E-B9F4-56C375E0D8D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53AD932-3578-6E4B-810C-4CF7533A983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DA9B4CA-DA29-0849-8519-4B81F4CE08AD}" type="slidenum">
              <a:rPr lang="en-US" smtClean="0"/>
              <a:t>‹#›</a:t>
            </a:fld>
            <a:endParaRPr lang="en-US"/>
          </a:p>
        </p:txBody>
      </p:sp>
      <p:sp>
        <p:nvSpPr>
          <p:cNvPr id="6" name="Date Placeholder 5">
            <a:extLst>
              <a:ext uri="{FF2B5EF4-FFF2-40B4-BE49-F238E27FC236}">
                <a16:creationId xmlns:a16="http://schemas.microsoft.com/office/drawing/2014/main" id="{27115A18-6E6E-F748-9363-1DB667F2522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A89F1C8-9A67-204B-8DB6-6C2E5B2C92D6}" type="datetimeFigureOut">
              <a:rPr lang="en-US" smtClean="0"/>
              <a:t>3/2/2023</a:t>
            </a:fld>
            <a:endParaRPr lang="en-US"/>
          </a:p>
        </p:txBody>
      </p:sp>
    </p:spTree>
    <p:extLst>
      <p:ext uri="{BB962C8B-B14F-4D97-AF65-F5344CB8AC3E}">
        <p14:creationId xmlns:p14="http://schemas.microsoft.com/office/powerpoint/2010/main" val="16315313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AAB6C6-360D-448E-B12B-FCD285160A81}" type="datetimeFigureOut">
              <a:rPr lang="en-AU" smtClean="0"/>
              <a:t>2/03/2023</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B756B8-97A8-4FA1-B26A-2500BA5D4D05}" type="slidenum">
              <a:rPr lang="en-AU" smtClean="0"/>
              <a:t>‹#›</a:t>
            </a:fld>
            <a:endParaRPr lang="en-AU"/>
          </a:p>
        </p:txBody>
      </p:sp>
    </p:spTree>
    <p:extLst>
      <p:ext uri="{BB962C8B-B14F-4D97-AF65-F5344CB8AC3E}">
        <p14:creationId xmlns:p14="http://schemas.microsoft.com/office/powerpoint/2010/main" val="18664480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Time it takes to complete one lap = T = a period</a:t>
            </a:r>
          </a:p>
          <a:p>
            <a:r>
              <a:rPr lang="en-AU" b="0" dirty="0"/>
              <a:t>Distance = 2 pi r (circumference of the circle)</a:t>
            </a:r>
          </a:p>
          <a:p>
            <a:r>
              <a:rPr lang="en-AU" b="0" dirty="0"/>
              <a:t>speed = s/d  = 2</a:t>
            </a:r>
            <a:r>
              <a:rPr lang="el-GR" b="0" dirty="0"/>
              <a:t>π</a:t>
            </a:r>
            <a:r>
              <a:rPr lang="en-AU" b="0" dirty="0"/>
              <a:t>r / T</a:t>
            </a:r>
          </a:p>
        </p:txBody>
      </p:sp>
      <p:sp>
        <p:nvSpPr>
          <p:cNvPr id="4" name="Slide Number Placeholder 3"/>
          <p:cNvSpPr>
            <a:spLocks noGrp="1"/>
          </p:cNvSpPr>
          <p:nvPr>
            <p:ph type="sldNum" sz="quarter" idx="5"/>
          </p:nvPr>
        </p:nvSpPr>
        <p:spPr/>
        <p:txBody>
          <a:bodyPr/>
          <a:lstStyle/>
          <a:p>
            <a:fld id="{B5B756B8-97A8-4FA1-B26A-2500BA5D4D05}" type="slidenum">
              <a:rPr lang="en-AU" smtClean="0"/>
              <a:t>2</a:t>
            </a:fld>
            <a:endParaRPr lang="en-AU"/>
          </a:p>
        </p:txBody>
      </p:sp>
    </p:spTree>
    <p:extLst>
      <p:ext uri="{BB962C8B-B14F-4D97-AF65-F5344CB8AC3E}">
        <p14:creationId xmlns:p14="http://schemas.microsoft.com/office/powerpoint/2010/main" val="29706933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3</a:t>
            </a:fld>
            <a:endParaRPr lang="en-AU"/>
          </a:p>
        </p:txBody>
      </p:sp>
    </p:spTree>
    <p:extLst>
      <p:ext uri="{BB962C8B-B14F-4D97-AF65-F5344CB8AC3E}">
        <p14:creationId xmlns:p14="http://schemas.microsoft.com/office/powerpoint/2010/main" val="8502828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The velocity is always being pulled towards the centre. </a:t>
            </a:r>
          </a:p>
          <a:p>
            <a:r>
              <a:rPr lang="en-AU" b="0" dirty="0"/>
              <a:t>Can show with vector addition (well, subtraction). </a:t>
            </a:r>
          </a:p>
          <a:p>
            <a:r>
              <a:rPr lang="en-AU" b="0" dirty="0" err="1"/>
              <a:t>Δv</a:t>
            </a:r>
            <a:r>
              <a:rPr lang="en-AU" b="0" dirty="0"/>
              <a:t> = </a:t>
            </a:r>
            <a:r>
              <a:rPr lang="en-AU" b="0" dirty="0" err="1"/>
              <a:t>vf</a:t>
            </a:r>
            <a:r>
              <a:rPr lang="en-AU" b="0" dirty="0"/>
              <a:t> – vi = </a:t>
            </a:r>
            <a:r>
              <a:rPr lang="en-AU" b="0" dirty="0" err="1"/>
              <a:t>vf</a:t>
            </a:r>
            <a:r>
              <a:rPr lang="en-AU" b="0" dirty="0"/>
              <a:t> + (-vi)</a:t>
            </a:r>
          </a:p>
          <a:p>
            <a:r>
              <a:rPr lang="en-AU" b="0" dirty="0"/>
              <a:t>The direction of the change in velocity between point </a:t>
            </a:r>
            <a:r>
              <a:rPr lang="en-AU" b="0" dirty="0" err="1"/>
              <a:t>i</a:t>
            </a:r>
            <a:r>
              <a:rPr lang="en-AU" b="0" dirty="0"/>
              <a:t> and f = the direction of the acceleration in that period.</a:t>
            </a:r>
          </a:p>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4</a:t>
            </a:fld>
            <a:endParaRPr lang="en-AU"/>
          </a:p>
        </p:txBody>
      </p:sp>
    </p:spTree>
    <p:extLst>
      <p:ext uri="{BB962C8B-B14F-4D97-AF65-F5344CB8AC3E}">
        <p14:creationId xmlns:p14="http://schemas.microsoft.com/office/powerpoint/2010/main" val="29785439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Show how to get to the full acceleration equation</a:t>
            </a:r>
          </a:p>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5</a:t>
            </a:fld>
            <a:endParaRPr lang="en-AU"/>
          </a:p>
        </p:txBody>
      </p:sp>
    </p:spTree>
    <p:extLst>
      <p:ext uri="{BB962C8B-B14F-4D97-AF65-F5344CB8AC3E}">
        <p14:creationId xmlns:p14="http://schemas.microsoft.com/office/powerpoint/2010/main" val="27646707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6</a:t>
            </a:fld>
            <a:endParaRPr lang="en-AU"/>
          </a:p>
        </p:txBody>
      </p:sp>
    </p:spTree>
    <p:extLst>
      <p:ext uri="{BB962C8B-B14F-4D97-AF65-F5344CB8AC3E}">
        <p14:creationId xmlns:p14="http://schemas.microsoft.com/office/powerpoint/2010/main" val="40499358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7</a:t>
            </a:fld>
            <a:endParaRPr lang="en-AU"/>
          </a:p>
        </p:txBody>
      </p:sp>
    </p:spTree>
    <p:extLst>
      <p:ext uri="{BB962C8B-B14F-4D97-AF65-F5344CB8AC3E}">
        <p14:creationId xmlns:p14="http://schemas.microsoft.com/office/powerpoint/2010/main" val="27620228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The supplied force is less than the centripetal force then the object will not continue in a circular path.</a:t>
            </a:r>
          </a:p>
        </p:txBody>
      </p:sp>
      <p:sp>
        <p:nvSpPr>
          <p:cNvPr id="4" name="Slide Number Placeholder 3"/>
          <p:cNvSpPr>
            <a:spLocks noGrp="1"/>
          </p:cNvSpPr>
          <p:nvPr>
            <p:ph type="sldNum" sz="quarter" idx="5"/>
          </p:nvPr>
        </p:nvSpPr>
        <p:spPr/>
        <p:txBody>
          <a:bodyPr/>
          <a:lstStyle/>
          <a:p>
            <a:fld id="{B5B756B8-97A8-4FA1-B26A-2500BA5D4D05}" type="slidenum">
              <a:rPr lang="en-AU" smtClean="0"/>
              <a:t>8</a:t>
            </a:fld>
            <a:endParaRPr lang="en-AU"/>
          </a:p>
        </p:txBody>
      </p:sp>
    </p:spTree>
    <p:extLst>
      <p:ext uri="{BB962C8B-B14F-4D97-AF65-F5344CB8AC3E}">
        <p14:creationId xmlns:p14="http://schemas.microsoft.com/office/powerpoint/2010/main" val="319219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v = 2pi r / T = 2*pi*6.10 / 8.7 = 4.4054 = 4.41 </a:t>
            </a:r>
            <a:r>
              <a:rPr lang="en-AU" b="0" dirty="0" err="1"/>
              <a:t>ms</a:t>
            </a:r>
            <a:r>
              <a:rPr lang="en-AU" b="0" dirty="0"/>
              <a:t>^-1 tangential to the path</a:t>
            </a:r>
          </a:p>
          <a:p>
            <a:r>
              <a:rPr lang="en-AU" b="0" dirty="0"/>
              <a:t>a = v^2/r = 4.4054^2 / 6.10 = 3.182 = 3.18 </a:t>
            </a:r>
            <a:r>
              <a:rPr lang="en-AU" b="0" dirty="0" err="1"/>
              <a:t>ms</a:t>
            </a:r>
            <a:r>
              <a:rPr lang="en-AU" b="0" dirty="0"/>
              <a:t>^-2 towards the centre</a:t>
            </a:r>
          </a:p>
          <a:p>
            <a:r>
              <a:rPr lang="en-AU" b="0" dirty="0"/>
              <a:t>F = ma = 56.0 * 3.182 = 178 N</a:t>
            </a:r>
          </a:p>
          <a:p>
            <a:endParaRPr lang="en-AU" b="0" dirty="0"/>
          </a:p>
          <a:p>
            <a:r>
              <a:rPr lang="en-AU" b="0" dirty="0"/>
              <a:t>How does the frictional force change as r changes and as v changes</a:t>
            </a:r>
          </a:p>
        </p:txBody>
      </p:sp>
      <p:sp>
        <p:nvSpPr>
          <p:cNvPr id="4" name="Slide Number Placeholder 3"/>
          <p:cNvSpPr>
            <a:spLocks noGrp="1"/>
          </p:cNvSpPr>
          <p:nvPr>
            <p:ph type="sldNum" sz="quarter" idx="5"/>
          </p:nvPr>
        </p:nvSpPr>
        <p:spPr/>
        <p:txBody>
          <a:bodyPr/>
          <a:lstStyle/>
          <a:p>
            <a:fld id="{B5B756B8-97A8-4FA1-B26A-2500BA5D4D05}" type="slidenum">
              <a:rPr lang="en-AU" smtClean="0"/>
              <a:t>9</a:t>
            </a:fld>
            <a:endParaRPr lang="en-AU"/>
          </a:p>
        </p:txBody>
      </p:sp>
    </p:spTree>
    <p:extLst>
      <p:ext uri="{BB962C8B-B14F-4D97-AF65-F5344CB8AC3E}">
        <p14:creationId xmlns:p14="http://schemas.microsoft.com/office/powerpoint/2010/main" val="21158932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A = v^2/r = 20^2 / 1.6 = 250ms^-2</a:t>
            </a:r>
          </a:p>
          <a:p>
            <a:r>
              <a:rPr lang="en-AU" b="0" dirty="0"/>
              <a:t>F = ma = 7.00*250 = 1.75*10^3 N</a:t>
            </a:r>
          </a:p>
        </p:txBody>
      </p:sp>
      <p:sp>
        <p:nvSpPr>
          <p:cNvPr id="4" name="Slide Number Placeholder 3"/>
          <p:cNvSpPr>
            <a:spLocks noGrp="1"/>
          </p:cNvSpPr>
          <p:nvPr>
            <p:ph type="sldNum" sz="quarter" idx="5"/>
          </p:nvPr>
        </p:nvSpPr>
        <p:spPr/>
        <p:txBody>
          <a:bodyPr/>
          <a:lstStyle/>
          <a:p>
            <a:fld id="{B5B756B8-97A8-4FA1-B26A-2500BA5D4D05}" type="slidenum">
              <a:rPr lang="en-AU" smtClean="0"/>
              <a:t>10</a:t>
            </a:fld>
            <a:endParaRPr lang="en-AU"/>
          </a:p>
        </p:txBody>
      </p:sp>
    </p:spTree>
    <p:extLst>
      <p:ext uri="{BB962C8B-B14F-4D97-AF65-F5344CB8AC3E}">
        <p14:creationId xmlns:p14="http://schemas.microsoft.com/office/powerpoint/2010/main" val="30842282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Frequency = 1/f = 1/0.85 = 1.176s</a:t>
            </a:r>
          </a:p>
          <a:p>
            <a:r>
              <a:rPr lang="en-AU" b="0" dirty="0"/>
              <a:t>V = 2pi*r / T = 2*pi*1.5 / 1.176 = 8.014 m/s</a:t>
            </a:r>
          </a:p>
          <a:p>
            <a:pPr marL="0" marR="0" lvl="0" indent="0" algn="l" defTabSz="914400" rtl="0" eaLnBrk="1" fontAlgn="auto" latinLnBrk="0" hangingPunct="1">
              <a:lnSpc>
                <a:spcPct val="100000"/>
              </a:lnSpc>
              <a:spcBef>
                <a:spcPts val="0"/>
              </a:spcBef>
              <a:spcAft>
                <a:spcPts val="0"/>
              </a:spcAft>
              <a:buClrTx/>
              <a:buSzTx/>
              <a:buFontTx/>
              <a:buNone/>
              <a:tabLst/>
              <a:defRPr/>
            </a:pPr>
            <a:r>
              <a:rPr lang="en-AU" b="0" dirty="0"/>
              <a:t>a) F = mv^2/r = 35 * 8.014^2 / 1.5 = 1.50x10^3N towards the centre</a:t>
            </a:r>
          </a:p>
          <a:p>
            <a:pPr marL="0" marR="0" lvl="0" indent="0" algn="l" defTabSz="914400" rtl="0" eaLnBrk="1" fontAlgn="auto" latinLnBrk="0" hangingPunct="1">
              <a:lnSpc>
                <a:spcPct val="100000"/>
              </a:lnSpc>
              <a:spcBef>
                <a:spcPts val="0"/>
              </a:spcBef>
              <a:spcAft>
                <a:spcPts val="0"/>
              </a:spcAft>
              <a:buClrTx/>
              <a:buSzTx/>
              <a:buFontTx/>
              <a:buNone/>
              <a:tabLst/>
              <a:defRPr/>
            </a:pPr>
            <a:r>
              <a:rPr lang="en-AU" b="0" dirty="0"/>
              <a:t>b) Friction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AU" b="0" dirty="0"/>
              <a:t>c) As Jeremy’s velocity increases, required centripetal force increases. Friction can no supply enough the required centripetal force.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b="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AU" b="0" dirty="0"/>
          </a:p>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11</a:t>
            </a:fld>
            <a:endParaRPr lang="en-AU"/>
          </a:p>
        </p:txBody>
      </p:sp>
    </p:spTree>
    <p:extLst>
      <p:ext uri="{BB962C8B-B14F-4D97-AF65-F5344CB8AC3E}">
        <p14:creationId xmlns:p14="http://schemas.microsoft.com/office/powerpoint/2010/main" val="34824930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12</a:t>
            </a:fld>
            <a:endParaRPr lang="en-AU"/>
          </a:p>
        </p:txBody>
      </p:sp>
    </p:spTree>
    <p:extLst>
      <p:ext uri="{BB962C8B-B14F-4D97-AF65-F5344CB8AC3E}">
        <p14:creationId xmlns:p14="http://schemas.microsoft.com/office/powerpoint/2010/main" val="42597311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13</a:t>
            </a:fld>
            <a:endParaRPr lang="en-AU"/>
          </a:p>
        </p:txBody>
      </p:sp>
    </p:spTree>
    <p:extLst>
      <p:ext uri="{BB962C8B-B14F-4D97-AF65-F5344CB8AC3E}">
        <p14:creationId xmlns:p14="http://schemas.microsoft.com/office/powerpoint/2010/main" val="16184004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15</a:t>
            </a:fld>
            <a:endParaRPr lang="en-AU"/>
          </a:p>
        </p:txBody>
      </p:sp>
    </p:spTree>
    <p:extLst>
      <p:ext uri="{BB962C8B-B14F-4D97-AF65-F5344CB8AC3E}">
        <p14:creationId xmlns:p14="http://schemas.microsoft.com/office/powerpoint/2010/main" val="9680486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16</a:t>
            </a:fld>
            <a:endParaRPr lang="en-AU"/>
          </a:p>
        </p:txBody>
      </p:sp>
    </p:spTree>
    <p:extLst>
      <p:ext uri="{BB962C8B-B14F-4D97-AF65-F5344CB8AC3E}">
        <p14:creationId xmlns:p14="http://schemas.microsoft.com/office/powerpoint/2010/main" val="42328394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2.xml"/><Relationship Id="rId4" Type="http://schemas.openxmlformats.org/officeDocument/2006/relationships/image" Target="../media/image4.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2.xml"/><Relationship Id="rId4" Type="http://schemas.openxmlformats.org/officeDocument/2006/relationships/image" Target="../media/image4.jp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R) Daily Edit">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572219"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Daily Edit</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1867437" y="208655"/>
            <a:ext cx="10004958" cy="515263"/>
          </a:xfrm>
          <a:prstGeom prst="rect">
            <a:avLst/>
          </a:prstGeom>
          <a:noFill/>
          <a:ln>
            <a:noFill/>
          </a:ln>
        </p:spPr>
        <p:txBody>
          <a:bodyPr wrap="square" rtlCol="0" anchor="ctr">
            <a:normAutofit/>
          </a:bodyPr>
          <a:lstStyle/>
          <a:p>
            <a:r>
              <a:rPr lang="en-US" sz="2400" b="1" i="0" dirty="0">
                <a:solidFill>
                  <a:srgbClr val="692B7D"/>
                </a:solidFill>
                <a:latin typeface="Century Gothic" panose="020B0502020202020204" pitchFamily="34" charset="0"/>
                <a:cs typeface="Futura Medium" panose="020B0602020204020303" pitchFamily="34" charset="-79"/>
              </a:rPr>
              <a:t>Sit down and begin this task immediately.</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671043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R) Daily Edit Titl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253E48-F01A-C040-9F45-1F9C5FDF10AA}"/>
              </a:ext>
            </a:extLst>
          </p:cNvPr>
          <p:cNvSpPr/>
          <p:nvPr userDrawn="1"/>
        </p:nvSpPr>
        <p:spPr>
          <a:xfrm>
            <a:off x="295219" y="1549400"/>
            <a:ext cx="11578126" cy="2929609"/>
          </a:xfrm>
          <a:prstGeom prst="rect">
            <a:avLst/>
          </a:prstGeom>
          <a:solidFill>
            <a:srgbClr val="692B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200" b="1" i="0" dirty="0">
                <a:latin typeface="Century Gothic" panose="020B0502020202020204" pitchFamily="34" charset="0"/>
              </a:rPr>
              <a:t>SRC Core</a:t>
            </a:r>
            <a:r>
              <a:rPr lang="en-US" sz="7200" b="1" i="0" baseline="0" dirty="0">
                <a:latin typeface="Century Gothic" panose="020B0502020202020204" pitchFamily="34" charset="0"/>
              </a:rPr>
              <a:t> Standards</a:t>
            </a:r>
            <a:endParaRPr lang="en-US" sz="7200" b="1" i="0" dirty="0">
              <a:latin typeface="Century Gothic" panose="020B0502020202020204" pitchFamily="34" charset="0"/>
            </a:endParaRPr>
          </a:p>
        </p:txBody>
      </p:sp>
      <p:sp>
        <p:nvSpPr>
          <p:cNvPr id="5" name="TextBox 4">
            <a:extLst>
              <a:ext uri="{FF2B5EF4-FFF2-40B4-BE49-F238E27FC236}">
                <a16:creationId xmlns:a16="http://schemas.microsoft.com/office/drawing/2014/main" id="{3BD815F0-1745-0C4E-A5DC-70E741C78081}"/>
              </a:ext>
            </a:extLst>
          </p:cNvPr>
          <p:cNvSpPr txBox="1"/>
          <p:nvPr userDrawn="1"/>
        </p:nvSpPr>
        <p:spPr>
          <a:xfrm>
            <a:off x="295218" y="1011383"/>
            <a:ext cx="2106787" cy="538446"/>
          </a:xfrm>
          <a:prstGeom prst="rect">
            <a:avLst/>
          </a:prstGeom>
          <a:solidFill>
            <a:srgbClr val="692B7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Daily Review</a:t>
            </a:r>
          </a:p>
        </p:txBody>
      </p:sp>
    </p:spTree>
    <p:extLst>
      <p:ext uri="{BB962C8B-B14F-4D97-AF65-F5344CB8AC3E}">
        <p14:creationId xmlns:p14="http://schemas.microsoft.com/office/powerpoint/2010/main" val="8277499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R)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692B7D"/>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92B7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17220871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R)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5600"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92B7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692B7D"/>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1742202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R)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71437"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FBCA58"/>
          </a:solidFill>
          <a:ln>
            <a:noFill/>
          </a:ln>
        </p:spPr>
        <p:txBody>
          <a:bodyPr wrap="square" rtlCol="0" anchor="ctr">
            <a:normAutofit/>
          </a:bodyPr>
          <a:lstStyle/>
          <a:p>
            <a:r>
              <a:rPr lang="en-US" sz="2400" b="1" i="0" dirty="0">
                <a:solidFill>
                  <a:srgbClr val="692B7D"/>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92B7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3459742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R)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9" y="208656"/>
            <a:ext cx="1347844"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723918"/>
            <a:ext cx="11577177" cy="1204895"/>
          </a:xfrm>
          <a:prstGeom prst="rect">
            <a:avLst/>
          </a:prstGeom>
          <a:solidFill>
            <a:srgbClr val="692B7D"/>
          </a:solidFill>
          <a:ln>
            <a:noFill/>
          </a:ln>
        </p:spPr>
        <p:txBody>
          <a:bodyPr wrap="square" rtlCol="0" anchor="ctr">
            <a:normAutofit/>
          </a:bodyPr>
          <a:lstStyle/>
          <a:p>
            <a:pPr marL="0" indent="0">
              <a:tabLst>
                <a:tab pos="3597275" algn="l"/>
              </a:tabLst>
            </a:pPr>
            <a:r>
              <a:rPr lang="en-US" sz="6000" b="1" i="0" dirty="0">
                <a:solidFill>
                  <a:schemeClr val="bg1"/>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2649248"/>
          </a:xfrm>
          <a:prstGeom prst="rect">
            <a:avLst/>
          </a:prstGeom>
          <a:noFill/>
        </p:spPr>
        <p:txBody>
          <a:bodyPr tIns="144000" bIns="0" anchor="ctr"/>
          <a:lstStyle>
            <a:lvl1pPr marL="0" indent="0" algn="ctr">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it into pieces</a:t>
            </a:r>
          </a:p>
        </p:txBody>
      </p:sp>
    </p:spTree>
    <p:extLst>
      <p:ext uri="{BB962C8B-B14F-4D97-AF65-F5344CB8AC3E}">
        <p14:creationId xmlns:p14="http://schemas.microsoft.com/office/powerpoint/2010/main" val="37407046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R) Hyper-speed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692B7D"/>
          </a:solidFill>
        </p:spPr>
        <p:txBody>
          <a:bodyPr wrap="square" rtlCol="0" anchor="ctr">
            <a:noAutofit/>
          </a:bodyPr>
          <a:lstStyle/>
          <a:p>
            <a:pPr algn="l"/>
            <a:r>
              <a:rPr lang="en-US" sz="2000" b="1" i="0" dirty="0">
                <a:solidFill>
                  <a:srgbClr val="FBCA58"/>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rgbClr val="A14986"/>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solidFill>
                <a:srgbClr val="A14986"/>
              </a:solidFill>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63638" y="629514"/>
            <a:ext cx="5466107"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63638" y="1772516"/>
            <a:ext cx="5466108"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2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63638" y="2915518"/>
            <a:ext cx="546827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63638" y="4058520"/>
            <a:ext cx="546827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63638" y="5201522"/>
            <a:ext cx="5466108"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1221096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cTn>
              </p:par>
            </p:tnLst>
          </p:tmpl>
        </p:tmplLst>
      </p:bldP>
      <p:bldP spid="12" grpId="0" build="p">
        <p:tmplLst>
          <p:tmpl lvl="1">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Lst>
      </p:bldP>
      <p:bldP spid="13" grpId="0" build="p">
        <p:tmplLst>
          <p:tmpl lvl="1">
            <p:tnLst>
              <p:par>
                <p:cTn presetID="1" presetClass="entr" presetSubtype="0" fill="hold" nodeType="clickEffect">
                  <p:stCondLst>
                    <p:cond delay="0"/>
                  </p:stCondLst>
                  <p:childTnLst>
                    <p:set>
                      <p:cBhvr>
                        <p:cTn dur="1" fill="hold">
                          <p:stCondLst>
                            <p:cond delay="0"/>
                          </p:stCondLst>
                        </p:cTn>
                        <p:tgtEl>
                          <p:spTgt spid="13"/>
                        </p:tgtEl>
                        <p:attrNameLst>
                          <p:attrName>style.visibility</p:attrName>
                        </p:attrNameLst>
                      </p:cBhvr>
                      <p:to>
                        <p:strVal val="visible"/>
                      </p:to>
                    </p:set>
                  </p:childTnLst>
                </p:cTn>
              </p:par>
            </p:tnLst>
          </p:tmpl>
        </p:tmplLst>
      </p:bldP>
      <p:bldP spid="14" grpId="0" build="p">
        <p:tmplLst>
          <p:tmpl lvl="1">
            <p:tnLst>
              <p:par>
                <p:cTn presetID="1" presetClass="entr" presetSubtype="0" fill="hold" nodeType="clickEffect">
                  <p:stCondLst>
                    <p:cond delay="0"/>
                  </p:stCondLst>
                  <p:childTnLst>
                    <p:set>
                      <p:cBhvr>
                        <p:cTn dur="1" fill="hold">
                          <p:stCondLst>
                            <p:cond delay="0"/>
                          </p:stCondLst>
                        </p:cTn>
                        <p:tgtEl>
                          <p:spTgt spid="14"/>
                        </p:tgtEl>
                        <p:attrNameLst>
                          <p:attrName>style.visibility</p:attrName>
                        </p:attrNameLst>
                      </p:cBhvr>
                      <p:to>
                        <p:strVal val="visible"/>
                      </p:to>
                    </p:set>
                  </p:childTnLst>
                </p:cTn>
              </p:par>
            </p:tnLst>
          </p:tmpl>
        </p:tmplLst>
      </p:bldP>
      <p:bldP spid="15" grpId="0" build="p">
        <p:tmplLst>
          <p:tmpl lvl="1">
            <p:tnLst>
              <p:par>
                <p:cTn presetID="1" presetClass="entr" presetSubtype="0" fill="hold" nodeType="clickEffect">
                  <p:stCondLst>
                    <p:cond delay="0"/>
                  </p:stCondLst>
                  <p:childTnLst>
                    <p:set>
                      <p:cBhvr>
                        <p:cTn dur="1" fill="hold">
                          <p:stCondLst>
                            <p:cond delay="0"/>
                          </p:stCondLst>
                        </p:cTn>
                        <p:tgtEl>
                          <p:spTgt spid="15"/>
                        </p:tgtEl>
                        <p:attrNameLst>
                          <p:attrName>style.visibility</p:attrName>
                        </p:attrNameLst>
                      </p:cBhvr>
                      <p:to>
                        <p:strVal val="visible"/>
                      </p:to>
                    </p:set>
                  </p:childTnLst>
                </p:cTn>
              </p:par>
            </p:tnLst>
          </p:tmpl>
        </p:tmplLst>
      </p:bldP>
      <p:bldP spid="16" grpId="0" build="p">
        <p:tmplLst>
          <p:tmpl lvl="1">
            <p:tnLst>
              <p:par>
                <p:cTn presetID="1"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childTnLst>
                </p:cTn>
              </p:par>
            </p:tnLst>
          </p:tmpl>
        </p:tmplLst>
      </p:bldP>
      <p:bldP spid="17" grpId="0" build="p">
        <p:tmplLst>
          <p:tmpl lvl="1">
            <p:tnLst>
              <p:par>
                <p:cTn presetID="1" presetClass="entr" presetSubtype="0" fill="hold" nodeType="clickEffect">
                  <p:stCondLst>
                    <p:cond delay="0"/>
                  </p:stCondLst>
                  <p:childTnLst>
                    <p:set>
                      <p:cBhvr>
                        <p:cTn dur="1" fill="hold">
                          <p:stCondLst>
                            <p:cond delay="0"/>
                          </p:stCondLst>
                        </p:cTn>
                        <p:tgtEl>
                          <p:spTgt spid="17"/>
                        </p:tgtEl>
                        <p:attrNameLst>
                          <p:attrName>style.visibility</p:attrName>
                        </p:attrNameLst>
                      </p:cBhvr>
                      <p:to>
                        <p:strVal val="visible"/>
                      </p:to>
                    </p:set>
                  </p:childTnLst>
                </p:cTn>
              </p:par>
            </p:tnLst>
          </p:tmpl>
        </p:tmplLst>
      </p:bldP>
      <p:bldP spid="18" grpId="0" build="p">
        <p:tmplLst>
          <p:tmpl lvl="1">
            <p:tnLst>
              <p:par>
                <p:cTn presetID="1" presetClass="entr" presetSubtype="0" fill="hold" nodeType="clickEffect">
                  <p:stCondLst>
                    <p:cond delay="0"/>
                  </p:stCondLst>
                  <p:childTnLst>
                    <p:set>
                      <p:cBhvr>
                        <p:cTn dur="1" fill="hold">
                          <p:stCondLst>
                            <p:cond delay="0"/>
                          </p:stCondLst>
                        </p:cTn>
                        <p:tgtEl>
                          <p:spTgt spid="18"/>
                        </p:tgtEl>
                        <p:attrNameLst>
                          <p:attrName>style.visibility</p:attrName>
                        </p:attrNameLst>
                      </p:cBhvr>
                      <p:to>
                        <p:strVal val="visible"/>
                      </p:to>
                    </p:set>
                  </p:childTnLst>
                </p:cTn>
              </p:par>
            </p:tnLst>
          </p:tmpl>
        </p:tmplLst>
      </p:bldP>
      <p:bldP spid="19" grpId="0" build="p">
        <p:tmplLst>
          <p:tmpl lvl="1">
            <p:tnLst>
              <p:par>
                <p:cTn presetID="1" presetClass="entr" presetSubtype="0" fill="hold" nodeType="clickEffect">
                  <p:stCondLst>
                    <p:cond delay="0"/>
                  </p:stCondLst>
                  <p:childTnLst>
                    <p:set>
                      <p:cBhvr>
                        <p:cTn dur="1" fill="hold">
                          <p:stCondLst>
                            <p:cond delay="0"/>
                          </p:stCondLst>
                        </p:cTn>
                        <p:tgtEl>
                          <p:spTgt spid="19"/>
                        </p:tgtEl>
                        <p:attrNameLst>
                          <p:attrName>style.visibility</p:attrName>
                        </p:attrNameLst>
                      </p:cBhvr>
                      <p:to>
                        <p:strVal val="visible"/>
                      </p:to>
                    </p:set>
                  </p:childTnLst>
                </p:cTn>
              </p:par>
            </p:tnLst>
          </p:tmpl>
        </p:tmplLst>
      </p:bldP>
      <p:bldP spid="20" grpId="0" build="p">
        <p:tmplLst>
          <p:tmpl lvl="1">
            <p:tnLst>
              <p:par>
                <p:cTn presetID="1" presetClass="entr" presetSubtype="0" fill="hold" nodeType="clickEffect">
                  <p:stCondLst>
                    <p:cond delay="0"/>
                  </p:stCondLst>
                  <p:childTnLst>
                    <p:set>
                      <p:cBhvr>
                        <p:cTn dur="1" fill="hold">
                          <p:stCondLst>
                            <p:cond delay="0"/>
                          </p:stCondLst>
                        </p:cTn>
                        <p:tgtEl>
                          <p:spTgt spid="20"/>
                        </p:tgtEl>
                        <p:attrNameLst>
                          <p:attrName>style.visibility</p:attrName>
                        </p:attrNameLst>
                      </p:cBhvr>
                      <p:to>
                        <p:strVal val="visible"/>
                      </p:to>
                    </p:set>
                  </p:childTnLst>
                </p:cTn>
              </p:par>
            </p:tnLst>
          </p:tmpl>
        </p:tmplLst>
      </p:bldP>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R) Recite">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06066"/>
            <a:ext cx="1533525" cy="352426"/>
          </a:xfrm>
          <a:prstGeom prst="rect">
            <a:avLst/>
          </a:prstGeom>
          <a:solidFill>
            <a:srgbClr val="692B7D"/>
          </a:solidFill>
        </p:spPr>
        <p:txBody>
          <a:bodyPr wrap="square" rtlCol="0" anchor="ctr">
            <a:noAutofit/>
          </a:bodyPr>
          <a:lstStyle/>
          <a:p>
            <a:pPr algn="l"/>
            <a:r>
              <a:rPr lang="en-US" sz="1600" b="1" i="0" dirty="0">
                <a:solidFill>
                  <a:srgbClr val="FBCA58"/>
                </a:solidFill>
                <a:latin typeface="Century Gothic" panose="020B0502020202020204" pitchFamily="34" charset="0"/>
                <a:cs typeface="Futura Medium" panose="020B0602020204020303" pitchFamily="34" charset="-79"/>
              </a:rPr>
              <a:t>Recite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58432"/>
            <a:ext cx="8954305" cy="1914525"/>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Go over the steps they already know from this unit, or from relevant prior knowledge.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10072881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R)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19714"/>
            <a:ext cx="1533525" cy="352426"/>
          </a:xfrm>
          <a:prstGeom prst="rect">
            <a:avLst/>
          </a:prstGeom>
          <a:solidFill>
            <a:srgbClr val="692B7D"/>
          </a:solidFill>
        </p:spPr>
        <p:txBody>
          <a:bodyPr wrap="square" rtlCol="0" anchor="ctr">
            <a:noAutofit/>
          </a:bodyPr>
          <a:lstStyle/>
          <a:p>
            <a:pPr algn="l"/>
            <a:r>
              <a:rPr lang="en-US" sz="1600" b="1" i="0" dirty="0">
                <a:solidFill>
                  <a:srgbClr val="FBCA58"/>
                </a:solidFill>
                <a:latin typeface="Century Gothic" panose="020B0502020202020204" pitchFamily="34" charset="0"/>
                <a:cs typeface="Futura Medium" panose="020B0602020204020303" pitchFamily="34" charset="-79"/>
              </a:rPr>
              <a:t>Recall</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84190"/>
            <a:ext cx="8954305" cy="1900238"/>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Practicing the steps they already know together. This should be guided practice.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12945237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R) Apply">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19714"/>
            <a:ext cx="1533525" cy="352426"/>
          </a:xfrm>
          <a:prstGeom prst="rect">
            <a:avLst/>
          </a:prstGeom>
          <a:solidFill>
            <a:srgbClr val="692B7D"/>
          </a:solidFill>
        </p:spPr>
        <p:txBody>
          <a:bodyPr wrap="square" rtlCol="0" anchor="ctr">
            <a:noAutofit/>
          </a:bodyPr>
          <a:lstStyle/>
          <a:p>
            <a:pPr algn="l"/>
            <a:r>
              <a:rPr lang="en-US" sz="1600" b="1" i="0" dirty="0">
                <a:solidFill>
                  <a:srgbClr val="FBCA58"/>
                </a:solidFill>
                <a:latin typeface="Century Gothic" panose="020B0502020202020204" pitchFamily="34" charset="0"/>
                <a:cs typeface="Futura Medium" panose="020B0602020204020303" pitchFamily="34" charset="-79"/>
              </a:rPr>
              <a:t>Apply</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85599"/>
            <a:ext cx="8954305" cy="1985962"/>
          </a:xfrm>
          <a:prstGeom prst="rect">
            <a:avLst/>
          </a:prstGeom>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Quickly check that all students can still complete the previous steps learnt.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30282384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R)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17794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EI) 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692B7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692B7D"/>
                </a:solidFill>
                <a:latin typeface="Century Gothic" panose="020B0502020202020204" pitchFamily="34" charset="0"/>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0" name="Text Placeholder 9">
            <a:extLst>
              <a:ext uri="{FF2B5EF4-FFF2-40B4-BE49-F238E27FC236}">
                <a16:creationId xmlns:a16="http://schemas.microsoft.com/office/drawing/2014/main" id="{3A872705-675F-C243-9643-639EE2D96A8C}"/>
              </a:ext>
            </a:extLst>
          </p:cNvPr>
          <p:cNvSpPr>
            <a:spLocks noGrp="1"/>
          </p:cNvSpPr>
          <p:nvPr>
            <p:ph type="body" sz="quarter" idx="15" hasCustomPrompt="1"/>
          </p:nvPr>
        </p:nvSpPr>
        <p:spPr>
          <a:xfrm>
            <a:off x="390524" y="965946"/>
            <a:ext cx="9091613" cy="307181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1" i="0">
                <a:latin typeface="Century Gothic" panose="020B0502020202020204" pitchFamily="34" charset="0"/>
              </a:defRPr>
            </a:lvl1pPr>
          </a:lstStyle>
          <a:p>
            <a:pPr lvl="0"/>
            <a:r>
              <a:rPr lang="en-US" dirty="0"/>
              <a:t>Link previous learning, or a universal experience, to the topic being studied taught.  For example, key concepts already learnt in this unit, or something we all do in our lives that will connect to the learning.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a:p>
            <a:pPr lvl="0"/>
            <a:endParaRPr lang="en-US" dirty="0"/>
          </a:p>
        </p:txBody>
      </p:sp>
    </p:spTree>
    <p:extLst>
      <p:ext uri="{BB962C8B-B14F-4D97-AF65-F5344CB8AC3E}">
        <p14:creationId xmlns:p14="http://schemas.microsoft.com/office/powerpoint/2010/main" val="22202850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eneric Title Slide">
    <p:bg>
      <p:bgPr>
        <a:solidFill>
          <a:schemeClr val="bg1"/>
        </a:solidFill>
        <a:effectLst/>
      </p:bgPr>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601508" cy="2929609"/>
          </a:xfrm>
          <a:prstGeom prst="rect">
            <a:avLst/>
          </a:prstGeom>
          <a:solidFill>
            <a:srgbClr val="2E546D"/>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sp>
        <p:nvSpPr>
          <p:cNvPr id="3" name="Text Placeholder 2">
            <a:extLst>
              <a:ext uri="{FF2B5EF4-FFF2-40B4-BE49-F238E27FC236}">
                <a16:creationId xmlns:a16="http://schemas.microsoft.com/office/drawing/2014/main" id="{35918694-72DD-404C-BFE2-AE8FDFB6A47D}"/>
              </a:ext>
            </a:extLst>
          </p:cNvPr>
          <p:cNvSpPr>
            <a:spLocks noGrp="1"/>
          </p:cNvSpPr>
          <p:nvPr>
            <p:ph type="body" sz="quarter" idx="11" hasCustomPrompt="1"/>
          </p:nvPr>
        </p:nvSpPr>
        <p:spPr>
          <a:xfrm>
            <a:off x="295219" y="1019162"/>
            <a:ext cx="2630862" cy="538162"/>
          </a:xfrm>
          <a:prstGeom prst="rect">
            <a:avLst/>
          </a:prstGeom>
          <a:solidFill>
            <a:srgbClr val="2E546D"/>
          </a:solidFill>
        </p:spPr>
        <p:txBody>
          <a:bodyPr/>
          <a:lstStyle>
            <a:lvl1pPr marL="0" indent="0">
              <a:buNone/>
              <a:defRPr sz="3200" b="0"/>
            </a:lvl1pPr>
          </a:lstStyle>
          <a:p>
            <a:r>
              <a:rPr lang="en-US" sz="2800" b="1" i="0" dirty="0">
                <a:solidFill>
                  <a:srgbClr val="FBCA58"/>
                </a:solidFill>
                <a:latin typeface="Century Gothic" panose="020B0502020202020204" pitchFamily="34" charset="0"/>
                <a:cs typeface="Futura Medium" panose="020B0602020204020303" pitchFamily="34" charset="-79"/>
              </a:rPr>
              <a:t>Learning Goal</a:t>
            </a:r>
          </a:p>
        </p:txBody>
      </p:sp>
    </p:spTree>
    <p:extLst>
      <p:ext uri="{BB962C8B-B14F-4D97-AF65-F5344CB8AC3E}">
        <p14:creationId xmlns:p14="http://schemas.microsoft.com/office/powerpoint/2010/main" val="23702189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Generic Content Slid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FC000"/>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21" name="TextBox 20">
            <a:extLst>
              <a:ext uri="{FF2B5EF4-FFF2-40B4-BE49-F238E27FC236}">
                <a16:creationId xmlns:a16="http://schemas.microsoft.com/office/drawing/2014/main" id="{8057D734-81AA-2049-8345-B99B4BA91645}"/>
              </a:ext>
            </a:extLst>
          </p:cNvPr>
          <p:cNvSpPr txBox="1"/>
          <p:nvPr userDrawn="1"/>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
        <p:nvSpPr>
          <p:cNvPr id="5" name="Text Placeholder 4">
            <a:extLst>
              <a:ext uri="{FF2B5EF4-FFF2-40B4-BE49-F238E27FC236}">
                <a16:creationId xmlns:a16="http://schemas.microsoft.com/office/drawing/2014/main" id="{26005884-EA56-4A5F-8C82-1956C2ADF2F8}"/>
              </a:ext>
            </a:extLst>
          </p:cNvPr>
          <p:cNvSpPr>
            <a:spLocks noGrp="1"/>
          </p:cNvSpPr>
          <p:nvPr>
            <p:ph type="body" sz="quarter" idx="17" hasCustomPrompt="1"/>
          </p:nvPr>
        </p:nvSpPr>
        <p:spPr>
          <a:xfrm>
            <a:off x="295275" y="595269"/>
            <a:ext cx="3779478" cy="319722"/>
          </a:xfrm>
          <a:prstGeom prst="rect">
            <a:avLst/>
          </a:prstGeom>
          <a:solidFill>
            <a:srgbClr val="FBCA58"/>
          </a:solidFill>
        </p:spPr>
        <p:txBody>
          <a:bodyPr/>
          <a:lstStyle>
            <a:lvl1pPr marL="0" indent="0">
              <a:buNone/>
              <a:defRPr sz="1600" b="1">
                <a:solidFill>
                  <a:srgbClr val="2E546D"/>
                </a:solidFill>
                <a:latin typeface="+mj-lt"/>
              </a:defRPr>
            </a:lvl1pPr>
            <a:lvl2pPr>
              <a:defRPr sz="1800"/>
            </a:lvl2pPr>
            <a:lvl3pPr>
              <a:defRPr sz="1600"/>
            </a:lvl3pPr>
            <a:lvl4pPr>
              <a:defRPr sz="1400"/>
            </a:lvl4pPr>
            <a:lvl5pPr>
              <a:defRPr sz="1400"/>
            </a:lvl5pPr>
          </a:lstStyle>
          <a:p>
            <a:pPr lvl="0"/>
            <a:r>
              <a:rPr lang="en-US" dirty="0"/>
              <a:t>Type Subheading here</a:t>
            </a:r>
          </a:p>
        </p:txBody>
      </p:sp>
    </p:spTree>
    <p:extLst>
      <p:ext uri="{BB962C8B-B14F-4D97-AF65-F5344CB8AC3E}">
        <p14:creationId xmlns:p14="http://schemas.microsoft.com/office/powerpoint/2010/main" val="34852791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36460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o Now">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572219" cy="515262"/>
          </a:xfrm>
          <a:prstGeom prst="rect">
            <a:avLst/>
          </a:prstGeom>
          <a:solidFill>
            <a:srgbClr val="2E546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Do Now</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1867437" y="224237"/>
            <a:ext cx="10004958" cy="499682"/>
          </a:xfrm>
          <a:prstGeom prst="rect">
            <a:avLst/>
          </a:prstGeom>
          <a:solidFill>
            <a:schemeClr val="bg1"/>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Sit down and begin this task immediately.</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4092731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EI) Learning Goal Setup">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8" y="1011383"/>
            <a:ext cx="2364855" cy="538446"/>
          </a:xfrm>
          <a:prstGeom prst="rect">
            <a:avLst/>
          </a:prstGeom>
          <a:solidFill>
            <a:srgbClr val="2E546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Learning Goal</a:t>
            </a:r>
          </a:p>
        </p:txBody>
      </p:sp>
      <p:sp>
        <p:nvSpPr>
          <p:cNvPr id="9" name="TextBox 8">
            <a:extLst>
              <a:ext uri="{FF2B5EF4-FFF2-40B4-BE49-F238E27FC236}">
                <a16:creationId xmlns:a16="http://schemas.microsoft.com/office/drawing/2014/main" id="{DF9C2B4A-0943-CC42-BE38-4F715F7CAA2B}"/>
              </a:ext>
            </a:extLst>
          </p:cNvPr>
          <p:cNvSpPr txBox="1"/>
          <p:nvPr userDrawn="1"/>
        </p:nvSpPr>
        <p:spPr>
          <a:xfrm>
            <a:off x="517951" y="4565193"/>
            <a:ext cx="2734700" cy="1947917"/>
          </a:xfrm>
          <a:prstGeom prst="rect">
            <a:avLst/>
          </a:prstGeom>
          <a:noFill/>
        </p:spPr>
        <p:txBody>
          <a:bodyPr wrap="square" tIns="180000" rtlCol="0" anchor="t">
            <a:normAutofit/>
          </a:bodyPr>
          <a:lstStyle/>
          <a:p>
            <a:r>
              <a:rPr lang="en-US" sz="3600" b="1" i="0" dirty="0">
                <a:solidFill>
                  <a:srgbClr val="2E546D"/>
                </a:solidFill>
                <a:latin typeface="Calibri" panose="020F0502020204030204" pitchFamily="34" charset="0"/>
                <a:cs typeface="Calibri" panose="020F0502020204030204" pitchFamily="34" charset="0"/>
              </a:rPr>
              <a:t>Think </a:t>
            </a:r>
          </a:p>
          <a:p>
            <a:r>
              <a:rPr lang="en-US" sz="3600" b="1" i="0" dirty="0">
                <a:solidFill>
                  <a:srgbClr val="2E546D"/>
                </a:solidFill>
                <a:latin typeface="Calibri" panose="020F0502020204030204" pitchFamily="34" charset="0"/>
                <a:cs typeface="Calibri" panose="020F0502020204030204" pitchFamily="34" charset="0"/>
              </a:rPr>
              <a:t>Pair</a:t>
            </a:r>
          </a:p>
          <a:p>
            <a:r>
              <a:rPr lang="en-US" sz="3600" b="1" i="0" dirty="0">
                <a:solidFill>
                  <a:srgbClr val="2E546D"/>
                </a:solidFill>
                <a:latin typeface="Calibri" panose="020F0502020204030204" pitchFamily="34" charset="0"/>
                <a:cs typeface="Calibri" panose="020F0502020204030204" pitchFamily="34" charset="0"/>
              </a:rPr>
              <a:t>Share</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601508" cy="2929609"/>
          </a:xfrm>
          <a:prstGeom prst="rect">
            <a:avLst/>
          </a:prstGeom>
          <a:solidFill>
            <a:srgbClr val="2E546D"/>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252651" y="475428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503526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xit" presetSubtype="0" fill="hold" grpId="1" nodeType="withEffect">
                                  <p:stCondLst>
                                    <p:cond delay="0"/>
                                  </p:stCondLst>
                                  <p:childTnLst>
                                    <p:set>
                                      <p:cBhvr>
                                        <p:cTn id="12"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earning Goal Simple">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8" y="1011383"/>
            <a:ext cx="2364855" cy="538446"/>
          </a:xfrm>
          <a:prstGeom prst="rect">
            <a:avLst/>
          </a:prstGeom>
          <a:solidFill>
            <a:srgbClr val="2E546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601508" cy="2929609"/>
          </a:xfrm>
          <a:prstGeom prst="rect">
            <a:avLst/>
          </a:prstGeom>
          <a:solidFill>
            <a:srgbClr val="2E546D"/>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spTree>
    <p:extLst>
      <p:ext uri="{BB962C8B-B14F-4D97-AF65-F5344CB8AC3E}">
        <p14:creationId xmlns:p14="http://schemas.microsoft.com/office/powerpoint/2010/main" val="40040971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EI)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2E546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601564" cy="1150657"/>
          </a:xfrm>
          <a:prstGeom prst="rect">
            <a:avLst/>
          </a:prstGeom>
          <a:solidFill>
            <a:srgbClr val="2E546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2E546D"/>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8144513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EI)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5600" cy="515262"/>
          </a:xfrm>
          <a:prstGeom prst="rect">
            <a:avLst/>
          </a:prstGeom>
          <a:solidFill>
            <a:srgbClr val="2E546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601564" cy="1150657"/>
          </a:xfrm>
          <a:prstGeom prst="rect">
            <a:avLst/>
          </a:prstGeom>
          <a:solidFill>
            <a:srgbClr val="2E546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2F556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2F556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2F556E"/>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2123652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EI)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5600" cy="515262"/>
          </a:xfrm>
          <a:prstGeom prst="rect">
            <a:avLst/>
          </a:prstGeom>
          <a:solidFill>
            <a:srgbClr val="2F556E"/>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FBCA58"/>
          </a:solidFill>
          <a:ln>
            <a:noFill/>
          </a:ln>
        </p:spPr>
        <p:txBody>
          <a:bodyPr wrap="square" rtlCol="0" anchor="ctr">
            <a:normAutofit/>
          </a:bodyPr>
          <a:lstStyle/>
          <a:p>
            <a:r>
              <a:rPr lang="en-US" sz="2400" b="1" i="0" dirty="0">
                <a:solidFill>
                  <a:srgbClr val="2F556E"/>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601564" cy="1150657"/>
          </a:xfrm>
          <a:prstGeom prst="rect">
            <a:avLst/>
          </a:prstGeom>
          <a:solidFill>
            <a:srgbClr val="2F556E"/>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2F556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190541380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EI) 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FC000"/>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0" name="Text Placeholder 9">
            <a:extLst>
              <a:ext uri="{FF2B5EF4-FFF2-40B4-BE49-F238E27FC236}">
                <a16:creationId xmlns:a16="http://schemas.microsoft.com/office/drawing/2014/main" id="{3A872705-675F-C243-9643-639EE2D96A8C}"/>
              </a:ext>
            </a:extLst>
          </p:cNvPr>
          <p:cNvSpPr>
            <a:spLocks noGrp="1"/>
          </p:cNvSpPr>
          <p:nvPr>
            <p:ph type="body" sz="quarter" idx="15" hasCustomPrompt="1"/>
          </p:nvPr>
        </p:nvSpPr>
        <p:spPr>
          <a:xfrm>
            <a:off x="390524" y="965946"/>
            <a:ext cx="9091613" cy="307181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1" i="0">
                <a:latin typeface="Century Gothic" panose="020B0502020202020204" pitchFamily="34" charset="0"/>
              </a:defRPr>
            </a:lvl1pPr>
          </a:lstStyle>
          <a:p>
            <a:pPr lvl="0"/>
            <a:r>
              <a:rPr lang="en-US" dirty="0"/>
              <a:t>Link previous learning, or a universal experience, to the topic being studied taught.  For example, key concepts already learnt in this unit, or something we all do in our lives that will connect to the learning.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a:p>
            <a:pPr lvl="0"/>
            <a:endParaRPr lang="en-US" dirty="0"/>
          </a:p>
        </p:txBody>
      </p:sp>
    </p:spTree>
    <p:extLst>
      <p:ext uri="{BB962C8B-B14F-4D97-AF65-F5344CB8AC3E}">
        <p14:creationId xmlns:p14="http://schemas.microsoft.com/office/powerpoint/2010/main" val="348194959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EI) 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Content Development</a:t>
            </a:r>
          </a:p>
        </p:txBody>
      </p:sp>
      <p:sp>
        <p:nvSpPr>
          <p:cNvPr id="3" name="Text Placeholder 2">
            <a:extLst>
              <a:ext uri="{FF2B5EF4-FFF2-40B4-BE49-F238E27FC236}">
                <a16:creationId xmlns:a16="http://schemas.microsoft.com/office/drawing/2014/main" id="{67489761-345C-4546-B69F-7F767EEB19E6}"/>
              </a:ext>
            </a:extLst>
          </p:cNvPr>
          <p:cNvSpPr>
            <a:spLocks noGrp="1"/>
          </p:cNvSpPr>
          <p:nvPr>
            <p:ph type="body" sz="quarter" idx="15" hasCustomPrompt="1"/>
          </p:nvPr>
        </p:nvSpPr>
        <p:spPr>
          <a:xfrm>
            <a:off x="397668" y="965946"/>
            <a:ext cx="9077325" cy="1885950"/>
          </a:xfrm>
          <a:prstGeom prst="rect">
            <a:avLst/>
          </a:prstGeom>
        </p:spPr>
        <p:txBody>
          <a:bodyPr/>
          <a:lstStyle>
            <a:lvl1pPr marL="0" indent="0">
              <a:buNone/>
              <a:defRPr sz="2800" b="1" i="0">
                <a:latin typeface="Century Gothic" panose="020B0502020202020204" pitchFamily="34" charset="0"/>
              </a:defRPr>
            </a:lvl1pPr>
          </a:lstStyle>
          <a:p>
            <a:pPr lvl="0"/>
            <a:r>
              <a:rPr lang="en-US" dirty="0"/>
              <a:t>The teacher explains the concepts and steps that lead to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34894422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EI) Skill Development with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userDrawn="1"/>
        </p:nvSpPr>
        <p:spPr>
          <a:xfrm>
            <a:off x="295275" y="590550"/>
            <a:ext cx="4199996" cy="352425"/>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Skill Development with Guided Practice</a:t>
            </a:r>
          </a:p>
        </p:txBody>
      </p:sp>
      <p:sp>
        <p:nvSpPr>
          <p:cNvPr id="10" name="Text Placeholder 2">
            <a:extLst>
              <a:ext uri="{FF2B5EF4-FFF2-40B4-BE49-F238E27FC236}">
                <a16:creationId xmlns:a16="http://schemas.microsoft.com/office/drawing/2014/main" id="{CF0F374D-B3C3-694C-9E4C-49E7305FA052}"/>
              </a:ext>
            </a:extLst>
          </p:cNvPr>
          <p:cNvSpPr>
            <a:spLocks noGrp="1"/>
          </p:cNvSpPr>
          <p:nvPr>
            <p:ph type="body" sz="quarter" idx="15" hasCustomPrompt="1"/>
          </p:nvPr>
        </p:nvSpPr>
        <p:spPr>
          <a:xfrm>
            <a:off x="397668" y="1067135"/>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Go through the steps one by one that will guide the students to the learning goal. Ensure the students are involved so that you can check for understanding.</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1780312292"/>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EI) Lesson Closure">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Lesson Closure</a:t>
            </a:r>
          </a:p>
        </p:txBody>
      </p:sp>
      <p:sp>
        <p:nvSpPr>
          <p:cNvPr id="12" name="Text Placeholder 2">
            <a:extLst>
              <a:ext uri="{FF2B5EF4-FFF2-40B4-BE49-F238E27FC236}">
                <a16:creationId xmlns:a16="http://schemas.microsoft.com/office/drawing/2014/main" id="{9ABE9B17-B75E-C845-8C05-25DEB214B5BE}"/>
              </a:ext>
            </a:extLst>
          </p:cNvPr>
          <p:cNvSpPr>
            <a:spLocks noGrp="1"/>
          </p:cNvSpPr>
          <p:nvPr>
            <p:ph type="body" sz="quarter" idx="15" hasCustomPrompt="1"/>
          </p:nvPr>
        </p:nvSpPr>
        <p:spPr>
          <a:xfrm>
            <a:off x="397668" y="999954"/>
            <a:ext cx="9077325" cy="2314576"/>
          </a:xfrm>
          <a:prstGeom prst="rect">
            <a:avLst/>
          </a:prstGeom>
        </p:spPr>
        <p:txBody>
          <a:bodyPr/>
          <a:lstStyle>
            <a:lvl1pPr marL="0" indent="0">
              <a:buNone/>
              <a:defRPr sz="2800" b="1" i="0">
                <a:latin typeface="Century Gothic" panose="020B0502020202020204" pitchFamily="34" charset="0"/>
              </a:defRPr>
            </a:lvl1pPr>
          </a:lstStyle>
          <a:p>
            <a:pPr lvl="0"/>
            <a:r>
              <a:rPr lang="en-US" dirty="0"/>
              <a:t>Have students answer questions, explain a concept, complete an equation, </a:t>
            </a:r>
            <a:r>
              <a:rPr lang="en-US" dirty="0" err="1"/>
              <a:t>etc</a:t>
            </a:r>
            <a:r>
              <a:rPr lang="en-US" dirty="0"/>
              <a:t> to show they have reached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3772040135"/>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EI) 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FC000"/>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userDrawn="1"/>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74904949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EI) 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9" y="1053881"/>
            <a:ext cx="2350999" cy="495947"/>
          </a:xfrm>
          <a:prstGeom prst="rect">
            <a:avLst/>
          </a:prstGeom>
          <a:solidFill>
            <a:srgbClr val="2E546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2E546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36172997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EI) 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Independent Practice</a:t>
            </a:r>
          </a:p>
        </p:txBody>
      </p:sp>
      <p:sp>
        <p:nvSpPr>
          <p:cNvPr id="10" name="Text Placeholder 2">
            <a:extLst>
              <a:ext uri="{FF2B5EF4-FFF2-40B4-BE49-F238E27FC236}">
                <a16:creationId xmlns:a16="http://schemas.microsoft.com/office/drawing/2014/main" id="{2F2AA107-37A0-6640-94E6-ADA5A39A9FA3}"/>
              </a:ext>
            </a:extLst>
          </p:cNvPr>
          <p:cNvSpPr>
            <a:spLocks noGrp="1"/>
          </p:cNvSpPr>
          <p:nvPr>
            <p:ph type="body" sz="quarter" idx="15" hasCustomPrompt="1"/>
          </p:nvPr>
        </p:nvSpPr>
        <p:spPr>
          <a:xfrm>
            <a:off x="397668" y="1002771"/>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Once the students have reached the learning goal create activities that have them practice the exact skill that has just been taught. This section can be differentiated.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42881814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image" Target="../media/image1.jpe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theme" Target="../theme/theme2.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ACB8789-C5D7-6249-9847-EB3816E191ED}"/>
              </a:ext>
            </a:extLst>
          </p:cNvPr>
          <p:cNvSpPr/>
          <p:nvPr userDrawn="1"/>
        </p:nvSpPr>
        <p:spPr>
          <a:xfrm>
            <a:off x="0" y="0"/>
            <a:ext cx="12192000" cy="6858000"/>
          </a:xfrm>
          <a:prstGeom prst="rect">
            <a:avLst/>
          </a:prstGeom>
          <a:solidFill>
            <a:srgbClr val="692B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886F1C9-C15E-0448-B006-3ECFAB54CD2D}"/>
              </a:ext>
            </a:extLst>
          </p:cNvPr>
          <p:cNvSpPr/>
          <p:nvPr userDrawn="1"/>
        </p:nvSpPr>
        <p:spPr>
          <a:xfrm>
            <a:off x="-66676" y="221673"/>
            <a:ext cx="12258675"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a:extLst>
              <a:ext uri="{FF2B5EF4-FFF2-40B4-BE49-F238E27FC236}">
                <a16:creationId xmlns:a16="http://schemas.microsoft.com/office/drawing/2014/main" id="{C4F9A874-5CE1-8647-AFA9-BD43474DD64E}"/>
              </a:ext>
            </a:extLst>
          </p:cNvPr>
          <p:cNvPicPr>
            <a:picLocks noChangeAspect="1"/>
          </p:cNvPicPr>
          <p:nvPr userDrawn="1"/>
        </p:nvPicPr>
        <p:blipFill>
          <a:blip r:embed="rId14"/>
          <a:stretch>
            <a:fillRect/>
          </a:stretch>
        </p:blipFill>
        <p:spPr>
          <a:xfrm>
            <a:off x="10640451" y="6085119"/>
            <a:ext cx="1168470" cy="509380"/>
          </a:xfrm>
          <a:prstGeom prst="rect">
            <a:avLst/>
          </a:prstGeom>
        </p:spPr>
      </p:pic>
    </p:spTree>
    <p:extLst>
      <p:ext uri="{BB962C8B-B14F-4D97-AF65-F5344CB8AC3E}">
        <p14:creationId xmlns:p14="http://schemas.microsoft.com/office/powerpoint/2010/main" val="4030593586"/>
      </p:ext>
    </p:extLst>
  </p:cSld>
  <p:clrMap bg1="lt1" tx1="dk1" bg2="lt2" tx2="dk2" accent1="accent1" accent2="accent2" accent3="accent3" accent4="accent4" accent5="accent5" accent6="accent6" hlink="hlink" folHlink="folHlink"/>
  <p:sldLayoutIdLst>
    <p:sldLayoutId id="2147484258" r:id="rId1"/>
    <p:sldLayoutId id="2147484233" r:id="rId2"/>
    <p:sldLayoutId id="2147484234" r:id="rId3"/>
    <p:sldLayoutId id="2147484235" r:id="rId4"/>
    <p:sldLayoutId id="2147484236" r:id="rId5"/>
    <p:sldLayoutId id="2147484257" r:id="rId6"/>
    <p:sldLayoutId id="2147484255" r:id="rId7"/>
    <p:sldLayoutId id="2147484237" r:id="rId8"/>
    <p:sldLayoutId id="2147484238" r:id="rId9"/>
    <p:sldLayoutId id="2147484239" r:id="rId10"/>
    <p:sldLayoutId id="2147484240" r:id="rId11"/>
    <p:sldLayoutId id="214748429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3AA52D-1531-D74F-B0A5-6078D4C9110F}"/>
              </a:ext>
            </a:extLst>
          </p:cNvPr>
          <p:cNvSpPr/>
          <p:nvPr userDrawn="1"/>
        </p:nvSpPr>
        <p:spPr>
          <a:xfrm>
            <a:off x="0" y="0"/>
            <a:ext cx="12192000" cy="6858000"/>
          </a:xfrm>
          <a:prstGeom prst="rect">
            <a:avLst/>
          </a:prstGeom>
          <a:solidFill>
            <a:srgbClr val="2E54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3BC489FE-D005-E249-B3C3-A41B78A14714}"/>
              </a:ext>
            </a:extLst>
          </p:cNvPr>
          <p:cNvSpPr/>
          <p:nvPr userDrawn="1"/>
        </p:nvSpPr>
        <p:spPr>
          <a:xfrm>
            <a:off x="0" y="221672"/>
            <a:ext cx="12192000" cy="63728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9DC76C98-0227-3747-80B1-ED384456CDE8}"/>
              </a:ext>
            </a:extLst>
          </p:cNvPr>
          <p:cNvPicPr>
            <a:picLocks noChangeAspect="1"/>
          </p:cNvPicPr>
          <p:nvPr userDrawn="1"/>
        </p:nvPicPr>
        <p:blipFill>
          <a:blip r:embed="rId18"/>
          <a:stretch>
            <a:fillRect/>
          </a:stretch>
        </p:blipFill>
        <p:spPr>
          <a:xfrm>
            <a:off x="10640451" y="6085119"/>
            <a:ext cx="1168470" cy="509380"/>
          </a:xfrm>
          <a:prstGeom prst="rect">
            <a:avLst/>
          </a:prstGeom>
        </p:spPr>
      </p:pic>
    </p:spTree>
    <p:extLst>
      <p:ext uri="{BB962C8B-B14F-4D97-AF65-F5344CB8AC3E}">
        <p14:creationId xmlns:p14="http://schemas.microsoft.com/office/powerpoint/2010/main" val="288887113"/>
      </p:ext>
    </p:extLst>
  </p:cSld>
  <p:clrMap bg1="lt1" tx1="dk1" bg2="lt2" tx2="dk2" accent1="accent1" accent2="accent2" accent3="accent3" accent4="accent4" accent5="accent5" accent6="accent6" hlink="hlink" folHlink="folHlink"/>
  <p:sldLayoutIdLst>
    <p:sldLayoutId id="2147484294" r:id="rId1"/>
    <p:sldLayoutId id="2147484295" r:id="rId2"/>
    <p:sldLayoutId id="2147484288" r:id="rId3"/>
    <p:sldLayoutId id="2147484275" r:id="rId4"/>
    <p:sldLayoutId id="2147484276" r:id="rId5"/>
    <p:sldLayoutId id="2147484293" r:id="rId6"/>
    <p:sldLayoutId id="2147484277" r:id="rId7"/>
    <p:sldLayoutId id="2147484278" r:id="rId8"/>
    <p:sldLayoutId id="2147484279" r:id="rId9"/>
    <p:sldLayoutId id="2147484280" r:id="rId10"/>
    <p:sldLayoutId id="2147484281" r:id="rId11"/>
    <p:sldLayoutId id="2147484282" r:id="rId12"/>
    <p:sldLayoutId id="2147484283" r:id="rId13"/>
    <p:sldLayoutId id="2147484284" r:id="rId14"/>
    <p:sldLayoutId id="2147484285" r:id="rId15"/>
    <p:sldLayoutId id="2147484286"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4.xml"/><Relationship Id="rId5" Type="http://schemas.openxmlformats.org/officeDocument/2006/relationships/image" Target="../media/image7.png"/><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5.png"/><Relationship Id="rId7"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6.svg"/><Relationship Id="rId9" Type="http://schemas.openxmlformats.org/officeDocument/2006/relationships/image" Target="../media/image12.pn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5.png"/><Relationship Id="rId7" Type="http://schemas.openxmlformats.org/officeDocument/2006/relationships/image" Target="../media/image10.png"/><Relationship Id="rId12"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14.xml"/><Relationship Id="rId6" Type="http://schemas.openxmlformats.org/officeDocument/2006/relationships/image" Target="../media/image9.png"/><Relationship Id="rId11" Type="http://schemas.openxmlformats.org/officeDocument/2006/relationships/image" Target="../media/image15.png"/><Relationship Id="rId5" Type="http://schemas.openxmlformats.org/officeDocument/2006/relationships/image" Target="../media/image13.png"/><Relationship Id="rId10" Type="http://schemas.openxmlformats.org/officeDocument/2006/relationships/image" Target="../media/image14.png"/><Relationship Id="rId4" Type="http://schemas.openxmlformats.org/officeDocument/2006/relationships/image" Target="../media/image6.svg"/><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5.png"/><Relationship Id="rId7" Type="http://schemas.openxmlformats.org/officeDocument/2006/relationships/image" Target="../media/image10.png"/><Relationship Id="rId12"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4.xml"/><Relationship Id="rId6" Type="http://schemas.openxmlformats.org/officeDocument/2006/relationships/image" Target="../media/image9.png"/><Relationship Id="rId11" Type="http://schemas.openxmlformats.org/officeDocument/2006/relationships/image" Target="../media/image15.png"/><Relationship Id="rId5" Type="http://schemas.openxmlformats.org/officeDocument/2006/relationships/image" Target="../media/image17.png"/><Relationship Id="rId10" Type="http://schemas.openxmlformats.org/officeDocument/2006/relationships/image" Target="../media/image14.png"/><Relationship Id="rId4" Type="http://schemas.openxmlformats.org/officeDocument/2006/relationships/image" Target="../media/image6.svg"/><Relationship Id="rId9"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5.png"/><Relationship Id="rId7" Type="http://schemas.openxmlformats.org/officeDocument/2006/relationships/image" Target="../media/image11.png"/><Relationship Id="rId12"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14.xml"/><Relationship Id="rId6" Type="http://schemas.openxmlformats.org/officeDocument/2006/relationships/image" Target="../media/image10.png"/><Relationship Id="rId11" Type="http://schemas.openxmlformats.org/officeDocument/2006/relationships/image" Target="../media/image20.png"/><Relationship Id="rId5" Type="http://schemas.openxmlformats.org/officeDocument/2006/relationships/image" Target="../media/image9.png"/><Relationship Id="rId10" Type="http://schemas.openxmlformats.org/officeDocument/2006/relationships/image" Target="../media/image19.png"/><Relationship Id="rId4" Type="http://schemas.openxmlformats.org/officeDocument/2006/relationships/image" Target="../media/image6.svg"/><Relationship Id="rId9" Type="http://schemas.openxmlformats.org/officeDocument/2006/relationships/image" Target="../media/image18.png"/></Relationships>
</file>

<file path=ppt/slides/_rels/slide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5.png"/><Relationship Id="rId7" Type="http://schemas.openxmlformats.org/officeDocument/2006/relationships/image" Target="../media/image11.png"/><Relationship Id="rId12"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14.xml"/><Relationship Id="rId6" Type="http://schemas.openxmlformats.org/officeDocument/2006/relationships/image" Target="../media/image10.png"/><Relationship Id="rId11" Type="http://schemas.openxmlformats.org/officeDocument/2006/relationships/image" Target="../media/image24.png"/><Relationship Id="rId5" Type="http://schemas.openxmlformats.org/officeDocument/2006/relationships/image" Target="../media/image9.png"/><Relationship Id="rId10" Type="http://schemas.openxmlformats.org/officeDocument/2006/relationships/image" Target="../media/image23.png"/><Relationship Id="rId4" Type="http://schemas.openxmlformats.org/officeDocument/2006/relationships/image" Target="../media/image6.svg"/><Relationship Id="rId9"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14.xml"/><Relationship Id="rId5" Type="http://schemas.openxmlformats.org/officeDocument/2006/relationships/image" Target="../media/image28.png"/><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14.xml"/><Relationship Id="rId4" Type="http://schemas.openxmlformats.org/officeDocument/2006/relationships/image" Target="../media/image32.png"/></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22FDFC4-7213-4B80-88AC-CFDA713A6754}"/>
              </a:ext>
            </a:extLst>
          </p:cNvPr>
          <p:cNvSpPr>
            <a:spLocks noGrp="1"/>
          </p:cNvSpPr>
          <p:nvPr>
            <p:ph type="body" sz="quarter" idx="10"/>
          </p:nvPr>
        </p:nvSpPr>
        <p:spPr/>
        <p:txBody>
          <a:bodyPr/>
          <a:lstStyle/>
          <a:p>
            <a:r>
              <a:rPr lang="en-AU" dirty="0"/>
              <a:t>To analyse circular motion</a:t>
            </a:r>
          </a:p>
        </p:txBody>
      </p:sp>
      <p:sp>
        <p:nvSpPr>
          <p:cNvPr id="3" name="Text Placeholder 3">
            <a:extLst>
              <a:ext uri="{FF2B5EF4-FFF2-40B4-BE49-F238E27FC236}">
                <a16:creationId xmlns:a16="http://schemas.microsoft.com/office/drawing/2014/main" id="{15B39FF7-CE51-4DDE-B8F7-A2B32DD72593}"/>
              </a:ext>
            </a:extLst>
          </p:cNvPr>
          <p:cNvSpPr txBox="1">
            <a:spLocks/>
          </p:cNvSpPr>
          <p:nvPr/>
        </p:nvSpPr>
        <p:spPr>
          <a:xfrm>
            <a:off x="295274" y="4571479"/>
            <a:ext cx="3779478" cy="319722"/>
          </a:xfrm>
          <a:prstGeom prst="rect">
            <a:avLst/>
          </a:prstGeom>
          <a:solidFill>
            <a:srgbClr val="FBCA58"/>
          </a:solidFill>
        </p:spPr>
        <p:txBody>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2E546D"/>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Success Criteria</a:t>
            </a:r>
          </a:p>
        </p:txBody>
      </p:sp>
      <p:sp>
        <p:nvSpPr>
          <p:cNvPr id="4" name="Text Placeholder 2">
            <a:extLst>
              <a:ext uri="{FF2B5EF4-FFF2-40B4-BE49-F238E27FC236}">
                <a16:creationId xmlns:a16="http://schemas.microsoft.com/office/drawing/2014/main" id="{376F90D9-C05E-4F92-AA21-6770C35F6CD9}"/>
              </a:ext>
            </a:extLst>
          </p:cNvPr>
          <p:cNvSpPr txBox="1">
            <a:spLocks/>
          </p:cNvSpPr>
          <p:nvPr/>
        </p:nvSpPr>
        <p:spPr>
          <a:xfrm>
            <a:off x="209549" y="4921871"/>
            <a:ext cx="11601508" cy="1382567"/>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l">
              <a:buFont typeface="Arial" panose="020B0604020202020204" pitchFamily="34" charset="0"/>
              <a:buChar char="•"/>
            </a:pPr>
            <a:r>
              <a:rPr lang="en-US" sz="1600" b="0" i="0" dirty="0">
                <a:solidFill>
                  <a:srgbClr val="000303"/>
                </a:solidFill>
                <a:effectLst/>
                <a:latin typeface="+mj-lt"/>
              </a:rPr>
              <a:t>I can draw circular motions diagram with velocity, acceleration and force</a:t>
            </a:r>
          </a:p>
          <a:p>
            <a:pPr marL="171450" indent="-171450" algn="l">
              <a:buFont typeface="Arial" panose="020B0604020202020204" pitchFamily="34" charset="0"/>
              <a:buChar char="•"/>
            </a:pPr>
            <a:r>
              <a:rPr lang="en-US" sz="1600" b="0" i="0" dirty="0">
                <a:solidFill>
                  <a:srgbClr val="000303"/>
                </a:solidFill>
                <a:effectLst/>
                <a:latin typeface="+mj-lt"/>
              </a:rPr>
              <a:t>I can calculate velocity, acceleration and force for an object undergoing circular motion</a:t>
            </a:r>
          </a:p>
          <a:p>
            <a:pPr marL="171450" indent="-171450" algn="l">
              <a:buFont typeface="Arial" panose="020B0604020202020204" pitchFamily="34" charset="0"/>
              <a:buChar char="•"/>
            </a:pPr>
            <a:r>
              <a:rPr lang="en-US" sz="1600" b="0" i="0" dirty="0">
                <a:solidFill>
                  <a:srgbClr val="000303"/>
                </a:solidFill>
                <a:effectLst/>
                <a:latin typeface="+mj-lt"/>
              </a:rPr>
              <a:t>I can describe centripetal force</a:t>
            </a:r>
          </a:p>
        </p:txBody>
      </p:sp>
    </p:spTree>
    <p:extLst>
      <p:ext uri="{BB962C8B-B14F-4D97-AF65-F5344CB8AC3E}">
        <p14:creationId xmlns:p14="http://schemas.microsoft.com/office/powerpoint/2010/main" val="23111403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circular motion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177129" y="4251804"/>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6" name="Oval 5">
            <a:extLst>
              <a:ext uri="{FF2B5EF4-FFF2-40B4-BE49-F238E27FC236}">
                <a16:creationId xmlns:a16="http://schemas.microsoft.com/office/drawing/2014/main" id="{3D2AD87A-5164-4BED-B510-0C313C5563B5}"/>
              </a:ext>
            </a:extLst>
          </p:cNvPr>
          <p:cNvSpPr/>
          <p:nvPr/>
        </p:nvSpPr>
        <p:spPr>
          <a:xfrm>
            <a:off x="7124356" y="1007686"/>
            <a:ext cx="4553339" cy="4553339"/>
          </a:xfrm>
          <a:prstGeom prst="ellipse">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9" name="Graphic 8" descr="Car with solid fill">
            <a:extLst>
              <a:ext uri="{FF2B5EF4-FFF2-40B4-BE49-F238E27FC236}">
                <a16:creationId xmlns:a16="http://schemas.microsoft.com/office/drawing/2014/main" id="{502907DA-1F27-4F34-B69D-9BCEA65A94A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943825" y="677372"/>
            <a:ext cx="914400" cy="914400"/>
          </a:xfrm>
          <a:prstGeom prst="rect">
            <a:avLst/>
          </a:prstGeom>
        </p:spPr>
      </p:pic>
      <p:pic>
        <p:nvPicPr>
          <p:cNvPr id="24" name="Graphic 23" descr="Car with solid fill">
            <a:extLst>
              <a:ext uri="{FF2B5EF4-FFF2-40B4-BE49-F238E27FC236}">
                <a16:creationId xmlns:a16="http://schemas.microsoft.com/office/drawing/2014/main" id="{FCD375F5-2F39-467C-8633-A46E551DDDD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5400000">
            <a:off x="11020448" y="2700299"/>
            <a:ext cx="914400" cy="914400"/>
          </a:xfrm>
          <a:prstGeom prst="rect">
            <a:avLst/>
          </a:prstGeom>
        </p:spPr>
      </p:pic>
      <p:pic>
        <p:nvPicPr>
          <p:cNvPr id="25" name="Graphic 24" descr="Car with solid fill">
            <a:extLst>
              <a:ext uri="{FF2B5EF4-FFF2-40B4-BE49-F238E27FC236}">
                <a16:creationId xmlns:a16="http://schemas.microsoft.com/office/drawing/2014/main" id="{8AA361D8-8E20-4F53-AE09-CF829C48CE2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8943825" y="4976939"/>
            <a:ext cx="914400" cy="914400"/>
          </a:xfrm>
          <a:prstGeom prst="rect">
            <a:avLst/>
          </a:prstGeom>
        </p:spPr>
      </p:pic>
      <p:pic>
        <p:nvPicPr>
          <p:cNvPr id="26" name="Graphic 25" descr="Car with solid fill">
            <a:extLst>
              <a:ext uri="{FF2B5EF4-FFF2-40B4-BE49-F238E27FC236}">
                <a16:creationId xmlns:a16="http://schemas.microsoft.com/office/drawing/2014/main" id="{2A82C595-0610-4DA2-95B8-F5D3BC49056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a:off x="6781973" y="2899716"/>
            <a:ext cx="914400" cy="914400"/>
          </a:xfrm>
          <a:prstGeom prst="rect">
            <a:avLst/>
          </a:prstGeom>
        </p:spPr>
      </p:pic>
      <p:sp>
        <p:nvSpPr>
          <p:cNvPr id="27" name="Oval 26">
            <a:extLst>
              <a:ext uri="{FF2B5EF4-FFF2-40B4-BE49-F238E27FC236}">
                <a16:creationId xmlns:a16="http://schemas.microsoft.com/office/drawing/2014/main" id="{5BD3A10A-6921-4803-BC9E-414CE8AAF5A6}"/>
              </a:ext>
            </a:extLst>
          </p:cNvPr>
          <p:cNvSpPr/>
          <p:nvPr/>
        </p:nvSpPr>
        <p:spPr>
          <a:xfrm>
            <a:off x="7732256" y="1615586"/>
            <a:ext cx="3337538" cy="3337538"/>
          </a:xfrm>
          <a:prstGeom prst="ellipse">
            <a:avLst/>
          </a:prstGeom>
          <a:solidFill>
            <a:schemeClr val="accent6">
              <a:lumMod val="40000"/>
              <a:lumOff val="60000"/>
            </a:schemeClr>
          </a:solid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8" name="Text Placeholder 3">
            <a:extLst>
              <a:ext uri="{FF2B5EF4-FFF2-40B4-BE49-F238E27FC236}">
                <a16:creationId xmlns:a16="http://schemas.microsoft.com/office/drawing/2014/main" id="{7E11F69C-68AB-4B11-9E75-0C0F6E869F68}"/>
              </a:ext>
            </a:extLst>
          </p:cNvPr>
          <p:cNvSpPr txBox="1">
            <a:spLocks/>
          </p:cNvSpPr>
          <p:nvPr/>
        </p:nvSpPr>
        <p:spPr>
          <a:xfrm>
            <a:off x="295275" y="1148333"/>
            <a:ext cx="641470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3200" b="0" dirty="0"/>
              <a:t>Consider a car steadily driving around a roundabout.</a:t>
            </a:r>
            <a:endParaRPr lang="en-AU" sz="3600" b="0" dirty="0"/>
          </a:p>
        </p:txBody>
      </p:sp>
      <mc:AlternateContent xmlns:mc="http://schemas.openxmlformats.org/markup-compatibility/2006" xmlns:a14="http://schemas.microsoft.com/office/drawing/2010/main">
        <mc:Choice Requires="a14">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318582" y="2310470"/>
                <a:ext cx="641470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3200" b="0" dirty="0"/>
                  <a:t>Let </a:t>
                </a:r>
                <a:r>
                  <a:rPr lang="en-AU" sz="3200" dirty="0"/>
                  <a:t>T</a:t>
                </a:r>
                <a:r>
                  <a:rPr lang="en-AU" sz="3200" b="0" dirty="0"/>
                  <a:t> = the time taken to complete one rotation. This called the period.</a:t>
                </a:r>
              </a:p>
              <a:p>
                <a:r>
                  <a:rPr lang="en-AU" sz="3200" b="0" dirty="0"/>
                  <a:t>The distance is the circumference of the circle:</a:t>
                </a:r>
              </a:p>
              <a:p>
                <a:r>
                  <a:rPr lang="en-AU" sz="3200" dirty="0"/>
                  <a:t>s = 2</a:t>
                </a:r>
                <a:r>
                  <a:rPr lang="el-GR" sz="3200" dirty="0"/>
                  <a:t>π</a:t>
                </a:r>
                <a:r>
                  <a:rPr lang="en-AU" sz="3200" dirty="0"/>
                  <a:t>r</a:t>
                </a:r>
              </a:p>
              <a:p>
                <a:pPr algn="ctr"/>
                <a:r>
                  <a:rPr lang="en-AU" sz="3200" b="0" dirty="0"/>
                  <a:t>Speed = </a:t>
                </a:r>
                <a14:m>
                  <m:oMath xmlns:m="http://schemas.openxmlformats.org/officeDocument/2006/math">
                    <m:f>
                      <m:fPr>
                        <m:ctrlPr>
                          <a:rPr lang="en-AU" sz="3200" b="0" i="1" dirty="0" smtClean="0">
                            <a:latin typeface="Cambria Math" panose="02040503050406030204" pitchFamily="18" charset="0"/>
                          </a:rPr>
                        </m:ctrlPr>
                      </m:fPr>
                      <m:num>
                        <m:r>
                          <a:rPr lang="en-AU" sz="3200" b="0" i="1" dirty="0" smtClean="0">
                            <a:latin typeface="Cambria Math" panose="02040503050406030204" pitchFamily="18" charset="0"/>
                          </a:rPr>
                          <m:t>𝑠</m:t>
                        </m:r>
                      </m:num>
                      <m:den>
                        <m:r>
                          <a:rPr lang="en-AU" sz="3200" b="0" i="1" dirty="0" smtClean="0">
                            <a:latin typeface="Cambria Math" panose="02040503050406030204" pitchFamily="18" charset="0"/>
                          </a:rPr>
                          <m:t>𝑡</m:t>
                        </m:r>
                      </m:den>
                    </m:f>
                  </m:oMath>
                </a14:m>
                <a:r>
                  <a:rPr lang="en-AU" sz="3200" b="0" dirty="0"/>
                  <a:t> =</a:t>
                </a:r>
                <a:r>
                  <a:rPr lang="en-AU" sz="3200" dirty="0"/>
                  <a:t> </a:t>
                </a:r>
                <a14:m>
                  <m:oMath xmlns:m="http://schemas.openxmlformats.org/officeDocument/2006/math">
                    <m:f>
                      <m:fPr>
                        <m:ctrlPr>
                          <a:rPr lang="en-AU" sz="3200" b="0" i="1" dirty="0" smtClean="0">
                            <a:latin typeface="Cambria Math" panose="02040503050406030204" pitchFamily="18" charset="0"/>
                          </a:rPr>
                        </m:ctrlPr>
                      </m:fPr>
                      <m:num>
                        <m:r>
                          <a:rPr lang="en-AU" sz="3200" b="0" i="1" dirty="0">
                            <a:latin typeface="Cambria Math" panose="02040503050406030204" pitchFamily="18" charset="0"/>
                          </a:rPr>
                          <m:t>2</m:t>
                        </m:r>
                        <m:r>
                          <a:rPr lang="el-GR" sz="3200" b="0" i="1" dirty="0">
                            <a:latin typeface="Cambria Math" panose="02040503050406030204" pitchFamily="18" charset="0"/>
                          </a:rPr>
                          <m:t>𝜋</m:t>
                        </m:r>
                        <m:r>
                          <a:rPr lang="en-AU" sz="3200" b="0" i="1" dirty="0">
                            <a:latin typeface="Cambria Math" panose="02040503050406030204" pitchFamily="18" charset="0"/>
                          </a:rPr>
                          <m:t>𝑟</m:t>
                        </m:r>
                      </m:num>
                      <m:den>
                        <m:r>
                          <a:rPr lang="en-AU" sz="3200" b="0" i="1" dirty="0">
                            <a:latin typeface="Cambria Math" panose="02040503050406030204" pitchFamily="18" charset="0"/>
                          </a:rPr>
                          <m:t>𝑇</m:t>
                        </m:r>
                      </m:den>
                    </m:f>
                  </m:oMath>
                </a14:m>
                <a:endParaRPr lang="en-AU" sz="3600" b="0" dirty="0"/>
              </a:p>
            </p:txBody>
          </p:sp>
        </mc:Choice>
        <mc:Fallback xmlns="">
          <p:sp>
            <p:nvSpPr>
              <p:cNvPr id="29" name="Text Placeholder 3">
                <a:extLst>
                  <a:ext uri="{FF2B5EF4-FFF2-40B4-BE49-F238E27FC236}">
                    <a16:creationId xmlns:a16="http://schemas.microsoft.com/office/drawing/2014/main" id="{0F9EF218-A1AE-49FC-A0C0-AC3DBB0665A7}"/>
                  </a:ext>
                </a:extLst>
              </p:cNvPr>
              <p:cNvSpPr txBox="1">
                <a:spLocks noRot="1" noChangeAspect="1" noMove="1" noResize="1" noEditPoints="1" noAdjustHandles="1" noChangeArrowheads="1" noChangeShapeType="1" noTextEdit="1"/>
              </p:cNvSpPr>
              <p:nvPr/>
            </p:nvSpPr>
            <p:spPr>
              <a:xfrm>
                <a:off x="318582" y="2310470"/>
                <a:ext cx="6414706" cy="885562"/>
              </a:xfrm>
              <a:prstGeom prst="rect">
                <a:avLst/>
              </a:prstGeom>
              <a:blipFill>
                <a:blip r:embed="rId5"/>
                <a:stretch>
                  <a:fillRect l="-2374" t="-14483" b="-333103"/>
                </a:stretch>
              </a:blipFill>
            </p:spPr>
            <p:txBody>
              <a:bodyPr/>
              <a:lstStyle/>
              <a:p>
                <a:r>
                  <a:rPr lang="en-AU">
                    <a:noFill/>
                  </a:rPr>
                  <a:t> </a:t>
                </a:r>
              </a:p>
            </p:txBody>
          </p:sp>
        </mc:Fallback>
      </mc:AlternateContent>
      <p:sp>
        <p:nvSpPr>
          <p:cNvPr id="11" name="Rectangle 10">
            <a:extLst>
              <a:ext uri="{FF2B5EF4-FFF2-40B4-BE49-F238E27FC236}">
                <a16:creationId xmlns:a16="http://schemas.microsoft.com/office/drawing/2014/main" id="{97CB4FCB-0C74-4E2F-889C-7C30D158A876}"/>
              </a:ext>
            </a:extLst>
          </p:cNvPr>
          <p:cNvSpPr/>
          <p:nvPr/>
        </p:nvSpPr>
        <p:spPr>
          <a:xfrm>
            <a:off x="1889090" y="5225143"/>
            <a:ext cx="3415796" cy="914401"/>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478047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9">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1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circular motion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177129" y="4251804"/>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6" name="Oval 5">
            <a:extLst>
              <a:ext uri="{FF2B5EF4-FFF2-40B4-BE49-F238E27FC236}">
                <a16:creationId xmlns:a16="http://schemas.microsoft.com/office/drawing/2014/main" id="{3D2AD87A-5164-4BED-B510-0C313C5563B5}"/>
              </a:ext>
            </a:extLst>
          </p:cNvPr>
          <p:cNvSpPr/>
          <p:nvPr/>
        </p:nvSpPr>
        <p:spPr>
          <a:xfrm>
            <a:off x="7124356" y="1007686"/>
            <a:ext cx="4553339" cy="4553339"/>
          </a:xfrm>
          <a:prstGeom prst="ellipse">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9" name="Graphic 8" descr="Car with solid fill">
            <a:extLst>
              <a:ext uri="{FF2B5EF4-FFF2-40B4-BE49-F238E27FC236}">
                <a16:creationId xmlns:a16="http://schemas.microsoft.com/office/drawing/2014/main" id="{502907DA-1F27-4F34-B69D-9BCEA65A94A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943825" y="677372"/>
            <a:ext cx="914400" cy="914400"/>
          </a:xfrm>
          <a:prstGeom prst="rect">
            <a:avLst/>
          </a:prstGeom>
        </p:spPr>
      </p:pic>
      <p:pic>
        <p:nvPicPr>
          <p:cNvPr id="24" name="Graphic 23" descr="Car with solid fill">
            <a:extLst>
              <a:ext uri="{FF2B5EF4-FFF2-40B4-BE49-F238E27FC236}">
                <a16:creationId xmlns:a16="http://schemas.microsoft.com/office/drawing/2014/main" id="{FCD375F5-2F39-467C-8633-A46E551DDDD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5400000">
            <a:off x="11020448" y="2700299"/>
            <a:ext cx="914400" cy="914400"/>
          </a:xfrm>
          <a:prstGeom prst="rect">
            <a:avLst/>
          </a:prstGeom>
        </p:spPr>
      </p:pic>
      <p:pic>
        <p:nvPicPr>
          <p:cNvPr id="25" name="Graphic 24" descr="Car with solid fill">
            <a:extLst>
              <a:ext uri="{FF2B5EF4-FFF2-40B4-BE49-F238E27FC236}">
                <a16:creationId xmlns:a16="http://schemas.microsoft.com/office/drawing/2014/main" id="{8AA361D8-8E20-4F53-AE09-CF829C48CE2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8943825" y="4976939"/>
            <a:ext cx="914400" cy="914400"/>
          </a:xfrm>
          <a:prstGeom prst="rect">
            <a:avLst/>
          </a:prstGeom>
        </p:spPr>
      </p:pic>
      <p:pic>
        <p:nvPicPr>
          <p:cNvPr id="26" name="Graphic 25" descr="Car with solid fill">
            <a:extLst>
              <a:ext uri="{FF2B5EF4-FFF2-40B4-BE49-F238E27FC236}">
                <a16:creationId xmlns:a16="http://schemas.microsoft.com/office/drawing/2014/main" id="{2A82C595-0610-4DA2-95B8-F5D3BC49056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a:off x="6781973" y="2899716"/>
            <a:ext cx="914400" cy="914400"/>
          </a:xfrm>
          <a:prstGeom prst="rect">
            <a:avLst/>
          </a:prstGeom>
        </p:spPr>
      </p:pic>
      <p:sp>
        <p:nvSpPr>
          <p:cNvPr id="27" name="Oval 26">
            <a:extLst>
              <a:ext uri="{FF2B5EF4-FFF2-40B4-BE49-F238E27FC236}">
                <a16:creationId xmlns:a16="http://schemas.microsoft.com/office/drawing/2014/main" id="{5BD3A10A-6921-4803-BC9E-414CE8AAF5A6}"/>
              </a:ext>
            </a:extLst>
          </p:cNvPr>
          <p:cNvSpPr/>
          <p:nvPr/>
        </p:nvSpPr>
        <p:spPr>
          <a:xfrm>
            <a:off x="7732256" y="1615586"/>
            <a:ext cx="3337538" cy="3337538"/>
          </a:xfrm>
          <a:prstGeom prst="ellipse">
            <a:avLst/>
          </a:prstGeom>
          <a:solidFill>
            <a:schemeClr val="accent6">
              <a:lumMod val="40000"/>
              <a:lumOff val="60000"/>
            </a:schemeClr>
          </a:solid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8" name="Text Placeholder 3">
            <a:extLst>
              <a:ext uri="{FF2B5EF4-FFF2-40B4-BE49-F238E27FC236}">
                <a16:creationId xmlns:a16="http://schemas.microsoft.com/office/drawing/2014/main" id="{7E11F69C-68AB-4B11-9E75-0C0F6E869F68}"/>
              </a:ext>
            </a:extLst>
          </p:cNvPr>
          <p:cNvSpPr txBox="1">
            <a:spLocks/>
          </p:cNvSpPr>
          <p:nvPr/>
        </p:nvSpPr>
        <p:spPr>
          <a:xfrm>
            <a:off x="101749" y="1048616"/>
            <a:ext cx="641470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3200" b="0" dirty="0"/>
              <a:t>What is the velocity of the car?</a:t>
            </a:r>
          </a:p>
        </p:txBody>
      </p:sp>
      <mc:AlternateContent xmlns:mc="http://schemas.openxmlformats.org/markup-compatibility/2006" xmlns:a14="http://schemas.microsoft.com/office/drawing/2010/main">
        <mc:Choice Requires="a14">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683465"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3200" b="0" dirty="0"/>
                  <a:t>The car returns to its origin so the displacement = 0. The average velocity is 0.</a:t>
                </a:r>
              </a:p>
              <a:p>
                <a:r>
                  <a:rPr lang="en-AU" sz="3200" b="0" dirty="0"/>
                  <a:t>But we also know that the speed is constant. And that velocity is speed with a direction.</a:t>
                </a:r>
              </a:p>
              <a:p>
                <a:pPr algn="ctr"/>
                <a:r>
                  <a:rPr lang="en-AU" sz="3200" b="0" dirty="0"/>
                  <a:t>Instantaneous velocity  = </a:t>
                </a:r>
                <a14:m>
                  <m:oMath xmlns:m="http://schemas.openxmlformats.org/officeDocument/2006/math">
                    <m:f>
                      <m:fPr>
                        <m:ctrlPr>
                          <a:rPr lang="en-AU" sz="3200" b="0" i="1" dirty="0" smtClean="0">
                            <a:latin typeface="Cambria Math" panose="02040503050406030204" pitchFamily="18" charset="0"/>
                          </a:rPr>
                        </m:ctrlPr>
                      </m:fPr>
                      <m:num>
                        <m:r>
                          <a:rPr lang="en-AU" sz="3200" b="0" i="1" dirty="0" smtClean="0">
                            <a:latin typeface="Cambria Math" panose="02040503050406030204" pitchFamily="18" charset="0"/>
                          </a:rPr>
                          <m:t>𝑠</m:t>
                        </m:r>
                      </m:num>
                      <m:den>
                        <m:r>
                          <a:rPr lang="en-AU" sz="3200" b="0" i="1" dirty="0" smtClean="0">
                            <a:latin typeface="Cambria Math" panose="02040503050406030204" pitchFamily="18" charset="0"/>
                          </a:rPr>
                          <m:t>𝑡</m:t>
                        </m:r>
                      </m:den>
                    </m:f>
                  </m:oMath>
                </a14:m>
                <a:r>
                  <a:rPr lang="en-AU" sz="3200" b="0" dirty="0"/>
                  <a:t> =</a:t>
                </a:r>
                <a:r>
                  <a:rPr lang="en-AU" sz="3200" dirty="0"/>
                  <a:t> </a:t>
                </a:r>
                <a14:m>
                  <m:oMath xmlns:m="http://schemas.openxmlformats.org/officeDocument/2006/math">
                    <m:f>
                      <m:fPr>
                        <m:ctrlPr>
                          <a:rPr lang="en-AU" sz="3200" b="0" i="1" dirty="0" smtClean="0">
                            <a:latin typeface="Cambria Math" panose="02040503050406030204" pitchFamily="18" charset="0"/>
                          </a:rPr>
                        </m:ctrlPr>
                      </m:fPr>
                      <m:num>
                        <m:r>
                          <a:rPr lang="en-AU" sz="3200" b="0" i="1" dirty="0">
                            <a:latin typeface="Cambria Math" panose="02040503050406030204" pitchFamily="18" charset="0"/>
                          </a:rPr>
                          <m:t>2</m:t>
                        </m:r>
                        <m:r>
                          <a:rPr lang="el-GR" sz="3200" b="0" i="1" dirty="0">
                            <a:latin typeface="Cambria Math" panose="02040503050406030204" pitchFamily="18" charset="0"/>
                          </a:rPr>
                          <m:t>𝜋</m:t>
                        </m:r>
                        <m:r>
                          <a:rPr lang="en-AU" sz="3200" b="0" i="1" dirty="0">
                            <a:latin typeface="Cambria Math" panose="02040503050406030204" pitchFamily="18" charset="0"/>
                          </a:rPr>
                          <m:t>𝑟</m:t>
                        </m:r>
                      </m:num>
                      <m:den>
                        <m:r>
                          <a:rPr lang="en-AU" sz="3200" b="0" i="1" dirty="0">
                            <a:latin typeface="Cambria Math" panose="02040503050406030204" pitchFamily="18" charset="0"/>
                          </a:rPr>
                          <m:t>𝑇</m:t>
                        </m:r>
                      </m:den>
                    </m:f>
                  </m:oMath>
                </a14:m>
                <a:endParaRPr lang="en-AU" sz="3600" b="0" dirty="0"/>
              </a:p>
            </p:txBody>
          </p:sp>
        </mc:Choice>
        <mc:Fallback xmlns="">
          <p:sp>
            <p:nvSpPr>
              <p:cNvPr id="29" name="Text Placeholder 3">
                <a:extLst>
                  <a:ext uri="{FF2B5EF4-FFF2-40B4-BE49-F238E27FC236}">
                    <a16:creationId xmlns:a16="http://schemas.microsoft.com/office/drawing/2014/main" id="{0F9EF218-A1AE-49FC-A0C0-AC3DBB0665A7}"/>
                  </a:ext>
                </a:extLst>
              </p:cNvPr>
              <p:cNvSpPr txBox="1">
                <a:spLocks noRot="1" noChangeAspect="1" noMove="1" noResize="1" noEditPoints="1" noAdjustHandles="1" noChangeArrowheads="1" noChangeShapeType="1" noTextEdit="1"/>
              </p:cNvSpPr>
              <p:nvPr/>
            </p:nvSpPr>
            <p:spPr>
              <a:xfrm>
                <a:off x="98508" y="1932294"/>
                <a:ext cx="6683465" cy="885562"/>
              </a:xfrm>
              <a:prstGeom prst="rect">
                <a:avLst/>
              </a:prstGeom>
              <a:blipFill>
                <a:blip r:embed="rId5"/>
                <a:stretch>
                  <a:fillRect l="-2279" t="-14483" r="-2917" b="-318621"/>
                </a:stretch>
              </a:blipFill>
            </p:spPr>
            <p:txBody>
              <a:bodyPr/>
              <a:lstStyle/>
              <a:p>
                <a:r>
                  <a:rPr lang="en-AU">
                    <a:noFill/>
                  </a:rPr>
                  <a:t> </a:t>
                </a:r>
              </a:p>
            </p:txBody>
          </p:sp>
        </mc:Fallback>
      </mc:AlternateContent>
      <p:sp>
        <p:nvSpPr>
          <p:cNvPr id="16" name="Rectangle 15">
            <a:extLst>
              <a:ext uri="{FF2B5EF4-FFF2-40B4-BE49-F238E27FC236}">
                <a16:creationId xmlns:a16="http://schemas.microsoft.com/office/drawing/2014/main" id="{982B94AD-58D5-4C53-BA16-1D43439DE123}"/>
              </a:ext>
            </a:extLst>
          </p:cNvPr>
          <p:cNvSpPr/>
          <p:nvPr/>
        </p:nvSpPr>
        <p:spPr>
          <a:xfrm>
            <a:off x="266261" y="4768026"/>
            <a:ext cx="6414706" cy="157465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7" name="Text Placeholder 3">
            <a:extLst>
              <a:ext uri="{FF2B5EF4-FFF2-40B4-BE49-F238E27FC236}">
                <a16:creationId xmlns:a16="http://schemas.microsoft.com/office/drawing/2014/main" id="{EC46EDC4-1BE1-41DA-ACF7-FC294C3DC658}"/>
              </a:ext>
            </a:extLst>
          </p:cNvPr>
          <p:cNvSpPr txBox="1">
            <a:spLocks/>
          </p:cNvSpPr>
          <p:nvPr/>
        </p:nvSpPr>
        <p:spPr>
          <a:xfrm>
            <a:off x="1012908" y="5681057"/>
            <a:ext cx="6683465"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400" b="0" dirty="0"/>
              <a:t>tangential to the circular path</a:t>
            </a:r>
          </a:p>
        </p:txBody>
      </p:sp>
      <p:grpSp>
        <p:nvGrpSpPr>
          <p:cNvPr id="10" name="Group 9">
            <a:extLst>
              <a:ext uri="{FF2B5EF4-FFF2-40B4-BE49-F238E27FC236}">
                <a16:creationId xmlns:a16="http://schemas.microsoft.com/office/drawing/2014/main" id="{FE3FA2F7-D65C-4A63-B823-69D70E30C5C7}"/>
              </a:ext>
            </a:extLst>
          </p:cNvPr>
          <p:cNvGrpSpPr/>
          <p:nvPr/>
        </p:nvGrpSpPr>
        <p:grpSpPr>
          <a:xfrm>
            <a:off x="6667155" y="715270"/>
            <a:ext cx="5503623" cy="5514785"/>
            <a:chOff x="6667155" y="715270"/>
            <a:chExt cx="5503623" cy="5514785"/>
          </a:xfrm>
        </p:grpSpPr>
        <p:cxnSp>
          <p:nvCxnSpPr>
            <p:cNvPr id="7" name="Straight Arrow Connector 6">
              <a:extLst>
                <a:ext uri="{FF2B5EF4-FFF2-40B4-BE49-F238E27FC236}">
                  <a16:creationId xmlns:a16="http://schemas.microsoft.com/office/drawing/2014/main" id="{F2DC7BB0-685C-452B-8AB9-9AF5D694F71E}"/>
                </a:ext>
              </a:extLst>
            </p:cNvPr>
            <p:cNvCxnSpPr>
              <a:stCxn id="24" idx="3"/>
            </p:cNvCxnSpPr>
            <p:nvPr/>
          </p:nvCxnSpPr>
          <p:spPr>
            <a:xfrm flipH="1">
              <a:off x="11465169" y="3614699"/>
              <a:ext cx="12479" cy="1522667"/>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D46FB727-0502-4A81-A341-44C53C5C0EA7}"/>
                </a:ext>
              </a:extLst>
            </p:cNvPr>
            <p:cNvCxnSpPr>
              <a:cxnSpLocks/>
            </p:cNvCxnSpPr>
            <p:nvPr/>
          </p:nvCxnSpPr>
          <p:spPr>
            <a:xfrm rot="16200000" flipH="1">
              <a:off x="10613319" y="404086"/>
              <a:ext cx="12479" cy="1522667"/>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9799785E-74A7-4849-AE7B-7C2D47CF3288}"/>
                </a:ext>
              </a:extLst>
            </p:cNvPr>
            <p:cNvCxnSpPr>
              <a:cxnSpLocks/>
            </p:cNvCxnSpPr>
            <p:nvPr/>
          </p:nvCxnSpPr>
          <p:spPr>
            <a:xfrm rot="10800000" flipH="1">
              <a:off x="7297985" y="1357126"/>
              <a:ext cx="12479" cy="1522667"/>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40B33396-8945-4F14-BC1B-86B6A79BD1E5}"/>
                </a:ext>
              </a:extLst>
            </p:cNvPr>
            <p:cNvCxnSpPr>
              <a:cxnSpLocks/>
            </p:cNvCxnSpPr>
            <p:nvPr/>
          </p:nvCxnSpPr>
          <p:spPr>
            <a:xfrm rot="5400000" flipH="1">
              <a:off x="8176252" y="4587862"/>
              <a:ext cx="12479" cy="1522667"/>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66241D3-1DDE-4402-A3D9-A39BBEBEE592}"/>
                    </a:ext>
                  </a:extLst>
                </p:cNvPr>
                <p:cNvSpPr txBox="1"/>
                <p:nvPr/>
              </p:nvSpPr>
              <p:spPr>
                <a:xfrm>
                  <a:off x="6667155" y="1849903"/>
                  <a:ext cx="914400" cy="914400"/>
                </a:xfrm>
                <a:prstGeom prst="rect">
                  <a:avLst/>
                </a:prstGeom>
                <a:noFill/>
                <a:ln>
                  <a:noFill/>
                </a:ln>
              </p:spPr>
              <p:txBody>
                <a:bodyPr wrap="none" lIns="0" tIns="0" rIns="0" bIns="0" rtlCol="0" anchor="t" anchorCtr="0">
                  <a:normAutofit/>
                </a:bodyPr>
                <a:lstStyle/>
                <a:p>
                  <a:pPr algn="l"/>
                  <a14:m>
                    <m:oMathPara xmlns:m="http://schemas.openxmlformats.org/officeDocument/2006/math">
                      <m:oMathParaPr>
                        <m:jc m:val="centerGroup"/>
                      </m:oMathParaPr>
                      <m:oMath xmlns:m="http://schemas.openxmlformats.org/officeDocument/2006/math">
                        <m:r>
                          <a:rPr lang="en-AU" sz="2800" b="1" i="1" smtClean="0">
                            <a:solidFill>
                              <a:srgbClr val="FF0000"/>
                            </a:solidFill>
                            <a:latin typeface="Cambria Math" panose="02040503050406030204" pitchFamily="18" charset="0"/>
                            <a:cs typeface="Futura Medium" panose="020B0602020204020303" pitchFamily="34" charset="-79"/>
                          </a:rPr>
                          <m:t>𝒗</m:t>
                        </m:r>
                      </m:oMath>
                    </m:oMathPara>
                  </a14:m>
                  <a:endParaRPr lang="en-AU" sz="2800" b="1" dirty="0">
                    <a:solidFill>
                      <a:srgbClr val="FF0000"/>
                    </a:solidFill>
                    <a:latin typeface="Century Gothic" panose="020B0502020202020204" pitchFamily="34" charset="0"/>
                    <a:cs typeface="Futura Medium" panose="020B0602020204020303" pitchFamily="34" charset="-79"/>
                  </a:endParaRPr>
                </a:p>
              </p:txBody>
            </p:sp>
          </mc:Choice>
          <mc:Fallback xmlns="">
            <p:sp>
              <p:nvSpPr>
                <p:cNvPr id="8" name="TextBox 7">
                  <a:extLst>
                    <a:ext uri="{FF2B5EF4-FFF2-40B4-BE49-F238E27FC236}">
                      <a16:creationId xmlns:a16="http://schemas.microsoft.com/office/drawing/2014/main" id="{A66241D3-1DDE-4402-A3D9-A39BBEBEE592}"/>
                    </a:ext>
                  </a:extLst>
                </p:cNvPr>
                <p:cNvSpPr txBox="1">
                  <a:spLocks noRot="1" noChangeAspect="1" noMove="1" noResize="1" noEditPoints="1" noAdjustHandles="1" noChangeArrowheads="1" noChangeShapeType="1" noTextEdit="1"/>
                </p:cNvSpPr>
                <p:nvPr/>
              </p:nvSpPr>
              <p:spPr>
                <a:xfrm>
                  <a:off x="6667155" y="1849903"/>
                  <a:ext cx="914400" cy="914400"/>
                </a:xfrm>
                <a:prstGeom prst="rect">
                  <a:avLst/>
                </a:prstGeom>
                <a:blipFill>
                  <a:blip r:embed="rId6"/>
                  <a:stretch>
                    <a:fillRect/>
                  </a:stretch>
                </a:blipFill>
                <a:ln>
                  <a:noFill/>
                </a:ln>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0F77CBAF-CC21-46EB-8F97-F97FAD62DDE5}"/>
                    </a:ext>
                  </a:extLst>
                </p:cNvPr>
                <p:cNvSpPr txBox="1"/>
                <p:nvPr/>
              </p:nvSpPr>
              <p:spPr>
                <a:xfrm>
                  <a:off x="10069842" y="715270"/>
                  <a:ext cx="914400" cy="914400"/>
                </a:xfrm>
                <a:prstGeom prst="rect">
                  <a:avLst/>
                </a:prstGeom>
                <a:noFill/>
                <a:ln>
                  <a:noFill/>
                </a:ln>
              </p:spPr>
              <p:txBody>
                <a:bodyPr wrap="none" lIns="0" tIns="0" rIns="0" bIns="0" rtlCol="0" anchor="t" anchorCtr="0">
                  <a:normAutofit/>
                </a:bodyPr>
                <a:lstStyle/>
                <a:p>
                  <a:pPr algn="l"/>
                  <a14:m>
                    <m:oMathPara xmlns:m="http://schemas.openxmlformats.org/officeDocument/2006/math">
                      <m:oMathParaPr>
                        <m:jc m:val="centerGroup"/>
                      </m:oMathParaPr>
                      <m:oMath xmlns:m="http://schemas.openxmlformats.org/officeDocument/2006/math">
                        <m:r>
                          <a:rPr lang="en-AU" sz="2800" b="1" i="1" smtClean="0">
                            <a:solidFill>
                              <a:srgbClr val="FF0000"/>
                            </a:solidFill>
                            <a:latin typeface="Cambria Math" panose="02040503050406030204" pitchFamily="18" charset="0"/>
                            <a:cs typeface="Futura Medium" panose="020B0602020204020303" pitchFamily="34" charset="-79"/>
                          </a:rPr>
                          <m:t>𝒗</m:t>
                        </m:r>
                      </m:oMath>
                    </m:oMathPara>
                  </a14:m>
                  <a:endParaRPr lang="en-AU" sz="2800" b="1" dirty="0">
                    <a:solidFill>
                      <a:srgbClr val="FF0000"/>
                    </a:solidFill>
                    <a:latin typeface="Century Gothic" panose="020B0502020202020204" pitchFamily="34" charset="0"/>
                    <a:cs typeface="Futura Medium" panose="020B0602020204020303" pitchFamily="34" charset="-79"/>
                  </a:endParaRPr>
                </a:p>
              </p:txBody>
            </p:sp>
          </mc:Choice>
          <mc:Fallback xmlns="">
            <p:sp>
              <p:nvSpPr>
                <p:cNvPr id="30" name="TextBox 29">
                  <a:extLst>
                    <a:ext uri="{FF2B5EF4-FFF2-40B4-BE49-F238E27FC236}">
                      <a16:creationId xmlns:a16="http://schemas.microsoft.com/office/drawing/2014/main" id="{0F77CBAF-CC21-46EB-8F97-F97FAD62DDE5}"/>
                    </a:ext>
                  </a:extLst>
                </p:cNvPr>
                <p:cNvSpPr txBox="1">
                  <a:spLocks noRot="1" noChangeAspect="1" noMove="1" noResize="1" noEditPoints="1" noAdjustHandles="1" noChangeArrowheads="1" noChangeShapeType="1" noTextEdit="1"/>
                </p:cNvSpPr>
                <p:nvPr/>
              </p:nvSpPr>
              <p:spPr>
                <a:xfrm>
                  <a:off x="10069842" y="715270"/>
                  <a:ext cx="914400" cy="914400"/>
                </a:xfrm>
                <a:prstGeom prst="rect">
                  <a:avLst/>
                </a:prstGeom>
                <a:blipFill>
                  <a:blip r:embed="rId7"/>
                  <a:stretch>
                    <a:fillRect/>
                  </a:stretch>
                </a:blipFill>
                <a:ln>
                  <a:noFill/>
                </a:ln>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90F95547-596A-4CF1-9A62-631AF7323945}"/>
                    </a:ext>
                  </a:extLst>
                </p:cNvPr>
                <p:cNvSpPr txBox="1"/>
                <p:nvPr/>
              </p:nvSpPr>
              <p:spPr>
                <a:xfrm>
                  <a:off x="11256378" y="4062539"/>
                  <a:ext cx="914400" cy="914400"/>
                </a:xfrm>
                <a:prstGeom prst="rect">
                  <a:avLst/>
                </a:prstGeom>
                <a:noFill/>
                <a:ln>
                  <a:noFill/>
                </a:ln>
              </p:spPr>
              <p:txBody>
                <a:bodyPr wrap="none" lIns="0" tIns="0" rIns="0" bIns="0" rtlCol="0" anchor="t" anchorCtr="0">
                  <a:normAutofit/>
                </a:bodyPr>
                <a:lstStyle/>
                <a:p>
                  <a:pPr algn="l"/>
                  <a14:m>
                    <m:oMathPara xmlns:m="http://schemas.openxmlformats.org/officeDocument/2006/math">
                      <m:oMathParaPr>
                        <m:jc m:val="centerGroup"/>
                      </m:oMathParaPr>
                      <m:oMath xmlns:m="http://schemas.openxmlformats.org/officeDocument/2006/math">
                        <m:r>
                          <a:rPr lang="en-AU" sz="2800" b="1" i="1" smtClean="0">
                            <a:solidFill>
                              <a:srgbClr val="FF0000"/>
                            </a:solidFill>
                            <a:latin typeface="Cambria Math" panose="02040503050406030204" pitchFamily="18" charset="0"/>
                            <a:cs typeface="Futura Medium" panose="020B0602020204020303" pitchFamily="34" charset="-79"/>
                          </a:rPr>
                          <m:t>𝒗</m:t>
                        </m:r>
                      </m:oMath>
                    </m:oMathPara>
                  </a14:m>
                  <a:endParaRPr lang="en-AU" sz="2800" b="1" dirty="0">
                    <a:solidFill>
                      <a:srgbClr val="FF0000"/>
                    </a:solidFill>
                    <a:latin typeface="Century Gothic" panose="020B0502020202020204" pitchFamily="34" charset="0"/>
                    <a:cs typeface="Futura Medium" panose="020B0602020204020303" pitchFamily="34" charset="-79"/>
                  </a:endParaRPr>
                </a:p>
              </p:txBody>
            </p:sp>
          </mc:Choice>
          <mc:Fallback xmlns="">
            <p:sp>
              <p:nvSpPr>
                <p:cNvPr id="31" name="TextBox 30">
                  <a:extLst>
                    <a:ext uri="{FF2B5EF4-FFF2-40B4-BE49-F238E27FC236}">
                      <a16:creationId xmlns:a16="http://schemas.microsoft.com/office/drawing/2014/main" id="{90F95547-596A-4CF1-9A62-631AF7323945}"/>
                    </a:ext>
                  </a:extLst>
                </p:cNvPr>
                <p:cNvSpPr txBox="1">
                  <a:spLocks noRot="1" noChangeAspect="1" noMove="1" noResize="1" noEditPoints="1" noAdjustHandles="1" noChangeArrowheads="1" noChangeShapeType="1" noTextEdit="1"/>
                </p:cNvSpPr>
                <p:nvPr/>
              </p:nvSpPr>
              <p:spPr>
                <a:xfrm>
                  <a:off x="11256378" y="4062539"/>
                  <a:ext cx="914400" cy="914400"/>
                </a:xfrm>
                <a:prstGeom prst="rect">
                  <a:avLst/>
                </a:prstGeom>
                <a:blipFill>
                  <a:blip r:embed="rId8"/>
                  <a:stretch>
                    <a:fillRect/>
                  </a:stretch>
                </a:blipFill>
                <a:ln>
                  <a:noFill/>
                </a:ln>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CDFB747D-C59A-4BA5-B5FA-C622FE24AA35}"/>
                    </a:ext>
                  </a:extLst>
                </p:cNvPr>
                <p:cNvSpPr txBox="1"/>
                <p:nvPr/>
              </p:nvSpPr>
              <p:spPr>
                <a:xfrm>
                  <a:off x="7829378" y="5315655"/>
                  <a:ext cx="914400" cy="914400"/>
                </a:xfrm>
                <a:prstGeom prst="rect">
                  <a:avLst/>
                </a:prstGeom>
                <a:noFill/>
                <a:ln>
                  <a:noFill/>
                </a:ln>
              </p:spPr>
              <p:txBody>
                <a:bodyPr wrap="none" lIns="0" tIns="0" rIns="0" bIns="0" rtlCol="0" anchor="t" anchorCtr="0">
                  <a:normAutofit/>
                </a:bodyPr>
                <a:lstStyle/>
                <a:p>
                  <a:pPr algn="l"/>
                  <a14:m>
                    <m:oMathPara xmlns:m="http://schemas.openxmlformats.org/officeDocument/2006/math">
                      <m:oMathParaPr>
                        <m:jc m:val="centerGroup"/>
                      </m:oMathParaPr>
                      <m:oMath xmlns:m="http://schemas.openxmlformats.org/officeDocument/2006/math">
                        <m:r>
                          <a:rPr lang="en-AU" sz="2800" b="1" i="1" smtClean="0">
                            <a:solidFill>
                              <a:srgbClr val="FF0000"/>
                            </a:solidFill>
                            <a:latin typeface="Cambria Math" panose="02040503050406030204" pitchFamily="18" charset="0"/>
                            <a:cs typeface="Futura Medium" panose="020B0602020204020303" pitchFamily="34" charset="-79"/>
                          </a:rPr>
                          <m:t>𝒗</m:t>
                        </m:r>
                      </m:oMath>
                    </m:oMathPara>
                  </a14:m>
                  <a:endParaRPr lang="en-AU" sz="2800" b="1" dirty="0">
                    <a:solidFill>
                      <a:srgbClr val="FF0000"/>
                    </a:solidFill>
                    <a:latin typeface="Century Gothic" panose="020B0502020202020204" pitchFamily="34" charset="0"/>
                    <a:cs typeface="Futura Medium" panose="020B0602020204020303" pitchFamily="34" charset="-79"/>
                  </a:endParaRPr>
                </a:p>
              </p:txBody>
            </p:sp>
          </mc:Choice>
          <mc:Fallback xmlns="">
            <p:sp>
              <p:nvSpPr>
                <p:cNvPr id="32" name="TextBox 31">
                  <a:extLst>
                    <a:ext uri="{FF2B5EF4-FFF2-40B4-BE49-F238E27FC236}">
                      <a16:creationId xmlns:a16="http://schemas.microsoft.com/office/drawing/2014/main" id="{CDFB747D-C59A-4BA5-B5FA-C622FE24AA35}"/>
                    </a:ext>
                  </a:extLst>
                </p:cNvPr>
                <p:cNvSpPr txBox="1">
                  <a:spLocks noRot="1" noChangeAspect="1" noMove="1" noResize="1" noEditPoints="1" noAdjustHandles="1" noChangeArrowheads="1" noChangeShapeType="1" noTextEdit="1"/>
                </p:cNvSpPr>
                <p:nvPr/>
              </p:nvSpPr>
              <p:spPr>
                <a:xfrm>
                  <a:off x="7829378" y="5315655"/>
                  <a:ext cx="914400" cy="914400"/>
                </a:xfrm>
                <a:prstGeom prst="rect">
                  <a:avLst/>
                </a:prstGeom>
                <a:blipFill>
                  <a:blip r:embed="rId9"/>
                  <a:stretch>
                    <a:fillRect/>
                  </a:stretch>
                </a:blipFill>
                <a:ln>
                  <a:noFill/>
                </a:ln>
              </p:spPr>
              <p:txBody>
                <a:bodyPr/>
                <a:lstStyle/>
                <a:p>
                  <a:r>
                    <a:rPr lang="en-AU">
                      <a:noFill/>
                    </a:rPr>
                    <a:t> </a:t>
                  </a:r>
                </a:p>
              </p:txBody>
            </p:sp>
          </mc:Fallback>
        </mc:AlternateContent>
      </p:grpSp>
    </p:spTree>
    <p:extLst>
      <p:ext uri="{BB962C8B-B14F-4D97-AF65-F5344CB8AC3E}">
        <p14:creationId xmlns:p14="http://schemas.microsoft.com/office/powerpoint/2010/main" val="2814567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9">
                                            <p:txEl>
                                              <p:pRg st="2" end="2"/>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1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circular motion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177129" y="4251804"/>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6" name="Oval 5">
            <a:extLst>
              <a:ext uri="{FF2B5EF4-FFF2-40B4-BE49-F238E27FC236}">
                <a16:creationId xmlns:a16="http://schemas.microsoft.com/office/drawing/2014/main" id="{3D2AD87A-5164-4BED-B510-0C313C5563B5}"/>
              </a:ext>
            </a:extLst>
          </p:cNvPr>
          <p:cNvSpPr/>
          <p:nvPr/>
        </p:nvSpPr>
        <p:spPr>
          <a:xfrm>
            <a:off x="7124356" y="1007686"/>
            <a:ext cx="4553339" cy="4553339"/>
          </a:xfrm>
          <a:prstGeom prst="ellipse">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9" name="Graphic 8" descr="Car with solid fill">
            <a:extLst>
              <a:ext uri="{FF2B5EF4-FFF2-40B4-BE49-F238E27FC236}">
                <a16:creationId xmlns:a16="http://schemas.microsoft.com/office/drawing/2014/main" id="{502907DA-1F27-4F34-B69D-9BCEA65A94A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943825" y="677372"/>
            <a:ext cx="914400" cy="914400"/>
          </a:xfrm>
          <a:prstGeom prst="rect">
            <a:avLst/>
          </a:prstGeom>
        </p:spPr>
      </p:pic>
      <p:pic>
        <p:nvPicPr>
          <p:cNvPr id="24" name="Graphic 23" descr="Car with solid fill">
            <a:extLst>
              <a:ext uri="{FF2B5EF4-FFF2-40B4-BE49-F238E27FC236}">
                <a16:creationId xmlns:a16="http://schemas.microsoft.com/office/drawing/2014/main" id="{FCD375F5-2F39-467C-8633-A46E551DDDD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5400000">
            <a:off x="11020448" y="2700299"/>
            <a:ext cx="914400" cy="914400"/>
          </a:xfrm>
          <a:prstGeom prst="rect">
            <a:avLst/>
          </a:prstGeom>
        </p:spPr>
      </p:pic>
      <p:pic>
        <p:nvPicPr>
          <p:cNvPr id="25" name="Graphic 24" descr="Car with solid fill">
            <a:extLst>
              <a:ext uri="{FF2B5EF4-FFF2-40B4-BE49-F238E27FC236}">
                <a16:creationId xmlns:a16="http://schemas.microsoft.com/office/drawing/2014/main" id="{8AA361D8-8E20-4F53-AE09-CF829C48CE2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8943825" y="4976939"/>
            <a:ext cx="914400" cy="914400"/>
          </a:xfrm>
          <a:prstGeom prst="rect">
            <a:avLst/>
          </a:prstGeom>
        </p:spPr>
      </p:pic>
      <p:pic>
        <p:nvPicPr>
          <p:cNvPr id="26" name="Graphic 25" descr="Car with solid fill">
            <a:extLst>
              <a:ext uri="{FF2B5EF4-FFF2-40B4-BE49-F238E27FC236}">
                <a16:creationId xmlns:a16="http://schemas.microsoft.com/office/drawing/2014/main" id="{2A82C595-0610-4DA2-95B8-F5D3BC49056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a:off x="6781973" y="2899716"/>
            <a:ext cx="914400" cy="914400"/>
          </a:xfrm>
          <a:prstGeom prst="rect">
            <a:avLst/>
          </a:prstGeom>
        </p:spPr>
      </p:pic>
      <p:sp>
        <p:nvSpPr>
          <p:cNvPr id="27" name="Oval 26">
            <a:extLst>
              <a:ext uri="{FF2B5EF4-FFF2-40B4-BE49-F238E27FC236}">
                <a16:creationId xmlns:a16="http://schemas.microsoft.com/office/drawing/2014/main" id="{5BD3A10A-6921-4803-BC9E-414CE8AAF5A6}"/>
              </a:ext>
            </a:extLst>
          </p:cNvPr>
          <p:cNvSpPr/>
          <p:nvPr/>
        </p:nvSpPr>
        <p:spPr>
          <a:xfrm>
            <a:off x="7732256" y="1615586"/>
            <a:ext cx="3337538" cy="3337538"/>
          </a:xfrm>
          <a:prstGeom prst="ellipse">
            <a:avLst/>
          </a:prstGeom>
          <a:solidFill>
            <a:schemeClr val="accent6">
              <a:lumMod val="40000"/>
              <a:lumOff val="60000"/>
            </a:schemeClr>
          </a:solid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8" name="Text Placeholder 3">
            <a:extLst>
              <a:ext uri="{FF2B5EF4-FFF2-40B4-BE49-F238E27FC236}">
                <a16:creationId xmlns:a16="http://schemas.microsoft.com/office/drawing/2014/main" id="{7E11F69C-68AB-4B11-9E75-0C0F6E869F68}"/>
              </a:ext>
            </a:extLst>
          </p:cNvPr>
          <p:cNvSpPr txBox="1">
            <a:spLocks/>
          </p:cNvSpPr>
          <p:nvPr/>
        </p:nvSpPr>
        <p:spPr>
          <a:xfrm>
            <a:off x="101749" y="1048616"/>
            <a:ext cx="641470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3200" b="0" dirty="0"/>
              <a:t>Is the car accelerating?</a:t>
            </a:r>
          </a:p>
        </p:txBody>
      </p:sp>
      <mc:AlternateContent xmlns:mc="http://schemas.openxmlformats.org/markup-compatibility/2006" xmlns:a14="http://schemas.microsoft.com/office/drawing/2010/main">
        <mc:Choice Requires="a14">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b="0" dirty="0"/>
                  <a:t>There is no change in speed but there is a change in direction, therefore a change in velocity. Therefore an acceleration.</a:t>
                </a:r>
              </a:p>
              <a:p>
                <a:r>
                  <a:rPr lang="en-AU" b="0" dirty="0"/>
                  <a:t>The acceleration is always directed towards the centre of the circle.</a:t>
                </a:r>
              </a:p>
              <a:p>
                <a:endParaRPr lang="en-AU" b="0" dirty="0"/>
              </a:p>
              <a:p>
                <a:pPr algn="ctr"/>
                <a:r>
                  <a:rPr lang="en-AU" sz="3200" b="0" dirty="0"/>
                  <a:t>Acceleration  = </a:t>
                </a:r>
                <a14:m>
                  <m:oMath xmlns:m="http://schemas.openxmlformats.org/officeDocument/2006/math">
                    <m:f>
                      <m:fPr>
                        <m:ctrlPr>
                          <a:rPr lang="en-AU" sz="3200" b="0" i="1" dirty="0" smtClean="0">
                            <a:latin typeface="Cambria Math" panose="02040503050406030204" pitchFamily="18" charset="0"/>
                          </a:rPr>
                        </m:ctrlPr>
                      </m:fPr>
                      <m:num>
                        <m:sSup>
                          <m:sSupPr>
                            <m:ctrlPr>
                              <a:rPr lang="en-AU" sz="3200" b="0" i="1" dirty="0" smtClean="0">
                                <a:latin typeface="Cambria Math" panose="02040503050406030204" pitchFamily="18" charset="0"/>
                              </a:rPr>
                            </m:ctrlPr>
                          </m:sSupPr>
                          <m:e>
                            <m:r>
                              <a:rPr lang="en-AU" sz="3200" b="0" i="1" dirty="0" smtClean="0">
                                <a:latin typeface="Cambria Math" panose="02040503050406030204" pitchFamily="18" charset="0"/>
                              </a:rPr>
                              <m:t>𝑣</m:t>
                            </m:r>
                          </m:e>
                          <m:sup>
                            <m:r>
                              <a:rPr lang="en-AU" sz="3200" b="0" i="1" dirty="0" smtClean="0">
                                <a:latin typeface="Cambria Math" panose="02040503050406030204" pitchFamily="18" charset="0"/>
                              </a:rPr>
                              <m:t>2</m:t>
                            </m:r>
                          </m:sup>
                        </m:sSup>
                      </m:num>
                      <m:den>
                        <m:r>
                          <a:rPr lang="en-AU" sz="3200" b="0" i="1" dirty="0" smtClean="0">
                            <a:latin typeface="Cambria Math" panose="02040503050406030204" pitchFamily="18" charset="0"/>
                          </a:rPr>
                          <m:t>𝑟</m:t>
                        </m:r>
                      </m:den>
                    </m:f>
                  </m:oMath>
                </a14:m>
                <a:endParaRPr lang="en-AU" sz="3600" b="0" dirty="0"/>
              </a:p>
              <a:p>
                <a:pPr algn="ctr"/>
                <a:endParaRPr lang="en-AU" sz="3600" b="0" dirty="0"/>
              </a:p>
            </p:txBody>
          </p:sp>
        </mc:Choice>
        <mc:Fallback xmlns="">
          <p:sp>
            <p:nvSpPr>
              <p:cNvPr id="29" name="Text Placeholder 3">
                <a:extLst>
                  <a:ext uri="{FF2B5EF4-FFF2-40B4-BE49-F238E27FC236}">
                    <a16:creationId xmlns:a16="http://schemas.microsoft.com/office/drawing/2014/main" id="{0F9EF218-A1AE-49FC-A0C0-AC3DBB0665A7}"/>
                  </a:ext>
                </a:extLst>
              </p:cNvPr>
              <p:cNvSpPr txBox="1">
                <a:spLocks noRot="1" noChangeAspect="1" noMove="1" noResize="1" noEditPoints="1" noAdjustHandles="1" noChangeArrowheads="1" noChangeShapeType="1" noTextEdit="1"/>
              </p:cNvSpPr>
              <p:nvPr/>
            </p:nvSpPr>
            <p:spPr>
              <a:xfrm>
                <a:off x="98508" y="1932294"/>
                <a:ext cx="6928386" cy="885562"/>
              </a:xfrm>
              <a:prstGeom prst="rect">
                <a:avLst/>
              </a:prstGeom>
              <a:blipFill>
                <a:blip r:embed="rId5"/>
                <a:stretch>
                  <a:fillRect l="-1759" t="-12414" r="-176" b="-346897"/>
                </a:stretch>
              </a:blipFill>
            </p:spPr>
            <p:txBody>
              <a:bodyPr/>
              <a:lstStyle/>
              <a:p>
                <a:r>
                  <a:rPr lang="en-AU">
                    <a:noFill/>
                  </a:rPr>
                  <a:t> </a:t>
                </a:r>
              </a:p>
            </p:txBody>
          </p:sp>
        </mc:Fallback>
      </mc:AlternateContent>
      <p:sp>
        <p:nvSpPr>
          <p:cNvPr id="16" name="Rectangle 15">
            <a:extLst>
              <a:ext uri="{FF2B5EF4-FFF2-40B4-BE49-F238E27FC236}">
                <a16:creationId xmlns:a16="http://schemas.microsoft.com/office/drawing/2014/main" id="{982B94AD-58D5-4C53-BA16-1D43439DE123}"/>
              </a:ext>
            </a:extLst>
          </p:cNvPr>
          <p:cNvSpPr/>
          <p:nvPr/>
        </p:nvSpPr>
        <p:spPr>
          <a:xfrm>
            <a:off x="266261" y="4768026"/>
            <a:ext cx="6414706" cy="157465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7" name="Text Placeholder 3">
            <a:extLst>
              <a:ext uri="{FF2B5EF4-FFF2-40B4-BE49-F238E27FC236}">
                <a16:creationId xmlns:a16="http://schemas.microsoft.com/office/drawing/2014/main" id="{EC46EDC4-1BE1-41DA-ACF7-FC294C3DC658}"/>
              </a:ext>
            </a:extLst>
          </p:cNvPr>
          <p:cNvSpPr txBox="1">
            <a:spLocks/>
          </p:cNvSpPr>
          <p:nvPr/>
        </p:nvSpPr>
        <p:spPr>
          <a:xfrm>
            <a:off x="1012908" y="5850314"/>
            <a:ext cx="6683465"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400" b="0" dirty="0"/>
              <a:t>towards the centre of the circle</a:t>
            </a:r>
          </a:p>
        </p:txBody>
      </p:sp>
      <p:cxnSp>
        <p:nvCxnSpPr>
          <p:cNvPr id="7" name="Straight Arrow Connector 6">
            <a:extLst>
              <a:ext uri="{FF2B5EF4-FFF2-40B4-BE49-F238E27FC236}">
                <a16:creationId xmlns:a16="http://schemas.microsoft.com/office/drawing/2014/main" id="{F2DC7BB0-685C-452B-8AB9-9AF5D694F71E}"/>
              </a:ext>
            </a:extLst>
          </p:cNvPr>
          <p:cNvCxnSpPr>
            <a:cxnSpLocks/>
          </p:cNvCxnSpPr>
          <p:nvPr/>
        </p:nvCxnSpPr>
        <p:spPr>
          <a:xfrm flipH="1">
            <a:off x="11452690" y="3608709"/>
            <a:ext cx="12479" cy="1522667"/>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D46FB727-0502-4A81-A341-44C53C5C0EA7}"/>
              </a:ext>
            </a:extLst>
          </p:cNvPr>
          <p:cNvCxnSpPr>
            <a:cxnSpLocks/>
          </p:cNvCxnSpPr>
          <p:nvPr/>
        </p:nvCxnSpPr>
        <p:spPr>
          <a:xfrm rot="16200000" flipH="1">
            <a:off x="10613319" y="404086"/>
            <a:ext cx="12479" cy="1522667"/>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9799785E-74A7-4849-AE7B-7C2D47CF3288}"/>
              </a:ext>
            </a:extLst>
          </p:cNvPr>
          <p:cNvCxnSpPr>
            <a:cxnSpLocks/>
          </p:cNvCxnSpPr>
          <p:nvPr/>
        </p:nvCxnSpPr>
        <p:spPr>
          <a:xfrm rot="10800000" flipH="1">
            <a:off x="7297985" y="1357126"/>
            <a:ext cx="12479" cy="1522667"/>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40B33396-8945-4F14-BC1B-86B6A79BD1E5}"/>
              </a:ext>
            </a:extLst>
          </p:cNvPr>
          <p:cNvCxnSpPr>
            <a:cxnSpLocks/>
          </p:cNvCxnSpPr>
          <p:nvPr/>
        </p:nvCxnSpPr>
        <p:spPr>
          <a:xfrm rot="5400000" flipH="1">
            <a:off x="8176252" y="4587862"/>
            <a:ext cx="12479" cy="1522667"/>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66241D3-1DDE-4402-A3D9-A39BBEBEE592}"/>
                  </a:ext>
                </a:extLst>
              </p:cNvPr>
              <p:cNvSpPr txBox="1"/>
              <p:nvPr/>
            </p:nvSpPr>
            <p:spPr>
              <a:xfrm>
                <a:off x="6667155" y="1849903"/>
                <a:ext cx="914400" cy="914400"/>
              </a:xfrm>
              <a:prstGeom prst="rect">
                <a:avLst/>
              </a:prstGeom>
              <a:noFill/>
              <a:ln>
                <a:noFill/>
              </a:ln>
            </p:spPr>
            <p:txBody>
              <a:bodyPr wrap="none" lIns="0" tIns="0" rIns="0" bIns="0" rtlCol="0" anchor="t" anchorCtr="0">
                <a:normAutofit/>
              </a:bodyPr>
              <a:lstStyle/>
              <a:p>
                <a:pPr algn="l"/>
                <a14:m>
                  <m:oMathPara xmlns:m="http://schemas.openxmlformats.org/officeDocument/2006/math">
                    <m:oMathParaPr>
                      <m:jc m:val="centerGroup"/>
                    </m:oMathParaPr>
                    <m:oMath xmlns:m="http://schemas.openxmlformats.org/officeDocument/2006/math">
                      <m:r>
                        <a:rPr lang="en-AU" sz="2800" b="1" i="1" smtClean="0">
                          <a:solidFill>
                            <a:srgbClr val="FF0000"/>
                          </a:solidFill>
                          <a:latin typeface="Cambria Math" panose="02040503050406030204" pitchFamily="18" charset="0"/>
                          <a:cs typeface="Futura Medium" panose="020B0602020204020303" pitchFamily="34" charset="-79"/>
                        </a:rPr>
                        <m:t>𝒗</m:t>
                      </m:r>
                    </m:oMath>
                  </m:oMathPara>
                </a14:m>
                <a:endParaRPr lang="en-AU" sz="2800" b="1" dirty="0">
                  <a:solidFill>
                    <a:srgbClr val="FF0000"/>
                  </a:solidFill>
                  <a:latin typeface="Century Gothic" panose="020B0502020202020204" pitchFamily="34" charset="0"/>
                  <a:cs typeface="Futura Medium" panose="020B0602020204020303" pitchFamily="34" charset="-79"/>
                </a:endParaRPr>
              </a:p>
            </p:txBody>
          </p:sp>
        </mc:Choice>
        <mc:Fallback xmlns="">
          <p:sp>
            <p:nvSpPr>
              <p:cNvPr id="8" name="TextBox 7">
                <a:extLst>
                  <a:ext uri="{FF2B5EF4-FFF2-40B4-BE49-F238E27FC236}">
                    <a16:creationId xmlns:a16="http://schemas.microsoft.com/office/drawing/2014/main" id="{A66241D3-1DDE-4402-A3D9-A39BBEBEE592}"/>
                  </a:ext>
                </a:extLst>
              </p:cNvPr>
              <p:cNvSpPr txBox="1">
                <a:spLocks noRot="1" noChangeAspect="1" noMove="1" noResize="1" noEditPoints="1" noAdjustHandles="1" noChangeArrowheads="1" noChangeShapeType="1" noTextEdit="1"/>
              </p:cNvSpPr>
              <p:nvPr/>
            </p:nvSpPr>
            <p:spPr>
              <a:xfrm>
                <a:off x="6667155" y="1849903"/>
                <a:ext cx="914400" cy="914400"/>
              </a:xfrm>
              <a:prstGeom prst="rect">
                <a:avLst/>
              </a:prstGeom>
              <a:blipFill>
                <a:blip r:embed="rId6"/>
                <a:stretch>
                  <a:fillRect/>
                </a:stretch>
              </a:blipFill>
              <a:ln>
                <a:noFill/>
              </a:ln>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0F77CBAF-CC21-46EB-8F97-F97FAD62DDE5}"/>
                  </a:ext>
                </a:extLst>
              </p:cNvPr>
              <p:cNvSpPr txBox="1"/>
              <p:nvPr/>
            </p:nvSpPr>
            <p:spPr>
              <a:xfrm>
                <a:off x="10069842" y="715270"/>
                <a:ext cx="914400" cy="914400"/>
              </a:xfrm>
              <a:prstGeom prst="rect">
                <a:avLst/>
              </a:prstGeom>
              <a:noFill/>
              <a:ln>
                <a:noFill/>
              </a:ln>
            </p:spPr>
            <p:txBody>
              <a:bodyPr wrap="none" lIns="0" tIns="0" rIns="0" bIns="0" rtlCol="0" anchor="t" anchorCtr="0">
                <a:normAutofit/>
              </a:bodyPr>
              <a:lstStyle/>
              <a:p>
                <a:pPr algn="l"/>
                <a14:m>
                  <m:oMathPara xmlns:m="http://schemas.openxmlformats.org/officeDocument/2006/math">
                    <m:oMathParaPr>
                      <m:jc m:val="centerGroup"/>
                    </m:oMathParaPr>
                    <m:oMath xmlns:m="http://schemas.openxmlformats.org/officeDocument/2006/math">
                      <m:r>
                        <a:rPr lang="en-AU" sz="2800" b="1" i="1" smtClean="0">
                          <a:solidFill>
                            <a:srgbClr val="FF0000"/>
                          </a:solidFill>
                          <a:latin typeface="Cambria Math" panose="02040503050406030204" pitchFamily="18" charset="0"/>
                          <a:cs typeface="Futura Medium" panose="020B0602020204020303" pitchFamily="34" charset="-79"/>
                        </a:rPr>
                        <m:t>𝒗</m:t>
                      </m:r>
                    </m:oMath>
                  </m:oMathPara>
                </a14:m>
                <a:endParaRPr lang="en-AU" sz="2800" b="1" dirty="0">
                  <a:solidFill>
                    <a:srgbClr val="FF0000"/>
                  </a:solidFill>
                  <a:latin typeface="Century Gothic" panose="020B0502020202020204" pitchFamily="34" charset="0"/>
                  <a:cs typeface="Futura Medium" panose="020B0602020204020303" pitchFamily="34" charset="-79"/>
                </a:endParaRPr>
              </a:p>
            </p:txBody>
          </p:sp>
        </mc:Choice>
        <mc:Fallback xmlns="">
          <p:sp>
            <p:nvSpPr>
              <p:cNvPr id="30" name="TextBox 29">
                <a:extLst>
                  <a:ext uri="{FF2B5EF4-FFF2-40B4-BE49-F238E27FC236}">
                    <a16:creationId xmlns:a16="http://schemas.microsoft.com/office/drawing/2014/main" id="{0F77CBAF-CC21-46EB-8F97-F97FAD62DDE5}"/>
                  </a:ext>
                </a:extLst>
              </p:cNvPr>
              <p:cNvSpPr txBox="1">
                <a:spLocks noRot="1" noChangeAspect="1" noMove="1" noResize="1" noEditPoints="1" noAdjustHandles="1" noChangeArrowheads="1" noChangeShapeType="1" noTextEdit="1"/>
              </p:cNvSpPr>
              <p:nvPr/>
            </p:nvSpPr>
            <p:spPr>
              <a:xfrm>
                <a:off x="10069842" y="715270"/>
                <a:ext cx="914400" cy="914400"/>
              </a:xfrm>
              <a:prstGeom prst="rect">
                <a:avLst/>
              </a:prstGeom>
              <a:blipFill>
                <a:blip r:embed="rId7"/>
                <a:stretch>
                  <a:fillRect/>
                </a:stretch>
              </a:blipFill>
              <a:ln>
                <a:noFill/>
              </a:ln>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90F95547-596A-4CF1-9A62-631AF7323945}"/>
                  </a:ext>
                </a:extLst>
              </p:cNvPr>
              <p:cNvSpPr txBox="1"/>
              <p:nvPr/>
            </p:nvSpPr>
            <p:spPr>
              <a:xfrm>
                <a:off x="11256378" y="4062539"/>
                <a:ext cx="914400" cy="914400"/>
              </a:xfrm>
              <a:prstGeom prst="rect">
                <a:avLst/>
              </a:prstGeom>
              <a:noFill/>
              <a:ln>
                <a:noFill/>
              </a:ln>
            </p:spPr>
            <p:txBody>
              <a:bodyPr wrap="none" lIns="0" tIns="0" rIns="0" bIns="0" rtlCol="0" anchor="t" anchorCtr="0">
                <a:normAutofit/>
              </a:bodyPr>
              <a:lstStyle/>
              <a:p>
                <a:pPr algn="l"/>
                <a14:m>
                  <m:oMathPara xmlns:m="http://schemas.openxmlformats.org/officeDocument/2006/math">
                    <m:oMathParaPr>
                      <m:jc m:val="centerGroup"/>
                    </m:oMathParaPr>
                    <m:oMath xmlns:m="http://schemas.openxmlformats.org/officeDocument/2006/math">
                      <m:r>
                        <a:rPr lang="en-AU" sz="2800" b="1" i="1" smtClean="0">
                          <a:solidFill>
                            <a:srgbClr val="FF0000"/>
                          </a:solidFill>
                          <a:latin typeface="Cambria Math" panose="02040503050406030204" pitchFamily="18" charset="0"/>
                          <a:cs typeface="Futura Medium" panose="020B0602020204020303" pitchFamily="34" charset="-79"/>
                        </a:rPr>
                        <m:t>𝒗</m:t>
                      </m:r>
                    </m:oMath>
                  </m:oMathPara>
                </a14:m>
                <a:endParaRPr lang="en-AU" sz="2800" b="1" dirty="0">
                  <a:solidFill>
                    <a:srgbClr val="FF0000"/>
                  </a:solidFill>
                  <a:latin typeface="Century Gothic" panose="020B0502020202020204" pitchFamily="34" charset="0"/>
                  <a:cs typeface="Futura Medium" panose="020B0602020204020303" pitchFamily="34" charset="-79"/>
                </a:endParaRPr>
              </a:p>
            </p:txBody>
          </p:sp>
        </mc:Choice>
        <mc:Fallback xmlns="">
          <p:sp>
            <p:nvSpPr>
              <p:cNvPr id="31" name="TextBox 30">
                <a:extLst>
                  <a:ext uri="{FF2B5EF4-FFF2-40B4-BE49-F238E27FC236}">
                    <a16:creationId xmlns:a16="http://schemas.microsoft.com/office/drawing/2014/main" id="{90F95547-596A-4CF1-9A62-631AF7323945}"/>
                  </a:ext>
                </a:extLst>
              </p:cNvPr>
              <p:cNvSpPr txBox="1">
                <a:spLocks noRot="1" noChangeAspect="1" noMove="1" noResize="1" noEditPoints="1" noAdjustHandles="1" noChangeArrowheads="1" noChangeShapeType="1" noTextEdit="1"/>
              </p:cNvSpPr>
              <p:nvPr/>
            </p:nvSpPr>
            <p:spPr>
              <a:xfrm>
                <a:off x="11256378" y="4062539"/>
                <a:ext cx="914400" cy="914400"/>
              </a:xfrm>
              <a:prstGeom prst="rect">
                <a:avLst/>
              </a:prstGeom>
              <a:blipFill>
                <a:blip r:embed="rId8"/>
                <a:stretch>
                  <a:fillRect/>
                </a:stretch>
              </a:blipFill>
              <a:ln>
                <a:noFill/>
              </a:ln>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CDFB747D-C59A-4BA5-B5FA-C622FE24AA35}"/>
                  </a:ext>
                </a:extLst>
              </p:cNvPr>
              <p:cNvSpPr txBox="1"/>
              <p:nvPr/>
            </p:nvSpPr>
            <p:spPr>
              <a:xfrm>
                <a:off x="7829378" y="5315655"/>
                <a:ext cx="914400" cy="914400"/>
              </a:xfrm>
              <a:prstGeom prst="rect">
                <a:avLst/>
              </a:prstGeom>
              <a:noFill/>
              <a:ln>
                <a:noFill/>
              </a:ln>
            </p:spPr>
            <p:txBody>
              <a:bodyPr wrap="none" lIns="0" tIns="0" rIns="0" bIns="0" rtlCol="0" anchor="t" anchorCtr="0">
                <a:normAutofit/>
              </a:bodyPr>
              <a:lstStyle/>
              <a:p>
                <a:pPr algn="l"/>
                <a14:m>
                  <m:oMathPara xmlns:m="http://schemas.openxmlformats.org/officeDocument/2006/math">
                    <m:oMathParaPr>
                      <m:jc m:val="centerGroup"/>
                    </m:oMathParaPr>
                    <m:oMath xmlns:m="http://schemas.openxmlformats.org/officeDocument/2006/math">
                      <m:r>
                        <a:rPr lang="en-AU" sz="2800" b="1" i="1" smtClean="0">
                          <a:solidFill>
                            <a:srgbClr val="FF0000"/>
                          </a:solidFill>
                          <a:latin typeface="Cambria Math" panose="02040503050406030204" pitchFamily="18" charset="0"/>
                          <a:cs typeface="Futura Medium" panose="020B0602020204020303" pitchFamily="34" charset="-79"/>
                        </a:rPr>
                        <m:t>𝒗</m:t>
                      </m:r>
                    </m:oMath>
                  </m:oMathPara>
                </a14:m>
                <a:endParaRPr lang="en-AU" sz="2800" b="1" dirty="0">
                  <a:solidFill>
                    <a:srgbClr val="FF0000"/>
                  </a:solidFill>
                  <a:latin typeface="Century Gothic" panose="020B0502020202020204" pitchFamily="34" charset="0"/>
                  <a:cs typeface="Futura Medium" panose="020B0602020204020303" pitchFamily="34" charset="-79"/>
                </a:endParaRPr>
              </a:p>
            </p:txBody>
          </p:sp>
        </mc:Choice>
        <mc:Fallback xmlns="">
          <p:sp>
            <p:nvSpPr>
              <p:cNvPr id="32" name="TextBox 31">
                <a:extLst>
                  <a:ext uri="{FF2B5EF4-FFF2-40B4-BE49-F238E27FC236}">
                    <a16:creationId xmlns:a16="http://schemas.microsoft.com/office/drawing/2014/main" id="{CDFB747D-C59A-4BA5-B5FA-C622FE24AA35}"/>
                  </a:ext>
                </a:extLst>
              </p:cNvPr>
              <p:cNvSpPr txBox="1">
                <a:spLocks noRot="1" noChangeAspect="1" noMove="1" noResize="1" noEditPoints="1" noAdjustHandles="1" noChangeArrowheads="1" noChangeShapeType="1" noTextEdit="1"/>
              </p:cNvSpPr>
              <p:nvPr/>
            </p:nvSpPr>
            <p:spPr>
              <a:xfrm>
                <a:off x="7829378" y="5315655"/>
                <a:ext cx="914400" cy="914400"/>
              </a:xfrm>
              <a:prstGeom prst="rect">
                <a:avLst/>
              </a:prstGeom>
              <a:blipFill>
                <a:blip r:embed="rId9"/>
                <a:stretch>
                  <a:fillRect/>
                </a:stretch>
              </a:blipFill>
              <a:ln>
                <a:noFill/>
              </a:ln>
            </p:spPr>
            <p:txBody>
              <a:bodyPr/>
              <a:lstStyle/>
              <a:p>
                <a:r>
                  <a:rPr lang="en-AU">
                    <a:noFill/>
                  </a:rPr>
                  <a:t> </a:t>
                </a:r>
              </a:p>
            </p:txBody>
          </p:sp>
        </mc:Fallback>
      </mc:AlternateContent>
      <p:grpSp>
        <p:nvGrpSpPr>
          <p:cNvPr id="19" name="Group 18">
            <a:extLst>
              <a:ext uri="{FF2B5EF4-FFF2-40B4-BE49-F238E27FC236}">
                <a16:creationId xmlns:a16="http://schemas.microsoft.com/office/drawing/2014/main" id="{26B8B4EE-252A-44EF-BDB2-D427964CB0B4}"/>
              </a:ext>
            </a:extLst>
          </p:cNvPr>
          <p:cNvGrpSpPr/>
          <p:nvPr/>
        </p:nvGrpSpPr>
        <p:grpSpPr>
          <a:xfrm>
            <a:off x="7918364" y="1244615"/>
            <a:ext cx="2379569" cy="2047071"/>
            <a:chOff x="7918364" y="1244615"/>
            <a:chExt cx="2379569" cy="2047071"/>
          </a:xfrm>
        </p:grpSpPr>
        <p:cxnSp>
          <p:nvCxnSpPr>
            <p:cNvPr id="34" name="Straight Arrow Connector 33">
              <a:extLst>
                <a:ext uri="{FF2B5EF4-FFF2-40B4-BE49-F238E27FC236}">
                  <a16:creationId xmlns:a16="http://schemas.microsoft.com/office/drawing/2014/main" id="{05CF512F-A6AD-44DA-A2E5-287EB4157E4E}"/>
                </a:ext>
              </a:extLst>
            </p:cNvPr>
            <p:cNvCxnSpPr>
              <a:cxnSpLocks/>
            </p:cNvCxnSpPr>
            <p:nvPr/>
          </p:nvCxnSpPr>
          <p:spPr>
            <a:xfrm rot="10800000" flipH="1">
              <a:off x="9387696" y="1769019"/>
              <a:ext cx="12479" cy="1522667"/>
            </a:xfrm>
            <a:prstGeom prst="straightConnector1">
              <a:avLst/>
            </a:prstGeom>
            <a:ln w="57150">
              <a:solidFill>
                <a:srgbClr val="00B0F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A40D3AE2-808D-4541-8C5B-453B71884AFC}"/>
                </a:ext>
              </a:extLst>
            </p:cNvPr>
            <p:cNvCxnSpPr>
              <a:cxnSpLocks/>
            </p:cNvCxnSpPr>
            <p:nvPr/>
          </p:nvCxnSpPr>
          <p:spPr>
            <a:xfrm rot="16200000" flipH="1">
              <a:off x="8673458" y="995596"/>
              <a:ext cx="12479" cy="1522667"/>
            </a:xfrm>
            <a:prstGeom prst="straightConnector1">
              <a:avLst/>
            </a:prstGeom>
            <a:ln w="57150">
              <a:solidFill>
                <a:srgbClr val="00B0F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06E12B07-D542-42D2-BDAE-3464F25C03D9}"/>
                    </a:ext>
                  </a:extLst>
                </p:cNvPr>
                <p:cNvSpPr txBox="1"/>
                <p:nvPr/>
              </p:nvSpPr>
              <p:spPr>
                <a:xfrm>
                  <a:off x="8182678" y="1244615"/>
                  <a:ext cx="914400" cy="914400"/>
                </a:xfrm>
                <a:prstGeom prst="rect">
                  <a:avLst/>
                </a:prstGeom>
                <a:noFill/>
                <a:ln>
                  <a:noFill/>
                </a:ln>
              </p:spPr>
              <p:txBody>
                <a:bodyPr wrap="none" lIns="0" tIns="0" rIns="0" bIns="0" rtlCol="0" anchor="t" anchorCtr="0">
                  <a:normAutofit/>
                </a:bodyPr>
                <a:lstStyle/>
                <a:p>
                  <a:pPr algn="l"/>
                  <a14:m>
                    <m:oMathPara xmlns:m="http://schemas.openxmlformats.org/officeDocument/2006/math">
                      <m:oMathParaPr>
                        <m:jc m:val="centerGroup"/>
                      </m:oMathParaPr>
                      <m:oMath xmlns:m="http://schemas.openxmlformats.org/officeDocument/2006/math">
                        <m:sSub>
                          <m:sSubPr>
                            <m:ctrlPr>
                              <a:rPr lang="en-AU" sz="2800" b="1" i="1" smtClean="0">
                                <a:solidFill>
                                  <a:srgbClr val="FF0000"/>
                                </a:solidFill>
                                <a:latin typeface="Cambria Math" panose="02040503050406030204" pitchFamily="18" charset="0"/>
                                <a:cs typeface="Futura Medium" panose="020B0602020204020303" pitchFamily="34" charset="-79"/>
                              </a:rPr>
                            </m:ctrlPr>
                          </m:sSubPr>
                          <m:e>
                            <m:r>
                              <a:rPr lang="en-AU" sz="2800" b="1" i="1" smtClean="0">
                                <a:solidFill>
                                  <a:srgbClr val="FF0000"/>
                                </a:solidFill>
                                <a:latin typeface="Cambria Math" panose="02040503050406030204" pitchFamily="18" charset="0"/>
                                <a:cs typeface="Futura Medium" panose="020B0602020204020303" pitchFamily="34" charset="-79"/>
                              </a:rPr>
                              <m:t>𝒗</m:t>
                            </m:r>
                          </m:e>
                          <m:sub>
                            <m:r>
                              <a:rPr lang="en-AU" sz="2800" b="1" i="1" smtClean="0">
                                <a:solidFill>
                                  <a:srgbClr val="FF0000"/>
                                </a:solidFill>
                                <a:latin typeface="Cambria Math" panose="02040503050406030204" pitchFamily="18" charset="0"/>
                                <a:cs typeface="Futura Medium" panose="020B0602020204020303" pitchFamily="34" charset="-79"/>
                              </a:rPr>
                              <m:t>𝒇</m:t>
                            </m:r>
                          </m:sub>
                        </m:sSub>
                      </m:oMath>
                    </m:oMathPara>
                  </a14:m>
                  <a:endParaRPr lang="en-AU" sz="2800" b="1" dirty="0">
                    <a:solidFill>
                      <a:srgbClr val="FF0000"/>
                    </a:solidFill>
                    <a:latin typeface="Century Gothic" panose="020B0502020202020204" pitchFamily="34" charset="0"/>
                    <a:cs typeface="Futura Medium" panose="020B0602020204020303" pitchFamily="34" charset="-79"/>
                  </a:endParaRPr>
                </a:p>
              </p:txBody>
            </p:sp>
          </mc:Choice>
          <mc:Fallback xmlns="">
            <p:sp>
              <p:nvSpPr>
                <p:cNvPr id="36" name="TextBox 35">
                  <a:extLst>
                    <a:ext uri="{FF2B5EF4-FFF2-40B4-BE49-F238E27FC236}">
                      <a16:creationId xmlns:a16="http://schemas.microsoft.com/office/drawing/2014/main" id="{06E12B07-D542-42D2-BDAE-3464F25C03D9}"/>
                    </a:ext>
                  </a:extLst>
                </p:cNvPr>
                <p:cNvSpPr txBox="1">
                  <a:spLocks noRot="1" noChangeAspect="1" noMove="1" noResize="1" noEditPoints="1" noAdjustHandles="1" noChangeArrowheads="1" noChangeShapeType="1" noTextEdit="1"/>
                </p:cNvSpPr>
                <p:nvPr/>
              </p:nvSpPr>
              <p:spPr>
                <a:xfrm>
                  <a:off x="8182678" y="1244615"/>
                  <a:ext cx="914400" cy="914400"/>
                </a:xfrm>
                <a:prstGeom prst="rect">
                  <a:avLst/>
                </a:prstGeom>
                <a:blipFill>
                  <a:blip r:embed="rId10"/>
                  <a:stretch>
                    <a:fillRect/>
                  </a:stretch>
                </a:blipFill>
                <a:ln>
                  <a:noFill/>
                </a:ln>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342C72C3-64CC-4C4B-B9FC-C1C3BC68100D}"/>
                    </a:ext>
                  </a:extLst>
                </p:cNvPr>
                <p:cNvSpPr txBox="1"/>
                <p:nvPr/>
              </p:nvSpPr>
              <p:spPr>
                <a:xfrm>
                  <a:off x="9383533" y="2058349"/>
                  <a:ext cx="914400" cy="914400"/>
                </a:xfrm>
                <a:prstGeom prst="rect">
                  <a:avLst/>
                </a:prstGeom>
                <a:noFill/>
                <a:ln>
                  <a:noFill/>
                </a:ln>
              </p:spPr>
              <p:txBody>
                <a:bodyPr wrap="none" lIns="0" tIns="0" rIns="0" bIns="0" rtlCol="0" anchor="t" anchorCtr="0">
                  <a:normAutofit/>
                </a:bodyPr>
                <a:lstStyle/>
                <a:p>
                  <a:pPr algn="l"/>
                  <a14:m>
                    <m:oMathPara xmlns:m="http://schemas.openxmlformats.org/officeDocument/2006/math">
                      <m:oMathParaPr>
                        <m:jc m:val="centerGroup"/>
                      </m:oMathParaPr>
                      <m:oMath xmlns:m="http://schemas.openxmlformats.org/officeDocument/2006/math">
                        <m:sSub>
                          <m:sSubPr>
                            <m:ctrlPr>
                              <a:rPr lang="en-AU" sz="2800" b="1" i="1" smtClean="0">
                                <a:solidFill>
                                  <a:srgbClr val="FF0000"/>
                                </a:solidFill>
                                <a:latin typeface="Cambria Math" panose="02040503050406030204" pitchFamily="18" charset="0"/>
                                <a:cs typeface="Futura Medium" panose="020B0602020204020303" pitchFamily="34" charset="-79"/>
                              </a:rPr>
                            </m:ctrlPr>
                          </m:sSubPr>
                          <m:e>
                            <m:r>
                              <a:rPr lang="en-AU" sz="2800" b="1" i="1" smtClean="0">
                                <a:solidFill>
                                  <a:srgbClr val="FF0000"/>
                                </a:solidFill>
                                <a:latin typeface="Cambria Math" panose="02040503050406030204" pitchFamily="18" charset="0"/>
                                <a:cs typeface="Futura Medium" panose="020B0602020204020303" pitchFamily="34" charset="-79"/>
                              </a:rPr>
                              <m:t>−</m:t>
                            </m:r>
                            <m:r>
                              <a:rPr lang="en-AU" sz="2800" b="1" i="1" smtClean="0">
                                <a:solidFill>
                                  <a:srgbClr val="FF0000"/>
                                </a:solidFill>
                                <a:latin typeface="Cambria Math" panose="02040503050406030204" pitchFamily="18" charset="0"/>
                                <a:cs typeface="Futura Medium" panose="020B0602020204020303" pitchFamily="34" charset="-79"/>
                              </a:rPr>
                              <m:t>𝒗</m:t>
                            </m:r>
                          </m:e>
                          <m:sub>
                            <m:r>
                              <a:rPr lang="en-AU" sz="2800" b="1" i="1" smtClean="0">
                                <a:solidFill>
                                  <a:srgbClr val="FF0000"/>
                                </a:solidFill>
                                <a:latin typeface="Cambria Math" panose="02040503050406030204" pitchFamily="18" charset="0"/>
                                <a:cs typeface="Futura Medium" panose="020B0602020204020303" pitchFamily="34" charset="-79"/>
                              </a:rPr>
                              <m:t>𝒊</m:t>
                            </m:r>
                          </m:sub>
                        </m:sSub>
                      </m:oMath>
                    </m:oMathPara>
                  </a14:m>
                  <a:endParaRPr lang="en-AU" sz="2800" b="1" dirty="0">
                    <a:solidFill>
                      <a:srgbClr val="FF0000"/>
                    </a:solidFill>
                    <a:latin typeface="Century Gothic" panose="020B0502020202020204" pitchFamily="34" charset="0"/>
                    <a:cs typeface="Futura Medium" panose="020B0602020204020303" pitchFamily="34" charset="-79"/>
                  </a:endParaRPr>
                </a:p>
              </p:txBody>
            </p:sp>
          </mc:Choice>
          <mc:Fallback xmlns="">
            <p:sp>
              <p:nvSpPr>
                <p:cNvPr id="38" name="TextBox 37">
                  <a:extLst>
                    <a:ext uri="{FF2B5EF4-FFF2-40B4-BE49-F238E27FC236}">
                      <a16:creationId xmlns:a16="http://schemas.microsoft.com/office/drawing/2014/main" id="{342C72C3-64CC-4C4B-B9FC-C1C3BC68100D}"/>
                    </a:ext>
                  </a:extLst>
                </p:cNvPr>
                <p:cNvSpPr txBox="1">
                  <a:spLocks noRot="1" noChangeAspect="1" noMove="1" noResize="1" noEditPoints="1" noAdjustHandles="1" noChangeArrowheads="1" noChangeShapeType="1" noTextEdit="1"/>
                </p:cNvSpPr>
                <p:nvPr/>
              </p:nvSpPr>
              <p:spPr>
                <a:xfrm>
                  <a:off x="9383533" y="2058349"/>
                  <a:ext cx="914400" cy="914400"/>
                </a:xfrm>
                <a:prstGeom prst="rect">
                  <a:avLst/>
                </a:prstGeom>
                <a:blipFill>
                  <a:blip r:embed="rId11"/>
                  <a:stretch>
                    <a:fillRect/>
                  </a:stretch>
                </a:blipFill>
                <a:ln>
                  <a:noFill/>
                </a:ln>
              </p:spPr>
              <p:txBody>
                <a:bodyPr/>
                <a:lstStyle/>
                <a:p>
                  <a:r>
                    <a:rPr lang="en-AU">
                      <a:noFill/>
                    </a:rPr>
                    <a:t> </a:t>
                  </a:r>
                </a:p>
              </p:txBody>
            </p:sp>
          </mc:Fallback>
        </mc:AlternateContent>
      </p:grpSp>
      <p:grpSp>
        <p:nvGrpSpPr>
          <p:cNvPr id="23" name="Group 22">
            <a:extLst>
              <a:ext uri="{FF2B5EF4-FFF2-40B4-BE49-F238E27FC236}">
                <a16:creationId xmlns:a16="http://schemas.microsoft.com/office/drawing/2014/main" id="{6EFCDDFB-27BC-4AA9-BF56-8A02CA98BCEB}"/>
              </a:ext>
            </a:extLst>
          </p:cNvPr>
          <p:cNvGrpSpPr/>
          <p:nvPr/>
        </p:nvGrpSpPr>
        <p:grpSpPr>
          <a:xfrm>
            <a:off x="7918364" y="1769019"/>
            <a:ext cx="1356265" cy="1647071"/>
            <a:chOff x="7918364" y="1769019"/>
            <a:chExt cx="1356265" cy="1647071"/>
          </a:xfrm>
        </p:grpSpPr>
        <p:cxnSp>
          <p:nvCxnSpPr>
            <p:cNvPr id="18" name="Straight Arrow Connector 17">
              <a:extLst>
                <a:ext uri="{FF2B5EF4-FFF2-40B4-BE49-F238E27FC236}">
                  <a16:creationId xmlns:a16="http://schemas.microsoft.com/office/drawing/2014/main" id="{C954C58A-780B-4943-AE7A-C932D19917FA}"/>
                </a:ext>
              </a:extLst>
            </p:cNvPr>
            <p:cNvCxnSpPr/>
            <p:nvPr/>
          </p:nvCxnSpPr>
          <p:spPr>
            <a:xfrm>
              <a:off x="7918364" y="1769019"/>
              <a:ext cx="1356265" cy="1388480"/>
            </a:xfrm>
            <a:prstGeom prst="straightConnector1">
              <a:avLst/>
            </a:prstGeom>
            <a:ln w="57150">
              <a:solidFill>
                <a:srgbClr val="6E407C"/>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A6A4FB80-B29B-462B-BAC1-CD8D20B6A433}"/>
                    </a:ext>
                  </a:extLst>
                </p:cNvPr>
                <p:cNvSpPr txBox="1"/>
                <p:nvPr/>
              </p:nvSpPr>
              <p:spPr>
                <a:xfrm>
                  <a:off x="7923457" y="2501690"/>
                  <a:ext cx="914400" cy="914400"/>
                </a:xfrm>
                <a:prstGeom prst="rect">
                  <a:avLst/>
                </a:prstGeom>
                <a:noFill/>
                <a:ln>
                  <a:noFill/>
                </a:ln>
              </p:spPr>
              <p:txBody>
                <a:bodyPr wrap="none" lIns="0" tIns="0" rIns="0" bIns="0" rtlCol="0" anchor="t" anchorCtr="0">
                  <a:normAutofit/>
                </a:bodyPr>
                <a:lstStyle/>
                <a:p>
                  <a:pPr algn="l"/>
                  <a14:m>
                    <m:oMathPara xmlns:m="http://schemas.openxmlformats.org/officeDocument/2006/math">
                      <m:oMathParaPr>
                        <m:jc m:val="centerGroup"/>
                      </m:oMathParaPr>
                      <m:oMath xmlns:m="http://schemas.openxmlformats.org/officeDocument/2006/math">
                        <m:r>
                          <a:rPr lang="el-GR" sz="2800" b="1" i="0" dirty="0" smtClean="0">
                            <a:solidFill>
                              <a:srgbClr val="FF0000"/>
                            </a:solidFill>
                            <a:latin typeface="Cambria Math" panose="02040503050406030204" pitchFamily="18" charset="0"/>
                            <a:cs typeface="Futura Medium" panose="020B0602020204020303" pitchFamily="34" charset="-79"/>
                          </a:rPr>
                          <m:t>𝚫</m:t>
                        </m:r>
                        <m:r>
                          <a:rPr lang="en-AU" sz="2800" b="1" i="1" dirty="0" smtClean="0">
                            <a:solidFill>
                              <a:srgbClr val="FF0000"/>
                            </a:solidFill>
                            <a:latin typeface="Cambria Math" panose="02040503050406030204" pitchFamily="18" charset="0"/>
                            <a:cs typeface="Futura Medium" panose="020B0602020204020303" pitchFamily="34" charset="-79"/>
                          </a:rPr>
                          <m:t>𝒗</m:t>
                        </m:r>
                      </m:oMath>
                    </m:oMathPara>
                  </a14:m>
                  <a:endParaRPr lang="en-AU" sz="2800" b="1" dirty="0">
                    <a:solidFill>
                      <a:srgbClr val="FF0000"/>
                    </a:solidFill>
                    <a:latin typeface="Century Gothic" panose="020B0502020202020204" pitchFamily="34" charset="0"/>
                    <a:cs typeface="Futura Medium" panose="020B0602020204020303" pitchFamily="34" charset="-79"/>
                  </a:endParaRPr>
                </a:p>
              </p:txBody>
            </p:sp>
          </mc:Choice>
          <mc:Fallback xmlns="">
            <p:sp>
              <p:nvSpPr>
                <p:cNvPr id="39" name="TextBox 38">
                  <a:extLst>
                    <a:ext uri="{FF2B5EF4-FFF2-40B4-BE49-F238E27FC236}">
                      <a16:creationId xmlns:a16="http://schemas.microsoft.com/office/drawing/2014/main" id="{A6A4FB80-B29B-462B-BAC1-CD8D20B6A433}"/>
                    </a:ext>
                  </a:extLst>
                </p:cNvPr>
                <p:cNvSpPr txBox="1">
                  <a:spLocks noRot="1" noChangeAspect="1" noMove="1" noResize="1" noEditPoints="1" noAdjustHandles="1" noChangeArrowheads="1" noChangeShapeType="1" noTextEdit="1"/>
                </p:cNvSpPr>
                <p:nvPr/>
              </p:nvSpPr>
              <p:spPr>
                <a:xfrm>
                  <a:off x="7923457" y="2501690"/>
                  <a:ext cx="914400" cy="914400"/>
                </a:xfrm>
                <a:prstGeom prst="rect">
                  <a:avLst/>
                </a:prstGeom>
                <a:blipFill>
                  <a:blip r:embed="rId12"/>
                  <a:stretch>
                    <a:fillRect/>
                  </a:stretch>
                </a:blipFill>
                <a:ln>
                  <a:noFill/>
                </a:ln>
              </p:spPr>
              <p:txBody>
                <a:bodyPr/>
                <a:lstStyle/>
                <a:p>
                  <a:r>
                    <a:rPr lang="en-AU">
                      <a:noFill/>
                    </a:rPr>
                    <a:t> </a:t>
                  </a:r>
                </a:p>
              </p:txBody>
            </p:sp>
          </mc:Fallback>
        </mc:AlternateContent>
      </p:grpSp>
    </p:spTree>
    <p:extLst>
      <p:ext uri="{BB962C8B-B14F-4D97-AF65-F5344CB8AC3E}">
        <p14:creationId xmlns:p14="http://schemas.microsoft.com/office/powerpoint/2010/main" val="1160084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9">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xEl>
                                              <p:pRg st="0" end="0"/>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1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circular motion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177129" y="4251804"/>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6" name="Oval 5">
            <a:extLst>
              <a:ext uri="{FF2B5EF4-FFF2-40B4-BE49-F238E27FC236}">
                <a16:creationId xmlns:a16="http://schemas.microsoft.com/office/drawing/2014/main" id="{3D2AD87A-5164-4BED-B510-0C313C5563B5}"/>
              </a:ext>
            </a:extLst>
          </p:cNvPr>
          <p:cNvSpPr/>
          <p:nvPr/>
        </p:nvSpPr>
        <p:spPr>
          <a:xfrm>
            <a:off x="7124356" y="1007686"/>
            <a:ext cx="4553339" cy="4553339"/>
          </a:xfrm>
          <a:prstGeom prst="ellipse">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9" name="Graphic 8" descr="Car with solid fill">
            <a:extLst>
              <a:ext uri="{FF2B5EF4-FFF2-40B4-BE49-F238E27FC236}">
                <a16:creationId xmlns:a16="http://schemas.microsoft.com/office/drawing/2014/main" id="{502907DA-1F27-4F34-B69D-9BCEA65A94A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943825" y="677372"/>
            <a:ext cx="914400" cy="914400"/>
          </a:xfrm>
          <a:prstGeom prst="rect">
            <a:avLst/>
          </a:prstGeom>
        </p:spPr>
      </p:pic>
      <p:pic>
        <p:nvPicPr>
          <p:cNvPr id="24" name="Graphic 23" descr="Car with solid fill">
            <a:extLst>
              <a:ext uri="{FF2B5EF4-FFF2-40B4-BE49-F238E27FC236}">
                <a16:creationId xmlns:a16="http://schemas.microsoft.com/office/drawing/2014/main" id="{FCD375F5-2F39-467C-8633-A46E551DDDD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5400000">
            <a:off x="11020448" y="2700299"/>
            <a:ext cx="914400" cy="914400"/>
          </a:xfrm>
          <a:prstGeom prst="rect">
            <a:avLst/>
          </a:prstGeom>
        </p:spPr>
      </p:pic>
      <p:pic>
        <p:nvPicPr>
          <p:cNvPr id="25" name="Graphic 24" descr="Car with solid fill">
            <a:extLst>
              <a:ext uri="{FF2B5EF4-FFF2-40B4-BE49-F238E27FC236}">
                <a16:creationId xmlns:a16="http://schemas.microsoft.com/office/drawing/2014/main" id="{8AA361D8-8E20-4F53-AE09-CF829C48CE2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8943825" y="4976939"/>
            <a:ext cx="914400" cy="914400"/>
          </a:xfrm>
          <a:prstGeom prst="rect">
            <a:avLst/>
          </a:prstGeom>
        </p:spPr>
      </p:pic>
      <p:pic>
        <p:nvPicPr>
          <p:cNvPr id="26" name="Graphic 25" descr="Car with solid fill">
            <a:extLst>
              <a:ext uri="{FF2B5EF4-FFF2-40B4-BE49-F238E27FC236}">
                <a16:creationId xmlns:a16="http://schemas.microsoft.com/office/drawing/2014/main" id="{2A82C595-0610-4DA2-95B8-F5D3BC49056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a:off x="6781973" y="2899716"/>
            <a:ext cx="914400" cy="914400"/>
          </a:xfrm>
          <a:prstGeom prst="rect">
            <a:avLst/>
          </a:prstGeom>
        </p:spPr>
      </p:pic>
      <p:sp>
        <p:nvSpPr>
          <p:cNvPr id="27" name="Oval 26">
            <a:extLst>
              <a:ext uri="{FF2B5EF4-FFF2-40B4-BE49-F238E27FC236}">
                <a16:creationId xmlns:a16="http://schemas.microsoft.com/office/drawing/2014/main" id="{5BD3A10A-6921-4803-BC9E-414CE8AAF5A6}"/>
              </a:ext>
            </a:extLst>
          </p:cNvPr>
          <p:cNvSpPr/>
          <p:nvPr/>
        </p:nvSpPr>
        <p:spPr>
          <a:xfrm>
            <a:off x="7732256" y="1615586"/>
            <a:ext cx="3337538" cy="3337538"/>
          </a:xfrm>
          <a:prstGeom prst="ellipse">
            <a:avLst/>
          </a:prstGeom>
          <a:solidFill>
            <a:schemeClr val="accent6">
              <a:lumMod val="40000"/>
              <a:lumOff val="60000"/>
            </a:schemeClr>
          </a:solid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8" name="Text Placeholder 3">
            <a:extLst>
              <a:ext uri="{FF2B5EF4-FFF2-40B4-BE49-F238E27FC236}">
                <a16:creationId xmlns:a16="http://schemas.microsoft.com/office/drawing/2014/main" id="{7E11F69C-68AB-4B11-9E75-0C0F6E869F68}"/>
              </a:ext>
            </a:extLst>
          </p:cNvPr>
          <p:cNvSpPr txBox="1">
            <a:spLocks/>
          </p:cNvSpPr>
          <p:nvPr/>
        </p:nvSpPr>
        <p:spPr>
          <a:xfrm>
            <a:off x="101749" y="1048616"/>
            <a:ext cx="641470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3200" b="0" dirty="0"/>
              <a:t>Is the car accelerating?</a:t>
            </a:r>
          </a:p>
        </p:txBody>
      </p:sp>
      <mc:AlternateContent xmlns:mc="http://schemas.openxmlformats.org/markup-compatibility/2006" xmlns:a14="http://schemas.microsoft.com/office/drawing/2010/main">
        <mc:Choice Requires="a14">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b="0" dirty="0"/>
                  <a:t>There is no change in speed but there is a change in direction, therefore a change in velocity. Therefore an acceleration.</a:t>
                </a:r>
              </a:p>
              <a:p>
                <a:r>
                  <a:rPr lang="en-AU" b="0" dirty="0"/>
                  <a:t>The acceleration is always directed towards the centre of the circle.</a:t>
                </a:r>
              </a:p>
              <a:p>
                <a:endParaRPr lang="en-AU" b="0" dirty="0"/>
              </a:p>
              <a:p>
                <a:pPr algn="ctr"/>
                <a:r>
                  <a:rPr lang="en-AU" sz="3200" b="0" dirty="0"/>
                  <a:t>Acceleration  = </a:t>
                </a:r>
                <a14:m>
                  <m:oMath xmlns:m="http://schemas.openxmlformats.org/officeDocument/2006/math">
                    <m:f>
                      <m:fPr>
                        <m:ctrlPr>
                          <a:rPr lang="en-AU" sz="3200" b="0" i="1" dirty="0" smtClean="0">
                            <a:latin typeface="Cambria Math" panose="02040503050406030204" pitchFamily="18" charset="0"/>
                          </a:rPr>
                        </m:ctrlPr>
                      </m:fPr>
                      <m:num>
                        <m:sSup>
                          <m:sSupPr>
                            <m:ctrlPr>
                              <a:rPr lang="en-AU" sz="3200" b="0" i="1" dirty="0" smtClean="0">
                                <a:latin typeface="Cambria Math" panose="02040503050406030204" pitchFamily="18" charset="0"/>
                              </a:rPr>
                            </m:ctrlPr>
                          </m:sSupPr>
                          <m:e>
                            <m:r>
                              <a:rPr lang="en-AU" sz="3200" b="0" i="1" dirty="0" smtClean="0">
                                <a:latin typeface="Cambria Math" panose="02040503050406030204" pitchFamily="18" charset="0"/>
                              </a:rPr>
                              <m:t>𝑣</m:t>
                            </m:r>
                          </m:e>
                          <m:sup>
                            <m:r>
                              <a:rPr lang="en-AU" sz="3200" b="0" i="1" dirty="0" smtClean="0">
                                <a:latin typeface="Cambria Math" panose="02040503050406030204" pitchFamily="18" charset="0"/>
                              </a:rPr>
                              <m:t>2</m:t>
                            </m:r>
                          </m:sup>
                        </m:sSup>
                      </m:num>
                      <m:den>
                        <m:r>
                          <a:rPr lang="en-AU" sz="3200" b="0" i="1" dirty="0" smtClean="0">
                            <a:latin typeface="Cambria Math" panose="02040503050406030204" pitchFamily="18" charset="0"/>
                          </a:rPr>
                          <m:t>𝑟</m:t>
                        </m:r>
                      </m:den>
                    </m:f>
                    <m:r>
                      <a:rPr lang="en-AU" sz="3200" b="0" i="0" dirty="0" smtClean="0">
                        <a:latin typeface="Cambria Math" panose="02040503050406030204" pitchFamily="18" charset="0"/>
                      </a:rPr>
                      <m:t>= </m:t>
                    </m:r>
                    <m:f>
                      <m:fPr>
                        <m:ctrlPr>
                          <a:rPr lang="en-AU" sz="3200" b="0" i="1" dirty="0" smtClean="0">
                            <a:latin typeface="Cambria Math" panose="02040503050406030204" pitchFamily="18" charset="0"/>
                          </a:rPr>
                        </m:ctrlPr>
                      </m:fPr>
                      <m:num>
                        <m:r>
                          <a:rPr lang="en-AU" sz="3200" b="0" i="1" dirty="0" smtClean="0">
                            <a:latin typeface="Cambria Math" panose="02040503050406030204" pitchFamily="18" charset="0"/>
                          </a:rPr>
                          <m:t>4</m:t>
                        </m:r>
                        <m:sSup>
                          <m:sSupPr>
                            <m:ctrlPr>
                              <a:rPr lang="el-GR" sz="3200" b="0" i="1" dirty="0" smtClean="0">
                                <a:latin typeface="Cambria Math" panose="02040503050406030204" pitchFamily="18" charset="0"/>
                              </a:rPr>
                            </m:ctrlPr>
                          </m:sSupPr>
                          <m:e>
                            <m:r>
                              <m:rPr>
                                <m:sty m:val="p"/>
                              </m:rPr>
                              <a:rPr lang="el-GR" sz="3200" b="0" i="1" dirty="0" smtClean="0">
                                <a:latin typeface="Cambria Math" panose="02040503050406030204" pitchFamily="18" charset="0"/>
                              </a:rPr>
                              <m:t>π</m:t>
                            </m:r>
                          </m:e>
                          <m:sup>
                            <m:r>
                              <a:rPr lang="en-AU" sz="3200" b="0" i="1" dirty="0" smtClean="0">
                                <a:latin typeface="Cambria Math" panose="02040503050406030204" pitchFamily="18" charset="0"/>
                              </a:rPr>
                              <m:t>2</m:t>
                            </m:r>
                          </m:sup>
                        </m:sSup>
                        <m:r>
                          <a:rPr lang="en-AU" sz="3200" b="0" i="1" dirty="0" smtClean="0">
                            <a:latin typeface="Cambria Math" panose="02040503050406030204" pitchFamily="18" charset="0"/>
                          </a:rPr>
                          <m:t>𝑟</m:t>
                        </m:r>
                      </m:num>
                      <m:den>
                        <m:sSup>
                          <m:sSupPr>
                            <m:ctrlPr>
                              <a:rPr lang="en-AU" sz="3200" b="0" i="1" dirty="0" smtClean="0">
                                <a:latin typeface="Cambria Math" panose="02040503050406030204" pitchFamily="18" charset="0"/>
                              </a:rPr>
                            </m:ctrlPr>
                          </m:sSupPr>
                          <m:e>
                            <m:r>
                              <a:rPr lang="en-AU" sz="3200" b="0" i="1" dirty="0" smtClean="0">
                                <a:latin typeface="Cambria Math" panose="02040503050406030204" pitchFamily="18" charset="0"/>
                              </a:rPr>
                              <m:t>𝑇</m:t>
                            </m:r>
                          </m:e>
                          <m:sup>
                            <m:r>
                              <a:rPr lang="en-AU" sz="3200" b="0" i="1" dirty="0" smtClean="0">
                                <a:latin typeface="Cambria Math" panose="02040503050406030204" pitchFamily="18" charset="0"/>
                              </a:rPr>
                              <m:t>2</m:t>
                            </m:r>
                          </m:sup>
                        </m:sSup>
                      </m:den>
                    </m:f>
                  </m:oMath>
                </a14:m>
                <a:endParaRPr lang="en-AU" sz="3600" b="0" dirty="0"/>
              </a:p>
              <a:p>
                <a:pPr algn="ctr"/>
                <a:endParaRPr lang="en-AU" sz="3600" b="0" dirty="0"/>
              </a:p>
            </p:txBody>
          </p:sp>
        </mc:Choice>
        <mc:Fallback xmlns="">
          <p:sp>
            <p:nvSpPr>
              <p:cNvPr id="29" name="Text Placeholder 3">
                <a:extLst>
                  <a:ext uri="{FF2B5EF4-FFF2-40B4-BE49-F238E27FC236}">
                    <a16:creationId xmlns:a16="http://schemas.microsoft.com/office/drawing/2014/main" id="{0F9EF218-A1AE-49FC-A0C0-AC3DBB0665A7}"/>
                  </a:ext>
                </a:extLst>
              </p:cNvPr>
              <p:cNvSpPr txBox="1">
                <a:spLocks noRot="1" noChangeAspect="1" noMove="1" noResize="1" noEditPoints="1" noAdjustHandles="1" noChangeArrowheads="1" noChangeShapeType="1" noTextEdit="1"/>
              </p:cNvSpPr>
              <p:nvPr/>
            </p:nvSpPr>
            <p:spPr>
              <a:xfrm>
                <a:off x="98508" y="1932294"/>
                <a:ext cx="6928386" cy="885562"/>
              </a:xfrm>
              <a:prstGeom prst="rect">
                <a:avLst/>
              </a:prstGeom>
              <a:blipFill>
                <a:blip r:embed="rId5"/>
                <a:stretch>
                  <a:fillRect l="-1759" t="-12414" r="-176" b="-346897"/>
                </a:stretch>
              </a:blipFill>
            </p:spPr>
            <p:txBody>
              <a:bodyPr/>
              <a:lstStyle/>
              <a:p>
                <a:r>
                  <a:rPr lang="en-AU">
                    <a:noFill/>
                  </a:rPr>
                  <a:t> </a:t>
                </a:r>
              </a:p>
            </p:txBody>
          </p:sp>
        </mc:Fallback>
      </mc:AlternateContent>
      <p:sp>
        <p:nvSpPr>
          <p:cNvPr id="16" name="Rectangle 15">
            <a:extLst>
              <a:ext uri="{FF2B5EF4-FFF2-40B4-BE49-F238E27FC236}">
                <a16:creationId xmlns:a16="http://schemas.microsoft.com/office/drawing/2014/main" id="{982B94AD-58D5-4C53-BA16-1D43439DE123}"/>
              </a:ext>
            </a:extLst>
          </p:cNvPr>
          <p:cNvSpPr/>
          <p:nvPr/>
        </p:nvSpPr>
        <p:spPr>
          <a:xfrm>
            <a:off x="266261" y="4768026"/>
            <a:ext cx="6414706" cy="157465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dirty="0"/>
          </a:p>
        </p:txBody>
      </p:sp>
      <p:sp>
        <p:nvSpPr>
          <p:cNvPr id="17" name="Text Placeholder 3">
            <a:extLst>
              <a:ext uri="{FF2B5EF4-FFF2-40B4-BE49-F238E27FC236}">
                <a16:creationId xmlns:a16="http://schemas.microsoft.com/office/drawing/2014/main" id="{EC46EDC4-1BE1-41DA-ACF7-FC294C3DC658}"/>
              </a:ext>
            </a:extLst>
          </p:cNvPr>
          <p:cNvSpPr txBox="1">
            <a:spLocks/>
          </p:cNvSpPr>
          <p:nvPr/>
        </p:nvSpPr>
        <p:spPr>
          <a:xfrm>
            <a:off x="1012908" y="5850314"/>
            <a:ext cx="6683465"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400" b="0" dirty="0"/>
              <a:t>towards the centre of the circle</a:t>
            </a:r>
          </a:p>
        </p:txBody>
      </p:sp>
      <p:cxnSp>
        <p:nvCxnSpPr>
          <p:cNvPr id="7" name="Straight Arrow Connector 6">
            <a:extLst>
              <a:ext uri="{FF2B5EF4-FFF2-40B4-BE49-F238E27FC236}">
                <a16:creationId xmlns:a16="http://schemas.microsoft.com/office/drawing/2014/main" id="{F2DC7BB0-685C-452B-8AB9-9AF5D694F71E}"/>
              </a:ext>
            </a:extLst>
          </p:cNvPr>
          <p:cNvCxnSpPr>
            <a:cxnSpLocks/>
          </p:cNvCxnSpPr>
          <p:nvPr/>
        </p:nvCxnSpPr>
        <p:spPr>
          <a:xfrm flipH="1">
            <a:off x="11452690" y="3608709"/>
            <a:ext cx="12479" cy="1522667"/>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D46FB727-0502-4A81-A341-44C53C5C0EA7}"/>
              </a:ext>
            </a:extLst>
          </p:cNvPr>
          <p:cNvCxnSpPr>
            <a:cxnSpLocks/>
          </p:cNvCxnSpPr>
          <p:nvPr/>
        </p:nvCxnSpPr>
        <p:spPr>
          <a:xfrm rot="16200000" flipH="1">
            <a:off x="10613319" y="404086"/>
            <a:ext cx="12479" cy="1522667"/>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9799785E-74A7-4849-AE7B-7C2D47CF3288}"/>
              </a:ext>
            </a:extLst>
          </p:cNvPr>
          <p:cNvCxnSpPr>
            <a:cxnSpLocks/>
          </p:cNvCxnSpPr>
          <p:nvPr/>
        </p:nvCxnSpPr>
        <p:spPr>
          <a:xfrm rot="10800000" flipH="1">
            <a:off x="7297985" y="1357126"/>
            <a:ext cx="12479" cy="1522667"/>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40B33396-8945-4F14-BC1B-86B6A79BD1E5}"/>
              </a:ext>
            </a:extLst>
          </p:cNvPr>
          <p:cNvCxnSpPr>
            <a:cxnSpLocks/>
          </p:cNvCxnSpPr>
          <p:nvPr/>
        </p:nvCxnSpPr>
        <p:spPr>
          <a:xfrm rot="5400000" flipH="1">
            <a:off x="8176252" y="4587862"/>
            <a:ext cx="12479" cy="1522667"/>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66241D3-1DDE-4402-A3D9-A39BBEBEE592}"/>
                  </a:ext>
                </a:extLst>
              </p:cNvPr>
              <p:cNvSpPr txBox="1"/>
              <p:nvPr/>
            </p:nvSpPr>
            <p:spPr>
              <a:xfrm>
                <a:off x="6667155" y="1849903"/>
                <a:ext cx="914400" cy="914400"/>
              </a:xfrm>
              <a:prstGeom prst="rect">
                <a:avLst/>
              </a:prstGeom>
              <a:noFill/>
              <a:ln>
                <a:noFill/>
              </a:ln>
            </p:spPr>
            <p:txBody>
              <a:bodyPr wrap="none" lIns="0" tIns="0" rIns="0" bIns="0" rtlCol="0" anchor="t" anchorCtr="0">
                <a:normAutofit/>
              </a:bodyPr>
              <a:lstStyle/>
              <a:p>
                <a:pPr algn="l"/>
                <a14:m>
                  <m:oMathPara xmlns:m="http://schemas.openxmlformats.org/officeDocument/2006/math">
                    <m:oMathParaPr>
                      <m:jc m:val="centerGroup"/>
                    </m:oMathParaPr>
                    <m:oMath xmlns:m="http://schemas.openxmlformats.org/officeDocument/2006/math">
                      <m:r>
                        <a:rPr lang="en-AU" sz="2800" b="1" i="1" smtClean="0">
                          <a:solidFill>
                            <a:srgbClr val="FF0000"/>
                          </a:solidFill>
                          <a:latin typeface="Cambria Math" panose="02040503050406030204" pitchFamily="18" charset="0"/>
                          <a:cs typeface="Futura Medium" panose="020B0602020204020303" pitchFamily="34" charset="-79"/>
                        </a:rPr>
                        <m:t>𝒗</m:t>
                      </m:r>
                    </m:oMath>
                  </m:oMathPara>
                </a14:m>
                <a:endParaRPr lang="en-AU" sz="2800" b="1" dirty="0">
                  <a:solidFill>
                    <a:srgbClr val="FF0000"/>
                  </a:solidFill>
                  <a:latin typeface="Century Gothic" panose="020B0502020202020204" pitchFamily="34" charset="0"/>
                  <a:cs typeface="Futura Medium" panose="020B0602020204020303" pitchFamily="34" charset="-79"/>
                </a:endParaRPr>
              </a:p>
            </p:txBody>
          </p:sp>
        </mc:Choice>
        <mc:Fallback xmlns="">
          <p:sp>
            <p:nvSpPr>
              <p:cNvPr id="8" name="TextBox 7">
                <a:extLst>
                  <a:ext uri="{FF2B5EF4-FFF2-40B4-BE49-F238E27FC236}">
                    <a16:creationId xmlns:a16="http://schemas.microsoft.com/office/drawing/2014/main" id="{A66241D3-1DDE-4402-A3D9-A39BBEBEE592}"/>
                  </a:ext>
                </a:extLst>
              </p:cNvPr>
              <p:cNvSpPr txBox="1">
                <a:spLocks noRot="1" noChangeAspect="1" noMove="1" noResize="1" noEditPoints="1" noAdjustHandles="1" noChangeArrowheads="1" noChangeShapeType="1" noTextEdit="1"/>
              </p:cNvSpPr>
              <p:nvPr/>
            </p:nvSpPr>
            <p:spPr>
              <a:xfrm>
                <a:off x="6667155" y="1849903"/>
                <a:ext cx="914400" cy="914400"/>
              </a:xfrm>
              <a:prstGeom prst="rect">
                <a:avLst/>
              </a:prstGeom>
              <a:blipFill>
                <a:blip r:embed="rId6"/>
                <a:stretch>
                  <a:fillRect/>
                </a:stretch>
              </a:blipFill>
              <a:ln>
                <a:noFill/>
              </a:ln>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0F77CBAF-CC21-46EB-8F97-F97FAD62DDE5}"/>
                  </a:ext>
                </a:extLst>
              </p:cNvPr>
              <p:cNvSpPr txBox="1"/>
              <p:nvPr/>
            </p:nvSpPr>
            <p:spPr>
              <a:xfrm>
                <a:off x="10069842" y="715270"/>
                <a:ext cx="914400" cy="914400"/>
              </a:xfrm>
              <a:prstGeom prst="rect">
                <a:avLst/>
              </a:prstGeom>
              <a:noFill/>
              <a:ln>
                <a:noFill/>
              </a:ln>
            </p:spPr>
            <p:txBody>
              <a:bodyPr wrap="none" lIns="0" tIns="0" rIns="0" bIns="0" rtlCol="0" anchor="t" anchorCtr="0">
                <a:normAutofit/>
              </a:bodyPr>
              <a:lstStyle/>
              <a:p>
                <a:pPr algn="l"/>
                <a14:m>
                  <m:oMathPara xmlns:m="http://schemas.openxmlformats.org/officeDocument/2006/math">
                    <m:oMathParaPr>
                      <m:jc m:val="centerGroup"/>
                    </m:oMathParaPr>
                    <m:oMath xmlns:m="http://schemas.openxmlformats.org/officeDocument/2006/math">
                      <m:r>
                        <a:rPr lang="en-AU" sz="2800" b="1" i="1" smtClean="0">
                          <a:solidFill>
                            <a:srgbClr val="FF0000"/>
                          </a:solidFill>
                          <a:latin typeface="Cambria Math" panose="02040503050406030204" pitchFamily="18" charset="0"/>
                          <a:cs typeface="Futura Medium" panose="020B0602020204020303" pitchFamily="34" charset="-79"/>
                        </a:rPr>
                        <m:t>𝒗</m:t>
                      </m:r>
                    </m:oMath>
                  </m:oMathPara>
                </a14:m>
                <a:endParaRPr lang="en-AU" sz="2800" b="1" dirty="0">
                  <a:solidFill>
                    <a:srgbClr val="FF0000"/>
                  </a:solidFill>
                  <a:latin typeface="Century Gothic" panose="020B0502020202020204" pitchFamily="34" charset="0"/>
                  <a:cs typeface="Futura Medium" panose="020B0602020204020303" pitchFamily="34" charset="-79"/>
                </a:endParaRPr>
              </a:p>
            </p:txBody>
          </p:sp>
        </mc:Choice>
        <mc:Fallback xmlns="">
          <p:sp>
            <p:nvSpPr>
              <p:cNvPr id="30" name="TextBox 29">
                <a:extLst>
                  <a:ext uri="{FF2B5EF4-FFF2-40B4-BE49-F238E27FC236}">
                    <a16:creationId xmlns:a16="http://schemas.microsoft.com/office/drawing/2014/main" id="{0F77CBAF-CC21-46EB-8F97-F97FAD62DDE5}"/>
                  </a:ext>
                </a:extLst>
              </p:cNvPr>
              <p:cNvSpPr txBox="1">
                <a:spLocks noRot="1" noChangeAspect="1" noMove="1" noResize="1" noEditPoints="1" noAdjustHandles="1" noChangeArrowheads="1" noChangeShapeType="1" noTextEdit="1"/>
              </p:cNvSpPr>
              <p:nvPr/>
            </p:nvSpPr>
            <p:spPr>
              <a:xfrm>
                <a:off x="10069842" y="715270"/>
                <a:ext cx="914400" cy="914400"/>
              </a:xfrm>
              <a:prstGeom prst="rect">
                <a:avLst/>
              </a:prstGeom>
              <a:blipFill>
                <a:blip r:embed="rId7"/>
                <a:stretch>
                  <a:fillRect/>
                </a:stretch>
              </a:blipFill>
              <a:ln>
                <a:noFill/>
              </a:ln>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90F95547-596A-4CF1-9A62-631AF7323945}"/>
                  </a:ext>
                </a:extLst>
              </p:cNvPr>
              <p:cNvSpPr txBox="1"/>
              <p:nvPr/>
            </p:nvSpPr>
            <p:spPr>
              <a:xfrm>
                <a:off x="11256378" y="4062539"/>
                <a:ext cx="914400" cy="914400"/>
              </a:xfrm>
              <a:prstGeom prst="rect">
                <a:avLst/>
              </a:prstGeom>
              <a:noFill/>
              <a:ln>
                <a:noFill/>
              </a:ln>
            </p:spPr>
            <p:txBody>
              <a:bodyPr wrap="none" lIns="0" tIns="0" rIns="0" bIns="0" rtlCol="0" anchor="t" anchorCtr="0">
                <a:normAutofit/>
              </a:bodyPr>
              <a:lstStyle/>
              <a:p>
                <a:pPr algn="l"/>
                <a14:m>
                  <m:oMathPara xmlns:m="http://schemas.openxmlformats.org/officeDocument/2006/math">
                    <m:oMathParaPr>
                      <m:jc m:val="centerGroup"/>
                    </m:oMathParaPr>
                    <m:oMath xmlns:m="http://schemas.openxmlformats.org/officeDocument/2006/math">
                      <m:r>
                        <a:rPr lang="en-AU" sz="2800" b="1" i="1" smtClean="0">
                          <a:solidFill>
                            <a:srgbClr val="FF0000"/>
                          </a:solidFill>
                          <a:latin typeface="Cambria Math" panose="02040503050406030204" pitchFamily="18" charset="0"/>
                          <a:cs typeface="Futura Medium" panose="020B0602020204020303" pitchFamily="34" charset="-79"/>
                        </a:rPr>
                        <m:t>𝒗</m:t>
                      </m:r>
                    </m:oMath>
                  </m:oMathPara>
                </a14:m>
                <a:endParaRPr lang="en-AU" sz="2800" b="1" dirty="0">
                  <a:solidFill>
                    <a:srgbClr val="FF0000"/>
                  </a:solidFill>
                  <a:latin typeface="Century Gothic" panose="020B0502020202020204" pitchFamily="34" charset="0"/>
                  <a:cs typeface="Futura Medium" panose="020B0602020204020303" pitchFamily="34" charset="-79"/>
                </a:endParaRPr>
              </a:p>
            </p:txBody>
          </p:sp>
        </mc:Choice>
        <mc:Fallback xmlns="">
          <p:sp>
            <p:nvSpPr>
              <p:cNvPr id="31" name="TextBox 30">
                <a:extLst>
                  <a:ext uri="{FF2B5EF4-FFF2-40B4-BE49-F238E27FC236}">
                    <a16:creationId xmlns:a16="http://schemas.microsoft.com/office/drawing/2014/main" id="{90F95547-596A-4CF1-9A62-631AF7323945}"/>
                  </a:ext>
                </a:extLst>
              </p:cNvPr>
              <p:cNvSpPr txBox="1">
                <a:spLocks noRot="1" noChangeAspect="1" noMove="1" noResize="1" noEditPoints="1" noAdjustHandles="1" noChangeArrowheads="1" noChangeShapeType="1" noTextEdit="1"/>
              </p:cNvSpPr>
              <p:nvPr/>
            </p:nvSpPr>
            <p:spPr>
              <a:xfrm>
                <a:off x="11256378" y="4062539"/>
                <a:ext cx="914400" cy="914400"/>
              </a:xfrm>
              <a:prstGeom prst="rect">
                <a:avLst/>
              </a:prstGeom>
              <a:blipFill>
                <a:blip r:embed="rId8"/>
                <a:stretch>
                  <a:fillRect/>
                </a:stretch>
              </a:blipFill>
              <a:ln>
                <a:noFill/>
              </a:ln>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CDFB747D-C59A-4BA5-B5FA-C622FE24AA35}"/>
                  </a:ext>
                </a:extLst>
              </p:cNvPr>
              <p:cNvSpPr txBox="1"/>
              <p:nvPr/>
            </p:nvSpPr>
            <p:spPr>
              <a:xfrm>
                <a:off x="7829378" y="5315655"/>
                <a:ext cx="914400" cy="914400"/>
              </a:xfrm>
              <a:prstGeom prst="rect">
                <a:avLst/>
              </a:prstGeom>
              <a:noFill/>
              <a:ln>
                <a:noFill/>
              </a:ln>
            </p:spPr>
            <p:txBody>
              <a:bodyPr wrap="none" lIns="0" tIns="0" rIns="0" bIns="0" rtlCol="0" anchor="t" anchorCtr="0">
                <a:normAutofit/>
              </a:bodyPr>
              <a:lstStyle/>
              <a:p>
                <a:pPr algn="l"/>
                <a14:m>
                  <m:oMathPara xmlns:m="http://schemas.openxmlformats.org/officeDocument/2006/math">
                    <m:oMathParaPr>
                      <m:jc m:val="centerGroup"/>
                    </m:oMathParaPr>
                    <m:oMath xmlns:m="http://schemas.openxmlformats.org/officeDocument/2006/math">
                      <m:r>
                        <a:rPr lang="en-AU" sz="2800" b="1" i="1" smtClean="0">
                          <a:solidFill>
                            <a:srgbClr val="FF0000"/>
                          </a:solidFill>
                          <a:latin typeface="Cambria Math" panose="02040503050406030204" pitchFamily="18" charset="0"/>
                          <a:cs typeface="Futura Medium" panose="020B0602020204020303" pitchFamily="34" charset="-79"/>
                        </a:rPr>
                        <m:t>𝒗</m:t>
                      </m:r>
                    </m:oMath>
                  </m:oMathPara>
                </a14:m>
                <a:endParaRPr lang="en-AU" sz="2800" b="1" dirty="0">
                  <a:solidFill>
                    <a:srgbClr val="FF0000"/>
                  </a:solidFill>
                  <a:latin typeface="Century Gothic" panose="020B0502020202020204" pitchFamily="34" charset="0"/>
                  <a:cs typeface="Futura Medium" panose="020B0602020204020303" pitchFamily="34" charset="-79"/>
                </a:endParaRPr>
              </a:p>
            </p:txBody>
          </p:sp>
        </mc:Choice>
        <mc:Fallback xmlns="">
          <p:sp>
            <p:nvSpPr>
              <p:cNvPr id="32" name="TextBox 31">
                <a:extLst>
                  <a:ext uri="{FF2B5EF4-FFF2-40B4-BE49-F238E27FC236}">
                    <a16:creationId xmlns:a16="http://schemas.microsoft.com/office/drawing/2014/main" id="{CDFB747D-C59A-4BA5-B5FA-C622FE24AA35}"/>
                  </a:ext>
                </a:extLst>
              </p:cNvPr>
              <p:cNvSpPr txBox="1">
                <a:spLocks noRot="1" noChangeAspect="1" noMove="1" noResize="1" noEditPoints="1" noAdjustHandles="1" noChangeArrowheads="1" noChangeShapeType="1" noTextEdit="1"/>
              </p:cNvSpPr>
              <p:nvPr/>
            </p:nvSpPr>
            <p:spPr>
              <a:xfrm>
                <a:off x="7829378" y="5315655"/>
                <a:ext cx="914400" cy="914400"/>
              </a:xfrm>
              <a:prstGeom prst="rect">
                <a:avLst/>
              </a:prstGeom>
              <a:blipFill>
                <a:blip r:embed="rId9"/>
                <a:stretch>
                  <a:fillRect/>
                </a:stretch>
              </a:blipFill>
              <a:ln>
                <a:noFill/>
              </a:ln>
            </p:spPr>
            <p:txBody>
              <a:bodyPr/>
              <a:lstStyle/>
              <a:p>
                <a:r>
                  <a:rPr lang="en-AU">
                    <a:noFill/>
                  </a:rPr>
                  <a:t> </a:t>
                </a:r>
              </a:p>
            </p:txBody>
          </p:sp>
        </mc:Fallback>
      </mc:AlternateContent>
      <p:grpSp>
        <p:nvGrpSpPr>
          <p:cNvPr id="19" name="Group 18">
            <a:extLst>
              <a:ext uri="{FF2B5EF4-FFF2-40B4-BE49-F238E27FC236}">
                <a16:creationId xmlns:a16="http://schemas.microsoft.com/office/drawing/2014/main" id="{26B8B4EE-252A-44EF-BDB2-D427964CB0B4}"/>
              </a:ext>
            </a:extLst>
          </p:cNvPr>
          <p:cNvGrpSpPr/>
          <p:nvPr/>
        </p:nvGrpSpPr>
        <p:grpSpPr>
          <a:xfrm>
            <a:off x="7918364" y="1244615"/>
            <a:ext cx="2379569" cy="2047071"/>
            <a:chOff x="7918364" y="1244615"/>
            <a:chExt cx="2379569" cy="2047071"/>
          </a:xfrm>
        </p:grpSpPr>
        <p:cxnSp>
          <p:nvCxnSpPr>
            <p:cNvPr id="34" name="Straight Arrow Connector 33">
              <a:extLst>
                <a:ext uri="{FF2B5EF4-FFF2-40B4-BE49-F238E27FC236}">
                  <a16:creationId xmlns:a16="http://schemas.microsoft.com/office/drawing/2014/main" id="{05CF512F-A6AD-44DA-A2E5-287EB4157E4E}"/>
                </a:ext>
              </a:extLst>
            </p:cNvPr>
            <p:cNvCxnSpPr>
              <a:cxnSpLocks/>
            </p:cNvCxnSpPr>
            <p:nvPr/>
          </p:nvCxnSpPr>
          <p:spPr>
            <a:xfrm rot="10800000" flipH="1">
              <a:off x="9387696" y="1769019"/>
              <a:ext cx="12479" cy="1522667"/>
            </a:xfrm>
            <a:prstGeom prst="straightConnector1">
              <a:avLst/>
            </a:prstGeom>
            <a:ln w="57150">
              <a:solidFill>
                <a:srgbClr val="00B0F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A40D3AE2-808D-4541-8C5B-453B71884AFC}"/>
                </a:ext>
              </a:extLst>
            </p:cNvPr>
            <p:cNvCxnSpPr>
              <a:cxnSpLocks/>
            </p:cNvCxnSpPr>
            <p:nvPr/>
          </p:nvCxnSpPr>
          <p:spPr>
            <a:xfrm rot="16200000" flipH="1">
              <a:off x="8673458" y="995596"/>
              <a:ext cx="12479" cy="1522667"/>
            </a:xfrm>
            <a:prstGeom prst="straightConnector1">
              <a:avLst/>
            </a:prstGeom>
            <a:ln w="57150">
              <a:solidFill>
                <a:srgbClr val="00B0F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06E12B07-D542-42D2-BDAE-3464F25C03D9}"/>
                    </a:ext>
                  </a:extLst>
                </p:cNvPr>
                <p:cNvSpPr txBox="1"/>
                <p:nvPr/>
              </p:nvSpPr>
              <p:spPr>
                <a:xfrm>
                  <a:off x="8182678" y="1244615"/>
                  <a:ext cx="914400" cy="914400"/>
                </a:xfrm>
                <a:prstGeom prst="rect">
                  <a:avLst/>
                </a:prstGeom>
                <a:noFill/>
                <a:ln>
                  <a:noFill/>
                </a:ln>
              </p:spPr>
              <p:txBody>
                <a:bodyPr wrap="none" lIns="0" tIns="0" rIns="0" bIns="0" rtlCol="0" anchor="t" anchorCtr="0">
                  <a:normAutofit/>
                </a:bodyPr>
                <a:lstStyle/>
                <a:p>
                  <a:pPr algn="l"/>
                  <a14:m>
                    <m:oMathPara xmlns:m="http://schemas.openxmlformats.org/officeDocument/2006/math">
                      <m:oMathParaPr>
                        <m:jc m:val="centerGroup"/>
                      </m:oMathParaPr>
                      <m:oMath xmlns:m="http://schemas.openxmlformats.org/officeDocument/2006/math">
                        <m:sSub>
                          <m:sSubPr>
                            <m:ctrlPr>
                              <a:rPr lang="en-AU" sz="2800" b="1" i="1" smtClean="0">
                                <a:solidFill>
                                  <a:srgbClr val="FF0000"/>
                                </a:solidFill>
                                <a:latin typeface="Cambria Math" panose="02040503050406030204" pitchFamily="18" charset="0"/>
                                <a:cs typeface="Futura Medium" panose="020B0602020204020303" pitchFamily="34" charset="-79"/>
                              </a:rPr>
                            </m:ctrlPr>
                          </m:sSubPr>
                          <m:e>
                            <m:r>
                              <a:rPr lang="en-AU" sz="2800" b="1" i="1" smtClean="0">
                                <a:solidFill>
                                  <a:srgbClr val="FF0000"/>
                                </a:solidFill>
                                <a:latin typeface="Cambria Math" panose="02040503050406030204" pitchFamily="18" charset="0"/>
                                <a:cs typeface="Futura Medium" panose="020B0602020204020303" pitchFamily="34" charset="-79"/>
                              </a:rPr>
                              <m:t>𝒗</m:t>
                            </m:r>
                          </m:e>
                          <m:sub>
                            <m:r>
                              <a:rPr lang="en-AU" sz="2800" b="1" i="1" smtClean="0">
                                <a:solidFill>
                                  <a:srgbClr val="FF0000"/>
                                </a:solidFill>
                                <a:latin typeface="Cambria Math" panose="02040503050406030204" pitchFamily="18" charset="0"/>
                                <a:cs typeface="Futura Medium" panose="020B0602020204020303" pitchFamily="34" charset="-79"/>
                              </a:rPr>
                              <m:t>𝒇</m:t>
                            </m:r>
                          </m:sub>
                        </m:sSub>
                      </m:oMath>
                    </m:oMathPara>
                  </a14:m>
                  <a:endParaRPr lang="en-AU" sz="2800" b="1" dirty="0">
                    <a:solidFill>
                      <a:srgbClr val="FF0000"/>
                    </a:solidFill>
                    <a:latin typeface="Century Gothic" panose="020B0502020202020204" pitchFamily="34" charset="0"/>
                    <a:cs typeface="Futura Medium" panose="020B0602020204020303" pitchFamily="34" charset="-79"/>
                  </a:endParaRPr>
                </a:p>
              </p:txBody>
            </p:sp>
          </mc:Choice>
          <mc:Fallback xmlns="">
            <p:sp>
              <p:nvSpPr>
                <p:cNvPr id="36" name="TextBox 35">
                  <a:extLst>
                    <a:ext uri="{FF2B5EF4-FFF2-40B4-BE49-F238E27FC236}">
                      <a16:creationId xmlns:a16="http://schemas.microsoft.com/office/drawing/2014/main" id="{06E12B07-D542-42D2-BDAE-3464F25C03D9}"/>
                    </a:ext>
                  </a:extLst>
                </p:cNvPr>
                <p:cNvSpPr txBox="1">
                  <a:spLocks noRot="1" noChangeAspect="1" noMove="1" noResize="1" noEditPoints="1" noAdjustHandles="1" noChangeArrowheads="1" noChangeShapeType="1" noTextEdit="1"/>
                </p:cNvSpPr>
                <p:nvPr/>
              </p:nvSpPr>
              <p:spPr>
                <a:xfrm>
                  <a:off x="8182678" y="1244615"/>
                  <a:ext cx="914400" cy="914400"/>
                </a:xfrm>
                <a:prstGeom prst="rect">
                  <a:avLst/>
                </a:prstGeom>
                <a:blipFill>
                  <a:blip r:embed="rId10"/>
                  <a:stretch>
                    <a:fillRect/>
                  </a:stretch>
                </a:blipFill>
                <a:ln>
                  <a:noFill/>
                </a:ln>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342C72C3-64CC-4C4B-B9FC-C1C3BC68100D}"/>
                    </a:ext>
                  </a:extLst>
                </p:cNvPr>
                <p:cNvSpPr txBox="1"/>
                <p:nvPr/>
              </p:nvSpPr>
              <p:spPr>
                <a:xfrm>
                  <a:off x="9383533" y="2058349"/>
                  <a:ext cx="914400" cy="914400"/>
                </a:xfrm>
                <a:prstGeom prst="rect">
                  <a:avLst/>
                </a:prstGeom>
                <a:noFill/>
                <a:ln>
                  <a:noFill/>
                </a:ln>
              </p:spPr>
              <p:txBody>
                <a:bodyPr wrap="none" lIns="0" tIns="0" rIns="0" bIns="0" rtlCol="0" anchor="t" anchorCtr="0">
                  <a:normAutofit/>
                </a:bodyPr>
                <a:lstStyle/>
                <a:p>
                  <a:pPr algn="l"/>
                  <a14:m>
                    <m:oMathPara xmlns:m="http://schemas.openxmlformats.org/officeDocument/2006/math">
                      <m:oMathParaPr>
                        <m:jc m:val="centerGroup"/>
                      </m:oMathParaPr>
                      <m:oMath xmlns:m="http://schemas.openxmlformats.org/officeDocument/2006/math">
                        <m:sSub>
                          <m:sSubPr>
                            <m:ctrlPr>
                              <a:rPr lang="en-AU" sz="2800" b="1" i="1" smtClean="0">
                                <a:solidFill>
                                  <a:srgbClr val="FF0000"/>
                                </a:solidFill>
                                <a:latin typeface="Cambria Math" panose="02040503050406030204" pitchFamily="18" charset="0"/>
                                <a:cs typeface="Futura Medium" panose="020B0602020204020303" pitchFamily="34" charset="-79"/>
                              </a:rPr>
                            </m:ctrlPr>
                          </m:sSubPr>
                          <m:e>
                            <m:r>
                              <a:rPr lang="en-AU" sz="2800" b="1" i="1" smtClean="0">
                                <a:solidFill>
                                  <a:srgbClr val="FF0000"/>
                                </a:solidFill>
                                <a:latin typeface="Cambria Math" panose="02040503050406030204" pitchFamily="18" charset="0"/>
                                <a:cs typeface="Futura Medium" panose="020B0602020204020303" pitchFamily="34" charset="-79"/>
                              </a:rPr>
                              <m:t>−</m:t>
                            </m:r>
                            <m:r>
                              <a:rPr lang="en-AU" sz="2800" b="1" i="1" smtClean="0">
                                <a:solidFill>
                                  <a:srgbClr val="FF0000"/>
                                </a:solidFill>
                                <a:latin typeface="Cambria Math" panose="02040503050406030204" pitchFamily="18" charset="0"/>
                                <a:cs typeface="Futura Medium" panose="020B0602020204020303" pitchFamily="34" charset="-79"/>
                              </a:rPr>
                              <m:t>𝒗</m:t>
                            </m:r>
                          </m:e>
                          <m:sub>
                            <m:r>
                              <a:rPr lang="en-AU" sz="2800" b="1" i="1" smtClean="0">
                                <a:solidFill>
                                  <a:srgbClr val="FF0000"/>
                                </a:solidFill>
                                <a:latin typeface="Cambria Math" panose="02040503050406030204" pitchFamily="18" charset="0"/>
                                <a:cs typeface="Futura Medium" panose="020B0602020204020303" pitchFamily="34" charset="-79"/>
                              </a:rPr>
                              <m:t>𝒊</m:t>
                            </m:r>
                          </m:sub>
                        </m:sSub>
                      </m:oMath>
                    </m:oMathPara>
                  </a14:m>
                  <a:endParaRPr lang="en-AU" sz="2800" b="1" dirty="0">
                    <a:solidFill>
                      <a:srgbClr val="FF0000"/>
                    </a:solidFill>
                    <a:latin typeface="Century Gothic" panose="020B0502020202020204" pitchFamily="34" charset="0"/>
                    <a:cs typeface="Futura Medium" panose="020B0602020204020303" pitchFamily="34" charset="-79"/>
                  </a:endParaRPr>
                </a:p>
              </p:txBody>
            </p:sp>
          </mc:Choice>
          <mc:Fallback xmlns="">
            <p:sp>
              <p:nvSpPr>
                <p:cNvPr id="38" name="TextBox 37">
                  <a:extLst>
                    <a:ext uri="{FF2B5EF4-FFF2-40B4-BE49-F238E27FC236}">
                      <a16:creationId xmlns:a16="http://schemas.microsoft.com/office/drawing/2014/main" id="{342C72C3-64CC-4C4B-B9FC-C1C3BC68100D}"/>
                    </a:ext>
                  </a:extLst>
                </p:cNvPr>
                <p:cNvSpPr txBox="1">
                  <a:spLocks noRot="1" noChangeAspect="1" noMove="1" noResize="1" noEditPoints="1" noAdjustHandles="1" noChangeArrowheads="1" noChangeShapeType="1" noTextEdit="1"/>
                </p:cNvSpPr>
                <p:nvPr/>
              </p:nvSpPr>
              <p:spPr>
                <a:xfrm>
                  <a:off x="9383533" y="2058349"/>
                  <a:ext cx="914400" cy="914400"/>
                </a:xfrm>
                <a:prstGeom prst="rect">
                  <a:avLst/>
                </a:prstGeom>
                <a:blipFill>
                  <a:blip r:embed="rId11"/>
                  <a:stretch>
                    <a:fillRect/>
                  </a:stretch>
                </a:blipFill>
                <a:ln>
                  <a:noFill/>
                </a:ln>
              </p:spPr>
              <p:txBody>
                <a:bodyPr/>
                <a:lstStyle/>
                <a:p>
                  <a:r>
                    <a:rPr lang="en-AU">
                      <a:noFill/>
                    </a:rPr>
                    <a:t> </a:t>
                  </a:r>
                </a:p>
              </p:txBody>
            </p:sp>
          </mc:Fallback>
        </mc:AlternateContent>
      </p:grpSp>
      <p:grpSp>
        <p:nvGrpSpPr>
          <p:cNvPr id="23" name="Group 22">
            <a:extLst>
              <a:ext uri="{FF2B5EF4-FFF2-40B4-BE49-F238E27FC236}">
                <a16:creationId xmlns:a16="http://schemas.microsoft.com/office/drawing/2014/main" id="{6EFCDDFB-27BC-4AA9-BF56-8A02CA98BCEB}"/>
              </a:ext>
            </a:extLst>
          </p:cNvPr>
          <p:cNvGrpSpPr/>
          <p:nvPr/>
        </p:nvGrpSpPr>
        <p:grpSpPr>
          <a:xfrm>
            <a:off x="7918364" y="1769019"/>
            <a:ext cx="1356265" cy="1647071"/>
            <a:chOff x="7918364" y="1769019"/>
            <a:chExt cx="1356265" cy="1647071"/>
          </a:xfrm>
        </p:grpSpPr>
        <p:cxnSp>
          <p:nvCxnSpPr>
            <p:cNvPr id="18" name="Straight Arrow Connector 17">
              <a:extLst>
                <a:ext uri="{FF2B5EF4-FFF2-40B4-BE49-F238E27FC236}">
                  <a16:creationId xmlns:a16="http://schemas.microsoft.com/office/drawing/2014/main" id="{C954C58A-780B-4943-AE7A-C932D19917FA}"/>
                </a:ext>
              </a:extLst>
            </p:cNvPr>
            <p:cNvCxnSpPr/>
            <p:nvPr/>
          </p:nvCxnSpPr>
          <p:spPr>
            <a:xfrm>
              <a:off x="7918364" y="1769019"/>
              <a:ext cx="1356265" cy="1388480"/>
            </a:xfrm>
            <a:prstGeom prst="straightConnector1">
              <a:avLst/>
            </a:prstGeom>
            <a:ln w="57150">
              <a:solidFill>
                <a:srgbClr val="6E407C"/>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A6A4FB80-B29B-462B-BAC1-CD8D20B6A433}"/>
                    </a:ext>
                  </a:extLst>
                </p:cNvPr>
                <p:cNvSpPr txBox="1"/>
                <p:nvPr/>
              </p:nvSpPr>
              <p:spPr>
                <a:xfrm>
                  <a:off x="7923457" y="2501690"/>
                  <a:ext cx="914400" cy="914400"/>
                </a:xfrm>
                <a:prstGeom prst="rect">
                  <a:avLst/>
                </a:prstGeom>
                <a:noFill/>
                <a:ln>
                  <a:noFill/>
                </a:ln>
              </p:spPr>
              <p:txBody>
                <a:bodyPr wrap="none" lIns="0" tIns="0" rIns="0" bIns="0" rtlCol="0" anchor="t" anchorCtr="0">
                  <a:normAutofit/>
                </a:bodyPr>
                <a:lstStyle/>
                <a:p>
                  <a:pPr algn="l"/>
                  <a14:m>
                    <m:oMathPara xmlns:m="http://schemas.openxmlformats.org/officeDocument/2006/math">
                      <m:oMathParaPr>
                        <m:jc m:val="centerGroup"/>
                      </m:oMathParaPr>
                      <m:oMath xmlns:m="http://schemas.openxmlformats.org/officeDocument/2006/math">
                        <m:r>
                          <a:rPr lang="el-GR" sz="2800" b="1" i="0" dirty="0" smtClean="0">
                            <a:solidFill>
                              <a:srgbClr val="FF0000"/>
                            </a:solidFill>
                            <a:latin typeface="Cambria Math" panose="02040503050406030204" pitchFamily="18" charset="0"/>
                            <a:cs typeface="Futura Medium" panose="020B0602020204020303" pitchFamily="34" charset="-79"/>
                          </a:rPr>
                          <m:t>𝚫</m:t>
                        </m:r>
                        <m:r>
                          <a:rPr lang="en-AU" sz="2800" b="1" i="1" dirty="0" smtClean="0">
                            <a:solidFill>
                              <a:srgbClr val="FF0000"/>
                            </a:solidFill>
                            <a:latin typeface="Cambria Math" panose="02040503050406030204" pitchFamily="18" charset="0"/>
                            <a:cs typeface="Futura Medium" panose="020B0602020204020303" pitchFamily="34" charset="-79"/>
                          </a:rPr>
                          <m:t>𝒗</m:t>
                        </m:r>
                      </m:oMath>
                    </m:oMathPara>
                  </a14:m>
                  <a:endParaRPr lang="en-AU" sz="2800" b="1" dirty="0">
                    <a:solidFill>
                      <a:srgbClr val="FF0000"/>
                    </a:solidFill>
                    <a:latin typeface="Century Gothic" panose="020B0502020202020204" pitchFamily="34" charset="0"/>
                    <a:cs typeface="Futura Medium" panose="020B0602020204020303" pitchFamily="34" charset="-79"/>
                  </a:endParaRPr>
                </a:p>
              </p:txBody>
            </p:sp>
          </mc:Choice>
          <mc:Fallback xmlns="">
            <p:sp>
              <p:nvSpPr>
                <p:cNvPr id="39" name="TextBox 38">
                  <a:extLst>
                    <a:ext uri="{FF2B5EF4-FFF2-40B4-BE49-F238E27FC236}">
                      <a16:creationId xmlns:a16="http://schemas.microsoft.com/office/drawing/2014/main" id="{A6A4FB80-B29B-462B-BAC1-CD8D20B6A433}"/>
                    </a:ext>
                  </a:extLst>
                </p:cNvPr>
                <p:cNvSpPr txBox="1">
                  <a:spLocks noRot="1" noChangeAspect="1" noMove="1" noResize="1" noEditPoints="1" noAdjustHandles="1" noChangeArrowheads="1" noChangeShapeType="1" noTextEdit="1"/>
                </p:cNvSpPr>
                <p:nvPr/>
              </p:nvSpPr>
              <p:spPr>
                <a:xfrm>
                  <a:off x="7923457" y="2501690"/>
                  <a:ext cx="914400" cy="914400"/>
                </a:xfrm>
                <a:prstGeom prst="rect">
                  <a:avLst/>
                </a:prstGeom>
                <a:blipFill>
                  <a:blip r:embed="rId12"/>
                  <a:stretch>
                    <a:fillRect/>
                  </a:stretch>
                </a:blipFill>
                <a:ln>
                  <a:noFill/>
                </a:ln>
              </p:spPr>
              <p:txBody>
                <a:bodyPr/>
                <a:lstStyle/>
                <a:p>
                  <a:r>
                    <a:rPr lang="en-AU">
                      <a:noFill/>
                    </a:rPr>
                    <a:t> </a:t>
                  </a:r>
                </a:p>
              </p:txBody>
            </p:sp>
          </mc:Fallback>
        </mc:AlternateContent>
      </p:grpSp>
    </p:spTree>
    <p:extLst>
      <p:ext uri="{BB962C8B-B14F-4D97-AF65-F5344CB8AC3E}">
        <p14:creationId xmlns:p14="http://schemas.microsoft.com/office/powerpoint/2010/main" val="28104951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circular motion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177129" y="4251804"/>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6" name="Oval 5">
            <a:extLst>
              <a:ext uri="{FF2B5EF4-FFF2-40B4-BE49-F238E27FC236}">
                <a16:creationId xmlns:a16="http://schemas.microsoft.com/office/drawing/2014/main" id="{3D2AD87A-5164-4BED-B510-0C313C5563B5}"/>
              </a:ext>
            </a:extLst>
          </p:cNvPr>
          <p:cNvSpPr/>
          <p:nvPr/>
        </p:nvSpPr>
        <p:spPr>
          <a:xfrm>
            <a:off x="7124356" y="1007686"/>
            <a:ext cx="4553339" cy="4553339"/>
          </a:xfrm>
          <a:prstGeom prst="ellipse">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9" name="Graphic 8" descr="Car with solid fill">
            <a:extLst>
              <a:ext uri="{FF2B5EF4-FFF2-40B4-BE49-F238E27FC236}">
                <a16:creationId xmlns:a16="http://schemas.microsoft.com/office/drawing/2014/main" id="{502907DA-1F27-4F34-B69D-9BCEA65A94A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943825" y="677372"/>
            <a:ext cx="914400" cy="914400"/>
          </a:xfrm>
          <a:prstGeom prst="rect">
            <a:avLst/>
          </a:prstGeom>
        </p:spPr>
      </p:pic>
      <p:pic>
        <p:nvPicPr>
          <p:cNvPr id="24" name="Graphic 23" descr="Car with solid fill">
            <a:extLst>
              <a:ext uri="{FF2B5EF4-FFF2-40B4-BE49-F238E27FC236}">
                <a16:creationId xmlns:a16="http://schemas.microsoft.com/office/drawing/2014/main" id="{FCD375F5-2F39-467C-8633-A46E551DDDD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5400000">
            <a:off x="11020448" y="2700299"/>
            <a:ext cx="914400" cy="914400"/>
          </a:xfrm>
          <a:prstGeom prst="rect">
            <a:avLst/>
          </a:prstGeom>
        </p:spPr>
      </p:pic>
      <p:pic>
        <p:nvPicPr>
          <p:cNvPr id="25" name="Graphic 24" descr="Car with solid fill">
            <a:extLst>
              <a:ext uri="{FF2B5EF4-FFF2-40B4-BE49-F238E27FC236}">
                <a16:creationId xmlns:a16="http://schemas.microsoft.com/office/drawing/2014/main" id="{8AA361D8-8E20-4F53-AE09-CF829C48CE2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8943825" y="4976939"/>
            <a:ext cx="914400" cy="914400"/>
          </a:xfrm>
          <a:prstGeom prst="rect">
            <a:avLst/>
          </a:prstGeom>
        </p:spPr>
      </p:pic>
      <p:pic>
        <p:nvPicPr>
          <p:cNvPr id="26" name="Graphic 25" descr="Car with solid fill">
            <a:extLst>
              <a:ext uri="{FF2B5EF4-FFF2-40B4-BE49-F238E27FC236}">
                <a16:creationId xmlns:a16="http://schemas.microsoft.com/office/drawing/2014/main" id="{2A82C595-0610-4DA2-95B8-F5D3BC49056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a:off x="6781973" y="2899716"/>
            <a:ext cx="914400" cy="914400"/>
          </a:xfrm>
          <a:prstGeom prst="rect">
            <a:avLst/>
          </a:prstGeom>
        </p:spPr>
      </p:pic>
      <p:sp>
        <p:nvSpPr>
          <p:cNvPr id="27" name="Oval 26">
            <a:extLst>
              <a:ext uri="{FF2B5EF4-FFF2-40B4-BE49-F238E27FC236}">
                <a16:creationId xmlns:a16="http://schemas.microsoft.com/office/drawing/2014/main" id="{5BD3A10A-6921-4803-BC9E-414CE8AAF5A6}"/>
              </a:ext>
            </a:extLst>
          </p:cNvPr>
          <p:cNvSpPr/>
          <p:nvPr/>
        </p:nvSpPr>
        <p:spPr>
          <a:xfrm>
            <a:off x="7732256" y="1615586"/>
            <a:ext cx="3337538" cy="3337538"/>
          </a:xfrm>
          <a:prstGeom prst="ellipse">
            <a:avLst/>
          </a:prstGeom>
          <a:solidFill>
            <a:schemeClr val="accent6">
              <a:lumMod val="40000"/>
              <a:lumOff val="60000"/>
            </a:schemeClr>
          </a:solid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8" name="Text Placeholder 3">
            <a:extLst>
              <a:ext uri="{FF2B5EF4-FFF2-40B4-BE49-F238E27FC236}">
                <a16:creationId xmlns:a16="http://schemas.microsoft.com/office/drawing/2014/main" id="{7E11F69C-68AB-4B11-9E75-0C0F6E869F68}"/>
              </a:ext>
            </a:extLst>
          </p:cNvPr>
          <p:cNvSpPr txBox="1">
            <a:spLocks/>
          </p:cNvSpPr>
          <p:nvPr/>
        </p:nvSpPr>
        <p:spPr>
          <a:xfrm>
            <a:off x="94583" y="904805"/>
            <a:ext cx="641470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3200" b="0" dirty="0"/>
              <a:t>Special word for this type of acceleration:    </a:t>
            </a:r>
            <a:r>
              <a:rPr lang="en-AU" sz="3200" dirty="0"/>
              <a:t>centripetal</a:t>
            </a:r>
          </a:p>
          <a:p>
            <a:endParaRPr lang="en-AU" sz="1000" dirty="0"/>
          </a:p>
          <a:p>
            <a:r>
              <a:rPr lang="en-AU" sz="3200" b="0" i="1" dirty="0" err="1"/>
              <a:t>Centri</a:t>
            </a:r>
            <a:r>
              <a:rPr lang="en-AU" sz="3200" b="0" i="1" dirty="0"/>
              <a:t> = centrum </a:t>
            </a:r>
            <a:r>
              <a:rPr lang="en-AU" sz="3200" b="0" i="1" dirty="0">
                <a:sym typeface="Wingdings" panose="05000000000000000000" pitchFamily="2" charset="2"/>
              </a:rPr>
              <a:t> centre</a:t>
            </a:r>
            <a:endParaRPr lang="en-AU" sz="3200" b="0" i="1" dirty="0"/>
          </a:p>
          <a:p>
            <a:r>
              <a:rPr lang="en-AU" sz="3200" b="0" i="1" dirty="0"/>
              <a:t>Petal = </a:t>
            </a:r>
            <a:r>
              <a:rPr lang="en-AU" sz="3200" b="0" i="1" dirty="0" err="1"/>
              <a:t>petus</a:t>
            </a:r>
            <a:r>
              <a:rPr lang="en-AU" sz="3200" b="0" i="1" dirty="0"/>
              <a:t> </a:t>
            </a:r>
            <a:r>
              <a:rPr lang="en-AU" sz="3200" b="0" i="1" dirty="0">
                <a:sym typeface="Wingdings" panose="05000000000000000000" pitchFamily="2" charset="2"/>
              </a:rPr>
              <a:t> seeking</a:t>
            </a:r>
          </a:p>
          <a:p>
            <a:pPr algn="ctr"/>
            <a:r>
              <a:rPr lang="en-AU" sz="3200" i="1" dirty="0">
                <a:sym typeface="Wingdings" panose="05000000000000000000" pitchFamily="2" charset="2"/>
              </a:rPr>
              <a:t>Centre-seeking</a:t>
            </a:r>
          </a:p>
          <a:p>
            <a:pPr algn="ctr"/>
            <a:endParaRPr lang="en-AU" sz="1000" b="0" dirty="0">
              <a:sym typeface="Wingdings" panose="05000000000000000000" pitchFamily="2" charset="2"/>
            </a:endParaRPr>
          </a:p>
          <a:p>
            <a:r>
              <a:rPr lang="en-AU" b="0" dirty="0"/>
              <a:t>Non-scientists often say centrifugal. This is wrong.</a:t>
            </a:r>
          </a:p>
          <a:p>
            <a:r>
              <a:rPr lang="en-AU" b="0" i="1" dirty="0"/>
              <a:t>Fugal = fugus </a:t>
            </a:r>
            <a:r>
              <a:rPr lang="en-AU" b="0" i="1" dirty="0">
                <a:sym typeface="Wingdings" panose="05000000000000000000" pitchFamily="2" charset="2"/>
              </a:rPr>
              <a:t> fleeing</a:t>
            </a:r>
          </a:p>
          <a:p>
            <a:r>
              <a:rPr lang="en-AU" b="0" dirty="0">
                <a:sym typeface="Wingdings" panose="05000000000000000000" pitchFamily="2" charset="2"/>
              </a:rPr>
              <a:t>The car is not fleeing the centre but is being pulled towards it</a:t>
            </a:r>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cxnSp>
        <p:nvCxnSpPr>
          <p:cNvPr id="7" name="Straight Arrow Connector 6">
            <a:extLst>
              <a:ext uri="{FF2B5EF4-FFF2-40B4-BE49-F238E27FC236}">
                <a16:creationId xmlns:a16="http://schemas.microsoft.com/office/drawing/2014/main" id="{F2DC7BB0-685C-452B-8AB9-9AF5D694F71E}"/>
              </a:ext>
            </a:extLst>
          </p:cNvPr>
          <p:cNvCxnSpPr>
            <a:cxnSpLocks/>
          </p:cNvCxnSpPr>
          <p:nvPr/>
        </p:nvCxnSpPr>
        <p:spPr>
          <a:xfrm flipH="1">
            <a:off x="11452690" y="3608709"/>
            <a:ext cx="12479" cy="1522667"/>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D46FB727-0502-4A81-A341-44C53C5C0EA7}"/>
              </a:ext>
            </a:extLst>
          </p:cNvPr>
          <p:cNvCxnSpPr>
            <a:cxnSpLocks/>
          </p:cNvCxnSpPr>
          <p:nvPr/>
        </p:nvCxnSpPr>
        <p:spPr>
          <a:xfrm rot="16200000" flipH="1">
            <a:off x="10613319" y="404086"/>
            <a:ext cx="12479" cy="1522667"/>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9799785E-74A7-4849-AE7B-7C2D47CF3288}"/>
              </a:ext>
            </a:extLst>
          </p:cNvPr>
          <p:cNvCxnSpPr>
            <a:cxnSpLocks/>
          </p:cNvCxnSpPr>
          <p:nvPr/>
        </p:nvCxnSpPr>
        <p:spPr>
          <a:xfrm rot="10800000" flipH="1">
            <a:off x="7297985" y="1357126"/>
            <a:ext cx="12479" cy="1522667"/>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40B33396-8945-4F14-BC1B-86B6A79BD1E5}"/>
              </a:ext>
            </a:extLst>
          </p:cNvPr>
          <p:cNvCxnSpPr>
            <a:cxnSpLocks/>
          </p:cNvCxnSpPr>
          <p:nvPr/>
        </p:nvCxnSpPr>
        <p:spPr>
          <a:xfrm rot="5400000" flipH="1">
            <a:off x="8176252" y="4587862"/>
            <a:ext cx="12479" cy="1522667"/>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66241D3-1DDE-4402-A3D9-A39BBEBEE592}"/>
                  </a:ext>
                </a:extLst>
              </p:cNvPr>
              <p:cNvSpPr txBox="1"/>
              <p:nvPr/>
            </p:nvSpPr>
            <p:spPr>
              <a:xfrm>
                <a:off x="6667155" y="1849903"/>
                <a:ext cx="914400" cy="914400"/>
              </a:xfrm>
              <a:prstGeom prst="rect">
                <a:avLst/>
              </a:prstGeom>
              <a:noFill/>
              <a:ln>
                <a:noFill/>
              </a:ln>
            </p:spPr>
            <p:txBody>
              <a:bodyPr wrap="none" lIns="0" tIns="0" rIns="0" bIns="0" rtlCol="0" anchor="t" anchorCtr="0">
                <a:normAutofit/>
              </a:bodyPr>
              <a:lstStyle/>
              <a:p>
                <a:pPr algn="l"/>
                <a14:m>
                  <m:oMathPara xmlns:m="http://schemas.openxmlformats.org/officeDocument/2006/math">
                    <m:oMathParaPr>
                      <m:jc m:val="centerGroup"/>
                    </m:oMathParaPr>
                    <m:oMath xmlns:m="http://schemas.openxmlformats.org/officeDocument/2006/math">
                      <m:r>
                        <a:rPr lang="en-AU" sz="2800" b="1" i="1" smtClean="0">
                          <a:solidFill>
                            <a:srgbClr val="FF0000"/>
                          </a:solidFill>
                          <a:latin typeface="Cambria Math" panose="02040503050406030204" pitchFamily="18" charset="0"/>
                          <a:cs typeface="Futura Medium" panose="020B0602020204020303" pitchFamily="34" charset="-79"/>
                        </a:rPr>
                        <m:t>𝒗</m:t>
                      </m:r>
                    </m:oMath>
                  </m:oMathPara>
                </a14:m>
                <a:endParaRPr lang="en-AU" sz="2800" b="1" dirty="0">
                  <a:solidFill>
                    <a:srgbClr val="FF0000"/>
                  </a:solidFill>
                  <a:latin typeface="Century Gothic" panose="020B0502020202020204" pitchFamily="34" charset="0"/>
                  <a:cs typeface="Futura Medium" panose="020B0602020204020303" pitchFamily="34" charset="-79"/>
                </a:endParaRPr>
              </a:p>
            </p:txBody>
          </p:sp>
        </mc:Choice>
        <mc:Fallback xmlns="">
          <p:sp>
            <p:nvSpPr>
              <p:cNvPr id="8" name="TextBox 7">
                <a:extLst>
                  <a:ext uri="{FF2B5EF4-FFF2-40B4-BE49-F238E27FC236}">
                    <a16:creationId xmlns:a16="http://schemas.microsoft.com/office/drawing/2014/main" id="{A66241D3-1DDE-4402-A3D9-A39BBEBEE592}"/>
                  </a:ext>
                </a:extLst>
              </p:cNvPr>
              <p:cNvSpPr txBox="1">
                <a:spLocks noRot="1" noChangeAspect="1" noMove="1" noResize="1" noEditPoints="1" noAdjustHandles="1" noChangeArrowheads="1" noChangeShapeType="1" noTextEdit="1"/>
              </p:cNvSpPr>
              <p:nvPr/>
            </p:nvSpPr>
            <p:spPr>
              <a:xfrm>
                <a:off x="6667155" y="1849903"/>
                <a:ext cx="914400" cy="914400"/>
              </a:xfrm>
              <a:prstGeom prst="rect">
                <a:avLst/>
              </a:prstGeom>
              <a:blipFill>
                <a:blip r:embed="rId5"/>
                <a:stretch>
                  <a:fillRect/>
                </a:stretch>
              </a:blipFill>
              <a:ln>
                <a:noFill/>
              </a:ln>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0F77CBAF-CC21-46EB-8F97-F97FAD62DDE5}"/>
                  </a:ext>
                </a:extLst>
              </p:cNvPr>
              <p:cNvSpPr txBox="1"/>
              <p:nvPr/>
            </p:nvSpPr>
            <p:spPr>
              <a:xfrm>
                <a:off x="10069842" y="715270"/>
                <a:ext cx="914400" cy="914400"/>
              </a:xfrm>
              <a:prstGeom prst="rect">
                <a:avLst/>
              </a:prstGeom>
              <a:noFill/>
              <a:ln>
                <a:noFill/>
              </a:ln>
            </p:spPr>
            <p:txBody>
              <a:bodyPr wrap="none" lIns="0" tIns="0" rIns="0" bIns="0" rtlCol="0" anchor="t" anchorCtr="0">
                <a:normAutofit/>
              </a:bodyPr>
              <a:lstStyle/>
              <a:p>
                <a:pPr algn="l"/>
                <a14:m>
                  <m:oMathPara xmlns:m="http://schemas.openxmlformats.org/officeDocument/2006/math">
                    <m:oMathParaPr>
                      <m:jc m:val="centerGroup"/>
                    </m:oMathParaPr>
                    <m:oMath xmlns:m="http://schemas.openxmlformats.org/officeDocument/2006/math">
                      <m:r>
                        <a:rPr lang="en-AU" sz="2800" b="1" i="1" smtClean="0">
                          <a:solidFill>
                            <a:srgbClr val="FF0000"/>
                          </a:solidFill>
                          <a:latin typeface="Cambria Math" panose="02040503050406030204" pitchFamily="18" charset="0"/>
                          <a:cs typeface="Futura Medium" panose="020B0602020204020303" pitchFamily="34" charset="-79"/>
                        </a:rPr>
                        <m:t>𝒗</m:t>
                      </m:r>
                    </m:oMath>
                  </m:oMathPara>
                </a14:m>
                <a:endParaRPr lang="en-AU" sz="2800" b="1" dirty="0">
                  <a:solidFill>
                    <a:srgbClr val="FF0000"/>
                  </a:solidFill>
                  <a:latin typeface="Century Gothic" panose="020B0502020202020204" pitchFamily="34" charset="0"/>
                  <a:cs typeface="Futura Medium" panose="020B0602020204020303" pitchFamily="34" charset="-79"/>
                </a:endParaRPr>
              </a:p>
            </p:txBody>
          </p:sp>
        </mc:Choice>
        <mc:Fallback xmlns="">
          <p:sp>
            <p:nvSpPr>
              <p:cNvPr id="30" name="TextBox 29">
                <a:extLst>
                  <a:ext uri="{FF2B5EF4-FFF2-40B4-BE49-F238E27FC236}">
                    <a16:creationId xmlns:a16="http://schemas.microsoft.com/office/drawing/2014/main" id="{0F77CBAF-CC21-46EB-8F97-F97FAD62DDE5}"/>
                  </a:ext>
                </a:extLst>
              </p:cNvPr>
              <p:cNvSpPr txBox="1">
                <a:spLocks noRot="1" noChangeAspect="1" noMove="1" noResize="1" noEditPoints="1" noAdjustHandles="1" noChangeArrowheads="1" noChangeShapeType="1" noTextEdit="1"/>
              </p:cNvSpPr>
              <p:nvPr/>
            </p:nvSpPr>
            <p:spPr>
              <a:xfrm>
                <a:off x="10069842" y="715270"/>
                <a:ext cx="914400" cy="914400"/>
              </a:xfrm>
              <a:prstGeom prst="rect">
                <a:avLst/>
              </a:prstGeom>
              <a:blipFill>
                <a:blip r:embed="rId6"/>
                <a:stretch>
                  <a:fillRect/>
                </a:stretch>
              </a:blipFill>
              <a:ln>
                <a:noFill/>
              </a:ln>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90F95547-596A-4CF1-9A62-631AF7323945}"/>
                  </a:ext>
                </a:extLst>
              </p:cNvPr>
              <p:cNvSpPr txBox="1"/>
              <p:nvPr/>
            </p:nvSpPr>
            <p:spPr>
              <a:xfrm>
                <a:off x="11256378" y="4062539"/>
                <a:ext cx="914400" cy="914400"/>
              </a:xfrm>
              <a:prstGeom prst="rect">
                <a:avLst/>
              </a:prstGeom>
              <a:noFill/>
              <a:ln>
                <a:noFill/>
              </a:ln>
            </p:spPr>
            <p:txBody>
              <a:bodyPr wrap="none" lIns="0" tIns="0" rIns="0" bIns="0" rtlCol="0" anchor="t" anchorCtr="0">
                <a:normAutofit/>
              </a:bodyPr>
              <a:lstStyle/>
              <a:p>
                <a:pPr algn="l"/>
                <a14:m>
                  <m:oMathPara xmlns:m="http://schemas.openxmlformats.org/officeDocument/2006/math">
                    <m:oMathParaPr>
                      <m:jc m:val="centerGroup"/>
                    </m:oMathParaPr>
                    <m:oMath xmlns:m="http://schemas.openxmlformats.org/officeDocument/2006/math">
                      <m:r>
                        <a:rPr lang="en-AU" sz="2800" b="1" i="1" smtClean="0">
                          <a:solidFill>
                            <a:srgbClr val="FF0000"/>
                          </a:solidFill>
                          <a:latin typeface="Cambria Math" panose="02040503050406030204" pitchFamily="18" charset="0"/>
                          <a:cs typeface="Futura Medium" panose="020B0602020204020303" pitchFamily="34" charset="-79"/>
                        </a:rPr>
                        <m:t>𝒗</m:t>
                      </m:r>
                    </m:oMath>
                  </m:oMathPara>
                </a14:m>
                <a:endParaRPr lang="en-AU" sz="2800" b="1" dirty="0">
                  <a:solidFill>
                    <a:srgbClr val="FF0000"/>
                  </a:solidFill>
                  <a:latin typeface="Century Gothic" panose="020B0502020202020204" pitchFamily="34" charset="0"/>
                  <a:cs typeface="Futura Medium" panose="020B0602020204020303" pitchFamily="34" charset="-79"/>
                </a:endParaRPr>
              </a:p>
            </p:txBody>
          </p:sp>
        </mc:Choice>
        <mc:Fallback xmlns="">
          <p:sp>
            <p:nvSpPr>
              <p:cNvPr id="31" name="TextBox 30">
                <a:extLst>
                  <a:ext uri="{FF2B5EF4-FFF2-40B4-BE49-F238E27FC236}">
                    <a16:creationId xmlns:a16="http://schemas.microsoft.com/office/drawing/2014/main" id="{90F95547-596A-4CF1-9A62-631AF7323945}"/>
                  </a:ext>
                </a:extLst>
              </p:cNvPr>
              <p:cNvSpPr txBox="1">
                <a:spLocks noRot="1" noChangeAspect="1" noMove="1" noResize="1" noEditPoints="1" noAdjustHandles="1" noChangeArrowheads="1" noChangeShapeType="1" noTextEdit="1"/>
              </p:cNvSpPr>
              <p:nvPr/>
            </p:nvSpPr>
            <p:spPr>
              <a:xfrm>
                <a:off x="11256378" y="4062539"/>
                <a:ext cx="914400" cy="914400"/>
              </a:xfrm>
              <a:prstGeom prst="rect">
                <a:avLst/>
              </a:prstGeom>
              <a:blipFill>
                <a:blip r:embed="rId7"/>
                <a:stretch>
                  <a:fillRect/>
                </a:stretch>
              </a:blipFill>
              <a:ln>
                <a:noFill/>
              </a:ln>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CDFB747D-C59A-4BA5-B5FA-C622FE24AA35}"/>
                  </a:ext>
                </a:extLst>
              </p:cNvPr>
              <p:cNvSpPr txBox="1"/>
              <p:nvPr/>
            </p:nvSpPr>
            <p:spPr>
              <a:xfrm>
                <a:off x="7829378" y="5315655"/>
                <a:ext cx="914400" cy="914400"/>
              </a:xfrm>
              <a:prstGeom prst="rect">
                <a:avLst/>
              </a:prstGeom>
              <a:noFill/>
              <a:ln>
                <a:noFill/>
              </a:ln>
            </p:spPr>
            <p:txBody>
              <a:bodyPr wrap="none" lIns="0" tIns="0" rIns="0" bIns="0" rtlCol="0" anchor="t" anchorCtr="0">
                <a:normAutofit/>
              </a:bodyPr>
              <a:lstStyle/>
              <a:p>
                <a:pPr algn="l"/>
                <a14:m>
                  <m:oMathPara xmlns:m="http://schemas.openxmlformats.org/officeDocument/2006/math">
                    <m:oMathParaPr>
                      <m:jc m:val="centerGroup"/>
                    </m:oMathParaPr>
                    <m:oMath xmlns:m="http://schemas.openxmlformats.org/officeDocument/2006/math">
                      <m:r>
                        <a:rPr lang="en-AU" sz="2800" b="1" i="1" smtClean="0">
                          <a:solidFill>
                            <a:srgbClr val="FF0000"/>
                          </a:solidFill>
                          <a:latin typeface="Cambria Math" panose="02040503050406030204" pitchFamily="18" charset="0"/>
                          <a:cs typeface="Futura Medium" panose="020B0602020204020303" pitchFamily="34" charset="-79"/>
                        </a:rPr>
                        <m:t>𝒗</m:t>
                      </m:r>
                    </m:oMath>
                  </m:oMathPara>
                </a14:m>
                <a:endParaRPr lang="en-AU" sz="2800" b="1" dirty="0">
                  <a:solidFill>
                    <a:srgbClr val="FF0000"/>
                  </a:solidFill>
                  <a:latin typeface="Century Gothic" panose="020B0502020202020204" pitchFamily="34" charset="0"/>
                  <a:cs typeface="Futura Medium" panose="020B0602020204020303" pitchFamily="34" charset="-79"/>
                </a:endParaRPr>
              </a:p>
            </p:txBody>
          </p:sp>
        </mc:Choice>
        <mc:Fallback xmlns="">
          <p:sp>
            <p:nvSpPr>
              <p:cNvPr id="32" name="TextBox 31">
                <a:extLst>
                  <a:ext uri="{FF2B5EF4-FFF2-40B4-BE49-F238E27FC236}">
                    <a16:creationId xmlns:a16="http://schemas.microsoft.com/office/drawing/2014/main" id="{CDFB747D-C59A-4BA5-B5FA-C622FE24AA35}"/>
                  </a:ext>
                </a:extLst>
              </p:cNvPr>
              <p:cNvSpPr txBox="1">
                <a:spLocks noRot="1" noChangeAspect="1" noMove="1" noResize="1" noEditPoints="1" noAdjustHandles="1" noChangeArrowheads="1" noChangeShapeType="1" noTextEdit="1"/>
              </p:cNvSpPr>
              <p:nvPr/>
            </p:nvSpPr>
            <p:spPr>
              <a:xfrm>
                <a:off x="7829378" y="5315655"/>
                <a:ext cx="914400" cy="914400"/>
              </a:xfrm>
              <a:prstGeom prst="rect">
                <a:avLst/>
              </a:prstGeom>
              <a:blipFill>
                <a:blip r:embed="rId8"/>
                <a:stretch>
                  <a:fillRect/>
                </a:stretch>
              </a:blipFill>
              <a:ln>
                <a:noFill/>
              </a:ln>
            </p:spPr>
            <p:txBody>
              <a:bodyPr/>
              <a:lstStyle/>
              <a:p>
                <a:r>
                  <a:rPr lang="en-AU">
                    <a:noFill/>
                  </a:rPr>
                  <a:t> </a:t>
                </a:r>
              </a:p>
            </p:txBody>
          </p:sp>
        </mc:Fallback>
      </mc:AlternateContent>
      <p:cxnSp>
        <p:nvCxnSpPr>
          <p:cNvPr id="33" name="Straight Arrow Connector 32">
            <a:extLst>
              <a:ext uri="{FF2B5EF4-FFF2-40B4-BE49-F238E27FC236}">
                <a16:creationId xmlns:a16="http://schemas.microsoft.com/office/drawing/2014/main" id="{8791CD2A-D37D-4976-878C-0724ED669F09}"/>
              </a:ext>
            </a:extLst>
          </p:cNvPr>
          <p:cNvCxnSpPr>
            <a:cxnSpLocks/>
          </p:cNvCxnSpPr>
          <p:nvPr/>
        </p:nvCxnSpPr>
        <p:spPr>
          <a:xfrm rot="10800000" flipH="1">
            <a:off x="9401025" y="3619722"/>
            <a:ext cx="12479" cy="1522667"/>
          </a:xfrm>
          <a:prstGeom prst="straightConnector1">
            <a:avLst/>
          </a:prstGeom>
          <a:ln w="57150">
            <a:solidFill>
              <a:srgbClr val="6E407C"/>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6EA6156D-D046-4DD2-86FA-82D21312278F}"/>
              </a:ext>
            </a:extLst>
          </p:cNvPr>
          <p:cNvCxnSpPr>
            <a:cxnSpLocks/>
          </p:cNvCxnSpPr>
          <p:nvPr/>
        </p:nvCxnSpPr>
        <p:spPr>
          <a:xfrm rot="16200000" flipH="1">
            <a:off x="8202655" y="2571915"/>
            <a:ext cx="12479" cy="1522667"/>
          </a:xfrm>
          <a:prstGeom prst="straightConnector1">
            <a:avLst/>
          </a:prstGeom>
          <a:ln w="57150">
            <a:solidFill>
              <a:srgbClr val="6E407C"/>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95B39E72-8422-4DF0-B7D6-CCD8B15568F1}"/>
              </a:ext>
            </a:extLst>
          </p:cNvPr>
          <p:cNvCxnSpPr>
            <a:cxnSpLocks/>
          </p:cNvCxnSpPr>
          <p:nvPr/>
        </p:nvCxnSpPr>
        <p:spPr>
          <a:xfrm flipH="1">
            <a:off x="9370456" y="1357126"/>
            <a:ext cx="12479" cy="1522667"/>
          </a:xfrm>
          <a:prstGeom prst="straightConnector1">
            <a:avLst/>
          </a:prstGeom>
          <a:ln w="57150">
            <a:solidFill>
              <a:srgbClr val="6E407C"/>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6D91FD36-5D4A-47AE-B379-B486897AFC11}"/>
              </a:ext>
            </a:extLst>
          </p:cNvPr>
          <p:cNvCxnSpPr>
            <a:cxnSpLocks/>
          </p:cNvCxnSpPr>
          <p:nvPr/>
        </p:nvCxnSpPr>
        <p:spPr>
          <a:xfrm rot="5400000" flipH="1">
            <a:off x="10548762" y="2549609"/>
            <a:ext cx="12479" cy="1522667"/>
          </a:xfrm>
          <a:prstGeom prst="straightConnector1">
            <a:avLst/>
          </a:prstGeom>
          <a:ln w="57150">
            <a:solidFill>
              <a:srgbClr val="6E407C"/>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56CE7D9A-6ED7-4369-A15F-080E53B9A7D5}"/>
                  </a:ext>
                </a:extLst>
              </p:cNvPr>
              <p:cNvSpPr txBox="1"/>
              <p:nvPr/>
            </p:nvSpPr>
            <p:spPr>
              <a:xfrm>
                <a:off x="9174575" y="1903359"/>
                <a:ext cx="914400" cy="914400"/>
              </a:xfrm>
              <a:prstGeom prst="rect">
                <a:avLst/>
              </a:prstGeom>
              <a:noFill/>
              <a:ln>
                <a:noFill/>
              </a:ln>
            </p:spPr>
            <p:txBody>
              <a:bodyPr wrap="none" lIns="0" tIns="0" rIns="0" bIns="0" rtlCol="0" anchor="t" anchorCtr="0">
                <a:normAutofit/>
              </a:bodyPr>
              <a:lstStyle/>
              <a:p>
                <a:pPr algn="l"/>
                <a14:m>
                  <m:oMathPara xmlns:m="http://schemas.openxmlformats.org/officeDocument/2006/math">
                    <m:oMathParaPr>
                      <m:jc m:val="centerGroup"/>
                    </m:oMathParaPr>
                    <m:oMath xmlns:m="http://schemas.openxmlformats.org/officeDocument/2006/math">
                      <m:r>
                        <a:rPr lang="en-AU" sz="2800" b="1" i="1" smtClean="0">
                          <a:solidFill>
                            <a:srgbClr val="6E407C"/>
                          </a:solidFill>
                          <a:latin typeface="Cambria Math" panose="02040503050406030204" pitchFamily="18" charset="0"/>
                          <a:cs typeface="Futura Medium" panose="020B0602020204020303" pitchFamily="34" charset="-79"/>
                        </a:rPr>
                        <m:t>𝒂</m:t>
                      </m:r>
                    </m:oMath>
                  </m:oMathPara>
                </a14:m>
                <a:endParaRPr lang="en-AU" sz="2800" b="1" dirty="0">
                  <a:solidFill>
                    <a:srgbClr val="6E407C"/>
                  </a:solidFill>
                  <a:latin typeface="Century Gothic" panose="020B0502020202020204" pitchFamily="34" charset="0"/>
                  <a:cs typeface="Futura Medium" panose="020B0602020204020303" pitchFamily="34" charset="-79"/>
                </a:endParaRPr>
              </a:p>
            </p:txBody>
          </p:sp>
        </mc:Choice>
        <mc:Fallback xmlns="">
          <p:sp>
            <p:nvSpPr>
              <p:cNvPr id="43" name="TextBox 42">
                <a:extLst>
                  <a:ext uri="{FF2B5EF4-FFF2-40B4-BE49-F238E27FC236}">
                    <a16:creationId xmlns:a16="http://schemas.microsoft.com/office/drawing/2014/main" id="{56CE7D9A-6ED7-4369-A15F-080E53B9A7D5}"/>
                  </a:ext>
                </a:extLst>
              </p:cNvPr>
              <p:cNvSpPr txBox="1">
                <a:spLocks noRot="1" noChangeAspect="1" noMove="1" noResize="1" noEditPoints="1" noAdjustHandles="1" noChangeArrowheads="1" noChangeShapeType="1" noTextEdit="1"/>
              </p:cNvSpPr>
              <p:nvPr/>
            </p:nvSpPr>
            <p:spPr>
              <a:xfrm>
                <a:off x="9174575" y="1903359"/>
                <a:ext cx="914400" cy="914400"/>
              </a:xfrm>
              <a:prstGeom prst="rect">
                <a:avLst/>
              </a:prstGeom>
              <a:blipFill>
                <a:blip r:embed="rId9"/>
                <a:stretch>
                  <a:fillRect/>
                </a:stretch>
              </a:blipFill>
              <a:ln>
                <a:noFill/>
              </a:ln>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3CFD7B61-541A-4F22-BC58-8A4BC4C72191}"/>
                  </a:ext>
                </a:extLst>
              </p:cNvPr>
              <p:cNvSpPr txBox="1"/>
              <p:nvPr/>
            </p:nvSpPr>
            <p:spPr>
              <a:xfrm>
                <a:off x="9997935" y="2859982"/>
                <a:ext cx="914400" cy="914400"/>
              </a:xfrm>
              <a:prstGeom prst="rect">
                <a:avLst/>
              </a:prstGeom>
              <a:noFill/>
              <a:ln>
                <a:noFill/>
              </a:ln>
            </p:spPr>
            <p:txBody>
              <a:bodyPr wrap="none" lIns="0" tIns="0" rIns="0" bIns="0" rtlCol="0" anchor="t" anchorCtr="0">
                <a:normAutofit/>
              </a:bodyPr>
              <a:lstStyle/>
              <a:p>
                <a:pPr algn="l"/>
                <a14:m>
                  <m:oMathPara xmlns:m="http://schemas.openxmlformats.org/officeDocument/2006/math">
                    <m:oMathParaPr>
                      <m:jc m:val="centerGroup"/>
                    </m:oMathParaPr>
                    <m:oMath xmlns:m="http://schemas.openxmlformats.org/officeDocument/2006/math">
                      <m:r>
                        <a:rPr lang="en-AU" sz="2800" b="1" i="1" smtClean="0">
                          <a:solidFill>
                            <a:srgbClr val="6E407C"/>
                          </a:solidFill>
                          <a:latin typeface="Cambria Math" panose="02040503050406030204" pitchFamily="18" charset="0"/>
                          <a:cs typeface="Futura Medium" panose="020B0602020204020303" pitchFamily="34" charset="-79"/>
                        </a:rPr>
                        <m:t>𝒂</m:t>
                      </m:r>
                    </m:oMath>
                  </m:oMathPara>
                </a14:m>
                <a:endParaRPr lang="en-AU" sz="2800" b="1" dirty="0">
                  <a:solidFill>
                    <a:srgbClr val="6E407C"/>
                  </a:solidFill>
                  <a:latin typeface="Century Gothic" panose="020B0502020202020204" pitchFamily="34" charset="0"/>
                  <a:cs typeface="Futura Medium" panose="020B0602020204020303" pitchFamily="34" charset="-79"/>
                </a:endParaRPr>
              </a:p>
            </p:txBody>
          </p:sp>
        </mc:Choice>
        <mc:Fallback xmlns="">
          <p:sp>
            <p:nvSpPr>
              <p:cNvPr id="44" name="TextBox 43">
                <a:extLst>
                  <a:ext uri="{FF2B5EF4-FFF2-40B4-BE49-F238E27FC236}">
                    <a16:creationId xmlns:a16="http://schemas.microsoft.com/office/drawing/2014/main" id="{3CFD7B61-541A-4F22-BC58-8A4BC4C72191}"/>
                  </a:ext>
                </a:extLst>
              </p:cNvPr>
              <p:cNvSpPr txBox="1">
                <a:spLocks noRot="1" noChangeAspect="1" noMove="1" noResize="1" noEditPoints="1" noAdjustHandles="1" noChangeArrowheads="1" noChangeShapeType="1" noTextEdit="1"/>
              </p:cNvSpPr>
              <p:nvPr/>
            </p:nvSpPr>
            <p:spPr>
              <a:xfrm>
                <a:off x="9997935" y="2859982"/>
                <a:ext cx="914400" cy="914400"/>
              </a:xfrm>
              <a:prstGeom prst="rect">
                <a:avLst/>
              </a:prstGeom>
              <a:blipFill>
                <a:blip r:embed="rId10"/>
                <a:stretch>
                  <a:fillRect/>
                </a:stretch>
              </a:blipFill>
              <a:ln>
                <a:noFill/>
              </a:ln>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1350E326-6E7E-40B7-A4DD-FB3C727D449B}"/>
                  </a:ext>
                </a:extLst>
              </p:cNvPr>
              <p:cNvSpPr txBox="1"/>
              <p:nvPr/>
            </p:nvSpPr>
            <p:spPr>
              <a:xfrm>
                <a:off x="9190487" y="3959366"/>
                <a:ext cx="914400" cy="914400"/>
              </a:xfrm>
              <a:prstGeom prst="rect">
                <a:avLst/>
              </a:prstGeom>
              <a:noFill/>
              <a:ln>
                <a:noFill/>
              </a:ln>
            </p:spPr>
            <p:txBody>
              <a:bodyPr wrap="none" lIns="0" tIns="0" rIns="0" bIns="0" rtlCol="0" anchor="t" anchorCtr="0">
                <a:normAutofit/>
              </a:bodyPr>
              <a:lstStyle/>
              <a:p>
                <a:pPr algn="l"/>
                <a14:m>
                  <m:oMathPara xmlns:m="http://schemas.openxmlformats.org/officeDocument/2006/math">
                    <m:oMathParaPr>
                      <m:jc m:val="centerGroup"/>
                    </m:oMathParaPr>
                    <m:oMath xmlns:m="http://schemas.openxmlformats.org/officeDocument/2006/math">
                      <m:r>
                        <a:rPr lang="en-AU" sz="2800" b="1" i="1" smtClean="0">
                          <a:solidFill>
                            <a:srgbClr val="6E407C"/>
                          </a:solidFill>
                          <a:latin typeface="Cambria Math" panose="02040503050406030204" pitchFamily="18" charset="0"/>
                          <a:cs typeface="Futura Medium" panose="020B0602020204020303" pitchFamily="34" charset="-79"/>
                        </a:rPr>
                        <m:t>𝒂</m:t>
                      </m:r>
                    </m:oMath>
                  </m:oMathPara>
                </a14:m>
                <a:endParaRPr lang="en-AU" sz="2800" b="1" dirty="0">
                  <a:solidFill>
                    <a:srgbClr val="6E407C"/>
                  </a:solidFill>
                  <a:latin typeface="Century Gothic" panose="020B0502020202020204" pitchFamily="34" charset="0"/>
                  <a:cs typeface="Futura Medium" panose="020B0602020204020303" pitchFamily="34" charset="-79"/>
                </a:endParaRPr>
              </a:p>
            </p:txBody>
          </p:sp>
        </mc:Choice>
        <mc:Fallback xmlns="">
          <p:sp>
            <p:nvSpPr>
              <p:cNvPr id="45" name="TextBox 44">
                <a:extLst>
                  <a:ext uri="{FF2B5EF4-FFF2-40B4-BE49-F238E27FC236}">
                    <a16:creationId xmlns:a16="http://schemas.microsoft.com/office/drawing/2014/main" id="{1350E326-6E7E-40B7-A4DD-FB3C727D449B}"/>
                  </a:ext>
                </a:extLst>
              </p:cNvPr>
              <p:cNvSpPr txBox="1">
                <a:spLocks noRot="1" noChangeAspect="1" noMove="1" noResize="1" noEditPoints="1" noAdjustHandles="1" noChangeArrowheads="1" noChangeShapeType="1" noTextEdit="1"/>
              </p:cNvSpPr>
              <p:nvPr/>
            </p:nvSpPr>
            <p:spPr>
              <a:xfrm>
                <a:off x="9190487" y="3959366"/>
                <a:ext cx="914400" cy="914400"/>
              </a:xfrm>
              <a:prstGeom prst="rect">
                <a:avLst/>
              </a:prstGeom>
              <a:blipFill>
                <a:blip r:embed="rId11"/>
                <a:stretch>
                  <a:fillRect/>
                </a:stretch>
              </a:blipFill>
              <a:ln>
                <a:noFill/>
              </a:ln>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A994FE4B-805F-4FF7-B130-B61B1882C840}"/>
                  </a:ext>
                </a:extLst>
              </p:cNvPr>
              <p:cNvSpPr txBox="1"/>
              <p:nvPr/>
            </p:nvSpPr>
            <p:spPr>
              <a:xfrm>
                <a:off x="7796878" y="2890059"/>
                <a:ext cx="914400" cy="914400"/>
              </a:xfrm>
              <a:prstGeom prst="rect">
                <a:avLst/>
              </a:prstGeom>
              <a:noFill/>
              <a:ln>
                <a:noFill/>
              </a:ln>
            </p:spPr>
            <p:txBody>
              <a:bodyPr wrap="none" lIns="0" tIns="0" rIns="0" bIns="0" rtlCol="0" anchor="t" anchorCtr="0">
                <a:normAutofit/>
              </a:bodyPr>
              <a:lstStyle/>
              <a:p>
                <a:pPr algn="l"/>
                <a14:m>
                  <m:oMathPara xmlns:m="http://schemas.openxmlformats.org/officeDocument/2006/math">
                    <m:oMathParaPr>
                      <m:jc m:val="centerGroup"/>
                    </m:oMathParaPr>
                    <m:oMath xmlns:m="http://schemas.openxmlformats.org/officeDocument/2006/math">
                      <m:r>
                        <a:rPr lang="en-AU" sz="2800" b="1" i="1" smtClean="0">
                          <a:solidFill>
                            <a:srgbClr val="6E407C"/>
                          </a:solidFill>
                          <a:latin typeface="Cambria Math" panose="02040503050406030204" pitchFamily="18" charset="0"/>
                          <a:cs typeface="Futura Medium" panose="020B0602020204020303" pitchFamily="34" charset="-79"/>
                        </a:rPr>
                        <m:t>𝒂</m:t>
                      </m:r>
                    </m:oMath>
                  </m:oMathPara>
                </a14:m>
                <a:endParaRPr lang="en-AU" sz="2800" b="1" dirty="0">
                  <a:solidFill>
                    <a:srgbClr val="6E407C"/>
                  </a:solidFill>
                  <a:latin typeface="Century Gothic" panose="020B0502020202020204" pitchFamily="34" charset="0"/>
                  <a:cs typeface="Futura Medium" panose="020B0602020204020303" pitchFamily="34" charset="-79"/>
                </a:endParaRPr>
              </a:p>
            </p:txBody>
          </p:sp>
        </mc:Choice>
        <mc:Fallback xmlns="">
          <p:sp>
            <p:nvSpPr>
              <p:cNvPr id="46" name="TextBox 45">
                <a:extLst>
                  <a:ext uri="{FF2B5EF4-FFF2-40B4-BE49-F238E27FC236}">
                    <a16:creationId xmlns:a16="http://schemas.microsoft.com/office/drawing/2014/main" id="{A994FE4B-805F-4FF7-B130-B61B1882C840}"/>
                  </a:ext>
                </a:extLst>
              </p:cNvPr>
              <p:cNvSpPr txBox="1">
                <a:spLocks noRot="1" noChangeAspect="1" noMove="1" noResize="1" noEditPoints="1" noAdjustHandles="1" noChangeArrowheads="1" noChangeShapeType="1" noTextEdit="1"/>
              </p:cNvSpPr>
              <p:nvPr/>
            </p:nvSpPr>
            <p:spPr>
              <a:xfrm>
                <a:off x="7796878" y="2890059"/>
                <a:ext cx="914400" cy="914400"/>
              </a:xfrm>
              <a:prstGeom prst="rect">
                <a:avLst/>
              </a:prstGeom>
              <a:blipFill>
                <a:blip r:embed="rId12"/>
                <a:stretch>
                  <a:fillRect/>
                </a:stretch>
              </a:blipFill>
              <a:ln>
                <a:noFill/>
              </a:ln>
            </p:spPr>
            <p:txBody>
              <a:bodyPr/>
              <a:lstStyle/>
              <a:p>
                <a:r>
                  <a:rPr lang="en-AU">
                    <a:noFill/>
                  </a:rPr>
                  <a:t> </a:t>
                </a:r>
              </a:p>
            </p:txBody>
          </p:sp>
        </mc:Fallback>
      </mc:AlternateContent>
    </p:spTree>
    <p:extLst>
      <p:ext uri="{BB962C8B-B14F-4D97-AF65-F5344CB8AC3E}">
        <p14:creationId xmlns:p14="http://schemas.microsoft.com/office/powerpoint/2010/main" val="1429411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circular motion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177129" y="4251804"/>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6" name="Oval 5">
            <a:extLst>
              <a:ext uri="{FF2B5EF4-FFF2-40B4-BE49-F238E27FC236}">
                <a16:creationId xmlns:a16="http://schemas.microsoft.com/office/drawing/2014/main" id="{3D2AD87A-5164-4BED-B510-0C313C5563B5}"/>
              </a:ext>
            </a:extLst>
          </p:cNvPr>
          <p:cNvSpPr/>
          <p:nvPr/>
        </p:nvSpPr>
        <p:spPr>
          <a:xfrm>
            <a:off x="7124356" y="1007686"/>
            <a:ext cx="4553339" cy="4553339"/>
          </a:xfrm>
          <a:prstGeom prst="ellipse">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9" name="Graphic 8" descr="Car with solid fill">
            <a:extLst>
              <a:ext uri="{FF2B5EF4-FFF2-40B4-BE49-F238E27FC236}">
                <a16:creationId xmlns:a16="http://schemas.microsoft.com/office/drawing/2014/main" id="{502907DA-1F27-4F34-B69D-9BCEA65A94A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943825" y="677372"/>
            <a:ext cx="914400" cy="914400"/>
          </a:xfrm>
          <a:prstGeom prst="rect">
            <a:avLst/>
          </a:prstGeom>
        </p:spPr>
      </p:pic>
      <p:pic>
        <p:nvPicPr>
          <p:cNvPr id="24" name="Graphic 23" descr="Car with solid fill">
            <a:extLst>
              <a:ext uri="{FF2B5EF4-FFF2-40B4-BE49-F238E27FC236}">
                <a16:creationId xmlns:a16="http://schemas.microsoft.com/office/drawing/2014/main" id="{FCD375F5-2F39-467C-8633-A46E551DDDD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5400000">
            <a:off x="11020448" y="2700299"/>
            <a:ext cx="914400" cy="914400"/>
          </a:xfrm>
          <a:prstGeom prst="rect">
            <a:avLst/>
          </a:prstGeom>
        </p:spPr>
      </p:pic>
      <p:pic>
        <p:nvPicPr>
          <p:cNvPr id="25" name="Graphic 24" descr="Car with solid fill">
            <a:extLst>
              <a:ext uri="{FF2B5EF4-FFF2-40B4-BE49-F238E27FC236}">
                <a16:creationId xmlns:a16="http://schemas.microsoft.com/office/drawing/2014/main" id="{8AA361D8-8E20-4F53-AE09-CF829C48CE2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8943825" y="4976939"/>
            <a:ext cx="914400" cy="914400"/>
          </a:xfrm>
          <a:prstGeom prst="rect">
            <a:avLst/>
          </a:prstGeom>
        </p:spPr>
      </p:pic>
      <p:pic>
        <p:nvPicPr>
          <p:cNvPr id="26" name="Graphic 25" descr="Car with solid fill">
            <a:extLst>
              <a:ext uri="{FF2B5EF4-FFF2-40B4-BE49-F238E27FC236}">
                <a16:creationId xmlns:a16="http://schemas.microsoft.com/office/drawing/2014/main" id="{2A82C595-0610-4DA2-95B8-F5D3BC49056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6200000">
            <a:off x="6781973" y="2899716"/>
            <a:ext cx="914400" cy="914400"/>
          </a:xfrm>
          <a:prstGeom prst="rect">
            <a:avLst/>
          </a:prstGeom>
        </p:spPr>
      </p:pic>
      <p:sp>
        <p:nvSpPr>
          <p:cNvPr id="27" name="Oval 26">
            <a:extLst>
              <a:ext uri="{FF2B5EF4-FFF2-40B4-BE49-F238E27FC236}">
                <a16:creationId xmlns:a16="http://schemas.microsoft.com/office/drawing/2014/main" id="{5BD3A10A-6921-4803-BC9E-414CE8AAF5A6}"/>
              </a:ext>
            </a:extLst>
          </p:cNvPr>
          <p:cNvSpPr/>
          <p:nvPr/>
        </p:nvSpPr>
        <p:spPr>
          <a:xfrm>
            <a:off x="7732256" y="1615586"/>
            <a:ext cx="3337538" cy="3337538"/>
          </a:xfrm>
          <a:prstGeom prst="ellipse">
            <a:avLst/>
          </a:prstGeom>
          <a:solidFill>
            <a:schemeClr val="accent6">
              <a:lumMod val="40000"/>
              <a:lumOff val="60000"/>
            </a:schemeClr>
          </a:solid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8" name="Text Placeholder 3">
            <a:extLst>
              <a:ext uri="{FF2B5EF4-FFF2-40B4-BE49-F238E27FC236}">
                <a16:creationId xmlns:a16="http://schemas.microsoft.com/office/drawing/2014/main" id="{7E11F69C-68AB-4B11-9E75-0C0F6E869F68}"/>
              </a:ext>
            </a:extLst>
          </p:cNvPr>
          <p:cNvSpPr txBox="1">
            <a:spLocks/>
          </p:cNvSpPr>
          <p:nvPr/>
        </p:nvSpPr>
        <p:spPr>
          <a:xfrm>
            <a:off x="94583" y="904805"/>
            <a:ext cx="6687390"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3200" b="0" dirty="0"/>
              <a:t>What do we know about the forces on the car?</a:t>
            </a:r>
          </a:p>
          <a:p>
            <a:endParaRPr lang="en-AU" sz="3200" b="0" dirty="0"/>
          </a:p>
          <a:p>
            <a:r>
              <a:rPr lang="en-AU" sz="3200" b="0" dirty="0"/>
              <a:t>There is an acceleration towards the centre, therefore there must be a net force towards the centre of the circle.</a:t>
            </a:r>
          </a:p>
          <a:p>
            <a:endParaRPr lang="en-AU" sz="3200" b="0" dirty="0"/>
          </a:p>
          <a:p>
            <a:r>
              <a:rPr lang="en-AU" sz="3200" b="0" dirty="0"/>
              <a:t>This is called the </a:t>
            </a:r>
            <a:r>
              <a:rPr lang="en-AU" sz="3200" dirty="0"/>
              <a:t>centripetal force</a:t>
            </a:r>
            <a:r>
              <a:rPr lang="en-AU" sz="3200" b="0" dirty="0"/>
              <a:t>.</a:t>
            </a:r>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cxnSp>
        <p:nvCxnSpPr>
          <p:cNvPr id="7" name="Straight Arrow Connector 6">
            <a:extLst>
              <a:ext uri="{FF2B5EF4-FFF2-40B4-BE49-F238E27FC236}">
                <a16:creationId xmlns:a16="http://schemas.microsoft.com/office/drawing/2014/main" id="{F2DC7BB0-685C-452B-8AB9-9AF5D694F71E}"/>
              </a:ext>
            </a:extLst>
          </p:cNvPr>
          <p:cNvCxnSpPr>
            <a:cxnSpLocks/>
          </p:cNvCxnSpPr>
          <p:nvPr/>
        </p:nvCxnSpPr>
        <p:spPr>
          <a:xfrm flipH="1">
            <a:off x="11452690" y="3608709"/>
            <a:ext cx="12479" cy="1522667"/>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D46FB727-0502-4A81-A341-44C53C5C0EA7}"/>
              </a:ext>
            </a:extLst>
          </p:cNvPr>
          <p:cNvCxnSpPr>
            <a:cxnSpLocks/>
          </p:cNvCxnSpPr>
          <p:nvPr/>
        </p:nvCxnSpPr>
        <p:spPr>
          <a:xfrm rot="16200000" flipH="1">
            <a:off x="10613319" y="404086"/>
            <a:ext cx="12479" cy="1522667"/>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9799785E-74A7-4849-AE7B-7C2D47CF3288}"/>
              </a:ext>
            </a:extLst>
          </p:cNvPr>
          <p:cNvCxnSpPr>
            <a:cxnSpLocks/>
          </p:cNvCxnSpPr>
          <p:nvPr/>
        </p:nvCxnSpPr>
        <p:spPr>
          <a:xfrm rot="10800000" flipH="1">
            <a:off x="7297985" y="1357126"/>
            <a:ext cx="12479" cy="1522667"/>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40B33396-8945-4F14-BC1B-86B6A79BD1E5}"/>
              </a:ext>
            </a:extLst>
          </p:cNvPr>
          <p:cNvCxnSpPr>
            <a:cxnSpLocks/>
          </p:cNvCxnSpPr>
          <p:nvPr/>
        </p:nvCxnSpPr>
        <p:spPr>
          <a:xfrm rot="5400000" flipH="1">
            <a:off x="8176252" y="4587862"/>
            <a:ext cx="12479" cy="1522667"/>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66241D3-1DDE-4402-A3D9-A39BBEBEE592}"/>
                  </a:ext>
                </a:extLst>
              </p:cNvPr>
              <p:cNvSpPr txBox="1"/>
              <p:nvPr/>
            </p:nvSpPr>
            <p:spPr>
              <a:xfrm>
                <a:off x="6667155" y="1849903"/>
                <a:ext cx="914400" cy="914400"/>
              </a:xfrm>
              <a:prstGeom prst="rect">
                <a:avLst/>
              </a:prstGeom>
              <a:noFill/>
              <a:ln>
                <a:noFill/>
              </a:ln>
            </p:spPr>
            <p:txBody>
              <a:bodyPr wrap="none" lIns="0" tIns="0" rIns="0" bIns="0" rtlCol="0" anchor="t" anchorCtr="0">
                <a:normAutofit/>
              </a:bodyPr>
              <a:lstStyle/>
              <a:p>
                <a:pPr algn="l"/>
                <a14:m>
                  <m:oMathPara xmlns:m="http://schemas.openxmlformats.org/officeDocument/2006/math">
                    <m:oMathParaPr>
                      <m:jc m:val="centerGroup"/>
                    </m:oMathParaPr>
                    <m:oMath xmlns:m="http://schemas.openxmlformats.org/officeDocument/2006/math">
                      <m:r>
                        <a:rPr lang="en-AU" sz="2800" b="1" i="1" smtClean="0">
                          <a:solidFill>
                            <a:srgbClr val="FF0000"/>
                          </a:solidFill>
                          <a:latin typeface="Cambria Math" panose="02040503050406030204" pitchFamily="18" charset="0"/>
                          <a:cs typeface="Futura Medium" panose="020B0602020204020303" pitchFamily="34" charset="-79"/>
                        </a:rPr>
                        <m:t>𝒗</m:t>
                      </m:r>
                    </m:oMath>
                  </m:oMathPara>
                </a14:m>
                <a:endParaRPr lang="en-AU" sz="2800" b="1" dirty="0">
                  <a:solidFill>
                    <a:srgbClr val="FF0000"/>
                  </a:solidFill>
                  <a:latin typeface="Century Gothic" panose="020B0502020202020204" pitchFamily="34" charset="0"/>
                  <a:cs typeface="Futura Medium" panose="020B0602020204020303" pitchFamily="34" charset="-79"/>
                </a:endParaRPr>
              </a:p>
            </p:txBody>
          </p:sp>
        </mc:Choice>
        <mc:Fallback xmlns="">
          <p:sp>
            <p:nvSpPr>
              <p:cNvPr id="8" name="TextBox 7">
                <a:extLst>
                  <a:ext uri="{FF2B5EF4-FFF2-40B4-BE49-F238E27FC236}">
                    <a16:creationId xmlns:a16="http://schemas.microsoft.com/office/drawing/2014/main" id="{A66241D3-1DDE-4402-A3D9-A39BBEBEE592}"/>
                  </a:ext>
                </a:extLst>
              </p:cNvPr>
              <p:cNvSpPr txBox="1">
                <a:spLocks noRot="1" noChangeAspect="1" noMove="1" noResize="1" noEditPoints="1" noAdjustHandles="1" noChangeArrowheads="1" noChangeShapeType="1" noTextEdit="1"/>
              </p:cNvSpPr>
              <p:nvPr/>
            </p:nvSpPr>
            <p:spPr>
              <a:xfrm>
                <a:off x="6667155" y="1849903"/>
                <a:ext cx="914400" cy="914400"/>
              </a:xfrm>
              <a:prstGeom prst="rect">
                <a:avLst/>
              </a:prstGeom>
              <a:blipFill>
                <a:blip r:embed="rId5"/>
                <a:stretch>
                  <a:fillRect/>
                </a:stretch>
              </a:blipFill>
              <a:ln>
                <a:noFill/>
              </a:ln>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0F77CBAF-CC21-46EB-8F97-F97FAD62DDE5}"/>
                  </a:ext>
                </a:extLst>
              </p:cNvPr>
              <p:cNvSpPr txBox="1"/>
              <p:nvPr/>
            </p:nvSpPr>
            <p:spPr>
              <a:xfrm>
                <a:off x="10069842" y="715270"/>
                <a:ext cx="914400" cy="914400"/>
              </a:xfrm>
              <a:prstGeom prst="rect">
                <a:avLst/>
              </a:prstGeom>
              <a:noFill/>
              <a:ln>
                <a:noFill/>
              </a:ln>
            </p:spPr>
            <p:txBody>
              <a:bodyPr wrap="none" lIns="0" tIns="0" rIns="0" bIns="0" rtlCol="0" anchor="t" anchorCtr="0">
                <a:normAutofit/>
              </a:bodyPr>
              <a:lstStyle/>
              <a:p>
                <a:pPr algn="l"/>
                <a14:m>
                  <m:oMathPara xmlns:m="http://schemas.openxmlformats.org/officeDocument/2006/math">
                    <m:oMathParaPr>
                      <m:jc m:val="centerGroup"/>
                    </m:oMathParaPr>
                    <m:oMath xmlns:m="http://schemas.openxmlformats.org/officeDocument/2006/math">
                      <m:r>
                        <a:rPr lang="en-AU" sz="2800" b="1" i="1" smtClean="0">
                          <a:solidFill>
                            <a:srgbClr val="FF0000"/>
                          </a:solidFill>
                          <a:latin typeface="Cambria Math" panose="02040503050406030204" pitchFamily="18" charset="0"/>
                          <a:cs typeface="Futura Medium" panose="020B0602020204020303" pitchFamily="34" charset="-79"/>
                        </a:rPr>
                        <m:t>𝒗</m:t>
                      </m:r>
                    </m:oMath>
                  </m:oMathPara>
                </a14:m>
                <a:endParaRPr lang="en-AU" sz="2800" b="1" dirty="0">
                  <a:solidFill>
                    <a:srgbClr val="FF0000"/>
                  </a:solidFill>
                  <a:latin typeface="Century Gothic" panose="020B0502020202020204" pitchFamily="34" charset="0"/>
                  <a:cs typeface="Futura Medium" panose="020B0602020204020303" pitchFamily="34" charset="-79"/>
                </a:endParaRPr>
              </a:p>
            </p:txBody>
          </p:sp>
        </mc:Choice>
        <mc:Fallback xmlns="">
          <p:sp>
            <p:nvSpPr>
              <p:cNvPr id="30" name="TextBox 29">
                <a:extLst>
                  <a:ext uri="{FF2B5EF4-FFF2-40B4-BE49-F238E27FC236}">
                    <a16:creationId xmlns:a16="http://schemas.microsoft.com/office/drawing/2014/main" id="{0F77CBAF-CC21-46EB-8F97-F97FAD62DDE5}"/>
                  </a:ext>
                </a:extLst>
              </p:cNvPr>
              <p:cNvSpPr txBox="1">
                <a:spLocks noRot="1" noChangeAspect="1" noMove="1" noResize="1" noEditPoints="1" noAdjustHandles="1" noChangeArrowheads="1" noChangeShapeType="1" noTextEdit="1"/>
              </p:cNvSpPr>
              <p:nvPr/>
            </p:nvSpPr>
            <p:spPr>
              <a:xfrm>
                <a:off x="10069842" y="715270"/>
                <a:ext cx="914400" cy="914400"/>
              </a:xfrm>
              <a:prstGeom prst="rect">
                <a:avLst/>
              </a:prstGeom>
              <a:blipFill>
                <a:blip r:embed="rId6"/>
                <a:stretch>
                  <a:fillRect/>
                </a:stretch>
              </a:blipFill>
              <a:ln>
                <a:noFill/>
              </a:ln>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90F95547-596A-4CF1-9A62-631AF7323945}"/>
                  </a:ext>
                </a:extLst>
              </p:cNvPr>
              <p:cNvSpPr txBox="1"/>
              <p:nvPr/>
            </p:nvSpPr>
            <p:spPr>
              <a:xfrm>
                <a:off x="11256378" y="4062539"/>
                <a:ext cx="914400" cy="914400"/>
              </a:xfrm>
              <a:prstGeom prst="rect">
                <a:avLst/>
              </a:prstGeom>
              <a:noFill/>
              <a:ln>
                <a:noFill/>
              </a:ln>
            </p:spPr>
            <p:txBody>
              <a:bodyPr wrap="none" lIns="0" tIns="0" rIns="0" bIns="0" rtlCol="0" anchor="t" anchorCtr="0">
                <a:normAutofit/>
              </a:bodyPr>
              <a:lstStyle/>
              <a:p>
                <a:pPr algn="l"/>
                <a14:m>
                  <m:oMathPara xmlns:m="http://schemas.openxmlformats.org/officeDocument/2006/math">
                    <m:oMathParaPr>
                      <m:jc m:val="centerGroup"/>
                    </m:oMathParaPr>
                    <m:oMath xmlns:m="http://schemas.openxmlformats.org/officeDocument/2006/math">
                      <m:r>
                        <a:rPr lang="en-AU" sz="2800" b="1" i="1" smtClean="0">
                          <a:solidFill>
                            <a:srgbClr val="FF0000"/>
                          </a:solidFill>
                          <a:latin typeface="Cambria Math" panose="02040503050406030204" pitchFamily="18" charset="0"/>
                          <a:cs typeface="Futura Medium" panose="020B0602020204020303" pitchFamily="34" charset="-79"/>
                        </a:rPr>
                        <m:t>𝒗</m:t>
                      </m:r>
                    </m:oMath>
                  </m:oMathPara>
                </a14:m>
                <a:endParaRPr lang="en-AU" sz="2800" b="1" dirty="0">
                  <a:solidFill>
                    <a:srgbClr val="FF0000"/>
                  </a:solidFill>
                  <a:latin typeface="Century Gothic" panose="020B0502020202020204" pitchFamily="34" charset="0"/>
                  <a:cs typeface="Futura Medium" panose="020B0602020204020303" pitchFamily="34" charset="-79"/>
                </a:endParaRPr>
              </a:p>
            </p:txBody>
          </p:sp>
        </mc:Choice>
        <mc:Fallback xmlns="">
          <p:sp>
            <p:nvSpPr>
              <p:cNvPr id="31" name="TextBox 30">
                <a:extLst>
                  <a:ext uri="{FF2B5EF4-FFF2-40B4-BE49-F238E27FC236}">
                    <a16:creationId xmlns:a16="http://schemas.microsoft.com/office/drawing/2014/main" id="{90F95547-596A-4CF1-9A62-631AF7323945}"/>
                  </a:ext>
                </a:extLst>
              </p:cNvPr>
              <p:cNvSpPr txBox="1">
                <a:spLocks noRot="1" noChangeAspect="1" noMove="1" noResize="1" noEditPoints="1" noAdjustHandles="1" noChangeArrowheads="1" noChangeShapeType="1" noTextEdit="1"/>
              </p:cNvSpPr>
              <p:nvPr/>
            </p:nvSpPr>
            <p:spPr>
              <a:xfrm>
                <a:off x="11256378" y="4062539"/>
                <a:ext cx="914400" cy="914400"/>
              </a:xfrm>
              <a:prstGeom prst="rect">
                <a:avLst/>
              </a:prstGeom>
              <a:blipFill>
                <a:blip r:embed="rId7"/>
                <a:stretch>
                  <a:fillRect/>
                </a:stretch>
              </a:blipFill>
              <a:ln>
                <a:noFill/>
              </a:ln>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CDFB747D-C59A-4BA5-B5FA-C622FE24AA35}"/>
                  </a:ext>
                </a:extLst>
              </p:cNvPr>
              <p:cNvSpPr txBox="1"/>
              <p:nvPr/>
            </p:nvSpPr>
            <p:spPr>
              <a:xfrm>
                <a:off x="7829378" y="5315655"/>
                <a:ext cx="914400" cy="914400"/>
              </a:xfrm>
              <a:prstGeom prst="rect">
                <a:avLst/>
              </a:prstGeom>
              <a:noFill/>
              <a:ln>
                <a:noFill/>
              </a:ln>
            </p:spPr>
            <p:txBody>
              <a:bodyPr wrap="none" lIns="0" tIns="0" rIns="0" bIns="0" rtlCol="0" anchor="t" anchorCtr="0">
                <a:normAutofit/>
              </a:bodyPr>
              <a:lstStyle/>
              <a:p>
                <a:pPr algn="l"/>
                <a14:m>
                  <m:oMathPara xmlns:m="http://schemas.openxmlformats.org/officeDocument/2006/math">
                    <m:oMathParaPr>
                      <m:jc m:val="centerGroup"/>
                    </m:oMathParaPr>
                    <m:oMath xmlns:m="http://schemas.openxmlformats.org/officeDocument/2006/math">
                      <m:r>
                        <a:rPr lang="en-AU" sz="2800" b="1" i="1" smtClean="0">
                          <a:solidFill>
                            <a:srgbClr val="FF0000"/>
                          </a:solidFill>
                          <a:latin typeface="Cambria Math" panose="02040503050406030204" pitchFamily="18" charset="0"/>
                          <a:cs typeface="Futura Medium" panose="020B0602020204020303" pitchFamily="34" charset="-79"/>
                        </a:rPr>
                        <m:t>𝒗</m:t>
                      </m:r>
                    </m:oMath>
                  </m:oMathPara>
                </a14:m>
                <a:endParaRPr lang="en-AU" sz="2800" b="1" dirty="0">
                  <a:solidFill>
                    <a:srgbClr val="FF0000"/>
                  </a:solidFill>
                  <a:latin typeface="Century Gothic" panose="020B0502020202020204" pitchFamily="34" charset="0"/>
                  <a:cs typeface="Futura Medium" panose="020B0602020204020303" pitchFamily="34" charset="-79"/>
                </a:endParaRPr>
              </a:p>
            </p:txBody>
          </p:sp>
        </mc:Choice>
        <mc:Fallback xmlns="">
          <p:sp>
            <p:nvSpPr>
              <p:cNvPr id="32" name="TextBox 31">
                <a:extLst>
                  <a:ext uri="{FF2B5EF4-FFF2-40B4-BE49-F238E27FC236}">
                    <a16:creationId xmlns:a16="http://schemas.microsoft.com/office/drawing/2014/main" id="{CDFB747D-C59A-4BA5-B5FA-C622FE24AA35}"/>
                  </a:ext>
                </a:extLst>
              </p:cNvPr>
              <p:cNvSpPr txBox="1">
                <a:spLocks noRot="1" noChangeAspect="1" noMove="1" noResize="1" noEditPoints="1" noAdjustHandles="1" noChangeArrowheads="1" noChangeShapeType="1" noTextEdit="1"/>
              </p:cNvSpPr>
              <p:nvPr/>
            </p:nvSpPr>
            <p:spPr>
              <a:xfrm>
                <a:off x="7829378" y="5315655"/>
                <a:ext cx="914400" cy="914400"/>
              </a:xfrm>
              <a:prstGeom prst="rect">
                <a:avLst/>
              </a:prstGeom>
              <a:blipFill>
                <a:blip r:embed="rId8"/>
                <a:stretch>
                  <a:fillRect/>
                </a:stretch>
              </a:blipFill>
              <a:ln>
                <a:noFill/>
              </a:ln>
            </p:spPr>
            <p:txBody>
              <a:bodyPr/>
              <a:lstStyle/>
              <a:p>
                <a:r>
                  <a:rPr lang="en-AU">
                    <a:noFill/>
                  </a:rPr>
                  <a:t> </a:t>
                </a:r>
              </a:p>
            </p:txBody>
          </p:sp>
        </mc:Fallback>
      </mc:AlternateContent>
      <p:grpSp>
        <p:nvGrpSpPr>
          <p:cNvPr id="3" name="Group 2">
            <a:extLst>
              <a:ext uri="{FF2B5EF4-FFF2-40B4-BE49-F238E27FC236}">
                <a16:creationId xmlns:a16="http://schemas.microsoft.com/office/drawing/2014/main" id="{F3CD4D25-2B9E-4367-A231-7065B4892649}"/>
              </a:ext>
            </a:extLst>
          </p:cNvPr>
          <p:cNvGrpSpPr/>
          <p:nvPr/>
        </p:nvGrpSpPr>
        <p:grpSpPr>
          <a:xfrm>
            <a:off x="7447561" y="1357126"/>
            <a:ext cx="3868774" cy="3785263"/>
            <a:chOff x="7447561" y="1357126"/>
            <a:chExt cx="3868774" cy="3785263"/>
          </a:xfrm>
        </p:grpSpPr>
        <p:cxnSp>
          <p:nvCxnSpPr>
            <p:cNvPr id="33" name="Straight Arrow Connector 32">
              <a:extLst>
                <a:ext uri="{FF2B5EF4-FFF2-40B4-BE49-F238E27FC236}">
                  <a16:creationId xmlns:a16="http://schemas.microsoft.com/office/drawing/2014/main" id="{8791CD2A-D37D-4976-878C-0724ED669F09}"/>
                </a:ext>
              </a:extLst>
            </p:cNvPr>
            <p:cNvCxnSpPr>
              <a:cxnSpLocks/>
            </p:cNvCxnSpPr>
            <p:nvPr/>
          </p:nvCxnSpPr>
          <p:spPr>
            <a:xfrm rot="10800000" flipH="1">
              <a:off x="9401025" y="3619722"/>
              <a:ext cx="12479" cy="1522667"/>
            </a:xfrm>
            <a:prstGeom prst="straightConnector1">
              <a:avLst/>
            </a:prstGeom>
            <a:ln w="5715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6EA6156D-D046-4DD2-86FA-82D21312278F}"/>
                </a:ext>
              </a:extLst>
            </p:cNvPr>
            <p:cNvCxnSpPr>
              <a:cxnSpLocks/>
            </p:cNvCxnSpPr>
            <p:nvPr/>
          </p:nvCxnSpPr>
          <p:spPr>
            <a:xfrm rot="16200000" flipH="1">
              <a:off x="8202655" y="2571915"/>
              <a:ext cx="12479" cy="1522667"/>
            </a:xfrm>
            <a:prstGeom prst="straightConnector1">
              <a:avLst/>
            </a:prstGeom>
            <a:ln w="5715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95B39E72-8422-4DF0-B7D6-CCD8B15568F1}"/>
                </a:ext>
              </a:extLst>
            </p:cNvPr>
            <p:cNvCxnSpPr>
              <a:cxnSpLocks/>
            </p:cNvCxnSpPr>
            <p:nvPr/>
          </p:nvCxnSpPr>
          <p:spPr>
            <a:xfrm flipH="1">
              <a:off x="9370456" y="1357126"/>
              <a:ext cx="12479" cy="1522667"/>
            </a:xfrm>
            <a:prstGeom prst="straightConnector1">
              <a:avLst/>
            </a:prstGeom>
            <a:ln w="5715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6D91FD36-5D4A-47AE-B379-B486897AFC11}"/>
                </a:ext>
              </a:extLst>
            </p:cNvPr>
            <p:cNvCxnSpPr>
              <a:cxnSpLocks/>
            </p:cNvCxnSpPr>
            <p:nvPr/>
          </p:nvCxnSpPr>
          <p:spPr>
            <a:xfrm rot="5400000" flipH="1">
              <a:off x="10548762" y="2549609"/>
              <a:ext cx="12479" cy="1522667"/>
            </a:xfrm>
            <a:prstGeom prst="straightConnector1">
              <a:avLst/>
            </a:prstGeom>
            <a:ln w="5715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56CE7D9A-6ED7-4369-A15F-080E53B9A7D5}"/>
                    </a:ext>
                  </a:extLst>
                </p:cNvPr>
                <p:cNvSpPr txBox="1"/>
                <p:nvPr/>
              </p:nvSpPr>
              <p:spPr>
                <a:xfrm>
                  <a:off x="9174575" y="1903359"/>
                  <a:ext cx="914400" cy="914400"/>
                </a:xfrm>
                <a:prstGeom prst="rect">
                  <a:avLst/>
                </a:prstGeom>
                <a:noFill/>
                <a:ln>
                  <a:noFill/>
                </a:ln>
              </p:spPr>
              <p:txBody>
                <a:bodyPr wrap="none" lIns="0" tIns="0" rIns="0" bIns="0" rtlCol="0" anchor="t" anchorCtr="0">
                  <a:normAutofit/>
                </a:bodyPr>
                <a:lstStyle/>
                <a:p>
                  <a:pPr algn="l"/>
                  <a14:m>
                    <m:oMathPara xmlns:m="http://schemas.openxmlformats.org/officeDocument/2006/math">
                      <m:oMathParaPr>
                        <m:jc m:val="centerGroup"/>
                      </m:oMathParaPr>
                      <m:oMath xmlns:m="http://schemas.openxmlformats.org/officeDocument/2006/math">
                        <m:r>
                          <a:rPr lang="en-AU" sz="2800" b="1" i="1" smtClean="0">
                            <a:solidFill>
                              <a:srgbClr val="C55A11"/>
                            </a:solidFill>
                            <a:latin typeface="Cambria Math" panose="02040503050406030204" pitchFamily="18" charset="0"/>
                            <a:cs typeface="Futura Medium" panose="020B0602020204020303" pitchFamily="34" charset="-79"/>
                          </a:rPr>
                          <m:t>𝑭</m:t>
                        </m:r>
                      </m:oMath>
                    </m:oMathPara>
                  </a14:m>
                  <a:endParaRPr lang="en-AU" sz="2800" b="1" dirty="0">
                    <a:solidFill>
                      <a:srgbClr val="C55A11"/>
                    </a:solidFill>
                    <a:latin typeface="Century Gothic" panose="020B0502020202020204" pitchFamily="34" charset="0"/>
                    <a:cs typeface="Futura Medium" panose="020B0602020204020303" pitchFamily="34" charset="-79"/>
                  </a:endParaRPr>
                </a:p>
              </p:txBody>
            </p:sp>
          </mc:Choice>
          <mc:Fallback xmlns="">
            <p:sp>
              <p:nvSpPr>
                <p:cNvPr id="43" name="TextBox 42">
                  <a:extLst>
                    <a:ext uri="{FF2B5EF4-FFF2-40B4-BE49-F238E27FC236}">
                      <a16:creationId xmlns:a16="http://schemas.microsoft.com/office/drawing/2014/main" id="{56CE7D9A-6ED7-4369-A15F-080E53B9A7D5}"/>
                    </a:ext>
                  </a:extLst>
                </p:cNvPr>
                <p:cNvSpPr txBox="1">
                  <a:spLocks noRot="1" noChangeAspect="1" noMove="1" noResize="1" noEditPoints="1" noAdjustHandles="1" noChangeArrowheads="1" noChangeShapeType="1" noTextEdit="1"/>
                </p:cNvSpPr>
                <p:nvPr/>
              </p:nvSpPr>
              <p:spPr>
                <a:xfrm>
                  <a:off x="9174575" y="1903359"/>
                  <a:ext cx="914400" cy="914400"/>
                </a:xfrm>
                <a:prstGeom prst="rect">
                  <a:avLst/>
                </a:prstGeom>
                <a:blipFill>
                  <a:blip r:embed="rId9"/>
                  <a:stretch>
                    <a:fillRect/>
                  </a:stretch>
                </a:blipFill>
                <a:ln>
                  <a:noFill/>
                </a:ln>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3CFD7B61-541A-4F22-BC58-8A4BC4C72191}"/>
                    </a:ext>
                  </a:extLst>
                </p:cNvPr>
                <p:cNvSpPr txBox="1"/>
                <p:nvPr/>
              </p:nvSpPr>
              <p:spPr>
                <a:xfrm>
                  <a:off x="9997935" y="2859982"/>
                  <a:ext cx="914400" cy="914400"/>
                </a:xfrm>
                <a:prstGeom prst="rect">
                  <a:avLst/>
                </a:prstGeom>
                <a:noFill/>
                <a:ln>
                  <a:noFill/>
                </a:ln>
              </p:spPr>
              <p:txBody>
                <a:bodyPr wrap="none" lIns="0" tIns="0" rIns="0" bIns="0" rtlCol="0" anchor="t" anchorCtr="0">
                  <a:normAutofit/>
                </a:bodyPr>
                <a:lstStyle/>
                <a:p>
                  <a:pPr algn="l"/>
                  <a14:m>
                    <m:oMathPara xmlns:m="http://schemas.openxmlformats.org/officeDocument/2006/math">
                      <m:oMathParaPr>
                        <m:jc m:val="centerGroup"/>
                      </m:oMathParaPr>
                      <m:oMath xmlns:m="http://schemas.openxmlformats.org/officeDocument/2006/math">
                        <m:r>
                          <a:rPr lang="en-AU" sz="2800" b="1" i="1" smtClean="0">
                            <a:solidFill>
                              <a:srgbClr val="C55A11"/>
                            </a:solidFill>
                            <a:latin typeface="Cambria Math" panose="02040503050406030204" pitchFamily="18" charset="0"/>
                            <a:cs typeface="Futura Medium" panose="020B0602020204020303" pitchFamily="34" charset="-79"/>
                          </a:rPr>
                          <m:t>𝑭</m:t>
                        </m:r>
                      </m:oMath>
                    </m:oMathPara>
                  </a14:m>
                  <a:endParaRPr lang="en-AU" sz="2800" b="1" dirty="0">
                    <a:solidFill>
                      <a:srgbClr val="C55A11"/>
                    </a:solidFill>
                    <a:latin typeface="Century Gothic" panose="020B0502020202020204" pitchFamily="34" charset="0"/>
                    <a:cs typeface="Futura Medium" panose="020B0602020204020303" pitchFamily="34" charset="-79"/>
                  </a:endParaRPr>
                </a:p>
              </p:txBody>
            </p:sp>
          </mc:Choice>
          <mc:Fallback xmlns="">
            <p:sp>
              <p:nvSpPr>
                <p:cNvPr id="44" name="TextBox 43">
                  <a:extLst>
                    <a:ext uri="{FF2B5EF4-FFF2-40B4-BE49-F238E27FC236}">
                      <a16:creationId xmlns:a16="http://schemas.microsoft.com/office/drawing/2014/main" id="{3CFD7B61-541A-4F22-BC58-8A4BC4C72191}"/>
                    </a:ext>
                  </a:extLst>
                </p:cNvPr>
                <p:cNvSpPr txBox="1">
                  <a:spLocks noRot="1" noChangeAspect="1" noMove="1" noResize="1" noEditPoints="1" noAdjustHandles="1" noChangeArrowheads="1" noChangeShapeType="1" noTextEdit="1"/>
                </p:cNvSpPr>
                <p:nvPr/>
              </p:nvSpPr>
              <p:spPr>
                <a:xfrm>
                  <a:off x="9997935" y="2859982"/>
                  <a:ext cx="914400" cy="914400"/>
                </a:xfrm>
                <a:prstGeom prst="rect">
                  <a:avLst/>
                </a:prstGeom>
                <a:blipFill>
                  <a:blip r:embed="rId10"/>
                  <a:stretch>
                    <a:fillRect/>
                  </a:stretch>
                </a:blipFill>
                <a:ln>
                  <a:noFill/>
                </a:ln>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1350E326-6E7E-40B7-A4DD-FB3C727D449B}"/>
                    </a:ext>
                  </a:extLst>
                </p:cNvPr>
                <p:cNvSpPr txBox="1"/>
                <p:nvPr/>
              </p:nvSpPr>
              <p:spPr>
                <a:xfrm>
                  <a:off x="9190487" y="3959366"/>
                  <a:ext cx="914400" cy="914400"/>
                </a:xfrm>
                <a:prstGeom prst="rect">
                  <a:avLst/>
                </a:prstGeom>
                <a:noFill/>
                <a:ln>
                  <a:noFill/>
                </a:ln>
              </p:spPr>
              <p:txBody>
                <a:bodyPr wrap="none" lIns="0" tIns="0" rIns="0" bIns="0" rtlCol="0" anchor="t" anchorCtr="0">
                  <a:normAutofit/>
                </a:bodyPr>
                <a:lstStyle/>
                <a:p>
                  <a:pPr algn="l"/>
                  <a14:m>
                    <m:oMathPara xmlns:m="http://schemas.openxmlformats.org/officeDocument/2006/math">
                      <m:oMathParaPr>
                        <m:jc m:val="centerGroup"/>
                      </m:oMathParaPr>
                      <m:oMath xmlns:m="http://schemas.openxmlformats.org/officeDocument/2006/math">
                        <m:r>
                          <a:rPr lang="en-AU" sz="2800" b="1" i="1" smtClean="0">
                            <a:solidFill>
                              <a:srgbClr val="C55A11"/>
                            </a:solidFill>
                            <a:latin typeface="Cambria Math" panose="02040503050406030204" pitchFamily="18" charset="0"/>
                            <a:cs typeface="Futura Medium" panose="020B0602020204020303" pitchFamily="34" charset="-79"/>
                          </a:rPr>
                          <m:t>𝑭</m:t>
                        </m:r>
                      </m:oMath>
                    </m:oMathPara>
                  </a14:m>
                  <a:endParaRPr lang="en-AU" sz="2800" b="1" dirty="0">
                    <a:solidFill>
                      <a:srgbClr val="C55A11"/>
                    </a:solidFill>
                    <a:latin typeface="Century Gothic" panose="020B0502020202020204" pitchFamily="34" charset="0"/>
                    <a:cs typeface="Futura Medium" panose="020B0602020204020303" pitchFamily="34" charset="-79"/>
                  </a:endParaRPr>
                </a:p>
              </p:txBody>
            </p:sp>
          </mc:Choice>
          <mc:Fallback xmlns="">
            <p:sp>
              <p:nvSpPr>
                <p:cNvPr id="45" name="TextBox 44">
                  <a:extLst>
                    <a:ext uri="{FF2B5EF4-FFF2-40B4-BE49-F238E27FC236}">
                      <a16:creationId xmlns:a16="http://schemas.microsoft.com/office/drawing/2014/main" id="{1350E326-6E7E-40B7-A4DD-FB3C727D449B}"/>
                    </a:ext>
                  </a:extLst>
                </p:cNvPr>
                <p:cNvSpPr txBox="1">
                  <a:spLocks noRot="1" noChangeAspect="1" noMove="1" noResize="1" noEditPoints="1" noAdjustHandles="1" noChangeArrowheads="1" noChangeShapeType="1" noTextEdit="1"/>
                </p:cNvSpPr>
                <p:nvPr/>
              </p:nvSpPr>
              <p:spPr>
                <a:xfrm>
                  <a:off x="9190487" y="3959366"/>
                  <a:ext cx="914400" cy="914400"/>
                </a:xfrm>
                <a:prstGeom prst="rect">
                  <a:avLst/>
                </a:prstGeom>
                <a:blipFill>
                  <a:blip r:embed="rId11"/>
                  <a:stretch>
                    <a:fillRect/>
                  </a:stretch>
                </a:blipFill>
                <a:ln>
                  <a:noFill/>
                </a:ln>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A994FE4B-805F-4FF7-B130-B61B1882C840}"/>
                    </a:ext>
                  </a:extLst>
                </p:cNvPr>
                <p:cNvSpPr txBox="1"/>
                <p:nvPr/>
              </p:nvSpPr>
              <p:spPr>
                <a:xfrm>
                  <a:off x="7796878" y="2890059"/>
                  <a:ext cx="914400" cy="914400"/>
                </a:xfrm>
                <a:prstGeom prst="rect">
                  <a:avLst/>
                </a:prstGeom>
                <a:noFill/>
                <a:ln>
                  <a:noFill/>
                </a:ln>
              </p:spPr>
              <p:txBody>
                <a:bodyPr wrap="none" lIns="0" tIns="0" rIns="0" bIns="0" rtlCol="0" anchor="t" anchorCtr="0">
                  <a:normAutofit/>
                </a:bodyPr>
                <a:lstStyle/>
                <a:p>
                  <a:pPr algn="l"/>
                  <a14:m>
                    <m:oMathPara xmlns:m="http://schemas.openxmlformats.org/officeDocument/2006/math">
                      <m:oMathParaPr>
                        <m:jc m:val="centerGroup"/>
                      </m:oMathParaPr>
                      <m:oMath xmlns:m="http://schemas.openxmlformats.org/officeDocument/2006/math">
                        <m:r>
                          <a:rPr lang="en-AU" sz="2800" b="1" i="1" smtClean="0">
                            <a:solidFill>
                              <a:srgbClr val="C55A11"/>
                            </a:solidFill>
                            <a:latin typeface="Cambria Math" panose="02040503050406030204" pitchFamily="18" charset="0"/>
                            <a:cs typeface="Futura Medium" panose="020B0602020204020303" pitchFamily="34" charset="-79"/>
                          </a:rPr>
                          <m:t>𝑭</m:t>
                        </m:r>
                      </m:oMath>
                    </m:oMathPara>
                  </a14:m>
                  <a:endParaRPr lang="en-AU" sz="2800" b="1" dirty="0">
                    <a:solidFill>
                      <a:srgbClr val="C55A11"/>
                    </a:solidFill>
                    <a:latin typeface="Century Gothic" panose="020B0502020202020204" pitchFamily="34" charset="0"/>
                    <a:cs typeface="Futura Medium" panose="020B0602020204020303" pitchFamily="34" charset="-79"/>
                  </a:endParaRPr>
                </a:p>
              </p:txBody>
            </p:sp>
          </mc:Choice>
          <mc:Fallback xmlns="">
            <p:sp>
              <p:nvSpPr>
                <p:cNvPr id="46" name="TextBox 45">
                  <a:extLst>
                    <a:ext uri="{FF2B5EF4-FFF2-40B4-BE49-F238E27FC236}">
                      <a16:creationId xmlns:a16="http://schemas.microsoft.com/office/drawing/2014/main" id="{A994FE4B-805F-4FF7-B130-B61B1882C840}"/>
                    </a:ext>
                  </a:extLst>
                </p:cNvPr>
                <p:cNvSpPr txBox="1">
                  <a:spLocks noRot="1" noChangeAspect="1" noMove="1" noResize="1" noEditPoints="1" noAdjustHandles="1" noChangeArrowheads="1" noChangeShapeType="1" noTextEdit="1"/>
                </p:cNvSpPr>
                <p:nvPr/>
              </p:nvSpPr>
              <p:spPr>
                <a:xfrm>
                  <a:off x="7796878" y="2890059"/>
                  <a:ext cx="914400" cy="914400"/>
                </a:xfrm>
                <a:prstGeom prst="rect">
                  <a:avLst/>
                </a:prstGeom>
                <a:blipFill>
                  <a:blip r:embed="rId12"/>
                  <a:stretch>
                    <a:fillRect/>
                  </a:stretch>
                </a:blipFill>
                <a:ln>
                  <a:noFill/>
                </a:ln>
              </p:spPr>
              <p:txBody>
                <a:bodyPr/>
                <a:lstStyle/>
                <a:p>
                  <a:r>
                    <a:rPr lang="en-AU">
                      <a:noFill/>
                    </a:rPr>
                    <a:t> </a:t>
                  </a:r>
                </a:p>
              </p:txBody>
            </p:sp>
          </mc:Fallback>
        </mc:AlternateContent>
      </p:grpSp>
    </p:spTree>
    <p:extLst>
      <p:ext uri="{BB962C8B-B14F-4D97-AF65-F5344CB8AC3E}">
        <p14:creationId xmlns:p14="http://schemas.microsoft.com/office/powerpoint/2010/main" val="1999388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circular motion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177129" y="4251804"/>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mc:AlternateContent xmlns:mc="http://schemas.openxmlformats.org/markup-compatibility/2006" xmlns:a14="http://schemas.microsoft.com/office/drawing/2010/main">
        <mc:Choice Requires="a14">
          <p:sp>
            <p:nvSpPr>
              <p:cNvPr id="28" name="Text Placeholder 3">
                <a:extLst>
                  <a:ext uri="{FF2B5EF4-FFF2-40B4-BE49-F238E27FC236}">
                    <a16:creationId xmlns:a16="http://schemas.microsoft.com/office/drawing/2014/main" id="{7E11F69C-68AB-4B11-9E75-0C0F6E869F68}"/>
                  </a:ext>
                </a:extLst>
              </p:cNvPr>
              <p:cNvSpPr txBox="1">
                <a:spLocks/>
              </p:cNvSpPr>
              <p:nvPr/>
            </p:nvSpPr>
            <p:spPr>
              <a:xfrm>
                <a:off x="94583" y="904805"/>
                <a:ext cx="6687390"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3200" b="0" dirty="0"/>
                  <a:t>a = </a:t>
                </a:r>
                <a14:m>
                  <m:oMath xmlns:m="http://schemas.openxmlformats.org/officeDocument/2006/math">
                    <m:f>
                      <m:fPr>
                        <m:ctrlPr>
                          <a:rPr lang="en-AU" sz="3200" b="0" i="1" dirty="0">
                            <a:latin typeface="Cambria Math" panose="02040503050406030204" pitchFamily="18" charset="0"/>
                          </a:rPr>
                        </m:ctrlPr>
                      </m:fPr>
                      <m:num>
                        <m:sSup>
                          <m:sSupPr>
                            <m:ctrlPr>
                              <a:rPr lang="en-AU" sz="3200" b="0" i="1" dirty="0">
                                <a:latin typeface="Cambria Math" panose="02040503050406030204" pitchFamily="18" charset="0"/>
                              </a:rPr>
                            </m:ctrlPr>
                          </m:sSupPr>
                          <m:e>
                            <m:r>
                              <a:rPr lang="en-AU" sz="3200" b="0" i="1" dirty="0">
                                <a:latin typeface="Cambria Math" panose="02040503050406030204" pitchFamily="18" charset="0"/>
                              </a:rPr>
                              <m:t>𝑣</m:t>
                            </m:r>
                          </m:e>
                          <m:sup>
                            <m:r>
                              <a:rPr lang="en-AU" sz="3200" b="0" i="1" dirty="0">
                                <a:latin typeface="Cambria Math" panose="02040503050406030204" pitchFamily="18" charset="0"/>
                              </a:rPr>
                              <m:t>2</m:t>
                            </m:r>
                          </m:sup>
                        </m:sSup>
                      </m:num>
                      <m:den>
                        <m:r>
                          <a:rPr lang="en-AU" sz="3200" b="0" i="1" dirty="0">
                            <a:latin typeface="Cambria Math" panose="02040503050406030204" pitchFamily="18" charset="0"/>
                          </a:rPr>
                          <m:t>𝑟</m:t>
                        </m:r>
                      </m:den>
                    </m:f>
                    <m:r>
                      <a:rPr lang="en-AU" sz="3200" b="0" dirty="0">
                        <a:latin typeface="Cambria Math" panose="02040503050406030204" pitchFamily="18" charset="0"/>
                      </a:rPr>
                      <m:t>= </m:t>
                    </m:r>
                    <m:f>
                      <m:fPr>
                        <m:ctrlPr>
                          <a:rPr lang="en-AU" sz="3200" b="0" i="1" dirty="0">
                            <a:latin typeface="Cambria Math" panose="02040503050406030204" pitchFamily="18" charset="0"/>
                          </a:rPr>
                        </m:ctrlPr>
                      </m:fPr>
                      <m:num>
                        <m:r>
                          <a:rPr lang="en-AU" sz="3200" b="0" i="1" dirty="0">
                            <a:latin typeface="Cambria Math" panose="02040503050406030204" pitchFamily="18" charset="0"/>
                          </a:rPr>
                          <m:t>4</m:t>
                        </m:r>
                        <m:sSup>
                          <m:sSupPr>
                            <m:ctrlPr>
                              <a:rPr lang="el-GR" sz="3200" b="0" i="1" dirty="0">
                                <a:latin typeface="Cambria Math" panose="02040503050406030204" pitchFamily="18" charset="0"/>
                              </a:rPr>
                            </m:ctrlPr>
                          </m:sSupPr>
                          <m:e>
                            <m:r>
                              <m:rPr>
                                <m:sty m:val="p"/>
                              </m:rPr>
                              <a:rPr lang="el-GR" sz="3200" b="0" i="1" dirty="0">
                                <a:latin typeface="Cambria Math" panose="02040503050406030204" pitchFamily="18" charset="0"/>
                              </a:rPr>
                              <m:t>π</m:t>
                            </m:r>
                          </m:e>
                          <m:sup>
                            <m:r>
                              <a:rPr lang="en-AU" sz="3200" b="0" i="1" dirty="0">
                                <a:latin typeface="Cambria Math" panose="02040503050406030204" pitchFamily="18" charset="0"/>
                              </a:rPr>
                              <m:t>2</m:t>
                            </m:r>
                          </m:sup>
                        </m:sSup>
                        <m:r>
                          <a:rPr lang="en-AU" sz="3200" b="0" i="1" dirty="0">
                            <a:latin typeface="Cambria Math" panose="02040503050406030204" pitchFamily="18" charset="0"/>
                          </a:rPr>
                          <m:t>𝑟</m:t>
                        </m:r>
                      </m:num>
                      <m:den>
                        <m:sSup>
                          <m:sSupPr>
                            <m:ctrlPr>
                              <a:rPr lang="en-AU" sz="3200" b="0" i="1" dirty="0">
                                <a:latin typeface="Cambria Math" panose="02040503050406030204" pitchFamily="18" charset="0"/>
                              </a:rPr>
                            </m:ctrlPr>
                          </m:sSupPr>
                          <m:e>
                            <m:r>
                              <a:rPr lang="en-AU" sz="3200" b="0" i="1" dirty="0">
                                <a:latin typeface="Cambria Math" panose="02040503050406030204" pitchFamily="18" charset="0"/>
                              </a:rPr>
                              <m:t>𝑇</m:t>
                            </m:r>
                          </m:e>
                          <m:sup>
                            <m:r>
                              <a:rPr lang="en-AU" sz="3200" b="0" i="1" dirty="0">
                                <a:latin typeface="Cambria Math" panose="02040503050406030204" pitchFamily="18" charset="0"/>
                              </a:rPr>
                              <m:t>2</m:t>
                            </m:r>
                          </m:sup>
                        </m:sSup>
                      </m:den>
                    </m:f>
                  </m:oMath>
                </a14:m>
                <a:r>
                  <a:rPr lang="en-AU" sz="3200" b="0" dirty="0"/>
                  <a:t> 			F = ma</a:t>
                </a:r>
              </a:p>
              <a:p>
                <a:endParaRPr lang="en-AU" sz="3200" b="0" dirty="0"/>
              </a:p>
              <a:p>
                <a:r>
                  <a:rPr lang="en-AU" sz="3200" b="0" dirty="0"/>
                  <a:t>F = </a:t>
                </a:r>
                <a14:m>
                  <m:oMath xmlns:m="http://schemas.openxmlformats.org/officeDocument/2006/math">
                    <m:f>
                      <m:fPr>
                        <m:ctrlPr>
                          <a:rPr lang="en-AU" sz="3200" b="0" i="1" dirty="0">
                            <a:latin typeface="Cambria Math" panose="02040503050406030204" pitchFamily="18" charset="0"/>
                          </a:rPr>
                        </m:ctrlPr>
                      </m:fPr>
                      <m:num>
                        <m:r>
                          <a:rPr lang="en-AU" sz="3200" b="0" i="1" dirty="0" smtClean="0">
                            <a:latin typeface="Cambria Math" panose="02040503050406030204" pitchFamily="18" charset="0"/>
                          </a:rPr>
                          <m:t>𝑚</m:t>
                        </m:r>
                        <m:sSup>
                          <m:sSupPr>
                            <m:ctrlPr>
                              <a:rPr lang="en-AU" sz="3200" b="0" i="1" dirty="0">
                                <a:latin typeface="Cambria Math" panose="02040503050406030204" pitchFamily="18" charset="0"/>
                              </a:rPr>
                            </m:ctrlPr>
                          </m:sSupPr>
                          <m:e>
                            <m:r>
                              <a:rPr lang="en-AU" sz="3200" b="0" i="1" dirty="0">
                                <a:latin typeface="Cambria Math" panose="02040503050406030204" pitchFamily="18" charset="0"/>
                              </a:rPr>
                              <m:t>𝑣</m:t>
                            </m:r>
                          </m:e>
                          <m:sup>
                            <m:r>
                              <a:rPr lang="en-AU" sz="3200" b="0" i="1" dirty="0">
                                <a:latin typeface="Cambria Math" panose="02040503050406030204" pitchFamily="18" charset="0"/>
                              </a:rPr>
                              <m:t>2</m:t>
                            </m:r>
                          </m:sup>
                        </m:sSup>
                      </m:num>
                      <m:den>
                        <m:r>
                          <a:rPr lang="en-AU" sz="3200" b="0" i="1" dirty="0">
                            <a:latin typeface="Cambria Math" panose="02040503050406030204" pitchFamily="18" charset="0"/>
                          </a:rPr>
                          <m:t>𝑟</m:t>
                        </m:r>
                      </m:den>
                    </m:f>
                    <m:r>
                      <a:rPr lang="en-AU" sz="3200" b="0" dirty="0">
                        <a:latin typeface="Cambria Math" panose="02040503050406030204" pitchFamily="18" charset="0"/>
                      </a:rPr>
                      <m:t>= </m:t>
                    </m:r>
                    <m:f>
                      <m:fPr>
                        <m:ctrlPr>
                          <a:rPr lang="en-AU" sz="3200" b="0" i="1" dirty="0">
                            <a:latin typeface="Cambria Math" panose="02040503050406030204" pitchFamily="18" charset="0"/>
                          </a:rPr>
                        </m:ctrlPr>
                      </m:fPr>
                      <m:num>
                        <m:r>
                          <a:rPr lang="en-AU" sz="3200" b="0" i="1" dirty="0">
                            <a:latin typeface="Cambria Math" panose="02040503050406030204" pitchFamily="18" charset="0"/>
                          </a:rPr>
                          <m:t>4</m:t>
                        </m:r>
                        <m:sSup>
                          <m:sSupPr>
                            <m:ctrlPr>
                              <a:rPr lang="el-GR" sz="3200" b="0" i="1" dirty="0">
                                <a:latin typeface="Cambria Math" panose="02040503050406030204" pitchFamily="18" charset="0"/>
                              </a:rPr>
                            </m:ctrlPr>
                          </m:sSupPr>
                          <m:e>
                            <m:r>
                              <m:rPr>
                                <m:sty m:val="p"/>
                              </m:rPr>
                              <a:rPr lang="el-GR" sz="3200" b="0" i="1" dirty="0">
                                <a:latin typeface="Cambria Math" panose="02040503050406030204" pitchFamily="18" charset="0"/>
                              </a:rPr>
                              <m:t>π</m:t>
                            </m:r>
                          </m:e>
                          <m:sup>
                            <m:r>
                              <a:rPr lang="en-AU" sz="3200" b="0" i="1" dirty="0">
                                <a:latin typeface="Cambria Math" panose="02040503050406030204" pitchFamily="18" charset="0"/>
                              </a:rPr>
                              <m:t>2</m:t>
                            </m:r>
                          </m:sup>
                        </m:sSup>
                        <m:r>
                          <a:rPr lang="en-AU" sz="3200" b="0" i="1" dirty="0">
                            <a:latin typeface="Cambria Math" panose="02040503050406030204" pitchFamily="18" charset="0"/>
                          </a:rPr>
                          <m:t>𝑟</m:t>
                        </m:r>
                        <m:r>
                          <a:rPr lang="en-AU" sz="3200" b="0" i="1" dirty="0" smtClean="0">
                            <a:latin typeface="Cambria Math" panose="02040503050406030204" pitchFamily="18" charset="0"/>
                          </a:rPr>
                          <m:t>𝑚</m:t>
                        </m:r>
                      </m:num>
                      <m:den>
                        <m:sSup>
                          <m:sSupPr>
                            <m:ctrlPr>
                              <a:rPr lang="en-AU" sz="3200" b="0" i="1" dirty="0">
                                <a:latin typeface="Cambria Math" panose="02040503050406030204" pitchFamily="18" charset="0"/>
                              </a:rPr>
                            </m:ctrlPr>
                          </m:sSupPr>
                          <m:e>
                            <m:r>
                              <a:rPr lang="en-AU" sz="3200" b="0" i="1" dirty="0">
                                <a:latin typeface="Cambria Math" panose="02040503050406030204" pitchFamily="18" charset="0"/>
                              </a:rPr>
                              <m:t>𝑇</m:t>
                            </m:r>
                          </m:e>
                          <m:sup>
                            <m:r>
                              <a:rPr lang="en-AU" sz="3200" b="0" i="1" dirty="0">
                                <a:latin typeface="Cambria Math" panose="02040503050406030204" pitchFamily="18" charset="0"/>
                              </a:rPr>
                              <m:t>2</m:t>
                            </m:r>
                          </m:sup>
                        </m:sSup>
                      </m:den>
                    </m:f>
                  </m:oMath>
                </a14:m>
                <a:r>
                  <a:rPr lang="en-AU" sz="3200" b="0" dirty="0"/>
                  <a:t> </a:t>
                </a:r>
              </a:p>
              <a:p>
                <a:endParaRPr lang="en-AU" sz="3200" b="0" dirty="0"/>
              </a:p>
              <a:p>
                <a:pPr algn="ctr"/>
                <a:r>
                  <a:rPr lang="en-AU" sz="2400" b="0" dirty="0"/>
                  <a:t>Note: the centripetal force </a:t>
                </a:r>
                <a:r>
                  <a:rPr lang="en-AU" sz="2400" dirty="0"/>
                  <a:t>must be supplied</a:t>
                </a:r>
                <a:r>
                  <a:rPr lang="en-AU" sz="2400" b="0" dirty="0"/>
                  <a:t> using physical forces (tensions, friction, gravity, etc.).</a:t>
                </a:r>
              </a:p>
              <a:p>
                <a:pPr algn="ctr"/>
                <a:endParaRPr lang="en-AU" sz="2400" b="0" dirty="0"/>
              </a:p>
              <a:p>
                <a:pPr algn="ctr"/>
                <a:r>
                  <a:rPr lang="en-AU" sz="2400" b="0" dirty="0"/>
                  <a:t>If physical forces cannot supply the calculated force then circular motion is not possible.</a:t>
                </a:r>
              </a:p>
            </p:txBody>
          </p:sp>
        </mc:Choice>
        <mc:Fallback xmlns="">
          <p:sp>
            <p:nvSpPr>
              <p:cNvPr id="28" name="Text Placeholder 3">
                <a:extLst>
                  <a:ext uri="{FF2B5EF4-FFF2-40B4-BE49-F238E27FC236}">
                    <a16:creationId xmlns:a16="http://schemas.microsoft.com/office/drawing/2014/main" id="{7E11F69C-68AB-4B11-9E75-0C0F6E869F68}"/>
                  </a:ext>
                </a:extLst>
              </p:cNvPr>
              <p:cNvSpPr txBox="1">
                <a:spLocks noRot="1" noChangeAspect="1" noMove="1" noResize="1" noEditPoints="1" noAdjustHandles="1" noChangeArrowheads="1" noChangeShapeType="1" noTextEdit="1"/>
              </p:cNvSpPr>
              <p:nvPr/>
            </p:nvSpPr>
            <p:spPr>
              <a:xfrm>
                <a:off x="94583" y="904805"/>
                <a:ext cx="6687390" cy="885562"/>
              </a:xfrm>
              <a:prstGeom prst="rect">
                <a:avLst/>
              </a:prstGeom>
              <a:blipFill>
                <a:blip r:embed="rId3"/>
                <a:stretch>
                  <a:fillRect l="-2370" r="-1641" b="-522603"/>
                </a:stretch>
              </a:blipFill>
            </p:spPr>
            <p:txBody>
              <a:bodyPr/>
              <a:lstStyle/>
              <a:p>
                <a:r>
                  <a:rPr lang="en-AU">
                    <a:noFill/>
                  </a:rPr>
                  <a:t> </a:t>
                </a:r>
              </a:p>
            </p:txBody>
          </p:sp>
        </mc:Fallback>
      </mc:AlternateContent>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pic>
        <p:nvPicPr>
          <p:cNvPr id="11" name="Picture 10">
            <a:extLst>
              <a:ext uri="{FF2B5EF4-FFF2-40B4-BE49-F238E27FC236}">
                <a16:creationId xmlns:a16="http://schemas.microsoft.com/office/drawing/2014/main" id="{79D15800-94BE-4ED7-8B0E-684F7CEFA297}"/>
              </a:ext>
            </a:extLst>
          </p:cNvPr>
          <p:cNvPicPr>
            <a:picLocks noChangeAspect="1"/>
          </p:cNvPicPr>
          <p:nvPr/>
        </p:nvPicPr>
        <p:blipFill>
          <a:blip r:embed="rId4"/>
          <a:stretch>
            <a:fillRect/>
          </a:stretch>
        </p:blipFill>
        <p:spPr>
          <a:xfrm>
            <a:off x="7443653" y="819974"/>
            <a:ext cx="3201801" cy="2409047"/>
          </a:xfrm>
          <a:prstGeom prst="rect">
            <a:avLst/>
          </a:prstGeom>
        </p:spPr>
      </p:pic>
      <p:pic>
        <p:nvPicPr>
          <p:cNvPr id="15" name="Picture 14">
            <a:extLst>
              <a:ext uri="{FF2B5EF4-FFF2-40B4-BE49-F238E27FC236}">
                <a16:creationId xmlns:a16="http://schemas.microsoft.com/office/drawing/2014/main" id="{5018E901-BD95-4AF6-891B-68A56D844678}"/>
              </a:ext>
            </a:extLst>
          </p:cNvPr>
          <p:cNvPicPr>
            <a:picLocks noChangeAspect="1"/>
          </p:cNvPicPr>
          <p:nvPr/>
        </p:nvPicPr>
        <p:blipFill>
          <a:blip r:embed="rId5"/>
          <a:stretch>
            <a:fillRect/>
          </a:stretch>
        </p:blipFill>
        <p:spPr>
          <a:xfrm>
            <a:off x="7339963" y="3429000"/>
            <a:ext cx="2288885" cy="2832579"/>
          </a:xfrm>
          <a:prstGeom prst="rect">
            <a:avLst/>
          </a:prstGeom>
        </p:spPr>
      </p:pic>
      <p:sp>
        <p:nvSpPr>
          <p:cNvPr id="16" name="Cross 15">
            <a:extLst>
              <a:ext uri="{FF2B5EF4-FFF2-40B4-BE49-F238E27FC236}">
                <a16:creationId xmlns:a16="http://schemas.microsoft.com/office/drawing/2014/main" id="{C9438D82-420B-46E8-AA25-2D2CEEC5F7C1}"/>
              </a:ext>
            </a:extLst>
          </p:cNvPr>
          <p:cNvSpPr/>
          <p:nvPr/>
        </p:nvSpPr>
        <p:spPr>
          <a:xfrm rot="2740175">
            <a:off x="10666304" y="4776277"/>
            <a:ext cx="791815" cy="791815"/>
          </a:xfrm>
          <a:prstGeom prst="plus">
            <a:avLst>
              <a:gd name="adj" fmla="val 38498"/>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L-Shape 16">
            <a:extLst>
              <a:ext uri="{FF2B5EF4-FFF2-40B4-BE49-F238E27FC236}">
                <a16:creationId xmlns:a16="http://schemas.microsoft.com/office/drawing/2014/main" id="{52FBF11E-E300-4ED4-BE12-983A5F83588A}"/>
              </a:ext>
            </a:extLst>
          </p:cNvPr>
          <p:cNvSpPr/>
          <p:nvPr/>
        </p:nvSpPr>
        <p:spPr>
          <a:xfrm rot="2760372" flipH="1">
            <a:off x="10859019" y="1299568"/>
            <a:ext cx="406386" cy="895533"/>
          </a:xfrm>
          <a:prstGeom prst="corner">
            <a:avLst>
              <a:gd name="adj1" fmla="val 33817"/>
              <a:gd name="adj2" fmla="val 36515"/>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636439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8">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16" grpId="0" animBg="1"/>
      <p:bldP spid="1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circular motion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177129" y="4251804"/>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sp>
        <p:nvSpPr>
          <p:cNvPr id="18" name="Text Placeholder 3">
            <a:extLst>
              <a:ext uri="{FF2B5EF4-FFF2-40B4-BE49-F238E27FC236}">
                <a16:creationId xmlns:a16="http://schemas.microsoft.com/office/drawing/2014/main" id="{7717BB2E-736F-4612-A35F-AB4C6BD359D8}"/>
              </a:ext>
            </a:extLst>
          </p:cNvPr>
          <p:cNvSpPr txBox="1">
            <a:spLocks/>
          </p:cNvSpPr>
          <p:nvPr/>
        </p:nvSpPr>
        <p:spPr>
          <a:xfrm>
            <a:off x="94582" y="904805"/>
            <a:ext cx="11705421"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000" b="0" dirty="0"/>
              <a:t>Ivan is on a merry-go-round, 6.10 m from the centre. Ivan has a mass of 56.0 kg. The merry-go-round completes a rotation every 8.70s.</a:t>
            </a:r>
          </a:p>
          <a:p>
            <a:r>
              <a:rPr lang="en-AU" sz="2000" b="0" dirty="0"/>
              <a:t>Calculate:</a:t>
            </a:r>
          </a:p>
          <a:p>
            <a:pPr marL="514350" indent="-514350">
              <a:buAutoNum type="alphaLcParenR"/>
            </a:pPr>
            <a:r>
              <a:rPr lang="en-AU" sz="2000" b="0" dirty="0"/>
              <a:t>Ivan’s velocity</a:t>
            </a:r>
          </a:p>
          <a:p>
            <a:pPr marL="514350" indent="-514350">
              <a:buAutoNum type="alphaLcParenR"/>
            </a:pPr>
            <a:r>
              <a:rPr lang="en-AU" sz="2000" b="0" dirty="0"/>
              <a:t>Ivan’s acceleration</a:t>
            </a:r>
          </a:p>
          <a:p>
            <a:pPr marL="514350" indent="-514350">
              <a:buAutoNum type="alphaLcParenR"/>
            </a:pPr>
            <a:r>
              <a:rPr lang="en-AU" sz="2000" b="0" dirty="0"/>
              <a:t>The frictional force acting on Ivan</a:t>
            </a:r>
          </a:p>
        </p:txBody>
      </p:sp>
      <p:pic>
        <p:nvPicPr>
          <p:cNvPr id="3" name="Picture 2">
            <a:extLst>
              <a:ext uri="{FF2B5EF4-FFF2-40B4-BE49-F238E27FC236}">
                <a16:creationId xmlns:a16="http://schemas.microsoft.com/office/drawing/2014/main" id="{18DF0976-7843-B4CB-3083-AD34CF7D9789}"/>
              </a:ext>
            </a:extLst>
          </p:cNvPr>
          <p:cNvPicPr>
            <a:picLocks noChangeAspect="1"/>
          </p:cNvPicPr>
          <p:nvPr/>
        </p:nvPicPr>
        <p:blipFill rotWithShape="1">
          <a:blip r:embed="rId3"/>
          <a:srcRect b="11077"/>
          <a:stretch/>
        </p:blipFill>
        <p:spPr>
          <a:xfrm>
            <a:off x="9027488" y="1377920"/>
            <a:ext cx="2949645" cy="1957098"/>
          </a:xfrm>
          <a:prstGeom prst="rect">
            <a:avLst/>
          </a:prstGeom>
        </p:spPr>
      </p:pic>
    </p:spTree>
    <p:extLst>
      <p:ext uri="{BB962C8B-B14F-4D97-AF65-F5344CB8AC3E}">
        <p14:creationId xmlns:p14="http://schemas.microsoft.com/office/powerpoint/2010/main" val="4030969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circular motion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177129" y="4251804"/>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sp>
        <p:nvSpPr>
          <p:cNvPr id="18" name="Text Placeholder 3">
            <a:extLst>
              <a:ext uri="{FF2B5EF4-FFF2-40B4-BE49-F238E27FC236}">
                <a16:creationId xmlns:a16="http://schemas.microsoft.com/office/drawing/2014/main" id="{7717BB2E-736F-4612-A35F-AB4C6BD359D8}"/>
              </a:ext>
            </a:extLst>
          </p:cNvPr>
          <p:cNvSpPr txBox="1">
            <a:spLocks/>
          </p:cNvSpPr>
          <p:nvPr/>
        </p:nvSpPr>
        <p:spPr>
          <a:xfrm>
            <a:off x="94582" y="904805"/>
            <a:ext cx="11705421"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000" b="0" dirty="0"/>
              <a:t>An athlete in a hammer throw event is swinging a ball of mass 7.0 kg in a horizontal circular path. The ball is moving at 20.0 ms</a:t>
            </a:r>
            <a:r>
              <a:rPr lang="en-AU" sz="2000" b="0" baseline="30000" dirty="0"/>
              <a:t>-1</a:t>
            </a:r>
            <a:r>
              <a:rPr lang="en-AU" sz="2000" b="0" baseline="-25000" dirty="0"/>
              <a:t> </a:t>
            </a:r>
            <a:r>
              <a:rPr lang="en-AU" sz="2000" b="0" dirty="0"/>
              <a:t> in a circle of radius 1.60m.</a:t>
            </a:r>
          </a:p>
          <a:p>
            <a:r>
              <a:rPr lang="en-AU" sz="2000" b="0" dirty="0"/>
              <a:t>Calculate the acceleration of the ball and the tensile force acting in the wire.</a:t>
            </a:r>
          </a:p>
        </p:txBody>
      </p:sp>
    </p:spTree>
    <p:extLst>
      <p:ext uri="{BB962C8B-B14F-4D97-AF65-F5344CB8AC3E}">
        <p14:creationId xmlns:p14="http://schemas.microsoft.com/office/powerpoint/2010/main" val="29451375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circular motion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177129" y="4251804"/>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sp>
        <p:nvSpPr>
          <p:cNvPr id="18" name="Text Placeholder 3">
            <a:extLst>
              <a:ext uri="{FF2B5EF4-FFF2-40B4-BE49-F238E27FC236}">
                <a16:creationId xmlns:a16="http://schemas.microsoft.com/office/drawing/2014/main" id="{7717BB2E-736F-4612-A35F-AB4C6BD359D8}"/>
              </a:ext>
            </a:extLst>
          </p:cNvPr>
          <p:cNvSpPr txBox="1">
            <a:spLocks/>
          </p:cNvSpPr>
          <p:nvPr/>
        </p:nvSpPr>
        <p:spPr>
          <a:xfrm>
            <a:off x="94583" y="904805"/>
            <a:ext cx="11977132"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000" b="0" dirty="0"/>
              <a:t>Jeremy is on the edge of a 3.00m-wide playground merry-go-round, Jeremy has a mass of 35.0 kg. Jeremy falls off once the merry-go-round is spinning 0.85 times a second.</a:t>
            </a:r>
          </a:p>
          <a:p>
            <a:pPr marL="514350" indent="-514350">
              <a:buAutoNum type="alphaLcParenR"/>
            </a:pPr>
            <a:r>
              <a:rPr lang="en-AU" sz="2000" b="0" dirty="0"/>
              <a:t>What is the centripetal force acting on Jeremy before he falls?</a:t>
            </a:r>
          </a:p>
          <a:p>
            <a:pPr marL="514350" indent="-514350">
              <a:buAutoNum type="alphaLcParenR"/>
            </a:pPr>
            <a:r>
              <a:rPr lang="en-AU" sz="2000" b="0" dirty="0"/>
              <a:t>What supplies the centripetal force?</a:t>
            </a:r>
          </a:p>
          <a:p>
            <a:pPr marL="514350" indent="-514350">
              <a:buAutoNum type="alphaLcParenR"/>
            </a:pPr>
            <a:r>
              <a:rPr lang="en-AU" sz="2000" b="0" dirty="0"/>
              <a:t>Why does Jeremy fall off at a certain speed?</a:t>
            </a:r>
          </a:p>
        </p:txBody>
      </p:sp>
      <p:sp>
        <p:nvSpPr>
          <p:cNvPr id="3" name="Rectangle 2">
            <a:extLst>
              <a:ext uri="{FF2B5EF4-FFF2-40B4-BE49-F238E27FC236}">
                <a16:creationId xmlns:a16="http://schemas.microsoft.com/office/drawing/2014/main" id="{62071727-9BBC-4783-BAAA-6C857AF70C60}"/>
              </a:ext>
            </a:extLst>
          </p:cNvPr>
          <p:cNvSpPr/>
          <p:nvPr/>
        </p:nvSpPr>
        <p:spPr>
          <a:xfrm>
            <a:off x="9577388" y="1304112"/>
            <a:ext cx="2494327" cy="166577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dirty="0">
                <a:solidFill>
                  <a:schemeClr val="tx1"/>
                </a:solidFill>
              </a:rPr>
              <a:t>Note:</a:t>
            </a:r>
          </a:p>
          <a:p>
            <a:pPr algn="ctr"/>
            <a:r>
              <a:rPr lang="en-AU" dirty="0">
                <a:solidFill>
                  <a:schemeClr val="tx1"/>
                </a:solidFill>
              </a:rPr>
              <a:t>Diameter provided, not radius.</a:t>
            </a:r>
          </a:p>
          <a:p>
            <a:pPr algn="ctr"/>
            <a:endParaRPr lang="en-AU" dirty="0">
              <a:solidFill>
                <a:schemeClr val="tx1"/>
              </a:solidFill>
            </a:endParaRPr>
          </a:p>
          <a:p>
            <a:pPr algn="ctr"/>
            <a:r>
              <a:rPr lang="en-AU" dirty="0">
                <a:solidFill>
                  <a:schemeClr val="tx1"/>
                </a:solidFill>
              </a:rPr>
              <a:t>Frequency provided, not period</a:t>
            </a:r>
          </a:p>
        </p:txBody>
      </p:sp>
    </p:spTree>
    <p:extLst>
      <p:ext uri="{BB962C8B-B14F-4D97-AF65-F5344CB8AC3E}">
        <p14:creationId xmlns:p14="http://schemas.microsoft.com/office/powerpoint/2010/main" val="17094481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circular motion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177129" y="4251804"/>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sp>
        <p:nvSpPr>
          <p:cNvPr id="18" name="Text Placeholder 3">
            <a:extLst>
              <a:ext uri="{FF2B5EF4-FFF2-40B4-BE49-F238E27FC236}">
                <a16:creationId xmlns:a16="http://schemas.microsoft.com/office/drawing/2014/main" id="{7717BB2E-736F-4612-A35F-AB4C6BD359D8}"/>
              </a:ext>
            </a:extLst>
          </p:cNvPr>
          <p:cNvSpPr txBox="1">
            <a:spLocks/>
          </p:cNvSpPr>
          <p:nvPr/>
        </p:nvSpPr>
        <p:spPr>
          <a:xfrm>
            <a:off x="94582" y="904805"/>
            <a:ext cx="11705421"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000" b="0" dirty="0"/>
              <a:t>A tyre manufacturer claims they have produced the safest tyres in the world. Each tyre is capable of providing 20.0N of friction per kilogram of the car’s mass. </a:t>
            </a:r>
          </a:p>
          <a:p>
            <a:r>
              <a:rPr lang="en-AU" sz="2000" b="0" dirty="0"/>
              <a:t>A car with those tyres approaches a corner at 80 km/h. The corner has a 17.0m curvature radius. Justify whether the car could follow the curve of the corner or not.</a:t>
            </a:r>
          </a:p>
        </p:txBody>
      </p:sp>
    </p:spTree>
    <p:extLst>
      <p:ext uri="{BB962C8B-B14F-4D97-AF65-F5344CB8AC3E}">
        <p14:creationId xmlns:p14="http://schemas.microsoft.com/office/powerpoint/2010/main" val="3044188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circular motion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Content Development</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177129" y="4251804"/>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sp>
        <p:nvSpPr>
          <p:cNvPr id="18" name="Text Placeholder 3">
            <a:extLst>
              <a:ext uri="{FF2B5EF4-FFF2-40B4-BE49-F238E27FC236}">
                <a16:creationId xmlns:a16="http://schemas.microsoft.com/office/drawing/2014/main" id="{7717BB2E-736F-4612-A35F-AB4C6BD359D8}"/>
              </a:ext>
            </a:extLst>
          </p:cNvPr>
          <p:cNvSpPr txBox="1">
            <a:spLocks/>
          </p:cNvSpPr>
          <p:nvPr/>
        </p:nvSpPr>
        <p:spPr>
          <a:xfrm>
            <a:off x="94582" y="904805"/>
            <a:ext cx="11705421"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000" b="0" dirty="0"/>
              <a:t>A tyre manufacturer claims they have produced the safest tyres in the world. Each tyre is capable of providing 20.0N of friction per kilogram of the car’s mass. </a:t>
            </a:r>
          </a:p>
          <a:p>
            <a:r>
              <a:rPr lang="en-AU" sz="2000" b="0" dirty="0"/>
              <a:t>A car with those tyres approaches a corner at 80 km/h. The corner has a 17.0m curvature radius. Justify whether the car could follow the curve of the corner or not.</a:t>
            </a:r>
          </a:p>
        </p:txBody>
      </p:sp>
      <p:pic>
        <p:nvPicPr>
          <p:cNvPr id="5" name="Picture 4">
            <a:extLst>
              <a:ext uri="{FF2B5EF4-FFF2-40B4-BE49-F238E27FC236}">
                <a16:creationId xmlns:a16="http://schemas.microsoft.com/office/drawing/2014/main" id="{6CD5662F-1444-4AA4-A0C7-E0F0D44CB06B}"/>
              </a:ext>
            </a:extLst>
          </p:cNvPr>
          <p:cNvPicPr>
            <a:picLocks noChangeAspect="1"/>
          </p:cNvPicPr>
          <p:nvPr/>
        </p:nvPicPr>
        <p:blipFill>
          <a:blip r:embed="rId3"/>
          <a:stretch>
            <a:fillRect/>
          </a:stretch>
        </p:blipFill>
        <p:spPr>
          <a:xfrm>
            <a:off x="108623" y="2682964"/>
            <a:ext cx="12423426" cy="2714362"/>
          </a:xfrm>
          <a:prstGeom prst="rect">
            <a:avLst/>
          </a:prstGeom>
        </p:spPr>
      </p:pic>
    </p:spTree>
    <p:extLst>
      <p:ext uri="{BB962C8B-B14F-4D97-AF65-F5344CB8AC3E}">
        <p14:creationId xmlns:p14="http://schemas.microsoft.com/office/powerpoint/2010/main" val="1751431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22FDFC4-7213-4B80-88AC-CFDA713A6754}"/>
              </a:ext>
            </a:extLst>
          </p:cNvPr>
          <p:cNvSpPr>
            <a:spLocks noGrp="1"/>
          </p:cNvSpPr>
          <p:nvPr>
            <p:ph type="body" sz="quarter" idx="10"/>
          </p:nvPr>
        </p:nvSpPr>
        <p:spPr/>
        <p:txBody>
          <a:bodyPr/>
          <a:lstStyle/>
          <a:p>
            <a:r>
              <a:rPr lang="en-AU" dirty="0"/>
              <a:t>To analyse circular motion</a:t>
            </a:r>
          </a:p>
        </p:txBody>
      </p:sp>
      <p:sp>
        <p:nvSpPr>
          <p:cNvPr id="3" name="Text Placeholder 3">
            <a:extLst>
              <a:ext uri="{FF2B5EF4-FFF2-40B4-BE49-F238E27FC236}">
                <a16:creationId xmlns:a16="http://schemas.microsoft.com/office/drawing/2014/main" id="{15B39FF7-CE51-4DDE-B8F7-A2B32DD72593}"/>
              </a:ext>
            </a:extLst>
          </p:cNvPr>
          <p:cNvSpPr txBox="1">
            <a:spLocks/>
          </p:cNvSpPr>
          <p:nvPr/>
        </p:nvSpPr>
        <p:spPr>
          <a:xfrm>
            <a:off x="295274" y="4571479"/>
            <a:ext cx="3779478" cy="319722"/>
          </a:xfrm>
          <a:prstGeom prst="rect">
            <a:avLst/>
          </a:prstGeom>
          <a:solidFill>
            <a:srgbClr val="FBCA58"/>
          </a:solidFill>
        </p:spPr>
        <p:txBody>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2E546D"/>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Success Criteria</a:t>
            </a:r>
          </a:p>
        </p:txBody>
      </p:sp>
      <p:sp>
        <p:nvSpPr>
          <p:cNvPr id="4" name="Text Placeholder 2">
            <a:extLst>
              <a:ext uri="{FF2B5EF4-FFF2-40B4-BE49-F238E27FC236}">
                <a16:creationId xmlns:a16="http://schemas.microsoft.com/office/drawing/2014/main" id="{376F90D9-C05E-4F92-AA21-6770C35F6CD9}"/>
              </a:ext>
            </a:extLst>
          </p:cNvPr>
          <p:cNvSpPr txBox="1">
            <a:spLocks/>
          </p:cNvSpPr>
          <p:nvPr/>
        </p:nvSpPr>
        <p:spPr>
          <a:xfrm>
            <a:off x="209549" y="4921871"/>
            <a:ext cx="11601508" cy="1382567"/>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algn="l">
              <a:buFont typeface="Arial" panose="020B0604020202020204" pitchFamily="34" charset="0"/>
              <a:buChar char="•"/>
            </a:pPr>
            <a:r>
              <a:rPr lang="en-US" sz="1600" b="0" i="0" dirty="0">
                <a:solidFill>
                  <a:srgbClr val="000303"/>
                </a:solidFill>
                <a:effectLst/>
                <a:latin typeface="+mj-lt"/>
              </a:rPr>
              <a:t>I can draw circular motions diagram with velocity, acceleration and force</a:t>
            </a:r>
          </a:p>
          <a:p>
            <a:pPr marL="171450" indent="-171450" algn="l">
              <a:buFont typeface="Arial" panose="020B0604020202020204" pitchFamily="34" charset="0"/>
              <a:buChar char="•"/>
            </a:pPr>
            <a:r>
              <a:rPr lang="en-US" sz="1600" b="0" i="0" dirty="0">
                <a:solidFill>
                  <a:srgbClr val="000303"/>
                </a:solidFill>
                <a:effectLst/>
                <a:latin typeface="+mj-lt"/>
              </a:rPr>
              <a:t>I can calculate velocity, acceleration and force for an object undergoing circular motion</a:t>
            </a:r>
          </a:p>
          <a:p>
            <a:pPr marL="171450" indent="-171450" algn="l">
              <a:buFont typeface="Arial" panose="020B0604020202020204" pitchFamily="34" charset="0"/>
              <a:buChar char="•"/>
            </a:pPr>
            <a:r>
              <a:rPr lang="en-US" sz="1600" b="0" i="0" dirty="0">
                <a:solidFill>
                  <a:srgbClr val="000303"/>
                </a:solidFill>
                <a:effectLst/>
                <a:latin typeface="+mj-lt"/>
              </a:rPr>
              <a:t>I can describe centripetal force</a:t>
            </a:r>
          </a:p>
        </p:txBody>
      </p:sp>
    </p:spTree>
    <p:extLst>
      <p:ext uri="{BB962C8B-B14F-4D97-AF65-F5344CB8AC3E}">
        <p14:creationId xmlns:p14="http://schemas.microsoft.com/office/powerpoint/2010/main" val="30803918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circular motion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Additional Study</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177129" y="4251804"/>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pic>
        <p:nvPicPr>
          <p:cNvPr id="6" name="Picture 5">
            <a:extLst>
              <a:ext uri="{FF2B5EF4-FFF2-40B4-BE49-F238E27FC236}">
                <a16:creationId xmlns:a16="http://schemas.microsoft.com/office/drawing/2014/main" id="{998FEAC9-028E-E071-75C4-A3FECF836DC4}"/>
              </a:ext>
            </a:extLst>
          </p:cNvPr>
          <p:cNvPicPr>
            <a:picLocks noChangeAspect="1"/>
          </p:cNvPicPr>
          <p:nvPr/>
        </p:nvPicPr>
        <p:blipFill>
          <a:blip r:embed="rId3"/>
          <a:stretch>
            <a:fillRect/>
          </a:stretch>
        </p:blipFill>
        <p:spPr>
          <a:xfrm>
            <a:off x="2969772" y="0"/>
            <a:ext cx="9222228" cy="6858000"/>
          </a:xfrm>
          <a:prstGeom prst="rect">
            <a:avLst/>
          </a:prstGeom>
        </p:spPr>
      </p:pic>
      <p:pic>
        <p:nvPicPr>
          <p:cNvPr id="8" name="Picture 7">
            <a:extLst>
              <a:ext uri="{FF2B5EF4-FFF2-40B4-BE49-F238E27FC236}">
                <a16:creationId xmlns:a16="http://schemas.microsoft.com/office/drawing/2014/main" id="{3858FEED-A3F7-F4DE-FB36-E21DD5246313}"/>
              </a:ext>
            </a:extLst>
          </p:cNvPr>
          <p:cNvPicPr>
            <a:picLocks noChangeAspect="1"/>
          </p:cNvPicPr>
          <p:nvPr/>
        </p:nvPicPr>
        <p:blipFill>
          <a:blip r:embed="rId4"/>
          <a:stretch>
            <a:fillRect/>
          </a:stretch>
        </p:blipFill>
        <p:spPr>
          <a:xfrm>
            <a:off x="295275" y="1051390"/>
            <a:ext cx="1847850" cy="447675"/>
          </a:xfrm>
          <a:prstGeom prst="rect">
            <a:avLst/>
          </a:prstGeom>
        </p:spPr>
      </p:pic>
    </p:spTree>
    <p:extLst>
      <p:ext uri="{BB962C8B-B14F-4D97-AF65-F5344CB8AC3E}">
        <p14:creationId xmlns:p14="http://schemas.microsoft.com/office/powerpoint/2010/main" val="1889190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To analyse circular motion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85330"/>
            <a:ext cx="3779478" cy="319722"/>
          </a:xfrm>
        </p:spPr>
        <p:txBody>
          <a:bodyPr/>
          <a:lstStyle/>
          <a:p>
            <a:r>
              <a:rPr lang="en-AU" dirty="0"/>
              <a:t>Additional Study</a:t>
            </a:r>
          </a:p>
        </p:txBody>
      </p:sp>
      <p:sp>
        <p:nvSpPr>
          <p:cNvPr id="37" name="Text Placeholder 3">
            <a:extLst>
              <a:ext uri="{FF2B5EF4-FFF2-40B4-BE49-F238E27FC236}">
                <a16:creationId xmlns:a16="http://schemas.microsoft.com/office/drawing/2014/main" id="{69B77C84-9895-4D2C-B08C-4771B488D727}"/>
              </a:ext>
            </a:extLst>
          </p:cNvPr>
          <p:cNvSpPr txBox="1">
            <a:spLocks/>
          </p:cNvSpPr>
          <p:nvPr/>
        </p:nvSpPr>
        <p:spPr>
          <a:xfrm>
            <a:off x="-177129" y="4251804"/>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dirty="0"/>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29" name="Text Placeholder 3">
            <a:extLst>
              <a:ext uri="{FF2B5EF4-FFF2-40B4-BE49-F238E27FC236}">
                <a16:creationId xmlns:a16="http://schemas.microsoft.com/office/drawing/2014/main" id="{0F9EF218-A1AE-49FC-A0C0-AC3DBB0665A7}"/>
              </a:ext>
            </a:extLst>
          </p:cNvPr>
          <p:cNvSpPr txBox="1">
            <a:spLocks/>
          </p:cNvSpPr>
          <p:nvPr/>
        </p:nvSpPr>
        <p:spPr>
          <a:xfrm>
            <a:off x="98508" y="1932294"/>
            <a:ext cx="6928386"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endParaRPr lang="en-AU" sz="3600" b="0" dirty="0"/>
          </a:p>
        </p:txBody>
      </p:sp>
      <p:pic>
        <p:nvPicPr>
          <p:cNvPr id="5" name="Picture 4">
            <a:extLst>
              <a:ext uri="{FF2B5EF4-FFF2-40B4-BE49-F238E27FC236}">
                <a16:creationId xmlns:a16="http://schemas.microsoft.com/office/drawing/2014/main" id="{928B169F-BFDC-71EC-631E-6FC710297386}"/>
              </a:ext>
            </a:extLst>
          </p:cNvPr>
          <p:cNvPicPr>
            <a:picLocks noChangeAspect="1"/>
          </p:cNvPicPr>
          <p:nvPr/>
        </p:nvPicPr>
        <p:blipFill>
          <a:blip r:embed="rId3"/>
          <a:stretch>
            <a:fillRect/>
          </a:stretch>
        </p:blipFill>
        <p:spPr>
          <a:xfrm>
            <a:off x="2305050" y="266700"/>
            <a:ext cx="9886950" cy="6591300"/>
          </a:xfrm>
          <a:prstGeom prst="rect">
            <a:avLst/>
          </a:prstGeom>
        </p:spPr>
      </p:pic>
      <p:sp>
        <p:nvSpPr>
          <p:cNvPr id="3" name="Text Placeholder 3">
            <a:extLst>
              <a:ext uri="{FF2B5EF4-FFF2-40B4-BE49-F238E27FC236}">
                <a16:creationId xmlns:a16="http://schemas.microsoft.com/office/drawing/2014/main" id="{F7A5FC3E-5D0C-A9DB-67B8-F7BEA6788A3D}"/>
              </a:ext>
            </a:extLst>
          </p:cNvPr>
          <p:cNvSpPr txBox="1">
            <a:spLocks/>
          </p:cNvSpPr>
          <p:nvPr/>
        </p:nvSpPr>
        <p:spPr>
          <a:xfrm>
            <a:off x="7248525" y="5814517"/>
            <a:ext cx="5404937" cy="364816"/>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2000" b="0" dirty="0"/>
              <a:t>Note: some of these questions need content from next pack (conical pendulums)</a:t>
            </a:r>
          </a:p>
        </p:txBody>
      </p:sp>
    </p:spTree>
    <p:extLst>
      <p:ext uri="{BB962C8B-B14F-4D97-AF65-F5344CB8AC3E}">
        <p14:creationId xmlns:p14="http://schemas.microsoft.com/office/powerpoint/2010/main" val="3235989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theme/theme1.xml><?xml version="1.0" encoding="utf-8"?>
<a:theme xmlns:a="http://schemas.openxmlformats.org/drawingml/2006/main" name="Daily Review">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Explicit Instruction_Dark">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a:noFill/>
        </a:ln>
      </a:spPr>
      <a:bodyPr wrap="square" rtlCol="0" anchor="t" anchorCtr="0">
        <a:normAutofit fontScale="92500"/>
      </a:bodyPr>
      <a:lstStyle>
        <a:defPPr algn="l">
          <a:defRPr sz="5400" b="1" dirty="0" smtClean="0">
            <a:latin typeface="Century Gothic" panose="020B0502020202020204" pitchFamily="34" charset="0"/>
            <a:cs typeface="Futura Medium" panose="020B0602020204020303" pitchFamily="34" charset="-79"/>
          </a:defRPr>
        </a:defPPr>
      </a:lstStyle>
    </a:txDef>
  </a:objectDefaults>
  <a:extraClrSchemeLst/>
  <a:extLst>
    <a:ext uri="{05A4C25C-085E-4340-85A3-A5531E510DB2}">
      <thm15:themeFamily xmlns:thm15="http://schemas.microsoft.com/office/thememl/2012/main" name="Theme2" id="{15861BA0-56D5-1E4E-B56A-268D38A279BF}" vid="{9D14DC9A-E19D-5949-B871-56F3C64BEB6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8157990E5B9394AB60DC397E95032F9" ma:contentTypeVersion="16" ma:contentTypeDescription="Create a new document." ma:contentTypeScope="" ma:versionID="02697e3214b2f55142a2e7b89ba6de54">
  <xsd:schema xmlns:xsd="http://www.w3.org/2001/XMLSchema" xmlns:xs="http://www.w3.org/2001/XMLSchema" xmlns:p="http://schemas.microsoft.com/office/2006/metadata/properties" xmlns:ns2="8f659357-f805-491c-ad0b-5621b2de6466" xmlns:ns3="d5c732d2-f217-444a-91d8-37c5714ca695" targetNamespace="http://schemas.microsoft.com/office/2006/metadata/properties" ma:root="true" ma:fieldsID="67be6965022b95aa9d7585358a9bb7fc" ns2:_="" ns3:_="">
    <xsd:import namespace="8f659357-f805-491c-ad0b-5621b2de6466"/>
    <xsd:import namespace="d5c732d2-f217-444a-91d8-37c5714ca69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LengthInSeconds" minOccurs="0"/>
                <xsd:element ref="ns2:MediaServiceOCR" minOccurs="0"/>
                <xsd:element ref="ns2:MediaServiceGenerationTime" minOccurs="0"/>
                <xsd:element ref="ns2:MediaServiceEventHashCode" minOccurs="0"/>
                <xsd:element ref="ns3:SharedWithUsers" minOccurs="0"/>
                <xsd:element ref="ns3:SharedWithDetails" minOccurs="0"/>
                <xsd:element ref="ns2:lcf76f155ced4ddcb4097134ff3c332f" minOccurs="0"/>
                <xsd:element ref="ns3: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659357-f805-491c-ad0b-5621b2de646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LengthInSeconds" ma:index="14" nillable="true" ma:displayName="Length (seconds)" ma:internalName="MediaLengthInSeconds" ma:readOnly="true">
      <xsd:simpleType>
        <xsd:restriction base="dms:Unknown"/>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ea606fe5-00d0-49e1-aa33-d9ffd0209102"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5c732d2-f217-444a-91d8-37c5714ca695"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787221a7-1fed-4694-a1ec-bb608177e353}" ma:internalName="TaxCatchAll" ma:showField="CatchAllData" ma:web="d5c732d2-f217-444a-91d8-37c5714ca69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d5c732d2-f217-444a-91d8-37c5714ca695" xsi:nil="true"/>
    <lcf76f155ced4ddcb4097134ff3c332f xmlns="8f659357-f805-491c-ad0b-5621b2de6466">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1174CA8-FAA0-48CD-8A80-F828AD78E186}"/>
</file>

<file path=customXml/itemProps2.xml><?xml version="1.0" encoding="utf-8"?>
<ds:datastoreItem xmlns:ds="http://schemas.openxmlformats.org/officeDocument/2006/customXml" ds:itemID="{AD5BC30B-A8FB-4389-B40F-C069B6D2FAB9}">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77F09D33-A1B5-4438-8F96-65DD7176249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{33057687-8793-EB47-A5E0-08E93C53D0F2}tf10001071</Template>
  <TotalTime>5204</TotalTime>
  <Words>1140</Words>
  <Application>Microsoft Office PowerPoint</Application>
  <PresentationFormat>Widescreen</PresentationFormat>
  <Paragraphs>171</Paragraphs>
  <Slides>16</Slides>
  <Notes>14</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16</vt:i4>
      </vt:variant>
    </vt:vector>
  </HeadingPairs>
  <TitlesOfParts>
    <vt:vector size="23" baseType="lpstr">
      <vt:lpstr>Arial</vt:lpstr>
      <vt:lpstr>Calibri</vt:lpstr>
      <vt:lpstr>Cambria Math</vt:lpstr>
      <vt:lpstr>Century Gothic</vt:lpstr>
      <vt:lpstr>Futura Medium</vt:lpstr>
      <vt:lpstr>Daily Review</vt:lpstr>
      <vt:lpstr>1_Explicit Instruction_Dark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BAKER Mark [Southern River College]</cp:lastModifiedBy>
  <cp:revision>409</cp:revision>
  <cp:lastPrinted>2018-05-27T06:54:10Z</cp:lastPrinted>
  <dcterms:created xsi:type="dcterms:W3CDTF">2018-03-29T05:56:09Z</dcterms:created>
  <dcterms:modified xsi:type="dcterms:W3CDTF">2023-03-02T03:04:34Z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0x010100C8157990E5B9394AB60DC397E95032F9</vt:lpwstr>
  </property>
</Properties>
</file>