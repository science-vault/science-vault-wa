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31"/>
  </p:notesMasterIdLst>
  <p:handoutMasterIdLst>
    <p:handoutMasterId r:id="rId32"/>
  </p:handoutMasterIdLst>
  <p:sldIdLst>
    <p:sldId id="507" r:id="rId6"/>
    <p:sldId id="416" r:id="rId7"/>
    <p:sldId id="505" r:id="rId8"/>
    <p:sldId id="506" r:id="rId9"/>
    <p:sldId id="527" r:id="rId10"/>
    <p:sldId id="528" r:id="rId11"/>
    <p:sldId id="509" r:id="rId12"/>
    <p:sldId id="462" r:id="rId13"/>
    <p:sldId id="529" r:id="rId14"/>
    <p:sldId id="510" r:id="rId15"/>
    <p:sldId id="498" r:id="rId16"/>
    <p:sldId id="511" r:id="rId17"/>
    <p:sldId id="512" r:id="rId18"/>
    <p:sldId id="517" r:id="rId19"/>
    <p:sldId id="514" r:id="rId20"/>
    <p:sldId id="515" r:id="rId21"/>
    <p:sldId id="518" r:id="rId22"/>
    <p:sldId id="521" r:id="rId23"/>
    <p:sldId id="526" r:id="rId24"/>
    <p:sldId id="500" r:id="rId25"/>
    <p:sldId id="501" r:id="rId26"/>
    <p:sldId id="522" r:id="rId27"/>
    <p:sldId id="523" r:id="rId28"/>
    <p:sldId id="524" r:id="rId29"/>
    <p:sldId id="52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5A11"/>
    <a:srgbClr val="6E407C"/>
    <a:srgbClr val="159B4B"/>
    <a:srgbClr val="FBCA58"/>
    <a:srgbClr val="2E546D"/>
    <a:srgbClr val="DEEBF7"/>
    <a:srgbClr val="692B7D"/>
    <a:srgbClr val="472A50"/>
    <a:srgbClr val="2F556E"/>
    <a:srgbClr val="A672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50" autoAdjust="0"/>
    <p:restoredTop sz="85588" autoAdjust="0"/>
  </p:normalViewPr>
  <p:slideViewPr>
    <p:cSldViewPr snapToGrid="0" snapToObjects="1">
      <p:cViewPr varScale="1">
        <p:scale>
          <a:sx n="57" d="100"/>
          <a:sy n="57" d="100"/>
        </p:scale>
        <p:origin x="102" y="216"/>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3/10/2023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10/03/2023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Force and acceleration overlap – both are directed to the centre of the circle</a:t>
            </a:r>
          </a:p>
        </p:txBody>
      </p:sp>
      <p:sp>
        <p:nvSpPr>
          <p:cNvPr id="4" name="Slide Number Placeholder 3"/>
          <p:cNvSpPr>
            <a:spLocks noGrp="1"/>
          </p:cNvSpPr>
          <p:nvPr>
            <p:ph type="sldNum" sz="quarter" idx="5"/>
          </p:nvPr>
        </p:nvSpPr>
        <p:spPr/>
        <p:txBody>
          <a:bodyPr/>
          <a:lstStyle/>
          <a:p>
            <a:fld id="{B5B756B8-97A8-4FA1-B26A-2500BA5D4D05}" type="slidenum">
              <a:rPr lang="en-AU" smtClean="0"/>
              <a:t>1</a:t>
            </a:fld>
            <a:endParaRPr lang="en-AU"/>
          </a:p>
        </p:txBody>
      </p:sp>
    </p:spTree>
    <p:extLst>
      <p:ext uri="{BB962C8B-B14F-4D97-AF65-F5344CB8AC3E}">
        <p14:creationId xmlns:p14="http://schemas.microsoft.com/office/powerpoint/2010/main" val="1877444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Gravity acting down on the mass. Tension pulling up on the string.</a:t>
            </a:r>
          </a:p>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4134067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A ) r = 1.50 * sin60 = 1.30m</a:t>
            </a:r>
          </a:p>
          <a:p>
            <a:endParaRPr lang="en-AU" b="0" dirty="0"/>
          </a:p>
          <a:p>
            <a:r>
              <a:rPr lang="en-AU" b="0" dirty="0"/>
              <a:t>b) </a:t>
            </a:r>
            <a:r>
              <a:rPr lang="en-AU" b="0" dirty="0" err="1"/>
              <a:t>Fg</a:t>
            </a:r>
            <a:r>
              <a:rPr lang="en-AU" b="0" dirty="0"/>
              <a:t> = mg = 0.150 * 9.8 = 1.47 N.</a:t>
            </a:r>
          </a:p>
          <a:p>
            <a:r>
              <a:rPr lang="en-AU" b="0" dirty="0"/>
              <a:t>Net force is acting to the left (the centre of the circle). Triangle with </a:t>
            </a:r>
            <a:r>
              <a:rPr lang="en-AU" b="0" dirty="0" err="1"/>
              <a:t>Fnet</a:t>
            </a:r>
            <a:r>
              <a:rPr lang="en-AU" b="0" dirty="0"/>
              <a:t> left, </a:t>
            </a:r>
            <a:r>
              <a:rPr lang="en-AU" b="0" dirty="0" err="1"/>
              <a:t>Fg</a:t>
            </a:r>
            <a:r>
              <a:rPr lang="en-AU" b="0" dirty="0"/>
              <a:t> down, </a:t>
            </a:r>
            <a:r>
              <a:rPr lang="en-AU" b="0" dirty="0" err="1"/>
              <a:t>Ftension</a:t>
            </a:r>
            <a:r>
              <a:rPr lang="en-AU" b="0" dirty="0"/>
              <a:t> hypotenuse</a:t>
            </a:r>
          </a:p>
          <a:p>
            <a:r>
              <a:rPr lang="en-AU" b="0" dirty="0" err="1"/>
              <a:t>Fnet</a:t>
            </a:r>
            <a:r>
              <a:rPr lang="en-AU" b="0" dirty="0"/>
              <a:t> = 1.47tan60 = 2.55N to the left</a:t>
            </a:r>
          </a:p>
          <a:p>
            <a:endParaRPr lang="en-AU" b="0" dirty="0"/>
          </a:p>
          <a:p>
            <a:r>
              <a:rPr lang="en-AU" b="0" dirty="0"/>
              <a:t>c) </a:t>
            </a:r>
            <a:r>
              <a:rPr lang="en-AU" b="0" dirty="0" err="1"/>
              <a:t>Ftension</a:t>
            </a:r>
            <a:r>
              <a:rPr lang="en-AU" b="0" dirty="0"/>
              <a:t> = 1.47 / cos60 = 2.94N</a:t>
            </a:r>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4124414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First, draw a picture then:</a:t>
            </a:r>
          </a:p>
          <a:p>
            <a:pPr marL="228600" indent="-228600">
              <a:buAutoNum type="alphaLcParenR"/>
            </a:pPr>
            <a:r>
              <a:rPr lang="en-AU" b="0" dirty="0"/>
              <a:t>Draw vector diagram</a:t>
            </a:r>
          </a:p>
          <a:p>
            <a:pPr marL="0" indent="0">
              <a:buNone/>
            </a:pPr>
            <a:r>
              <a:rPr lang="en-AU" b="0" dirty="0"/>
              <a:t>Calculate theta from the radius and trigonometry. Theta = sin^-1 (r/L) = 38.25deg</a:t>
            </a:r>
          </a:p>
          <a:p>
            <a:pPr marL="0" indent="0">
              <a:buNone/>
            </a:pPr>
            <a:r>
              <a:rPr lang="en-AU" b="0" dirty="0" err="1"/>
              <a:t>Ftension</a:t>
            </a:r>
            <a:r>
              <a:rPr lang="en-AU" b="0" dirty="0"/>
              <a:t> = mg / cos theta = 0.2*9.8 / cos(38.25) = 2.50N</a:t>
            </a:r>
          </a:p>
          <a:p>
            <a:pPr marL="0" indent="0">
              <a:buNone/>
            </a:pPr>
            <a:r>
              <a:rPr lang="en-AU" b="0" dirty="0"/>
              <a:t>b) V = 2 pi r / T      so T = 2 pi r / v</a:t>
            </a:r>
          </a:p>
          <a:p>
            <a:pPr marL="0" indent="0">
              <a:buNone/>
            </a:pPr>
            <a:r>
              <a:rPr lang="en-AU" b="0" dirty="0" err="1"/>
              <a:t>Fnet</a:t>
            </a:r>
            <a:r>
              <a:rPr lang="en-AU" b="0" dirty="0"/>
              <a:t> = m v^2 /r </a:t>
            </a:r>
          </a:p>
          <a:p>
            <a:pPr marL="0" indent="0">
              <a:buNone/>
            </a:pPr>
            <a:r>
              <a:rPr lang="en-AU" b="0" dirty="0" err="1"/>
              <a:t>Fnet</a:t>
            </a:r>
            <a:r>
              <a:rPr lang="en-AU" b="0" dirty="0"/>
              <a:t> = </a:t>
            </a:r>
            <a:r>
              <a:rPr lang="en-AU" b="0" dirty="0" err="1"/>
              <a:t>Tsin</a:t>
            </a:r>
            <a:r>
              <a:rPr lang="en-AU" b="0" dirty="0"/>
              <a:t> theta = 2.496 x sin (38.25) = 1.545 N</a:t>
            </a:r>
          </a:p>
          <a:p>
            <a:pPr marL="0" indent="0">
              <a:buNone/>
            </a:pPr>
            <a:r>
              <a:rPr lang="en-AU" b="0" dirty="0" err="1"/>
              <a:t>Fnet</a:t>
            </a:r>
            <a:r>
              <a:rPr lang="en-AU" b="0" dirty="0"/>
              <a:t> = m v^2 / r       v = 3.169 </a:t>
            </a:r>
            <a:r>
              <a:rPr lang="en-AU" b="0" dirty="0" err="1"/>
              <a:t>ms</a:t>
            </a:r>
            <a:r>
              <a:rPr lang="en-AU" b="0" dirty="0"/>
              <a:t>^-1    so T = 2.58s</a:t>
            </a:r>
          </a:p>
          <a:p>
            <a:pPr marL="0" indent="0">
              <a:buNone/>
            </a:pPr>
            <a:endParaRPr lang="en-AU" b="0" dirty="0"/>
          </a:p>
          <a:p>
            <a:pPr marL="0" indent="0">
              <a:buNone/>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1751410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https://www.youtube.com/watch?v=F8awe7yJN0Y&amp;ab_channel=ETphysics</a:t>
            </a:r>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2248361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Extra info: </a:t>
            </a:r>
          </a:p>
          <a:p>
            <a:r>
              <a:rPr lang="en-AU" b="0" dirty="0"/>
              <a:t>https://study.com/academy/lesson/circular-motion-around-a-banked-circular-track.html</a:t>
            </a:r>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2970693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Draw on normal force and weight force and resultant net force.</a:t>
            </a:r>
          </a:p>
          <a:p>
            <a:r>
              <a:rPr lang="en-AU" b="0" dirty="0"/>
              <a:t>Draw vector diagram.</a:t>
            </a:r>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2236699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r>
              <a:rPr lang="en-AU" b="0" dirty="0"/>
              <a:t>Note the difference between banked curves and inclined planes. In inclined planes, the normal force </a:t>
            </a:r>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17727288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v= sqrt(r*g*tan(theta)) = 12.4 </a:t>
            </a:r>
            <a:r>
              <a:rPr lang="en-AU" b="0" dirty="0" err="1"/>
              <a:t>ms</a:t>
            </a:r>
            <a:r>
              <a:rPr lang="en-AU" b="0" dirty="0"/>
              <a:t>^-1</a:t>
            </a:r>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2115893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2146443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15115944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https://www.physicsclassroom.com/class/circles/Lesson-2/Athletics</a:t>
            </a:r>
          </a:p>
          <a:p>
            <a:pPr marL="0" indent="0">
              <a:buNone/>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a:p>
        </p:txBody>
      </p:sp>
    </p:spTree>
    <p:extLst>
      <p:ext uri="{BB962C8B-B14F-4D97-AF65-F5344CB8AC3E}">
        <p14:creationId xmlns:p14="http://schemas.microsoft.com/office/powerpoint/2010/main" val="3236675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https://www.physicsclassroom.com/class/circles/Lesson-2/Athletics</a:t>
            </a:r>
          </a:p>
          <a:p>
            <a:pPr marL="0" indent="0">
              <a:buNone/>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21268333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b) Calculate Fc using </a:t>
            </a:r>
            <a:r>
              <a:rPr lang="en-AU" b="0" dirty="0" err="1"/>
              <a:t>mv^v</a:t>
            </a:r>
            <a:r>
              <a:rPr lang="en-AU" b="0" dirty="0"/>
              <a:t>/r     Fc = 2.122*10^3 N</a:t>
            </a:r>
          </a:p>
          <a:p>
            <a:r>
              <a:rPr lang="en-AU" b="0" dirty="0"/>
              <a:t>Calculate reaction force using trig</a:t>
            </a:r>
          </a:p>
          <a:p>
            <a:r>
              <a:rPr lang="en-AU" b="0" dirty="0"/>
              <a:t>R = 2.76 * 10^3, 39.7deg above the horizontal</a:t>
            </a:r>
          </a:p>
          <a:p>
            <a:r>
              <a:rPr lang="en-AU" b="0" dirty="0"/>
              <a:t>c) Horizontal component is reduced due to reduced friction. Vertical component unaffected.</a:t>
            </a:r>
          </a:p>
        </p:txBody>
      </p:sp>
      <p:sp>
        <p:nvSpPr>
          <p:cNvPr id="4" name="Slide Number Placeholder 3"/>
          <p:cNvSpPr>
            <a:spLocks noGrp="1"/>
          </p:cNvSpPr>
          <p:nvPr>
            <p:ph type="sldNum" sz="quarter" idx="5"/>
          </p:nvPr>
        </p:nvSpPr>
        <p:spPr/>
        <p:txBody>
          <a:bodyPr/>
          <a:lstStyle/>
          <a:p>
            <a:fld id="{B5B756B8-97A8-4FA1-B26A-2500BA5D4D05}" type="slidenum">
              <a:rPr lang="en-AU" smtClean="0"/>
              <a:t>17</a:t>
            </a:fld>
            <a:endParaRPr lang="en-AU"/>
          </a:p>
        </p:txBody>
      </p:sp>
    </p:spTree>
    <p:extLst>
      <p:ext uri="{BB962C8B-B14F-4D97-AF65-F5344CB8AC3E}">
        <p14:creationId xmlns:p14="http://schemas.microsoft.com/office/powerpoint/2010/main" val="2005202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18</a:t>
            </a:fld>
            <a:endParaRPr lang="en-AU"/>
          </a:p>
        </p:txBody>
      </p:sp>
    </p:spTree>
    <p:extLst>
      <p:ext uri="{BB962C8B-B14F-4D97-AF65-F5344CB8AC3E}">
        <p14:creationId xmlns:p14="http://schemas.microsoft.com/office/powerpoint/2010/main" val="39650198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20</a:t>
            </a:fld>
            <a:endParaRPr lang="en-AU"/>
          </a:p>
        </p:txBody>
      </p:sp>
    </p:spTree>
    <p:extLst>
      <p:ext uri="{BB962C8B-B14F-4D97-AF65-F5344CB8AC3E}">
        <p14:creationId xmlns:p14="http://schemas.microsoft.com/office/powerpoint/2010/main" val="42597311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21</a:t>
            </a:fld>
            <a:endParaRPr lang="en-AU"/>
          </a:p>
        </p:txBody>
      </p:sp>
    </p:spTree>
    <p:extLst>
      <p:ext uri="{BB962C8B-B14F-4D97-AF65-F5344CB8AC3E}">
        <p14:creationId xmlns:p14="http://schemas.microsoft.com/office/powerpoint/2010/main" val="16184004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Draw vector diagram</a:t>
            </a:r>
          </a:p>
          <a:p>
            <a:r>
              <a:rPr lang="en-AU" b="0" dirty="0"/>
              <a:t>Calculate Fc using mv^2 / r </a:t>
            </a:r>
          </a:p>
          <a:p>
            <a:r>
              <a:rPr lang="en-AU" b="0" dirty="0"/>
              <a:t>Calculate </a:t>
            </a:r>
            <a:r>
              <a:rPr lang="en-AU" b="0" dirty="0" err="1"/>
              <a:t>Fw</a:t>
            </a:r>
            <a:r>
              <a:rPr lang="en-AU" b="0" dirty="0"/>
              <a:t> using </a:t>
            </a:r>
            <a:r>
              <a:rPr lang="en-AU" b="0" dirty="0" err="1"/>
              <a:t>Fw</a:t>
            </a:r>
            <a:r>
              <a:rPr lang="en-AU" b="0" dirty="0"/>
              <a:t> = mg</a:t>
            </a:r>
          </a:p>
          <a:p>
            <a:r>
              <a:rPr lang="en-AU" b="0" dirty="0"/>
              <a:t>Calculate theta using trigonometry</a:t>
            </a:r>
          </a:p>
          <a:p>
            <a:endParaRPr lang="en-AU" b="0" dirty="0"/>
          </a:p>
          <a:p>
            <a:r>
              <a:rPr lang="en-AU" b="0" dirty="0"/>
              <a:t>Theta = tan-1 (gr / v^2 ) = 78.6deg above horizontal</a:t>
            </a:r>
          </a:p>
        </p:txBody>
      </p:sp>
      <p:sp>
        <p:nvSpPr>
          <p:cNvPr id="4" name="Slide Number Placeholder 3"/>
          <p:cNvSpPr>
            <a:spLocks noGrp="1"/>
          </p:cNvSpPr>
          <p:nvPr>
            <p:ph type="sldNum" sz="quarter" idx="5"/>
          </p:nvPr>
        </p:nvSpPr>
        <p:spPr/>
        <p:txBody>
          <a:bodyPr/>
          <a:lstStyle/>
          <a:p>
            <a:fld id="{B5B756B8-97A8-4FA1-B26A-2500BA5D4D05}" type="slidenum">
              <a:rPr lang="en-AU" smtClean="0"/>
              <a:t>22</a:t>
            </a:fld>
            <a:endParaRPr lang="en-AU"/>
          </a:p>
        </p:txBody>
      </p:sp>
    </p:spTree>
    <p:extLst>
      <p:ext uri="{BB962C8B-B14F-4D97-AF65-F5344CB8AC3E}">
        <p14:creationId xmlns:p14="http://schemas.microsoft.com/office/powerpoint/2010/main" val="975378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23</a:t>
            </a:fld>
            <a:endParaRPr lang="en-AU"/>
          </a:p>
        </p:txBody>
      </p:sp>
    </p:spTree>
    <p:extLst>
      <p:ext uri="{BB962C8B-B14F-4D97-AF65-F5344CB8AC3E}">
        <p14:creationId xmlns:p14="http://schemas.microsoft.com/office/powerpoint/2010/main" val="188998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24</a:t>
            </a:fld>
            <a:endParaRPr lang="en-AU"/>
          </a:p>
        </p:txBody>
      </p:sp>
    </p:spTree>
    <p:extLst>
      <p:ext uri="{BB962C8B-B14F-4D97-AF65-F5344CB8AC3E}">
        <p14:creationId xmlns:p14="http://schemas.microsoft.com/office/powerpoint/2010/main" val="262700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25</a:t>
            </a:fld>
            <a:endParaRPr lang="en-AU"/>
          </a:p>
        </p:txBody>
      </p:sp>
    </p:spTree>
    <p:extLst>
      <p:ext uri="{BB962C8B-B14F-4D97-AF65-F5344CB8AC3E}">
        <p14:creationId xmlns:p14="http://schemas.microsoft.com/office/powerpoint/2010/main" val="968048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25.png"/><Relationship Id="rId2" Type="http://schemas.openxmlformats.org/officeDocument/2006/relationships/notesSlide" Target="../notesSlides/notesSlide1.xml"/><Relationship Id="rId16" Type="http://schemas.openxmlformats.org/officeDocument/2006/relationships/image" Target="../media/image16.png"/><Relationship Id="rId1" Type="http://schemas.openxmlformats.org/officeDocument/2006/relationships/slideLayout" Target="../slideLayouts/slideLayout14.xml"/><Relationship Id="rId6" Type="http://schemas.openxmlformats.org/officeDocument/2006/relationships/image" Target="../media/image8.png"/><Relationship Id="rId11" Type="http://schemas.openxmlformats.org/officeDocument/2006/relationships/image" Target="../media/image12.png"/><Relationship Id="rId5" Type="http://schemas.openxmlformats.org/officeDocument/2006/relationships/image" Target="../media/image7.png"/><Relationship Id="rId15" Type="http://schemas.openxmlformats.org/officeDocument/2006/relationships/image" Target="../media/image15.png"/><Relationship Id="rId10" Type="http://schemas.openxmlformats.org/officeDocument/2006/relationships/image" Target="../media/image23.pn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video" Target="https://www.youtube.com/embed/VyhR1Hf1_OU?feature=oembed" TargetMode="External"/><Relationship Id="rId5" Type="http://schemas.openxmlformats.org/officeDocument/2006/relationships/image" Target="../media/image18.jpe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video" Target="https://www.youtube.com/embed/mangcHR4aXY?start=199&amp;feature=oembed" TargetMode="External"/><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4995"/>
            <a:ext cx="3779478" cy="319722"/>
          </a:xfrm>
        </p:spPr>
        <p:txBody>
          <a:bodyPr/>
          <a:lstStyle/>
          <a:p>
            <a:r>
              <a:rPr lang="en-AU" dirty="0"/>
              <a:t>Do Now</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Oval 5">
            <a:extLst>
              <a:ext uri="{FF2B5EF4-FFF2-40B4-BE49-F238E27FC236}">
                <a16:creationId xmlns:a16="http://schemas.microsoft.com/office/drawing/2014/main" id="{3D2AD87A-5164-4BED-B510-0C313C5563B5}"/>
              </a:ext>
            </a:extLst>
          </p:cNvPr>
          <p:cNvSpPr/>
          <p:nvPr/>
        </p:nvSpPr>
        <p:spPr>
          <a:xfrm>
            <a:off x="7124356" y="1007686"/>
            <a:ext cx="4553339" cy="455333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descr="Car with solid fill">
            <a:extLst>
              <a:ext uri="{FF2B5EF4-FFF2-40B4-BE49-F238E27FC236}">
                <a16:creationId xmlns:a16="http://schemas.microsoft.com/office/drawing/2014/main" id="{502907DA-1F27-4F34-B69D-9BCEA65A94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43825" y="677372"/>
            <a:ext cx="914400" cy="914400"/>
          </a:xfrm>
          <a:prstGeom prst="rect">
            <a:avLst/>
          </a:prstGeom>
        </p:spPr>
      </p:pic>
      <p:pic>
        <p:nvPicPr>
          <p:cNvPr id="24" name="Graphic 23" descr="Car with solid fill">
            <a:extLst>
              <a:ext uri="{FF2B5EF4-FFF2-40B4-BE49-F238E27FC236}">
                <a16:creationId xmlns:a16="http://schemas.microsoft.com/office/drawing/2014/main" id="{FCD375F5-2F39-467C-8633-A46E551DDD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1020448" y="2700299"/>
            <a:ext cx="914400" cy="914400"/>
          </a:xfrm>
          <a:prstGeom prst="rect">
            <a:avLst/>
          </a:prstGeom>
        </p:spPr>
      </p:pic>
      <p:pic>
        <p:nvPicPr>
          <p:cNvPr id="25" name="Graphic 24" descr="Car with solid fill">
            <a:extLst>
              <a:ext uri="{FF2B5EF4-FFF2-40B4-BE49-F238E27FC236}">
                <a16:creationId xmlns:a16="http://schemas.microsoft.com/office/drawing/2014/main" id="{8AA361D8-8E20-4F53-AE09-CF829C48CE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8943825" y="4976939"/>
            <a:ext cx="914400" cy="914400"/>
          </a:xfrm>
          <a:prstGeom prst="rect">
            <a:avLst/>
          </a:prstGeom>
        </p:spPr>
      </p:pic>
      <p:pic>
        <p:nvPicPr>
          <p:cNvPr id="26" name="Graphic 25" descr="Car with solid fill">
            <a:extLst>
              <a:ext uri="{FF2B5EF4-FFF2-40B4-BE49-F238E27FC236}">
                <a16:creationId xmlns:a16="http://schemas.microsoft.com/office/drawing/2014/main" id="{2A82C595-0610-4DA2-95B8-F5D3BC4905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781973" y="2899716"/>
            <a:ext cx="914400" cy="914400"/>
          </a:xfrm>
          <a:prstGeom prst="rect">
            <a:avLst/>
          </a:prstGeom>
        </p:spPr>
      </p:pic>
      <p:sp>
        <p:nvSpPr>
          <p:cNvPr id="27" name="Oval 26">
            <a:extLst>
              <a:ext uri="{FF2B5EF4-FFF2-40B4-BE49-F238E27FC236}">
                <a16:creationId xmlns:a16="http://schemas.microsoft.com/office/drawing/2014/main" id="{5BD3A10A-6921-4803-BC9E-414CE8AAF5A6}"/>
              </a:ext>
            </a:extLst>
          </p:cNvPr>
          <p:cNvSpPr/>
          <p:nvPr/>
        </p:nvSpPr>
        <p:spPr>
          <a:xfrm>
            <a:off x="7732256" y="1615586"/>
            <a:ext cx="3337538" cy="3337538"/>
          </a:xfrm>
          <a:prstGeom prst="ellipse">
            <a:avLst/>
          </a:prstGeom>
          <a:solidFill>
            <a:schemeClr val="accent6">
              <a:lumMod val="40000"/>
              <a:lumOff val="6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3" y="904805"/>
            <a:ext cx="668739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Draw in:</a:t>
            </a:r>
          </a:p>
          <a:p>
            <a:r>
              <a:rPr lang="en-AU" sz="3200" b="0" dirty="0"/>
              <a:t> - the instantaneous velocities</a:t>
            </a:r>
          </a:p>
          <a:p>
            <a:r>
              <a:rPr lang="en-AU" sz="3200" b="0" dirty="0"/>
              <a:t> - the acceleration</a:t>
            </a:r>
          </a:p>
          <a:p>
            <a:r>
              <a:rPr lang="en-AU" sz="3200" b="0" dirty="0"/>
              <a:t> - the force acting on the car</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grpSp>
        <p:nvGrpSpPr>
          <p:cNvPr id="5" name="Group 4">
            <a:extLst>
              <a:ext uri="{FF2B5EF4-FFF2-40B4-BE49-F238E27FC236}">
                <a16:creationId xmlns:a16="http://schemas.microsoft.com/office/drawing/2014/main" id="{5D595C73-6E0D-49CE-AF50-800ACA13421D}"/>
              </a:ext>
            </a:extLst>
          </p:cNvPr>
          <p:cNvGrpSpPr/>
          <p:nvPr/>
        </p:nvGrpSpPr>
        <p:grpSpPr>
          <a:xfrm>
            <a:off x="6667155" y="715270"/>
            <a:ext cx="5503623" cy="5514785"/>
            <a:chOff x="6667155" y="715270"/>
            <a:chExt cx="5503623" cy="5514785"/>
          </a:xfrm>
        </p:grpSpPr>
        <p:cxnSp>
          <p:nvCxnSpPr>
            <p:cNvPr id="7" name="Straight Arrow Connector 6">
              <a:extLst>
                <a:ext uri="{FF2B5EF4-FFF2-40B4-BE49-F238E27FC236}">
                  <a16:creationId xmlns:a16="http://schemas.microsoft.com/office/drawing/2014/main" id="{F2DC7BB0-685C-452B-8AB9-9AF5D694F71E}"/>
                </a:ext>
              </a:extLst>
            </p:cNvPr>
            <p:cNvCxnSpPr>
              <a:cxnSpLocks/>
            </p:cNvCxnSpPr>
            <p:nvPr/>
          </p:nvCxnSpPr>
          <p:spPr>
            <a:xfrm flipH="1">
              <a:off x="11452690" y="3608709"/>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46FB727-0502-4A81-A341-44C53C5C0EA7}"/>
                </a:ext>
              </a:extLst>
            </p:cNvPr>
            <p:cNvCxnSpPr>
              <a:cxnSpLocks/>
            </p:cNvCxnSpPr>
            <p:nvPr/>
          </p:nvCxnSpPr>
          <p:spPr>
            <a:xfrm rot="16200000" flipH="1">
              <a:off x="10613319" y="40408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799785E-74A7-4849-AE7B-7C2D47CF3288}"/>
                </a:ext>
              </a:extLst>
            </p:cNvPr>
            <p:cNvCxnSpPr>
              <a:cxnSpLocks/>
            </p:cNvCxnSpPr>
            <p:nvPr/>
          </p:nvCxnSpPr>
          <p:spPr>
            <a:xfrm rot="10800000" flipH="1">
              <a:off x="7297985" y="135712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0B33396-8945-4F14-BC1B-86B6A79BD1E5}"/>
                </a:ext>
              </a:extLst>
            </p:cNvPr>
            <p:cNvCxnSpPr>
              <a:cxnSpLocks/>
            </p:cNvCxnSpPr>
            <p:nvPr/>
          </p:nvCxnSpPr>
          <p:spPr>
            <a:xfrm rot="5400000" flipH="1">
              <a:off x="8176252" y="4587862"/>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66241D3-1DDE-4402-A3D9-A39BBEBEE592}"/>
                    </a:ext>
                  </a:extLst>
                </p:cNvPr>
                <p:cNvSpPr txBox="1"/>
                <p:nvPr/>
              </p:nvSpPr>
              <p:spPr>
                <a:xfrm>
                  <a:off x="6667155" y="1849903"/>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8" name="TextBox 7">
                  <a:extLst>
                    <a:ext uri="{FF2B5EF4-FFF2-40B4-BE49-F238E27FC236}">
                      <a16:creationId xmlns:a16="http://schemas.microsoft.com/office/drawing/2014/main" id="{A66241D3-1DDE-4402-A3D9-A39BBEBEE592}"/>
                    </a:ext>
                  </a:extLst>
                </p:cNvPr>
                <p:cNvSpPr txBox="1">
                  <a:spLocks noRot="1" noChangeAspect="1" noMove="1" noResize="1" noEditPoints="1" noAdjustHandles="1" noChangeArrowheads="1" noChangeShapeType="1" noTextEdit="1"/>
                </p:cNvSpPr>
                <p:nvPr/>
              </p:nvSpPr>
              <p:spPr>
                <a:xfrm>
                  <a:off x="6667155" y="1849903"/>
                  <a:ext cx="914400" cy="914400"/>
                </a:xfrm>
                <a:prstGeom prst="rect">
                  <a:avLst/>
                </a:prstGeom>
                <a:blipFill>
                  <a:blip r:embed="rId5"/>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F77CBAF-CC21-46EB-8F97-F97FAD62DDE5}"/>
                    </a:ext>
                  </a:extLst>
                </p:cNvPr>
                <p:cNvSpPr txBox="1"/>
                <p:nvPr/>
              </p:nvSpPr>
              <p:spPr>
                <a:xfrm>
                  <a:off x="10069842" y="715270"/>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0" name="TextBox 29">
                  <a:extLst>
                    <a:ext uri="{FF2B5EF4-FFF2-40B4-BE49-F238E27FC236}">
                      <a16:creationId xmlns:a16="http://schemas.microsoft.com/office/drawing/2014/main" id="{0F77CBAF-CC21-46EB-8F97-F97FAD62DDE5}"/>
                    </a:ext>
                  </a:extLst>
                </p:cNvPr>
                <p:cNvSpPr txBox="1">
                  <a:spLocks noRot="1" noChangeAspect="1" noMove="1" noResize="1" noEditPoints="1" noAdjustHandles="1" noChangeArrowheads="1" noChangeShapeType="1" noTextEdit="1"/>
                </p:cNvSpPr>
                <p:nvPr/>
              </p:nvSpPr>
              <p:spPr>
                <a:xfrm>
                  <a:off x="10069842" y="715270"/>
                  <a:ext cx="914400" cy="914400"/>
                </a:xfrm>
                <a:prstGeom prst="rect">
                  <a:avLst/>
                </a:prstGeom>
                <a:blipFill>
                  <a:blip r:embed="rId6"/>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0F95547-596A-4CF1-9A62-631AF7323945}"/>
                    </a:ext>
                  </a:extLst>
                </p:cNvPr>
                <p:cNvSpPr txBox="1"/>
                <p:nvPr/>
              </p:nvSpPr>
              <p:spPr>
                <a:xfrm>
                  <a:off x="11256378" y="406253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1" name="TextBox 30">
                  <a:extLst>
                    <a:ext uri="{FF2B5EF4-FFF2-40B4-BE49-F238E27FC236}">
                      <a16:creationId xmlns:a16="http://schemas.microsoft.com/office/drawing/2014/main" id="{90F95547-596A-4CF1-9A62-631AF7323945}"/>
                    </a:ext>
                  </a:extLst>
                </p:cNvPr>
                <p:cNvSpPr txBox="1">
                  <a:spLocks noRot="1" noChangeAspect="1" noMove="1" noResize="1" noEditPoints="1" noAdjustHandles="1" noChangeArrowheads="1" noChangeShapeType="1" noTextEdit="1"/>
                </p:cNvSpPr>
                <p:nvPr/>
              </p:nvSpPr>
              <p:spPr>
                <a:xfrm>
                  <a:off x="11256378" y="4062539"/>
                  <a:ext cx="914400" cy="914400"/>
                </a:xfrm>
                <a:prstGeom prst="rect">
                  <a:avLst/>
                </a:prstGeom>
                <a:blipFill>
                  <a:blip r:embed="rId7"/>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DFB747D-C59A-4BA5-B5FA-C622FE24AA35}"/>
                    </a:ext>
                  </a:extLst>
                </p:cNvPr>
                <p:cNvSpPr txBox="1"/>
                <p:nvPr/>
              </p:nvSpPr>
              <p:spPr>
                <a:xfrm>
                  <a:off x="7829378" y="5315655"/>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2" name="TextBox 31">
                  <a:extLst>
                    <a:ext uri="{FF2B5EF4-FFF2-40B4-BE49-F238E27FC236}">
                      <a16:creationId xmlns:a16="http://schemas.microsoft.com/office/drawing/2014/main" id="{CDFB747D-C59A-4BA5-B5FA-C622FE24AA35}"/>
                    </a:ext>
                  </a:extLst>
                </p:cNvPr>
                <p:cNvSpPr txBox="1">
                  <a:spLocks noRot="1" noChangeAspect="1" noMove="1" noResize="1" noEditPoints="1" noAdjustHandles="1" noChangeArrowheads="1" noChangeShapeType="1" noTextEdit="1"/>
                </p:cNvSpPr>
                <p:nvPr/>
              </p:nvSpPr>
              <p:spPr>
                <a:xfrm>
                  <a:off x="7829378" y="5315655"/>
                  <a:ext cx="914400" cy="914400"/>
                </a:xfrm>
                <a:prstGeom prst="rect">
                  <a:avLst/>
                </a:prstGeom>
                <a:blipFill>
                  <a:blip r:embed="rId8"/>
                  <a:stretch>
                    <a:fillRect/>
                  </a:stretch>
                </a:blipFill>
                <a:ln>
                  <a:noFill/>
                </a:ln>
              </p:spPr>
              <p:txBody>
                <a:bodyPr/>
                <a:lstStyle/>
                <a:p>
                  <a:r>
                    <a:rPr lang="en-AU">
                      <a:noFill/>
                    </a:rPr>
                    <a:t> </a:t>
                  </a:r>
                </a:p>
              </p:txBody>
            </p:sp>
          </mc:Fallback>
        </mc:AlternateContent>
        <p:grpSp>
          <p:nvGrpSpPr>
            <p:cNvPr id="3" name="Group 2">
              <a:extLst>
                <a:ext uri="{FF2B5EF4-FFF2-40B4-BE49-F238E27FC236}">
                  <a16:creationId xmlns:a16="http://schemas.microsoft.com/office/drawing/2014/main" id="{F3CD4D25-2B9E-4367-A231-7065B4892649}"/>
                </a:ext>
              </a:extLst>
            </p:cNvPr>
            <p:cNvGrpSpPr/>
            <p:nvPr/>
          </p:nvGrpSpPr>
          <p:grpSpPr>
            <a:xfrm>
              <a:off x="7447561" y="1357126"/>
              <a:ext cx="3868774" cy="3785263"/>
              <a:chOff x="7447561" y="1357126"/>
              <a:chExt cx="3868774" cy="3785263"/>
            </a:xfrm>
          </p:grpSpPr>
          <p:cxnSp>
            <p:nvCxnSpPr>
              <p:cNvPr id="33" name="Straight Arrow Connector 32">
                <a:extLst>
                  <a:ext uri="{FF2B5EF4-FFF2-40B4-BE49-F238E27FC236}">
                    <a16:creationId xmlns:a16="http://schemas.microsoft.com/office/drawing/2014/main" id="{8791CD2A-D37D-4976-878C-0724ED669F09}"/>
                  </a:ext>
                </a:extLst>
              </p:cNvPr>
              <p:cNvCxnSpPr>
                <a:cxnSpLocks/>
              </p:cNvCxnSpPr>
              <p:nvPr/>
            </p:nvCxnSpPr>
            <p:spPr>
              <a:xfrm rot="10800000" flipH="1">
                <a:off x="9401025" y="3619722"/>
                <a:ext cx="12479" cy="152266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A6156D-D046-4DD2-86FA-82D21312278F}"/>
                  </a:ext>
                </a:extLst>
              </p:cNvPr>
              <p:cNvCxnSpPr>
                <a:cxnSpLocks/>
              </p:cNvCxnSpPr>
              <p:nvPr/>
            </p:nvCxnSpPr>
            <p:spPr>
              <a:xfrm rot="16200000" flipH="1">
                <a:off x="8202655" y="2571915"/>
                <a:ext cx="12479" cy="152266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5B39E72-8422-4DF0-B7D6-CCD8B15568F1}"/>
                  </a:ext>
                </a:extLst>
              </p:cNvPr>
              <p:cNvCxnSpPr>
                <a:cxnSpLocks/>
              </p:cNvCxnSpPr>
              <p:nvPr/>
            </p:nvCxnSpPr>
            <p:spPr>
              <a:xfrm flipH="1">
                <a:off x="9370456" y="1357126"/>
                <a:ext cx="12479" cy="152266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D91FD36-5D4A-47AE-B379-B486897AFC11}"/>
                  </a:ext>
                </a:extLst>
              </p:cNvPr>
              <p:cNvCxnSpPr>
                <a:cxnSpLocks/>
              </p:cNvCxnSpPr>
              <p:nvPr/>
            </p:nvCxnSpPr>
            <p:spPr>
              <a:xfrm rot="5400000" flipH="1">
                <a:off x="10548762" y="2549609"/>
                <a:ext cx="12479" cy="152266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6CE7D9A-6ED7-4369-A15F-080E53B9A7D5}"/>
                      </a:ext>
                    </a:extLst>
                  </p:cNvPr>
                  <p:cNvSpPr txBox="1"/>
                  <p:nvPr/>
                </p:nvSpPr>
                <p:spPr>
                  <a:xfrm>
                    <a:off x="8738519" y="1867647"/>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C55A11"/>
                              </a:solidFill>
                              <a:latin typeface="Cambria Math" panose="02040503050406030204" pitchFamily="18" charset="0"/>
                              <a:cs typeface="Futura Medium" panose="020B0602020204020303" pitchFamily="34" charset="-79"/>
                            </a:rPr>
                            <m:t>𝑭</m:t>
                          </m:r>
                        </m:oMath>
                      </m:oMathPara>
                    </a14:m>
                    <a:endParaRPr lang="en-AU" sz="2800" b="1" dirty="0">
                      <a:solidFill>
                        <a:srgbClr val="C55A11"/>
                      </a:solidFill>
                      <a:latin typeface="Century Gothic" panose="020B0502020202020204" pitchFamily="34" charset="0"/>
                      <a:cs typeface="Futura Medium" panose="020B0602020204020303" pitchFamily="34" charset="-79"/>
                    </a:endParaRPr>
                  </a:p>
                </p:txBody>
              </p:sp>
            </mc:Choice>
            <mc:Fallback xmlns="">
              <p:sp>
                <p:nvSpPr>
                  <p:cNvPr id="43" name="TextBox 42">
                    <a:extLst>
                      <a:ext uri="{FF2B5EF4-FFF2-40B4-BE49-F238E27FC236}">
                        <a16:creationId xmlns:a16="http://schemas.microsoft.com/office/drawing/2014/main" id="{56CE7D9A-6ED7-4369-A15F-080E53B9A7D5}"/>
                      </a:ext>
                    </a:extLst>
                  </p:cNvPr>
                  <p:cNvSpPr txBox="1">
                    <a:spLocks noRot="1" noChangeAspect="1" noMove="1" noResize="1" noEditPoints="1" noAdjustHandles="1" noChangeArrowheads="1" noChangeShapeType="1" noTextEdit="1"/>
                  </p:cNvSpPr>
                  <p:nvPr/>
                </p:nvSpPr>
                <p:spPr>
                  <a:xfrm>
                    <a:off x="8738519" y="1867647"/>
                    <a:ext cx="914400" cy="914400"/>
                  </a:xfrm>
                  <a:prstGeom prst="rect">
                    <a:avLst/>
                  </a:prstGeom>
                  <a:blipFill>
                    <a:blip r:embed="rId9"/>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CFD7B61-541A-4F22-BC58-8A4BC4C72191}"/>
                      </a:ext>
                    </a:extLst>
                  </p:cNvPr>
                  <p:cNvSpPr txBox="1"/>
                  <p:nvPr/>
                </p:nvSpPr>
                <p:spPr>
                  <a:xfrm>
                    <a:off x="9997935" y="2859982"/>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C55A11"/>
                              </a:solidFill>
                              <a:latin typeface="Cambria Math" panose="02040503050406030204" pitchFamily="18" charset="0"/>
                              <a:cs typeface="Futura Medium" panose="020B0602020204020303" pitchFamily="34" charset="-79"/>
                            </a:rPr>
                            <m:t>𝑭</m:t>
                          </m:r>
                        </m:oMath>
                      </m:oMathPara>
                    </a14:m>
                    <a:endParaRPr lang="en-AU" sz="2800" b="1" dirty="0">
                      <a:solidFill>
                        <a:srgbClr val="C55A11"/>
                      </a:solidFill>
                      <a:latin typeface="Century Gothic" panose="020B0502020202020204" pitchFamily="34" charset="0"/>
                      <a:cs typeface="Futura Medium" panose="020B0602020204020303" pitchFamily="34" charset="-79"/>
                    </a:endParaRPr>
                  </a:p>
                </p:txBody>
              </p:sp>
            </mc:Choice>
            <mc:Fallback xmlns="">
              <p:sp>
                <p:nvSpPr>
                  <p:cNvPr id="44" name="TextBox 43">
                    <a:extLst>
                      <a:ext uri="{FF2B5EF4-FFF2-40B4-BE49-F238E27FC236}">
                        <a16:creationId xmlns:a16="http://schemas.microsoft.com/office/drawing/2014/main" id="{3CFD7B61-541A-4F22-BC58-8A4BC4C72191}"/>
                      </a:ext>
                    </a:extLst>
                  </p:cNvPr>
                  <p:cNvSpPr txBox="1">
                    <a:spLocks noRot="1" noChangeAspect="1" noMove="1" noResize="1" noEditPoints="1" noAdjustHandles="1" noChangeArrowheads="1" noChangeShapeType="1" noTextEdit="1"/>
                  </p:cNvSpPr>
                  <p:nvPr/>
                </p:nvSpPr>
                <p:spPr>
                  <a:xfrm>
                    <a:off x="9997935" y="2859982"/>
                    <a:ext cx="914400" cy="914400"/>
                  </a:xfrm>
                  <a:prstGeom prst="rect">
                    <a:avLst/>
                  </a:prstGeom>
                  <a:blipFill>
                    <a:blip r:embed="rId10"/>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350E326-6E7E-40B7-A4DD-FB3C727D449B}"/>
                      </a:ext>
                    </a:extLst>
                  </p:cNvPr>
                  <p:cNvSpPr txBox="1"/>
                  <p:nvPr/>
                </p:nvSpPr>
                <p:spPr>
                  <a:xfrm>
                    <a:off x="8680406" y="4112730"/>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C55A11"/>
                              </a:solidFill>
                              <a:latin typeface="Cambria Math" panose="02040503050406030204" pitchFamily="18" charset="0"/>
                              <a:cs typeface="Futura Medium" panose="020B0602020204020303" pitchFamily="34" charset="-79"/>
                            </a:rPr>
                            <m:t>𝑭</m:t>
                          </m:r>
                        </m:oMath>
                      </m:oMathPara>
                    </a14:m>
                    <a:endParaRPr lang="en-AU" sz="2800" b="1" dirty="0">
                      <a:solidFill>
                        <a:srgbClr val="C55A11"/>
                      </a:solidFill>
                      <a:latin typeface="Century Gothic" panose="020B0502020202020204" pitchFamily="34" charset="0"/>
                      <a:cs typeface="Futura Medium" panose="020B0602020204020303" pitchFamily="34" charset="-79"/>
                    </a:endParaRPr>
                  </a:p>
                </p:txBody>
              </p:sp>
            </mc:Choice>
            <mc:Fallback xmlns="">
              <p:sp>
                <p:nvSpPr>
                  <p:cNvPr id="45" name="TextBox 44">
                    <a:extLst>
                      <a:ext uri="{FF2B5EF4-FFF2-40B4-BE49-F238E27FC236}">
                        <a16:creationId xmlns:a16="http://schemas.microsoft.com/office/drawing/2014/main" id="{1350E326-6E7E-40B7-A4DD-FB3C727D449B}"/>
                      </a:ext>
                    </a:extLst>
                  </p:cNvPr>
                  <p:cNvSpPr txBox="1">
                    <a:spLocks noRot="1" noChangeAspect="1" noMove="1" noResize="1" noEditPoints="1" noAdjustHandles="1" noChangeArrowheads="1" noChangeShapeType="1" noTextEdit="1"/>
                  </p:cNvSpPr>
                  <p:nvPr/>
                </p:nvSpPr>
                <p:spPr>
                  <a:xfrm>
                    <a:off x="8680406" y="4112730"/>
                    <a:ext cx="914400" cy="914400"/>
                  </a:xfrm>
                  <a:prstGeom prst="rect">
                    <a:avLst/>
                  </a:prstGeom>
                  <a:blipFill>
                    <a:blip r:embed="rId11"/>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994FE4B-805F-4FF7-B130-B61B1882C840}"/>
                      </a:ext>
                    </a:extLst>
                  </p:cNvPr>
                  <p:cNvSpPr txBox="1"/>
                  <p:nvPr/>
                </p:nvSpPr>
                <p:spPr>
                  <a:xfrm>
                    <a:off x="7796878" y="289005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C55A11"/>
                              </a:solidFill>
                              <a:latin typeface="Cambria Math" panose="02040503050406030204" pitchFamily="18" charset="0"/>
                              <a:cs typeface="Futura Medium" panose="020B0602020204020303" pitchFamily="34" charset="-79"/>
                            </a:rPr>
                            <m:t>𝑭</m:t>
                          </m:r>
                        </m:oMath>
                      </m:oMathPara>
                    </a14:m>
                    <a:endParaRPr lang="en-AU" sz="2800" b="1" dirty="0">
                      <a:solidFill>
                        <a:srgbClr val="C55A11"/>
                      </a:solidFill>
                      <a:latin typeface="Century Gothic" panose="020B0502020202020204" pitchFamily="34" charset="0"/>
                      <a:cs typeface="Futura Medium" panose="020B0602020204020303" pitchFamily="34" charset="-79"/>
                    </a:endParaRPr>
                  </a:p>
                </p:txBody>
              </p:sp>
            </mc:Choice>
            <mc:Fallback xmlns="">
              <p:sp>
                <p:nvSpPr>
                  <p:cNvPr id="46" name="TextBox 45">
                    <a:extLst>
                      <a:ext uri="{FF2B5EF4-FFF2-40B4-BE49-F238E27FC236}">
                        <a16:creationId xmlns:a16="http://schemas.microsoft.com/office/drawing/2014/main" id="{A994FE4B-805F-4FF7-B130-B61B1882C840}"/>
                      </a:ext>
                    </a:extLst>
                  </p:cNvPr>
                  <p:cNvSpPr txBox="1">
                    <a:spLocks noRot="1" noChangeAspect="1" noMove="1" noResize="1" noEditPoints="1" noAdjustHandles="1" noChangeArrowheads="1" noChangeShapeType="1" noTextEdit="1"/>
                  </p:cNvSpPr>
                  <p:nvPr/>
                </p:nvSpPr>
                <p:spPr>
                  <a:xfrm>
                    <a:off x="7796878" y="2890059"/>
                    <a:ext cx="914400" cy="914400"/>
                  </a:xfrm>
                  <a:prstGeom prst="rect">
                    <a:avLst/>
                  </a:prstGeom>
                  <a:blipFill>
                    <a:blip r:embed="rId12"/>
                    <a:stretch>
                      <a:fillRect/>
                    </a:stretch>
                  </a:blipFill>
                  <a:ln>
                    <a:noFill/>
                  </a:ln>
                </p:spPr>
                <p:txBody>
                  <a:bodyPr/>
                  <a:lstStyle/>
                  <a:p>
                    <a:r>
                      <a:rPr lang="en-AU">
                        <a:noFill/>
                      </a:rPr>
                      <a:t> </a:t>
                    </a:r>
                  </a:p>
                </p:txBody>
              </p:sp>
            </mc:Fallback>
          </mc:AlternateContent>
        </p:grpSp>
        <p:cxnSp>
          <p:nvCxnSpPr>
            <p:cNvPr id="34" name="Straight Arrow Connector 33">
              <a:extLst>
                <a:ext uri="{FF2B5EF4-FFF2-40B4-BE49-F238E27FC236}">
                  <a16:creationId xmlns:a16="http://schemas.microsoft.com/office/drawing/2014/main" id="{0A14017D-DABF-4B39-A95B-19EB43F6E087}"/>
                </a:ext>
              </a:extLst>
            </p:cNvPr>
            <p:cNvCxnSpPr>
              <a:cxnSpLocks/>
            </p:cNvCxnSpPr>
            <p:nvPr/>
          </p:nvCxnSpPr>
          <p:spPr>
            <a:xfrm rot="10800000" flipH="1">
              <a:off x="9541553" y="3617752"/>
              <a:ext cx="12479" cy="1522667"/>
            </a:xfrm>
            <a:prstGeom prst="straightConnector1">
              <a:avLst/>
            </a:prstGeom>
            <a:ln w="57150">
              <a:solidFill>
                <a:srgbClr val="6E407C"/>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39B00D4-CDDB-4465-9895-E1E7D20864EA}"/>
                </a:ext>
              </a:extLst>
            </p:cNvPr>
            <p:cNvCxnSpPr>
              <a:cxnSpLocks/>
            </p:cNvCxnSpPr>
            <p:nvPr/>
          </p:nvCxnSpPr>
          <p:spPr>
            <a:xfrm rot="16200000" flipH="1">
              <a:off x="8224433" y="2712447"/>
              <a:ext cx="12479" cy="1522667"/>
            </a:xfrm>
            <a:prstGeom prst="straightConnector1">
              <a:avLst/>
            </a:prstGeom>
            <a:ln w="57150">
              <a:solidFill>
                <a:srgbClr val="6E407C"/>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28B53A2-547C-464E-BD40-16283C045847}"/>
                </a:ext>
              </a:extLst>
            </p:cNvPr>
            <p:cNvCxnSpPr>
              <a:cxnSpLocks/>
            </p:cNvCxnSpPr>
            <p:nvPr/>
          </p:nvCxnSpPr>
          <p:spPr>
            <a:xfrm flipH="1">
              <a:off x="9510984" y="1355156"/>
              <a:ext cx="12479" cy="1522667"/>
            </a:xfrm>
            <a:prstGeom prst="straightConnector1">
              <a:avLst/>
            </a:prstGeom>
            <a:ln w="57150">
              <a:solidFill>
                <a:srgbClr val="6E407C"/>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78769FD-0CF8-484F-8C63-FCCDB22021BE}"/>
                </a:ext>
              </a:extLst>
            </p:cNvPr>
            <p:cNvCxnSpPr>
              <a:cxnSpLocks/>
            </p:cNvCxnSpPr>
            <p:nvPr/>
          </p:nvCxnSpPr>
          <p:spPr>
            <a:xfrm rot="5400000" flipH="1">
              <a:off x="10570540" y="2690141"/>
              <a:ext cx="12479" cy="1522667"/>
            </a:xfrm>
            <a:prstGeom prst="straightConnector1">
              <a:avLst/>
            </a:prstGeom>
            <a:ln w="57150">
              <a:solidFill>
                <a:srgbClr val="6E407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37A484E-E3F2-48C1-A2D3-4E35AD9645C2}"/>
                    </a:ext>
                  </a:extLst>
                </p:cNvPr>
                <p:cNvSpPr txBox="1"/>
                <p:nvPr/>
              </p:nvSpPr>
              <p:spPr>
                <a:xfrm>
                  <a:off x="9316003" y="1829396"/>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6E407C"/>
                            </a:solidFill>
                            <a:latin typeface="Cambria Math" panose="02040503050406030204" pitchFamily="18" charset="0"/>
                            <a:cs typeface="Futura Medium" panose="020B0602020204020303" pitchFamily="34" charset="-79"/>
                          </a:rPr>
                          <m:t>𝒂</m:t>
                        </m:r>
                      </m:oMath>
                    </m:oMathPara>
                  </a14:m>
                  <a:endParaRPr lang="en-AU" sz="2800" b="1" dirty="0">
                    <a:solidFill>
                      <a:srgbClr val="6E407C"/>
                    </a:solidFill>
                    <a:latin typeface="Century Gothic" panose="020B0502020202020204" pitchFamily="34" charset="0"/>
                    <a:cs typeface="Futura Medium" panose="020B0602020204020303" pitchFamily="34" charset="-79"/>
                  </a:endParaRPr>
                </a:p>
              </p:txBody>
            </p:sp>
          </mc:Choice>
          <mc:Fallback xmlns="">
            <p:sp>
              <p:nvSpPr>
                <p:cNvPr id="39" name="TextBox 38">
                  <a:extLst>
                    <a:ext uri="{FF2B5EF4-FFF2-40B4-BE49-F238E27FC236}">
                      <a16:creationId xmlns:a16="http://schemas.microsoft.com/office/drawing/2014/main" id="{937A484E-E3F2-48C1-A2D3-4E35AD9645C2}"/>
                    </a:ext>
                  </a:extLst>
                </p:cNvPr>
                <p:cNvSpPr txBox="1">
                  <a:spLocks noRot="1" noChangeAspect="1" noMove="1" noResize="1" noEditPoints="1" noAdjustHandles="1" noChangeArrowheads="1" noChangeShapeType="1" noTextEdit="1"/>
                </p:cNvSpPr>
                <p:nvPr/>
              </p:nvSpPr>
              <p:spPr>
                <a:xfrm>
                  <a:off x="9316003" y="1829396"/>
                  <a:ext cx="914400" cy="914400"/>
                </a:xfrm>
                <a:prstGeom prst="rect">
                  <a:avLst/>
                </a:prstGeom>
                <a:blipFill>
                  <a:blip r:embed="rId13"/>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65D72D7-A87E-4F2E-BD81-642980F3B890}"/>
                    </a:ext>
                  </a:extLst>
                </p:cNvPr>
                <p:cNvSpPr txBox="1"/>
                <p:nvPr/>
              </p:nvSpPr>
              <p:spPr>
                <a:xfrm>
                  <a:off x="9996089" y="3427831"/>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6E407C"/>
                            </a:solidFill>
                            <a:latin typeface="Cambria Math" panose="02040503050406030204" pitchFamily="18" charset="0"/>
                            <a:cs typeface="Futura Medium" panose="020B0602020204020303" pitchFamily="34" charset="-79"/>
                          </a:rPr>
                          <m:t>𝒂</m:t>
                        </m:r>
                      </m:oMath>
                    </m:oMathPara>
                  </a14:m>
                  <a:endParaRPr lang="en-AU" sz="2800" b="1" dirty="0">
                    <a:solidFill>
                      <a:srgbClr val="6E407C"/>
                    </a:solidFill>
                    <a:latin typeface="Century Gothic" panose="020B0502020202020204" pitchFamily="34" charset="0"/>
                    <a:cs typeface="Futura Medium" panose="020B0602020204020303" pitchFamily="34" charset="-79"/>
                  </a:endParaRPr>
                </a:p>
              </p:txBody>
            </p:sp>
          </mc:Choice>
          <mc:Fallback xmlns="">
            <p:sp>
              <p:nvSpPr>
                <p:cNvPr id="47" name="TextBox 46">
                  <a:extLst>
                    <a:ext uri="{FF2B5EF4-FFF2-40B4-BE49-F238E27FC236}">
                      <a16:creationId xmlns:a16="http://schemas.microsoft.com/office/drawing/2014/main" id="{965D72D7-A87E-4F2E-BD81-642980F3B890}"/>
                    </a:ext>
                  </a:extLst>
                </p:cNvPr>
                <p:cNvSpPr txBox="1">
                  <a:spLocks noRot="1" noChangeAspect="1" noMove="1" noResize="1" noEditPoints="1" noAdjustHandles="1" noChangeArrowheads="1" noChangeShapeType="1" noTextEdit="1"/>
                </p:cNvSpPr>
                <p:nvPr/>
              </p:nvSpPr>
              <p:spPr>
                <a:xfrm>
                  <a:off x="9996089" y="3427831"/>
                  <a:ext cx="914400" cy="914400"/>
                </a:xfrm>
                <a:prstGeom prst="rect">
                  <a:avLst/>
                </a:prstGeom>
                <a:blipFill>
                  <a:blip r:embed="rId14"/>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7A37190-BA0B-417F-93C8-73B27EA76AAF}"/>
                    </a:ext>
                  </a:extLst>
                </p:cNvPr>
                <p:cNvSpPr txBox="1"/>
                <p:nvPr/>
              </p:nvSpPr>
              <p:spPr>
                <a:xfrm>
                  <a:off x="9331015" y="4101664"/>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6E407C"/>
                            </a:solidFill>
                            <a:latin typeface="Cambria Math" panose="02040503050406030204" pitchFamily="18" charset="0"/>
                            <a:cs typeface="Futura Medium" panose="020B0602020204020303" pitchFamily="34" charset="-79"/>
                          </a:rPr>
                          <m:t>𝒂</m:t>
                        </m:r>
                      </m:oMath>
                    </m:oMathPara>
                  </a14:m>
                  <a:endParaRPr lang="en-AU" sz="2800" b="1" dirty="0">
                    <a:solidFill>
                      <a:srgbClr val="6E407C"/>
                    </a:solidFill>
                    <a:latin typeface="Century Gothic" panose="020B0502020202020204" pitchFamily="34" charset="0"/>
                    <a:cs typeface="Futura Medium" panose="020B0602020204020303" pitchFamily="34" charset="-79"/>
                  </a:endParaRPr>
                </a:p>
              </p:txBody>
            </p:sp>
          </mc:Choice>
          <mc:Fallback xmlns="">
            <p:sp>
              <p:nvSpPr>
                <p:cNvPr id="48" name="TextBox 47">
                  <a:extLst>
                    <a:ext uri="{FF2B5EF4-FFF2-40B4-BE49-F238E27FC236}">
                      <a16:creationId xmlns:a16="http://schemas.microsoft.com/office/drawing/2014/main" id="{07A37190-BA0B-417F-93C8-73B27EA76AAF}"/>
                    </a:ext>
                  </a:extLst>
                </p:cNvPr>
                <p:cNvSpPr txBox="1">
                  <a:spLocks noRot="1" noChangeAspect="1" noMove="1" noResize="1" noEditPoints="1" noAdjustHandles="1" noChangeArrowheads="1" noChangeShapeType="1" noTextEdit="1"/>
                </p:cNvSpPr>
                <p:nvPr/>
              </p:nvSpPr>
              <p:spPr>
                <a:xfrm>
                  <a:off x="9331015" y="4101664"/>
                  <a:ext cx="914400" cy="914400"/>
                </a:xfrm>
                <a:prstGeom prst="rect">
                  <a:avLst/>
                </a:prstGeom>
                <a:blipFill>
                  <a:blip r:embed="rId15"/>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824F6FB-EC94-44C9-8AD1-6E21E2D23FE0}"/>
                    </a:ext>
                  </a:extLst>
                </p:cNvPr>
                <p:cNvSpPr txBox="1"/>
                <p:nvPr/>
              </p:nvSpPr>
              <p:spPr>
                <a:xfrm>
                  <a:off x="7783031" y="3458102"/>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6E407C"/>
                            </a:solidFill>
                            <a:latin typeface="Cambria Math" panose="02040503050406030204" pitchFamily="18" charset="0"/>
                            <a:cs typeface="Futura Medium" panose="020B0602020204020303" pitchFamily="34" charset="-79"/>
                          </a:rPr>
                          <m:t>𝒂</m:t>
                        </m:r>
                      </m:oMath>
                    </m:oMathPara>
                  </a14:m>
                  <a:endParaRPr lang="en-AU" sz="2800" b="1" dirty="0">
                    <a:solidFill>
                      <a:srgbClr val="6E407C"/>
                    </a:solidFill>
                    <a:latin typeface="Century Gothic" panose="020B0502020202020204" pitchFamily="34" charset="0"/>
                    <a:cs typeface="Futura Medium" panose="020B0602020204020303" pitchFamily="34" charset="-79"/>
                  </a:endParaRPr>
                </a:p>
              </p:txBody>
            </p:sp>
          </mc:Choice>
          <mc:Fallback xmlns="">
            <p:sp>
              <p:nvSpPr>
                <p:cNvPr id="49" name="TextBox 48">
                  <a:extLst>
                    <a:ext uri="{FF2B5EF4-FFF2-40B4-BE49-F238E27FC236}">
                      <a16:creationId xmlns:a16="http://schemas.microsoft.com/office/drawing/2014/main" id="{4824F6FB-EC94-44C9-8AD1-6E21E2D23FE0}"/>
                    </a:ext>
                  </a:extLst>
                </p:cNvPr>
                <p:cNvSpPr txBox="1">
                  <a:spLocks noRot="1" noChangeAspect="1" noMove="1" noResize="1" noEditPoints="1" noAdjustHandles="1" noChangeArrowheads="1" noChangeShapeType="1" noTextEdit="1"/>
                </p:cNvSpPr>
                <p:nvPr/>
              </p:nvSpPr>
              <p:spPr>
                <a:xfrm>
                  <a:off x="7783031" y="3458102"/>
                  <a:ext cx="914400" cy="914400"/>
                </a:xfrm>
                <a:prstGeom prst="rect">
                  <a:avLst/>
                </a:prstGeom>
                <a:blipFill>
                  <a:blip r:embed="rId16"/>
                  <a:stretch>
                    <a:fillRect/>
                  </a:stretch>
                </a:blipFill>
                <a:ln>
                  <a:noFill/>
                </a:ln>
              </p:spPr>
              <p:txBody>
                <a:bodyPr/>
                <a:lstStyle/>
                <a:p>
                  <a:r>
                    <a:rPr lang="en-AU">
                      <a:noFill/>
                    </a:rPr>
                    <a:t> </a:t>
                  </a:r>
                </a:p>
              </p:txBody>
            </p:sp>
          </mc:Fallback>
        </mc:AlternateContent>
      </p:grpSp>
    </p:spTree>
    <p:extLst>
      <p:ext uri="{BB962C8B-B14F-4D97-AF65-F5344CB8AC3E}">
        <p14:creationId xmlns:p14="http://schemas.microsoft.com/office/powerpoint/2010/main" val="783922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circular motion</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600" b="0" i="0" dirty="0">
                <a:solidFill>
                  <a:srgbClr val="000303"/>
                </a:solidFill>
                <a:effectLst/>
                <a:latin typeface="+mj-lt"/>
              </a:rPr>
              <a:t>I can calculate velocity, acceleration and force for:</a:t>
            </a:r>
          </a:p>
          <a:p>
            <a:pPr marL="857250" lvl="1" indent="-171450"/>
            <a:r>
              <a:rPr lang="en-US" sz="1600" b="1" i="0" dirty="0">
                <a:solidFill>
                  <a:srgbClr val="000303"/>
                </a:solidFill>
                <a:effectLst/>
                <a:latin typeface="+mj-lt"/>
              </a:rPr>
              <a:t>Conical pendulums</a:t>
            </a:r>
          </a:p>
          <a:p>
            <a:pPr marL="857250" lvl="1" indent="-171450"/>
            <a:r>
              <a:rPr lang="en-US" sz="1600" i="0" dirty="0">
                <a:solidFill>
                  <a:srgbClr val="000303"/>
                </a:solidFill>
                <a:effectLst/>
                <a:latin typeface="+mj-lt"/>
              </a:rPr>
              <a:t>Objects </a:t>
            </a:r>
            <a:r>
              <a:rPr lang="en-US" sz="1600" dirty="0">
                <a:solidFill>
                  <a:srgbClr val="000303"/>
                </a:solidFill>
                <a:latin typeface="+mj-lt"/>
              </a:rPr>
              <a:t>on banked tracks</a:t>
            </a:r>
          </a:p>
          <a:p>
            <a:pPr marL="857250" lvl="1" indent="-171450"/>
            <a:r>
              <a:rPr lang="en-US" sz="1600" b="0" i="0" dirty="0">
                <a:solidFill>
                  <a:srgbClr val="000303"/>
                </a:solidFill>
                <a:effectLst/>
                <a:latin typeface="+mj-lt"/>
              </a:rPr>
              <a:t>Objects leaning</a:t>
            </a:r>
          </a:p>
        </p:txBody>
      </p:sp>
    </p:spTree>
    <p:extLst>
      <p:ext uri="{BB962C8B-B14F-4D97-AF65-F5344CB8AC3E}">
        <p14:creationId xmlns:p14="http://schemas.microsoft.com/office/powerpoint/2010/main" val="2311140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 conical pendulum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3" name="Picture 2">
            <a:extLst>
              <a:ext uri="{FF2B5EF4-FFF2-40B4-BE49-F238E27FC236}">
                <a16:creationId xmlns:a16="http://schemas.microsoft.com/office/drawing/2014/main" id="{B5CB0968-285E-4D0F-8216-8EB37EAC5D4B}"/>
              </a:ext>
            </a:extLst>
          </p:cNvPr>
          <p:cNvPicPr>
            <a:picLocks noChangeAspect="1"/>
          </p:cNvPicPr>
          <p:nvPr/>
        </p:nvPicPr>
        <p:blipFill>
          <a:blip r:embed="rId4"/>
          <a:stretch>
            <a:fillRect/>
          </a:stretch>
        </p:blipFill>
        <p:spPr>
          <a:xfrm>
            <a:off x="1374416" y="1308667"/>
            <a:ext cx="5024251" cy="4596655"/>
          </a:xfrm>
          <a:prstGeom prst="rect">
            <a:avLst/>
          </a:prstGeom>
        </p:spPr>
      </p:pic>
      <p:pic>
        <p:nvPicPr>
          <p:cNvPr id="10" name="Online Media 9" title="Conical Pendulum">
            <a:hlinkClick r:id="" action="ppaction://media"/>
            <a:extLst>
              <a:ext uri="{FF2B5EF4-FFF2-40B4-BE49-F238E27FC236}">
                <a16:creationId xmlns:a16="http://schemas.microsoft.com/office/drawing/2014/main" id="{831559A5-6434-4863-B0D4-A914A6FAFBC6}"/>
              </a:ext>
            </a:extLst>
          </p:cNvPr>
          <p:cNvPicPr>
            <a:picLocks noRot="1" noChangeAspect="1"/>
          </p:cNvPicPr>
          <p:nvPr>
            <a:videoFile r:link="rId1"/>
          </p:nvPr>
        </p:nvPicPr>
        <p:blipFill>
          <a:blip r:embed="rId5"/>
          <a:stretch>
            <a:fillRect/>
          </a:stretch>
        </p:blipFill>
        <p:spPr>
          <a:xfrm>
            <a:off x="7950212" y="614010"/>
            <a:ext cx="4110611" cy="3082958"/>
          </a:xfrm>
          <a:prstGeom prst="rect">
            <a:avLst/>
          </a:prstGeom>
        </p:spPr>
      </p:pic>
      <p:grpSp>
        <p:nvGrpSpPr>
          <p:cNvPr id="15" name="Group 14">
            <a:extLst>
              <a:ext uri="{FF2B5EF4-FFF2-40B4-BE49-F238E27FC236}">
                <a16:creationId xmlns:a16="http://schemas.microsoft.com/office/drawing/2014/main" id="{B1E78696-15F4-4B05-8EDF-8C75187605AF}"/>
              </a:ext>
            </a:extLst>
          </p:cNvPr>
          <p:cNvGrpSpPr/>
          <p:nvPr/>
        </p:nvGrpSpPr>
        <p:grpSpPr>
          <a:xfrm>
            <a:off x="4053322" y="3606994"/>
            <a:ext cx="2793993" cy="2761401"/>
            <a:chOff x="4053322" y="3606994"/>
            <a:chExt cx="2793993" cy="2761401"/>
          </a:xfrm>
        </p:grpSpPr>
        <p:cxnSp>
          <p:nvCxnSpPr>
            <p:cNvPr id="7" name="Straight Arrow Connector 6">
              <a:extLst>
                <a:ext uri="{FF2B5EF4-FFF2-40B4-BE49-F238E27FC236}">
                  <a16:creationId xmlns:a16="http://schemas.microsoft.com/office/drawing/2014/main" id="{3E5F6DBF-EEDD-46F4-B92F-5F2C4BFB67C7}"/>
                </a:ext>
              </a:extLst>
            </p:cNvPr>
            <p:cNvCxnSpPr>
              <a:cxnSpLocks/>
            </p:cNvCxnSpPr>
            <p:nvPr/>
          </p:nvCxnSpPr>
          <p:spPr>
            <a:xfrm flipH="1" flipV="1">
              <a:off x="4814888" y="3871913"/>
              <a:ext cx="556826" cy="85113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1A7D8E8-931D-4CB1-998C-DEADB37CCDAC}"/>
                </a:ext>
              </a:extLst>
            </p:cNvPr>
            <p:cNvSpPr/>
            <p:nvPr/>
          </p:nvSpPr>
          <p:spPr>
            <a:xfrm>
              <a:off x="4053322" y="3606994"/>
              <a:ext cx="897297" cy="8511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solidFill>
                    <a:schemeClr val="accent1">
                      <a:lumMod val="50000"/>
                    </a:schemeClr>
                  </a:solidFill>
                </a:rPr>
                <a:t>F</a:t>
              </a:r>
              <a:r>
                <a:rPr lang="en-AU" sz="3600" b="1" baseline="-25000" dirty="0">
                  <a:solidFill>
                    <a:schemeClr val="accent1">
                      <a:lumMod val="50000"/>
                    </a:schemeClr>
                  </a:solidFill>
                </a:rPr>
                <a:t>T</a:t>
              </a:r>
              <a:endParaRPr lang="en-AU" sz="3600" b="1" dirty="0">
                <a:solidFill>
                  <a:schemeClr val="accent1">
                    <a:lumMod val="50000"/>
                  </a:schemeClr>
                </a:solidFill>
              </a:endParaRPr>
            </a:p>
          </p:txBody>
        </p:sp>
        <p:sp>
          <p:nvSpPr>
            <p:cNvPr id="19" name="Rectangle 18">
              <a:extLst>
                <a:ext uri="{FF2B5EF4-FFF2-40B4-BE49-F238E27FC236}">
                  <a16:creationId xmlns:a16="http://schemas.microsoft.com/office/drawing/2014/main" id="{DB7B0A01-A701-4E49-B94A-B6DB991D6F01}"/>
                </a:ext>
              </a:extLst>
            </p:cNvPr>
            <p:cNvSpPr/>
            <p:nvPr/>
          </p:nvSpPr>
          <p:spPr>
            <a:xfrm>
              <a:off x="5950018" y="5517257"/>
              <a:ext cx="897297" cy="8511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chemeClr val="accent1">
                      <a:lumMod val="50000"/>
                    </a:schemeClr>
                  </a:solidFill>
                </a:rPr>
                <a:t>F</a:t>
              </a:r>
              <a:r>
                <a:rPr lang="en-AU" sz="3600" b="1" baseline="-25000" dirty="0" err="1">
                  <a:solidFill>
                    <a:schemeClr val="accent1">
                      <a:lumMod val="50000"/>
                    </a:schemeClr>
                  </a:solidFill>
                </a:rPr>
                <a:t>g</a:t>
              </a:r>
              <a:endParaRPr lang="en-AU" sz="3600" b="1" dirty="0">
                <a:solidFill>
                  <a:schemeClr val="accent1">
                    <a:lumMod val="50000"/>
                  </a:schemeClr>
                </a:solidFill>
              </a:endParaRPr>
            </a:p>
          </p:txBody>
        </p:sp>
        <p:cxnSp>
          <p:nvCxnSpPr>
            <p:cNvPr id="20" name="Straight Arrow Connector 19">
              <a:extLst>
                <a:ext uri="{FF2B5EF4-FFF2-40B4-BE49-F238E27FC236}">
                  <a16:creationId xmlns:a16="http://schemas.microsoft.com/office/drawing/2014/main" id="{F1440E49-1341-48D2-B56C-8FBEA0E594BD}"/>
                </a:ext>
              </a:extLst>
            </p:cNvPr>
            <p:cNvCxnSpPr>
              <a:cxnSpLocks/>
            </p:cNvCxnSpPr>
            <p:nvPr/>
          </p:nvCxnSpPr>
          <p:spPr>
            <a:xfrm>
              <a:off x="5685827" y="5176412"/>
              <a:ext cx="0" cy="110880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87687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10"/>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10"/>
                </p:tgtEl>
              </p:cMediaNode>
            </p:video>
            <p:seq concurrent="1" nextAc="seek">
              <p:cTn id="16" restart="whenNotActive" fill="hold" evtFilter="cancelBubble" nodeType="interactiveSeq">
                <p:stCondLst>
                  <p:cond evt="onClick" delay="0">
                    <p:tgtEl>
                      <p:spTgt spid="10"/>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0"/>
                                        </p:tgtEl>
                                      </p:cBhvr>
                                    </p:cmd>
                                  </p:childTnLst>
                                </p:cTn>
                              </p:par>
                            </p:childTnLst>
                          </p:cTn>
                        </p:par>
                      </p:childTnLst>
                    </p:cTn>
                  </p:par>
                </p:childTnLst>
              </p:cTn>
              <p:nextCondLst>
                <p:cond evt="onClick" delay="0">
                  <p:tgtEl>
                    <p:spTgt spid="10"/>
                  </p:tgtEl>
                </p:cond>
              </p:nextCondLst>
            </p:seq>
          </p:childTnLst>
        </p:cTn>
      </p:par>
    </p:tnLst>
    <p:bldLst>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 conical pendulum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3" name="Picture 2">
            <a:extLst>
              <a:ext uri="{FF2B5EF4-FFF2-40B4-BE49-F238E27FC236}">
                <a16:creationId xmlns:a16="http://schemas.microsoft.com/office/drawing/2014/main" id="{B5CB0968-285E-4D0F-8216-8EB37EAC5D4B}"/>
              </a:ext>
            </a:extLst>
          </p:cNvPr>
          <p:cNvPicPr>
            <a:picLocks noChangeAspect="1"/>
          </p:cNvPicPr>
          <p:nvPr/>
        </p:nvPicPr>
        <p:blipFill>
          <a:blip r:embed="rId3"/>
          <a:stretch>
            <a:fillRect/>
          </a:stretch>
        </p:blipFill>
        <p:spPr>
          <a:xfrm>
            <a:off x="98508" y="1012379"/>
            <a:ext cx="5024251" cy="4596655"/>
          </a:xfrm>
          <a:prstGeom prst="rect">
            <a:avLst/>
          </a:prstGeom>
        </p:spPr>
      </p:pic>
      <p:sp>
        <p:nvSpPr>
          <p:cNvPr id="14" name="Text Placeholder 3">
            <a:extLst>
              <a:ext uri="{FF2B5EF4-FFF2-40B4-BE49-F238E27FC236}">
                <a16:creationId xmlns:a16="http://schemas.microsoft.com/office/drawing/2014/main" id="{B30FC390-605B-46C9-8EFF-4AE05678DDE1}"/>
              </a:ext>
            </a:extLst>
          </p:cNvPr>
          <p:cNvSpPr txBox="1">
            <a:spLocks/>
          </p:cNvSpPr>
          <p:nvPr/>
        </p:nvSpPr>
        <p:spPr>
          <a:xfrm>
            <a:off x="4191112" y="647563"/>
            <a:ext cx="7608893" cy="36481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A ball of mass 150g is swinging freely in a horizontal circular path. The cord is 1.50m long and is at an angle of 60.0</a:t>
            </a:r>
            <a:r>
              <a:rPr lang="en-AU" sz="2000" b="0" baseline="30000" dirty="0"/>
              <a:t>o</a:t>
            </a:r>
            <a:r>
              <a:rPr lang="en-AU" sz="2000" b="0" dirty="0"/>
              <a:t> to the vertical.</a:t>
            </a:r>
          </a:p>
          <a:p>
            <a:pPr marL="514350" indent="-514350">
              <a:buAutoNum type="alphaLcParenR"/>
            </a:pPr>
            <a:r>
              <a:rPr lang="en-AU" sz="2000" b="0" dirty="0"/>
              <a:t>Calculate the radius of the ball’s circular path</a:t>
            </a:r>
          </a:p>
          <a:p>
            <a:pPr marL="514350" indent="-514350">
              <a:buAutoNum type="alphaLcParenR"/>
            </a:pPr>
            <a:r>
              <a:rPr lang="en-AU" sz="2000" b="0" dirty="0"/>
              <a:t>Determine the net force acting on the ball</a:t>
            </a:r>
          </a:p>
          <a:p>
            <a:pPr marL="514350" indent="-514350">
              <a:buAutoNum type="alphaLcParenR"/>
            </a:pPr>
            <a:r>
              <a:rPr lang="en-AU" sz="2000" b="0" dirty="0"/>
              <a:t>Calculate the size of the tensile force in the cord.</a:t>
            </a:r>
          </a:p>
        </p:txBody>
      </p:sp>
    </p:spTree>
    <p:extLst>
      <p:ext uri="{BB962C8B-B14F-4D97-AF65-F5344CB8AC3E}">
        <p14:creationId xmlns:p14="http://schemas.microsoft.com/office/powerpoint/2010/main" val="398863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 conical pendulum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4" name="Text Placeholder 3">
            <a:extLst>
              <a:ext uri="{FF2B5EF4-FFF2-40B4-BE49-F238E27FC236}">
                <a16:creationId xmlns:a16="http://schemas.microsoft.com/office/drawing/2014/main" id="{B30FC390-605B-46C9-8EFF-4AE05678DDE1}"/>
              </a:ext>
            </a:extLst>
          </p:cNvPr>
          <p:cNvSpPr txBox="1">
            <a:spLocks/>
          </p:cNvSpPr>
          <p:nvPr/>
        </p:nvSpPr>
        <p:spPr>
          <a:xfrm>
            <a:off x="270306" y="1032912"/>
            <a:ext cx="11529698" cy="36481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A backyard game of totem-tennis has a 200g ball attached to a pole via a 2.10m long string. The ball swings in a horizontal plane around the pole so it has a radius of 1.30m.</a:t>
            </a:r>
          </a:p>
          <a:p>
            <a:r>
              <a:rPr lang="en-AU" sz="2000" b="0" dirty="0"/>
              <a:t>Calculate:</a:t>
            </a:r>
          </a:p>
          <a:p>
            <a:pPr marL="514350" indent="-514350">
              <a:buAutoNum type="alphaLcParenR"/>
            </a:pPr>
            <a:r>
              <a:rPr lang="en-AU" sz="2000" b="0" dirty="0"/>
              <a:t>The tension in the string,</a:t>
            </a:r>
          </a:p>
          <a:p>
            <a:pPr marL="514350" indent="-514350">
              <a:buAutoNum type="alphaLcParenR"/>
            </a:pPr>
            <a:r>
              <a:rPr lang="en-AU" sz="2000" b="0" dirty="0"/>
              <a:t>How long it takes the ball to complete one rotation of the pole.</a:t>
            </a:r>
          </a:p>
        </p:txBody>
      </p:sp>
      <p:pic>
        <p:nvPicPr>
          <p:cNvPr id="6" name="Picture 5">
            <a:extLst>
              <a:ext uri="{FF2B5EF4-FFF2-40B4-BE49-F238E27FC236}">
                <a16:creationId xmlns:a16="http://schemas.microsoft.com/office/drawing/2014/main" id="{9E0DD9D5-5321-4217-8794-0485E6C73116}"/>
              </a:ext>
            </a:extLst>
          </p:cNvPr>
          <p:cNvPicPr>
            <a:picLocks noChangeAspect="1"/>
          </p:cNvPicPr>
          <p:nvPr/>
        </p:nvPicPr>
        <p:blipFill>
          <a:blip r:embed="rId3"/>
          <a:stretch>
            <a:fillRect/>
          </a:stretch>
        </p:blipFill>
        <p:spPr>
          <a:xfrm>
            <a:off x="6018510" y="4719"/>
            <a:ext cx="6172200" cy="590550"/>
          </a:xfrm>
          <a:prstGeom prst="rect">
            <a:avLst/>
          </a:prstGeom>
        </p:spPr>
      </p:pic>
    </p:spTree>
    <p:extLst>
      <p:ext uri="{BB962C8B-B14F-4D97-AF65-F5344CB8AC3E}">
        <p14:creationId xmlns:p14="http://schemas.microsoft.com/office/powerpoint/2010/main" val="2209367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circular motion</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600" b="0" i="0" dirty="0">
                <a:solidFill>
                  <a:srgbClr val="000303"/>
                </a:solidFill>
                <a:effectLst/>
                <a:latin typeface="+mj-lt"/>
              </a:rPr>
              <a:t>I can calculate velocity, acceleration and force for:</a:t>
            </a:r>
          </a:p>
          <a:p>
            <a:pPr marL="857250" lvl="1" indent="-171450"/>
            <a:r>
              <a:rPr lang="en-US" sz="1600" i="0" dirty="0">
                <a:solidFill>
                  <a:srgbClr val="000303"/>
                </a:solidFill>
                <a:effectLst/>
                <a:latin typeface="+mj-lt"/>
              </a:rPr>
              <a:t>Conical pendulums</a:t>
            </a:r>
          </a:p>
          <a:p>
            <a:pPr marL="857250" lvl="1" indent="-171450"/>
            <a:r>
              <a:rPr lang="en-US" sz="1600" b="1" i="0" dirty="0">
                <a:solidFill>
                  <a:srgbClr val="000303"/>
                </a:solidFill>
                <a:effectLst/>
                <a:latin typeface="+mj-lt"/>
              </a:rPr>
              <a:t>Objects </a:t>
            </a:r>
            <a:r>
              <a:rPr lang="en-US" sz="1600" b="1" dirty="0">
                <a:solidFill>
                  <a:srgbClr val="000303"/>
                </a:solidFill>
                <a:latin typeface="+mj-lt"/>
              </a:rPr>
              <a:t>on banked tracks</a:t>
            </a:r>
          </a:p>
          <a:p>
            <a:pPr marL="857250" lvl="1" indent="-171450"/>
            <a:r>
              <a:rPr lang="en-US" sz="1600" b="0" i="0" dirty="0">
                <a:solidFill>
                  <a:srgbClr val="000303"/>
                </a:solidFill>
                <a:effectLst/>
                <a:latin typeface="+mj-lt"/>
              </a:rPr>
              <a:t>Objects leaning</a:t>
            </a:r>
          </a:p>
        </p:txBody>
      </p:sp>
    </p:spTree>
    <p:extLst>
      <p:ext uri="{BB962C8B-B14F-4D97-AF65-F5344CB8AC3E}">
        <p14:creationId xmlns:p14="http://schemas.microsoft.com/office/powerpoint/2010/main" val="1469111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7" name="Online Media 6" title="Women's Keirin Finals - 2018 UCI Track Cycling World Championships">
            <a:hlinkClick r:id="" action="ppaction://media"/>
            <a:extLst>
              <a:ext uri="{FF2B5EF4-FFF2-40B4-BE49-F238E27FC236}">
                <a16:creationId xmlns:a16="http://schemas.microsoft.com/office/drawing/2014/main" id="{BA5582B1-E17F-45A5-BAAB-22B5E9F7993E}"/>
              </a:ext>
            </a:extLst>
          </p:cNvPr>
          <p:cNvPicPr>
            <a:picLocks noRot="1" noChangeAspect="1"/>
          </p:cNvPicPr>
          <p:nvPr>
            <a:videoFile r:link="rId1"/>
          </p:nvPr>
        </p:nvPicPr>
        <p:blipFill>
          <a:blip r:embed="rId4"/>
          <a:stretch>
            <a:fillRect/>
          </a:stretch>
        </p:blipFill>
        <p:spPr>
          <a:xfrm>
            <a:off x="948456" y="595269"/>
            <a:ext cx="10509954" cy="5938124"/>
          </a:xfrm>
          <a:prstGeom prst="rect">
            <a:avLst/>
          </a:prstGeom>
        </p:spPr>
      </p:pic>
    </p:spTree>
    <p:extLst>
      <p:ext uri="{BB962C8B-B14F-4D97-AF65-F5344CB8AC3E}">
        <p14:creationId xmlns:p14="http://schemas.microsoft.com/office/powerpoint/2010/main" val="2113707504"/>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on banked tracks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1931" y="991238"/>
            <a:ext cx="1131295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Banked curves are surfaces that slope to the outer edge of a curve. The slope helps objects achieve the required centripetal force to turn the curve safely.</a:t>
            </a:r>
          </a:p>
          <a:p>
            <a:r>
              <a:rPr lang="en-AU" sz="2400" b="0" dirty="0"/>
              <a:t>They exist in cycling, racing and on normal roads.</a:t>
            </a:r>
          </a:p>
          <a:p>
            <a:r>
              <a:rPr lang="en-AU" sz="2400" b="0" dirty="0"/>
              <a:t>In an optimal scenario, no friction is required to make the turn.</a:t>
            </a:r>
          </a:p>
          <a:p>
            <a:endParaRPr lang="en-AU" sz="3600" b="0" dirty="0"/>
          </a:p>
        </p:txBody>
      </p:sp>
      <p:pic>
        <p:nvPicPr>
          <p:cNvPr id="8" name="Picture 7">
            <a:extLst>
              <a:ext uri="{FF2B5EF4-FFF2-40B4-BE49-F238E27FC236}">
                <a16:creationId xmlns:a16="http://schemas.microsoft.com/office/drawing/2014/main" id="{C69B8518-F439-46DA-B9BA-94C28A0A67EB}"/>
              </a:ext>
            </a:extLst>
          </p:cNvPr>
          <p:cNvPicPr>
            <a:picLocks noChangeAspect="1"/>
          </p:cNvPicPr>
          <p:nvPr/>
        </p:nvPicPr>
        <p:blipFill>
          <a:blip r:embed="rId3"/>
          <a:stretch>
            <a:fillRect/>
          </a:stretch>
        </p:blipFill>
        <p:spPr>
          <a:xfrm>
            <a:off x="488117" y="3092152"/>
            <a:ext cx="4870623" cy="3158947"/>
          </a:xfrm>
          <a:prstGeom prst="rect">
            <a:avLst/>
          </a:prstGeom>
        </p:spPr>
      </p:pic>
      <p:sp>
        <p:nvSpPr>
          <p:cNvPr id="19" name="Text Placeholder 3">
            <a:extLst>
              <a:ext uri="{FF2B5EF4-FFF2-40B4-BE49-F238E27FC236}">
                <a16:creationId xmlns:a16="http://schemas.microsoft.com/office/drawing/2014/main" id="{4A8E74B5-CC2A-4398-B2C5-82D7D62C5C32}"/>
              </a:ext>
            </a:extLst>
          </p:cNvPr>
          <p:cNvSpPr txBox="1">
            <a:spLocks/>
          </p:cNvSpPr>
          <p:nvPr/>
        </p:nvSpPr>
        <p:spPr>
          <a:xfrm>
            <a:off x="0" y="5988291"/>
            <a:ext cx="1151324"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1600" b="0" dirty="0"/>
              <a:t>centre of the circle</a:t>
            </a:r>
          </a:p>
          <a:p>
            <a:pPr algn="ctr"/>
            <a:endParaRPr lang="en-AU" sz="3600" b="0" dirty="0"/>
          </a:p>
        </p:txBody>
      </p:sp>
      <p:pic>
        <p:nvPicPr>
          <p:cNvPr id="10" name="Picture 9">
            <a:extLst>
              <a:ext uri="{FF2B5EF4-FFF2-40B4-BE49-F238E27FC236}">
                <a16:creationId xmlns:a16="http://schemas.microsoft.com/office/drawing/2014/main" id="{13362BE5-31C2-4F67-A718-75124D0CA996}"/>
              </a:ext>
            </a:extLst>
          </p:cNvPr>
          <p:cNvPicPr>
            <a:picLocks noChangeAspect="1"/>
          </p:cNvPicPr>
          <p:nvPr/>
        </p:nvPicPr>
        <p:blipFill>
          <a:blip r:embed="rId4"/>
          <a:stretch>
            <a:fillRect/>
          </a:stretch>
        </p:blipFill>
        <p:spPr>
          <a:xfrm>
            <a:off x="5665716" y="3429000"/>
            <a:ext cx="6324805" cy="2332920"/>
          </a:xfrm>
          <a:prstGeom prst="rect">
            <a:avLst/>
          </a:prstGeom>
        </p:spPr>
      </p:pic>
    </p:spTree>
    <p:extLst>
      <p:ext uri="{BB962C8B-B14F-4D97-AF65-F5344CB8AC3E}">
        <p14:creationId xmlns:p14="http://schemas.microsoft.com/office/powerpoint/2010/main" val="247804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on banked tracks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3875278" y="4038973"/>
            <a:ext cx="8063291" cy="18434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If given the mass of the car, the radius of curvature and the angle, you can calculate the safe velocity to make it around the curve.</a:t>
            </a:r>
          </a:p>
          <a:p>
            <a:endParaRPr lang="en-AU" sz="900" b="0" dirty="0"/>
          </a:p>
          <a:p>
            <a:r>
              <a:rPr lang="en-AU" sz="2400" b="0" dirty="0"/>
              <a:t>This is due to the horizontal component of the normal force which is acting towards the centre of the circle.</a:t>
            </a:r>
          </a:p>
          <a:p>
            <a:endParaRPr lang="en-AU" sz="3600" b="0" dirty="0"/>
          </a:p>
        </p:txBody>
      </p:sp>
      <p:grpSp>
        <p:nvGrpSpPr>
          <p:cNvPr id="44" name="Group 43">
            <a:extLst>
              <a:ext uri="{FF2B5EF4-FFF2-40B4-BE49-F238E27FC236}">
                <a16:creationId xmlns:a16="http://schemas.microsoft.com/office/drawing/2014/main" id="{DF85B59B-4684-48B1-9998-C1D90127A0C3}"/>
              </a:ext>
            </a:extLst>
          </p:cNvPr>
          <p:cNvGrpSpPr/>
          <p:nvPr/>
        </p:nvGrpSpPr>
        <p:grpSpPr>
          <a:xfrm>
            <a:off x="571898" y="739887"/>
            <a:ext cx="4318236" cy="3682020"/>
            <a:chOff x="571898" y="739887"/>
            <a:chExt cx="4318236" cy="3682020"/>
          </a:xfrm>
        </p:grpSpPr>
        <p:cxnSp>
          <p:nvCxnSpPr>
            <p:cNvPr id="29" name="Straight Connector 28">
              <a:extLst>
                <a:ext uri="{FF2B5EF4-FFF2-40B4-BE49-F238E27FC236}">
                  <a16:creationId xmlns:a16="http://schemas.microsoft.com/office/drawing/2014/main" id="{DBEE1B82-75F4-43DD-B69D-7397689D2459}"/>
                </a:ext>
              </a:extLst>
            </p:cNvPr>
            <p:cNvCxnSpPr>
              <a:cxnSpLocks/>
            </p:cNvCxnSpPr>
            <p:nvPr/>
          </p:nvCxnSpPr>
          <p:spPr>
            <a:xfrm flipV="1">
              <a:off x="571898" y="1375629"/>
              <a:ext cx="4318236" cy="25417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C54A1FB-77F4-4CB4-B733-B0C9DAA6CB0B}"/>
                </a:ext>
              </a:extLst>
            </p:cNvPr>
            <p:cNvCxnSpPr>
              <a:cxnSpLocks/>
            </p:cNvCxnSpPr>
            <p:nvPr/>
          </p:nvCxnSpPr>
          <p:spPr>
            <a:xfrm flipH="1" flipV="1">
              <a:off x="1981205" y="1190154"/>
              <a:ext cx="978391" cy="13326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257E2B7-D1D0-4BF4-BAB8-C11A35B6B4C0}"/>
                </a:ext>
              </a:extLst>
            </p:cNvPr>
            <p:cNvCxnSpPr>
              <a:cxnSpLocks/>
            </p:cNvCxnSpPr>
            <p:nvPr/>
          </p:nvCxnSpPr>
          <p:spPr>
            <a:xfrm>
              <a:off x="2959596" y="2492910"/>
              <a:ext cx="0" cy="14400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AD3BE56-7496-441F-8E3D-576FD9379943}"/>
                </a:ext>
              </a:extLst>
            </p:cNvPr>
            <p:cNvSpPr/>
            <p:nvPr/>
          </p:nvSpPr>
          <p:spPr>
            <a:xfrm rot="19829731">
              <a:off x="2257901" y="1945739"/>
              <a:ext cx="978391" cy="6422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Rectangle 35">
              <a:extLst>
                <a:ext uri="{FF2B5EF4-FFF2-40B4-BE49-F238E27FC236}">
                  <a16:creationId xmlns:a16="http://schemas.microsoft.com/office/drawing/2014/main" id="{B2685427-3085-4E8C-BCA5-6DEE7B682C91}"/>
                </a:ext>
              </a:extLst>
            </p:cNvPr>
            <p:cNvSpPr/>
            <p:nvPr/>
          </p:nvSpPr>
          <p:spPr>
            <a:xfrm>
              <a:off x="1981205" y="739887"/>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solidFill>
                    <a:sysClr val="windowText" lastClr="000000"/>
                  </a:solidFill>
                </a:rPr>
                <a:t>F</a:t>
              </a:r>
              <a:r>
                <a:rPr lang="en-AU" sz="3600" b="1" baseline="-25000" dirty="0">
                  <a:solidFill>
                    <a:sysClr val="windowText" lastClr="000000"/>
                  </a:solidFill>
                </a:rPr>
                <a:t>N</a:t>
              </a:r>
              <a:endParaRPr lang="en-AU" sz="3600" b="1" dirty="0">
                <a:solidFill>
                  <a:sysClr val="windowText" lastClr="000000"/>
                </a:solidFill>
              </a:endParaRPr>
            </a:p>
          </p:txBody>
        </p:sp>
        <p:sp>
          <p:nvSpPr>
            <p:cNvPr id="38" name="Rectangle 37">
              <a:extLst>
                <a:ext uri="{FF2B5EF4-FFF2-40B4-BE49-F238E27FC236}">
                  <a16:creationId xmlns:a16="http://schemas.microsoft.com/office/drawing/2014/main" id="{4E4B50B8-22EF-4510-9D43-BEDD77FFDA0B}"/>
                </a:ext>
              </a:extLst>
            </p:cNvPr>
            <p:cNvSpPr/>
            <p:nvPr/>
          </p:nvSpPr>
          <p:spPr>
            <a:xfrm>
              <a:off x="2680809" y="2346473"/>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ysClr val="windowText" lastClr="000000"/>
                  </a:solidFill>
                </a:rPr>
                <a:t>F</a:t>
              </a:r>
              <a:r>
                <a:rPr lang="en-AU" sz="3600" b="1" baseline="-25000" dirty="0" err="1">
                  <a:solidFill>
                    <a:sysClr val="windowText" lastClr="000000"/>
                  </a:solidFill>
                </a:rPr>
                <a:t>g</a:t>
              </a:r>
              <a:endParaRPr lang="en-AU" sz="3600" b="1" dirty="0">
                <a:solidFill>
                  <a:sysClr val="windowText" lastClr="000000"/>
                </a:solidFill>
              </a:endParaRPr>
            </a:p>
          </p:txBody>
        </p:sp>
        <p:sp>
          <p:nvSpPr>
            <p:cNvPr id="40" name="Text Placeholder 3">
              <a:extLst>
                <a:ext uri="{FF2B5EF4-FFF2-40B4-BE49-F238E27FC236}">
                  <a16:creationId xmlns:a16="http://schemas.microsoft.com/office/drawing/2014/main" id="{FA617C5A-09FB-43E2-95A5-ADCF4EF779E5}"/>
                </a:ext>
              </a:extLst>
            </p:cNvPr>
            <p:cNvSpPr txBox="1">
              <a:spLocks/>
            </p:cNvSpPr>
            <p:nvPr/>
          </p:nvSpPr>
          <p:spPr>
            <a:xfrm>
              <a:off x="1137624" y="3536345"/>
              <a:ext cx="47200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sz="3200" dirty="0">
                  <a:latin typeface="Arial" panose="020B0604020202020204" pitchFamily="34" charset="0"/>
                  <a:cs typeface="Arial" panose="020B0604020202020204" pitchFamily="34" charset="0"/>
                </a:rPr>
                <a:t>θ</a:t>
              </a:r>
              <a:endParaRPr lang="en-AU" sz="3200" dirty="0"/>
            </a:p>
          </p:txBody>
        </p:sp>
        <p:sp>
          <p:nvSpPr>
            <p:cNvPr id="26" name="Arc 25">
              <a:extLst>
                <a:ext uri="{FF2B5EF4-FFF2-40B4-BE49-F238E27FC236}">
                  <a16:creationId xmlns:a16="http://schemas.microsoft.com/office/drawing/2014/main" id="{6ADDEB14-3776-4B67-8AD7-86BFAC2E9BB3}"/>
                </a:ext>
              </a:extLst>
            </p:cNvPr>
            <p:cNvSpPr/>
            <p:nvPr/>
          </p:nvSpPr>
          <p:spPr>
            <a:xfrm>
              <a:off x="953110" y="3434289"/>
              <a:ext cx="914400" cy="9144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grpSp>
      <p:grpSp>
        <p:nvGrpSpPr>
          <p:cNvPr id="27" name="Group 26">
            <a:extLst>
              <a:ext uri="{FF2B5EF4-FFF2-40B4-BE49-F238E27FC236}">
                <a16:creationId xmlns:a16="http://schemas.microsoft.com/office/drawing/2014/main" id="{37E9C1EF-1E4A-4E78-9171-9560496E3A5F}"/>
              </a:ext>
            </a:extLst>
          </p:cNvPr>
          <p:cNvGrpSpPr/>
          <p:nvPr/>
        </p:nvGrpSpPr>
        <p:grpSpPr>
          <a:xfrm>
            <a:off x="6344598" y="689992"/>
            <a:ext cx="4318236" cy="3478208"/>
            <a:chOff x="6344598" y="689992"/>
            <a:chExt cx="4318236" cy="3478208"/>
          </a:xfrm>
        </p:grpSpPr>
        <p:cxnSp>
          <p:nvCxnSpPr>
            <p:cNvPr id="23" name="Straight Connector 22">
              <a:extLst>
                <a:ext uri="{FF2B5EF4-FFF2-40B4-BE49-F238E27FC236}">
                  <a16:creationId xmlns:a16="http://schemas.microsoft.com/office/drawing/2014/main" id="{B5FD5B3F-8FF3-4B3A-BFA8-48A2BD01CEA4}"/>
                </a:ext>
              </a:extLst>
            </p:cNvPr>
            <p:cNvCxnSpPr>
              <a:cxnSpLocks/>
            </p:cNvCxnSpPr>
            <p:nvPr/>
          </p:nvCxnSpPr>
          <p:spPr>
            <a:xfrm flipV="1">
              <a:off x="6344598" y="1138391"/>
              <a:ext cx="4318236" cy="25417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A30389F-6EDD-4591-95C8-56154B530EAC}"/>
                </a:ext>
              </a:extLst>
            </p:cNvPr>
            <p:cNvCxnSpPr>
              <a:cxnSpLocks/>
            </p:cNvCxnSpPr>
            <p:nvPr/>
          </p:nvCxnSpPr>
          <p:spPr>
            <a:xfrm flipH="1" flipV="1">
              <a:off x="7753905" y="952916"/>
              <a:ext cx="978391" cy="13326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36B944C-5732-423C-9C53-0F07BC1505A1}"/>
                </a:ext>
              </a:extLst>
            </p:cNvPr>
            <p:cNvCxnSpPr>
              <a:cxnSpLocks/>
            </p:cNvCxnSpPr>
            <p:nvPr/>
          </p:nvCxnSpPr>
          <p:spPr>
            <a:xfrm>
              <a:off x="7729659" y="1026461"/>
              <a:ext cx="0" cy="14400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6EE9261-EF6E-44B0-B4AA-794C1A54A621}"/>
                </a:ext>
              </a:extLst>
            </p:cNvPr>
            <p:cNvCxnSpPr>
              <a:cxnSpLocks/>
            </p:cNvCxnSpPr>
            <p:nvPr/>
          </p:nvCxnSpPr>
          <p:spPr>
            <a:xfrm flipH="1" flipV="1">
              <a:off x="7729659" y="2409251"/>
              <a:ext cx="978391" cy="0"/>
            </a:xfrm>
            <a:prstGeom prst="straightConnector1">
              <a:avLst/>
            </a:prstGeom>
            <a:ln w="571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1C4FC9C8-6940-42B0-B55C-63B3C5240BBB}"/>
                </a:ext>
              </a:extLst>
            </p:cNvPr>
            <p:cNvSpPr/>
            <p:nvPr/>
          </p:nvSpPr>
          <p:spPr>
            <a:xfrm>
              <a:off x="7829355" y="689992"/>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solidFill>
                    <a:sysClr val="windowText" lastClr="000000"/>
                  </a:solidFill>
                </a:rPr>
                <a:t>F</a:t>
              </a:r>
              <a:r>
                <a:rPr lang="en-AU" sz="3600" b="1" baseline="-25000" dirty="0">
                  <a:solidFill>
                    <a:sysClr val="windowText" lastClr="000000"/>
                  </a:solidFill>
                </a:rPr>
                <a:t>N</a:t>
              </a:r>
              <a:endParaRPr lang="en-AU" sz="3600" b="1" dirty="0">
                <a:solidFill>
                  <a:sysClr val="windowText" lastClr="000000"/>
                </a:solidFill>
              </a:endParaRPr>
            </a:p>
          </p:txBody>
        </p:sp>
        <p:sp>
          <p:nvSpPr>
            <p:cNvPr id="34" name="Rectangle 33">
              <a:extLst>
                <a:ext uri="{FF2B5EF4-FFF2-40B4-BE49-F238E27FC236}">
                  <a16:creationId xmlns:a16="http://schemas.microsoft.com/office/drawing/2014/main" id="{CD822F69-B0F7-4E79-BC45-62E72BD2C64F}"/>
                </a:ext>
              </a:extLst>
            </p:cNvPr>
            <p:cNvSpPr/>
            <p:nvPr/>
          </p:nvSpPr>
          <p:spPr>
            <a:xfrm>
              <a:off x="6534832" y="889788"/>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ysClr val="windowText" lastClr="000000"/>
                  </a:solidFill>
                </a:rPr>
                <a:t>F</a:t>
              </a:r>
              <a:r>
                <a:rPr lang="en-AU" sz="3600" b="1" baseline="-25000" dirty="0" err="1">
                  <a:solidFill>
                    <a:sysClr val="windowText" lastClr="000000"/>
                  </a:solidFill>
                </a:rPr>
                <a:t>g</a:t>
              </a:r>
              <a:endParaRPr lang="en-AU" sz="3600" b="1" dirty="0">
                <a:solidFill>
                  <a:sysClr val="windowText" lastClr="000000"/>
                </a:solidFill>
              </a:endParaRPr>
            </a:p>
          </p:txBody>
        </p:sp>
        <p:sp>
          <p:nvSpPr>
            <p:cNvPr id="35" name="Rectangle 34">
              <a:extLst>
                <a:ext uri="{FF2B5EF4-FFF2-40B4-BE49-F238E27FC236}">
                  <a16:creationId xmlns:a16="http://schemas.microsoft.com/office/drawing/2014/main" id="{8858EEEE-55BA-43AF-89AE-0712ED5AD97B}"/>
                </a:ext>
              </a:extLst>
            </p:cNvPr>
            <p:cNvSpPr/>
            <p:nvPr/>
          </p:nvSpPr>
          <p:spPr>
            <a:xfrm>
              <a:off x="7483091" y="1999130"/>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solidFill>
                    <a:srgbClr val="FF0000"/>
                  </a:solidFill>
                </a:rPr>
                <a:t>F</a:t>
              </a:r>
              <a:r>
                <a:rPr lang="en-AU" sz="3600" b="1" baseline="-25000" dirty="0">
                  <a:solidFill>
                    <a:srgbClr val="FF0000"/>
                  </a:solidFill>
                </a:rPr>
                <a:t>c</a:t>
              </a:r>
              <a:endParaRPr lang="en-AU" sz="3600" b="1" dirty="0">
                <a:solidFill>
                  <a:srgbClr val="FF0000"/>
                </a:solidFill>
              </a:endParaRPr>
            </a:p>
          </p:txBody>
        </p:sp>
        <p:sp>
          <p:nvSpPr>
            <p:cNvPr id="41" name="Text Placeholder 3">
              <a:extLst>
                <a:ext uri="{FF2B5EF4-FFF2-40B4-BE49-F238E27FC236}">
                  <a16:creationId xmlns:a16="http://schemas.microsoft.com/office/drawing/2014/main" id="{94F2A470-8190-4452-AA61-3AEDAEDA6D53}"/>
                </a:ext>
              </a:extLst>
            </p:cNvPr>
            <p:cNvSpPr txBox="1">
              <a:spLocks/>
            </p:cNvSpPr>
            <p:nvPr/>
          </p:nvSpPr>
          <p:spPr>
            <a:xfrm>
              <a:off x="6993151" y="3282638"/>
              <a:ext cx="47200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sz="3200" dirty="0">
                  <a:latin typeface="Arial" panose="020B0604020202020204" pitchFamily="34" charset="0"/>
                  <a:cs typeface="Arial" panose="020B0604020202020204" pitchFamily="34" charset="0"/>
                </a:rPr>
                <a:t>θ</a:t>
              </a:r>
              <a:endParaRPr lang="en-AU" sz="3200" dirty="0"/>
            </a:p>
          </p:txBody>
        </p:sp>
        <p:sp>
          <p:nvSpPr>
            <p:cNvPr id="42" name="Text Placeholder 3">
              <a:extLst>
                <a:ext uri="{FF2B5EF4-FFF2-40B4-BE49-F238E27FC236}">
                  <a16:creationId xmlns:a16="http://schemas.microsoft.com/office/drawing/2014/main" id="{E52617BE-3733-4E2C-A31B-13F4B56B03F7}"/>
                </a:ext>
              </a:extLst>
            </p:cNvPr>
            <p:cNvSpPr txBox="1">
              <a:spLocks/>
            </p:cNvSpPr>
            <p:nvPr/>
          </p:nvSpPr>
          <p:spPr>
            <a:xfrm>
              <a:off x="7670921" y="1163509"/>
              <a:ext cx="47200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sz="3200" dirty="0">
                  <a:latin typeface="Arial" panose="020B0604020202020204" pitchFamily="34" charset="0"/>
                  <a:cs typeface="Arial" panose="020B0604020202020204" pitchFamily="34" charset="0"/>
                </a:rPr>
                <a:t>θ</a:t>
              </a:r>
              <a:endParaRPr lang="en-AU" sz="3200" dirty="0"/>
            </a:p>
          </p:txBody>
        </p:sp>
        <p:sp>
          <p:nvSpPr>
            <p:cNvPr id="43" name="Arc 42">
              <a:extLst>
                <a:ext uri="{FF2B5EF4-FFF2-40B4-BE49-F238E27FC236}">
                  <a16:creationId xmlns:a16="http://schemas.microsoft.com/office/drawing/2014/main" id="{6C6533DC-2592-44E4-AC8F-614BBB89A702}"/>
                </a:ext>
              </a:extLst>
            </p:cNvPr>
            <p:cNvSpPr/>
            <p:nvPr/>
          </p:nvSpPr>
          <p:spPr>
            <a:xfrm>
              <a:off x="6749562" y="3214111"/>
              <a:ext cx="914400" cy="9144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gr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CAAD073-CCA1-46D8-B440-B0179A52E53B}"/>
                  </a:ext>
                </a:extLst>
              </p:cNvPr>
              <p:cNvSpPr txBox="1"/>
              <p:nvPr/>
            </p:nvSpPr>
            <p:spPr>
              <a:xfrm>
                <a:off x="1137624" y="4670347"/>
                <a:ext cx="6230318" cy="1049262"/>
              </a:xfrm>
              <a:prstGeom prst="rect">
                <a:avLst/>
              </a:prstGeom>
              <a:noFill/>
              <a:ln>
                <a:noFill/>
              </a:ln>
            </p:spPr>
            <p:txBody>
              <a:bodyPr wrap="square">
                <a:spAutoFit/>
              </a:bodyPr>
              <a:lstStyle/>
              <a:p>
                <a:r>
                  <a:rPr lang="en-AU" sz="4000" b="0" dirty="0"/>
                  <a:t>F</a:t>
                </a:r>
                <a:r>
                  <a:rPr lang="en-AU" sz="4000" b="0" baseline="-25000" dirty="0"/>
                  <a:t>c</a:t>
                </a:r>
                <a:r>
                  <a:rPr lang="en-AU" sz="4000" b="0" dirty="0"/>
                  <a:t> = </a:t>
                </a:r>
                <a14:m>
                  <m:oMath xmlns:m="http://schemas.openxmlformats.org/officeDocument/2006/math">
                    <m:f>
                      <m:fPr>
                        <m:ctrlPr>
                          <a:rPr lang="en-AU" sz="4000" b="0" i="1" dirty="0">
                            <a:latin typeface="Cambria Math" panose="02040503050406030204" pitchFamily="18" charset="0"/>
                          </a:rPr>
                        </m:ctrlPr>
                      </m:fPr>
                      <m:num>
                        <m:r>
                          <a:rPr lang="en-AU" sz="4000" b="0" i="1" dirty="0" smtClean="0">
                            <a:latin typeface="Cambria Math" panose="02040503050406030204" pitchFamily="18" charset="0"/>
                          </a:rPr>
                          <m:t>𝑚</m:t>
                        </m:r>
                        <m:sSup>
                          <m:sSupPr>
                            <m:ctrlPr>
                              <a:rPr lang="en-AU" sz="4000" b="0" i="1" dirty="0">
                                <a:latin typeface="Cambria Math" panose="02040503050406030204" pitchFamily="18" charset="0"/>
                              </a:rPr>
                            </m:ctrlPr>
                          </m:sSupPr>
                          <m:e>
                            <m:r>
                              <a:rPr lang="en-AU" sz="4000" b="0" i="1" dirty="0">
                                <a:latin typeface="Cambria Math" panose="02040503050406030204" pitchFamily="18" charset="0"/>
                              </a:rPr>
                              <m:t>𝑣</m:t>
                            </m:r>
                          </m:e>
                          <m:sup>
                            <m:r>
                              <a:rPr lang="en-AU" sz="4000" b="0" i="1" dirty="0">
                                <a:latin typeface="Cambria Math" panose="02040503050406030204" pitchFamily="18" charset="0"/>
                              </a:rPr>
                              <m:t>2</m:t>
                            </m:r>
                          </m:sup>
                        </m:sSup>
                      </m:num>
                      <m:den>
                        <m:r>
                          <a:rPr lang="en-AU" sz="4000" b="0" i="1" dirty="0">
                            <a:latin typeface="Cambria Math" panose="02040503050406030204" pitchFamily="18" charset="0"/>
                          </a:rPr>
                          <m:t>𝑟</m:t>
                        </m:r>
                      </m:den>
                    </m:f>
                  </m:oMath>
                </a14:m>
                <a:endParaRPr lang="en-AU" sz="4000" dirty="0"/>
              </a:p>
            </p:txBody>
          </p:sp>
        </mc:Choice>
        <mc:Fallback xmlns="">
          <p:sp>
            <p:nvSpPr>
              <p:cNvPr id="47" name="TextBox 46">
                <a:extLst>
                  <a:ext uri="{FF2B5EF4-FFF2-40B4-BE49-F238E27FC236}">
                    <a16:creationId xmlns:a16="http://schemas.microsoft.com/office/drawing/2014/main" id="{7CAAD073-CCA1-46D8-B440-B0179A52E53B}"/>
                  </a:ext>
                </a:extLst>
              </p:cNvPr>
              <p:cNvSpPr txBox="1">
                <a:spLocks noRot="1" noChangeAspect="1" noMove="1" noResize="1" noEditPoints="1" noAdjustHandles="1" noChangeArrowheads="1" noChangeShapeType="1" noTextEdit="1"/>
              </p:cNvSpPr>
              <p:nvPr/>
            </p:nvSpPr>
            <p:spPr>
              <a:xfrm>
                <a:off x="1137624" y="4670347"/>
                <a:ext cx="6230318" cy="1049262"/>
              </a:xfrm>
              <a:prstGeom prst="rect">
                <a:avLst/>
              </a:prstGeom>
              <a:blipFill>
                <a:blip r:embed="rId3"/>
                <a:stretch>
                  <a:fillRect l="-3523" b="-10465"/>
                </a:stretch>
              </a:blipFill>
              <a:ln>
                <a:noFill/>
              </a:ln>
            </p:spPr>
            <p:txBody>
              <a:bodyPr/>
              <a:lstStyle/>
              <a:p>
                <a:r>
                  <a:rPr lang="en-AU">
                    <a:noFill/>
                  </a:rPr>
                  <a:t> </a:t>
                </a:r>
              </a:p>
            </p:txBody>
          </p:sp>
        </mc:Fallback>
      </mc:AlternateContent>
    </p:spTree>
    <p:extLst>
      <p:ext uri="{BB962C8B-B14F-4D97-AF65-F5344CB8AC3E}">
        <p14:creationId xmlns:p14="http://schemas.microsoft.com/office/powerpoint/2010/main" val="3627065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on banked tracks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6012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1646859" y="3917642"/>
            <a:ext cx="2675480" cy="53302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Inclined plane</a:t>
            </a:r>
          </a:p>
          <a:p>
            <a:endParaRPr lang="en-AU" sz="3600" b="0" dirty="0"/>
          </a:p>
        </p:txBody>
      </p:sp>
      <p:grpSp>
        <p:nvGrpSpPr>
          <p:cNvPr id="44" name="Group 43">
            <a:extLst>
              <a:ext uri="{FF2B5EF4-FFF2-40B4-BE49-F238E27FC236}">
                <a16:creationId xmlns:a16="http://schemas.microsoft.com/office/drawing/2014/main" id="{DF85B59B-4684-48B1-9998-C1D90127A0C3}"/>
              </a:ext>
            </a:extLst>
          </p:cNvPr>
          <p:cNvGrpSpPr/>
          <p:nvPr/>
        </p:nvGrpSpPr>
        <p:grpSpPr>
          <a:xfrm>
            <a:off x="6365045" y="280886"/>
            <a:ext cx="4318236" cy="3682020"/>
            <a:chOff x="571898" y="739887"/>
            <a:chExt cx="4318236" cy="3682020"/>
          </a:xfrm>
        </p:grpSpPr>
        <p:cxnSp>
          <p:nvCxnSpPr>
            <p:cNvPr id="29" name="Straight Connector 28">
              <a:extLst>
                <a:ext uri="{FF2B5EF4-FFF2-40B4-BE49-F238E27FC236}">
                  <a16:creationId xmlns:a16="http://schemas.microsoft.com/office/drawing/2014/main" id="{DBEE1B82-75F4-43DD-B69D-7397689D2459}"/>
                </a:ext>
              </a:extLst>
            </p:cNvPr>
            <p:cNvCxnSpPr>
              <a:cxnSpLocks/>
            </p:cNvCxnSpPr>
            <p:nvPr/>
          </p:nvCxnSpPr>
          <p:spPr>
            <a:xfrm flipV="1">
              <a:off x="571898" y="1375629"/>
              <a:ext cx="4318236" cy="25417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C54A1FB-77F4-4CB4-B733-B0C9DAA6CB0B}"/>
                </a:ext>
              </a:extLst>
            </p:cNvPr>
            <p:cNvCxnSpPr>
              <a:cxnSpLocks/>
            </p:cNvCxnSpPr>
            <p:nvPr/>
          </p:nvCxnSpPr>
          <p:spPr>
            <a:xfrm flipH="1" flipV="1">
              <a:off x="1981205" y="1190154"/>
              <a:ext cx="978391" cy="13326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257E2B7-D1D0-4BF4-BAB8-C11A35B6B4C0}"/>
                </a:ext>
              </a:extLst>
            </p:cNvPr>
            <p:cNvCxnSpPr>
              <a:cxnSpLocks/>
            </p:cNvCxnSpPr>
            <p:nvPr/>
          </p:nvCxnSpPr>
          <p:spPr>
            <a:xfrm>
              <a:off x="1951153" y="1241008"/>
              <a:ext cx="0" cy="126539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AD3BE56-7496-441F-8E3D-576FD9379943}"/>
                </a:ext>
              </a:extLst>
            </p:cNvPr>
            <p:cNvSpPr/>
            <p:nvPr/>
          </p:nvSpPr>
          <p:spPr>
            <a:xfrm rot="19829731">
              <a:off x="2257901" y="1945739"/>
              <a:ext cx="978391" cy="6422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Rectangle 35">
              <a:extLst>
                <a:ext uri="{FF2B5EF4-FFF2-40B4-BE49-F238E27FC236}">
                  <a16:creationId xmlns:a16="http://schemas.microsoft.com/office/drawing/2014/main" id="{B2685427-3085-4E8C-BCA5-6DEE7B682C91}"/>
                </a:ext>
              </a:extLst>
            </p:cNvPr>
            <p:cNvSpPr/>
            <p:nvPr/>
          </p:nvSpPr>
          <p:spPr>
            <a:xfrm>
              <a:off x="1981205" y="739887"/>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solidFill>
                    <a:sysClr val="windowText" lastClr="000000"/>
                  </a:solidFill>
                </a:rPr>
                <a:t>F</a:t>
              </a:r>
              <a:r>
                <a:rPr lang="en-AU" sz="3600" b="1" baseline="-25000" dirty="0">
                  <a:solidFill>
                    <a:sysClr val="windowText" lastClr="000000"/>
                  </a:solidFill>
                </a:rPr>
                <a:t>N</a:t>
              </a:r>
              <a:endParaRPr lang="en-AU" sz="3600" b="1" dirty="0">
                <a:solidFill>
                  <a:sysClr val="windowText" lastClr="000000"/>
                </a:solidFill>
              </a:endParaRPr>
            </a:p>
          </p:txBody>
        </p:sp>
        <p:sp>
          <p:nvSpPr>
            <p:cNvPr id="38" name="Rectangle 37">
              <a:extLst>
                <a:ext uri="{FF2B5EF4-FFF2-40B4-BE49-F238E27FC236}">
                  <a16:creationId xmlns:a16="http://schemas.microsoft.com/office/drawing/2014/main" id="{4E4B50B8-22EF-4510-9D43-BEDD77FFDA0B}"/>
                </a:ext>
              </a:extLst>
            </p:cNvPr>
            <p:cNvSpPr/>
            <p:nvPr/>
          </p:nvSpPr>
          <p:spPr>
            <a:xfrm>
              <a:off x="674547" y="1157023"/>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ysClr val="windowText" lastClr="000000"/>
                  </a:solidFill>
                </a:rPr>
                <a:t>F</a:t>
              </a:r>
              <a:r>
                <a:rPr lang="en-AU" sz="3600" b="1" baseline="-25000" dirty="0" err="1">
                  <a:solidFill>
                    <a:sysClr val="windowText" lastClr="000000"/>
                  </a:solidFill>
                </a:rPr>
                <a:t>g</a:t>
              </a:r>
              <a:endParaRPr lang="en-AU" sz="3600" b="1" dirty="0">
                <a:solidFill>
                  <a:sysClr val="windowText" lastClr="000000"/>
                </a:solidFill>
              </a:endParaRPr>
            </a:p>
          </p:txBody>
        </p:sp>
        <p:sp>
          <p:nvSpPr>
            <p:cNvPr id="40" name="Text Placeholder 3">
              <a:extLst>
                <a:ext uri="{FF2B5EF4-FFF2-40B4-BE49-F238E27FC236}">
                  <a16:creationId xmlns:a16="http://schemas.microsoft.com/office/drawing/2014/main" id="{FA617C5A-09FB-43E2-95A5-ADCF4EF779E5}"/>
                </a:ext>
              </a:extLst>
            </p:cNvPr>
            <p:cNvSpPr txBox="1">
              <a:spLocks/>
            </p:cNvSpPr>
            <p:nvPr/>
          </p:nvSpPr>
          <p:spPr>
            <a:xfrm>
              <a:off x="1137624" y="3536345"/>
              <a:ext cx="47200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sz="3200" dirty="0">
                  <a:latin typeface="Arial" panose="020B0604020202020204" pitchFamily="34" charset="0"/>
                  <a:cs typeface="Arial" panose="020B0604020202020204" pitchFamily="34" charset="0"/>
                </a:rPr>
                <a:t>θ</a:t>
              </a:r>
              <a:endParaRPr lang="en-AU" sz="3200" dirty="0"/>
            </a:p>
          </p:txBody>
        </p:sp>
        <p:sp>
          <p:nvSpPr>
            <p:cNvPr id="26" name="Arc 25">
              <a:extLst>
                <a:ext uri="{FF2B5EF4-FFF2-40B4-BE49-F238E27FC236}">
                  <a16:creationId xmlns:a16="http://schemas.microsoft.com/office/drawing/2014/main" id="{6ADDEB14-3776-4B67-8AD7-86BFAC2E9BB3}"/>
                </a:ext>
              </a:extLst>
            </p:cNvPr>
            <p:cNvSpPr/>
            <p:nvPr/>
          </p:nvSpPr>
          <p:spPr>
            <a:xfrm>
              <a:off x="953110" y="3434289"/>
              <a:ext cx="914400" cy="9144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grpSp>
      <p:sp>
        <p:nvSpPr>
          <p:cNvPr id="3" name="Text Placeholder 3">
            <a:extLst>
              <a:ext uri="{FF2B5EF4-FFF2-40B4-BE49-F238E27FC236}">
                <a16:creationId xmlns:a16="http://schemas.microsoft.com/office/drawing/2014/main" id="{5CF22A05-4911-63CC-580E-10E1EE392519}"/>
              </a:ext>
            </a:extLst>
          </p:cNvPr>
          <p:cNvSpPr txBox="1">
            <a:spLocks/>
          </p:cNvSpPr>
          <p:nvPr/>
        </p:nvSpPr>
        <p:spPr>
          <a:xfrm>
            <a:off x="7166774" y="3866516"/>
            <a:ext cx="2675480" cy="53302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Banked track</a:t>
            </a:r>
          </a:p>
          <a:p>
            <a:endParaRPr lang="en-AU" sz="3600" b="0" dirty="0"/>
          </a:p>
        </p:txBody>
      </p:sp>
      <p:sp>
        <p:nvSpPr>
          <p:cNvPr id="12" name="Rectangle 11">
            <a:extLst>
              <a:ext uri="{FF2B5EF4-FFF2-40B4-BE49-F238E27FC236}">
                <a16:creationId xmlns:a16="http://schemas.microsoft.com/office/drawing/2014/main" id="{BC687660-7EB1-B2B3-4734-2C9BA94D0328}"/>
              </a:ext>
            </a:extLst>
          </p:cNvPr>
          <p:cNvSpPr/>
          <p:nvPr/>
        </p:nvSpPr>
        <p:spPr>
          <a:xfrm>
            <a:off x="7512881" y="1692940"/>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solidFill>
                  <a:srgbClr val="FF0000"/>
                </a:solidFill>
              </a:rPr>
              <a:t>F</a:t>
            </a:r>
            <a:r>
              <a:rPr lang="en-AU" sz="3600" b="1" baseline="-25000" dirty="0">
                <a:solidFill>
                  <a:srgbClr val="FF0000"/>
                </a:solidFill>
              </a:rPr>
              <a:t>c</a:t>
            </a:r>
            <a:endParaRPr lang="en-AU" sz="3600" b="1" dirty="0">
              <a:solidFill>
                <a:srgbClr val="FF0000"/>
              </a:solidFill>
            </a:endParaRPr>
          </a:p>
        </p:txBody>
      </p:sp>
      <p:cxnSp>
        <p:nvCxnSpPr>
          <p:cNvPr id="13" name="Straight Arrow Connector 12">
            <a:extLst>
              <a:ext uri="{FF2B5EF4-FFF2-40B4-BE49-F238E27FC236}">
                <a16:creationId xmlns:a16="http://schemas.microsoft.com/office/drawing/2014/main" id="{35C7AD41-7A61-2484-DE33-67DB35825C5A}"/>
              </a:ext>
            </a:extLst>
          </p:cNvPr>
          <p:cNvCxnSpPr>
            <a:cxnSpLocks/>
          </p:cNvCxnSpPr>
          <p:nvPr/>
        </p:nvCxnSpPr>
        <p:spPr>
          <a:xfrm flipH="1" flipV="1">
            <a:off x="7660657" y="2047403"/>
            <a:ext cx="978391" cy="0"/>
          </a:xfrm>
          <a:prstGeom prst="straightConnector1">
            <a:avLst/>
          </a:prstGeom>
          <a:ln w="571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2F2E735-E60F-DA06-6315-4E69BE658EDC}"/>
              </a:ext>
            </a:extLst>
          </p:cNvPr>
          <p:cNvCxnSpPr>
            <a:cxnSpLocks/>
          </p:cNvCxnSpPr>
          <p:nvPr/>
        </p:nvCxnSpPr>
        <p:spPr>
          <a:xfrm flipV="1">
            <a:off x="941886" y="893456"/>
            <a:ext cx="4318236" cy="25417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94D9ADC-73AB-0B9A-F028-89241933DF78}"/>
              </a:ext>
            </a:extLst>
          </p:cNvPr>
          <p:cNvCxnSpPr>
            <a:cxnSpLocks/>
          </p:cNvCxnSpPr>
          <p:nvPr/>
        </p:nvCxnSpPr>
        <p:spPr>
          <a:xfrm flipH="1" flipV="1">
            <a:off x="2665831" y="1183936"/>
            <a:ext cx="609836" cy="83745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EFB74CF-74F1-9E27-9BF7-1EEC5AAE9681}"/>
              </a:ext>
            </a:extLst>
          </p:cNvPr>
          <p:cNvCxnSpPr>
            <a:cxnSpLocks/>
          </p:cNvCxnSpPr>
          <p:nvPr/>
        </p:nvCxnSpPr>
        <p:spPr>
          <a:xfrm>
            <a:off x="2642832" y="1183936"/>
            <a:ext cx="0" cy="126539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72D489E-C445-86E1-4326-8784258ACB51}"/>
              </a:ext>
            </a:extLst>
          </p:cNvPr>
          <p:cNvSpPr/>
          <p:nvPr/>
        </p:nvSpPr>
        <p:spPr>
          <a:xfrm rot="19829731">
            <a:off x="2627889" y="1463566"/>
            <a:ext cx="978391" cy="6422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21">
            <a:extLst>
              <a:ext uri="{FF2B5EF4-FFF2-40B4-BE49-F238E27FC236}">
                <a16:creationId xmlns:a16="http://schemas.microsoft.com/office/drawing/2014/main" id="{BA146CCB-44AE-4772-5737-D7BCBF58513C}"/>
              </a:ext>
            </a:extLst>
          </p:cNvPr>
          <p:cNvSpPr/>
          <p:nvPr/>
        </p:nvSpPr>
        <p:spPr>
          <a:xfrm>
            <a:off x="2642832" y="763298"/>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solidFill>
                  <a:sysClr val="windowText" lastClr="000000"/>
                </a:solidFill>
              </a:rPr>
              <a:t>F</a:t>
            </a:r>
            <a:r>
              <a:rPr lang="en-AU" sz="3600" b="1" baseline="-25000" dirty="0">
                <a:solidFill>
                  <a:sysClr val="windowText" lastClr="000000"/>
                </a:solidFill>
              </a:rPr>
              <a:t>N</a:t>
            </a:r>
            <a:endParaRPr lang="en-AU" sz="3600" b="1" dirty="0">
              <a:solidFill>
                <a:sysClr val="windowText" lastClr="000000"/>
              </a:solidFill>
            </a:endParaRPr>
          </a:p>
        </p:txBody>
      </p:sp>
      <p:sp>
        <p:nvSpPr>
          <p:cNvPr id="37" name="Rectangle 36">
            <a:extLst>
              <a:ext uri="{FF2B5EF4-FFF2-40B4-BE49-F238E27FC236}">
                <a16:creationId xmlns:a16="http://schemas.microsoft.com/office/drawing/2014/main" id="{87FB9C41-C46A-176A-1B68-30D3B709A332}"/>
              </a:ext>
            </a:extLst>
          </p:cNvPr>
          <p:cNvSpPr/>
          <p:nvPr/>
        </p:nvSpPr>
        <p:spPr>
          <a:xfrm>
            <a:off x="1513073" y="1074848"/>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ysClr val="windowText" lastClr="000000"/>
                </a:solidFill>
              </a:rPr>
              <a:t>F</a:t>
            </a:r>
            <a:r>
              <a:rPr lang="en-AU" sz="3600" b="1" baseline="-25000" dirty="0" err="1">
                <a:solidFill>
                  <a:sysClr val="windowText" lastClr="000000"/>
                </a:solidFill>
              </a:rPr>
              <a:t>g</a:t>
            </a:r>
            <a:endParaRPr lang="en-AU" sz="3600" b="1" dirty="0">
              <a:solidFill>
                <a:sysClr val="windowText" lastClr="000000"/>
              </a:solidFill>
            </a:endParaRPr>
          </a:p>
        </p:txBody>
      </p:sp>
      <p:sp>
        <p:nvSpPr>
          <p:cNvPr id="39" name="Text Placeholder 3">
            <a:extLst>
              <a:ext uri="{FF2B5EF4-FFF2-40B4-BE49-F238E27FC236}">
                <a16:creationId xmlns:a16="http://schemas.microsoft.com/office/drawing/2014/main" id="{86660A23-F823-E39C-78A7-8C80A76B252F}"/>
              </a:ext>
            </a:extLst>
          </p:cNvPr>
          <p:cNvSpPr txBox="1">
            <a:spLocks/>
          </p:cNvSpPr>
          <p:nvPr/>
        </p:nvSpPr>
        <p:spPr>
          <a:xfrm>
            <a:off x="1507612" y="3054172"/>
            <a:ext cx="47200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sz="3200" dirty="0">
                <a:latin typeface="Arial" panose="020B0604020202020204" pitchFamily="34" charset="0"/>
                <a:cs typeface="Arial" panose="020B0604020202020204" pitchFamily="34" charset="0"/>
              </a:rPr>
              <a:t>θ</a:t>
            </a:r>
            <a:endParaRPr lang="en-AU" sz="3200" dirty="0"/>
          </a:p>
        </p:txBody>
      </p:sp>
      <p:sp>
        <p:nvSpPr>
          <p:cNvPr id="45" name="Arc 44">
            <a:extLst>
              <a:ext uri="{FF2B5EF4-FFF2-40B4-BE49-F238E27FC236}">
                <a16:creationId xmlns:a16="http://schemas.microsoft.com/office/drawing/2014/main" id="{8EF9CF6E-1160-48EE-80A3-4F4550000EFC}"/>
              </a:ext>
            </a:extLst>
          </p:cNvPr>
          <p:cNvSpPr/>
          <p:nvPr/>
        </p:nvSpPr>
        <p:spPr>
          <a:xfrm>
            <a:off x="1323098" y="2952116"/>
            <a:ext cx="914400" cy="9144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46" name="Rectangle 45">
            <a:extLst>
              <a:ext uri="{FF2B5EF4-FFF2-40B4-BE49-F238E27FC236}">
                <a16:creationId xmlns:a16="http://schemas.microsoft.com/office/drawing/2014/main" id="{7E1901E0-30EF-7F1D-8CF3-1368A8E854BC}"/>
              </a:ext>
            </a:extLst>
          </p:cNvPr>
          <p:cNvSpPr/>
          <p:nvPr/>
        </p:nvSpPr>
        <p:spPr>
          <a:xfrm>
            <a:off x="2578584" y="1823752"/>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rgbClr val="FF0000"/>
                </a:solidFill>
              </a:rPr>
              <a:t>F</a:t>
            </a:r>
            <a:r>
              <a:rPr lang="en-AU" sz="3600" b="1" baseline="-25000" dirty="0" err="1">
                <a:solidFill>
                  <a:srgbClr val="FF0000"/>
                </a:solidFill>
              </a:rPr>
              <a:t>net</a:t>
            </a:r>
            <a:endParaRPr lang="en-AU" sz="3600" b="1" dirty="0">
              <a:solidFill>
                <a:srgbClr val="FF0000"/>
              </a:solidFill>
            </a:endParaRPr>
          </a:p>
        </p:txBody>
      </p:sp>
      <p:cxnSp>
        <p:nvCxnSpPr>
          <p:cNvPr id="48" name="Straight Arrow Connector 47">
            <a:extLst>
              <a:ext uri="{FF2B5EF4-FFF2-40B4-BE49-F238E27FC236}">
                <a16:creationId xmlns:a16="http://schemas.microsoft.com/office/drawing/2014/main" id="{B2D222A0-562B-06A8-5A99-1D7B0583ED77}"/>
              </a:ext>
            </a:extLst>
          </p:cNvPr>
          <p:cNvCxnSpPr>
            <a:cxnSpLocks/>
          </p:cNvCxnSpPr>
          <p:nvPr/>
        </p:nvCxnSpPr>
        <p:spPr>
          <a:xfrm flipH="1">
            <a:off x="2702052" y="2048836"/>
            <a:ext cx="612295" cy="381785"/>
          </a:xfrm>
          <a:prstGeom prst="straightConnector1">
            <a:avLst/>
          </a:prstGeom>
          <a:ln w="571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3" name="Text Placeholder 3">
            <a:extLst>
              <a:ext uri="{FF2B5EF4-FFF2-40B4-BE49-F238E27FC236}">
                <a16:creationId xmlns:a16="http://schemas.microsoft.com/office/drawing/2014/main" id="{E3C594FD-4EBD-E94B-DCCE-2B1F2AD3C881}"/>
              </a:ext>
            </a:extLst>
          </p:cNvPr>
          <p:cNvSpPr txBox="1">
            <a:spLocks/>
          </p:cNvSpPr>
          <p:nvPr/>
        </p:nvSpPr>
        <p:spPr>
          <a:xfrm>
            <a:off x="214867" y="4464039"/>
            <a:ext cx="11630025" cy="121002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dirty="0"/>
              <a:t>What is the difference between an inclined plane and a banked track?</a:t>
            </a:r>
          </a:p>
          <a:p>
            <a:r>
              <a:rPr lang="en-AU" sz="2000" b="0" dirty="0" err="1"/>
              <a:t>F</a:t>
            </a:r>
            <a:r>
              <a:rPr lang="en-AU" sz="2000" b="0" baseline="-25000" dirty="0" err="1"/>
              <a:t>g</a:t>
            </a:r>
            <a:r>
              <a:rPr lang="en-AU" sz="2000" b="0" dirty="0"/>
              <a:t> is the same but F</a:t>
            </a:r>
            <a:r>
              <a:rPr lang="en-AU" sz="2000" b="0" baseline="-25000" dirty="0"/>
              <a:t>N</a:t>
            </a:r>
            <a:r>
              <a:rPr lang="en-AU" sz="2000" b="0" dirty="0"/>
              <a:t> is different. The net force is in a different direction (down the slope vs towards the centre of the circle).</a:t>
            </a:r>
          </a:p>
          <a:p>
            <a:r>
              <a:rPr lang="en-AU" sz="2000" b="0" dirty="0"/>
              <a:t>Remember that the normal force is a contact force from the compression of the surface by the object. This compression is affected by motion. For banked curves, the object is colliding with the track. There is more compression of the track and a larger normal force.</a:t>
            </a:r>
          </a:p>
          <a:p>
            <a:endParaRPr lang="en-AU" sz="2000" b="0" dirty="0"/>
          </a:p>
          <a:p>
            <a:endParaRPr lang="en-AU" sz="3600" b="0" dirty="0"/>
          </a:p>
        </p:txBody>
      </p:sp>
    </p:spTree>
    <p:extLst>
      <p:ext uri="{BB962C8B-B14F-4D97-AF65-F5344CB8AC3E}">
        <p14:creationId xmlns:p14="http://schemas.microsoft.com/office/powerpoint/2010/main" val="354517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 grpId="0"/>
      <p:bldP spid="5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on banked curves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7717BB2E-736F-4612-A35F-AB4C6BD359D8}"/>
              </a:ext>
            </a:extLst>
          </p:cNvPr>
          <p:cNvSpPr txBox="1">
            <a:spLocks/>
          </p:cNvSpPr>
          <p:nvPr/>
        </p:nvSpPr>
        <p:spPr>
          <a:xfrm>
            <a:off x="94582" y="894866"/>
            <a:ext cx="1170542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What velocity could a car safely travel if it was on a 13.6</a:t>
            </a:r>
            <a:r>
              <a:rPr lang="en-AU" sz="2400" b="0" baseline="30000" dirty="0"/>
              <a:t>o</a:t>
            </a:r>
            <a:r>
              <a:rPr lang="en-AU" sz="2400" b="0" dirty="0"/>
              <a:t> banked curve with a 65.0m radius of curvature, such that it did not require any friction to make the turn?</a:t>
            </a:r>
          </a:p>
          <a:p>
            <a:endParaRPr lang="en-AU" sz="2000" b="0" dirty="0"/>
          </a:p>
        </p:txBody>
      </p:sp>
    </p:spTree>
    <p:extLst>
      <p:ext uri="{BB962C8B-B14F-4D97-AF65-F5344CB8AC3E}">
        <p14:creationId xmlns:p14="http://schemas.microsoft.com/office/powerpoint/2010/main" val="403096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on banked curves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7717BB2E-736F-4612-A35F-AB4C6BD359D8}"/>
              </a:ext>
            </a:extLst>
          </p:cNvPr>
          <p:cNvSpPr txBox="1">
            <a:spLocks/>
          </p:cNvSpPr>
          <p:nvPr/>
        </p:nvSpPr>
        <p:spPr>
          <a:xfrm>
            <a:off x="94582" y="951299"/>
            <a:ext cx="1170542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During the construction of a freeway off ramp, the engineer in charge wishes to design the off ramp with the intention of the cars using the ramp not needing to use friction to help navigate the 60.0 m curvature of radius of the ramp. The average speed of cars using the off ramp is 55.0 km/h.</a:t>
            </a:r>
          </a:p>
          <a:p>
            <a:r>
              <a:rPr lang="en-AU" sz="2400" b="0" dirty="0"/>
              <a:t>Calculate the banked angle of the off ramp the engineer should design for.</a:t>
            </a:r>
          </a:p>
          <a:p>
            <a:endParaRPr lang="en-AU" sz="2000" b="0" dirty="0"/>
          </a:p>
        </p:txBody>
      </p:sp>
    </p:spTree>
    <p:extLst>
      <p:ext uri="{BB962C8B-B14F-4D97-AF65-F5344CB8AC3E}">
        <p14:creationId xmlns:p14="http://schemas.microsoft.com/office/powerpoint/2010/main" val="196463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on banked curves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7717BB2E-736F-4612-A35F-AB4C6BD359D8}"/>
              </a:ext>
            </a:extLst>
          </p:cNvPr>
          <p:cNvSpPr txBox="1">
            <a:spLocks/>
          </p:cNvSpPr>
          <p:nvPr/>
        </p:nvSpPr>
        <p:spPr>
          <a:xfrm>
            <a:off x="94582" y="951299"/>
            <a:ext cx="1170542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During the construction of a freeway off ramp, the engineer in charge wishes to design the off ramp with the intention of the cars using the ramp not needing to use friction to help navigate the 60.0 m curvature of radius of the ramp. The average speed of cars using the off ramp is 55.0 km/h.</a:t>
            </a:r>
          </a:p>
          <a:p>
            <a:r>
              <a:rPr lang="en-AU" sz="2400" b="0" dirty="0"/>
              <a:t>Calculate the banked angle of the off ramp the engineer should design for.</a:t>
            </a:r>
          </a:p>
          <a:p>
            <a:endParaRPr lang="en-AU" sz="2000" b="0" dirty="0"/>
          </a:p>
        </p:txBody>
      </p:sp>
      <p:pic>
        <p:nvPicPr>
          <p:cNvPr id="5" name="Picture 4">
            <a:extLst>
              <a:ext uri="{FF2B5EF4-FFF2-40B4-BE49-F238E27FC236}">
                <a16:creationId xmlns:a16="http://schemas.microsoft.com/office/drawing/2014/main" id="{980EF6DC-9299-4BF3-B7E5-6C96A7CEFDF3}"/>
              </a:ext>
            </a:extLst>
          </p:cNvPr>
          <p:cNvPicPr>
            <a:picLocks noChangeAspect="1"/>
          </p:cNvPicPr>
          <p:nvPr/>
        </p:nvPicPr>
        <p:blipFill>
          <a:blip r:embed="rId3"/>
          <a:stretch>
            <a:fillRect/>
          </a:stretch>
        </p:blipFill>
        <p:spPr>
          <a:xfrm>
            <a:off x="1556407" y="3145764"/>
            <a:ext cx="8163934" cy="2937025"/>
          </a:xfrm>
          <a:prstGeom prst="rect">
            <a:avLst/>
          </a:prstGeom>
        </p:spPr>
      </p:pic>
    </p:spTree>
    <p:extLst>
      <p:ext uri="{BB962C8B-B14F-4D97-AF65-F5344CB8AC3E}">
        <p14:creationId xmlns:p14="http://schemas.microsoft.com/office/powerpoint/2010/main" val="49298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circular motion for leaning objects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600" b="0" i="0" dirty="0">
                <a:solidFill>
                  <a:srgbClr val="000303"/>
                </a:solidFill>
                <a:effectLst/>
                <a:latin typeface="+mj-lt"/>
              </a:rPr>
              <a:t>I can calculate velocity, acceleration and force for:</a:t>
            </a:r>
          </a:p>
          <a:p>
            <a:pPr marL="857250" lvl="1" indent="-171450"/>
            <a:r>
              <a:rPr lang="en-US" sz="1600" i="0" dirty="0">
                <a:solidFill>
                  <a:srgbClr val="000303"/>
                </a:solidFill>
                <a:effectLst/>
                <a:latin typeface="+mj-lt"/>
              </a:rPr>
              <a:t>Conical pendulums</a:t>
            </a:r>
          </a:p>
          <a:p>
            <a:pPr marL="857250" lvl="1" indent="-171450"/>
            <a:r>
              <a:rPr lang="en-US" sz="1600" i="0" dirty="0">
                <a:solidFill>
                  <a:srgbClr val="000303"/>
                </a:solidFill>
                <a:effectLst/>
                <a:latin typeface="+mj-lt"/>
              </a:rPr>
              <a:t>Objects </a:t>
            </a:r>
            <a:r>
              <a:rPr lang="en-US" sz="1600" dirty="0">
                <a:solidFill>
                  <a:srgbClr val="000303"/>
                </a:solidFill>
                <a:latin typeface="+mj-lt"/>
              </a:rPr>
              <a:t>on banked tracks</a:t>
            </a:r>
          </a:p>
          <a:p>
            <a:pPr marL="857250" lvl="1" indent="-171450"/>
            <a:r>
              <a:rPr lang="en-US" sz="1600" b="1" i="0" dirty="0">
                <a:solidFill>
                  <a:srgbClr val="000303"/>
                </a:solidFill>
                <a:effectLst/>
                <a:latin typeface="+mj-lt"/>
              </a:rPr>
              <a:t>Objects leaning</a:t>
            </a:r>
          </a:p>
        </p:txBody>
      </p:sp>
    </p:spTree>
    <p:extLst>
      <p:ext uri="{BB962C8B-B14F-4D97-AF65-F5344CB8AC3E}">
        <p14:creationId xmlns:p14="http://schemas.microsoft.com/office/powerpoint/2010/main" val="1417476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 leaning</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4" name="Text Placeholder 3">
            <a:extLst>
              <a:ext uri="{FF2B5EF4-FFF2-40B4-BE49-F238E27FC236}">
                <a16:creationId xmlns:a16="http://schemas.microsoft.com/office/drawing/2014/main" id="{B30FC390-605B-46C9-8EFF-4AE05678DDE1}"/>
              </a:ext>
            </a:extLst>
          </p:cNvPr>
          <p:cNvSpPr txBox="1">
            <a:spLocks/>
          </p:cNvSpPr>
          <p:nvPr/>
        </p:nvSpPr>
        <p:spPr>
          <a:xfrm>
            <a:off x="270306" y="1032912"/>
            <a:ext cx="11529698" cy="36481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Bikes that are not on banked tracks can use leaning to increase their net force towards the centre of the circle, increasing the velocity at which they can take corners.</a:t>
            </a:r>
          </a:p>
        </p:txBody>
      </p:sp>
      <p:pic>
        <p:nvPicPr>
          <p:cNvPr id="5" name="Picture 4">
            <a:extLst>
              <a:ext uri="{FF2B5EF4-FFF2-40B4-BE49-F238E27FC236}">
                <a16:creationId xmlns:a16="http://schemas.microsoft.com/office/drawing/2014/main" id="{77C4B771-59ED-4BBB-AD83-6EE0FB8FBDC6}"/>
              </a:ext>
            </a:extLst>
          </p:cNvPr>
          <p:cNvPicPr>
            <a:picLocks noChangeAspect="1"/>
          </p:cNvPicPr>
          <p:nvPr/>
        </p:nvPicPr>
        <p:blipFill>
          <a:blip r:embed="rId3"/>
          <a:stretch>
            <a:fillRect/>
          </a:stretch>
        </p:blipFill>
        <p:spPr>
          <a:xfrm>
            <a:off x="538565" y="2005012"/>
            <a:ext cx="3769963" cy="4144187"/>
          </a:xfrm>
          <a:prstGeom prst="rect">
            <a:avLst/>
          </a:prstGeom>
        </p:spPr>
      </p:pic>
      <p:sp>
        <p:nvSpPr>
          <p:cNvPr id="11" name="Text Placeholder 3">
            <a:extLst>
              <a:ext uri="{FF2B5EF4-FFF2-40B4-BE49-F238E27FC236}">
                <a16:creationId xmlns:a16="http://schemas.microsoft.com/office/drawing/2014/main" id="{879573B5-B19B-404E-9C46-C866087882D6}"/>
              </a:ext>
            </a:extLst>
          </p:cNvPr>
          <p:cNvSpPr txBox="1">
            <a:spLocks/>
          </p:cNvSpPr>
          <p:nvPr/>
        </p:nvSpPr>
        <p:spPr>
          <a:xfrm>
            <a:off x="4487344" y="1744850"/>
            <a:ext cx="7318411" cy="67390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As they push away from the ground at an angle, the ground pushes back – pushing towards the centre of the circle. This provides a net force towards the centre of the circle.</a:t>
            </a:r>
          </a:p>
          <a:p>
            <a:r>
              <a:rPr lang="en-AU" sz="2000" b="0" dirty="0"/>
              <a:t>The same principle happens with runners, skiers and ice skaters.</a:t>
            </a:r>
          </a:p>
          <a:p>
            <a:endParaRPr lang="en-AU" sz="2000" b="0" dirty="0"/>
          </a:p>
          <a:p>
            <a:endParaRPr lang="en-AU" sz="2000" b="0" dirty="0"/>
          </a:p>
        </p:txBody>
      </p:sp>
      <p:grpSp>
        <p:nvGrpSpPr>
          <p:cNvPr id="38" name="Group 37">
            <a:extLst>
              <a:ext uri="{FF2B5EF4-FFF2-40B4-BE49-F238E27FC236}">
                <a16:creationId xmlns:a16="http://schemas.microsoft.com/office/drawing/2014/main" id="{B14693B7-FDFB-428A-9B35-F8744A67E9FE}"/>
              </a:ext>
            </a:extLst>
          </p:cNvPr>
          <p:cNvGrpSpPr/>
          <p:nvPr/>
        </p:nvGrpSpPr>
        <p:grpSpPr>
          <a:xfrm>
            <a:off x="4308528" y="3708422"/>
            <a:ext cx="3858802" cy="2934424"/>
            <a:chOff x="4308528" y="3708422"/>
            <a:chExt cx="3858802" cy="2934424"/>
          </a:xfrm>
        </p:grpSpPr>
        <p:pic>
          <p:nvPicPr>
            <p:cNvPr id="9" name="Picture 8" descr="Icon&#10;&#10;Description automatically generated">
              <a:extLst>
                <a:ext uri="{FF2B5EF4-FFF2-40B4-BE49-F238E27FC236}">
                  <a16:creationId xmlns:a16="http://schemas.microsoft.com/office/drawing/2014/main" id="{FBAA62A7-28C6-4F93-AC67-C9041B324B70}"/>
                </a:ext>
              </a:extLst>
            </p:cNvPr>
            <p:cNvPicPr>
              <a:picLocks noChangeAspect="1"/>
            </p:cNvPicPr>
            <p:nvPr/>
          </p:nvPicPr>
          <p:blipFill>
            <a:blip r:embed="rId4">
              <a:alphaModFix amt="70000"/>
              <a:extLst>
                <a:ext uri="{BEBA8EAE-BF5A-486C-A8C5-ECC9F3942E4B}">
                  <a14:imgProps xmlns:a14="http://schemas.microsoft.com/office/drawing/2010/main">
                    <a14:imgLayer r:embed="rId5">
                      <a14:imgEffect>
                        <a14:backgroundRemoval t="3556" b="97778" l="9778" r="89778">
                          <a14:foregroundMark x1="48444" y1="8889" x2="48444" y2="8889"/>
                          <a14:foregroundMark x1="48444" y1="16000" x2="48444" y2="16000"/>
                          <a14:foregroundMark x1="71111" y1="3556" x2="71111" y2="3556"/>
                          <a14:foregroundMark x1="19556" y1="5778" x2="19556" y2="5778"/>
                          <a14:foregroundMark x1="32444" y1="71111" x2="32444" y2="71111"/>
                          <a14:foregroundMark x1="47111" y1="93333" x2="47111" y2="93333"/>
                          <a14:foregroundMark x1="47111" y1="97778" x2="48444" y2="95556"/>
                        </a14:backgroundRemoval>
                      </a14:imgEffect>
                    </a14:imgLayer>
                  </a14:imgProps>
                </a:ext>
              </a:extLst>
            </a:blip>
            <a:stretch>
              <a:fillRect/>
            </a:stretch>
          </p:blipFill>
          <p:spPr>
            <a:xfrm rot="2754094">
              <a:off x="4308528" y="4214555"/>
              <a:ext cx="2143424" cy="2143424"/>
            </a:xfrm>
            <a:prstGeom prst="rect">
              <a:avLst/>
            </a:prstGeom>
          </p:spPr>
        </p:pic>
        <p:cxnSp>
          <p:nvCxnSpPr>
            <p:cNvPr id="16" name="Straight Arrow Connector 15">
              <a:extLst>
                <a:ext uri="{FF2B5EF4-FFF2-40B4-BE49-F238E27FC236}">
                  <a16:creationId xmlns:a16="http://schemas.microsoft.com/office/drawing/2014/main" id="{350BC4A6-41D1-4300-BFEF-748F1FE5B6C0}"/>
                </a:ext>
              </a:extLst>
            </p:cNvPr>
            <p:cNvCxnSpPr>
              <a:cxnSpLocks/>
            </p:cNvCxnSpPr>
            <p:nvPr/>
          </p:nvCxnSpPr>
          <p:spPr>
            <a:xfrm flipH="1">
              <a:off x="5634119" y="5037284"/>
              <a:ext cx="25812" cy="116278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49C95702-A97A-4826-9E7C-D1FC971DA840}"/>
                </a:ext>
              </a:extLst>
            </p:cNvPr>
            <p:cNvSpPr/>
            <p:nvPr/>
          </p:nvSpPr>
          <p:spPr>
            <a:xfrm>
              <a:off x="5316259" y="4925428"/>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rgbClr val="FF0000"/>
                  </a:solidFill>
                </a:rPr>
                <a:t>F</a:t>
              </a:r>
              <a:r>
                <a:rPr lang="en-AU" sz="3600" b="1" baseline="-25000" dirty="0" err="1">
                  <a:solidFill>
                    <a:srgbClr val="FF0000"/>
                  </a:solidFill>
                </a:rPr>
                <a:t>w</a:t>
              </a:r>
              <a:endParaRPr lang="en-AU" sz="3600" b="1" dirty="0">
                <a:solidFill>
                  <a:srgbClr val="FF0000"/>
                </a:solidFill>
              </a:endParaRPr>
            </a:p>
          </p:txBody>
        </p:sp>
        <p:sp>
          <p:nvSpPr>
            <p:cNvPr id="21" name="Text Placeholder 3">
              <a:extLst>
                <a:ext uri="{FF2B5EF4-FFF2-40B4-BE49-F238E27FC236}">
                  <a16:creationId xmlns:a16="http://schemas.microsoft.com/office/drawing/2014/main" id="{474B74A9-4140-4EAE-90A8-44301C7E695C}"/>
                </a:ext>
              </a:extLst>
            </p:cNvPr>
            <p:cNvSpPr txBox="1">
              <a:spLocks/>
            </p:cNvSpPr>
            <p:nvPr/>
          </p:nvSpPr>
          <p:spPr>
            <a:xfrm>
              <a:off x="4844252" y="5757284"/>
              <a:ext cx="47200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sz="3200" dirty="0">
                  <a:latin typeface="Arial" panose="020B0604020202020204" pitchFamily="34" charset="0"/>
                  <a:cs typeface="Arial" panose="020B0604020202020204" pitchFamily="34" charset="0"/>
                </a:rPr>
                <a:t>θ</a:t>
              </a:r>
              <a:endParaRPr lang="en-AU" sz="3200" dirty="0"/>
            </a:p>
          </p:txBody>
        </p:sp>
        <p:sp>
          <p:nvSpPr>
            <p:cNvPr id="23" name="Arc 22">
              <a:extLst>
                <a:ext uri="{FF2B5EF4-FFF2-40B4-BE49-F238E27FC236}">
                  <a16:creationId xmlns:a16="http://schemas.microsoft.com/office/drawing/2014/main" id="{A28B7F23-70D2-4897-933A-1EA613E55F87}"/>
                </a:ext>
              </a:extLst>
            </p:cNvPr>
            <p:cNvSpPr/>
            <p:nvPr/>
          </p:nvSpPr>
          <p:spPr>
            <a:xfrm>
              <a:off x="4552961" y="5685358"/>
              <a:ext cx="914400" cy="9144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cxnSp>
          <p:nvCxnSpPr>
            <p:cNvPr id="27" name="Straight Arrow Connector 26">
              <a:extLst>
                <a:ext uri="{FF2B5EF4-FFF2-40B4-BE49-F238E27FC236}">
                  <a16:creationId xmlns:a16="http://schemas.microsoft.com/office/drawing/2014/main" id="{D1BFC924-909A-453C-B157-4581AB43899F}"/>
                </a:ext>
              </a:extLst>
            </p:cNvPr>
            <p:cNvCxnSpPr>
              <a:cxnSpLocks/>
            </p:cNvCxnSpPr>
            <p:nvPr/>
          </p:nvCxnSpPr>
          <p:spPr>
            <a:xfrm flipV="1">
              <a:off x="5669178" y="4010659"/>
              <a:ext cx="867882" cy="100673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93BB8571-777F-410C-85EC-72147ADDA174}"/>
                </a:ext>
              </a:extLst>
            </p:cNvPr>
            <p:cNvSpPr/>
            <p:nvPr/>
          </p:nvSpPr>
          <p:spPr>
            <a:xfrm>
              <a:off x="6329874" y="3708422"/>
              <a:ext cx="183745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rgbClr val="FF0000"/>
                  </a:solidFill>
                </a:rPr>
                <a:t>F</a:t>
              </a:r>
              <a:r>
                <a:rPr lang="en-AU" sz="3600" b="1" baseline="-25000" dirty="0" err="1">
                  <a:solidFill>
                    <a:srgbClr val="FF0000"/>
                  </a:solidFill>
                </a:rPr>
                <a:t>reaction</a:t>
              </a:r>
              <a:endParaRPr lang="en-AU" sz="3600" b="1" dirty="0">
                <a:solidFill>
                  <a:srgbClr val="FF0000"/>
                </a:solidFill>
              </a:endParaRPr>
            </a:p>
          </p:txBody>
        </p:sp>
      </p:grpSp>
      <p:grpSp>
        <p:nvGrpSpPr>
          <p:cNvPr id="41" name="Group 40">
            <a:extLst>
              <a:ext uri="{FF2B5EF4-FFF2-40B4-BE49-F238E27FC236}">
                <a16:creationId xmlns:a16="http://schemas.microsoft.com/office/drawing/2014/main" id="{8242FFCC-BBE1-4116-89CC-F773F0618DE7}"/>
              </a:ext>
            </a:extLst>
          </p:cNvPr>
          <p:cNvGrpSpPr/>
          <p:nvPr/>
        </p:nvGrpSpPr>
        <p:grpSpPr>
          <a:xfrm>
            <a:off x="7980812" y="3312461"/>
            <a:ext cx="3784585" cy="2912899"/>
            <a:chOff x="7980812" y="3312461"/>
            <a:chExt cx="3784585" cy="2912899"/>
          </a:xfrm>
        </p:grpSpPr>
        <p:cxnSp>
          <p:nvCxnSpPr>
            <p:cNvPr id="32" name="Straight Arrow Connector 31">
              <a:extLst>
                <a:ext uri="{FF2B5EF4-FFF2-40B4-BE49-F238E27FC236}">
                  <a16:creationId xmlns:a16="http://schemas.microsoft.com/office/drawing/2014/main" id="{900C2365-A85F-4E6C-A458-28F91880528E}"/>
                </a:ext>
              </a:extLst>
            </p:cNvPr>
            <p:cNvCxnSpPr>
              <a:cxnSpLocks/>
            </p:cNvCxnSpPr>
            <p:nvPr/>
          </p:nvCxnSpPr>
          <p:spPr>
            <a:xfrm flipV="1">
              <a:off x="9025453" y="4085020"/>
              <a:ext cx="867882" cy="10067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98D02C09-1EE4-4DF5-B05D-726BF7EC51B3}"/>
                </a:ext>
              </a:extLst>
            </p:cNvPr>
            <p:cNvSpPr/>
            <p:nvPr/>
          </p:nvSpPr>
          <p:spPr>
            <a:xfrm>
              <a:off x="7980812" y="3312461"/>
              <a:ext cx="183745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chemeClr val="tx1"/>
                  </a:solidFill>
                </a:rPr>
                <a:t>F</a:t>
              </a:r>
              <a:r>
                <a:rPr lang="en-AU" sz="3600" b="1" baseline="-25000" dirty="0" err="1">
                  <a:solidFill>
                    <a:schemeClr val="tx1"/>
                  </a:solidFill>
                </a:rPr>
                <a:t>reaction</a:t>
              </a:r>
              <a:endParaRPr lang="en-AU" sz="3600" b="1" dirty="0">
                <a:solidFill>
                  <a:schemeClr val="tx1"/>
                </a:solidFill>
              </a:endParaRPr>
            </a:p>
          </p:txBody>
        </p:sp>
        <p:cxnSp>
          <p:nvCxnSpPr>
            <p:cNvPr id="34" name="Straight Arrow Connector 33">
              <a:extLst>
                <a:ext uri="{FF2B5EF4-FFF2-40B4-BE49-F238E27FC236}">
                  <a16:creationId xmlns:a16="http://schemas.microsoft.com/office/drawing/2014/main" id="{88AD5D3D-FB40-410C-A72B-D9E3BFAFD32C}"/>
                </a:ext>
              </a:extLst>
            </p:cNvPr>
            <p:cNvCxnSpPr>
              <a:cxnSpLocks/>
            </p:cNvCxnSpPr>
            <p:nvPr/>
          </p:nvCxnSpPr>
          <p:spPr>
            <a:xfrm>
              <a:off x="9025453" y="5160652"/>
              <a:ext cx="101082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2B2EE72-7E21-487E-BDA7-AC09A6F77718}"/>
                </a:ext>
              </a:extLst>
            </p:cNvPr>
            <p:cNvCxnSpPr>
              <a:cxnSpLocks/>
            </p:cNvCxnSpPr>
            <p:nvPr/>
          </p:nvCxnSpPr>
          <p:spPr>
            <a:xfrm flipV="1">
              <a:off x="10019248" y="4085020"/>
              <a:ext cx="0" cy="95226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8D07DB6A-EB49-4919-92DF-0278407F9F2C}"/>
                </a:ext>
              </a:extLst>
            </p:cNvPr>
            <p:cNvSpPr/>
            <p:nvPr/>
          </p:nvSpPr>
          <p:spPr>
            <a:xfrm>
              <a:off x="9927941" y="3816112"/>
              <a:ext cx="183745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chemeClr val="tx1"/>
                  </a:solidFill>
                </a:rPr>
                <a:t>F</a:t>
              </a:r>
              <a:r>
                <a:rPr lang="en-AU" sz="3600" b="1" baseline="-25000" dirty="0" err="1">
                  <a:solidFill>
                    <a:schemeClr val="tx1"/>
                  </a:solidFill>
                </a:rPr>
                <a:t>normal</a:t>
              </a:r>
              <a:endParaRPr lang="en-AU" sz="3600" b="1" dirty="0">
                <a:solidFill>
                  <a:schemeClr val="tx1"/>
                </a:solidFill>
              </a:endParaRPr>
            </a:p>
          </p:txBody>
        </p:sp>
        <p:sp>
          <p:nvSpPr>
            <p:cNvPr id="40" name="Rectangle 39">
              <a:extLst>
                <a:ext uri="{FF2B5EF4-FFF2-40B4-BE49-F238E27FC236}">
                  <a16:creationId xmlns:a16="http://schemas.microsoft.com/office/drawing/2014/main" id="{27DDB422-3A36-4084-8D3A-E82C6738137D}"/>
                </a:ext>
              </a:extLst>
            </p:cNvPr>
            <p:cNvSpPr/>
            <p:nvPr/>
          </p:nvSpPr>
          <p:spPr>
            <a:xfrm>
              <a:off x="8694394" y="4829533"/>
              <a:ext cx="183745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chemeClr val="tx1"/>
                  </a:solidFill>
                </a:rPr>
                <a:t>F</a:t>
              </a:r>
              <a:r>
                <a:rPr lang="en-AU" sz="3600" b="1" baseline="-25000" dirty="0" err="1">
                  <a:solidFill>
                    <a:schemeClr val="tx1"/>
                  </a:solidFill>
                </a:rPr>
                <a:t>friction</a:t>
              </a:r>
              <a:endParaRPr lang="en-AU" sz="3600" b="1" dirty="0">
                <a:solidFill>
                  <a:schemeClr val="tx1"/>
                </a:solidFill>
              </a:endParaRPr>
            </a:p>
          </p:txBody>
        </p:sp>
      </p:grpSp>
    </p:spTree>
    <p:extLst>
      <p:ext uri="{BB962C8B-B14F-4D97-AF65-F5344CB8AC3E}">
        <p14:creationId xmlns:p14="http://schemas.microsoft.com/office/powerpoint/2010/main" val="1915012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 leaning</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109"/>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grpSp>
        <p:nvGrpSpPr>
          <p:cNvPr id="6" name="Group 5">
            <a:extLst>
              <a:ext uri="{FF2B5EF4-FFF2-40B4-BE49-F238E27FC236}">
                <a16:creationId xmlns:a16="http://schemas.microsoft.com/office/drawing/2014/main" id="{B9EA0174-D094-4B6D-984D-1F78C9D4C8D8}"/>
              </a:ext>
            </a:extLst>
          </p:cNvPr>
          <p:cNvGrpSpPr/>
          <p:nvPr/>
        </p:nvGrpSpPr>
        <p:grpSpPr>
          <a:xfrm>
            <a:off x="424341" y="969231"/>
            <a:ext cx="3858802" cy="2934424"/>
            <a:chOff x="1455628" y="1078780"/>
            <a:chExt cx="3858802" cy="2934424"/>
          </a:xfrm>
        </p:grpSpPr>
        <p:pic>
          <p:nvPicPr>
            <p:cNvPr id="9" name="Picture 8" descr="Icon&#10;&#10;Description automatically generated">
              <a:extLst>
                <a:ext uri="{FF2B5EF4-FFF2-40B4-BE49-F238E27FC236}">
                  <a16:creationId xmlns:a16="http://schemas.microsoft.com/office/drawing/2014/main" id="{FBAA62A7-28C6-4F93-AC67-C9041B324B70}"/>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backgroundRemoval t="3556" b="97778" l="9778" r="89778">
                          <a14:foregroundMark x1="48444" y1="8889" x2="48444" y2="8889"/>
                          <a14:foregroundMark x1="48444" y1="16000" x2="48444" y2="16000"/>
                          <a14:foregroundMark x1="71111" y1="3556" x2="71111" y2="3556"/>
                          <a14:foregroundMark x1="19556" y1="5778" x2="19556" y2="5778"/>
                          <a14:foregroundMark x1="32444" y1="71111" x2="32444" y2="71111"/>
                          <a14:foregroundMark x1="47111" y1="93333" x2="47111" y2="93333"/>
                          <a14:foregroundMark x1="47111" y1="97778" x2="48444" y2="95556"/>
                        </a14:backgroundRemoval>
                      </a14:imgEffect>
                    </a14:imgLayer>
                  </a14:imgProps>
                </a:ext>
              </a:extLst>
            </a:blip>
            <a:stretch>
              <a:fillRect/>
            </a:stretch>
          </p:blipFill>
          <p:spPr>
            <a:xfrm rot="2754094">
              <a:off x="1455628" y="1584913"/>
              <a:ext cx="2143424" cy="2143424"/>
            </a:xfrm>
            <a:prstGeom prst="rect">
              <a:avLst/>
            </a:prstGeom>
          </p:spPr>
        </p:pic>
        <p:cxnSp>
          <p:nvCxnSpPr>
            <p:cNvPr id="16" name="Straight Arrow Connector 15">
              <a:extLst>
                <a:ext uri="{FF2B5EF4-FFF2-40B4-BE49-F238E27FC236}">
                  <a16:creationId xmlns:a16="http://schemas.microsoft.com/office/drawing/2014/main" id="{350BC4A6-41D1-4300-BFEF-748F1FE5B6C0}"/>
                </a:ext>
              </a:extLst>
            </p:cNvPr>
            <p:cNvCxnSpPr>
              <a:cxnSpLocks/>
            </p:cNvCxnSpPr>
            <p:nvPr/>
          </p:nvCxnSpPr>
          <p:spPr>
            <a:xfrm flipH="1">
              <a:off x="2781219" y="2407642"/>
              <a:ext cx="25812" cy="116278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49C95702-A97A-4826-9E7C-D1FC971DA840}"/>
                </a:ext>
              </a:extLst>
            </p:cNvPr>
            <p:cNvSpPr/>
            <p:nvPr/>
          </p:nvSpPr>
          <p:spPr>
            <a:xfrm>
              <a:off x="2463359" y="2295786"/>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rgbClr val="FF0000"/>
                  </a:solidFill>
                </a:rPr>
                <a:t>F</a:t>
              </a:r>
              <a:r>
                <a:rPr lang="en-AU" sz="3600" b="1" baseline="-25000" dirty="0" err="1">
                  <a:solidFill>
                    <a:srgbClr val="FF0000"/>
                  </a:solidFill>
                </a:rPr>
                <a:t>w</a:t>
              </a:r>
              <a:endParaRPr lang="en-AU" sz="3600" b="1" dirty="0">
                <a:solidFill>
                  <a:srgbClr val="FF0000"/>
                </a:solidFill>
              </a:endParaRPr>
            </a:p>
          </p:txBody>
        </p:sp>
        <p:sp>
          <p:nvSpPr>
            <p:cNvPr id="21" name="Text Placeholder 3">
              <a:extLst>
                <a:ext uri="{FF2B5EF4-FFF2-40B4-BE49-F238E27FC236}">
                  <a16:creationId xmlns:a16="http://schemas.microsoft.com/office/drawing/2014/main" id="{474B74A9-4140-4EAE-90A8-44301C7E695C}"/>
                </a:ext>
              </a:extLst>
            </p:cNvPr>
            <p:cNvSpPr txBox="1">
              <a:spLocks/>
            </p:cNvSpPr>
            <p:nvPr/>
          </p:nvSpPr>
          <p:spPr>
            <a:xfrm>
              <a:off x="1991352" y="3127642"/>
              <a:ext cx="47200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sz="3200" dirty="0">
                  <a:latin typeface="Arial" panose="020B0604020202020204" pitchFamily="34" charset="0"/>
                  <a:cs typeface="Arial" panose="020B0604020202020204" pitchFamily="34" charset="0"/>
                </a:rPr>
                <a:t>θ</a:t>
              </a:r>
              <a:endParaRPr lang="en-AU" sz="3200" dirty="0"/>
            </a:p>
          </p:txBody>
        </p:sp>
        <p:sp>
          <p:nvSpPr>
            <p:cNvPr id="23" name="Arc 22">
              <a:extLst>
                <a:ext uri="{FF2B5EF4-FFF2-40B4-BE49-F238E27FC236}">
                  <a16:creationId xmlns:a16="http://schemas.microsoft.com/office/drawing/2014/main" id="{A28B7F23-70D2-4897-933A-1EA613E55F87}"/>
                </a:ext>
              </a:extLst>
            </p:cNvPr>
            <p:cNvSpPr/>
            <p:nvPr/>
          </p:nvSpPr>
          <p:spPr>
            <a:xfrm>
              <a:off x="1700061" y="3055716"/>
              <a:ext cx="914400" cy="9144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cxnSp>
          <p:nvCxnSpPr>
            <p:cNvPr id="27" name="Straight Arrow Connector 26">
              <a:extLst>
                <a:ext uri="{FF2B5EF4-FFF2-40B4-BE49-F238E27FC236}">
                  <a16:creationId xmlns:a16="http://schemas.microsoft.com/office/drawing/2014/main" id="{D1BFC924-909A-453C-B157-4581AB43899F}"/>
                </a:ext>
              </a:extLst>
            </p:cNvPr>
            <p:cNvCxnSpPr>
              <a:cxnSpLocks/>
            </p:cNvCxnSpPr>
            <p:nvPr/>
          </p:nvCxnSpPr>
          <p:spPr>
            <a:xfrm flipV="1">
              <a:off x="2816278" y="1381017"/>
              <a:ext cx="867882" cy="100673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93BB8571-777F-410C-85EC-72147ADDA174}"/>
                </a:ext>
              </a:extLst>
            </p:cNvPr>
            <p:cNvSpPr/>
            <p:nvPr/>
          </p:nvSpPr>
          <p:spPr>
            <a:xfrm>
              <a:off x="3476974" y="1078780"/>
              <a:ext cx="183745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rgbClr val="FF0000"/>
                  </a:solidFill>
                </a:rPr>
                <a:t>F</a:t>
              </a:r>
              <a:r>
                <a:rPr lang="en-AU" sz="3600" b="1" baseline="-25000" dirty="0" err="1">
                  <a:solidFill>
                    <a:srgbClr val="FF0000"/>
                  </a:solidFill>
                </a:rPr>
                <a:t>reaction</a:t>
              </a:r>
              <a:endParaRPr lang="en-AU" sz="3600" b="1" dirty="0">
                <a:solidFill>
                  <a:srgbClr val="FF0000"/>
                </a:solidFill>
              </a:endParaRPr>
            </a:p>
          </p:txBody>
        </p:sp>
      </p:grpSp>
      <p:grpSp>
        <p:nvGrpSpPr>
          <p:cNvPr id="7" name="Group 6">
            <a:extLst>
              <a:ext uri="{FF2B5EF4-FFF2-40B4-BE49-F238E27FC236}">
                <a16:creationId xmlns:a16="http://schemas.microsoft.com/office/drawing/2014/main" id="{1CF61380-417F-4079-9547-613F8825315F}"/>
              </a:ext>
            </a:extLst>
          </p:cNvPr>
          <p:cNvGrpSpPr/>
          <p:nvPr/>
        </p:nvGrpSpPr>
        <p:grpSpPr>
          <a:xfrm>
            <a:off x="7823924" y="2758350"/>
            <a:ext cx="4194222" cy="3431001"/>
            <a:chOff x="7058723" y="719222"/>
            <a:chExt cx="4194222" cy="3431001"/>
          </a:xfrm>
        </p:grpSpPr>
        <p:sp>
          <p:nvSpPr>
            <p:cNvPr id="14" name="Text Placeholder 3">
              <a:extLst>
                <a:ext uri="{FF2B5EF4-FFF2-40B4-BE49-F238E27FC236}">
                  <a16:creationId xmlns:a16="http://schemas.microsoft.com/office/drawing/2014/main" id="{B30FC390-605B-46C9-8EFF-4AE05678DDE1}"/>
                </a:ext>
              </a:extLst>
            </p:cNvPr>
            <p:cNvSpPr txBox="1">
              <a:spLocks/>
            </p:cNvSpPr>
            <p:nvPr/>
          </p:nvSpPr>
          <p:spPr>
            <a:xfrm>
              <a:off x="7058723" y="719222"/>
              <a:ext cx="4194222" cy="64109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2000" b="0" dirty="0"/>
                <a:t>Breaking the reaction force into its components gives:</a:t>
              </a:r>
            </a:p>
          </p:txBody>
        </p:sp>
        <p:sp>
          <p:nvSpPr>
            <p:cNvPr id="31" name="Text Placeholder 3">
              <a:extLst>
                <a:ext uri="{FF2B5EF4-FFF2-40B4-BE49-F238E27FC236}">
                  <a16:creationId xmlns:a16="http://schemas.microsoft.com/office/drawing/2014/main" id="{FE3C27FC-B736-43F1-B4FF-BC5FE955D021}"/>
                </a:ext>
              </a:extLst>
            </p:cNvPr>
            <p:cNvSpPr txBox="1">
              <a:spLocks/>
            </p:cNvSpPr>
            <p:nvPr/>
          </p:nvSpPr>
          <p:spPr>
            <a:xfrm>
              <a:off x="8403327" y="2474607"/>
              <a:ext cx="47200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sz="3200" dirty="0">
                  <a:latin typeface="Arial" panose="020B0604020202020204" pitchFamily="34" charset="0"/>
                  <a:cs typeface="Arial" panose="020B0604020202020204" pitchFamily="34" charset="0"/>
                </a:rPr>
                <a:t>θ</a:t>
              </a:r>
              <a:endParaRPr lang="en-AU" sz="3200" dirty="0"/>
            </a:p>
          </p:txBody>
        </p:sp>
        <p:cxnSp>
          <p:nvCxnSpPr>
            <p:cNvPr id="32" name="Straight Arrow Connector 31">
              <a:extLst>
                <a:ext uri="{FF2B5EF4-FFF2-40B4-BE49-F238E27FC236}">
                  <a16:creationId xmlns:a16="http://schemas.microsoft.com/office/drawing/2014/main" id="{900C2365-A85F-4E6C-A458-28F91880528E}"/>
                </a:ext>
              </a:extLst>
            </p:cNvPr>
            <p:cNvCxnSpPr>
              <a:cxnSpLocks/>
            </p:cNvCxnSpPr>
            <p:nvPr/>
          </p:nvCxnSpPr>
          <p:spPr>
            <a:xfrm flipV="1">
              <a:off x="8157819" y="1882778"/>
              <a:ext cx="867882" cy="1006735"/>
            </a:xfrm>
            <a:prstGeom prst="straightConnector1">
              <a:avLst/>
            </a:prstGeom>
            <a:ln w="571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98D02C09-1EE4-4DF5-B05D-726BF7EC51B3}"/>
                </a:ext>
              </a:extLst>
            </p:cNvPr>
            <p:cNvSpPr/>
            <p:nvPr/>
          </p:nvSpPr>
          <p:spPr>
            <a:xfrm>
              <a:off x="7113178" y="1110219"/>
              <a:ext cx="183745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chemeClr val="tx1"/>
                  </a:solidFill>
                </a:rPr>
                <a:t>F</a:t>
              </a:r>
              <a:r>
                <a:rPr lang="en-AU" sz="3600" b="1" baseline="-25000" dirty="0" err="1">
                  <a:solidFill>
                    <a:schemeClr val="tx1"/>
                  </a:solidFill>
                </a:rPr>
                <a:t>reaction</a:t>
              </a:r>
              <a:endParaRPr lang="en-AU" sz="3600" b="1" dirty="0">
                <a:solidFill>
                  <a:schemeClr val="tx1"/>
                </a:solidFill>
              </a:endParaRPr>
            </a:p>
          </p:txBody>
        </p:sp>
        <p:cxnSp>
          <p:nvCxnSpPr>
            <p:cNvPr id="34" name="Straight Arrow Connector 33">
              <a:extLst>
                <a:ext uri="{FF2B5EF4-FFF2-40B4-BE49-F238E27FC236}">
                  <a16:creationId xmlns:a16="http://schemas.microsoft.com/office/drawing/2014/main" id="{88AD5D3D-FB40-410C-A72B-D9E3BFAFD32C}"/>
                </a:ext>
              </a:extLst>
            </p:cNvPr>
            <p:cNvCxnSpPr>
              <a:cxnSpLocks/>
            </p:cNvCxnSpPr>
            <p:nvPr/>
          </p:nvCxnSpPr>
          <p:spPr>
            <a:xfrm>
              <a:off x="8157819" y="2958410"/>
              <a:ext cx="1010823"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2B2EE72-7E21-487E-BDA7-AC09A6F77718}"/>
                </a:ext>
              </a:extLst>
            </p:cNvPr>
            <p:cNvCxnSpPr>
              <a:cxnSpLocks/>
            </p:cNvCxnSpPr>
            <p:nvPr/>
          </p:nvCxnSpPr>
          <p:spPr>
            <a:xfrm flipV="1">
              <a:off x="9151614" y="1882778"/>
              <a:ext cx="0" cy="95226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8D07DB6A-EB49-4919-92DF-0278407F9F2C}"/>
                </a:ext>
              </a:extLst>
            </p:cNvPr>
            <p:cNvSpPr/>
            <p:nvPr/>
          </p:nvSpPr>
          <p:spPr>
            <a:xfrm>
              <a:off x="9060307" y="1613870"/>
              <a:ext cx="183745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chemeClr val="tx1"/>
                  </a:solidFill>
                </a:rPr>
                <a:t>F</a:t>
              </a:r>
              <a:r>
                <a:rPr lang="en-AU" sz="3600" b="1" baseline="-25000" dirty="0" err="1">
                  <a:solidFill>
                    <a:schemeClr val="tx1"/>
                  </a:solidFill>
                </a:rPr>
                <a:t>normal</a:t>
              </a:r>
              <a:endParaRPr lang="en-AU" sz="3600" b="1" dirty="0">
                <a:solidFill>
                  <a:schemeClr val="tx1"/>
                </a:solidFill>
              </a:endParaRPr>
            </a:p>
          </p:txBody>
        </p:sp>
        <p:sp>
          <p:nvSpPr>
            <p:cNvPr id="40" name="Rectangle 39">
              <a:extLst>
                <a:ext uri="{FF2B5EF4-FFF2-40B4-BE49-F238E27FC236}">
                  <a16:creationId xmlns:a16="http://schemas.microsoft.com/office/drawing/2014/main" id="{27DDB422-3A36-4084-8D3A-E82C6738137D}"/>
                </a:ext>
              </a:extLst>
            </p:cNvPr>
            <p:cNvSpPr/>
            <p:nvPr/>
          </p:nvSpPr>
          <p:spPr>
            <a:xfrm>
              <a:off x="7313883" y="2506046"/>
              <a:ext cx="183745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chemeClr val="tx1"/>
                  </a:solidFill>
                </a:rPr>
                <a:t>F</a:t>
              </a:r>
              <a:r>
                <a:rPr lang="en-AU" sz="3600" b="1" baseline="-25000" dirty="0" err="1">
                  <a:solidFill>
                    <a:schemeClr val="tx1"/>
                  </a:solidFill>
                </a:rPr>
                <a:t>friction</a:t>
              </a:r>
              <a:endParaRPr lang="en-AU" sz="3600" b="1" dirty="0">
                <a:solidFill>
                  <a:schemeClr val="tx1"/>
                </a:solidFill>
              </a:endParaRPr>
            </a:p>
          </p:txBody>
        </p:sp>
        <p:cxnSp>
          <p:nvCxnSpPr>
            <p:cNvPr id="24" name="Straight Arrow Connector 23">
              <a:extLst>
                <a:ext uri="{FF2B5EF4-FFF2-40B4-BE49-F238E27FC236}">
                  <a16:creationId xmlns:a16="http://schemas.microsoft.com/office/drawing/2014/main" id="{4C80DB0D-FCDF-4DF7-8F40-131CFDF71108}"/>
                </a:ext>
              </a:extLst>
            </p:cNvPr>
            <p:cNvCxnSpPr>
              <a:cxnSpLocks/>
            </p:cNvCxnSpPr>
            <p:nvPr/>
          </p:nvCxnSpPr>
          <p:spPr>
            <a:xfrm flipH="1">
              <a:off x="9168642" y="2987442"/>
              <a:ext cx="25812" cy="116278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332A924-D8E4-40C6-B5AA-4994459ED843}"/>
                </a:ext>
              </a:extLst>
            </p:cNvPr>
            <p:cNvSpPr/>
            <p:nvPr/>
          </p:nvSpPr>
          <p:spPr>
            <a:xfrm>
              <a:off x="8846152" y="2754396"/>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rgbClr val="FF0000"/>
                  </a:solidFill>
                </a:rPr>
                <a:t>F</a:t>
              </a:r>
              <a:r>
                <a:rPr lang="en-AU" sz="3600" b="1" baseline="-25000" dirty="0" err="1">
                  <a:solidFill>
                    <a:srgbClr val="FF0000"/>
                  </a:solidFill>
                </a:rPr>
                <a:t>w</a:t>
              </a:r>
              <a:endParaRPr lang="en-AU" sz="3600" b="1" dirty="0">
                <a:solidFill>
                  <a:srgbClr val="FF0000"/>
                </a:solidFill>
              </a:endParaRPr>
            </a:p>
          </p:txBody>
        </p:sp>
      </p:grpSp>
      <p:grpSp>
        <p:nvGrpSpPr>
          <p:cNvPr id="10" name="Group 9">
            <a:extLst>
              <a:ext uri="{FF2B5EF4-FFF2-40B4-BE49-F238E27FC236}">
                <a16:creationId xmlns:a16="http://schemas.microsoft.com/office/drawing/2014/main" id="{D8E3AC6D-4679-4513-8B9C-0E32426DB53B}"/>
              </a:ext>
            </a:extLst>
          </p:cNvPr>
          <p:cNvGrpSpPr/>
          <p:nvPr/>
        </p:nvGrpSpPr>
        <p:grpSpPr>
          <a:xfrm>
            <a:off x="3609090" y="2663837"/>
            <a:ext cx="4194222" cy="1706501"/>
            <a:chOff x="3609090" y="2663837"/>
            <a:chExt cx="4194222" cy="1706501"/>
          </a:xfrm>
        </p:grpSpPr>
        <p:sp>
          <p:nvSpPr>
            <p:cNvPr id="28" name="Text Placeholder 3">
              <a:extLst>
                <a:ext uri="{FF2B5EF4-FFF2-40B4-BE49-F238E27FC236}">
                  <a16:creationId xmlns:a16="http://schemas.microsoft.com/office/drawing/2014/main" id="{78DB5772-F397-4EC2-9C49-D12AD06BF047}"/>
                </a:ext>
              </a:extLst>
            </p:cNvPr>
            <p:cNvSpPr txBox="1">
              <a:spLocks/>
            </p:cNvSpPr>
            <p:nvPr/>
          </p:nvSpPr>
          <p:spPr>
            <a:xfrm>
              <a:off x="3609090" y="2663837"/>
              <a:ext cx="4194222" cy="64109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2000" b="0" dirty="0"/>
                <a:t>As a vector diagram:</a:t>
              </a:r>
            </a:p>
          </p:txBody>
        </p:sp>
        <p:grpSp>
          <p:nvGrpSpPr>
            <p:cNvPr id="35" name="Group 34">
              <a:extLst>
                <a:ext uri="{FF2B5EF4-FFF2-40B4-BE49-F238E27FC236}">
                  <a16:creationId xmlns:a16="http://schemas.microsoft.com/office/drawing/2014/main" id="{C31FE79E-BA46-431D-9E93-13A257349265}"/>
                </a:ext>
              </a:extLst>
            </p:cNvPr>
            <p:cNvGrpSpPr/>
            <p:nvPr/>
          </p:nvGrpSpPr>
          <p:grpSpPr>
            <a:xfrm>
              <a:off x="3669839" y="2698077"/>
              <a:ext cx="3703547" cy="1672261"/>
              <a:chOff x="1318339" y="899963"/>
              <a:chExt cx="3703547" cy="1672261"/>
            </a:xfrm>
          </p:grpSpPr>
          <p:cxnSp>
            <p:nvCxnSpPr>
              <p:cNvPr id="41" name="Straight Arrow Connector 40">
                <a:extLst>
                  <a:ext uri="{FF2B5EF4-FFF2-40B4-BE49-F238E27FC236}">
                    <a16:creationId xmlns:a16="http://schemas.microsoft.com/office/drawing/2014/main" id="{A0D2578A-8DCE-4319-8D59-3DBD86B76775}"/>
                  </a:ext>
                </a:extLst>
              </p:cNvPr>
              <p:cNvCxnSpPr>
                <a:cxnSpLocks/>
              </p:cNvCxnSpPr>
              <p:nvPr/>
            </p:nvCxnSpPr>
            <p:spPr>
              <a:xfrm flipH="1">
                <a:off x="3798152" y="1338938"/>
                <a:ext cx="25812" cy="116278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4799ABDC-D9EB-42AA-B0BF-42954FCD3378}"/>
                  </a:ext>
                </a:extLst>
              </p:cNvPr>
              <p:cNvSpPr/>
              <p:nvPr/>
            </p:nvSpPr>
            <p:spPr>
              <a:xfrm>
                <a:off x="3550360" y="1176397"/>
                <a:ext cx="147152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rgbClr val="FF0000"/>
                    </a:solidFill>
                  </a:rPr>
                  <a:t>F</a:t>
                </a:r>
                <a:r>
                  <a:rPr lang="en-AU" sz="3600" b="1" baseline="-25000" dirty="0" err="1">
                    <a:solidFill>
                      <a:srgbClr val="FF0000"/>
                    </a:solidFill>
                  </a:rPr>
                  <a:t>w</a:t>
                </a:r>
                <a:endParaRPr lang="en-AU" sz="3600" b="1" dirty="0">
                  <a:solidFill>
                    <a:srgbClr val="FF0000"/>
                  </a:solidFill>
                </a:endParaRPr>
              </a:p>
            </p:txBody>
          </p:sp>
          <p:cxnSp>
            <p:nvCxnSpPr>
              <p:cNvPr id="45" name="Straight Arrow Connector 44">
                <a:extLst>
                  <a:ext uri="{FF2B5EF4-FFF2-40B4-BE49-F238E27FC236}">
                    <a16:creationId xmlns:a16="http://schemas.microsoft.com/office/drawing/2014/main" id="{961030A1-5BA4-4FE4-B40F-3FFAF3C58AE4}"/>
                  </a:ext>
                </a:extLst>
              </p:cNvPr>
              <p:cNvCxnSpPr>
                <a:cxnSpLocks/>
              </p:cNvCxnSpPr>
              <p:nvPr/>
            </p:nvCxnSpPr>
            <p:spPr>
              <a:xfrm flipV="1">
                <a:off x="2831527" y="1370942"/>
                <a:ext cx="867882" cy="113077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4FC18F92-3D08-4636-9F97-21DB54213DBF}"/>
                  </a:ext>
                </a:extLst>
              </p:cNvPr>
              <p:cNvSpPr/>
              <p:nvPr/>
            </p:nvSpPr>
            <p:spPr>
              <a:xfrm>
                <a:off x="1318339" y="899963"/>
                <a:ext cx="1837456" cy="1395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err="1">
                    <a:solidFill>
                      <a:srgbClr val="FF0000"/>
                    </a:solidFill>
                  </a:rPr>
                  <a:t>F</a:t>
                </a:r>
                <a:r>
                  <a:rPr lang="en-AU" sz="3600" b="1" baseline="-25000" dirty="0" err="1">
                    <a:solidFill>
                      <a:srgbClr val="FF0000"/>
                    </a:solidFill>
                  </a:rPr>
                  <a:t>reaction</a:t>
                </a:r>
                <a:endParaRPr lang="en-AU" sz="3600" b="1" dirty="0">
                  <a:solidFill>
                    <a:srgbClr val="FF0000"/>
                  </a:solidFill>
                </a:endParaRPr>
              </a:p>
            </p:txBody>
          </p:sp>
        </p:grpSp>
      </p:grpSp>
    </p:spTree>
    <p:extLst>
      <p:ext uri="{BB962C8B-B14F-4D97-AF65-F5344CB8AC3E}">
        <p14:creationId xmlns:p14="http://schemas.microsoft.com/office/powerpoint/2010/main" val="289240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on banked curves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7717BB2E-736F-4612-A35F-AB4C6BD359D8}"/>
              </a:ext>
            </a:extLst>
          </p:cNvPr>
          <p:cNvSpPr txBox="1">
            <a:spLocks/>
          </p:cNvSpPr>
          <p:nvPr/>
        </p:nvSpPr>
        <p:spPr>
          <a:xfrm>
            <a:off x="94582" y="951299"/>
            <a:ext cx="1170542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A motorcyclist leans into the corner as she navigates a roundabout that is 16.0m wide. The motorcyclist is travelling at 35.0 km/h and the combined weight of the motorcyclist and her motorcycle is 1760N.</a:t>
            </a:r>
          </a:p>
          <a:p>
            <a:pPr marL="457200" indent="-457200">
              <a:buAutoNum type="alphaLcParenR"/>
            </a:pPr>
            <a:r>
              <a:rPr lang="en-AU" sz="2000" b="0" dirty="0"/>
              <a:t>Draw a vector diagram</a:t>
            </a:r>
          </a:p>
          <a:p>
            <a:pPr marL="457200" indent="-457200">
              <a:buAutoNum type="alphaLcParenR"/>
            </a:pPr>
            <a:r>
              <a:rPr lang="en-AU" sz="2000" b="0" dirty="0"/>
              <a:t>Calculate the </a:t>
            </a:r>
            <a:r>
              <a:rPr lang="en-AU" sz="2000" b="0" u="sng" dirty="0"/>
              <a:t>reaction</a:t>
            </a:r>
            <a:r>
              <a:rPr lang="en-AU" sz="2000" b="0" dirty="0"/>
              <a:t> force applied to the motorcycle by the road.</a:t>
            </a:r>
          </a:p>
          <a:p>
            <a:pPr marL="457200" indent="-457200">
              <a:buAutoNum type="alphaLcParenR"/>
            </a:pPr>
            <a:r>
              <a:rPr lang="en-AU" sz="2000" b="0" dirty="0"/>
              <a:t>When the motorcycle wheels pass over a slippery combination of water and oil on the road, the frictional force decreases. What effect will this have on the horizontal and vertical components of the reaction force?</a:t>
            </a:r>
          </a:p>
          <a:p>
            <a:endParaRPr lang="en-AU" sz="2000" b="0" dirty="0"/>
          </a:p>
        </p:txBody>
      </p:sp>
    </p:spTree>
    <p:extLst>
      <p:ext uri="{BB962C8B-B14F-4D97-AF65-F5344CB8AC3E}">
        <p14:creationId xmlns:p14="http://schemas.microsoft.com/office/powerpoint/2010/main" val="293861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on banked curves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7717BB2E-736F-4612-A35F-AB4C6BD359D8}"/>
              </a:ext>
            </a:extLst>
          </p:cNvPr>
          <p:cNvSpPr txBox="1">
            <a:spLocks/>
          </p:cNvSpPr>
          <p:nvPr/>
        </p:nvSpPr>
        <p:spPr>
          <a:xfrm>
            <a:off x="94582" y="951299"/>
            <a:ext cx="1170542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A motorcyclist leans into the corner as she navigates a roundabout that is 16.0m wide. The motorcyclists is travelling at 35.0 km/h and the combined weight of the motorcyclist and her motorcycle is 1760N.</a:t>
            </a:r>
          </a:p>
          <a:p>
            <a:pPr marL="457200" indent="-457200">
              <a:buAutoNum type="alphaLcParenR"/>
            </a:pPr>
            <a:r>
              <a:rPr lang="en-AU" sz="2000" b="0" dirty="0"/>
              <a:t>Draw a vector diagram</a:t>
            </a:r>
          </a:p>
          <a:p>
            <a:pPr marL="457200" indent="-457200">
              <a:buAutoNum type="alphaLcParenR"/>
            </a:pPr>
            <a:r>
              <a:rPr lang="en-AU" sz="2000" b="0" dirty="0"/>
              <a:t>Calculate the </a:t>
            </a:r>
            <a:r>
              <a:rPr lang="en-AU" sz="2000" b="0" u="sng" dirty="0"/>
              <a:t>reaction</a:t>
            </a:r>
            <a:r>
              <a:rPr lang="en-AU" sz="2000" b="0" dirty="0"/>
              <a:t> force applied to the motorcycle by the road.</a:t>
            </a:r>
          </a:p>
          <a:p>
            <a:pPr marL="457200" indent="-457200">
              <a:buAutoNum type="alphaLcParenR"/>
            </a:pPr>
            <a:r>
              <a:rPr lang="en-AU" sz="2000" b="0" dirty="0"/>
              <a:t>When the motorcycle wheels pass over a slippery combination of water and oil on the road, the frictional force decreases. What effect will this have on the horizontal and vertical components of the reaction force?</a:t>
            </a:r>
          </a:p>
          <a:p>
            <a:endParaRPr lang="en-AU" sz="2000" b="0" dirty="0"/>
          </a:p>
        </p:txBody>
      </p:sp>
      <p:pic>
        <p:nvPicPr>
          <p:cNvPr id="5" name="Picture 4">
            <a:extLst>
              <a:ext uri="{FF2B5EF4-FFF2-40B4-BE49-F238E27FC236}">
                <a16:creationId xmlns:a16="http://schemas.microsoft.com/office/drawing/2014/main" id="{A0BC359B-2FE8-4DDA-A1C9-CD8421780506}"/>
              </a:ext>
            </a:extLst>
          </p:cNvPr>
          <p:cNvPicPr>
            <a:picLocks noChangeAspect="1"/>
          </p:cNvPicPr>
          <p:nvPr/>
        </p:nvPicPr>
        <p:blipFill>
          <a:blip r:embed="rId3"/>
          <a:stretch>
            <a:fillRect/>
          </a:stretch>
        </p:blipFill>
        <p:spPr>
          <a:xfrm>
            <a:off x="126187" y="1077716"/>
            <a:ext cx="11967305" cy="4991710"/>
          </a:xfrm>
          <a:prstGeom prst="rect">
            <a:avLst/>
          </a:prstGeom>
        </p:spPr>
      </p:pic>
    </p:spTree>
    <p:extLst>
      <p:ext uri="{BB962C8B-B14F-4D97-AF65-F5344CB8AC3E}">
        <p14:creationId xmlns:p14="http://schemas.microsoft.com/office/powerpoint/2010/main" val="31278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circular motion</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600" b="0" i="0" dirty="0">
                <a:solidFill>
                  <a:srgbClr val="000303"/>
                </a:solidFill>
                <a:effectLst/>
                <a:latin typeface="+mj-lt"/>
              </a:rPr>
              <a:t>I can calculate velocity, acceleration and force for:</a:t>
            </a:r>
          </a:p>
          <a:p>
            <a:pPr marL="857250" lvl="1" indent="-171450"/>
            <a:r>
              <a:rPr lang="en-US" sz="1600" i="0" dirty="0">
                <a:solidFill>
                  <a:srgbClr val="000303"/>
                </a:solidFill>
                <a:effectLst/>
                <a:latin typeface="+mj-lt"/>
              </a:rPr>
              <a:t>Conical pendulums</a:t>
            </a:r>
          </a:p>
          <a:p>
            <a:pPr marL="857250" lvl="1" indent="-171450"/>
            <a:r>
              <a:rPr lang="en-US" sz="1600" i="0" dirty="0">
                <a:solidFill>
                  <a:srgbClr val="000303"/>
                </a:solidFill>
                <a:effectLst/>
                <a:latin typeface="+mj-lt"/>
              </a:rPr>
              <a:t>Objects </a:t>
            </a:r>
            <a:r>
              <a:rPr lang="en-US" sz="1600" dirty="0">
                <a:solidFill>
                  <a:srgbClr val="000303"/>
                </a:solidFill>
                <a:latin typeface="+mj-lt"/>
              </a:rPr>
              <a:t>on banked tracks</a:t>
            </a:r>
          </a:p>
          <a:p>
            <a:pPr marL="857250" lvl="1" indent="-171450"/>
            <a:r>
              <a:rPr lang="en-US" sz="1600" b="0" i="0" dirty="0">
                <a:solidFill>
                  <a:srgbClr val="000303"/>
                </a:solidFill>
                <a:effectLst/>
                <a:latin typeface="+mj-lt"/>
              </a:rPr>
              <a:t>Objects leaning</a:t>
            </a:r>
          </a:p>
        </p:txBody>
      </p:sp>
    </p:spTree>
    <p:extLst>
      <p:ext uri="{BB962C8B-B14F-4D97-AF65-F5344CB8AC3E}">
        <p14:creationId xmlns:p14="http://schemas.microsoft.com/office/powerpoint/2010/main" val="606801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2EF1FDA7-9F33-452C-AE13-20D74939630A}"/>
              </a:ext>
            </a:extLst>
          </p:cNvPr>
          <p:cNvPicPr>
            <a:picLocks noChangeAspect="1"/>
          </p:cNvPicPr>
          <p:nvPr/>
        </p:nvPicPr>
        <p:blipFill>
          <a:blip r:embed="rId3"/>
          <a:stretch>
            <a:fillRect/>
          </a:stretch>
        </p:blipFill>
        <p:spPr>
          <a:xfrm>
            <a:off x="1679058" y="755130"/>
            <a:ext cx="9048750" cy="5667375"/>
          </a:xfrm>
          <a:prstGeom prst="rect">
            <a:avLst/>
          </a:prstGeom>
        </p:spPr>
      </p:pic>
      <p:sp>
        <p:nvSpPr>
          <p:cNvPr id="10" name="Text Placeholder 3">
            <a:extLst>
              <a:ext uri="{FF2B5EF4-FFF2-40B4-BE49-F238E27FC236}">
                <a16:creationId xmlns:a16="http://schemas.microsoft.com/office/drawing/2014/main" id="{3B4F492D-7D9A-40C3-BA44-6E0526B19929}"/>
              </a:ext>
            </a:extLst>
          </p:cNvPr>
          <p:cNvSpPr txBox="1">
            <a:spLocks/>
          </p:cNvSpPr>
          <p:nvPr/>
        </p:nvSpPr>
        <p:spPr>
          <a:xfrm>
            <a:off x="8037938" y="1823244"/>
            <a:ext cx="2689870" cy="48273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AU" sz="2000" dirty="0"/>
              <a:t>Watch the angle. It isn’t the angle that is normally supplied.</a:t>
            </a:r>
          </a:p>
        </p:txBody>
      </p:sp>
    </p:spTree>
    <p:extLst>
      <p:ext uri="{BB962C8B-B14F-4D97-AF65-F5344CB8AC3E}">
        <p14:creationId xmlns:p14="http://schemas.microsoft.com/office/powerpoint/2010/main" val="304418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349E4803-FBFE-444F-84D1-6003639E15BA}"/>
              </a:ext>
            </a:extLst>
          </p:cNvPr>
          <p:cNvPicPr>
            <a:picLocks noChangeAspect="1"/>
          </p:cNvPicPr>
          <p:nvPr/>
        </p:nvPicPr>
        <p:blipFill>
          <a:blip r:embed="rId3"/>
          <a:stretch>
            <a:fillRect/>
          </a:stretch>
        </p:blipFill>
        <p:spPr>
          <a:xfrm>
            <a:off x="601491" y="1035929"/>
            <a:ext cx="10989018" cy="4992912"/>
          </a:xfrm>
          <a:prstGeom prst="rect">
            <a:avLst/>
          </a:prstGeom>
        </p:spPr>
      </p:pic>
    </p:spTree>
    <p:extLst>
      <p:ext uri="{BB962C8B-B14F-4D97-AF65-F5344CB8AC3E}">
        <p14:creationId xmlns:p14="http://schemas.microsoft.com/office/powerpoint/2010/main" val="175143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 on banked curves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7717BB2E-736F-4612-A35F-AB4C6BD359D8}"/>
              </a:ext>
            </a:extLst>
          </p:cNvPr>
          <p:cNvSpPr txBox="1">
            <a:spLocks/>
          </p:cNvSpPr>
          <p:nvPr/>
        </p:nvSpPr>
        <p:spPr>
          <a:xfrm>
            <a:off x="94582" y="951299"/>
            <a:ext cx="1170542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The curved section of an Olympic 400m track has a radius of curvature of 36.5m. A 200m sprinter travels 8.50 ms</a:t>
            </a:r>
            <a:r>
              <a:rPr lang="en-AU" sz="2000" b="0" baseline="30000" dirty="0"/>
              <a:t>-1 </a:t>
            </a:r>
            <a:r>
              <a:rPr lang="en-AU" sz="2000" b="0" dirty="0"/>
              <a:t>around this bend.</a:t>
            </a:r>
          </a:p>
          <a:p>
            <a:r>
              <a:rPr lang="en-AU" sz="2000" b="0" dirty="0"/>
              <a:t>At what angle must the sprinter lean to obtain the required centripetal force? </a:t>
            </a:r>
          </a:p>
        </p:txBody>
      </p:sp>
    </p:spTree>
    <p:extLst>
      <p:ext uri="{BB962C8B-B14F-4D97-AF65-F5344CB8AC3E}">
        <p14:creationId xmlns:p14="http://schemas.microsoft.com/office/powerpoint/2010/main" val="3723432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D02B1CC9-78A3-4083-83F2-3001C34E1EF7}"/>
              </a:ext>
            </a:extLst>
          </p:cNvPr>
          <p:cNvPicPr>
            <a:picLocks noChangeAspect="1"/>
          </p:cNvPicPr>
          <p:nvPr/>
        </p:nvPicPr>
        <p:blipFill>
          <a:blip r:embed="rId3"/>
          <a:stretch>
            <a:fillRect/>
          </a:stretch>
        </p:blipFill>
        <p:spPr>
          <a:xfrm>
            <a:off x="855173" y="1038357"/>
            <a:ext cx="10696520" cy="4781286"/>
          </a:xfrm>
          <a:prstGeom prst="rect">
            <a:avLst/>
          </a:prstGeom>
        </p:spPr>
      </p:pic>
    </p:spTree>
    <p:extLst>
      <p:ext uri="{BB962C8B-B14F-4D97-AF65-F5344CB8AC3E}">
        <p14:creationId xmlns:p14="http://schemas.microsoft.com/office/powerpoint/2010/main" val="237213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7CA6C646-D5B5-41B6-9356-0FA49ECCD53E}"/>
              </a:ext>
            </a:extLst>
          </p:cNvPr>
          <p:cNvPicPr>
            <a:picLocks noChangeAspect="1"/>
          </p:cNvPicPr>
          <p:nvPr/>
        </p:nvPicPr>
        <p:blipFill>
          <a:blip r:embed="rId3"/>
          <a:stretch>
            <a:fillRect/>
          </a:stretch>
        </p:blipFill>
        <p:spPr>
          <a:xfrm>
            <a:off x="655309" y="1062750"/>
            <a:ext cx="11144695" cy="4950591"/>
          </a:xfrm>
          <a:prstGeom prst="rect">
            <a:avLst/>
          </a:prstGeom>
        </p:spPr>
      </p:pic>
    </p:spTree>
    <p:extLst>
      <p:ext uri="{BB962C8B-B14F-4D97-AF65-F5344CB8AC3E}">
        <p14:creationId xmlns:p14="http://schemas.microsoft.com/office/powerpoint/2010/main" val="321957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Additional Study</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F68B6C4B-CB8F-B0E5-F200-7C77D3D2F77A}"/>
              </a:ext>
            </a:extLst>
          </p:cNvPr>
          <p:cNvPicPr>
            <a:picLocks noChangeAspect="1"/>
          </p:cNvPicPr>
          <p:nvPr/>
        </p:nvPicPr>
        <p:blipFill>
          <a:blip r:embed="rId3"/>
          <a:stretch>
            <a:fillRect/>
          </a:stretch>
        </p:blipFill>
        <p:spPr>
          <a:xfrm>
            <a:off x="4369475" y="14042"/>
            <a:ext cx="7822525" cy="6858000"/>
          </a:xfrm>
          <a:prstGeom prst="rect">
            <a:avLst/>
          </a:prstGeom>
        </p:spPr>
      </p:pic>
      <p:pic>
        <p:nvPicPr>
          <p:cNvPr id="9" name="Picture 8">
            <a:extLst>
              <a:ext uri="{FF2B5EF4-FFF2-40B4-BE49-F238E27FC236}">
                <a16:creationId xmlns:a16="http://schemas.microsoft.com/office/drawing/2014/main" id="{E991EFD5-9B38-41E0-CA5A-35427A3891A2}"/>
              </a:ext>
            </a:extLst>
          </p:cNvPr>
          <p:cNvPicPr>
            <a:picLocks noChangeAspect="1"/>
          </p:cNvPicPr>
          <p:nvPr/>
        </p:nvPicPr>
        <p:blipFill>
          <a:blip r:embed="rId4"/>
          <a:stretch>
            <a:fillRect/>
          </a:stretch>
        </p:blipFill>
        <p:spPr>
          <a:xfrm>
            <a:off x="289539" y="1275228"/>
            <a:ext cx="1895475" cy="447675"/>
          </a:xfrm>
          <a:prstGeom prst="rect">
            <a:avLst/>
          </a:prstGeom>
        </p:spPr>
      </p:pic>
    </p:spTree>
    <p:extLst>
      <p:ext uri="{BB962C8B-B14F-4D97-AF65-F5344CB8AC3E}">
        <p14:creationId xmlns:p14="http://schemas.microsoft.com/office/powerpoint/2010/main" val="1889190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865E070-2BEE-4DF4-BA4D-067C2801DEF5}"/>
</file>

<file path=customXml/itemProps2.xml><?xml version="1.0" encoding="utf-8"?>
<ds:datastoreItem xmlns:ds="http://schemas.openxmlformats.org/officeDocument/2006/customXml" ds:itemID="{77F09D33-A1B5-4438-8F96-65DD71762491}">
  <ds:schemaRefs>
    <ds:schemaRef ds:uri="http://schemas.microsoft.com/sharepoint/v3/contenttype/forms"/>
  </ds:schemaRefs>
</ds:datastoreItem>
</file>

<file path=customXml/itemProps3.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5372</TotalTime>
  <Words>1579</Words>
  <Application>Microsoft Office PowerPoint</Application>
  <PresentationFormat>Widescreen</PresentationFormat>
  <Paragraphs>216</Paragraphs>
  <Slides>25</Slides>
  <Notes>21</Notes>
  <HiddenSlides>0</HiddenSlides>
  <MMClips>2</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25</vt:i4>
      </vt:variant>
    </vt:vector>
  </HeadingPairs>
  <TitlesOfParts>
    <vt:vector size="32" baseType="lpstr">
      <vt:lpstr>Arial</vt:lpstr>
      <vt:lpstr>Calibri</vt:lpstr>
      <vt:lpstr>Cambria Math</vt:lpstr>
      <vt:lpstr>Century Gothic</vt:lpstr>
      <vt:lpstr>Futura Medium</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409</cp:revision>
  <cp:lastPrinted>2018-05-27T06:54:10Z</cp:lastPrinted>
  <dcterms:created xsi:type="dcterms:W3CDTF">2018-03-29T05:56:09Z</dcterms:created>
  <dcterms:modified xsi:type="dcterms:W3CDTF">2023-03-10T02:25:08Z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