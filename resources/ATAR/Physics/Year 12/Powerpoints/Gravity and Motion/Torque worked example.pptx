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7" r:id="rId3"/>
    <p:sldId id="271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/>
  </p:normalViewPr>
  <p:slideViewPr>
    <p:cSldViewPr snapToGrid="0">
      <p:cViewPr>
        <p:scale>
          <a:sx n="100" d="100"/>
          <a:sy n="100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49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56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30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04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19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67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629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840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57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77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98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0EE4-3DC0-4B6E-A1C6-CF18A5DFA8C2}" type="datetimeFigureOut">
              <a:rPr lang="en-AU" smtClean="0"/>
              <a:t>15/04/2023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A55A-4A2B-412E-9EA0-38D239E4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003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0E48FB-C8B7-E788-3938-B34A092E4DC3}"/>
              </a:ext>
            </a:extLst>
          </p:cNvPr>
          <p:cNvSpPr/>
          <p:nvPr/>
        </p:nvSpPr>
        <p:spPr>
          <a:xfrm>
            <a:off x="0" y="0"/>
            <a:ext cx="6858000" cy="335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>
                <a:solidFill>
                  <a:sysClr val="windowText" lastClr="000000"/>
                </a:solidFill>
              </a:rPr>
              <a:t>Static and Rotational Equilibrium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18621-D1F7-98F3-45BC-2497C3C3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764"/>
            <a:ext cx="6858000" cy="507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BE7E9A-B9C1-930C-BC69-0890AC1DE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1" y="5693663"/>
            <a:ext cx="6650182" cy="423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5355B-8D2D-F8F6-AF37-38254F999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5455538"/>
            <a:ext cx="314325" cy="238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265933-9A68-9CFA-1C1D-24C094258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164" y="6153367"/>
            <a:ext cx="6587836" cy="47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0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0E48FB-C8B7-E788-3938-B34A092E4DC3}"/>
              </a:ext>
            </a:extLst>
          </p:cNvPr>
          <p:cNvSpPr/>
          <p:nvPr/>
        </p:nvSpPr>
        <p:spPr>
          <a:xfrm>
            <a:off x="0" y="0"/>
            <a:ext cx="6858000" cy="335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Static and Rotational Equilibrium </a:t>
            </a:r>
            <a:r>
              <a:rPr lang="en-AU" sz="1600" b="1" dirty="0">
                <a:solidFill>
                  <a:sysClr val="windowText" lastClr="000000"/>
                </a:solidFill>
              </a:rPr>
              <a:t>GUIDE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71226-6171-A781-A85A-F9055443791D}"/>
              </a:ext>
            </a:extLst>
          </p:cNvPr>
          <p:cNvSpPr/>
          <p:nvPr/>
        </p:nvSpPr>
        <p:spPr>
          <a:xfrm>
            <a:off x="0" y="335560"/>
            <a:ext cx="6858000" cy="2937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1: Draw or annotate the picture</a:t>
            </a:r>
          </a:p>
          <a:p>
            <a:r>
              <a:rPr lang="en-AU" sz="1400" dirty="0">
                <a:solidFill>
                  <a:schemeClr val="tx1"/>
                </a:solidFill>
              </a:rPr>
              <a:t>Identify and label the forces acting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C36FE-C6D5-3E34-9E09-6305181793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0" t="31081" r="23637" b="7059"/>
          <a:stretch/>
        </p:blipFill>
        <p:spPr>
          <a:xfrm>
            <a:off x="218209" y="893617"/>
            <a:ext cx="3813532" cy="23795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CE007C-6422-9927-72B5-4F2C1072DCC6}"/>
              </a:ext>
            </a:extLst>
          </p:cNvPr>
          <p:cNvSpPr/>
          <p:nvPr/>
        </p:nvSpPr>
        <p:spPr>
          <a:xfrm>
            <a:off x="5029199" y="453529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#marks: None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0CC9F8-5454-BFBB-F7E8-9423DCC21B95}"/>
              </a:ext>
            </a:extLst>
          </p:cNvPr>
          <p:cNvCxnSpPr/>
          <p:nvPr/>
        </p:nvCxnSpPr>
        <p:spPr>
          <a:xfrm flipV="1">
            <a:off x="1558636" y="2306782"/>
            <a:ext cx="477982" cy="4779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4AB283-B5D1-1A45-F30D-E54E69CD620B}"/>
              </a:ext>
            </a:extLst>
          </p:cNvPr>
          <p:cNvCxnSpPr>
            <a:cxnSpLocks/>
          </p:cNvCxnSpPr>
          <p:nvPr/>
        </p:nvCxnSpPr>
        <p:spPr>
          <a:xfrm>
            <a:off x="3093027" y="1253629"/>
            <a:ext cx="0" cy="668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72A450-C51B-9CF7-5559-355DBE8E12C7}"/>
              </a:ext>
            </a:extLst>
          </p:cNvPr>
          <p:cNvCxnSpPr>
            <a:cxnSpLocks/>
          </p:cNvCxnSpPr>
          <p:nvPr/>
        </p:nvCxnSpPr>
        <p:spPr>
          <a:xfrm>
            <a:off x="2434936" y="1922318"/>
            <a:ext cx="0" cy="668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99E88C-5464-6CC7-C031-900C683E5FAE}"/>
              </a:ext>
            </a:extLst>
          </p:cNvPr>
          <p:cNvCxnSpPr>
            <a:cxnSpLocks/>
          </p:cNvCxnSpPr>
          <p:nvPr/>
        </p:nvCxnSpPr>
        <p:spPr>
          <a:xfrm flipH="1" flipV="1">
            <a:off x="2124975" y="1587973"/>
            <a:ext cx="514315" cy="990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C2360CD-A039-8E38-F5EA-56CC11C4A29D}"/>
              </a:ext>
            </a:extLst>
          </p:cNvPr>
          <p:cNvSpPr/>
          <p:nvPr/>
        </p:nvSpPr>
        <p:spPr>
          <a:xfrm>
            <a:off x="3006241" y="1253629"/>
            <a:ext cx="582278" cy="436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W</a:t>
            </a:r>
            <a:r>
              <a:rPr lang="en-AU" baseline="-250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038A39-5DD9-362D-3B22-FD78FB2843FD}"/>
              </a:ext>
            </a:extLst>
          </p:cNvPr>
          <p:cNvSpPr/>
          <p:nvPr/>
        </p:nvSpPr>
        <p:spPr>
          <a:xfrm>
            <a:off x="2219611" y="1134444"/>
            <a:ext cx="582278" cy="436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T</a:t>
            </a:r>
            <a:endParaRPr lang="en-AU" baseline="-250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B05184-9842-CF87-52D2-C2C8B958AC6E}"/>
              </a:ext>
            </a:extLst>
          </p:cNvPr>
          <p:cNvSpPr/>
          <p:nvPr/>
        </p:nvSpPr>
        <p:spPr>
          <a:xfrm>
            <a:off x="2348151" y="1944936"/>
            <a:ext cx="582278" cy="436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W</a:t>
            </a:r>
            <a:r>
              <a:rPr lang="en-AU" baseline="-250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B160A3-EBA6-0C36-93AE-D7ADA46E4D2F}"/>
              </a:ext>
            </a:extLst>
          </p:cNvPr>
          <p:cNvSpPr/>
          <p:nvPr/>
        </p:nvSpPr>
        <p:spPr>
          <a:xfrm>
            <a:off x="1215349" y="2256662"/>
            <a:ext cx="582278" cy="436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R</a:t>
            </a:r>
            <a:endParaRPr lang="en-AU" baseline="-25000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8024E-C635-0B24-A679-D58BB41BC447}"/>
              </a:ext>
            </a:extLst>
          </p:cNvPr>
          <p:cNvSpPr/>
          <p:nvPr/>
        </p:nvSpPr>
        <p:spPr>
          <a:xfrm>
            <a:off x="0" y="3273136"/>
            <a:ext cx="6858000" cy="1315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2: Static equilibrium equation</a:t>
            </a:r>
          </a:p>
          <a:p>
            <a:r>
              <a:rPr lang="en-AU" sz="1400" dirty="0">
                <a:solidFill>
                  <a:schemeClr val="tx1"/>
                </a:solidFill>
              </a:rPr>
              <a:t>State the static equilibrium condition with the torques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93FBA9-D068-4EF7-BDFB-84AA9E0B8104}"/>
              </a:ext>
            </a:extLst>
          </p:cNvPr>
          <p:cNvSpPr/>
          <p:nvPr/>
        </p:nvSpPr>
        <p:spPr>
          <a:xfrm>
            <a:off x="5013004" y="3406404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E97DD9-0AFF-B633-C7EB-0533634564D8}"/>
              </a:ext>
            </a:extLst>
          </p:cNvPr>
          <p:cNvSpPr/>
          <p:nvPr/>
        </p:nvSpPr>
        <p:spPr>
          <a:xfrm>
            <a:off x="4256296" y="915615"/>
            <a:ext cx="2487403" cy="1315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</a:rPr>
              <a:t>Helps you identify all the torques and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</a:rPr>
              <a:t>Tells marker what your symbols 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10EEB24-AE88-C2E8-587D-BC9219EAACB1}"/>
                  </a:ext>
                </a:extLst>
              </p:cNvPr>
              <p:cNvSpPr/>
              <p:nvPr/>
            </p:nvSpPr>
            <p:spPr>
              <a:xfrm>
                <a:off x="207758" y="3767222"/>
                <a:ext cx="3595255" cy="1199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l-G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l-G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𝑐𝑤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𝑐𝑤</m:t>
                          </m:r>
                        </m:sub>
                      </m:sSub>
                    </m:oMath>
                  </m:oMathPara>
                </a14:m>
                <a:endParaRPr lang="en-AU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10EEB24-AE88-C2E8-587D-BC9219EAA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58" y="3767222"/>
                <a:ext cx="3595255" cy="11998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5BFCCCF2-6B87-CEFE-2D3D-CB663D0B105F}"/>
              </a:ext>
            </a:extLst>
          </p:cNvPr>
          <p:cNvSpPr/>
          <p:nvPr/>
        </p:nvSpPr>
        <p:spPr>
          <a:xfrm>
            <a:off x="0" y="4588513"/>
            <a:ext cx="6858000" cy="2383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3: Substitute values for torques</a:t>
            </a:r>
          </a:p>
          <a:p>
            <a:r>
              <a:rPr lang="en-AU" sz="1400" dirty="0">
                <a:solidFill>
                  <a:schemeClr val="tx1"/>
                </a:solidFill>
              </a:rPr>
              <a:t>Substitute the values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180DE7-B20A-C401-5F6E-F2ACB5705865}"/>
              </a:ext>
            </a:extLst>
          </p:cNvPr>
          <p:cNvSpPr/>
          <p:nvPr/>
        </p:nvSpPr>
        <p:spPr>
          <a:xfrm>
            <a:off x="4217298" y="4712277"/>
            <a:ext cx="2565397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#marks: 1 for LHS, 2 for RHS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D1BC9D-E3F7-14E4-41DF-8D6183296AC4}"/>
                  </a:ext>
                </a:extLst>
              </p:cNvPr>
              <p:cNvSpPr/>
              <p:nvPr/>
            </p:nvSpPr>
            <p:spPr>
              <a:xfrm>
                <a:off x="4240101" y="5147793"/>
                <a:ext cx="2487403" cy="1600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AU" sz="1400" dirty="0">
                    <a:solidFill>
                      <a:schemeClr val="tx1"/>
                    </a:solidFill>
                  </a:rPr>
                  <a:t>Remember: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AU" sz="1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AU" sz="1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AU" sz="14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Note: R does not provide a torque as it acts at the pivot</a:t>
                </a:r>
              </a:p>
              <a:p>
                <a:endParaRPr lang="en-AU" sz="1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14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Check your angles!</a:t>
                </a:r>
              </a:p>
              <a:p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D1BC9D-E3F7-14E4-41DF-8D6183296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01" y="5147793"/>
                <a:ext cx="2487403" cy="1600199"/>
              </a:xfrm>
              <a:prstGeom prst="rect">
                <a:avLst/>
              </a:prstGeom>
              <a:blipFill>
                <a:blip r:embed="rId4"/>
                <a:stretch>
                  <a:fillRect l="-488" b="-26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885A0E-35CC-3A51-C216-FE31AD4C42C8}"/>
                  </a:ext>
                </a:extLst>
              </p:cNvPr>
              <p:cNvSpPr/>
              <p:nvPr/>
            </p:nvSpPr>
            <p:spPr>
              <a:xfrm>
                <a:off x="61067" y="5379529"/>
                <a:ext cx="4048538" cy="1199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𝑤𝑏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A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AU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31∗9.8∗2.25 ∗</m:t>
                      </m:r>
                      <m:func>
                        <m:func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41</m:t>
                              </m:r>
                            </m:e>
                          </m:d>
                        </m:e>
                      </m:func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44∗9.8∗4.5∗</m:t>
                      </m:r>
                      <m:func>
                        <m:funcPr>
                          <m:ctrlPr>
                            <a:rPr lang="en-AU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41</m:t>
                              </m:r>
                            </m:e>
                          </m:d>
                        </m:e>
                      </m:func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∗3.8∗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A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⁡(64)</m:t>
                      </m:r>
                    </m:oMath>
                  </m:oMathPara>
                </a14:m>
                <a:endParaRPr lang="en-AU" sz="16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885A0E-35CC-3A51-C216-FE31AD4C4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7" y="5379529"/>
                <a:ext cx="4048538" cy="11998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E95EC7DD-E606-2663-0D0E-E8D6F0F6AEA3}"/>
              </a:ext>
            </a:extLst>
          </p:cNvPr>
          <p:cNvSpPr/>
          <p:nvPr/>
        </p:nvSpPr>
        <p:spPr>
          <a:xfrm>
            <a:off x="1278" y="6969640"/>
            <a:ext cx="6858000" cy="16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4: Solve for the unknown force</a:t>
            </a:r>
          </a:p>
          <a:p>
            <a:r>
              <a:rPr lang="en-AU" sz="1400" dirty="0">
                <a:solidFill>
                  <a:schemeClr val="tx1"/>
                </a:solidFill>
              </a:rPr>
              <a:t>Evaluate the expression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F2505B-CD4E-26F2-BF23-31A27B32FF23}"/>
              </a:ext>
            </a:extLst>
          </p:cNvPr>
          <p:cNvSpPr/>
          <p:nvPr/>
        </p:nvSpPr>
        <p:spPr>
          <a:xfrm>
            <a:off x="4864224" y="7087609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9B8C583-354B-C1CD-9D79-6E006D269118}"/>
                  </a:ext>
                </a:extLst>
              </p:cNvPr>
              <p:cNvSpPr/>
              <p:nvPr/>
            </p:nvSpPr>
            <p:spPr>
              <a:xfrm>
                <a:off x="62345" y="7475833"/>
                <a:ext cx="4048538" cy="1199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7507.91=3.415∗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b="0" dirty="0">
                  <a:solidFill>
                    <a:schemeClr val="tx1"/>
                  </a:solidFill>
                </a:endParaRPr>
              </a:p>
              <a:p>
                <a:pPr algn="ctr"/>
                <a:endParaRPr lang="en-AU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=2198.5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AU" b="0" dirty="0">
                  <a:solidFill>
                    <a:schemeClr val="tx1"/>
                  </a:solidFill>
                </a:endParaRPr>
              </a:p>
              <a:p>
                <a:pPr algn="ctr"/>
                <a:endParaRPr lang="en-AU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9B8C583-354B-C1CD-9D79-6E006D269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" y="7475833"/>
                <a:ext cx="4048538" cy="11998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4A4E2F0E-5ED2-06F6-B1C5-02B599F2A17E}"/>
              </a:ext>
            </a:extLst>
          </p:cNvPr>
          <p:cNvSpPr/>
          <p:nvPr/>
        </p:nvSpPr>
        <p:spPr>
          <a:xfrm>
            <a:off x="-1278" y="8569840"/>
            <a:ext cx="6858000" cy="1336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5: Express to the correct significant figures with units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47BC39-C7F7-F6A5-4ADD-BD52465DB9A0}"/>
              </a:ext>
            </a:extLst>
          </p:cNvPr>
          <p:cNvSpPr/>
          <p:nvPr/>
        </p:nvSpPr>
        <p:spPr>
          <a:xfrm>
            <a:off x="5013004" y="8663931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0 to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7D0A813-86F3-2F7C-A7C2-D7D175D91C93}"/>
                  </a:ext>
                </a:extLst>
              </p:cNvPr>
              <p:cNvSpPr/>
              <p:nvPr/>
            </p:nvSpPr>
            <p:spPr>
              <a:xfrm>
                <a:off x="59789" y="9076033"/>
                <a:ext cx="4048538" cy="1199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=2.20 ∗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AU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7D0A813-86F3-2F7C-A7C2-D7D175D91C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9" y="9076033"/>
                <a:ext cx="4048538" cy="11998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B0F56B44-500A-BB13-105E-2A4713EA1248}"/>
              </a:ext>
            </a:extLst>
          </p:cNvPr>
          <p:cNvSpPr/>
          <p:nvPr/>
        </p:nvSpPr>
        <p:spPr>
          <a:xfrm>
            <a:off x="4240101" y="9044726"/>
            <a:ext cx="2487403" cy="7671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dirty="0">
                <a:solidFill>
                  <a:schemeClr val="tx1"/>
                </a:solidFill>
              </a:rPr>
              <a:t>Remember: </a:t>
            </a:r>
          </a:p>
          <a:p>
            <a:r>
              <a:rPr lang="en-AU" sz="1600" dirty="0">
                <a:solidFill>
                  <a:schemeClr val="tx1"/>
                </a:solidFill>
              </a:rPr>
              <a:t>3 sig figs normally</a:t>
            </a:r>
          </a:p>
          <a:p>
            <a:r>
              <a:rPr lang="en-AU" sz="1600" dirty="0">
                <a:solidFill>
                  <a:schemeClr val="tx1"/>
                </a:solidFill>
              </a:rPr>
              <a:t>2 sig figs for estimates</a:t>
            </a:r>
          </a:p>
        </p:txBody>
      </p:sp>
    </p:spTree>
    <p:extLst>
      <p:ext uri="{BB962C8B-B14F-4D97-AF65-F5344CB8AC3E}">
        <p14:creationId xmlns:p14="http://schemas.microsoft.com/office/powerpoint/2010/main" val="375105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0E48FB-C8B7-E788-3938-B34A092E4DC3}"/>
              </a:ext>
            </a:extLst>
          </p:cNvPr>
          <p:cNvSpPr/>
          <p:nvPr/>
        </p:nvSpPr>
        <p:spPr>
          <a:xfrm>
            <a:off x="0" y="0"/>
            <a:ext cx="6858000" cy="335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ysClr val="windowText" lastClr="000000"/>
                </a:solidFill>
              </a:rPr>
              <a:t>Static and Rotational Equilibrium </a:t>
            </a:r>
            <a:r>
              <a:rPr lang="en-AU" sz="1600" b="1" dirty="0">
                <a:solidFill>
                  <a:sysClr val="windowText" lastClr="000000"/>
                </a:solidFill>
              </a:rPr>
              <a:t>YOU 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B71226-6171-A781-A85A-F9055443791D}"/>
              </a:ext>
            </a:extLst>
          </p:cNvPr>
          <p:cNvSpPr/>
          <p:nvPr/>
        </p:nvSpPr>
        <p:spPr>
          <a:xfrm>
            <a:off x="0" y="335560"/>
            <a:ext cx="6858000" cy="2937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1: Draw or annotate the picture</a:t>
            </a:r>
          </a:p>
          <a:p>
            <a:r>
              <a:rPr lang="en-AU" sz="1400" dirty="0">
                <a:solidFill>
                  <a:schemeClr val="tx1"/>
                </a:solidFill>
              </a:rPr>
              <a:t>Identify and label the forces acting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C36FE-C6D5-3E34-9E09-6305181793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0" t="31081" r="23637" b="7059"/>
          <a:stretch/>
        </p:blipFill>
        <p:spPr>
          <a:xfrm>
            <a:off x="218209" y="893617"/>
            <a:ext cx="3813532" cy="23795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CE007C-6422-9927-72B5-4F2C1072DCC6}"/>
              </a:ext>
            </a:extLst>
          </p:cNvPr>
          <p:cNvSpPr/>
          <p:nvPr/>
        </p:nvSpPr>
        <p:spPr>
          <a:xfrm>
            <a:off x="5029199" y="453529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#marks: None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8024E-C635-0B24-A679-D58BB41BC447}"/>
              </a:ext>
            </a:extLst>
          </p:cNvPr>
          <p:cNvSpPr/>
          <p:nvPr/>
        </p:nvSpPr>
        <p:spPr>
          <a:xfrm>
            <a:off x="0" y="3273136"/>
            <a:ext cx="6858000" cy="1315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2: Static equilibrium equation</a:t>
            </a:r>
          </a:p>
          <a:p>
            <a:r>
              <a:rPr lang="en-AU" sz="1400" dirty="0">
                <a:solidFill>
                  <a:schemeClr val="tx1"/>
                </a:solidFill>
              </a:rPr>
              <a:t>State the static equilibrium condition with the torques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93FBA9-D068-4EF7-BDFB-84AA9E0B8104}"/>
              </a:ext>
            </a:extLst>
          </p:cNvPr>
          <p:cNvSpPr/>
          <p:nvPr/>
        </p:nvSpPr>
        <p:spPr>
          <a:xfrm>
            <a:off x="5013004" y="3406404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E97DD9-0AFF-B633-C7EB-0533634564D8}"/>
              </a:ext>
            </a:extLst>
          </p:cNvPr>
          <p:cNvSpPr/>
          <p:nvPr/>
        </p:nvSpPr>
        <p:spPr>
          <a:xfrm>
            <a:off x="4256296" y="915615"/>
            <a:ext cx="2487403" cy="1315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</a:rPr>
              <a:t>Helps you identify all the torques and forces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tx1"/>
                </a:solidFill>
              </a:rPr>
              <a:t>Tells marker what your symbols means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FCCCF2-6B87-CEFE-2D3D-CB663D0B105F}"/>
              </a:ext>
            </a:extLst>
          </p:cNvPr>
          <p:cNvSpPr/>
          <p:nvPr/>
        </p:nvSpPr>
        <p:spPr>
          <a:xfrm>
            <a:off x="0" y="4588513"/>
            <a:ext cx="6858000" cy="2383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3: Substitute values for torques</a:t>
            </a:r>
          </a:p>
          <a:p>
            <a:r>
              <a:rPr lang="en-AU" sz="1400" dirty="0">
                <a:solidFill>
                  <a:schemeClr val="tx1"/>
                </a:solidFill>
              </a:rPr>
              <a:t>Substitute the values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180DE7-B20A-C401-5F6E-F2ACB5705865}"/>
              </a:ext>
            </a:extLst>
          </p:cNvPr>
          <p:cNvSpPr/>
          <p:nvPr/>
        </p:nvSpPr>
        <p:spPr>
          <a:xfrm>
            <a:off x="4217298" y="4712277"/>
            <a:ext cx="2565397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#marks: 1 for LHS, 2 for RHS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D1BC9D-E3F7-14E4-41DF-8D6183296AC4}"/>
                  </a:ext>
                </a:extLst>
              </p:cNvPr>
              <p:cNvSpPr/>
              <p:nvPr/>
            </p:nvSpPr>
            <p:spPr>
              <a:xfrm>
                <a:off x="4240101" y="5147793"/>
                <a:ext cx="2487403" cy="1600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AU" sz="1400" dirty="0">
                    <a:solidFill>
                      <a:schemeClr val="tx1"/>
                    </a:solidFill>
                  </a:rPr>
                  <a:t>Remember: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AU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AU" sz="1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AU" sz="1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en-AU" sz="14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Note: R does not provide a torque as it acts at the pivot</a:t>
                </a:r>
              </a:p>
              <a:p>
                <a:endParaRPr lang="en-AU" sz="1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sz="14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Check your angles!</a:t>
                </a:r>
              </a:p>
              <a:p>
                <a:endParaRPr lang="en-A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7D1BC9D-E3F7-14E4-41DF-8D6183296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01" y="5147793"/>
                <a:ext cx="2487403" cy="1600199"/>
              </a:xfrm>
              <a:prstGeom prst="rect">
                <a:avLst/>
              </a:prstGeom>
              <a:blipFill>
                <a:blip r:embed="rId3"/>
                <a:stretch>
                  <a:fillRect l="-488" b="-26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E95EC7DD-E606-2663-0D0E-E8D6F0F6AEA3}"/>
              </a:ext>
            </a:extLst>
          </p:cNvPr>
          <p:cNvSpPr/>
          <p:nvPr/>
        </p:nvSpPr>
        <p:spPr>
          <a:xfrm>
            <a:off x="1278" y="6969640"/>
            <a:ext cx="6858000" cy="16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4: Solve for the unknown force</a:t>
            </a:r>
          </a:p>
          <a:p>
            <a:r>
              <a:rPr lang="en-AU" sz="1400" dirty="0">
                <a:solidFill>
                  <a:schemeClr val="tx1"/>
                </a:solidFill>
              </a:rPr>
              <a:t>Evaluate the expression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F2505B-CD4E-26F2-BF23-31A27B32FF23}"/>
              </a:ext>
            </a:extLst>
          </p:cNvPr>
          <p:cNvSpPr/>
          <p:nvPr/>
        </p:nvSpPr>
        <p:spPr>
          <a:xfrm>
            <a:off x="4864224" y="7087609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4E2F0E-5ED2-06F6-B1C5-02B599F2A17E}"/>
              </a:ext>
            </a:extLst>
          </p:cNvPr>
          <p:cNvSpPr/>
          <p:nvPr/>
        </p:nvSpPr>
        <p:spPr>
          <a:xfrm>
            <a:off x="-1278" y="8569840"/>
            <a:ext cx="6858000" cy="1336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b="1" dirty="0">
                <a:solidFill>
                  <a:schemeClr val="tx1"/>
                </a:solidFill>
              </a:rPr>
              <a:t>Step 5: Express to the correct significant figures with units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47BC39-C7F7-F6A5-4ADD-BD52465DB9A0}"/>
              </a:ext>
            </a:extLst>
          </p:cNvPr>
          <p:cNvSpPr/>
          <p:nvPr/>
        </p:nvSpPr>
        <p:spPr>
          <a:xfrm>
            <a:off x="5029199" y="8668267"/>
            <a:ext cx="1714500" cy="322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#marks: 0 to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F56B44-500A-BB13-105E-2A4713EA1248}"/>
              </a:ext>
            </a:extLst>
          </p:cNvPr>
          <p:cNvSpPr/>
          <p:nvPr/>
        </p:nvSpPr>
        <p:spPr>
          <a:xfrm>
            <a:off x="4256296" y="9049062"/>
            <a:ext cx="2487403" cy="7671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400" dirty="0">
                <a:solidFill>
                  <a:schemeClr val="tx1"/>
                </a:solidFill>
              </a:rPr>
              <a:t>Remember: </a:t>
            </a:r>
          </a:p>
          <a:p>
            <a:r>
              <a:rPr lang="en-AU" sz="1600" dirty="0">
                <a:solidFill>
                  <a:schemeClr val="tx1"/>
                </a:solidFill>
              </a:rPr>
              <a:t>3 sig figs normally</a:t>
            </a:r>
          </a:p>
          <a:p>
            <a:r>
              <a:rPr lang="en-AU" sz="1600" dirty="0">
                <a:solidFill>
                  <a:schemeClr val="tx1"/>
                </a:solidFill>
              </a:rPr>
              <a:t>2 sig figs for estimates</a:t>
            </a:r>
          </a:p>
        </p:txBody>
      </p:sp>
    </p:spTree>
    <p:extLst>
      <p:ext uri="{BB962C8B-B14F-4D97-AF65-F5344CB8AC3E}">
        <p14:creationId xmlns:p14="http://schemas.microsoft.com/office/powerpoint/2010/main" val="76066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57990E5B9394AB60DC397E95032F9" ma:contentTypeVersion="16" ma:contentTypeDescription="Create a new document." ma:contentTypeScope="" ma:versionID="02697e3214b2f55142a2e7b89ba6de54">
  <xsd:schema xmlns:xsd="http://www.w3.org/2001/XMLSchema" xmlns:xs="http://www.w3.org/2001/XMLSchema" xmlns:p="http://schemas.microsoft.com/office/2006/metadata/properties" xmlns:ns2="8f659357-f805-491c-ad0b-5621b2de6466" xmlns:ns3="d5c732d2-f217-444a-91d8-37c5714ca695" targetNamespace="http://schemas.microsoft.com/office/2006/metadata/properties" ma:root="true" ma:fieldsID="67be6965022b95aa9d7585358a9bb7fc" ns2:_="" ns3:_="">
    <xsd:import namespace="8f659357-f805-491c-ad0b-5621b2de6466"/>
    <xsd:import namespace="d5c732d2-f217-444a-91d8-37c5714ca6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59357-f805-491c-ad0b-5621b2de64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a606fe5-00d0-49e1-aa33-d9ffd02091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732d2-f217-444a-91d8-37c5714ca69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87221a7-1fed-4694-a1ec-bb608177e353}" ma:internalName="TaxCatchAll" ma:showField="CatchAllData" ma:web="d5c732d2-f217-444a-91d8-37c5714ca6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c732d2-f217-444a-91d8-37c5714ca695" xsi:nil="true"/>
    <lcf76f155ced4ddcb4097134ff3c332f xmlns="8f659357-f805-491c-ad0b-5621b2de64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876FC5-B0A5-4538-B862-E9B39F32BF62}"/>
</file>

<file path=customXml/itemProps2.xml><?xml version="1.0" encoding="utf-8"?>
<ds:datastoreItem xmlns:ds="http://schemas.openxmlformats.org/officeDocument/2006/customXml" ds:itemID="{AE9BA976-3ED9-4CB3-96D7-7FBE2B1607E4}"/>
</file>

<file path=customXml/itemProps3.xml><?xml version="1.0" encoding="utf-8"?>
<ds:datastoreItem xmlns:ds="http://schemas.openxmlformats.org/officeDocument/2006/customXml" ds:itemID="{03FFC95E-3E27-4A76-9F4C-2758E394304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348</Words>
  <Application>Microsoft Office PowerPoint</Application>
  <PresentationFormat>A4 Paper (210x297 mm)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BAKER Mark [Southern River College]</dc:creator>
  <cp:lastModifiedBy>BAKER Mark [Southern River College]</cp:lastModifiedBy>
  <cp:revision>17</cp:revision>
  <dcterms:created xsi:type="dcterms:W3CDTF">2022-07-18T12:17:37Z</dcterms:created>
  <dcterms:modified xsi:type="dcterms:W3CDTF">2023-04-15T11:53:59Z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0x010100C8157990E5B9394AB60DC397E95032F9</vt:lpwstr>
  </property>
</Properties>
</file>