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26"/>
  </p:notesMasterIdLst>
  <p:handoutMasterIdLst>
    <p:handoutMasterId r:id="rId27"/>
  </p:handoutMasterIdLst>
  <p:sldIdLst>
    <p:sldId id="478" r:id="rId6"/>
    <p:sldId id="416" r:id="rId7"/>
    <p:sldId id="418" r:id="rId8"/>
    <p:sldId id="460" r:id="rId9"/>
    <p:sldId id="461" r:id="rId10"/>
    <p:sldId id="462" r:id="rId11"/>
    <p:sldId id="463" r:id="rId12"/>
    <p:sldId id="465" r:id="rId13"/>
    <p:sldId id="464" r:id="rId14"/>
    <p:sldId id="466" r:id="rId15"/>
    <p:sldId id="468" r:id="rId16"/>
    <p:sldId id="469" r:id="rId17"/>
    <p:sldId id="470" r:id="rId18"/>
    <p:sldId id="471" r:id="rId19"/>
    <p:sldId id="472" r:id="rId20"/>
    <p:sldId id="473" r:id="rId21"/>
    <p:sldId id="474" r:id="rId22"/>
    <p:sldId id="476" r:id="rId23"/>
    <p:sldId id="467" r:id="rId24"/>
    <p:sldId id="4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9B4B"/>
    <a:srgbClr val="FBCA58"/>
    <a:srgbClr val="2E546D"/>
    <a:srgbClr val="DEEBF7"/>
    <a:srgbClr val="692B7D"/>
    <a:srgbClr val="472A50"/>
    <a:srgbClr val="6E407C"/>
    <a:srgbClr val="2F556E"/>
    <a:srgbClr val="A672B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50" autoAdjust="0"/>
    <p:restoredTop sz="85588" autoAdjust="0"/>
  </p:normalViewPr>
  <p:slideViewPr>
    <p:cSldViewPr snapToGrid="0" snapToObjects="1">
      <p:cViewPr varScale="1">
        <p:scale>
          <a:sx n="96" d="100"/>
          <a:sy n="96" d="100"/>
        </p:scale>
        <p:origin x="588" y="7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1/1/2023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1/01/2023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u="sng" dirty="0"/>
              <a:t>Method</a:t>
            </a:r>
          </a:p>
          <a:p>
            <a:endParaRPr lang="en-AU" dirty="0"/>
          </a:p>
          <a:p>
            <a:r>
              <a:rPr lang="en-AU" dirty="0"/>
              <a:t> - Calculate net force acting on the ball assuming no friction (this is the parallel component of the weight force)</a:t>
            </a:r>
          </a:p>
          <a:p>
            <a:r>
              <a:rPr lang="en-AU" dirty="0"/>
              <a:t> - Use F=ma to calculate the acceleration acting on the ball</a:t>
            </a:r>
          </a:p>
          <a:p>
            <a:r>
              <a:rPr lang="en-AU" dirty="0"/>
              <a:t> - use s=ut+0.5at^2 to calculate the time it would take the ball to roll down the slope</a:t>
            </a:r>
          </a:p>
          <a:p>
            <a:r>
              <a:rPr lang="en-AU" dirty="0"/>
              <a:t> - this is the theoretical time if there is no friction. There is no faster time possible.</a:t>
            </a:r>
          </a:p>
          <a:p>
            <a:endParaRPr lang="en-AU" dirty="0"/>
          </a:p>
          <a:p>
            <a:r>
              <a:rPr lang="en-AU" dirty="0"/>
              <a:t>If the measured time approximately equals the theoretical time </a:t>
            </a:r>
            <a:r>
              <a:rPr lang="en-AU" dirty="0">
                <a:sym typeface="Wingdings" panose="05000000000000000000" pitchFamily="2" charset="2"/>
              </a:rPr>
              <a:t> can assume frictionless</a:t>
            </a:r>
          </a:p>
          <a:p>
            <a:r>
              <a:rPr lang="en-AU" dirty="0">
                <a:sym typeface="Wingdings" panose="05000000000000000000" pitchFamily="2" charset="2"/>
              </a:rPr>
              <a:t>If the measured time is higher than the theoretical time  cannot assume frictionless</a:t>
            </a:r>
          </a:p>
          <a:p>
            <a:r>
              <a:rPr lang="en-AU" dirty="0">
                <a:sym typeface="Wingdings" panose="05000000000000000000" pitchFamily="2" charset="2"/>
              </a:rPr>
              <a:t>If the measured time is less than the theoretical time  something is wrong. You broke physics.</a:t>
            </a: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a:t>
            </a:fld>
            <a:endParaRPr lang="en-AU"/>
          </a:p>
        </p:txBody>
      </p:sp>
    </p:spTree>
    <p:extLst>
      <p:ext uri="{BB962C8B-B14F-4D97-AF65-F5344CB8AC3E}">
        <p14:creationId xmlns:p14="http://schemas.microsoft.com/office/powerpoint/2010/main" val="809192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After the bullet is fired, the gun no longer exerts force on it. In fact (ignoring air resistance), there is no horizontal force acting on the bullet. The only force acting on the bullet is the weight force, acting down.</a:t>
            </a:r>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865929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After the bullet is fired, the gun no longer exerts force on it. In fact (ignoring air resistance), there is no horizontal force acting on the bullet. The only force acting on the bullet is the weight force, acting down.</a:t>
            </a:r>
          </a:p>
          <a:p>
            <a:r>
              <a:rPr lang="en-AU" dirty="0"/>
              <a:t>Note: picture assumes </a:t>
            </a:r>
            <a:r>
              <a:rPr lang="en-AU" i="1" dirty="0"/>
              <a:t>just</a:t>
            </a:r>
            <a:r>
              <a:rPr lang="en-AU" i="0" dirty="0"/>
              <a:t> after bullet has been fired</a:t>
            </a: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2701202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2881268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2970693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3878740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 = </a:t>
            </a:r>
            <a:r>
              <a:rPr lang="en-AU" dirty="0" err="1"/>
              <a:t>ut</a:t>
            </a:r>
            <a:r>
              <a:rPr lang="en-AU" dirty="0"/>
              <a:t> + ½ at</a:t>
            </a:r>
            <a:r>
              <a:rPr lang="en-AU" baseline="30000" dirty="0"/>
              <a:t>2</a:t>
            </a:r>
            <a:endParaRPr lang="en-AU" baseline="0" dirty="0"/>
          </a:p>
          <a:p>
            <a:r>
              <a:rPr lang="en-AU" baseline="0" dirty="0"/>
              <a:t>-1.5 = ½ * 9.8 * t</a:t>
            </a:r>
            <a:r>
              <a:rPr lang="en-AU" baseline="30000" dirty="0"/>
              <a:t>2</a:t>
            </a:r>
            <a:endParaRPr lang="en-AU" baseline="0" dirty="0"/>
          </a:p>
          <a:p>
            <a:endParaRPr lang="en-AU" baseline="0" dirty="0"/>
          </a:p>
          <a:p>
            <a:r>
              <a:rPr lang="en-AU" baseline="0" dirty="0"/>
              <a:t>t = sqrt(-1.5 / -4.9) = 0.553 s</a:t>
            </a:r>
            <a:endParaRPr lang="en-AU" baseline="30000" dirty="0"/>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723305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442554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3201273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1902241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 = </a:t>
            </a:r>
            <a:r>
              <a:rPr lang="en-AU" dirty="0" err="1"/>
              <a:t>ut</a:t>
            </a:r>
            <a:r>
              <a:rPr lang="en-AU" dirty="0"/>
              <a:t> + ½ at</a:t>
            </a:r>
            <a:r>
              <a:rPr lang="en-AU" baseline="30000" dirty="0"/>
              <a:t>2</a:t>
            </a:r>
            <a:endParaRPr lang="en-AU" baseline="0" dirty="0"/>
          </a:p>
          <a:p>
            <a:r>
              <a:rPr lang="en-AU" baseline="0" dirty="0"/>
              <a:t>-40 = ½ * 9.8 * t</a:t>
            </a:r>
            <a:r>
              <a:rPr lang="en-AU" baseline="30000" dirty="0"/>
              <a:t>2</a:t>
            </a:r>
            <a:endParaRPr lang="en-AU" baseline="0" dirty="0"/>
          </a:p>
          <a:p>
            <a:endParaRPr lang="en-AU" baseline="0" dirty="0"/>
          </a:p>
          <a:p>
            <a:r>
              <a:rPr lang="en-AU" baseline="0" dirty="0"/>
              <a:t>t = sqrt(-40 / -4.9) = 2.86 s</a:t>
            </a:r>
            <a:endParaRPr lang="en-AU" baseline="30000" dirty="0"/>
          </a:p>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23515501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a:t>v</a:t>
            </a:r>
            <a:r>
              <a:rPr lang="en-AU" baseline="-25000" dirty="0"/>
              <a:t>av</a:t>
            </a:r>
            <a:r>
              <a:rPr lang="en-AU" baseline="0" dirty="0"/>
              <a:t> = s/t</a:t>
            </a:r>
            <a:br>
              <a:rPr lang="en-AU" baseline="0" dirty="0"/>
            </a:br>
            <a:r>
              <a:rPr lang="en-AU" baseline="0" dirty="0"/>
              <a:t>120 = s / 2.86</a:t>
            </a:r>
          </a:p>
          <a:p>
            <a:r>
              <a:rPr lang="en-AU" baseline="0" dirty="0"/>
              <a:t>s = 343.2 m </a:t>
            </a: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3990411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a:t>Horizontally, </a:t>
            </a:r>
            <a:r>
              <a:rPr lang="en-AU" baseline="0" dirty="0" err="1"/>
              <a:t>v</a:t>
            </a:r>
            <a:r>
              <a:rPr lang="en-AU" baseline="-25000" dirty="0" err="1"/>
              <a:t>h</a:t>
            </a:r>
            <a:r>
              <a:rPr lang="en-AU" baseline="0" dirty="0"/>
              <a:t> = u</a:t>
            </a:r>
            <a:r>
              <a:rPr lang="en-AU" baseline="-25000" dirty="0"/>
              <a:t>h</a:t>
            </a:r>
            <a:r>
              <a:rPr lang="en-AU" baseline="0" dirty="0"/>
              <a:t> = 120 m/s</a:t>
            </a:r>
          </a:p>
          <a:p>
            <a:r>
              <a:rPr lang="en-AU" baseline="0" dirty="0"/>
              <a:t>Vertically: v = u + at = 0 + (-9.80) * 2.86 = -28.0 m/s</a:t>
            </a:r>
          </a:p>
          <a:p>
            <a:endParaRPr lang="en-AU" baseline="0" dirty="0"/>
          </a:p>
          <a:p>
            <a:r>
              <a:rPr lang="en-AU" baseline="0" dirty="0"/>
              <a:t>Use </a:t>
            </a:r>
            <a:r>
              <a:rPr lang="en-AU" baseline="0" dirty="0" err="1"/>
              <a:t>pythag</a:t>
            </a:r>
            <a:r>
              <a:rPr lang="en-AU" baseline="0" dirty="0"/>
              <a:t>: v = sqrt(v</a:t>
            </a:r>
            <a:r>
              <a:rPr lang="en-AU" baseline="-25000" dirty="0"/>
              <a:t>h</a:t>
            </a:r>
            <a:r>
              <a:rPr lang="en-AU" baseline="30000" dirty="0"/>
              <a:t>2</a:t>
            </a:r>
            <a:r>
              <a:rPr lang="en-AU" baseline="0" dirty="0"/>
              <a:t> + v</a:t>
            </a:r>
            <a:r>
              <a:rPr lang="en-AU" baseline="-25000" dirty="0"/>
              <a:t>v</a:t>
            </a:r>
            <a:r>
              <a:rPr lang="en-AU" baseline="30000" dirty="0"/>
              <a:t>2</a:t>
            </a:r>
            <a:r>
              <a:rPr lang="en-AU" baseline="0" dirty="0"/>
              <a:t>) = sqrt(120^2 + -28^2) = 123 m/s</a:t>
            </a:r>
          </a:p>
          <a:p>
            <a:r>
              <a:rPr lang="en-AU" baseline="0" dirty="0"/>
              <a:t>Theta = tan</a:t>
            </a:r>
            <a:r>
              <a:rPr lang="en-AU" baseline="30000" dirty="0"/>
              <a:t>-1</a:t>
            </a:r>
            <a:r>
              <a:rPr lang="en-AU" baseline="0" dirty="0"/>
              <a:t> (28.0 / 120) = 13.1 deg below the horizontal</a:t>
            </a:r>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a:p>
        </p:txBody>
      </p:sp>
    </p:spTree>
    <p:extLst>
      <p:ext uri="{BB962C8B-B14F-4D97-AF65-F5344CB8AC3E}">
        <p14:creationId xmlns:p14="http://schemas.microsoft.com/office/powerpoint/2010/main" val="38407714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 = </a:t>
            </a:r>
            <a:r>
              <a:rPr lang="en-AU" dirty="0" err="1"/>
              <a:t>ut</a:t>
            </a:r>
            <a:r>
              <a:rPr lang="en-AU" dirty="0"/>
              <a:t> + ½ at</a:t>
            </a:r>
            <a:r>
              <a:rPr lang="en-AU" baseline="30000" dirty="0"/>
              <a:t>2</a:t>
            </a:r>
            <a:endParaRPr lang="en-AU" baseline="0" dirty="0"/>
          </a:p>
          <a:p>
            <a:r>
              <a:rPr lang="en-AU" baseline="0" dirty="0"/>
              <a:t>-20 = ½ * 9.8 * t</a:t>
            </a:r>
            <a:r>
              <a:rPr lang="en-AU" baseline="30000" dirty="0"/>
              <a:t>2</a:t>
            </a:r>
            <a:endParaRPr lang="en-AU" baseline="0" dirty="0"/>
          </a:p>
          <a:p>
            <a:r>
              <a:rPr lang="en-AU" baseline="0" dirty="0"/>
              <a:t>t = sqrt(-20 / -4.9) = 2.02 s</a:t>
            </a:r>
            <a:endParaRPr lang="en-AU" baseline="30000" dirty="0"/>
          </a:p>
          <a:p>
            <a:endParaRPr lang="en-AU" dirty="0"/>
          </a:p>
          <a:p>
            <a:r>
              <a:rPr lang="en-AU" baseline="0" dirty="0"/>
              <a:t>v</a:t>
            </a:r>
            <a:r>
              <a:rPr lang="en-AU" baseline="-25000" dirty="0"/>
              <a:t>av</a:t>
            </a:r>
            <a:r>
              <a:rPr lang="en-AU" baseline="0" dirty="0"/>
              <a:t> = s/t</a:t>
            </a:r>
            <a:br>
              <a:rPr lang="en-AU" baseline="0" dirty="0"/>
            </a:br>
            <a:r>
              <a:rPr lang="en-AU" baseline="0" dirty="0"/>
              <a:t>20 = s / 2.02</a:t>
            </a:r>
          </a:p>
          <a:p>
            <a:r>
              <a:rPr lang="en-AU" baseline="0" dirty="0"/>
              <a:t>s = 40.4 m </a:t>
            </a:r>
            <a:endParaRPr lang="en-AU" dirty="0"/>
          </a:p>
          <a:p>
            <a:endParaRPr lang="en-AU" dirty="0"/>
          </a:p>
          <a:p>
            <a:r>
              <a:rPr lang="en-AU" baseline="0" dirty="0"/>
              <a:t>Horizontally, </a:t>
            </a:r>
            <a:r>
              <a:rPr lang="en-AU" baseline="0" dirty="0" err="1"/>
              <a:t>v</a:t>
            </a:r>
            <a:r>
              <a:rPr lang="en-AU" baseline="-25000" dirty="0" err="1"/>
              <a:t>h</a:t>
            </a:r>
            <a:r>
              <a:rPr lang="en-AU" baseline="0" dirty="0"/>
              <a:t> = u</a:t>
            </a:r>
            <a:r>
              <a:rPr lang="en-AU" baseline="-25000" dirty="0"/>
              <a:t>h</a:t>
            </a:r>
            <a:r>
              <a:rPr lang="en-AU" baseline="0" dirty="0"/>
              <a:t> = 20.0 m/s</a:t>
            </a:r>
          </a:p>
          <a:p>
            <a:r>
              <a:rPr lang="en-AU" baseline="0" dirty="0"/>
              <a:t>Vertically: v = u + at = 0 + (-9.80) * 2.02 = -19.8 m/s</a:t>
            </a:r>
          </a:p>
          <a:p>
            <a:endParaRPr lang="en-AU" baseline="0" dirty="0"/>
          </a:p>
          <a:p>
            <a:r>
              <a:rPr lang="en-AU" baseline="0" dirty="0"/>
              <a:t>Use </a:t>
            </a:r>
            <a:r>
              <a:rPr lang="en-AU" baseline="0" dirty="0" err="1"/>
              <a:t>pythag</a:t>
            </a:r>
            <a:r>
              <a:rPr lang="en-AU" baseline="0" dirty="0"/>
              <a:t>: v = sqrt(v</a:t>
            </a:r>
            <a:r>
              <a:rPr lang="en-AU" baseline="-25000" dirty="0"/>
              <a:t>h</a:t>
            </a:r>
            <a:r>
              <a:rPr lang="en-AU" baseline="30000" dirty="0"/>
              <a:t>2</a:t>
            </a:r>
            <a:r>
              <a:rPr lang="en-AU" baseline="0" dirty="0"/>
              <a:t> + v</a:t>
            </a:r>
            <a:r>
              <a:rPr lang="en-AU" baseline="-25000" dirty="0"/>
              <a:t>v</a:t>
            </a:r>
            <a:r>
              <a:rPr lang="en-AU" baseline="30000" dirty="0"/>
              <a:t>2</a:t>
            </a:r>
            <a:r>
              <a:rPr lang="en-AU" baseline="0" dirty="0"/>
              <a:t>) = sqrt(20^2 + -19.8^2) = 28.1 m/s</a:t>
            </a:r>
          </a:p>
          <a:p>
            <a:r>
              <a:rPr lang="en-AU" baseline="0" dirty="0"/>
              <a:t>Theta = tan</a:t>
            </a:r>
            <a:r>
              <a:rPr lang="en-AU" baseline="30000" dirty="0"/>
              <a:t>-1</a:t>
            </a:r>
            <a:r>
              <a:rPr lang="en-AU" baseline="0" dirty="0"/>
              <a:t> (19.8 / 20) = 44.7 deg below the horizontal</a:t>
            </a:r>
            <a:endParaRPr lang="en-AU" dirty="0"/>
          </a:p>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a:p>
        </p:txBody>
      </p:sp>
    </p:spTree>
    <p:extLst>
      <p:ext uri="{BB962C8B-B14F-4D97-AF65-F5344CB8AC3E}">
        <p14:creationId xmlns:p14="http://schemas.microsoft.com/office/powerpoint/2010/main" val="7990147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Calculate how long to fall to the ground (s = </a:t>
            </a:r>
            <a:r>
              <a:rPr lang="en-AU" dirty="0" err="1"/>
              <a:t>ut</a:t>
            </a:r>
            <a:r>
              <a:rPr lang="en-AU" dirty="0"/>
              <a:t> + ½ at</a:t>
            </a:r>
            <a:r>
              <a:rPr lang="en-AU" baseline="30000" dirty="0"/>
              <a:t>2</a:t>
            </a:r>
            <a:r>
              <a:rPr lang="en-AU" baseline="0" dirty="0"/>
              <a:t>) = 22.6s</a:t>
            </a:r>
          </a:p>
          <a:p>
            <a:r>
              <a:rPr lang="en-AU" baseline="0" dirty="0"/>
              <a:t>Calculate distance travelled in that time (v = s / t)  = 6780m</a:t>
            </a:r>
            <a:endParaRPr lang="en-AU" dirty="0"/>
          </a:p>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a:p>
        </p:txBody>
      </p:sp>
    </p:spTree>
    <p:extLst>
      <p:ext uri="{BB962C8B-B14F-4D97-AF65-F5344CB8AC3E}">
        <p14:creationId xmlns:p14="http://schemas.microsoft.com/office/powerpoint/2010/main" val="2460636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17</a:t>
            </a:fld>
            <a:endParaRPr lang="en-AU"/>
          </a:p>
        </p:txBody>
      </p:sp>
    </p:spTree>
    <p:extLst>
      <p:ext uri="{BB962C8B-B14F-4D97-AF65-F5344CB8AC3E}">
        <p14:creationId xmlns:p14="http://schemas.microsoft.com/office/powerpoint/2010/main" val="2704157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18</a:t>
            </a:fld>
            <a:endParaRPr lang="en-AU"/>
          </a:p>
        </p:txBody>
      </p:sp>
    </p:spTree>
    <p:extLst>
      <p:ext uri="{BB962C8B-B14F-4D97-AF65-F5344CB8AC3E}">
        <p14:creationId xmlns:p14="http://schemas.microsoft.com/office/powerpoint/2010/main" val="37430733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Calculate how long to fall to the ground (s = </a:t>
            </a:r>
            <a:r>
              <a:rPr lang="en-AU" dirty="0" err="1"/>
              <a:t>ut</a:t>
            </a:r>
            <a:r>
              <a:rPr lang="en-AU" dirty="0"/>
              <a:t> + ½ at</a:t>
            </a:r>
            <a:r>
              <a:rPr lang="en-AU" baseline="30000" dirty="0"/>
              <a:t>2</a:t>
            </a:r>
            <a:r>
              <a:rPr lang="en-AU" baseline="0" dirty="0"/>
              <a:t>) = 22.6s</a:t>
            </a:r>
          </a:p>
          <a:p>
            <a:r>
              <a:rPr lang="en-AU" baseline="0" dirty="0"/>
              <a:t>Calculate distance travelled in that time (v = s / t)  = 6780m</a:t>
            </a:r>
            <a:endParaRPr lang="en-AU" dirty="0"/>
          </a:p>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20</a:t>
            </a:fld>
            <a:endParaRPr lang="en-AU"/>
          </a:p>
        </p:txBody>
      </p:sp>
    </p:spTree>
    <p:extLst>
      <p:ext uri="{BB962C8B-B14F-4D97-AF65-F5344CB8AC3E}">
        <p14:creationId xmlns:p14="http://schemas.microsoft.com/office/powerpoint/2010/main" val="471035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microsoft.com/office/2007/relationships/hdphoto" Target="../media/hdphoto1.wdp"/><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microsoft.com/office/2007/relationships/hdphoto" Target="../media/hdphoto2.wdp"/><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8.png"/><Relationship Id="rId5" Type="http://schemas.openxmlformats.org/officeDocument/2006/relationships/image" Target="../media/image5.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video" Target="https://www.youtube.com/embed/na6QspKHt48?start=157&amp;feature=oembed" TargetMode="Externa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9C90DD5-0D44-418D-AC22-1FEAA06237D4}"/>
              </a:ext>
            </a:extLst>
          </p:cNvPr>
          <p:cNvSpPr txBox="1">
            <a:spLocks/>
          </p:cNvSpPr>
          <p:nvPr/>
        </p:nvSpPr>
        <p:spPr>
          <a:xfrm>
            <a:off x="295275" y="967183"/>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A student wanted to see how smooth a ramp was. A 2kg ball was released from rest down a ramp of length 15m and angle 15</a:t>
            </a:r>
            <a:r>
              <a:rPr lang="en-AU" b="0" baseline="30000" dirty="0"/>
              <a:t>o</a:t>
            </a:r>
            <a:r>
              <a:rPr lang="en-AU" b="0" dirty="0"/>
              <a:t>. A student measured the time taken for the ball to roll down the ramp as 3.25s.               </a:t>
            </a:r>
          </a:p>
          <a:p>
            <a:r>
              <a:rPr lang="en-AU" b="0" dirty="0"/>
              <a:t>Can the ramp be assumed to be frictionless? Why / why not?</a:t>
            </a:r>
          </a:p>
          <a:p>
            <a:endParaRPr lang="en-AU" b="0" dirty="0"/>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on inclined planes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Do Now</a:t>
            </a:r>
          </a:p>
        </p:txBody>
      </p:sp>
      <p:sp>
        <p:nvSpPr>
          <p:cNvPr id="5" name="Oval 4">
            <a:extLst>
              <a:ext uri="{FF2B5EF4-FFF2-40B4-BE49-F238E27FC236}">
                <a16:creationId xmlns:a16="http://schemas.microsoft.com/office/drawing/2014/main" id="{36EDDE6A-6AD6-4EB8-B90C-F02E01754ABF}"/>
              </a:ext>
            </a:extLst>
          </p:cNvPr>
          <p:cNvSpPr/>
          <p:nvPr/>
        </p:nvSpPr>
        <p:spPr>
          <a:xfrm>
            <a:off x="774700" y="4438650"/>
            <a:ext cx="527050" cy="535628"/>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Isosceles Triangle 5">
            <a:extLst>
              <a:ext uri="{FF2B5EF4-FFF2-40B4-BE49-F238E27FC236}">
                <a16:creationId xmlns:a16="http://schemas.microsoft.com/office/drawing/2014/main" id="{4940380D-E931-4203-B468-AF9C0C4AC684}"/>
              </a:ext>
            </a:extLst>
          </p:cNvPr>
          <p:cNvSpPr/>
          <p:nvPr/>
        </p:nvSpPr>
        <p:spPr>
          <a:xfrm>
            <a:off x="590550" y="4876799"/>
            <a:ext cx="5613400" cy="1385931"/>
          </a:xfrm>
          <a:prstGeom prst="triangle">
            <a:avLst>
              <a:gd name="adj" fmla="val 0"/>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71361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the motion of projectiles launched horizontally</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b="0" dirty="0"/>
              <a:t>For projectiles:</a:t>
            </a:r>
          </a:p>
          <a:p>
            <a:pPr marL="457200" indent="-457200">
              <a:buFont typeface="Arial" panose="020B0604020202020204" pitchFamily="34" charset="0"/>
              <a:buChar char="•"/>
            </a:pPr>
            <a:r>
              <a:rPr lang="en-AU" sz="1800" b="0" dirty="0"/>
              <a:t>I can draw a free body diagram</a:t>
            </a:r>
          </a:p>
          <a:p>
            <a:pPr marL="457200" indent="-457200">
              <a:buFont typeface="Arial" panose="020B0604020202020204" pitchFamily="34" charset="0"/>
              <a:buChar char="•"/>
            </a:pPr>
            <a:r>
              <a:rPr lang="en-AU" sz="1800" b="0" dirty="0"/>
              <a:t>I can calculate net force and acceleration</a:t>
            </a:r>
          </a:p>
          <a:p>
            <a:pPr marL="457200" indent="-457200">
              <a:buFont typeface="Arial" panose="020B0604020202020204" pitchFamily="34" charset="0"/>
              <a:buChar char="•"/>
            </a:pPr>
            <a:r>
              <a:rPr lang="en-AU" sz="1800" b="0" dirty="0"/>
              <a:t>I can qualitatively describe the impact of air resistance</a:t>
            </a:r>
          </a:p>
        </p:txBody>
      </p:sp>
    </p:spTree>
    <p:extLst>
      <p:ext uri="{BB962C8B-B14F-4D97-AF65-F5344CB8AC3E}">
        <p14:creationId xmlns:p14="http://schemas.microsoft.com/office/powerpoint/2010/main" val="2311140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Do Now</a:t>
            </a:r>
          </a:p>
        </p:txBody>
      </p:sp>
      <p:sp>
        <p:nvSpPr>
          <p:cNvPr id="27" name="Text Placeholder 3">
            <a:extLst>
              <a:ext uri="{FF2B5EF4-FFF2-40B4-BE49-F238E27FC236}">
                <a16:creationId xmlns:a16="http://schemas.microsoft.com/office/drawing/2014/main" id="{AC10B922-5FFF-4C97-94F5-B235F1509B05}"/>
              </a:ext>
            </a:extLst>
          </p:cNvPr>
          <p:cNvSpPr txBox="1">
            <a:spLocks/>
          </p:cNvSpPr>
          <p:nvPr/>
        </p:nvSpPr>
        <p:spPr>
          <a:xfrm>
            <a:off x="214867" y="1007686"/>
            <a:ext cx="1157625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1. Draw an arrow representing the velocity of the bullet</a:t>
            </a:r>
          </a:p>
          <a:p>
            <a:r>
              <a:rPr lang="en-AU" b="0" dirty="0"/>
              <a:t>2. In a different colour, draw a free body diagram of the bullet</a:t>
            </a:r>
          </a:p>
          <a:p>
            <a:endParaRPr lang="en-AU" dirty="0"/>
          </a:p>
        </p:txBody>
      </p:sp>
      <p:pic>
        <p:nvPicPr>
          <p:cNvPr id="3" name="Picture 2">
            <a:extLst>
              <a:ext uri="{FF2B5EF4-FFF2-40B4-BE49-F238E27FC236}">
                <a16:creationId xmlns:a16="http://schemas.microsoft.com/office/drawing/2014/main" id="{D8C4BFC7-2B68-4556-841D-6480E340AF74}"/>
              </a:ext>
            </a:extLst>
          </p:cNvPr>
          <p:cNvPicPr>
            <a:picLocks noChangeAspect="1"/>
          </p:cNvPicPr>
          <p:nvPr/>
        </p:nvPicPr>
        <p:blipFill rotWithShape="1">
          <a:blip r:embed="rId3"/>
          <a:srcRect t="13928" b="18571"/>
          <a:stretch/>
        </p:blipFill>
        <p:spPr>
          <a:xfrm flipH="1">
            <a:off x="214867" y="3066786"/>
            <a:ext cx="2046616" cy="1247776"/>
          </a:xfrm>
          <a:prstGeom prst="rect">
            <a:avLst/>
          </a:prstGeom>
        </p:spPr>
      </p:pic>
      <p:pic>
        <p:nvPicPr>
          <p:cNvPr id="26" name="Picture 25">
            <a:extLst>
              <a:ext uri="{FF2B5EF4-FFF2-40B4-BE49-F238E27FC236}">
                <a16:creationId xmlns:a16="http://schemas.microsoft.com/office/drawing/2014/main" id="{41CCEC0B-AC7C-4EE8-A29B-1AD1EF1BE1A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2658807" y="3005744"/>
            <a:ext cx="590866" cy="604607"/>
          </a:xfrm>
          <a:prstGeom prst="rect">
            <a:avLst/>
          </a:prstGeom>
        </p:spPr>
      </p:pic>
    </p:spTree>
    <p:extLst>
      <p:ext uri="{BB962C8B-B14F-4D97-AF65-F5344CB8AC3E}">
        <p14:creationId xmlns:p14="http://schemas.microsoft.com/office/powerpoint/2010/main" val="1370043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Do Now</a:t>
            </a:r>
          </a:p>
        </p:txBody>
      </p:sp>
      <p:pic>
        <p:nvPicPr>
          <p:cNvPr id="3" name="Picture 2">
            <a:extLst>
              <a:ext uri="{FF2B5EF4-FFF2-40B4-BE49-F238E27FC236}">
                <a16:creationId xmlns:a16="http://schemas.microsoft.com/office/drawing/2014/main" id="{D8C4BFC7-2B68-4556-841D-6480E340AF74}"/>
              </a:ext>
            </a:extLst>
          </p:cNvPr>
          <p:cNvPicPr>
            <a:picLocks noChangeAspect="1"/>
          </p:cNvPicPr>
          <p:nvPr/>
        </p:nvPicPr>
        <p:blipFill rotWithShape="1">
          <a:blip r:embed="rId3"/>
          <a:srcRect t="13928" b="18571"/>
          <a:stretch/>
        </p:blipFill>
        <p:spPr>
          <a:xfrm flipH="1">
            <a:off x="214867" y="3066786"/>
            <a:ext cx="2046616" cy="1247776"/>
          </a:xfrm>
          <a:prstGeom prst="rect">
            <a:avLst/>
          </a:prstGeom>
        </p:spPr>
      </p:pic>
      <p:pic>
        <p:nvPicPr>
          <p:cNvPr id="7" name="Picture 6">
            <a:extLst>
              <a:ext uri="{FF2B5EF4-FFF2-40B4-BE49-F238E27FC236}">
                <a16:creationId xmlns:a16="http://schemas.microsoft.com/office/drawing/2014/main" id="{473589F1-5883-4DDC-ACB2-E52E7DB9BC4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2658807" y="3005744"/>
            <a:ext cx="590866" cy="604607"/>
          </a:xfrm>
          <a:prstGeom prst="rect">
            <a:avLst/>
          </a:prstGeom>
        </p:spPr>
      </p:pic>
      <p:cxnSp>
        <p:nvCxnSpPr>
          <p:cNvPr id="8" name="Straight Arrow Connector 7">
            <a:extLst>
              <a:ext uri="{FF2B5EF4-FFF2-40B4-BE49-F238E27FC236}">
                <a16:creationId xmlns:a16="http://schemas.microsoft.com/office/drawing/2014/main" id="{2D7BD34E-EC81-436D-B609-29ABFCB07012}"/>
              </a:ext>
            </a:extLst>
          </p:cNvPr>
          <p:cNvCxnSpPr>
            <a:cxnSpLocks/>
          </p:cNvCxnSpPr>
          <p:nvPr/>
        </p:nvCxnSpPr>
        <p:spPr>
          <a:xfrm>
            <a:off x="2988791" y="3388220"/>
            <a:ext cx="0" cy="145048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9F29D15-C427-4167-A359-DB72EEF77D1E}"/>
              </a:ext>
            </a:extLst>
          </p:cNvPr>
          <p:cNvSpPr txBox="1"/>
          <p:nvPr/>
        </p:nvSpPr>
        <p:spPr>
          <a:xfrm>
            <a:off x="3045637" y="3844636"/>
            <a:ext cx="2679700" cy="762000"/>
          </a:xfrm>
          <a:prstGeom prst="rect">
            <a:avLst/>
          </a:prstGeom>
          <a:noFill/>
          <a:ln>
            <a:noFill/>
          </a:ln>
        </p:spPr>
        <p:txBody>
          <a:bodyPr wrap="square" rtlCol="0" anchor="t" anchorCtr="0">
            <a:normAutofit fontScale="92500" lnSpcReduction="20000"/>
          </a:bodyPr>
          <a:lstStyle/>
          <a:p>
            <a:pPr algn="l"/>
            <a:r>
              <a:rPr lang="en-AU" sz="5400" b="1" dirty="0" err="1">
                <a:latin typeface="Century Gothic" panose="020B0502020202020204" pitchFamily="34" charset="0"/>
                <a:cs typeface="Futura Medium" panose="020B0602020204020303" pitchFamily="34" charset="-79"/>
              </a:rPr>
              <a:t>F</a:t>
            </a:r>
            <a:r>
              <a:rPr lang="en-AU" sz="5400" b="1" baseline="-25000" dirty="0" err="1">
                <a:latin typeface="Century Gothic" panose="020B0502020202020204" pitchFamily="34" charset="0"/>
                <a:cs typeface="Futura Medium" panose="020B0602020204020303" pitchFamily="34" charset="-79"/>
              </a:rPr>
              <a:t>g</a:t>
            </a:r>
            <a:endParaRPr lang="en-AU" sz="5400" b="1" dirty="0">
              <a:latin typeface="Century Gothic" panose="020B0502020202020204" pitchFamily="34" charset="0"/>
              <a:cs typeface="Futura Medium" panose="020B0602020204020303" pitchFamily="34" charset="-79"/>
            </a:endParaRPr>
          </a:p>
        </p:txBody>
      </p:sp>
      <p:cxnSp>
        <p:nvCxnSpPr>
          <p:cNvPr id="10" name="Straight Arrow Connector 9">
            <a:extLst>
              <a:ext uri="{FF2B5EF4-FFF2-40B4-BE49-F238E27FC236}">
                <a16:creationId xmlns:a16="http://schemas.microsoft.com/office/drawing/2014/main" id="{35D04E89-9B8A-45D9-AEF5-77776C26AEDB}"/>
              </a:ext>
            </a:extLst>
          </p:cNvPr>
          <p:cNvCxnSpPr>
            <a:cxnSpLocks/>
          </p:cNvCxnSpPr>
          <p:nvPr/>
        </p:nvCxnSpPr>
        <p:spPr>
          <a:xfrm>
            <a:off x="5128437" y="3259751"/>
            <a:ext cx="1360853"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898B3EE-409B-481D-A40C-5A4390EC3384}"/>
              </a:ext>
            </a:extLst>
          </p:cNvPr>
          <p:cNvSpPr txBox="1"/>
          <p:nvPr/>
        </p:nvSpPr>
        <p:spPr>
          <a:xfrm>
            <a:off x="5595337" y="3384029"/>
            <a:ext cx="971375" cy="417136"/>
          </a:xfrm>
          <a:prstGeom prst="rect">
            <a:avLst/>
          </a:prstGeom>
          <a:noFill/>
          <a:ln>
            <a:noFill/>
          </a:ln>
        </p:spPr>
        <p:txBody>
          <a:bodyPr wrap="square" rtlCol="0" anchor="t" anchorCtr="0">
            <a:normAutofit fontScale="47500" lnSpcReduction="20000"/>
          </a:bodyPr>
          <a:lstStyle/>
          <a:p>
            <a:pPr algn="l"/>
            <a:r>
              <a:rPr lang="en-AU" sz="5400" b="1" i="1" dirty="0">
                <a:solidFill>
                  <a:srgbClr val="FF0000"/>
                </a:solidFill>
                <a:latin typeface="Century Gothic" panose="020B0502020202020204" pitchFamily="34" charset="0"/>
                <a:cs typeface="Futura Medium" panose="020B0602020204020303" pitchFamily="34" charset="-79"/>
              </a:rPr>
              <a:t>v</a:t>
            </a:r>
          </a:p>
        </p:txBody>
      </p:sp>
      <p:cxnSp>
        <p:nvCxnSpPr>
          <p:cNvPr id="13" name="Straight Arrow Connector 12">
            <a:extLst>
              <a:ext uri="{FF2B5EF4-FFF2-40B4-BE49-F238E27FC236}">
                <a16:creationId xmlns:a16="http://schemas.microsoft.com/office/drawing/2014/main" id="{44B7DFDE-EEA9-4722-A3A7-39CE4D8726DB}"/>
              </a:ext>
            </a:extLst>
          </p:cNvPr>
          <p:cNvCxnSpPr>
            <a:cxnSpLocks/>
          </p:cNvCxnSpPr>
          <p:nvPr/>
        </p:nvCxnSpPr>
        <p:spPr>
          <a:xfrm flipH="1">
            <a:off x="2128062" y="3321545"/>
            <a:ext cx="609600" cy="0"/>
          </a:xfrm>
          <a:prstGeom prst="straightConnector1">
            <a:avLst/>
          </a:prstGeom>
          <a:ln w="571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5523839-78ED-47E1-BCCB-2894F7F3C731}"/>
              </a:ext>
            </a:extLst>
          </p:cNvPr>
          <p:cNvSpPr txBox="1"/>
          <p:nvPr/>
        </p:nvSpPr>
        <p:spPr>
          <a:xfrm>
            <a:off x="2150287" y="2765749"/>
            <a:ext cx="2679700" cy="762000"/>
          </a:xfrm>
          <a:prstGeom prst="rect">
            <a:avLst/>
          </a:prstGeom>
          <a:noFill/>
          <a:ln>
            <a:noFill/>
          </a:ln>
        </p:spPr>
        <p:txBody>
          <a:bodyPr wrap="square" rtlCol="0" anchor="t" anchorCtr="0">
            <a:normAutofit/>
          </a:bodyPr>
          <a:lstStyle/>
          <a:p>
            <a:pPr algn="l"/>
            <a:r>
              <a:rPr lang="en-AU" sz="2400" b="1" dirty="0">
                <a:latin typeface="Century Gothic" panose="020B0502020202020204" pitchFamily="34" charset="0"/>
                <a:cs typeface="Futura Medium" panose="020B0602020204020303" pitchFamily="34" charset="-79"/>
              </a:rPr>
              <a:t>F</a:t>
            </a:r>
            <a:r>
              <a:rPr lang="en-AU" sz="2400" b="1" baseline="-25000" dirty="0">
                <a:latin typeface="Century Gothic" panose="020B0502020202020204" pitchFamily="34" charset="0"/>
                <a:cs typeface="Futura Medium" panose="020B0602020204020303" pitchFamily="34" charset="-79"/>
              </a:rPr>
              <a:t>air</a:t>
            </a:r>
            <a:endParaRPr lang="en-AU" sz="5400" b="1" dirty="0">
              <a:latin typeface="Century Gothic" panose="020B0502020202020204" pitchFamily="34" charset="0"/>
              <a:cs typeface="Futura Medium" panose="020B0602020204020303" pitchFamily="34" charset="-79"/>
            </a:endParaRPr>
          </a:p>
        </p:txBody>
      </p:sp>
      <p:sp>
        <p:nvSpPr>
          <p:cNvPr id="18" name="Text Placeholder 3">
            <a:extLst>
              <a:ext uri="{FF2B5EF4-FFF2-40B4-BE49-F238E27FC236}">
                <a16:creationId xmlns:a16="http://schemas.microsoft.com/office/drawing/2014/main" id="{BEBE968B-FDFB-4A5D-921B-EFD72782597C}"/>
              </a:ext>
            </a:extLst>
          </p:cNvPr>
          <p:cNvSpPr txBox="1">
            <a:spLocks/>
          </p:cNvSpPr>
          <p:nvPr/>
        </p:nvSpPr>
        <p:spPr>
          <a:xfrm>
            <a:off x="214867" y="1007686"/>
            <a:ext cx="1157625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1. Draw an arrow representing the velocity of the bullet</a:t>
            </a:r>
          </a:p>
          <a:p>
            <a:r>
              <a:rPr lang="en-AU" b="0" dirty="0"/>
              <a:t>2. In a different colour, draw a free body diagram of the bullet</a:t>
            </a:r>
          </a:p>
          <a:p>
            <a:endParaRPr lang="en-AU" dirty="0"/>
          </a:p>
        </p:txBody>
      </p:sp>
    </p:spTree>
    <p:extLst>
      <p:ext uri="{BB962C8B-B14F-4D97-AF65-F5344CB8AC3E}">
        <p14:creationId xmlns:p14="http://schemas.microsoft.com/office/powerpoint/2010/main" val="3741353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pic>
        <p:nvPicPr>
          <p:cNvPr id="7" name="Picture 6">
            <a:extLst>
              <a:ext uri="{FF2B5EF4-FFF2-40B4-BE49-F238E27FC236}">
                <a16:creationId xmlns:a16="http://schemas.microsoft.com/office/drawing/2014/main" id="{473589F1-5883-4DDC-ACB2-E52E7DB9BC4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5340870" y="2962273"/>
            <a:ext cx="590866" cy="604607"/>
          </a:xfrm>
          <a:prstGeom prst="rect">
            <a:avLst/>
          </a:prstGeom>
        </p:spPr>
      </p:pic>
      <p:cxnSp>
        <p:nvCxnSpPr>
          <p:cNvPr id="8" name="Straight Arrow Connector 7">
            <a:extLst>
              <a:ext uri="{FF2B5EF4-FFF2-40B4-BE49-F238E27FC236}">
                <a16:creationId xmlns:a16="http://schemas.microsoft.com/office/drawing/2014/main" id="{2D7BD34E-EC81-436D-B609-29ABFCB07012}"/>
              </a:ext>
            </a:extLst>
          </p:cNvPr>
          <p:cNvCxnSpPr>
            <a:cxnSpLocks/>
          </p:cNvCxnSpPr>
          <p:nvPr/>
        </p:nvCxnSpPr>
        <p:spPr>
          <a:xfrm>
            <a:off x="5670854" y="3344749"/>
            <a:ext cx="0" cy="145048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9F29D15-C427-4167-A359-DB72EEF77D1E}"/>
              </a:ext>
            </a:extLst>
          </p:cNvPr>
          <p:cNvSpPr txBox="1"/>
          <p:nvPr/>
        </p:nvSpPr>
        <p:spPr>
          <a:xfrm>
            <a:off x="5727700" y="3801165"/>
            <a:ext cx="2679700" cy="762000"/>
          </a:xfrm>
          <a:prstGeom prst="rect">
            <a:avLst/>
          </a:prstGeom>
          <a:noFill/>
          <a:ln>
            <a:noFill/>
          </a:ln>
        </p:spPr>
        <p:txBody>
          <a:bodyPr wrap="square" rtlCol="0" anchor="t" anchorCtr="0">
            <a:normAutofit fontScale="92500" lnSpcReduction="20000"/>
          </a:bodyPr>
          <a:lstStyle/>
          <a:p>
            <a:pPr algn="l"/>
            <a:r>
              <a:rPr lang="en-AU" sz="5400" b="1" dirty="0" err="1">
                <a:latin typeface="Century Gothic" panose="020B0502020202020204" pitchFamily="34" charset="0"/>
                <a:cs typeface="Futura Medium" panose="020B0602020204020303" pitchFamily="34" charset="-79"/>
              </a:rPr>
              <a:t>F</a:t>
            </a:r>
            <a:r>
              <a:rPr lang="en-AU" sz="5400" b="1" baseline="-25000" dirty="0" err="1">
                <a:latin typeface="Century Gothic" panose="020B0502020202020204" pitchFamily="34" charset="0"/>
                <a:cs typeface="Futura Medium" panose="020B0602020204020303" pitchFamily="34" charset="-79"/>
              </a:rPr>
              <a:t>g</a:t>
            </a:r>
            <a:endParaRPr lang="en-AU" sz="5400" b="1" dirty="0">
              <a:latin typeface="Century Gothic" panose="020B0502020202020204" pitchFamily="34" charset="0"/>
              <a:cs typeface="Futura Medium" panose="020B0602020204020303" pitchFamily="34" charset="-79"/>
            </a:endParaRPr>
          </a:p>
        </p:txBody>
      </p:sp>
      <p:sp>
        <p:nvSpPr>
          <p:cNvPr id="18" name="Text Placeholder 3">
            <a:extLst>
              <a:ext uri="{FF2B5EF4-FFF2-40B4-BE49-F238E27FC236}">
                <a16:creationId xmlns:a16="http://schemas.microsoft.com/office/drawing/2014/main" id="{BEBE968B-FDFB-4A5D-921B-EFD72782597C}"/>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After the bullet is fired, the gun no longer exerts force on it. In fact, ignoring air resistance, there is no horizontal force acting on the bullet at all. </a:t>
            </a:r>
          </a:p>
          <a:p>
            <a:pPr algn="ctr"/>
            <a:r>
              <a:rPr lang="en-AU" dirty="0"/>
              <a:t>The only force acting on the bullet is the force due to gravity.</a:t>
            </a:r>
          </a:p>
          <a:p>
            <a:endParaRPr lang="en-AU" dirty="0"/>
          </a:p>
        </p:txBody>
      </p:sp>
      <p:sp>
        <p:nvSpPr>
          <p:cNvPr id="14" name="Text Placeholder 3">
            <a:extLst>
              <a:ext uri="{FF2B5EF4-FFF2-40B4-BE49-F238E27FC236}">
                <a16:creationId xmlns:a16="http://schemas.microsoft.com/office/drawing/2014/main" id="{B1B85237-CC1B-40D8-8876-5E4D69298245}"/>
              </a:ext>
            </a:extLst>
          </p:cNvPr>
          <p:cNvSpPr txBox="1">
            <a:spLocks/>
          </p:cNvSpPr>
          <p:nvPr/>
        </p:nvSpPr>
        <p:spPr>
          <a:xfrm>
            <a:off x="214866" y="516766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err="1"/>
              <a:t>F</a:t>
            </a:r>
            <a:r>
              <a:rPr lang="en-AU" b="0" baseline="-25000" dirty="0" err="1"/>
              <a:t>g</a:t>
            </a:r>
            <a:r>
              <a:rPr lang="en-AU" b="0" dirty="0"/>
              <a:t> is constant and always directed vertically downwards.</a:t>
            </a:r>
          </a:p>
          <a:p>
            <a:endParaRPr lang="en-AU" dirty="0"/>
          </a:p>
        </p:txBody>
      </p:sp>
    </p:spTree>
    <p:extLst>
      <p:ext uri="{BB962C8B-B14F-4D97-AF65-F5344CB8AC3E}">
        <p14:creationId xmlns:p14="http://schemas.microsoft.com/office/powerpoint/2010/main" val="555235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ne, Curved | ClipArt ETC">
            <a:extLst>
              <a:ext uri="{FF2B5EF4-FFF2-40B4-BE49-F238E27FC236}">
                <a16:creationId xmlns:a16="http://schemas.microsoft.com/office/drawing/2014/main" id="{93F0D46A-2907-42A8-8923-D4474C81E8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725"/>
          <a:stretch/>
        </p:blipFill>
        <p:spPr bwMode="auto">
          <a:xfrm>
            <a:off x="1242782" y="1454826"/>
            <a:ext cx="8212138" cy="37242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pic>
        <p:nvPicPr>
          <p:cNvPr id="7" name="Picture 6">
            <a:extLst>
              <a:ext uri="{FF2B5EF4-FFF2-40B4-BE49-F238E27FC236}">
                <a16:creationId xmlns:a16="http://schemas.microsoft.com/office/drawing/2014/main" id="{473589F1-5883-4DDC-ACB2-E52E7DB9BC4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645045" y="1152523"/>
            <a:ext cx="590866" cy="604607"/>
          </a:xfrm>
          <a:prstGeom prst="rect">
            <a:avLst/>
          </a:prstGeom>
        </p:spPr>
      </p:pic>
      <p:cxnSp>
        <p:nvCxnSpPr>
          <p:cNvPr id="8" name="Straight Arrow Connector 7">
            <a:extLst>
              <a:ext uri="{FF2B5EF4-FFF2-40B4-BE49-F238E27FC236}">
                <a16:creationId xmlns:a16="http://schemas.microsoft.com/office/drawing/2014/main" id="{2D7BD34E-EC81-436D-B609-29ABFCB07012}"/>
              </a:ext>
            </a:extLst>
          </p:cNvPr>
          <p:cNvCxnSpPr>
            <a:cxnSpLocks/>
          </p:cNvCxnSpPr>
          <p:nvPr/>
        </p:nvCxnSpPr>
        <p:spPr>
          <a:xfrm>
            <a:off x="975029" y="1534999"/>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9F29D15-C427-4167-A359-DB72EEF77D1E}"/>
              </a:ext>
            </a:extLst>
          </p:cNvPr>
          <p:cNvSpPr txBox="1"/>
          <p:nvPr/>
        </p:nvSpPr>
        <p:spPr>
          <a:xfrm>
            <a:off x="428855" y="1802448"/>
            <a:ext cx="2679700" cy="762000"/>
          </a:xfrm>
          <a:prstGeom prst="rect">
            <a:avLst/>
          </a:prstGeom>
          <a:noFill/>
          <a:ln>
            <a:noFill/>
          </a:ln>
        </p:spPr>
        <p:txBody>
          <a:bodyPr wrap="square" rtlCol="0" anchor="t" anchorCtr="0">
            <a:normAutofit/>
          </a:bodyPr>
          <a:lstStyle/>
          <a:p>
            <a:pPr algn="l"/>
            <a:r>
              <a:rPr lang="en-AU" sz="2400" b="1" dirty="0" err="1">
                <a:latin typeface="Century Gothic" panose="020B0502020202020204" pitchFamily="34" charset="0"/>
                <a:cs typeface="Futura Medium" panose="020B0602020204020303" pitchFamily="34" charset="-79"/>
              </a:rPr>
              <a:t>F</a:t>
            </a:r>
            <a:r>
              <a:rPr lang="en-AU" sz="2400" b="1" baseline="-25000" dirty="0" err="1">
                <a:latin typeface="Century Gothic" panose="020B0502020202020204" pitchFamily="34" charset="0"/>
                <a:cs typeface="Futura Medium" panose="020B0602020204020303" pitchFamily="34" charset="-79"/>
              </a:rPr>
              <a:t>g</a:t>
            </a:r>
            <a:endParaRPr lang="en-AU" sz="2400" b="1" dirty="0">
              <a:latin typeface="Century Gothic" panose="020B0502020202020204" pitchFamily="34" charset="0"/>
              <a:cs typeface="Futura Medium" panose="020B0602020204020303" pitchFamily="34" charset="-79"/>
            </a:endParaRPr>
          </a:p>
        </p:txBody>
      </p:sp>
      <p:sp>
        <p:nvSpPr>
          <p:cNvPr id="5" name="Rectangle 4">
            <a:extLst>
              <a:ext uri="{FF2B5EF4-FFF2-40B4-BE49-F238E27FC236}">
                <a16:creationId xmlns:a16="http://schemas.microsoft.com/office/drawing/2014/main" id="{0D2E6733-A021-457C-A588-F57EDB50F901}"/>
              </a:ext>
            </a:extLst>
          </p:cNvPr>
          <p:cNvSpPr/>
          <p:nvPr/>
        </p:nvSpPr>
        <p:spPr>
          <a:xfrm>
            <a:off x="0" y="5179101"/>
            <a:ext cx="12191999" cy="1439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5" name="Group 14">
            <a:extLst>
              <a:ext uri="{FF2B5EF4-FFF2-40B4-BE49-F238E27FC236}">
                <a16:creationId xmlns:a16="http://schemas.microsoft.com/office/drawing/2014/main" id="{0891FAD3-5C6B-4022-B1E5-743F61E2C2D9}"/>
              </a:ext>
            </a:extLst>
          </p:cNvPr>
          <p:cNvGrpSpPr/>
          <p:nvPr/>
        </p:nvGrpSpPr>
        <p:grpSpPr>
          <a:xfrm>
            <a:off x="2256631" y="1252321"/>
            <a:ext cx="2679700" cy="1405054"/>
            <a:chOff x="428855" y="1159394"/>
            <a:chExt cx="2679700" cy="1405054"/>
          </a:xfrm>
        </p:grpSpPr>
        <p:pic>
          <p:nvPicPr>
            <p:cNvPr id="16" name="Picture 15">
              <a:extLst>
                <a:ext uri="{FF2B5EF4-FFF2-40B4-BE49-F238E27FC236}">
                  <a16:creationId xmlns:a16="http://schemas.microsoft.com/office/drawing/2014/main" id="{CC78AEFF-0F21-4407-8597-A302DCA7F0E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645045" y="1152523"/>
              <a:ext cx="590866" cy="604607"/>
            </a:xfrm>
            <a:prstGeom prst="rect">
              <a:avLst/>
            </a:prstGeom>
          </p:spPr>
        </p:pic>
        <p:cxnSp>
          <p:nvCxnSpPr>
            <p:cNvPr id="17" name="Straight Arrow Connector 16">
              <a:extLst>
                <a:ext uri="{FF2B5EF4-FFF2-40B4-BE49-F238E27FC236}">
                  <a16:creationId xmlns:a16="http://schemas.microsoft.com/office/drawing/2014/main" id="{D4F92ECE-8F37-42FA-BAF8-DD6D2268F504}"/>
                </a:ext>
              </a:extLst>
            </p:cNvPr>
            <p:cNvCxnSpPr>
              <a:cxnSpLocks/>
            </p:cNvCxnSpPr>
            <p:nvPr/>
          </p:nvCxnSpPr>
          <p:spPr>
            <a:xfrm>
              <a:off x="975029" y="1534999"/>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84381C2-9081-4349-95E0-A56736B7AABB}"/>
                </a:ext>
              </a:extLst>
            </p:cNvPr>
            <p:cNvSpPr txBox="1"/>
            <p:nvPr/>
          </p:nvSpPr>
          <p:spPr>
            <a:xfrm>
              <a:off x="428855" y="1802448"/>
              <a:ext cx="2679700" cy="762000"/>
            </a:xfrm>
            <a:prstGeom prst="rect">
              <a:avLst/>
            </a:prstGeom>
            <a:noFill/>
            <a:ln>
              <a:noFill/>
            </a:ln>
          </p:spPr>
          <p:txBody>
            <a:bodyPr wrap="square" rtlCol="0" anchor="t" anchorCtr="0">
              <a:normAutofit/>
            </a:bodyPr>
            <a:lstStyle/>
            <a:p>
              <a:pPr algn="l"/>
              <a:r>
                <a:rPr lang="en-AU" sz="2400" b="1" dirty="0" err="1">
                  <a:latin typeface="Century Gothic" panose="020B0502020202020204" pitchFamily="34" charset="0"/>
                  <a:cs typeface="Futura Medium" panose="020B0602020204020303" pitchFamily="34" charset="-79"/>
                </a:rPr>
                <a:t>F</a:t>
              </a:r>
              <a:r>
                <a:rPr lang="en-AU" sz="2400" b="1" baseline="-25000" dirty="0" err="1">
                  <a:latin typeface="Century Gothic" panose="020B0502020202020204" pitchFamily="34" charset="0"/>
                  <a:cs typeface="Futura Medium" panose="020B0602020204020303" pitchFamily="34" charset="-79"/>
                </a:rPr>
                <a:t>g</a:t>
              </a:r>
              <a:endParaRPr lang="en-AU" sz="2400" b="1" dirty="0">
                <a:latin typeface="Century Gothic" panose="020B0502020202020204" pitchFamily="34" charset="0"/>
                <a:cs typeface="Futura Medium" panose="020B0602020204020303" pitchFamily="34" charset="-79"/>
              </a:endParaRPr>
            </a:p>
          </p:txBody>
        </p:sp>
      </p:grpSp>
      <p:grpSp>
        <p:nvGrpSpPr>
          <p:cNvPr id="20" name="Group 19">
            <a:extLst>
              <a:ext uri="{FF2B5EF4-FFF2-40B4-BE49-F238E27FC236}">
                <a16:creationId xmlns:a16="http://schemas.microsoft.com/office/drawing/2014/main" id="{BE9174CB-0E41-48EA-B59E-0C3693E9655E}"/>
              </a:ext>
            </a:extLst>
          </p:cNvPr>
          <p:cNvGrpSpPr/>
          <p:nvPr/>
        </p:nvGrpSpPr>
        <p:grpSpPr>
          <a:xfrm>
            <a:off x="4142655" y="1571625"/>
            <a:ext cx="2679700" cy="1405054"/>
            <a:chOff x="428855" y="1159394"/>
            <a:chExt cx="2679700" cy="1405054"/>
          </a:xfrm>
        </p:grpSpPr>
        <p:pic>
          <p:nvPicPr>
            <p:cNvPr id="21" name="Picture 20">
              <a:extLst>
                <a:ext uri="{FF2B5EF4-FFF2-40B4-BE49-F238E27FC236}">
                  <a16:creationId xmlns:a16="http://schemas.microsoft.com/office/drawing/2014/main" id="{B111B16B-67A1-48E8-984E-8CDA938ECCD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645045" y="1152523"/>
              <a:ext cx="590866" cy="604607"/>
            </a:xfrm>
            <a:prstGeom prst="rect">
              <a:avLst/>
            </a:prstGeom>
          </p:spPr>
        </p:pic>
        <p:cxnSp>
          <p:nvCxnSpPr>
            <p:cNvPr id="22" name="Straight Arrow Connector 21">
              <a:extLst>
                <a:ext uri="{FF2B5EF4-FFF2-40B4-BE49-F238E27FC236}">
                  <a16:creationId xmlns:a16="http://schemas.microsoft.com/office/drawing/2014/main" id="{180AB844-A32C-4682-A4AC-9B6AD1215FEE}"/>
                </a:ext>
              </a:extLst>
            </p:cNvPr>
            <p:cNvCxnSpPr>
              <a:cxnSpLocks/>
            </p:cNvCxnSpPr>
            <p:nvPr/>
          </p:nvCxnSpPr>
          <p:spPr>
            <a:xfrm>
              <a:off x="975029" y="1534999"/>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BCA7E27-F44F-4E85-9A42-1207F6B97797}"/>
                </a:ext>
              </a:extLst>
            </p:cNvPr>
            <p:cNvSpPr txBox="1"/>
            <p:nvPr/>
          </p:nvSpPr>
          <p:spPr>
            <a:xfrm>
              <a:off x="428855" y="1802448"/>
              <a:ext cx="2679700" cy="762000"/>
            </a:xfrm>
            <a:prstGeom prst="rect">
              <a:avLst/>
            </a:prstGeom>
            <a:noFill/>
            <a:ln>
              <a:noFill/>
            </a:ln>
          </p:spPr>
          <p:txBody>
            <a:bodyPr wrap="square" rtlCol="0" anchor="t" anchorCtr="0">
              <a:normAutofit/>
            </a:bodyPr>
            <a:lstStyle/>
            <a:p>
              <a:pPr algn="l"/>
              <a:r>
                <a:rPr lang="en-AU" sz="2400" b="1" dirty="0" err="1">
                  <a:latin typeface="Century Gothic" panose="020B0502020202020204" pitchFamily="34" charset="0"/>
                  <a:cs typeface="Futura Medium" panose="020B0602020204020303" pitchFamily="34" charset="-79"/>
                </a:rPr>
                <a:t>F</a:t>
              </a:r>
              <a:r>
                <a:rPr lang="en-AU" sz="2400" b="1" baseline="-25000" dirty="0" err="1">
                  <a:latin typeface="Century Gothic" panose="020B0502020202020204" pitchFamily="34" charset="0"/>
                  <a:cs typeface="Futura Medium" panose="020B0602020204020303" pitchFamily="34" charset="-79"/>
                </a:rPr>
                <a:t>g</a:t>
              </a:r>
              <a:endParaRPr lang="en-AU" sz="2400" b="1" dirty="0">
                <a:latin typeface="Century Gothic" panose="020B0502020202020204" pitchFamily="34" charset="0"/>
                <a:cs typeface="Futura Medium" panose="020B0602020204020303" pitchFamily="34" charset="-79"/>
              </a:endParaRPr>
            </a:p>
          </p:txBody>
        </p:sp>
      </p:grpSp>
      <p:grpSp>
        <p:nvGrpSpPr>
          <p:cNvPr id="24" name="Group 23">
            <a:extLst>
              <a:ext uri="{FF2B5EF4-FFF2-40B4-BE49-F238E27FC236}">
                <a16:creationId xmlns:a16="http://schemas.microsoft.com/office/drawing/2014/main" id="{5C08CD80-E464-4FE7-9D37-B27B82A2F27C}"/>
              </a:ext>
            </a:extLst>
          </p:cNvPr>
          <p:cNvGrpSpPr/>
          <p:nvPr/>
        </p:nvGrpSpPr>
        <p:grpSpPr>
          <a:xfrm>
            <a:off x="6018360" y="2322269"/>
            <a:ext cx="2679700" cy="1405054"/>
            <a:chOff x="428855" y="1159394"/>
            <a:chExt cx="2679700" cy="1405054"/>
          </a:xfrm>
        </p:grpSpPr>
        <p:pic>
          <p:nvPicPr>
            <p:cNvPr id="25" name="Picture 24">
              <a:extLst>
                <a:ext uri="{FF2B5EF4-FFF2-40B4-BE49-F238E27FC236}">
                  <a16:creationId xmlns:a16="http://schemas.microsoft.com/office/drawing/2014/main" id="{B3CDE11B-8CD6-4CE1-B86C-9057E975A36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645045" y="1152523"/>
              <a:ext cx="590866" cy="604607"/>
            </a:xfrm>
            <a:prstGeom prst="rect">
              <a:avLst/>
            </a:prstGeom>
          </p:spPr>
        </p:pic>
        <p:cxnSp>
          <p:nvCxnSpPr>
            <p:cNvPr id="26" name="Straight Arrow Connector 25">
              <a:extLst>
                <a:ext uri="{FF2B5EF4-FFF2-40B4-BE49-F238E27FC236}">
                  <a16:creationId xmlns:a16="http://schemas.microsoft.com/office/drawing/2014/main" id="{4FB28152-E2E2-4122-82E7-0207A8CF3763}"/>
                </a:ext>
              </a:extLst>
            </p:cNvPr>
            <p:cNvCxnSpPr>
              <a:cxnSpLocks/>
            </p:cNvCxnSpPr>
            <p:nvPr/>
          </p:nvCxnSpPr>
          <p:spPr>
            <a:xfrm>
              <a:off x="975029" y="1534999"/>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922360D-08ED-4417-B08B-26921CC23EA9}"/>
                </a:ext>
              </a:extLst>
            </p:cNvPr>
            <p:cNvSpPr txBox="1"/>
            <p:nvPr/>
          </p:nvSpPr>
          <p:spPr>
            <a:xfrm>
              <a:off x="428855" y="1802448"/>
              <a:ext cx="2679700" cy="762000"/>
            </a:xfrm>
            <a:prstGeom prst="rect">
              <a:avLst/>
            </a:prstGeom>
            <a:noFill/>
            <a:ln>
              <a:noFill/>
            </a:ln>
          </p:spPr>
          <p:txBody>
            <a:bodyPr wrap="square" rtlCol="0" anchor="t" anchorCtr="0">
              <a:normAutofit/>
            </a:bodyPr>
            <a:lstStyle/>
            <a:p>
              <a:pPr algn="l"/>
              <a:r>
                <a:rPr lang="en-AU" sz="2400" b="1" dirty="0" err="1">
                  <a:latin typeface="Century Gothic" panose="020B0502020202020204" pitchFamily="34" charset="0"/>
                  <a:cs typeface="Futura Medium" panose="020B0602020204020303" pitchFamily="34" charset="-79"/>
                </a:rPr>
                <a:t>F</a:t>
              </a:r>
              <a:r>
                <a:rPr lang="en-AU" sz="2400" b="1" baseline="-25000" dirty="0" err="1">
                  <a:latin typeface="Century Gothic" panose="020B0502020202020204" pitchFamily="34" charset="0"/>
                  <a:cs typeface="Futura Medium" panose="020B0602020204020303" pitchFamily="34" charset="-79"/>
                </a:rPr>
                <a:t>g</a:t>
              </a:r>
              <a:endParaRPr lang="en-AU" sz="2400" b="1" dirty="0">
                <a:latin typeface="Century Gothic" panose="020B0502020202020204" pitchFamily="34" charset="0"/>
                <a:cs typeface="Futura Medium" panose="020B0602020204020303" pitchFamily="34" charset="-79"/>
              </a:endParaRPr>
            </a:p>
          </p:txBody>
        </p:sp>
      </p:grpSp>
      <p:grpSp>
        <p:nvGrpSpPr>
          <p:cNvPr id="28" name="Group 27">
            <a:extLst>
              <a:ext uri="{FF2B5EF4-FFF2-40B4-BE49-F238E27FC236}">
                <a16:creationId xmlns:a16="http://schemas.microsoft.com/office/drawing/2014/main" id="{4C7CF5FD-A28D-4CD8-B86D-42F48EC079BC}"/>
              </a:ext>
            </a:extLst>
          </p:cNvPr>
          <p:cNvGrpSpPr/>
          <p:nvPr/>
        </p:nvGrpSpPr>
        <p:grpSpPr>
          <a:xfrm>
            <a:off x="7589147" y="3392217"/>
            <a:ext cx="2679700" cy="1405054"/>
            <a:chOff x="428855" y="1159394"/>
            <a:chExt cx="2679700" cy="1405054"/>
          </a:xfrm>
        </p:grpSpPr>
        <p:pic>
          <p:nvPicPr>
            <p:cNvPr id="29" name="Picture 28">
              <a:extLst>
                <a:ext uri="{FF2B5EF4-FFF2-40B4-BE49-F238E27FC236}">
                  <a16:creationId xmlns:a16="http://schemas.microsoft.com/office/drawing/2014/main" id="{9172ECA3-E129-4966-BAB4-A0009CF1B3E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645045" y="1152523"/>
              <a:ext cx="590866" cy="604607"/>
            </a:xfrm>
            <a:prstGeom prst="rect">
              <a:avLst/>
            </a:prstGeom>
          </p:spPr>
        </p:pic>
        <p:cxnSp>
          <p:nvCxnSpPr>
            <p:cNvPr id="30" name="Straight Arrow Connector 29">
              <a:extLst>
                <a:ext uri="{FF2B5EF4-FFF2-40B4-BE49-F238E27FC236}">
                  <a16:creationId xmlns:a16="http://schemas.microsoft.com/office/drawing/2014/main" id="{8E3B4DAE-EBDD-4120-BF35-3EFC73E2044A}"/>
                </a:ext>
              </a:extLst>
            </p:cNvPr>
            <p:cNvCxnSpPr>
              <a:cxnSpLocks/>
            </p:cNvCxnSpPr>
            <p:nvPr/>
          </p:nvCxnSpPr>
          <p:spPr>
            <a:xfrm>
              <a:off x="975029" y="1534999"/>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2DBD482-E495-4292-9D98-750DD4DB39A7}"/>
                </a:ext>
              </a:extLst>
            </p:cNvPr>
            <p:cNvSpPr txBox="1"/>
            <p:nvPr/>
          </p:nvSpPr>
          <p:spPr>
            <a:xfrm>
              <a:off x="428855" y="1802448"/>
              <a:ext cx="2679700" cy="762000"/>
            </a:xfrm>
            <a:prstGeom prst="rect">
              <a:avLst/>
            </a:prstGeom>
            <a:noFill/>
            <a:ln>
              <a:noFill/>
            </a:ln>
          </p:spPr>
          <p:txBody>
            <a:bodyPr wrap="square" rtlCol="0" anchor="t" anchorCtr="0">
              <a:normAutofit/>
            </a:bodyPr>
            <a:lstStyle/>
            <a:p>
              <a:pPr algn="l"/>
              <a:r>
                <a:rPr lang="en-AU" sz="2400" b="1" dirty="0" err="1">
                  <a:latin typeface="Century Gothic" panose="020B0502020202020204" pitchFamily="34" charset="0"/>
                  <a:cs typeface="Futura Medium" panose="020B0602020204020303" pitchFamily="34" charset="-79"/>
                </a:rPr>
                <a:t>F</a:t>
              </a:r>
              <a:r>
                <a:rPr lang="en-AU" sz="2400" b="1" baseline="-25000" dirty="0" err="1">
                  <a:latin typeface="Century Gothic" panose="020B0502020202020204" pitchFamily="34" charset="0"/>
                  <a:cs typeface="Futura Medium" panose="020B0602020204020303" pitchFamily="34" charset="-79"/>
                </a:rPr>
                <a:t>g</a:t>
              </a:r>
              <a:endParaRPr lang="en-AU" sz="2400" b="1" dirty="0">
                <a:latin typeface="Century Gothic" panose="020B0502020202020204" pitchFamily="34" charset="0"/>
                <a:cs typeface="Futura Medium" panose="020B0602020204020303" pitchFamily="34" charset="-79"/>
              </a:endParaRPr>
            </a:p>
          </p:txBody>
        </p:sp>
      </p:grpSp>
      <p:sp>
        <p:nvSpPr>
          <p:cNvPr id="36" name="Text Placeholder 3">
            <a:extLst>
              <a:ext uri="{FF2B5EF4-FFF2-40B4-BE49-F238E27FC236}">
                <a16:creationId xmlns:a16="http://schemas.microsoft.com/office/drawing/2014/main" id="{4BE6AB64-0A93-4323-8475-32921AD6B7DD}"/>
              </a:ext>
            </a:extLst>
          </p:cNvPr>
          <p:cNvSpPr txBox="1">
            <a:spLocks/>
          </p:cNvSpPr>
          <p:nvPr/>
        </p:nvSpPr>
        <p:spPr>
          <a:xfrm>
            <a:off x="107432" y="535799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err="1"/>
              <a:t>F</a:t>
            </a:r>
            <a:r>
              <a:rPr lang="en-AU" b="0" baseline="-25000" dirty="0" err="1"/>
              <a:t>g</a:t>
            </a:r>
            <a:r>
              <a:rPr lang="en-AU" b="0" dirty="0"/>
              <a:t> is constant and always directed vertically downwards. This is the net force. Therefore, the acceleration is constant and straight down. The velocity of the bullet moves down throughout the flight.</a:t>
            </a:r>
          </a:p>
          <a:p>
            <a:endParaRPr lang="en-AU" dirty="0"/>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04234" y="4196352"/>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grpSp>
        <p:nvGrpSpPr>
          <p:cNvPr id="39" name="Group 38">
            <a:extLst>
              <a:ext uri="{FF2B5EF4-FFF2-40B4-BE49-F238E27FC236}">
                <a16:creationId xmlns:a16="http://schemas.microsoft.com/office/drawing/2014/main" id="{7F04B6FB-4976-477E-9DB1-9F2AC98F42FD}"/>
              </a:ext>
            </a:extLst>
          </p:cNvPr>
          <p:cNvGrpSpPr/>
          <p:nvPr/>
        </p:nvGrpSpPr>
        <p:grpSpPr>
          <a:xfrm>
            <a:off x="1066800" y="1488281"/>
            <a:ext cx="9868720" cy="2999940"/>
            <a:chOff x="1066800" y="1488281"/>
            <a:chExt cx="9868720" cy="2999940"/>
          </a:xfrm>
        </p:grpSpPr>
        <p:grpSp>
          <p:nvGrpSpPr>
            <p:cNvPr id="13" name="Group 12">
              <a:extLst>
                <a:ext uri="{FF2B5EF4-FFF2-40B4-BE49-F238E27FC236}">
                  <a16:creationId xmlns:a16="http://schemas.microsoft.com/office/drawing/2014/main" id="{5C700D1D-30BC-4EBE-B6BA-32D09986A9DC}"/>
                </a:ext>
              </a:extLst>
            </p:cNvPr>
            <p:cNvGrpSpPr/>
            <p:nvPr/>
          </p:nvGrpSpPr>
          <p:grpSpPr>
            <a:xfrm>
              <a:off x="1066800" y="1488281"/>
              <a:ext cx="2693447" cy="762000"/>
              <a:chOff x="1066800" y="1488281"/>
              <a:chExt cx="2693447" cy="762000"/>
            </a:xfrm>
          </p:grpSpPr>
          <p:sp>
            <p:nvSpPr>
              <p:cNvPr id="38" name="TextBox 37">
                <a:extLst>
                  <a:ext uri="{FF2B5EF4-FFF2-40B4-BE49-F238E27FC236}">
                    <a16:creationId xmlns:a16="http://schemas.microsoft.com/office/drawing/2014/main" id="{C7F566D2-46EF-479E-8A90-2E2632D14AE9}"/>
                  </a:ext>
                </a:extLst>
              </p:cNvPr>
              <p:cNvSpPr txBox="1"/>
              <p:nvPr/>
            </p:nvSpPr>
            <p:spPr>
              <a:xfrm>
                <a:off x="1080547" y="1488281"/>
                <a:ext cx="2679700" cy="762000"/>
              </a:xfrm>
              <a:prstGeom prst="rect">
                <a:avLst/>
              </a:prstGeom>
              <a:noFill/>
              <a:ln>
                <a:noFill/>
              </a:ln>
            </p:spPr>
            <p:txBody>
              <a:bodyPr wrap="square" rtlCol="0" anchor="t" anchorCtr="0">
                <a:normAutofit/>
              </a:bodyPr>
              <a:lstStyle/>
              <a:p>
                <a:pPr algn="l"/>
                <a:r>
                  <a:rPr lang="en-AU" sz="2400" b="1" dirty="0">
                    <a:solidFill>
                      <a:srgbClr val="2E546D"/>
                    </a:solidFill>
                    <a:latin typeface="Century Gothic" panose="020B0502020202020204" pitchFamily="34" charset="0"/>
                    <a:cs typeface="Futura Medium" panose="020B0602020204020303" pitchFamily="34" charset="-79"/>
                  </a:rPr>
                  <a:t>a</a:t>
                </a:r>
              </a:p>
            </p:txBody>
          </p:sp>
          <p:cxnSp>
            <p:nvCxnSpPr>
              <p:cNvPr id="12" name="Straight Arrow Connector 11">
                <a:extLst>
                  <a:ext uri="{FF2B5EF4-FFF2-40B4-BE49-F238E27FC236}">
                    <a16:creationId xmlns:a16="http://schemas.microsoft.com/office/drawing/2014/main" id="{C91D1533-0375-44BD-B727-34EF5401AB83}"/>
                  </a:ext>
                </a:extLst>
              </p:cNvPr>
              <p:cNvCxnSpPr/>
              <p:nvPr/>
            </p:nvCxnSpPr>
            <p:spPr>
              <a:xfrm>
                <a:off x="1066800" y="1534999"/>
                <a:ext cx="0" cy="432000"/>
              </a:xfrm>
              <a:prstGeom prst="straightConnector1">
                <a:avLst/>
              </a:prstGeom>
              <a:ln w="38100">
                <a:solidFill>
                  <a:srgbClr val="2E546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6EEB11C6-A813-4CA4-BF8E-644FE1578FC4}"/>
                </a:ext>
              </a:extLst>
            </p:cNvPr>
            <p:cNvGrpSpPr/>
            <p:nvPr/>
          </p:nvGrpSpPr>
          <p:grpSpPr>
            <a:xfrm>
              <a:off x="4778884" y="1896980"/>
              <a:ext cx="2693447" cy="762000"/>
              <a:chOff x="1066800" y="1488281"/>
              <a:chExt cx="2693447" cy="762000"/>
            </a:xfrm>
          </p:grpSpPr>
          <p:sp>
            <p:nvSpPr>
              <p:cNvPr id="44" name="TextBox 43">
                <a:extLst>
                  <a:ext uri="{FF2B5EF4-FFF2-40B4-BE49-F238E27FC236}">
                    <a16:creationId xmlns:a16="http://schemas.microsoft.com/office/drawing/2014/main" id="{41123B1D-7A3F-4D48-9037-D134D73DBB49}"/>
                  </a:ext>
                </a:extLst>
              </p:cNvPr>
              <p:cNvSpPr txBox="1"/>
              <p:nvPr/>
            </p:nvSpPr>
            <p:spPr>
              <a:xfrm>
                <a:off x="1080547" y="1488281"/>
                <a:ext cx="2679700" cy="762000"/>
              </a:xfrm>
              <a:prstGeom prst="rect">
                <a:avLst/>
              </a:prstGeom>
              <a:noFill/>
              <a:ln>
                <a:noFill/>
              </a:ln>
            </p:spPr>
            <p:txBody>
              <a:bodyPr wrap="square" rtlCol="0" anchor="t" anchorCtr="0">
                <a:normAutofit/>
              </a:bodyPr>
              <a:lstStyle/>
              <a:p>
                <a:pPr algn="l"/>
                <a:r>
                  <a:rPr lang="en-AU" sz="2400" b="1" dirty="0">
                    <a:solidFill>
                      <a:srgbClr val="2E546D"/>
                    </a:solidFill>
                    <a:latin typeface="Century Gothic" panose="020B0502020202020204" pitchFamily="34" charset="0"/>
                    <a:cs typeface="Futura Medium" panose="020B0602020204020303" pitchFamily="34" charset="-79"/>
                  </a:rPr>
                  <a:t>a</a:t>
                </a:r>
              </a:p>
            </p:txBody>
          </p:sp>
          <p:cxnSp>
            <p:nvCxnSpPr>
              <p:cNvPr id="45" name="Straight Arrow Connector 44">
                <a:extLst>
                  <a:ext uri="{FF2B5EF4-FFF2-40B4-BE49-F238E27FC236}">
                    <a16:creationId xmlns:a16="http://schemas.microsoft.com/office/drawing/2014/main" id="{9C7B06C1-FBC3-4E8B-8628-69F8E3B56B94}"/>
                  </a:ext>
                </a:extLst>
              </p:cNvPr>
              <p:cNvCxnSpPr/>
              <p:nvPr/>
            </p:nvCxnSpPr>
            <p:spPr>
              <a:xfrm>
                <a:off x="1066800" y="1534999"/>
                <a:ext cx="0" cy="432000"/>
              </a:xfrm>
              <a:prstGeom prst="straightConnector1">
                <a:avLst/>
              </a:prstGeom>
              <a:ln w="38100">
                <a:solidFill>
                  <a:srgbClr val="2E546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3A898B40-244B-447A-8E7F-F2EF88A21380}"/>
                </a:ext>
              </a:extLst>
            </p:cNvPr>
            <p:cNvGrpSpPr/>
            <p:nvPr/>
          </p:nvGrpSpPr>
          <p:grpSpPr>
            <a:xfrm>
              <a:off x="6644553" y="2647867"/>
              <a:ext cx="2693447" cy="762000"/>
              <a:chOff x="1066800" y="1488281"/>
              <a:chExt cx="2693447" cy="762000"/>
            </a:xfrm>
          </p:grpSpPr>
          <p:sp>
            <p:nvSpPr>
              <p:cNvPr id="47" name="TextBox 46">
                <a:extLst>
                  <a:ext uri="{FF2B5EF4-FFF2-40B4-BE49-F238E27FC236}">
                    <a16:creationId xmlns:a16="http://schemas.microsoft.com/office/drawing/2014/main" id="{A77CA512-0BF8-4366-805F-90BF2C0B1675}"/>
                  </a:ext>
                </a:extLst>
              </p:cNvPr>
              <p:cNvSpPr txBox="1"/>
              <p:nvPr/>
            </p:nvSpPr>
            <p:spPr>
              <a:xfrm>
                <a:off x="1080547" y="1488281"/>
                <a:ext cx="2679700" cy="762000"/>
              </a:xfrm>
              <a:prstGeom prst="rect">
                <a:avLst/>
              </a:prstGeom>
              <a:noFill/>
              <a:ln>
                <a:noFill/>
              </a:ln>
            </p:spPr>
            <p:txBody>
              <a:bodyPr wrap="square" rtlCol="0" anchor="t" anchorCtr="0">
                <a:normAutofit/>
              </a:bodyPr>
              <a:lstStyle/>
              <a:p>
                <a:pPr algn="l"/>
                <a:r>
                  <a:rPr lang="en-AU" sz="2400" b="1" dirty="0">
                    <a:solidFill>
                      <a:srgbClr val="2E546D"/>
                    </a:solidFill>
                    <a:latin typeface="Century Gothic" panose="020B0502020202020204" pitchFamily="34" charset="0"/>
                    <a:cs typeface="Futura Medium" panose="020B0602020204020303" pitchFamily="34" charset="-79"/>
                  </a:rPr>
                  <a:t>a</a:t>
                </a:r>
              </a:p>
            </p:txBody>
          </p:sp>
          <p:cxnSp>
            <p:nvCxnSpPr>
              <p:cNvPr id="48" name="Straight Arrow Connector 47">
                <a:extLst>
                  <a:ext uri="{FF2B5EF4-FFF2-40B4-BE49-F238E27FC236}">
                    <a16:creationId xmlns:a16="http://schemas.microsoft.com/office/drawing/2014/main" id="{8C4BB84F-ECD2-4C02-BBBD-103BD626C94E}"/>
                  </a:ext>
                </a:extLst>
              </p:cNvPr>
              <p:cNvCxnSpPr/>
              <p:nvPr/>
            </p:nvCxnSpPr>
            <p:spPr>
              <a:xfrm>
                <a:off x="1066800" y="1534999"/>
                <a:ext cx="0" cy="432000"/>
              </a:xfrm>
              <a:prstGeom prst="straightConnector1">
                <a:avLst/>
              </a:prstGeom>
              <a:ln w="38100">
                <a:solidFill>
                  <a:srgbClr val="2E546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D73D54E0-6CD8-4F33-B56C-030BBF0D3C99}"/>
                </a:ext>
              </a:extLst>
            </p:cNvPr>
            <p:cNvGrpSpPr/>
            <p:nvPr/>
          </p:nvGrpSpPr>
          <p:grpSpPr>
            <a:xfrm>
              <a:off x="8242073" y="3726221"/>
              <a:ext cx="2693447" cy="762000"/>
              <a:chOff x="1066800" y="1488281"/>
              <a:chExt cx="2693447" cy="762000"/>
            </a:xfrm>
          </p:grpSpPr>
          <p:sp>
            <p:nvSpPr>
              <p:cNvPr id="50" name="TextBox 49">
                <a:extLst>
                  <a:ext uri="{FF2B5EF4-FFF2-40B4-BE49-F238E27FC236}">
                    <a16:creationId xmlns:a16="http://schemas.microsoft.com/office/drawing/2014/main" id="{86B4F327-3495-4CCD-A346-70307C260C88}"/>
                  </a:ext>
                </a:extLst>
              </p:cNvPr>
              <p:cNvSpPr txBox="1"/>
              <p:nvPr/>
            </p:nvSpPr>
            <p:spPr>
              <a:xfrm>
                <a:off x="1080547" y="1488281"/>
                <a:ext cx="2679700" cy="762000"/>
              </a:xfrm>
              <a:prstGeom prst="rect">
                <a:avLst/>
              </a:prstGeom>
              <a:noFill/>
              <a:ln>
                <a:noFill/>
              </a:ln>
            </p:spPr>
            <p:txBody>
              <a:bodyPr wrap="square" rtlCol="0" anchor="t" anchorCtr="0">
                <a:normAutofit/>
              </a:bodyPr>
              <a:lstStyle/>
              <a:p>
                <a:pPr algn="l"/>
                <a:r>
                  <a:rPr lang="en-AU" sz="2400" b="1" dirty="0">
                    <a:solidFill>
                      <a:srgbClr val="2E546D"/>
                    </a:solidFill>
                    <a:latin typeface="Century Gothic" panose="020B0502020202020204" pitchFamily="34" charset="0"/>
                    <a:cs typeface="Futura Medium" panose="020B0602020204020303" pitchFamily="34" charset="-79"/>
                  </a:rPr>
                  <a:t>a</a:t>
                </a:r>
              </a:p>
            </p:txBody>
          </p:sp>
          <p:cxnSp>
            <p:nvCxnSpPr>
              <p:cNvPr id="51" name="Straight Arrow Connector 50">
                <a:extLst>
                  <a:ext uri="{FF2B5EF4-FFF2-40B4-BE49-F238E27FC236}">
                    <a16:creationId xmlns:a16="http://schemas.microsoft.com/office/drawing/2014/main" id="{B4EF5F6A-A9E0-4D06-A070-A737BA2CDBD5}"/>
                  </a:ext>
                </a:extLst>
              </p:cNvPr>
              <p:cNvCxnSpPr/>
              <p:nvPr/>
            </p:nvCxnSpPr>
            <p:spPr>
              <a:xfrm>
                <a:off x="1066800" y="1534999"/>
                <a:ext cx="0" cy="432000"/>
              </a:xfrm>
              <a:prstGeom prst="straightConnector1">
                <a:avLst/>
              </a:prstGeom>
              <a:ln w="38100">
                <a:solidFill>
                  <a:srgbClr val="2E546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F43EEFCE-AAB2-4443-94EA-5A5CDF60CCC5}"/>
                </a:ext>
              </a:extLst>
            </p:cNvPr>
            <p:cNvGrpSpPr/>
            <p:nvPr/>
          </p:nvGrpSpPr>
          <p:grpSpPr>
            <a:xfrm>
              <a:off x="2912841" y="1593471"/>
              <a:ext cx="2693447" cy="762000"/>
              <a:chOff x="1066800" y="1488281"/>
              <a:chExt cx="2693447" cy="762000"/>
            </a:xfrm>
          </p:grpSpPr>
          <p:sp>
            <p:nvSpPr>
              <p:cNvPr id="53" name="TextBox 52">
                <a:extLst>
                  <a:ext uri="{FF2B5EF4-FFF2-40B4-BE49-F238E27FC236}">
                    <a16:creationId xmlns:a16="http://schemas.microsoft.com/office/drawing/2014/main" id="{2AE35FE5-1508-40F6-8387-096B1F64975A}"/>
                  </a:ext>
                </a:extLst>
              </p:cNvPr>
              <p:cNvSpPr txBox="1"/>
              <p:nvPr/>
            </p:nvSpPr>
            <p:spPr>
              <a:xfrm>
                <a:off x="1080547" y="1488281"/>
                <a:ext cx="2679700" cy="762000"/>
              </a:xfrm>
              <a:prstGeom prst="rect">
                <a:avLst/>
              </a:prstGeom>
              <a:noFill/>
              <a:ln>
                <a:noFill/>
              </a:ln>
            </p:spPr>
            <p:txBody>
              <a:bodyPr wrap="square" rtlCol="0" anchor="t" anchorCtr="0">
                <a:normAutofit/>
              </a:bodyPr>
              <a:lstStyle/>
              <a:p>
                <a:pPr algn="l"/>
                <a:r>
                  <a:rPr lang="en-AU" sz="2400" b="1" dirty="0">
                    <a:solidFill>
                      <a:srgbClr val="2E546D"/>
                    </a:solidFill>
                    <a:latin typeface="Century Gothic" panose="020B0502020202020204" pitchFamily="34" charset="0"/>
                    <a:cs typeface="Futura Medium" panose="020B0602020204020303" pitchFamily="34" charset="-79"/>
                  </a:rPr>
                  <a:t>a</a:t>
                </a:r>
              </a:p>
            </p:txBody>
          </p:sp>
          <p:cxnSp>
            <p:nvCxnSpPr>
              <p:cNvPr id="54" name="Straight Arrow Connector 53">
                <a:extLst>
                  <a:ext uri="{FF2B5EF4-FFF2-40B4-BE49-F238E27FC236}">
                    <a16:creationId xmlns:a16="http://schemas.microsoft.com/office/drawing/2014/main" id="{3C609CCF-6810-4FDA-8B94-F3545125BBB6}"/>
                  </a:ext>
                </a:extLst>
              </p:cNvPr>
              <p:cNvCxnSpPr/>
              <p:nvPr/>
            </p:nvCxnSpPr>
            <p:spPr>
              <a:xfrm>
                <a:off x="1066800" y="1534999"/>
                <a:ext cx="0" cy="432000"/>
              </a:xfrm>
              <a:prstGeom prst="straightConnector1">
                <a:avLst/>
              </a:prstGeom>
              <a:ln w="38100">
                <a:solidFill>
                  <a:srgbClr val="2E546D"/>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74" name="Group 73">
            <a:extLst>
              <a:ext uri="{FF2B5EF4-FFF2-40B4-BE49-F238E27FC236}">
                <a16:creationId xmlns:a16="http://schemas.microsoft.com/office/drawing/2014/main" id="{D69EF6D7-CD5B-4D15-AFDE-707197AE6D4F}"/>
              </a:ext>
            </a:extLst>
          </p:cNvPr>
          <p:cNvGrpSpPr/>
          <p:nvPr/>
        </p:nvGrpSpPr>
        <p:grpSpPr>
          <a:xfrm>
            <a:off x="1223040" y="989669"/>
            <a:ext cx="7587171" cy="3137200"/>
            <a:chOff x="1223040" y="989669"/>
            <a:chExt cx="7587171" cy="3137200"/>
          </a:xfrm>
        </p:grpSpPr>
        <p:grpSp>
          <p:nvGrpSpPr>
            <p:cNvPr id="40" name="Group 39">
              <a:extLst>
                <a:ext uri="{FF2B5EF4-FFF2-40B4-BE49-F238E27FC236}">
                  <a16:creationId xmlns:a16="http://schemas.microsoft.com/office/drawing/2014/main" id="{48AFDCD0-0FDA-40B1-8002-24A8A17D4247}"/>
                </a:ext>
              </a:extLst>
            </p:cNvPr>
            <p:cNvGrpSpPr/>
            <p:nvPr/>
          </p:nvGrpSpPr>
          <p:grpSpPr>
            <a:xfrm>
              <a:off x="1223040" y="989669"/>
              <a:ext cx="670434" cy="483679"/>
              <a:chOff x="911763" y="1488281"/>
              <a:chExt cx="670434" cy="483679"/>
            </a:xfrm>
          </p:grpSpPr>
          <p:sp>
            <p:nvSpPr>
              <p:cNvPr id="41" name="TextBox 40">
                <a:extLst>
                  <a:ext uri="{FF2B5EF4-FFF2-40B4-BE49-F238E27FC236}">
                    <a16:creationId xmlns:a16="http://schemas.microsoft.com/office/drawing/2014/main" id="{A7F77E05-8097-4048-8BFE-4EA75F7049EA}"/>
                  </a:ext>
                </a:extLst>
              </p:cNvPr>
              <p:cNvSpPr txBox="1"/>
              <p:nvPr/>
            </p:nvSpPr>
            <p:spPr>
              <a:xfrm>
                <a:off x="1080547" y="1488281"/>
                <a:ext cx="353019" cy="483679"/>
              </a:xfrm>
              <a:prstGeom prst="rect">
                <a:avLst/>
              </a:prstGeom>
              <a:noFill/>
              <a:ln>
                <a:noFill/>
              </a:ln>
            </p:spPr>
            <p:txBody>
              <a:bodyPr wrap="square" rtlCol="0" anchor="t" anchorCtr="0">
                <a:normAutofit/>
              </a:bodyPr>
              <a:lstStyle/>
              <a:p>
                <a:pPr algn="l"/>
                <a:r>
                  <a:rPr lang="en-AU" sz="2400" b="1" i="1" dirty="0">
                    <a:solidFill>
                      <a:srgbClr val="FF0000"/>
                    </a:solidFill>
                    <a:latin typeface="Century Gothic" panose="020B0502020202020204" pitchFamily="34" charset="0"/>
                    <a:cs typeface="Futura Medium" panose="020B0602020204020303" pitchFamily="34" charset="-79"/>
                  </a:rPr>
                  <a:t>v</a:t>
                </a:r>
              </a:p>
            </p:txBody>
          </p:sp>
          <p:cxnSp>
            <p:nvCxnSpPr>
              <p:cNvPr id="42" name="Straight Arrow Connector 41">
                <a:extLst>
                  <a:ext uri="{FF2B5EF4-FFF2-40B4-BE49-F238E27FC236}">
                    <a16:creationId xmlns:a16="http://schemas.microsoft.com/office/drawing/2014/main" id="{C7D3E763-2AD4-4CAD-A127-C81A9E750725}"/>
                  </a:ext>
                </a:extLst>
              </p:cNvPr>
              <p:cNvCxnSpPr>
                <a:cxnSpLocks/>
              </p:cNvCxnSpPr>
              <p:nvPr/>
            </p:nvCxnSpPr>
            <p:spPr>
              <a:xfrm>
                <a:off x="911763" y="1966999"/>
                <a:ext cx="67043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DCEBB300-742A-419E-A9B6-F955EA5F6335}"/>
                </a:ext>
              </a:extLst>
            </p:cNvPr>
            <p:cNvGrpSpPr/>
            <p:nvPr/>
          </p:nvGrpSpPr>
          <p:grpSpPr>
            <a:xfrm>
              <a:off x="3031205" y="1065611"/>
              <a:ext cx="565276" cy="574578"/>
              <a:chOff x="911763" y="1488281"/>
              <a:chExt cx="565276" cy="574578"/>
            </a:xfrm>
          </p:grpSpPr>
          <p:sp>
            <p:nvSpPr>
              <p:cNvPr id="58" name="TextBox 57">
                <a:extLst>
                  <a:ext uri="{FF2B5EF4-FFF2-40B4-BE49-F238E27FC236}">
                    <a16:creationId xmlns:a16="http://schemas.microsoft.com/office/drawing/2014/main" id="{F1C33E06-291F-4532-A27F-0738C2249E49}"/>
                  </a:ext>
                </a:extLst>
              </p:cNvPr>
              <p:cNvSpPr txBox="1"/>
              <p:nvPr/>
            </p:nvSpPr>
            <p:spPr>
              <a:xfrm>
                <a:off x="1080547" y="1488281"/>
                <a:ext cx="353019" cy="483679"/>
              </a:xfrm>
              <a:prstGeom prst="rect">
                <a:avLst/>
              </a:prstGeom>
              <a:noFill/>
              <a:ln>
                <a:noFill/>
              </a:ln>
            </p:spPr>
            <p:txBody>
              <a:bodyPr wrap="square" rtlCol="0" anchor="t" anchorCtr="0">
                <a:normAutofit/>
              </a:bodyPr>
              <a:lstStyle/>
              <a:p>
                <a:pPr algn="l"/>
                <a:r>
                  <a:rPr lang="en-AU" sz="2400" b="1" i="1" dirty="0">
                    <a:solidFill>
                      <a:srgbClr val="FF0000"/>
                    </a:solidFill>
                    <a:latin typeface="Century Gothic" panose="020B0502020202020204" pitchFamily="34" charset="0"/>
                    <a:cs typeface="Futura Medium" panose="020B0602020204020303" pitchFamily="34" charset="-79"/>
                  </a:rPr>
                  <a:t>v</a:t>
                </a:r>
              </a:p>
            </p:txBody>
          </p:sp>
          <p:cxnSp>
            <p:nvCxnSpPr>
              <p:cNvPr id="59" name="Straight Arrow Connector 58">
                <a:extLst>
                  <a:ext uri="{FF2B5EF4-FFF2-40B4-BE49-F238E27FC236}">
                    <a16:creationId xmlns:a16="http://schemas.microsoft.com/office/drawing/2014/main" id="{05FDD51E-D498-406E-8AE4-0A449418369F}"/>
                  </a:ext>
                </a:extLst>
              </p:cNvPr>
              <p:cNvCxnSpPr>
                <a:cxnSpLocks/>
              </p:cNvCxnSpPr>
              <p:nvPr/>
            </p:nvCxnSpPr>
            <p:spPr>
              <a:xfrm>
                <a:off x="911763" y="1966999"/>
                <a:ext cx="565276" cy="958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320F2D16-8496-49B5-9592-5E729BDDA807}"/>
                </a:ext>
              </a:extLst>
            </p:cNvPr>
            <p:cNvGrpSpPr/>
            <p:nvPr/>
          </p:nvGrpSpPr>
          <p:grpSpPr>
            <a:xfrm>
              <a:off x="4858717" y="1540702"/>
              <a:ext cx="570144" cy="615124"/>
              <a:chOff x="911763" y="1564948"/>
              <a:chExt cx="570144" cy="615124"/>
            </a:xfrm>
          </p:grpSpPr>
          <p:sp>
            <p:nvSpPr>
              <p:cNvPr id="63" name="TextBox 62">
                <a:extLst>
                  <a:ext uri="{FF2B5EF4-FFF2-40B4-BE49-F238E27FC236}">
                    <a16:creationId xmlns:a16="http://schemas.microsoft.com/office/drawing/2014/main" id="{AD294DD5-0DEA-4A68-8799-E2F69615FAEE}"/>
                  </a:ext>
                </a:extLst>
              </p:cNvPr>
              <p:cNvSpPr txBox="1"/>
              <p:nvPr/>
            </p:nvSpPr>
            <p:spPr>
              <a:xfrm>
                <a:off x="1003123" y="1564948"/>
                <a:ext cx="353019" cy="483679"/>
              </a:xfrm>
              <a:prstGeom prst="rect">
                <a:avLst/>
              </a:prstGeom>
              <a:noFill/>
              <a:ln>
                <a:noFill/>
              </a:ln>
            </p:spPr>
            <p:txBody>
              <a:bodyPr wrap="square" rtlCol="0" anchor="t" anchorCtr="0">
                <a:normAutofit/>
              </a:bodyPr>
              <a:lstStyle/>
              <a:p>
                <a:pPr algn="l"/>
                <a:r>
                  <a:rPr lang="en-AU" sz="2400" b="1" i="1" dirty="0">
                    <a:solidFill>
                      <a:srgbClr val="FF0000"/>
                    </a:solidFill>
                    <a:latin typeface="Century Gothic" panose="020B0502020202020204" pitchFamily="34" charset="0"/>
                    <a:cs typeface="Futura Medium" panose="020B0602020204020303" pitchFamily="34" charset="-79"/>
                  </a:rPr>
                  <a:t>v</a:t>
                </a:r>
              </a:p>
            </p:txBody>
          </p:sp>
          <p:cxnSp>
            <p:nvCxnSpPr>
              <p:cNvPr id="64" name="Straight Arrow Connector 63">
                <a:extLst>
                  <a:ext uri="{FF2B5EF4-FFF2-40B4-BE49-F238E27FC236}">
                    <a16:creationId xmlns:a16="http://schemas.microsoft.com/office/drawing/2014/main" id="{6523671F-EC2D-4ED6-A4F5-2E99F4381149}"/>
                  </a:ext>
                </a:extLst>
              </p:cNvPr>
              <p:cNvCxnSpPr>
                <a:cxnSpLocks/>
              </p:cNvCxnSpPr>
              <p:nvPr/>
            </p:nvCxnSpPr>
            <p:spPr>
              <a:xfrm>
                <a:off x="911763" y="1966999"/>
                <a:ext cx="570144" cy="21307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7309E0C9-E91B-48BF-8D98-79D35CAB9DAB}"/>
                </a:ext>
              </a:extLst>
            </p:cNvPr>
            <p:cNvGrpSpPr/>
            <p:nvPr/>
          </p:nvGrpSpPr>
          <p:grpSpPr>
            <a:xfrm>
              <a:off x="6802894" y="2246241"/>
              <a:ext cx="467863" cy="708172"/>
              <a:chOff x="911763" y="1564948"/>
              <a:chExt cx="467863" cy="708172"/>
            </a:xfrm>
          </p:grpSpPr>
          <p:sp>
            <p:nvSpPr>
              <p:cNvPr id="67" name="TextBox 66">
                <a:extLst>
                  <a:ext uri="{FF2B5EF4-FFF2-40B4-BE49-F238E27FC236}">
                    <a16:creationId xmlns:a16="http://schemas.microsoft.com/office/drawing/2014/main" id="{84B722EF-7DD6-4BE4-9D15-738EBC162DE7}"/>
                  </a:ext>
                </a:extLst>
              </p:cNvPr>
              <p:cNvSpPr txBox="1"/>
              <p:nvPr/>
            </p:nvSpPr>
            <p:spPr>
              <a:xfrm>
                <a:off x="1003123" y="1564948"/>
                <a:ext cx="353019" cy="483679"/>
              </a:xfrm>
              <a:prstGeom prst="rect">
                <a:avLst/>
              </a:prstGeom>
              <a:noFill/>
              <a:ln>
                <a:noFill/>
              </a:ln>
            </p:spPr>
            <p:txBody>
              <a:bodyPr wrap="square" rtlCol="0" anchor="t" anchorCtr="0">
                <a:normAutofit/>
              </a:bodyPr>
              <a:lstStyle/>
              <a:p>
                <a:pPr algn="l"/>
                <a:r>
                  <a:rPr lang="en-AU" sz="2400" b="1" i="1" dirty="0">
                    <a:solidFill>
                      <a:srgbClr val="FF0000"/>
                    </a:solidFill>
                    <a:latin typeface="Century Gothic" panose="020B0502020202020204" pitchFamily="34" charset="0"/>
                    <a:cs typeface="Futura Medium" panose="020B0602020204020303" pitchFamily="34" charset="-79"/>
                  </a:rPr>
                  <a:t>v</a:t>
                </a:r>
              </a:p>
            </p:txBody>
          </p:sp>
          <p:cxnSp>
            <p:nvCxnSpPr>
              <p:cNvPr id="68" name="Straight Arrow Connector 67">
                <a:extLst>
                  <a:ext uri="{FF2B5EF4-FFF2-40B4-BE49-F238E27FC236}">
                    <a16:creationId xmlns:a16="http://schemas.microsoft.com/office/drawing/2014/main" id="{67AA6AC7-2ED2-4228-8F0F-73E40F263D6C}"/>
                  </a:ext>
                </a:extLst>
              </p:cNvPr>
              <p:cNvCxnSpPr>
                <a:cxnSpLocks/>
              </p:cNvCxnSpPr>
              <p:nvPr/>
            </p:nvCxnSpPr>
            <p:spPr>
              <a:xfrm>
                <a:off x="911763" y="1966999"/>
                <a:ext cx="467863" cy="30612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4DE44190-3680-4F4E-A039-6FBE33ED037A}"/>
                </a:ext>
              </a:extLst>
            </p:cNvPr>
            <p:cNvGrpSpPr/>
            <p:nvPr/>
          </p:nvGrpSpPr>
          <p:grpSpPr>
            <a:xfrm>
              <a:off x="8365832" y="3313732"/>
              <a:ext cx="444379" cy="813137"/>
              <a:chOff x="911763" y="1564948"/>
              <a:chExt cx="444379" cy="813137"/>
            </a:xfrm>
          </p:grpSpPr>
          <p:sp>
            <p:nvSpPr>
              <p:cNvPr id="71" name="TextBox 70">
                <a:extLst>
                  <a:ext uri="{FF2B5EF4-FFF2-40B4-BE49-F238E27FC236}">
                    <a16:creationId xmlns:a16="http://schemas.microsoft.com/office/drawing/2014/main" id="{3EAEFB28-4F50-49E0-A47D-C68DCE081C7D}"/>
                  </a:ext>
                </a:extLst>
              </p:cNvPr>
              <p:cNvSpPr txBox="1"/>
              <p:nvPr/>
            </p:nvSpPr>
            <p:spPr>
              <a:xfrm>
                <a:off x="1003123" y="1564948"/>
                <a:ext cx="353019" cy="483679"/>
              </a:xfrm>
              <a:prstGeom prst="rect">
                <a:avLst/>
              </a:prstGeom>
              <a:noFill/>
              <a:ln>
                <a:noFill/>
              </a:ln>
            </p:spPr>
            <p:txBody>
              <a:bodyPr wrap="square" rtlCol="0" anchor="t" anchorCtr="0">
                <a:normAutofit/>
              </a:bodyPr>
              <a:lstStyle/>
              <a:p>
                <a:pPr algn="l"/>
                <a:r>
                  <a:rPr lang="en-AU" sz="2400" b="1" i="1" dirty="0">
                    <a:solidFill>
                      <a:srgbClr val="FF0000"/>
                    </a:solidFill>
                    <a:latin typeface="Century Gothic" panose="020B0502020202020204" pitchFamily="34" charset="0"/>
                    <a:cs typeface="Futura Medium" panose="020B0602020204020303" pitchFamily="34" charset="-79"/>
                  </a:rPr>
                  <a:t>v</a:t>
                </a:r>
              </a:p>
            </p:txBody>
          </p:sp>
          <p:cxnSp>
            <p:nvCxnSpPr>
              <p:cNvPr id="72" name="Straight Arrow Connector 71">
                <a:extLst>
                  <a:ext uri="{FF2B5EF4-FFF2-40B4-BE49-F238E27FC236}">
                    <a16:creationId xmlns:a16="http://schemas.microsoft.com/office/drawing/2014/main" id="{21A42D4E-7466-452D-AE9C-F1B772B0EBCB}"/>
                  </a:ext>
                </a:extLst>
              </p:cNvPr>
              <p:cNvCxnSpPr>
                <a:cxnSpLocks/>
              </p:cNvCxnSpPr>
              <p:nvPr/>
            </p:nvCxnSpPr>
            <p:spPr>
              <a:xfrm>
                <a:off x="911763" y="1966999"/>
                <a:ext cx="345974" cy="4110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76" name="Text Placeholder 3">
            <a:extLst>
              <a:ext uri="{FF2B5EF4-FFF2-40B4-BE49-F238E27FC236}">
                <a16:creationId xmlns:a16="http://schemas.microsoft.com/office/drawing/2014/main" id="{BD4B1C1E-B56D-4CE3-B1EA-99EA047FC999}"/>
              </a:ext>
            </a:extLst>
          </p:cNvPr>
          <p:cNvSpPr txBox="1">
            <a:spLocks/>
          </p:cNvSpPr>
          <p:nvPr/>
        </p:nvSpPr>
        <p:spPr>
          <a:xfrm>
            <a:off x="8928997" y="756683"/>
            <a:ext cx="321559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dirty="0"/>
              <a:t>The horizontal velocity is constant! </a:t>
            </a:r>
          </a:p>
          <a:p>
            <a:pPr algn="ctr"/>
            <a:r>
              <a:rPr lang="en-AU" b="0" dirty="0"/>
              <a:t>The bullet stops because it hits the ground.</a:t>
            </a:r>
          </a:p>
          <a:p>
            <a:endParaRPr lang="en-AU" dirty="0"/>
          </a:p>
        </p:txBody>
      </p:sp>
    </p:spTree>
    <p:extLst>
      <p:ext uri="{BB962C8B-B14F-4D97-AF65-F5344CB8AC3E}">
        <p14:creationId xmlns:p14="http://schemas.microsoft.com/office/powerpoint/2010/main" val="247804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7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ne, Curved | ClipArt ETC">
            <a:extLst>
              <a:ext uri="{FF2B5EF4-FFF2-40B4-BE49-F238E27FC236}">
                <a16:creationId xmlns:a16="http://schemas.microsoft.com/office/drawing/2014/main" id="{93F0D46A-2907-42A8-8923-D4474C81E8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725"/>
          <a:stretch/>
        </p:blipFill>
        <p:spPr bwMode="auto">
          <a:xfrm>
            <a:off x="1242782" y="1454826"/>
            <a:ext cx="8212138" cy="37242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pic>
        <p:nvPicPr>
          <p:cNvPr id="7" name="Picture 6">
            <a:extLst>
              <a:ext uri="{FF2B5EF4-FFF2-40B4-BE49-F238E27FC236}">
                <a16:creationId xmlns:a16="http://schemas.microsoft.com/office/drawing/2014/main" id="{473589F1-5883-4DDC-ACB2-E52E7DB9BC4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645045" y="1152523"/>
            <a:ext cx="590866" cy="604607"/>
          </a:xfrm>
          <a:prstGeom prst="rect">
            <a:avLst/>
          </a:prstGeom>
        </p:spPr>
      </p:pic>
      <p:cxnSp>
        <p:nvCxnSpPr>
          <p:cNvPr id="8" name="Straight Arrow Connector 7">
            <a:extLst>
              <a:ext uri="{FF2B5EF4-FFF2-40B4-BE49-F238E27FC236}">
                <a16:creationId xmlns:a16="http://schemas.microsoft.com/office/drawing/2014/main" id="{2D7BD34E-EC81-436D-B609-29ABFCB07012}"/>
              </a:ext>
            </a:extLst>
          </p:cNvPr>
          <p:cNvCxnSpPr>
            <a:cxnSpLocks/>
          </p:cNvCxnSpPr>
          <p:nvPr/>
        </p:nvCxnSpPr>
        <p:spPr>
          <a:xfrm>
            <a:off x="975029" y="1534999"/>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9F29D15-C427-4167-A359-DB72EEF77D1E}"/>
              </a:ext>
            </a:extLst>
          </p:cNvPr>
          <p:cNvSpPr txBox="1"/>
          <p:nvPr/>
        </p:nvSpPr>
        <p:spPr>
          <a:xfrm>
            <a:off x="428855" y="1802448"/>
            <a:ext cx="2679700" cy="762000"/>
          </a:xfrm>
          <a:prstGeom prst="rect">
            <a:avLst/>
          </a:prstGeom>
          <a:noFill/>
          <a:ln>
            <a:noFill/>
          </a:ln>
        </p:spPr>
        <p:txBody>
          <a:bodyPr wrap="square" rtlCol="0" anchor="t" anchorCtr="0">
            <a:normAutofit/>
          </a:bodyPr>
          <a:lstStyle/>
          <a:p>
            <a:pPr algn="l"/>
            <a:r>
              <a:rPr lang="en-AU" sz="2400" b="1" dirty="0" err="1">
                <a:latin typeface="Century Gothic" panose="020B0502020202020204" pitchFamily="34" charset="0"/>
                <a:cs typeface="Futura Medium" panose="020B0602020204020303" pitchFamily="34" charset="-79"/>
              </a:rPr>
              <a:t>F</a:t>
            </a:r>
            <a:r>
              <a:rPr lang="en-AU" sz="2400" b="1" baseline="-25000" dirty="0" err="1">
                <a:latin typeface="Century Gothic" panose="020B0502020202020204" pitchFamily="34" charset="0"/>
                <a:cs typeface="Futura Medium" panose="020B0602020204020303" pitchFamily="34" charset="-79"/>
              </a:rPr>
              <a:t>g</a:t>
            </a:r>
            <a:endParaRPr lang="en-AU" sz="2400" b="1" dirty="0">
              <a:latin typeface="Century Gothic" panose="020B0502020202020204" pitchFamily="34" charset="0"/>
              <a:cs typeface="Futura Medium" panose="020B0602020204020303" pitchFamily="34" charset="-79"/>
            </a:endParaRPr>
          </a:p>
        </p:txBody>
      </p:sp>
      <p:sp>
        <p:nvSpPr>
          <p:cNvPr id="5" name="Rectangle 4">
            <a:extLst>
              <a:ext uri="{FF2B5EF4-FFF2-40B4-BE49-F238E27FC236}">
                <a16:creationId xmlns:a16="http://schemas.microsoft.com/office/drawing/2014/main" id="{0D2E6733-A021-457C-A588-F57EDB50F901}"/>
              </a:ext>
            </a:extLst>
          </p:cNvPr>
          <p:cNvSpPr/>
          <p:nvPr/>
        </p:nvSpPr>
        <p:spPr>
          <a:xfrm>
            <a:off x="0" y="5179101"/>
            <a:ext cx="12191999" cy="1439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5" name="Group 14">
            <a:extLst>
              <a:ext uri="{FF2B5EF4-FFF2-40B4-BE49-F238E27FC236}">
                <a16:creationId xmlns:a16="http://schemas.microsoft.com/office/drawing/2014/main" id="{0891FAD3-5C6B-4022-B1E5-743F61E2C2D9}"/>
              </a:ext>
            </a:extLst>
          </p:cNvPr>
          <p:cNvGrpSpPr/>
          <p:nvPr/>
        </p:nvGrpSpPr>
        <p:grpSpPr>
          <a:xfrm>
            <a:off x="2256631" y="1252321"/>
            <a:ext cx="2679700" cy="1405054"/>
            <a:chOff x="428855" y="1159394"/>
            <a:chExt cx="2679700" cy="1405054"/>
          </a:xfrm>
        </p:grpSpPr>
        <p:pic>
          <p:nvPicPr>
            <p:cNvPr id="16" name="Picture 15">
              <a:extLst>
                <a:ext uri="{FF2B5EF4-FFF2-40B4-BE49-F238E27FC236}">
                  <a16:creationId xmlns:a16="http://schemas.microsoft.com/office/drawing/2014/main" id="{CC78AEFF-0F21-4407-8597-A302DCA7F0E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645045" y="1152523"/>
              <a:ext cx="590866" cy="604607"/>
            </a:xfrm>
            <a:prstGeom prst="rect">
              <a:avLst/>
            </a:prstGeom>
          </p:spPr>
        </p:pic>
        <p:cxnSp>
          <p:nvCxnSpPr>
            <p:cNvPr id="17" name="Straight Arrow Connector 16">
              <a:extLst>
                <a:ext uri="{FF2B5EF4-FFF2-40B4-BE49-F238E27FC236}">
                  <a16:creationId xmlns:a16="http://schemas.microsoft.com/office/drawing/2014/main" id="{D4F92ECE-8F37-42FA-BAF8-DD6D2268F504}"/>
                </a:ext>
              </a:extLst>
            </p:cNvPr>
            <p:cNvCxnSpPr>
              <a:cxnSpLocks/>
            </p:cNvCxnSpPr>
            <p:nvPr/>
          </p:nvCxnSpPr>
          <p:spPr>
            <a:xfrm>
              <a:off x="975029" y="1534999"/>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84381C2-9081-4349-95E0-A56736B7AABB}"/>
                </a:ext>
              </a:extLst>
            </p:cNvPr>
            <p:cNvSpPr txBox="1"/>
            <p:nvPr/>
          </p:nvSpPr>
          <p:spPr>
            <a:xfrm>
              <a:off x="428855" y="1802448"/>
              <a:ext cx="2679700" cy="762000"/>
            </a:xfrm>
            <a:prstGeom prst="rect">
              <a:avLst/>
            </a:prstGeom>
            <a:noFill/>
            <a:ln>
              <a:noFill/>
            </a:ln>
          </p:spPr>
          <p:txBody>
            <a:bodyPr wrap="square" rtlCol="0" anchor="t" anchorCtr="0">
              <a:normAutofit/>
            </a:bodyPr>
            <a:lstStyle/>
            <a:p>
              <a:pPr algn="l"/>
              <a:r>
                <a:rPr lang="en-AU" sz="2400" b="1" dirty="0" err="1">
                  <a:latin typeface="Century Gothic" panose="020B0502020202020204" pitchFamily="34" charset="0"/>
                  <a:cs typeface="Futura Medium" panose="020B0602020204020303" pitchFamily="34" charset="-79"/>
                </a:rPr>
                <a:t>F</a:t>
              </a:r>
              <a:r>
                <a:rPr lang="en-AU" sz="2400" b="1" baseline="-25000" dirty="0" err="1">
                  <a:latin typeface="Century Gothic" panose="020B0502020202020204" pitchFamily="34" charset="0"/>
                  <a:cs typeface="Futura Medium" panose="020B0602020204020303" pitchFamily="34" charset="-79"/>
                </a:rPr>
                <a:t>g</a:t>
              </a:r>
              <a:endParaRPr lang="en-AU" sz="2400" b="1" dirty="0">
                <a:latin typeface="Century Gothic" panose="020B0502020202020204" pitchFamily="34" charset="0"/>
                <a:cs typeface="Futura Medium" panose="020B0602020204020303" pitchFamily="34" charset="-79"/>
              </a:endParaRPr>
            </a:p>
          </p:txBody>
        </p:sp>
      </p:grpSp>
      <p:grpSp>
        <p:nvGrpSpPr>
          <p:cNvPr id="20" name="Group 19">
            <a:extLst>
              <a:ext uri="{FF2B5EF4-FFF2-40B4-BE49-F238E27FC236}">
                <a16:creationId xmlns:a16="http://schemas.microsoft.com/office/drawing/2014/main" id="{BE9174CB-0E41-48EA-B59E-0C3693E9655E}"/>
              </a:ext>
            </a:extLst>
          </p:cNvPr>
          <p:cNvGrpSpPr/>
          <p:nvPr/>
        </p:nvGrpSpPr>
        <p:grpSpPr>
          <a:xfrm>
            <a:off x="4142655" y="1571625"/>
            <a:ext cx="2679700" cy="1405054"/>
            <a:chOff x="428855" y="1159394"/>
            <a:chExt cx="2679700" cy="1405054"/>
          </a:xfrm>
        </p:grpSpPr>
        <p:pic>
          <p:nvPicPr>
            <p:cNvPr id="21" name="Picture 20">
              <a:extLst>
                <a:ext uri="{FF2B5EF4-FFF2-40B4-BE49-F238E27FC236}">
                  <a16:creationId xmlns:a16="http://schemas.microsoft.com/office/drawing/2014/main" id="{B111B16B-67A1-48E8-984E-8CDA938ECCD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645045" y="1152523"/>
              <a:ext cx="590866" cy="604607"/>
            </a:xfrm>
            <a:prstGeom prst="rect">
              <a:avLst/>
            </a:prstGeom>
          </p:spPr>
        </p:pic>
        <p:cxnSp>
          <p:nvCxnSpPr>
            <p:cNvPr id="22" name="Straight Arrow Connector 21">
              <a:extLst>
                <a:ext uri="{FF2B5EF4-FFF2-40B4-BE49-F238E27FC236}">
                  <a16:creationId xmlns:a16="http://schemas.microsoft.com/office/drawing/2014/main" id="{180AB844-A32C-4682-A4AC-9B6AD1215FEE}"/>
                </a:ext>
              </a:extLst>
            </p:cNvPr>
            <p:cNvCxnSpPr>
              <a:cxnSpLocks/>
            </p:cNvCxnSpPr>
            <p:nvPr/>
          </p:nvCxnSpPr>
          <p:spPr>
            <a:xfrm>
              <a:off x="975029" y="1534999"/>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BCA7E27-F44F-4E85-9A42-1207F6B97797}"/>
                </a:ext>
              </a:extLst>
            </p:cNvPr>
            <p:cNvSpPr txBox="1"/>
            <p:nvPr/>
          </p:nvSpPr>
          <p:spPr>
            <a:xfrm>
              <a:off x="428855" y="1802448"/>
              <a:ext cx="2679700" cy="762000"/>
            </a:xfrm>
            <a:prstGeom prst="rect">
              <a:avLst/>
            </a:prstGeom>
            <a:noFill/>
            <a:ln>
              <a:noFill/>
            </a:ln>
          </p:spPr>
          <p:txBody>
            <a:bodyPr wrap="square" rtlCol="0" anchor="t" anchorCtr="0">
              <a:normAutofit/>
            </a:bodyPr>
            <a:lstStyle/>
            <a:p>
              <a:pPr algn="l"/>
              <a:r>
                <a:rPr lang="en-AU" sz="2400" b="1" dirty="0" err="1">
                  <a:latin typeface="Century Gothic" panose="020B0502020202020204" pitchFamily="34" charset="0"/>
                  <a:cs typeface="Futura Medium" panose="020B0602020204020303" pitchFamily="34" charset="-79"/>
                </a:rPr>
                <a:t>F</a:t>
              </a:r>
              <a:r>
                <a:rPr lang="en-AU" sz="2400" b="1" baseline="-25000" dirty="0" err="1">
                  <a:latin typeface="Century Gothic" panose="020B0502020202020204" pitchFamily="34" charset="0"/>
                  <a:cs typeface="Futura Medium" panose="020B0602020204020303" pitchFamily="34" charset="-79"/>
                </a:rPr>
                <a:t>g</a:t>
              </a:r>
              <a:endParaRPr lang="en-AU" sz="2400" b="1" dirty="0">
                <a:latin typeface="Century Gothic" panose="020B0502020202020204" pitchFamily="34" charset="0"/>
                <a:cs typeface="Futura Medium" panose="020B0602020204020303" pitchFamily="34" charset="-79"/>
              </a:endParaRPr>
            </a:p>
          </p:txBody>
        </p:sp>
      </p:grpSp>
      <p:grpSp>
        <p:nvGrpSpPr>
          <p:cNvPr id="24" name="Group 23">
            <a:extLst>
              <a:ext uri="{FF2B5EF4-FFF2-40B4-BE49-F238E27FC236}">
                <a16:creationId xmlns:a16="http://schemas.microsoft.com/office/drawing/2014/main" id="{5C08CD80-E464-4FE7-9D37-B27B82A2F27C}"/>
              </a:ext>
            </a:extLst>
          </p:cNvPr>
          <p:cNvGrpSpPr/>
          <p:nvPr/>
        </p:nvGrpSpPr>
        <p:grpSpPr>
          <a:xfrm>
            <a:off x="6018360" y="2322269"/>
            <a:ext cx="2679700" cy="1405054"/>
            <a:chOff x="428855" y="1159394"/>
            <a:chExt cx="2679700" cy="1405054"/>
          </a:xfrm>
        </p:grpSpPr>
        <p:pic>
          <p:nvPicPr>
            <p:cNvPr id="25" name="Picture 24">
              <a:extLst>
                <a:ext uri="{FF2B5EF4-FFF2-40B4-BE49-F238E27FC236}">
                  <a16:creationId xmlns:a16="http://schemas.microsoft.com/office/drawing/2014/main" id="{B3CDE11B-8CD6-4CE1-B86C-9057E975A36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645045" y="1152523"/>
              <a:ext cx="590866" cy="604607"/>
            </a:xfrm>
            <a:prstGeom prst="rect">
              <a:avLst/>
            </a:prstGeom>
          </p:spPr>
        </p:pic>
        <p:cxnSp>
          <p:nvCxnSpPr>
            <p:cNvPr id="26" name="Straight Arrow Connector 25">
              <a:extLst>
                <a:ext uri="{FF2B5EF4-FFF2-40B4-BE49-F238E27FC236}">
                  <a16:creationId xmlns:a16="http://schemas.microsoft.com/office/drawing/2014/main" id="{4FB28152-E2E2-4122-82E7-0207A8CF3763}"/>
                </a:ext>
              </a:extLst>
            </p:cNvPr>
            <p:cNvCxnSpPr>
              <a:cxnSpLocks/>
            </p:cNvCxnSpPr>
            <p:nvPr/>
          </p:nvCxnSpPr>
          <p:spPr>
            <a:xfrm>
              <a:off x="975029" y="1534999"/>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922360D-08ED-4417-B08B-26921CC23EA9}"/>
                </a:ext>
              </a:extLst>
            </p:cNvPr>
            <p:cNvSpPr txBox="1"/>
            <p:nvPr/>
          </p:nvSpPr>
          <p:spPr>
            <a:xfrm>
              <a:off x="428855" y="1802448"/>
              <a:ext cx="2679700" cy="762000"/>
            </a:xfrm>
            <a:prstGeom prst="rect">
              <a:avLst/>
            </a:prstGeom>
            <a:noFill/>
            <a:ln>
              <a:noFill/>
            </a:ln>
          </p:spPr>
          <p:txBody>
            <a:bodyPr wrap="square" rtlCol="0" anchor="t" anchorCtr="0">
              <a:normAutofit/>
            </a:bodyPr>
            <a:lstStyle/>
            <a:p>
              <a:pPr algn="l"/>
              <a:r>
                <a:rPr lang="en-AU" sz="2400" b="1" dirty="0" err="1">
                  <a:latin typeface="Century Gothic" panose="020B0502020202020204" pitchFamily="34" charset="0"/>
                  <a:cs typeface="Futura Medium" panose="020B0602020204020303" pitchFamily="34" charset="-79"/>
                </a:rPr>
                <a:t>F</a:t>
              </a:r>
              <a:r>
                <a:rPr lang="en-AU" sz="2400" b="1" baseline="-25000" dirty="0" err="1">
                  <a:latin typeface="Century Gothic" panose="020B0502020202020204" pitchFamily="34" charset="0"/>
                  <a:cs typeface="Futura Medium" panose="020B0602020204020303" pitchFamily="34" charset="-79"/>
                </a:rPr>
                <a:t>g</a:t>
              </a:r>
              <a:endParaRPr lang="en-AU" sz="2400" b="1" dirty="0">
                <a:latin typeface="Century Gothic" panose="020B0502020202020204" pitchFamily="34" charset="0"/>
                <a:cs typeface="Futura Medium" panose="020B0602020204020303" pitchFamily="34" charset="-79"/>
              </a:endParaRPr>
            </a:p>
          </p:txBody>
        </p:sp>
      </p:grpSp>
      <p:grpSp>
        <p:nvGrpSpPr>
          <p:cNvPr id="28" name="Group 27">
            <a:extLst>
              <a:ext uri="{FF2B5EF4-FFF2-40B4-BE49-F238E27FC236}">
                <a16:creationId xmlns:a16="http://schemas.microsoft.com/office/drawing/2014/main" id="{4C7CF5FD-A28D-4CD8-B86D-42F48EC079BC}"/>
              </a:ext>
            </a:extLst>
          </p:cNvPr>
          <p:cNvGrpSpPr/>
          <p:nvPr/>
        </p:nvGrpSpPr>
        <p:grpSpPr>
          <a:xfrm>
            <a:off x="7589147" y="3392217"/>
            <a:ext cx="2679700" cy="1405054"/>
            <a:chOff x="428855" y="1159394"/>
            <a:chExt cx="2679700" cy="1405054"/>
          </a:xfrm>
        </p:grpSpPr>
        <p:pic>
          <p:nvPicPr>
            <p:cNvPr id="29" name="Picture 28">
              <a:extLst>
                <a:ext uri="{FF2B5EF4-FFF2-40B4-BE49-F238E27FC236}">
                  <a16:creationId xmlns:a16="http://schemas.microsoft.com/office/drawing/2014/main" id="{9172ECA3-E129-4966-BAB4-A0009CF1B3E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645045" y="1152523"/>
              <a:ext cx="590866" cy="604607"/>
            </a:xfrm>
            <a:prstGeom prst="rect">
              <a:avLst/>
            </a:prstGeom>
          </p:spPr>
        </p:pic>
        <p:cxnSp>
          <p:nvCxnSpPr>
            <p:cNvPr id="30" name="Straight Arrow Connector 29">
              <a:extLst>
                <a:ext uri="{FF2B5EF4-FFF2-40B4-BE49-F238E27FC236}">
                  <a16:creationId xmlns:a16="http://schemas.microsoft.com/office/drawing/2014/main" id="{8E3B4DAE-EBDD-4120-BF35-3EFC73E2044A}"/>
                </a:ext>
              </a:extLst>
            </p:cNvPr>
            <p:cNvCxnSpPr>
              <a:cxnSpLocks/>
            </p:cNvCxnSpPr>
            <p:nvPr/>
          </p:nvCxnSpPr>
          <p:spPr>
            <a:xfrm>
              <a:off x="975029" y="1534999"/>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2DBD482-E495-4292-9D98-750DD4DB39A7}"/>
                </a:ext>
              </a:extLst>
            </p:cNvPr>
            <p:cNvSpPr txBox="1"/>
            <p:nvPr/>
          </p:nvSpPr>
          <p:spPr>
            <a:xfrm>
              <a:off x="428855" y="1802448"/>
              <a:ext cx="2679700" cy="762000"/>
            </a:xfrm>
            <a:prstGeom prst="rect">
              <a:avLst/>
            </a:prstGeom>
            <a:noFill/>
            <a:ln>
              <a:noFill/>
            </a:ln>
          </p:spPr>
          <p:txBody>
            <a:bodyPr wrap="square" rtlCol="0" anchor="t" anchorCtr="0">
              <a:normAutofit/>
            </a:bodyPr>
            <a:lstStyle/>
            <a:p>
              <a:pPr algn="l"/>
              <a:r>
                <a:rPr lang="en-AU" sz="2400" b="1" dirty="0" err="1">
                  <a:latin typeface="Century Gothic" panose="020B0502020202020204" pitchFamily="34" charset="0"/>
                  <a:cs typeface="Futura Medium" panose="020B0602020204020303" pitchFamily="34" charset="-79"/>
                </a:rPr>
                <a:t>F</a:t>
              </a:r>
              <a:r>
                <a:rPr lang="en-AU" sz="2400" b="1" baseline="-25000" dirty="0" err="1">
                  <a:latin typeface="Century Gothic" panose="020B0502020202020204" pitchFamily="34" charset="0"/>
                  <a:cs typeface="Futura Medium" panose="020B0602020204020303" pitchFamily="34" charset="-79"/>
                </a:rPr>
                <a:t>g</a:t>
              </a:r>
              <a:endParaRPr lang="en-AU" sz="2400" b="1" dirty="0">
                <a:latin typeface="Century Gothic" panose="020B0502020202020204" pitchFamily="34" charset="0"/>
                <a:cs typeface="Futura Medium" panose="020B0602020204020303" pitchFamily="34" charset="-79"/>
              </a:endParaRPr>
            </a:p>
          </p:txBody>
        </p:sp>
      </p:grpSp>
      <p:sp>
        <p:nvSpPr>
          <p:cNvPr id="36" name="Text Placeholder 3">
            <a:extLst>
              <a:ext uri="{FF2B5EF4-FFF2-40B4-BE49-F238E27FC236}">
                <a16:creationId xmlns:a16="http://schemas.microsoft.com/office/drawing/2014/main" id="{4BE6AB64-0A93-4323-8475-32921AD6B7DD}"/>
              </a:ext>
            </a:extLst>
          </p:cNvPr>
          <p:cNvSpPr txBox="1">
            <a:spLocks/>
          </p:cNvSpPr>
          <p:nvPr/>
        </p:nvSpPr>
        <p:spPr>
          <a:xfrm>
            <a:off x="107432" y="535799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b="0" dirty="0"/>
              <a:t>The beauty of this is that we can analyse the projectile’s motion in the vertical direction separately to the motion in the horizontal direction.</a:t>
            </a:r>
          </a:p>
          <a:p>
            <a:endParaRPr lang="en-AU" dirty="0"/>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04234" y="4196352"/>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grpSp>
        <p:nvGrpSpPr>
          <p:cNvPr id="39" name="Group 38">
            <a:extLst>
              <a:ext uri="{FF2B5EF4-FFF2-40B4-BE49-F238E27FC236}">
                <a16:creationId xmlns:a16="http://schemas.microsoft.com/office/drawing/2014/main" id="{7F04B6FB-4976-477E-9DB1-9F2AC98F42FD}"/>
              </a:ext>
            </a:extLst>
          </p:cNvPr>
          <p:cNvGrpSpPr/>
          <p:nvPr/>
        </p:nvGrpSpPr>
        <p:grpSpPr>
          <a:xfrm>
            <a:off x="1066800" y="1488281"/>
            <a:ext cx="9868720" cy="2999940"/>
            <a:chOff x="1066800" y="1488281"/>
            <a:chExt cx="9868720" cy="2999940"/>
          </a:xfrm>
        </p:grpSpPr>
        <p:grpSp>
          <p:nvGrpSpPr>
            <p:cNvPr id="13" name="Group 12">
              <a:extLst>
                <a:ext uri="{FF2B5EF4-FFF2-40B4-BE49-F238E27FC236}">
                  <a16:creationId xmlns:a16="http://schemas.microsoft.com/office/drawing/2014/main" id="{5C700D1D-30BC-4EBE-B6BA-32D09986A9DC}"/>
                </a:ext>
              </a:extLst>
            </p:cNvPr>
            <p:cNvGrpSpPr/>
            <p:nvPr/>
          </p:nvGrpSpPr>
          <p:grpSpPr>
            <a:xfrm>
              <a:off x="1066800" y="1488281"/>
              <a:ext cx="2693447" cy="762000"/>
              <a:chOff x="1066800" y="1488281"/>
              <a:chExt cx="2693447" cy="762000"/>
            </a:xfrm>
          </p:grpSpPr>
          <p:sp>
            <p:nvSpPr>
              <p:cNvPr id="38" name="TextBox 37">
                <a:extLst>
                  <a:ext uri="{FF2B5EF4-FFF2-40B4-BE49-F238E27FC236}">
                    <a16:creationId xmlns:a16="http://schemas.microsoft.com/office/drawing/2014/main" id="{C7F566D2-46EF-479E-8A90-2E2632D14AE9}"/>
                  </a:ext>
                </a:extLst>
              </p:cNvPr>
              <p:cNvSpPr txBox="1"/>
              <p:nvPr/>
            </p:nvSpPr>
            <p:spPr>
              <a:xfrm>
                <a:off x="1080547" y="1488281"/>
                <a:ext cx="2679700" cy="762000"/>
              </a:xfrm>
              <a:prstGeom prst="rect">
                <a:avLst/>
              </a:prstGeom>
              <a:noFill/>
              <a:ln>
                <a:noFill/>
              </a:ln>
            </p:spPr>
            <p:txBody>
              <a:bodyPr wrap="square" rtlCol="0" anchor="t" anchorCtr="0">
                <a:normAutofit/>
              </a:bodyPr>
              <a:lstStyle/>
              <a:p>
                <a:pPr algn="l"/>
                <a:r>
                  <a:rPr lang="en-AU" sz="2400" b="1" dirty="0">
                    <a:solidFill>
                      <a:srgbClr val="2E546D"/>
                    </a:solidFill>
                    <a:latin typeface="Century Gothic" panose="020B0502020202020204" pitchFamily="34" charset="0"/>
                    <a:cs typeface="Futura Medium" panose="020B0602020204020303" pitchFamily="34" charset="-79"/>
                  </a:rPr>
                  <a:t>a</a:t>
                </a:r>
              </a:p>
            </p:txBody>
          </p:sp>
          <p:cxnSp>
            <p:nvCxnSpPr>
              <p:cNvPr id="12" name="Straight Arrow Connector 11">
                <a:extLst>
                  <a:ext uri="{FF2B5EF4-FFF2-40B4-BE49-F238E27FC236}">
                    <a16:creationId xmlns:a16="http://schemas.microsoft.com/office/drawing/2014/main" id="{C91D1533-0375-44BD-B727-34EF5401AB83}"/>
                  </a:ext>
                </a:extLst>
              </p:cNvPr>
              <p:cNvCxnSpPr/>
              <p:nvPr/>
            </p:nvCxnSpPr>
            <p:spPr>
              <a:xfrm>
                <a:off x="1066800" y="1534999"/>
                <a:ext cx="0" cy="432000"/>
              </a:xfrm>
              <a:prstGeom prst="straightConnector1">
                <a:avLst/>
              </a:prstGeom>
              <a:ln w="38100">
                <a:solidFill>
                  <a:srgbClr val="2E546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6EEB11C6-A813-4CA4-BF8E-644FE1578FC4}"/>
                </a:ext>
              </a:extLst>
            </p:cNvPr>
            <p:cNvGrpSpPr/>
            <p:nvPr/>
          </p:nvGrpSpPr>
          <p:grpSpPr>
            <a:xfrm>
              <a:off x="4778884" y="1896980"/>
              <a:ext cx="2693447" cy="762000"/>
              <a:chOff x="1066800" y="1488281"/>
              <a:chExt cx="2693447" cy="762000"/>
            </a:xfrm>
          </p:grpSpPr>
          <p:sp>
            <p:nvSpPr>
              <p:cNvPr id="44" name="TextBox 43">
                <a:extLst>
                  <a:ext uri="{FF2B5EF4-FFF2-40B4-BE49-F238E27FC236}">
                    <a16:creationId xmlns:a16="http://schemas.microsoft.com/office/drawing/2014/main" id="{41123B1D-7A3F-4D48-9037-D134D73DBB49}"/>
                  </a:ext>
                </a:extLst>
              </p:cNvPr>
              <p:cNvSpPr txBox="1"/>
              <p:nvPr/>
            </p:nvSpPr>
            <p:spPr>
              <a:xfrm>
                <a:off x="1080547" y="1488281"/>
                <a:ext cx="2679700" cy="762000"/>
              </a:xfrm>
              <a:prstGeom prst="rect">
                <a:avLst/>
              </a:prstGeom>
              <a:noFill/>
              <a:ln>
                <a:noFill/>
              </a:ln>
            </p:spPr>
            <p:txBody>
              <a:bodyPr wrap="square" rtlCol="0" anchor="t" anchorCtr="0">
                <a:normAutofit/>
              </a:bodyPr>
              <a:lstStyle/>
              <a:p>
                <a:pPr algn="l"/>
                <a:r>
                  <a:rPr lang="en-AU" sz="2400" b="1" dirty="0">
                    <a:solidFill>
                      <a:srgbClr val="2E546D"/>
                    </a:solidFill>
                    <a:latin typeface="Century Gothic" panose="020B0502020202020204" pitchFamily="34" charset="0"/>
                    <a:cs typeface="Futura Medium" panose="020B0602020204020303" pitchFamily="34" charset="-79"/>
                  </a:rPr>
                  <a:t>a</a:t>
                </a:r>
              </a:p>
            </p:txBody>
          </p:sp>
          <p:cxnSp>
            <p:nvCxnSpPr>
              <p:cNvPr id="45" name="Straight Arrow Connector 44">
                <a:extLst>
                  <a:ext uri="{FF2B5EF4-FFF2-40B4-BE49-F238E27FC236}">
                    <a16:creationId xmlns:a16="http://schemas.microsoft.com/office/drawing/2014/main" id="{9C7B06C1-FBC3-4E8B-8628-69F8E3B56B94}"/>
                  </a:ext>
                </a:extLst>
              </p:cNvPr>
              <p:cNvCxnSpPr/>
              <p:nvPr/>
            </p:nvCxnSpPr>
            <p:spPr>
              <a:xfrm>
                <a:off x="1066800" y="1534999"/>
                <a:ext cx="0" cy="432000"/>
              </a:xfrm>
              <a:prstGeom prst="straightConnector1">
                <a:avLst/>
              </a:prstGeom>
              <a:ln w="38100">
                <a:solidFill>
                  <a:srgbClr val="2E546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3A898B40-244B-447A-8E7F-F2EF88A21380}"/>
                </a:ext>
              </a:extLst>
            </p:cNvPr>
            <p:cNvGrpSpPr/>
            <p:nvPr/>
          </p:nvGrpSpPr>
          <p:grpSpPr>
            <a:xfrm>
              <a:off x="6644553" y="2647867"/>
              <a:ext cx="2693447" cy="762000"/>
              <a:chOff x="1066800" y="1488281"/>
              <a:chExt cx="2693447" cy="762000"/>
            </a:xfrm>
          </p:grpSpPr>
          <p:sp>
            <p:nvSpPr>
              <p:cNvPr id="47" name="TextBox 46">
                <a:extLst>
                  <a:ext uri="{FF2B5EF4-FFF2-40B4-BE49-F238E27FC236}">
                    <a16:creationId xmlns:a16="http://schemas.microsoft.com/office/drawing/2014/main" id="{A77CA512-0BF8-4366-805F-90BF2C0B1675}"/>
                  </a:ext>
                </a:extLst>
              </p:cNvPr>
              <p:cNvSpPr txBox="1"/>
              <p:nvPr/>
            </p:nvSpPr>
            <p:spPr>
              <a:xfrm>
                <a:off x="1080547" y="1488281"/>
                <a:ext cx="2679700" cy="762000"/>
              </a:xfrm>
              <a:prstGeom prst="rect">
                <a:avLst/>
              </a:prstGeom>
              <a:noFill/>
              <a:ln>
                <a:noFill/>
              </a:ln>
            </p:spPr>
            <p:txBody>
              <a:bodyPr wrap="square" rtlCol="0" anchor="t" anchorCtr="0">
                <a:normAutofit/>
              </a:bodyPr>
              <a:lstStyle/>
              <a:p>
                <a:pPr algn="l"/>
                <a:r>
                  <a:rPr lang="en-AU" sz="2400" b="1" dirty="0">
                    <a:solidFill>
                      <a:srgbClr val="2E546D"/>
                    </a:solidFill>
                    <a:latin typeface="Century Gothic" panose="020B0502020202020204" pitchFamily="34" charset="0"/>
                    <a:cs typeface="Futura Medium" panose="020B0602020204020303" pitchFamily="34" charset="-79"/>
                  </a:rPr>
                  <a:t>a</a:t>
                </a:r>
              </a:p>
            </p:txBody>
          </p:sp>
          <p:cxnSp>
            <p:nvCxnSpPr>
              <p:cNvPr id="48" name="Straight Arrow Connector 47">
                <a:extLst>
                  <a:ext uri="{FF2B5EF4-FFF2-40B4-BE49-F238E27FC236}">
                    <a16:creationId xmlns:a16="http://schemas.microsoft.com/office/drawing/2014/main" id="{8C4BB84F-ECD2-4C02-BBBD-103BD626C94E}"/>
                  </a:ext>
                </a:extLst>
              </p:cNvPr>
              <p:cNvCxnSpPr/>
              <p:nvPr/>
            </p:nvCxnSpPr>
            <p:spPr>
              <a:xfrm>
                <a:off x="1066800" y="1534999"/>
                <a:ext cx="0" cy="432000"/>
              </a:xfrm>
              <a:prstGeom prst="straightConnector1">
                <a:avLst/>
              </a:prstGeom>
              <a:ln w="38100">
                <a:solidFill>
                  <a:srgbClr val="2E546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D73D54E0-6CD8-4F33-B56C-030BBF0D3C99}"/>
                </a:ext>
              </a:extLst>
            </p:cNvPr>
            <p:cNvGrpSpPr/>
            <p:nvPr/>
          </p:nvGrpSpPr>
          <p:grpSpPr>
            <a:xfrm>
              <a:off x="8242073" y="3726221"/>
              <a:ext cx="2693447" cy="762000"/>
              <a:chOff x="1066800" y="1488281"/>
              <a:chExt cx="2693447" cy="762000"/>
            </a:xfrm>
          </p:grpSpPr>
          <p:sp>
            <p:nvSpPr>
              <p:cNvPr id="50" name="TextBox 49">
                <a:extLst>
                  <a:ext uri="{FF2B5EF4-FFF2-40B4-BE49-F238E27FC236}">
                    <a16:creationId xmlns:a16="http://schemas.microsoft.com/office/drawing/2014/main" id="{86B4F327-3495-4CCD-A346-70307C260C88}"/>
                  </a:ext>
                </a:extLst>
              </p:cNvPr>
              <p:cNvSpPr txBox="1"/>
              <p:nvPr/>
            </p:nvSpPr>
            <p:spPr>
              <a:xfrm>
                <a:off x="1080547" y="1488281"/>
                <a:ext cx="2679700" cy="762000"/>
              </a:xfrm>
              <a:prstGeom prst="rect">
                <a:avLst/>
              </a:prstGeom>
              <a:noFill/>
              <a:ln>
                <a:noFill/>
              </a:ln>
            </p:spPr>
            <p:txBody>
              <a:bodyPr wrap="square" rtlCol="0" anchor="t" anchorCtr="0">
                <a:normAutofit/>
              </a:bodyPr>
              <a:lstStyle/>
              <a:p>
                <a:pPr algn="l"/>
                <a:r>
                  <a:rPr lang="en-AU" sz="2400" b="1" dirty="0">
                    <a:solidFill>
                      <a:srgbClr val="2E546D"/>
                    </a:solidFill>
                    <a:latin typeface="Century Gothic" panose="020B0502020202020204" pitchFamily="34" charset="0"/>
                    <a:cs typeface="Futura Medium" panose="020B0602020204020303" pitchFamily="34" charset="-79"/>
                  </a:rPr>
                  <a:t>a</a:t>
                </a:r>
              </a:p>
            </p:txBody>
          </p:sp>
          <p:cxnSp>
            <p:nvCxnSpPr>
              <p:cNvPr id="51" name="Straight Arrow Connector 50">
                <a:extLst>
                  <a:ext uri="{FF2B5EF4-FFF2-40B4-BE49-F238E27FC236}">
                    <a16:creationId xmlns:a16="http://schemas.microsoft.com/office/drawing/2014/main" id="{B4EF5F6A-A9E0-4D06-A070-A737BA2CDBD5}"/>
                  </a:ext>
                </a:extLst>
              </p:cNvPr>
              <p:cNvCxnSpPr/>
              <p:nvPr/>
            </p:nvCxnSpPr>
            <p:spPr>
              <a:xfrm>
                <a:off x="1066800" y="1534999"/>
                <a:ext cx="0" cy="432000"/>
              </a:xfrm>
              <a:prstGeom prst="straightConnector1">
                <a:avLst/>
              </a:prstGeom>
              <a:ln w="38100">
                <a:solidFill>
                  <a:srgbClr val="2E546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F43EEFCE-AAB2-4443-94EA-5A5CDF60CCC5}"/>
                </a:ext>
              </a:extLst>
            </p:cNvPr>
            <p:cNvGrpSpPr/>
            <p:nvPr/>
          </p:nvGrpSpPr>
          <p:grpSpPr>
            <a:xfrm>
              <a:off x="2912841" y="1593471"/>
              <a:ext cx="2693447" cy="762000"/>
              <a:chOff x="1066800" y="1488281"/>
              <a:chExt cx="2693447" cy="762000"/>
            </a:xfrm>
          </p:grpSpPr>
          <p:sp>
            <p:nvSpPr>
              <p:cNvPr id="53" name="TextBox 52">
                <a:extLst>
                  <a:ext uri="{FF2B5EF4-FFF2-40B4-BE49-F238E27FC236}">
                    <a16:creationId xmlns:a16="http://schemas.microsoft.com/office/drawing/2014/main" id="{2AE35FE5-1508-40F6-8387-096B1F64975A}"/>
                  </a:ext>
                </a:extLst>
              </p:cNvPr>
              <p:cNvSpPr txBox="1"/>
              <p:nvPr/>
            </p:nvSpPr>
            <p:spPr>
              <a:xfrm>
                <a:off x="1080547" y="1488281"/>
                <a:ext cx="2679700" cy="762000"/>
              </a:xfrm>
              <a:prstGeom prst="rect">
                <a:avLst/>
              </a:prstGeom>
              <a:noFill/>
              <a:ln>
                <a:noFill/>
              </a:ln>
            </p:spPr>
            <p:txBody>
              <a:bodyPr wrap="square" rtlCol="0" anchor="t" anchorCtr="0">
                <a:normAutofit/>
              </a:bodyPr>
              <a:lstStyle/>
              <a:p>
                <a:pPr algn="l"/>
                <a:r>
                  <a:rPr lang="en-AU" sz="2400" b="1" dirty="0">
                    <a:solidFill>
                      <a:srgbClr val="2E546D"/>
                    </a:solidFill>
                    <a:latin typeface="Century Gothic" panose="020B0502020202020204" pitchFamily="34" charset="0"/>
                    <a:cs typeface="Futura Medium" panose="020B0602020204020303" pitchFamily="34" charset="-79"/>
                  </a:rPr>
                  <a:t>a</a:t>
                </a:r>
              </a:p>
            </p:txBody>
          </p:sp>
          <p:cxnSp>
            <p:nvCxnSpPr>
              <p:cNvPr id="54" name="Straight Arrow Connector 53">
                <a:extLst>
                  <a:ext uri="{FF2B5EF4-FFF2-40B4-BE49-F238E27FC236}">
                    <a16:creationId xmlns:a16="http://schemas.microsoft.com/office/drawing/2014/main" id="{3C609CCF-6810-4FDA-8B94-F3545125BBB6}"/>
                  </a:ext>
                </a:extLst>
              </p:cNvPr>
              <p:cNvCxnSpPr/>
              <p:nvPr/>
            </p:nvCxnSpPr>
            <p:spPr>
              <a:xfrm>
                <a:off x="1066800" y="1534999"/>
                <a:ext cx="0" cy="432000"/>
              </a:xfrm>
              <a:prstGeom prst="straightConnector1">
                <a:avLst/>
              </a:prstGeom>
              <a:ln w="38100">
                <a:solidFill>
                  <a:srgbClr val="2E546D"/>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74" name="Group 73">
            <a:extLst>
              <a:ext uri="{FF2B5EF4-FFF2-40B4-BE49-F238E27FC236}">
                <a16:creationId xmlns:a16="http://schemas.microsoft.com/office/drawing/2014/main" id="{D69EF6D7-CD5B-4D15-AFDE-707197AE6D4F}"/>
              </a:ext>
            </a:extLst>
          </p:cNvPr>
          <p:cNvGrpSpPr/>
          <p:nvPr/>
        </p:nvGrpSpPr>
        <p:grpSpPr>
          <a:xfrm>
            <a:off x="1223040" y="989669"/>
            <a:ext cx="7587171" cy="3137200"/>
            <a:chOff x="1223040" y="989669"/>
            <a:chExt cx="7587171" cy="3137200"/>
          </a:xfrm>
        </p:grpSpPr>
        <p:grpSp>
          <p:nvGrpSpPr>
            <p:cNvPr id="40" name="Group 39">
              <a:extLst>
                <a:ext uri="{FF2B5EF4-FFF2-40B4-BE49-F238E27FC236}">
                  <a16:creationId xmlns:a16="http://schemas.microsoft.com/office/drawing/2014/main" id="{48AFDCD0-0FDA-40B1-8002-24A8A17D4247}"/>
                </a:ext>
              </a:extLst>
            </p:cNvPr>
            <p:cNvGrpSpPr/>
            <p:nvPr/>
          </p:nvGrpSpPr>
          <p:grpSpPr>
            <a:xfrm>
              <a:off x="1223040" y="989669"/>
              <a:ext cx="670434" cy="483679"/>
              <a:chOff x="911763" y="1488281"/>
              <a:chExt cx="670434" cy="483679"/>
            </a:xfrm>
          </p:grpSpPr>
          <p:sp>
            <p:nvSpPr>
              <p:cNvPr id="41" name="TextBox 40">
                <a:extLst>
                  <a:ext uri="{FF2B5EF4-FFF2-40B4-BE49-F238E27FC236}">
                    <a16:creationId xmlns:a16="http://schemas.microsoft.com/office/drawing/2014/main" id="{A7F77E05-8097-4048-8BFE-4EA75F7049EA}"/>
                  </a:ext>
                </a:extLst>
              </p:cNvPr>
              <p:cNvSpPr txBox="1"/>
              <p:nvPr/>
            </p:nvSpPr>
            <p:spPr>
              <a:xfrm>
                <a:off x="1080547" y="1488281"/>
                <a:ext cx="353019" cy="483679"/>
              </a:xfrm>
              <a:prstGeom prst="rect">
                <a:avLst/>
              </a:prstGeom>
              <a:noFill/>
              <a:ln>
                <a:noFill/>
              </a:ln>
            </p:spPr>
            <p:txBody>
              <a:bodyPr wrap="square" rtlCol="0" anchor="t" anchorCtr="0">
                <a:normAutofit/>
              </a:bodyPr>
              <a:lstStyle/>
              <a:p>
                <a:pPr algn="l"/>
                <a:r>
                  <a:rPr lang="en-AU" sz="2400" b="1" i="1" dirty="0">
                    <a:solidFill>
                      <a:srgbClr val="FF0000"/>
                    </a:solidFill>
                    <a:latin typeface="Century Gothic" panose="020B0502020202020204" pitchFamily="34" charset="0"/>
                    <a:cs typeface="Futura Medium" panose="020B0602020204020303" pitchFamily="34" charset="-79"/>
                  </a:rPr>
                  <a:t>v</a:t>
                </a:r>
              </a:p>
            </p:txBody>
          </p:sp>
          <p:cxnSp>
            <p:nvCxnSpPr>
              <p:cNvPr id="42" name="Straight Arrow Connector 41">
                <a:extLst>
                  <a:ext uri="{FF2B5EF4-FFF2-40B4-BE49-F238E27FC236}">
                    <a16:creationId xmlns:a16="http://schemas.microsoft.com/office/drawing/2014/main" id="{C7D3E763-2AD4-4CAD-A127-C81A9E750725}"/>
                  </a:ext>
                </a:extLst>
              </p:cNvPr>
              <p:cNvCxnSpPr>
                <a:cxnSpLocks/>
              </p:cNvCxnSpPr>
              <p:nvPr/>
            </p:nvCxnSpPr>
            <p:spPr>
              <a:xfrm>
                <a:off x="911763" y="1966999"/>
                <a:ext cx="67043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DCEBB300-742A-419E-A9B6-F955EA5F6335}"/>
                </a:ext>
              </a:extLst>
            </p:cNvPr>
            <p:cNvGrpSpPr/>
            <p:nvPr/>
          </p:nvGrpSpPr>
          <p:grpSpPr>
            <a:xfrm>
              <a:off x="3031205" y="1065611"/>
              <a:ext cx="565276" cy="574578"/>
              <a:chOff x="911763" y="1488281"/>
              <a:chExt cx="565276" cy="574578"/>
            </a:xfrm>
          </p:grpSpPr>
          <p:sp>
            <p:nvSpPr>
              <p:cNvPr id="58" name="TextBox 57">
                <a:extLst>
                  <a:ext uri="{FF2B5EF4-FFF2-40B4-BE49-F238E27FC236}">
                    <a16:creationId xmlns:a16="http://schemas.microsoft.com/office/drawing/2014/main" id="{F1C33E06-291F-4532-A27F-0738C2249E49}"/>
                  </a:ext>
                </a:extLst>
              </p:cNvPr>
              <p:cNvSpPr txBox="1"/>
              <p:nvPr/>
            </p:nvSpPr>
            <p:spPr>
              <a:xfrm>
                <a:off x="1080547" y="1488281"/>
                <a:ext cx="353019" cy="483679"/>
              </a:xfrm>
              <a:prstGeom prst="rect">
                <a:avLst/>
              </a:prstGeom>
              <a:noFill/>
              <a:ln>
                <a:noFill/>
              </a:ln>
            </p:spPr>
            <p:txBody>
              <a:bodyPr wrap="square" rtlCol="0" anchor="t" anchorCtr="0">
                <a:normAutofit/>
              </a:bodyPr>
              <a:lstStyle/>
              <a:p>
                <a:pPr algn="l"/>
                <a:r>
                  <a:rPr lang="en-AU" sz="2400" b="1" i="1" dirty="0">
                    <a:solidFill>
                      <a:srgbClr val="FF0000"/>
                    </a:solidFill>
                    <a:latin typeface="Century Gothic" panose="020B0502020202020204" pitchFamily="34" charset="0"/>
                    <a:cs typeface="Futura Medium" panose="020B0602020204020303" pitchFamily="34" charset="-79"/>
                  </a:rPr>
                  <a:t>v</a:t>
                </a:r>
              </a:p>
            </p:txBody>
          </p:sp>
          <p:cxnSp>
            <p:nvCxnSpPr>
              <p:cNvPr id="59" name="Straight Arrow Connector 58">
                <a:extLst>
                  <a:ext uri="{FF2B5EF4-FFF2-40B4-BE49-F238E27FC236}">
                    <a16:creationId xmlns:a16="http://schemas.microsoft.com/office/drawing/2014/main" id="{05FDD51E-D498-406E-8AE4-0A449418369F}"/>
                  </a:ext>
                </a:extLst>
              </p:cNvPr>
              <p:cNvCxnSpPr>
                <a:cxnSpLocks/>
              </p:cNvCxnSpPr>
              <p:nvPr/>
            </p:nvCxnSpPr>
            <p:spPr>
              <a:xfrm>
                <a:off x="911763" y="1966999"/>
                <a:ext cx="565276" cy="958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320F2D16-8496-49B5-9592-5E729BDDA807}"/>
                </a:ext>
              </a:extLst>
            </p:cNvPr>
            <p:cNvGrpSpPr/>
            <p:nvPr/>
          </p:nvGrpSpPr>
          <p:grpSpPr>
            <a:xfrm>
              <a:off x="4858717" y="1540702"/>
              <a:ext cx="570144" cy="615124"/>
              <a:chOff x="911763" y="1564948"/>
              <a:chExt cx="570144" cy="615124"/>
            </a:xfrm>
          </p:grpSpPr>
          <p:sp>
            <p:nvSpPr>
              <p:cNvPr id="63" name="TextBox 62">
                <a:extLst>
                  <a:ext uri="{FF2B5EF4-FFF2-40B4-BE49-F238E27FC236}">
                    <a16:creationId xmlns:a16="http://schemas.microsoft.com/office/drawing/2014/main" id="{AD294DD5-0DEA-4A68-8799-E2F69615FAEE}"/>
                  </a:ext>
                </a:extLst>
              </p:cNvPr>
              <p:cNvSpPr txBox="1"/>
              <p:nvPr/>
            </p:nvSpPr>
            <p:spPr>
              <a:xfrm>
                <a:off x="1003123" y="1564948"/>
                <a:ext cx="353019" cy="483679"/>
              </a:xfrm>
              <a:prstGeom prst="rect">
                <a:avLst/>
              </a:prstGeom>
              <a:noFill/>
              <a:ln>
                <a:noFill/>
              </a:ln>
            </p:spPr>
            <p:txBody>
              <a:bodyPr wrap="square" rtlCol="0" anchor="t" anchorCtr="0">
                <a:normAutofit/>
              </a:bodyPr>
              <a:lstStyle/>
              <a:p>
                <a:pPr algn="l"/>
                <a:r>
                  <a:rPr lang="en-AU" sz="2400" b="1" i="1" dirty="0">
                    <a:solidFill>
                      <a:srgbClr val="FF0000"/>
                    </a:solidFill>
                    <a:latin typeface="Century Gothic" panose="020B0502020202020204" pitchFamily="34" charset="0"/>
                    <a:cs typeface="Futura Medium" panose="020B0602020204020303" pitchFamily="34" charset="-79"/>
                  </a:rPr>
                  <a:t>v</a:t>
                </a:r>
              </a:p>
            </p:txBody>
          </p:sp>
          <p:cxnSp>
            <p:nvCxnSpPr>
              <p:cNvPr id="64" name="Straight Arrow Connector 63">
                <a:extLst>
                  <a:ext uri="{FF2B5EF4-FFF2-40B4-BE49-F238E27FC236}">
                    <a16:creationId xmlns:a16="http://schemas.microsoft.com/office/drawing/2014/main" id="{6523671F-EC2D-4ED6-A4F5-2E99F4381149}"/>
                  </a:ext>
                </a:extLst>
              </p:cNvPr>
              <p:cNvCxnSpPr>
                <a:cxnSpLocks/>
              </p:cNvCxnSpPr>
              <p:nvPr/>
            </p:nvCxnSpPr>
            <p:spPr>
              <a:xfrm>
                <a:off x="911763" y="1966999"/>
                <a:ext cx="570144" cy="21307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7309E0C9-E91B-48BF-8D98-79D35CAB9DAB}"/>
                </a:ext>
              </a:extLst>
            </p:cNvPr>
            <p:cNvGrpSpPr/>
            <p:nvPr/>
          </p:nvGrpSpPr>
          <p:grpSpPr>
            <a:xfrm>
              <a:off x="6802894" y="2246241"/>
              <a:ext cx="467863" cy="708172"/>
              <a:chOff x="911763" y="1564948"/>
              <a:chExt cx="467863" cy="708172"/>
            </a:xfrm>
          </p:grpSpPr>
          <p:sp>
            <p:nvSpPr>
              <p:cNvPr id="67" name="TextBox 66">
                <a:extLst>
                  <a:ext uri="{FF2B5EF4-FFF2-40B4-BE49-F238E27FC236}">
                    <a16:creationId xmlns:a16="http://schemas.microsoft.com/office/drawing/2014/main" id="{84B722EF-7DD6-4BE4-9D15-738EBC162DE7}"/>
                  </a:ext>
                </a:extLst>
              </p:cNvPr>
              <p:cNvSpPr txBox="1"/>
              <p:nvPr/>
            </p:nvSpPr>
            <p:spPr>
              <a:xfrm>
                <a:off x="1003123" y="1564948"/>
                <a:ext cx="353019" cy="483679"/>
              </a:xfrm>
              <a:prstGeom prst="rect">
                <a:avLst/>
              </a:prstGeom>
              <a:noFill/>
              <a:ln>
                <a:noFill/>
              </a:ln>
            </p:spPr>
            <p:txBody>
              <a:bodyPr wrap="square" rtlCol="0" anchor="t" anchorCtr="0">
                <a:normAutofit/>
              </a:bodyPr>
              <a:lstStyle/>
              <a:p>
                <a:pPr algn="l"/>
                <a:r>
                  <a:rPr lang="en-AU" sz="2400" b="1" i="1" dirty="0">
                    <a:solidFill>
                      <a:srgbClr val="FF0000"/>
                    </a:solidFill>
                    <a:latin typeface="Century Gothic" panose="020B0502020202020204" pitchFamily="34" charset="0"/>
                    <a:cs typeface="Futura Medium" panose="020B0602020204020303" pitchFamily="34" charset="-79"/>
                  </a:rPr>
                  <a:t>v</a:t>
                </a:r>
              </a:p>
            </p:txBody>
          </p:sp>
          <p:cxnSp>
            <p:nvCxnSpPr>
              <p:cNvPr id="68" name="Straight Arrow Connector 67">
                <a:extLst>
                  <a:ext uri="{FF2B5EF4-FFF2-40B4-BE49-F238E27FC236}">
                    <a16:creationId xmlns:a16="http://schemas.microsoft.com/office/drawing/2014/main" id="{67AA6AC7-2ED2-4228-8F0F-73E40F263D6C}"/>
                  </a:ext>
                </a:extLst>
              </p:cNvPr>
              <p:cNvCxnSpPr>
                <a:cxnSpLocks/>
              </p:cNvCxnSpPr>
              <p:nvPr/>
            </p:nvCxnSpPr>
            <p:spPr>
              <a:xfrm>
                <a:off x="911763" y="1966999"/>
                <a:ext cx="467863" cy="30612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4DE44190-3680-4F4E-A039-6FBE33ED037A}"/>
                </a:ext>
              </a:extLst>
            </p:cNvPr>
            <p:cNvGrpSpPr/>
            <p:nvPr/>
          </p:nvGrpSpPr>
          <p:grpSpPr>
            <a:xfrm>
              <a:off x="8365832" y="3313732"/>
              <a:ext cx="444379" cy="813137"/>
              <a:chOff x="911763" y="1564948"/>
              <a:chExt cx="444379" cy="813137"/>
            </a:xfrm>
          </p:grpSpPr>
          <p:sp>
            <p:nvSpPr>
              <p:cNvPr id="71" name="TextBox 70">
                <a:extLst>
                  <a:ext uri="{FF2B5EF4-FFF2-40B4-BE49-F238E27FC236}">
                    <a16:creationId xmlns:a16="http://schemas.microsoft.com/office/drawing/2014/main" id="{3EAEFB28-4F50-49E0-A47D-C68DCE081C7D}"/>
                  </a:ext>
                </a:extLst>
              </p:cNvPr>
              <p:cNvSpPr txBox="1"/>
              <p:nvPr/>
            </p:nvSpPr>
            <p:spPr>
              <a:xfrm>
                <a:off x="1003123" y="1564948"/>
                <a:ext cx="353019" cy="483679"/>
              </a:xfrm>
              <a:prstGeom prst="rect">
                <a:avLst/>
              </a:prstGeom>
              <a:noFill/>
              <a:ln>
                <a:noFill/>
              </a:ln>
            </p:spPr>
            <p:txBody>
              <a:bodyPr wrap="square" rtlCol="0" anchor="t" anchorCtr="0">
                <a:normAutofit/>
              </a:bodyPr>
              <a:lstStyle/>
              <a:p>
                <a:pPr algn="l"/>
                <a:r>
                  <a:rPr lang="en-AU" sz="2400" b="1" i="1" dirty="0">
                    <a:solidFill>
                      <a:srgbClr val="FF0000"/>
                    </a:solidFill>
                    <a:latin typeface="Century Gothic" panose="020B0502020202020204" pitchFamily="34" charset="0"/>
                    <a:cs typeface="Futura Medium" panose="020B0602020204020303" pitchFamily="34" charset="-79"/>
                  </a:rPr>
                  <a:t>v</a:t>
                </a:r>
              </a:p>
            </p:txBody>
          </p:sp>
          <p:cxnSp>
            <p:nvCxnSpPr>
              <p:cNvPr id="72" name="Straight Arrow Connector 71">
                <a:extLst>
                  <a:ext uri="{FF2B5EF4-FFF2-40B4-BE49-F238E27FC236}">
                    <a16:creationId xmlns:a16="http://schemas.microsoft.com/office/drawing/2014/main" id="{21A42D4E-7466-452D-AE9C-F1B772B0EBCB}"/>
                  </a:ext>
                </a:extLst>
              </p:cNvPr>
              <p:cNvCxnSpPr>
                <a:cxnSpLocks/>
              </p:cNvCxnSpPr>
              <p:nvPr/>
            </p:nvCxnSpPr>
            <p:spPr>
              <a:xfrm>
                <a:off x="911763" y="1966999"/>
                <a:ext cx="345974" cy="4110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60" name="Text Placeholder 3">
            <a:extLst>
              <a:ext uri="{FF2B5EF4-FFF2-40B4-BE49-F238E27FC236}">
                <a16:creationId xmlns:a16="http://schemas.microsoft.com/office/drawing/2014/main" id="{7CFB5ED5-9742-40BB-81B1-70860B52620C}"/>
              </a:ext>
            </a:extLst>
          </p:cNvPr>
          <p:cNvSpPr txBox="1">
            <a:spLocks/>
          </p:cNvSpPr>
          <p:nvPr/>
        </p:nvSpPr>
        <p:spPr>
          <a:xfrm>
            <a:off x="7441199" y="742364"/>
            <a:ext cx="468326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b="0" dirty="0"/>
              <a:t>The projectile has a constant acceleration of 9.80 ms</a:t>
            </a:r>
            <a:r>
              <a:rPr lang="en-AU" b="0" baseline="30000" dirty="0"/>
              <a:t>-2</a:t>
            </a:r>
            <a:r>
              <a:rPr lang="en-AU" b="0" dirty="0"/>
              <a:t> downwards throughout its motion.</a:t>
            </a:r>
          </a:p>
          <a:p>
            <a:endParaRPr lang="en-AU" dirty="0"/>
          </a:p>
        </p:txBody>
      </p:sp>
    </p:spTree>
    <p:extLst>
      <p:ext uri="{BB962C8B-B14F-4D97-AF65-F5344CB8AC3E}">
        <p14:creationId xmlns:p14="http://schemas.microsoft.com/office/powerpoint/2010/main" val="2250146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You Do</a:t>
            </a:r>
          </a:p>
        </p:txBody>
      </p:sp>
      <p:sp>
        <p:nvSpPr>
          <p:cNvPr id="5" name="Rectangle 4">
            <a:extLst>
              <a:ext uri="{FF2B5EF4-FFF2-40B4-BE49-F238E27FC236}">
                <a16:creationId xmlns:a16="http://schemas.microsoft.com/office/drawing/2014/main" id="{0D2E6733-A021-457C-A588-F57EDB50F901}"/>
              </a:ext>
            </a:extLst>
          </p:cNvPr>
          <p:cNvSpPr/>
          <p:nvPr/>
        </p:nvSpPr>
        <p:spPr>
          <a:xfrm>
            <a:off x="-2" y="5837384"/>
            <a:ext cx="12191999" cy="1439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Text Placeholder 3">
            <a:extLst>
              <a:ext uri="{FF2B5EF4-FFF2-40B4-BE49-F238E27FC236}">
                <a16:creationId xmlns:a16="http://schemas.microsoft.com/office/drawing/2014/main" id="{4BE6AB64-0A93-4323-8475-32921AD6B7DD}"/>
              </a:ext>
            </a:extLst>
          </p:cNvPr>
          <p:cNvSpPr txBox="1">
            <a:spLocks/>
          </p:cNvSpPr>
          <p:nvPr/>
        </p:nvSpPr>
        <p:spPr>
          <a:xfrm>
            <a:off x="107432" y="535799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04234" y="4196352"/>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7" name="Picture 6">
            <a:extLst>
              <a:ext uri="{FF2B5EF4-FFF2-40B4-BE49-F238E27FC236}">
                <a16:creationId xmlns:a16="http://schemas.microsoft.com/office/drawing/2014/main" id="{473589F1-5883-4DDC-ACB2-E52E7DB9BC4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5273630" y="2473238"/>
            <a:ext cx="590866" cy="604607"/>
          </a:xfrm>
          <a:prstGeom prst="rect">
            <a:avLst/>
          </a:prstGeom>
        </p:spPr>
      </p:pic>
      <p:cxnSp>
        <p:nvCxnSpPr>
          <p:cNvPr id="8" name="Straight Arrow Connector 7">
            <a:extLst>
              <a:ext uri="{FF2B5EF4-FFF2-40B4-BE49-F238E27FC236}">
                <a16:creationId xmlns:a16="http://schemas.microsoft.com/office/drawing/2014/main" id="{2D7BD34E-EC81-436D-B609-29ABFCB07012}"/>
              </a:ext>
            </a:extLst>
          </p:cNvPr>
          <p:cNvCxnSpPr>
            <a:cxnSpLocks/>
          </p:cNvCxnSpPr>
          <p:nvPr/>
        </p:nvCxnSpPr>
        <p:spPr>
          <a:xfrm>
            <a:off x="5603614" y="2855714"/>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9F29D15-C427-4167-A359-DB72EEF77D1E}"/>
              </a:ext>
            </a:extLst>
          </p:cNvPr>
          <p:cNvSpPr txBox="1"/>
          <p:nvPr/>
        </p:nvSpPr>
        <p:spPr>
          <a:xfrm>
            <a:off x="5057440" y="3123163"/>
            <a:ext cx="2679700" cy="762000"/>
          </a:xfrm>
          <a:prstGeom prst="rect">
            <a:avLst/>
          </a:prstGeom>
          <a:noFill/>
          <a:ln>
            <a:noFill/>
          </a:ln>
        </p:spPr>
        <p:txBody>
          <a:bodyPr wrap="square" rtlCol="0" anchor="t" anchorCtr="0">
            <a:normAutofit/>
          </a:bodyPr>
          <a:lstStyle/>
          <a:p>
            <a:pPr algn="l"/>
            <a:r>
              <a:rPr lang="en-AU" sz="2400" b="1" dirty="0" err="1">
                <a:latin typeface="Century Gothic" panose="020B0502020202020204" pitchFamily="34" charset="0"/>
                <a:cs typeface="Futura Medium" panose="020B0602020204020303" pitchFamily="34" charset="-79"/>
              </a:rPr>
              <a:t>F</a:t>
            </a:r>
            <a:r>
              <a:rPr lang="en-AU" sz="2400" b="1" baseline="-25000" dirty="0" err="1">
                <a:latin typeface="Century Gothic" panose="020B0502020202020204" pitchFamily="34" charset="0"/>
                <a:cs typeface="Futura Medium" panose="020B0602020204020303" pitchFamily="34" charset="-79"/>
              </a:rPr>
              <a:t>g</a:t>
            </a:r>
            <a:endParaRPr lang="en-AU" sz="2400" b="1" dirty="0">
              <a:latin typeface="Century Gothic" panose="020B0502020202020204" pitchFamily="34" charset="0"/>
              <a:cs typeface="Futura Medium" panose="020B0602020204020303" pitchFamily="34" charset="-79"/>
            </a:endParaRPr>
          </a:p>
        </p:txBody>
      </p:sp>
      <p:sp>
        <p:nvSpPr>
          <p:cNvPr id="38" name="TextBox 37">
            <a:extLst>
              <a:ext uri="{FF2B5EF4-FFF2-40B4-BE49-F238E27FC236}">
                <a16:creationId xmlns:a16="http://schemas.microsoft.com/office/drawing/2014/main" id="{C7F566D2-46EF-479E-8A90-2E2632D14AE9}"/>
              </a:ext>
            </a:extLst>
          </p:cNvPr>
          <p:cNvSpPr txBox="1"/>
          <p:nvPr/>
        </p:nvSpPr>
        <p:spPr>
          <a:xfrm>
            <a:off x="5742572" y="2807635"/>
            <a:ext cx="407216" cy="762000"/>
          </a:xfrm>
          <a:prstGeom prst="rect">
            <a:avLst/>
          </a:prstGeom>
          <a:noFill/>
          <a:ln>
            <a:noFill/>
          </a:ln>
        </p:spPr>
        <p:txBody>
          <a:bodyPr wrap="square" rtlCol="0" anchor="t" anchorCtr="0">
            <a:normAutofit/>
          </a:bodyPr>
          <a:lstStyle/>
          <a:p>
            <a:pPr algn="l"/>
            <a:r>
              <a:rPr lang="en-AU" sz="2400" b="1" dirty="0">
                <a:solidFill>
                  <a:srgbClr val="2E546D"/>
                </a:solidFill>
                <a:latin typeface="Century Gothic" panose="020B0502020202020204" pitchFamily="34" charset="0"/>
                <a:cs typeface="Futura Medium" panose="020B0602020204020303" pitchFamily="34" charset="-79"/>
              </a:rPr>
              <a:t>a</a:t>
            </a:r>
          </a:p>
        </p:txBody>
      </p:sp>
      <p:cxnSp>
        <p:nvCxnSpPr>
          <p:cNvPr id="12" name="Straight Arrow Connector 11">
            <a:extLst>
              <a:ext uri="{FF2B5EF4-FFF2-40B4-BE49-F238E27FC236}">
                <a16:creationId xmlns:a16="http://schemas.microsoft.com/office/drawing/2014/main" id="{C91D1533-0375-44BD-B727-34EF5401AB83}"/>
              </a:ext>
            </a:extLst>
          </p:cNvPr>
          <p:cNvCxnSpPr>
            <a:cxnSpLocks/>
          </p:cNvCxnSpPr>
          <p:nvPr/>
        </p:nvCxnSpPr>
        <p:spPr>
          <a:xfrm>
            <a:off x="5728825" y="2854353"/>
            <a:ext cx="0" cy="432000"/>
          </a:xfrm>
          <a:prstGeom prst="straightConnector1">
            <a:avLst/>
          </a:prstGeom>
          <a:ln w="38100">
            <a:solidFill>
              <a:srgbClr val="2E546D"/>
            </a:solidFill>
            <a:tailEnd type="triangle"/>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48AFDCD0-0FDA-40B1-8002-24A8A17D4247}"/>
              </a:ext>
            </a:extLst>
          </p:cNvPr>
          <p:cNvGrpSpPr/>
          <p:nvPr/>
        </p:nvGrpSpPr>
        <p:grpSpPr>
          <a:xfrm>
            <a:off x="5851625" y="2310384"/>
            <a:ext cx="670434" cy="483679"/>
            <a:chOff x="911763" y="1488281"/>
            <a:chExt cx="670434" cy="483679"/>
          </a:xfrm>
        </p:grpSpPr>
        <p:sp>
          <p:nvSpPr>
            <p:cNvPr id="41" name="TextBox 40">
              <a:extLst>
                <a:ext uri="{FF2B5EF4-FFF2-40B4-BE49-F238E27FC236}">
                  <a16:creationId xmlns:a16="http://schemas.microsoft.com/office/drawing/2014/main" id="{A7F77E05-8097-4048-8BFE-4EA75F7049EA}"/>
                </a:ext>
              </a:extLst>
            </p:cNvPr>
            <p:cNvSpPr txBox="1"/>
            <p:nvPr/>
          </p:nvSpPr>
          <p:spPr>
            <a:xfrm>
              <a:off x="1080547" y="1488281"/>
              <a:ext cx="353019" cy="483679"/>
            </a:xfrm>
            <a:prstGeom prst="rect">
              <a:avLst/>
            </a:prstGeom>
            <a:noFill/>
            <a:ln>
              <a:noFill/>
            </a:ln>
          </p:spPr>
          <p:txBody>
            <a:bodyPr wrap="square" rtlCol="0" anchor="t" anchorCtr="0">
              <a:normAutofit/>
            </a:bodyPr>
            <a:lstStyle/>
            <a:p>
              <a:pPr algn="l"/>
              <a:r>
                <a:rPr lang="en-AU" sz="2400" b="1" i="1" dirty="0">
                  <a:solidFill>
                    <a:srgbClr val="FF0000"/>
                  </a:solidFill>
                  <a:latin typeface="Century Gothic" panose="020B0502020202020204" pitchFamily="34" charset="0"/>
                  <a:cs typeface="Futura Medium" panose="020B0602020204020303" pitchFamily="34" charset="-79"/>
                </a:rPr>
                <a:t>v</a:t>
              </a:r>
            </a:p>
          </p:txBody>
        </p:sp>
        <p:cxnSp>
          <p:nvCxnSpPr>
            <p:cNvPr id="42" name="Straight Arrow Connector 41">
              <a:extLst>
                <a:ext uri="{FF2B5EF4-FFF2-40B4-BE49-F238E27FC236}">
                  <a16:creationId xmlns:a16="http://schemas.microsoft.com/office/drawing/2014/main" id="{C7D3E763-2AD4-4CAD-A127-C81A9E750725}"/>
                </a:ext>
              </a:extLst>
            </p:cNvPr>
            <p:cNvCxnSpPr>
              <a:cxnSpLocks/>
            </p:cNvCxnSpPr>
            <p:nvPr/>
          </p:nvCxnSpPr>
          <p:spPr>
            <a:xfrm>
              <a:off x="911763" y="1966999"/>
              <a:ext cx="67043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61" name="Picture 60">
            <a:extLst>
              <a:ext uri="{FF2B5EF4-FFF2-40B4-BE49-F238E27FC236}">
                <a16:creationId xmlns:a16="http://schemas.microsoft.com/office/drawing/2014/main" id="{670238BF-504D-4079-985C-585C72C19457}"/>
              </a:ext>
            </a:extLst>
          </p:cNvPr>
          <p:cNvPicPr>
            <a:picLocks noChangeAspect="1"/>
          </p:cNvPicPr>
          <p:nvPr/>
        </p:nvPicPr>
        <p:blipFill rotWithShape="1">
          <a:blip r:embed="rId5"/>
          <a:srcRect t="13928" b="18571"/>
          <a:stretch/>
        </p:blipFill>
        <p:spPr>
          <a:xfrm flipH="1">
            <a:off x="2861781" y="2554577"/>
            <a:ext cx="2046616" cy="1247776"/>
          </a:xfrm>
          <a:prstGeom prst="rect">
            <a:avLst/>
          </a:prstGeom>
        </p:spPr>
      </p:pic>
      <p:sp>
        <p:nvSpPr>
          <p:cNvPr id="78" name="TextBox 77">
            <a:extLst>
              <a:ext uri="{FF2B5EF4-FFF2-40B4-BE49-F238E27FC236}">
                <a16:creationId xmlns:a16="http://schemas.microsoft.com/office/drawing/2014/main" id="{44E2B351-3A65-4316-A1F3-B8CF0570C7CC}"/>
              </a:ext>
            </a:extLst>
          </p:cNvPr>
          <p:cNvSpPr txBox="1"/>
          <p:nvPr/>
        </p:nvSpPr>
        <p:spPr>
          <a:xfrm>
            <a:off x="11117010" y="3966318"/>
            <a:ext cx="2679700" cy="762000"/>
          </a:xfrm>
          <a:prstGeom prst="rect">
            <a:avLst/>
          </a:prstGeom>
          <a:noFill/>
          <a:ln>
            <a:noFill/>
          </a:ln>
        </p:spPr>
        <p:txBody>
          <a:bodyPr wrap="square" rtlCol="0" anchor="t" anchorCtr="0">
            <a:normAutofit/>
          </a:bodyPr>
          <a:lstStyle/>
          <a:p>
            <a:pPr algn="l"/>
            <a:r>
              <a:rPr lang="en-AU" sz="2400" b="1" dirty="0">
                <a:latin typeface="Century Gothic" panose="020B0502020202020204" pitchFamily="34" charset="0"/>
                <a:cs typeface="Futura Medium" panose="020B0602020204020303" pitchFamily="34" charset="-79"/>
              </a:rPr>
              <a:t>1.50m</a:t>
            </a:r>
          </a:p>
        </p:txBody>
      </p:sp>
      <p:grpSp>
        <p:nvGrpSpPr>
          <p:cNvPr id="11" name="Group 10">
            <a:extLst>
              <a:ext uri="{FF2B5EF4-FFF2-40B4-BE49-F238E27FC236}">
                <a16:creationId xmlns:a16="http://schemas.microsoft.com/office/drawing/2014/main" id="{4BE77AD6-9DFD-4EAC-B16D-7019A9D3CF50}"/>
              </a:ext>
            </a:extLst>
          </p:cNvPr>
          <p:cNvGrpSpPr/>
          <p:nvPr/>
        </p:nvGrpSpPr>
        <p:grpSpPr>
          <a:xfrm>
            <a:off x="385281" y="1025969"/>
            <a:ext cx="2476500" cy="2919896"/>
            <a:chOff x="7821580" y="61247"/>
            <a:chExt cx="2476500" cy="2919896"/>
          </a:xfrm>
        </p:grpSpPr>
        <p:sp>
          <p:nvSpPr>
            <p:cNvPr id="75" name="TextBox 74">
              <a:extLst>
                <a:ext uri="{FF2B5EF4-FFF2-40B4-BE49-F238E27FC236}">
                  <a16:creationId xmlns:a16="http://schemas.microsoft.com/office/drawing/2014/main" id="{FA7882D8-EBA5-4B4B-9DE6-12A1B3527AE8}"/>
                </a:ext>
              </a:extLst>
            </p:cNvPr>
            <p:cNvSpPr txBox="1"/>
            <p:nvPr/>
          </p:nvSpPr>
          <p:spPr>
            <a:xfrm>
              <a:off x="9073577" y="1876956"/>
              <a:ext cx="407216" cy="762000"/>
            </a:xfrm>
            <a:prstGeom prst="rect">
              <a:avLst/>
            </a:prstGeom>
            <a:noFill/>
            <a:ln>
              <a:noFill/>
            </a:ln>
          </p:spPr>
          <p:txBody>
            <a:bodyPr wrap="square" rtlCol="0" anchor="t" anchorCtr="0">
              <a:normAutofit/>
            </a:bodyPr>
            <a:lstStyle/>
            <a:p>
              <a:pPr algn="l"/>
              <a:r>
                <a:rPr lang="en-AU" sz="2400" b="1" dirty="0">
                  <a:solidFill>
                    <a:srgbClr val="2E546D"/>
                  </a:solidFill>
                  <a:latin typeface="Century Gothic" panose="020B0502020202020204" pitchFamily="34" charset="0"/>
                  <a:cs typeface="Futura Medium" panose="020B0602020204020303" pitchFamily="34" charset="-79"/>
                </a:rPr>
                <a:t>a</a:t>
              </a:r>
            </a:p>
          </p:txBody>
        </p:sp>
        <p:cxnSp>
          <p:nvCxnSpPr>
            <p:cNvPr id="76" name="Straight Arrow Connector 75">
              <a:extLst>
                <a:ext uri="{FF2B5EF4-FFF2-40B4-BE49-F238E27FC236}">
                  <a16:creationId xmlns:a16="http://schemas.microsoft.com/office/drawing/2014/main" id="{D3F96B27-51E7-40D5-9D85-E3599835C1C4}"/>
                </a:ext>
              </a:extLst>
            </p:cNvPr>
            <p:cNvCxnSpPr>
              <a:cxnSpLocks/>
            </p:cNvCxnSpPr>
            <p:nvPr/>
          </p:nvCxnSpPr>
          <p:spPr>
            <a:xfrm>
              <a:off x="9059830" y="1923674"/>
              <a:ext cx="0" cy="432000"/>
            </a:xfrm>
            <a:prstGeom prst="straightConnector1">
              <a:avLst/>
            </a:prstGeom>
            <a:ln w="38100">
              <a:solidFill>
                <a:srgbClr val="2E546D"/>
              </a:solidFill>
              <a:tailEnd type="triangle"/>
            </a:ln>
          </p:spPr>
          <p:style>
            <a:lnRef idx="1">
              <a:schemeClr val="accent1"/>
            </a:lnRef>
            <a:fillRef idx="0">
              <a:schemeClr val="accent1"/>
            </a:fillRef>
            <a:effectRef idx="0">
              <a:schemeClr val="accent1"/>
            </a:effectRef>
            <a:fontRef idx="minor">
              <a:schemeClr val="tx1"/>
            </a:fontRef>
          </p:style>
        </p:cxnSp>
        <p:pic>
          <p:nvPicPr>
            <p:cNvPr id="65" name="Picture 64">
              <a:extLst>
                <a:ext uri="{FF2B5EF4-FFF2-40B4-BE49-F238E27FC236}">
                  <a16:creationId xmlns:a16="http://schemas.microsoft.com/office/drawing/2014/main" id="{516E2FC5-394B-47BB-824D-6692E3D082E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023" b="93182" l="10000" r="90000">
                          <a14:foregroundMark x1="49419" y1="93295" x2="47326" y2="78977"/>
                          <a14:foregroundMark x1="48256" y1="6023" x2="48023" y2="23864"/>
                        </a14:backgroundRemoval>
                      </a14:imgEffect>
                    </a14:imgLayer>
                  </a14:imgProps>
                </a:ext>
              </a:extLst>
            </a:blip>
            <a:stretch>
              <a:fillRect/>
            </a:stretch>
          </p:blipFill>
          <p:spPr>
            <a:xfrm rot="5400000">
              <a:off x="8662240" y="1607410"/>
              <a:ext cx="590866" cy="604607"/>
            </a:xfrm>
            <a:prstGeom prst="rect">
              <a:avLst/>
            </a:prstGeom>
          </p:spPr>
        </p:pic>
        <p:cxnSp>
          <p:nvCxnSpPr>
            <p:cNvPr id="69" name="Straight Arrow Connector 68">
              <a:extLst>
                <a:ext uri="{FF2B5EF4-FFF2-40B4-BE49-F238E27FC236}">
                  <a16:creationId xmlns:a16="http://schemas.microsoft.com/office/drawing/2014/main" id="{6E9F08B0-A61A-47EB-B22E-82B3C4600C71}"/>
                </a:ext>
              </a:extLst>
            </p:cNvPr>
            <p:cNvCxnSpPr>
              <a:cxnSpLocks/>
            </p:cNvCxnSpPr>
            <p:nvPr/>
          </p:nvCxnSpPr>
          <p:spPr>
            <a:xfrm>
              <a:off x="8934619" y="1951694"/>
              <a:ext cx="0" cy="64622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8F9A938A-814E-4EBC-998F-312E49C9AAB0}"/>
                </a:ext>
              </a:extLst>
            </p:cNvPr>
            <p:cNvSpPr txBox="1"/>
            <p:nvPr/>
          </p:nvSpPr>
          <p:spPr>
            <a:xfrm>
              <a:off x="8388445" y="2219143"/>
              <a:ext cx="604608" cy="762000"/>
            </a:xfrm>
            <a:prstGeom prst="rect">
              <a:avLst/>
            </a:prstGeom>
            <a:noFill/>
            <a:ln>
              <a:noFill/>
            </a:ln>
          </p:spPr>
          <p:txBody>
            <a:bodyPr wrap="square" rtlCol="0" anchor="t" anchorCtr="0">
              <a:normAutofit/>
            </a:bodyPr>
            <a:lstStyle/>
            <a:p>
              <a:pPr algn="l"/>
              <a:r>
                <a:rPr lang="en-AU" sz="2400" b="1" dirty="0" err="1">
                  <a:latin typeface="Century Gothic" panose="020B0502020202020204" pitchFamily="34" charset="0"/>
                  <a:cs typeface="Futura Medium" panose="020B0602020204020303" pitchFamily="34" charset="-79"/>
                </a:rPr>
                <a:t>F</a:t>
              </a:r>
              <a:r>
                <a:rPr lang="en-AU" sz="2400" b="1" baseline="-25000" dirty="0" err="1">
                  <a:latin typeface="Century Gothic" panose="020B0502020202020204" pitchFamily="34" charset="0"/>
                  <a:cs typeface="Futura Medium" panose="020B0602020204020303" pitchFamily="34" charset="-79"/>
                </a:rPr>
                <a:t>g</a:t>
              </a:r>
              <a:endParaRPr lang="en-AU" sz="2400" b="1" dirty="0">
                <a:latin typeface="Century Gothic" panose="020B0502020202020204" pitchFamily="34" charset="0"/>
                <a:cs typeface="Futura Medium" panose="020B0602020204020303" pitchFamily="34" charset="-79"/>
              </a:endParaRPr>
            </a:p>
          </p:txBody>
        </p:sp>
        <p:pic>
          <p:nvPicPr>
            <p:cNvPr id="2050" name="Picture 2" descr="Mic Drop Illustration Cartoon Hand Dropping Stock Vector (Royalty Free)  501394375">
              <a:extLst>
                <a:ext uri="{FF2B5EF4-FFF2-40B4-BE49-F238E27FC236}">
                  <a16:creationId xmlns:a16="http://schemas.microsoft.com/office/drawing/2014/main" id="{9513FABE-EEFE-4A41-B089-929012391082}"/>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6517" b="58654" l="10000" r="90000">
                          <a14:foregroundMark x1="37308" y1="55714" x2="51154" y2="55000"/>
                        </a14:backgroundRemoval>
                      </a14:imgEffect>
                    </a14:imgLayer>
                  </a14:imgProps>
                </a:ext>
                <a:ext uri="{28A0092B-C50C-407E-A947-70E740481C1C}">
                  <a14:useLocalDpi xmlns:a14="http://schemas.microsoft.com/office/drawing/2010/main" val="0"/>
                </a:ext>
              </a:extLst>
            </a:blip>
            <a:srcRect b="34829"/>
            <a:stretch/>
          </p:blipFill>
          <p:spPr bwMode="auto">
            <a:xfrm>
              <a:off x="7821580" y="61247"/>
              <a:ext cx="2476500" cy="1738108"/>
            </a:xfrm>
            <a:prstGeom prst="rect">
              <a:avLst/>
            </a:prstGeom>
            <a:noFill/>
            <a:extLst>
              <a:ext uri="{909E8E84-426E-40DD-AFC4-6F175D3DCCD1}">
                <a14:hiddenFill xmlns:a14="http://schemas.microsoft.com/office/drawing/2010/main">
                  <a:solidFill>
                    <a:srgbClr val="FFFFFF"/>
                  </a:solidFill>
                </a14:hiddenFill>
              </a:ext>
            </a:extLst>
          </p:spPr>
        </p:pic>
      </p:grpSp>
      <p:sp>
        <p:nvSpPr>
          <p:cNvPr id="77" name="Text Placeholder 3">
            <a:extLst>
              <a:ext uri="{FF2B5EF4-FFF2-40B4-BE49-F238E27FC236}">
                <a16:creationId xmlns:a16="http://schemas.microsoft.com/office/drawing/2014/main" id="{9A58A4A3-BAE8-4064-99C6-392AC15F3E8E}"/>
              </a:ext>
            </a:extLst>
          </p:cNvPr>
          <p:cNvSpPr txBox="1">
            <a:spLocks/>
          </p:cNvSpPr>
          <p:nvPr/>
        </p:nvSpPr>
        <p:spPr>
          <a:xfrm>
            <a:off x="214867" y="1007686"/>
            <a:ext cx="11576259"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Calculate how long for the bullets to hit the ground.</a:t>
            </a:r>
          </a:p>
          <a:p>
            <a:endParaRPr lang="en-AU" dirty="0"/>
          </a:p>
        </p:txBody>
      </p:sp>
      <p:cxnSp>
        <p:nvCxnSpPr>
          <p:cNvPr id="32" name="Straight Arrow Connector 31">
            <a:extLst>
              <a:ext uri="{FF2B5EF4-FFF2-40B4-BE49-F238E27FC236}">
                <a16:creationId xmlns:a16="http://schemas.microsoft.com/office/drawing/2014/main" id="{89A49B7F-15E6-4B13-A266-1C0C6B282E44}"/>
              </a:ext>
            </a:extLst>
          </p:cNvPr>
          <p:cNvCxnSpPr>
            <a:cxnSpLocks/>
          </p:cNvCxnSpPr>
          <p:nvPr/>
        </p:nvCxnSpPr>
        <p:spPr>
          <a:xfrm>
            <a:off x="11159613" y="2794063"/>
            <a:ext cx="0" cy="3043321"/>
          </a:xfrm>
          <a:prstGeom prst="straightConnector1">
            <a:avLst/>
          </a:prstGeom>
          <a:ln w="38100">
            <a:solidFill>
              <a:schemeClr val="tx1">
                <a:lumMod val="95000"/>
                <a:lumOff val="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949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04234" y="4196352"/>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pic>
        <p:nvPicPr>
          <p:cNvPr id="3" name="Online Media 2" title="The Classic Bullet Projectile Motion Experiment">
            <a:hlinkClick r:id="" action="ppaction://media"/>
            <a:extLst>
              <a:ext uri="{FF2B5EF4-FFF2-40B4-BE49-F238E27FC236}">
                <a16:creationId xmlns:a16="http://schemas.microsoft.com/office/drawing/2014/main" id="{448EEA13-7B8D-4DFD-A463-24292D41566E}"/>
              </a:ext>
            </a:extLst>
          </p:cNvPr>
          <p:cNvPicPr>
            <a:picLocks noRot="1" noChangeAspect="1"/>
          </p:cNvPicPr>
          <p:nvPr>
            <a:videoFile r:link="rId1"/>
          </p:nvPr>
        </p:nvPicPr>
        <p:blipFill>
          <a:blip r:embed="rId4"/>
          <a:stretch>
            <a:fillRect/>
          </a:stretch>
        </p:blipFill>
        <p:spPr>
          <a:xfrm>
            <a:off x="26972" y="0"/>
            <a:ext cx="12138055" cy="6858000"/>
          </a:xfrm>
          <a:prstGeom prst="rect">
            <a:avLst/>
          </a:prstGeom>
        </p:spPr>
      </p:pic>
    </p:spTree>
    <p:extLst>
      <p:ext uri="{BB962C8B-B14F-4D97-AF65-F5344CB8AC3E}">
        <p14:creationId xmlns:p14="http://schemas.microsoft.com/office/powerpoint/2010/main" val="177824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3">
            <a:extLst>
              <a:ext uri="{FF2B5EF4-FFF2-40B4-BE49-F238E27FC236}">
                <a16:creationId xmlns:a16="http://schemas.microsoft.com/office/drawing/2014/main" id="{BEBE968B-FDFB-4A5D-921B-EFD72782597C}"/>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AU" b="0" dirty="0"/>
              <a:t>Draw a diagram</a:t>
            </a:r>
          </a:p>
          <a:p>
            <a:pPr marL="514350" indent="-514350">
              <a:buFont typeface="+mj-lt"/>
              <a:buAutoNum type="arabicPeriod"/>
            </a:pPr>
            <a:r>
              <a:rPr lang="en-AU" b="0" dirty="0"/>
              <a:t>Write out the vertical and horizontal information separately</a:t>
            </a:r>
          </a:p>
          <a:p>
            <a:pPr marL="514350" indent="-514350">
              <a:buFont typeface="+mj-lt"/>
              <a:buAutoNum type="arabicPeriod"/>
            </a:pPr>
            <a:r>
              <a:rPr lang="en-AU" b="0" dirty="0"/>
              <a:t>Horizontal:</a:t>
            </a:r>
          </a:p>
          <a:p>
            <a:pPr marL="1028700" lvl="1" indent="-342900"/>
            <a:r>
              <a:rPr lang="en-AU" dirty="0"/>
              <a:t>horizontal projectile velocity is constant</a:t>
            </a:r>
          </a:p>
          <a:p>
            <a:pPr marL="1028700" lvl="1" indent="-342900"/>
            <a:r>
              <a:rPr lang="en-AU" i="1" dirty="0"/>
              <a:t>v</a:t>
            </a:r>
            <a:r>
              <a:rPr lang="en-AU" i="1" baseline="-25000" dirty="0"/>
              <a:t>av</a:t>
            </a:r>
            <a:r>
              <a:rPr lang="en-AU" i="1" dirty="0"/>
              <a:t> </a:t>
            </a:r>
            <a:r>
              <a:rPr lang="en-AU" dirty="0"/>
              <a:t>= s/t</a:t>
            </a:r>
          </a:p>
          <a:p>
            <a:pPr marL="514350" indent="-514350">
              <a:buFont typeface="+mj-lt"/>
              <a:buAutoNum type="arabicPeriod"/>
            </a:pPr>
            <a:r>
              <a:rPr lang="en-AU" b="0" dirty="0"/>
              <a:t>Vertical:</a:t>
            </a:r>
          </a:p>
          <a:p>
            <a:pPr marL="1143000" lvl="1" indent="-457200"/>
            <a:r>
              <a:rPr lang="en-AU" b="0" dirty="0"/>
              <a:t>constant acceleration downwards of 9.80 ms</a:t>
            </a:r>
            <a:r>
              <a:rPr lang="en-AU" b="0" baseline="30000" dirty="0"/>
              <a:t>-2</a:t>
            </a:r>
            <a:endParaRPr lang="en-AU" b="0" dirty="0"/>
          </a:p>
          <a:p>
            <a:pPr marL="1143000" lvl="1" indent="-457200"/>
            <a:r>
              <a:rPr lang="en-AU" b="0" dirty="0"/>
              <a:t>use equations for constant acceleration</a:t>
            </a:r>
          </a:p>
          <a:p>
            <a:pPr marL="514350" indent="-514350">
              <a:buFont typeface="+mj-lt"/>
              <a:buAutoNum type="arabicPeriod" startAt="5"/>
            </a:pPr>
            <a:r>
              <a:rPr lang="en-AU" b="0" dirty="0"/>
              <a:t>Clearly specify and state which direction is positive and negative</a:t>
            </a:r>
          </a:p>
        </p:txBody>
      </p:sp>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Tips</a:t>
            </a:r>
          </a:p>
        </p:txBody>
      </p:sp>
    </p:spTree>
    <p:extLst>
      <p:ext uri="{BB962C8B-B14F-4D97-AF65-F5344CB8AC3E}">
        <p14:creationId xmlns:p14="http://schemas.microsoft.com/office/powerpoint/2010/main" val="518182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Worked Example</a:t>
            </a:r>
          </a:p>
        </p:txBody>
      </p:sp>
      <p:sp>
        <p:nvSpPr>
          <p:cNvPr id="5" name="Text Placeholder 3">
            <a:extLst>
              <a:ext uri="{FF2B5EF4-FFF2-40B4-BE49-F238E27FC236}">
                <a16:creationId xmlns:a16="http://schemas.microsoft.com/office/drawing/2014/main" id="{9641A26E-C2FD-4C2F-AC24-C5F5BE94ED86}"/>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A 10kg cannonball is shot horizontally from the battlements, 40m off the ground, at a speed of 120 ms</a:t>
            </a:r>
            <a:r>
              <a:rPr lang="en-AU" sz="2400" b="0" baseline="30000" dirty="0"/>
              <a:t>-1</a:t>
            </a:r>
            <a:r>
              <a:rPr lang="en-AU" sz="2400" b="0" dirty="0"/>
              <a:t>.</a:t>
            </a:r>
          </a:p>
          <a:p>
            <a:pPr marL="514350" indent="-514350">
              <a:buAutoNum type="alphaLcParenR"/>
            </a:pPr>
            <a:r>
              <a:rPr lang="en-AU" sz="2400" b="0" dirty="0"/>
              <a:t>Calculate the time that the cannonball takes to land</a:t>
            </a:r>
          </a:p>
          <a:p>
            <a:pPr marL="514350" indent="-514350">
              <a:buAutoNum type="alphaLcParenR"/>
            </a:pPr>
            <a:r>
              <a:rPr lang="en-AU" sz="2400" b="0" dirty="0"/>
              <a:t>Calculate the horizontal distance the cannonball travelled</a:t>
            </a:r>
          </a:p>
          <a:p>
            <a:pPr marL="514350" indent="-514350">
              <a:buAutoNum type="alphaLcParenR"/>
            </a:pPr>
            <a:r>
              <a:rPr lang="en-AU" sz="2400" b="0" dirty="0"/>
              <a:t>Calculate the velocity of the cannonball as it lands.</a:t>
            </a:r>
          </a:p>
          <a:p>
            <a:endParaRPr lang="en-AU" b="0" dirty="0"/>
          </a:p>
        </p:txBody>
      </p:sp>
    </p:spTree>
    <p:extLst>
      <p:ext uri="{BB962C8B-B14F-4D97-AF65-F5344CB8AC3E}">
        <p14:creationId xmlns:p14="http://schemas.microsoft.com/office/powerpoint/2010/main" val="1118963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Worked Example</a:t>
            </a:r>
          </a:p>
        </p:txBody>
      </p:sp>
      <p:sp>
        <p:nvSpPr>
          <p:cNvPr id="5" name="Text Placeholder 3">
            <a:extLst>
              <a:ext uri="{FF2B5EF4-FFF2-40B4-BE49-F238E27FC236}">
                <a16:creationId xmlns:a16="http://schemas.microsoft.com/office/drawing/2014/main" id="{9641A26E-C2FD-4C2F-AC24-C5F5BE94ED86}"/>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A 10kg cannonball is shot horizontally from the battlements, 40m off the ground, at a speed of 120 ms</a:t>
            </a:r>
            <a:r>
              <a:rPr lang="en-AU" sz="2400" b="0" baseline="30000" dirty="0"/>
              <a:t>-1</a:t>
            </a:r>
            <a:r>
              <a:rPr lang="en-AU" sz="2400" b="0" dirty="0"/>
              <a:t>.</a:t>
            </a:r>
          </a:p>
          <a:p>
            <a:pPr marL="514350" indent="-514350">
              <a:buAutoNum type="alphaLcParenR"/>
            </a:pPr>
            <a:r>
              <a:rPr lang="en-AU" sz="2400" b="0" dirty="0"/>
              <a:t>Calculate the time that the cannonball takes to land</a:t>
            </a:r>
          </a:p>
          <a:p>
            <a:endParaRPr lang="en-AU" b="0" dirty="0"/>
          </a:p>
        </p:txBody>
      </p:sp>
    </p:spTree>
    <p:extLst>
      <p:ext uri="{BB962C8B-B14F-4D97-AF65-F5344CB8AC3E}">
        <p14:creationId xmlns:p14="http://schemas.microsoft.com/office/powerpoint/2010/main" val="3000277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Worked Example</a:t>
            </a:r>
          </a:p>
        </p:txBody>
      </p:sp>
      <p:sp>
        <p:nvSpPr>
          <p:cNvPr id="5" name="Text Placeholder 3">
            <a:extLst>
              <a:ext uri="{FF2B5EF4-FFF2-40B4-BE49-F238E27FC236}">
                <a16:creationId xmlns:a16="http://schemas.microsoft.com/office/drawing/2014/main" id="{9641A26E-C2FD-4C2F-AC24-C5F5BE94ED86}"/>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A 10kg cannonball is shot horizontally from the battlements, 40m off the ground, at a speed of 120 ms</a:t>
            </a:r>
            <a:r>
              <a:rPr lang="en-AU" sz="2400" b="0" baseline="30000" dirty="0"/>
              <a:t>-1</a:t>
            </a:r>
            <a:r>
              <a:rPr lang="en-AU" sz="2400" b="0" dirty="0"/>
              <a:t>.</a:t>
            </a:r>
          </a:p>
          <a:p>
            <a:pPr marL="514350" indent="-514350">
              <a:buFont typeface="+mj-lt"/>
              <a:buAutoNum type="alphaLcParenR" startAt="2"/>
            </a:pPr>
            <a:r>
              <a:rPr lang="en-AU" sz="2400" b="0" dirty="0"/>
              <a:t>Calculate the horizontal distance the cannonball travelled</a:t>
            </a:r>
          </a:p>
          <a:p>
            <a:endParaRPr lang="en-AU" b="0" dirty="0"/>
          </a:p>
        </p:txBody>
      </p:sp>
    </p:spTree>
    <p:extLst>
      <p:ext uri="{BB962C8B-B14F-4D97-AF65-F5344CB8AC3E}">
        <p14:creationId xmlns:p14="http://schemas.microsoft.com/office/powerpoint/2010/main" val="345627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Worked Example</a:t>
            </a:r>
          </a:p>
        </p:txBody>
      </p:sp>
      <p:sp>
        <p:nvSpPr>
          <p:cNvPr id="5" name="Text Placeholder 3">
            <a:extLst>
              <a:ext uri="{FF2B5EF4-FFF2-40B4-BE49-F238E27FC236}">
                <a16:creationId xmlns:a16="http://schemas.microsoft.com/office/drawing/2014/main" id="{9641A26E-C2FD-4C2F-AC24-C5F5BE94ED86}"/>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A 10kg cannonball is shot horizontally from the battlements, 40m off the ground, at a speed of 120 ms</a:t>
            </a:r>
            <a:r>
              <a:rPr lang="en-AU" sz="2400" b="0" baseline="30000" dirty="0"/>
              <a:t>-1</a:t>
            </a:r>
            <a:r>
              <a:rPr lang="en-AU" sz="2400" b="0" dirty="0"/>
              <a:t>.</a:t>
            </a:r>
          </a:p>
          <a:p>
            <a:pPr marL="514350" indent="-514350">
              <a:buFont typeface="+mj-lt"/>
              <a:buAutoNum type="alphaLcParenR" startAt="3"/>
            </a:pPr>
            <a:r>
              <a:rPr lang="en-AU" sz="2400" b="0" dirty="0"/>
              <a:t>Calculate the velocity of the cannonball as it lands</a:t>
            </a:r>
          </a:p>
        </p:txBody>
      </p:sp>
    </p:spTree>
    <p:extLst>
      <p:ext uri="{BB962C8B-B14F-4D97-AF65-F5344CB8AC3E}">
        <p14:creationId xmlns:p14="http://schemas.microsoft.com/office/powerpoint/2010/main" val="3537864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Your turn</a:t>
            </a:r>
          </a:p>
        </p:txBody>
      </p:sp>
      <p:sp>
        <p:nvSpPr>
          <p:cNvPr id="5" name="Text Placeholder 3">
            <a:extLst>
              <a:ext uri="{FF2B5EF4-FFF2-40B4-BE49-F238E27FC236}">
                <a16:creationId xmlns:a16="http://schemas.microsoft.com/office/drawing/2014/main" id="{9641A26E-C2FD-4C2F-AC24-C5F5BE94ED86}"/>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A golf ball of mass of 100g is hit horizontally from the top of a 20.0m high cliff with speed of 20.0 m/s. Ignore air resistance.</a:t>
            </a:r>
          </a:p>
          <a:p>
            <a:pPr marL="514350" indent="-514350">
              <a:buAutoNum type="alphaLcParenR"/>
            </a:pPr>
            <a:r>
              <a:rPr lang="en-AU" sz="2400" b="0" dirty="0"/>
              <a:t>Calculate the time that the ball takes to land</a:t>
            </a:r>
          </a:p>
          <a:p>
            <a:pPr marL="514350" indent="-514350">
              <a:buAutoNum type="alphaLcParenR"/>
            </a:pPr>
            <a:r>
              <a:rPr lang="en-AU" sz="2400" b="0" dirty="0"/>
              <a:t>Calculate the horizontal distance the ball travelled</a:t>
            </a:r>
          </a:p>
          <a:p>
            <a:pPr marL="514350" indent="-514350">
              <a:buAutoNum type="alphaLcParenR"/>
            </a:pPr>
            <a:r>
              <a:rPr lang="en-AU" sz="2400" b="0" dirty="0"/>
              <a:t>Calculate the velocity of the ball as it lands.</a:t>
            </a:r>
          </a:p>
          <a:p>
            <a:endParaRPr lang="en-AU" b="0" dirty="0"/>
          </a:p>
        </p:txBody>
      </p:sp>
    </p:spTree>
    <p:extLst>
      <p:ext uri="{BB962C8B-B14F-4D97-AF65-F5344CB8AC3E}">
        <p14:creationId xmlns:p14="http://schemas.microsoft.com/office/powerpoint/2010/main" val="1570211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Your turn</a:t>
            </a:r>
          </a:p>
        </p:txBody>
      </p:sp>
      <p:sp>
        <p:nvSpPr>
          <p:cNvPr id="5" name="Text Placeholder 3">
            <a:extLst>
              <a:ext uri="{FF2B5EF4-FFF2-40B4-BE49-F238E27FC236}">
                <a16:creationId xmlns:a16="http://schemas.microsoft.com/office/drawing/2014/main" id="{9641A26E-C2FD-4C2F-AC24-C5F5BE94ED86}"/>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A bomber is travelling horizontally at 300 ms</a:t>
            </a:r>
            <a:r>
              <a:rPr lang="en-AU" sz="2400" b="0" baseline="30000" dirty="0"/>
              <a:t>-1</a:t>
            </a:r>
            <a:r>
              <a:rPr lang="en-AU" sz="2400" b="0" dirty="0"/>
              <a:t> at an altitude of 2.50 km towards its designated ground target. To hit the target, how far ahead should the target be when the bomb is dropped? (ignore air resistance)</a:t>
            </a:r>
          </a:p>
          <a:p>
            <a:endParaRPr lang="en-AU" b="0" dirty="0"/>
          </a:p>
        </p:txBody>
      </p:sp>
      <p:pic>
        <p:nvPicPr>
          <p:cNvPr id="7" name="Picture 6">
            <a:extLst>
              <a:ext uri="{FF2B5EF4-FFF2-40B4-BE49-F238E27FC236}">
                <a16:creationId xmlns:a16="http://schemas.microsoft.com/office/drawing/2014/main" id="{AC92EE1D-1389-4458-BA3E-6E55737BB592}"/>
              </a:ext>
            </a:extLst>
          </p:cNvPr>
          <p:cNvPicPr>
            <a:picLocks noChangeAspect="1"/>
          </p:cNvPicPr>
          <p:nvPr/>
        </p:nvPicPr>
        <p:blipFill rotWithShape="1">
          <a:blip r:embed="rId3"/>
          <a:srcRect b="11567"/>
          <a:stretch/>
        </p:blipFill>
        <p:spPr>
          <a:xfrm flipH="1">
            <a:off x="137652" y="2116546"/>
            <a:ext cx="2129146" cy="1383738"/>
          </a:xfrm>
          <a:prstGeom prst="rect">
            <a:avLst/>
          </a:prstGeom>
        </p:spPr>
      </p:pic>
      <p:sp>
        <p:nvSpPr>
          <p:cNvPr id="8" name="Oval 7">
            <a:extLst>
              <a:ext uri="{FF2B5EF4-FFF2-40B4-BE49-F238E27FC236}">
                <a16:creationId xmlns:a16="http://schemas.microsoft.com/office/drawing/2014/main" id="{A746F37D-5358-4FD4-BBAB-02961B0C599A}"/>
              </a:ext>
            </a:extLst>
          </p:cNvPr>
          <p:cNvSpPr/>
          <p:nvPr/>
        </p:nvSpPr>
        <p:spPr>
          <a:xfrm>
            <a:off x="6755298" y="6159909"/>
            <a:ext cx="3489914" cy="28513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EDBE641E-C39F-43A5-859B-1DC4FB78AFFC}"/>
              </a:ext>
            </a:extLst>
          </p:cNvPr>
          <p:cNvSpPr/>
          <p:nvPr/>
        </p:nvSpPr>
        <p:spPr>
          <a:xfrm>
            <a:off x="7334864" y="6258231"/>
            <a:ext cx="2300748" cy="88491"/>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333318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109"/>
            <a:ext cx="3779478" cy="319722"/>
          </a:xfrm>
        </p:spPr>
        <p:txBody>
          <a:bodyPr/>
          <a:lstStyle/>
          <a:p>
            <a:r>
              <a:rPr lang="en-AU" dirty="0"/>
              <a:t>Impact of air resistance</a:t>
            </a:r>
          </a:p>
        </p:txBody>
      </p:sp>
      <p:sp>
        <p:nvSpPr>
          <p:cNvPr id="10" name="Text Placeholder 3">
            <a:extLst>
              <a:ext uri="{FF2B5EF4-FFF2-40B4-BE49-F238E27FC236}">
                <a16:creationId xmlns:a16="http://schemas.microsoft.com/office/drawing/2014/main" id="{E83483B6-4A52-4455-9828-956B65FDA907}"/>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As an object moves through the air, it encounters some degree of air resistance. Air resistance is a force caused by the air that opposes the motion of an object. It is the result of collisions of the object’s leading surface with air molecules.</a:t>
            </a:r>
          </a:p>
          <a:p>
            <a:pPr marL="342900" indent="-342900">
              <a:buFont typeface="Arial" panose="020B0604020202020204" pitchFamily="34" charset="0"/>
              <a:buChar char="•"/>
            </a:pPr>
            <a:endParaRPr lang="en-AU" sz="2400" b="0" dirty="0"/>
          </a:p>
          <a:p>
            <a:endParaRPr lang="en-AU" sz="2400" b="0" dirty="0"/>
          </a:p>
          <a:p>
            <a:endParaRPr lang="en-AU" b="0" dirty="0"/>
          </a:p>
        </p:txBody>
      </p:sp>
      <p:sp>
        <p:nvSpPr>
          <p:cNvPr id="14" name="TextBox 13">
            <a:extLst>
              <a:ext uri="{FF2B5EF4-FFF2-40B4-BE49-F238E27FC236}">
                <a16:creationId xmlns:a16="http://schemas.microsoft.com/office/drawing/2014/main" id="{8817ADD1-582A-494C-B9ED-EF4CFB0C8480}"/>
              </a:ext>
            </a:extLst>
          </p:cNvPr>
          <p:cNvSpPr txBox="1"/>
          <p:nvPr/>
        </p:nvSpPr>
        <p:spPr>
          <a:xfrm>
            <a:off x="295275" y="3270169"/>
            <a:ext cx="7236235" cy="3026598"/>
          </a:xfrm>
          <a:prstGeom prst="rect">
            <a:avLst/>
          </a:prstGeom>
          <a:noFill/>
          <a:ln>
            <a:noFill/>
          </a:ln>
        </p:spPr>
        <p:txBody>
          <a:bodyPr wrap="square">
            <a:spAutoFit/>
          </a:bodyPr>
          <a:lstStyle/>
          <a:p>
            <a:r>
              <a:rPr lang="en-AU" sz="2800" b="0" dirty="0"/>
              <a:t>Air resistance is a function of:</a:t>
            </a:r>
          </a:p>
          <a:p>
            <a:pPr marL="342900" indent="-342900">
              <a:lnSpc>
                <a:spcPct val="150000"/>
              </a:lnSpc>
              <a:buFont typeface="Arial" panose="020B0604020202020204" pitchFamily="34" charset="0"/>
              <a:buChar char="•"/>
            </a:pPr>
            <a:r>
              <a:rPr lang="en-AU" sz="2800" dirty="0"/>
              <a:t>The speed of the object</a:t>
            </a:r>
          </a:p>
          <a:p>
            <a:pPr marL="342900" indent="-342900">
              <a:lnSpc>
                <a:spcPct val="150000"/>
              </a:lnSpc>
              <a:buFont typeface="Arial" panose="020B0604020202020204" pitchFamily="34" charset="0"/>
              <a:buChar char="•"/>
            </a:pPr>
            <a:r>
              <a:rPr lang="en-AU" sz="2800" b="0" dirty="0"/>
              <a:t>The cross-sectional area of an object</a:t>
            </a:r>
          </a:p>
          <a:p>
            <a:pPr marL="342900" indent="-342900">
              <a:lnSpc>
                <a:spcPct val="150000"/>
              </a:lnSpc>
              <a:buFont typeface="Arial" panose="020B0604020202020204" pitchFamily="34" charset="0"/>
              <a:buChar char="•"/>
            </a:pPr>
            <a:r>
              <a:rPr lang="en-AU" sz="2800" dirty="0"/>
              <a:t>The aerodynamics of an object</a:t>
            </a:r>
          </a:p>
          <a:p>
            <a:pPr marL="342900" indent="-342900">
              <a:lnSpc>
                <a:spcPct val="150000"/>
              </a:lnSpc>
              <a:buFont typeface="Arial" panose="020B0604020202020204" pitchFamily="34" charset="0"/>
              <a:buChar char="•"/>
            </a:pPr>
            <a:r>
              <a:rPr lang="en-AU" sz="2800" b="0" dirty="0"/>
              <a:t>The density of the air</a:t>
            </a:r>
          </a:p>
        </p:txBody>
      </p:sp>
      <p:sp>
        <p:nvSpPr>
          <p:cNvPr id="15" name="TextBox 14">
            <a:extLst>
              <a:ext uri="{FF2B5EF4-FFF2-40B4-BE49-F238E27FC236}">
                <a16:creationId xmlns:a16="http://schemas.microsoft.com/office/drawing/2014/main" id="{7AECFFBE-DD40-422B-9ED1-76E11620713B}"/>
              </a:ext>
            </a:extLst>
          </p:cNvPr>
          <p:cNvSpPr txBox="1"/>
          <p:nvPr/>
        </p:nvSpPr>
        <p:spPr>
          <a:xfrm>
            <a:off x="7747145" y="3167390"/>
            <a:ext cx="4444855" cy="523220"/>
          </a:xfrm>
          <a:prstGeom prst="rect">
            <a:avLst/>
          </a:prstGeom>
          <a:noFill/>
          <a:ln>
            <a:noFill/>
          </a:ln>
        </p:spPr>
        <p:txBody>
          <a:bodyPr wrap="square">
            <a:spAutoFit/>
          </a:bodyPr>
          <a:lstStyle/>
          <a:p>
            <a:r>
              <a:rPr lang="en-AU" sz="2800" b="1" dirty="0"/>
              <a:t>Impact on air resistance</a:t>
            </a:r>
          </a:p>
        </p:txBody>
      </p:sp>
      <p:grpSp>
        <p:nvGrpSpPr>
          <p:cNvPr id="3" name="Group 2">
            <a:extLst>
              <a:ext uri="{FF2B5EF4-FFF2-40B4-BE49-F238E27FC236}">
                <a16:creationId xmlns:a16="http://schemas.microsoft.com/office/drawing/2014/main" id="{FE0001E9-1583-3BF9-B83E-F5B5E0D36D40}"/>
              </a:ext>
            </a:extLst>
          </p:cNvPr>
          <p:cNvGrpSpPr/>
          <p:nvPr/>
        </p:nvGrpSpPr>
        <p:grpSpPr>
          <a:xfrm>
            <a:off x="8318325" y="3822883"/>
            <a:ext cx="3342733" cy="2487940"/>
            <a:chOff x="8318325" y="3822883"/>
            <a:chExt cx="3342733" cy="2487940"/>
          </a:xfrm>
        </p:grpSpPr>
        <p:sp>
          <p:nvSpPr>
            <p:cNvPr id="17" name="Arrow: Up 16">
              <a:extLst>
                <a:ext uri="{FF2B5EF4-FFF2-40B4-BE49-F238E27FC236}">
                  <a16:creationId xmlns:a16="http://schemas.microsoft.com/office/drawing/2014/main" id="{983BD555-C2F3-4D98-B4AE-AC5530B69768}"/>
                </a:ext>
              </a:extLst>
            </p:cNvPr>
            <p:cNvSpPr/>
            <p:nvPr/>
          </p:nvSpPr>
          <p:spPr>
            <a:xfrm>
              <a:off x="8318325" y="3822883"/>
              <a:ext cx="314397" cy="389082"/>
            </a:xfrm>
            <a:prstGeom prst="upArrow">
              <a:avLst/>
            </a:prstGeom>
            <a:solidFill>
              <a:srgbClr val="159B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Arrow: Up 18">
              <a:extLst>
                <a:ext uri="{FF2B5EF4-FFF2-40B4-BE49-F238E27FC236}">
                  <a16:creationId xmlns:a16="http://schemas.microsoft.com/office/drawing/2014/main" id="{77D7977F-AA67-4462-8FF4-946F99B34126}"/>
                </a:ext>
              </a:extLst>
            </p:cNvPr>
            <p:cNvSpPr/>
            <p:nvPr/>
          </p:nvSpPr>
          <p:spPr>
            <a:xfrm>
              <a:off x="8338569" y="4482932"/>
              <a:ext cx="314397" cy="389082"/>
            </a:xfrm>
            <a:prstGeom prst="upArrow">
              <a:avLst/>
            </a:prstGeom>
            <a:solidFill>
              <a:srgbClr val="159B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Arrow: Up 19">
              <a:extLst>
                <a:ext uri="{FF2B5EF4-FFF2-40B4-BE49-F238E27FC236}">
                  <a16:creationId xmlns:a16="http://schemas.microsoft.com/office/drawing/2014/main" id="{DE46B41A-7273-4867-94BF-4D378C656EF9}"/>
                </a:ext>
              </a:extLst>
            </p:cNvPr>
            <p:cNvSpPr/>
            <p:nvPr/>
          </p:nvSpPr>
          <p:spPr>
            <a:xfrm rot="10800000">
              <a:off x="8338570" y="5214960"/>
              <a:ext cx="314397" cy="389082"/>
            </a:xfrm>
            <a:prstGeom prst="up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Arrow: Up 20">
              <a:extLst>
                <a:ext uri="{FF2B5EF4-FFF2-40B4-BE49-F238E27FC236}">
                  <a16:creationId xmlns:a16="http://schemas.microsoft.com/office/drawing/2014/main" id="{87012FE3-1CAA-42B9-91A1-FE6716F485CA}"/>
                </a:ext>
              </a:extLst>
            </p:cNvPr>
            <p:cNvSpPr/>
            <p:nvPr/>
          </p:nvSpPr>
          <p:spPr>
            <a:xfrm>
              <a:off x="8338571" y="5850314"/>
              <a:ext cx="314397" cy="389082"/>
            </a:xfrm>
            <a:prstGeom prst="upArrow">
              <a:avLst/>
            </a:prstGeom>
            <a:solidFill>
              <a:srgbClr val="159B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12741C28-ED05-4382-9781-E5159AC60104}"/>
                </a:ext>
              </a:extLst>
            </p:cNvPr>
            <p:cNvSpPr txBox="1"/>
            <p:nvPr/>
          </p:nvSpPr>
          <p:spPr>
            <a:xfrm>
              <a:off x="8780206" y="3822883"/>
              <a:ext cx="2880852" cy="523220"/>
            </a:xfrm>
            <a:prstGeom prst="rect">
              <a:avLst/>
            </a:prstGeom>
            <a:noFill/>
            <a:ln>
              <a:noFill/>
            </a:ln>
          </p:spPr>
          <p:txBody>
            <a:bodyPr wrap="none" rtlCol="0" anchor="t" anchorCtr="0">
              <a:normAutofit/>
            </a:bodyPr>
            <a:lstStyle/>
            <a:p>
              <a:pPr algn="l"/>
              <a:r>
                <a:rPr lang="en-AU" sz="2400" dirty="0">
                  <a:latin typeface="Century Gothic" panose="020B0502020202020204" pitchFamily="34" charset="0"/>
                  <a:cs typeface="Futura Medium" panose="020B0602020204020303" pitchFamily="34" charset="-79"/>
                </a:rPr>
                <a:t>stronger</a:t>
              </a:r>
            </a:p>
          </p:txBody>
        </p:sp>
        <p:sp>
          <p:nvSpPr>
            <p:cNvPr id="23" name="TextBox 22">
              <a:extLst>
                <a:ext uri="{FF2B5EF4-FFF2-40B4-BE49-F238E27FC236}">
                  <a16:creationId xmlns:a16="http://schemas.microsoft.com/office/drawing/2014/main" id="{069555E5-3429-4BAB-A432-10A0E9DEEC56}"/>
                </a:ext>
              </a:extLst>
            </p:cNvPr>
            <p:cNvSpPr txBox="1"/>
            <p:nvPr/>
          </p:nvSpPr>
          <p:spPr>
            <a:xfrm>
              <a:off x="8780206" y="4415863"/>
              <a:ext cx="2880852" cy="523220"/>
            </a:xfrm>
            <a:prstGeom prst="rect">
              <a:avLst/>
            </a:prstGeom>
            <a:noFill/>
            <a:ln>
              <a:noFill/>
            </a:ln>
          </p:spPr>
          <p:txBody>
            <a:bodyPr wrap="none" rtlCol="0" anchor="t" anchorCtr="0">
              <a:normAutofit/>
            </a:bodyPr>
            <a:lstStyle/>
            <a:p>
              <a:pPr algn="l"/>
              <a:r>
                <a:rPr lang="en-AU" sz="2400" dirty="0">
                  <a:latin typeface="Century Gothic" panose="020B0502020202020204" pitchFamily="34" charset="0"/>
                  <a:cs typeface="Futura Medium" panose="020B0602020204020303" pitchFamily="34" charset="-79"/>
                </a:rPr>
                <a:t>stronger</a:t>
              </a:r>
            </a:p>
          </p:txBody>
        </p:sp>
        <p:sp>
          <p:nvSpPr>
            <p:cNvPr id="24" name="TextBox 23">
              <a:extLst>
                <a:ext uri="{FF2B5EF4-FFF2-40B4-BE49-F238E27FC236}">
                  <a16:creationId xmlns:a16="http://schemas.microsoft.com/office/drawing/2014/main" id="{7FD61E9F-EFAA-4F07-8337-CF31BBEA4581}"/>
                </a:ext>
              </a:extLst>
            </p:cNvPr>
            <p:cNvSpPr txBox="1"/>
            <p:nvPr/>
          </p:nvSpPr>
          <p:spPr>
            <a:xfrm>
              <a:off x="8780206" y="5787603"/>
              <a:ext cx="2880852" cy="523220"/>
            </a:xfrm>
            <a:prstGeom prst="rect">
              <a:avLst/>
            </a:prstGeom>
            <a:noFill/>
            <a:ln>
              <a:noFill/>
            </a:ln>
          </p:spPr>
          <p:txBody>
            <a:bodyPr wrap="none" rtlCol="0" anchor="t" anchorCtr="0">
              <a:normAutofit/>
            </a:bodyPr>
            <a:lstStyle/>
            <a:p>
              <a:pPr algn="l"/>
              <a:r>
                <a:rPr lang="en-AU" sz="2400" dirty="0">
                  <a:latin typeface="Century Gothic" panose="020B0502020202020204" pitchFamily="34" charset="0"/>
                  <a:cs typeface="Futura Medium" panose="020B0602020204020303" pitchFamily="34" charset="-79"/>
                </a:rPr>
                <a:t>stronger</a:t>
              </a:r>
            </a:p>
          </p:txBody>
        </p:sp>
        <p:sp>
          <p:nvSpPr>
            <p:cNvPr id="25" name="TextBox 24">
              <a:extLst>
                <a:ext uri="{FF2B5EF4-FFF2-40B4-BE49-F238E27FC236}">
                  <a16:creationId xmlns:a16="http://schemas.microsoft.com/office/drawing/2014/main" id="{6F3F290A-A460-4687-B8E6-B76D2ED06FAD}"/>
                </a:ext>
              </a:extLst>
            </p:cNvPr>
            <p:cNvSpPr txBox="1"/>
            <p:nvPr/>
          </p:nvSpPr>
          <p:spPr>
            <a:xfrm>
              <a:off x="8780206" y="5147891"/>
              <a:ext cx="2880852" cy="523220"/>
            </a:xfrm>
            <a:prstGeom prst="rect">
              <a:avLst/>
            </a:prstGeom>
            <a:noFill/>
            <a:ln>
              <a:noFill/>
            </a:ln>
          </p:spPr>
          <p:txBody>
            <a:bodyPr wrap="none" rtlCol="0" anchor="t" anchorCtr="0">
              <a:normAutofit/>
            </a:bodyPr>
            <a:lstStyle/>
            <a:p>
              <a:pPr algn="l"/>
              <a:r>
                <a:rPr lang="en-AU" sz="2400" dirty="0">
                  <a:latin typeface="Century Gothic" panose="020B0502020202020204" pitchFamily="34" charset="0"/>
                  <a:cs typeface="Futura Medium" panose="020B0602020204020303" pitchFamily="34" charset="-79"/>
                </a:rPr>
                <a:t>weaker</a:t>
              </a:r>
            </a:p>
          </p:txBody>
        </p:sp>
      </p:grpSp>
    </p:spTree>
    <p:extLst>
      <p:ext uri="{BB962C8B-B14F-4D97-AF65-F5344CB8AC3E}">
        <p14:creationId xmlns:p14="http://schemas.microsoft.com/office/powerpoint/2010/main" val="3144297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Impact of air resistance</a:t>
            </a:r>
          </a:p>
        </p:txBody>
      </p:sp>
      <p:pic>
        <p:nvPicPr>
          <p:cNvPr id="3" name="Picture 2">
            <a:extLst>
              <a:ext uri="{FF2B5EF4-FFF2-40B4-BE49-F238E27FC236}">
                <a16:creationId xmlns:a16="http://schemas.microsoft.com/office/drawing/2014/main" id="{C46D2854-0673-4B65-8B33-1C836C073FC9}"/>
              </a:ext>
            </a:extLst>
          </p:cNvPr>
          <p:cNvPicPr>
            <a:picLocks noChangeAspect="1"/>
          </p:cNvPicPr>
          <p:nvPr/>
        </p:nvPicPr>
        <p:blipFill rotWithShape="1">
          <a:blip r:embed="rId3"/>
          <a:srcRect l="4026" t="16399" r="11626" b="18224"/>
          <a:stretch/>
        </p:blipFill>
        <p:spPr>
          <a:xfrm>
            <a:off x="6203433" y="2536720"/>
            <a:ext cx="5869121" cy="3411795"/>
          </a:xfrm>
          <a:prstGeom prst="rect">
            <a:avLst/>
          </a:prstGeom>
        </p:spPr>
      </p:pic>
      <p:sp>
        <p:nvSpPr>
          <p:cNvPr id="10" name="Text Placeholder 3">
            <a:extLst>
              <a:ext uri="{FF2B5EF4-FFF2-40B4-BE49-F238E27FC236}">
                <a16:creationId xmlns:a16="http://schemas.microsoft.com/office/drawing/2014/main" id="{E83483B6-4A52-4455-9828-956B65FDA907}"/>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If air resistance is ignored, an object will follow a parabolic path.</a:t>
            </a:r>
          </a:p>
          <a:p>
            <a:r>
              <a:rPr lang="en-AU" sz="2400" b="0" dirty="0"/>
              <a:t>With air resistance, the object will fall more slowly and over a shorter path.</a:t>
            </a:r>
          </a:p>
          <a:p>
            <a:pPr marL="342900" indent="-342900">
              <a:buFont typeface="Arial" panose="020B0604020202020204" pitchFamily="34" charset="0"/>
              <a:buChar char="•"/>
            </a:pPr>
            <a:endParaRPr lang="en-AU" sz="2400" b="0" dirty="0"/>
          </a:p>
          <a:p>
            <a:endParaRPr lang="en-AU" sz="2400" b="0" dirty="0"/>
          </a:p>
          <a:p>
            <a:endParaRPr lang="en-AU" b="0" dirty="0"/>
          </a:p>
        </p:txBody>
      </p:sp>
      <p:pic>
        <p:nvPicPr>
          <p:cNvPr id="6" name="Picture 5" descr="A picture containing chart&#10;&#10;Description automatically generated">
            <a:extLst>
              <a:ext uri="{FF2B5EF4-FFF2-40B4-BE49-F238E27FC236}">
                <a16:creationId xmlns:a16="http://schemas.microsoft.com/office/drawing/2014/main" id="{6668F35E-1C42-4746-A46A-E4F8CDEC97ED}"/>
              </a:ext>
            </a:extLst>
          </p:cNvPr>
          <p:cNvPicPr>
            <a:picLocks noChangeAspect="1"/>
          </p:cNvPicPr>
          <p:nvPr/>
        </p:nvPicPr>
        <p:blipFill rotWithShape="1">
          <a:blip r:embed="rId4"/>
          <a:srcRect l="7420" t="19837" r="31990" b="15939"/>
          <a:stretch/>
        </p:blipFill>
        <p:spPr>
          <a:xfrm>
            <a:off x="226880" y="2536721"/>
            <a:ext cx="5722374" cy="3411795"/>
          </a:xfrm>
          <a:prstGeom prst="rect">
            <a:avLst/>
          </a:prstGeom>
        </p:spPr>
      </p:pic>
    </p:spTree>
    <p:extLst>
      <p:ext uri="{BB962C8B-B14F-4D97-AF65-F5344CB8AC3E}">
        <p14:creationId xmlns:p14="http://schemas.microsoft.com/office/powerpoint/2010/main" val="2673729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the motion of projectiles launched horizontally</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b="0" dirty="0"/>
              <a:t>For projectiles:</a:t>
            </a:r>
          </a:p>
          <a:p>
            <a:pPr marL="457200" indent="-457200">
              <a:buFont typeface="Arial" panose="020B0604020202020204" pitchFamily="34" charset="0"/>
              <a:buChar char="•"/>
            </a:pPr>
            <a:r>
              <a:rPr lang="en-AU" sz="1800" b="0" dirty="0"/>
              <a:t>I can draw a free body diagram</a:t>
            </a:r>
          </a:p>
          <a:p>
            <a:pPr marL="457200" indent="-457200">
              <a:buFont typeface="Arial" panose="020B0604020202020204" pitchFamily="34" charset="0"/>
              <a:buChar char="•"/>
            </a:pPr>
            <a:r>
              <a:rPr lang="en-AU" sz="1800" b="0" dirty="0"/>
              <a:t>I can calculate net force and acceleration</a:t>
            </a:r>
          </a:p>
          <a:p>
            <a:pPr marL="457200" indent="-457200">
              <a:buFont typeface="Arial" panose="020B0604020202020204" pitchFamily="34" charset="0"/>
              <a:buChar char="•"/>
            </a:pPr>
            <a:r>
              <a:rPr lang="en-AU" sz="1800" b="0" dirty="0"/>
              <a:t>I can qualitatively describe the impact of air resistance</a:t>
            </a:r>
          </a:p>
        </p:txBody>
      </p:sp>
    </p:spTree>
    <p:extLst>
      <p:ext uri="{BB962C8B-B14F-4D97-AF65-F5344CB8AC3E}">
        <p14:creationId xmlns:p14="http://schemas.microsoft.com/office/powerpoint/2010/main" val="1604990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the motion of projectiles launched horizontally</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50"/>
            <a:ext cx="3779478" cy="319722"/>
          </a:xfrm>
        </p:spPr>
        <p:txBody>
          <a:bodyPr/>
          <a:lstStyle/>
          <a:p>
            <a:r>
              <a:rPr lang="en-AU" dirty="0"/>
              <a:t>Homework</a:t>
            </a:r>
          </a:p>
        </p:txBody>
      </p:sp>
      <p:pic>
        <p:nvPicPr>
          <p:cNvPr id="6" name="Picture 5">
            <a:extLst>
              <a:ext uri="{FF2B5EF4-FFF2-40B4-BE49-F238E27FC236}">
                <a16:creationId xmlns:a16="http://schemas.microsoft.com/office/drawing/2014/main" id="{230647D8-2BED-4D96-9E76-DD03300EA786}"/>
              </a:ext>
            </a:extLst>
          </p:cNvPr>
          <p:cNvPicPr>
            <a:picLocks noChangeAspect="1"/>
          </p:cNvPicPr>
          <p:nvPr/>
        </p:nvPicPr>
        <p:blipFill>
          <a:blip r:embed="rId3"/>
          <a:stretch>
            <a:fillRect/>
          </a:stretch>
        </p:blipFill>
        <p:spPr>
          <a:xfrm>
            <a:off x="157623" y="914991"/>
            <a:ext cx="11431652" cy="2103512"/>
          </a:xfrm>
          <a:prstGeom prst="rect">
            <a:avLst/>
          </a:prstGeom>
        </p:spPr>
      </p:pic>
      <p:pic>
        <p:nvPicPr>
          <p:cNvPr id="11" name="Picture 10">
            <a:extLst>
              <a:ext uri="{FF2B5EF4-FFF2-40B4-BE49-F238E27FC236}">
                <a16:creationId xmlns:a16="http://schemas.microsoft.com/office/drawing/2014/main" id="{36EA98CB-BE46-4613-A5BA-3C75CB82E5F9}"/>
              </a:ext>
            </a:extLst>
          </p:cNvPr>
          <p:cNvPicPr>
            <a:picLocks noChangeAspect="1"/>
          </p:cNvPicPr>
          <p:nvPr/>
        </p:nvPicPr>
        <p:blipFill>
          <a:blip r:embed="rId4"/>
          <a:stretch>
            <a:fillRect/>
          </a:stretch>
        </p:blipFill>
        <p:spPr>
          <a:xfrm>
            <a:off x="295274" y="3294153"/>
            <a:ext cx="11894199" cy="766570"/>
          </a:xfrm>
          <a:prstGeom prst="rect">
            <a:avLst/>
          </a:prstGeom>
        </p:spPr>
      </p:pic>
    </p:spTree>
    <p:extLst>
      <p:ext uri="{BB962C8B-B14F-4D97-AF65-F5344CB8AC3E}">
        <p14:creationId xmlns:p14="http://schemas.microsoft.com/office/powerpoint/2010/main" val="3070840543"/>
      </p:ext>
    </p:extLst>
  </p:cSld>
  <p:clrMapOvr>
    <a:masterClrMapping/>
  </p:clrMapOvr>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7F09D33-A1B5-4438-8F96-65DD71762491}">
  <ds:schemaRefs>
    <ds:schemaRef ds:uri="http://schemas.microsoft.com/sharepoint/v3/contenttype/forms"/>
  </ds:schemaRefs>
</ds:datastoreItem>
</file>

<file path=customXml/itemProps3.xml><?xml version="1.0" encoding="utf-8"?>
<ds:datastoreItem xmlns:ds="http://schemas.openxmlformats.org/officeDocument/2006/customXml" ds:itemID="{709CCC8A-2FD8-4A2B-8896-D5C2C3A43042}"/>
</file>

<file path=docProps/app.xml><?xml version="1.0" encoding="utf-8"?>
<Properties xmlns="http://schemas.openxmlformats.org/officeDocument/2006/extended-properties" xmlns:vt="http://schemas.openxmlformats.org/officeDocument/2006/docPropsVTypes">
  <Template>{33057687-8793-EB47-A5E0-08E93C53D0F2}tf10001071</Template>
  <TotalTime>4872</TotalTime>
  <Words>1522</Words>
  <Application>Microsoft Office PowerPoint</Application>
  <PresentationFormat>Widescreen</PresentationFormat>
  <Paragraphs>204</Paragraphs>
  <Slides>20</Slides>
  <Notes>18</Notes>
  <HiddenSlides>0</HiddenSlides>
  <MMClips>1</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Arial</vt:lpstr>
      <vt:lpstr>Calibri</vt:lpstr>
      <vt:lpstr>Century Gothic</vt:lpstr>
      <vt:lpstr>Futura Medium</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395</cp:revision>
  <cp:lastPrinted>2018-05-27T06:54:10Z</cp:lastPrinted>
  <dcterms:created xsi:type="dcterms:W3CDTF">2018-03-29T05:56:09Z</dcterms:created>
  <dcterms:modified xsi:type="dcterms:W3CDTF">2023-01-01T10:22:11Z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