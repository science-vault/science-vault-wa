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30"/>
  </p:notesMasterIdLst>
  <p:handoutMasterIdLst>
    <p:handoutMasterId r:id="rId31"/>
  </p:handoutMasterIdLst>
  <p:sldIdLst>
    <p:sldId id="416" r:id="rId6"/>
    <p:sldId id="528" r:id="rId7"/>
    <p:sldId id="545" r:id="rId8"/>
    <p:sldId id="546" r:id="rId9"/>
    <p:sldId id="548" r:id="rId10"/>
    <p:sldId id="547" r:id="rId11"/>
    <p:sldId id="549" r:id="rId12"/>
    <p:sldId id="550" r:id="rId13"/>
    <p:sldId id="551" r:id="rId14"/>
    <p:sldId id="552" r:id="rId15"/>
    <p:sldId id="553" r:id="rId16"/>
    <p:sldId id="554" r:id="rId17"/>
    <p:sldId id="555" r:id="rId18"/>
    <p:sldId id="556" r:id="rId19"/>
    <p:sldId id="557" r:id="rId20"/>
    <p:sldId id="558" r:id="rId21"/>
    <p:sldId id="571" r:id="rId22"/>
    <p:sldId id="572" r:id="rId23"/>
    <p:sldId id="559" r:id="rId24"/>
    <p:sldId id="560" r:id="rId25"/>
    <p:sldId id="561" r:id="rId26"/>
    <p:sldId id="570" r:id="rId27"/>
    <p:sldId id="567" r:id="rId28"/>
    <p:sldId id="56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C55A11"/>
    <a:srgbClr val="6E407C"/>
    <a:srgbClr val="159B4B"/>
    <a:srgbClr val="FBCA58"/>
    <a:srgbClr val="2E546D"/>
    <a:srgbClr val="DEEBF7"/>
    <a:srgbClr val="692B7D"/>
    <a:srgbClr val="472A50"/>
    <a:srgbClr val="2F55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57" autoAdjust="0"/>
    <p:restoredTop sz="74344" autoAdjust="0"/>
  </p:normalViewPr>
  <p:slideViewPr>
    <p:cSldViewPr snapToGrid="0" snapToObjects="1">
      <p:cViewPr varScale="1">
        <p:scale>
          <a:sx n="74" d="100"/>
          <a:sy n="74" d="100"/>
        </p:scale>
        <p:origin x="72" y="77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4/13/2023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13/04/2023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1423671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1127451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019416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3615779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515438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359740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Mass of the earth = 5.97x10^24 kg</a:t>
            </a:r>
          </a:p>
          <a:p>
            <a:r>
              <a:rPr lang="en-AU" b="0" dirty="0"/>
              <a:t>Radius of the earth = 6.37x10^6 m</a:t>
            </a:r>
          </a:p>
          <a:p>
            <a:r>
              <a:rPr lang="en-AU" b="0" dirty="0"/>
              <a:t>Mass of person = 80kg</a:t>
            </a:r>
          </a:p>
          <a:p>
            <a:r>
              <a:rPr lang="en-AU" b="0" dirty="0"/>
              <a:t>G = 6.67x10^-11 Nm^2kg^-2</a:t>
            </a:r>
          </a:p>
          <a:p>
            <a:endParaRPr lang="en-AU" b="0" dirty="0"/>
          </a:p>
          <a:p>
            <a:r>
              <a:rPr lang="en-AU" b="0" dirty="0" err="1"/>
              <a:t>Fg</a:t>
            </a:r>
            <a:r>
              <a:rPr lang="en-AU" b="0" dirty="0"/>
              <a:t> = 785 N		</a:t>
            </a:r>
          </a:p>
          <a:p>
            <a:r>
              <a:rPr lang="en-AU" b="0" dirty="0"/>
              <a:t>a = 9.81 m/s/s</a:t>
            </a:r>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1943380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Mass of the earth = 5.97x10^24 kg</a:t>
            </a:r>
          </a:p>
          <a:p>
            <a:r>
              <a:rPr lang="en-AU" b="0" dirty="0"/>
              <a:t>r= 6.37x10^6 m + (20*3.5) = 6370070m</a:t>
            </a:r>
          </a:p>
          <a:p>
            <a:r>
              <a:rPr lang="en-AU" b="0" dirty="0"/>
              <a:t>Mass of person = 80kg</a:t>
            </a:r>
          </a:p>
          <a:p>
            <a:r>
              <a:rPr lang="en-AU" b="0" dirty="0"/>
              <a:t>G = 6.67x10^-11 Nm^2kg^-2</a:t>
            </a:r>
          </a:p>
          <a:p>
            <a:endParaRPr lang="en-AU" b="0" dirty="0"/>
          </a:p>
          <a:p>
            <a:r>
              <a:rPr lang="en-AU" b="0" dirty="0" err="1"/>
              <a:t>Fg</a:t>
            </a:r>
            <a:r>
              <a:rPr lang="en-AU" b="0" dirty="0"/>
              <a:t> = 785 N</a:t>
            </a:r>
          </a:p>
          <a:p>
            <a:r>
              <a:rPr lang="en-AU" b="0" dirty="0"/>
              <a:t>A = 9.81 m/s/s</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787854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Mass of the earth = 5.97x10^24 kg</a:t>
            </a:r>
          </a:p>
          <a:p>
            <a:r>
              <a:rPr lang="en-AU" b="0" dirty="0"/>
              <a:t>r= 6.37x10^6 m + (20*3.5) = 6370070m</a:t>
            </a:r>
          </a:p>
          <a:p>
            <a:r>
              <a:rPr lang="en-AU" b="0" dirty="0"/>
              <a:t>Mass of moon = 7.35*10^22</a:t>
            </a:r>
          </a:p>
          <a:p>
            <a:r>
              <a:rPr lang="en-AU" b="0" dirty="0"/>
              <a:t>G = 6.67x10^-11 Nm^2kg^-2</a:t>
            </a:r>
          </a:p>
          <a:p>
            <a:endParaRPr lang="en-AU" b="0" dirty="0"/>
          </a:p>
          <a:p>
            <a:r>
              <a:rPr lang="en-AU" b="0" dirty="0" err="1"/>
              <a:t>Fg</a:t>
            </a:r>
            <a:r>
              <a:rPr lang="en-AU" b="0" dirty="0"/>
              <a:t> = 1.98x10^20 N</a:t>
            </a:r>
          </a:p>
          <a:p>
            <a:endParaRPr lang="en-AU" b="0" dirty="0"/>
          </a:p>
          <a:p>
            <a:r>
              <a:rPr lang="en-AU" b="0" dirty="0"/>
              <a:t>F = ma</a:t>
            </a:r>
          </a:p>
          <a:p>
            <a:r>
              <a:rPr lang="en-AU" b="0" dirty="0"/>
              <a:t>1.98x10^20 = 7.35*10^22 * a</a:t>
            </a:r>
          </a:p>
          <a:p>
            <a:r>
              <a:rPr lang="en-AU" b="0" dirty="0"/>
              <a:t>a = 0.002694 m/s/s</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2452370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Mass of the earth = 5.97x10^24 kg</a:t>
            </a:r>
          </a:p>
          <a:p>
            <a:r>
              <a:rPr lang="en-AU" b="0" dirty="0"/>
              <a:t>r= 6.37x10^6 m + (20*3.5) = 6370070m</a:t>
            </a:r>
          </a:p>
          <a:p>
            <a:r>
              <a:rPr lang="en-AU" b="0" dirty="0"/>
              <a:t>Mass of moon = 7.35*10^22</a:t>
            </a:r>
          </a:p>
          <a:p>
            <a:r>
              <a:rPr lang="en-AU" b="0" dirty="0"/>
              <a:t>G = 6.67x10^-11 Nm^2kg^-2</a:t>
            </a:r>
          </a:p>
          <a:p>
            <a:endParaRPr lang="en-AU" b="0" dirty="0"/>
          </a:p>
          <a:p>
            <a:r>
              <a:rPr lang="en-AU" b="0" dirty="0" err="1"/>
              <a:t>Fg</a:t>
            </a:r>
            <a:r>
              <a:rPr lang="en-AU" b="0" dirty="0"/>
              <a:t> = 1.98x10^20 N</a:t>
            </a:r>
          </a:p>
          <a:p>
            <a:endParaRPr lang="en-AU" b="0" dirty="0"/>
          </a:p>
          <a:p>
            <a:r>
              <a:rPr lang="en-AU" b="0" dirty="0"/>
              <a:t>F = ma</a:t>
            </a:r>
          </a:p>
          <a:p>
            <a:r>
              <a:rPr lang="en-AU" b="0" dirty="0"/>
              <a:t>1.98x10^20 = 7.35*10^22 * a</a:t>
            </a:r>
          </a:p>
          <a:p>
            <a:r>
              <a:rPr lang="en-AU" b="0" dirty="0"/>
              <a:t>a = 0.002694 m/s/s</a:t>
            </a:r>
          </a:p>
          <a:p>
            <a:endParaRPr lang="en-AU" b="0" dirty="0"/>
          </a:p>
          <a:p>
            <a:r>
              <a:rPr lang="en-AU" sz="1800" b="0" i="0" u="none" strike="noStrike" dirty="0">
                <a:solidFill>
                  <a:srgbClr val="000000"/>
                </a:solidFill>
                <a:effectLst/>
                <a:latin typeface="Calibri" panose="020F0502020204030204" pitchFamily="34" charset="0"/>
              </a:rPr>
              <a:t>384000000m</a:t>
            </a:r>
            <a:r>
              <a:rPr lang="en-AU" dirty="0"/>
              <a:t> </a:t>
            </a:r>
            <a:r>
              <a:rPr lang="en-AU" sz="1800" b="0" i="0" u="none" strike="noStrike" dirty="0">
                <a:solidFill>
                  <a:srgbClr val="000000"/>
                </a:solidFill>
                <a:effectLst/>
                <a:latin typeface="Calibri" panose="020F0502020204030204" pitchFamily="34" charset="0"/>
              </a:rPr>
              <a:t>moon-earth distance</a:t>
            </a:r>
            <a:r>
              <a:rPr lang="en-AU" dirty="0"/>
              <a:t> </a:t>
            </a:r>
            <a:r>
              <a:rPr lang="en-AU" b="0" dirty="0"/>
              <a:t>(from data sheet)</a:t>
            </a:r>
          </a:p>
          <a:p>
            <a:r>
              <a:rPr lang="en-AU" b="0" dirty="0"/>
              <a:t>Velocity (from centripetal force) = 1017m/s</a:t>
            </a:r>
          </a:p>
          <a:p>
            <a:r>
              <a:rPr lang="en-AU" b="0" dirty="0"/>
              <a:t>T (from v = 2pi*r/T) = 2372229s = 27.46 days</a:t>
            </a:r>
          </a:p>
          <a:p>
            <a:endParaRPr lang="en-AU" b="0" dirty="0"/>
          </a:p>
          <a:p>
            <a:r>
              <a:rPr lang="en-AU" b="0" dirty="0"/>
              <a:t>This is similar to the reasoning used by Newton to deduce the law of gravitation!</a:t>
            </a:r>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3472510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Mass of the earth = 5.97x10^24 kg</a:t>
            </a:r>
          </a:p>
          <a:p>
            <a:r>
              <a:rPr lang="en-AU" b="0" dirty="0"/>
              <a:t>r= 6.37x10^6 m + (20*3.5) = 6370070m</a:t>
            </a:r>
          </a:p>
          <a:p>
            <a:r>
              <a:rPr lang="en-AU" b="0" dirty="0"/>
              <a:t>Mass of moon = 7.35*10^22</a:t>
            </a:r>
          </a:p>
          <a:p>
            <a:r>
              <a:rPr lang="en-AU" b="0" dirty="0"/>
              <a:t>G = 6.67x10^-11 Nm^2kg^-2</a:t>
            </a:r>
          </a:p>
          <a:p>
            <a:endParaRPr lang="en-AU" b="0" dirty="0"/>
          </a:p>
          <a:p>
            <a:r>
              <a:rPr lang="en-AU" b="0" dirty="0" err="1"/>
              <a:t>Fg</a:t>
            </a:r>
            <a:r>
              <a:rPr lang="en-AU" b="0" dirty="0"/>
              <a:t> =1.98*10^20 N</a:t>
            </a:r>
          </a:p>
          <a:p>
            <a:r>
              <a:rPr lang="en-AU" b="0" dirty="0"/>
              <a:t>This is the same magnitude but in a different direction. Newton’s 3</a:t>
            </a:r>
            <a:r>
              <a:rPr lang="en-AU" b="0" baseline="30000" dirty="0"/>
              <a:t>rd</a:t>
            </a:r>
            <a:r>
              <a:rPr lang="en-AU" b="0" dirty="0"/>
              <a:t> Law</a:t>
            </a:r>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2115383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300679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12478626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of the Sun.....................................................MS = 1.99 × 10^30 kg</a:t>
            </a:r>
          </a:p>
          <a:p>
            <a:r>
              <a:rPr lang="en-US" dirty="0"/>
              <a:t>Mean radius of the Sun .........................................RS = 6.96 × 10^8 m</a:t>
            </a:r>
          </a:p>
          <a:p>
            <a:r>
              <a:rPr lang="en-US" dirty="0"/>
              <a:t>Newtonian constant of gravitation .........................G = 6.67 × 10-^11 N m2 kg-2</a:t>
            </a:r>
          </a:p>
          <a:p>
            <a:endParaRPr lang="en-US" b="0" dirty="0"/>
          </a:p>
          <a:p>
            <a:r>
              <a:rPr lang="en-US" b="0" dirty="0"/>
              <a:t>g= 274 N/kg</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1812460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of the Sun.....................................................MS = 1.99 × 10^30 kg</a:t>
            </a:r>
          </a:p>
          <a:p>
            <a:r>
              <a:rPr lang="en-US" dirty="0"/>
              <a:t>Mean radius of the Sun .........................................RS = 6.96 × 10^8 m</a:t>
            </a:r>
          </a:p>
          <a:p>
            <a:r>
              <a:rPr lang="en-US" dirty="0"/>
              <a:t>Newtonian constant of gravitation .........................G = 6.67 × 10-^11 N m2 kg-2</a:t>
            </a:r>
          </a:p>
          <a:p>
            <a:endParaRPr lang="en-US" b="0" dirty="0"/>
          </a:p>
          <a:p>
            <a:r>
              <a:rPr lang="en-US" b="0" dirty="0"/>
              <a:t>g= 274 N/kg</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1220166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Mass of the Sun.....................................................MS = 1.99 × 10^30 kg</a:t>
            </a:r>
          </a:p>
          <a:p>
            <a:r>
              <a:rPr lang="en-US" dirty="0"/>
              <a:t>Mean radius of the Sun .........................................RS = 6.96 × 10^8 m</a:t>
            </a:r>
          </a:p>
          <a:p>
            <a:r>
              <a:rPr lang="en-US" dirty="0"/>
              <a:t>Newtonian constant of gravitation .........................G = 6.67 × 10-^11 N m2 kg-2</a:t>
            </a:r>
          </a:p>
          <a:p>
            <a:endParaRPr lang="en-US" b="0" dirty="0"/>
          </a:p>
          <a:p>
            <a:r>
              <a:rPr lang="en-US" b="0" dirty="0"/>
              <a:t>g= 274 N/kg</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3374500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radius of the Earth .......................................RE = 6.37 × 10^6 m</a:t>
            </a:r>
          </a:p>
          <a:p>
            <a:r>
              <a:rPr lang="en-US" dirty="0"/>
              <a:t>Mass of the Earth ..................................................ME = 5.97 × 10^24 kg</a:t>
            </a:r>
          </a:p>
          <a:p>
            <a:r>
              <a:rPr lang="en-US" dirty="0"/>
              <a:t>Newtonian constant of gravitation .........................G = 6.67 × 10^-11 N m2 kg-2</a:t>
            </a:r>
          </a:p>
          <a:p>
            <a:endParaRPr lang="en-US" b="0" dirty="0"/>
          </a:p>
          <a:p>
            <a:r>
              <a:rPr lang="en-US" b="0" dirty="0"/>
              <a:t>Let r1 = radius of the earth</a:t>
            </a:r>
          </a:p>
          <a:p>
            <a:r>
              <a:rPr lang="en-US" b="0" dirty="0"/>
              <a:t>Let r2 = radius of the earth + the altitude</a:t>
            </a:r>
          </a:p>
          <a:p>
            <a:endParaRPr lang="en-US" b="0" dirty="0"/>
          </a:p>
          <a:p>
            <a:r>
              <a:rPr lang="en-US" b="0" dirty="0"/>
              <a:t>Fg1 = </a:t>
            </a:r>
            <a:r>
              <a:rPr lang="en-US" b="0" dirty="0" err="1"/>
              <a:t>GMm</a:t>
            </a:r>
            <a:r>
              <a:rPr lang="en-US" b="0" dirty="0"/>
              <a:t>/r1^2</a:t>
            </a:r>
          </a:p>
          <a:p>
            <a:endParaRPr lang="en-US" b="0" dirty="0"/>
          </a:p>
          <a:p>
            <a:r>
              <a:rPr lang="en-US" b="0" dirty="0"/>
              <a:t>Fg2 = </a:t>
            </a:r>
            <a:r>
              <a:rPr lang="en-US" b="0" dirty="0" err="1"/>
              <a:t>GMm</a:t>
            </a:r>
            <a:r>
              <a:rPr lang="en-US" b="0" dirty="0"/>
              <a:t>/r2^2= 0.6 Fg1 = 0.6 </a:t>
            </a:r>
            <a:r>
              <a:rPr lang="en-US" b="0" dirty="0" err="1"/>
              <a:t>GMm</a:t>
            </a:r>
            <a:r>
              <a:rPr lang="en-US" b="0" dirty="0"/>
              <a:t>/r1^2</a:t>
            </a:r>
          </a:p>
          <a:p>
            <a:endParaRPr lang="en-US" b="0" dirty="0"/>
          </a:p>
          <a:p>
            <a:r>
              <a:rPr lang="en-US" b="0" dirty="0"/>
              <a:t>1/r2^2 = 0.6/r1^2</a:t>
            </a:r>
          </a:p>
          <a:p>
            <a:endParaRPr lang="en-US" b="0" dirty="0"/>
          </a:p>
          <a:p>
            <a:r>
              <a:rPr lang="en-US" b="0" dirty="0"/>
              <a:t>r2 = r1/ sqrt(0.6) = 8.24 x 10^6 m</a:t>
            </a:r>
          </a:p>
          <a:p>
            <a:r>
              <a:rPr lang="en-US" b="0" dirty="0"/>
              <a:t>Altitude = 8.24x10^6 – 6.37x10^6 = 1.87x10^6 m</a:t>
            </a:r>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19</a:t>
            </a:fld>
            <a:endParaRPr lang="en-AU"/>
          </a:p>
        </p:txBody>
      </p:sp>
    </p:spTree>
    <p:extLst>
      <p:ext uri="{BB962C8B-B14F-4D97-AF65-F5344CB8AC3E}">
        <p14:creationId xmlns:p14="http://schemas.microsoft.com/office/powerpoint/2010/main" val="42866780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radius of the Earth .......................................RE = 6.37 × 10^6 m</a:t>
            </a:r>
          </a:p>
          <a:p>
            <a:r>
              <a:rPr lang="en-US" dirty="0"/>
              <a:t>Mass of the Earth ..................................................ME = 5.97 × 10^24 kg</a:t>
            </a:r>
          </a:p>
          <a:p>
            <a:r>
              <a:rPr lang="en-US" dirty="0"/>
              <a:t>Newtonian constant of gravitation .........................G = 6.67 × 10^-11 N m2 kg-2</a:t>
            </a:r>
          </a:p>
          <a:p>
            <a:endParaRPr lang="en-US" b="0" dirty="0"/>
          </a:p>
          <a:p>
            <a:r>
              <a:rPr lang="en-US" b="0" dirty="0"/>
              <a:t>Let r1 = radius of the earth</a:t>
            </a:r>
          </a:p>
          <a:p>
            <a:r>
              <a:rPr lang="en-US" b="0" dirty="0"/>
              <a:t>Let r2 = radius of the earth + the altitude</a:t>
            </a:r>
          </a:p>
          <a:p>
            <a:endParaRPr lang="en-US" b="0" dirty="0"/>
          </a:p>
          <a:p>
            <a:r>
              <a:rPr lang="en-US" b="0" dirty="0"/>
              <a:t>Fg1 = </a:t>
            </a:r>
            <a:r>
              <a:rPr lang="en-US" b="0" dirty="0" err="1"/>
              <a:t>GMm</a:t>
            </a:r>
            <a:r>
              <a:rPr lang="en-US" b="0" dirty="0"/>
              <a:t>/r1^2</a:t>
            </a:r>
          </a:p>
          <a:p>
            <a:endParaRPr lang="en-US" b="0" dirty="0"/>
          </a:p>
          <a:p>
            <a:r>
              <a:rPr lang="en-US" b="0" dirty="0"/>
              <a:t>Fg2 = </a:t>
            </a:r>
            <a:r>
              <a:rPr lang="en-US" b="0" dirty="0" err="1"/>
              <a:t>GMm</a:t>
            </a:r>
            <a:r>
              <a:rPr lang="en-US" b="0" dirty="0"/>
              <a:t>/r2^2= 0.6 Fg1 = 0.6 </a:t>
            </a:r>
            <a:r>
              <a:rPr lang="en-US" b="0" dirty="0" err="1"/>
              <a:t>GMm</a:t>
            </a:r>
            <a:r>
              <a:rPr lang="en-US" b="0" dirty="0"/>
              <a:t>/r1^2</a:t>
            </a:r>
          </a:p>
          <a:p>
            <a:endParaRPr lang="en-US" b="0" dirty="0"/>
          </a:p>
          <a:p>
            <a:r>
              <a:rPr lang="en-US" b="0" dirty="0"/>
              <a:t>1/r2^2 = 0.6/r1^2</a:t>
            </a:r>
          </a:p>
          <a:p>
            <a:endParaRPr lang="en-US" b="0" dirty="0"/>
          </a:p>
          <a:p>
            <a:r>
              <a:rPr lang="en-US" b="0" dirty="0"/>
              <a:t>r2 = r1/ sqrt(0.6) = 8.24 x 10^6 m</a:t>
            </a:r>
          </a:p>
          <a:p>
            <a:r>
              <a:rPr lang="en-US" b="0" dirty="0"/>
              <a:t>Altitude = 8.24x10^6 – 6.37x10^6 = 1.87x10^6 m</a:t>
            </a:r>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3139095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Fge</a:t>
            </a:r>
            <a:r>
              <a:rPr lang="en-US" b="0" dirty="0"/>
              <a:t> = </a:t>
            </a:r>
            <a:r>
              <a:rPr lang="en-US" b="0" dirty="0" err="1"/>
              <a:t>Fgm</a:t>
            </a:r>
            <a:endParaRPr lang="en-US" b="0" dirty="0"/>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Gm(e)m/r(e)^2 = Gm(m)m/r(m)^2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r(m) = sqrt(m(m) / m(e)) * 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Distance from Earth-&gt; astronaut + Distance from astronaut -&gt; moon = Distance from earth to moon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r(m) + r(e) = 3.84x10^8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4272969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Fge</a:t>
            </a:r>
            <a:r>
              <a:rPr lang="en-US" b="0" dirty="0"/>
              <a:t> = </a:t>
            </a:r>
            <a:r>
              <a:rPr lang="en-US" b="0" dirty="0" err="1"/>
              <a:t>Fgm</a:t>
            </a:r>
            <a:endParaRPr lang="en-US" b="0" dirty="0"/>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Gm(e)m/r(e)^2 = Gm(m)m/r(m)^2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r(m) = sqrt(m(m) / m(e)) * 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Distance from Earth-&gt; astronaut + Distance from astronaut -&gt; moon = Distance from earth to moon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r(m) + r(e) = 3.84x10^8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22</a:t>
            </a:fld>
            <a:endParaRPr lang="en-AU"/>
          </a:p>
        </p:txBody>
      </p:sp>
    </p:spTree>
    <p:extLst>
      <p:ext uri="{BB962C8B-B14F-4D97-AF65-F5344CB8AC3E}">
        <p14:creationId xmlns:p14="http://schemas.microsoft.com/office/powerpoint/2010/main" val="3627809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endParaRPr lang="en-US" b="0" dirty="0"/>
          </a:p>
        </p:txBody>
      </p:sp>
      <p:sp>
        <p:nvSpPr>
          <p:cNvPr id="4" name="Slide Number Placeholder 3"/>
          <p:cNvSpPr>
            <a:spLocks noGrp="1"/>
          </p:cNvSpPr>
          <p:nvPr>
            <p:ph type="sldNum" sz="quarter" idx="5"/>
          </p:nvPr>
        </p:nvSpPr>
        <p:spPr/>
        <p:txBody>
          <a:bodyPr/>
          <a:lstStyle/>
          <a:p>
            <a:fld id="{B5B756B8-97A8-4FA1-B26A-2500BA5D4D05}" type="slidenum">
              <a:rPr lang="en-AU" smtClean="0"/>
              <a:t>24</a:t>
            </a:fld>
            <a:endParaRPr lang="en-AU"/>
          </a:p>
        </p:txBody>
      </p:sp>
    </p:spTree>
    <p:extLst>
      <p:ext uri="{BB962C8B-B14F-4D97-AF65-F5344CB8AC3E}">
        <p14:creationId xmlns:p14="http://schemas.microsoft.com/office/powerpoint/2010/main" val="640179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0507"/>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calculate gravitational attraction between objects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a:t>
            </a:r>
            <a:r>
              <a:rPr lang="en-US" sz="1600" b="0" dirty="0">
                <a:solidFill>
                  <a:srgbClr val="000303"/>
                </a:solidFill>
                <a:latin typeface="+mj-lt"/>
              </a:rPr>
              <a:t>gravitational attraction between objects</a:t>
            </a:r>
          </a:p>
          <a:p>
            <a:pPr marL="171450" indent="-171450" algn="l">
              <a:buFont typeface="Arial" panose="020B0604020202020204" pitchFamily="34" charset="0"/>
              <a:buChar char="•"/>
            </a:pPr>
            <a:r>
              <a:rPr lang="en-US" sz="1600" b="0" i="0" dirty="0">
                <a:solidFill>
                  <a:srgbClr val="000303"/>
                </a:solidFill>
                <a:effectLst/>
                <a:latin typeface="+mj-lt"/>
              </a:rPr>
              <a:t>I can calculate acce</a:t>
            </a:r>
            <a:r>
              <a:rPr lang="en-US" sz="1600" b="0" dirty="0">
                <a:solidFill>
                  <a:srgbClr val="000303"/>
                </a:solidFill>
                <a:latin typeface="+mj-lt"/>
              </a:rPr>
              <a:t>leration due to gravity</a:t>
            </a:r>
          </a:p>
        </p:txBody>
      </p:sp>
    </p:spTree>
    <p:extLst>
      <p:ext uri="{BB962C8B-B14F-4D97-AF65-F5344CB8AC3E}">
        <p14:creationId xmlns:p14="http://schemas.microsoft.com/office/powerpoint/2010/main" val="231114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90507"/>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b="0" dirty="0"/>
              <a:t>Fields are used in physics to represent non-contact forces</a:t>
            </a:r>
          </a:p>
          <a:p>
            <a:pPr marL="1143000" lvl="1" indent="-457200"/>
            <a:r>
              <a:rPr lang="en-AU" sz="2800" dirty="0"/>
              <a:t>Electric fields</a:t>
            </a:r>
          </a:p>
          <a:p>
            <a:pPr marL="1143000" lvl="1" indent="-457200"/>
            <a:r>
              <a:rPr lang="en-AU" sz="2800" b="0" dirty="0"/>
              <a:t>Magnetic fields</a:t>
            </a:r>
          </a:p>
          <a:p>
            <a:pPr marL="1143000" lvl="1" indent="-457200"/>
            <a:r>
              <a:rPr lang="en-AU" sz="2800" dirty="0"/>
              <a:t>Gravitational fields</a:t>
            </a:r>
          </a:p>
          <a:p>
            <a:pPr marL="1143000" lvl="1" indent="-457200"/>
            <a:endParaRPr lang="en-AU" sz="2800" b="0" dirty="0"/>
          </a:p>
          <a:p>
            <a:pPr marL="457200" indent="-457200"/>
            <a:r>
              <a:rPr lang="en-AU" sz="3200" b="0" dirty="0"/>
              <a:t>In Year 12 Physics, we investigate all of these.</a:t>
            </a:r>
          </a:p>
          <a:p>
            <a:pPr marL="457200" indent="-457200"/>
            <a:endParaRPr lang="en-AU" sz="3200" b="0" dirty="0"/>
          </a:p>
          <a:p>
            <a:pPr marL="457200" indent="-457200"/>
            <a:r>
              <a:rPr lang="en-AU" sz="3200" b="0" dirty="0"/>
              <a:t>This lesson: we’ll look at how all objects with mass produce a gravitational field</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Tree>
    <p:extLst>
      <p:ext uri="{BB962C8B-B14F-4D97-AF65-F5344CB8AC3E}">
        <p14:creationId xmlns:p14="http://schemas.microsoft.com/office/powerpoint/2010/main" val="120001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EF8CB73F-DB87-4F7C-9365-70B317ECC50B}"/>
              </a:ext>
            </a:extLst>
          </p:cNvPr>
          <p:cNvPicPr>
            <a:picLocks noChangeAspect="1"/>
          </p:cNvPicPr>
          <p:nvPr/>
        </p:nvPicPr>
        <p:blipFill>
          <a:blip r:embed="rId3"/>
          <a:stretch>
            <a:fillRect/>
          </a:stretch>
        </p:blipFill>
        <p:spPr>
          <a:xfrm>
            <a:off x="7660304" y="3678638"/>
            <a:ext cx="2514600" cy="2009775"/>
          </a:xfrm>
          <a:prstGeom prst="rect">
            <a:avLst/>
          </a:prstGeom>
        </p:spPr>
      </p:pic>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b="0" dirty="0"/>
              <a:t>A field is representation of the vectors that are acting over a certain region of space</a:t>
            </a:r>
          </a:p>
          <a:p>
            <a:pPr marL="457200" indent="-457200">
              <a:buFont typeface="Arial" panose="020B0604020202020204" pitchFamily="34" charset="0"/>
              <a:buChar char="•"/>
            </a:pPr>
            <a:r>
              <a:rPr lang="en-AU" b="0" dirty="0"/>
              <a:t>A gravitational field is represented by a collection of arrows which show the direction of a gravitational force</a:t>
            </a:r>
          </a:p>
          <a:p>
            <a:pPr marL="457200" indent="-457200">
              <a:buFont typeface="Arial" panose="020B0604020202020204" pitchFamily="34" charset="0"/>
              <a:buChar char="•"/>
            </a:pPr>
            <a:r>
              <a:rPr lang="en-AU" b="0" dirty="0"/>
              <a:t>Field lines:</a:t>
            </a:r>
          </a:p>
          <a:p>
            <a:pPr marL="1143000" lvl="1" indent="-457200"/>
            <a:r>
              <a:rPr lang="en-AU" sz="2800" dirty="0"/>
              <a:t>Direction = arrows</a:t>
            </a:r>
          </a:p>
          <a:p>
            <a:pPr marL="1143000" lvl="1" indent="-457200"/>
            <a:r>
              <a:rPr lang="en-AU" sz="2800" b="0" dirty="0"/>
              <a:t>Strength </a:t>
            </a:r>
            <a:r>
              <a:rPr lang="en-AU" sz="2800" dirty="0"/>
              <a:t>= density</a:t>
            </a:r>
            <a:endParaRPr lang="en-AU" sz="2800" b="0" dirty="0"/>
          </a:p>
          <a:p>
            <a:pPr marL="1143000" lvl="1" indent="-457200"/>
            <a:endParaRPr lang="en-AU" sz="3200" b="0" dirty="0"/>
          </a:p>
        </p:txBody>
      </p:sp>
      <p:grpSp>
        <p:nvGrpSpPr>
          <p:cNvPr id="25" name="Group 24">
            <a:extLst>
              <a:ext uri="{FF2B5EF4-FFF2-40B4-BE49-F238E27FC236}">
                <a16:creationId xmlns:a16="http://schemas.microsoft.com/office/drawing/2014/main" id="{6FE8A735-2893-41B3-9DFD-39464DBA1D5C}"/>
              </a:ext>
            </a:extLst>
          </p:cNvPr>
          <p:cNvGrpSpPr/>
          <p:nvPr/>
        </p:nvGrpSpPr>
        <p:grpSpPr>
          <a:xfrm>
            <a:off x="6328229" y="2510426"/>
            <a:ext cx="5086640" cy="4290045"/>
            <a:chOff x="6328229" y="2510426"/>
            <a:chExt cx="5086640" cy="4290045"/>
          </a:xfrm>
        </p:grpSpPr>
        <p:cxnSp>
          <p:nvCxnSpPr>
            <p:cNvPr id="7" name="Straight Arrow Connector 6">
              <a:extLst>
                <a:ext uri="{FF2B5EF4-FFF2-40B4-BE49-F238E27FC236}">
                  <a16:creationId xmlns:a16="http://schemas.microsoft.com/office/drawing/2014/main" id="{5B224500-BCC3-4D37-AC80-233DDE1ED2BA}"/>
                </a:ext>
              </a:extLst>
            </p:cNvPr>
            <p:cNvCxnSpPr/>
            <p:nvPr/>
          </p:nvCxnSpPr>
          <p:spPr>
            <a:xfrm>
              <a:off x="6328229" y="4683525"/>
              <a:ext cx="169817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E48716A-9DEE-46E1-B924-B43C301FFD66}"/>
                </a:ext>
              </a:extLst>
            </p:cNvPr>
            <p:cNvCxnSpPr>
              <a:cxnSpLocks/>
            </p:cNvCxnSpPr>
            <p:nvPr/>
          </p:nvCxnSpPr>
          <p:spPr>
            <a:xfrm flipV="1">
              <a:off x="6832990" y="5358162"/>
              <a:ext cx="1444171" cy="98430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9DFA7B-3014-4C98-85C3-7AEC52B7B637}"/>
                </a:ext>
              </a:extLst>
            </p:cNvPr>
            <p:cNvCxnSpPr>
              <a:cxnSpLocks/>
            </p:cNvCxnSpPr>
            <p:nvPr/>
          </p:nvCxnSpPr>
          <p:spPr>
            <a:xfrm>
              <a:off x="7250081" y="2950481"/>
              <a:ext cx="1001486" cy="11470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CBF1A9B-1ED3-442C-AD8C-57261BAAE1AA}"/>
                </a:ext>
              </a:extLst>
            </p:cNvPr>
            <p:cNvCxnSpPr>
              <a:cxnSpLocks/>
            </p:cNvCxnSpPr>
            <p:nvPr/>
          </p:nvCxnSpPr>
          <p:spPr>
            <a:xfrm>
              <a:off x="8917604" y="2510426"/>
              <a:ext cx="0" cy="1358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87F6DF-3167-4CE4-BF9A-C8D797D54308}"/>
                </a:ext>
              </a:extLst>
            </p:cNvPr>
            <p:cNvCxnSpPr>
              <a:cxnSpLocks/>
            </p:cNvCxnSpPr>
            <p:nvPr/>
          </p:nvCxnSpPr>
          <p:spPr>
            <a:xfrm flipH="1">
              <a:off x="9577388" y="2817856"/>
              <a:ext cx="1177698" cy="12029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3EE8E9C-09B4-487D-9527-0D2D564A2F99}"/>
                </a:ext>
              </a:extLst>
            </p:cNvPr>
            <p:cNvCxnSpPr>
              <a:cxnSpLocks/>
            </p:cNvCxnSpPr>
            <p:nvPr/>
          </p:nvCxnSpPr>
          <p:spPr>
            <a:xfrm flipH="1">
              <a:off x="9824520" y="4673633"/>
              <a:ext cx="1590349" cy="202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11BE755-8ACF-4DA4-B63A-6EAD23C28C15}"/>
                </a:ext>
              </a:extLst>
            </p:cNvPr>
            <p:cNvCxnSpPr>
              <a:cxnSpLocks/>
            </p:cNvCxnSpPr>
            <p:nvPr/>
          </p:nvCxnSpPr>
          <p:spPr>
            <a:xfrm flipH="1" flipV="1">
              <a:off x="9577388" y="5265527"/>
              <a:ext cx="1007739" cy="10769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99FE44C-6403-42E5-9A8C-77A4B0D5361A}"/>
                </a:ext>
              </a:extLst>
            </p:cNvPr>
            <p:cNvCxnSpPr>
              <a:cxnSpLocks/>
            </p:cNvCxnSpPr>
            <p:nvPr/>
          </p:nvCxnSpPr>
          <p:spPr>
            <a:xfrm flipV="1">
              <a:off x="8917604" y="5559195"/>
              <a:ext cx="0" cy="124127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Text Placeholder 3">
            <a:extLst>
              <a:ext uri="{FF2B5EF4-FFF2-40B4-BE49-F238E27FC236}">
                <a16:creationId xmlns:a16="http://schemas.microsoft.com/office/drawing/2014/main" id="{5E670A93-E724-40E1-A55B-47941BD9331A}"/>
              </a:ext>
            </a:extLst>
          </p:cNvPr>
          <p:cNvSpPr txBox="1">
            <a:spLocks/>
          </p:cNvSpPr>
          <p:nvPr/>
        </p:nvSpPr>
        <p:spPr>
          <a:xfrm>
            <a:off x="-587365" y="4544366"/>
            <a:ext cx="627515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b="0" dirty="0">
                <a:solidFill>
                  <a:srgbClr val="FF0000"/>
                </a:solidFill>
              </a:rPr>
              <a:t>Any object with mass around the Earth is attracted to the Earth by gravity</a:t>
            </a:r>
          </a:p>
        </p:txBody>
      </p:sp>
    </p:spTree>
    <p:extLst>
      <p:ext uri="{BB962C8B-B14F-4D97-AF65-F5344CB8AC3E}">
        <p14:creationId xmlns:p14="http://schemas.microsoft.com/office/powerpoint/2010/main" val="325425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EF8CB73F-DB87-4F7C-9365-70B317ECC50B}"/>
              </a:ext>
            </a:extLst>
          </p:cNvPr>
          <p:cNvPicPr>
            <a:picLocks noChangeAspect="1"/>
          </p:cNvPicPr>
          <p:nvPr/>
        </p:nvPicPr>
        <p:blipFill>
          <a:blip r:embed="rId3"/>
          <a:stretch>
            <a:fillRect/>
          </a:stretch>
        </p:blipFill>
        <p:spPr>
          <a:xfrm>
            <a:off x="8133209" y="1943647"/>
            <a:ext cx="2514600" cy="2009775"/>
          </a:xfrm>
          <a:prstGeom prst="rect">
            <a:avLst/>
          </a:prstGeom>
        </p:spPr>
      </p:pic>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94583" y="904805"/>
            <a:ext cx="6407818"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b="0" dirty="0"/>
              <a:t>To draw a field, imagine you are an object that is affected by the force. Where would you be pulled?</a:t>
            </a:r>
          </a:p>
          <a:p>
            <a:pPr marL="1143000" lvl="1" indent="-457200"/>
            <a:endParaRPr lang="en-AU" sz="3200" b="0" dirty="0"/>
          </a:p>
        </p:txBody>
      </p:sp>
      <p:grpSp>
        <p:nvGrpSpPr>
          <p:cNvPr id="25" name="Group 24">
            <a:extLst>
              <a:ext uri="{FF2B5EF4-FFF2-40B4-BE49-F238E27FC236}">
                <a16:creationId xmlns:a16="http://schemas.microsoft.com/office/drawing/2014/main" id="{6FE8A735-2893-41B3-9DFD-39464DBA1D5C}"/>
              </a:ext>
            </a:extLst>
          </p:cNvPr>
          <p:cNvGrpSpPr/>
          <p:nvPr/>
        </p:nvGrpSpPr>
        <p:grpSpPr>
          <a:xfrm>
            <a:off x="6801134" y="775435"/>
            <a:ext cx="5086640" cy="4290045"/>
            <a:chOff x="6328229" y="2510426"/>
            <a:chExt cx="5086640" cy="4290045"/>
          </a:xfrm>
        </p:grpSpPr>
        <p:cxnSp>
          <p:nvCxnSpPr>
            <p:cNvPr id="7" name="Straight Arrow Connector 6">
              <a:extLst>
                <a:ext uri="{FF2B5EF4-FFF2-40B4-BE49-F238E27FC236}">
                  <a16:creationId xmlns:a16="http://schemas.microsoft.com/office/drawing/2014/main" id="{5B224500-BCC3-4D37-AC80-233DDE1ED2BA}"/>
                </a:ext>
              </a:extLst>
            </p:cNvPr>
            <p:cNvCxnSpPr/>
            <p:nvPr/>
          </p:nvCxnSpPr>
          <p:spPr>
            <a:xfrm>
              <a:off x="6328229" y="4683525"/>
              <a:ext cx="169817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E48716A-9DEE-46E1-B924-B43C301FFD66}"/>
                </a:ext>
              </a:extLst>
            </p:cNvPr>
            <p:cNvCxnSpPr>
              <a:cxnSpLocks/>
            </p:cNvCxnSpPr>
            <p:nvPr/>
          </p:nvCxnSpPr>
          <p:spPr>
            <a:xfrm flipV="1">
              <a:off x="6832990" y="5358162"/>
              <a:ext cx="1444171" cy="98430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9DFA7B-3014-4C98-85C3-7AEC52B7B637}"/>
                </a:ext>
              </a:extLst>
            </p:cNvPr>
            <p:cNvCxnSpPr>
              <a:cxnSpLocks/>
            </p:cNvCxnSpPr>
            <p:nvPr/>
          </p:nvCxnSpPr>
          <p:spPr>
            <a:xfrm>
              <a:off x="7250081" y="2950481"/>
              <a:ext cx="1001486" cy="11470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CBF1A9B-1ED3-442C-AD8C-57261BAAE1AA}"/>
                </a:ext>
              </a:extLst>
            </p:cNvPr>
            <p:cNvCxnSpPr>
              <a:cxnSpLocks/>
            </p:cNvCxnSpPr>
            <p:nvPr/>
          </p:nvCxnSpPr>
          <p:spPr>
            <a:xfrm>
              <a:off x="8917604" y="2510426"/>
              <a:ext cx="0" cy="135801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E87F6DF-3167-4CE4-BF9A-C8D797D54308}"/>
                </a:ext>
              </a:extLst>
            </p:cNvPr>
            <p:cNvCxnSpPr>
              <a:cxnSpLocks/>
            </p:cNvCxnSpPr>
            <p:nvPr/>
          </p:nvCxnSpPr>
          <p:spPr>
            <a:xfrm flipH="1">
              <a:off x="9577388" y="2817856"/>
              <a:ext cx="1177698" cy="12029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33EE8E9C-09B4-487D-9527-0D2D564A2F99}"/>
                </a:ext>
              </a:extLst>
            </p:cNvPr>
            <p:cNvCxnSpPr>
              <a:cxnSpLocks/>
            </p:cNvCxnSpPr>
            <p:nvPr/>
          </p:nvCxnSpPr>
          <p:spPr>
            <a:xfrm flipH="1">
              <a:off x="9824520" y="4673633"/>
              <a:ext cx="1590349" cy="2021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11BE755-8ACF-4DA4-B63A-6EAD23C28C15}"/>
                </a:ext>
              </a:extLst>
            </p:cNvPr>
            <p:cNvCxnSpPr>
              <a:cxnSpLocks/>
            </p:cNvCxnSpPr>
            <p:nvPr/>
          </p:nvCxnSpPr>
          <p:spPr>
            <a:xfrm flipH="1" flipV="1">
              <a:off x="9577388" y="5265527"/>
              <a:ext cx="1007739" cy="10769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99FE44C-6403-42E5-9A8C-77A4B0D5361A}"/>
                </a:ext>
              </a:extLst>
            </p:cNvPr>
            <p:cNvCxnSpPr>
              <a:cxnSpLocks/>
            </p:cNvCxnSpPr>
            <p:nvPr/>
          </p:nvCxnSpPr>
          <p:spPr>
            <a:xfrm flipV="1">
              <a:off x="8917604" y="5559195"/>
              <a:ext cx="0" cy="124127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Placeholder 3">
            <a:extLst>
              <a:ext uri="{FF2B5EF4-FFF2-40B4-BE49-F238E27FC236}">
                <a16:creationId xmlns:a16="http://schemas.microsoft.com/office/drawing/2014/main" id="{45B3CC75-EAAD-44FF-8116-1C1154DEE8F3}"/>
              </a:ext>
            </a:extLst>
          </p:cNvPr>
          <p:cNvSpPr txBox="1">
            <a:spLocks/>
          </p:cNvSpPr>
          <p:nvPr/>
        </p:nvSpPr>
        <p:spPr>
          <a:xfrm>
            <a:off x="-472455" y="3007252"/>
            <a:ext cx="70307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b="0" dirty="0"/>
              <a:t>The lines at the surface of the Earth are closer spaced than the lines at a distance.</a:t>
            </a:r>
          </a:p>
          <a:p>
            <a:pPr lvl="1" indent="0" algn="ctr">
              <a:buNone/>
            </a:pPr>
            <a:r>
              <a:rPr lang="en-AU" sz="2800" i="1" dirty="0"/>
              <a:t>Density of lines = Strength of field</a:t>
            </a:r>
          </a:p>
          <a:p>
            <a:pPr lvl="1" indent="0">
              <a:buNone/>
            </a:pPr>
            <a:endParaRPr lang="en-AU" sz="2800" b="0" dirty="0"/>
          </a:p>
          <a:p>
            <a:pPr lvl="1" indent="0">
              <a:buNone/>
            </a:pPr>
            <a:r>
              <a:rPr lang="en-AU" sz="2800" b="0" dirty="0"/>
              <a:t>The further from the Earth you are, the weaker the effect of Earth’s gravity.</a:t>
            </a:r>
          </a:p>
        </p:txBody>
      </p:sp>
    </p:spTree>
    <p:extLst>
      <p:ext uri="{BB962C8B-B14F-4D97-AF65-F5344CB8AC3E}">
        <p14:creationId xmlns:p14="http://schemas.microsoft.com/office/powerpoint/2010/main" val="397743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AU" sz="3200" b="0" dirty="0"/>
              <a:t>Field lines:</a:t>
            </a:r>
          </a:p>
          <a:p>
            <a:pPr marL="1143000" lvl="1" indent="-457200"/>
            <a:r>
              <a:rPr lang="en-AU" sz="2800" dirty="0"/>
              <a:t>Direction = arrows</a:t>
            </a:r>
          </a:p>
          <a:p>
            <a:pPr marL="1143000" lvl="1" indent="-457200"/>
            <a:r>
              <a:rPr lang="en-AU" sz="2800" b="0" dirty="0"/>
              <a:t>Strength </a:t>
            </a:r>
            <a:r>
              <a:rPr lang="en-AU" sz="2800" dirty="0"/>
              <a:t>= density</a:t>
            </a:r>
            <a:endParaRPr lang="en-AU" sz="2800" b="0" dirty="0"/>
          </a:p>
          <a:p>
            <a:pPr marL="1143000" lvl="1" indent="-457200"/>
            <a:endParaRPr lang="en-AU" sz="3200" b="0" dirty="0"/>
          </a:p>
        </p:txBody>
      </p:sp>
      <p:pic>
        <p:nvPicPr>
          <p:cNvPr id="6" name="Picture 5">
            <a:extLst>
              <a:ext uri="{FF2B5EF4-FFF2-40B4-BE49-F238E27FC236}">
                <a16:creationId xmlns:a16="http://schemas.microsoft.com/office/drawing/2014/main" id="{5916DBDA-1206-44EA-9E59-3C8B3049768E}"/>
              </a:ext>
            </a:extLst>
          </p:cNvPr>
          <p:cNvPicPr>
            <a:picLocks noChangeAspect="1"/>
          </p:cNvPicPr>
          <p:nvPr/>
        </p:nvPicPr>
        <p:blipFill rotWithShape="1">
          <a:blip r:embed="rId3"/>
          <a:srcRect l="80357" r="438" b="73675"/>
          <a:stretch/>
        </p:blipFill>
        <p:spPr>
          <a:xfrm>
            <a:off x="10509079" y="2997416"/>
            <a:ext cx="1193370" cy="964791"/>
          </a:xfrm>
          <a:prstGeom prst="rect">
            <a:avLst/>
          </a:prstGeom>
        </p:spPr>
      </p:pic>
      <p:pic>
        <p:nvPicPr>
          <p:cNvPr id="11" name="Picture 10">
            <a:extLst>
              <a:ext uri="{FF2B5EF4-FFF2-40B4-BE49-F238E27FC236}">
                <a16:creationId xmlns:a16="http://schemas.microsoft.com/office/drawing/2014/main" id="{26C16619-D3DD-406F-8EA4-4701862D7F92}"/>
              </a:ext>
            </a:extLst>
          </p:cNvPr>
          <p:cNvPicPr>
            <a:picLocks noChangeAspect="1"/>
          </p:cNvPicPr>
          <p:nvPr/>
        </p:nvPicPr>
        <p:blipFill>
          <a:blip r:embed="rId4"/>
          <a:stretch>
            <a:fillRect/>
          </a:stretch>
        </p:blipFill>
        <p:spPr>
          <a:xfrm>
            <a:off x="5268248" y="2746481"/>
            <a:ext cx="2514600" cy="2009775"/>
          </a:xfrm>
          <a:prstGeom prst="rect">
            <a:avLst/>
          </a:prstGeom>
        </p:spPr>
      </p:pic>
      <p:sp>
        <p:nvSpPr>
          <p:cNvPr id="12" name="Text Placeholder 3">
            <a:extLst>
              <a:ext uri="{FF2B5EF4-FFF2-40B4-BE49-F238E27FC236}">
                <a16:creationId xmlns:a16="http://schemas.microsoft.com/office/drawing/2014/main" id="{579539B8-C2A6-4903-84D0-13A61E4B294D}"/>
              </a:ext>
            </a:extLst>
          </p:cNvPr>
          <p:cNvSpPr txBox="1">
            <a:spLocks/>
          </p:cNvSpPr>
          <p:nvPr/>
        </p:nvSpPr>
        <p:spPr>
          <a:xfrm>
            <a:off x="-398904" y="2641501"/>
            <a:ext cx="40410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3200" b="0" dirty="0"/>
              <a:t>Gravity is stronger when objects have a greater mass.</a:t>
            </a:r>
          </a:p>
        </p:txBody>
      </p:sp>
    </p:spTree>
    <p:extLst>
      <p:ext uri="{BB962C8B-B14F-4D97-AF65-F5344CB8AC3E}">
        <p14:creationId xmlns:p14="http://schemas.microsoft.com/office/powerpoint/2010/main" val="646738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Field lines:</a:t>
            </a:r>
          </a:p>
          <a:p>
            <a:pPr marL="1143000" lvl="1" indent="-457200"/>
            <a:r>
              <a:rPr lang="en-AU" sz="2800" dirty="0"/>
              <a:t>Direction = arrows</a:t>
            </a:r>
          </a:p>
          <a:p>
            <a:pPr marL="1143000" lvl="1" indent="-457200"/>
            <a:r>
              <a:rPr lang="en-AU" sz="2800" b="0" dirty="0"/>
              <a:t>Strength </a:t>
            </a:r>
            <a:r>
              <a:rPr lang="en-AU" sz="2800" dirty="0"/>
              <a:t>= density</a:t>
            </a:r>
            <a:endParaRPr lang="en-AU" sz="2800" b="0" dirty="0"/>
          </a:p>
          <a:p>
            <a:pPr marL="1143000" lvl="1" indent="-457200"/>
            <a:endParaRPr lang="en-AU" sz="3200" b="0" dirty="0"/>
          </a:p>
        </p:txBody>
      </p:sp>
      <p:sp>
        <p:nvSpPr>
          <p:cNvPr id="19" name="Text Placeholder 3">
            <a:extLst>
              <a:ext uri="{FF2B5EF4-FFF2-40B4-BE49-F238E27FC236}">
                <a16:creationId xmlns:a16="http://schemas.microsoft.com/office/drawing/2014/main" id="{45B3CC75-EAAD-44FF-8116-1C1154DEE8F3}"/>
              </a:ext>
            </a:extLst>
          </p:cNvPr>
          <p:cNvSpPr txBox="1">
            <a:spLocks/>
          </p:cNvSpPr>
          <p:nvPr/>
        </p:nvSpPr>
        <p:spPr>
          <a:xfrm>
            <a:off x="-398905" y="3237341"/>
            <a:ext cx="475098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3200" b="0" dirty="0"/>
              <a:t>Gravity is stronger when objects have a greater mass.</a:t>
            </a:r>
          </a:p>
        </p:txBody>
      </p:sp>
      <p:pic>
        <p:nvPicPr>
          <p:cNvPr id="35" name="Picture 34">
            <a:extLst>
              <a:ext uri="{FF2B5EF4-FFF2-40B4-BE49-F238E27FC236}">
                <a16:creationId xmlns:a16="http://schemas.microsoft.com/office/drawing/2014/main" id="{D0E83983-346D-4B05-9A3E-DB007A3D9284}"/>
              </a:ext>
            </a:extLst>
          </p:cNvPr>
          <p:cNvPicPr>
            <a:picLocks noChangeAspect="1"/>
          </p:cNvPicPr>
          <p:nvPr/>
        </p:nvPicPr>
        <p:blipFill>
          <a:blip r:embed="rId3"/>
          <a:stretch>
            <a:fillRect/>
          </a:stretch>
        </p:blipFill>
        <p:spPr>
          <a:xfrm>
            <a:off x="5268248" y="1127771"/>
            <a:ext cx="6166469" cy="4624852"/>
          </a:xfrm>
          <a:prstGeom prst="rect">
            <a:avLst/>
          </a:prstGeom>
        </p:spPr>
      </p:pic>
    </p:spTree>
    <p:extLst>
      <p:ext uri="{BB962C8B-B14F-4D97-AF65-F5344CB8AC3E}">
        <p14:creationId xmlns:p14="http://schemas.microsoft.com/office/powerpoint/2010/main" val="1188710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Note that on the surface of the Earth, the field can be represented as straight lines.</a:t>
            </a:r>
          </a:p>
          <a:p>
            <a:pPr lvl="1" indent="0">
              <a:buNone/>
            </a:pPr>
            <a:endParaRPr lang="en-AU" sz="2800" dirty="0"/>
          </a:p>
          <a:p>
            <a:pPr lvl="1" indent="0">
              <a:buNone/>
            </a:pPr>
            <a:r>
              <a:rPr lang="en-AU" sz="2800" dirty="0"/>
              <a:t>The Earth is so large that any horizontal movement of the object is irrelevant.</a:t>
            </a:r>
          </a:p>
          <a:p>
            <a:pPr lvl="1" indent="0">
              <a:buNone/>
            </a:pPr>
            <a:endParaRPr lang="en-AU" sz="2800" dirty="0"/>
          </a:p>
          <a:p>
            <a:pPr lvl="1" indent="0">
              <a:buNone/>
            </a:pPr>
            <a:r>
              <a:rPr lang="en-AU" sz="2800" dirty="0"/>
              <a:t>Field lines point straight down and are evenly spaced.</a:t>
            </a:r>
          </a:p>
          <a:p>
            <a:pPr lvl="1" indent="0">
              <a:buNone/>
            </a:pPr>
            <a:endParaRPr lang="en-AU" sz="3200" dirty="0"/>
          </a:p>
          <a:p>
            <a:pPr lvl="1" indent="0">
              <a:buNone/>
            </a:pPr>
            <a:endParaRPr lang="en-AU" sz="3200" dirty="0"/>
          </a:p>
          <a:p>
            <a:pPr lvl="1" indent="0">
              <a:buNone/>
            </a:pPr>
            <a:endParaRPr lang="en-AU" sz="3200" dirty="0"/>
          </a:p>
          <a:p>
            <a:pPr lvl="1" indent="0">
              <a:buNone/>
            </a:pPr>
            <a:r>
              <a:rPr lang="en-AU" sz="3200" dirty="0"/>
              <a:t> </a:t>
            </a:r>
            <a:endParaRPr lang="en-AU" sz="3200" b="0" dirty="0"/>
          </a:p>
        </p:txBody>
      </p:sp>
      <p:pic>
        <p:nvPicPr>
          <p:cNvPr id="3" name="Picture 2">
            <a:extLst>
              <a:ext uri="{FF2B5EF4-FFF2-40B4-BE49-F238E27FC236}">
                <a16:creationId xmlns:a16="http://schemas.microsoft.com/office/drawing/2014/main" id="{57D78FFE-AEE0-427F-82FB-AFD7183BB6B3}"/>
              </a:ext>
            </a:extLst>
          </p:cNvPr>
          <p:cNvPicPr>
            <a:picLocks noChangeAspect="1"/>
          </p:cNvPicPr>
          <p:nvPr/>
        </p:nvPicPr>
        <p:blipFill>
          <a:blip r:embed="rId3"/>
          <a:stretch>
            <a:fillRect/>
          </a:stretch>
        </p:blipFill>
        <p:spPr>
          <a:xfrm>
            <a:off x="6065914" y="755130"/>
            <a:ext cx="5591902" cy="5591902"/>
          </a:xfrm>
          <a:prstGeom prst="rect">
            <a:avLst/>
          </a:prstGeom>
        </p:spPr>
      </p:pic>
      <p:cxnSp>
        <p:nvCxnSpPr>
          <p:cNvPr id="11" name="Straight Arrow Connector 10">
            <a:extLst>
              <a:ext uri="{FF2B5EF4-FFF2-40B4-BE49-F238E27FC236}">
                <a16:creationId xmlns:a16="http://schemas.microsoft.com/office/drawing/2014/main" id="{A1238544-7658-439F-939C-004C4DFC0ADA}"/>
              </a:ext>
            </a:extLst>
          </p:cNvPr>
          <p:cNvCxnSpPr>
            <a:cxnSpLocks/>
          </p:cNvCxnSpPr>
          <p:nvPr/>
        </p:nvCxnSpPr>
        <p:spPr>
          <a:xfrm>
            <a:off x="7026894" y="1255363"/>
            <a:ext cx="0" cy="4371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513B59-AB0C-4BF8-8BD4-AB79BDC6AD06}"/>
              </a:ext>
            </a:extLst>
          </p:cNvPr>
          <p:cNvCxnSpPr>
            <a:cxnSpLocks/>
          </p:cNvCxnSpPr>
          <p:nvPr/>
        </p:nvCxnSpPr>
        <p:spPr>
          <a:xfrm>
            <a:off x="8031701" y="1243126"/>
            <a:ext cx="0" cy="4371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188DFE4-FBF5-4B0C-BCEE-6B70F2483D5A}"/>
              </a:ext>
            </a:extLst>
          </p:cNvPr>
          <p:cNvCxnSpPr>
            <a:cxnSpLocks/>
          </p:cNvCxnSpPr>
          <p:nvPr/>
        </p:nvCxnSpPr>
        <p:spPr>
          <a:xfrm>
            <a:off x="9036508" y="1230889"/>
            <a:ext cx="0" cy="4371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3B3482A-F2A1-4E4D-BED2-C15D87C66749}"/>
              </a:ext>
            </a:extLst>
          </p:cNvPr>
          <p:cNvCxnSpPr>
            <a:cxnSpLocks/>
          </p:cNvCxnSpPr>
          <p:nvPr/>
        </p:nvCxnSpPr>
        <p:spPr>
          <a:xfrm>
            <a:off x="10041315" y="1218652"/>
            <a:ext cx="0" cy="4371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BC3A6E8-E6D6-438F-AFF8-A1CAD7513B2B}"/>
              </a:ext>
            </a:extLst>
          </p:cNvPr>
          <p:cNvCxnSpPr>
            <a:cxnSpLocks/>
          </p:cNvCxnSpPr>
          <p:nvPr/>
        </p:nvCxnSpPr>
        <p:spPr>
          <a:xfrm>
            <a:off x="11046122" y="1206415"/>
            <a:ext cx="0" cy="437174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276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In 1667, Isaac Newton published the book </a:t>
            </a:r>
            <a:r>
              <a:rPr lang="en-AU" i="1" dirty="0" err="1"/>
              <a:t>Philosophiæ</a:t>
            </a:r>
            <a:r>
              <a:rPr lang="en-AU" i="1" dirty="0"/>
              <a:t> Naturalis Principia Mathematica </a:t>
            </a:r>
            <a:r>
              <a:rPr lang="en-AU" dirty="0"/>
              <a:t>which introduced the Law of universal gravitation.</a:t>
            </a:r>
          </a:p>
          <a:p>
            <a:pPr lvl="1" indent="0">
              <a:buNone/>
            </a:pPr>
            <a:endParaRPr lang="en-AU" dirty="0"/>
          </a:p>
          <a:p>
            <a:pPr lvl="1" indent="0">
              <a:buNone/>
            </a:pPr>
            <a:r>
              <a:rPr lang="en-AU" dirty="0"/>
              <a:t>This was the first time in history that it was possible to scientifically explain the motion of the planets. </a:t>
            </a:r>
          </a:p>
          <a:p>
            <a:pPr lvl="1" indent="0">
              <a:buNone/>
            </a:pPr>
            <a:r>
              <a:rPr lang="en-AU" i="1" dirty="0"/>
              <a:t> </a:t>
            </a:r>
          </a:p>
        </p:txBody>
      </p:sp>
      <p:sp>
        <p:nvSpPr>
          <p:cNvPr id="17" name="Text Placeholder 3">
            <a:extLst>
              <a:ext uri="{FF2B5EF4-FFF2-40B4-BE49-F238E27FC236}">
                <a16:creationId xmlns:a16="http://schemas.microsoft.com/office/drawing/2014/main" id="{ED721A7C-0647-4F1A-AF1C-E228EB32A598}"/>
              </a:ext>
            </a:extLst>
          </p:cNvPr>
          <p:cNvSpPr txBox="1">
            <a:spLocks/>
          </p:cNvSpPr>
          <p:nvPr/>
        </p:nvSpPr>
        <p:spPr>
          <a:xfrm>
            <a:off x="-586500" y="4138344"/>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Two bodies with mass attract each other with a force that is directly proportional to the product of their masses and inversely proportional to the square of the distance between them.</a:t>
            </a:r>
          </a:p>
        </p:txBody>
      </p:sp>
      <p:pic>
        <p:nvPicPr>
          <p:cNvPr id="7" name="Picture 6">
            <a:extLst>
              <a:ext uri="{FF2B5EF4-FFF2-40B4-BE49-F238E27FC236}">
                <a16:creationId xmlns:a16="http://schemas.microsoft.com/office/drawing/2014/main" id="{5940D217-9170-471F-BD16-F89FC06CD59C}"/>
              </a:ext>
            </a:extLst>
          </p:cNvPr>
          <p:cNvPicPr>
            <a:picLocks noChangeAspect="1"/>
          </p:cNvPicPr>
          <p:nvPr/>
        </p:nvPicPr>
        <p:blipFill>
          <a:blip r:embed="rId3"/>
          <a:stretch>
            <a:fillRect/>
          </a:stretch>
        </p:blipFill>
        <p:spPr>
          <a:xfrm>
            <a:off x="9801225" y="378543"/>
            <a:ext cx="2095500" cy="2905125"/>
          </a:xfrm>
          <a:prstGeom prst="rect">
            <a:avLst/>
          </a:prstGeom>
        </p:spPr>
      </p:pic>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4"/>
          <a:stretch>
            <a:fillRect/>
          </a:stretch>
        </p:blipFill>
        <p:spPr>
          <a:xfrm>
            <a:off x="6088534" y="3749480"/>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5"/>
          <a:stretch>
            <a:fillRect/>
          </a:stretch>
        </p:blipFill>
        <p:spPr>
          <a:xfrm>
            <a:off x="6132297" y="1522174"/>
            <a:ext cx="2896221" cy="1517068"/>
          </a:xfrm>
          <a:prstGeom prst="rect">
            <a:avLst/>
          </a:prstGeom>
        </p:spPr>
      </p:pic>
    </p:spTree>
    <p:extLst>
      <p:ext uri="{BB962C8B-B14F-4D97-AF65-F5344CB8AC3E}">
        <p14:creationId xmlns:p14="http://schemas.microsoft.com/office/powerpoint/2010/main" val="2278551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force due to gravity of the Earth on a person on the surface of the Earth.</a:t>
            </a:r>
          </a:p>
          <a:p>
            <a:pPr lvl="1" indent="0">
              <a:buNone/>
            </a:pPr>
            <a:endParaRPr lang="en-AU" dirty="0"/>
          </a:p>
          <a:p>
            <a:pPr lvl="1" indent="0">
              <a:buNone/>
            </a:pPr>
            <a:endParaRPr lang="en-AU" dirty="0"/>
          </a:p>
          <a:p>
            <a:pPr lvl="1" indent="0">
              <a:buNone/>
            </a:pPr>
            <a:endParaRPr lang="en-AU" i="1" dirty="0"/>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
        <p:nvSpPr>
          <p:cNvPr id="13" name="Text Placeholder 3">
            <a:extLst>
              <a:ext uri="{FF2B5EF4-FFF2-40B4-BE49-F238E27FC236}">
                <a16:creationId xmlns:a16="http://schemas.microsoft.com/office/drawing/2014/main" id="{31F0D001-394C-436E-BF17-A05AC8BAFB61}"/>
              </a:ext>
            </a:extLst>
          </p:cNvPr>
          <p:cNvSpPr txBox="1">
            <a:spLocks/>
          </p:cNvSpPr>
          <p:nvPr/>
        </p:nvSpPr>
        <p:spPr>
          <a:xfrm>
            <a:off x="-586500" y="2375075"/>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acceleration due to gravity.</a:t>
            </a:r>
          </a:p>
          <a:p>
            <a:pPr lvl="1" indent="0">
              <a:buNone/>
            </a:pPr>
            <a:endParaRPr lang="en-AU" i="1" dirty="0"/>
          </a:p>
          <a:p>
            <a:pPr lvl="1" indent="0">
              <a:buNone/>
            </a:pPr>
            <a:endParaRPr lang="en-AU" i="1" dirty="0"/>
          </a:p>
        </p:txBody>
      </p:sp>
    </p:spTree>
    <p:extLst>
      <p:ext uri="{BB962C8B-B14F-4D97-AF65-F5344CB8AC3E}">
        <p14:creationId xmlns:p14="http://schemas.microsoft.com/office/powerpoint/2010/main" val="2884362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force due to gravity of the Earth on a person at the top of a 20-storey building</a:t>
            </a:r>
          </a:p>
          <a:p>
            <a:pPr lvl="1" indent="0">
              <a:buNone/>
            </a:pPr>
            <a:r>
              <a:rPr lang="en-AU" dirty="0"/>
              <a:t>(assume 3.5m per storey)</a:t>
            </a:r>
          </a:p>
          <a:p>
            <a:pPr lvl="1" indent="0">
              <a:buNone/>
            </a:pPr>
            <a:endParaRPr lang="en-AU" i="1" dirty="0"/>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
        <p:nvSpPr>
          <p:cNvPr id="11" name="Text Placeholder 3">
            <a:extLst>
              <a:ext uri="{FF2B5EF4-FFF2-40B4-BE49-F238E27FC236}">
                <a16:creationId xmlns:a16="http://schemas.microsoft.com/office/drawing/2014/main" id="{849D4E86-5016-488B-92FC-1DCA9F2EAB98}"/>
              </a:ext>
            </a:extLst>
          </p:cNvPr>
          <p:cNvSpPr txBox="1">
            <a:spLocks/>
          </p:cNvSpPr>
          <p:nvPr/>
        </p:nvSpPr>
        <p:spPr>
          <a:xfrm>
            <a:off x="-586500" y="2778810"/>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acceleration due to gravity.</a:t>
            </a:r>
          </a:p>
          <a:p>
            <a:pPr lvl="1" indent="0">
              <a:buNone/>
            </a:pPr>
            <a:endParaRPr lang="en-AU" i="1" dirty="0"/>
          </a:p>
          <a:p>
            <a:pPr lvl="1" indent="0">
              <a:buNone/>
            </a:pPr>
            <a:endParaRPr lang="en-AU" i="1" dirty="0"/>
          </a:p>
        </p:txBody>
      </p:sp>
    </p:spTree>
    <p:extLst>
      <p:ext uri="{BB962C8B-B14F-4D97-AF65-F5344CB8AC3E}">
        <p14:creationId xmlns:p14="http://schemas.microsoft.com/office/powerpoint/2010/main" val="492656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force due to gravity of the Earth on the Moon.</a:t>
            </a:r>
          </a:p>
          <a:p>
            <a:pPr lvl="1" indent="0">
              <a:buNone/>
            </a:pPr>
            <a:endParaRPr lang="en-AU" i="1" dirty="0"/>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
        <p:nvSpPr>
          <p:cNvPr id="11" name="Text Placeholder 3">
            <a:extLst>
              <a:ext uri="{FF2B5EF4-FFF2-40B4-BE49-F238E27FC236}">
                <a16:creationId xmlns:a16="http://schemas.microsoft.com/office/drawing/2014/main" id="{849D4E86-5016-488B-92FC-1DCA9F2EAB98}"/>
              </a:ext>
            </a:extLst>
          </p:cNvPr>
          <p:cNvSpPr txBox="1">
            <a:spLocks/>
          </p:cNvSpPr>
          <p:nvPr/>
        </p:nvSpPr>
        <p:spPr>
          <a:xfrm>
            <a:off x="-586500" y="198822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acceleration due to gravity.</a:t>
            </a:r>
          </a:p>
          <a:p>
            <a:pPr lvl="1" indent="0">
              <a:buNone/>
            </a:pPr>
            <a:endParaRPr lang="en-AU" i="1" dirty="0"/>
          </a:p>
          <a:p>
            <a:pPr lvl="1" indent="0">
              <a:buNone/>
            </a:pPr>
            <a:endParaRPr lang="en-AU" i="1" dirty="0"/>
          </a:p>
        </p:txBody>
      </p:sp>
    </p:spTree>
    <p:extLst>
      <p:ext uri="{BB962C8B-B14F-4D97-AF65-F5344CB8AC3E}">
        <p14:creationId xmlns:p14="http://schemas.microsoft.com/office/powerpoint/2010/main" val="2340649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force due to gravity of the Earth on the Moon.</a:t>
            </a:r>
          </a:p>
          <a:p>
            <a:pPr lvl="1" indent="0">
              <a:buNone/>
            </a:pPr>
            <a:endParaRPr lang="en-AU" i="1" dirty="0"/>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
        <p:nvSpPr>
          <p:cNvPr id="11" name="Text Placeholder 3">
            <a:extLst>
              <a:ext uri="{FF2B5EF4-FFF2-40B4-BE49-F238E27FC236}">
                <a16:creationId xmlns:a16="http://schemas.microsoft.com/office/drawing/2014/main" id="{849D4E86-5016-488B-92FC-1DCA9F2EAB98}"/>
              </a:ext>
            </a:extLst>
          </p:cNvPr>
          <p:cNvSpPr txBox="1">
            <a:spLocks/>
          </p:cNvSpPr>
          <p:nvPr/>
        </p:nvSpPr>
        <p:spPr>
          <a:xfrm>
            <a:off x="-586500" y="198822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acceleration due to gravity.</a:t>
            </a:r>
          </a:p>
          <a:p>
            <a:pPr lvl="1" indent="0">
              <a:buNone/>
            </a:pPr>
            <a:endParaRPr lang="en-AU" dirty="0"/>
          </a:p>
          <a:p>
            <a:pPr lvl="1" indent="0">
              <a:buNone/>
            </a:pPr>
            <a:r>
              <a:rPr lang="en-AU" dirty="0"/>
              <a:t>Assuming a perfectly circular orbit, calculate the number of days it takes for the Moon to orbit the Earth.</a:t>
            </a:r>
            <a:endParaRPr lang="en-AU" i="1" dirty="0"/>
          </a:p>
          <a:p>
            <a:pPr lvl="1" indent="0">
              <a:buNone/>
            </a:pPr>
            <a:endParaRPr lang="en-AU" i="1" dirty="0"/>
          </a:p>
        </p:txBody>
      </p:sp>
    </p:spTree>
    <p:extLst>
      <p:ext uri="{BB962C8B-B14F-4D97-AF65-F5344CB8AC3E}">
        <p14:creationId xmlns:p14="http://schemas.microsoft.com/office/powerpoint/2010/main" val="3482394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t>Calculate the force due to gravity of the Moon on the Earth.</a:t>
            </a:r>
          </a:p>
          <a:p>
            <a:pPr lvl="1" indent="0">
              <a:buNone/>
            </a:pPr>
            <a:endParaRPr lang="en-AU" i="1" dirty="0"/>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Tree>
    <p:extLst>
      <p:ext uri="{BB962C8B-B14F-4D97-AF65-F5344CB8AC3E}">
        <p14:creationId xmlns:p14="http://schemas.microsoft.com/office/powerpoint/2010/main" val="3080127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668250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b="1" dirty="0"/>
              <a:t>Note:</a:t>
            </a:r>
            <a:endParaRPr lang="en-AU" i="1" dirty="0"/>
          </a:p>
          <a:p>
            <a:pPr lvl="1" indent="0">
              <a:buNone/>
            </a:pPr>
            <a:r>
              <a:rPr lang="en-AU" dirty="0"/>
              <a:t>The force of gravity of the Earth on the Moon is the same magnitude as the force of gravity of the Moon on the Earth.</a:t>
            </a:r>
          </a:p>
          <a:p>
            <a:pPr lvl="1" indent="0">
              <a:buNone/>
            </a:pPr>
            <a:endParaRPr lang="en-AU" dirty="0"/>
          </a:p>
          <a:p>
            <a:pPr lvl="1" indent="0">
              <a:buNone/>
            </a:pPr>
            <a:r>
              <a:rPr lang="en-AU" dirty="0"/>
              <a:t>The gravitational force attracting two objects is symmetrical (Newton’s 3</a:t>
            </a:r>
            <a:r>
              <a:rPr lang="en-AU" baseline="30000" dirty="0"/>
              <a:t>rd</a:t>
            </a:r>
            <a:r>
              <a:rPr lang="en-AU" dirty="0"/>
              <a:t> Law).</a:t>
            </a:r>
          </a:p>
          <a:p>
            <a:pPr lvl="1" indent="0">
              <a:buNone/>
            </a:pPr>
            <a:endParaRPr lang="en-AU" dirty="0"/>
          </a:p>
          <a:p>
            <a:pPr lvl="1" indent="0">
              <a:buNone/>
            </a:pPr>
            <a:r>
              <a:rPr lang="en-AU" dirty="0"/>
              <a:t>But the resulting acceleration is not!</a:t>
            </a:r>
          </a:p>
          <a:p>
            <a:pPr lvl="1" indent="0">
              <a:buNone/>
            </a:pPr>
            <a:endParaRPr lang="en-AU" dirty="0"/>
          </a:p>
          <a:p>
            <a:pPr lvl="1" indent="0">
              <a:buNone/>
            </a:pPr>
            <a:r>
              <a:rPr lang="en-AU" dirty="0"/>
              <a:t>The smaller mass with have the greater acceleration.</a:t>
            </a:r>
          </a:p>
          <a:p>
            <a:pPr lvl="1" indent="0">
              <a:buNone/>
            </a:pPr>
            <a:endParaRPr lang="en-AU" i="1" dirty="0"/>
          </a:p>
        </p:txBody>
      </p:sp>
      <p:grpSp>
        <p:nvGrpSpPr>
          <p:cNvPr id="19" name="Group 18">
            <a:extLst>
              <a:ext uri="{FF2B5EF4-FFF2-40B4-BE49-F238E27FC236}">
                <a16:creationId xmlns:a16="http://schemas.microsoft.com/office/drawing/2014/main" id="{A5D1B201-5218-4253-89B8-58AFC5493BF9}"/>
              </a:ext>
            </a:extLst>
          </p:cNvPr>
          <p:cNvGrpSpPr/>
          <p:nvPr/>
        </p:nvGrpSpPr>
        <p:grpSpPr>
          <a:xfrm>
            <a:off x="6339212" y="1212913"/>
            <a:ext cx="5415931" cy="3582277"/>
            <a:chOff x="6339212" y="1212913"/>
            <a:chExt cx="5415931" cy="3582277"/>
          </a:xfrm>
        </p:grpSpPr>
        <p:pic>
          <p:nvPicPr>
            <p:cNvPr id="9" name="Picture 8">
              <a:extLst>
                <a:ext uri="{FF2B5EF4-FFF2-40B4-BE49-F238E27FC236}">
                  <a16:creationId xmlns:a16="http://schemas.microsoft.com/office/drawing/2014/main" id="{5D397BB3-D6AC-4B7D-BFA0-8CDB7056F312}"/>
                </a:ext>
              </a:extLst>
            </p:cNvPr>
            <p:cNvPicPr>
              <a:picLocks noChangeAspect="1"/>
            </p:cNvPicPr>
            <p:nvPr/>
          </p:nvPicPr>
          <p:blipFill>
            <a:blip r:embed="rId3"/>
            <a:stretch>
              <a:fillRect/>
            </a:stretch>
          </p:blipFill>
          <p:spPr>
            <a:xfrm>
              <a:off x="6339212" y="3131901"/>
              <a:ext cx="5415931" cy="1663289"/>
            </a:xfrm>
            <a:prstGeom prst="rect">
              <a:avLst/>
            </a:prstGeom>
          </p:spPr>
        </p:pic>
        <p:pic>
          <p:nvPicPr>
            <p:cNvPr id="18" name="Picture 17">
              <a:extLst>
                <a:ext uri="{FF2B5EF4-FFF2-40B4-BE49-F238E27FC236}">
                  <a16:creationId xmlns:a16="http://schemas.microsoft.com/office/drawing/2014/main" id="{BAADFE8C-1499-4403-8B1B-BA251FB3DDE4}"/>
                </a:ext>
              </a:extLst>
            </p:cNvPr>
            <p:cNvPicPr>
              <a:picLocks noChangeAspect="1"/>
            </p:cNvPicPr>
            <p:nvPr/>
          </p:nvPicPr>
          <p:blipFill>
            <a:blip r:embed="rId4"/>
            <a:stretch>
              <a:fillRect/>
            </a:stretch>
          </p:blipFill>
          <p:spPr>
            <a:xfrm>
              <a:off x="7610373" y="1212913"/>
              <a:ext cx="2896221" cy="1517068"/>
            </a:xfrm>
            <a:prstGeom prst="rect">
              <a:avLst/>
            </a:prstGeom>
          </p:spPr>
        </p:pic>
      </p:grpSp>
    </p:spTree>
    <p:extLst>
      <p:ext uri="{BB962C8B-B14F-4D97-AF65-F5344CB8AC3E}">
        <p14:creationId xmlns:p14="http://schemas.microsoft.com/office/powerpoint/2010/main" val="1921702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616585" y="1046732"/>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The gravitational field strength is defined as:</a:t>
            </a:r>
          </a:p>
          <a:p>
            <a:pPr lvl="2" indent="0">
              <a:buNone/>
            </a:pPr>
            <a:r>
              <a:rPr lang="en-AU" sz="2400" b="1" i="1" dirty="0"/>
              <a:t>The net force per unit mass caused by the gravitational field</a:t>
            </a:r>
          </a:p>
          <a:p>
            <a:pPr lvl="2" indent="0">
              <a:buNone/>
            </a:pPr>
            <a:endParaRPr lang="en-AU" sz="2400" b="1" i="1" dirty="0"/>
          </a:p>
          <a:p>
            <a:pPr lvl="2" indent="0">
              <a:buNone/>
            </a:pPr>
            <a:endParaRPr lang="en-AU" sz="2400" b="1" i="1" dirty="0"/>
          </a:p>
          <a:p>
            <a:pPr lvl="2" indent="0">
              <a:buNone/>
            </a:pPr>
            <a:endParaRPr lang="en-AU" sz="2400" b="1" i="1" dirty="0"/>
          </a:p>
          <a:p>
            <a:pPr lvl="2" indent="0">
              <a:buNone/>
            </a:pPr>
            <a:endParaRPr lang="en-AU" sz="2400" b="1" i="1" dirty="0"/>
          </a:p>
          <a:p>
            <a:pPr lvl="2" indent="0">
              <a:buNone/>
            </a:pPr>
            <a:r>
              <a:rPr lang="en-AU" sz="2400" b="1" i="1" dirty="0"/>
              <a:t>m = mass of the object you are studying</a:t>
            </a:r>
          </a:p>
          <a:p>
            <a:pPr lvl="2" indent="0">
              <a:buNone/>
            </a:pPr>
            <a:r>
              <a:rPr lang="en-AU" sz="2400" b="1" i="1" dirty="0"/>
              <a:t>M = mass of the object supplying the gravitational field in question</a:t>
            </a:r>
          </a:p>
          <a:p>
            <a:pPr lvl="2" indent="0">
              <a:buNone/>
            </a:pPr>
            <a:endParaRPr lang="en-AU" sz="2400" b="1" i="1" dirty="0"/>
          </a:p>
          <a:p>
            <a:pPr lvl="2" indent="0">
              <a:buNone/>
            </a:pPr>
            <a:endParaRPr lang="en-AU" sz="2400" dirty="0"/>
          </a:p>
          <a:p>
            <a:pPr lvl="2" indent="0">
              <a:buNone/>
            </a:pPr>
            <a:r>
              <a:rPr lang="en-AU" sz="2400" dirty="0"/>
              <a:t>This is equivalent to the acceleration that an object will undergo in that gravitational field.</a:t>
            </a:r>
          </a:p>
        </p:txBody>
      </p:sp>
      <p:pic>
        <p:nvPicPr>
          <p:cNvPr id="5" name="Picture 4">
            <a:extLst>
              <a:ext uri="{FF2B5EF4-FFF2-40B4-BE49-F238E27FC236}">
                <a16:creationId xmlns:a16="http://schemas.microsoft.com/office/drawing/2014/main" id="{EC6B9444-103E-4E70-BB45-866435A0FA9D}"/>
              </a:ext>
            </a:extLst>
          </p:cNvPr>
          <p:cNvPicPr>
            <a:picLocks noChangeAspect="1"/>
          </p:cNvPicPr>
          <p:nvPr/>
        </p:nvPicPr>
        <p:blipFill>
          <a:blip r:embed="rId3"/>
          <a:stretch>
            <a:fillRect/>
          </a:stretch>
        </p:blipFill>
        <p:spPr>
          <a:xfrm>
            <a:off x="1429394" y="2157245"/>
            <a:ext cx="8271173" cy="1127099"/>
          </a:xfrm>
          <a:prstGeom prst="rect">
            <a:avLst/>
          </a:prstGeom>
        </p:spPr>
      </p:pic>
    </p:spTree>
    <p:extLst>
      <p:ext uri="{BB962C8B-B14F-4D97-AF65-F5344CB8AC3E}">
        <p14:creationId xmlns:p14="http://schemas.microsoft.com/office/powerpoint/2010/main" val="304940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I do</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1943603"/>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Calculate the gravitational field strength at the surface of the Sun.</a:t>
            </a:r>
            <a:endParaRPr lang="en-AU" sz="2400" dirty="0"/>
          </a:p>
        </p:txBody>
      </p:sp>
      <p:pic>
        <p:nvPicPr>
          <p:cNvPr id="5" name="Picture 4">
            <a:extLst>
              <a:ext uri="{FF2B5EF4-FFF2-40B4-BE49-F238E27FC236}">
                <a16:creationId xmlns:a16="http://schemas.microsoft.com/office/drawing/2014/main" id="{EC6B9444-103E-4E70-BB45-866435A0FA9D}"/>
              </a:ext>
            </a:extLst>
          </p:cNvPr>
          <p:cNvPicPr>
            <a:picLocks noChangeAspect="1"/>
          </p:cNvPicPr>
          <p:nvPr/>
        </p:nvPicPr>
        <p:blipFill>
          <a:blip r:embed="rId3"/>
          <a:stretch>
            <a:fillRect/>
          </a:stretch>
        </p:blipFill>
        <p:spPr>
          <a:xfrm>
            <a:off x="1723862" y="911089"/>
            <a:ext cx="8271173" cy="1127099"/>
          </a:xfrm>
          <a:prstGeom prst="rect">
            <a:avLst/>
          </a:prstGeom>
        </p:spPr>
      </p:pic>
      <mc:AlternateContent xmlns:mc="http://schemas.openxmlformats.org/markup-compatibility/2006">
        <mc:Choice xmlns:a14="http://schemas.microsoft.com/office/drawing/2010/main" Requires="a14">
          <p:sp>
            <p:nvSpPr>
              <p:cNvPr id="3" name="Text Placeholder 3">
                <a:extLst>
                  <a:ext uri="{FF2B5EF4-FFF2-40B4-BE49-F238E27FC236}">
                    <a16:creationId xmlns:a16="http://schemas.microsoft.com/office/drawing/2014/main" id="{02BED1DA-93C7-AD93-505A-208B843FB4CC}"/>
                  </a:ext>
                </a:extLst>
              </p:cNvPr>
              <p:cNvSpPr txBox="1">
                <a:spLocks/>
              </p:cNvSpPr>
              <p:nvPr/>
            </p:nvSpPr>
            <p:spPr>
              <a:xfrm>
                <a:off x="-477100" y="3003071"/>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solidFill>
                      <a:srgbClr val="FF0000"/>
                    </a:solidFill>
                  </a:rPr>
                  <a:t>Using the gravitational field strength formula:</a:t>
                </a:r>
              </a:p>
              <a:p>
                <a:pPr lvl="1" indent="0">
                  <a:buNone/>
                </a:pPr>
                <a:r>
                  <a:rPr lang="en-AU" sz="2000" dirty="0">
                    <a:solidFill>
                      <a:srgbClr val="FF0000"/>
                    </a:solidFill>
                  </a:rPr>
                  <a:t>G = gravitational constant  = 6.67 x 10</a:t>
                </a:r>
                <a:r>
                  <a:rPr lang="en-AU" sz="2000" baseline="30000" dirty="0">
                    <a:solidFill>
                      <a:srgbClr val="FF0000"/>
                    </a:solidFill>
                  </a:rPr>
                  <a:t>-11</a:t>
                </a:r>
                <a:r>
                  <a:rPr lang="en-AU" sz="2000" dirty="0">
                    <a:solidFill>
                      <a:srgbClr val="FF0000"/>
                    </a:solidFill>
                  </a:rPr>
                  <a:t> Nm</a:t>
                </a:r>
                <a:r>
                  <a:rPr lang="en-AU" sz="2000" baseline="30000" dirty="0">
                    <a:solidFill>
                      <a:srgbClr val="FF0000"/>
                    </a:solidFill>
                  </a:rPr>
                  <a:t>2</a:t>
                </a:r>
                <a:r>
                  <a:rPr lang="en-AU" sz="2000" dirty="0">
                    <a:solidFill>
                      <a:srgbClr val="FF0000"/>
                    </a:solidFill>
                  </a:rPr>
                  <a:t>kg</a:t>
                </a:r>
                <a:r>
                  <a:rPr lang="en-AU" sz="2000" baseline="30000" dirty="0">
                    <a:solidFill>
                      <a:srgbClr val="FF0000"/>
                    </a:solidFill>
                  </a:rPr>
                  <a:t>-2</a:t>
                </a:r>
                <a:endParaRPr lang="en-AU" sz="2000" dirty="0">
                  <a:solidFill>
                    <a:srgbClr val="FF0000"/>
                  </a:solidFill>
                </a:endParaRPr>
              </a:p>
              <a:p>
                <a:pPr lvl="1" indent="0">
                  <a:buNone/>
                </a:pPr>
                <a:r>
                  <a:rPr lang="en-AU" sz="2000" dirty="0">
                    <a:solidFill>
                      <a:srgbClr val="FF0000"/>
                    </a:solidFill>
                  </a:rPr>
                  <a:t>M = mass of sun = 1.99 x 10</a:t>
                </a:r>
                <a:r>
                  <a:rPr lang="en-AU" sz="2000" baseline="30000" dirty="0">
                    <a:solidFill>
                      <a:srgbClr val="FF0000"/>
                    </a:solidFill>
                  </a:rPr>
                  <a:t>30</a:t>
                </a:r>
                <a:r>
                  <a:rPr lang="en-AU" sz="2000" dirty="0">
                    <a:solidFill>
                      <a:srgbClr val="FF0000"/>
                    </a:solidFill>
                  </a:rPr>
                  <a:t> kg</a:t>
                </a:r>
              </a:p>
              <a:p>
                <a:pPr lvl="1" indent="0">
                  <a:buNone/>
                </a:pPr>
                <a:r>
                  <a:rPr lang="en-AU" sz="2000" dirty="0">
                    <a:solidFill>
                      <a:srgbClr val="FF0000"/>
                    </a:solidFill>
                  </a:rPr>
                  <a:t>r = distance from centre of object to location = radius of the sun = 6.96 x 10</a:t>
                </a:r>
                <a:r>
                  <a:rPr lang="en-AU" sz="2000" baseline="30000" dirty="0">
                    <a:solidFill>
                      <a:srgbClr val="FF0000"/>
                    </a:solidFill>
                  </a:rPr>
                  <a:t>8</a:t>
                </a:r>
                <a:r>
                  <a:rPr lang="en-AU" sz="2000" dirty="0">
                    <a:solidFill>
                      <a:srgbClr val="FF0000"/>
                    </a:solidFill>
                  </a:rPr>
                  <a:t> m</a:t>
                </a:r>
              </a:p>
              <a:p>
                <a:pPr lvl="1" indent="0">
                  <a:buNone/>
                </a:pPr>
                <a:endParaRPr lang="en-AU" sz="2000" dirty="0">
                  <a:solidFill>
                    <a:srgbClr val="FF0000"/>
                  </a:solidFill>
                </a:endParaRPr>
              </a:p>
              <a:p>
                <a:pPr lvl="1" indent="0">
                  <a:buNone/>
                </a:pPr>
                <a14:m>
                  <m:oMathPara xmlns:m="http://schemas.openxmlformats.org/officeDocument/2006/math">
                    <m:oMathParaPr>
                      <m:jc m:val="centerGroup"/>
                    </m:oMathParaPr>
                    <m:oMath xmlns:m="http://schemas.openxmlformats.org/officeDocument/2006/math">
                      <m:r>
                        <a:rPr lang="en-AU" sz="2800" i="1" dirty="0" smtClean="0">
                          <a:solidFill>
                            <a:srgbClr val="FF0000"/>
                          </a:solidFill>
                          <a:latin typeface="Cambria Math" panose="02040503050406030204" pitchFamily="18" charset="0"/>
                        </a:rPr>
                        <m:t>𝑔</m:t>
                      </m:r>
                      <m:r>
                        <a:rPr lang="en-AU" sz="280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𝐺</m:t>
                      </m:r>
                      <m:r>
                        <a:rPr lang="en-AU" sz="2800" i="1" dirty="0" smtClean="0">
                          <a:solidFill>
                            <a:srgbClr val="FF0000"/>
                          </a:solidFill>
                          <a:latin typeface="Cambria Math" panose="02040503050406030204" pitchFamily="18" charset="0"/>
                        </a:rPr>
                        <m:t> </m:t>
                      </m:r>
                      <m:f>
                        <m:fPr>
                          <m:ctrlPr>
                            <a:rPr lang="en-AU" sz="2800" i="1" dirty="0" smtClean="0">
                              <a:solidFill>
                                <a:srgbClr val="FF0000"/>
                              </a:solidFill>
                              <a:latin typeface="Cambria Math" panose="02040503050406030204" pitchFamily="18" charset="0"/>
                            </a:rPr>
                          </m:ctrlPr>
                        </m:fPr>
                        <m:num>
                          <m:r>
                            <a:rPr lang="en-AU" sz="2800" b="0" i="1" dirty="0" smtClean="0">
                              <a:solidFill>
                                <a:srgbClr val="FF0000"/>
                              </a:solidFill>
                              <a:latin typeface="Cambria Math" panose="02040503050406030204" pitchFamily="18" charset="0"/>
                            </a:rPr>
                            <m:t>𝑀</m:t>
                          </m:r>
                        </m:num>
                        <m:den>
                          <m:sSup>
                            <m:sSupPr>
                              <m:ctrlPr>
                                <a:rPr lang="en-AU" sz="280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𝑟</m:t>
                              </m:r>
                            </m:e>
                            <m:sup>
                              <m:r>
                                <a:rPr lang="en-AU" sz="2800" b="0" i="1" dirty="0" smtClean="0">
                                  <a:solidFill>
                                    <a:srgbClr val="FF0000"/>
                                  </a:solidFill>
                                  <a:latin typeface="Cambria Math" panose="02040503050406030204" pitchFamily="18" charset="0"/>
                                </a:rPr>
                                <m:t>2</m:t>
                              </m:r>
                            </m:sup>
                          </m:sSup>
                        </m:den>
                      </m:f>
                      <m:r>
                        <a:rPr lang="en-AU" sz="2800" b="0" i="1" dirty="0" smtClean="0">
                          <a:solidFill>
                            <a:srgbClr val="FF0000"/>
                          </a:solidFill>
                          <a:latin typeface="Cambria Math" panose="02040503050406030204" pitchFamily="18" charset="0"/>
                        </a:rPr>
                        <m:t>=6.67</m:t>
                      </m:r>
                      <m:r>
                        <a:rPr lang="en-AU" sz="2800" b="0" i="1" dirty="0" smtClean="0">
                          <a:solidFill>
                            <a:srgbClr val="FF0000"/>
                          </a:solidFill>
                          <a:latin typeface="Cambria Math" panose="02040503050406030204" pitchFamily="18" charset="0"/>
                        </a:rPr>
                        <m:t>𝑥</m:t>
                      </m:r>
                      <m:sSup>
                        <m:sSupPr>
                          <m:ctrlPr>
                            <a:rPr lang="en-AU" sz="2800" b="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10</m:t>
                          </m:r>
                        </m:e>
                        <m:sup>
                          <m:r>
                            <a:rPr lang="en-AU" sz="2800" b="0" i="1" dirty="0" smtClean="0">
                              <a:solidFill>
                                <a:srgbClr val="FF0000"/>
                              </a:solidFill>
                              <a:latin typeface="Cambria Math" panose="02040503050406030204" pitchFamily="18" charset="0"/>
                            </a:rPr>
                            <m:t>−11</m:t>
                          </m:r>
                        </m:sup>
                      </m:sSup>
                      <m:r>
                        <a:rPr lang="en-AU" sz="2800" b="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𝑥</m:t>
                      </m:r>
                      <m:r>
                        <a:rPr lang="en-AU" sz="2800" b="0" i="1" dirty="0" smtClean="0">
                          <a:solidFill>
                            <a:srgbClr val="FF0000"/>
                          </a:solidFill>
                          <a:latin typeface="Cambria Math" panose="02040503050406030204" pitchFamily="18" charset="0"/>
                        </a:rPr>
                        <m:t> </m:t>
                      </m:r>
                      <m:f>
                        <m:fPr>
                          <m:ctrlPr>
                            <a:rPr lang="en-AU" sz="2800" b="0" i="1" dirty="0" smtClean="0">
                              <a:solidFill>
                                <a:srgbClr val="FF0000"/>
                              </a:solidFill>
                              <a:latin typeface="Cambria Math" panose="02040503050406030204" pitchFamily="18" charset="0"/>
                            </a:rPr>
                          </m:ctrlPr>
                        </m:fPr>
                        <m:num>
                          <m:r>
                            <a:rPr lang="en-AU" sz="2800" b="0" i="1" dirty="0" smtClean="0">
                              <a:solidFill>
                                <a:srgbClr val="FF0000"/>
                              </a:solidFill>
                              <a:latin typeface="Cambria Math" panose="02040503050406030204" pitchFamily="18" charset="0"/>
                            </a:rPr>
                            <m:t>1.99 </m:t>
                          </m:r>
                          <m:r>
                            <a:rPr lang="en-AU" sz="2800" b="0" i="1" dirty="0" smtClean="0">
                              <a:solidFill>
                                <a:srgbClr val="FF0000"/>
                              </a:solidFill>
                              <a:latin typeface="Cambria Math" panose="02040503050406030204" pitchFamily="18" charset="0"/>
                            </a:rPr>
                            <m:t>𝑥</m:t>
                          </m:r>
                          <m:r>
                            <a:rPr lang="en-AU" sz="2800" b="0" i="1" dirty="0" smtClean="0">
                              <a:solidFill>
                                <a:srgbClr val="FF0000"/>
                              </a:solidFill>
                              <a:latin typeface="Cambria Math" panose="02040503050406030204" pitchFamily="18" charset="0"/>
                            </a:rPr>
                            <m:t> </m:t>
                          </m:r>
                          <m:sSup>
                            <m:sSupPr>
                              <m:ctrlPr>
                                <a:rPr lang="en-AU" sz="2800" b="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10</m:t>
                              </m:r>
                            </m:e>
                            <m:sup>
                              <m:r>
                                <a:rPr lang="en-AU" sz="2800" b="0" i="1" dirty="0" smtClean="0">
                                  <a:solidFill>
                                    <a:srgbClr val="FF0000"/>
                                  </a:solidFill>
                                  <a:latin typeface="Cambria Math" panose="02040503050406030204" pitchFamily="18" charset="0"/>
                                </a:rPr>
                                <m:t>30</m:t>
                              </m:r>
                            </m:sup>
                          </m:sSup>
                        </m:num>
                        <m:den>
                          <m:sSup>
                            <m:sSupPr>
                              <m:ctrlPr>
                                <a:rPr lang="en-AU" sz="2800" b="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m:t>
                              </m:r>
                              <m:r>
                                <a:rPr lang="en-AU" sz="2800" i="1" dirty="0">
                                  <a:solidFill>
                                    <a:srgbClr val="FF0000"/>
                                  </a:solidFill>
                                  <a:latin typeface="Cambria Math" panose="02040503050406030204" pitchFamily="18" charset="0"/>
                                </a:rPr>
                                <m:t>6.96 </m:t>
                              </m:r>
                              <m:r>
                                <a:rPr lang="en-AU" sz="2800" i="1" dirty="0">
                                  <a:solidFill>
                                    <a:srgbClr val="FF0000"/>
                                  </a:solidFill>
                                  <a:latin typeface="Cambria Math" panose="02040503050406030204" pitchFamily="18" charset="0"/>
                                </a:rPr>
                                <m:t>𝑥</m:t>
                              </m:r>
                              <m:r>
                                <a:rPr lang="en-AU" sz="2800" i="1" dirty="0">
                                  <a:solidFill>
                                    <a:srgbClr val="FF0000"/>
                                  </a:solidFill>
                                  <a:latin typeface="Cambria Math" panose="02040503050406030204" pitchFamily="18" charset="0"/>
                                </a:rPr>
                                <m:t> </m:t>
                              </m:r>
                              <m:sSup>
                                <m:sSupPr>
                                  <m:ctrlPr>
                                    <a:rPr lang="en-AU" sz="2800" i="1" dirty="0">
                                      <a:solidFill>
                                        <a:srgbClr val="FF0000"/>
                                      </a:solidFill>
                                      <a:latin typeface="Cambria Math" panose="02040503050406030204" pitchFamily="18" charset="0"/>
                                    </a:rPr>
                                  </m:ctrlPr>
                                </m:sSupPr>
                                <m:e>
                                  <m:r>
                                    <a:rPr lang="en-AU" sz="2800" i="1" dirty="0">
                                      <a:solidFill>
                                        <a:srgbClr val="FF0000"/>
                                      </a:solidFill>
                                      <a:latin typeface="Cambria Math" panose="02040503050406030204" pitchFamily="18" charset="0"/>
                                    </a:rPr>
                                    <m:t>10</m:t>
                                  </m:r>
                                </m:e>
                                <m:sup>
                                  <m:r>
                                    <a:rPr lang="en-AU" sz="2800" i="1" dirty="0">
                                      <a:solidFill>
                                        <a:srgbClr val="FF0000"/>
                                      </a:solidFill>
                                      <a:latin typeface="Cambria Math" panose="02040503050406030204" pitchFamily="18" charset="0"/>
                                    </a:rPr>
                                    <m:t>8</m:t>
                                  </m:r>
                                </m:sup>
                              </m:sSup>
                              <m:r>
                                <a:rPr lang="en-AU" sz="2800" b="0" i="1" dirty="0" smtClean="0">
                                  <a:solidFill>
                                    <a:srgbClr val="FF0000"/>
                                  </a:solidFill>
                                  <a:latin typeface="Cambria Math" panose="02040503050406030204" pitchFamily="18" charset="0"/>
                                </a:rPr>
                                <m:t>)</m:t>
                              </m:r>
                            </m:e>
                            <m:sup>
                              <m:r>
                                <a:rPr lang="en-AU" sz="2800" b="0" i="1" dirty="0" smtClean="0">
                                  <a:solidFill>
                                    <a:srgbClr val="FF0000"/>
                                  </a:solidFill>
                                  <a:latin typeface="Cambria Math" panose="02040503050406030204" pitchFamily="18" charset="0"/>
                                </a:rPr>
                                <m:t>2</m:t>
                              </m:r>
                            </m:sup>
                          </m:sSup>
                        </m:den>
                      </m:f>
                      <m:r>
                        <a:rPr lang="en-AU" sz="2800" b="0" i="1" dirty="0" smtClean="0">
                          <a:solidFill>
                            <a:srgbClr val="FF0000"/>
                          </a:solidFill>
                          <a:latin typeface="Cambria Math" panose="02040503050406030204" pitchFamily="18" charset="0"/>
                        </a:rPr>
                        <m:t>=274 </m:t>
                      </m:r>
                      <m:r>
                        <a:rPr lang="en-AU" sz="2800" b="0" i="1" dirty="0" smtClean="0">
                          <a:solidFill>
                            <a:srgbClr val="FF0000"/>
                          </a:solidFill>
                          <a:latin typeface="Cambria Math" panose="02040503050406030204" pitchFamily="18" charset="0"/>
                        </a:rPr>
                        <m:t>𝑁</m:t>
                      </m:r>
                      <m:r>
                        <a:rPr lang="en-AU" sz="2800" b="0" i="1" dirty="0" smtClean="0">
                          <a:solidFill>
                            <a:srgbClr val="FF0000"/>
                          </a:solidFill>
                          <a:latin typeface="Cambria Math" panose="02040503050406030204" pitchFamily="18" charset="0"/>
                        </a:rPr>
                        <m:t>/</m:t>
                      </m:r>
                      <m:r>
                        <a:rPr lang="en-AU" sz="2800" b="0" i="1" dirty="0" smtClean="0">
                          <a:solidFill>
                            <a:srgbClr val="FF0000"/>
                          </a:solidFill>
                          <a:latin typeface="Cambria Math" panose="02040503050406030204" pitchFamily="18" charset="0"/>
                        </a:rPr>
                        <m:t>𝑘𝑔</m:t>
                      </m:r>
                    </m:oMath>
                  </m:oMathPara>
                </a14:m>
                <a:endParaRPr lang="en-AU" sz="2800" dirty="0">
                  <a:solidFill>
                    <a:srgbClr val="FF0000"/>
                  </a:solidFill>
                </a:endParaRPr>
              </a:p>
              <a:p>
                <a:pPr lvl="1" indent="0">
                  <a:buNone/>
                </a:pPr>
                <a:endParaRPr lang="en-AU" sz="2400" dirty="0">
                  <a:solidFill>
                    <a:srgbClr val="FF0000"/>
                  </a:solidFill>
                </a:endParaRPr>
              </a:p>
            </p:txBody>
          </p:sp>
        </mc:Choice>
        <mc:Fallback>
          <p:sp>
            <p:nvSpPr>
              <p:cNvPr id="3" name="Text Placeholder 3">
                <a:extLst>
                  <a:ext uri="{FF2B5EF4-FFF2-40B4-BE49-F238E27FC236}">
                    <a16:creationId xmlns:a16="http://schemas.microsoft.com/office/drawing/2014/main" id="{02BED1DA-93C7-AD93-505A-208B843FB4CC}"/>
                  </a:ext>
                </a:extLst>
              </p:cNvPr>
              <p:cNvSpPr txBox="1">
                <a:spLocks noRot="1" noChangeAspect="1" noMove="1" noResize="1" noEditPoints="1" noAdjustHandles="1" noChangeArrowheads="1" noChangeShapeType="1" noTextEdit="1"/>
              </p:cNvSpPr>
              <p:nvPr/>
            </p:nvSpPr>
            <p:spPr>
              <a:xfrm>
                <a:off x="-477100" y="3003071"/>
                <a:ext cx="12131826" cy="885562"/>
              </a:xfrm>
              <a:prstGeom prst="rect">
                <a:avLst/>
              </a:prstGeom>
              <a:blipFill>
                <a:blip r:embed="rId4"/>
                <a:stretch>
                  <a:fillRect t="-9655" b="-192414"/>
                </a:stretch>
              </a:blipFill>
            </p:spPr>
            <p:txBody>
              <a:bodyPr/>
              <a:lstStyle/>
              <a:p>
                <a:r>
                  <a:rPr lang="en-AU">
                    <a:noFill/>
                  </a:rPr>
                  <a:t> </a:t>
                </a:r>
              </a:p>
            </p:txBody>
          </p:sp>
        </mc:Fallback>
      </mc:AlternateContent>
    </p:spTree>
    <p:extLst>
      <p:ext uri="{BB962C8B-B14F-4D97-AF65-F5344CB8AC3E}">
        <p14:creationId xmlns:p14="http://schemas.microsoft.com/office/powerpoint/2010/main" val="2615978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We do</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1943603"/>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Calculate the gravitational field strength at 10 km above the surface of the Earth.</a:t>
            </a:r>
            <a:endParaRPr lang="en-AU" sz="2400" dirty="0"/>
          </a:p>
        </p:txBody>
      </p:sp>
      <p:pic>
        <p:nvPicPr>
          <p:cNvPr id="5" name="Picture 4">
            <a:extLst>
              <a:ext uri="{FF2B5EF4-FFF2-40B4-BE49-F238E27FC236}">
                <a16:creationId xmlns:a16="http://schemas.microsoft.com/office/drawing/2014/main" id="{EC6B9444-103E-4E70-BB45-866435A0FA9D}"/>
              </a:ext>
            </a:extLst>
          </p:cNvPr>
          <p:cNvPicPr>
            <a:picLocks noChangeAspect="1"/>
          </p:cNvPicPr>
          <p:nvPr/>
        </p:nvPicPr>
        <p:blipFill>
          <a:blip r:embed="rId3"/>
          <a:stretch>
            <a:fillRect/>
          </a:stretch>
        </p:blipFill>
        <p:spPr>
          <a:xfrm>
            <a:off x="1723862" y="911089"/>
            <a:ext cx="8271173" cy="1127099"/>
          </a:xfrm>
          <a:prstGeom prst="rect">
            <a:avLst/>
          </a:prstGeom>
        </p:spPr>
      </p:pic>
      <mc:AlternateContent xmlns:mc="http://schemas.openxmlformats.org/markup-compatibility/2006">
        <mc:Choice xmlns:a14="http://schemas.microsoft.com/office/drawing/2010/main" Requires="a14">
          <p:sp>
            <p:nvSpPr>
              <p:cNvPr id="3" name="Text Placeholder 3">
                <a:extLst>
                  <a:ext uri="{FF2B5EF4-FFF2-40B4-BE49-F238E27FC236}">
                    <a16:creationId xmlns:a16="http://schemas.microsoft.com/office/drawing/2014/main" id="{02BED1DA-93C7-AD93-505A-208B843FB4CC}"/>
                  </a:ext>
                </a:extLst>
              </p:cNvPr>
              <p:cNvSpPr txBox="1">
                <a:spLocks/>
              </p:cNvSpPr>
              <p:nvPr/>
            </p:nvSpPr>
            <p:spPr>
              <a:xfrm>
                <a:off x="-477100" y="3003071"/>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dirty="0">
                    <a:solidFill>
                      <a:srgbClr val="FF0000"/>
                    </a:solidFill>
                  </a:rPr>
                  <a:t>Using the gravitational field strength formula:</a:t>
                </a:r>
              </a:p>
              <a:p>
                <a:pPr lvl="1" indent="0">
                  <a:buNone/>
                </a:pPr>
                <a:r>
                  <a:rPr lang="en-AU" sz="2000" dirty="0">
                    <a:solidFill>
                      <a:srgbClr val="FF0000"/>
                    </a:solidFill>
                  </a:rPr>
                  <a:t>G = gravitational constant  = 6.67 x 10</a:t>
                </a:r>
                <a:r>
                  <a:rPr lang="en-AU" sz="2000" baseline="30000" dirty="0">
                    <a:solidFill>
                      <a:srgbClr val="FF0000"/>
                    </a:solidFill>
                  </a:rPr>
                  <a:t>-11</a:t>
                </a:r>
                <a:r>
                  <a:rPr lang="en-AU" sz="2000" dirty="0">
                    <a:solidFill>
                      <a:srgbClr val="FF0000"/>
                    </a:solidFill>
                  </a:rPr>
                  <a:t> Nm</a:t>
                </a:r>
                <a:r>
                  <a:rPr lang="en-AU" sz="2000" baseline="30000" dirty="0">
                    <a:solidFill>
                      <a:srgbClr val="FF0000"/>
                    </a:solidFill>
                  </a:rPr>
                  <a:t>2</a:t>
                </a:r>
                <a:r>
                  <a:rPr lang="en-AU" sz="2000" dirty="0">
                    <a:solidFill>
                      <a:srgbClr val="FF0000"/>
                    </a:solidFill>
                  </a:rPr>
                  <a:t>kg</a:t>
                </a:r>
                <a:r>
                  <a:rPr lang="en-AU" sz="2000" baseline="30000" dirty="0">
                    <a:solidFill>
                      <a:srgbClr val="FF0000"/>
                    </a:solidFill>
                  </a:rPr>
                  <a:t>-2</a:t>
                </a:r>
                <a:endParaRPr lang="en-AU" sz="2000" dirty="0">
                  <a:solidFill>
                    <a:srgbClr val="FF0000"/>
                  </a:solidFill>
                </a:endParaRPr>
              </a:p>
              <a:p>
                <a:pPr lvl="1" indent="0">
                  <a:buNone/>
                </a:pPr>
                <a:r>
                  <a:rPr lang="en-AU" sz="2000" dirty="0">
                    <a:solidFill>
                      <a:srgbClr val="FF0000"/>
                    </a:solidFill>
                  </a:rPr>
                  <a:t>M = mass of Earth = 5.97 x 10</a:t>
                </a:r>
                <a:r>
                  <a:rPr lang="en-AU" sz="2000" baseline="30000" dirty="0">
                    <a:solidFill>
                      <a:srgbClr val="FF0000"/>
                    </a:solidFill>
                  </a:rPr>
                  <a:t>24</a:t>
                </a:r>
                <a:r>
                  <a:rPr lang="en-AU" sz="2000" dirty="0">
                    <a:solidFill>
                      <a:srgbClr val="FF0000"/>
                    </a:solidFill>
                  </a:rPr>
                  <a:t> kg</a:t>
                </a:r>
              </a:p>
              <a:p>
                <a:pPr lvl="1" indent="0">
                  <a:buNone/>
                </a:pPr>
                <a:r>
                  <a:rPr lang="en-AU" sz="2000" dirty="0">
                    <a:solidFill>
                      <a:srgbClr val="FF0000"/>
                    </a:solidFill>
                  </a:rPr>
                  <a:t>r = distance from centre of object to location = radius of the Earth + 10 km =</a:t>
                </a:r>
              </a:p>
              <a:p>
                <a:pPr lvl="1" indent="0">
                  <a:buNone/>
                </a:pPr>
                <a:r>
                  <a:rPr lang="en-AU" sz="2000" dirty="0">
                    <a:solidFill>
                      <a:srgbClr val="FF0000"/>
                    </a:solidFill>
                  </a:rPr>
                  <a:t>  = 6.37 x 10</a:t>
                </a:r>
                <a:r>
                  <a:rPr lang="en-AU" sz="2000" baseline="30000" dirty="0">
                    <a:solidFill>
                      <a:srgbClr val="FF0000"/>
                    </a:solidFill>
                  </a:rPr>
                  <a:t>6</a:t>
                </a:r>
                <a:r>
                  <a:rPr lang="en-AU" sz="2000" dirty="0">
                    <a:solidFill>
                      <a:srgbClr val="FF0000"/>
                    </a:solidFill>
                  </a:rPr>
                  <a:t> m + 10 000 m = 6.38 x 10</a:t>
                </a:r>
                <a:r>
                  <a:rPr lang="en-AU" sz="2000" baseline="30000" dirty="0">
                    <a:solidFill>
                      <a:srgbClr val="FF0000"/>
                    </a:solidFill>
                  </a:rPr>
                  <a:t>6</a:t>
                </a:r>
                <a:r>
                  <a:rPr lang="en-AU" sz="2000" dirty="0">
                    <a:solidFill>
                      <a:srgbClr val="FF0000"/>
                    </a:solidFill>
                  </a:rPr>
                  <a:t> m</a:t>
                </a:r>
              </a:p>
              <a:p>
                <a:pPr lvl="1" indent="0">
                  <a:buNone/>
                </a:pPr>
                <a:endParaRPr lang="en-AU" sz="2000" dirty="0">
                  <a:solidFill>
                    <a:srgbClr val="FF0000"/>
                  </a:solidFill>
                </a:endParaRPr>
              </a:p>
              <a:p>
                <a:pPr lvl="1" indent="0">
                  <a:buNone/>
                </a:pPr>
                <a14:m>
                  <m:oMathPara xmlns:m="http://schemas.openxmlformats.org/officeDocument/2006/math">
                    <m:oMathParaPr>
                      <m:jc m:val="centerGroup"/>
                    </m:oMathParaPr>
                    <m:oMath xmlns:m="http://schemas.openxmlformats.org/officeDocument/2006/math">
                      <m:r>
                        <a:rPr lang="en-AU" sz="2800" i="1" dirty="0" smtClean="0">
                          <a:solidFill>
                            <a:srgbClr val="FF0000"/>
                          </a:solidFill>
                          <a:latin typeface="Cambria Math" panose="02040503050406030204" pitchFamily="18" charset="0"/>
                        </a:rPr>
                        <m:t>𝑔</m:t>
                      </m:r>
                      <m:r>
                        <a:rPr lang="en-AU" sz="280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𝐺</m:t>
                      </m:r>
                      <m:r>
                        <a:rPr lang="en-AU" sz="2800" i="1" dirty="0" smtClean="0">
                          <a:solidFill>
                            <a:srgbClr val="FF0000"/>
                          </a:solidFill>
                          <a:latin typeface="Cambria Math" panose="02040503050406030204" pitchFamily="18" charset="0"/>
                        </a:rPr>
                        <m:t> </m:t>
                      </m:r>
                      <m:f>
                        <m:fPr>
                          <m:ctrlPr>
                            <a:rPr lang="en-AU" sz="2800" i="1" dirty="0" smtClean="0">
                              <a:solidFill>
                                <a:srgbClr val="FF0000"/>
                              </a:solidFill>
                              <a:latin typeface="Cambria Math" panose="02040503050406030204" pitchFamily="18" charset="0"/>
                            </a:rPr>
                          </m:ctrlPr>
                        </m:fPr>
                        <m:num>
                          <m:r>
                            <a:rPr lang="en-AU" sz="2800" b="0" i="1" dirty="0" smtClean="0">
                              <a:solidFill>
                                <a:srgbClr val="FF0000"/>
                              </a:solidFill>
                              <a:latin typeface="Cambria Math" panose="02040503050406030204" pitchFamily="18" charset="0"/>
                            </a:rPr>
                            <m:t>𝑀</m:t>
                          </m:r>
                        </m:num>
                        <m:den>
                          <m:sSup>
                            <m:sSupPr>
                              <m:ctrlPr>
                                <a:rPr lang="en-AU" sz="280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𝑟</m:t>
                              </m:r>
                            </m:e>
                            <m:sup>
                              <m:r>
                                <a:rPr lang="en-AU" sz="2800" b="0" i="1" dirty="0" smtClean="0">
                                  <a:solidFill>
                                    <a:srgbClr val="FF0000"/>
                                  </a:solidFill>
                                  <a:latin typeface="Cambria Math" panose="02040503050406030204" pitchFamily="18" charset="0"/>
                                </a:rPr>
                                <m:t>2</m:t>
                              </m:r>
                            </m:sup>
                          </m:sSup>
                        </m:den>
                      </m:f>
                      <m:r>
                        <a:rPr lang="en-AU" sz="2800" b="0" i="1" dirty="0" smtClean="0">
                          <a:solidFill>
                            <a:srgbClr val="FF0000"/>
                          </a:solidFill>
                          <a:latin typeface="Cambria Math" panose="02040503050406030204" pitchFamily="18" charset="0"/>
                        </a:rPr>
                        <m:t>=6.67</m:t>
                      </m:r>
                      <m:r>
                        <a:rPr lang="en-AU" sz="2800" b="0" i="1" dirty="0" smtClean="0">
                          <a:solidFill>
                            <a:srgbClr val="FF0000"/>
                          </a:solidFill>
                          <a:latin typeface="Cambria Math" panose="02040503050406030204" pitchFamily="18" charset="0"/>
                        </a:rPr>
                        <m:t>𝑥</m:t>
                      </m:r>
                      <m:sSup>
                        <m:sSupPr>
                          <m:ctrlPr>
                            <a:rPr lang="en-AU" sz="2800" b="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10</m:t>
                          </m:r>
                        </m:e>
                        <m:sup>
                          <m:r>
                            <a:rPr lang="en-AU" sz="2800" b="0" i="1" dirty="0" smtClean="0">
                              <a:solidFill>
                                <a:srgbClr val="FF0000"/>
                              </a:solidFill>
                              <a:latin typeface="Cambria Math" panose="02040503050406030204" pitchFamily="18" charset="0"/>
                            </a:rPr>
                            <m:t>−11</m:t>
                          </m:r>
                        </m:sup>
                      </m:sSup>
                      <m:r>
                        <a:rPr lang="en-AU" sz="2800" b="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𝑥</m:t>
                      </m:r>
                      <m:r>
                        <a:rPr lang="en-AU" sz="2800" b="0" i="1" dirty="0" smtClean="0">
                          <a:solidFill>
                            <a:srgbClr val="FF0000"/>
                          </a:solidFill>
                          <a:latin typeface="Cambria Math" panose="02040503050406030204" pitchFamily="18" charset="0"/>
                        </a:rPr>
                        <m:t> </m:t>
                      </m:r>
                      <m:f>
                        <m:fPr>
                          <m:ctrlPr>
                            <a:rPr lang="en-AU" sz="2800" b="0" i="1" dirty="0" smtClean="0">
                              <a:solidFill>
                                <a:srgbClr val="FF0000"/>
                              </a:solidFill>
                              <a:latin typeface="Cambria Math" panose="02040503050406030204" pitchFamily="18" charset="0"/>
                            </a:rPr>
                          </m:ctrlPr>
                        </m:fPr>
                        <m:num>
                          <m:r>
                            <a:rPr lang="en-AU" sz="2800" b="0" i="1" dirty="0" smtClean="0">
                              <a:solidFill>
                                <a:srgbClr val="FF0000"/>
                              </a:solidFill>
                              <a:latin typeface="Cambria Math" panose="02040503050406030204" pitchFamily="18" charset="0"/>
                            </a:rPr>
                            <m:t>5</m:t>
                          </m:r>
                          <m:r>
                            <a:rPr lang="en-AU" sz="2800" b="0" i="1" dirty="0" smtClean="0">
                              <a:solidFill>
                                <a:srgbClr val="FF0000"/>
                              </a:solidFill>
                              <a:latin typeface="Cambria Math" panose="02040503050406030204" pitchFamily="18" charset="0"/>
                            </a:rPr>
                            <m:t>.9</m:t>
                          </m:r>
                          <m:r>
                            <a:rPr lang="en-AU" sz="2800" b="0" i="1" dirty="0" smtClean="0">
                              <a:solidFill>
                                <a:srgbClr val="FF0000"/>
                              </a:solidFill>
                              <a:latin typeface="Cambria Math" panose="02040503050406030204" pitchFamily="18" charset="0"/>
                            </a:rPr>
                            <m:t>7</m:t>
                          </m:r>
                          <m:r>
                            <a:rPr lang="en-AU" sz="2800" b="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𝑥</m:t>
                          </m:r>
                          <m:r>
                            <a:rPr lang="en-AU" sz="2800" b="0" i="1" dirty="0" smtClean="0">
                              <a:solidFill>
                                <a:srgbClr val="FF0000"/>
                              </a:solidFill>
                              <a:latin typeface="Cambria Math" panose="02040503050406030204" pitchFamily="18" charset="0"/>
                            </a:rPr>
                            <m:t> </m:t>
                          </m:r>
                          <m:sSup>
                            <m:sSupPr>
                              <m:ctrlPr>
                                <a:rPr lang="en-AU" sz="2800" b="0" i="1" dirty="0" smtClean="0">
                                  <a:solidFill>
                                    <a:srgbClr val="FF0000"/>
                                  </a:solidFill>
                                  <a:latin typeface="Cambria Math" panose="02040503050406030204" pitchFamily="18" charset="0"/>
                                </a:rPr>
                              </m:ctrlPr>
                            </m:sSupPr>
                            <m:e>
                              <m:r>
                                <a:rPr lang="en-AU" sz="2800" b="0" i="1" dirty="0" smtClean="0">
                                  <a:solidFill>
                                    <a:srgbClr val="FF0000"/>
                                  </a:solidFill>
                                  <a:latin typeface="Cambria Math" panose="02040503050406030204" pitchFamily="18" charset="0"/>
                                </a:rPr>
                                <m:t>10</m:t>
                              </m:r>
                            </m:e>
                            <m:sup>
                              <m:r>
                                <a:rPr lang="en-AU" sz="2800" b="0" i="1" dirty="0" smtClean="0">
                                  <a:solidFill>
                                    <a:srgbClr val="FF0000"/>
                                  </a:solidFill>
                                  <a:latin typeface="Cambria Math" panose="02040503050406030204" pitchFamily="18" charset="0"/>
                                </a:rPr>
                                <m:t>24</m:t>
                              </m:r>
                            </m:sup>
                          </m:sSup>
                        </m:num>
                        <m:den>
                          <m:sSup>
                            <m:sSupPr>
                              <m:ctrlPr>
                                <a:rPr lang="en-AU" sz="2800" b="0" i="1" dirty="0" smtClean="0">
                                  <a:solidFill>
                                    <a:srgbClr val="FF0000"/>
                                  </a:solidFill>
                                  <a:latin typeface="Cambria Math" panose="02040503050406030204" pitchFamily="18" charset="0"/>
                                </a:rPr>
                              </m:ctrlPr>
                            </m:sSupPr>
                            <m:e>
                              <m:r>
                                <a:rPr lang="en-AU" sz="2800" i="1" dirty="0">
                                  <a:solidFill>
                                    <a:srgbClr val="FF0000"/>
                                  </a:solidFill>
                                  <a:latin typeface="Cambria Math" panose="02040503050406030204" pitchFamily="18" charset="0"/>
                                </a:rPr>
                                <m:t>(6.38 </m:t>
                              </m:r>
                              <m:r>
                                <a:rPr lang="en-AU" sz="2800" i="1" dirty="0">
                                  <a:solidFill>
                                    <a:srgbClr val="FF0000"/>
                                  </a:solidFill>
                                  <a:latin typeface="Cambria Math" panose="02040503050406030204" pitchFamily="18" charset="0"/>
                                </a:rPr>
                                <m:t>𝑥</m:t>
                              </m:r>
                              <m:r>
                                <a:rPr lang="en-AU" sz="2800" i="1" dirty="0">
                                  <a:solidFill>
                                    <a:srgbClr val="FF0000"/>
                                  </a:solidFill>
                                  <a:latin typeface="Cambria Math" panose="02040503050406030204" pitchFamily="18" charset="0"/>
                                </a:rPr>
                                <m:t> </m:t>
                              </m:r>
                              <m:sSup>
                                <m:sSupPr>
                                  <m:ctrlPr>
                                    <a:rPr lang="en-AU" sz="2800" i="1" dirty="0">
                                      <a:solidFill>
                                        <a:srgbClr val="FF0000"/>
                                      </a:solidFill>
                                      <a:latin typeface="Cambria Math" panose="02040503050406030204" pitchFamily="18" charset="0"/>
                                    </a:rPr>
                                  </m:ctrlPr>
                                </m:sSupPr>
                                <m:e>
                                  <m:r>
                                    <a:rPr lang="en-AU" sz="2800" i="1" dirty="0">
                                      <a:solidFill>
                                        <a:srgbClr val="FF0000"/>
                                      </a:solidFill>
                                      <a:latin typeface="Cambria Math" panose="02040503050406030204" pitchFamily="18" charset="0"/>
                                    </a:rPr>
                                    <m:t>10</m:t>
                                  </m:r>
                                </m:e>
                                <m:sup>
                                  <m:r>
                                    <a:rPr lang="en-AU" sz="2800" i="1" dirty="0">
                                      <a:solidFill>
                                        <a:srgbClr val="FF0000"/>
                                      </a:solidFill>
                                      <a:latin typeface="Cambria Math" panose="02040503050406030204" pitchFamily="18" charset="0"/>
                                    </a:rPr>
                                    <m:t>6</m:t>
                                  </m:r>
                                </m:sup>
                              </m:sSup>
                              <m:r>
                                <a:rPr lang="en-AU" sz="2800" i="1" dirty="0">
                                  <a:solidFill>
                                    <a:srgbClr val="FF0000"/>
                                  </a:solidFill>
                                  <a:latin typeface="Cambria Math" panose="02040503050406030204" pitchFamily="18" charset="0"/>
                                </a:rPr>
                                <m:t>)</m:t>
                              </m:r>
                            </m:e>
                            <m:sup>
                              <m:r>
                                <a:rPr lang="en-AU" sz="2800" b="0" i="1" dirty="0" smtClean="0">
                                  <a:solidFill>
                                    <a:srgbClr val="FF0000"/>
                                  </a:solidFill>
                                  <a:latin typeface="Cambria Math" panose="02040503050406030204" pitchFamily="18" charset="0"/>
                                </a:rPr>
                                <m:t>2</m:t>
                              </m:r>
                            </m:sup>
                          </m:sSup>
                        </m:den>
                      </m:f>
                      <m:r>
                        <a:rPr lang="en-AU" sz="2800" b="0" i="1" dirty="0" smtClean="0">
                          <a:solidFill>
                            <a:srgbClr val="FF0000"/>
                          </a:solidFill>
                          <a:latin typeface="Cambria Math" panose="02040503050406030204" pitchFamily="18" charset="0"/>
                        </a:rPr>
                        <m:t>=</m:t>
                      </m:r>
                      <m:r>
                        <a:rPr lang="en-AU" sz="2800" b="0" i="1" dirty="0" smtClean="0">
                          <a:solidFill>
                            <a:srgbClr val="FF0000"/>
                          </a:solidFill>
                          <a:latin typeface="Cambria Math" panose="02040503050406030204" pitchFamily="18" charset="0"/>
                        </a:rPr>
                        <m:t>9.78</m:t>
                      </m:r>
                      <m:r>
                        <a:rPr lang="en-AU" sz="2800" b="0" i="1" dirty="0" smtClean="0">
                          <a:solidFill>
                            <a:srgbClr val="FF0000"/>
                          </a:solidFill>
                          <a:latin typeface="Cambria Math" panose="02040503050406030204" pitchFamily="18" charset="0"/>
                        </a:rPr>
                        <m:t> </m:t>
                      </m:r>
                      <m:r>
                        <a:rPr lang="en-AU" sz="2800" b="0" i="1" dirty="0" smtClean="0">
                          <a:solidFill>
                            <a:srgbClr val="FF0000"/>
                          </a:solidFill>
                          <a:latin typeface="Cambria Math" panose="02040503050406030204" pitchFamily="18" charset="0"/>
                        </a:rPr>
                        <m:t>𝑁</m:t>
                      </m:r>
                      <m:r>
                        <a:rPr lang="en-AU" sz="2800" b="0" i="1" dirty="0" smtClean="0">
                          <a:solidFill>
                            <a:srgbClr val="FF0000"/>
                          </a:solidFill>
                          <a:latin typeface="Cambria Math" panose="02040503050406030204" pitchFamily="18" charset="0"/>
                        </a:rPr>
                        <m:t>/</m:t>
                      </m:r>
                      <m:r>
                        <a:rPr lang="en-AU" sz="2800" b="0" i="1" dirty="0" smtClean="0">
                          <a:solidFill>
                            <a:srgbClr val="FF0000"/>
                          </a:solidFill>
                          <a:latin typeface="Cambria Math" panose="02040503050406030204" pitchFamily="18" charset="0"/>
                        </a:rPr>
                        <m:t>𝑘𝑔</m:t>
                      </m:r>
                    </m:oMath>
                  </m:oMathPara>
                </a14:m>
                <a:endParaRPr lang="en-AU" sz="2800" dirty="0">
                  <a:solidFill>
                    <a:srgbClr val="FF0000"/>
                  </a:solidFill>
                </a:endParaRPr>
              </a:p>
              <a:p>
                <a:pPr lvl="1" indent="0">
                  <a:buNone/>
                </a:pPr>
                <a:endParaRPr lang="en-AU" sz="2400" dirty="0">
                  <a:solidFill>
                    <a:srgbClr val="FF0000"/>
                  </a:solidFill>
                </a:endParaRPr>
              </a:p>
            </p:txBody>
          </p:sp>
        </mc:Choice>
        <mc:Fallback>
          <p:sp>
            <p:nvSpPr>
              <p:cNvPr id="3" name="Text Placeholder 3">
                <a:extLst>
                  <a:ext uri="{FF2B5EF4-FFF2-40B4-BE49-F238E27FC236}">
                    <a16:creationId xmlns:a16="http://schemas.microsoft.com/office/drawing/2014/main" id="{02BED1DA-93C7-AD93-505A-208B843FB4CC}"/>
                  </a:ext>
                </a:extLst>
              </p:cNvPr>
              <p:cNvSpPr txBox="1">
                <a:spLocks noRot="1" noChangeAspect="1" noMove="1" noResize="1" noEditPoints="1" noAdjustHandles="1" noChangeArrowheads="1" noChangeShapeType="1" noTextEdit="1"/>
              </p:cNvSpPr>
              <p:nvPr/>
            </p:nvSpPr>
            <p:spPr>
              <a:xfrm>
                <a:off x="-477100" y="3003071"/>
                <a:ext cx="12131826" cy="885562"/>
              </a:xfrm>
              <a:prstGeom prst="rect">
                <a:avLst/>
              </a:prstGeom>
              <a:blipFill>
                <a:blip r:embed="rId4"/>
                <a:stretch>
                  <a:fillRect t="-9655" b="-231034"/>
                </a:stretch>
              </a:blipFill>
            </p:spPr>
            <p:txBody>
              <a:bodyPr/>
              <a:lstStyle/>
              <a:p>
                <a:r>
                  <a:rPr lang="en-AU">
                    <a:noFill/>
                  </a:rPr>
                  <a:t> </a:t>
                </a:r>
              </a:p>
            </p:txBody>
          </p:sp>
        </mc:Fallback>
      </mc:AlternateContent>
    </p:spTree>
    <p:extLst>
      <p:ext uri="{BB962C8B-B14F-4D97-AF65-F5344CB8AC3E}">
        <p14:creationId xmlns:p14="http://schemas.microsoft.com/office/powerpoint/2010/main" val="98443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You do</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359113" y="1984582"/>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Calculate the gravitational field strength at 20 000 km above the surface of the Earth.</a:t>
            </a:r>
            <a:endParaRPr lang="en-AU" sz="2400" dirty="0"/>
          </a:p>
        </p:txBody>
      </p:sp>
      <p:pic>
        <p:nvPicPr>
          <p:cNvPr id="5" name="Picture 4">
            <a:extLst>
              <a:ext uri="{FF2B5EF4-FFF2-40B4-BE49-F238E27FC236}">
                <a16:creationId xmlns:a16="http://schemas.microsoft.com/office/drawing/2014/main" id="{EC6B9444-103E-4E70-BB45-866435A0FA9D}"/>
              </a:ext>
            </a:extLst>
          </p:cNvPr>
          <p:cNvPicPr>
            <a:picLocks noChangeAspect="1"/>
          </p:cNvPicPr>
          <p:nvPr/>
        </p:nvPicPr>
        <p:blipFill>
          <a:blip r:embed="rId3"/>
          <a:stretch>
            <a:fillRect/>
          </a:stretch>
        </p:blipFill>
        <p:spPr>
          <a:xfrm>
            <a:off x="1723862" y="911089"/>
            <a:ext cx="8271173" cy="1127099"/>
          </a:xfrm>
          <a:prstGeom prst="rect">
            <a:avLst/>
          </a:prstGeom>
        </p:spPr>
      </p:pic>
      <p:sp>
        <p:nvSpPr>
          <p:cNvPr id="6" name="Rectangle 5">
            <a:extLst>
              <a:ext uri="{FF2B5EF4-FFF2-40B4-BE49-F238E27FC236}">
                <a16:creationId xmlns:a16="http://schemas.microsoft.com/office/drawing/2014/main" id="{7BAE7491-DE10-11C1-9428-BE6E9119EA97}"/>
              </a:ext>
            </a:extLst>
          </p:cNvPr>
          <p:cNvSpPr/>
          <p:nvPr/>
        </p:nvSpPr>
        <p:spPr>
          <a:xfrm>
            <a:off x="8480323" y="2610465"/>
            <a:ext cx="3174403" cy="10176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t>Remember: distance needs to be in metres!</a:t>
            </a:r>
          </a:p>
        </p:txBody>
      </p:sp>
    </p:spTree>
    <p:extLst>
      <p:ext uri="{BB962C8B-B14F-4D97-AF65-F5344CB8AC3E}">
        <p14:creationId xmlns:p14="http://schemas.microsoft.com/office/powerpoint/2010/main" val="2879429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We do</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909807"/>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What </a:t>
            </a:r>
            <a:r>
              <a:rPr lang="en-AU" sz="2800" u="sng" dirty="0"/>
              <a:t>altitude</a:t>
            </a:r>
            <a:r>
              <a:rPr lang="en-AU" sz="2800" dirty="0"/>
              <a:t> would a rocket need to reach so that its weight force is 60% of its weight force on the surface of the Earth?</a:t>
            </a:r>
            <a:endParaRPr lang="en-AU" sz="2400" dirty="0"/>
          </a:p>
        </p:txBody>
      </p:sp>
      <p:pic>
        <p:nvPicPr>
          <p:cNvPr id="6" name="Picture 5">
            <a:extLst>
              <a:ext uri="{FF2B5EF4-FFF2-40B4-BE49-F238E27FC236}">
                <a16:creationId xmlns:a16="http://schemas.microsoft.com/office/drawing/2014/main" id="{88FFEDEE-BEC9-4B79-BD1D-439A1280361E}"/>
              </a:ext>
            </a:extLst>
          </p:cNvPr>
          <p:cNvPicPr>
            <a:picLocks noChangeAspect="1"/>
          </p:cNvPicPr>
          <p:nvPr/>
        </p:nvPicPr>
        <p:blipFill>
          <a:blip r:embed="rId3"/>
          <a:stretch>
            <a:fillRect/>
          </a:stretch>
        </p:blipFill>
        <p:spPr>
          <a:xfrm>
            <a:off x="9874243" y="969"/>
            <a:ext cx="2124112" cy="1033352"/>
          </a:xfrm>
          <a:prstGeom prst="rect">
            <a:avLst/>
          </a:prstGeom>
        </p:spPr>
      </p:pic>
    </p:spTree>
    <p:extLst>
      <p:ext uri="{BB962C8B-B14F-4D97-AF65-F5344CB8AC3E}">
        <p14:creationId xmlns:p14="http://schemas.microsoft.com/office/powerpoint/2010/main" val="1926349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909807"/>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What </a:t>
            </a:r>
            <a:r>
              <a:rPr lang="en-AU" sz="2800" u="sng" dirty="0"/>
              <a:t>altitude</a:t>
            </a:r>
            <a:r>
              <a:rPr lang="en-AU" sz="2800" dirty="0"/>
              <a:t> would a rocket need to reach so that its weight force is 60% of its weight force on the surface of the Earth?</a:t>
            </a:r>
            <a:endParaRPr lang="en-AU" sz="2400" dirty="0"/>
          </a:p>
        </p:txBody>
      </p:sp>
      <p:pic>
        <p:nvPicPr>
          <p:cNvPr id="6" name="Picture 5">
            <a:extLst>
              <a:ext uri="{FF2B5EF4-FFF2-40B4-BE49-F238E27FC236}">
                <a16:creationId xmlns:a16="http://schemas.microsoft.com/office/drawing/2014/main" id="{88FFEDEE-BEC9-4B79-BD1D-439A1280361E}"/>
              </a:ext>
            </a:extLst>
          </p:cNvPr>
          <p:cNvPicPr>
            <a:picLocks noChangeAspect="1"/>
          </p:cNvPicPr>
          <p:nvPr/>
        </p:nvPicPr>
        <p:blipFill>
          <a:blip r:embed="rId3"/>
          <a:stretch>
            <a:fillRect/>
          </a:stretch>
        </p:blipFill>
        <p:spPr>
          <a:xfrm>
            <a:off x="9874243" y="968"/>
            <a:ext cx="2124112" cy="1033352"/>
          </a:xfrm>
          <a:prstGeom prst="rect">
            <a:avLst/>
          </a:prstGeom>
        </p:spPr>
      </p:pic>
      <p:sp>
        <p:nvSpPr>
          <p:cNvPr id="9" name="Text Placeholder 3">
            <a:extLst>
              <a:ext uri="{FF2B5EF4-FFF2-40B4-BE49-F238E27FC236}">
                <a16:creationId xmlns:a16="http://schemas.microsoft.com/office/drawing/2014/main" id="{B3531DB8-64AA-49B0-B718-9C79639557F5}"/>
              </a:ext>
            </a:extLst>
          </p:cNvPr>
          <p:cNvSpPr txBox="1">
            <a:spLocks/>
          </p:cNvSpPr>
          <p:nvPr/>
        </p:nvSpPr>
        <p:spPr>
          <a:xfrm>
            <a:off x="-56125" y="1970037"/>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solidFill>
                  <a:srgbClr val="FF0000"/>
                </a:solidFill>
              </a:rPr>
              <a:t>Remember for exams:</a:t>
            </a:r>
          </a:p>
          <a:p>
            <a:pPr lvl="1" indent="0">
              <a:buNone/>
            </a:pPr>
            <a:r>
              <a:rPr lang="en-AU" sz="2800" dirty="0">
                <a:solidFill>
                  <a:srgbClr val="FF0000"/>
                </a:solidFill>
              </a:rPr>
              <a:t>Altitude is the distance above the centre of the Earth.</a:t>
            </a:r>
          </a:p>
          <a:p>
            <a:pPr lvl="1" indent="0">
              <a:buNone/>
            </a:pPr>
            <a:endParaRPr lang="en-AU" sz="2800" dirty="0">
              <a:solidFill>
                <a:srgbClr val="FF0000"/>
              </a:solidFill>
            </a:endParaRPr>
          </a:p>
          <a:p>
            <a:pPr lvl="1" indent="0">
              <a:buNone/>
            </a:pPr>
            <a:r>
              <a:rPr lang="en-AU" sz="2800" dirty="0">
                <a:solidFill>
                  <a:srgbClr val="FF0000"/>
                </a:solidFill>
              </a:rPr>
              <a:t>Altitude = r</a:t>
            </a:r>
            <a:r>
              <a:rPr lang="en-AU" sz="2800" baseline="-25000" dirty="0">
                <a:solidFill>
                  <a:srgbClr val="FF0000"/>
                </a:solidFill>
              </a:rPr>
              <a:t>2 </a:t>
            </a:r>
            <a:r>
              <a:rPr lang="en-AU" sz="2800" dirty="0">
                <a:solidFill>
                  <a:srgbClr val="FF0000"/>
                </a:solidFill>
              </a:rPr>
              <a:t> - r</a:t>
            </a:r>
            <a:r>
              <a:rPr lang="en-AU" sz="2800" baseline="-25000" dirty="0">
                <a:solidFill>
                  <a:srgbClr val="FF0000"/>
                </a:solidFill>
              </a:rPr>
              <a:t>1 </a:t>
            </a:r>
            <a:endParaRPr lang="en-AU" sz="2400" dirty="0">
              <a:solidFill>
                <a:srgbClr val="FF0000"/>
              </a:solidFill>
            </a:endParaRPr>
          </a:p>
        </p:txBody>
      </p:sp>
    </p:spTree>
    <p:extLst>
      <p:ext uri="{BB962C8B-B14F-4D97-AF65-F5344CB8AC3E}">
        <p14:creationId xmlns:p14="http://schemas.microsoft.com/office/powerpoint/2010/main" val="3379859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1002953"/>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At what altitude above the Earth could an astronaut sit between the Earth and the Moon so that he would not accelerate towards either.</a:t>
            </a:r>
            <a:endParaRPr lang="en-AU" sz="2400" dirty="0"/>
          </a:p>
        </p:txBody>
      </p:sp>
      <p:pic>
        <p:nvPicPr>
          <p:cNvPr id="6" name="Picture 5">
            <a:extLst>
              <a:ext uri="{FF2B5EF4-FFF2-40B4-BE49-F238E27FC236}">
                <a16:creationId xmlns:a16="http://schemas.microsoft.com/office/drawing/2014/main" id="{88FFEDEE-BEC9-4B79-BD1D-439A1280361E}"/>
              </a:ext>
            </a:extLst>
          </p:cNvPr>
          <p:cNvPicPr>
            <a:picLocks noChangeAspect="1"/>
          </p:cNvPicPr>
          <p:nvPr/>
        </p:nvPicPr>
        <p:blipFill>
          <a:blip r:embed="rId3"/>
          <a:stretch>
            <a:fillRect/>
          </a:stretch>
        </p:blipFill>
        <p:spPr>
          <a:xfrm>
            <a:off x="9874243" y="972"/>
            <a:ext cx="2124112" cy="1033352"/>
          </a:xfrm>
          <a:prstGeom prst="rect">
            <a:avLst/>
          </a:prstGeom>
        </p:spPr>
      </p:pic>
    </p:spTree>
    <p:extLst>
      <p:ext uri="{BB962C8B-B14F-4D97-AF65-F5344CB8AC3E}">
        <p14:creationId xmlns:p14="http://schemas.microsoft.com/office/powerpoint/2010/main" val="30734672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0" name="Text Placeholder 3">
            <a:extLst>
              <a:ext uri="{FF2B5EF4-FFF2-40B4-BE49-F238E27FC236}">
                <a16:creationId xmlns:a16="http://schemas.microsoft.com/office/drawing/2014/main" id="{1CE0D459-5DAF-463E-BD23-FB6B3A4BB435}"/>
              </a:ext>
            </a:extLst>
          </p:cNvPr>
          <p:cNvSpPr txBox="1">
            <a:spLocks/>
          </p:cNvSpPr>
          <p:nvPr/>
        </p:nvSpPr>
        <p:spPr>
          <a:xfrm>
            <a:off x="-477100" y="1002953"/>
            <a:ext cx="1213182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buNone/>
            </a:pPr>
            <a:r>
              <a:rPr lang="en-AU" sz="2800" dirty="0"/>
              <a:t>At what altitude above the Earth could an astronaut sit between the Earth and the Moon so that he would not accelerate towards either.</a:t>
            </a:r>
            <a:endParaRPr lang="en-AU" sz="2400" dirty="0"/>
          </a:p>
        </p:txBody>
      </p:sp>
      <p:pic>
        <p:nvPicPr>
          <p:cNvPr id="6" name="Picture 5">
            <a:extLst>
              <a:ext uri="{FF2B5EF4-FFF2-40B4-BE49-F238E27FC236}">
                <a16:creationId xmlns:a16="http://schemas.microsoft.com/office/drawing/2014/main" id="{88FFEDEE-BEC9-4B79-BD1D-439A1280361E}"/>
              </a:ext>
            </a:extLst>
          </p:cNvPr>
          <p:cNvPicPr>
            <a:picLocks noChangeAspect="1"/>
          </p:cNvPicPr>
          <p:nvPr/>
        </p:nvPicPr>
        <p:blipFill>
          <a:blip r:embed="rId3"/>
          <a:stretch>
            <a:fillRect/>
          </a:stretch>
        </p:blipFill>
        <p:spPr>
          <a:xfrm>
            <a:off x="9874243" y="972"/>
            <a:ext cx="2124112" cy="1033352"/>
          </a:xfrm>
          <a:prstGeom prst="rect">
            <a:avLst/>
          </a:prstGeom>
        </p:spPr>
      </p:pic>
      <p:pic>
        <p:nvPicPr>
          <p:cNvPr id="3" name="Picture 2">
            <a:extLst>
              <a:ext uri="{FF2B5EF4-FFF2-40B4-BE49-F238E27FC236}">
                <a16:creationId xmlns:a16="http://schemas.microsoft.com/office/drawing/2014/main" id="{16A16B5F-13C1-27B4-D94C-D7B5B644B478}"/>
              </a:ext>
            </a:extLst>
          </p:cNvPr>
          <p:cNvPicPr>
            <a:picLocks noChangeAspect="1"/>
          </p:cNvPicPr>
          <p:nvPr/>
        </p:nvPicPr>
        <p:blipFill>
          <a:blip r:embed="rId4"/>
          <a:stretch>
            <a:fillRect/>
          </a:stretch>
        </p:blipFill>
        <p:spPr>
          <a:xfrm>
            <a:off x="2207695" y="2708125"/>
            <a:ext cx="7991475" cy="3152775"/>
          </a:xfrm>
          <a:prstGeom prst="rect">
            <a:avLst/>
          </a:prstGeom>
        </p:spPr>
      </p:pic>
    </p:spTree>
    <p:extLst>
      <p:ext uri="{BB962C8B-B14F-4D97-AF65-F5344CB8AC3E}">
        <p14:creationId xmlns:p14="http://schemas.microsoft.com/office/powerpoint/2010/main" val="2747289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calculate gravitational attraction between objects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a:t>
            </a:r>
            <a:r>
              <a:rPr lang="en-US" sz="1600" b="0" dirty="0">
                <a:solidFill>
                  <a:srgbClr val="000303"/>
                </a:solidFill>
                <a:latin typeface="+mj-lt"/>
              </a:rPr>
              <a:t>gravitational attraction between objects</a:t>
            </a:r>
          </a:p>
          <a:p>
            <a:pPr marL="171450" indent="-171450" algn="l">
              <a:buFont typeface="Arial" panose="020B0604020202020204" pitchFamily="34" charset="0"/>
              <a:buChar char="•"/>
            </a:pPr>
            <a:r>
              <a:rPr lang="en-US" sz="1600" b="0" i="0" dirty="0">
                <a:solidFill>
                  <a:srgbClr val="000303"/>
                </a:solidFill>
                <a:effectLst/>
                <a:latin typeface="+mj-lt"/>
              </a:rPr>
              <a:t>I can calculate acce</a:t>
            </a:r>
            <a:r>
              <a:rPr lang="en-US" sz="1600" b="0" dirty="0">
                <a:solidFill>
                  <a:srgbClr val="000303"/>
                </a:solidFill>
                <a:latin typeface="+mj-lt"/>
              </a:rPr>
              <a:t>leration due to gravity</a:t>
            </a:r>
          </a:p>
        </p:txBody>
      </p:sp>
    </p:spTree>
    <p:extLst>
      <p:ext uri="{BB962C8B-B14F-4D97-AF65-F5344CB8AC3E}">
        <p14:creationId xmlns:p14="http://schemas.microsoft.com/office/powerpoint/2010/main" val="1066874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gravitational attraction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11E41868-D484-614A-A4DB-D28A925750C5}"/>
              </a:ext>
            </a:extLst>
          </p:cNvPr>
          <p:cNvPicPr>
            <a:picLocks noChangeAspect="1"/>
          </p:cNvPicPr>
          <p:nvPr/>
        </p:nvPicPr>
        <p:blipFill>
          <a:blip r:embed="rId3"/>
          <a:stretch>
            <a:fillRect/>
          </a:stretch>
        </p:blipFill>
        <p:spPr>
          <a:xfrm>
            <a:off x="0" y="1114425"/>
            <a:ext cx="8534400" cy="5743575"/>
          </a:xfrm>
          <a:prstGeom prst="rect">
            <a:avLst/>
          </a:prstGeom>
        </p:spPr>
      </p:pic>
      <p:pic>
        <p:nvPicPr>
          <p:cNvPr id="8" name="Picture 7">
            <a:extLst>
              <a:ext uri="{FF2B5EF4-FFF2-40B4-BE49-F238E27FC236}">
                <a16:creationId xmlns:a16="http://schemas.microsoft.com/office/drawing/2014/main" id="{66E0C433-82BE-F0F5-06B8-DE28DEC2C7E4}"/>
              </a:ext>
            </a:extLst>
          </p:cNvPr>
          <p:cNvPicPr>
            <a:picLocks noChangeAspect="1"/>
          </p:cNvPicPr>
          <p:nvPr/>
        </p:nvPicPr>
        <p:blipFill>
          <a:blip r:embed="rId4"/>
          <a:stretch>
            <a:fillRect/>
          </a:stretch>
        </p:blipFill>
        <p:spPr>
          <a:xfrm>
            <a:off x="8401050" y="1007686"/>
            <a:ext cx="3790950" cy="5848350"/>
          </a:xfrm>
          <a:prstGeom prst="rect">
            <a:avLst/>
          </a:prstGeom>
        </p:spPr>
      </p:pic>
      <p:pic>
        <p:nvPicPr>
          <p:cNvPr id="10" name="Picture 9">
            <a:extLst>
              <a:ext uri="{FF2B5EF4-FFF2-40B4-BE49-F238E27FC236}">
                <a16:creationId xmlns:a16="http://schemas.microsoft.com/office/drawing/2014/main" id="{8EB15120-778C-0D8E-7F36-E359A040454F}"/>
              </a:ext>
            </a:extLst>
          </p:cNvPr>
          <p:cNvPicPr>
            <a:picLocks noChangeAspect="1"/>
          </p:cNvPicPr>
          <p:nvPr/>
        </p:nvPicPr>
        <p:blipFill>
          <a:blip r:embed="rId5"/>
          <a:stretch>
            <a:fillRect/>
          </a:stretch>
        </p:blipFill>
        <p:spPr>
          <a:xfrm>
            <a:off x="9577388" y="245842"/>
            <a:ext cx="1533525" cy="381000"/>
          </a:xfrm>
          <a:prstGeom prst="rect">
            <a:avLst/>
          </a:prstGeom>
        </p:spPr>
      </p:pic>
      <p:sp>
        <p:nvSpPr>
          <p:cNvPr id="3" name="Rectangle 2">
            <a:extLst>
              <a:ext uri="{FF2B5EF4-FFF2-40B4-BE49-F238E27FC236}">
                <a16:creationId xmlns:a16="http://schemas.microsoft.com/office/drawing/2014/main" id="{F907A917-376C-03CB-FEB0-87F3BE2BB0A4}"/>
              </a:ext>
            </a:extLst>
          </p:cNvPr>
          <p:cNvSpPr/>
          <p:nvPr/>
        </p:nvSpPr>
        <p:spPr>
          <a:xfrm>
            <a:off x="4171576" y="3531601"/>
            <a:ext cx="4132652" cy="24213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DA40DC8A-0CD2-AE95-54F8-89E6E51218D7}"/>
              </a:ext>
            </a:extLst>
          </p:cNvPr>
          <p:cNvSpPr/>
          <p:nvPr/>
        </p:nvSpPr>
        <p:spPr>
          <a:xfrm>
            <a:off x="8304228" y="905085"/>
            <a:ext cx="3887772" cy="59509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 Placeholder 3">
            <a:extLst>
              <a:ext uri="{FF2B5EF4-FFF2-40B4-BE49-F238E27FC236}">
                <a16:creationId xmlns:a16="http://schemas.microsoft.com/office/drawing/2014/main" id="{AF591ED4-14BD-2B31-2A75-907C76617B1B}"/>
              </a:ext>
            </a:extLst>
          </p:cNvPr>
          <p:cNvSpPr txBox="1">
            <a:spLocks/>
          </p:cNvSpPr>
          <p:nvPr/>
        </p:nvSpPr>
        <p:spPr>
          <a:xfrm>
            <a:off x="5452996" y="6015999"/>
            <a:ext cx="3081404" cy="29288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indent="0" algn="ctr">
              <a:buNone/>
            </a:pPr>
            <a:r>
              <a:rPr lang="en-AU" sz="1600" dirty="0">
                <a:solidFill>
                  <a:srgbClr val="FF0000"/>
                </a:solidFill>
              </a:rPr>
              <a:t>Future content required for these questions</a:t>
            </a:r>
            <a:endParaRPr lang="en-AU" sz="1400" dirty="0">
              <a:solidFill>
                <a:srgbClr val="FF0000"/>
              </a:solidFill>
            </a:endParaRPr>
          </a:p>
        </p:txBody>
      </p:sp>
    </p:spTree>
    <p:extLst>
      <p:ext uri="{BB962C8B-B14F-4D97-AF65-F5344CB8AC3E}">
        <p14:creationId xmlns:p14="http://schemas.microsoft.com/office/powerpoint/2010/main" val="1059293766"/>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0648297D-79A6-4D4E-B31A-15969913C918}"/>
</file>

<file path=docProps/app.xml><?xml version="1.0" encoding="utf-8"?>
<Properties xmlns="http://schemas.openxmlformats.org/officeDocument/2006/extended-properties" xmlns:vt="http://schemas.openxmlformats.org/officeDocument/2006/docPropsVTypes">
  <Template>{33057687-8793-EB47-A5E0-08E93C53D0F2}tf10001071</Template>
  <TotalTime>6710</TotalTime>
  <Words>1853</Words>
  <Application>Microsoft Office PowerPoint</Application>
  <PresentationFormat>Widescreen</PresentationFormat>
  <Paragraphs>284</Paragraphs>
  <Slides>24</Slides>
  <Notes>22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423</cp:revision>
  <cp:lastPrinted>2018-05-27T06:54:10Z</cp:lastPrinted>
  <dcterms:created xsi:type="dcterms:W3CDTF">2018-03-29T05:56:09Z</dcterms:created>
  <dcterms:modified xsi:type="dcterms:W3CDTF">2023-04-13T13:55:04Z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