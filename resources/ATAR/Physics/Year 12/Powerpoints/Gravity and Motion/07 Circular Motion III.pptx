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32" r:id="rId4"/>
    <p:sldMasterId id="2147484274" r:id="rId5"/>
  </p:sldMasterIdLst>
  <p:notesMasterIdLst>
    <p:notesMasterId r:id="rId27"/>
  </p:notesMasterIdLst>
  <p:handoutMasterIdLst>
    <p:handoutMasterId r:id="rId28"/>
  </p:handoutMasterIdLst>
  <p:sldIdLst>
    <p:sldId id="416" r:id="rId6"/>
    <p:sldId id="528" r:id="rId7"/>
    <p:sldId id="529" r:id="rId8"/>
    <p:sldId id="530" r:id="rId9"/>
    <p:sldId id="531" r:id="rId10"/>
    <p:sldId id="532" r:id="rId11"/>
    <p:sldId id="533" r:id="rId12"/>
    <p:sldId id="534" r:id="rId13"/>
    <p:sldId id="535" r:id="rId14"/>
    <p:sldId id="540" r:id="rId15"/>
    <p:sldId id="541" r:id="rId16"/>
    <p:sldId id="542" r:id="rId17"/>
    <p:sldId id="544" r:id="rId18"/>
    <p:sldId id="547" r:id="rId19"/>
    <p:sldId id="546" r:id="rId20"/>
    <p:sldId id="545" r:id="rId21"/>
    <p:sldId id="539" r:id="rId22"/>
    <p:sldId id="538" r:id="rId23"/>
    <p:sldId id="467" r:id="rId24"/>
    <p:sldId id="548" r:id="rId25"/>
    <p:sldId id="549"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helle Buss" initials="MB"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C0"/>
    <a:srgbClr val="C55A11"/>
    <a:srgbClr val="6E407C"/>
    <a:srgbClr val="159B4B"/>
    <a:srgbClr val="FBCA58"/>
    <a:srgbClr val="2E546D"/>
    <a:srgbClr val="DEEBF7"/>
    <a:srgbClr val="692B7D"/>
    <a:srgbClr val="472A50"/>
    <a:srgbClr val="2F556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857" autoAdjust="0"/>
    <p:restoredTop sz="85588" autoAdjust="0"/>
  </p:normalViewPr>
  <p:slideViewPr>
    <p:cSldViewPr snapToGrid="0" snapToObjects="1">
      <p:cViewPr varScale="1">
        <p:scale>
          <a:sx n="96" d="100"/>
          <a:sy n="96" d="100"/>
        </p:scale>
        <p:origin x="582" y="84"/>
      </p:cViewPr>
      <p:guideLst>
        <p:guide orient="horz" pos="2160"/>
        <p:guide pos="3840"/>
      </p:guideLst>
    </p:cSldViewPr>
  </p:slid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77" d="100"/>
          <a:sy n="77" d="100"/>
        </p:scale>
        <p:origin x="2592"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handoutMaster" Target="handoutMasters/handout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notesMaster" Target="notesMasters/notesMaster1.xml"/><Relationship Id="rId30" Type="http://schemas.openxmlformats.org/officeDocument/2006/relationships/presProps" Target="presProps.xml"/><Relationship Id="rId8" Type="http://schemas.openxmlformats.org/officeDocument/2006/relationships/slide" Target="slides/slide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78E4B7C-96ED-E449-9693-B655C4671FD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28D809C4-E54C-A54E-B9F4-56C375E0D8D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53AD932-3578-6E4B-810C-4CF7533A983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DA9B4CA-DA29-0849-8519-4B81F4CE08AD}" type="slidenum">
              <a:rPr lang="en-US" smtClean="0"/>
              <a:t>‹#›</a:t>
            </a:fld>
            <a:endParaRPr lang="en-US"/>
          </a:p>
        </p:txBody>
      </p:sp>
      <p:sp>
        <p:nvSpPr>
          <p:cNvPr id="6" name="Date Placeholder 5">
            <a:extLst>
              <a:ext uri="{FF2B5EF4-FFF2-40B4-BE49-F238E27FC236}">
                <a16:creationId xmlns:a16="http://schemas.microsoft.com/office/drawing/2014/main" id="{27115A18-6E6E-F748-9363-1DB667F2522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A89F1C8-9A67-204B-8DB6-6C2E5B2C92D6}" type="datetimeFigureOut">
              <a:rPr lang="en-US" smtClean="0"/>
              <a:t>1/1/2023</a:t>
            </a:fld>
            <a:endParaRPr lang="en-US"/>
          </a:p>
        </p:txBody>
      </p:sp>
    </p:spTree>
    <p:extLst>
      <p:ext uri="{BB962C8B-B14F-4D97-AF65-F5344CB8AC3E}">
        <p14:creationId xmlns:p14="http://schemas.microsoft.com/office/powerpoint/2010/main" val="16315313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AAB6C6-360D-448E-B12B-FCD285160A81}" type="datetimeFigureOut">
              <a:rPr lang="en-AU" smtClean="0"/>
              <a:t>1/01/2023</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B756B8-97A8-4FA1-B26A-2500BA5D4D05}" type="slidenum">
              <a:rPr lang="en-AU" smtClean="0"/>
              <a:t>‹#›</a:t>
            </a:fld>
            <a:endParaRPr lang="en-AU"/>
          </a:p>
        </p:txBody>
      </p:sp>
    </p:spTree>
    <p:extLst>
      <p:ext uri="{BB962C8B-B14F-4D97-AF65-F5344CB8AC3E}">
        <p14:creationId xmlns:p14="http://schemas.microsoft.com/office/powerpoint/2010/main" val="18664480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2</a:t>
            </a:fld>
            <a:endParaRPr lang="en-AU"/>
          </a:p>
        </p:txBody>
      </p:sp>
    </p:spTree>
    <p:extLst>
      <p:ext uri="{BB962C8B-B14F-4D97-AF65-F5344CB8AC3E}">
        <p14:creationId xmlns:p14="http://schemas.microsoft.com/office/powerpoint/2010/main" val="7993577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Accelerating to the centre</a:t>
            </a:r>
          </a:p>
          <a:p>
            <a:r>
              <a:rPr lang="en-AU" b="0" dirty="0" err="1"/>
              <a:t>Fnet</a:t>
            </a:r>
            <a:r>
              <a:rPr lang="en-AU" b="0" dirty="0"/>
              <a:t> = ma = 50 * 26 = 1300 N upwards</a:t>
            </a:r>
          </a:p>
          <a:p>
            <a:r>
              <a:rPr lang="en-AU" b="0" dirty="0"/>
              <a:t>Normal force is how you experience your own weight so you’ll feel heavier</a:t>
            </a:r>
          </a:p>
        </p:txBody>
      </p:sp>
      <p:sp>
        <p:nvSpPr>
          <p:cNvPr id="4" name="Slide Number Placeholder 3"/>
          <p:cNvSpPr>
            <a:spLocks noGrp="1"/>
          </p:cNvSpPr>
          <p:nvPr>
            <p:ph type="sldNum" sz="quarter" idx="5"/>
          </p:nvPr>
        </p:nvSpPr>
        <p:spPr/>
        <p:txBody>
          <a:bodyPr/>
          <a:lstStyle/>
          <a:p>
            <a:fld id="{B5B756B8-97A8-4FA1-B26A-2500BA5D4D05}" type="slidenum">
              <a:rPr lang="en-AU" smtClean="0"/>
              <a:t>3</a:t>
            </a:fld>
            <a:endParaRPr lang="en-AU"/>
          </a:p>
        </p:txBody>
      </p:sp>
    </p:spTree>
    <p:extLst>
      <p:ext uri="{BB962C8B-B14F-4D97-AF65-F5344CB8AC3E}">
        <p14:creationId xmlns:p14="http://schemas.microsoft.com/office/powerpoint/2010/main" val="5858860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Accelerating to the centre</a:t>
            </a:r>
          </a:p>
          <a:p>
            <a:r>
              <a:rPr lang="en-AU" b="0" dirty="0" err="1"/>
              <a:t>Fnet</a:t>
            </a:r>
            <a:r>
              <a:rPr lang="en-AU" b="0" dirty="0"/>
              <a:t> = ma = 50 * 1.6 = 80 N upwards</a:t>
            </a:r>
          </a:p>
          <a:p>
            <a:r>
              <a:rPr lang="en-AU" b="0" dirty="0" err="1"/>
              <a:t>Fn</a:t>
            </a:r>
            <a:r>
              <a:rPr lang="en-AU" b="0" dirty="0"/>
              <a:t> = 410 N up</a:t>
            </a:r>
          </a:p>
          <a:p>
            <a:r>
              <a:rPr lang="en-AU" b="0" dirty="0"/>
              <a:t>Normal force is how you experience your own weight so you’ll feel lighter (lower normal force)</a:t>
            </a:r>
          </a:p>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4</a:t>
            </a:fld>
            <a:endParaRPr lang="en-AU"/>
          </a:p>
        </p:txBody>
      </p:sp>
    </p:spTree>
    <p:extLst>
      <p:ext uri="{BB962C8B-B14F-4D97-AF65-F5344CB8AC3E}">
        <p14:creationId xmlns:p14="http://schemas.microsoft.com/office/powerpoint/2010/main" val="624131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Class exercise: describe PE and KE at each point on the circle</a:t>
            </a:r>
          </a:p>
          <a:p>
            <a:r>
              <a:rPr lang="en-AU" b="0" dirty="0"/>
              <a:t>Class exercise: calculate PE, KE, total mechanical energy, normal reaction force and velocity at X, Y and Z</a:t>
            </a:r>
          </a:p>
          <a:p>
            <a:r>
              <a:rPr lang="en-AU" b="0" dirty="0"/>
              <a:t>X:  PE = 1.47J, KE = 0J, ME = 1.47J, v = 0, </a:t>
            </a:r>
            <a:r>
              <a:rPr lang="en-AU" b="0" dirty="0" err="1"/>
              <a:t>Fn</a:t>
            </a:r>
            <a:r>
              <a:rPr lang="en-AU" b="0" dirty="0"/>
              <a:t> = 1.47N</a:t>
            </a:r>
          </a:p>
          <a:p>
            <a:r>
              <a:rPr lang="en-AU" b="0" dirty="0"/>
              <a:t>Y: PE = 0J, ME = 1.47J, KE = 1.47J, v = 4.43m/s, </a:t>
            </a:r>
            <a:r>
              <a:rPr lang="en-AU" b="0" dirty="0" err="1"/>
              <a:t>Fn</a:t>
            </a:r>
            <a:r>
              <a:rPr lang="en-AU" b="0" dirty="0"/>
              <a:t> = 16.2N up</a:t>
            </a:r>
          </a:p>
          <a:p>
            <a:r>
              <a:rPr lang="en-AU" b="0" dirty="0"/>
              <a:t>Z = PE = 0.588J, ME = 1.47J, v = 3.43m/s, </a:t>
            </a:r>
            <a:r>
              <a:rPr lang="en-AU" b="0" dirty="0" err="1"/>
              <a:t>Fn</a:t>
            </a:r>
            <a:r>
              <a:rPr lang="en-AU" b="0" dirty="0"/>
              <a:t> = 7.35N down</a:t>
            </a:r>
          </a:p>
        </p:txBody>
      </p:sp>
      <p:sp>
        <p:nvSpPr>
          <p:cNvPr id="4" name="Slide Number Placeholder 3"/>
          <p:cNvSpPr>
            <a:spLocks noGrp="1"/>
          </p:cNvSpPr>
          <p:nvPr>
            <p:ph type="sldNum" sz="quarter" idx="5"/>
          </p:nvPr>
        </p:nvSpPr>
        <p:spPr/>
        <p:txBody>
          <a:bodyPr/>
          <a:lstStyle/>
          <a:p>
            <a:fld id="{B5B756B8-97A8-4FA1-B26A-2500BA5D4D05}" type="slidenum">
              <a:rPr lang="en-AU" smtClean="0"/>
              <a:t>5</a:t>
            </a:fld>
            <a:endParaRPr lang="en-AU"/>
          </a:p>
        </p:txBody>
      </p:sp>
    </p:spTree>
    <p:extLst>
      <p:ext uri="{BB962C8B-B14F-4D97-AF65-F5344CB8AC3E}">
        <p14:creationId xmlns:p14="http://schemas.microsoft.com/office/powerpoint/2010/main" val="20789145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Class exercise: describe PE and KE at each point on the circle</a:t>
            </a:r>
          </a:p>
          <a:p>
            <a:r>
              <a:rPr lang="en-AU" b="0" dirty="0"/>
              <a:t>Class exercise: calculate PE, KE, total mechanical energy and velocity at X, Y and Z</a:t>
            </a:r>
          </a:p>
          <a:p>
            <a:r>
              <a:rPr lang="en-AU" b="0" dirty="0"/>
              <a:t>X: </a:t>
            </a:r>
          </a:p>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6</a:t>
            </a:fld>
            <a:endParaRPr lang="en-AU"/>
          </a:p>
        </p:txBody>
      </p:sp>
    </p:spTree>
    <p:extLst>
      <p:ext uri="{BB962C8B-B14F-4D97-AF65-F5344CB8AC3E}">
        <p14:creationId xmlns:p14="http://schemas.microsoft.com/office/powerpoint/2010/main" val="20709416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Class exercise: describe PE and KE at each point on the circle</a:t>
            </a:r>
          </a:p>
          <a:p>
            <a:r>
              <a:rPr lang="en-AU" b="0" dirty="0"/>
              <a:t>Class exercise: calculate PE, KE, total mechanical energy and velocity at X, Y and Z</a:t>
            </a:r>
          </a:p>
          <a:p>
            <a:r>
              <a:rPr lang="en-AU" b="0" dirty="0"/>
              <a:t>X: </a:t>
            </a:r>
          </a:p>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7</a:t>
            </a:fld>
            <a:endParaRPr lang="en-AU"/>
          </a:p>
        </p:txBody>
      </p:sp>
    </p:spTree>
    <p:extLst>
      <p:ext uri="{BB962C8B-B14F-4D97-AF65-F5344CB8AC3E}">
        <p14:creationId xmlns:p14="http://schemas.microsoft.com/office/powerpoint/2010/main" val="30203019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X:  PE = 1.76J, KE = 0J, ME = 1.76J, v = 0</a:t>
            </a:r>
          </a:p>
          <a:p>
            <a:r>
              <a:rPr lang="en-AU" b="0" dirty="0"/>
              <a:t>Y: PE = 0J, ME = 1.76J, KE = 1.76J, v = 4.85m/s, </a:t>
            </a:r>
            <a:r>
              <a:rPr lang="en-AU" b="0" dirty="0" err="1"/>
              <a:t>Fn</a:t>
            </a:r>
            <a:r>
              <a:rPr lang="en-AU" b="0" dirty="0"/>
              <a:t> = 15.6N up</a:t>
            </a:r>
          </a:p>
          <a:p>
            <a:r>
              <a:rPr lang="en-AU" b="0" dirty="0"/>
              <a:t>Z = PE = 0.735J, ME = 1.76J, v = 3.70m/s, </a:t>
            </a:r>
            <a:r>
              <a:rPr lang="en-AU" b="0" dirty="0" err="1"/>
              <a:t>Fn</a:t>
            </a:r>
            <a:r>
              <a:rPr lang="en-AU" b="0" dirty="0"/>
              <a:t> = 8.21N down</a:t>
            </a:r>
          </a:p>
        </p:txBody>
      </p:sp>
      <p:sp>
        <p:nvSpPr>
          <p:cNvPr id="4" name="Slide Number Placeholder 3"/>
          <p:cNvSpPr>
            <a:spLocks noGrp="1"/>
          </p:cNvSpPr>
          <p:nvPr>
            <p:ph type="sldNum" sz="quarter" idx="5"/>
          </p:nvPr>
        </p:nvSpPr>
        <p:spPr/>
        <p:txBody>
          <a:bodyPr/>
          <a:lstStyle/>
          <a:p>
            <a:fld id="{B5B756B8-97A8-4FA1-B26A-2500BA5D4D05}" type="slidenum">
              <a:rPr lang="en-AU" smtClean="0"/>
              <a:t>8</a:t>
            </a:fld>
            <a:endParaRPr lang="en-AU"/>
          </a:p>
        </p:txBody>
      </p:sp>
    </p:spTree>
    <p:extLst>
      <p:ext uri="{BB962C8B-B14F-4D97-AF65-F5344CB8AC3E}">
        <p14:creationId xmlns:p14="http://schemas.microsoft.com/office/powerpoint/2010/main" val="26865059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err="1"/>
              <a:t>Fnet</a:t>
            </a:r>
            <a:r>
              <a:rPr lang="en-AU" b="0" dirty="0"/>
              <a:t> = </a:t>
            </a:r>
            <a:r>
              <a:rPr lang="en-AU" b="0" dirty="0" err="1"/>
              <a:t>Fg</a:t>
            </a:r>
            <a:r>
              <a:rPr lang="en-AU" b="0" dirty="0"/>
              <a:t> + </a:t>
            </a:r>
            <a:r>
              <a:rPr lang="en-AU" b="0" dirty="0" err="1"/>
              <a:t>Fn</a:t>
            </a:r>
            <a:r>
              <a:rPr lang="en-AU" b="0" dirty="0"/>
              <a:t>		 </a:t>
            </a:r>
            <a:r>
              <a:rPr lang="en-AU" b="0" dirty="0" err="1"/>
              <a:t>Fn</a:t>
            </a:r>
            <a:r>
              <a:rPr lang="en-AU" b="0" dirty="0"/>
              <a:t> = 0</a:t>
            </a:r>
          </a:p>
          <a:p>
            <a:r>
              <a:rPr lang="en-AU" b="0" dirty="0" err="1"/>
              <a:t>Fnet</a:t>
            </a:r>
            <a:r>
              <a:rPr lang="en-AU" b="0" dirty="0"/>
              <a:t> = </a:t>
            </a:r>
            <a:r>
              <a:rPr lang="en-AU" b="0" dirty="0" err="1"/>
              <a:t>Fg</a:t>
            </a:r>
            <a:endParaRPr lang="en-AU" b="0" dirty="0"/>
          </a:p>
          <a:p>
            <a:r>
              <a:rPr lang="en-AU" b="0" dirty="0"/>
              <a:t>mv^2/r = mg</a:t>
            </a:r>
          </a:p>
          <a:p>
            <a:r>
              <a:rPr lang="en-AU" b="0" dirty="0"/>
              <a:t>v = sqrt(gr)</a:t>
            </a:r>
          </a:p>
          <a:p>
            <a:r>
              <a:rPr lang="en-AU" b="0" dirty="0"/>
              <a:t>For this exercise: r=15 therefore v = 12 m/s = 43 km/h</a:t>
            </a:r>
          </a:p>
          <a:p>
            <a:r>
              <a:rPr lang="en-AU" b="0" dirty="0"/>
              <a:t>Note that you don’t need know mass</a:t>
            </a:r>
          </a:p>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9</a:t>
            </a:fld>
            <a:endParaRPr lang="en-AU"/>
          </a:p>
        </p:txBody>
      </p:sp>
    </p:spTree>
    <p:extLst>
      <p:ext uri="{BB962C8B-B14F-4D97-AF65-F5344CB8AC3E}">
        <p14:creationId xmlns:p14="http://schemas.microsoft.com/office/powerpoint/2010/main" val="25737672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err="1"/>
              <a:t>Fnet</a:t>
            </a:r>
            <a:r>
              <a:rPr lang="en-AU" b="0" dirty="0"/>
              <a:t> = </a:t>
            </a:r>
            <a:r>
              <a:rPr lang="en-AU" b="0" dirty="0" err="1"/>
              <a:t>Fg</a:t>
            </a:r>
            <a:r>
              <a:rPr lang="en-AU" b="0" dirty="0"/>
              <a:t> + </a:t>
            </a:r>
            <a:r>
              <a:rPr lang="en-AU" b="0" dirty="0" err="1"/>
              <a:t>Fn</a:t>
            </a:r>
            <a:r>
              <a:rPr lang="en-AU" b="0" dirty="0"/>
              <a:t>		 </a:t>
            </a:r>
            <a:r>
              <a:rPr lang="en-AU" b="0" dirty="0" err="1"/>
              <a:t>Fn</a:t>
            </a:r>
            <a:r>
              <a:rPr lang="en-AU" b="0" dirty="0"/>
              <a:t> = 0</a:t>
            </a:r>
          </a:p>
          <a:p>
            <a:r>
              <a:rPr lang="en-AU" b="0" dirty="0" err="1"/>
              <a:t>Fnet</a:t>
            </a:r>
            <a:r>
              <a:rPr lang="en-AU" b="0" dirty="0"/>
              <a:t> = </a:t>
            </a:r>
            <a:r>
              <a:rPr lang="en-AU" b="0" dirty="0" err="1"/>
              <a:t>Fg</a:t>
            </a:r>
            <a:endParaRPr lang="en-AU" b="0" dirty="0"/>
          </a:p>
          <a:p>
            <a:r>
              <a:rPr lang="en-AU" b="0" dirty="0"/>
              <a:t>mv^2/r = mg</a:t>
            </a:r>
          </a:p>
          <a:p>
            <a:r>
              <a:rPr lang="en-AU" b="0" dirty="0"/>
              <a:t>v = sqrt(gr)</a:t>
            </a:r>
          </a:p>
          <a:p>
            <a:r>
              <a:rPr lang="en-AU" b="0" dirty="0"/>
              <a:t>For this exercise: r=15 therefore v = 12 m/s = 43 km/h</a:t>
            </a:r>
          </a:p>
          <a:p>
            <a:r>
              <a:rPr lang="en-AU" b="0" dirty="0"/>
              <a:t>Note that you don’t need know mass</a:t>
            </a:r>
          </a:p>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10</a:t>
            </a:fld>
            <a:endParaRPr lang="en-AU"/>
          </a:p>
        </p:txBody>
      </p:sp>
    </p:spTree>
    <p:extLst>
      <p:ext uri="{BB962C8B-B14F-4D97-AF65-F5344CB8AC3E}">
        <p14:creationId xmlns:p14="http://schemas.microsoft.com/office/powerpoint/2010/main" val="25021731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Normal force must be less than the weight force otherwise net force doesn’t point towards centre of circle</a:t>
            </a:r>
          </a:p>
        </p:txBody>
      </p:sp>
      <p:sp>
        <p:nvSpPr>
          <p:cNvPr id="4" name="Slide Number Placeholder 3"/>
          <p:cNvSpPr>
            <a:spLocks noGrp="1"/>
          </p:cNvSpPr>
          <p:nvPr>
            <p:ph type="sldNum" sz="quarter" idx="5"/>
          </p:nvPr>
        </p:nvSpPr>
        <p:spPr/>
        <p:txBody>
          <a:bodyPr/>
          <a:lstStyle/>
          <a:p>
            <a:fld id="{B5B756B8-97A8-4FA1-B26A-2500BA5D4D05}" type="slidenum">
              <a:rPr lang="en-AU" smtClean="0"/>
              <a:t>11</a:t>
            </a:fld>
            <a:endParaRPr lang="en-AU"/>
          </a:p>
        </p:txBody>
      </p:sp>
    </p:spTree>
    <p:extLst>
      <p:ext uri="{BB962C8B-B14F-4D97-AF65-F5344CB8AC3E}">
        <p14:creationId xmlns:p14="http://schemas.microsoft.com/office/powerpoint/2010/main" val="36075279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v = 2*pi*r/T = 2*pi*15/120 = 0.7854 m/s</a:t>
            </a:r>
          </a:p>
          <a:p>
            <a:r>
              <a:rPr lang="en-AU" b="0" dirty="0"/>
              <a:t>Fc = W – N</a:t>
            </a:r>
          </a:p>
          <a:p>
            <a:r>
              <a:rPr lang="en-AU" b="0" dirty="0"/>
              <a:t>N = W – Fc</a:t>
            </a:r>
          </a:p>
          <a:p>
            <a:r>
              <a:rPr lang="en-AU" b="0" dirty="0"/>
              <a:t> = mg – mv^2/r</a:t>
            </a:r>
          </a:p>
          <a:p>
            <a:r>
              <a:rPr lang="en-AU" b="0" dirty="0"/>
              <a:t> = 70*9.8 – 70*0.7854^2 / 15 = 683 N</a:t>
            </a:r>
          </a:p>
          <a:p>
            <a:r>
              <a:rPr lang="en-AU" b="0" dirty="0"/>
              <a:t>Note: reaction force is only three N off of John’s weight force (because velocity is very small). </a:t>
            </a:r>
          </a:p>
        </p:txBody>
      </p:sp>
      <p:sp>
        <p:nvSpPr>
          <p:cNvPr id="4" name="Slide Number Placeholder 3"/>
          <p:cNvSpPr>
            <a:spLocks noGrp="1"/>
          </p:cNvSpPr>
          <p:nvPr>
            <p:ph type="sldNum" sz="quarter" idx="5"/>
          </p:nvPr>
        </p:nvSpPr>
        <p:spPr/>
        <p:txBody>
          <a:bodyPr/>
          <a:lstStyle/>
          <a:p>
            <a:fld id="{B5B756B8-97A8-4FA1-B26A-2500BA5D4D05}" type="slidenum">
              <a:rPr lang="en-AU" smtClean="0"/>
              <a:t>12</a:t>
            </a:fld>
            <a:endParaRPr lang="en-AU"/>
          </a:p>
        </p:txBody>
      </p:sp>
    </p:spTree>
    <p:extLst>
      <p:ext uri="{BB962C8B-B14F-4D97-AF65-F5344CB8AC3E}">
        <p14:creationId xmlns:p14="http://schemas.microsoft.com/office/powerpoint/2010/main" val="32169449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13</a:t>
            </a:fld>
            <a:endParaRPr lang="en-AU"/>
          </a:p>
        </p:txBody>
      </p:sp>
    </p:spTree>
    <p:extLst>
      <p:ext uri="{BB962C8B-B14F-4D97-AF65-F5344CB8AC3E}">
        <p14:creationId xmlns:p14="http://schemas.microsoft.com/office/powerpoint/2010/main" val="2537320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14</a:t>
            </a:fld>
            <a:endParaRPr lang="en-AU"/>
          </a:p>
        </p:txBody>
      </p:sp>
    </p:spTree>
    <p:extLst>
      <p:ext uri="{BB962C8B-B14F-4D97-AF65-F5344CB8AC3E}">
        <p14:creationId xmlns:p14="http://schemas.microsoft.com/office/powerpoint/2010/main" val="11339821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15</a:t>
            </a:fld>
            <a:endParaRPr lang="en-AU"/>
          </a:p>
        </p:txBody>
      </p:sp>
    </p:spTree>
    <p:extLst>
      <p:ext uri="{BB962C8B-B14F-4D97-AF65-F5344CB8AC3E}">
        <p14:creationId xmlns:p14="http://schemas.microsoft.com/office/powerpoint/2010/main" val="22454560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16</a:t>
            </a:fld>
            <a:endParaRPr lang="en-AU"/>
          </a:p>
        </p:txBody>
      </p:sp>
    </p:spTree>
    <p:extLst>
      <p:ext uri="{BB962C8B-B14F-4D97-AF65-F5344CB8AC3E}">
        <p14:creationId xmlns:p14="http://schemas.microsoft.com/office/powerpoint/2010/main" val="21247198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17</a:t>
            </a:fld>
            <a:endParaRPr lang="en-AU"/>
          </a:p>
        </p:txBody>
      </p:sp>
    </p:spTree>
    <p:extLst>
      <p:ext uri="{BB962C8B-B14F-4D97-AF65-F5344CB8AC3E}">
        <p14:creationId xmlns:p14="http://schemas.microsoft.com/office/powerpoint/2010/main" val="103193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18</a:t>
            </a:fld>
            <a:endParaRPr lang="en-AU"/>
          </a:p>
        </p:txBody>
      </p:sp>
    </p:spTree>
    <p:extLst>
      <p:ext uri="{BB962C8B-B14F-4D97-AF65-F5344CB8AC3E}">
        <p14:creationId xmlns:p14="http://schemas.microsoft.com/office/powerpoint/2010/main" val="15908469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20</a:t>
            </a:fld>
            <a:endParaRPr lang="en-AU"/>
          </a:p>
        </p:txBody>
      </p:sp>
    </p:spTree>
    <p:extLst>
      <p:ext uri="{BB962C8B-B14F-4D97-AF65-F5344CB8AC3E}">
        <p14:creationId xmlns:p14="http://schemas.microsoft.com/office/powerpoint/2010/main" val="22944014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21</a:t>
            </a:fld>
            <a:endParaRPr lang="en-AU"/>
          </a:p>
        </p:txBody>
      </p:sp>
    </p:spTree>
    <p:extLst>
      <p:ext uri="{BB962C8B-B14F-4D97-AF65-F5344CB8AC3E}">
        <p14:creationId xmlns:p14="http://schemas.microsoft.com/office/powerpoint/2010/main" val="4532657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2.xml"/><Relationship Id="rId4" Type="http://schemas.openxmlformats.org/officeDocument/2006/relationships/image" Target="../media/image4.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2.xml"/><Relationship Id="rId4" Type="http://schemas.openxmlformats.org/officeDocument/2006/relationships/image" Target="../media/image4.jp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R) Daily Edit">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572219"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Daily Edit</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1867437" y="208655"/>
            <a:ext cx="10004958" cy="515263"/>
          </a:xfrm>
          <a:prstGeom prst="rect">
            <a:avLst/>
          </a:prstGeom>
          <a:noFill/>
          <a:ln>
            <a:noFill/>
          </a:ln>
        </p:spPr>
        <p:txBody>
          <a:bodyPr wrap="square" rtlCol="0" anchor="ctr">
            <a:normAutofit/>
          </a:bodyPr>
          <a:lstStyle/>
          <a:p>
            <a:r>
              <a:rPr lang="en-US" sz="2400" b="1" i="0" dirty="0">
                <a:solidFill>
                  <a:srgbClr val="692B7D"/>
                </a:solidFill>
                <a:latin typeface="Century Gothic" panose="020B0502020202020204" pitchFamily="34" charset="0"/>
                <a:cs typeface="Futura Medium" panose="020B0602020204020303" pitchFamily="34" charset="-79"/>
              </a:rPr>
              <a:t>Sit down and begin this task immediately.</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671043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R) Daily Edit Titl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253E48-F01A-C040-9F45-1F9C5FDF10AA}"/>
              </a:ext>
            </a:extLst>
          </p:cNvPr>
          <p:cNvSpPr/>
          <p:nvPr userDrawn="1"/>
        </p:nvSpPr>
        <p:spPr>
          <a:xfrm>
            <a:off x="295219" y="1549400"/>
            <a:ext cx="11578126" cy="2929609"/>
          </a:xfrm>
          <a:prstGeom prst="rect">
            <a:avLst/>
          </a:prstGeom>
          <a:solidFill>
            <a:srgbClr val="692B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200" b="1" i="0" dirty="0">
                <a:latin typeface="Century Gothic" panose="020B0502020202020204" pitchFamily="34" charset="0"/>
              </a:rPr>
              <a:t>SRC Core</a:t>
            </a:r>
            <a:r>
              <a:rPr lang="en-US" sz="7200" b="1" i="0" baseline="0" dirty="0">
                <a:latin typeface="Century Gothic" panose="020B0502020202020204" pitchFamily="34" charset="0"/>
              </a:rPr>
              <a:t> Standards</a:t>
            </a:r>
            <a:endParaRPr lang="en-US" sz="7200" b="1" i="0" dirty="0">
              <a:latin typeface="Century Gothic" panose="020B0502020202020204" pitchFamily="34" charset="0"/>
            </a:endParaRPr>
          </a:p>
        </p:txBody>
      </p:sp>
      <p:sp>
        <p:nvSpPr>
          <p:cNvPr id="5" name="TextBox 4">
            <a:extLst>
              <a:ext uri="{FF2B5EF4-FFF2-40B4-BE49-F238E27FC236}">
                <a16:creationId xmlns:a16="http://schemas.microsoft.com/office/drawing/2014/main" id="{3BD815F0-1745-0C4E-A5DC-70E741C78081}"/>
              </a:ext>
            </a:extLst>
          </p:cNvPr>
          <p:cNvSpPr txBox="1"/>
          <p:nvPr userDrawn="1"/>
        </p:nvSpPr>
        <p:spPr>
          <a:xfrm>
            <a:off x="295218" y="1011383"/>
            <a:ext cx="2106787" cy="538446"/>
          </a:xfrm>
          <a:prstGeom prst="rect">
            <a:avLst/>
          </a:prstGeom>
          <a:solidFill>
            <a:srgbClr val="692B7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Daily Review</a:t>
            </a:r>
          </a:p>
        </p:txBody>
      </p:sp>
    </p:spTree>
    <p:extLst>
      <p:ext uri="{BB962C8B-B14F-4D97-AF65-F5344CB8AC3E}">
        <p14:creationId xmlns:p14="http://schemas.microsoft.com/office/powerpoint/2010/main" val="8277499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R)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692B7D"/>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92B7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17220871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R)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5600"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92B7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692B7D"/>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1742202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R)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71437"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BCA58"/>
          </a:solidFill>
          <a:ln>
            <a:noFill/>
          </a:ln>
        </p:spPr>
        <p:txBody>
          <a:bodyPr wrap="square" rtlCol="0" anchor="ctr">
            <a:normAutofit/>
          </a:bodyPr>
          <a:lstStyle/>
          <a:p>
            <a:r>
              <a:rPr lang="en-US" sz="2400" b="1" i="0" dirty="0">
                <a:solidFill>
                  <a:srgbClr val="692B7D"/>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92B7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3459742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R)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9" y="208656"/>
            <a:ext cx="1347844"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723918"/>
            <a:ext cx="11577177" cy="1204895"/>
          </a:xfrm>
          <a:prstGeom prst="rect">
            <a:avLst/>
          </a:prstGeom>
          <a:solidFill>
            <a:srgbClr val="692B7D"/>
          </a:solidFill>
          <a:ln>
            <a:noFill/>
          </a:ln>
        </p:spPr>
        <p:txBody>
          <a:bodyPr wrap="square" rtlCol="0" anchor="ctr">
            <a:normAutofit/>
          </a:bodyPr>
          <a:lstStyle/>
          <a:p>
            <a:pPr marL="0" indent="0">
              <a:tabLst>
                <a:tab pos="3597275" algn="l"/>
              </a:tabLst>
            </a:pPr>
            <a:r>
              <a:rPr lang="en-US" sz="6000" b="1" i="0" dirty="0">
                <a:solidFill>
                  <a:schemeClr val="bg1"/>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2649248"/>
          </a:xfrm>
          <a:prstGeom prst="rect">
            <a:avLst/>
          </a:prstGeom>
          <a:noFill/>
        </p:spPr>
        <p:txBody>
          <a:bodyPr tIns="144000" bIns="0" anchor="ctr"/>
          <a:lstStyle>
            <a:lvl1pPr marL="0" indent="0" algn="ctr">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it into pieces</a:t>
            </a:r>
          </a:p>
        </p:txBody>
      </p:sp>
    </p:spTree>
    <p:extLst>
      <p:ext uri="{BB962C8B-B14F-4D97-AF65-F5344CB8AC3E}">
        <p14:creationId xmlns:p14="http://schemas.microsoft.com/office/powerpoint/2010/main" val="37407046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R) Hyper-speed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692B7D"/>
          </a:solidFill>
        </p:spPr>
        <p:txBody>
          <a:bodyPr wrap="square" rtlCol="0" anchor="ctr">
            <a:noAutofit/>
          </a:bodyPr>
          <a:lstStyle/>
          <a:p>
            <a:pPr algn="l"/>
            <a:r>
              <a:rPr lang="en-US" sz="2000" b="1" i="0" dirty="0">
                <a:solidFill>
                  <a:srgbClr val="FBCA58"/>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rgbClr val="A14986"/>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solidFill>
                <a:srgbClr val="A14986"/>
              </a:solidFill>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63638" y="629514"/>
            <a:ext cx="5466107"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63638" y="1772516"/>
            <a:ext cx="5466108"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2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63638" y="2915518"/>
            <a:ext cx="546827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63638" y="4058520"/>
            <a:ext cx="546827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63638" y="5201522"/>
            <a:ext cx="5466108"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1221096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cTn>
              </p:par>
            </p:tnLst>
          </p:tmpl>
        </p:tmplLst>
      </p:bldP>
      <p:bldP spid="12" grpId="0" build="p">
        <p:tmplLst>
          <p:tmpl lvl="1">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Lst>
      </p:bldP>
      <p:bldP spid="13" grpId="0" build="p">
        <p:tmplLst>
          <p:tmpl lvl="1">
            <p:tnLst>
              <p:par>
                <p:cTn presetID="1" presetClass="entr" presetSubtype="0" fill="hold" nodeType="clickEffect">
                  <p:stCondLst>
                    <p:cond delay="0"/>
                  </p:stCondLst>
                  <p:childTnLst>
                    <p:set>
                      <p:cBhvr>
                        <p:cTn dur="1" fill="hold">
                          <p:stCondLst>
                            <p:cond delay="0"/>
                          </p:stCondLst>
                        </p:cTn>
                        <p:tgtEl>
                          <p:spTgt spid="13"/>
                        </p:tgtEl>
                        <p:attrNameLst>
                          <p:attrName>style.visibility</p:attrName>
                        </p:attrNameLst>
                      </p:cBhvr>
                      <p:to>
                        <p:strVal val="visible"/>
                      </p:to>
                    </p:set>
                  </p:childTnLst>
                </p:cTn>
              </p:par>
            </p:tnLst>
          </p:tmpl>
        </p:tmplLst>
      </p:bldP>
      <p:bldP spid="14" grpId="0" build="p">
        <p:tmplLst>
          <p:tmpl lvl="1">
            <p:tnLst>
              <p:par>
                <p:cTn presetID="1" presetClass="entr" presetSubtype="0" fill="hold" nodeType="clickEffect">
                  <p:stCondLst>
                    <p:cond delay="0"/>
                  </p:stCondLst>
                  <p:childTnLst>
                    <p:set>
                      <p:cBhvr>
                        <p:cTn dur="1" fill="hold">
                          <p:stCondLst>
                            <p:cond delay="0"/>
                          </p:stCondLst>
                        </p:cTn>
                        <p:tgtEl>
                          <p:spTgt spid="14"/>
                        </p:tgtEl>
                        <p:attrNameLst>
                          <p:attrName>style.visibility</p:attrName>
                        </p:attrNameLst>
                      </p:cBhvr>
                      <p:to>
                        <p:strVal val="visible"/>
                      </p:to>
                    </p:set>
                  </p:childTnLst>
                </p:cTn>
              </p:par>
            </p:tnLst>
          </p:tmpl>
        </p:tmplLst>
      </p:bldP>
      <p:bldP spid="15" grpId="0" build="p">
        <p:tmplLst>
          <p:tmpl lvl="1">
            <p:tnLst>
              <p:par>
                <p:cTn presetID="1" presetClass="entr" presetSubtype="0" fill="hold" nodeType="clickEffect">
                  <p:stCondLst>
                    <p:cond delay="0"/>
                  </p:stCondLst>
                  <p:childTnLst>
                    <p:set>
                      <p:cBhvr>
                        <p:cTn dur="1" fill="hold">
                          <p:stCondLst>
                            <p:cond delay="0"/>
                          </p:stCondLst>
                        </p:cTn>
                        <p:tgtEl>
                          <p:spTgt spid="15"/>
                        </p:tgtEl>
                        <p:attrNameLst>
                          <p:attrName>style.visibility</p:attrName>
                        </p:attrNameLst>
                      </p:cBhvr>
                      <p:to>
                        <p:strVal val="visible"/>
                      </p:to>
                    </p:set>
                  </p:childTnLst>
                </p:cTn>
              </p:par>
            </p:tnLst>
          </p:tmpl>
        </p:tmplLst>
      </p:bldP>
      <p:bldP spid="16" grpId="0" build="p">
        <p:tmplLst>
          <p:tmpl lvl="1">
            <p:tnLst>
              <p:par>
                <p:cTn presetID="1"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childTnLst>
                </p:cTn>
              </p:par>
            </p:tnLst>
          </p:tmpl>
        </p:tmplLst>
      </p:bldP>
      <p:bldP spid="17" grpId="0" build="p">
        <p:tmplLst>
          <p:tmpl lvl="1">
            <p:tnLst>
              <p:par>
                <p:cTn presetID="1" presetClass="entr" presetSubtype="0" fill="hold" nodeType="clickEffect">
                  <p:stCondLst>
                    <p:cond delay="0"/>
                  </p:stCondLst>
                  <p:childTnLst>
                    <p:set>
                      <p:cBhvr>
                        <p:cTn dur="1" fill="hold">
                          <p:stCondLst>
                            <p:cond delay="0"/>
                          </p:stCondLst>
                        </p:cTn>
                        <p:tgtEl>
                          <p:spTgt spid="17"/>
                        </p:tgtEl>
                        <p:attrNameLst>
                          <p:attrName>style.visibility</p:attrName>
                        </p:attrNameLst>
                      </p:cBhvr>
                      <p:to>
                        <p:strVal val="visible"/>
                      </p:to>
                    </p:set>
                  </p:childTnLst>
                </p:cTn>
              </p:par>
            </p:tnLst>
          </p:tmpl>
        </p:tmplLst>
      </p:bldP>
      <p:bldP spid="18" grpId="0" build="p">
        <p:tmplLst>
          <p:tmpl lvl="1">
            <p:tnLst>
              <p:par>
                <p:cTn presetID="1" presetClass="entr" presetSubtype="0" fill="hold" nodeType="clickEffect">
                  <p:stCondLst>
                    <p:cond delay="0"/>
                  </p:stCondLst>
                  <p:childTnLst>
                    <p:set>
                      <p:cBhvr>
                        <p:cTn dur="1" fill="hold">
                          <p:stCondLst>
                            <p:cond delay="0"/>
                          </p:stCondLst>
                        </p:cTn>
                        <p:tgtEl>
                          <p:spTgt spid="18"/>
                        </p:tgtEl>
                        <p:attrNameLst>
                          <p:attrName>style.visibility</p:attrName>
                        </p:attrNameLst>
                      </p:cBhvr>
                      <p:to>
                        <p:strVal val="visible"/>
                      </p:to>
                    </p:set>
                  </p:childTnLst>
                </p:cTn>
              </p:par>
            </p:tnLst>
          </p:tmpl>
        </p:tmplLst>
      </p:bldP>
      <p:bldP spid="19" grpId="0" build="p">
        <p:tmplLst>
          <p:tmpl lvl="1">
            <p:tnLst>
              <p:par>
                <p:cTn presetID="1" presetClass="entr" presetSubtype="0" fill="hold" nodeType="clickEffect">
                  <p:stCondLst>
                    <p:cond delay="0"/>
                  </p:stCondLst>
                  <p:childTnLst>
                    <p:set>
                      <p:cBhvr>
                        <p:cTn dur="1" fill="hold">
                          <p:stCondLst>
                            <p:cond delay="0"/>
                          </p:stCondLst>
                        </p:cTn>
                        <p:tgtEl>
                          <p:spTgt spid="19"/>
                        </p:tgtEl>
                        <p:attrNameLst>
                          <p:attrName>style.visibility</p:attrName>
                        </p:attrNameLst>
                      </p:cBhvr>
                      <p:to>
                        <p:strVal val="visible"/>
                      </p:to>
                    </p:set>
                  </p:childTnLst>
                </p:cTn>
              </p:par>
            </p:tnLst>
          </p:tmpl>
        </p:tmplLst>
      </p:bldP>
      <p:bldP spid="20" grpId="0" build="p">
        <p:tmplLst>
          <p:tmpl lvl="1">
            <p:tnLst>
              <p:par>
                <p:cTn presetID="1" presetClass="entr" presetSubtype="0" fill="hold" nodeType="clickEffect">
                  <p:stCondLst>
                    <p:cond delay="0"/>
                  </p:stCondLst>
                  <p:childTnLst>
                    <p:set>
                      <p:cBhvr>
                        <p:cTn dur="1" fill="hold">
                          <p:stCondLst>
                            <p:cond delay="0"/>
                          </p:stCondLst>
                        </p:cTn>
                        <p:tgtEl>
                          <p:spTgt spid="20"/>
                        </p:tgtEl>
                        <p:attrNameLst>
                          <p:attrName>style.visibility</p:attrName>
                        </p:attrNameLst>
                      </p:cBhvr>
                      <p:to>
                        <p:strVal val="visible"/>
                      </p:to>
                    </p:set>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R) Recite">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06066"/>
            <a:ext cx="1533525" cy="352426"/>
          </a:xfrm>
          <a:prstGeom prst="rect">
            <a:avLst/>
          </a:prstGeom>
          <a:solidFill>
            <a:srgbClr val="692B7D"/>
          </a:solidFill>
        </p:spPr>
        <p:txBody>
          <a:bodyPr wrap="square" rtlCol="0" anchor="ctr">
            <a:noAutofit/>
          </a:bodyPr>
          <a:lstStyle/>
          <a:p>
            <a:pPr algn="l"/>
            <a:r>
              <a:rPr lang="en-US" sz="1600" b="1" i="0" dirty="0">
                <a:solidFill>
                  <a:srgbClr val="FBCA58"/>
                </a:solidFill>
                <a:latin typeface="Century Gothic" panose="020B0502020202020204" pitchFamily="34" charset="0"/>
                <a:cs typeface="Futura Medium" panose="020B0602020204020303" pitchFamily="34" charset="-79"/>
              </a:rPr>
              <a:t>Recite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58432"/>
            <a:ext cx="8954305" cy="1914525"/>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Go over the steps they already know from this unit, or from relevant prior knowledge.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10072881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R)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19714"/>
            <a:ext cx="1533525" cy="352426"/>
          </a:xfrm>
          <a:prstGeom prst="rect">
            <a:avLst/>
          </a:prstGeom>
          <a:solidFill>
            <a:srgbClr val="692B7D"/>
          </a:solidFill>
        </p:spPr>
        <p:txBody>
          <a:bodyPr wrap="square" rtlCol="0" anchor="ctr">
            <a:noAutofit/>
          </a:bodyPr>
          <a:lstStyle/>
          <a:p>
            <a:pPr algn="l"/>
            <a:r>
              <a:rPr lang="en-US" sz="1600" b="1" i="0" dirty="0">
                <a:solidFill>
                  <a:srgbClr val="FBCA58"/>
                </a:solidFill>
                <a:latin typeface="Century Gothic" panose="020B0502020202020204" pitchFamily="34" charset="0"/>
                <a:cs typeface="Futura Medium" panose="020B0602020204020303" pitchFamily="34" charset="-79"/>
              </a:rPr>
              <a:t>Recall</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84190"/>
            <a:ext cx="8954305" cy="1900238"/>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Practicing the steps they already know together. This should be guided practice.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12945237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R) Apply">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19714"/>
            <a:ext cx="1533525" cy="352426"/>
          </a:xfrm>
          <a:prstGeom prst="rect">
            <a:avLst/>
          </a:prstGeom>
          <a:solidFill>
            <a:srgbClr val="692B7D"/>
          </a:solidFill>
        </p:spPr>
        <p:txBody>
          <a:bodyPr wrap="square" rtlCol="0" anchor="ctr">
            <a:noAutofit/>
          </a:bodyPr>
          <a:lstStyle/>
          <a:p>
            <a:pPr algn="l"/>
            <a:r>
              <a:rPr lang="en-US" sz="1600" b="1" i="0" dirty="0">
                <a:solidFill>
                  <a:srgbClr val="FBCA58"/>
                </a:solidFill>
                <a:latin typeface="Century Gothic" panose="020B0502020202020204" pitchFamily="34" charset="0"/>
                <a:cs typeface="Futura Medium" panose="020B0602020204020303" pitchFamily="34" charset="-79"/>
              </a:rPr>
              <a:t>Apply</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85599"/>
            <a:ext cx="8954305" cy="1985962"/>
          </a:xfrm>
          <a:prstGeom prst="rect">
            <a:avLst/>
          </a:prstGeom>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Quickly check that all students can still complete the previous steps learnt.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30282384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R)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17794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EI)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692B7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692B7D"/>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22202850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eneric Title Slide">
    <p:bg>
      <p:bgPr>
        <a:solidFill>
          <a:schemeClr val="bg1"/>
        </a:solidFill>
        <a:effectLst/>
      </p:bgPr>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601508" cy="2929609"/>
          </a:xfrm>
          <a:prstGeom prst="rect">
            <a:avLst/>
          </a:prstGeom>
          <a:solidFill>
            <a:srgbClr val="2E546D"/>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sp>
        <p:nvSpPr>
          <p:cNvPr id="3" name="Text Placeholder 2">
            <a:extLst>
              <a:ext uri="{FF2B5EF4-FFF2-40B4-BE49-F238E27FC236}">
                <a16:creationId xmlns:a16="http://schemas.microsoft.com/office/drawing/2014/main" id="{35918694-72DD-404C-BFE2-AE8FDFB6A47D}"/>
              </a:ext>
            </a:extLst>
          </p:cNvPr>
          <p:cNvSpPr>
            <a:spLocks noGrp="1"/>
          </p:cNvSpPr>
          <p:nvPr>
            <p:ph type="body" sz="quarter" idx="11" hasCustomPrompt="1"/>
          </p:nvPr>
        </p:nvSpPr>
        <p:spPr>
          <a:xfrm>
            <a:off x="295219" y="1019162"/>
            <a:ext cx="2630862" cy="538162"/>
          </a:xfrm>
          <a:prstGeom prst="rect">
            <a:avLst/>
          </a:prstGeom>
          <a:solidFill>
            <a:srgbClr val="2E546D"/>
          </a:solidFill>
        </p:spPr>
        <p:txBody>
          <a:bodyPr/>
          <a:lstStyle>
            <a:lvl1pPr marL="0" indent="0">
              <a:buNone/>
              <a:defRPr sz="3200" b="0"/>
            </a:lvl1pPr>
          </a:lstStyle>
          <a:p>
            <a:r>
              <a:rPr lang="en-US" sz="2800" b="1" i="0" dirty="0">
                <a:solidFill>
                  <a:srgbClr val="FBCA58"/>
                </a:solidFill>
                <a:latin typeface="Century Gothic" panose="020B0502020202020204" pitchFamily="34" charset="0"/>
                <a:cs typeface="Futura Medium" panose="020B0602020204020303" pitchFamily="34" charset="-79"/>
              </a:rPr>
              <a:t>Learning Goal</a:t>
            </a:r>
          </a:p>
        </p:txBody>
      </p:sp>
    </p:spTree>
    <p:extLst>
      <p:ext uri="{BB962C8B-B14F-4D97-AF65-F5344CB8AC3E}">
        <p14:creationId xmlns:p14="http://schemas.microsoft.com/office/powerpoint/2010/main" val="23702189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Generic Content Slid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FC000"/>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21" name="TextBox 20">
            <a:extLst>
              <a:ext uri="{FF2B5EF4-FFF2-40B4-BE49-F238E27FC236}">
                <a16:creationId xmlns:a16="http://schemas.microsoft.com/office/drawing/2014/main" id="{8057D734-81AA-2049-8345-B99B4BA91645}"/>
              </a:ext>
            </a:extLst>
          </p:cNvPr>
          <p:cNvSpPr txBox="1"/>
          <p:nvPr userDrawn="1"/>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
        <p:nvSpPr>
          <p:cNvPr id="5" name="Text Placeholder 4">
            <a:extLst>
              <a:ext uri="{FF2B5EF4-FFF2-40B4-BE49-F238E27FC236}">
                <a16:creationId xmlns:a16="http://schemas.microsoft.com/office/drawing/2014/main" id="{26005884-EA56-4A5F-8C82-1956C2ADF2F8}"/>
              </a:ext>
            </a:extLst>
          </p:cNvPr>
          <p:cNvSpPr>
            <a:spLocks noGrp="1"/>
          </p:cNvSpPr>
          <p:nvPr>
            <p:ph type="body" sz="quarter" idx="17" hasCustomPrompt="1"/>
          </p:nvPr>
        </p:nvSpPr>
        <p:spPr>
          <a:xfrm>
            <a:off x="295275" y="595269"/>
            <a:ext cx="3779478" cy="319722"/>
          </a:xfrm>
          <a:prstGeom prst="rect">
            <a:avLst/>
          </a:prstGeom>
          <a:solidFill>
            <a:srgbClr val="FBCA58"/>
          </a:solidFill>
        </p:spPr>
        <p:txBody>
          <a:bodyPr/>
          <a:lstStyle>
            <a:lvl1pPr marL="0" indent="0">
              <a:buNone/>
              <a:defRPr sz="1600" b="1">
                <a:solidFill>
                  <a:srgbClr val="2E546D"/>
                </a:solidFill>
                <a:latin typeface="+mj-lt"/>
              </a:defRPr>
            </a:lvl1pPr>
            <a:lvl2pPr>
              <a:defRPr sz="1800"/>
            </a:lvl2pPr>
            <a:lvl3pPr>
              <a:defRPr sz="1600"/>
            </a:lvl3pPr>
            <a:lvl4pPr>
              <a:defRPr sz="1400"/>
            </a:lvl4pPr>
            <a:lvl5pPr>
              <a:defRPr sz="1400"/>
            </a:lvl5pPr>
          </a:lstStyle>
          <a:p>
            <a:pPr lvl="0"/>
            <a:r>
              <a:rPr lang="en-US" dirty="0"/>
              <a:t>Type Subheading here</a:t>
            </a:r>
          </a:p>
        </p:txBody>
      </p:sp>
    </p:spTree>
    <p:extLst>
      <p:ext uri="{BB962C8B-B14F-4D97-AF65-F5344CB8AC3E}">
        <p14:creationId xmlns:p14="http://schemas.microsoft.com/office/powerpoint/2010/main" val="34852791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36460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o Now">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572219" cy="515262"/>
          </a:xfrm>
          <a:prstGeom prst="rect">
            <a:avLst/>
          </a:prstGeom>
          <a:solidFill>
            <a:srgbClr val="2E546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Do Now</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1867437" y="224237"/>
            <a:ext cx="10004958" cy="499682"/>
          </a:xfrm>
          <a:prstGeom prst="rect">
            <a:avLst/>
          </a:prstGeom>
          <a:solidFill>
            <a:schemeClr val="bg1"/>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Sit down and begin this task immediately.</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4092731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EI) Learning Goal Setup">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8" y="1011383"/>
            <a:ext cx="2364855" cy="538446"/>
          </a:xfrm>
          <a:prstGeom prst="rect">
            <a:avLst/>
          </a:prstGeom>
          <a:solidFill>
            <a:srgbClr val="2E546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Learning Goal</a:t>
            </a:r>
          </a:p>
        </p:txBody>
      </p:sp>
      <p:sp>
        <p:nvSpPr>
          <p:cNvPr id="9" name="TextBox 8">
            <a:extLst>
              <a:ext uri="{FF2B5EF4-FFF2-40B4-BE49-F238E27FC236}">
                <a16:creationId xmlns:a16="http://schemas.microsoft.com/office/drawing/2014/main" id="{DF9C2B4A-0943-CC42-BE38-4F715F7CAA2B}"/>
              </a:ext>
            </a:extLst>
          </p:cNvPr>
          <p:cNvSpPr txBox="1"/>
          <p:nvPr userDrawn="1"/>
        </p:nvSpPr>
        <p:spPr>
          <a:xfrm>
            <a:off x="517951" y="4565193"/>
            <a:ext cx="2734700" cy="1947917"/>
          </a:xfrm>
          <a:prstGeom prst="rect">
            <a:avLst/>
          </a:prstGeom>
          <a:noFill/>
        </p:spPr>
        <p:txBody>
          <a:bodyPr wrap="square" tIns="180000" rtlCol="0" anchor="t">
            <a:normAutofit/>
          </a:bodyPr>
          <a:lstStyle/>
          <a:p>
            <a:r>
              <a:rPr lang="en-US" sz="3600" b="1" i="0" dirty="0">
                <a:solidFill>
                  <a:srgbClr val="2E546D"/>
                </a:solidFill>
                <a:latin typeface="Calibri" panose="020F0502020204030204" pitchFamily="34" charset="0"/>
                <a:cs typeface="Calibri" panose="020F0502020204030204" pitchFamily="34" charset="0"/>
              </a:rPr>
              <a:t>Think </a:t>
            </a:r>
          </a:p>
          <a:p>
            <a:r>
              <a:rPr lang="en-US" sz="3600" b="1" i="0" dirty="0">
                <a:solidFill>
                  <a:srgbClr val="2E546D"/>
                </a:solidFill>
                <a:latin typeface="Calibri" panose="020F0502020204030204" pitchFamily="34" charset="0"/>
                <a:cs typeface="Calibri" panose="020F0502020204030204" pitchFamily="34" charset="0"/>
              </a:rPr>
              <a:t>Pair</a:t>
            </a:r>
          </a:p>
          <a:p>
            <a:r>
              <a:rPr lang="en-US" sz="3600" b="1" i="0" dirty="0">
                <a:solidFill>
                  <a:srgbClr val="2E546D"/>
                </a:solidFill>
                <a:latin typeface="Calibri" panose="020F0502020204030204" pitchFamily="34" charset="0"/>
                <a:cs typeface="Calibri" panose="020F0502020204030204" pitchFamily="34" charset="0"/>
              </a:rPr>
              <a:t>Share</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601508" cy="2929609"/>
          </a:xfrm>
          <a:prstGeom prst="rect">
            <a:avLst/>
          </a:prstGeom>
          <a:solidFill>
            <a:srgbClr val="2E546D"/>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252651" y="475428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503526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xit" presetSubtype="0" fill="hold" grpId="1" nodeType="withEffect">
                                  <p:stCondLst>
                                    <p:cond delay="0"/>
                                  </p:stCondLst>
                                  <p:childTnLst>
                                    <p:set>
                                      <p:cBhvr>
                                        <p:cTn id="12"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earning Goal Simple">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8" y="1011383"/>
            <a:ext cx="2364855" cy="538446"/>
          </a:xfrm>
          <a:prstGeom prst="rect">
            <a:avLst/>
          </a:prstGeom>
          <a:solidFill>
            <a:srgbClr val="2E546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601508" cy="2929609"/>
          </a:xfrm>
          <a:prstGeom prst="rect">
            <a:avLst/>
          </a:prstGeom>
          <a:solidFill>
            <a:srgbClr val="2E546D"/>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spTree>
    <p:extLst>
      <p:ext uri="{BB962C8B-B14F-4D97-AF65-F5344CB8AC3E}">
        <p14:creationId xmlns:p14="http://schemas.microsoft.com/office/powerpoint/2010/main" val="40040971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EI)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2E546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601564" cy="1150657"/>
          </a:xfrm>
          <a:prstGeom prst="rect">
            <a:avLst/>
          </a:prstGeom>
          <a:solidFill>
            <a:srgbClr val="2E546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2E546D"/>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8144513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EI)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5600" cy="515262"/>
          </a:xfrm>
          <a:prstGeom prst="rect">
            <a:avLst/>
          </a:prstGeom>
          <a:solidFill>
            <a:srgbClr val="2E546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601564" cy="1150657"/>
          </a:xfrm>
          <a:prstGeom prst="rect">
            <a:avLst/>
          </a:prstGeom>
          <a:solidFill>
            <a:srgbClr val="2E546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2F556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2F556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2F556E"/>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2123652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EI)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5600" cy="515262"/>
          </a:xfrm>
          <a:prstGeom prst="rect">
            <a:avLst/>
          </a:prstGeom>
          <a:solidFill>
            <a:srgbClr val="2F556E"/>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BCA58"/>
          </a:solidFill>
          <a:ln>
            <a:noFill/>
          </a:ln>
        </p:spPr>
        <p:txBody>
          <a:bodyPr wrap="square" rtlCol="0" anchor="ctr">
            <a:normAutofit/>
          </a:bodyPr>
          <a:lstStyle/>
          <a:p>
            <a:r>
              <a:rPr lang="en-US" sz="2400" b="1" i="0" dirty="0">
                <a:solidFill>
                  <a:srgbClr val="2F556E"/>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601564" cy="1150657"/>
          </a:xfrm>
          <a:prstGeom prst="rect">
            <a:avLst/>
          </a:prstGeom>
          <a:solidFill>
            <a:srgbClr val="2F556E"/>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2F556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190541380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EI)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FC000"/>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348194959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EI) 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Content Development</a:t>
            </a:r>
          </a:p>
        </p:txBody>
      </p:sp>
      <p:sp>
        <p:nvSpPr>
          <p:cNvPr id="3" name="Text Placeholder 2">
            <a:extLst>
              <a:ext uri="{FF2B5EF4-FFF2-40B4-BE49-F238E27FC236}">
                <a16:creationId xmlns:a16="http://schemas.microsoft.com/office/drawing/2014/main" id="{67489761-345C-4546-B69F-7F767EEB19E6}"/>
              </a:ext>
            </a:extLst>
          </p:cNvPr>
          <p:cNvSpPr>
            <a:spLocks noGrp="1"/>
          </p:cNvSpPr>
          <p:nvPr>
            <p:ph type="body" sz="quarter" idx="15" hasCustomPrompt="1"/>
          </p:nvPr>
        </p:nvSpPr>
        <p:spPr>
          <a:xfrm>
            <a:off x="397668" y="965946"/>
            <a:ext cx="9077325" cy="1885950"/>
          </a:xfrm>
          <a:prstGeom prst="rect">
            <a:avLst/>
          </a:prstGeom>
        </p:spPr>
        <p:txBody>
          <a:bodyPr/>
          <a:lstStyle>
            <a:lvl1pPr marL="0" indent="0">
              <a:buNone/>
              <a:defRPr sz="2800" b="1" i="0">
                <a:latin typeface="Century Gothic" panose="020B0502020202020204" pitchFamily="34" charset="0"/>
              </a:defRPr>
            </a:lvl1pPr>
          </a:lstStyle>
          <a:p>
            <a:pPr lvl="0"/>
            <a:r>
              <a:rPr lang="en-US" dirty="0"/>
              <a:t>The teacher explains the concepts and steps that lead to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34894422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EI) Skill Development with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userDrawn="1"/>
        </p:nvSpPr>
        <p:spPr>
          <a:xfrm>
            <a:off x="295275" y="590550"/>
            <a:ext cx="4199996" cy="352425"/>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Skill Development with Guided Practice</a:t>
            </a:r>
          </a:p>
        </p:txBody>
      </p:sp>
      <p:sp>
        <p:nvSpPr>
          <p:cNvPr id="10" name="Text Placeholder 2">
            <a:extLst>
              <a:ext uri="{FF2B5EF4-FFF2-40B4-BE49-F238E27FC236}">
                <a16:creationId xmlns:a16="http://schemas.microsoft.com/office/drawing/2014/main" id="{CF0F374D-B3C3-694C-9E4C-49E7305FA052}"/>
              </a:ext>
            </a:extLst>
          </p:cNvPr>
          <p:cNvSpPr>
            <a:spLocks noGrp="1"/>
          </p:cNvSpPr>
          <p:nvPr>
            <p:ph type="body" sz="quarter" idx="15" hasCustomPrompt="1"/>
          </p:nvPr>
        </p:nvSpPr>
        <p:spPr>
          <a:xfrm>
            <a:off x="397668" y="1067135"/>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Go through the steps one by one that will guide the students to the learning goal. Ensure the students are involved so that you can check for understanding.</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1780312292"/>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EI) Lesson Closure">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Lesson Closure</a:t>
            </a:r>
          </a:p>
        </p:txBody>
      </p:sp>
      <p:sp>
        <p:nvSpPr>
          <p:cNvPr id="12" name="Text Placeholder 2">
            <a:extLst>
              <a:ext uri="{FF2B5EF4-FFF2-40B4-BE49-F238E27FC236}">
                <a16:creationId xmlns:a16="http://schemas.microsoft.com/office/drawing/2014/main" id="{9ABE9B17-B75E-C845-8C05-25DEB214B5BE}"/>
              </a:ext>
            </a:extLst>
          </p:cNvPr>
          <p:cNvSpPr>
            <a:spLocks noGrp="1"/>
          </p:cNvSpPr>
          <p:nvPr>
            <p:ph type="body" sz="quarter" idx="15" hasCustomPrompt="1"/>
          </p:nvPr>
        </p:nvSpPr>
        <p:spPr>
          <a:xfrm>
            <a:off x="397668" y="999954"/>
            <a:ext cx="9077325" cy="2314576"/>
          </a:xfrm>
          <a:prstGeom prst="rect">
            <a:avLst/>
          </a:prstGeom>
        </p:spPr>
        <p:txBody>
          <a:bodyPr/>
          <a:lstStyle>
            <a:lvl1pPr marL="0" indent="0">
              <a:buNone/>
              <a:defRPr sz="2800" b="1" i="0">
                <a:latin typeface="Century Gothic" panose="020B0502020202020204" pitchFamily="34" charset="0"/>
              </a:defRPr>
            </a:lvl1pPr>
          </a:lstStyle>
          <a:p>
            <a:pPr lvl="0"/>
            <a:r>
              <a:rPr lang="en-US" dirty="0"/>
              <a:t>Have students answer questions, explain a concept, complete an equation, </a:t>
            </a:r>
            <a:r>
              <a:rPr lang="en-US" dirty="0" err="1"/>
              <a:t>etc</a:t>
            </a:r>
            <a:r>
              <a:rPr lang="en-US" dirty="0"/>
              <a:t> to show they have reached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3772040135"/>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EI) 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FC000"/>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userDrawn="1"/>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74904949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EI) 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9" y="1053881"/>
            <a:ext cx="2350999" cy="495947"/>
          </a:xfrm>
          <a:prstGeom prst="rect">
            <a:avLst/>
          </a:prstGeom>
          <a:solidFill>
            <a:srgbClr val="2E546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2E546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36172997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EI) 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Independent Practice</a:t>
            </a:r>
          </a:p>
        </p:txBody>
      </p:sp>
      <p:sp>
        <p:nvSpPr>
          <p:cNvPr id="10" name="Text Placeholder 2">
            <a:extLst>
              <a:ext uri="{FF2B5EF4-FFF2-40B4-BE49-F238E27FC236}">
                <a16:creationId xmlns:a16="http://schemas.microsoft.com/office/drawing/2014/main" id="{2F2AA107-37A0-6640-94E6-ADA5A39A9FA3}"/>
              </a:ext>
            </a:extLst>
          </p:cNvPr>
          <p:cNvSpPr>
            <a:spLocks noGrp="1"/>
          </p:cNvSpPr>
          <p:nvPr>
            <p:ph type="body" sz="quarter" idx="15" hasCustomPrompt="1"/>
          </p:nvPr>
        </p:nvSpPr>
        <p:spPr>
          <a:xfrm>
            <a:off x="397668" y="1002771"/>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Once the students have reached the learning goal create activities that have them practice the exact skill that has just been taught. This section can be differentiated.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42881814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image" Target="../media/image1.jpe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theme" Target="../theme/theme2.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CB8789-C5D7-6249-9847-EB3816E191ED}"/>
              </a:ext>
            </a:extLst>
          </p:cNvPr>
          <p:cNvSpPr/>
          <p:nvPr userDrawn="1"/>
        </p:nvSpPr>
        <p:spPr>
          <a:xfrm>
            <a:off x="0" y="0"/>
            <a:ext cx="12192000" cy="6858000"/>
          </a:xfrm>
          <a:prstGeom prst="rect">
            <a:avLst/>
          </a:prstGeom>
          <a:solidFill>
            <a:srgbClr val="692B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886F1C9-C15E-0448-B006-3ECFAB54CD2D}"/>
              </a:ext>
            </a:extLst>
          </p:cNvPr>
          <p:cNvSpPr/>
          <p:nvPr userDrawn="1"/>
        </p:nvSpPr>
        <p:spPr>
          <a:xfrm>
            <a:off x="-66676" y="221673"/>
            <a:ext cx="12258675"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a:extLst>
              <a:ext uri="{FF2B5EF4-FFF2-40B4-BE49-F238E27FC236}">
                <a16:creationId xmlns:a16="http://schemas.microsoft.com/office/drawing/2014/main" id="{C4F9A874-5CE1-8647-AFA9-BD43474DD64E}"/>
              </a:ext>
            </a:extLst>
          </p:cNvPr>
          <p:cNvPicPr>
            <a:picLocks noChangeAspect="1"/>
          </p:cNvPicPr>
          <p:nvPr userDrawn="1"/>
        </p:nvPicPr>
        <p:blipFill>
          <a:blip r:embed="rId14"/>
          <a:stretch>
            <a:fillRect/>
          </a:stretch>
        </p:blipFill>
        <p:spPr>
          <a:xfrm>
            <a:off x="10640451" y="6085119"/>
            <a:ext cx="1168470" cy="509380"/>
          </a:xfrm>
          <a:prstGeom prst="rect">
            <a:avLst/>
          </a:prstGeom>
        </p:spPr>
      </p:pic>
    </p:spTree>
    <p:extLst>
      <p:ext uri="{BB962C8B-B14F-4D97-AF65-F5344CB8AC3E}">
        <p14:creationId xmlns:p14="http://schemas.microsoft.com/office/powerpoint/2010/main" val="4030593586"/>
      </p:ext>
    </p:extLst>
  </p:cSld>
  <p:clrMap bg1="lt1" tx1="dk1" bg2="lt2" tx2="dk2" accent1="accent1" accent2="accent2" accent3="accent3" accent4="accent4" accent5="accent5" accent6="accent6" hlink="hlink" folHlink="folHlink"/>
  <p:sldLayoutIdLst>
    <p:sldLayoutId id="2147484258" r:id="rId1"/>
    <p:sldLayoutId id="2147484233" r:id="rId2"/>
    <p:sldLayoutId id="2147484234" r:id="rId3"/>
    <p:sldLayoutId id="2147484235" r:id="rId4"/>
    <p:sldLayoutId id="2147484236" r:id="rId5"/>
    <p:sldLayoutId id="2147484257" r:id="rId6"/>
    <p:sldLayoutId id="2147484255" r:id="rId7"/>
    <p:sldLayoutId id="2147484237" r:id="rId8"/>
    <p:sldLayoutId id="2147484238" r:id="rId9"/>
    <p:sldLayoutId id="2147484239" r:id="rId10"/>
    <p:sldLayoutId id="2147484240" r:id="rId11"/>
    <p:sldLayoutId id="214748429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3AA52D-1531-D74F-B0A5-6078D4C9110F}"/>
              </a:ext>
            </a:extLst>
          </p:cNvPr>
          <p:cNvSpPr/>
          <p:nvPr userDrawn="1"/>
        </p:nvSpPr>
        <p:spPr>
          <a:xfrm>
            <a:off x="0" y="0"/>
            <a:ext cx="12192000" cy="6858000"/>
          </a:xfrm>
          <a:prstGeom prst="rect">
            <a:avLst/>
          </a:prstGeom>
          <a:solidFill>
            <a:srgbClr val="2E54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3BC489FE-D005-E249-B3C3-A41B78A14714}"/>
              </a:ext>
            </a:extLst>
          </p:cNvPr>
          <p:cNvSpPr/>
          <p:nvPr userDrawn="1"/>
        </p:nvSpPr>
        <p:spPr>
          <a:xfrm>
            <a:off x="0" y="221672"/>
            <a:ext cx="12192000" cy="63728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9DC76C98-0227-3747-80B1-ED384456CDE8}"/>
              </a:ext>
            </a:extLst>
          </p:cNvPr>
          <p:cNvPicPr>
            <a:picLocks noChangeAspect="1"/>
          </p:cNvPicPr>
          <p:nvPr userDrawn="1"/>
        </p:nvPicPr>
        <p:blipFill>
          <a:blip r:embed="rId18"/>
          <a:stretch>
            <a:fillRect/>
          </a:stretch>
        </p:blipFill>
        <p:spPr>
          <a:xfrm>
            <a:off x="10640451" y="6085119"/>
            <a:ext cx="1168470" cy="509380"/>
          </a:xfrm>
          <a:prstGeom prst="rect">
            <a:avLst/>
          </a:prstGeom>
        </p:spPr>
      </p:pic>
    </p:spTree>
    <p:extLst>
      <p:ext uri="{BB962C8B-B14F-4D97-AF65-F5344CB8AC3E}">
        <p14:creationId xmlns:p14="http://schemas.microsoft.com/office/powerpoint/2010/main" val="288887113"/>
      </p:ext>
    </p:extLst>
  </p:cSld>
  <p:clrMap bg1="lt1" tx1="dk1" bg2="lt2" tx2="dk2" accent1="accent1" accent2="accent2" accent3="accent3" accent4="accent4" accent5="accent5" accent6="accent6" hlink="hlink" folHlink="folHlink"/>
  <p:sldLayoutIdLst>
    <p:sldLayoutId id="2147484294" r:id="rId1"/>
    <p:sldLayoutId id="2147484295" r:id="rId2"/>
    <p:sldLayoutId id="2147484288" r:id="rId3"/>
    <p:sldLayoutId id="2147484275" r:id="rId4"/>
    <p:sldLayoutId id="2147484276" r:id="rId5"/>
    <p:sldLayoutId id="2147484293" r:id="rId6"/>
    <p:sldLayoutId id="2147484277" r:id="rId7"/>
    <p:sldLayoutId id="2147484278" r:id="rId8"/>
    <p:sldLayoutId id="2147484279" r:id="rId9"/>
    <p:sldLayoutId id="2147484280" r:id="rId10"/>
    <p:sldLayoutId id="2147484281" r:id="rId11"/>
    <p:sldLayoutId id="2147484282" r:id="rId12"/>
    <p:sldLayoutId id="2147484283" r:id="rId13"/>
    <p:sldLayoutId id="2147484284" r:id="rId14"/>
    <p:sldLayoutId id="2147484285" r:id="rId15"/>
    <p:sldLayoutId id="2147484286"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4.xml"/><Relationship Id="rId6" Type="http://schemas.microsoft.com/office/2007/relationships/hdphoto" Target="../media/hdphoto2.wdp"/><Relationship Id="rId5" Type="http://schemas.openxmlformats.org/officeDocument/2006/relationships/image" Target="../media/image6.png"/><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4.xml"/><Relationship Id="rId6" Type="http://schemas.microsoft.com/office/2007/relationships/hdphoto" Target="../media/hdphoto2.wdp"/><Relationship Id="rId5" Type="http://schemas.openxmlformats.org/officeDocument/2006/relationships/image" Target="../media/image6.pn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4.xml"/><Relationship Id="rId6" Type="http://schemas.microsoft.com/office/2007/relationships/hdphoto" Target="../media/hdphoto2.wdp"/><Relationship Id="rId5" Type="http://schemas.openxmlformats.org/officeDocument/2006/relationships/image" Target="../media/image6.png"/><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4.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4.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4.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14.xml"/><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14.xml"/><Relationship Id="rId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22FDFC4-7213-4B80-88AC-CFDA713A6754}"/>
              </a:ext>
            </a:extLst>
          </p:cNvPr>
          <p:cNvSpPr>
            <a:spLocks noGrp="1"/>
          </p:cNvSpPr>
          <p:nvPr>
            <p:ph type="body" sz="quarter" idx="10"/>
          </p:nvPr>
        </p:nvSpPr>
        <p:spPr/>
        <p:txBody>
          <a:bodyPr/>
          <a:lstStyle/>
          <a:p>
            <a:r>
              <a:rPr lang="en-AU" dirty="0"/>
              <a:t>To analyse vertical circular motion</a:t>
            </a:r>
          </a:p>
        </p:txBody>
      </p:sp>
      <p:sp>
        <p:nvSpPr>
          <p:cNvPr id="3" name="Text Placeholder 3">
            <a:extLst>
              <a:ext uri="{FF2B5EF4-FFF2-40B4-BE49-F238E27FC236}">
                <a16:creationId xmlns:a16="http://schemas.microsoft.com/office/drawing/2014/main" id="{15B39FF7-CE51-4DDE-B8F7-A2B32DD72593}"/>
              </a:ext>
            </a:extLst>
          </p:cNvPr>
          <p:cNvSpPr txBox="1">
            <a:spLocks/>
          </p:cNvSpPr>
          <p:nvPr/>
        </p:nvSpPr>
        <p:spPr>
          <a:xfrm>
            <a:off x="295274" y="4571479"/>
            <a:ext cx="3779478" cy="319722"/>
          </a:xfrm>
          <a:prstGeom prst="rect">
            <a:avLst/>
          </a:prstGeom>
          <a:solidFill>
            <a:srgbClr val="FBCA58"/>
          </a:solidFill>
        </p:spPr>
        <p:txBody>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2E546D"/>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Success Criteria</a:t>
            </a:r>
          </a:p>
        </p:txBody>
      </p:sp>
      <p:sp>
        <p:nvSpPr>
          <p:cNvPr id="4" name="Text Placeholder 2">
            <a:extLst>
              <a:ext uri="{FF2B5EF4-FFF2-40B4-BE49-F238E27FC236}">
                <a16:creationId xmlns:a16="http://schemas.microsoft.com/office/drawing/2014/main" id="{376F90D9-C05E-4F92-AA21-6770C35F6CD9}"/>
              </a:ext>
            </a:extLst>
          </p:cNvPr>
          <p:cNvSpPr txBox="1">
            <a:spLocks/>
          </p:cNvSpPr>
          <p:nvPr/>
        </p:nvSpPr>
        <p:spPr>
          <a:xfrm>
            <a:off x="209549" y="4921871"/>
            <a:ext cx="11601508" cy="1382567"/>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l">
              <a:buFont typeface="Arial" panose="020B0604020202020204" pitchFamily="34" charset="0"/>
              <a:buChar char="•"/>
            </a:pPr>
            <a:r>
              <a:rPr lang="en-US" sz="1600" b="0" i="0" dirty="0">
                <a:solidFill>
                  <a:srgbClr val="000303"/>
                </a:solidFill>
                <a:effectLst/>
                <a:latin typeface="+mj-lt"/>
              </a:rPr>
              <a:t>I can calculate velocity, acceleration and force for:</a:t>
            </a:r>
          </a:p>
          <a:p>
            <a:pPr marL="857250" lvl="1" indent="-171450"/>
            <a:r>
              <a:rPr lang="en-US" sz="1600" dirty="0">
                <a:solidFill>
                  <a:srgbClr val="000303"/>
                </a:solidFill>
                <a:latin typeface="+mj-lt"/>
              </a:rPr>
              <a:t>Vertical circular motion</a:t>
            </a:r>
            <a:endParaRPr lang="en-US" sz="1600" i="0" dirty="0">
              <a:solidFill>
                <a:srgbClr val="000303"/>
              </a:solidFill>
              <a:effectLst/>
              <a:latin typeface="+mj-lt"/>
            </a:endParaRPr>
          </a:p>
        </p:txBody>
      </p:sp>
    </p:spTree>
    <p:extLst>
      <p:ext uri="{BB962C8B-B14F-4D97-AF65-F5344CB8AC3E}">
        <p14:creationId xmlns:p14="http://schemas.microsoft.com/office/powerpoint/2010/main" val="23111403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circular motion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Do Now</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21222" y="4062539"/>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94582" y="904805"/>
            <a:ext cx="11607867"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b="0" dirty="0"/>
              <a:t>A person is travelling in a rollercoaster cart at a velocity of 4 ms</a:t>
            </a:r>
            <a:r>
              <a:rPr lang="en-AU" b="0" baseline="30000" dirty="0"/>
              <a:t>-1 </a:t>
            </a:r>
            <a:r>
              <a:rPr lang="en-AU" b="0" dirty="0"/>
              <a:t>to the right. If the person is 50 kg, calculate the forces acting on the person.</a:t>
            </a:r>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grpSp>
        <p:nvGrpSpPr>
          <p:cNvPr id="8" name="Group 7">
            <a:extLst>
              <a:ext uri="{FF2B5EF4-FFF2-40B4-BE49-F238E27FC236}">
                <a16:creationId xmlns:a16="http://schemas.microsoft.com/office/drawing/2014/main" id="{80E3DDDD-09E0-4536-AB0E-9C3736F2327F}"/>
              </a:ext>
            </a:extLst>
          </p:cNvPr>
          <p:cNvGrpSpPr/>
          <p:nvPr/>
        </p:nvGrpSpPr>
        <p:grpSpPr>
          <a:xfrm>
            <a:off x="3499541" y="3174053"/>
            <a:ext cx="5020494" cy="1790700"/>
            <a:chOff x="3993341" y="3429000"/>
            <a:chExt cx="3905250" cy="1392917"/>
          </a:xfrm>
        </p:grpSpPr>
        <p:cxnSp>
          <p:nvCxnSpPr>
            <p:cNvPr id="5" name="Straight Connector 4">
              <a:extLst>
                <a:ext uri="{FF2B5EF4-FFF2-40B4-BE49-F238E27FC236}">
                  <a16:creationId xmlns:a16="http://schemas.microsoft.com/office/drawing/2014/main" id="{C417D601-677C-4402-AEEA-28A471E14619}"/>
                </a:ext>
              </a:extLst>
            </p:cNvPr>
            <p:cNvCxnSpPr/>
            <p:nvPr/>
          </p:nvCxnSpPr>
          <p:spPr>
            <a:xfrm>
              <a:off x="3993341" y="4761490"/>
              <a:ext cx="390525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4F6E3D8B-1B01-44D0-9BE9-7AA16572FAFB}"/>
                </a:ext>
              </a:extLst>
            </p:cNvPr>
            <p:cNvPicPr>
              <a:picLocks noChangeAspect="1"/>
            </p:cNvPicPr>
            <p:nvPr/>
          </p:nvPicPr>
          <p:blipFill rotWithShape="1">
            <a:blip r:embed="rId3">
              <a:extLst>
                <a:ext uri="{BEBA8EAE-BF5A-486C-A8C5-ECC9F3942E4B}">
                  <a14:imgProps xmlns:a14="http://schemas.microsoft.com/office/drawing/2010/main">
                    <a14:imgLayer r:embed="rId4">
                      <a14:imgEffect>
                        <a14:backgroundRemoval t="27659" b="63512" l="10000" r="90000">
                          <a14:foregroundMark x1="29231" y1="61429" x2="30769" y2="57857"/>
                          <a14:foregroundMark x1="25000" y1="60714" x2="34231" y2="60714"/>
                          <a14:foregroundMark x1="66538" y1="61071" x2="74231" y2="59286"/>
                        </a14:backgroundRemoval>
                      </a14:imgEffect>
                    </a14:imgLayer>
                  </a14:imgProps>
                </a:ext>
              </a:extLst>
            </a:blip>
            <a:srcRect t="23177" b="32007"/>
            <a:stretch/>
          </p:blipFill>
          <p:spPr>
            <a:xfrm>
              <a:off x="5001583" y="3981985"/>
              <a:ext cx="1740343" cy="839932"/>
            </a:xfrm>
            <a:prstGeom prst="rect">
              <a:avLst/>
            </a:prstGeom>
          </p:spPr>
        </p:pic>
        <p:pic>
          <p:nvPicPr>
            <p:cNvPr id="7" name="Picture 6">
              <a:extLst>
                <a:ext uri="{FF2B5EF4-FFF2-40B4-BE49-F238E27FC236}">
                  <a16:creationId xmlns:a16="http://schemas.microsoft.com/office/drawing/2014/main" id="{5CE2A7A8-00C2-4466-B99D-893F70A192A7}"/>
                </a:ext>
              </a:extLst>
            </p:cNvPr>
            <p:cNvPicPr>
              <a:picLocks noChangeAspect="1"/>
            </p:cNvPicPr>
            <p:nvPr/>
          </p:nvPicPr>
          <p:blipFill rotWithShape="1">
            <a:blip r:embed="rId5">
              <a:extLst>
                <a:ext uri="{BEBA8EAE-BF5A-486C-A8C5-ECC9F3942E4B}">
                  <a14:imgProps xmlns:a14="http://schemas.microsoft.com/office/drawing/2010/main">
                    <a14:imgLayer r:embed="rId6">
                      <a14:imgEffect>
                        <a14:backgroundRemoval t="4786" b="43074" l="25695" r="77177">
                          <a14:foregroundMark x1="38889" y1="37339" x2="60648" y2="36910"/>
                        </a14:backgroundRemoval>
                      </a14:imgEffect>
                    </a14:imgLayer>
                  </a14:imgProps>
                </a:ext>
              </a:extLst>
            </a:blip>
            <a:srcRect l="19260" r="16388" b="52140"/>
            <a:stretch/>
          </p:blipFill>
          <p:spPr>
            <a:xfrm>
              <a:off x="5251786" y="3429000"/>
              <a:ext cx="860425" cy="690279"/>
            </a:xfrm>
            <a:prstGeom prst="rect">
              <a:avLst/>
            </a:prstGeom>
          </p:spPr>
        </p:pic>
      </p:grpSp>
    </p:spTree>
    <p:extLst>
      <p:ext uri="{BB962C8B-B14F-4D97-AF65-F5344CB8AC3E}">
        <p14:creationId xmlns:p14="http://schemas.microsoft.com/office/powerpoint/2010/main" val="12000137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circular motion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Do Now</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21222" y="4062539"/>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94582" y="904805"/>
            <a:ext cx="11607867"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b="0" dirty="0"/>
              <a:t>A person (still with mass of 50kg) is travelling at 8 ms</a:t>
            </a:r>
            <a:r>
              <a:rPr lang="en-AU" b="0" baseline="30000" dirty="0"/>
              <a:t>-1</a:t>
            </a:r>
            <a:r>
              <a:rPr lang="en-AU" b="0" dirty="0"/>
              <a:t> through a dip of radius 2.5m. Calculate the forces acting on the person.</a:t>
            </a:r>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grpSp>
        <p:nvGrpSpPr>
          <p:cNvPr id="3" name="Group 2">
            <a:extLst>
              <a:ext uri="{FF2B5EF4-FFF2-40B4-BE49-F238E27FC236}">
                <a16:creationId xmlns:a16="http://schemas.microsoft.com/office/drawing/2014/main" id="{5893003C-E66B-4EC0-87CD-FC07531146F9}"/>
              </a:ext>
            </a:extLst>
          </p:cNvPr>
          <p:cNvGrpSpPr/>
          <p:nvPr/>
        </p:nvGrpSpPr>
        <p:grpSpPr>
          <a:xfrm>
            <a:off x="5234981" y="4313862"/>
            <a:ext cx="1483449" cy="1187307"/>
            <a:chOff x="6831917" y="4044807"/>
            <a:chExt cx="2237342" cy="1790700"/>
          </a:xfrm>
        </p:grpSpPr>
        <p:pic>
          <p:nvPicPr>
            <p:cNvPr id="15" name="Picture 14">
              <a:extLst>
                <a:ext uri="{FF2B5EF4-FFF2-40B4-BE49-F238E27FC236}">
                  <a16:creationId xmlns:a16="http://schemas.microsoft.com/office/drawing/2014/main" id="{4F6E3D8B-1B01-44D0-9BE9-7AA16572FAFB}"/>
                </a:ext>
              </a:extLst>
            </p:cNvPr>
            <p:cNvPicPr>
              <a:picLocks noChangeAspect="1"/>
            </p:cNvPicPr>
            <p:nvPr/>
          </p:nvPicPr>
          <p:blipFill rotWithShape="1">
            <a:blip r:embed="rId3">
              <a:extLst>
                <a:ext uri="{BEBA8EAE-BF5A-486C-A8C5-ECC9F3942E4B}">
                  <a14:imgProps xmlns:a14="http://schemas.microsoft.com/office/drawing/2010/main">
                    <a14:imgLayer r:embed="rId4">
                      <a14:imgEffect>
                        <a14:backgroundRemoval t="27659" b="63512" l="10000" r="90000">
                          <a14:foregroundMark x1="29231" y1="61429" x2="30769" y2="57857"/>
                          <a14:foregroundMark x1="25000" y1="60714" x2="34231" y2="60714"/>
                          <a14:foregroundMark x1="66538" y1="61071" x2="74231" y2="59286"/>
                        </a14:backgroundRemoval>
                      </a14:imgEffect>
                    </a14:imgLayer>
                  </a14:imgProps>
                </a:ext>
              </a:extLst>
            </a:blip>
            <a:srcRect t="23177" b="32007"/>
            <a:stretch/>
          </p:blipFill>
          <p:spPr>
            <a:xfrm>
              <a:off x="6831917" y="4755711"/>
              <a:ext cx="2237342" cy="1079796"/>
            </a:xfrm>
            <a:prstGeom prst="rect">
              <a:avLst/>
            </a:prstGeom>
          </p:spPr>
        </p:pic>
        <p:pic>
          <p:nvPicPr>
            <p:cNvPr id="7" name="Picture 6">
              <a:extLst>
                <a:ext uri="{FF2B5EF4-FFF2-40B4-BE49-F238E27FC236}">
                  <a16:creationId xmlns:a16="http://schemas.microsoft.com/office/drawing/2014/main" id="{5CE2A7A8-00C2-4466-B99D-893F70A192A7}"/>
                </a:ext>
              </a:extLst>
            </p:cNvPr>
            <p:cNvPicPr>
              <a:picLocks noChangeAspect="1"/>
            </p:cNvPicPr>
            <p:nvPr/>
          </p:nvPicPr>
          <p:blipFill rotWithShape="1">
            <a:blip r:embed="rId5">
              <a:extLst>
                <a:ext uri="{BEBA8EAE-BF5A-486C-A8C5-ECC9F3942E4B}">
                  <a14:imgProps xmlns:a14="http://schemas.microsoft.com/office/drawing/2010/main">
                    <a14:imgLayer r:embed="rId6">
                      <a14:imgEffect>
                        <a14:backgroundRemoval t="4786" b="43074" l="25695" r="77177">
                          <a14:foregroundMark x1="38889" y1="37339" x2="60648" y2="36910"/>
                        </a14:backgroundRemoval>
                      </a14:imgEffect>
                    </a14:imgLayer>
                  </a14:imgProps>
                </a:ext>
              </a:extLst>
            </a:blip>
            <a:srcRect l="19260" r="16388" b="52140"/>
            <a:stretch/>
          </p:blipFill>
          <p:spPr>
            <a:xfrm>
              <a:off x="7153572" y="4044807"/>
              <a:ext cx="1106141" cy="887406"/>
            </a:xfrm>
            <a:prstGeom prst="rect">
              <a:avLst/>
            </a:prstGeom>
          </p:spPr>
        </p:pic>
      </p:grpSp>
      <p:sp>
        <p:nvSpPr>
          <p:cNvPr id="12" name="Freeform: Shape 11">
            <a:extLst>
              <a:ext uri="{FF2B5EF4-FFF2-40B4-BE49-F238E27FC236}">
                <a16:creationId xmlns:a16="http://schemas.microsoft.com/office/drawing/2014/main" id="{C82CA38A-EEC4-436F-A736-98EDF5D826E2}"/>
              </a:ext>
            </a:extLst>
          </p:cNvPr>
          <p:cNvSpPr/>
          <p:nvPr/>
        </p:nvSpPr>
        <p:spPr>
          <a:xfrm rot="719159">
            <a:off x="3364012" y="3256227"/>
            <a:ext cx="4667724" cy="2193752"/>
          </a:xfrm>
          <a:custGeom>
            <a:avLst/>
            <a:gdLst>
              <a:gd name="connsiteX0" fmla="*/ 0 w 5486400"/>
              <a:gd name="connsiteY0" fmla="*/ 1085850 h 2193752"/>
              <a:gd name="connsiteX1" fmla="*/ 3400425 w 5486400"/>
              <a:gd name="connsiteY1" fmla="*/ 2162175 h 2193752"/>
              <a:gd name="connsiteX2" fmla="*/ 5486400 w 5486400"/>
              <a:gd name="connsiteY2" fmla="*/ 0 h 2193752"/>
            </a:gdLst>
            <a:ahLst/>
            <a:cxnLst>
              <a:cxn ang="0">
                <a:pos x="connsiteX0" y="connsiteY0"/>
              </a:cxn>
              <a:cxn ang="0">
                <a:pos x="connsiteX1" y="connsiteY1"/>
              </a:cxn>
              <a:cxn ang="0">
                <a:pos x="connsiteX2" y="connsiteY2"/>
              </a:cxn>
            </a:cxnLst>
            <a:rect l="l" t="t" r="r" b="b"/>
            <a:pathLst>
              <a:path w="5486400" h="2193752">
                <a:moveTo>
                  <a:pt x="0" y="1085850"/>
                </a:moveTo>
                <a:cubicBezTo>
                  <a:pt x="1243012" y="1714500"/>
                  <a:pt x="2486025" y="2343150"/>
                  <a:pt x="3400425" y="2162175"/>
                </a:cubicBezTo>
                <a:cubicBezTo>
                  <a:pt x="4314825" y="1981200"/>
                  <a:pt x="4900612" y="990600"/>
                  <a:pt x="5486400" y="0"/>
                </a:cubicBezTo>
              </a:path>
            </a:pathLst>
          </a:cu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Oval 5">
            <a:extLst>
              <a:ext uri="{FF2B5EF4-FFF2-40B4-BE49-F238E27FC236}">
                <a16:creationId xmlns:a16="http://schemas.microsoft.com/office/drawing/2014/main" id="{30D9F0EE-703E-4464-B27F-8F9A49C0EE1E}"/>
              </a:ext>
            </a:extLst>
          </p:cNvPr>
          <p:cNvSpPr/>
          <p:nvPr/>
        </p:nvSpPr>
        <p:spPr>
          <a:xfrm>
            <a:off x="5876925" y="3490421"/>
            <a:ext cx="152400" cy="157288"/>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0" name="Straight Arrow Connector 9">
            <a:extLst>
              <a:ext uri="{FF2B5EF4-FFF2-40B4-BE49-F238E27FC236}">
                <a16:creationId xmlns:a16="http://schemas.microsoft.com/office/drawing/2014/main" id="{E7B746D0-374D-4F32-84A2-5C8BA5724E6A}"/>
              </a:ext>
            </a:extLst>
          </p:cNvPr>
          <p:cNvCxnSpPr>
            <a:cxnSpLocks/>
          </p:cNvCxnSpPr>
          <p:nvPr/>
        </p:nvCxnSpPr>
        <p:spPr>
          <a:xfrm flipV="1">
            <a:off x="4000500" y="3624675"/>
            <a:ext cx="1809750" cy="614598"/>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60AB05A3-BD65-49F9-A173-6E024C4BA635}"/>
              </a:ext>
            </a:extLst>
          </p:cNvPr>
          <p:cNvSpPr txBox="1">
            <a:spLocks/>
          </p:cNvSpPr>
          <p:nvPr/>
        </p:nvSpPr>
        <p:spPr>
          <a:xfrm>
            <a:off x="4378242" y="3624675"/>
            <a:ext cx="774734" cy="353468"/>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1800" dirty="0"/>
              <a:t>2.5m</a:t>
            </a:r>
          </a:p>
        </p:txBody>
      </p:sp>
    </p:spTree>
    <p:extLst>
      <p:ext uri="{BB962C8B-B14F-4D97-AF65-F5344CB8AC3E}">
        <p14:creationId xmlns:p14="http://schemas.microsoft.com/office/powerpoint/2010/main" val="15707026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circular motion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Do Now</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21222" y="4062539"/>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94582" y="904805"/>
            <a:ext cx="11607867"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b="0" dirty="0"/>
              <a:t>A person (still with mass of 50kg) is travelling at 2 ms</a:t>
            </a:r>
            <a:r>
              <a:rPr lang="en-AU" b="0" baseline="30000" dirty="0"/>
              <a:t>-1</a:t>
            </a:r>
            <a:r>
              <a:rPr lang="en-AU" b="0" dirty="0"/>
              <a:t> travels over a rise of radius 2.5m. Calculate the forces acting on the person.</a:t>
            </a:r>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grpSp>
        <p:nvGrpSpPr>
          <p:cNvPr id="3" name="Group 2">
            <a:extLst>
              <a:ext uri="{FF2B5EF4-FFF2-40B4-BE49-F238E27FC236}">
                <a16:creationId xmlns:a16="http://schemas.microsoft.com/office/drawing/2014/main" id="{5893003C-E66B-4EC0-87CD-FC07531146F9}"/>
              </a:ext>
            </a:extLst>
          </p:cNvPr>
          <p:cNvGrpSpPr/>
          <p:nvPr/>
        </p:nvGrpSpPr>
        <p:grpSpPr>
          <a:xfrm>
            <a:off x="4953738" y="3004054"/>
            <a:ext cx="1483449" cy="1187307"/>
            <a:chOff x="6831917" y="4044807"/>
            <a:chExt cx="2237342" cy="1790700"/>
          </a:xfrm>
        </p:grpSpPr>
        <p:pic>
          <p:nvPicPr>
            <p:cNvPr id="15" name="Picture 14">
              <a:extLst>
                <a:ext uri="{FF2B5EF4-FFF2-40B4-BE49-F238E27FC236}">
                  <a16:creationId xmlns:a16="http://schemas.microsoft.com/office/drawing/2014/main" id="{4F6E3D8B-1B01-44D0-9BE9-7AA16572FAFB}"/>
                </a:ext>
              </a:extLst>
            </p:cNvPr>
            <p:cNvPicPr>
              <a:picLocks noChangeAspect="1"/>
            </p:cNvPicPr>
            <p:nvPr/>
          </p:nvPicPr>
          <p:blipFill rotWithShape="1">
            <a:blip r:embed="rId3">
              <a:extLst>
                <a:ext uri="{BEBA8EAE-BF5A-486C-A8C5-ECC9F3942E4B}">
                  <a14:imgProps xmlns:a14="http://schemas.microsoft.com/office/drawing/2010/main">
                    <a14:imgLayer r:embed="rId4">
                      <a14:imgEffect>
                        <a14:backgroundRemoval t="27659" b="63512" l="10000" r="90000">
                          <a14:foregroundMark x1="29231" y1="61429" x2="30769" y2="57857"/>
                          <a14:foregroundMark x1="25000" y1="60714" x2="34231" y2="60714"/>
                          <a14:foregroundMark x1="66538" y1="61071" x2="74231" y2="59286"/>
                        </a14:backgroundRemoval>
                      </a14:imgEffect>
                    </a14:imgLayer>
                  </a14:imgProps>
                </a:ext>
              </a:extLst>
            </a:blip>
            <a:srcRect t="23177" b="32007"/>
            <a:stretch/>
          </p:blipFill>
          <p:spPr>
            <a:xfrm>
              <a:off x="6831917" y="4755711"/>
              <a:ext cx="2237342" cy="1079796"/>
            </a:xfrm>
            <a:prstGeom prst="rect">
              <a:avLst/>
            </a:prstGeom>
          </p:spPr>
        </p:pic>
        <p:pic>
          <p:nvPicPr>
            <p:cNvPr id="7" name="Picture 6">
              <a:extLst>
                <a:ext uri="{FF2B5EF4-FFF2-40B4-BE49-F238E27FC236}">
                  <a16:creationId xmlns:a16="http://schemas.microsoft.com/office/drawing/2014/main" id="{5CE2A7A8-00C2-4466-B99D-893F70A192A7}"/>
                </a:ext>
              </a:extLst>
            </p:cNvPr>
            <p:cNvPicPr>
              <a:picLocks noChangeAspect="1"/>
            </p:cNvPicPr>
            <p:nvPr/>
          </p:nvPicPr>
          <p:blipFill rotWithShape="1">
            <a:blip r:embed="rId5">
              <a:extLst>
                <a:ext uri="{BEBA8EAE-BF5A-486C-A8C5-ECC9F3942E4B}">
                  <a14:imgProps xmlns:a14="http://schemas.microsoft.com/office/drawing/2010/main">
                    <a14:imgLayer r:embed="rId6">
                      <a14:imgEffect>
                        <a14:backgroundRemoval t="4786" b="43074" l="25695" r="77177">
                          <a14:foregroundMark x1="38889" y1="37339" x2="60648" y2="36910"/>
                        </a14:backgroundRemoval>
                      </a14:imgEffect>
                    </a14:imgLayer>
                  </a14:imgProps>
                </a:ext>
              </a:extLst>
            </a:blip>
            <a:srcRect l="19260" r="16388" b="52140"/>
            <a:stretch/>
          </p:blipFill>
          <p:spPr>
            <a:xfrm>
              <a:off x="7153572" y="4044807"/>
              <a:ext cx="1106141" cy="887406"/>
            </a:xfrm>
            <a:prstGeom prst="rect">
              <a:avLst/>
            </a:prstGeom>
          </p:spPr>
        </p:pic>
      </p:grpSp>
      <p:sp>
        <p:nvSpPr>
          <p:cNvPr id="6" name="Oval 5">
            <a:extLst>
              <a:ext uri="{FF2B5EF4-FFF2-40B4-BE49-F238E27FC236}">
                <a16:creationId xmlns:a16="http://schemas.microsoft.com/office/drawing/2014/main" id="{30D9F0EE-703E-4464-B27F-8F9A49C0EE1E}"/>
              </a:ext>
            </a:extLst>
          </p:cNvPr>
          <p:cNvSpPr/>
          <p:nvPr/>
        </p:nvSpPr>
        <p:spPr>
          <a:xfrm>
            <a:off x="5638800" y="5453866"/>
            <a:ext cx="152400" cy="157288"/>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0" name="Straight Arrow Connector 9">
            <a:extLst>
              <a:ext uri="{FF2B5EF4-FFF2-40B4-BE49-F238E27FC236}">
                <a16:creationId xmlns:a16="http://schemas.microsoft.com/office/drawing/2014/main" id="{E7B746D0-374D-4F32-84A2-5C8BA5724E6A}"/>
              </a:ext>
            </a:extLst>
          </p:cNvPr>
          <p:cNvCxnSpPr>
            <a:cxnSpLocks/>
          </p:cNvCxnSpPr>
          <p:nvPr/>
        </p:nvCxnSpPr>
        <p:spPr>
          <a:xfrm flipV="1">
            <a:off x="5695462" y="3884062"/>
            <a:ext cx="0" cy="1483572"/>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60AB05A3-BD65-49F9-A173-6E024C4BA635}"/>
              </a:ext>
            </a:extLst>
          </p:cNvPr>
          <p:cNvSpPr txBox="1">
            <a:spLocks/>
          </p:cNvSpPr>
          <p:nvPr/>
        </p:nvSpPr>
        <p:spPr>
          <a:xfrm>
            <a:off x="5781675" y="4944445"/>
            <a:ext cx="774734" cy="353468"/>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1800" dirty="0"/>
              <a:t>2.5m</a:t>
            </a:r>
          </a:p>
        </p:txBody>
      </p:sp>
      <p:sp>
        <p:nvSpPr>
          <p:cNvPr id="16" name="Freeform: Shape 15">
            <a:extLst>
              <a:ext uri="{FF2B5EF4-FFF2-40B4-BE49-F238E27FC236}">
                <a16:creationId xmlns:a16="http://schemas.microsoft.com/office/drawing/2014/main" id="{8C78C7C2-60DB-43C5-8DA5-C4540797817B}"/>
              </a:ext>
            </a:extLst>
          </p:cNvPr>
          <p:cNvSpPr/>
          <p:nvPr/>
        </p:nvSpPr>
        <p:spPr>
          <a:xfrm rot="11553425">
            <a:off x="3421233" y="4270758"/>
            <a:ext cx="5486400" cy="2193752"/>
          </a:xfrm>
          <a:custGeom>
            <a:avLst/>
            <a:gdLst>
              <a:gd name="connsiteX0" fmla="*/ 0 w 5486400"/>
              <a:gd name="connsiteY0" fmla="*/ 1085850 h 2193752"/>
              <a:gd name="connsiteX1" fmla="*/ 3400425 w 5486400"/>
              <a:gd name="connsiteY1" fmla="*/ 2162175 h 2193752"/>
              <a:gd name="connsiteX2" fmla="*/ 5486400 w 5486400"/>
              <a:gd name="connsiteY2" fmla="*/ 0 h 2193752"/>
            </a:gdLst>
            <a:ahLst/>
            <a:cxnLst>
              <a:cxn ang="0">
                <a:pos x="connsiteX0" y="connsiteY0"/>
              </a:cxn>
              <a:cxn ang="0">
                <a:pos x="connsiteX1" y="connsiteY1"/>
              </a:cxn>
              <a:cxn ang="0">
                <a:pos x="connsiteX2" y="connsiteY2"/>
              </a:cxn>
            </a:cxnLst>
            <a:rect l="l" t="t" r="r" b="b"/>
            <a:pathLst>
              <a:path w="5486400" h="2193752">
                <a:moveTo>
                  <a:pt x="0" y="1085850"/>
                </a:moveTo>
                <a:cubicBezTo>
                  <a:pt x="1243012" y="1714500"/>
                  <a:pt x="2486025" y="2343150"/>
                  <a:pt x="3400425" y="2162175"/>
                </a:cubicBezTo>
                <a:cubicBezTo>
                  <a:pt x="4314825" y="1981200"/>
                  <a:pt x="4900612" y="990600"/>
                  <a:pt x="5486400" y="0"/>
                </a:cubicBezTo>
              </a:path>
            </a:pathLst>
          </a:cu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13583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vertical circular motion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Energy Balance</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21222" y="4062539"/>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94582" y="904805"/>
            <a:ext cx="11607867"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400" b="0" dirty="0"/>
              <a:t>Energy balances can be an easy and effective way to analyse vertical circular motion.</a:t>
            </a:r>
          </a:p>
          <a:p>
            <a:r>
              <a:rPr lang="en-AU" sz="2400" b="0" dirty="0"/>
              <a:t>Key assumption for this to be accurate?	</a:t>
            </a:r>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sp>
        <p:nvSpPr>
          <p:cNvPr id="18" name="Text Placeholder 3">
            <a:extLst>
              <a:ext uri="{FF2B5EF4-FFF2-40B4-BE49-F238E27FC236}">
                <a16:creationId xmlns:a16="http://schemas.microsoft.com/office/drawing/2014/main" id="{59F8F288-886C-457F-94C0-28DE7550D0B4}"/>
              </a:ext>
            </a:extLst>
          </p:cNvPr>
          <p:cNvSpPr txBox="1">
            <a:spLocks/>
          </p:cNvSpPr>
          <p:nvPr/>
        </p:nvSpPr>
        <p:spPr>
          <a:xfrm>
            <a:off x="6203433" y="1625522"/>
            <a:ext cx="3151885" cy="53545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400" b="0" dirty="0">
                <a:solidFill>
                  <a:srgbClr val="FF0000"/>
                </a:solidFill>
              </a:rPr>
              <a:t>No energy loss </a:t>
            </a:r>
            <a:r>
              <a:rPr lang="en-AU" b="0" dirty="0"/>
              <a:t>	</a:t>
            </a:r>
          </a:p>
        </p:txBody>
      </p:sp>
      <p:pic>
        <p:nvPicPr>
          <p:cNvPr id="8" name="Picture 7">
            <a:extLst>
              <a:ext uri="{FF2B5EF4-FFF2-40B4-BE49-F238E27FC236}">
                <a16:creationId xmlns:a16="http://schemas.microsoft.com/office/drawing/2014/main" id="{0021DE9E-3F1A-4A1F-9B59-049E29EE4B7B}"/>
              </a:ext>
            </a:extLst>
          </p:cNvPr>
          <p:cNvPicPr>
            <a:picLocks noChangeAspect="1"/>
          </p:cNvPicPr>
          <p:nvPr/>
        </p:nvPicPr>
        <p:blipFill>
          <a:blip r:embed="rId3"/>
          <a:stretch>
            <a:fillRect/>
          </a:stretch>
        </p:blipFill>
        <p:spPr>
          <a:xfrm>
            <a:off x="98508" y="2160974"/>
            <a:ext cx="6995072" cy="4630342"/>
          </a:xfrm>
          <a:prstGeom prst="rect">
            <a:avLst/>
          </a:prstGeom>
        </p:spPr>
      </p:pic>
    </p:spTree>
    <p:extLst>
      <p:ext uri="{BB962C8B-B14F-4D97-AF65-F5344CB8AC3E}">
        <p14:creationId xmlns:p14="http://schemas.microsoft.com/office/powerpoint/2010/main" val="2740467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vertical circular motion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Energy Balance</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21222" y="4062539"/>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pic>
        <p:nvPicPr>
          <p:cNvPr id="5" name="Picture 4">
            <a:extLst>
              <a:ext uri="{FF2B5EF4-FFF2-40B4-BE49-F238E27FC236}">
                <a16:creationId xmlns:a16="http://schemas.microsoft.com/office/drawing/2014/main" id="{F907711C-B719-4107-B873-49C850C5517B}"/>
              </a:ext>
            </a:extLst>
          </p:cNvPr>
          <p:cNvPicPr>
            <a:picLocks noChangeAspect="1"/>
          </p:cNvPicPr>
          <p:nvPr/>
        </p:nvPicPr>
        <p:blipFill>
          <a:blip r:embed="rId3"/>
          <a:stretch>
            <a:fillRect/>
          </a:stretch>
        </p:blipFill>
        <p:spPr>
          <a:xfrm>
            <a:off x="984213" y="1007686"/>
            <a:ext cx="4867275" cy="5057775"/>
          </a:xfrm>
          <a:prstGeom prst="rect">
            <a:avLst/>
          </a:prstGeom>
        </p:spPr>
      </p:pic>
      <p:pic>
        <p:nvPicPr>
          <p:cNvPr id="7" name="Picture 6">
            <a:extLst>
              <a:ext uri="{FF2B5EF4-FFF2-40B4-BE49-F238E27FC236}">
                <a16:creationId xmlns:a16="http://schemas.microsoft.com/office/drawing/2014/main" id="{A615B5B8-4295-4951-A1D8-D3D5D9935B5E}"/>
              </a:ext>
            </a:extLst>
          </p:cNvPr>
          <p:cNvPicPr>
            <a:picLocks noChangeAspect="1"/>
          </p:cNvPicPr>
          <p:nvPr/>
        </p:nvPicPr>
        <p:blipFill>
          <a:blip r:embed="rId4"/>
          <a:stretch>
            <a:fillRect/>
          </a:stretch>
        </p:blipFill>
        <p:spPr>
          <a:xfrm>
            <a:off x="6009788" y="954621"/>
            <a:ext cx="4848225" cy="5334000"/>
          </a:xfrm>
          <a:prstGeom prst="rect">
            <a:avLst/>
          </a:prstGeom>
        </p:spPr>
      </p:pic>
    </p:spTree>
    <p:extLst>
      <p:ext uri="{BB962C8B-B14F-4D97-AF65-F5344CB8AC3E}">
        <p14:creationId xmlns:p14="http://schemas.microsoft.com/office/powerpoint/2010/main" val="26095094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vertical circular motion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Energy Balance</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21222" y="4062539"/>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pic>
        <p:nvPicPr>
          <p:cNvPr id="6" name="Picture 5">
            <a:extLst>
              <a:ext uri="{FF2B5EF4-FFF2-40B4-BE49-F238E27FC236}">
                <a16:creationId xmlns:a16="http://schemas.microsoft.com/office/drawing/2014/main" id="{6CA76593-A6EF-479B-822D-7CC422EE1310}"/>
              </a:ext>
            </a:extLst>
          </p:cNvPr>
          <p:cNvPicPr>
            <a:picLocks noChangeAspect="1"/>
          </p:cNvPicPr>
          <p:nvPr/>
        </p:nvPicPr>
        <p:blipFill>
          <a:blip r:embed="rId3"/>
          <a:stretch>
            <a:fillRect/>
          </a:stretch>
        </p:blipFill>
        <p:spPr>
          <a:xfrm>
            <a:off x="596178" y="1225294"/>
            <a:ext cx="4848225" cy="3505200"/>
          </a:xfrm>
          <a:prstGeom prst="rect">
            <a:avLst/>
          </a:prstGeom>
        </p:spPr>
      </p:pic>
      <p:pic>
        <p:nvPicPr>
          <p:cNvPr id="9" name="Picture 8">
            <a:extLst>
              <a:ext uri="{FF2B5EF4-FFF2-40B4-BE49-F238E27FC236}">
                <a16:creationId xmlns:a16="http://schemas.microsoft.com/office/drawing/2014/main" id="{54364E48-A018-4440-98E2-01B629FF7A46}"/>
              </a:ext>
            </a:extLst>
          </p:cNvPr>
          <p:cNvPicPr>
            <a:picLocks noChangeAspect="1"/>
          </p:cNvPicPr>
          <p:nvPr/>
        </p:nvPicPr>
        <p:blipFill>
          <a:blip r:embed="rId4"/>
          <a:stretch>
            <a:fillRect/>
          </a:stretch>
        </p:blipFill>
        <p:spPr>
          <a:xfrm>
            <a:off x="6403614" y="755130"/>
            <a:ext cx="4829175" cy="5495925"/>
          </a:xfrm>
          <a:prstGeom prst="rect">
            <a:avLst/>
          </a:prstGeom>
        </p:spPr>
      </p:pic>
    </p:spTree>
    <p:extLst>
      <p:ext uri="{BB962C8B-B14F-4D97-AF65-F5344CB8AC3E}">
        <p14:creationId xmlns:p14="http://schemas.microsoft.com/office/powerpoint/2010/main" val="9654175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vertical circular motion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Energy Balance: Your Turn</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21222" y="4062539"/>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98508" y="972066"/>
            <a:ext cx="11607867" cy="885562"/>
          </a:xfrm>
          <a:prstGeom prst="rect">
            <a:avLst/>
          </a:prstGeom>
        </p:spPr>
        <p:txBody>
          <a:bodyPr numCol="2"/>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400" b="0" dirty="0"/>
              <a:t>Calculate:</a:t>
            </a:r>
          </a:p>
          <a:p>
            <a:pPr marL="457200" indent="-457200">
              <a:buFont typeface="+mj-lt"/>
              <a:buAutoNum type="alphaLcParenR"/>
            </a:pPr>
            <a:r>
              <a:rPr lang="en-AU" sz="2400" b="0" dirty="0"/>
              <a:t>Speed at Y</a:t>
            </a:r>
          </a:p>
          <a:p>
            <a:pPr marL="457200" indent="-457200">
              <a:buFont typeface="+mj-lt"/>
              <a:buAutoNum type="alphaLcParenR"/>
            </a:pPr>
            <a:r>
              <a:rPr lang="en-AU" sz="2400" b="0" dirty="0"/>
              <a:t>Normal reaction force at Y</a:t>
            </a:r>
          </a:p>
          <a:p>
            <a:pPr marL="457200" indent="-457200">
              <a:buFont typeface="+mj-lt"/>
              <a:buAutoNum type="alphaLcParenR"/>
            </a:pPr>
            <a:endParaRPr lang="en-AU" sz="2400" b="0" dirty="0"/>
          </a:p>
          <a:p>
            <a:pPr marL="457200" indent="-457200">
              <a:buFont typeface="+mj-lt"/>
              <a:buAutoNum type="alphaLcParenR"/>
            </a:pPr>
            <a:r>
              <a:rPr lang="en-AU" sz="2400" b="0" dirty="0"/>
              <a:t>Speed at Z</a:t>
            </a:r>
          </a:p>
          <a:p>
            <a:pPr marL="457200" indent="-457200">
              <a:buFont typeface="+mj-lt"/>
              <a:buAutoNum type="alphaLcParenR"/>
            </a:pPr>
            <a:r>
              <a:rPr lang="en-AU" sz="2400" b="0" dirty="0"/>
              <a:t>Normal reaction force at Z	</a:t>
            </a:r>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pic>
        <p:nvPicPr>
          <p:cNvPr id="5" name="Picture 4">
            <a:extLst>
              <a:ext uri="{FF2B5EF4-FFF2-40B4-BE49-F238E27FC236}">
                <a16:creationId xmlns:a16="http://schemas.microsoft.com/office/drawing/2014/main" id="{9232EE51-BBAA-4688-913E-3E157BAB602E}"/>
              </a:ext>
            </a:extLst>
          </p:cNvPr>
          <p:cNvPicPr>
            <a:picLocks noChangeAspect="1"/>
          </p:cNvPicPr>
          <p:nvPr/>
        </p:nvPicPr>
        <p:blipFill>
          <a:blip r:embed="rId3"/>
          <a:stretch>
            <a:fillRect/>
          </a:stretch>
        </p:blipFill>
        <p:spPr>
          <a:xfrm>
            <a:off x="65073" y="2980565"/>
            <a:ext cx="7445230" cy="3090473"/>
          </a:xfrm>
          <a:prstGeom prst="rect">
            <a:avLst/>
          </a:prstGeom>
        </p:spPr>
      </p:pic>
    </p:spTree>
    <p:extLst>
      <p:ext uri="{BB962C8B-B14F-4D97-AF65-F5344CB8AC3E}">
        <p14:creationId xmlns:p14="http://schemas.microsoft.com/office/powerpoint/2010/main" val="15144700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vertical circular motion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Minimum speed inside a loop</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21222" y="4062539"/>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pic>
        <p:nvPicPr>
          <p:cNvPr id="6" name="Picture 5">
            <a:extLst>
              <a:ext uri="{FF2B5EF4-FFF2-40B4-BE49-F238E27FC236}">
                <a16:creationId xmlns:a16="http://schemas.microsoft.com/office/drawing/2014/main" id="{D3CED2FC-162D-41BB-8494-3E41DC71E419}"/>
              </a:ext>
            </a:extLst>
          </p:cNvPr>
          <p:cNvPicPr>
            <a:picLocks noChangeAspect="1"/>
          </p:cNvPicPr>
          <p:nvPr/>
        </p:nvPicPr>
        <p:blipFill>
          <a:blip r:embed="rId3"/>
          <a:stretch>
            <a:fillRect/>
          </a:stretch>
        </p:blipFill>
        <p:spPr>
          <a:xfrm>
            <a:off x="295275" y="1007686"/>
            <a:ext cx="6598488" cy="5260712"/>
          </a:xfrm>
          <a:prstGeom prst="rect">
            <a:avLst/>
          </a:prstGeom>
        </p:spPr>
      </p:pic>
    </p:spTree>
    <p:extLst>
      <p:ext uri="{BB962C8B-B14F-4D97-AF65-F5344CB8AC3E}">
        <p14:creationId xmlns:p14="http://schemas.microsoft.com/office/powerpoint/2010/main" val="3429850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vertical circular motion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Minimum speed inside a loop</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21222" y="4062539"/>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pic>
        <p:nvPicPr>
          <p:cNvPr id="6" name="Picture 5">
            <a:extLst>
              <a:ext uri="{FF2B5EF4-FFF2-40B4-BE49-F238E27FC236}">
                <a16:creationId xmlns:a16="http://schemas.microsoft.com/office/drawing/2014/main" id="{D3CED2FC-162D-41BB-8494-3E41DC71E419}"/>
              </a:ext>
            </a:extLst>
          </p:cNvPr>
          <p:cNvPicPr>
            <a:picLocks noChangeAspect="1"/>
          </p:cNvPicPr>
          <p:nvPr/>
        </p:nvPicPr>
        <p:blipFill>
          <a:blip r:embed="rId3"/>
          <a:stretch>
            <a:fillRect/>
          </a:stretch>
        </p:blipFill>
        <p:spPr>
          <a:xfrm>
            <a:off x="295275" y="1007686"/>
            <a:ext cx="6598488" cy="5260712"/>
          </a:xfrm>
          <a:prstGeom prst="rect">
            <a:avLst/>
          </a:prstGeom>
        </p:spPr>
      </p:pic>
      <p:pic>
        <p:nvPicPr>
          <p:cNvPr id="5" name="Picture 4">
            <a:extLst>
              <a:ext uri="{FF2B5EF4-FFF2-40B4-BE49-F238E27FC236}">
                <a16:creationId xmlns:a16="http://schemas.microsoft.com/office/drawing/2014/main" id="{D36A0B03-FD6A-4D1B-834E-8063E04AB302}"/>
              </a:ext>
            </a:extLst>
          </p:cNvPr>
          <p:cNvPicPr>
            <a:picLocks noChangeAspect="1"/>
          </p:cNvPicPr>
          <p:nvPr/>
        </p:nvPicPr>
        <p:blipFill>
          <a:blip r:embed="rId4"/>
          <a:stretch>
            <a:fillRect/>
          </a:stretch>
        </p:blipFill>
        <p:spPr>
          <a:xfrm>
            <a:off x="7026894" y="1007686"/>
            <a:ext cx="5101550" cy="4313614"/>
          </a:xfrm>
          <a:prstGeom prst="rect">
            <a:avLst/>
          </a:prstGeom>
        </p:spPr>
      </p:pic>
    </p:spTree>
    <p:extLst>
      <p:ext uri="{BB962C8B-B14F-4D97-AF65-F5344CB8AC3E}">
        <p14:creationId xmlns:p14="http://schemas.microsoft.com/office/powerpoint/2010/main" val="2358251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vertical circular motion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Minimum speed on top of a loop</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21222" y="4062539"/>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grpSp>
        <p:nvGrpSpPr>
          <p:cNvPr id="11" name="Group 10">
            <a:extLst>
              <a:ext uri="{FF2B5EF4-FFF2-40B4-BE49-F238E27FC236}">
                <a16:creationId xmlns:a16="http://schemas.microsoft.com/office/drawing/2014/main" id="{384B6014-326B-4237-A37B-7966AAA7909F}"/>
              </a:ext>
            </a:extLst>
          </p:cNvPr>
          <p:cNvGrpSpPr/>
          <p:nvPr/>
        </p:nvGrpSpPr>
        <p:grpSpPr>
          <a:xfrm>
            <a:off x="348733" y="1893248"/>
            <a:ext cx="7924800" cy="2800340"/>
            <a:chOff x="2241033" y="2120900"/>
            <a:chExt cx="7924800" cy="2800340"/>
          </a:xfrm>
        </p:grpSpPr>
        <p:pic>
          <p:nvPicPr>
            <p:cNvPr id="5" name="Picture 4">
              <a:extLst>
                <a:ext uri="{FF2B5EF4-FFF2-40B4-BE49-F238E27FC236}">
                  <a16:creationId xmlns:a16="http://schemas.microsoft.com/office/drawing/2014/main" id="{2A6E9D9A-CFAA-4911-B292-F917F4FD292D}"/>
                </a:ext>
              </a:extLst>
            </p:cNvPr>
            <p:cNvPicPr>
              <a:picLocks noChangeAspect="1"/>
            </p:cNvPicPr>
            <p:nvPr/>
          </p:nvPicPr>
          <p:blipFill>
            <a:blip r:embed="rId3"/>
            <a:stretch>
              <a:fillRect/>
            </a:stretch>
          </p:blipFill>
          <p:spPr>
            <a:xfrm>
              <a:off x="2241033" y="2454265"/>
              <a:ext cx="7924800" cy="2466975"/>
            </a:xfrm>
            <a:prstGeom prst="rect">
              <a:avLst/>
            </a:prstGeom>
          </p:spPr>
        </p:pic>
        <p:sp>
          <p:nvSpPr>
            <p:cNvPr id="10" name="Rectangle 9">
              <a:extLst>
                <a:ext uri="{FF2B5EF4-FFF2-40B4-BE49-F238E27FC236}">
                  <a16:creationId xmlns:a16="http://schemas.microsoft.com/office/drawing/2014/main" id="{704076DB-599B-42F2-8CE9-A7E2AFDB5589}"/>
                </a:ext>
              </a:extLst>
            </p:cNvPr>
            <p:cNvSpPr/>
            <p:nvPr/>
          </p:nvSpPr>
          <p:spPr>
            <a:xfrm>
              <a:off x="8394700" y="2120900"/>
              <a:ext cx="1771133" cy="191477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12" name="Oval 11">
            <a:extLst>
              <a:ext uri="{FF2B5EF4-FFF2-40B4-BE49-F238E27FC236}">
                <a16:creationId xmlns:a16="http://schemas.microsoft.com/office/drawing/2014/main" id="{0404A2DB-61DC-46F6-84E5-9DDA3A6BB04C}"/>
              </a:ext>
            </a:extLst>
          </p:cNvPr>
          <p:cNvSpPr/>
          <p:nvPr/>
        </p:nvSpPr>
        <p:spPr>
          <a:xfrm>
            <a:off x="2635246" y="2959100"/>
            <a:ext cx="2707047" cy="2707047"/>
          </a:xfrm>
          <a:prstGeom prst="ellipse">
            <a:avLst/>
          </a:pr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22" name="Group 21">
            <a:extLst>
              <a:ext uri="{FF2B5EF4-FFF2-40B4-BE49-F238E27FC236}">
                <a16:creationId xmlns:a16="http://schemas.microsoft.com/office/drawing/2014/main" id="{CB9E0F2C-0630-4135-AD29-66A426215EE4}"/>
              </a:ext>
            </a:extLst>
          </p:cNvPr>
          <p:cNvGrpSpPr/>
          <p:nvPr/>
        </p:nvGrpSpPr>
        <p:grpSpPr>
          <a:xfrm>
            <a:off x="3074369" y="1956312"/>
            <a:ext cx="1994792" cy="2070263"/>
            <a:chOff x="4966669" y="1956312"/>
            <a:chExt cx="1994792" cy="2070263"/>
          </a:xfrm>
        </p:grpSpPr>
        <p:cxnSp>
          <p:nvCxnSpPr>
            <p:cNvPr id="14" name="Straight Arrow Connector 13">
              <a:extLst>
                <a:ext uri="{FF2B5EF4-FFF2-40B4-BE49-F238E27FC236}">
                  <a16:creationId xmlns:a16="http://schemas.microsoft.com/office/drawing/2014/main" id="{6F7E50B8-EF81-4DF6-AEB8-6CC42102A034}"/>
                </a:ext>
              </a:extLst>
            </p:cNvPr>
            <p:cNvCxnSpPr/>
            <p:nvPr/>
          </p:nvCxnSpPr>
          <p:spPr>
            <a:xfrm>
              <a:off x="5830269" y="2843256"/>
              <a:ext cx="0" cy="1090226"/>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DFD75C67-2355-4857-9B40-641E5B1EBC0B}"/>
                </a:ext>
              </a:extLst>
            </p:cNvPr>
            <p:cNvSpPr txBox="1"/>
            <p:nvPr/>
          </p:nvSpPr>
          <p:spPr>
            <a:xfrm>
              <a:off x="5130800" y="3112175"/>
              <a:ext cx="914400" cy="914400"/>
            </a:xfrm>
            <a:prstGeom prst="rect">
              <a:avLst/>
            </a:prstGeom>
            <a:noFill/>
            <a:ln>
              <a:noFill/>
            </a:ln>
          </p:spPr>
          <p:txBody>
            <a:bodyPr wrap="none" rtlCol="0" anchor="t" anchorCtr="0">
              <a:normAutofit/>
            </a:bodyPr>
            <a:lstStyle/>
            <a:p>
              <a:pPr algn="l"/>
              <a:r>
                <a:rPr lang="en-AU" sz="3200" b="1" dirty="0" err="1">
                  <a:solidFill>
                    <a:srgbClr val="FF0000"/>
                  </a:solidFill>
                  <a:latin typeface="Century Gothic" panose="020B0502020202020204" pitchFamily="34" charset="0"/>
                  <a:cs typeface="Futura Medium" panose="020B0602020204020303" pitchFamily="34" charset="-79"/>
                </a:rPr>
                <a:t>F</a:t>
              </a:r>
              <a:r>
                <a:rPr lang="en-AU" sz="3200" b="1" baseline="-25000" dirty="0" err="1">
                  <a:solidFill>
                    <a:srgbClr val="FF0000"/>
                  </a:solidFill>
                  <a:latin typeface="Century Gothic" panose="020B0502020202020204" pitchFamily="34" charset="0"/>
                  <a:cs typeface="Futura Medium" panose="020B0602020204020303" pitchFamily="34" charset="-79"/>
                </a:rPr>
                <a:t>g</a:t>
              </a:r>
              <a:endParaRPr lang="en-AU" sz="3200" b="1" dirty="0">
                <a:solidFill>
                  <a:srgbClr val="FF0000"/>
                </a:solidFill>
                <a:latin typeface="Century Gothic" panose="020B0502020202020204" pitchFamily="34" charset="0"/>
                <a:cs typeface="Futura Medium" panose="020B0602020204020303" pitchFamily="34" charset="-79"/>
              </a:endParaRPr>
            </a:p>
          </p:txBody>
        </p:sp>
        <p:sp>
          <p:nvSpPr>
            <p:cNvPr id="19" name="TextBox 18">
              <a:extLst>
                <a:ext uri="{FF2B5EF4-FFF2-40B4-BE49-F238E27FC236}">
                  <a16:creationId xmlns:a16="http://schemas.microsoft.com/office/drawing/2014/main" id="{FFA2AC35-85A8-4460-8484-412830BC5300}"/>
                </a:ext>
              </a:extLst>
            </p:cNvPr>
            <p:cNvSpPr txBox="1"/>
            <p:nvPr/>
          </p:nvSpPr>
          <p:spPr>
            <a:xfrm>
              <a:off x="4966669" y="1956312"/>
              <a:ext cx="914400" cy="914400"/>
            </a:xfrm>
            <a:prstGeom prst="rect">
              <a:avLst/>
            </a:prstGeom>
            <a:noFill/>
            <a:ln>
              <a:noFill/>
            </a:ln>
          </p:spPr>
          <p:txBody>
            <a:bodyPr wrap="none" rtlCol="0" anchor="t" anchorCtr="0">
              <a:normAutofit/>
            </a:bodyPr>
            <a:lstStyle/>
            <a:p>
              <a:pPr algn="l"/>
              <a:r>
                <a:rPr lang="en-AU" sz="3200" b="1" dirty="0" err="1">
                  <a:latin typeface="Century Gothic" panose="020B0502020202020204" pitchFamily="34" charset="0"/>
                  <a:cs typeface="Futura Medium" panose="020B0602020204020303" pitchFamily="34" charset="-79"/>
                </a:rPr>
                <a:t>F</a:t>
              </a:r>
              <a:r>
                <a:rPr lang="en-AU" sz="3200" b="1" baseline="-25000" dirty="0" err="1">
                  <a:latin typeface="Century Gothic" panose="020B0502020202020204" pitchFamily="34" charset="0"/>
                  <a:cs typeface="Futura Medium" panose="020B0602020204020303" pitchFamily="34" charset="-79"/>
                </a:rPr>
                <a:t>n</a:t>
              </a:r>
              <a:endParaRPr lang="en-AU" sz="3200" b="1" dirty="0">
                <a:latin typeface="Century Gothic" panose="020B0502020202020204" pitchFamily="34" charset="0"/>
                <a:cs typeface="Futura Medium" panose="020B0602020204020303" pitchFamily="34" charset="-79"/>
              </a:endParaRPr>
            </a:p>
          </p:txBody>
        </p:sp>
        <p:cxnSp>
          <p:nvCxnSpPr>
            <p:cNvPr id="20" name="Straight Arrow Connector 19">
              <a:extLst>
                <a:ext uri="{FF2B5EF4-FFF2-40B4-BE49-F238E27FC236}">
                  <a16:creationId xmlns:a16="http://schemas.microsoft.com/office/drawing/2014/main" id="{665AB694-E887-4548-9641-9498EAB61AEC}"/>
                </a:ext>
              </a:extLst>
            </p:cNvPr>
            <p:cNvCxnSpPr>
              <a:cxnSpLocks/>
            </p:cNvCxnSpPr>
            <p:nvPr/>
          </p:nvCxnSpPr>
          <p:spPr>
            <a:xfrm flipV="1">
              <a:off x="5881069" y="2181013"/>
              <a:ext cx="0" cy="57882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0D31D7A6-93E6-4A3C-B905-52D85A56679D}"/>
                </a:ext>
              </a:extLst>
            </p:cNvPr>
            <p:cNvCxnSpPr>
              <a:cxnSpLocks/>
            </p:cNvCxnSpPr>
            <p:nvPr/>
          </p:nvCxnSpPr>
          <p:spPr>
            <a:xfrm>
              <a:off x="5950923" y="2858487"/>
              <a:ext cx="0" cy="646713"/>
            </a:xfrm>
            <a:prstGeom prst="straightConnector1">
              <a:avLst/>
            </a:prstGeom>
            <a:ln w="5715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DF3DE709-A858-425B-B033-7F02BAFDEED2}"/>
                </a:ext>
              </a:extLst>
            </p:cNvPr>
            <p:cNvSpPr txBox="1"/>
            <p:nvPr/>
          </p:nvSpPr>
          <p:spPr>
            <a:xfrm>
              <a:off x="6047061" y="2971800"/>
              <a:ext cx="914400" cy="914400"/>
            </a:xfrm>
            <a:prstGeom prst="rect">
              <a:avLst/>
            </a:prstGeom>
            <a:noFill/>
            <a:ln>
              <a:noFill/>
            </a:ln>
          </p:spPr>
          <p:txBody>
            <a:bodyPr wrap="none" rtlCol="0" anchor="t" anchorCtr="0">
              <a:normAutofit/>
            </a:bodyPr>
            <a:lstStyle/>
            <a:p>
              <a:pPr algn="l"/>
              <a:r>
                <a:rPr lang="en-AU" sz="3200" b="1" dirty="0">
                  <a:solidFill>
                    <a:srgbClr val="0070C0"/>
                  </a:solidFill>
                  <a:latin typeface="Century Gothic" panose="020B0502020202020204" pitchFamily="34" charset="0"/>
                  <a:cs typeface="Futura Medium" panose="020B0602020204020303" pitchFamily="34" charset="-79"/>
                </a:rPr>
                <a:t>F</a:t>
              </a:r>
              <a:r>
                <a:rPr lang="en-AU" sz="3200" b="1" baseline="-25000" dirty="0">
                  <a:solidFill>
                    <a:srgbClr val="0070C0"/>
                  </a:solidFill>
                  <a:latin typeface="Century Gothic" panose="020B0502020202020204" pitchFamily="34" charset="0"/>
                  <a:cs typeface="Futura Medium" panose="020B0602020204020303" pitchFamily="34" charset="-79"/>
                </a:rPr>
                <a:t>c</a:t>
              </a:r>
              <a:endParaRPr lang="en-AU" sz="3200" b="1" dirty="0">
                <a:solidFill>
                  <a:srgbClr val="0070C0"/>
                </a:solidFill>
                <a:latin typeface="Century Gothic" panose="020B0502020202020204" pitchFamily="34" charset="0"/>
                <a:cs typeface="Futura Medium" panose="020B0602020204020303" pitchFamily="34" charset="-79"/>
              </a:endParaRPr>
            </a:p>
          </p:txBody>
        </p:sp>
      </p:grpSp>
      <p:sp>
        <p:nvSpPr>
          <p:cNvPr id="30" name="TextBox 29">
            <a:extLst>
              <a:ext uri="{FF2B5EF4-FFF2-40B4-BE49-F238E27FC236}">
                <a16:creationId xmlns:a16="http://schemas.microsoft.com/office/drawing/2014/main" id="{210E453E-46C3-45D4-9404-4886D01957A8}"/>
              </a:ext>
            </a:extLst>
          </p:cNvPr>
          <p:cNvSpPr txBox="1"/>
          <p:nvPr/>
        </p:nvSpPr>
        <p:spPr>
          <a:xfrm>
            <a:off x="5841305" y="670930"/>
            <a:ext cx="6096000" cy="7068602"/>
          </a:xfrm>
          <a:prstGeom prst="rect">
            <a:avLst/>
          </a:prstGeom>
          <a:noFill/>
          <a:ln>
            <a:noFill/>
          </a:ln>
        </p:spPr>
        <p:txBody>
          <a:bodyPr wrap="square">
            <a:spAutoFit/>
          </a:bodyPr>
          <a:lstStyle/>
          <a:p>
            <a:pPr algn="just"/>
            <a:r>
              <a:rPr lang="en-AU" sz="2000" b="0" dirty="0"/>
              <a:t>Normal force must be less than the weight force otherwise net force doesn’t point towards centre of circle.</a:t>
            </a:r>
          </a:p>
          <a:p>
            <a:pPr algn="just"/>
            <a:endParaRPr lang="en-AU" sz="2000" dirty="0"/>
          </a:p>
          <a:p>
            <a:pPr algn="just"/>
            <a:r>
              <a:rPr lang="en-AU" sz="2000" dirty="0"/>
              <a:t>F</a:t>
            </a:r>
            <a:r>
              <a:rPr lang="en-AU" sz="2000" baseline="-25000" dirty="0"/>
              <a:t>c</a:t>
            </a:r>
            <a:r>
              <a:rPr lang="en-AU" sz="2000" dirty="0"/>
              <a:t> = </a:t>
            </a:r>
            <a:r>
              <a:rPr lang="en-AU" sz="2000" dirty="0" err="1"/>
              <a:t>F</a:t>
            </a:r>
            <a:r>
              <a:rPr lang="en-AU" sz="2000" baseline="-25000" dirty="0" err="1"/>
              <a:t>g</a:t>
            </a:r>
            <a:r>
              <a:rPr lang="en-AU" sz="2000" dirty="0"/>
              <a:t> – </a:t>
            </a:r>
            <a:r>
              <a:rPr lang="en-AU" sz="2000" dirty="0" err="1"/>
              <a:t>F</a:t>
            </a:r>
            <a:r>
              <a:rPr lang="en-AU" sz="2000" baseline="-25000" dirty="0" err="1"/>
              <a:t>n</a:t>
            </a:r>
            <a:endParaRPr lang="en-AU" sz="2000" baseline="-25000" dirty="0"/>
          </a:p>
          <a:p>
            <a:pPr algn="just"/>
            <a:endParaRPr lang="en-AU" sz="2000" b="0" baseline="-25000" dirty="0"/>
          </a:p>
          <a:p>
            <a:pPr algn="just"/>
            <a:r>
              <a:rPr lang="en-AU" sz="2000" b="0" dirty="0" err="1"/>
              <a:t>F</a:t>
            </a:r>
            <a:r>
              <a:rPr lang="en-AU" sz="2000" b="0" baseline="-25000" dirty="0" err="1"/>
              <a:t>n</a:t>
            </a:r>
            <a:r>
              <a:rPr lang="en-AU" sz="2000" b="0" dirty="0"/>
              <a:t> = </a:t>
            </a:r>
            <a:r>
              <a:rPr lang="en-AU" sz="2000" dirty="0" err="1"/>
              <a:t>F</a:t>
            </a:r>
            <a:r>
              <a:rPr lang="en-AU" sz="2000" baseline="-25000" dirty="0" err="1"/>
              <a:t>g</a:t>
            </a:r>
            <a:r>
              <a:rPr lang="en-AU" sz="2000" dirty="0"/>
              <a:t> – F</a:t>
            </a:r>
            <a:r>
              <a:rPr lang="en-AU" sz="2000" baseline="-25000" dirty="0"/>
              <a:t>c</a:t>
            </a:r>
            <a:r>
              <a:rPr lang="en-AU" sz="2000" dirty="0"/>
              <a:t> = mg – mv</a:t>
            </a:r>
            <a:r>
              <a:rPr lang="en-AU" sz="2000" baseline="30000" dirty="0"/>
              <a:t>2</a:t>
            </a:r>
            <a:r>
              <a:rPr lang="en-AU" sz="2000" dirty="0"/>
              <a:t>/r</a:t>
            </a:r>
          </a:p>
          <a:p>
            <a:pPr algn="just"/>
            <a:endParaRPr lang="en-AU" sz="2000" b="0" dirty="0"/>
          </a:p>
          <a:p>
            <a:pPr algn="just"/>
            <a:r>
              <a:rPr lang="en-AU" sz="2000" dirty="0"/>
              <a:t>If the weight force is smaller than the centripetal force then the object will fly off the circular path.</a:t>
            </a:r>
          </a:p>
          <a:p>
            <a:pPr algn="just"/>
            <a:endParaRPr lang="en-AU" sz="2000" dirty="0"/>
          </a:p>
          <a:p>
            <a:pPr algn="just"/>
            <a:endParaRPr lang="en-AU" sz="2000" dirty="0"/>
          </a:p>
          <a:p>
            <a:pPr algn="just"/>
            <a:r>
              <a:rPr lang="en-AU" sz="2000" dirty="0"/>
              <a:t>Another way of saying this:</a:t>
            </a:r>
          </a:p>
          <a:p>
            <a:pPr algn="just"/>
            <a:r>
              <a:rPr lang="en-AU" sz="2000" dirty="0"/>
              <a:t>A negative normal force is not possible and indicates that the object is not in contact with the track (it isn’t real). </a:t>
            </a:r>
          </a:p>
          <a:p>
            <a:pPr algn="just"/>
            <a:r>
              <a:rPr lang="en-AU" sz="2000" dirty="0"/>
              <a:t>If weight force is less than required centripetal force, the object cannot move in a circle.</a:t>
            </a:r>
          </a:p>
          <a:p>
            <a:pPr algn="just"/>
            <a:endParaRPr lang="en-AU" sz="2000" b="0" dirty="0"/>
          </a:p>
          <a:p>
            <a:pPr algn="just"/>
            <a:endParaRPr lang="en-AU" sz="2000" dirty="0"/>
          </a:p>
          <a:p>
            <a:pPr algn="just"/>
            <a:endParaRPr lang="en-AU" sz="2000" b="0" dirty="0"/>
          </a:p>
          <a:p>
            <a:pPr algn="just"/>
            <a:endParaRPr lang="en-AU" sz="2000" b="0" dirty="0"/>
          </a:p>
        </p:txBody>
      </p:sp>
    </p:spTree>
    <p:extLst>
      <p:ext uri="{BB962C8B-B14F-4D97-AF65-F5344CB8AC3E}">
        <p14:creationId xmlns:p14="http://schemas.microsoft.com/office/powerpoint/2010/main" val="21552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3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vertical circular motion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Minimum speed on top of a loop</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21222" y="4062539"/>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sp>
        <p:nvSpPr>
          <p:cNvPr id="12" name="Oval 11">
            <a:extLst>
              <a:ext uri="{FF2B5EF4-FFF2-40B4-BE49-F238E27FC236}">
                <a16:creationId xmlns:a16="http://schemas.microsoft.com/office/drawing/2014/main" id="{0404A2DB-61DC-46F6-84E5-9DDA3A6BB04C}"/>
              </a:ext>
            </a:extLst>
          </p:cNvPr>
          <p:cNvSpPr/>
          <p:nvPr/>
        </p:nvSpPr>
        <p:spPr>
          <a:xfrm>
            <a:off x="1054939" y="3594577"/>
            <a:ext cx="2707047" cy="2707047"/>
          </a:xfrm>
          <a:prstGeom prst="ellipse">
            <a:avLst/>
          </a:pr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22" name="Group 21">
            <a:extLst>
              <a:ext uri="{FF2B5EF4-FFF2-40B4-BE49-F238E27FC236}">
                <a16:creationId xmlns:a16="http://schemas.microsoft.com/office/drawing/2014/main" id="{CB9E0F2C-0630-4135-AD29-66A426215EE4}"/>
              </a:ext>
            </a:extLst>
          </p:cNvPr>
          <p:cNvGrpSpPr/>
          <p:nvPr/>
        </p:nvGrpSpPr>
        <p:grpSpPr>
          <a:xfrm>
            <a:off x="1494062" y="2591789"/>
            <a:ext cx="1994792" cy="2070263"/>
            <a:chOff x="4966669" y="1956312"/>
            <a:chExt cx="1994792" cy="2070263"/>
          </a:xfrm>
        </p:grpSpPr>
        <p:cxnSp>
          <p:nvCxnSpPr>
            <p:cNvPr id="14" name="Straight Arrow Connector 13">
              <a:extLst>
                <a:ext uri="{FF2B5EF4-FFF2-40B4-BE49-F238E27FC236}">
                  <a16:creationId xmlns:a16="http://schemas.microsoft.com/office/drawing/2014/main" id="{6F7E50B8-EF81-4DF6-AEB8-6CC42102A034}"/>
                </a:ext>
              </a:extLst>
            </p:cNvPr>
            <p:cNvCxnSpPr/>
            <p:nvPr/>
          </p:nvCxnSpPr>
          <p:spPr>
            <a:xfrm>
              <a:off x="5830269" y="2843256"/>
              <a:ext cx="0" cy="1090226"/>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DFD75C67-2355-4857-9B40-641E5B1EBC0B}"/>
                </a:ext>
              </a:extLst>
            </p:cNvPr>
            <p:cNvSpPr txBox="1"/>
            <p:nvPr/>
          </p:nvSpPr>
          <p:spPr>
            <a:xfrm>
              <a:off x="5130800" y="3112175"/>
              <a:ext cx="914400" cy="914400"/>
            </a:xfrm>
            <a:prstGeom prst="rect">
              <a:avLst/>
            </a:prstGeom>
            <a:noFill/>
            <a:ln>
              <a:noFill/>
            </a:ln>
          </p:spPr>
          <p:txBody>
            <a:bodyPr wrap="none" rtlCol="0" anchor="t" anchorCtr="0">
              <a:normAutofit/>
            </a:bodyPr>
            <a:lstStyle/>
            <a:p>
              <a:pPr algn="l"/>
              <a:r>
                <a:rPr lang="en-AU" sz="3200" b="1" dirty="0" err="1">
                  <a:solidFill>
                    <a:srgbClr val="FF0000"/>
                  </a:solidFill>
                  <a:latin typeface="Century Gothic" panose="020B0502020202020204" pitchFamily="34" charset="0"/>
                  <a:cs typeface="Futura Medium" panose="020B0602020204020303" pitchFamily="34" charset="-79"/>
                </a:rPr>
                <a:t>F</a:t>
              </a:r>
              <a:r>
                <a:rPr lang="en-AU" sz="3200" b="1" baseline="-25000" dirty="0" err="1">
                  <a:solidFill>
                    <a:srgbClr val="FF0000"/>
                  </a:solidFill>
                  <a:latin typeface="Century Gothic" panose="020B0502020202020204" pitchFamily="34" charset="0"/>
                  <a:cs typeface="Futura Medium" panose="020B0602020204020303" pitchFamily="34" charset="-79"/>
                </a:rPr>
                <a:t>g</a:t>
              </a:r>
              <a:endParaRPr lang="en-AU" sz="3200" b="1" dirty="0">
                <a:solidFill>
                  <a:srgbClr val="FF0000"/>
                </a:solidFill>
                <a:latin typeface="Century Gothic" panose="020B0502020202020204" pitchFamily="34" charset="0"/>
                <a:cs typeface="Futura Medium" panose="020B0602020204020303" pitchFamily="34" charset="-79"/>
              </a:endParaRPr>
            </a:p>
          </p:txBody>
        </p:sp>
        <p:sp>
          <p:nvSpPr>
            <p:cNvPr id="19" name="TextBox 18">
              <a:extLst>
                <a:ext uri="{FF2B5EF4-FFF2-40B4-BE49-F238E27FC236}">
                  <a16:creationId xmlns:a16="http://schemas.microsoft.com/office/drawing/2014/main" id="{FFA2AC35-85A8-4460-8484-412830BC5300}"/>
                </a:ext>
              </a:extLst>
            </p:cNvPr>
            <p:cNvSpPr txBox="1"/>
            <p:nvPr/>
          </p:nvSpPr>
          <p:spPr>
            <a:xfrm>
              <a:off x="4966669" y="1956312"/>
              <a:ext cx="914400" cy="914400"/>
            </a:xfrm>
            <a:prstGeom prst="rect">
              <a:avLst/>
            </a:prstGeom>
            <a:noFill/>
            <a:ln>
              <a:noFill/>
            </a:ln>
          </p:spPr>
          <p:txBody>
            <a:bodyPr wrap="none" rtlCol="0" anchor="t" anchorCtr="0">
              <a:normAutofit/>
            </a:bodyPr>
            <a:lstStyle/>
            <a:p>
              <a:pPr algn="l"/>
              <a:r>
                <a:rPr lang="en-AU" sz="3200" b="1" dirty="0" err="1">
                  <a:latin typeface="Century Gothic" panose="020B0502020202020204" pitchFamily="34" charset="0"/>
                  <a:cs typeface="Futura Medium" panose="020B0602020204020303" pitchFamily="34" charset="-79"/>
                </a:rPr>
                <a:t>F</a:t>
              </a:r>
              <a:r>
                <a:rPr lang="en-AU" sz="3200" b="1" baseline="-25000" dirty="0" err="1">
                  <a:latin typeface="Century Gothic" panose="020B0502020202020204" pitchFamily="34" charset="0"/>
                  <a:cs typeface="Futura Medium" panose="020B0602020204020303" pitchFamily="34" charset="-79"/>
                </a:rPr>
                <a:t>n</a:t>
              </a:r>
              <a:endParaRPr lang="en-AU" sz="3200" b="1" dirty="0">
                <a:latin typeface="Century Gothic" panose="020B0502020202020204" pitchFamily="34" charset="0"/>
                <a:cs typeface="Futura Medium" panose="020B0602020204020303" pitchFamily="34" charset="-79"/>
              </a:endParaRPr>
            </a:p>
          </p:txBody>
        </p:sp>
        <p:cxnSp>
          <p:nvCxnSpPr>
            <p:cNvPr id="20" name="Straight Arrow Connector 19">
              <a:extLst>
                <a:ext uri="{FF2B5EF4-FFF2-40B4-BE49-F238E27FC236}">
                  <a16:creationId xmlns:a16="http://schemas.microsoft.com/office/drawing/2014/main" id="{665AB694-E887-4548-9641-9498EAB61AEC}"/>
                </a:ext>
              </a:extLst>
            </p:cNvPr>
            <p:cNvCxnSpPr>
              <a:cxnSpLocks/>
            </p:cNvCxnSpPr>
            <p:nvPr/>
          </p:nvCxnSpPr>
          <p:spPr>
            <a:xfrm flipV="1">
              <a:off x="5881069" y="2181013"/>
              <a:ext cx="0" cy="57882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0D31D7A6-93E6-4A3C-B905-52D85A56679D}"/>
                </a:ext>
              </a:extLst>
            </p:cNvPr>
            <p:cNvCxnSpPr>
              <a:cxnSpLocks/>
            </p:cNvCxnSpPr>
            <p:nvPr/>
          </p:nvCxnSpPr>
          <p:spPr>
            <a:xfrm>
              <a:off x="5950923" y="2858487"/>
              <a:ext cx="0" cy="646713"/>
            </a:xfrm>
            <a:prstGeom prst="straightConnector1">
              <a:avLst/>
            </a:prstGeom>
            <a:ln w="5715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DF3DE709-A858-425B-B033-7F02BAFDEED2}"/>
                </a:ext>
              </a:extLst>
            </p:cNvPr>
            <p:cNvSpPr txBox="1"/>
            <p:nvPr/>
          </p:nvSpPr>
          <p:spPr>
            <a:xfrm>
              <a:off x="6047061" y="2971800"/>
              <a:ext cx="914400" cy="914400"/>
            </a:xfrm>
            <a:prstGeom prst="rect">
              <a:avLst/>
            </a:prstGeom>
            <a:noFill/>
            <a:ln>
              <a:noFill/>
            </a:ln>
          </p:spPr>
          <p:txBody>
            <a:bodyPr wrap="none" rtlCol="0" anchor="t" anchorCtr="0">
              <a:normAutofit/>
            </a:bodyPr>
            <a:lstStyle/>
            <a:p>
              <a:pPr algn="l"/>
              <a:r>
                <a:rPr lang="en-AU" sz="3200" b="1" dirty="0">
                  <a:solidFill>
                    <a:srgbClr val="0070C0"/>
                  </a:solidFill>
                  <a:latin typeface="Century Gothic" panose="020B0502020202020204" pitchFamily="34" charset="0"/>
                  <a:cs typeface="Futura Medium" panose="020B0602020204020303" pitchFamily="34" charset="-79"/>
                </a:rPr>
                <a:t>F</a:t>
              </a:r>
              <a:r>
                <a:rPr lang="en-AU" sz="3200" b="1" baseline="-25000" dirty="0">
                  <a:solidFill>
                    <a:srgbClr val="0070C0"/>
                  </a:solidFill>
                  <a:latin typeface="Century Gothic" panose="020B0502020202020204" pitchFamily="34" charset="0"/>
                  <a:cs typeface="Futura Medium" panose="020B0602020204020303" pitchFamily="34" charset="-79"/>
                </a:rPr>
                <a:t>c</a:t>
              </a:r>
              <a:endParaRPr lang="en-AU" sz="3200" b="1" dirty="0">
                <a:solidFill>
                  <a:srgbClr val="0070C0"/>
                </a:solidFill>
                <a:latin typeface="Century Gothic" panose="020B0502020202020204" pitchFamily="34" charset="0"/>
                <a:cs typeface="Futura Medium" panose="020B0602020204020303" pitchFamily="34" charset="-79"/>
              </a:endParaRPr>
            </a:p>
          </p:txBody>
        </p:sp>
      </p:grpSp>
      <p:sp>
        <p:nvSpPr>
          <p:cNvPr id="30" name="TextBox 29">
            <a:extLst>
              <a:ext uri="{FF2B5EF4-FFF2-40B4-BE49-F238E27FC236}">
                <a16:creationId xmlns:a16="http://schemas.microsoft.com/office/drawing/2014/main" id="{210E453E-46C3-45D4-9404-4886D01957A8}"/>
              </a:ext>
            </a:extLst>
          </p:cNvPr>
          <p:cNvSpPr txBox="1"/>
          <p:nvPr/>
        </p:nvSpPr>
        <p:spPr>
          <a:xfrm>
            <a:off x="310633" y="960591"/>
            <a:ext cx="11666499" cy="1938992"/>
          </a:xfrm>
          <a:prstGeom prst="rect">
            <a:avLst/>
          </a:prstGeom>
          <a:noFill/>
          <a:ln>
            <a:noFill/>
          </a:ln>
        </p:spPr>
        <p:txBody>
          <a:bodyPr wrap="square">
            <a:spAutoFit/>
          </a:bodyPr>
          <a:lstStyle/>
          <a:p>
            <a:pPr algn="just"/>
            <a:r>
              <a:rPr lang="en-AU" sz="2000" b="0" dirty="0"/>
              <a:t>John is at the highest position of a 30.0m wide </a:t>
            </a:r>
            <a:r>
              <a:rPr lang="en-AU" sz="2000" b="0" dirty="0" err="1"/>
              <a:t>ferris</a:t>
            </a:r>
            <a:r>
              <a:rPr lang="en-AU" sz="2000" b="0" dirty="0"/>
              <a:t> wheel (note: </a:t>
            </a:r>
            <a:r>
              <a:rPr lang="en-AU" sz="2000" b="0" dirty="0" err="1"/>
              <a:t>ferris</a:t>
            </a:r>
            <a:r>
              <a:rPr lang="en-AU" sz="2000" b="0" dirty="0"/>
              <a:t> wheels have a constant speed, unlike rollercoasters)</a:t>
            </a:r>
            <a:r>
              <a:rPr lang="en-AU" sz="2000" dirty="0"/>
              <a:t>. It took 60.0s to reach this position after he entered at the base of the ride. John has a mass of 70.0kg. Calculate the normal reaction force of the seat acting on John.</a:t>
            </a:r>
          </a:p>
          <a:p>
            <a:pPr algn="just"/>
            <a:r>
              <a:rPr lang="en-AU" sz="2000" b="0" dirty="0"/>
              <a:t>						Watch your force directions.</a:t>
            </a:r>
          </a:p>
          <a:p>
            <a:pPr algn="just"/>
            <a:r>
              <a:rPr lang="en-AU" sz="2000" dirty="0"/>
              <a:t>						</a:t>
            </a:r>
            <a:r>
              <a:rPr lang="en-AU" sz="2000" b="1" dirty="0"/>
              <a:t>Assign a direction convention (what is +</a:t>
            </a:r>
            <a:r>
              <a:rPr lang="en-AU" sz="2000" b="1" dirty="0" err="1"/>
              <a:t>ve</a:t>
            </a:r>
            <a:r>
              <a:rPr lang="en-AU" sz="2000" b="1" dirty="0"/>
              <a:t>)</a:t>
            </a:r>
            <a:endParaRPr lang="en-AU" sz="2000" b="0" dirty="0"/>
          </a:p>
        </p:txBody>
      </p:sp>
      <p:sp>
        <p:nvSpPr>
          <p:cNvPr id="3" name="Oval 2">
            <a:extLst>
              <a:ext uri="{FF2B5EF4-FFF2-40B4-BE49-F238E27FC236}">
                <a16:creationId xmlns:a16="http://schemas.microsoft.com/office/drawing/2014/main" id="{59C3B0CC-4BE9-4AD0-BECA-F39565511214}"/>
              </a:ext>
            </a:extLst>
          </p:cNvPr>
          <p:cNvSpPr/>
          <p:nvPr/>
        </p:nvSpPr>
        <p:spPr>
          <a:xfrm>
            <a:off x="2236448" y="3303988"/>
            <a:ext cx="344029" cy="34402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757594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3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vertical circular motion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Practice</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21222" y="4062539"/>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pic>
        <p:nvPicPr>
          <p:cNvPr id="5" name="Picture 4">
            <a:extLst>
              <a:ext uri="{FF2B5EF4-FFF2-40B4-BE49-F238E27FC236}">
                <a16:creationId xmlns:a16="http://schemas.microsoft.com/office/drawing/2014/main" id="{31677D1F-F03E-4953-8D66-5472382C37B9}"/>
              </a:ext>
            </a:extLst>
          </p:cNvPr>
          <p:cNvPicPr>
            <a:picLocks noChangeAspect="1"/>
          </p:cNvPicPr>
          <p:nvPr/>
        </p:nvPicPr>
        <p:blipFill rotWithShape="1">
          <a:blip r:embed="rId3"/>
          <a:srcRect b="77244"/>
          <a:stretch/>
        </p:blipFill>
        <p:spPr>
          <a:xfrm>
            <a:off x="295275" y="914991"/>
            <a:ext cx="8782050" cy="786809"/>
          </a:xfrm>
          <a:prstGeom prst="rect">
            <a:avLst/>
          </a:prstGeom>
        </p:spPr>
      </p:pic>
      <p:pic>
        <p:nvPicPr>
          <p:cNvPr id="10" name="Picture 9">
            <a:extLst>
              <a:ext uri="{FF2B5EF4-FFF2-40B4-BE49-F238E27FC236}">
                <a16:creationId xmlns:a16="http://schemas.microsoft.com/office/drawing/2014/main" id="{10DF04B6-93FF-4839-8A70-23D76AA783BC}"/>
              </a:ext>
            </a:extLst>
          </p:cNvPr>
          <p:cNvPicPr>
            <a:picLocks noChangeAspect="1"/>
          </p:cNvPicPr>
          <p:nvPr/>
        </p:nvPicPr>
        <p:blipFill rotWithShape="1">
          <a:blip r:embed="rId3"/>
          <a:srcRect l="33406" t="21673" r="13991" b="918"/>
          <a:stretch/>
        </p:blipFill>
        <p:spPr>
          <a:xfrm>
            <a:off x="238320" y="1828845"/>
            <a:ext cx="4619625" cy="2676475"/>
          </a:xfrm>
          <a:prstGeom prst="rect">
            <a:avLst/>
          </a:prstGeom>
        </p:spPr>
      </p:pic>
    </p:spTree>
    <p:extLst>
      <p:ext uri="{BB962C8B-B14F-4D97-AF65-F5344CB8AC3E}">
        <p14:creationId xmlns:p14="http://schemas.microsoft.com/office/powerpoint/2010/main" val="39153742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vertical circular motion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Practice</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pic>
        <p:nvPicPr>
          <p:cNvPr id="6" name="Picture 5">
            <a:extLst>
              <a:ext uri="{FF2B5EF4-FFF2-40B4-BE49-F238E27FC236}">
                <a16:creationId xmlns:a16="http://schemas.microsoft.com/office/drawing/2014/main" id="{4395C723-0A85-40BA-887D-06BE358C4433}"/>
              </a:ext>
            </a:extLst>
          </p:cNvPr>
          <p:cNvPicPr>
            <a:picLocks noChangeAspect="1"/>
          </p:cNvPicPr>
          <p:nvPr/>
        </p:nvPicPr>
        <p:blipFill>
          <a:blip r:embed="rId3"/>
          <a:stretch>
            <a:fillRect/>
          </a:stretch>
        </p:blipFill>
        <p:spPr>
          <a:xfrm>
            <a:off x="609268" y="1332127"/>
            <a:ext cx="9029700" cy="2257425"/>
          </a:xfrm>
          <a:prstGeom prst="rect">
            <a:avLst/>
          </a:prstGeom>
        </p:spPr>
      </p:pic>
      <p:sp>
        <p:nvSpPr>
          <p:cNvPr id="7" name="TextBox 6">
            <a:extLst>
              <a:ext uri="{FF2B5EF4-FFF2-40B4-BE49-F238E27FC236}">
                <a16:creationId xmlns:a16="http://schemas.microsoft.com/office/drawing/2014/main" id="{9E257592-4279-47E0-8959-20CCD08EA764}"/>
              </a:ext>
            </a:extLst>
          </p:cNvPr>
          <p:cNvSpPr txBox="1"/>
          <p:nvPr/>
        </p:nvSpPr>
        <p:spPr>
          <a:xfrm>
            <a:off x="609268" y="3780524"/>
            <a:ext cx="10747431" cy="2862322"/>
          </a:xfrm>
          <a:prstGeom prst="rect">
            <a:avLst/>
          </a:prstGeom>
          <a:noFill/>
          <a:ln>
            <a:noFill/>
          </a:ln>
        </p:spPr>
        <p:txBody>
          <a:bodyPr wrap="square">
            <a:spAutoFit/>
          </a:bodyPr>
          <a:lstStyle/>
          <a:p>
            <a:pPr algn="just"/>
            <a:r>
              <a:rPr lang="en-AU" sz="2000" b="0" dirty="0"/>
              <a:t>Another way:</a:t>
            </a:r>
          </a:p>
          <a:p>
            <a:pPr algn="just"/>
            <a:r>
              <a:rPr lang="en-AU" sz="2000" dirty="0"/>
              <a:t>Minimum velocity to complete circular motion.</a:t>
            </a:r>
          </a:p>
          <a:p>
            <a:pPr algn="just"/>
            <a:r>
              <a:rPr lang="en-AU" sz="2000" dirty="0" err="1"/>
              <a:t>Fg</a:t>
            </a:r>
            <a:r>
              <a:rPr lang="en-AU" sz="2000" dirty="0"/>
              <a:t> = Fc             (</a:t>
            </a:r>
            <a:r>
              <a:rPr lang="en-AU" sz="2000" dirty="0" err="1"/>
              <a:t>Fn</a:t>
            </a:r>
            <a:r>
              <a:rPr lang="en-AU" sz="2000" dirty="0"/>
              <a:t> = 0)</a:t>
            </a:r>
          </a:p>
          <a:p>
            <a:pPr algn="just"/>
            <a:r>
              <a:rPr lang="en-AU" sz="2000" dirty="0"/>
              <a:t>mg = mv^2/r </a:t>
            </a:r>
          </a:p>
          <a:p>
            <a:pPr algn="just"/>
            <a:r>
              <a:rPr lang="en-AU" sz="2000" dirty="0"/>
              <a:t>v = sqrt(gr) = sqrt(9.8*0.3) = 1.715 m/s</a:t>
            </a:r>
          </a:p>
          <a:p>
            <a:pPr algn="just"/>
            <a:endParaRPr lang="en-AU" sz="2000" dirty="0"/>
          </a:p>
          <a:p>
            <a:pPr algn="just"/>
            <a:r>
              <a:rPr lang="en-AU" sz="2000" dirty="0"/>
              <a:t>Actual velocity is lower than the minimum, therefore clothes will fall away from top of the drum.</a:t>
            </a:r>
          </a:p>
          <a:p>
            <a:pPr algn="just"/>
            <a:endParaRPr lang="en-AU" sz="2000" b="0" dirty="0"/>
          </a:p>
        </p:txBody>
      </p:sp>
    </p:spTree>
    <p:extLst>
      <p:ext uri="{BB962C8B-B14F-4D97-AF65-F5344CB8AC3E}">
        <p14:creationId xmlns:p14="http://schemas.microsoft.com/office/powerpoint/2010/main" val="1627418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vertical circular motion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Practice</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21222" y="4062539"/>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pic>
        <p:nvPicPr>
          <p:cNvPr id="5" name="Picture 4">
            <a:extLst>
              <a:ext uri="{FF2B5EF4-FFF2-40B4-BE49-F238E27FC236}">
                <a16:creationId xmlns:a16="http://schemas.microsoft.com/office/drawing/2014/main" id="{EEAFA2A9-DE41-494F-BB5F-37A3D1F07EF7}"/>
              </a:ext>
            </a:extLst>
          </p:cNvPr>
          <p:cNvPicPr>
            <a:picLocks noChangeAspect="1"/>
          </p:cNvPicPr>
          <p:nvPr/>
        </p:nvPicPr>
        <p:blipFill>
          <a:blip r:embed="rId3"/>
          <a:stretch>
            <a:fillRect/>
          </a:stretch>
        </p:blipFill>
        <p:spPr>
          <a:xfrm>
            <a:off x="295275" y="1007685"/>
            <a:ext cx="10037036" cy="1752155"/>
          </a:xfrm>
          <a:prstGeom prst="rect">
            <a:avLst/>
          </a:prstGeom>
        </p:spPr>
      </p:pic>
    </p:spTree>
    <p:extLst>
      <p:ext uri="{BB962C8B-B14F-4D97-AF65-F5344CB8AC3E}">
        <p14:creationId xmlns:p14="http://schemas.microsoft.com/office/powerpoint/2010/main" val="4318019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vertical circular motion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Practice</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21222" y="4062539"/>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pic>
        <p:nvPicPr>
          <p:cNvPr id="6" name="Picture 5">
            <a:extLst>
              <a:ext uri="{FF2B5EF4-FFF2-40B4-BE49-F238E27FC236}">
                <a16:creationId xmlns:a16="http://schemas.microsoft.com/office/drawing/2014/main" id="{D3D7C124-EF12-48E5-92F7-57F05A435C6A}"/>
              </a:ext>
            </a:extLst>
          </p:cNvPr>
          <p:cNvPicPr>
            <a:picLocks noChangeAspect="1"/>
          </p:cNvPicPr>
          <p:nvPr/>
        </p:nvPicPr>
        <p:blipFill>
          <a:blip r:embed="rId3"/>
          <a:stretch>
            <a:fillRect/>
          </a:stretch>
        </p:blipFill>
        <p:spPr>
          <a:xfrm>
            <a:off x="716927" y="1276349"/>
            <a:ext cx="9465298" cy="4986381"/>
          </a:xfrm>
          <a:prstGeom prst="rect">
            <a:avLst/>
          </a:prstGeom>
        </p:spPr>
      </p:pic>
    </p:spTree>
    <p:extLst>
      <p:ext uri="{BB962C8B-B14F-4D97-AF65-F5344CB8AC3E}">
        <p14:creationId xmlns:p14="http://schemas.microsoft.com/office/powerpoint/2010/main" val="9168244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vertical circular motion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Minimum speed</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21222" y="4062539"/>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pic>
        <p:nvPicPr>
          <p:cNvPr id="5" name="Picture 4">
            <a:extLst>
              <a:ext uri="{FF2B5EF4-FFF2-40B4-BE49-F238E27FC236}">
                <a16:creationId xmlns:a16="http://schemas.microsoft.com/office/drawing/2014/main" id="{ED7ECC28-5435-424C-8FF1-DD7BCC46E0A4}"/>
              </a:ext>
            </a:extLst>
          </p:cNvPr>
          <p:cNvPicPr>
            <a:picLocks noChangeAspect="1"/>
          </p:cNvPicPr>
          <p:nvPr/>
        </p:nvPicPr>
        <p:blipFill rotWithShape="1">
          <a:blip r:embed="rId3"/>
          <a:srcRect b="74430"/>
          <a:stretch/>
        </p:blipFill>
        <p:spPr>
          <a:xfrm>
            <a:off x="295275" y="1060625"/>
            <a:ext cx="11908055" cy="885562"/>
          </a:xfrm>
          <a:prstGeom prst="rect">
            <a:avLst/>
          </a:prstGeom>
        </p:spPr>
      </p:pic>
      <p:pic>
        <p:nvPicPr>
          <p:cNvPr id="8" name="Picture 7">
            <a:extLst>
              <a:ext uri="{FF2B5EF4-FFF2-40B4-BE49-F238E27FC236}">
                <a16:creationId xmlns:a16="http://schemas.microsoft.com/office/drawing/2014/main" id="{BF6B2B05-EF6C-4D64-8CA3-D2D03D9EC374}"/>
              </a:ext>
            </a:extLst>
          </p:cNvPr>
          <p:cNvPicPr>
            <a:picLocks noChangeAspect="1"/>
          </p:cNvPicPr>
          <p:nvPr/>
        </p:nvPicPr>
        <p:blipFill rotWithShape="1">
          <a:blip r:embed="rId3"/>
          <a:srcRect l="20625" t="32976" r="25354" b="-1139"/>
          <a:stretch/>
        </p:blipFill>
        <p:spPr>
          <a:xfrm>
            <a:off x="193645" y="2058452"/>
            <a:ext cx="7874418" cy="2889649"/>
          </a:xfrm>
          <a:prstGeom prst="rect">
            <a:avLst/>
          </a:prstGeom>
        </p:spPr>
      </p:pic>
    </p:spTree>
    <p:extLst>
      <p:ext uri="{BB962C8B-B14F-4D97-AF65-F5344CB8AC3E}">
        <p14:creationId xmlns:p14="http://schemas.microsoft.com/office/powerpoint/2010/main" val="25620740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vertical circular motion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Minimum speed</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21222" y="4062539"/>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pic>
        <p:nvPicPr>
          <p:cNvPr id="8" name="Picture 7">
            <a:extLst>
              <a:ext uri="{FF2B5EF4-FFF2-40B4-BE49-F238E27FC236}">
                <a16:creationId xmlns:a16="http://schemas.microsoft.com/office/drawing/2014/main" id="{DE6E40F7-FC27-4BD5-B76D-B0B027938760}"/>
              </a:ext>
            </a:extLst>
          </p:cNvPr>
          <p:cNvPicPr>
            <a:picLocks noChangeAspect="1"/>
          </p:cNvPicPr>
          <p:nvPr/>
        </p:nvPicPr>
        <p:blipFill>
          <a:blip r:embed="rId3"/>
          <a:stretch>
            <a:fillRect/>
          </a:stretch>
        </p:blipFill>
        <p:spPr>
          <a:xfrm>
            <a:off x="773027" y="1051802"/>
            <a:ext cx="10497431" cy="4798512"/>
          </a:xfrm>
          <a:prstGeom prst="rect">
            <a:avLst/>
          </a:prstGeom>
        </p:spPr>
      </p:pic>
    </p:spTree>
    <p:extLst>
      <p:ext uri="{BB962C8B-B14F-4D97-AF65-F5344CB8AC3E}">
        <p14:creationId xmlns:p14="http://schemas.microsoft.com/office/powerpoint/2010/main" val="18466888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22FDFC4-7213-4B80-88AC-CFDA713A6754}"/>
              </a:ext>
            </a:extLst>
          </p:cNvPr>
          <p:cNvSpPr>
            <a:spLocks noGrp="1"/>
          </p:cNvSpPr>
          <p:nvPr>
            <p:ph type="body" sz="quarter" idx="10"/>
          </p:nvPr>
        </p:nvSpPr>
        <p:spPr/>
        <p:txBody>
          <a:bodyPr/>
          <a:lstStyle/>
          <a:p>
            <a:r>
              <a:rPr lang="en-AU" dirty="0"/>
              <a:t>You can now do Pearson Set 2.6 Review</a:t>
            </a:r>
          </a:p>
        </p:txBody>
      </p:sp>
      <p:sp>
        <p:nvSpPr>
          <p:cNvPr id="4" name="TextBox 3">
            <a:extLst>
              <a:ext uri="{FF2B5EF4-FFF2-40B4-BE49-F238E27FC236}">
                <a16:creationId xmlns:a16="http://schemas.microsoft.com/office/drawing/2014/main" id="{C028554C-F366-41AC-9AA9-F1EA55305A72}"/>
              </a:ext>
            </a:extLst>
          </p:cNvPr>
          <p:cNvSpPr txBox="1"/>
          <p:nvPr/>
        </p:nvSpPr>
        <p:spPr>
          <a:xfrm>
            <a:off x="425450" y="4845735"/>
            <a:ext cx="6134100" cy="646331"/>
          </a:xfrm>
          <a:prstGeom prst="rect">
            <a:avLst/>
          </a:prstGeom>
          <a:noFill/>
          <a:ln>
            <a:noFill/>
          </a:ln>
        </p:spPr>
        <p:txBody>
          <a:bodyPr wrap="square">
            <a:spAutoFit/>
          </a:bodyPr>
          <a:lstStyle/>
          <a:p>
            <a:r>
              <a:rPr lang="en-AU" dirty="0"/>
              <a:t>https://www.youtube.com/watch?v=Zulw5bQ18Kk&amp;ab_channel=FlippingPhysics</a:t>
            </a:r>
          </a:p>
        </p:txBody>
      </p:sp>
    </p:spTree>
    <p:extLst>
      <p:ext uri="{BB962C8B-B14F-4D97-AF65-F5344CB8AC3E}">
        <p14:creationId xmlns:p14="http://schemas.microsoft.com/office/powerpoint/2010/main" val="16049901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vertical circular motion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Additional Study</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21222" y="4062539"/>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pic>
        <p:nvPicPr>
          <p:cNvPr id="5" name="Picture 4">
            <a:extLst>
              <a:ext uri="{FF2B5EF4-FFF2-40B4-BE49-F238E27FC236}">
                <a16:creationId xmlns:a16="http://schemas.microsoft.com/office/drawing/2014/main" id="{DC2A87FF-383B-5B8E-94CB-7584A0E24C8F}"/>
              </a:ext>
            </a:extLst>
          </p:cNvPr>
          <p:cNvPicPr>
            <a:picLocks noChangeAspect="1"/>
          </p:cNvPicPr>
          <p:nvPr/>
        </p:nvPicPr>
        <p:blipFill>
          <a:blip r:embed="rId3"/>
          <a:stretch>
            <a:fillRect/>
          </a:stretch>
        </p:blipFill>
        <p:spPr>
          <a:xfrm>
            <a:off x="2527610" y="0"/>
            <a:ext cx="9664390" cy="6858000"/>
          </a:xfrm>
          <a:prstGeom prst="rect">
            <a:avLst/>
          </a:prstGeom>
        </p:spPr>
      </p:pic>
      <p:pic>
        <p:nvPicPr>
          <p:cNvPr id="7" name="Picture 6">
            <a:extLst>
              <a:ext uri="{FF2B5EF4-FFF2-40B4-BE49-F238E27FC236}">
                <a16:creationId xmlns:a16="http://schemas.microsoft.com/office/drawing/2014/main" id="{DE9A5C70-CEB1-309A-DB0F-DAE91C726EB6}"/>
              </a:ext>
            </a:extLst>
          </p:cNvPr>
          <p:cNvPicPr>
            <a:picLocks noChangeAspect="1"/>
          </p:cNvPicPr>
          <p:nvPr/>
        </p:nvPicPr>
        <p:blipFill>
          <a:blip r:embed="rId4"/>
          <a:stretch>
            <a:fillRect/>
          </a:stretch>
        </p:blipFill>
        <p:spPr>
          <a:xfrm>
            <a:off x="295275" y="1090878"/>
            <a:ext cx="1866900" cy="438150"/>
          </a:xfrm>
          <a:prstGeom prst="rect">
            <a:avLst/>
          </a:prstGeom>
        </p:spPr>
      </p:pic>
    </p:spTree>
    <p:extLst>
      <p:ext uri="{BB962C8B-B14F-4D97-AF65-F5344CB8AC3E}">
        <p14:creationId xmlns:p14="http://schemas.microsoft.com/office/powerpoint/2010/main" val="29536374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vertical circular motion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Additional Study</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21222" y="4062539"/>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pic>
        <p:nvPicPr>
          <p:cNvPr id="7" name="Picture 6">
            <a:extLst>
              <a:ext uri="{FF2B5EF4-FFF2-40B4-BE49-F238E27FC236}">
                <a16:creationId xmlns:a16="http://schemas.microsoft.com/office/drawing/2014/main" id="{DE9A5C70-CEB1-309A-DB0F-DAE91C726EB6}"/>
              </a:ext>
            </a:extLst>
          </p:cNvPr>
          <p:cNvPicPr>
            <a:picLocks noChangeAspect="1"/>
          </p:cNvPicPr>
          <p:nvPr/>
        </p:nvPicPr>
        <p:blipFill>
          <a:blip r:embed="rId3"/>
          <a:stretch>
            <a:fillRect/>
          </a:stretch>
        </p:blipFill>
        <p:spPr>
          <a:xfrm>
            <a:off x="295275" y="1090878"/>
            <a:ext cx="1866900" cy="438150"/>
          </a:xfrm>
          <a:prstGeom prst="rect">
            <a:avLst/>
          </a:prstGeom>
        </p:spPr>
      </p:pic>
      <p:pic>
        <p:nvPicPr>
          <p:cNvPr id="6" name="Picture 5">
            <a:extLst>
              <a:ext uri="{FF2B5EF4-FFF2-40B4-BE49-F238E27FC236}">
                <a16:creationId xmlns:a16="http://schemas.microsoft.com/office/drawing/2014/main" id="{AEEB0663-0293-5AA3-C999-8B4A19B02737}"/>
              </a:ext>
            </a:extLst>
          </p:cNvPr>
          <p:cNvPicPr>
            <a:picLocks noChangeAspect="1"/>
          </p:cNvPicPr>
          <p:nvPr/>
        </p:nvPicPr>
        <p:blipFill>
          <a:blip r:embed="rId4"/>
          <a:stretch>
            <a:fillRect/>
          </a:stretch>
        </p:blipFill>
        <p:spPr>
          <a:xfrm>
            <a:off x="5920781" y="0"/>
            <a:ext cx="6271219" cy="6858000"/>
          </a:xfrm>
          <a:prstGeom prst="rect">
            <a:avLst/>
          </a:prstGeom>
        </p:spPr>
      </p:pic>
    </p:spTree>
    <p:extLst>
      <p:ext uri="{BB962C8B-B14F-4D97-AF65-F5344CB8AC3E}">
        <p14:creationId xmlns:p14="http://schemas.microsoft.com/office/powerpoint/2010/main" val="3797929948"/>
      </p:ext>
    </p:extLst>
  </p:cSld>
  <p:clrMapOvr>
    <a:masterClrMapping/>
  </p:clrMapOvr>
</p:sld>
</file>

<file path=ppt/theme/theme1.xml><?xml version="1.0" encoding="utf-8"?>
<a:theme xmlns:a="http://schemas.openxmlformats.org/drawingml/2006/main" name="Daily Review">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Explicit Instruction_Dark">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a:noFill/>
        </a:ln>
      </a:spPr>
      <a:bodyPr wrap="square" rtlCol="0" anchor="t" anchorCtr="0">
        <a:normAutofit fontScale="92500"/>
      </a:bodyPr>
      <a:lstStyle>
        <a:defPPr algn="l">
          <a:defRPr sz="5400" b="1" dirty="0" smtClean="0">
            <a:latin typeface="Century Gothic" panose="020B0502020202020204" pitchFamily="34" charset="0"/>
            <a:cs typeface="Futura Medium" panose="020B0602020204020303" pitchFamily="34" charset="-79"/>
          </a:defRPr>
        </a:defPPr>
      </a:lstStyle>
    </a:txDef>
  </a:objectDefaults>
  <a:extraClrSchemeLst/>
  <a:extLst>
    <a:ext uri="{05A4C25C-085E-4340-85A3-A5531E510DB2}">
      <thm15:themeFamily xmlns:thm15="http://schemas.microsoft.com/office/thememl/2012/main" name="Theme2" id="{15861BA0-56D5-1E4E-B56A-268D38A279BF}" vid="{9D14DC9A-E19D-5949-B871-56F3C64BEB6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d5c732d2-f217-444a-91d8-37c5714ca695" xsi:nil="true"/>
    <lcf76f155ced4ddcb4097134ff3c332f xmlns="8f659357-f805-491c-ad0b-5621b2de6466">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8157990E5B9394AB60DC397E95032F9" ma:contentTypeVersion="16" ma:contentTypeDescription="Create a new document." ma:contentTypeScope="" ma:versionID="02697e3214b2f55142a2e7b89ba6de54">
  <xsd:schema xmlns:xsd="http://www.w3.org/2001/XMLSchema" xmlns:xs="http://www.w3.org/2001/XMLSchema" xmlns:p="http://schemas.microsoft.com/office/2006/metadata/properties" xmlns:ns2="8f659357-f805-491c-ad0b-5621b2de6466" xmlns:ns3="d5c732d2-f217-444a-91d8-37c5714ca695" targetNamespace="http://schemas.microsoft.com/office/2006/metadata/properties" ma:root="true" ma:fieldsID="67be6965022b95aa9d7585358a9bb7fc" ns2:_="" ns3:_="">
    <xsd:import namespace="8f659357-f805-491c-ad0b-5621b2de6466"/>
    <xsd:import namespace="d5c732d2-f217-444a-91d8-37c5714ca69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LengthInSeconds" minOccurs="0"/>
                <xsd:element ref="ns2:MediaServiceOCR" minOccurs="0"/>
                <xsd:element ref="ns2:MediaServiceGenerationTime" minOccurs="0"/>
                <xsd:element ref="ns2:MediaServiceEventHashCode" minOccurs="0"/>
                <xsd:element ref="ns3:SharedWithUsers" minOccurs="0"/>
                <xsd:element ref="ns3:SharedWithDetails"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659357-f805-491c-ad0b-5621b2de646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LengthInSeconds" ma:index="14" nillable="true" ma:displayName="Length (seconds)" ma:internalName="MediaLengthInSeconds" ma:readOnly="true">
      <xsd:simpleType>
        <xsd:restriction base="dms:Unknown"/>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ea606fe5-00d0-49e1-aa33-d9ffd0209102"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5c732d2-f217-444a-91d8-37c5714ca695"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787221a7-1fed-4694-a1ec-bb608177e353}" ma:internalName="TaxCatchAll" ma:showField="CatchAllData" ma:web="d5c732d2-f217-444a-91d8-37c5714ca69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D5BC30B-A8FB-4389-B40F-C069B6D2FAB9}">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77F09D33-A1B5-4438-8F96-65DD71762491}">
  <ds:schemaRefs>
    <ds:schemaRef ds:uri="http://schemas.microsoft.com/sharepoint/v3/contenttype/forms"/>
  </ds:schemaRefs>
</ds:datastoreItem>
</file>

<file path=customXml/itemProps3.xml><?xml version="1.0" encoding="utf-8"?>
<ds:datastoreItem xmlns:ds="http://schemas.openxmlformats.org/officeDocument/2006/customXml" ds:itemID="{0A1BFAEF-9994-4EF1-BC28-5338900BBC2D}"/>
</file>

<file path=docProps/app.xml><?xml version="1.0" encoding="utf-8"?>
<Properties xmlns="http://schemas.openxmlformats.org/officeDocument/2006/extended-properties" xmlns:vt="http://schemas.openxmlformats.org/officeDocument/2006/docPropsVTypes">
  <Template>{33057687-8793-EB47-A5E0-08E93C53D0F2}tf10001071</Template>
  <TotalTime>5808</TotalTime>
  <Words>1098</Words>
  <Application>Microsoft Office PowerPoint</Application>
  <PresentationFormat>Widescreen</PresentationFormat>
  <Paragraphs>147</Paragraphs>
  <Slides>21</Slides>
  <Notes>19</Notes>
  <HiddenSlides>4</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21</vt:i4>
      </vt:variant>
    </vt:vector>
  </HeadingPairs>
  <TitlesOfParts>
    <vt:vector size="27" baseType="lpstr">
      <vt:lpstr>Arial</vt:lpstr>
      <vt:lpstr>Calibri</vt:lpstr>
      <vt:lpstr>Century Gothic</vt:lpstr>
      <vt:lpstr>Futura Medium</vt:lpstr>
      <vt:lpstr>Daily Review</vt:lpstr>
      <vt:lpstr>1_Explicit Instruction_Dark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BAKER Mark [Southern River College]</cp:lastModifiedBy>
  <cp:revision>412</cp:revision>
  <cp:lastPrinted>2018-05-27T06:54:10Z</cp:lastPrinted>
  <dcterms:created xsi:type="dcterms:W3CDTF">2018-03-29T05:56:09Z</dcterms:created>
  <dcterms:modified xsi:type="dcterms:W3CDTF">2023-01-01T10:50:48Z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0x010100C8157990E5B9394AB60DC397E95032F9</vt:lpwstr>
  </property>
</Properties>
</file>