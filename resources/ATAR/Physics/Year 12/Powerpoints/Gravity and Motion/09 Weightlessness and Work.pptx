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32" r:id="rId4"/>
    <p:sldMasterId id="2147484274" r:id="rId5"/>
  </p:sldMasterIdLst>
  <p:notesMasterIdLst>
    <p:notesMasterId r:id="rId23"/>
  </p:notesMasterIdLst>
  <p:handoutMasterIdLst>
    <p:handoutMasterId r:id="rId24"/>
  </p:handoutMasterIdLst>
  <p:sldIdLst>
    <p:sldId id="567" r:id="rId6"/>
    <p:sldId id="416" r:id="rId7"/>
    <p:sldId id="574" r:id="rId8"/>
    <p:sldId id="575" r:id="rId9"/>
    <p:sldId id="576" r:id="rId10"/>
    <p:sldId id="578" r:id="rId11"/>
    <p:sldId id="579" r:id="rId12"/>
    <p:sldId id="583" r:id="rId13"/>
    <p:sldId id="569" r:id="rId14"/>
    <p:sldId id="572" r:id="rId15"/>
    <p:sldId id="573" r:id="rId16"/>
    <p:sldId id="571" r:id="rId17"/>
    <p:sldId id="544" r:id="rId18"/>
    <p:sldId id="568" r:id="rId19"/>
    <p:sldId id="584" r:id="rId20"/>
    <p:sldId id="577" r:id="rId21"/>
    <p:sldId id="52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Buss" initials="M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9B4B"/>
    <a:srgbClr val="0070C0"/>
    <a:srgbClr val="C55A11"/>
    <a:srgbClr val="6E407C"/>
    <a:srgbClr val="FBCA58"/>
    <a:srgbClr val="2E546D"/>
    <a:srgbClr val="DEEBF7"/>
    <a:srgbClr val="692B7D"/>
    <a:srgbClr val="472A50"/>
    <a:srgbClr val="2F55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57" autoAdjust="0"/>
    <p:restoredTop sz="74700" autoAdjust="0"/>
  </p:normalViewPr>
  <p:slideViewPr>
    <p:cSldViewPr snapToGrid="0" snapToObjects="1">
      <p:cViewPr varScale="1">
        <p:scale>
          <a:sx n="84" d="100"/>
          <a:sy n="84" d="100"/>
        </p:scale>
        <p:origin x="1104" y="78"/>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7" d="100"/>
          <a:sy n="77" d="100"/>
        </p:scale>
        <p:origin x="2592"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8E4B7C-96ED-E449-9693-B655C4671F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28D809C4-E54C-A54E-B9F4-56C375E0D8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53AD932-3578-6E4B-810C-4CF7533A98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A9B4CA-DA29-0849-8519-4B81F4CE08AD}" type="slidenum">
              <a:rPr lang="en-US" smtClean="0"/>
              <a:t>‹#›</a:t>
            </a:fld>
            <a:endParaRPr lang="en-US"/>
          </a:p>
        </p:txBody>
      </p:sp>
      <p:sp>
        <p:nvSpPr>
          <p:cNvPr id="6" name="Date Placeholder 5">
            <a:extLst>
              <a:ext uri="{FF2B5EF4-FFF2-40B4-BE49-F238E27FC236}">
                <a16:creationId xmlns:a16="http://schemas.microsoft.com/office/drawing/2014/main" id="{27115A18-6E6E-F748-9363-1DB667F252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89F1C8-9A67-204B-8DB6-6C2E5B2C92D6}" type="datetimeFigureOut">
              <a:rPr lang="en-US" smtClean="0"/>
              <a:t>1/2/2023</a:t>
            </a:fld>
            <a:endParaRPr lang="en-US"/>
          </a:p>
        </p:txBody>
      </p:sp>
    </p:spTree>
    <p:extLst>
      <p:ext uri="{BB962C8B-B14F-4D97-AF65-F5344CB8AC3E}">
        <p14:creationId xmlns:p14="http://schemas.microsoft.com/office/powerpoint/2010/main" val="1631531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AAB6C6-360D-448E-B12B-FCD285160A81}" type="datetimeFigureOut">
              <a:rPr lang="en-AU" smtClean="0"/>
              <a:t>2/01/2023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756B8-97A8-4FA1-B26A-2500BA5D4D05}" type="slidenum">
              <a:rPr lang="en-AU" smtClean="0"/>
              <a:t>‹#›</a:t>
            </a:fld>
            <a:endParaRPr lang="en-AU"/>
          </a:p>
        </p:txBody>
      </p:sp>
    </p:spTree>
    <p:extLst>
      <p:ext uri="{BB962C8B-B14F-4D97-AF65-F5344CB8AC3E}">
        <p14:creationId xmlns:p14="http://schemas.microsoft.com/office/powerpoint/2010/main" val="1866448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lphaLcParenR"/>
            </a:pPr>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a:t>
            </a:fld>
            <a:endParaRPr lang="en-AU"/>
          </a:p>
        </p:txBody>
      </p:sp>
    </p:spTree>
    <p:extLst>
      <p:ext uri="{BB962C8B-B14F-4D97-AF65-F5344CB8AC3E}">
        <p14:creationId xmlns:p14="http://schemas.microsoft.com/office/powerpoint/2010/main" val="6080723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lphaLcParenR"/>
            </a:pPr>
            <a:r>
              <a:rPr lang="el-GR" b="0" dirty="0"/>
              <a:t>Δ</a:t>
            </a:r>
            <a:r>
              <a:rPr lang="en-AU" b="0" dirty="0"/>
              <a:t>PE = mg</a:t>
            </a:r>
            <a:r>
              <a:rPr lang="el-GR" b="0" dirty="0"/>
              <a:t>Δ</a:t>
            </a:r>
            <a:r>
              <a:rPr lang="en-AU" b="0" dirty="0"/>
              <a:t>h = 1*9.8*1 = 9.8 J</a:t>
            </a:r>
          </a:p>
        </p:txBody>
      </p:sp>
      <p:sp>
        <p:nvSpPr>
          <p:cNvPr id="4" name="Slide Number Placeholder 3"/>
          <p:cNvSpPr>
            <a:spLocks noGrp="1"/>
          </p:cNvSpPr>
          <p:nvPr>
            <p:ph type="sldNum" sz="quarter" idx="5"/>
          </p:nvPr>
        </p:nvSpPr>
        <p:spPr/>
        <p:txBody>
          <a:bodyPr/>
          <a:lstStyle/>
          <a:p>
            <a:fld id="{B5B756B8-97A8-4FA1-B26A-2500BA5D4D05}" type="slidenum">
              <a:rPr lang="en-AU" smtClean="0"/>
              <a:t>3</a:t>
            </a:fld>
            <a:endParaRPr lang="en-AU"/>
          </a:p>
        </p:txBody>
      </p:sp>
    </p:spTree>
    <p:extLst>
      <p:ext uri="{BB962C8B-B14F-4D97-AF65-F5344CB8AC3E}">
        <p14:creationId xmlns:p14="http://schemas.microsoft.com/office/powerpoint/2010/main" val="1992456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lphaLcParenR"/>
            </a:pPr>
            <a:r>
              <a:rPr lang="en-AU" b="0" dirty="0"/>
              <a:t>W = 784 = </a:t>
            </a:r>
            <a:r>
              <a:rPr lang="en-AU" b="0" dirty="0" err="1"/>
              <a:t>Fnormal</a:t>
            </a:r>
            <a:endParaRPr lang="en-AU" b="0" dirty="0"/>
          </a:p>
          <a:p>
            <a:pPr marL="228600" indent="-228600">
              <a:buAutoNum type="alphaLcParenR"/>
            </a:pPr>
            <a:r>
              <a:rPr lang="en-AU" b="0" dirty="0" err="1"/>
              <a:t>Fnet</a:t>
            </a:r>
            <a:r>
              <a:rPr lang="en-AU" b="0" dirty="0"/>
              <a:t> = ma = 80 * 1.26 = 100.8 N</a:t>
            </a:r>
          </a:p>
          <a:p>
            <a:pPr marL="0" indent="0">
              <a:buNone/>
            </a:pPr>
            <a:r>
              <a:rPr lang="en-AU" b="0" dirty="0"/>
              <a:t>	</a:t>
            </a:r>
            <a:r>
              <a:rPr lang="en-AU" b="0" dirty="0" err="1"/>
              <a:t>Fnet</a:t>
            </a:r>
            <a:r>
              <a:rPr lang="en-AU" b="0" dirty="0"/>
              <a:t> = </a:t>
            </a:r>
            <a:r>
              <a:rPr lang="en-AU" b="0" dirty="0" err="1"/>
              <a:t>Fn</a:t>
            </a:r>
            <a:r>
              <a:rPr lang="en-AU" b="0" dirty="0"/>
              <a:t> – </a:t>
            </a:r>
            <a:r>
              <a:rPr lang="en-AU" b="0" dirty="0" err="1"/>
              <a:t>Fg</a:t>
            </a:r>
            <a:r>
              <a:rPr lang="en-AU" b="0" dirty="0"/>
              <a:t>	</a:t>
            </a:r>
          </a:p>
          <a:p>
            <a:pPr marL="0" indent="0">
              <a:buNone/>
            </a:pPr>
            <a:r>
              <a:rPr lang="en-AU" b="0" dirty="0"/>
              <a:t>	</a:t>
            </a:r>
            <a:r>
              <a:rPr lang="en-AU" b="0" dirty="0" err="1"/>
              <a:t>Fn</a:t>
            </a:r>
            <a:r>
              <a:rPr lang="en-AU" b="0" dirty="0"/>
              <a:t> = </a:t>
            </a:r>
            <a:r>
              <a:rPr lang="en-AU" b="0" dirty="0" err="1"/>
              <a:t>Fnet</a:t>
            </a:r>
            <a:r>
              <a:rPr lang="en-AU" b="0" dirty="0"/>
              <a:t> + </a:t>
            </a:r>
            <a:r>
              <a:rPr lang="en-AU" b="0" dirty="0" err="1"/>
              <a:t>Fg</a:t>
            </a:r>
            <a:r>
              <a:rPr lang="en-AU" b="0" dirty="0"/>
              <a:t> = 100.8 + 784 = 884.8 N</a:t>
            </a:r>
          </a:p>
          <a:p>
            <a:pPr marL="0" indent="0">
              <a:buNone/>
            </a:pPr>
            <a:endParaRPr lang="en-AU" b="0" dirty="0"/>
          </a:p>
          <a:p>
            <a:pPr marL="0" indent="0">
              <a:buNone/>
            </a:pPr>
            <a:r>
              <a:rPr lang="en-AU" b="0" dirty="0"/>
              <a:t>c) </a:t>
            </a:r>
            <a:r>
              <a:rPr lang="en-AU" b="0" dirty="0" err="1"/>
              <a:t>Fnet</a:t>
            </a:r>
            <a:r>
              <a:rPr lang="en-AU" b="0" dirty="0"/>
              <a:t> = 100.8N</a:t>
            </a:r>
          </a:p>
          <a:p>
            <a:pPr marL="0" indent="0">
              <a:buNone/>
            </a:pPr>
            <a:r>
              <a:rPr lang="en-AU" b="0" dirty="0"/>
              <a:t>	</a:t>
            </a:r>
            <a:r>
              <a:rPr lang="en-AU" b="0" dirty="0" err="1"/>
              <a:t>Fnet</a:t>
            </a:r>
            <a:r>
              <a:rPr lang="en-AU" b="0" dirty="0"/>
              <a:t> = </a:t>
            </a:r>
            <a:r>
              <a:rPr lang="en-AU" b="0" dirty="0" err="1"/>
              <a:t>Fg</a:t>
            </a:r>
            <a:r>
              <a:rPr lang="en-AU" b="0" dirty="0"/>
              <a:t> – </a:t>
            </a:r>
            <a:r>
              <a:rPr lang="en-AU" b="0" dirty="0" err="1"/>
              <a:t>Fn</a:t>
            </a:r>
            <a:endParaRPr lang="en-AU" b="0" dirty="0"/>
          </a:p>
          <a:p>
            <a:pPr marL="0" indent="0">
              <a:buNone/>
            </a:pPr>
            <a:r>
              <a:rPr lang="en-AU" b="0" dirty="0"/>
              <a:t>	</a:t>
            </a:r>
            <a:r>
              <a:rPr lang="en-AU" b="0" dirty="0" err="1"/>
              <a:t>Fn</a:t>
            </a:r>
            <a:r>
              <a:rPr lang="en-AU" b="0" dirty="0"/>
              <a:t> = </a:t>
            </a:r>
            <a:r>
              <a:rPr lang="en-AU" b="0" dirty="0" err="1"/>
              <a:t>Fg</a:t>
            </a:r>
            <a:r>
              <a:rPr lang="en-AU" b="0" dirty="0"/>
              <a:t> – </a:t>
            </a:r>
            <a:r>
              <a:rPr lang="en-AU" b="0" dirty="0" err="1"/>
              <a:t>Fnet</a:t>
            </a:r>
            <a:r>
              <a:rPr lang="en-AU" b="0" dirty="0"/>
              <a:t> = 784 – 100.8 = 683.2 N</a:t>
            </a:r>
          </a:p>
        </p:txBody>
      </p:sp>
      <p:sp>
        <p:nvSpPr>
          <p:cNvPr id="4" name="Slide Number Placeholder 3"/>
          <p:cNvSpPr>
            <a:spLocks noGrp="1"/>
          </p:cNvSpPr>
          <p:nvPr>
            <p:ph type="sldNum" sz="quarter" idx="5"/>
          </p:nvPr>
        </p:nvSpPr>
        <p:spPr/>
        <p:txBody>
          <a:bodyPr/>
          <a:lstStyle/>
          <a:p>
            <a:fld id="{B5B756B8-97A8-4FA1-B26A-2500BA5D4D05}" type="slidenum">
              <a:rPr lang="en-AU" smtClean="0"/>
              <a:t>4</a:t>
            </a:fld>
            <a:endParaRPr lang="en-AU"/>
          </a:p>
        </p:txBody>
      </p:sp>
    </p:spTree>
    <p:extLst>
      <p:ext uri="{BB962C8B-B14F-4D97-AF65-F5344CB8AC3E}">
        <p14:creationId xmlns:p14="http://schemas.microsoft.com/office/powerpoint/2010/main" val="2867503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lphaLcParenR"/>
            </a:pPr>
            <a:r>
              <a:rPr lang="el-GR" b="0" dirty="0"/>
              <a:t>Δ</a:t>
            </a:r>
            <a:r>
              <a:rPr lang="en-AU" b="0" dirty="0"/>
              <a:t>PE = mg</a:t>
            </a:r>
            <a:r>
              <a:rPr lang="el-GR" b="0" dirty="0"/>
              <a:t>Δ</a:t>
            </a:r>
            <a:r>
              <a:rPr lang="en-AU" b="0" dirty="0"/>
              <a:t>h = 1*9.8*1 = 9.8 J</a:t>
            </a:r>
          </a:p>
        </p:txBody>
      </p:sp>
      <p:sp>
        <p:nvSpPr>
          <p:cNvPr id="4" name="Slide Number Placeholder 3"/>
          <p:cNvSpPr>
            <a:spLocks noGrp="1"/>
          </p:cNvSpPr>
          <p:nvPr>
            <p:ph type="sldNum" sz="quarter" idx="5"/>
          </p:nvPr>
        </p:nvSpPr>
        <p:spPr/>
        <p:txBody>
          <a:bodyPr/>
          <a:lstStyle/>
          <a:p>
            <a:fld id="{B5B756B8-97A8-4FA1-B26A-2500BA5D4D05}" type="slidenum">
              <a:rPr lang="en-AU" smtClean="0"/>
              <a:t>5</a:t>
            </a:fld>
            <a:endParaRPr lang="en-AU"/>
          </a:p>
        </p:txBody>
      </p:sp>
    </p:spTree>
    <p:extLst>
      <p:ext uri="{BB962C8B-B14F-4D97-AF65-F5344CB8AC3E}">
        <p14:creationId xmlns:p14="http://schemas.microsoft.com/office/powerpoint/2010/main" val="2234536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endParaRPr lang="en-US" b="0" dirty="0"/>
          </a:p>
        </p:txBody>
      </p:sp>
      <p:sp>
        <p:nvSpPr>
          <p:cNvPr id="4" name="Slide Number Placeholder 3"/>
          <p:cNvSpPr>
            <a:spLocks noGrp="1"/>
          </p:cNvSpPr>
          <p:nvPr>
            <p:ph type="sldNum" sz="quarter" idx="5"/>
          </p:nvPr>
        </p:nvSpPr>
        <p:spPr/>
        <p:txBody>
          <a:bodyPr/>
          <a:lstStyle/>
          <a:p>
            <a:fld id="{B5B756B8-97A8-4FA1-B26A-2500BA5D4D05}" type="slidenum">
              <a:rPr lang="en-AU" smtClean="0"/>
              <a:t>6</a:t>
            </a:fld>
            <a:endParaRPr lang="en-AU"/>
          </a:p>
        </p:txBody>
      </p:sp>
    </p:spTree>
    <p:extLst>
      <p:ext uri="{BB962C8B-B14F-4D97-AF65-F5344CB8AC3E}">
        <p14:creationId xmlns:p14="http://schemas.microsoft.com/office/powerpoint/2010/main" val="30621944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endParaRPr lang="en-US" b="0" dirty="0"/>
          </a:p>
        </p:txBody>
      </p:sp>
      <p:sp>
        <p:nvSpPr>
          <p:cNvPr id="4" name="Slide Number Placeholder 3"/>
          <p:cNvSpPr>
            <a:spLocks noGrp="1"/>
          </p:cNvSpPr>
          <p:nvPr>
            <p:ph type="sldNum" sz="quarter" idx="5"/>
          </p:nvPr>
        </p:nvSpPr>
        <p:spPr/>
        <p:txBody>
          <a:bodyPr/>
          <a:lstStyle/>
          <a:p>
            <a:fld id="{B5B756B8-97A8-4FA1-B26A-2500BA5D4D05}" type="slidenum">
              <a:rPr lang="en-AU" smtClean="0"/>
              <a:t>7</a:t>
            </a:fld>
            <a:endParaRPr lang="en-AU"/>
          </a:p>
        </p:txBody>
      </p:sp>
    </p:spTree>
    <p:extLst>
      <p:ext uri="{BB962C8B-B14F-4D97-AF65-F5344CB8AC3E}">
        <p14:creationId xmlns:p14="http://schemas.microsoft.com/office/powerpoint/2010/main" val="32999710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lphaLcParenR"/>
            </a:pPr>
            <a:r>
              <a:rPr lang="el-GR" b="0" dirty="0"/>
              <a:t>Δ</a:t>
            </a:r>
            <a:r>
              <a:rPr lang="en-AU" b="0" dirty="0"/>
              <a:t>PE = mg</a:t>
            </a:r>
            <a:r>
              <a:rPr lang="el-GR" b="0" dirty="0"/>
              <a:t>Δ</a:t>
            </a:r>
            <a:r>
              <a:rPr lang="en-AU" b="0" dirty="0"/>
              <a:t>h = 1*9.8*1 = 9.8 J</a:t>
            </a:r>
          </a:p>
        </p:txBody>
      </p:sp>
      <p:sp>
        <p:nvSpPr>
          <p:cNvPr id="4" name="Slide Number Placeholder 3"/>
          <p:cNvSpPr>
            <a:spLocks noGrp="1"/>
          </p:cNvSpPr>
          <p:nvPr>
            <p:ph type="sldNum" sz="quarter" idx="5"/>
          </p:nvPr>
        </p:nvSpPr>
        <p:spPr/>
        <p:txBody>
          <a:bodyPr/>
          <a:lstStyle/>
          <a:p>
            <a:fld id="{B5B756B8-97A8-4FA1-B26A-2500BA5D4D05}" type="slidenum">
              <a:rPr lang="en-AU" smtClean="0"/>
              <a:t>9</a:t>
            </a:fld>
            <a:endParaRPr lang="en-AU"/>
          </a:p>
        </p:txBody>
      </p:sp>
    </p:spTree>
    <p:extLst>
      <p:ext uri="{BB962C8B-B14F-4D97-AF65-F5344CB8AC3E}">
        <p14:creationId xmlns:p14="http://schemas.microsoft.com/office/powerpoint/2010/main" val="2162678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lphaLcParenR"/>
            </a:pPr>
            <a:r>
              <a:rPr lang="en-AU" b="0" dirty="0"/>
              <a:t>PE = mg</a:t>
            </a:r>
            <a:r>
              <a:rPr lang="el-GR" b="0" dirty="0"/>
              <a:t>Δ</a:t>
            </a:r>
            <a:r>
              <a:rPr lang="en-AU" b="0" dirty="0"/>
              <a:t>h = 160*9.8*0.8 = 1.254*10^3 = 1.25*10^3 J</a:t>
            </a:r>
          </a:p>
          <a:p>
            <a:pPr marL="228600" indent="-228600">
              <a:buAutoNum type="alphaLcParenR"/>
            </a:pPr>
            <a:r>
              <a:rPr lang="en-AU" b="0" dirty="0"/>
              <a:t>The barbell is lifted at a constant velocity (“steadily”)</a:t>
            </a:r>
          </a:p>
          <a:p>
            <a:pPr marL="0" indent="0">
              <a:buNone/>
            </a:pPr>
            <a:r>
              <a:rPr lang="en-AU" b="0" dirty="0"/>
              <a:t>	v = s/t = 0.8/2.8 = 0.2857 </a:t>
            </a:r>
            <a:r>
              <a:rPr lang="en-AU" b="0" dirty="0" err="1"/>
              <a:t>ms</a:t>
            </a:r>
            <a:r>
              <a:rPr lang="en-AU" b="0" dirty="0"/>
              <a:t>^-1</a:t>
            </a:r>
          </a:p>
          <a:p>
            <a:pPr marL="0" indent="0">
              <a:buNone/>
            </a:pPr>
            <a:r>
              <a:rPr lang="en-AU" b="0" dirty="0"/>
              <a:t>	KE = 0.5mv^2 = 6.53 J</a:t>
            </a:r>
          </a:p>
          <a:p>
            <a:pPr marL="0" indent="0">
              <a:buNone/>
            </a:pPr>
            <a:r>
              <a:rPr lang="en-AU" b="0" dirty="0"/>
              <a:t>c) W = </a:t>
            </a:r>
            <a:r>
              <a:rPr lang="el-GR" b="0" dirty="0"/>
              <a:t>Δ</a:t>
            </a:r>
            <a:r>
              <a:rPr lang="en-AU" b="0" dirty="0"/>
              <a:t>E = PE + KE = 1.254*10^3 + 6.53 = 1.26*10^3 J</a:t>
            </a:r>
          </a:p>
        </p:txBody>
      </p:sp>
      <p:sp>
        <p:nvSpPr>
          <p:cNvPr id="4" name="Slide Number Placeholder 3"/>
          <p:cNvSpPr>
            <a:spLocks noGrp="1"/>
          </p:cNvSpPr>
          <p:nvPr>
            <p:ph type="sldNum" sz="quarter" idx="5"/>
          </p:nvPr>
        </p:nvSpPr>
        <p:spPr/>
        <p:txBody>
          <a:bodyPr/>
          <a:lstStyle/>
          <a:p>
            <a:fld id="{B5B756B8-97A8-4FA1-B26A-2500BA5D4D05}" type="slidenum">
              <a:rPr lang="en-AU" smtClean="0"/>
              <a:t>10</a:t>
            </a:fld>
            <a:endParaRPr lang="en-AU"/>
          </a:p>
        </p:txBody>
      </p:sp>
    </p:spTree>
    <p:extLst>
      <p:ext uri="{BB962C8B-B14F-4D97-AF65-F5344CB8AC3E}">
        <p14:creationId xmlns:p14="http://schemas.microsoft.com/office/powerpoint/2010/main" val="24065570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AU" b="0" dirty="0" err="1"/>
              <a:t>Eg</a:t>
            </a:r>
            <a:r>
              <a:rPr lang="en-AU" b="0" dirty="0"/>
              <a:t> = mg</a:t>
            </a:r>
            <a:r>
              <a:rPr lang="el-GR" b="0" dirty="0"/>
              <a:t>Δ</a:t>
            </a:r>
            <a:r>
              <a:rPr lang="en-AU" b="0" dirty="0"/>
              <a:t>h = 0.45*1.6*1.4 = 1 J</a:t>
            </a:r>
          </a:p>
          <a:p>
            <a:pPr marL="0" indent="0">
              <a:buNone/>
            </a:pPr>
            <a:r>
              <a:rPr lang="en-AU" b="0" dirty="0"/>
              <a:t>Ek = </a:t>
            </a:r>
            <a:r>
              <a:rPr lang="en-AU" b="0" dirty="0" err="1"/>
              <a:t>Eg</a:t>
            </a:r>
            <a:r>
              <a:rPr lang="en-AU" b="0" dirty="0"/>
              <a:t> = 1 J</a:t>
            </a:r>
          </a:p>
          <a:p>
            <a:pPr marL="0" indent="0">
              <a:buNone/>
            </a:pPr>
            <a:r>
              <a:rPr lang="en-AU" b="0" dirty="0"/>
              <a:t>Ek = 0.5mv^2</a:t>
            </a:r>
          </a:p>
          <a:p>
            <a:pPr marL="0" indent="0">
              <a:buNone/>
            </a:pPr>
            <a:r>
              <a:rPr lang="en-AU" b="0" dirty="0"/>
              <a:t>v = 2.1 m/s</a:t>
            </a:r>
          </a:p>
        </p:txBody>
      </p:sp>
      <p:sp>
        <p:nvSpPr>
          <p:cNvPr id="4" name="Slide Number Placeholder 3"/>
          <p:cNvSpPr>
            <a:spLocks noGrp="1"/>
          </p:cNvSpPr>
          <p:nvPr>
            <p:ph type="sldNum" sz="quarter" idx="5"/>
          </p:nvPr>
        </p:nvSpPr>
        <p:spPr/>
        <p:txBody>
          <a:bodyPr/>
          <a:lstStyle/>
          <a:p>
            <a:fld id="{B5B756B8-97A8-4FA1-B26A-2500BA5D4D05}" type="slidenum">
              <a:rPr lang="en-AU" smtClean="0"/>
              <a:t>11</a:t>
            </a:fld>
            <a:endParaRPr lang="en-AU"/>
          </a:p>
        </p:txBody>
      </p:sp>
    </p:spTree>
    <p:extLst>
      <p:ext uri="{BB962C8B-B14F-4D97-AF65-F5344CB8AC3E}">
        <p14:creationId xmlns:p14="http://schemas.microsoft.com/office/powerpoint/2010/main" val="14104813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lphaLcParenR"/>
            </a:pPr>
            <a:r>
              <a:rPr lang="en-AU" b="0" dirty="0"/>
              <a:t>PE = mg</a:t>
            </a:r>
            <a:r>
              <a:rPr lang="el-GR" b="0" dirty="0"/>
              <a:t>Δ</a:t>
            </a:r>
            <a:r>
              <a:rPr lang="en-AU" b="0" dirty="0"/>
              <a:t>h = 160*9.8*0.8 = 1.254*10^3 = 1.25*10^3 J</a:t>
            </a:r>
          </a:p>
          <a:p>
            <a:pPr marL="228600" indent="-228600">
              <a:buAutoNum type="alphaLcParenR"/>
            </a:pPr>
            <a:r>
              <a:rPr lang="en-AU" b="0" dirty="0"/>
              <a:t>The barbell is lifted at a constant velocity (“steadily”)</a:t>
            </a:r>
          </a:p>
          <a:p>
            <a:pPr marL="0" indent="0">
              <a:buNone/>
            </a:pPr>
            <a:r>
              <a:rPr lang="en-AU" b="0" dirty="0"/>
              <a:t>	v = s/t = 0.8/2.8 = 0.2857 </a:t>
            </a:r>
            <a:r>
              <a:rPr lang="en-AU" b="0" dirty="0" err="1"/>
              <a:t>ms</a:t>
            </a:r>
            <a:r>
              <a:rPr lang="en-AU" b="0" dirty="0"/>
              <a:t>^-1</a:t>
            </a:r>
          </a:p>
          <a:p>
            <a:pPr marL="0" indent="0">
              <a:buNone/>
            </a:pPr>
            <a:r>
              <a:rPr lang="en-AU" b="0" dirty="0"/>
              <a:t>	KE = 0.5mv^2 = 6.53 J</a:t>
            </a:r>
          </a:p>
          <a:p>
            <a:pPr marL="0" indent="0">
              <a:buNone/>
            </a:pPr>
            <a:r>
              <a:rPr lang="en-AU" b="0" dirty="0"/>
              <a:t>c) W = </a:t>
            </a:r>
            <a:r>
              <a:rPr lang="el-GR" b="0" dirty="0"/>
              <a:t>Δ</a:t>
            </a:r>
            <a:r>
              <a:rPr lang="en-AU" b="0" dirty="0"/>
              <a:t>E = PE + KE = 1.254*10^3 + 6.53 = 1.26*10^3 J</a:t>
            </a:r>
          </a:p>
        </p:txBody>
      </p:sp>
      <p:sp>
        <p:nvSpPr>
          <p:cNvPr id="4" name="Slide Number Placeholder 3"/>
          <p:cNvSpPr>
            <a:spLocks noGrp="1"/>
          </p:cNvSpPr>
          <p:nvPr>
            <p:ph type="sldNum" sz="quarter" idx="5"/>
          </p:nvPr>
        </p:nvSpPr>
        <p:spPr/>
        <p:txBody>
          <a:bodyPr/>
          <a:lstStyle/>
          <a:p>
            <a:fld id="{B5B756B8-97A8-4FA1-B26A-2500BA5D4D05}" type="slidenum">
              <a:rPr lang="en-AU" smtClean="0"/>
              <a:t>12</a:t>
            </a:fld>
            <a:endParaRPr lang="en-AU"/>
          </a:p>
        </p:txBody>
      </p:sp>
    </p:spTree>
    <p:extLst>
      <p:ext uri="{BB962C8B-B14F-4D97-AF65-F5344CB8AC3E}">
        <p14:creationId xmlns:p14="http://schemas.microsoft.com/office/powerpoint/2010/main" val="5457219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13</a:t>
            </a:fld>
            <a:endParaRPr lang="en-AU"/>
          </a:p>
        </p:txBody>
      </p:sp>
    </p:spTree>
    <p:extLst>
      <p:ext uri="{BB962C8B-B14F-4D97-AF65-F5344CB8AC3E}">
        <p14:creationId xmlns:p14="http://schemas.microsoft.com/office/powerpoint/2010/main" val="2537320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14</a:t>
            </a:fld>
            <a:endParaRPr lang="en-AU"/>
          </a:p>
        </p:txBody>
      </p:sp>
    </p:spTree>
    <p:extLst>
      <p:ext uri="{BB962C8B-B14F-4D97-AF65-F5344CB8AC3E}">
        <p14:creationId xmlns:p14="http://schemas.microsoft.com/office/powerpoint/2010/main" val="42609892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err="1"/>
              <a:t>Fnet</a:t>
            </a:r>
            <a:r>
              <a:rPr lang="en-AU" b="0" dirty="0"/>
              <a:t> = mg = mv^2/r</a:t>
            </a:r>
          </a:p>
          <a:p>
            <a:r>
              <a:rPr lang="en-AU" b="0" dirty="0"/>
              <a:t>v = sqrt(g*r) = sqrt ( 9.8 * 6.37*10^6) = 7901 m/s = 7.9 km/s = 28,462 km/h</a:t>
            </a:r>
          </a:p>
          <a:p>
            <a:endParaRPr lang="en-AU" b="0" dirty="0"/>
          </a:p>
          <a:p>
            <a:endParaRPr lang="en-AU" b="0" dirty="0"/>
          </a:p>
          <a:p>
            <a:r>
              <a:rPr lang="en-AU" b="0" dirty="0"/>
              <a:t>https://en.wikipedia.org/wiki/Newton%27s_cannonball</a:t>
            </a:r>
          </a:p>
          <a:p>
            <a:endParaRPr lang="en-AU" b="0" dirty="0"/>
          </a:p>
          <a:p>
            <a:r>
              <a:rPr lang="en-AU" b="0" dirty="0"/>
              <a:t>https://spatrick.mit.edu/newtons-cannon</a:t>
            </a:r>
          </a:p>
          <a:p>
            <a:endParaRPr lang="en-AU" b="0" dirty="0"/>
          </a:p>
          <a:p>
            <a:r>
              <a:rPr lang="en-AU" b="0" dirty="0"/>
              <a:t>https://physics.weber.edu/schroeder/software/NewtonsCannon.html</a:t>
            </a:r>
          </a:p>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17</a:t>
            </a:fld>
            <a:endParaRPr lang="en-AU"/>
          </a:p>
        </p:txBody>
      </p:sp>
    </p:spTree>
    <p:extLst>
      <p:ext uri="{BB962C8B-B14F-4D97-AF65-F5344CB8AC3E}">
        <p14:creationId xmlns:p14="http://schemas.microsoft.com/office/powerpoint/2010/main" val="7993577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Edit</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08655"/>
            <a:ext cx="10004958" cy="515263"/>
          </a:xfrm>
          <a:prstGeom prst="rect">
            <a:avLst/>
          </a:prstGeom>
          <a:no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71043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b="1" i="0" dirty="0">
                <a:latin typeface="Century Gothic" panose="020B0502020202020204" pitchFamily="34" charset="0"/>
              </a:rPr>
              <a:t>SRC Core</a:t>
            </a:r>
            <a:r>
              <a:rPr lang="en-US" sz="7200" b="1" i="0" baseline="0" dirty="0">
                <a:latin typeface="Century Gothic" panose="020B0502020202020204" pitchFamily="34" charset="0"/>
              </a:rPr>
              <a:t> Standards</a:t>
            </a:r>
            <a:endParaRPr lang="en-US" sz="7200" b="1" i="0" dirty="0">
              <a:latin typeface="Century Gothic" panose="020B050202020202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692B7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827749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722087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74220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597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692B7D"/>
          </a:solidFill>
          <a:ln>
            <a:noFill/>
          </a:ln>
        </p:spPr>
        <p:txBody>
          <a:bodyPr wrap="square" rtlCol="0" anchor="ctr">
            <a:normAutofit/>
          </a:bodyPr>
          <a:lstStyle/>
          <a:p>
            <a:pPr marL="0" indent="0">
              <a:tabLst>
                <a:tab pos="3597275" algn="l"/>
              </a:tabLst>
            </a:pPr>
            <a:r>
              <a:rPr lang="en-US" sz="6000" b="1" i="0" dirty="0">
                <a:solidFill>
                  <a:schemeClr val="bg1"/>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740704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692B7D"/>
          </a:solidFill>
        </p:spPr>
        <p:txBody>
          <a:bodyPr wrap="square" rtlCol="0" anchor="ctr">
            <a:noAutofit/>
          </a:bodyPr>
          <a:lstStyle/>
          <a:p>
            <a:pPr algn="l"/>
            <a:r>
              <a:rPr lang="en-US" sz="2000" b="1" i="0" dirty="0">
                <a:solidFill>
                  <a:srgbClr val="FBCA58"/>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122109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007288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294523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302823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1779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92B7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692B7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220285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eneric Title Slide">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
        <p:nvSpPr>
          <p:cNvPr id="3" name="Text Placeholder 2">
            <a:extLst>
              <a:ext uri="{FF2B5EF4-FFF2-40B4-BE49-F238E27FC236}">
                <a16:creationId xmlns:a16="http://schemas.microsoft.com/office/drawing/2014/main" id="{35918694-72DD-404C-BFE2-AE8FDFB6A47D}"/>
              </a:ext>
            </a:extLst>
          </p:cNvPr>
          <p:cNvSpPr>
            <a:spLocks noGrp="1"/>
          </p:cNvSpPr>
          <p:nvPr>
            <p:ph type="body" sz="quarter" idx="11" hasCustomPrompt="1"/>
          </p:nvPr>
        </p:nvSpPr>
        <p:spPr>
          <a:xfrm>
            <a:off x="295219" y="1019162"/>
            <a:ext cx="2630862" cy="538162"/>
          </a:xfrm>
          <a:prstGeom prst="rect">
            <a:avLst/>
          </a:prstGeom>
          <a:solidFill>
            <a:srgbClr val="2E546D"/>
          </a:solidFill>
        </p:spPr>
        <p:txBody>
          <a:bodyPr/>
          <a:lstStyle>
            <a:lvl1pPr marL="0" indent="0">
              <a:buNone/>
              <a:defRPr sz="3200" b="0"/>
            </a:lvl1pPr>
          </a:lstStyle>
          <a:p>
            <a:r>
              <a:rPr lang="en-US" sz="2800" b="1" i="0" dirty="0">
                <a:solidFill>
                  <a:srgbClr val="FBCA58"/>
                </a:solidFill>
                <a:latin typeface="Century Gothic" panose="020B0502020202020204" pitchFamily="34" charset="0"/>
                <a:cs typeface="Futura Medium" panose="020B0602020204020303" pitchFamily="34" charset="-79"/>
              </a:rPr>
              <a:t>Learning Goal</a:t>
            </a:r>
          </a:p>
        </p:txBody>
      </p:sp>
    </p:spTree>
    <p:extLst>
      <p:ext uri="{BB962C8B-B14F-4D97-AF65-F5344CB8AC3E}">
        <p14:creationId xmlns:p14="http://schemas.microsoft.com/office/powerpoint/2010/main" val="2370218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eneric Content Slid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
        <p:nvSpPr>
          <p:cNvPr id="5" name="Text Placeholder 4">
            <a:extLst>
              <a:ext uri="{FF2B5EF4-FFF2-40B4-BE49-F238E27FC236}">
                <a16:creationId xmlns:a16="http://schemas.microsoft.com/office/drawing/2014/main" id="{26005884-EA56-4A5F-8C82-1956C2ADF2F8}"/>
              </a:ext>
            </a:extLst>
          </p:cNvPr>
          <p:cNvSpPr>
            <a:spLocks noGrp="1"/>
          </p:cNvSpPr>
          <p:nvPr>
            <p:ph type="body" sz="quarter" idx="17" hasCustomPrompt="1"/>
          </p:nvPr>
        </p:nvSpPr>
        <p:spPr>
          <a:xfrm>
            <a:off x="295275" y="595269"/>
            <a:ext cx="3779478" cy="319722"/>
          </a:xfrm>
          <a:prstGeom prst="rect">
            <a:avLst/>
          </a:prstGeom>
          <a:solidFill>
            <a:srgbClr val="FBCA58"/>
          </a:solidFill>
        </p:spPr>
        <p:txBody>
          <a:bodyPr/>
          <a:lstStyle>
            <a:lvl1pPr marL="0" indent="0">
              <a:buNone/>
              <a:defRPr sz="1600" b="1">
                <a:solidFill>
                  <a:srgbClr val="2E546D"/>
                </a:solidFill>
                <a:latin typeface="+mj-lt"/>
              </a:defRPr>
            </a:lvl1pPr>
            <a:lvl2pPr>
              <a:defRPr sz="1800"/>
            </a:lvl2pPr>
            <a:lvl3pPr>
              <a:defRPr sz="1600"/>
            </a:lvl3pPr>
            <a:lvl4pPr>
              <a:defRPr sz="1400"/>
            </a:lvl4pPr>
            <a:lvl5pPr>
              <a:defRPr sz="1400"/>
            </a:lvl5pPr>
          </a:lstStyle>
          <a:p>
            <a:pPr lvl="0"/>
            <a:r>
              <a:rPr lang="en-US" dirty="0"/>
              <a:t>Type Subheading here</a:t>
            </a:r>
          </a:p>
        </p:txBody>
      </p:sp>
    </p:spTree>
    <p:extLst>
      <p:ext uri="{BB962C8B-B14F-4D97-AF65-F5344CB8AC3E}">
        <p14:creationId xmlns:p14="http://schemas.microsoft.com/office/powerpoint/2010/main" val="3485279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6460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 Now">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Do Now</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24237"/>
            <a:ext cx="10004958" cy="499682"/>
          </a:xfrm>
          <a:prstGeom prst="rect">
            <a:avLst/>
          </a:prstGeom>
          <a:solidFill>
            <a:schemeClr val="bg1"/>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409273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2E546D"/>
                </a:solidFill>
                <a:latin typeface="Calibri" panose="020F0502020204030204" pitchFamily="34" charset="0"/>
                <a:cs typeface="Calibri" panose="020F0502020204030204" pitchFamily="34" charset="0"/>
              </a:rPr>
              <a:t>Think </a:t>
            </a:r>
          </a:p>
          <a:p>
            <a:r>
              <a:rPr lang="en-US" sz="3600" b="1" i="0" dirty="0">
                <a:solidFill>
                  <a:srgbClr val="2E546D"/>
                </a:solidFill>
                <a:latin typeface="Calibri" panose="020F0502020204030204" pitchFamily="34" charset="0"/>
                <a:cs typeface="Calibri" panose="020F0502020204030204" pitchFamily="34" charset="0"/>
              </a:rPr>
              <a:t>Pair</a:t>
            </a:r>
          </a:p>
          <a:p>
            <a:r>
              <a:rPr lang="en-US" sz="3600" b="1" i="0" dirty="0">
                <a:solidFill>
                  <a:srgbClr val="2E546D"/>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50352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rning Goal Simple">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Tree>
    <p:extLst>
      <p:ext uri="{BB962C8B-B14F-4D97-AF65-F5344CB8AC3E}">
        <p14:creationId xmlns:p14="http://schemas.microsoft.com/office/powerpoint/2010/main" val="4004097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E546D"/>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8144513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12365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F556E"/>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F556E"/>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9054138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34819495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4894422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780312292"/>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77204013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7490494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6172997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4288181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userDrawn="1"/>
        </p:nvSpPr>
        <p:spPr>
          <a:xfrm>
            <a:off x="0" y="0"/>
            <a:ext cx="12192000" cy="6858000"/>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userDrawn="1"/>
        </p:nvSpPr>
        <p:spPr>
          <a:xfrm>
            <a:off x="-66676" y="221673"/>
            <a:ext cx="12258675"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C4F9A874-5CE1-8647-AFA9-BD43474DD64E}"/>
              </a:ext>
            </a:extLst>
          </p:cNvPr>
          <p:cNvPicPr>
            <a:picLocks noChangeAspect="1"/>
          </p:cNvPicPr>
          <p:nvPr userDrawn="1"/>
        </p:nvPicPr>
        <p:blipFill>
          <a:blip r:embed="rId14"/>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4030593586"/>
      </p:ext>
    </p:extLst>
  </p:cSld>
  <p:clrMap bg1="lt1" tx1="dk1" bg2="lt2" tx2="dk2" accent1="accent1" accent2="accent2" accent3="accent3" accent4="accent4" accent5="accent5" accent6="accent6" hlink="hlink" folHlink="folHlink"/>
  <p:sldLayoutIdLst>
    <p:sldLayoutId id="2147484258" r:id="rId1"/>
    <p:sldLayoutId id="2147484233" r:id="rId2"/>
    <p:sldLayoutId id="2147484234" r:id="rId3"/>
    <p:sldLayoutId id="2147484235" r:id="rId4"/>
    <p:sldLayoutId id="2147484236" r:id="rId5"/>
    <p:sldLayoutId id="2147484257" r:id="rId6"/>
    <p:sldLayoutId id="2147484255" r:id="rId7"/>
    <p:sldLayoutId id="2147484237" r:id="rId8"/>
    <p:sldLayoutId id="2147484238" r:id="rId9"/>
    <p:sldLayoutId id="2147484239" r:id="rId10"/>
    <p:sldLayoutId id="2147484240" r:id="rId11"/>
    <p:sldLayoutId id="214748429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userDrawn="1"/>
        </p:nvSpPr>
        <p:spPr>
          <a:xfrm>
            <a:off x="0" y="0"/>
            <a:ext cx="12192000" cy="6858000"/>
          </a:xfrm>
          <a:prstGeom prst="rect">
            <a:avLst/>
          </a:prstGeom>
          <a:solidFill>
            <a:srgbClr val="2E5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userDrawn="1"/>
        </p:nvSpPr>
        <p:spPr>
          <a:xfrm>
            <a:off x="0" y="221672"/>
            <a:ext cx="12192000" cy="63728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DC76C98-0227-3747-80B1-ED384456CDE8}"/>
              </a:ext>
            </a:extLst>
          </p:cNvPr>
          <p:cNvPicPr>
            <a:picLocks noChangeAspect="1"/>
          </p:cNvPicPr>
          <p:nvPr userDrawn="1"/>
        </p:nvPicPr>
        <p:blipFill>
          <a:blip r:embed="rId18"/>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288887113"/>
      </p:ext>
    </p:extLst>
  </p:cSld>
  <p:clrMap bg1="lt1" tx1="dk1" bg2="lt2" tx2="dk2" accent1="accent1" accent2="accent2" accent3="accent3" accent4="accent4" accent5="accent5" accent6="accent6" hlink="hlink" folHlink="folHlink"/>
  <p:sldLayoutIdLst>
    <p:sldLayoutId id="2147484294" r:id="rId1"/>
    <p:sldLayoutId id="2147484295" r:id="rId2"/>
    <p:sldLayoutId id="2147484288" r:id="rId3"/>
    <p:sldLayoutId id="2147484275" r:id="rId4"/>
    <p:sldLayoutId id="2147484276" r:id="rId5"/>
    <p:sldLayoutId id="2147484293" r:id="rId6"/>
    <p:sldLayoutId id="2147484277" r:id="rId7"/>
    <p:sldLayoutId id="2147484278" r:id="rId8"/>
    <p:sldLayoutId id="2147484279" r:id="rId9"/>
    <p:sldLayoutId id="2147484280" r:id="rId10"/>
    <p:sldLayoutId id="2147484281" r:id="rId11"/>
    <p:sldLayoutId id="2147484282" r:id="rId12"/>
    <p:sldLayoutId id="2147484283" r:id="rId13"/>
    <p:sldLayoutId id="2147484284" r:id="rId14"/>
    <p:sldLayoutId id="2147484285" r:id="rId15"/>
    <p:sldLayoutId id="214748428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microsoft.com/office/2007/relationships/hdphoto" Target="../media/hdphoto2.wdp"/></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calculate gravitational forces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Do Now</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1927308" y="907333"/>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7" name="TextBox 6">
            <a:extLst>
              <a:ext uri="{FF2B5EF4-FFF2-40B4-BE49-F238E27FC236}">
                <a16:creationId xmlns:a16="http://schemas.microsoft.com/office/drawing/2014/main" id="{4D421E10-69EF-4487-AD10-337C214C3BE7}"/>
              </a:ext>
            </a:extLst>
          </p:cNvPr>
          <p:cNvSpPr txBox="1"/>
          <p:nvPr/>
        </p:nvSpPr>
        <p:spPr>
          <a:xfrm>
            <a:off x="295275" y="973612"/>
            <a:ext cx="9744562" cy="847761"/>
          </a:xfrm>
          <a:prstGeom prst="rect">
            <a:avLst/>
          </a:prstGeom>
          <a:noFill/>
          <a:ln>
            <a:noFill/>
          </a:ln>
        </p:spPr>
        <p:txBody>
          <a:bodyPr wrap="none" rtlCol="0" anchor="t" anchorCtr="0">
            <a:normAutofit/>
          </a:bodyPr>
          <a:lstStyle/>
          <a:p>
            <a:pPr algn="l"/>
            <a:r>
              <a:rPr lang="en-AU" sz="2400" b="1" dirty="0">
                <a:latin typeface="Century Gothic" panose="020B0502020202020204" pitchFamily="34" charset="0"/>
                <a:cs typeface="Futura Medium" panose="020B0602020204020303" pitchFamily="34" charset="-79"/>
              </a:rPr>
              <a:t>Calculate your weight on Earth, the Moon and the Sun.</a:t>
            </a:r>
          </a:p>
          <a:p>
            <a:pPr algn="l"/>
            <a:endParaRPr lang="en-AU" sz="5400" b="1" dirty="0">
              <a:latin typeface="Century Gothic" panose="020B0502020202020204" pitchFamily="34" charset="0"/>
              <a:cs typeface="Futura Medium" panose="020B0602020204020303" pitchFamily="34" charset="-79"/>
            </a:endParaRPr>
          </a:p>
        </p:txBody>
      </p:sp>
    </p:spTree>
    <p:extLst>
      <p:ext uri="{BB962C8B-B14F-4D97-AF65-F5344CB8AC3E}">
        <p14:creationId xmlns:p14="http://schemas.microsoft.com/office/powerpoint/2010/main" val="57566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Weightlessness and Work</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600" b="0" dirty="0">
                <a:solidFill>
                  <a:srgbClr val="000303"/>
                </a:solidFill>
                <a:latin typeface="+mj-lt"/>
              </a:rPr>
              <a:t>I</a:t>
            </a:r>
            <a:r>
              <a:rPr lang="en-US" sz="1600" b="0" i="0" dirty="0">
                <a:solidFill>
                  <a:srgbClr val="000303"/>
                </a:solidFill>
                <a:effectLst/>
                <a:latin typeface="+mj-lt"/>
              </a:rPr>
              <a:t> can calculate weight and apparent weight in different situations:</a:t>
            </a:r>
          </a:p>
          <a:p>
            <a:pPr algn="l"/>
            <a:r>
              <a:rPr lang="en-US" sz="1600" b="0" dirty="0">
                <a:solidFill>
                  <a:srgbClr val="000303"/>
                </a:solidFill>
                <a:latin typeface="+mj-lt"/>
              </a:rPr>
              <a:t> - other planetary bodies</a:t>
            </a:r>
          </a:p>
          <a:p>
            <a:pPr algn="l"/>
            <a:r>
              <a:rPr lang="en-US" sz="1600" b="0" i="0" dirty="0">
                <a:solidFill>
                  <a:srgbClr val="000303"/>
                </a:solidFill>
                <a:effectLst/>
                <a:latin typeface="+mj-lt"/>
              </a:rPr>
              <a:t> - in </a:t>
            </a:r>
            <a:r>
              <a:rPr lang="en-US" sz="1600" b="0" dirty="0">
                <a:solidFill>
                  <a:srgbClr val="000303"/>
                </a:solidFill>
                <a:latin typeface="+mj-lt"/>
              </a:rPr>
              <a:t>moving elevators</a:t>
            </a:r>
          </a:p>
          <a:p>
            <a:pPr algn="l"/>
            <a:r>
              <a:rPr lang="en-US" sz="1600" b="0" i="0" dirty="0">
                <a:solidFill>
                  <a:srgbClr val="000303"/>
                </a:solidFill>
                <a:effectLst/>
                <a:latin typeface="+mj-lt"/>
              </a:rPr>
              <a:t> - during circular motion</a:t>
            </a:r>
          </a:p>
          <a:p>
            <a:pPr algn="l"/>
            <a:r>
              <a:rPr lang="en-US" sz="1600" b="0" dirty="0">
                <a:solidFill>
                  <a:srgbClr val="000303"/>
                </a:solidFill>
                <a:latin typeface="+mj-lt"/>
              </a:rPr>
              <a:t>I can calculate work done in gravitational fields.</a:t>
            </a:r>
            <a:endParaRPr lang="en-US" sz="1600" b="0" i="0" dirty="0">
              <a:solidFill>
                <a:srgbClr val="000303"/>
              </a:solidFill>
              <a:effectLst/>
              <a:latin typeface="+mj-lt"/>
            </a:endParaRPr>
          </a:p>
        </p:txBody>
      </p:sp>
    </p:spTree>
    <p:extLst>
      <p:ext uri="{BB962C8B-B14F-4D97-AF65-F5344CB8AC3E}">
        <p14:creationId xmlns:p14="http://schemas.microsoft.com/office/powerpoint/2010/main" val="2311140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calculate weight and apparent weight</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9" name="Text Placeholder 3">
            <a:extLst>
              <a:ext uri="{FF2B5EF4-FFF2-40B4-BE49-F238E27FC236}">
                <a16:creationId xmlns:a16="http://schemas.microsoft.com/office/drawing/2014/main" id="{D4F38006-A15E-4261-9638-574F8C71BDD8}"/>
              </a:ext>
            </a:extLst>
          </p:cNvPr>
          <p:cNvSpPr txBox="1">
            <a:spLocks/>
          </p:cNvSpPr>
          <p:nvPr/>
        </p:nvSpPr>
        <p:spPr>
          <a:xfrm>
            <a:off x="98508" y="1046732"/>
            <a:ext cx="1160786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AU" sz="3200" b="0" dirty="0"/>
              <a:t>An object’s weight is the force it experiences due to gravity. This does not change unless it moves to a very different altitude.</a:t>
            </a:r>
          </a:p>
          <a:p>
            <a:pPr marL="457200" indent="-457200">
              <a:buFont typeface="Arial" panose="020B0604020202020204" pitchFamily="34" charset="0"/>
              <a:buChar char="•"/>
            </a:pPr>
            <a:endParaRPr lang="en-AU" sz="3200" b="0" dirty="0"/>
          </a:p>
          <a:p>
            <a:pPr marL="457200" indent="-457200">
              <a:buFont typeface="Arial" panose="020B0604020202020204" pitchFamily="34" charset="0"/>
              <a:buChar char="•"/>
            </a:pPr>
            <a:r>
              <a:rPr lang="en-AU" sz="3200" b="0" dirty="0"/>
              <a:t>An object’s apparent weight is the normal reaction force that it experiences</a:t>
            </a:r>
          </a:p>
          <a:p>
            <a:endParaRPr lang="en-AU" sz="3200" b="0" dirty="0"/>
          </a:p>
          <a:p>
            <a:pPr marL="457200" indent="-457200">
              <a:buFont typeface="Arial" panose="020B0604020202020204" pitchFamily="34" charset="0"/>
              <a:buChar char="•"/>
            </a:pPr>
            <a:r>
              <a:rPr lang="en-AU" sz="3200" b="0" dirty="0"/>
              <a:t>This can be different in certain situations such as:</a:t>
            </a:r>
          </a:p>
          <a:p>
            <a:pPr marL="1143000" lvl="1" indent="-457200"/>
            <a:r>
              <a:rPr lang="en-AU" sz="2800" dirty="0"/>
              <a:t>Accelerating upwards or downwards</a:t>
            </a:r>
          </a:p>
          <a:p>
            <a:pPr marL="1143000" lvl="1" indent="-457200"/>
            <a:r>
              <a:rPr lang="en-AU" sz="2800" b="0" dirty="0"/>
              <a:t>Undergoing vertical circular motion (which is also technically accelerating upwards or downwards)</a:t>
            </a:r>
          </a:p>
        </p:txBody>
      </p:sp>
    </p:spTree>
    <p:extLst>
      <p:ext uri="{BB962C8B-B14F-4D97-AF65-F5344CB8AC3E}">
        <p14:creationId xmlns:p14="http://schemas.microsoft.com/office/powerpoint/2010/main" val="2175124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calculate weight and apparent weight</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9" name="Text Placeholder 3">
            <a:extLst>
              <a:ext uri="{FF2B5EF4-FFF2-40B4-BE49-F238E27FC236}">
                <a16:creationId xmlns:a16="http://schemas.microsoft.com/office/drawing/2014/main" id="{D4F38006-A15E-4261-9638-574F8C71BDD8}"/>
              </a:ext>
            </a:extLst>
          </p:cNvPr>
          <p:cNvSpPr txBox="1">
            <a:spLocks/>
          </p:cNvSpPr>
          <p:nvPr/>
        </p:nvSpPr>
        <p:spPr>
          <a:xfrm>
            <a:off x="98508" y="1046732"/>
            <a:ext cx="1160786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endParaRPr lang="en-AU" sz="2800" b="0" dirty="0"/>
          </a:p>
        </p:txBody>
      </p:sp>
      <p:pic>
        <p:nvPicPr>
          <p:cNvPr id="7" name="Picture 6">
            <a:extLst>
              <a:ext uri="{FF2B5EF4-FFF2-40B4-BE49-F238E27FC236}">
                <a16:creationId xmlns:a16="http://schemas.microsoft.com/office/drawing/2014/main" id="{D037EFB4-77B5-4DFA-BCFD-1D58B69F7F8A}"/>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5200" b="93733" l="10000" r="90000">
                        <a14:foregroundMark x1="51341" y1="5333" x2="42927" y2="6800"/>
                        <a14:foregroundMark x1="42927" y1="6800" x2="38293" y2="10000"/>
                        <a14:foregroundMark x1="47439" y1="5200" x2="58659" y2="7467"/>
                        <a14:foregroundMark x1="58659" y1="7467" x2="64878" y2="12133"/>
                        <a14:foregroundMark x1="64878" y1="12133" x2="65122" y2="12933"/>
                        <a14:foregroundMark x1="64390" y1="90400" x2="57317" y2="95467"/>
                        <a14:foregroundMark x1="57317" y1="95467" x2="49512" y2="91867"/>
                        <a14:foregroundMark x1="49512" y1="91867" x2="50000" y2="77067"/>
                        <a14:foregroundMark x1="45610" y1="94800" x2="37927" y2="93733"/>
                        <a14:foregroundMark x1="37927" y1="93733" x2="35732" y2="92000"/>
                      </a14:backgroundRemoval>
                    </a14:imgEffect>
                  </a14:imgLayer>
                </a14:imgProps>
              </a:ext>
            </a:extLst>
          </a:blip>
          <a:stretch>
            <a:fillRect/>
          </a:stretch>
        </p:blipFill>
        <p:spPr>
          <a:xfrm>
            <a:off x="1484575" y="2425830"/>
            <a:ext cx="2025379" cy="1852481"/>
          </a:xfrm>
          <a:prstGeom prst="rect">
            <a:avLst/>
          </a:prstGeom>
        </p:spPr>
      </p:pic>
      <p:sp>
        <p:nvSpPr>
          <p:cNvPr id="8" name="Rectangle 7">
            <a:extLst>
              <a:ext uri="{FF2B5EF4-FFF2-40B4-BE49-F238E27FC236}">
                <a16:creationId xmlns:a16="http://schemas.microsoft.com/office/drawing/2014/main" id="{8805215D-40D1-4CFD-8F05-9DD45E29754C}"/>
              </a:ext>
            </a:extLst>
          </p:cNvPr>
          <p:cNvSpPr/>
          <p:nvPr/>
        </p:nvSpPr>
        <p:spPr>
          <a:xfrm>
            <a:off x="1548075" y="2032000"/>
            <a:ext cx="1919025" cy="219551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3" name="Picture 12">
            <a:extLst>
              <a:ext uri="{FF2B5EF4-FFF2-40B4-BE49-F238E27FC236}">
                <a16:creationId xmlns:a16="http://schemas.microsoft.com/office/drawing/2014/main" id="{0DDCD9CF-2545-4656-BC7B-C408ECBC4389}"/>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5200" b="93733" l="10000" r="90000">
                        <a14:foregroundMark x1="51341" y1="5333" x2="42927" y2="6800"/>
                        <a14:foregroundMark x1="42927" y1="6800" x2="38293" y2="10000"/>
                        <a14:foregroundMark x1="47439" y1="5200" x2="58659" y2="7467"/>
                        <a14:foregroundMark x1="58659" y1="7467" x2="64878" y2="12133"/>
                        <a14:foregroundMark x1="64878" y1="12133" x2="65122" y2="12933"/>
                        <a14:foregroundMark x1="64390" y1="90400" x2="57317" y2="95467"/>
                        <a14:foregroundMark x1="57317" y1="95467" x2="49512" y2="91867"/>
                        <a14:foregroundMark x1="49512" y1="91867" x2="50000" y2="77067"/>
                        <a14:foregroundMark x1="45610" y1="94800" x2="37927" y2="93733"/>
                        <a14:foregroundMark x1="37927" y1="93733" x2="35732" y2="92000"/>
                      </a14:backgroundRemoval>
                    </a14:imgEffect>
                  </a14:imgLayer>
                </a14:imgProps>
              </a:ext>
            </a:extLst>
          </a:blip>
          <a:stretch>
            <a:fillRect/>
          </a:stretch>
        </p:blipFill>
        <p:spPr>
          <a:xfrm>
            <a:off x="4913205" y="2413804"/>
            <a:ext cx="2025379" cy="1852481"/>
          </a:xfrm>
          <a:prstGeom prst="rect">
            <a:avLst/>
          </a:prstGeom>
        </p:spPr>
      </p:pic>
      <p:sp>
        <p:nvSpPr>
          <p:cNvPr id="14" name="Rectangle 13">
            <a:extLst>
              <a:ext uri="{FF2B5EF4-FFF2-40B4-BE49-F238E27FC236}">
                <a16:creationId xmlns:a16="http://schemas.microsoft.com/office/drawing/2014/main" id="{2DB59763-1987-4965-B667-AF174B962937}"/>
              </a:ext>
            </a:extLst>
          </p:cNvPr>
          <p:cNvSpPr/>
          <p:nvPr/>
        </p:nvSpPr>
        <p:spPr>
          <a:xfrm>
            <a:off x="4976705" y="2019974"/>
            <a:ext cx="1919025" cy="219551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5" name="Picture 14">
            <a:extLst>
              <a:ext uri="{FF2B5EF4-FFF2-40B4-BE49-F238E27FC236}">
                <a16:creationId xmlns:a16="http://schemas.microsoft.com/office/drawing/2014/main" id="{451D5C24-98CE-4AC5-AEA3-BD8E351C851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5200" b="93733" l="10000" r="90000">
                        <a14:foregroundMark x1="51341" y1="5333" x2="42927" y2="6800"/>
                        <a14:foregroundMark x1="42927" y1="6800" x2="38293" y2="10000"/>
                        <a14:foregroundMark x1="47439" y1="5200" x2="58659" y2="7467"/>
                        <a14:foregroundMark x1="58659" y1="7467" x2="64878" y2="12133"/>
                        <a14:foregroundMark x1="64878" y1="12133" x2="65122" y2="12933"/>
                        <a14:foregroundMark x1="64390" y1="90400" x2="57317" y2="95467"/>
                        <a14:foregroundMark x1="57317" y1="95467" x2="49512" y2="91867"/>
                        <a14:foregroundMark x1="49512" y1="91867" x2="50000" y2="77067"/>
                        <a14:foregroundMark x1="45610" y1="94800" x2="37927" y2="93733"/>
                        <a14:foregroundMark x1="37927" y1="93733" x2="35732" y2="92000"/>
                      </a14:backgroundRemoval>
                    </a14:imgEffect>
                  </a14:imgLayer>
                </a14:imgProps>
              </a:ext>
            </a:extLst>
          </a:blip>
          <a:stretch>
            <a:fillRect/>
          </a:stretch>
        </p:blipFill>
        <p:spPr>
          <a:xfrm>
            <a:off x="8341835" y="2401778"/>
            <a:ext cx="2025379" cy="1852481"/>
          </a:xfrm>
          <a:prstGeom prst="rect">
            <a:avLst/>
          </a:prstGeom>
        </p:spPr>
      </p:pic>
      <p:sp>
        <p:nvSpPr>
          <p:cNvPr id="16" name="Rectangle 15">
            <a:extLst>
              <a:ext uri="{FF2B5EF4-FFF2-40B4-BE49-F238E27FC236}">
                <a16:creationId xmlns:a16="http://schemas.microsoft.com/office/drawing/2014/main" id="{7EF6E2DA-6622-47B7-ADEF-606D908A9787}"/>
              </a:ext>
            </a:extLst>
          </p:cNvPr>
          <p:cNvSpPr/>
          <p:nvPr/>
        </p:nvSpPr>
        <p:spPr>
          <a:xfrm>
            <a:off x="8405335" y="2007948"/>
            <a:ext cx="1919025" cy="219551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Text Placeholder 3">
            <a:extLst>
              <a:ext uri="{FF2B5EF4-FFF2-40B4-BE49-F238E27FC236}">
                <a16:creationId xmlns:a16="http://schemas.microsoft.com/office/drawing/2014/main" id="{D69D8E89-5038-42D5-AEDC-C18291A0F6A0}"/>
              </a:ext>
            </a:extLst>
          </p:cNvPr>
          <p:cNvSpPr txBox="1">
            <a:spLocks/>
          </p:cNvSpPr>
          <p:nvPr/>
        </p:nvSpPr>
        <p:spPr>
          <a:xfrm>
            <a:off x="707952" y="1556392"/>
            <a:ext cx="1762275" cy="72687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800" dirty="0"/>
              <a:t>stationary</a:t>
            </a:r>
          </a:p>
        </p:txBody>
      </p:sp>
      <p:sp>
        <p:nvSpPr>
          <p:cNvPr id="18" name="Text Placeholder 3">
            <a:extLst>
              <a:ext uri="{FF2B5EF4-FFF2-40B4-BE49-F238E27FC236}">
                <a16:creationId xmlns:a16="http://schemas.microsoft.com/office/drawing/2014/main" id="{DCE66227-3AFE-424A-8BC6-9692CE804077}"/>
              </a:ext>
            </a:extLst>
          </p:cNvPr>
          <p:cNvSpPr txBox="1">
            <a:spLocks/>
          </p:cNvSpPr>
          <p:nvPr/>
        </p:nvSpPr>
        <p:spPr>
          <a:xfrm>
            <a:off x="4358799" y="1440166"/>
            <a:ext cx="1762275" cy="72687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600" dirty="0"/>
              <a:t>accelerating</a:t>
            </a:r>
            <a:r>
              <a:rPr lang="en-AU" sz="1600" b="0" dirty="0"/>
              <a:t> </a:t>
            </a:r>
            <a:r>
              <a:rPr lang="en-AU" sz="1600" dirty="0"/>
              <a:t>up at 1.26 ms</a:t>
            </a:r>
            <a:r>
              <a:rPr lang="en-AU" sz="1600" baseline="30000" dirty="0"/>
              <a:t>-2</a:t>
            </a:r>
            <a:endParaRPr lang="en-AU" sz="1600" dirty="0"/>
          </a:p>
        </p:txBody>
      </p:sp>
      <p:sp>
        <p:nvSpPr>
          <p:cNvPr id="19" name="Text Placeholder 3">
            <a:extLst>
              <a:ext uri="{FF2B5EF4-FFF2-40B4-BE49-F238E27FC236}">
                <a16:creationId xmlns:a16="http://schemas.microsoft.com/office/drawing/2014/main" id="{D2C186BB-CEF1-47A5-B3A4-40EB957B40DA}"/>
              </a:ext>
            </a:extLst>
          </p:cNvPr>
          <p:cNvSpPr txBox="1">
            <a:spLocks/>
          </p:cNvSpPr>
          <p:nvPr/>
        </p:nvSpPr>
        <p:spPr>
          <a:xfrm>
            <a:off x="7867017" y="1452192"/>
            <a:ext cx="1919025" cy="72687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600" dirty="0"/>
              <a:t>accelerating down at 1.26 ms</a:t>
            </a:r>
            <a:r>
              <a:rPr lang="en-AU" sz="1600" baseline="30000" dirty="0"/>
              <a:t>-2</a:t>
            </a:r>
            <a:endParaRPr lang="en-AU" sz="1600" dirty="0"/>
          </a:p>
        </p:txBody>
      </p:sp>
      <p:sp>
        <p:nvSpPr>
          <p:cNvPr id="20" name="Text Placeholder 3">
            <a:extLst>
              <a:ext uri="{FF2B5EF4-FFF2-40B4-BE49-F238E27FC236}">
                <a16:creationId xmlns:a16="http://schemas.microsoft.com/office/drawing/2014/main" id="{3DF13CCB-9B38-41A8-B781-05E43FF9A45E}"/>
              </a:ext>
            </a:extLst>
          </p:cNvPr>
          <p:cNvSpPr txBox="1">
            <a:spLocks/>
          </p:cNvSpPr>
          <p:nvPr/>
        </p:nvSpPr>
        <p:spPr>
          <a:xfrm>
            <a:off x="98507" y="1046732"/>
            <a:ext cx="11607867" cy="40405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000" b="0" dirty="0"/>
              <a:t>Calculate the weight and apparent weight of this 80 kg person in an elevator</a:t>
            </a:r>
          </a:p>
        </p:txBody>
      </p:sp>
      <p:grpSp>
        <p:nvGrpSpPr>
          <p:cNvPr id="45" name="Group 44">
            <a:extLst>
              <a:ext uri="{FF2B5EF4-FFF2-40B4-BE49-F238E27FC236}">
                <a16:creationId xmlns:a16="http://schemas.microsoft.com/office/drawing/2014/main" id="{FF132296-B024-4D4C-BEC2-D25CDFCF80E1}"/>
              </a:ext>
            </a:extLst>
          </p:cNvPr>
          <p:cNvGrpSpPr/>
          <p:nvPr/>
        </p:nvGrpSpPr>
        <p:grpSpPr>
          <a:xfrm>
            <a:off x="1788066" y="4622800"/>
            <a:ext cx="1424323" cy="1143000"/>
            <a:chOff x="1788066" y="4622800"/>
            <a:chExt cx="1424323" cy="1143000"/>
          </a:xfrm>
        </p:grpSpPr>
        <p:cxnSp>
          <p:nvCxnSpPr>
            <p:cNvPr id="11" name="Straight Arrow Connector 10">
              <a:extLst>
                <a:ext uri="{FF2B5EF4-FFF2-40B4-BE49-F238E27FC236}">
                  <a16:creationId xmlns:a16="http://schemas.microsoft.com/office/drawing/2014/main" id="{0948FC9E-D1D1-4D17-93B5-0364BA707062}"/>
                </a:ext>
              </a:extLst>
            </p:cNvPr>
            <p:cNvCxnSpPr/>
            <p:nvPr/>
          </p:nvCxnSpPr>
          <p:spPr>
            <a:xfrm flipV="1">
              <a:off x="2284675" y="4622800"/>
              <a:ext cx="0" cy="114300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4653F77-6220-4F36-AC20-FAA698D15D53}"/>
                </a:ext>
              </a:extLst>
            </p:cNvPr>
            <p:cNvCxnSpPr/>
            <p:nvPr/>
          </p:nvCxnSpPr>
          <p:spPr>
            <a:xfrm flipV="1">
              <a:off x="2614875" y="4622800"/>
              <a:ext cx="0" cy="1143000"/>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Text Placeholder 3">
              <a:extLst>
                <a:ext uri="{FF2B5EF4-FFF2-40B4-BE49-F238E27FC236}">
                  <a16:creationId xmlns:a16="http://schemas.microsoft.com/office/drawing/2014/main" id="{B43A0668-176B-4158-BC0B-3F0093FB718C}"/>
                </a:ext>
              </a:extLst>
            </p:cNvPr>
            <p:cNvSpPr txBox="1">
              <a:spLocks/>
            </p:cNvSpPr>
            <p:nvPr/>
          </p:nvSpPr>
          <p:spPr>
            <a:xfrm>
              <a:off x="1788066" y="4991866"/>
              <a:ext cx="484523" cy="38594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800" dirty="0" err="1"/>
                <a:t>F</a:t>
              </a:r>
              <a:r>
                <a:rPr lang="en-AU" sz="1800" baseline="-25000" dirty="0" err="1"/>
                <a:t>g</a:t>
              </a:r>
              <a:endParaRPr lang="en-AU" sz="1800" dirty="0"/>
            </a:p>
          </p:txBody>
        </p:sp>
        <p:sp>
          <p:nvSpPr>
            <p:cNvPr id="25" name="Text Placeholder 3">
              <a:extLst>
                <a:ext uri="{FF2B5EF4-FFF2-40B4-BE49-F238E27FC236}">
                  <a16:creationId xmlns:a16="http://schemas.microsoft.com/office/drawing/2014/main" id="{76FA5F7E-4DBB-45F6-846F-CDB63EC803A0}"/>
                </a:ext>
              </a:extLst>
            </p:cNvPr>
            <p:cNvSpPr txBox="1">
              <a:spLocks/>
            </p:cNvSpPr>
            <p:nvPr/>
          </p:nvSpPr>
          <p:spPr>
            <a:xfrm>
              <a:off x="2727866" y="4992632"/>
              <a:ext cx="484523" cy="38594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800" dirty="0"/>
                <a:t>F</a:t>
              </a:r>
              <a:r>
                <a:rPr lang="en-AU" sz="1800" baseline="-25000" dirty="0"/>
                <a:t>N</a:t>
              </a:r>
              <a:endParaRPr lang="en-AU" sz="1800" dirty="0"/>
            </a:p>
          </p:txBody>
        </p:sp>
      </p:grpSp>
      <p:grpSp>
        <p:nvGrpSpPr>
          <p:cNvPr id="46" name="Group 45">
            <a:extLst>
              <a:ext uri="{FF2B5EF4-FFF2-40B4-BE49-F238E27FC236}">
                <a16:creationId xmlns:a16="http://schemas.microsoft.com/office/drawing/2014/main" id="{3FEB024C-8DB0-4226-AD2E-14E922CA8CF4}"/>
              </a:ext>
            </a:extLst>
          </p:cNvPr>
          <p:cNvGrpSpPr/>
          <p:nvPr/>
        </p:nvGrpSpPr>
        <p:grpSpPr>
          <a:xfrm>
            <a:off x="5236167" y="4228333"/>
            <a:ext cx="1790726" cy="1645542"/>
            <a:chOff x="5236167" y="4228333"/>
            <a:chExt cx="1790726" cy="1645542"/>
          </a:xfrm>
        </p:grpSpPr>
        <p:cxnSp>
          <p:nvCxnSpPr>
            <p:cNvPr id="31" name="Straight Arrow Connector 30">
              <a:extLst>
                <a:ext uri="{FF2B5EF4-FFF2-40B4-BE49-F238E27FC236}">
                  <a16:creationId xmlns:a16="http://schemas.microsoft.com/office/drawing/2014/main" id="{3529516B-92CA-4D99-BF95-DD7ED7B50ABC}"/>
                </a:ext>
              </a:extLst>
            </p:cNvPr>
            <p:cNvCxnSpPr/>
            <p:nvPr/>
          </p:nvCxnSpPr>
          <p:spPr>
            <a:xfrm flipV="1">
              <a:off x="5737852" y="4730875"/>
              <a:ext cx="0" cy="114300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02A301D-7C50-4CD5-A852-C50FF45D777F}"/>
                </a:ext>
              </a:extLst>
            </p:cNvPr>
            <p:cNvCxnSpPr>
              <a:cxnSpLocks/>
            </p:cNvCxnSpPr>
            <p:nvPr/>
          </p:nvCxnSpPr>
          <p:spPr>
            <a:xfrm flipH="1" flipV="1">
              <a:off x="6009788" y="4228333"/>
              <a:ext cx="0" cy="1609714"/>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 name="Text Placeholder 3">
              <a:extLst>
                <a:ext uri="{FF2B5EF4-FFF2-40B4-BE49-F238E27FC236}">
                  <a16:creationId xmlns:a16="http://schemas.microsoft.com/office/drawing/2014/main" id="{743F840B-4DDC-4362-A6D8-F5E8F6990662}"/>
                </a:ext>
              </a:extLst>
            </p:cNvPr>
            <p:cNvSpPr txBox="1">
              <a:spLocks/>
            </p:cNvSpPr>
            <p:nvPr/>
          </p:nvSpPr>
          <p:spPr>
            <a:xfrm>
              <a:off x="5236167" y="5099941"/>
              <a:ext cx="484523" cy="38594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800" dirty="0" err="1"/>
                <a:t>F</a:t>
              </a:r>
              <a:r>
                <a:rPr lang="en-AU" sz="1800" baseline="-25000" dirty="0" err="1"/>
                <a:t>g</a:t>
              </a:r>
              <a:endParaRPr lang="en-AU" sz="1800" dirty="0"/>
            </a:p>
          </p:txBody>
        </p:sp>
        <p:sp>
          <p:nvSpPr>
            <p:cNvPr id="34" name="Text Placeholder 3">
              <a:extLst>
                <a:ext uri="{FF2B5EF4-FFF2-40B4-BE49-F238E27FC236}">
                  <a16:creationId xmlns:a16="http://schemas.microsoft.com/office/drawing/2014/main" id="{17BB705D-DAB0-44C6-A576-348D09FE6945}"/>
                </a:ext>
              </a:extLst>
            </p:cNvPr>
            <p:cNvSpPr txBox="1">
              <a:spLocks/>
            </p:cNvSpPr>
            <p:nvPr/>
          </p:nvSpPr>
          <p:spPr>
            <a:xfrm>
              <a:off x="6075471" y="5198204"/>
              <a:ext cx="484523" cy="38594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800" dirty="0"/>
                <a:t>F</a:t>
              </a:r>
              <a:r>
                <a:rPr lang="en-AU" sz="1800" baseline="-25000" dirty="0"/>
                <a:t>N</a:t>
              </a:r>
              <a:endParaRPr lang="en-AU" sz="1800" dirty="0"/>
            </a:p>
          </p:txBody>
        </p:sp>
        <p:cxnSp>
          <p:nvCxnSpPr>
            <p:cNvPr id="35" name="Straight Arrow Connector 34">
              <a:extLst>
                <a:ext uri="{FF2B5EF4-FFF2-40B4-BE49-F238E27FC236}">
                  <a16:creationId xmlns:a16="http://schemas.microsoft.com/office/drawing/2014/main" id="{7B64409D-AAB6-4AB4-9B5D-86BCFDCDEE76}"/>
                </a:ext>
              </a:extLst>
            </p:cNvPr>
            <p:cNvCxnSpPr>
              <a:cxnSpLocks/>
            </p:cNvCxnSpPr>
            <p:nvPr/>
          </p:nvCxnSpPr>
          <p:spPr>
            <a:xfrm flipV="1">
              <a:off x="6317733" y="4228333"/>
              <a:ext cx="0" cy="445267"/>
            </a:xfrm>
            <a:prstGeom prst="straightConnector1">
              <a:avLst/>
            </a:prstGeom>
            <a:ln w="38100">
              <a:solidFill>
                <a:srgbClr val="159B4B"/>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8" name="Text Placeholder 3">
              <a:extLst>
                <a:ext uri="{FF2B5EF4-FFF2-40B4-BE49-F238E27FC236}">
                  <a16:creationId xmlns:a16="http://schemas.microsoft.com/office/drawing/2014/main" id="{F13F1AD0-311E-4C68-A6DD-099EF2E1BF90}"/>
                </a:ext>
              </a:extLst>
            </p:cNvPr>
            <p:cNvSpPr txBox="1">
              <a:spLocks/>
            </p:cNvSpPr>
            <p:nvPr/>
          </p:nvSpPr>
          <p:spPr>
            <a:xfrm>
              <a:off x="6411206" y="4262518"/>
              <a:ext cx="615687" cy="52074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800" dirty="0" err="1"/>
                <a:t>F</a:t>
              </a:r>
              <a:r>
                <a:rPr lang="en-AU" sz="1800" baseline="-25000" dirty="0" err="1"/>
                <a:t>net</a:t>
              </a:r>
              <a:endParaRPr lang="en-AU" sz="1800" dirty="0"/>
            </a:p>
          </p:txBody>
        </p:sp>
      </p:grpSp>
      <p:grpSp>
        <p:nvGrpSpPr>
          <p:cNvPr id="47" name="Group 46">
            <a:extLst>
              <a:ext uri="{FF2B5EF4-FFF2-40B4-BE49-F238E27FC236}">
                <a16:creationId xmlns:a16="http://schemas.microsoft.com/office/drawing/2014/main" id="{64C3DD77-FCB1-459D-B6A5-4C7924ED575E}"/>
              </a:ext>
            </a:extLst>
          </p:cNvPr>
          <p:cNvGrpSpPr/>
          <p:nvPr/>
        </p:nvGrpSpPr>
        <p:grpSpPr>
          <a:xfrm>
            <a:off x="8663275" y="4664094"/>
            <a:ext cx="1826632" cy="1157395"/>
            <a:chOff x="8663275" y="4664094"/>
            <a:chExt cx="1826632" cy="1157395"/>
          </a:xfrm>
        </p:grpSpPr>
        <p:cxnSp>
          <p:nvCxnSpPr>
            <p:cNvPr id="39" name="Straight Arrow Connector 38">
              <a:extLst>
                <a:ext uri="{FF2B5EF4-FFF2-40B4-BE49-F238E27FC236}">
                  <a16:creationId xmlns:a16="http://schemas.microsoft.com/office/drawing/2014/main" id="{784B8144-7EAB-4725-B0A5-B6ACEA04353D}"/>
                </a:ext>
              </a:extLst>
            </p:cNvPr>
            <p:cNvCxnSpPr/>
            <p:nvPr/>
          </p:nvCxnSpPr>
          <p:spPr>
            <a:xfrm flipV="1">
              <a:off x="9164960" y="4678489"/>
              <a:ext cx="0" cy="114300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6A31423-DFC9-4D13-BBB8-6340E6409AE8}"/>
                </a:ext>
              </a:extLst>
            </p:cNvPr>
            <p:cNvCxnSpPr>
              <a:cxnSpLocks/>
            </p:cNvCxnSpPr>
            <p:nvPr/>
          </p:nvCxnSpPr>
          <p:spPr>
            <a:xfrm flipV="1">
              <a:off x="9466359" y="5099941"/>
              <a:ext cx="0" cy="653796"/>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Text Placeholder 3">
              <a:extLst>
                <a:ext uri="{FF2B5EF4-FFF2-40B4-BE49-F238E27FC236}">
                  <a16:creationId xmlns:a16="http://schemas.microsoft.com/office/drawing/2014/main" id="{4794F94E-E245-4354-A331-164F9597E0E5}"/>
                </a:ext>
              </a:extLst>
            </p:cNvPr>
            <p:cNvSpPr txBox="1">
              <a:spLocks/>
            </p:cNvSpPr>
            <p:nvPr/>
          </p:nvSpPr>
          <p:spPr>
            <a:xfrm>
              <a:off x="8663275" y="5047555"/>
              <a:ext cx="484523" cy="38594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800" dirty="0" err="1"/>
                <a:t>F</a:t>
              </a:r>
              <a:r>
                <a:rPr lang="en-AU" sz="1800" baseline="-25000" dirty="0" err="1"/>
                <a:t>g</a:t>
              </a:r>
              <a:endParaRPr lang="en-AU" sz="1800" dirty="0"/>
            </a:p>
          </p:txBody>
        </p:sp>
        <p:sp>
          <p:nvSpPr>
            <p:cNvPr id="42" name="Text Placeholder 3">
              <a:extLst>
                <a:ext uri="{FF2B5EF4-FFF2-40B4-BE49-F238E27FC236}">
                  <a16:creationId xmlns:a16="http://schemas.microsoft.com/office/drawing/2014/main" id="{93A96307-F09C-49CF-8F8A-2BD8657403CA}"/>
                </a:ext>
              </a:extLst>
            </p:cNvPr>
            <p:cNvSpPr txBox="1">
              <a:spLocks/>
            </p:cNvSpPr>
            <p:nvPr/>
          </p:nvSpPr>
          <p:spPr>
            <a:xfrm>
              <a:off x="9577125" y="5422131"/>
              <a:ext cx="484523" cy="38594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800" dirty="0"/>
                <a:t>F</a:t>
              </a:r>
              <a:r>
                <a:rPr lang="en-AU" sz="1800" baseline="-25000" dirty="0"/>
                <a:t>N</a:t>
              </a:r>
              <a:endParaRPr lang="en-AU" sz="1800" dirty="0"/>
            </a:p>
          </p:txBody>
        </p:sp>
        <p:cxnSp>
          <p:nvCxnSpPr>
            <p:cNvPr id="43" name="Straight Arrow Connector 42">
              <a:extLst>
                <a:ext uri="{FF2B5EF4-FFF2-40B4-BE49-F238E27FC236}">
                  <a16:creationId xmlns:a16="http://schemas.microsoft.com/office/drawing/2014/main" id="{80A5FE7A-94C1-4EF5-8F5B-214BA1BF45BE}"/>
                </a:ext>
              </a:extLst>
            </p:cNvPr>
            <p:cNvCxnSpPr>
              <a:cxnSpLocks/>
            </p:cNvCxnSpPr>
            <p:nvPr/>
          </p:nvCxnSpPr>
          <p:spPr>
            <a:xfrm flipV="1">
              <a:off x="9744840" y="4678489"/>
              <a:ext cx="0" cy="445267"/>
            </a:xfrm>
            <a:prstGeom prst="straightConnector1">
              <a:avLst/>
            </a:prstGeom>
            <a:ln w="38100">
              <a:solidFill>
                <a:srgbClr val="159B4B"/>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4" name="Text Placeholder 3">
              <a:extLst>
                <a:ext uri="{FF2B5EF4-FFF2-40B4-BE49-F238E27FC236}">
                  <a16:creationId xmlns:a16="http://schemas.microsoft.com/office/drawing/2014/main" id="{A45158DB-835F-4506-9CD0-62529D9388E4}"/>
                </a:ext>
              </a:extLst>
            </p:cNvPr>
            <p:cNvSpPr txBox="1">
              <a:spLocks/>
            </p:cNvSpPr>
            <p:nvPr/>
          </p:nvSpPr>
          <p:spPr>
            <a:xfrm>
              <a:off x="9874220" y="4664094"/>
              <a:ext cx="615687" cy="52074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800" dirty="0" err="1"/>
                <a:t>F</a:t>
              </a:r>
              <a:r>
                <a:rPr lang="en-AU" sz="1800" baseline="-25000" dirty="0" err="1"/>
                <a:t>net</a:t>
              </a:r>
              <a:endParaRPr lang="en-AU" sz="1800" dirty="0"/>
            </a:p>
          </p:txBody>
        </p:sp>
      </p:grpSp>
      <p:sp>
        <p:nvSpPr>
          <p:cNvPr id="49" name="Text Placeholder 3">
            <a:extLst>
              <a:ext uri="{FF2B5EF4-FFF2-40B4-BE49-F238E27FC236}">
                <a16:creationId xmlns:a16="http://schemas.microsoft.com/office/drawing/2014/main" id="{5FC79B0D-3727-4D8B-9FDC-67C762EBE78E}"/>
              </a:ext>
            </a:extLst>
          </p:cNvPr>
          <p:cNvSpPr txBox="1">
            <a:spLocks/>
          </p:cNvSpPr>
          <p:nvPr/>
        </p:nvSpPr>
        <p:spPr>
          <a:xfrm>
            <a:off x="45911" y="5863933"/>
            <a:ext cx="10850689" cy="40405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000" dirty="0"/>
              <a:t>Weight force is constant. Net force is given by the acceleration.</a:t>
            </a:r>
          </a:p>
          <a:p>
            <a:r>
              <a:rPr lang="en-AU" sz="2000" dirty="0"/>
              <a:t>Normal force changes to match. Always check answer with your diagram.</a:t>
            </a:r>
          </a:p>
        </p:txBody>
      </p:sp>
    </p:spTree>
    <p:extLst>
      <p:ext uri="{BB962C8B-B14F-4D97-AF65-F5344CB8AC3E}">
        <p14:creationId xmlns:p14="http://schemas.microsoft.com/office/powerpoint/2010/main" val="2059232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calculate weight and apparent weight</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9" name="Text Placeholder 3">
            <a:extLst>
              <a:ext uri="{FF2B5EF4-FFF2-40B4-BE49-F238E27FC236}">
                <a16:creationId xmlns:a16="http://schemas.microsoft.com/office/drawing/2014/main" id="{D4F38006-A15E-4261-9638-574F8C71BDD8}"/>
              </a:ext>
            </a:extLst>
          </p:cNvPr>
          <p:cNvSpPr txBox="1">
            <a:spLocks/>
          </p:cNvSpPr>
          <p:nvPr/>
        </p:nvSpPr>
        <p:spPr>
          <a:xfrm>
            <a:off x="98508" y="1046732"/>
            <a:ext cx="1160786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AU" sz="3200" dirty="0"/>
              <a:t>Apparent weightlessness </a:t>
            </a:r>
            <a:r>
              <a:rPr lang="en-AU" sz="3200" b="0" dirty="0"/>
              <a:t>is equivalent to not experiencing a normal reaction force.</a:t>
            </a:r>
          </a:p>
          <a:p>
            <a:pPr marL="457200" indent="-457200">
              <a:buFont typeface="Arial" panose="020B0604020202020204" pitchFamily="34" charset="0"/>
              <a:buChar char="•"/>
            </a:pPr>
            <a:endParaRPr lang="en-AU" sz="3200" b="0" dirty="0"/>
          </a:p>
          <a:p>
            <a:pPr marL="457200" indent="-457200">
              <a:buFont typeface="Arial" panose="020B0604020202020204" pitchFamily="34" charset="0"/>
              <a:buChar char="•"/>
            </a:pPr>
            <a:r>
              <a:rPr lang="en-AU" sz="3200" b="0" dirty="0"/>
              <a:t>Any object in free-fall (whether falling off a table, jumping from a plane or orbiting the Earth) will experience apparent weightlessness.</a:t>
            </a:r>
          </a:p>
          <a:p>
            <a:endParaRPr lang="en-AU" sz="3200" b="0" dirty="0"/>
          </a:p>
          <a:p>
            <a:pPr marL="457200" indent="-457200">
              <a:buFont typeface="Arial" panose="020B0604020202020204" pitchFamily="34" charset="0"/>
              <a:buChar char="•"/>
            </a:pPr>
            <a:r>
              <a:rPr lang="en-AU" sz="3200" b="0" dirty="0"/>
              <a:t>This can be different in certain situations such as:</a:t>
            </a:r>
          </a:p>
          <a:p>
            <a:pPr marL="1143000" lvl="1" indent="-457200"/>
            <a:r>
              <a:rPr lang="en-AU" sz="2800" dirty="0"/>
              <a:t>Accelerating upwards or downwards</a:t>
            </a:r>
          </a:p>
          <a:p>
            <a:pPr marL="1143000" lvl="1" indent="-457200"/>
            <a:r>
              <a:rPr lang="en-AU" sz="2800" b="0" dirty="0"/>
              <a:t>Undergoing vertical circular motion (which is also technically accelerating upwards or downwards)</a:t>
            </a:r>
          </a:p>
        </p:txBody>
      </p:sp>
    </p:spTree>
    <p:extLst>
      <p:ext uri="{BB962C8B-B14F-4D97-AF65-F5344CB8AC3E}">
        <p14:creationId xmlns:p14="http://schemas.microsoft.com/office/powerpoint/2010/main" val="4158984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Apparent Weight</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Reminder</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5" name="Picture 4">
            <a:extLst>
              <a:ext uri="{FF2B5EF4-FFF2-40B4-BE49-F238E27FC236}">
                <a16:creationId xmlns:a16="http://schemas.microsoft.com/office/drawing/2014/main" id="{14E6567B-64C2-016C-47ED-BEAC02115A92}"/>
              </a:ext>
            </a:extLst>
          </p:cNvPr>
          <p:cNvPicPr>
            <a:picLocks noChangeAspect="1"/>
          </p:cNvPicPr>
          <p:nvPr/>
        </p:nvPicPr>
        <p:blipFill>
          <a:blip r:embed="rId3"/>
          <a:stretch>
            <a:fillRect/>
          </a:stretch>
        </p:blipFill>
        <p:spPr>
          <a:xfrm>
            <a:off x="4012076" y="1132343"/>
            <a:ext cx="2886075" cy="3495675"/>
          </a:xfrm>
          <a:prstGeom prst="rect">
            <a:avLst/>
          </a:prstGeom>
        </p:spPr>
      </p:pic>
      <p:pic>
        <p:nvPicPr>
          <p:cNvPr id="9" name="Picture 8">
            <a:extLst>
              <a:ext uri="{FF2B5EF4-FFF2-40B4-BE49-F238E27FC236}">
                <a16:creationId xmlns:a16="http://schemas.microsoft.com/office/drawing/2014/main" id="{23F2773D-71F4-C8E4-4129-9015F818DE06}"/>
              </a:ext>
            </a:extLst>
          </p:cNvPr>
          <p:cNvPicPr>
            <a:picLocks noChangeAspect="1"/>
          </p:cNvPicPr>
          <p:nvPr/>
        </p:nvPicPr>
        <p:blipFill>
          <a:blip r:embed="rId4"/>
          <a:stretch>
            <a:fillRect/>
          </a:stretch>
        </p:blipFill>
        <p:spPr>
          <a:xfrm>
            <a:off x="6876286" y="1129788"/>
            <a:ext cx="2638425" cy="3829050"/>
          </a:xfrm>
          <a:prstGeom prst="rect">
            <a:avLst/>
          </a:prstGeom>
        </p:spPr>
      </p:pic>
      <p:pic>
        <p:nvPicPr>
          <p:cNvPr id="12" name="Picture 11">
            <a:extLst>
              <a:ext uri="{FF2B5EF4-FFF2-40B4-BE49-F238E27FC236}">
                <a16:creationId xmlns:a16="http://schemas.microsoft.com/office/drawing/2014/main" id="{994591D0-83D9-DAF4-0A26-C110754E22C2}"/>
              </a:ext>
            </a:extLst>
          </p:cNvPr>
          <p:cNvPicPr>
            <a:picLocks noChangeAspect="1"/>
          </p:cNvPicPr>
          <p:nvPr/>
        </p:nvPicPr>
        <p:blipFill>
          <a:blip r:embed="rId5"/>
          <a:stretch>
            <a:fillRect/>
          </a:stretch>
        </p:blipFill>
        <p:spPr>
          <a:xfrm>
            <a:off x="9441101" y="1137366"/>
            <a:ext cx="2667000" cy="4105275"/>
          </a:xfrm>
          <a:prstGeom prst="rect">
            <a:avLst/>
          </a:prstGeom>
        </p:spPr>
      </p:pic>
      <p:pic>
        <p:nvPicPr>
          <p:cNvPr id="14" name="Picture 13">
            <a:extLst>
              <a:ext uri="{FF2B5EF4-FFF2-40B4-BE49-F238E27FC236}">
                <a16:creationId xmlns:a16="http://schemas.microsoft.com/office/drawing/2014/main" id="{54A1B6CC-8183-AF73-CBFA-B653805AFF2B}"/>
              </a:ext>
            </a:extLst>
          </p:cNvPr>
          <p:cNvPicPr>
            <a:picLocks noChangeAspect="1"/>
          </p:cNvPicPr>
          <p:nvPr/>
        </p:nvPicPr>
        <p:blipFill>
          <a:blip r:embed="rId6"/>
          <a:stretch>
            <a:fillRect/>
          </a:stretch>
        </p:blipFill>
        <p:spPr>
          <a:xfrm>
            <a:off x="105121" y="1000049"/>
            <a:ext cx="4491772" cy="1780456"/>
          </a:xfrm>
          <a:prstGeom prst="rect">
            <a:avLst/>
          </a:prstGeom>
        </p:spPr>
      </p:pic>
      <p:pic>
        <p:nvPicPr>
          <p:cNvPr id="16" name="Picture 15">
            <a:extLst>
              <a:ext uri="{FF2B5EF4-FFF2-40B4-BE49-F238E27FC236}">
                <a16:creationId xmlns:a16="http://schemas.microsoft.com/office/drawing/2014/main" id="{5F285BF9-0971-D5E8-ECB8-81A79B88EAAC}"/>
              </a:ext>
            </a:extLst>
          </p:cNvPr>
          <p:cNvPicPr>
            <a:picLocks noChangeAspect="1"/>
          </p:cNvPicPr>
          <p:nvPr/>
        </p:nvPicPr>
        <p:blipFill>
          <a:blip r:embed="rId7"/>
          <a:stretch>
            <a:fillRect/>
          </a:stretch>
        </p:blipFill>
        <p:spPr>
          <a:xfrm>
            <a:off x="136012" y="2759841"/>
            <a:ext cx="4375969" cy="2148071"/>
          </a:xfrm>
          <a:prstGeom prst="rect">
            <a:avLst/>
          </a:prstGeom>
        </p:spPr>
      </p:pic>
    </p:spTree>
    <p:extLst>
      <p:ext uri="{BB962C8B-B14F-4D97-AF65-F5344CB8AC3E}">
        <p14:creationId xmlns:p14="http://schemas.microsoft.com/office/powerpoint/2010/main" val="890103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Apparent Weightlessness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6" name="Picture 5">
            <a:extLst>
              <a:ext uri="{FF2B5EF4-FFF2-40B4-BE49-F238E27FC236}">
                <a16:creationId xmlns:a16="http://schemas.microsoft.com/office/drawing/2014/main" id="{E41E51DC-BC08-0901-B862-CDEB57071B7E}"/>
              </a:ext>
            </a:extLst>
          </p:cNvPr>
          <p:cNvPicPr>
            <a:picLocks noChangeAspect="1"/>
          </p:cNvPicPr>
          <p:nvPr/>
        </p:nvPicPr>
        <p:blipFill>
          <a:blip r:embed="rId3"/>
          <a:stretch>
            <a:fillRect/>
          </a:stretch>
        </p:blipFill>
        <p:spPr>
          <a:xfrm>
            <a:off x="295275" y="977038"/>
            <a:ext cx="4441759" cy="5665808"/>
          </a:xfrm>
          <a:prstGeom prst="rect">
            <a:avLst/>
          </a:prstGeom>
        </p:spPr>
      </p:pic>
      <p:pic>
        <p:nvPicPr>
          <p:cNvPr id="8" name="Picture 7">
            <a:extLst>
              <a:ext uri="{FF2B5EF4-FFF2-40B4-BE49-F238E27FC236}">
                <a16:creationId xmlns:a16="http://schemas.microsoft.com/office/drawing/2014/main" id="{28EE96A0-F2ED-8067-018E-A03E12077362}"/>
              </a:ext>
            </a:extLst>
          </p:cNvPr>
          <p:cNvPicPr>
            <a:picLocks noChangeAspect="1"/>
          </p:cNvPicPr>
          <p:nvPr/>
        </p:nvPicPr>
        <p:blipFill>
          <a:blip r:embed="rId4"/>
          <a:stretch>
            <a:fillRect/>
          </a:stretch>
        </p:blipFill>
        <p:spPr>
          <a:xfrm>
            <a:off x="4862638" y="840554"/>
            <a:ext cx="4714750" cy="3156220"/>
          </a:xfrm>
          <a:prstGeom prst="rect">
            <a:avLst/>
          </a:prstGeom>
        </p:spPr>
      </p:pic>
      <p:pic>
        <p:nvPicPr>
          <p:cNvPr id="11" name="Picture 10">
            <a:extLst>
              <a:ext uri="{FF2B5EF4-FFF2-40B4-BE49-F238E27FC236}">
                <a16:creationId xmlns:a16="http://schemas.microsoft.com/office/drawing/2014/main" id="{0FE0A116-5176-D27D-9F74-9D69EEA94CFD}"/>
              </a:ext>
            </a:extLst>
          </p:cNvPr>
          <p:cNvPicPr>
            <a:picLocks noChangeAspect="1"/>
          </p:cNvPicPr>
          <p:nvPr/>
        </p:nvPicPr>
        <p:blipFill>
          <a:blip r:embed="rId5"/>
          <a:stretch>
            <a:fillRect/>
          </a:stretch>
        </p:blipFill>
        <p:spPr>
          <a:xfrm>
            <a:off x="9538306" y="3701779"/>
            <a:ext cx="2653694" cy="3156221"/>
          </a:xfrm>
          <a:prstGeom prst="rect">
            <a:avLst/>
          </a:prstGeom>
        </p:spPr>
      </p:pic>
    </p:spTree>
    <p:extLst>
      <p:ext uri="{BB962C8B-B14F-4D97-AF65-F5344CB8AC3E}">
        <p14:creationId xmlns:p14="http://schemas.microsoft.com/office/powerpoint/2010/main" val="1170630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Weightlessness and Work</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600" b="0" dirty="0">
                <a:solidFill>
                  <a:srgbClr val="000303"/>
                </a:solidFill>
                <a:latin typeface="+mj-lt"/>
              </a:rPr>
              <a:t>I</a:t>
            </a:r>
            <a:r>
              <a:rPr lang="en-US" sz="1600" b="0" i="0" dirty="0">
                <a:solidFill>
                  <a:srgbClr val="000303"/>
                </a:solidFill>
                <a:effectLst/>
                <a:latin typeface="+mj-lt"/>
              </a:rPr>
              <a:t> can calculate weight and apparent weight in different situations:</a:t>
            </a:r>
          </a:p>
          <a:p>
            <a:pPr algn="l"/>
            <a:r>
              <a:rPr lang="en-US" sz="1600" b="0" dirty="0">
                <a:solidFill>
                  <a:srgbClr val="000303"/>
                </a:solidFill>
                <a:latin typeface="+mj-lt"/>
              </a:rPr>
              <a:t> - other planetary bodies</a:t>
            </a:r>
          </a:p>
          <a:p>
            <a:pPr algn="l"/>
            <a:r>
              <a:rPr lang="en-US" sz="1600" b="0" i="0" dirty="0">
                <a:solidFill>
                  <a:srgbClr val="000303"/>
                </a:solidFill>
                <a:effectLst/>
                <a:latin typeface="+mj-lt"/>
              </a:rPr>
              <a:t> - in </a:t>
            </a:r>
            <a:r>
              <a:rPr lang="en-US" sz="1600" b="0" dirty="0">
                <a:solidFill>
                  <a:srgbClr val="000303"/>
                </a:solidFill>
                <a:latin typeface="+mj-lt"/>
              </a:rPr>
              <a:t>moving elevators</a:t>
            </a:r>
          </a:p>
          <a:p>
            <a:pPr algn="l"/>
            <a:r>
              <a:rPr lang="en-US" sz="1600" b="0" i="0" dirty="0">
                <a:solidFill>
                  <a:srgbClr val="000303"/>
                </a:solidFill>
                <a:effectLst/>
                <a:latin typeface="+mj-lt"/>
              </a:rPr>
              <a:t> - during circular motion</a:t>
            </a:r>
          </a:p>
          <a:p>
            <a:pPr algn="l"/>
            <a:r>
              <a:rPr lang="en-US" sz="1600" dirty="0">
                <a:solidFill>
                  <a:srgbClr val="000303"/>
                </a:solidFill>
                <a:latin typeface="+mj-lt"/>
              </a:rPr>
              <a:t>I can calculate work done in gravitational fields.</a:t>
            </a:r>
            <a:endParaRPr lang="en-US" sz="1600" i="0" dirty="0">
              <a:solidFill>
                <a:srgbClr val="000303"/>
              </a:solidFill>
              <a:effectLst/>
              <a:latin typeface="+mj-lt"/>
            </a:endParaRPr>
          </a:p>
        </p:txBody>
      </p:sp>
    </p:spTree>
    <p:extLst>
      <p:ext uri="{BB962C8B-B14F-4D97-AF65-F5344CB8AC3E}">
        <p14:creationId xmlns:p14="http://schemas.microsoft.com/office/powerpoint/2010/main" val="165536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calculate work in a gravitational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9" name="Text Placeholder 3">
            <a:extLst>
              <a:ext uri="{FF2B5EF4-FFF2-40B4-BE49-F238E27FC236}">
                <a16:creationId xmlns:a16="http://schemas.microsoft.com/office/drawing/2014/main" id="{D4F38006-A15E-4261-9638-574F8C71BDD8}"/>
              </a:ext>
            </a:extLst>
          </p:cNvPr>
          <p:cNvSpPr txBox="1">
            <a:spLocks/>
          </p:cNvSpPr>
          <p:nvPr/>
        </p:nvSpPr>
        <p:spPr>
          <a:xfrm>
            <a:off x="214867" y="5440942"/>
            <a:ext cx="1160786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AU" sz="3200" b="0" dirty="0"/>
              <a:t>The work done by a gravitational field is equal to the change in its gravitational potential energy.</a:t>
            </a:r>
          </a:p>
        </p:txBody>
      </p:sp>
      <p:grpSp>
        <p:nvGrpSpPr>
          <p:cNvPr id="15" name="Group 14">
            <a:extLst>
              <a:ext uri="{FF2B5EF4-FFF2-40B4-BE49-F238E27FC236}">
                <a16:creationId xmlns:a16="http://schemas.microsoft.com/office/drawing/2014/main" id="{4CBFDCB3-7962-42BB-82E5-871FFA671037}"/>
              </a:ext>
            </a:extLst>
          </p:cNvPr>
          <p:cNvGrpSpPr/>
          <p:nvPr/>
        </p:nvGrpSpPr>
        <p:grpSpPr>
          <a:xfrm>
            <a:off x="295275" y="2050120"/>
            <a:ext cx="8303597" cy="2870916"/>
            <a:chOff x="856343" y="1146438"/>
            <a:chExt cx="10116457" cy="3497701"/>
          </a:xfrm>
        </p:grpSpPr>
        <p:cxnSp>
          <p:nvCxnSpPr>
            <p:cNvPr id="8" name="Straight Connector 7">
              <a:extLst>
                <a:ext uri="{FF2B5EF4-FFF2-40B4-BE49-F238E27FC236}">
                  <a16:creationId xmlns:a16="http://schemas.microsoft.com/office/drawing/2014/main" id="{566A94E5-39FC-48D8-97D2-BAE0B24956E0}"/>
                </a:ext>
              </a:extLst>
            </p:cNvPr>
            <p:cNvCxnSpPr/>
            <p:nvPr/>
          </p:nvCxnSpPr>
          <p:spPr>
            <a:xfrm>
              <a:off x="856343" y="3599543"/>
              <a:ext cx="1011645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D2DBEE8E-9BDE-4E00-8AC3-C64D94A0AE4F}"/>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8628" b="77650" l="10000" r="90000">
                          <a14:foregroundMark x1="52174" y1="25126" x2="35573" y2="27136"/>
                          <a14:foregroundMark x1="35178" y1="28643" x2="12648" y2="32663"/>
                          <a14:foregroundMark x1="12648" y1="32663" x2="39130" y2="53266"/>
                          <a14:foregroundMark x1="39130" y1="53266" x2="69960" y2="59296"/>
                          <a14:foregroundMark x1="69960" y1="59296" x2="77075" y2="58291"/>
                          <a14:foregroundMark x1="13834" y1="37688" x2="13043" y2="35176"/>
                          <a14:foregroundMark x1="87352" y1="46734" x2="58103" y2="24121"/>
                        </a14:backgroundRemoval>
                      </a14:imgEffect>
                    </a14:imgLayer>
                  </a14:imgProps>
                </a:ext>
              </a:extLst>
            </a:blip>
            <a:srcRect b="13722"/>
            <a:stretch/>
          </p:blipFill>
          <p:spPr>
            <a:xfrm>
              <a:off x="1937819" y="3008764"/>
              <a:ext cx="2409825" cy="1635375"/>
            </a:xfrm>
            <a:prstGeom prst="rect">
              <a:avLst/>
            </a:prstGeom>
          </p:spPr>
        </p:pic>
        <p:sp>
          <p:nvSpPr>
            <p:cNvPr id="11" name="Cube 10">
              <a:extLst>
                <a:ext uri="{FF2B5EF4-FFF2-40B4-BE49-F238E27FC236}">
                  <a16:creationId xmlns:a16="http://schemas.microsoft.com/office/drawing/2014/main" id="{02342382-4E47-4F0C-BE9E-F46851566C8B}"/>
                </a:ext>
              </a:extLst>
            </p:cNvPr>
            <p:cNvSpPr/>
            <p:nvPr/>
          </p:nvSpPr>
          <p:spPr>
            <a:xfrm flipH="1">
              <a:off x="6549590" y="1589219"/>
              <a:ext cx="3789881" cy="2916101"/>
            </a:xfrm>
            <a:prstGeom prst="cube">
              <a:avLst>
                <a:gd name="adj" fmla="val 3135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6" name="Picture 15">
              <a:extLst>
                <a:ext uri="{FF2B5EF4-FFF2-40B4-BE49-F238E27FC236}">
                  <a16:creationId xmlns:a16="http://schemas.microsoft.com/office/drawing/2014/main" id="{712F180A-544D-4BA2-B78A-1F056E4285AE}"/>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8628" b="77650" l="10000" r="90000">
                          <a14:foregroundMark x1="52174" y1="25126" x2="35573" y2="27136"/>
                          <a14:foregroundMark x1="35178" y1="28643" x2="12648" y2="32663"/>
                          <a14:foregroundMark x1="12648" y1="32663" x2="39130" y2="53266"/>
                          <a14:foregroundMark x1="39130" y1="53266" x2="69960" y2="59296"/>
                          <a14:foregroundMark x1="69960" y1="59296" x2="77075" y2="58291"/>
                          <a14:foregroundMark x1="13834" y1="37688" x2="13043" y2="35176"/>
                          <a14:foregroundMark x1="87352" y1="46734" x2="58103" y2="24121"/>
                        </a14:backgroundRemoval>
                      </a14:imgEffect>
                    </a14:imgLayer>
                  </a14:imgProps>
                </a:ext>
              </a:extLst>
            </a:blip>
            <a:srcRect b="13722"/>
            <a:stretch/>
          </p:blipFill>
          <p:spPr>
            <a:xfrm>
              <a:off x="7239617" y="1146438"/>
              <a:ext cx="2409825" cy="1635375"/>
            </a:xfrm>
            <a:prstGeom prst="rect">
              <a:avLst/>
            </a:prstGeom>
          </p:spPr>
        </p:pic>
        <p:cxnSp>
          <p:nvCxnSpPr>
            <p:cNvPr id="14" name="Straight Arrow Connector 13">
              <a:extLst>
                <a:ext uri="{FF2B5EF4-FFF2-40B4-BE49-F238E27FC236}">
                  <a16:creationId xmlns:a16="http://schemas.microsoft.com/office/drawing/2014/main" id="{568C3AA5-FE47-4682-90DB-8E7353FE5741}"/>
                </a:ext>
              </a:extLst>
            </p:cNvPr>
            <p:cNvCxnSpPr>
              <a:stCxn id="37" idx="0"/>
            </p:cNvCxnSpPr>
            <p:nvPr/>
          </p:nvCxnSpPr>
          <p:spPr>
            <a:xfrm flipH="1" flipV="1">
              <a:off x="6009788" y="1964125"/>
              <a:ext cx="1" cy="2098414"/>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Text Placeholder 3">
              <a:extLst>
                <a:ext uri="{FF2B5EF4-FFF2-40B4-BE49-F238E27FC236}">
                  <a16:creationId xmlns:a16="http://schemas.microsoft.com/office/drawing/2014/main" id="{863D6156-2893-4B05-A9A1-CE82D3431889}"/>
                </a:ext>
              </a:extLst>
            </p:cNvPr>
            <p:cNvSpPr txBox="1">
              <a:spLocks/>
            </p:cNvSpPr>
            <p:nvPr/>
          </p:nvSpPr>
          <p:spPr>
            <a:xfrm>
              <a:off x="5223087" y="2668452"/>
              <a:ext cx="79196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1m</a:t>
              </a:r>
            </a:p>
          </p:txBody>
        </p:sp>
        <p:sp>
          <p:nvSpPr>
            <p:cNvPr id="20" name="Text Placeholder 3">
              <a:extLst>
                <a:ext uri="{FF2B5EF4-FFF2-40B4-BE49-F238E27FC236}">
                  <a16:creationId xmlns:a16="http://schemas.microsoft.com/office/drawing/2014/main" id="{BBA6AF47-6513-4942-A332-AAAD8B85E539}"/>
                </a:ext>
              </a:extLst>
            </p:cNvPr>
            <p:cNvSpPr txBox="1">
              <a:spLocks/>
            </p:cNvSpPr>
            <p:nvPr/>
          </p:nvSpPr>
          <p:spPr>
            <a:xfrm>
              <a:off x="2658162" y="2940889"/>
              <a:ext cx="145905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1kg</a:t>
              </a:r>
            </a:p>
          </p:txBody>
        </p:sp>
      </p:grpSp>
      <p:sp>
        <p:nvSpPr>
          <p:cNvPr id="21" name="Text Placeholder 3">
            <a:extLst>
              <a:ext uri="{FF2B5EF4-FFF2-40B4-BE49-F238E27FC236}">
                <a16:creationId xmlns:a16="http://schemas.microsoft.com/office/drawing/2014/main" id="{A500DC2C-9FEB-429E-866F-9EFD08FF6399}"/>
              </a:ext>
            </a:extLst>
          </p:cNvPr>
          <p:cNvSpPr txBox="1">
            <a:spLocks/>
          </p:cNvSpPr>
          <p:nvPr/>
        </p:nvSpPr>
        <p:spPr>
          <a:xfrm>
            <a:off x="295274" y="1049982"/>
            <a:ext cx="11703079"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200" b="0" dirty="0"/>
              <a:t>Calculate the change in potential energy of the book when it is moved onto the box.</a:t>
            </a:r>
          </a:p>
        </p:txBody>
      </p:sp>
    </p:spTree>
    <p:extLst>
      <p:ext uri="{BB962C8B-B14F-4D97-AF65-F5344CB8AC3E}">
        <p14:creationId xmlns:p14="http://schemas.microsoft.com/office/powerpoint/2010/main" val="1855346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calculate work in a gravitational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9" name="Text Placeholder 3">
            <a:extLst>
              <a:ext uri="{FF2B5EF4-FFF2-40B4-BE49-F238E27FC236}">
                <a16:creationId xmlns:a16="http://schemas.microsoft.com/office/drawing/2014/main" id="{D4F38006-A15E-4261-9638-574F8C71BDD8}"/>
              </a:ext>
            </a:extLst>
          </p:cNvPr>
          <p:cNvSpPr txBox="1">
            <a:spLocks/>
          </p:cNvSpPr>
          <p:nvPr/>
        </p:nvSpPr>
        <p:spPr>
          <a:xfrm>
            <a:off x="94582" y="904805"/>
            <a:ext cx="1160786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AU" sz="3200" b="0" dirty="0"/>
              <a:t>The work done by a gravitational field is equal to the change in its gravitational potential energy.</a:t>
            </a:r>
          </a:p>
        </p:txBody>
      </p:sp>
      <p:pic>
        <p:nvPicPr>
          <p:cNvPr id="6" name="Picture 5">
            <a:extLst>
              <a:ext uri="{FF2B5EF4-FFF2-40B4-BE49-F238E27FC236}">
                <a16:creationId xmlns:a16="http://schemas.microsoft.com/office/drawing/2014/main" id="{C58057E2-124C-43DD-A999-5B58D36F3640}"/>
              </a:ext>
            </a:extLst>
          </p:cNvPr>
          <p:cNvPicPr>
            <a:picLocks noChangeAspect="1"/>
          </p:cNvPicPr>
          <p:nvPr/>
        </p:nvPicPr>
        <p:blipFill>
          <a:blip r:embed="rId3"/>
          <a:stretch>
            <a:fillRect/>
          </a:stretch>
        </p:blipFill>
        <p:spPr>
          <a:xfrm>
            <a:off x="2185014" y="2099903"/>
            <a:ext cx="8189527" cy="2464441"/>
          </a:xfrm>
          <a:prstGeom prst="rect">
            <a:avLst/>
          </a:prstGeom>
        </p:spPr>
      </p:pic>
    </p:spTree>
    <p:extLst>
      <p:ext uri="{BB962C8B-B14F-4D97-AF65-F5344CB8AC3E}">
        <p14:creationId xmlns:p14="http://schemas.microsoft.com/office/powerpoint/2010/main" val="2227902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calculate work in a gravitational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5" name="Picture 4">
            <a:extLst>
              <a:ext uri="{FF2B5EF4-FFF2-40B4-BE49-F238E27FC236}">
                <a16:creationId xmlns:a16="http://schemas.microsoft.com/office/drawing/2014/main" id="{24AAA09E-EC25-4BDC-9172-D573113ED6BC}"/>
              </a:ext>
            </a:extLst>
          </p:cNvPr>
          <p:cNvPicPr>
            <a:picLocks noChangeAspect="1"/>
          </p:cNvPicPr>
          <p:nvPr/>
        </p:nvPicPr>
        <p:blipFill>
          <a:blip r:embed="rId3"/>
          <a:stretch>
            <a:fillRect/>
          </a:stretch>
        </p:blipFill>
        <p:spPr>
          <a:xfrm>
            <a:off x="306455" y="1002430"/>
            <a:ext cx="5703333" cy="4388893"/>
          </a:xfrm>
          <a:prstGeom prst="rect">
            <a:avLst/>
          </a:prstGeom>
        </p:spPr>
      </p:pic>
    </p:spTree>
    <p:extLst>
      <p:ext uri="{BB962C8B-B14F-4D97-AF65-F5344CB8AC3E}">
        <p14:creationId xmlns:p14="http://schemas.microsoft.com/office/powerpoint/2010/main" val="135183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calculate work in a gravitational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Do Now</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2" name="TextBox 11">
            <a:extLst>
              <a:ext uri="{FF2B5EF4-FFF2-40B4-BE49-F238E27FC236}">
                <a16:creationId xmlns:a16="http://schemas.microsoft.com/office/drawing/2014/main" id="{AE842CED-8216-4BC7-BB2D-052103D0DE0F}"/>
              </a:ext>
            </a:extLst>
          </p:cNvPr>
          <p:cNvSpPr txBox="1"/>
          <p:nvPr/>
        </p:nvSpPr>
        <p:spPr>
          <a:xfrm>
            <a:off x="9976206" y="310293"/>
            <a:ext cx="2546942" cy="646331"/>
          </a:xfrm>
          <a:prstGeom prst="rect">
            <a:avLst/>
          </a:prstGeom>
          <a:noFill/>
          <a:ln>
            <a:noFill/>
          </a:ln>
        </p:spPr>
        <p:txBody>
          <a:bodyPr wrap="square">
            <a:spAutoFit/>
          </a:bodyPr>
          <a:lstStyle/>
          <a:p>
            <a:pPr algn="just"/>
            <a:r>
              <a:rPr lang="en-AU" sz="1600" b="1" dirty="0">
                <a:latin typeface="+mj-lt"/>
              </a:rPr>
              <a:t>Draw a picture!!</a:t>
            </a:r>
            <a:endParaRPr lang="en-AU" sz="1400" b="1" dirty="0">
              <a:latin typeface="+mj-lt"/>
            </a:endParaRPr>
          </a:p>
          <a:p>
            <a:pPr algn="just"/>
            <a:endParaRPr lang="en-AU" sz="2000" b="0" dirty="0"/>
          </a:p>
        </p:txBody>
      </p:sp>
      <p:pic>
        <p:nvPicPr>
          <p:cNvPr id="5" name="Picture 4">
            <a:extLst>
              <a:ext uri="{FF2B5EF4-FFF2-40B4-BE49-F238E27FC236}">
                <a16:creationId xmlns:a16="http://schemas.microsoft.com/office/drawing/2014/main" id="{8478D425-3569-4BDE-BCF7-8DD584E99040}"/>
              </a:ext>
            </a:extLst>
          </p:cNvPr>
          <p:cNvPicPr>
            <a:picLocks noChangeAspect="1"/>
          </p:cNvPicPr>
          <p:nvPr/>
        </p:nvPicPr>
        <p:blipFill>
          <a:blip r:embed="rId3"/>
          <a:stretch>
            <a:fillRect/>
          </a:stretch>
        </p:blipFill>
        <p:spPr>
          <a:xfrm>
            <a:off x="295275" y="1050758"/>
            <a:ext cx="7712859" cy="2378241"/>
          </a:xfrm>
          <a:prstGeom prst="rect">
            <a:avLst/>
          </a:prstGeom>
        </p:spPr>
      </p:pic>
    </p:spTree>
    <p:extLst>
      <p:ext uri="{BB962C8B-B14F-4D97-AF65-F5344CB8AC3E}">
        <p14:creationId xmlns:p14="http://schemas.microsoft.com/office/powerpoint/2010/main" val="985383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calculate work in a gravitational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Hard Question</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6" name="Picture 5">
            <a:extLst>
              <a:ext uri="{FF2B5EF4-FFF2-40B4-BE49-F238E27FC236}">
                <a16:creationId xmlns:a16="http://schemas.microsoft.com/office/drawing/2014/main" id="{0F3A62EF-4DF7-43BE-96E8-6BB1BD02B616}"/>
              </a:ext>
            </a:extLst>
          </p:cNvPr>
          <p:cNvPicPr>
            <a:picLocks noChangeAspect="1"/>
          </p:cNvPicPr>
          <p:nvPr/>
        </p:nvPicPr>
        <p:blipFill>
          <a:blip r:embed="rId3"/>
          <a:stretch>
            <a:fillRect/>
          </a:stretch>
        </p:blipFill>
        <p:spPr>
          <a:xfrm>
            <a:off x="416718" y="1007686"/>
            <a:ext cx="9382117" cy="3163622"/>
          </a:xfrm>
          <a:prstGeom prst="rect">
            <a:avLst/>
          </a:prstGeom>
        </p:spPr>
      </p:pic>
      <p:sp>
        <p:nvSpPr>
          <p:cNvPr id="11" name="TextBox 10">
            <a:extLst>
              <a:ext uri="{FF2B5EF4-FFF2-40B4-BE49-F238E27FC236}">
                <a16:creationId xmlns:a16="http://schemas.microsoft.com/office/drawing/2014/main" id="{C8D41E52-E085-4902-9F32-D75E592E4D41}"/>
              </a:ext>
            </a:extLst>
          </p:cNvPr>
          <p:cNvSpPr txBox="1"/>
          <p:nvPr/>
        </p:nvSpPr>
        <p:spPr>
          <a:xfrm>
            <a:off x="0" y="5494496"/>
            <a:ext cx="10747431" cy="1477328"/>
          </a:xfrm>
          <a:prstGeom prst="rect">
            <a:avLst/>
          </a:prstGeom>
          <a:noFill/>
          <a:ln>
            <a:noFill/>
          </a:ln>
        </p:spPr>
        <p:txBody>
          <a:bodyPr wrap="square">
            <a:spAutoFit/>
          </a:bodyPr>
          <a:lstStyle/>
          <a:p>
            <a:pPr algn="just"/>
            <a:r>
              <a:rPr lang="en-AU" sz="1400" b="1" dirty="0">
                <a:latin typeface="+mj-lt"/>
              </a:rPr>
              <a:t>Note: magnitude of average air resistance is a force</a:t>
            </a:r>
          </a:p>
          <a:p>
            <a:pPr algn="just"/>
            <a:endParaRPr lang="en-AU" sz="1400" b="1" dirty="0">
              <a:latin typeface="+mj-lt"/>
            </a:endParaRPr>
          </a:p>
          <a:p>
            <a:pPr algn="just"/>
            <a:r>
              <a:rPr lang="en-AU" sz="1400" b="1" dirty="0">
                <a:latin typeface="+mj-lt"/>
              </a:rPr>
              <a:t>Note: include initial kinetic energy in your calculations</a:t>
            </a:r>
          </a:p>
          <a:p>
            <a:pPr algn="just"/>
            <a:endParaRPr lang="en-AU" sz="1400" b="1" dirty="0">
              <a:latin typeface="+mj-lt"/>
            </a:endParaRPr>
          </a:p>
          <a:p>
            <a:pPr algn="just"/>
            <a:r>
              <a:rPr lang="en-AU" sz="1400" b="1" dirty="0">
                <a:latin typeface="+mj-lt"/>
              </a:rPr>
              <a:t>Note: this is harder than a simple energy balance because of air resistance. It is no longer a closed system.</a:t>
            </a:r>
          </a:p>
          <a:p>
            <a:pPr algn="just"/>
            <a:endParaRPr lang="en-AU" sz="2000" b="0" dirty="0"/>
          </a:p>
        </p:txBody>
      </p:sp>
      <p:sp>
        <p:nvSpPr>
          <p:cNvPr id="12" name="TextBox 11">
            <a:extLst>
              <a:ext uri="{FF2B5EF4-FFF2-40B4-BE49-F238E27FC236}">
                <a16:creationId xmlns:a16="http://schemas.microsoft.com/office/drawing/2014/main" id="{AE842CED-8216-4BC7-BB2D-052103D0DE0F}"/>
              </a:ext>
            </a:extLst>
          </p:cNvPr>
          <p:cNvSpPr txBox="1"/>
          <p:nvPr/>
        </p:nvSpPr>
        <p:spPr>
          <a:xfrm>
            <a:off x="9976206" y="267384"/>
            <a:ext cx="2546942" cy="646331"/>
          </a:xfrm>
          <a:prstGeom prst="rect">
            <a:avLst/>
          </a:prstGeom>
          <a:noFill/>
          <a:ln>
            <a:noFill/>
          </a:ln>
        </p:spPr>
        <p:txBody>
          <a:bodyPr wrap="square">
            <a:spAutoFit/>
          </a:bodyPr>
          <a:lstStyle/>
          <a:p>
            <a:pPr algn="just"/>
            <a:r>
              <a:rPr lang="en-AU" sz="1600" b="1" dirty="0">
                <a:latin typeface="+mj-lt"/>
              </a:rPr>
              <a:t>Draw a picture!!</a:t>
            </a:r>
            <a:endParaRPr lang="en-AU" sz="1400" b="1" dirty="0">
              <a:latin typeface="+mj-lt"/>
            </a:endParaRPr>
          </a:p>
          <a:p>
            <a:pPr algn="just"/>
            <a:endParaRPr lang="en-AU" sz="2000" b="0" dirty="0"/>
          </a:p>
        </p:txBody>
      </p:sp>
    </p:spTree>
    <p:extLst>
      <p:ext uri="{BB962C8B-B14F-4D97-AF65-F5344CB8AC3E}">
        <p14:creationId xmlns:p14="http://schemas.microsoft.com/office/powerpoint/2010/main" val="3915374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calculate work in a gravitational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Do Now</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2" name="TextBox 11">
            <a:extLst>
              <a:ext uri="{FF2B5EF4-FFF2-40B4-BE49-F238E27FC236}">
                <a16:creationId xmlns:a16="http://schemas.microsoft.com/office/drawing/2014/main" id="{AE842CED-8216-4BC7-BB2D-052103D0DE0F}"/>
              </a:ext>
            </a:extLst>
          </p:cNvPr>
          <p:cNvSpPr txBox="1"/>
          <p:nvPr/>
        </p:nvSpPr>
        <p:spPr>
          <a:xfrm>
            <a:off x="9976206" y="267384"/>
            <a:ext cx="2546942" cy="646331"/>
          </a:xfrm>
          <a:prstGeom prst="rect">
            <a:avLst/>
          </a:prstGeom>
          <a:noFill/>
          <a:ln>
            <a:noFill/>
          </a:ln>
        </p:spPr>
        <p:txBody>
          <a:bodyPr wrap="square">
            <a:spAutoFit/>
          </a:bodyPr>
          <a:lstStyle/>
          <a:p>
            <a:pPr algn="just"/>
            <a:r>
              <a:rPr lang="en-AU" sz="1600" b="1" dirty="0">
                <a:latin typeface="+mj-lt"/>
              </a:rPr>
              <a:t>Draw a picture!!</a:t>
            </a:r>
            <a:endParaRPr lang="en-AU" sz="1400" b="1" dirty="0">
              <a:latin typeface="+mj-lt"/>
            </a:endParaRPr>
          </a:p>
          <a:p>
            <a:pPr algn="just"/>
            <a:endParaRPr lang="en-AU" sz="2000" b="0" dirty="0"/>
          </a:p>
        </p:txBody>
      </p:sp>
      <p:pic>
        <p:nvPicPr>
          <p:cNvPr id="5" name="Picture 4">
            <a:extLst>
              <a:ext uri="{FF2B5EF4-FFF2-40B4-BE49-F238E27FC236}">
                <a16:creationId xmlns:a16="http://schemas.microsoft.com/office/drawing/2014/main" id="{CD1F869C-8DA0-4573-B13D-40EC95B3E744}"/>
              </a:ext>
            </a:extLst>
          </p:cNvPr>
          <p:cNvPicPr>
            <a:picLocks noChangeAspect="1"/>
          </p:cNvPicPr>
          <p:nvPr/>
        </p:nvPicPr>
        <p:blipFill>
          <a:blip r:embed="rId3"/>
          <a:stretch>
            <a:fillRect/>
          </a:stretch>
        </p:blipFill>
        <p:spPr>
          <a:xfrm>
            <a:off x="295275" y="1056011"/>
            <a:ext cx="7032625" cy="5233581"/>
          </a:xfrm>
          <a:prstGeom prst="rect">
            <a:avLst/>
          </a:prstGeom>
        </p:spPr>
      </p:pic>
    </p:spTree>
    <p:extLst>
      <p:ext uri="{BB962C8B-B14F-4D97-AF65-F5344CB8AC3E}">
        <p14:creationId xmlns:p14="http://schemas.microsoft.com/office/powerpoint/2010/main" val="3875215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Weightlessness and Work</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600" b="0" dirty="0">
                <a:solidFill>
                  <a:srgbClr val="000303"/>
                </a:solidFill>
                <a:latin typeface="+mj-lt"/>
              </a:rPr>
              <a:t>I</a:t>
            </a:r>
            <a:r>
              <a:rPr lang="en-US" sz="1600" b="0" i="0" dirty="0">
                <a:solidFill>
                  <a:srgbClr val="000303"/>
                </a:solidFill>
                <a:effectLst/>
                <a:latin typeface="+mj-lt"/>
              </a:rPr>
              <a:t> can calculate weight and apparent weight in different situations:</a:t>
            </a:r>
          </a:p>
          <a:p>
            <a:pPr algn="l"/>
            <a:r>
              <a:rPr lang="en-US" sz="1600" b="0" dirty="0">
                <a:solidFill>
                  <a:srgbClr val="000303"/>
                </a:solidFill>
                <a:latin typeface="+mj-lt"/>
              </a:rPr>
              <a:t> - other planetary bodies</a:t>
            </a:r>
          </a:p>
          <a:p>
            <a:pPr algn="l"/>
            <a:r>
              <a:rPr lang="en-US" sz="1600" b="0" i="0" dirty="0">
                <a:solidFill>
                  <a:srgbClr val="000303"/>
                </a:solidFill>
                <a:effectLst/>
                <a:latin typeface="+mj-lt"/>
              </a:rPr>
              <a:t> - in </a:t>
            </a:r>
            <a:r>
              <a:rPr lang="en-US" sz="1600" b="0" dirty="0">
                <a:solidFill>
                  <a:srgbClr val="000303"/>
                </a:solidFill>
                <a:latin typeface="+mj-lt"/>
              </a:rPr>
              <a:t>moving elevators</a:t>
            </a:r>
          </a:p>
          <a:p>
            <a:pPr algn="l"/>
            <a:r>
              <a:rPr lang="en-US" sz="1600" b="0" i="0" dirty="0">
                <a:solidFill>
                  <a:srgbClr val="000303"/>
                </a:solidFill>
                <a:effectLst/>
                <a:latin typeface="+mj-lt"/>
              </a:rPr>
              <a:t> - during circular motion</a:t>
            </a:r>
          </a:p>
          <a:p>
            <a:pPr algn="l"/>
            <a:r>
              <a:rPr lang="en-US" sz="1600" b="0" dirty="0">
                <a:solidFill>
                  <a:srgbClr val="000303"/>
                </a:solidFill>
                <a:latin typeface="+mj-lt"/>
              </a:rPr>
              <a:t>I can calculate work done in gravitational fields.</a:t>
            </a:r>
            <a:endParaRPr lang="en-US" sz="1600" b="0" i="0" dirty="0">
              <a:solidFill>
                <a:srgbClr val="000303"/>
              </a:solidFill>
              <a:effectLst/>
              <a:latin typeface="+mj-lt"/>
            </a:endParaRPr>
          </a:p>
        </p:txBody>
      </p:sp>
    </p:spTree>
    <p:extLst>
      <p:ext uri="{BB962C8B-B14F-4D97-AF65-F5344CB8AC3E}">
        <p14:creationId xmlns:p14="http://schemas.microsoft.com/office/powerpoint/2010/main" val="8835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Satellites</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600" b="0" dirty="0">
                <a:solidFill>
                  <a:srgbClr val="000303"/>
                </a:solidFill>
                <a:latin typeface="Roboto" panose="02000000000000000000" pitchFamily="2" charset="0"/>
              </a:rPr>
              <a:t>I</a:t>
            </a:r>
            <a:r>
              <a:rPr lang="en-US" sz="1600" b="0" i="0" dirty="0">
                <a:solidFill>
                  <a:srgbClr val="000303"/>
                </a:solidFill>
                <a:effectLst/>
                <a:latin typeface="Roboto" panose="02000000000000000000" pitchFamily="2" charset="0"/>
              </a:rPr>
              <a:t> can </a:t>
            </a:r>
            <a:r>
              <a:rPr lang="en-US" sz="1600" b="0" dirty="0" err="1">
                <a:solidFill>
                  <a:srgbClr val="000303"/>
                </a:solidFill>
                <a:latin typeface="Roboto" panose="02000000000000000000" pitchFamily="2" charset="0"/>
              </a:rPr>
              <a:t>analyse</a:t>
            </a:r>
            <a:r>
              <a:rPr lang="en-US" sz="1600" b="0" dirty="0">
                <a:solidFill>
                  <a:srgbClr val="000303"/>
                </a:solidFill>
                <a:latin typeface="Roboto" panose="02000000000000000000" pitchFamily="2" charset="0"/>
              </a:rPr>
              <a:t> the motion of satellites in circular orbits</a:t>
            </a:r>
            <a:endParaRPr lang="en-US" sz="1600" b="0" i="0" dirty="0">
              <a:solidFill>
                <a:srgbClr val="000303"/>
              </a:solidFill>
              <a:effectLst/>
              <a:latin typeface="Roboto" panose="02000000000000000000" pitchFamily="2" charset="0"/>
            </a:endParaRPr>
          </a:p>
        </p:txBody>
      </p:sp>
    </p:spTree>
    <p:extLst>
      <p:ext uri="{BB962C8B-B14F-4D97-AF65-F5344CB8AC3E}">
        <p14:creationId xmlns:p14="http://schemas.microsoft.com/office/powerpoint/2010/main" val="37792069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Newton’s Cannonball</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94582" y="904805"/>
            <a:ext cx="120974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Isaac Newton had a famous thought experiment known as </a:t>
            </a:r>
            <a:r>
              <a:rPr lang="en-AU" sz="2400" dirty="0"/>
              <a:t>Newton’s Cannonball</a:t>
            </a:r>
            <a:r>
              <a:rPr lang="en-AU" sz="2400" b="0" dirty="0"/>
              <a:t>. He imagined a cannon sitting on a tall mountain. As the cannon is fired, the force of gravity pulls the cannonball down to Earth. But if you fire it faster, it will travel further before it lands.</a:t>
            </a:r>
          </a:p>
          <a:p>
            <a:pPr algn="just"/>
            <a:r>
              <a:rPr lang="en-AU" sz="2400" b="0" dirty="0"/>
              <a:t>If you can fire it fast </a:t>
            </a:r>
            <a:r>
              <a:rPr lang="en-AU" sz="2400" b="0" i="1" dirty="0"/>
              <a:t>enough</a:t>
            </a:r>
            <a:r>
              <a:rPr lang="en-AU" sz="2400" b="0" dirty="0"/>
              <a:t>, it would travel all the way around the Earth and reach its starting point again.</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10" name="Picture 9">
            <a:extLst>
              <a:ext uri="{FF2B5EF4-FFF2-40B4-BE49-F238E27FC236}">
                <a16:creationId xmlns:a16="http://schemas.microsoft.com/office/drawing/2014/main" id="{E204612D-8DFE-4705-934C-A1289776CD94}"/>
              </a:ext>
            </a:extLst>
          </p:cNvPr>
          <p:cNvPicPr>
            <a:picLocks noChangeAspect="1"/>
          </p:cNvPicPr>
          <p:nvPr/>
        </p:nvPicPr>
        <p:blipFill rotWithShape="1">
          <a:blip r:embed="rId3"/>
          <a:srcRect t="39883" b="-1477"/>
          <a:stretch/>
        </p:blipFill>
        <p:spPr>
          <a:xfrm>
            <a:off x="4074753" y="3136224"/>
            <a:ext cx="3295650" cy="3373437"/>
          </a:xfrm>
          <a:prstGeom prst="rect">
            <a:avLst/>
          </a:prstGeom>
        </p:spPr>
      </p:pic>
      <p:grpSp>
        <p:nvGrpSpPr>
          <p:cNvPr id="7" name="Group 6">
            <a:extLst>
              <a:ext uri="{FF2B5EF4-FFF2-40B4-BE49-F238E27FC236}">
                <a16:creationId xmlns:a16="http://schemas.microsoft.com/office/drawing/2014/main" id="{C5387931-5503-494B-8D4D-43234FF86466}"/>
              </a:ext>
            </a:extLst>
          </p:cNvPr>
          <p:cNvGrpSpPr/>
          <p:nvPr/>
        </p:nvGrpSpPr>
        <p:grpSpPr>
          <a:xfrm>
            <a:off x="399152" y="3529801"/>
            <a:ext cx="3295650" cy="1951038"/>
            <a:chOff x="843652" y="3351853"/>
            <a:chExt cx="3295650" cy="1951038"/>
          </a:xfrm>
        </p:grpSpPr>
        <p:pic>
          <p:nvPicPr>
            <p:cNvPr id="5" name="Picture 4">
              <a:extLst>
                <a:ext uri="{FF2B5EF4-FFF2-40B4-BE49-F238E27FC236}">
                  <a16:creationId xmlns:a16="http://schemas.microsoft.com/office/drawing/2014/main" id="{E5B60E32-A2D4-4681-93DF-1D0D84937CF8}"/>
                </a:ext>
              </a:extLst>
            </p:cNvPr>
            <p:cNvPicPr>
              <a:picLocks noChangeAspect="1"/>
            </p:cNvPicPr>
            <p:nvPr/>
          </p:nvPicPr>
          <p:blipFill rotWithShape="1">
            <a:blip r:embed="rId3"/>
            <a:srcRect b="64377"/>
            <a:stretch/>
          </p:blipFill>
          <p:spPr>
            <a:xfrm>
              <a:off x="843652" y="3351853"/>
              <a:ext cx="3295650" cy="1951038"/>
            </a:xfrm>
            <a:prstGeom prst="rect">
              <a:avLst/>
            </a:prstGeom>
          </p:spPr>
        </p:pic>
        <p:sp>
          <p:nvSpPr>
            <p:cNvPr id="6" name="Rectangle 5">
              <a:extLst>
                <a:ext uri="{FF2B5EF4-FFF2-40B4-BE49-F238E27FC236}">
                  <a16:creationId xmlns:a16="http://schemas.microsoft.com/office/drawing/2014/main" id="{FBA8A4A0-0D84-4E56-B21C-3D753CA02E83}"/>
                </a:ext>
              </a:extLst>
            </p:cNvPr>
            <p:cNvSpPr/>
            <p:nvPr/>
          </p:nvSpPr>
          <p:spPr>
            <a:xfrm>
              <a:off x="843652" y="3429000"/>
              <a:ext cx="377105" cy="342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3" name="Text Placeholder 3">
            <a:extLst>
              <a:ext uri="{FF2B5EF4-FFF2-40B4-BE49-F238E27FC236}">
                <a16:creationId xmlns:a16="http://schemas.microsoft.com/office/drawing/2014/main" id="{61BEA2FA-79FD-4098-B15A-3BFE966B18CD}"/>
              </a:ext>
            </a:extLst>
          </p:cNvPr>
          <p:cNvSpPr txBox="1">
            <a:spLocks/>
          </p:cNvSpPr>
          <p:nvPr/>
        </p:nvSpPr>
        <p:spPr>
          <a:xfrm>
            <a:off x="7962900" y="4175230"/>
            <a:ext cx="403545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2400" dirty="0"/>
              <a:t>Calculate that velocity </a:t>
            </a:r>
          </a:p>
          <a:p>
            <a:pPr algn="ctr"/>
            <a:r>
              <a:rPr lang="en-AU" sz="2400" dirty="0"/>
              <a:t>(ignoring air resistance)</a:t>
            </a:r>
          </a:p>
        </p:txBody>
      </p:sp>
    </p:spTree>
    <p:extLst>
      <p:ext uri="{BB962C8B-B14F-4D97-AF65-F5344CB8AC3E}">
        <p14:creationId xmlns:p14="http://schemas.microsoft.com/office/powerpoint/2010/main" val="1200013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theme/theme1.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Explicit Instruction_Dar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Theme2" id="{15861BA0-56D5-1E4E-B56A-268D38A279BF}" vid="{9D14DC9A-E19D-5949-B871-56F3C64BEB6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157990E5B9394AB60DC397E95032F9" ma:contentTypeVersion="16" ma:contentTypeDescription="Create a new document." ma:contentTypeScope="" ma:versionID="02697e3214b2f55142a2e7b89ba6de54">
  <xsd:schema xmlns:xsd="http://www.w3.org/2001/XMLSchema" xmlns:xs="http://www.w3.org/2001/XMLSchema" xmlns:p="http://schemas.microsoft.com/office/2006/metadata/properties" xmlns:ns2="8f659357-f805-491c-ad0b-5621b2de6466" xmlns:ns3="d5c732d2-f217-444a-91d8-37c5714ca695" targetNamespace="http://schemas.microsoft.com/office/2006/metadata/properties" ma:root="true" ma:fieldsID="67be6965022b95aa9d7585358a9bb7fc" ns2:_="" ns3:_="">
    <xsd:import namespace="8f659357-f805-491c-ad0b-5621b2de6466"/>
    <xsd:import namespace="d5c732d2-f217-444a-91d8-37c5714ca6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659357-f805-491c-ad0b-5621b2de64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a606fe5-00d0-49e1-aa33-d9ffd02091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c732d2-f217-444a-91d8-37c5714ca69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87221a7-1fed-4694-a1ec-bb608177e353}" ma:internalName="TaxCatchAll" ma:showField="CatchAllData" ma:web="d5c732d2-f217-444a-91d8-37c5714ca6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d5c732d2-f217-444a-91d8-37c5714ca695" xsi:nil="true"/>
    <lcf76f155ced4ddcb4097134ff3c332f xmlns="8f659357-f805-491c-ad0b-5621b2de6466">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5AB166E-AFED-41D7-B7A5-CB86770D4BF7}"/>
</file>

<file path=customXml/itemProps2.xml><?xml version="1.0" encoding="utf-8"?>
<ds:datastoreItem xmlns:ds="http://schemas.openxmlformats.org/officeDocument/2006/customXml" ds:itemID="{AD5BC30B-A8FB-4389-B40F-C069B6D2FAB9}">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77F09D33-A1B5-4438-8F96-65DD7176249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{33057687-8793-EB47-A5E0-08E93C53D0F2}tf10001071</Template>
  <TotalTime>6069</TotalTime>
  <Words>958</Words>
  <Application>Microsoft Office PowerPoint</Application>
  <PresentationFormat>Widescreen</PresentationFormat>
  <Paragraphs>143</Paragraphs>
  <Slides>17</Slides>
  <Notes>13</Notes>
  <HiddenSlides>2</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17</vt:i4>
      </vt:variant>
    </vt:vector>
  </HeadingPairs>
  <TitlesOfParts>
    <vt:vector size="24" baseType="lpstr">
      <vt:lpstr>Arial</vt:lpstr>
      <vt:lpstr>Calibri</vt:lpstr>
      <vt:lpstr>Century Gothic</vt:lpstr>
      <vt:lpstr>Futura Medium</vt:lpstr>
      <vt:lpstr>Roboto</vt:lpstr>
      <vt:lpstr>Daily Review</vt:lpstr>
      <vt:lpstr>1_Explicit Instruction_Dark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BAKER Mark [Southern River College]</cp:lastModifiedBy>
  <cp:revision>419</cp:revision>
  <cp:lastPrinted>2018-05-27T06:54:10Z</cp:lastPrinted>
  <dcterms:created xsi:type="dcterms:W3CDTF">2018-03-29T05:56:09Z</dcterms:created>
  <dcterms:modified xsi:type="dcterms:W3CDTF">2023-01-02T04:34:41Z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0x010100C8157990E5B9394AB60DC397E95032F9</vt:lpwstr>
  </property>
</Properties>
</file>