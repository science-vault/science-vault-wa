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32" r:id="rId4"/>
    <p:sldMasterId id="2147484274" r:id="rId5"/>
  </p:sldMasterIdLst>
  <p:notesMasterIdLst>
    <p:notesMasterId r:id="rId30"/>
  </p:notesMasterIdLst>
  <p:handoutMasterIdLst>
    <p:handoutMasterId r:id="rId31"/>
  </p:handoutMasterIdLst>
  <p:sldIdLst>
    <p:sldId id="577" r:id="rId6"/>
    <p:sldId id="528" r:id="rId7"/>
    <p:sldId id="592" r:id="rId8"/>
    <p:sldId id="593" r:id="rId9"/>
    <p:sldId id="595" r:id="rId10"/>
    <p:sldId id="594" r:id="rId11"/>
    <p:sldId id="598" r:id="rId12"/>
    <p:sldId id="599" r:id="rId13"/>
    <p:sldId id="600" r:id="rId14"/>
    <p:sldId id="601" r:id="rId15"/>
    <p:sldId id="602" r:id="rId16"/>
    <p:sldId id="603" r:id="rId17"/>
    <p:sldId id="597" r:id="rId18"/>
    <p:sldId id="604" r:id="rId19"/>
    <p:sldId id="589" r:id="rId20"/>
    <p:sldId id="605" r:id="rId21"/>
    <p:sldId id="606" r:id="rId22"/>
    <p:sldId id="607" r:id="rId23"/>
    <p:sldId id="608" r:id="rId24"/>
    <p:sldId id="609" r:id="rId25"/>
    <p:sldId id="611" r:id="rId26"/>
    <p:sldId id="613" r:id="rId27"/>
    <p:sldId id="614" r:id="rId28"/>
    <p:sldId id="61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Buss" initials="MB"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CECE"/>
    <a:srgbClr val="FFD966"/>
    <a:srgbClr val="FF0000"/>
    <a:srgbClr val="159B4B"/>
    <a:srgbClr val="0070C0"/>
    <a:srgbClr val="C55A11"/>
    <a:srgbClr val="6E407C"/>
    <a:srgbClr val="FBCA58"/>
    <a:srgbClr val="2E546D"/>
    <a:srgbClr val="DEEB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57" autoAdjust="0"/>
    <p:restoredTop sz="74700" autoAdjust="0"/>
  </p:normalViewPr>
  <p:slideViewPr>
    <p:cSldViewPr snapToGrid="0" snapToObjects="1">
      <p:cViewPr varScale="1">
        <p:scale>
          <a:sx n="84" d="100"/>
          <a:sy n="84" d="100"/>
        </p:scale>
        <p:origin x="1134" y="78"/>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77" d="100"/>
          <a:sy n="77" d="100"/>
        </p:scale>
        <p:origin x="2592"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8E4B7C-96ED-E449-9693-B655C4671FD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4" name="Footer Placeholder 3">
            <a:extLst>
              <a:ext uri="{FF2B5EF4-FFF2-40B4-BE49-F238E27FC236}">
                <a16:creationId xmlns:a16="http://schemas.microsoft.com/office/drawing/2014/main" id="{28D809C4-E54C-A54E-B9F4-56C375E0D8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53AD932-3578-6E4B-810C-4CF7533A983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A9B4CA-DA29-0849-8519-4B81F4CE08AD}" type="slidenum">
              <a:rPr lang="en-US" smtClean="0"/>
              <a:t>‹#›</a:t>
            </a:fld>
            <a:endParaRPr lang="en-US" dirty="0"/>
          </a:p>
        </p:txBody>
      </p:sp>
      <p:sp>
        <p:nvSpPr>
          <p:cNvPr id="6" name="Date Placeholder 5">
            <a:extLst>
              <a:ext uri="{FF2B5EF4-FFF2-40B4-BE49-F238E27FC236}">
                <a16:creationId xmlns:a16="http://schemas.microsoft.com/office/drawing/2014/main" id="{27115A18-6E6E-F748-9363-1DB667F2522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89F1C8-9A67-204B-8DB6-6C2E5B2C92D6}" type="datetimeFigureOut">
              <a:rPr lang="en-US" smtClean="0"/>
              <a:t>3/24/2023</a:t>
            </a:fld>
            <a:endParaRPr lang="en-US" dirty="0"/>
          </a:p>
        </p:txBody>
      </p:sp>
    </p:spTree>
    <p:extLst>
      <p:ext uri="{BB962C8B-B14F-4D97-AF65-F5344CB8AC3E}">
        <p14:creationId xmlns:p14="http://schemas.microsoft.com/office/powerpoint/2010/main" val="16315313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AAB6C6-360D-448E-B12B-FCD285160A81}" type="datetimeFigureOut">
              <a:rPr lang="en-AU" smtClean="0"/>
              <a:t>24/03/2023</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B756B8-97A8-4FA1-B26A-2500BA5D4D05}" type="slidenum">
              <a:rPr lang="en-AU" smtClean="0"/>
              <a:t>‹#›</a:t>
            </a:fld>
            <a:endParaRPr lang="en-AU" dirty="0"/>
          </a:p>
        </p:txBody>
      </p:sp>
    </p:spTree>
    <p:extLst>
      <p:ext uri="{BB962C8B-B14F-4D97-AF65-F5344CB8AC3E}">
        <p14:creationId xmlns:p14="http://schemas.microsoft.com/office/powerpoint/2010/main" val="1866448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a:t>
            </a:fld>
            <a:endParaRPr lang="en-AU" dirty="0"/>
          </a:p>
        </p:txBody>
      </p:sp>
    </p:spTree>
    <p:extLst>
      <p:ext uri="{BB962C8B-B14F-4D97-AF65-F5344CB8AC3E}">
        <p14:creationId xmlns:p14="http://schemas.microsoft.com/office/powerpoint/2010/main" val="7993577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3</a:t>
            </a:fld>
            <a:endParaRPr lang="en-AU" dirty="0"/>
          </a:p>
        </p:txBody>
      </p:sp>
    </p:spTree>
    <p:extLst>
      <p:ext uri="{BB962C8B-B14F-4D97-AF65-F5344CB8AC3E}">
        <p14:creationId xmlns:p14="http://schemas.microsoft.com/office/powerpoint/2010/main" val="32405850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4</a:t>
            </a:fld>
            <a:endParaRPr lang="en-AU" dirty="0"/>
          </a:p>
        </p:txBody>
      </p:sp>
    </p:spTree>
    <p:extLst>
      <p:ext uri="{BB962C8B-B14F-4D97-AF65-F5344CB8AC3E}">
        <p14:creationId xmlns:p14="http://schemas.microsoft.com/office/powerpoint/2010/main" val="13250547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5</a:t>
            </a:fld>
            <a:endParaRPr lang="en-AU" dirty="0"/>
          </a:p>
        </p:txBody>
      </p:sp>
    </p:spTree>
    <p:extLst>
      <p:ext uri="{BB962C8B-B14F-4D97-AF65-F5344CB8AC3E}">
        <p14:creationId xmlns:p14="http://schemas.microsoft.com/office/powerpoint/2010/main" val="15511168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6</a:t>
            </a:fld>
            <a:endParaRPr lang="en-AU" dirty="0"/>
          </a:p>
        </p:txBody>
      </p:sp>
    </p:spTree>
    <p:extLst>
      <p:ext uri="{BB962C8B-B14F-4D97-AF65-F5344CB8AC3E}">
        <p14:creationId xmlns:p14="http://schemas.microsoft.com/office/powerpoint/2010/main" val="8805974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7</a:t>
            </a:fld>
            <a:endParaRPr lang="en-AU" dirty="0"/>
          </a:p>
        </p:txBody>
      </p:sp>
    </p:spTree>
    <p:extLst>
      <p:ext uri="{BB962C8B-B14F-4D97-AF65-F5344CB8AC3E}">
        <p14:creationId xmlns:p14="http://schemas.microsoft.com/office/powerpoint/2010/main" val="14231193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8</a:t>
            </a:fld>
            <a:endParaRPr lang="en-AU" dirty="0"/>
          </a:p>
        </p:txBody>
      </p:sp>
    </p:spTree>
    <p:extLst>
      <p:ext uri="{BB962C8B-B14F-4D97-AF65-F5344CB8AC3E}">
        <p14:creationId xmlns:p14="http://schemas.microsoft.com/office/powerpoint/2010/main" val="14228260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9</a:t>
            </a:fld>
            <a:endParaRPr lang="en-AU" dirty="0"/>
          </a:p>
        </p:txBody>
      </p:sp>
    </p:spTree>
    <p:extLst>
      <p:ext uri="{BB962C8B-B14F-4D97-AF65-F5344CB8AC3E}">
        <p14:creationId xmlns:p14="http://schemas.microsoft.com/office/powerpoint/2010/main" val="38485137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r>
              <a:rPr lang="en-AU" b="0" dirty="0"/>
              <a:t>F = mg</a:t>
            </a:r>
          </a:p>
          <a:p>
            <a:r>
              <a:rPr lang="en-AU" b="0" dirty="0"/>
              <a:t>= 35 * 9.8 = 343 N</a:t>
            </a:r>
          </a:p>
          <a:p>
            <a:r>
              <a:rPr lang="en-AU" b="0" dirty="0"/>
              <a:t>Torque = Fr = 343*1.955 = 671 Nm</a:t>
            </a:r>
          </a:p>
        </p:txBody>
      </p:sp>
      <p:sp>
        <p:nvSpPr>
          <p:cNvPr id="4" name="Slide Number Placeholder 3"/>
          <p:cNvSpPr>
            <a:spLocks noGrp="1"/>
          </p:cNvSpPr>
          <p:nvPr>
            <p:ph type="sldNum" sz="quarter" idx="5"/>
          </p:nvPr>
        </p:nvSpPr>
        <p:spPr/>
        <p:txBody>
          <a:bodyPr/>
          <a:lstStyle/>
          <a:p>
            <a:fld id="{B5B756B8-97A8-4FA1-B26A-2500BA5D4D05}" type="slidenum">
              <a:rPr lang="en-AU" smtClean="0"/>
              <a:t>10</a:t>
            </a:fld>
            <a:endParaRPr lang="en-AU" dirty="0"/>
          </a:p>
        </p:txBody>
      </p:sp>
    </p:spTree>
    <p:extLst>
      <p:ext uri="{BB962C8B-B14F-4D97-AF65-F5344CB8AC3E}">
        <p14:creationId xmlns:p14="http://schemas.microsoft.com/office/powerpoint/2010/main" val="18242162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r>
              <a:rPr lang="en-AU" b="0" dirty="0"/>
              <a:t>Two forces acting here: the weights of both poles</a:t>
            </a:r>
          </a:p>
          <a:p>
            <a:endParaRPr lang="en-AU" b="0" dirty="0"/>
          </a:p>
          <a:p>
            <a:r>
              <a:rPr lang="en-AU" b="0" dirty="0"/>
              <a:t>Torque = Fr(bird) + Fr(pole) = 24*9.8*0.75 + 10*9.8*0.375</a:t>
            </a:r>
          </a:p>
          <a:p>
            <a:r>
              <a:rPr lang="en-AU" b="0" dirty="0"/>
              <a:t>= 213 Nm</a:t>
            </a:r>
          </a:p>
        </p:txBody>
      </p:sp>
      <p:sp>
        <p:nvSpPr>
          <p:cNvPr id="4" name="Slide Number Placeholder 3"/>
          <p:cNvSpPr>
            <a:spLocks noGrp="1"/>
          </p:cNvSpPr>
          <p:nvPr>
            <p:ph type="sldNum" sz="quarter" idx="5"/>
          </p:nvPr>
        </p:nvSpPr>
        <p:spPr/>
        <p:txBody>
          <a:bodyPr/>
          <a:lstStyle/>
          <a:p>
            <a:fld id="{B5B756B8-97A8-4FA1-B26A-2500BA5D4D05}" type="slidenum">
              <a:rPr lang="en-AU" smtClean="0"/>
              <a:t>11</a:t>
            </a:fld>
            <a:endParaRPr lang="en-AU" dirty="0"/>
          </a:p>
        </p:txBody>
      </p:sp>
    </p:spTree>
    <p:extLst>
      <p:ext uri="{BB962C8B-B14F-4D97-AF65-F5344CB8AC3E}">
        <p14:creationId xmlns:p14="http://schemas.microsoft.com/office/powerpoint/2010/main" val="278561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r>
              <a:rPr lang="en-AU" b="0" dirty="0"/>
              <a:t>torque = Fr sin theta</a:t>
            </a:r>
            <a:br>
              <a:rPr lang="en-AU" b="0" dirty="0"/>
            </a:br>
            <a:r>
              <a:rPr lang="en-AU" b="0" dirty="0"/>
              <a:t>F = torque / (r sin theta) = 18 / (0.17 sin 25) = 251 N</a:t>
            </a:r>
          </a:p>
          <a:p>
            <a:endParaRPr lang="en-AU" b="0" dirty="0"/>
          </a:p>
          <a:p>
            <a:r>
              <a:rPr lang="en-AU" b="0" dirty="0"/>
              <a:t>How to increase?</a:t>
            </a:r>
          </a:p>
          <a:p>
            <a:r>
              <a:rPr lang="en-AU" b="0" dirty="0"/>
              <a:t> - more force</a:t>
            </a:r>
          </a:p>
          <a:p>
            <a:r>
              <a:rPr lang="en-AU" b="0" dirty="0"/>
              <a:t> - use a longer handle</a:t>
            </a:r>
          </a:p>
          <a:p>
            <a:r>
              <a:rPr lang="en-AU" b="0" dirty="0"/>
              <a:t> - (lower the friction on the nut)</a:t>
            </a:r>
          </a:p>
        </p:txBody>
      </p:sp>
      <p:sp>
        <p:nvSpPr>
          <p:cNvPr id="4" name="Slide Number Placeholder 3"/>
          <p:cNvSpPr>
            <a:spLocks noGrp="1"/>
          </p:cNvSpPr>
          <p:nvPr>
            <p:ph type="sldNum" sz="quarter" idx="5"/>
          </p:nvPr>
        </p:nvSpPr>
        <p:spPr/>
        <p:txBody>
          <a:bodyPr/>
          <a:lstStyle/>
          <a:p>
            <a:fld id="{B5B756B8-97A8-4FA1-B26A-2500BA5D4D05}" type="slidenum">
              <a:rPr lang="en-AU" smtClean="0"/>
              <a:t>12</a:t>
            </a:fld>
            <a:endParaRPr lang="en-AU" dirty="0"/>
          </a:p>
        </p:txBody>
      </p:sp>
    </p:spTree>
    <p:extLst>
      <p:ext uri="{BB962C8B-B14F-4D97-AF65-F5344CB8AC3E}">
        <p14:creationId xmlns:p14="http://schemas.microsoft.com/office/powerpoint/2010/main" val="39102658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13</a:t>
            </a:fld>
            <a:endParaRPr lang="en-AU" dirty="0"/>
          </a:p>
        </p:txBody>
      </p:sp>
    </p:spTree>
    <p:extLst>
      <p:ext uri="{BB962C8B-B14F-4D97-AF65-F5344CB8AC3E}">
        <p14:creationId xmlns:p14="http://schemas.microsoft.com/office/powerpoint/2010/main" val="23129020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15</a:t>
            </a:fld>
            <a:endParaRPr lang="en-AU" dirty="0"/>
          </a:p>
        </p:txBody>
      </p:sp>
    </p:spTree>
    <p:extLst>
      <p:ext uri="{BB962C8B-B14F-4D97-AF65-F5344CB8AC3E}">
        <p14:creationId xmlns:p14="http://schemas.microsoft.com/office/powerpoint/2010/main" val="19956663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16</a:t>
            </a:fld>
            <a:endParaRPr lang="en-AU" dirty="0"/>
          </a:p>
        </p:txBody>
      </p:sp>
    </p:spTree>
    <p:extLst>
      <p:ext uri="{BB962C8B-B14F-4D97-AF65-F5344CB8AC3E}">
        <p14:creationId xmlns:p14="http://schemas.microsoft.com/office/powerpoint/2010/main" val="26520126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18</a:t>
            </a:fld>
            <a:endParaRPr lang="en-AU" dirty="0"/>
          </a:p>
        </p:txBody>
      </p:sp>
    </p:spTree>
    <p:extLst>
      <p:ext uri="{BB962C8B-B14F-4D97-AF65-F5344CB8AC3E}">
        <p14:creationId xmlns:p14="http://schemas.microsoft.com/office/powerpoint/2010/main" val="1426052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19</a:t>
            </a:fld>
            <a:endParaRPr lang="en-AU" dirty="0"/>
          </a:p>
        </p:txBody>
      </p:sp>
    </p:spTree>
    <p:extLst>
      <p:ext uri="{BB962C8B-B14F-4D97-AF65-F5344CB8AC3E}">
        <p14:creationId xmlns:p14="http://schemas.microsoft.com/office/powerpoint/2010/main" val="10490822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20</a:t>
            </a:fld>
            <a:endParaRPr lang="en-AU" dirty="0"/>
          </a:p>
        </p:txBody>
      </p:sp>
    </p:spTree>
    <p:extLst>
      <p:ext uri="{BB962C8B-B14F-4D97-AF65-F5344CB8AC3E}">
        <p14:creationId xmlns:p14="http://schemas.microsoft.com/office/powerpoint/2010/main" val="1333169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21</a:t>
            </a:fld>
            <a:endParaRPr lang="en-AU" dirty="0"/>
          </a:p>
        </p:txBody>
      </p:sp>
    </p:spTree>
    <p:extLst>
      <p:ext uri="{BB962C8B-B14F-4D97-AF65-F5344CB8AC3E}">
        <p14:creationId xmlns:p14="http://schemas.microsoft.com/office/powerpoint/2010/main" val="38343518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22</a:t>
            </a:fld>
            <a:endParaRPr lang="en-AU" dirty="0"/>
          </a:p>
        </p:txBody>
      </p:sp>
    </p:spTree>
    <p:extLst>
      <p:ext uri="{BB962C8B-B14F-4D97-AF65-F5344CB8AC3E}">
        <p14:creationId xmlns:p14="http://schemas.microsoft.com/office/powerpoint/2010/main" val="25227506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23</a:t>
            </a:fld>
            <a:endParaRPr lang="en-AU" dirty="0"/>
          </a:p>
        </p:txBody>
      </p:sp>
    </p:spTree>
    <p:extLst>
      <p:ext uri="{BB962C8B-B14F-4D97-AF65-F5344CB8AC3E}">
        <p14:creationId xmlns:p14="http://schemas.microsoft.com/office/powerpoint/2010/main" val="3075322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Edit</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08655"/>
            <a:ext cx="10004958" cy="515263"/>
          </a:xfrm>
          <a:prstGeom prst="rect">
            <a:avLst/>
          </a:prstGeom>
          <a:no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71043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b="1" i="0" dirty="0">
                <a:latin typeface="Century Gothic" panose="020B0502020202020204" pitchFamily="34" charset="0"/>
              </a:rPr>
              <a:t>SRC Core</a:t>
            </a:r>
            <a:r>
              <a:rPr lang="en-US" sz="7200" b="1" i="0" baseline="0" dirty="0">
                <a:latin typeface="Century Gothic" panose="020B0502020202020204" pitchFamily="34" charset="0"/>
              </a:rPr>
              <a:t> Standards</a:t>
            </a:r>
            <a:endParaRPr lang="en-US" sz="7200" b="1" i="0" dirty="0">
              <a:latin typeface="Century Gothic" panose="020B0502020202020204" pitchFamily="34" charset="0"/>
            </a:endParaRP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692B7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827749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722087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742202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597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692B7D"/>
          </a:solidFill>
          <a:ln>
            <a:noFill/>
          </a:ln>
        </p:spPr>
        <p:txBody>
          <a:bodyPr wrap="square" rtlCol="0" anchor="ctr">
            <a:normAutofit/>
          </a:bodyPr>
          <a:lstStyle/>
          <a:p>
            <a:pPr marL="0" indent="0">
              <a:tabLst>
                <a:tab pos="3597275" algn="l"/>
              </a:tabLst>
            </a:pPr>
            <a:r>
              <a:rPr lang="en-US" sz="6000" b="1" i="0" dirty="0">
                <a:solidFill>
                  <a:schemeClr val="bg1"/>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740704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692B7D"/>
          </a:solidFill>
        </p:spPr>
        <p:txBody>
          <a:bodyPr wrap="square" rtlCol="0" anchor="ctr">
            <a:noAutofit/>
          </a:bodyPr>
          <a:lstStyle/>
          <a:p>
            <a:pPr algn="l"/>
            <a:r>
              <a:rPr lang="en-US" sz="2000" b="1" i="0" dirty="0">
                <a:solidFill>
                  <a:srgbClr val="FBCA58"/>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1221096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007288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294523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3028238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1779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92B7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692B7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220285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eneric Title Slide">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
        <p:nvSpPr>
          <p:cNvPr id="3" name="Text Placeholder 2">
            <a:extLst>
              <a:ext uri="{FF2B5EF4-FFF2-40B4-BE49-F238E27FC236}">
                <a16:creationId xmlns:a16="http://schemas.microsoft.com/office/drawing/2014/main" id="{35918694-72DD-404C-BFE2-AE8FDFB6A47D}"/>
              </a:ext>
            </a:extLst>
          </p:cNvPr>
          <p:cNvSpPr>
            <a:spLocks noGrp="1"/>
          </p:cNvSpPr>
          <p:nvPr>
            <p:ph type="body" sz="quarter" idx="11" hasCustomPrompt="1"/>
          </p:nvPr>
        </p:nvSpPr>
        <p:spPr>
          <a:xfrm>
            <a:off x="295219" y="1019162"/>
            <a:ext cx="2630862" cy="538162"/>
          </a:xfrm>
          <a:prstGeom prst="rect">
            <a:avLst/>
          </a:prstGeom>
          <a:solidFill>
            <a:srgbClr val="2E546D"/>
          </a:solidFill>
        </p:spPr>
        <p:txBody>
          <a:bodyPr/>
          <a:lstStyle>
            <a:lvl1pPr marL="0" indent="0">
              <a:buNone/>
              <a:defRPr sz="3200" b="0"/>
            </a:lvl1pPr>
          </a:lstStyle>
          <a:p>
            <a:r>
              <a:rPr lang="en-US" sz="2800" b="1" i="0" dirty="0">
                <a:solidFill>
                  <a:srgbClr val="FBCA58"/>
                </a:solidFill>
                <a:latin typeface="Century Gothic" panose="020B0502020202020204" pitchFamily="34" charset="0"/>
                <a:cs typeface="Futura Medium" panose="020B0602020204020303" pitchFamily="34" charset="-79"/>
              </a:rPr>
              <a:t>Learning Goal</a:t>
            </a:r>
          </a:p>
        </p:txBody>
      </p:sp>
    </p:spTree>
    <p:extLst>
      <p:ext uri="{BB962C8B-B14F-4D97-AF65-F5344CB8AC3E}">
        <p14:creationId xmlns:p14="http://schemas.microsoft.com/office/powerpoint/2010/main" val="23702189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eneric Content Slid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
        <p:nvSpPr>
          <p:cNvPr id="5" name="Text Placeholder 4">
            <a:extLst>
              <a:ext uri="{FF2B5EF4-FFF2-40B4-BE49-F238E27FC236}">
                <a16:creationId xmlns:a16="http://schemas.microsoft.com/office/drawing/2014/main" id="{26005884-EA56-4A5F-8C82-1956C2ADF2F8}"/>
              </a:ext>
            </a:extLst>
          </p:cNvPr>
          <p:cNvSpPr>
            <a:spLocks noGrp="1"/>
          </p:cNvSpPr>
          <p:nvPr>
            <p:ph type="body" sz="quarter" idx="17" hasCustomPrompt="1"/>
          </p:nvPr>
        </p:nvSpPr>
        <p:spPr>
          <a:xfrm>
            <a:off x="295275" y="595269"/>
            <a:ext cx="3779478" cy="319722"/>
          </a:xfrm>
          <a:prstGeom prst="rect">
            <a:avLst/>
          </a:prstGeom>
          <a:solidFill>
            <a:srgbClr val="FBCA58"/>
          </a:solidFill>
        </p:spPr>
        <p:txBody>
          <a:bodyPr/>
          <a:lstStyle>
            <a:lvl1pPr marL="0" indent="0">
              <a:buNone/>
              <a:defRPr sz="1600" b="1">
                <a:solidFill>
                  <a:srgbClr val="2E546D"/>
                </a:solidFill>
                <a:latin typeface="+mj-lt"/>
              </a:defRPr>
            </a:lvl1pPr>
            <a:lvl2pPr>
              <a:defRPr sz="1800"/>
            </a:lvl2pPr>
            <a:lvl3pPr>
              <a:defRPr sz="1600"/>
            </a:lvl3pPr>
            <a:lvl4pPr>
              <a:defRPr sz="1400"/>
            </a:lvl4pPr>
            <a:lvl5pPr>
              <a:defRPr sz="1400"/>
            </a:lvl5pPr>
          </a:lstStyle>
          <a:p>
            <a:pPr lvl="0"/>
            <a:r>
              <a:rPr lang="en-US" dirty="0"/>
              <a:t>Type Subheading here</a:t>
            </a:r>
          </a:p>
        </p:txBody>
      </p:sp>
    </p:spTree>
    <p:extLst>
      <p:ext uri="{BB962C8B-B14F-4D97-AF65-F5344CB8AC3E}">
        <p14:creationId xmlns:p14="http://schemas.microsoft.com/office/powerpoint/2010/main" val="34852791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6460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o Now">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Do Now</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24237"/>
            <a:ext cx="10004958" cy="499682"/>
          </a:xfrm>
          <a:prstGeom prst="rect">
            <a:avLst/>
          </a:prstGeom>
          <a:solidFill>
            <a:schemeClr val="bg1"/>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409273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2E546D"/>
                </a:solidFill>
                <a:latin typeface="Calibri" panose="020F0502020204030204" pitchFamily="34" charset="0"/>
                <a:cs typeface="Calibri" panose="020F0502020204030204" pitchFamily="34" charset="0"/>
              </a:rPr>
              <a:t>Think </a:t>
            </a:r>
          </a:p>
          <a:p>
            <a:r>
              <a:rPr lang="en-US" sz="3600" b="1" i="0" dirty="0">
                <a:solidFill>
                  <a:srgbClr val="2E546D"/>
                </a:solidFill>
                <a:latin typeface="Calibri" panose="020F0502020204030204" pitchFamily="34" charset="0"/>
                <a:cs typeface="Calibri" panose="020F0502020204030204" pitchFamily="34" charset="0"/>
              </a:rPr>
              <a:t>Pair</a:t>
            </a:r>
          </a:p>
          <a:p>
            <a:r>
              <a:rPr lang="en-US" sz="3600" b="1" i="0" dirty="0">
                <a:solidFill>
                  <a:srgbClr val="2E546D"/>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50352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arning Goal Simple">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Tree>
    <p:extLst>
      <p:ext uri="{BB962C8B-B14F-4D97-AF65-F5344CB8AC3E}">
        <p14:creationId xmlns:p14="http://schemas.microsoft.com/office/powerpoint/2010/main" val="40040971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E546D"/>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8144513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123652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F556E"/>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F556E"/>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9054138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34819495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4894422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780312292"/>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772040135"/>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7490494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6172997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4288181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userDrawn="1"/>
        </p:nvSpPr>
        <p:spPr>
          <a:xfrm>
            <a:off x="0" y="0"/>
            <a:ext cx="12192000" cy="6858000"/>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D886F1C9-C15E-0448-B006-3ECFAB54CD2D}"/>
              </a:ext>
            </a:extLst>
          </p:cNvPr>
          <p:cNvSpPr/>
          <p:nvPr userDrawn="1"/>
        </p:nvSpPr>
        <p:spPr>
          <a:xfrm>
            <a:off x="-66676" y="221673"/>
            <a:ext cx="12258675"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C4F9A874-5CE1-8647-AFA9-BD43474DD64E}"/>
              </a:ext>
            </a:extLst>
          </p:cNvPr>
          <p:cNvPicPr>
            <a:picLocks noChangeAspect="1"/>
          </p:cNvPicPr>
          <p:nvPr userDrawn="1"/>
        </p:nvPicPr>
        <p:blipFill>
          <a:blip r:embed="rId14"/>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4030593586"/>
      </p:ext>
    </p:extLst>
  </p:cSld>
  <p:clrMap bg1="lt1" tx1="dk1" bg2="lt2" tx2="dk2" accent1="accent1" accent2="accent2" accent3="accent3" accent4="accent4" accent5="accent5" accent6="accent6" hlink="hlink" folHlink="folHlink"/>
  <p:sldLayoutIdLst>
    <p:sldLayoutId id="2147484258" r:id="rId1"/>
    <p:sldLayoutId id="2147484233" r:id="rId2"/>
    <p:sldLayoutId id="2147484234" r:id="rId3"/>
    <p:sldLayoutId id="2147484235" r:id="rId4"/>
    <p:sldLayoutId id="2147484236" r:id="rId5"/>
    <p:sldLayoutId id="2147484257" r:id="rId6"/>
    <p:sldLayoutId id="2147484255" r:id="rId7"/>
    <p:sldLayoutId id="2147484237" r:id="rId8"/>
    <p:sldLayoutId id="2147484238" r:id="rId9"/>
    <p:sldLayoutId id="2147484239" r:id="rId10"/>
    <p:sldLayoutId id="2147484240" r:id="rId11"/>
    <p:sldLayoutId id="214748429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userDrawn="1"/>
        </p:nvSpPr>
        <p:spPr>
          <a:xfrm>
            <a:off x="0" y="0"/>
            <a:ext cx="12192000" cy="6858000"/>
          </a:xfrm>
          <a:prstGeom prst="rect">
            <a:avLst/>
          </a:prstGeom>
          <a:solidFill>
            <a:srgbClr val="2E5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3BC489FE-D005-E249-B3C3-A41B78A14714}"/>
              </a:ext>
            </a:extLst>
          </p:cNvPr>
          <p:cNvSpPr/>
          <p:nvPr userDrawn="1"/>
        </p:nvSpPr>
        <p:spPr>
          <a:xfrm>
            <a:off x="0" y="221672"/>
            <a:ext cx="12192000" cy="63728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9DC76C98-0227-3747-80B1-ED384456CDE8}"/>
              </a:ext>
            </a:extLst>
          </p:cNvPr>
          <p:cNvPicPr>
            <a:picLocks noChangeAspect="1"/>
          </p:cNvPicPr>
          <p:nvPr userDrawn="1"/>
        </p:nvPicPr>
        <p:blipFill>
          <a:blip r:embed="rId18"/>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288887113"/>
      </p:ext>
    </p:extLst>
  </p:cSld>
  <p:clrMap bg1="lt1" tx1="dk1" bg2="lt2" tx2="dk2" accent1="accent1" accent2="accent2" accent3="accent3" accent4="accent4" accent5="accent5" accent6="accent6" hlink="hlink" folHlink="folHlink"/>
  <p:sldLayoutIdLst>
    <p:sldLayoutId id="2147484294" r:id="rId1"/>
    <p:sldLayoutId id="2147484295" r:id="rId2"/>
    <p:sldLayoutId id="2147484288" r:id="rId3"/>
    <p:sldLayoutId id="2147484275" r:id="rId4"/>
    <p:sldLayoutId id="2147484276" r:id="rId5"/>
    <p:sldLayoutId id="2147484293" r:id="rId6"/>
    <p:sldLayoutId id="2147484277" r:id="rId7"/>
    <p:sldLayoutId id="2147484278" r:id="rId8"/>
    <p:sldLayoutId id="2147484279" r:id="rId9"/>
    <p:sldLayoutId id="2147484280" r:id="rId10"/>
    <p:sldLayoutId id="2147484281" r:id="rId11"/>
    <p:sldLayoutId id="2147484282" r:id="rId12"/>
    <p:sldLayoutId id="2147484283" r:id="rId13"/>
    <p:sldLayoutId id="2147484284" r:id="rId14"/>
    <p:sldLayoutId id="2147484285" r:id="rId15"/>
    <p:sldLayoutId id="2147484286"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4.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3.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image" Target="../media/image28.png"/><Relationship Id="rId4" Type="http://schemas.openxmlformats.org/officeDocument/2006/relationships/image" Target="../media/image15.png"/><Relationship Id="rId9" Type="http://schemas.openxmlformats.org/officeDocument/2006/relationships/image" Target="../media/image27.png"/></Relationships>
</file>

<file path=ppt/slides/_rels/slide9.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5.png"/><Relationship Id="rId7"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image" Target="../media/image29.png"/><Relationship Id="rId5" Type="http://schemas.openxmlformats.org/officeDocument/2006/relationships/image" Target="../media/image19.png"/><Relationship Id="rId4" Type="http://schemas.openxmlformats.org/officeDocument/2006/relationships/image" Target="../media/image25.png"/><Relationship Id="rId9"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14.xml"/><Relationship Id="rId6" Type="http://schemas.openxmlformats.org/officeDocument/2006/relationships/image" Target="../media/image41.jpg"/><Relationship Id="rId5" Type="http://schemas.openxmlformats.org/officeDocument/2006/relationships/image" Target="../media/image40.png"/><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14.xml"/><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Torque</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1600" b="0" dirty="0">
                <a:solidFill>
                  <a:srgbClr val="000303"/>
                </a:solidFill>
                <a:latin typeface="+mj-lt"/>
              </a:rPr>
              <a:t>I can define torque as a turning effect.</a:t>
            </a:r>
          </a:p>
          <a:p>
            <a:pPr algn="l"/>
            <a:r>
              <a:rPr lang="en-US" sz="1600" b="0" dirty="0">
                <a:solidFill>
                  <a:srgbClr val="000303"/>
                </a:solidFill>
                <a:latin typeface="+mj-lt"/>
              </a:rPr>
              <a:t>I</a:t>
            </a:r>
            <a:r>
              <a:rPr lang="en-US" sz="1600" b="0" i="0" dirty="0">
                <a:solidFill>
                  <a:srgbClr val="000303"/>
                </a:solidFill>
                <a:effectLst/>
                <a:latin typeface="+mj-lt"/>
              </a:rPr>
              <a:t> can </a:t>
            </a:r>
            <a:r>
              <a:rPr lang="en-AU" sz="1600" b="0" dirty="0">
                <a:solidFill>
                  <a:srgbClr val="000303"/>
                </a:solidFill>
                <a:latin typeface="+mj-lt"/>
              </a:rPr>
              <a:t>calculate the torque applied to an object.</a:t>
            </a:r>
            <a:endParaRPr lang="en-US" sz="1600" b="0" i="0" dirty="0">
              <a:solidFill>
                <a:srgbClr val="000303"/>
              </a:solidFill>
              <a:effectLst/>
              <a:latin typeface="+mj-lt"/>
            </a:endParaRPr>
          </a:p>
        </p:txBody>
      </p:sp>
    </p:spTree>
    <p:extLst>
      <p:ext uri="{BB962C8B-B14F-4D97-AF65-F5344CB8AC3E}">
        <p14:creationId xmlns:p14="http://schemas.microsoft.com/office/powerpoint/2010/main" val="3779206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Torque</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Link to Syllabus</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8" name="Picture 7">
            <a:extLst>
              <a:ext uri="{FF2B5EF4-FFF2-40B4-BE49-F238E27FC236}">
                <a16:creationId xmlns:a16="http://schemas.microsoft.com/office/drawing/2014/main" id="{9F25B7B3-24C1-73C5-7A0E-525BF64B7156}"/>
              </a:ext>
            </a:extLst>
          </p:cNvPr>
          <p:cNvPicPr>
            <a:picLocks noChangeAspect="1"/>
          </p:cNvPicPr>
          <p:nvPr/>
        </p:nvPicPr>
        <p:blipFill>
          <a:blip r:embed="rId3"/>
          <a:stretch>
            <a:fillRect/>
          </a:stretch>
        </p:blipFill>
        <p:spPr>
          <a:xfrm>
            <a:off x="295275" y="1003197"/>
            <a:ext cx="10700274" cy="3036948"/>
          </a:xfrm>
          <a:prstGeom prst="rect">
            <a:avLst/>
          </a:prstGeom>
        </p:spPr>
      </p:pic>
    </p:spTree>
    <p:extLst>
      <p:ext uri="{BB962C8B-B14F-4D97-AF65-F5344CB8AC3E}">
        <p14:creationId xmlns:p14="http://schemas.microsoft.com/office/powerpoint/2010/main" val="1200013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Torque</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95275" y="987457"/>
            <a:ext cx="12097418" cy="4225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dirty="0"/>
              <a:t>Door experiment</a:t>
            </a:r>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grpSp>
        <p:nvGrpSpPr>
          <p:cNvPr id="14" name="Group 13">
            <a:extLst>
              <a:ext uri="{FF2B5EF4-FFF2-40B4-BE49-F238E27FC236}">
                <a16:creationId xmlns:a16="http://schemas.microsoft.com/office/drawing/2014/main" id="{59A72B35-4658-2F5E-45BF-8FEC1B0B52FE}"/>
              </a:ext>
            </a:extLst>
          </p:cNvPr>
          <p:cNvGrpSpPr/>
          <p:nvPr/>
        </p:nvGrpSpPr>
        <p:grpSpPr>
          <a:xfrm>
            <a:off x="295275" y="1480840"/>
            <a:ext cx="11580410" cy="3515566"/>
            <a:chOff x="295275" y="1480840"/>
            <a:chExt cx="11580410" cy="3515566"/>
          </a:xfrm>
        </p:grpSpPr>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95275" y="1480840"/>
              <a:ext cx="5800725" cy="351556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b="0" dirty="0"/>
                <a:t>When pushing on the door, the farther from the hinge, the easier it was to move the door.</a:t>
              </a:r>
            </a:p>
            <a:p>
              <a:endParaRPr lang="en-AU" sz="1050" b="0" dirty="0"/>
            </a:p>
            <a:p>
              <a:r>
                <a:rPr lang="en-AU" b="0" dirty="0"/>
                <a:t>The door is a lever, moving around a fulcrum or pivot (the hinge). Pushing on the door supplies a turning effect to the door.</a:t>
              </a:r>
            </a:p>
          </p:txBody>
        </p:sp>
        <p:pic>
          <p:nvPicPr>
            <p:cNvPr id="11" name="Picture 10">
              <a:extLst>
                <a:ext uri="{FF2B5EF4-FFF2-40B4-BE49-F238E27FC236}">
                  <a16:creationId xmlns:a16="http://schemas.microsoft.com/office/drawing/2014/main" id="{387DB39E-5604-F41B-40D2-83B73BC6C2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2314" y="1693315"/>
              <a:ext cx="5463371" cy="1941888"/>
            </a:xfrm>
            <a:prstGeom prst="rect">
              <a:avLst/>
            </a:prstGeom>
          </p:spPr>
        </p:pic>
      </p:grpSp>
      <p:sp>
        <p:nvSpPr>
          <p:cNvPr id="12" name="Text Placeholder 3">
            <a:extLst>
              <a:ext uri="{FF2B5EF4-FFF2-40B4-BE49-F238E27FC236}">
                <a16:creationId xmlns:a16="http://schemas.microsoft.com/office/drawing/2014/main" id="{8A5BAC21-4E4D-718A-23A2-914D3AFF9444}"/>
              </a:ext>
            </a:extLst>
          </p:cNvPr>
          <p:cNvSpPr txBox="1">
            <a:spLocks/>
          </p:cNvSpPr>
          <p:nvPr/>
        </p:nvSpPr>
        <p:spPr>
          <a:xfrm>
            <a:off x="295275" y="5377159"/>
            <a:ext cx="11489055" cy="708521"/>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b="0" dirty="0"/>
              <a:t>The turning effect is a function of the force applied in the correct direction and distance from the pivot.</a:t>
            </a:r>
          </a:p>
        </p:txBody>
      </p:sp>
    </p:spTree>
    <p:extLst>
      <p:ext uri="{BB962C8B-B14F-4D97-AF65-F5344CB8AC3E}">
        <p14:creationId xmlns:p14="http://schemas.microsoft.com/office/powerpoint/2010/main" val="3201448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Torque</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56311" y="5696255"/>
            <a:ext cx="11977133" cy="885562"/>
          </a:xfrm>
          <a:prstGeom prst="rect">
            <a:avLst/>
          </a:prstGeom>
          <a:solidFill>
            <a:schemeClr val="bg1"/>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95274" y="904805"/>
            <a:ext cx="11896725"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The turning effect is called the </a:t>
            </a:r>
            <a:r>
              <a:rPr lang="en-AU" sz="2400" dirty="0"/>
              <a:t>torque</a:t>
            </a:r>
            <a:r>
              <a:rPr lang="en-AU" sz="2400" b="0" dirty="0"/>
              <a:t> or </a:t>
            </a:r>
            <a:r>
              <a:rPr lang="en-AU" sz="2400" dirty="0"/>
              <a:t>moment</a:t>
            </a:r>
            <a:r>
              <a:rPr lang="en-AU" sz="2400" b="0" dirty="0"/>
              <a:t>. It occurs when an object turns around a pivot (also known as the axis of rotation). The torque is the product of the force acting perpendicular to the axis of rotation and the distance from the pivot.</a:t>
            </a:r>
          </a:p>
          <a:p>
            <a:pPr algn="just"/>
            <a:endParaRPr lang="en-AU" sz="2400" b="0" dirty="0"/>
          </a:p>
          <a:p>
            <a:pPr algn="just"/>
            <a:endParaRPr lang="en-AU" sz="2400" b="0" dirty="0"/>
          </a:p>
          <a:p>
            <a:pPr algn="just"/>
            <a:endParaRPr lang="en-AU" sz="2400" b="0" dirty="0"/>
          </a:p>
          <a:p>
            <a:pPr algn="just"/>
            <a:endParaRPr lang="en-AU" sz="2400" b="0" dirty="0"/>
          </a:p>
          <a:p>
            <a:pPr algn="just"/>
            <a:r>
              <a:rPr lang="en-AU" sz="2400" b="0" dirty="0"/>
              <a:t> </a:t>
            </a:r>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14" name="Picture 13">
            <a:extLst>
              <a:ext uri="{FF2B5EF4-FFF2-40B4-BE49-F238E27FC236}">
                <a16:creationId xmlns:a16="http://schemas.microsoft.com/office/drawing/2014/main" id="{651B1C71-FDBD-D22D-9385-AC4EFFA229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3860" y="2911261"/>
            <a:ext cx="4944622" cy="1757505"/>
          </a:xfrm>
          <a:prstGeom prst="rect">
            <a:avLst/>
          </a:prstGeom>
        </p:spPr>
      </p:pic>
      <p:sp>
        <p:nvSpPr>
          <p:cNvPr id="16" name="TextBox 15">
            <a:extLst>
              <a:ext uri="{FF2B5EF4-FFF2-40B4-BE49-F238E27FC236}">
                <a16:creationId xmlns:a16="http://schemas.microsoft.com/office/drawing/2014/main" id="{2B22F4DF-9B52-67A9-4728-6BF25881331B}"/>
              </a:ext>
            </a:extLst>
          </p:cNvPr>
          <p:cNvSpPr txBox="1"/>
          <p:nvPr/>
        </p:nvSpPr>
        <p:spPr>
          <a:xfrm>
            <a:off x="295275" y="2690122"/>
            <a:ext cx="5321423" cy="3323987"/>
          </a:xfrm>
          <a:prstGeom prst="rect">
            <a:avLst/>
          </a:prstGeom>
          <a:noFill/>
          <a:ln>
            <a:noFill/>
          </a:ln>
        </p:spPr>
        <p:txBody>
          <a:bodyPr wrap="square">
            <a:spAutoFit/>
          </a:bodyPr>
          <a:lstStyle/>
          <a:p>
            <a:pPr algn="just"/>
            <a:r>
              <a:rPr lang="en-AU" sz="2400" dirty="0">
                <a:latin typeface="Century Gothic" panose="020B0502020202020204" pitchFamily="34" charset="0"/>
              </a:rPr>
              <a:t>The angle is important!</a:t>
            </a:r>
          </a:p>
          <a:p>
            <a:pPr algn="just"/>
            <a:endParaRPr lang="en-AU" sz="2400" dirty="0">
              <a:latin typeface="Century Gothic" panose="020B0502020202020204" pitchFamily="34" charset="0"/>
            </a:endParaRPr>
          </a:p>
          <a:p>
            <a:pPr algn="just"/>
            <a:r>
              <a:rPr lang="en-AU" sz="2400" dirty="0">
                <a:latin typeface="Century Gothic" panose="020B0502020202020204" pitchFamily="34" charset="0"/>
              </a:rPr>
              <a:t>Pushing a door at an angle to the axis of rotation is less effective than pushing it straight on. This is because the perpendicular force is lower when at an angle.</a:t>
            </a:r>
          </a:p>
          <a:p>
            <a:pPr algn="just"/>
            <a:endParaRPr lang="en-AU" sz="2400" dirty="0">
              <a:latin typeface="Century Gothic" panose="020B0502020202020204" pitchFamily="34" charset="0"/>
            </a:endParaRPr>
          </a:p>
          <a:p>
            <a:pPr algn="just"/>
            <a:endParaRPr lang="en-AU" sz="1800" b="0" dirty="0"/>
          </a:p>
        </p:txBody>
      </p:sp>
      <p:sp>
        <p:nvSpPr>
          <p:cNvPr id="17" name="Rectangle 16">
            <a:extLst>
              <a:ext uri="{FF2B5EF4-FFF2-40B4-BE49-F238E27FC236}">
                <a16:creationId xmlns:a16="http://schemas.microsoft.com/office/drawing/2014/main" id="{72954A3E-3D03-E932-7C99-766ECBD2C6E3}"/>
              </a:ext>
            </a:extLst>
          </p:cNvPr>
          <p:cNvSpPr/>
          <p:nvPr/>
        </p:nvSpPr>
        <p:spPr>
          <a:xfrm>
            <a:off x="6438899" y="4888199"/>
            <a:ext cx="5596790" cy="1652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AU" sz="1600" b="1" dirty="0">
                <a:solidFill>
                  <a:schemeClr val="tx1"/>
                </a:solidFill>
              </a:rPr>
              <a:t>F</a:t>
            </a:r>
            <a:r>
              <a:rPr lang="en-AU" sz="1600" b="1" baseline="-25000" dirty="0">
                <a:solidFill>
                  <a:schemeClr val="tx1"/>
                </a:solidFill>
              </a:rPr>
              <a:t>1</a:t>
            </a:r>
            <a:r>
              <a:rPr lang="en-AU" sz="1600" dirty="0">
                <a:solidFill>
                  <a:schemeClr val="tx1"/>
                </a:solidFill>
              </a:rPr>
              <a:t>: far from pivot; perpendicular to axis  </a:t>
            </a:r>
            <a:r>
              <a:rPr lang="en-AU" sz="1600" dirty="0">
                <a:solidFill>
                  <a:schemeClr val="tx1"/>
                </a:solidFill>
                <a:sym typeface="Wingdings" panose="05000000000000000000" pitchFamily="2" charset="2"/>
              </a:rPr>
              <a:t> high torque</a:t>
            </a:r>
            <a:endParaRPr lang="en-AU" sz="1600" dirty="0">
              <a:solidFill>
                <a:schemeClr val="tx1"/>
              </a:solidFill>
            </a:endParaRPr>
          </a:p>
          <a:p>
            <a:r>
              <a:rPr lang="en-AU" sz="1600" b="1" dirty="0">
                <a:solidFill>
                  <a:schemeClr val="tx1"/>
                </a:solidFill>
              </a:rPr>
              <a:t>F</a:t>
            </a:r>
            <a:r>
              <a:rPr lang="en-AU" sz="1600" b="1" baseline="-25000" dirty="0">
                <a:solidFill>
                  <a:schemeClr val="tx1"/>
                </a:solidFill>
              </a:rPr>
              <a:t>2</a:t>
            </a:r>
            <a:r>
              <a:rPr lang="en-AU" sz="1600" dirty="0">
                <a:solidFill>
                  <a:schemeClr val="tx1"/>
                </a:solidFill>
              </a:rPr>
              <a:t>: far from pivot; parallel to axis </a:t>
            </a:r>
            <a:r>
              <a:rPr lang="en-AU" sz="1600" dirty="0">
                <a:solidFill>
                  <a:schemeClr val="tx1"/>
                </a:solidFill>
                <a:sym typeface="Wingdings" panose="05000000000000000000" pitchFamily="2" charset="2"/>
              </a:rPr>
              <a:t> no torque</a:t>
            </a:r>
            <a:endParaRPr lang="en-AU" sz="1600" dirty="0">
              <a:solidFill>
                <a:schemeClr val="tx1"/>
              </a:solidFill>
            </a:endParaRPr>
          </a:p>
          <a:p>
            <a:r>
              <a:rPr lang="en-AU" sz="1600" b="1" dirty="0">
                <a:solidFill>
                  <a:schemeClr val="tx1"/>
                </a:solidFill>
              </a:rPr>
              <a:t>F</a:t>
            </a:r>
            <a:r>
              <a:rPr lang="en-AU" sz="1600" b="1" baseline="-25000" dirty="0">
                <a:solidFill>
                  <a:schemeClr val="tx1"/>
                </a:solidFill>
              </a:rPr>
              <a:t>3</a:t>
            </a:r>
            <a:r>
              <a:rPr lang="en-AU" sz="1600" dirty="0">
                <a:solidFill>
                  <a:schemeClr val="tx1"/>
                </a:solidFill>
              </a:rPr>
              <a:t>: far from pivot; angled </a:t>
            </a:r>
            <a:r>
              <a:rPr lang="en-AU" sz="1600" dirty="0">
                <a:solidFill>
                  <a:schemeClr val="tx1"/>
                </a:solidFill>
                <a:sym typeface="Wingdings" panose="05000000000000000000" pitchFamily="2" charset="2"/>
              </a:rPr>
              <a:t> low torque</a:t>
            </a:r>
          </a:p>
          <a:p>
            <a:r>
              <a:rPr lang="en-AU" sz="1600" b="1" dirty="0">
                <a:solidFill>
                  <a:schemeClr val="tx1"/>
                </a:solidFill>
                <a:sym typeface="Wingdings" panose="05000000000000000000" pitchFamily="2" charset="2"/>
              </a:rPr>
              <a:t>F</a:t>
            </a:r>
            <a:r>
              <a:rPr lang="en-AU" sz="1600" b="1" baseline="-25000" dirty="0">
                <a:solidFill>
                  <a:schemeClr val="tx1"/>
                </a:solidFill>
                <a:sym typeface="Wingdings" panose="05000000000000000000" pitchFamily="2" charset="2"/>
              </a:rPr>
              <a:t>4</a:t>
            </a:r>
            <a:r>
              <a:rPr lang="en-AU" sz="1600" dirty="0">
                <a:solidFill>
                  <a:schemeClr val="tx1"/>
                </a:solidFill>
                <a:sym typeface="Wingdings" panose="05000000000000000000" pitchFamily="2" charset="2"/>
              </a:rPr>
              <a:t>: close to pivot; perpendicular to axis  low torque</a:t>
            </a:r>
            <a:endParaRPr lang="en-AU" sz="1600" dirty="0">
              <a:solidFill>
                <a:schemeClr val="tx1"/>
              </a:solidFill>
            </a:endParaRPr>
          </a:p>
        </p:txBody>
      </p:sp>
      <p:cxnSp>
        <p:nvCxnSpPr>
          <p:cNvPr id="19" name="Straight Connector 18">
            <a:extLst>
              <a:ext uri="{FF2B5EF4-FFF2-40B4-BE49-F238E27FC236}">
                <a16:creationId xmlns:a16="http://schemas.microsoft.com/office/drawing/2014/main" id="{DD559E7B-C1CE-D01D-0CD3-4696E4FFFD93}"/>
              </a:ext>
            </a:extLst>
          </p:cNvPr>
          <p:cNvCxnSpPr>
            <a:cxnSpLocks/>
          </p:cNvCxnSpPr>
          <p:nvPr/>
        </p:nvCxnSpPr>
        <p:spPr>
          <a:xfrm>
            <a:off x="7172786" y="3326130"/>
            <a:ext cx="3388534"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203A2312-0116-0914-8935-7E035FEFDD31}"/>
              </a:ext>
            </a:extLst>
          </p:cNvPr>
          <p:cNvSpPr/>
          <p:nvPr/>
        </p:nvSpPr>
        <p:spPr>
          <a:xfrm>
            <a:off x="6356002" y="2917793"/>
            <a:ext cx="1747868" cy="2882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AU" sz="1600" b="1" dirty="0">
                <a:solidFill>
                  <a:schemeClr val="tx1"/>
                </a:solidFill>
              </a:rPr>
              <a:t>axis of rotation</a:t>
            </a:r>
            <a:endParaRPr lang="en-AU" sz="1600" dirty="0">
              <a:solidFill>
                <a:schemeClr val="tx1"/>
              </a:solidFill>
            </a:endParaRPr>
          </a:p>
        </p:txBody>
      </p:sp>
    </p:spTree>
    <p:extLst>
      <p:ext uri="{BB962C8B-B14F-4D97-AF65-F5344CB8AC3E}">
        <p14:creationId xmlns:p14="http://schemas.microsoft.com/office/powerpoint/2010/main" val="800098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Torque</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mc:AlternateContent xmlns:mc="http://schemas.openxmlformats.org/markup-compatibility/2006" xmlns:a14="http://schemas.microsoft.com/office/drawing/2010/main">
        <mc:Choice Requires="a14">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95274" y="904805"/>
                <a:ext cx="11896725"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Torque is measured in N m (newton-metres) and represented with the symbol </a:t>
                </a:r>
                <a14:m>
                  <m:oMath xmlns:m="http://schemas.openxmlformats.org/officeDocument/2006/math">
                    <m:r>
                      <a:rPr lang="en-AU" sz="2400" i="1" smtClean="0">
                        <a:solidFill>
                          <a:schemeClr val="tx1"/>
                        </a:solidFill>
                        <a:latin typeface="Cambria Math" panose="02040503050406030204" pitchFamily="18" charset="0"/>
                        <a:ea typeface="Cambria Math" panose="02040503050406030204" pitchFamily="18" charset="0"/>
                      </a:rPr>
                      <m:t>𝝉</m:t>
                    </m:r>
                  </m:oMath>
                </a14:m>
                <a:r>
                  <a:rPr lang="en-AU" sz="2400" b="0" dirty="0"/>
                  <a:t> (Greek letter tau). It can be calculated in three ways:</a:t>
                </a:r>
              </a:p>
              <a:p>
                <a:pPr algn="just"/>
                <a:endParaRPr lang="en-AU" sz="2400" b="0" dirty="0"/>
              </a:p>
              <a:p>
                <a:pPr algn="just"/>
                <a:endParaRPr lang="en-AU" sz="2400" b="0" dirty="0"/>
              </a:p>
              <a:p>
                <a:pPr algn="just"/>
                <a:endParaRPr lang="en-AU" sz="2400" b="0" dirty="0"/>
              </a:p>
              <a:p>
                <a:pPr algn="just"/>
                <a:r>
                  <a:rPr lang="en-AU" sz="2400" b="0" dirty="0"/>
                  <a:t> </a:t>
                </a:r>
              </a:p>
            </p:txBody>
          </p:sp>
        </mc:Choice>
        <mc:Fallback xmlns="">
          <p:sp>
            <p:nvSpPr>
              <p:cNvPr id="28" name="Text Placeholder 3">
                <a:extLst>
                  <a:ext uri="{FF2B5EF4-FFF2-40B4-BE49-F238E27FC236}">
                    <a16:creationId xmlns:a16="http://schemas.microsoft.com/office/drawing/2014/main" id="{7E11F69C-68AB-4B11-9E75-0C0F6E869F68}"/>
                  </a:ext>
                </a:extLst>
              </p:cNvPr>
              <p:cNvSpPr txBox="1">
                <a:spLocks noRot="1" noChangeAspect="1" noMove="1" noResize="1" noEditPoints="1" noAdjustHandles="1" noChangeArrowheads="1" noChangeShapeType="1" noTextEdit="1"/>
              </p:cNvSpPr>
              <p:nvPr/>
            </p:nvSpPr>
            <p:spPr>
              <a:xfrm>
                <a:off x="295274" y="904805"/>
                <a:ext cx="11896725" cy="885562"/>
              </a:xfrm>
              <a:prstGeom prst="rect">
                <a:avLst/>
              </a:prstGeom>
              <a:blipFill>
                <a:blip r:embed="rId3"/>
                <a:stretch>
                  <a:fillRect l="-768" t="-9589"/>
                </a:stretch>
              </a:blipFill>
            </p:spPr>
            <p:txBody>
              <a:bodyPr/>
              <a:lstStyle/>
              <a:p>
                <a:r>
                  <a:rPr lang="en-AU">
                    <a:noFill/>
                  </a:rPr>
                  <a:t> </a:t>
                </a:r>
              </a:p>
            </p:txBody>
          </p:sp>
        </mc:Fallback>
      </mc:AlternateContent>
      <p:sp>
        <p:nvSpPr>
          <p:cNvPr id="3" name="TextBox 2">
            <a:extLst>
              <a:ext uri="{FF2B5EF4-FFF2-40B4-BE49-F238E27FC236}">
                <a16:creationId xmlns:a16="http://schemas.microsoft.com/office/drawing/2014/main" id="{7D3D632F-6097-4B6C-05D5-84D5073D5291}"/>
              </a:ext>
            </a:extLst>
          </p:cNvPr>
          <p:cNvSpPr txBox="1"/>
          <p:nvPr/>
        </p:nvSpPr>
        <p:spPr>
          <a:xfrm>
            <a:off x="295275" y="1853945"/>
            <a:ext cx="5321423" cy="3785652"/>
          </a:xfrm>
          <a:prstGeom prst="rect">
            <a:avLst/>
          </a:prstGeom>
          <a:noFill/>
          <a:ln>
            <a:noFill/>
          </a:ln>
        </p:spPr>
        <p:txBody>
          <a:bodyPr wrap="square">
            <a:spAutoFit/>
          </a:bodyPr>
          <a:lstStyle/>
          <a:p>
            <a:pPr marL="457200" indent="-457200" algn="just">
              <a:buAutoNum type="arabicPeriod"/>
            </a:pPr>
            <a:r>
              <a:rPr lang="en-AU" sz="2400" dirty="0">
                <a:latin typeface="Century Gothic" panose="020B0502020202020204" pitchFamily="34" charset="0"/>
              </a:rPr>
              <a:t>Find perpendicular force</a:t>
            </a:r>
          </a:p>
          <a:p>
            <a:pPr marL="457200" indent="-457200" algn="just">
              <a:buAutoNum type="arabicPeriod"/>
            </a:pPr>
            <a:endParaRPr lang="en-AU" sz="2400" dirty="0">
              <a:latin typeface="Century Gothic" panose="020B0502020202020204" pitchFamily="34" charset="0"/>
            </a:endParaRPr>
          </a:p>
          <a:p>
            <a:pPr marL="457200" indent="-457200" algn="just">
              <a:buAutoNum type="arabicPeriod"/>
            </a:pPr>
            <a:endParaRPr lang="en-AU" sz="2400" dirty="0">
              <a:latin typeface="Century Gothic" panose="020B0502020202020204" pitchFamily="34" charset="0"/>
            </a:endParaRPr>
          </a:p>
          <a:p>
            <a:pPr marL="457200" indent="-457200" algn="just">
              <a:buAutoNum type="arabicPeriod"/>
            </a:pPr>
            <a:endParaRPr lang="en-AU" sz="2400" dirty="0">
              <a:latin typeface="Century Gothic" panose="020B0502020202020204" pitchFamily="34" charset="0"/>
            </a:endParaRPr>
          </a:p>
          <a:p>
            <a:pPr marL="457200" indent="-457200" algn="just">
              <a:buAutoNum type="arabicPeriod"/>
            </a:pPr>
            <a:r>
              <a:rPr lang="en-AU" sz="2400" dirty="0">
                <a:latin typeface="Century Gothic" panose="020B0502020202020204" pitchFamily="34" charset="0"/>
              </a:rPr>
              <a:t>Find perpendicular distance</a:t>
            </a:r>
          </a:p>
          <a:p>
            <a:pPr marL="457200" indent="-457200" algn="just">
              <a:buAutoNum type="arabicPeriod"/>
            </a:pPr>
            <a:endParaRPr lang="en-AU" sz="2400" dirty="0">
              <a:latin typeface="Century Gothic" panose="020B0502020202020204" pitchFamily="34" charset="0"/>
            </a:endParaRPr>
          </a:p>
          <a:p>
            <a:pPr marL="457200" indent="-457200" algn="just">
              <a:buAutoNum type="arabicPeriod"/>
            </a:pPr>
            <a:endParaRPr lang="en-AU" sz="2400" dirty="0">
              <a:latin typeface="Century Gothic" panose="020B0502020202020204" pitchFamily="34" charset="0"/>
            </a:endParaRPr>
          </a:p>
          <a:p>
            <a:pPr marL="457200" indent="-457200" algn="just">
              <a:buAutoNum type="arabicPeriod"/>
            </a:pPr>
            <a:endParaRPr lang="en-AU" sz="2400" dirty="0">
              <a:latin typeface="Century Gothic" panose="020B0502020202020204" pitchFamily="34" charset="0"/>
            </a:endParaRPr>
          </a:p>
          <a:p>
            <a:pPr marL="457200" indent="-457200" algn="just">
              <a:buAutoNum type="arabicPeriod"/>
            </a:pPr>
            <a:r>
              <a:rPr lang="en-AU" sz="2400" dirty="0">
                <a:latin typeface="Century Gothic" panose="020B0502020202020204" pitchFamily="34" charset="0"/>
              </a:rPr>
              <a:t>Measure angle between force and the lever.</a:t>
            </a:r>
            <a:endParaRPr lang="en-AU" sz="1800"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21608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0F9DC33-1991-7BD5-B64E-0A04106839FF}"/>
                  </a:ext>
                </a:extLst>
              </p:cNvPr>
              <p:cNvSpPr txBox="1"/>
              <p:nvPr/>
            </p:nvSpPr>
            <p:spPr>
              <a:xfrm>
                <a:off x="1605349" y="2491096"/>
                <a:ext cx="3880312" cy="430887"/>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ea typeface="Cambria Math" panose="02040503050406030204" pitchFamily="18" charset="0"/>
                        </a:rPr>
                        <m:t>𝝉</m:t>
                      </m:r>
                      <m:r>
                        <a:rPr lang="en-AU" sz="2800" b="1" i="1" smtClean="0">
                          <a:solidFill>
                            <a:srgbClr val="FF0000"/>
                          </a:solidFill>
                          <a:latin typeface="Cambria Math" panose="02040503050406030204" pitchFamily="18" charset="0"/>
                          <a:ea typeface="Cambria Math" panose="02040503050406030204" pitchFamily="18" charset="0"/>
                        </a:rPr>
                        <m:t>=</m:t>
                      </m:r>
                      <m:r>
                        <a:rPr lang="en-AU" sz="2800" b="1" i="1" smtClean="0">
                          <a:solidFill>
                            <a:srgbClr val="FF0000"/>
                          </a:solidFill>
                          <a:latin typeface="Cambria Math" panose="02040503050406030204" pitchFamily="18" charset="0"/>
                          <a:ea typeface="Cambria Math" panose="02040503050406030204" pitchFamily="18" charset="0"/>
                        </a:rPr>
                        <m:t>𝒓</m:t>
                      </m:r>
                      <m:r>
                        <a:rPr lang="en-AU" sz="2800" b="1" i="1" smtClean="0">
                          <a:solidFill>
                            <a:srgbClr val="FF0000"/>
                          </a:solidFill>
                          <a:latin typeface="Cambria Math" panose="02040503050406030204" pitchFamily="18" charset="0"/>
                          <a:ea typeface="Cambria Math" panose="02040503050406030204" pitchFamily="18" charset="0"/>
                        </a:rPr>
                        <m:t>×</m:t>
                      </m:r>
                      <m:r>
                        <a:rPr lang="en-AU" sz="2800" b="1" i="1" smtClean="0">
                          <a:solidFill>
                            <a:srgbClr val="FF0000"/>
                          </a:solidFill>
                          <a:latin typeface="Cambria Math" panose="02040503050406030204" pitchFamily="18" charset="0"/>
                          <a:ea typeface="Cambria Math" panose="02040503050406030204" pitchFamily="18" charset="0"/>
                        </a:rPr>
                        <m:t>𝑭</m:t>
                      </m:r>
                      <m:r>
                        <a:rPr lang="en-AU" sz="2800" b="1" i="1" baseline="-25000">
                          <a:solidFill>
                            <a:srgbClr val="FF0000"/>
                          </a:solidFill>
                          <a:latin typeface="Cambria Math" panose="02040503050406030204" pitchFamily="18" charset="0"/>
                          <a:ea typeface="Cambria Math" panose="02040503050406030204" pitchFamily="18" charset="0"/>
                        </a:rPr>
                        <m:t>┴</m:t>
                      </m:r>
                    </m:oMath>
                  </m:oMathPara>
                </a14:m>
                <a:endParaRPr lang="en-AU" sz="2800" b="1" dirty="0">
                  <a:solidFill>
                    <a:srgbClr val="FF0000"/>
                  </a:solidFill>
                </a:endParaRPr>
              </a:p>
            </p:txBody>
          </p:sp>
        </mc:Choice>
        <mc:Fallback xmlns="">
          <p:sp>
            <p:nvSpPr>
              <p:cNvPr id="10" name="TextBox 9">
                <a:extLst>
                  <a:ext uri="{FF2B5EF4-FFF2-40B4-BE49-F238E27FC236}">
                    <a16:creationId xmlns:a16="http://schemas.microsoft.com/office/drawing/2014/main" id="{60F9DC33-1991-7BD5-B64E-0A04106839FF}"/>
                  </a:ext>
                </a:extLst>
              </p:cNvPr>
              <p:cNvSpPr txBox="1">
                <a:spLocks noRot="1" noChangeAspect="1" noMove="1" noResize="1" noEditPoints="1" noAdjustHandles="1" noChangeArrowheads="1" noChangeShapeType="1" noTextEdit="1"/>
              </p:cNvSpPr>
              <p:nvPr/>
            </p:nvSpPr>
            <p:spPr>
              <a:xfrm>
                <a:off x="1605349" y="2491096"/>
                <a:ext cx="3880312" cy="430887"/>
              </a:xfrm>
              <a:prstGeom prst="rect">
                <a:avLst/>
              </a:prstGeom>
              <a:blipFill>
                <a:blip r:embed="rId4"/>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39F5CAA-5EF2-6C77-9E01-AC92DBB17DE3}"/>
                  </a:ext>
                </a:extLst>
              </p:cNvPr>
              <p:cNvSpPr txBox="1"/>
              <p:nvPr/>
            </p:nvSpPr>
            <p:spPr>
              <a:xfrm>
                <a:off x="1605349" y="4053301"/>
                <a:ext cx="3880312" cy="430887"/>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ea typeface="Cambria Math" panose="02040503050406030204" pitchFamily="18" charset="0"/>
                        </a:rPr>
                        <m:t>𝝉</m:t>
                      </m:r>
                      <m:r>
                        <a:rPr lang="en-AU" sz="2800" b="1" i="1" smtClean="0">
                          <a:solidFill>
                            <a:srgbClr val="FF0000"/>
                          </a:solidFill>
                          <a:latin typeface="Cambria Math" panose="02040503050406030204" pitchFamily="18" charset="0"/>
                          <a:ea typeface="Cambria Math" panose="02040503050406030204" pitchFamily="18" charset="0"/>
                        </a:rPr>
                        <m:t>=</m:t>
                      </m:r>
                      <m:r>
                        <a:rPr lang="en-AU" sz="2800" b="1" i="1" smtClean="0">
                          <a:solidFill>
                            <a:srgbClr val="FF0000"/>
                          </a:solidFill>
                          <a:latin typeface="Cambria Math" panose="02040503050406030204" pitchFamily="18" charset="0"/>
                          <a:ea typeface="Cambria Math" panose="02040503050406030204" pitchFamily="18" charset="0"/>
                        </a:rPr>
                        <m:t>𝒓</m:t>
                      </m:r>
                      <m:r>
                        <a:rPr lang="en-AU" sz="2800" b="1" i="1" baseline="-25000">
                          <a:solidFill>
                            <a:srgbClr val="FF0000"/>
                          </a:solidFill>
                          <a:latin typeface="Cambria Math" panose="02040503050406030204" pitchFamily="18" charset="0"/>
                          <a:ea typeface="Cambria Math" panose="02040503050406030204" pitchFamily="18" charset="0"/>
                        </a:rPr>
                        <m:t>┴</m:t>
                      </m:r>
                      <m:r>
                        <a:rPr lang="en-AU" sz="2800" b="1" i="1" smtClean="0">
                          <a:solidFill>
                            <a:srgbClr val="FF0000"/>
                          </a:solidFill>
                          <a:latin typeface="Cambria Math" panose="02040503050406030204" pitchFamily="18" charset="0"/>
                          <a:ea typeface="Cambria Math" panose="02040503050406030204" pitchFamily="18" charset="0"/>
                        </a:rPr>
                        <m:t>×</m:t>
                      </m:r>
                      <m:r>
                        <a:rPr lang="en-AU" sz="2800" b="1" i="1" smtClean="0">
                          <a:solidFill>
                            <a:srgbClr val="FF0000"/>
                          </a:solidFill>
                          <a:latin typeface="Cambria Math" panose="02040503050406030204" pitchFamily="18" charset="0"/>
                          <a:ea typeface="Cambria Math" panose="02040503050406030204" pitchFamily="18" charset="0"/>
                        </a:rPr>
                        <m:t>𝑭</m:t>
                      </m:r>
                    </m:oMath>
                  </m:oMathPara>
                </a14:m>
                <a:endParaRPr lang="en-AU" sz="2800" b="1" dirty="0">
                  <a:solidFill>
                    <a:srgbClr val="FF0000"/>
                  </a:solidFill>
                </a:endParaRPr>
              </a:p>
            </p:txBody>
          </p:sp>
        </mc:Choice>
        <mc:Fallback xmlns="">
          <p:sp>
            <p:nvSpPr>
              <p:cNvPr id="7" name="TextBox 6">
                <a:extLst>
                  <a:ext uri="{FF2B5EF4-FFF2-40B4-BE49-F238E27FC236}">
                    <a16:creationId xmlns:a16="http://schemas.microsoft.com/office/drawing/2014/main" id="{439F5CAA-5EF2-6C77-9E01-AC92DBB17DE3}"/>
                  </a:ext>
                </a:extLst>
              </p:cNvPr>
              <p:cNvSpPr txBox="1">
                <a:spLocks noRot="1" noChangeAspect="1" noMove="1" noResize="1" noEditPoints="1" noAdjustHandles="1" noChangeArrowheads="1" noChangeShapeType="1" noTextEdit="1"/>
              </p:cNvSpPr>
              <p:nvPr/>
            </p:nvSpPr>
            <p:spPr>
              <a:xfrm>
                <a:off x="1605349" y="4053301"/>
                <a:ext cx="3880312" cy="430887"/>
              </a:xfrm>
              <a:prstGeom prst="rect">
                <a:avLst/>
              </a:prstGeom>
              <a:blipFill>
                <a:blip r:embed="rId5"/>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BC3B8FB-BFFF-88AE-083B-A5635F805162}"/>
                  </a:ext>
                </a:extLst>
              </p:cNvPr>
              <p:cNvSpPr txBox="1"/>
              <p:nvPr/>
            </p:nvSpPr>
            <p:spPr>
              <a:xfrm>
                <a:off x="1605349" y="5750369"/>
                <a:ext cx="3880312" cy="430887"/>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ea typeface="Cambria Math" panose="02040503050406030204" pitchFamily="18" charset="0"/>
                        </a:rPr>
                        <m:t>𝝉</m:t>
                      </m:r>
                      <m:r>
                        <a:rPr lang="en-AU" sz="2800" b="1" i="1" smtClean="0">
                          <a:solidFill>
                            <a:srgbClr val="FF0000"/>
                          </a:solidFill>
                          <a:latin typeface="Cambria Math" panose="02040503050406030204" pitchFamily="18" charset="0"/>
                          <a:ea typeface="Cambria Math" panose="02040503050406030204" pitchFamily="18" charset="0"/>
                        </a:rPr>
                        <m:t>=</m:t>
                      </m:r>
                      <m:r>
                        <a:rPr lang="en-AU" sz="2800" b="1" i="1" smtClean="0">
                          <a:solidFill>
                            <a:srgbClr val="FF0000"/>
                          </a:solidFill>
                          <a:latin typeface="Cambria Math" panose="02040503050406030204" pitchFamily="18" charset="0"/>
                          <a:ea typeface="Cambria Math" panose="02040503050406030204" pitchFamily="18" charset="0"/>
                        </a:rPr>
                        <m:t>𝒓</m:t>
                      </m:r>
                      <m:r>
                        <a:rPr lang="en-AU" sz="2800" b="1" i="1" smtClean="0">
                          <a:solidFill>
                            <a:srgbClr val="FF0000"/>
                          </a:solidFill>
                          <a:latin typeface="Cambria Math" panose="02040503050406030204" pitchFamily="18" charset="0"/>
                          <a:ea typeface="Cambria Math" panose="02040503050406030204" pitchFamily="18" charset="0"/>
                        </a:rPr>
                        <m:t>×</m:t>
                      </m:r>
                      <m:r>
                        <a:rPr lang="en-AU" sz="2800" b="1" i="1" smtClean="0">
                          <a:solidFill>
                            <a:srgbClr val="FF0000"/>
                          </a:solidFill>
                          <a:latin typeface="Cambria Math" panose="02040503050406030204" pitchFamily="18" charset="0"/>
                          <a:ea typeface="Cambria Math" panose="02040503050406030204" pitchFamily="18" charset="0"/>
                        </a:rPr>
                        <m:t>𝑭</m:t>
                      </m:r>
                      <m:r>
                        <a:rPr lang="en-AU" sz="2800" b="1" i="1">
                          <a:solidFill>
                            <a:srgbClr val="FF0000"/>
                          </a:solidFill>
                          <a:latin typeface="Cambria Math" panose="02040503050406030204" pitchFamily="18" charset="0"/>
                          <a:ea typeface="Cambria Math" panose="02040503050406030204" pitchFamily="18" charset="0"/>
                        </a:rPr>
                        <m:t>×</m:t>
                      </m:r>
                      <m:r>
                        <a:rPr lang="en-AU" sz="2800" b="1" i="1" smtClean="0">
                          <a:solidFill>
                            <a:srgbClr val="FF0000"/>
                          </a:solidFill>
                          <a:latin typeface="Cambria Math" panose="02040503050406030204" pitchFamily="18" charset="0"/>
                          <a:ea typeface="Cambria Math" panose="02040503050406030204" pitchFamily="18" charset="0"/>
                        </a:rPr>
                        <m:t>𝒔𝒊𝒏</m:t>
                      </m:r>
                      <m:r>
                        <a:rPr lang="en-AU" sz="2800" b="1" i="1" smtClean="0">
                          <a:solidFill>
                            <a:srgbClr val="FF0000"/>
                          </a:solidFill>
                          <a:latin typeface="Cambria Math" panose="02040503050406030204" pitchFamily="18" charset="0"/>
                          <a:ea typeface="Cambria Math" panose="02040503050406030204" pitchFamily="18" charset="0"/>
                        </a:rPr>
                        <m:t>𝜽</m:t>
                      </m:r>
                    </m:oMath>
                  </m:oMathPara>
                </a14:m>
                <a:endParaRPr lang="en-AU" sz="2800" b="1" dirty="0">
                  <a:solidFill>
                    <a:srgbClr val="FF0000"/>
                  </a:solidFill>
                </a:endParaRPr>
              </a:p>
            </p:txBody>
          </p:sp>
        </mc:Choice>
        <mc:Fallback xmlns="">
          <p:sp>
            <p:nvSpPr>
              <p:cNvPr id="8" name="TextBox 7">
                <a:extLst>
                  <a:ext uri="{FF2B5EF4-FFF2-40B4-BE49-F238E27FC236}">
                    <a16:creationId xmlns:a16="http://schemas.microsoft.com/office/drawing/2014/main" id="{5BC3B8FB-BFFF-88AE-083B-A5635F805162}"/>
                  </a:ext>
                </a:extLst>
              </p:cNvPr>
              <p:cNvSpPr txBox="1">
                <a:spLocks noRot="1" noChangeAspect="1" noMove="1" noResize="1" noEditPoints="1" noAdjustHandles="1" noChangeArrowheads="1" noChangeShapeType="1" noTextEdit="1"/>
              </p:cNvSpPr>
              <p:nvPr/>
            </p:nvSpPr>
            <p:spPr>
              <a:xfrm>
                <a:off x="1605349" y="5750369"/>
                <a:ext cx="3880312" cy="430887"/>
              </a:xfrm>
              <a:prstGeom prst="rect">
                <a:avLst/>
              </a:prstGeom>
              <a:blipFill>
                <a:blip r:embed="rId6"/>
                <a:stretch>
                  <a:fillRect/>
                </a:stretch>
              </a:blipFill>
              <a:ln>
                <a:noFill/>
              </a:ln>
            </p:spPr>
            <p:txBody>
              <a:bodyPr/>
              <a:lstStyle/>
              <a:p>
                <a:r>
                  <a:rPr lang="en-AU">
                    <a:noFill/>
                  </a:rPr>
                  <a:t> </a:t>
                </a:r>
              </a:p>
            </p:txBody>
          </p:sp>
        </mc:Fallback>
      </mc:AlternateContent>
      <p:grpSp>
        <p:nvGrpSpPr>
          <p:cNvPr id="16" name="Group 15">
            <a:extLst>
              <a:ext uri="{FF2B5EF4-FFF2-40B4-BE49-F238E27FC236}">
                <a16:creationId xmlns:a16="http://schemas.microsoft.com/office/drawing/2014/main" id="{9A4874EB-D80D-EFCE-0375-4822A67F61CF}"/>
              </a:ext>
            </a:extLst>
          </p:cNvPr>
          <p:cNvGrpSpPr/>
          <p:nvPr/>
        </p:nvGrpSpPr>
        <p:grpSpPr>
          <a:xfrm>
            <a:off x="5813465" y="1987897"/>
            <a:ext cx="5801677" cy="4405685"/>
            <a:chOff x="5813465" y="1759297"/>
            <a:chExt cx="5801677" cy="4405685"/>
          </a:xfrm>
        </p:grpSpPr>
        <p:pic>
          <p:nvPicPr>
            <p:cNvPr id="6" name="Picture 5">
              <a:extLst>
                <a:ext uri="{FF2B5EF4-FFF2-40B4-BE49-F238E27FC236}">
                  <a16:creationId xmlns:a16="http://schemas.microsoft.com/office/drawing/2014/main" id="{ED18771B-ED62-B88D-3E4F-144878E23964}"/>
                </a:ext>
              </a:extLst>
            </p:cNvPr>
            <p:cNvPicPr>
              <a:picLocks noChangeAspect="1"/>
            </p:cNvPicPr>
            <p:nvPr/>
          </p:nvPicPr>
          <p:blipFill rotWithShape="1">
            <a:blip r:embed="rId7"/>
            <a:srcRect l="13565" t="35748" r="27353" b="39982"/>
            <a:stretch/>
          </p:blipFill>
          <p:spPr>
            <a:xfrm>
              <a:off x="5814450" y="1759297"/>
              <a:ext cx="5045035" cy="1283307"/>
            </a:xfrm>
            <a:prstGeom prst="rect">
              <a:avLst/>
            </a:prstGeom>
          </p:spPr>
        </p:pic>
        <p:pic>
          <p:nvPicPr>
            <p:cNvPr id="9" name="Picture 8">
              <a:extLst>
                <a:ext uri="{FF2B5EF4-FFF2-40B4-BE49-F238E27FC236}">
                  <a16:creationId xmlns:a16="http://schemas.microsoft.com/office/drawing/2014/main" id="{8697FFD8-93F6-9E10-18B6-8EB9EECAE3BA}"/>
                </a:ext>
              </a:extLst>
            </p:cNvPr>
            <p:cNvPicPr>
              <a:picLocks noChangeAspect="1"/>
            </p:cNvPicPr>
            <p:nvPr/>
          </p:nvPicPr>
          <p:blipFill rotWithShape="1">
            <a:blip r:embed="rId7"/>
            <a:srcRect l="13257" t="72143" r="18800" b="2969"/>
            <a:stretch/>
          </p:blipFill>
          <p:spPr>
            <a:xfrm>
              <a:off x="5813465" y="3364870"/>
              <a:ext cx="5801677" cy="1315981"/>
            </a:xfrm>
            <a:prstGeom prst="rect">
              <a:avLst/>
            </a:prstGeom>
          </p:spPr>
        </p:pic>
        <p:pic>
          <p:nvPicPr>
            <p:cNvPr id="12" name="Picture 11">
              <a:extLst>
                <a:ext uri="{FF2B5EF4-FFF2-40B4-BE49-F238E27FC236}">
                  <a16:creationId xmlns:a16="http://schemas.microsoft.com/office/drawing/2014/main" id="{230B92DF-B38B-898D-8151-8B08A2CAA841}"/>
                </a:ext>
              </a:extLst>
            </p:cNvPr>
            <p:cNvPicPr>
              <a:picLocks noChangeAspect="1"/>
            </p:cNvPicPr>
            <p:nvPr/>
          </p:nvPicPr>
          <p:blipFill rotWithShape="1">
            <a:blip r:embed="rId7"/>
            <a:srcRect l="13447" t="8934" r="36290" b="72045"/>
            <a:stretch/>
          </p:blipFill>
          <p:spPr>
            <a:xfrm>
              <a:off x="5814450" y="5159255"/>
              <a:ext cx="4291947" cy="1005727"/>
            </a:xfrm>
            <a:prstGeom prst="rect">
              <a:avLst/>
            </a:prstGeom>
          </p:spPr>
        </p:pic>
      </p:grpSp>
    </p:spTree>
    <p:extLst>
      <p:ext uri="{BB962C8B-B14F-4D97-AF65-F5344CB8AC3E}">
        <p14:creationId xmlns:p14="http://schemas.microsoft.com/office/powerpoint/2010/main" val="569283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7"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Torque</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6" name="Picture 5">
            <a:extLst>
              <a:ext uri="{FF2B5EF4-FFF2-40B4-BE49-F238E27FC236}">
                <a16:creationId xmlns:a16="http://schemas.microsoft.com/office/drawing/2014/main" id="{713E04D7-7E2B-BE3A-8FE8-4E0AE3A907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8026" y="2630105"/>
            <a:ext cx="10495947" cy="3637388"/>
          </a:xfrm>
          <a:prstGeom prst="rect">
            <a:avLst/>
          </a:prstGeom>
        </p:spPr>
      </p:pic>
      <p:pic>
        <p:nvPicPr>
          <p:cNvPr id="8" name="Picture 7">
            <a:extLst>
              <a:ext uri="{FF2B5EF4-FFF2-40B4-BE49-F238E27FC236}">
                <a16:creationId xmlns:a16="http://schemas.microsoft.com/office/drawing/2014/main" id="{EFBB1F74-FD31-A0A9-BE92-748EC5F36AF8}"/>
              </a:ext>
            </a:extLst>
          </p:cNvPr>
          <p:cNvPicPr>
            <a:picLocks noChangeAspect="1"/>
          </p:cNvPicPr>
          <p:nvPr/>
        </p:nvPicPr>
        <p:blipFill>
          <a:blip r:embed="rId4"/>
          <a:stretch>
            <a:fillRect/>
          </a:stretch>
        </p:blipFill>
        <p:spPr>
          <a:xfrm>
            <a:off x="2812920" y="590550"/>
            <a:ext cx="6897817" cy="1503204"/>
          </a:xfrm>
          <a:prstGeom prst="rect">
            <a:avLst/>
          </a:prstGeom>
        </p:spPr>
      </p:pic>
    </p:spTree>
    <p:extLst>
      <p:ext uri="{BB962C8B-B14F-4D97-AF65-F5344CB8AC3E}">
        <p14:creationId xmlns:p14="http://schemas.microsoft.com/office/powerpoint/2010/main" val="3930486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Torque</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55069"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95274" y="904805"/>
            <a:ext cx="11896725"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Let’s try out each method.</a:t>
            </a:r>
          </a:p>
          <a:p>
            <a:pPr algn="just"/>
            <a:endParaRPr lang="en-AU" sz="2400" b="0" dirty="0"/>
          </a:p>
          <a:p>
            <a:pPr algn="just"/>
            <a:endParaRPr lang="en-AU" sz="2400" b="0" dirty="0"/>
          </a:p>
          <a:p>
            <a:pPr algn="just"/>
            <a:endParaRPr lang="en-AU" sz="2400" b="0" dirty="0"/>
          </a:p>
          <a:p>
            <a:pPr algn="just"/>
            <a:endParaRPr lang="en-AU" sz="2400" b="0" dirty="0"/>
          </a:p>
          <a:p>
            <a:pPr algn="just"/>
            <a:r>
              <a:rPr lang="en-AU" sz="2400" b="0" dirty="0"/>
              <a:t> </a:t>
            </a:r>
          </a:p>
        </p:txBody>
      </p:sp>
      <p:sp>
        <p:nvSpPr>
          <p:cNvPr id="3" name="TextBox 2">
            <a:extLst>
              <a:ext uri="{FF2B5EF4-FFF2-40B4-BE49-F238E27FC236}">
                <a16:creationId xmlns:a16="http://schemas.microsoft.com/office/drawing/2014/main" id="{7D3D632F-6097-4B6C-05D5-84D5073D5291}"/>
              </a:ext>
            </a:extLst>
          </p:cNvPr>
          <p:cNvSpPr txBox="1"/>
          <p:nvPr/>
        </p:nvSpPr>
        <p:spPr>
          <a:xfrm>
            <a:off x="338549" y="1657790"/>
            <a:ext cx="5321423" cy="1569660"/>
          </a:xfrm>
          <a:prstGeom prst="rect">
            <a:avLst/>
          </a:prstGeom>
          <a:noFill/>
          <a:ln>
            <a:noFill/>
          </a:ln>
        </p:spPr>
        <p:txBody>
          <a:bodyPr wrap="square">
            <a:spAutoFit/>
          </a:bodyPr>
          <a:lstStyle/>
          <a:p>
            <a:pPr marL="457200" indent="-457200" algn="just">
              <a:buAutoNum type="arabicPeriod"/>
            </a:pPr>
            <a:r>
              <a:rPr lang="en-AU" sz="2400" dirty="0">
                <a:latin typeface="Century Gothic" panose="020B0502020202020204" pitchFamily="34" charset="0"/>
              </a:rPr>
              <a:t>Find perpendicular force</a:t>
            </a:r>
          </a:p>
          <a:p>
            <a:pPr marL="457200" indent="-457200" algn="just">
              <a:buAutoNum type="arabicPeriod"/>
            </a:pPr>
            <a:endParaRPr lang="en-AU" sz="2400" dirty="0">
              <a:latin typeface="Century Gothic" panose="020B0502020202020204" pitchFamily="34" charset="0"/>
            </a:endParaRPr>
          </a:p>
          <a:p>
            <a:pPr marL="457200" indent="-457200" algn="just">
              <a:buAutoNum type="arabicPeriod"/>
            </a:pPr>
            <a:endParaRPr lang="en-AU" sz="2400" dirty="0">
              <a:latin typeface="Century Gothic" panose="020B0502020202020204" pitchFamily="34" charset="0"/>
            </a:endParaRPr>
          </a:p>
          <a:p>
            <a:pPr marL="457200" indent="-457200" algn="just">
              <a:buAutoNum type="arabicPeriod"/>
            </a:pPr>
            <a:endParaRPr lang="en-AU" sz="2400" dirty="0">
              <a:latin typeface="Century Gothic" panose="020B0502020202020204" pitchFamily="34" charset="0"/>
            </a:endParaRPr>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0F9DC33-1991-7BD5-B64E-0A04106839FF}"/>
                  </a:ext>
                </a:extLst>
              </p:cNvPr>
              <p:cNvSpPr txBox="1"/>
              <p:nvPr/>
            </p:nvSpPr>
            <p:spPr>
              <a:xfrm>
                <a:off x="710164" y="2295463"/>
                <a:ext cx="3880312" cy="430887"/>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ea typeface="Cambria Math" panose="02040503050406030204" pitchFamily="18" charset="0"/>
                        </a:rPr>
                        <m:t>𝝉</m:t>
                      </m:r>
                      <m:r>
                        <a:rPr lang="en-AU" sz="2800" b="1" i="1" smtClean="0">
                          <a:solidFill>
                            <a:srgbClr val="FF0000"/>
                          </a:solidFill>
                          <a:latin typeface="Cambria Math" panose="02040503050406030204" pitchFamily="18" charset="0"/>
                          <a:ea typeface="Cambria Math" panose="02040503050406030204" pitchFamily="18" charset="0"/>
                        </a:rPr>
                        <m:t>=</m:t>
                      </m:r>
                      <m:r>
                        <a:rPr lang="en-AU" sz="2800" b="1" i="1" smtClean="0">
                          <a:solidFill>
                            <a:srgbClr val="FF0000"/>
                          </a:solidFill>
                          <a:latin typeface="Cambria Math" panose="02040503050406030204" pitchFamily="18" charset="0"/>
                          <a:ea typeface="Cambria Math" panose="02040503050406030204" pitchFamily="18" charset="0"/>
                        </a:rPr>
                        <m:t>𝒓</m:t>
                      </m:r>
                      <m:r>
                        <a:rPr lang="en-AU" sz="2800" b="1" i="1" smtClean="0">
                          <a:solidFill>
                            <a:srgbClr val="FF0000"/>
                          </a:solidFill>
                          <a:latin typeface="Cambria Math" panose="02040503050406030204" pitchFamily="18" charset="0"/>
                          <a:ea typeface="Cambria Math" panose="02040503050406030204" pitchFamily="18" charset="0"/>
                        </a:rPr>
                        <m:t>×</m:t>
                      </m:r>
                      <m:r>
                        <a:rPr lang="en-AU" sz="2800" b="1" i="1" smtClean="0">
                          <a:solidFill>
                            <a:srgbClr val="FF0000"/>
                          </a:solidFill>
                          <a:latin typeface="Cambria Math" panose="02040503050406030204" pitchFamily="18" charset="0"/>
                          <a:ea typeface="Cambria Math" panose="02040503050406030204" pitchFamily="18" charset="0"/>
                        </a:rPr>
                        <m:t>𝑭</m:t>
                      </m:r>
                      <m:r>
                        <a:rPr lang="en-AU" sz="2800" b="1" i="1" baseline="-25000">
                          <a:solidFill>
                            <a:srgbClr val="FF0000"/>
                          </a:solidFill>
                          <a:latin typeface="Cambria Math" panose="02040503050406030204" pitchFamily="18" charset="0"/>
                          <a:ea typeface="Cambria Math" panose="02040503050406030204" pitchFamily="18" charset="0"/>
                        </a:rPr>
                        <m:t>┴</m:t>
                      </m:r>
                    </m:oMath>
                  </m:oMathPara>
                </a14:m>
                <a:endParaRPr lang="en-AU" sz="2800" b="1" dirty="0">
                  <a:solidFill>
                    <a:srgbClr val="FF0000"/>
                  </a:solidFill>
                </a:endParaRPr>
              </a:p>
            </p:txBody>
          </p:sp>
        </mc:Choice>
        <mc:Fallback xmlns="">
          <p:sp>
            <p:nvSpPr>
              <p:cNvPr id="10" name="TextBox 9">
                <a:extLst>
                  <a:ext uri="{FF2B5EF4-FFF2-40B4-BE49-F238E27FC236}">
                    <a16:creationId xmlns:a16="http://schemas.microsoft.com/office/drawing/2014/main" id="{60F9DC33-1991-7BD5-B64E-0A04106839FF}"/>
                  </a:ext>
                </a:extLst>
              </p:cNvPr>
              <p:cNvSpPr txBox="1">
                <a:spLocks noRot="1" noChangeAspect="1" noMove="1" noResize="1" noEditPoints="1" noAdjustHandles="1" noChangeArrowheads="1" noChangeShapeType="1" noTextEdit="1"/>
              </p:cNvSpPr>
              <p:nvPr/>
            </p:nvSpPr>
            <p:spPr>
              <a:xfrm>
                <a:off x="710164" y="2295463"/>
                <a:ext cx="3880312" cy="430887"/>
              </a:xfrm>
              <a:prstGeom prst="rect">
                <a:avLst/>
              </a:prstGeom>
              <a:blipFill>
                <a:blip r:embed="rId3"/>
                <a:stretch>
                  <a:fillRect/>
                </a:stretch>
              </a:blipFill>
              <a:ln>
                <a:noFill/>
              </a:ln>
            </p:spPr>
            <p:txBody>
              <a:bodyPr/>
              <a:lstStyle/>
              <a:p>
                <a:r>
                  <a:rPr lang="en-AU">
                    <a:noFill/>
                  </a:rPr>
                  <a:t> </a:t>
                </a:r>
              </a:p>
            </p:txBody>
          </p:sp>
        </mc:Fallback>
      </mc:AlternateContent>
      <p:grpSp>
        <p:nvGrpSpPr>
          <p:cNvPr id="17" name="Group 16">
            <a:extLst>
              <a:ext uri="{FF2B5EF4-FFF2-40B4-BE49-F238E27FC236}">
                <a16:creationId xmlns:a16="http://schemas.microsoft.com/office/drawing/2014/main" id="{7EA1A13B-A113-98D3-F17E-FD156DC98F55}"/>
              </a:ext>
            </a:extLst>
          </p:cNvPr>
          <p:cNvGrpSpPr/>
          <p:nvPr/>
        </p:nvGrpSpPr>
        <p:grpSpPr>
          <a:xfrm>
            <a:off x="4826722" y="821713"/>
            <a:ext cx="7157013" cy="801752"/>
            <a:chOff x="4826722" y="821713"/>
            <a:chExt cx="7157013" cy="801752"/>
          </a:xfrm>
        </p:grpSpPr>
        <p:pic>
          <p:nvPicPr>
            <p:cNvPr id="13" name="Picture 12">
              <a:extLst>
                <a:ext uri="{FF2B5EF4-FFF2-40B4-BE49-F238E27FC236}">
                  <a16:creationId xmlns:a16="http://schemas.microsoft.com/office/drawing/2014/main" id="{8C17FAF0-8165-43B3-9521-69E261A214F6}"/>
                </a:ext>
              </a:extLst>
            </p:cNvPr>
            <p:cNvPicPr>
              <a:picLocks noChangeAspect="1"/>
            </p:cNvPicPr>
            <p:nvPr/>
          </p:nvPicPr>
          <p:blipFill rotWithShape="1">
            <a:blip r:embed="rId4"/>
            <a:srcRect t="87942"/>
            <a:stretch/>
          </p:blipFill>
          <p:spPr>
            <a:xfrm>
              <a:off x="4826722" y="1309461"/>
              <a:ext cx="7157012" cy="314004"/>
            </a:xfrm>
            <a:prstGeom prst="rect">
              <a:avLst/>
            </a:prstGeom>
          </p:spPr>
        </p:pic>
        <p:pic>
          <p:nvPicPr>
            <p:cNvPr id="14" name="Picture 13">
              <a:extLst>
                <a:ext uri="{FF2B5EF4-FFF2-40B4-BE49-F238E27FC236}">
                  <a16:creationId xmlns:a16="http://schemas.microsoft.com/office/drawing/2014/main" id="{BD740E6A-26A2-6011-994B-C7EC38FC94D3}"/>
                </a:ext>
              </a:extLst>
            </p:cNvPr>
            <p:cNvPicPr>
              <a:picLocks noChangeAspect="1"/>
            </p:cNvPicPr>
            <p:nvPr/>
          </p:nvPicPr>
          <p:blipFill rotWithShape="1">
            <a:blip r:embed="rId4"/>
            <a:srcRect t="2502" b="77753"/>
            <a:stretch/>
          </p:blipFill>
          <p:spPr>
            <a:xfrm>
              <a:off x="4826723" y="821713"/>
              <a:ext cx="7157012" cy="514175"/>
            </a:xfrm>
            <a:prstGeom prst="rect">
              <a:avLst/>
            </a:prstGeom>
          </p:spPr>
        </p:pic>
      </p:grpSp>
      <p:pic>
        <p:nvPicPr>
          <p:cNvPr id="15" name="Picture 14">
            <a:extLst>
              <a:ext uri="{FF2B5EF4-FFF2-40B4-BE49-F238E27FC236}">
                <a16:creationId xmlns:a16="http://schemas.microsoft.com/office/drawing/2014/main" id="{3A4F48EA-A3E5-458F-0DE3-514F22AA61E2}"/>
              </a:ext>
            </a:extLst>
          </p:cNvPr>
          <p:cNvPicPr>
            <a:picLocks noChangeAspect="1"/>
          </p:cNvPicPr>
          <p:nvPr/>
        </p:nvPicPr>
        <p:blipFill rotWithShape="1">
          <a:blip r:embed="rId4"/>
          <a:srcRect l="27249" t="21247" r="25647" b="9507"/>
          <a:stretch/>
        </p:blipFill>
        <p:spPr>
          <a:xfrm>
            <a:off x="5976037" y="1708807"/>
            <a:ext cx="4512851" cy="2413977"/>
          </a:xfrm>
          <a:prstGeom prst="rect">
            <a:avLst/>
          </a:prstGeom>
        </p:spPr>
      </p:pic>
      <p:cxnSp>
        <p:nvCxnSpPr>
          <p:cNvPr id="19" name="Straight Arrow Connector 18">
            <a:extLst>
              <a:ext uri="{FF2B5EF4-FFF2-40B4-BE49-F238E27FC236}">
                <a16:creationId xmlns:a16="http://schemas.microsoft.com/office/drawing/2014/main" id="{986F9E5A-20D8-7881-8054-EB2FE3938D42}"/>
              </a:ext>
            </a:extLst>
          </p:cNvPr>
          <p:cNvCxnSpPr/>
          <p:nvPr/>
        </p:nvCxnSpPr>
        <p:spPr>
          <a:xfrm>
            <a:off x="7520940" y="2410175"/>
            <a:ext cx="0" cy="1544605"/>
          </a:xfrm>
          <a:prstGeom prst="straightConnector1">
            <a:avLst/>
          </a:prstGeom>
          <a:ln w="38100">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045CF2E-02F5-882E-F229-05BCFEDA1EEA}"/>
              </a:ext>
            </a:extLst>
          </p:cNvPr>
          <p:cNvCxnSpPr>
            <a:cxnSpLocks/>
          </p:cNvCxnSpPr>
          <p:nvPr/>
        </p:nvCxnSpPr>
        <p:spPr>
          <a:xfrm>
            <a:off x="6638772" y="2421605"/>
            <a:ext cx="933450" cy="0"/>
          </a:xfrm>
          <a:prstGeom prst="straightConnector1">
            <a:avLst/>
          </a:prstGeom>
          <a:ln w="38100">
            <a:solidFill>
              <a:schemeClr val="bg2">
                <a:lumMod val="90000"/>
              </a:schemeClr>
            </a:solidFill>
            <a:headEnd w="lg" len="lg"/>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1A68EB1-ED9A-D814-04BE-079AC829943A}"/>
                  </a:ext>
                </a:extLst>
              </p:cNvPr>
              <p:cNvSpPr txBox="1"/>
              <p:nvPr/>
            </p:nvSpPr>
            <p:spPr>
              <a:xfrm>
                <a:off x="7504200" y="2873090"/>
                <a:ext cx="689505" cy="430887"/>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ea typeface="Cambria Math" panose="02040503050406030204" pitchFamily="18" charset="0"/>
                        </a:rPr>
                        <m:t>𝑭</m:t>
                      </m:r>
                      <m:r>
                        <a:rPr lang="en-AU" sz="2800" b="1" i="1" baseline="-25000">
                          <a:solidFill>
                            <a:srgbClr val="FF0000"/>
                          </a:solidFill>
                          <a:latin typeface="Cambria Math" panose="02040503050406030204" pitchFamily="18" charset="0"/>
                          <a:ea typeface="Cambria Math" panose="02040503050406030204" pitchFamily="18" charset="0"/>
                        </a:rPr>
                        <m:t>┴</m:t>
                      </m:r>
                    </m:oMath>
                  </m:oMathPara>
                </a14:m>
                <a:endParaRPr lang="en-AU" sz="2800" b="1" dirty="0">
                  <a:solidFill>
                    <a:srgbClr val="FF0000"/>
                  </a:solidFill>
                </a:endParaRPr>
              </a:p>
            </p:txBody>
          </p:sp>
        </mc:Choice>
        <mc:Fallback xmlns="">
          <p:sp>
            <p:nvSpPr>
              <p:cNvPr id="22" name="TextBox 21">
                <a:extLst>
                  <a:ext uri="{FF2B5EF4-FFF2-40B4-BE49-F238E27FC236}">
                    <a16:creationId xmlns:a16="http://schemas.microsoft.com/office/drawing/2014/main" id="{01A68EB1-ED9A-D814-04BE-079AC829943A}"/>
                  </a:ext>
                </a:extLst>
              </p:cNvPr>
              <p:cNvSpPr txBox="1">
                <a:spLocks noRot="1" noChangeAspect="1" noMove="1" noResize="1" noEditPoints="1" noAdjustHandles="1" noChangeArrowheads="1" noChangeShapeType="1" noTextEdit="1"/>
              </p:cNvSpPr>
              <p:nvPr/>
            </p:nvSpPr>
            <p:spPr>
              <a:xfrm>
                <a:off x="7504200" y="2873090"/>
                <a:ext cx="689505" cy="430887"/>
              </a:xfrm>
              <a:prstGeom prst="rect">
                <a:avLst/>
              </a:prstGeom>
              <a:blipFill>
                <a:blip r:embed="rId5"/>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2363E86-DA97-206A-C65E-088D6C2E8035}"/>
                  </a:ext>
                </a:extLst>
              </p:cNvPr>
              <p:cNvSpPr txBox="1"/>
              <p:nvPr/>
            </p:nvSpPr>
            <p:spPr>
              <a:xfrm>
                <a:off x="6370579" y="2965580"/>
                <a:ext cx="536386" cy="430887"/>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AU" sz="2800" b="1" i="1" smtClean="0">
                          <a:solidFill>
                            <a:schemeClr val="tx1"/>
                          </a:solidFill>
                          <a:latin typeface="Cambria Math" panose="02040503050406030204" pitchFamily="18" charset="0"/>
                          <a:ea typeface="Cambria Math" panose="02040503050406030204" pitchFamily="18" charset="0"/>
                        </a:rPr>
                        <m:t>𝑭</m:t>
                      </m:r>
                    </m:oMath>
                  </m:oMathPara>
                </a14:m>
                <a:endParaRPr lang="en-AU" sz="2800" b="1" dirty="0">
                  <a:solidFill>
                    <a:schemeClr val="tx1"/>
                  </a:solidFill>
                </a:endParaRPr>
              </a:p>
            </p:txBody>
          </p:sp>
        </mc:Choice>
        <mc:Fallback xmlns="">
          <p:sp>
            <p:nvSpPr>
              <p:cNvPr id="23" name="TextBox 22">
                <a:extLst>
                  <a:ext uri="{FF2B5EF4-FFF2-40B4-BE49-F238E27FC236}">
                    <a16:creationId xmlns:a16="http://schemas.microsoft.com/office/drawing/2014/main" id="{A2363E86-DA97-206A-C65E-088D6C2E8035}"/>
                  </a:ext>
                </a:extLst>
              </p:cNvPr>
              <p:cNvSpPr txBox="1">
                <a:spLocks noRot="1" noChangeAspect="1" noMove="1" noResize="1" noEditPoints="1" noAdjustHandles="1" noChangeArrowheads="1" noChangeShapeType="1" noTextEdit="1"/>
              </p:cNvSpPr>
              <p:nvPr/>
            </p:nvSpPr>
            <p:spPr>
              <a:xfrm>
                <a:off x="6370579" y="2965580"/>
                <a:ext cx="536386" cy="430887"/>
              </a:xfrm>
              <a:prstGeom prst="rect">
                <a:avLst/>
              </a:prstGeom>
              <a:blipFill>
                <a:blip r:embed="rId6"/>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C4E2572F-D881-1812-B6DD-62DB25D16F3D}"/>
                  </a:ext>
                </a:extLst>
              </p:cNvPr>
              <p:cNvSpPr txBox="1"/>
              <p:nvPr/>
            </p:nvSpPr>
            <p:spPr>
              <a:xfrm>
                <a:off x="5165341" y="1819698"/>
                <a:ext cx="3880312" cy="430887"/>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AU" sz="2800" b="1" i="1" smtClean="0">
                          <a:solidFill>
                            <a:srgbClr val="D0CECE"/>
                          </a:solidFill>
                          <a:latin typeface="Cambria Math" panose="02040503050406030204" pitchFamily="18" charset="0"/>
                          <a:ea typeface="Cambria Math" panose="02040503050406030204" pitchFamily="18" charset="0"/>
                        </a:rPr>
                        <m:t>𝑭</m:t>
                      </m:r>
                      <m:r>
                        <m:rPr>
                          <m:nor/>
                        </m:rPr>
                        <a:rPr lang="en-AU" baseline="-25000">
                          <a:solidFill>
                            <a:srgbClr val="D0CECE"/>
                          </a:solidFill>
                        </a:rPr>
                        <m:t>∥</m:t>
                      </m:r>
                    </m:oMath>
                  </m:oMathPara>
                </a14:m>
                <a:endParaRPr lang="en-AU" sz="2800" b="1" baseline="-25000" dirty="0">
                  <a:solidFill>
                    <a:srgbClr val="D0CECE"/>
                  </a:solidFill>
                </a:endParaRPr>
              </a:p>
            </p:txBody>
          </p:sp>
        </mc:Choice>
        <mc:Fallback xmlns="">
          <p:sp>
            <p:nvSpPr>
              <p:cNvPr id="24" name="TextBox 23">
                <a:extLst>
                  <a:ext uri="{FF2B5EF4-FFF2-40B4-BE49-F238E27FC236}">
                    <a16:creationId xmlns:a16="http://schemas.microsoft.com/office/drawing/2014/main" id="{C4E2572F-D881-1812-B6DD-62DB25D16F3D}"/>
                  </a:ext>
                </a:extLst>
              </p:cNvPr>
              <p:cNvSpPr txBox="1">
                <a:spLocks noRot="1" noChangeAspect="1" noMove="1" noResize="1" noEditPoints="1" noAdjustHandles="1" noChangeArrowheads="1" noChangeShapeType="1" noTextEdit="1"/>
              </p:cNvSpPr>
              <p:nvPr/>
            </p:nvSpPr>
            <p:spPr>
              <a:xfrm>
                <a:off x="5165341" y="1819698"/>
                <a:ext cx="3880312" cy="430887"/>
              </a:xfrm>
              <a:prstGeom prst="rect">
                <a:avLst/>
              </a:prstGeom>
              <a:blipFill>
                <a:blip r:embed="rId7"/>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351C46C-98F0-3B6F-E313-285586BB06AD}"/>
                  </a:ext>
                </a:extLst>
              </p:cNvPr>
              <p:cNvSpPr txBox="1"/>
              <p:nvPr/>
            </p:nvSpPr>
            <p:spPr>
              <a:xfrm>
                <a:off x="6608167" y="2421605"/>
                <a:ext cx="328336" cy="246221"/>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AU" sz="1600" b="1" i="1" smtClean="0">
                          <a:solidFill>
                            <a:srgbClr val="FF0000"/>
                          </a:solidFill>
                          <a:latin typeface="Cambria Math" panose="02040503050406030204" pitchFamily="18" charset="0"/>
                          <a:ea typeface="Cambria Math" panose="02040503050406030204" pitchFamily="18" charset="0"/>
                        </a:rPr>
                        <m:t>𝜽</m:t>
                      </m:r>
                    </m:oMath>
                  </m:oMathPara>
                </a14:m>
                <a:endParaRPr lang="en-AU" sz="1600" b="1" dirty="0">
                  <a:solidFill>
                    <a:srgbClr val="FF0000"/>
                  </a:solidFill>
                </a:endParaRPr>
              </a:p>
            </p:txBody>
          </p:sp>
        </mc:Choice>
        <mc:Fallback xmlns="">
          <p:sp>
            <p:nvSpPr>
              <p:cNvPr id="25" name="TextBox 24">
                <a:extLst>
                  <a:ext uri="{FF2B5EF4-FFF2-40B4-BE49-F238E27FC236}">
                    <a16:creationId xmlns:a16="http://schemas.microsoft.com/office/drawing/2014/main" id="{F351C46C-98F0-3B6F-E313-285586BB06AD}"/>
                  </a:ext>
                </a:extLst>
              </p:cNvPr>
              <p:cNvSpPr txBox="1">
                <a:spLocks noRot="1" noChangeAspect="1" noMove="1" noResize="1" noEditPoints="1" noAdjustHandles="1" noChangeArrowheads="1" noChangeShapeType="1" noTextEdit="1"/>
              </p:cNvSpPr>
              <p:nvPr/>
            </p:nvSpPr>
            <p:spPr>
              <a:xfrm>
                <a:off x="6608167" y="2421605"/>
                <a:ext cx="328336" cy="246221"/>
              </a:xfrm>
              <a:prstGeom prst="rect">
                <a:avLst/>
              </a:prstGeom>
              <a:blipFill>
                <a:blip r:embed="rId8"/>
                <a:stretch>
                  <a:fillRect b="-9756"/>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E622740D-C267-CEE8-F1CF-5AD8C007B05B}"/>
                  </a:ext>
                </a:extLst>
              </p:cNvPr>
              <p:cNvSpPr txBox="1"/>
              <p:nvPr/>
            </p:nvSpPr>
            <p:spPr>
              <a:xfrm>
                <a:off x="1004323" y="3100988"/>
                <a:ext cx="1690527" cy="369332"/>
              </a:xfrm>
              <a:prstGeom prst="rect">
                <a:avLst/>
              </a:prstGeom>
              <a:no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AU" sz="2400" i="1" smtClean="0">
                              <a:solidFill>
                                <a:srgbClr val="FF0000"/>
                              </a:solidFill>
                              <a:latin typeface="Cambria Math" panose="02040503050406030204" pitchFamily="18" charset="0"/>
                              <a:ea typeface="Cambria Math" panose="02040503050406030204" pitchFamily="18" charset="0"/>
                            </a:rPr>
                          </m:ctrlPr>
                        </m:sSubPr>
                        <m:e>
                          <m:r>
                            <a:rPr lang="en-AU" sz="2400" b="0" i="1" smtClean="0">
                              <a:solidFill>
                                <a:srgbClr val="FF0000"/>
                              </a:solidFill>
                              <a:latin typeface="Cambria Math" panose="02040503050406030204" pitchFamily="18" charset="0"/>
                              <a:ea typeface="Cambria Math" panose="02040503050406030204" pitchFamily="18" charset="0"/>
                            </a:rPr>
                            <m:t>𝐹</m:t>
                          </m:r>
                        </m:e>
                        <m:sub>
                          <m:r>
                            <a:rPr lang="en-AU" sz="2400" b="0" i="1">
                              <a:solidFill>
                                <a:srgbClr val="FF0000"/>
                              </a:solidFill>
                              <a:latin typeface="Cambria Math" panose="02040503050406030204" pitchFamily="18" charset="0"/>
                              <a:ea typeface="Cambria Math" panose="02040503050406030204" pitchFamily="18" charset="0"/>
                            </a:rPr>
                            <m:t>┴</m:t>
                          </m:r>
                        </m:sub>
                      </m:sSub>
                      <m:r>
                        <a:rPr lang="en-AU" sz="2400" b="0" i="0" smtClean="0">
                          <a:solidFill>
                            <a:srgbClr val="FF0000"/>
                          </a:solidFill>
                          <a:latin typeface="Cambria Math" panose="02040503050406030204" pitchFamily="18" charset="0"/>
                          <a:ea typeface="Cambria Math" panose="02040503050406030204" pitchFamily="18" charset="0"/>
                        </a:rPr>
                        <m:t>=</m:t>
                      </m:r>
                      <m:r>
                        <m:rPr>
                          <m:sty m:val="p"/>
                        </m:rPr>
                        <a:rPr lang="en-AU" sz="2400" b="0" i="0" smtClean="0">
                          <a:solidFill>
                            <a:srgbClr val="FF0000"/>
                          </a:solidFill>
                          <a:latin typeface="Cambria Math" panose="02040503050406030204" pitchFamily="18" charset="0"/>
                          <a:ea typeface="Cambria Math" panose="02040503050406030204" pitchFamily="18" charset="0"/>
                        </a:rPr>
                        <m:t>F</m:t>
                      </m:r>
                      <m:func>
                        <m:funcPr>
                          <m:ctrlPr>
                            <a:rPr lang="en-AU" sz="2400" i="1" smtClean="0">
                              <a:solidFill>
                                <a:srgbClr val="FF0000"/>
                              </a:solidFill>
                              <a:latin typeface="Cambria Math" panose="02040503050406030204" pitchFamily="18" charset="0"/>
                              <a:ea typeface="Cambria Math" panose="02040503050406030204" pitchFamily="18" charset="0"/>
                            </a:rPr>
                          </m:ctrlPr>
                        </m:funcPr>
                        <m:fName>
                          <m:r>
                            <m:rPr>
                              <m:sty m:val="p"/>
                            </m:rPr>
                            <a:rPr lang="en-AU" sz="2400" b="0" i="0" smtClean="0">
                              <a:solidFill>
                                <a:srgbClr val="FF0000"/>
                              </a:solidFill>
                              <a:latin typeface="Cambria Math" panose="02040503050406030204" pitchFamily="18" charset="0"/>
                              <a:ea typeface="Cambria Math" panose="02040503050406030204" pitchFamily="18" charset="0"/>
                            </a:rPr>
                            <m:t>sin</m:t>
                          </m:r>
                        </m:fName>
                        <m:e>
                          <m:r>
                            <a:rPr lang="en-AU" sz="2400" b="0" i="1" smtClean="0">
                              <a:solidFill>
                                <a:srgbClr val="FF0000"/>
                              </a:solidFill>
                              <a:latin typeface="Cambria Math" panose="02040503050406030204" pitchFamily="18" charset="0"/>
                              <a:ea typeface="Cambria Math" panose="02040503050406030204" pitchFamily="18" charset="0"/>
                            </a:rPr>
                            <m:t>𝜃</m:t>
                          </m:r>
                        </m:e>
                      </m:func>
                    </m:oMath>
                  </m:oMathPara>
                </a14:m>
                <a:endParaRPr lang="en-AU" sz="2400" dirty="0">
                  <a:solidFill>
                    <a:srgbClr val="FF0000"/>
                  </a:solidFill>
                </a:endParaRPr>
              </a:p>
            </p:txBody>
          </p:sp>
        </mc:Choice>
        <mc:Fallback xmlns="">
          <p:sp>
            <p:nvSpPr>
              <p:cNvPr id="26" name="TextBox 25">
                <a:extLst>
                  <a:ext uri="{FF2B5EF4-FFF2-40B4-BE49-F238E27FC236}">
                    <a16:creationId xmlns:a16="http://schemas.microsoft.com/office/drawing/2014/main" id="{E622740D-C267-CEE8-F1CF-5AD8C007B05B}"/>
                  </a:ext>
                </a:extLst>
              </p:cNvPr>
              <p:cNvSpPr txBox="1">
                <a:spLocks noRot="1" noChangeAspect="1" noMove="1" noResize="1" noEditPoints="1" noAdjustHandles="1" noChangeArrowheads="1" noChangeShapeType="1" noTextEdit="1"/>
              </p:cNvSpPr>
              <p:nvPr/>
            </p:nvSpPr>
            <p:spPr>
              <a:xfrm>
                <a:off x="1004323" y="3100988"/>
                <a:ext cx="1690527" cy="369332"/>
              </a:xfrm>
              <a:prstGeom prst="rect">
                <a:avLst/>
              </a:prstGeom>
              <a:blipFill>
                <a:blip r:embed="rId9"/>
                <a:stretch>
                  <a:fillRect l="-2166" r="-1444" b="-16667"/>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7DCDD701-48FD-29DA-9095-F9E2CB49F06B}"/>
                  </a:ext>
                </a:extLst>
              </p:cNvPr>
              <p:cNvSpPr txBox="1"/>
              <p:nvPr/>
            </p:nvSpPr>
            <p:spPr>
              <a:xfrm>
                <a:off x="2651465" y="3100988"/>
                <a:ext cx="1728550" cy="369332"/>
              </a:xfrm>
              <a:prstGeom prst="rect">
                <a:avLst/>
              </a:prstGeom>
              <a:no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2400" b="1" i="1" smtClean="0">
                          <a:solidFill>
                            <a:srgbClr val="FF0000"/>
                          </a:solidFill>
                          <a:latin typeface="Cambria Math" panose="02040503050406030204" pitchFamily="18" charset="0"/>
                          <a:ea typeface="Cambria Math" panose="02040503050406030204" pitchFamily="18" charset="0"/>
                        </a:rPr>
                        <m:t>=</m:t>
                      </m:r>
                      <m:r>
                        <a:rPr lang="en-AU" sz="2400" b="0" i="1" smtClean="0">
                          <a:solidFill>
                            <a:srgbClr val="FF0000"/>
                          </a:solidFill>
                          <a:latin typeface="Cambria Math" panose="02040503050406030204" pitchFamily="18" charset="0"/>
                          <a:ea typeface="Cambria Math" panose="02040503050406030204" pitchFamily="18" charset="0"/>
                        </a:rPr>
                        <m:t>65</m:t>
                      </m:r>
                      <m:func>
                        <m:funcPr>
                          <m:ctrlPr>
                            <a:rPr lang="en-AU" sz="2400" i="1" smtClean="0">
                              <a:solidFill>
                                <a:srgbClr val="FF0000"/>
                              </a:solidFill>
                              <a:latin typeface="Cambria Math" panose="02040503050406030204" pitchFamily="18" charset="0"/>
                              <a:ea typeface="Cambria Math" panose="02040503050406030204" pitchFamily="18" charset="0"/>
                            </a:rPr>
                          </m:ctrlPr>
                        </m:funcPr>
                        <m:fName>
                          <m:r>
                            <m:rPr>
                              <m:sty m:val="p"/>
                            </m:rPr>
                            <a:rPr lang="en-AU" sz="2400" b="0" i="0" smtClean="0">
                              <a:solidFill>
                                <a:srgbClr val="FF0000"/>
                              </a:solidFill>
                              <a:latin typeface="Cambria Math" panose="02040503050406030204" pitchFamily="18" charset="0"/>
                              <a:ea typeface="Cambria Math" panose="02040503050406030204" pitchFamily="18" charset="0"/>
                            </a:rPr>
                            <m:t>sin</m:t>
                          </m:r>
                        </m:fName>
                        <m:e>
                          <m:r>
                            <a:rPr lang="en-AU" sz="2400" b="0" i="1" smtClean="0">
                              <a:solidFill>
                                <a:srgbClr val="FF0000"/>
                              </a:solidFill>
                              <a:latin typeface="Cambria Math" panose="02040503050406030204" pitchFamily="18" charset="0"/>
                              <a:ea typeface="Cambria Math" panose="02040503050406030204" pitchFamily="18" charset="0"/>
                            </a:rPr>
                            <m:t>68°</m:t>
                          </m:r>
                        </m:e>
                      </m:func>
                    </m:oMath>
                  </m:oMathPara>
                </a14:m>
                <a:endParaRPr lang="en-AU" sz="2400" dirty="0">
                  <a:solidFill>
                    <a:srgbClr val="FF0000"/>
                  </a:solidFill>
                </a:endParaRPr>
              </a:p>
            </p:txBody>
          </p:sp>
        </mc:Choice>
        <mc:Fallback xmlns="">
          <p:sp>
            <p:nvSpPr>
              <p:cNvPr id="27" name="TextBox 26">
                <a:extLst>
                  <a:ext uri="{FF2B5EF4-FFF2-40B4-BE49-F238E27FC236}">
                    <a16:creationId xmlns:a16="http://schemas.microsoft.com/office/drawing/2014/main" id="{7DCDD701-48FD-29DA-9095-F9E2CB49F06B}"/>
                  </a:ext>
                </a:extLst>
              </p:cNvPr>
              <p:cNvSpPr txBox="1">
                <a:spLocks noRot="1" noChangeAspect="1" noMove="1" noResize="1" noEditPoints="1" noAdjustHandles="1" noChangeArrowheads="1" noChangeShapeType="1" noTextEdit="1"/>
              </p:cNvSpPr>
              <p:nvPr/>
            </p:nvSpPr>
            <p:spPr>
              <a:xfrm>
                <a:off x="2651465" y="3100988"/>
                <a:ext cx="1728550" cy="369332"/>
              </a:xfrm>
              <a:prstGeom prst="rect">
                <a:avLst/>
              </a:prstGeom>
              <a:blipFill>
                <a:blip r:embed="rId10"/>
                <a:stretch>
                  <a:fillRect r="-2113" b="-11667"/>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38786E6-DAD7-FFEE-DF6E-93B8ADCCCABA}"/>
                  </a:ext>
                </a:extLst>
              </p:cNvPr>
              <p:cNvSpPr txBox="1"/>
              <p:nvPr/>
            </p:nvSpPr>
            <p:spPr>
              <a:xfrm>
                <a:off x="344257" y="3753452"/>
                <a:ext cx="5160269" cy="430887"/>
              </a:xfrm>
              <a:prstGeom prst="rect">
                <a:avLst/>
              </a:prstGeom>
              <a:noFill/>
              <a:ln>
                <a:noFill/>
              </a:ln>
            </p:spPr>
            <p:txBody>
              <a:bodyPr wrap="square" lIns="0" tIns="0" rIns="0" bIns="0" rtlCol="0">
                <a:spAutoFit/>
              </a:bodyPr>
              <a:lstStyle/>
              <a:p>
                <a14:m>
                  <m:oMath xmlns:m="http://schemas.openxmlformats.org/officeDocument/2006/math">
                    <m:r>
                      <a:rPr lang="en-AU" sz="2800" b="0" i="1" smtClean="0">
                        <a:solidFill>
                          <a:srgbClr val="FF0000"/>
                        </a:solidFill>
                        <a:latin typeface="Cambria Math" panose="02040503050406030204" pitchFamily="18" charset="0"/>
                        <a:ea typeface="Cambria Math" panose="02040503050406030204" pitchFamily="18" charset="0"/>
                      </a:rPr>
                      <m:t>𝜏</m:t>
                    </m:r>
                    <m:r>
                      <a:rPr lang="en-AU" sz="2800" b="0" i="1" smtClean="0">
                        <a:solidFill>
                          <a:srgbClr val="FF0000"/>
                        </a:solidFill>
                        <a:latin typeface="Cambria Math" panose="02040503050406030204" pitchFamily="18" charset="0"/>
                        <a:ea typeface="Cambria Math" panose="02040503050406030204" pitchFamily="18" charset="0"/>
                      </a:rPr>
                      <m:t>=0.42×65</m:t>
                    </m:r>
                    <m:func>
                      <m:funcPr>
                        <m:ctrlPr>
                          <a:rPr lang="en-AU" sz="2800" i="1">
                            <a:solidFill>
                              <a:srgbClr val="FF0000"/>
                            </a:solidFill>
                            <a:latin typeface="Cambria Math" panose="02040503050406030204" pitchFamily="18" charset="0"/>
                            <a:ea typeface="Cambria Math" panose="02040503050406030204" pitchFamily="18" charset="0"/>
                          </a:rPr>
                        </m:ctrlPr>
                      </m:funcPr>
                      <m:fName>
                        <m:r>
                          <m:rPr>
                            <m:sty m:val="p"/>
                          </m:rPr>
                          <a:rPr lang="en-AU" sz="2800" b="0">
                            <a:solidFill>
                              <a:srgbClr val="FF0000"/>
                            </a:solidFill>
                            <a:latin typeface="Cambria Math" panose="02040503050406030204" pitchFamily="18" charset="0"/>
                            <a:ea typeface="Cambria Math" panose="02040503050406030204" pitchFamily="18" charset="0"/>
                          </a:rPr>
                          <m:t>sin</m:t>
                        </m:r>
                      </m:fName>
                      <m:e>
                        <m:r>
                          <a:rPr lang="en-AU" sz="2800" b="0" i="1">
                            <a:solidFill>
                              <a:srgbClr val="FF0000"/>
                            </a:solidFill>
                            <a:latin typeface="Cambria Math" panose="02040503050406030204" pitchFamily="18" charset="0"/>
                            <a:ea typeface="Cambria Math" panose="02040503050406030204" pitchFamily="18" charset="0"/>
                          </a:rPr>
                          <m:t>68°</m:t>
                        </m:r>
                      </m:e>
                    </m:func>
                  </m:oMath>
                </a14:m>
                <a:r>
                  <a:rPr lang="en-AU" sz="2800" dirty="0">
                    <a:solidFill>
                      <a:srgbClr val="FF0000"/>
                    </a:solidFill>
                  </a:rPr>
                  <a:t> = 25.3 Nm </a:t>
                </a:r>
              </a:p>
            </p:txBody>
          </p:sp>
        </mc:Choice>
        <mc:Fallback xmlns="">
          <p:sp>
            <p:nvSpPr>
              <p:cNvPr id="30" name="TextBox 29">
                <a:extLst>
                  <a:ext uri="{FF2B5EF4-FFF2-40B4-BE49-F238E27FC236}">
                    <a16:creationId xmlns:a16="http://schemas.microsoft.com/office/drawing/2014/main" id="{C38786E6-DAD7-FFEE-DF6E-93B8ADCCCABA}"/>
                  </a:ext>
                </a:extLst>
              </p:cNvPr>
              <p:cNvSpPr txBox="1">
                <a:spLocks noRot="1" noChangeAspect="1" noMove="1" noResize="1" noEditPoints="1" noAdjustHandles="1" noChangeArrowheads="1" noChangeShapeType="1" noTextEdit="1"/>
              </p:cNvSpPr>
              <p:nvPr/>
            </p:nvSpPr>
            <p:spPr>
              <a:xfrm>
                <a:off x="344257" y="3753452"/>
                <a:ext cx="5160269" cy="430887"/>
              </a:xfrm>
              <a:prstGeom prst="rect">
                <a:avLst/>
              </a:prstGeom>
              <a:blipFill>
                <a:blip r:embed="rId11"/>
                <a:stretch>
                  <a:fillRect t="-25714" r="-2952" b="-50000"/>
                </a:stretch>
              </a:blipFill>
              <a:ln>
                <a:noFill/>
              </a:ln>
            </p:spPr>
            <p:txBody>
              <a:bodyPr/>
              <a:lstStyle/>
              <a:p>
                <a:r>
                  <a:rPr lang="en-AU">
                    <a:noFill/>
                  </a:rPr>
                  <a:t> </a:t>
                </a:r>
              </a:p>
            </p:txBody>
          </p:sp>
        </mc:Fallback>
      </mc:AlternateContent>
    </p:spTree>
    <p:extLst>
      <p:ext uri="{BB962C8B-B14F-4D97-AF65-F5344CB8AC3E}">
        <p14:creationId xmlns:p14="http://schemas.microsoft.com/office/powerpoint/2010/main" val="4170980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left)">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wipe(left)">
                                      <p:cBhvr>
                                        <p:cTn id="1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Torque</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55069"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95274" y="904805"/>
            <a:ext cx="11896725"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Let’s try out each method.</a:t>
            </a:r>
          </a:p>
          <a:p>
            <a:pPr algn="just"/>
            <a:endParaRPr lang="en-AU" sz="2400" b="0" dirty="0"/>
          </a:p>
          <a:p>
            <a:pPr algn="just"/>
            <a:endParaRPr lang="en-AU" sz="2400" b="0" dirty="0"/>
          </a:p>
          <a:p>
            <a:pPr algn="just"/>
            <a:endParaRPr lang="en-AU" sz="2400" b="0" dirty="0"/>
          </a:p>
          <a:p>
            <a:pPr algn="just"/>
            <a:endParaRPr lang="en-AU" sz="2400" b="0" dirty="0"/>
          </a:p>
          <a:p>
            <a:pPr algn="just"/>
            <a:r>
              <a:rPr lang="en-AU" sz="2400" b="0" dirty="0"/>
              <a:t> </a:t>
            </a:r>
          </a:p>
        </p:txBody>
      </p:sp>
      <p:sp>
        <p:nvSpPr>
          <p:cNvPr id="3" name="TextBox 2">
            <a:extLst>
              <a:ext uri="{FF2B5EF4-FFF2-40B4-BE49-F238E27FC236}">
                <a16:creationId xmlns:a16="http://schemas.microsoft.com/office/drawing/2014/main" id="{7D3D632F-6097-4B6C-05D5-84D5073D5291}"/>
              </a:ext>
            </a:extLst>
          </p:cNvPr>
          <p:cNvSpPr txBox="1"/>
          <p:nvPr/>
        </p:nvSpPr>
        <p:spPr>
          <a:xfrm>
            <a:off x="338549" y="1657790"/>
            <a:ext cx="5321423" cy="1569660"/>
          </a:xfrm>
          <a:prstGeom prst="rect">
            <a:avLst/>
          </a:prstGeom>
          <a:noFill/>
          <a:ln>
            <a:noFill/>
          </a:ln>
        </p:spPr>
        <p:txBody>
          <a:bodyPr wrap="square">
            <a:spAutoFit/>
          </a:bodyPr>
          <a:lstStyle/>
          <a:p>
            <a:pPr marL="457200" indent="-457200" algn="just">
              <a:buFont typeface="+mj-lt"/>
              <a:buAutoNum type="arabicPeriod" startAt="2"/>
            </a:pPr>
            <a:r>
              <a:rPr lang="en-AU" sz="2400" dirty="0">
                <a:latin typeface="Century Gothic" panose="020B0502020202020204" pitchFamily="34" charset="0"/>
              </a:rPr>
              <a:t>Find perpendicular distance</a:t>
            </a:r>
          </a:p>
          <a:p>
            <a:pPr marL="457200" indent="-457200" algn="just">
              <a:buAutoNum type="arabicPeriod" startAt="2"/>
            </a:pPr>
            <a:endParaRPr lang="en-AU" sz="2400" dirty="0">
              <a:latin typeface="Century Gothic" panose="020B0502020202020204" pitchFamily="34" charset="0"/>
            </a:endParaRPr>
          </a:p>
          <a:p>
            <a:pPr marL="457200" indent="-457200" algn="just">
              <a:buAutoNum type="arabicPeriod" startAt="2"/>
            </a:pPr>
            <a:endParaRPr lang="en-AU" sz="2400" dirty="0">
              <a:latin typeface="Century Gothic" panose="020B0502020202020204" pitchFamily="34" charset="0"/>
            </a:endParaRPr>
          </a:p>
          <a:p>
            <a:pPr marL="457200" indent="-457200" algn="just">
              <a:buAutoNum type="arabicPeriod" startAt="2"/>
            </a:pPr>
            <a:endParaRPr lang="en-AU" sz="2400" dirty="0">
              <a:latin typeface="Century Gothic" panose="020B0502020202020204" pitchFamily="34" charset="0"/>
            </a:endParaRPr>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0F9DC33-1991-7BD5-B64E-0A04106839FF}"/>
                  </a:ext>
                </a:extLst>
              </p:cNvPr>
              <p:cNvSpPr txBox="1"/>
              <p:nvPr/>
            </p:nvSpPr>
            <p:spPr>
              <a:xfrm>
                <a:off x="710164" y="2295463"/>
                <a:ext cx="3880312" cy="430887"/>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ea typeface="Cambria Math" panose="02040503050406030204" pitchFamily="18" charset="0"/>
                        </a:rPr>
                        <m:t>𝝉</m:t>
                      </m:r>
                      <m:r>
                        <a:rPr lang="en-AU" sz="2800" b="1" i="1" smtClean="0">
                          <a:solidFill>
                            <a:srgbClr val="FF0000"/>
                          </a:solidFill>
                          <a:latin typeface="Cambria Math" panose="02040503050406030204" pitchFamily="18" charset="0"/>
                          <a:ea typeface="Cambria Math" panose="02040503050406030204" pitchFamily="18" charset="0"/>
                        </a:rPr>
                        <m:t>=</m:t>
                      </m:r>
                      <m:r>
                        <a:rPr lang="en-AU" sz="2800" b="1" i="1" smtClean="0">
                          <a:solidFill>
                            <a:srgbClr val="FF0000"/>
                          </a:solidFill>
                          <a:latin typeface="Cambria Math" panose="02040503050406030204" pitchFamily="18" charset="0"/>
                          <a:ea typeface="Cambria Math" panose="02040503050406030204" pitchFamily="18" charset="0"/>
                        </a:rPr>
                        <m:t>𝒓</m:t>
                      </m:r>
                      <m:r>
                        <a:rPr lang="en-AU" sz="2800" b="1" i="1" baseline="-25000">
                          <a:solidFill>
                            <a:srgbClr val="FF0000"/>
                          </a:solidFill>
                          <a:latin typeface="Cambria Math" panose="02040503050406030204" pitchFamily="18" charset="0"/>
                          <a:ea typeface="Cambria Math" panose="02040503050406030204" pitchFamily="18" charset="0"/>
                        </a:rPr>
                        <m:t>┴</m:t>
                      </m:r>
                      <m:r>
                        <a:rPr lang="en-AU" sz="2800" b="1" i="1" smtClean="0">
                          <a:solidFill>
                            <a:srgbClr val="FF0000"/>
                          </a:solidFill>
                          <a:latin typeface="Cambria Math" panose="02040503050406030204" pitchFamily="18" charset="0"/>
                          <a:ea typeface="Cambria Math" panose="02040503050406030204" pitchFamily="18" charset="0"/>
                        </a:rPr>
                        <m:t>×</m:t>
                      </m:r>
                      <m:r>
                        <a:rPr lang="en-AU" sz="2800" b="1" i="1" smtClean="0">
                          <a:solidFill>
                            <a:srgbClr val="FF0000"/>
                          </a:solidFill>
                          <a:latin typeface="Cambria Math" panose="02040503050406030204" pitchFamily="18" charset="0"/>
                          <a:ea typeface="Cambria Math" panose="02040503050406030204" pitchFamily="18" charset="0"/>
                        </a:rPr>
                        <m:t>𝑭</m:t>
                      </m:r>
                    </m:oMath>
                  </m:oMathPara>
                </a14:m>
                <a:endParaRPr lang="en-AU" sz="2800" b="1" dirty="0">
                  <a:solidFill>
                    <a:srgbClr val="FF0000"/>
                  </a:solidFill>
                </a:endParaRPr>
              </a:p>
            </p:txBody>
          </p:sp>
        </mc:Choice>
        <mc:Fallback xmlns="">
          <p:sp>
            <p:nvSpPr>
              <p:cNvPr id="10" name="TextBox 9">
                <a:extLst>
                  <a:ext uri="{FF2B5EF4-FFF2-40B4-BE49-F238E27FC236}">
                    <a16:creationId xmlns:a16="http://schemas.microsoft.com/office/drawing/2014/main" id="{60F9DC33-1991-7BD5-B64E-0A04106839FF}"/>
                  </a:ext>
                </a:extLst>
              </p:cNvPr>
              <p:cNvSpPr txBox="1">
                <a:spLocks noRot="1" noChangeAspect="1" noMove="1" noResize="1" noEditPoints="1" noAdjustHandles="1" noChangeArrowheads="1" noChangeShapeType="1" noTextEdit="1"/>
              </p:cNvSpPr>
              <p:nvPr/>
            </p:nvSpPr>
            <p:spPr>
              <a:xfrm>
                <a:off x="710164" y="2295463"/>
                <a:ext cx="3880312" cy="430887"/>
              </a:xfrm>
              <a:prstGeom prst="rect">
                <a:avLst/>
              </a:prstGeom>
              <a:blipFill>
                <a:blip r:embed="rId3"/>
                <a:stretch>
                  <a:fillRect/>
                </a:stretch>
              </a:blipFill>
              <a:ln>
                <a:noFill/>
              </a:ln>
            </p:spPr>
            <p:txBody>
              <a:bodyPr/>
              <a:lstStyle/>
              <a:p>
                <a:r>
                  <a:rPr lang="en-AU">
                    <a:noFill/>
                  </a:rPr>
                  <a:t> </a:t>
                </a:r>
              </a:p>
            </p:txBody>
          </p:sp>
        </mc:Fallback>
      </mc:AlternateContent>
      <p:grpSp>
        <p:nvGrpSpPr>
          <p:cNvPr id="17" name="Group 16">
            <a:extLst>
              <a:ext uri="{FF2B5EF4-FFF2-40B4-BE49-F238E27FC236}">
                <a16:creationId xmlns:a16="http://schemas.microsoft.com/office/drawing/2014/main" id="{7EA1A13B-A113-98D3-F17E-FD156DC98F55}"/>
              </a:ext>
            </a:extLst>
          </p:cNvPr>
          <p:cNvGrpSpPr/>
          <p:nvPr/>
        </p:nvGrpSpPr>
        <p:grpSpPr>
          <a:xfrm>
            <a:off x="4826722" y="821713"/>
            <a:ext cx="7157013" cy="801752"/>
            <a:chOff x="4826722" y="821713"/>
            <a:chExt cx="7157013" cy="801752"/>
          </a:xfrm>
        </p:grpSpPr>
        <p:pic>
          <p:nvPicPr>
            <p:cNvPr id="13" name="Picture 12">
              <a:extLst>
                <a:ext uri="{FF2B5EF4-FFF2-40B4-BE49-F238E27FC236}">
                  <a16:creationId xmlns:a16="http://schemas.microsoft.com/office/drawing/2014/main" id="{8C17FAF0-8165-43B3-9521-69E261A214F6}"/>
                </a:ext>
              </a:extLst>
            </p:cNvPr>
            <p:cNvPicPr>
              <a:picLocks noChangeAspect="1"/>
            </p:cNvPicPr>
            <p:nvPr/>
          </p:nvPicPr>
          <p:blipFill rotWithShape="1">
            <a:blip r:embed="rId4"/>
            <a:srcRect t="87942"/>
            <a:stretch/>
          </p:blipFill>
          <p:spPr>
            <a:xfrm>
              <a:off x="4826722" y="1309461"/>
              <a:ext cx="7157012" cy="314004"/>
            </a:xfrm>
            <a:prstGeom prst="rect">
              <a:avLst/>
            </a:prstGeom>
          </p:spPr>
        </p:pic>
        <p:pic>
          <p:nvPicPr>
            <p:cNvPr id="14" name="Picture 13">
              <a:extLst>
                <a:ext uri="{FF2B5EF4-FFF2-40B4-BE49-F238E27FC236}">
                  <a16:creationId xmlns:a16="http://schemas.microsoft.com/office/drawing/2014/main" id="{BD740E6A-26A2-6011-994B-C7EC38FC94D3}"/>
                </a:ext>
              </a:extLst>
            </p:cNvPr>
            <p:cNvPicPr>
              <a:picLocks noChangeAspect="1"/>
            </p:cNvPicPr>
            <p:nvPr/>
          </p:nvPicPr>
          <p:blipFill rotWithShape="1">
            <a:blip r:embed="rId4"/>
            <a:srcRect t="2502" b="77753"/>
            <a:stretch/>
          </p:blipFill>
          <p:spPr>
            <a:xfrm>
              <a:off x="4826723" y="821713"/>
              <a:ext cx="7157012" cy="514175"/>
            </a:xfrm>
            <a:prstGeom prst="rect">
              <a:avLst/>
            </a:prstGeom>
          </p:spPr>
        </p:pic>
      </p:grpSp>
      <p:pic>
        <p:nvPicPr>
          <p:cNvPr id="15" name="Picture 14">
            <a:extLst>
              <a:ext uri="{FF2B5EF4-FFF2-40B4-BE49-F238E27FC236}">
                <a16:creationId xmlns:a16="http://schemas.microsoft.com/office/drawing/2014/main" id="{3A4F48EA-A3E5-458F-0DE3-514F22AA61E2}"/>
              </a:ext>
            </a:extLst>
          </p:cNvPr>
          <p:cNvPicPr>
            <a:picLocks noChangeAspect="1"/>
          </p:cNvPicPr>
          <p:nvPr/>
        </p:nvPicPr>
        <p:blipFill rotWithShape="1">
          <a:blip r:embed="rId4"/>
          <a:srcRect l="27249" t="21247" r="25647" b="9507"/>
          <a:stretch/>
        </p:blipFill>
        <p:spPr>
          <a:xfrm>
            <a:off x="5976037" y="1708807"/>
            <a:ext cx="4512851" cy="2413977"/>
          </a:xfrm>
          <a:prstGeom prst="rect">
            <a:avLst/>
          </a:prstGeom>
        </p:spPr>
      </p:pic>
      <p:cxnSp>
        <p:nvCxnSpPr>
          <p:cNvPr id="19" name="Straight Arrow Connector 18">
            <a:extLst>
              <a:ext uri="{FF2B5EF4-FFF2-40B4-BE49-F238E27FC236}">
                <a16:creationId xmlns:a16="http://schemas.microsoft.com/office/drawing/2014/main" id="{986F9E5A-20D8-7881-8054-EB2FE3938D42}"/>
              </a:ext>
            </a:extLst>
          </p:cNvPr>
          <p:cNvCxnSpPr>
            <a:cxnSpLocks/>
          </p:cNvCxnSpPr>
          <p:nvPr/>
        </p:nvCxnSpPr>
        <p:spPr>
          <a:xfrm flipH="1">
            <a:off x="7520940" y="2410175"/>
            <a:ext cx="2354580" cy="1544605"/>
          </a:xfrm>
          <a:prstGeom prst="straightConnector1">
            <a:avLst/>
          </a:prstGeom>
          <a:ln w="38100">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1A68EB1-ED9A-D814-04BE-079AC829943A}"/>
                  </a:ext>
                </a:extLst>
              </p:cNvPr>
              <p:cNvSpPr txBox="1"/>
              <p:nvPr/>
            </p:nvSpPr>
            <p:spPr>
              <a:xfrm>
                <a:off x="8700900" y="3185183"/>
                <a:ext cx="689505" cy="430887"/>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ea typeface="Cambria Math" panose="02040503050406030204" pitchFamily="18" charset="0"/>
                        </a:rPr>
                        <m:t>𝒓</m:t>
                      </m:r>
                      <m:r>
                        <a:rPr lang="en-AU" sz="2800" b="1" i="1" baseline="-25000">
                          <a:solidFill>
                            <a:srgbClr val="FF0000"/>
                          </a:solidFill>
                          <a:latin typeface="Cambria Math" panose="02040503050406030204" pitchFamily="18" charset="0"/>
                          <a:ea typeface="Cambria Math" panose="02040503050406030204" pitchFamily="18" charset="0"/>
                        </a:rPr>
                        <m:t>┴</m:t>
                      </m:r>
                    </m:oMath>
                  </m:oMathPara>
                </a14:m>
                <a:endParaRPr lang="en-AU" sz="2800" b="1" dirty="0">
                  <a:solidFill>
                    <a:srgbClr val="FF0000"/>
                  </a:solidFill>
                </a:endParaRPr>
              </a:p>
            </p:txBody>
          </p:sp>
        </mc:Choice>
        <mc:Fallback xmlns="">
          <p:sp>
            <p:nvSpPr>
              <p:cNvPr id="22" name="TextBox 21">
                <a:extLst>
                  <a:ext uri="{FF2B5EF4-FFF2-40B4-BE49-F238E27FC236}">
                    <a16:creationId xmlns:a16="http://schemas.microsoft.com/office/drawing/2014/main" id="{01A68EB1-ED9A-D814-04BE-079AC829943A}"/>
                  </a:ext>
                </a:extLst>
              </p:cNvPr>
              <p:cNvSpPr txBox="1">
                <a:spLocks noRot="1" noChangeAspect="1" noMove="1" noResize="1" noEditPoints="1" noAdjustHandles="1" noChangeArrowheads="1" noChangeShapeType="1" noTextEdit="1"/>
              </p:cNvSpPr>
              <p:nvPr/>
            </p:nvSpPr>
            <p:spPr>
              <a:xfrm>
                <a:off x="8700900" y="3185183"/>
                <a:ext cx="689505" cy="430887"/>
              </a:xfrm>
              <a:prstGeom prst="rect">
                <a:avLst/>
              </a:prstGeom>
              <a:blipFill>
                <a:blip r:embed="rId5"/>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2363E86-DA97-206A-C65E-088D6C2E8035}"/>
                  </a:ext>
                </a:extLst>
              </p:cNvPr>
              <p:cNvSpPr txBox="1"/>
              <p:nvPr/>
            </p:nvSpPr>
            <p:spPr>
              <a:xfrm>
                <a:off x="7724711" y="1838597"/>
                <a:ext cx="536386" cy="430887"/>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AU" sz="2800" b="1" i="1" smtClean="0">
                          <a:solidFill>
                            <a:schemeClr val="tx1"/>
                          </a:solidFill>
                          <a:latin typeface="Cambria Math" panose="02040503050406030204" pitchFamily="18" charset="0"/>
                          <a:ea typeface="Cambria Math" panose="02040503050406030204" pitchFamily="18" charset="0"/>
                        </a:rPr>
                        <m:t>𝒓</m:t>
                      </m:r>
                    </m:oMath>
                  </m:oMathPara>
                </a14:m>
                <a:endParaRPr lang="en-AU" sz="2800" b="1" dirty="0">
                  <a:solidFill>
                    <a:schemeClr val="tx1"/>
                  </a:solidFill>
                </a:endParaRPr>
              </a:p>
            </p:txBody>
          </p:sp>
        </mc:Choice>
        <mc:Fallback xmlns="">
          <p:sp>
            <p:nvSpPr>
              <p:cNvPr id="23" name="TextBox 22">
                <a:extLst>
                  <a:ext uri="{FF2B5EF4-FFF2-40B4-BE49-F238E27FC236}">
                    <a16:creationId xmlns:a16="http://schemas.microsoft.com/office/drawing/2014/main" id="{A2363E86-DA97-206A-C65E-088D6C2E8035}"/>
                  </a:ext>
                </a:extLst>
              </p:cNvPr>
              <p:cNvSpPr txBox="1">
                <a:spLocks noRot="1" noChangeAspect="1" noMove="1" noResize="1" noEditPoints="1" noAdjustHandles="1" noChangeArrowheads="1" noChangeShapeType="1" noTextEdit="1"/>
              </p:cNvSpPr>
              <p:nvPr/>
            </p:nvSpPr>
            <p:spPr>
              <a:xfrm>
                <a:off x="7724711" y="1838597"/>
                <a:ext cx="536386" cy="430887"/>
              </a:xfrm>
              <a:prstGeom prst="rect">
                <a:avLst/>
              </a:prstGeom>
              <a:blipFill>
                <a:blip r:embed="rId6"/>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351C46C-98F0-3B6F-E313-285586BB06AD}"/>
                  </a:ext>
                </a:extLst>
              </p:cNvPr>
              <p:cNvSpPr txBox="1"/>
              <p:nvPr/>
            </p:nvSpPr>
            <p:spPr>
              <a:xfrm>
                <a:off x="6608167" y="2421605"/>
                <a:ext cx="328336" cy="246221"/>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AU" sz="1600" b="1" i="1" smtClean="0">
                          <a:solidFill>
                            <a:srgbClr val="FF0000"/>
                          </a:solidFill>
                          <a:latin typeface="Cambria Math" panose="02040503050406030204" pitchFamily="18" charset="0"/>
                          <a:ea typeface="Cambria Math" panose="02040503050406030204" pitchFamily="18" charset="0"/>
                        </a:rPr>
                        <m:t>𝜽</m:t>
                      </m:r>
                    </m:oMath>
                  </m:oMathPara>
                </a14:m>
                <a:endParaRPr lang="en-AU" sz="1600" b="1" dirty="0">
                  <a:solidFill>
                    <a:srgbClr val="FF0000"/>
                  </a:solidFill>
                </a:endParaRPr>
              </a:p>
            </p:txBody>
          </p:sp>
        </mc:Choice>
        <mc:Fallback xmlns="">
          <p:sp>
            <p:nvSpPr>
              <p:cNvPr id="25" name="TextBox 24">
                <a:extLst>
                  <a:ext uri="{FF2B5EF4-FFF2-40B4-BE49-F238E27FC236}">
                    <a16:creationId xmlns:a16="http://schemas.microsoft.com/office/drawing/2014/main" id="{F351C46C-98F0-3B6F-E313-285586BB06AD}"/>
                  </a:ext>
                </a:extLst>
              </p:cNvPr>
              <p:cNvSpPr txBox="1">
                <a:spLocks noRot="1" noChangeAspect="1" noMove="1" noResize="1" noEditPoints="1" noAdjustHandles="1" noChangeArrowheads="1" noChangeShapeType="1" noTextEdit="1"/>
              </p:cNvSpPr>
              <p:nvPr/>
            </p:nvSpPr>
            <p:spPr>
              <a:xfrm>
                <a:off x="6608167" y="2421605"/>
                <a:ext cx="328336" cy="246221"/>
              </a:xfrm>
              <a:prstGeom prst="rect">
                <a:avLst/>
              </a:prstGeom>
              <a:blipFill>
                <a:blip r:embed="rId7"/>
                <a:stretch>
                  <a:fillRect b="-9756"/>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E622740D-C267-CEE8-F1CF-5AD8C007B05B}"/>
                  </a:ext>
                </a:extLst>
              </p:cNvPr>
              <p:cNvSpPr txBox="1"/>
              <p:nvPr/>
            </p:nvSpPr>
            <p:spPr>
              <a:xfrm>
                <a:off x="1004323" y="3100988"/>
                <a:ext cx="1589153" cy="369332"/>
              </a:xfrm>
              <a:prstGeom prst="rect">
                <a:avLst/>
              </a:prstGeom>
              <a:no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AU" sz="2400" i="1" smtClean="0">
                              <a:solidFill>
                                <a:srgbClr val="FF0000"/>
                              </a:solidFill>
                              <a:latin typeface="Cambria Math" panose="02040503050406030204" pitchFamily="18" charset="0"/>
                              <a:ea typeface="Cambria Math" panose="02040503050406030204" pitchFamily="18" charset="0"/>
                            </a:rPr>
                          </m:ctrlPr>
                        </m:sSubPr>
                        <m:e>
                          <m:r>
                            <a:rPr lang="en-AU" sz="2400" b="0" i="1" smtClean="0">
                              <a:solidFill>
                                <a:srgbClr val="FF0000"/>
                              </a:solidFill>
                              <a:latin typeface="Cambria Math" panose="02040503050406030204" pitchFamily="18" charset="0"/>
                              <a:ea typeface="Cambria Math" panose="02040503050406030204" pitchFamily="18" charset="0"/>
                            </a:rPr>
                            <m:t>𝑟</m:t>
                          </m:r>
                        </m:e>
                        <m:sub>
                          <m:r>
                            <a:rPr lang="en-AU" sz="2400" b="0" i="1">
                              <a:solidFill>
                                <a:srgbClr val="FF0000"/>
                              </a:solidFill>
                              <a:latin typeface="Cambria Math" panose="02040503050406030204" pitchFamily="18" charset="0"/>
                              <a:ea typeface="Cambria Math" panose="02040503050406030204" pitchFamily="18" charset="0"/>
                            </a:rPr>
                            <m:t>┴</m:t>
                          </m:r>
                        </m:sub>
                      </m:sSub>
                      <m:r>
                        <a:rPr lang="en-AU" sz="2400" b="0" i="0" smtClean="0">
                          <a:solidFill>
                            <a:srgbClr val="FF0000"/>
                          </a:solidFill>
                          <a:latin typeface="Cambria Math" panose="02040503050406030204" pitchFamily="18" charset="0"/>
                          <a:ea typeface="Cambria Math" panose="02040503050406030204" pitchFamily="18" charset="0"/>
                        </a:rPr>
                        <m:t>=</m:t>
                      </m:r>
                      <m:r>
                        <a:rPr lang="en-AU" sz="2400" b="0" i="1" smtClean="0">
                          <a:solidFill>
                            <a:srgbClr val="FF0000"/>
                          </a:solidFill>
                          <a:latin typeface="Cambria Math" panose="02040503050406030204" pitchFamily="18" charset="0"/>
                          <a:ea typeface="Cambria Math" panose="02040503050406030204" pitchFamily="18" charset="0"/>
                        </a:rPr>
                        <m:t>𝑟</m:t>
                      </m:r>
                      <m:func>
                        <m:funcPr>
                          <m:ctrlPr>
                            <a:rPr lang="en-AU" sz="2400" i="1" smtClean="0">
                              <a:solidFill>
                                <a:srgbClr val="FF0000"/>
                              </a:solidFill>
                              <a:latin typeface="Cambria Math" panose="02040503050406030204" pitchFamily="18" charset="0"/>
                              <a:ea typeface="Cambria Math" panose="02040503050406030204" pitchFamily="18" charset="0"/>
                            </a:rPr>
                          </m:ctrlPr>
                        </m:funcPr>
                        <m:fName>
                          <m:r>
                            <m:rPr>
                              <m:sty m:val="p"/>
                            </m:rPr>
                            <a:rPr lang="en-AU" sz="2400" b="0" i="0" smtClean="0">
                              <a:solidFill>
                                <a:srgbClr val="FF0000"/>
                              </a:solidFill>
                              <a:latin typeface="Cambria Math" panose="02040503050406030204" pitchFamily="18" charset="0"/>
                              <a:ea typeface="Cambria Math" panose="02040503050406030204" pitchFamily="18" charset="0"/>
                            </a:rPr>
                            <m:t>sin</m:t>
                          </m:r>
                        </m:fName>
                        <m:e>
                          <m:r>
                            <a:rPr lang="en-AU" sz="2400" b="0" i="1" smtClean="0">
                              <a:solidFill>
                                <a:srgbClr val="FF0000"/>
                              </a:solidFill>
                              <a:latin typeface="Cambria Math" panose="02040503050406030204" pitchFamily="18" charset="0"/>
                              <a:ea typeface="Cambria Math" panose="02040503050406030204" pitchFamily="18" charset="0"/>
                            </a:rPr>
                            <m:t>𝜃</m:t>
                          </m:r>
                        </m:e>
                      </m:func>
                    </m:oMath>
                  </m:oMathPara>
                </a14:m>
                <a:endParaRPr lang="en-AU" sz="2400" dirty="0">
                  <a:solidFill>
                    <a:srgbClr val="FF0000"/>
                  </a:solidFill>
                </a:endParaRPr>
              </a:p>
            </p:txBody>
          </p:sp>
        </mc:Choice>
        <mc:Fallback xmlns="">
          <p:sp>
            <p:nvSpPr>
              <p:cNvPr id="26" name="TextBox 25">
                <a:extLst>
                  <a:ext uri="{FF2B5EF4-FFF2-40B4-BE49-F238E27FC236}">
                    <a16:creationId xmlns:a16="http://schemas.microsoft.com/office/drawing/2014/main" id="{E622740D-C267-CEE8-F1CF-5AD8C007B05B}"/>
                  </a:ext>
                </a:extLst>
              </p:cNvPr>
              <p:cNvSpPr txBox="1">
                <a:spLocks noRot="1" noChangeAspect="1" noMove="1" noResize="1" noEditPoints="1" noAdjustHandles="1" noChangeArrowheads="1" noChangeShapeType="1" noTextEdit="1"/>
              </p:cNvSpPr>
              <p:nvPr/>
            </p:nvSpPr>
            <p:spPr>
              <a:xfrm>
                <a:off x="1004323" y="3100988"/>
                <a:ext cx="1589153" cy="369332"/>
              </a:xfrm>
              <a:prstGeom prst="rect">
                <a:avLst/>
              </a:prstGeom>
              <a:blipFill>
                <a:blip r:embed="rId8"/>
                <a:stretch>
                  <a:fillRect l="-1923" r="-3077" b="-16667"/>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7DCDD701-48FD-29DA-9095-F9E2CB49F06B}"/>
                  </a:ext>
                </a:extLst>
              </p:cNvPr>
              <p:cNvSpPr txBox="1"/>
              <p:nvPr/>
            </p:nvSpPr>
            <p:spPr>
              <a:xfrm>
                <a:off x="2651465" y="3100988"/>
                <a:ext cx="1919308" cy="369332"/>
              </a:xfrm>
              <a:prstGeom prst="rect">
                <a:avLst/>
              </a:prstGeom>
              <a:no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2400" b="1" i="1" smtClean="0">
                          <a:solidFill>
                            <a:srgbClr val="FF0000"/>
                          </a:solidFill>
                          <a:latin typeface="Cambria Math" panose="02040503050406030204" pitchFamily="18" charset="0"/>
                          <a:ea typeface="Cambria Math" panose="02040503050406030204" pitchFamily="18" charset="0"/>
                        </a:rPr>
                        <m:t>=</m:t>
                      </m:r>
                      <m:r>
                        <a:rPr lang="en-AU" sz="2400" b="0" i="1" smtClean="0">
                          <a:solidFill>
                            <a:srgbClr val="FF0000"/>
                          </a:solidFill>
                          <a:latin typeface="Cambria Math" panose="02040503050406030204" pitchFamily="18" charset="0"/>
                          <a:ea typeface="Cambria Math" panose="02040503050406030204" pitchFamily="18" charset="0"/>
                        </a:rPr>
                        <m:t>0.42</m:t>
                      </m:r>
                      <m:func>
                        <m:funcPr>
                          <m:ctrlPr>
                            <a:rPr lang="en-AU" sz="2400" i="1" smtClean="0">
                              <a:solidFill>
                                <a:srgbClr val="FF0000"/>
                              </a:solidFill>
                              <a:latin typeface="Cambria Math" panose="02040503050406030204" pitchFamily="18" charset="0"/>
                              <a:ea typeface="Cambria Math" panose="02040503050406030204" pitchFamily="18" charset="0"/>
                            </a:rPr>
                          </m:ctrlPr>
                        </m:funcPr>
                        <m:fName>
                          <m:r>
                            <m:rPr>
                              <m:sty m:val="p"/>
                            </m:rPr>
                            <a:rPr lang="en-AU" sz="2400" b="0" i="0" smtClean="0">
                              <a:solidFill>
                                <a:srgbClr val="FF0000"/>
                              </a:solidFill>
                              <a:latin typeface="Cambria Math" panose="02040503050406030204" pitchFamily="18" charset="0"/>
                              <a:ea typeface="Cambria Math" panose="02040503050406030204" pitchFamily="18" charset="0"/>
                            </a:rPr>
                            <m:t>sin</m:t>
                          </m:r>
                        </m:fName>
                        <m:e>
                          <m:r>
                            <a:rPr lang="en-AU" sz="2400" b="0" i="1" smtClean="0">
                              <a:solidFill>
                                <a:srgbClr val="FF0000"/>
                              </a:solidFill>
                              <a:latin typeface="Cambria Math" panose="02040503050406030204" pitchFamily="18" charset="0"/>
                              <a:ea typeface="Cambria Math" panose="02040503050406030204" pitchFamily="18" charset="0"/>
                            </a:rPr>
                            <m:t>68°</m:t>
                          </m:r>
                        </m:e>
                      </m:func>
                    </m:oMath>
                  </m:oMathPara>
                </a14:m>
                <a:endParaRPr lang="en-AU" sz="2400" dirty="0">
                  <a:solidFill>
                    <a:srgbClr val="FF0000"/>
                  </a:solidFill>
                </a:endParaRPr>
              </a:p>
            </p:txBody>
          </p:sp>
        </mc:Choice>
        <mc:Fallback xmlns="">
          <p:sp>
            <p:nvSpPr>
              <p:cNvPr id="27" name="TextBox 26">
                <a:extLst>
                  <a:ext uri="{FF2B5EF4-FFF2-40B4-BE49-F238E27FC236}">
                    <a16:creationId xmlns:a16="http://schemas.microsoft.com/office/drawing/2014/main" id="{7DCDD701-48FD-29DA-9095-F9E2CB49F06B}"/>
                  </a:ext>
                </a:extLst>
              </p:cNvPr>
              <p:cNvSpPr txBox="1">
                <a:spLocks noRot="1" noChangeAspect="1" noMove="1" noResize="1" noEditPoints="1" noAdjustHandles="1" noChangeArrowheads="1" noChangeShapeType="1" noTextEdit="1"/>
              </p:cNvSpPr>
              <p:nvPr/>
            </p:nvSpPr>
            <p:spPr>
              <a:xfrm>
                <a:off x="2651465" y="3100988"/>
                <a:ext cx="1919308" cy="369332"/>
              </a:xfrm>
              <a:prstGeom prst="rect">
                <a:avLst/>
              </a:prstGeom>
              <a:blipFill>
                <a:blip r:embed="rId9"/>
                <a:stretch>
                  <a:fillRect l="-952" r="-2857" b="-10000"/>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38786E6-DAD7-FFEE-DF6E-93B8ADCCCABA}"/>
                  </a:ext>
                </a:extLst>
              </p:cNvPr>
              <p:cNvSpPr txBox="1"/>
              <p:nvPr/>
            </p:nvSpPr>
            <p:spPr>
              <a:xfrm>
                <a:off x="344257" y="3753452"/>
                <a:ext cx="5530763" cy="430887"/>
              </a:xfrm>
              <a:prstGeom prst="rect">
                <a:avLst/>
              </a:prstGeom>
              <a:noFill/>
              <a:ln>
                <a:noFill/>
              </a:ln>
            </p:spPr>
            <p:txBody>
              <a:bodyPr wrap="square" lIns="0" tIns="0" rIns="0" bIns="0" rtlCol="0">
                <a:spAutoFit/>
              </a:bodyPr>
              <a:lstStyle/>
              <a:p>
                <a14:m>
                  <m:oMath xmlns:m="http://schemas.openxmlformats.org/officeDocument/2006/math">
                    <m:r>
                      <a:rPr lang="en-AU" sz="2800" b="0" i="1" smtClean="0">
                        <a:solidFill>
                          <a:srgbClr val="FF0000"/>
                        </a:solidFill>
                        <a:latin typeface="Cambria Math" panose="02040503050406030204" pitchFamily="18" charset="0"/>
                        <a:ea typeface="Cambria Math" panose="02040503050406030204" pitchFamily="18" charset="0"/>
                      </a:rPr>
                      <m:t>𝜏</m:t>
                    </m:r>
                    <m:r>
                      <a:rPr lang="en-AU" sz="2800" b="0" i="1" smtClean="0">
                        <a:solidFill>
                          <a:srgbClr val="FF0000"/>
                        </a:solidFill>
                        <a:latin typeface="Cambria Math" panose="02040503050406030204" pitchFamily="18" charset="0"/>
                        <a:ea typeface="Cambria Math" panose="02040503050406030204" pitchFamily="18" charset="0"/>
                      </a:rPr>
                      <m:t>=0.42×</m:t>
                    </m:r>
                    <m:func>
                      <m:funcPr>
                        <m:ctrlPr>
                          <a:rPr lang="en-AU" sz="2800" i="1">
                            <a:solidFill>
                              <a:srgbClr val="FF0000"/>
                            </a:solidFill>
                            <a:latin typeface="Cambria Math" panose="02040503050406030204" pitchFamily="18" charset="0"/>
                            <a:ea typeface="Cambria Math" panose="02040503050406030204" pitchFamily="18" charset="0"/>
                          </a:rPr>
                        </m:ctrlPr>
                      </m:funcPr>
                      <m:fName>
                        <m:r>
                          <m:rPr>
                            <m:sty m:val="p"/>
                          </m:rPr>
                          <a:rPr lang="en-AU" sz="2800" b="0">
                            <a:solidFill>
                              <a:srgbClr val="FF0000"/>
                            </a:solidFill>
                            <a:latin typeface="Cambria Math" panose="02040503050406030204" pitchFamily="18" charset="0"/>
                            <a:ea typeface="Cambria Math" panose="02040503050406030204" pitchFamily="18" charset="0"/>
                          </a:rPr>
                          <m:t>sin</m:t>
                        </m:r>
                      </m:fName>
                      <m:e>
                        <m:r>
                          <a:rPr lang="en-AU" sz="2800" b="0" i="1">
                            <a:solidFill>
                              <a:srgbClr val="FF0000"/>
                            </a:solidFill>
                            <a:latin typeface="Cambria Math" panose="02040503050406030204" pitchFamily="18" charset="0"/>
                            <a:ea typeface="Cambria Math" panose="02040503050406030204" pitchFamily="18" charset="0"/>
                          </a:rPr>
                          <m:t>68°</m:t>
                        </m:r>
                        <m:r>
                          <a:rPr lang="en-AU" sz="2800" i="1">
                            <a:solidFill>
                              <a:srgbClr val="FF0000"/>
                            </a:solidFill>
                            <a:latin typeface="Cambria Math" panose="02040503050406030204" pitchFamily="18" charset="0"/>
                            <a:ea typeface="Cambria Math" panose="02040503050406030204" pitchFamily="18" charset="0"/>
                          </a:rPr>
                          <m:t>×</m:t>
                        </m:r>
                        <m:r>
                          <a:rPr lang="en-AU" sz="2800" b="0" i="1" smtClean="0">
                            <a:solidFill>
                              <a:srgbClr val="FF0000"/>
                            </a:solidFill>
                            <a:latin typeface="Cambria Math" panose="02040503050406030204" pitchFamily="18" charset="0"/>
                            <a:ea typeface="Cambria Math" panose="02040503050406030204" pitchFamily="18" charset="0"/>
                          </a:rPr>
                          <m:t>65</m:t>
                        </m:r>
                      </m:e>
                    </m:func>
                  </m:oMath>
                </a14:m>
                <a:r>
                  <a:rPr lang="en-AU" sz="2800" dirty="0">
                    <a:solidFill>
                      <a:srgbClr val="FF0000"/>
                    </a:solidFill>
                  </a:rPr>
                  <a:t> = 25.3 Nm </a:t>
                </a:r>
              </a:p>
            </p:txBody>
          </p:sp>
        </mc:Choice>
        <mc:Fallback xmlns="">
          <p:sp>
            <p:nvSpPr>
              <p:cNvPr id="30" name="TextBox 29">
                <a:extLst>
                  <a:ext uri="{FF2B5EF4-FFF2-40B4-BE49-F238E27FC236}">
                    <a16:creationId xmlns:a16="http://schemas.microsoft.com/office/drawing/2014/main" id="{C38786E6-DAD7-FFEE-DF6E-93B8ADCCCABA}"/>
                  </a:ext>
                </a:extLst>
              </p:cNvPr>
              <p:cNvSpPr txBox="1">
                <a:spLocks noRot="1" noChangeAspect="1" noMove="1" noResize="1" noEditPoints="1" noAdjustHandles="1" noChangeArrowheads="1" noChangeShapeType="1" noTextEdit="1"/>
              </p:cNvSpPr>
              <p:nvPr/>
            </p:nvSpPr>
            <p:spPr>
              <a:xfrm>
                <a:off x="344257" y="3753452"/>
                <a:ext cx="5530763" cy="430887"/>
              </a:xfrm>
              <a:prstGeom prst="rect">
                <a:avLst/>
              </a:prstGeom>
              <a:blipFill>
                <a:blip r:embed="rId10"/>
                <a:stretch>
                  <a:fillRect t="-25714" r="-2313" b="-50000"/>
                </a:stretch>
              </a:blipFill>
              <a:ln>
                <a:noFill/>
              </a:ln>
            </p:spPr>
            <p:txBody>
              <a:bodyPr/>
              <a:lstStyle/>
              <a:p>
                <a:r>
                  <a:rPr lang="en-AU">
                    <a:noFill/>
                  </a:rPr>
                  <a:t> </a:t>
                </a:r>
              </a:p>
            </p:txBody>
          </p:sp>
        </mc:Fallback>
      </mc:AlternateContent>
    </p:spTree>
    <p:extLst>
      <p:ext uri="{BB962C8B-B14F-4D97-AF65-F5344CB8AC3E}">
        <p14:creationId xmlns:p14="http://schemas.microsoft.com/office/powerpoint/2010/main" val="1236840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left)">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wipe(left)">
                                      <p:cBhvr>
                                        <p:cTn id="1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Torque</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55069"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95274" y="904805"/>
            <a:ext cx="11896725"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Let’s try out each method.</a:t>
            </a:r>
          </a:p>
          <a:p>
            <a:pPr algn="just"/>
            <a:endParaRPr lang="en-AU" sz="2400" b="0" dirty="0"/>
          </a:p>
          <a:p>
            <a:pPr algn="just"/>
            <a:endParaRPr lang="en-AU" sz="2400" b="0" dirty="0"/>
          </a:p>
          <a:p>
            <a:pPr algn="just"/>
            <a:endParaRPr lang="en-AU" sz="2400" b="0" dirty="0"/>
          </a:p>
          <a:p>
            <a:pPr algn="just"/>
            <a:endParaRPr lang="en-AU" sz="2400" b="0" dirty="0"/>
          </a:p>
          <a:p>
            <a:pPr algn="just"/>
            <a:r>
              <a:rPr lang="en-AU" sz="2400" b="0" dirty="0"/>
              <a:t> </a:t>
            </a:r>
          </a:p>
        </p:txBody>
      </p:sp>
      <p:sp>
        <p:nvSpPr>
          <p:cNvPr id="3" name="TextBox 2">
            <a:extLst>
              <a:ext uri="{FF2B5EF4-FFF2-40B4-BE49-F238E27FC236}">
                <a16:creationId xmlns:a16="http://schemas.microsoft.com/office/drawing/2014/main" id="{7D3D632F-6097-4B6C-05D5-84D5073D5291}"/>
              </a:ext>
            </a:extLst>
          </p:cNvPr>
          <p:cNvSpPr txBox="1"/>
          <p:nvPr/>
        </p:nvSpPr>
        <p:spPr>
          <a:xfrm>
            <a:off x="338549" y="1657790"/>
            <a:ext cx="5321423" cy="1569660"/>
          </a:xfrm>
          <a:prstGeom prst="rect">
            <a:avLst/>
          </a:prstGeom>
          <a:noFill/>
          <a:ln>
            <a:noFill/>
          </a:ln>
        </p:spPr>
        <p:txBody>
          <a:bodyPr wrap="square">
            <a:spAutoFit/>
          </a:bodyPr>
          <a:lstStyle/>
          <a:p>
            <a:pPr marL="457200" indent="-457200" algn="just">
              <a:buFont typeface="+mj-lt"/>
              <a:buAutoNum type="arabicPeriod" startAt="3"/>
            </a:pPr>
            <a:r>
              <a:rPr lang="en-AU" sz="2400" dirty="0">
                <a:latin typeface="Century Gothic" panose="020B0502020202020204" pitchFamily="34" charset="0"/>
              </a:rPr>
              <a:t>Measure angle between force and the lever.</a:t>
            </a:r>
            <a:endParaRPr lang="en-AU" sz="1800" b="0" dirty="0"/>
          </a:p>
          <a:p>
            <a:pPr marL="457200" indent="-457200" algn="just">
              <a:buAutoNum type="arabicPeriod" startAt="2"/>
            </a:pPr>
            <a:endParaRPr lang="en-AU" sz="2400" dirty="0">
              <a:latin typeface="Century Gothic" panose="020B0502020202020204" pitchFamily="34" charset="0"/>
            </a:endParaRPr>
          </a:p>
          <a:p>
            <a:pPr marL="457200" indent="-457200" algn="just">
              <a:buAutoNum type="arabicPeriod" startAt="2"/>
            </a:pPr>
            <a:endParaRPr lang="en-AU" sz="2400" dirty="0">
              <a:latin typeface="Century Gothic" panose="020B0502020202020204" pitchFamily="34" charset="0"/>
            </a:endParaRPr>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grpSp>
        <p:nvGrpSpPr>
          <p:cNvPr id="17" name="Group 16">
            <a:extLst>
              <a:ext uri="{FF2B5EF4-FFF2-40B4-BE49-F238E27FC236}">
                <a16:creationId xmlns:a16="http://schemas.microsoft.com/office/drawing/2014/main" id="{7EA1A13B-A113-98D3-F17E-FD156DC98F55}"/>
              </a:ext>
            </a:extLst>
          </p:cNvPr>
          <p:cNvGrpSpPr/>
          <p:nvPr/>
        </p:nvGrpSpPr>
        <p:grpSpPr>
          <a:xfrm>
            <a:off x="4826722" y="821713"/>
            <a:ext cx="7157013" cy="801752"/>
            <a:chOff x="4826722" y="821713"/>
            <a:chExt cx="7157013" cy="801752"/>
          </a:xfrm>
        </p:grpSpPr>
        <p:pic>
          <p:nvPicPr>
            <p:cNvPr id="13" name="Picture 12">
              <a:extLst>
                <a:ext uri="{FF2B5EF4-FFF2-40B4-BE49-F238E27FC236}">
                  <a16:creationId xmlns:a16="http://schemas.microsoft.com/office/drawing/2014/main" id="{8C17FAF0-8165-43B3-9521-69E261A214F6}"/>
                </a:ext>
              </a:extLst>
            </p:cNvPr>
            <p:cNvPicPr>
              <a:picLocks noChangeAspect="1"/>
            </p:cNvPicPr>
            <p:nvPr/>
          </p:nvPicPr>
          <p:blipFill rotWithShape="1">
            <a:blip r:embed="rId3"/>
            <a:srcRect t="87942"/>
            <a:stretch/>
          </p:blipFill>
          <p:spPr>
            <a:xfrm>
              <a:off x="4826722" y="1309461"/>
              <a:ext cx="7157012" cy="314004"/>
            </a:xfrm>
            <a:prstGeom prst="rect">
              <a:avLst/>
            </a:prstGeom>
          </p:spPr>
        </p:pic>
        <p:pic>
          <p:nvPicPr>
            <p:cNvPr id="14" name="Picture 13">
              <a:extLst>
                <a:ext uri="{FF2B5EF4-FFF2-40B4-BE49-F238E27FC236}">
                  <a16:creationId xmlns:a16="http://schemas.microsoft.com/office/drawing/2014/main" id="{BD740E6A-26A2-6011-994B-C7EC38FC94D3}"/>
                </a:ext>
              </a:extLst>
            </p:cNvPr>
            <p:cNvPicPr>
              <a:picLocks noChangeAspect="1"/>
            </p:cNvPicPr>
            <p:nvPr/>
          </p:nvPicPr>
          <p:blipFill rotWithShape="1">
            <a:blip r:embed="rId3"/>
            <a:srcRect t="2502" b="77753"/>
            <a:stretch/>
          </p:blipFill>
          <p:spPr>
            <a:xfrm>
              <a:off x="4826723" y="821713"/>
              <a:ext cx="7157012" cy="514175"/>
            </a:xfrm>
            <a:prstGeom prst="rect">
              <a:avLst/>
            </a:prstGeom>
          </p:spPr>
        </p:pic>
      </p:grpSp>
      <p:pic>
        <p:nvPicPr>
          <p:cNvPr id="15" name="Picture 14">
            <a:extLst>
              <a:ext uri="{FF2B5EF4-FFF2-40B4-BE49-F238E27FC236}">
                <a16:creationId xmlns:a16="http://schemas.microsoft.com/office/drawing/2014/main" id="{3A4F48EA-A3E5-458F-0DE3-514F22AA61E2}"/>
              </a:ext>
            </a:extLst>
          </p:cNvPr>
          <p:cNvPicPr>
            <a:picLocks noChangeAspect="1"/>
          </p:cNvPicPr>
          <p:nvPr/>
        </p:nvPicPr>
        <p:blipFill rotWithShape="1">
          <a:blip r:embed="rId3"/>
          <a:srcRect l="27249" t="21247" r="25647" b="9507"/>
          <a:stretch/>
        </p:blipFill>
        <p:spPr>
          <a:xfrm>
            <a:off x="5976037" y="1708807"/>
            <a:ext cx="4512851" cy="2413977"/>
          </a:xfrm>
          <a:prstGeom prst="rect">
            <a:avLst/>
          </a:prstGeom>
        </p:spPr>
      </p:pic>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2363E86-DA97-206A-C65E-088D6C2E8035}"/>
                  </a:ext>
                </a:extLst>
              </p:cNvPr>
              <p:cNvSpPr txBox="1"/>
              <p:nvPr/>
            </p:nvSpPr>
            <p:spPr>
              <a:xfrm>
                <a:off x="7724711" y="1838597"/>
                <a:ext cx="536386" cy="430887"/>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AU" sz="2800" b="1" i="1" smtClean="0">
                          <a:solidFill>
                            <a:schemeClr val="tx1"/>
                          </a:solidFill>
                          <a:latin typeface="Cambria Math" panose="02040503050406030204" pitchFamily="18" charset="0"/>
                          <a:ea typeface="Cambria Math" panose="02040503050406030204" pitchFamily="18" charset="0"/>
                        </a:rPr>
                        <m:t>𝒓</m:t>
                      </m:r>
                    </m:oMath>
                  </m:oMathPara>
                </a14:m>
                <a:endParaRPr lang="en-AU" sz="2800" b="1" dirty="0">
                  <a:solidFill>
                    <a:schemeClr val="tx1"/>
                  </a:solidFill>
                </a:endParaRPr>
              </a:p>
            </p:txBody>
          </p:sp>
        </mc:Choice>
        <mc:Fallback xmlns="">
          <p:sp>
            <p:nvSpPr>
              <p:cNvPr id="23" name="TextBox 22">
                <a:extLst>
                  <a:ext uri="{FF2B5EF4-FFF2-40B4-BE49-F238E27FC236}">
                    <a16:creationId xmlns:a16="http://schemas.microsoft.com/office/drawing/2014/main" id="{A2363E86-DA97-206A-C65E-088D6C2E8035}"/>
                  </a:ext>
                </a:extLst>
              </p:cNvPr>
              <p:cNvSpPr txBox="1">
                <a:spLocks noRot="1" noChangeAspect="1" noMove="1" noResize="1" noEditPoints="1" noAdjustHandles="1" noChangeArrowheads="1" noChangeShapeType="1" noTextEdit="1"/>
              </p:cNvSpPr>
              <p:nvPr/>
            </p:nvSpPr>
            <p:spPr>
              <a:xfrm>
                <a:off x="7724711" y="1838597"/>
                <a:ext cx="536386" cy="430887"/>
              </a:xfrm>
              <a:prstGeom prst="rect">
                <a:avLst/>
              </a:prstGeom>
              <a:blipFill>
                <a:blip r:embed="rId4"/>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351C46C-98F0-3B6F-E313-285586BB06AD}"/>
                  </a:ext>
                </a:extLst>
              </p:cNvPr>
              <p:cNvSpPr txBox="1"/>
              <p:nvPr/>
            </p:nvSpPr>
            <p:spPr>
              <a:xfrm>
                <a:off x="6608167" y="2421605"/>
                <a:ext cx="328336" cy="246221"/>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AU" sz="1600" b="1" i="1" smtClean="0">
                          <a:solidFill>
                            <a:srgbClr val="FF0000"/>
                          </a:solidFill>
                          <a:latin typeface="Cambria Math" panose="02040503050406030204" pitchFamily="18" charset="0"/>
                          <a:ea typeface="Cambria Math" panose="02040503050406030204" pitchFamily="18" charset="0"/>
                        </a:rPr>
                        <m:t>𝜽</m:t>
                      </m:r>
                    </m:oMath>
                  </m:oMathPara>
                </a14:m>
                <a:endParaRPr lang="en-AU" sz="1600" b="1" dirty="0">
                  <a:solidFill>
                    <a:srgbClr val="FF0000"/>
                  </a:solidFill>
                </a:endParaRPr>
              </a:p>
            </p:txBody>
          </p:sp>
        </mc:Choice>
        <mc:Fallback xmlns="">
          <p:sp>
            <p:nvSpPr>
              <p:cNvPr id="25" name="TextBox 24">
                <a:extLst>
                  <a:ext uri="{FF2B5EF4-FFF2-40B4-BE49-F238E27FC236}">
                    <a16:creationId xmlns:a16="http://schemas.microsoft.com/office/drawing/2014/main" id="{F351C46C-98F0-3B6F-E313-285586BB06AD}"/>
                  </a:ext>
                </a:extLst>
              </p:cNvPr>
              <p:cNvSpPr txBox="1">
                <a:spLocks noRot="1" noChangeAspect="1" noMove="1" noResize="1" noEditPoints="1" noAdjustHandles="1" noChangeArrowheads="1" noChangeShapeType="1" noTextEdit="1"/>
              </p:cNvSpPr>
              <p:nvPr/>
            </p:nvSpPr>
            <p:spPr>
              <a:xfrm>
                <a:off x="6608167" y="2421605"/>
                <a:ext cx="328336" cy="246221"/>
              </a:xfrm>
              <a:prstGeom prst="rect">
                <a:avLst/>
              </a:prstGeom>
              <a:blipFill>
                <a:blip r:embed="rId5"/>
                <a:stretch>
                  <a:fillRect b="-9756"/>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E622740D-C267-CEE8-F1CF-5AD8C007B05B}"/>
                  </a:ext>
                </a:extLst>
              </p:cNvPr>
              <p:cNvSpPr txBox="1"/>
              <p:nvPr/>
            </p:nvSpPr>
            <p:spPr>
              <a:xfrm>
                <a:off x="2444909" y="3176423"/>
                <a:ext cx="1108701" cy="369332"/>
              </a:xfrm>
              <a:prstGeom prst="rect">
                <a:avLst/>
              </a:prstGeom>
              <a:no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sz="2400" i="1" smtClean="0">
                          <a:solidFill>
                            <a:srgbClr val="FF0000"/>
                          </a:solidFill>
                          <a:latin typeface="Cambria Math" panose="02040503050406030204" pitchFamily="18" charset="0"/>
                          <a:ea typeface="Cambria Math" panose="02040503050406030204" pitchFamily="18" charset="0"/>
                        </a:rPr>
                        <m:t>θ</m:t>
                      </m:r>
                      <m:r>
                        <a:rPr lang="en-AU" sz="2400" i="1">
                          <a:solidFill>
                            <a:srgbClr val="FF0000"/>
                          </a:solidFill>
                          <a:latin typeface="Cambria Math" panose="02040503050406030204" pitchFamily="18" charset="0"/>
                          <a:ea typeface="Cambria Math" panose="02040503050406030204" pitchFamily="18" charset="0"/>
                        </a:rPr>
                        <m:t>=68°</m:t>
                      </m:r>
                    </m:oMath>
                  </m:oMathPara>
                </a14:m>
                <a:endParaRPr lang="en-AU" sz="2400" dirty="0">
                  <a:solidFill>
                    <a:srgbClr val="FF0000"/>
                  </a:solidFill>
                </a:endParaRPr>
              </a:p>
            </p:txBody>
          </p:sp>
        </mc:Choice>
        <mc:Fallback xmlns="">
          <p:sp>
            <p:nvSpPr>
              <p:cNvPr id="26" name="TextBox 25">
                <a:extLst>
                  <a:ext uri="{FF2B5EF4-FFF2-40B4-BE49-F238E27FC236}">
                    <a16:creationId xmlns:a16="http://schemas.microsoft.com/office/drawing/2014/main" id="{E622740D-C267-CEE8-F1CF-5AD8C007B05B}"/>
                  </a:ext>
                </a:extLst>
              </p:cNvPr>
              <p:cNvSpPr txBox="1">
                <a:spLocks noRot="1" noChangeAspect="1" noMove="1" noResize="1" noEditPoints="1" noAdjustHandles="1" noChangeArrowheads="1" noChangeShapeType="1" noTextEdit="1"/>
              </p:cNvSpPr>
              <p:nvPr/>
            </p:nvSpPr>
            <p:spPr>
              <a:xfrm>
                <a:off x="2444909" y="3176423"/>
                <a:ext cx="1108701" cy="369332"/>
              </a:xfrm>
              <a:prstGeom prst="rect">
                <a:avLst/>
              </a:prstGeom>
              <a:blipFill>
                <a:blip r:embed="rId6"/>
                <a:stretch>
                  <a:fillRect l="-5495" r="-6044" b="-9836"/>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38786E6-DAD7-FFEE-DF6E-93B8ADCCCABA}"/>
                  </a:ext>
                </a:extLst>
              </p:cNvPr>
              <p:cNvSpPr txBox="1"/>
              <p:nvPr/>
            </p:nvSpPr>
            <p:spPr>
              <a:xfrm>
                <a:off x="344257" y="3877554"/>
                <a:ext cx="5530763" cy="430887"/>
              </a:xfrm>
              <a:prstGeom prst="rect">
                <a:avLst/>
              </a:prstGeom>
              <a:noFill/>
              <a:ln>
                <a:noFill/>
              </a:ln>
            </p:spPr>
            <p:txBody>
              <a:bodyPr wrap="square" lIns="0" tIns="0" rIns="0" bIns="0" rtlCol="0">
                <a:spAutoFit/>
              </a:bodyPr>
              <a:lstStyle/>
              <a:p>
                <a14:m>
                  <m:oMath xmlns:m="http://schemas.openxmlformats.org/officeDocument/2006/math">
                    <m:r>
                      <a:rPr lang="en-AU" sz="2800" i="1">
                        <a:solidFill>
                          <a:srgbClr val="FF0000"/>
                        </a:solidFill>
                        <a:latin typeface="Cambria Math" panose="02040503050406030204" pitchFamily="18" charset="0"/>
                        <a:ea typeface="Cambria Math" panose="02040503050406030204" pitchFamily="18" charset="0"/>
                      </a:rPr>
                      <m:t>𝜏</m:t>
                    </m:r>
                    <m:r>
                      <a:rPr lang="en-AU" sz="2800" i="1">
                        <a:solidFill>
                          <a:srgbClr val="FF0000"/>
                        </a:solidFill>
                        <a:latin typeface="Cambria Math" panose="02040503050406030204" pitchFamily="18" charset="0"/>
                        <a:ea typeface="Cambria Math" panose="02040503050406030204" pitchFamily="18" charset="0"/>
                      </a:rPr>
                      <m:t>=0.42×65×</m:t>
                    </m:r>
                    <m:func>
                      <m:funcPr>
                        <m:ctrlPr>
                          <a:rPr lang="en-AU" sz="2800" i="1">
                            <a:solidFill>
                              <a:srgbClr val="FF0000"/>
                            </a:solidFill>
                            <a:latin typeface="Cambria Math" panose="02040503050406030204" pitchFamily="18" charset="0"/>
                            <a:ea typeface="Cambria Math" panose="02040503050406030204" pitchFamily="18" charset="0"/>
                          </a:rPr>
                        </m:ctrlPr>
                      </m:funcPr>
                      <m:fName>
                        <m:r>
                          <m:rPr>
                            <m:sty m:val="p"/>
                          </m:rPr>
                          <a:rPr lang="en-AU" sz="2800" b="0">
                            <a:solidFill>
                              <a:srgbClr val="FF0000"/>
                            </a:solidFill>
                            <a:latin typeface="Cambria Math" panose="02040503050406030204" pitchFamily="18" charset="0"/>
                            <a:ea typeface="Cambria Math" panose="02040503050406030204" pitchFamily="18" charset="0"/>
                          </a:rPr>
                          <m:t>sin</m:t>
                        </m:r>
                      </m:fName>
                      <m:e>
                        <m:r>
                          <a:rPr lang="en-AU" sz="2800" b="0" i="1">
                            <a:solidFill>
                              <a:srgbClr val="FF0000"/>
                            </a:solidFill>
                            <a:latin typeface="Cambria Math" panose="02040503050406030204" pitchFamily="18" charset="0"/>
                            <a:ea typeface="Cambria Math" panose="02040503050406030204" pitchFamily="18" charset="0"/>
                          </a:rPr>
                          <m:t>68°</m:t>
                        </m:r>
                      </m:e>
                    </m:func>
                  </m:oMath>
                </a14:m>
                <a:r>
                  <a:rPr lang="en-AU" sz="2800" dirty="0">
                    <a:solidFill>
                      <a:srgbClr val="FF0000"/>
                    </a:solidFill>
                  </a:rPr>
                  <a:t> = 25.3 Nm </a:t>
                </a:r>
              </a:p>
            </p:txBody>
          </p:sp>
        </mc:Choice>
        <mc:Fallback xmlns="">
          <p:sp>
            <p:nvSpPr>
              <p:cNvPr id="30" name="TextBox 29">
                <a:extLst>
                  <a:ext uri="{FF2B5EF4-FFF2-40B4-BE49-F238E27FC236}">
                    <a16:creationId xmlns:a16="http://schemas.microsoft.com/office/drawing/2014/main" id="{C38786E6-DAD7-FFEE-DF6E-93B8ADCCCABA}"/>
                  </a:ext>
                </a:extLst>
              </p:cNvPr>
              <p:cNvSpPr txBox="1">
                <a:spLocks noRot="1" noChangeAspect="1" noMove="1" noResize="1" noEditPoints="1" noAdjustHandles="1" noChangeArrowheads="1" noChangeShapeType="1" noTextEdit="1"/>
              </p:cNvSpPr>
              <p:nvPr/>
            </p:nvSpPr>
            <p:spPr>
              <a:xfrm>
                <a:off x="344257" y="3877554"/>
                <a:ext cx="5530763" cy="430887"/>
              </a:xfrm>
              <a:prstGeom prst="rect">
                <a:avLst/>
              </a:prstGeom>
              <a:blipFill>
                <a:blip r:embed="rId7"/>
                <a:stretch>
                  <a:fillRect t="-25352" r="-2313" b="-49296"/>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7BB89BA-459D-E10D-969D-0FD1E7FCE820}"/>
                  </a:ext>
                </a:extLst>
              </p:cNvPr>
              <p:cNvSpPr txBox="1"/>
              <p:nvPr/>
            </p:nvSpPr>
            <p:spPr>
              <a:xfrm>
                <a:off x="1004323" y="2559061"/>
                <a:ext cx="3880312" cy="430887"/>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ea typeface="Cambria Math" panose="02040503050406030204" pitchFamily="18" charset="0"/>
                        </a:rPr>
                        <m:t>𝝉</m:t>
                      </m:r>
                      <m:r>
                        <a:rPr lang="en-AU" sz="2800" b="1" i="1" smtClean="0">
                          <a:solidFill>
                            <a:srgbClr val="FF0000"/>
                          </a:solidFill>
                          <a:latin typeface="Cambria Math" panose="02040503050406030204" pitchFamily="18" charset="0"/>
                          <a:ea typeface="Cambria Math" panose="02040503050406030204" pitchFamily="18" charset="0"/>
                        </a:rPr>
                        <m:t>=</m:t>
                      </m:r>
                      <m:r>
                        <a:rPr lang="en-AU" sz="2800" b="1" i="1" smtClean="0">
                          <a:solidFill>
                            <a:srgbClr val="FF0000"/>
                          </a:solidFill>
                          <a:latin typeface="Cambria Math" panose="02040503050406030204" pitchFamily="18" charset="0"/>
                          <a:ea typeface="Cambria Math" panose="02040503050406030204" pitchFamily="18" charset="0"/>
                        </a:rPr>
                        <m:t>𝒓</m:t>
                      </m:r>
                      <m:r>
                        <a:rPr lang="en-AU" sz="2800" b="1" i="1" smtClean="0">
                          <a:solidFill>
                            <a:srgbClr val="FF0000"/>
                          </a:solidFill>
                          <a:latin typeface="Cambria Math" panose="02040503050406030204" pitchFamily="18" charset="0"/>
                          <a:ea typeface="Cambria Math" panose="02040503050406030204" pitchFamily="18" charset="0"/>
                        </a:rPr>
                        <m:t>×</m:t>
                      </m:r>
                      <m:r>
                        <a:rPr lang="en-AU" sz="2800" b="1" i="1" smtClean="0">
                          <a:solidFill>
                            <a:srgbClr val="FF0000"/>
                          </a:solidFill>
                          <a:latin typeface="Cambria Math" panose="02040503050406030204" pitchFamily="18" charset="0"/>
                          <a:ea typeface="Cambria Math" panose="02040503050406030204" pitchFamily="18" charset="0"/>
                        </a:rPr>
                        <m:t>𝑭</m:t>
                      </m:r>
                      <m:r>
                        <a:rPr lang="en-AU" sz="2800" b="1" i="1">
                          <a:solidFill>
                            <a:srgbClr val="FF0000"/>
                          </a:solidFill>
                          <a:latin typeface="Cambria Math" panose="02040503050406030204" pitchFamily="18" charset="0"/>
                          <a:ea typeface="Cambria Math" panose="02040503050406030204" pitchFamily="18" charset="0"/>
                        </a:rPr>
                        <m:t>×</m:t>
                      </m:r>
                      <m:r>
                        <a:rPr lang="en-AU" sz="2800" b="1" i="1" smtClean="0">
                          <a:solidFill>
                            <a:srgbClr val="FF0000"/>
                          </a:solidFill>
                          <a:latin typeface="Cambria Math" panose="02040503050406030204" pitchFamily="18" charset="0"/>
                          <a:ea typeface="Cambria Math" panose="02040503050406030204" pitchFamily="18" charset="0"/>
                        </a:rPr>
                        <m:t>𝒔𝒊𝒏</m:t>
                      </m:r>
                      <m:r>
                        <a:rPr lang="en-AU" sz="2800" b="1" i="1" smtClean="0">
                          <a:solidFill>
                            <a:srgbClr val="FF0000"/>
                          </a:solidFill>
                          <a:latin typeface="Cambria Math" panose="02040503050406030204" pitchFamily="18" charset="0"/>
                          <a:ea typeface="Cambria Math" panose="02040503050406030204" pitchFamily="18" charset="0"/>
                        </a:rPr>
                        <m:t>𝜽</m:t>
                      </m:r>
                    </m:oMath>
                  </m:oMathPara>
                </a14:m>
                <a:endParaRPr lang="en-AU" sz="2800" b="1" dirty="0">
                  <a:solidFill>
                    <a:srgbClr val="FF0000"/>
                  </a:solidFill>
                </a:endParaRPr>
              </a:p>
            </p:txBody>
          </p:sp>
        </mc:Choice>
        <mc:Fallback xmlns="">
          <p:sp>
            <p:nvSpPr>
              <p:cNvPr id="5" name="TextBox 4">
                <a:extLst>
                  <a:ext uri="{FF2B5EF4-FFF2-40B4-BE49-F238E27FC236}">
                    <a16:creationId xmlns:a16="http://schemas.microsoft.com/office/drawing/2014/main" id="{17BB89BA-459D-E10D-969D-0FD1E7FCE820}"/>
                  </a:ext>
                </a:extLst>
              </p:cNvPr>
              <p:cNvSpPr txBox="1">
                <a:spLocks noRot="1" noChangeAspect="1" noMove="1" noResize="1" noEditPoints="1" noAdjustHandles="1" noChangeArrowheads="1" noChangeShapeType="1" noTextEdit="1"/>
              </p:cNvSpPr>
              <p:nvPr/>
            </p:nvSpPr>
            <p:spPr>
              <a:xfrm>
                <a:off x="1004323" y="2559061"/>
                <a:ext cx="3880312" cy="430887"/>
              </a:xfrm>
              <a:prstGeom prst="rect">
                <a:avLst/>
              </a:prstGeom>
              <a:blipFill>
                <a:blip r:embed="rId8"/>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4C17514-E21C-0C46-C75C-BAA572E176D0}"/>
                  </a:ext>
                </a:extLst>
              </p:cNvPr>
              <p:cNvSpPr txBox="1"/>
              <p:nvPr/>
            </p:nvSpPr>
            <p:spPr>
              <a:xfrm>
                <a:off x="6214923" y="2960979"/>
                <a:ext cx="536386" cy="430887"/>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AU" sz="2800" b="1" i="1" smtClean="0">
                          <a:solidFill>
                            <a:schemeClr val="tx1"/>
                          </a:solidFill>
                          <a:latin typeface="Cambria Math" panose="02040503050406030204" pitchFamily="18" charset="0"/>
                          <a:ea typeface="Cambria Math" panose="02040503050406030204" pitchFamily="18" charset="0"/>
                        </a:rPr>
                        <m:t>𝑭</m:t>
                      </m:r>
                    </m:oMath>
                  </m:oMathPara>
                </a14:m>
                <a:endParaRPr lang="en-AU" sz="2800" b="1" dirty="0">
                  <a:solidFill>
                    <a:schemeClr val="tx1"/>
                  </a:solidFill>
                </a:endParaRPr>
              </a:p>
            </p:txBody>
          </p:sp>
        </mc:Choice>
        <mc:Fallback xmlns="">
          <p:sp>
            <p:nvSpPr>
              <p:cNvPr id="6" name="TextBox 5">
                <a:extLst>
                  <a:ext uri="{FF2B5EF4-FFF2-40B4-BE49-F238E27FC236}">
                    <a16:creationId xmlns:a16="http://schemas.microsoft.com/office/drawing/2014/main" id="{34C17514-E21C-0C46-C75C-BAA572E176D0}"/>
                  </a:ext>
                </a:extLst>
              </p:cNvPr>
              <p:cNvSpPr txBox="1">
                <a:spLocks noRot="1" noChangeAspect="1" noMove="1" noResize="1" noEditPoints="1" noAdjustHandles="1" noChangeArrowheads="1" noChangeShapeType="1" noTextEdit="1"/>
              </p:cNvSpPr>
              <p:nvPr/>
            </p:nvSpPr>
            <p:spPr>
              <a:xfrm>
                <a:off x="6214923" y="2960979"/>
                <a:ext cx="536386" cy="430887"/>
              </a:xfrm>
              <a:prstGeom prst="rect">
                <a:avLst/>
              </a:prstGeom>
              <a:blipFill>
                <a:blip r:embed="rId9"/>
                <a:stretch>
                  <a:fillRect/>
                </a:stretch>
              </a:blipFill>
              <a:ln>
                <a:noFill/>
              </a:ln>
            </p:spPr>
            <p:txBody>
              <a:bodyPr/>
              <a:lstStyle/>
              <a:p>
                <a:r>
                  <a:rPr lang="en-AU">
                    <a:noFill/>
                  </a:rPr>
                  <a:t> </a:t>
                </a:r>
              </a:p>
            </p:txBody>
          </p:sp>
        </mc:Fallback>
      </mc:AlternateContent>
    </p:spTree>
    <p:extLst>
      <p:ext uri="{BB962C8B-B14F-4D97-AF65-F5344CB8AC3E}">
        <p14:creationId xmlns:p14="http://schemas.microsoft.com/office/powerpoint/2010/main" val="4087626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left)">
                                      <p:cBhvr>
                                        <p:cTn id="12" dur="500"/>
                                        <p:tgtEl>
                                          <p:spTgt spid="26"/>
                                        </p:tgtEl>
                                      </p:cBhvr>
                                    </p:animEffec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Torque</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You Do</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55069"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8" name="Picture 7">
            <a:extLst>
              <a:ext uri="{FF2B5EF4-FFF2-40B4-BE49-F238E27FC236}">
                <a16:creationId xmlns:a16="http://schemas.microsoft.com/office/drawing/2014/main" id="{AB15CF0E-A9CE-086E-D4BA-A8645860C99C}"/>
              </a:ext>
            </a:extLst>
          </p:cNvPr>
          <p:cNvPicPr>
            <a:picLocks noChangeAspect="1"/>
          </p:cNvPicPr>
          <p:nvPr/>
        </p:nvPicPr>
        <p:blipFill rotWithShape="1">
          <a:blip r:embed="rId3"/>
          <a:srcRect t="5769" b="51960"/>
          <a:stretch/>
        </p:blipFill>
        <p:spPr>
          <a:xfrm>
            <a:off x="52585" y="965903"/>
            <a:ext cx="10646848" cy="986872"/>
          </a:xfrm>
          <a:prstGeom prst="rect">
            <a:avLst/>
          </a:prstGeom>
        </p:spPr>
      </p:pic>
    </p:spTree>
    <p:extLst>
      <p:ext uri="{BB962C8B-B14F-4D97-AF65-F5344CB8AC3E}">
        <p14:creationId xmlns:p14="http://schemas.microsoft.com/office/powerpoint/2010/main" val="15756562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Torque</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You Do</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55069"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9" name="Picture 8">
            <a:extLst>
              <a:ext uri="{FF2B5EF4-FFF2-40B4-BE49-F238E27FC236}">
                <a16:creationId xmlns:a16="http://schemas.microsoft.com/office/drawing/2014/main" id="{BEE2D280-7813-2C99-9E95-441FC744A26F}"/>
              </a:ext>
            </a:extLst>
          </p:cNvPr>
          <p:cNvPicPr>
            <a:picLocks noChangeAspect="1"/>
          </p:cNvPicPr>
          <p:nvPr/>
        </p:nvPicPr>
        <p:blipFill rotWithShape="1">
          <a:blip r:embed="rId3"/>
          <a:srcRect t="57448"/>
          <a:stretch/>
        </p:blipFill>
        <p:spPr>
          <a:xfrm>
            <a:off x="83619" y="976081"/>
            <a:ext cx="10576649" cy="986871"/>
          </a:xfrm>
          <a:prstGeom prst="rect">
            <a:avLst/>
          </a:prstGeom>
        </p:spPr>
      </p:pic>
      <p:sp>
        <p:nvSpPr>
          <p:cNvPr id="3" name="Rectangle 2">
            <a:extLst>
              <a:ext uri="{FF2B5EF4-FFF2-40B4-BE49-F238E27FC236}">
                <a16:creationId xmlns:a16="http://schemas.microsoft.com/office/drawing/2014/main" id="{4C872E2B-48A6-BD8B-B69E-49A24E6DC91B}"/>
              </a:ext>
            </a:extLst>
          </p:cNvPr>
          <p:cNvSpPr/>
          <p:nvPr/>
        </p:nvSpPr>
        <p:spPr>
          <a:xfrm>
            <a:off x="7715250" y="215154"/>
            <a:ext cx="4476750" cy="6912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dirty="0">
                <a:solidFill>
                  <a:schemeClr val="tx1"/>
                </a:solidFill>
              </a:rPr>
              <a:t>Note: the weight of the pole acts in the middle (at 0.375m)</a:t>
            </a:r>
          </a:p>
        </p:txBody>
      </p:sp>
    </p:spTree>
    <p:extLst>
      <p:ext uri="{BB962C8B-B14F-4D97-AF65-F5344CB8AC3E}">
        <p14:creationId xmlns:p14="http://schemas.microsoft.com/office/powerpoint/2010/main" val="1361267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Torque</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You Do</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55069"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5" name="Picture 4">
            <a:extLst>
              <a:ext uri="{FF2B5EF4-FFF2-40B4-BE49-F238E27FC236}">
                <a16:creationId xmlns:a16="http://schemas.microsoft.com/office/drawing/2014/main" id="{18698BDB-4BA8-100F-8992-F0FEBC383F81}"/>
              </a:ext>
            </a:extLst>
          </p:cNvPr>
          <p:cNvPicPr>
            <a:picLocks noChangeAspect="1"/>
          </p:cNvPicPr>
          <p:nvPr/>
        </p:nvPicPr>
        <p:blipFill>
          <a:blip r:embed="rId3"/>
          <a:stretch>
            <a:fillRect/>
          </a:stretch>
        </p:blipFill>
        <p:spPr>
          <a:xfrm>
            <a:off x="295275" y="965902"/>
            <a:ext cx="9481942" cy="1910647"/>
          </a:xfrm>
          <a:prstGeom prst="rect">
            <a:avLst/>
          </a:prstGeom>
        </p:spPr>
      </p:pic>
      <p:sp>
        <p:nvSpPr>
          <p:cNvPr id="6" name="Rectangle 5">
            <a:extLst>
              <a:ext uri="{FF2B5EF4-FFF2-40B4-BE49-F238E27FC236}">
                <a16:creationId xmlns:a16="http://schemas.microsoft.com/office/drawing/2014/main" id="{4AD2F525-1F78-7658-E883-90125D29ED4F}"/>
              </a:ext>
            </a:extLst>
          </p:cNvPr>
          <p:cNvSpPr/>
          <p:nvPr/>
        </p:nvSpPr>
        <p:spPr>
          <a:xfrm>
            <a:off x="9577388" y="215154"/>
            <a:ext cx="2614612" cy="6912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tx1"/>
                </a:solidFill>
              </a:rPr>
              <a:t>Draw a picture!</a:t>
            </a:r>
          </a:p>
        </p:txBody>
      </p:sp>
    </p:spTree>
    <p:extLst>
      <p:ext uri="{BB962C8B-B14F-4D97-AF65-F5344CB8AC3E}">
        <p14:creationId xmlns:p14="http://schemas.microsoft.com/office/powerpoint/2010/main" val="3205118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Torque</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Exam advice</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95274" y="1105143"/>
            <a:ext cx="11681859"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buFont typeface="+mj-lt"/>
              <a:buAutoNum type="arabicPeriod"/>
            </a:pPr>
            <a:r>
              <a:rPr lang="en-AU" sz="2400" b="0" dirty="0"/>
              <a:t>Be comfortable using all three of the calculation methods. You will likely prefer one of them (I like to use perpendicular force because that makes the most conceptual sense to me) but sometimes it is far easier to use an alternative method.</a:t>
            </a:r>
          </a:p>
          <a:p>
            <a:pPr marL="457200" indent="-457200" algn="just">
              <a:buFont typeface="+mj-lt"/>
              <a:buAutoNum type="arabicPeriod"/>
            </a:pPr>
            <a:endParaRPr lang="en-AU" sz="2400" b="0" dirty="0"/>
          </a:p>
          <a:p>
            <a:pPr marL="457200" indent="-457200" algn="just">
              <a:buFont typeface="+mj-lt"/>
              <a:buAutoNum type="arabicPeriod"/>
            </a:pPr>
            <a:r>
              <a:rPr lang="en-AU" sz="2400" b="0" dirty="0"/>
              <a:t>Be careful with the angles. You might not be given the correct angle for the sin</a:t>
            </a:r>
            <a:r>
              <a:rPr lang="en-AU" sz="2400" b="0" dirty="0">
                <a:sym typeface="Symbol" panose="05050102010706020507" pitchFamily="18" charset="2"/>
              </a:rPr>
              <a:t> equation. </a:t>
            </a:r>
            <a:r>
              <a:rPr lang="en-AU" sz="2400" b="0" u="sng" dirty="0">
                <a:sym typeface="Symbol" panose="05050102010706020507" pitchFamily="18" charset="2"/>
              </a:rPr>
              <a:t>Draw a picture</a:t>
            </a:r>
            <a:r>
              <a:rPr lang="en-AU" sz="2400" b="0" dirty="0">
                <a:sym typeface="Symbol" panose="05050102010706020507" pitchFamily="18" charset="2"/>
              </a:rPr>
              <a:t> and check.</a:t>
            </a:r>
          </a:p>
          <a:p>
            <a:pPr marL="457200" indent="-457200" algn="just">
              <a:buFont typeface="+mj-lt"/>
              <a:buAutoNum type="arabicPeriod"/>
            </a:pPr>
            <a:endParaRPr lang="en-AU" sz="2400" b="0" dirty="0">
              <a:sym typeface="Symbol" panose="05050102010706020507" pitchFamily="18" charset="2"/>
            </a:endParaRPr>
          </a:p>
          <a:p>
            <a:pPr marL="457200" indent="-457200" algn="just">
              <a:buFont typeface="+mj-lt"/>
              <a:buAutoNum type="arabicPeriod"/>
            </a:pPr>
            <a:r>
              <a:rPr lang="en-AU" sz="2400" b="0" dirty="0">
                <a:sym typeface="Symbol" panose="05050102010706020507" pitchFamily="18" charset="2"/>
              </a:rPr>
              <a:t>Understand how the force required to provide a certain torque can be reduced (usually it is by changing the angle or increasing the lever arm).</a:t>
            </a:r>
            <a:endParaRPr lang="en-AU" sz="2400" b="0" dirty="0"/>
          </a:p>
          <a:p>
            <a:pPr algn="just"/>
            <a:endParaRPr lang="en-AU" sz="2400" b="0" dirty="0"/>
          </a:p>
          <a:p>
            <a:pPr algn="just"/>
            <a:endParaRPr lang="en-AU" sz="2400" b="0" dirty="0"/>
          </a:p>
          <a:p>
            <a:pPr algn="just"/>
            <a:endParaRPr lang="en-AU" sz="2400" b="0" dirty="0"/>
          </a:p>
          <a:p>
            <a:pPr algn="just"/>
            <a:r>
              <a:rPr lang="en-AU" sz="2400" b="0" dirty="0"/>
              <a:t> </a:t>
            </a:r>
          </a:p>
        </p:txBody>
      </p:sp>
    </p:spTree>
    <p:extLst>
      <p:ext uri="{BB962C8B-B14F-4D97-AF65-F5344CB8AC3E}">
        <p14:creationId xmlns:p14="http://schemas.microsoft.com/office/powerpoint/2010/main" val="119075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Torque</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1600" b="0" dirty="0">
                <a:solidFill>
                  <a:srgbClr val="000303"/>
                </a:solidFill>
                <a:latin typeface="+mj-lt"/>
              </a:rPr>
              <a:t>I can define torque as a turning effect.</a:t>
            </a:r>
          </a:p>
          <a:p>
            <a:pPr algn="l"/>
            <a:r>
              <a:rPr lang="en-US" sz="1600" b="0" dirty="0">
                <a:solidFill>
                  <a:srgbClr val="000303"/>
                </a:solidFill>
                <a:latin typeface="+mj-lt"/>
              </a:rPr>
              <a:t>I</a:t>
            </a:r>
            <a:r>
              <a:rPr lang="en-US" sz="1600" b="0" i="0" dirty="0">
                <a:solidFill>
                  <a:srgbClr val="000303"/>
                </a:solidFill>
                <a:effectLst/>
                <a:latin typeface="+mj-lt"/>
              </a:rPr>
              <a:t> can </a:t>
            </a:r>
            <a:r>
              <a:rPr lang="en-AU" sz="1600" b="0" dirty="0">
                <a:solidFill>
                  <a:srgbClr val="000303"/>
                </a:solidFill>
                <a:latin typeface="+mj-lt"/>
              </a:rPr>
              <a:t>calculate the torque applied to an object.</a:t>
            </a:r>
            <a:endParaRPr lang="en-US" sz="1600" b="0" i="0" dirty="0">
              <a:solidFill>
                <a:srgbClr val="000303"/>
              </a:solidFill>
              <a:effectLst/>
              <a:latin typeface="+mj-lt"/>
            </a:endParaRPr>
          </a:p>
        </p:txBody>
      </p:sp>
    </p:spTree>
    <p:extLst>
      <p:ext uri="{BB962C8B-B14F-4D97-AF65-F5344CB8AC3E}">
        <p14:creationId xmlns:p14="http://schemas.microsoft.com/office/powerpoint/2010/main" val="180061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Torque</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Additional Study</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5" name="Picture 4">
            <a:extLst>
              <a:ext uri="{FF2B5EF4-FFF2-40B4-BE49-F238E27FC236}">
                <a16:creationId xmlns:a16="http://schemas.microsoft.com/office/drawing/2014/main" id="{83BFD562-FE26-469F-2D47-2FFCB1C284CB}"/>
              </a:ext>
            </a:extLst>
          </p:cNvPr>
          <p:cNvPicPr>
            <a:picLocks noChangeAspect="1"/>
          </p:cNvPicPr>
          <p:nvPr/>
        </p:nvPicPr>
        <p:blipFill>
          <a:blip r:embed="rId3"/>
          <a:stretch>
            <a:fillRect/>
          </a:stretch>
        </p:blipFill>
        <p:spPr>
          <a:xfrm>
            <a:off x="295275" y="1139077"/>
            <a:ext cx="1476375" cy="400050"/>
          </a:xfrm>
          <a:prstGeom prst="rect">
            <a:avLst/>
          </a:prstGeom>
        </p:spPr>
      </p:pic>
      <p:pic>
        <p:nvPicPr>
          <p:cNvPr id="8" name="Picture 7">
            <a:extLst>
              <a:ext uri="{FF2B5EF4-FFF2-40B4-BE49-F238E27FC236}">
                <a16:creationId xmlns:a16="http://schemas.microsoft.com/office/drawing/2014/main" id="{A2C1CF22-CF93-1D8E-464E-A20245C66C48}"/>
              </a:ext>
            </a:extLst>
          </p:cNvPr>
          <p:cNvPicPr>
            <a:picLocks noChangeAspect="1"/>
          </p:cNvPicPr>
          <p:nvPr/>
        </p:nvPicPr>
        <p:blipFill>
          <a:blip r:embed="rId4"/>
          <a:stretch>
            <a:fillRect/>
          </a:stretch>
        </p:blipFill>
        <p:spPr>
          <a:xfrm>
            <a:off x="4305300" y="763964"/>
            <a:ext cx="7886700" cy="5048250"/>
          </a:xfrm>
          <a:prstGeom prst="rect">
            <a:avLst/>
          </a:prstGeom>
        </p:spPr>
      </p:pic>
    </p:spTree>
    <p:extLst>
      <p:ext uri="{BB962C8B-B14F-4D97-AF65-F5344CB8AC3E}">
        <p14:creationId xmlns:p14="http://schemas.microsoft.com/office/powerpoint/2010/main" val="2595667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Torque</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Additional Study</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5" name="Picture 4">
            <a:extLst>
              <a:ext uri="{FF2B5EF4-FFF2-40B4-BE49-F238E27FC236}">
                <a16:creationId xmlns:a16="http://schemas.microsoft.com/office/drawing/2014/main" id="{83BFD562-FE26-469F-2D47-2FFCB1C284CB}"/>
              </a:ext>
            </a:extLst>
          </p:cNvPr>
          <p:cNvPicPr>
            <a:picLocks noChangeAspect="1"/>
          </p:cNvPicPr>
          <p:nvPr/>
        </p:nvPicPr>
        <p:blipFill>
          <a:blip r:embed="rId3"/>
          <a:stretch>
            <a:fillRect/>
          </a:stretch>
        </p:blipFill>
        <p:spPr>
          <a:xfrm>
            <a:off x="295275" y="1139077"/>
            <a:ext cx="1476375" cy="400050"/>
          </a:xfrm>
          <a:prstGeom prst="rect">
            <a:avLst/>
          </a:prstGeom>
        </p:spPr>
      </p:pic>
      <p:pic>
        <p:nvPicPr>
          <p:cNvPr id="6" name="Picture 5">
            <a:extLst>
              <a:ext uri="{FF2B5EF4-FFF2-40B4-BE49-F238E27FC236}">
                <a16:creationId xmlns:a16="http://schemas.microsoft.com/office/drawing/2014/main" id="{3F872ADE-D540-C416-44D9-7399EBE9E400}"/>
              </a:ext>
            </a:extLst>
          </p:cNvPr>
          <p:cNvPicPr>
            <a:picLocks noChangeAspect="1"/>
          </p:cNvPicPr>
          <p:nvPr/>
        </p:nvPicPr>
        <p:blipFill>
          <a:blip r:embed="rId4"/>
          <a:stretch>
            <a:fillRect/>
          </a:stretch>
        </p:blipFill>
        <p:spPr>
          <a:xfrm>
            <a:off x="5401318" y="0"/>
            <a:ext cx="6790682" cy="6858000"/>
          </a:xfrm>
          <a:prstGeom prst="rect">
            <a:avLst/>
          </a:prstGeom>
        </p:spPr>
      </p:pic>
    </p:spTree>
    <p:extLst>
      <p:ext uri="{BB962C8B-B14F-4D97-AF65-F5344CB8AC3E}">
        <p14:creationId xmlns:p14="http://schemas.microsoft.com/office/powerpoint/2010/main" val="15399666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Centre of Mass and Stability</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1600" b="0" dirty="0">
                <a:solidFill>
                  <a:srgbClr val="000303"/>
                </a:solidFill>
                <a:latin typeface="+mj-lt"/>
              </a:rPr>
              <a:t>I can </a:t>
            </a:r>
            <a:r>
              <a:rPr lang="en-AU" sz="1600" b="0" dirty="0">
                <a:solidFill>
                  <a:srgbClr val="000303"/>
                </a:solidFill>
                <a:latin typeface="+mj-lt"/>
              </a:rPr>
              <a:t>define centre of mass and centre of gravity.</a:t>
            </a:r>
          </a:p>
          <a:p>
            <a:pPr algn="l"/>
            <a:r>
              <a:rPr lang="en-AU" sz="1600" b="0" i="0" dirty="0">
                <a:solidFill>
                  <a:srgbClr val="000303"/>
                </a:solidFill>
                <a:effectLst/>
                <a:latin typeface="+mj-lt"/>
              </a:rPr>
              <a:t>I can relate centre of mass to stability.</a:t>
            </a:r>
            <a:endParaRPr lang="en-US" sz="1600" b="0" i="0" dirty="0">
              <a:solidFill>
                <a:srgbClr val="000303"/>
              </a:solidFill>
              <a:effectLst/>
              <a:latin typeface="+mj-lt"/>
            </a:endParaRPr>
          </a:p>
        </p:txBody>
      </p:sp>
    </p:spTree>
    <p:extLst>
      <p:ext uri="{BB962C8B-B14F-4D97-AF65-F5344CB8AC3E}">
        <p14:creationId xmlns:p14="http://schemas.microsoft.com/office/powerpoint/2010/main" val="12147327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7E10561-477F-AD13-F15A-E4CB6CEFD90C}"/>
              </a:ext>
            </a:extLst>
          </p:cNvPr>
          <p:cNvPicPr>
            <a:picLocks noChangeAspect="1"/>
          </p:cNvPicPr>
          <p:nvPr/>
        </p:nvPicPr>
        <p:blipFill>
          <a:blip r:embed="rId3"/>
          <a:stretch>
            <a:fillRect/>
          </a:stretch>
        </p:blipFill>
        <p:spPr>
          <a:xfrm>
            <a:off x="445112" y="2951053"/>
            <a:ext cx="5832927" cy="2885007"/>
          </a:xfrm>
          <a:prstGeom prst="rect">
            <a:avLst/>
          </a:prstGeom>
        </p:spPr>
      </p:pic>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Centre of Mass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56311" y="5696255"/>
            <a:ext cx="11977133" cy="885562"/>
          </a:xfrm>
          <a:prstGeom prst="rect">
            <a:avLst/>
          </a:prstGeom>
          <a:solidFill>
            <a:schemeClr val="bg1"/>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57293" y="976454"/>
            <a:ext cx="11896725"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The mass of an object can be considered to be ‘concentrated’ at a single point, called </a:t>
            </a:r>
            <a:r>
              <a:rPr lang="en-AU" sz="2400" dirty="0"/>
              <a:t>the centre of mass</a:t>
            </a:r>
            <a:r>
              <a:rPr lang="en-AU" sz="2400" b="0" dirty="0"/>
              <a:t>. For regular, uniform objects, where the mass is uniformly distributed, the centre of mass is usually the centre of the object. However, it doesn’t have to be. In fact, it doesn’t even have to be </a:t>
            </a:r>
            <a:r>
              <a:rPr lang="en-AU" sz="2400" b="0" i="1" dirty="0"/>
              <a:t>inside</a:t>
            </a:r>
            <a:r>
              <a:rPr lang="en-AU" sz="2400" b="0" dirty="0"/>
              <a:t> the object.</a:t>
            </a:r>
          </a:p>
          <a:p>
            <a:pPr algn="just"/>
            <a:endParaRPr lang="en-AU" sz="2400" b="0" dirty="0"/>
          </a:p>
          <a:p>
            <a:pPr algn="just"/>
            <a:endParaRPr lang="en-AU" sz="2400" b="0" dirty="0"/>
          </a:p>
          <a:p>
            <a:pPr algn="just"/>
            <a:endParaRPr lang="en-AU" sz="2400" b="0" dirty="0"/>
          </a:p>
          <a:p>
            <a:pPr algn="just"/>
            <a:endParaRPr lang="en-AU" sz="2400" b="0" dirty="0"/>
          </a:p>
          <a:p>
            <a:pPr algn="just"/>
            <a:r>
              <a:rPr lang="en-AU" sz="2400" b="0" dirty="0"/>
              <a:t> </a:t>
            </a:r>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3" name="Picture 2">
            <a:extLst>
              <a:ext uri="{FF2B5EF4-FFF2-40B4-BE49-F238E27FC236}">
                <a16:creationId xmlns:a16="http://schemas.microsoft.com/office/drawing/2014/main" id="{7D73452B-B322-4270-42F5-32703B5A80EB}"/>
              </a:ext>
            </a:extLst>
          </p:cNvPr>
          <p:cNvPicPr>
            <a:picLocks noChangeAspect="1"/>
          </p:cNvPicPr>
          <p:nvPr/>
        </p:nvPicPr>
        <p:blipFill>
          <a:blip r:embed="rId4"/>
          <a:stretch>
            <a:fillRect/>
          </a:stretch>
        </p:blipFill>
        <p:spPr>
          <a:xfrm>
            <a:off x="7329153" y="2585830"/>
            <a:ext cx="4439132" cy="2141412"/>
          </a:xfrm>
          <a:prstGeom prst="rect">
            <a:avLst/>
          </a:prstGeom>
        </p:spPr>
      </p:pic>
      <p:pic>
        <p:nvPicPr>
          <p:cNvPr id="5" name="Picture 4">
            <a:extLst>
              <a:ext uri="{FF2B5EF4-FFF2-40B4-BE49-F238E27FC236}">
                <a16:creationId xmlns:a16="http://schemas.microsoft.com/office/drawing/2014/main" id="{0CB9AAFD-39BE-55F1-A746-4D9AB6A68418}"/>
              </a:ext>
            </a:extLst>
          </p:cNvPr>
          <p:cNvPicPr>
            <a:picLocks noChangeAspect="1"/>
          </p:cNvPicPr>
          <p:nvPr/>
        </p:nvPicPr>
        <p:blipFill>
          <a:blip r:embed="rId5"/>
          <a:stretch>
            <a:fillRect/>
          </a:stretch>
        </p:blipFill>
        <p:spPr>
          <a:xfrm>
            <a:off x="6695661" y="4816089"/>
            <a:ext cx="2951574" cy="1438707"/>
          </a:xfrm>
          <a:prstGeom prst="rect">
            <a:avLst/>
          </a:prstGeom>
        </p:spPr>
      </p:pic>
      <p:pic>
        <p:nvPicPr>
          <p:cNvPr id="6" name="Picture 5">
            <a:extLst>
              <a:ext uri="{FF2B5EF4-FFF2-40B4-BE49-F238E27FC236}">
                <a16:creationId xmlns:a16="http://schemas.microsoft.com/office/drawing/2014/main" id="{080326A8-BFA8-72CC-B23A-EE81C335FA0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064857" y="4945669"/>
            <a:ext cx="1970832" cy="1438707"/>
          </a:xfrm>
          <a:prstGeom prst="rect">
            <a:avLst/>
          </a:prstGeom>
        </p:spPr>
      </p:pic>
      <p:sp>
        <p:nvSpPr>
          <p:cNvPr id="9" name="Rectangle 8">
            <a:extLst>
              <a:ext uri="{FF2B5EF4-FFF2-40B4-BE49-F238E27FC236}">
                <a16:creationId xmlns:a16="http://schemas.microsoft.com/office/drawing/2014/main" id="{17183F8D-2DD2-046D-BCF2-E3E733517617}"/>
              </a:ext>
            </a:extLst>
          </p:cNvPr>
          <p:cNvSpPr/>
          <p:nvPr/>
        </p:nvSpPr>
        <p:spPr>
          <a:xfrm>
            <a:off x="5230368" y="4835941"/>
            <a:ext cx="1047671" cy="7036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Tree>
    <p:extLst>
      <p:ext uri="{BB962C8B-B14F-4D97-AF65-F5344CB8AC3E}">
        <p14:creationId xmlns:p14="http://schemas.microsoft.com/office/powerpoint/2010/main" val="33721138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57293" y="976454"/>
            <a:ext cx="11896725"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buFont typeface="Arial" panose="020B0604020202020204" pitchFamily="34" charset="0"/>
              <a:buChar char="•"/>
            </a:pPr>
            <a:r>
              <a:rPr lang="en-AU" sz="2400" b="0" dirty="0"/>
              <a:t>The centre of gravity is the point where the weight of object is acting at. If the gravitational field is constant (all of Year 12 Physics), then the centre of gravity is the same as the centre of mass. You can use them interchangeably.</a:t>
            </a:r>
          </a:p>
          <a:p>
            <a:pPr marL="342900" indent="-342900" algn="just">
              <a:buFont typeface="Arial" panose="020B0604020202020204" pitchFamily="34" charset="0"/>
              <a:buChar char="•"/>
            </a:pPr>
            <a:endParaRPr lang="en-AU" sz="2400" b="0" dirty="0"/>
          </a:p>
          <a:p>
            <a:pPr marL="342900" indent="-342900" algn="just">
              <a:buFont typeface="Arial" panose="020B0604020202020204" pitchFamily="34" charset="0"/>
              <a:buChar char="•"/>
            </a:pPr>
            <a:r>
              <a:rPr lang="en-AU" sz="2400" b="0" dirty="0"/>
              <a:t>In exams, you will either be provided where the centre of mass of an object is or you can assume that it is in the centre of the object. Look for the keyword ‘uniform’. A uniform object has its mass equally distributed so its centre of mass will be in the middle.</a:t>
            </a:r>
          </a:p>
          <a:p>
            <a:pPr algn="just"/>
            <a:endParaRPr lang="en-AU" sz="2400" b="0" dirty="0"/>
          </a:p>
          <a:p>
            <a:pPr algn="just"/>
            <a:endParaRPr lang="en-AU" sz="2400" b="0" dirty="0"/>
          </a:p>
          <a:p>
            <a:pPr algn="just"/>
            <a:endParaRPr lang="en-AU" sz="2400" b="0" dirty="0"/>
          </a:p>
          <a:p>
            <a:pPr algn="just"/>
            <a:endParaRPr lang="en-AU" sz="2400" b="0" dirty="0"/>
          </a:p>
          <a:p>
            <a:pPr algn="just"/>
            <a:r>
              <a:rPr lang="en-AU" sz="2400" b="0" dirty="0"/>
              <a:t> </a:t>
            </a:r>
          </a:p>
        </p:txBody>
      </p:sp>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Centre of Mass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11" name="Rectangle 10">
            <a:extLst>
              <a:ext uri="{FF2B5EF4-FFF2-40B4-BE49-F238E27FC236}">
                <a16:creationId xmlns:a16="http://schemas.microsoft.com/office/drawing/2014/main" id="{1D428F02-481B-4465-561A-7F774BF12D94}"/>
              </a:ext>
            </a:extLst>
          </p:cNvPr>
          <p:cNvSpPr/>
          <p:nvPr/>
        </p:nvSpPr>
        <p:spPr>
          <a:xfrm>
            <a:off x="997526" y="5272644"/>
            <a:ext cx="4498813" cy="154379"/>
          </a:xfrm>
          <a:prstGeom prst="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Rectangle 11">
            <a:extLst>
              <a:ext uri="{FF2B5EF4-FFF2-40B4-BE49-F238E27FC236}">
                <a16:creationId xmlns:a16="http://schemas.microsoft.com/office/drawing/2014/main" id="{FC7C9BB5-83ED-CFB2-FBF0-BBE2158287ED}"/>
              </a:ext>
            </a:extLst>
          </p:cNvPr>
          <p:cNvSpPr/>
          <p:nvPr/>
        </p:nvSpPr>
        <p:spPr>
          <a:xfrm>
            <a:off x="997526" y="4663061"/>
            <a:ext cx="4498813" cy="2882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AU" sz="1600" b="1" dirty="0">
                <a:solidFill>
                  <a:schemeClr val="tx1"/>
                </a:solidFill>
              </a:rPr>
              <a:t>A uniform metre ruler</a:t>
            </a:r>
            <a:endParaRPr lang="en-AU" sz="1600" dirty="0">
              <a:solidFill>
                <a:schemeClr val="tx1"/>
              </a:solidFill>
            </a:endParaRPr>
          </a:p>
        </p:txBody>
      </p:sp>
      <p:cxnSp>
        <p:nvCxnSpPr>
          <p:cNvPr id="14" name="Straight Arrow Connector 13">
            <a:extLst>
              <a:ext uri="{FF2B5EF4-FFF2-40B4-BE49-F238E27FC236}">
                <a16:creationId xmlns:a16="http://schemas.microsoft.com/office/drawing/2014/main" id="{EE6598F7-FF25-7B3A-C69A-0E2183441B7B}"/>
              </a:ext>
            </a:extLst>
          </p:cNvPr>
          <p:cNvCxnSpPr>
            <a:stCxn id="11" idx="0"/>
          </p:cNvCxnSpPr>
          <p:nvPr/>
        </p:nvCxnSpPr>
        <p:spPr>
          <a:xfrm>
            <a:off x="3246933" y="5272644"/>
            <a:ext cx="0" cy="5776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65C1AD81-49DE-E073-6681-4B8A8BDF9310}"/>
              </a:ext>
            </a:extLst>
          </p:cNvPr>
          <p:cNvSpPr/>
          <p:nvPr/>
        </p:nvSpPr>
        <p:spPr>
          <a:xfrm>
            <a:off x="3246933" y="5555558"/>
            <a:ext cx="334490" cy="2882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AU" sz="1600" b="1" dirty="0">
                <a:solidFill>
                  <a:schemeClr val="tx1"/>
                </a:solidFill>
              </a:rPr>
              <a:t>W</a:t>
            </a:r>
            <a:endParaRPr lang="en-AU" sz="1600" dirty="0">
              <a:solidFill>
                <a:schemeClr val="tx1"/>
              </a:solidFill>
            </a:endParaRPr>
          </a:p>
        </p:txBody>
      </p:sp>
      <p:grpSp>
        <p:nvGrpSpPr>
          <p:cNvPr id="18" name="Group 17">
            <a:extLst>
              <a:ext uri="{FF2B5EF4-FFF2-40B4-BE49-F238E27FC236}">
                <a16:creationId xmlns:a16="http://schemas.microsoft.com/office/drawing/2014/main" id="{81F335A7-FF51-F70E-35E7-E59FD0E351A1}"/>
              </a:ext>
            </a:extLst>
          </p:cNvPr>
          <p:cNvGrpSpPr/>
          <p:nvPr/>
        </p:nvGrpSpPr>
        <p:grpSpPr>
          <a:xfrm>
            <a:off x="7469281" y="4550453"/>
            <a:ext cx="2951574" cy="1444382"/>
            <a:chOff x="7469281" y="4211390"/>
            <a:chExt cx="2951574" cy="1444382"/>
          </a:xfrm>
        </p:grpSpPr>
        <p:pic>
          <p:nvPicPr>
            <p:cNvPr id="5" name="Picture 4">
              <a:extLst>
                <a:ext uri="{FF2B5EF4-FFF2-40B4-BE49-F238E27FC236}">
                  <a16:creationId xmlns:a16="http://schemas.microsoft.com/office/drawing/2014/main" id="{0CB9AAFD-39BE-55F1-A746-4D9AB6A68418}"/>
                </a:ext>
              </a:extLst>
            </p:cNvPr>
            <p:cNvPicPr>
              <a:picLocks noChangeAspect="1"/>
            </p:cNvPicPr>
            <p:nvPr/>
          </p:nvPicPr>
          <p:blipFill>
            <a:blip r:embed="rId3"/>
            <a:stretch>
              <a:fillRect/>
            </a:stretch>
          </p:blipFill>
          <p:spPr>
            <a:xfrm>
              <a:off x="7469281" y="4211390"/>
              <a:ext cx="2951574" cy="1438707"/>
            </a:xfrm>
            <a:prstGeom prst="rect">
              <a:avLst/>
            </a:prstGeom>
          </p:spPr>
        </p:pic>
        <p:cxnSp>
          <p:nvCxnSpPr>
            <p:cNvPr id="16" name="Straight Arrow Connector 15">
              <a:extLst>
                <a:ext uri="{FF2B5EF4-FFF2-40B4-BE49-F238E27FC236}">
                  <a16:creationId xmlns:a16="http://schemas.microsoft.com/office/drawing/2014/main" id="{60458C3E-DEB2-9CB9-A8D7-4A28B7BFE7B1}"/>
                </a:ext>
              </a:extLst>
            </p:cNvPr>
            <p:cNvCxnSpPr/>
            <p:nvPr/>
          </p:nvCxnSpPr>
          <p:spPr>
            <a:xfrm>
              <a:off x="8173214" y="5078102"/>
              <a:ext cx="0" cy="5776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760E3CAE-90E3-5047-736B-B7B8F01C437B}"/>
                </a:ext>
              </a:extLst>
            </p:cNvPr>
            <p:cNvSpPr/>
            <p:nvPr/>
          </p:nvSpPr>
          <p:spPr>
            <a:xfrm>
              <a:off x="8173214" y="5361016"/>
              <a:ext cx="334490" cy="2882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AU" sz="1600" b="1" dirty="0">
                  <a:solidFill>
                    <a:schemeClr val="tx1"/>
                  </a:solidFill>
                </a:rPr>
                <a:t>W</a:t>
              </a:r>
              <a:endParaRPr lang="en-AU" sz="1600" dirty="0">
                <a:solidFill>
                  <a:schemeClr val="tx1"/>
                </a:solidFill>
              </a:endParaRPr>
            </a:p>
          </p:txBody>
        </p:sp>
      </p:grpSp>
    </p:spTree>
    <p:extLst>
      <p:ext uri="{BB962C8B-B14F-4D97-AF65-F5344CB8AC3E}">
        <p14:creationId xmlns:p14="http://schemas.microsoft.com/office/powerpoint/2010/main" val="2147736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57293" y="976454"/>
            <a:ext cx="11896725" cy="259098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Objects are stable (i.e., unlikely to tip) provided their centre of mass is over their base. If an object’s centre of mass extends past their base, the object will tip over.</a:t>
            </a:r>
          </a:p>
          <a:p>
            <a:pPr algn="just"/>
            <a:r>
              <a:rPr lang="en-AU" sz="2400" b="0" dirty="0"/>
              <a:t>This means that an object is more stable if it has:</a:t>
            </a:r>
          </a:p>
          <a:p>
            <a:pPr marL="1028700" lvl="1" indent="-342900" algn="just"/>
            <a:r>
              <a:rPr lang="en-AU" sz="2000" b="0" dirty="0"/>
              <a:t>A lower </a:t>
            </a:r>
            <a:r>
              <a:rPr lang="en-AU" sz="2000" dirty="0"/>
              <a:t>c</a:t>
            </a:r>
            <a:r>
              <a:rPr lang="en-AU" sz="2000" b="0" dirty="0"/>
              <a:t>entre of mass</a:t>
            </a:r>
          </a:p>
          <a:p>
            <a:pPr marL="1028700" lvl="1" indent="-342900" algn="just"/>
            <a:r>
              <a:rPr lang="en-AU" sz="2000" dirty="0"/>
              <a:t>A w</a:t>
            </a:r>
            <a:r>
              <a:rPr lang="en-AU" sz="2000" b="0" dirty="0"/>
              <a:t>ider base</a:t>
            </a:r>
          </a:p>
          <a:p>
            <a:pPr algn="just"/>
            <a:r>
              <a:rPr lang="en-AU" sz="2400" b="0" dirty="0"/>
              <a:t>These objects need to tip far more to become unstable.</a:t>
            </a:r>
          </a:p>
          <a:p>
            <a:pPr marL="342900" indent="-342900" algn="just">
              <a:buFont typeface="Arial" panose="020B0604020202020204" pitchFamily="34" charset="0"/>
              <a:buChar char="•"/>
            </a:pPr>
            <a:endParaRPr lang="en-AU" sz="2400" b="0" dirty="0"/>
          </a:p>
        </p:txBody>
      </p:sp>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Stability</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3" name="Picture 4">
            <a:extLst>
              <a:ext uri="{FF2B5EF4-FFF2-40B4-BE49-F238E27FC236}">
                <a16:creationId xmlns:a16="http://schemas.microsoft.com/office/drawing/2014/main" id="{96DC6638-CEA6-713D-F12E-6618DB45F9A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85" r="2551" b="49199"/>
          <a:stretch/>
        </p:blipFill>
        <p:spPr bwMode="auto">
          <a:xfrm>
            <a:off x="37982" y="3899941"/>
            <a:ext cx="5878286" cy="253127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1713E41-1126-A6E4-CB86-62F1B3ED3C7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51" t="51406" r="1886" b="-2207"/>
          <a:stretch/>
        </p:blipFill>
        <p:spPr bwMode="auto">
          <a:xfrm>
            <a:off x="5958694" y="3682783"/>
            <a:ext cx="5878286" cy="25312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74881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57293" y="976454"/>
            <a:ext cx="11896725" cy="259098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If an object’s centre of mass extends past their base, the object will tip over.</a:t>
            </a:r>
          </a:p>
        </p:txBody>
      </p:sp>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Stability</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grpSp>
        <p:nvGrpSpPr>
          <p:cNvPr id="3" name="Group 2">
            <a:extLst>
              <a:ext uri="{FF2B5EF4-FFF2-40B4-BE49-F238E27FC236}">
                <a16:creationId xmlns:a16="http://schemas.microsoft.com/office/drawing/2014/main" id="{5BEF88CA-E664-C3BA-7682-2D2E267BF880}"/>
              </a:ext>
            </a:extLst>
          </p:cNvPr>
          <p:cNvGrpSpPr/>
          <p:nvPr/>
        </p:nvGrpSpPr>
        <p:grpSpPr>
          <a:xfrm>
            <a:off x="2677679" y="1642069"/>
            <a:ext cx="6836641" cy="4554035"/>
            <a:chOff x="590550" y="1450975"/>
            <a:chExt cx="7769225" cy="5175250"/>
          </a:xfrm>
        </p:grpSpPr>
        <p:sp>
          <p:nvSpPr>
            <p:cNvPr id="6" name="Rectangle 5">
              <a:extLst>
                <a:ext uri="{FF2B5EF4-FFF2-40B4-BE49-F238E27FC236}">
                  <a16:creationId xmlns:a16="http://schemas.microsoft.com/office/drawing/2014/main" id="{4AD0F8E5-432E-C0C6-FC67-E64E109BC572}"/>
                </a:ext>
              </a:extLst>
            </p:cNvPr>
            <p:cNvSpPr>
              <a:spLocks noChangeArrowheads="1"/>
            </p:cNvSpPr>
            <p:nvPr/>
          </p:nvSpPr>
          <p:spPr bwMode="auto">
            <a:xfrm rot="946219">
              <a:off x="1260475" y="1450975"/>
              <a:ext cx="1597025" cy="32813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7" name="Rectangle 6">
              <a:extLst>
                <a:ext uri="{FF2B5EF4-FFF2-40B4-BE49-F238E27FC236}">
                  <a16:creationId xmlns:a16="http://schemas.microsoft.com/office/drawing/2014/main" id="{89B7037A-F4F3-03BB-F36E-B2AFD9FAD6FC}"/>
                </a:ext>
              </a:extLst>
            </p:cNvPr>
            <p:cNvSpPr>
              <a:spLocks noChangeArrowheads="1"/>
            </p:cNvSpPr>
            <p:nvPr/>
          </p:nvSpPr>
          <p:spPr bwMode="auto">
            <a:xfrm rot="2457709">
              <a:off x="5683250" y="1457325"/>
              <a:ext cx="1597025" cy="32813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8" name="Line 7">
              <a:extLst>
                <a:ext uri="{FF2B5EF4-FFF2-40B4-BE49-F238E27FC236}">
                  <a16:creationId xmlns:a16="http://schemas.microsoft.com/office/drawing/2014/main" id="{F88715B7-513E-71DA-6864-0BC64CC66107}"/>
                </a:ext>
              </a:extLst>
            </p:cNvPr>
            <p:cNvSpPr>
              <a:spLocks noChangeShapeType="1"/>
            </p:cNvSpPr>
            <p:nvPr/>
          </p:nvSpPr>
          <p:spPr bwMode="auto">
            <a:xfrm>
              <a:off x="609600" y="4935538"/>
              <a:ext cx="7750175"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9" name="AutoShape 8">
              <a:extLst>
                <a:ext uri="{FF2B5EF4-FFF2-40B4-BE49-F238E27FC236}">
                  <a16:creationId xmlns:a16="http://schemas.microsoft.com/office/drawing/2014/main" id="{A705BC45-1D64-3600-E47C-C796ABC7CD0F}"/>
                </a:ext>
              </a:extLst>
            </p:cNvPr>
            <p:cNvSpPr>
              <a:spLocks noChangeArrowheads="1"/>
            </p:cNvSpPr>
            <p:nvPr/>
          </p:nvSpPr>
          <p:spPr bwMode="auto">
            <a:xfrm>
              <a:off x="1841500" y="2946400"/>
              <a:ext cx="392113" cy="739775"/>
            </a:xfrm>
            <a:prstGeom prst="downArrow">
              <a:avLst>
                <a:gd name="adj1" fmla="val 50000"/>
                <a:gd name="adj2" fmla="val 47166"/>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AU"/>
            </a:p>
          </p:txBody>
        </p:sp>
        <p:sp>
          <p:nvSpPr>
            <p:cNvPr id="10" name="Line 10">
              <a:extLst>
                <a:ext uri="{FF2B5EF4-FFF2-40B4-BE49-F238E27FC236}">
                  <a16:creationId xmlns:a16="http://schemas.microsoft.com/office/drawing/2014/main" id="{7B66E3F7-557D-8D4E-31DE-573829A6F4F8}"/>
                </a:ext>
              </a:extLst>
            </p:cNvPr>
            <p:cNvSpPr>
              <a:spLocks noChangeShapeType="1"/>
            </p:cNvSpPr>
            <p:nvPr/>
          </p:nvSpPr>
          <p:spPr bwMode="auto">
            <a:xfrm>
              <a:off x="2044700" y="1641475"/>
              <a:ext cx="0" cy="354171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11" name="Line 11">
              <a:extLst>
                <a:ext uri="{FF2B5EF4-FFF2-40B4-BE49-F238E27FC236}">
                  <a16:creationId xmlns:a16="http://schemas.microsoft.com/office/drawing/2014/main" id="{8BFF6BF4-2A01-8240-167E-B55B76EBAEAF}"/>
                </a:ext>
              </a:extLst>
            </p:cNvPr>
            <p:cNvSpPr>
              <a:spLocks noChangeShapeType="1"/>
            </p:cNvSpPr>
            <p:nvPr/>
          </p:nvSpPr>
          <p:spPr bwMode="auto">
            <a:xfrm>
              <a:off x="2355850" y="1649413"/>
              <a:ext cx="0" cy="354171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12" name="Freeform 13">
              <a:extLst>
                <a:ext uri="{FF2B5EF4-FFF2-40B4-BE49-F238E27FC236}">
                  <a16:creationId xmlns:a16="http://schemas.microsoft.com/office/drawing/2014/main" id="{7F3B71CA-E5CD-EAEB-C642-1F5C61686C90}"/>
                </a:ext>
              </a:extLst>
            </p:cNvPr>
            <p:cNvSpPr>
              <a:spLocks/>
            </p:cNvSpPr>
            <p:nvPr/>
          </p:nvSpPr>
          <p:spPr bwMode="auto">
            <a:xfrm rot="2075980">
              <a:off x="1358900" y="2322513"/>
              <a:ext cx="642938" cy="1292225"/>
            </a:xfrm>
            <a:custGeom>
              <a:avLst/>
              <a:gdLst>
                <a:gd name="T0" fmla="*/ 405 w 405"/>
                <a:gd name="T1" fmla="*/ 0 h 814"/>
                <a:gd name="T2" fmla="*/ 58 w 405"/>
                <a:gd name="T3" fmla="*/ 210 h 814"/>
                <a:gd name="T4" fmla="*/ 58 w 405"/>
                <a:gd name="T5" fmla="*/ 558 h 814"/>
                <a:gd name="T6" fmla="*/ 232 w 405"/>
                <a:gd name="T7" fmla="*/ 814 h 814"/>
              </a:gdLst>
              <a:ahLst/>
              <a:cxnLst>
                <a:cxn ang="0">
                  <a:pos x="T0" y="T1"/>
                </a:cxn>
                <a:cxn ang="0">
                  <a:pos x="T2" y="T3"/>
                </a:cxn>
                <a:cxn ang="0">
                  <a:pos x="T4" y="T5"/>
                </a:cxn>
                <a:cxn ang="0">
                  <a:pos x="T6" y="T7"/>
                </a:cxn>
              </a:cxnLst>
              <a:rect l="0" t="0" r="r" b="b"/>
              <a:pathLst>
                <a:path w="405" h="814">
                  <a:moveTo>
                    <a:pt x="405" y="0"/>
                  </a:moveTo>
                  <a:cubicBezTo>
                    <a:pt x="260" y="58"/>
                    <a:pt x="116" y="117"/>
                    <a:pt x="58" y="210"/>
                  </a:cubicBezTo>
                  <a:cubicBezTo>
                    <a:pt x="0" y="303"/>
                    <a:pt x="29" y="457"/>
                    <a:pt x="58" y="558"/>
                  </a:cubicBezTo>
                  <a:cubicBezTo>
                    <a:pt x="87" y="659"/>
                    <a:pt x="159" y="736"/>
                    <a:pt x="232" y="814"/>
                  </a:cubicBezTo>
                </a:path>
              </a:pathLst>
            </a:custGeom>
            <a:noFill/>
            <a:ln w="38100" cmpd="sng">
              <a:solidFill>
                <a:schemeClr val="accent2"/>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13" name="AutoShape 14">
              <a:extLst>
                <a:ext uri="{FF2B5EF4-FFF2-40B4-BE49-F238E27FC236}">
                  <a16:creationId xmlns:a16="http://schemas.microsoft.com/office/drawing/2014/main" id="{39C74275-9505-9672-C254-73CF5FC3B43F}"/>
                </a:ext>
              </a:extLst>
            </p:cNvPr>
            <p:cNvSpPr>
              <a:spLocks noChangeArrowheads="1"/>
            </p:cNvSpPr>
            <p:nvPr/>
          </p:nvSpPr>
          <p:spPr bwMode="auto">
            <a:xfrm>
              <a:off x="6348413" y="2924175"/>
              <a:ext cx="392112" cy="739775"/>
            </a:xfrm>
            <a:prstGeom prst="downArrow">
              <a:avLst>
                <a:gd name="adj1" fmla="val 50000"/>
                <a:gd name="adj2" fmla="val 47166"/>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AU"/>
            </a:p>
          </p:txBody>
        </p:sp>
        <p:sp>
          <p:nvSpPr>
            <p:cNvPr id="14" name="Line 15">
              <a:extLst>
                <a:ext uri="{FF2B5EF4-FFF2-40B4-BE49-F238E27FC236}">
                  <a16:creationId xmlns:a16="http://schemas.microsoft.com/office/drawing/2014/main" id="{B3514C5D-F48E-4E31-3DAB-C389963C3CC9}"/>
                </a:ext>
              </a:extLst>
            </p:cNvPr>
            <p:cNvSpPr>
              <a:spLocks noChangeShapeType="1"/>
            </p:cNvSpPr>
            <p:nvPr/>
          </p:nvSpPr>
          <p:spPr bwMode="auto">
            <a:xfrm>
              <a:off x="6545263" y="1698625"/>
              <a:ext cx="0" cy="354171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15" name="Line 16">
              <a:extLst>
                <a:ext uri="{FF2B5EF4-FFF2-40B4-BE49-F238E27FC236}">
                  <a16:creationId xmlns:a16="http://schemas.microsoft.com/office/drawing/2014/main" id="{034F02DF-E8A3-98C1-A6A2-4A99D6687D75}"/>
                </a:ext>
              </a:extLst>
            </p:cNvPr>
            <p:cNvSpPr>
              <a:spLocks noChangeShapeType="1"/>
            </p:cNvSpPr>
            <p:nvPr/>
          </p:nvSpPr>
          <p:spPr bwMode="auto">
            <a:xfrm>
              <a:off x="6027738" y="1806575"/>
              <a:ext cx="0" cy="354171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16" name="Freeform 17">
              <a:extLst>
                <a:ext uri="{FF2B5EF4-FFF2-40B4-BE49-F238E27FC236}">
                  <a16:creationId xmlns:a16="http://schemas.microsoft.com/office/drawing/2014/main" id="{4F48BA89-FA84-410E-0939-7AEADED19558}"/>
                </a:ext>
              </a:extLst>
            </p:cNvPr>
            <p:cNvSpPr>
              <a:spLocks/>
            </p:cNvSpPr>
            <p:nvPr/>
          </p:nvSpPr>
          <p:spPr bwMode="auto">
            <a:xfrm rot="19262026" flipH="1">
              <a:off x="6396038" y="2282825"/>
              <a:ext cx="628650" cy="1292225"/>
            </a:xfrm>
            <a:custGeom>
              <a:avLst/>
              <a:gdLst>
                <a:gd name="T0" fmla="*/ 405 w 405"/>
                <a:gd name="T1" fmla="*/ 0 h 814"/>
                <a:gd name="T2" fmla="*/ 58 w 405"/>
                <a:gd name="T3" fmla="*/ 210 h 814"/>
                <a:gd name="T4" fmla="*/ 58 w 405"/>
                <a:gd name="T5" fmla="*/ 558 h 814"/>
                <a:gd name="T6" fmla="*/ 232 w 405"/>
                <a:gd name="T7" fmla="*/ 814 h 814"/>
              </a:gdLst>
              <a:ahLst/>
              <a:cxnLst>
                <a:cxn ang="0">
                  <a:pos x="T0" y="T1"/>
                </a:cxn>
                <a:cxn ang="0">
                  <a:pos x="T2" y="T3"/>
                </a:cxn>
                <a:cxn ang="0">
                  <a:pos x="T4" y="T5"/>
                </a:cxn>
                <a:cxn ang="0">
                  <a:pos x="T6" y="T7"/>
                </a:cxn>
              </a:cxnLst>
              <a:rect l="0" t="0" r="r" b="b"/>
              <a:pathLst>
                <a:path w="405" h="814">
                  <a:moveTo>
                    <a:pt x="405" y="0"/>
                  </a:moveTo>
                  <a:cubicBezTo>
                    <a:pt x="260" y="58"/>
                    <a:pt x="116" y="117"/>
                    <a:pt x="58" y="210"/>
                  </a:cubicBezTo>
                  <a:cubicBezTo>
                    <a:pt x="0" y="303"/>
                    <a:pt x="29" y="457"/>
                    <a:pt x="58" y="558"/>
                  </a:cubicBezTo>
                  <a:cubicBezTo>
                    <a:pt x="87" y="659"/>
                    <a:pt x="159" y="736"/>
                    <a:pt x="232" y="814"/>
                  </a:cubicBezTo>
                </a:path>
              </a:pathLst>
            </a:custGeom>
            <a:noFill/>
            <a:ln w="38100" cmpd="sng">
              <a:solidFill>
                <a:schemeClr val="accent2"/>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17" name="Text Box 18">
              <a:extLst>
                <a:ext uri="{FF2B5EF4-FFF2-40B4-BE49-F238E27FC236}">
                  <a16:creationId xmlns:a16="http://schemas.microsoft.com/office/drawing/2014/main" id="{F36402B3-EC1D-4CA9-EF5A-D0FC960F4A34}"/>
                </a:ext>
              </a:extLst>
            </p:cNvPr>
            <p:cNvSpPr txBox="1">
              <a:spLocks noChangeArrowheads="1"/>
            </p:cNvSpPr>
            <p:nvPr/>
          </p:nvSpPr>
          <p:spPr bwMode="auto">
            <a:xfrm>
              <a:off x="1200150" y="5138738"/>
              <a:ext cx="11350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dirty="0"/>
                <a:t>stable</a:t>
              </a:r>
            </a:p>
          </p:txBody>
        </p:sp>
        <p:sp>
          <p:nvSpPr>
            <p:cNvPr id="18" name="Text Box 19">
              <a:extLst>
                <a:ext uri="{FF2B5EF4-FFF2-40B4-BE49-F238E27FC236}">
                  <a16:creationId xmlns:a16="http://schemas.microsoft.com/office/drawing/2014/main" id="{E5E7DBE2-2EDA-BFFA-5646-B843AAB000D3}"/>
                </a:ext>
              </a:extLst>
            </p:cNvPr>
            <p:cNvSpPr txBox="1">
              <a:spLocks noChangeArrowheads="1"/>
            </p:cNvSpPr>
            <p:nvPr/>
          </p:nvSpPr>
          <p:spPr bwMode="auto">
            <a:xfrm>
              <a:off x="5751513" y="5162550"/>
              <a:ext cx="15319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a:t>unstable</a:t>
              </a:r>
            </a:p>
          </p:txBody>
        </p:sp>
        <p:sp>
          <p:nvSpPr>
            <p:cNvPr id="19" name="Text Box 20">
              <a:extLst>
                <a:ext uri="{FF2B5EF4-FFF2-40B4-BE49-F238E27FC236}">
                  <a16:creationId xmlns:a16="http://schemas.microsoft.com/office/drawing/2014/main" id="{FB44CBDA-15C9-2458-8EF2-E20306AE8F04}"/>
                </a:ext>
              </a:extLst>
            </p:cNvPr>
            <p:cNvSpPr txBox="1">
              <a:spLocks noChangeArrowheads="1"/>
            </p:cNvSpPr>
            <p:nvPr/>
          </p:nvSpPr>
          <p:spPr bwMode="auto">
            <a:xfrm>
              <a:off x="590550" y="5767388"/>
              <a:ext cx="296386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t>torque due to gravity</a:t>
              </a:r>
            </a:p>
            <a:p>
              <a:r>
                <a:rPr lang="en-US" altLang="en-US" sz="2400"/>
                <a:t>pulls object back</a:t>
              </a:r>
            </a:p>
          </p:txBody>
        </p:sp>
        <p:sp>
          <p:nvSpPr>
            <p:cNvPr id="20" name="Text Box 21">
              <a:extLst>
                <a:ext uri="{FF2B5EF4-FFF2-40B4-BE49-F238E27FC236}">
                  <a16:creationId xmlns:a16="http://schemas.microsoft.com/office/drawing/2014/main" id="{B749F4F0-374F-631B-86CE-4F5097ADB7BE}"/>
                </a:ext>
              </a:extLst>
            </p:cNvPr>
            <p:cNvSpPr txBox="1">
              <a:spLocks noChangeArrowheads="1"/>
            </p:cNvSpPr>
            <p:nvPr/>
          </p:nvSpPr>
          <p:spPr bwMode="auto">
            <a:xfrm>
              <a:off x="5038725" y="5803900"/>
              <a:ext cx="296386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t>torque due to gravity</a:t>
              </a:r>
            </a:p>
            <a:p>
              <a:r>
                <a:rPr lang="en-US" altLang="en-US" sz="2400"/>
                <a:t>pulls object down</a:t>
              </a:r>
            </a:p>
          </p:txBody>
        </p:sp>
        <p:sp>
          <p:nvSpPr>
            <p:cNvPr id="21" name="Text Box 18">
              <a:extLst>
                <a:ext uri="{FF2B5EF4-FFF2-40B4-BE49-F238E27FC236}">
                  <a16:creationId xmlns:a16="http://schemas.microsoft.com/office/drawing/2014/main" id="{11EEDF46-E4BD-3048-69FC-61C6E00608B9}"/>
                </a:ext>
              </a:extLst>
            </p:cNvPr>
            <p:cNvSpPr txBox="1">
              <a:spLocks noChangeArrowheads="1"/>
            </p:cNvSpPr>
            <p:nvPr/>
          </p:nvSpPr>
          <p:spPr bwMode="auto">
            <a:xfrm>
              <a:off x="1487520" y="2656688"/>
              <a:ext cx="967670" cy="454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dirty="0"/>
                <a:t>COM</a:t>
              </a:r>
            </a:p>
          </p:txBody>
        </p:sp>
        <p:sp>
          <p:nvSpPr>
            <p:cNvPr id="22" name="Text Box 18">
              <a:extLst>
                <a:ext uri="{FF2B5EF4-FFF2-40B4-BE49-F238E27FC236}">
                  <a16:creationId xmlns:a16="http://schemas.microsoft.com/office/drawing/2014/main" id="{6B489E98-01C2-3372-A23A-6011EAA18C45}"/>
                </a:ext>
              </a:extLst>
            </p:cNvPr>
            <p:cNvSpPr txBox="1">
              <a:spLocks noChangeArrowheads="1"/>
            </p:cNvSpPr>
            <p:nvPr/>
          </p:nvSpPr>
          <p:spPr bwMode="auto">
            <a:xfrm>
              <a:off x="6077035" y="2741281"/>
              <a:ext cx="967670" cy="454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dirty="0"/>
                <a:t>COM</a:t>
              </a:r>
            </a:p>
          </p:txBody>
        </p:sp>
        <p:sp>
          <p:nvSpPr>
            <p:cNvPr id="23" name="Text Box 18">
              <a:extLst>
                <a:ext uri="{FF2B5EF4-FFF2-40B4-BE49-F238E27FC236}">
                  <a16:creationId xmlns:a16="http://schemas.microsoft.com/office/drawing/2014/main" id="{019B1ADC-6D70-E743-B2B0-DF6AC060B655}"/>
                </a:ext>
              </a:extLst>
            </p:cNvPr>
            <p:cNvSpPr txBox="1">
              <a:spLocks noChangeArrowheads="1"/>
            </p:cNvSpPr>
            <p:nvPr/>
          </p:nvSpPr>
          <p:spPr bwMode="auto">
            <a:xfrm>
              <a:off x="1952667" y="4502738"/>
              <a:ext cx="909377" cy="454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dirty="0"/>
                <a:t>pivot</a:t>
              </a:r>
            </a:p>
          </p:txBody>
        </p:sp>
        <p:sp>
          <p:nvSpPr>
            <p:cNvPr id="24" name="Text Box 18">
              <a:extLst>
                <a:ext uri="{FF2B5EF4-FFF2-40B4-BE49-F238E27FC236}">
                  <a16:creationId xmlns:a16="http://schemas.microsoft.com/office/drawing/2014/main" id="{19F758B8-1075-4446-E47F-765D21D5DD09}"/>
                </a:ext>
              </a:extLst>
            </p:cNvPr>
            <p:cNvSpPr txBox="1">
              <a:spLocks noChangeArrowheads="1"/>
            </p:cNvSpPr>
            <p:nvPr/>
          </p:nvSpPr>
          <p:spPr bwMode="auto">
            <a:xfrm>
              <a:off x="5537461" y="4497329"/>
              <a:ext cx="909377" cy="454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dirty="0"/>
                <a:t>pivot</a:t>
              </a:r>
            </a:p>
          </p:txBody>
        </p:sp>
      </p:grpSp>
    </p:spTree>
    <p:extLst>
      <p:ext uri="{BB962C8B-B14F-4D97-AF65-F5344CB8AC3E}">
        <p14:creationId xmlns:p14="http://schemas.microsoft.com/office/powerpoint/2010/main" val="235193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57293" y="976454"/>
            <a:ext cx="11896725" cy="259098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You need to drive a bus on a road with a high angle slope. How can you reduce the risk of toppling? Explain your reasoning.</a:t>
            </a:r>
          </a:p>
        </p:txBody>
      </p:sp>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Stability</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You Do</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37" name="Right Triangle 36">
            <a:extLst>
              <a:ext uri="{FF2B5EF4-FFF2-40B4-BE49-F238E27FC236}">
                <a16:creationId xmlns:a16="http://schemas.microsoft.com/office/drawing/2014/main" id="{06C38A48-2C7A-6032-9CBB-C85640FD239B}"/>
              </a:ext>
            </a:extLst>
          </p:cNvPr>
          <p:cNvSpPr/>
          <p:nvPr/>
        </p:nvSpPr>
        <p:spPr>
          <a:xfrm rot="16200000">
            <a:off x="1149211" y="2643520"/>
            <a:ext cx="2036003" cy="3158310"/>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38" name="Picture 37">
            <a:extLst>
              <a:ext uri="{FF2B5EF4-FFF2-40B4-BE49-F238E27FC236}">
                <a16:creationId xmlns:a16="http://schemas.microsoft.com/office/drawing/2014/main" id="{DB1A3D2C-AA84-591D-36C4-C144D6F2E9C0}"/>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778" b="91111" l="9778" r="90667">
                        <a14:foregroundMark x1="43111" y1="40889" x2="57778" y2="40889"/>
                        <a14:foregroundMark x1="60444" y1="10667" x2="40444" y2="11556"/>
                        <a14:foregroundMark x1="40444" y1="38222" x2="64889" y2="52444"/>
                        <a14:foregroundMark x1="10667" y1="47556" x2="11111" y2="50222"/>
                        <a14:foregroundMark x1="89778" y1="46667" x2="91111" y2="50222"/>
                        <a14:foregroundMark x1="42667" y1="44889" x2="52444" y2="50222"/>
                        <a14:foregroundMark x1="26222" y1="88444" x2="26667" y2="80000"/>
                        <a14:foregroundMark x1="77778" y1="91111" x2="77333" y2="77778"/>
                      </a14:backgroundRemoval>
                    </a14:imgEffect>
                  </a14:imgLayer>
                </a14:imgProps>
              </a:ext>
            </a:extLst>
          </a:blip>
          <a:stretch>
            <a:fillRect/>
          </a:stretch>
        </p:blipFill>
        <p:spPr>
          <a:xfrm rot="19634972">
            <a:off x="704630" y="2302602"/>
            <a:ext cx="2143125" cy="2143125"/>
          </a:xfrm>
          <a:prstGeom prst="rect">
            <a:avLst/>
          </a:prstGeom>
        </p:spPr>
      </p:pic>
    </p:spTree>
    <p:extLst>
      <p:ext uri="{BB962C8B-B14F-4D97-AF65-F5344CB8AC3E}">
        <p14:creationId xmlns:p14="http://schemas.microsoft.com/office/powerpoint/2010/main" val="33476520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57293" y="976454"/>
            <a:ext cx="11896725" cy="259098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Compare the stability of the two shapes below. Both are the same mass and are uniform.</a:t>
            </a:r>
          </a:p>
        </p:txBody>
      </p:sp>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Stability</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You Do</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3" name="Isosceles Triangle 2">
            <a:extLst>
              <a:ext uri="{FF2B5EF4-FFF2-40B4-BE49-F238E27FC236}">
                <a16:creationId xmlns:a16="http://schemas.microsoft.com/office/drawing/2014/main" id="{6C27A15F-ACDC-47FC-1743-C0304B89467D}"/>
              </a:ext>
            </a:extLst>
          </p:cNvPr>
          <p:cNvSpPr/>
          <p:nvPr/>
        </p:nvSpPr>
        <p:spPr>
          <a:xfrm>
            <a:off x="1181100" y="2266950"/>
            <a:ext cx="1771650" cy="2514600"/>
          </a:xfrm>
          <a:prstGeom prs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AU"/>
          </a:p>
        </p:txBody>
      </p:sp>
      <p:sp>
        <p:nvSpPr>
          <p:cNvPr id="5" name="Rectangle 4">
            <a:extLst>
              <a:ext uri="{FF2B5EF4-FFF2-40B4-BE49-F238E27FC236}">
                <a16:creationId xmlns:a16="http://schemas.microsoft.com/office/drawing/2014/main" id="{6985ED90-79A2-7083-F88B-115D0DE6C286}"/>
              </a:ext>
            </a:extLst>
          </p:cNvPr>
          <p:cNvSpPr/>
          <p:nvPr/>
        </p:nvSpPr>
        <p:spPr>
          <a:xfrm>
            <a:off x="3800475" y="2266950"/>
            <a:ext cx="1247775" cy="2514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1918731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Centre of Mass and Stability</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1600" b="0" dirty="0">
                <a:solidFill>
                  <a:srgbClr val="000303"/>
                </a:solidFill>
                <a:latin typeface="+mj-lt"/>
              </a:rPr>
              <a:t>I can </a:t>
            </a:r>
            <a:r>
              <a:rPr lang="en-AU" sz="1600" b="0" dirty="0">
                <a:solidFill>
                  <a:srgbClr val="000303"/>
                </a:solidFill>
                <a:latin typeface="+mj-lt"/>
              </a:rPr>
              <a:t>define centre of mass and centre of gravity.</a:t>
            </a:r>
          </a:p>
          <a:p>
            <a:pPr algn="l"/>
            <a:r>
              <a:rPr lang="en-AU" sz="1600" b="0" i="0" dirty="0">
                <a:solidFill>
                  <a:srgbClr val="000303"/>
                </a:solidFill>
                <a:effectLst/>
                <a:latin typeface="+mj-lt"/>
              </a:rPr>
              <a:t>I can relate centre of mass to stability.</a:t>
            </a:r>
            <a:endParaRPr lang="en-US" sz="1600" b="0" i="0" dirty="0">
              <a:solidFill>
                <a:srgbClr val="000303"/>
              </a:solidFill>
              <a:effectLst/>
              <a:latin typeface="+mj-lt"/>
            </a:endParaRPr>
          </a:p>
        </p:txBody>
      </p:sp>
    </p:spTree>
    <p:extLst>
      <p:ext uri="{BB962C8B-B14F-4D97-AF65-F5344CB8AC3E}">
        <p14:creationId xmlns:p14="http://schemas.microsoft.com/office/powerpoint/2010/main" val="4185233415"/>
      </p:ext>
    </p:extLst>
  </p:cSld>
  <p:clrMapOvr>
    <a:masterClrMapping/>
  </p:clrMapOvr>
</p:sld>
</file>

<file path=ppt/theme/theme1.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Explicit Instruction_Dar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Theme2" id="{15861BA0-56D5-1E4E-B56A-268D38A279BF}" vid="{9D14DC9A-E19D-5949-B871-56F3C64BEB6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5c732d2-f217-444a-91d8-37c5714ca695" xsi:nil="true"/>
    <lcf76f155ced4ddcb4097134ff3c332f xmlns="8f659357-f805-491c-ad0b-5621b2de6466">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8157990E5B9394AB60DC397E95032F9" ma:contentTypeVersion="16" ma:contentTypeDescription="Create a new document." ma:contentTypeScope="" ma:versionID="02697e3214b2f55142a2e7b89ba6de54">
  <xsd:schema xmlns:xsd="http://www.w3.org/2001/XMLSchema" xmlns:xs="http://www.w3.org/2001/XMLSchema" xmlns:p="http://schemas.microsoft.com/office/2006/metadata/properties" xmlns:ns2="8f659357-f805-491c-ad0b-5621b2de6466" xmlns:ns3="d5c732d2-f217-444a-91d8-37c5714ca695" targetNamespace="http://schemas.microsoft.com/office/2006/metadata/properties" ma:root="true" ma:fieldsID="67be6965022b95aa9d7585358a9bb7fc" ns2:_="" ns3:_="">
    <xsd:import namespace="8f659357-f805-491c-ad0b-5621b2de6466"/>
    <xsd:import namespace="d5c732d2-f217-444a-91d8-37c5714ca69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659357-f805-491c-ad0b-5621b2de64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a606fe5-00d0-49e1-aa33-d9ffd020910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c732d2-f217-444a-91d8-37c5714ca69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787221a7-1fed-4694-a1ec-bb608177e353}" ma:internalName="TaxCatchAll" ma:showField="CatchAllData" ma:web="d5c732d2-f217-444a-91d8-37c5714ca6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D5BC30B-A8FB-4389-B40F-C069B6D2FAB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1CB91737-E29D-4514-A1E5-5D88C8E43C47}"/>
</file>

<file path=customXml/itemProps3.xml><?xml version="1.0" encoding="utf-8"?>
<ds:datastoreItem xmlns:ds="http://schemas.openxmlformats.org/officeDocument/2006/customXml" ds:itemID="{77F09D33-A1B5-4438-8F96-65DD7176249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{33057687-8793-EB47-A5E0-08E93C53D0F2}tf10001071</Template>
  <TotalTime>6417</TotalTime>
  <Words>1114</Words>
  <Application>Microsoft Office PowerPoint</Application>
  <PresentationFormat>Widescreen</PresentationFormat>
  <Paragraphs>218</Paragraphs>
  <Slides>24</Slides>
  <Notes>20</Notes>
  <HiddenSlides>2</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24</vt:i4>
      </vt:variant>
    </vt:vector>
  </HeadingPairs>
  <TitlesOfParts>
    <vt:vector size="31" baseType="lpstr">
      <vt:lpstr>Arial</vt:lpstr>
      <vt:lpstr>Calibri</vt:lpstr>
      <vt:lpstr>Cambria Math</vt:lpstr>
      <vt:lpstr>Century Gothic</vt:lpstr>
      <vt:lpstr>Futura Medium</vt:lpstr>
      <vt:lpstr>Daily Review</vt:lpstr>
      <vt:lpstr>1_Explicit Instruction_Dark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BAKER Mark [Southern River College]</cp:lastModifiedBy>
  <cp:revision>428</cp:revision>
  <cp:lastPrinted>2018-05-27T06:54:10Z</cp:lastPrinted>
  <dcterms:created xsi:type="dcterms:W3CDTF">2018-03-29T05:56:09Z</dcterms:created>
  <dcterms:modified xsi:type="dcterms:W3CDTF">2023-03-24T02:43:55Z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0x010100C8157990E5B9394AB60DC397E95032F9</vt:lpwstr>
  </property>
</Properties>
</file>