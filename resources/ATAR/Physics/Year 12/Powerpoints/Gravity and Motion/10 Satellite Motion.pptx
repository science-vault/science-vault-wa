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32" r:id="rId4"/>
    <p:sldMasterId id="2147484274" r:id="rId5"/>
  </p:sldMasterIdLst>
  <p:notesMasterIdLst>
    <p:notesMasterId r:id="rId22"/>
  </p:notesMasterIdLst>
  <p:handoutMasterIdLst>
    <p:handoutMasterId r:id="rId23"/>
  </p:handoutMasterIdLst>
  <p:sldIdLst>
    <p:sldId id="577" r:id="rId6"/>
    <p:sldId id="528" r:id="rId7"/>
    <p:sldId id="579" r:id="rId8"/>
    <p:sldId id="578" r:id="rId9"/>
    <p:sldId id="580" r:id="rId10"/>
    <p:sldId id="581" r:id="rId11"/>
    <p:sldId id="582" r:id="rId12"/>
    <p:sldId id="583" r:id="rId13"/>
    <p:sldId id="591" r:id="rId14"/>
    <p:sldId id="584" r:id="rId15"/>
    <p:sldId id="585" r:id="rId16"/>
    <p:sldId id="586" r:id="rId17"/>
    <p:sldId id="587" r:id="rId18"/>
    <p:sldId id="590" r:id="rId19"/>
    <p:sldId id="588" r:id="rId20"/>
    <p:sldId id="58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Buss" initials="MB"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966"/>
    <a:srgbClr val="FF0000"/>
    <a:srgbClr val="159B4B"/>
    <a:srgbClr val="0070C0"/>
    <a:srgbClr val="C55A11"/>
    <a:srgbClr val="6E407C"/>
    <a:srgbClr val="FBCA58"/>
    <a:srgbClr val="2E546D"/>
    <a:srgbClr val="DEEBF7"/>
    <a:srgbClr val="692B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857" autoAdjust="0"/>
    <p:restoredTop sz="74700" autoAdjust="0"/>
  </p:normalViewPr>
  <p:slideViewPr>
    <p:cSldViewPr snapToGrid="0" snapToObjects="1">
      <p:cViewPr varScale="1">
        <p:scale>
          <a:sx n="84" d="100"/>
          <a:sy n="84" d="100"/>
        </p:scale>
        <p:origin x="1134" y="78"/>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77" d="100"/>
          <a:sy n="77" d="100"/>
        </p:scale>
        <p:origin x="2592"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8E4B7C-96ED-E449-9693-B655C4671FD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28D809C4-E54C-A54E-B9F4-56C375E0D8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53AD932-3578-6E4B-810C-4CF7533A983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DA9B4CA-DA29-0849-8519-4B81F4CE08AD}" type="slidenum">
              <a:rPr lang="en-US" smtClean="0"/>
              <a:t>‹#›</a:t>
            </a:fld>
            <a:endParaRPr lang="en-US"/>
          </a:p>
        </p:txBody>
      </p:sp>
      <p:sp>
        <p:nvSpPr>
          <p:cNvPr id="6" name="Date Placeholder 5">
            <a:extLst>
              <a:ext uri="{FF2B5EF4-FFF2-40B4-BE49-F238E27FC236}">
                <a16:creationId xmlns:a16="http://schemas.microsoft.com/office/drawing/2014/main" id="{27115A18-6E6E-F748-9363-1DB667F2522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A89F1C8-9A67-204B-8DB6-6C2E5B2C92D6}" type="datetimeFigureOut">
              <a:rPr lang="en-US" smtClean="0"/>
              <a:t>3/22/2023</a:t>
            </a:fld>
            <a:endParaRPr lang="en-US"/>
          </a:p>
        </p:txBody>
      </p:sp>
    </p:spTree>
    <p:extLst>
      <p:ext uri="{BB962C8B-B14F-4D97-AF65-F5344CB8AC3E}">
        <p14:creationId xmlns:p14="http://schemas.microsoft.com/office/powerpoint/2010/main" val="16315313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AAB6C6-360D-448E-B12B-FCD285160A81}" type="datetimeFigureOut">
              <a:rPr lang="en-AU" smtClean="0"/>
              <a:t>22/03/2023</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B756B8-97A8-4FA1-B26A-2500BA5D4D05}" type="slidenum">
              <a:rPr lang="en-AU" smtClean="0"/>
              <a:t>‹#›</a:t>
            </a:fld>
            <a:endParaRPr lang="en-AU"/>
          </a:p>
        </p:txBody>
      </p:sp>
    </p:spTree>
    <p:extLst>
      <p:ext uri="{BB962C8B-B14F-4D97-AF65-F5344CB8AC3E}">
        <p14:creationId xmlns:p14="http://schemas.microsoft.com/office/powerpoint/2010/main" val="1866448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err="1"/>
              <a:t>Fnet</a:t>
            </a:r>
            <a:r>
              <a:rPr lang="en-AU" b="0" dirty="0"/>
              <a:t> = mg = mv^2/r</a:t>
            </a:r>
          </a:p>
          <a:p>
            <a:r>
              <a:rPr lang="en-AU" b="0" dirty="0"/>
              <a:t>v = sqrt(g*r) = sqrt ( 9.8 * 6.37*10^6) = 7901 m/s = 7.9 km/s = 28,462 km/h</a:t>
            </a:r>
          </a:p>
          <a:p>
            <a:endParaRPr lang="en-AU" b="0" dirty="0"/>
          </a:p>
          <a:p>
            <a:endParaRPr lang="en-AU" b="0" dirty="0"/>
          </a:p>
          <a:p>
            <a:r>
              <a:rPr lang="en-AU" b="0" dirty="0"/>
              <a:t>https://en.wikipedia.org/wiki/Newton%27s_cannonball</a:t>
            </a:r>
          </a:p>
          <a:p>
            <a:endParaRPr lang="en-AU" b="0" dirty="0"/>
          </a:p>
          <a:p>
            <a:r>
              <a:rPr lang="en-AU" b="0" dirty="0"/>
              <a:t>https://spatrick.mit.edu/newtons-cannon</a:t>
            </a:r>
          </a:p>
          <a:p>
            <a:endParaRPr lang="en-AU" b="0" dirty="0"/>
          </a:p>
          <a:p>
            <a:r>
              <a:rPr lang="en-AU" b="0" dirty="0"/>
              <a:t>https://physics.weber.edu/schroeder/software/NewtonsCannon.html</a:t>
            </a:r>
          </a:p>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a:t>
            </a:fld>
            <a:endParaRPr lang="en-AU"/>
          </a:p>
        </p:txBody>
      </p:sp>
    </p:spTree>
    <p:extLst>
      <p:ext uri="{BB962C8B-B14F-4D97-AF65-F5344CB8AC3E}">
        <p14:creationId xmlns:p14="http://schemas.microsoft.com/office/powerpoint/2010/main" val="7993577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err="1"/>
              <a:t>Fnet</a:t>
            </a:r>
            <a:r>
              <a:rPr lang="en-AU" b="0" dirty="0"/>
              <a:t> = mg = mv^2/r</a:t>
            </a:r>
          </a:p>
          <a:p>
            <a:r>
              <a:rPr lang="en-AU" b="0" dirty="0"/>
              <a:t>v = sqrt(g*r) = sqrt ( 9.8 * 6.37*10^6) = 7901 m/s = 7.9 km/s = 28,462 km/h</a:t>
            </a:r>
          </a:p>
          <a:p>
            <a:endParaRPr lang="en-AU" b="0" dirty="0"/>
          </a:p>
          <a:p>
            <a:endParaRPr lang="en-AU" b="0" dirty="0"/>
          </a:p>
          <a:p>
            <a:r>
              <a:rPr lang="en-AU" b="0" dirty="0"/>
              <a:t>https://en.wikipedia.org/wiki/Newton%27s_cannonball</a:t>
            </a:r>
          </a:p>
          <a:p>
            <a:endParaRPr lang="en-AU" b="0" dirty="0"/>
          </a:p>
          <a:p>
            <a:r>
              <a:rPr lang="en-AU" b="0" dirty="0"/>
              <a:t>https://spatrick.mit.edu/newtons-cannon</a:t>
            </a:r>
          </a:p>
          <a:p>
            <a:endParaRPr lang="en-AU" b="0" dirty="0"/>
          </a:p>
          <a:p>
            <a:r>
              <a:rPr lang="en-AU" b="0" dirty="0"/>
              <a:t>https://physics.weber.edu/schroeder/software/NewtonsCannon.html</a:t>
            </a:r>
          </a:p>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3</a:t>
            </a:fld>
            <a:endParaRPr lang="en-AU"/>
          </a:p>
        </p:txBody>
      </p:sp>
    </p:spTree>
    <p:extLst>
      <p:ext uri="{BB962C8B-B14F-4D97-AF65-F5344CB8AC3E}">
        <p14:creationId xmlns:p14="http://schemas.microsoft.com/office/powerpoint/2010/main" val="41391809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err="1"/>
              <a:t>Fnet</a:t>
            </a:r>
            <a:r>
              <a:rPr lang="en-AU" b="0" dirty="0"/>
              <a:t> = mg = mv^2/r</a:t>
            </a:r>
          </a:p>
          <a:p>
            <a:r>
              <a:rPr lang="en-AU" b="0" dirty="0"/>
              <a:t>v = sqrt(g*r) = sqrt ( 9.8 * 6.37*10^6) = 7901 m/s = 7.9 km/s = 28,462 km/h</a:t>
            </a:r>
          </a:p>
          <a:p>
            <a:endParaRPr lang="en-AU" b="0" dirty="0"/>
          </a:p>
          <a:p>
            <a:endParaRPr lang="en-AU" b="0" dirty="0"/>
          </a:p>
          <a:p>
            <a:r>
              <a:rPr lang="en-AU" b="0" dirty="0"/>
              <a:t>https://en.wikipedia.org/wiki/Newton%27s_cannonball</a:t>
            </a:r>
          </a:p>
          <a:p>
            <a:endParaRPr lang="en-AU" b="0" dirty="0"/>
          </a:p>
          <a:p>
            <a:r>
              <a:rPr lang="en-AU" b="0" dirty="0"/>
              <a:t>https://spatrick.mit.edu/newtons-cannon</a:t>
            </a:r>
          </a:p>
          <a:p>
            <a:endParaRPr lang="en-AU" b="0" dirty="0"/>
          </a:p>
          <a:p>
            <a:r>
              <a:rPr lang="en-AU" b="0" dirty="0"/>
              <a:t>https://physics.weber.edu/schroeder/software/NewtonsCannon.html</a:t>
            </a:r>
          </a:p>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4</a:t>
            </a:fld>
            <a:endParaRPr lang="en-AU"/>
          </a:p>
        </p:txBody>
      </p:sp>
    </p:spTree>
    <p:extLst>
      <p:ext uri="{BB962C8B-B14F-4D97-AF65-F5344CB8AC3E}">
        <p14:creationId xmlns:p14="http://schemas.microsoft.com/office/powerpoint/2010/main" val="22439180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Only force acting on the satellite is its weight force. This weight force is its centripetal force.</a:t>
            </a:r>
          </a:p>
          <a:p>
            <a:r>
              <a:rPr lang="en-AU" b="0" dirty="0"/>
              <a:t>Note that this force isn’t ‘g’, as the satellite isn’t on the surface of the Earth and the effect of Earth’s gravitational field is weaker. You need to calculate </a:t>
            </a:r>
            <a:r>
              <a:rPr lang="en-AU" b="0" dirty="0" err="1"/>
              <a:t>Fg</a:t>
            </a:r>
            <a:r>
              <a:rPr lang="en-AU" b="0" dirty="0"/>
              <a:t>.</a:t>
            </a:r>
          </a:p>
          <a:p>
            <a:endParaRPr lang="en-AU" b="0" dirty="0"/>
          </a:p>
          <a:p>
            <a:r>
              <a:rPr lang="en-AU" b="0" dirty="0"/>
              <a:t>What would happen to the orbital period (how long it takes to complete an orbit) as the orbital radius increases (the distance from the object to the centre of the main body)?</a:t>
            </a:r>
          </a:p>
        </p:txBody>
      </p:sp>
      <p:sp>
        <p:nvSpPr>
          <p:cNvPr id="4" name="Slide Number Placeholder 3"/>
          <p:cNvSpPr>
            <a:spLocks noGrp="1"/>
          </p:cNvSpPr>
          <p:nvPr>
            <p:ph type="sldNum" sz="quarter" idx="5"/>
          </p:nvPr>
        </p:nvSpPr>
        <p:spPr/>
        <p:txBody>
          <a:bodyPr/>
          <a:lstStyle/>
          <a:p>
            <a:fld id="{B5B756B8-97A8-4FA1-B26A-2500BA5D4D05}" type="slidenum">
              <a:rPr lang="en-AU" smtClean="0"/>
              <a:t>5</a:t>
            </a:fld>
            <a:endParaRPr lang="en-AU"/>
          </a:p>
        </p:txBody>
      </p:sp>
    </p:spTree>
    <p:extLst>
      <p:ext uri="{BB962C8B-B14F-4D97-AF65-F5344CB8AC3E}">
        <p14:creationId xmlns:p14="http://schemas.microsoft.com/office/powerpoint/2010/main" val="17008288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6</a:t>
            </a:fld>
            <a:endParaRPr lang="en-AU"/>
          </a:p>
        </p:txBody>
      </p:sp>
    </p:spTree>
    <p:extLst>
      <p:ext uri="{BB962C8B-B14F-4D97-AF65-F5344CB8AC3E}">
        <p14:creationId xmlns:p14="http://schemas.microsoft.com/office/powerpoint/2010/main" val="514260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T = 24k = 86400s</a:t>
            </a:r>
          </a:p>
          <a:p>
            <a:r>
              <a:rPr lang="en-AU" b="0" dirty="0"/>
              <a:t>r^3 = GMT^2 / 4pi^2 = 7.530 * 10^22</a:t>
            </a:r>
          </a:p>
          <a:p>
            <a:endParaRPr lang="en-AU" b="0" dirty="0"/>
          </a:p>
          <a:p>
            <a:r>
              <a:rPr lang="en-AU" b="0" dirty="0"/>
              <a:t>r = 4.22*10^7m</a:t>
            </a:r>
          </a:p>
        </p:txBody>
      </p:sp>
      <p:sp>
        <p:nvSpPr>
          <p:cNvPr id="4" name="Slide Number Placeholder 3"/>
          <p:cNvSpPr>
            <a:spLocks noGrp="1"/>
          </p:cNvSpPr>
          <p:nvPr>
            <p:ph type="sldNum" sz="quarter" idx="5"/>
          </p:nvPr>
        </p:nvSpPr>
        <p:spPr/>
        <p:txBody>
          <a:bodyPr/>
          <a:lstStyle/>
          <a:p>
            <a:fld id="{B5B756B8-97A8-4FA1-B26A-2500BA5D4D05}" type="slidenum">
              <a:rPr lang="en-AU" smtClean="0"/>
              <a:t>7</a:t>
            </a:fld>
            <a:endParaRPr lang="en-AU"/>
          </a:p>
        </p:txBody>
      </p:sp>
    </p:spTree>
    <p:extLst>
      <p:ext uri="{BB962C8B-B14F-4D97-AF65-F5344CB8AC3E}">
        <p14:creationId xmlns:p14="http://schemas.microsoft.com/office/powerpoint/2010/main" val="8555558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Red = geostationary = does not move in the night sky</a:t>
            </a:r>
          </a:p>
          <a:p>
            <a:r>
              <a:rPr lang="en-AU" b="0" dirty="0"/>
              <a:t>Yellow = geosynchronous = appears to move in the sky</a:t>
            </a:r>
          </a:p>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8</a:t>
            </a:fld>
            <a:endParaRPr lang="en-AU"/>
          </a:p>
        </p:txBody>
      </p:sp>
    </p:spTree>
    <p:extLst>
      <p:ext uri="{BB962C8B-B14F-4D97-AF65-F5344CB8AC3E}">
        <p14:creationId xmlns:p14="http://schemas.microsoft.com/office/powerpoint/2010/main" val="31230723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9</a:t>
            </a:fld>
            <a:endParaRPr lang="en-AU"/>
          </a:p>
        </p:txBody>
      </p:sp>
    </p:spTree>
    <p:extLst>
      <p:ext uri="{BB962C8B-B14F-4D97-AF65-F5344CB8AC3E}">
        <p14:creationId xmlns:p14="http://schemas.microsoft.com/office/powerpoint/2010/main" val="2741945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10</a:t>
            </a:fld>
            <a:endParaRPr lang="en-AU"/>
          </a:p>
        </p:txBody>
      </p:sp>
    </p:spTree>
    <p:extLst>
      <p:ext uri="{BB962C8B-B14F-4D97-AF65-F5344CB8AC3E}">
        <p14:creationId xmlns:p14="http://schemas.microsoft.com/office/powerpoint/2010/main" val="3301162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11</a:t>
            </a:fld>
            <a:endParaRPr lang="en-AU"/>
          </a:p>
        </p:txBody>
      </p:sp>
    </p:spTree>
    <p:extLst>
      <p:ext uri="{BB962C8B-B14F-4D97-AF65-F5344CB8AC3E}">
        <p14:creationId xmlns:p14="http://schemas.microsoft.com/office/powerpoint/2010/main" val="2530187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12</a:t>
            </a:fld>
            <a:endParaRPr lang="en-AU"/>
          </a:p>
        </p:txBody>
      </p:sp>
    </p:spTree>
    <p:extLst>
      <p:ext uri="{BB962C8B-B14F-4D97-AF65-F5344CB8AC3E}">
        <p14:creationId xmlns:p14="http://schemas.microsoft.com/office/powerpoint/2010/main" val="18126452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13</a:t>
            </a:fld>
            <a:endParaRPr lang="en-AU"/>
          </a:p>
        </p:txBody>
      </p:sp>
    </p:spTree>
    <p:extLst>
      <p:ext uri="{BB962C8B-B14F-4D97-AF65-F5344CB8AC3E}">
        <p14:creationId xmlns:p14="http://schemas.microsoft.com/office/powerpoint/2010/main" val="18063235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14</a:t>
            </a:fld>
            <a:endParaRPr lang="en-AU"/>
          </a:p>
        </p:txBody>
      </p:sp>
    </p:spTree>
    <p:extLst>
      <p:ext uri="{BB962C8B-B14F-4D97-AF65-F5344CB8AC3E}">
        <p14:creationId xmlns:p14="http://schemas.microsoft.com/office/powerpoint/2010/main" val="22398766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16</a:t>
            </a:fld>
            <a:endParaRPr lang="en-AU"/>
          </a:p>
        </p:txBody>
      </p:sp>
    </p:spTree>
    <p:extLst>
      <p:ext uri="{BB962C8B-B14F-4D97-AF65-F5344CB8AC3E}">
        <p14:creationId xmlns:p14="http://schemas.microsoft.com/office/powerpoint/2010/main" val="19956663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R) Daily Edi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572219"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Daily Edit</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1867437" y="208655"/>
            <a:ext cx="10004958" cy="515263"/>
          </a:xfrm>
          <a:prstGeom prst="rect">
            <a:avLst/>
          </a:prstGeom>
          <a:no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671043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R) Daily Edit 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1549400"/>
            <a:ext cx="11578126" cy="2929609"/>
          </a:xfrm>
          <a:prstGeom prst="rect">
            <a:avLst/>
          </a:prstGeom>
          <a:solidFill>
            <a:srgbClr val="692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b="1" i="0" dirty="0">
                <a:latin typeface="Century Gothic" panose="020B0502020202020204" pitchFamily="34" charset="0"/>
              </a:rPr>
              <a:t>SRC Core</a:t>
            </a:r>
            <a:r>
              <a:rPr lang="en-US" sz="7200" b="1" i="0" baseline="0" dirty="0">
                <a:latin typeface="Century Gothic" panose="020B0502020202020204" pitchFamily="34" charset="0"/>
              </a:rPr>
              <a:t> Standards</a:t>
            </a:r>
            <a:endParaRPr lang="en-US" sz="7200" b="1" i="0" dirty="0">
              <a:latin typeface="Century Gothic" panose="020B0502020202020204" pitchFamily="34" charset="0"/>
            </a:endParaRP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95218" y="1011383"/>
            <a:ext cx="2106787" cy="538446"/>
          </a:xfrm>
          <a:prstGeom prst="rect">
            <a:avLst/>
          </a:prstGeom>
          <a:solidFill>
            <a:srgbClr val="692B7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Daily Review</a:t>
            </a:r>
          </a:p>
        </p:txBody>
      </p:sp>
    </p:spTree>
    <p:extLst>
      <p:ext uri="{BB962C8B-B14F-4D97-AF65-F5344CB8AC3E}">
        <p14:creationId xmlns:p14="http://schemas.microsoft.com/office/powerpoint/2010/main" val="827749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R)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722087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R)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742202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R)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5974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R)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692B7D"/>
          </a:solidFill>
          <a:ln>
            <a:noFill/>
          </a:ln>
        </p:spPr>
        <p:txBody>
          <a:bodyPr wrap="square" rtlCol="0" anchor="ctr">
            <a:normAutofit/>
          </a:bodyPr>
          <a:lstStyle/>
          <a:p>
            <a:pPr marL="0" indent="0">
              <a:tabLst>
                <a:tab pos="3597275" algn="l"/>
              </a:tabLst>
            </a:pPr>
            <a:r>
              <a:rPr lang="en-US" sz="6000" b="1" i="0" dirty="0">
                <a:solidFill>
                  <a:schemeClr val="bg1"/>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740704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R)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692B7D"/>
          </a:solidFill>
        </p:spPr>
        <p:txBody>
          <a:bodyPr wrap="square" rtlCol="0" anchor="ctr">
            <a:noAutofit/>
          </a:bodyPr>
          <a:lstStyle/>
          <a:p>
            <a:pPr algn="l"/>
            <a:r>
              <a:rPr lang="en-US" sz="2000" b="1" i="0" dirty="0">
                <a:solidFill>
                  <a:srgbClr val="FBCA58"/>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rgbClr val="A14986"/>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solidFill>
                <a:srgbClr val="A14986"/>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63638" y="629514"/>
            <a:ext cx="5466107"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63638" y="1772516"/>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63638" y="2915518"/>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63638" y="4058520"/>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63638" y="5201522"/>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1221096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R)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06066"/>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Recite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58432"/>
            <a:ext cx="8954305" cy="1914525"/>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Go over the steps they already know from this unit, or from relevant prior knowledge.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1007288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R)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Recall</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4190"/>
            <a:ext cx="8954305" cy="1900238"/>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Practicing the steps they already know together. This should be guided practice.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1294523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R) Apply">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Apply</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5599"/>
            <a:ext cx="8954305" cy="1985962"/>
          </a:xfrm>
          <a:prstGeom prst="rect">
            <a:avLst/>
          </a:prstGeo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Quickly check that all students can still complete the previous steps learnt.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30282384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R)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17794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692B7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692B7D"/>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2220285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eneric Title Slide">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sp>
        <p:nvSpPr>
          <p:cNvPr id="3" name="Text Placeholder 2">
            <a:extLst>
              <a:ext uri="{FF2B5EF4-FFF2-40B4-BE49-F238E27FC236}">
                <a16:creationId xmlns:a16="http://schemas.microsoft.com/office/drawing/2014/main" id="{35918694-72DD-404C-BFE2-AE8FDFB6A47D}"/>
              </a:ext>
            </a:extLst>
          </p:cNvPr>
          <p:cNvSpPr>
            <a:spLocks noGrp="1"/>
          </p:cNvSpPr>
          <p:nvPr>
            <p:ph type="body" sz="quarter" idx="11" hasCustomPrompt="1"/>
          </p:nvPr>
        </p:nvSpPr>
        <p:spPr>
          <a:xfrm>
            <a:off x="295219" y="1019162"/>
            <a:ext cx="2630862" cy="538162"/>
          </a:xfrm>
          <a:prstGeom prst="rect">
            <a:avLst/>
          </a:prstGeom>
          <a:solidFill>
            <a:srgbClr val="2E546D"/>
          </a:solidFill>
        </p:spPr>
        <p:txBody>
          <a:bodyPr/>
          <a:lstStyle>
            <a:lvl1pPr marL="0" indent="0">
              <a:buNone/>
              <a:defRPr sz="3200" b="0"/>
            </a:lvl1pPr>
          </a:lstStyle>
          <a:p>
            <a:r>
              <a:rPr lang="en-US" sz="2800" b="1" i="0" dirty="0">
                <a:solidFill>
                  <a:srgbClr val="FBCA58"/>
                </a:solidFill>
                <a:latin typeface="Century Gothic" panose="020B0502020202020204" pitchFamily="34" charset="0"/>
                <a:cs typeface="Futura Medium" panose="020B0602020204020303" pitchFamily="34" charset="-79"/>
              </a:rPr>
              <a:t>Learning Goal</a:t>
            </a:r>
          </a:p>
        </p:txBody>
      </p:sp>
    </p:spTree>
    <p:extLst>
      <p:ext uri="{BB962C8B-B14F-4D97-AF65-F5344CB8AC3E}">
        <p14:creationId xmlns:p14="http://schemas.microsoft.com/office/powerpoint/2010/main" val="23702189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eneric Content Slid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
        <p:nvSpPr>
          <p:cNvPr id="5" name="Text Placeholder 4">
            <a:extLst>
              <a:ext uri="{FF2B5EF4-FFF2-40B4-BE49-F238E27FC236}">
                <a16:creationId xmlns:a16="http://schemas.microsoft.com/office/drawing/2014/main" id="{26005884-EA56-4A5F-8C82-1956C2ADF2F8}"/>
              </a:ext>
            </a:extLst>
          </p:cNvPr>
          <p:cNvSpPr>
            <a:spLocks noGrp="1"/>
          </p:cNvSpPr>
          <p:nvPr>
            <p:ph type="body" sz="quarter" idx="17" hasCustomPrompt="1"/>
          </p:nvPr>
        </p:nvSpPr>
        <p:spPr>
          <a:xfrm>
            <a:off x="295275" y="595269"/>
            <a:ext cx="3779478" cy="319722"/>
          </a:xfrm>
          <a:prstGeom prst="rect">
            <a:avLst/>
          </a:prstGeom>
          <a:solidFill>
            <a:srgbClr val="FBCA58"/>
          </a:solidFill>
        </p:spPr>
        <p:txBody>
          <a:bodyPr/>
          <a:lstStyle>
            <a:lvl1pPr marL="0" indent="0">
              <a:buNone/>
              <a:defRPr sz="1600" b="1">
                <a:solidFill>
                  <a:srgbClr val="2E546D"/>
                </a:solidFill>
                <a:latin typeface="+mj-lt"/>
              </a:defRPr>
            </a:lvl1pPr>
            <a:lvl2pPr>
              <a:defRPr sz="1800"/>
            </a:lvl2pPr>
            <a:lvl3pPr>
              <a:defRPr sz="1600"/>
            </a:lvl3pPr>
            <a:lvl4pPr>
              <a:defRPr sz="1400"/>
            </a:lvl4pPr>
            <a:lvl5pPr>
              <a:defRPr sz="1400"/>
            </a:lvl5pPr>
          </a:lstStyle>
          <a:p>
            <a:pPr lvl="0"/>
            <a:r>
              <a:rPr lang="en-US" dirty="0"/>
              <a:t>Type Subheading here</a:t>
            </a:r>
          </a:p>
        </p:txBody>
      </p:sp>
    </p:spTree>
    <p:extLst>
      <p:ext uri="{BB962C8B-B14F-4D97-AF65-F5344CB8AC3E}">
        <p14:creationId xmlns:p14="http://schemas.microsoft.com/office/powerpoint/2010/main" val="34852791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36460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o Now">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572219"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Do Now</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1867437" y="224237"/>
            <a:ext cx="10004958" cy="499682"/>
          </a:xfrm>
          <a:prstGeom prst="rect">
            <a:avLst/>
          </a:prstGeom>
          <a:solidFill>
            <a:schemeClr val="bg1"/>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4092731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I)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9" name="TextBox 8">
            <a:extLst>
              <a:ext uri="{FF2B5EF4-FFF2-40B4-BE49-F238E27FC236}">
                <a16:creationId xmlns:a16="http://schemas.microsoft.com/office/drawing/2014/main" id="{DF9C2B4A-0943-CC42-BE38-4F715F7CAA2B}"/>
              </a:ext>
            </a:extLst>
          </p:cNvPr>
          <p:cNvSpPr txBox="1"/>
          <p:nvPr userDrawn="1"/>
        </p:nvSpPr>
        <p:spPr>
          <a:xfrm>
            <a:off x="517951" y="4565193"/>
            <a:ext cx="2734700" cy="1947917"/>
          </a:xfrm>
          <a:prstGeom prst="rect">
            <a:avLst/>
          </a:prstGeom>
          <a:noFill/>
        </p:spPr>
        <p:txBody>
          <a:bodyPr wrap="square" tIns="180000" rtlCol="0" anchor="t">
            <a:normAutofit/>
          </a:bodyPr>
          <a:lstStyle/>
          <a:p>
            <a:r>
              <a:rPr lang="en-US" sz="3600" b="1" i="0" dirty="0">
                <a:solidFill>
                  <a:srgbClr val="2E546D"/>
                </a:solidFill>
                <a:latin typeface="Calibri" panose="020F0502020204030204" pitchFamily="34" charset="0"/>
                <a:cs typeface="Calibri" panose="020F0502020204030204" pitchFamily="34" charset="0"/>
              </a:rPr>
              <a:t>Think </a:t>
            </a:r>
          </a:p>
          <a:p>
            <a:r>
              <a:rPr lang="en-US" sz="3600" b="1" i="0" dirty="0">
                <a:solidFill>
                  <a:srgbClr val="2E546D"/>
                </a:solidFill>
                <a:latin typeface="Calibri" panose="020F0502020204030204" pitchFamily="34" charset="0"/>
                <a:cs typeface="Calibri" panose="020F0502020204030204" pitchFamily="34" charset="0"/>
              </a:rPr>
              <a:t>Pair</a:t>
            </a:r>
          </a:p>
          <a:p>
            <a:r>
              <a:rPr lang="en-US" sz="3600" b="1" i="0" dirty="0">
                <a:solidFill>
                  <a:srgbClr val="2E546D"/>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503526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earning Goal Simple">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spTree>
    <p:extLst>
      <p:ext uri="{BB962C8B-B14F-4D97-AF65-F5344CB8AC3E}">
        <p14:creationId xmlns:p14="http://schemas.microsoft.com/office/powerpoint/2010/main" val="40040971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I)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2E546D"/>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8144513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EI)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2F556E"/>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2123652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EI)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2F556E"/>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BCA58"/>
          </a:solidFill>
          <a:ln>
            <a:noFill/>
          </a:ln>
        </p:spPr>
        <p:txBody>
          <a:bodyPr wrap="square" rtlCol="0" anchor="ctr">
            <a:normAutofit/>
          </a:bodyPr>
          <a:lstStyle/>
          <a:p>
            <a:r>
              <a:rPr lang="en-US" sz="2400" b="1" i="0" dirty="0">
                <a:solidFill>
                  <a:srgbClr val="2F556E"/>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F556E"/>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9054138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34819495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I)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Content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4894422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EI)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userDrawn="1"/>
        </p:nvSpPr>
        <p:spPr>
          <a:xfrm>
            <a:off x="295275" y="590550"/>
            <a:ext cx="4199996" cy="352425"/>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1780312292"/>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I)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772040135"/>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I)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7490494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I)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9" y="1053881"/>
            <a:ext cx="2350999" cy="495947"/>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36172997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I)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4288181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image" Target="../media/image1.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userDrawn="1"/>
        </p:nvSpPr>
        <p:spPr>
          <a:xfrm>
            <a:off x="0" y="0"/>
            <a:ext cx="12192000" cy="6858000"/>
          </a:xfrm>
          <a:prstGeom prst="rect">
            <a:avLst/>
          </a:prstGeom>
          <a:solidFill>
            <a:srgbClr val="692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userDrawn="1"/>
        </p:nvSpPr>
        <p:spPr>
          <a:xfrm>
            <a:off x="-66676" y="221673"/>
            <a:ext cx="12258675"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a:extLst>
              <a:ext uri="{FF2B5EF4-FFF2-40B4-BE49-F238E27FC236}">
                <a16:creationId xmlns:a16="http://schemas.microsoft.com/office/drawing/2014/main" id="{C4F9A874-5CE1-8647-AFA9-BD43474DD64E}"/>
              </a:ext>
            </a:extLst>
          </p:cNvPr>
          <p:cNvPicPr>
            <a:picLocks noChangeAspect="1"/>
          </p:cNvPicPr>
          <p:nvPr userDrawn="1"/>
        </p:nvPicPr>
        <p:blipFill>
          <a:blip r:embed="rId14"/>
          <a:stretch>
            <a:fillRect/>
          </a:stretch>
        </p:blipFill>
        <p:spPr>
          <a:xfrm>
            <a:off x="10640451" y="6085119"/>
            <a:ext cx="1168470" cy="509380"/>
          </a:xfrm>
          <a:prstGeom prst="rect">
            <a:avLst/>
          </a:prstGeom>
        </p:spPr>
      </p:pic>
    </p:spTree>
    <p:extLst>
      <p:ext uri="{BB962C8B-B14F-4D97-AF65-F5344CB8AC3E}">
        <p14:creationId xmlns:p14="http://schemas.microsoft.com/office/powerpoint/2010/main" val="4030593586"/>
      </p:ext>
    </p:extLst>
  </p:cSld>
  <p:clrMap bg1="lt1" tx1="dk1" bg2="lt2" tx2="dk2" accent1="accent1" accent2="accent2" accent3="accent3" accent4="accent4" accent5="accent5" accent6="accent6" hlink="hlink" folHlink="folHlink"/>
  <p:sldLayoutIdLst>
    <p:sldLayoutId id="2147484258" r:id="rId1"/>
    <p:sldLayoutId id="2147484233" r:id="rId2"/>
    <p:sldLayoutId id="2147484234" r:id="rId3"/>
    <p:sldLayoutId id="2147484235" r:id="rId4"/>
    <p:sldLayoutId id="2147484236" r:id="rId5"/>
    <p:sldLayoutId id="2147484257" r:id="rId6"/>
    <p:sldLayoutId id="2147484255" r:id="rId7"/>
    <p:sldLayoutId id="2147484237" r:id="rId8"/>
    <p:sldLayoutId id="2147484238" r:id="rId9"/>
    <p:sldLayoutId id="2147484239" r:id="rId10"/>
    <p:sldLayoutId id="2147484240" r:id="rId11"/>
    <p:sldLayoutId id="214748429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userDrawn="1"/>
        </p:nvSpPr>
        <p:spPr>
          <a:xfrm>
            <a:off x="0" y="0"/>
            <a:ext cx="12192000" cy="6858000"/>
          </a:xfrm>
          <a:prstGeom prst="rect">
            <a:avLst/>
          </a:prstGeom>
          <a:solidFill>
            <a:srgbClr val="2E54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userDrawn="1"/>
        </p:nvSpPr>
        <p:spPr>
          <a:xfrm>
            <a:off x="0" y="221672"/>
            <a:ext cx="12192000" cy="63728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DC76C98-0227-3747-80B1-ED384456CDE8}"/>
              </a:ext>
            </a:extLst>
          </p:cNvPr>
          <p:cNvPicPr>
            <a:picLocks noChangeAspect="1"/>
          </p:cNvPicPr>
          <p:nvPr userDrawn="1"/>
        </p:nvPicPr>
        <p:blipFill>
          <a:blip r:embed="rId18"/>
          <a:stretch>
            <a:fillRect/>
          </a:stretch>
        </p:blipFill>
        <p:spPr>
          <a:xfrm>
            <a:off x="10640451" y="6085119"/>
            <a:ext cx="1168470" cy="509380"/>
          </a:xfrm>
          <a:prstGeom prst="rect">
            <a:avLst/>
          </a:prstGeom>
        </p:spPr>
      </p:pic>
    </p:spTree>
    <p:extLst>
      <p:ext uri="{BB962C8B-B14F-4D97-AF65-F5344CB8AC3E}">
        <p14:creationId xmlns:p14="http://schemas.microsoft.com/office/powerpoint/2010/main" val="288887113"/>
      </p:ext>
    </p:extLst>
  </p:cSld>
  <p:clrMap bg1="lt1" tx1="dk1" bg2="lt2" tx2="dk2" accent1="accent1" accent2="accent2" accent3="accent3" accent4="accent4" accent5="accent5" accent6="accent6" hlink="hlink" folHlink="folHlink"/>
  <p:sldLayoutIdLst>
    <p:sldLayoutId id="2147484294" r:id="rId1"/>
    <p:sldLayoutId id="2147484295" r:id="rId2"/>
    <p:sldLayoutId id="2147484288" r:id="rId3"/>
    <p:sldLayoutId id="2147484275" r:id="rId4"/>
    <p:sldLayoutId id="2147484276" r:id="rId5"/>
    <p:sldLayoutId id="2147484293" r:id="rId6"/>
    <p:sldLayoutId id="2147484277" r:id="rId7"/>
    <p:sldLayoutId id="2147484278" r:id="rId8"/>
    <p:sldLayoutId id="2147484279" r:id="rId9"/>
    <p:sldLayoutId id="2147484280" r:id="rId10"/>
    <p:sldLayoutId id="2147484281" r:id="rId11"/>
    <p:sldLayoutId id="2147484282" r:id="rId12"/>
    <p:sldLayoutId id="2147484283" r:id="rId13"/>
    <p:sldLayoutId id="2147484284" r:id="rId14"/>
    <p:sldLayoutId id="2147484285" r:id="rId15"/>
    <p:sldLayoutId id="2147484286"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4.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0.pn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4.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dirty="0"/>
              <a:t>Satellites</a:t>
            </a:r>
          </a:p>
        </p:txBody>
      </p:sp>
      <p:sp>
        <p:nvSpPr>
          <p:cNvPr id="3" name="Text Placeholder 3">
            <a:extLst>
              <a:ext uri="{FF2B5EF4-FFF2-40B4-BE49-F238E27FC236}">
                <a16:creationId xmlns:a16="http://schemas.microsoft.com/office/drawing/2014/main" id="{15B39FF7-CE51-4DDE-B8F7-A2B32DD72593}"/>
              </a:ext>
            </a:extLst>
          </p:cNvPr>
          <p:cNvSpPr txBox="1">
            <a:spLocks/>
          </p:cNvSpPr>
          <p:nvPr/>
        </p:nvSpPr>
        <p:spPr>
          <a:xfrm>
            <a:off x="295274" y="4571479"/>
            <a:ext cx="3779478" cy="319722"/>
          </a:xfrm>
          <a:prstGeom prst="rect">
            <a:avLst/>
          </a:prstGeom>
          <a:solidFill>
            <a:srgbClr val="FBCA58"/>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2E546D"/>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Success Criteria</a:t>
            </a:r>
          </a:p>
        </p:txBody>
      </p:sp>
      <p:sp>
        <p:nvSpPr>
          <p:cNvPr id="4" name="Text Placeholder 2">
            <a:extLst>
              <a:ext uri="{FF2B5EF4-FFF2-40B4-BE49-F238E27FC236}">
                <a16:creationId xmlns:a16="http://schemas.microsoft.com/office/drawing/2014/main" id="{376F90D9-C05E-4F92-AA21-6770C35F6CD9}"/>
              </a:ext>
            </a:extLst>
          </p:cNvPr>
          <p:cNvSpPr txBox="1">
            <a:spLocks/>
          </p:cNvSpPr>
          <p:nvPr/>
        </p:nvSpPr>
        <p:spPr>
          <a:xfrm>
            <a:off x="209549" y="4921871"/>
            <a:ext cx="11601508" cy="138256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1600" b="0" dirty="0">
                <a:solidFill>
                  <a:srgbClr val="000303"/>
                </a:solidFill>
                <a:latin typeface="+mj-lt"/>
              </a:rPr>
              <a:t>I</a:t>
            </a:r>
            <a:r>
              <a:rPr lang="en-US" sz="1600" b="0" i="0" dirty="0">
                <a:solidFill>
                  <a:srgbClr val="000303"/>
                </a:solidFill>
                <a:effectLst/>
                <a:latin typeface="+mj-lt"/>
              </a:rPr>
              <a:t> can </a:t>
            </a:r>
            <a:r>
              <a:rPr lang="en-AU" sz="1600" b="0" dirty="0">
                <a:solidFill>
                  <a:srgbClr val="000303"/>
                </a:solidFill>
                <a:latin typeface="+mj-lt"/>
              </a:rPr>
              <a:t>analyse</a:t>
            </a:r>
            <a:r>
              <a:rPr lang="en-US" sz="1600" b="0" dirty="0">
                <a:solidFill>
                  <a:srgbClr val="000303"/>
                </a:solidFill>
                <a:latin typeface="+mj-lt"/>
              </a:rPr>
              <a:t> the motion of satellites in circular orbits</a:t>
            </a:r>
            <a:endParaRPr lang="en-US" sz="1600" b="0" i="0" dirty="0">
              <a:solidFill>
                <a:srgbClr val="000303"/>
              </a:solidFill>
              <a:effectLst/>
              <a:latin typeface="+mj-lt"/>
            </a:endParaRPr>
          </a:p>
        </p:txBody>
      </p:sp>
    </p:spTree>
    <p:extLst>
      <p:ext uri="{BB962C8B-B14F-4D97-AF65-F5344CB8AC3E}">
        <p14:creationId xmlns:p14="http://schemas.microsoft.com/office/powerpoint/2010/main" val="37792069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Newton’s Cannonball</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94582" y="904805"/>
            <a:ext cx="12097418"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Isaac Newton had a famous thought experiment known as </a:t>
            </a:r>
            <a:r>
              <a:rPr lang="en-AU" sz="2400" dirty="0"/>
              <a:t>Newton’s Cannonball</a:t>
            </a:r>
            <a:r>
              <a:rPr lang="en-AU" sz="2400" b="0" dirty="0"/>
              <a:t>. He imagined a cannon sitting on a tall mountain. As the cannon is fired, the force of gravity pulls the cannonball down to Earth. But if you fire it faster, it will travel further before it lands.</a:t>
            </a:r>
          </a:p>
          <a:p>
            <a:pPr algn="just"/>
            <a:r>
              <a:rPr lang="en-AU" sz="2400" b="0" dirty="0"/>
              <a:t>If you can fire it fast </a:t>
            </a:r>
            <a:r>
              <a:rPr lang="en-AU" sz="2400" b="0" i="1" dirty="0"/>
              <a:t>enough</a:t>
            </a:r>
            <a:r>
              <a:rPr lang="en-AU" sz="2400" b="0" dirty="0"/>
              <a:t>, it would travel all the way around the Earth and reach its starting point again.</a:t>
            </a:r>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10" name="Picture 9">
            <a:extLst>
              <a:ext uri="{FF2B5EF4-FFF2-40B4-BE49-F238E27FC236}">
                <a16:creationId xmlns:a16="http://schemas.microsoft.com/office/drawing/2014/main" id="{E204612D-8DFE-4705-934C-A1289776CD94}"/>
              </a:ext>
            </a:extLst>
          </p:cNvPr>
          <p:cNvPicPr>
            <a:picLocks noChangeAspect="1"/>
          </p:cNvPicPr>
          <p:nvPr/>
        </p:nvPicPr>
        <p:blipFill rotWithShape="1">
          <a:blip r:embed="rId3"/>
          <a:srcRect t="39883" b="-1477"/>
          <a:stretch/>
        </p:blipFill>
        <p:spPr>
          <a:xfrm>
            <a:off x="4074753" y="3136224"/>
            <a:ext cx="3295650" cy="3373437"/>
          </a:xfrm>
          <a:prstGeom prst="rect">
            <a:avLst/>
          </a:prstGeom>
        </p:spPr>
      </p:pic>
      <p:grpSp>
        <p:nvGrpSpPr>
          <p:cNvPr id="7" name="Group 6">
            <a:extLst>
              <a:ext uri="{FF2B5EF4-FFF2-40B4-BE49-F238E27FC236}">
                <a16:creationId xmlns:a16="http://schemas.microsoft.com/office/drawing/2014/main" id="{C5387931-5503-494B-8D4D-43234FF86466}"/>
              </a:ext>
            </a:extLst>
          </p:cNvPr>
          <p:cNvGrpSpPr/>
          <p:nvPr/>
        </p:nvGrpSpPr>
        <p:grpSpPr>
          <a:xfrm>
            <a:off x="399152" y="3529801"/>
            <a:ext cx="3295650" cy="1951038"/>
            <a:chOff x="843652" y="3351853"/>
            <a:chExt cx="3295650" cy="1951038"/>
          </a:xfrm>
        </p:grpSpPr>
        <p:pic>
          <p:nvPicPr>
            <p:cNvPr id="5" name="Picture 4">
              <a:extLst>
                <a:ext uri="{FF2B5EF4-FFF2-40B4-BE49-F238E27FC236}">
                  <a16:creationId xmlns:a16="http://schemas.microsoft.com/office/drawing/2014/main" id="{E5B60E32-A2D4-4681-93DF-1D0D84937CF8}"/>
                </a:ext>
              </a:extLst>
            </p:cNvPr>
            <p:cNvPicPr>
              <a:picLocks noChangeAspect="1"/>
            </p:cNvPicPr>
            <p:nvPr/>
          </p:nvPicPr>
          <p:blipFill rotWithShape="1">
            <a:blip r:embed="rId3"/>
            <a:srcRect b="64377"/>
            <a:stretch/>
          </p:blipFill>
          <p:spPr>
            <a:xfrm>
              <a:off x="843652" y="3351853"/>
              <a:ext cx="3295650" cy="1951038"/>
            </a:xfrm>
            <a:prstGeom prst="rect">
              <a:avLst/>
            </a:prstGeom>
          </p:spPr>
        </p:pic>
        <p:sp>
          <p:nvSpPr>
            <p:cNvPr id="6" name="Rectangle 5">
              <a:extLst>
                <a:ext uri="{FF2B5EF4-FFF2-40B4-BE49-F238E27FC236}">
                  <a16:creationId xmlns:a16="http://schemas.microsoft.com/office/drawing/2014/main" id="{FBA8A4A0-0D84-4E56-B21C-3D753CA02E83}"/>
                </a:ext>
              </a:extLst>
            </p:cNvPr>
            <p:cNvSpPr/>
            <p:nvPr/>
          </p:nvSpPr>
          <p:spPr>
            <a:xfrm>
              <a:off x="843652" y="3429000"/>
              <a:ext cx="377105" cy="342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13" name="Text Placeholder 3">
            <a:extLst>
              <a:ext uri="{FF2B5EF4-FFF2-40B4-BE49-F238E27FC236}">
                <a16:creationId xmlns:a16="http://schemas.microsoft.com/office/drawing/2014/main" id="{61BEA2FA-79FD-4098-B15A-3BFE966B18CD}"/>
              </a:ext>
            </a:extLst>
          </p:cNvPr>
          <p:cNvSpPr txBox="1">
            <a:spLocks/>
          </p:cNvSpPr>
          <p:nvPr/>
        </p:nvSpPr>
        <p:spPr>
          <a:xfrm>
            <a:off x="7962900" y="3429000"/>
            <a:ext cx="4035455"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2400" dirty="0"/>
              <a:t>Calculate that velocity </a:t>
            </a:r>
          </a:p>
          <a:p>
            <a:pPr algn="ctr"/>
            <a:r>
              <a:rPr lang="en-AU" sz="2400" dirty="0"/>
              <a:t>(ignoring air resistance)</a:t>
            </a:r>
          </a:p>
          <a:p>
            <a:pPr algn="ctr"/>
            <a:endParaRPr lang="en-AU" sz="2400" dirty="0"/>
          </a:p>
          <a:p>
            <a:pPr algn="ctr"/>
            <a:r>
              <a:rPr lang="en-AU" sz="2400" dirty="0"/>
              <a:t>Step 1: draw a free-body diagram</a:t>
            </a:r>
          </a:p>
        </p:txBody>
      </p:sp>
    </p:spTree>
    <p:extLst>
      <p:ext uri="{BB962C8B-B14F-4D97-AF65-F5344CB8AC3E}">
        <p14:creationId xmlns:p14="http://schemas.microsoft.com/office/powerpoint/2010/main" val="1200013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Newton’s Cannonball</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398077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47290" y="4871313"/>
            <a:ext cx="11882551"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For the Earth, g = 9.8 ms</a:t>
            </a:r>
            <a:r>
              <a:rPr lang="en-AU" sz="2400" b="0" baseline="30000" dirty="0"/>
              <a:t>-2</a:t>
            </a:r>
            <a:r>
              <a:rPr lang="en-AU" sz="2400" b="0" dirty="0"/>
              <a:t> and r = 6.37*10</a:t>
            </a:r>
            <a:r>
              <a:rPr lang="en-AU" sz="2400" b="0" baseline="30000" dirty="0"/>
              <a:t>6 </a:t>
            </a:r>
            <a:r>
              <a:rPr lang="en-AU" sz="2400" b="0" dirty="0"/>
              <a:t>m</a:t>
            </a:r>
          </a:p>
          <a:p>
            <a:pPr algn="ctr"/>
            <a:r>
              <a:rPr lang="en-AU" sz="2400" dirty="0"/>
              <a:t>v = 7.9 km/s = 7900 m/s</a:t>
            </a:r>
          </a:p>
          <a:p>
            <a:pPr algn="ctr"/>
            <a:endParaRPr lang="en-AU" sz="1100" dirty="0"/>
          </a:p>
          <a:p>
            <a:pPr algn="ctr"/>
            <a:r>
              <a:rPr lang="en-AU" sz="2400" b="0" dirty="0"/>
              <a:t>Note that it is independent of mass (assuming no air resistance)</a:t>
            </a:r>
          </a:p>
          <a:p>
            <a:pPr algn="ctr"/>
            <a:endParaRPr lang="en-AU" sz="2400"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10" name="Picture 9">
            <a:extLst>
              <a:ext uri="{FF2B5EF4-FFF2-40B4-BE49-F238E27FC236}">
                <a16:creationId xmlns:a16="http://schemas.microsoft.com/office/drawing/2014/main" id="{E204612D-8DFE-4705-934C-A1289776CD94}"/>
              </a:ext>
            </a:extLst>
          </p:cNvPr>
          <p:cNvPicPr>
            <a:picLocks noChangeAspect="1"/>
          </p:cNvPicPr>
          <p:nvPr/>
        </p:nvPicPr>
        <p:blipFill rotWithShape="1">
          <a:blip r:embed="rId3"/>
          <a:srcRect t="39883" b="-1477"/>
          <a:stretch/>
        </p:blipFill>
        <p:spPr>
          <a:xfrm>
            <a:off x="8779265" y="1790367"/>
            <a:ext cx="3295650" cy="3373437"/>
          </a:xfrm>
          <a:prstGeom prst="rect">
            <a:avLst/>
          </a:prstGeom>
        </p:spPr>
      </p:pic>
      <p:grpSp>
        <p:nvGrpSpPr>
          <p:cNvPr id="7" name="Group 6">
            <a:extLst>
              <a:ext uri="{FF2B5EF4-FFF2-40B4-BE49-F238E27FC236}">
                <a16:creationId xmlns:a16="http://schemas.microsoft.com/office/drawing/2014/main" id="{C5387931-5503-494B-8D4D-43234FF86466}"/>
              </a:ext>
            </a:extLst>
          </p:cNvPr>
          <p:cNvGrpSpPr/>
          <p:nvPr/>
        </p:nvGrpSpPr>
        <p:grpSpPr>
          <a:xfrm>
            <a:off x="806544" y="2084498"/>
            <a:ext cx="3295650" cy="1951038"/>
            <a:chOff x="843652" y="3351853"/>
            <a:chExt cx="3295650" cy="1951038"/>
          </a:xfrm>
        </p:grpSpPr>
        <p:pic>
          <p:nvPicPr>
            <p:cNvPr id="5" name="Picture 4">
              <a:extLst>
                <a:ext uri="{FF2B5EF4-FFF2-40B4-BE49-F238E27FC236}">
                  <a16:creationId xmlns:a16="http://schemas.microsoft.com/office/drawing/2014/main" id="{E5B60E32-A2D4-4681-93DF-1D0D84937CF8}"/>
                </a:ext>
              </a:extLst>
            </p:cNvPr>
            <p:cNvPicPr>
              <a:picLocks noChangeAspect="1"/>
            </p:cNvPicPr>
            <p:nvPr/>
          </p:nvPicPr>
          <p:blipFill rotWithShape="1">
            <a:blip r:embed="rId3"/>
            <a:srcRect b="64377"/>
            <a:stretch/>
          </p:blipFill>
          <p:spPr>
            <a:xfrm>
              <a:off x="843652" y="3351853"/>
              <a:ext cx="3295650" cy="1951038"/>
            </a:xfrm>
            <a:prstGeom prst="rect">
              <a:avLst/>
            </a:prstGeom>
          </p:spPr>
        </p:pic>
        <p:sp>
          <p:nvSpPr>
            <p:cNvPr id="6" name="Rectangle 5">
              <a:extLst>
                <a:ext uri="{FF2B5EF4-FFF2-40B4-BE49-F238E27FC236}">
                  <a16:creationId xmlns:a16="http://schemas.microsoft.com/office/drawing/2014/main" id="{FBA8A4A0-0D84-4E56-B21C-3D753CA02E83}"/>
                </a:ext>
              </a:extLst>
            </p:cNvPr>
            <p:cNvSpPr/>
            <p:nvPr/>
          </p:nvSpPr>
          <p:spPr>
            <a:xfrm>
              <a:off x="843652" y="3429000"/>
              <a:ext cx="377105" cy="342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3B7A590-E0B0-4588-8822-8BDBC14AB162}"/>
                  </a:ext>
                </a:extLst>
              </p:cNvPr>
              <p:cNvSpPr txBox="1"/>
              <p:nvPr/>
            </p:nvSpPr>
            <p:spPr>
              <a:xfrm>
                <a:off x="2804190" y="3757863"/>
                <a:ext cx="6983002" cy="555345"/>
              </a:xfrm>
              <a:prstGeom prst="rect">
                <a:avLst/>
              </a:prstGeom>
              <a:noFill/>
              <a:ln>
                <a:noFill/>
              </a:ln>
            </p:spPr>
            <p:txBody>
              <a:bodyPr wrap="square">
                <a:spAutoFit/>
              </a:bodyPr>
              <a:lstStyle/>
              <a:p>
                <a:pPr/>
                <a14:m>
                  <m:oMathPara xmlns:m="http://schemas.openxmlformats.org/officeDocument/2006/math">
                    <m:oMathParaPr>
                      <m:jc m:val="centerGroup"/>
                    </m:oMathParaPr>
                    <m:oMath xmlns:m="http://schemas.openxmlformats.org/officeDocument/2006/math">
                      <m:r>
                        <a:rPr lang="en-AU" sz="2800" b="1" i="1" dirty="0" smtClean="0">
                          <a:latin typeface="Cambria Math" panose="02040503050406030204" pitchFamily="18" charset="0"/>
                          <a:ea typeface="Cambria Math" panose="02040503050406030204" pitchFamily="18" charset="0"/>
                        </a:rPr>
                        <m:t>𝒗</m:t>
                      </m:r>
                      <m:r>
                        <a:rPr lang="en-AU" sz="2800" b="1" i="1" dirty="0" smtClean="0">
                          <a:latin typeface="Cambria Math" panose="02040503050406030204" pitchFamily="18" charset="0"/>
                          <a:ea typeface="Cambria Math" panose="02040503050406030204" pitchFamily="18" charset="0"/>
                        </a:rPr>
                        <m:t>= √(</m:t>
                      </m:r>
                      <m:r>
                        <a:rPr lang="en-AU" sz="2800" b="1" i="1" dirty="0" smtClean="0">
                          <a:latin typeface="Cambria Math" panose="02040503050406030204" pitchFamily="18" charset="0"/>
                          <a:ea typeface="Cambria Math" panose="02040503050406030204" pitchFamily="18" charset="0"/>
                        </a:rPr>
                        <m:t>𝒈𝒓</m:t>
                      </m:r>
                      <m:r>
                        <a:rPr lang="en-AU" sz="2800" b="1" i="1" dirty="0" smtClean="0">
                          <a:latin typeface="Cambria Math" panose="02040503050406030204" pitchFamily="18" charset="0"/>
                          <a:ea typeface="Cambria Math" panose="02040503050406030204" pitchFamily="18" charset="0"/>
                        </a:rPr>
                        <m:t>)</m:t>
                      </m:r>
                    </m:oMath>
                  </m:oMathPara>
                </a14:m>
                <a:endParaRPr lang="en-AU" sz="2800" b="1" dirty="0"/>
              </a:p>
            </p:txBody>
          </p:sp>
        </mc:Choice>
        <mc:Fallback xmlns="">
          <p:sp>
            <p:nvSpPr>
              <p:cNvPr id="14" name="TextBox 13">
                <a:extLst>
                  <a:ext uri="{FF2B5EF4-FFF2-40B4-BE49-F238E27FC236}">
                    <a16:creationId xmlns:a16="http://schemas.microsoft.com/office/drawing/2014/main" id="{A3B7A590-E0B0-4588-8822-8BDBC14AB162}"/>
                  </a:ext>
                </a:extLst>
              </p:cNvPr>
              <p:cNvSpPr txBox="1">
                <a:spLocks noRot="1" noChangeAspect="1" noMove="1" noResize="1" noEditPoints="1" noAdjustHandles="1" noChangeArrowheads="1" noChangeShapeType="1" noTextEdit="1"/>
              </p:cNvSpPr>
              <p:nvPr/>
            </p:nvSpPr>
            <p:spPr>
              <a:xfrm>
                <a:off x="2804190" y="3757863"/>
                <a:ext cx="6983002" cy="555345"/>
              </a:xfrm>
              <a:prstGeom prst="rect">
                <a:avLst/>
              </a:prstGeom>
              <a:blipFill>
                <a:blip r:embed="rId4"/>
                <a:stretch>
                  <a:fillRect/>
                </a:stretch>
              </a:blipFill>
              <a:ln>
                <a:noFill/>
              </a:ln>
            </p:spPr>
            <p:txBody>
              <a:bodyPr/>
              <a:lstStyle/>
              <a:p>
                <a:r>
                  <a:rPr lang="en-AU">
                    <a:noFill/>
                  </a:rPr>
                  <a:t> </a:t>
                </a:r>
              </a:p>
            </p:txBody>
          </p:sp>
        </mc:Fallback>
      </mc:AlternateContent>
      <p:sp>
        <p:nvSpPr>
          <p:cNvPr id="15" name="Text Placeholder 3">
            <a:extLst>
              <a:ext uri="{FF2B5EF4-FFF2-40B4-BE49-F238E27FC236}">
                <a16:creationId xmlns:a16="http://schemas.microsoft.com/office/drawing/2014/main" id="{70508224-209B-4C9E-B656-E12F60514A3D}"/>
              </a:ext>
            </a:extLst>
          </p:cNvPr>
          <p:cNvSpPr txBox="1">
            <a:spLocks/>
          </p:cNvSpPr>
          <p:nvPr/>
        </p:nvSpPr>
        <p:spPr>
          <a:xfrm>
            <a:off x="246982" y="1057205"/>
            <a:ext cx="11945018"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The only force acting on the cannonball is </a:t>
            </a:r>
            <a:r>
              <a:rPr lang="en-AU" sz="2400" dirty="0"/>
              <a:t>gravity</a:t>
            </a:r>
            <a:r>
              <a:rPr lang="en-AU" sz="2400" b="0" dirty="0"/>
              <a:t>. The cannonball is also undergoing circular motion, therefore experiencing a centripetal force.</a:t>
            </a:r>
          </a:p>
          <a:p>
            <a:pPr algn="ctr"/>
            <a:r>
              <a:rPr lang="en-AU" sz="2400" dirty="0" err="1"/>
              <a:t>F</a:t>
            </a:r>
            <a:r>
              <a:rPr lang="en-AU" sz="2400" baseline="-25000" dirty="0" err="1"/>
              <a:t>g</a:t>
            </a:r>
            <a:r>
              <a:rPr lang="en-AU" sz="2400" dirty="0"/>
              <a:t> = F</a:t>
            </a:r>
            <a:r>
              <a:rPr lang="en-AU" sz="2400" baseline="-25000" dirty="0"/>
              <a:t>c</a:t>
            </a:r>
          </a:p>
          <a:p>
            <a:pPr algn="ctr"/>
            <a:r>
              <a:rPr lang="en-AU" sz="2400" dirty="0"/>
              <a:t>mg = mv</a:t>
            </a:r>
            <a:r>
              <a:rPr lang="en-AU" sz="2400" baseline="30000" dirty="0"/>
              <a:t>2</a:t>
            </a:r>
            <a:r>
              <a:rPr lang="en-AU" sz="2400" dirty="0"/>
              <a:t>/r</a:t>
            </a:r>
          </a:p>
          <a:p>
            <a:pPr algn="ctr"/>
            <a:endParaRPr lang="en-AU" sz="2400" b="0" i="1" dirty="0"/>
          </a:p>
          <a:p>
            <a:pPr algn="ctr"/>
            <a:r>
              <a:rPr lang="en-AU" sz="2400" b="0" i="1" dirty="0"/>
              <a:t>Rearrange for v</a:t>
            </a:r>
          </a:p>
        </p:txBody>
      </p:sp>
    </p:spTree>
    <p:extLst>
      <p:ext uri="{BB962C8B-B14F-4D97-AF65-F5344CB8AC3E}">
        <p14:creationId xmlns:p14="http://schemas.microsoft.com/office/powerpoint/2010/main" val="3379436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8">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Newton’s Cannonball</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94582" y="904805"/>
            <a:ext cx="12097418"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400" b="0" dirty="0"/>
              <a:t>https://en.wikipedia.org/wiki/Newton%27s_cannonball</a:t>
            </a:r>
          </a:p>
          <a:p>
            <a:endParaRPr lang="en-AU" sz="2400" b="0" dirty="0"/>
          </a:p>
          <a:p>
            <a:r>
              <a:rPr lang="en-AU" sz="2400" b="0" dirty="0"/>
              <a:t>https://spatrick.mit.edu/newtons-cannon</a:t>
            </a:r>
          </a:p>
          <a:p>
            <a:endParaRPr lang="en-AU" sz="2400" b="0" dirty="0"/>
          </a:p>
          <a:p>
            <a:r>
              <a:rPr lang="en-AU" sz="2400" b="0" dirty="0"/>
              <a:t>https://physics.weber.edu/schroeder/software/NewtonsCannon.html</a:t>
            </a:r>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Tree>
    <p:extLst>
      <p:ext uri="{BB962C8B-B14F-4D97-AF65-F5344CB8AC3E}">
        <p14:creationId xmlns:p14="http://schemas.microsoft.com/office/powerpoint/2010/main" val="28522033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Satellite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1459"/>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6" name="Oval 5">
            <a:extLst>
              <a:ext uri="{FF2B5EF4-FFF2-40B4-BE49-F238E27FC236}">
                <a16:creationId xmlns:a16="http://schemas.microsoft.com/office/drawing/2014/main" id="{725F12AD-B19A-42D4-A120-63E9911E0779}"/>
              </a:ext>
            </a:extLst>
          </p:cNvPr>
          <p:cNvSpPr/>
          <p:nvPr/>
        </p:nvSpPr>
        <p:spPr>
          <a:xfrm>
            <a:off x="780835" y="1530622"/>
            <a:ext cx="4703263" cy="4703263"/>
          </a:xfrm>
          <a:prstGeom prst="ellipse">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3" name="Picture 12">
            <a:extLst>
              <a:ext uri="{FF2B5EF4-FFF2-40B4-BE49-F238E27FC236}">
                <a16:creationId xmlns:a16="http://schemas.microsoft.com/office/drawing/2014/main" id="{DC4C73B8-86A4-4790-A260-F5BAB6C305A4}"/>
              </a:ext>
            </a:extLst>
          </p:cNvPr>
          <p:cNvPicPr>
            <a:picLocks noChangeAspect="1"/>
          </p:cNvPicPr>
          <p:nvPr/>
        </p:nvPicPr>
        <p:blipFill>
          <a:blip r:embed="rId3"/>
          <a:stretch>
            <a:fillRect/>
          </a:stretch>
        </p:blipFill>
        <p:spPr>
          <a:xfrm>
            <a:off x="5026819" y="3429000"/>
            <a:ext cx="914557" cy="592530"/>
          </a:xfrm>
          <a:prstGeom prst="rect">
            <a:avLst/>
          </a:prstGeom>
        </p:spPr>
      </p:pic>
      <p:pic>
        <p:nvPicPr>
          <p:cNvPr id="14" name="Picture 13">
            <a:extLst>
              <a:ext uri="{FF2B5EF4-FFF2-40B4-BE49-F238E27FC236}">
                <a16:creationId xmlns:a16="http://schemas.microsoft.com/office/drawing/2014/main" id="{060B64A4-46E9-4074-B30A-F7F31B8BD452}"/>
              </a:ext>
            </a:extLst>
          </p:cNvPr>
          <p:cNvPicPr>
            <a:picLocks noChangeAspect="1"/>
          </p:cNvPicPr>
          <p:nvPr/>
        </p:nvPicPr>
        <p:blipFill>
          <a:blip r:embed="rId3"/>
          <a:stretch>
            <a:fillRect/>
          </a:stretch>
        </p:blipFill>
        <p:spPr>
          <a:xfrm>
            <a:off x="368246" y="3484608"/>
            <a:ext cx="914557" cy="592530"/>
          </a:xfrm>
          <a:prstGeom prst="rect">
            <a:avLst/>
          </a:prstGeom>
        </p:spPr>
      </p:pic>
      <p:pic>
        <p:nvPicPr>
          <p:cNvPr id="15" name="Picture 14">
            <a:extLst>
              <a:ext uri="{FF2B5EF4-FFF2-40B4-BE49-F238E27FC236}">
                <a16:creationId xmlns:a16="http://schemas.microsoft.com/office/drawing/2014/main" id="{F7B68D04-5677-4E03-8A22-BB4D5AD9B058}"/>
              </a:ext>
            </a:extLst>
          </p:cNvPr>
          <p:cNvPicPr>
            <a:picLocks noChangeAspect="1"/>
          </p:cNvPicPr>
          <p:nvPr/>
        </p:nvPicPr>
        <p:blipFill>
          <a:blip r:embed="rId3"/>
          <a:stretch>
            <a:fillRect/>
          </a:stretch>
        </p:blipFill>
        <p:spPr>
          <a:xfrm>
            <a:off x="2675187" y="1234357"/>
            <a:ext cx="914557" cy="592530"/>
          </a:xfrm>
          <a:prstGeom prst="rect">
            <a:avLst/>
          </a:prstGeom>
        </p:spPr>
      </p:pic>
      <p:pic>
        <p:nvPicPr>
          <p:cNvPr id="16" name="Picture 15">
            <a:extLst>
              <a:ext uri="{FF2B5EF4-FFF2-40B4-BE49-F238E27FC236}">
                <a16:creationId xmlns:a16="http://schemas.microsoft.com/office/drawing/2014/main" id="{97B9CF93-2157-49FA-8BCC-6364B46A24C8}"/>
              </a:ext>
            </a:extLst>
          </p:cNvPr>
          <p:cNvPicPr>
            <a:picLocks noChangeAspect="1"/>
          </p:cNvPicPr>
          <p:nvPr/>
        </p:nvPicPr>
        <p:blipFill>
          <a:blip r:embed="rId3"/>
          <a:stretch>
            <a:fillRect/>
          </a:stretch>
        </p:blipFill>
        <p:spPr>
          <a:xfrm>
            <a:off x="2675187" y="5921525"/>
            <a:ext cx="914557" cy="592530"/>
          </a:xfrm>
          <a:prstGeom prst="rect">
            <a:avLst/>
          </a:prstGeom>
        </p:spPr>
      </p:pic>
      <p:sp>
        <p:nvSpPr>
          <p:cNvPr id="7" name="Oval 6">
            <a:extLst>
              <a:ext uri="{FF2B5EF4-FFF2-40B4-BE49-F238E27FC236}">
                <a16:creationId xmlns:a16="http://schemas.microsoft.com/office/drawing/2014/main" id="{664CA70B-760E-4495-A90D-D3C9C6D9955D}"/>
              </a:ext>
            </a:extLst>
          </p:cNvPr>
          <p:cNvSpPr/>
          <p:nvPr/>
        </p:nvSpPr>
        <p:spPr>
          <a:xfrm>
            <a:off x="2719878" y="3277237"/>
            <a:ext cx="990382" cy="990382"/>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200" b="1" dirty="0">
                <a:ln w="0"/>
                <a:solidFill>
                  <a:schemeClr val="tx1"/>
                </a:solidFill>
              </a:rPr>
              <a:t>E</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975FE25F-D3E2-42F7-ADCB-6DCCC8C5C75D}"/>
                  </a:ext>
                </a:extLst>
              </p:cNvPr>
              <p:cNvSpPr txBox="1"/>
              <p:nvPr/>
            </p:nvSpPr>
            <p:spPr>
              <a:xfrm>
                <a:off x="4669499" y="1116980"/>
                <a:ext cx="6096000" cy="5246693"/>
              </a:xfrm>
              <a:prstGeom prst="rect">
                <a:avLst/>
              </a:prstGeom>
              <a:noFill/>
              <a:ln>
                <a:noFill/>
              </a:ln>
            </p:spPr>
            <p:txBody>
              <a:bodyPr wrap="square">
                <a:spAutoFit/>
              </a:bodyPr>
              <a:lstStyle/>
              <a:p>
                <a:pPr algn="ctr"/>
                <a:r>
                  <a:rPr lang="en-AU" sz="2800" b="1" dirty="0"/>
                  <a:t>F</a:t>
                </a:r>
                <a:r>
                  <a:rPr lang="en-AU" sz="2800" b="1" baseline="-25000" dirty="0" err="1"/>
                  <a:t>g</a:t>
                </a:r>
                <a:r>
                  <a:rPr lang="en-AU" sz="2800" b="1" dirty="0"/>
                  <a:t> = F</a:t>
                </a:r>
                <a:r>
                  <a:rPr lang="en-AU" sz="2800" b="1" baseline="-25000" dirty="0"/>
                  <a:t>c</a:t>
                </a:r>
              </a:p>
              <a:p>
                <a:pPr algn="ctr"/>
                <a:endParaRPr lang="en-AU" sz="2800" b="1" baseline="-25000" dirty="0"/>
              </a:p>
              <a:p>
                <a:pPr algn="ctr"/>
                <a14:m>
                  <m:oMathPara xmlns:m="http://schemas.openxmlformats.org/officeDocument/2006/math">
                    <m:oMathParaPr>
                      <m:jc m:val="centerGroup"/>
                    </m:oMathParaPr>
                    <m:oMath xmlns:m="http://schemas.openxmlformats.org/officeDocument/2006/math">
                      <m:f>
                        <m:fPr>
                          <m:ctrlPr>
                            <a:rPr lang="en-AU" sz="2800" b="1" i="1" dirty="0" smtClean="0">
                              <a:latin typeface="Cambria Math" panose="02040503050406030204" pitchFamily="18" charset="0"/>
                            </a:rPr>
                          </m:ctrlPr>
                        </m:fPr>
                        <m:num>
                          <m:r>
                            <a:rPr lang="en-AU" sz="2800" b="1" i="1" dirty="0">
                              <a:latin typeface="Cambria Math" panose="02040503050406030204" pitchFamily="18" charset="0"/>
                            </a:rPr>
                            <m:t>𝑮𝑴𝒎</m:t>
                          </m:r>
                        </m:num>
                        <m:den>
                          <m:sSup>
                            <m:sSupPr>
                              <m:ctrlPr>
                                <a:rPr lang="en-AU" sz="2800" b="1" i="1" dirty="0" smtClean="0">
                                  <a:latin typeface="Cambria Math" panose="02040503050406030204" pitchFamily="18" charset="0"/>
                                </a:rPr>
                              </m:ctrlPr>
                            </m:sSupPr>
                            <m:e>
                              <m:r>
                                <a:rPr lang="en-AU" sz="2800" b="1" i="1" dirty="0" smtClean="0">
                                  <a:latin typeface="Cambria Math" panose="02040503050406030204" pitchFamily="18" charset="0"/>
                                </a:rPr>
                                <m:t>𝒓</m:t>
                              </m:r>
                            </m:e>
                            <m:sup>
                              <m:r>
                                <a:rPr lang="en-AU" sz="2800" b="1" i="1" dirty="0" smtClean="0">
                                  <a:latin typeface="Cambria Math" panose="02040503050406030204" pitchFamily="18" charset="0"/>
                                </a:rPr>
                                <m:t>𝟐</m:t>
                              </m:r>
                            </m:sup>
                          </m:sSup>
                        </m:den>
                      </m:f>
                      <m:r>
                        <a:rPr lang="en-AU" sz="2800" b="1" i="1" dirty="0" smtClean="0">
                          <a:latin typeface="Cambria Math" panose="02040503050406030204" pitchFamily="18" charset="0"/>
                        </a:rPr>
                        <m:t>=</m:t>
                      </m:r>
                      <m:f>
                        <m:fPr>
                          <m:ctrlPr>
                            <a:rPr lang="en-AU" sz="2800" b="1" i="1" dirty="0" smtClean="0">
                              <a:latin typeface="Cambria Math" panose="02040503050406030204" pitchFamily="18" charset="0"/>
                            </a:rPr>
                          </m:ctrlPr>
                        </m:fPr>
                        <m:num>
                          <m:r>
                            <a:rPr lang="en-AU" sz="2800" b="1" i="1" dirty="0" smtClean="0">
                              <a:latin typeface="Cambria Math" panose="02040503050406030204" pitchFamily="18" charset="0"/>
                            </a:rPr>
                            <m:t>𝒎</m:t>
                          </m:r>
                          <m:sSup>
                            <m:sSupPr>
                              <m:ctrlPr>
                                <a:rPr lang="en-AU" sz="2800" b="1" i="1" dirty="0" smtClean="0">
                                  <a:latin typeface="Cambria Math" panose="02040503050406030204" pitchFamily="18" charset="0"/>
                                </a:rPr>
                              </m:ctrlPr>
                            </m:sSupPr>
                            <m:e>
                              <m:r>
                                <a:rPr lang="en-AU" sz="2800" b="1" i="1" dirty="0" smtClean="0">
                                  <a:latin typeface="Cambria Math" panose="02040503050406030204" pitchFamily="18" charset="0"/>
                                </a:rPr>
                                <m:t>𝒗</m:t>
                              </m:r>
                            </m:e>
                            <m:sup>
                              <m:r>
                                <a:rPr lang="en-AU" sz="2800" b="1" i="1" dirty="0" smtClean="0">
                                  <a:latin typeface="Cambria Math" panose="02040503050406030204" pitchFamily="18" charset="0"/>
                                </a:rPr>
                                <m:t>𝟐</m:t>
                              </m:r>
                            </m:sup>
                          </m:sSup>
                        </m:num>
                        <m:den>
                          <m:r>
                            <a:rPr lang="en-AU" sz="2800" b="1" i="1" dirty="0" smtClean="0">
                              <a:latin typeface="Cambria Math" panose="02040503050406030204" pitchFamily="18" charset="0"/>
                            </a:rPr>
                            <m:t>𝒓</m:t>
                          </m:r>
                        </m:den>
                      </m:f>
                    </m:oMath>
                  </m:oMathPara>
                </a14:m>
                <a:endParaRPr lang="en-AU" sz="2800" b="1" dirty="0"/>
              </a:p>
              <a:p>
                <a:pPr algn="ctr"/>
                <a:endParaRPr lang="en-AU" sz="2800" b="1" dirty="0"/>
              </a:p>
              <a:p>
                <a:pPr algn="ctr"/>
                <a14:m>
                  <m:oMathPara xmlns:m="http://schemas.openxmlformats.org/officeDocument/2006/math">
                    <m:oMathParaPr>
                      <m:jc m:val="centerGroup"/>
                    </m:oMathParaPr>
                    <m:oMath xmlns:m="http://schemas.openxmlformats.org/officeDocument/2006/math">
                      <m:f>
                        <m:fPr>
                          <m:ctrlPr>
                            <a:rPr lang="en-AU" sz="2800" b="1" i="1" dirty="0" smtClean="0">
                              <a:latin typeface="Cambria Math" panose="02040503050406030204" pitchFamily="18" charset="0"/>
                            </a:rPr>
                          </m:ctrlPr>
                        </m:fPr>
                        <m:num>
                          <m:r>
                            <a:rPr lang="en-AU" sz="2800" b="1" i="1" dirty="0">
                              <a:latin typeface="Cambria Math" panose="02040503050406030204" pitchFamily="18" charset="0"/>
                            </a:rPr>
                            <m:t>𝑮𝑴𝒎</m:t>
                          </m:r>
                        </m:num>
                        <m:den>
                          <m:sSup>
                            <m:sSupPr>
                              <m:ctrlPr>
                                <a:rPr lang="en-AU" sz="2800" b="1" i="1" dirty="0" smtClean="0">
                                  <a:latin typeface="Cambria Math" panose="02040503050406030204" pitchFamily="18" charset="0"/>
                                </a:rPr>
                              </m:ctrlPr>
                            </m:sSupPr>
                            <m:e>
                              <m:r>
                                <a:rPr lang="en-AU" sz="2800" b="1" i="1" dirty="0" smtClean="0">
                                  <a:latin typeface="Cambria Math" panose="02040503050406030204" pitchFamily="18" charset="0"/>
                                </a:rPr>
                                <m:t>𝒓</m:t>
                              </m:r>
                            </m:e>
                            <m:sup>
                              <m:r>
                                <a:rPr lang="en-AU" sz="2800" b="1" i="1" dirty="0" smtClean="0">
                                  <a:latin typeface="Cambria Math" panose="02040503050406030204" pitchFamily="18" charset="0"/>
                                </a:rPr>
                                <m:t>𝟐</m:t>
                              </m:r>
                            </m:sup>
                          </m:sSup>
                        </m:den>
                      </m:f>
                      <m:r>
                        <a:rPr lang="en-AU" sz="2800" b="1" i="1" dirty="0" smtClean="0">
                          <a:latin typeface="Cambria Math" panose="02040503050406030204" pitchFamily="18" charset="0"/>
                        </a:rPr>
                        <m:t>=</m:t>
                      </m:r>
                      <m:f>
                        <m:fPr>
                          <m:ctrlPr>
                            <a:rPr lang="en-AU" sz="2800" b="1" i="1" dirty="0" smtClean="0">
                              <a:latin typeface="Cambria Math" panose="02040503050406030204" pitchFamily="18" charset="0"/>
                            </a:rPr>
                          </m:ctrlPr>
                        </m:fPr>
                        <m:num>
                          <m:r>
                            <a:rPr lang="en-AU" sz="2800" b="1" i="1" dirty="0" smtClean="0">
                              <a:latin typeface="Cambria Math" panose="02040503050406030204" pitchFamily="18" charset="0"/>
                            </a:rPr>
                            <m:t>𝒎</m:t>
                          </m:r>
                          <m:r>
                            <a:rPr lang="en-AU" sz="2800" b="1" i="1" dirty="0" smtClean="0">
                              <a:latin typeface="Cambria Math" panose="02040503050406030204" pitchFamily="18" charset="0"/>
                            </a:rPr>
                            <m:t>𝟒</m:t>
                          </m:r>
                          <m:sSup>
                            <m:sSupPr>
                              <m:ctrlPr>
                                <a:rPr lang="en-AU" sz="2800" b="1" i="1" dirty="0" smtClean="0">
                                  <a:latin typeface="Cambria Math" panose="02040503050406030204" pitchFamily="18" charset="0"/>
                                </a:rPr>
                              </m:ctrlPr>
                            </m:sSupPr>
                            <m:e>
                              <m:r>
                                <a:rPr lang="en-AU" sz="2800" b="1" i="1" dirty="0" smtClean="0">
                                  <a:latin typeface="Cambria Math" panose="02040503050406030204" pitchFamily="18" charset="0"/>
                                  <a:ea typeface="Cambria Math" panose="02040503050406030204" pitchFamily="18" charset="0"/>
                                </a:rPr>
                                <m:t>𝝅</m:t>
                              </m:r>
                            </m:e>
                            <m:sup>
                              <m:r>
                                <a:rPr lang="en-AU" sz="2800" b="1" i="1" dirty="0" smtClean="0">
                                  <a:latin typeface="Cambria Math" panose="02040503050406030204" pitchFamily="18" charset="0"/>
                                </a:rPr>
                                <m:t>𝟐</m:t>
                              </m:r>
                            </m:sup>
                          </m:sSup>
                          <m:sSup>
                            <m:sSupPr>
                              <m:ctrlPr>
                                <a:rPr lang="en-AU" sz="2800" b="1" i="1" dirty="0" smtClean="0">
                                  <a:latin typeface="Cambria Math" panose="02040503050406030204" pitchFamily="18" charset="0"/>
                                  <a:ea typeface="Cambria Math" panose="02040503050406030204" pitchFamily="18" charset="0"/>
                                </a:rPr>
                              </m:ctrlPr>
                            </m:sSupPr>
                            <m:e>
                              <m:r>
                                <a:rPr lang="en-AU" sz="2800" b="1" i="1" dirty="0" smtClean="0">
                                  <a:latin typeface="Cambria Math" panose="02040503050406030204" pitchFamily="18" charset="0"/>
                                  <a:ea typeface="Cambria Math" panose="02040503050406030204" pitchFamily="18" charset="0"/>
                                </a:rPr>
                                <m:t>𝒓</m:t>
                              </m:r>
                            </m:e>
                            <m:sup>
                              <m:r>
                                <a:rPr lang="en-AU" sz="2800" b="1" i="1" dirty="0" smtClean="0">
                                  <a:latin typeface="Cambria Math" panose="02040503050406030204" pitchFamily="18" charset="0"/>
                                  <a:ea typeface="Cambria Math" panose="02040503050406030204" pitchFamily="18" charset="0"/>
                                </a:rPr>
                                <m:t>𝟐</m:t>
                              </m:r>
                            </m:sup>
                          </m:sSup>
                        </m:num>
                        <m:den>
                          <m:r>
                            <a:rPr lang="en-AU" sz="2800" b="1" i="1" dirty="0" smtClean="0">
                              <a:latin typeface="Cambria Math" panose="02040503050406030204" pitchFamily="18" charset="0"/>
                            </a:rPr>
                            <m:t>𝒓</m:t>
                          </m:r>
                          <m:sSup>
                            <m:sSupPr>
                              <m:ctrlPr>
                                <a:rPr lang="en-AU" sz="2800" b="1" i="1" dirty="0" smtClean="0">
                                  <a:latin typeface="Cambria Math" panose="02040503050406030204" pitchFamily="18" charset="0"/>
                                </a:rPr>
                              </m:ctrlPr>
                            </m:sSupPr>
                            <m:e>
                              <m:r>
                                <a:rPr lang="en-AU" sz="2800" b="1" i="1" dirty="0" smtClean="0">
                                  <a:latin typeface="Cambria Math" panose="02040503050406030204" pitchFamily="18" charset="0"/>
                                </a:rPr>
                                <m:t>𝑻</m:t>
                              </m:r>
                            </m:e>
                            <m:sup>
                              <m:r>
                                <a:rPr lang="en-AU" sz="2800" b="1" i="1" dirty="0" smtClean="0">
                                  <a:latin typeface="Cambria Math" panose="02040503050406030204" pitchFamily="18" charset="0"/>
                                </a:rPr>
                                <m:t>𝟐</m:t>
                              </m:r>
                            </m:sup>
                          </m:sSup>
                        </m:den>
                      </m:f>
                    </m:oMath>
                  </m:oMathPara>
                </a14:m>
                <a:endParaRPr lang="en-AU" sz="2800" b="1" dirty="0"/>
              </a:p>
              <a:p>
                <a:pPr algn="ctr"/>
                <a:endParaRPr lang="en-AU" sz="2800" b="1" dirty="0"/>
              </a:p>
              <a:p>
                <a:pPr algn="ctr"/>
                <a14:m>
                  <m:oMathPara xmlns:m="http://schemas.openxmlformats.org/officeDocument/2006/math">
                    <m:oMathParaPr>
                      <m:jc m:val="centerGroup"/>
                    </m:oMathParaPr>
                    <m:oMath xmlns:m="http://schemas.openxmlformats.org/officeDocument/2006/math">
                      <m:f>
                        <m:fPr>
                          <m:ctrlPr>
                            <a:rPr lang="en-AU" sz="2800" b="1" i="1" dirty="0" smtClean="0">
                              <a:latin typeface="Cambria Math" panose="02040503050406030204" pitchFamily="18" charset="0"/>
                            </a:rPr>
                          </m:ctrlPr>
                        </m:fPr>
                        <m:num>
                          <m:r>
                            <a:rPr lang="en-AU" sz="2800" b="1" i="1" dirty="0" smtClean="0">
                              <a:latin typeface="Cambria Math" panose="02040503050406030204" pitchFamily="18" charset="0"/>
                            </a:rPr>
                            <m:t>𝟒</m:t>
                          </m:r>
                          <m:sSup>
                            <m:sSupPr>
                              <m:ctrlPr>
                                <a:rPr lang="en-AU" sz="2800" b="1" i="1" dirty="0" smtClean="0">
                                  <a:latin typeface="Cambria Math" panose="02040503050406030204" pitchFamily="18" charset="0"/>
                                </a:rPr>
                              </m:ctrlPr>
                            </m:sSupPr>
                            <m:e>
                              <m:r>
                                <a:rPr lang="en-AU" sz="2800" b="1" i="1" dirty="0" smtClean="0">
                                  <a:latin typeface="Cambria Math" panose="02040503050406030204" pitchFamily="18" charset="0"/>
                                  <a:ea typeface="Cambria Math" panose="02040503050406030204" pitchFamily="18" charset="0"/>
                                </a:rPr>
                                <m:t>𝝅</m:t>
                              </m:r>
                            </m:e>
                            <m:sup>
                              <m:r>
                                <a:rPr lang="en-AU" sz="2800" b="1" i="1" dirty="0" smtClean="0">
                                  <a:latin typeface="Cambria Math" panose="02040503050406030204" pitchFamily="18" charset="0"/>
                                </a:rPr>
                                <m:t>𝟐</m:t>
                              </m:r>
                            </m:sup>
                          </m:sSup>
                        </m:num>
                        <m:den>
                          <m:r>
                            <a:rPr lang="en-AU" sz="2800" b="1" i="1" dirty="0" smtClean="0">
                              <a:latin typeface="Cambria Math" panose="02040503050406030204" pitchFamily="18" charset="0"/>
                            </a:rPr>
                            <m:t>𝑮𝑴</m:t>
                          </m:r>
                        </m:den>
                      </m:f>
                      <m:r>
                        <a:rPr lang="en-AU" sz="2800" b="1" i="1" dirty="0" smtClean="0">
                          <a:latin typeface="Cambria Math" panose="02040503050406030204" pitchFamily="18" charset="0"/>
                        </a:rPr>
                        <m:t>=</m:t>
                      </m:r>
                      <m:f>
                        <m:fPr>
                          <m:ctrlPr>
                            <a:rPr lang="en-AU" sz="2800" b="1" i="1" dirty="0" smtClean="0">
                              <a:latin typeface="Cambria Math" panose="02040503050406030204" pitchFamily="18" charset="0"/>
                            </a:rPr>
                          </m:ctrlPr>
                        </m:fPr>
                        <m:num>
                          <m:sSup>
                            <m:sSupPr>
                              <m:ctrlPr>
                                <a:rPr lang="en-AU" sz="2800" b="1" i="1" dirty="0" smtClean="0">
                                  <a:latin typeface="Cambria Math" panose="02040503050406030204" pitchFamily="18" charset="0"/>
                                </a:rPr>
                              </m:ctrlPr>
                            </m:sSupPr>
                            <m:e>
                              <m:r>
                                <a:rPr lang="en-AU" sz="2800" b="1" i="1" dirty="0" smtClean="0">
                                  <a:latin typeface="Cambria Math" panose="02040503050406030204" pitchFamily="18" charset="0"/>
                                </a:rPr>
                                <m:t>𝑻</m:t>
                              </m:r>
                            </m:e>
                            <m:sup>
                              <m:r>
                                <a:rPr lang="en-AU" sz="2800" b="1" i="1" dirty="0" smtClean="0">
                                  <a:latin typeface="Cambria Math" panose="02040503050406030204" pitchFamily="18" charset="0"/>
                                </a:rPr>
                                <m:t>𝟐</m:t>
                              </m:r>
                            </m:sup>
                          </m:sSup>
                        </m:num>
                        <m:den>
                          <m:sSup>
                            <m:sSupPr>
                              <m:ctrlPr>
                                <a:rPr lang="en-AU" sz="2800" b="1" i="1" dirty="0" smtClean="0">
                                  <a:latin typeface="Cambria Math" panose="02040503050406030204" pitchFamily="18" charset="0"/>
                                </a:rPr>
                              </m:ctrlPr>
                            </m:sSupPr>
                            <m:e>
                              <m:r>
                                <a:rPr lang="en-AU" sz="2800" b="1" i="1" dirty="0" smtClean="0">
                                  <a:latin typeface="Cambria Math" panose="02040503050406030204" pitchFamily="18" charset="0"/>
                                </a:rPr>
                                <m:t>𝒓</m:t>
                              </m:r>
                            </m:e>
                            <m:sup>
                              <m:r>
                                <a:rPr lang="en-AU" sz="2800" b="1" i="1" dirty="0" smtClean="0">
                                  <a:latin typeface="Cambria Math" panose="02040503050406030204" pitchFamily="18" charset="0"/>
                                </a:rPr>
                                <m:t>𝟑</m:t>
                              </m:r>
                            </m:sup>
                          </m:sSup>
                        </m:den>
                      </m:f>
                    </m:oMath>
                  </m:oMathPara>
                </a14:m>
                <a:endParaRPr lang="en-AU" sz="2800" b="1" dirty="0"/>
              </a:p>
              <a:p>
                <a:pPr algn="ctr"/>
                <a:endParaRPr lang="en-AU" sz="2800" b="1" dirty="0"/>
              </a:p>
              <a:p>
                <a:pPr algn="ctr"/>
                <a:endParaRPr lang="en-AU" sz="2800" b="1" dirty="0"/>
              </a:p>
            </p:txBody>
          </p:sp>
        </mc:Choice>
        <mc:Fallback xmlns="">
          <p:sp>
            <p:nvSpPr>
              <p:cNvPr id="19" name="TextBox 18">
                <a:extLst>
                  <a:ext uri="{FF2B5EF4-FFF2-40B4-BE49-F238E27FC236}">
                    <a16:creationId xmlns:a16="http://schemas.microsoft.com/office/drawing/2014/main" id="{975FE25F-D3E2-42F7-ADCB-6DCCC8C5C75D}"/>
                  </a:ext>
                </a:extLst>
              </p:cNvPr>
              <p:cNvSpPr txBox="1">
                <a:spLocks noRot="1" noChangeAspect="1" noMove="1" noResize="1" noEditPoints="1" noAdjustHandles="1" noChangeArrowheads="1" noChangeShapeType="1" noTextEdit="1"/>
              </p:cNvSpPr>
              <p:nvPr/>
            </p:nvSpPr>
            <p:spPr>
              <a:xfrm>
                <a:off x="4669499" y="1116980"/>
                <a:ext cx="6096000" cy="5246693"/>
              </a:xfrm>
              <a:prstGeom prst="rect">
                <a:avLst/>
              </a:prstGeom>
              <a:blipFill>
                <a:blip r:embed="rId4"/>
                <a:stretch>
                  <a:fillRect t="-1161"/>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988DE25A-8829-4845-B7B1-BB3EF20A5743}"/>
                  </a:ext>
                </a:extLst>
              </p:cNvPr>
              <p:cNvSpPr txBox="1"/>
              <p:nvPr/>
            </p:nvSpPr>
            <p:spPr>
              <a:xfrm>
                <a:off x="9660714" y="1813029"/>
                <a:ext cx="1750451" cy="739754"/>
              </a:xfrm>
              <a:prstGeom prst="rect">
                <a:avLst/>
              </a:prstGeom>
              <a:noFill/>
              <a:ln>
                <a:noFill/>
              </a:ln>
            </p:spPr>
            <p:txBody>
              <a:bodyPr wrap="square">
                <a:spAutoFit/>
              </a:bodyPr>
              <a:lstStyle/>
              <a:p>
                <a:pPr algn="ctr"/>
                <a14:m>
                  <m:oMath xmlns:m="http://schemas.openxmlformats.org/officeDocument/2006/math">
                    <m:r>
                      <a:rPr lang="en-AU" sz="2800" b="1" i="1" smtClean="0">
                        <a:latin typeface="Cambria Math" panose="02040503050406030204" pitchFamily="18" charset="0"/>
                      </a:rPr>
                      <m:t>𝒗</m:t>
                    </m:r>
                    <m:r>
                      <a:rPr lang="en-AU" sz="2800" b="1" i="1" smtClean="0">
                        <a:latin typeface="Cambria Math" panose="02040503050406030204" pitchFamily="18" charset="0"/>
                      </a:rPr>
                      <m:t>=</m:t>
                    </m:r>
                    <m:f>
                      <m:fPr>
                        <m:ctrlPr>
                          <a:rPr lang="en-AU" sz="2800" b="1" i="1" smtClean="0">
                            <a:latin typeface="Cambria Math" panose="02040503050406030204" pitchFamily="18" charset="0"/>
                          </a:rPr>
                        </m:ctrlPr>
                      </m:fPr>
                      <m:num>
                        <m:r>
                          <a:rPr lang="en-AU" sz="2800" b="1" i="1" smtClean="0">
                            <a:latin typeface="Cambria Math" panose="02040503050406030204" pitchFamily="18" charset="0"/>
                          </a:rPr>
                          <m:t>𝟐</m:t>
                        </m:r>
                        <m:r>
                          <a:rPr lang="en-AU" sz="2800" b="1" i="1" smtClean="0">
                            <a:latin typeface="Cambria Math" panose="02040503050406030204" pitchFamily="18" charset="0"/>
                            <a:ea typeface="Cambria Math" panose="02040503050406030204" pitchFamily="18" charset="0"/>
                          </a:rPr>
                          <m:t>𝝅</m:t>
                        </m:r>
                        <m:r>
                          <a:rPr lang="en-AU" sz="2800" b="1" i="1" smtClean="0">
                            <a:latin typeface="Cambria Math" panose="02040503050406030204" pitchFamily="18" charset="0"/>
                            <a:ea typeface="Cambria Math" panose="02040503050406030204" pitchFamily="18" charset="0"/>
                          </a:rPr>
                          <m:t>𝒓</m:t>
                        </m:r>
                      </m:num>
                      <m:den>
                        <m:r>
                          <a:rPr lang="en-AU" sz="2800" b="1" i="1" smtClean="0">
                            <a:latin typeface="Cambria Math" panose="02040503050406030204" pitchFamily="18" charset="0"/>
                          </a:rPr>
                          <m:t>𝑻</m:t>
                        </m:r>
                      </m:den>
                    </m:f>
                  </m:oMath>
                </a14:m>
                <a:r>
                  <a:rPr lang="en-AU" sz="2800" b="1" dirty="0"/>
                  <a:t> </a:t>
                </a:r>
                <a:endParaRPr lang="en-AU" sz="2800" b="1" baseline="-25000" dirty="0"/>
              </a:p>
            </p:txBody>
          </p:sp>
        </mc:Choice>
        <mc:Fallback xmlns="">
          <p:sp>
            <p:nvSpPr>
              <p:cNvPr id="21" name="TextBox 20">
                <a:extLst>
                  <a:ext uri="{FF2B5EF4-FFF2-40B4-BE49-F238E27FC236}">
                    <a16:creationId xmlns:a16="http://schemas.microsoft.com/office/drawing/2014/main" id="{988DE25A-8829-4845-B7B1-BB3EF20A5743}"/>
                  </a:ext>
                </a:extLst>
              </p:cNvPr>
              <p:cNvSpPr txBox="1">
                <a:spLocks noRot="1" noChangeAspect="1" noMove="1" noResize="1" noEditPoints="1" noAdjustHandles="1" noChangeArrowheads="1" noChangeShapeType="1" noTextEdit="1"/>
              </p:cNvSpPr>
              <p:nvPr/>
            </p:nvSpPr>
            <p:spPr>
              <a:xfrm>
                <a:off x="9660714" y="1813029"/>
                <a:ext cx="1750451" cy="739754"/>
              </a:xfrm>
              <a:prstGeom prst="rect">
                <a:avLst/>
              </a:prstGeom>
              <a:blipFill>
                <a:blip r:embed="rId5"/>
                <a:stretch>
                  <a:fillRect/>
                </a:stretch>
              </a:blipFill>
              <a:ln>
                <a:noFill/>
              </a:ln>
            </p:spPr>
            <p:txBody>
              <a:bodyPr/>
              <a:lstStyle/>
              <a:p>
                <a:r>
                  <a:rPr lang="en-AU">
                    <a:noFill/>
                  </a:rPr>
                  <a:t> </a:t>
                </a:r>
              </a:p>
            </p:txBody>
          </p:sp>
        </mc:Fallback>
      </mc:AlternateContent>
      <p:sp>
        <p:nvSpPr>
          <p:cNvPr id="10" name="Rectangle 9">
            <a:extLst>
              <a:ext uri="{FF2B5EF4-FFF2-40B4-BE49-F238E27FC236}">
                <a16:creationId xmlns:a16="http://schemas.microsoft.com/office/drawing/2014/main" id="{E8A31759-44F5-4508-907C-12716336FEF8}"/>
              </a:ext>
            </a:extLst>
          </p:cNvPr>
          <p:cNvSpPr/>
          <p:nvPr/>
        </p:nvSpPr>
        <p:spPr>
          <a:xfrm>
            <a:off x="6464300" y="4267619"/>
            <a:ext cx="2349500" cy="1425388"/>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 name="TextBox 23">
            <a:extLst>
              <a:ext uri="{FF2B5EF4-FFF2-40B4-BE49-F238E27FC236}">
                <a16:creationId xmlns:a16="http://schemas.microsoft.com/office/drawing/2014/main" id="{53C47BE1-D5B0-4B5C-AA94-588EF4AF51F2}"/>
              </a:ext>
            </a:extLst>
          </p:cNvPr>
          <p:cNvSpPr txBox="1"/>
          <p:nvPr/>
        </p:nvSpPr>
        <p:spPr>
          <a:xfrm>
            <a:off x="7487939" y="4717881"/>
            <a:ext cx="6096000" cy="461665"/>
          </a:xfrm>
          <a:prstGeom prst="rect">
            <a:avLst/>
          </a:prstGeom>
          <a:noFill/>
          <a:ln>
            <a:noFill/>
          </a:ln>
        </p:spPr>
        <p:txBody>
          <a:bodyPr wrap="square">
            <a:spAutoFit/>
          </a:bodyPr>
          <a:lstStyle/>
          <a:p>
            <a:pPr algn="ctr"/>
            <a:r>
              <a:rPr lang="en-AU" sz="2400" dirty="0"/>
              <a:t>Kepler’s Third Law</a:t>
            </a:r>
            <a:endParaRPr lang="en-AU" sz="2400" baseline="-25000" dirty="0"/>
          </a:p>
        </p:txBody>
      </p:sp>
      <p:sp>
        <p:nvSpPr>
          <p:cNvPr id="27" name="TextBox 26">
            <a:extLst>
              <a:ext uri="{FF2B5EF4-FFF2-40B4-BE49-F238E27FC236}">
                <a16:creationId xmlns:a16="http://schemas.microsoft.com/office/drawing/2014/main" id="{798E0D88-72F7-491D-A581-D14B4FAA22DF}"/>
              </a:ext>
            </a:extLst>
          </p:cNvPr>
          <p:cNvSpPr txBox="1"/>
          <p:nvPr/>
        </p:nvSpPr>
        <p:spPr>
          <a:xfrm>
            <a:off x="3901466" y="5744781"/>
            <a:ext cx="8726847" cy="369332"/>
          </a:xfrm>
          <a:prstGeom prst="rect">
            <a:avLst/>
          </a:prstGeom>
          <a:noFill/>
          <a:ln>
            <a:noFill/>
          </a:ln>
        </p:spPr>
        <p:txBody>
          <a:bodyPr wrap="square">
            <a:spAutoFit/>
          </a:bodyPr>
          <a:lstStyle/>
          <a:p>
            <a:pPr algn="ctr"/>
            <a:r>
              <a:rPr lang="en-AU" dirty="0"/>
              <a:t>LHS: constant	RHS: orbital period and orbital radius</a:t>
            </a:r>
            <a:endParaRPr lang="en-AU" baseline="-25000" dirty="0"/>
          </a:p>
        </p:txBody>
      </p:sp>
    </p:spTree>
    <p:extLst>
      <p:ext uri="{BB962C8B-B14F-4D97-AF65-F5344CB8AC3E}">
        <p14:creationId xmlns:p14="http://schemas.microsoft.com/office/powerpoint/2010/main" val="258259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10" grpId="0" animBg="1"/>
      <p:bldP spid="24" grpId="0"/>
      <p:bldP spid="2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BFE5FF1-B6D6-A1A2-2BEC-8A714294AF7C}"/>
              </a:ext>
            </a:extLst>
          </p:cNvPr>
          <p:cNvSpPr/>
          <p:nvPr/>
        </p:nvSpPr>
        <p:spPr>
          <a:xfrm>
            <a:off x="5200650" y="5980728"/>
            <a:ext cx="6776483" cy="61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Satellite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14867" y="1046732"/>
            <a:ext cx="12097418"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400" dirty="0"/>
              <a:t>Geosynchronous orbits</a:t>
            </a:r>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5" name="Screen Recording 4">
            <a:hlinkClick r:id="" action="ppaction://media"/>
            <a:extLst>
              <a:ext uri="{FF2B5EF4-FFF2-40B4-BE49-F238E27FC236}">
                <a16:creationId xmlns:a16="http://schemas.microsoft.com/office/drawing/2014/main" id="{E53CA98C-F83A-4DC7-85DE-EBF7F91C7E41}"/>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54131" y="1852194"/>
            <a:ext cx="4181575" cy="3674717"/>
          </a:xfrm>
          <a:prstGeom prst="rect">
            <a:avLst/>
          </a:prstGeom>
        </p:spPr>
      </p:pic>
      <p:sp>
        <p:nvSpPr>
          <p:cNvPr id="10" name="Text Placeholder 3">
            <a:extLst>
              <a:ext uri="{FF2B5EF4-FFF2-40B4-BE49-F238E27FC236}">
                <a16:creationId xmlns:a16="http://schemas.microsoft.com/office/drawing/2014/main" id="{087A9A8D-CA97-4F4C-B3BA-EC9AD365F72B}"/>
              </a:ext>
            </a:extLst>
          </p:cNvPr>
          <p:cNvSpPr txBox="1">
            <a:spLocks/>
          </p:cNvSpPr>
          <p:nvPr/>
        </p:nvSpPr>
        <p:spPr>
          <a:xfrm>
            <a:off x="5339532" y="877271"/>
            <a:ext cx="655719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400" dirty="0"/>
              <a:t>Close to the Earth </a:t>
            </a:r>
            <a:r>
              <a:rPr lang="en-AU" sz="2400" dirty="0">
                <a:sym typeface="Wingdings" panose="05000000000000000000" pitchFamily="2" charset="2"/>
              </a:rPr>
              <a:t> short period</a:t>
            </a:r>
          </a:p>
          <a:p>
            <a:r>
              <a:rPr lang="en-AU" sz="2400" b="0" dirty="0">
                <a:sym typeface="Wingdings" panose="05000000000000000000" pitchFamily="2" charset="2"/>
              </a:rPr>
              <a:t>Orbits the Earth quicker than the Earth rotates</a:t>
            </a:r>
          </a:p>
          <a:p>
            <a:endParaRPr lang="en-AU" sz="1400" b="0" dirty="0">
              <a:sym typeface="Wingdings" panose="05000000000000000000" pitchFamily="2" charset="2"/>
            </a:endParaRPr>
          </a:p>
          <a:p>
            <a:r>
              <a:rPr lang="en-AU" sz="2400" dirty="0"/>
              <a:t>Far from the Earth </a:t>
            </a:r>
            <a:r>
              <a:rPr lang="en-AU" sz="2400" dirty="0">
                <a:sym typeface="Wingdings" panose="05000000000000000000" pitchFamily="2" charset="2"/>
              </a:rPr>
              <a:t> long period</a:t>
            </a:r>
          </a:p>
          <a:p>
            <a:r>
              <a:rPr lang="en-AU" sz="2400" b="0" dirty="0">
                <a:sym typeface="Wingdings" panose="05000000000000000000" pitchFamily="2" charset="2"/>
              </a:rPr>
              <a:t>Orbits the Earth slower than the Earth rotates</a:t>
            </a:r>
          </a:p>
          <a:p>
            <a:endParaRPr lang="en-AU" sz="1400" b="0" dirty="0">
              <a:sym typeface="Wingdings" panose="05000000000000000000" pitchFamily="2" charset="2"/>
            </a:endParaRPr>
          </a:p>
          <a:p>
            <a:r>
              <a:rPr lang="en-AU" sz="2400" dirty="0"/>
              <a:t>Just the right distance from the Earth </a:t>
            </a:r>
            <a:r>
              <a:rPr lang="en-AU" sz="2400" dirty="0">
                <a:sym typeface="Wingdings" panose="05000000000000000000" pitchFamily="2" charset="2"/>
              </a:rPr>
              <a:t> period of one day</a:t>
            </a:r>
          </a:p>
          <a:p>
            <a:r>
              <a:rPr lang="en-AU" sz="2400" b="0" dirty="0">
                <a:sym typeface="Wingdings" panose="05000000000000000000" pitchFamily="2" charset="2"/>
              </a:rPr>
              <a:t>Geosynchronous: period of satellite equals the rotation of the Earth. Orbit at the exact same time as the Earth rotates. Satellite stays in the same spot relative to the Earth.</a:t>
            </a:r>
            <a:endParaRPr lang="en-AU" sz="2400" b="0" dirty="0"/>
          </a:p>
          <a:p>
            <a:endParaRPr lang="en-AU" sz="2400" b="0" dirty="0"/>
          </a:p>
        </p:txBody>
      </p:sp>
      <p:sp>
        <p:nvSpPr>
          <p:cNvPr id="6" name="Rectangle 5">
            <a:extLst>
              <a:ext uri="{FF2B5EF4-FFF2-40B4-BE49-F238E27FC236}">
                <a16:creationId xmlns:a16="http://schemas.microsoft.com/office/drawing/2014/main" id="{1F549730-8200-2F28-D34E-15A782DBF822}"/>
              </a:ext>
            </a:extLst>
          </p:cNvPr>
          <p:cNvSpPr/>
          <p:nvPr/>
        </p:nvSpPr>
        <p:spPr>
          <a:xfrm>
            <a:off x="5200649" y="4746171"/>
            <a:ext cx="6696075" cy="165462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872076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3404" fill="hold"/>
                                        <p:tgtEl>
                                          <p:spTgt spid="5"/>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7" end="7"/>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13" fill="hold" display="0">
                  <p:stCondLst>
                    <p:cond delay="indefinite"/>
                  </p:stCondLst>
                </p:cTn>
                <p:tgtEl>
                  <p:spTgt spid="5"/>
                </p:tgtEl>
              </p:cMediaNode>
            </p:video>
            <p:seq concurrent="1" nextAc="seek">
              <p:cTn id="14" restart="whenNotActive" fill="hold" evtFilter="cancelBubble" nodeType="interactiveSeq">
                <p:stCondLst>
                  <p:cond evt="onClick" delay="0">
                    <p:tgtEl>
                      <p:spTgt spid="5"/>
                    </p:tgtEl>
                  </p:cond>
                </p:stCondLst>
                <p:endSync evt="end" delay="0">
                  <p:rtn val="all"/>
                </p:endSync>
                <p:childTnLst>
                  <p:par>
                    <p:cTn id="15" fill="hold">
                      <p:stCondLst>
                        <p:cond delay="0"/>
                      </p:stCondLst>
                      <p:childTnLst>
                        <p:par>
                          <p:cTn id="16" fill="hold">
                            <p:stCondLst>
                              <p:cond delay="0"/>
                            </p:stCondLst>
                            <p:childTnLst>
                              <p:par>
                                <p:cTn id="17" presetID="2" presetClass="mediacall" presetSubtype="0" fill="hold" nodeType="clickEffect">
                                  <p:stCondLst>
                                    <p:cond delay="0"/>
                                  </p:stCondLst>
                                  <p:childTnLst>
                                    <p:cmd type="call" cmd="togglePause">
                                      <p:cBhvr>
                                        <p:cTn id="18" dur="1" fill="hold"/>
                                        <p:tgtEl>
                                          <p:spTgt spid="5"/>
                                        </p:tgtEl>
                                      </p:cBhvr>
                                    </p:cmd>
                                  </p:childTnLst>
                                </p:cTn>
                              </p:par>
                            </p:childTnLst>
                          </p:cTn>
                        </p:par>
                      </p:childTnLst>
                    </p:cTn>
                  </p:par>
                </p:childTnLst>
              </p:cTn>
              <p:nextCondLst>
                <p:cond evt="onClick" delay="0">
                  <p:tgtEl>
                    <p:spTgt spid="5"/>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Satellite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154724" y="978672"/>
            <a:ext cx="12097418"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400" b="0" dirty="0"/>
              <a:t>Calculate the orbital radius of a geosynchronous satellite.</a:t>
            </a:r>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Tree>
    <p:extLst>
      <p:ext uri="{BB962C8B-B14F-4D97-AF65-F5344CB8AC3E}">
        <p14:creationId xmlns:p14="http://schemas.microsoft.com/office/powerpoint/2010/main" val="5723377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Satellite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14867" y="1046732"/>
            <a:ext cx="12097418"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400" dirty="0"/>
              <a:t>Geostationary orbit:</a:t>
            </a:r>
          </a:p>
          <a:p>
            <a:r>
              <a:rPr lang="en-AU" sz="2400" b="0" dirty="0"/>
              <a:t>A special type of geosynchronous orbit where the satellite’s orbital plane lies along </a:t>
            </a:r>
            <a:r>
              <a:rPr lang="en-AU" sz="2400" dirty="0"/>
              <a:t>the equatorial plane </a:t>
            </a:r>
            <a:r>
              <a:rPr lang="en-AU" sz="2400" b="0" dirty="0"/>
              <a:t>of the Earth.</a:t>
            </a:r>
          </a:p>
          <a:p>
            <a:r>
              <a:rPr lang="en-AU" sz="2400" b="0" dirty="0"/>
              <a:t>These satellites appear stationary in the sky.</a:t>
            </a:r>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7" name="Picture 6">
            <a:extLst>
              <a:ext uri="{FF2B5EF4-FFF2-40B4-BE49-F238E27FC236}">
                <a16:creationId xmlns:a16="http://schemas.microsoft.com/office/drawing/2014/main" id="{29DAFA9B-B5B1-4E47-B5B8-C14FE1A01E3E}"/>
              </a:ext>
            </a:extLst>
          </p:cNvPr>
          <p:cNvPicPr>
            <a:picLocks noChangeAspect="1"/>
          </p:cNvPicPr>
          <p:nvPr/>
        </p:nvPicPr>
        <p:blipFill>
          <a:blip r:embed="rId3"/>
          <a:stretch>
            <a:fillRect/>
          </a:stretch>
        </p:blipFill>
        <p:spPr>
          <a:xfrm>
            <a:off x="814294" y="2919803"/>
            <a:ext cx="3627077" cy="3342928"/>
          </a:xfrm>
          <a:prstGeom prst="rect">
            <a:avLst/>
          </a:prstGeom>
        </p:spPr>
      </p:pic>
      <p:pic>
        <p:nvPicPr>
          <p:cNvPr id="9" name="Picture 8">
            <a:extLst>
              <a:ext uri="{FF2B5EF4-FFF2-40B4-BE49-F238E27FC236}">
                <a16:creationId xmlns:a16="http://schemas.microsoft.com/office/drawing/2014/main" id="{6613672A-B2E2-4E94-826F-6420B9EF1128}"/>
              </a:ext>
            </a:extLst>
          </p:cNvPr>
          <p:cNvPicPr>
            <a:picLocks noChangeAspect="1"/>
          </p:cNvPicPr>
          <p:nvPr/>
        </p:nvPicPr>
        <p:blipFill>
          <a:blip r:embed="rId4"/>
          <a:stretch>
            <a:fillRect/>
          </a:stretch>
        </p:blipFill>
        <p:spPr>
          <a:xfrm>
            <a:off x="5845658" y="3391641"/>
            <a:ext cx="6051067" cy="2458673"/>
          </a:xfrm>
          <a:prstGeom prst="rect">
            <a:avLst/>
          </a:prstGeom>
        </p:spPr>
      </p:pic>
      <p:sp>
        <p:nvSpPr>
          <p:cNvPr id="17" name="Oval 16">
            <a:extLst>
              <a:ext uri="{FF2B5EF4-FFF2-40B4-BE49-F238E27FC236}">
                <a16:creationId xmlns:a16="http://schemas.microsoft.com/office/drawing/2014/main" id="{AA007267-D01D-45A7-9CBA-A384DE2482D9}"/>
              </a:ext>
            </a:extLst>
          </p:cNvPr>
          <p:cNvSpPr/>
          <p:nvPr/>
        </p:nvSpPr>
        <p:spPr>
          <a:xfrm>
            <a:off x="7474857" y="3933371"/>
            <a:ext cx="145143" cy="14514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15" name="Group 14">
            <a:extLst>
              <a:ext uri="{FF2B5EF4-FFF2-40B4-BE49-F238E27FC236}">
                <a16:creationId xmlns:a16="http://schemas.microsoft.com/office/drawing/2014/main" id="{853B284A-5D55-4A5A-862A-5A20729A68E0}"/>
              </a:ext>
            </a:extLst>
          </p:cNvPr>
          <p:cNvGrpSpPr/>
          <p:nvPr/>
        </p:nvGrpSpPr>
        <p:grpSpPr>
          <a:xfrm>
            <a:off x="10580913" y="3722915"/>
            <a:ext cx="319316" cy="684000"/>
            <a:chOff x="10580913" y="3722915"/>
            <a:chExt cx="319316" cy="684000"/>
          </a:xfrm>
        </p:grpSpPr>
        <p:sp>
          <p:nvSpPr>
            <p:cNvPr id="10" name="Oval 9">
              <a:extLst>
                <a:ext uri="{FF2B5EF4-FFF2-40B4-BE49-F238E27FC236}">
                  <a16:creationId xmlns:a16="http://schemas.microsoft.com/office/drawing/2014/main" id="{177BF8E9-CFCC-499F-B7ED-21D0B395E628}"/>
                </a:ext>
              </a:extLst>
            </p:cNvPr>
            <p:cNvSpPr/>
            <p:nvPr/>
          </p:nvSpPr>
          <p:spPr>
            <a:xfrm>
              <a:off x="10755086" y="4180113"/>
              <a:ext cx="145143" cy="145143"/>
            </a:xfrm>
            <a:prstGeom prst="ellipse">
              <a:avLst/>
            </a:prstGeom>
            <a:solidFill>
              <a:srgbClr val="FFD966"/>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Oval 15">
              <a:extLst>
                <a:ext uri="{FF2B5EF4-FFF2-40B4-BE49-F238E27FC236}">
                  <a16:creationId xmlns:a16="http://schemas.microsoft.com/office/drawing/2014/main" id="{D1BA7E1B-68C1-496A-99DF-9A3BC93D3532}"/>
                </a:ext>
              </a:extLst>
            </p:cNvPr>
            <p:cNvSpPr/>
            <p:nvPr/>
          </p:nvSpPr>
          <p:spPr>
            <a:xfrm>
              <a:off x="10747830" y="3780971"/>
              <a:ext cx="145143" cy="145143"/>
            </a:xfrm>
            <a:prstGeom prst="ellipse">
              <a:avLst/>
            </a:prstGeom>
            <a:solidFill>
              <a:srgbClr val="FFD966"/>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2" name="Straight Arrow Connector 11">
              <a:extLst>
                <a:ext uri="{FF2B5EF4-FFF2-40B4-BE49-F238E27FC236}">
                  <a16:creationId xmlns:a16="http://schemas.microsoft.com/office/drawing/2014/main" id="{08C73A79-6D04-458C-9235-B9DBFA873B92}"/>
                </a:ext>
              </a:extLst>
            </p:cNvPr>
            <p:cNvCxnSpPr/>
            <p:nvPr/>
          </p:nvCxnSpPr>
          <p:spPr>
            <a:xfrm>
              <a:off x="10580913" y="3722915"/>
              <a:ext cx="0" cy="684000"/>
            </a:xfrm>
            <a:prstGeom prst="straightConnector1">
              <a:avLst/>
            </a:prstGeom>
            <a:ln w="38100">
              <a:solidFill>
                <a:srgbClr val="FFD966"/>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18" name="Group 17">
            <a:extLst>
              <a:ext uri="{FF2B5EF4-FFF2-40B4-BE49-F238E27FC236}">
                <a16:creationId xmlns:a16="http://schemas.microsoft.com/office/drawing/2014/main" id="{0C9B8D6E-1294-4559-9137-B5F6E943C78C}"/>
              </a:ext>
            </a:extLst>
          </p:cNvPr>
          <p:cNvGrpSpPr/>
          <p:nvPr/>
        </p:nvGrpSpPr>
        <p:grpSpPr>
          <a:xfrm>
            <a:off x="295275" y="4211325"/>
            <a:ext cx="5469975" cy="421115"/>
            <a:chOff x="295275" y="4211325"/>
            <a:chExt cx="5469975" cy="421115"/>
          </a:xfrm>
        </p:grpSpPr>
        <p:sp>
          <p:nvSpPr>
            <p:cNvPr id="8" name="Oval 7">
              <a:extLst>
                <a:ext uri="{FF2B5EF4-FFF2-40B4-BE49-F238E27FC236}">
                  <a16:creationId xmlns:a16="http://schemas.microsoft.com/office/drawing/2014/main" id="{AE4BEA48-CA35-45C6-8375-D28918FC05EB}"/>
                </a:ext>
              </a:extLst>
            </p:cNvPr>
            <p:cNvSpPr/>
            <p:nvPr/>
          </p:nvSpPr>
          <p:spPr>
            <a:xfrm>
              <a:off x="295275" y="4586721"/>
              <a:ext cx="4784725" cy="45719"/>
            </a:xfrm>
            <a:prstGeom prst="ellipse">
              <a:avLst/>
            </a:prstGeom>
            <a:noFill/>
            <a:ln w="38100">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Text Placeholder 3">
              <a:extLst>
                <a:ext uri="{FF2B5EF4-FFF2-40B4-BE49-F238E27FC236}">
                  <a16:creationId xmlns:a16="http://schemas.microsoft.com/office/drawing/2014/main" id="{773E04AB-36AC-4FA2-8B0A-BDF7B3D0DD7A}"/>
                </a:ext>
              </a:extLst>
            </p:cNvPr>
            <p:cNvSpPr txBox="1">
              <a:spLocks/>
            </p:cNvSpPr>
            <p:nvPr/>
          </p:nvSpPr>
          <p:spPr>
            <a:xfrm>
              <a:off x="3951775" y="4211325"/>
              <a:ext cx="1813475" cy="37539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1600" dirty="0">
                  <a:solidFill>
                    <a:srgbClr val="FF0000"/>
                  </a:solidFill>
                </a:rPr>
                <a:t>Geostationary</a:t>
              </a:r>
              <a:endParaRPr lang="en-AU" sz="1600" b="0" dirty="0">
                <a:solidFill>
                  <a:srgbClr val="FF0000"/>
                </a:solidFill>
              </a:endParaRPr>
            </a:p>
          </p:txBody>
        </p:sp>
      </p:grpSp>
      <p:grpSp>
        <p:nvGrpSpPr>
          <p:cNvPr id="13" name="Group 12">
            <a:extLst>
              <a:ext uri="{FF2B5EF4-FFF2-40B4-BE49-F238E27FC236}">
                <a16:creationId xmlns:a16="http://schemas.microsoft.com/office/drawing/2014/main" id="{A427CE70-B079-4B6F-B8B8-7EDEF41DDE29}"/>
              </a:ext>
            </a:extLst>
          </p:cNvPr>
          <p:cNvGrpSpPr/>
          <p:nvPr/>
        </p:nvGrpSpPr>
        <p:grpSpPr>
          <a:xfrm>
            <a:off x="295274" y="4563861"/>
            <a:ext cx="5289329" cy="1332821"/>
            <a:chOff x="295274" y="4563861"/>
            <a:chExt cx="5289329" cy="1332821"/>
          </a:xfrm>
        </p:grpSpPr>
        <p:sp>
          <p:nvSpPr>
            <p:cNvPr id="14" name="Oval 13">
              <a:extLst>
                <a:ext uri="{FF2B5EF4-FFF2-40B4-BE49-F238E27FC236}">
                  <a16:creationId xmlns:a16="http://schemas.microsoft.com/office/drawing/2014/main" id="{1B3D64E8-30E7-4506-8DC0-3556889E0191}"/>
                </a:ext>
              </a:extLst>
            </p:cNvPr>
            <p:cNvSpPr/>
            <p:nvPr/>
          </p:nvSpPr>
          <p:spPr>
            <a:xfrm rot="1320000">
              <a:off x="295274" y="4563861"/>
              <a:ext cx="4784725" cy="45719"/>
            </a:xfrm>
            <a:prstGeom prst="ellipse">
              <a:avLst/>
            </a:prstGeom>
            <a:noFill/>
            <a:ln w="38100">
              <a:solidFill>
                <a:schemeClr val="accent4">
                  <a:lumMod val="60000"/>
                  <a:lumOff val="4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1" name="Text Placeholder 3">
              <a:extLst>
                <a:ext uri="{FF2B5EF4-FFF2-40B4-BE49-F238E27FC236}">
                  <a16:creationId xmlns:a16="http://schemas.microsoft.com/office/drawing/2014/main" id="{EACBD41D-4608-421C-907D-F063485B084C}"/>
                </a:ext>
              </a:extLst>
            </p:cNvPr>
            <p:cNvSpPr txBox="1">
              <a:spLocks/>
            </p:cNvSpPr>
            <p:nvPr/>
          </p:nvSpPr>
          <p:spPr>
            <a:xfrm>
              <a:off x="3541486" y="5521286"/>
              <a:ext cx="2043117" cy="37539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1600" dirty="0">
                  <a:solidFill>
                    <a:schemeClr val="accent4">
                      <a:lumMod val="75000"/>
                    </a:schemeClr>
                  </a:solidFill>
                </a:rPr>
                <a:t>Geosynchronous</a:t>
              </a:r>
              <a:endParaRPr lang="en-AU" sz="1600" b="0" dirty="0">
                <a:solidFill>
                  <a:schemeClr val="accent4">
                    <a:lumMod val="75000"/>
                  </a:schemeClr>
                </a:solidFill>
              </a:endParaRPr>
            </a:p>
          </p:txBody>
        </p:sp>
      </p:grpSp>
    </p:spTree>
    <p:extLst>
      <p:ext uri="{BB962C8B-B14F-4D97-AF65-F5344CB8AC3E}">
        <p14:creationId xmlns:p14="http://schemas.microsoft.com/office/powerpoint/2010/main" val="203760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Satellite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14867" y="1046732"/>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400" dirty="0"/>
              <a:t>Satellite Uses</a:t>
            </a:r>
          </a:p>
          <a:p>
            <a:endParaRPr lang="en-AU" sz="2400" b="0" dirty="0"/>
          </a:p>
          <a:p>
            <a:r>
              <a:rPr lang="en-AU" sz="2400" b="0" dirty="0"/>
              <a:t>Low orbit (close to Earth):	Hubble Space Telescope, some weather 						satellites, International Space Station, ocean 					current monitoring</a:t>
            </a:r>
          </a:p>
          <a:p>
            <a:r>
              <a:rPr lang="en-AU" sz="2400" b="0" dirty="0"/>
              <a:t>Mid orbit:				GPS</a:t>
            </a:r>
          </a:p>
          <a:p>
            <a:r>
              <a:rPr lang="en-AU" sz="2400" b="0" dirty="0"/>
              <a:t>High orbit:				Communications, some weather satellites</a:t>
            </a:r>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Tree>
    <p:extLst>
      <p:ext uri="{BB962C8B-B14F-4D97-AF65-F5344CB8AC3E}">
        <p14:creationId xmlns:p14="http://schemas.microsoft.com/office/powerpoint/2010/main" val="4375913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Satellite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5" name="Picture 4">
            <a:extLst>
              <a:ext uri="{FF2B5EF4-FFF2-40B4-BE49-F238E27FC236}">
                <a16:creationId xmlns:a16="http://schemas.microsoft.com/office/drawing/2014/main" id="{D0EE792D-2946-4BE1-B7B0-F5F76A62FBE7}"/>
              </a:ext>
            </a:extLst>
          </p:cNvPr>
          <p:cNvPicPr>
            <a:picLocks noChangeAspect="1"/>
          </p:cNvPicPr>
          <p:nvPr/>
        </p:nvPicPr>
        <p:blipFill>
          <a:blip r:embed="rId3"/>
          <a:stretch>
            <a:fillRect/>
          </a:stretch>
        </p:blipFill>
        <p:spPr>
          <a:xfrm>
            <a:off x="295275" y="919904"/>
            <a:ext cx="11591444" cy="1059918"/>
          </a:xfrm>
          <a:prstGeom prst="rect">
            <a:avLst/>
          </a:prstGeom>
        </p:spPr>
      </p:pic>
    </p:spTree>
    <p:extLst>
      <p:ext uri="{BB962C8B-B14F-4D97-AF65-F5344CB8AC3E}">
        <p14:creationId xmlns:p14="http://schemas.microsoft.com/office/powerpoint/2010/main" val="12040913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Satellite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5" name="Picture 4">
            <a:extLst>
              <a:ext uri="{FF2B5EF4-FFF2-40B4-BE49-F238E27FC236}">
                <a16:creationId xmlns:a16="http://schemas.microsoft.com/office/drawing/2014/main" id="{D0EE792D-2946-4BE1-B7B0-F5F76A62FBE7}"/>
              </a:ext>
            </a:extLst>
          </p:cNvPr>
          <p:cNvPicPr>
            <a:picLocks noChangeAspect="1"/>
          </p:cNvPicPr>
          <p:nvPr/>
        </p:nvPicPr>
        <p:blipFill>
          <a:blip r:embed="rId3"/>
          <a:stretch>
            <a:fillRect/>
          </a:stretch>
        </p:blipFill>
        <p:spPr>
          <a:xfrm>
            <a:off x="295275" y="919904"/>
            <a:ext cx="11591444" cy="1059918"/>
          </a:xfrm>
          <a:prstGeom prst="rect">
            <a:avLst/>
          </a:prstGeom>
        </p:spPr>
      </p:pic>
      <p:pic>
        <p:nvPicPr>
          <p:cNvPr id="6" name="Picture 5">
            <a:extLst>
              <a:ext uri="{FF2B5EF4-FFF2-40B4-BE49-F238E27FC236}">
                <a16:creationId xmlns:a16="http://schemas.microsoft.com/office/drawing/2014/main" id="{C3FA8846-26BC-4981-A375-375F7DD8985C}"/>
              </a:ext>
            </a:extLst>
          </p:cNvPr>
          <p:cNvPicPr>
            <a:picLocks noChangeAspect="1"/>
          </p:cNvPicPr>
          <p:nvPr/>
        </p:nvPicPr>
        <p:blipFill>
          <a:blip r:embed="rId4"/>
          <a:stretch>
            <a:fillRect/>
          </a:stretch>
        </p:blipFill>
        <p:spPr>
          <a:xfrm>
            <a:off x="1090233" y="2431751"/>
            <a:ext cx="10226399" cy="2571412"/>
          </a:xfrm>
          <a:prstGeom prst="rect">
            <a:avLst/>
          </a:prstGeom>
        </p:spPr>
      </p:pic>
    </p:spTree>
    <p:extLst>
      <p:ext uri="{BB962C8B-B14F-4D97-AF65-F5344CB8AC3E}">
        <p14:creationId xmlns:p14="http://schemas.microsoft.com/office/powerpoint/2010/main" val="39597886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Satellite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6" name="Picture 5">
            <a:extLst>
              <a:ext uri="{FF2B5EF4-FFF2-40B4-BE49-F238E27FC236}">
                <a16:creationId xmlns:a16="http://schemas.microsoft.com/office/drawing/2014/main" id="{CED31860-206F-47C4-8B19-C88EA3694446}"/>
              </a:ext>
            </a:extLst>
          </p:cNvPr>
          <p:cNvPicPr>
            <a:picLocks noChangeAspect="1"/>
          </p:cNvPicPr>
          <p:nvPr/>
        </p:nvPicPr>
        <p:blipFill>
          <a:blip r:embed="rId3"/>
          <a:stretch>
            <a:fillRect/>
          </a:stretch>
        </p:blipFill>
        <p:spPr>
          <a:xfrm>
            <a:off x="942484" y="1007686"/>
            <a:ext cx="10307031" cy="3205730"/>
          </a:xfrm>
          <a:prstGeom prst="rect">
            <a:avLst/>
          </a:prstGeom>
        </p:spPr>
      </p:pic>
    </p:spTree>
    <p:extLst>
      <p:ext uri="{BB962C8B-B14F-4D97-AF65-F5344CB8AC3E}">
        <p14:creationId xmlns:p14="http://schemas.microsoft.com/office/powerpoint/2010/main" val="37370548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Satellite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5" name="Picture 4">
            <a:extLst>
              <a:ext uri="{FF2B5EF4-FFF2-40B4-BE49-F238E27FC236}">
                <a16:creationId xmlns:a16="http://schemas.microsoft.com/office/drawing/2014/main" id="{34F661CC-AA5E-49BD-9DA5-5A9EFBD73686}"/>
              </a:ext>
            </a:extLst>
          </p:cNvPr>
          <p:cNvPicPr>
            <a:picLocks noChangeAspect="1"/>
          </p:cNvPicPr>
          <p:nvPr/>
        </p:nvPicPr>
        <p:blipFill>
          <a:blip r:embed="rId3"/>
          <a:stretch>
            <a:fillRect/>
          </a:stretch>
        </p:blipFill>
        <p:spPr>
          <a:xfrm>
            <a:off x="570967" y="1194708"/>
            <a:ext cx="11050066" cy="4132036"/>
          </a:xfrm>
          <a:prstGeom prst="rect">
            <a:avLst/>
          </a:prstGeom>
        </p:spPr>
      </p:pic>
    </p:spTree>
    <p:extLst>
      <p:ext uri="{BB962C8B-B14F-4D97-AF65-F5344CB8AC3E}">
        <p14:creationId xmlns:p14="http://schemas.microsoft.com/office/powerpoint/2010/main" val="26496499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Satellite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Exam tips</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3" name="Text Placeholder 3">
            <a:extLst>
              <a:ext uri="{FF2B5EF4-FFF2-40B4-BE49-F238E27FC236}">
                <a16:creationId xmlns:a16="http://schemas.microsoft.com/office/drawing/2014/main" id="{5F729410-0AFC-6966-7D13-95F85B03BCC6}"/>
              </a:ext>
            </a:extLst>
          </p:cNvPr>
          <p:cNvSpPr txBox="1">
            <a:spLocks/>
          </p:cNvSpPr>
          <p:nvPr/>
        </p:nvSpPr>
        <p:spPr>
          <a:xfrm>
            <a:off x="154724" y="978672"/>
            <a:ext cx="1203727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AU" sz="2400" b="0" dirty="0"/>
              <a:t>Be comfortable working with algebra. Common questions ask you to use the orbital radius of one satellite to calculate the orbital radius of another, given the ratio of their orbital periods.</a:t>
            </a:r>
          </a:p>
          <a:p>
            <a:pPr marL="1028700" lvl="1" indent="-342900"/>
            <a:r>
              <a:rPr lang="en-AU" sz="2000" dirty="0"/>
              <a:t>Use subscripts to help you keep track of which piece of data you are using (e.g., </a:t>
            </a:r>
            <a:r>
              <a:rPr lang="en-AU" sz="2000" dirty="0" err="1"/>
              <a:t>r</a:t>
            </a:r>
            <a:r>
              <a:rPr lang="en-AU" sz="2000" baseline="-25000" dirty="0" err="1"/>
              <a:t>Mars</a:t>
            </a:r>
            <a:r>
              <a:rPr lang="en-AU" sz="2000" dirty="0"/>
              <a:t>)</a:t>
            </a:r>
          </a:p>
          <a:p>
            <a:pPr marL="1028700" lvl="1" indent="-342900"/>
            <a:endParaRPr lang="en-AU" sz="2000" b="0" dirty="0"/>
          </a:p>
          <a:p>
            <a:pPr marL="342900" indent="-342900">
              <a:buFont typeface="Arial" panose="020B0604020202020204" pitchFamily="34" charset="0"/>
              <a:buChar char="•"/>
            </a:pPr>
            <a:r>
              <a:rPr lang="en-AU" sz="2400" b="0" dirty="0"/>
              <a:t>If something is affected by more than one celestial body, the attraction forces to all bodies need to be considered. Always draw a free body diagram.</a:t>
            </a:r>
          </a:p>
          <a:p>
            <a:pPr marL="342900" indent="-342900">
              <a:buFont typeface="Arial" panose="020B0604020202020204" pitchFamily="34" charset="0"/>
              <a:buChar char="•"/>
            </a:pPr>
            <a:endParaRPr lang="en-AU" sz="2400" b="0" dirty="0"/>
          </a:p>
          <a:p>
            <a:pPr marL="342900" indent="-342900">
              <a:buFont typeface="Arial" panose="020B0604020202020204" pitchFamily="34" charset="0"/>
              <a:buChar char="•"/>
            </a:pPr>
            <a:endParaRPr lang="en-AU" sz="2400" b="0" dirty="0"/>
          </a:p>
          <a:p>
            <a:pPr marL="342900" indent="-342900">
              <a:buFont typeface="Arial" panose="020B0604020202020204" pitchFamily="34" charset="0"/>
              <a:buChar char="•"/>
            </a:pPr>
            <a:endParaRPr lang="en-AU" sz="2400" b="0" dirty="0"/>
          </a:p>
          <a:p>
            <a:pPr marL="342900" indent="-342900">
              <a:buFont typeface="Arial" panose="020B0604020202020204" pitchFamily="34" charset="0"/>
              <a:buChar char="•"/>
            </a:pPr>
            <a:endParaRPr lang="en-AU" sz="2400" b="0" dirty="0"/>
          </a:p>
          <a:p>
            <a:pPr marL="342900" indent="-342900">
              <a:buFont typeface="Arial" panose="020B0604020202020204" pitchFamily="34" charset="0"/>
              <a:buChar char="•"/>
            </a:pPr>
            <a:r>
              <a:rPr lang="en-AU" sz="2400" b="0" dirty="0"/>
              <a:t>Know the definitions and differences between geosynchronous and geostationary satellites.</a:t>
            </a:r>
          </a:p>
          <a:p>
            <a:pPr marL="342900" indent="-342900">
              <a:buFont typeface="Arial" panose="020B0604020202020204" pitchFamily="34" charset="0"/>
              <a:buChar char="•"/>
            </a:pPr>
            <a:endParaRPr lang="en-AU" sz="2400" b="0" dirty="0"/>
          </a:p>
        </p:txBody>
      </p:sp>
      <p:sp>
        <p:nvSpPr>
          <p:cNvPr id="6" name="Oval 5">
            <a:extLst>
              <a:ext uri="{FF2B5EF4-FFF2-40B4-BE49-F238E27FC236}">
                <a16:creationId xmlns:a16="http://schemas.microsoft.com/office/drawing/2014/main" id="{70A6C61A-18AC-923B-72B8-7841C947E9D9}"/>
              </a:ext>
            </a:extLst>
          </p:cNvPr>
          <p:cNvSpPr/>
          <p:nvPr/>
        </p:nvSpPr>
        <p:spPr>
          <a:xfrm>
            <a:off x="6534684" y="4249856"/>
            <a:ext cx="640080" cy="6400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t>A</a:t>
            </a:r>
          </a:p>
        </p:txBody>
      </p:sp>
      <p:sp>
        <p:nvSpPr>
          <p:cNvPr id="7" name="Oval 6">
            <a:extLst>
              <a:ext uri="{FF2B5EF4-FFF2-40B4-BE49-F238E27FC236}">
                <a16:creationId xmlns:a16="http://schemas.microsoft.com/office/drawing/2014/main" id="{39549D2B-9E00-C979-63C0-6F119209E914}"/>
              </a:ext>
            </a:extLst>
          </p:cNvPr>
          <p:cNvSpPr/>
          <p:nvPr/>
        </p:nvSpPr>
        <p:spPr>
          <a:xfrm>
            <a:off x="8263879" y="4431031"/>
            <a:ext cx="297180" cy="2971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t>B</a:t>
            </a:r>
          </a:p>
        </p:txBody>
      </p:sp>
      <p:sp>
        <p:nvSpPr>
          <p:cNvPr id="8" name="Rectangle 7">
            <a:extLst>
              <a:ext uri="{FF2B5EF4-FFF2-40B4-BE49-F238E27FC236}">
                <a16:creationId xmlns:a16="http://schemas.microsoft.com/office/drawing/2014/main" id="{041A6207-74A0-69F0-5F43-D7A358B1A57A}"/>
              </a:ext>
            </a:extLst>
          </p:cNvPr>
          <p:cNvSpPr/>
          <p:nvPr/>
        </p:nvSpPr>
        <p:spPr>
          <a:xfrm flipV="1">
            <a:off x="9070647" y="4530091"/>
            <a:ext cx="96202" cy="10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0" name="Straight Arrow Connector 9">
            <a:extLst>
              <a:ext uri="{FF2B5EF4-FFF2-40B4-BE49-F238E27FC236}">
                <a16:creationId xmlns:a16="http://schemas.microsoft.com/office/drawing/2014/main" id="{0EC19280-8BBA-AC88-83E5-9972310FAEF7}"/>
              </a:ext>
            </a:extLst>
          </p:cNvPr>
          <p:cNvCxnSpPr/>
          <p:nvPr/>
        </p:nvCxnSpPr>
        <p:spPr>
          <a:xfrm flipH="1">
            <a:off x="8055520" y="4356667"/>
            <a:ext cx="1039178"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D8F66D8A-3775-B558-2E5A-3DA62079A2D3}"/>
              </a:ext>
            </a:extLst>
          </p:cNvPr>
          <p:cNvCxnSpPr>
            <a:cxnSpLocks/>
          </p:cNvCxnSpPr>
          <p:nvPr/>
        </p:nvCxnSpPr>
        <p:spPr>
          <a:xfrm flipH="1">
            <a:off x="8621543" y="4728211"/>
            <a:ext cx="449104"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7D882F73-C9E8-D43D-5AED-48CCDA1CF9A0}"/>
              </a:ext>
            </a:extLst>
          </p:cNvPr>
          <p:cNvSpPr/>
          <p:nvPr/>
        </p:nvSpPr>
        <p:spPr>
          <a:xfrm>
            <a:off x="8460570" y="3961869"/>
            <a:ext cx="658178" cy="2879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err="1">
                <a:solidFill>
                  <a:schemeClr val="tx1"/>
                </a:solidFill>
              </a:rPr>
              <a:t>F</a:t>
            </a:r>
            <a:r>
              <a:rPr lang="en-AU" baseline="-25000" dirty="0" err="1">
                <a:solidFill>
                  <a:schemeClr val="tx1"/>
                </a:solidFill>
              </a:rPr>
              <a:t>g,A</a:t>
            </a:r>
            <a:endParaRPr lang="en-AU" dirty="0">
              <a:solidFill>
                <a:schemeClr val="tx1"/>
              </a:solidFill>
            </a:endParaRPr>
          </a:p>
        </p:txBody>
      </p:sp>
      <p:sp>
        <p:nvSpPr>
          <p:cNvPr id="15" name="Rectangle 14">
            <a:extLst>
              <a:ext uri="{FF2B5EF4-FFF2-40B4-BE49-F238E27FC236}">
                <a16:creationId xmlns:a16="http://schemas.microsoft.com/office/drawing/2014/main" id="{28854CD9-190A-2B84-09EF-55AD2A9841FA}"/>
              </a:ext>
            </a:extLst>
          </p:cNvPr>
          <p:cNvSpPr/>
          <p:nvPr/>
        </p:nvSpPr>
        <p:spPr>
          <a:xfrm>
            <a:off x="8582212" y="4750739"/>
            <a:ext cx="658178" cy="2879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err="1">
                <a:solidFill>
                  <a:schemeClr val="tx1"/>
                </a:solidFill>
              </a:rPr>
              <a:t>F</a:t>
            </a:r>
            <a:r>
              <a:rPr lang="en-AU" baseline="-25000" dirty="0" err="1">
                <a:solidFill>
                  <a:schemeClr val="tx1"/>
                </a:solidFill>
              </a:rPr>
              <a:t>g,B</a:t>
            </a:r>
            <a:endParaRPr lang="en-AU" dirty="0">
              <a:solidFill>
                <a:schemeClr val="tx1"/>
              </a:solidFill>
            </a:endParaRPr>
          </a:p>
        </p:txBody>
      </p:sp>
      <p:sp>
        <p:nvSpPr>
          <p:cNvPr id="16" name="Rectangle 15">
            <a:extLst>
              <a:ext uri="{FF2B5EF4-FFF2-40B4-BE49-F238E27FC236}">
                <a16:creationId xmlns:a16="http://schemas.microsoft.com/office/drawing/2014/main" id="{CE19F849-6205-6C79-5CE9-753DC98B5B74}"/>
              </a:ext>
            </a:extLst>
          </p:cNvPr>
          <p:cNvSpPr/>
          <p:nvPr/>
        </p:nvSpPr>
        <p:spPr>
          <a:xfrm>
            <a:off x="9554457" y="4287037"/>
            <a:ext cx="2046486" cy="2879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rPr>
              <a:t>F</a:t>
            </a:r>
            <a:r>
              <a:rPr lang="en-AU" baseline="-25000" dirty="0">
                <a:solidFill>
                  <a:schemeClr val="tx1"/>
                </a:solidFill>
              </a:rPr>
              <a:t>c</a:t>
            </a:r>
            <a:r>
              <a:rPr lang="en-AU" dirty="0">
                <a:solidFill>
                  <a:schemeClr val="tx1"/>
                </a:solidFill>
              </a:rPr>
              <a:t> = </a:t>
            </a:r>
            <a:r>
              <a:rPr lang="en-AU" dirty="0" err="1">
                <a:solidFill>
                  <a:schemeClr val="tx1"/>
                </a:solidFill>
              </a:rPr>
              <a:t>F</a:t>
            </a:r>
            <a:r>
              <a:rPr lang="en-AU" baseline="-25000" dirty="0" err="1">
                <a:solidFill>
                  <a:schemeClr val="tx1"/>
                </a:solidFill>
              </a:rPr>
              <a:t>g,A</a:t>
            </a:r>
            <a:r>
              <a:rPr lang="en-AU" dirty="0">
                <a:solidFill>
                  <a:schemeClr val="tx1"/>
                </a:solidFill>
              </a:rPr>
              <a:t> + </a:t>
            </a:r>
            <a:r>
              <a:rPr lang="en-AU" dirty="0" err="1">
                <a:solidFill>
                  <a:schemeClr val="tx1"/>
                </a:solidFill>
              </a:rPr>
              <a:t>F</a:t>
            </a:r>
            <a:r>
              <a:rPr lang="en-AU" baseline="-25000" dirty="0" err="1">
                <a:solidFill>
                  <a:schemeClr val="tx1"/>
                </a:solidFill>
              </a:rPr>
              <a:t>g,B</a:t>
            </a:r>
            <a:endParaRPr lang="en-AU" baseline="-25000" dirty="0">
              <a:solidFill>
                <a:schemeClr val="tx1"/>
              </a:solidFill>
            </a:endParaRPr>
          </a:p>
        </p:txBody>
      </p:sp>
      <p:sp>
        <p:nvSpPr>
          <p:cNvPr id="17" name="Rectangle 16">
            <a:extLst>
              <a:ext uri="{FF2B5EF4-FFF2-40B4-BE49-F238E27FC236}">
                <a16:creationId xmlns:a16="http://schemas.microsoft.com/office/drawing/2014/main" id="{6486828A-9B6A-4E7D-0496-BE01505DE283}"/>
              </a:ext>
            </a:extLst>
          </p:cNvPr>
          <p:cNvSpPr/>
          <p:nvPr/>
        </p:nvSpPr>
        <p:spPr>
          <a:xfrm>
            <a:off x="6316969" y="3867152"/>
            <a:ext cx="5283974" cy="13525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Oval 17">
            <a:extLst>
              <a:ext uri="{FF2B5EF4-FFF2-40B4-BE49-F238E27FC236}">
                <a16:creationId xmlns:a16="http://schemas.microsoft.com/office/drawing/2014/main" id="{EE8CF53A-34EB-2FDF-44EF-B9E9EEECECB5}"/>
              </a:ext>
            </a:extLst>
          </p:cNvPr>
          <p:cNvSpPr/>
          <p:nvPr/>
        </p:nvSpPr>
        <p:spPr>
          <a:xfrm>
            <a:off x="1002502" y="4356667"/>
            <a:ext cx="491599" cy="4915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t>A</a:t>
            </a:r>
          </a:p>
        </p:txBody>
      </p:sp>
      <p:sp>
        <p:nvSpPr>
          <p:cNvPr id="19" name="Oval 18">
            <a:extLst>
              <a:ext uri="{FF2B5EF4-FFF2-40B4-BE49-F238E27FC236}">
                <a16:creationId xmlns:a16="http://schemas.microsoft.com/office/drawing/2014/main" id="{FCE2755D-926A-F62D-2331-5C1692E2B325}"/>
              </a:ext>
            </a:extLst>
          </p:cNvPr>
          <p:cNvSpPr/>
          <p:nvPr/>
        </p:nvSpPr>
        <p:spPr>
          <a:xfrm>
            <a:off x="2676613" y="4431031"/>
            <a:ext cx="297180" cy="2971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t>B</a:t>
            </a:r>
          </a:p>
        </p:txBody>
      </p:sp>
      <p:sp>
        <p:nvSpPr>
          <p:cNvPr id="20" name="Rectangle 19">
            <a:extLst>
              <a:ext uri="{FF2B5EF4-FFF2-40B4-BE49-F238E27FC236}">
                <a16:creationId xmlns:a16="http://schemas.microsoft.com/office/drawing/2014/main" id="{027D1036-76EA-2014-7FE3-71C4FAA1193F}"/>
              </a:ext>
            </a:extLst>
          </p:cNvPr>
          <p:cNvSpPr/>
          <p:nvPr/>
        </p:nvSpPr>
        <p:spPr>
          <a:xfrm flipV="1">
            <a:off x="2302431" y="4543427"/>
            <a:ext cx="96202" cy="10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21" name="Straight Arrow Connector 20">
            <a:extLst>
              <a:ext uri="{FF2B5EF4-FFF2-40B4-BE49-F238E27FC236}">
                <a16:creationId xmlns:a16="http://schemas.microsoft.com/office/drawing/2014/main" id="{67991A1C-E7DE-360F-FC9D-A1E168133B59}"/>
              </a:ext>
            </a:extLst>
          </p:cNvPr>
          <p:cNvCxnSpPr>
            <a:cxnSpLocks/>
          </p:cNvCxnSpPr>
          <p:nvPr/>
        </p:nvCxnSpPr>
        <p:spPr>
          <a:xfrm flipH="1">
            <a:off x="1743075" y="4352590"/>
            <a:ext cx="6074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1D877AF-7647-F84A-4ACB-70CFFF6354E6}"/>
              </a:ext>
            </a:extLst>
          </p:cNvPr>
          <p:cNvCxnSpPr>
            <a:cxnSpLocks/>
          </p:cNvCxnSpPr>
          <p:nvPr/>
        </p:nvCxnSpPr>
        <p:spPr>
          <a:xfrm>
            <a:off x="2185014" y="4754550"/>
            <a:ext cx="491599"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5AF24794-422B-F445-26BD-60927A8E028E}"/>
              </a:ext>
            </a:extLst>
          </p:cNvPr>
          <p:cNvSpPr/>
          <p:nvPr/>
        </p:nvSpPr>
        <p:spPr>
          <a:xfrm>
            <a:off x="1746252" y="3977008"/>
            <a:ext cx="658178" cy="2879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err="1">
                <a:solidFill>
                  <a:schemeClr val="tx1"/>
                </a:solidFill>
              </a:rPr>
              <a:t>F</a:t>
            </a:r>
            <a:r>
              <a:rPr lang="en-AU" baseline="-25000" dirty="0" err="1">
                <a:solidFill>
                  <a:schemeClr val="tx1"/>
                </a:solidFill>
              </a:rPr>
              <a:t>g,A</a:t>
            </a:r>
            <a:endParaRPr lang="en-AU" dirty="0">
              <a:solidFill>
                <a:schemeClr val="tx1"/>
              </a:solidFill>
            </a:endParaRPr>
          </a:p>
        </p:txBody>
      </p:sp>
      <p:sp>
        <p:nvSpPr>
          <p:cNvPr id="24" name="Rectangle 23">
            <a:extLst>
              <a:ext uri="{FF2B5EF4-FFF2-40B4-BE49-F238E27FC236}">
                <a16:creationId xmlns:a16="http://schemas.microsoft.com/office/drawing/2014/main" id="{05276E3F-6E46-46B4-DC12-52C8B7E5FE8D}"/>
              </a:ext>
            </a:extLst>
          </p:cNvPr>
          <p:cNvSpPr/>
          <p:nvPr/>
        </p:nvSpPr>
        <p:spPr>
          <a:xfrm>
            <a:off x="2118427" y="4776153"/>
            <a:ext cx="658178" cy="2879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err="1">
                <a:solidFill>
                  <a:schemeClr val="tx1"/>
                </a:solidFill>
              </a:rPr>
              <a:t>F</a:t>
            </a:r>
            <a:r>
              <a:rPr lang="en-AU" baseline="-25000" dirty="0" err="1">
                <a:solidFill>
                  <a:schemeClr val="tx1"/>
                </a:solidFill>
              </a:rPr>
              <a:t>g,B</a:t>
            </a:r>
            <a:endParaRPr lang="en-AU" dirty="0">
              <a:solidFill>
                <a:schemeClr val="tx1"/>
              </a:solidFill>
            </a:endParaRPr>
          </a:p>
        </p:txBody>
      </p:sp>
      <p:sp>
        <p:nvSpPr>
          <p:cNvPr id="25" name="Rectangle 24">
            <a:extLst>
              <a:ext uri="{FF2B5EF4-FFF2-40B4-BE49-F238E27FC236}">
                <a16:creationId xmlns:a16="http://schemas.microsoft.com/office/drawing/2014/main" id="{FDC1ECB8-9A9F-8F82-DD51-0115B8743C5F}"/>
              </a:ext>
            </a:extLst>
          </p:cNvPr>
          <p:cNvSpPr/>
          <p:nvPr/>
        </p:nvSpPr>
        <p:spPr>
          <a:xfrm>
            <a:off x="3483381" y="4249424"/>
            <a:ext cx="2046486" cy="2879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rPr>
              <a:t>F</a:t>
            </a:r>
            <a:r>
              <a:rPr lang="en-AU" baseline="-25000" dirty="0">
                <a:solidFill>
                  <a:schemeClr val="tx1"/>
                </a:solidFill>
              </a:rPr>
              <a:t>c</a:t>
            </a:r>
            <a:r>
              <a:rPr lang="en-AU" dirty="0">
                <a:solidFill>
                  <a:schemeClr val="tx1"/>
                </a:solidFill>
              </a:rPr>
              <a:t> = </a:t>
            </a:r>
            <a:r>
              <a:rPr lang="en-AU" dirty="0" err="1">
                <a:solidFill>
                  <a:schemeClr val="tx1"/>
                </a:solidFill>
              </a:rPr>
              <a:t>F</a:t>
            </a:r>
            <a:r>
              <a:rPr lang="en-AU" baseline="-25000" dirty="0" err="1">
                <a:solidFill>
                  <a:schemeClr val="tx1"/>
                </a:solidFill>
              </a:rPr>
              <a:t>g,A</a:t>
            </a:r>
            <a:r>
              <a:rPr lang="en-AU" dirty="0">
                <a:solidFill>
                  <a:schemeClr val="tx1"/>
                </a:solidFill>
              </a:rPr>
              <a:t> - </a:t>
            </a:r>
            <a:r>
              <a:rPr lang="en-AU" dirty="0" err="1">
                <a:solidFill>
                  <a:schemeClr val="tx1"/>
                </a:solidFill>
              </a:rPr>
              <a:t>F</a:t>
            </a:r>
            <a:r>
              <a:rPr lang="en-AU" baseline="-25000" dirty="0" err="1">
                <a:solidFill>
                  <a:schemeClr val="tx1"/>
                </a:solidFill>
              </a:rPr>
              <a:t>g,B</a:t>
            </a:r>
            <a:endParaRPr lang="en-AU" baseline="-25000" dirty="0">
              <a:solidFill>
                <a:schemeClr val="tx1"/>
              </a:solidFill>
            </a:endParaRPr>
          </a:p>
        </p:txBody>
      </p:sp>
      <p:sp>
        <p:nvSpPr>
          <p:cNvPr id="26" name="Rectangle 25">
            <a:extLst>
              <a:ext uri="{FF2B5EF4-FFF2-40B4-BE49-F238E27FC236}">
                <a16:creationId xmlns:a16="http://schemas.microsoft.com/office/drawing/2014/main" id="{7A44703B-63F7-33E9-6655-73E02607B9D9}"/>
              </a:ext>
            </a:extLst>
          </p:cNvPr>
          <p:cNvSpPr/>
          <p:nvPr/>
        </p:nvSpPr>
        <p:spPr>
          <a:xfrm>
            <a:off x="729703" y="3867152"/>
            <a:ext cx="5283974" cy="13525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1398874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dirty="0"/>
              <a:t>Satellites</a:t>
            </a:r>
          </a:p>
        </p:txBody>
      </p:sp>
      <p:sp>
        <p:nvSpPr>
          <p:cNvPr id="3" name="Text Placeholder 3">
            <a:extLst>
              <a:ext uri="{FF2B5EF4-FFF2-40B4-BE49-F238E27FC236}">
                <a16:creationId xmlns:a16="http://schemas.microsoft.com/office/drawing/2014/main" id="{15B39FF7-CE51-4DDE-B8F7-A2B32DD72593}"/>
              </a:ext>
            </a:extLst>
          </p:cNvPr>
          <p:cNvSpPr txBox="1">
            <a:spLocks/>
          </p:cNvSpPr>
          <p:nvPr/>
        </p:nvSpPr>
        <p:spPr>
          <a:xfrm>
            <a:off x="295274" y="4571479"/>
            <a:ext cx="3779478" cy="319722"/>
          </a:xfrm>
          <a:prstGeom prst="rect">
            <a:avLst/>
          </a:prstGeom>
          <a:solidFill>
            <a:srgbClr val="FBCA58"/>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2E546D"/>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Success Criteria</a:t>
            </a:r>
          </a:p>
        </p:txBody>
      </p:sp>
      <p:sp>
        <p:nvSpPr>
          <p:cNvPr id="4" name="Text Placeholder 2">
            <a:extLst>
              <a:ext uri="{FF2B5EF4-FFF2-40B4-BE49-F238E27FC236}">
                <a16:creationId xmlns:a16="http://schemas.microsoft.com/office/drawing/2014/main" id="{376F90D9-C05E-4F92-AA21-6770C35F6CD9}"/>
              </a:ext>
            </a:extLst>
          </p:cNvPr>
          <p:cNvSpPr txBox="1">
            <a:spLocks/>
          </p:cNvSpPr>
          <p:nvPr/>
        </p:nvSpPr>
        <p:spPr>
          <a:xfrm>
            <a:off x="209549" y="4921871"/>
            <a:ext cx="11601508" cy="138256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1600" b="0" dirty="0">
                <a:solidFill>
                  <a:srgbClr val="000303"/>
                </a:solidFill>
                <a:latin typeface="+mj-lt"/>
              </a:rPr>
              <a:t>I</a:t>
            </a:r>
            <a:r>
              <a:rPr lang="en-US" sz="1600" b="0" i="0" dirty="0">
                <a:solidFill>
                  <a:srgbClr val="000303"/>
                </a:solidFill>
                <a:effectLst/>
                <a:latin typeface="+mj-lt"/>
              </a:rPr>
              <a:t> can </a:t>
            </a:r>
            <a:r>
              <a:rPr lang="en-AU" sz="1600" b="0" dirty="0">
                <a:solidFill>
                  <a:srgbClr val="000303"/>
                </a:solidFill>
                <a:latin typeface="+mj-lt"/>
              </a:rPr>
              <a:t>analyse</a:t>
            </a:r>
            <a:r>
              <a:rPr lang="en-US" sz="1600" b="0" dirty="0">
                <a:solidFill>
                  <a:srgbClr val="000303"/>
                </a:solidFill>
                <a:latin typeface="+mj-lt"/>
              </a:rPr>
              <a:t> the motion of satellites in circular orbits</a:t>
            </a:r>
            <a:endParaRPr lang="en-US" sz="1600" b="0" i="0" dirty="0">
              <a:solidFill>
                <a:srgbClr val="000303"/>
              </a:solidFill>
              <a:effectLst/>
              <a:latin typeface="+mj-lt"/>
            </a:endParaRPr>
          </a:p>
        </p:txBody>
      </p:sp>
    </p:spTree>
    <p:extLst>
      <p:ext uri="{BB962C8B-B14F-4D97-AF65-F5344CB8AC3E}">
        <p14:creationId xmlns:p14="http://schemas.microsoft.com/office/powerpoint/2010/main" val="2731132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Satellite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Additional Study</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6" name="Picture 5">
            <a:extLst>
              <a:ext uri="{FF2B5EF4-FFF2-40B4-BE49-F238E27FC236}">
                <a16:creationId xmlns:a16="http://schemas.microsoft.com/office/drawing/2014/main" id="{2972A1C4-A3BC-075F-1F0E-925783AA4D19}"/>
              </a:ext>
            </a:extLst>
          </p:cNvPr>
          <p:cNvPicPr>
            <a:picLocks noChangeAspect="1"/>
          </p:cNvPicPr>
          <p:nvPr/>
        </p:nvPicPr>
        <p:blipFill>
          <a:blip r:embed="rId3"/>
          <a:stretch>
            <a:fillRect/>
          </a:stretch>
        </p:blipFill>
        <p:spPr>
          <a:xfrm>
            <a:off x="4874531" y="0"/>
            <a:ext cx="7317469" cy="6858000"/>
          </a:xfrm>
          <a:prstGeom prst="rect">
            <a:avLst/>
          </a:prstGeom>
        </p:spPr>
      </p:pic>
    </p:spTree>
    <p:extLst>
      <p:ext uri="{BB962C8B-B14F-4D97-AF65-F5344CB8AC3E}">
        <p14:creationId xmlns:p14="http://schemas.microsoft.com/office/powerpoint/2010/main" val="2595667720"/>
      </p:ext>
    </p:extLst>
  </p:cSld>
  <p:clrMapOvr>
    <a:masterClrMapping/>
  </p:clrMapOvr>
</p:sld>
</file>

<file path=ppt/theme/theme1.xml><?xml version="1.0" encoding="utf-8"?>
<a:theme xmlns:a="http://schemas.openxmlformats.org/drawingml/2006/main" name="Daily Revie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Explicit Instruction_Dar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Theme2" id="{15861BA0-56D5-1E4E-B56A-268D38A279BF}" vid="{9D14DC9A-E19D-5949-B871-56F3C64BEB6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8157990E5B9394AB60DC397E95032F9" ma:contentTypeVersion="16" ma:contentTypeDescription="Create a new document." ma:contentTypeScope="" ma:versionID="02697e3214b2f55142a2e7b89ba6de54">
  <xsd:schema xmlns:xsd="http://www.w3.org/2001/XMLSchema" xmlns:xs="http://www.w3.org/2001/XMLSchema" xmlns:p="http://schemas.microsoft.com/office/2006/metadata/properties" xmlns:ns2="8f659357-f805-491c-ad0b-5621b2de6466" xmlns:ns3="d5c732d2-f217-444a-91d8-37c5714ca695" targetNamespace="http://schemas.microsoft.com/office/2006/metadata/properties" ma:root="true" ma:fieldsID="67be6965022b95aa9d7585358a9bb7fc" ns2:_="" ns3:_="">
    <xsd:import namespace="8f659357-f805-491c-ad0b-5621b2de6466"/>
    <xsd:import namespace="d5c732d2-f217-444a-91d8-37c5714ca69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LengthInSeconds"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659357-f805-491c-ad0b-5621b2de64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ea606fe5-00d0-49e1-aa33-d9ffd020910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5c732d2-f217-444a-91d8-37c5714ca69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787221a7-1fed-4694-a1ec-bb608177e353}" ma:internalName="TaxCatchAll" ma:showField="CatchAllData" ma:web="d5c732d2-f217-444a-91d8-37c5714ca69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d5c732d2-f217-444a-91d8-37c5714ca695" xsi:nil="true"/>
    <lcf76f155ced4ddcb4097134ff3c332f xmlns="8f659357-f805-491c-ad0b-5621b2de646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7F09D33-A1B5-4438-8F96-65DD71762491}">
  <ds:schemaRefs>
    <ds:schemaRef ds:uri="http://schemas.microsoft.com/sharepoint/v3/contenttype/forms"/>
  </ds:schemaRefs>
</ds:datastoreItem>
</file>

<file path=customXml/itemProps2.xml><?xml version="1.0" encoding="utf-8"?>
<ds:datastoreItem xmlns:ds="http://schemas.openxmlformats.org/officeDocument/2006/customXml" ds:itemID="{72DB7567-4536-4E8D-9B55-8FF8DE2807BE}"/>
</file>

<file path=customXml/itemProps3.xml><?xml version="1.0" encoding="utf-8"?>
<ds:datastoreItem xmlns:ds="http://schemas.openxmlformats.org/officeDocument/2006/customXml" ds:itemID="{AD5BC30B-A8FB-4389-B40F-C069B6D2FAB9}">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{33057687-8793-EB47-A5E0-08E93C53D0F2}tf10001071</Template>
  <TotalTime>6145</TotalTime>
  <Words>1009</Words>
  <Application>Microsoft Office PowerPoint</Application>
  <PresentationFormat>Widescreen</PresentationFormat>
  <Paragraphs>156</Paragraphs>
  <Slides>16</Slides>
  <Notes>14</Notes>
  <HiddenSlides>0</HiddenSlides>
  <MMClips>1</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16</vt:i4>
      </vt:variant>
    </vt:vector>
  </HeadingPairs>
  <TitlesOfParts>
    <vt:vector size="23" baseType="lpstr">
      <vt:lpstr>Arial</vt:lpstr>
      <vt:lpstr>Calibri</vt:lpstr>
      <vt:lpstr>Cambria Math</vt:lpstr>
      <vt:lpstr>Century Gothic</vt:lpstr>
      <vt:lpstr>Futura Medium</vt:lpstr>
      <vt:lpstr>Daily Review</vt:lpstr>
      <vt:lpstr>1_Explicit Instruction_Dark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BAKER Mark [Southern River College]</cp:lastModifiedBy>
  <cp:revision>425</cp:revision>
  <cp:lastPrinted>2018-05-27T06:54:10Z</cp:lastPrinted>
  <dcterms:created xsi:type="dcterms:W3CDTF">2018-03-29T05:56:09Z</dcterms:created>
  <dcterms:modified xsi:type="dcterms:W3CDTF">2023-03-22T01:36:05Z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0x010100C8157990E5B9394AB60DC397E95032F9</vt:lpwstr>
  </property>
</Properties>
</file>