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22"/>
  </p:notesMasterIdLst>
  <p:handoutMasterIdLst>
    <p:handoutMasterId r:id="rId23"/>
  </p:handoutMasterIdLst>
  <p:sldIdLst>
    <p:sldId id="481" r:id="rId6"/>
    <p:sldId id="416" r:id="rId7"/>
    <p:sldId id="462" r:id="rId8"/>
    <p:sldId id="480" r:id="rId9"/>
    <p:sldId id="494" r:id="rId10"/>
    <p:sldId id="489" r:id="rId11"/>
    <p:sldId id="491" r:id="rId12"/>
    <p:sldId id="492" r:id="rId13"/>
    <p:sldId id="486" r:id="rId14"/>
    <p:sldId id="478" r:id="rId15"/>
    <p:sldId id="479" r:id="rId16"/>
    <p:sldId id="487" r:id="rId17"/>
    <p:sldId id="493" r:id="rId18"/>
    <p:sldId id="488" r:id="rId19"/>
    <p:sldId id="495" r:id="rId20"/>
    <p:sldId id="49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9B4B"/>
    <a:srgbClr val="FBCA58"/>
    <a:srgbClr val="2E546D"/>
    <a:srgbClr val="DEEBF7"/>
    <a:srgbClr val="692B7D"/>
    <a:srgbClr val="472A50"/>
    <a:srgbClr val="6E407C"/>
    <a:srgbClr val="2F556E"/>
    <a:srgbClr val="A672B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50" autoAdjust="0"/>
    <p:restoredTop sz="85588" autoAdjust="0"/>
  </p:normalViewPr>
  <p:slideViewPr>
    <p:cSldViewPr snapToGrid="0" snapToObjects="1">
      <p:cViewPr varScale="1">
        <p:scale>
          <a:sx n="96" d="100"/>
          <a:sy n="96" d="100"/>
        </p:scale>
        <p:origin x="588" y="8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1/1/2023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1/01/2023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Easiest way is to use conservation of energy:</a:t>
            </a:r>
          </a:p>
          <a:p>
            <a:r>
              <a:rPr lang="en-AU" dirty="0"/>
              <a:t>PE at top = </a:t>
            </a:r>
            <a:r>
              <a:rPr lang="en-AU" dirty="0" err="1"/>
              <a:t>mgh</a:t>
            </a:r>
            <a:r>
              <a:rPr lang="en-AU" dirty="0"/>
              <a:t> = 8624000J</a:t>
            </a:r>
          </a:p>
          <a:p>
            <a:r>
              <a:rPr lang="en-AU" dirty="0"/>
              <a:t>KE at bottom = 8624000J</a:t>
            </a:r>
          </a:p>
          <a:p>
            <a:r>
              <a:rPr lang="en-AU" dirty="0"/>
              <a:t>Work done by friction = Force due to friction x distance = ~71800 N		(work measured in J as is kinetic energy)</a:t>
            </a:r>
          </a:p>
          <a:p>
            <a:r>
              <a:rPr lang="en-AU" dirty="0"/>
              <a:t>Big assumptions here: no energy lost to the surroundings due to heat or sound</a:t>
            </a:r>
          </a:p>
          <a:p>
            <a:endParaRPr lang="en-AU" dirty="0"/>
          </a:p>
          <a:p>
            <a:r>
              <a:rPr lang="en-AU" dirty="0"/>
              <a:t>Alternatively: you can use </a:t>
            </a:r>
            <a:r>
              <a:rPr lang="en-AU" dirty="0" err="1"/>
              <a:t>Fgsin</a:t>
            </a:r>
            <a:r>
              <a:rPr lang="en-AU" dirty="0"/>
              <a:t>(theta) to calculate acceleration and the velocity at the bottom of the hill. Then calculate the deacceleration in the arrester bed (v</a:t>
            </a:r>
            <a:r>
              <a:rPr lang="en-AU" baseline="30000" dirty="0"/>
              <a:t>2</a:t>
            </a:r>
            <a:r>
              <a:rPr lang="en-AU" baseline="0" dirty="0"/>
              <a:t>=u</a:t>
            </a:r>
            <a:r>
              <a:rPr lang="en-AU" baseline="30000" dirty="0"/>
              <a:t>2</a:t>
            </a:r>
            <a:r>
              <a:rPr lang="en-AU" baseline="0" dirty="0"/>
              <a:t>+2as). Then F</a:t>
            </a:r>
            <a:r>
              <a:rPr lang="en-AU" baseline="-25000" dirty="0"/>
              <a:t>f</a:t>
            </a:r>
            <a:r>
              <a:rPr lang="en-AU" baseline="0" dirty="0"/>
              <a:t> =</a:t>
            </a:r>
            <a:r>
              <a:rPr lang="en-AU" baseline="0" dirty="0" err="1"/>
              <a:t>m.a</a:t>
            </a: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a:t>
            </a:fld>
            <a:endParaRPr lang="en-AU"/>
          </a:p>
        </p:txBody>
      </p:sp>
    </p:spTree>
    <p:extLst>
      <p:ext uri="{BB962C8B-B14F-4D97-AF65-F5344CB8AC3E}">
        <p14:creationId xmlns:p14="http://schemas.microsoft.com/office/powerpoint/2010/main" val="3517182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The sum of KE and PE at any one time is always constant</a:t>
            </a:r>
          </a:p>
          <a:p>
            <a:r>
              <a:rPr lang="en-AU" dirty="0"/>
              <a:t>Calculate starting KE and PE</a:t>
            </a:r>
          </a:p>
          <a:p>
            <a:r>
              <a:rPr lang="en-AU" dirty="0"/>
              <a:t>As the projectile rises, the projectile gains PE and loses KE</a:t>
            </a:r>
          </a:p>
          <a:p>
            <a:r>
              <a:rPr lang="en-AU" dirty="0"/>
              <a:t>At the maximum height, the projectile has its maximum PE and minimum KE (zero velocity vertically)</a:t>
            </a:r>
          </a:p>
          <a:p>
            <a:r>
              <a:rPr lang="en-AU" dirty="0"/>
              <a:t>As the projectile falls, the projectile loses PE and gains KE.</a:t>
            </a:r>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2970693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err="1"/>
              <a:t>KE</a:t>
            </a:r>
            <a:r>
              <a:rPr lang="en-AU" baseline="-25000" dirty="0" err="1"/>
              <a:t>i</a:t>
            </a:r>
            <a:r>
              <a:rPr lang="en-AU" baseline="0" dirty="0"/>
              <a:t> = 6.25 J</a:t>
            </a:r>
          </a:p>
          <a:p>
            <a:r>
              <a:rPr lang="en-AU" baseline="0" dirty="0" err="1"/>
              <a:t>PEi</a:t>
            </a:r>
            <a:r>
              <a:rPr lang="en-AU" baseline="0" dirty="0"/>
              <a:t> = 7.35J</a:t>
            </a:r>
          </a:p>
          <a:p>
            <a:r>
              <a:rPr lang="en-AU" baseline="0" dirty="0"/>
              <a:t>Total mechanical energy (initial) = 13.6 J</a:t>
            </a:r>
          </a:p>
          <a:p>
            <a:r>
              <a:rPr lang="en-AU" dirty="0"/>
              <a:t>As it lands, PE = 0</a:t>
            </a:r>
          </a:p>
          <a:p>
            <a:r>
              <a:rPr lang="en-AU" dirty="0"/>
              <a:t>Therefore KE(final) = Total mechanical energy initial = 13.6 J</a:t>
            </a:r>
          </a:p>
          <a:p>
            <a:r>
              <a:rPr lang="en-AU" dirty="0"/>
              <a:t>v = 7.38 ms</a:t>
            </a:r>
            <a:r>
              <a:rPr lang="en-AU" baseline="30000" dirty="0"/>
              <a:t>-1</a:t>
            </a: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2098611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859069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Note the starting velocity is on an angle. Resolve this into the vertical and horizontal components using trigonometry. </a:t>
            </a:r>
          </a:p>
          <a:p>
            <a:r>
              <a:rPr lang="en-AU" b="0" dirty="0"/>
              <a:t>Draw free body diagram.</a:t>
            </a:r>
          </a:p>
          <a:p>
            <a:r>
              <a:rPr lang="en-AU" b="0" dirty="0"/>
              <a:t>Remember: horizontal velocity is constant because there is no net force in the horizontal direction.</a:t>
            </a:r>
          </a:p>
          <a:p>
            <a:r>
              <a:rPr lang="en-AU" b="0" dirty="0"/>
              <a:t>Question for students: show that the motion of the ball is symmetrical (assuming no air resistance)</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2653859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3401496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3019731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Calculate how long to fall to the ground (s = </a:t>
            </a:r>
            <a:r>
              <a:rPr lang="en-AU" dirty="0" err="1"/>
              <a:t>ut</a:t>
            </a:r>
            <a:r>
              <a:rPr lang="en-AU" dirty="0"/>
              <a:t> + ½ at</a:t>
            </a:r>
            <a:r>
              <a:rPr lang="en-AU" baseline="30000" dirty="0"/>
              <a:t>2</a:t>
            </a:r>
            <a:r>
              <a:rPr lang="en-AU" baseline="0" dirty="0"/>
              <a:t>) = 22.6s</a:t>
            </a:r>
          </a:p>
          <a:p>
            <a:r>
              <a:rPr lang="en-AU" baseline="0" dirty="0"/>
              <a:t>Calculate distance travelled in that time (v = s / t)  = 6780m</a:t>
            </a:r>
            <a:endParaRPr lang="en-AU" dirty="0"/>
          </a:p>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3160306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Calculate how long to fall to the ground (s = </a:t>
            </a:r>
            <a:r>
              <a:rPr lang="en-AU" dirty="0" err="1"/>
              <a:t>ut</a:t>
            </a:r>
            <a:r>
              <a:rPr lang="en-AU" dirty="0"/>
              <a:t> + ½ at</a:t>
            </a:r>
            <a:r>
              <a:rPr lang="en-AU" baseline="30000" dirty="0"/>
              <a:t>2</a:t>
            </a:r>
            <a:r>
              <a:rPr lang="en-AU" baseline="0" dirty="0"/>
              <a:t>) = 22.6s</a:t>
            </a:r>
          </a:p>
          <a:p>
            <a:r>
              <a:rPr lang="en-AU" baseline="0" dirty="0"/>
              <a:t>Calculate distance travelled in that time (v = s / t)  = 6780m</a:t>
            </a:r>
            <a:endParaRPr lang="en-AU" dirty="0"/>
          </a:p>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1991029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AU" dirty="0"/>
              <a:t>Draw the initial velocity and resolve it into its vector components</a:t>
            </a:r>
          </a:p>
          <a:p>
            <a:pPr marL="228600" indent="-228600">
              <a:buAutoNum type="alphaLcParenR"/>
            </a:pPr>
            <a:endParaRPr lang="en-AU" dirty="0"/>
          </a:p>
          <a:p>
            <a:pPr marL="228600" indent="-228600">
              <a:buAutoNum type="alphaLcParenR"/>
            </a:pPr>
            <a:r>
              <a:rPr lang="en-AU" dirty="0" err="1"/>
              <a:t>V</a:t>
            </a:r>
            <a:r>
              <a:rPr lang="en-AU" baseline="-25000" dirty="0" err="1"/>
              <a:t>v</a:t>
            </a:r>
            <a:r>
              <a:rPr lang="en-AU" baseline="0" dirty="0"/>
              <a:t> = 0 at the peak of the path</a:t>
            </a:r>
          </a:p>
          <a:p>
            <a:pPr marL="0" indent="0">
              <a:buNone/>
            </a:pPr>
            <a:r>
              <a:rPr lang="en-AU" baseline="0" dirty="0"/>
              <a:t>v = u + at   </a:t>
            </a:r>
            <a:br>
              <a:rPr lang="en-AU" baseline="0" dirty="0"/>
            </a:br>
            <a:r>
              <a:rPr lang="en-AU" baseline="0" dirty="0"/>
              <a:t>u = 45sin(32)</a:t>
            </a:r>
            <a:br>
              <a:rPr lang="en-AU" baseline="0" dirty="0"/>
            </a:br>
            <a:r>
              <a:rPr lang="en-AU" baseline="0" dirty="0"/>
              <a:t>solve for t: t = 2.43s</a:t>
            </a:r>
          </a:p>
          <a:p>
            <a:pPr marL="0" indent="0">
              <a:buNone/>
            </a:pPr>
            <a:r>
              <a:rPr lang="en-AU" baseline="0" dirty="0"/>
              <a:t>b) s= ut+0.5at</a:t>
            </a:r>
            <a:r>
              <a:rPr lang="en-AU" baseline="30000" dirty="0"/>
              <a:t>2</a:t>
            </a:r>
            <a:r>
              <a:rPr lang="en-AU" baseline="0" dirty="0"/>
              <a:t> (where t = 2.43s). s = 29.0m</a:t>
            </a:r>
          </a:p>
          <a:p>
            <a:pPr marL="0" indent="0">
              <a:buNone/>
            </a:pPr>
            <a:r>
              <a:rPr lang="en-AU" baseline="0" dirty="0"/>
              <a:t>c) </a:t>
            </a:r>
            <a:r>
              <a:rPr lang="en-AU" baseline="0" dirty="0" err="1"/>
              <a:t>s</a:t>
            </a:r>
            <a:r>
              <a:rPr lang="en-AU" baseline="-25000" dirty="0" err="1"/>
              <a:t>h</a:t>
            </a:r>
            <a:r>
              <a:rPr lang="en-AU" baseline="0" dirty="0"/>
              <a:t> = u</a:t>
            </a:r>
            <a:r>
              <a:rPr lang="en-AU" baseline="-25000" dirty="0"/>
              <a:t>h</a:t>
            </a:r>
            <a:r>
              <a:rPr lang="en-AU" baseline="0" dirty="0"/>
              <a:t> t  where t = 2.43s * 2  (as the motion is symmetrical)</a:t>
            </a:r>
          </a:p>
          <a:p>
            <a:pPr marL="0" indent="0">
              <a:buNone/>
            </a:pPr>
            <a:r>
              <a:rPr lang="en-AU" baseline="0" dirty="0"/>
              <a:t>s = 186m</a:t>
            </a: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a:p>
        </p:txBody>
      </p:sp>
    </p:spTree>
    <p:extLst>
      <p:ext uri="{BB962C8B-B14F-4D97-AF65-F5344CB8AC3E}">
        <p14:creationId xmlns:p14="http://schemas.microsoft.com/office/powerpoint/2010/main" val="2098611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AU" dirty="0"/>
              <a:t>Draw the initial velocity and resolve it into its vector components</a:t>
            </a:r>
          </a:p>
          <a:p>
            <a:pPr marL="228600" indent="-228600">
              <a:buAutoNum type="alphaLcParenR"/>
            </a:pPr>
            <a:endParaRPr lang="en-AU" dirty="0"/>
          </a:p>
          <a:p>
            <a:pPr marL="228600" indent="-228600">
              <a:buAutoNum type="alphaLcParenR"/>
            </a:pPr>
            <a:r>
              <a:rPr lang="en-AU" dirty="0" err="1"/>
              <a:t>V</a:t>
            </a:r>
            <a:r>
              <a:rPr lang="en-AU" baseline="-25000" dirty="0" err="1"/>
              <a:t>v</a:t>
            </a:r>
            <a:r>
              <a:rPr lang="en-AU" baseline="0" dirty="0"/>
              <a:t> = 0 at the peak of the path</a:t>
            </a:r>
          </a:p>
          <a:p>
            <a:pPr marL="0" indent="0">
              <a:buNone/>
            </a:pPr>
            <a:r>
              <a:rPr lang="en-AU" baseline="0" dirty="0"/>
              <a:t>v = u + at   </a:t>
            </a:r>
            <a:br>
              <a:rPr lang="en-AU" baseline="0" dirty="0"/>
            </a:br>
            <a:r>
              <a:rPr lang="en-AU" baseline="0" dirty="0"/>
              <a:t>u = 45sin(32)</a:t>
            </a:r>
            <a:br>
              <a:rPr lang="en-AU" baseline="0" dirty="0"/>
            </a:br>
            <a:r>
              <a:rPr lang="en-AU" baseline="0" dirty="0"/>
              <a:t>solve for t: t = 2.43s</a:t>
            </a:r>
          </a:p>
          <a:p>
            <a:pPr marL="0" indent="0">
              <a:buNone/>
            </a:pPr>
            <a:r>
              <a:rPr lang="en-AU" baseline="0" dirty="0"/>
              <a:t>b) s= ut+0.5at</a:t>
            </a:r>
            <a:r>
              <a:rPr lang="en-AU" baseline="30000" dirty="0"/>
              <a:t>2</a:t>
            </a:r>
            <a:r>
              <a:rPr lang="en-AU" baseline="0" dirty="0"/>
              <a:t> (where t = 2.43s). s = 29.0m</a:t>
            </a:r>
          </a:p>
          <a:p>
            <a:pPr marL="0" indent="0">
              <a:buNone/>
            </a:pPr>
            <a:r>
              <a:rPr lang="en-AU" baseline="0" dirty="0"/>
              <a:t>c) </a:t>
            </a:r>
            <a:r>
              <a:rPr lang="en-AU" baseline="0" dirty="0" err="1"/>
              <a:t>s</a:t>
            </a:r>
            <a:r>
              <a:rPr lang="en-AU" baseline="-25000" dirty="0" err="1"/>
              <a:t>h</a:t>
            </a:r>
            <a:r>
              <a:rPr lang="en-AU" baseline="0" dirty="0"/>
              <a:t> = u</a:t>
            </a:r>
            <a:r>
              <a:rPr lang="en-AU" baseline="-25000" dirty="0"/>
              <a:t>h</a:t>
            </a:r>
            <a:r>
              <a:rPr lang="en-AU" baseline="0" dirty="0"/>
              <a:t> t  where t = 2.43s * 2  (as the motion is symmetrical)</a:t>
            </a:r>
          </a:p>
          <a:p>
            <a:pPr marL="0" indent="0">
              <a:buNone/>
            </a:pPr>
            <a:r>
              <a:rPr lang="en-AU" baseline="0" dirty="0"/>
              <a:t>s = 186m</a:t>
            </a: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1221785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14</a:t>
            </a:fld>
            <a:endParaRPr lang="en-AU"/>
          </a:p>
        </p:txBody>
      </p:sp>
    </p:spTree>
    <p:extLst>
      <p:ext uri="{BB962C8B-B14F-4D97-AF65-F5344CB8AC3E}">
        <p14:creationId xmlns:p14="http://schemas.microsoft.com/office/powerpoint/2010/main" val="2502474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15</a:t>
            </a:fld>
            <a:endParaRPr lang="en-AU"/>
          </a:p>
        </p:txBody>
      </p:sp>
    </p:spTree>
    <p:extLst>
      <p:ext uri="{BB962C8B-B14F-4D97-AF65-F5344CB8AC3E}">
        <p14:creationId xmlns:p14="http://schemas.microsoft.com/office/powerpoint/2010/main" val="42588298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a:p>
        </p:txBody>
      </p:sp>
    </p:spTree>
    <p:extLst>
      <p:ext uri="{BB962C8B-B14F-4D97-AF65-F5344CB8AC3E}">
        <p14:creationId xmlns:p14="http://schemas.microsoft.com/office/powerpoint/2010/main" val="3461964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hyperlink" Target="https://phet.colorado.edu/sims/html/projectile-motion/latest/projectile-motion_en.html" TargetMode="External"/><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8.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1.xml"/><Relationship Id="rId1" Type="http://schemas.openxmlformats.org/officeDocument/2006/relationships/slideLayout" Target="../slideLayouts/slideLayout14.xml"/><Relationship Id="rId5" Type="http://schemas.openxmlformats.org/officeDocument/2006/relationships/image" Target="../media/image15.sv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8" Type="http://schemas.openxmlformats.org/officeDocument/2006/relationships/hyperlink" Target="https://virtualtrebuchet.com/" TargetMode="External"/><Relationship Id="rId3" Type="http://schemas.openxmlformats.org/officeDocument/2006/relationships/hyperlink" Target="https://www.youtube.com/watch?v=cs8gamnMIS0&amp;ab_channel=SmithsonianChannel" TargetMode="External"/><Relationship Id="rId7" Type="http://schemas.openxmlformats.org/officeDocument/2006/relationships/hyperlink" Target="https://ophysics.com/k9.html" TargetMode="External"/><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hyperlink" Target="https://ophysics.com/k8.html" TargetMode="External"/><Relationship Id="rId5" Type="http://schemas.openxmlformats.org/officeDocument/2006/relationships/hyperlink" Target="https://sigmazone.com/catapult/" TargetMode="External"/><Relationship Id="rId4" Type="http://schemas.openxmlformats.org/officeDocument/2006/relationships/hyperlink" Target="https://www.youtube.com/watch?v=9-Hwxw4fgqk&amp;ab_channel=ScienceChanne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objects on inclined planes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Friction</a:t>
            </a:r>
          </a:p>
        </p:txBody>
      </p:sp>
      <p:sp>
        <p:nvSpPr>
          <p:cNvPr id="5" name="Rectangle 4">
            <a:extLst>
              <a:ext uri="{FF2B5EF4-FFF2-40B4-BE49-F238E27FC236}">
                <a16:creationId xmlns:a16="http://schemas.microsoft.com/office/drawing/2014/main" id="{0D2E6733-A021-457C-A588-F57EDB50F901}"/>
              </a:ext>
            </a:extLst>
          </p:cNvPr>
          <p:cNvSpPr/>
          <p:nvPr/>
        </p:nvSpPr>
        <p:spPr>
          <a:xfrm>
            <a:off x="0" y="6436401"/>
            <a:ext cx="12191999" cy="1439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04234" y="4196352"/>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12" name="Picture 11">
            <a:extLst>
              <a:ext uri="{FF2B5EF4-FFF2-40B4-BE49-F238E27FC236}">
                <a16:creationId xmlns:a16="http://schemas.microsoft.com/office/drawing/2014/main" id="{2BD13CB8-0EA3-41C0-8C5A-5D7C4E6B1609}"/>
              </a:ext>
            </a:extLst>
          </p:cNvPr>
          <p:cNvPicPr>
            <a:picLocks noChangeAspect="1"/>
          </p:cNvPicPr>
          <p:nvPr/>
        </p:nvPicPr>
        <p:blipFill>
          <a:blip r:embed="rId3"/>
          <a:stretch>
            <a:fillRect/>
          </a:stretch>
        </p:blipFill>
        <p:spPr>
          <a:xfrm>
            <a:off x="1154369" y="991191"/>
            <a:ext cx="9883260" cy="4671686"/>
          </a:xfrm>
          <a:prstGeom prst="rect">
            <a:avLst/>
          </a:prstGeom>
        </p:spPr>
      </p:pic>
      <p:sp>
        <p:nvSpPr>
          <p:cNvPr id="25" name="Text Placeholder 3">
            <a:extLst>
              <a:ext uri="{FF2B5EF4-FFF2-40B4-BE49-F238E27FC236}">
                <a16:creationId xmlns:a16="http://schemas.microsoft.com/office/drawing/2014/main" id="{21FF5FA6-1D93-4BBE-9757-A85FC596FE23}"/>
              </a:ext>
            </a:extLst>
          </p:cNvPr>
          <p:cNvSpPr txBox="1">
            <a:spLocks/>
          </p:cNvSpPr>
          <p:nvPr/>
        </p:nvSpPr>
        <p:spPr>
          <a:xfrm>
            <a:off x="8473042" y="2331980"/>
            <a:ext cx="298614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600" b="0" dirty="0"/>
              <a:t>Assume truck starts from rest</a:t>
            </a:r>
          </a:p>
          <a:p>
            <a:endParaRPr lang="en-AU" b="0" dirty="0"/>
          </a:p>
        </p:txBody>
      </p:sp>
    </p:spTree>
    <p:extLst>
      <p:ext uri="{BB962C8B-B14F-4D97-AF65-F5344CB8AC3E}">
        <p14:creationId xmlns:p14="http://schemas.microsoft.com/office/powerpoint/2010/main" val="1463559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analyse the motion of projectiles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AU" sz="1800" b="0" dirty="0"/>
              <a:t>I can use conservation of energy to analyse motion of a projectile</a:t>
            </a:r>
          </a:p>
          <a:p>
            <a:pPr marL="457200" indent="-457200">
              <a:buFont typeface="Arial" panose="020B0604020202020204" pitchFamily="34" charset="0"/>
              <a:buChar char="•"/>
            </a:pPr>
            <a:r>
              <a:rPr lang="en-AU" sz="1800" b="0" dirty="0"/>
              <a:t>I can analyse motion of projectiles launched obliquely</a:t>
            </a:r>
          </a:p>
          <a:p>
            <a:endParaRPr lang="en-AU" sz="1800" b="0" dirty="0"/>
          </a:p>
        </p:txBody>
      </p:sp>
    </p:spTree>
    <p:extLst>
      <p:ext uri="{BB962C8B-B14F-4D97-AF65-F5344CB8AC3E}">
        <p14:creationId xmlns:p14="http://schemas.microsoft.com/office/powerpoint/2010/main" val="2311140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Energy conservation</a:t>
            </a:r>
          </a:p>
        </p:txBody>
      </p:sp>
      <p:cxnSp>
        <p:nvCxnSpPr>
          <p:cNvPr id="8" name="Straight Arrow Connector 7">
            <a:extLst>
              <a:ext uri="{FF2B5EF4-FFF2-40B4-BE49-F238E27FC236}">
                <a16:creationId xmlns:a16="http://schemas.microsoft.com/office/drawing/2014/main" id="{2D7BD34E-EC81-436D-B609-29ABFCB07012}"/>
              </a:ext>
            </a:extLst>
          </p:cNvPr>
          <p:cNvCxnSpPr>
            <a:cxnSpLocks/>
          </p:cNvCxnSpPr>
          <p:nvPr/>
        </p:nvCxnSpPr>
        <p:spPr>
          <a:xfrm>
            <a:off x="975029" y="2792299"/>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0D2E6733-A021-457C-A588-F57EDB50F901}"/>
              </a:ext>
            </a:extLst>
          </p:cNvPr>
          <p:cNvSpPr/>
          <p:nvPr/>
        </p:nvSpPr>
        <p:spPr>
          <a:xfrm>
            <a:off x="0" y="6436401"/>
            <a:ext cx="12191999" cy="1439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04234" y="4196352"/>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60" name="Picture 2" descr="Line, Curved | ClipArt ETC">
            <a:extLst>
              <a:ext uri="{FF2B5EF4-FFF2-40B4-BE49-F238E27FC236}">
                <a16:creationId xmlns:a16="http://schemas.microsoft.com/office/drawing/2014/main" id="{CA216281-DEAD-431A-B36E-CA7A900252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725"/>
          <a:stretch/>
        </p:blipFill>
        <p:spPr bwMode="auto">
          <a:xfrm flipH="1">
            <a:off x="867005" y="2723030"/>
            <a:ext cx="5416317" cy="3713371"/>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Line, Curved | ClipArt ETC">
            <a:extLst>
              <a:ext uri="{FF2B5EF4-FFF2-40B4-BE49-F238E27FC236}">
                <a16:creationId xmlns:a16="http://schemas.microsoft.com/office/drawing/2014/main" id="{408922E1-12BF-467F-8775-6D025DDF75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725"/>
          <a:stretch/>
        </p:blipFill>
        <p:spPr bwMode="auto">
          <a:xfrm>
            <a:off x="6283322" y="2723030"/>
            <a:ext cx="5416317" cy="3713371"/>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3BAC0CD5-3FEE-4E83-89DD-68AA717B3C3F}"/>
              </a:ext>
            </a:extLst>
          </p:cNvPr>
          <p:cNvSpPr/>
          <p:nvPr/>
        </p:nvSpPr>
        <p:spPr>
          <a:xfrm>
            <a:off x="789105" y="5997283"/>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5" name="Oval 64">
            <a:extLst>
              <a:ext uri="{FF2B5EF4-FFF2-40B4-BE49-F238E27FC236}">
                <a16:creationId xmlns:a16="http://schemas.microsoft.com/office/drawing/2014/main" id="{AB574E75-9D67-4162-99F3-DF9C27A0D3CE}"/>
              </a:ext>
            </a:extLst>
          </p:cNvPr>
          <p:cNvSpPr/>
          <p:nvPr/>
        </p:nvSpPr>
        <p:spPr>
          <a:xfrm>
            <a:off x="1884480" y="4358837"/>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9" name="Oval 68">
            <a:extLst>
              <a:ext uri="{FF2B5EF4-FFF2-40B4-BE49-F238E27FC236}">
                <a16:creationId xmlns:a16="http://schemas.microsoft.com/office/drawing/2014/main" id="{A2EF8CE2-AEB1-4D0C-8511-7F2178E24C8E}"/>
              </a:ext>
            </a:extLst>
          </p:cNvPr>
          <p:cNvSpPr/>
          <p:nvPr/>
        </p:nvSpPr>
        <p:spPr>
          <a:xfrm>
            <a:off x="3464113" y="3115412"/>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3" name="Oval 72">
            <a:extLst>
              <a:ext uri="{FF2B5EF4-FFF2-40B4-BE49-F238E27FC236}">
                <a16:creationId xmlns:a16="http://schemas.microsoft.com/office/drawing/2014/main" id="{102D4D2F-5153-421A-9A55-1C68678001F3}"/>
              </a:ext>
            </a:extLst>
          </p:cNvPr>
          <p:cNvSpPr/>
          <p:nvPr/>
        </p:nvSpPr>
        <p:spPr>
          <a:xfrm>
            <a:off x="5953196" y="2498049"/>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Oval 74">
            <a:extLst>
              <a:ext uri="{FF2B5EF4-FFF2-40B4-BE49-F238E27FC236}">
                <a16:creationId xmlns:a16="http://schemas.microsoft.com/office/drawing/2014/main" id="{9F518983-FBA3-4B93-9506-E254AD451406}"/>
              </a:ext>
            </a:extLst>
          </p:cNvPr>
          <p:cNvSpPr/>
          <p:nvPr/>
        </p:nvSpPr>
        <p:spPr>
          <a:xfrm>
            <a:off x="8543685" y="3029127"/>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7" name="Oval 76">
            <a:extLst>
              <a:ext uri="{FF2B5EF4-FFF2-40B4-BE49-F238E27FC236}">
                <a16:creationId xmlns:a16="http://schemas.microsoft.com/office/drawing/2014/main" id="{DEDD4F3F-A508-40EE-8ADD-AAD59D8E0D74}"/>
              </a:ext>
            </a:extLst>
          </p:cNvPr>
          <p:cNvSpPr/>
          <p:nvPr/>
        </p:nvSpPr>
        <p:spPr>
          <a:xfrm>
            <a:off x="10088445" y="4227014"/>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8" name="Oval 77">
            <a:extLst>
              <a:ext uri="{FF2B5EF4-FFF2-40B4-BE49-F238E27FC236}">
                <a16:creationId xmlns:a16="http://schemas.microsoft.com/office/drawing/2014/main" id="{25AF254C-DCA0-4B4D-BD01-5DDA01A99CB2}"/>
              </a:ext>
            </a:extLst>
          </p:cNvPr>
          <p:cNvSpPr/>
          <p:nvPr/>
        </p:nvSpPr>
        <p:spPr>
          <a:xfrm>
            <a:off x="11361854" y="6070201"/>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Arrow Connector 9">
            <a:extLst>
              <a:ext uri="{FF2B5EF4-FFF2-40B4-BE49-F238E27FC236}">
                <a16:creationId xmlns:a16="http://schemas.microsoft.com/office/drawing/2014/main" id="{E4187C1D-CEDE-4238-A61A-C4A1AB28BB48}"/>
              </a:ext>
            </a:extLst>
          </p:cNvPr>
          <p:cNvCxnSpPr>
            <a:cxnSpLocks/>
          </p:cNvCxnSpPr>
          <p:nvPr/>
        </p:nvCxnSpPr>
        <p:spPr>
          <a:xfrm flipV="1">
            <a:off x="534107" y="5576311"/>
            <a:ext cx="440922" cy="66917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In addition to using the equations of motion to analyse projectile use, you can use the principle of the </a:t>
            </a:r>
            <a:r>
              <a:rPr lang="en-AU" sz="2400" b="0" u="sng" dirty="0"/>
              <a:t>conservation of energy</a:t>
            </a:r>
            <a:r>
              <a:rPr lang="en-AU" sz="2400" b="0" dirty="0"/>
              <a:t>. Specifically, the sum of the kinetic and potential energies is always constant (assuming no air resistance).</a:t>
            </a:r>
          </a:p>
          <a:p>
            <a:endParaRPr lang="en-AU" b="0" dirty="0"/>
          </a:p>
        </p:txBody>
      </p:sp>
    </p:spTree>
    <p:extLst>
      <p:ext uri="{BB962C8B-B14F-4D97-AF65-F5344CB8AC3E}">
        <p14:creationId xmlns:p14="http://schemas.microsoft.com/office/powerpoint/2010/main" val="247804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Energy conservation</a:t>
            </a:r>
          </a:p>
        </p:txBody>
      </p:sp>
      <p:sp>
        <p:nvSpPr>
          <p:cNvPr id="10" name="Text Placeholder 3">
            <a:extLst>
              <a:ext uri="{FF2B5EF4-FFF2-40B4-BE49-F238E27FC236}">
                <a16:creationId xmlns:a16="http://schemas.microsoft.com/office/drawing/2014/main" id="{E83483B6-4A52-4455-9828-956B65FDA907}"/>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A ball of mass 500g is tossed horizontally at 5.00 m s</a:t>
            </a:r>
            <a:r>
              <a:rPr lang="en-AU" sz="2400" b="0" baseline="30000" dirty="0"/>
              <a:t>-1</a:t>
            </a:r>
            <a:r>
              <a:rPr lang="en-AU" sz="2400" b="0" dirty="0"/>
              <a:t> from a height of 1.50m.</a:t>
            </a:r>
          </a:p>
          <a:p>
            <a:r>
              <a:rPr lang="en-AU" sz="2400" b="0" dirty="0"/>
              <a:t>Using 9.80 m s</a:t>
            </a:r>
            <a:r>
              <a:rPr lang="en-AU" sz="2400" b="0" baseline="30000" dirty="0"/>
              <a:t>-2</a:t>
            </a:r>
            <a:r>
              <a:rPr lang="en-AU" sz="2400" b="0" dirty="0"/>
              <a:t> and ignoring air resistance, calculate the speed of the ball as it lands. </a:t>
            </a:r>
          </a:p>
          <a:p>
            <a:endParaRPr lang="en-AU" b="0" dirty="0"/>
          </a:p>
        </p:txBody>
      </p:sp>
    </p:spTree>
    <p:extLst>
      <p:ext uri="{BB962C8B-B14F-4D97-AF65-F5344CB8AC3E}">
        <p14:creationId xmlns:p14="http://schemas.microsoft.com/office/powerpoint/2010/main" val="4005313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analyse the motion of projectiles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AU" sz="1800" b="0" dirty="0"/>
              <a:t>I can use conservation of energy to analyse motion of a projectile</a:t>
            </a:r>
          </a:p>
          <a:p>
            <a:pPr marL="457200" indent="-457200">
              <a:buFont typeface="Arial" panose="020B0604020202020204" pitchFamily="34" charset="0"/>
              <a:buChar char="•"/>
            </a:pPr>
            <a:r>
              <a:rPr lang="en-AU" sz="1800" b="0" dirty="0"/>
              <a:t>I can analyse motion of projectiles launched obliquely</a:t>
            </a:r>
          </a:p>
          <a:p>
            <a:endParaRPr lang="en-AU" sz="1800" b="0" dirty="0"/>
          </a:p>
        </p:txBody>
      </p:sp>
    </p:spTree>
    <p:extLst>
      <p:ext uri="{BB962C8B-B14F-4D97-AF65-F5344CB8AC3E}">
        <p14:creationId xmlns:p14="http://schemas.microsoft.com/office/powerpoint/2010/main" val="2339610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obliquely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04234" y="4196352"/>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Text Placeholder 3">
            <a:extLst>
              <a:ext uri="{FF2B5EF4-FFF2-40B4-BE49-F238E27FC236}">
                <a16:creationId xmlns:a16="http://schemas.microsoft.com/office/drawing/2014/main" id="{DA970B67-4BC2-A221-E5AD-A4073DA1023E}"/>
              </a:ext>
            </a:extLst>
          </p:cNvPr>
          <p:cNvSpPr txBox="1">
            <a:spLocks/>
          </p:cNvSpPr>
          <p:nvPr/>
        </p:nvSpPr>
        <p:spPr>
          <a:xfrm>
            <a:off x="367267" y="11600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So far, we’ve been focusing on projectiles launched horizontally. Now, we will start to look at projectiles launched at an angle to the horizontal (known as ‘obliquely’).</a:t>
            </a:r>
          </a:p>
          <a:p>
            <a:endParaRPr lang="en-AU" sz="2400" b="0" dirty="0"/>
          </a:p>
          <a:p>
            <a:r>
              <a:rPr lang="en-AU" sz="2400" b="0" dirty="0"/>
              <a:t>This covers more real-life scenarios, as most things are not perfectly horizontal. Examples:</a:t>
            </a:r>
          </a:p>
          <a:p>
            <a:pPr marL="1028700" lvl="1" indent="-342900"/>
            <a:r>
              <a:rPr lang="en-AU" sz="2000" dirty="0"/>
              <a:t>Kicking a football</a:t>
            </a:r>
          </a:p>
          <a:p>
            <a:pPr marL="1028700" lvl="1" indent="-342900"/>
            <a:r>
              <a:rPr lang="en-AU" sz="2000" b="0" dirty="0"/>
              <a:t>Firing a cannon or gun at any angle other than horizontal</a:t>
            </a:r>
          </a:p>
          <a:p>
            <a:pPr marL="1028700" lvl="1" indent="-342900"/>
            <a:r>
              <a:rPr lang="en-AU" sz="2000" dirty="0"/>
              <a:t>Water coming out of a hose</a:t>
            </a:r>
          </a:p>
          <a:p>
            <a:pPr marL="1028700" lvl="1" indent="-342900"/>
            <a:r>
              <a:rPr lang="en-AU" sz="2000" b="0" dirty="0"/>
              <a:t>Sneezing</a:t>
            </a:r>
          </a:p>
          <a:p>
            <a:pPr marL="1028700" lvl="1" indent="-342900"/>
            <a:r>
              <a:rPr lang="en-AU" sz="2000" dirty="0"/>
              <a:t>Playing basketball</a:t>
            </a:r>
            <a:endParaRPr lang="en-AU" sz="2000" b="0" dirty="0"/>
          </a:p>
          <a:p>
            <a:endParaRPr lang="en-AU" b="0" dirty="0"/>
          </a:p>
        </p:txBody>
      </p:sp>
    </p:spTree>
    <p:extLst>
      <p:ext uri="{BB962C8B-B14F-4D97-AF65-F5344CB8AC3E}">
        <p14:creationId xmlns:p14="http://schemas.microsoft.com/office/powerpoint/2010/main" val="3089821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obliquely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cxnSp>
        <p:nvCxnSpPr>
          <p:cNvPr id="8" name="Straight Arrow Connector 7">
            <a:extLst>
              <a:ext uri="{FF2B5EF4-FFF2-40B4-BE49-F238E27FC236}">
                <a16:creationId xmlns:a16="http://schemas.microsoft.com/office/drawing/2014/main" id="{2D7BD34E-EC81-436D-B609-29ABFCB07012}"/>
              </a:ext>
            </a:extLst>
          </p:cNvPr>
          <p:cNvCxnSpPr>
            <a:cxnSpLocks/>
          </p:cNvCxnSpPr>
          <p:nvPr/>
        </p:nvCxnSpPr>
        <p:spPr>
          <a:xfrm>
            <a:off x="975029" y="2792299"/>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0D2E6733-A021-457C-A588-F57EDB50F901}"/>
              </a:ext>
            </a:extLst>
          </p:cNvPr>
          <p:cNvSpPr/>
          <p:nvPr/>
        </p:nvSpPr>
        <p:spPr>
          <a:xfrm>
            <a:off x="0" y="6436401"/>
            <a:ext cx="12191999" cy="1439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04234" y="4196352"/>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60" name="Picture 2" descr="Line, Curved | ClipArt ETC">
            <a:extLst>
              <a:ext uri="{FF2B5EF4-FFF2-40B4-BE49-F238E27FC236}">
                <a16:creationId xmlns:a16="http://schemas.microsoft.com/office/drawing/2014/main" id="{CA216281-DEAD-431A-B36E-CA7A900252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725"/>
          <a:stretch/>
        </p:blipFill>
        <p:spPr bwMode="auto">
          <a:xfrm flipH="1">
            <a:off x="867005" y="2723030"/>
            <a:ext cx="5416317" cy="3713371"/>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Line, Curved | ClipArt ETC">
            <a:extLst>
              <a:ext uri="{FF2B5EF4-FFF2-40B4-BE49-F238E27FC236}">
                <a16:creationId xmlns:a16="http://schemas.microsoft.com/office/drawing/2014/main" id="{408922E1-12BF-467F-8775-6D025DDF75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725"/>
          <a:stretch/>
        </p:blipFill>
        <p:spPr bwMode="auto">
          <a:xfrm>
            <a:off x="6283322" y="2723030"/>
            <a:ext cx="5416317" cy="3713371"/>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3BAC0CD5-3FEE-4E83-89DD-68AA717B3C3F}"/>
              </a:ext>
            </a:extLst>
          </p:cNvPr>
          <p:cNvSpPr/>
          <p:nvPr/>
        </p:nvSpPr>
        <p:spPr>
          <a:xfrm>
            <a:off x="789105" y="5997283"/>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5" name="Oval 64">
            <a:extLst>
              <a:ext uri="{FF2B5EF4-FFF2-40B4-BE49-F238E27FC236}">
                <a16:creationId xmlns:a16="http://schemas.microsoft.com/office/drawing/2014/main" id="{AB574E75-9D67-4162-99F3-DF9C27A0D3CE}"/>
              </a:ext>
            </a:extLst>
          </p:cNvPr>
          <p:cNvSpPr/>
          <p:nvPr/>
        </p:nvSpPr>
        <p:spPr>
          <a:xfrm>
            <a:off x="1884480" y="4358837"/>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9" name="Oval 68">
            <a:extLst>
              <a:ext uri="{FF2B5EF4-FFF2-40B4-BE49-F238E27FC236}">
                <a16:creationId xmlns:a16="http://schemas.microsoft.com/office/drawing/2014/main" id="{A2EF8CE2-AEB1-4D0C-8511-7F2178E24C8E}"/>
              </a:ext>
            </a:extLst>
          </p:cNvPr>
          <p:cNvSpPr/>
          <p:nvPr/>
        </p:nvSpPr>
        <p:spPr>
          <a:xfrm>
            <a:off x="3464113" y="3115412"/>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3" name="Oval 72">
            <a:extLst>
              <a:ext uri="{FF2B5EF4-FFF2-40B4-BE49-F238E27FC236}">
                <a16:creationId xmlns:a16="http://schemas.microsoft.com/office/drawing/2014/main" id="{102D4D2F-5153-421A-9A55-1C68678001F3}"/>
              </a:ext>
            </a:extLst>
          </p:cNvPr>
          <p:cNvSpPr/>
          <p:nvPr/>
        </p:nvSpPr>
        <p:spPr>
          <a:xfrm>
            <a:off x="5953196" y="2498049"/>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Oval 74">
            <a:extLst>
              <a:ext uri="{FF2B5EF4-FFF2-40B4-BE49-F238E27FC236}">
                <a16:creationId xmlns:a16="http://schemas.microsoft.com/office/drawing/2014/main" id="{9F518983-FBA3-4B93-9506-E254AD451406}"/>
              </a:ext>
            </a:extLst>
          </p:cNvPr>
          <p:cNvSpPr/>
          <p:nvPr/>
        </p:nvSpPr>
        <p:spPr>
          <a:xfrm>
            <a:off x="8543685" y="3029127"/>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7" name="Oval 76">
            <a:extLst>
              <a:ext uri="{FF2B5EF4-FFF2-40B4-BE49-F238E27FC236}">
                <a16:creationId xmlns:a16="http://schemas.microsoft.com/office/drawing/2014/main" id="{DEDD4F3F-A508-40EE-8ADD-AAD59D8E0D74}"/>
              </a:ext>
            </a:extLst>
          </p:cNvPr>
          <p:cNvSpPr/>
          <p:nvPr/>
        </p:nvSpPr>
        <p:spPr>
          <a:xfrm>
            <a:off x="10088445" y="4227014"/>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8" name="Oval 77">
            <a:extLst>
              <a:ext uri="{FF2B5EF4-FFF2-40B4-BE49-F238E27FC236}">
                <a16:creationId xmlns:a16="http://schemas.microsoft.com/office/drawing/2014/main" id="{25AF254C-DCA0-4B4D-BD01-5DDA01A99CB2}"/>
              </a:ext>
            </a:extLst>
          </p:cNvPr>
          <p:cNvSpPr/>
          <p:nvPr/>
        </p:nvSpPr>
        <p:spPr>
          <a:xfrm>
            <a:off x="11361854" y="6070201"/>
            <a:ext cx="438150" cy="438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Arrow Connector 9">
            <a:extLst>
              <a:ext uri="{FF2B5EF4-FFF2-40B4-BE49-F238E27FC236}">
                <a16:creationId xmlns:a16="http://schemas.microsoft.com/office/drawing/2014/main" id="{E4187C1D-CEDE-4238-A61A-C4A1AB28BB48}"/>
              </a:ext>
            </a:extLst>
          </p:cNvPr>
          <p:cNvCxnSpPr>
            <a:cxnSpLocks/>
          </p:cNvCxnSpPr>
          <p:nvPr/>
        </p:nvCxnSpPr>
        <p:spPr>
          <a:xfrm flipV="1">
            <a:off x="534107" y="5576311"/>
            <a:ext cx="440922" cy="66917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Text Placeholder 3">
            <a:extLst>
              <a:ext uri="{FF2B5EF4-FFF2-40B4-BE49-F238E27FC236}">
                <a16:creationId xmlns:a16="http://schemas.microsoft.com/office/drawing/2014/main" id="{25DA066A-FE8D-3C8B-FC2F-BB71B4202C8E}"/>
              </a:ext>
            </a:extLst>
          </p:cNvPr>
          <p:cNvSpPr txBox="1">
            <a:spLocks/>
          </p:cNvSpPr>
          <p:nvPr/>
        </p:nvSpPr>
        <p:spPr>
          <a:xfrm>
            <a:off x="214867" y="1003043"/>
            <a:ext cx="5881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At each location:</a:t>
            </a:r>
          </a:p>
          <a:p>
            <a:pPr marL="457200" indent="-457200">
              <a:buFont typeface="Arial" panose="020B0604020202020204" pitchFamily="34" charset="0"/>
              <a:buChar char="•"/>
            </a:pPr>
            <a:r>
              <a:rPr lang="en-AU" sz="2000" b="0" dirty="0"/>
              <a:t>Draw a free body diagram</a:t>
            </a:r>
          </a:p>
          <a:p>
            <a:pPr marL="457200" indent="-457200">
              <a:buFont typeface="Arial" panose="020B0604020202020204" pitchFamily="34" charset="0"/>
              <a:buChar char="•"/>
            </a:pPr>
            <a:r>
              <a:rPr lang="en-AU" sz="2000" b="0" dirty="0"/>
              <a:t>Draw the acceleration vector</a:t>
            </a:r>
          </a:p>
          <a:p>
            <a:pPr marL="457200" indent="-457200">
              <a:buFont typeface="Arial" panose="020B0604020202020204" pitchFamily="34" charset="0"/>
              <a:buChar char="•"/>
            </a:pPr>
            <a:r>
              <a:rPr lang="en-AU" sz="2000" b="0" dirty="0"/>
              <a:t>Draw the vertical and horizontal velocities</a:t>
            </a:r>
          </a:p>
        </p:txBody>
      </p:sp>
      <p:sp>
        <p:nvSpPr>
          <p:cNvPr id="7" name="Text Placeholder 3">
            <a:extLst>
              <a:ext uri="{FF2B5EF4-FFF2-40B4-BE49-F238E27FC236}">
                <a16:creationId xmlns:a16="http://schemas.microsoft.com/office/drawing/2014/main" id="{D74AA243-67D2-9202-164C-36110BE1B380}"/>
              </a:ext>
            </a:extLst>
          </p:cNvPr>
          <p:cNvSpPr txBox="1">
            <a:spLocks/>
          </p:cNvSpPr>
          <p:nvPr/>
        </p:nvSpPr>
        <p:spPr>
          <a:xfrm>
            <a:off x="6418300" y="1007686"/>
            <a:ext cx="5881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Bonus: show that the motion of the ball is symmetrical (assuming no air resistance)</a:t>
            </a:r>
          </a:p>
        </p:txBody>
      </p:sp>
    </p:spTree>
    <p:extLst>
      <p:ext uri="{BB962C8B-B14F-4D97-AF65-F5344CB8AC3E}">
        <p14:creationId xmlns:p14="http://schemas.microsoft.com/office/powerpoint/2010/main" val="371470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obliquely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04234" y="4196352"/>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Text Placeholder 3">
            <a:extLst>
              <a:ext uri="{FF2B5EF4-FFF2-40B4-BE49-F238E27FC236}">
                <a16:creationId xmlns:a16="http://schemas.microsoft.com/office/drawing/2014/main" id="{DA970B67-4BC2-A221-E5AD-A4073DA1023E}"/>
              </a:ext>
            </a:extLst>
          </p:cNvPr>
          <p:cNvSpPr txBox="1">
            <a:spLocks/>
          </p:cNvSpPr>
          <p:nvPr/>
        </p:nvSpPr>
        <p:spPr>
          <a:xfrm>
            <a:off x="3672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Projectile motion works very similarly to vertical motion (e.g., throwing a ball straight up).</a:t>
            </a:r>
          </a:p>
          <a:p>
            <a:endParaRPr lang="en-AU" sz="2400" b="0" dirty="0"/>
          </a:p>
          <a:p>
            <a:r>
              <a:rPr lang="en-AU" sz="2400" b="0" dirty="0"/>
              <a:t>Assuming no air resistance:</a:t>
            </a:r>
          </a:p>
          <a:p>
            <a:pPr marL="342900" indent="-342900">
              <a:buFont typeface="Arial" panose="020B0604020202020204" pitchFamily="34" charset="0"/>
              <a:buChar char="•"/>
            </a:pPr>
            <a:r>
              <a:rPr lang="en-AU" sz="2400" b="0" dirty="0"/>
              <a:t>The only force acting is the weight force of the object. This is pointing straight down.</a:t>
            </a:r>
          </a:p>
          <a:p>
            <a:pPr marL="342900" indent="-342900">
              <a:buFont typeface="Arial" panose="020B0604020202020204" pitchFamily="34" charset="0"/>
              <a:buChar char="•"/>
            </a:pPr>
            <a:r>
              <a:rPr lang="en-AU" sz="2400" b="0" dirty="0"/>
              <a:t>Therefore the only acceleration is a downwards acceleration.</a:t>
            </a:r>
          </a:p>
          <a:p>
            <a:pPr marL="342900" indent="-342900">
              <a:buFont typeface="Arial" panose="020B0604020202020204" pitchFamily="34" charset="0"/>
              <a:buChar char="•"/>
            </a:pPr>
            <a:r>
              <a:rPr lang="en-AU" sz="2400" b="0" dirty="0"/>
              <a:t>There is no change in horizontal velocity.</a:t>
            </a:r>
          </a:p>
          <a:p>
            <a:pPr marL="342900" indent="-342900">
              <a:buFont typeface="Arial" panose="020B0604020202020204" pitchFamily="34" charset="0"/>
              <a:buChar char="•"/>
            </a:pPr>
            <a:r>
              <a:rPr lang="en-AU" sz="2400" b="0" dirty="0"/>
              <a:t>Vertical velocity will first decrease (as the projectile goes up, it is being decelerated), then be zero at the peak, then increase (as the projectile goes down, the acceleration due to gravity makes it go faster down).</a:t>
            </a:r>
          </a:p>
          <a:p>
            <a:endParaRPr lang="en-AU" b="0" dirty="0"/>
          </a:p>
        </p:txBody>
      </p:sp>
    </p:spTree>
    <p:extLst>
      <p:ext uri="{BB962C8B-B14F-4D97-AF65-F5344CB8AC3E}">
        <p14:creationId xmlns:p14="http://schemas.microsoft.com/office/powerpoint/2010/main" val="2073678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Simulation</a:t>
            </a:r>
          </a:p>
        </p:txBody>
      </p:sp>
      <p:sp>
        <p:nvSpPr>
          <p:cNvPr id="10" name="Text Placeholder 3">
            <a:extLst>
              <a:ext uri="{FF2B5EF4-FFF2-40B4-BE49-F238E27FC236}">
                <a16:creationId xmlns:a16="http://schemas.microsoft.com/office/drawing/2014/main" id="{E83483B6-4A52-4455-9828-956B65FDA907}"/>
              </a:ext>
            </a:extLst>
          </p:cNvPr>
          <p:cNvSpPr txBox="1">
            <a:spLocks/>
          </p:cNvSpPr>
          <p:nvPr/>
        </p:nvSpPr>
        <p:spPr>
          <a:xfrm>
            <a:off x="214867" y="1007685"/>
            <a:ext cx="11977133" cy="3089529"/>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b="0" dirty="0">
                <a:hlinkClick r:id="rId3"/>
              </a:rPr>
              <a:t>https://phet.colorado.edu/sims/html/projectile-motion/latest/projectile-motion_en.html</a:t>
            </a:r>
            <a:endParaRPr lang="en-AU" sz="1800" b="0" dirty="0"/>
          </a:p>
          <a:p>
            <a:endParaRPr lang="en-AU" sz="1800" b="0" dirty="0"/>
          </a:p>
          <a:p>
            <a:endParaRPr lang="en-AU" sz="1800" b="0" dirty="0"/>
          </a:p>
          <a:p>
            <a:endParaRPr lang="en-AU" b="0" dirty="0"/>
          </a:p>
          <a:p>
            <a:endParaRPr lang="en-AU" b="0" dirty="0"/>
          </a:p>
        </p:txBody>
      </p:sp>
    </p:spTree>
    <p:extLst>
      <p:ext uri="{BB962C8B-B14F-4D97-AF65-F5344CB8AC3E}">
        <p14:creationId xmlns:p14="http://schemas.microsoft.com/office/powerpoint/2010/main" val="747970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Concept Development</a:t>
            </a:r>
          </a:p>
        </p:txBody>
      </p:sp>
      <p:pic>
        <p:nvPicPr>
          <p:cNvPr id="5" name="Picture 4">
            <a:extLst>
              <a:ext uri="{FF2B5EF4-FFF2-40B4-BE49-F238E27FC236}">
                <a16:creationId xmlns:a16="http://schemas.microsoft.com/office/drawing/2014/main" id="{68E7136D-B6EB-4036-A25C-AFF1FB4624BF}"/>
              </a:ext>
            </a:extLst>
          </p:cNvPr>
          <p:cNvPicPr>
            <a:picLocks noChangeAspect="1"/>
          </p:cNvPicPr>
          <p:nvPr/>
        </p:nvPicPr>
        <p:blipFill>
          <a:blip r:embed="rId3"/>
          <a:stretch>
            <a:fillRect/>
          </a:stretch>
        </p:blipFill>
        <p:spPr>
          <a:xfrm>
            <a:off x="295275" y="1038225"/>
            <a:ext cx="5667375" cy="2819400"/>
          </a:xfrm>
          <a:prstGeom prst="rect">
            <a:avLst/>
          </a:prstGeom>
        </p:spPr>
      </p:pic>
      <p:pic>
        <p:nvPicPr>
          <p:cNvPr id="8" name="Picture 7">
            <a:extLst>
              <a:ext uri="{FF2B5EF4-FFF2-40B4-BE49-F238E27FC236}">
                <a16:creationId xmlns:a16="http://schemas.microsoft.com/office/drawing/2014/main" id="{5E049BC1-FABE-464C-8545-E2E5100BB913}"/>
              </a:ext>
            </a:extLst>
          </p:cNvPr>
          <p:cNvPicPr>
            <a:picLocks noChangeAspect="1"/>
          </p:cNvPicPr>
          <p:nvPr/>
        </p:nvPicPr>
        <p:blipFill>
          <a:blip r:embed="rId4"/>
          <a:stretch>
            <a:fillRect/>
          </a:stretch>
        </p:blipFill>
        <p:spPr>
          <a:xfrm>
            <a:off x="385762" y="3980859"/>
            <a:ext cx="3457575" cy="247650"/>
          </a:xfrm>
          <a:prstGeom prst="rect">
            <a:avLst/>
          </a:prstGeom>
        </p:spPr>
      </p:pic>
      <p:pic>
        <p:nvPicPr>
          <p:cNvPr id="10" name="Picture 9">
            <a:extLst>
              <a:ext uri="{FF2B5EF4-FFF2-40B4-BE49-F238E27FC236}">
                <a16:creationId xmlns:a16="http://schemas.microsoft.com/office/drawing/2014/main" id="{9AF57C6B-184D-4765-88B0-B4D3270BC288}"/>
              </a:ext>
            </a:extLst>
          </p:cNvPr>
          <p:cNvPicPr>
            <a:picLocks noChangeAspect="1"/>
          </p:cNvPicPr>
          <p:nvPr/>
        </p:nvPicPr>
        <p:blipFill>
          <a:blip r:embed="rId5"/>
          <a:stretch>
            <a:fillRect/>
          </a:stretch>
        </p:blipFill>
        <p:spPr>
          <a:xfrm>
            <a:off x="385762" y="4266609"/>
            <a:ext cx="4705350" cy="257175"/>
          </a:xfrm>
          <a:prstGeom prst="rect">
            <a:avLst/>
          </a:prstGeom>
        </p:spPr>
      </p:pic>
      <p:pic>
        <p:nvPicPr>
          <p:cNvPr id="13" name="Picture 12">
            <a:extLst>
              <a:ext uri="{FF2B5EF4-FFF2-40B4-BE49-F238E27FC236}">
                <a16:creationId xmlns:a16="http://schemas.microsoft.com/office/drawing/2014/main" id="{DD261B6A-FE3B-4BEE-9C02-B0E4748A2088}"/>
              </a:ext>
            </a:extLst>
          </p:cNvPr>
          <p:cNvPicPr>
            <a:picLocks noChangeAspect="1"/>
          </p:cNvPicPr>
          <p:nvPr/>
        </p:nvPicPr>
        <p:blipFill>
          <a:blip r:embed="rId6"/>
          <a:stretch>
            <a:fillRect/>
          </a:stretch>
        </p:blipFill>
        <p:spPr>
          <a:xfrm>
            <a:off x="385762" y="4589868"/>
            <a:ext cx="4972050" cy="390525"/>
          </a:xfrm>
          <a:prstGeom prst="rect">
            <a:avLst/>
          </a:prstGeom>
        </p:spPr>
      </p:pic>
    </p:spTree>
    <p:extLst>
      <p:ext uri="{BB962C8B-B14F-4D97-AF65-F5344CB8AC3E}">
        <p14:creationId xmlns:p14="http://schemas.microsoft.com/office/powerpoint/2010/main" val="2488421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Concept Development</a:t>
            </a:r>
          </a:p>
        </p:txBody>
      </p:sp>
      <p:pic>
        <p:nvPicPr>
          <p:cNvPr id="6" name="Picture 5">
            <a:extLst>
              <a:ext uri="{FF2B5EF4-FFF2-40B4-BE49-F238E27FC236}">
                <a16:creationId xmlns:a16="http://schemas.microsoft.com/office/drawing/2014/main" id="{59BF16B4-CD4A-4A68-B834-66BCB0079561}"/>
              </a:ext>
            </a:extLst>
          </p:cNvPr>
          <p:cNvPicPr>
            <a:picLocks noChangeAspect="1"/>
          </p:cNvPicPr>
          <p:nvPr/>
        </p:nvPicPr>
        <p:blipFill>
          <a:blip r:embed="rId3"/>
          <a:stretch>
            <a:fillRect/>
          </a:stretch>
        </p:blipFill>
        <p:spPr>
          <a:xfrm>
            <a:off x="295275" y="1552575"/>
            <a:ext cx="5334000" cy="3143250"/>
          </a:xfrm>
          <a:prstGeom prst="rect">
            <a:avLst/>
          </a:prstGeom>
        </p:spPr>
      </p:pic>
      <p:pic>
        <p:nvPicPr>
          <p:cNvPr id="9" name="Picture 8">
            <a:extLst>
              <a:ext uri="{FF2B5EF4-FFF2-40B4-BE49-F238E27FC236}">
                <a16:creationId xmlns:a16="http://schemas.microsoft.com/office/drawing/2014/main" id="{EE66487A-26FE-44BB-A547-13559AB6C5B9}"/>
              </a:ext>
            </a:extLst>
          </p:cNvPr>
          <p:cNvPicPr>
            <a:picLocks noChangeAspect="1"/>
          </p:cNvPicPr>
          <p:nvPr/>
        </p:nvPicPr>
        <p:blipFill>
          <a:blip r:embed="rId4"/>
          <a:stretch>
            <a:fillRect/>
          </a:stretch>
        </p:blipFill>
        <p:spPr>
          <a:xfrm>
            <a:off x="304800" y="4695825"/>
            <a:ext cx="5314950" cy="1428750"/>
          </a:xfrm>
          <a:prstGeom prst="rect">
            <a:avLst/>
          </a:prstGeom>
        </p:spPr>
      </p:pic>
      <p:pic>
        <p:nvPicPr>
          <p:cNvPr id="12" name="Picture 11">
            <a:extLst>
              <a:ext uri="{FF2B5EF4-FFF2-40B4-BE49-F238E27FC236}">
                <a16:creationId xmlns:a16="http://schemas.microsoft.com/office/drawing/2014/main" id="{212AB55F-056C-4BA4-8EFD-34143ABAADF1}"/>
              </a:ext>
            </a:extLst>
          </p:cNvPr>
          <p:cNvPicPr>
            <a:picLocks noChangeAspect="1"/>
          </p:cNvPicPr>
          <p:nvPr/>
        </p:nvPicPr>
        <p:blipFill>
          <a:blip r:embed="rId5"/>
          <a:stretch>
            <a:fillRect/>
          </a:stretch>
        </p:blipFill>
        <p:spPr>
          <a:xfrm>
            <a:off x="6096000" y="685800"/>
            <a:ext cx="4956639" cy="5867400"/>
          </a:xfrm>
          <a:prstGeom prst="rect">
            <a:avLst/>
          </a:prstGeom>
        </p:spPr>
      </p:pic>
      <p:pic>
        <p:nvPicPr>
          <p:cNvPr id="14" name="Picture 13">
            <a:extLst>
              <a:ext uri="{FF2B5EF4-FFF2-40B4-BE49-F238E27FC236}">
                <a16:creationId xmlns:a16="http://schemas.microsoft.com/office/drawing/2014/main" id="{D48AB751-FB79-4216-AAB8-1CFCE7C8AEAF}"/>
              </a:ext>
            </a:extLst>
          </p:cNvPr>
          <p:cNvPicPr>
            <a:picLocks noChangeAspect="1"/>
          </p:cNvPicPr>
          <p:nvPr/>
        </p:nvPicPr>
        <p:blipFill>
          <a:blip r:embed="rId6"/>
          <a:stretch>
            <a:fillRect/>
          </a:stretch>
        </p:blipFill>
        <p:spPr>
          <a:xfrm>
            <a:off x="354806" y="1181100"/>
            <a:ext cx="3457575" cy="247650"/>
          </a:xfrm>
          <a:prstGeom prst="rect">
            <a:avLst/>
          </a:prstGeom>
        </p:spPr>
      </p:pic>
    </p:spTree>
    <p:extLst>
      <p:ext uri="{BB962C8B-B14F-4D97-AF65-F5344CB8AC3E}">
        <p14:creationId xmlns:p14="http://schemas.microsoft.com/office/powerpoint/2010/main" val="2733973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Oblique launch</a:t>
            </a:r>
          </a:p>
        </p:txBody>
      </p:sp>
      <p:sp>
        <p:nvSpPr>
          <p:cNvPr id="10" name="Text Placeholder 3">
            <a:extLst>
              <a:ext uri="{FF2B5EF4-FFF2-40B4-BE49-F238E27FC236}">
                <a16:creationId xmlns:a16="http://schemas.microsoft.com/office/drawing/2014/main" id="{E83483B6-4A52-4455-9828-956B65FDA907}"/>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A golf player hits a golf ball with an initial velocity of 45.0 ms</a:t>
            </a:r>
            <a:r>
              <a:rPr lang="en-AU" sz="2400" b="0" baseline="30000" dirty="0"/>
              <a:t>-1</a:t>
            </a:r>
            <a:r>
              <a:rPr lang="en-AU" sz="2400" b="0" dirty="0"/>
              <a:t> angled at 32.0</a:t>
            </a:r>
            <a:r>
              <a:rPr lang="en-AU" sz="2400" b="0" baseline="30000" dirty="0"/>
              <a:t>o</a:t>
            </a:r>
            <a:r>
              <a:rPr lang="en-AU" sz="2400" b="0" dirty="0"/>
              <a:t> above the horizontal.</a:t>
            </a:r>
          </a:p>
          <a:p>
            <a:pPr marL="457200" indent="-457200">
              <a:buAutoNum type="alphaLcParenR"/>
            </a:pPr>
            <a:r>
              <a:rPr lang="en-AU" sz="2400" b="0" dirty="0"/>
              <a:t>Calculate the time the ball takes to reach its maximum height </a:t>
            </a:r>
          </a:p>
          <a:p>
            <a:pPr marL="457200" indent="-457200">
              <a:buAutoNum type="alphaLcParenR"/>
            </a:pPr>
            <a:r>
              <a:rPr lang="en-AU" sz="2400" b="0" dirty="0"/>
              <a:t>Calculate the maximum height achieved by the ball</a:t>
            </a:r>
          </a:p>
          <a:p>
            <a:pPr marL="457200" indent="-457200">
              <a:buAutoNum type="alphaLcParenR"/>
            </a:pPr>
            <a:r>
              <a:rPr lang="en-AU" sz="2400" b="0" dirty="0"/>
              <a:t>Calculate the horizonal displacement of the ball when it lands</a:t>
            </a:r>
          </a:p>
          <a:p>
            <a:endParaRPr lang="en-AU" b="0" dirty="0"/>
          </a:p>
        </p:txBody>
      </p:sp>
    </p:spTree>
    <p:extLst>
      <p:ext uri="{BB962C8B-B14F-4D97-AF65-F5344CB8AC3E}">
        <p14:creationId xmlns:p14="http://schemas.microsoft.com/office/powerpoint/2010/main" val="3189707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Terminology</a:t>
            </a:r>
          </a:p>
        </p:txBody>
      </p:sp>
      <p:sp>
        <p:nvSpPr>
          <p:cNvPr id="10" name="Text Placeholder 3">
            <a:extLst>
              <a:ext uri="{FF2B5EF4-FFF2-40B4-BE49-F238E27FC236}">
                <a16:creationId xmlns:a16="http://schemas.microsoft.com/office/drawing/2014/main" id="{E83483B6-4A52-4455-9828-956B65FDA907}"/>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Time of flight		Time that projectile is in the air</a:t>
            </a:r>
          </a:p>
          <a:p>
            <a:endParaRPr lang="en-AU" sz="2400" b="0" dirty="0"/>
          </a:p>
          <a:p>
            <a:r>
              <a:rPr lang="en-AU" sz="2400" b="0" dirty="0"/>
              <a:t>Range			Total horizontal distance between start and end</a:t>
            </a:r>
          </a:p>
          <a:p>
            <a:endParaRPr lang="en-AU" sz="2400" b="0" dirty="0"/>
          </a:p>
          <a:p>
            <a:r>
              <a:rPr lang="en-AU" sz="2400" b="0" dirty="0"/>
              <a:t>Maximum height		Highest vertical displacement achieved</a:t>
            </a:r>
            <a:endParaRPr lang="en-AU" b="0" dirty="0"/>
          </a:p>
        </p:txBody>
      </p:sp>
      <p:grpSp>
        <p:nvGrpSpPr>
          <p:cNvPr id="3" name="Group 2">
            <a:extLst>
              <a:ext uri="{FF2B5EF4-FFF2-40B4-BE49-F238E27FC236}">
                <a16:creationId xmlns:a16="http://schemas.microsoft.com/office/drawing/2014/main" id="{B5CAE416-7B12-4B6B-9CB4-89193E3091A4}"/>
              </a:ext>
            </a:extLst>
          </p:cNvPr>
          <p:cNvGrpSpPr/>
          <p:nvPr/>
        </p:nvGrpSpPr>
        <p:grpSpPr>
          <a:xfrm>
            <a:off x="2023452" y="3766529"/>
            <a:ext cx="7281913" cy="2496202"/>
            <a:chOff x="867005" y="2549360"/>
            <a:chExt cx="10832634" cy="3713371"/>
          </a:xfrm>
        </p:grpSpPr>
        <p:pic>
          <p:nvPicPr>
            <p:cNvPr id="5" name="Picture 2" descr="Line, Curved | ClipArt ETC">
              <a:extLst>
                <a:ext uri="{FF2B5EF4-FFF2-40B4-BE49-F238E27FC236}">
                  <a16:creationId xmlns:a16="http://schemas.microsoft.com/office/drawing/2014/main" id="{565BD27D-BF3B-4D6C-A450-5A8E906CBF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725"/>
            <a:stretch/>
          </p:blipFill>
          <p:spPr bwMode="auto">
            <a:xfrm flipH="1">
              <a:off x="867005" y="2549360"/>
              <a:ext cx="5416317" cy="37133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Line, Curved | ClipArt ETC">
              <a:extLst>
                <a:ext uri="{FF2B5EF4-FFF2-40B4-BE49-F238E27FC236}">
                  <a16:creationId xmlns:a16="http://schemas.microsoft.com/office/drawing/2014/main" id="{5CDFC36F-5DE3-4E92-87E2-839C645DFF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725"/>
            <a:stretch/>
          </p:blipFill>
          <p:spPr bwMode="auto">
            <a:xfrm>
              <a:off x="6283322" y="2549360"/>
              <a:ext cx="5416317" cy="371337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8" name="Straight Arrow Connector 7">
            <a:extLst>
              <a:ext uri="{FF2B5EF4-FFF2-40B4-BE49-F238E27FC236}">
                <a16:creationId xmlns:a16="http://schemas.microsoft.com/office/drawing/2014/main" id="{644DDA35-25F8-4A8D-B4AC-7422185C1D78}"/>
              </a:ext>
            </a:extLst>
          </p:cNvPr>
          <p:cNvCxnSpPr/>
          <p:nvPr/>
        </p:nvCxnSpPr>
        <p:spPr>
          <a:xfrm flipV="1">
            <a:off x="1810871" y="3881718"/>
            <a:ext cx="0" cy="2381013"/>
          </a:xfrm>
          <a:prstGeom prst="straightConnector1">
            <a:avLst/>
          </a:prstGeom>
          <a:ln w="571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8C32436-F858-4FBD-BAF7-AD5B8EFCB81E}"/>
              </a:ext>
            </a:extLst>
          </p:cNvPr>
          <p:cNvCxnSpPr>
            <a:cxnSpLocks/>
          </p:cNvCxnSpPr>
          <p:nvPr/>
        </p:nvCxnSpPr>
        <p:spPr>
          <a:xfrm>
            <a:off x="2185014" y="6384638"/>
            <a:ext cx="6878304" cy="0"/>
          </a:xfrm>
          <a:prstGeom prst="straightConnector1">
            <a:avLst/>
          </a:prstGeom>
          <a:ln w="571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4" name="Graphic 13" descr="Stopwatch 66% with solid fill">
            <a:extLst>
              <a:ext uri="{FF2B5EF4-FFF2-40B4-BE49-F238E27FC236}">
                <a16:creationId xmlns:a16="http://schemas.microsoft.com/office/drawing/2014/main" id="{CE53C135-C440-4CB6-A814-8D17BBED538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12942" y="4363272"/>
            <a:ext cx="618565" cy="618565"/>
          </a:xfrm>
          <a:prstGeom prst="rect">
            <a:avLst/>
          </a:prstGeom>
        </p:spPr>
      </p:pic>
      <p:sp>
        <p:nvSpPr>
          <p:cNvPr id="15" name="Rectangle 14">
            <a:extLst>
              <a:ext uri="{FF2B5EF4-FFF2-40B4-BE49-F238E27FC236}">
                <a16:creationId xmlns:a16="http://schemas.microsoft.com/office/drawing/2014/main" id="{164E97AF-BACC-4B8D-87F4-1B79C2264674}"/>
              </a:ext>
            </a:extLst>
          </p:cNvPr>
          <p:cNvSpPr/>
          <p:nvPr/>
        </p:nvSpPr>
        <p:spPr>
          <a:xfrm>
            <a:off x="243960" y="4215354"/>
            <a:ext cx="1513123"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AU" dirty="0">
                <a:solidFill>
                  <a:schemeClr val="tx1"/>
                </a:solidFill>
              </a:rPr>
              <a:t>Maximum height</a:t>
            </a:r>
          </a:p>
        </p:txBody>
      </p:sp>
      <p:sp>
        <p:nvSpPr>
          <p:cNvPr id="16" name="Rectangle 15">
            <a:extLst>
              <a:ext uri="{FF2B5EF4-FFF2-40B4-BE49-F238E27FC236}">
                <a16:creationId xmlns:a16="http://schemas.microsoft.com/office/drawing/2014/main" id="{2A1EA18B-39B8-4C6C-92F6-2240D4AB3582}"/>
              </a:ext>
            </a:extLst>
          </p:cNvPr>
          <p:cNvSpPr/>
          <p:nvPr/>
        </p:nvSpPr>
        <p:spPr>
          <a:xfrm>
            <a:off x="4689025" y="5658496"/>
            <a:ext cx="1513123"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AU" dirty="0">
                <a:solidFill>
                  <a:schemeClr val="tx1"/>
                </a:solidFill>
              </a:rPr>
              <a:t>Range</a:t>
            </a:r>
          </a:p>
        </p:txBody>
      </p:sp>
      <p:sp>
        <p:nvSpPr>
          <p:cNvPr id="17" name="Rectangle 16">
            <a:extLst>
              <a:ext uri="{FF2B5EF4-FFF2-40B4-BE49-F238E27FC236}">
                <a16:creationId xmlns:a16="http://schemas.microsoft.com/office/drawing/2014/main" id="{9BB46CE2-937E-4360-B947-063759D8C563}"/>
              </a:ext>
            </a:extLst>
          </p:cNvPr>
          <p:cNvSpPr/>
          <p:nvPr/>
        </p:nvSpPr>
        <p:spPr>
          <a:xfrm>
            <a:off x="10031507" y="4207980"/>
            <a:ext cx="1513123"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dirty="0">
                <a:solidFill>
                  <a:schemeClr val="tx1"/>
                </a:solidFill>
              </a:rPr>
              <a:t>Time of flight</a:t>
            </a:r>
          </a:p>
        </p:txBody>
      </p:sp>
    </p:spTree>
    <p:extLst>
      <p:ext uri="{BB962C8B-B14F-4D97-AF65-F5344CB8AC3E}">
        <p14:creationId xmlns:p14="http://schemas.microsoft.com/office/powerpoint/2010/main" val="35164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Catapult and trebuchet simulations</a:t>
            </a:r>
          </a:p>
        </p:txBody>
      </p:sp>
      <p:sp>
        <p:nvSpPr>
          <p:cNvPr id="10" name="Text Placeholder 3">
            <a:extLst>
              <a:ext uri="{FF2B5EF4-FFF2-40B4-BE49-F238E27FC236}">
                <a16:creationId xmlns:a16="http://schemas.microsoft.com/office/drawing/2014/main" id="{E83483B6-4A52-4455-9828-956B65FDA907}"/>
              </a:ext>
            </a:extLst>
          </p:cNvPr>
          <p:cNvSpPr txBox="1">
            <a:spLocks/>
          </p:cNvSpPr>
          <p:nvPr/>
        </p:nvSpPr>
        <p:spPr>
          <a:xfrm>
            <a:off x="214867" y="1007685"/>
            <a:ext cx="11977133" cy="3089529"/>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b="0" dirty="0">
                <a:hlinkClick r:id="rId3"/>
              </a:rPr>
              <a:t>https://www.youtube.com/watch?v=cs8gamnMIS0&amp;ab_channel=SmithsonianChannel</a:t>
            </a:r>
            <a:endParaRPr lang="en-AU" sz="1800" b="0" dirty="0"/>
          </a:p>
          <a:p>
            <a:endParaRPr lang="en-AU" sz="1800" b="0" dirty="0"/>
          </a:p>
          <a:p>
            <a:r>
              <a:rPr lang="en-AU" sz="1800" b="0" dirty="0">
                <a:hlinkClick r:id="rId4"/>
              </a:rPr>
              <a:t>https://www.youtube.com/watch?v=9-Hwxw4fgqk&amp;ab_channel=ScienceChannel</a:t>
            </a:r>
            <a:endParaRPr lang="en-AU" sz="1800" b="0" dirty="0"/>
          </a:p>
          <a:p>
            <a:endParaRPr lang="en-AU" sz="1800" b="0" dirty="0"/>
          </a:p>
          <a:p>
            <a:r>
              <a:rPr lang="en-AU" sz="1800" b="0" dirty="0">
                <a:hlinkClick r:id="rId5">
                  <a:extLst>
                    <a:ext uri="{A12FA001-AC4F-418D-AE19-62706E023703}">
                      <ahyp:hlinkClr xmlns:ahyp="http://schemas.microsoft.com/office/drawing/2018/hyperlinkcolor" val="tx"/>
                    </a:ext>
                  </a:extLst>
                </a:hlinkClick>
              </a:rPr>
              <a:t>https://sigmazone.com/catapult/</a:t>
            </a:r>
            <a:endParaRPr lang="en-AU" sz="1800" b="0" dirty="0"/>
          </a:p>
          <a:p>
            <a:endParaRPr lang="en-AU" sz="1800" b="0" dirty="0"/>
          </a:p>
          <a:p>
            <a:r>
              <a:rPr lang="en-AU" sz="1800" b="0" dirty="0">
                <a:hlinkClick r:id="rId6"/>
              </a:rPr>
              <a:t>https://ophysics.com/k8.html</a:t>
            </a:r>
            <a:endParaRPr lang="en-AU" sz="1800" b="0" dirty="0"/>
          </a:p>
          <a:p>
            <a:endParaRPr lang="en-AU" sz="1800" b="0" dirty="0"/>
          </a:p>
          <a:p>
            <a:r>
              <a:rPr lang="en-AU" sz="1800" b="0" dirty="0">
                <a:hlinkClick r:id="rId7"/>
              </a:rPr>
              <a:t>https://ophysics.com/k9.html</a:t>
            </a:r>
            <a:endParaRPr lang="en-AU" sz="1800" b="0" dirty="0"/>
          </a:p>
          <a:p>
            <a:endParaRPr lang="en-AU" sz="1800" b="0" dirty="0"/>
          </a:p>
          <a:p>
            <a:r>
              <a:rPr lang="en-AU" sz="1800" b="0" dirty="0">
                <a:hlinkClick r:id="rId8"/>
              </a:rPr>
              <a:t>https://virtualtrebuchet.com/</a:t>
            </a:r>
            <a:endParaRPr lang="en-AU" sz="1800" b="0" dirty="0"/>
          </a:p>
          <a:p>
            <a:endParaRPr lang="en-AU" sz="1800" b="0" dirty="0"/>
          </a:p>
          <a:p>
            <a:endParaRPr lang="en-AU" sz="1800" b="0" dirty="0"/>
          </a:p>
          <a:p>
            <a:endParaRPr lang="en-AU" b="0" dirty="0"/>
          </a:p>
          <a:p>
            <a:endParaRPr lang="en-AU" b="0" dirty="0"/>
          </a:p>
        </p:txBody>
      </p:sp>
    </p:spTree>
    <p:extLst>
      <p:ext uri="{BB962C8B-B14F-4D97-AF65-F5344CB8AC3E}">
        <p14:creationId xmlns:p14="http://schemas.microsoft.com/office/powerpoint/2010/main" val="2816873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obliquely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Homework</a:t>
            </a:r>
          </a:p>
        </p:txBody>
      </p:sp>
      <p:pic>
        <p:nvPicPr>
          <p:cNvPr id="5" name="Picture 4">
            <a:extLst>
              <a:ext uri="{FF2B5EF4-FFF2-40B4-BE49-F238E27FC236}">
                <a16:creationId xmlns:a16="http://schemas.microsoft.com/office/drawing/2014/main" id="{6198DC76-192B-4528-8C1C-751398571C76}"/>
              </a:ext>
            </a:extLst>
          </p:cNvPr>
          <p:cNvPicPr>
            <a:picLocks noChangeAspect="1"/>
          </p:cNvPicPr>
          <p:nvPr/>
        </p:nvPicPr>
        <p:blipFill>
          <a:blip r:embed="rId3"/>
          <a:stretch>
            <a:fillRect/>
          </a:stretch>
        </p:blipFill>
        <p:spPr>
          <a:xfrm>
            <a:off x="519392" y="995081"/>
            <a:ext cx="10531085" cy="1864659"/>
          </a:xfrm>
          <a:prstGeom prst="rect">
            <a:avLst/>
          </a:prstGeom>
        </p:spPr>
      </p:pic>
      <p:pic>
        <p:nvPicPr>
          <p:cNvPr id="8" name="Picture 7">
            <a:extLst>
              <a:ext uri="{FF2B5EF4-FFF2-40B4-BE49-F238E27FC236}">
                <a16:creationId xmlns:a16="http://schemas.microsoft.com/office/drawing/2014/main" id="{F57BE333-76E7-4098-AA93-0F3ACAE8673A}"/>
              </a:ext>
            </a:extLst>
          </p:cNvPr>
          <p:cNvPicPr>
            <a:picLocks noChangeAspect="1"/>
          </p:cNvPicPr>
          <p:nvPr/>
        </p:nvPicPr>
        <p:blipFill>
          <a:blip r:embed="rId4"/>
          <a:stretch>
            <a:fillRect/>
          </a:stretch>
        </p:blipFill>
        <p:spPr>
          <a:xfrm>
            <a:off x="519392" y="3264271"/>
            <a:ext cx="11099006" cy="2060764"/>
          </a:xfrm>
          <a:prstGeom prst="rect">
            <a:avLst/>
          </a:prstGeom>
        </p:spPr>
      </p:pic>
    </p:spTree>
    <p:extLst>
      <p:ext uri="{BB962C8B-B14F-4D97-AF65-F5344CB8AC3E}">
        <p14:creationId xmlns:p14="http://schemas.microsoft.com/office/powerpoint/2010/main" val="2881205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obliquely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Homework Answers</a:t>
            </a:r>
          </a:p>
        </p:txBody>
      </p:sp>
      <p:pic>
        <p:nvPicPr>
          <p:cNvPr id="6" name="Picture 5">
            <a:extLst>
              <a:ext uri="{FF2B5EF4-FFF2-40B4-BE49-F238E27FC236}">
                <a16:creationId xmlns:a16="http://schemas.microsoft.com/office/drawing/2014/main" id="{AEDE07EE-0E55-4260-8F72-C5B20C2499EA}"/>
              </a:ext>
            </a:extLst>
          </p:cNvPr>
          <p:cNvPicPr>
            <a:picLocks noChangeAspect="1"/>
          </p:cNvPicPr>
          <p:nvPr/>
        </p:nvPicPr>
        <p:blipFill>
          <a:blip r:embed="rId3"/>
          <a:stretch>
            <a:fillRect/>
          </a:stretch>
        </p:blipFill>
        <p:spPr>
          <a:xfrm>
            <a:off x="433387" y="1552575"/>
            <a:ext cx="5229225" cy="3752850"/>
          </a:xfrm>
          <a:prstGeom prst="rect">
            <a:avLst/>
          </a:prstGeom>
        </p:spPr>
      </p:pic>
      <p:sp>
        <p:nvSpPr>
          <p:cNvPr id="7" name="TextBox 6">
            <a:extLst>
              <a:ext uri="{FF2B5EF4-FFF2-40B4-BE49-F238E27FC236}">
                <a16:creationId xmlns:a16="http://schemas.microsoft.com/office/drawing/2014/main" id="{73737FB0-5750-423D-A111-54F27C0F1D93}"/>
              </a:ext>
            </a:extLst>
          </p:cNvPr>
          <p:cNvSpPr txBox="1"/>
          <p:nvPr/>
        </p:nvSpPr>
        <p:spPr>
          <a:xfrm>
            <a:off x="555812" y="1066800"/>
            <a:ext cx="914400" cy="914400"/>
          </a:xfrm>
          <a:prstGeom prst="rect">
            <a:avLst/>
          </a:prstGeom>
          <a:noFill/>
          <a:ln>
            <a:noFill/>
          </a:ln>
        </p:spPr>
        <p:txBody>
          <a:bodyPr wrap="none" rtlCol="0" anchor="t" anchorCtr="0">
            <a:normAutofit/>
          </a:bodyPr>
          <a:lstStyle/>
          <a:p>
            <a:pPr algn="l"/>
            <a:r>
              <a:rPr lang="en-AU" sz="2000" b="1" dirty="0">
                <a:latin typeface="Century Gothic" panose="020B0502020202020204" pitchFamily="34" charset="0"/>
                <a:cs typeface="Futura Medium" panose="020B0602020204020303" pitchFamily="34" charset="-79"/>
              </a:rPr>
              <a:t>Q8</a:t>
            </a:r>
          </a:p>
        </p:txBody>
      </p:sp>
      <p:pic>
        <p:nvPicPr>
          <p:cNvPr id="10" name="Picture 9">
            <a:extLst>
              <a:ext uri="{FF2B5EF4-FFF2-40B4-BE49-F238E27FC236}">
                <a16:creationId xmlns:a16="http://schemas.microsoft.com/office/drawing/2014/main" id="{65C3B904-48D3-4492-982D-2207A7FC615E}"/>
              </a:ext>
            </a:extLst>
          </p:cNvPr>
          <p:cNvPicPr>
            <a:picLocks noChangeAspect="1"/>
          </p:cNvPicPr>
          <p:nvPr/>
        </p:nvPicPr>
        <p:blipFill rotWithShape="1">
          <a:blip r:embed="rId4"/>
          <a:srcRect r="25469"/>
          <a:stretch/>
        </p:blipFill>
        <p:spPr>
          <a:xfrm>
            <a:off x="6385392" y="1552575"/>
            <a:ext cx="5501808" cy="3000375"/>
          </a:xfrm>
          <a:prstGeom prst="rect">
            <a:avLst/>
          </a:prstGeom>
        </p:spPr>
      </p:pic>
      <p:pic>
        <p:nvPicPr>
          <p:cNvPr id="11" name="Picture 10">
            <a:extLst>
              <a:ext uri="{FF2B5EF4-FFF2-40B4-BE49-F238E27FC236}">
                <a16:creationId xmlns:a16="http://schemas.microsoft.com/office/drawing/2014/main" id="{EFAD9D1D-7877-419A-ABEE-68E3E9EEC652}"/>
              </a:ext>
            </a:extLst>
          </p:cNvPr>
          <p:cNvPicPr>
            <a:picLocks noChangeAspect="1"/>
          </p:cNvPicPr>
          <p:nvPr/>
        </p:nvPicPr>
        <p:blipFill rotWithShape="1">
          <a:blip r:embed="rId4"/>
          <a:srcRect l="76617" t="69525" r="3345" b="4238"/>
          <a:stretch/>
        </p:blipFill>
        <p:spPr>
          <a:xfrm>
            <a:off x="10079411" y="4552876"/>
            <a:ext cx="1807789" cy="962099"/>
          </a:xfrm>
          <a:prstGeom prst="rect">
            <a:avLst/>
          </a:prstGeom>
        </p:spPr>
      </p:pic>
      <p:sp>
        <p:nvSpPr>
          <p:cNvPr id="12" name="TextBox 11">
            <a:extLst>
              <a:ext uri="{FF2B5EF4-FFF2-40B4-BE49-F238E27FC236}">
                <a16:creationId xmlns:a16="http://schemas.microsoft.com/office/drawing/2014/main" id="{278CDD8D-A4BD-4A84-AF0D-8F5DC1321CE7}"/>
              </a:ext>
            </a:extLst>
          </p:cNvPr>
          <p:cNvSpPr txBox="1"/>
          <p:nvPr/>
        </p:nvSpPr>
        <p:spPr>
          <a:xfrm>
            <a:off x="6345190" y="1095375"/>
            <a:ext cx="914400" cy="914400"/>
          </a:xfrm>
          <a:prstGeom prst="rect">
            <a:avLst/>
          </a:prstGeom>
          <a:noFill/>
          <a:ln>
            <a:noFill/>
          </a:ln>
        </p:spPr>
        <p:txBody>
          <a:bodyPr wrap="none" rtlCol="0" anchor="t" anchorCtr="0">
            <a:normAutofit/>
          </a:bodyPr>
          <a:lstStyle/>
          <a:p>
            <a:pPr algn="l"/>
            <a:r>
              <a:rPr lang="en-AU" sz="2000" b="1" dirty="0">
                <a:latin typeface="Century Gothic" panose="020B0502020202020204" pitchFamily="34" charset="0"/>
                <a:cs typeface="Futura Medium" panose="020B0602020204020303" pitchFamily="34" charset="-79"/>
              </a:rPr>
              <a:t>Q9</a:t>
            </a:r>
          </a:p>
        </p:txBody>
      </p:sp>
    </p:spTree>
    <p:extLst>
      <p:ext uri="{BB962C8B-B14F-4D97-AF65-F5344CB8AC3E}">
        <p14:creationId xmlns:p14="http://schemas.microsoft.com/office/powerpoint/2010/main" val="2365500475"/>
      </p:ext>
    </p:extLst>
  </p:cSld>
  <p:clrMapOvr>
    <a:masterClrMapping/>
  </p:clrMapOvr>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1153254-49D9-47C0-9AF5-DCE4EBC39DF6}"/>
</file>

<file path=customXml/itemProps3.xml><?xml version="1.0" encoding="utf-8"?>
<ds:datastoreItem xmlns:ds="http://schemas.openxmlformats.org/officeDocument/2006/customXml" ds:itemID="{77F09D33-A1B5-4438-8F96-65DD7176249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{33057687-8793-EB47-A5E0-08E93C53D0F2}tf10001071</Template>
  <TotalTime>4930</TotalTime>
  <Words>1159</Words>
  <Application>Microsoft Office PowerPoint</Application>
  <PresentationFormat>Widescreen</PresentationFormat>
  <Paragraphs>144</Paragraphs>
  <Slides>16</Slides>
  <Notes>14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Arial</vt:lpstr>
      <vt:lpstr>Calibri</vt:lpstr>
      <vt:lpstr>Century Gothic</vt:lpstr>
      <vt:lpstr>Futura Medium</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395</cp:revision>
  <cp:lastPrinted>2018-05-27T06:54:10Z</cp:lastPrinted>
  <dcterms:created xsi:type="dcterms:W3CDTF">2018-03-29T05:56:09Z</dcterms:created>
  <dcterms:modified xsi:type="dcterms:W3CDTF">2023-01-01T10:19:55Z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