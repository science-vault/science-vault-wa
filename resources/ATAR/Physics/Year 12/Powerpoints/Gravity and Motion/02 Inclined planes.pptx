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5"/>
  </p:notesMasterIdLst>
  <p:handoutMasterIdLst>
    <p:handoutMasterId r:id="rId26"/>
  </p:handoutMasterIdLst>
  <p:sldIdLst>
    <p:sldId id="416" r:id="rId6"/>
    <p:sldId id="418" r:id="rId7"/>
    <p:sldId id="437" r:id="rId8"/>
    <p:sldId id="438" r:id="rId9"/>
    <p:sldId id="440" r:id="rId10"/>
    <p:sldId id="456" r:id="rId11"/>
    <p:sldId id="447" r:id="rId12"/>
    <p:sldId id="448" r:id="rId13"/>
    <p:sldId id="442" r:id="rId14"/>
    <p:sldId id="445" r:id="rId15"/>
    <p:sldId id="444" r:id="rId16"/>
    <p:sldId id="446" r:id="rId17"/>
    <p:sldId id="449" r:id="rId18"/>
    <p:sldId id="450" r:id="rId19"/>
    <p:sldId id="453" r:id="rId20"/>
    <p:sldId id="454" r:id="rId21"/>
    <p:sldId id="455" r:id="rId22"/>
    <p:sldId id="452" r:id="rId23"/>
    <p:sldId id="451" r:id="rId24"/>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546D"/>
    <a:srgbClr val="DEEBF7"/>
    <a:srgbClr val="692B7D"/>
    <a:srgbClr val="FBCA58"/>
    <a:srgbClr val="472A50"/>
    <a:srgbClr val="6E407C"/>
    <a:srgbClr val="2F556E"/>
    <a:srgbClr val="A672B6"/>
    <a:srgbClr val="FFFFFF"/>
    <a:srgbClr val="7E49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50" autoAdjust="0"/>
    <p:restoredTop sz="85588" autoAdjust="0"/>
  </p:normalViewPr>
  <p:slideViewPr>
    <p:cSldViewPr snapToGrid="0" snapToObjects="1">
      <p:cViewPr varScale="1">
        <p:scale>
          <a:sx n="83" d="100"/>
          <a:sy n="83" d="100"/>
        </p:scale>
        <p:origin x="102" y="1020"/>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BA89F1C8-9A67-204B-8DB6-6C2E5B2C92D6}" type="datetimeFigureOut">
              <a:rPr lang="en-US" smtClean="0"/>
              <a:t>2/27/2023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EAAB6C6-360D-448E-B12B-FCD285160A81}" type="datetimeFigureOut">
              <a:rPr lang="en-AU" smtClean="0"/>
              <a:t>27/02/2023</a:t>
            </a:fld>
            <a:endParaRPr lang="en-AU"/>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Weight (</a:t>
            </a:r>
            <a:r>
              <a:rPr lang="en-AU" dirty="0" err="1"/>
              <a:t>Fg</a:t>
            </a:r>
            <a:r>
              <a:rPr lang="en-AU" dirty="0"/>
              <a:t>) acts perpendicular to the Earth. Normal force acts perpendicular to the surface.</a:t>
            </a:r>
            <a:br>
              <a:rPr lang="en-AU" dirty="0"/>
            </a:br>
            <a:r>
              <a:rPr lang="en-AU" dirty="0"/>
              <a:t>Start by looking at the flat surface. The ball is stationary. There is no net force.</a:t>
            </a:r>
          </a:p>
          <a:p>
            <a:endParaRPr lang="en-AU" dirty="0"/>
          </a:p>
          <a:p>
            <a:r>
              <a:rPr lang="en-AU" dirty="0"/>
              <a:t>Now the inclined plane. What do you expect to happen here? Why?</a:t>
            </a:r>
          </a:p>
          <a:p>
            <a:r>
              <a:rPr lang="en-AU" dirty="0"/>
              <a:t>The normal force is acting perpendicular to the surface. The forces are unbalanced so we expect motion.</a:t>
            </a:r>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865929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There is net force acting down the surface. The ball will move down the surface.</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1427519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31683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Question: how to find theta?</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1566117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Question: how to find theta?</a:t>
            </a:r>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3637318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 u and a must be in the same direction</a:t>
            </a:r>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3481175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Majority of the force is acting into the slope (not down the slope).</a:t>
            </a:r>
          </a:p>
          <a:p>
            <a:r>
              <a:rPr lang="en-AU" dirty="0"/>
              <a:t>What happens as the angle of the slope increases? Calc for 45 deg.</a:t>
            </a:r>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1584624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3719166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1622521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Reference: Step Up in Education</a:t>
            </a:r>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411145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the motion on inclined planes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95274" y="4983670"/>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For objects on an inclined plane:</a:t>
            </a:r>
          </a:p>
          <a:p>
            <a:pPr marL="457200" indent="-457200">
              <a:buFont typeface="Arial" panose="020B0604020202020204" pitchFamily="34" charset="0"/>
              <a:buChar char="•"/>
            </a:pPr>
            <a:r>
              <a:rPr lang="en-AU" b="0" dirty="0"/>
              <a:t>I can draw a free body diagram</a:t>
            </a:r>
          </a:p>
          <a:p>
            <a:pPr marL="457200" indent="-457200">
              <a:buFont typeface="Arial" panose="020B0604020202020204" pitchFamily="34" charset="0"/>
              <a:buChar char="•"/>
            </a:pPr>
            <a:r>
              <a:rPr lang="en-AU" b="0" dirty="0"/>
              <a:t>I can calculate net force and acceleration</a:t>
            </a:r>
          </a:p>
        </p:txBody>
      </p:sp>
    </p:spTree>
    <p:extLst>
      <p:ext uri="{BB962C8B-B14F-4D97-AF65-F5344CB8AC3E}">
        <p14:creationId xmlns:p14="http://schemas.microsoft.com/office/powerpoint/2010/main" val="231114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2503558"/>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grpSp>
        <p:nvGrpSpPr>
          <p:cNvPr id="30" name="Group 29">
            <a:extLst>
              <a:ext uri="{FF2B5EF4-FFF2-40B4-BE49-F238E27FC236}">
                <a16:creationId xmlns:a16="http://schemas.microsoft.com/office/drawing/2014/main" id="{77B62F93-1B3D-4002-9F5F-54ADCE21DFC2}"/>
              </a:ext>
            </a:extLst>
          </p:cNvPr>
          <p:cNvGrpSpPr/>
          <p:nvPr/>
        </p:nvGrpSpPr>
        <p:grpSpPr>
          <a:xfrm>
            <a:off x="6096000" y="1312934"/>
            <a:ext cx="5613400" cy="3162300"/>
            <a:chOff x="6096000" y="1551470"/>
            <a:chExt cx="5613400" cy="3162300"/>
          </a:xfrm>
        </p:grpSpPr>
        <p:sp>
          <p:nvSpPr>
            <p:cNvPr id="9" name="Isosceles Triangle 8">
              <a:extLst>
                <a:ext uri="{FF2B5EF4-FFF2-40B4-BE49-F238E27FC236}">
                  <a16:creationId xmlns:a16="http://schemas.microsoft.com/office/drawing/2014/main" id="{35A193DE-FCF1-44EE-AE60-4D4EAE9B622B}"/>
                </a:ext>
              </a:extLst>
            </p:cNvPr>
            <p:cNvSpPr/>
            <p:nvPr/>
          </p:nvSpPr>
          <p:spPr>
            <a:xfrm>
              <a:off x="6096000" y="1551470"/>
              <a:ext cx="5613400" cy="3162300"/>
            </a:xfrm>
            <a:prstGeom prst="triangle">
              <a:avLst>
                <a:gd name="adj" fmla="val 0"/>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D77064F0-97AD-4259-9B7F-23C824234A58}"/>
                </a:ext>
              </a:extLst>
            </p:cNvPr>
            <p:cNvSpPr/>
            <p:nvPr/>
          </p:nvSpPr>
          <p:spPr>
            <a:xfrm>
              <a:off x="7543800" y="1653070"/>
              <a:ext cx="889000" cy="889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cxnSp>
        <p:nvCxnSpPr>
          <p:cNvPr id="12" name="Straight Arrow Connector 11">
            <a:extLst>
              <a:ext uri="{FF2B5EF4-FFF2-40B4-BE49-F238E27FC236}">
                <a16:creationId xmlns:a16="http://schemas.microsoft.com/office/drawing/2014/main" id="{F5D5C04B-DC3D-4BA3-B29F-F23E1C1E6F94}"/>
              </a:ext>
            </a:extLst>
          </p:cNvPr>
          <p:cNvCxnSpPr/>
          <p:nvPr/>
        </p:nvCxnSpPr>
        <p:spPr>
          <a:xfrm>
            <a:off x="7975600" y="1871734"/>
            <a:ext cx="0" cy="162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177A5E4-DFB7-4C29-97C6-FDD70F671082}"/>
              </a:ext>
            </a:extLst>
          </p:cNvPr>
          <p:cNvSpPr txBox="1"/>
          <p:nvPr/>
        </p:nvSpPr>
        <p:spPr>
          <a:xfrm>
            <a:off x="7092950" y="2562039"/>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sp>
        <p:nvSpPr>
          <p:cNvPr id="14" name="Rectangle 13">
            <a:extLst>
              <a:ext uri="{FF2B5EF4-FFF2-40B4-BE49-F238E27FC236}">
                <a16:creationId xmlns:a16="http://schemas.microsoft.com/office/drawing/2014/main" id="{F85E064D-1E0D-4695-A61B-4FCC596C3B15}"/>
              </a:ext>
            </a:extLst>
          </p:cNvPr>
          <p:cNvSpPr/>
          <p:nvPr/>
        </p:nvSpPr>
        <p:spPr>
          <a:xfrm>
            <a:off x="389597" y="3697358"/>
            <a:ext cx="5613400" cy="77787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73D096AD-C55C-43B9-8F4F-A33CBB4EFD75}"/>
              </a:ext>
            </a:extLst>
          </p:cNvPr>
          <p:cNvSpPr/>
          <p:nvPr/>
        </p:nvSpPr>
        <p:spPr>
          <a:xfrm>
            <a:off x="2196442" y="2796474"/>
            <a:ext cx="889000" cy="889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9" name="Group 28">
            <a:extLst>
              <a:ext uri="{FF2B5EF4-FFF2-40B4-BE49-F238E27FC236}">
                <a16:creationId xmlns:a16="http://schemas.microsoft.com/office/drawing/2014/main" id="{179BB377-85D0-4962-B21A-7F5333FFF850}"/>
              </a:ext>
            </a:extLst>
          </p:cNvPr>
          <p:cNvGrpSpPr/>
          <p:nvPr/>
        </p:nvGrpSpPr>
        <p:grpSpPr>
          <a:xfrm>
            <a:off x="2640942" y="1600714"/>
            <a:ext cx="2836921" cy="3260260"/>
            <a:chOff x="2640942" y="1839250"/>
            <a:chExt cx="2836921" cy="3260260"/>
          </a:xfrm>
        </p:grpSpPr>
        <p:cxnSp>
          <p:nvCxnSpPr>
            <p:cNvPr id="16" name="Straight Arrow Connector 15">
              <a:extLst>
                <a:ext uri="{FF2B5EF4-FFF2-40B4-BE49-F238E27FC236}">
                  <a16:creationId xmlns:a16="http://schemas.microsoft.com/office/drawing/2014/main" id="{32772CF1-4180-4FFE-8567-2446C7E3568C}"/>
                </a:ext>
              </a:extLst>
            </p:cNvPr>
            <p:cNvCxnSpPr/>
            <p:nvPr/>
          </p:nvCxnSpPr>
          <p:spPr>
            <a:xfrm>
              <a:off x="2640942" y="3479510"/>
              <a:ext cx="0" cy="162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4768158-A807-438E-8E72-AD32E90026BD}"/>
                </a:ext>
              </a:extLst>
            </p:cNvPr>
            <p:cNvSpPr txBox="1"/>
            <p:nvPr/>
          </p:nvSpPr>
          <p:spPr>
            <a:xfrm>
              <a:off x="2734903" y="4104028"/>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cxnSp>
          <p:nvCxnSpPr>
            <p:cNvPr id="18" name="Straight Arrow Connector 17">
              <a:extLst>
                <a:ext uri="{FF2B5EF4-FFF2-40B4-BE49-F238E27FC236}">
                  <a16:creationId xmlns:a16="http://schemas.microsoft.com/office/drawing/2014/main" id="{C8A8C4C5-16AB-4741-A391-0C87C56ACB41}"/>
                </a:ext>
              </a:extLst>
            </p:cNvPr>
            <p:cNvCxnSpPr>
              <a:cxnSpLocks/>
            </p:cNvCxnSpPr>
            <p:nvPr/>
          </p:nvCxnSpPr>
          <p:spPr>
            <a:xfrm flipV="1">
              <a:off x="2640942" y="1839250"/>
              <a:ext cx="0" cy="162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F4F52B6-06A7-4713-99A3-C8B8BB52B2D6}"/>
                </a:ext>
              </a:extLst>
            </p:cNvPr>
            <p:cNvSpPr txBox="1"/>
            <p:nvPr/>
          </p:nvSpPr>
          <p:spPr>
            <a:xfrm>
              <a:off x="2798163" y="1993900"/>
              <a:ext cx="2679700" cy="762000"/>
            </a:xfrm>
            <a:prstGeom prst="rect">
              <a:avLst/>
            </a:prstGeom>
            <a:noFill/>
            <a:ln>
              <a:noFill/>
            </a:ln>
          </p:spPr>
          <p:txBody>
            <a:bodyPr wrap="square" rtlCol="0" anchor="t" anchorCtr="0">
              <a:normAutofit fontScale="92500" lnSpcReduction="20000"/>
            </a:bodyPr>
            <a:lstStyle/>
            <a:p>
              <a:pPr algn="l"/>
              <a:r>
                <a:rPr lang="en-AU" sz="5400" b="1" dirty="0">
                  <a:latin typeface="Century Gothic" panose="020B0502020202020204" pitchFamily="34" charset="0"/>
                  <a:cs typeface="Futura Medium" panose="020B0602020204020303" pitchFamily="34" charset="-79"/>
                </a:rPr>
                <a:t>F</a:t>
              </a:r>
              <a:r>
                <a:rPr lang="en-AU" sz="5400" b="1" baseline="-25000" dirty="0">
                  <a:latin typeface="Century Gothic" panose="020B0502020202020204" pitchFamily="34" charset="0"/>
                  <a:cs typeface="Futura Medium" panose="020B0602020204020303" pitchFamily="34" charset="-79"/>
                </a:rPr>
                <a:t>N</a:t>
              </a:r>
              <a:endParaRPr lang="en-AU" sz="5400" b="1" dirty="0">
                <a:latin typeface="Century Gothic" panose="020B0502020202020204" pitchFamily="34" charset="0"/>
                <a:cs typeface="Futura Medium" panose="020B0602020204020303" pitchFamily="34" charset="-79"/>
              </a:endParaRPr>
            </a:p>
          </p:txBody>
        </p:sp>
      </p:grpSp>
      <p:sp>
        <p:nvSpPr>
          <p:cNvPr id="22" name="Text Placeholder 3">
            <a:extLst>
              <a:ext uri="{FF2B5EF4-FFF2-40B4-BE49-F238E27FC236}">
                <a16:creationId xmlns:a16="http://schemas.microsoft.com/office/drawing/2014/main" id="{F6011A6B-77F0-4402-9F65-A32766DC658B}"/>
              </a:ext>
            </a:extLst>
          </p:cNvPr>
          <p:cNvSpPr txBox="1">
            <a:spLocks/>
          </p:cNvSpPr>
          <p:nvPr/>
        </p:nvSpPr>
        <p:spPr>
          <a:xfrm>
            <a:off x="307870" y="4918717"/>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The normal force always act </a:t>
            </a:r>
            <a:r>
              <a:rPr lang="en-AU" sz="2400" b="0" u="sng" dirty="0"/>
              <a:t>perpendicular</a:t>
            </a:r>
            <a:r>
              <a:rPr lang="en-AU" sz="2400" b="0" dirty="0"/>
              <a:t> to the surface. It is a contact force due to the compression of the surface by the object.</a:t>
            </a:r>
          </a:p>
          <a:p>
            <a:r>
              <a:rPr lang="en-AU" sz="2400" b="0" dirty="0"/>
              <a:t>In inclined planes, its magnitude is equal to the component of the weight force that is perpendicular to the surface.</a:t>
            </a:r>
          </a:p>
          <a:p>
            <a:endParaRPr lang="en-AU" dirty="0"/>
          </a:p>
        </p:txBody>
      </p:sp>
      <p:cxnSp>
        <p:nvCxnSpPr>
          <p:cNvPr id="23" name="Straight Arrow Connector 22">
            <a:extLst>
              <a:ext uri="{FF2B5EF4-FFF2-40B4-BE49-F238E27FC236}">
                <a16:creationId xmlns:a16="http://schemas.microsoft.com/office/drawing/2014/main" id="{E89716DB-5E2F-4109-9C17-21ED5A8AC050}"/>
              </a:ext>
            </a:extLst>
          </p:cNvPr>
          <p:cNvCxnSpPr>
            <a:cxnSpLocks/>
          </p:cNvCxnSpPr>
          <p:nvPr/>
        </p:nvCxnSpPr>
        <p:spPr>
          <a:xfrm flipV="1">
            <a:off x="7975600" y="676455"/>
            <a:ext cx="927100" cy="118257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394A324-469B-4BB7-BA9B-DE92EE039004}"/>
              </a:ext>
            </a:extLst>
          </p:cNvPr>
          <p:cNvSpPr txBox="1"/>
          <p:nvPr/>
        </p:nvSpPr>
        <p:spPr>
          <a:xfrm>
            <a:off x="8593738" y="1267744"/>
            <a:ext cx="2679700" cy="762000"/>
          </a:xfrm>
          <a:prstGeom prst="rect">
            <a:avLst/>
          </a:prstGeom>
          <a:noFill/>
          <a:ln>
            <a:noFill/>
          </a:ln>
        </p:spPr>
        <p:txBody>
          <a:bodyPr wrap="square" rtlCol="0" anchor="t" anchorCtr="0">
            <a:normAutofit fontScale="92500" lnSpcReduction="20000"/>
          </a:bodyPr>
          <a:lstStyle/>
          <a:p>
            <a:pPr algn="l"/>
            <a:r>
              <a:rPr lang="en-AU" sz="5400" b="1" dirty="0">
                <a:latin typeface="Century Gothic" panose="020B0502020202020204" pitchFamily="34" charset="0"/>
                <a:cs typeface="Futura Medium" panose="020B0602020204020303" pitchFamily="34" charset="-79"/>
              </a:rPr>
              <a:t>F</a:t>
            </a:r>
            <a:r>
              <a:rPr lang="en-AU" sz="5400" b="1" baseline="-25000" dirty="0">
                <a:latin typeface="Century Gothic" panose="020B0502020202020204" pitchFamily="34" charset="0"/>
                <a:cs typeface="Futura Medium" panose="020B0602020204020303" pitchFamily="34" charset="-79"/>
              </a:rPr>
              <a:t>N</a:t>
            </a:r>
            <a:endParaRPr lang="en-AU" sz="5400" b="1" dirty="0">
              <a:latin typeface="Century Gothic" panose="020B0502020202020204" pitchFamily="34" charset="0"/>
              <a:cs typeface="Futura Medium" panose="020B0602020204020303" pitchFamily="34" charset="-79"/>
            </a:endParaRPr>
          </a:p>
        </p:txBody>
      </p:sp>
      <p:sp>
        <p:nvSpPr>
          <p:cNvPr id="27" name="Text Placeholder 3">
            <a:extLst>
              <a:ext uri="{FF2B5EF4-FFF2-40B4-BE49-F238E27FC236}">
                <a16:creationId xmlns:a16="http://schemas.microsoft.com/office/drawing/2014/main" id="{AC10B922-5FFF-4C97-94F5-B235F1509B05}"/>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Free body diagram:</a:t>
            </a:r>
          </a:p>
          <a:p>
            <a:endParaRPr lang="en-AU" dirty="0"/>
          </a:p>
        </p:txBody>
      </p:sp>
    </p:spTree>
    <p:extLst>
      <p:ext uri="{BB962C8B-B14F-4D97-AF65-F5344CB8AC3E}">
        <p14:creationId xmlns:p14="http://schemas.microsoft.com/office/powerpoint/2010/main" val="137004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P spid="25"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2742094"/>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9" name="Isosceles Triangle 8">
            <a:extLst>
              <a:ext uri="{FF2B5EF4-FFF2-40B4-BE49-F238E27FC236}">
                <a16:creationId xmlns:a16="http://schemas.microsoft.com/office/drawing/2014/main" id="{35A193DE-FCF1-44EE-AE60-4D4EAE9B622B}"/>
              </a:ext>
            </a:extLst>
          </p:cNvPr>
          <p:cNvSpPr/>
          <p:nvPr/>
        </p:nvSpPr>
        <p:spPr>
          <a:xfrm>
            <a:off x="6096000" y="1551470"/>
            <a:ext cx="5613400" cy="3162300"/>
          </a:xfrm>
          <a:prstGeom prst="triangle">
            <a:avLst>
              <a:gd name="adj" fmla="val 0"/>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D77064F0-97AD-4259-9B7F-23C824234A58}"/>
              </a:ext>
            </a:extLst>
          </p:cNvPr>
          <p:cNvSpPr/>
          <p:nvPr/>
        </p:nvSpPr>
        <p:spPr>
          <a:xfrm>
            <a:off x="7543800" y="1653070"/>
            <a:ext cx="889000" cy="889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Arrow Connector 11">
            <a:extLst>
              <a:ext uri="{FF2B5EF4-FFF2-40B4-BE49-F238E27FC236}">
                <a16:creationId xmlns:a16="http://schemas.microsoft.com/office/drawing/2014/main" id="{F5D5C04B-DC3D-4BA3-B29F-F23E1C1E6F94}"/>
              </a:ext>
            </a:extLst>
          </p:cNvPr>
          <p:cNvCxnSpPr/>
          <p:nvPr/>
        </p:nvCxnSpPr>
        <p:spPr>
          <a:xfrm>
            <a:off x="7975600" y="2110270"/>
            <a:ext cx="0" cy="162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177A5E4-DFB7-4C29-97C6-FDD70F671082}"/>
              </a:ext>
            </a:extLst>
          </p:cNvPr>
          <p:cNvSpPr txBox="1"/>
          <p:nvPr/>
        </p:nvSpPr>
        <p:spPr>
          <a:xfrm>
            <a:off x="7092950" y="2800575"/>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sp>
        <p:nvSpPr>
          <p:cNvPr id="15" name="Oval 14">
            <a:extLst>
              <a:ext uri="{FF2B5EF4-FFF2-40B4-BE49-F238E27FC236}">
                <a16:creationId xmlns:a16="http://schemas.microsoft.com/office/drawing/2014/main" id="{73D096AD-C55C-43B9-8F4F-A33CBB4EFD75}"/>
              </a:ext>
            </a:extLst>
          </p:cNvPr>
          <p:cNvSpPr/>
          <p:nvPr/>
        </p:nvSpPr>
        <p:spPr>
          <a:xfrm>
            <a:off x="2520685" y="2484278"/>
            <a:ext cx="254654" cy="25465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Text Placeholder 3">
            <a:extLst>
              <a:ext uri="{FF2B5EF4-FFF2-40B4-BE49-F238E27FC236}">
                <a16:creationId xmlns:a16="http://schemas.microsoft.com/office/drawing/2014/main" id="{F6011A6B-77F0-4402-9F65-A32766DC658B}"/>
              </a:ext>
            </a:extLst>
          </p:cNvPr>
          <p:cNvSpPr txBox="1">
            <a:spLocks/>
          </p:cNvSpPr>
          <p:nvPr/>
        </p:nvSpPr>
        <p:spPr>
          <a:xfrm>
            <a:off x="389597" y="5349898"/>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There is a net force down the slope and the ball, therefore, accelerates as predicted by Newton’s second law.</a:t>
            </a:r>
          </a:p>
          <a:p>
            <a:endParaRPr lang="en-AU" dirty="0"/>
          </a:p>
        </p:txBody>
      </p:sp>
      <p:cxnSp>
        <p:nvCxnSpPr>
          <p:cNvPr id="23" name="Straight Arrow Connector 22">
            <a:extLst>
              <a:ext uri="{FF2B5EF4-FFF2-40B4-BE49-F238E27FC236}">
                <a16:creationId xmlns:a16="http://schemas.microsoft.com/office/drawing/2014/main" id="{E89716DB-5E2F-4109-9C17-21ED5A8AC050}"/>
              </a:ext>
            </a:extLst>
          </p:cNvPr>
          <p:cNvCxnSpPr>
            <a:cxnSpLocks/>
          </p:cNvCxnSpPr>
          <p:nvPr/>
        </p:nvCxnSpPr>
        <p:spPr>
          <a:xfrm flipV="1">
            <a:off x="7975600" y="914991"/>
            <a:ext cx="927100" cy="118257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394A324-469B-4BB7-BA9B-DE92EE039004}"/>
              </a:ext>
            </a:extLst>
          </p:cNvPr>
          <p:cNvSpPr txBox="1"/>
          <p:nvPr/>
        </p:nvSpPr>
        <p:spPr>
          <a:xfrm>
            <a:off x="8593738" y="1506280"/>
            <a:ext cx="2679700" cy="762000"/>
          </a:xfrm>
          <a:prstGeom prst="rect">
            <a:avLst/>
          </a:prstGeom>
          <a:noFill/>
          <a:ln>
            <a:noFill/>
          </a:ln>
        </p:spPr>
        <p:txBody>
          <a:bodyPr wrap="square" rtlCol="0" anchor="t" anchorCtr="0">
            <a:normAutofit fontScale="92500" lnSpcReduction="20000"/>
          </a:bodyPr>
          <a:lstStyle/>
          <a:p>
            <a:pPr algn="l"/>
            <a:r>
              <a:rPr lang="en-AU" sz="5400" b="1" dirty="0">
                <a:latin typeface="Century Gothic" panose="020B0502020202020204" pitchFamily="34" charset="0"/>
                <a:cs typeface="Futura Medium" panose="020B0602020204020303" pitchFamily="34" charset="-79"/>
              </a:rPr>
              <a:t>F</a:t>
            </a:r>
            <a:r>
              <a:rPr lang="en-AU" sz="5400" b="1" baseline="-25000" dirty="0">
                <a:latin typeface="Century Gothic" panose="020B0502020202020204" pitchFamily="34" charset="0"/>
                <a:cs typeface="Futura Medium" panose="020B0602020204020303" pitchFamily="34" charset="-79"/>
              </a:rPr>
              <a:t>N</a:t>
            </a:r>
            <a:endParaRPr lang="en-AU" sz="5400" b="1" dirty="0">
              <a:latin typeface="Century Gothic" panose="020B0502020202020204" pitchFamily="34" charset="0"/>
              <a:cs typeface="Futura Medium" panose="020B0602020204020303" pitchFamily="34" charset="-79"/>
            </a:endParaRPr>
          </a:p>
        </p:txBody>
      </p:sp>
      <p:sp>
        <p:nvSpPr>
          <p:cNvPr id="27" name="Text Placeholder 3">
            <a:extLst>
              <a:ext uri="{FF2B5EF4-FFF2-40B4-BE49-F238E27FC236}">
                <a16:creationId xmlns:a16="http://schemas.microsoft.com/office/drawing/2014/main" id="{AC10B922-5FFF-4C97-94F5-B235F1509B05}"/>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Vector diagram:</a:t>
            </a:r>
          </a:p>
          <a:p>
            <a:endParaRPr lang="en-AU" dirty="0"/>
          </a:p>
        </p:txBody>
      </p:sp>
      <p:cxnSp>
        <p:nvCxnSpPr>
          <p:cNvPr id="20" name="Straight Arrow Connector 19">
            <a:extLst>
              <a:ext uri="{FF2B5EF4-FFF2-40B4-BE49-F238E27FC236}">
                <a16:creationId xmlns:a16="http://schemas.microsoft.com/office/drawing/2014/main" id="{51D69682-CAA3-485C-B5ED-86FB8487933B}"/>
              </a:ext>
            </a:extLst>
          </p:cNvPr>
          <p:cNvCxnSpPr>
            <a:cxnSpLocks/>
          </p:cNvCxnSpPr>
          <p:nvPr/>
        </p:nvCxnSpPr>
        <p:spPr>
          <a:xfrm>
            <a:off x="2613329" y="2600488"/>
            <a:ext cx="0" cy="192501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D176C7-69D2-472D-A801-C12D1BE66B11}"/>
              </a:ext>
            </a:extLst>
          </p:cNvPr>
          <p:cNvCxnSpPr>
            <a:cxnSpLocks/>
          </p:cNvCxnSpPr>
          <p:nvPr/>
        </p:nvCxnSpPr>
        <p:spPr>
          <a:xfrm flipV="1">
            <a:off x="2660149" y="3119315"/>
            <a:ext cx="1059444" cy="13531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44BB4A1-8E3D-42A2-89AC-7AC8A357E6A7}"/>
              </a:ext>
            </a:extLst>
          </p:cNvPr>
          <p:cNvSpPr txBox="1"/>
          <p:nvPr/>
        </p:nvSpPr>
        <p:spPr>
          <a:xfrm>
            <a:off x="3312878" y="3593129"/>
            <a:ext cx="2679700" cy="762000"/>
          </a:xfrm>
          <a:prstGeom prst="rect">
            <a:avLst/>
          </a:prstGeom>
          <a:noFill/>
          <a:ln>
            <a:noFill/>
          </a:ln>
        </p:spPr>
        <p:txBody>
          <a:bodyPr wrap="square" rtlCol="0" anchor="t" anchorCtr="0">
            <a:normAutofit fontScale="92500" lnSpcReduction="20000"/>
          </a:bodyPr>
          <a:lstStyle/>
          <a:p>
            <a:pPr algn="l"/>
            <a:r>
              <a:rPr lang="en-AU" sz="5400" b="1" dirty="0">
                <a:latin typeface="Century Gothic" panose="020B0502020202020204" pitchFamily="34" charset="0"/>
                <a:cs typeface="Futura Medium" panose="020B0602020204020303" pitchFamily="34" charset="-79"/>
              </a:rPr>
              <a:t>F</a:t>
            </a:r>
            <a:r>
              <a:rPr lang="en-AU" sz="5400" b="1" baseline="-25000" dirty="0">
                <a:latin typeface="Century Gothic" panose="020B0502020202020204" pitchFamily="34" charset="0"/>
                <a:cs typeface="Futura Medium" panose="020B0602020204020303" pitchFamily="34" charset="-79"/>
              </a:rPr>
              <a:t>N</a:t>
            </a:r>
            <a:endParaRPr lang="en-AU" sz="5400" b="1" dirty="0">
              <a:latin typeface="Century Gothic" panose="020B0502020202020204" pitchFamily="34" charset="0"/>
              <a:cs typeface="Futura Medium" panose="020B0602020204020303" pitchFamily="34" charset="-79"/>
            </a:endParaRPr>
          </a:p>
        </p:txBody>
      </p:sp>
      <p:grpSp>
        <p:nvGrpSpPr>
          <p:cNvPr id="5" name="Group 4">
            <a:extLst>
              <a:ext uri="{FF2B5EF4-FFF2-40B4-BE49-F238E27FC236}">
                <a16:creationId xmlns:a16="http://schemas.microsoft.com/office/drawing/2014/main" id="{14771501-EFAE-413D-9AE4-CDFA491460AD}"/>
              </a:ext>
            </a:extLst>
          </p:cNvPr>
          <p:cNvGrpSpPr/>
          <p:nvPr/>
        </p:nvGrpSpPr>
        <p:grpSpPr>
          <a:xfrm>
            <a:off x="2648012" y="1805356"/>
            <a:ext cx="3084852" cy="1313959"/>
            <a:chOff x="2245056" y="2673261"/>
            <a:chExt cx="3084852" cy="1313959"/>
          </a:xfrm>
        </p:grpSpPr>
        <p:sp>
          <p:nvSpPr>
            <p:cNvPr id="21" name="TextBox 20">
              <a:extLst>
                <a:ext uri="{FF2B5EF4-FFF2-40B4-BE49-F238E27FC236}">
                  <a16:creationId xmlns:a16="http://schemas.microsoft.com/office/drawing/2014/main" id="{9AB14B16-D08E-4FDA-ADFD-C1A883CDA1FE}"/>
                </a:ext>
              </a:extLst>
            </p:cNvPr>
            <p:cNvSpPr txBox="1"/>
            <p:nvPr/>
          </p:nvSpPr>
          <p:spPr>
            <a:xfrm>
              <a:off x="2650208" y="2673261"/>
              <a:ext cx="2679700" cy="762000"/>
            </a:xfrm>
            <a:prstGeom prst="rect">
              <a:avLst/>
            </a:prstGeom>
            <a:noFill/>
            <a:ln>
              <a:noFill/>
            </a:ln>
          </p:spPr>
          <p:txBody>
            <a:bodyPr wrap="square" rtlCol="0" anchor="t" anchorCtr="0">
              <a:normAutofit fontScale="92500" lnSpcReduction="20000"/>
            </a:bodyPr>
            <a:lstStyle/>
            <a:p>
              <a:pPr algn="l"/>
              <a:r>
                <a:rPr lang="en-AU" sz="5400" b="1" dirty="0" err="1">
                  <a:solidFill>
                    <a:srgbClr val="FF0000"/>
                  </a:solidFill>
                  <a:latin typeface="Century Gothic" panose="020B0502020202020204" pitchFamily="34" charset="0"/>
                  <a:cs typeface="Futura Medium" panose="020B0602020204020303" pitchFamily="34" charset="-79"/>
                </a:rPr>
                <a:t>F</a:t>
              </a:r>
              <a:r>
                <a:rPr lang="en-AU" sz="5400" b="1" baseline="-25000" dirty="0" err="1">
                  <a:solidFill>
                    <a:srgbClr val="FF0000"/>
                  </a:solidFill>
                  <a:latin typeface="Century Gothic" panose="020B0502020202020204" pitchFamily="34" charset="0"/>
                  <a:cs typeface="Futura Medium" panose="020B0602020204020303" pitchFamily="34" charset="-79"/>
                </a:rPr>
                <a:t>net</a:t>
              </a:r>
              <a:endParaRPr lang="en-AU" sz="5400" b="1" dirty="0">
                <a:solidFill>
                  <a:srgbClr val="FF0000"/>
                </a:solidFill>
                <a:latin typeface="Century Gothic" panose="020B0502020202020204" pitchFamily="34" charset="0"/>
                <a:cs typeface="Futura Medium" panose="020B0602020204020303" pitchFamily="34" charset="-79"/>
              </a:endParaRPr>
            </a:p>
          </p:txBody>
        </p:sp>
        <p:cxnSp>
          <p:nvCxnSpPr>
            <p:cNvPr id="28" name="Straight Arrow Connector 27">
              <a:extLst>
                <a:ext uri="{FF2B5EF4-FFF2-40B4-BE49-F238E27FC236}">
                  <a16:creationId xmlns:a16="http://schemas.microsoft.com/office/drawing/2014/main" id="{3F98BF35-8B11-4E74-BBF7-6039CAC06ED7}"/>
                </a:ext>
              </a:extLst>
            </p:cNvPr>
            <p:cNvCxnSpPr>
              <a:cxnSpLocks/>
            </p:cNvCxnSpPr>
            <p:nvPr/>
          </p:nvCxnSpPr>
          <p:spPr>
            <a:xfrm>
              <a:off x="2245056" y="3429000"/>
              <a:ext cx="1071581" cy="5582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8478B3BC-4411-4CDD-BC45-B463668DE92E}"/>
              </a:ext>
            </a:extLst>
          </p:cNvPr>
          <p:cNvSpPr txBox="1"/>
          <p:nvPr/>
        </p:nvSpPr>
        <p:spPr>
          <a:xfrm>
            <a:off x="1622600" y="2815749"/>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spTree>
    <p:extLst>
      <p:ext uri="{BB962C8B-B14F-4D97-AF65-F5344CB8AC3E}">
        <p14:creationId xmlns:p14="http://schemas.microsoft.com/office/powerpoint/2010/main" val="109155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2742094"/>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15" name="Oval 14">
            <a:extLst>
              <a:ext uri="{FF2B5EF4-FFF2-40B4-BE49-F238E27FC236}">
                <a16:creationId xmlns:a16="http://schemas.microsoft.com/office/drawing/2014/main" id="{73D096AD-C55C-43B9-8F4F-A33CBB4EFD75}"/>
              </a:ext>
            </a:extLst>
          </p:cNvPr>
          <p:cNvSpPr/>
          <p:nvPr/>
        </p:nvSpPr>
        <p:spPr>
          <a:xfrm>
            <a:off x="9934982" y="3834444"/>
            <a:ext cx="254654" cy="25465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 name="Group 2">
            <a:extLst>
              <a:ext uri="{FF2B5EF4-FFF2-40B4-BE49-F238E27FC236}">
                <a16:creationId xmlns:a16="http://schemas.microsoft.com/office/drawing/2014/main" id="{6541712B-B01D-4F84-8458-069084297446}"/>
              </a:ext>
            </a:extLst>
          </p:cNvPr>
          <p:cNvGrpSpPr/>
          <p:nvPr/>
        </p:nvGrpSpPr>
        <p:grpSpPr>
          <a:xfrm>
            <a:off x="9235937" y="755130"/>
            <a:ext cx="2690210" cy="1820557"/>
            <a:chOff x="6096000" y="914991"/>
            <a:chExt cx="5613400" cy="3798779"/>
          </a:xfrm>
        </p:grpSpPr>
        <p:sp>
          <p:nvSpPr>
            <p:cNvPr id="9" name="Isosceles Triangle 8">
              <a:extLst>
                <a:ext uri="{FF2B5EF4-FFF2-40B4-BE49-F238E27FC236}">
                  <a16:creationId xmlns:a16="http://schemas.microsoft.com/office/drawing/2014/main" id="{35A193DE-FCF1-44EE-AE60-4D4EAE9B622B}"/>
                </a:ext>
              </a:extLst>
            </p:cNvPr>
            <p:cNvSpPr/>
            <p:nvPr/>
          </p:nvSpPr>
          <p:spPr>
            <a:xfrm>
              <a:off x="6096000" y="1551470"/>
              <a:ext cx="5613400" cy="3162300"/>
            </a:xfrm>
            <a:prstGeom prst="triangle">
              <a:avLst>
                <a:gd name="adj" fmla="val 0"/>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D77064F0-97AD-4259-9B7F-23C824234A58}"/>
                </a:ext>
              </a:extLst>
            </p:cNvPr>
            <p:cNvSpPr/>
            <p:nvPr/>
          </p:nvSpPr>
          <p:spPr>
            <a:xfrm>
              <a:off x="7543800" y="1653070"/>
              <a:ext cx="889000" cy="8890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Arrow Connector 11">
              <a:extLst>
                <a:ext uri="{FF2B5EF4-FFF2-40B4-BE49-F238E27FC236}">
                  <a16:creationId xmlns:a16="http://schemas.microsoft.com/office/drawing/2014/main" id="{F5D5C04B-DC3D-4BA3-B29F-F23E1C1E6F94}"/>
                </a:ext>
              </a:extLst>
            </p:cNvPr>
            <p:cNvCxnSpPr/>
            <p:nvPr/>
          </p:nvCxnSpPr>
          <p:spPr>
            <a:xfrm>
              <a:off x="7975600" y="2110270"/>
              <a:ext cx="0" cy="162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177A5E4-DFB7-4C29-97C6-FDD70F671082}"/>
                </a:ext>
              </a:extLst>
            </p:cNvPr>
            <p:cNvSpPr txBox="1"/>
            <p:nvPr/>
          </p:nvSpPr>
          <p:spPr>
            <a:xfrm>
              <a:off x="6808473" y="2895840"/>
              <a:ext cx="2679701" cy="762000"/>
            </a:xfrm>
            <a:prstGeom prst="rect">
              <a:avLst/>
            </a:prstGeom>
            <a:noFill/>
            <a:ln>
              <a:noFill/>
            </a:ln>
          </p:spPr>
          <p:txBody>
            <a:bodyPr wrap="square" rtlCol="0" anchor="t" anchorCtr="0">
              <a:normAutofit fontScale="400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cxnSp>
          <p:nvCxnSpPr>
            <p:cNvPr id="23" name="Straight Arrow Connector 22">
              <a:extLst>
                <a:ext uri="{FF2B5EF4-FFF2-40B4-BE49-F238E27FC236}">
                  <a16:creationId xmlns:a16="http://schemas.microsoft.com/office/drawing/2014/main" id="{E89716DB-5E2F-4109-9C17-21ED5A8AC050}"/>
                </a:ext>
              </a:extLst>
            </p:cNvPr>
            <p:cNvCxnSpPr>
              <a:cxnSpLocks/>
            </p:cNvCxnSpPr>
            <p:nvPr/>
          </p:nvCxnSpPr>
          <p:spPr>
            <a:xfrm flipV="1">
              <a:off x="7975600" y="914991"/>
              <a:ext cx="927100" cy="118257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394A324-469B-4BB7-BA9B-DE92EE039004}"/>
                </a:ext>
              </a:extLst>
            </p:cNvPr>
            <p:cNvSpPr txBox="1"/>
            <p:nvPr/>
          </p:nvSpPr>
          <p:spPr>
            <a:xfrm>
              <a:off x="8593739" y="1176820"/>
              <a:ext cx="2679701" cy="762000"/>
            </a:xfrm>
            <a:prstGeom prst="rect">
              <a:avLst/>
            </a:prstGeom>
            <a:noFill/>
            <a:ln>
              <a:noFill/>
            </a:ln>
          </p:spPr>
          <p:txBody>
            <a:bodyPr wrap="square" rtlCol="0" anchor="t" anchorCtr="0">
              <a:noAutofit/>
            </a:bodyPr>
            <a:lstStyle/>
            <a:p>
              <a:pPr algn="l"/>
              <a:r>
                <a:rPr lang="en-AU" sz="2200" b="1" dirty="0">
                  <a:latin typeface="Century Gothic" panose="020B0502020202020204" pitchFamily="34" charset="0"/>
                  <a:cs typeface="Futura Medium" panose="020B0602020204020303" pitchFamily="34" charset="-79"/>
                </a:rPr>
                <a:t>F</a:t>
              </a:r>
              <a:r>
                <a:rPr lang="en-AU" sz="2200" b="1" baseline="-25000" dirty="0">
                  <a:latin typeface="Century Gothic" panose="020B0502020202020204" pitchFamily="34" charset="0"/>
                  <a:cs typeface="Futura Medium" panose="020B0602020204020303" pitchFamily="34" charset="-79"/>
                </a:rPr>
                <a:t>N</a:t>
              </a:r>
              <a:endParaRPr lang="en-AU" sz="2200" b="1" dirty="0">
                <a:latin typeface="Century Gothic" panose="020B0502020202020204" pitchFamily="34" charset="0"/>
                <a:cs typeface="Futura Medium" panose="020B0602020204020303" pitchFamily="34" charset="-79"/>
              </a:endParaRPr>
            </a:p>
          </p:txBody>
        </p:sp>
      </p:grpSp>
      <p:sp>
        <p:nvSpPr>
          <p:cNvPr id="27" name="Text Placeholder 3">
            <a:extLst>
              <a:ext uri="{FF2B5EF4-FFF2-40B4-BE49-F238E27FC236}">
                <a16:creationId xmlns:a16="http://schemas.microsoft.com/office/drawing/2014/main" id="{AC10B922-5FFF-4C97-94F5-B235F1509B05}"/>
              </a:ext>
            </a:extLst>
          </p:cNvPr>
          <p:cNvSpPr txBox="1">
            <a:spLocks/>
          </p:cNvSpPr>
          <p:nvPr/>
        </p:nvSpPr>
        <p:spPr>
          <a:xfrm>
            <a:off x="214868" y="1007686"/>
            <a:ext cx="881213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When analysing motion on an inclined plane, we normally use the plane itself as the frame of reference. That is: we want to know whether and how fast the object is accelerating down the slope.</a:t>
            </a:r>
          </a:p>
          <a:p>
            <a:endParaRPr lang="en-AU" sz="1050" b="0" dirty="0"/>
          </a:p>
          <a:p>
            <a:r>
              <a:rPr lang="en-AU" b="0" dirty="0"/>
              <a:t>The normal force is already perpendicular to the slope. The net force is already parallel to the slope.</a:t>
            </a:r>
          </a:p>
          <a:p>
            <a:endParaRPr lang="en-AU" sz="1100" b="0" dirty="0"/>
          </a:p>
          <a:p>
            <a:r>
              <a:rPr lang="en-AU" b="0" dirty="0"/>
              <a:t>So we just have to resolve </a:t>
            </a:r>
            <a:r>
              <a:rPr lang="en-AU" b="0" dirty="0" err="1"/>
              <a:t>F</a:t>
            </a:r>
            <a:r>
              <a:rPr lang="en-AU" b="0" baseline="-25000" dirty="0" err="1"/>
              <a:t>g</a:t>
            </a:r>
            <a:r>
              <a:rPr lang="en-AU" b="0" dirty="0"/>
              <a:t> into its components. The component of </a:t>
            </a:r>
            <a:r>
              <a:rPr lang="en-AU" b="0" dirty="0" err="1"/>
              <a:t>F</a:t>
            </a:r>
            <a:r>
              <a:rPr lang="en-AU" b="0" baseline="-25000" dirty="0" err="1"/>
              <a:t>g</a:t>
            </a:r>
            <a:r>
              <a:rPr lang="en-AU" b="0" dirty="0"/>
              <a:t> parallel to the slope will be the force responsible for the object’s motion.</a:t>
            </a:r>
          </a:p>
          <a:p>
            <a:endParaRPr lang="en-AU" dirty="0"/>
          </a:p>
        </p:txBody>
      </p:sp>
      <p:cxnSp>
        <p:nvCxnSpPr>
          <p:cNvPr id="20" name="Straight Arrow Connector 19">
            <a:extLst>
              <a:ext uri="{FF2B5EF4-FFF2-40B4-BE49-F238E27FC236}">
                <a16:creationId xmlns:a16="http://schemas.microsoft.com/office/drawing/2014/main" id="{51D69682-CAA3-485C-B5ED-86FB8487933B}"/>
              </a:ext>
            </a:extLst>
          </p:cNvPr>
          <p:cNvCxnSpPr/>
          <p:nvPr/>
        </p:nvCxnSpPr>
        <p:spPr>
          <a:xfrm>
            <a:off x="10062964" y="3918388"/>
            <a:ext cx="0" cy="162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D176C7-69D2-472D-A801-C12D1BE66B11}"/>
              </a:ext>
            </a:extLst>
          </p:cNvPr>
          <p:cNvCxnSpPr>
            <a:cxnSpLocks/>
          </p:cNvCxnSpPr>
          <p:nvPr/>
        </p:nvCxnSpPr>
        <p:spPr>
          <a:xfrm flipV="1">
            <a:off x="10100385" y="4340761"/>
            <a:ext cx="927100" cy="118257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44BB4A1-8E3D-42A2-89AC-7AC8A357E6A7}"/>
              </a:ext>
            </a:extLst>
          </p:cNvPr>
          <p:cNvSpPr txBox="1"/>
          <p:nvPr/>
        </p:nvSpPr>
        <p:spPr>
          <a:xfrm>
            <a:off x="10803342" y="4803607"/>
            <a:ext cx="2679700" cy="762000"/>
          </a:xfrm>
          <a:prstGeom prst="rect">
            <a:avLst/>
          </a:prstGeom>
          <a:noFill/>
          <a:ln>
            <a:noFill/>
          </a:ln>
        </p:spPr>
        <p:txBody>
          <a:bodyPr wrap="square" rtlCol="0" anchor="t" anchorCtr="0">
            <a:normAutofit fontScale="92500" lnSpcReduction="20000"/>
          </a:bodyPr>
          <a:lstStyle/>
          <a:p>
            <a:pPr algn="l"/>
            <a:r>
              <a:rPr lang="en-AU" sz="5400" b="1" dirty="0">
                <a:latin typeface="Century Gothic" panose="020B0502020202020204" pitchFamily="34" charset="0"/>
                <a:cs typeface="Futura Medium" panose="020B0602020204020303" pitchFamily="34" charset="-79"/>
              </a:rPr>
              <a:t>F</a:t>
            </a:r>
            <a:r>
              <a:rPr lang="en-AU" sz="5400" b="1" baseline="-25000" dirty="0">
                <a:latin typeface="Century Gothic" panose="020B0502020202020204" pitchFamily="34" charset="0"/>
                <a:cs typeface="Futura Medium" panose="020B0602020204020303" pitchFamily="34" charset="-79"/>
              </a:rPr>
              <a:t>N</a:t>
            </a:r>
            <a:endParaRPr lang="en-AU" sz="5400" b="1" dirty="0">
              <a:latin typeface="Century Gothic" panose="020B0502020202020204" pitchFamily="34" charset="0"/>
              <a:cs typeface="Futura Medium" panose="020B0602020204020303" pitchFamily="34" charset="-79"/>
            </a:endParaRPr>
          </a:p>
        </p:txBody>
      </p:sp>
      <p:grpSp>
        <p:nvGrpSpPr>
          <p:cNvPr id="5" name="Group 4">
            <a:extLst>
              <a:ext uri="{FF2B5EF4-FFF2-40B4-BE49-F238E27FC236}">
                <a16:creationId xmlns:a16="http://schemas.microsoft.com/office/drawing/2014/main" id="{14771501-EFAE-413D-9AE4-CDFA491460AD}"/>
              </a:ext>
            </a:extLst>
          </p:cNvPr>
          <p:cNvGrpSpPr/>
          <p:nvPr/>
        </p:nvGrpSpPr>
        <p:grpSpPr>
          <a:xfrm>
            <a:off x="10062309" y="3156388"/>
            <a:ext cx="3003109" cy="1239438"/>
            <a:chOff x="2245056" y="2674127"/>
            <a:chExt cx="3003109" cy="1239438"/>
          </a:xfrm>
        </p:grpSpPr>
        <p:sp>
          <p:nvSpPr>
            <p:cNvPr id="21" name="TextBox 20">
              <a:extLst>
                <a:ext uri="{FF2B5EF4-FFF2-40B4-BE49-F238E27FC236}">
                  <a16:creationId xmlns:a16="http://schemas.microsoft.com/office/drawing/2014/main" id="{9AB14B16-D08E-4FDA-ADFD-C1A883CDA1FE}"/>
                </a:ext>
              </a:extLst>
            </p:cNvPr>
            <p:cNvSpPr txBox="1"/>
            <p:nvPr/>
          </p:nvSpPr>
          <p:spPr>
            <a:xfrm>
              <a:off x="2568465" y="2674127"/>
              <a:ext cx="2679700" cy="762000"/>
            </a:xfrm>
            <a:prstGeom prst="rect">
              <a:avLst/>
            </a:prstGeom>
            <a:noFill/>
            <a:ln>
              <a:noFill/>
            </a:ln>
          </p:spPr>
          <p:txBody>
            <a:bodyPr wrap="square" rtlCol="0" anchor="t" anchorCtr="0">
              <a:normAutofit fontScale="92500" lnSpcReduction="20000"/>
            </a:bodyPr>
            <a:lstStyle/>
            <a:p>
              <a:pPr algn="l"/>
              <a:r>
                <a:rPr lang="en-AU" sz="5400" b="1" dirty="0" err="1">
                  <a:solidFill>
                    <a:srgbClr val="FF0000"/>
                  </a:solidFill>
                  <a:latin typeface="Century Gothic" panose="020B0502020202020204" pitchFamily="34" charset="0"/>
                  <a:cs typeface="Futura Medium" panose="020B0602020204020303" pitchFamily="34" charset="-79"/>
                </a:rPr>
                <a:t>F</a:t>
              </a:r>
              <a:r>
                <a:rPr lang="en-AU" sz="5400" b="1" baseline="-25000" dirty="0" err="1">
                  <a:solidFill>
                    <a:srgbClr val="FF0000"/>
                  </a:solidFill>
                  <a:latin typeface="Century Gothic" panose="020B0502020202020204" pitchFamily="34" charset="0"/>
                  <a:cs typeface="Futura Medium" panose="020B0602020204020303" pitchFamily="34" charset="-79"/>
                </a:rPr>
                <a:t>net</a:t>
              </a:r>
              <a:endParaRPr lang="en-AU" sz="5400" b="1" dirty="0">
                <a:solidFill>
                  <a:srgbClr val="FF0000"/>
                </a:solidFill>
                <a:latin typeface="Century Gothic" panose="020B0502020202020204" pitchFamily="34" charset="0"/>
                <a:cs typeface="Futura Medium" panose="020B0602020204020303" pitchFamily="34" charset="-79"/>
              </a:endParaRPr>
            </a:p>
          </p:txBody>
        </p:sp>
        <p:cxnSp>
          <p:nvCxnSpPr>
            <p:cNvPr id="28" name="Straight Arrow Connector 27">
              <a:extLst>
                <a:ext uri="{FF2B5EF4-FFF2-40B4-BE49-F238E27FC236}">
                  <a16:creationId xmlns:a16="http://schemas.microsoft.com/office/drawing/2014/main" id="{3F98BF35-8B11-4E74-BBF7-6039CAC06ED7}"/>
                </a:ext>
              </a:extLst>
            </p:cNvPr>
            <p:cNvCxnSpPr>
              <a:cxnSpLocks/>
            </p:cNvCxnSpPr>
            <p:nvPr/>
          </p:nvCxnSpPr>
          <p:spPr>
            <a:xfrm>
              <a:off x="2245056" y="3429000"/>
              <a:ext cx="901840" cy="48456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8478B3BC-4411-4CDD-BC45-B463668DE92E}"/>
              </a:ext>
            </a:extLst>
          </p:cNvPr>
          <p:cNvSpPr txBox="1"/>
          <p:nvPr/>
        </p:nvSpPr>
        <p:spPr>
          <a:xfrm>
            <a:off x="9173379" y="4235289"/>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spTree>
    <p:extLst>
      <p:ext uri="{BB962C8B-B14F-4D97-AF65-F5344CB8AC3E}">
        <p14:creationId xmlns:p14="http://schemas.microsoft.com/office/powerpoint/2010/main" val="363688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Isosceles Triangle 29">
            <a:extLst>
              <a:ext uri="{FF2B5EF4-FFF2-40B4-BE49-F238E27FC236}">
                <a16:creationId xmlns:a16="http://schemas.microsoft.com/office/drawing/2014/main" id="{DD5077B8-5E7F-44CE-AE1E-F2FC30BF2E98}"/>
              </a:ext>
            </a:extLst>
          </p:cNvPr>
          <p:cNvSpPr/>
          <p:nvPr/>
        </p:nvSpPr>
        <p:spPr>
          <a:xfrm>
            <a:off x="744773" y="1817924"/>
            <a:ext cx="8832615" cy="4824922"/>
          </a:xfrm>
          <a:prstGeom prst="triangle">
            <a:avLst>
              <a:gd name="adj" fmla="val 0"/>
            </a:avLst>
          </a:prstGeom>
          <a:solidFill>
            <a:srgbClr val="DEEBF7">
              <a:alpha val="3411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2742094"/>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26" name="TextBox 25">
            <a:extLst>
              <a:ext uri="{FF2B5EF4-FFF2-40B4-BE49-F238E27FC236}">
                <a16:creationId xmlns:a16="http://schemas.microsoft.com/office/drawing/2014/main" id="{344BB4A1-8E3D-42A2-89AC-7AC8A357E6A7}"/>
              </a:ext>
            </a:extLst>
          </p:cNvPr>
          <p:cNvSpPr txBox="1"/>
          <p:nvPr/>
        </p:nvSpPr>
        <p:spPr>
          <a:xfrm>
            <a:off x="4936331" y="5051962"/>
            <a:ext cx="2679700" cy="762000"/>
          </a:xfrm>
          <a:prstGeom prst="rect">
            <a:avLst/>
          </a:prstGeom>
          <a:noFill/>
          <a:ln>
            <a:noFill/>
          </a:ln>
        </p:spPr>
        <p:txBody>
          <a:bodyPr wrap="square" rtlCol="0" anchor="t" anchorCtr="0">
            <a:normAutofit/>
          </a:bodyPr>
          <a:lstStyle/>
          <a:p>
            <a:pPr algn="l"/>
            <a:r>
              <a:rPr lang="en-AU" sz="4400" b="1" dirty="0">
                <a:latin typeface="Century Gothic" panose="020B0502020202020204" pitchFamily="34" charset="0"/>
                <a:cs typeface="Futura Medium" panose="020B0602020204020303" pitchFamily="34" charset="-79"/>
              </a:rPr>
              <a:t>F</a:t>
            </a:r>
            <a:r>
              <a:rPr lang="en-AU" sz="4400" b="1" baseline="-25000" dirty="0">
                <a:latin typeface="Century Gothic" panose="020B0502020202020204" pitchFamily="34" charset="0"/>
                <a:cs typeface="Futura Medium" panose="020B0602020204020303" pitchFamily="34" charset="-79"/>
              </a:rPr>
              <a:t>N</a:t>
            </a:r>
            <a:endParaRPr lang="en-AU" sz="4400" b="1" dirty="0">
              <a:latin typeface="Century Gothic" panose="020B0502020202020204" pitchFamily="34" charset="0"/>
              <a:cs typeface="Futura Medium" panose="020B0602020204020303" pitchFamily="34" charset="-79"/>
            </a:endParaRPr>
          </a:p>
        </p:txBody>
      </p:sp>
      <p:sp>
        <p:nvSpPr>
          <p:cNvPr id="21" name="TextBox 20">
            <a:extLst>
              <a:ext uri="{FF2B5EF4-FFF2-40B4-BE49-F238E27FC236}">
                <a16:creationId xmlns:a16="http://schemas.microsoft.com/office/drawing/2014/main" id="{9AB14B16-D08E-4FDA-ADFD-C1A883CDA1FE}"/>
              </a:ext>
            </a:extLst>
          </p:cNvPr>
          <p:cNvSpPr txBox="1"/>
          <p:nvPr/>
        </p:nvSpPr>
        <p:spPr>
          <a:xfrm>
            <a:off x="4506107" y="2810371"/>
            <a:ext cx="2679700" cy="762000"/>
          </a:xfrm>
          <a:prstGeom prst="rect">
            <a:avLst/>
          </a:prstGeom>
          <a:noFill/>
          <a:ln>
            <a:noFill/>
          </a:ln>
        </p:spPr>
        <p:txBody>
          <a:bodyPr wrap="square" rtlCol="0" anchor="t" anchorCtr="0">
            <a:normAutofit/>
          </a:bodyPr>
          <a:lstStyle/>
          <a:p>
            <a:pPr algn="l"/>
            <a:r>
              <a:rPr lang="en-AU" sz="4400" b="1" dirty="0" err="1">
                <a:solidFill>
                  <a:srgbClr val="FF0000"/>
                </a:solidFill>
                <a:latin typeface="Century Gothic" panose="020B0502020202020204" pitchFamily="34" charset="0"/>
                <a:cs typeface="Futura Medium" panose="020B0602020204020303" pitchFamily="34" charset="-79"/>
              </a:rPr>
              <a:t>F</a:t>
            </a:r>
            <a:r>
              <a:rPr lang="en-AU" sz="4400" b="1" baseline="-25000" dirty="0" err="1">
                <a:solidFill>
                  <a:srgbClr val="FF0000"/>
                </a:solidFill>
                <a:latin typeface="Century Gothic" panose="020B0502020202020204" pitchFamily="34" charset="0"/>
                <a:cs typeface="Futura Medium" panose="020B0602020204020303" pitchFamily="34" charset="-79"/>
              </a:rPr>
              <a:t>net</a:t>
            </a:r>
            <a:endParaRPr lang="en-AU" sz="4400" b="1" dirty="0">
              <a:solidFill>
                <a:srgbClr val="FF0000"/>
              </a:solidFill>
              <a:latin typeface="Century Gothic" panose="020B0502020202020204" pitchFamily="34" charset="0"/>
              <a:cs typeface="Futura Medium" panose="020B0602020204020303" pitchFamily="34" charset="-79"/>
            </a:endParaRPr>
          </a:p>
        </p:txBody>
      </p:sp>
      <p:sp>
        <p:nvSpPr>
          <p:cNvPr id="15" name="Oval 14">
            <a:extLst>
              <a:ext uri="{FF2B5EF4-FFF2-40B4-BE49-F238E27FC236}">
                <a16:creationId xmlns:a16="http://schemas.microsoft.com/office/drawing/2014/main" id="{73D096AD-C55C-43B9-8F4F-A33CBB4EFD75}"/>
              </a:ext>
            </a:extLst>
          </p:cNvPr>
          <p:cNvSpPr/>
          <p:nvPr/>
        </p:nvSpPr>
        <p:spPr>
          <a:xfrm>
            <a:off x="3501551" y="2823165"/>
            <a:ext cx="587678" cy="587678"/>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cxnSp>
        <p:nvCxnSpPr>
          <p:cNvPr id="20" name="Straight Arrow Connector 19">
            <a:extLst>
              <a:ext uri="{FF2B5EF4-FFF2-40B4-BE49-F238E27FC236}">
                <a16:creationId xmlns:a16="http://schemas.microsoft.com/office/drawing/2014/main" id="{51D69682-CAA3-485C-B5ED-86FB8487933B}"/>
              </a:ext>
            </a:extLst>
          </p:cNvPr>
          <p:cNvCxnSpPr>
            <a:cxnSpLocks/>
          </p:cNvCxnSpPr>
          <p:nvPr/>
        </p:nvCxnSpPr>
        <p:spPr>
          <a:xfrm flipH="1">
            <a:off x="3769410" y="3074487"/>
            <a:ext cx="51962" cy="35638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D176C7-69D2-472D-A801-C12D1BE66B11}"/>
              </a:ext>
            </a:extLst>
          </p:cNvPr>
          <p:cNvCxnSpPr>
            <a:cxnSpLocks/>
          </p:cNvCxnSpPr>
          <p:nvPr/>
        </p:nvCxnSpPr>
        <p:spPr>
          <a:xfrm flipV="1">
            <a:off x="3778054" y="3990818"/>
            <a:ext cx="1550858" cy="264588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F98BF35-8B11-4E74-BBF7-6039CAC06ED7}"/>
              </a:ext>
            </a:extLst>
          </p:cNvPr>
          <p:cNvCxnSpPr>
            <a:cxnSpLocks/>
          </p:cNvCxnSpPr>
          <p:nvPr/>
        </p:nvCxnSpPr>
        <p:spPr>
          <a:xfrm>
            <a:off x="3799477" y="3087933"/>
            <a:ext cx="1551470" cy="9926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F425956-95D8-42B7-96A0-3DD0140D949C}"/>
              </a:ext>
            </a:extLst>
          </p:cNvPr>
          <p:cNvCxnSpPr>
            <a:cxnSpLocks/>
          </p:cNvCxnSpPr>
          <p:nvPr/>
        </p:nvCxnSpPr>
        <p:spPr>
          <a:xfrm flipH="1">
            <a:off x="2206408" y="3098429"/>
            <a:ext cx="1588983" cy="252277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478B3BC-4411-4CDD-BC45-B463668DE92E}"/>
              </a:ext>
            </a:extLst>
          </p:cNvPr>
          <p:cNvSpPr txBox="1"/>
          <p:nvPr/>
        </p:nvSpPr>
        <p:spPr>
          <a:xfrm>
            <a:off x="3843345" y="4090206"/>
            <a:ext cx="2679700" cy="762000"/>
          </a:xfrm>
          <a:prstGeom prst="rect">
            <a:avLst/>
          </a:prstGeom>
          <a:noFill/>
          <a:ln>
            <a:noFill/>
          </a:ln>
        </p:spPr>
        <p:txBody>
          <a:bodyPr wrap="square" rtlCol="0" anchor="t" anchorCtr="0">
            <a:normAutofit/>
          </a:bodyPr>
          <a:lstStyle/>
          <a:p>
            <a:pPr algn="l"/>
            <a:r>
              <a:rPr lang="en-AU" sz="4400" b="1" dirty="0" err="1">
                <a:latin typeface="Century Gothic" panose="020B0502020202020204" pitchFamily="34" charset="0"/>
                <a:cs typeface="Futura Medium" panose="020B0602020204020303" pitchFamily="34" charset="-79"/>
              </a:rPr>
              <a:t>F</a:t>
            </a:r>
            <a:r>
              <a:rPr lang="en-AU" sz="4400" b="1" baseline="-25000" dirty="0" err="1">
                <a:latin typeface="Century Gothic" panose="020B0502020202020204" pitchFamily="34" charset="0"/>
                <a:cs typeface="Futura Medium" panose="020B0602020204020303" pitchFamily="34" charset="-79"/>
              </a:rPr>
              <a:t>g</a:t>
            </a:r>
            <a:endParaRPr lang="en-AU" sz="4400" b="1" dirty="0">
              <a:latin typeface="Century Gothic" panose="020B0502020202020204" pitchFamily="34" charset="0"/>
              <a:cs typeface="Futura Medium" panose="020B0602020204020303" pitchFamily="34" charset="-79"/>
            </a:endParaRPr>
          </a:p>
        </p:txBody>
      </p:sp>
      <p:sp>
        <p:nvSpPr>
          <p:cNvPr id="35" name="Text Placeholder 3">
            <a:extLst>
              <a:ext uri="{FF2B5EF4-FFF2-40B4-BE49-F238E27FC236}">
                <a16:creationId xmlns:a16="http://schemas.microsoft.com/office/drawing/2014/main" id="{4D92BF34-9891-4710-96B2-FEC91C0B79CD}"/>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Resolving </a:t>
            </a:r>
            <a:r>
              <a:rPr lang="en-AU" dirty="0" err="1"/>
              <a:t>F</a:t>
            </a:r>
            <a:r>
              <a:rPr lang="en-AU" baseline="-25000" dirty="0" err="1"/>
              <a:t>g</a:t>
            </a:r>
            <a:r>
              <a:rPr lang="en-AU" dirty="0"/>
              <a:t> to its components</a:t>
            </a:r>
          </a:p>
          <a:p>
            <a:endParaRPr lang="en-AU" dirty="0"/>
          </a:p>
        </p:txBody>
      </p:sp>
      <p:grpSp>
        <p:nvGrpSpPr>
          <p:cNvPr id="41" name="Group 40">
            <a:extLst>
              <a:ext uri="{FF2B5EF4-FFF2-40B4-BE49-F238E27FC236}">
                <a16:creationId xmlns:a16="http://schemas.microsoft.com/office/drawing/2014/main" id="{010220BE-1BA4-4785-81A7-3A90517EBB98}"/>
              </a:ext>
            </a:extLst>
          </p:cNvPr>
          <p:cNvGrpSpPr/>
          <p:nvPr/>
        </p:nvGrpSpPr>
        <p:grpSpPr>
          <a:xfrm>
            <a:off x="3250000" y="3582976"/>
            <a:ext cx="879539" cy="550988"/>
            <a:chOff x="3250000" y="3582976"/>
            <a:chExt cx="879539" cy="550988"/>
          </a:xfrm>
        </p:grpSpPr>
        <p:sp>
          <p:nvSpPr>
            <p:cNvPr id="36" name="TextBox 35">
              <a:extLst>
                <a:ext uri="{FF2B5EF4-FFF2-40B4-BE49-F238E27FC236}">
                  <a16:creationId xmlns:a16="http://schemas.microsoft.com/office/drawing/2014/main" id="{6129909F-4F5B-4F49-A6F9-940EB8A94E19}"/>
                </a:ext>
              </a:extLst>
            </p:cNvPr>
            <p:cNvSpPr txBox="1"/>
            <p:nvPr/>
          </p:nvSpPr>
          <p:spPr>
            <a:xfrm>
              <a:off x="3372285" y="3582976"/>
              <a:ext cx="753142" cy="507230"/>
            </a:xfrm>
            <a:prstGeom prst="rect">
              <a:avLst/>
            </a:prstGeom>
            <a:noFill/>
            <a:ln>
              <a:noFill/>
            </a:ln>
          </p:spPr>
          <p:txBody>
            <a:bodyPr wrap="square" rtlCol="0" anchor="t" anchorCtr="0">
              <a:normAutofit lnSpcReduction="10000"/>
            </a:bodyPr>
            <a:lstStyle/>
            <a:p>
              <a:pPr algn="l"/>
              <a:r>
                <a:rPr lang="el-GR" sz="2800" b="1" i="0" dirty="0">
                  <a:effectLst/>
                  <a:latin typeface="Times New Roman" panose="02020603050405020304" pitchFamily="18" charset="0"/>
                  <a:cs typeface="Times New Roman" panose="02020603050405020304" pitchFamily="18" charset="0"/>
                </a:rPr>
                <a:t>θ</a:t>
              </a:r>
              <a:endParaRPr lang="en-AU" sz="2800" b="1" dirty="0">
                <a:latin typeface="Times New Roman" panose="02020603050405020304" pitchFamily="18" charset="0"/>
                <a:cs typeface="Times New Roman" panose="02020603050405020304" pitchFamily="18" charset="0"/>
              </a:endParaRPr>
            </a:p>
          </p:txBody>
        </p:sp>
        <p:sp>
          <p:nvSpPr>
            <p:cNvPr id="37" name="Arc 36">
              <a:extLst>
                <a:ext uri="{FF2B5EF4-FFF2-40B4-BE49-F238E27FC236}">
                  <a16:creationId xmlns:a16="http://schemas.microsoft.com/office/drawing/2014/main" id="{75975B88-ADC0-4FE2-82BC-679251FEA2F0}"/>
                </a:ext>
              </a:extLst>
            </p:cNvPr>
            <p:cNvSpPr/>
            <p:nvPr/>
          </p:nvSpPr>
          <p:spPr>
            <a:xfrm rot="11000748">
              <a:off x="3250000" y="3893055"/>
              <a:ext cx="879539" cy="24090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b="1"/>
            </a:p>
          </p:txBody>
        </p:sp>
      </p:grpSp>
      <p:grpSp>
        <p:nvGrpSpPr>
          <p:cNvPr id="40" name="Group 39">
            <a:extLst>
              <a:ext uri="{FF2B5EF4-FFF2-40B4-BE49-F238E27FC236}">
                <a16:creationId xmlns:a16="http://schemas.microsoft.com/office/drawing/2014/main" id="{F30CB114-05E8-4CBC-8A1F-69AC1B328080}"/>
              </a:ext>
            </a:extLst>
          </p:cNvPr>
          <p:cNvGrpSpPr/>
          <p:nvPr/>
        </p:nvGrpSpPr>
        <p:grpSpPr>
          <a:xfrm>
            <a:off x="1575050" y="3709635"/>
            <a:ext cx="2966637" cy="3061729"/>
            <a:chOff x="1575050" y="3679818"/>
            <a:chExt cx="2966637" cy="3061729"/>
          </a:xfrm>
        </p:grpSpPr>
        <p:sp>
          <p:nvSpPr>
            <p:cNvPr id="38" name="TextBox 37">
              <a:extLst>
                <a:ext uri="{FF2B5EF4-FFF2-40B4-BE49-F238E27FC236}">
                  <a16:creationId xmlns:a16="http://schemas.microsoft.com/office/drawing/2014/main" id="{0BBA2CDD-A2BD-4A9C-9F22-B34E1B80AC03}"/>
                </a:ext>
              </a:extLst>
            </p:cNvPr>
            <p:cNvSpPr txBox="1"/>
            <p:nvPr/>
          </p:nvSpPr>
          <p:spPr>
            <a:xfrm>
              <a:off x="1575050" y="3679818"/>
              <a:ext cx="1339850" cy="762000"/>
            </a:xfrm>
            <a:prstGeom prst="rect">
              <a:avLst/>
            </a:prstGeom>
            <a:noFill/>
            <a:ln>
              <a:noFill/>
            </a:ln>
          </p:spPr>
          <p:txBody>
            <a:bodyPr wrap="square" rtlCol="0" anchor="t" anchorCtr="0">
              <a:normAutofit/>
            </a:bodyPr>
            <a:lstStyle/>
            <a:p>
              <a:pPr algn="l"/>
              <a:r>
                <a:rPr lang="en-AU" sz="2800" b="1" dirty="0" err="1">
                  <a:latin typeface="Century Gothic" panose="020B0502020202020204" pitchFamily="34" charset="0"/>
                  <a:cs typeface="Futura Medium" panose="020B0602020204020303" pitchFamily="34" charset="-79"/>
                </a:rPr>
                <a:t>F</a:t>
              </a:r>
              <a:r>
                <a:rPr lang="en-AU" sz="2800" b="1" baseline="-25000" dirty="0" err="1">
                  <a:latin typeface="Century Gothic" panose="020B0502020202020204" pitchFamily="34" charset="0"/>
                  <a:cs typeface="Futura Medium" panose="020B0602020204020303" pitchFamily="34" charset="-79"/>
                </a:rPr>
                <a:t>g</a:t>
              </a:r>
              <a:r>
                <a:rPr lang="en-AU" sz="2800" b="1" dirty="0" err="1">
                  <a:latin typeface="Century Gothic" panose="020B0502020202020204" pitchFamily="34" charset="0"/>
                  <a:cs typeface="Futura Medium" panose="020B0602020204020303" pitchFamily="34" charset="-79"/>
                </a:rPr>
                <a:t>cos</a:t>
              </a:r>
              <a:r>
                <a:rPr lang="el-GR" sz="2800" b="1" i="0" dirty="0">
                  <a:effectLst/>
                  <a:latin typeface="arial" panose="020B0604020202020204" pitchFamily="34" charset="0"/>
                </a:rPr>
                <a:t>θ</a:t>
              </a:r>
              <a:endParaRPr lang="en-AU" sz="2800" b="1" dirty="0">
                <a:latin typeface="Century Gothic" panose="020B0502020202020204" pitchFamily="34" charset="0"/>
                <a:cs typeface="Futura Medium" panose="020B0602020204020303" pitchFamily="34" charset="-79"/>
              </a:endParaRPr>
            </a:p>
          </p:txBody>
        </p:sp>
        <p:sp>
          <p:nvSpPr>
            <p:cNvPr id="39" name="TextBox 38">
              <a:extLst>
                <a:ext uri="{FF2B5EF4-FFF2-40B4-BE49-F238E27FC236}">
                  <a16:creationId xmlns:a16="http://schemas.microsoft.com/office/drawing/2014/main" id="{17ABD39A-CDD7-4996-8979-B4A2C09078AC}"/>
                </a:ext>
              </a:extLst>
            </p:cNvPr>
            <p:cNvSpPr txBox="1"/>
            <p:nvPr/>
          </p:nvSpPr>
          <p:spPr>
            <a:xfrm>
              <a:off x="1861987" y="5979547"/>
              <a:ext cx="2679700" cy="762000"/>
            </a:xfrm>
            <a:prstGeom prst="rect">
              <a:avLst/>
            </a:prstGeom>
            <a:noFill/>
            <a:ln>
              <a:noFill/>
            </a:ln>
          </p:spPr>
          <p:txBody>
            <a:bodyPr wrap="square" rtlCol="0" anchor="t" anchorCtr="0">
              <a:normAutofit/>
            </a:bodyPr>
            <a:lstStyle/>
            <a:p>
              <a:pPr algn="l"/>
              <a:r>
                <a:rPr lang="en-AU" sz="2800" b="1" dirty="0" err="1">
                  <a:latin typeface="Century Gothic" panose="020B0502020202020204" pitchFamily="34" charset="0"/>
                  <a:cs typeface="Futura Medium" panose="020B0602020204020303" pitchFamily="34" charset="-79"/>
                </a:rPr>
                <a:t>F</a:t>
              </a:r>
              <a:r>
                <a:rPr lang="en-AU" sz="2800" b="1" baseline="-25000" dirty="0" err="1">
                  <a:latin typeface="Century Gothic" panose="020B0502020202020204" pitchFamily="34" charset="0"/>
                  <a:cs typeface="Futura Medium" panose="020B0602020204020303" pitchFamily="34" charset="-79"/>
                </a:rPr>
                <a:t>g</a:t>
              </a:r>
              <a:r>
                <a:rPr lang="en-AU" sz="2800" b="1" dirty="0" err="1">
                  <a:latin typeface="Century Gothic" panose="020B0502020202020204" pitchFamily="34" charset="0"/>
                  <a:cs typeface="Futura Medium" panose="020B0602020204020303" pitchFamily="34" charset="-79"/>
                </a:rPr>
                <a:t>sin</a:t>
              </a:r>
              <a:r>
                <a:rPr lang="el-GR" sz="2800" b="1" i="0" dirty="0">
                  <a:effectLst/>
                  <a:latin typeface="arial" panose="020B0604020202020204" pitchFamily="34" charset="0"/>
                </a:rPr>
                <a:t>θ</a:t>
              </a:r>
              <a:endParaRPr lang="en-AU" sz="2800" b="1" dirty="0">
                <a:latin typeface="Century Gothic" panose="020B0502020202020204" pitchFamily="34" charset="0"/>
                <a:cs typeface="Futura Medium" panose="020B0602020204020303" pitchFamily="34" charset="-79"/>
              </a:endParaRPr>
            </a:p>
          </p:txBody>
        </p:sp>
      </p:grpSp>
      <p:grpSp>
        <p:nvGrpSpPr>
          <p:cNvPr id="45" name="Group 44">
            <a:extLst>
              <a:ext uri="{FF2B5EF4-FFF2-40B4-BE49-F238E27FC236}">
                <a16:creationId xmlns:a16="http://schemas.microsoft.com/office/drawing/2014/main" id="{934D304B-B4AF-442C-83B6-EE6BEE262860}"/>
              </a:ext>
            </a:extLst>
          </p:cNvPr>
          <p:cNvGrpSpPr/>
          <p:nvPr/>
        </p:nvGrpSpPr>
        <p:grpSpPr>
          <a:xfrm>
            <a:off x="7685894" y="1148216"/>
            <a:ext cx="3891727" cy="2109419"/>
            <a:chOff x="8034968" y="1081804"/>
            <a:chExt cx="3891727" cy="2109419"/>
          </a:xfrm>
        </p:grpSpPr>
        <p:sp>
          <p:nvSpPr>
            <p:cNvPr id="43" name="TextBox 42">
              <a:extLst>
                <a:ext uri="{FF2B5EF4-FFF2-40B4-BE49-F238E27FC236}">
                  <a16:creationId xmlns:a16="http://schemas.microsoft.com/office/drawing/2014/main" id="{91057953-B3AC-4EA7-B3C2-92B5BC9217E0}"/>
                </a:ext>
              </a:extLst>
            </p:cNvPr>
            <p:cNvSpPr txBox="1"/>
            <p:nvPr/>
          </p:nvSpPr>
          <p:spPr>
            <a:xfrm>
              <a:off x="8034968" y="1081804"/>
              <a:ext cx="3580879" cy="1306542"/>
            </a:xfrm>
            <a:prstGeom prst="rect">
              <a:avLst/>
            </a:prstGeom>
            <a:noFill/>
            <a:ln>
              <a:noFill/>
            </a:ln>
          </p:spPr>
          <p:txBody>
            <a:bodyPr wrap="square" rtlCol="0" anchor="t" anchorCtr="0">
              <a:normAutofit/>
            </a:bodyPr>
            <a:lstStyle/>
            <a:p>
              <a:pPr algn="l"/>
              <a:r>
                <a:rPr lang="en-AU" sz="4800" dirty="0" err="1">
                  <a:latin typeface="Arial" panose="020B0604020202020204" pitchFamily="34" charset="0"/>
                  <a:cs typeface="Arial" panose="020B0604020202020204" pitchFamily="34" charset="0"/>
                </a:rPr>
                <a:t>F</a:t>
              </a:r>
              <a:r>
                <a:rPr lang="en-AU" sz="4800" baseline="-25000" dirty="0" err="1">
                  <a:latin typeface="Arial" panose="020B0604020202020204" pitchFamily="34" charset="0"/>
                  <a:cs typeface="Arial" panose="020B0604020202020204" pitchFamily="34" charset="0"/>
                </a:rPr>
                <a:t>g</a:t>
              </a:r>
              <a:r>
                <a:rPr lang="en-AU" sz="4800" dirty="0" err="1">
                  <a:latin typeface="Arial" panose="020B0604020202020204" pitchFamily="34" charset="0"/>
                  <a:cs typeface="Arial" panose="020B0604020202020204" pitchFamily="34" charset="0"/>
                </a:rPr>
                <a:t>sin</a:t>
              </a:r>
              <a:r>
                <a:rPr lang="el-GR" sz="4800" i="0" dirty="0">
                  <a:effectLst/>
                  <a:latin typeface="Arial" panose="020B0604020202020204" pitchFamily="34" charset="0"/>
                  <a:cs typeface="Arial" panose="020B0604020202020204" pitchFamily="34" charset="0"/>
                </a:rPr>
                <a:t>θ</a:t>
              </a:r>
              <a:r>
                <a:rPr lang="en-AU" sz="4800" i="0" dirty="0">
                  <a:effectLst/>
                  <a:latin typeface="Arial" panose="020B0604020202020204" pitchFamily="34" charset="0"/>
                  <a:cs typeface="Arial" panose="020B0604020202020204" pitchFamily="34" charset="0"/>
                </a:rPr>
                <a:t> = </a:t>
              </a:r>
              <a:r>
                <a:rPr lang="en-AU" sz="4800" i="0" dirty="0" err="1">
                  <a:effectLst/>
                  <a:latin typeface="Arial" panose="020B0604020202020204" pitchFamily="34" charset="0"/>
                  <a:cs typeface="Arial" panose="020B0604020202020204" pitchFamily="34" charset="0"/>
                </a:rPr>
                <a:t>F</a:t>
              </a:r>
              <a:r>
                <a:rPr lang="en-AU" sz="4800" i="0" baseline="-25000" dirty="0" err="1">
                  <a:effectLst/>
                  <a:latin typeface="Arial" panose="020B0604020202020204" pitchFamily="34" charset="0"/>
                  <a:cs typeface="Arial" panose="020B0604020202020204" pitchFamily="34" charset="0"/>
                </a:rPr>
                <a:t>net</a:t>
              </a:r>
              <a:endParaRPr lang="en-AU" sz="4800" dirty="0">
                <a:latin typeface="Arial" panose="020B0604020202020204" pitchFamily="34" charset="0"/>
                <a:cs typeface="Arial" panose="020B0604020202020204" pitchFamily="34" charset="0"/>
              </a:endParaRPr>
            </a:p>
          </p:txBody>
        </p:sp>
        <p:sp>
          <p:nvSpPr>
            <p:cNvPr id="44" name="Text Placeholder 3">
              <a:extLst>
                <a:ext uri="{FF2B5EF4-FFF2-40B4-BE49-F238E27FC236}">
                  <a16:creationId xmlns:a16="http://schemas.microsoft.com/office/drawing/2014/main" id="{89CDD98A-2C38-4561-AD52-8F977D67C6FA}"/>
                </a:ext>
              </a:extLst>
            </p:cNvPr>
            <p:cNvSpPr txBox="1">
              <a:spLocks/>
            </p:cNvSpPr>
            <p:nvPr/>
          </p:nvSpPr>
          <p:spPr>
            <a:xfrm>
              <a:off x="8034968" y="2305661"/>
              <a:ext cx="389172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The component of the weight directly down the slope is responsible for the motion.</a:t>
              </a:r>
            </a:p>
            <a:p>
              <a:endParaRPr lang="en-AU" dirty="0"/>
            </a:p>
          </p:txBody>
        </p:sp>
      </p:grpSp>
      <p:grpSp>
        <p:nvGrpSpPr>
          <p:cNvPr id="27" name="Group 26">
            <a:extLst>
              <a:ext uri="{FF2B5EF4-FFF2-40B4-BE49-F238E27FC236}">
                <a16:creationId xmlns:a16="http://schemas.microsoft.com/office/drawing/2014/main" id="{5ED54594-73AD-409C-8075-1EBCF0F9D9EC}"/>
              </a:ext>
            </a:extLst>
          </p:cNvPr>
          <p:cNvGrpSpPr/>
          <p:nvPr/>
        </p:nvGrpSpPr>
        <p:grpSpPr>
          <a:xfrm>
            <a:off x="8338600" y="6101198"/>
            <a:ext cx="841427" cy="879539"/>
            <a:chOff x="3284000" y="3532019"/>
            <a:chExt cx="841427" cy="879539"/>
          </a:xfrm>
        </p:grpSpPr>
        <p:sp>
          <p:nvSpPr>
            <p:cNvPr id="33" name="TextBox 32">
              <a:extLst>
                <a:ext uri="{FF2B5EF4-FFF2-40B4-BE49-F238E27FC236}">
                  <a16:creationId xmlns:a16="http://schemas.microsoft.com/office/drawing/2014/main" id="{26BC8F95-6DFC-4384-938B-6261F26E9B26}"/>
                </a:ext>
              </a:extLst>
            </p:cNvPr>
            <p:cNvSpPr txBox="1"/>
            <p:nvPr/>
          </p:nvSpPr>
          <p:spPr>
            <a:xfrm>
              <a:off x="3372285" y="3582976"/>
              <a:ext cx="753142" cy="507230"/>
            </a:xfrm>
            <a:prstGeom prst="rect">
              <a:avLst/>
            </a:prstGeom>
            <a:noFill/>
            <a:ln>
              <a:noFill/>
            </a:ln>
          </p:spPr>
          <p:txBody>
            <a:bodyPr wrap="square" rtlCol="0" anchor="t" anchorCtr="0">
              <a:normAutofit lnSpcReduction="10000"/>
            </a:bodyPr>
            <a:lstStyle/>
            <a:p>
              <a:pPr algn="l"/>
              <a:r>
                <a:rPr lang="el-GR" sz="2800" b="1" i="0" dirty="0">
                  <a:effectLst/>
                  <a:latin typeface="Times New Roman" panose="02020603050405020304" pitchFamily="18" charset="0"/>
                  <a:cs typeface="Times New Roman" panose="02020603050405020304" pitchFamily="18" charset="0"/>
                </a:rPr>
                <a:t>θ</a:t>
              </a:r>
              <a:endParaRPr lang="en-AU" sz="2800" b="1" dirty="0">
                <a:latin typeface="Times New Roman" panose="02020603050405020304" pitchFamily="18" charset="0"/>
                <a:cs typeface="Times New Roman" panose="02020603050405020304" pitchFamily="18" charset="0"/>
              </a:endParaRPr>
            </a:p>
          </p:txBody>
        </p:sp>
        <p:sp>
          <p:nvSpPr>
            <p:cNvPr id="34" name="Arc 33">
              <a:extLst>
                <a:ext uri="{FF2B5EF4-FFF2-40B4-BE49-F238E27FC236}">
                  <a16:creationId xmlns:a16="http://schemas.microsoft.com/office/drawing/2014/main" id="{A62A2F3C-1ECC-4D4A-8FD8-EABA03BBEDD2}"/>
                </a:ext>
              </a:extLst>
            </p:cNvPr>
            <p:cNvSpPr/>
            <p:nvPr/>
          </p:nvSpPr>
          <p:spPr>
            <a:xfrm rot="16200000">
              <a:off x="2964685" y="3851334"/>
              <a:ext cx="879539" cy="24090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cxnSp>
        <p:nvCxnSpPr>
          <p:cNvPr id="22" name="Straight Arrow Connector 21">
            <a:extLst>
              <a:ext uri="{FF2B5EF4-FFF2-40B4-BE49-F238E27FC236}">
                <a16:creationId xmlns:a16="http://schemas.microsoft.com/office/drawing/2014/main" id="{CA22555E-EB22-DEB3-D814-1F5E68B66DA0}"/>
              </a:ext>
            </a:extLst>
          </p:cNvPr>
          <p:cNvCxnSpPr>
            <a:cxnSpLocks/>
          </p:cNvCxnSpPr>
          <p:nvPr/>
        </p:nvCxnSpPr>
        <p:spPr>
          <a:xfrm>
            <a:off x="2217940" y="5632268"/>
            <a:ext cx="1551470" cy="992618"/>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77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Isosceles Triangle 29">
            <a:extLst>
              <a:ext uri="{FF2B5EF4-FFF2-40B4-BE49-F238E27FC236}">
                <a16:creationId xmlns:a16="http://schemas.microsoft.com/office/drawing/2014/main" id="{DD5077B8-5E7F-44CE-AE1E-F2FC30BF2E98}"/>
              </a:ext>
            </a:extLst>
          </p:cNvPr>
          <p:cNvSpPr/>
          <p:nvPr/>
        </p:nvSpPr>
        <p:spPr>
          <a:xfrm>
            <a:off x="744773" y="1817924"/>
            <a:ext cx="8832615" cy="4824922"/>
          </a:xfrm>
          <a:prstGeom prst="triangle">
            <a:avLst>
              <a:gd name="adj" fmla="val 0"/>
            </a:avLst>
          </a:prstGeom>
          <a:solidFill>
            <a:srgbClr val="DEEBF7">
              <a:alpha val="3411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6" name="Text Placeholder 2">
            <a:extLst>
              <a:ext uri="{FF2B5EF4-FFF2-40B4-BE49-F238E27FC236}">
                <a16:creationId xmlns:a16="http://schemas.microsoft.com/office/drawing/2014/main" id="{414DD0A5-F6C5-442A-A8BE-A6D62CFB0E7D}"/>
              </a:ext>
            </a:extLst>
          </p:cNvPr>
          <p:cNvSpPr txBox="1">
            <a:spLocks/>
          </p:cNvSpPr>
          <p:nvPr/>
        </p:nvSpPr>
        <p:spPr>
          <a:xfrm>
            <a:off x="963884" y="2742094"/>
            <a:ext cx="9077325" cy="197167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26" name="TextBox 25">
            <a:extLst>
              <a:ext uri="{FF2B5EF4-FFF2-40B4-BE49-F238E27FC236}">
                <a16:creationId xmlns:a16="http://schemas.microsoft.com/office/drawing/2014/main" id="{344BB4A1-8E3D-42A2-89AC-7AC8A357E6A7}"/>
              </a:ext>
            </a:extLst>
          </p:cNvPr>
          <p:cNvSpPr txBox="1"/>
          <p:nvPr/>
        </p:nvSpPr>
        <p:spPr>
          <a:xfrm>
            <a:off x="4936331" y="5051962"/>
            <a:ext cx="2679700" cy="762000"/>
          </a:xfrm>
          <a:prstGeom prst="rect">
            <a:avLst/>
          </a:prstGeom>
          <a:noFill/>
          <a:ln>
            <a:noFill/>
          </a:ln>
        </p:spPr>
        <p:txBody>
          <a:bodyPr wrap="square" rtlCol="0" anchor="t" anchorCtr="0">
            <a:normAutofit/>
          </a:bodyPr>
          <a:lstStyle/>
          <a:p>
            <a:pPr algn="l"/>
            <a:r>
              <a:rPr lang="en-AU" sz="4400" b="1" dirty="0">
                <a:latin typeface="Century Gothic" panose="020B0502020202020204" pitchFamily="34" charset="0"/>
                <a:cs typeface="Futura Medium" panose="020B0602020204020303" pitchFamily="34" charset="-79"/>
              </a:rPr>
              <a:t>F</a:t>
            </a:r>
            <a:r>
              <a:rPr lang="en-AU" sz="4400" b="1" baseline="-25000" dirty="0">
                <a:latin typeface="Century Gothic" panose="020B0502020202020204" pitchFamily="34" charset="0"/>
                <a:cs typeface="Futura Medium" panose="020B0602020204020303" pitchFamily="34" charset="-79"/>
              </a:rPr>
              <a:t>N</a:t>
            </a:r>
            <a:endParaRPr lang="en-AU" sz="4400" b="1" dirty="0">
              <a:latin typeface="Century Gothic" panose="020B0502020202020204" pitchFamily="34" charset="0"/>
              <a:cs typeface="Futura Medium" panose="020B0602020204020303" pitchFamily="34" charset="-79"/>
            </a:endParaRPr>
          </a:p>
        </p:txBody>
      </p:sp>
      <p:sp>
        <p:nvSpPr>
          <p:cNvPr id="21" name="TextBox 20">
            <a:extLst>
              <a:ext uri="{FF2B5EF4-FFF2-40B4-BE49-F238E27FC236}">
                <a16:creationId xmlns:a16="http://schemas.microsoft.com/office/drawing/2014/main" id="{9AB14B16-D08E-4FDA-ADFD-C1A883CDA1FE}"/>
              </a:ext>
            </a:extLst>
          </p:cNvPr>
          <p:cNvSpPr txBox="1"/>
          <p:nvPr/>
        </p:nvSpPr>
        <p:spPr>
          <a:xfrm>
            <a:off x="4506107" y="2810371"/>
            <a:ext cx="2679700" cy="762000"/>
          </a:xfrm>
          <a:prstGeom prst="rect">
            <a:avLst/>
          </a:prstGeom>
          <a:noFill/>
          <a:ln>
            <a:noFill/>
          </a:ln>
        </p:spPr>
        <p:txBody>
          <a:bodyPr wrap="square" rtlCol="0" anchor="t" anchorCtr="0">
            <a:normAutofit/>
          </a:bodyPr>
          <a:lstStyle/>
          <a:p>
            <a:pPr algn="l"/>
            <a:r>
              <a:rPr lang="en-AU" sz="4400" b="1" dirty="0" err="1">
                <a:solidFill>
                  <a:srgbClr val="FF0000"/>
                </a:solidFill>
                <a:latin typeface="Century Gothic" panose="020B0502020202020204" pitchFamily="34" charset="0"/>
                <a:cs typeface="Futura Medium" panose="020B0602020204020303" pitchFamily="34" charset="-79"/>
              </a:rPr>
              <a:t>F</a:t>
            </a:r>
            <a:r>
              <a:rPr lang="en-AU" sz="4400" b="1" baseline="-25000" dirty="0" err="1">
                <a:solidFill>
                  <a:srgbClr val="FF0000"/>
                </a:solidFill>
                <a:latin typeface="Century Gothic" panose="020B0502020202020204" pitchFamily="34" charset="0"/>
                <a:cs typeface="Futura Medium" panose="020B0602020204020303" pitchFamily="34" charset="-79"/>
              </a:rPr>
              <a:t>net</a:t>
            </a:r>
            <a:endParaRPr lang="en-AU" sz="4400" b="1" dirty="0">
              <a:solidFill>
                <a:srgbClr val="FF0000"/>
              </a:solidFill>
              <a:latin typeface="Century Gothic" panose="020B0502020202020204" pitchFamily="34" charset="0"/>
              <a:cs typeface="Futura Medium" panose="020B0602020204020303" pitchFamily="34" charset="-79"/>
            </a:endParaRPr>
          </a:p>
        </p:txBody>
      </p:sp>
      <p:sp>
        <p:nvSpPr>
          <p:cNvPr id="15" name="Oval 14">
            <a:extLst>
              <a:ext uri="{FF2B5EF4-FFF2-40B4-BE49-F238E27FC236}">
                <a16:creationId xmlns:a16="http://schemas.microsoft.com/office/drawing/2014/main" id="{73D096AD-C55C-43B9-8F4F-A33CBB4EFD75}"/>
              </a:ext>
            </a:extLst>
          </p:cNvPr>
          <p:cNvSpPr/>
          <p:nvPr/>
        </p:nvSpPr>
        <p:spPr>
          <a:xfrm>
            <a:off x="3501551" y="2823165"/>
            <a:ext cx="587678" cy="587678"/>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cxnSp>
        <p:nvCxnSpPr>
          <p:cNvPr id="20" name="Straight Arrow Connector 19">
            <a:extLst>
              <a:ext uri="{FF2B5EF4-FFF2-40B4-BE49-F238E27FC236}">
                <a16:creationId xmlns:a16="http://schemas.microsoft.com/office/drawing/2014/main" id="{51D69682-CAA3-485C-B5ED-86FB8487933B}"/>
              </a:ext>
            </a:extLst>
          </p:cNvPr>
          <p:cNvCxnSpPr>
            <a:cxnSpLocks/>
          </p:cNvCxnSpPr>
          <p:nvPr/>
        </p:nvCxnSpPr>
        <p:spPr>
          <a:xfrm flipH="1">
            <a:off x="3769410" y="3074487"/>
            <a:ext cx="51962" cy="35638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0D176C7-69D2-472D-A801-C12D1BE66B11}"/>
              </a:ext>
            </a:extLst>
          </p:cNvPr>
          <p:cNvCxnSpPr>
            <a:cxnSpLocks/>
          </p:cNvCxnSpPr>
          <p:nvPr/>
        </p:nvCxnSpPr>
        <p:spPr>
          <a:xfrm flipV="1">
            <a:off x="3778054" y="3990818"/>
            <a:ext cx="1550858" cy="264588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F98BF35-8B11-4E74-BBF7-6039CAC06ED7}"/>
              </a:ext>
            </a:extLst>
          </p:cNvPr>
          <p:cNvCxnSpPr>
            <a:cxnSpLocks/>
          </p:cNvCxnSpPr>
          <p:nvPr/>
        </p:nvCxnSpPr>
        <p:spPr>
          <a:xfrm>
            <a:off x="3799477" y="3087933"/>
            <a:ext cx="1551470" cy="9926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F425956-95D8-42B7-96A0-3DD0140D949C}"/>
              </a:ext>
            </a:extLst>
          </p:cNvPr>
          <p:cNvCxnSpPr>
            <a:cxnSpLocks/>
          </p:cNvCxnSpPr>
          <p:nvPr/>
        </p:nvCxnSpPr>
        <p:spPr>
          <a:xfrm flipH="1">
            <a:off x="2206408" y="3098429"/>
            <a:ext cx="1588983" cy="252277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478B3BC-4411-4CDD-BC45-B463668DE92E}"/>
              </a:ext>
            </a:extLst>
          </p:cNvPr>
          <p:cNvSpPr txBox="1"/>
          <p:nvPr/>
        </p:nvSpPr>
        <p:spPr>
          <a:xfrm>
            <a:off x="3843345" y="4090206"/>
            <a:ext cx="2679700" cy="762000"/>
          </a:xfrm>
          <a:prstGeom prst="rect">
            <a:avLst/>
          </a:prstGeom>
          <a:noFill/>
          <a:ln>
            <a:noFill/>
          </a:ln>
        </p:spPr>
        <p:txBody>
          <a:bodyPr wrap="square" rtlCol="0" anchor="t" anchorCtr="0">
            <a:normAutofit/>
          </a:bodyPr>
          <a:lstStyle/>
          <a:p>
            <a:pPr algn="l"/>
            <a:r>
              <a:rPr lang="en-AU" sz="4400" b="1" dirty="0" err="1">
                <a:latin typeface="Century Gothic" panose="020B0502020202020204" pitchFamily="34" charset="0"/>
                <a:cs typeface="Futura Medium" panose="020B0602020204020303" pitchFamily="34" charset="-79"/>
              </a:rPr>
              <a:t>F</a:t>
            </a:r>
            <a:r>
              <a:rPr lang="en-AU" sz="4400" b="1" baseline="-25000" dirty="0" err="1">
                <a:latin typeface="Century Gothic" panose="020B0502020202020204" pitchFamily="34" charset="0"/>
                <a:cs typeface="Futura Medium" panose="020B0602020204020303" pitchFamily="34" charset="-79"/>
              </a:rPr>
              <a:t>g</a:t>
            </a:r>
            <a:endParaRPr lang="en-AU" sz="4400" b="1" dirty="0">
              <a:latin typeface="Century Gothic" panose="020B0502020202020204" pitchFamily="34" charset="0"/>
              <a:cs typeface="Futura Medium" panose="020B0602020204020303" pitchFamily="34" charset="-79"/>
            </a:endParaRPr>
          </a:p>
        </p:txBody>
      </p:sp>
      <p:sp>
        <p:nvSpPr>
          <p:cNvPr id="35" name="Text Placeholder 3">
            <a:extLst>
              <a:ext uri="{FF2B5EF4-FFF2-40B4-BE49-F238E27FC236}">
                <a16:creationId xmlns:a16="http://schemas.microsoft.com/office/drawing/2014/main" id="{4D92BF34-9891-4710-96B2-FEC91C0B79CD}"/>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Resolving </a:t>
            </a:r>
            <a:r>
              <a:rPr lang="en-AU" dirty="0" err="1"/>
              <a:t>F</a:t>
            </a:r>
            <a:r>
              <a:rPr lang="en-AU" baseline="-25000" dirty="0" err="1"/>
              <a:t>g</a:t>
            </a:r>
            <a:r>
              <a:rPr lang="en-AU" dirty="0"/>
              <a:t> to its components</a:t>
            </a:r>
          </a:p>
          <a:p>
            <a:endParaRPr lang="en-AU" dirty="0"/>
          </a:p>
        </p:txBody>
      </p:sp>
      <p:grpSp>
        <p:nvGrpSpPr>
          <p:cNvPr id="41" name="Group 40">
            <a:extLst>
              <a:ext uri="{FF2B5EF4-FFF2-40B4-BE49-F238E27FC236}">
                <a16:creationId xmlns:a16="http://schemas.microsoft.com/office/drawing/2014/main" id="{010220BE-1BA4-4785-81A7-3A90517EBB98}"/>
              </a:ext>
            </a:extLst>
          </p:cNvPr>
          <p:cNvGrpSpPr/>
          <p:nvPr/>
        </p:nvGrpSpPr>
        <p:grpSpPr>
          <a:xfrm>
            <a:off x="3250000" y="3582976"/>
            <a:ext cx="879539" cy="550988"/>
            <a:chOff x="3250000" y="3582976"/>
            <a:chExt cx="879539" cy="550988"/>
          </a:xfrm>
        </p:grpSpPr>
        <p:sp>
          <p:nvSpPr>
            <p:cNvPr id="36" name="TextBox 35">
              <a:extLst>
                <a:ext uri="{FF2B5EF4-FFF2-40B4-BE49-F238E27FC236}">
                  <a16:creationId xmlns:a16="http://schemas.microsoft.com/office/drawing/2014/main" id="{6129909F-4F5B-4F49-A6F9-940EB8A94E19}"/>
                </a:ext>
              </a:extLst>
            </p:cNvPr>
            <p:cNvSpPr txBox="1"/>
            <p:nvPr/>
          </p:nvSpPr>
          <p:spPr>
            <a:xfrm>
              <a:off x="3372285" y="3582976"/>
              <a:ext cx="753142" cy="507230"/>
            </a:xfrm>
            <a:prstGeom prst="rect">
              <a:avLst/>
            </a:prstGeom>
            <a:noFill/>
            <a:ln>
              <a:noFill/>
            </a:ln>
          </p:spPr>
          <p:txBody>
            <a:bodyPr wrap="square" rtlCol="0" anchor="t" anchorCtr="0">
              <a:normAutofit lnSpcReduction="10000"/>
            </a:bodyPr>
            <a:lstStyle/>
            <a:p>
              <a:pPr algn="l"/>
              <a:r>
                <a:rPr lang="el-GR" sz="2800" b="1" i="0" dirty="0">
                  <a:effectLst/>
                  <a:latin typeface="Times New Roman" panose="02020603050405020304" pitchFamily="18" charset="0"/>
                  <a:cs typeface="Times New Roman" panose="02020603050405020304" pitchFamily="18" charset="0"/>
                </a:rPr>
                <a:t>θ</a:t>
              </a:r>
              <a:endParaRPr lang="en-AU" sz="2800" b="1" dirty="0">
                <a:latin typeface="Times New Roman" panose="02020603050405020304" pitchFamily="18" charset="0"/>
                <a:cs typeface="Times New Roman" panose="02020603050405020304" pitchFamily="18" charset="0"/>
              </a:endParaRPr>
            </a:p>
          </p:txBody>
        </p:sp>
        <p:sp>
          <p:nvSpPr>
            <p:cNvPr id="37" name="Arc 36">
              <a:extLst>
                <a:ext uri="{FF2B5EF4-FFF2-40B4-BE49-F238E27FC236}">
                  <a16:creationId xmlns:a16="http://schemas.microsoft.com/office/drawing/2014/main" id="{75975B88-ADC0-4FE2-82BC-679251FEA2F0}"/>
                </a:ext>
              </a:extLst>
            </p:cNvPr>
            <p:cNvSpPr/>
            <p:nvPr/>
          </p:nvSpPr>
          <p:spPr>
            <a:xfrm rot="11000748">
              <a:off x="3250000" y="3893055"/>
              <a:ext cx="879539" cy="24090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b="1"/>
            </a:p>
          </p:txBody>
        </p:sp>
      </p:grpSp>
      <p:grpSp>
        <p:nvGrpSpPr>
          <p:cNvPr id="40" name="Group 39">
            <a:extLst>
              <a:ext uri="{FF2B5EF4-FFF2-40B4-BE49-F238E27FC236}">
                <a16:creationId xmlns:a16="http://schemas.microsoft.com/office/drawing/2014/main" id="{F30CB114-05E8-4CBC-8A1F-69AC1B328080}"/>
              </a:ext>
            </a:extLst>
          </p:cNvPr>
          <p:cNvGrpSpPr/>
          <p:nvPr/>
        </p:nvGrpSpPr>
        <p:grpSpPr>
          <a:xfrm>
            <a:off x="1575050" y="3709635"/>
            <a:ext cx="2966637" cy="3061729"/>
            <a:chOff x="1575050" y="3679818"/>
            <a:chExt cx="2966637" cy="3061729"/>
          </a:xfrm>
        </p:grpSpPr>
        <p:sp>
          <p:nvSpPr>
            <p:cNvPr id="38" name="TextBox 37">
              <a:extLst>
                <a:ext uri="{FF2B5EF4-FFF2-40B4-BE49-F238E27FC236}">
                  <a16:creationId xmlns:a16="http://schemas.microsoft.com/office/drawing/2014/main" id="{0BBA2CDD-A2BD-4A9C-9F22-B34E1B80AC03}"/>
                </a:ext>
              </a:extLst>
            </p:cNvPr>
            <p:cNvSpPr txBox="1"/>
            <p:nvPr/>
          </p:nvSpPr>
          <p:spPr>
            <a:xfrm>
              <a:off x="1575050" y="3679818"/>
              <a:ext cx="1339850" cy="762000"/>
            </a:xfrm>
            <a:prstGeom prst="rect">
              <a:avLst/>
            </a:prstGeom>
            <a:noFill/>
            <a:ln>
              <a:noFill/>
            </a:ln>
          </p:spPr>
          <p:txBody>
            <a:bodyPr wrap="square" rtlCol="0" anchor="t" anchorCtr="0">
              <a:normAutofit/>
            </a:bodyPr>
            <a:lstStyle/>
            <a:p>
              <a:pPr algn="l"/>
              <a:r>
                <a:rPr lang="en-AU" sz="2800" b="1" dirty="0" err="1">
                  <a:latin typeface="Century Gothic" panose="020B0502020202020204" pitchFamily="34" charset="0"/>
                  <a:cs typeface="Futura Medium" panose="020B0602020204020303" pitchFamily="34" charset="-79"/>
                </a:rPr>
                <a:t>F</a:t>
              </a:r>
              <a:r>
                <a:rPr lang="en-AU" sz="2800" b="1" baseline="-25000" dirty="0" err="1">
                  <a:latin typeface="Century Gothic" panose="020B0502020202020204" pitchFamily="34" charset="0"/>
                  <a:cs typeface="Futura Medium" panose="020B0602020204020303" pitchFamily="34" charset="-79"/>
                </a:rPr>
                <a:t>g</a:t>
              </a:r>
              <a:r>
                <a:rPr lang="en-AU" sz="2800" b="1" dirty="0" err="1">
                  <a:latin typeface="Century Gothic" panose="020B0502020202020204" pitchFamily="34" charset="0"/>
                  <a:cs typeface="Futura Medium" panose="020B0602020204020303" pitchFamily="34" charset="-79"/>
                </a:rPr>
                <a:t>cos</a:t>
              </a:r>
              <a:r>
                <a:rPr lang="el-GR" sz="2800" b="1" i="0" dirty="0">
                  <a:effectLst/>
                  <a:latin typeface="arial" panose="020B0604020202020204" pitchFamily="34" charset="0"/>
                </a:rPr>
                <a:t>θ</a:t>
              </a:r>
              <a:endParaRPr lang="en-AU" sz="2800" b="1" dirty="0">
                <a:latin typeface="Century Gothic" panose="020B0502020202020204" pitchFamily="34" charset="0"/>
                <a:cs typeface="Futura Medium" panose="020B0602020204020303" pitchFamily="34" charset="-79"/>
              </a:endParaRPr>
            </a:p>
          </p:txBody>
        </p:sp>
        <p:sp>
          <p:nvSpPr>
            <p:cNvPr id="39" name="TextBox 38">
              <a:extLst>
                <a:ext uri="{FF2B5EF4-FFF2-40B4-BE49-F238E27FC236}">
                  <a16:creationId xmlns:a16="http://schemas.microsoft.com/office/drawing/2014/main" id="{17ABD39A-CDD7-4996-8979-B4A2C09078AC}"/>
                </a:ext>
              </a:extLst>
            </p:cNvPr>
            <p:cNvSpPr txBox="1"/>
            <p:nvPr/>
          </p:nvSpPr>
          <p:spPr>
            <a:xfrm>
              <a:off x="1861987" y="5979547"/>
              <a:ext cx="2679700" cy="762000"/>
            </a:xfrm>
            <a:prstGeom prst="rect">
              <a:avLst/>
            </a:prstGeom>
            <a:noFill/>
            <a:ln>
              <a:noFill/>
            </a:ln>
          </p:spPr>
          <p:txBody>
            <a:bodyPr wrap="square" rtlCol="0" anchor="t" anchorCtr="0">
              <a:normAutofit/>
            </a:bodyPr>
            <a:lstStyle/>
            <a:p>
              <a:pPr algn="l"/>
              <a:r>
                <a:rPr lang="en-AU" sz="2800" b="1" dirty="0" err="1">
                  <a:latin typeface="Century Gothic" panose="020B0502020202020204" pitchFamily="34" charset="0"/>
                  <a:cs typeface="Futura Medium" panose="020B0602020204020303" pitchFamily="34" charset="-79"/>
                </a:rPr>
                <a:t>F</a:t>
              </a:r>
              <a:r>
                <a:rPr lang="en-AU" sz="2800" b="1" baseline="-25000" dirty="0" err="1">
                  <a:latin typeface="Century Gothic" panose="020B0502020202020204" pitchFamily="34" charset="0"/>
                  <a:cs typeface="Futura Medium" panose="020B0602020204020303" pitchFamily="34" charset="-79"/>
                </a:rPr>
                <a:t>g</a:t>
              </a:r>
              <a:r>
                <a:rPr lang="en-AU" sz="2800" b="1" dirty="0" err="1">
                  <a:latin typeface="Century Gothic" panose="020B0502020202020204" pitchFamily="34" charset="0"/>
                  <a:cs typeface="Futura Medium" panose="020B0602020204020303" pitchFamily="34" charset="-79"/>
                </a:rPr>
                <a:t>sin</a:t>
              </a:r>
              <a:r>
                <a:rPr lang="el-GR" sz="2800" b="1" i="0" dirty="0">
                  <a:effectLst/>
                  <a:latin typeface="arial" panose="020B0604020202020204" pitchFamily="34" charset="0"/>
                </a:rPr>
                <a:t>θ</a:t>
              </a:r>
              <a:endParaRPr lang="en-AU" sz="2800" b="1" dirty="0">
                <a:latin typeface="Century Gothic" panose="020B0502020202020204" pitchFamily="34" charset="0"/>
                <a:cs typeface="Futura Medium" panose="020B0602020204020303" pitchFamily="34" charset="-79"/>
              </a:endParaRPr>
            </a:p>
          </p:txBody>
        </p:sp>
      </p:grpSp>
      <p:grpSp>
        <p:nvGrpSpPr>
          <p:cNvPr id="27" name="Group 26">
            <a:extLst>
              <a:ext uri="{FF2B5EF4-FFF2-40B4-BE49-F238E27FC236}">
                <a16:creationId xmlns:a16="http://schemas.microsoft.com/office/drawing/2014/main" id="{5ED54594-73AD-409C-8075-1EBCF0F9D9EC}"/>
              </a:ext>
            </a:extLst>
          </p:cNvPr>
          <p:cNvGrpSpPr/>
          <p:nvPr/>
        </p:nvGrpSpPr>
        <p:grpSpPr>
          <a:xfrm>
            <a:off x="8338600" y="6101198"/>
            <a:ext cx="841427" cy="879539"/>
            <a:chOff x="3284000" y="3532019"/>
            <a:chExt cx="841427" cy="879539"/>
          </a:xfrm>
        </p:grpSpPr>
        <p:sp>
          <p:nvSpPr>
            <p:cNvPr id="33" name="TextBox 32">
              <a:extLst>
                <a:ext uri="{FF2B5EF4-FFF2-40B4-BE49-F238E27FC236}">
                  <a16:creationId xmlns:a16="http://schemas.microsoft.com/office/drawing/2014/main" id="{26BC8F95-6DFC-4384-938B-6261F26E9B26}"/>
                </a:ext>
              </a:extLst>
            </p:cNvPr>
            <p:cNvSpPr txBox="1"/>
            <p:nvPr/>
          </p:nvSpPr>
          <p:spPr>
            <a:xfrm>
              <a:off x="3372285" y="3582976"/>
              <a:ext cx="753142" cy="507230"/>
            </a:xfrm>
            <a:prstGeom prst="rect">
              <a:avLst/>
            </a:prstGeom>
            <a:noFill/>
            <a:ln>
              <a:noFill/>
            </a:ln>
          </p:spPr>
          <p:txBody>
            <a:bodyPr wrap="square" rtlCol="0" anchor="t" anchorCtr="0">
              <a:normAutofit lnSpcReduction="10000"/>
            </a:bodyPr>
            <a:lstStyle/>
            <a:p>
              <a:pPr algn="l"/>
              <a:r>
                <a:rPr lang="el-GR" sz="2800" b="1" i="0" dirty="0">
                  <a:effectLst/>
                  <a:latin typeface="Times New Roman" panose="02020603050405020304" pitchFamily="18" charset="0"/>
                  <a:cs typeface="Times New Roman" panose="02020603050405020304" pitchFamily="18" charset="0"/>
                </a:rPr>
                <a:t>θ</a:t>
              </a:r>
              <a:endParaRPr lang="en-AU" sz="2800" b="1" dirty="0">
                <a:latin typeface="Times New Roman" panose="02020603050405020304" pitchFamily="18" charset="0"/>
                <a:cs typeface="Times New Roman" panose="02020603050405020304" pitchFamily="18" charset="0"/>
              </a:endParaRPr>
            </a:p>
          </p:txBody>
        </p:sp>
        <p:sp>
          <p:nvSpPr>
            <p:cNvPr id="34" name="Arc 33">
              <a:extLst>
                <a:ext uri="{FF2B5EF4-FFF2-40B4-BE49-F238E27FC236}">
                  <a16:creationId xmlns:a16="http://schemas.microsoft.com/office/drawing/2014/main" id="{A62A2F3C-1ECC-4D4A-8FD8-EABA03BBEDD2}"/>
                </a:ext>
              </a:extLst>
            </p:cNvPr>
            <p:cNvSpPr/>
            <p:nvPr/>
          </p:nvSpPr>
          <p:spPr>
            <a:xfrm rot="16200000">
              <a:off x="2964685" y="3851334"/>
              <a:ext cx="879539" cy="240909"/>
            </a:xfrm>
            <a:prstGeom prst="arc">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cxnSp>
        <p:nvCxnSpPr>
          <p:cNvPr id="22" name="Straight Arrow Connector 21">
            <a:extLst>
              <a:ext uri="{FF2B5EF4-FFF2-40B4-BE49-F238E27FC236}">
                <a16:creationId xmlns:a16="http://schemas.microsoft.com/office/drawing/2014/main" id="{CA22555E-EB22-DEB3-D814-1F5E68B66DA0}"/>
              </a:ext>
            </a:extLst>
          </p:cNvPr>
          <p:cNvCxnSpPr>
            <a:cxnSpLocks/>
          </p:cNvCxnSpPr>
          <p:nvPr/>
        </p:nvCxnSpPr>
        <p:spPr>
          <a:xfrm>
            <a:off x="2217940" y="5632268"/>
            <a:ext cx="1551470" cy="992618"/>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56DB867-742E-F84D-0D95-E2C48F1FF56D}"/>
              </a:ext>
            </a:extLst>
          </p:cNvPr>
          <p:cNvSpPr/>
          <p:nvPr/>
        </p:nvSpPr>
        <p:spPr>
          <a:xfrm>
            <a:off x="6333058" y="3582976"/>
            <a:ext cx="4283892" cy="1130794"/>
          </a:xfrm>
          <a:prstGeom prst="rect">
            <a:avLst/>
          </a:prstGeom>
          <a:solidFill>
            <a:srgbClr val="2E546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739C0AA2-8C10-CD4B-D224-8A8DB84C5B77}"/>
              </a:ext>
            </a:extLst>
          </p:cNvPr>
          <p:cNvSpPr txBox="1"/>
          <p:nvPr/>
        </p:nvSpPr>
        <p:spPr>
          <a:xfrm>
            <a:off x="6626897" y="1116618"/>
            <a:ext cx="4326495" cy="1306542"/>
          </a:xfrm>
          <a:prstGeom prst="rect">
            <a:avLst/>
          </a:prstGeom>
          <a:noFill/>
          <a:ln>
            <a:noFill/>
          </a:ln>
        </p:spPr>
        <p:txBody>
          <a:bodyPr wrap="square" rtlCol="0" anchor="t" anchorCtr="0">
            <a:normAutofit/>
          </a:bodyPr>
          <a:lstStyle/>
          <a:p>
            <a:pPr algn="l"/>
            <a:r>
              <a:rPr lang="en-AU" sz="4800" i="0" dirty="0" err="1">
                <a:effectLst/>
                <a:latin typeface="Arial" panose="020B0604020202020204" pitchFamily="34" charset="0"/>
                <a:cs typeface="Arial" panose="020B0604020202020204" pitchFamily="34" charset="0"/>
              </a:rPr>
              <a:t>F</a:t>
            </a:r>
            <a:r>
              <a:rPr lang="en-AU" sz="4800" i="0" baseline="-25000" dirty="0" err="1">
                <a:effectLst/>
                <a:latin typeface="Arial" panose="020B0604020202020204" pitchFamily="34" charset="0"/>
                <a:cs typeface="Arial" panose="020B0604020202020204" pitchFamily="34" charset="0"/>
              </a:rPr>
              <a:t>net</a:t>
            </a:r>
            <a:r>
              <a:rPr lang="en-AU" sz="4800" dirty="0">
                <a:latin typeface="Arial" panose="020B0604020202020204" pitchFamily="34" charset="0"/>
                <a:cs typeface="Arial" panose="020B0604020202020204" pitchFamily="34" charset="0"/>
              </a:rPr>
              <a:t> = </a:t>
            </a:r>
            <a:r>
              <a:rPr lang="en-AU" sz="4800" dirty="0" err="1">
                <a:latin typeface="Arial" panose="020B0604020202020204" pitchFamily="34" charset="0"/>
                <a:cs typeface="Arial" panose="020B0604020202020204" pitchFamily="34" charset="0"/>
              </a:rPr>
              <a:t>F</a:t>
            </a:r>
            <a:r>
              <a:rPr lang="en-AU" sz="4800" baseline="-25000" dirty="0" err="1">
                <a:latin typeface="Arial" panose="020B0604020202020204" pitchFamily="34" charset="0"/>
                <a:cs typeface="Arial" panose="020B0604020202020204" pitchFamily="34" charset="0"/>
              </a:rPr>
              <a:t>g</a:t>
            </a:r>
            <a:r>
              <a:rPr lang="en-AU" sz="4800" dirty="0" err="1">
                <a:latin typeface="Arial" panose="020B0604020202020204" pitchFamily="34" charset="0"/>
                <a:cs typeface="Arial" panose="020B0604020202020204" pitchFamily="34" charset="0"/>
              </a:rPr>
              <a:t>sin</a:t>
            </a:r>
            <a:r>
              <a:rPr lang="el-GR" sz="4800" i="0" dirty="0">
                <a:effectLst/>
                <a:latin typeface="Arial" panose="020B0604020202020204" pitchFamily="34" charset="0"/>
                <a:cs typeface="Arial" panose="020B0604020202020204" pitchFamily="34" charset="0"/>
              </a:rPr>
              <a:t>θ</a:t>
            </a:r>
            <a:r>
              <a:rPr lang="en-AU" sz="4800" i="0" dirty="0">
                <a:effectLst/>
                <a:latin typeface="Arial" panose="020B0604020202020204" pitchFamily="34" charset="0"/>
                <a:cs typeface="Arial" panose="020B0604020202020204" pitchFamily="34" charset="0"/>
              </a:rPr>
              <a:t> </a:t>
            </a:r>
            <a:endParaRPr lang="en-AU" sz="4800" dirty="0">
              <a:latin typeface="Arial" panose="020B0604020202020204" pitchFamily="34" charset="0"/>
              <a:cs typeface="Arial" panose="020B0604020202020204" pitchFamily="34" charset="0"/>
            </a:endParaRPr>
          </a:p>
        </p:txBody>
      </p:sp>
      <p:sp>
        <p:nvSpPr>
          <p:cNvPr id="7" name="Text Placeholder 3">
            <a:extLst>
              <a:ext uri="{FF2B5EF4-FFF2-40B4-BE49-F238E27FC236}">
                <a16:creationId xmlns:a16="http://schemas.microsoft.com/office/drawing/2014/main" id="{60255493-EC04-9B19-5AD1-ABA78712D272}"/>
              </a:ext>
            </a:extLst>
          </p:cNvPr>
          <p:cNvSpPr txBox="1">
            <a:spLocks/>
          </p:cNvSpPr>
          <p:nvPr/>
        </p:nvSpPr>
        <p:spPr>
          <a:xfrm>
            <a:off x="6626897" y="2340475"/>
            <a:ext cx="470206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0" dirty="0" err="1">
                <a:latin typeface="Arial" panose="020B0604020202020204" pitchFamily="34" charset="0"/>
                <a:cs typeface="Arial" panose="020B0604020202020204" pitchFamily="34" charset="0"/>
              </a:rPr>
              <a:t>F</a:t>
            </a:r>
            <a:r>
              <a:rPr lang="en-AU" sz="4400" b="0" baseline="-25000" dirty="0" err="1">
                <a:latin typeface="Arial" panose="020B0604020202020204" pitchFamily="34" charset="0"/>
                <a:cs typeface="Arial" panose="020B0604020202020204" pitchFamily="34" charset="0"/>
              </a:rPr>
              <a:t>g</a:t>
            </a:r>
            <a:r>
              <a:rPr lang="en-AU" sz="4400" b="0" dirty="0">
                <a:latin typeface="Arial" panose="020B0604020202020204" pitchFamily="34" charset="0"/>
                <a:cs typeface="Arial" panose="020B0604020202020204" pitchFamily="34" charset="0"/>
              </a:rPr>
              <a:t> = mg</a:t>
            </a:r>
          </a:p>
          <a:p>
            <a:endParaRPr lang="en-AU" sz="4400" b="0" dirty="0">
              <a:latin typeface="Arial" panose="020B0604020202020204" pitchFamily="34" charset="0"/>
              <a:cs typeface="Arial" panose="020B0604020202020204" pitchFamily="34" charset="0"/>
            </a:endParaRPr>
          </a:p>
          <a:p>
            <a:r>
              <a:rPr lang="en-AU" sz="4400" b="0" i="0" dirty="0" err="1">
                <a:solidFill>
                  <a:srgbClr val="FFC000"/>
                </a:solidFill>
                <a:effectLst/>
                <a:latin typeface="Arial" panose="020B0604020202020204" pitchFamily="34" charset="0"/>
                <a:cs typeface="Arial" panose="020B0604020202020204" pitchFamily="34" charset="0"/>
              </a:rPr>
              <a:t>F</a:t>
            </a:r>
            <a:r>
              <a:rPr lang="en-AU" sz="4400" b="0" i="0" baseline="-25000" dirty="0" err="1">
                <a:solidFill>
                  <a:srgbClr val="FFC000"/>
                </a:solidFill>
                <a:effectLst/>
                <a:latin typeface="Arial" panose="020B0604020202020204" pitchFamily="34" charset="0"/>
                <a:cs typeface="Arial" panose="020B0604020202020204" pitchFamily="34" charset="0"/>
              </a:rPr>
              <a:t>net</a:t>
            </a:r>
            <a:r>
              <a:rPr lang="en-AU" sz="4400" b="0" dirty="0">
                <a:solidFill>
                  <a:srgbClr val="FFC000"/>
                </a:solidFill>
                <a:latin typeface="Arial" panose="020B0604020202020204" pitchFamily="34" charset="0"/>
                <a:cs typeface="Arial" panose="020B0604020202020204" pitchFamily="34" charset="0"/>
              </a:rPr>
              <a:t> = mg sin</a:t>
            </a:r>
            <a:r>
              <a:rPr lang="el-GR" sz="4400" b="0" i="0" dirty="0">
                <a:solidFill>
                  <a:srgbClr val="FFC000"/>
                </a:solidFill>
                <a:effectLst/>
                <a:latin typeface="Arial" panose="020B0604020202020204" pitchFamily="34" charset="0"/>
                <a:cs typeface="Arial" panose="020B0604020202020204" pitchFamily="34" charset="0"/>
              </a:rPr>
              <a:t>θ</a:t>
            </a:r>
            <a:r>
              <a:rPr lang="en-AU" sz="4400" b="0" i="0" dirty="0">
                <a:solidFill>
                  <a:srgbClr val="FFC000"/>
                </a:solidFill>
                <a:effectLst/>
                <a:latin typeface="Arial" panose="020B0604020202020204" pitchFamily="34" charset="0"/>
                <a:cs typeface="Arial" panose="020B0604020202020204" pitchFamily="34" charset="0"/>
              </a:rPr>
              <a:t> </a:t>
            </a:r>
            <a:endParaRPr lang="en-AU" sz="4400" b="0" dirty="0">
              <a:solidFill>
                <a:srgbClr val="FFC000"/>
              </a:solidFill>
              <a:latin typeface="Arial" panose="020B0604020202020204" pitchFamily="34" charset="0"/>
              <a:cs typeface="Arial" panose="020B0604020202020204" pitchFamily="34" charset="0"/>
            </a:endParaRPr>
          </a:p>
          <a:p>
            <a:endParaRPr lang="en-AU" sz="44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905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174EF1-6197-4EB7-BC10-74FD9B73812F}"/>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87E64A12-82D8-41C5-AE04-761373E6DAD1}"/>
              </a:ext>
            </a:extLst>
          </p:cNvPr>
          <p:cNvSpPr>
            <a:spLocks noGrp="1"/>
          </p:cNvSpPr>
          <p:nvPr>
            <p:ph type="body" sz="quarter" idx="17"/>
          </p:nvPr>
        </p:nvSpPr>
        <p:spPr>
          <a:xfrm>
            <a:off x="295275" y="585330"/>
            <a:ext cx="3779478" cy="319722"/>
          </a:xfrm>
        </p:spPr>
        <p:txBody>
          <a:bodyPr/>
          <a:lstStyle/>
          <a:p>
            <a:r>
              <a:rPr lang="en-AU" dirty="0"/>
              <a:t>Worked Example</a:t>
            </a:r>
          </a:p>
        </p:txBody>
      </p:sp>
      <p:pic>
        <p:nvPicPr>
          <p:cNvPr id="6" name="Picture 5">
            <a:extLst>
              <a:ext uri="{FF2B5EF4-FFF2-40B4-BE49-F238E27FC236}">
                <a16:creationId xmlns:a16="http://schemas.microsoft.com/office/drawing/2014/main" id="{BA5996C7-1505-4396-B5E7-D4E5AF5E3F63}"/>
              </a:ext>
            </a:extLst>
          </p:cNvPr>
          <p:cNvPicPr>
            <a:picLocks noChangeAspect="1"/>
          </p:cNvPicPr>
          <p:nvPr/>
        </p:nvPicPr>
        <p:blipFill>
          <a:blip r:embed="rId3"/>
          <a:stretch>
            <a:fillRect/>
          </a:stretch>
        </p:blipFill>
        <p:spPr>
          <a:xfrm>
            <a:off x="1100137" y="1123950"/>
            <a:ext cx="9439491" cy="2171700"/>
          </a:xfrm>
          <a:prstGeom prst="rect">
            <a:avLst/>
          </a:prstGeom>
        </p:spPr>
      </p:pic>
    </p:spTree>
    <p:extLst>
      <p:ext uri="{BB962C8B-B14F-4D97-AF65-F5344CB8AC3E}">
        <p14:creationId xmlns:p14="http://schemas.microsoft.com/office/powerpoint/2010/main" val="280454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174EF1-6197-4EB7-BC10-74FD9B73812F}"/>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87E64A12-82D8-41C5-AE04-761373E6DAD1}"/>
              </a:ext>
            </a:extLst>
          </p:cNvPr>
          <p:cNvSpPr>
            <a:spLocks noGrp="1"/>
          </p:cNvSpPr>
          <p:nvPr>
            <p:ph type="body" sz="quarter" idx="17"/>
          </p:nvPr>
        </p:nvSpPr>
        <p:spPr>
          <a:xfrm>
            <a:off x="295275" y="585330"/>
            <a:ext cx="3779478" cy="319722"/>
          </a:xfrm>
        </p:spPr>
        <p:txBody>
          <a:bodyPr/>
          <a:lstStyle/>
          <a:p>
            <a:r>
              <a:rPr lang="en-AU" dirty="0"/>
              <a:t>Worked Example</a:t>
            </a:r>
          </a:p>
        </p:txBody>
      </p:sp>
      <p:pic>
        <p:nvPicPr>
          <p:cNvPr id="6" name="Picture 5">
            <a:extLst>
              <a:ext uri="{FF2B5EF4-FFF2-40B4-BE49-F238E27FC236}">
                <a16:creationId xmlns:a16="http://schemas.microsoft.com/office/drawing/2014/main" id="{BA5996C7-1505-4396-B5E7-D4E5AF5E3F63}"/>
              </a:ext>
            </a:extLst>
          </p:cNvPr>
          <p:cNvPicPr>
            <a:picLocks noChangeAspect="1"/>
          </p:cNvPicPr>
          <p:nvPr/>
        </p:nvPicPr>
        <p:blipFill rotWithShape="1">
          <a:blip r:embed="rId3"/>
          <a:srcRect t="4093"/>
          <a:stretch/>
        </p:blipFill>
        <p:spPr>
          <a:xfrm>
            <a:off x="1100137" y="1212850"/>
            <a:ext cx="9439491" cy="2082800"/>
          </a:xfrm>
          <a:prstGeom prst="rect">
            <a:avLst/>
          </a:prstGeom>
        </p:spPr>
      </p:pic>
      <p:pic>
        <p:nvPicPr>
          <p:cNvPr id="5" name="Picture 4">
            <a:extLst>
              <a:ext uri="{FF2B5EF4-FFF2-40B4-BE49-F238E27FC236}">
                <a16:creationId xmlns:a16="http://schemas.microsoft.com/office/drawing/2014/main" id="{D6F4DD97-79A5-40E0-9027-FDBBE38795CA}"/>
              </a:ext>
            </a:extLst>
          </p:cNvPr>
          <p:cNvPicPr>
            <a:picLocks noChangeAspect="1"/>
          </p:cNvPicPr>
          <p:nvPr/>
        </p:nvPicPr>
        <p:blipFill>
          <a:blip r:embed="rId4"/>
          <a:stretch>
            <a:fillRect/>
          </a:stretch>
        </p:blipFill>
        <p:spPr>
          <a:xfrm>
            <a:off x="99559" y="3092450"/>
            <a:ext cx="10746796" cy="2967081"/>
          </a:xfrm>
          <a:prstGeom prst="rect">
            <a:avLst/>
          </a:prstGeom>
        </p:spPr>
      </p:pic>
      <p:pic>
        <p:nvPicPr>
          <p:cNvPr id="8" name="Picture 7">
            <a:extLst>
              <a:ext uri="{FF2B5EF4-FFF2-40B4-BE49-F238E27FC236}">
                <a16:creationId xmlns:a16="http://schemas.microsoft.com/office/drawing/2014/main" id="{4154EDAD-6C7F-4BA5-A97D-2BA5FC4AF8BB}"/>
              </a:ext>
            </a:extLst>
          </p:cNvPr>
          <p:cNvPicPr>
            <a:picLocks noChangeAspect="1"/>
          </p:cNvPicPr>
          <p:nvPr/>
        </p:nvPicPr>
        <p:blipFill>
          <a:blip r:embed="rId5"/>
          <a:stretch>
            <a:fillRect/>
          </a:stretch>
        </p:blipFill>
        <p:spPr>
          <a:xfrm>
            <a:off x="4242026" y="5130816"/>
            <a:ext cx="1853974" cy="1329264"/>
          </a:xfrm>
          <a:prstGeom prst="rect">
            <a:avLst/>
          </a:prstGeom>
        </p:spPr>
      </p:pic>
      <p:sp>
        <p:nvSpPr>
          <p:cNvPr id="9" name="TextBox 8">
            <a:extLst>
              <a:ext uri="{FF2B5EF4-FFF2-40B4-BE49-F238E27FC236}">
                <a16:creationId xmlns:a16="http://schemas.microsoft.com/office/drawing/2014/main" id="{58D5AFC6-5BD3-4579-94CF-37E46FEFD323}"/>
              </a:ext>
            </a:extLst>
          </p:cNvPr>
          <p:cNvSpPr txBox="1"/>
          <p:nvPr/>
        </p:nvSpPr>
        <p:spPr>
          <a:xfrm>
            <a:off x="6473371" y="5130816"/>
            <a:ext cx="4528458" cy="928715"/>
          </a:xfrm>
          <a:prstGeom prst="rect">
            <a:avLst/>
          </a:prstGeom>
          <a:noFill/>
          <a:ln>
            <a:noFill/>
          </a:ln>
        </p:spPr>
        <p:txBody>
          <a:bodyPr wrap="square" rtlCol="0" anchor="t" anchorCtr="0">
            <a:normAutofit fontScale="92500" lnSpcReduction="10000"/>
          </a:bodyPr>
          <a:lstStyle/>
          <a:p>
            <a:pPr algn="l"/>
            <a:r>
              <a:rPr lang="en-AU" sz="1600" b="1" dirty="0">
                <a:latin typeface="Century Gothic" panose="020B0502020202020204" pitchFamily="34" charset="0"/>
                <a:cs typeface="Futura Medium" panose="020B0602020204020303" pitchFamily="34" charset="-79"/>
              </a:rPr>
              <a:t>No acceleration therefore net force = 0</a:t>
            </a:r>
          </a:p>
          <a:p>
            <a:pPr algn="l"/>
            <a:endParaRPr lang="en-AU" sz="1600" b="1" dirty="0">
              <a:latin typeface="Century Gothic" panose="020B0502020202020204" pitchFamily="34" charset="0"/>
              <a:cs typeface="Futura Medium" panose="020B0602020204020303" pitchFamily="34" charset="-79"/>
            </a:endParaRPr>
          </a:p>
          <a:p>
            <a:pPr algn="l"/>
            <a:r>
              <a:rPr lang="en-AU" sz="1600" b="1" dirty="0">
                <a:latin typeface="Century Gothic" panose="020B0502020202020204" pitchFamily="34" charset="0"/>
                <a:cs typeface="Futura Medium" panose="020B0602020204020303" pitchFamily="34" charset="-79"/>
              </a:rPr>
              <a:t>Friction must be equal to the force down the slope = 10.4 N</a:t>
            </a:r>
          </a:p>
        </p:txBody>
      </p:sp>
      <p:sp>
        <p:nvSpPr>
          <p:cNvPr id="3" name="Rectangle 2">
            <a:extLst>
              <a:ext uri="{FF2B5EF4-FFF2-40B4-BE49-F238E27FC236}">
                <a16:creationId xmlns:a16="http://schemas.microsoft.com/office/drawing/2014/main" id="{2AEB0CF6-7AC2-0591-B1C4-E57EF72E9E58}"/>
              </a:ext>
            </a:extLst>
          </p:cNvPr>
          <p:cNvSpPr/>
          <p:nvPr/>
        </p:nvSpPr>
        <p:spPr>
          <a:xfrm>
            <a:off x="3609048" y="1212850"/>
            <a:ext cx="2047285" cy="3145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91260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D5BBDF-4FE6-41E6-8EB5-117C5E4B9BE1}"/>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4294FBF0-51BC-4FDC-A4A1-5A6EEC6CD5CD}"/>
              </a:ext>
            </a:extLst>
          </p:cNvPr>
          <p:cNvSpPr>
            <a:spLocks noGrp="1"/>
          </p:cNvSpPr>
          <p:nvPr>
            <p:ph type="body" sz="quarter" idx="17"/>
          </p:nvPr>
        </p:nvSpPr>
        <p:spPr>
          <a:xfrm>
            <a:off x="295275" y="585330"/>
            <a:ext cx="3779478" cy="319722"/>
          </a:xfrm>
        </p:spPr>
        <p:txBody>
          <a:bodyPr/>
          <a:lstStyle/>
          <a:p>
            <a:r>
              <a:rPr lang="en-AU" dirty="0"/>
              <a:t>You Do</a:t>
            </a:r>
          </a:p>
        </p:txBody>
      </p:sp>
      <p:pic>
        <p:nvPicPr>
          <p:cNvPr id="6" name="Picture 5">
            <a:extLst>
              <a:ext uri="{FF2B5EF4-FFF2-40B4-BE49-F238E27FC236}">
                <a16:creationId xmlns:a16="http://schemas.microsoft.com/office/drawing/2014/main" id="{61A14543-21AA-446F-A43B-91B09BD2A102}"/>
              </a:ext>
            </a:extLst>
          </p:cNvPr>
          <p:cNvPicPr>
            <a:picLocks noChangeAspect="1"/>
          </p:cNvPicPr>
          <p:nvPr/>
        </p:nvPicPr>
        <p:blipFill>
          <a:blip r:embed="rId2"/>
          <a:stretch>
            <a:fillRect/>
          </a:stretch>
        </p:blipFill>
        <p:spPr>
          <a:xfrm>
            <a:off x="295275" y="954642"/>
            <a:ext cx="10985955" cy="5308089"/>
          </a:xfrm>
          <a:prstGeom prst="rect">
            <a:avLst/>
          </a:prstGeom>
        </p:spPr>
      </p:pic>
    </p:spTree>
    <p:extLst>
      <p:ext uri="{BB962C8B-B14F-4D97-AF65-F5344CB8AC3E}">
        <p14:creationId xmlns:p14="http://schemas.microsoft.com/office/powerpoint/2010/main" val="630280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D5BBDF-4FE6-41E6-8EB5-117C5E4B9BE1}"/>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4294FBF0-51BC-4FDC-A4A1-5A6EEC6CD5CD}"/>
              </a:ext>
            </a:extLst>
          </p:cNvPr>
          <p:cNvSpPr>
            <a:spLocks noGrp="1"/>
          </p:cNvSpPr>
          <p:nvPr>
            <p:ph type="body" sz="quarter" idx="17"/>
          </p:nvPr>
        </p:nvSpPr>
        <p:spPr>
          <a:xfrm>
            <a:off x="295275" y="585330"/>
            <a:ext cx="3779478" cy="319722"/>
          </a:xfrm>
        </p:spPr>
        <p:txBody>
          <a:bodyPr/>
          <a:lstStyle/>
          <a:p>
            <a:r>
              <a:rPr lang="en-AU" dirty="0"/>
              <a:t>Content Development</a:t>
            </a:r>
          </a:p>
        </p:txBody>
      </p:sp>
      <p:pic>
        <p:nvPicPr>
          <p:cNvPr id="5" name="Picture 4">
            <a:extLst>
              <a:ext uri="{FF2B5EF4-FFF2-40B4-BE49-F238E27FC236}">
                <a16:creationId xmlns:a16="http://schemas.microsoft.com/office/drawing/2014/main" id="{B23D7541-2166-4933-82EB-6C18511B5E11}"/>
              </a:ext>
            </a:extLst>
          </p:cNvPr>
          <p:cNvPicPr>
            <a:picLocks noChangeAspect="1"/>
          </p:cNvPicPr>
          <p:nvPr/>
        </p:nvPicPr>
        <p:blipFill>
          <a:blip r:embed="rId2"/>
          <a:stretch>
            <a:fillRect/>
          </a:stretch>
        </p:blipFill>
        <p:spPr>
          <a:xfrm>
            <a:off x="402020" y="1347787"/>
            <a:ext cx="11387960" cy="4104641"/>
          </a:xfrm>
          <a:prstGeom prst="rect">
            <a:avLst/>
          </a:prstGeom>
        </p:spPr>
      </p:pic>
    </p:spTree>
    <p:extLst>
      <p:ext uri="{BB962C8B-B14F-4D97-AF65-F5344CB8AC3E}">
        <p14:creationId xmlns:p14="http://schemas.microsoft.com/office/powerpoint/2010/main" val="144716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D5BBDF-4FE6-41E6-8EB5-117C5E4B9BE1}"/>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4294FBF0-51BC-4FDC-A4A1-5A6EEC6CD5CD}"/>
              </a:ext>
            </a:extLst>
          </p:cNvPr>
          <p:cNvSpPr>
            <a:spLocks noGrp="1"/>
          </p:cNvSpPr>
          <p:nvPr>
            <p:ph type="body" sz="quarter" idx="17"/>
          </p:nvPr>
        </p:nvSpPr>
        <p:spPr>
          <a:xfrm>
            <a:off x="295275" y="585330"/>
            <a:ext cx="3779478" cy="319722"/>
          </a:xfrm>
        </p:spPr>
        <p:txBody>
          <a:bodyPr/>
          <a:lstStyle/>
          <a:p>
            <a:r>
              <a:rPr lang="en-AU" dirty="0"/>
              <a:t>You Do</a:t>
            </a:r>
          </a:p>
        </p:txBody>
      </p:sp>
      <p:pic>
        <p:nvPicPr>
          <p:cNvPr id="5" name="Picture 4">
            <a:extLst>
              <a:ext uri="{FF2B5EF4-FFF2-40B4-BE49-F238E27FC236}">
                <a16:creationId xmlns:a16="http://schemas.microsoft.com/office/drawing/2014/main" id="{6C097C3C-B1D0-4634-92BB-10FA5AC93B40}"/>
              </a:ext>
            </a:extLst>
          </p:cNvPr>
          <p:cNvPicPr>
            <a:picLocks noChangeAspect="1"/>
          </p:cNvPicPr>
          <p:nvPr/>
        </p:nvPicPr>
        <p:blipFill>
          <a:blip r:embed="rId2"/>
          <a:stretch>
            <a:fillRect/>
          </a:stretch>
        </p:blipFill>
        <p:spPr>
          <a:xfrm>
            <a:off x="-133350" y="1272420"/>
            <a:ext cx="12247207" cy="1944000"/>
          </a:xfrm>
          <a:prstGeom prst="rect">
            <a:avLst/>
          </a:prstGeom>
        </p:spPr>
      </p:pic>
    </p:spTree>
    <p:extLst>
      <p:ext uri="{BB962C8B-B14F-4D97-AF65-F5344CB8AC3E}">
        <p14:creationId xmlns:p14="http://schemas.microsoft.com/office/powerpoint/2010/main" val="2320394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D5BBDF-4FE6-41E6-8EB5-117C5E4B9BE1}"/>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4294FBF0-51BC-4FDC-A4A1-5A6EEC6CD5CD}"/>
              </a:ext>
            </a:extLst>
          </p:cNvPr>
          <p:cNvSpPr>
            <a:spLocks noGrp="1"/>
          </p:cNvSpPr>
          <p:nvPr>
            <p:ph type="body" sz="quarter" idx="17"/>
          </p:nvPr>
        </p:nvSpPr>
        <p:spPr>
          <a:xfrm>
            <a:off x="295275" y="580611"/>
            <a:ext cx="3779478" cy="319722"/>
          </a:xfrm>
        </p:spPr>
        <p:txBody>
          <a:bodyPr/>
          <a:lstStyle/>
          <a:p>
            <a:r>
              <a:rPr lang="en-AU" dirty="0"/>
              <a:t>Content Development</a:t>
            </a:r>
          </a:p>
        </p:txBody>
      </p:sp>
      <p:pic>
        <p:nvPicPr>
          <p:cNvPr id="6" name="Picture 5">
            <a:extLst>
              <a:ext uri="{FF2B5EF4-FFF2-40B4-BE49-F238E27FC236}">
                <a16:creationId xmlns:a16="http://schemas.microsoft.com/office/drawing/2014/main" id="{35C9EC4E-63A4-4656-A624-962C47FE20BF}"/>
              </a:ext>
            </a:extLst>
          </p:cNvPr>
          <p:cNvPicPr>
            <a:picLocks noChangeAspect="1"/>
          </p:cNvPicPr>
          <p:nvPr/>
        </p:nvPicPr>
        <p:blipFill>
          <a:blip r:embed="rId2"/>
          <a:stretch>
            <a:fillRect/>
          </a:stretch>
        </p:blipFill>
        <p:spPr>
          <a:xfrm>
            <a:off x="295275" y="1504951"/>
            <a:ext cx="11615670" cy="2609850"/>
          </a:xfrm>
          <a:prstGeom prst="rect">
            <a:avLst/>
          </a:prstGeom>
        </p:spPr>
      </p:pic>
    </p:spTree>
    <p:extLst>
      <p:ext uri="{BB962C8B-B14F-4D97-AF65-F5344CB8AC3E}">
        <p14:creationId xmlns:p14="http://schemas.microsoft.com/office/powerpoint/2010/main" val="2733907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174EF1-6197-4EB7-BC10-74FD9B73812F}"/>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87E64A12-82D8-41C5-AE04-761373E6DAD1}"/>
              </a:ext>
            </a:extLst>
          </p:cNvPr>
          <p:cNvSpPr>
            <a:spLocks noGrp="1"/>
          </p:cNvSpPr>
          <p:nvPr>
            <p:ph type="body" sz="quarter" idx="17"/>
          </p:nvPr>
        </p:nvSpPr>
        <p:spPr>
          <a:xfrm>
            <a:off x="295275" y="585330"/>
            <a:ext cx="3779478" cy="319722"/>
          </a:xfrm>
        </p:spPr>
        <p:txBody>
          <a:bodyPr/>
          <a:lstStyle/>
          <a:p>
            <a:r>
              <a:rPr lang="en-AU" dirty="0"/>
              <a:t>Worked Example</a:t>
            </a:r>
          </a:p>
        </p:txBody>
      </p:sp>
      <p:pic>
        <p:nvPicPr>
          <p:cNvPr id="5" name="Picture 4">
            <a:extLst>
              <a:ext uri="{FF2B5EF4-FFF2-40B4-BE49-F238E27FC236}">
                <a16:creationId xmlns:a16="http://schemas.microsoft.com/office/drawing/2014/main" id="{6ABA457B-ECD5-4AF2-B62A-901274FC895E}"/>
              </a:ext>
            </a:extLst>
          </p:cNvPr>
          <p:cNvPicPr>
            <a:picLocks noChangeAspect="1"/>
          </p:cNvPicPr>
          <p:nvPr/>
        </p:nvPicPr>
        <p:blipFill>
          <a:blip r:embed="rId3"/>
          <a:stretch>
            <a:fillRect/>
          </a:stretch>
        </p:blipFill>
        <p:spPr>
          <a:xfrm>
            <a:off x="708477" y="1163410"/>
            <a:ext cx="9531099" cy="2265589"/>
          </a:xfrm>
          <a:prstGeom prst="rect">
            <a:avLst/>
          </a:prstGeom>
        </p:spPr>
      </p:pic>
      <p:sp>
        <p:nvSpPr>
          <p:cNvPr id="9" name="TextBox 8">
            <a:extLst>
              <a:ext uri="{FF2B5EF4-FFF2-40B4-BE49-F238E27FC236}">
                <a16:creationId xmlns:a16="http://schemas.microsoft.com/office/drawing/2014/main" id="{45C8B45C-6EEA-4A18-9777-DAF73C5FD7F5}"/>
              </a:ext>
            </a:extLst>
          </p:cNvPr>
          <p:cNvSpPr txBox="1"/>
          <p:nvPr/>
        </p:nvSpPr>
        <p:spPr>
          <a:xfrm>
            <a:off x="7082971" y="3128579"/>
            <a:ext cx="4528458" cy="928715"/>
          </a:xfrm>
          <a:prstGeom prst="rect">
            <a:avLst/>
          </a:prstGeom>
          <a:noFill/>
          <a:ln>
            <a:noFill/>
          </a:ln>
        </p:spPr>
        <p:txBody>
          <a:bodyPr wrap="square" rtlCol="0" anchor="t" anchorCtr="0">
            <a:normAutofit/>
          </a:bodyPr>
          <a:lstStyle/>
          <a:p>
            <a:pPr algn="l"/>
            <a:r>
              <a:rPr lang="en-AU" sz="2400" dirty="0">
                <a:latin typeface="Century Gothic" panose="020B0502020202020204" pitchFamily="34" charset="0"/>
                <a:cs typeface="Futura Medium" panose="020B0602020204020303" pitchFamily="34" charset="-79"/>
              </a:rPr>
              <a:t>Remember:	s = </a:t>
            </a:r>
            <a:r>
              <a:rPr lang="en-AU" sz="2400" dirty="0" err="1">
                <a:latin typeface="Century Gothic" panose="020B0502020202020204" pitchFamily="34" charset="0"/>
                <a:cs typeface="Futura Medium" panose="020B0602020204020303" pitchFamily="34" charset="-79"/>
              </a:rPr>
              <a:t>ut</a:t>
            </a:r>
            <a:r>
              <a:rPr lang="en-AU" sz="2400" dirty="0">
                <a:latin typeface="Century Gothic" panose="020B0502020202020204" pitchFamily="34" charset="0"/>
                <a:cs typeface="Futura Medium" panose="020B0602020204020303" pitchFamily="34" charset="-79"/>
              </a:rPr>
              <a:t> + ½ at</a:t>
            </a:r>
            <a:r>
              <a:rPr lang="en-AU" sz="2400" baseline="30000" dirty="0">
                <a:latin typeface="Century Gothic" panose="020B0502020202020204" pitchFamily="34" charset="0"/>
                <a:cs typeface="Futura Medium" panose="020B0602020204020303" pitchFamily="34" charset="-79"/>
              </a:rPr>
              <a:t>2</a:t>
            </a:r>
            <a:endParaRPr lang="en-AU" sz="2400" dirty="0">
              <a:latin typeface="Century Gothic" panose="020B0502020202020204" pitchFamily="34" charset="0"/>
              <a:cs typeface="Futura Medium" panose="020B0602020204020303" pitchFamily="34" charset="-79"/>
            </a:endParaRPr>
          </a:p>
        </p:txBody>
      </p:sp>
    </p:spTree>
    <p:extLst>
      <p:ext uri="{BB962C8B-B14F-4D97-AF65-F5344CB8AC3E}">
        <p14:creationId xmlns:p14="http://schemas.microsoft.com/office/powerpoint/2010/main" val="3469889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174EF1-6197-4EB7-BC10-74FD9B73812F}"/>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87E64A12-82D8-41C5-AE04-761373E6DAD1}"/>
              </a:ext>
            </a:extLst>
          </p:cNvPr>
          <p:cNvSpPr>
            <a:spLocks noGrp="1"/>
          </p:cNvSpPr>
          <p:nvPr>
            <p:ph type="body" sz="quarter" idx="17"/>
          </p:nvPr>
        </p:nvSpPr>
        <p:spPr>
          <a:xfrm>
            <a:off x="295275" y="585330"/>
            <a:ext cx="3779478" cy="319722"/>
          </a:xfrm>
        </p:spPr>
        <p:txBody>
          <a:bodyPr/>
          <a:lstStyle/>
          <a:p>
            <a:r>
              <a:rPr lang="en-AU" dirty="0"/>
              <a:t>Worked Example</a:t>
            </a:r>
          </a:p>
        </p:txBody>
      </p:sp>
      <p:pic>
        <p:nvPicPr>
          <p:cNvPr id="5" name="Picture 4">
            <a:extLst>
              <a:ext uri="{FF2B5EF4-FFF2-40B4-BE49-F238E27FC236}">
                <a16:creationId xmlns:a16="http://schemas.microsoft.com/office/drawing/2014/main" id="{6ABA457B-ECD5-4AF2-B62A-901274FC895E}"/>
              </a:ext>
            </a:extLst>
          </p:cNvPr>
          <p:cNvPicPr>
            <a:picLocks noChangeAspect="1"/>
          </p:cNvPicPr>
          <p:nvPr/>
        </p:nvPicPr>
        <p:blipFill>
          <a:blip r:embed="rId3"/>
          <a:stretch>
            <a:fillRect/>
          </a:stretch>
        </p:blipFill>
        <p:spPr>
          <a:xfrm>
            <a:off x="708477" y="1163410"/>
            <a:ext cx="9531099" cy="2265589"/>
          </a:xfrm>
          <a:prstGeom prst="rect">
            <a:avLst/>
          </a:prstGeom>
        </p:spPr>
      </p:pic>
      <p:pic>
        <p:nvPicPr>
          <p:cNvPr id="8" name="Picture 7">
            <a:extLst>
              <a:ext uri="{FF2B5EF4-FFF2-40B4-BE49-F238E27FC236}">
                <a16:creationId xmlns:a16="http://schemas.microsoft.com/office/drawing/2014/main" id="{662612D0-93BB-4E51-A1A7-CB6F60B27028}"/>
              </a:ext>
            </a:extLst>
          </p:cNvPr>
          <p:cNvPicPr>
            <a:picLocks noChangeAspect="1"/>
          </p:cNvPicPr>
          <p:nvPr/>
        </p:nvPicPr>
        <p:blipFill>
          <a:blip r:embed="rId4"/>
          <a:stretch>
            <a:fillRect/>
          </a:stretch>
        </p:blipFill>
        <p:spPr>
          <a:xfrm>
            <a:off x="411843" y="3566430"/>
            <a:ext cx="8001000" cy="1676400"/>
          </a:xfrm>
          <a:prstGeom prst="rect">
            <a:avLst/>
          </a:prstGeom>
        </p:spPr>
      </p:pic>
      <p:pic>
        <p:nvPicPr>
          <p:cNvPr id="6" name="Picture 5">
            <a:extLst>
              <a:ext uri="{FF2B5EF4-FFF2-40B4-BE49-F238E27FC236}">
                <a16:creationId xmlns:a16="http://schemas.microsoft.com/office/drawing/2014/main" id="{C57D9292-4A93-4C78-8461-01485A4F8C74}"/>
              </a:ext>
            </a:extLst>
          </p:cNvPr>
          <p:cNvPicPr>
            <a:picLocks noChangeAspect="1"/>
          </p:cNvPicPr>
          <p:nvPr/>
        </p:nvPicPr>
        <p:blipFill>
          <a:blip r:embed="rId5"/>
          <a:stretch>
            <a:fillRect/>
          </a:stretch>
        </p:blipFill>
        <p:spPr>
          <a:xfrm>
            <a:off x="466139" y="5292460"/>
            <a:ext cx="4773046" cy="1138033"/>
          </a:xfrm>
          <a:prstGeom prst="rect">
            <a:avLst/>
          </a:prstGeom>
        </p:spPr>
      </p:pic>
    </p:spTree>
    <p:extLst>
      <p:ext uri="{BB962C8B-B14F-4D97-AF65-F5344CB8AC3E}">
        <p14:creationId xmlns:p14="http://schemas.microsoft.com/office/powerpoint/2010/main" val="1863576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D5BBDF-4FE6-41E6-8EB5-117C5E4B9BE1}"/>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4294FBF0-51BC-4FDC-A4A1-5A6EEC6CD5CD}"/>
              </a:ext>
            </a:extLst>
          </p:cNvPr>
          <p:cNvSpPr>
            <a:spLocks noGrp="1"/>
          </p:cNvSpPr>
          <p:nvPr>
            <p:ph type="body" sz="quarter" idx="17"/>
          </p:nvPr>
        </p:nvSpPr>
        <p:spPr>
          <a:xfrm>
            <a:off x="295275" y="585330"/>
            <a:ext cx="3779478" cy="319722"/>
          </a:xfrm>
        </p:spPr>
        <p:txBody>
          <a:bodyPr/>
          <a:lstStyle/>
          <a:p>
            <a:r>
              <a:rPr lang="en-AU" dirty="0"/>
              <a:t>You Do</a:t>
            </a:r>
          </a:p>
        </p:txBody>
      </p:sp>
      <p:pic>
        <p:nvPicPr>
          <p:cNvPr id="5" name="Picture 4">
            <a:extLst>
              <a:ext uri="{FF2B5EF4-FFF2-40B4-BE49-F238E27FC236}">
                <a16:creationId xmlns:a16="http://schemas.microsoft.com/office/drawing/2014/main" id="{76EFB037-D85A-4EEF-84A6-F4BEBCAAA4C7}"/>
              </a:ext>
            </a:extLst>
          </p:cNvPr>
          <p:cNvPicPr>
            <a:picLocks noChangeAspect="1"/>
          </p:cNvPicPr>
          <p:nvPr/>
        </p:nvPicPr>
        <p:blipFill>
          <a:blip r:embed="rId2"/>
          <a:stretch>
            <a:fillRect/>
          </a:stretch>
        </p:blipFill>
        <p:spPr>
          <a:xfrm>
            <a:off x="1447800" y="914991"/>
            <a:ext cx="9296400" cy="5133975"/>
          </a:xfrm>
          <a:prstGeom prst="rect">
            <a:avLst/>
          </a:prstGeom>
        </p:spPr>
      </p:pic>
    </p:spTree>
    <p:extLst>
      <p:ext uri="{BB962C8B-B14F-4D97-AF65-F5344CB8AC3E}">
        <p14:creationId xmlns:p14="http://schemas.microsoft.com/office/powerpoint/2010/main" val="33110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D5BBDF-4FE6-41E6-8EB5-117C5E4B9BE1}"/>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4294FBF0-51BC-4FDC-A4A1-5A6EEC6CD5CD}"/>
              </a:ext>
            </a:extLst>
          </p:cNvPr>
          <p:cNvSpPr>
            <a:spLocks noGrp="1"/>
          </p:cNvSpPr>
          <p:nvPr>
            <p:ph type="body" sz="quarter" idx="17"/>
          </p:nvPr>
        </p:nvSpPr>
        <p:spPr>
          <a:xfrm>
            <a:off x="295275" y="585330"/>
            <a:ext cx="3779478" cy="319722"/>
          </a:xfrm>
        </p:spPr>
        <p:txBody>
          <a:bodyPr/>
          <a:lstStyle/>
          <a:p>
            <a:r>
              <a:rPr lang="en-AU" dirty="0"/>
              <a:t>You Do</a:t>
            </a:r>
          </a:p>
        </p:txBody>
      </p:sp>
      <p:pic>
        <p:nvPicPr>
          <p:cNvPr id="6" name="Picture 5">
            <a:extLst>
              <a:ext uri="{FF2B5EF4-FFF2-40B4-BE49-F238E27FC236}">
                <a16:creationId xmlns:a16="http://schemas.microsoft.com/office/drawing/2014/main" id="{C6CE461E-D1E3-4060-B9F4-8316A295E70F}"/>
              </a:ext>
            </a:extLst>
          </p:cNvPr>
          <p:cNvPicPr>
            <a:picLocks noChangeAspect="1"/>
          </p:cNvPicPr>
          <p:nvPr/>
        </p:nvPicPr>
        <p:blipFill>
          <a:blip r:embed="rId2"/>
          <a:stretch>
            <a:fillRect/>
          </a:stretch>
        </p:blipFill>
        <p:spPr>
          <a:xfrm>
            <a:off x="1595437" y="1404937"/>
            <a:ext cx="9001125" cy="4048125"/>
          </a:xfrm>
          <a:prstGeom prst="rect">
            <a:avLst/>
          </a:prstGeom>
        </p:spPr>
      </p:pic>
    </p:spTree>
    <p:extLst>
      <p:ext uri="{BB962C8B-B14F-4D97-AF65-F5344CB8AC3E}">
        <p14:creationId xmlns:p14="http://schemas.microsoft.com/office/powerpoint/2010/main" val="1673248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093D403-AB88-456D-9D3E-8E0E1B018AE0}"/>
              </a:ext>
            </a:extLst>
          </p:cNvPr>
          <p:cNvSpPr>
            <a:spLocks noGrp="1"/>
          </p:cNvSpPr>
          <p:nvPr>
            <p:ph type="body" sz="quarter" idx="14"/>
          </p:nvPr>
        </p:nvSpPr>
        <p:spPr/>
        <p:txBody>
          <a:bodyPr/>
          <a:lstStyle/>
          <a:p>
            <a:r>
              <a:rPr lang="en-AU" dirty="0"/>
              <a:t>To analyse the motion on inclined planes</a:t>
            </a:r>
          </a:p>
        </p:txBody>
      </p:sp>
      <p:pic>
        <p:nvPicPr>
          <p:cNvPr id="6" name="Picture 5">
            <a:extLst>
              <a:ext uri="{FF2B5EF4-FFF2-40B4-BE49-F238E27FC236}">
                <a16:creationId xmlns:a16="http://schemas.microsoft.com/office/drawing/2014/main" id="{F547F11D-8978-4956-8465-7435D90FAE50}"/>
              </a:ext>
            </a:extLst>
          </p:cNvPr>
          <p:cNvPicPr>
            <a:picLocks noChangeAspect="1"/>
          </p:cNvPicPr>
          <p:nvPr/>
        </p:nvPicPr>
        <p:blipFill>
          <a:blip r:embed="rId3"/>
          <a:stretch>
            <a:fillRect/>
          </a:stretch>
        </p:blipFill>
        <p:spPr>
          <a:xfrm>
            <a:off x="687387" y="839787"/>
            <a:ext cx="9267825" cy="2028825"/>
          </a:xfrm>
          <a:prstGeom prst="rect">
            <a:avLst/>
          </a:prstGeom>
        </p:spPr>
      </p:pic>
      <p:sp>
        <p:nvSpPr>
          <p:cNvPr id="7" name="TextBox 6">
            <a:extLst>
              <a:ext uri="{FF2B5EF4-FFF2-40B4-BE49-F238E27FC236}">
                <a16:creationId xmlns:a16="http://schemas.microsoft.com/office/drawing/2014/main" id="{EAE0CE60-C58A-435A-8743-907D359FBA07}"/>
              </a:ext>
            </a:extLst>
          </p:cNvPr>
          <p:cNvSpPr txBox="1"/>
          <p:nvPr/>
        </p:nvSpPr>
        <p:spPr>
          <a:xfrm>
            <a:off x="10045700" y="1028700"/>
            <a:ext cx="914400" cy="914400"/>
          </a:xfrm>
          <a:prstGeom prst="rect">
            <a:avLst/>
          </a:prstGeom>
          <a:noFill/>
          <a:ln>
            <a:noFill/>
          </a:ln>
        </p:spPr>
        <p:txBody>
          <a:bodyPr wrap="none" rtlCol="0" anchor="t" anchorCtr="0">
            <a:normAutofit/>
          </a:bodyPr>
          <a:lstStyle/>
          <a:p>
            <a:pPr algn="l"/>
            <a:r>
              <a:rPr lang="en-AU" sz="1400" dirty="0">
                <a:latin typeface="Century Gothic" panose="020B0502020202020204" pitchFamily="34" charset="0"/>
                <a:cs typeface="Futura Medium" panose="020B0602020204020303" pitchFamily="34" charset="-79"/>
              </a:rPr>
              <a:t>Watch the angle</a:t>
            </a:r>
          </a:p>
        </p:txBody>
      </p:sp>
      <p:pic>
        <p:nvPicPr>
          <p:cNvPr id="9" name="Picture 8">
            <a:extLst>
              <a:ext uri="{FF2B5EF4-FFF2-40B4-BE49-F238E27FC236}">
                <a16:creationId xmlns:a16="http://schemas.microsoft.com/office/drawing/2014/main" id="{648E2E1A-A0C0-43A9-94F8-61B7AA81C95E}"/>
              </a:ext>
            </a:extLst>
          </p:cNvPr>
          <p:cNvPicPr>
            <a:picLocks noChangeAspect="1"/>
          </p:cNvPicPr>
          <p:nvPr/>
        </p:nvPicPr>
        <p:blipFill>
          <a:blip r:embed="rId4"/>
          <a:stretch>
            <a:fillRect/>
          </a:stretch>
        </p:blipFill>
        <p:spPr>
          <a:xfrm>
            <a:off x="687387" y="2868612"/>
            <a:ext cx="9267825" cy="762000"/>
          </a:xfrm>
          <a:prstGeom prst="rect">
            <a:avLst/>
          </a:prstGeom>
        </p:spPr>
      </p:pic>
      <p:pic>
        <p:nvPicPr>
          <p:cNvPr id="11" name="Picture 10">
            <a:extLst>
              <a:ext uri="{FF2B5EF4-FFF2-40B4-BE49-F238E27FC236}">
                <a16:creationId xmlns:a16="http://schemas.microsoft.com/office/drawing/2014/main" id="{46AA66A5-7E94-4905-BC3D-E64F61E23007}"/>
              </a:ext>
            </a:extLst>
          </p:cNvPr>
          <p:cNvPicPr>
            <a:picLocks noChangeAspect="1"/>
          </p:cNvPicPr>
          <p:nvPr/>
        </p:nvPicPr>
        <p:blipFill>
          <a:blip r:embed="rId5"/>
          <a:stretch>
            <a:fillRect/>
          </a:stretch>
        </p:blipFill>
        <p:spPr>
          <a:xfrm>
            <a:off x="687387" y="3860799"/>
            <a:ext cx="9153525" cy="742950"/>
          </a:xfrm>
          <a:prstGeom prst="rect">
            <a:avLst/>
          </a:prstGeom>
        </p:spPr>
      </p:pic>
      <p:pic>
        <p:nvPicPr>
          <p:cNvPr id="13" name="Picture 12">
            <a:extLst>
              <a:ext uri="{FF2B5EF4-FFF2-40B4-BE49-F238E27FC236}">
                <a16:creationId xmlns:a16="http://schemas.microsoft.com/office/drawing/2014/main" id="{CBFF4F3B-8C54-4164-87CA-5F36E830DB93}"/>
              </a:ext>
            </a:extLst>
          </p:cNvPr>
          <p:cNvPicPr>
            <a:picLocks noChangeAspect="1"/>
          </p:cNvPicPr>
          <p:nvPr/>
        </p:nvPicPr>
        <p:blipFill>
          <a:blip r:embed="rId6"/>
          <a:stretch>
            <a:fillRect/>
          </a:stretch>
        </p:blipFill>
        <p:spPr>
          <a:xfrm>
            <a:off x="687387" y="4776831"/>
            <a:ext cx="9296400" cy="733425"/>
          </a:xfrm>
          <a:prstGeom prst="rect">
            <a:avLst/>
          </a:prstGeom>
        </p:spPr>
      </p:pic>
      <p:sp>
        <p:nvSpPr>
          <p:cNvPr id="4" name="Text Placeholder 3">
            <a:extLst>
              <a:ext uri="{FF2B5EF4-FFF2-40B4-BE49-F238E27FC236}">
                <a16:creationId xmlns:a16="http://schemas.microsoft.com/office/drawing/2014/main" id="{606FFA81-6FEA-4F8F-9A3C-9D0AF320AD29}"/>
              </a:ext>
            </a:extLst>
          </p:cNvPr>
          <p:cNvSpPr>
            <a:spLocks noGrp="1"/>
          </p:cNvSpPr>
          <p:nvPr>
            <p:ph type="body" sz="quarter" idx="17"/>
          </p:nvPr>
        </p:nvSpPr>
        <p:spPr>
          <a:xfrm>
            <a:off x="295275" y="585330"/>
            <a:ext cx="3779478" cy="319722"/>
          </a:xfrm>
        </p:spPr>
        <p:txBody>
          <a:bodyPr/>
          <a:lstStyle/>
          <a:p>
            <a:r>
              <a:rPr lang="en-AU" dirty="0"/>
              <a:t>Questions / Homework</a:t>
            </a:r>
          </a:p>
        </p:txBody>
      </p:sp>
      <p:sp>
        <p:nvSpPr>
          <p:cNvPr id="18" name="TextBox 17">
            <a:extLst>
              <a:ext uri="{FF2B5EF4-FFF2-40B4-BE49-F238E27FC236}">
                <a16:creationId xmlns:a16="http://schemas.microsoft.com/office/drawing/2014/main" id="{57223B0B-DC75-40D5-A00F-1C9A625F6E23}"/>
              </a:ext>
            </a:extLst>
          </p:cNvPr>
          <p:cNvSpPr txBox="1"/>
          <p:nvPr/>
        </p:nvSpPr>
        <p:spPr>
          <a:xfrm>
            <a:off x="725487" y="5805531"/>
            <a:ext cx="914400" cy="914400"/>
          </a:xfrm>
          <a:prstGeom prst="rect">
            <a:avLst/>
          </a:prstGeom>
          <a:noFill/>
          <a:ln>
            <a:noFill/>
          </a:ln>
        </p:spPr>
        <p:txBody>
          <a:bodyPr wrap="none" rtlCol="0" anchor="t" anchorCtr="0">
            <a:normAutofit/>
          </a:bodyPr>
          <a:lstStyle/>
          <a:p>
            <a:pPr algn="l"/>
            <a:r>
              <a:rPr lang="en-AU" dirty="0">
                <a:latin typeface="Century Gothic" panose="020B0502020202020204" pitchFamily="34" charset="0"/>
                <a:cs typeface="Futura Medium" panose="020B0602020204020303" pitchFamily="34" charset="-79"/>
              </a:rPr>
              <a:t>Optional: All of Pearson’s 2.1 Review as well </a:t>
            </a:r>
          </a:p>
        </p:txBody>
      </p:sp>
      <p:sp>
        <p:nvSpPr>
          <p:cNvPr id="19" name="TextBox 18">
            <a:extLst>
              <a:ext uri="{FF2B5EF4-FFF2-40B4-BE49-F238E27FC236}">
                <a16:creationId xmlns:a16="http://schemas.microsoft.com/office/drawing/2014/main" id="{46670CBD-F4F0-445C-AD8D-36B17B900BC1}"/>
              </a:ext>
            </a:extLst>
          </p:cNvPr>
          <p:cNvSpPr txBox="1"/>
          <p:nvPr/>
        </p:nvSpPr>
        <p:spPr>
          <a:xfrm>
            <a:off x="9383712" y="5561013"/>
            <a:ext cx="914400" cy="914400"/>
          </a:xfrm>
          <a:prstGeom prst="rect">
            <a:avLst/>
          </a:prstGeom>
          <a:noFill/>
          <a:ln>
            <a:noFill/>
          </a:ln>
        </p:spPr>
        <p:txBody>
          <a:bodyPr wrap="none" rtlCol="0" anchor="t" anchorCtr="0">
            <a:normAutofit/>
          </a:bodyPr>
          <a:lstStyle/>
          <a:p>
            <a:pPr algn="l"/>
            <a:r>
              <a:rPr lang="en-AU" b="1" dirty="0">
                <a:latin typeface="Century Gothic" panose="020B0502020202020204" pitchFamily="34" charset="0"/>
                <a:cs typeface="Futura Medium" panose="020B0602020204020303" pitchFamily="34" charset="-79"/>
              </a:rPr>
              <a:t>Due Monday 7 Feb</a:t>
            </a:r>
          </a:p>
        </p:txBody>
      </p:sp>
    </p:spTree>
    <p:extLst>
      <p:ext uri="{BB962C8B-B14F-4D97-AF65-F5344CB8AC3E}">
        <p14:creationId xmlns:p14="http://schemas.microsoft.com/office/powerpoint/2010/main" val="3284413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26C913-B1CD-4C26-AEE9-433AB7E308E1}"/>
              </a:ext>
            </a:extLst>
          </p:cNvPr>
          <p:cNvSpPr>
            <a:spLocks noGrp="1"/>
          </p:cNvSpPr>
          <p:nvPr>
            <p:ph type="body" sz="quarter" idx="14"/>
          </p:nvPr>
        </p:nvSpPr>
        <p:spPr/>
        <p:txBody>
          <a:bodyPr/>
          <a:lstStyle/>
          <a:p>
            <a:r>
              <a:rPr lang="en-AU" dirty="0"/>
              <a:t>To analyse the motion on inclined planes</a:t>
            </a:r>
          </a:p>
        </p:txBody>
      </p:sp>
      <p:sp>
        <p:nvSpPr>
          <p:cNvPr id="3" name="Text Placeholder 2">
            <a:extLst>
              <a:ext uri="{FF2B5EF4-FFF2-40B4-BE49-F238E27FC236}">
                <a16:creationId xmlns:a16="http://schemas.microsoft.com/office/drawing/2014/main" id="{F232AFB0-AE83-469A-B7EB-0DE56DAF412D}"/>
              </a:ext>
            </a:extLst>
          </p:cNvPr>
          <p:cNvSpPr>
            <a:spLocks noGrp="1"/>
          </p:cNvSpPr>
          <p:nvPr>
            <p:ph type="body" sz="quarter" idx="15"/>
          </p:nvPr>
        </p:nvSpPr>
        <p:spPr>
          <a:xfrm>
            <a:off x="397668" y="991704"/>
            <a:ext cx="11055579" cy="1971676"/>
          </a:xfrm>
        </p:spPr>
        <p:txBody>
          <a:bodyPr/>
          <a:lstStyle/>
          <a:p>
            <a:pPr marL="457200" indent="-457200">
              <a:buFont typeface="Arial" panose="020B0604020202020204" pitchFamily="34" charset="0"/>
              <a:buChar char="•"/>
            </a:pPr>
            <a:r>
              <a:rPr lang="en-AU" b="0" dirty="0"/>
              <a:t>Remember and be comfortable drawing the vector diagram for an object on a slope.</a:t>
            </a:r>
          </a:p>
          <a:p>
            <a:pPr marL="457200" indent="-457200">
              <a:buFont typeface="Arial" panose="020B0604020202020204" pitchFamily="34" charset="0"/>
              <a:buChar char="•"/>
            </a:pPr>
            <a:endParaRPr lang="en-AU" b="0" dirty="0"/>
          </a:p>
          <a:p>
            <a:pPr marL="457200" indent="-457200">
              <a:buFont typeface="Arial" panose="020B0604020202020204" pitchFamily="34" charset="0"/>
              <a:buChar char="•"/>
            </a:pPr>
            <a:r>
              <a:rPr lang="en-AU" b="0" dirty="0"/>
              <a:t>Remember that the angle of the slope is the same as the angle at the top of the vector triangle</a:t>
            </a:r>
          </a:p>
          <a:p>
            <a:pPr marL="457200" indent="-457200">
              <a:buFont typeface="Arial" panose="020B0604020202020204" pitchFamily="34" charset="0"/>
              <a:buChar char="•"/>
            </a:pPr>
            <a:endParaRPr lang="en-AU" b="0" dirty="0"/>
          </a:p>
          <a:p>
            <a:pPr marL="457200" indent="-457200">
              <a:buFont typeface="Arial" panose="020B0604020202020204" pitchFamily="34" charset="0"/>
              <a:buChar char="•"/>
            </a:pPr>
            <a:r>
              <a:rPr lang="en-AU" b="0" dirty="0"/>
              <a:t>Exam questions may add extra forces (such as friction) to confuse you. Remember that the component of the weight force acting parallel to the slope is responsible for the motion but it is not necessarily the net force.</a:t>
            </a:r>
          </a:p>
          <a:p>
            <a:pPr marL="1143000" lvl="1" indent="-457200"/>
            <a:r>
              <a:rPr lang="en-AU" b="0" dirty="0"/>
              <a:t>Draw a free body diagram every time!</a:t>
            </a:r>
          </a:p>
          <a:p>
            <a:pPr marL="1143000" lvl="1" indent="-457200"/>
            <a:r>
              <a:rPr lang="en-AU" dirty="0"/>
              <a:t>Consider all the forces acting on the object (including friction and applied)</a:t>
            </a:r>
          </a:p>
        </p:txBody>
      </p:sp>
      <p:sp>
        <p:nvSpPr>
          <p:cNvPr id="4" name="Text Placeholder 3">
            <a:extLst>
              <a:ext uri="{FF2B5EF4-FFF2-40B4-BE49-F238E27FC236}">
                <a16:creationId xmlns:a16="http://schemas.microsoft.com/office/drawing/2014/main" id="{D4139FC1-641B-487A-96A8-C5C565986C93}"/>
              </a:ext>
            </a:extLst>
          </p:cNvPr>
          <p:cNvSpPr>
            <a:spLocks noGrp="1"/>
          </p:cNvSpPr>
          <p:nvPr>
            <p:ph type="body" sz="quarter" idx="17"/>
          </p:nvPr>
        </p:nvSpPr>
        <p:spPr>
          <a:xfrm>
            <a:off x="295275" y="585330"/>
            <a:ext cx="3779478" cy="319722"/>
          </a:xfrm>
        </p:spPr>
        <p:txBody>
          <a:bodyPr/>
          <a:lstStyle/>
          <a:p>
            <a:r>
              <a:rPr lang="en-AU" dirty="0"/>
              <a:t>Exam Advice</a:t>
            </a:r>
          </a:p>
        </p:txBody>
      </p:sp>
    </p:spTree>
    <p:extLst>
      <p:ext uri="{BB962C8B-B14F-4D97-AF65-F5344CB8AC3E}">
        <p14:creationId xmlns:p14="http://schemas.microsoft.com/office/powerpoint/2010/main" val="627458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the motion on inclined planes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95274" y="4983670"/>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For objects on an inclined plane:</a:t>
            </a:r>
          </a:p>
          <a:p>
            <a:pPr marL="457200" indent="-457200">
              <a:buFont typeface="Arial" panose="020B0604020202020204" pitchFamily="34" charset="0"/>
              <a:buChar char="•"/>
            </a:pPr>
            <a:r>
              <a:rPr lang="en-AU" b="0" dirty="0"/>
              <a:t>I can draw a free body diagram</a:t>
            </a:r>
          </a:p>
          <a:p>
            <a:pPr marL="457200" indent="-457200">
              <a:buFont typeface="Arial" panose="020B0604020202020204" pitchFamily="34" charset="0"/>
              <a:buChar char="•"/>
            </a:pPr>
            <a:r>
              <a:rPr lang="en-AU" b="0" dirty="0"/>
              <a:t>I can calculate net force and acceleration</a:t>
            </a:r>
          </a:p>
        </p:txBody>
      </p:sp>
    </p:spTree>
    <p:extLst>
      <p:ext uri="{BB962C8B-B14F-4D97-AF65-F5344CB8AC3E}">
        <p14:creationId xmlns:p14="http://schemas.microsoft.com/office/powerpoint/2010/main" val="398213595"/>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09A378-D74F-43D9-93B7-3DBE047851A5}"/>
</file>

<file path=customXml/itemProps2.xml><?xml version="1.0" encoding="utf-8"?>
<ds:datastoreItem xmlns:ds="http://schemas.openxmlformats.org/officeDocument/2006/customXml" ds:itemID="{AD5BC30B-A8FB-4389-B40F-C069B6D2FAB9}">
  <ds:schemaRefs>
    <ds:schemaRef ds:uri="http://purl.org/dc/terms/"/>
    <ds:schemaRef ds:uri="http://schemas.openxmlformats.org/package/2006/metadata/core-properties"/>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purl.org/dc/elements/1.1/"/>
    <ds:schemaRef ds:uri="8f659357-f805-491c-ad0b-5621b2de6466"/>
    <ds:schemaRef ds:uri="http://purl.org/dc/dcmitype/"/>
  </ds:schemaRefs>
</ds:datastoreItem>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4774</TotalTime>
  <Words>756</Words>
  <Application>Microsoft Office PowerPoint</Application>
  <PresentationFormat>Widescreen</PresentationFormat>
  <Paragraphs>125</Paragraphs>
  <Slides>19</Slides>
  <Notes>10</Notes>
  <HiddenSlides>5</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Arial</vt:lpstr>
      <vt:lpstr>Calibri</vt:lpstr>
      <vt:lpstr>Century Gothic</vt:lpstr>
      <vt:lpstr>Futura Medium</vt:lpstr>
      <vt:lpstr>Times New Roman</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393</cp:revision>
  <cp:lastPrinted>2023-02-27T02:03:16Z</cp:lastPrinted>
  <dcterms:created xsi:type="dcterms:W3CDTF">2018-03-29T05:56:09Z</dcterms:created>
  <dcterms:modified xsi:type="dcterms:W3CDTF">2023-02-27T02:03:19Z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