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232" r:id="rId4"/>
    <p:sldMasterId id="2147484274" r:id="rId5"/>
  </p:sldMasterIdLst>
  <p:notesMasterIdLst>
    <p:notesMasterId r:id="rId34"/>
  </p:notesMasterIdLst>
  <p:handoutMasterIdLst>
    <p:handoutMasterId r:id="rId35"/>
  </p:handoutMasterIdLst>
  <p:sldIdLst>
    <p:sldId id="577" r:id="rId6"/>
    <p:sldId id="528" r:id="rId7"/>
    <p:sldId id="615" r:id="rId8"/>
    <p:sldId id="616" r:id="rId9"/>
    <p:sldId id="617" r:id="rId10"/>
    <p:sldId id="618" r:id="rId11"/>
    <p:sldId id="622" r:id="rId12"/>
    <p:sldId id="619" r:id="rId13"/>
    <p:sldId id="620" r:id="rId14"/>
    <p:sldId id="621" r:id="rId15"/>
    <p:sldId id="626" r:id="rId16"/>
    <p:sldId id="625" r:id="rId17"/>
    <p:sldId id="624" r:id="rId18"/>
    <p:sldId id="627" r:id="rId19"/>
    <p:sldId id="629" r:id="rId20"/>
    <p:sldId id="630" r:id="rId21"/>
    <p:sldId id="628" r:id="rId22"/>
    <p:sldId id="638" r:id="rId23"/>
    <p:sldId id="639" r:id="rId24"/>
    <p:sldId id="631" r:id="rId25"/>
    <p:sldId id="634" r:id="rId26"/>
    <p:sldId id="632" r:id="rId27"/>
    <p:sldId id="633" r:id="rId28"/>
    <p:sldId id="635" r:id="rId29"/>
    <p:sldId id="636" r:id="rId30"/>
    <p:sldId id="637" r:id="rId31"/>
    <p:sldId id="597" r:id="rId32"/>
    <p:sldId id="623"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helle Buss" initials="MB"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0CECE"/>
    <a:srgbClr val="FFD966"/>
    <a:srgbClr val="FF0000"/>
    <a:srgbClr val="159B4B"/>
    <a:srgbClr val="0070C0"/>
    <a:srgbClr val="C55A11"/>
    <a:srgbClr val="6E407C"/>
    <a:srgbClr val="FBCA58"/>
    <a:srgbClr val="2E546D"/>
    <a:srgbClr val="DEEBF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857" autoAdjust="0"/>
    <p:restoredTop sz="79952" autoAdjust="0"/>
  </p:normalViewPr>
  <p:slideViewPr>
    <p:cSldViewPr snapToGrid="0" snapToObjects="1">
      <p:cViewPr varScale="1">
        <p:scale>
          <a:sx n="90" d="100"/>
          <a:sy n="90" d="100"/>
        </p:scale>
        <p:origin x="318" y="78"/>
      </p:cViewPr>
      <p:guideLst>
        <p:guide orient="horz" pos="2160"/>
        <p:guide pos="3840"/>
      </p:guideLst>
    </p:cSldViewPr>
  </p:slideViewPr>
  <p:notesTextViewPr>
    <p:cViewPr>
      <p:scale>
        <a:sx n="1" d="1"/>
        <a:sy n="1" d="1"/>
      </p:scale>
      <p:origin x="0" y="0"/>
    </p:cViewPr>
  </p:notesTextViewPr>
  <p:sorterViewPr>
    <p:cViewPr>
      <p:scale>
        <a:sx n="66" d="100"/>
        <a:sy n="66" d="100"/>
      </p:scale>
      <p:origin x="0" y="0"/>
    </p:cViewPr>
  </p:sorterViewPr>
  <p:notesViewPr>
    <p:cSldViewPr snapToGrid="0" snapToObjects="1">
      <p:cViewPr varScale="1">
        <p:scale>
          <a:sx n="77" d="100"/>
          <a:sy n="77" d="100"/>
        </p:scale>
        <p:origin x="2592" y="20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theme" Target="theme/theme1.xml"/><Relationship Id="rId21" Type="http://schemas.openxmlformats.org/officeDocument/2006/relationships/slide" Target="slides/slide16.xml"/><Relationship Id="rId34" Type="http://schemas.openxmlformats.org/officeDocument/2006/relationships/notesMaster" Target="notesMasters/notesMaster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commentAuthors" Target="commentAuthor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handoutMaster" Target="handoutMasters/handoutMaster1.xml"/><Relationship Id="rId8" Type="http://schemas.openxmlformats.org/officeDocument/2006/relationships/slide" Target="slides/slide3.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78E4B7C-96ED-E449-9693-B655C4671FD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4" name="Footer Placeholder 3">
            <a:extLst>
              <a:ext uri="{FF2B5EF4-FFF2-40B4-BE49-F238E27FC236}">
                <a16:creationId xmlns:a16="http://schemas.microsoft.com/office/drawing/2014/main" id="{28D809C4-E54C-A54E-B9F4-56C375E0D8D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E53AD932-3578-6E4B-810C-4CF7533A983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DA9B4CA-DA29-0849-8519-4B81F4CE08AD}" type="slidenum">
              <a:rPr lang="en-US" smtClean="0"/>
              <a:t>‹#›</a:t>
            </a:fld>
            <a:endParaRPr lang="en-US" dirty="0"/>
          </a:p>
        </p:txBody>
      </p:sp>
      <p:sp>
        <p:nvSpPr>
          <p:cNvPr id="6" name="Date Placeholder 5">
            <a:extLst>
              <a:ext uri="{FF2B5EF4-FFF2-40B4-BE49-F238E27FC236}">
                <a16:creationId xmlns:a16="http://schemas.microsoft.com/office/drawing/2014/main" id="{27115A18-6E6E-F748-9363-1DB667F2522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A89F1C8-9A67-204B-8DB6-6C2E5B2C92D6}" type="datetimeFigureOut">
              <a:rPr lang="en-US" smtClean="0"/>
              <a:t>1/4/2023</a:t>
            </a:fld>
            <a:endParaRPr lang="en-US" dirty="0"/>
          </a:p>
        </p:txBody>
      </p:sp>
    </p:spTree>
    <p:extLst>
      <p:ext uri="{BB962C8B-B14F-4D97-AF65-F5344CB8AC3E}">
        <p14:creationId xmlns:p14="http://schemas.microsoft.com/office/powerpoint/2010/main" val="163153134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AAB6C6-360D-448E-B12B-FCD285160A81}" type="datetimeFigureOut">
              <a:rPr lang="en-AU" smtClean="0"/>
              <a:t>4/01/2023</a:t>
            </a:fld>
            <a:endParaRPr lang="en-AU"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B756B8-97A8-4FA1-B26A-2500BA5D4D05}" type="slidenum">
              <a:rPr lang="en-AU" smtClean="0"/>
              <a:t>‹#›</a:t>
            </a:fld>
            <a:endParaRPr lang="en-AU" dirty="0"/>
          </a:p>
        </p:txBody>
      </p:sp>
    </p:spTree>
    <p:extLst>
      <p:ext uri="{BB962C8B-B14F-4D97-AF65-F5344CB8AC3E}">
        <p14:creationId xmlns:p14="http://schemas.microsoft.com/office/powerpoint/2010/main" val="18664480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2</a:t>
            </a:fld>
            <a:endParaRPr lang="en-AU" dirty="0"/>
          </a:p>
        </p:txBody>
      </p:sp>
    </p:spTree>
    <p:extLst>
      <p:ext uri="{BB962C8B-B14F-4D97-AF65-F5344CB8AC3E}">
        <p14:creationId xmlns:p14="http://schemas.microsoft.com/office/powerpoint/2010/main" val="7993577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3</a:t>
            </a:fld>
            <a:endParaRPr lang="en-AU" dirty="0"/>
          </a:p>
        </p:txBody>
      </p:sp>
    </p:spTree>
    <p:extLst>
      <p:ext uri="{BB962C8B-B14F-4D97-AF65-F5344CB8AC3E}">
        <p14:creationId xmlns:p14="http://schemas.microsoft.com/office/powerpoint/2010/main" val="522875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4</a:t>
            </a:fld>
            <a:endParaRPr lang="en-AU" dirty="0"/>
          </a:p>
        </p:txBody>
      </p:sp>
    </p:spTree>
    <p:extLst>
      <p:ext uri="{BB962C8B-B14F-4D97-AF65-F5344CB8AC3E}">
        <p14:creationId xmlns:p14="http://schemas.microsoft.com/office/powerpoint/2010/main" val="25323132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5</a:t>
            </a:fld>
            <a:endParaRPr lang="en-AU" dirty="0"/>
          </a:p>
        </p:txBody>
      </p:sp>
    </p:spTree>
    <p:extLst>
      <p:ext uri="{BB962C8B-B14F-4D97-AF65-F5344CB8AC3E}">
        <p14:creationId xmlns:p14="http://schemas.microsoft.com/office/powerpoint/2010/main" val="9020034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a:p>
            <a:r>
              <a:rPr lang="en-AU" b="0" dirty="0"/>
              <a:t>ACW torque = 45 * 1.2 * 9.8 + 60 * 0.8 * 9.8 = 999.6 Nm</a:t>
            </a:r>
          </a:p>
          <a:p>
            <a:endParaRPr lang="en-AU" b="0" dirty="0"/>
          </a:p>
          <a:p>
            <a:r>
              <a:rPr lang="en-AU" b="0" dirty="0"/>
              <a:t>CW torque = 999.6 Nm = 75 * 9.8 * r</a:t>
            </a:r>
          </a:p>
          <a:p>
            <a:r>
              <a:rPr lang="en-AU" b="0" dirty="0"/>
              <a:t>r = 1.36 m from the pivot</a:t>
            </a:r>
          </a:p>
        </p:txBody>
      </p:sp>
      <p:sp>
        <p:nvSpPr>
          <p:cNvPr id="4" name="Slide Number Placeholder 3"/>
          <p:cNvSpPr>
            <a:spLocks noGrp="1"/>
          </p:cNvSpPr>
          <p:nvPr>
            <p:ph type="sldNum" sz="quarter" idx="5"/>
          </p:nvPr>
        </p:nvSpPr>
        <p:spPr/>
        <p:txBody>
          <a:bodyPr/>
          <a:lstStyle/>
          <a:p>
            <a:fld id="{B5B756B8-97A8-4FA1-B26A-2500BA5D4D05}" type="slidenum">
              <a:rPr lang="en-AU" smtClean="0"/>
              <a:t>6</a:t>
            </a:fld>
            <a:endParaRPr lang="en-AU" dirty="0"/>
          </a:p>
        </p:txBody>
      </p:sp>
    </p:spTree>
    <p:extLst>
      <p:ext uri="{BB962C8B-B14F-4D97-AF65-F5344CB8AC3E}">
        <p14:creationId xmlns:p14="http://schemas.microsoft.com/office/powerpoint/2010/main" val="34207470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a:p>
            <a:r>
              <a:rPr lang="en-AU" b="0" dirty="0"/>
              <a:t>ACW torque = 12 * 3 + 10 * 3 = 66 N</a:t>
            </a:r>
          </a:p>
          <a:p>
            <a:r>
              <a:rPr lang="en-AU" b="0" dirty="0"/>
              <a:t>Need a clockwise torque to balance.</a:t>
            </a:r>
          </a:p>
          <a:p>
            <a:endParaRPr lang="en-AU" b="0" dirty="0"/>
          </a:p>
          <a:p>
            <a:r>
              <a:rPr lang="en-AU" b="0" dirty="0"/>
              <a:t>CW = 66 N = Fr = 33 * r</a:t>
            </a:r>
          </a:p>
          <a:p>
            <a:r>
              <a:rPr lang="en-AU" b="0" dirty="0"/>
              <a:t>r = 2 m</a:t>
            </a:r>
          </a:p>
          <a:p>
            <a:endParaRPr lang="en-AU" b="0" dirty="0"/>
          </a:p>
          <a:p>
            <a:r>
              <a:rPr lang="en-AU" b="0" dirty="0"/>
              <a:t>Remember direction. Needs to be clockwise so weight is placed on the right.</a:t>
            </a:r>
          </a:p>
        </p:txBody>
      </p:sp>
      <p:sp>
        <p:nvSpPr>
          <p:cNvPr id="4" name="Slide Number Placeholder 3"/>
          <p:cNvSpPr>
            <a:spLocks noGrp="1"/>
          </p:cNvSpPr>
          <p:nvPr>
            <p:ph type="sldNum" sz="quarter" idx="5"/>
          </p:nvPr>
        </p:nvSpPr>
        <p:spPr/>
        <p:txBody>
          <a:bodyPr/>
          <a:lstStyle/>
          <a:p>
            <a:fld id="{B5B756B8-97A8-4FA1-B26A-2500BA5D4D05}" type="slidenum">
              <a:rPr lang="en-AU" smtClean="0"/>
              <a:t>7</a:t>
            </a:fld>
            <a:endParaRPr lang="en-AU" dirty="0"/>
          </a:p>
        </p:txBody>
      </p:sp>
    </p:spTree>
    <p:extLst>
      <p:ext uri="{BB962C8B-B14F-4D97-AF65-F5344CB8AC3E}">
        <p14:creationId xmlns:p14="http://schemas.microsoft.com/office/powerpoint/2010/main" val="21019768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8</a:t>
            </a:fld>
            <a:endParaRPr lang="en-AU" dirty="0"/>
          </a:p>
        </p:txBody>
      </p:sp>
    </p:spTree>
    <p:extLst>
      <p:ext uri="{BB962C8B-B14F-4D97-AF65-F5344CB8AC3E}">
        <p14:creationId xmlns:p14="http://schemas.microsoft.com/office/powerpoint/2010/main" val="24125089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9</a:t>
            </a:fld>
            <a:endParaRPr lang="en-AU" dirty="0"/>
          </a:p>
        </p:txBody>
      </p:sp>
    </p:spTree>
    <p:extLst>
      <p:ext uri="{BB962C8B-B14F-4D97-AF65-F5344CB8AC3E}">
        <p14:creationId xmlns:p14="http://schemas.microsoft.com/office/powerpoint/2010/main" val="6631710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10</a:t>
            </a:fld>
            <a:endParaRPr lang="en-AU" dirty="0"/>
          </a:p>
        </p:txBody>
      </p:sp>
    </p:spTree>
    <p:extLst>
      <p:ext uri="{BB962C8B-B14F-4D97-AF65-F5344CB8AC3E}">
        <p14:creationId xmlns:p14="http://schemas.microsoft.com/office/powerpoint/2010/main" val="31063258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11</a:t>
            </a:fld>
            <a:endParaRPr lang="en-AU" dirty="0"/>
          </a:p>
        </p:txBody>
      </p:sp>
    </p:spTree>
    <p:extLst>
      <p:ext uri="{BB962C8B-B14F-4D97-AF65-F5344CB8AC3E}">
        <p14:creationId xmlns:p14="http://schemas.microsoft.com/office/powerpoint/2010/main" val="28547845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12</a:t>
            </a:fld>
            <a:endParaRPr lang="en-AU" dirty="0"/>
          </a:p>
        </p:txBody>
      </p:sp>
    </p:spTree>
    <p:extLst>
      <p:ext uri="{BB962C8B-B14F-4D97-AF65-F5344CB8AC3E}">
        <p14:creationId xmlns:p14="http://schemas.microsoft.com/office/powerpoint/2010/main" val="37727417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13</a:t>
            </a:fld>
            <a:endParaRPr lang="en-AU" dirty="0"/>
          </a:p>
        </p:txBody>
      </p:sp>
    </p:spTree>
    <p:extLst>
      <p:ext uri="{BB962C8B-B14F-4D97-AF65-F5344CB8AC3E}">
        <p14:creationId xmlns:p14="http://schemas.microsoft.com/office/powerpoint/2010/main" val="11656876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dirty="0"/>
              <a:t>Take torques around N2 to remove N2 from equation</a:t>
            </a:r>
          </a:p>
          <a:p>
            <a:r>
              <a:rPr lang="en-AU" b="0" dirty="0"/>
              <a:t>N1 * r1 = N3 * r3 + Wp * r2</a:t>
            </a:r>
          </a:p>
          <a:p>
            <a:r>
              <a:rPr lang="en-AU" b="0" dirty="0"/>
              <a:t>3 N1 = 15 * 9.8 * 2  + 25 * 9.8 * 1.5</a:t>
            </a:r>
          </a:p>
          <a:p>
            <a:r>
              <a:rPr lang="en-AU" b="0" dirty="0"/>
              <a:t>N1 = 220.5 N</a:t>
            </a:r>
          </a:p>
        </p:txBody>
      </p:sp>
      <p:sp>
        <p:nvSpPr>
          <p:cNvPr id="4" name="Slide Number Placeholder 3"/>
          <p:cNvSpPr>
            <a:spLocks noGrp="1"/>
          </p:cNvSpPr>
          <p:nvPr>
            <p:ph type="sldNum" sz="quarter" idx="5"/>
          </p:nvPr>
        </p:nvSpPr>
        <p:spPr/>
        <p:txBody>
          <a:bodyPr/>
          <a:lstStyle/>
          <a:p>
            <a:fld id="{B5B756B8-97A8-4FA1-B26A-2500BA5D4D05}" type="slidenum">
              <a:rPr lang="en-AU" smtClean="0"/>
              <a:t>14</a:t>
            </a:fld>
            <a:endParaRPr lang="en-AU" dirty="0"/>
          </a:p>
        </p:txBody>
      </p:sp>
    </p:spTree>
    <p:extLst>
      <p:ext uri="{BB962C8B-B14F-4D97-AF65-F5344CB8AC3E}">
        <p14:creationId xmlns:p14="http://schemas.microsoft.com/office/powerpoint/2010/main" val="8904556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15</a:t>
            </a:fld>
            <a:endParaRPr lang="en-AU" dirty="0"/>
          </a:p>
        </p:txBody>
      </p:sp>
    </p:spTree>
    <p:extLst>
      <p:ext uri="{BB962C8B-B14F-4D97-AF65-F5344CB8AC3E}">
        <p14:creationId xmlns:p14="http://schemas.microsoft.com/office/powerpoint/2010/main" val="19273296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16</a:t>
            </a:fld>
            <a:endParaRPr lang="en-AU" dirty="0"/>
          </a:p>
        </p:txBody>
      </p:sp>
    </p:spTree>
    <p:extLst>
      <p:ext uri="{BB962C8B-B14F-4D97-AF65-F5344CB8AC3E}">
        <p14:creationId xmlns:p14="http://schemas.microsoft.com/office/powerpoint/2010/main" val="23576202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17</a:t>
            </a:fld>
            <a:endParaRPr lang="en-AU" dirty="0"/>
          </a:p>
        </p:txBody>
      </p:sp>
    </p:spTree>
    <p:extLst>
      <p:ext uri="{BB962C8B-B14F-4D97-AF65-F5344CB8AC3E}">
        <p14:creationId xmlns:p14="http://schemas.microsoft.com/office/powerpoint/2010/main" val="386155798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18</a:t>
            </a:fld>
            <a:endParaRPr lang="en-AU" dirty="0"/>
          </a:p>
        </p:txBody>
      </p:sp>
    </p:spTree>
    <p:extLst>
      <p:ext uri="{BB962C8B-B14F-4D97-AF65-F5344CB8AC3E}">
        <p14:creationId xmlns:p14="http://schemas.microsoft.com/office/powerpoint/2010/main" val="120583891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19</a:t>
            </a:fld>
            <a:endParaRPr lang="en-AU" dirty="0"/>
          </a:p>
        </p:txBody>
      </p:sp>
    </p:spTree>
    <p:extLst>
      <p:ext uri="{BB962C8B-B14F-4D97-AF65-F5344CB8AC3E}">
        <p14:creationId xmlns:p14="http://schemas.microsoft.com/office/powerpoint/2010/main" val="318930253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20</a:t>
            </a:fld>
            <a:endParaRPr lang="en-AU" dirty="0"/>
          </a:p>
        </p:txBody>
      </p:sp>
    </p:spTree>
    <p:extLst>
      <p:ext uri="{BB962C8B-B14F-4D97-AF65-F5344CB8AC3E}">
        <p14:creationId xmlns:p14="http://schemas.microsoft.com/office/powerpoint/2010/main" val="207473261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21</a:t>
            </a:fld>
            <a:endParaRPr lang="en-AU" dirty="0"/>
          </a:p>
        </p:txBody>
      </p:sp>
    </p:spTree>
    <p:extLst>
      <p:ext uri="{BB962C8B-B14F-4D97-AF65-F5344CB8AC3E}">
        <p14:creationId xmlns:p14="http://schemas.microsoft.com/office/powerpoint/2010/main" val="165208048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22</a:t>
            </a:fld>
            <a:endParaRPr lang="en-AU" dirty="0"/>
          </a:p>
        </p:txBody>
      </p:sp>
    </p:spTree>
    <p:extLst>
      <p:ext uri="{BB962C8B-B14F-4D97-AF65-F5344CB8AC3E}">
        <p14:creationId xmlns:p14="http://schemas.microsoft.com/office/powerpoint/2010/main" val="154011679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take moments about fastener</a:t>
            </a:r>
          </a:p>
          <a:p>
            <a:r>
              <a:rPr lang="en-US" b="0" dirty="0" err="1"/>
              <a:t>Tsin</a:t>
            </a:r>
            <a:r>
              <a:rPr lang="en-US" b="0" dirty="0"/>
              <a:t> 30 x 1.3 = 2.25 x 9.8 x 1.8 + 3.00 x 9.8 x 0.90</a:t>
            </a:r>
          </a:p>
          <a:p>
            <a:r>
              <a:rPr lang="en-US" b="0" dirty="0"/>
              <a:t>T = 101 N</a:t>
            </a:r>
          </a:p>
          <a:p>
            <a:r>
              <a:rPr lang="en-US" b="0" dirty="0"/>
              <a:t>RX = TX = 88.1N</a:t>
            </a:r>
          </a:p>
          <a:p>
            <a:r>
              <a:rPr lang="en-US" b="0" dirty="0"/>
              <a:t>RY + TY = 3.00 x 9.8 + 2.25 x 9.8</a:t>
            </a:r>
          </a:p>
          <a:p>
            <a:r>
              <a:rPr lang="en-US" b="0" dirty="0"/>
              <a:t>RY = 0.565 N</a:t>
            </a:r>
          </a:p>
          <a:p>
            <a:r>
              <a:rPr lang="en-US" b="0" dirty="0"/>
              <a:t>R = sqrt((RX)^2 + (RY)^2) = 88.1 N at 0.37°</a:t>
            </a:r>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23</a:t>
            </a:fld>
            <a:endParaRPr lang="en-AU" dirty="0"/>
          </a:p>
        </p:txBody>
      </p:sp>
    </p:spTree>
    <p:extLst>
      <p:ext uri="{BB962C8B-B14F-4D97-AF65-F5344CB8AC3E}">
        <p14:creationId xmlns:p14="http://schemas.microsoft.com/office/powerpoint/2010/main" val="156183747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24</a:t>
            </a:fld>
            <a:endParaRPr lang="en-AU" dirty="0"/>
          </a:p>
        </p:txBody>
      </p:sp>
    </p:spTree>
    <p:extLst>
      <p:ext uri="{BB962C8B-B14F-4D97-AF65-F5344CB8AC3E}">
        <p14:creationId xmlns:p14="http://schemas.microsoft.com/office/powerpoint/2010/main" val="210636639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25</a:t>
            </a:fld>
            <a:endParaRPr lang="en-AU" dirty="0"/>
          </a:p>
        </p:txBody>
      </p:sp>
    </p:spTree>
    <p:extLst>
      <p:ext uri="{BB962C8B-B14F-4D97-AF65-F5344CB8AC3E}">
        <p14:creationId xmlns:p14="http://schemas.microsoft.com/office/powerpoint/2010/main" val="86572146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26</a:t>
            </a:fld>
            <a:endParaRPr lang="en-AU" dirty="0"/>
          </a:p>
        </p:txBody>
      </p:sp>
    </p:spTree>
    <p:extLst>
      <p:ext uri="{BB962C8B-B14F-4D97-AF65-F5344CB8AC3E}">
        <p14:creationId xmlns:p14="http://schemas.microsoft.com/office/powerpoint/2010/main" val="331103712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27</a:t>
            </a:fld>
            <a:endParaRPr lang="en-AU" dirty="0"/>
          </a:p>
        </p:txBody>
      </p:sp>
    </p:spTree>
    <p:extLst>
      <p:ext uri="{BB962C8B-B14F-4D97-AF65-F5344CB8AC3E}">
        <p14:creationId xmlns:p14="http://schemas.microsoft.com/office/powerpoint/2010/main" val="23129020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2.xml"/><Relationship Id="rId4" Type="http://schemas.openxmlformats.org/officeDocument/2006/relationships/image" Target="../media/image4.jp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2.xml"/><Relationship Id="rId4" Type="http://schemas.openxmlformats.org/officeDocument/2006/relationships/image" Target="../media/image4.jp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R) Daily Edit">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1572219" cy="515262"/>
          </a:xfrm>
          <a:prstGeom prst="rect">
            <a:avLst/>
          </a:prstGeom>
          <a:solidFill>
            <a:srgbClr val="692B7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Daily Edit</a:t>
            </a:r>
          </a:p>
        </p:txBody>
      </p:sp>
      <p:sp>
        <p:nvSpPr>
          <p:cNvPr id="6" name="TextBox 5">
            <a:extLst>
              <a:ext uri="{FF2B5EF4-FFF2-40B4-BE49-F238E27FC236}">
                <a16:creationId xmlns:a16="http://schemas.microsoft.com/office/drawing/2014/main" id="{8BA40631-C083-AD47-B428-316584A39680}"/>
              </a:ext>
            </a:extLst>
          </p:cNvPr>
          <p:cNvSpPr txBox="1"/>
          <p:nvPr userDrawn="1"/>
        </p:nvSpPr>
        <p:spPr>
          <a:xfrm>
            <a:off x="1867437" y="208655"/>
            <a:ext cx="10004958" cy="515263"/>
          </a:xfrm>
          <a:prstGeom prst="rect">
            <a:avLst/>
          </a:prstGeom>
          <a:noFill/>
          <a:ln>
            <a:noFill/>
          </a:ln>
        </p:spPr>
        <p:txBody>
          <a:bodyPr wrap="square" rtlCol="0" anchor="ctr">
            <a:normAutofit/>
          </a:bodyPr>
          <a:lstStyle/>
          <a:p>
            <a:r>
              <a:rPr lang="en-US" sz="2400" b="1" i="0" dirty="0">
                <a:solidFill>
                  <a:srgbClr val="692B7D"/>
                </a:solidFill>
                <a:latin typeface="Century Gothic" panose="020B0502020202020204" pitchFamily="34" charset="0"/>
                <a:cs typeface="Futura Medium" panose="020B0602020204020303" pitchFamily="34" charset="-79"/>
              </a:rPr>
              <a:t>Sit down and begin this task immediately.</a:t>
            </a:r>
          </a:p>
        </p:txBody>
      </p:sp>
      <p:sp>
        <p:nvSpPr>
          <p:cNvPr id="7" name="Text Placeholder 6">
            <a:extLst>
              <a:ext uri="{FF2B5EF4-FFF2-40B4-BE49-F238E27FC236}">
                <a16:creationId xmlns:a16="http://schemas.microsoft.com/office/drawing/2014/main" id="{BF35187B-F1B6-6642-9304-A94B5E4C924F}"/>
              </a:ext>
            </a:extLst>
          </p:cNvPr>
          <p:cNvSpPr>
            <a:spLocks noGrp="1"/>
          </p:cNvSpPr>
          <p:nvPr>
            <p:ph type="body" sz="quarter" idx="10" hasCustomPrompt="1"/>
          </p:nvPr>
        </p:nvSpPr>
        <p:spPr>
          <a:xfrm>
            <a:off x="399245" y="780837"/>
            <a:ext cx="11359166" cy="111235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Explain what students need to do.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
        <p:nvSpPr>
          <p:cNvPr id="10" name="Text Placeholder 6">
            <a:extLst>
              <a:ext uri="{FF2B5EF4-FFF2-40B4-BE49-F238E27FC236}">
                <a16:creationId xmlns:a16="http://schemas.microsoft.com/office/drawing/2014/main" id="{93AE7A03-206B-7848-A477-7A841FF720DA}"/>
              </a:ext>
            </a:extLst>
          </p:cNvPr>
          <p:cNvSpPr>
            <a:spLocks noGrp="1"/>
          </p:cNvSpPr>
          <p:nvPr>
            <p:ph type="body" sz="quarter" idx="11" hasCustomPrompt="1"/>
          </p:nvPr>
        </p:nvSpPr>
        <p:spPr>
          <a:xfrm>
            <a:off x="399245" y="2066578"/>
            <a:ext cx="11359166" cy="438573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Enter in your task</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6710430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R) Daily Edit Titl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D253E48-F01A-C040-9F45-1F9C5FDF10AA}"/>
              </a:ext>
            </a:extLst>
          </p:cNvPr>
          <p:cNvSpPr/>
          <p:nvPr userDrawn="1"/>
        </p:nvSpPr>
        <p:spPr>
          <a:xfrm>
            <a:off x="295219" y="1549400"/>
            <a:ext cx="11578126" cy="2929609"/>
          </a:xfrm>
          <a:prstGeom prst="rect">
            <a:avLst/>
          </a:prstGeom>
          <a:solidFill>
            <a:srgbClr val="692B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200" b="1" i="0" dirty="0">
                <a:latin typeface="Century Gothic" panose="020B0502020202020204" pitchFamily="34" charset="0"/>
              </a:rPr>
              <a:t>SRC Core</a:t>
            </a:r>
            <a:r>
              <a:rPr lang="en-US" sz="7200" b="1" i="0" baseline="0" dirty="0">
                <a:latin typeface="Century Gothic" panose="020B0502020202020204" pitchFamily="34" charset="0"/>
              </a:rPr>
              <a:t> Standards</a:t>
            </a:r>
            <a:endParaRPr lang="en-US" sz="7200" b="1" i="0" dirty="0">
              <a:latin typeface="Century Gothic" panose="020B0502020202020204" pitchFamily="34" charset="0"/>
            </a:endParaRPr>
          </a:p>
        </p:txBody>
      </p:sp>
      <p:sp>
        <p:nvSpPr>
          <p:cNvPr id="5" name="TextBox 4">
            <a:extLst>
              <a:ext uri="{FF2B5EF4-FFF2-40B4-BE49-F238E27FC236}">
                <a16:creationId xmlns:a16="http://schemas.microsoft.com/office/drawing/2014/main" id="{3BD815F0-1745-0C4E-A5DC-70E741C78081}"/>
              </a:ext>
            </a:extLst>
          </p:cNvPr>
          <p:cNvSpPr txBox="1"/>
          <p:nvPr userDrawn="1"/>
        </p:nvSpPr>
        <p:spPr>
          <a:xfrm>
            <a:off x="295218" y="1011383"/>
            <a:ext cx="2106787" cy="538446"/>
          </a:xfrm>
          <a:prstGeom prst="rect">
            <a:avLst/>
          </a:prstGeom>
          <a:solidFill>
            <a:srgbClr val="692B7D"/>
          </a:solidFill>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Daily Review</a:t>
            </a:r>
          </a:p>
        </p:txBody>
      </p:sp>
    </p:spTree>
    <p:extLst>
      <p:ext uri="{BB962C8B-B14F-4D97-AF65-F5344CB8AC3E}">
        <p14:creationId xmlns:p14="http://schemas.microsoft.com/office/powerpoint/2010/main" val="8277499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R) Key Term Definition">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3727" cy="515262"/>
          </a:xfrm>
          <a:prstGeom prst="rect">
            <a:avLst/>
          </a:prstGeom>
          <a:solidFill>
            <a:srgbClr val="692B7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1873045"/>
            <a:ext cx="4609291" cy="495947"/>
          </a:xfrm>
          <a:prstGeom prst="rect">
            <a:avLst/>
          </a:prstGeom>
          <a:solidFill>
            <a:srgbClr val="FBCA58"/>
          </a:solidFill>
          <a:ln>
            <a:noFill/>
          </a:ln>
        </p:spPr>
        <p:txBody>
          <a:bodyPr wrap="square" rtlCol="0" anchor="ctr">
            <a:normAutofit/>
          </a:bodyPr>
          <a:lstStyle/>
          <a:p>
            <a:r>
              <a:rPr lang="en-US" sz="2400" b="1" i="0" dirty="0">
                <a:solidFill>
                  <a:srgbClr val="692B7D"/>
                </a:solidFill>
                <a:latin typeface="Century Gothic" panose="020B0502020202020204" pitchFamily="34" charset="0"/>
                <a:cs typeface="Futura Medium" panose="020B0602020204020303" pitchFamily="34" charset="-79"/>
              </a:rPr>
              <a:t>Track with me / Read with me</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692B7D"/>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4242624"/>
          </a:xfrm>
          <a:prstGeom prst="rect">
            <a:avLst/>
          </a:prstGeom>
          <a:noFill/>
        </p:spPr>
        <p:txBody>
          <a:bodyPr tIns="144000" bIns="0"/>
          <a:lstStyle>
            <a:lvl1pPr marL="0" indent="0">
              <a:buNone/>
              <a:defRPr sz="6000" b="1" i="0">
                <a:solidFill>
                  <a:schemeClr val="tx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definition</a:t>
            </a:r>
          </a:p>
        </p:txBody>
      </p:sp>
    </p:spTree>
    <p:extLst>
      <p:ext uri="{BB962C8B-B14F-4D97-AF65-F5344CB8AC3E}">
        <p14:creationId xmlns:p14="http://schemas.microsoft.com/office/powerpoint/2010/main" val="17220871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R) Key Term Definition Disappea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5600" cy="515262"/>
          </a:xfrm>
          <a:prstGeom prst="rect">
            <a:avLst/>
          </a:prstGeom>
          <a:solidFill>
            <a:srgbClr val="692B7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Key Term Definition</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692B7D"/>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1042224"/>
          </a:xfrm>
          <a:prstGeom prst="rect">
            <a:avLst/>
          </a:prstGeom>
          <a:noFill/>
        </p:spPr>
        <p:txBody>
          <a:bodyPr tIns="144000" bIns="0"/>
          <a:lstStyle>
            <a:lvl1pPr marL="0" indent="0">
              <a:buNone/>
              <a:defRPr sz="6000" b="1" i="0">
                <a:solidFill>
                  <a:schemeClr val="tx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6" name="Text Placeholder 15">
            <a:extLst>
              <a:ext uri="{FF2B5EF4-FFF2-40B4-BE49-F238E27FC236}">
                <a16:creationId xmlns:a16="http://schemas.microsoft.com/office/drawing/2014/main" id="{C99969C1-6602-ED48-B174-C33A6E95ED02}"/>
              </a:ext>
            </a:extLst>
          </p:cNvPr>
          <p:cNvSpPr>
            <a:spLocks noGrp="1"/>
          </p:cNvSpPr>
          <p:nvPr>
            <p:ph type="body" sz="quarter" idx="12" hasCustomPrompt="1"/>
          </p:nvPr>
        </p:nvSpPr>
        <p:spPr>
          <a:xfrm>
            <a:off x="295218" y="3421620"/>
            <a:ext cx="11577177" cy="3158794"/>
          </a:xfrm>
          <a:prstGeom prst="rect">
            <a:avLst/>
          </a:prstGeom>
          <a:noFill/>
        </p:spPr>
        <p:txBody>
          <a:bodyPr tIns="144000" bIns="0"/>
          <a:lstStyle>
            <a:lvl1pPr marL="0" indent="0">
              <a:buNone/>
              <a:defRPr sz="6000" b="1" i="0">
                <a:solidFill>
                  <a:schemeClr val="tx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the part of the definition that will disappear upon clicking. </a:t>
            </a:r>
          </a:p>
        </p:txBody>
      </p:sp>
      <p:sp>
        <p:nvSpPr>
          <p:cNvPr id="7" name="TextBox 6">
            <a:extLst>
              <a:ext uri="{FF2B5EF4-FFF2-40B4-BE49-F238E27FC236}">
                <a16:creationId xmlns:a16="http://schemas.microsoft.com/office/drawing/2014/main" id="{41034DDA-3128-9245-AE60-3BC48E5BA7BD}"/>
              </a:ext>
            </a:extLst>
          </p:cNvPr>
          <p:cNvSpPr txBox="1"/>
          <p:nvPr userDrawn="1"/>
        </p:nvSpPr>
        <p:spPr>
          <a:xfrm>
            <a:off x="295218" y="1873045"/>
            <a:ext cx="4609291" cy="495947"/>
          </a:xfrm>
          <a:prstGeom prst="rect">
            <a:avLst/>
          </a:prstGeom>
          <a:solidFill>
            <a:srgbClr val="FBCA58"/>
          </a:solidFill>
          <a:ln>
            <a:noFill/>
          </a:ln>
        </p:spPr>
        <p:txBody>
          <a:bodyPr wrap="square" rtlCol="0" anchor="ctr">
            <a:normAutofit/>
          </a:bodyPr>
          <a:lstStyle/>
          <a:p>
            <a:r>
              <a:rPr lang="en-US" sz="2400" b="1" i="0" dirty="0">
                <a:solidFill>
                  <a:srgbClr val="692B7D"/>
                </a:solidFill>
                <a:latin typeface="Century Gothic" panose="020B0502020202020204" pitchFamily="34" charset="0"/>
                <a:cs typeface="Futura Medium" panose="020B0602020204020303" pitchFamily="34" charset="-79"/>
              </a:rPr>
              <a:t>Track with me / Read with me</a:t>
            </a:r>
          </a:p>
        </p:txBody>
      </p:sp>
    </p:spTree>
    <p:extLst>
      <p:ext uri="{BB962C8B-B14F-4D97-AF65-F5344CB8AC3E}">
        <p14:creationId xmlns:p14="http://schemas.microsoft.com/office/powerpoint/2010/main" val="1742202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 presetClass="exit" presetSubtype="0" fill="hold" nodeType="clickEffect">
                  <p:stCondLst>
                    <p:cond delay="0"/>
                  </p:stCondLst>
                  <p:childTnLst>
                    <p:set>
                      <p:cBhvr>
                        <p:cTn dur="1" fill="hold">
                          <p:stCondLst>
                            <p:cond delay="0"/>
                          </p:stCondLst>
                        </p:cTn>
                        <p:tgtEl>
                          <p:spTgt spid="6"/>
                        </p:tgtEl>
                        <p:attrNameLst>
                          <p:attrName>style.visibility</p:attrName>
                        </p:attrNameLst>
                      </p:cBhvr>
                      <p:to>
                        <p:strVal val="hidden"/>
                      </p:to>
                    </p:set>
                  </p:childTnLst>
                </p:cTn>
              </p:par>
            </p:tnLst>
          </p:tmpl>
        </p:tmplLst>
      </p:bldP>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R) Easy English">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71437" cy="515262"/>
          </a:xfrm>
          <a:prstGeom prst="rect">
            <a:avLst/>
          </a:prstGeom>
          <a:solidFill>
            <a:srgbClr val="692B7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9" y="1873045"/>
            <a:ext cx="1990782" cy="495947"/>
          </a:xfrm>
          <a:prstGeom prst="rect">
            <a:avLst/>
          </a:prstGeom>
          <a:solidFill>
            <a:srgbClr val="FBCA58"/>
          </a:solidFill>
          <a:ln>
            <a:noFill/>
          </a:ln>
        </p:spPr>
        <p:txBody>
          <a:bodyPr wrap="square" rtlCol="0" anchor="ctr">
            <a:normAutofit/>
          </a:bodyPr>
          <a:lstStyle/>
          <a:p>
            <a:r>
              <a:rPr lang="en-US" sz="2400" b="1" i="0" dirty="0">
                <a:solidFill>
                  <a:srgbClr val="692B7D"/>
                </a:solidFill>
                <a:latin typeface="Century Gothic" panose="020B0502020202020204" pitchFamily="34" charset="0"/>
                <a:cs typeface="Futura Medium" panose="020B0602020204020303" pitchFamily="34" charset="-79"/>
              </a:rPr>
              <a:t>Easy English</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692B7D"/>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5"/>
            <a:ext cx="11577177" cy="3349007"/>
          </a:xfrm>
          <a:prstGeom prst="rect">
            <a:avLst/>
          </a:prstGeom>
          <a:noFill/>
        </p:spPr>
        <p:txBody>
          <a:bodyPr tIns="144000" bIns="0" anchor="ctr"/>
          <a:lstStyle>
            <a:lvl1pPr marL="0" indent="0" algn="ctr">
              <a:buNone/>
              <a:defRPr sz="6000" b="1" i="0">
                <a:solidFill>
                  <a:schemeClr val="tx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Target: Easy</a:t>
            </a:r>
          </a:p>
        </p:txBody>
      </p:sp>
    </p:spTree>
    <p:extLst>
      <p:ext uri="{BB962C8B-B14F-4D97-AF65-F5344CB8AC3E}">
        <p14:creationId xmlns:p14="http://schemas.microsoft.com/office/powerpoint/2010/main" val="3459742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R) Spellin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9" y="208656"/>
            <a:ext cx="1347844" cy="515262"/>
          </a:xfrm>
          <a:prstGeom prst="rect">
            <a:avLst/>
          </a:prstGeom>
          <a:solidFill>
            <a:srgbClr val="692B7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Spelling</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723918"/>
            <a:ext cx="11577177" cy="1204895"/>
          </a:xfrm>
          <a:prstGeom prst="rect">
            <a:avLst/>
          </a:prstGeom>
          <a:solidFill>
            <a:srgbClr val="692B7D"/>
          </a:solidFill>
          <a:ln>
            <a:noFill/>
          </a:ln>
        </p:spPr>
        <p:txBody>
          <a:bodyPr wrap="square" rtlCol="0" anchor="ctr">
            <a:normAutofit/>
          </a:bodyPr>
          <a:lstStyle/>
          <a:p>
            <a:pPr marL="0" indent="0">
              <a:tabLst>
                <a:tab pos="3597275" algn="l"/>
              </a:tabLst>
            </a:pPr>
            <a:r>
              <a:rPr lang="en-US" sz="6000" b="1" i="0" dirty="0">
                <a:solidFill>
                  <a:schemeClr val="bg1"/>
                </a:solidFill>
                <a:latin typeface="Century Gothic" panose="020B0502020202020204" pitchFamily="34" charset="0"/>
                <a:cs typeface="Futura Medium" panose="020B0602020204020303" pitchFamily="34" charset="-79"/>
              </a:rPr>
              <a:t>Break it down</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2649248"/>
          </a:xfrm>
          <a:prstGeom prst="rect">
            <a:avLst/>
          </a:prstGeom>
          <a:noFill/>
        </p:spPr>
        <p:txBody>
          <a:bodyPr tIns="144000" bIns="0" anchor="ctr"/>
          <a:lstStyle>
            <a:lvl1pPr marL="0" indent="0" algn="ctr">
              <a:buNone/>
              <a:defRPr sz="6000" b="1" i="0">
                <a:solidFill>
                  <a:schemeClr val="tx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Break it into pieces</a:t>
            </a:r>
          </a:p>
        </p:txBody>
      </p:sp>
    </p:spTree>
    <p:extLst>
      <p:ext uri="{BB962C8B-B14F-4D97-AF65-F5344CB8AC3E}">
        <p14:creationId xmlns:p14="http://schemas.microsoft.com/office/powerpoint/2010/main" val="37407046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R) Hyper-speed Recall">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6" y="205651"/>
            <a:ext cx="2819400" cy="423863"/>
          </a:xfrm>
          <a:prstGeom prst="rect">
            <a:avLst/>
          </a:prstGeom>
          <a:solidFill>
            <a:srgbClr val="692B7D"/>
          </a:solidFill>
        </p:spPr>
        <p:txBody>
          <a:bodyPr wrap="square" rtlCol="0" anchor="ctr">
            <a:noAutofit/>
          </a:bodyPr>
          <a:lstStyle/>
          <a:p>
            <a:pPr algn="l"/>
            <a:r>
              <a:rPr lang="en-US" sz="2000" b="1" i="0" dirty="0">
                <a:solidFill>
                  <a:srgbClr val="FBCA58"/>
                </a:solidFill>
                <a:latin typeface="Century Gothic" panose="020B0502020202020204" pitchFamily="34" charset="0"/>
                <a:cs typeface="Futura Medium" panose="020B0602020204020303" pitchFamily="34" charset="-79"/>
              </a:rPr>
              <a:t>Hyper-speed </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rgbClr val="A14986"/>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solidFill>
                <a:srgbClr val="A14986"/>
              </a:solidFill>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463638" y="629514"/>
            <a:ext cx="5466107"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2F556E"/>
                </a:solidFill>
                <a:latin typeface="Century Gothic" panose="020B0502020202020204" pitchFamily="34" charset="0"/>
              </a:defRPr>
            </a:lvl1pPr>
          </a:lstStyle>
          <a:p>
            <a:pPr lvl="0"/>
            <a:r>
              <a:rPr lang="en-US" dirty="0"/>
              <a:t>1 Prompt</a:t>
            </a:r>
          </a:p>
        </p:txBody>
      </p:sp>
      <p:sp>
        <p:nvSpPr>
          <p:cNvPr id="12" name="Text Placeholder 6">
            <a:extLst>
              <a:ext uri="{FF2B5EF4-FFF2-40B4-BE49-F238E27FC236}">
                <a16:creationId xmlns:a16="http://schemas.microsoft.com/office/drawing/2014/main" id="{50CF58A6-7C09-E447-9077-EB86C82DD2A4}"/>
              </a:ext>
            </a:extLst>
          </p:cNvPr>
          <p:cNvSpPr>
            <a:spLocks noGrp="1"/>
          </p:cNvSpPr>
          <p:nvPr>
            <p:ph type="body" sz="quarter" idx="11" hasCustomPrompt="1"/>
          </p:nvPr>
        </p:nvSpPr>
        <p:spPr>
          <a:xfrm>
            <a:off x="6082146" y="629514"/>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692B7D"/>
                </a:solidFill>
                <a:latin typeface="Century Gothic" panose="020B0502020202020204" pitchFamily="34" charset="0"/>
              </a:defRPr>
            </a:lvl1pPr>
          </a:lstStyle>
          <a:p>
            <a:pPr lvl="0"/>
            <a:r>
              <a:rPr lang="en-US" dirty="0"/>
              <a:t>1 Answer</a:t>
            </a:r>
          </a:p>
        </p:txBody>
      </p:sp>
      <p:sp>
        <p:nvSpPr>
          <p:cNvPr id="13" name="Text Placeholder 6">
            <a:extLst>
              <a:ext uri="{FF2B5EF4-FFF2-40B4-BE49-F238E27FC236}">
                <a16:creationId xmlns:a16="http://schemas.microsoft.com/office/drawing/2014/main" id="{69E045C4-A069-F348-A6C3-C47DCBBD6ABD}"/>
              </a:ext>
            </a:extLst>
          </p:cNvPr>
          <p:cNvSpPr>
            <a:spLocks noGrp="1"/>
          </p:cNvSpPr>
          <p:nvPr>
            <p:ph type="body" sz="quarter" idx="12" hasCustomPrompt="1"/>
          </p:nvPr>
        </p:nvSpPr>
        <p:spPr>
          <a:xfrm>
            <a:off x="463638" y="1772516"/>
            <a:ext cx="5466108"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2F556E"/>
                </a:solidFill>
                <a:latin typeface="Century Gothic" panose="020B0502020202020204" pitchFamily="34" charset="0"/>
              </a:defRPr>
            </a:lvl1pPr>
          </a:lstStyle>
          <a:p>
            <a:pPr lvl="0"/>
            <a:r>
              <a:rPr lang="en-US" dirty="0"/>
              <a:t>2 Prompt</a:t>
            </a:r>
          </a:p>
        </p:txBody>
      </p:sp>
      <p:sp>
        <p:nvSpPr>
          <p:cNvPr id="14" name="Text Placeholder 6">
            <a:extLst>
              <a:ext uri="{FF2B5EF4-FFF2-40B4-BE49-F238E27FC236}">
                <a16:creationId xmlns:a16="http://schemas.microsoft.com/office/drawing/2014/main" id="{18DF5013-469B-AD48-80DD-59CF28478DB6}"/>
              </a:ext>
            </a:extLst>
          </p:cNvPr>
          <p:cNvSpPr>
            <a:spLocks noGrp="1"/>
          </p:cNvSpPr>
          <p:nvPr>
            <p:ph type="body" sz="quarter" idx="13" hasCustomPrompt="1"/>
          </p:nvPr>
        </p:nvSpPr>
        <p:spPr>
          <a:xfrm>
            <a:off x="6082146" y="1772516"/>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692B7D"/>
                </a:solidFill>
                <a:latin typeface="Century Gothic" panose="020B0502020202020204" pitchFamily="34" charset="0"/>
              </a:defRPr>
            </a:lvl1pPr>
          </a:lstStyle>
          <a:p>
            <a:pPr lvl="0"/>
            <a:r>
              <a:rPr lang="en-US" dirty="0"/>
              <a:t>2 Answer</a:t>
            </a:r>
          </a:p>
        </p:txBody>
      </p:sp>
      <p:sp>
        <p:nvSpPr>
          <p:cNvPr id="15" name="Text Placeholder 6">
            <a:extLst>
              <a:ext uri="{FF2B5EF4-FFF2-40B4-BE49-F238E27FC236}">
                <a16:creationId xmlns:a16="http://schemas.microsoft.com/office/drawing/2014/main" id="{150AD189-8FB7-004F-BADA-443B45F90107}"/>
              </a:ext>
            </a:extLst>
          </p:cNvPr>
          <p:cNvSpPr>
            <a:spLocks noGrp="1"/>
          </p:cNvSpPr>
          <p:nvPr>
            <p:ph type="body" sz="quarter" idx="14" hasCustomPrompt="1"/>
          </p:nvPr>
        </p:nvSpPr>
        <p:spPr>
          <a:xfrm>
            <a:off x="463638" y="2915518"/>
            <a:ext cx="5468274"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2F556E"/>
                </a:solidFill>
                <a:latin typeface="Century Gothic" panose="020B0502020202020204" pitchFamily="34" charset="0"/>
              </a:defRPr>
            </a:lvl1pPr>
          </a:lstStyle>
          <a:p>
            <a:pPr lvl="0"/>
            <a:r>
              <a:rPr lang="en-US" dirty="0"/>
              <a:t>3 Prompt</a:t>
            </a:r>
          </a:p>
        </p:txBody>
      </p:sp>
      <p:sp>
        <p:nvSpPr>
          <p:cNvPr id="16" name="Text Placeholder 6">
            <a:extLst>
              <a:ext uri="{FF2B5EF4-FFF2-40B4-BE49-F238E27FC236}">
                <a16:creationId xmlns:a16="http://schemas.microsoft.com/office/drawing/2014/main" id="{0080755A-C414-A443-AEE6-309858C13B6B}"/>
              </a:ext>
            </a:extLst>
          </p:cNvPr>
          <p:cNvSpPr>
            <a:spLocks noGrp="1"/>
          </p:cNvSpPr>
          <p:nvPr>
            <p:ph type="body" sz="quarter" idx="15" hasCustomPrompt="1"/>
          </p:nvPr>
        </p:nvSpPr>
        <p:spPr>
          <a:xfrm>
            <a:off x="6084312" y="2915518"/>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692B7D"/>
                </a:solidFill>
                <a:latin typeface="Century Gothic" panose="020B0502020202020204" pitchFamily="34" charset="0"/>
              </a:defRPr>
            </a:lvl1pPr>
          </a:lstStyle>
          <a:p>
            <a:pPr lvl="0"/>
            <a:r>
              <a:rPr lang="en-US" dirty="0"/>
              <a:t>3 Answer</a:t>
            </a:r>
          </a:p>
        </p:txBody>
      </p:sp>
      <p:sp>
        <p:nvSpPr>
          <p:cNvPr id="17" name="Text Placeholder 6">
            <a:extLst>
              <a:ext uri="{FF2B5EF4-FFF2-40B4-BE49-F238E27FC236}">
                <a16:creationId xmlns:a16="http://schemas.microsoft.com/office/drawing/2014/main" id="{8EE5F250-1285-364A-9B51-4992C3B9648C}"/>
              </a:ext>
            </a:extLst>
          </p:cNvPr>
          <p:cNvSpPr>
            <a:spLocks noGrp="1"/>
          </p:cNvSpPr>
          <p:nvPr>
            <p:ph type="body" sz="quarter" idx="16" hasCustomPrompt="1"/>
          </p:nvPr>
        </p:nvSpPr>
        <p:spPr>
          <a:xfrm>
            <a:off x="463638" y="4058520"/>
            <a:ext cx="5468274"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2F556E"/>
                </a:solidFill>
                <a:latin typeface="Century Gothic" panose="020B0502020202020204" pitchFamily="34" charset="0"/>
              </a:defRPr>
            </a:lvl1pPr>
          </a:lstStyle>
          <a:p>
            <a:pPr lvl="0"/>
            <a:r>
              <a:rPr lang="en-US" dirty="0"/>
              <a:t>4 Prompt</a:t>
            </a:r>
          </a:p>
        </p:txBody>
      </p:sp>
      <p:sp>
        <p:nvSpPr>
          <p:cNvPr id="18" name="Text Placeholder 6">
            <a:extLst>
              <a:ext uri="{FF2B5EF4-FFF2-40B4-BE49-F238E27FC236}">
                <a16:creationId xmlns:a16="http://schemas.microsoft.com/office/drawing/2014/main" id="{ABA7D02D-F852-C34C-A9D7-43FAD589FDDC}"/>
              </a:ext>
            </a:extLst>
          </p:cNvPr>
          <p:cNvSpPr>
            <a:spLocks noGrp="1"/>
          </p:cNvSpPr>
          <p:nvPr>
            <p:ph type="body" sz="quarter" idx="17" hasCustomPrompt="1"/>
          </p:nvPr>
        </p:nvSpPr>
        <p:spPr>
          <a:xfrm>
            <a:off x="6084312" y="4058520"/>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692B7D"/>
                </a:solidFill>
                <a:latin typeface="Century Gothic" panose="020B0502020202020204" pitchFamily="34" charset="0"/>
              </a:defRPr>
            </a:lvl1pPr>
          </a:lstStyle>
          <a:p>
            <a:pPr lvl="0"/>
            <a:r>
              <a:rPr lang="en-US" dirty="0"/>
              <a:t>4 Answer</a:t>
            </a:r>
          </a:p>
        </p:txBody>
      </p:sp>
      <p:sp>
        <p:nvSpPr>
          <p:cNvPr id="19" name="Text Placeholder 6">
            <a:extLst>
              <a:ext uri="{FF2B5EF4-FFF2-40B4-BE49-F238E27FC236}">
                <a16:creationId xmlns:a16="http://schemas.microsoft.com/office/drawing/2014/main" id="{3AD7ABAC-DEEC-0247-9C2C-4E48848B3625}"/>
              </a:ext>
            </a:extLst>
          </p:cNvPr>
          <p:cNvSpPr>
            <a:spLocks noGrp="1"/>
          </p:cNvSpPr>
          <p:nvPr>
            <p:ph type="body" sz="quarter" idx="18" hasCustomPrompt="1"/>
          </p:nvPr>
        </p:nvSpPr>
        <p:spPr>
          <a:xfrm>
            <a:off x="463638" y="5201522"/>
            <a:ext cx="5466108"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2F556E"/>
                </a:solidFill>
                <a:latin typeface="Century Gothic" panose="020B0502020202020204" pitchFamily="34" charset="0"/>
              </a:defRPr>
            </a:lvl1pPr>
          </a:lstStyle>
          <a:p>
            <a:pPr lvl="0"/>
            <a:r>
              <a:rPr lang="en-US" dirty="0"/>
              <a:t>5 Prompt</a:t>
            </a:r>
          </a:p>
        </p:txBody>
      </p:sp>
      <p:sp>
        <p:nvSpPr>
          <p:cNvPr id="20" name="Text Placeholder 6">
            <a:extLst>
              <a:ext uri="{FF2B5EF4-FFF2-40B4-BE49-F238E27FC236}">
                <a16:creationId xmlns:a16="http://schemas.microsoft.com/office/drawing/2014/main" id="{7B0F39A9-DDFC-AE41-83EF-81046953EF6B}"/>
              </a:ext>
            </a:extLst>
          </p:cNvPr>
          <p:cNvSpPr>
            <a:spLocks noGrp="1"/>
          </p:cNvSpPr>
          <p:nvPr>
            <p:ph type="body" sz="quarter" idx="19" hasCustomPrompt="1"/>
          </p:nvPr>
        </p:nvSpPr>
        <p:spPr>
          <a:xfrm>
            <a:off x="6082146" y="5201522"/>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692B7D"/>
                </a:solidFill>
                <a:latin typeface="Century Gothic" panose="020B0502020202020204" pitchFamily="34" charset="0"/>
              </a:defRPr>
            </a:lvl1pPr>
          </a:lstStyle>
          <a:p>
            <a:pPr lvl="0"/>
            <a:r>
              <a:rPr lang="en-US" dirty="0"/>
              <a:t>5 Answer</a:t>
            </a:r>
          </a:p>
        </p:txBody>
      </p:sp>
    </p:spTree>
    <p:extLst>
      <p:ext uri="{BB962C8B-B14F-4D97-AF65-F5344CB8AC3E}">
        <p14:creationId xmlns:p14="http://schemas.microsoft.com/office/powerpoint/2010/main" val="1221096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1" presetClass="entr" presetSubtype="0" fill="hold" nodeType="clickEffect">
                  <p:stCondLst>
                    <p:cond delay="0"/>
                  </p:stCondLst>
                  <p:childTnLst>
                    <p:set>
                      <p:cBhvr>
                        <p:cTn dur="1" fill="hold">
                          <p:stCondLst>
                            <p:cond delay="0"/>
                          </p:stCondLst>
                        </p:cTn>
                        <p:tgtEl>
                          <p:spTgt spid="7"/>
                        </p:tgtEl>
                        <p:attrNameLst>
                          <p:attrName>style.visibility</p:attrName>
                        </p:attrNameLst>
                      </p:cBhvr>
                      <p:to>
                        <p:strVal val="visible"/>
                      </p:to>
                    </p:set>
                  </p:childTnLst>
                </p:cTn>
              </p:par>
            </p:tnLst>
          </p:tmpl>
        </p:tmplLst>
      </p:bldP>
      <p:bldP spid="12" grpId="0" build="p">
        <p:tmplLst>
          <p:tmpl lvl="1">
            <p:tnLst>
              <p:par>
                <p:cTn presetID="1" presetClass="entr" presetSubtype="0" fill="hold" nodeType="clickEffect">
                  <p:stCondLst>
                    <p:cond delay="0"/>
                  </p:stCondLst>
                  <p:childTnLst>
                    <p:set>
                      <p:cBhvr>
                        <p:cTn dur="1" fill="hold">
                          <p:stCondLst>
                            <p:cond delay="0"/>
                          </p:stCondLst>
                        </p:cTn>
                        <p:tgtEl>
                          <p:spTgt spid="12"/>
                        </p:tgtEl>
                        <p:attrNameLst>
                          <p:attrName>style.visibility</p:attrName>
                        </p:attrNameLst>
                      </p:cBhvr>
                      <p:to>
                        <p:strVal val="visible"/>
                      </p:to>
                    </p:set>
                  </p:childTnLst>
                </p:cTn>
              </p:par>
            </p:tnLst>
          </p:tmpl>
        </p:tmplLst>
      </p:bldP>
      <p:bldP spid="13" grpId="0" build="p">
        <p:tmplLst>
          <p:tmpl lvl="1">
            <p:tnLst>
              <p:par>
                <p:cTn presetID="1" presetClass="entr" presetSubtype="0" fill="hold" nodeType="clickEffect">
                  <p:stCondLst>
                    <p:cond delay="0"/>
                  </p:stCondLst>
                  <p:childTnLst>
                    <p:set>
                      <p:cBhvr>
                        <p:cTn dur="1" fill="hold">
                          <p:stCondLst>
                            <p:cond delay="0"/>
                          </p:stCondLst>
                        </p:cTn>
                        <p:tgtEl>
                          <p:spTgt spid="13"/>
                        </p:tgtEl>
                        <p:attrNameLst>
                          <p:attrName>style.visibility</p:attrName>
                        </p:attrNameLst>
                      </p:cBhvr>
                      <p:to>
                        <p:strVal val="visible"/>
                      </p:to>
                    </p:set>
                  </p:childTnLst>
                </p:cTn>
              </p:par>
            </p:tnLst>
          </p:tmpl>
        </p:tmplLst>
      </p:bldP>
      <p:bldP spid="14" grpId="0" build="p">
        <p:tmplLst>
          <p:tmpl lvl="1">
            <p:tnLst>
              <p:par>
                <p:cTn presetID="1" presetClass="entr" presetSubtype="0" fill="hold" nodeType="clickEffect">
                  <p:stCondLst>
                    <p:cond delay="0"/>
                  </p:stCondLst>
                  <p:childTnLst>
                    <p:set>
                      <p:cBhvr>
                        <p:cTn dur="1" fill="hold">
                          <p:stCondLst>
                            <p:cond delay="0"/>
                          </p:stCondLst>
                        </p:cTn>
                        <p:tgtEl>
                          <p:spTgt spid="14"/>
                        </p:tgtEl>
                        <p:attrNameLst>
                          <p:attrName>style.visibility</p:attrName>
                        </p:attrNameLst>
                      </p:cBhvr>
                      <p:to>
                        <p:strVal val="visible"/>
                      </p:to>
                    </p:set>
                  </p:childTnLst>
                </p:cTn>
              </p:par>
            </p:tnLst>
          </p:tmpl>
        </p:tmplLst>
      </p:bldP>
      <p:bldP spid="15" grpId="0" build="p">
        <p:tmplLst>
          <p:tmpl lvl="1">
            <p:tnLst>
              <p:par>
                <p:cTn presetID="1" presetClass="entr" presetSubtype="0" fill="hold" nodeType="clickEffect">
                  <p:stCondLst>
                    <p:cond delay="0"/>
                  </p:stCondLst>
                  <p:childTnLst>
                    <p:set>
                      <p:cBhvr>
                        <p:cTn dur="1" fill="hold">
                          <p:stCondLst>
                            <p:cond delay="0"/>
                          </p:stCondLst>
                        </p:cTn>
                        <p:tgtEl>
                          <p:spTgt spid="15"/>
                        </p:tgtEl>
                        <p:attrNameLst>
                          <p:attrName>style.visibility</p:attrName>
                        </p:attrNameLst>
                      </p:cBhvr>
                      <p:to>
                        <p:strVal val="visible"/>
                      </p:to>
                    </p:set>
                  </p:childTnLst>
                </p:cTn>
              </p:par>
            </p:tnLst>
          </p:tmpl>
        </p:tmplLst>
      </p:bldP>
      <p:bldP spid="16" grpId="0" build="p">
        <p:tmplLst>
          <p:tmpl lvl="1">
            <p:tnLst>
              <p:par>
                <p:cTn presetID="1" presetClass="entr" presetSubtype="0" fill="hold" nodeType="clickEffect">
                  <p:stCondLst>
                    <p:cond delay="0"/>
                  </p:stCondLst>
                  <p:childTnLst>
                    <p:set>
                      <p:cBhvr>
                        <p:cTn dur="1" fill="hold">
                          <p:stCondLst>
                            <p:cond delay="0"/>
                          </p:stCondLst>
                        </p:cTn>
                        <p:tgtEl>
                          <p:spTgt spid="16"/>
                        </p:tgtEl>
                        <p:attrNameLst>
                          <p:attrName>style.visibility</p:attrName>
                        </p:attrNameLst>
                      </p:cBhvr>
                      <p:to>
                        <p:strVal val="visible"/>
                      </p:to>
                    </p:set>
                  </p:childTnLst>
                </p:cTn>
              </p:par>
            </p:tnLst>
          </p:tmpl>
        </p:tmplLst>
      </p:bldP>
      <p:bldP spid="17" grpId="0" build="p">
        <p:tmplLst>
          <p:tmpl lvl="1">
            <p:tnLst>
              <p:par>
                <p:cTn presetID="1" presetClass="entr" presetSubtype="0" fill="hold" nodeType="clickEffect">
                  <p:stCondLst>
                    <p:cond delay="0"/>
                  </p:stCondLst>
                  <p:childTnLst>
                    <p:set>
                      <p:cBhvr>
                        <p:cTn dur="1" fill="hold">
                          <p:stCondLst>
                            <p:cond delay="0"/>
                          </p:stCondLst>
                        </p:cTn>
                        <p:tgtEl>
                          <p:spTgt spid="17"/>
                        </p:tgtEl>
                        <p:attrNameLst>
                          <p:attrName>style.visibility</p:attrName>
                        </p:attrNameLst>
                      </p:cBhvr>
                      <p:to>
                        <p:strVal val="visible"/>
                      </p:to>
                    </p:set>
                  </p:childTnLst>
                </p:cTn>
              </p:par>
            </p:tnLst>
          </p:tmpl>
        </p:tmplLst>
      </p:bldP>
      <p:bldP spid="18" grpId="0" build="p">
        <p:tmplLst>
          <p:tmpl lvl="1">
            <p:tnLst>
              <p:par>
                <p:cTn presetID="1" presetClass="entr" presetSubtype="0" fill="hold" nodeType="clickEffect">
                  <p:stCondLst>
                    <p:cond delay="0"/>
                  </p:stCondLst>
                  <p:childTnLst>
                    <p:set>
                      <p:cBhvr>
                        <p:cTn dur="1" fill="hold">
                          <p:stCondLst>
                            <p:cond delay="0"/>
                          </p:stCondLst>
                        </p:cTn>
                        <p:tgtEl>
                          <p:spTgt spid="18"/>
                        </p:tgtEl>
                        <p:attrNameLst>
                          <p:attrName>style.visibility</p:attrName>
                        </p:attrNameLst>
                      </p:cBhvr>
                      <p:to>
                        <p:strVal val="visible"/>
                      </p:to>
                    </p:set>
                  </p:childTnLst>
                </p:cTn>
              </p:par>
            </p:tnLst>
          </p:tmpl>
        </p:tmplLst>
      </p:bldP>
      <p:bldP spid="19" grpId="0" build="p">
        <p:tmplLst>
          <p:tmpl lvl="1">
            <p:tnLst>
              <p:par>
                <p:cTn presetID="1" presetClass="entr" presetSubtype="0" fill="hold" nodeType="clickEffect">
                  <p:stCondLst>
                    <p:cond delay="0"/>
                  </p:stCondLst>
                  <p:childTnLst>
                    <p:set>
                      <p:cBhvr>
                        <p:cTn dur="1" fill="hold">
                          <p:stCondLst>
                            <p:cond delay="0"/>
                          </p:stCondLst>
                        </p:cTn>
                        <p:tgtEl>
                          <p:spTgt spid="19"/>
                        </p:tgtEl>
                        <p:attrNameLst>
                          <p:attrName>style.visibility</p:attrName>
                        </p:attrNameLst>
                      </p:cBhvr>
                      <p:to>
                        <p:strVal val="visible"/>
                      </p:to>
                    </p:set>
                  </p:childTnLst>
                </p:cTn>
              </p:par>
            </p:tnLst>
          </p:tmpl>
        </p:tmplLst>
      </p:bldP>
      <p:bldP spid="20" grpId="0" build="p">
        <p:tmplLst>
          <p:tmpl lvl="1">
            <p:tnLst>
              <p:par>
                <p:cTn presetID="1" presetClass="entr" presetSubtype="0" fill="hold" nodeType="clickEffect">
                  <p:stCondLst>
                    <p:cond delay="0"/>
                  </p:stCondLst>
                  <p:childTnLst>
                    <p:set>
                      <p:cBhvr>
                        <p:cTn dur="1" fill="hold">
                          <p:stCondLst>
                            <p:cond delay="0"/>
                          </p:stCondLst>
                        </p:cTn>
                        <p:tgtEl>
                          <p:spTgt spid="20"/>
                        </p:tgtEl>
                        <p:attrNameLst>
                          <p:attrName>style.visibility</p:attrName>
                        </p:attrNameLst>
                      </p:cBhvr>
                      <p:to>
                        <p:strVal val="visible"/>
                      </p:to>
                    </p:set>
                  </p:childTnLst>
                </p:cTn>
              </p:par>
            </p:tnLst>
          </p:tmpl>
        </p:tmplLst>
      </p:bldP>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R) Recite">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5" y="206066"/>
            <a:ext cx="1533525" cy="352426"/>
          </a:xfrm>
          <a:prstGeom prst="rect">
            <a:avLst/>
          </a:prstGeom>
          <a:solidFill>
            <a:srgbClr val="692B7D"/>
          </a:solidFill>
        </p:spPr>
        <p:txBody>
          <a:bodyPr wrap="square" rtlCol="0" anchor="ctr">
            <a:noAutofit/>
          </a:bodyPr>
          <a:lstStyle/>
          <a:p>
            <a:pPr algn="l"/>
            <a:r>
              <a:rPr lang="en-US" sz="1600" b="1" i="0" dirty="0">
                <a:solidFill>
                  <a:srgbClr val="FBCA58"/>
                </a:solidFill>
                <a:latin typeface="Century Gothic" panose="020B0502020202020204" pitchFamily="34" charset="0"/>
                <a:cs typeface="Futura Medium" panose="020B0602020204020303" pitchFamily="34" charset="-79"/>
              </a:rPr>
              <a:t>Recite</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399245" y="658432"/>
            <a:ext cx="8954305" cy="1914525"/>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Go over the steps they already know from this unit, or from relevant prior knowledge.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10072881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R) Recall">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5" y="219714"/>
            <a:ext cx="1533525" cy="352426"/>
          </a:xfrm>
          <a:prstGeom prst="rect">
            <a:avLst/>
          </a:prstGeom>
          <a:solidFill>
            <a:srgbClr val="692B7D"/>
          </a:solidFill>
        </p:spPr>
        <p:txBody>
          <a:bodyPr wrap="square" rtlCol="0" anchor="ctr">
            <a:noAutofit/>
          </a:bodyPr>
          <a:lstStyle/>
          <a:p>
            <a:pPr algn="l"/>
            <a:r>
              <a:rPr lang="en-US" sz="1600" b="1" i="0" dirty="0">
                <a:solidFill>
                  <a:srgbClr val="FBCA58"/>
                </a:solidFill>
                <a:latin typeface="Century Gothic" panose="020B0502020202020204" pitchFamily="34" charset="0"/>
                <a:cs typeface="Futura Medium" panose="020B0602020204020303" pitchFamily="34" charset="-79"/>
              </a:rPr>
              <a:t>Recall</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399245" y="684190"/>
            <a:ext cx="8954305" cy="1900238"/>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Practicing the steps they already know together. This should be guided practice.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12945237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R) Apply">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5" y="219714"/>
            <a:ext cx="1533525" cy="352426"/>
          </a:xfrm>
          <a:prstGeom prst="rect">
            <a:avLst/>
          </a:prstGeom>
          <a:solidFill>
            <a:srgbClr val="692B7D"/>
          </a:solidFill>
        </p:spPr>
        <p:txBody>
          <a:bodyPr wrap="square" rtlCol="0" anchor="ctr">
            <a:noAutofit/>
          </a:bodyPr>
          <a:lstStyle/>
          <a:p>
            <a:pPr algn="l"/>
            <a:r>
              <a:rPr lang="en-US" sz="1600" b="1" i="0" dirty="0">
                <a:solidFill>
                  <a:srgbClr val="FBCA58"/>
                </a:solidFill>
                <a:latin typeface="Century Gothic" panose="020B0502020202020204" pitchFamily="34" charset="0"/>
                <a:cs typeface="Futura Medium" panose="020B0602020204020303" pitchFamily="34" charset="-79"/>
              </a:rPr>
              <a:t>Apply</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399245" y="685599"/>
            <a:ext cx="8954305" cy="1985962"/>
          </a:xfrm>
          <a:prstGeom prst="rect">
            <a:avLst/>
          </a:prstGeom>
        </p:spPr>
        <p:txBody>
          <a:bodyP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Quickly check that all students can still complete the previous steps learnt.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30282384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R)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117794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EI) Activate Prior Knowledge">
    <p:spTree>
      <p:nvGrpSpPr>
        <p:cNvPr id="1" name=""/>
        <p:cNvGrpSpPr/>
        <p:nvPr/>
      </p:nvGrpSpPr>
      <p:grpSpPr>
        <a:xfrm>
          <a:off x="0" y="0"/>
          <a:ext cx="0" cy="0"/>
          <a:chOff x="0" y="0"/>
          <a:chExt cx="0" cy="0"/>
        </a:xfrm>
      </p:grpSpPr>
      <p:sp>
        <p:nvSpPr>
          <p:cNvPr id="38" name="Text Placeholder 37">
            <a:extLst>
              <a:ext uri="{FF2B5EF4-FFF2-40B4-BE49-F238E27FC236}">
                <a16:creationId xmlns:a16="http://schemas.microsoft.com/office/drawing/2014/main" id="{1E0C5E22-25B1-3743-B18A-9111EBF90486}"/>
              </a:ext>
            </a:extLst>
          </p:cNvPr>
          <p:cNvSpPr>
            <a:spLocks noGrp="1"/>
          </p:cNvSpPr>
          <p:nvPr>
            <p:ph type="body" sz="quarter" idx="14" hasCustomPrompt="1"/>
          </p:nvPr>
        </p:nvSpPr>
        <p:spPr>
          <a:xfrm>
            <a:off x="295275" y="215154"/>
            <a:ext cx="9282113" cy="375396"/>
          </a:xfrm>
          <a:prstGeom prst="rect">
            <a:avLst/>
          </a:prstGeom>
          <a:solidFill>
            <a:srgbClr val="692B7D"/>
          </a:solidFill>
        </p:spPr>
        <p:txBody>
          <a:bodyPr anchor="ctr">
            <a:normAutofit/>
          </a:bodyPr>
          <a:lstStyle>
            <a:lvl1pPr marL="0" indent="0" algn="l">
              <a:buNone/>
              <a:defRPr sz="1800" b="1" i="0">
                <a:solidFill>
                  <a:srgbClr val="FBCA58"/>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43" name="TextBox 42">
            <a:extLst>
              <a:ext uri="{FF2B5EF4-FFF2-40B4-BE49-F238E27FC236}">
                <a16:creationId xmlns:a16="http://schemas.microsoft.com/office/drawing/2014/main" id="{5CFC19F9-C449-6E4C-AC32-E587C71AC835}"/>
              </a:ext>
            </a:extLst>
          </p:cNvPr>
          <p:cNvSpPr txBox="1"/>
          <p:nvPr userDrawn="1"/>
        </p:nvSpPr>
        <p:spPr>
          <a:xfrm>
            <a:off x="295275" y="590550"/>
            <a:ext cx="3779478" cy="317139"/>
          </a:xfrm>
          <a:prstGeom prst="rect">
            <a:avLst/>
          </a:prstGeom>
          <a:solidFill>
            <a:srgbClr val="FBCA58"/>
          </a:solidFill>
        </p:spPr>
        <p:txBody>
          <a:bodyPr wrap="square" rtlCol="0" anchor="ctr">
            <a:noAutofit/>
          </a:bodyPr>
          <a:lstStyle/>
          <a:p>
            <a:pPr algn="l"/>
            <a:r>
              <a:rPr lang="en-US" sz="1600" b="1" i="0" dirty="0">
                <a:solidFill>
                  <a:srgbClr val="692B7D"/>
                </a:solidFill>
                <a:latin typeface="Century Gothic" panose="020B0502020202020204" pitchFamily="34" charset="0"/>
                <a:cs typeface="Futura Medium" panose="020B0602020204020303" pitchFamily="34" charset="-79"/>
              </a:rPr>
              <a:t>Activate Prior Knowledge</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0" name="Text Placeholder 9">
            <a:extLst>
              <a:ext uri="{FF2B5EF4-FFF2-40B4-BE49-F238E27FC236}">
                <a16:creationId xmlns:a16="http://schemas.microsoft.com/office/drawing/2014/main" id="{3A872705-675F-C243-9643-639EE2D96A8C}"/>
              </a:ext>
            </a:extLst>
          </p:cNvPr>
          <p:cNvSpPr>
            <a:spLocks noGrp="1"/>
          </p:cNvSpPr>
          <p:nvPr>
            <p:ph type="body" sz="quarter" idx="15" hasCustomPrompt="1"/>
          </p:nvPr>
        </p:nvSpPr>
        <p:spPr>
          <a:xfrm>
            <a:off x="390524" y="965946"/>
            <a:ext cx="9091613" cy="3071813"/>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b="1" i="0">
                <a:latin typeface="Century Gothic" panose="020B0502020202020204" pitchFamily="34" charset="0"/>
              </a:defRPr>
            </a:lvl1pPr>
          </a:lstStyle>
          <a:p>
            <a:pPr lvl="0"/>
            <a:r>
              <a:rPr lang="en-US" dirty="0"/>
              <a:t>Link previous learning, or a universal experience, to the topic being studied taught.  For example, key concepts already learnt in this unit, or something we all do in our lives that will connect to the learning.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a:p>
            <a:pPr lvl="0"/>
            <a:endParaRPr lang="en-US" dirty="0"/>
          </a:p>
        </p:txBody>
      </p:sp>
    </p:spTree>
    <p:extLst>
      <p:ext uri="{BB962C8B-B14F-4D97-AF65-F5344CB8AC3E}">
        <p14:creationId xmlns:p14="http://schemas.microsoft.com/office/powerpoint/2010/main" val="22202850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Generic Title Slide">
    <p:bg>
      <p:bgPr>
        <a:solidFill>
          <a:schemeClr val="bg1"/>
        </a:solidFill>
        <a:effectLst/>
      </p:bgPr>
    </p:bg>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601508" cy="2929609"/>
          </a:xfrm>
          <a:prstGeom prst="rect">
            <a:avLst/>
          </a:prstGeom>
          <a:solidFill>
            <a:srgbClr val="2E546D"/>
          </a:solidFill>
          <a:ln>
            <a:noFill/>
          </a:ln>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sp>
        <p:nvSpPr>
          <p:cNvPr id="3" name="Text Placeholder 2">
            <a:extLst>
              <a:ext uri="{FF2B5EF4-FFF2-40B4-BE49-F238E27FC236}">
                <a16:creationId xmlns:a16="http://schemas.microsoft.com/office/drawing/2014/main" id="{35918694-72DD-404C-BFE2-AE8FDFB6A47D}"/>
              </a:ext>
            </a:extLst>
          </p:cNvPr>
          <p:cNvSpPr>
            <a:spLocks noGrp="1"/>
          </p:cNvSpPr>
          <p:nvPr>
            <p:ph type="body" sz="quarter" idx="11" hasCustomPrompt="1"/>
          </p:nvPr>
        </p:nvSpPr>
        <p:spPr>
          <a:xfrm>
            <a:off x="295219" y="1019162"/>
            <a:ext cx="2630862" cy="538162"/>
          </a:xfrm>
          <a:prstGeom prst="rect">
            <a:avLst/>
          </a:prstGeom>
          <a:solidFill>
            <a:srgbClr val="2E546D"/>
          </a:solidFill>
        </p:spPr>
        <p:txBody>
          <a:bodyPr/>
          <a:lstStyle>
            <a:lvl1pPr marL="0" indent="0">
              <a:buNone/>
              <a:defRPr sz="3200" b="0"/>
            </a:lvl1pPr>
          </a:lstStyle>
          <a:p>
            <a:r>
              <a:rPr lang="en-US" sz="2800" b="1" i="0" dirty="0">
                <a:solidFill>
                  <a:srgbClr val="FBCA58"/>
                </a:solidFill>
                <a:latin typeface="Century Gothic" panose="020B0502020202020204" pitchFamily="34" charset="0"/>
                <a:cs typeface="Futura Medium" panose="020B0602020204020303" pitchFamily="34" charset="-79"/>
              </a:rPr>
              <a:t>Learning Goal</a:t>
            </a:r>
          </a:p>
        </p:txBody>
      </p:sp>
    </p:spTree>
    <p:extLst>
      <p:ext uri="{BB962C8B-B14F-4D97-AF65-F5344CB8AC3E}">
        <p14:creationId xmlns:p14="http://schemas.microsoft.com/office/powerpoint/2010/main" val="23702189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Generic Content Slide">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D052CD39-86C7-5E45-A279-441BFB974E3D}"/>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FC000"/>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21" name="TextBox 20">
            <a:extLst>
              <a:ext uri="{FF2B5EF4-FFF2-40B4-BE49-F238E27FC236}">
                <a16:creationId xmlns:a16="http://schemas.microsoft.com/office/drawing/2014/main" id="{8057D734-81AA-2049-8345-B99B4BA91645}"/>
              </a:ext>
            </a:extLst>
          </p:cNvPr>
          <p:cNvSpPr txBox="1"/>
          <p:nvPr userDrawn="1"/>
        </p:nvSpPr>
        <p:spPr>
          <a:xfrm>
            <a:off x="10042358" y="866274"/>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1" name="Text Placeholder 2">
            <a:extLst>
              <a:ext uri="{FF2B5EF4-FFF2-40B4-BE49-F238E27FC236}">
                <a16:creationId xmlns:a16="http://schemas.microsoft.com/office/drawing/2014/main" id="{BF86EC76-57E7-3945-83DB-9E6A331BE196}"/>
              </a:ext>
            </a:extLst>
          </p:cNvPr>
          <p:cNvSpPr>
            <a:spLocks noGrp="1"/>
          </p:cNvSpPr>
          <p:nvPr>
            <p:ph type="body" sz="quarter" idx="15" hasCustomPrompt="1"/>
          </p:nvPr>
        </p:nvSpPr>
        <p:spPr>
          <a:xfrm>
            <a:off x="397668" y="991704"/>
            <a:ext cx="9077325" cy="1971676"/>
          </a:xfrm>
          <a:prstGeom prst="rect">
            <a:avLst/>
          </a:prstGeom>
        </p:spPr>
        <p:txBody>
          <a:bodyPr/>
          <a:lstStyle>
            <a:lvl1pPr marL="0" indent="0">
              <a:buNone/>
              <a:defRPr sz="2800" b="1" i="0">
                <a:latin typeface="Century Gothic" panose="020B0502020202020204" pitchFamily="34" charset="0"/>
              </a:defRPr>
            </a:lvl1pPr>
          </a:lstStyle>
          <a:p>
            <a:pPr lvl="0"/>
            <a:r>
              <a:rPr lang="en-US" dirty="0"/>
              <a:t>Explain to the students why the learning of this content is important. </a:t>
            </a:r>
          </a:p>
          <a:p>
            <a:pPr lvl="0"/>
            <a:endParaRPr lang="en-US" dirty="0"/>
          </a:p>
          <a:p>
            <a:pPr lvl="0"/>
            <a:r>
              <a:rPr lang="en-US" dirty="0"/>
              <a:t>Click to add text. Delete textbox if unneeded. </a:t>
            </a:r>
          </a:p>
        </p:txBody>
      </p:sp>
      <p:sp>
        <p:nvSpPr>
          <p:cNvPr id="5" name="Text Placeholder 4">
            <a:extLst>
              <a:ext uri="{FF2B5EF4-FFF2-40B4-BE49-F238E27FC236}">
                <a16:creationId xmlns:a16="http://schemas.microsoft.com/office/drawing/2014/main" id="{26005884-EA56-4A5F-8C82-1956C2ADF2F8}"/>
              </a:ext>
            </a:extLst>
          </p:cNvPr>
          <p:cNvSpPr>
            <a:spLocks noGrp="1"/>
          </p:cNvSpPr>
          <p:nvPr>
            <p:ph type="body" sz="quarter" idx="17" hasCustomPrompt="1"/>
          </p:nvPr>
        </p:nvSpPr>
        <p:spPr>
          <a:xfrm>
            <a:off x="295275" y="595269"/>
            <a:ext cx="3779478" cy="319722"/>
          </a:xfrm>
          <a:prstGeom prst="rect">
            <a:avLst/>
          </a:prstGeom>
          <a:solidFill>
            <a:srgbClr val="FBCA58"/>
          </a:solidFill>
        </p:spPr>
        <p:txBody>
          <a:bodyPr/>
          <a:lstStyle>
            <a:lvl1pPr marL="0" indent="0">
              <a:buNone/>
              <a:defRPr sz="1600" b="1">
                <a:solidFill>
                  <a:srgbClr val="2E546D"/>
                </a:solidFill>
                <a:latin typeface="+mj-lt"/>
              </a:defRPr>
            </a:lvl1pPr>
            <a:lvl2pPr>
              <a:defRPr sz="1800"/>
            </a:lvl2pPr>
            <a:lvl3pPr>
              <a:defRPr sz="1600"/>
            </a:lvl3pPr>
            <a:lvl4pPr>
              <a:defRPr sz="1400"/>
            </a:lvl4pPr>
            <a:lvl5pPr>
              <a:defRPr sz="1400"/>
            </a:lvl5pPr>
          </a:lstStyle>
          <a:p>
            <a:pPr lvl="0"/>
            <a:r>
              <a:rPr lang="en-US" dirty="0"/>
              <a:t>Type Subheading here</a:t>
            </a:r>
          </a:p>
        </p:txBody>
      </p:sp>
    </p:spTree>
    <p:extLst>
      <p:ext uri="{BB962C8B-B14F-4D97-AF65-F5344CB8AC3E}">
        <p14:creationId xmlns:p14="http://schemas.microsoft.com/office/powerpoint/2010/main" val="34852791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6636460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o Now">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1572219" cy="515262"/>
          </a:xfrm>
          <a:prstGeom prst="rect">
            <a:avLst/>
          </a:prstGeom>
          <a:solidFill>
            <a:srgbClr val="2E546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Do Now</a:t>
            </a:r>
          </a:p>
        </p:txBody>
      </p:sp>
      <p:sp>
        <p:nvSpPr>
          <p:cNvPr id="6" name="TextBox 5">
            <a:extLst>
              <a:ext uri="{FF2B5EF4-FFF2-40B4-BE49-F238E27FC236}">
                <a16:creationId xmlns:a16="http://schemas.microsoft.com/office/drawing/2014/main" id="{8BA40631-C083-AD47-B428-316584A39680}"/>
              </a:ext>
            </a:extLst>
          </p:cNvPr>
          <p:cNvSpPr txBox="1"/>
          <p:nvPr userDrawn="1"/>
        </p:nvSpPr>
        <p:spPr>
          <a:xfrm>
            <a:off x="1867437" y="224237"/>
            <a:ext cx="10004958" cy="499682"/>
          </a:xfrm>
          <a:prstGeom prst="rect">
            <a:avLst/>
          </a:prstGeom>
          <a:solidFill>
            <a:schemeClr val="bg1"/>
          </a:solidFill>
          <a:ln>
            <a:noFill/>
          </a:ln>
        </p:spPr>
        <p:txBody>
          <a:bodyPr wrap="square" rtlCol="0" anchor="ctr">
            <a:normAutofit/>
          </a:bodyPr>
          <a:lstStyle/>
          <a:p>
            <a:r>
              <a:rPr lang="en-US" sz="2400" b="1" i="0" dirty="0">
                <a:solidFill>
                  <a:srgbClr val="23566C"/>
                </a:solidFill>
                <a:latin typeface="Century Gothic" panose="020B0502020202020204" pitchFamily="34" charset="0"/>
                <a:cs typeface="Futura Medium" panose="020B0602020204020303" pitchFamily="34" charset="-79"/>
              </a:rPr>
              <a:t>Sit down and begin this task immediately.</a:t>
            </a:r>
          </a:p>
        </p:txBody>
      </p:sp>
      <p:sp>
        <p:nvSpPr>
          <p:cNvPr id="7" name="Text Placeholder 6">
            <a:extLst>
              <a:ext uri="{FF2B5EF4-FFF2-40B4-BE49-F238E27FC236}">
                <a16:creationId xmlns:a16="http://schemas.microsoft.com/office/drawing/2014/main" id="{BF35187B-F1B6-6642-9304-A94B5E4C924F}"/>
              </a:ext>
            </a:extLst>
          </p:cNvPr>
          <p:cNvSpPr>
            <a:spLocks noGrp="1"/>
          </p:cNvSpPr>
          <p:nvPr>
            <p:ph type="body" sz="quarter" idx="10" hasCustomPrompt="1"/>
          </p:nvPr>
        </p:nvSpPr>
        <p:spPr>
          <a:xfrm>
            <a:off x="399245" y="780837"/>
            <a:ext cx="11359166" cy="111235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Explain what students need to do.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
        <p:nvSpPr>
          <p:cNvPr id="10" name="Text Placeholder 6">
            <a:extLst>
              <a:ext uri="{FF2B5EF4-FFF2-40B4-BE49-F238E27FC236}">
                <a16:creationId xmlns:a16="http://schemas.microsoft.com/office/drawing/2014/main" id="{93AE7A03-206B-7848-A477-7A841FF720DA}"/>
              </a:ext>
            </a:extLst>
          </p:cNvPr>
          <p:cNvSpPr>
            <a:spLocks noGrp="1"/>
          </p:cNvSpPr>
          <p:nvPr>
            <p:ph type="body" sz="quarter" idx="11" hasCustomPrompt="1"/>
          </p:nvPr>
        </p:nvSpPr>
        <p:spPr>
          <a:xfrm>
            <a:off x="399245" y="2066578"/>
            <a:ext cx="11359166" cy="438573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Enter in your task</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4092731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EI) Learning Goal Setup">
    <p:bg>
      <p:bgPr>
        <a:solidFill>
          <a:schemeClr val="bg1"/>
        </a:soli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userDrawn="1"/>
        </p:nvSpPr>
        <p:spPr>
          <a:xfrm>
            <a:off x="295218" y="1011383"/>
            <a:ext cx="2364855" cy="538446"/>
          </a:xfrm>
          <a:prstGeom prst="rect">
            <a:avLst/>
          </a:prstGeom>
          <a:solidFill>
            <a:srgbClr val="2E546D"/>
          </a:solidFill>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Learning Goal</a:t>
            </a:r>
          </a:p>
        </p:txBody>
      </p:sp>
      <p:sp>
        <p:nvSpPr>
          <p:cNvPr id="9" name="TextBox 8">
            <a:extLst>
              <a:ext uri="{FF2B5EF4-FFF2-40B4-BE49-F238E27FC236}">
                <a16:creationId xmlns:a16="http://schemas.microsoft.com/office/drawing/2014/main" id="{DF9C2B4A-0943-CC42-BE38-4F715F7CAA2B}"/>
              </a:ext>
            </a:extLst>
          </p:cNvPr>
          <p:cNvSpPr txBox="1"/>
          <p:nvPr userDrawn="1"/>
        </p:nvSpPr>
        <p:spPr>
          <a:xfrm>
            <a:off x="517951" y="4565193"/>
            <a:ext cx="2734700" cy="1947917"/>
          </a:xfrm>
          <a:prstGeom prst="rect">
            <a:avLst/>
          </a:prstGeom>
          <a:noFill/>
        </p:spPr>
        <p:txBody>
          <a:bodyPr wrap="square" tIns="180000" rtlCol="0" anchor="t">
            <a:normAutofit/>
          </a:bodyPr>
          <a:lstStyle/>
          <a:p>
            <a:r>
              <a:rPr lang="en-US" sz="3600" b="1" i="0" dirty="0">
                <a:solidFill>
                  <a:srgbClr val="2E546D"/>
                </a:solidFill>
                <a:latin typeface="Calibri" panose="020F0502020204030204" pitchFamily="34" charset="0"/>
                <a:cs typeface="Calibri" panose="020F0502020204030204" pitchFamily="34" charset="0"/>
              </a:rPr>
              <a:t>Think </a:t>
            </a:r>
          </a:p>
          <a:p>
            <a:r>
              <a:rPr lang="en-US" sz="3600" b="1" i="0" dirty="0">
                <a:solidFill>
                  <a:srgbClr val="2E546D"/>
                </a:solidFill>
                <a:latin typeface="Calibri" panose="020F0502020204030204" pitchFamily="34" charset="0"/>
                <a:cs typeface="Calibri" panose="020F0502020204030204" pitchFamily="34" charset="0"/>
              </a:rPr>
              <a:t>Pair</a:t>
            </a:r>
          </a:p>
          <a:p>
            <a:r>
              <a:rPr lang="en-US" sz="3600" b="1" i="0" dirty="0">
                <a:solidFill>
                  <a:srgbClr val="2E546D"/>
                </a:solidFill>
                <a:latin typeface="Calibri" panose="020F0502020204030204" pitchFamily="34" charset="0"/>
                <a:cs typeface="Calibri" panose="020F0502020204030204" pitchFamily="34" charset="0"/>
              </a:rPr>
              <a:t>Share</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601508" cy="2929609"/>
          </a:xfrm>
          <a:prstGeom prst="rect">
            <a:avLst/>
          </a:prstGeom>
          <a:solidFill>
            <a:srgbClr val="2E546D"/>
          </a:solidFill>
          <a:ln>
            <a:noFill/>
          </a:ln>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grpSp>
        <p:nvGrpSpPr>
          <p:cNvPr id="24" name="Group 23">
            <a:extLst>
              <a:ext uri="{FF2B5EF4-FFF2-40B4-BE49-F238E27FC236}">
                <a16:creationId xmlns:a16="http://schemas.microsoft.com/office/drawing/2014/main" id="{5BA5BEC9-826C-1A47-BE3A-FB14643A0AFC}"/>
              </a:ext>
            </a:extLst>
          </p:cNvPr>
          <p:cNvGrpSpPr/>
          <p:nvPr userDrawn="1"/>
        </p:nvGrpSpPr>
        <p:grpSpPr>
          <a:xfrm>
            <a:off x="3252651" y="475428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2503526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par>
                                <p:cTn id="11" presetID="1" presetClass="exit" presetSubtype="0" fill="hold" grpId="1" nodeType="withEffect">
                                  <p:stCondLst>
                                    <p:cond delay="0"/>
                                  </p:stCondLst>
                                  <p:childTnLst>
                                    <p:set>
                                      <p:cBhvr>
                                        <p:cTn id="12"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 grpId="1"/>
    </p:bld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Learning Goal Simple">
    <p:bg>
      <p:bgPr>
        <a:solidFill>
          <a:schemeClr val="bg1"/>
        </a:soli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userDrawn="1"/>
        </p:nvSpPr>
        <p:spPr>
          <a:xfrm>
            <a:off x="295218" y="1011383"/>
            <a:ext cx="2364855" cy="538446"/>
          </a:xfrm>
          <a:prstGeom prst="rect">
            <a:avLst/>
          </a:prstGeom>
          <a:solidFill>
            <a:srgbClr val="2E546D"/>
          </a:solidFill>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Learning Goal</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601508" cy="2929609"/>
          </a:xfrm>
          <a:prstGeom prst="rect">
            <a:avLst/>
          </a:prstGeom>
          <a:solidFill>
            <a:srgbClr val="2E546D"/>
          </a:solidFill>
          <a:ln>
            <a:noFill/>
          </a:ln>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spTree>
    <p:extLst>
      <p:ext uri="{BB962C8B-B14F-4D97-AF65-F5344CB8AC3E}">
        <p14:creationId xmlns:p14="http://schemas.microsoft.com/office/powerpoint/2010/main" val="400409712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EI) Key Term Definition">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3727" cy="515262"/>
          </a:xfrm>
          <a:prstGeom prst="rect">
            <a:avLst/>
          </a:prstGeom>
          <a:solidFill>
            <a:srgbClr val="2E546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1873045"/>
            <a:ext cx="4609291" cy="495947"/>
          </a:xfrm>
          <a:prstGeom prst="rect">
            <a:avLst/>
          </a:prstGeom>
          <a:solidFill>
            <a:srgbClr val="FBCA58"/>
          </a:solidFill>
          <a:ln>
            <a:noFill/>
          </a:ln>
        </p:spPr>
        <p:txBody>
          <a:bodyPr wrap="square" rtlCol="0" anchor="ctr">
            <a:normAutofit/>
          </a:bodyPr>
          <a:lstStyle/>
          <a:p>
            <a:r>
              <a:rPr lang="en-US" sz="2400" b="1" i="0" dirty="0">
                <a:solidFill>
                  <a:srgbClr val="23566C"/>
                </a:solidFill>
                <a:latin typeface="Century Gothic" panose="020B0502020202020204" pitchFamily="34" charset="0"/>
                <a:cs typeface="Futura Medium" panose="020B0602020204020303" pitchFamily="34" charset="-79"/>
              </a:rPr>
              <a:t>Track with me / Read with me</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601564" cy="1150657"/>
          </a:xfrm>
          <a:prstGeom prst="rect">
            <a:avLst/>
          </a:prstGeom>
          <a:solidFill>
            <a:srgbClr val="2E546D"/>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4242624"/>
          </a:xfrm>
          <a:prstGeom prst="rect">
            <a:avLst/>
          </a:prstGeom>
          <a:noFill/>
        </p:spPr>
        <p:txBody>
          <a:bodyPr tIns="144000" bIns="0"/>
          <a:lstStyle>
            <a:lvl1pPr marL="0" indent="0">
              <a:buNone/>
              <a:defRPr sz="6000" b="1" i="0">
                <a:solidFill>
                  <a:srgbClr val="2E546D"/>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definition</a:t>
            </a:r>
          </a:p>
        </p:txBody>
      </p:sp>
    </p:spTree>
    <p:extLst>
      <p:ext uri="{BB962C8B-B14F-4D97-AF65-F5344CB8AC3E}">
        <p14:creationId xmlns:p14="http://schemas.microsoft.com/office/powerpoint/2010/main" val="81445134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EI) Key Term Definition Disappea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5600" cy="515262"/>
          </a:xfrm>
          <a:prstGeom prst="rect">
            <a:avLst/>
          </a:prstGeom>
          <a:solidFill>
            <a:srgbClr val="2E546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Key Term Definition</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601564" cy="1150657"/>
          </a:xfrm>
          <a:prstGeom prst="rect">
            <a:avLst/>
          </a:prstGeom>
          <a:solidFill>
            <a:srgbClr val="2E546D"/>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1042224"/>
          </a:xfrm>
          <a:prstGeom prst="rect">
            <a:avLst/>
          </a:prstGeom>
          <a:noFill/>
        </p:spPr>
        <p:txBody>
          <a:bodyPr tIns="144000" bIns="0"/>
          <a:lstStyle>
            <a:lvl1pPr marL="0" indent="0">
              <a:buNone/>
              <a:defRPr sz="6000" b="1" i="0">
                <a:solidFill>
                  <a:srgbClr val="2F556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6" name="Text Placeholder 15">
            <a:extLst>
              <a:ext uri="{FF2B5EF4-FFF2-40B4-BE49-F238E27FC236}">
                <a16:creationId xmlns:a16="http://schemas.microsoft.com/office/drawing/2014/main" id="{C99969C1-6602-ED48-B174-C33A6E95ED02}"/>
              </a:ext>
            </a:extLst>
          </p:cNvPr>
          <p:cNvSpPr>
            <a:spLocks noGrp="1"/>
          </p:cNvSpPr>
          <p:nvPr>
            <p:ph type="body" sz="quarter" idx="12" hasCustomPrompt="1"/>
          </p:nvPr>
        </p:nvSpPr>
        <p:spPr>
          <a:xfrm>
            <a:off x="295218" y="3421620"/>
            <a:ext cx="11577177" cy="3158794"/>
          </a:xfrm>
          <a:prstGeom prst="rect">
            <a:avLst/>
          </a:prstGeom>
          <a:noFill/>
        </p:spPr>
        <p:txBody>
          <a:bodyPr tIns="144000" bIns="0"/>
          <a:lstStyle>
            <a:lvl1pPr marL="0" indent="0">
              <a:buNone/>
              <a:defRPr sz="6000" b="1" i="0">
                <a:solidFill>
                  <a:srgbClr val="2F556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the part of the definition that will disappear upon clicking. </a:t>
            </a:r>
          </a:p>
        </p:txBody>
      </p:sp>
      <p:sp>
        <p:nvSpPr>
          <p:cNvPr id="7" name="TextBox 6">
            <a:extLst>
              <a:ext uri="{FF2B5EF4-FFF2-40B4-BE49-F238E27FC236}">
                <a16:creationId xmlns:a16="http://schemas.microsoft.com/office/drawing/2014/main" id="{41034DDA-3128-9245-AE60-3BC48E5BA7BD}"/>
              </a:ext>
            </a:extLst>
          </p:cNvPr>
          <p:cNvSpPr txBox="1"/>
          <p:nvPr userDrawn="1"/>
        </p:nvSpPr>
        <p:spPr>
          <a:xfrm>
            <a:off x="295218" y="1873045"/>
            <a:ext cx="4609291" cy="495947"/>
          </a:xfrm>
          <a:prstGeom prst="rect">
            <a:avLst/>
          </a:prstGeom>
          <a:solidFill>
            <a:srgbClr val="FBCA58"/>
          </a:solidFill>
          <a:ln>
            <a:noFill/>
          </a:ln>
        </p:spPr>
        <p:txBody>
          <a:bodyPr wrap="square" rtlCol="0" anchor="ctr">
            <a:normAutofit/>
          </a:bodyPr>
          <a:lstStyle/>
          <a:p>
            <a:r>
              <a:rPr lang="en-US" sz="2400" b="1" i="0" dirty="0">
                <a:solidFill>
                  <a:srgbClr val="2F556E"/>
                </a:solidFill>
                <a:latin typeface="Century Gothic" panose="020B0502020202020204" pitchFamily="34" charset="0"/>
                <a:cs typeface="Futura Medium" panose="020B0602020204020303" pitchFamily="34" charset="-79"/>
              </a:rPr>
              <a:t>Track with me / Read with me</a:t>
            </a:r>
          </a:p>
        </p:txBody>
      </p:sp>
    </p:spTree>
    <p:extLst>
      <p:ext uri="{BB962C8B-B14F-4D97-AF65-F5344CB8AC3E}">
        <p14:creationId xmlns:p14="http://schemas.microsoft.com/office/powerpoint/2010/main" val="21236527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 presetClass="exit" presetSubtype="0" fill="hold" nodeType="clickEffect">
                  <p:stCondLst>
                    <p:cond delay="0"/>
                  </p:stCondLst>
                  <p:childTnLst>
                    <p:set>
                      <p:cBhvr>
                        <p:cTn dur="1" fill="hold">
                          <p:stCondLst>
                            <p:cond delay="0"/>
                          </p:stCondLst>
                        </p:cTn>
                        <p:tgtEl>
                          <p:spTgt spid="6"/>
                        </p:tgtEl>
                        <p:attrNameLst>
                          <p:attrName>style.visibility</p:attrName>
                        </p:attrNameLst>
                      </p:cBhvr>
                      <p:to>
                        <p:strVal val="hidden"/>
                      </p:to>
                    </p:set>
                  </p:childTnLst>
                </p:cTn>
              </p:par>
            </p:tnLst>
          </p:tmpl>
        </p:tmplLst>
      </p:bldP>
    </p:bld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EI) Easy English">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5600" cy="515262"/>
          </a:xfrm>
          <a:prstGeom prst="rect">
            <a:avLst/>
          </a:prstGeom>
          <a:solidFill>
            <a:srgbClr val="2F556E"/>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9" y="1873045"/>
            <a:ext cx="1990782" cy="495947"/>
          </a:xfrm>
          <a:prstGeom prst="rect">
            <a:avLst/>
          </a:prstGeom>
          <a:solidFill>
            <a:srgbClr val="FBCA58"/>
          </a:solidFill>
          <a:ln>
            <a:noFill/>
          </a:ln>
        </p:spPr>
        <p:txBody>
          <a:bodyPr wrap="square" rtlCol="0" anchor="ctr">
            <a:normAutofit/>
          </a:bodyPr>
          <a:lstStyle/>
          <a:p>
            <a:r>
              <a:rPr lang="en-US" sz="2400" b="1" i="0" dirty="0">
                <a:solidFill>
                  <a:srgbClr val="2F556E"/>
                </a:solidFill>
                <a:latin typeface="Century Gothic" panose="020B0502020202020204" pitchFamily="34" charset="0"/>
                <a:cs typeface="Futura Medium" panose="020B0602020204020303" pitchFamily="34" charset="-79"/>
              </a:rPr>
              <a:t>Easy English</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601564" cy="1150657"/>
          </a:xfrm>
          <a:prstGeom prst="rect">
            <a:avLst/>
          </a:prstGeom>
          <a:solidFill>
            <a:srgbClr val="2F556E"/>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5"/>
            <a:ext cx="11577177" cy="3349007"/>
          </a:xfrm>
          <a:prstGeom prst="rect">
            <a:avLst/>
          </a:prstGeom>
          <a:noFill/>
        </p:spPr>
        <p:txBody>
          <a:bodyPr tIns="144000" bIns="0" anchor="ctr"/>
          <a:lstStyle>
            <a:lvl1pPr marL="0" indent="0" algn="ctr">
              <a:buNone/>
              <a:defRPr sz="6000" b="1" i="0">
                <a:solidFill>
                  <a:srgbClr val="2F556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Target: Easy</a:t>
            </a:r>
          </a:p>
        </p:txBody>
      </p:sp>
    </p:spTree>
    <p:extLst>
      <p:ext uri="{BB962C8B-B14F-4D97-AF65-F5344CB8AC3E}">
        <p14:creationId xmlns:p14="http://schemas.microsoft.com/office/powerpoint/2010/main" val="190541380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EI) Activate Prior Knowledge">
    <p:spTree>
      <p:nvGrpSpPr>
        <p:cNvPr id="1" name=""/>
        <p:cNvGrpSpPr/>
        <p:nvPr/>
      </p:nvGrpSpPr>
      <p:grpSpPr>
        <a:xfrm>
          <a:off x="0" y="0"/>
          <a:ext cx="0" cy="0"/>
          <a:chOff x="0" y="0"/>
          <a:chExt cx="0" cy="0"/>
        </a:xfrm>
      </p:grpSpPr>
      <p:sp>
        <p:nvSpPr>
          <p:cNvPr id="38" name="Text Placeholder 37">
            <a:extLst>
              <a:ext uri="{FF2B5EF4-FFF2-40B4-BE49-F238E27FC236}">
                <a16:creationId xmlns:a16="http://schemas.microsoft.com/office/drawing/2014/main" id="{1E0C5E22-25B1-3743-B18A-9111EBF90486}"/>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FC000"/>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43" name="TextBox 42">
            <a:extLst>
              <a:ext uri="{FF2B5EF4-FFF2-40B4-BE49-F238E27FC236}">
                <a16:creationId xmlns:a16="http://schemas.microsoft.com/office/drawing/2014/main" id="{5CFC19F9-C449-6E4C-AC32-E587C71AC835}"/>
              </a:ext>
            </a:extLst>
          </p:cNvPr>
          <p:cNvSpPr txBox="1"/>
          <p:nvPr userDrawn="1"/>
        </p:nvSpPr>
        <p:spPr>
          <a:xfrm>
            <a:off x="295275" y="590550"/>
            <a:ext cx="3779478" cy="317139"/>
          </a:xfrm>
          <a:prstGeom prst="rect">
            <a:avLst/>
          </a:prstGeom>
          <a:solidFill>
            <a:srgbClr val="FBCA58"/>
          </a:solidFill>
        </p:spPr>
        <p:txBody>
          <a:bodyPr wrap="square" rtlCol="0" anchor="ctr">
            <a:noAutofit/>
          </a:bodyPr>
          <a:lstStyle/>
          <a:p>
            <a:pPr algn="l"/>
            <a:r>
              <a:rPr lang="en-US" sz="1600" b="1" i="0" dirty="0">
                <a:solidFill>
                  <a:srgbClr val="2E546D"/>
                </a:solidFill>
                <a:latin typeface="Century Gothic" panose="020B0502020202020204" pitchFamily="34" charset="0"/>
                <a:cs typeface="Futura Medium" panose="020B0602020204020303" pitchFamily="34" charset="-79"/>
              </a:rPr>
              <a:t>Activate Prior Knowledge</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0" name="Text Placeholder 9">
            <a:extLst>
              <a:ext uri="{FF2B5EF4-FFF2-40B4-BE49-F238E27FC236}">
                <a16:creationId xmlns:a16="http://schemas.microsoft.com/office/drawing/2014/main" id="{3A872705-675F-C243-9643-639EE2D96A8C}"/>
              </a:ext>
            </a:extLst>
          </p:cNvPr>
          <p:cNvSpPr>
            <a:spLocks noGrp="1"/>
          </p:cNvSpPr>
          <p:nvPr>
            <p:ph type="body" sz="quarter" idx="15" hasCustomPrompt="1"/>
          </p:nvPr>
        </p:nvSpPr>
        <p:spPr>
          <a:xfrm>
            <a:off x="390524" y="965946"/>
            <a:ext cx="9091613" cy="3071813"/>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b="1" i="0">
                <a:latin typeface="Century Gothic" panose="020B0502020202020204" pitchFamily="34" charset="0"/>
              </a:defRPr>
            </a:lvl1pPr>
          </a:lstStyle>
          <a:p>
            <a:pPr lvl="0"/>
            <a:r>
              <a:rPr lang="en-US" dirty="0"/>
              <a:t>Link previous learning, or a universal experience, to the topic being studied taught.  For example, key concepts already learnt in this unit, or something we all do in our lives that will connect to the learning.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a:p>
            <a:pPr lvl="0"/>
            <a:endParaRPr lang="en-US" dirty="0"/>
          </a:p>
        </p:txBody>
      </p:sp>
    </p:spTree>
    <p:extLst>
      <p:ext uri="{BB962C8B-B14F-4D97-AF65-F5344CB8AC3E}">
        <p14:creationId xmlns:p14="http://schemas.microsoft.com/office/powerpoint/2010/main" val="348194959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EI) Content Development">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93932381-72B7-B349-BBA8-6AFEB84E18A9}"/>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BCA58"/>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F989A473-568F-E948-8378-638693483165}"/>
              </a:ext>
            </a:extLst>
          </p:cNvPr>
          <p:cNvSpPr txBox="1"/>
          <p:nvPr userDrawn="1"/>
        </p:nvSpPr>
        <p:spPr>
          <a:xfrm>
            <a:off x="295275" y="590550"/>
            <a:ext cx="3779478" cy="317139"/>
          </a:xfrm>
          <a:prstGeom prst="rect">
            <a:avLst/>
          </a:prstGeom>
          <a:solidFill>
            <a:srgbClr val="FBCA58"/>
          </a:solidFill>
        </p:spPr>
        <p:txBody>
          <a:bodyPr wrap="square" rtlCol="0" anchor="ctr">
            <a:noAutofit/>
          </a:bodyPr>
          <a:lstStyle/>
          <a:p>
            <a:pPr algn="l"/>
            <a:r>
              <a:rPr lang="en-US" sz="1600" b="1" i="0" dirty="0">
                <a:solidFill>
                  <a:srgbClr val="2E546D"/>
                </a:solidFill>
                <a:latin typeface="Century Gothic" panose="020B0502020202020204" pitchFamily="34" charset="0"/>
                <a:cs typeface="Futura Medium" panose="020B0602020204020303" pitchFamily="34" charset="-79"/>
              </a:rPr>
              <a:t>Content Development</a:t>
            </a:r>
          </a:p>
        </p:txBody>
      </p:sp>
      <p:sp>
        <p:nvSpPr>
          <p:cNvPr id="3" name="Text Placeholder 2">
            <a:extLst>
              <a:ext uri="{FF2B5EF4-FFF2-40B4-BE49-F238E27FC236}">
                <a16:creationId xmlns:a16="http://schemas.microsoft.com/office/drawing/2014/main" id="{67489761-345C-4546-B69F-7F767EEB19E6}"/>
              </a:ext>
            </a:extLst>
          </p:cNvPr>
          <p:cNvSpPr>
            <a:spLocks noGrp="1"/>
          </p:cNvSpPr>
          <p:nvPr>
            <p:ph type="body" sz="quarter" idx="15" hasCustomPrompt="1"/>
          </p:nvPr>
        </p:nvSpPr>
        <p:spPr>
          <a:xfrm>
            <a:off x="397668" y="965946"/>
            <a:ext cx="9077325" cy="1885950"/>
          </a:xfrm>
          <a:prstGeom prst="rect">
            <a:avLst/>
          </a:prstGeom>
        </p:spPr>
        <p:txBody>
          <a:bodyPr/>
          <a:lstStyle>
            <a:lvl1pPr marL="0" indent="0">
              <a:buNone/>
              <a:defRPr sz="2800" b="1" i="0">
                <a:latin typeface="Century Gothic" panose="020B0502020202020204" pitchFamily="34" charset="0"/>
              </a:defRPr>
            </a:lvl1pPr>
          </a:lstStyle>
          <a:p>
            <a:pPr lvl="0"/>
            <a:r>
              <a:rPr lang="en-US" dirty="0"/>
              <a:t>The teacher explains the concepts and steps that lead to the learning goal.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348944220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EI) Skill Development with Guided Practice">
    <p:spTree>
      <p:nvGrpSpPr>
        <p:cNvPr id="1" name=""/>
        <p:cNvGrpSpPr/>
        <p:nvPr/>
      </p:nvGrpSpPr>
      <p:grpSpPr>
        <a:xfrm>
          <a:off x="0" y="0"/>
          <a:ext cx="0" cy="0"/>
          <a:chOff x="0" y="0"/>
          <a:chExt cx="0" cy="0"/>
        </a:xfrm>
      </p:grpSpPr>
      <p:sp>
        <p:nvSpPr>
          <p:cNvPr id="8" name="Text Placeholder 37">
            <a:extLst>
              <a:ext uri="{FF2B5EF4-FFF2-40B4-BE49-F238E27FC236}">
                <a16:creationId xmlns:a16="http://schemas.microsoft.com/office/drawing/2014/main" id="{AA64D5DD-9491-7244-8D83-7F535F058A54}"/>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BCA58"/>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9" name="TextBox 8">
            <a:extLst>
              <a:ext uri="{FF2B5EF4-FFF2-40B4-BE49-F238E27FC236}">
                <a16:creationId xmlns:a16="http://schemas.microsoft.com/office/drawing/2014/main" id="{FEC8520F-CB36-4A45-A44F-F23C38DF4554}"/>
              </a:ext>
            </a:extLst>
          </p:cNvPr>
          <p:cNvSpPr txBox="1"/>
          <p:nvPr userDrawn="1"/>
        </p:nvSpPr>
        <p:spPr>
          <a:xfrm>
            <a:off x="295275" y="590550"/>
            <a:ext cx="4199996" cy="352425"/>
          </a:xfrm>
          <a:prstGeom prst="rect">
            <a:avLst/>
          </a:prstGeom>
          <a:solidFill>
            <a:srgbClr val="FBCA58"/>
          </a:solidFill>
        </p:spPr>
        <p:txBody>
          <a:bodyPr wrap="square" rtlCol="0" anchor="ctr">
            <a:noAutofit/>
          </a:bodyPr>
          <a:lstStyle/>
          <a:p>
            <a:pPr algn="l"/>
            <a:r>
              <a:rPr lang="en-US" sz="1600" b="1" i="0" dirty="0">
                <a:solidFill>
                  <a:srgbClr val="2E546D"/>
                </a:solidFill>
                <a:latin typeface="Century Gothic" panose="020B0502020202020204" pitchFamily="34" charset="0"/>
                <a:cs typeface="Futura Medium" panose="020B0602020204020303" pitchFamily="34" charset="-79"/>
              </a:rPr>
              <a:t>Skill Development with Guided Practice</a:t>
            </a:r>
          </a:p>
        </p:txBody>
      </p:sp>
      <p:sp>
        <p:nvSpPr>
          <p:cNvPr id="10" name="Text Placeholder 2">
            <a:extLst>
              <a:ext uri="{FF2B5EF4-FFF2-40B4-BE49-F238E27FC236}">
                <a16:creationId xmlns:a16="http://schemas.microsoft.com/office/drawing/2014/main" id="{CF0F374D-B3C3-694C-9E4C-49E7305FA052}"/>
              </a:ext>
            </a:extLst>
          </p:cNvPr>
          <p:cNvSpPr>
            <a:spLocks noGrp="1"/>
          </p:cNvSpPr>
          <p:nvPr>
            <p:ph type="body" sz="quarter" idx="15" hasCustomPrompt="1"/>
          </p:nvPr>
        </p:nvSpPr>
        <p:spPr>
          <a:xfrm>
            <a:off x="397668" y="1067135"/>
            <a:ext cx="9077325" cy="2743200"/>
          </a:xfrm>
          <a:prstGeom prst="rect">
            <a:avLst/>
          </a:prstGeom>
        </p:spPr>
        <p:txBody>
          <a:bodyPr/>
          <a:lstStyle>
            <a:lvl1pPr marL="0" indent="0">
              <a:buNone/>
              <a:defRPr sz="2800" b="1" i="0">
                <a:latin typeface="Century Gothic" panose="020B0502020202020204" pitchFamily="34" charset="0"/>
              </a:defRPr>
            </a:lvl1pPr>
          </a:lstStyle>
          <a:p>
            <a:pPr lvl="0"/>
            <a:r>
              <a:rPr lang="en-US" dirty="0"/>
              <a:t>Go through the steps one by one that will guide the students to the learning goal. Ensure the students are involved so that you can check for understanding.</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1780312292"/>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EI) Lesson Closure">
    <p:spTree>
      <p:nvGrpSpPr>
        <p:cNvPr id="1" name=""/>
        <p:cNvGrpSpPr/>
        <p:nvPr/>
      </p:nvGrpSpPr>
      <p:grpSpPr>
        <a:xfrm>
          <a:off x="0" y="0"/>
          <a:ext cx="0" cy="0"/>
          <a:chOff x="0" y="0"/>
          <a:chExt cx="0" cy="0"/>
        </a:xfrm>
      </p:grpSpPr>
      <p:sp>
        <p:nvSpPr>
          <p:cNvPr id="10" name="Text Placeholder 37">
            <a:extLst>
              <a:ext uri="{FF2B5EF4-FFF2-40B4-BE49-F238E27FC236}">
                <a16:creationId xmlns:a16="http://schemas.microsoft.com/office/drawing/2014/main" id="{FCE3226E-4E89-B94B-8392-37AA41A2503C}"/>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BCA58"/>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11" name="TextBox 10">
            <a:extLst>
              <a:ext uri="{FF2B5EF4-FFF2-40B4-BE49-F238E27FC236}">
                <a16:creationId xmlns:a16="http://schemas.microsoft.com/office/drawing/2014/main" id="{CFD1FBC2-8B0A-054F-BD50-5A1E77153844}"/>
              </a:ext>
            </a:extLst>
          </p:cNvPr>
          <p:cNvSpPr txBox="1"/>
          <p:nvPr userDrawn="1"/>
        </p:nvSpPr>
        <p:spPr>
          <a:xfrm>
            <a:off x="295275" y="590550"/>
            <a:ext cx="3779478" cy="317139"/>
          </a:xfrm>
          <a:prstGeom prst="rect">
            <a:avLst/>
          </a:prstGeom>
          <a:solidFill>
            <a:srgbClr val="FBCA58"/>
          </a:solidFill>
        </p:spPr>
        <p:txBody>
          <a:bodyPr wrap="square" rtlCol="0" anchor="ctr">
            <a:noAutofit/>
          </a:bodyPr>
          <a:lstStyle/>
          <a:p>
            <a:pPr algn="l"/>
            <a:r>
              <a:rPr lang="en-US" sz="1600" b="1" i="0" dirty="0">
                <a:solidFill>
                  <a:srgbClr val="2E546D"/>
                </a:solidFill>
                <a:latin typeface="Century Gothic" panose="020B0502020202020204" pitchFamily="34" charset="0"/>
                <a:cs typeface="Futura Medium" panose="020B0602020204020303" pitchFamily="34" charset="-79"/>
              </a:rPr>
              <a:t>Lesson Closure</a:t>
            </a:r>
          </a:p>
        </p:txBody>
      </p:sp>
      <p:sp>
        <p:nvSpPr>
          <p:cNvPr id="12" name="Text Placeholder 2">
            <a:extLst>
              <a:ext uri="{FF2B5EF4-FFF2-40B4-BE49-F238E27FC236}">
                <a16:creationId xmlns:a16="http://schemas.microsoft.com/office/drawing/2014/main" id="{9ABE9B17-B75E-C845-8C05-25DEB214B5BE}"/>
              </a:ext>
            </a:extLst>
          </p:cNvPr>
          <p:cNvSpPr>
            <a:spLocks noGrp="1"/>
          </p:cNvSpPr>
          <p:nvPr>
            <p:ph type="body" sz="quarter" idx="15" hasCustomPrompt="1"/>
          </p:nvPr>
        </p:nvSpPr>
        <p:spPr>
          <a:xfrm>
            <a:off x="397668" y="999954"/>
            <a:ext cx="9077325" cy="2314576"/>
          </a:xfrm>
          <a:prstGeom prst="rect">
            <a:avLst/>
          </a:prstGeom>
        </p:spPr>
        <p:txBody>
          <a:bodyPr/>
          <a:lstStyle>
            <a:lvl1pPr marL="0" indent="0">
              <a:buNone/>
              <a:defRPr sz="2800" b="1" i="0">
                <a:latin typeface="Century Gothic" panose="020B0502020202020204" pitchFamily="34" charset="0"/>
              </a:defRPr>
            </a:lvl1pPr>
          </a:lstStyle>
          <a:p>
            <a:pPr lvl="0"/>
            <a:r>
              <a:rPr lang="en-US" dirty="0"/>
              <a:t>Have students answer questions, explain a concept, complete an equation, </a:t>
            </a:r>
            <a:r>
              <a:rPr lang="en-US" dirty="0" err="1"/>
              <a:t>etc</a:t>
            </a:r>
            <a:r>
              <a:rPr lang="en-US" dirty="0"/>
              <a:t> to show they have reached the learning goal.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3772040135"/>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EI) Relevance">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D052CD39-86C7-5E45-A279-441BFB974E3D}"/>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FC000"/>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199EBB26-204F-A049-A589-CBB9A02C05F4}"/>
              </a:ext>
            </a:extLst>
          </p:cNvPr>
          <p:cNvSpPr txBox="1"/>
          <p:nvPr userDrawn="1"/>
        </p:nvSpPr>
        <p:spPr>
          <a:xfrm>
            <a:off x="295275" y="590550"/>
            <a:ext cx="3779478" cy="317139"/>
          </a:xfrm>
          <a:prstGeom prst="rect">
            <a:avLst/>
          </a:prstGeom>
          <a:solidFill>
            <a:srgbClr val="FBCA58"/>
          </a:solidFill>
        </p:spPr>
        <p:txBody>
          <a:bodyPr wrap="square" rtlCol="0" anchor="ctr">
            <a:noAutofit/>
          </a:bodyPr>
          <a:lstStyle/>
          <a:p>
            <a:pPr algn="l"/>
            <a:r>
              <a:rPr lang="en-US" sz="1600" b="1" i="0" dirty="0">
                <a:solidFill>
                  <a:srgbClr val="2E546D"/>
                </a:solidFill>
                <a:latin typeface="Century Gothic" panose="020B0502020202020204" pitchFamily="34" charset="0"/>
                <a:cs typeface="Futura Medium" panose="020B0602020204020303" pitchFamily="34" charset="-79"/>
              </a:rPr>
              <a:t>Relevance</a:t>
            </a:r>
          </a:p>
        </p:txBody>
      </p:sp>
      <p:sp>
        <p:nvSpPr>
          <p:cNvPr id="21" name="TextBox 20">
            <a:extLst>
              <a:ext uri="{FF2B5EF4-FFF2-40B4-BE49-F238E27FC236}">
                <a16:creationId xmlns:a16="http://schemas.microsoft.com/office/drawing/2014/main" id="{8057D734-81AA-2049-8345-B99B4BA91645}"/>
              </a:ext>
            </a:extLst>
          </p:cNvPr>
          <p:cNvSpPr txBox="1"/>
          <p:nvPr userDrawn="1"/>
        </p:nvSpPr>
        <p:spPr>
          <a:xfrm>
            <a:off x="10042358" y="866274"/>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1" name="Text Placeholder 2">
            <a:extLst>
              <a:ext uri="{FF2B5EF4-FFF2-40B4-BE49-F238E27FC236}">
                <a16:creationId xmlns:a16="http://schemas.microsoft.com/office/drawing/2014/main" id="{BF86EC76-57E7-3945-83DB-9E6A331BE196}"/>
              </a:ext>
            </a:extLst>
          </p:cNvPr>
          <p:cNvSpPr>
            <a:spLocks noGrp="1"/>
          </p:cNvSpPr>
          <p:nvPr>
            <p:ph type="body" sz="quarter" idx="15" hasCustomPrompt="1"/>
          </p:nvPr>
        </p:nvSpPr>
        <p:spPr>
          <a:xfrm>
            <a:off x="397668" y="991704"/>
            <a:ext cx="9077325" cy="1971676"/>
          </a:xfrm>
          <a:prstGeom prst="rect">
            <a:avLst/>
          </a:prstGeom>
        </p:spPr>
        <p:txBody>
          <a:bodyPr/>
          <a:lstStyle>
            <a:lvl1pPr marL="0" indent="0">
              <a:buNone/>
              <a:defRPr sz="2800" b="1" i="0">
                <a:latin typeface="Century Gothic" panose="020B0502020202020204" pitchFamily="34" charset="0"/>
              </a:defRPr>
            </a:lvl1pPr>
          </a:lstStyle>
          <a:p>
            <a:pPr lvl="0"/>
            <a:r>
              <a:rPr lang="en-US" dirty="0"/>
              <a:t>Explain to the students why the learning of this content is important.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74904949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EI) Learning Goal Complete">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userDrawn="1"/>
        </p:nvSpPr>
        <p:spPr>
          <a:xfrm>
            <a:off x="295219" y="1053881"/>
            <a:ext cx="2350999" cy="495947"/>
          </a:xfrm>
          <a:prstGeom prst="rect">
            <a:avLst/>
          </a:prstGeom>
          <a:solidFill>
            <a:srgbClr val="2E546D"/>
          </a:solidFill>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Learning Goal</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577177" cy="2929609"/>
          </a:xfrm>
          <a:prstGeom prst="rect">
            <a:avLst/>
          </a:prstGeom>
          <a:solidFill>
            <a:srgbClr val="2E546D"/>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grpSp>
        <p:nvGrpSpPr>
          <p:cNvPr id="24" name="Group 23">
            <a:extLst>
              <a:ext uri="{FF2B5EF4-FFF2-40B4-BE49-F238E27FC236}">
                <a16:creationId xmlns:a16="http://schemas.microsoft.com/office/drawing/2014/main" id="{5BA5BEC9-826C-1A47-BE3A-FB14643A0AFC}"/>
              </a:ext>
            </a:extLst>
          </p:cNvPr>
          <p:cNvGrpSpPr/>
          <p:nvPr userDrawn="1"/>
        </p:nvGrpSpPr>
        <p:grpSpPr>
          <a:xfrm>
            <a:off x="3065316" y="473523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361729972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EI) Independant Practice">
    <p:spTree>
      <p:nvGrpSpPr>
        <p:cNvPr id="1" name=""/>
        <p:cNvGrpSpPr/>
        <p:nvPr/>
      </p:nvGrpSpPr>
      <p:grpSpPr>
        <a:xfrm>
          <a:off x="0" y="0"/>
          <a:ext cx="0" cy="0"/>
          <a:chOff x="0" y="0"/>
          <a:chExt cx="0" cy="0"/>
        </a:xfrm>
      </p:grpSpPr>
      <p:sp>
        <p:nvSpPr>
          <p:cNvPr id="6" name="Text Placeholder 37">
            <a:extLst>
              <a:ext uri="{FF2B5EF4-FFF2-40B4-BE49-F238E27FC236}">
                <a16:creationId xmlns:a16="http://schemas.microsoft.com/office/drawing/2014/main" id="{BA5CBAB5-B25F-4B4C-804A-AD021B9010E4}"/>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BCA58"/>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7" name="TextBox 6">
            <a:extLst>
              <a:ext uri="{FF2B5EF4-FFF2-40B4-BE49-F238E27FC236}">
                <a16:creationId xmlns:a16="http://schemas.microsoft.com/office/drawing/2014/main" id="{B7D226EA-4EBE-2F4F-B4B3-8C66D44A3FDC}"/>
              </a:ext>
            </a:extLst>
          </p:cNvPr>
          <p:cNvSpPr txBox="1"/>
          <p:nvPr userDrawn="1"/>
        </p:nvSpPr>
        <p:spPr>
          <a:xfrm>
            <a:off x="295275" y="590550"/>
            <a:ext cx="3779478" cy="317139"/>
          </a:xfrm>
          <a:prstGeom prst="rect">
            <a:avLst/>
          </a:prstGeom>
          <a:solidFill>
            <a:srgbClr val="FBCA58"/>
          </a:solidFill>
        </p:spPr>
        <p:txBody>
          <a:bodyPr wrap="square" rtlCol="0" anchor="ctr">
            <a:noAutofit/>
          </a:bodyPr>
          <a:lstStyle/>
          <a:p>
            <a:pPr algn="l"/>
            <a:r>
              <a:rPr lang="en-US" sz="1600" b="1" i="0" dirty="0">
                <a:solidFill>
                  <a:srgbClr val="2E546D"/>
                </a:solidFill>
                <a:latin typeface="Century Gothic" panose="020B0502020202020204" pitchFamily="34" charset="0"/>
                <a:cs typeface="Futura Medium" panose="020B0602020204020303" pitchFamily="34" charset="-79"/>
              </a:rPr>
              <a:t>Independent Practice</a:t>
            </a:r>
          </a:p>
        </p:txBody>
      </p:sp>
      <p:sp>
        <p:nvSpPr>
          <p:cNvPr id="10" name="Text Placeholder 2">
            <a:extLst>
              <a:ext uri="{FF2B5EF4-FFF2-40B4-BE49-F238E27FC236}">
                <a16:creationId xmlns:a16="http://schemas.microsoft.com/office/drawing/2014/main" id="{2F2AA107-37A0-6640-94E6-ADA5A39A9FA3}"/>
              </a:ext>
            </a:extLst>
          </p:cNvPr>
          <p:cNvSpPr>
            <a:spLocks noGrp="1"/>
          </p:cNvSpPr>
          <p:nvPr>
            <p:ph type="body" sz="quarter" idx="15" hasCustomPrompt="1"/>
          </p:nvPr>
        </p:nvSpPr>
        <p:spPr>
          <a:xfrm>
            <a:off x="397668" y="1002771"/>
            <a:ext cx="9077325" cy="2743200"/>
          </a:xfrm>
          <a:prstGeom prst="rect">
            <a:avLst/>
          </a:prstGeom>
        </p:spPr>
        <p:txBody>
          <a:bodyPr/>
          <a:lstStyle>
            <a:lvl1pPr marL="0" indent="0">
              <a:buNone/>
              <a:defRPr sz="2800" b="1" i="0">
                <a:latin typeface="Century Gothic" panose="020B0502020202020204" pitchFamily="34" charset="0"/>
              </a:defRPr>
            </a:lvl1pPr>
          </a:lstStyle>
          <a:p>
            <a:pPr lvl="0"/>
            <a:r>
              <a:rPr lang="en-US" dirty="0"/>
              <a:t>Once the students have reached the learning goal create activities that have them practice the exact skill that has just been taught. This section can be differentiated.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42881814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18" Type="http://schemas.openxmlformats.org/officeDocument/2006/relationships/image" Target="../media/image1.jpe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theme" Target="../theme/theme2.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ACB8789-C5D7-6249-9847-EB3816E191ED}"/>
              </a:ext>
            </a:extLst>
          </p:cNvPr>
          <p:cNvSpPr/>
          <p:nvPr userDrawn="1"/>
        </p:nvSpPr>
        <p:spPr>
          <a:xfrm>
            <a:off x="0" y="0"/>
            <a:ext cx="12192000" cy="6858000"/>
          </a:xfrm>
          <a:prstGeom prst="rect">
            <a:avLst/>
          </a:prstGeom>
          <a:solidFill>
            <a:srgbClr val="692B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D886F1C9-C15E-0448-B006-3ECFAB54CD2D}"/>
              </a:ext>
            </a:extLst>
          </p:cNvPr>
          <p:cNvSpPr/>
          <p:nvPr userDrawn="1"/>
        </p:nvSpPr>
        <p:spPr>
          <a:xfrm>
            <a:off x="-66676" y="221673"/>
            <a:ext cx="12258675" cy="64146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Picture 8">
            <a:extLst>
              <a:ext uri="{FF2B5EF4-FFF2-40B4-BE49-F238E27FC236}">
                <a16:creationId xmlns:a16="http://schemas.microsoft.com/office/drawing/2014/main" id="{C4F9A874-5CE1-8647-AFA9-BD43474DD64E}"/>
              </a:ext>
            </a:extLst>
          </p:cNvPr>
          <p:cNvPicPr>
            <a:picLocks noChangeAspect="1"/>
          </p:cNvPicPr>
          <p:nvPr userDrawn="1"/>
        </p:nvPicPr>
        <p:blipFill>
          <a:blip r:embed="rId14"/>
          <a:stretch>
            <a:fillRect/>
          </a:stretch>
        </p:blipFill>
        <p:spPr>
          <a:xfrm>
            <a:off x="10640451" y="6085119"/>
            <a:ext cx="1168470" cy="509380"/>
          </a:xfrm>
          <a:prstGeom prst="rect">
            <a:avLst/>
          </a:prstGeom>
        </p:spPr>
      </p:pic>
    </p:spTree>
    <p:extLst>
      <p:ext uri="{BB962C8B-B14F-4D97-AF65-F5344CB8AC3E}">
        <p14:creationId xmlns:p14="http://schemas.microsoft.com/office/powerpoint/2010/main" val="4030593586"/>
      </p:ext>
    </p:extLst>
  </p:cSld>
  <p:clrMap bg1="lt1" tx1="dk1" bg2="lt2" tx2="dk2" accent1="accent1" accent2="accent2" accent3="accent3" accent4="accent4" accent5="accent5" accent6="accent6" hlink="hlink" folHlink="folHlink"/>
  <p:sldLayoutIdLst>
    <p:sldLayoutId id="2147484258" r:id="rId1"/>
    <p:sldLayoutId id="2147484233" r:id="rId2"/>
    <p:sldLayoutId id="2147484234" r:id="rId3"/>
    <p:sldLayoutId id="2147484235" r:id="rId4"/>
    <p:sldLayoutId id="2147484236" r:id="rId5"/>
    <p:sldLayoutId id="2147484257" r:id="rId6"/>
    <p:sldLayoutId id="2147484255" r:id="rId7"/>
    <p:sldLayoutId id="2147484237" r:id="rId8"/>
    <p:sldLayoutId id="2147484238" r:id="rId9"/>
    <p:sldLayoutId id="2147484239" r:id="rId10"/>
    <p:sldLayoutId id="2147484240" r:id="rId11"/>
    <p:sldLayoutId id="214748429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13AA52D-1531-D74F-B0A5-6078D4C9110F}"/>
              </a:ext>
            </a:extLst>
          </p:cNvPr>
          <p:cNvSpPr/>
          <p:nvPr userDrawn="1"/>
        </p:nvSpPr>
        <p:spPr>
          <a:xfrm>
            <a:off x="0" y="0"/>
            <a:ext cx="12192000" cy="6858000"/>
          </a:xfrm>
          <a:prstGeom prst="rect">
            <a:avLst/>
          </a:prstGeom>
          <a:solidFill>
            <a:srgbClr val="2E54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ctangle 1">
            <a:extLst>
              <a:ext uri="{FF2B5EF4-FFF2-40B4-BE49-F238E27FC236}">
                <a16:creationId xmlns:a16="http://schemas.microsoft.com/office/drawing/2014/main" id="{3BC489FE-D005-E249-B3C3-A41B78A14714}"/>
              </a:ext>
            </a:extLst>
          </p:cNvPr>
          <p:cNvSpPr/>
          <p:nvPr userDrawn="1"/>
        </p:nvSpPr>
        <p:spPr>
          <a:xfrm>
            <a:off x="0" y="221672"/>
            <a:ext cx="12192000" cy="63728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a:extLst>
              <a:ext uri="{FF2B5EF4-FFF2-40B4-BE49-F238E27FC236}">
                <a16:creationId xmlns:a16="http://schemas.microsoft.com/office/drawing/2014/main" id="{9DC76C98-0227-3747-80B1-ED384456CDE8}"/>
              </a:ext>
            </a:extLst>
          </p:cNvPr>
          <p:cNvPicPr>
            <a:picLocks noChangeAspect="1"/>
          </p:cNvPicPr>
          <p:nvPr userDrawn="1"/>
        </p:nvPicPr>
        <p:blipFill>
          <a:blip r:embed="rId18"/>
          <a:stretch>
            <a:fillRect/>
          </a:stretch>
        </p:blipFill>
        <p:spPr>
          <a:xfrm>
            <a:off x="10640451" y="6085119"/>
            <a:ext cx="1168470" cy="509380"/>
          </a:xfrm>
          <a:prstGeom prst="rect">
            <a:avLst/>
          </a:prstGeom>
        </p:spPr>
      </p:pic>
    </p:spTree>
    <p:extLst>
      <p:ext uri="{BB962C8B-B14F-4D97-AF65-F5344CB8AC3E}">
        <p14:creationId xmlns:p14="http://schemas.microsoft.com/office/powerpoint/2010/main" val="288887113"/>
      </p:ext>
    </p:extLst>
  </p:cSld>
  <p:clrMap bg1="lt1" tx1="dk1" bg2="lt2" tx2="dk2" accent1="accent1" accent2="accent2" accent3="accent3" accent4="accent4" accent5="accent5" accent6="accent6" hlink="hlink" folHlink="folHlink"/>
  <p:sldLayoutIdLst>
    <p:sldLayoutId id="2147484294" r:id="rId1"/>
    <p:sldLayoutId id="2147484295" r:id="rId2"/>
    <p:sldLayoutId id="2147484288" r:id="rId3"/>
    <p:sldLayoutId id="2147484275" r:id="rId4"/>
    <p:sldLayoutId id="2147484276" r:id="rId5"/>
    <p:sldLayoutId id="2147484293" r:id="rId6"/>
    <p:sldLayoutId id="2147484277" r:id="rId7"/>
    <p:sldLayoutId id="2147484278" r:id="rId8"/>
    <p:sldLayoutId id="2147484279" r:id="rId9"/>
    <p:sldLayoutId id="2147484280" r:id="rId10"/>
    <p:sldLayoutId id="2147484281" r:id="rId11"/>
    <p:sldLayoutId id="2147484282" r:id="rId12"/>
    <p:sldLayoutId id="2147484283" r:id="rId13"/>
    <p:sldLayoutId id="2147484284" r:id="rId14"/>
    <p:sldLayoutId id="2147484285" r:id="rId15"/>
    <p:sldLayoutId id="2147484286" r:id="rId1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4.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4.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4.xml"/><Relationship Id="rId4" Type="http://schemas.microsoft.com/office/2007/relationships/hdphoto" Target="../media/hdphoto1.wdp"/></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4.xml"/><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14.xml"/><Relationship Id="rId5" Type="http://schemas.openxmlformats.org/officeDocument/2006/relationships/image" Target="../media/image17.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14.xml"/><Relationship Id="rId5" Type="http://schemas.openxmlformats.org/officeDocument/2006/relationships/image" Target="../media/image20.pn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12.xml"/><Relationship Id="rId1" Type="http://schemas.openxmlformats.org/officeDocument/2006/relationships/slideLayout" Target="../slideLayouts/slideLayout14.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4.xml"/><Relationship Id="rId1" Type="http://schemas.openxmlformats.org/officeDocument/2006/relationships/slideLayout" Target="../slideLayouts/slideLayout14.xml"/><Relationship Id="rId4" Type="http://schemas.openxmlformats.org/officeDocument/2006/relationships/image" Target="../media/image28.png"/></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5.xml"/><Relationship Id="rId1" Type="http://schemas.openxmlformats.org/officeDocument/2006/relationships/slideLayout" Target="../slideLayouts/slideLayout14.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6.xml"/><Relationship Id="rId1" Type="http://schemas.openxmlformats.org/officeDocument/2006/relationships/slideLayout" Target="../slideLayouts/slideLayout14.xml"/><Relationship Id="rId4" Type="http://schemas.openxmlformats.org/officeDocument/2006/relationships/image" Target="../media/image34.png"/></Relationships>
</file>

<file path=ppt/slides/_rels/slide1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8.xml"/><Relationship Id="rId1" Type="http://schemas.openxmlformats.org/officeDocument/2006/relationships/slideLayout" Target="../slideLayouts/slideLayout14.xml"/><Relationship Id="rId4" Type="http://schemas.openxmlformats.org/officeDocument/2006/relationships/image" Target="../media/image37.png"/></Relationships>
</file>

<file path=ppt/slides/_rels/slide2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9.xml"/><Relationship Id="rId1" Type="http://schemas.openxmlformats.org/officeDocument/2006/relationships/slideLayout" Target="../slideLayouts/slideLayout14.xml"/><Relationship Id="rId4" Type="http://schemas.openxmlformats.org/officeDocument/2006/relationships/image" Target="../media/image39.png"/></Relationships>
</file>

<file path=ppt/slides/_rels/slide2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0.xml"/><Relationship Id="rId1" Type="http://schemas.openxmlformats.org/officeDocument/2006/relationships/slideLayout" Target="../slideLayouts/slideLayout14.xml"/><Relationship Id="rId4" Type="http://schemas.openxmlformats.org/officeDocument/2006/relationships/image" Target="../media/image41.png"/></Relationships>
</file>

<file path=ppt/slides/_rels/slide2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1.xml"/><Relationship Id="rId1" Type="http://schemas.openxmlformats.org/officeDocument/2006/relationships/slideLayout" Target="../slideLayouts/slideLayout14.xml"/><Relationship Id="rId5" Type="http://schemas.openxmlformats.org/officeDocument/2006/relationships/image" Target="../media/image43.png"/><Relationship Id="rId4" Type="http://schemas.openxmlformats.org/officeDocument/2006/relationships/image" Target="../media/image42.png"/></Relationships>
</file>

<file path=ppt/slides/_rels/slide2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2.xml"/><Relationship Id="rId1" Type="http://schemas.openxmlformats.org/officeDocument/2006/relationships/slideLayout" Target="../slideLayouts/slideLayout14.xml"/><Relationship Id="rId4" Type="http://schemas.openxmlformats.org/officeDocument/2006/relationships/image" Target="../media/image45.png"/></Relationships>
</file>

<file path=ppt/slides/_rels/slide2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3.xml"/><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4.xml"/><Relationship Id="rId1" Type="http://schemas.openxmlformats.org/officeDocument/2006/relationships/slideLayout" Target="../slideLayouts/slideLayout14.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2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5.xml"/><Relationship Id="rId1" Type="http://schemas.openxmlformats.org/officeDocument/2006/relationships/slideLayout" Target="../slideLayouts/slideLayout14.xml"/><Relationship Id="rId5" Type="http://schemas.openxmlformats.org/officeDocument/2006/relationships/image" Target="../media/image53.png"/><Relationship Id="rId4" Type="http://schemas.openxmlformats.org/officeDocument/2006/relationships/image" Target="../media/image52.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22FDFC4-7213-4B80-88AC-CFDA713A6754}"/>
              </a:ext>
            </a:extLst>
          </p:cNvPr>
          <p:cNvSpPr>
            <a:spLocks noGrp="1"/>
          </p:cNvSpPr>
          <p:nvPr>
            <p:ph type="body" sz="quarter" idx="10"/>
          </p:nvPr>
        </p:nvSpPr>
        <p:spPr/>
        <p:txBody>
          <a:bodyPr/>
          <a:lstStyle/>
          <a:p>
            <a:r>
              <a:rPr lang="en-AU" dirty="0"/>
              <a:t>Equilibrium</a:t>
            </a:r>
          </a:p>
        </p:txBody>
      </p:sp>
      <p:sp>
        <p:nvSpPr>
          <p:cNvPr id="3" name="Text Placeholder 3">
            <a:extLst>
              <a:ext uri="{FF2B5EF4-FFF2-40B4-BE49-F238E27FC236}">
                <a16:creationId xmlns:a16="http://schemas.microsoft.com/office/drawing/2014/main" id="{15B39FF7-CE51-4DDE-B8F7-A2B32DD72593}"/>
              </a:ext>
            </a:extLst>
          </p:cNvPr>
          <p:cNvSpPr txBox="1">
            <a:spLocks/>
          </p:cNvSpPr>
          <p:nvPr/>
        </p:nvSpPr>
        <p:spPr>
          <a:xfrm>
            <a:off x="295274" y="4571479"/>
            <a:ext cx="3779478" cy="319722"/>
          </a:xfrm>
          <a:prstGeom prst="rect">
            <a:avLst/>
          </a:prstGeom>
          <a:solidFill>
            <a:srgbClr val="FBCA58"/>
          </a:solidFill>
        </p:spPr>
        <p:txBody>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rgbClr val="2E546D"/>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dirty="0"/>
              <a:t>Success Criteria</a:t>
            </a:r>
          </a:p>
        </p:txBody>
      </p:sp>
      <p:sp>
        <p:nvSpPr>
          <p:cNvPr id="4" name="Text Placeholder 2">
            <a:extLst>
              <a:ext uri="{FF2B5EF4-FFF2-40B4-BE49-F238E27FC236}">
                <a16:creationId xmlns:a16="http://schemas.microsoft.com/office/drawing/2014/main" id="{376F90D9-C05E-4F92-AA21-6770C35F6CD9}"/>
              </a:ext>
            </a:extLst>
          </p:cNvPr>
          <p:cNvSpPr txBox="1">
            <a:spLocks/>
          </p:cNvSpPr>
          <p:nvPr/>
        </p:nvSpPr>
        <p:spPr>
          <a:xfrm>
            <a:off x="209549" y="4921871"/>
            <a:ext cx="11601508" cy="1382567"/>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US" sz="1600" b="0" dirty="0">
                <a:solidFill>
                  <a:srgbClr val="000303"/>
                </a:solidFill>
                <a:latin typeface="+mj-lt"/>
              </a:rPr>
              <a:t>I can </a:t>
            </a:r>
            <a:r>
              <a:rPr lang="en-AU" sz="1600" b="0" dirty="0">
                <a:solidFill>
                  <a:srgbClr val="000303"/>
                </a:solidFill>
                <a:latin typeface="+mj-lt"/>
              </a:rPr>
              <a:t>state the rules for equilibrium.</a:t>
            </a:r>
          </a:p>
          <a:p>
            <a:pPr algn="l"/>
            <a:r>
              <a:rPr lang="en-AU" sz="1600" b="0" i="0" dirty="0">
                <a:solidFill>
                  <a:srgbClr val="000303"/>
                </a:solidFill>
                <a:effectLst/>
                <a:latin typeface="+mj-lt"/>
              </a:rPr>
              <a:t>I can calculate complex torque and equilibrium questions.</a:t>
            </a:r>
            <a:endParaRPr lang="en-US" sz="1600" b="0" i="0" dirty="0">
              <a:solidFill>
                <a:srgbClr val="000303"/>
              </a:solidFill>
              <a:effectLst/>
              <a:latin typeface="+mj-lt"/>
            </a:endParaRPr>
          </a:p>
        </p:txBody>
      </p:sp>
    </p:spTree>
    <p:extLst>
      <p:ext uri="{BB962C8B-B14F-4D97-AF65-F5344CB8AC3E}">
        <p14:creationId xmlns:p14="http://schemas.microsoft.com/office/powerpoint/2010/main" val="37792069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Torque</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90507"/>
            <a:ext cx="3779478" cy="319722"/>
          </a:xfrm>
        </p:spPr>
        <p:txBody>
          <a:bodyPr/>
          <a:lstStyle/>
          <a:p>
            <a:r>
              <a:rPr lang="en-AU" dirty="0"/>
              <a:t>Link to Syllabus</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0" y="4042341"/>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98508" y="1932294"/>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3600" b="0" dirty="0"/>
          </a:p>
        </p:txBody>
      </p:sp>
      <p:pic>
        <p:nvPicPr>
          <p:cNvPr id="8" name="Picture 7">
            <a:extLst>
              <a:ext uri="{FF2B5EF4-FFF2-40B4-BE49-F238E27FC236}">
                <a16:creationId xmlns:a16="http://schemas.microsoft.com/office/drawing/2014/main" id="{9F25B7B3-24C1-73C5-7A0E-525BF64B7156}"/>
              </a:ext>
            </a:extLst>
          </p:cNvPr>
          <p:cNvPicPr>
            <a:picLocks noChangeAspect="1"/>
          </p:cNvPicPr>
          <p:nvPr/>
        </p:nvPicPr>
        <p:blipFill>
          <a:blip r:embed="rId3"/>
          <a:stretch>
            <a:fillRect/>
          </a:stretch>
        </p:blipFill>
        <p:spPr>
          <a:xfrm>
            <a:off x="295275" y="1003197"/>
            <a:ext cx="10700274" cy="3036948"/>
          </a:xfrm>
          <a:prstGeom prst="rect">
            <a:avLst/>
          </a:prstGeom>
        </p:spPr>
      </p:pic>
    </p:spTree>
    <p:extLst>
      <p:ext uri="{BB962C8B-B14F-4D97-AF65-F5344CB8AC3E}">
        <p14:creationId xmlns:p14="http://schemas.microsoft.com/office/powerpoint/2010/main" val="12000137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Rotational Equilibrium</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90507"/>
            <a:ext cx="3779478" cy="319722"/>
          </a:xfrm>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156311" y="5696255"/>
            <a:ext cx="11977133" cy="885562"/>
          </a:xfrm>
          <a:prstGeom prst="rect">
            <a:avLst/>
          </a:prstGeom>
          <a:solidFill>
            <a:schemeClr val="bg1"/>
          </a:solidFill>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8" name="Text Placeholder 3">
            <a:extLst>
              <a:ext uri="{FF2B5EF4-FFF2-40B4-BE49-F238E27FC236}">
                <a16:creationId xmlns:a16="http://schemas.microsoft.com/office/drawing/2014/main" id="{7E11F69C-68AB-4B11-9E75-0C0F6E869F68}"/>
              </a:ext>
            </a:extLst>
          </p:cNvPr>
          <p:cNvSpPr txBox="1">
            <a:spLocks/>
          </p:cNvSpPr>
          <p:nvPr/>
        </p:nvSpPr>
        <p:spPr>
          <a:xfrm>
            <a:off x="295274" y="914330"/>
            <a:ext cx="11896725"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AU" sz="2400" b="0" dirty="0"/>
              <a:t>Torque, like force, has a direction. As the torque is a turning effect, the torque is either </a:t>
            </a:r>
            <a:r>
              <a:rPr lang="en-AU" sz="2400" dirty="0"/>
              <a:t>clockwise </a:t>
            </a:r>
            <a:r>
              <a:rPr lang="en-AU" sz="2400" b="0" dirty="0"/>
              <a:t>(CW) or </a:t>
            </a:r>
            <a:r>
              <a:rPr lang="en-AU" sz="2400" dirty="0"/>
              <a:t>anticlockwise </a:t>
            </a:r>
            <a:r>
              <a:rPr lang="en-AU" sz="2400" b="0" dirty="0"/>
              <a:t>(ACW).</a:t>
            </a:r>
          </a:p>
          <a:p>
            <a:pPr algn="just"/>
            <a:r>
              <a:rPr lang="en-AU" sz="2400" b="0" dirty="0"/>
              <a:t>Imagine the lever is the hand of a clock: if it is moving in the correct direction, it is clockwise.</a:t>
            </a:r>
          </a:p>
          <a:p>
            <a:pPr algn="just"/>
            <a:endParaRPr lang="en-AU" sz="2400" b="0" dirty="0"/>
          </a:p>
          <a:p>
            <a:pPr algn="just"/>
            <a:endParaRPr lang="en-AU" sz="2400" b="0" dirty="0"/>
          </a:p>
          <a:p>
            <a:pPr algn="just"/>
            <a:endParaRPr lang="en-AU" sz="2400" b="0" dirty="0"/>
          </a:p>
          <a:p>
            <a:pPr algn="just"/>
            <a:endParaRPr lang="en-AU" sz="2400" b="0" dirty="0"/>
          </a:p>
          <a:p>
            <a:pPr algn="just"/>
            <a:r>
              <a:rPr lang="en-AU" sz="2400" b="0" dirty="0"/>
              <a:t> </a:t>
            </a:r>
          </a:p>
        </p:txBody>
      </p:sp>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98508" y="2995284"/>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3600" b="0" dirty="0"/>
          </a:p>
        </p:txBody>
      </p:sp>
      <p:sp>
        <p:nvSpPr>
          <p:cNvPr id="5" name="Rectangle 4">
            <a:extLst>
              <a:ext uri="{FF2B5EF4-FFF2-40B4-BE49-F238E27FC236}">
                <a16:creationId xmlns:a16="http://schemas.microsoft.com/office/drawing/2014/main" id="{C9533ABF-60D4-8D36-2726-3CBE232DE181}"/>
              </a:ext>
            </a:extLst>
          </p:cNvPr>
          <p:cNvSpPr/>
          <p:nvPr/>
        </p:nvSpPr>
        <p:spPr>
          <a:xfrm>
            <a:off x="1415123" y="3272710"/>
            <a:ext cx="4114800" cy="662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Isosceles Triangle 5">
            <a:extLst>
              <a:ext uri="{FF2B5EF4-FFF2-40B4-BE49-F238E27FC236}">
                <a16:creationId xmlns:a16="http://schemas.microsoft.com/office/drawing/2014/main" id="{9B87376D-798A-0480-FE13-086E34A1922A}"/>
              </a:ext>
            </a:extLst>
          </p:cNvPr>
          <p:cNvSpPr/>
          <p:nvPr/>
        </p:nvSpPr>
        <p:spPr>
          <a:xfrm>
            <a:off x="3338704" y="3357787"/>
            <a:ext cx="317872" cy="274028"/>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Rectangle 6">
            <a:extLst>
              <a:ext uri="{FF2B5EF4-FFF2-40B4-BE49-F238E27FC236}">
                <a16:creationId xmlns:a16="http://schemas.microsoft.com/office/drawing/2014/main" id="{E8A9146F-6C05-0080-B71D-A1545B14CB61}"/>
              </a:ext>
            </a:extLst>
          </p:cNvPr>
          <p:cNvSpPr/>
          <p:nvPr/>
        </p:nvSpPr>
        <p:spPr>
          <a:xfrm>
            <a:off x="1575143" y="2838370"/>
            <a:ext cx="274320" cy="434445"/>
          </a:xfrm>
          <a:prstGeom prst="rect">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9" name="Straight Arrow Connector 8">
            <a:extLst>
              <a:ext uri="{FF2B5EF4-FFF2-40B4-BE49-F238E27FC236}">
                <a16:creationId xmlns:a16="http://schemas.microsoft.com/office/drawing/2014/main" id="{F6A5AAA1-326C-4602-7252-41632C75E0CB}"/>
              </a:ext>
            </a:extLst>
          </p:cNvPr>
          <p:cNvCxnSpPr/>
          <p:nvPr/>
        </p:nvCxnSpPr>
        <p:spPr>
          <a:xfrm>
            <a:off x="1710398" y="3101260"/>
            <a:ext cx="0" cy="662940"/>
          </a:xfrm>
          <a:prstGeom prst="straightConnector1">
            <a:avLst/>
          </a:prstGeom>
          <a:ln w="1905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19F5F160-4A80-4526-74D9-F65113D2F7AC}"/>
              </a:ext>
            </a:extLst>
          </p:cNvPr>
          <p:cNvSpPr txBox="1"/>
          <p:nvPr/>
        </p:nvSpPr>
        <p:spPr>
          <a:xfrm>
            <a:off x="1339419" y="3382899"/>
            <a:ext cx="468455" cy="369332"/>
          </a:xfrm>
          <a:prstGeom prst="rect">
            <a:avLst/>
          </a:prstGeom>
          <a:noFill/>
          <a:ln>
            <a:noFill/>
          </a:ln>
        </p:spPr>
        <p:txBody>
          <a:bodyPr wrap="square">
            <a:spAutoFit/>
          </a:bodyPr>
          <a:lstStyle/>
          <a:p>
            <a:pPr algn="just"/>
            <a:r>
              <a:rPr lang="en-AU" dirty="0">
                <a:latin typeface="Century Gothic" panose="020B0502020202020204" pitchFamily="34" charset="0"/>
              </a:rPr>
              <a:t>W</a:t>
            </a:r>
          </a:p>
        </p:txBody>
      </p:sp>
      <p:sp>
        <p:nvSpPr>
          <p:cNvPr id="13" name="Rectangle 12">
            <a:extLst>
              <a:ext uri="{FF2B5EF4-FFF2-40B4-BE49-F238E27FC236}">
                <a16:creationId xmlns:a16="http://schemas.microsoft.com/office/drawing/2014/main" id="{F1E6719D-9F0B-AA3F-058D-0ADFE2411DE9}"/>
              </a:ext>
            </a:extLst>
          </p:cNvPr>
          <p:cNvSpPr/>
          <p:nvPr/>
        </p:nvSpPr>
        <p:spPr>
          <a:xfrm>
            <a:off x="6662079" y="3239692"/>
            <a:ext cx="4114800" cy="662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5" name="Isosceles Triangle 14">
            <a:extLst>
              <a:ext uri="{FF2B5EF4-FFF2-40B4-BE49-F238E27FC236}">
                <a16:creationId xmlns:a16="http://schemas.microsoft.com/office/drawing/2014/main" id="{3B7B9192-F0E0-FB56-028D-0F79B140A374}"/>
              </a:ext>
            </a:extLst>
          </p:cNvPr>
          <p:cNvSpPr/>
          <p:nvPr/>
        </p:nvSpPr>
        <p:spPr>
          <a:xfrm>
            <a:off x="8586143" y="3325157"/>
            <a:ext cx="317872" cy="274028"/>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25" name="Group 24">
            <a:extLst>
              <a:ext uri="{FF2B5EF4-FFF2-40B4-BE49-F238E27FC236}">
                <a16:creationId xmlns:a16="http://schemas.microsoft.com/office/drawing/2014/main" id="{2F76A019-F367-FE06-04A7-839BDBDFF7EA}"/>
              </a:ext>
            </a:extLst>
          </p:cNvPr>
          <p:cNvGrpSpPr/>
          <p:nvPr/>
        </p:nvGrpSpPr>
        <p:grpSpPr>
          <a:xfrm>
            <a:off x="10168976" y="2794605"/>
            <a:ext cx="510044" cy="925830"/>
            <a:chOff x="1206683" y="4434462"/>
            <a:chExt cx="510044" cy="925830"/>
          </a:xfrm>
        </p:grpSpPr>
        <p:sp>
          <p:nvSpPr>
            <p:cNvPr id="18" name="Rectangle 17">
              <a:extLst>
                <a:ext uri="{FF2B5EF4-FFF2-40B4-BE49-F238E27FC236}">
                  <a16:creationId xmlns:a16="http://schemas.microsoft.com/office/drawing/2014/main" id="{0A7B59FE-02E4-AED8-DC5D-856CA82DD820}"/>
                </a:ext>
              </a:extLst>
            </p:cNvPr>
            <p:cNvSpPr/>
            <p:nvPr/>
          </p:nvSpPr>
          <p:spPr>
            <a:xfrm>
              <a:off x="1442407" y="4434462"/>
              <a:ext cx="274320" cy="434445"/>
            </a:xfrm>
            <a:prstGeom prst="rect">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21" name="Straight Arrow Connector 20">
              <a:extLst>
                <a:ext uri="{FF2B5EF4-FFF2-40B4-BE49-F238E27FC236}">
                  <a16:creationId xmlns:a16="http://schemas.microsoft.com/office/drawing/2014/main" id="{A739BAC4-FD6D-D51E-3A98-4228AFF74D5A}"/>
                </a:ext>
              </a:extLst>
            </p:cNvPr>
            <p:cNvCxnSpPr/>
            <p:nvPr/>
          </p:nvCxnSpPr>
          <p:spPr>
            <a:xfrm>
              <a:off x="1577662" y="4697352"/>
              <a:ext cx="0" cy="662940"/>
            </a:xfrm>
            <a:prstGeom prst="straightConnector1">
              <a:avLst/>
            </a:prstGeom>
            <a:ln w="1905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59BDEF90-4EDF-69E8-1B75-36CD5026E7DA}"/>
                </a:ext>
              </a:extLst>
            </p:cNvPr>
            <p:cNvSpPr txBox="1"/>
            <p:nvPr/>
          </p:nvSpPr>
          <p:spPr>
            <a:xfrm>
              <a:off x="1206683" y="4978991"/>
              <a:ext cx="468455" cy="369332"/>
            </a:xfrm>
            <a:prstGeom prst="rect">
              <a:avLst/>
            </a:prstGeom>
            <a:noFill/>
            <a:ln>
              <a:noFill/>
            </a:ln>
          </p:spPr>
          <p:txBody>
            <a:bodyPr wrap="square">
              <a:spAutoFit/>
            </a:bodyPr>
            <a:lstStyle/>
            <a:p>
              <a:pPr algn="just"/>
              <a:r>
                <a:rPr lang="en-AU" dirty="0">
                  <a:latin typeface="Century Gothic" panose="020B0502020202020204" pitchFamily="34" charset="0"/>
                </a:rPr>
                <a:t>W</a:t>
              </a:r>
            </a:p>
          </p:txBody>
        </p:sp>
      </p:grpSp>
      <p:grpSp>
        <p:nvGrpSpPr>
          <p:cNvPr id="40" name="Group 39">
            <a:extLst>
              <a:ext uri="{FF2B5EF4-FFF2-40B4-BE49-F238E27FC236}">
                <a16:creationId xmlns:a16="http://schemas.microsoft.com/office/drawing/2014/main" id="{C39F2140-C691-BF6F-0B23-AD899D878A21}"/>
              </a:ext>
            </a:extLst>
          </p:cNvPr>
          <p:cNvGrpSpPr/>
          <p:nvPr/>
        </p:nvGrpSpPr>
        <p:grpSpPr>
          <a:xfrm>
            <a:off x="115261" y="4740595"/>
            <a:ext cx="5414662" cy="1361221"/>
            <a:chOff x="115261" y="4740595"/>
            <a:chExt cx="5414662" cy="1361221"/>
          </a:xfrm>
        </p:grpSpPr>
        <p:sp>
          <p:nvSpPr>
            <p:cNvPr id="8" name="Rectangle 7">
              <a:extLst>
                <a:ext uri="{FF2B5EF4-FFF2-40B4-BE49-F238E27FC236}">
                  <a16:creationId xmlns:a16="http://schemas.microsoft.com/office/drawing/2014/main" id="{A4A9B2B3-0714-E891-788A-103EC086203E}"/>
                </a:ext>
              </a:extLst>
            </p:cNvPr>
            <p:cNvSpPr/>
            <p:nvPr/>
          </p:nvSpPr>
          <p:spPr>
            <a:xfrm rot="20952723">
              <a:off x="1415123" y="5260604"/>
              <a:ext cx="4114800" cy="662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4" name="Isosceles Triangle 13">
              <a:extLst>
                <a:ext uri="{FF2B5EF4-FFF2-40B4-BE49-F238E27FC236}">
                  <a16:creationId xmlns:a16="http://schemas.microsoft.com/office/drawing/2014/main" id="{3670DE54-2963-FE3D-5136-6969E4A34EE9}"/>
                </a:ext>
              </a:extLst>
            </p:cNvPr>
            <p:cNvSpPr/>
            <p:nvPr/>
          </p:nvSpPr>
          <p:spPr>
            <a:xfrm>
              <a:off x="3298392" y="5333254"/>
              <a:ext cx="317872" cy="274028"/>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27" name="Group 26">
              <a:extLst>
                <a:ext uri="{FF2B5EF4-FFF2-40B4-BE49-F238E27FC236}">
                  <a16:creationId xmlns:a16="http://schemas.microsoft.com/office/drawing/2014/main" id="{3844CC47-4DC3-7417-D450-F5A7A2196658}"/>
                </a:ext>
              </a:extLst>
            </p:cNvPr>
            <p:cNvGrpSpPr/>
            <p:nvPr/>
          </p:nvGrpSpPr>
          <p:grpSpPr>
            <a:xfrm rot="20837268">
              <a:off x="1435034" y="5175986"/>
              <a:ext cx="510044" cy="925830"/>
              <a:chOff x="1339419" y="4826264"/>
              <a:chExt cx="510044" cy="925830"/>
            </a:xfrm>
          </p:grpSpPr>
          <p:sp>
            <p:nvSpPr>
              <p:cNvPr id="16" name="Rectangle 15">
                <a:extLst>
                  <a:ext uri="{FF2B5EF4-FFF2-40B4-BE49-F238E27FC236}">
                    <a16:creationId xmlns:a16="http://schemas.microsoft.com/office/drawing/2014/main" id="{32334840-401A-FEF5-5789-F65CEE80D93A}"/>
                  </a:ext>
                </a:extLst>
              </p:cNvPr>
              <p:cNvSpPr/>
              <p:nvPr/>
            </p:nvSpPr>
            <p:spPr>
              <a:xfrm>
                <a:off x="1575143" y="4826264"/>
                <a:ext cx="274320" cy="434445"/>
              </a:xfrm>
              <a:prstGeom prst="rect">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17" name="Straight Arrow Connector 16">
                <a:extLst>
                  <a:ext uri="{FF2B5EF4-FFF2-40B4-BE49-F238E27FC236}">
                    <a16:creationId xmlns:a16="http://schemas.microsoft.com/office/drawing/2014/main" id="{74150B58-A811-D79A-B147-10E5714C26FF}"/>
                  </a:ext>
                </a:extLst>
              </p:cNvPr>
              <p:cNvCxnSpPr/>
              <p:nvPr/>
            </p:nvCxnSpPr>
            <p:spPr>
              <a:xfrm>
                <a:off x="1710398" y="5089154"/>
                <a:ext cx="0" cy="662940"/>
              </a:xfrm>
              <a:prstGeom prst="straightConnector1">
                <a:avLst/>
              </a:prstGeom>
              <a:ln w="1905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70BCC3D5-1D14-6932-F1B6-22FCA3D24416}"/>
                  </a:ext>
                </a:extLst>
              </p:cNvPr>
              <p:cNvSpPr txBox="1"/>
              <p:nvPr/>
            </p:nvSpPr>
            <p:spPr>
              <a:xfrm>
                <a:off x="1339419" y="5370793"/>
                <a:ext cx="468455" cy="369332"/>
              </a:xfrm>
              <a:prstGeom prst="rect">
                <a:avLst/>
              </a:prstGeom>
              <a:noFill/>
              <a:ln>
                <a:noFill/>
              </a:ln>
            </p:spPr>
            <p:txBody>
              <a:bodyPr wrap="square">
                <a:spAutoFit/>
              </a:bodyPr>
              <a:lstStyle/>
              <a:p>
                <a:pPr algn="just"/>
                <a:r>
                  <a:rPr lang="en-AU" dirty="0">
                    <a:latin typeface="Century Gothic" panose="020B0502020202020204" pitchFamily="34" charset="0"/>
                  </a:rPr>
                  <a:t>W</a:t>
                </a:r>
              </a:p>
            </p:txBody>
          </p:sp>
        </p:grpSp>
        <p:sp>
          <p:nvSpPr>
            <p:cNvPr id="20" name="Arrow: Curved Right 19">
              <a:extLst>
                <a:ext uri="{FF2B5EF4-FFF2-40B4-BE49-F238E27FC236}">
                  <a16:creationId xmlns:a16="http://schemas.microsoft.com/office/drawing/2014/main" id="{8FAC2DA3-2C49-6CEF-10CC-3417004C5883}"/>
                </a:ext>
              </a:extLst>
            </p:cNvPr>
            <p:cNvSpPr/>
            <p:nvPr/>
          </p:nvSpPr>
          <p:spPr>
            <a:xfrm>
              <a:off x="879042" y="4740595"/>
              <a:ext cx="468453" cy="1299343"/>
            </a:xfrm>
            <a:prstGeom prst="curved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tx1"/>
                </a:solidFill>
              </a:endParaRPr>
            </a:p>
          </p:txBody>
        </p:sp>
        <p:sp>
          <p:nvSpPr>
            <p:cNvPr id="26" name="TextBox 25">
              <a:extLst>
                <a:ext uri="{FF2B5EF4-FFF2-40B4-BE49-F238E27FC236}">
                  <a16:creationId xmlns:a16="http://schemas.microsoft.com/office/drawing/2014/main" id="{AAD67EB5-A4B6-E62F-B943-1FAFA32F4251}"/>
                </a:ext>
              </a:extLst>
            </p:cNvPr>
            <p:cNvSpPr txBox="1"/>
            <p:nvPr/>
          </p:nvSpPr>
          <p:spPr>
            <a:xfrm>
              <a:off x="115261" y="5142183"/>
              <a:ext cx="844032" cy="369332"/>
            </a:xfrm>
            <a:prstGeom prst="rect">
              <a:avLst/>
            </a:prstGeom>
            <a:noFill/>
            <a:ln>
              <a:noFill/>
            </a:ln>
          </p:spPr>
          <p:txBody>
            <a:bodyPr wrap="square">
              <a:spAutoFit/>
            </a:bodyPr>
            <a:lstStyle/>
            <a:p>
              <a:pPr algn="just"/>
              <a:r>
                <a:rPr lang="en-AU" dirty="0">
                  <a:latin typeface="Century Gothic" panose="020B0502020202020204" pitchFamily="34" charset="0"/>
                </a:rPr>
                <a:t>ACW</a:t>
              </a:r>
            </a:p>
          </p:txBody>
        </p:sp>
      </p:grpSp>
      <p:grpSp>
        <p:nvGrpSpPr>
          <p:cNvPr id="41" name="Group 40">
            <a:extLst>
              <a:ext uri="{FF2B5EF4-FFF2-40B4-BE49-F238E27FC236}">
                <a16:creationId xmlns:a16="http://schemas.microsoft.com/office/drawing/2014/main" id="{A9598CE4-4F0E-BE63-5E78-F42F4B3241F0}"/>
              </a:ext>
            </a:extLst>
          </p:cNvPr>
          <p:cNvGrpSpPr/>
          <p:nvPr/>
        </p:nvGrpSpPr>
        <p:grpSpPr>
          <a:xfrm>
            <a:off x="6647560" y="4725028"/>
            <a:ext cx="5567488" cy="1386468"/>
            <a:chOff x="6617956" y="4441094"/>
            <a:chExt cx="5567488" cy="1386468"/>
          </a:xfrm>
        </p:grpSpPr>
        <p:sp>
          <p:nvSpPr>
            <p:cNvPr id="30" name="Rectangle 29">
              <a:extLst>
                <a:ext uri="{FF2B5EF4-FFF2-40B4-BE49-F238E27FC236}">
                  <a16:creationId xmlns:a16="http://schemas.microsoft.com/office/drawing/2014/main" id="{9643F696-8475-81FF-DEF9-7D1AB86FC8F0}"/>
                </a:ext>
              </a:extLst>
            </p:cNvPr>
            <p:cNvSpPr/>
            <p:nvPr/>
          </p:nvSpPr>
          <p:spPr>
            <a:xfrm rot="688344">
              <a:off x="6617956" y="5024521"/>
              <a:ext cx="4114800" cy="662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1" name="Isosceles Triangle 30">
              <a:extLst>
                <a:ext uri="{FF2B5EF4-FFF2-40B4-BE49-F238E27FC236}">
                  <a16:creationId xmlns:a16="http://schemas.microsoft.com/office/drawing/2014/main" id="{FD9D34C4-B952-2473-448B-556E70F1CFCA}"/>
                </a:ext>
              </a:extLst>
            </p:cNvPr>
            <p:cNvSpPr/>
            <p:nvPr/>
          </p:nvSpPr>
          <p:spPr>
            <a:xfrm>
              <a:off x="8516420" y="5065804"/>
              <a:ext cx="317872" cy="274028"/>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32" name="Group 31">
              <a:extLst>
                <a:ext uri="{FF2B5EF4-FFF2-40B4-BE49-F238E27FC236}">
                  <a16:creationId xmlns:a16="http://schemas.microsoft.com/office/drawing/2014/main" id="{20DEDFA5-4975-B7E6-77E7-E54076AB75CA}"/>
                </a:ext>
              </a:extLst>
            </p:cNvPr>
            <p:cNvGrpSpPr/>
            <p:nvPr/>
          </p:nvGrpSpPr>
          <p:grpSpPr>
            <a:xfrm rot="831322">
              <a:off x="10023952" y="4901732"/>
              <a:ext cx="510044" cy="925830"/>
              <a:chOff x="1206683" y="4434462"/>
              <a:chExt cx="510044" cy="925830"/>
            </a:xfrm>
          </p:grpSpPr>
          <p:sp>
            <p:nvSpPr>
              <p:cNvPr id="33" name="Rectangle 32">
                <a:extLst>
                  <a:ext uri="{FF2B5EF4-FFF2-40B4-BE49-F238E27FC236}">
                    <a16:creationId xmlns:a16="http://schemas.microsoft.com/office/drawing/2014/main" id="{39548619-673D-BD3E-0C87-00FDCC21C3E4}"/>
                  </a:ext>
                </a:extLst>
              </p:cNvPr>
              <p:cNvSpPr/>
              <p:nvPr/>
            </p:nvSpPr>
            <p:spPr>
              <a:xfrm>
                <a:off x="1442407" y="4434462"/>
                <a:ext cx="274320" cy="434445"/>
              </a:xfrm>
              <a:prstGeom prst="rect">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34" name="Straight Arrow Connector 33">
                <a:extLst>
                  <a:ext uri="{FF2B5EF4-FFF2-40B4-BE49-F238E27FC236}">
                    <a16:creationId xmlns:a16="http://schemas.microsoft.com/office/drawing/2014/main" id="{1A28A1EC-539C-0AD3-9EFD-5A928ACCB418}"/>
                  </a:ext>
                </a:extLst>
              </p:cNvPr>
              <p:cNvCxnSpPr/>
              <p:nvPr/>
            </p:nvCxnSpPr>
            <p:spPr>
              <a:xfrm>
                <a:off x="1577662" y="4697352"/>
                <a:ext cx="0" cy="662940"/>
              </a:xfrm>
              <a:prstGeom prst="straightConnector1">
                <a:avLst/>
              </a:prstGeom>
              <a:ln w="1905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CDBDAF8E-5AA2-D1A1-4528-FA8C30DD8A5D}"/>
                  </a:ext>
                </a:extLst>
              </p:cNvPr>
              <p:cNvSpPr txBox="1"/>
              <p:nvPr/>
            </p:nvSpPr>
            <p:spPr>
              <a:xfrm>
                <a:off x="1206683" y="4978991"/>
                <a:ext cx="468455" cy="369332"/>
              </a:xfrm>
              <a:prstGeom prst="rect">
                <a:avLst/>
              </a:prstGeom>
              <a:noFill/>
              <a:ln>
                <a:noFill/>
              </a:ln>
            </p:spPr>
            <p:txBody>
              <a:bodyPr wrap="square">
                <a:spAutoFit/>
              </a:bodyPr>
              <a:lstStyle/>
              <a:p>
                <a:pPr algn="just"/>
                <a:r>
                  <a:rPr lang="en-AU" dirty="0">
                    <a:latin typeface="Century Gothic" panose="020B0502020202020204" pitchFamily="34" charset="0"/>
                  </a:rPr>
                  <a:t>W</a:t>
                </a:r>
              </a:p>
            </p:txBody>
          </p:sp>
        </p:grpSp>
        <p:sp>
          <p:nvSpPr>
            <p:cNvPr id="36" name="Arrow: Curved Right 35">
              <a:extLst>
                <a:ext uri="{FF2B5EF4-FFF2-40B4-BE49-F238E27FC236}">
                  <a16:creationId xmlns:a16="http://schemas.microsoft.com/office/drawing/2014/main" id="{D4EB4F45-8AD0-4EC8-4C83-05FCA9105D10}"/>
                </a:ext>
              </a:extLst>
            </p:cNvPr>
            <p:cNvSpPr/>
            <p:nvPr/>
          </p:nvSpPr>
          <p:spPr>
            <a:xfrm flipH="1">
              <a:off x="10794764" y="4441094"/>
              <a:ext cx="468453" cy="1299343"/>
            </a:xfrm>
            <a:prstGeom prst="curved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tx1"/>
                </a:solidFill>
              </a:endParaRPr>
            </a:p>
          </p:txBody>
        </p:sp>
        <p:sp>
          <p:nvSpPr>
            <p:cNvPr id="38" name="TextBox 37">
              <a:extLst>
                <a:ext uri="{FF2B5EF4-FFF2-40B4-BE49-F238E27FC236}">
                  <a16:creationId xmlns:a16="http://schemas.microsoft.com/office/drawing/2014/main" id="{9C07A92A-622B-5D42-264B-26BF151F387A}"/>
                </a:ext>
              </a:extLst>
            </p:cNvPr>
            <p:cNvSpPr txBox="1"/>
            <p:nvPr/>
          </p:nvSpPr>
          <p:spPr>
            <a:xfrm>
              <a:off x="11341412" y="4877668"/>
              <a:ext cx="844032" cy="369332"/>
            </a:xfrm>
            <a:prstGeom prst="rect">
              <a:avLst/>
            </a:prstGeom>
            <a:noFill/>
            <a:ln>
              <a:noFill/>
            </a:ln>
          </p:spPr>
          <p:txBody>
            <a:bodyPr wrap="square">
              <a:spAutoFit/>
            </a:bodyPr>
            <a:lstStyle/>
            <a:p>
              <a:pPr algn="just"/>
              <a:r>
                <a:rPr lang="en-AU" dirty="0">
                  <a:latin typeface="Century Gothic" panose="020B0502020202020204" pitchFamily="34" charset="0"/>
                </a:rPr>
                <a:t>CW</a:t>
              </a:r>
            </a:p>
          </p:txBody>
        </p:sp>
      </p:grpSp>
      <p:grpSp>
        <p:nvGrpSpPr>
          <p:cNvPr id="11" name="Group 10">
            <a:extLst>
              <a:ext uri="{FF2B5EF4-FFF2-40B4-BE49-F238E27FC236}">
                <a16:creationId xmlns:a16="http://schemas.microsoft.com/office/drawing/2014/main" id="{0FA2AF97-BACE-054B-E8D7-32EE5F7F82A5}"/>
              </a:ext>
            </a:extLst>
          </p:cNvPr>
          <p:cNvGrpSpPr/>
          <p:nvPr/>
        </p:nvGrpSpPr>
        <p:grpSpPr>
          <a:xfrm>
            <a:off x="4088443" y="2639831"/>
            <a:ext cx="3947604" cy="2960703"/>
            <a:chOff x="4088443" y="2639831"/>
            <a:chExt cx="3947604" cy="2960703"/>
          </a:xfrm>
        </p:grpSpPr>
        <p:pic>
          <p:nvPicPr>
            <p:cNvPr id="39" name="Picture 38">
              <a:extLst>
                <a:ext uri="{FF2B5EF4-FFF2-40B4-BE49-F238E27FC236}">
                  <a16:creationId xmlns:a16="http://schemas.microsoft.com/office/drawing/2014/main" id="{76B3176C-69BF-74FA-230C-670DF86FC63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88443" y="2639831"/>
              <a:ext cx="3947604" cy="2960703"/>
            </a:xfrm>
            <a:prstGeom prst="rect">
              <a:avLst/>
            </a:prstGeom>
            <a:ln>
              <a:solidFill>
                <a:schemeClr val="tx1"/>
              </a:solidFill>
            </a:ln>
          </p:spPr>
        </p:pic>
        <p:sp>
          <p:nvSpPr>
            <p:cNvPr id="3" name="Rectangle 2">
              <a:extLst>
                <a:ext uri="{FF2B5EF4-FFF2-40B4-BE49-F238E27FC236}">
                  <a16:creationId xmlns:a16="http://schemas.microsoft.com/office/drawing/2014/main" id="{A922BE1F-6D4A-CC43-4145-D996B3EE50FF}"/>
                </a:ext>
              </a:extLst>
            </p:cNvPr>
            <p:cNvSpPr/>
            <p:nvPr/>
          </p:nvSpPr>
          <p:spPr>
            <a:xfrm>
              <a:off x="6908800" y="4210699"/>
              <a:ext cx="863600" cy="1962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Tree>
    <p:extLst>
      <p:ext uri="{BB962C8B-B14F-4D97-AF65-F5344CB8AC3E}">
        <p14:creationId xmlns:p14="http://schemas.microsoft.com/office/powerpoint/2010/main" val="25131480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Rotational Equilibrium</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90507"/>
            <a:ext cx="3779478" cy="319722"/>
          </a:xfrm>
        </p:spPr>
        <p:txBody>
          <a:bodyPr/>
          <a:lstStyle/>
          <a:p>
            <a:r>
              <a:rPr lang="en-AU" dirty="0"/>
              <a:t>Content Development</a:t>
            </a:r>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8" name="Text Placeholder 3">
            <a:extLst>
              <a:ext uri="{FF2B5EF4-FFF2-40B4-BE49-F238E27FC236}">
                <a16:creationId xmlns:a16="http://schemas.microsoft.com/office/drawing/2014/main" id="{7E11F69C-68AB-4B11-9E75-0C0F6E869F68}"/>
              </a:ext>
            </a:extLst>
          </p:cNvPr>
          <p:cNvSpPr txBox="1">
            <a:spLocks/>
          </p:cNvSpPr>
          <p:nvPr/>
        </p:nvSpPr>
        <p:spPr>
          <a:xfrm>
            <a:off x="295274" y="914330"/>
            <a:ext cx="11896725"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AU" sz="2400" b="0" dirty="0"/>
              <a:t>If the clockwise torque equals to anticlockwise torque, the lever will not rotate.</a:t>
            </a:r>
          </a:p>
          <a:p>
            <a:pPr algn="just"/>
            <a:r>
              <a:rPr lang="en-AU" sz="2400" b="0" dirty="0"/>
              <a:t>This is known as </a:t>
            </a:r>
            <a:r>
              <a:rPr lang="en-AU" sz="2400" dirty="0"/>
              <a:t>rotational equilibrium</a:t>
            </a:r>
            <a:r>
              <a:rPr lang="en-AU" sz="2400" b="0" dirty="0"/>
              <a:t>.</a:t>
            </a:r>
          </a:p>
          <a:p>
            <a:pPr algn="just"/>
            <a:endParaRPr lang="en-AU" sz="2400" b="0" dirty="0"/>
          </a:p>
          <a:p>
            <a:pPr algn="just"/>
            <a:endParaRPr lang="en-AU" sz="2400" b="0" dirty="0"/>
          </a:p>
          <a:p>
            <a:pPr algn="just"/>
            <a:endParaRPr lang="en-AU" sz="2400" b="0" dirty="0"/>
          </a:p>
          <a:p>
            <a:pPr algn="just"/>
            <a:endParaRPr lang="en-AU" sz="2400" b="0" dirty="0"/>
          </a:p>
          <a:p>
            <a:pPr algn="just"/>
            <a:r>
              <a:rPr lang="en-AU" sz="2400" b="0" dirty="0"/>
              <a:t> </a:t>
            </a:r>
          </a:p>
        </p:txBody>
      </p:sp>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156311" y="2395589"/>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3600" b="0" dirty="0"/>
          </a:p>
        </p:txBody>
      </p:sp>
      <p:sp>
        <p:nvSpPr>
          <p:cNvPr id="5" name="Rectangle 4">
            <a:extLst>
              <a:ext uri="{FF2B5EF4-FFF2-40B4-BE49-F238E27FC236}">
                <a16:creationId xmlns:a16="http://schemas.microsoft.com/office/drawing/2014/main" id="{C9533ABF-60D4-8D36-2726-3CBE232DE181}"/>
              </a:ext>
            </a:extLst>
          </p:cNvPr>
          <p:cNvSpPr/>
          <p:nvPr/>
        </p:nvSpPr>
        <p:spPr>
          <a:xfrm>
            <a:off x="1472926" y="2673015"/>
            <a:ext cx="4114800" cy="662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Isosceles Triangle 5">
            <a:extLst>
              <a:ext uri="{FF2B5EF4-FFF2-40B4-BE49-F238E27FC236}">
                <a16:creationId xmlns:a16="http://schemas.microsoft.com/office/drawing/2014/main" id="{9B87376D-798A-0480-FE13-086E34A1922A}"/>
              </a:ext>
            </a:extLst>
          </p:cNvPr>
          <p:cNvSpPr/>
          <p:nvPr/>
        </p:nvSpPr>
        <p:spPr>
          <a:xfrm>
            <a:off x="3396507" y="2758092"/>
            <a:ext cx="317872" cy="274028"/>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Rectangle 6">
            <a:extLst>
              <a:ext uri="{FF2B5EF4-FFF2-40B4-BE49-F238E27FC236}">
                <a16:creationId xmlns:a16="http://schemas.microsoft.com/office/drawing/2014/main" id="{E8A9146F-6C05-0080-B71D-A1545B14CB61}"/>
              </a:ext>
            </a:extLst>
          </p:cNvPr>
          <p:cNvSpPr/>
          <p:nvPr/>
        </p:nvSpPr>
        <p:spPr>
          <a:xfrm>
            <a:off x="1632946" y="2238675"/>
            <a:ext cx="274320" cy="434445"/>
          </a:xfrm>
          <a:prstGeom prst="rect">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9" name="Straight Arrow Connector 8">
            <a:extLst>
              <a:ext uri="{FF2B5EF4-FFF2-40B4-BE49-F238E27FC236}">
                <a16:creationId xmlns:a16="http://schemas.microsoft.com/office/drawing/2014/main" id="{F6A5AAA1-326C-4602-7252-41632C75E0CB}"/>
              </a:ext>
            </a:extLst>
          </p:cNvPr>
          <p:cNvCxnSpPr/>
          <p:nvPr/>
        </p:nvCxnSpPr>
        <p:spPr>
          <a:xfrm>
            <a:off x="1768201" y="2501565"/>
            <a:ext cx="0" cy="662940"/>
          </a:xfrm>
          <a:prstGeom prst="straightConnector1">
            <a:avLst/>
          </a:prstGeom>
          <a:ln w="1905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19F5F160-4A80-4526-74D9-F65113D2F7AC}"/>
              </a:ext>
            </a:extLst>
          </p:cNvPr>
          <p:cNvSpPr txBox="1"/>
          <p:nvPr/>
        </p:nvSpPr>
        <p:spPr>
          <a:xfrm>
            <a:off x="1397222" y="2783204"/>
            <a:ext cx="468455" cy="369332"/>
          </a:xfrm>
          <a:prstGeom prst="rect">
            <a:avLst/>
          </a:prstGeom>
          <a:noFill/>
          <a:ln>
            <a:noFill/>
          </a:ln>
        </p:spPr>
        <p:txBody>
          <a:bodyPr wrap="square">
            <a:spAutoFit/>
          </a:bodyPr>
          <a:lstStyle/>
          <a:p>
            <a:pPr algn="just"/>
            <a:r>
              <a:rPr lang="en-AU" dirty="0">
                <a:latin typeface="Century Gothic" panose="020B0502020202020204" pitchFamily="34" charset="0"/>
              </a:rPr>
              <a:t>W</a:t>
            </a:r>
          </a:p>
        </p:txBody>
      </p:sp>
      <p:sp>
        <p:nvSpPr>
          <p:cNvPr id="3" name="Rectangle 2">
            <a:extLst>
              <a:ext uri="{FF2B5EF4-FFF2-40B4-BE49-F238E27FC236}">
                <a16:creationId xmlns:a16="http://schemas.microsoft.com/office/drawing/2014/main" id="{A7C175E9-2D63-1EDD-86F9-F34B4C98E35C}"/>
              </a:ext>
            </a:extLst>
          </p:cNvPr>
          <p:cNvSpPr/>
          <p:nvPr/>
        </p:nvSpPr>
        <p:spPr>
          <a:xfrm>
            <a:off x="5160633" y="2238570"/>
            <a:ext cx="274320" cy="434445"/>
          </a:xfrm>
          <a:prstGeom prst="rect">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11" name="Straight Arrow Connector 10">
            <a:extLst>
              <a:ext uri="{FF2B5EF4-FFF2-40B4-BE49-F238E27FC236}">
                <a16:creationId xmlns:a16="http://schemas.microsoft.com/office/drawing/2014/main" id="{97C14DA7-CF8B-61A0-D2D4-68C385F2F2CE}"/>
              </a:ext>
            </a:extLst>
          </p:cNvPr>
          <p:cNvCxnSpPr/>
          <p:nvPr/>
        </p:nvCxnSpPr>
        <p:spPr>
          <a:xfrm>
            <a:off x="5295888" y="2501460"/>
            <a:ext cx="0" cy="662940"/>
          </a:xfrm>
          <a:prstGeom prst="straightConnector1">
            <a:avLst/>
          </a:prstGeom>
          <a:ln w="1905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8ED4CAC5-61BE-B8F2-1B73-E0E09154881E}"/>
              </a:ext>
            </a:extLst>
          </p:cNvPr>
          <p:cNvSpPr txBox="1"/>
          <p:nvPr/>
        </p:nvSpPr>
        <p:spPr>
          <a:xfrm>
            <a:off x="4924909" y="2783099"/>
            <a:ext cx="468455" cy="369332"/>
          </a:xfrm>
          <a:prstGeom prst="rect">
            <a:avLst/>
          </a:prstGeom>
          <a:noFill/>
          <a:ln>
            <a:noFill/>
          </a:ln>
        </p:spPr>
        <p:txBody>
          <a:bodyPr wrap="square">
            <a:spAutoFit/>
          </a:bodyPr>
          <a:lstStyle/>
          <a:p>
            <a:pPr algn="just"/>
            <a:r>
              <a:rPr lang="en-AU" dirty="0">
                <a:latin typeface="Century Gothic" panose="020B0502020202020204" pitchFamily="34" charset="0"/>
              </a:rPr>
              <a:t>W</a:t>
            </a:r>
          </a:p>
        </p:txBody>
      </p:sp>
      <mc:AlternateContent xmlns:mc="http://schemas.openxmlformats.org/markup-compatibility/2006">
        <mc:Choice xmlns:a14="http://schemas.microsoft.com/office/drawing/2010/main" Requires="a14">
          <p:sp>
            <p:nvSpPr>
              <p:cNvPr id="24" name="TextBox 23">
                <a:extLst>
                  <a:ext uri="{FF2B5EF4-FFF2-40B4-BE49-F238E27FC236}">
                    <a16:creationId xmlns:a16="http://schemas.microsoft.com/office/drawing/2014/main" id="{CFB9693B-A291-7B76-6BE0-5668413E3992}"/>
                  </a:ext>
                </a:extLst>
              </p:cNvPr>
              <p:cNvSpPr txBox="1"/>
              <p:nvPr/>
            </p:nvSpPr>
            <p:spPr>
              <a:xfrm>
                <a:off x="6516455" y="2138073"/>
                <a:ext cx="5160269" cy="677108"/>
              </a:xfrm>
              <a:prstGeom prst="rect">
                <a:avLst/>
              </a:prstGeom>
              <a:noFill/>
              <a:ln>
                <a:no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AU" sz="4400" b="0" i="1" smtClean="0">
                          <a:solidFill>
                            <a:srgbClr val="FF0000"/>
                          </a:solidFill>
                          <a:latin typeface="Cambria Math" panose="02040503050406030204" pitchFamily="18" charset="0"/>
                          <a:ea typeface="Cambria Math" panose="02040503050406030204" pitchFamily="18" charset="0"/>
                        </a:rPr>
                        <m:t>𝜏</m:t>
                      </m:r>
                      <m:r>
                        <a:rPr lang="en-AU" sz="4400" b="0" i="1" baseline="-25000" smtClean="0">
                          <a:solidFill>
                            <a:srgbClr val="FF0000"/>
                          </a:solidFill>
                          <a:latin typeface="Cambria Math" panose="02040503050406030204" pitchFamily="18" charset="0"/>
                          <a:ea typeface="Cambria Math" panose="02040503050406030204" pitchFamily="18" charset="0"/>
                        </a:rPr>
                        <m:t>𝑐𝑤</m:t>
                      </m:r>
                      <m:r>
                        <a:rPr lang="en-AU" sz="4400" b="0" i="1" smtClean="0">
                          <a:solidFill>
                            <a:srgbClr val="FF0000"/>
                          </a:solidFill>
                          <a:latin typeface="Cambria Math" panose="02040503050406030204" pitchFamily="18" charset="0"/>
                          <a:ea typeface="Cambria Math" panose="02040503050406030204" pitchFamily="18" charset="0"/>
                        </a:rPr>
                        <m:t>=</m:t>
                      </m:r>
                      <m:r>
                        <a:rPr lang="en-AU" sz="4400" i="1">
                          <a:solidFill>
                            <a:srgbClr val="FF0000"/>
                          </a:solidFill>
                          <a:latin typeface="Cambria Math" panose="02040503050406030204" pitchFamily="18" charset="0"/>
                          <a:ea typeface="Cambria Math" panose="02040503050406030204" pitchFamily="18" charset="0"/>
                        </a:rPr>
                        <m:t>𝜏</m:t>
                      </m:r>
                      <m:r>
                        <a:rPr lang="en-AU" sz="4400" b="0" i="1" baseline="-25000" smtClean="0">
                          <a:solidFill>
                            <a:srgbClr val="FF0000"/>
                          </a:solidFill>
                          <a:latin typeface="Cambria Math" panose="02040503050406030204" pitchFamily="18" charset="0"/>
                          <a:ea typeface="Cambria Math" panose="02040503050406030204" pitchFamily="18" charset="0"/>
                        </a:rPr>
                        <m:t>𝑎𝑐𝑤</m:t>
                      </m:r>
                    </m:oMath>
                  </m:oMathPara>
                </a14:m>
                <a:endParaRPr lang="en-AU" sz="4400" dirty="0">
                  <a:solidFill>
                    <a:srgbClr val="FF0000"/>
                  </a:solidFill>
                </a:endParaRPr>
              </a:p>
            </p:txBody>
          </p:sp>
        </mc:Choice>
        <mc:Fallback>
          <p:sp>
            <p:nvSpPr>
              <p:cNvPr id="24" name="TextBox 23">
                <a:extLst>
                  <a:ext uri="{FF2B5EF4-FFF2-40B4-BE49-F238E27FC236}">
                    <a16:creationId xmlns:a16="http://schemas.microsoft.com/office/drawing/2014/main" id="{CFB9693B-A291-7B76-6BE0-5668413E3992}"/>
                  </a:ext>
                </a:extLst>
              </p:cNvPr>
              <p:cNvSpPr txBox="1">
                <a:spLocks noRot="1" noChangeAspect="1" noMove="1" noResize="1" noEditPoints="1" noAdjustHandles="1" noChangeArrowheads="1" noChangeShapeType="1" noTextEdit="1"/>
              </p:cNvSpPr>
              <p:nvPr/>
            </p:nvSpPr>
            <p:spPr>
              <a:xfrm>
                <a:off x="6516455" y="2138073"/>
                <a:ext cx="5160269" cy="677108"/>
              </a:xfrm>
              <a:prstGeom prst="rect">
                <a:avLst/>
              </a:prstGeom>
              <a:blipFill>
                <a:blip r:embed="rId3"/>
                <a:stretch>
                  <a:fillRect b="-1802"/>
                </a:stretch>
              </a:blipFill>
              <a:ln>
                <a:noFill/>
              </a:ln>
            </p:spPr>
            <p:txBody>
              <a:bodyPr/>
              <a:lstStyle/>
              <a:p>
                <a:r>
                  <a:rPr lang="en-AU">
                    <a:noFill/>
                  </a:rPr>
                  <a:t> </a:t>
                </a:r>
              </a:p>
            </p:txBody>
          </p:sp>
        </mc:Fallback>
      </mc:AlternateContent>
      <p:sp>
        <p:nvSpPr>
          <p:cNvPr id="42" name="Text Placeholder 3">
            <a:extLst>
              <a:ext uri="{FF2B5EF4-FFF2-40B4-BE49-F238E27FC236}">
                <a16:creationId xmlns:a16="http://schemas.microsoft.com/office/drawing/2014/main" id="{95817274-D269-E712-391A-CEAF318B94F3}"/>
              </a:ext>
            </a:extLst>
          </p:cNvPr>
          <p:cNvSpPr txBox="1">
            <a:spLocks/>
          </p:cNvSpPr>
          <p:nvPr/>
        </p:nvSpPr>
        <p:spPr>
          <a:xfrm>
            <a:off x="214867" y="3865571"/>
            <a:ext cx="11896725"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AU" sz="2400" b="0" dirty="0"/>
              <a:t>You may have multiple torques acting on each side of the lever. If so, we have to identify all of the torques, classify them, and add them.</a:t>
            </a:r>
          </a:p>
          <a:p>
            <a:pPr algn="just"/>
            <a:endParaRPr lang="en-AU" sz="2400" b="0" dirty="0"/>
          </a:p>
          <a:p>
            <a:pPr algn="just"/>
            <a:r>
              <a:rPr lang="en-AU" sz="2400" b="0" dirty="0"/>
              <a:t> </a:t>
            </a:r>
          </a:p>
        </p:txBody>
      </p:sp>
      <p:grpSp>
        <p:nvGrpSpPr>
          <p:cNvPr id="8" name="Group 7">
            <a:extLst>
              <a:ext uri="{FF2B5EF4-FFF2-40B4-BE49-F238E27FC236}">
                <a16:creationId xmlns:a16="http://schemas.microsoft.com/office/drawing/2014/main" id="{28908276-6676-C157-4C2B-0158C9554C04}"/>
              </a:ext>
            </a:extLst>
          </p:cNvPr>
          <p:cNvGrpSpPr/>
          <p:nvPr/>
        </p:nvGrpSpPr>
        <p:grpSpPr>
          <a:xfrm>
            <a:off x="-411930" y="5035624"/>
            <a:ext cx="12545374" cy="1546193"/>
            <a:chOff x="-411930" y="5035624"/>
            <a:chExt cx="12545374" cy="1546193"/>
          </a:xfrm>
        </p:grpSpPr>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156311" y="5696255"/>
              <a:ext cx="11977133" cy="885562"/>
            </a:xfrm>
            <a:prstGeom prst="rect">
              <a:avLst/>
            </a:prstGeom>
            <a:solidFill>
              <a:schemeClr val="bg1"/>
            </a:solidFill>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mc:AlternateContent xmlns:mc="http://schemas.openxmlformats.org/markup-compatibility/2006">
          <mc:Choice xmlns:a14="http://schemas.microsoft.com/office/drawing/2010/main" Requires="a14">
            <p:sp>
              <p:nvSpPr>
                <p:cNvPr id="43" name="TextBox 42">
                  <a:extLst>
                    <a:ext uri="{FF2B5EF4-FFF2-40B4-BE49-F238E27FC236}">
                      <a16:creationId xmlns:a16="http://schemas.microsoft.com/office/drawing/2014/main" id="{B870735C-D03D-D0C9-F333-12EBB5881068}"/>
                    </a:ext>
                  </a:extLst>
                </p:cNvPr>
                <p:cNvSpPr txBox="1"/>
                <p:nvPr/>
              </p:nvSpPr>
              <p:spPr>
                <a:xfrm>
                  <a:off x="6516456" y="5035624"/>
                  <a:ext cx="5160269" cy="677108"/>
                </a:xfrm>
                <a:prstGeom prst="rect">
                  <a:avLst/>
                </a:prstGeom>
                <a:noFill/>
                <a:ln>
                  <a:no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l-GR" sz="4400" b="0" i="1" smtClean="0">
                            <a:solidFill>
                              <a:srgbClr val="FF0000"/>
                            </a:solidFill>
                            <a:latin typeface="Cambria Math" panose="02040503050406030204" pitchFamily="18" charset="0"/>
                            <a:ea typeface="Cambria Math" panose="02040503050406030204" pitchFamily="18" charset="0"/>
                          </a:rPr>
                          <m:t>Σ</m:t>
                        </m:r>
                        <m:r>
                          <a:rPr lang="en-AU" sz="4400" i="1">
                            <a:solidFill>
                              <a:srgbClr val="FF0000"/>
                            </a:solidFill>
                            <a:latin typeface="Cambria Math" panose="02040503050406030204" pitchFamily="18" charset="0"/>
                            <a:ea typeface="Cambria Math" panose="02040503050406030204" pitchFamily="18" charset="0"/>
                          </a:rPr>
                          <m:t>𝜏</m:t>
                        </m:r>
                        <m:r>
                          <a:rPr lang="en-AU" sz="4400" i="1" baseline="-25000">
                            <a:solidFill>
                              <a:srgbClr val="FF0000"/>
                            </a:solidFill>
                            <a:latin typeface="Cambria Math" panose="02040503050406030204" pitchFamily="18" charset="0"/>
                            <a:ea typeface="Cambria Math" panose="02040503050406030204" pitchFamily="18" charset="0"/>
                          </a:rPr>
                          <m:t>𝑐𝑤</m:t>
                        </m:r>
                        <m:r>
                          <a:rPr lang="en-AU" sz="4400" b="0" i="1" smtClean="0">
                            <a:solidFill>
                              <a:srgbClr val="FF0000"/>
                            </a:solidFill>
                            <a:latin typeface="Cambria Math" panose="02040503050406030204" pitchFamily="18" charset="0"/>
                            <a:ea typeface="Cambria Math" panose="02040503050406030204" pitchFamily="18" charset="0"/>
                          </a:rPr>
                          <m:t>=</m:t>
                        </m:r>
                        <m:r>
                          <m:rPr>
                            <m:sty m:val="p"/>
                          </m:rPr>
                          <a:rPr lang="el-GR" sz="4400" i="1">
                            <a:solidFill>
                              <a:srgbClr val="FF0000"/>
                            </a:solidFill>
                            <a:latin typeface="Cambria Math" panose="02040503050406030204" pitchFamily="18" charset="0"/>
                            <a:ea typeface="Cambria Math" panose="02040503050406030204" pitchFamily="18" charset="0"/>
                          </a:rPr>
                          <m:t>Σ</m:t>
                        </m:r>
                        <m:r>
                          <a:rPr lang="en-AU" sz="4400" i="1">
                            <a:solidFill>
                              <a:srgbClr val="FF0000"/>
                            </a:solidFill>
                            <a:latin typeface="Cambria Math" panose="02040503050406030204" pitchFamily="18" charset="0"/>
                            <a:ea typeface="Cambria Math" panose="02040503050406030204" pitchFamily="18" charset="0"/>
                          </a:rPr>
                          <m:t>𝜏</m:t>
                        </m:r>
                        <m:r>
                          <a:rPr lang="en-AU" sz="4400" b="0" i="1" baseline="-25000" smtClean="0">
                            <a:solidFill>
                              <a:srgbClr val="FF0000"/>
                            </a:solidFill>
                            <a:latin typeface="Cambria Math" panose="02040503050406030204" pitchFamily="18" charset="0"/>
                            <a:ea typeface="Cambria Math" panose="02040503050406030204" pitchFamily="18" charset="0"/>
                          </a:rPr>
                          <m:t>𝑎𝑐𝑤</m:t>
                        </m:r>
                      </m:oMath>
                    </m:oMathPara>
                  </a14:m>
                  <a:endParaRPr lang="en-AU" sz="4400" dirty="0">
                    <a:solidFill>
                      <a:srgbClr val="FF0000"/>
                    </a:solidFill>
                  </a:endParaRPr>
                </a:p>
              </p:txBody>
            </p:sp>
          </mc:Choice>
          <mc:Fallback>
            <p:sp>
              <p:nvSpPr>
                <p:cNvPr id="43" name="TextBox 42">
                  <a:extLst>
                    <a:ext uri="{FF2B5EF4-FFF2-40B4-BE49-F238E27FC236}">
                      <a16:creationId xmlns:a16="http://schemas.microsoft.com/office/drawing/2014/main" id="{B870735C-D03D-D0C9-F333-12EBB5881068}"/>
                    </a:ext>
                  </a:extLst>
                </p:cNvPr>
                <p:cNvSpPr txBox="1">
                  <a:spLocks noRot="1" noChangeAspect="1" noMove="1" noResize="1" noEditPoints="1" noAdjustHandles="1" noChangeArrowheads="1" noChangeShapeType="1" noTextEdit="1"/>
                </p:cNvSpPr>
                <p:nvPr/>
              </p:nvSpPr>
              <p:spPr>
                <a:xfrm>
                  <a:off x="6516456" y="5035624"/>
                  <a:ext cx="5160269" cy="677108"/>
                </a:xfrm>
                <a:prstGeom prst="rect">
                  <a:avLst/>
                </a:prstGeom>
                <a:blipFill>
                  <a:blip r:embed="rId4"/>
                  <a:stretch>
                    <a:fillRect b="-1802"/>
                  </a:stretch>
                </a:blipFill>
                <a:ln>
                  <a:noFill/>
                </a:ln>
              </p:spPr>
              <p:txBody>
                <a:bodyPr/>
                <a:lstStyle/>
                <a:p>
                  <a:r>
                    <a:rPr lang="en-AU">
                      <a:noFill/>
                    </a:rPr>
                    <a:t> </a:t>
                  </a:r>
                </a:p>
              </p:txBody>
            </p:sp>
          </mc:Fallback>
        </mc:AlternateContent>
        <p:sp>
          <p:nvSpPr>
            <p:cNvPr id="44" name="Text Placeholder 3">
              <a:extLst>
                <a:ext uri="{FF2B5EF4-FFF2-40B4-BE49-F238E27FC236}">
                  <a16:creationId xmlns:a16="http://schemas.microsoft.com/office/drawing/2014/main" id="{8FCA60B5-81A3-0D79-54DF-666F3B4E364D}"/>
                </a:ext>
              </a:extLst>
            </p:cNvPr>
            <p:cNvSpPr txBox="1">
              <a:spLocks/>
            </p:cNvSpPr>
            <p:nvPr/>
          </p:nvSpPr>
          <p:spPr>
            <a:xfrm>
              <a:off x="-411930" y="5381931"/>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3600" b="0" dirty="0"/>
            </a:p>
          </p:txBody>
        </p:sp>
        <p:sp>
          <p:nvSpPr>
            <p:cNvPr id="45" name="Rectangle 44">
              <a:extLst>
                <a:ext uri="{FF2B5EF4-FFF2-40B4-BE49-F238E27FC236}">
                  <a16:creationId xmlns:a16="http://schemas.microsoft.com/office/drawing/2014/main" id="{1A3F7E12-1256-9DAA-1785-3E063AF926DD}"/>
                </a:ext>
              </a:extLst>
            </p:cNvPr>
            <p:cNvSpPr/>
            <p:nvPr/>
          </p:nvSpPr>
          <p:spPr>
            <a:xfrm>
              <a:off x="1472926" y="5602899"/>
              <a:ext cx="4114800" cy="662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6" name="Isosceles Triangle 45">
              <a:extLst>
                <a:ext uri="{FF2B5EF4-FFF2-40B4-BE49-F238E27FC236}">
                  <a16:creationId xmlns:a16="http://schemas.microsoft.com/office/drawing/2014/main" id="{2D42F302-281A-233A-AF5E-E3061FA49E50}"/>
                </a:ext>
              </a:extLst>
            </p:cNvPr>
            <p:cNvSpPr/>
            <p:nvPr/>
          </p:nvSpPr>
          <p:spPr>
            <a:xfrm>
              <a:off x="3396507" y="5687976"/>
              <a:ext cx="317872" cy="274028"/>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7" name="Rectangle 46">
              <a:extLst>
                <a:ext uri="{FF2B5EF4-FFF2-40B4-BE49-F238E27FC236}">
                  <a16:creationId xmlns:a16="http://schemas.microsoft.com/office/drawing/2014/main" id="{2A51C269-6358-F3D5-3A88-A2D47B5AF4A0}"/>
                </a:ext>
              </a:extLst>
            </p:cNvPr>
            <p:cNvSpPr/>
            <p:nvPr/>
          </p:nvSpPr>
          <p:spPr>
            <a:xfrm>
              <a:off x="1632946" y="5168559"/>
              <a:ext cx="274320" cy="434445"/>
            </a:xfrm>
            <a:prstGeom prst="rect">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48" name="Straight Arrow Connector 47">
              <a:extLst>
                <a:ext uri="{FF2B5EF4-FFF2-40B4-BE49-F238E27FC236}">
                  <a16:creationId xmlns:a16="http://schemas.microsoft.com/office/drawing/2014/main" id="{338B0F13-9351-9C31-DC2E-3A8BB58F3DB3}"/>
                </a:ext>
              </a:extLst>
            </p:cNvPr>
            <p:cNvCxnSpPr/>
            <p:nvPr/>
          </p:nvCxnSpPr>
          <p:spPr>
            <a:xfrm>
              <a:off x="1768201" y="5431449"/>
              <a:ext cx="0" cy="662940"/>
            </a:xfrm>
            <a:prstGeom prst="straightConnector1">
              <a:avLst/>
            </a:prstGeom>
            <a:ln w="1905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22A7CD5E-D7A2-A9E7-C3D4-CE0C675ECCFB}"/>
                </a:ext>
              </a:extLst>
            </p:cNvPr>
            <p:cNvSpPr txBox="1"/>
            <p:nvPr/>
          </p:nvSpPr>
          <p:spPr>
            <a:xfrm>
              <a:off x="1346660" y="5713088"/>
              <a:ext cx="519017" cy="369332"/>
            </a:xfrm>
            <a:prstGeom prst="rect">
              <a:avLst/>
            </a:prstGeom>
            <a:noFill/>
            <a:ln>
              <a:noFill/>
            </a:ln>
          </p:spPr>
          <p:txBody>
            <a:bodyPr wrap="square">
              <a:spAutoFit/>
            </a:bodyPr>
            <a:lstStyle/>
            <a:p>
              <a:pPr algn="just"/>
              <a:r>
                <a:rPr lang="en-AU" dirty="0">
                  <a:latin typeface="Century Gothic" panose="020B0502020202020204" pitchFamily="34" charset="0"/>
                </a:rPr>
                <a:t>W</a:t>
              </a:r>
              <a:r>
                <a:rPr lang="en-AU" baseline="-25000" dirty="0">
                  <a:latin typeface="Century Gothic" panose="020B0502020202020204" pitchFamily="34" charset="0"/>
                </a:rPr>
                <a:t>1</a:t>
              </a:r>
            </a:p>
          </p:txBody>
        </p:sp>
        <p:sp>
          <p:nvSpPr>
            <p:cNvPr id="50" name="Rectangle 49">
              <a:extLst>
                <a:ext uri="{FF2B5EF4-FFF2-40B4-BE49-F238E27FC236}">
                  <a16:creationId xmlns:a16="http://schemas.microsoft.com/office/drawing/2014/main" id="{47EA8AA5-8C31-5290-0245-8941F3FE45E9}"/>
                </a:ext>
              </a:extLst>
            </p:cNvPr>
            <p:cNvSpPr/>
            <p:nvPr/>
          </p:nvSpPr>
          <p:spPr>
            <a:xfrm>
              <a:off x="4913479" y="5168454"/>
              <a:ext cx="510044" cy="434445"/>
            </a:xfrm>
            <a:prstGeom prst="rect">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51" name="Straight Arrow Connector 50">
              <a:extLst>
                <a:ext uri="{FF2B5EF4-FFF2-40B4-BE49-F238E27FC236}">
                  <a16:creationId xmlns:a16="http://schemas.microsoft.com/office/drawing/2014/main" id="{FD30F208-2261-985C-3847-0E00AF75608B}"/>
                </a:ext>
              </a:extLst>
            </p:cNvPr>
            <p:cNvCxnSpPr>
              <a:cxnSpLocks/>
            </p:cNvCxnSpPr>
            <p:nvPr/>
          </p:nvCxnSpPr>
          <p:spPr>
            <a:xfrm flipH="1">
              <a:off x="5160633" y="5431344"/>
              <a:ext cx="0" cy="946596"/>
            </a:xfrm>
            <a:prstGeom prst="straightConnector1">
              <a:avLst/>
            </a:prstGeom>
            <a:ln w="1905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1F258C49-ABF4-813C-5820-9CAC233995DE}"/>
                </a:ext>
              </a:extLst>
            </p:cNvPr>
            <p:cNvSpPr txBox="1"/>
            <p:nvPr/>
          </p:nvSpPr>
          <p:spPr>
            <a:xfrm>
              <a:off x="4643109" y="5712983"/>
              <a:ext cx="601665" cy="369332"/>
            </a:xfrm>
            <a:prstGeom prst="rect">
              <a:avLst/>
            </a:prstGeom>
            <a:noFill/>
            <a:ln>
              <a:noFill/>
            </a:ln>
          </p:spPr>
          <p:txBody>
            <a:bodyPr wrap="square">
              <a:spAutoFit/>
            </a:bodyPr>
            <a:lstStyle/>
            <a:p>
              <a:pPr algn="just"/>
              <a:r>
                <a:rPr lang="en-AU" dirty="0">
                  <a:latin typeface="Century Gothic" panose="020B0502020202020204" pitchFamily="34" charset="0"/>
                </a:rPr>
                <a:t>W</a:t>
              </a:r>
              <a:r>
                <a:rPr lang="en-AU" baseline="-25000" dirty="0">
                  <a:latin typeface="Century Gothic" panose="020B0502020202020204" pitchFamily="34" charset="0"/>
                </a:rPr>
                <a:t>3</a:t>
              </a:r>
            </a:p>
          </p:txBody>
        </p:sp>
        <p:sp>
          <p:nvSpPr>
            <p:cNvPr id="53" name="Rectangle 52">
              <a:extLst>
                <a:ext uri="{FF2B5EF4-FFF2-40B4-BE49-F238E27FC236}">
                  <a16:creationId xmlns:a16="http://schemas.microsoft.com/office/drawing/2014/main" id="{71836FA7-E8AB-D37D-F42C-76829AC09B5B}"/>
                </a:ext>
              </a:extLst>
            </p:cNvPr>
            <p:cNvSpPr/>
            <p:nvPr/>
          </p:nvSpPr>
          <p:spPr>
            <a:xfrm>
              <a:off x="2720205" y="5335553"/>
              <a:ext cx="232731" cy="248296"/>
            </a:xfrm>
            <a:prstGeom prst="rect">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54" name="Straight Arrow Connector 53">
              <a:extLst>
                <a:ext uri="{FF2B5EF4-FFF2-40B4-BE49-F238E27FC236}">
                  <a16:creationId xmlns:a16="http://schemas.microsoft.com/office/drawing/2014/main" id="{4A0BCAB9-61D5-262A-8FCC-B65A5C0DA4DF}"/>
                </a:ext>
              </a:extLst>
            </p:cNvPr>
            <p:cNvCxnSpPr>
              <a:cxnSpLocks/>
            </p:cNvCxnSpPr>
            <p:nvPr/>
          </p:nvCxnSpPr>
          <p:spPr>
            <a:xfrm>
              <a:off x="2832600" y="5435154"/>
              <a:ext cx="0" cy="417006"/>
            </a:xfrm>
            <a:prstGeom prst="straightConnector1">
              <a:avLst/>
            </a:prstGeom>
            <a:ln w="1905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a16="http://schemas.microsoft.com/office/drawing/2014/main" id="{817D663A-BE66-25C0-4748-D2AD7681E930}"/>
                </a:ext>
              </a:extLst>
            </p:cNvPr>
            <p:cNvSpPr txBox="1"/>
            <p:nvPr/>
          </p:nvSpPr>
          <p:spPr>
            <a:xfrm>
              <a:off x="2433919" y="5693933"/>
              <a:ext cx="519018" cy="369332"/>
            </a:xfrm>
            <a:prstGeom prst="rect">
              <a:avLst/>
            </a:prstGeom>
            <a:noFill/>
            <a:ln>
              <a:noFill/>
            </a:ln>
          </p:spPr>
          <p:txBody>
            <a:bodyPr wrap="square">
              <a:spAutoFit/>
            </a:bodyPr>
            <a:lstStyle/>
            <a:p>
              <a:pPr algn="just"/>
              <a:r>
                <a:rPr lang="en-AU" dirty="0">
                  <a:latin typeface="Century Gothic" panose="020B0502020202020204" pitchFamily="34" charset="0"/>
                </a:rPr>
                <a:t>W</a:t>
              </a:r>
              <a:r>
                <a:rPr lang="en-AU" baseline="-25000" dirty="0">
                  <a:latin typeface="Century Gothic" panose="020B0502020202020204" pitchFamily="34" charset="0"/>
                </a:rPr>
                <a:t>2</a:t>
              </a:r>
            </a:p>
          </p:txBody>
        </p:sp>
      </p:grpSp>
    </p:spTree>
    <p:extLst>
      <p:ext uri="{BB962C8B-B14F-4D97-AF65-F5344CB8AC3E}">
        <p14:creationId xmlns:p14="http://schemas.microsoft.com/office/powerpoint/2010/main" val="162034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Rotational Equilibrium</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90507"/>
            <a:ext cx="3779478" cy="319722"/>
          </a:xfrm>
        </p:spPr>
        <p:txBody>
          <a:bodyPr/>
          <a:lstStyle/>
          <a:p>
            <a:r>
              <a:rPr lang="en-AU" dirty="0"/>
              <a:t>Practice Question</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156311" y="5696255"/>
            <a:ext cx="11977133" cy="885562"/>
          </a:xfrm>
          <a:prstGeom prst="rect">
            <a:avLst/>
          </a:prstGeom>
          <a:solidFill>
            <a:schemeClr val="bg1"/>
          </a:solidFill>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B870735C-D03D-D0C9-F333-12EBB5881068}"/>
                  </a:ext>
                </a:extLst>
              </p:cNvPr>
              <p:cNvSpPr txBox="1"/>
              <p:nvPr/>
            </p:nvSpPr>
            <p:spPr>
              <a:xfrm>
                <a:off x="7869737" y="2657854"/>
                <a:ext cx="2337254" cy="492443"/>
              </a:xfrm>
              <a:prstGeom prst="rect">
                <a:avLst/>
              </a:prstGeom>
              <a:noFill/>
              <a:ln>
                <a:no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l-GR" sz="3200" b="0" i="1" smtClean="0">
                          <a:solidFill>
                            <a:srgbClr val="FF0000"/>
                          </a:solidFill>
                          <a:latin typeface="Cambria Math" panose="02040503050406030204" pitchFamily="18" charset="0"/>
                          <a:ea typeface="Cambria Math" panose="02040503050406030204" pitchFamily="18" charset="0"/>
                        </a:rPr>
                        <m:t>Σ</m:t>
                      </m:r>
                      <m:r>
                        <a:rPr lang="en-AU" sz="3200" i="1">
                          <a:solidFill>
                            <a:srgbClr val="FF0000"/>
                          </a:solidFill>
                          <a:latin typeface="Cambria Math" panose="02040503050406030204" pitchFamily="18" charset="0"/>
                          <a:ea typeface="Cambria Math" panose="02040503050406030204" pitchFamily="18" charset="0"/>
                        </a:rPr>
                        <m:t>𝜏</m:t>
                      </m:r>
                      <m:r>
                        <a:rPr lang="en-AU" sz="3200" i="1" baseline="-25000">
                          <a:solidFill>
                            <a:srgbClr val="FF0000"/>
                          </a:solidFill>
                          <a:latin typeface="Cambria Math" panose="02040503050406030204" pitchFamily="18" charset="0"/>
                          <a:ea typeface="Cambria Math" panose="02040503050406030204" pitchFamily="18" charset="0"/>
                        </a:rPr>
                        <m:t>𝑐𝑤</m:t>
                      </m:r>
                      <m:r>
                        <a:rPr lang="en-AU" sz="3200" b="0" i="1" smtClean="0">
                          <a:solidFill>
                            <a:srgbClr val="FF0000"/>
                          </a:solidFill>
                          <a:latin typeface="Cambria Math" panose="02040503050406030204" pitchFamily="18" charset="0"/>
                          <a:ea typeface="Cambria Math" panose="02040503050406030204" pitchFamily="18" charset="0"/>
                        </a:rPr>
                        <m:t>=</m:t>
                      </m:r>
                      <m:r>
                        <m:rPr>
                          <m:sty m:val="p"/>
                        </m:rPr>
                        <a:rPr lang="el-GR" sz="3200" i="1">
                          <a:solidFill>
                            <a:srgbClr val="FF0000"/>
                          </a:solidFill>
                          <a:latin typeface="Cambria Math" panose="02040503050406030204" pitchFamily="18" charset="0"/>
                          <a:ea typeface="Cambria Math" panose="02040503050406030204" pitchFamily="18" charset="0"/>
                        </a:rPr>
                        <m:t>Σ</m:t>
                      </m:r>
                      <m:r>
                        <a:rPr lang="en-AU" sz="3200" i="1">
                          <a:solidFill>
                            <a:srgbClr val="FF0000"/>
                          </a:solidFill>
                          <a:latin typeface="Cambria Math" panose="02040503050406030204" pitchFamily="18" charset="0"/>
                          <a:ea typeface="Cambria Math" panose="02040503050406030204" pitchFamily="18" charset="0"/>
                        </a:rPr>
                        <m:t>𝜏</m:t>
                      </m:r>
                      <m:r>
                        <a:rPr lang="en-AU" sz="3200" b="0" i="1" baseline="-25000" smtClean="0">
                          <a:solidFill>
                            <a:srgbClr val="FF0000"/>
                          </a:solidFill>
                          <a:latin typeface="Cambria Math" panose="02040503050406030204" pitchFamily="18" charset="0"/>
                          <a:ea typeface="Cambria Math" panose="02040503050406030204" pitchFamily="18" charset="0"/>
                        </a:rPr>
                        <m:t>𝑎𝑐𝑤</m:t>
                      </m:r>
                    </m:oMath>
                  </m:oMathPara>
                </a14:m>
                <a:endParaRPr lang="en-AU" sz="3200" dirty="0">
                  <a:solidFill>
                    <a:srgbClr val="FF0000"/>
                  </a:solidFill>
                </a:endParaRPr>
              </a:p>
            </p:txBody>
          </p:sp>
        </mc:Choice>
        <mc:Fallback xmlns="">
          <p:sp>
            <p:nvSpPr>
              <p:cNvPr id="43" name="TextBox 42">
                <a:extLst>
                  <a:ext uri="{FF2B5EF4-FFF2-40B4-BE49-F238E27FC236}">
                    <a16:creationId xmlns:a16="http://schemas.microsoft.com/office/drawing/2014/main" id="{B870735C-D03D-D0C9-F333-12EBB5881068}"/>
                  </a:ext>
                </a:extLst>
              </p:cNvPr>
              <p:cNvSpPr txBox="1">
                <a:spLocks noRot="1" noChangeAspect="1" noMove="1" noResize="1" noEditPoints="1" noAdjustHandles="1" noChangeArrowheads="1" noChangeShapeType="1" noTextEdit="1"/>
              </p:cNvSpPr>
              <p:nvPr/>
            </p:nvSpPr>
            <p:spPr>
              <a:xfrm>
                <a:off x="7869737" y="2657854"/>
                <a:ext cx="2337254" cy="492443"/>
              </a:xfrm>
              <a:prstGeom prst="rect">
                <a:avLst/>
              </a:prstGeom>
              <a:blipFill>
                <a:blip r:embed="rId3"/>
                <a:stretch>
                  <a:fillRect b="-1235"/>
                </a:stretch>
              </a:blipFill>
              <a:ln>
                <a:noFill/>
              </a:ln>
            </p:spPr>
            <p:txBody>
              <a:bodyPr/>
              <a:lstStyle/>
              <a:p>
                <a:r>
                  <a:rPr lang="en-AU">
                    <a:noFill/>
                  </a:rPr>
                  <a:t> </a:t>
                </a:r>
              </a:p>
            </p:txBody>
          </p:sp>
        </mc:Fallback>
      </mc:AlternateContent>
      <p:sp>
        <p:nvSpPr>
          <p:cNvPr id="45" name="Rectangle 44">
            <a:extLst>
              <a:ext uri="{FF2B5EF4-FFF2-40B4-BE49-F238E27FC236}">
                <a16:creationId xmlns:a16="http://schemas.microsoft.com/office/drawing/2014/main" id="{1A3F7E12-1256-9DAA-1785-3E063AF926DD}"/>
              </a:ext>
            </a:extLst>
          </p:cNvPr>
          <p:cNvSpPr/>
          <p:nvPr/>
        </p:nvSpPr>
        <p:spPr>
          <a:xfrm>
            <a:off x="854582" y="1548333"/>
            <a:ext cx="4114800" cy="662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6" name="Isosceles Triangle 45">
            <a:extLst>
              <a:ext uri="{FF2B5EF4-FFF2-40B4-BE49-F238E27FC236}">
                <a16:creationId xmlns:a16="http://schemas.microsoft.com/office/drawing/2014/main" id="{2D42F302-281A-233A-AF5E-E3061FA49E50}"/>
              </a:ext>
            </a:extLst>
          </p:cNvPr>
          <p:cNvSpPr/>
          <p:nvPr/>
        </p:nvSpPr>
        <p:spPr>
          <a:xfrm>
            <a:off x="2778163" y="1633410"/>
            <a:ext cx="317872" cy="274028"/>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7" name="Rectangle 46">
            <a:extLst>
              <a:ext uri="{FF2B5EF4-FFF2-40B4-BE49-F238E27FC236}">
                <a16:creationId xmlns:a16="http://schemas.microsoft.com/office/drawing/2014/main" id="{2A51C269-6358-F3D5-3A88-A2D47B5AF4A0}"/>
              </a:ext>
            </a:extLst>
          </p:cNvPr>
          <p:cNvSpPr/>
          <p:nvPr/>
        </p:nvSpPr>
        <p:spPr>
          <a:xfrm>
            <a:off x="1014602" y="1113993"/>
            <a:ext cx="274320" cy="434445"/>
          </a:xfrm>
          <a:prstGeom prst="rect">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48" name="Straight Arrow Connector 47">
            <a:extLst>
              <a:ext uri="{FF2B5EF4-FFF2-40B4-BE49-F238E27FC236}">
                <a16:creationId xmlns:a16="http://schemas.microsoft.com/office/drawing/2014/main" id="{338B0F13-9351-9C31-DC2E-3A8BB58F3DB3}"/>
              </a:ext>
            </a:extLst>
          </p:cNvPr>
          <p:cNvCxnSpPr/>
          <p:nvPr/>
        </p:nvCxnSpPr>
        <p:spPr>
          <a:xfrm>
            <a:off x="1149857" y="1376883"/>
            <a:ext cx="0" cy="662940"/>
          </a:xfrm>
          <a:prstGeom prst="straightConnector1">
            <a:avLst/>
          </a:prstGeom>
          <a:ln w="1905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22A7CD5E-D7A2-A9E7-C3D4-CE0C675ECCFB}"/>
              </a:ext>
            </a:extLst>
          </p:cNvPr>
          <p:cNvSpPr txBox="1"/>
          <p:nvPr/>
        </p:nvSpPr>
        <p:spPr>
          <a:xfrm>
            <a:off x="728316" y="1658522"/>
            <a:ext cx="519017" cy="369332"/>
          </a:xfrm>
          <a:prstGeom prst="rect">
            <a:avLst/>
          </a:prstGeom>
          <a:noFill/>
          <a:ln>
            <a:noFill/>
          </a:ln>
        </p:spPr>
        <p:txBody>
          <a:bodyPr wrap="square">
            <a:spAutoFit/>
          </a:bodyPr>
          <a:lstStyle/>
          <a:p>
            <a:pPr algn="just"/>
            <a:r>
              <a:rPr lang="en-AU" dirty="0">
                <a:latin typeface="Century Gothic" panose="020B0502020202020204" pitchFamily="34" charset="0"/>
              </a:rPr>
              <a:t>W</a:t>
            </a:r>
            <a:r>
              <a:rPr lang="en-AU" baseline="-25000" dirty="0">
                <a:latin typeface="Century Gothic" panose="020B0502020202020204" pitchFamily="34" charset="0"/>
              </a:rPr>
              <a:t>1</a:t>
            </a:r>
          </a:p>
        </p:txBody>
      </p:sp>
      <p:sp>
        <p:nvSpPr>
          <p:cNvPr id="50" name="Rectangle 49">
            <a:extLst>
              <a:ext uri="{FF2B5EF4-FFF2-40B4-BE49-F238E27FC236}">
                <a16:creationId xmlns:a16="http://schemas.microsoft.com/office/drawing/2014/main" id="{47EA8AA5-8C31-5290-0245-8941F3FE45E9}"/>
              </a:ext>
            </a:extLst>
          </p:cNvPr>
          <p:cNvSpPr/>
          <p:nvPr/>
        </p:nvSpPr>
        <p:spPr>
          <a:xfrm>
            <a:off x="4295135" y="1113888"/>
            <a:ext cx="510044" cy="434445"/>
          </a:xfrm>
          <a:prstGeom prst="rect">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51" name="Straight Arrow Connector 50">
            <a:extLst>
              <a:ext uri="{FF2B5EF4-FFF2-40B4-BE49-F238E27FC236}">
                <a16:creationId xmlns:a16="http://schemas.microsoft.com/office/drawing/2014/main" id="{FD30F208-2261-985C-3847-0E00AF75608B}"/>
              </a:ext>
            </a:extLst>
          </p:cNvPr>
          <p:cNvCxnSpPr>
            <a:cxnSpLocks/>
          </p:cNvCxnSpPr>
          <p:nvPr/>
        </p:nvCxnSpPr>
        <p:spPr>
          <a:xfrm flipH="1">
            <a:off x="4542289" y="1376778"/>
            <a:ext cx="0" cy="946596"/>
          </a:xfrm>
          <a:prstGeom prst="straightConnector1">
            <a:avLst/>
          </a:prstGeom>
          <a:ln w="1905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1F258C49-ABF4-813C-5820-9CAC233995DE}"/>
              </a:ext>
            </a:extLst>
          </p:cNvPr>
          <p:cNvSpPr txBox="1"/>
          <p:nvPr/>
        </p:nvSpPr>
        <p:spPr>
          <a:xfrm>
            <a:off x="4024765" y="1658417"/>
            <a:ext cx="601665" cy="369332"/>
          </a:xfrm>
          <a:prstGeom prst="rect">
            <a:avLst/>
          </a:prstGeom>
          <a:noFill/>
          <a:ln>
            <a:noFill/>
          </a:ln>
        </p:spPr>
        <p:txBody>
          <a:bodyPr wrap="square">
            <a:spAutoFit/>
          </a:bodyPr>
          <a:lstStyle/>
          <a:p>
            <a:pPr algn="just"/>
            <a:r>
              <a:rPr lang="en-AU" dirty="0">
                <a:latin typeface="Century Gothic" panose="020B0502020202020204" pitchFamily="34" charset="0"/>
              </a:rPr>
              <a:t>W</a:t>
            </a:r>
            <a:r>
              <a:rPr lang="en-AU" baseline="-25000" dirty="0">
                <a:latin typeface="Century Gothic" panose="020B0502020202020204" pitchFamily="34" charset="0"/>
              </a:rPr>
              <a:t>3</a:t>
            </a:r>
          </a:p>
        </p:txBody>
      </p:sp>
      <p:sp>
        <p:nvSpPr>
          <p:cNvPr id="53" name="Rectangle 52">
            <a:extLst>
              <a:ext uri="{FF2B5EF4-FFF2-40B4-BE49-F238E27FC236}">
                <a16:creationId xmlns:a16="http://schemas.microsoft.com/office/drawing/2014/main" id="{71836FA7-E8AB-D37D-F42C-76829AC09B5B}"/>
              </a:ext>
            </a:extLst>
          </p:cNvPr>
          <p:cNvSpPr/>
          <p:nvPr/>
        </p:nvSpPr>
        <p:spPr>
          <a:xfrm>
            <a:off x="2101861" y="1280987"/>
            <a:ext cx="232731" cy="248296"/>
          </a:xfrm>
          <a:prstGeom prst="rect">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54" name="Straight Arrow Connector 53">
            <a:extLst>
              <a:ext uri="{FF2B5EF4-FFF2-40B4-BE49-F238E27FC236}">
                <a16:creationId xmlns:a16="http://schemas.microsoft.com/office/drawing/2014/main" id="{4A0BCAB9-61D5-262A-8FCC-B65A5C0DA4DF}"/>
              </a:ext>
            </a:extLst>
          </p:cNvPr>
          <p:cNvCxnSpPr>
            <a:cxnSpLocks/>
          </p:cNvCxnSpPr>
          <p:nvPr/>
        </p:nvCxnSpPr>
        <p:spPr>
          <a:xfrm>
            <a:off x="2214256" y="1380588"/>
            <a:ext cx="0" cy="417006"/>
          </a:xfrm>
          <a:prstGeom prst="straightConnector1">
            <a:avLst/>
          </a:prstGeom>
          <a:ln w="1905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a16="http://schemas.microsoft.com/office/drawing/2014/main" id="{817D663A-BE66-25C0-4748-D2AD7681E930}"/>
              </a:ext>
            </a:extLst>
          </p:cNvPr>
          <p:cNvSpPr txBox="1"/>
          <p:nvPr/>
        </p:nvSpPr>
        <p:spPr>
          <a:xfrm>
            <a:off x="1815575" y="1639367"/>
            <a:ext cx="519018" cy="369332"/>
          </a:xfrm>
          <a:prstGeom prst="rect">
            <a:avLst/>
          </a:prstGeom>
          <a:noFill/>
          <a:ln>
            <a:noFill/>
          </a:ln>
        </p:spPr>
        <p:txBody>
          <a:bodyPr wrap="square">
            <a:spAutoFit/>
          </a:bodyPr>
          <a:lstStyle/>
          <a:p>
            <a:pPr algn="just"/>
            <a:r>
              <a:rPr lang="en-AU" dirty="0">
                <a:latin typeface="Century Gothic" panose="020B0502020202020204" pitchFamily="34" charset="0"/>
              </a:rPr>
              <a:t>W</a:t>
            </a:r>
            <a:r>
              <a:rPr lang="en-AU" baseline="-25000" dirty="0">
                <a:latin typeface="Century Gothic" panose="020B0502020202020204" pitchFamily="34" charset="0"/>
              </a:rPr>
              <a:t>2</a:t>
            </a:r>
          </a:p>
        </p:txBody>
      </p:sp>
      <p:sp>
        <p:nvSpPr>
          <p:cNvPr id="8" name="Text Placeholder 3">
            <a:extLst>
              <a:ext uri="{FF2B5EF4-FFF2-40B4-BE49-F238E27FC236}">
                <a16:creationId xmlns:a16="http://schemas.microsoft.com/office/drawing/2014/main" id="{06AF6A1F-86C3-9760-2AF7-86B850974069}"/>
              </a:ext>
            </a:extLst>
          </p:cNvPr>
          <p:cNvSpPr txBox="1">
            <a:spLocks/>
          </p:cNvSpPr>
          <p:nvPr/>
        </p:nvSpPr>
        <p:spPr>
          <a:xfrm>
            <a:off x="295275" y="2631138"/>
            <a:ext cx="564832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AU" sz="2000" b="0" dirty="0"/>
              <a:t>W</a:t>
            </a:r>
            <a:r>
              <a:rPr lang="en-AU" sz="2000" b="0" baseline="-25000" dirty="0"/>
              <a:t>1</a:t>
            </a:r>
            <a:r>
              <a:rPr lang="en-AU" sz="2000" b="0" dirty="0"/>
              <a:t> = 2 N</a:t>
            </a:r>
          </a:p>
          <a:p>
            <a:pPr algn="just"/>
            <a:r>
              <a:rPr lang="en-AU" sz="2000" b="0" dirty="0"/>
              <a:t>W</a:t>
            </a:r>
            <a:r>
              <a:rPr lang="en-AU" sz="2000" b="0" baseline="-25000" dirty="0"/>
              <a:t>2</a:t>
            </a:r>
            <a:r>
              <a:rPr lang="en-AU" sz="2000" b="0" dirty="0"/>
              <a:t> = 1 N</a:t>
            </a:r>
          </a:p>
          <a:p>
            <a:pPr algn="just"/>
            <a:r>
              <a:rPr lang="en-AU" sz="2000" b="0" dirty="0"/>
              <a:t>r</a:t>
            </a:r>
            <a:r>
              <a:rPr lang="en-AU" sz="2000" b="0" baseline="-25000" dirty="0"/>
              <a:t>1</a:t>
            </a:r>
            <a:r>
              <a:rPr lang="en-AU" sz="2000" b="0" dirty="0"/>
              <a:t> = 0.50 m</a:t>
            </a:r>
          </a:p>
          <a:p>
            <a:pPr algn="just"/>
            <a:r>
              <a:rPr lang="en-AU" sz="2000" b="0" dirty="0"/>
              <a:t>r</a:t>
            </a:r>
            <a:r>
              <a:rPr lang="en-AU" sz="2000" b="0" baseline="-25000" dirty="0"/>
              <a:t>2</a:t>
            </a:r>
            <a:r>
              <a:rPr lang="en-AU" sz="2000" b="0" dirty="0"/>
              <a:t> = 0.25 m</a:t>
            </a:r>
          </a:p>
          <a:p>
            <a:pPr algn="just"/>
            <a:r>
              <a:rPr lang="en-AU" sz="2000" b="0" dirty="0"/>
              <a:t>r</a:t>
            </a:r>
            <a:r>
              <a:rPr lang="en-AU" sz="2000" b="0" baseline="-25000" dirty="0"/>
              <a:t>3</a:t>
            </a:r>
            <a:r>
              <a:rPr lang="en-AU" sz="2000" b="0" dirty="0"/>
              <a:t> = 0.45 m</a:t>
            </a:r>
          </a:p>
          <a:p>
            <a:pPr algn="just"/>
            <a:endParaRPr lang="en-AU" sz="2000" b="0" dirty="0"/>
          </a:p>
          <a:p>
            <a:pPr algn="just"/>
            <a:r>
              <a:rPr lang="en-AU" sz="2000" b="0" dirty="0"/>
              <a:t>The beam is uniform and the pivot is at the midpoint of the beam.</a:t>
            </a:r>
          </a:p>
          <a:p>
            <a:r>
              <a:rPr lang="en-AU" sz="2000" b="0" dirty="0"/>
              <a:t>Calculate W</a:t>
            </a:r>
            <a:r>
              <a:rPr lang="en-AU" sz="2000" b="0" baseline="-25000" dirty="0"/>
              <a:t>3</a:t>
            </a:r>
            <a:r>
              <a:rPr lang="en-AU" sz="2000" b="0" dirty="0"/>
              <a:t> for the beam to be in rotational equilibrium</a:t>
            </a:r>
          </a:p>
          <a:p>
            <a:pPr algn="just"/>
            <a:endParaRPr lang="en-AU" sz="2400" b="0" dirty="0"/>
          </a:p>
          <a:p>
            <a:pPr algn="just"/>
            <a:endParaRPr lang="en-AU" sz="2400" b="0" dirty="0"/>
          </a:p>
          <a:p>
            <a:pPr algn="just"/>
            <a:endParaRPr lang="en-AU" sz="2400" b="0" dirty="0"/>
          </a:p>
          <a:p>
            <a:pPr algn="just"/>
            <a:r>
              <a:rPr lang="en-AU" sz="2400" b="0" dirty="0"/>
              <a:t> </a:t>
            </a:r>
          </a:p>
        </p:txBody>
      </p:sp>
      <p:cxnSp>
        <p:nvCxnSpPr>
          <p:cNvPr id="14" name="Straight Arrow Connector 13">
            <a:extLst>
              <a:ext uri="{FF2B5EF4-FFF2-40B4-BE49-F238E27FC236}">
                <a16:creationId xmlns:a16="http://schemas.microsoft.com/office/drawing/2014/main" id="{C9B90FDF-3A66-03DF-7DB8-83317C01A654}"/>
              </a:ext>
            </a:extLst>
          </p:cNvPr>
          <p:cNvCxnSpPr/>
          <p:nvPr/>
        </p:nvCxnSpPr>
        <p:spPr>
          <a:xfrm>
            <a:off x="1149857" y="2295664"/>
            <a:ext cx="1762125" cy="0"/>
          </a:xfrm>
          <a:prstGeom prst="straightConnector1">
            <a:avLst/>
          </a:prstGeom>
          <a:ln>
            <a:solidFill>
              <a:schemeClr val="tx1">
                <a:lumMod val="50000"/>
                <a:lumOff val="50000"/>
              </a:schemeClr>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917FBD0C-F926-5F37-2757-E279E5FCDDFF}"/>
              </a:ext>
            </a:extLst>
          </p:cNvPr>
          <p:cNvSpPr txBox="1"/>
          <p:nvPr/>
        </p:nvSpPr>
        <p:spPr>
          <a:xfrm>
            <a:off x="1833917" y="1963295"/>
            <a:ext cx="519017" cy="369332"/>
          </a:xfrm>
          <a:prstGeom prst="rect">
            <a:avLst/>
          </a:prstGeom>
          <a:noFill/>
          <a:ln>
            <a:noFill/>
          </a:ln>
        </p:spPr>
        <p:txBody>
          <a:bodyPr wrap="square">
            <a:spAutoFit/>
          </a:bodyPr>
          <a:lstStyle/>
          <a:p>
            <a:pPr algn="just"/>
            <a:r>
              <a:rPr lang="en-AU" dirty="0">
                <a:latin typeface="Century Gothic" panose="020B0502020202020204" pitchFamily="34" charset="0"/>
              </a:rPr>
              <a:t>r</a:t>
            </a:r>
            <a:r>
              <a:rPr lang="en-AU" baseline="-25000" dirty="0">
                <a:latin typeface="Century Gothic" panose="020B0502020202020204" pitchFamily="34" charset="0"/>
              </a:rPr>
              <a:t>1</a:t>
            </a:r>
          </a:p>
        </p:txBody>
      </p:sp>
      <p:cxnSp>
        <p:nvCxnSpPr>
          <p:cNvPr id="16" name="Straight Arrow Connector 15">
            <a:extLst>
              <a:ext uri="{FF2B5EF4-FFF2-40B4-BE49-F238E27FC236}">
                <a16:creationId xmlns:a16="http://schemas.microsoft.com/office/drawing/2014/main" id="{5246D915-1C20-43E1-F081-3569D48D3D6F}"/>
              </a:ext>
            </a:extLst>
          </p:cNvPr>
          <p:cNvCxnSpPr>
            <a:cxnSpLocks/>
          </p:cNvCxnSpPr>
          <p:nvPr/>
        </p:nvCxnSpPr>
        <p:spPr>
          <a:xfrm>
            <a:off x="2183319" y="2041867"/>
            <a:ext cx="753780" cy="0"/>
          </a:xfrm>
          <a:prstGeom prst="straightConnector1">
            <a:avLst/>
          </a:prstGeom>
          <a:ln>
            <a:solidFill>
              <a:schemeClr val="tx1">
                <a:lumMod val="50000"/>
                <a:lumOff val="50000"/>
              </a:schemeClr>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E0E65856-46AF-8A6E-0BF5-8881475DDBDA}"/>
              </a:ext>
            </a:extLst>
          </p:cNvPr>
          <p:cNvSpPr txBox="1"/>
          <p:nvPr/>
        </p:nvSpPr>
        <p:spPr>
          <a:xfrm>
            <a:off x="2381399" y="1695932"/>
            <a:ext cx="519017" cy="369332"/>
          </a:xfrm>
          <a:prstGeom prst="rect">
            <a:avLst/>
          </a:prstGeom>
          <a:noFill/>
          <a:ln>
            <a:noFill/>
          </a:ln>
        </p:spPr>
        <p:txBody>
          <a:bodyPr wrap="square">
            <a:spAutoFit/>
          </a:bodyPr>
          <a:lstStyle/>
          <a:p>
            <a:pPr algn="just"/>
            <a:r>
              <a:rPr lang="en-AU" dirty="0">
                <a:latin typeface="Century Gothic" panose="020B0502020202020204" pitchFamily="34" charset="0"/>
              </a:rPr>
              <a:t>r</a:t>
            </a:r>
            <a:r>
              <a:rPr lang="en-AU" baseline="-25000" dirty="0">
                <a:latin typeface="Century Gothic" panose="020B0502020202020204" pitchFamily="34" charset="0"/>
              </a:rPr>
              <a:t>2</a:t>
            </a:r>
          </a:p>
        </p:txBody>
      </p:sp>
      <p:cxnSp>
        <p:nvCxnSpPr>
          <p:cNvPr id="19" name="Straight Arrow Connector 18">
            <a:extLst>
              <a:ext uri="{FF2B5EF4-FFF2-40B4-BE49-F238E27FC236}">
                <a16:creationId xmlns:a16="http://schemas.microsoft.com/office/drawing/2014/main" id="{77FC87E5-058E-31A6-02CB-46650240EFE5}"/>
              </a:ext>
            </a:extLst>
          </p:cNvPr>
          <p:cNvCxnSpPr>
            <a:cxnSpLocks/>
          </p:cNvCxnSpPr>
          <p:nvPr/>
        </p:nvCxnSpPr>
        <p:spPr>
          <a:xfrm flipV="1">
            <a:off x="2911982" y="1376778"/>
            <a:ext cx="1630307" cy="5854"/>
          </a:xfrm>
          <a:prstGeom prst="straightConnector1">
            <a:avLst/>
          </a:prstGeom>
          <a:ln>
            <a:solidFill>
              <a:schemeClr val="tx1">
                <a:lumMod val="50000"/>
                <a:lumOff val="50000"/>
              </a:schemeClr>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A7E52C8A-FE0F-C7BC-BDAB-221A8444544C}"/>
              </a:ext>
            </a:extLst>
          </p:cNvPr>
          <p:cNvSpPr txBox="1"/>
          <p:nvPr/>
        </p:nvSpPr>
        <p:spPr>
          <a:xfrm>
            <a:off x="3591757" y="993256"/>
            <a:ext cx="519017" cy="369332"/>
          </a:xfrm>
          <a:prstGeom prst="rect">
            <a:avLst/>
          </a:prstGeom>
          <a:noFill/>
          <a:ln>
            <a:noFill/>
          </a:ln>
        </p:spPr>
        <p:txBody>
          <a:bodyPr wrap="square">
            <a:spAutoFit/>
          </a:bodyPr>
          <a:lstStyle/>
          <a:p>
            <a:pPr algn="just"/>
            <a:r>
              <a:rPr lang="en-AU" dirty="0">
                <a:latin typeface="Century Gothic" panose="020B0502020202020204" pitchFamily="34" charset="0"/>
              </a:rPr>
              <a:t>r</a:t>
            </a:r>
            <a:r>
              <a:rPr lang="en-AU" baseline="-25000" dirty="0">
                <a:latin typeface="Century Gothic" panose="020B0502020202020204" pitchFamily="34" charset="0"/>
              </a:rPr>
              <a:t>3</a:t>
            </a:r>
          </a:p>
        </p:txBody>
      </p:sp>
      <p:sp>
        <p:nvSpPr>
          <p:cNvPr id="22" name="Text Placeholder 3">
            <a:extLst>
              <a:ext uri="{FF2B5EF4-FFF2-40B4-BE49-F238E27FC236}">
                <a16:creationId xmlns:a16="http://schemas.microsoft.com/office/drawing/2014/main" id="{467B027D-B358-DDA4-068C-31E5503835DA}"/>
              </a:ext>
            </a:extLst>
          </p:cNvPr>
          <p:cNvSpPr txBox="1">
            <a:spLocks/>
          </p:cNvSpPr>
          <p:nvPr/>
        </p:nvSpPr>
        <p:spPr>
          <a:xfrm>
            <a:off x="5838628" y="794965"/>
            <a:ext cx="613850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AutoNum type="arabicPeriod"/>
            </a:pPr>
            <a:r>
              <a:rPr lang="en-AU" sz="2400" b="0" dirty="0"/>
              <a:t>Identify clockwise and anticlockwise torques.</a:t>
            </a:r>
          </a:p>
          <a:p>
            <a:pPr lvl="1" indent="0" algn="just">
              <a:buNone/>
            </a:pPr>
            <a:r>
              <a:rPr lang="en-AU" sz="2000" b="1" dirty="0"/>
              <a:t>CW</a:t>
            </a:r>
            <a:r>
              <a:rPr lang="en-AU" sz="2000" b="0" dirty="0"/>
              <a:t>:</a:t>
            </a:r>
            <a:r>
              <a:rPr lang="en-AU" sz="2000" dirty="0"/>
              <a:t> W</a:t>
            </a:r>
            <a:r>
              <a:rPr lang="en-AU" sz="2000" baseline="-25000" dirty="0"/>
              <a:t>3</a:t>
            </a:r>
            <a:endParaRPr lang="en-AU" sz="2000" dirty="0"/>
          </a:p>
          <a:p>
            <a:pPr lvl="1" indent="0" algn="just">
              <a:buNone/>
            </a:pPr>
            <a:r>
              <a:rPr lang="en-AU" sz="2000" b="1" dirty="0"/>
              <a:t>ACW</a:t>
            </a:r>
            <a:r>
              <a:rPr lang="en-AU" sz="2000" b="0" dirty="0"/>
              <a:t>: W</a:t>
            </a:r>
            <a:r>
              <a:rPr lang="en-AU" sz="2000" b="0" baseline="-25000" dirty="0"/>
              <a:t>1</a:t>
            </a:r>
            <a:r>
              <a:rPr lang="en-AU" sz="2000" b="0" dirty="0"/>
              <a:t> and W</a:t>
            </a:r>
            <a:r>
              <a:rPr lang="en-AU" sz="2000" baseline="-25000" dirty="0"/>
              <a:t>2</a:t>
            </a:r>
          </a:p>
          <a:p>
            <a:pPr marL="457200" indent="-457200" algn="just">
              <a:buFont typeface="+mj-lt"/>
              <a:buAutoNum type="arabicPeriod"/>
            </a:pPr>
            <a:r>
              <a:rPr lang="en-AU" sz="2400" b="0" dirty="0"/>
              <a:t>State formula</a:t>
            </a:r>
          </a:p>
          <a:p>
            <a:pPr marL="457200" indent="-457200" algn="just">
              <a:buFont typeface="+mj-lt"/>
              <a:buAutoNum type="arabicPeriod"/>
            </a:pPr>
            <a:endParaRPr lang="en-AU" sz="2400" b="0" baseline="-25000" dirty="0"/>
          </a:p>
          <a:p>
            <a:pPr marL="457200" indent="-457200" algn="just">
              <a:buFont typeface="+mj-lt"/>
              <a:buAutoNum type="arabicPeriod"/>
            </a:pPr>
            <a:endParaRPr lang="en-AU" sz="2400" b="0" baseline="-25000" dirty="0"/>
          </a:p>
          <a:p>
            <a:pPr marL="457200" indent="-457200" algn="just">
              <a:buFont typeface="+mj-lt"/>
              <a:buAutoNum type="arabicPeriod"/>
            </a:pPr>
            <a:r>
              <a:rPr lang="en-AU" sz="2400" b="0" dirty="0"/>
              <a:t>Substitute and solve</a:t>
            </a:r>
            <a:r>
              <a:rPr lang="en-AU" sz="2400" b="0" baseline="-25000" dirty="0"/>
              <a:t> </a:t>
            </a:r>
            <a:endParaRPr lang="en-AU" sz="2400" b="0" dirty="0"/>
          </a:p>
          <a:p>
            <a:pPr algn="just"/>
            <a:r>
              <a:rPr lang="en-AU" sz="2400" b="0" dirty="0"/>
              <a:t> </a:t>
            </a:r>
          </a:p>
        </p:txBody>
      </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D39A76EB-F876-7AD6-C6C3-7F2830EC0E6D}"/>
                  </a:ext>
                </a:extLst>
              </p:cNvPr>
              <p:cNvSpPr txBox="1"/>
              <p:nvPr/>
            </p:nvSpPr>
            <p:spPr>
              <a:xfrm>
                <a:off x="7100117" y="3901114"/>
                <a:ext cx="4386838" cy="2646878"/>
              </a:xfrm>
              <a:prstGeom prst="rect">
                <a:avLst/>
              </a:prstGeom>
              <a:noFill/>
              <a:ln>
                <a:no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AU" sz="2800" b="0" i="1" smtClean="0">
                              <a:solidFill>
                                <a:srgbClr val="FF0000"/>
                              </a:solidFill>
                              <a:latin typeface="Cambria Math" panose="02040503050406030204" pitchFamily="18" charset="0"/>
                              <a:ea typeface="Cambria Math" panose="02040503050406030204" pitchFamily="18" charset="0"/>
                            </a:rPr>
                          </m:ctrlPr>
                        </m:sSubPr>
                        <m:e>
                          <m:r>
                            <a:rPr lang="en-AU" sz="2800" b="0" i="1" smtClean="0">
                              <a:solidFill>
                                <a:srgbClr val="FF0000"/>
                              </a:solidFill>
                              <a:latin typeface="Cambria Math" panose="02040503050406030204" pitchFamily="18" charset="0"/>
                              <a:ea typeface="Cambria Math" panose="02040503050406030204" pitchFamily="18" charset="0"/>
                            </a:rPr>
                            <m:t>𝑊</m:t>
                          </m:r>
                        </m:e>
                        <m:sub>
                          <m:r>
                            <a:rPr lang="en-AU" sz="2800" b="0" i="1" smtClean="0">
                              <a:solidFill>
                                <a:srgbClr val="FF0000"/>
                              </a:solidFill>
                              <a:latin typeface="Cambria Math" panose="02040503050406030204" pitchFamily="18" charset="0"/>
                              <a:ea typeface="Cambria Math" panose="02040503050406030204" pitchFamily="18" charset="0"/>
                            </a:rPr>
                            <m:t>3</m:t>
                          </m:r>
                        </m:sub>
                      </m:sSub>
                      <m:sSub>
                        <m:sSubPr>
                          <m:ctrlPr>
                            <a:rPr lang="en-AU" sz="2800" b="0" i="1" smtClean="0">
                              <a:solidFill>
                                <a:srgbClr val="FF0000"/>
                              </a:solidFill>
                              <a:latin typeface="Cambria Math" panose="02040503050406030204" pitchFamily="18" charset="0"/>
                              <a:ea typeface="Cambria Math" panose="02040503050406030204" pitchFamily="18" charset="0"/>
                            </a:rPr>
                          </m:ctrlPr>
                        </m:sSubPr>
                        <m:e>
                          <m:r>
                            <a:rPr lang="en-AU" sz="2800" b="0" i="1" smtClean="0">
                              <a:solidFill>
                                <a:srgbClr val="FF0000"/>
                              </a:solidFill>
                              <a:latin typeface="Cambria Math" panose="02040503050406030204" pitchFamily="18" charset="0"/>
                              <a:ea typeface="Cambria Math" panose="02040503050406030204" pitchFamily="18" charset="0"/>
                            </a:rPr>
                            <m:t>𝑟</m:t>
                          </m:r>
                        </m:e>
                        <m:sub>
                          <m:r>
                            <a:rPr lang="en-AU" sz="2800" b="0" i="1" smtClean="0">
                              <a:solidFill>
                                <a:srgbClr val="FF0000"/>
                              </a:solidFill>
                              <a:latin typeface="Cambria Math" panose="02040503050406030204" pitchFamily="18" charset="0"/>
                              <a:ea typeface="Cambria Math" panose="02040503050406030204" pitchFamily="18" charset="0"/>
                            </a:rPr>
                            <m:t>3</m:t>
                          </m:r>
                        </m:sub>
                      </m:sSub>
                      <m:r>
                        <a:rPr lang="en-AU" sz="2800" b="0" i="1" smtClean="0">
                          <a:solidFill>
                            <a:srgbClr val="FF0000"/>
                          </a:solidFill>
                          <a:latin typeface="Cambria Math" panose="02040503050406030204" pitchFamily="18" charset="0"/>
                          <a:ea typeface="Cambria Math" panose="02040503050406030204" pitchFamily="18" charset="0"/>
                        </a:rPr>
                        <m:t>=</m:t>
                      </m:r>
                      <m:sSub>
                        <m:sSubPr>
                          <m:ctrlPr>
                            <a:rPr lang="en-AU" sz="2800" b="0" i="1" smtClean="0">
                              <a:solidFill>
                                <a:srgbClr val="FF0000"/>
                              </a:solidFill>
                              <a:latin typeface="Cambria Math" panose="02040503050406030204" pitchFamily="18" charset="0"/>
                              <a:ea typeface="Cambria Math" panose="02040503050406030204" pitchFamily="18" charset="0"/>
                            </a:rPr>
                          </m:ctrlPr>
                        </m:sSubPr>
                        <m:e>
                          <m:r>
                            <a:rPr lang="en-AU" sz="2800" b="0" i="1" smtClean="0">
                              <a:solidFill>
                                <a:srgbClr val="FF0000"/>
                              </a:solidFill>
                              <a:latin typeface="Cambria Math" panose="02040503050406030204" pitchFamily="18" charset="0"/>
                              <a:ea typeface="Cambria Math" panose="02040503050406030204" pitchFamily="18" charset="0"/>
                            </a:rPr>
                            <m:t>𝑊</m:t>
                          </m:r>
                        </m:e>
                        <m:sub>
                          <m:r>
                            <a:rPr lang="en-AU" sz="2800" b="0" i="1" smtClean="0">
                              <a:solidFill>
                                <a:srgbClr val="FF0000"/>
                              </a:solidFill>
                              <a:latin typeface="Cambria Math" panose="02040503050406030204" pitchFamily="18" charset="0"/>
                              <a:ea typeface="Cambria Math" panose="02040503050406030204" pitchFamily="18" charset="0"/>
                            </a:rPr>
                            <m:t>1</m:t>
                          </m:r>
                        </m:sub>
                      </m:sSub>
                      <m:sSub>
                        <m:sSubPr>
                          <m:ctrlPr>
                            <a:rPr lang="en-AU" sz="2800" b="0" i="1" smtClean="0">
                              <a:solidFill>
                                <a:srgbClr val="FF0000"/>
                              </a:solidFill>
                              <a:latin typeface="Cambria Math" panose="02040503050406030204" pitchFamily="18" charset="0"/>
                              <a:ea typeface="Cambria Math" panose="02040503050406030204" pitchFamily="18" charset="0"/>
                            </a:rPr>
                          </m:ctrlPr>
                        </m:sSubPr>
                        <m:e>
                          <m:r>
                            <a:rPr lang="en-AU" sz="2800" b="0" i="1" smtClean="0">
                              <a:solidFill>
                                <a:srgbClr val="FF0000"/>
                              </a:solidFill>
                              <a:latin typeface="Cambria Math" panose="02040503050406030204" pitchFamily="18" charset="0"/>
                              <a:ea typeface="Cambria Math" panose="02040503050406030204" pitchFamily="18" charset="0"/>
                            </a:rPr>
                            <m:t>𝑟</m:t>
                          </m:r>
                        </m:e>
                        <m:sub>
                          <m:r>
                            <a:rPr lang="en-AU" sz="2800" b="0" i="1" smtClean="0">
                              <a:solidFill>
                                <a:srgbClr val="FF0000"/>
                              </a:solidFill>
                              <a:latin typeface="Cambria Math" panose="02040503050406030204" pitchFamily="18" charset="0"/>
                              <a:ea typeface="Cambria Math" panose="02040503050406030204" pitchFamily="18" charset="0"/>
                            </a:rPr>
                            <m:t>1</m:t>
                          </m:r>
                        </m:sub>
                      </m:sSub>
                      <m:r>
                        <a:rPr lang="en-AU" sz="2800" b="0" i="1" smtClean="0">
                          <a:solidFill>
                            <a:srgbClr val="FF0000"/>
                          </a:solidFill>
                          <a:latin typeface="Cambria Math" panose="02040503050406030204" pitchFamily="18" charset="0"/>
                          <a:ea typeface="Cambria Math" panose="02040503050406030204" pitchFamily="18" charset="0"/>
                        </a:rPr>
                        <m:t>+</m:t>
                      </m:r>
                      <m:sSub>
                        <m:sSubPr>
                          <m:ctrlPr>
                            <a:rPr lang="en-AU" sz="2800" b="0" i="1" smtClean="0">
                              <a:solidFill>
                                <a:srgbClr val="FF0000"/>
                              </a:solidFill>
                              <a:latin typeface="Cambria Math" panose="02040503050406030204" pitchFamily="18" charset="0"/>
                              <a:ea typeface="Cambria Math" panose="02040503050406030204" pitchFamily="18" charset="0"/>
                            </a:rPr>
                          </m:ctrlPr>
                        </m:sSubPr>
                        <m:e>
                          <m:r>
                            <a:rPr lang="en-AU" sz="2800" b="0" i="1" smtClean="0">
                              <a:solidFill>
                                <a:srgbClr val="FF0000"/>
                              </a:solidFill>
                              <a:latin typeface="Cambria Math" panose="02040503050406030204" pitchFamily="18" charset="0"/>
                              <a:ea typeface="Cambria Math" panose="02040503050406030204" pitchFamily="18" charset="0"/>
                            </a:rPr>
                            <m:t>𝑊</m:t>
                          </m:r>
                        </m:e>
                        <m:sub>
                          <m:r>
                            <a:rPr lang="en-AU" sz="2800" b="0" i="1" smtClean="0">
                              <a:solidFill>
                                <a:srgbClr val="FF0000"/>
                              </a:solidFill>
                              <a:latin typeface="Cambria Math" panose="02040503050406030204" pitchFamily="18" charset="0"/>
                              <a:ea typeface="Cambria Math" panose="02040503050406030204" pitchFamily="18" charset="0"/>
                            </a:rPr>
                            <m:t>2</m:t>
                          </m:r>
                        </m:sub>
                      </m:sSub>
                      <m:sSub>
                        <m:sSubPr>
                          <m:ctrlPr>
                            <a:rPr lang="en-AU" sz="2800" b="0" i="1" smtClean="0">
                              <a:solidFill>
                                <a:srgbClr val="FF0000"/>
                              </a:solidFill>
                              <a:latin typeface="Cambria Math" panose="02040503050406030204" pitchFamily="18" charset="0"/>
                              <a:ea typeface="Cambria Math" panose="02040503050406030204" pitchFamily="18" charset="0"/>
                            </a:rPr>
                          </m:ctrlPr>
                        </m:sSubPr>
                        <m:e>
                          <m:r>
                            <a:rPr lang="en-AU" sz="2800" b="0" i="1" smtClean="0">
                              <a:solidFill>
                                <a:srgbClr val="FF0000"/>
                              </a:solidFill>
                              <a:latin typeface="Cambria Math" panose="02040503050406030204" pitchFamily="18" charset="0"/>
                              <a:ea typeface="Cambria Math" panose="02040503050406030204" pitchFamily="18" charset="0"/>
                            </a:rPr>
                            <m:t>𝑟</m:t>
                          </m:r>
                        </m:e>
                        <m:sub>
                          <m:r>
                            <a:rPr lang="en-AU" sz="2800" b="0" i="1" smtClean="0">
                              <a:solidFill>
                                <a:srgbClr val="FF0000"/>
                              </a:solidFill>
                              <a:latin typeface="Cambria Math" panose="02040503050406030204" pitchFamily="18" charset="0"/>
                              <a:ea typeface="Cambria Math" panose="02040503050406030204" pitchFamily="18" charset="0"/>
                            </a:rPr>
                            <m:t>2</m:t>
                          </m:r>
                        </m:sub>
                      </m:sSub>
                    </m:oMath>
                  </m:oMathPara>
                </a14:m>
                <a:endParaRPr lang="en-AU" sz="2800" b="0" dirty="0">
                  <a:solidFill>
                    <a:srgbClr val="FF0000"/>
                  </a:solidFill>
                  <a:ea typeface="Cambria Math" panose="02040503050406030204" pitchFamily="18" charset="0"/>
                </a:endParaRPr>
              </a:p>
              <a:p>
                <a:r>
                  <a:rPr lang="en-AU" sz="2800" dirty="0">
                    <a:solidFill>
                      <a:srgbClr val="FF0000"/>
                    </a:solidFill>
                  </a:rPr>
                  <a:t>0.45 W</a:t>
                </a:r>
                <a:r>
                  <a:rPr lang="en-AU" sz="2800" baseline="-25000" dirty="0">
                    <a:solidFill>
                      <a:srgbClr val="FF0000"/>
                    </a:solidFill>
                  </a:rPr>
                  <a:t>3 </a:t>
                </a:r>
                <a:r>
                  <a:rPr lang="en-AU" sz="2800" dirty="0">
                    <a:solidFill>
                      <a:srgbClr val="FF0000"/>
                    </a:solidFill>
                  </a:rPr>
                  <a:t>= 2*0.5 + 1*0.25</a:t>
                </a:r>
              </a:p>
              <a:p>
                <a:pPr algn="ctr"/>
                <a:r>
                  <a:rPr lang="en-AU" sz="2800" dirty="0">
                    <a:solidFill>
                      <a:srgbClr val="FF0000"/>
                    </a:solidFill>
                  </a:rPr>
                  <a:t>0.45 W</a:t>
                </a:r>
                <a:r>
                  <a:rPr lang="en-AU" sz="2800" baseline="-25000" dirty="0">
                    <a:solidFill>
                      <a:srgbClr val="FF0000"/>
                    </a:solidFill>
                  </a:rPr>
                  <a:t>3 </a:t>
                </a:r>
                <a:r>
                  <a:rPr lang="en-AU" sz="2800" dirty="0">
                    <a:solidFill>
                      <a:srgbClr val="FF0000"/>
                    </a:solidFill>
                  </a:rPr>
                  <a:t>= 1.25</a:t>
                </a:r>
              </a:p>
              <a:p>
                <a:pPr algn="ctr"/>
                <a:r>
                  <a:rPr lang="en-AU" sz="2800" baseline="-25000" dirty="0">
                    <a:solidFill>
                      <a:srgbClr val="FF0000"/>
                    </a:solidFill>
                  </a:rPr>
                  <a:t> </a:t>
                </a:r>
                <a:endParaRPr lang="en-AU" sz="2800" dirty="0">
                  <a:solidFill>
                    <a:srgbClr val="FF0000"/>
                  </a:solidFill>
                </a:endParaRPr>
              </a:p>
              <a:p>
                <a:pPr algn="ctr"/>
                <a:r>
                  <a:rPr lang="en-AU" sz="2800" dirty="0">
                    <a:solidFill>
                      <a:srgbClr val="FF0000"/>
                    </a:solidFill>
                  </a:rPr>
                  <a:t> W</a:t>
                </a:r>
                <a:r>
                  <a:rPr lang="en-AU" sz="2800" baseline="-25000" dirty="0">
                    <a:solidFill>
                      <a:srgbClr val="FF0000"/>
                    </a:solidFill>
                  </a:rPr>
                  <a:t>3</a:t>
                </a:r>
                <a:r>
                  <a:rPr lang="en-AU" sz="2800" dirty="0">
                    <a:solidFill>
                      <a:srgbClr val="FF0000"/>
                    </a:solidFill>
                  </a:rPr>
                  <a:t> = 2.78 N</a:t>
                </a:r>
              </a:p>
              <a:p>
                <a:endParaRPr lang="en-AU" sz="3200" dirty="0">
                  <a:solidFill>
                    <a:srgbClr val="FF0000"/>
                  </a:solidFill>
                </a:endParaRPr>
              </a:p>
            </p:txBody>
          </p:sp>
        </mc:Choice>
        <mc:Fallback xmlns="">
          <p:sp>
            <p:nvSpPr>
              <p:cNvPr id="25" name="TextBox 24">
                <a:extLst>
                  <a:ext uri="{FF2B5EF4-FFF2-40B4-BE49-F238E27FC236}">
                    <a16:creationId xmlns:a16="http://schemas.microsoft.com/office/drawing/2014/main" id="{D39A76EB-F876-7AD6-C6C3-7F2830EC0E6D}"/>
                  </a:ext>
                </a:extLst>
              </p:cNvPr>
              <p:cNvSpPr txBox="1">
                <a:spLocks noRot="1" noChangeAspect="1" noMove="1" noResize="1" noEditPoints="1" noAdjustHandles="1" noChangeArrowheads="1" noChangeShapeType="1" noTextEdit="1"/>
              </p:cNvSpPr>
              <p:nvPr/>
            </p:nvSpPr>
            <p:spPr>
              <a:xfrm>
                <a:off x="7100117" y="3901114"/>
                <a:ext cx="4386838" cy="2646878"/>
              </a:xfrm>
              <a:prstGeom prst="rect">
                <a:avLst/>
              </a:prstGeom>
              <a:blipFill>
                <a:blip r:embed="rId4"/>
                <a:stretch>
                  <a:fillRect l="-5007"/>
                </a:stretch>
              </a:blipFill>
              <a:ln>
                <a:noFill/>
              </a:ln>
            </p:spPr>
            <p:txBody>
              <a:bodyPr/>
              <a:lstStyle/>
              <a:p>
                <a:r>
                  <a:rPr lang="en-AU">
                    <a:noFill/>
                  </a:rPr>
                  <a:t> </a:t>
                </a:r>
              </a:p>
            </p:txBody>
          </p:sp>
        </mc:Fallback>
      </mc:AlternateContent>
    </p:spTree>
    <p:extLst>
      <p:ext uri="{BB962C8B-B14F-4D97-AF65-F5344CB8AC3E}">
        <p14:creationId xmlns:p14="http://schemas.microsoft.com/office/powerpoint/2010/main" val="3109868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2">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2">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2">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P spid="2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Rotational Equilibrium</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90507"/>
            <a:ext cx="3779478" cy="319722"/>
          </a:xfrm>
        </p:spPr>
        <p:txBody>
          <a:bodyPr/>
          <a:lstStyle/>
          <a:p>
            <a:r>
              <a:rPr lang="en-AU" dirty="0"/>
              <a:t>You do</a:t>
            </a:r>
          </a:p>
        </p:txBody>
      </p:sp>
      <p:sp>
        <p:nvSpPr>
          <p:cNvPr id="3" name="Text Placeholder 3">
            <a:extLst>
              <a:ext uri="{FF2B5EF4-FFF2-40B4-BE49-F238E27FC236}">
                <a16:creationId xmlns:a16="http://schemas.microsoft.com/office/drawing/2014/main" id="{B3D51402-C84D-7F5A-820C-CA23A015983B}"/>
              </a:ext>
            </a:extLst>
          </p:cNvPr>
          <p:cNvSpPr txBox="1">
            <a:spLocks/>
          </p:cNvSpPr>
          <p:nvPr/>
        </p:nvSpPr>
        <p:spPr>
          <a:xfrm>
            <a:off x="295274" y="914330"/>
            <a:ext cx="11896725"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AU" sz="2000" b="0" dirty="0"/>
              <a:t>Three people are sitting on a see-saw. Two people are on the left arm: one with a mass of 45.0 kg at a distance of 1.20m from the pivot, one with a mass of 60.0 kg at a distance of 0.80m from the pivot.</a:t>
            </a:r>
          </a:p>
          <a:p>
            <a:pPr algn="just"/>
            <a:r>
              <a:rPr lang="en-AU" sz="2000" b="0" dirty="0"/>
              <a:t>The third person has a mass of 75 kg. How far from the pivot must they sit for the see-saw to be in rotational equilibrium?</a:t>
            </a:r>
          </a:p>
          <a:p>
            <a:pPr algn="just"/>
            <a:endParaRPr lang="en-AU" sz="2400" b="0" dirty="0"/>
          </a:p>
          <a:p>
            <a:pPr algn="just"/>
            <a:endParaRPr lang="en-AU" sz="2400" b="0" dirty="0"/>
          </a:p>
          <a:p>
            <a:pPr algn="just"/>
            <a:endParaRPr lang="en-AU" sz="2400" b="0" dirty="0"/>
          </a:p>
          <a:p>
            <a:pPr algn="just"/>
            <a:endParaRPr lang="en-AU" sz="2400" b="0" dirty="0"/>
          </a:p>
          <a:p>
            <a:pPr algn="just"/>
            <a:r>
              <a:rPr lang="en-AU" sz="2400" b="0" dirty="0"/>
              <a:t> </a:t>
            </a:r>
          </a:p>
        </p:txBody>
      </p:sp>
      <p:sp>
        <p:nvSpPr>
          <p:cNvPr id="5" name="Rectangle 4">
            <a:extLst>
              <a:ext uri="{FF2B5EF4-FFF2-40B4-BE49-F238E27FC236}">
                <a16:creationId xmlns:a16="http://schemas.microsoft.com/office/drawing/2014/main" id="{1D867F31-A44C-E397-F293-E0DE5B4683A7}"/>
              </a:ext>
            </a:extLst>
          </p:cNvPr>
          <p:cNvSpPr/>
          <p:nvPr/>
        </p:nvSpPr>
        <p:spPr>
          <a:xfrm>
            <a:off x="9577388" y="215154"/>
            <a:ext cx="2614612" cy="69122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000" b="1" dirty="0">
                <a:solidFill>
                  <a:schemeClr val="tx1"/>
                </a:solidFill>
              </a:rPr>
              <a:t>Draw a picture!</a:t>
            </a:r>
          </a:p>
        </p:txBody>
      </p:sp>
    </p:spTree>
    <p:extLst>
      <p:ext uri="{BB962C8B-B14F-4D97-AF65-F5344CB8AC3E}">
        <p14:creationId xmlns:p14="http://schemas.microsoft.com/office/powerpoint/2010/main" val="13579286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Rotational Equilibrium</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90507"/>
            <a:ext cx="3779478" cy="319722"/>
          </a:xfrm>
        </p:spPr>
        <p:txBody>
          <a:bodyPr/>
          <a:lstStyle/>
          <a:p>
            <a:r>
              <a:rPr lang="en-AU" dirty="0"/>
              <a:t>You do</a:t>
            </a:r>
          </a:p>
        </p:txBody>
      </p:sp>
      <p:sp>
        <p:nvSpPr>
          <p:cNvPr id="3" name="Text Placeholder 3">
            <a:extLst>
              <a:ext uri="{FF2B5EF4-FFF2-40B4-BE49-F238E27FC236}">
                <a16:creationId xmlns:a16="http://schemas.microsoft.com/office/drawing/2014/main" id="{B3D51402-C84D-7F5A-820C-CA23A015983B}"/>
              </a:ext>
            </a:extLst>
          </p:cNvPr>
          <p:cNvSpPr txBox="1">
            <a:spLocks/>
          </p:cNvSpPr>
          <p:nvPr/>
        </p:nvSpPr>
        <p:spPr>
          <a:xfrm>
            <a:off x="295274" y="914330"/>
            <a:ext cx="11896725"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endParaRPr lang="en-AU" sz="2400" b="0" dirty="0"/>
          </a:p>
          <a:p>
            <a:pPr algn="just"/>
            <a:endParaRPr lang="en-AU" sz="2400" b="0" dirty="0"/>
          </a:p>
          <a:p>
            <a:pPr algn="just"/>
            <a:endParaRPr lang="en-AU" sz="2400" b="0" dirty="0"/>
          </a:p>
          <a:p>
            <a:pPr algn="just"/>
            <a:endParaRPr lang="en-AU" sz="2400" b="0" dirty="0"/>
          </a:p>
          <a:p>
            <a:pPr algn="just"/>
            <a:r>
              <a:rPr lang="en-AU" sz="2400" b="0" dirty="0"/>
              <a:t> </a:t>
            </a:r>
          </a:p>
        </p:txBody>
      </p:sp>
      <p:sp>
        <p:nvSpPr>
          <p:cNvPr id="6" name="Rectangle 5">
            <a:extLst>
              <a:ext uri="{FF2B5EF4-FFF2-40B4-BE49-F238E27FC236}">
                <a16:creationId xmlns:a16="http://schemas.microsoft.com/office/drawing/2014/main" id="{E7FD13D1-BCE1-67FB-1C99-F7B1C4458FB7}"/>
              </a:ext>
            </a:extLst>
          </p:cNvPr>
          <p:cNvSpPr/>
          <p:nvPr/>
        </p:nvSpPr>
        <p:spPr>
          <a:xfrm>
            <a:off x="591692" y="1982883"/>
            <a:ext cx="4114800" cy="662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Isosceles Triangle 6">
            <a:extLst>
              <a:ext uri="{FF2B5EF4-FFF2-40B4-BE49-F238E27FC236}">
                <a16:creationId xmlns:a16="http://schemas.microsoft.com/office/drawing/2014/main" id="{C40CBD42-6B2A-9027-89C0-1313FDC9A895}"/>
              </a:ext>
            </a:extLst>
          </p:cNvPr>
          <p:cNvSpPr/>
          <p:nvPr/>
        </p:nvSpPr>
        <p:spPr>
          <a:xfrm>
            <a:off x="2515273" y="2067960"/>
            <a:ext cx="317872" cy="274028"/>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Rectangle 7">
            <a:extLst>
              <a:ext uri="{FF2B5EF4-FFF2-40B4-BE49-F238E27FC236}">
                <a16:creationId xmlns:a16="http://schemas.microsoft.com/office/drawing/2014/main" id="{6D82DC6D-A573-1D6D-2DB1-13E0020D3E85}"/>
              </a:ext>
            </a:extLst>
          </p:cNvPr>
          <p:cNvSpPr/>
          <p:nvPr/>
        </p:nvSpPr>
        <p:spPr>
          <a:xfrm>
            <a:off x="751712" y="1548543"/>
            <a:ext cx="274320" cy="434445"/>
          </a:xfrm>
          <a:prstGeom prst="rect">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9" name="Straight Arrow Connector 8">
            <a:extLst>
              <a:ext uri="{FF2B5EF4-FFF2-40B4-BE49-F238E27FC236}">
                <a16:creationId xmlns:a16="http://schemas.microsoft.com/office/drawing/2014/main" id="{32C14EF0-65A7-D00B-701C-32B4DF7A6BFE}"/>
              </a:ext>
            </a:extLst>
          </p:cNvPr>
          <p:cNvCxnSpPr/>
          <p:nvPr/>
        </p:nvCxnSpPr>
        <p:spPr>
          <a:xfrm>
            <a:off x="886967" y="1811433"/>
            <a:ext cx="0" cy="662940"/>
          </a:xfrm>
          <a:prstGeom prst="straightConnector1">
            <a:avLst/>
          </a:prstGeom>
          <a:ln w="1905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B47B710A-94FF-193C-FB47-258F9649B151}"/>
              </a:ext>
            </a:extLst>
          </p:cNvPr>
          <p:cNvSpPr txBox="1"/>
          <p:nvPr/>
        </p:nvSpPr>
        <p:spPr>
          <a:xfrm>
            <a:off x="857087" y="2083563"/>
            <a:ext cx="1460906" cy="369332"/>
          </a:xfrm>
          <a:prstGeom prst="rect">
            <a:avLst/>
          </a:prstGeom>
          <a:noFill/>
          <a:ln>
            <a:noFill/>
          </a:ln>
        </p:spPr>
        <p:txBody>
          <a:bodyPr wrap="square">
            <a:spAutoFit/>
          </a:bodyPr>
          <a:lstStyle/>
          <a:p>
            <a:pPr algn="just"/>
            <a:r>
              <a:rPr lang="en-AU" dirty="0">
                <a:latin typeface="Century Gothic" panose="020B0502020202020204" pitchFamily="34" charset="0"/>
              </a:rPr>
              <a:t>W</a:t>
            </a:r>
            <a:r>
              <a:rPr lang="en-AU" baseline="-25000" dirty="0">
                <a:latin typeface="Century Gothic" panose="020B0502020202020204" pitchFamily="34" charset="0"/>
              </a:rPr>
              <a:t>1</a:t>
            </a:r>
            <a:r>
              <a:rPr lang="en-AU" dirty="0">
                <a:latin typeface="Century Gothic" panose="020B0502020202020204" pitchFamily="34" charset="0"/>
              </a:rPr>
              <a:t>=12 N</a:t>
            </a:r>
          </a:p>
        </p:txBody>
      </p:sp>
      <p:sp>
        <p:nvSpPr>
          <p:cNvPr id="13" name="TextBox 12">
            <a:extLst>
              <a:ext uri="{FF2B5EF4-FFF2-40B4-BE49-F238E27FC236}">
                <a16:creationId xmlns:a16="http://schemas.microsoft.com/office/drawing/2014/main" id="{CE49F179-C4DE-B468-A239-9823AA2EEAAA}"/>
              </a:ext>
            </a:extLst>
          </p:cNvPr>
          <p:cNvSpPr txBox="1"/>
          <p:nvPr/>
        </p:nvSpPr>
        <p:spPr>
          <a:xfrm>
            <a:off x="4440800" y="1301797"/>
            <a:ext cx="1096516" cy="369332"/>
          </a:xfrm>
          <a:prstGeom prst="rect">
            <a:avLst/>
          </a:prstGeom>
          <a:noFill/>
          <a:ln>
            <a:noFill/>
          </a:ln>
        </p:spPr>
        <p:txBody>
          <a:bodyPr wrap="square">
            <a:spAutoFit/>
          </a:bodyPr>
          <a:lstStyle/>
          <a:p>
            <a:pPr algn="just"/>
            <a:r>
              <a:rPr lang="en-AU" dirty="0">
                <a:latin typeface="Century Gothic" panose="020B0502020202020204" pitchFamily="34" charset="0"/>
              </a:rPr>
              <a:t>T = 10 N</a:t>
            </a:r>
            <a:endParaRPr lang="en-AU" baseline="-25000" dirty="0">
              <a:latin typeface="Century Gothic" panose="020B0502020202020204" pitchFamily="34" charset="0"/>
            </a:endParaRPr>
          </a:p>
        </p:txBody>
      </p:sp>
      <p:sp>
        <p:nvSpPr>
          <p:cNvPr id="14" name="Rectangle 13">
            <a:extLst>
              <a:ext uri="{FF2B5EF4-FFF2-40B4-BE49-F238E27FC236}">
                <a16:creationId xmlns:a16="http://schemas.microsoft.com/office/drawing/2014/main" id="{BCE6C3CA-E29E-F9A7-54C4-CE35912D477A}"/>
              </a:ext>
            </a:extLst>
          </p:cNvPr>
          <p:cNvSpPr/>
          <p:nvPr/>
        </p:nvSpPr>
        <p:spPr>
          <a:xfrm>
            <a:off x="1714169" y="1104110"/>
            <a:ext cx="232731" cy="248296"/>
          </a:xfrm>
          <a:prstGeom prst="rect">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6" name="TextBox 15">
            <a:extLst>
              <a:ext uri="{FF2B5EF4-FFF2-40B4-BE49-F238E27FC236}">
                <a16:creationId xmlns:a16="http://schemas.microsoft.com/office/drawing/2014/main" id="{17661214-C4FC-D433-0533-C07CA835293C}"/>
              </a:ext>
            </a:extLst>
          </p:cNvPr>
          <p:cNvSpPr txBox="1"/>
          <p:nvPr/>
        </p:nvSpPr>
        <p:spPr>
          <a:xfrm>
            <a:off x="1926332" y="1055941"/>
            <a:ext cx="1734339" cy="369332"/>
          </a:xfrm>
          <a:prstGeom prst="rect">
            <a:avLst/>
          </a:prstGeom>
          <a:noFill/>
          <a:ln>
            <a:noFill/>
          </a:ln>
        </p:spPr>
        <p:txBody>
          <a:bodyPr wrap="square">
            <a:spAutoFit/>
          </a:bodyPr>
          <a:lstStyle/>
          <a:p>
            <a:pPr algn="just"/>
            <a:r>
              <a:rPr lang="en-AU" dirty="0">
                <a:latin typeface="Century Gothic" panose="020B0502020202020204" pitchFamily="34" charset="0"/>
              </a:rPr>
              <a:t>W</a:t>
            </a:r>
            <a:r>
              <a:rPr lang="en-AU" baseline="-25000" dirty="0">
                <a:latin typeface="Century Gothic" panose="020B0502020202020204" pitchFamily="34" charset="0"/>
              </a:rPr>
              <a:t>2 </a:t>
            </a:r>
            <a:r>
              <a:rPr lang="en-AU" dirty="0">
                <a:latin typeface="Century Gothic" panose="020B0502020202020204" pitchFamily="34" charset="0"/>
              </a:rPr>
              <a:t>= 33 N</a:t>
            </a:r>
            <a:r>
              <a:rPr lang="en-AU" baseline="-25000" dirty="0">
                <a:latin typeface="Century Gothic" panose="020B0502020202020204" pitchFamily="34" charset="0"/>
              </a:rPr>
              <a:t> </a:t>
            </a:r>
          </a:p>
        </p:txBody>
      </p:sp>
      <p:cxnSp>
        <p:nvCxnSpPr>
          <p:cNvPr id="17" name="Straight Arrow Connector 16">
            <a:extLst>
              <a:ext uri="{FF2B5EF4-FFF2-40B4-BE49-F238E27FC236}">
                <a16:creationId xmlns:a16="http://schemas.microsoft.com/office/drawing/2014/main" id="{0AD0B882-D0EA-098C-457B-9C55A45F0E40}"/>
              </a:ext>
            </a:extLst>
          </p:cNvPr>
          <p:cNvCxnSpPr/>
          <p:nvPr/>
        </p:nvCxnSpPr>
        <p:spPr>
          <a:xfrm>
            <a:off x="886967" y="2577814"/>
            <a:ext cx="1762125" cy="0"/>
          </a:xfrm>
          <a:prstGeom prst="straightConnector1">
            <a:avLst/>
          </a:prstGeom>
          <a:ln>
            <a:solidFill>
              <a:schemeClr val="tx1">
                <a:lumMod val="50000"/>
                <a:lumOff val="50000"/>
              </a:schemeClr>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877008E3-AB90-35FC-EC4D-A86647C17776}"/>
              </a:ext>
            </a:extLst>
          </p:cNvPr>
          <p:cNvSpPr txBox="1"/>
          <p:nvPr/>
        </p:nvSpPr>
        <p:spPr>
          <a:xfrm>
            <a:off x="1253155" y="2562413"/>
            <a:ext cx="1262118" cy="369332"/>
          </a:xfrm>
          <a:prstGeom prst="rect">
            <a:avLst/>
          </a:prstGeom>
          <a:noFill/>
          <a:ln>
            <a:noFill/>
          </a:ln>
        </p:spPr>
        <p:txBody>
          <a:bodyPr wrap="square">
            <a:spAutoFit/>
          </a:bodyPr>
          <a:lstStyle/>
          <a:p>
            <a:pPr algn="just"/>
            <a:r>
              <a:rPr lang="en-AU" dirty="0">
                <a:latin typeface="Century Gothic" panose="020B0502020202020204" pitchFamily="34" charset="0"/>
              </a:rPr>
              <a:t>r</a:t>
            </a:r>
            <a:r>
              <a:rPr lang="en-AU" baseline="-25000" dirty="0">
                <a:latin typeface="Century Gothic" panose="020B0502020202020204" pitchFamily="34" charset="0"/>
              </a:rPr>
              <a:t>1</a:t>
            </a:r>
            <a:r>
              <a:rPr lang="en-AU" dirty="0">
                <a:latin typeface="Century Gothic" panose="020B0502020202020204" pitchFamily="34" charset="0"/>
              </a:rPr>
              <a:t> = 3 m </a:t>
            </a:r>
            <a:endParaRPr lang="en-AU" baseline="-25000" dirty="0">
              <a:latin typeface="Century Gothic" panose="020B0502020202020204" pitchFamily="34" charset="0"/>
            </a:endParaRPr>
          </a:p>
        </p:txBody>
      </p:sp>
      <p:cxnSp>
        <p:nvCxnSpPr>
          <p:cNvPr id="21" name="Straight Arrow Connector 20">
            <a:extLst>
              <a:ext uri="{FF2B5EF4-FFF2-40B4-BE49-F238E27FC236}">
                <a16:creationId xmlns:a16="http://schemas.microsoft.com/office/drawing/2014/main" id="{EF0CBC30-3738-1F13-59C1-84C5032EF034}"/>
              </a:ext>
            </a:extLst>
          </p:cNvPr>
          <p:cNvCxnSpPr>
            <a:cxnSpLocks/>
          </p:cNvCxnSpPr>
          <p:nvPr/>
        </p:nvCxnSpPr>
        <p:spPr>
          <a:xfrm flipV="1">
            <a:off x="2649092" y="1811328"/>
            <a:ext cx="1630307" cy="5854"/>
          </a:xfrm>
          <a:prstGeom prst="straightConnector1">
            <a:avLst/>
          </a:prstGeom>
          <a:ln>
            <a:solidFill>
              <a:schemeClr val="tx1">
                <a:lumMod val="50000"/>
                <a:lumOff val="50000"/>
              </a:schemeClr>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4D1ABDC6-F67A-1234-998A-7FC508ED3975}"/>
              </a:ext>
            </a:extLst>
          </p:cNvPr>
          <p:cNvSpPr txBox="1"/>
          <p:nvPr/>
        </p:nvSpPr>
        <p:spPr>
          <a:xfrm>
            <a:off x="2902677" y="1447778"/>
            <a:ext cx="1214939" cy="369332"/>
          </a:xfrm>
          <a:prstGeom prst="rect">
            <a:avLst/>
          </a:prstGeom>
          <a:noFill/>
          <a:ln>
            <a:noFill/>
          </a:ln>
        </p:spPr>
        <p:txBody>
          <a:bodyPr wrap="square">
            <a:spAutoFit/>
          </a:bodyPr>
          <a:lstStyle/>
          <a:p>
            <a:pPr algn="just"/>
            <a:r>
              <a:rPr lang="en-AU" dirty="0">
                <a:latin typeface="Century Gothic" panose="020B0502020202020204" pitchFamily="34" charset="0"/>
              </a:rPr>
              <a:t>r</a:t>
            </a:r>
            <a:r>
              <a:rPr lang="en-AU" baseline="-25000" dirty="0">
                <a:latin typeface="Century Gothic" panose="020B0502020202020204" pitchFamily="34" charset="0"/>
              </a:rPr>
              <a:t>3 </a:t>
            </a:r>
            <a:r>
              <a:rPr lang="en-AU" dirty="0">
                <a:latin typeface="Century Gothic" panose="020B0502020202020204" pitchFamily="34" charset="0"/>
              </a:rPr>
              <a:t>= 3 m</a:t>
            </a:r>
          </a:p>
        </p:txBody>
      </p:sp>
      <p:pic>
        <p:nvPicPr>
          <p:cNvPr id="25" name="Picture 24">
            <a:extLst>
              <a:ext uri="{FF2B5EF4-FFF2-40B4-BE49-F238E27FC236}">
                <a16:creationId xmlns:a16="http://schemas.microsoft.com/office/drawing/2014/main" id="{24C120AD-6548-DBD5-A6B8-1290AD9705CA}"/>
              </a:ext>
            </a:extLst>
          </p:cNvPr>
          <p:cNvPicPr>
            <a:picLocks noChangeAspect="1"/>
          </p:cNvPicPr>
          <p:nvPr/>
        </p:nvPicPr>
        <p:blipFill rotWithShape="1">
          <a:blip r:embed="rId3">
            <a:extLst>
              <a:ext uri="{BEBA8EAE-BF5A-486C-A8C5-ECC9F3942E4B}">
                <a14:imgProps xmlns:a14="http://schemas.microsoft.com/office/drawing/2010/main">
                  <a14:imgLayer r:embed="rId4">
                    <a14:imgEffect>
                      <a14:backgroundRemoval t="12355" b="87452" l="40938" r="50938">
                        <a14:foregroundMark x1="47917" y1="13127" x2="46875" y2="12741"/>
                        <a14:foregroundMark x1="50417" y1="75097" x2="50938" y2="78958"/>
                        <a14:foregroundMark x1="43125" y1="86100" x2="45938" y2="87452"/>
                      </a14:backgroundRemoval>
                    </a14:imgEffect>
                  </a14:imgLayer>
                </a14:imgProps>
              </a:ext>
            </a:extLst>
          </a:blip>
          <a:srcRect l="39796" t="9033" r="48147" b="8468"/>
          <a:stretch/>
        </p:blipFill>
        <p:spPr>
          <a:xfrm>
            <a:off x="4187148" y="888931"/>
            <a:ext cx="274124" cy="1312159"/>
          </a:xfrm>
          <a:prstGeom prst="rect">
            <a:avLst/>
          </a:prstGeom>
        </p:spPr>
      </p:pic>
      <p:sp>
        <p:nvSpPr>
          <p:cNvPr id="26" name="Rectangle 25">
            <a:extLst>
              <a:ext uri="{FF2B5EF4-FFF2-40B4-BE49-F238E27FC236}">
                <a16:creationId xmlns:a16="http://schemas.microsoft.com/office/drawing/2014/main" id="{1BF66C8D-4C84-9466-4267-17CF1FA4B16D}"/>
              </a:ext>
            </a:extLst>
          </p:cNvPr>
          <p:cNvSpPr/>
          <p:nvPr/>
        </p:nvSpPr>
        <p:spPr>
          <a:xfrm>
            <a:off x="4074753" y="1029232"/>
            <a:ext cx="800600" cy="74878"/>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7" name="Text Placeholder 3">
            <a:extLst>
              <a:ext uri="{FF2B5EF4-FFF2-40B4-BE49-F238E27FC236}">
                <a16:creationId xmlns:a16="http://schemas.microsoft.com/office/drawing/2014/main" id="{943BA7ED-877B-289E-2294-2EF3DD4B5EF6}"/>
              </a:ext>
            </a:extLst>
          </p:cNvPr>
          <p:cNvSpPr txBox="1">
            <a:spLocks/>
          </p:cNvSpPr>
          <p:nvPr/>
        </p:nvSpPr>
        <p:spPr>
          <a:xfrm>
            <a:off x="295274" y="3056664"/>
            <a:ext cx="448627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AU" sz="2000" b="0" dirty="0"/>
              <a:t>Where would you place the 33 N weight so that the beam is in rotational equilibrium? </a:t>
            </a:r>
            <a:endParaRPr lang="en-AU" sz="2400" b="0" dirty="0"/>
          </a:p>
          <a:p>
            <a:pPr algn="just"/>
            <a:endParaRPr lang="en-AU" sz="2400" b="0" dirty="0"/>
          </a:p>
          <a:p>
            <a:pPr algn="just"/>
            <a:endParaRPr lang="en-AU" sz="2400" b="0" dirty="0"/>
          </a:p>
          <a:p>
            <a:pPr algn="just"/>
            <a:r>
              <a:rPr lang="en-AU" sz="2400" b="0" dirty="0"/>
              <a:t> </a:t>
            </a:r>
          </a:p>
        </p:txBody>
      </p:sp>
      <p:cxnSp>
        <p:nvCxnSpPr>
          <p:cNvPr id="12" name="Straight Arrow Connector 11">
            <a:extLst>
              <a:ext uri="{FF2B5EF4-FFF2-40B4-BE49-F238E27FC236}">
                <a16:creationId xmlns:a16="http://schemas.microsoft.com/office/drawing/2014/main" id="{0F3CCED9-A037-150B-6AA2-4D70642FF148}"/>
              </a:ext>
            </a:extLst>
          </p:cNvPr>
          <p:cNvCxnSpPr>
            <a:cxnSpLocks/>
          </p:cNvCxnSpPr>
          <p:nvPr/>
        </p:nvCxnSpPr>
        <p:spPr>
          <a:xfrm flipV="1">
            <a:off x="4345105" y="1221839"/>
            <a:ext cx="0" cy="76104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271389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Translational Equilibrium</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90507"/>
            <a:ext cx="3779478" cy="319722"/>
          </a:xfrm>
        </p:spPr>
        <p:txBody>
          <a:bodyPr/>
          <a:lstStyle/>
          <a:p>
            <a:r>
              <a:rPr lang="en-AU" dirty="0"/>
              <a:t>Content Development</a:t>
            </a:r>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8" name="Text Placeholder 3">
            <a:extLst>
              <a:ext uri="{FF2B5EF4-FFF2-40B4-BE49-F238E27FC236}">
                <a16:creationId xmlns:a16="http://schemas.microsoft.com/office/drawing/2014/main" id="{7E11F69C-68AB-4B11-9E75-0C0F6E869F68}"/>
              </a:ext>
            </a:extLst>
          </p:cNvPr>
          <p:cNvSpPr txBox="1">
            <a:spLocks/>
          </p:cNvSpPr>
          <p:nvPr/>
        </p:nvSpPr>
        <p:spPr>
          <a:xfrm>
            <a:off x="295274" y="914330"/>
            <a:ext cx="11896725"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AU" sz="2400" b="0" dirty="0"/>
              <a:t>In addition to rotational equilibrium, there is </a:t>
            </a:r>
            <a:r>
              <a:rPr lang="en-AU" sz="2400" dirty="0"/>
              <a:t>translational equilibrium</a:t>
            </a:r>
            <a:r>
              <a:rPr lang="en-AU" sz="2400" b="0" dirty="0"/>
              <a:t>.</a:t>
            </a:r>
          </a:p>
          <a:p>
            <a:pPr algn="just"/>
            <a:r>
              <a:rPr lang="en-AU" sz="2400" b="0" dirty="0"/>
              <a:t>Rotational equilibrium = the lever is not turning (rotating).</a:t>
            </a:r>
          </a:p>
          <a:p>
            <a:pPr algn="just"/>
            <a:r>
              <a:rPr lang="en-AU" sz="2400" b="0" dirty="0"/>
              <a:t>Translation equilibrium = the lever is not being pushed in any direction.</a:t>
            </a:r>
          </a:p>
          <a:p>
            <a:pPr algn="just"/>
            <a:endParaRPr lang="en-AU" sz="2400" b="0" dirty="0"/>
          </a:p>
          <a:p>
            <a:pPr algn="just"/>
            <a:r>
              <a:rPr lang="en-AU" sz="2400" b="0" dirty="0"/>
              <a:t>This occurs with the sum of forces acting on the lever are zero.</a:t>
            </a:r>
          </a:p>
          <a:p>
            <a:pPr algn="just"/>
            <a:endParaRPr lang="en-AU" sz="2400" b="0" dirty="0"/>
          </a:p>
          <a:p>
            <a:pPr algn="just"/>
            <a:endParaRPr lang="en-AU" sz="2400" b="0" dirty="0"/>
          </a:p>
          <a:p>
            <a:pPr algn="just"/>
            <a:endParaRPr lang="en-AU" sz="2400" b="0" dirty="0"/>
          </a:p>
          <a:p>
            <a:pPr algn="just"/>
            <a:endParaRPr lang="en-AU" sz="2400" b="0" dirty="0"/>
          </a:p>
          <a:p>
            <a:pPr algn="just"/>
            <a:r>
              <a:rPr lang="en-AU" sz="2400" b="0" dirty="0"/>
              <a:t> </a:t>
            </a:r>
          </a:p>
        </p:txBody>
      </p:sp>
      <p:grpSp>
        <p:nvGrpSpPr>
          <p:cNvPr id="30" name="Group 29">
            <a:extLst>
              <a:ext uri="{FF2B5EF4-FFF2-40B4-BE49-F238E27FC236}">
                <a16:creationId xmlns:a16="http://schemas.microsoft.com/office/drawing/2014/main" id="{69D0255D-E440-945B-2178-F1FC90678C42}"/>
              </a:ext>
            </a:extLst>
          </p:cNvPr>
          <p:cNvGrpSpPr/>
          <p:nvPr/>
        </p:nvGrpSpPr>
        <p:grpSpPr>
          <a:xfrm>
            <a:off x="812886" y="3241113"/>
            <a:ext cx="10890509" cy="615554"/>
            <a:chOff x="812886" y="3241113"/>
            <a:chExt cx="10890509" cy="615554"/>
          </a:xfrm>
        </p:grpSpPr>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44B70624-6619-6F7A-CCD1-2A68BEA18DDD}"/>
                    </a:ext>
                  </a:extLst>
                </p:cNvPr>
                <p:cNvSpPr txBox="1"/>
                <p:nvPr/>
              </p:nvSpPr>
              <p:spPr>
                <a:xfrm>
                  <a:off x="812886" y="3241114"/>
                  <a:ext cx="5160269" cy="615553"/>
                </a:xfrm>
                <a:prstGeom prst="rect">
                  <a:avLst/>
                </a:prstGeom>
                <a:noFill/>
                <a:ln>
                  <a:no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l-GR" sz="4000" b="0" i="1" smtClean="0">
                            <a:solidFill>
                              <a:srgbClr val="FF0000"/>
                            </a:solidFill>
                            <a:latin typeface="Cambria Math" panose="02040503050406030204" pitchFamily="18" charset="0"/>
                            <a:ea typeface="Cambria Math" panose="02040503050406030204" pitchFamily="18" charset="0"/>
                          </a:rPr>
                          <m:t>Σ</m:t>
                        </m:r>
                        <m:r>
                          <a:rPr lang="en-AU" sz="4000" b="0" i="1" smtClean="0">
                            <a:solidFill>
                              <a:srgbClr val="FF0000"/>
                            </a:solidFill>
                            <a:latin typeface="Cambria Math" panose="02040503050406030204" pitchFamily="18" charset="0"/>
                            <a:ea typeface="Cambria Math" panose="02040503050406030204" pitchFamily="18" charset="0"/>
                          </a:rPr>
                          <m:t>𝐹</m:t>
                        </m:r>
                        <m:r>
                          <a:rPr lang="en-AU" sz="4000" b="0" i="1" baseline="-25000" smtClean="0">
                            <a:solidFill>
                              <a:srgbClr val="FF0000"/>
                            </a:solidFill>
                            <a:latin typeface="Cambria Math" panose="02040503050406030204" pitchFamily="18" charset="0"/>
                            <a:ea typeface="Cambria Math" panose="02040503050406030204" pitchFamily="18" charset="0"/>
                          </a:rPr>
                          <m:t>𝑢𝑝</m:t>
                        </m:r>
                        <m:r>
                          <a:rPr lang="en-AU" sz="4000" b="0" i="1" smtClean="0">
                            <a:solidFill>
                              <a:srgbClr val="FF0000"/>
                            </a:solidFill>
                            <a:latin typeface="Cambria Math" panose="02040503050406030204" pitchFamily="18" charset="0"/>
                            <a:ea typeface="Cambria Math" panose="02040503050406030204" pitchFamily="18" charset="0"/>
                          </a:rPr>
                          <m:t>=</m:t>
                        </m:r>
                        <m:r>
                          <m:rPr>
                            <m:sty m:val="p"/>
                          </m:rPr>
                          <a:rPr lang="el-GR" sz="4000" i="1">
                            <a:solidFill>
                              <a:srgbClr val="FF0000"/>
                            </a:solidFill>
                            <a:latin typeface="Cambria Math" panose="02040503050406030204" pitchFamily="18" charset="0"/>
                            <a:ea typeface="Cambria Math" panose="02040503050406030204" pitchFamily="18" charset="0"/>
                          </a:rPr>
                          <m:t>Σ</m:t>
                        </m:r>
                        <m:r>
                          <a:rPr lang="en-AU" sz="4000" b="0" i="1" smtClean="0">
                            <a:solidFill>
                              <a:srgbClr val="FF0000"/>
                            </a:solidFill>
                            <a:latin typeface="Cambria Math" panose="02040503050406030204" pitchFamily="18" charset="0"/>
                            <a:ea typeface="Cambria Math" panose="02040503050406030204" pitchFamily="18" charset="0"/>
                          </a:rPr>
                          <m:t>𝐹</m:t>
                        </m:r>
                        <m:r>
                          <a:rPr lang="en-AU" sz="4000" b="0" i="1" baseline="-25000" smtClean="0">
                            <a:solidFill>
                              <a:srgbClr val="FF0000"/>
                            </a:solidFill>
                            <a:latin typeface="Cambria Math" panose="02040503050406030204" pitchFamily="18" charset="0"/>
                            <a:ea typeface="Cambria Math" panose="02040503050406030204" pitchFamily="18" charset="0"/>
                          </a:rPr>
                          <m:t>𝑑𝑜𝑤𝑛</m:t>
                        </m:r>
                      </m:oMath>
                    </m:oMathPara>
                  </a14:m>
                  <a:endParaRPr lang="en-AU" sz="4000" dirty="0">
                    <a:solidFill>
                      <a:srgbClr val="FF0000"/>
                    </a:solidFill>
                  </a:endParaRPr>
                </a:p>
              </p:txBody>
            </p:sp>
          </mc:Choice>
          <mc:Fallback xmlns="">
            <p:sp>
              <p:nvSpPr>
                <p:cNvPr id="8" name="TextBox 7">
                  <a:extLst>
                    <a:ext uri="{FF2B5EF4-FFF2-40B4-BE49-F238E27FC236}">
                      <a16:creationId xmlns:a16="http://schemas.microsoft.com/office/drawing/2014/main" id="{44B70624-6619-6F7A-CCD1-2A68BEA18DDD}"/>
                    </a:ext>
                  </a:extLst>
                </p:cNvPr>
                <p:cNvSpPr txBox="1">
                  <a:spLocks noRot="1" noChangeAspect="1" noMove="1" noResize="1" noEditPoints="1" noAdjustHandles="1" noChangeArrowheads="1" noChangeShapeType="1" noTextEdit="1"/>
                </p:cNvSpPr>
                <p:nvPr/>
              </p:nvSpPr>
              <p:spPr>
                <a:xfrm>
                  <a:off x="812886" y="3241114"/>
                  <a:ext cx="5160269" cy="615553"/>
                </a:xfrm>
                <a:prstGeom prst="rect">
                  <a:avLst/>
                </a:prstGeom>
                <a:blipFill>
                  <a:blip r:embed="rId3"/>
                  <a:stretch>
                    <a:fillRect b="-11881"/>
                  </a:stretch>
                </a:blipFill>
                <a:ln>
                  <a:noFill/>
                </a:ln>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19D02336-BC97-6C41-6346-C5BD7E857C43}"/>
                    </a:ext>
                  </a:extLst>
                </p:cNvPr>
                <p:cNvSpPr txBox="1"/>
                <p:nvPr/>
              </p:nvSpPr>
              <p:spPr>
                <a:xfrm>
                  <a:off x="6543126" y="3241113"/>
                  <a:ext cx="5160269" cy="615553"/>
                </a:xfrm>
                <a:prstGeom prst="rect">
                  <a:avLst/>
                </a:prstGeom>
                <a:noFill/>
                <a:ln>
                  <a:no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l-GR" sz="4000" b="0" i="1" smtClean="0">
                            <a:solidFill>
                              <a:srgbClr val="FF0000"/>
                            </a:solidFill>
                            <a:latin typeface="Cambria Math" panose="02040503050406030204" pitchFamily="18" charset="0"/>
                            <a:ea typeface="Cambria Math" panose="02040503050406030204" pitchFamily="18" charset="0"/>
                          </a:rPr>
                          <m:t>Σ</m:t>
                        </m:r>
                        <m:r>
                          <a:rPr lang="en-AU" sz="4000" b="0" i="1" smtClean="0">
                            <a:solidFill>
                              <a:srgbClr val="FF0000"/>
                            </a:solidFill>
                            <a:latin typeface="Cambria Math" panose="02040503050406030204" pitchFamily="18" charset="0"/>
                            <a:ea typeface="Cambria Math" panose="02040503050406030204" pitchFamily="18" charset="0"/>
                          </a:rPr>
                          <m:t>𝐹</m:t>
                        </m:r>
                        <m:r>
                          <a:rPr lang="en-AU" sz="4000" b="0" i="1" baseline="-25000" smtClean="0">
                            <a:solidFill>
                              <a:srgbClr val="FF0000"/>
                            </a:solidFill>
                            <a:latin typeface="Cambria Math" panose="02040503050406030204" pitchFamily="18" charset="0"/>
                            <a:ea typeface="Cambria Math" panose="02040503050406030204" pitchFamily="18" charset="0"/>
                          </a:rPr>
                          <m:t>𝑙𝑒𝑓𝑡</m:t>
                        </m:r>
                        <m:r>
                          <a:rPr lang="en-AU" sz="4000" b="0" i="1" smtClean="0">
                            <a:solidFill>
                              <a:srgbClr val="FF0000"/>
                            </a:solidFill>
                            <a:latin typeface="Cambria Math" panose="02040503050406030204" pitchFamily="18" charset="0"/>
                            <a:ea typeface="Cambria Math" panose="02040503050406030204" pitchFamily="18" charset="0"/>
                          </a:rPr>
                          <m:t>=</m:t>
                        </m:r>
                        <m:r>
                          <m:rPr>
                            <m:sty m:val="p"/>
                          </m:rPr>
                          <a:rPr lang="el-GR" sz="4000" i="1">
                            <a:solidFill>
                              <a:srgbClr val="FF0000"/>
                            </a:solidFill>
                            <a:latin typeface="Cambria Math" panose="02040503050406030204" pitchFamily="18" charset="0"/>
                            <a:ea typeface="Cambria Math" panose="02040503050406030204" pitchFamily="18" charset="0"/>
                          </a:rPr>
                          <m:t>Σ</m:t>
                        </m:r>
                        <m:r>
                          <a:rPr lang="en-AU" sz="4000" b="0" i="1" smtClean="0">
                            <a:solidFill>
                              <a:srgbClr val="FF0000"/>
                            </a:solidFill>
                            <a:latin typeface="Cambria Math" panose="02040503050406030204" pitchFamily="18" charset="0"/>
                            <a:ea typeface="Cambria Math" panose="02040503050406030204" pitchFamily="18" charset="0"/>
                          </a:rPr>
                          <m:t>𝐹</m:t>
                        </m:r>
                        <m:r>
                          <a:rPr lang="en-AU" sz="4000" b="0" i="1" baseline="-25000" smtClean="0">
                            <a:solidFill>
                              <a:srgbClr val="FF0000"/>
                            </a:solidFill>
                            <a:latin typeface="Cambria Math" panose="02040503050406030204" pitchFamily="18" charset="0"/>
                            <a:ea typeface="Cambria Math" panose="02040503050406030204" pitchFamily="18" charset="0"/>
                          </a:rPr>
                          <m:t>𝑟𝑖𝑔h𝑡</m:t>
                        </m:r>
                      </m:oMath>
                    </m:oMathPara>
                  </a14:m>
                  <a:endParaRPr lang="en-AU" sz="4000" dirty="0">
                    <a:solidFill>
                      <a:srgbClr val="FF0000"/>
                    </a:solidFill>
                  </a:endParaRPr>
                </a:p>
              </p:txBody>
            </p:sp>
          </mc:Choice>
          <mc:Fallback xmlns="">
            <p:sp>
              <p:nvSpPr>
                <p:cNvPr id="13" name="TextBox 12">
                  <a:extLst>
                    <a:ext uri="{FF2B5EF4-FFF2-40B4-BE49-F238E27FC236}">
                      <a16:creationId xmlns:a16="http://schemas.microsoft.com/office/drawing/2014/main" id="{19D02336-BC97-6C41-6346-C5BD7E857C43}"/>
                    </a:ext>
                  </a:extLst>
                </p:cNvPr>
                <p:cNvSpPr txBox="1">
                  <a:spLocks noRot="1" noChangeAspect="1" noMove="1" noResize="1" noEditPoints="1" noAdjustHandles="1" noChangeArrowheads="1" noChangeShapeType="1" noTextEdit="1"/>
                </p:cNvSpPr>
                <p:nvPr/>
              </p:nvSpPr>
              <p:spPr>
                <a:xfrm>
                  <a:off x="6543126" y="3241113"/>
                  <a:ext cx="5160269" cy="615553"/>
                </a:xfrm>
                <a:prstGeom prst="rect">
                  <a:avLst/>
                </a:prstGeom>
                <a:blipFill>
                  <a:blip r:embed="rId4"/>
                  <a:stretch>
                    <a:fillRect b="-11881"/>
                  </a:stretch>
                </a:blipFill>
                <a:ln>
                  <a:noFill/>
                </a:ln>
              </p:spPr>
              <p:txBody>
                <a:bodyPr/>
                <a:lstStyle/>
                <a:p>
                  <a:r>
                    <a:rPr lang="en-AU">
                      <a:noFill/>
                    </a:rPr>
                    <a:t> </a:t>
                  </a:r>
                </a:p>
              </p:txBody>
            </p:sp>
          </mc:Fallback>
        </mc:AlternateContent>
      </p:grpSp>
      <p:grpSp>
        <p:nvGrpSpPr>
          <p:cNvPr id="27" name="Group 26">
            <a:extLst>
              <a:ext uri="{FF2B5EF4-FFF2-40B4-BE49-F238E27FC236}">
                <a16:creationId xmlns:a16="http://schemas.microsoft.com/office/drawing/2014/main" id="{21241BBA-C603-D059-A3DA-D63C18D4B976}"/>
              </a:ext>
            </a:extLst>
          </p:cNvPr>
          <p:cNvGrpSpPr/>
          <p:nvPr/>
        </p:nvGrpSpPr>
        <p:grpSpPr>
          <a:xfrm>
            <a:off x="2220182" y="4674870"/>
            <a:ext cx="9609868" cy="1476091"/>
            <a:chOff x="2220182" y="4674870"/>
            <a:chExt cx="9609868" cy="1476091"/>
          </a:xfrm>
        </p:grpSpPr>
        <p:sp>
          <p:nvSpPr>
            <p:cNvPr id="14" name="Rectangle 13">
              <a:extLst>
                <a:ext uri="{FF2B5EF4-FFF2-40B4-BE49-F238E27FC236}">
                  <a16:creationId xmlns:a16="http://schemas.microsoft.com/office/drawing/2014/main" id="{5F6F15DD-5A86-2A72-6418-D0E6DF1B7F3E}"/>
                </a:ext>
              </a:extLst>
            </p:cNvPr>
            <p:cNvSpPr/>
            <p:nvPr/>
          </p:nvSpPr>
          <p:spPr>
            <a:xfrm>
              <a:off x="2295886" y="5564805"/>
              <a:ext cx="4114800" cy="662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5" name="Isosceles Triangle 14">
              <a:extLst>
                <a:ext uri="{FF2B5EF4-FFF2-40B4-BE49-F238E27FC236}">
                  <a16:creationId xmlns:a16="http://schemas.microsoft.com/office/drawing/2014/main" id="{2AA15BE9-DC7C-1B4E-1ECA-BBCC580B96B8}"/>
                </a:ext>
              </a:extLst>
            </p:cNvPr>
            <p:cNvSpPr/>
            <p:nvPr/>
          </p:nvSpPr>
          <p:spPr>
            <a:xfrm>
              <a:off x="4219467" y="5649882"/>
              <a:ext cx="317872" cy="274028"/>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6" name="Rectangle 15">
              <a:extLst>
                <a:ext uri="{FF2B5EF4-FFF2-40B4-BE49-F238E27FC236}">
                  <a16:creationId xmlns:a16="http://schemas.microsoft.com/office/drawing/2014/main" id="{BD0A86E0-E9A0-0562-A637-60BDD58C296B}"/>
                </a:ext>
              </a:extLst>
            </p:cNvPr>
            <p:cNvSpPr/>
            <p:nvPr/>
          </p:nvSpPr>
          <p:spPr>
            <a:xfrm>
              <a:off x="2455906" y="5130465"/>
              <a:ext cx="274320" cy="434445"/>
            </a:xfrm>
            <a:prstGeom prst="rect">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17" name="Straight Arrow Connector 16">
              <a:extLst>
                <a:ext uri="{FF2B5EF4-FFF2-40B4-BE49-F238E27FC236}">
                  <a16:creationId xmlns:a16="http://schemas.microsoft.com/office/drawing/2014/main" id="{B255EF4E-3175-64EC-C621-7528DF886819}"/>
                </a:ext>
              </a:extLst>
            </p:cNvPr>
            <p:cNvCxnSpPr/>
            <p:nvPr/>
          </p:nvCxnSpPr>
          <p:spPr>
            <a:xfrm>
              <a:off x="2591161" y="5393355"/>
              <a:ext cx="0" cy="662940"/>
            </a:xfrm>
            <a:prstGeom prst="straightConnector1">
              <a:avLst/>
            </a:prstGeom>
            <a:ln w="1905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95E54D21-49FE-FB4D-7AFD-44DA858E43CE}"/>
                </a:ext>
              </a:extLst>
            </p:cNvPr>
            <p:cNvSpPr txBox="1"/>
            <p:nvPr/>
          </p:nvSpPr>
          <p:spPr>
            <a:xfrm>
              <a:off x="2220182" y="5674994"/>
              <a:ext cx="468455" cy="369332"/>
            </a:xfrm>
            <a:prstGeom prst="rect">
              <a:avLst/>
            </a:prstGeom>
            <a:noFill/>
            <a:ln>
              <a:noFill/>
            </a:ln>
          </p:spPr>
          <p:txBody>
            <a:bodyPr wrap="square">
              <a:spAutoFit/>
            </a:bodyPr>
            <a:lstStyle/>
            <a:p>
              <a:pPr algn="just"/>
              <a:r>
                <a:rPr lang="en-AU" dirty="0">
                  <a:latin typeface="Century Gothic" panose="020B0502020202020204" pitchFamily="34" charset="0"/>
                </a:rPr>
                <a:t>W</a:t>
              </a:r>
            </a:p>
          </p:txBody>
        </p:sp>
        <p:sp>
          <p:nvSpPr>
            <p:cNvPr id="19" name="Rectangle 18">
              <a:extLst>
                <a:ext uri="{FF2B5EF4-FFF2-40B4-BE49-F238E27FC236}">
                  <a16:creationId xmlns:a16="http://schemas.microsoft.com/office/drawing/2014/main" id="{347C506B-EAE5-A8CC-B2DA-E36C4E5EF971}"/>
                </a:ext>
              </a:extLst>
            </p:cNvPr>
            <p:cNvSpPr/>
            <p:nvPr/>
          </p:nvSpPr>
          <p:spPr>
            <a:xfrm>
              <a:off x="5983593" y="5130360"/>
              <a:ext cx="274320" cy="434445"/>
            </a:xfrm>
            <a:prstGeom prst="rect">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20" name="Straight Arrow Connector 19">
              <a:extLst>
                <a:ext uri="{FF2B5EF4-FFF2-40B4-BE49-F238E27FC236}">
                  <a16:creationId xmlns:a16="http://schemas.microsoft.com/office/drawing/2014/main" id="{09CD6A0A-F57D-5A6C-A957-79173B3B5516}"/>
                </a:ext>
              </a:extLst>
            </p:cNvPr>
            <p:cNvCxnSpPr/>
            <p:nvPr/>
          </p:nvCxnSpPr>
          <p:spPr>
            <a:xfrm>
              <a:off x="6118848" y="5393250"/>
              <a:ext cx="0" cy="662940"/>
            </a:xfrm>
            <a:prstGeom prst="straightConnector1">
              <a:avLst/>
            </a:prstGeom>
            <a:ln w="1905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2A123A76-3D05-4907-72C5-5A93580001C3}"/>
                </a:ext>
              </a:extLst>
            </p:cNvPr>
            <p:cNvSpPr txBox="1"/>
            <p:nvPr/>
          </p:nvSpPr>
          <p:spPr>
            <a:xfrm>
              <a:off x="5747869" y="5674889"/>
              <a:ext cx="468455" cy="369332"/>
            </a:xfrm>
            <a:prstGeom prst="rect">
              <a:avLst/>
            </a:prstGeom>
            <a:noFill/>
            <a:ln>
              <a:noFill/>
            </a:ln>
          </p:spPr>
          <p:txBody>
            <a:bodyPr wrap="square">
              <a:spAutoFit/>
            </a:bodyPr>
            <a:lstStyle/>
            <a:p>
              <a:pPr algn="just"/>
              <a:r>
                <a:rPr lang="en-AU" dirty="0">
                  <a:latin typeface="Century Gothic" panose="020B0502020202020204" pitchFamily="34" charset="0"/>
                </a:rPr>
                <a:t>W</a:t>
              </a:r>
            </a:p>
          </p:txBody>
        </p:sp>
        <p:cxnSp>
          <p:nvCxnSpPr>
            <p:cNvPr id="22" name="Straight Arrow Connector 21">
              <a:extLst>
                <a:ext uri="{FF2B5EF4-FFF2-40B4-BE49-F238E27FC236}">
                  <a16:creationId xmlns:a16="http://schemas.microsoft.com/office/drawing/2014/main" id="{664E9EC6-9A36-0005-BD6C-626C4B00A01B}"/>
                </a:ext>
              </a:extLst>
            </p:cNvPr>
            <p:cNvCxnSpPr>
              <a:cxnSpLocks/>
            </p:cNvCxnSpPr>
            <p:nvPr/>
          </p:nvCxnSpPr>
          <p:spPr>
            <a:xfrm flipV="1">
              <a:off x="4373868" y="4674870"/>
              <a:ext cx="0" cy="1369351"/>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559BD67B-E042-A3F0-D0F8-1BF15F6014EB}"/>
                </a:ext>
              </a:extLst>
            </p:cNvPr>
            <p:cNvSpPr txBox="1"/>
            <p:nvPr/>
          </p:nvSpPr>
          <p:spPr>
            <a:xfrm>
              <a:off x="4373868" y="4793585"/>
              <a:ext cx="1210531" cy="646331"/>
            </a:xfrm>
            <a:prstGeom prst="rect">
              <a:avLst/>
            </a:prstGeom>
            <a:noFill/>
            <a:ln>
              <a:noFill/>
            </a:ln>
          </p:spPr>
          <p:txBody>
            <a:bodyPr wrap="square">
              <a:spAutoFit/>
            </a:bodyPr>
            <a:lstStyle/>
            <a:p>
              <a:pPr algn="just"/>
              <a:r>
                <a:rPr lang="en-AU" dirty="0">
                  <a:solidFill>
                    <a:srgbClr val="FF0000"/>
                  </a:solidFill>
                  <a:latin typeface="Century Gothic" panose="020B0502020202020204" pitchFamily="34" charset="0"/>
                </a:rPr>
                <a:t>Reaction force</a:t>
              </a:r>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028E0DCD-26E7-30D4-C73A-E67624F6AC85}"/>
                    </a:ext>
                  </a:extLst>
                </p:cNvPr>
                <p:cNvSpPr txBox="1"/>
                <p:nvPr/>
              </p:nvSpPr>
              <p:spPr>
                <a:xfrm>
                  <a:off x="7023604" y="4950632"/>
                  <a:ext cx="4806446" cy="1200329"/>
                </a:xfrm>
                <a:prstGeom prst="rect">
                  <a:avLst/>
                </a:prstGeom>
                <a:noFill/>
                <a:ln>
                  <a:noFill/>
                </a:ln>
              </p:spPr>
              <p:txBody>
                <a:bodyPr wrap="square">
                  <a:spAutoFit/>
                </a:bodyPr>
                <a:lstStyle/>
                <a:p>
                  <a:pPr algn="just"/>
                  <a:r>
                    <a:rPr lang="en-AU" dirty="0">
                      <a:latin typeface="Century Gothic" panose="020B0502020202020204" pitchFamily="34" charset="0"/>
                    </a:rPr>
                    <a:t>Reaction force = sum of weight forces</a:t>
                  </a:r>
                </a:p>
                <a:p>
                  <a:pPr algn="just"/>
                  <a:endParaRPr lang="en-AU" dirty="0">
                    <a:latin typeface="Century Gothic" panose="020B0502020202020204" pitchFamily="34" charset="0"/>
                  </a:endParaRPr>
                </a:p>
                <a:p>
                  <a:pPr algn="just"/>
                  <a:r>
                    <a:rPr lang="en-AU" dirty="0">
                      <a:latin typeface="Century Gothic" panose="020B0502020202020204" pitchFamily="34" charset="0"/>
                    </a:rPr>
                    <a:t>Therefore, </a:t>
                  </a:r>
                  <a14:m>
                    <m:oMath xmlns:m="http://schemas.openxmlformats.org/officeDocument/2006/math">
                      <m:r>
                        <m:rPr>
                          <m:sty m:val="p"/>
                        </m:rPr>
                        <a:rPr lang="el-GR" sz="1800" b="0" i="1" smtClean="0">
                          <a:solidFill>
                            <a:schemeClr val="tx1"/>
                          </a:solidFill>
                          <a:latin typeface="Cambria Math" panose="02040503050406030204" pitchFamily="18" charset="0"/>
                          <a:ea typeface="Cambria Math" panose="02040503050406030204" pitchFamily="18" charset="0"/>
                        </a:rPr>
                        <m:t>Σ</m:t>
                      </m:r>
                      <m:r>
                        <a:rPr lang="en-AU" sz="1800" b="0" i="1" smtClean="0">
                          <a:solidFill>
                            <a:schemeClr val="tx1"/>
                          </a:solidFill>
                          <a:latin typeface="Cambria Math" panose="02040503050406030204" pitchFamily="18" charset="0"/>
                          <a:ea typeface="Cambria Math" panose="02040503050406030204" pitchFamily="18" charset="0"/>
                        </a:rPr>
                        <m:t>𝐹</m:t>
                      </m:r>
                      <m:r>
                        <a:rPr lang="en-AU" sz="1800" b="0" i="1" baseline="-25000" smtClean="0">
                          <a:solidFill>
                            <a:schemeClr val="tx1"/>
                          </a:solidFill>
                          <a:latin typeface="Cambria Math" panose="02040503050406030204" pitchFamily="18" charset="0"/>
                          <a:ea typeface="Cambria Math" panose="02040503050406030204" pitchFamily="18" charset="0"/>
                        </a:rPr>
                        <m:t>𝑢𝑝</m:t>
                      </m:r>
                      <m:r>
                        <a:rPr lang="en-AU" sz="1800" b="0" i="1" smtClean="0">
                          <a:solidFill>
                            <a:schemeClr val="tx1"/>
                          </a:solidFill>
                          <a:latin typeface="Cambria Math" panose="02040503050406030204" pitchFamily="18" charset="0"/>
                          <a:ea typeface="Cambria Math" panose="02040503050406030204" pitchFamily="18" charset="0"/>
                        </a:rPr>
                        <m:t>=</m:t>
                      </m:r>
                      <m:r>
                        <m:rPr>
                          <m:sty m:val="p"/>
                        </m:rPr>
                        <a:rPr lang="el-GR" sz="1800" i="1">
                          <a:solidFill>
                            <a:schemeClr val="tx1"/>
                          </a:solidFill>
                          <a:latin typeface="Cambria Math" panose="02040503050406030204" pitchFamily="18" charset="0"/>
                          <a:ea typeface="Cambria Math" panose="02040503050406030204" pitchFamily="18" charset="0"/>
                        </a:rPr>
                        <m:t>Σ</m:t>
                      </m:r>
                      <m:r>
                        <a:rPr lang="en-AU" sz="1800" b="0" i="1" smtClean="0">
                          <a:solidFill>
                            <a:schemeClr val="tx1"/>
                          </a:solidFill>
                          <a:latin typeface="Cambria Math" panose="02040503050406030204" pitchFamily="18" charset="0"/>
                          <a:ea typeface="Cambria Math" panose="02040503050406030204" pitchFamily="18" charset="0"/>
                        </a:rPr>
                        <m:t>𝐹</m:t>
                      </m:r>
                      <m:r>
                        <a:rPr lang="en-AU" sz="1800" b="0" i="1" baseline="-25000" smtClean="0">
                          <a:solidFill>
                            <a:schemeClr val="tx1"/>
                          </a:solidFill>
                          <a:latin typeface="Cambria Math" panose="02040503050406030204" pitchFamily="18" charset="0"/>
                          <a:ea typeface="Cambria Math" panose="02040503050406030204" pitchFamily="18" charset="0"/>
                        </a:rPr>
                        <m:t>𝑑𝑜𝑤𝑛</m:t>
                      </m:r>
                    </m:oMath>
                  </a14:m>
                  <a:endParaRPr lang="en-AU" sz="1800" dirty="0">
                    <a:solidFill>
                      <a:srgbClr val="FF0000"/>
                    </a:solidFill>
                  </a:endParaRPr>
                </a:p>
                <a:p>
                  <a:pPr algn="just"/>
                  <a:endParaRPr lang="en-AU" dirty="0">
                    <a:latin typeface="Century Gothic" panose="020B0502020202020204" pitchFamily="34" charset="0"/>
                  </a:endParaRPr>
                </a:p>
              </p:txBody>
            </p:sp>
          </mc:Choice>
          <mc:Fallback xmlns="">
            <p:sp>
              <p:nvSpPr>
                <p:cNvPr id="26" name="TextBox 25">
                  <a:extLst>
                    <a:ext uri="{FF2B5EF4-FFF2-40B4-BE49-F238E27FC236}">
                      <a16:creationId xmlns:a16="http://schemas.microsoft.com/office/drawing/2014/main" id="{028E0DCD-26E7-30D4-C73A-E67624F6AC85}"/>
                    </a:ext>
                  </a:extLst>
                </p:cNvPr>
                <p:cNvSpPr txBox="1">
                  <a:spLocks noRot="1" noChangeAspect="1" noMove="1" noResize="1" noEditPoints="1" noAdjustHandles="1" noChangeArrowheads="1" noChangeShapeType="1" noTextEdit="1"/>
                </p:cNvSpPr>
                <p:nvPr/>
              </p:nvSpPr>
              <p:spPr>
                <a:xfrm>
                  <a:off x="7023604" y="4950632"/>
                  <a:ext cx="4806446" cy="1200329"/>
                </a:xfrm>
                <a:prstGeom prst="rect">
                  <a:avLst/>
                </a:prstGeom>
                <a:blipFill>
                  <a:blip r:embed="rId5"/>
                  <a:stretch>
                    <a:fillRect l="-1014" t="-2538"/>
                  </a:stretch>
                </a:blipFill>
                <a:ln>
                  <a:noFill/>
                </a:ln>
              </p:spPr>
              <p:txBody>
                <a:bodyPr/>
                <a:lstStyle/>
                <a:p>
                  <a:r>
                    <a:rPr lang="en-AU">
                      <a:noFill/>
                    </a:rPr>
                    <a:t> </a:t>
                  </a:r>
                </a:p>
              </p:txBody>
            </p:sp>
          </mc:Fallback>
        </mc:AlternateContent>
      </p:grpSp>
    </p:spTree>
    <p:extLst>
      <p:ext uri="{BB962C8B-B14F-4D97-AF65-F5344CB8AC3E}">
        <p14:creationId xmlns:p14="http://schemas.microsoft.com/office/powerpoint/2010/main" val="6161794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Static Equilibrium</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90507"/>
            <a:ext cx="3779478" cy="319722"/>
          </a:xfrm>
        </p:spPr>
        <p:txBody>
          <a:bodyPr/>
          <a:lstStyle/>
          <a:p>
            <a:r>
              <a:rPr lang="en-AU" dirty="0"/>
              <a:t>Content Development</a:t>
            </a:r>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8" name="Text Placeholder 3">
            <a:extLst>
              <a:ext uri="{FF2B5EF4-FFF2-40B4-BE49-F238E27FC236}">
                <a16:creationId xmlns:a16="http://schemas.microsoft.com/office/drawing/2014/main" id="{7E11F69C-68AB-4B11-9E75-0C0F6E869F68}"/>
              </a:ext>
            </a:extLst>
          </p:cNvPr>
          <p:cNvSpPr txBox="1">
            <a:spLocks/>
          </p:cNvSpPr>
          <p:nvPr/>
        </p:nvSpPr>
        <p:spPr>
          <a:xfrm>
            <a:off x="295274" y="914330"/>
            <a:ext cx="11896725"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AU" sz="2400" b="0" dirty="0"/>
              <a:t>For an object to be in </a:t>
            </a:r>
            <a:r>
              <a:rPr lang="en-AU" sz="2400" dirty="0"/>
              <a:t>static equilibrium</a:t>
            </a:r>
            <a:r>
              <a:rPr lang="en-AU" sz="2400" b="0" dirty="0"/>
              <a:t> (not moving), it needs to have both rotational and translational equilibrium.</a:t>
            </a:r>
          </a:p>
          <a:p>
            <a:pPr algn="just"/>
            <a:r>
              <a:rPr lang="en-AU" sz="2400" b="0" dirty="0"/>
              <a:t>All three conditions must apply:</a:t>
            </a:r>
          </a:p>
          <a:p>
            <a:pPr algn="just"/>
            <a:endParaRPr lang="en-AU" sz="2400" b="0" dirty="0"/>
          </a:p>
          <a:p>
            <a:pPr algn="just"/>
            <a:endParaRPr lang="en-AU" sz="2400" b="0" dirty="0"/>
          </a:p>
          <a:p>
            <a:pPr algn="just"/>
            <a:endParaRPr lang="en-AU" sz="2400" b="0" dirty="0"/>
          </a:p>
          <a:p>
            <a:pPr algn="just"/>
            <a:endParaRPr lang="en-AU" sz="2400" b="0" dirty="0"/>
          </a:p>
          <a:p>
            <a:pPr algn="just"/>
            <a:endParaRPr lang="en-AU" sz="2400" b="0" dirty="0"/>
          </a:p>
          <a:p>
            <a:pPr algn="just"/>
            <a:r>
              <a:rPr lang="en-AU" sz="2400" b="0" dirty="0"/>
              <a:t>Be comfortable writing this. For all static equilibrium questions, you should write out all three statements clearly at the start of the question.</a:t>
            </a:r>
          </a:p>
          <a:p>
            <a:pPr algn="just"/>
            <a:endParaRPr lang="en-AU" sz="2400" b="0" dirty="0"/>
          </a:p>
          <a:p>
            <a:pPr algn="just"/>
            <a:endParaRPr lang="en-AU" sz="2400" b="0" dirty="0"/>
          </a:p>
          <a:p>
            <a:pPr algn="just"/>
            <a:endParaRPr lang="en-AU" sz="2400" b="0" dirty="0"/>
          </a:p>
          <a:p>
            <a:pPr algn="just"/>
            <a:endParaRPr lang="en-AU" sz="2400" b="0" dirty="0"/>
          </a:p>
          <a:p>
            <a:pPr algn="just"/>
            <a:r>
              <a:rPr lang="en-AU" sz="2400" b="0" dirty="0"/>
              <a:t> </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44B70624-6619-6F7A-CCD1-2A68BEA18DDD}"/>
                  </a:ext>
                </a:extLst>
              </p:cNvPr>
              <p:cNvSpPr txBox="1"/>
              <p:nvPr/>
            </p:nvSpPr>
            <p:spPr>
              <a:xfrm>
                <a:off x="-359953" y="2382050"/>
                <a:ext cx="5160269" cy="615553"/>
              </a:xfrm>
              <a:prstGeom prst="rect">
                <a:avLst/>
              </a:prstGeom>
              <a:noFill/>
              <a:ln>
                <a:no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l-GR" sz="4000" b="0" i="1" smtClean="0">
                          <a:solidFill>
                            <a:srgbClr val="FF0000"/>
                          </a:solidFill>
                          <a:latin typeface="Cambria Math" panose="02040503050406030204" pitchFamily="18" charset="0"/>
                          <a:ea typeface="Cambria Math" panose="02040503050406030204" pitchFamily="18" charset="0"/>
                        </a:rPr>
                        <m:t>Σ</m:t>
                      </m:r>
                      <m:r>
                        <a:rPr lang="en-AU" sz="4000" b="0" i="1" smtClean="0">
                          <a:solidFill>
                            <a:srgbClr val="FF0000"/>
                          </a:solidFill>
                          <a:latin typeface="Cambria Math" panose="02040503050406030204" pitchFamily="18" charset="0"/>
                          <a:ea typeface="Cambria Math" panose="02040503050406030204" pitchFamily="18" charset="0"/>
                        </a:rPr>
                        <m:t>𝐹</m:t>
                      </m:r>
                      <m:r>
                        <a:rPr lang="en-AU" sz="4000" b="0" i="1" baseline="-25000" smtClean="0">
                          <a:solidFill>
                            <a:srgbClr val="FF0000"/>
                          </a:solidFill>
                          <a:latin typeface="Cambria Math" panose="02040503050406030204" pitchFamily="18" charset="0"/>
                          <a:ea typeface="Cambria Math" panose="02040503050406030204" pitchFamily="18" charset="0"/>
                        </a:rPr>
                        <m:t>𝑢𝑝</m:t>
                      </m:r>
                      <m:r>
                        <a:rPr lang="en-AU" sz="4000" b="0" i="1" smtClean="0">
                          <a:solidFill>
                            <a:srgbClr val="FF0000"/>
                          </a:solidFill>
                          <a:latin typeface="Cambria Math" panose="02040503050406030204" pitchFamily="18" charset="0"/>
                          <a:ea typeface="Cambria Math" panose="02040503050406030204" pitchFamily="18" charset="0"/>
                        </a:rPr>
                        <m:t>=</m:t>
                      </m:r>
                      <m:r>
                        <m:rPr>
                          <m:sty m:val="p"/>
                        </m:rPr>
                        <a:rPr lang="el-GR" sz="4000" i="1">
                          <a:solidFill>
                            <a:srgbClr val="FF0000"/>
                          </a:solidFill>
                          <a:latin typeface="Cambria Math" panose="02040503050406030204" pitchFamily="18" charset="0"/>
                          <a:ea typeface="Cambria Math" panose="02040503050406030204" pitchFamily="18" charset="0"/>
                        </a:rPr>
                        <m:t>Σ</m:t>
                      </m:r>
                      <m:r>
                        <a:rPr lang="en-AU" sz="4000" b="0" i="1" smtClean="0">
                          <a:solidFill>
                            <a:srgbClr val="FF0000"/>
                          </a:solidFill>
                          <a:latin typeface="Cambria Math" panose="02040503050406030204" pitchFamily="18" charset="0"/>
                          <a:ea typeface="Cambria Math" panose="02040503050406030204" pitchFamily="18" charset="0"/>
                        </a:rPr>
                        <m:t>𝐹</m:t>
                      </m:r>
                      <m:r>
                        <a:rPr lang="en-AU" sz="4000" b="0" i="1" baseline="-25000" smtClean="0">
                          <a:solidFill>
                            <a:srgbClr val="FF0000"/>
                          </a:solidFill>
                          <a:latin typeface="Cambria Math" panose="02040503050406030204" pitchFamily="18" charset="0"/>
                          <a:ea typeface="Cambria Math" panose="02040503050406030204" pitchFamily="18" charset="0"/>
                        </a:rPr>
                        <m:t>𝑑𝑜𝑤𝑛</m:t>
                      </m:r>
                    </m:oMath>
                  </m:oMathPara>
                </a14:m>
                <a:endParaRPr lang="en-AU" sz="4000" dirty="0">
                  <a:solidFill>
                    <a:srgbClr val="FF0000"/>
                  </a:solidFill>
                </a:endParaRPr>
              </a:p>
            </p:txBody>
          </p:sp>
        </mc:Choice>
        <mc:Fallback xmlns="">
          <p:sp>
            <p:nvSpPr>
              <p:cNvPr id="8" name="TextBox 7">
                <a:extLst>
                  <a:ext uri="{FF2B5EF4-FFF2-40B4-BE49-F238E27FC236}">
                    <a16:creationId xmlns:a16="http://schemas.microsoft.com/office/drawing/2014/main" id="{44B70624-6619-6F7A-CCD1-2A68BEA18DDD}"/>
                  </a:ext>
                </a:extLst>
              </p:cNvPr>
              <p:cNvSpPr txBox="1">
                <a:spLocks noRot="1" noChangeAspect="1" noMove="1" noResize="1" noEditPoints="1" noAdjustHandles="1" noChangeArrowheads="1" noChangeShapeType="1" noTextEdit="1"/>
              </p:cNvSpPr>
              <p:nvPr/>
            </p:nvSpPr>
            <p:spPr>
              <a:xfrm>
                <a:off x="-359953" y="2382050"/>
                <a:ext cx="5160269" cy="615553"/>
              </a:xfrm>
              <a:prstGeom prst="rect">
                <a:avLst/>
              </a:prstGeom>
              <a:blipFill>
                <a:blip r:embed="rId3"/>
                <a:stretch>
                  <a:fillRect b="-11881"/>
                </a:stretch>
              </a:blipFill>
              <a:ln>
                <a:noFill/>
              </a:ln>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19D02336-BC97-6C41-6346-C5BD7E857C43}"/>
                  </a:ext>
                </a:extLst>
              </p:cNvPr>
              <p:cNvSpPr txBox="1"/>
              <p:nvPr/>
            </p:nvSpPr>
            <p:spPr>
              <a:xfrm>
                <a:off x="3623298" y="2385099"/>
                <a:ext cx="5160269" cy="615553"/>
              </a:xfrm>
              <a:prstGeom prst="rect">
                <a:avLst/>
              </a:prstGeom>
              <a:noFill/>
              <a:ln>
                <a:no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l-GR" sz="4000" b="0" i="1" smtClean="0">
                          <a:solidFill>
                            <a:srgbClr val="FF0000"/>
                          </a:solidFill>
                          <a:latin typeface="Cambria Math" panose="02040503050406030204" pitchFamily="18" charset="0"/>
                          <a:ea typeface="Cambria Math" panose="02040503050406030204" pitchFamily="18" charset="0"/>
                        </a:rPr>
                        <m:t>Σ</m:t>
                      </m:r>
                      <m:r>
                        <a:rPr lang="en-AU" sz="4000" b="0" i="1" smtClean="0">
                          <a:solidFill>
                            <a:srgbClr val="FF0000"/>
                          </a:solidFill>
                          <a:latin typeface="Cambria Math" panose="02040503050406030204" pitchFamily="18" charset="0"/>
                          <a:ea typeface="Cambria Math" panose="02040503050406030204" pitchFamily="18" charset="0"/>
                        </a:rPr>
                        <m:t>𝐹</m:t>
                      </m:r>
                      <m:r>
                        <a:rPr lang="en-AU" sz="4000" b="0" i="1" baseline="-25000" smtClean="0">
                          <a:solidFill>
                            <a:srgbClr val="FF0000"/>
                          </a:solidFill>
                          <a:latin typeface="Cambria Math" panose="02040503050406030204" pitchFamily="18" charset="0"/>
                          <a:ea typeface="Cambria Math" panose="02040503050406030204" pitchFamily="18" charset="0"/>
                        </a:rPr>
                        <m:t>𝑙𝑒𝑓𝑡</m:t>
                      </m:r>
                      <m:r>
                        <a:rPr lang="en-AU" sz="4000" b="0" i="1" smtClean="0">
                          <a:solidFill>
                            <a:srgbClr val="FF0000"/>
                          </a:solidFill>
                          <a:latin typeface="Cambria Math" panose="02040503050406030204" pitchFamily="18" charset="0"/>
                          <a:ea typeface="Cambria Math" panose="02040503050406030204" pitchFamily="18" charset="0"/>
                        </a:rPr>
                        <m:t>=</m:t>
                      </m:r>
                      <m:r>
                        <m:rPr>
                          <m:sty m:val="p"/>
                        </m:rPr>
                        <a:rPr lang="el-GR" sz="4000" i="1">
                          <a:solidFill>
                            <a:srgbClr val="FF0000"/>
                          </a:solidFill>
                          <a:latin typeface="Cambria Math" panose="02040503050406030204" pitchFamily="18" charset="0"/>
                          <a:ea typeface="Cambria Math" panose="02040503050406030204" pitchFamily="18" charset="0"/>
                        </a:rPr>
                        <m:t>Σ</m:t>
                      </m:r>
                      <m:r>
                        <a:rPr lang="en-AU" sz="4000" b="0" i="1" smtClean="0">
                          <a:solidFill>
                            <a:srgbClr val="FF0000"/>
                          </a:solidFill>
                          <a:latin typeface="Cambria Math" panose="02040503050406030204" pitchFamily="18" charset="0"/>
                          <a:ea typeface="Cambria Math" panose="02040503050406030204" pitchFamily="18" charset="0"/>
                        </a:rPr>
                        <m:t>𝐹</m:t>
                      </m:r>
                      <m:r>
                        <a:rPr lang="en-AU" sz="4000" b="0" i="1" baseline="-25000" smtClean="0">
                          <a:solidFill>
                            <a:srgbClr val="FF0000"/>
                          </a:solidFill>
                          <a:latin typeface="Cambria Math" panose="02040503050406030204" pitchFamily="18" charset="0"/>
                          <a:ea typeface="Cambria Math" panose="02040503050406030204" pitchFamily="18" charset="0"/>
                        </a:rPr>
                        <m:t>𝑟𝑖𝑔h𝑡</m:t>
                      </m:r>
                    </m:oMath>
                  </m:oMathPara>
                </a14:m>
                <a:endParaRPr lang="en-AU" sz="4000" dirty="0">
                  <a:solidFill>
                    <a:srgbClr val="FF0000"/>
                  </a:solidFill>
                </a:endParaRPr>
              </a:p>
            </p:txBody>
          </p:sp>
        </mc:Choice>
        <mc:Fallback xmlns="">
          <p:sp>
            <p:nvSpPr>
              <p:cNvPr id="13" name="TextBox 12">
                <a:extLst>
                  <a:ext uri="{FF2B5EF4-FFF2-40B4-BE49-F238E27FC236}">
                    <a16:creationId xmlns:a16="http://schemas.microsoft.com/office/drawing/2014/main" id="{19D02336-BC97-6C41-6346-C5BD7E857C43}"/>
                  </a:ext>
                </a:extLst>
              </p:cNvPr>
              <p:cNvSpPr txBox="1">
                <a:spLocks noRot="1" noChangeAspect="1" noMove="1" noResize="1" noEditPoints="1" noAdjustHandles="1" noChangeArrowheads="1" noChangeShapeType="1" noTextEdit="1"/>
              </p:cNvSpPr>
              <p:nvPr/>
            </p:nvSpPr>
            <p:spPr>
              <a:xfrm>
                <a:off x="3623298" y="2385099"/>
                <a:ext cx="5160269" cy="615553"/>
              </a:xfrm>
              <a:prstGeom prst="rect">
                <a:avLst/>
              </a:prstGeom>
              <a:blipFill>
                <a:blip r:embed="rId4"/>
                <a:stretch>
                  <a:fillRect b="-12871"/>
                </a:stretch>
              </a:blipFill>
              <a:ln>
                <a:noFill/>
              </a:ln>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40C5D218-4F11-9793-C3AC-AC78DABBCF1E}"/>
                  </a:ext>
                </a:extLst>
              </p:cNvPr>
              <p:cNvSpPr txBox="1"/>
              <p:nvPr/>
            </p:nvSpPr>
            <p:spPr>
              <a:xfrm>
                <a:off x="7522296" y="2351272"/>
                <a:ext cx="5160269" cy="677108"/>
              </a:xfrm>
              <a:prstGeom prst="rect">
                <a:avLst/>
              </a:prstGeom>
              <a:noFill/>
              <a:ln>
                <a:no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l-GR" sz="4400" b="0" i="1" smtClean="0">
                          <a:solidFill>
                            <a:srgbClr val="FF0000"/>
                          </a:solidFill>
                          <a:latin typeface="Cambria Math" panose="02040503050406030204" pitchFamily="18" charset="0"/>
                          <a:ea typeface="Cambria Math" panose="02040503050406030204" pitchFamily="18" charset="0"/>
                        </a:rPr>
                        <m:t>Σ</m:t>
                      </m:r>
                      <m:r>
                        <a:rPr lang="en-AU" sz="4400" i="1">
                          <a:solidFill>
                            <a:srgbClr val="FF0000"/>
                          </a:solidFill>
                          <a:latin typeface="Cambria Math" panose="02040503050406030204" pitchFamily="18" charset="0"/>
                          <a:ea typeface="Cambria Math" panose="02040503050406030204" pitchFamily="18" charset="0"/>
                        </a:rPr>
                        <m:t>𝜏</m:t>
                      </m:r>
                      <m:r>
                        <a:rPr lang="en-AU" sz="4400" i="1" baseline="-25000">
                          <a:solidFill>
                            <a:srgbClr val="FF0000"/>
                          </a:solidFill>
                          <a:latin typeface="Cambria Math" panose="02040503050406030204" pitchFamily="18" charset="0"/>
                          <a:ea typeface="Cambria Math" panose="02040503050406030204" pitchFamily="18" charset="0"/>
                        </a:rPr>
                        <m:t>𝑐𝑤</m:t>
                      </m:r>
                      <m:r>
                        <a:rPr lang="en-AU" sz="4400" b="0" i="1" smtClean="0">
                          <a:solidFill>
                            <a:srgbClr val="FF0000"/>
                          </a:solidFill>
                          <a:latin typeface="Cambria Math" panose="02040503050406030204" pitchFamily="18" charset="0"/>
                          <a:ea typeface="Cambria Math" panose="02040503050406030204" pitchFamily="18" charset="0"/>
                        </a:rPr>
                        <m:t>=</m:t>
                      </m:r>
                      <m:r>
                        <m:rPr>
                          <m:sty m:val="p"/>
                        </m:rPr>
                        <a:rPr lang="el-GR" sz="4400" i="1">
                          <a:solidFill>
                            <a:srgbClr val="FF0000"/>
                          </a:solidFill>
                          <a:latin typeface="Cambria Math" panose="02040503050406030204" pitchFamily="18" charset="0"/>
                          <a:ea typeface="Cambria Math" panose="02040503050406030204" pitchFamily="18" charset="0"/>
                        </a:rPr>
                        <m:t>Σ</m:t>
                      </m:r>
                      <m:r>
                        <a:rPr lang="en-AU" sz="4400" i="1">
                          <a:solidFill>
                            <a:srgbClr val="FF0000"/>
                          </a:solidFill>
                          <a:latin typeface="Cambria Math" panose="02040503050406030204" pitchFamily="18" charset="0"/>
                          <a:ea typeface="Cambria Math" panose="02040503050406030204" pitchFamily="18" charset="0"/>
                        </a:rPr>
                        <m:t>𝜏</m:t>
                      </m:r>
                      <m:r>
                        <a:rPr lang="en-AU" sz="4400" b="0" i="1" baseline="-25000" smtClean="0">
                          <a:solidFill>
                            <a:srgbClr val="FF0000"/>
                          </a:solidFill>
                          <a:latin typeface="Cambria Math" panose="02040503050406030204" pitchFamily="18" charset="0"/>
                          <a:ea typeface="Cambria Math" panose="02040503050406030204" pitchFamily="18" charset="0"/>
                        </a:rPr>
                        <m:t>𝑎𝑐𝑤</m:t>
                      </m:r>
                    </m:oMath>
                  </m:oMathPara>
                </a14:m>
                <a:endParaRPr lang="en-AU" sz="4400" dirty="0">
                  <a:solidFill>
                    <a:srgbClr val="FF0000"/>
                  </a:solidFill>
                </a:endParaRPr>
              </a:p>
            </p:txBody>
          </p:sp>
        </mc:Choice>
        <mc:Fallback xmlns="">
          <p:sp>
            <p:nvSpPr>
              <p:cNvPr id="3" name="TextBox 2">
                <a:extLst>
                  <a:ext uri="{FF2B5EF4-FFF2-40B4-BE49-F238E27FC236}">
                    <a16:creationId xmlns:a16="http://schemas.microsoft.com/office/drawing/2014/main" id="{40C5D218-4F11-9793-C3AC-AC78DABBCF1E}"/>
                  </a:ext>
                </a:extLst>
              </p:cNvPr>
              <p:cNvSpPr txBox="1">
                <a:spLocks noRot="1" noChangeAspect="1" noMove="1" noResize="1" noEditPoints="1" noAdjustHandles="1" noChangeArrowheads="1" noChangeShapeType="1" noTextEdit="1"/>
              </p:cNvSpPr>
              <p:nvPr/>
            </p:nvSpPr>
            <p:spPr>
              <a:xfrm>
                <a:off x="7522296" y="2351272"/>
                <a:ext cx="5160269" cy="677108"/>
              </a:xfrm>
              <a:prstGeom prst="rect">
                <a:avLst/>
              </a:prstGeom>
              <a:blipFill>
                <a:blip r:embed="rId5"/>
                <a:stretch>
                  <a:fillRect b="-1802"/>
                </a:stretch>
              </a:blipFill>
              <a:ln>
                <a:noFill/>
              </a:ln>
            </p:spPr>
            <p:txBody>
              <a:bodyPr/>
              <a:lstStyle/>
              <a:p>
                <a:r>
                  <a:rPr lang="en-AU">
                    <a:noFill/>
                  </a:rPr>
                  <a:t> </a:t>
                </a:r>
              </a:p>
            </p:txBody>
          </p:sp>
        </mc:Fallback>
      </mc:AlternateContent>
    </p:spTree>
    <p:extLst>
      <p:ext uri="{BB962C8B-B14F-4D97-AF65-F5344CB8AC3E}">
        <p14:creationId xmlns:p14="http://schemas.microsoft.com/office/powerpoint/2010/main" val="6144682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Static Equilibrium</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90507"/>
            <a:ext cx="3779478" cy="319722"/>
          </a:xfrm>
        </p:spPr>
        <p:txBody>
          <a:bodyPr/>
          <a:lstStyle/>
          <a:p>
            <a:r>
              <a:rPr lang="en-AU" dirty="0"/>
              <a:t>Content Development</a:t>
            </a:r>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12" name="Text Box 10">
            <a:extLst>
              <a:ext uri="{FF2B5EF4-FFF2-40B4-BE49-F238E27FC236}">
                <a16:creationId xmlns:a16="http://schemas.microsoft.com/office/drawing/2014/main" id="{77D4F70E-A681-073E-8D87-8CF959310E24}"/>
              </a:ext>
            </a:extLst>
          </p:cNvPr>
          <p:cNvSpPr txBox="1">
            <a:spLocks noChangeArrowheads="1"/>
          </p:cNvSpPr>
          <p:nvPr/>
        </p:nvSpPr>
        <p:spPr bwMode="auto">
          <a:xfrm>
            <a:off x="322205" y="3316287"/>
            <a:ext cx="5529955"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buFontTx/>
              <a:buChar char="•"/>
            </a:pPr>
            <a:r>
              <a:rPr lang="en-US" altLang="en-US" sz="2800" dirty="0"/>
              <a:t> </a:t>
            </a:r>
            <a:r>
              <a:rPr lang="en-US" altLang="en-US" sz="2000" dirty="0"/>
              <a:t>The net force = 0, since the forces are applied in opposite directions so it will not accelerate translationally.</a:t>
            </a:r>
          </a:p>
          <a:p>
            <a:pPr>
              <a:buFontTx/>
              <a:buChar char="•"/>
            </a:pPr>
            <a:r>
              <a:rPr lang="en-US" altLang="en-US" sz="2000" dirty="0"/>
              <a:t> However, together these forces will make the rod rotate in the clockwise direction. </a:t>
            </a:r>
            <a:endParaRPr lang="en-US" altLang="en-US" sz="2800" dirty="0"/>
          </a:p>
        </p:txBody>
      </p:sp>
      <p:pic>
        <p:nvPicPr>
          <p:cNvPr id="14" name="Picture 13">
            <a:extLst>
              <a:ext uri="{FF2B5EF4-FFF2-40B4-BE49-F238E27FC236}">
                <a16:creationId xmlns:a16="http://schemas.microsoft.com/office/drawing/2014/main" id="{76E3C440-7520-48C7-6A48-82E2CF243DE4}"/>
              </a:ext>
            </a:extLst>
          </p:cNvPr>
          <p:cNvPicPr>
            <a:picLocks noChangeAspect="1"/>
          </p:cNvPicPr>
          <p:nvPr/>
        </p:nvPicPr>
        <p:blipFill>
          <a:blip r:embed="rId3"/>
          <a:stretch>
            <a:fillRect/>
          </a:stretch>
        </p:blipFill>
        <p:spPr>
          <a:xfrm>
            <a:off x="801644" y="1818894"/>
            <a:ext cx="4204696" cy="1165788"/>
          </a:xfrm>
          <a:prstGeom prst="rect">
            <a:avLst/>
          </a:prstGeom>
        </p:spPr>
      </p:pic>
      <p:pic>
        <p:nvPicPr>
          <p:cNvPr id="15" name="Picture 14">
            <a:extLst>
              <a:ext uri="{FF2B5EF4-FFF2-40B4-BE49-F238E27FC236}">
                <a16:creationId xmlns:a16="http://schemas.microsoft.com/office/drawing/2014/main" id="{0C1DDDD6-8558-8635-022D-26C20CBD27D7}"/>
              </a:ext>
            </a:extLst>
          </p:cNvPr>
          <p:cNvPicPr>
            <a:picLocks noChangeAspect="1"/>
          </p:cNvPicPr>
          <p:nvPr/>
        </p:nvPicPr>
        <p:blipFill>
          <a:blip r:embed="rId4"/>
          <a:stretch>
            <a:fillRect/>
          </a:stretch>
        </p:blipFill>
        <p:spPr>
          <a:xfrm>
            <a:off x="801644" y="1173863"/>
            <a:ext cx="4204696" cy="649386"/>
          </a:xfrm>
          <a:prstGeom prst="rect">
            <a:avLst/>
          </a:prstGeom>
        </p:spPr>
      </p:pic>
      <p:pic>
        <p:nvPicPr>
          <p:cNvPr id="16" name="Picture 15">
            <a:extLst>
              <a:ext uri="{FF2B5EF4-FFF2-40B4-BE49-F238E27FC236}">
                <a16:creationId xmlns:a16="http://schemas.microsoft.com/office/drawing/2014/main" id="{5F448C3B-AE75-572D-5850-A213119B3FE8}"/>
              </a:ext>
            </a:extLst>
          </p:cNvPr>
          <p:cNvPicPr>
            <a:picLocks noChangeAspect="1"/>
          </p:cNvPicPr>
          <p:nvPr/>
        </p:nvPicPr>
        <p:blipFill>
          <a:blip r:embed="rId5"/>
          <a:stretch>
            <a:fillRect/>
          </a:stretch>
        </p:blipFill>
        <p:spPr>
          <a:xfrm>
            <a:off x="6709009" y="1173863"/>
            <a:ext cx="4681347" cy="2785233"/>
          </a:xfrm>
          <a:prstGeom prst="rect">
            <a:avLst/>
          </a:prstGeom>
        </p:spPr>
      </p:pic>
    </p:spTree>
    <p:extLst>
      <p:ext uri="{BB962C8B-B14F-4D97-AF65-F5344CB8AC3E}">
        <p14:creationId xmlns:p14="http://schemas.microsoft.com/office/powerpoint/2010/main" val="38867972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Complex Torque Questions</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90507"/>
            <a:ext cx="3779478" cy="319722"/>
          </a:xfrm>
        </p:spPr>
        <p:txBody>
          <a:bodyPr/>
          <a:lstStyle/>
          <a:p>
            <a:r>
              <a:rPr lang="en-AU" dirty="0"/>
              <a:t>Proof</a:t>
            </a:r>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8" name="Text Placeholder 3">
            <a:extLst>
              <a:ext uri="{FF2B5EF4-FFF2-40B4-BE49-F238E27FC236}">
                <a16:creationId xmlns:a16="http://schemas.microsoft.com/office/drawing/2014/main" id="{7E11F69C-68AB-4B11-9E75-0C0F6E869F68}"/>
              </a:ext>
            </a:extLst>
          </p:cNvPr>
          <p:cNvSpPr txBox="1">
            <a:spLocks/>
          </p:cNvSpPr>
          <p:nvPr/>
        </p:nvSpPr>
        <p:spPr>
          <a:xfrm>
            <a:off x="295275" y="914330"/>
            <a:ext cx="11783312"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AU" sz="2400" b="0" dirty="0"/>
              <a:t>For an object to be at equilibrium, it needs to be balanced at all points. We normally take that point at the pivot, but you can take another point if convenient.</a:t>
            </a:r>
          </a:p>
          <a:p>
            <a:pPr algn="just"/>
            <a:r>
              <a:rPr lang="en-AU" sz="2400" dirty="0"/>
              <a:t>Your Task</a:t>
            </a:r>
          </a:p>
          <a:p>
            <a:pPr algn="just"/>
            <a:r>
              <a:rPr lang="en-AU" sz="2400" b="0" dirty="0"/>
              <a:t>Show that the torque is balanced at all the named points.</a:t>
            </a:r>
            <a:endParaRPr lang="en-AU" b="0" dirty="0"/>
          </a:p>
          <a:p>
            <a:pPr algn="just"/>
            <a:endParaRPr lang="en-AU" sz="2400" b="0" dirty="0"/>
          </a:p>
          <a:p>
            <a:pPr algn="just"/>
            <a:endParaRPr lang="en-AU" sz="2400" b="0" dirty="0"/>
          </a:p>
          <a:p>
            <a:pPr algn="just"/>
            <a:endParaRPr lang="en-AU" sz="2400" b="0" dirty="0"/>
          </a:p>
          <a:p>
            <a:pPr algn="just"/>
            <a:endParaRPr lang="en-AU" sz="2400" b="0" dirty="0"/>
          </a:p>
          <a:p>
            <a:pPr algn="just"/>
            <a:r>
              <a:rPr lang="en-AU" sz="2400" b="0" dirty="0"/>
              <a:t> </a:t>
            </a:r>
          </a:p>
        </p:txBody>
      </p:sp>
      <p:sp>
        <p:nvSpPr>
          <p:cNvPr id="25" name="TextBox 24">
            <a:extLst>
              <a:ext uri="{FF2B5EF4-FFF2-40B4-BE49-F238E27FC236}">
                <a16:creationId xmlns:a16="http://schemas.microsoft.com/office/drawing/2014/main" id="{559BD67B-E042-A3F0-D0F8-1BF15F6014EB}"/>
              </a:ext>
            </a:extLst>
          </p:cNvPr>
          <p:cNvSpPr txBox="1"/>
          <p:nvPr/>
        </p:nvSpPr>
        <p:spPr>
          <a:xfrm>
            <a:off x="5394361" y="4182796"/>
            <a:ext cx="673170" cy="369332"/>
          </a:xfrm>
          <a:prstGeom prst="rect">
            <a:avLst/>
          </a:prstGeom>
          <a:noFill/>
          <a:ln>
            <a:noFill/>
          </a:ln>
        </p:spPr>
        <p:txBody>
          <a:bodyPr wrap="square">
            <a:spAutoFit/>
          </a:bodyPr>
          <a:lstStyle/>
          <a:p>
            <a:pPr algn="just"/>
            <a:r>
              <a:rPr lang="en-AU" dirty="0">
                <a:solidFill>
                  <a:srgbClr val="FF0000"/>
                </a:solidFill>
                <a:latin typeface="Century Gothic" panose="020B0502020202020204" pitchFamily="34" charset="0"/>
              </a:rPr>
              <a:t>15 N</a:t>
            </a:r>
          </a:p>
        </p:txBody>
      </p:sp>
      <p:grpSp>
        <p:nvGrpSpPr>
          <p:cNvPr id="29" name="Group 28">
            <a:extLst>
              <a:ext uri="{FF2B5EF4-FFF2-40B4-BE49-F238E27FC236}">
                <a16:creationId xmlns:a16="http://schemas.microsoft.com/office/drawing/2014/main" id="{3F0D85D2-A00B-5472-DE5F-47328BEDBB37}"/>
              </a:ext>
            </a:extLst>
          </p:cNvPr>
          <p:cNvGrpSpPr/>
          <p:nvPr/>
        </p:nvGrpSpPr>
        <p:grpSpPr>
          <a:xfrm>
            <a:off x="1833973" y="3580727"/>
            <a:ext cx="8553181" cy="2551949"/>
            <a:chOff x="1833973" y="3580727"/>
            <a:chExt cx="8553181" cy="2551949"/>
          </a:xfrm>
        </p:grpSpPr>
        <p:sp>
          <p:nvSpPr>
            <p:cNvPr id="14" name="Rectangle 13">
              <a:extLst>
                <a:ext uri="{FF2B5EF4-FFF2-40B4-BE49-F238E27FC236}">
                  <a16:creationId xmlns:a16="http://schemas.microsoft.com/office/drawing/2014/main" id="{5F6F15DD-5A86-2A72-6418-D0E6DF1B7F3E}"/>
                </a:ext>
              </a:extLst>
            </p:cNvPr>
            <p:cNvSpPr/>
            <p:nvPr/>
          </p:nvSpPr>
          <p:spPr>
            <a:xfrm>
              <a:off x="2602181" y="4898772"/>
              <a:ext cx="7784973" cy="13196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5" name="Isosceles Triangle 14">
              <a:extLst>
                <a:ext uri="{FF2B5EF4-FFF2-40B4-BE49-F238E27FC236}">
                  <a16:creationId xmlns:a16="http://schemas.microsoft.com/office/drawing/2014/main" id="{2AA15BE9-DC7C-1B4E-1ECA-BBCC580B96B8}"/>
                </a:ext>
              </a:extLst>
            </p:cNvPr>
            <p:cNvSpPr/>
            <p:nvPr/>
          </p:nvSpPr>
          <p:spPr>
            <a:xfrm>
              <a:off x="5214117" y="5024776"/>
              <a:ext cx="470787" cy="405851"/>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6" name="Rectangle 15">
              <a:extLst>
                <a:ext uri="{FF2B5EF4-FFF2-40B4-BE49-F238E27FC236}">
                  <a16:creationId xmlns:a16="http://schemas.microsoft.com/office/drawing/2014/main" id="{BD0A86E0-E9A0-0562-A637-60BDD58C296B}"/>
                </a:ext>
              </a:extLst>
            </p:cNvPr>
            <p:cNvSpPr/>
            <p:nvPr/>
          </p:nvSpPr>
          <p:spPr>
            <a:xfrm>
              <a:off x="2602182" y="4255490"/>
              <a:ext cx="406284" cy="643438"/>
            </a:xfrm>
            <a:prstGeom prst="rect">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17" name="Straight Arrow Connector 16">
              <a:extLst>
                <a:ext uri="{FF2B5EF4-FFF2-40B4-BE49-F238E27FC236}">
                  <a16:creationId xmlns:a16="http://schemas.microsoft.com/office/drawing/2014/main" id="{B255EF4E-3175-64EC-C621-7528DF886819}"/>
                </a:ext>
              </a:extLst>
            </p:cNvPr>
            <p:cNvCxnSpPr/>
            <p:nvPr/>
          </p:nvCxnSpPr>
          <p:spPr>
            <a:xfrm>
              <a:off x="2802502" y="4644845"/>
              <a:ext cx="0" cy="981852"/>
            </a:xfrm>
            <a:prstGeom prst="straightConnector1">
              <a:avLst/>
            </a:prstGeom>
            <a:ln w="1905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95E54D21-49FE-FB4D-7AFD-44DA858E43CE}"/>
                </a:ext>
              </a:extLst>
            </p:cNvPr>
            <p:cNvSpPr txBox="1"/>
            <p:nvPr/>
          </p:nvSpPr>
          <p:spPr>
            <a:xfrm>
              <a:off x="1833973" y="5095978"/>
              <a:ext cx="693809" cy="369332"/>
            </a:xfrm>
            <a:prstGeom prst="rect">
              <a:avLst/>
            </a:prstGeom>
            <a:noFill/>
            <a:ln>
              <a:noFill/>
            </a:ln>
          </p:spPr>
          <p:txBody>
            <a:bodyPr wrap="square">
              <a:spAutoFit/>
            </a:bodyPr>
            <a:lstStyle/>
            <a:p>
              <a:pPr algn="just"/>
              <a:r>
                <a:rPr lang="en-AU" dirty="0">
                  <a:latin typeface="Century Gothic" panose="020B0502020202020204" pitchFamily="34" charset="0"/>
                </a:rPr>
                <a:t>10 N</a:t>
              </a:r>
            </a:p>
          </p:txBody>
        </p:sp>
        <p:sp>
          <p:nvSpPr>
            <p:cNvPr id="19" name="Rectangle 18">
              <a:extLst>
                <a:ext uri="{FF2B5EF4-FFF2-40B4-BE49-F238E27FC236}">
                  <a16:creationId xmlns:a16="http://schemas.microsoft.com/office/drawing/2014/main" id="{347C506B-EAE5-A8CC-B2DA-E36C4E5EF971}"/>
                </a:ext>
              </a:extLst>
            </p:cNvPr>
            <p:cNvSpPr/>
            <p:nvPr/>
          </p:nvSpPr>
          <p:spPr>
            <a:xfrm>
              <a:off x="9980870" y="4259506"/>
              <a:ext cx="406284" cy="643438"/>
            </a:xfrm>
            <a:prstGeom prst="rect">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20" name="Straight Arrow Connector 19">
              <a:extLst>
                <a:ext uri="{FF2B5EF4-FFF2-40B4-BE49-F238E27FC236}">
                  <a16:creationId xmlns:a16="http://schemas.microsoft.com/office/drawing/2014/main" id="{09CD6A0A-F57D-5A6C-A957-79173B3B5516}"/>
                </a:ext>
              </a:extLst>
            </p:cNvPr>
            <p:cNvCxnSpPr/>
            <p:nvPr/>
          </p:nvCxnSpPr>
          <p:spPr>
            <a:xfrm>
              <a:off x="10181190" y="4648861"/>
              <a:ext cx="0" cy="981852"/>
            </a:xfrm>
            <a:prstGeom prst="straightConnector1">
              <a:avLst/>
            </a:prstGeom>
            <a:ln w="1905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2A123A76-3D05-4907-72C5-5A93580001C3}"/>
                </a:ext>
              </a:extLst>
            </p:cNvPr>
            <p:cNvSpPr txBox="1"/>
            <p:nvPr/>
          </p:nvSpPr>
          <p:spPr>
            <a:xfrm>
              <a:off x="9631749" y="5065985"/>
              <a:ext cx="693809" cy="369332"/>
            </a:xfrm>
            <a:prstGeom prst="rect">
              <a:avLst/>
            </a:prstGeom>
            <a:noFill/>
            <a:ln>
              <a:noFill/>
            </a:ln>
          </p:spPr>
          <p:txBody>
            <a:bodyPr wrap="square">
              <a:spAutoFit/>
            </a:bodyPr>
            <a:lstStyle/>
            <a:p>
              <a:pPr algn="just"/>
              <a:r>
                <a:rPr lang="en-AU" dirty="0">
                  <a:latin typeface="Century Gothic" panose="020B0502020202020204" pitchFamily="34" charset="0"/>
                </a:rPr>
                <a:t>5 N</a:t>
              </a:r>
            </a:p>
          </p:txBody>
        </p:sp>
        <p:cxnSp>
          <p:nvCxnSpPr>
            <p:cNvPr id="22" name="Straight Arrow Connector 21">
              <a:extLst>
                <a:ext uri="{FF2B5EF4-FFF2-40B4-BE49-F238E27FC236}">
                  <a16:creationId xmlns:a16="http://schemas.microsoft.com/office/drawing/2014/main" id="{664E9EC6-9A36-0005-BD6C-626C4B00A01B}"/>
                </a:ext>
              </a:extLst>
            </p:cNvPr>
            <p:cNvCxnSpPr>
              <a:cxnSpLocks/>
            </p:cNvCxnSpPr>
            <p:nvPr/>
          </p:nvCxnSpPr>
          <p:spPr>
            <a:xfrm flipV="1">
              <a:off x="5442793" y="3580727"/>
              <a:ext cx="0" cy="2028087"/>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54E0FBF1-CF03-68E3-5BCC-2B7BDDE1A990}"/>
                </a:ext>
              </a:extLst>
            </p:cNvPr>
            <p:cNvSpPr/>
            <p:nvPr/>
          </p:nvSpPr>
          <p:spPr>
            <a:xfrm>
              <a:off x="2602182" y="5712264"/>
              <a:ext cx="406284" cy="420412"/>
            </a:xfrm>
            <a:prstGeom prst="rect">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a:t>B</a:t>
              </a:r>
            </a:p>
          </p:txBody>
        </p:sp>
        <p:sp>
          <p:nvSpPr>
            <p:cNvPr id="5" name="Rectangle 4">
              <a:extLst>
                <a:ext uri="{FF2B5EF4-FFF2-40B4-BE49-F238E27FC236}">
                  <a16:creationId xmlns:a16="http://schemas.microsoft.com/office/drawing/2014/main" id="{8FA27D4D-0DB7-8EE1-9855-D1B7E497D0E6}"/>
                </a:ext>
              </a:extLst>
            </p:cNvPr>
            <p:cNvSpPr/>
            <p:nvPr/>
          </p:nvSpPr>
          <p:spPr>
            <a:xfrm>
              <a:off x="5243222" y="5712264"/>
              <a:ext cx="406284" cy="420412"/>
            </a:xfrm>
            <a:prstGeom prst="rect">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a:t>A</a:t>
              </a:r>
            </a:p>
          </p:txBody>
        </p:sp>
        <p:sp>
          <p:nvSpPr>
            <p:cNvPr id="6" name="Rectangle 5">
              <a:extLst>
                <a:ext uri="{FF2B5EF4-FFF2-40B4-BE49-F238E27FC236}">
                  <a16:creationId xmlns:a16="http://schemas.microsoft.com/office/drawing/2014/main" id="{3CE8CAB6-6BB3-E7C6-8EB7-C82E906DAC62}"/>
                </a:ext>
              </a:extLst>
            </p:cNvPr>
            <p:cNvSpPr/>
            <p:nvPr/>
          </p:nvSpPr>
          <p:spPr>
            <a:xfrm>
              <a:off x="9980870" y="5712264"/>
              <a:ext cx="406284" cy="420412"/>
            </a:xfrm>
            <a:prstGeom prst="rect">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a:t>C</a:t>
              </a:r>
            </a:p>
          </p:txBody>
        </p:sp>
        <p:sp>
          <p:nvSpPr>
            <p:cNvPr id="7" name="Rectangle 6">
              <a:extLst>
                <a:ext uri="{FF2B5EF4-FFF2-40B4-BE49-F238E27FC236}">
                  <a16:creationId xmlns:a16="http://schemas.microsoft.com/office/drawing/2014/main" id="{78B0AAFF-6C94-D119-DD50-C4F8ED4E7E7B}"/>
                </a:ext>
              </a:extLst>
            </p:cNvPr>
            <p:cNvSpPr/>
            <p:nvPr/>
          </p:nvSpPr>
          <p:spPr>
            <a:xfrm>
              <a:off x="3922702" y="5712264"/>
              <a:ext cx="406284" cy="420412"/>
            </a:xfrm>
            <a:prstGeom prst="rect">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a:t>D</a:t>
              </a:r>
            </a:p>
          </p:txBody>
        </p:sp>
        <p:cxnSp>
          <p:nvCxnSpPr>
            <p:cNvPr id="9" name="Straight Arrow Connector 8">
              <a:extLst>
                <a:ext uri="{FF2B5EF4-FFF2-40B4-BE49-F238E27FC236}">
                  <a16:creationId xmlns:a16="http://schemas.microsoft.com/office/drawing/2014/main" id="{0F1CF64D-0F7E-6357-4D21-82111F6CE209}"/>
                </a:ext>
              </a:extLst>
            </p:cNvPr>
            <p:cNvCxnSpPr/>
            <p:nvPr/>
          </p:nvCxnSpPr>
          <p:spPr>
            <a:xfrm>
              <a:off x="2802502" y="4001139"/>
              <a:ext cx="2556307"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6D92C24F-E834-DAC4-40A3-9B77518A9E17}"/>
                </a:ext>
              </a:extLst>
            </p:cNvPr>
            <p:cNvSpPr txBox="1"/>
            <p:nvPr/>
          </p:nvSpPr>
          <p:spPr>
            <a:xfrm>
              <a:off x="3789259" y="3613292"/>
              <a:ext cx="673170" cy="369332"/>
            </a:xfrm>
            <a:prstGeom prst="rect">
              <a:avLst/>
            </a:prstGeom>
            <a:noFill/>
            <a:ln>
              <a:noFill/>
            </a:ln>
          </p:spPr>
          <p:txBody>
            <a:bodyPr wrap="square">
              <a:spAutoFit/>
            </a:bodyPr>
            <a:lstStyle/>
            <a:p>
              <a:pPr algn="just"/>
              <a:r>
                <a:rPr lang="en-AU" dirty="0">
                  <a:latin typeface="Century Gothic" panose="020B0502020202020204" pitchFamily="34" charset="0"/>
                </a:rPr>
                <a:t>2m</a:t>
              </a:r>
            </a:p>
          </p:txBody>
        </p:sp>
        <p:cxnSp>
          <p:nvCxnSpPr>
            <p:cNvPr id="11" name="Straight Arrow Connector 10">
              <a:extLst>
                <a:ext uri="{FF2B5EF4-FFF2-40B4-BE49-F238E27FC236}">
                  <a16:creationId xmlns:a16="http://schemas.microsoft.com/office/drawing/2014/main" id="{F11923DB-6E72-A50B-30C9-355F18FD399A}"/>
                </a:ext>
              </a:extLst>
            </p:cNvPr>
            <p:cNvCxnSpPr>
              <a:cxnSpLocks/>
            </p:cNvCxnSpPr>
            <p:nvPr/>
          </p:nvCxnSpPr>
          <p:spPr>
            <a:xfrm flipV="1">
              <a:off x="5502853" y="3980917"/>
              <a:ext cx="4678337" cy="18515"/>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14F2A11D-68CC-792B-7EAE-FE75B90ADEFC}"/>
                </a:ext>
              </a:extLst>
            </p:cNvPr>
            <p:cNvSpPr txBox="1"/>
            <p:nvPr/>
          </p:nvSpPr>
          <p:spPr>
            <a:xfrm>
              <a:off x="7406084" y="3609878"/>
              <a:ext cx="673170" cy="369332"/>
            </a:xfrm>
            <a:prstGeom prst="rect">
              <a:avLst/>
            </a:prstGeom>
            <a:noFill/>
            <a:ln>
              <a:noFill/>
            </a:ln>
          </p:spPr>
          <p:txBody>
            <a:bodyPr wrap="square">
              <a:spAutoFit/>
            </a:bodyPr>
            <a:lstStyle/>
            <a:p>
              <a:pPr algn="just"/>
              <a:r>
                <a:rPr lang="en-AU" dirty="0">
                  <a:latin typeface="Century Gothic" panose="020B0502020202020204" pitchFamily="34" charset="0"/>
                </a:rPr>
                <a:t>4m</a:t>
              </a:r>
            </a:p>
          </p:txBody>
        </p:sp>
        <p:cxnSp>
          <p:nvCxnSpPr>
            <p:cNvPr id="23" name="Straight Arrow Connector 22">
              <a:extLst>
                <a:ext uri="{FF2B5EF4-FFF2-40B4-BE49-F238E27FC236}">
                  <a16:creationId xmlns:a16="http://schemas.microsoft.com/office/drawing/2014/main" id="{341F537A-51A8-212E-CA68-3A204D8788AE}"/>
                </a:ext>
              </a:extLst>
            </p:cNvPr>
            <p:cNvCxnSpPr>
              <a:cxnSpLocks/>
            </p:cNvCxnSpPr>
            <p:nvPr/>
          </p:nvCxnSpPr>
          <p:spPr>
            <a:xfrm>
              <a:off x="4125844" y="4683192"/>
              <a:ext cx="1316949"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12485F4D-C18F-030A-30B6-DF5255599B8C}"/>
                </a:ext>
              </a:extLst>
            </p:cNvPr>
            <p:cNvSpPr txBox="1"/>
            <p:nvPr/>
          </p:nvSpPr>
          <p:spPr>
            <a:xfrm>
              <a:off x="4591810" y="4351253"/>
              <a:ext cx="673170" cy="369332"/>
            </a:xfrm>
            <a:prstGeom prst="rect">
              <a:avLst/>
            </a:prstGeom>
            <a:noFill/>
            <a:ln>
              <a:noFill/>
            </a:ln>
          </p:spPr>
          <p:txBody>
            <a:bodyPr wrap="square">
              <a:spAutoFit/>
            </a:bodyPr>
            <a:lstStyle/>
            <a:p>
              <a:pPr algn="just"/>
              <a:r>
                <a:rPr lang="en-AU" dirty="0">
                  <a:latin typeface="Century Gothic" panose="020B0502020202020204" pitchFamily="34" charset="0"/>
                </a:rPr>
                <a:t>1m</a:t>
              </a:r>
            </a:p>
          </p:txBody>
        </p:sp>
      </p:grpSp>
    </p:spTree>
    <p:extLst>
      <p:ext uri="{BB962C8B-B14F-4D97-AF65-F5344CB8AC3E}">
        <p14:creationId xmlns:p14="http://schemas.microsoft.com/office/powerpoint/2010/main" val="41629687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8">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Complex Torque Questions</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90507"/>
            <a:ext cx="3779478" cy="319722"/>
          </a:xfrm>
        </p:spPr>
        <p:txBody>
          <a:bodyPr/>
          <a:lstStyle/>
          <a:p>
            <a:r>
              <a:rPr lang="en-AU" dirty="0"/>
              <a:t>Content Development</a:t>
            </a:r>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8" name="Text Placeholder 3">
            <a:extLst>
              <a:ext uri="{FF2B5EF4-FFF2-40B4-BE49-F238E27FC236}">
                <a16:creationId xmlns:a16="http://schemas.microsoft.com/office/drawing/2014/main" id="{7E11F69C-68AB-4B11-9E75-0C0F6E869F68}"/>
              </a:ext>
            </a:extLst>
          </p:cNvPr>
          <p:cNvSpPr txBox="1">
            <a:spLocks/>
          </p:cNvSpPr>
          <p:nvPr/>
        </p:nvSpPr>
        <p:spPr>
          <a:xfrm>
            <a:off x="295274" y="914330"/>
            <a:ext cx="11762047"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AU" sz="2400" b="0" dirty="0"/>
              <a:t>There is a trick that you can use for solving complex torque questions:</a:t>
            </a:r>
          </a:p>
          <a:p>
            <a:pPr marL="1028700" lvl="1" indent="-342900" algn="just"/>
            <a:r>
              <a:rPr lang="en-AU" b="0" dirty="0"/>
              <a:t>To be in rotational equilibrium, all points on a lever must have balanced torques</a:t>
            </a:r>
          </a:p>
          <a:p>
            <a:pPr marL="1028700" lvl="1" indent="-342900" algn="just"/>
            <a:r>
              <a:rPr lang="en-AU" b="0" dirty="0"/>
              <a:t>Any force acting at chosen point </a:t>
            </a:r>
            <a:r>
              <a:rPr lang="en-AU" dirty="0"/>
              <a:t>will have a zero torque (as distance = zero)</a:t>
            </a:r>
            <a:endParaRPr lang="en-AU" b="0" dirty="0"/>
          </a:p>
          <a:p>
            <a:pPr algn="just"/>
            <a:endParaRPr lang="en-AU" sz="2400" b="0" dirty="0"/>
          </a:p>
          <a:p>
            <a:pPr algn="just"/>
            <a:endParaRPr lang="en-AU" sz="2400" b="0" dirty="0"/>
          </a:p>
          <a:p>
            <a:pPr algn="just"/>
            <a:endParaRPr lang="en-AU" sz="2400" b="0" dirty="0"/>
          </a:p>
          <a:p>
            <a:pPr algn="just"/>
            <a:endParaRPr lang="en-AU" sz="2400" b="0" dirty="0"/>
          </a:p>
          <a:p>
            <a:pPr algn="just"/>
            <a:endParaRPr lang="en-AU" sz="2400" b="0" dirty="0"/>
          </a:p>
          <a:p>
            <a:pPr algn="just"/>
            <a:endParaRPr lang="en-AU" sz="2400" b="0" dirty="0"/>
          </a:p>
          <a:p>
            <a:pPr algn="just"/>
            <a:r>
              <a:rPr lang="en-AU" sz="2400" b="0" dirty="0"/>
              <a:t>This allows you to solve questions when they don’t seem like they have enough information.</a:t>
            </a:r>
          </a:p>
          <a:p>
            <a:pPr algn="just"/>
            <a:endParaRPr lang="en-AU" sz="2400" b="0" dirty="0"/>
          </a:p>
          <a:p>
            <a:pPr algn="just"/>
            <a:endParaRPr lang="en-AU" sz="2400" b="0" dirty="0"/>
          </a:p>
          <a:p>
            <a:pPr algn="just"/>
            <a:endParaRPr lang="en-AU" sz="2400" b="0" dirty="0"/>
          </a:p>
          <a:p>
            <a:pPr algn="just"/>
            <a:endParaRPr lang="en-AU" sz="2400" b="0" dirty="0"/>
          </a:p>
          <a:p>
            <a:pPr algn="just"/>
            <a:r>
              <a:rPr lang="en-AU" sz="2400" b="0" dirty="0"/>
              <a:t> </a:t>
            </a:r>
          </a:p>
        </p:txBody>
      </p:sp>
      <p:sp>
        <p:nvSpPr>
          <p:cNvPr id="14" name="Rectangle 13">
            <a:extLst>
              <a:ext uri="{FF2B5EF4-FFF2-40B4-BE49-F238E27FC236}">
                <a16:creationId xmlns:a16="http://schemas.microsoft.com/office/drawing/2014/main" id="{5F6F15DD-5A86-2A72-6418-D0E6DF1B7F3E}"/>
              </a:ext>
            </a:extLst>
          </p:cNvPr>
          <p:cNvSpPr/>
          <p:nvPr/>
        </p:nvSpPr>
        <p:spPr>
          <a:xfrm>
            <a:off x="2946206" y="4575102"/>
            <a:ext cx="6094255" cy="981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5" name="Isosceles Triangle 14">
            <a:extLst>
              <a:ext uri="{FF2B5EF4-FFF2-40B4-BE49-F238E27FC236}">
                <a16:creationId xmlns:a16="http://schemas.microsoft.com/office/drawing/2014/main" id="{2AA15BE9-DC7C-1B4E-1ECA-BBCC580B96B8}"/>
              </a:ext>
            </a:extLst>
          </p:cNvPr>
          <p:cNvSpPr/>
          <p:nvPr/>
        </p:nvSpPr>
        <p:spPr>
          <a:xfrm>
            <a:off x="5795140" y="4701106"/>
            <a:ext cx="470787" cy="405851"/>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6" name="Rectangle 15">
            <a:extLst>
              <a:ext uri="{FF2B5EF4-FFF2-40B4-BE49-F238E27FC236}">
                <a16:creationId xmlns:a16="http://schemas.microsoft.com/office/drawing/2014/main" id="{BD0A86E0-E9A0-0562-A637-60BDD58C296B}"/>
              </a:ext>
            </a:extLst>
          </p:cNvPr>
          <p:cNvSpPr/>
          <p:nvPr/>
        </p:nvSpPr>
        <p:spPr>
          <a:xfrm>
            <a:off x="3183205" y="3931820"/>
            <a:ext cx="406284" cy="643438"/>
          </a:xfrm>
          <a:prstGeom prst="rect">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17" name="Straight Arrow Connector 16">
            <a:extLst>
              <a:ext uri="{FF2B5EF4-FFF2-40B4-BE49-F238E27FC236}">
                <a16:creationId xmlns:a16="http://schemas.microsoft.com/office/drawing/2014/main" id="{B255EF4E-3175-64EC-C621-7528DF886819}"/>
              </a:ext>
            </a:extLst>
          </p:cNvPr>
          <p:cNvCxnSpPr/>
          <p:nvPr/>
        </p:nvCxnSpPr>
        <p:spPr>
          <a:xfrm>
            <a:off x="3383525" y="4321175"/>
            <a:ext cx="0" cy="981852"/>
          </a:xfrm>
          <a:prstGeom prst="straightConnector1">
            <a:avLst/>
          </a:prstGeom>
          <a:ln w="1905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95E54D21-49FE-FB4D-7AFD-44DA858E43CE}"/>
              </a:ext>
            </a:extLst>
          </p:cNvPr>
          <p:cNvSpPr txBox="1"/>
          <p:nvPr/>
        </p:nvSpPr>
        <p:spPr>
          <a:xfrm>
            <a:off x="2834084" y="4738298"/>
            <a:ext cx="693809" cy="547002"/>
          </a:xfrm>
          <a:prstGeom prst="rect">
            <a:avLst/>
          </a:prstGeom>
          <a:noFill/>
          <a:ln>
            <a:noFill/>
          </a:ln>
        </p:spPr>
        <p:txBody>
          <a:bodyPr wrap="square">
            <a:spAutoFit/>
          </a:bodyPr>
          <a:lstStyle/>
          <a:p>
            <a:pPr algn="just"/>
            <a:r>
              <a:rPr lang="en-AU" dirty="0">
                <a:latin typeface="Century Gothic" panose="020B0502020202020204" pitchFamily="34" charset="0"/>
              </a:rPr>
              <a:t>W</a:t>
            </a:r>
          </a:p>
        </p:txBody>
      </p:sp>
      <p:sp>
        <p:nvSpPr>
          <p:cNvPr id="19" name="Rectangle 18">
            <a:extLst>
              <a:ext uri="{FF2B5EF4-FFF2-40B4-BE49-F238E27FC236}">
                <a16:creationId xmlns:a16="http://schemas.microsoft.com/office/drawing/2014/main" id="{347C506B-EAE5-A8CC-B2DA-E36C4E5EF971}"/>
              </a:ext>
            </a:extLst>
          </p:cNvPr>
          <p:cNvSpPr/>
          <p:nvPr/>
        </p:nvSpPr>
        <p:spPr>
          <a:xfrm>
            <a:off x="8407912" y="3931664"/>
            <a:ext cx="406284" cy="643438"/>
          </a:xfrm>
          <a:prstGeom prst="rect">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20" name="Straight Arrow Connector 19">
            <a:extLst>
              <a:ext uri="{FF2B5EF4-FFF2-40B4-BE49-F238E27FC236}">
                <a16:creationId xmlns:a16="http://schemas.microsoft.com/office/drawing/2014/main" id="{09CD6A0A-F57D-5A6C-A957-79173B3B5516}"/>
              </a:ext>
            </a:extLst>
          </p:cNvPr>
          <p:cNvCxnSpPr/>
          <p:nvPr/>
        </p:nvCxnSpPr>
        <p:spPr>
          <a:xfrm>
            <a:off x="8608232" y="4321019"/>
            <a:ext cx="0" cy="981852"/>
          </a:xfrm>
          <a:prstGeom prst="straightConnector1">
            <a:avLst/>
          </a:prstGeom>
          <a:ln w="1905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2A123A76-3D05-4907-72C5-5A93580001C3}"/>
              </a:ext>
            </a:extLst>
          </p:cNvPr>
          <p:cNvSpPr txBox="1"/>
          <p:nvPr/>
        </p:nvSpPr>
        <p:spPr>
          <a:xfrm>
            <a:off x="8058791" y="4738143"/>
            <a:ext cx="693809" cy="547002"/>
          </a:xfrm>
          <a:prstGeom prst="rect">
            <a:avLst/>
          </a:prstGeom>
          <a:noFill/>
          <a:ln>
            <a:noFill/>
          </a:ln>
        </p:spPr>
        <p:txBody>
          <a:bodyPr wrap="square">
            <a:spAutoFit/>
          </a:bodyPr>
          <a:lstStyle/>
          <a:p>
            <a:pPr algn="just"/>
            <a:r>
              <a:rPr lang="en-AU" dirty="0">
                <a:latin typeface="Century Gothic" panose="020B0502020202020204" pitchFamily="34" charset="0"/>
              </a:rPr>
              <a:t>W</a:t>
            </a:r>
          </a:p>
        </p:txBody>
      </p:sp>
      <p:cxnSp>
        <p:nvCxnSpPr>
          <p:cNvPr id="22" name="Straight Arrow Connector 21">
            <a:extLst>
              <a:ext uri="{FF2B5EF4-FFF2-40B4-BE49-F238E27FC236}">
                <a16:creationId xmlns:a16="http://schemas.microsoft.com/office/drawing/2014/main" id="{664E9EC6-9A36-0005-BD6C-626C4B00A01B}"/>
              </a:ext>
            </a:extLst>
          </p:cNvPr>
          <p:cNvCxnSpPr>
            <a:cxnSpLocks/>
          </p:cNvCxnSpPr>
          <p:nvPr/>
        </p:nvCxnSpPr>
        <p:spPr>
          <a:xfrm flipV="1">
            <a:off x="6023816" y="3257057"/>
            <a:ext cx="0" cy="2028087"/>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559BD67B-E042-A3F0-D0F8-1BF15F6014EB}"/>
              </a:ext>
            </a:extLst>
          </p:cNvPr>
          <p:cNvSpPr txBox="1"/>
          <p:nvPr/>
        </p:nvSpPr>
        <p:spPr>
          <a:xfrm>
            <a:off x="6023816" y="3432881"/>
            <a:ext cx="1792866" cy="957253"/>
          </a:xfrm>
          <a:prstGeom prst="rect">
            <a:avLst/>
          </a:prstGeom>
          <a:noFill/>
          <a:ln>
            <a:noFill/>
          </a:ln>
        </p:spPr>
        <p:txBody>
          <a:bodyPr wrap="square">
            <a:spAutoFit/>
          </a:bodyPr>
          <a:lstStyle/>
          <a:p>
            <a:pPr algn="just"/>
            <a:r>
              <a:rPr lang="en-AU" dirty="0">
                <a:solidFill>
                  <a:srgbClr val="FF0000"/>
                </a:solidFill>
                <a:latin typeface="Century Gothic" panose="020B0502020202020204" pitchFamily="34" charset="0"/>
              </a:rPr>
              <a:t>Reaction force</a:t>
            </a:r>
          </a:p>
        </p:txBody>
      </p:sp>
      <p:grpSp>
        <p:nvGrpSpPr>
          <p:cNvPr id="7" name="Group 6">
            <a:extLst>
              <a:ext uri="{FF2B5EF4-FFF2-40B4-BE49-F238E27FC236}">
                <a16:creationId xmlns:a16="http://schemas.microsoft.com/office/drawing/2014/main" id="{FACB784E-0E63-1F73-2200-BEA0D8E2CA73}"/>
              </a:ext>
            </a:extLst>
          </p:cNvPr>
          <p:cNvGrpSpPr/>
          <p:nvPr/>
        </p:nvGrpSpPr>
        <p:grpSpPr>
          <a:xfrm>
            <a:off x="2437304" y="2576538"/>
            <a:ext cx="7317391" cy="1238617"/>
            <a:chOff x="2026963" y="2001559"/>
            <a:chExt cx="7317391" cy="1238617"/>
          </a:xfrm>
        </p:grpSpPr>
        <p:sp>
          <p:nvSpPr>
            <p:cNvPr id="3" name="TextBox 2">
              <a:extLst>
                <a:ext uri="{FF2B5EF4-FFF2-40B4-BE49-F238E27FC236}">
                  <a16:creationId xmlns:a16="http://schemas.microsoft.com/office/drawing/2014/main" id="{0EF7A4C0-52F9-CD78-BB45-09124A1DDDA4}"/>
                </a:ext>
              </a:extLst>
            </p:cNvPr>
            <p:cNvSpPr txBox="1"/>
            <p:nvPr/>
          </p:nvSpPr>
          <p:spPr>
            <a:xfrm>
              <a:off x="2026963" y="2850457"/>
              <a:ext cx="2181179" cy="369331"/>
            </a:xfrm>
            <a:prstGeom prst="rect">
              <a:avLst/>
            </a:prstGeom>
            <a:noFill/>
            <a:ln>
              <a:noFill/>
            </a:ln>
          </p:spPr>
          <p:txBody>
            <a:bodyPr wrap="square">
              <a:spAutoFit/>
            </a:bodyPr>
            <a:lstStyle/>
            <a:p>
              <a:pPr algn="just"/>
              <a:r>
                <a:rPr lang="en-AU" b="1" dirty="0">
                  <a:latin typeface="Century Gothic" panose="020B0502020202020204" pitchFamily="34" charset="0"/>
                </a:rPr>
                <a:t>Creates a torque</a:t>
              </a:r>
            </a:p>
          </p:txBody>
        </p:sp>
        <p:sp>
          <p:nvSpPr>
            <p:cNvPr id="5" name="TextBox 4">
              <a:extLst>
                <a:ext uri="{FF2B5EF4-FFF2-40B4-BE49-F238E27FC236}">
                  <a16:creationId xmlns:a16="http://schemas.microsoft.com/office/drawing/2014/main" id="{EA8C43F6-B6FC-29C6-DBD3-B3AE467A660C}"/>
                </a:ext>
              </a:extLst>
            </p:cNvPr>
            <p:cNvSpPr txBox="1"/>
            <p:nvPr/>
          </p:nvSpPr>
          <p:spPr>
            <a:xfrm>
              <a:off x="7163175" y="2870845"/>
              <a:ext cx="2181179" cy="369331"/>
            </a:xfrm>
            <a:prstGeom prst="rect">
              <a:avLst/>
            </a:prstGeom>
            <a:noFill/>
            <a:ln>
              <a:noFill/>
            </a:ln>
          </p:spPr>
          <p:txBody>
            <a:bodyPr wrap="square">
              <a:spAutoFit/>
            </a:bodyPr>
            <a:lstStyle/>
            <a:p>
              <a:pPr algn="just"/>
              <a:r>
                <a:rPr lang="en-AU" b="1" dirty="0">
                  <a:latin typeface="Century Gothic" panose="020B0502020202020204" pitchFamily="34" charset="0"/>
                </a:rPr>
                <a:t>Creates a torque</a:t>
              </a:r>
            </a:p>
          </p:txBody>
        </p:sp>
        <p:sp>
          <p:nvSpPr>
            <p:cNvPr id="6" name="TextBox 5">
              <a:extLst>
                <a:ext uri="{FF2B5EF4-FFF2-40B4-BE49-F238E27FC236}">
                  <a16:creationId xmlns:a16="http://schemas.microsoft.com/office/drawing/2014/main" id="{0121863F-9615-E7DB-1486-332200A1B360}"/>
                </a:ext>
              </a:extLst>
            </p:cNvPr>
            <p:cNvSpPr txBox="1"/>
            <p:nvPr/>
          </p:nvSpPr>
          <p:spPr>
            <a:xfrm>
              <a:off x="4492402" y="2001559"/>
              <a:ext cx="2181179" cy="646331"/>
            </a:xfrm>
            <a:prstGeom prst="rect">
              <a:avLst/>
            </a:prstGeom>
            <a:noFill/>
            <a:ln>
              <a:noFill/>
            </a:ln>
          </p:spPr>
          <p:txBody>
            <a:bodyPr wrap="square">
              <a:spAutoFit/>
            </a:bodyPr>
            <a:lstStyle/>
            <a:p>
              <a:pPr algn="ctr"/>
              <a:r>
                <a:rPr lang="en-AU" b="1" dirty="0">
                  <a:solidFill>
                    <a:srgbClr val="FF0000"/>
                  </a:solidFill>
                  <a:latin typeface="Century Gothic" panose="020B0502020202020204" pitchFamily="34" charset="0"/>
                </a:rPr>
                <a:t>Does not create a torque</a:t>
              </a:r>
            </a:p>
          </p:txBody>
        </p:sp>
      </p:grpSp>
      <p:sp>
        <p:nvSpPr>
          <p:cNvPr id="8" name="TextBox 7">
            <a:extLst>
              <a:ext uri="{FF2B5EF4-FFF2-40B4-BE49-F238E27FC236}">
                <a16:creationId xmlns:a16="http://schemas.microsoft.com/office/drawing/2014/main" id="{31226A9A-44DE-FB00-28E2-EC5278CFE086}"/>
              </a:ext>
            </a:extLst>
          </p:cNvPr>
          <p:cNvSpPr txBox="1"/>
          <p:nvPr/>
        </p:nvSpPr>
        <p:spPr>
          <a:xfrm>
            <a:off x="214867" y="2890168"/>
            <a:ext cx="3773974" cy="369332"/>
          </a:xfrm>
          <a:prstGeom prst="rect">
            <a:avLst/>
          </a:prstGeom>
          <a:noFill/>
          <a:ln>
            <a:noFill/>
          </a:ln>
        </p:spPr>
        <p:txBody>
          <a:bodyPr wrap="square">
            <a:spAutoFit/>
          </a:bodyPr>
          <a:lstStyle/>
          <a:p>
            <a:pPr algn="ctr"/>
            <a:r>
              <a:rPr lang="en-AU" dirty="0">
                <a:solidFill>
                  <a:srgbClr val="FF0000"/>
                </a:solidFill>
                <a:latin typeface="Century Gothic" panose="020B0502020202020204" pitchFamily="34" charset="0"/>
              </a:rPr>
              <a:t>Calculate torques around pivot</a:t>
            </a:r>
          </a:p>
        </p:txBody>
      </p:sp>
    </p:spTree>
    <p:extLst>
      <p:ext uri="{BB962C8B-B14F-4D97-AF65-F5344CB8AC3E}">
        <p14:creationId xmlns:p14="http://schemas.microsoft.com/office/powerpoint/2010/main" val="17015718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Static Equilibrium</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90507"/>
            <a:ext cx="3779478" cy="319722"/>
          </a:xfrm>
        </p:spPr>
        <p:txBody>
          <a:bodyPr/>
          <a:lstStyle/>
          <a:p>
            <a:r>
              <a:rPr lang="en-AU" dirty="0"/>
              <a:t>Content Development</a:t>
            </a:r>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pic>
        <p:nvPicPr>
          <p:cNvPr id="3" name="Picture 2">
            <a:extLst>
              <a:ext uri="{FF2B5EF4-FFF2-40B4-BE49-F238E27FC236}">
                <a16:creationId xmlns:a16="http://schemas.microsoft.com/office/drawing/2014/main" id="{9815D380-5376-99B6-0A03-9C13B9111EBF}"/>
              </a:ext>
            </a:extLst>
          </p:cNvPr>
          <p:cNvPicPr>
            <a:picLocks noChangeAspect="1"/>
          </p:cNvPicPr>
          <p:nvPr/>
        </p:nvPicPr>
        <p:blipFill rotWithShape="1">
          <a:blip r:embed="rId3"/>
          <a:srcRect t="2032" b="1"/>
          <a:stretch/>
        </p:blipFill>
        <p:spPr>
          <a:xfrm>
            <a:off x="214867" y="1053119"/>
            <a:ext cx="6992189" cy="4932045"/>
          </a:xfrm>
          <a:prstGeom prst="rect">
            <a:avLst/>
          </a:prstGeom>
        </p:spPr>
      </p:pic>
      <p:sp>
        <p:nvSpPr>
          <p:cNvPr id="5" name="Text Placeholder 3">
            <a:extLst>
              <a:ext uri="{FF2B5EF4-FFF2-40B4-BE49-F238E27FC236}">
                <a16:creationId xmlns:a16="http://schemas.microsoft.com/office/drawing/2014/main" id="{2CAEE374-BE81-16D9-C417-4AA568E9B18E}"/>
              </a:ext>
            </a:extLst>
          </p:cNvPr>
          <p:cNvSpPr txBox="1">
            <a:spLocks/>
          </p:cNvSpPr>
          <p:nvPr/>
        </p:nvSpPr>
        <p:spPr>
          <a:xfrm>
            <a:off x="7018020" y="794965"/>
            <a:ext cx="5173980"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AutoNum type="arabicPeriod"/>
            </a:pPr>
            <a:r>
              <a:rPr lang="en-AU" sz="2400" b="0" dirty="0"/>
              <a:t>The plank is in static equilibrium therefore:</a:t>
            </a:r>
          </a:p>
          <a:p>
            <a:pPr marL="457200" indent="-457200">
              <a:buAutoNum type="arabicPeriod"/>
            </a:pPr>
            <a:endParaRPr lang="en-AU" sz="2400" b="0" dirty="0"/>
          </a:p>
          <a:p>
            <a:pPr marL="457200" indent="-457200">
              <a:buAutoNum type="arabicPeriod"/>
            </a:pPr>
            <a:endParaRPr lang="en-AU" sz="2400" b="0" dirty="0"/>
          </a:p>
          <a:p>
            <a:pPr marL="457200" indent="-457200">
              <a:buAutoNum type="arabicPeriod"/>
            </a:pPr>
            <a:endParaRPr lang="en-AU" sz="400" b="0" dirty="0"/>
          </a:p>
          <a:p>
            <a:pPr marL="457200" indent="-457200">
              <a:buAutoNum type="arabicPeriod"/>
            </a:pPr>
            <a:r>
              <a:rPr lang="en-AU" sz="2400" b="0" dirty="0"/>
              <a:t>Take the torques at F</a:t>
            </a:r>
            <a:r>
              <a:rPr lang="en-AU" sz="2400" b="0" baseline="-25000" dirty="0"/>
              <a:t>t2</a:t>
            </a:r>
            <a:r>
              <a:rPr lang="en-AU" sz="2400" b="0" dirty="0"/>
              <a:t>:</a:t>
            </a:r>
          </a:p>
          <a:p>
            <a:r>
              <a:rPr lang="en-AU" sz="2400" b="0" dirty="0"/>
              <a:t>CW torques: F</a:t>
            </a:r>
            <a:r>
              <a:rPr lang="en-AU" sz="2400" b="0" baseline="-25000" dirty="0"/>
              <a:t>t1</a:t>
            </a:r>
            <a:endParaRPr lang="en-AU" sz="2400" b="0" dirty="0"/>
          </a:p>
          <a:p>
            <a:r>
              <a:rPr lang="en-AU" sz="2400" b="0" dirty="0"/>
              <a:t>ACW torques: </a:t>
            </a:r>
            <a:r>
              <a:rPr lang="en-AU" sz="2400" b="0" dirty="0" err="1"/>
              <a:t>F</a:t>
            </a:r>
            <a:r>
              <a:rPr lang="en-AU" sz="2400" b="0" baseline="-25000" dirty="0" err="1"/>
              <a:t>g,plank</a:t>
            </a:r>
            <a:r>
              <a:rPr lang="en-AU" sz="2400" b="0" dirty="0"/>
              <a:t> , </a:t>
            </a:r>
            <a:r>
              <a:rPr lang="en-AU" sz="2400" b="0" dirty="0" err="1"/>
              <a:t>F</a:t>
            </a:r>
            <a:r>
              <a:rPr lang="en-AU" sz="2400" b="0" baseline="-25000" dirty="0" err="1"/>
              <a:t>g,painter</a:t>
            </a:r>
            <a:endParaRPr lang="en-AU" sz="2400" b="0" baseline="-25000" dirty="0"/>
          </a:p>
          <a:p>
            <a:pPr algn="just"/>
            <a:r>
              <a:rPr lang="en-AU" sz="2400" b="0" dirty="0"/>
              <a:t> </a:t>
            </a:r>
          </a:p>
        </p:txBody>
      </p:sp>
      <p:grpSp>
        <p:nvGrpSpPr>
          <p:cNvPr id="10" name="Group 9">
            <a:extLst>
              <a:ext uri="{FF2B5EF4-FFF2-40B4-BE49-F238E27FC236}">
                <a16:creationId xmlns:a16="http://schemas.microsoft.com/office/drawing/2014/main" id="{ADD7D7FC-0CB2-5409-647E-E7D34F84B9E9}"/>
              </a:ext>
            </a:extLst>
          </p:cNvPr>
          <p:cNvGrpSpPr/>
          <p:nvPr/>
        </p:nvGrpSpPr>
        <p:grpSpPr>
          <a:xfrm>
            <a:off x="6878118" y="1605023"/>
            <a:ext cx="5313882" cy="864481"/>
            <a:chOff x="6878118" y="1605023"/>
            <a:chExt cx="5313882" cy="864481"/>
          </a:xfrm>
        </p:grpSpPr>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EF0105A7-3132-FC65-7001-63C8D63A7604}"/>
                    </a:ext>
                  </a:extLst>
                </p:cNvPr>
                <p:cNvSpPr txBox="1"/>
                <p:nvPr/>
              </p:nvSpPr>
              <p:spPr>
                <a:xfrm>
                  <a:off x="9348063" y="2100172"/>
                  <a:ext cx="2843937" cy="369332"/>
                </a:xfrm>
                <a:prstGeom prst="rect">
                  <a:avLst/>
                </a:prstGeom>
                <a:noFill/>
                <a:ln>
                  <a:no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l-GR" sz="2400" b="0" i="1" smtClean="0">
                            <a:solidFill>
                              <a:srgbClr val="FF0000"/>
                            </a:solidFill>
                            <a:latin typeface="Cambria Math" panose="02040503050406030204" pitchFamily="18" charset="0"/>
                            <a:ea typeface="Cambria Math" panose="02040503050406030204" pitchFamily="18" charset="0"/>
                          </a:rPr>
                          <m:t>Σ</m:t>
                        </m:r>
                        <m:r>
                          <a:rPr lang="en-AU" sz="2400" b="0" i="1" smtClean="0">
                            <a:solidFill>
                              <a:srgbClr val="FF0000"/>
                            </a:solidFill>
                            <a:latin typeface="Cambria Math" panose="02040503050406030204" pitchFamily="18" charset="0"/>
                            <a:ea typeface="Cambria Math" panose="02040503050406030204" pitchFamily="18" charset="0"/>
                          </a:rPr>
                          <m:t>𝐹</m:t>
                        </m:r>
                        <m:r>
                          <a:rPr lang="en-AU" sz="2400" b="0" i="1" baseline="-25000" smtClean="0">
                            <a:solidFill>
                              <a:srgbClr val="FF0000"/>
                            </a:solidFill>
                            <a:latin typeface="Cambria Math" panose="02040503050406030204" pitchFamily="18" charset="0"/>
                            <a:ea typeface="Cambria Math" panose="02040503050406030204" pitchFamily="18" charset="0"/>
                          </a:rPr>
                          <m:t>𝑢𝑝</m:t>
                        </m:r>
                        <m:r>
                          <a:rPr lang="en-AU" sz="2400" b="0" i="1" smtClean="0">
                            <a:solidFill>
                              <a:srgbClr val="FF0000"/>
                            </a:solidFill>
                            <a:latin typeface="Cambria Math" panose="02040503050406030204" pitchFamily="18" charset="0"/>
                            <a:ea typeface="Cambria Math" panose="02040503050406030204" pitchFamily="18" charset="0"/>
                          </a:rPr>
                          <m:t>=</m:t>
                        </m:r>
                        <m:r>
                          <m:rPr>
                            <m:sty m:val="p"/>
                          </m:rPr>
                          <a:rPr lang="el-GR" sz="2400" i="1">
                            <a:solidFill>
                              <a:srgbClr val="FF0000"/>
                            </a:solidFill>
                            <a:latin typeface="Cambria Math" panose="02040503050406030204" pitchFamily="18" charset="0"/>
                            <a:ea typeface="Cambria Math" panose="02040503050406030204" pitchFamily="18" charset="0"/>
                          </a:rPr>
                          <m:t>Σ</m:t>
                        </m:r>
                        <m:r>
                          <a:rPr lang="en-AU" sz="2400" b="0" i="1" smtClean="0">
                            <a:solidFill>
                              <a:srgbClr val="FF0000"/>
                            </a:solidFill>
                            <a:latin typeface="Cambria Math" panose="02040503050406030204" pitchFamily="18" charset="0"/>
                            <a:ea typeface="Cambria Math" panose="02040503050406030204" pitchFamily="18" charset="0"/>
                          </a:rPr>
                          <m:t>𝐹</m:t>
                        </m:r>
                        <m:r>
                          <a:rPr lang="en-AU" sz="2400" b="0" i="1" baseline="-25000" smtClean="0">
                            <a:solidFill>
                              <a:srgbClr val="FF0000"/>
                            </a:solidFill>
                            <a:latin typeface="Cambria Math" panose="02040503050406030204" pitchFamily="18" charset="0"/>
                            <a:ea typeface="Cambria Math" panose="02040503050406030204" pitchFamily="18" charset="0"/>
                          </a:rPr>
                          <m:t>𝑑𝑜𝑤𝑛</m:t>
                        </m:r>
                      </m:oMath>
                    </m:oMathPara>
                  </a14:m>
                  <a:endParaRPr lang="en-AU" sz="2400" dirty="0">
                    <a:solidFill>
                      <a:srgbClr val="FF0000"/>
                    </a:solidFill>
                  </a:endParaRPr>
                </a:p>
              </p:txBody>
            </p:sp>
          </mc:Choice>
          <mc:Fallback>
            <p:sp>
              <p:nvSpPr>
                <p:cNvPr id="6" name="TextBox 5">
                  <a:extLst>
                    <a:ext uri="{FF2B5EF4-FFF2-40B4-BE49-F238E27FC236}">
                      <a16:creationId xmlns:a16="http://schemas.microsoft.com/office/drawing/2014/main" id="{EF0105A7-3132-FC65-7001-63C8D63A7604}"/>
                    </a:ext>
                  </a:extLst>
                </p:cNvPr>
                <p:cNvSpPr txBox="1">
                  <a:spLocks noRot="1" noChangeAspect="1" noMove="1" noResize="1" noEditPoints="1" noAdjustHandles="1" noChangeArrowheads="1" noChangeShapeType="1" noTextEdit="1"/>
                </p:cNvSpPr>
                <p:nvPr/>
              </p:nvSpPr>
              <p:spPr>
                <a:xfrm>
                  <a:off x="9348063" y="2100172"/>
                  <a:ext cx="2843937" cy="369332"/>
                </a:xfrm>
                <a:prstGeom prst="rect">
                  <a:avLst/>
                </a:prstGeom>
                <a:blipFill>
                  <a:blip r:embed="rId4"/>
                  <a:stretch>
                    <a:fillRect b="-33333"/>
                  </a:stretch>
                </a:blipFill>
                <a:ln>
                  <a:noFill/>
                </a:ln>
              </p:spPr>
              <p:txBody>
                <a:bodyPr/>
                <a:lstStyle/>
                <a:p>
                  <a:r>
                    <a:rPr lang="en-AU">
                      <a:noFill/>
                    </a:rPr>
                    <a:t> </a:t>
                  </a:r>
                </a:p>
              </p:txBody>
            </p:sp>
          </mc:Fallback>
        </mc:AlternateContent>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9E88EB12-0139-4AAB-BD50-02BEDBD481D1}"/>
                    </a:ext>
                  </a:extLst>
                </p:cNvPr>
                <p:cNvSpPr txBox="1"/>
                <p:nvPr/>
              </p:nvSpPr>
              <p:spPr>
                <a:xfrm>
                  <a:off x="6878118" y="2100172"/>
                  <a:ext cx="3129394" cy="369332"/>
                </a:xfrm>
                <a:prstGeom prst="rect">
                  <a:avLst/>
                </a:prstGeom>
                <a:noFill/>
                <a:ln>
                  <a:no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l-GR" sz="2400" b="0" i="1" smtClean="0">
                            <a:solidFill>
                              <a:srgbClr val="FF0000"/>
                            </a:solidFill>
                            <a:latin typeface="Cambria Math" panose="02040503050406030204" pitchFamily="18" charset="0"/>
                            <a:ea typeface="Cambria Math" panose="02040503050406030204" pitchFamily="18" charset="0"/>
                          </a:rPr>
                          <m:t>Σ</m:t>
                        </m:r>
                        <m:r>
                          <a:rPr lang="en-AU" sz="2400" b="0" i="1" smtClean="0">
                            <a:solidFill>
                              <a:srgbClr val="FF0000"/>
                            </a:solidFill>
                            <a:latin typeface="Cambria Math" panose="02040503050406030204" pitchFamily="18" charset="0"/>
                            <a:ea typeface="Cambria Math" panose="02040503050406030204" pitchFamily="18" charset="0"/>
                          </a:rPr>
                          <m:t>𝐹</m:t>
                        </m:r>
                        <m:r>
                          <a:rPr lang="en-AU" sz="2400" b="0" i="1" baseline="-25000" smtClean="0">
                            <a:solidFill>
                              <a:srgbClr val="FF0000"/>
                            </a:solidFill>
                            <a:latin typeface="Cambria Math" panose="02040503050406030204" pitchFamily="18" charset="0"/>
                            <a:ea typeface="Cambria Math" panose="02040503050406030204" pitchFamily="18" charset="0"/>
                          </a:rPr>
                          <m:t>𝑙𝑒𝑓𝑡</m:t>
                        </m:r>
                        <m:r>
                          <a:rPr lang="en-AU" sz="2400" b="0" i="1" smtClean="0">
                            <a:solidFill>
                              <a:srgbClr val="FF0000"/>
                            </a:solidFill>
                            <a:latin typeface="Cambria Math" panose="02040503050406030204" pitchFamily="18" charset="0"/>
                            <a:ea typeface="Cambria Math" panose="02040503050406030204" pitchFamily="18" charset="0"/>
                          </a:rPr>
                          <m:t>=</m:t>
                        </m:r>
                        <m:r>
                          <m:rPr>
                            <m:sty m:val="p"/>
                          </m:rPr>
                          <a:rPr lang="el-GR" sz="2400" i="1">
                            <a:solidFill>
                              <a:srgbClr val="FF0000"/>
                            </a:solidFill>
                            <a:latin typeface="Cambria Math" panose="02040503050406030204" pitchFamily="18" charset="0"/>
                            <a:ea typeface="Cambria Math" panose="02040503050406030204" pitchFamily="18" charset="0"/>
                          </a:rPr>
                          <m:t>Σ</m:t>
                        </m:r>
                        <m:r>
                          <a:rPr lang="en-AU" sz="2400" b="0" i="1" smtClean="0">
                            <a:solidFill>
                              <a:srgbClr val="FF0000"/>
                            </a:solidFill>
                            <a:latin typeface="Cambria Math" panose="02040503050406030204" pitchFamily="18" charset="0"/>
                            <a:ea typeface="Cambria Math" panose="02040503050406030204" pitchFamily="18" charset="0"/>
                          </a:rPr>
                          <m:t>𝐹</m:t>
                        </m:r>
                        <m:r>
                          <a:rPr lang="en-AU" sz="2400" b="0" i="1" baseline="-25000" smtClean="0">
                            <a:solidFill>
                              <a:srgbClr val="FF0000"/>
                            </a:solidFill>
                            <a:latin typeface="Cambria Math" panose="02040503050406030204" pitchFamily="18" charset="0"/>
                            <a:ea typeface="Cambria Math" panose="02040503050406030204" pitchFamily="18" charset="0"/>
                          </a:rPr>
                          <m:t>𝑟𝑖𝑔h𝑡</m:t>
                        </m:r>
                      </m:oMath>
                    </m:oMathPara>
                  </a14:m>
                  <a:endParaRPr lang="en-AU" sz="2400" dirty="0">
                    <a:solidFill>
                      <a:srgbClr val="FF0000"/>
                    </a:solidFill>
                  </a:endParaRPr>
                </a:p>
              </p:txBody>
            </p:sp>
          </mc:Choice>
          <mc:Fallback>
            <p:sp>
              <p:nvSpPr>
                <p:cNvPr id="7" name="TextBox 6">
                  <a:extLst>
                    <a:ext uri="{FF2B5EF4-FFF2-40B4-BE49-F238E27FC236}">
                      <a16:creationId xmlns:a16="http://schemas.microsoft.com/office/drawing/2014/main" id="{9E88EB12-0139-4AAB-BD50-02BEDBD481D1}"/>
                    </a:ext>
                  </a:extLst>
                </p:cNvPr>
                <p:cNvSpPr txBox="1">
                  <a:spLocks noRot="1" noChangeAspect="1" noMove="1" noResize="1" noEditPoints="1" noAdjustHandles="1" noChangeArrowheads="1" noChangeShapeType="1" noTextEdit="1"/>
                </p:cNvSpPr>
                <p:nvPr/>
              </p:nvSpPr>
              <p:spPr>
                <a:xfrm>
                  <a:off x="6878118" y="2100172"/>
                  <a:ext cx="3129394" cy="369332"/>
                </a:xfrm>
                <a:prstGeom prst="rect">
                  <a:avLst/>
                </a:prstGeom>
                <a:blipFill>
                  <a:blip r:embed="rId5"/>
                  <a:stretch>
                    <a:fillRect b="-38333"/>
                  </a:stretch>
                </a:blipFill>
                <a:ln>
                  <a:noFill/>
                </a:ln>
              </p:spPr>
              <p:txBody>
                <a:bodyPr/>
                <a:lstStyle/>
                <a:p>
                  <a:r>
                    <a:rPr lang="en-AU">
                      <a:noFill/>
                    </a:rPr>
                    <a:t> </a:t>
                  </a:r>
                </a:p>
              </p:txBody>
            </p:sp>
          </mc:Fallback>
        </mc:AlternateContent>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E6ACC743-07CC-A55B-450E-E9FA628D5756}"/>
                    </a:ext>
                  </a:extLst>
                </p:cNvPr>
                <p:cNvSpPr txBox="1"/>
                <p:nvPr/>
              </p:nvSpPr>
              <p:spPr>
                <a:xfrm>
                  <a:off x="8455926" y="1605023"/>
                  <a:ext cx="2242923" cy="369332"/>
                </a:xfrm>
                <a:prstGeom prst="rect">
                  <a:avLst/>
                </a:prstGeom>
                <a:noFill/>
                <a:ln>
                  <a:no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l-GR" sz="2400" b="0" i="1" smtClean="0">
                            <a:solidFill>
                              <a:srgbClr val="FF0000"/>
                            </a:solidFill>
                            <a:latin typeface="Cambria Math" panose="02040503050406030204" pitchFamily="18" charset="0"/>
                            <a:ea typeface="Cambria Math" panose="02040503050406030204" pitchFamily="18" charset="0"/>
                          </a:rPr>
                          <m:t>Σ</m:t>
                        </m:r>
                        <m:r>
                          <a:rPr lang="en-AU" sz="2400" i="1">
                            <a:solidFill>
                              <a:srgbClr val="FF0000"/>
                            </a:solidFill>
                            <a:latin typeface="Cambria Math" panose="02040503050406030204" pitchFamily="18" charset="0"/>
                            <a:ea typeface="Cambria Math" panose="02040503050406030204" pitchFamily="18" charset="0"/>
                          </a:rPr>
                          <m:t>𝜏</m:t>
                        </m:r>
                        <m:r>
                          <a:rPr lang="en-AU" sz="2400" i="1" baseline="-25000">
                            <a:solidFill>
                              <a:srgbClr val="FF0000"/>
                            </a:solidFill>
                            <a:latin typeface="Cambria Math" panose="02040503050406030204" pitchFamily="18" charset="0"/>
                            <a:ea typeface="Cambria Math" panose="02040503050406030204" pitchFamily="18" charset="0"/>
                          </a:rPr>
                          <m:t>𝑐𝑤</m:t>
                        </m:r>
                        <m:r>
                          <a:rPr lang="en-AU" sz="2400" b="0" i="1" smtClean="0">
                            <a:solidFill>
                              <a:srgbClr val="FF0000"/>
                            </a:solidFill>
                            <a:latin typeface="Cambria Math" panose="02040503050406030204" pitchFamily="18" charset="0"/>
                            <a:ea typeface="Cambria Math" panose="02040503050406030204" pitchFamily="18" charset="0"/>
                          </a:rPr>
                          <m:t>=</m:t>
                        </m:r>
                        <m:r>
                          <m:rPr>
                            <m:sty m:val="p"/>
                          </m:rPr>
                          <a:rPr lang="el-GR" sz="2400" i="1">
                            <a:solidFill>
                              <a:srgbClr val="FF0000"/>
                            </a:solidFill>
                            <a:latin typeface="Cambria Math" panose="02040503050406030204" pitchFamily="18" charset="0"/>
                            <a:ea typeface="Cambria Math" panose="02040503050406030204" pitchFamily="18" charset="0"/>
                          </a:rPr>
                          <m:t>Σ</m:t>
                        </m:r>
                        <m:r>
                          <a:rPr lang="en-AU" sz="2400" i="1">
                            <a:solidFill>
                              <a:srgbClr val="FF0000"/>
                            </a:solidFill>
                            <a:latin typeface="Cambria Math" panose="02040503050406030204" pitchFamily="18" charset="0"/>
                            <a:ea typeface="Cambria Math" panose="02040503050406030204" pitchFamily="18" charset="0"/>
                          </a:rPr>
                          <m:t>𝜏</m:t>
                        </m:r>
                        <m:r>
                          <a:rPr lang="en-AU" sz="2400" b="0" i="1" baseline="-25000" smtClean="0">
                            <a:solidFill>
                              <a:srgbClr val="FF0000"/>
                            </a:solidFill>
                            <a:latin typeface="Cambria Math" panose="02040503050406030204" pitchFamily="18" charset="0"/>
                            <a:ea typeface="Cambria Math" panose="02040503050406030204" pitchFamily="18" charset="0"/>
                          </a:rPr>
                          <m:t>𝑎𝑐𝑤</m:t>
                        </m:r>
                      </m:oMath>
                    </m:oMathPara>
                  </a14:m>
                  <a:endParaRPr lang="en-AU" sz="2400" dirty="0">
                    <a:solidFill>
                      <a:srgbClr val="FF0000"/>
                    </a:solidFill>
                  </a:endParaRPr>
                </a:p>
              </p:txBody>
            </p:sp>
          </mc:Choice>
          <mc:Fallback>
            <p:sp>
              <p:nvSpPr>
                <p:cNvPr id="8" name="TextBox 7">
                  <a:extLst>
                    <a:ext uri="{FF2B5EF4-FFF2-40B4-BE49-F238E27FC236}">
                      <a16:creationId xmlns:a16="http://schemas.microsoft.com/office/drawing/2014/main" id="{E6ACC743-07CC-A55B-450E-E9FA628D5756}"/>
                    </a:ext>
                  </a:extLst>
                </p:cNvPr>
                <p:cNvSpPr txBox="1">
                  <a:spLocks noRot="1" noChangeAspect="1" noMove="1" noResize="1" noEditPoints="1" noAdjustHandles="1" noChangeArrowheads="1" noChangeShapeType="1" noTextEdit="1"/>
                </p:cNvSpPr>
                <p:nvPr/>
              </p:nvSpPr>
              <p:spPr>
                <a:xfrm>
                  <a:off x="8455926" y="1605023"/>
                  <a:ext cx="2242923" cy="369332"/>
                </a:xfrm>
                <a:prstGeom prst="rect">
                  <a:avLst/>
                </a:prstGeom>
                <a:blipFill>
                  <a:blip r:embed="rId6"/>
                  <a:stretch>
                    <a:fillRect b="-14754"/>
                  </a:stretch>
                </a:blipFill>
                <a:ln>
                  <a:noFill/>
                </a:ln>
              </p:spPr>
              <p:txBody>
                <a:bodyPr/>
                <a:lstStyle/>
                <a:p>
                  <a:r>
                    <a:rPr lang="en-AU">
                      <a:noFill/>
                    </a:rPr>
                    <a:t> </a:t>
                  </a:r>
                </a:p>
              </p:txBody>
            </p:sp>
          </mc:Fallback>
        </mc:AlternateContent>
      </p:grpSp>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3FD6AE80-7BD3-6F68-D646-60AE0F02ADDD}"/>
                  </a:ext>
                </a:extLst>
              </p:cNvPr>
              <p:cNvSpPr txBox="1"/>
              <p:nvPr/>
            </p:nvSpPr>
            <p:spPr>
              <a:xfrm>
                <a:off x="6297930" y="4226089"/>
                <a:ext cx="5783580" cy="1477328"/>
              </a:xfrm>
              <a:prstGeom prst="rect">
                <a:avLst/>
              </a:prstGeom>
              <a:noFill/>
              <a:ln>
                <a:noFill/>
              </a:ln>
            </p:spPr>
            <p:txBody>
              <a:bodyPr wrap="square" lIns="0" tIns="0" rIns="0" bIns="0" rtlCol="0">
                <a:spAutoFit/>
              </a:bodyPr>
              <a:lstStyle/>
              <a:p>
                <a:pPr algn="ctr"/>
                <a14:m>
                  <m:oMathPara xmlns:m="http://schemas.openxmlformats.org/officeDocument/2006/math">
                    <m:oMathParaPr>
                      <m:jc m:val="centerGroup"/>
                    </m:oMathParaPr>
                    <m:oMath xmlns:m="http://schemas.openxmlformats.org/officeDocument/2006/math">
                      <m:r>
                        <m:rPr>
                          <m:sty m:val="p"/>
                        </m:rPr>
                        <a:rPr lang="el-GR" sz="2400" b="0" i="1" smtClean="0">
                          <a:solidFill>
                            <a:srgbClr val="FF0000"/>
                          </a:solidFill>
                          <a:latin typeface="Cambria Math" panose="02040503050406030204" pitchFamily="18" charset="0"/>
                          <a:ea typeface="Cambria Math" panose="02040503050406030204" pitchFamily="18" charset="0"/>
                        </a:rPr>
                        <m:t>Σ</m:t>
                      </m:r>
                      <m:r>
                        <a:rPr lang="en-AU" sz="2400" i="1">
                          <a:solidFill>
                            <a:srgbClr val="FF0000"/>
                          </a:solidFill>
                          <a:latin typeface="Cambria Math" panose="02040503050406030204" pitchFamily="18" charset="0"/>
                          <a:ea typeface="Cambria Math" panose="02040503050406030204" pitchFamily="18" charset="0"/>
                        </a:rPr>
                        <m:t>𝜏</m:t>
                      </m:r>
                      <m:r>
                        <a:rPr lang="en-AU" sz="2400" i="1" baseline="-25000">
                          <a:solidFill>
                            <a:srgbClr val="FF0000"/>
                          </a:solidFill>
                          <a:latin typeface="Cambria Math" panose="02040503050406030204" pitchFamily="18" charset="0"/>
                          <a:ea typeface="Cambria Math" panose="02040503050406030204" pitchFamily="18" charset="0"/>
                        </a:rPr>
                        <m:t>𝑐𝑤</m:t>
                      </m:r>
                      <m:r>
                        <a:rPr lang="en-AU" sz="2400" b="0" i="1" smtClean="0">
                          <a:solidFill>
                            <a:srgbClr val="FF0000"/>
                          </a:solidFill>
                          <a:latin typeface="Cambria Math" panose="02040503050406030204" pitchFamily="18" charset="0"/>
                          <a:ea typeface="Cambria Math" panose="02040503050406030204" pitchFamily="18" charset="0"/>
                        </a:rPr>
                        <m:t>=</m:t>
                      </m:r>
                      <m:r>
                        <m:rPr>
                          <m:sty m:val="p"/>
                        </m:rPr>
                        <a:rPr lang="el-GR" sz="2400" i="1">
                          <a:solidFill>
                            <a:srgbClr val="FF0000"/>
                          </a:solidFill>
                          <a:latin typeface="Cambria Math" panose="02040503050406030204" pitchFamily="18" charset="0"/>
                          <a:ea typeface="Cambria Math" panose="02040503050406030204" pitchFamily="18" charset="0"/>
                        </a:rPr>
                        <m:t>Σ</m:t>
                      </m:r>
                      <m:r>
                        <a:rPr lang="en-AU" sz="2400" i="1">
                          <a:solidFill>
                            <a:srgbClr val="FF0000"/>
                          </a:solidFill>
                          <a:latin typeface="Cambria Math" panose="02040503050406030204" pitchFamily="18" charset="0"/>
                          <a:ea typeface="Cambria Math" panose="02040503050406030204" pitchFamily="18" charset="0"/>
                        </a:rPr>
                        <m:t>𝜏</m:t>
                      </m:r>
                      <m:r>
                        <a:rPr lang="en-AU" sz="2400" b="0" i="1" baseline="-25000" smtClean="0">
                          <a:solidFill>
                            <a:srgbClr val="FF0000"/>
                          </a:solidFill>
                          <a:latin typeface="Cambria Math" panose="02040503050406030204" pitchFamily="18" charset="0"/>
                          <a:ea typeface="Cambria Math" panose="02040503050406030204" pitchFamily="18" charset="0"/>
                        </a:rPr>
                        <m:t>𝑎𝑐𝑤</m:t>
                      </m:r>
                    </m:oMath>
                  </m:oMathPara>
                </a14:m>
                <a:endParaRPr lang="en-AU" sz="2400" dirty="0">
                  <a:solidFill>
                    <a:srgbClr val="FF0000"/>
                  </a:solidFill>
                </a:endParaRPr>
              </a:p>
              <a:p>
                <a:pPr algn="ctr"/>
                <a:r>
                  <a:rPr lang="en-AU" sz="2400" dirty="0">
                    <a:solidFill>
                      <a:srgbClr val="FF0000"/>
                    </a:solidFill>
                  </a:rPr>
                  <a:t>F</a:t>
                </a:r>
                <a:r>
                  <a:rPr lang="en-AU" sz="2400" baseline="-25000" dirty="0">
                    <a:solidFill>
                      <a:srgbClr val="FF0000"/>
                    </a:solidFill>
                  </a:rPr>
                  <a:t>t1</a:t>
                </a:r>
                <a:r>
                  <a:rPr lang="en-AU" sz="2400" dirty="0">
                    <a:solidFill>
                      <a:srgbClr val="FF0000"/>
                    </a:solidFill>
                  </a:rPr>
                  <a:t> * 6 = 196 * 3 + 686 * 2</a:t>
                </a:r>
              </a:p>
              <a:p>
                <a:pPr algn="ctr"/>
                <a:r>
                  <a:rPr lang="en-AU" sz="2400" dirty="0">
                    <a:solidFill>
                      <a:srgbClr val="FF0000"/>
                    </a:solidFill>
                  </a:rPr>
                  <a:t>6 F</a:t>
                </a:r>
                <a:r>
                  <a:rPr lang="en-AU" sz="2400" baseline="-25000" dirty="0">
                    <a:solidFill>
                      <a:srgbClr val="FF0000"/>
                    </a:solidFill>
                  </a:rPr>
                  <a:t>t1</a:t>
                </a:r>
                <a:r>
                  <a:rPr lang="en-AU" sz="2400" dirty="0">
                    <a:solidFill>
                      <a:srgbClr val="FF0000"/>
                    </a:solidFill>
                  </a:rPr>
                  <a:t> = 1960</a:t>
                </a:r>
              </a:p>
              <a:p>
                <a:pPr algn="ctr"/>
                <a:r>
                  <a:rPr lang="en-AU" sz="2400" dirty="0">
                    <a:solidFill>
                      <a:srgbClr val="FF0000"/>
                    </a:solidFill>
                  </a:rPr>
                  <a:t>F</a:t>
                </a:r>
                <a:r>
                  <a:rPr lang="en-AU" sz="2400" baseline="-25000" dirty="0">
                    <a:solidFill>
                      <a:srgbClr val="FF0000"/>
                    </a:solidFill>
                  </a:rPr>
                  <a:t>t1</a:t>
                </a:r>
                <a:r>
                  <a:rPr lang="en-AU" sz="2400" dirty="0">
                    <a:solidFill>
                      <a:srgbClr val="FF0000"/>
                    </a:solidFill>
                  </a:rPr>
                  <a:t> = 327 N</a:t>
                </a:r>
              </a:p>
            </p:txBody>
          </p:sp>
        </mc:Choice>
        <mc:Fallback>
          <p:sp>
            <p:nvSpPr>
              <p:cNvPr id="9" name="TextBox 8">
                <a:extLst>
                  <a:ext uri="{FF2B5EF4-FFF2-40B4-BE49-F238E27FC236}">
                    <a16:creationId xmlns:a16="http://schemas.microsoft.com/office/drawing/2014/main" id="{3FD6AE80-7BD3-6F68-D646-60AE0F02ADDD}"/>
                  </a:ext>
                </a:extLst>
              </p:cNvPr>
              <p:cNvSpPr txBox="1">
                <a:spLocks noRot="1" noChangeAspect="1" noMove="1" noResize="1" noEditPoints="1" noAdjustHandles="1" noChangeArrowheads="1" noChangeShapeType="1" noTextEdit="1"/>
              </p:cNvSpPr>
              <p:nvPr/>
            </p:nvSpPr>
            <p:spPr>
              <a:xfrm>
                <a:off x="6297930" y="4226089"/>
                <a:ext cx="5783580" cy="1477328"/>
              </a:xfrm>
              <a:prstGeom prst="rect">
                <a:avLst/>
              </a:prstGeom>
              <a:blipFill>
                <a:blip r:embed="rId7"/>
                <a:stretch>
                  <a:fillRect b="-11523"/>
                </a:stretch>
              </a:blipFill>
              <a:ln>
                <a:noFill/>
              </a:ln>
            </p:spPr>
            <p:txBody>
              <a:bodyPr/>
              <a:lstStyle/>
              <a:p>
                <a:r>
                  <a:rPr lang="en-AU">
                    <a:noFill/>
                  </a:rPr>
                  <a:t> </a:t>
                </a:r>
              </a:p>
            </p:txBody>
          </p:sp>
        </mc:Fallback>
      </mc:AlternateContent>
    </p:spTree>
    <p:extLst>
      <p:ext uri="{BB962C8B-B14F-4D97-AF65-F5344CB8AC3E}">
        <p14:creationId xmlns:p14="http://schemas.microsoft.com/office/powerpoint/2010/main" val="15994632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Static Equilibrium</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90507"/>
            <a:ext cx="3779478" cy="319722"/>
          </a:xfrm>
        </p:spPr>
        <p:txBody>
          <a:bodyPr/>
          <a:lstStyle/>
          <a:p>
            <a:r>
              <a:rPr lang="en-AU" dirty="0"/>
              <a:t>You Do</a:t>
            </a:r>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pic>
        <p:nvPicPr>
          <p:cNvPr id="13" name="Picture 12">
            <a:extLst>
              <a:ext uri="{FF2B5EF4-FFF2-40B4-BE49-F238E27FC236}">
                <a16:creationId xmlns:a16="http://schemas.microsoft.com/office/drawing/2014/main" id="{81FEBB4A-EFFB-53D6-0CA7-ABED488DE777}"/>
              </a:ext>
            </a:extLst>
          </p:cNvPr>
          <p:cNvPicPr>
            <a:picLocks noChangeAspect="1"/>
          </p:cNvPicPr>
          <p:nvPr/>
        </p:nvPicPr>
        <p:blipFill>
          <a:blip r:embed="rId3"/>
          <a:stretch>
            <a:fillRect/>
          </a:stretch>
        </p:blipFill>
        <p:spPr>
          <a:xfrm>
            <a:off x="295275" y="910229"/>
            <a:ext cx="7877175" cy="4143375"/>
          </a:xfrm>
          <a:prstGeom prst="rect">
            <a:avLst/>
          </a:prstGeom>
        </p:spPr>
      </p:pic>
      <p:pic>
        <p:nvPicPr>
          <p:cNvPr id="14" name="Picture 13">
            <a:extLst>
              <a:ext uri="{FF2B5EF4-FFF2-40B4-BE49-F238E27FC236}">
                <a16:creationId xmlns:a16="http://schemas.microsoft.com/office/drawing/2014/main" id="{4D464B21-BE73-D368-5AD2-6B7297620C2A}"/>
              </a:ext>
            </a:extLst>
          </p:cNvPr>
          <p:cNvPicPr>
            <a:picLocks noChangeAspect="1"/>
          </p:cNvPicPr>
          <p:nvPr/>
        </p:nvPicPr>
        <p:blipFill rotWithShape="1">
          <a:blip r:embed="rId3"/>
          <a:srcRect l="82998" t="38251" b="27619"/>
          <a:stretch/>
        </p:blipFill>
        <p:spPr>
          <a:xfrm>
            <a:off x="6203433" y="2519917"/>
            <a:ext cx="1339259" cy="1020725"/>
          </a:xfrm>
          <a:prstGeom prst="rect">
            <a:avLst/>
          </a:prstGeom>
        </p:spPr>
      </p:pic>
      <p:pic>
        <p:nvPicPr>
          <p:cNvPr id="15" name="Picture 14">
            <a:extLst>
              <a:ext uri="{FF2B5EF4-FFF2-40B4-BE49-F238E27FC236}">
                <a16:creationId xmlns:a16="http://schemas.microsoft.com/office/drawing/2014/main" id="{320DFF68-1AEB-4E9D-2F59-1D477A15D688}"/>
              </a:ext>
            </a:extLst>
          </p:cNvPr>
          <p:cNvPicPr>
            <a:picLocks noChangeAspect="1"/>
          </p:cNvPicPr>
          <p:nvPr/>
        </p:nvPicPr>
        <p:blipFill rotWithShape="1">
          <a:blip r:embed="rId3"/>
          <a:srcRect l="85191" t="38251" b="27619"/>
          <a:stretch/>
        </p:blipFill>
        <p:spPr>
          <a:xfrm>
            <a:off x="6873062" y="3429000"/>
            <a:ext cx="1166479" cy="1020725"/>
          </a:xfrm>
          <a:prstGeom prst="rect">
            <a:avLst/>
          </a:prstGeom>
        </p:spPr>
      </p:pic>
      <p:cxnSp>
        <p:nvCxnSpPr>
          <p:cNvPr id="19" name="Straight Arrow Connector 18">
            <a:extLst>
              <a:ext uri="{FF2B5EF4-FFF2-40B4-BE49-F238E27FC236}">
                <a16:creationId xmlns:a16="http://schemas.microsoft.com/office/drawing/2014/main" id="{5D2FD286-22F5-2EE5-2739-816A7CB97615}"/>
              </a:ext>
            </a:extLst>
          </p:cNvPr>
          <p:cNvCxnSpPr>
            <a:cxnSpLocks/>
          </p:cNvCxnSpPr>
          <p:nvPr/>
        </p:nvCxnSpPr>
        <p:spPr>
          <a:xfrm>
            <a:off x="4233862" y="4327451"/>
            <a:ext cx="2049980" cy="0"/>
          </a:xfrm>
          <a:prstGeom prst="straightConnector1">
            <a:avLst/>
          </a:prstGeom>
          <a:ln>
            <a:solidFill>
              <a:schemeClr val="tx1"/>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81AE31EC-3D36-9BCD-17AA-EF94C739E74E}"/>
              </a:ext>
            </a:extLst>
          </p:cNvPr>
          <p:cNvSpPr/>
          <p:nvPr/>
        </p:nvSpPr>
        <p:spPr>
          <a:xfrm>
            <a:off x="4939875" y="4391948"/>
            <a:ext cx="950562" cy="2551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chemeClr val="tx1"/>
                </a:solidFill>
              </a:rPr>
              <a:t>1.50m</a:t>
            </a:r>
          </a:p>
        </p:txBody>
      </p:sp>
    </p:spTree>
    <p:extLst>
      <p:ext uri="{BB962C8B-B14F-4D97-AF65-F5344CB8AC3E}">
        <p14:creationId xmlns:p14="http://schemas.microsoft.com/office/powerpoint/2010/main" val="21525528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Static Equilibrium</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90507"/>
            <a:ext cx="3779478" cy="319722"/>
          </a:xfrm>
        </p:spPr>
        <p:txBody>
          <a:bodyPr/>
          <a:lstStyle/>
          <a:p>
            <a:r>
              <a:rPr lang="en-AU" dirty="0"/>
              <a:t>Diving boards / Cantilevers</a:t>
            </a:r>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pic>
        <p:nvPicPr>
          <p:cNvPr id="5" name="Picture 4">
            <a:extLst>
              <a:ext uri="{FF2B5EF4-FFF2-40B4-BE49-F238E27FC236}">
                <a16:creationId xmlns:a16="http://schemas.microsoft.com/office/drawing/2014/main" id="{3208366E-6584-6E42-52B7-3FB724E5D0C2}"/>
              </a:ext>
            </a:extLst>
          </p:cNvPr>
          <p:cNvPicPr>
            <a:picLocks noChangeAspect="1"/>
          </p:cNvPicPr>
          <p:nvPr/>
        </p:nvPicPr>
        <p:blipFill rotWithShape="1">
          <a:blip r:embed="rId3"/>
          <a:srcRect l="50955" r="-1"/>
          <a:stretch/>
        </p:blipFill>
        <p:spPr>
          <a:xfrm>
            <a:off x="653072" y="2160248"/>
            <a:ext cx="4283259" cy="2235307"/>
          </a:xfrm>
          <a:prstGeom prst="rect">
            <a:avLst/>
          </a:prstGeom>
        </p:spPr>
      </p:pic>
      <p:sp>
        <p:nvSpPr>
          <p:cNvPr id="6" name="Text Placeholder 3">
            <a:extLst>
              <a:ext uri="{FF2B5EF4-FFF2-40B4-BE49-F238E27FC236}">
                <a16:creationId xmlns:a16="http://schemas.microsoft.com/office/drawing/2014/main" id="{FE3505E3-E769-4836-78C9-D1BFB19A179F}"/>
              </a:ext>
            </a:extLst>
          </p:cNvPr>
          <p:cNvSpPr txBox="1">
            <a:spLocks/>
          </p:cNvSpPr>
          <p:nvPr/>
        </p:nvSpPr>
        <p:spPr>
          <a:xfrm>
            <a:off x="295274" y="932618"/>
            <a:ext cx="11896725"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AU" sz="2400" b="0" dirty="0"/>
              <a:t>Cantilevers are levers that are supported only on one side. For the torques to be balanced, the support furthest from the weight must supply a downwards force. The other support supplies an upwards force.</a:t>
            </a:r>
          </a:p>
          <a:p>
            <a:pPr algn="just"/>
            <a:endParaRPr lang="en-AU" sz="2400" b="0" dirty="0"/>
          </a:p>
          <a:p>
            <a:pPr algn="just"/>
            <a:r>
              <a:rPr lang="en-AU" sz="2400" b="0" dirty="0"/>
              <a:t> </a:t>
            </a:r>
          </a:p>
        </p:txBody>
      </p:sp>
      <p:pic>
        <p:nvPicPr>
          <p:cNvPr id="8" name="Picture 7">
            <a:extLst>
              <a:ext uri="{FF2B5EF4-FFF2-40B4-BE49-F238E27FC236}">
                <a16:creationId xmlns:a16="http://schemas.microsoft.com/office/drawing/2014/main" id="{D1D2C048-9D64-F30C-7F11-DA553FB05744}"/>
              </a:ext>
            </a:extLst>
          </p:cNvPr>
          <p:cNvPicPr>
            <a:picLocks noChangeAspect="1"/>
          </p:cNvPicPr>
          <p:nvPr/>
        </p:nvPicPr>
        <p:blipFill>
          <a:blip r:embed="rId4"/>
          <a:stretch>
            <a:fillRect/>
          </a:stretch>
        </p:blipFill>
        <p:spPr>
          <a:xfrm flipH="1">
            <a:off x="5559166" y="2160248"/>
            <a:ext cx="5996763" cy="3997842"/>
          </a:xfrm>
          <a:prstGeom prst="rect">
            <a:avLst/>
          </a:prstGeom>
        </p:spPr>
      </p:pic>
      <p:sp>
        <p:nvSpPr>
          <p:cNvPr id="9" name="Text Placeholder 3">
            <a:extLst>
              <a:ext uri="{FF2B5EF4-FFF2-40B4-BE49-F238E27FC236}">
                <a16:creationId xmlns:a16="http://schemas.microsoft.com/office/drawing/2014/main" id="{B3EA879D-971C-ACD0-D53C-3E3E6E5CC29F}"/>
              </a:ext>
            </a:extLst>
          </p:cNvPr>
          <p:cNvSpPr txBox="1">
            <a:spLocks/>
          </p:cNvSpPr>
          <p:nvPr/>
        </p:nvSpPr>
        <p:spPr>
          <a:xfrm>
            <a:off x="295275" y="4702608"/>
            <a:ext cx="5173980"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2400" b="0" dirty="0"/>
              <a:t>To solve, calculate the torques from one of the supports. Remember: to be in equilibrium the torques must balance and the forces must balance.</a:t>
            </a:r>
          </a:p>
          <a:p>
            <a:pPr marL="457200" indent="-457200">
              <a:buAutoNum type="arabicPeriod"/>
            </a:pPr>
            <a:endParaRPr lang="en-AU" sz="2400" b="0" dirty="0"/>
          </a:p>
        </p:txBody>
      </p:sp>
    </p:spTree>
    <p:extLst>
      <p:ext uri="{BB962C8B-B14F-4D97-AF65-F5344CB8AC3E}">
        <p14:creationId xmlns:p14="http://schemas.microsoft.com/office/powerpoint/2010/main" val="1747106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Static Equilibrium</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90507"/>
            <a:ext cx="3779478" cy="319722"/>
          </a:xfrm>
        </p:spPr>
        <p:txBody>
          <a:bodyPr/>
          <a:lstStyle/>
          <a:p>
            <a:r>
              <a:rPr lang="en-AU" dirty="0"/>
              <a:t>Diving boards / Cantilevers</a:t>
            </a:r>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6" name="Text Placeholder 3">
            <a:extLst>
              <a:ext uri="{FF2B5EF4-FFF2-40B4-BE49-F238E27FC236}">
                <a16:creationId xmlns:a16="http://schemas.microsoft.com/office/drawing/2014/main" id="{FE3505E3-E769-4836-78C9-D1BFB19A179F}"/>
              </a:ext>
            </a:extLst>
          </p:cNvPr>
          <p:cNvSpPr txBox="1">
            <a:spLocks/>
          </p:cNvSpPr>
          <p:nvPr/>
        </p:nvSpPr>
        <p:spPr>
          <a:xfrm>
            <a:off x="6242230" y="661396"/>
            <a:ext cx="5800725"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AU" sz="2000" b="0" dirty="0"/>
              <a:t>Cannot solve normally because there are two unknowns (F</a:t>
            </a:r>
            <a:r>
              <a:rPr lang="en-AU" sz="2000" b="0" baseline="-25000" dirty="0"/>
              <a:t>A</a:t>
            </a:r>
            <a:r>
              <a:rPr lang="en-AU" sz="2000" b="0" dirty="0"/>
              <a:t> and F</a:t>
            </a:r>
            <a:r>
              <a:rPr lang="en-AU" sz="2000" b="0" baseline="-25000" dirty="0"/>
              <a:t>B</a:t>
            </a:r>
            <a:r>
              <a:rPr lang="en-AU" sz="2000" b="0" dirty="0"/>
              <a:t>)</a:t>
            </a:r>
          </a:p>
          <a:p>
            <a:pPr marL="457200" indent="-457200" algn="just">
              <a:buAutoNum type="arabicPeriod"/>
            </a:pPr>
            <a:r>
              <a:rPr lang="en-AU" sz="2000" b="0" dirty="0"/>
              <a:t>Identify and label forces</a:t>
            </a:r>
          </a:p>
          <a:p>
            <a:pPr lvl="1" indent="0" algn="just">
              <a:buNone/>
            </a:pPr>
            <a:r>
              <a:rPr lang="en-AU" sz="1800" b="1" dirty="0"/>
              <a:t>Down</a:t>
            </a:r>
            <a:r>
              <a:rPr lang="en-AU" sz="1800" dirty="0"/>
              <a:t>: F</a:t>
            </a:r>
            <a:r>
              <a:rPr lang="en-AU" sz="1800" baseline="-25000" dirty="0"/>
              <a:t>A</a:t>
            </a:r>
            <a:r>
              <a:rPr lang="en-AU" sz="1800" dirty="0"/>
              <a:t>, F</a:t>
            </a:r>
            <a:r>
              <a:rPr lang="en-AU" sz="1800" baseline="-25000" dirty="0"/>
              <a:t>C</a:t>
            </a:r>
            <a:r>
              <a:rPr lang="en-AU" sz="1800" dirty="0"/>
              <a:t>, F</a:t>
            </a:r>
            <a:r>
              <a:rPr lang="en-AU" sz="1800" baseline="-25000" dirty="0"/>
              <a:t>D</a:t>
            </a:r>
          </a:p>
          <a:p>
            <a:pPr lvl="1" indent="0" algn="just">
              <a:buNone/>
            </a:pPr>
            <a:r>
              <a:rPr lang="en-AU" sz="1800" b="1" dirty="0"/>
              <a:t>Up</a:t>
            </a:r>
            <a:r>
              <a:rPr lang="en-AU" sz="1800" b="0" dirty="0"/>
              <a:t>: F</a:t>
            </a:r>
            <a:r>
              <a:rPr lang="en-AU" sz="1800" b="0" baseline="-25000" dirty="0"/>
              <a:t>B</a:t>
            </a:r>
          </a:p>
          <a:p>
            <a:pPr marL="457200" indent="-457200" algn="just">
              <a:buFont typeface="Arial" panose="020B0604020202020204" pitchFamily="34" charset="0"/>
              <a:buAutoNum type="arabicPeriod"/>
            </a:pPr>
            <a:r>
              <a:rPr lang="en-AU" sz="2000" b="0" dirty="0"/>
              <a:t>Take torques around one of the supports. I chose the left support (F</a:t>
            </a:r>
            <a:r>
              <a:rPr lang="en-AU" sz="2000" b="0" baseline="-25000" dirty="0"/>
              <a:t>A</a:t>
            </a:r>
            <a:r>
              <a:rPr lang="en-AU" sz="2000" b="0" dirty="0"/>
              <a:t>)</a:t>
            </a:r>
          </a:p>
          <a:p>
            <a:pPr lvl="1" indent="0" algn="just">
              <a:buNone/>
            </a:pPr>
            <a:r>
              <a:rPr lang="en-AU" sz="1800" b="1" dirty="0"/>
              <a:t>CW</a:t>
            </a:r>
            <a:r>
              <a:rPr lang="en-AU" sz="1800" dirty="0"/>
              <a:t>: F</a:t>
            </a:r>
            <a:r>
              <a:rPr lang="en-AU" sz="1800" baseline="-25000" dirty="0"/>
              <a:t>C</a:t>
            </a:r>
            <a:r>
              <a:rPr lang="en-AU" sz="1800" dirty="0"/>
              <a:t> and F</a:t>
            </a:r>
            <a:r>
              <a:rPr lang="en-AU" sz="1800" baseline="-25000" dirty="0"/>
              <a:t>D</a:t>
            </a:r>
          </a:p>
          <a:p>
            <a:pPr lvl="1" indent="0" algn="just">
              <a:buNone/>
            </a:pPr>
            <a:r>
              <a:rPr lang="en-AU" sz="1800" b="1" dirty="0"/>
              <a:t>ACW</a:t>
            </a:r>
            <a:r>
              <a:rPr lang="en-AU" sz="1800" dirty="0"/>
              <a:t>: F</a:t>
            </a:r>
            <a:r>
              <a:rPr lang="en-AU" sz="1800" baseline="-25000" dirty="0"/>
              <a:t>B</a:t>
            </a:r>
          </a:p>
          <a:p>
            <a:pPr lvl="1" indent="0" algn="just">
              <a:buNone/>
            </a:pPr>
            <a:endParaRPr lang="en-AU" sz="1800" baseline="-25000" dirty="0"/>
          </a:p>
          <a:p>
            <a:pPr lvl="1" indent="0" algn="just">
              <a:buNone/>
            </a:pPr>
            <a:endParaRPr lang="en-AU" sz="1800" baseline="-25000" dirty="0"/>
          </a:p>
          <a:p>
            <a:pPr lvl="1" indent="0" algn="just">
              <a:buNone/>
            </a:pPr>
            <a:endParaRPr lang="en-AU" sz="1800" baseline="-25000" dirty="0"/>
          </a:p>
          <a:p>
            <a:pPr lvl="1" indent="0" algn="just">
              <a:buNone/>
            </a:pPr>
            <a:endParaRPr lang="en-AU" sz="1800" baseline="-25000" dirty="0"/>
          </a:p>
          <a:p>
            <a:pPr lvl="1" indent="0" algn="just">
              <a:buNone/>
            </a:pPr>
            <a:endParaRPr lang="en-AU" sz="1800" baseline="-25000" dirty="0"/>
          </a:p>
          <a:p>
            <a:pPr lvl="1" indent="0" algn="just">
              <a:buNone/>
            </a:pPr>
            <a:endParaRPr lang="en-AU" sz="1800" baseline="-25000" dirty="0"/>
          </a:p>
          <a:p>
            <a:pPr marL="457200" indent="-457200" algn="just">
              <a:buFont typeface="Arial" panose="020B0604020202020204" pitchFamily="34" charset="0"/>
              <a:buAutoNum type="arabicPeriod"/>
            </a:pPr>
            <a:r>
              <a:rPr lang="en-AU" sz="2000" b="0" dirty="0"/>
              <a:t>Now balance forces</a:t>
            </a:r>
          </a:p>
          <a:p>
            <a:pPr algn="just"/>
            <a:endParaRPr lang="en-AU" sz="2000" b="0" dirty="0"/>
          </a:p>
          <a:p>
            <a:pPr algn="just"/>
            <a:r>
              <a:rPr lang="en-AU" sz="2000" b="0" dirty="0"/>
              <a:t>	</a:t>
            </a:r>
          </a:p>
          <a:p>
            <a:pPr lvl="1" indent="0" algn="just">
              <a:buNone/>
            </a:pPr>
            <a:endParaRPr lang="en-AU" sz="2400" b="0" dirty="0"/>
          </a:p>
          <a:p>
            <a:pPr algn="just"/>
            <a:r>
              <a:rPr lang="en-AU" sz="2400" b="0" dirty="0"/>
              <a:t> </a:t>
            </a:r>
          </a:p>
        </p:txBody>
      </p:sp>
      <p:pic>
        <p:nvPicPr>
          <p:cNvPr id="7" name="Picture 6">
            <a:extLst>
              <a:ext uri="{FF2B5EF4-FFF2-40B4-BE49-F238E27FC236}">
                <a16:creationId xmlns:a16="http://schemas.microsoft.com/office/drawing/2014/main" id="{D2555442-D656-D664-CAB4-2E1FCF3E4DA4}"/>
              </a:ext>
            </a:extLst>
          </p:cNvPr>
          <p:cNvPicPr>
            <a:picLocks noChangeAspect="1"/>
          </p:cNvPicPr>
          <p:nvPr/>
        </p:nvPicPr>
        <p:blipFill>
          <a:blip r:embed="rId3"/>
          <a:stretch>
            <a:fillRect/>
          </a:stretch>
        </p:blipFill>
        <p:spPr>
          <a:xfrm>
            <a:off x="295275" y="936840"/>
            <a:ext cx="5961344" cy="885562"/>
          </a:xfrm>
          <a:prstGeom prst="rect">
            <a:avLst/>
          </a:prstGeom>
        </p:spPr>
      </p:pic>
      <p:pic>
        <p:nvPicPr>
          <p:cNvPr id="11" name="Picture 10">
            <a:extLst>
              <a:ext uri="{FF2B5EF4-FFF2-40B4-BE49-F238E27FC236}">
                <a16:creationId xmlns:a16="http://schemas.microsoft.com/office/drawing/2014/main" id="{F567AA5B-37D7-E7FB-895D-112066500B61}"/>
              </a:ext>
            </a:extLst>
          </p:cNvPr>
          <p:cNvPicPr>
            <a:picLocks noChangeAspect="1"/>
          </p:cNvPicPr>
          <p:nvPr/>
        </p:nvPicPr>
        <p:blipFill>
          <a:blip r:embed="rId4"/>
          <a:stretch>
            <a:fillRect/>
          </a:stretch>
        </p:blipFill>
        <p:spPr>
          <a:xfrm>
            <a:off x="461629" y="1822402"/>
            <a:ext cx="4013857" cy="2643272"/>
          </a:xfrm>
          <a:prstGeom prst="rect">
            <a:avLst/>
          </a:prstGeom>
        </p:spPr>
      </p:pic>
      <p:sp>
        <p:nvSpPr>
          <p:cNvPr id="12" name="Rectangle 11">
            <a:extLst>
              <a:ext uri="{FF2B5EF4-FFF2-40B4-BE49-F238E27FC236}">
                <a16:creationId xmlns:a16="http://schemas.microsoft.com/office/drawing/2014/main" id="{83C1210F-A15E-7DC3-9F8C-E92E70281461}"/>
              </a:ext>
            </a:extLst>
          </p:cNvPr>
          <p:cNvSpPr/>
          <p:nvPr/>
        </p:nvSpPr>
        <p:spPr>
          <a:xfrm>
            <a:off x="214867" y="2580378"/>
            <a:ext cx="950562" cy="2551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chemeClr val="tx1"/>
                </a:solidFill>
              </a:rPr>
              <a:t>F</a:t>
            </a:r>
            <a:r>
              <a:rPr lang="en-AU" sz="1400" baseline="-25000" dirty="0">
                <a:solidFill>
                  <a:schemeClr val="tx1"/>
                </a:solidFill>
              </a:rPr>
              <a:t>A</a:t>
            </a:r>
          </a:p>
        </p:txBody>
      </p:sp>
      <p:sp>
        <p:nvSpPr>
          <p:cNvPr id="13" name="Rectangle 12">
            <a:extLst>
              <a:ext uri="{FF2B5EF4-FFF2-40B4-BE49-F238E27FC236}">
                <a16:creationId xmlns:a16="http://schemas.microsoft.com/office/drawing/2014/main" id="{0B7C8A1B-600E-FF75-19E1-FB3B5FB281DC}"/>
              </a:ext>
            </a:extLst>
          </p:cNvPr>
          <p:cNvSpPr/>
          <p:nvPr/>
        </p:nvSpPr>
        <p:spPr>
          <a:xfrm>
            <a:off x="856502" y="2580377"/>
            <a:ext cx="950562" cy="2551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chemeClr val="tx1"/>
                </a:solidFill>
              </a:rPr>
              <a:t>F</a:t>
            </a:r>
            <a:r>
              <a:rPr lang="en-AU" sz="1400" baseline="-25000" dirty="0">
                <a:solidFill>
                  <a:schemeClr val="tx1"/>
                </a:solidFill>
              </a:rPr>
              <a:t>B</a:t>
            </a:r>
          </a:p>
        </p:txBody>
      </p:sp>
      <p:sp>
        <p:nvSpPr>
          <p:cNvPr id="14" name="Rectangle 13">
            <a:extLst>
              <a:ext uri="{FF2B5EF4-FFF2-40B4-BE49-F238E27FC236}">
                <a16:creationId xmlns:a16="http://schemas.microsoft.com/office/drawing/2014/main" id="{6B660947-0FDE-5332-7807-A2AE6C72EC31}"/>
              </a:ext>
            </a:extLst>
          </p:cNvPr>
          <p:cNvSpPr/>
          <p:nvPr/>
        </p:nvSpPr>
        <p:spPr>
          <a:xfrm>
            <a:off x="1518139" y="2580376"/>
            <a:ext cx="950562" cy="2551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chemeClr val="tx1"/>
                </a:solidFill>
              </a:rPr>
              <a:t>F</a:t>
            </a:r>
            <a:r>
              <a:rPr lang="en-AU" sz="1400" baseline="-25000" dirty="0">
                <a:solidFill>
                  <a:schemeClr val="tx1"/>
                </a:solidFill>
              </a:rPr>
              <a:t>C</a:t>
            </a:r>
          </a:p>
        </p:txBody>
      </p:sp>
      <p:sp>
        <p:nvSpPr>
          <p:cNvPr id="15" name="Rectangle 14">
            <a:extLst>
              <a:ext uri="{FF2B5EF4-FFF2-40B4-BE49-F238E27FC236}">
                <a16:creationId xmlns:a16="http://schemas.microsoft.com/office/drawing/2014/main" id="{7AA73045-F6AD-FA5A-094B-28CCF2FEE582}"/>
              </a:ext>
            </a:extLst>
          </p:cNvPr>
          <p:cNvSpPr/>
          <p:nvPr/>
        </p:nvSpPr>
        <p:spPr>
          <a:xfrm>
            <a:off x="2898402" y="2623152"/>
            <a:ext cx="950562" cy="2551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chemeClr val="tx1"/>
                </a:solidFill>
              </a:rPr>
              <a:t>F</a:t>
            </a:r>
            <a:r>
              <a:rPr lang="en-AU" sz="1400" baseline="-25000" dirty="0">
                <a:solidFill>
                  <a:schemeClr val="tx1"/>
                </a:solidFill>
              </a:rPr>
              <a:t>D</a:t>
            </a:r>
          </a:p>
        </p:txBody>
      </p:sp>
      <mc:AlternateContent xmlns:mc="http://schemas.openxmlformats.org/markup-compatibility/2006">
        <mc:Choice xmlns:a14="http://schemas.microsoft.com/office/drawing/2010/main" Requires="a14">
          <p:sp>
            <p:nvSpPr>
              <p:cNvPr id="16" name="TextBox 15">
                <a:extLst>
                  <a:ext uri="{FF2B5EF4-FFF2-40B4-BE49-F238E27FC236}">
                    <a16:creationId xmlns:a16="http://schemas.microsoft.com/office/drawing/2014/main" id="{C9D7DD74-3161-1D35-A997-23863330915D}"/>
                  </a:ext>
                </a:extLst>
              </p:cNvPr>
              <p:cNvSpPr txBox="1"/>
              <p:nvPr/>
            </p:nvSpPr>
            <p:spPr>
              <a:xfrm>
                <a:off x="6021483" y="3635611"/>
                <a:ext cx="5783580" cy="1231106"/>
              </a:xfrm>
              <a:prstGeom prst="rect">
                <a:avLst/>
              </a:prstGeom>
              <a:noFill/>
              <a:ln>
                <a:noFill/>
              </a:ln>
            </p:spPr>
            <p:txBody>
              <a:bodyPr wrap="square" lIns="0" tIns="0" rIns="0" bIns="0" rtlCol="0">
                <a:spAutoFit/>
              </a:bodyPr>
              <a:lstStyle/>
              <a:p>
                <a:pPr algn="ctr"/>
                <a14:m>
                  <m:oMathPara xmlns:m="http://schemas.openxmlformats.org/officeDocument/2006/math">
                    <m:oMathParaPr>
                      <m:jc m:val="centerGroup"/>
                    </m:oMathParaPr>
                    <m:oMath xmlns:m="http://schemas.openxmlformats.org/officeDocument/2006/math">
                      <m:r>
                        <m:rPr>
                          <m:sty m:val="p"/>
                        </m:rPr>
                        <a:rPr lang="el-GR" sz="2000" b="0" i="1" smtClean="0">
                          <a:solidFill>
                            <a:srgbClr val="FF0000"/>
                          </a:solidFill>
                          <a:latin typeface="Cambria Math" panose="02040503050406030204" pitchFamily="18" charset="0"/>
                          <a:ea typeface="Cambria Math" panose="02040503050406030204" pitchFamily="18" charset="0"/>
                        </a:rPr>
                        <m:t>Σ</m:t>
                      </m:r>
                      <m:r>
                        <a:rPr lang="en-AU" sz="2000" i="1">
                          <a:solidFill>
                            <a:srgbClr val="FF0000"/>
                          </a:solidFill>
                          <a:latin typeface="Cambria Math" panose="02040503050406030204" pitchFamily="18" charset="0"/>
                          <a:ea typeface="Cambria Math" panose="02040503050406030204" pitchFamily="18" charset="0"/>
                        </a:rPr>
                        <m:t>𝜏</m:t>
                      </m:r>
                      <m:r>
                        <a:rPr lang="en-AU" sz="2000" i="1" baseline="-25000">
                          <a:solidFill>
                            <a:srgbClr val="FF0000"/>
                          </a:solidFill>
                          <a:latin typeface="Cambria Math" panose="02040503050406030204" pitchFamily="18" charset="0"/>
                          <a:ea typeface="Cambria Math" panose="02040503050406030204" pitchFamily="18" charset="0"/>
                        </a:rPr>
                        <m:t>𝑐𝑤</m:t>
                      </m:r>
                      <m:r>
                        <a:rPr lang="en-AU" sz="2000" b="0" i="1" smtClean="0">
                          <a:solidFill>
                            <a:srgbClr val="FF0000"/>
                          </a:solidFill>
                          <a:latin typeface="Cambria Math" panose="02040503050406030204" pitchFamily="18" charset="0"/>
                          <a:ea typeface="Cambria Math" panose="02040503050406030204" pitchFamily="18" charset="0"/>
                        </a:rPr>
                        <m:t>=</m:t>
                      </m:r>
                      <m:r>
                        <m:rPr>
                          <m:sty m:val="p"/>
                        </m:rPr>
                        <a:rPr lang="el-GR" sz="2000" i="1">
                          <a:solidFill>
                            <a:srgbClr val="FF0000"/>
                          </a:solidFill>
                          <a:latin typeface="Cambria Math" panose="02040503050406030204" pitchFamily="18" charset="0"/>
                          <a:ea typeface="Cambria Math" panose="02040503050406030204" pitchFamily="18" charset="0"/>
                        </a:rPr>
                        <m:t>Σ</m:t>
                      </m:r>
                      <m:r>
                        <a:rPr lang="en-AU" sz="2000" i="1">
                          <a:solidFill>
                            <a:srgbClr val="FF0000"/>
                          </a:solidFill>
                          <a:latin typeface="Cambria Math" panose="02040503050406030204" pitchFamily="18" charset="0"/>
                          <a:ea typeface="Cambria Math" panose="02040503050406030204" pitchFamily="18" charset="0"/>
                        </a:rPr>
                        <m:t>𝜏</m:t>
                      </m:r>
                      <m:r>
                        <a:rPr lang="en-AU" sz="2000" b="0" i="1" baseline="-25000" smtClean="0">
                          <a:solidFill>
                            <a:srgbClr val="FF0000"/>
                          </a:solidFill>
                          <a:latin typeface="Cambria Math" panose="02040503050406030204" pitchFamily="18" charset="0"/>
                          <a:ea typeface="Cambria Math" panose="02040503050406030204" pitchFamily="18" charset="0"/>
                        </a:rPr>
                        <m:t>𝑎𝑐𝑤</m:t>
                      </m:r>
                      <m:r>
                        <a:rPr lang="en-AU" sz="2000" b="0" i="1" baseline="-25000" smtClean="0">
                          <a:solidFill>
                            <a:srgbClr val="FF0000"/>
                          </a:solidFill>
                          <a:latin typeface="Cambria Math" panose="02040503050406030204" pitchFamily="18" charset="0"/>
                          <a:ea typeface="Cambria Math" panose="02040503050406030204" pitchFamily="18" charset="0"/>
                        </a:rPr>
                        <m:t>       </m:t>
                      </m:r>
                      <m:r>
                        <a:rPr lang="en-AU" sz="2000" i="1">
                          <a:solidFill>
                            <a:srgbClr val="FF0000"/>
                          </a:solidFill>
                          <a:latin typeface="Cambria Math" panose="02040503050406030204" pitchFamily="18" charset="0"/>
                          <a:ea typeface="Cambria Math" panose="02040503050406030204" pitchFamily="18" charset="0"/>
                        </a:rPr>
                        <m:t>𝜏</m:t>
                      </m:r>
                      <m:r>
                        <a:rPr lang="en-AU" sz="2000" b="0" i="1" smtClean="0">
                          <a:solidFill>
                            <a:srgbClr val="FF0000"/>
                          </a:solidFill>
                          <a:latin typeface="Cambria Math" panose="02040503050406030204" pitchFamily="18" charset="0"/>
                          <a:ea typeface="Cambria Math" panose="02040503050406030204" pitchFamily="18" charset="0"/>
                        </a:rPr>
                        <m:t>=</m:t>
                      </m:r>
                      <m:r>
                        <a:rPr lang="en-AU" sz="2000" b="0" i="1" smtClean="0">
                          <a:solidFill>
                            <a:srgbClr val="FF0000"/>
                          </a:solidFill>
                          <a:latin typeface="Cambria Math" panose="02040503050406030204" pitchFamily="18" charset="0"/>
                          <a:ea typeface="Cambria Math" panose="02040503050406030204" pitchFamily="18" charset="0"/>
                        </a:rPr>
                        <m:t>𝐹𝑟</m:t>
                      </m:r>
                      <m:r>
                        <a:rPr lang="en-AU" sz="2000" b="0" i="1" smtClean="0">
                          <a:solidFill>
                            <a:srgbClr val="FF0000"/>
                          </a:solidFill>
                          <a:latin typeface="Cambria Math" panose="02040503050406030204" pitchFamily="18" charset="0"/>
                          <a:ea typeface="Cambria Math" panose="02040503050406030204" pitchFamily="18" charset="0"/>
                        </a:rPr>
                        <m:t>  </m:t>
                      </m:r>
                    </m:oMath>
                  </m:oMathPara>
                </a14:m>
                <a:endParaRPr lang="en-AU" sz="2000" dirty="0">
                  <a:solidFill>
                    <a:srgbClr val="FF0000"/>
                  </a:solidFill>
                </a:endParaRPr>
              </a:p>
              <a:p>
                <a:pPr algn="ctr"/>
                <a:r>
                  <a:rPr lang="en-AU" sz="2000" dirty="0" err="1">
                    <a:solidFill>
                      <a:srgbClr val="FF0000"/>
                    </a:solidFill>
                  </a:rPr>
                  <a:t>F</a:t>
                </a:r>
                <a:r>
                  <a:rPr lang="en-AU" sz="2000" baseline="-25000" dirty="0" err="1">
                    <a:solidFill>
                      <a:srgbClr val="FF0000"/>
                    </a:solidFill>
                  </a:rPr>
                  <a:t>C</a:t>
                </a:r>
                <a:r>
                  <a:rPr lang="en-AU" sz="2000" dirty="0" err="1">
                    <a:solidFill>
                      <a:srgbClr val="FF0000"/>
                    </a:solidFill>
                  </a:rPr>
                  <a:t>r</a:t>
                </a:r>
                <a:r>
                  <a:rPr lang="en-AU" sz="2000" baseline="-25000" dirty="0" err="1">
                    <a:solidFill>
                      <a:srgbClr val="FF0000"/>
                    </a:solidFill>
                  </a:rPr>
                  <a:t>c</a:t>
                </a:r>
                <a:r>
                  <a:rPr lang="en-AU" sz="2000" dirty="0">
                    <a:solidFill>
                      <a:srgbClr val="FF0000"/>
                    </a:solidFill>
                  </a:rPr>
                  <a:t> + </a:t>
                </a:r>
                <a:r>
                  <a:rPr lang="en-AU" sz="2000" dirty="0" err="1">
                    <a:solidFill>
                      <a:srgbClr val="FF0000"/>
                    </a:solidFill>
                  </a:rPr>
                  <a:t>F</a:t>
                </a:r>
                <a:r>
                  <a:rPr lang="en-AU" sz="2000" baseline="-25000" dirty="0" err="1">
                    <a:solidFill>
                      <a:srgbClr val="FF0000"/>
                    </a:solidFill>
                  </a:rPr>
                  <a:t>D</a:t>
                </a:r>
                <a:r>
                  <a:rPr lang="en-AU" sz="2000" dirty="0" err="1">
                    <a:solidFill>
                      <a:srgbClr val="FF0000"/>
                    </a:solidFill>
                  </a:rPr>
                  <a:t>r</a:t>
                </a:r>
                <a:r>
                  <a:rPr lang="en-AU" sz="2000" baseline="-25000" dirty="0" err="1">
                    <a:solidFill>
                      <a:srgbClr val="FF0000"/>
                    </a:solidFill>
                  </a:rPr>
                  <a:t>D</a:t>
                </a:r>
                <a:r>
                  <a:rPr lang="en-AU" sz="2000" dirty="0">
                    <a:solidFill>
                      <a:srgbClr val="FF0000"/>
                    </a:solidFill>
                  </a:rPr>
                  <a:t> = </a:t>
                </a:r>
                <a:r>
                  <a:rPr lang="en-AU" sz="2000" dirty="0" err="1">
                    <a:solidFill>
                      <a:srgbClr val="FF0000"/>
                    </a:solidFill>
                  </a:rPr>
                  <a:t>F</a:t>
                </a:r>
                <a:r>
                  <a:rPr lang="en-AU" sz="2000" baseline="-25000" dirty="0" err="1">
                    <a:solidFill>
                      <a:srgbClr val="FF0000"/>
                    </a:solidFill>
                  </a:rPr>
                  <a:t>B</a:t>
                </a:r>
                <a:r>
                  <a:rPr lang="en-AU" sz="2000" dirty="0" err="1">
                    <a:solidFill>
                      <a:srgbClr val="FF0000"/>
                    </a:solidFill>
                  </a:rPr>
                  <a:t>r</a:t>
                </a:r>
                <a:r>
                  <a:rPr lang="en-AU" sz="2000" baseline="-25000" dirty="0" err="1">
                    <a:solidFill>
                      <a:srgbClr val="FF0000"/>
                    </a:solidFill>
                  </a:rPr>
                  <a:t>B</a:t>
                </a:r>
                <a:endParaRPr lang="en-AU" sz="2000" dirty="0">
                  <a:solidFill>
                    <a:srgbClr val="FF0000"/>
                  </a:solidFill>
                </a:endParaRPr>
              </a:p>
              <a:p>
                <a:pPr algn="ctr"/>
                <a:r>
                  <a:rPr lang="en-AU" sz="2000" dirty="0">
                    <a:solidFill>
                      <a:srgbClr val="FF0000"/>
                    </a:solidFill>
                  </a:rPr>
                  <a:t>15*9.8*2 + 60*9.8*4 = F</a:t>
                </a:r>
                <a:r>
                  <a:rPr lang="en-AU" sz="2000" baseline="-25000" dirty="0">
                    <a:solidFill>
                      <a:srgbClr val="FF0000"/>
                    </a:solidFill>
                  </a:rPr>
                  <a:t>B</a:t>
                </a:r>
                <a:endParaRPr lang="en-AU" sz="2000" dirty="0">
                  <a:solidFill>
                    <a:srgbClr val="FF0000"/>
                  </a:solidFill>
                </a:endParaRPr>
              </a:p>
              <a:p>
                <a:pPr algn="ctr"/>
                <a:r>
                  <a:rPr lang="en-AU" sz="2000" dirty="0">
                    <a:solidFill>
                      <a:srgbClr val="FF0000"/>
                    </a:solidFill>
                  </a:rPr>
                  <a:t>F</a:t>
                </a:r>
                <a:r>
                  <a:rPr lang="en-AU" sz="2000" baseline="-25000" dirty="0">
                    <a:solidFill>
                      <a:srgbClr val="FF0000"/>
                    </a:solidFill>
                  </a:rPr>
                  <a:t>B</a:t>
                </a:r>
                <a:r>
                  <a:rPr lang="en-AU" sz="2000" dirty="0">
                    <a:solidFill>
                      <a:srgbClr val="FF0000"/>
                    </a:solidFill>
                  </a:rPr>
                  <a:t> = 2646 N = 2.65 * 10</a:t>
                </a:r>
                <a:r>
                  <a:rPr lang="en-AU" sz="2000" baseline="30000" dirty="0">
                    <a:solidFill>
                      <a:srgbClr val="FF0000"/>
                    </a:solidFill>
                  </a:rPr>
                  <a:t>3</a:t>
                </a:r>
                <a:r>
                  <a:rPr lang="en-AU" sz="2000" dirty="0">
                    <a:solidFill>
                      <a:srgbClr val="FF0000"/>
                    </a:solidFill>
                  </a:rPr>
                  <a:t> N</a:t>
                </a:r>
              </a:p>
            </p:txBody>
          </p:sp>
        </mc:Choice>
        <mc:Fallback>
          <p:sp>
            <p:nvSpPr>
              <p:cNvPr id="16" name="TextBox 15">
                <a:extLst>
                  <a:ext uri="{FF2B5EF4-FFF2-40B4-BE49-F238E27FC236}">
                    <a16:creationId xmlns:a16="http://schemas.microsoft.com/office/drawing/2014/main" id="{C9D7DD74-3161-1D35-A997-23863330915D}"/>
                  </a:ext>
                </a:extLst>
              </p:cNvPr>
              <p:cNvSpPr txBox="1">
                <a:spLocks noRot="1" noChangeAspect="1" noMove="1" noResize="1" noEditPoints="1" noAdjustHandles="1" noChangeArrowheads="1" noChangeShapeType="1" noTextEdit="1"/>
              </p:cNvSpPr>
              <p:nvPr/>
            </p:nvSpPr>
            <p:spPr>
              <a:xfrm>
                <a:off x="6021483" y="3635611"/>
                <a:ext cx="5783580" cy="1231106"/>
              </a:xfrm>
              <a:prstGeom prst="rect">
                <a:avLst/>
              </a:prstGeom>
              <a:blipFill>
                <a:blip r:embed="rId5"/>
                <a:stretch>
                  <a:fillRect b="-11881"/>
                </a:stretch>
              </a:blipFill>
              <a:ln>
                <a:noFill/>
              </a:ln>
            </p:spPr>
            <p:txBody>
              <a:bodyPr/>
              <a:lstStyle/>
              <a:p>
                <a:r>
                  <a:rPr lang="en-AU">
                    <a:noFill/>
                  </a:rPr>
                  <a:t> </a:t>
                </a:r>
              </a:p>
            </p:txBody>
          </p:sp>
        </mc:Fallback>
      </mc:AlternateContent>
      <mc:AlternateContent xmlns:mc="http://schemas.openxmlformats.org/markup-compatibility/2006">
        <mc:Choice xmlns:a14="http://schemas.microsoft.com/office/drawing/2010/main" Requires="a14">
          <p:sp>
            <p:nvSpPr>
              <p:cNvPr id="17" name="TextBox 16">
                <a:extLst>
                  <a:ext uri="{FF2B5EF4-FFF2-40B4-BE49-F238E27FC236}">
                    <a16:creationId xmlns:a16="http://schemas.microsoft.com/office/drawing/2014/main" id="{24B2B97C-183F-65EE-F4B6-AE9165A9009E}"/>
                  </a:ext>
                </a:extLst>
              </p:cNvPr>
              <p:cNvSpPr txBox="1"/>
              <p:nvPr/>
            </p:nvSpPr>
            <p:spPr>
              <a:xfrm>
                <a:off x="6096000" y="5305607"/>
                <a:ext cx="5783580" cy="1223989"/>
              </a:xfrm>
              <a:prstGeom prst="rect">
                <a:avLst/>
              </a:prstGeom>
              <a:noFill/>
              <a:ln>
                <a:noFill/>
              </a:ln>
            </p:spPr>
            <p:txBody>
              <a:bodyPr wrap="square" lIns="0" tIns="0" rIns="0" bIns="0" rtlCol="0">
                <a:spAutoFit/>
              </a:bodyPr>
              <a:lstStyle/>
              <a:p>
                <a:pPr algn="ctr"/>
                <a14:m>
                  <m:oMathPara xmlns:m="http://schemas.openxmlformats.org/officeDocument/2006/math">
                    <m:oMathParaPr>
                      <m:jc m:val="centerGroup"/>
                    </m:oMathParaPr>
                    <m:oMath xmlns:m="http://schemas.openxmlformats.org/officeDocument/2006/math">
                      <m:r>
                        <m:rPr>
                          <m:sty m:val="p"/>
                        </m:rPr>
                        <a:rPr lang="el-GR" sz="2000" b="0" i="1" smtClean="0">
                          <a:solidFill>
                            <a:srgbClr val="FF0000"/>
                          </a:solidFill>
                          <a:latin typeface="Cambria Math" panose="02040503050406030204" pitchFamily="18" charset="0"/>
                          <a:ea typeface="Cambria Math" panose="02040503050406030204" pitchFamily="18" charset="0"/>
                        </a:rPr>
                        <m:t>Σ</m:t>
                      </m:r>
                      <m:r>
                        <a:rPr lang="en-AU" sz="2000" b="0" i="1" smtClean="0">
                          <a:solidFill>
                            <a:srgbClr val="FF0000"/>
                          </a:solidFill>
                          <a:latin typeface="Cambria Math" panose="02040503050406030204" pitchFamily="18" charset="0"/>
                          <a:ea typeface="Cambria Math" panose="02040503050406030204" pitchFamily="18" charset="0"/>
                        </a:rPr>
                        <m:t>𝐹</m:t>
                      </m:r>
                      <m:r>
                        <a:rPr lang="en-AU" sz="2000" b="0" i="1" baseline="-25000" smtClean="0">
                          <a:solidFill>
                            <a:srgbClr val="FF0000"/>
                          </a:solidFill>
                          <a:latin typeface="Cambria Math" panose="02040503050406030204" pitchFamily="18" charset="0"/>
                          <a:ea typeface="Cambria Math" panose="02040503050406030204" pitchFamily="18" charset="0"/>
                        </a:rPr>
                        <m:t>𝑢𝑝</m:t>
                      </m:r>
                      <m:r>
                        <a:rPr lang="en-AU" sz="2000" b="0" i="1" smtClean="0">
                          <a:solidFill>
                            <a:srgbClr val="FF0000"/>
                          </a:solidFill>
                          <a:latin typeface="Cambria Math" panose="02040503050406030204" pitchFamily="18" charset="0"/>
                          <a:ea typeface="Cambria Math" panose="02040503050406030204" pitchFamily="18" charset="0"/>
                        </a:rPr>
                        <m:t>=</m:t>
                      </m:r>
                      <m:r>
                        <m:rPr>
                          <m:sty m:val="p"/>
                        </m:rPr>
                        <a:rPr lang="el-GR" sz="2000" i="1">
                          <a:solidFill>
                            <a:srgbClr val="FF0000"/>
                          </a:solidFill>
                          <a:latin typeface="Cambria Math" panose="02040503050406030204" pitchFamily="18" charset="0"/>
                          <a:ea typeface="Cambria Math" panose="02040503050406030204" pitchFamily="18" charset="0"/>
                        </a:rPr>
                        <m:t>Σ</m:t>
                      </m:r>
                      <m:r>
                        <a:rPr lang="en-AU" sz="2000" b="0" i="1" smtClean="0">
                          <a:solidFill>
                            <a:srgbClr val="FF0000"/>
                          </a:solidFill>
                          <a:latin typeface="Cambria Math" panose="02040503050406030204" pitchFamily="18" charset="0"/>
                          <a:ea typeface="Cambria Math" panose="02040503050406030204" pitchFamily="18" charset="0"/>
                        </a:rPr>
                        <m:t>𝐹</m:t>
                      </m:r>
                      <m:r>
                        <a:rPr lang="en-AU" sz="2000" b="0" i="1" baseline="-25000" smtClean="0">
                          <a:solidFill>
                            <a:srgbClr val="FF0000"/>
                          </a:solidFill>
                          <a:latin typeface="Cambria Math" panose="02040503050406030204" pitchFamily="18" charset="0"/>
                          <a:ea typeface="Cambria Math" panose="02040503050406030204" pitchFamily="18" charset="0"/>
                        </a:rPr>
                        <m:t>𝑑𝑜𝑤𝑛</m:t>
                      </m:r>
                      <m:r>
                        <a:rPr lang="en-AU" sz="2000" b="0" i="1" baseline="-25000" smtClean="0">
                          <a:solidFill>
                            <a:srgbClr val="FF0000"/>
                          </a:solidFill>
                          <a:latin typeface="Cambria Math" panose="02040503050406030204" pitchFamily="18" charset="0"/>
                          <a:ea typeface="Cambria Math" panose="02040503050406030204" pitchFamily="18" charset="0"/>
                        </a:rPr>
                        <m:t> </m:t>
                      </m:r>
                    </m:oMath>
                  </m:oMathPara>
                </a14:m>
                <a:endParaRPr lang="en-AU" sz="2000" b="0" baseline="-25000" dirty="0">
                  <a:solidFill>
                    <a:srgbClr val="FF0000"/>
                  </a:solidFill>
                  <a:ea typeface="Cambria Math" panose="02040503050406030204" pitchFamily="18" charset="0"/>
                </a:endParaRPr>
              </a:p>
              <a:p>
                <a:pPr algn="ctr"/>
                <a:r>
                  <a:rPr lang="en-AU" sz="2000" dirty="0">
                    <a:solidFill>
                      <a:srgbClr val="FF0000"/>
                    </a:solidFill>
                  </a:rPr>
                  <a:t>F</a:t>
                </a:r>
                <a:r>
                  <a:rPr lang="en-AU" sz="2000" baseline="-25000" dirty="0">
                    <a:solidFill>
                      <a:srgbClr val="FF0000"/>
                    </a:solidFill>
                  </a:rPr>
                  <a:t>B</a:t>
                </a:r>
                <a:r>
                  <a:rPr lang="en-AU" sz="2000" dirty="0">
                    <a:solidFill>
                      <a:srgbClr val="FF0000"/>
                    </a:solidFill>
                  </a:rPr>
                  <a:t> = F</a:t>
                </a:r>
                <a:r>
                  <a:rPr lang="en-AU" sz="2000" baseline="-25000" dirty="0">
                    <a:solidFill>
                      <a:srgbClr val="FF0000"/>
                    </a:solidFill>
                  </a:rPr>
                  <a:t>A</a:t>
                </a:r>
                <a:r>
                  <a:rPr lang="en-AU" sz="2000" dirty="0">
                    <a:solidFill>
                      <a:srgbClr val="FF0000"/>
                    </a:solidFill>
                  </a:rPr>
                  <a:t> + F</a:t>
                </a:r>
                <a:r>
                  <a:rPr lang="en-AU" sz="2000" baseline="-25000" dirty="0">
                    <a:solidFill>
                      <a:srgbClr val="FF0000"/>
                    </a:solidFill>
                  </a:rPr>
                  <a:t>C</a:t>
                </a:r>
                <a:r>
                  <a:rPr lang="en-AU" sz="2000" dirty="0">
                    <a:solidFill>
                      <a:srgbClr val="FF0000"/>
                    </a:solidFill>
                  </a:rPr>
                  <a:t> + F</a:t>
                </a:r>
                <a:r>
                  <a:rPr lang="en-AU" sz="2000" baseline="-25000" dirty="0">
                    <a:solidFill>
                      <a:srgbClr val="FF0000"/>
                    </a:solidFill>
                  </a:rPr>
                  <a:t>D</a:t>
                </a:r>
              </a:p>
              <a:p>
                <a:pPr algn="ctr"/>
                <a:r>
                  <a:rPr lang="en-AU" sz="2000" dirty="0">
                    <a:solidFill>
                      <a:srgbClr val="FF0000"/>
                    </a:solidFill>
                  </a:rPr>
                  <a:t>2646 = F</a:t>
                </a:r>
                <a:r>
                  <a:rPr lang="en-AU" sz="2000" baseline="-25000" dirty="0">
                    <a:solidFill>
                      <a:srgbClr val="FF0000"/>
                    </a:solidFill>
                  </a:rPr>
                  <a:t>A</a:t>
                </a:r>
                <a:r>
                  <a:rPr lang="en-AU" sz="2000" dirty="0">
                    <a:solidFill>
                      <a:srgbClr val="FF0000"/>
                    </a:solidFill>
                  </a:rPr>
                  <a:t> + 15*9.8 + 60*9.8</a:t>
                </a:r>
              </a:p>
              <a:p>
                <a:pPr algn="ctr"/>
                <a:r>
                  <a:rPr lang="en-AU" sz="2000" dirty="0">
                    <a:solidFill>
                      <a:srgbClr val="FF0000"/>
                    </a:solidFill>
                  </a:rPr>
                  <a:t>F</a:t>
                </a:r>
                <a:r>
                  <a:rPr lang="en-AU" sz="2000" baseline="-25000" dirty="0">
                    <a:solidFill>
                      <a:srgbClr val="FF0000"/>
                    </a:solidFill>
                  </a:rPr>
                  <a:t>A</a:t>
                </a:r>
                <a:r>
                  <a:rPr lang="en-AU" sz="2000" dirty="0">
                    <a:solidFill>
                      <a:srgbClr val="FF0000"/>
                    </a:solidFill>
                  </a:rPr>
                  <a:t> = 1911 N = 1.91 * 10</a:t>
                </a:r>
                <a:r>
                  <a:rPr lang="en-AU" sz="2000" baseline="30000" dirty="0">
                    <a:solidFill>
                      <a:srgbClr val="FF0000"/>
                    </a:solidFill>
                  </a:rPr>
                  <a:t>3</a:t>
                </a:r>
                <a:r>
                  <a:rPr lang="en-AU" sz="2000" dirty="0">
                    <a:solidFill>
                      <a:srgbClr val="FF0000"/>
                    </a:solidFill>
                  </a:rPr>
                  <a:t> N</a:t>
                </a:r>
              </a:p>
            </p:txBody>
          </p:sp>
        </mc:Choice>
        <mc:Fallback>
          <p:sp>
            <p:nvSpPr>
              <p:cNvPr id="17" name="TextBox 16">
                <a:extLst>
                  <a:ext uri="{FF2B5EF4-FFF2-40B4-BE49-F238E27FC236}">
                    <a16:creationId xmlns:a16="http://schemas.microsoft.com/office/drawing/2014/main" id="{24B2B97C-183F-65EE-F4B6-AE9165A9009E}"/>
                  </a:ext>
                </a:extLst>
              </p:cNvPr>
              <p:cNvSpPr txBox="1">
                <a:spLocks noRot="1" noChangeAspect="1" noMove="1" noResize="1" noEditPoints="1" noAdjustHandles="1" noChangeArrowheads="1" noChangeShapeType="1" noTextEdit="1"/>
              </p:cNvSpPr>
              <p:nvPr/>
            </p:nvSpPr>
            <p:spPr>
              <a:xfrm>
                <a:off x="6096000" y="5305607"/>
                <a:ext cx="5783580" cy="1223989"/>
              </a:xfrm>
              <a:prstGeom prst="rect">
                <a:avLst/>
              </a:prstGeom>
              <a:blipFill>
                <a:blip r:embed="rId6"/>
                <a:stretch>
                  <a:fillRect b="-11940"/>
                </a:stretch>
              </a:blipFill>
              <a:ln>
                <a:noFill/>
              </a:ln>
            </p:spPr>
            <p:txBody>
              <a:bodyPr/>
              <a:lstStyle/>
              <a:p>
                <a:r>
                  <a:rPr lang="en-AU">
                    <a:noFill/>
                  </a:rPr>
                  <a:t> </a:t>
                </a:r>
              </a:p>
            </p:txBody>
          </p:sp>
        </mc:Fallback>
      </mc:AlternateContent>
    </p:spTree>
    <p:extLst>
      <p:ext uri="{BB962C8B-B14F-4D97-AF65-F5344CB8AC3E}">
        <p14:creationId xmlns:p14="http://schemas.microsoft.com/office/powerpoint/2010/main" val="41486729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6">
                                            <p:txEl>
                                              <p:pRg st="13" end="13"/>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Static Equilibrium</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90507"/>
            <a:ext cx="3779478" cy="319722"/>
          </a:xfrm>
        </p:spPr>
        <p:txBody>
          <a:bodyPr/>
          <a:lstStyle/>
          <a:p>
            <a:r>
              <a:rPr lang="en-AU" dirty="0"/>
              <a:t>You Do</a:t>
            </a:r>
          </a:p>
        </p:txBody>
      </p:sp>
      <p:pic>
        <p:nvPicPr>
          <p:cNvPr id="10" name="Picture 9">
            <a:extLst>
              <a:ext uri="{FF2B5EF4-FFF2-40B4-BE49-F238E27FC236}">
                <a16:creationId xmlns:a16="http://schemas.microsoft.com/office/drawing/2014/main" id="{838D48DE-62BB-21FE-C9AE-978E7276A176}"/>
              </a:ext>
            </a:extLst>
          </p:cNvPr>
          <p:cNvPicPr>
            <a:picLocks noChangeAspect="1"/>
          </p:cNvPicPr>
          <p:nvPr/>
        </p:nvPicPr>
        <p:blipFill>
          <a:blip r:embed="rId3"/>
          <a:stretch>
            <a:fillRect/>
          </a:stretch>
        </p:blipFill>
        <p:spPr>
          <a:xfrm>
            <a:off x="327127" y="965903"/>
            <a:ext cx="5689218" cy="2327407"/>
          </a:xfrm>
          <a:prstGeom prst="rect">
            <a:avLst/>
          </a:prstGeom>
        </p:spPr>
      </p:pic>
      <p:pic>
        <p:nvPicPr>
          <p:cNvPr id="11" name="Picture 10">
            <a:extLst>
              <a:ext uri="{FF2B5EF4-FFF2-40B4-BE49-F238E27FC236}">
                <a16:creationId xmlns:a16="http://schemas.microsoft.com/office/drawing/2014/main" id="{D1104BE2-A240-DBFD-CEC0-0D10071C508F}"/>
              </a:ext>
            </a:extLst>
          </p:cNvPr>
          <p:cNvPicPr>
            <a:picLocks noChangeAspect="1"/>
          </p:cNvPicPr>
          <p:nvPr/>
        </p:nvPicPr>
        <p:blipFill>
          <a:blip r:embed="rId4"/>
          <a:stretch>
            <a:fillRect/>
          </a:stretch>
        </p:blipFill>
        <p:spPr>
          <a:xfrm>
            <a:off x="256201" y="3393190"/>
            <a:ext cx="5839799" cy="480395"/>
          </a:xfrm>
          <a:prstGeom prst="rect">
            <a:avLst/>
          </a:prstGeom>
        </p:spPr>
      </p:pic>
    </p:spTree>
    <p:extLst>
      <p:ext uri="{BB962C8B-B14F-4D97-AF65-F5344CB8AC3E}">
        <p14:creationId xmlns:p14="http://schemas.microsoft.com/office/powerpoint/2010/main" val="1909509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Static Equilibrium</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90507"/>
            <a:ext cx="3779478" cy="319722"/>
          </a:xfrm>
        </p:spPr>
        <p:txBody>
          <a:bodyPr/>
          <a:lstStyle/>
          <a:p>
            <a:r>
              <a:rPr lang="en-AU" dirty="0"/>
              <a:t>Ladders</a:t>
            </a:r>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pic>
        <p:nvPicPr>
          <p:cNvPr id="5" name="Picture 4">
            <a:extLst>
              <a:ext uri="{FF2B5EF4-FFF2-40B4-BE49-F238E27FC236}">
                <a16:creationId xmlns:a16="http://schemas.microsoft.com/office/drawing/2014/main" id="{4F802BE9-E98D-AE83-ED59-3D45AC65339C}"/>
              </a:ext>
            </a:extLst>
          </p:cNvPr>
          <p:cNvPicPr>
            <a:picLocks noChangeAspect="1"/>
          </p:cNvPicPr>
          <p:nvPr/>
        </p:nvPicPr>
        <p:blipFill>
          <a:blip r:embed="rId3"/>
          <a:stretch>
            <a:fillRect/>
          </a:stretch>
        </p:blipFill>
        <p:spPr>
          <a:xfrm>
            <a:off x="295274" y="1007686"/>
            <a:ext cx="11267189" cy="4389814"/>
          </a:xfrm>
          <a:prstGeom prst="rect">
            <a:avLst/>
          </a:prstGeom>
        </p:spPr>
      </p:pic>
    </p:spTree>
    <p:extLst>
      <p:ext uri="{BB962C8B-B14F-4D97-AF65-F5344CB8AC3E}">
        <p14:creationId xmlns:p14="http://schemas.microsoft.com/office/powerpoint/2010/main" val="6750892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Static Equilibrium</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90507"/>
            <a:ext cx="3779478" cy="319722"/>
          </a:xfrm>
        </p:spPr>
        <p:txBody>
          <a:bodyPr/>
          <a:lstStyle/>
          <a:p>
            <a:r>
              <a:rPr lang="en-AU" dirty="0"/>
              <a:t>Ladders</a:t>
            </a:r>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pic>
        <p:nvPicPr>
          <p:cNvPr id="6" name="Picture 5">
            <a:extLst>
              <a:ext uri="{FF2B5EF4-FFF2-40B4-BE49-F238E27FC236}">
                <a16:creationId xmlns:a16="http://schemas.microsoft.com/office/drawing/2014/main" id="{B6CEE462-628B-E7C9-C6A9-C796285B9CC0}"/>
              </a:ext>
            </a:extLst>
          </p:cNvPr>
          <p:cNvPicPr>
            <a:picLocks noChangeAspect="1"/>
          </p:cNvPicPr>
          <p:nvPr/>
        </p:nvPicPr>
        <p:blipFill>
          <a:blip r:embed="rId3"/>
          <a:stretch>
            <a:fillRect/>
          </a:stretch>
        </p:blipFill>
        <p:spPr>
          <a:xfrm>
            <a:off x="295275" y="1007686"/>
            <a:ext cx="8607663" cy="885562"/>
          </a:xfrm>
          <a:prstGeom prst="rect">
            <a:avLst/>
          </a:prstGeom>
        </p:spPr>
      </p:pic>
      <p:pic>
        <p:nvPicPr>
          <p:cNvPr id="8" name="Picture 7">
            <a:extLst>
              <a:ext uri="{FF2B5EF4-FFF2-40B4-BE49-F238E27FC236}">
                <a16:creationId xmlns:a16="http://schemas.microsoft.com/office/drawing/2014/main" id="{76FF3FB7-0D3D-882C-2605-93744E9A55AC}"/>
              </a:ext>
            </a:extLst>
          </p:cNvPr>
          <p:cNvPicPr>
            <a:picLocks noChangeAspect="1"/>
          </p:cNvPicPr>
          <p:nvPr/>
        </p:nvPicPr>
        <p:blipFill>
          <a:blip r:embed="rId4"/>
          <a:stretch>
            <a:fillRect/>
          </a:stretch>
        </p:blipFill>
        <p:spPr>
          <a:xfrm>
            <a:off x="2065337" y="2032376"/>
            <a:ext cx="8724642" cy="3817938"/>
          </a:xfrm>
          <a:prstGeom prst="rect">
            <a:avLst/>
          </a:prstGeom>
        </p:spPr>
      </p:pic>
    </p:spTree>
    <p:extLst>
      <p:ext uri="{BB962C8B-B14F-4D97-AF65-F5344CB8AC3E}">
        <p14:creationId xmlns:p14="http://schemas.microsoft.com/office/powerpoint/2010/main" val="9823176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Static Equilibrium</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90507"/>
            <a:ext cx="3779478" cy="319722"/>
          </a:xfrm>
        </p:spPr>
        <p:txBody>
          <a:bodyPr/>
          <a:lstStyle/>
          <a:p>
            <a:r>
              <a:rPr lang="en-AU" dirty="0"/>
              <a:t>Signs and Cranes</a:t>
            </a:r>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6" name="Text Placeholder 3">
            <a:extLst>
              <a:ext uri="{FF2B5EF4-FFF2-40B4-BE49-F238E27FC236}">
                <a16:creationId xmlns:a16="http://schemas.microsoft.com/office/drawing/2014/main" id="{FE3505E3-E769-4836-78C9-D1BFB19A179F}"/>
              </a:ext>
            </a:extLst>
          </p:cNvPr>
          <p:cNvSpPr txBox="1">
            <a:spLocks/>
          </p:cNvSpPr>
          <p:nvPr/>
        </p:nvSpPr>
        <p:spPr>
          <a:xfrm>
            <a:off x="295275" y="932618"/>
            <a:ext cx="11783312"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AU" sz="2000" b="0" dirty="0"/>
              <a:t>Signs and cranes add another layer of complexity as they are not typically at right angles. As such, you need to calculate force components and ensure that you are using the angles correctly.</a:t>
            </a:r>
          </a:p>
          <a:p>
            <a:pPr algn="just"/>
            <a:endParaRPr lang="en-AU" sz="2000" b="0" dirty="0"/>
          </a:p>
          <a:p>
            <a:pPr algn="just"/>
            <a:r>
              <a:rPr lang="en-AU" sz="2000" b="0" dirty="0"/>
              <a:t>Additionally, there is a reaction force at the wall or crane body. This reaction force is not very predictable (its direction and magnitude depend on the other forces) and must be calculated each time.</a:t>
            </a:r>
          </a:p>
        </p:txBody>
      </p:sp>
      <p:grpSp>
        <p:nvGrpSpPr>
          <p:cNvPr id="17" name="Group 16">
            <a:extLst>
              <a:ext uri="{FF2B5EF4-FFF2-40B4-BE49-F238E27FC236}">
                <a16:creationId xmlns:a16="http://schemas.microsoft.com/office/drawing/2014/main" id="{7503ED9C-9756-F261-30CE-28C85DEF3282}"/>
              </a:ext>
            </a:extLst>
          </p:cNvPr>
          <p:cNvGrpSpPr/>
          <p:nvPr/>
        </p:nvGrpSpPr>
        <p:grpSpPr>
          <a:xfrm>
            <a:off x="1967579" y="3936429"/>
            <a:ext cx="8256842" cy="2246352"/>
            <a:chOff x="1965252" y="3936429"/>
            <a:chExt cx="8256842" cy="2246352"/>
          </a:xfrm>
        </p:grpSpPr>
        <p:pic>
          <p:nvPicPr>
            <p:cNvPr id="7" name="Picture 6">
              <a:extLst>
                <a:ext uri="{FF2B5EF4-FFF2-40B4-BE49-F238E27FC236}">
                  <a16:creationId xmlns:a16="http://schemas.microsoft.com/office/drawing/2014/main" id="{889F1194-8C27-911B-36ED-499C0A3F2313}"/>
                </a:ext>
              </a:extLst>
            </p:cNvPr>
            <p:cNvPicPr>
              <a:picLocks noChangeAspect="1"/>
            </p:cNvPicPr>
            <p:nvPr/>
          </p:nvPicPr>
          <p:blipFill>
            <a:blip r:embed="rId3"/>
            <a:stretch>
              <a:fillRect/>
            </a:stretch>
          </p:blipFill>
          <p:spPr>
            <a:xfrm>
              <a:off x="1969906" y="3936429"/>
              <a:ext cx="2848377" cy="1988953"/>
            </a:xfrm>
            <a:prstGeom prst="rect">
              <a:avLst/>
            </a:prstGeom>
          </p:spPr>
        </p:pic>
        <p:pic>
          <p:nvPicPr>
            <p:cNvPr id="11" name="Picture 10">
              <a:extLst>
                <a:ext uri="{FF2B5EF4-FFF2-40B4-BE49-F238E27FC236}">
                  <a16:creationId xmlns:a16="http://schemas.microsoft.com/office/drawing/2014/main" id="{43A59D5F-ABEB-290F-9CB7-C5386D846500}"/>
                </a:ext>
              </a:extLst>
            </p:cNvPr>
            <p:cNvPicPr>
              <a:picLocks noChangeAspect="1"/>
            </p:cNvPicPr>
            <p:nvPr/>
          </p:nvPicPr>
          <p:blipFill>
            <a:blip r:embed="rId4"/>
            <a:stretch>
              <a:fillRect/>
            </a:stretch>
          </p:blipFill>
          <p:spPr>
            <a:xfrm>
              <a:off x="6096000" y="4049540"/>
              <a:ext cx="3830822" cy="1762733"/>
            </a:xfrm>
            <a:prstGeom prst="rect">
              <a:avLst/>
            </a:prstGeom>
          </p:spPr>
        </p:pic>
        <p:sp>
          <p:nvSpPr>
            <p:cNvPr id="12" name="Rectangle 11">
              <a:extLst>
                <a:ext uri="{FF2B5EF4-FFF2-40B4-BE49-F238E27FC236}">
                  <a16:creationId xmlns:a16="http://schemas.microsoft.com/office/drawing/2014/main" id="{AC2B1C2D-7773-6919-FF1B-2A15D1D047E0}"/>
                </a:ext>
              </a:extLst>
            </p:cNvPr>
            <p:cNvSpPr/>
            <p:nvPr/>
          </p:nvSpPr>
          <p:spPr>
            <a:xfrm>
              <a:off x="2475943" y="5528930"/>
              <a:ext cx="2413590" cy="3964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 name="Rectangle 12">
              <a:extLst>
                <a:ext uri="{FF2B5EF4-FFF2-40B4-BE49-F238E27FC236}">
                  <a16:creationId xmlns:a16="http://schemas.microsoft.com/office/drawing/2014/main" id="{AFF97B4A-4A1F-A151-26BB-38ED57E4269F}"/>
                </a:ext>
              </a:extLst>
            </p:cNvPr>
            <p:cNvSpPr/>
            <p:nvPr/>
          </p:nvSpPr>
          <p:spPr>
            <a:xfrm>
              <a:off x="1965252" y="5786329"/>
              <a:ext cx="2413590" cy="3964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4" name="Rectangle 13">
              <a:extLst>
                <a:ext uri="{FF2B5EF4-FFF2-40B4-BE49-F238E27FC236}">
                  <a16:creationId xmlns:a16="http://schemas.microsoft.com/office/drawing/2014/main" id="{1C1EEF71-546C-C983-2429-46F6A76C5913}"/>
                </a:ext>
              </a:extLst>
            </p:cNvPr>
            <p:cNvSpPr/>
            <p:nvPr/>
          </p:nvSpPr>
          <p:spPr>
            <a:xfrm>
              <a:off x="5329082" y="5652088"/>
              <a:ext cx="3091017" cy="3964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5" name="Rectangle 14">
              <a:extLst>
                <a:ext uri="{FF2B5EF4-FFF2-40B4-BE49-F238E27FC236}">
                  <a16:creationId xmlns:a16="http://schemas.microsoft.com/office/drawing/2014/main" id="{AB39E4F8-A985-3772-C89B-4910027035C2}"/>
                </a:ext>
              </a:extLst>
            </p:cNvPr>
            <p:cNvSpPr/>
            <p:nvPr/>
          </p:nvSpPr>
          <p:spPr>
            <a:xfrm>
              <a:off x="8011411" y="5739836"/>
              <a:ext cx="2210683" cy="1760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6" name="Rectangle 15">
              <a:extLst>
                <a:ext uri="{FF2B5EF4-FFF2-40B4-BE49-F238E27FC236}">
                  <a16:creationId xmlns:a16="http://schemas.microsoft.com/office/drawing/2014/main" id="{73D38103-BDAB-D52F-A899-8E2624EF5C02}"/>
                </a:ext>
              </a:extLst>
            </p:cNvPr>
            <p:cNvSpPr/>
            <p:nvPr/>
          </p:nvSpPr>
          <p:spPr>
            <a:xfrm>
              <a:off x="8969117" y="5692806"/>
              <a:ext cx="1084797" cy="1760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8" name="Rectangle 17">
              <a:extLst>
                <a:ext uri="{FF2B5EF4-FFF2-40B4-BE49-F238E27FC236}">
                  <a16:creationId xmlns:a16="http://schemas.microsoft.com/office/drawing/2014/main" id="{26C975BE-1A1F-C0BA-9917-039CA1F9CF98}"/>
                </a:ext>
              </a:extLst>
            </p:cNvPr>
            <p:cNvSpPr/>
            <p:nvPr/>
          </p:nvSpPr>
          <p:spPr>
            <a:xfrm>
              <a:off x="2012771" y="5528930"/>
              <a:ext cx="106166" cy="3964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Tree>
    <p:extLst>
      <p:ext uri="{BB962C8B-B14F-4D97-AF65-F5344CB8AC3E}">
        <p14:creationId xmlns:p14="http://schemas.microsoft.com/office/powerpoint/2010/main" val="24240654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Static Equilibrium</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90507"/>
            <a:ext cx="3779478" cy="319722"/>
          </a:xfrm>
        </p:spPr>
        <p:txBody>
          <a:bodyPr/>
          <a:lstStyle/>
          <a:p>
            <a:r>
              <a:rPr lang="en-AU" dirty="0"/>
              <a:t>Signs and Cranes</a:t>
            </a:r>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pic>
        <p:nvPicPr>
          <p:cNvPr id="20" name="Picture 19">
            <a:extLst>
              <a:ext uri="{FF2B5EF4-FFF2-40B4-BE49-F238E27FC236}">
                <a16:creationId xmlns:a16="http://schemas.microsoft.com/office/drawing/2014/main" id="{5A5D3181-A625-3321-41C8-1B70F5B23A26}"/>
              </a:ext>
            </a:extLst>
          </p:cNvPr>
          <p:cNvPicPr>
            <a:picLocks noChangeAspect="1"/>
          </p:cNvPicPr>
          <p:nvPr/>
        </p:nvPicPr>
        <p:blipFill>
          <a:blip r:embed="rId3"/>
          <a:stretch>
            <a:fillRect/>
          </a:stretch>
        </p:blipFill>
        <p:spPr>
          <a:xfrm>
            <a:off x="295275" y="965903"/>
            <a:ext cx="9712568" cy="2989523"/>
          </a:xfrm>
          <a:prstGeom prst="rect">
            <a:avLst/>
          </a:prstGeom>
        </p:spPr>
      </p:pic>
      <p:sp>
        <p:nvSpPr>
          <p:cNvPr id="21" name="Text Placeholder 3">
            <a:extLst>
              <a:ext uri="{FF2B5EF4-FFF2-40B4-BE49-F238E27FC236}">
                <a16:creationId xmlns:a16="http://schemas.microsoft.com/office/drawing/2014/main" id="{069B0D14-172C-29AE-12C1-63C870DFFBA7}"/>
              </a:ext>
            </a:extLst>
          </p:cNvPr>
          <p:cNvSpPr txBox="1">
            <a:spLocks/>
          </p:cNvSpPr>
          <p:nvPr/>
        </p:nvSpPr>
        <p:spPr>
          <a:xfrm>
            <a:off x="4098273" y="2075182"/>
            <a:ext cx="7957590"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gn="just">
              <a:buAutoNum type="arabicPeriod"/>
            </a:pPr>
            <a:r>
              <a:rPr lang="en-AU" sz="2000" b="0" dirty="0"/>
              <a:t>Identify and label forces</a:t>
            </a:r>
          </a:p>
          <a:p>
            <a:pPr lvl="1" indent="0" algn="just">
              <a:buNone/>
            </a:pPr>
            <a:r>
              <a:rPr lang="en-AU" sz="1800" dirty="0"/>
              <a:t>T (acting left and up), R (right and ?), W</a:t>
            </a:r>
            <a:r>
              <a:rPr lang="en-AU" sz="1800" baseline="-25000" dirty="0"/>
              <a:t>b</a:t>
            </a:r>
            <a:r>
              <a:rPr lang="en-AU" sz="1800" dirty="0"/>
              <a:t> (down), </a:t>
            </a:r>
            <a:r>
              <a:rPr lang="en-AU" sz="1800" dirty="0" err="1"/>
              <a:t>W</a:t>
            </a:r>
            <a:r>
              <a:rPr lang="en-AU" sz="1800" baseline="-25000" dirty="0" err="1"/>
              <a:t>s</a:t>
            </a:r>
            <a:r>
              <a:rPr lang="en-AU" sz="1800" dirty="0"/>
              <a:t> (down)</a:t>
            </a:r>
            <a:endParaRPr lang="en-AU" sz="1800" baseline="-25000" dirty="0"/>
          </a:p>
          <a:p>
            <a:pPr marL="457200" indent="-457200" algn="just">
              <a:buFont typeface="Arial" panose="020B0604020202020204" pitchFamily="34" charset="0"/>
              <a:buAutoNum type="arabicPeriod"/>
            </a:pPr>
            <a:r>
              <a:rPr lang="en-AU" sz="2000" b="0" dirty="0"/>
              <a:t>Take torques around where the sign joins the wall</a:t>
            </a:r>
            <a:endParaRPr lang="en-AU" sz="1800" baseline="-25000" dirty="0"/>
          </a:p>
          <a:p>
            <a:pPr lvl="1" indent="0" algn="just">
              <a:buNone/>
            </a:pPr>
            <a:endParaRPr lang="en-AU" sz="1800" baseline="-25000" dirty="0"/>
          </a:p>
          <a:p>
            <a:pPr lvl="1" indent="0" algn="just">
              <a:buNone/>
            </a:pPr>
            <a:endParaRPr lang="en-AU" sz="1800" baseline="-25000" dirty="0"/>
          </a:p>
          <a:p>
            <a:pPr lvl="1" indent="0" algn="just">
              <a:buNone/>
            </a:pPr>
            <a:endParaRPr lang="en-AU" sz="1800" baseline="-25000" dirty="0"/>
          </a:p>
          <a:p>
            <a:pPr lvl="1" indent="0" algn="just">
              <a:buNone/>
            </a:pPr>
            <a:endParaRPr lang="en-AU" sz="1800" baseline="-25000" dirty="0"/>
          </a:p>
          <a:p>
            <a:pPr lvl="1" indent="0" algn="just">
              <a:buNone/>
            </a:pPr>
            <a:endParaRPr lang="en-AU" sz="1800" baseline="-25000" dirty="0"/>
          </a:p>
          <a:p>
            <a:pPr lvl="1" indent="0" algn="just">
              <a:buNone/>
            </a:pPr>
            <a:endParaRPr lang="en-AU" sz="1800" baseline="-25000" dirty="0"/>
          </a:p>
          <a:p>
            <a:pPr marL="457200" indent="-457200" algn="just">
              <a:buFont typeface="Arial" panose="020B0604020202020204" pitchFamily="34" charset="0"/>
              <a:buAutoNum type="arabicPeriod"/>
            </a:pPr>
            <a:r>
              <a:rPr lang="en-AU" sz="2000" b="0" dirty="0"/>
              <a:t>Now balance forces to solve for R</a:t>
            </a:r>
          </a:p>
          <a:p>
            <a:pPr algn="just"/>
            <a:endParaRPr lang="en-AU" sz="2000" b="0" dirty="0"/>
          </a:p>
          <a:p>
            <a:pPr algn="just"/>
            <a:r>
              <a:rPr lang="en-AU" sz="2000" b="0" dirty="0"/>
              <a:t>	</a:t>
            </a:r>
          </a:p>
          <a:p>
            <a:pPr lvl="1" indent="0" algn="just">
              <a:buNone/>
            </a:pPr>
            <a:endParaRPr lang="en-AU" sz="2400" b="0" dirty="0"/>
          </a:p>
          <a:p>
            <a:pPr algn="just"/>
            <a:r>
              <a:rPr lang="en-AU" sz="2400" b="0" dirty="0"/>
              <a:t> </a:t>
            </a:r>
          </a:p>
        </p:txBody>
      </p:sp>
      <mc:AlternateContent xmlns:mc="http://schemas.openxmlformats.org/markup-compatibility/2006">
        <mc:Choice xmlns:a14="http://schemas.microsoft.com/office/drawing/2010/main" Requires="a14">
          <p:sp>
            <p:nvSpPr>
              <p:cNvPr id="22" name="TextBox 21">
                <a:extLst>
                  <a:ext uri="{FF2B5EF4-FFF2-40B4-BE49-F238E27FC236}">
                    <a16:creationId xmlns:a16="http://schemas.microsoft.com/office/drawing/2014/main" id="{C3074D68-8DC0-4099-5292-AAE53343341B}"/>
                  </a:ext>
                </a:extLst>
              </p:cNvPr>
              <p:cNvSpPr txBox="1"/>
              <p:nvPr/>
            </p:nvSpPr>
            <p:spPr>
              <a:xfrm>
                <a:off x="4013659" y="3139856"/>
                <a:ext cx="7934070" cy="1231106"/>
              </a:xfrm>
              <a:prstGeom prst="rect">
                <a:avLst/>
              </a:prstGeom>
              <a:noFill/>
              <a:ln>
                <a:noFill/>
              </a:ln>
            </p:spPr>
            <p:txBody>
              <a:bodyPr wrap="square" lIns="0" tIns="0" rIns="0" bIns="0" rtlCol="0">
                <a:spAutoFit/>
              </a:bodyPr>
              <a:lstStyle/>
              <a:p>
                <a:pPr algn="ctr"/>
                <a14:m>
                  <m:oMathPara xmlns:m="http://schemas.openxmlformats.org/officeDocument/2006/math">
                    <m:oMathParaPr>
                      <m:jc m:val="centerGroup"/>
                    </m:oMathParaPr>
                    <m:oMath xmlns:m="http://schemas.openxmlformats.org/officeDocument/2006/math">
                      <m:r>
                        <m:rPr>
                          <m:sty m:val="p"/>
                        </m:rPr>
                        <a:rPr lang="el-GR" sz="2000" b="0" i="1" smtClean="0">
                          <a:solidFill>
                            <a:srgbClr val="FF0000"/>
                          </a:solidFill>
                          <a:latin typeface="Cambria Math" panose="02040503050406030204" pitchFamily="18" charset="0"/>
                          <a:ea typeface="Cambria Math" panose="02040503050406030204" pitchFamily="18" charset="0"/>
                        </a:rPr>
                        <m:t>Σ</m:t>
                      </m:r>
                      <m:r>
                        <a:rPr lang="en-AU" sz="2000" i="1">
                          <a:solidFill>
                            <a:srgbClr val="FF0000"/>
                          </a:solidFill>
                          <a:latin typeface="Cambria Math" panose="02040503050406030204" pitchFamily="18" charset="0"/>
                          <a:ea typeface="Cambria Math" panose="02040503050406030204" pitchFamily="18" charset="0"/>
                        </a:rPr>
                        <m:t>𝜏</m:t>
                      </m:r>
                      <m:r>
                        <a:rPr lang="en-AU" sz="2000" i="1" baseline="-25000">
                          <a:solidFill>
                            <a:srgbClr val="FF0000"/>
                          </a:solidFill>
                          <a:latin typeface="Cambria Math" panose="02040503050406030204" pitchFamily="18" charset="0"/>
                          <a:ea typeface="Cambria Math" panose="02040503050406030204" pitchFamily="18" charset="0"/>
                        </a:rPr>
                        <m:t>𝑐𝑤</m:t>
                      </m:r>
                      <m:r>
                        <a:rPr lang="en-AU" sz="2000" b="0" i="1" smtClean="0">
                          <a:solidFill>
                            <a:srgbClr val="FF0000"/>
                          </a:solidFill>
                          <a:latin typeface="Cambria Math" panose="02040503050406030204" pitchFamily="18" charset="0"/>
                          <a:ea typeface="Cambria Math" panose="02040503050406030204" pitchFamily="18" charset="0"/>
                        </a:rPr>
                        <m:t>=</m:t>
                      </m:r>
                      <m:r>
                        <m:rPr>
                          <m:sty m:val="p"/>
                        </m:rPr>
                        <a:rPr lang="el-GR" sz="2000" i="1">
                          <a:solidFill>
                            <a:srgbClr val="FF0000"/>
                          </a:solidFill>
                          <a:latin typeface="Cambria Math" panose="02040503050406030204" pitchFamily="18" charset="0"/>
                          <a:ea typeface="Cambria Math" panose="02040503050406030204" pitchFamily="18" charset="0"/>
                        </a:rPr>
                        <m:t>Σ</m:t>
                      </m:r>
                      <m:r>
                        <a:rPr lang="en-AU" sz="2000" i="1">
                          <a:solidFill>
                            <a:srgbClr val="FF0000"/>
                          </a:solidFill>
                          <a:latin typeface="Cambria Math" panose="02040503050406030204" pitchFamily="18" charset="0"/>
                          <a:ea typeface="Cambria Math" panose="02040503050406030204" pitchFamily="18" charset="0"/>
                        </a:rPr>
                        <m:t>𝜏</m:t>
                      </m:r>
                      <m:r>
                        <a:rPr lang="en-AU" sz="2000" b="0" i="1" baseline="-25000" smtClean="0">
                          <a:solidFill>
                            <a:srgbClr val="FF0000"/>
                          </a:solidFill>
                          <a:latin typeface="Cambria Math" panose="02040503050406030204" pitchFamily="18" charset="0"/>
                          <a:ea typeface="Cambria Math" panose="02040503050406030204" pitchFamily="18" charset="0"/>
                        </a:rPr>
                        <m:t>𝑎𝑐𝑤</m:t>
                      </m:r>
                      <m:r>
                        <a:rPr lang="en-AU" sz="2000" b="0" i="1" baseline="-25000" smtClean="0">
                          <a:solidFill>
                            <a:srgbClr val="FF0000"/>
                          </a:solidFill>
                          <a:latin typeface="Cambria Math" panose="02040503050406030204" pitchFamily="18" charset="0"/>
                          <a:ea typeface="Cambria Math" panose="02040503050406030204" pitchFamily="18" charset="0"/>
                        </a:rPr>
                        <m:t>       </m:t>
                      </m:r>
                      <m:r>
                        <a:rPr lang="en-AU" sz="2000" i="1">
                          <a:solidFill>
                            <a:srgbClr val="FF0000"/>
                          </a:solidFill>
                          <a:latin typeface="Cambria Math" panose="02040503050406030204" pitchFamily="18" charset="0"/>
                          <a:ea typeface="Cambria Math" panose="02040503050406030204" pitchFamily="18" charset="0"/>
                        </a:rPr>
                        <m:t>𝜏</m:t>
                      </m:r>
                      <m:r>
                        <a:rPr lang="en-AU" sz="2000" b="0" i="1" smtClean="0">
                          <a:solidFill>
                            <a:srgbClr val="FF0000"/>
                          </a:solidFill>
                          <a:latin typeface="Cambria Math" panose="02040503050406030204" pitchFamily="18" charset="0"/>
                          <a:ea typeface="Cambria Math" panose="02040503050406030204" pitchFamily="18" charset="0"/>
                        </a:rPr>
                        <m:t>=</m:t>
                      </m:r>
                      <m:r>
                        <a:rPr lang="en-AU" sz="2000" b="0" i="1" smtClean="0">
                          <a:solidFill>
                            <a:srgbClr val="FF0000"/>
                          </a:solidFill>
                          <a:latin typeface="Cambria Math" panose="02040503050406030204" pitchFamily="18" charset="0"/>
                          <a:ea typeface="Cambria Math" panose="02040503050406030204" pitchFamily="18" charset="0"/>
                        </a:rPr>
                        <m:t>𝐹𝑟</m:t>
                      </m:r>
                      <m:r>
                        <a:rPr lang="en-AU" sz="2000" b="0" i="1" smtClean="0">
                          <a:solidFill>
                            <a:srgbClr val="FF0000"/>
                          </a:solidFill>
                          <a:latin typeface="Cambria Math" panose="02040503050406030204" pitchFamily="18" charset="0"/>
                          <a:ea typeface="Cambria Math" panose="02040503050406030204" pitchFamily="18" charset="0"/>
                        </a:rPr>
                        <m:t> </m:t>
                      </m:r>
                      <m:r>
                        <a:rPr lang="en-AU" sz="2000" b="0" i="1" smtClean="0">
                          <a:solidFill>
                            <a:srgbClr val="FF0000"/>
                          </a:solidFill>
                          <a:latin typeface="Cambria Math" panose="02040503050406030204" pitchFamily="18" charset="0"/>
                          <a:ea typeface="Cambria Math" panose="02040503050406030204" pitchFamily="18" charset="0"/>
                        </a:rPr>
                        <m:t>𝑠𝑖𝑛</m:t>
                      </m:r>
                      <m:r>
                        <a:rPr lang="en-AU" sz="2000" b="0" i="1" smtClean="0">
                          <a:solidFill>
                            <a:srgbClr val="FF0000"/>
                          </a:solidFill>
                          <a:latin typeface="Cambria Math" panose="02040503050406030204" pitchFamily="18" charset="0"/>
                          <a:ea typeface="Cambria Math" panose="02040503050406030204" pitchFamily="18" charset="0"/>
                        </a:rPr>
                        <m:t>𝜃</m:t>
                      </m:r>
                      <m:r>
                        <a:rPr lang="en-AU" sz="2000" b="0" i="1" smtClean="0">
                          <a:solidFill>
                            <a:srgbClr val="FF0000"/>
                          </a:solidFill>
                          <a:latin typeface="Cambria Math" panose="02040503050406030204" pitchFamily="18" charset="0"/>
                          <a:ea typeface="Cambria Math" panose="02040503050406030204" pitchFamily="18" charset="0"/>
                        </a:rPr>
                        <m:t>  </m:t>
                      </m:r>
                    </m:oMath>
                  </m:oMathPara>
                </a14:m>
                <a:endParaRPr lang="en-AU" sz="2000" dirty="0">
                  <a:solidFill>
                    <a:srgbClr val="FF0000"/>
                  </a:solidFill>
                </a:endParaRPr>
              </a:p>
              <a:p>
                <a:pPr algn="ctr"/>
                <a:r>
                  <a:rPr lang="en-AU" sz="2000" dirty="0">
                    <a:solidFill>
                      <a:srgbClr val="FF0000"/>
                    </a:solidFill>
                  </a:rPr>
                  <a:t>W</a:t>
                </a:r>
                <a:r>
                  <a:rPr lang="en-AU" sz="2000" baseline="-25000" dirty="0">
                    <a:solidFill>
                      <a:srgbClr val="FF0000"/>
                    </a:solidFill>
                  </a:rPr>
                  <a:t>b</a:t>
                </a:r>
                <a:r>
                  <a:rPr lang="en-AU" sz="2000" dirty="0">
                    <a:solidFill>
                      <a:srgbClr val="FF0000"/>
                    </a:solidFill>
                  </a:rPr>
                  <a:t> </a:t>
                </a:r>
                <a:r>
                  <a:rPr lang="en-AU" sz="2000" dirty="0" err="1">
                    <a:solidFill>
                      <a:srgbClr val="FF0000"/>
                    </a:solidFill>
                  </a:rPr>
                  <a:t>r</a:t>
                </a:r>
                <a:r>
                  <a:rPr lang="en-AU" sz="2000" baseline="-25000" dirty="0" err="1">
                    <a:solidFill>
                      <a:srgbClr val="FF0000"/>
                    </a:solidFill>
                  </a:rPr>
                  <a:t>b</a:t>
                </a:r>
                <a:r>
                  <a:rPr lang="en-AU" sz="2000" dirty="0">
                    <a:solidFill>
                      <a:srgbClr val="FF0000"/>
                    </a:solidFill>
                  </a:rPr>
                  <a:t> + </a:t>
                </a:r>
                <a:r>
                  <a:rPr lang="en-AU" sz="2000" dirty="0" err="1">
                    <a:solidFill>
                      <a:srgbClr val="FF0000"/>
                    </a:solidFill>
                  </a:rPr>
                  <a:t>W</a:t>
                </a:r>
                <a:r>
                  <a:rPr lang="en-AU" sz="2000" baseline="-25000" dirty="0" err="1">
                    <a:solidFill>
                      <a:srgbClr val="FF0000"/>
                    </a:solidFill>
                  </a:rPr>
                  <a:t>s</a:t>
                </a:r>
                <a:r>
                  <a:rPr lang="en-AU" sz="2000" dirty="0">
                    <a:solidFill>
                      <a:srgbClr val="FF0000"/>
                    </a:solidFill>
                  </a:rPr>
                  <a:t> </a:t>
                </a:r>
                <a:r>
                  <a:rPr lang="en-AU" sz="2000" dirty="0" err="1">
                    <a:solidFill>
                      <a:srgbClr val="FF0000"/>
                    </a:solidFill>
                  </a:rPr>
                  <a:t>r</a:t>
                </a:r>
                <a:r>
                  <a:rPr lang="en-AU" sz="2000" baseline="-25000" dirty="0" err="1">
                    <a:solidFill>
                      <a:srgbClr val="FF0000"/>
                    </a:solidFill>
                  </a:rPr>
                  <a:t>s</a:t>
                </a:r>
                <a:r>
                  <a:rPr lang="en-AU" sz="2000" dirty="0">
                    <a:solidFill>
                      <a:srgbClr val="FF0000"/>
                    </a:solidFill>
                  </a:rPr>
                  <a:t> = T r</a:t>
                </a:r>
                <a:r>
                  <a:rPr lang="en-AU" sz="2000" baseline="-25000" dirty="0">
                    <a:solidFill>
                      <a:srgbClr val="FF0000"/>
                    </a:solidFill>
                  </a:rPr>
                  <a:t>t </a:t>
                </a:r>
                <a:r>
                  <a:rPr lang="en-AU" sz="2000" dirty="0">
                    <a:solidFill>
                      <a:srgbClr val="FF0000"/>
                    </a:solidFill>
                  </a:rPr>
                  <a:t>sin</a:t>
                </a:r>
                <a:r>
                  <a:rPr lang="en-AU" sz="2000" dirty="0">
                    <a:solidFill>
                      <a:srgbClr val="FF0000"/>
                    </a:solidFill>
                    <a:sym typeface="Symbol" panose="05050102010706020507" pitchFamily="18" charset="2"/>
                  </a:rPr>
                  <a:t></a:t>
                </a:r>
                <a:endParaRPr lang="en-AU" sz="2000" dirty="0">
                  <a:solidFill>
                    <a:srgbClr val="FF0000"/>
                  </a:solidFill>
                </a:endParaRPr>
              </a:p>
              <a:p>
                <a:pPr algn="ctr"/>
                <a:r>
                  <a:rPr lang="en-AU" sz="2000" dirty="0">
                    <a:solidFill>
                      <a:srgbClr val="FF0000"/>
                    </a:solidFill>
                  </a:rPr>
                  <a:t>5 * 9.8 * 0.4 + 240 * 0.8 = T * 0.8 * sin(55)</a:t>
                </a:r>
              </a:p>
              <a:p>
                <a:pPr algn="ctr"/>
                <a:r>
                  <a:rPr lang="en-AU" sz="2000" dirty="0">
                    <a:solidFill>
                      <a:srgbClr val="FF0000"/>
                    </a:solidFill>
                  </a:rPr>
                  <a:t>T = 3.23*10</a:t>
                </a:r>
                <a:r>
                  <a:rPr lang="en-AU" sz="2000" baseline="30000" dirty="0">
                    <a:solidFill>
                      <a:srgbClr val="FF0000"/>
                    </a:solidFill>
                  </a:rPr>
                  <a:t>2</a:t>
                </a:r>
                <a:r>
                  <a:rPr lang="en-AU" sz="2000" dirty="0">
                    <a:solidFill>
                      <a:srgbClr val="FF0000"/>
                    </a:solidFill>
                  </a:rPr>
                  <a:t> N</a:t>
                </a:r>
              </a:p>
            </p:txBody>
          </p:sp>
        </mc:Choice>
        <mc:Fallback>
          <p:sp>
            <p:nvSpPr>
              <p:cNvPr id="22" name="TextBox 21">
                <a:extLst>
                  <a:ext uri="{FF2B5EF4-FFF2-40B4-BE49-F238E27FC236}">
                    <a16:creationId xmlns:a16="http://schemas.microsoft.com/office/drawing/2014/main" id="{C3074D68-8DC0-4099-5292-AAE53343341B}"/>
                  </a:ext>
                </a:extLst>
              </p:cNvPr>
              <p:cNvSpPr txBox="1">
                <a:spLocks noRot="1" noChangeAspect="1" noMove="1" noResize="1" noEditPoints="1" noAdjustHandles="1" noChangeArrowheads="1" noChangeShapeType="1" noTextEdit="1"/>
              </p:cNvSpPr>
              <p:nvPr/>
            </p:nvSpPr>
            <p:spPr>
              <a:xfrm>
                <a:off x="4013659" y="3139856"/>
                <a:ext cx="7934070" cy="1231106"/>
              </a:xfrm>
              <a:prstGeom prst="rect">
                <a:avLst/>
              </a:prstGeom>
              <a:blipFill>
                <a:blip r:embed="rId4"/>
                <a:stretch>
                  <a:fillRect b="-11881"/>
                </a:stretch>
              </a:blipFill>
              <a:ln>
                <a:noFill/>
              </a:ln>
            </p:spPr>
            <p:txBody>
              <a:bodyPr/>
              <a:lstStyle/>
              <a:p>
                <a:r>
                  <a:rPr lang="en-AU">
                    <a:noFill/>
                  </a:rPr>
                  <a:t> </a:t>
                </a:r>
              </a:p>
            </p:txBody>
          </p:sp>
        </mc:Fallback>
      </mc:AlternateContent>
      <p:sp>
        <p:nvSpPr>
          <p:cNvPr id="24" name="Text Placeholder 3">
            <a:extLst>
              <a:ext uri="{FF2B5EF4-FFF2-40B4-BE49-F238E27FC236}">
                <a16:creationId xmlns:a16="http://schemas.microsoft.com/office/drawing/2014/main" id="{DCAE90AA-BA8F-0EB0-0741-152C6EA43B3E}"/>
              </a:ext>
            </a:extLst>
          </p:cNvPr>
          <p:cNvSpPr txBox="1">
            <a:spLocks/>
          </p:cNvSpPr>
          <p:nvPr/>
        </p:nvSpPr>
        <p:spPr>
          <a:xfrm>
            <a:off x="214654" y="4186249"/>
            <a:ext cx="3413917"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AU" sz="2000" b="0" dirty="0"/>
              <a:t>Also solve for the reaction force the wall exerts on the bar.</a:t>
            </a:r>
            <a:endParaRPr lang="en-AU" sz="2400" b="0" dirty="0"/>
          </a:p>
        </p:txBody>
      </p:sp>
    </p:spTree>
    <p:extLst>
      <p:ext uri="{BB962C8B-B14F-4D97-AF65-F5344CB8AC3E}">
        <p14:creationId xmlns:p14="http://schemas.microsoft.com/office/powerpoint/2010/main" val="2778900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1">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Static Equilibrium</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90507"/>
            <a:ext cx="3779478" cy="319722"/>
          </a:xfrm>
        </p:spPr>
        <p:txBody>
          <a:bodyPr/>
          <a:lstStyle/>
          <a:p>
            <a:r>
              <a:rPr lang="en-AU" dirty="0"/>
              <a:t>Signs and Cranes</a:t>
            </a:r>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pic>
        <p:nvPicPr>
          <p:cNvPr id="20" name="Picture 19">
            <a:extLst>
              <a:ext uri="{FF2B5EF4-FFF2-40B4-BE49-F238E27FC236}">
                <a16:creationId xmlns:a16="http://schemas.microsoft.com/office/drawing/2014/main" id="{5A5D3181-A625-3321-41C8-1B70F5B23A26}"/>
              </a:ext>
            </a:extLst>
          </p:cNvPr>
          <p:cNvPicPr>
            <a:picLocks noChangeAspect="1"/>
          </p:cNvPicPr>
          <p:nvPr/>
        </p:nvPicPr>
        <p:blipFill>
          <a:blip r:embed="rId3"/>
          <a:stretch>
            <a:fillRect/>
          </a:stretch>
        </p:blipFill>
        <p:spPr>
          <a:xfrm>
            <a:off x="295275" y="965903"/>
            <a:ext cx="9712568" cy="2989523"/>
          </a:xfrm>
          <a:prstGeom prst="rect">
            <a:avLst/>
          </a:prstGeom>
        </p:spPr>
      </p:pic>
      <p:sp>
        <p:nvSpPr>
          <p:cNvPr id="21" name="Text Placeholder 3">
            <a:extLst>
              <a:ext uri="{FF2B5EF4-FFF2-40B4-BE49-F238E27FC236}">
                <a16:creationId xmlns:a16="http://schemas.microsoft.com/office/drawing/2014/main" id="{069B0D14-172C-29AE-12C1-63C870DFFBA7}"/>
              </a:ext>
            </a:extLst>
          </p:cNvPr>
          <p:cNvSpPr txBox="1">
            <a:spLocks/>
          </p:cNvSpPr>
          <p:nvPr/>
        </p:nvSpPr>
        <p:spPr>
          <a:xfrm>
            <a:off x="4098273" y="2075182"/>
            <a:ext cx="7957590"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indent="0" algn="just">
              <a:buNone/>
            </a:pPr>
            <a:endParaRPr lang="en-AU" sz="1800" baseline="-25000" dirty="0"/>
          </a:p>
          <a:p>
            <a:pPr algn="just"/>
            <a:r>
              <a:rPr lang="en-AU" sz="2000" b="0" dirty="0"/>
              <a:t>Balance forces to solve for R</a:t>
            </a:r>
          </a:p>
          <a:p>
            <a:pPr algn="just"/>
            <a:endParaRPr lang="en-AU" sz="2000" b="0" dirty="0"/>
          </a:p>
          <a:p>
            <a:pPr algn="just"/>
            <a:r>
              <a:rPr lang="en-AU" sz="2000" b="0" dirty="0"/>
              <a:t>	</a:t>
            </a:r>
          </a:p>
          <a:p>
            <a:pPr lvl="1" indent="0" algn="just">
              <a:buNone/>
            </a:pPr>
            <a:endParaRPr lang="en-AU" sz="2400" b="0" dirty="0"/>
          </a:p>
          <a:p>
            <a:pPr algn="just"/>
            <a:r>
              <a:rPr lang="en-AU" sz="2400" b="0" dirty="0"/>
              <a:t> </a:t>
            </a:r>
          </a:p>
        </p:txBody>
      </p:sp>
      <p:sp>
        <p:nvSpPr>
          <p:cNvPr id="22" name="TextBox 21">
            <a:extLst>
              <a:ext uri="{FF2B5EF4-FFF2-40B4-BE49-F238E27FC236}">
                <a16:creationId xmlns:a16="http://schemas.microsoft.com/office/drawing/2014/main" id="{C3074D68-8DC0-4099-5292-AAE53343341B}"/>
              </a:ext>
            </a:extLst>
          </p:cNvPr>
          <p:cNvSpPr txBox="1"/>
          <p:nvPr/>
        </p:nvSpPr>
        <p:spPr>
          <a:xfrm>
            <a:off x="3679239" y="1983689"/>
            <a:ext cx="7934070" cy="307777"/>
          </a:xfrm>
          <a:prstGeom prst="rect">
            <a:avLst/>
          </a:prstGeom>
          <a:noFill/>
          <a:ln>
            <a:noFill/>
          </a:ln>
        </p:spPr>
        <p:txBody>
          <a:bodyPr wrap="square" lIns="0" tIns="0" rIns="0" bIns="0" rtlCol="0">
            <a:spAutoFit/>
          </a:bodyPr>
          <a:lstStyle/>
          <a:p>
            <a:pPr algn="ctr"/>
            <a:r>
              <a:rPr lang="en-AU" sz="2000" dirty="0">
                <a:solidFill>
                  <a:srgbClr val="FF0000"/>
                </a:solidFill>
              </a:rPr>
              <a:t>T = 3.23*10</a:t>
            </a:r>
            <a:r>
              <a:rPr lang="en-AU" sz="2000" baseline="30000" dirty="0">
                <a:solidFill>
                  <a:srgbClr val="FF0000"/>
                </a:solidFill>
              </a:rPr>
              <a:t>2</a:t>
            </a:r>
            <a:r>
              <a:rPr lang="en-AU" sz="2000" dirty="0">
                <a:solidFill>
                  <a:srgbClr val="FF0000"/>
                </a:solidFill>
              </a:rPr>
              <a:t> N</a:t>
            </a:r>
          </a:p>
        </p:txBody>
      </p:sp>
      <mc:AlternateContent xmlns:mc="http://schemas.openxmlformats.org/markup-compatibility/2006">
        <mc:Choice xmlns:a14="http://schemas.microsoft.com/office/drawing/2010/main" Requires="a14">
          <p:sp>
            <p:nvSpPr>
              <p:cNvPr id="23" name="TextBox 22">
                <a:extLst>
                  <a:ext uri="{FF2B5EF4-FFF2-40B4-BE49-F238E27FC236}">
                    <a16:creationId xmlns:a16="http://schemas.microsoft.com/office/drawing/2014/main" id="{2EC700D4-4584-415D-CFEB-9577417E86BC}"/>
                  </a:ext>
                </a:extLst>
              </p:cNvPr>
              <p:cNvSpPr txBox="1"/>
              <p:nvPr/>
            </p:nvSpPr>
            <p:spPr>
              <a:xfrm>
                <a:off x="3764873" y="2773803"/>
                <a:ext cx="3969078" cy="2424318"/>
              </a:xfrm>
              <a:prstGeom prst="rect">
                <a:avLst/>
              </a:prstGeom>
              <a:noFill/>
              <a:ln>
                <a:noFill/>
              </a:ln>
            </p:spPr>
            <p:txBody>
              <a:bodyPr wrap="square" lIns="0" tIns="0" rIns="0" bIns="0" rtlCol="0">
                <a:spAutoFit/>
              </a:bodyPr>
              <a:lstStyle/>
              <a:p>
                <a:pPr/>
                <a:r>
                  <a:rPr lang="en-AU" dirty="0">
                    <a:solidFill>
                      <a:srgbClr val="FF0000"/>
                    </a:solidFill>
                  </a:rPr>
                  <a:t>Assume R is down</a:t>
                </a:r>
              </a:p>
              <a:p>
                <a:pPr algn="ctr"/>
                <a14:m>
                  <m:oMathPara xmlns:m="http://schemas.openxmlformats.org/officeDocument/2006/math">
                    <m:oMathParaPr>
                      <m:jc m:val="centerGroup"/>
                    </m:oMathParaPr>
                    <m:oMath xmlns:m="http://schemas.openxmlformats.org/officeDocument/2006/math">
                      <m:r>
                        <m:rPr>
                          <m:sty m:val="p"/>
                        </m:rPr>
                        <a:rPr lang="el-GR" sz="2000" b="0" i="1" smtClean="0">
                          <a:solidFill>
                            <a:srgbClr val="FF0000"/>
                          </a:solidFill>
                          <a:latin typeface="Cambria Math" panose="02040503050406030204" pitchFamily="18" charset="0"/>
                          <a:ea typeface="Cambria Math" panose="02040503050406030204" pitchFamily="18" charset="0"/>
                        </a:rPr>
                        <m:t>Σ</m:t>
                      </m:r>
                      <m:r>
                        <a:rPr lang="en-AU" sz="2000" b="0" i="1" smtClean="0">
                          <a:solidFill>
                            <a:srgbClr val="FF0000"/>
                          </a:solidFill>
                          <a:latin typeface="Cambria Math" panose="02040503050406030204" pitchFamily="18" charset="0"/>
                          <a:ea typeface="Cambria Math" panose="02040503050406030204" pitchFamily="18" charset="0"/>
                        </a:rPr>
                        <m:t>𝐹</m:t>
                      </m:r>
                      <m:r>
                        <a:rPr lang="en-AU" sz="2000" b="0" i="1" baseline="-25000" smtClean="0">
                          <a:solidFill>
                            <a:srgbClr val="FF0000"/>
                          </a:solidFill>
                          <a:latin typeface="Cambria Math" panose="02040503050406030204" pitchFamily="18" charset="0"/>
                          <a:ea typeface="Cambria Math" panose="02040503050406030204" pitchFamily="18" charset="0"/>
                        </a:rPr>
                        <m:t>𝑢𝑝</m:t>
                      </m:r>
                      <m:r>
                        <a:rPr lang="en-AU" sz="2000" b="0" i="1" smtClean="0">
                          <a:solidFill>
                            <a:srgbClr val="FF0000"/>
                          </a:solidFill>
                          <a:latin typeface="Cambria Math" panose="02040503050406030204" pitchFamily="18" charset="0"/>
                          <a:ea typeface="Cambria Math" panose="02040503050406030204" pitchFamily="18" charset="0"/>
                        </a:rPr>
                        <m:t>=</m:t>
                      </m:r>
                      <m:r>
                        <m:rPr>
                          <m:sty m:val="p"/>
                        </m:rPr>
                        <a:rPr lang="el-GR" sz="2000" i="1">
                          <a:solidFill>
                            <a:srgbClr val="FF0000"/>
                          </a:solidFill>
                          <a:latin typeface="Cambria Math" panose="02040503050406030204" pitchFamily="18" charset="0"/>
                          <a:ea typeface="Cambria Math" panose="02040503050406030204" pitchFamily="18" charset="0"/>
                        </a:rPr>
                        <m:t>Σ</m:t>
                      </m:r>
                      <m:r>
                        <a:rPr lang="en-AU" sz="2000" b="0" i="1" smtClean="0">
                          <a:solidFill>
                            <a:srgbClr val="FF0000"/>
                          </a:solidFill>
                          <a:latin typeface="Cambria Math" panose="02040503050406030204" pitchFamily="18" charset="0"/>
                          <a:ea typeface="Cambria Math" panose="02040503050406030204" pitchFamily="18" charset="0"/>
                        </a:rPr>
                        <m:t>𝐹</m:t>
                      </m:r>
                      <m:r>
                        <a:rPr lang="en-AU" sz="2000" b="0" i="1" baseline="-25000" smtClean="0">
                          <a:solidFill>
                            <a:srgbClr val="FF0000"/>
                          </a:solidFill>
                          <a:latin typeface="Cambria Math" panose="02040503050406030204" pitchFamily="18" charset="0"/>
                          <a:ea typeface="Cambria Math" panose="02040503050406030204" pitchFamily="18" charset="0"/>
                        </a:rPr>
                        <m:t>𝑑𝑜𝑤𝑛</m:t>
                      </m:r>
                      <m:r>
                        <a:rPr lang="en-AU" sz="2000" b="0" i="1" baseline="-25000" smtClean="0">
                          <a:solidFill>
                            <a:srgbClr val="FF0000"/>
                          </a:solidFill>
                          <a:latin typeface="Cambria Math" panose="02040503050406030204" pitchFamily="18" charset="0"/>
                          <a:ea typeface="Cambria Math" panose="02040503050406030204" pitchFamily="18" charset="0"/>
                        </a:rPr>
                        <m:t> </m:t>
                      </m:r>
                    </m:oMath>
                  </m:oMathPara>
                </a14:m>
                <a:endParaRPr lang="en-AU" sz="2000" b="0" baseline="-25000" dirty="0">
                  <a:solidFill>
                    <a:srgbClr val="FF0000"/>
                  </a:solidFill>
                  <a:ea typeface="Cambria Math" panose="02040503050406030204" pitchFamily="18" charset="0"/>
                </a:endParaRPr>
              </a:p>
              <a:p>
                <a:pPr algn="ctr"/>
                <a:r>
                  <a:rPr lang="en-AU" sz="2000" dirty="0">
                    <a:solidFill>
                      <a:srgbClr val="FF0000"/>
                    </a:solidFill>
                  </a:rPr>
                  <a:t>T</a:t>
                </a:r>
                <a:r>
                  <a:rPr lang="en-AU" sz="2000" baseline="-25000" dirty="0">
                    <a:solidFill>
                      <a:srgbClr val="FF0000"/>
                    </a:solidFill>
                  </a:rPr>
                  <a:t>v</a:t>
                </a:r>
                <a:r>
                  <a:rPr lang="en-AU" sz="2000" dirty="0">
                    <a:solidFill>
                      <a:srgbClr val="FF0000"/>
                    </a:solidFill>
                  </a:rPr>
                  <a:t> = </a:t>
                </a:r>
                <a:r>
                  <a:rPr lang="en-AU" sz="2000" dirty="0" err="1">
                    <a:solidFill>
                      <a:srgbClr val="FF0000"/>
                    </a:solidFill>
                  </a:rPr>
                  <a:t>R</a:t>
                </a:r>
                <a:r>
                  <a:rPr lang="en-AU" sz="2000" baseline="-25000" dirty="0" err="1">
                    <a:solidFill>
                      <a:srgbClr val="FF0000"/>
                    </a:solidFill>
                  </a:rPr>
                  <a:t>v</a:t>
                </a:r>
                <a:r>
                  <a:rPr lang="en-AU" sz="2000" dirty="0">
                    <a:solidFill>
                      <a:srgbClr val="FF0000"/>
                    </a:solidFill>
                  </a:rPr>
                  <a:t> + W</a:t>
                </a:r>
                <a:r>
                  <a:rPr lang="en-AU" sz="2000" baseline="-25000" dirty="0">
                    <a:solidFill>
                      <a:srgbClr val="FF0000"/>
                    </a:solidFill>
                  </a:rPr>
                  <a:t>b</a:t>
                </a:r>
                <a:r>
                  <a:rPr lang="en-AU" sz="2000" dirty="0">
                    <a:solidFill>
                      <a:srgbClr val="FF0000"/>
                    </a:solidFill>
                  </a:rPr>
                  <a:t> + </a:t>
                </a:r>
                <a:r>
                  <a:rPr lang="en-AU" sz="2000" dirty="0" err="1">
                    <a:solidFill>
                      <a:srgbClr val="FF0000"/>
                    </a:solidFill>
                  </a:rPr>
                  <a:t>W</a:t>
                </a:r>
                <a:r>
                  <a:rPr lang="en-AU" sz="2000" baseline="-25000" dirty="0" err="1">
                    <a:solidFill>
                      <a:srgbClr val="FF0000"/>
                    </a:solidFill>
                  </a:rPr>
                  <a:t>s</a:t>
                </a:r>
                <a:endParaRPr lang="en-AU" sz="2000" baseline="-25000" dirty="0">
                  <a:solidFill>
                    <a:srgbClr val="FF0000"/>
                  </a:solidFill>
                </a:endParaRPr>
              </a:p>
              <a:p>
                <a:pPr algn="ctr"/>
                <a:r>
                  <a:rPr lang="en-AU" sz="2000" dirty="0">
                    <a:solidFill>
                      <a:srgbClr val="FF0000"/>
                    </a:solidFill>
                  </a:rPr>
                  <a:t>323*sin(55) = </a:t>
                </a:r>
                <a:r>
                  <a:rPr lang="en-AU" sz="2000" dirty="0" err="1">
                    <a:solidFill>
                      <a:srgbClr val="FF0000"/>
                    </a:solidFill>
                  </a:rPr>
                  <a:t>R</a:t>
                </a:r>
                <a:r>
                  <a:rPr lang="en-AU" sz="2000" baseline="-25000" dirty="0" err="1">
                    <a:solidFill>
                      <a:srgbClr val="FF0000"/>
                    </a:solidFill>
                  </a:rPr>
                  <a:t>v</a:t>
                </a:r>
                <a:r>
                  <a:rPr lang="en-AU" sz="2000" dirty="0">
                    <a:solidFill>
                      <a:srgbClr val="FF0000"/>
                    </a:solidFill>
                  </a:rPr>
                  <a:t> + 5*9.8 + 240</a:t>
                </a:r>
              </a:p>
              <a:p>
                <a:pPr algn="ctr"/>
                <a:r>
                  <a:rPr lang="en-AU" sz="2000" dirty="0">
                    <a:solidFill>
                      <a:srgbClr val="FF0000"/>
                    </a:solidFill>
                  </a:rPr>
                  <a:t>264.59 = </a:t>
                </a:r>
                <a:r>
                  <a:rPr lang="en-AU" sz="2000" dirty="0" err="1">
                    <a:solidFill>
                      <a:srgbClr val="FF0000"/>
                    </a:solidFill>
                  </a:rPr>
                  <a:t>R</a:t>
                </a:r>
                <a:r>
                  <a:rPr lang="en-AU" sz="2000" baseline="-25000" dirty="0" err="1">
                    <a:solidFill>
                      <a:srgbClr val="FF0000"/>
                    </a:solidFill>
                  </a:rPr>
                  <a:t>v</a:t>
                </a:r>
                <a:r>
                  <a:rPr lang="en-AU" sz="2000" dirty="0">
                    <a:solidFill>
                      <a:srgbClr val="FF0000"/>
                    </a:solidFill>
                  </a:rPr>
                  <a:t> + 289</a:t>
                </a:r>
              </a:p>
              <a:p>
                <a:pPr algn="ctr"/>
                <a:r>
                  <a:rPr lang="en-AU" sz="2000" dirty="0" err="1">
                    <a:solidFill>
                      <a:srgbClr val="FF0000"/>
                    </a:solidFill>
                  </a:rPr>
                  <a:t>R</a:t>
                </a:r>
                <a:r>
                  <a:rPr lang="en-AU" sz="2000" baseline="-25000" dirty="0" err="1">
                    <a:solidFill>
                      <a:srgbClr val="FF0000"/>
                    </a:solidFill>
                  </a:rPr>
                  <a:t>v</a:t>
                </a:r>
                <a:r>
                  <a:rPr lang="en-AU" sz="2000" dirty="0">
                    <a:solidFill>
                      <a:srgbClr val="FF0000"/>
                    </a:solidFill>
                  </a:rPr>
                  <a:t> = -24.41 N</a:t>
                </a:r>
              </a:p>
              <a:p>
                <a:pPr algn="ctr"/>
                <a:endParaRPr lang="en-AU" sz="2000" dirty="0">
                  <a:solidFill>
                    <a:srgbClr val="FF0000"/>
                  </a:solidFill>
                </a:endParaRPr>
              </a:p>
              <a:p>
                <a:pPr algn="ctr"/>
                <a:r>
                  <a:rPr lang="en-AU" sz="2000" dirty="0">
                    <a:solidFill>
                      <a:srgbClr val="FF0000"/>
                    </a:solidFill>
                  </a:rPr>
                  <a:t>R</a:t>
                </a:r>
                <a:r>
                  <a:rPr lang="en-AU" sz="2000" baseline="-25000" dirty="0">
                    <a:solidFill>
                      <a:srgbClr val="FF0000"/>
                    </a:solidFill>
                  </a:rPr>
                  <a:t>V</a:t>
                </a:r>
                <a:r>
                  <a:rPr lang="en-AU" sz="2000" dirty="0">
                    <a:solidFill>
                      <a:srgbClr val="FF0000"/>
                    </a:solidFill>
                  </a:rPr>
                  <a:t> is actually acting up.</a:t>
                </a:r>
              </a:p>
            </p:txBody>
          </p:sp>
        </mc:Choice>
        <mc:Fallback>
          <p:sp>
            <p:nvSpPr>
              <p:cNvPr id="23" name="TextBox 22">
                <a:extLst>
                  <a:ext uri="{FF2B5EF4-FFF2-40B4-BE49-F238E27FC236}">
                    <a16:creationId xmlns:a16="http://schemas.microsoft.com/office/drawing/2014/main" id="{2EC700D4-4584-415D-CFEB-9577417E86BC}"/>
                  </a:ext>
                </a:extLst>
              </p:cNvPr>
              <p:cNvSpPr txBox="1">
                <a:spLocks noRot="1" noChangeAspect="1" noMove="1" noResize="1" noEditPoints="1" noAdjustHandles="1" noChangeArrowheads="1" noChangeShapeType="1" noTextEdit="1"/>
              </p:cNvSpPr>
              <p:nvPr/>
            </p:nvSpPr>
            <p:spPr>
              <a:xfrm>
                <a:off x="3764873" y="2773803"/>
                <a:ext cx="3969078" cy="2424318"/>
              </a:xfrm>
              <a:prstGeom prst="rect">
                <a:avLst/>
              </a:prstGeom>
              <a:blipFill>
                <a:blip r:embed="rId4"/>
                <a:stretch>
                  <a:fillRect l="-3687" t="-3266" b="-5528"/>
                </a:stretch>
              </a:blipFill>
              <a:ln>
                <a:noFill/>
              </a:ln>
            </p:spPr>
            <p:txBody>
              <a:bodyPr/>
              <a:lstStyle/>
              <a:p>
                <a:r>
                  <a:rPr lang="en-AU">
                    <a:noFill/>
                  </a:rPr>
                  <a:t> </a:t>
                </a:r>
              </a:p>
            </p:txBody>
          </p:sp>
        </mc:Fallback>
      </mc:AlternateContent>
      <p:sp>
        <p:nvSpPr>
          <p:cNvPr id="24" name="Text Placeholder 3">
            <a:extLst>
              <a:ext uri="{FF2B5EF4-FFF2-40B4-BE49-F238E27FC236}">
                <a16:creationId xmlns:a16="http://schemas.microsoft.com/office/drawing/2014/main" id="{DCAE90AA-BA8F-0EB0-0741-152C6EA43B3E}"/>
              </a:ext>
            </a:extLst>
          </p:cNvPr>
          <p:cNvSpPr txBox="1">
            <a:spLocks/>
          </p:cNvSpPr>
          <p:nvPr/>
        </p:nvSpPr>
        <p:spPr>
          <a:xfrm>
            <a:off x="214654" y="4186249"/>
            <a:ext cx="3413917"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AU" sz="2000" b="0" dirty="0"/>
              <a:t>Also solve for the reaction force the wall exerts on the bar.</a:t>
            </a:r>
            <a:endParaRPr lang="en-AU" sz="2400" b="0" dirty="0"/>
          </a:p>
        </p:txBody>
      </p:sp>
      <mc:AlternateContent xmlns:mc="http://schemas.openxmlformats.org/markup-compatibility/2006">
        <mc:Choice xmlns:a14="http://schemas.microsoft.com/office/drawing/2010/main" Requires="a14">
          <p:sp>
            <p:nvSpPr>
              <p:cNvPr id="32" name="TextBox 31">
                <a:extLst>
                  <a:ext uri="{FF2B5EF4-FFF2-40B4-BE49-F238E27FC236}">
                    <a16:creationId xmlns:a16="http://schemas.microsoft.com/office/drawing/2014/main" id="{87BD2BD9-F78B-C872-2804-206DE6CBFF95}"/>
                  </a:ext>
                </a:extLst>
              </p:cNvPr>
              <p:cNvSpPr txBox="1"/>
              <p:nvPr/>
            </p:nvSpPr>
            <p:spPr>
              <a:xfrm>
                <a:off x="7733951" y="2773803"/>
                <a:ext cx="3969078" cy="1531766"/>
              </a:xfrm>
              <a:prstGeom prst="rect">
                <a:avLst/>
              </a:prstGeom>
              <a:noFill/>
              <a:ln>
                <a:noFill/>
              </a:ln>
            </p:spPr>
            <p:txBody>
              <a:bodyPr wrap="square" lIns="0" tIns="0" rIns="0" bIns="0" rtlCol="0">
                <a:spAutoFit/>
              </a:bodyPr>
              <a:lstStyle/>
              <a:p>
                <a:pPr algn="ctr"/>
                <a14:m>
                  <m:oMathPara xmlns:m="http://schemas.openxmlformats.org/officeDocument/2006/math">
                    <m:oMathParaPr>
                      <m:jc m:val="centerGroup"/>
                    </m:oMathParaPr>
                    <m:oMath xmlns:m="http://schemas.openxmlformats.org/officeDocument/2006/math">
                      <m:r>
                        <m:rPr>
                          <m:sty m:val="p"/>
                        </m:rPr>
                        <a:rPr lang="el-GR" sz="2000" b="0" i="1" smtClean="0">
                          <a:solidFill>
                            <a:srgbClr val="FF0000"/>
                          </a:solidFill>
                          <a:latin typeface="Cambria Math" panose="02040503050406030204" pitchFamily="18" charset="0"/>
                          <a:ea typeface="Cambria Math" panose="02040503050406030204" pitchFamily="18" charset="0"/>
                        </a:rPr>
                        <m:t>Σ</m:t>
                      </m:r>
                      <m:r>
                        <a:rPr lang="en-AU" sz="2000" b="0" i="1" smtClean="0">
                          <a:solidFill>
                            <a:srgbClr val="FF0000"/>
                          </a:solidFill>
                          <a:latin typeface="Cambria Math" panose="02040503050406030204" pitchFamily="18" charset="0"/>
                          <a:ea typeface="Cambria Math" panose="02040503050406030204" pitchFamily="18" charset="0"/>
                        </a:rPr>
                        <m:t>𝐹</m:t>
                      </m:r>
                      <m:r>
                        <a:rPr lang="en-AU" sz="2000" b="0" i="1" baseline="-25000" smtClean="0">
                          <a:solidFill>
                            <a:srgbClr val="FF0000"/>
                          </a:solidFill>
                          <a:latin typeface="Cambria Math" panose="02040503050406030204" pitchFamily="18" charset="0"/>
                          <a:ea typeface="Cambria Math" panose="02040503050406030204" pitchFamily="18" charset="0"/>
                        </a:rPr>
                        <m:t>𝑙𝑒𝑓𝑡</m:t>
                      </m:r>
                      <m:r>
                        <a:rPr lang="en-AU" sz="2000" b="0" i="1" smtClean="0">
                          <a:solidFill>
                            <a:srgbClr val="FF0000"/>
                          </a:solidFill>
                          <a:latin typeface="Cambria Math" panose="02040503050406030204" pitchFamily="18" charset="0"/>
                          <a:ea typeface="Cambria Math" panose="02040503050406030204" pitchFamily="18" charset="0"/>
                        </a:rPr>
                        <m:t>=</m:t>
                      </m:r>
                      <m:r>
                        <m:rPr>
                          <m:sty m:val="p"/>
                        </m:rPr>
                        <a:rPr lang="el-GR" sz="2000" i="1">
                          <a:solidFill>
                            <a:srgbClr val="FF0000"/>
                          </a:solidFill>
                          <a:latin typeface="Cambria Math" panose="02040503050406030204" pitchFamily="18" charset="0"/>
                          <a:ea typeface="Cambria Math" panose="02040503050406030204" pitchFamily="18" charset="0"/>
                        </a:rPr>
                        <m:t>Σ</m:t>
                      </m:r>
                      <m:r>
                        <a:rPr lang="en-AU" sz="2000" b="0" i="1" smtClean="0">
                          <a:solidFill>
                            <a:srgbClr val="FF0000"/>
                          </a:solidFill>
                          <a:latin typeface="Cambria Math" panose="02040503050406030204" pitchFamily="18" charset="0"/>
                          <a:ea typeface="Cambria Math" panose="02040503050406030204" pitchFamily="18" charset="0"/>
                        </a:rPr>
                        <m:t>𝐹</m:t>
                      </m:r>
                      <m:r>
                        <a:rPr lang="en-AU" sz="2000" b="0" i="1" baseline="-25000" smtClean="0">
                          <a:solidFill>
                            <a:srgbClr val="FF0000"/>
                          </a:solidFill>
                          <a:latin typeface="Cambria Math" panose="02040503050406030204" pitchFamily="18" charset="0"/>
                          <a:ea typeface="Cambria Math" panose="02040503050406030204" pitchFamily="18" charset="0"/>
                        </a:rPr>
                        <m:t>𝑟𝑖𝑔h𝑡</m:t>
                      </m:r>
                      <m:r>
                        <a:rPr lang="en-AU" sz="2000" b="0" i="1" baseline="-25000" smtClean="0">
                          <a:solidFill>
                            <a:srgbClr val="FF0000"/>
                          </a:solidFill>
                          <a:latin typeface="Cambria Math" panose="02040503050406030204" pitchFamily="18" charset="0"/>
                          <a:ea typeface="Cambria Math" panose="02040503050406030204" pitchFamily="18" charset="0"/>
                        </a:rPr>
                        <m:t> </m:t>
                      </m:r>
                    </m:oMath>
                  </m:oMathPara>
                </a14:m>
                <a:endParaRPr lang="en-AU" sz="2000" b="0" baseline="-25000" dirty="0">
                  <a:solidFill>
                    <a:srgbClr val="FF0000"/>
                  </a:solidFill>
                  <a:ea typeface="Cambria Math" panose="02040503050406030204" pitchFamily="18" charset="0"/>
                </a:endParaRPr>
              </a:p>
              <a:p>
                <a:pPr algn="ctr"/>
                <a:r>
                  <a:rPr lang="en-AU" sz="2000" dirty="0">
                    <a:solidFill>
                      <a:srgbClr val="FF0000"/>
                    </a:solidFill>
                  </a:rPr>
                  <a:t>T</a:t>
                </a:r>
                <a:r>
                  <a:rPr lang="en-AU" sz="2000" baseline="-25000" dirty="0">
                    <a:solidFill>
                      <a:srgbClr val="FF0000"/>
                    </a:solidFill>
                  </a:rPr>
                  <a:t>H</a:t>
                </a:r>
                <a:r>
                  <a:rPr lang="en-AU" sz="2000" dirty="0">
                    <a:solidFill>
                      <a:srgbClr val="FF0000"/>
                    </a:solidFill>
                  </a:rPr>
                  <a:t> = R</a:t>
                </a:r>
                <a:r>
                  <a:rPr lang="en-AU" sz="2000" baseline="-25000" dirty="0">
                    <a:solidFill>
                      <a:srgbClr val="FF0000"/>
                    </a:solidFill>
                  </a:rPr>
                  <a:t>H</a:t>
                </a:r>
                <a:r>
                  <a:rPr lang="en-AU" sz="2000" dirty="0">
                    <a:solidFill>
                      <a:srgbClr val="FF0000"/>
                    </a:solidFill>
                  </a:rPr>
                  <a:t> </a:t>
                </a:r>
              </a:p>
              <a:p>
                <a:pPr algn="ctr"/>
                <a:r>
                  <a:rPr lang="en-AU" sz="2000" dirty="0">
                    <a:solidFill>
                      <a:srgbClr val="FF0000"/>
                    </a:solidFill>
                  </a:rPr>
                  <a:t>323*cos(55) = R</a:t>
                </a:r>
                <a:r>
                  <a:rPr lang="en-AU" sz="2000" baseline="-25000" dirty="0">
                    <a:solidFill>
                      <a:srgbClr val="FF0000"/>
                    </a:solidFill>
                  </a:rPr>
                  <a:t>H</a:t>
                </a:r>
                <a:r>
                  <a:rPr lang="en-AU" sz="2000" dirty="0">
                    <a:solidFill>
                      <a:srgbClr val="FF0000"/>
                    </a:solidFill>
                  </a:rPr>
                  <a:t> </a:t>
                </a:r>
              </a:p>
              <a:p>
                <a:pPr algn="ctr"/>
                <a:r>
                  <a:rPr lang="en-AU" sz="2000" dirty="0">
                    <a:solidFill>
                      <a:srgbClr val="FF0000"/>
                    </a:solidFill>
                  </a:rPr>
                  <a:t>185.26 = R</a:t>
                </a:r>
                <a:r>
                  <a:rPr lang="en-AU" sz="2000" baseline="-25000" dirty="0">
                    <a:solidFill>
                      <a:srgbClr val="FF0000"/>
                    </a:solidFill>
                  </a:rPr>
                  <a:t>H</a:t>
                </a:r>
                <a:r>
                  <a:rPr lang="en-AU" sz="2000" dirty="0">
                    <a:solidFill>
                      <a:srgbClr val="FF0000"/>
                    </a:solidFill>
                  </a:rPr>
                  <a:t> </a:t>
                </a:r>
              </a:p>
              <a:p>
                <a:pPr algn="ctr"/>
                <a:r>
                  <a:rPr lang="en-AU" sz="2000" dirty="0">
                    <a:solidFill>
                      <a:srgbClr val="FF0000"/>
                    </a:solidFill>
                  </a:rPr>
                  <a:t>R</a:t>
                </a:r>
                <a:r>
                  <a:rPr lang="en-AU" sz="2000" baseline="-25000" dirty="0">
                    <a:solidFill>
                      <a:srgbClr val="FF0000"/>
                    </a:solidFill>
                  </a:rPr>
                  <a:t>H</a:t>
                </a:r>
                <a:r>
                  <a:rPr lang="en-AU" sz="2000" dirty="0">
                    <a:solidFill>
                      <a:srgbClr val="FF0000"/>
                    </a:solidFill>
                  </a:rPr>
                  <a:t> is acting to the right</a:t>
                </a:r>
              </a:p>
            </p:txBody>
          </p:sp>
        </mc:Choice>
        <mc:Fallback>
          <p:sp>
            <p:nvSpPr>
              <p:cNvPr id="32" name="TextBox 31">
                <a:extLst>
                  <a:ext uri="{FF2B5EF4-FFF2-40B4-BE49-F238E27FC236}">
                    <a16:creationId xmlns:a16="http://schemas.microsoft.com/office/drawing/2014/main" id="{87BD2BD9-F78B-C872-2804-206DE6CBFF95}"/>
                  </a:ext>
                </a:extLst>
              </p:cNvPr>
              <p:cNvSpPr txBox="1">
                <a:spLocks noRot="1" noChangeAspect="1" noMove="1" noResize="1" noEditPoints="1" noAdjustHandles="1" noChangeArrowheads="1" noChangeShapeType="1" noTextEdit="1"/>
              </p:cNvSpPr>
              <p:nvPr/>
            </p:nvSpPr>
            <p:spPr>
              <a:xfrm>
                <a:off x="7733951" y="2773803"/>
                <a:ext cx="3969078" cy="1531766"/>
              </a:xfrm>
              <a:prstGeom prst="rect">
                <a:avLst/>
              </a:prstGeom>
              <a:blipFill>
                <a:blip r:embed="rId5"/>
                <a:stretch>
                  <a:fillRect b="-9562"/>
                </a:stretch>
              </a:blipFill>
              <a:ln>
                <a:noFill/>
              </a:ln>
            </p:spPr>
            <p:txBody>
              <a:bodyPr/>
              <a:lstStyle/>
              <a:p>
                <a:r>
                  <a:rPr lang="en-AU">
                    <a:noFill/>
                  </a:rPr>
                  <a:t> </a:t>
                </a:r>
              </a:p>
            </p:txBody>
          </p:sp>
        </mc:Fallback>
      </mc:AlternateContent>
      <p:sp>
        <p:nvSpPr>
          <p:cNvPr id="33" name="Rectangle 32">
            <a:extLst>
              <a:ext uri="{FF2B5EF4-FFF2-40B4-BE49-F238E27FC236}">
                <a16:creationId xmlns:a16="http://schemas.microsoft.com/office/drawing/2014/main" id="{2BD1F7E0-DB22-50D8-A908-9312A21F20F7}"/>
              </a:ext>
            </a:extLst>
          </p:cNvPr>
          <p:cNvSpPr/>
          <p:nvPr/>
        </p:nvSpPr>
        <p:spPr>
          <a:xfrm>
            <a:off x="1921612" y="5558099"/>
            <a:ext cx="8166992" cy="8855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AU" dirty="0">
                <a:solidFill>
                  <a:schemeClr val="tx1"/>
                </a:solidFill>
              </a:rPr>
              <a:t>Use trigonometry to solve for R:</a:t>
            </a:r>
          </a:p>
          <a:p>
            <a:r>
              <a:rPr lang="en-AU" dirty="0">
                <a:solidFill>
                  <a:schemeClr val="tx1"/>
                </a:solidFill>
              </a:rPr>
              <a:t>R = sqrt(R</a:t>
            </a:r>
            <a:r>
              <a:rPr lang="en-AU" baseline="-25000" dirty="0">
                <a:solidFill>
                  <a:schemeClr val="tx1"/>
                </a:solidFill>
              </a:rPr>
              <a:t>V</a:t>
            </a:r>
            <a:r>
              <a:rPr lang="en-AU" baseline="30000" dirty="0">
                <a:solidFill>
                  <a:schemeClr val="tx1"/>
                </a:solidFill>
              </a:rPr>
              <a:t>2</a:t>
            </a:r>
            <a:r>
              <a:rPr lang="en-AU" dirty="0">
                <a:solidFill>
                  <a:schemeClr val="tx1"/>
                </a:solidFill>
              </a:rPr>
              <a:t> + R</a:t>
            </a:r>
            <a:r>
              <a:rPr lang="en-AU" baseline="-25000" dirty="0">
                <a:solidFill>
                  <a:schemeClr val="tx1"/>
                </a:solidFill>
              </a:rPr>
              <a:t>H</a:t>
            </a:r>
            <a:r>
              <a:rPr lang="en-AU" baseline="30000" dirty="0">
                <a:solidFill>
                  <a:schemeClr val="tx1"/>
                </a:solidFill>
              </a:rPr>
              <a:t>2</a:t>
            </a:r>
            <a:r>
              <a:rPr lang="en-AU" dirty="0">
                <a:solidFill>
                  <a:schemeClr val="tx1"/>
                </a:solidFill>
              </a:rPr>
              <a:t>) = 187 N</a:t>
            </a:r>
          </a:p>
          <a:p>
            <a:r>
              <a:rPr lang="en-AU" dirty="0">
                <a:solidFill>
                  <a:schemeClr val="tx1"/>
                </a:solidFill>
                <a:sym typeface="Symbol" panose="05050102010706020507" pitchFamily="18" charset="2"/>
              </a:rPr>
              <a:t> = tan</a:t>
            </a:r>
            <a:r>
              <a:rPr lang="en-AU" baseline="30000" dirty="0">
                <a:solidFill>
                  <a:schemeClr val="tx1"/>
                </a:solidFill>
                <a:sym typeface="Symbol" panose="05050102010706020507" pitchFamily="18" charset="2"/>
              </a:rPr>
              <a:t>-1</a:t>
            </a:r>
            <a:r>
              <a:rPr lang="en-AU" dirty="0">
                <a:solidFill>
                  <a:schemeClr val="tx1"/>
                </a:solidFill>
                <a:sym typeface="Symbol" panose="05050102010706020507" pitchFamily="18" charset="2"/>
              </a:rPr>
              <a:t> (R</a:t>
            </a:r>
            <a:r>
              <a:rPr lang="en-AU" baseline="-25000" dirty="0">
                <a:solidFill>
                  <a:schemeClr val="tx1"/>
                </a:solidFill>
                <a:sym typeface="Symbol" panose="05050102010706020507" pitchFamily="18" charset="2"/>
              </a:rPr>
              <a:t>V</a:t>
            </a:r>
            <a:r>
              <a:rPr lang="en-AU" dirty="0">
                <a:solidFill>
                  <a:schemeClr val="tx1"/>
                </a:solidFill>
                <a:sym typeface="Symbol" panose="05050102010706020507" pitchFamily="18" charset="2"/>
              </a:rPr>
              <a:t>/R</a:t>
            </a:r>
            <a:r>
              <a:rPr lang="en-AU" baseline="-25000" dirty="0">
                <a:solidFill>
                  <a:schemeClr val="tx1"/>
                </a:solidFill>
                <a:sym typeface="Symbol" panose="05050102010706020507" pitchFamily="18" charset="2"/>
              </a:rPr>
              <a:t>H</a:t>
            </a:r>
            <a:r>
              <a:rPr lang="en-AU" dirty="0">
                <a:solidFill>
                  <a:schemeClr val="tx1"/>
                </a:solidFill>
                <a:sym typeface="Symbol" panose="05050102010706020507" pitchFamily="18" charset="2"/>
              </a:rPr>
              <a:t>) = 7.5</a:t>
            </a:r>
            <a:r>
              <a:rPr lang="en-AU" baseline="30000" dirty="0">
                <a:solidFill>
                  <a:schemeClr val="tx1"/>
                </a:solidFill>
                <a:sym typeface="Symbol" panose="05050102010706020507" pitchFamily="18" charset="2"/>
              </a:rPr>
              <a:t>o</a:t>
            </a:r>
            <a:r>
              <a:rPr lang="en-AU" dirty="0">
                <a:solidFill>
                  <a:schemeClr val="tx1"/>
                </a:solidFill>
                <a:sym typeface="Symbol" panose="05050102010706020507" pitchFamily="18" charset="2"/>
              </a:rPr>
              <a:t>		</a:t>
            </a:r>
            <a:r>
              <a:rPr lang="en-AU" b="1" dirty="0">
                <a:solidFill>
                  <a:schemeClr val="tx1"/>
                </a:solidFill>
                <a:sym typeface="Symbol" panose="05050102010706020507" pitchFamily="18" charset="2"/>
              </a:rPr>
              <a:t>R is 187 N at 7.5</a:t>
            </a:r>
            <a:r>
              <a:rPr lang="en-AU" b="1" baseline="30000" dirty="0">
                <a:solidFill>
                  <a:schemeClr val="tx1"/>
                </a:solidFill>
                <a:sym typeface="Symbol" panose="05050102010706020507" pitchFamily="18" charset="2"/>
              </a:rPr>
              <a:t>o</a:t>
            </a:r>
            <a:r>
              <a:rPr lang="en-AU" b="1" dirty="0">
                <a:solidFill>
                  <a:schemeClr val="tx1"/>
                </a:solidFill>
                <a:sym typeface="Symbol" panose="05050102010706020507" pitchFamily="18" charset="2"/>
              </a:rPr>
              <a:t> to the horizontal</a:t>
            </a:r>
            <a:endParaRPr lang="en-AU" b="1" dirty="0">
              <a:solidFill>
                <a:schemeClr val="tx1"/>
              </a:solidFill>
            </a:endParaRPr>
          </a:p>
        </p:txBody>
      </p:sp>
      <p:grpSp>
        <p:nvGrpSpPr>
          <p:cNvPr id="36" name="Group 35">
            <a:extLst>
              <a:ext uri="{FF2B5EF4-FFF2-40B4-BE49-F238E27FC236}">
                <a16:creationId xmlns:a16="http://schemas.microsoft.com/office/drawing/2014/main" id="{F866EA9A-5BC2-5A5D-1AE8-770E0F7E2827}"/>
              </a:ext>
            </a:extLst>
          </p:cNvPr>
          <p:cNvGrpSpPr/>
          <p:nvPr/>
        </p:nvGrpSpPr>
        <p:grpSpPr>
          <a:xfrm>
            <a:off x="8383416" y="4584705"/>
            <a:ext cx="3319612" cy="973394"/>
            <a:chOff x="8383416" y="4584705"/>
            <a:chExt cx="3319612" cy="973394"/>
          </a:xfrm>
        </p:grpSpPr>
        <p:sp>
          <p:nvSpPr>
            <p:cNvPr id="25" name="Right Triangle 24">
              <a:extLst>
                <a:ext uri="{FF2B5EF4-FFF2-40B4-BE49-F238E27FC236}">
                  <a16:creationId xmlns:a16="http://schemas.microsoft.com/office/drawing/2014/main" id="{3B430D11-91DA-544A-BD9F-FD4277659ADE}"/>
                </a:ext>
              </a:extLst>
            </p:cNvPr>
            <p:cNvSpPr/>
            <p:nvPr/>
          </p:nvSpPr>
          <p:spPr>
            <a:xfrm rot="16200000">
              <a:off x="9542695" y="3628627"/>
              <a:ext cx="351589" cy="2670147"/>
            </a:xfrm>
            <a:prstGeom prst="r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 name="Rectangle 25">
              <a:extLst>
                <a:ext uri="{FF2B5EF4-FFF2-40B4-BE49-F238E27FC236}">
                  <a16:creationId xmlns:a16="http://schemas.microsoft.com/office/drawing/2014/main" id="{CB0A56E0-57DE-40AB-DD7E-4F7543653447}"/>
                </a:ext>
              </a:extLst>
            </p:cNvPr>
            <p:cNvSpPr/>
            <p:nvPr/>
          </p:nvSpPr>
          <p:spPr>
            <a:xfrm>
              <a:off x="9348376" y="4584705"/>
              <a:ext cx="740228" cy="406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a:solidFill>
                    <a:schemeClr val="tx1"/>
                  </a:solidFill>
                </a:rPr>
                <a:t>R</a:t>
              </a:r>
            </a:p>
          </p:txBody>
        </p:sp>
        <p:sp>
          <p:nvSpPr>
            <p:cNvPr id="27" name="Rectangle 26">
              <a:extLst>
                <a:ext uri="{FF2B5EF4-FFF2-40B4-BE49-F238E27FC236}">
                  <a16:creationId xmlns:a16="http://schemas.microsoft.com/office/drawing/2014/main" id="{1191F56E-7D3D-031F-8D0E-F3BCBD689089}"/>
                </a:ext>
              </a:extLst>
            </p:cNvPr>
            <p:cNvSpPr/>
            <p:nvPr/>
          </p:nvSpPr>
          <p:spPr>
            <a:xfrm>
              <a:off x="10962800" y="4708986"/>
              <a:ext cx="740228" cy="406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err="1">
                  <a:solidFill>
                    <a:schemeClr val="tx1"/>
                  </a:solidFill>
                </a:rPr>
                <a:t>R</a:t>
              </a:r>
              <a:r>
                <a:rPr lang="en-AU" baseline="-25000" dirty="0" err="1">
                  <a:solidFill>
                    <a:schemeClr val="tx1"/>
                  </a:solidFill>
                </a:rPr>
                <a:t>v</a:t>
              </a:r>
              <a:endParaRPr lang="en-AU" dirty="0">
                <a:solidFill>
                  <a:schemeClr val="tx1"/>
                </a:solidFill>
              </a:endParaRPr>
            </a:p>
          </p:txBody>
        </p:sp>
        <p:sp>
          <p:nvSpPr>
            <p:cNvPr id="28" name="Rectangle 27">
              <a:extLst>
                <a:ext uri="{FF2B5EF4-FFF2-40B4-BE49-F238E27FC236}">
                  <a16:creationId xmlns:a16="http://schemas.microsoft.com/office/drawing/2014/main" id="{D6D16ECD-B347-36A8-2A09-0147E3FDD3D8}"/>
                </a:ext>
              </a:extLst>
            </p:cNvPr>
            <p:cNvSpPr/>
            <p:nvPr/>
          </p:nvSpPr>
          <p:spPr>
            <a:xfrm>
              <a:off x="9718490" y="5151699"/>
              <a:ext cx="740228" cy="406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a:solidFill>
                    <a:schemeClr val="tx1"/>
                  </a:solidFill>
                </a:rPr>
                <a:t>R</a:t>
              </a:r>
              <a:r>
                <a:rPr lang="en-AU" baseline="-25000" dirty="0">
                  <a:solidFill>
                    <a:schemeClr val="tx1"/>
                  </a:solidFill>
                </a:rPr>
                <a:t>H</a:t>
              </a:r>
              <a:endParaRPr lang="en-AU" dirty="0">
                <a:solidFill>
                  <a:schemeClr val="tx1"/>
                </a:solidFill>
              </a:endParaRPr>
            </a:p>
          </p:txBody>
        </p:sp>
        <p:cxnSp>
          <p:nvCxnSpPr>
            <p:cNvPr id="35" name="Straight Arrow Connector 34">
              <a:extLst>
                <a:ext uri="{FF2B5EF4-FFF2-40B4-BE49-F238E27FC236}">
                  <a16:creationId xmlns:a16="http://schemas.microsoft.com/office/drawing/2014/main" id="{1DC2CD8F-B859-3CF9-BB51-95DB35A210C0}"/>
                </a:ext>
              </a:extLst>
            </p:cNvPr>
            <p:cNvCxnSpPr>
              <a:stCxn id="25" idx="0"/>
              <a:endCxn id="25" idx="4"/>
            </p:cNvCxnSpPr>
            <p:nvPr/>
          </p:nvCxnSpPr>
          <p:spPr>
            <a:xfrm flipV="1">
              <a:off x="8383416" y="4787906"/>
              <a:ext cx="2670147" cy="351589"/>
            </a:xfrm>
            <a:prstGeom prst="straightConnector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993081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32" grpId="0"/>
      <p:bldP spid="3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Static Equilibrium</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90507"/>
            <a:ext cx="3779478" cy="319722"/>
          </a:xfrm>
        </p:spPr>
        <p:txBody>
          <a:bodyPr/>
          <a:lstStyle/>
          <a:p>
            <a:r>
              <a:rPr lang="en-AU" dirty="0"/>
              <a:t>You Do</a:t>
            </a:r>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grpSp>
        <p:nvGrpSpPr>
          <p:cNvPr id="9" name="Group 8">
            <a:extLst>
              <a:ext uri="{FF2B5EF4-FFF2-40B4-BE49-F238E27FC236}">
                <a16:creationId xmlns:a16="http://schemas.microsoft.com/office/drawing/2014/main" id="{7B88516C-A5F8-2005-5DE7-C6C3E97A57FE}"/>
              </a:ext>
            </a:extLst>
          </p:cNvPr>
          <p:cNvGrpSpPr/>
          <p:nvPr/>
        </p:nvGrpSpPr>
        <p:grpSpPr>
          <a:xfrm>
            <a:off x="295274" y="965903"/>
            <a:ext cx="9874527" cy="2421314"/>
            <a:chOff x="295275" y="1007686"/>
            <a:chExt cx="7105650" cy="1742363"/>
          </a:xfrm>
        </p:grpSpPr>
        <p:pic>
          <p:nvPicPr>
            <p:cNvPr id="5" name="Picture 4">
              <a:extLst>
                <a:ext uri="{FF2B5EF4-FFF2-40B4-BE49-F238E27FC236}">
                  <a16:creationId xmlns:a16="http://schemas.microsoft.com/office/drawing/2014/main" id="{9CA31BC9-7BC8-1A03-D107-77E150BA19BF}"/>
                </a:ext>
              </a:extLst>
            </p:cNvPr>
            <p:cNvPicPr>
              <a:picLocks noChangeAspect="1"/>
            </p:cNvPicPr>
            <p:nvPr/>
          </p:nvPicPr>
          <p:blipFill rotWithShape="1">
            <a:blip r:embed="rId3"/>
            <a:srcRect b="44292"/>
            <a:stretch/>
          </p:blipFill>
          <p:spPr>
            <a:xfrm>
              <a:off x="295275" y="1007686"/>
              <a:ext cx="7105650" cy="1644906"/>
            </a:xfrm>
            <a:prstGeom prst="rect">
              <a:avLst/>
            </a:prstGeom>
          </p:spPr>
        </p:pic>
        <p:sp>
          <p:nvSpPr>
            <p:cNvPr id="8" name="Rectangle 7">
              <a:extLst>
                <a:ext uri="{FF2B5EF4-FFF2-40B4-BE49-F238E27FC236}">
                  <a16:creationId xmlns:a16="http://schemas.microsoft.com/office/drawing/2014/main" id="{F2D66D06-E7E4-BE85-D55F-7BB6EE532898}"/>
                </a:ext>
              </a:extLst>
            </p:cNvPr>
            <p:cNvSpPr/>
            <p:nvPr/>
          </p:nvSpPr>
          <p:spPr>
            <a:xfrm>
              <a:off x="4876800" y="1893248"/>
              <a:ext cx="2351314" cy="8568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pic>
        <p:nvPicPr>
          <p:cNvPr id="18" name="Picture 17">
            <a:extLst>
              <a:ext uri="{FF2B5EF4-FFF2-40B4-BE49-F238E27FC236}">
                <a16:creationId xmlns:a16="http://schemas.microsoft.com/office/drawing/2014/main" id="{12E16BEE-AB19-789B-94AF-3D8FC0F0EF0A}"/>
              </a:ext>
            </a:extLst>
          </p:cNvPr>
          <p:cNvPicPr>
            <a:picLocks noChangeAspect="1"/>
          </p:cNvPicPr>
          <p:nvPr/>
        </p:nvPicPr>
        <p:blipFill>
          <a:blip r:embed="rId4"/>
          <a:stretch>
            <a:fillRect/>
          </a:stretch>
        </p:blipFill>
        <p:spPr>
          <a:xfrm>
            <a:off x="7908618" y="2310384"/>
            <a:ext cx="4042065" cy="3464627"/>
          </a:xfrm>
          <a:prstGeom prst="rect">
            <a:avLst/>
          </a:prstGeom>
        </p:spPr>
      </p:pic>
    </p:spTree>
    <p:extLst>
      <p:ext uri="{BB962C8B-B14F-4D97-AF65-F5344CB8AC3E}">
        <p14:creationId xmlns:p14="http://schemas.microsoft.com/office/powerpoint/2010/main" val="3278552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Static Equilibrium</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90507"/>
            <a:ext cx="3779478" cy="319722"/>
          </a:xfrm>
        </p:spPr>
        <p:txBody>
          <a:bodyPr/>
          <a:lstStyle/>
          <a:p>
            <a:r>
              <a:rPr lang="en-AU" dirty="0"/>
              <a:t>You Do</a:t>
            </a:r>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pic>
        <p:nvPicPr>
          <p:cNvPr id="13" name="Picture 12">
            <a:extLst>
              <a:ext uri="{FF2B5EF4-FFF2-40B4-BE49-F238E27FC236}">
                <a16:creationId xmlns:a16="http://schemas.microsoft.com/office/drawing/2014/main" id="{CFD8D7D6-3589-E408-D61A-B62DAFB266C4}"/>
              </a:ext>
            </a:extLst>
          </p:cNvPr>
          <p:cNvPicPr>
            <a:picLocks noChangeAspect="1"/>
          </p:cNvPicPr>
          <p:nvPr/>
        </p:nvPicPr>
        <p:blipFill rotWithShape="1">
          <a:blip r:embed="rId3"/>
          <a:srcRect t="3486"/>
          <a:stretch/>
        </p:blipFill>
        <p:spPr>
          <a:xfrm>
            <a:off x="295274" y="965903"/>
            <a:ext cx="6588125" cy="5577696"/>
          </a:xfrm>
          <a:prstGeom prst="rect">
            <a:avLst/>
          </a:prstGeom>
        </p:spPr>
      </p:pic>
    </p:spTree>
    <p:extLst>
      <p:ext uri="{BB962C8B-B14F-4D97-AF65-F5344CB8AC3E}">
        <p14:creationId xmlns:p14="http://schemas.microsoft.com/office/powerpoint/2010/main" val="19432546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Static Equilibrium</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90507"/>
            <a:ext cx="3779478" cy="319722"/>
          </a:xfrm>
        </p:spPr>
        <p:txBody>
          <a:bodyPr/>
          <a:lstStyle/>
          <a:p>
            <a:r>
              <a:rPr lang="en-AU" dirty="0"/>
              <a:t>You Do</a:t>
            </a:r>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pic>
        <p:nvPicPr>
          <p:cNvPr id="5" name="Picture 4">
            <a:extLst>
              <a:ext uri="{FF2B5EF4-FFF2-40B4-BE49-F238E27FC236}">
                <a16:creationId xmlns:a16="http://schemas.microsoft.com/office/drawing/2014/main" id="{FD95D9CD-4533-5D96-9173-59321CC0EB3C}"/>
              </a:ext>
            </a:extLst>
          </p:cNvPr>
          <p:cNvPicPr>
            <a:picLocks noChangeAspect="1"/>
          </p:cNvPicPr>
          <p:nvPr/>
        </p:nvPicPr>
        <p:blipFill rotWithShape="1">
          <a:blip r:embed="rId3"/>
          <a:srcRect b="9437"/>
          <a:stretch/>
        </p:blipFill>
        <p:spPr>
          <a:xfrm>
            <a:off x="295275" y="1007686"/>
            <a:ext cx="7058025" cy="5532522"/>
          </a:xfrm>
          <a:prstGeom prst="rect">
            <a:avLst/>
          </a:prstGeom>
        </p:spPr>
      </p:pic>
      <p:grpSp>
        <p:nvGrpSpPr>
          <p:cNvPr id="12" name="Group 11">
            <a:extLst>
              <a:ext uri="{FF2B5EF4-FFF2-40B4-BE49-F238E27FC236}">
                <a16:creationId xmlns:a16="http://schemas.microsoft.com/office/drawing/2014/main" id="{DB9E6D44-C7FA-9B07-1340-CB0E5E0F1ABE}"/>
              </a:ext>
            </a:extLst>
          </p:cNvPr>
          <p:cNvGrpSpPr/>
          <p:nvPr/>
        </p:nvGrpSpPr>
        <p:grpSpPr>
          <a:xfrm>
            <a:off x="5282943" y="3379530"/>
            <a:ext cx="6911071" cy="1535754"/>
            <a:chOff x="6381750" y="3428999"/>
            <a:chExt cx="5600700" cy="1244568"/>
          </a:xfrm>
        </p:grpSpPr>
        <p:pic>
          <p:nvPicPr>
            <p:cNvPr id="7" name="Picture 6">
              <a:extLst>
                <a:ext uri="{FF2B5EF4-FFF2-40B4-BE49-F238E27FC236}">
                  <a16:creationId xmlns:a16="http://schemas.microsoft.com/office/drawing/2014/main" id="{E23635DF-1D82-CA12-5A85-E5F8CAD296EF}"/>
                </a:ext>
              </a:extLst>
            </p:cNvPr>
            <p:cNvPicPr>
              <a:picLocks noChangeAspect="1"/>
            </p:cNvPicPr>
            <p:nvPr/>
          </p:nvPicPr>
          <p:blipFill>
            <a:blip r:embed="rId4"/>
            <a:stretch>
              <a:fillRect/>
            </a:stretch>
          </p:blipFill>
          <p:spPr>
            <a:xfrm>
              <a:off x="6467475" y="3846856"/>
              <a:ext cx="5429250" cy="409575"/>
            </a:xfrm>
            <a:prstGeom prst="rect">
              <a:avLst/>
            </a:prstGeom>
          </p:spPr>
        </p:pic>
        <p:pic>
          <p:nvPicPr>
            <p:cNvPr id="9" name="Picture 8">
              <a:extLst>
                <a:ext uri="{FF2B5EF4-FFF2-40B4-BE49-F238E27FC236}">
                  <a16:creationId xmlns:a16="http://schemas.microsoft.com/office/drawing/2014/main" id="{E4227146-AF35-6BF4-0652-9A0C2A7D31DD}"/>
                </a:ext>
              </a:extLst>
            </p:cNvPr>
            <p:cNvPicPr>
              <a:picLocks noChangeAspect="1"/>
            </p:cNvPicPr>
            <p:nvPr/>
          </p:nvPicPr>
          <p:blipFill>
            <a:blip r:embed="rId5"/>
            <a:stretch>
              <a:fillRect/>
            </a:stretch>
          </p:blipFill>
          <p:spPr>
            <a:xfrm>
              <a:off x="6467475" y="4273517"/>
              <a:ext cx="5448300" cy="400050"/>
            </a:xfrm>
            <a:prstGeom prst="rect">
              <a:avLst/>
            </a:prstGeom>
          </p:spPr>
        </p:pic>
        <p:pic>
          <p:nvPicPr>
            <p:cNvPr id="11" name="Picture 10">
              <a:extLst>
                <a:ext uri="{FF2B5EF4-FFF2-40B4-BE49-F238E27FC236}">
                  <a16:creationId xmlns:a16="http://schemas.microsoft.com/office/drawing/2014/main" id="{99B7DE9E-5234-58B8-1ED0-4439F3950798}"/>
                </a:ext>
              </a:extLst>
            </p:cNvPr>
            <p:cNvPicPr>
              <a:picLocks noChangeAspect="1"/>
            </p:cNvPicPr>
            <p:nvPr/>
          </p:nvPicPr>
          <p:blipFill>
            <a:blip r:embed="rId6"/>
            <a:stretch>
              <a:fillRect/>
            </a:stretch>
          </p:blipFill>
          <p:spPr>
            <a:xfrm>
              <a:off x="6381750" y="3428999"/>
              <a:ext cx="5600700" cy="447675"/>
            </a:xfrm>
            <a:prstGeom prst="rect">
              <a:avLst/>
            </a:prstGeom>
          </p:spPr>
        </p:pic>
      </p:grpSp>
    </p:spTree>
    <p:extLst>
      <p:ext uri="{BB962C8B-B14F-4D97-AF65-F5344CB8AC3E}">
        <p14:creationId xmlns:p14="http://schemas.microsoft.com/office/powerpoint/2010/main" val="474575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Static Equilibrium</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90507"/>
            <a:ext cx="3779478" cy="319722"/>
          </a:xfrm>
        </p:spPr>
        <p:txBody>
          <a:bodyPr/>
          <a:lstStyle/>
          <a:p>
            <a:r>
              <a:rPr lang="en-AU" dirty="0"/>
              <a:t>Answers</a:t>
            </a:r>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pic>
        <p:nvPicPr>
          <p:cNvPr id="6" name="Picture 5">
            <a:extLst>
              <a:ext uri="{FF2B5EF4-FFF2-40B4-BE49-F238E27FC236}">
                <a16:creationId xmlns:a16="http://schemas.microsoft.com/office/drawing/2014/main" id="{19246BB0-55B2-CD41-DECF-2A99DD4E5619}"/>
              </a:ext>
            </a:extLst>
          </p:cNvPr>
          <p:cNvPicPr>
            <a:picLocks noChangeAspect="1"/>
          </p:cNvPicPr>
          <p:nvPr/>
        </p:nvPicPr>
        <p:blipFill>
          <a:blip r:embed="rId3"/>
          <a:stretch>
            <a:fillRect/>
          </a:stretch>
        </p:blipFill>
        <p:spPr>
          <a:xfrm>
            <a:off x="295274" y="952499"/>
            <a:ext cx="6321425" cy="2785713"/>
          </a:xfrm>
          <a:prstGeom prst="rect">
            <a:avLst/>
          </a:prstGeom>
        </p:spPr>
      </p:pic>
      <p:pic>
        <p:nvPicPr>
          <p:cNvPr id="10" name="Picture 9">
            <a:extLst>
              <a:ext uri="{FF2B5EF4-FFF2-40B4-BE49-F238E27FC236}">
                <a16:creationId xmlns:a16="http://schemas.microsoft.com/office/drawing/2014/main" id="{3FB21868-27A0-2859-7763-07D906E02035}"/>
              </a:ext>
            </a:extLst>
          </p:cNvPr>
          <p:cNvPicPr>
            <a:picLocks noChangeAspect="1"/>
          </p:cNvPicPr>
          <p:nvPr/>
        </p:nvPicPr>
        <p:blipFill>
          <a:blip r:embed="rId4"/>
          <a:stretch>
            <a:fillRect/>
          </a:stretch>
        </p:blipFill>
        <p:spPr>
          <a:xfrm>
            <a:off x="455612" y="3962048"/>
            <a:ext cx="3189288" cy="455613"/>
          </a:xfrm>
          <a:prstGeom prst="rect">
            <a:avLst/>
          </a:prstGeom>
        </p:spPr>
      </p:pic>
      <p:pic>
        <p:nvPicPr>
          <p:cNvPr id="14" name="Picture 13">
            <a:extLst>
              <a:ext uri="{FF2B5EF4-FFF2-40B4-BE49-F238E27FC236}">
                <a16:creationId xmlns:a16="http://schemas.microsoft.com/office/drawing/2014/main" id="{A46D0C39-C17A-1C49-5399-1DD269C1A524}"/>
              </a:ext>
            </a:extLst>
          </p:cNvPr>
          <p:cNvPicPr>
            <a:picLocks noChangeAspect="1"/>
          </p:cNvPicPr>
          <p:nvPr/>
        </p:nvPicPr>
        <p:blipFill>
          <a:blip r:embed="rId5"/>
          <a:stretch>
            <a:fillRect/>
          </a:stretch>
        </p:blipFill>
        <p:spPr>
          <a:xfrm>
            <a:off x="455612" y="4616096"/>
            <a:ext cx="6321425" cy="400871"/>
          </a:xfrm>
          <a:prstGeom prst="rect">
            <a:avLst/>
          </a:prstGeom>
        </p:spPr>
      </p:pic>
    </p:spTree>
    <p:extLst>
      <p:ext uri="{BB962C8B-B14F-4D97-AF65-F5344CB8AC3E}">
        <p14:creationId xmlns:p14="http://schemas.microsoft.com/office/powerpoint/2010/main" val="13393287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Torque</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90507"/>
            <a:ext cx="3779478" cy="319722"/>
          </a:xfrm>
        </p:spPr>
        <p:txBody>
          <a:bodyPr/>
          <a:lstStyle/>
          <a:p>
            <a:r>
              <a:rPr lang="en-AU" dirty="0"/>
              <a:t>Exam advice</a:t>
            </a:r>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8" name="Text Placeholder 3">
            <a:extLst>
              <a:ext uri="{FF2B5EF4-FFF2-40B4-BE49-F238E27FC236}">
                <a16:creationId xmlns:a16="http://schemas.microsoft.com/office/drawing/2014/main" id="{7E11F69C-68AB-4B11-9E75-0C0F6E869F68}"/>
              </a:ext>
            </a:extLst>
          </p:cNvPr>
          <p:cNvSpPr txBox="1">
            <a:spLocks/>
          </p:cNvSpPr>
          <p:nvPr/>
        </p:nvSpPr>
        <p:spPr>
          <a:xfrm>
            <a:off x="295274" y="1105143"/>
            <a:ext cx="11681859"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gn="just">
              <a:buFont typeface="+mj-lt"/>
              <a:buAutoNum type="arabicPeriod"/>
            </a:pPr>
            <a:r>
              <a:rPr lang="en-AU" sz="2400" b="0" dirty="0"/>
              <a:t>Get your clockwise and anticlockwise correct.</a:t>
            </a:r>
          </a:p>
          <a:p>
            <a:pPr marL="457200" indent="-457200" algn="just">
              <a:buFont typeface="+mj-lt"/>
              <a:buAutoNum type="arabicPeriod"/>
            </a:pPr>
            <a:endParaRPr lang="en-AU" sz="2400" b="0" dirty="0"/>
          </a:p>
          <a:p>
            <a:pPr marL="457200" indent="-457200" algn="just">
              <a:buFont typeface="+mj-lt"/>
              <a:buAutoNum type="arabicPeriod"/>
            </a:pPr>
            <a:r>
              <a:rPr lang="en-AU" sz="2400" b="0" dirty="0"/>
              <a:t>You will nearly always be solving for rotational equilibrium (torque) first, then translational equilibrium. This is because any force at the pivot point will not have a torque (as r=0) and you can remove it from the torque equation</a:t>
            </a:r>
          </a:p>
          <a:p>
            <a:pPr marL="457200" indent="-457200" algn="just">
              <a:buFont typeface="+mj-lt"/>
              <a:buAutoNum type="arabicPeriod"/>
            </a:pPr>
            <a:endParaRPr lang="en-AU" sz="2400" b="0" dirty="0"/>
          </a:p>
          <a:p>
            <a:pPr marL="457200" indent="-457200" algn="just">
              <a:buFont typeface="+mj-lt"/>
              <a:buAutoNum type="arabicPeriod"/>
            </a:pPr>
            <a:r>
              <a:rPr lang="en-AU" sz="2400" b="0" dirty="0"/>
              <a:t>Be careful with the angles! Don’t be afraid to draw out your triangles. Use pencil.</a:t>
            </a:r>
          </a:p>
          <a:p>
            <a:pPr marL="457200" indent="-457200" algn="just">
              <a:buFont typeface="+mj-lt"/>
              <a:buAutoNum type="arabicPeriod"/>
            </a:pPr>
            <a:endParaRPr lang="en-AU" sz="2400" b="0" dirty="0"/>
          </a:p>
          <a:p>
            <a:pPr marL="457200" indent="-457200" algn="just">
              <a:buFont typeface="+mj-lt"/>
              <a:buAutoNum type="arabicPeriod"/>
            </a:pPr>
            <a:r>
              <a:rPr lang="en-AU" sz="2400" b="0" dirty="0"/>
              <a:t>Draw pictures. State the rules for equilibrium. Push on even if you are a bit confused – there are lots of part-marks in complex equilibrium questions!</a:t>
            </a:r>
          </a:p>
          <a:p>
            <a:pPr algn="just"/>
            <a:r>
              <a:rPr lang="en-AU" sz="2400" b="0" dirty="0"/>
              <a:t> </a:t>
            </a:r>
          </a:p>
        </p:txBody>
      </p:sp>
    </p:spTree>
    <p:extLst>
      <p:ext uri="{BB962C8B-B14F-4D97-AF65-F5344CB8AC3E}">
        <p14:creationId xmlns:p14="http://schemas.microsoft.com/office/powerpoint/2010/main" val="1190753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22FDFC4-7213-4B80-88AC-CFDA713A6754}"/>
              </a:ext>
            </a:extLst>
          </p:cNvPr>
          <p:cNvSpPr>
            <a:spLocks noGrp="1"/>
          </p:cNvSpPr>
          <p:nvPr>
            <p:ph type="body" sz="quarter" idx="10"/>
          </p:nvPr>
        </p:nvSpPr>
        <p:spPr/>
        <p:txBody>
          <a:bodyPr/>
          <a:lstStyle/>
          <a:p>
            <a:r>
              <a:rPr lang="en-AU" dirty="0"/>
              <a:t>Equilibrium</a:t>
            </a:r>
          </a:p>
        </p:txBody>
      </p:sp>
      <p:sp>
        <p:nvSpPr>
          <p:cNvPr id="3" name="Text Placeholder 3">
            <a:extLst>
              <a:ext uri="{FF2B5EF4-FFF2-40B4-BE49-F238E27FC236}">
                <a16:creationId xmlns:a16="http://schemas.microsoft.com/office/drawing/2014/main" id="{15B39FF7-CE51-4DDE-B8F7-A2B32DD72593}"/>
              </a:ext>
            </a:extLst>
          </p:cNvPr>
          <p:cNvSpPr txBox="1">
            <a:spLocks/>
          </p:cNvSpPr>
          <p:nvPr/>
        </p:nvSpPr>
        <p:spPr>
          <a:xfrm>
            <a:off x="295274" y="4571479"/>
            <a:ext cx="3779478" cy="319722"/>
          </a:xfrm>
          <a:prstGeom prst="rect">
            <a:avLst/>
          </a:prstGeom>
          <a:solidFill>
            <a:srgbClr val="FBCA58"/>
          </a:solidFill>
        </p:spPr>
        <p:txBody>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rgbClr val="2E546D"/>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dirty="0"/>
              <a:t>Success Criteria</a:t>
            </a:r>
          </a:p>
        </p:txBody>
      </p:sp>
      <p:sp>
        <p:nvSpPr>
          <p:cNvPr id="4" name="Text Placeholder 2">
            <a:extLst>
              <a:ext uri="{FF2B5EF4-FFF2-40B4-BE49-F238E27FC236}">
                <a16:creationId xmlns:a16="http://schemas.microsoft.com/office/drawing/2014/main" id="{376F90D9-C05E-4F92-AA21-6770C35F6CD9}"/>
              </a:ext>
            </a:extLst>
          </p:cNvPr>
          <p:cNvSpPr txBox="1">
            <a:spLocks/>
          </p:cNvSpPr>
          <p:nvPr/>
        </p:nvSpPr>
        <p:spPr>
          <a:xfrm>
            <a:off x="209549" y="4921871"/>
            <a:ext cx="11601508" cy="1382567"/>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US" sz="1600" b="0" dirty="0">
                <a:solidFill>
                  <a:srgbClr val="000303"/>
                </a:solidFill>
                <a:latin typeface="+mj-lt"/>
              </a:rPr>
              <a:t>I can </a:t>
            </a:r>
            <a:r>
              <a:rPr lang="en-AU" sz="1600" b="0" dirty="0">
                <a:solidFill>
                  <a:srgbClr val="000303"/>
                </a:solidFill>
                <a:latin typeface="+mj-lt"/>
              </a:rPr>
              <a:t>state the rules for equilibrium.</a:t>
            </a:r>
          </a:p>
          <a:p>
            <a:pPr algn="l"/>
            <a:r>
              <a:rPr lang="en-AU" sz="1600" b="0" i="0" dirty="0">
                <a:solidFill>
                  <a:srgbClr val="000303"/>
                </a:solidFill>
                <a:effectLst/>
                <a:latin typeface="+mj-lt"/>
              </a:rPr>
              <a:t>I can calculate complex torque and equilibrium questions.</a:t>
            </a:r>
            <a:endParaRPr lang="en-US" sz="1600" b="0" i="0" dirty="0">
              <a:solidFill>
                <a:srgbClr val="000303"/>
              </a:solidFill>
              <a:effectLst/>
              <a:latin typeface="+mj-lt"/>
            </a:endParaRPr>
          </a:p>
        </p:txBody>
      </p:sp>
    </p:spTree>
    <p:extLst>
      <p:ext uri="{BB962C8B-B14F-4D97-AF65-F5344CB8AC3E}">
        <p14:creationId xmlns:p14="http://schemas.microsoft.com/office/powerpoint/2010/main" val="1822246278"/>
      </p:ext>
    </p:extLst>
  </p:cSld>
  <p:clrMapOvr>
    <a:masterClrMapping/>
  </p:clrMapOvr>
</p:sld>
</file>

<file path=ppt/theme/theme1.xml><?xml version="1.0" encoding="utf-8"?>
<a:theme xmlns:a="http://schemas.openxmlformats.org/drawingml/2006/main" name="Daily Review">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Explicit Instruction_Dark">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ln>
          <a:noFill/>
        </a:ln>
      </a:spPr>
      <a:bodyPr wrap="square" rtlCol="0" anchor="t" anchorCtr="0">
        <a:normAutofit fontScale="92500"/>
      </a:bodyPr>
      <a:lstStyle>
        <a:defPPr algn="l">
          <a:defRPr sz="5400" b="1" dirty="0" smtClean="0">
            <a:latin typeface="Century Gothic" panose="020B0502020202020204" pitchFamily="34" charset="0"/>
            <a:cs typeface="Futura Medium" panose="020B0602020204020303" pitchFamily="34" charset="-79"/>
          </a:defRPr>
        </a:defPPr>
      </a:lstStyle>
    </a:txDef>
  </a:objectDefaults>
  <a:extraClrSchemeLst/>
  <a:extLst>
    <a:ext uri="{05A4C25C-085E-4340-85A3-A5531E510DB2}">
      <thm15:themeFamily xmlns:thm15="http://schemas.microsoft.com/office/thememl/2012/main" name="Theme2" id="{15861BA0-56D5-1E4E-B56A-268D38A279BF}" vid="{9D14DC9A-E19D-5949-B871-56F3C64BEB63}"/>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C8157990E5B9394AB60DC397E95032F9" ma:contentTypeVersion="16" ma:contentTypeDescription="Create a new document." ma:contentTypeScope="" ma:versionID="02697e3214b2f55142a2e7b89ba6de54">
  <xsd:schema xmlns:xsd="http://www.w3.org/2001/XMLSchema" xmlns:xs="http://www.w3.org/2001/XMLSchema" xmlns:p="http://schemas.microsoft.com/office/2006/metadata/properties" xmlns:ns2="8f659357-f805-491c-ad0b-5621b2de6466" xmlns:ns3="d5c732d2-f217-444a-91d8-37c5714ca695" targetNamespace="http://schemas.microsoft.com/office/2006/metadata/properties" ma:root="true" ma:fieldsID="67be6965022b95aa9d7585358a9bb7fc" ns2:_="" ns3:_="">
    <xsd:import namespace="8f659357-f805-491c-ad0b-5621b2de6466"/>
    <xsd:import namespace="d5c732d2-f217-444a-91d8-37c5714ca695"/>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LengthInSeconds" minOccurs="0"/>
                <xsd:element ref="ns2:MediaServiceOCR" minOccurs="0"/>
                <xsd:element ref="ns2:MediaServiceGenerationTime" minOccurs="0"/>
                <xsd:element ref="ns2:MediaServiceEventHashCode" minOccurs="0"/>
                <xsd:element ref="ns3:SharedWithUsers" minOccurs="0"/>
                <xsd:element ref="ns3:SharedWithDetails" minOccurs="0"/>
                <xsd:element ref="ns2:lcf76f155ced4ddcb4097134ff3c332f" minOccurs="0"/>
                <xsd:element ref="ns3:TaxCatchAll"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f659357-f805-491c-ad0b-5621b2de646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LengthInSeconds" ma:index="14" nillable="true" ma:displayName="Length (seconds)" ma:internalName="MediaLengthInSeconds" ma:readOnly="true">
      <xsd:simpleType>
        <xsd:restriction base="dms:Unknown"/>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ea606fe5-00d0-49e1-aa33-d9ffd0209102"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5c732d2-f217-444a-91d8-37c5714ca695"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787221a7-1fed-4694-a1ec-bb608177e353}" ma:internalName="TaxCatchAll" ma:showField="CatchAllData" ma:web="d5c732d2-f217-444a-91d8-37c5714ca69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d5c732d2-f217-444a-91d8-37c5714ca695" xsi:nil="true"/>
    <lcf76f155ced4ddcb4097134ff3c332f xmlns="8f659357-f805-491c-ad0b-5621b2de6466">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77F09D33-A1B5-4438-8F96-65DD71762491}">
  <ds:schemaRefs>
    <ds:schemaRef ds:uri="http://schemas.microsoft.com/sharepoint/v3/contenttype/forms"/>
  </ds:schemaRefs>
</ds:datastoreItem>
</file>

<file path=customXml/itemProps2.xml><?xml version="1.0" encoding="utf-8"?>
<ds:datastoreItem xmlns:ds="http://schemas.openxmlformats.org/officeDocument/2006/customXml" ds:itemID="{37C4A5F5-7294-45C8-8022-0F394E1804D6}"/>
</file>

<file path=customXml/itemProps3.xml><?xml version="1.0" encoding="utf-8"?>
<ds:datastoreItem xmlns:ds="http://schemas.openxmlformats.org/officeDocument/2006/customXml" ds:itemID="{AD5BC30B-A8FB-4389-B40F-C069B6D2FAB9}">
  <ds:schemaRefs>
    <ds:schemaRef ds:uri="http://schemas.openxmlformats.org/package/2006/metadata/core-properties"/>
    <ds:schemaRef ds:uri="http://purl.org/dc/terms/"/>
    <ds:schemaRef ds:uri="http://schemas.microsoft.com/office/infopath/2007/PartnerControls"/>
    <ds:schemaRef ds:uri="http://schemas.microsoft.com/office/2006/documentManagement/types"/>
    <ds:schemaRef ds:uri="http://www.w3.org/XML/1998/namespace"/>
    <ds:schemaRef ds:uri="http://schemas.microsoft.com/office/2006/metadata/properties"/>
    <ds:schemaRef ds:uri="8f659357-f805-491c-ad0b-5621b2de6466"/>
    <ds:schemaRef ds:uri="http://purl.org/dc/dcmitype/"/>
    <ds:schemaRef ds:uri="http://purl.org/dc/elements/1.1/"/>
  </ds:schemaRefs>
</ds:datastoreItem>
</file>

<file path=docProps/app.xml><?xml version="1.0" encoding="utf-8"?>
<Properties xmlns="http://schemas.openxmlformats.org/officeDocument/2006/extended-properties" xmlns:vt="http://schemas.openxmlformats.org/officeDocument/2006/docPropsVTypes">
  <Template>{33057687-8793-EB47-A5E0-08E93C53D0F2}tf10001071</Template>
  <TotalTime>6766</TotalTime>
  <Words>1705</Words>
  <Application>Microsoft Office PowerPoint</Application>
  <PresentationFormat>Widescreen</PresentationFormat>
  <Paragraphs>377</Paragraphs>
  <Slides>28</Slides>
  <Notes>26</Notes>
  <HiddenSlides>1</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28</vt:i4>
      </vt:variant>
    </vt:vector>
  </HeadingPairs>
  <TitlesOfParts>
    <vt:vector size="35" baseType="lpstr">
      <vt:lpstr>Arial</vt:lpstr>
      <vt:lpstr>Calibri</vt:lpstr>
      <vt:lpstr>Cambria Math</vt:lpstr>
      <vt:lpstr>Century Gothic</vt:lpstr>
      <vt:lpstr>Futura Medium</vt:lpstr>
      <vt:lpstr>Daily Review</vt:lpstr>
      <vt:lpstr>1_Explicit Instruction_Dark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BAKER Mark [Southern River College]</cp:lastModifiedBy>
  <cp:revision>441</cp:revision>
  <cp:lastPrinted>2018-05-27T06:54:10Z</cp:lastPrinted>
  <dcterms:created xsi:type="dcterms:W3CDTF">2018-03-29T05:56:09Z</dcterms:created>
  <dcterms:modified xsi:type="dcterms:W3CDTF">2023-01-04T12:21:08Z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0x010100C8157990E5B9394AB60DC397E95032F9</vt:lpwstr>
  </property>
</Properties>
</file>