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29"/>
  </p:notesMasterIdLst>
  <p:handoutMasterIdLst>
    <p:handoutMasterId r:id="rId30"/>
  </p:handoutMasterIdLst>
  <p:sldIdLst>
    <p:sldId id="416" r:id="rId6"/>
    <p:sldId id="422" r:id="rId7"/>
    <p:sldId id="418" r:id="rId8"/>
    <p:sldId id="419" r:id="rId9"/>
    <p:sldId id="420" r:id="rId10"/>
    <p:sldId id="435" r:id="rId11"/>
    <p:sldId id="421" r:id="rId12"/>
    <p:sldId id="436" r:id="rId13"/>
    <p:sldId id="424" r:id="rId14"/>
    <p:sldId id="423" r:id="rId15"/>
    <p:sldId id="425" r:id="rId16"/>
    <p:sldId id="426" r:id="rId17"/>
    <p:sldId id="427" r:id="rId18"/>
    <p:sldId id="432" r:id="rId19"/>
    <p:sldId id="437" r:id="rId20"/>
    <p:sldId id="428" r:id="rId21"/>
    <p:sldId id="431" r:id="rId22"/>
    <p:sldId id="438" r:id="rId23"/>
    <p:sldId id="429" r:id="rId24"/>
    <p:sldId id="430" r:id="rId25"/>
    <p:sldId id="439" r:id="rId26"/>
    <p:sldId id="433" r:id="rId27"/>
    <p:sldId id="43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546D"/>
    <a:srgbClr val="692B7D"/>
    <a:srgbClr val="FBCA58"/>
    <a:srgbClr val="472A50"/>
    <a:srgbClr val="6E407C"/>
    <a:srgbClr val="2F556E"/>
    <a:srgbClr val="A672B6"/>
    <a:srgbClr val="FFFFFF"/>
    <a:srgbClr val="7E498E"/>
    <a:srgbClr val="94CB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50" autoAdjust="0"/>
    <p:restoredTop sz="85588" autoAdjust="0"/>
  </p:normalViewPr>
  <p:slideViewPr>
    <p:cSldViewPr snapToGrid="0" snapToObjects="1">
      <p:cViewPr>
        <p:scale>
          <a:sx n="75" d="100"/>
          <a:sy n="75" d="100"/>
        </p:scale>
        <p:origin x="846" y="53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1/1/2023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1/01/2023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Displacement</a:t>
            </a:r>
          </a:p>
          <a:p>
            <a:r>
              <a:rPr lang="en-AU" dirty="0"/>
              <a:t>Acceleration</a:t>
            </a:r>
          </a:p>
          <a:p>
            <a:r>
              <a:rPr lang="en-AU" dirty="0"/>
              <a:t>Force</a:t>
            </a:r>
          </a:p>
          <a:p>
            <a:r>
              <a:rPr lang="en-AU" dirty="0"/>
              <a:t>Work</a:t>
            </a:r>
          </a:p>
          <a:p>
            <a:r>
              <a:rPr lang="en-AU" dirty="0"/>
              <a:t>weight</a:t>
            </a:r>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865929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AU" dirty="0"/>
              <a:t>Choose one vector to start with</a:t>
            </a:r>
          </a:p>
          <a:p>
            <a:pPr marL="228600" indent="-228600">
              <a:buAutoNum type="arabicPeriod"/>
            </a:pPr>
            <a:r>
              <a:rPr lang="en-AU" dirty="0"/>
              <a:t>Choose a start point</a:t>
            </a:r>
          </a:p>
          <a:p>
            <a:pPr marL="228600" indent="-228600">
              <a:buAutoNum type="arabicPeriod"/>
            </a:pPr>
            <a:r>
              <a:rPr lang="en-AU" dirty="0"/>
              <a:t>Draw A</a:t>
            </a:r>
          </a:p>
          <a:p>
            <a:pPr marL="228600" indent="-228600">
              <a:buAutoNum type="arabicPeriod"/>
            </a:pPr>
            <a:r>
              <a:rPr lang="en-AU" dirty="0"/>
              <a:t>Draw B, attaching head to tail</a:t>
            </a:r>
          </a:p>
          <a:p>
            <a:pPr marL="228600" indent="-228600">
              <a:buAutoNum type="arabicPeriod"/>
            </a:pPr>
            <a:r>
              <a:rPr lang="en-AU" dirty="0"/>
              <a:t>Draw the resultant vector. The resultant is the single vector that could replace A and B (ends in the same location)</a:t>
            </a:r>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3050014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AU" dirty="0"/>
              <a:t>Order of vectors doesn’t matter</a:t>
            </a:r>
          </a:p>
          <a:p>
            <a:pPr marL="228600" indent="-228600">
              <a:buAutoNum type="arabicPeriod"/>
            </a:pPr>
            <a:endParaRPr lang="en-AU" dirty="0"/>
          </a:p>
          <a:p>
            <a:pPr marL="0" indent="0">
              <a:buNone/>
            </a:pPr>
            <a:r>
              <a:rPr lang="en-AU" dirty="0"/>
              <a:t>Think of it like walking down a diagonal street vs walking down two perpendicular roads. You end up in the same place.</a:t>
            </a:r>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3657302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AU" dirty="0"/>
              <a:t>Order of vectors doesn’t matter</a:t>
            </a:r>
          </a:p>
          <a:p>
            <a:pPr marL="228600" indent="-228600">
              <a:buAutoNum type="arabicPeriod"/>
            </a:pPr>
            <a:endParaRPr lang="en-AU" dirty="0"/>
          </a:p>
          <a:p>
            <a:pPr marL="0" indent="0">
              <a:buNone/>
            </a:pPr>
            <a:r>
              <a:rPr lang="en-AU" dirty="0"/>
              <a:t>Think of it like walking down a diagonal street vs walking down two perpendicular roads. You end up in the same place.</a:t>
            </a:r>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a:p>
        </p:txBody>
      </p:sp>
    </p:spTree>
    <p:extLst>
      <p:ext uri="{BB962C8B-B14F-4D97-AF65-F5344CB8AC3E}">
        <p14:creationId xmlns:p14="http://schemas.microsoft.com/office/powerpoint/2010/main" val="2088198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518280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a:p>
        </p:txBody>
      </p:sp>
    </p:spTree>
    <p:extLst>
      <p:ext uri="{BB962C8B-B14F-4D97-AF65-F5344CB8AC3E}">
        <p14:creationId xmlns:p14="http://schemas.microsoft.com/office/powerpoint/2010/main" val="1566048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AU" dirty="0"/>
              <a:t>Components don’t </a:t>
            </a:r>
            <a:r>
              <a:rPr lang="en-AU" i="1" dirty="0"/>
              <a:t>need</a:t>
            </a:r>
            <a:r>
              <a:rPr lang="en-AU" i="0" dirty="0"/>
              <a:t> to be horizontal and vertical, but we often choose to do that because that is how we analyse the motion.</a:t>
            </a: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a:p>
        </p:txBody>
      </p:sp>
    </p:spTree>
    <p:extLst>
      <p:ext uri="{BB962C8B-B14F-4D97-AF65-F5344CB8AC3E}">
        <p14:creationId xmlns:p14="http://schemas.microsoft.com/office/powerpoint/2010/main" val="334929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a:p>
        </p:txBody>
      </p:sp>
    </p:spTree>
    <p:extLst>
      <p:ext uri="{BB962C8B-B14F-4D97-AF65-F5344CB8AC3E}">
        <p14:creationId xmlns:p14="http://schemas.microsoft.com/office/powerpoint/2010/main" val="608225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a:p>
        </p:txBody>
      </p:sp>
    </p:spTree>
    <p:extLst>
      <p:ext uri="{BB962C8B-B14F-4D97-AF65-F5344CB8AC3E}">
        <p14:creationId xmlns:p14="http://schemas.microsoft.com/office/powerpoint/2010/main" val="31805382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12</a:t>
            </a:fld>
            <a:endParaRPr lang="en-AU"/>
          </a:p>
        </p:txBody>
      </p:sp>
    </p:spTree>
    <p:extLst>
      <p:ext uri="{BB962C8B-B14F-4D97-AF65-F5344CB8AC3E}">
        <p14:creationId xmlns:p14="http://schemas.microsoft.com/office/powerpoint/2010/main" val="14364241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a:p>
        </p:txBody>
      </p:sp>
    </p:spTree>
    <p:extLst>
      <p:ext uri="{BB962C8B-B14F-4D97-AF65-F5344CB8AC3E}">
        <p14:creationId xmlns:p14="http://schemas.microsoft.com/office/powerpoint/2010/main" val="1721297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14</a:t>
            </a:fld>
            <a:endParaRPr lang="en-AU"/>
          </a:p>
        </p:txBody>
      </p:sp>
    </p:spTree>
    <p:extLst>
      <p:ext uri="{BB962C8B-B14F-4D97-AF65-F5344CB8AC3E}">
        <p14:creationId xmlns:p14="http://schemas.microsoft.com/office/powerpoint/2010/main" val="3646419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15</a:t>
            </a:fld>
            <a:endParaRPr lang="en-AU"/>
          </a:p>
        </p:txBody>
      </p:sp>
    </p:spTree>
    <p:extLst>
      <p:ext uri="{BB962C8B-B14F-4D97-AF65-F5344CB8AC3E}">
        <p14:creationId xmlns:p14="http://schemas.microsoft.com/office/powerpoint/2010/main" val="3646419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AU" dirty="0"/>
              <a:t>R = 23.6</a:t>
            </a:r>
          </a:p>
          <a:p>
            <a:pPr marL="0" indent="0">
              <a:buNone/>
            </a:pPr>
            <a:r>
              <a:rPr lang="en-AU" dirty="0"/>
              <a:t>Theta = 36.4 deg from vertical</a:t>
            </a:r>
          </a:p>
        </p:txBody>
      </p:sp>
      <p:sp>
        <p:nvSpPr>
          <p:cNvPr id="4" name="Slide Number Placeholder 3"/>
          <p:cNvSpPr>
            <a:spLocks noGrp="1"/>
          </p:cNvSpPr>
          <p:nvPr>
            <p:ph type="sldNum" sz="quarter" idx="5"/>
          </p:nvPr>
        </p:nvSpPr>
        <p:spPr/>
        <p:txBody>
          <a:bodyPr/>
          <a:lstStyle/>
          <a:p>
            <a:fld id="{B5B756B8-97A8-4FA1-B26A-2500BA5D4D05}" type="slidenum">
              <a:rPr lang="en-AU" smtClean="0"/>
              <a:t>16</a:t>
            </a:fld>
            <a:endParaRPr lang="en-AU"/>
          </a:p>
        </p:txBody>
      </p:sp>
    </p:spTree>
    <p:extLst>
      <p:ext uri="{BB962C8B-B14F-4D97-AF65-F5344CB8AC3E}">
        <p14:creationId xmlns:p14="http://schemas.microsoft.com/office/powerpoint/2010/main" val="269682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AU" dirty="0"/>
              <a:t>|R| = 94.9N</a:t>
            </a:r>
          </a:p>
          <a:p>
            <a:pPr marL="0" indent="0">
              <a:buNone/>
            </a:pPr>
            <a:r>
              <a:rPr lang="en-AU" dirty="0"/>
              <a:t>Theta = 18.4 perpendicular to the bank, with the current</a:t>
            </a:r>
          </a:p>
        </p:txBody>
      </p:sp>
      <p:sp>
        <p:nvSpPr>
          <p:cNvPr id="4" name="Slide Number Placeholder 3"/>
          <p:cNvSpPr>
            <a:spLocks noGrp="1"/>
          </p:cNvSpPr>
          <p:nvPr>
            <p:ph type="sldNum" sz="quarter" idx="5"/>
          </p:nvPr>
        </p:nvSpPr>
        <p:spPr/>
        <p:txBody>
          <a:bodyPr/>
          <a:lstStyle/>
          <a:p>
            <a:fld id="{B5B756B8-97A8-4FA1-B26A-2500BA5D4D05}" type="slidenum">
              <a:rPr lang="en-AU" smtClean="0"/>
              <a:t>17</a:t>
            </a:fld>
            <a:endParaRPr lang="en-AU"/>
          </a:p>
        </p:txBody>
      </p:sp>
    </p:spTree>
    <p:extLst>
      <p:ext uri="{BB962C8B-B14F-4D97-AF65-F5344CB8AC3E}">
        <p14:creationId xmlns:p14="http://schemas.microsoft.com/office/powerpoint/2010/main" val="184663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AU" dirty="0"/>
              <a:t>|R| = 94.9N</a:t>
            </a:r>
          </a:p>
          <a:p>
            <a:pPr marL="0" indent="0">
              <a:buNone/>
            </a:pPr>
            <a:r>
              <a:rPr lang="en-AU" dirty="0"/>
              <a:t>Theta = 18.4 perpendicular to the bank, with the current</a:t>
            </a:r>
          </a:p>
        </p:txBody>
      </p:sp>
      <p:sp>
        <p:nvSpPr>
          <p:cNvPr id="4" name="Slide Number Placeholder 3"/>
          <p:cNvSpPr>
            <a:spLocks noGrp="1"/>
          </p:cNvSpPr>
          <p:nvPr>
            <p:ph type="sldNum" sz="quarter" idx="5"/>
          </p:nvPr>
        </p:nvSpPr>
        <p:spPr/>
        <p:txBody>
          <a:bodyPr/>
          <a:lstStyle/>
          <a:p>
            <a:fld id="{B5B756B8-97A8-4FA1-B26A-2500BA5D4D05}" type="slidenum">
              <a:rPr lang="en-AU" smtClean="0"/>
              <a:t>18</a:t>
            </a:fld>
            <a:endParaRPr lang="en-AU"/>
          </a:p>
        </p:txBody>
      </p:sp>
    </p:spTree>
    <p:extLst>
      <p:ext uri="{BB962C8B-B14F-4D97-AF65-F5344CB8AC3E}">
        <p14:creationId xmlns:p14="http://schemas.microsoft.com/office/powerpoint/2010/main" val="1846631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19</a:t>
            </a:fld>
            <a:endParaRPr lang="en-AU"/>
          </a:p>
        </p:txBody>
      </p:sp>
    </p:spTree>
    <p:extLst>
      <p:ext uri="{BB962C8B-B14F-4D97-AF65-F5344CB8AC3E}">
        <p14:creationId xmlns:p14="http://schemas.microsoft.com/office/powerpoint/2010/main" val="5075303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22</a:t>
            </a:fld>
            <a:endParaRPr lang="en-AU"/>
          </a:p>
        </p:txBody>
      </p:sp>
    </p:spTree>
    <p:extLst>
      <p:ext uri="{BB962C8B-B14F-4D97-AF65-F5344CB8AC3E}">
        <p14:creationId xmlns:p14="http://schemas.microsoft.com/office/powerpoint/2010/main" val="40772180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23</a:t>
            </a:fld>
            <a:endParaRPr lang="en-AU"/>
          </a:p>
        </p:txBody>
      </p:sp>
    </p:spTree>
    <p:extLst>
      <p:ext uri="{BB962C8B-B14F-4D97-AF65-F5344CB8AC3E}">
        <p14:creationId xmlns:p14="http://schemas.microsoft.com/office/powerpoint/2010/main" val="4139368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5269"/>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6.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14.xml"/><Relationship Id="rId5" Type="http://schemas.microsoft.com/office/2007/relationships/hdphoto" Target="../media/hdphoto1.wdp"/><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use and manipulate vectors to represent forces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95274" y="4983670"/>
            <a:ext cx="9077325"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I can calculate a resultant vector.</a:t>
            </a:r>
          </a:p>
          <a:p>
            <a:r>
              <a:rPr lang="en-AU" b="0" dirty="0"/>
              <a:t>I can resolve a resultant vector into its components.</a:t>
            </a:r>
          </a:p>
        </p:txBody>
      </p:sp>
    </p:spTree>
    <p:extLst>
      <p:ext uri="{BB962C8B-B14F-4D97-AF65-F5344CB8AC3E}">
        <p14:creationId xmlns:p14="http://schemas.microsoft.com/office/powerpoint/2010/main" val="2311140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43EEBBD-E909-47A4-86B2-8D67581F10ED}"/>
              </a:ext>
            </a:extLst>
          </p:cNvPr>
          <p:cNvSpPr>
            <a:spLocks noGrp="1"/>
          </p:cNvSpPr>
          <p:nvPr>
            <p:ph type="body" sz="quarter" idx="14"/>
          </p:nvPr>
        </p:nvSpPr>
        <p:spPr/>
        <p:txBody>
          <a:bodyPr/>
          <a:lstStyle/>
          <a:p>
            <a:r>
              <a:rPr lang="en-AU" dirty="0"/>
              <a:t>To use and manipulate vectors to represent forces</a:t>
            </a:r>
          </a:p>
        </p:txBody>
      </p:sp>
      <p:sp>
        <p:nvSpPr>
          <p:cNvPr id="4" name="Text Placeholder 3">
            <a:extLst>
              <a:ext uri="{FF2B5EF4-FFF2-40B4-BE49-F238E27FC236}">
                <a16:creationId xmlns:a16="http://schemas.microsoft.com/office/drawing/2014/main" id="{EB7BE8E0-FE1A-4AF6-9F13-50DABCD3F14E}"/>
              </a:ext>
            </a:extLst>
          </p:cNvPr>
          <p:cNvSpPr>
            <a:spLocks noGrp="1"/>
          </p:cNvSpPr>
          <p:nvPr>
            <p:ph type="body" sz="quarter" idx="15"/>
          </p:nvPr>
        </p:nvSpPr>
        <p:spPr>
          <a:xfrm>
            <a:off x="397668" y="991704"/>
            <a:ext cx="11235532" cy="1971676"/>
          </a:xfrm>
        </p:spPr>
        <p:txBody>
          <a:bodyPr/>
          <a:lstStyle/>
          <a:p>
            <a:r>
              <a:rPr lang="en-AU" b="0" dirty="0"/>
              <a:t>Why vectors again?</a:t>
            </a:r>
          </a:p>
          <a:p>
            <a:r>
              <a:rPr lang="en-AU" b="0" dirty="0"/>
              <a:t>Physics Unit 2 focussed on motion in a single direction: up and down, or left and right. Unit 3 adds some complexity.</a:t>
            </a:r>
          </a:p>
        </p:txBody>
      </p:sp>
      <p:pic>
        <p:nvPicPr>
          <p:cNvPr id="1028" name="Picture 4" descr="Golden cartoon cannon Royalty Free Vector Image">
            <a:extLst>
              <a:ext uri="{FF2B5EF4-FFF2-40B4-BE49-F238E27FC236}">
                <a16:creationId xmlns:a16="http://schemas.microsoft.com/office/drawing/2014/main" id="{506CA14C-A83E-40BE-B9BE-16552EEB8E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7362"/>
          <a:stretch/>
        </p:blipFill>
        <p:spPr bwMode="auto">
          <a:xfrm>
            <a:off x="295275" y="4058617"/>
            <a:ext cx="3604523" cy="2342929"/>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953E93E1-0A32-4395-98CE-286F10EAB174}"/>
              </a:ext>
            </a:extLst>
          </p:cNvPr>
          <p:cNvGrpSpPr/>
          <p:nvPr/>
        </p:nvGrpSpPr>
        <p:grpSpPr>
          <a:xfrm>
            <a:off x="3328298" y="2799383"/>
            <a:ext cx="8173153" cy="1533636"/>
            <a:chOff x="3723572" y="2680689"/>
            <a:chExt cx="8173153" cy="1533636"/>
          </a:xfrm>
        </p:grpSpPr>
        <p:pic>
          <p:nvPicPr>
            <p:cNvPr id="16" name="Picture 8" descr="Bomb Cartoon">
              <a:extLst>
                <a:ext uri="{FF2B5EF4-FFF2-40B4-BE49-F238E27FC236}">
                  <a16:creationId xmlns:a16="http://schemas.microsoft.com/office/drawing/2014/main" id="{3FBCF7FB-FD8F-4A2F-8821-D4A34A51EC2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34" b="93276" l="10000" r="90000">
                          <a14:foregroundMark x1="47778" y1="6379" x2="47778" y2="6379"/>
                          <a14:foregroundMark x1="47778" y1="93448" x2="47778" y2="93448"/>
                          <a14:foregroundMark x1="49778" y1="1034" x2="49778" y2="1034"/>
                        </a14:backgroundRemoval>
                      </a14:imgEffect>
                    </a14:imgLayer>
                  </a14:imgProps>
                </a:ext>
                <a:ext uri="{28A0092B-C50C-407E-A947-70E740481C1C}">
                  <a14:useLocalDpi xmlns:a14="http://schemas.microsoft.com/office/drawing/2010/main" val="0"/>
                </a:ext>
              </a:extLst>
            </a:blip>
            <a:srcRect/>
            <a:stretch>
              <a:fillRect/>
            </a:stretch>
          </p:blipFill>
          <p:spPr bwMode="auto">
            <a:xfrm>
              <a:off x="7340754" y="2724154"/>
              <a:ext cx="742424" cy="47845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Bomb Cartoon">
              <a:extLst>
                <a:ext uri="{FF2B5EF4-FFF2-40B4-BE49-F238E27FC236}">
                  <a16:creationId xmlns:a16="http://schemas.microsoft.com/office/drawing/2014/main" id="{EFC15CF6-0DF5-47EC-9A23-FADAD0CC5EA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34" b="93276" l="10000" r="90000">
                          <a14:foregroundMark x1="47778" y1="6379" x2="47778" y2="6379"/>
                          <a14:foregroundMark x1="47778" y1="93448" x2="47778" y2="93448"/>
                          <a14:foregroundMark x1="49778" y1="1034" x2="49778" y2="1034"/>
                        </a14:backgroundRemoval>
                      </a14:imgEffect>
                    </a14:imgLayer>
                  </a14:imgProps>
                </a:ext>
                <a:ext uri="{28A0092B-C50C-407E-A947-70E740481C1C}">
                  <a14:useLocalDpi xmlns:a14="http://schemas.microsoft.com/office/drawing/2010/main" val="0"/>
                </a:ext>
              </a:extLst>
            </a:blip>
            <a:srcRect/>
            <a:stretch>
              <a:fillRect/>
            </a:stretch>
          </p:blipFill>
          <p:spPr bwMode="auto">
            <a:xfrm>
              <a:off x="9486977" y="2680689"/>
              <a:ext cx="742424" cy="47845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Bomb Cartoon">
              <a:extLst>
                <a:ext uri="{FF2B5EF4-FFF2-40B4-BE49-F238E27FC236}">
                  <a16:creationId xmlns:a16="http://schemas.microsoft.com/office/drawing/2014/main" id="{EA36A35A-70A1-426D-9675-BD6E11DD9804}"/>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34" b="93276" l="10000" r="90000">
                          <a14:foregroundMark x1="47778" y1="6379" x2="47778" y2="6379"/>
                          <a14:foregroundMark x1="47778" y1="93448" x2="47778" y2="93448"/>
                          <a14:foregroundMark x1="49778" y1="1034" x2="49778" y2="1034"/>
                        </a14:backgroundRemoval>
                      </a14:imgEffect>
                    </a14:imgLayer>
                  </a14:imgProps>
                </a:ext>
                <a:ext uri="{28A0092B-C50C-407E-A947-70E740481C1C}">
                  <a14:useLocalDpi xmlns:a14="http://schemas.microsoft.com/office/drawing/2010/main" val="0"/>
                </a:ext>
              </a:extLst>
            </a:blip>
            <a:srcRect/>
            <a:stretch>
              <a:fillRect/>
            </a:stretch>
          </p:blipFill>
          <p:spPr bwMode="auto">
            <a:xfrm>
              <a:off x="11154301" y="3202605"/>
              <a:ext cx="742424" cy="47845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8" descr="Bomb Cartoon">
              <a:extLst>
                <a:ext uri="{FF2B5EF4-FFF2-40B4-BE49-F238E27FC236}">
                  <a16:creationId xmlns:a16="http://schemas.microsoft.com/office/drawing/2014/main" id="{F4DC00A0-E3B3-4744-B8E9-AB3E43C94EB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34" b="93276" l="10000" r="90000">
                          <a14:foregroundMark x1="47778" y1="6379" x2="47778" y2="6379"/>
                          <a14:foregroundMark x1="47778" y1="93448" x2="47778" y2="93448"/>
                          <a14:foregroundMark x1="49778" y1="1034" x2="49778" y2="1034"/>
                        </a14:backgroundRemoval>
                      </a14:imgEffect>
                    </a14:imgLayer>
                  </a14:imgProps>
                </a:ext>
                <a:ext uri="{28A0092B-C50C-407E-A947-70E740481C1C}">
                  <a14:useLocalDpi xmlns:a14="http://schemas.microsoft.com/office/drawing/2010/main" val="0"/>
                </a:ext>
              </a:extLst>
            </a:blip>
            <a:srcRect/>
            <a:stretch>
              <a:fillRect/>
            </a:stretch>
          </p:blipFill>
          <p:spPr bwMode="auto">
            <a:xfrm>
              <a:off x="3723572" y="3735874"/>
              <a:ext cx="742424" cy="47845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8" descr="Bomb Cartoon">
              <a:extLst>
                <a:ext uri="{FF2B5EF4-FFF2-40B4-BE49-F238E27FC236}">
                  <a16:creationId xmlns:a16="http://schemas.microsoft.com/office/drawing/2014/main" id="{8AB23B8E-6D2A-47DB-96C2-F51D47FE395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34" b="93276" l="10000" r="90000">
                          <a14:foregroundMark x1="47778" y1="6379" x2="47778" y2="6379"/>
                          <a14:foregroundMark x1="47778" y1="93448" x2="47778" y2="93448"/>
                          <a14:foregroundMark x1="49778" y1="1034" x2="49778" y2="1034"/>
                        </a14:backgroundRemoval>
                      </a14:imgEffect>
                    </a14:imgLayer>
                  </a14:imgProps>
                </a:ext>
                <a:ext uri="{28A0092B-C50C-407E-A947-70E740481C1C}">
                  <a14:useLocalDpi xmlns:a14="http://schemas.microsoft.com/office/drawing/2010/main" val="0"/>
                </a:ext>
              </a:extLst>
            </a:blip>
            <a:srcRect/>
            <a:stretch>
              <a:fillRect/>
            </a:stretch>
          </p:blipFill>
          <p:spPr bwMode="auto">
            <a:xfrm>
              <a:off x="5418650" y="3067535"/>
              <a:ext cx="742424" cy="478451"/>
            </a:xfrm>
            <a:prstGeom prst="rect">
              <a:avLst/>
            </a:prstGeom>
            <a:noFill/>
            <a:extLst>
              <a:ext uri="{909E8E84-426E-40DD-AFC4-6F175D3DCCD1}">
                <a14:hiddenFill xmlns:a14="http://schemas.microsoft.com/office/drawing/2010/main">
                  <a:solidFill>
                    <a:srgbClr val="FFFFFF"/>
                  </a:solidFill>
                </a14:hiddenFill>
              </a:ext>
            </a:extLst>
          </p:spPr>
        </p:pic>
      </p:grpSp>
      <p:sp>
        <p:nvSpPr>
          <p:cNvPr id="22" name="Text Placeholder 3">
            <a:extLst>
              <a:ext uri="{FF2B5EF4-FFF2-40B4-BE49-F238E27FC236}">
                <a16:creationId xmlns:a16="http://schemas.microsoft.com/office/drawing/2014/main" id="{EF7977C6-DC6A-4FAD-823D-B60D8DDEAE69}"/>
              </a:ext>
            </a:extLst>
          </p:cNvPr>
          <p:cNvSpPr txBox="1">
            <a:spLocks/>
          </p:cNvSpPr>
          <p:nvPr/>
        </p:nvSpPr>
        <p:spPr>
          <a:xfrm>
            <a:off x="4523297" y="4068016"/>
            <a:ext cx="7290159"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Now we start looking at moving objects that are impacted by gravity.</a:t>
            </a:r>
          </a:p>
          <a:p>
            <a:r>
              <a:rPr lang="en-AU" b="0" dirty="0"/>
              <a:t>How far will the cannonball fly? How high? How much energy is required?</a:t>
            </a:r>
          </a:p>
        </p:txBody>
      </p:sp>
    </p:spTree>
    <p:extLst>
      <p:ext uri="{BB962C8B-B14F-4D97-AF65-F5344CB8AC3E}">
        <p14:creationId xmlns:p14="http://schemas.microsoft.com/office/powerpoint/2010/main" val="1859643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3" name="Text Placeholder 2">
            <a:extLst>
              <a:ext uri="{FF2B5EF4-FFF2-40B4-BE49-F238E27FC236}">
                <a16:creationId xmlns:a16="http://schemas.microsoft.com/office/drawing/2014/main" id="{C97FDB68-3734-4100-B745-3A70D62E7BB6}"/>
              </a:ext>
            </a:extLst>
          </p:cNvPr>
          <p:cNvSpPr>
            <a:spLocks noGrp="1"/>
          </p:cNvSpPr>
          <p:nvPr>
            <p:ph type="body" sz="quarter" idx="15"/>
          </p:nvPr>
        </p:nvSpPr>
        <p:spPr>
          <a:xfrm>
            <a:off x="397668" y="991704"/>
            <a:ext cx="11006932" cy="1971676"/>
          </a:xfrm>
        </p:spPr>
        <p:txBody>
          <a:bodyPr/>
          <a:lstStyle/>
          <a:p>
            <a:r>
              <a:rPr lang="en-AU" b="0" dirty="0"/>
              <a:t>A vector is a quantity with a </a:t>
            </a:r>
            <a:r>
              <a:rPr lang="en-AU" b="0" u="sng" dirty="0"/>
              <a:t>magnitude</a:t>
            </a:r>
            <a:r>
              <a:rPr lang="en-AU" b="0" dirty="0"/>
              <a:t> and a </a:t>
            </a:r>
            <a:r>
              <a:rPr lang="en-AU" b="0" u="sng" dirty="0"/>
              <a:t>direction</a:t>
            </a:r>
            <a:r>
              <a:rPr lang="en-AU" b="0" dirty="0"/>
              <a:t>.</a:t>
            </a:r>
          </a:p>
          <a:p>
            <a:endParaRPr lang="en-AU" dirty="0"/>
          </a:p>
          <a:p>
            <a:r>
              <a:rPr lang="en-AU" b="0" dirty="0"/>
              <a:t>A vector is represented by an arrow. The direction is where the arrow is pointing. The magnitude is the length of the arrow.</a:t>
            </a:r>
          </a:p>
          <a:p>
            <a:endParaRPr lang="en-AU" dirty="0"/>
          </a:p>
          <a:p>
            <a:endParaRPr lang="en-AU" dirty="0"/>
          </a:p>
          <a:p>
            <a:r>
              <a:rPr lang="en-AU" b="0" dirty="0"/>
              <a:t>Vectors you’ve already seen in Physics Units 1 and 2:</a:t>
            </a:r>
          </a:p>
          <a:p>
            <a:pPr marL="457200" indent="-457200">
              <a:buFont typeface="Arial" panose="020B0604020202020204" pitchFamily="34" charset="0"/>
              <a:buChar char="•"/>
            </a:pPr>
            <a:r>
              <a:rPr lang="en-AU" b="0" dirty="0"/>
              <a:t>Velocity</a:t>
            </a:r>
          </a:p>
          <a:p>
            <a:pPr marL="457200" indent="-457200">
              <a:buFont typeface="Arial" panose="020B0604020202020204" pitchFamily="34" charset="0"/>
              <a:buChar char="•"/>
            </a:pPr>
            <a:r>
              <a:rPr lang="en-AU" dirty="0"/>
              <a:t> </a:t>
            </a:r>
          </a:p>
          <a:p>
            <a:pPr marL="457200" indent="-457200">
              <a:buFont typeface="Arial" panose="020B0604020202020204" pitchFamily="34" charset="0"/>
              <a:buChar char="•"/>
            </a:pPr>
            <a:r>
              <a:rPr lang="en-AU" dirty="0"/>
              <a:t> </a:t>
            </a:r>
          </a:p>
          <a:p>
            <a:pPr marL="457200" indent="-457200">
              <a:buFont typeface="Arial" panose="020B0604020202020204" pitchFamily="34" charset="0"/>
              <a:buChar char="•"/>
            </a:pPr>
            <a:r>
              <a:rPr lang="en-AU" dirty="0"/>
              <a:t> </a:t>
            </a:r>
          </a:p>
          <a:p>
            <a:endParaRPr lang="en-AU" dirty="0"/>
          </a:p>
          <a:p>
            <a:endParaRPr lang="en-AU" dirty="0"/>
          </a:p>
          <a:p>
            <a:endParaRPr lang="en-AU" dirty="0"/>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A quick review</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cxnSp>
        <p:nvCxnSpPr>
          <p:cNvPr id="7" name="Straight Arrow Connector 6">
            <a:extLst>
              <a:ext uri="{FF2B5EF4-FFF2-40B4-BE49-F238E27FC236}">
                <a16:creationId xmlns:a16="http://schemas.microsoft.com/office/drawing/2014/main" id="{5A92ECFF-CF37-4B05-8216-FD6225C7D2A7}"/>
              </a:ext>
            </a:extLst>
          </p:cNvPr>
          <p:cNvCxnSpPr>
            <a:cxnSpLocks/>
          </p:cNvCxnSpPr>
          <p:nvPr/>
        </p:nvCxnSpPr>
        <p:spPr>
          <a:xfrm>
            <a:off x="4222710" y="3429000"/>
            <a:ext cx="265853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0043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3" name="Text Placeholder 2">
            <a:extLst>
              <a:ext uri="{FF2B5EF4-FFF2-40B4-BE49-F238E27FC236}">
                <a16:creationId xmlns:a16="http://schemas.microsoft.com/office/drawing/2014/main" id="{C97FDB68-3734-4100-B745-3A70D62E7BB6}"/>
              </a:ext>
            </a:extLst>
          </p:cNvPr>
          <p:cNvSpPr>
            <a:spLocks noGrp="1"/>
          </p:cNvSpPr>
          <p:nvPr>
            <p:ph type="body" sz="quarter" idx="15"/>
          </p:nvPr>
        </p:nvSpPr>
        <p:spPr>
          <a:xfrm>
            <a:off x="397668" y="991704"/>
            <a:ext cx="11540332" cy="578332"/>
          </a:xfrm>
        </p:spPr>
        <p:txBody>
          <a:bodyPr/>
          <a:lstStyle/>
          <a:p>
            <a:r>
              <a:rPr lang="en-AU" b="0" dirty="0"/>
              <a:t>Adding (and subtracting) vectors uses the ‘head to tail’ method.</a:t>
            </a:r>
            <a:endParaRPr lang="en-AU" dirty="0"/>
          </a:p>
          <a:p>
            <a:endParaRPr lang="en-AU" dirty="0"/>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A quick review</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1072878" y="3746497"/>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8" name="Picture 7">
            <a:extLst>
              <a:ext uri="{FF2B5EF4-FFF2-40B4-BE49-F238E27FC236}">
                <a16:creationId xmlns:a16="http://schemas.microsoft.com/office/drawing/2014/main" id="{008179D0-2C04-4926-B1C4-51ABF0FE31F6}"/>
              </a:ext>
            </a:extLst>
          </p:cNvPr>
          <p:cNvPicPr>
            <a:picLocks noChangeAspect="1"/>
          </p:cNvPicPr>
          <p:nvPr/>
        </p:nvPicPr>
        <p:blipFill>
          <a:blip r:embed="rId3"/>
          <a:stretch>
            <a:fillRect/>
          </a:stretch>
        </p:blipFill>
        <p:spPr>
          <a:xfrm>
            <a:off x="254000" y="1667909"/>
            <a:ext cx="7610475" cy="4305300"/>
          </a:xfrm>
          <a:prstGeom prst="rect">
            <a:avLst/>
          </a:prstGeom>
        </p:spPr>
      </p:pic>
      <p:cxnSp>
        <p:nvCxnSpPr>
          <p:cNvPr id="10" name="Straight Arrow Connector 9">
            <a:extLst>
              <a:ext uri="{FF2B5EF4-FFF2-40B4-BE49-F238E27FC236}">
                <a16:creationId xmlns:a16="http://schemas.microsoft.com/office/drawing/2014/main" id="{DCE72285-AFD1-4B63-AF5F-1E08D4EEE8F6}"/>
              </a:ext>
            </a:extLst>
          </p:cNvPr>
          <p:cNvCxnSpPr/>
          <p:nvPr/>
        </p:nvCxnSpPr>
        <p:spPr>
          <a:xfrm flipV="1">
            <a:off x="592138" y="2288138"/>
            <a:ext cx="1104900" cy="2146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226CF65B-E064-44D0-8D30-130DA8539494}"/>
              </a:ext>
            </a:extLst>
          </p:cNvPr>
          <p:cNvSpPr/>
          <p:nvPr/>
        </p:nvSpPr>
        <p:spPr>
          <a:xfrm>
            <a:off x="484052" y="2440538"/>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A</a:t>
            </a:r>
          </a:p>
        </p:txBody>
      </p:sp>
      <p:cxnSp>
        <p:nvCxnSpPr>
          <p:cNvPr id="12" name="Straight Arrow Connector 11">
            <a:extLst>
              <a:ext uri="{FF2B5EF4-FFF2-40B4-BE49-F238E27FC236}">
                <a16:creationId xmlns:a16="http://schemas.microsoft.com/office/drawing/2014/main" id="{0FAC581D-60C8-416C-B831-403C93571302}"/>
              </a:ext>
            </a:extLst>
          </p:cNvPr>
          <p:cNvCxnSpPr>
            <a:cxnSpLocks/>
          </p:cNvCxnSpPr>
          <p:nvPr/>
        </p:nvCxnSpPr>
        <p:spPr>
          <a:xfrm>
            <a:off x="946083" y="5501238"/>
            <a:ext cx="128435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BE6AF4C-66A3-456B-A211-AE2C0B09A689}"/>
              </a:ext>
            </a:extLst>
          </p:cNvPr>
          <p:cNvSpPr/>
          <p:nvPr/>
        </p:nvSpPr>
        <p:spPr>
          <a:xfrm>
            <a:off x="1123591" y="4586838"/>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B</a:t>
            </a:r>
          </a:p>
        </p:txBody>
      </p:sp>
      <p:sp>
        <p:nvSpPr>
          <p:cNvPr id="15" name="Oval 14">
            <a:extLst>
              <a:ext uri="{FF2B5EF4-FFF2-40B4-BE49-F238E27FC236}">
                <a16:creationId xmlns:a16="http://schemas.microsoft.com/office/drawing/2014/main" id="{3FC6DF43-06AA-42F2-9F43-CA3B0A9C2EE6}"/>
              </a:ext>
            </a:extLst>
          </p:cNvPr>
          <p:cNvSpPr/>
          <p:nvPr/>
        </p:nvSpPr>
        <p:spPr>
          <a:xfrm>
            <a:off x="3755646" y="4758356"/>
            <a:ext cx="195747" cy="19574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grpSp>
        <p:nvGrpSpPr>
          <p:cNvPr id="23" name="Group 22">
            <a:extLst>
              <a:ext uri="{FF2B5EF4-FFF2-40B4-BE49-F238E27FC236}">
                <a16:creationId xmlns:a16="http://schemas.microsoft.com/office/drawing/2014/main" id="{69669D18-E036-4DCB-85F1-2B4FD826A983}"/>
              </a:ext>
            </a:extLst>
          </p:cNvPr>
          <p:cNvGrpSpPr/>
          <p:nvPr/>
        </p:nvGrpSpPr>
        <p:grpSpPr>
          <a:xfrm>
            <a:off x="3590132" y="2680286"/>
            <a:ext cx="1368288" cy="2146300"/>
            <a:chOff x="5626894" y="2754348"/>
            <a:chExt cx="1368288" cy="2146300"/>
          </a:xfrm>
        </p:grpSpPr>
        <p:cxnSp>
          <p:nvCxnSpPr>
            <p:cNvPr id="16" name="Straight Arrow Connector 15">
              <a:extLst>
                <a:ext uri="{FF2B5EF4-FFF2-40B4-BE49-F238E27FC236}">
                  <a16:creationId xmlns:a16="http://schemas.microsoft.com/office/drawing/2014/main" id="{FEEC4853-18A2-4AE5-95B1-1B67CA4E8BD8}"/>
                </a:ext>
              </a:extLst>
            </p:cNvPr>
            <p:cNvCxnSpPr/>
            <p:nvPr/>
          </p:nvCxnSpPr>
          <p:spPr>
            <a:xfrm flipV="1">
              <a:off x="5890282" y="2754348"/>
              <a:ext cx="1104900" cy="2146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1553BB3-CE38-4902-ADD3-C883611C52D4}"/>
                </a:ext>
              </a:extLst>
            </p:cNvPr>
            <p:cNvSpPr/>
            <p:nvPr/>
          </p:nvSpPr>
          <p:spPr>
            <a:xfrm>
              <a:off x="5626894" y="3142473"/>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A</a:t>
              </a:r>
            </a:p>
          </p:txBody>
        </p:sp>
      </p:grpSp>
      <p:grpSp>
        <p:nvGrpSpPr>
          <p:cNvPr id="25" name="Group 24">
            <a:extLst>
              <a:ext uri="{FF2B5EF4-FFF2-40B4-BE49-F238E27FC236}">
                <a16:creationId xmlns:a16="http://schemas.microsoft.com/office/drawing/2014/main" id="{3B3A6DED-1597-4A15-BC01-FC23E1D06708}"/>
              </a:ext>
            </a:extLst>
          </p:cNvPr>
          <p:cNvGrpSpPr/>
          <p:nvPr/>
        </p:nvGrpSpPr>
        <p:grpSpPr>
          <a:xfrm>
            <a:off x="3712505" y="2680286"/>
            <a:ext cx="4151970" cy="2175944"/>
            <a:chOff x="4139286" y="2680286"/>
            <a:chExt cx="4151970" cy="2175944"/>
          </a:xfrm>
        </p:grpSpPr>
        <p:cxnSp>
          <p:nvCxnSpPr>
            <p:cNvPr id="21" name="Straight Arrow Connector 20">
              <a:extLst>
                <a:ext uri="{FF2B5EF4-FFF2-40B4-BE49-F238E27FC236}">
                  <a16:creationId xmlns:a16="http://schemas.microsoft.com/office/drawing/2014/main" id="{6949C64C-A43D-4B93-94C8-739FA65C9EAF}"/>
                </a:ext>
              </a:extLst>
            </p:cNvPr>
            <p:cNvCxnSpPr>
              <a:cxnSpLocks/>
            </p:cNvCxnSpPr>
            <p:nvPr/>
          </p:nvCxnSpPr>
          <p:spPr>
            <a:xfrm flipV="1">
              <a:off x="4378772" y="2680286"/>
              <a:ext cx="2291382" cy="2175944"/>
            </a:xfrm>
            <a:prstGeom prst="straightConnector1">
              <a:avLst/>
            </a:prstGeom>
            <a:ln w="57150">
              <a:solidFill>
                <a:srgbClr val="692B7D"/>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ADAE1F86-62AF-4D58-B975-3BB82839F08C}"/>
                </a:ext>
              </a:extLst>
            </p:cNvPr>
            <p:cNvSpPr/>
            <p:nvPr/>
          </p:nvSpPr>
          <p:spPr>
            <a:xfrm>
              <a:off x="4139286" y="3506882"/>
              <a:ext cx="415197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rgbClr val="692B7D"/>
                  </a:solidFill>
                  <a:effectLst>
                    <a:outerShdw blurRad="38100" dist="25400" dir="5400000" algn="ctr" rotWithShape="0">
                      <a:srgbClr val="6E747A">
                        <a:alpha val="43000"/>
                      </a:srgbClr>
                    </a:outerShdw>
                  </a:effectLst>
                </a:rPr>
                <a:t>A+B</a:t>
              </a:r>
            </a:p>
          </p:txBody>
        </p:sp>
      </p:grpSp>
      <p:grpSp>
        <p:nvGrpSpPr>
          <p:cNvPr id="24" name="Group 23">
            <a:extLst>
              <a:ext uri="{FF2B5EF4-FFF2-40B4-BE49-F238E27FC236}">
                <a16:creationId xmlns:a16="http://schemas.microsoft.com/office/drawing/2014/main" id="{118E90D5-A459-4379-9857-33A531BC82BE}"/>
              </a:ext>
            </a:extLst>
          </p:cNvPr>
          <p:cNvGrpSpPr/>
          <p:nvPr/>
        </p:nvGrpSpPr>
        <p:grpSpPr>
          <a:xfrm>
            <a:off x="4958420" y="1947309"/>
            <a:ext cx="1284355" cy="914400"/>
            <a:chOff x="6995182" y="2021371"/>
            <a:chExt cx="1284355" cy="914400"/>
          </a:xfrm>
        </p:grpSpPr>
        <p:cxnSp>
          <p:nvCxnSpPr>
            <p:cNvPr id="17" name="Straight Arrow Connector 16">
              <a:extLst>
                <a:ext uri="{FF2B5EF4-FFF2-40B4-BE49-F238E27FC236}">
                  <a16:creationId xmlns:a16="http://schemas.microsoft.com/office/drawing/2014/main" id="{7FAA613A-10D4-48DC-9091-192192638308}"/>
                </a:ext>
              </a:extLst>
            </p:cNvPr>
            <p:cNvCxnSpPr>
              <a:cxnSpLocks/>
            </p:cNvCxnSpPr>
            <p:nvPr/>
          </p:nvCxnSpPr>
          <p:spPr>
            <a:xfrm>
              <a:off x="6995182" y="2754348"/>
              <a:ext cx="128435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08305DC-B06D-48C3-A093-13CAB9658DBF}"/>
                </a:ext>
              </a:extLst>
            </p:cNvPr>
            <p:cNvSpPr/>
            <p:nvPr/>
          </p:nvSpPr>
          <p:spPr>
            <a:xfrm>
              <a:off x="7141909" y="2021371"/>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B</a:t>
              </a:r>
            </a:p>
          </p:txBody>
        </p:sp>
      </p:grpSp>
      <p:sp>
        <p:nvSpPr>
          <p:cNvPr id="7" name="Rectangle 6">
            <a:extLst>
              <a:ext uri="{FF2B5EF4-FFF2-40B4-BE49-F238E27FC236}">
                <a16:creationId xmlns:a16="http://schemas.microsoft.com/office/drawing/2014/main" id="{4D0C398F-488A-DB81-A691-CD19E8B69796}"/>
              </a:ext>
            </a:extLst>
          </p:cNvPr>
          <p:cNvSpPr/>
          <p:nvPr/>
        </p:nvSpPr>
        <p:spPr>
          <a:xfrm>
            <a:off x="8041983" y="1947309"/>
            <a:ext cx="3896017" cy="391898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AU" b="1" dirty="0">
                <a:solidFill>
                  <a:schemeClr val="tx1"/>
                </a:solidFill>
              </a:rPr>
              <a:t>Instructions:</a:t>
            </a:r>
          </a:p>
          <a:p>
            <a:pPr algn="ctr"/>
            <a:endParaRPr lang="en-AU" dirty="0">
              <a:solidFill>
                <a:schemeClr val="tx1"/>
              </a:solidFill>
            </a:endParaRPr>
          </a:p>
          <a:p>
            <a:pPr marL="342900" indent="-342900" algn="ctr">
              <a:buFont typeface="+mj-lt"/>
              <a:buAutoNum type="arabicPeriod"/>
            </a:pPr>
            <a:r>
              <a:rPr lang="en-AU" dirty="0">
                <a:solidFill>
                  <a:schemeClr val="tx1"/>
                </a:solidFill>
              </a:rPr>
              <a:t>Identify the two vectors</a:t>
            </a:r>
          </a:p>
          <a:p>
            <a:pPr marL="342900" indent="-342900" algn="ctr">
              <a:buFont typeface="+mj-lt"/>
              <a:buAutoNum type="arabicPeriod"/>
            </a:pPr>
            <a:r>
              <a:rPr lang="en-AU" dirty="0">
                <a:solidFill>
                  <a:schemeClr val="tx1"/>
                </a:solidFill>
              </a:rPr>
              <a:t>Choose one vector to start with.</a:t>
            </a:r>
          </a:p>
          <a:p>
            <a:pPr marL="342900" indent="-342900" algn="ctr">
              <a:buFont typeface="+mj-lt"/>
              <a:buAutoNum type="arabicPeriod"/>
            </a:pPr>
            <a:r>
              <a:rPr lang="en-AU" dirty="0">
                <a:solidFill>
                  <a:schemeClr val="tx1"/>
                </a:solidFill>
              </a:rPr>
              <a:t>Draw that vector (A).</a:t>
            </a:r>
          </a:p>
          <a:p>
            <a:pPr marL="342900" indent="-342900" algn="ctr">
              <a:buFont typeface="+mj-lt"/>
              <a:buAutoNum type="arabicPeriod"/>
            </a:pPr>
            <a:r>
              <a:rPr lang="en-AU" dirty="0">
                <a:solidFill>
                  <a:schemeClr val="tx1"/>
                </a:solidFill>
              </a:rPr>
              <a:t>Draw the second vector (B), attaching the start of B to the end of A.</a:t>
            </a:r>
          </a:p>
          <a:p>
            <a:pPr marL="342900" indent="-342900" algn="ctr">
              <a:buFont typeface="+mj-lt"/>
              <a:buAutoNum type="arabicPeriod"/>
            </a:pPr>
            <a:r>
              <a:rPr lang="en-AU" dirty="0">
                <a:solidFill>
                  <a:schemeClr val="tx1"/>
                </a:solidFill>
              </a:rPr>
              <a:t>Draw the resultant vector. It is the single, straight vector that connects the start location to the end location.</a:t>
            </a:r>
          </a:p>
        </p:txBody>
      </p:sp>
      <p:sp>
        <p:nvSpPr>
          <p:cNvPr id="9" name="Text Placeholder 2">
            <a:extLst>
              <a:ext uri="{FF2B5EF4-FFF2-40B4-BE49-F238E27FC236}">
                <a16:creationId xmlns:a16="http://schemas.microsoft.com/office/drawing/2014/main" id="{C8F2E2E3-A93E-C545-C4AB-228CD9AA0DEC}"/>
              </a:ext>
            </a:extLst>
          </p:cNvPr>
          <p:cNvSpPr txBox="1">
            <a:spLocks/>
          </p:cNvSpPr>
          <p:nvPr/>
        </p:nvSpPr>
        <p:spPr>
          <a:xfrm>
            <a:off x="230576" y="1709806"/>
            <a:ext cx="1104900" cy="28254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600" dirty="0"/>
              <a:t>Addition</a:t>
            </a:r>
          </a:p>
          <a:p>
            <a:endParaRPr lang="en-AU" dirty="0"/>
          </a:p>
        </p:txBody>
      </p:sp>
    </p:spTree>
    <p:extLst>
      <p:ext uri="{BB962C8B-B14F-4D97-AF65-F5344CB8AC3E}">
        <p14:creationId xmlns:p14="http://schemas.microsoft.com/office/powerpoint/2010/main" val="1660264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3" name="Text Placeholder 2">
            <a:extLst>
              <a:ext uri="{FF2B5EF4-FFF2-40B4-BE49-F238E27FC236}">
                <a16:creationId xmlns:a16="http://schemas.microsoft.com/office/drawing/2014/main" id="{C97FDB68-3734-4100-B745-3A70D62E7BB6}"/>
              </a:ext>
            </a:extLst>
          </p:cNvPr>
          <p:cNvSpPr>
            <a:spLocks noGrp="1"/>
          </p:cNvSpPr>
          <p:nvPr>
            <p:ph type="body" sz="quarter" idx="15"/>
          </p:nvPr>
        </p:nvSpPr>
        <p:spPr>
          <a:xfrm>
            <a:off x="397668" y="991704"/>
            <a:ext cx="11540332" cy="1971676"/>
          </a:xfrm>
        </p:spPr>
        <p:txBody>
          <a:bodyPr/>
          <a:lstStyle/>
          <a:p>
            <a:r>
              <a:rPr lang="en-AU" b="0" dirty="0"/>
              <a:t>Adding (and subtracting) vectors uses the ‘head to tail’ method.</a:t>
            </a:r>
          </a:p>
          <a:p>
            <a:endParaRPr lang="en-AU" b="0" dirty="0"/>
          </a:p>
          <a:p>
            <a:endParaRPr lang="en-AU" dirty="0"/>
          </a:p>
          <a:p>
            <a:endParaRPr lang="en-AU" dirty="0"/>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A quick review</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1153150"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8" name="Picture 7">
            <a:extLst>
              <a:ext uri="{FF2B5EF4-FFF2-40B4-BE49-F238E27FC236}">
                <a16:creationId xmlns:a16="http://schemas.microsoft.com/office/drawing/2014/main" id="{008179D0-2C04-4926-B1C4-51ABF0FE31F6}"/>
              </a:ext>
            </a:extLst>
          </p:cNvPr>
          <p:cNvPicPr>
            <a:picLocks noChangeAspect="1"/>
          </p:cNvPicPr>
          <p:nvPr/>
        </p:nvPicPr>
        <p:blipFill>
          <a:blip r:embed="rId3"/>
          <a:stretch>
            <a:fillRect/>
          </a:stretch>
        </p:blipFill>
        <p:spPr>
          <a:xfrm>
            <a:off x="173728" y="1741971"/>
            <a:ext cx="7610475" cy="4305300"/>
          </a:xfrm>
          <a:prstGeom prst="rect">
            <a:avLst/>
          </a:prstGeom>
        </p:spPr>
      </p:pic>
      <p:cxnSp>
        <p:nvCxnSpPr>
          <p:cNvPr id="10" name="Straight Arrow Connector 9">
            <a:extLst>
              <a:ext uri="{FF2B5EF4-FFF2-40B4-BE49-F238E27FC236}">
                <a16:creationId xmlns:a16="http://schemas.microsoft.com/office/drawing/2014/main" id="{DCE72285-AFD1-4B63-AF5F-1E08D4EEE8F6}"/>
              </a:ext>
            </a:extLst>
          </p:cNvPr>
          <p:cNvCxnSpPr/>
          <p:nvPr/>
        </p:nvCxnSpPr>
        <p:spPr>
          <a:xfrm flipV="1">
            <a:off x="511866" y="2362200"/>
            <a:ext cx="1104900" cy="2146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226CF65B-E064-44D0-8D30-130DA8539494}"/>
              </a:ext>
            </a:extLst>
          </p:cNvPr>
          <p:cNvSpPr/>
          <p:nvPr/>
        </p:nvSpPr>
        <p:spPr>
          <a:xfrm>
            <a:off x="403780" y="2514600"/>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A</a:t>
            </a:r>
          </a:p>
        </p:txBody>
      </p:sp>
      <p:cxnSp>
        <p:nvCxnSpPr>
          <p:cNvPr id="12" name="Straight Arrow Connector 11">
            <a:extLst>
              <a:ext uri="{FF2B5EF4-FFF2-40B4-BE49-F238E27FC236}">
                <a16:creationId xmlns:a16="http://schemas.microsoft.com/office/drawing/2014/main" id="{0FAC581D-60C8-416C-B831-403C93571302}"/>
              </a:ext>
            </a:extLst>
          </p:cNvPr>
          <p:cNvCxnSpPr>
            <a:cxnSpLocks/>
          </p:cNvCxnSpPr>
          <p:nvPr/>
        </p:nvCxnSpPr>
        <p:spPr>
          <a:xfrm>
            <a:off x="865811" y="5575300"/>
            <a:ext cx="128435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BE6AF4C-66A3-456B-A211-AE2C0B09A689}"/>
              </a:ext>
            </a:extLst>
          </p:cNvPr>
          <p:cNvSpPr/>
          <p:nvPr/>
        </p:nvSpPr>
        <p:spPr>
          <a:xfrm>
            <a:off x="1043319" y="4660900"/>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B</a:t>
            </a:r>
          </a:p>
        </p:txBody>
      </p:sp>
      <p:sp>
        <p:nvSpPr>
          <p:cNvPr id="15" name="Oval 14">
            <a:extLst>
              <a:ext uri="{FF2B5EF4-FFF2-40B4-BE49-F238E27FC236}">
                <a16:creationId xmlns:a16="http://schemas.microsoft.com/office/drawing/2014/main" id="{3FC6DF43-06AA-42F2-9F43-CA3B0A9C2EE6}"/>
              </a:ext>
            </a:extLst>
          </p:cNvPr>
          <p:cNvSpPr/>
          <p:nvPr/>
        </p:nvSpPr>
        <p:spPr>
          <a:xfrm>
            <a:off x="3675374" y="4832418"/>
            <a:ext cx="195747" cy="19574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grpSp>
        <p:nvGrpSpPr>
          <p:cNvPr id="20" name="Group 19">
            <a:extLst>
              <a:ext uri="{FF2B5EF4-FFF2-40B4-BE49-F238E27FC236}">
                <a16:creationId xmlns:a16="http://schemas.microsoft.com/office/drawing/2014/main" id="{51BB6C5B-6628-398C-8F6B-4BCD90AAB00C}"/>
              </a:ext>
            </a:extLst>
          </p:cNvPr>
          <p:cNvGrpSpPr/>
          <p:nvPr/>
        </p:nvGrpSpPr>
        <p:grpSpPr>
          <a:xfrm>
            <a:off x="5068957" y="2789927"/>
            <a:ext cx="1216667" cy="2146300"/>
            <a:chOff x="5068957" y="2789927"/>
            <a:chExt cx="1216667" cy="2146300"/>
          </a:xfrm>
        </p:grpSpPr>
        <p:cxnSp>
          <p:nvCxnSpPr>
            <p:cNvPr id="16" name="Straight Arrow Connector 15">
              <a:extLst>
                <a:ext uri="{FF2B5EF4-FFF2-40B4-BE49-F238E27FC236}">
                  <a16:creationId xmlns:a16="http://schemas.microsoft.com/office/drawing/2014/main" id="{FEEC4853-18A2-4AE5-95B1-1B67CA4E8BD8}"/>
                </a:ext>
              </a:extLst>
            </p:cNvPr>
            <p:cNvCxnSpPr/>
            <p:nvPr/>
          </p:nvCxnSpPr>
          <p:spPr>
            <a:xfrm flipV="1">
              <a:off x="5068957" y="2789927"/>
              <a:ext cx="1104900" cy="2146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1553BB3-CE38-4902-ADD3-C883611C52D4}"/>
                </a:ext>
              </a:extLst>
            </p:cNvPr>
            <p:cNvSpPr/>
            <p:nvPr/>
          </p:nvSpPr>
          <p:spPr>
            <a:xfrm>
              <a:off x="5371224" y="3713647"/>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A</a:t>
              </a:r>
            </a:p>
          </p:txBody>
        </p:sp>
      </p:grpSp>
      <p:grpSp>
        <p:nvGrpSpPr>
          <p:cNvPr id="23" name="Group 22">
            <a:extLst>
              <a:ext uri="{FF2B5EF4-FFF2-40B4-BE49-F238E27FC236}">
                <a16:creationId xmlns:a16="http://schemas.microsoft.com/office/drawing/2014/main" id="{7E4C0B62-B07F-0BE3-2549-CD75466C6AE8}"/>
              </a:ext>
            </a:extLst>
          </p:cNvPr>
          <p:cNvGrpSpPr/>
          <p:nvPr/>
        </p:nvGrpSpPr>
        <p:grpSpPr>
          <a:xfrm>
            <a:off x="3871121" y="4803189"/>
            <a:ext cx="1284355" cy="914400"/>
            <a:chOff x="3871121" y="4803189"/>
            <a:chExt cx="1284355" cy="914400"/>
          </a:xfrm>
        </p:grpSpPr>
        <p:cxnSp>
          <p:nvCxnSpPr>
            <p:cNvPr id="17" name="Straight Arrow Connector 16">
              <a:extLst>
                <a:ext uri="{FF2B5EF4-FFF2-40B4-BE49-F238E27FC236}">
                  <a16:creationId xmlns:a16="http://schemas.microsoft.com/office/drawing/2014/main" id="{7FAA613A-10D4-48DC-9091-192192638308}"/>
                </a:ext>
              </a:extLst>
            </p:cNvPr>
            <p:cNvCxnSpPr>
              <a:cxnSpLocks/>
            </p:cNvCxnSpPr>
            <p:nvPr/>
          </p:nvCxnSpPr>
          <p:spPr>
            <a:xfrm>
              <a:off x="3871121" y="4930292"/>
              <a:ext cx="128435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08305DC-B06D-48C3-A093-13CAB9658DBF}"/>
                </a:ext>
              </a:extLst>
            </p:cNvPr>
            <p:cNvSpPr/>
            <p:nvPr/>
          </p:nvSpPr>
          <p:spPr>
            <a:xfrm>
              <a:off x="4149008" y="4803189"/>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B</a:t>
              </a:r>
            </a:p>
          </p:txBody>
        </p:sp>
      </p:grpSp>
      <p:grpSp>
        <p:nvGrpSpPr>
          <p:cNvPr id="24" name="Group 23">
            <a:extLst>
              <a:ext uri="{FF2B5EF4-FFF2-40B4-BE49-F238E27FC236}">
                <a16:creationId xmlns:a16="http://schemas.microsoft.com/office/drawing/2014/main" id="{F7E3A923-1E2D-4AAB-3B4E-9DC5DDCD2F0C}"/>
              </a:ext>
            </a:extLst>
          </p:cNvPr>
          <p:cNvGrpSpPr/>
          <p:nvPr/>
        </p:nvGrpSpPr>
        <p:grpSpPr>
          <a:xfrm>
            <a:off x="2437313" y="2754348"/>
            <a:ext cx="4151970" cy="2175944"/>
            <a:chOff x="2437313" y="2754348"/>
            <a:chExt cx="4151970" cy="2175944"/>
          </a:xfrm>
        </p:grpSpPr>
        <p:cxnSp>
          <p:nvCxnSpPr>
            <p:cNvPr id="21" name="Straight Arrow Connector 20">
              <a:extLst>
                <a:ext uri="{FF2B5EF4-FFF2-40B4-BE49-F238E27FC236}">
                  <a16:creationId xmlns:a16="http://schemas.microsoft.com/office/drawing/2014/main" id="{6949C64C-A43D-4B93-94C8-739FA65C9EAF}"/>
                </a:ext>
              </a:extLst>
            </p:cNvPr>
            <p:cNvCxnSpPr>
              <a:cxnSpLocks/>
              <a:stCxn id="15" idx="6"/>
            </p:cNvCxnSpPr>
            <p:nvPr/>
          </p:nvCxnSpPr>
          <p:spPr>
            <a:xfrm flipV="1">
              <a:off x="3871121" y="2754348"/>
              <a:ext cx="2291382" cy="2175944"/>
            </a:xfrm>
            <a:prstGeom prst="straightConnector1">
              <a:avLst/>
            </a:prstGeom>
            <a:ln w="57150">
              <a:solidFill>
                <a:srgbClr val="692B7D"/>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ADAE1F86-62AF-4D58-B975-3BB82839F08C}"/>
                </a:ext>
              </a:extLst>
            </p:cNvPr>
            <p:cNvSpPr/>
            <p:nvPr/>
          </p:nvSpPr>
          <p:spPr>
            <a:xfrm>
              <a:off x="2437313" y="2997457"/>
              <a:ext cx="415197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rgbClr val="692B7D"/>
                  </a:solidFill>
                  <a:effectLst>
                    <a:outerShdw blurRad="38100" dist="25400" dir="5400000" algn="ctr" rotWithShape="0">
                      <a:srgbClr val="6E747A">
                        <a:alpha val="43000"/>
                      </a:srgbClr>
                    </a:outerShdw>
                  </a:effectLst>
                </a:rPr>
                <a:t>A+B</a:t>
              </a:r>
            </a:p>
          </p:txBody>
        </p:sp>
      </p:grpSp>
      <p:sp>
        <p:nvSpPr>
          <p:cNvPr id="7" name="Text Placeholder 2">
            <a:extLst>
              <a:ext uri="{FF2B5EF4-FFF2-40B4-BE49-F238E27FC236}">
                <a16:creationId xmlns:a16="http://schemas.microsoft.com/office/drawing/2014/main" id="{6DAE8A80-A70D-C40D-7FD7-1B61B8C145D5}"/>
              </a:ext>
            </a:extLst>
          </p:cNvPr>
          <p:cNvSpPr txBox="1">
            <a:spLocks/>
          </p:cNvSpPr>
          <p:nvPr/>
        </p:nvSpPr>
        <p:spPr>
          <a:xfrm>
            <a:off x="154956" y="1748308"/>
            <a:ext cx="1104900" cy="28254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600" dirty="0"/>
              <a:t>Addition</a:t>
            </a:r>
          </a:p>
          <a:p>
            <a:endParaRPr lang="en-AU" dirty="0"/>
          </a:p>
        </p:txBody>
      </p:sp>
      <p:sp>
        <p:nvSpPr>
          <p:cNvPr id="9" name="Rectangle 8">
            <a:extLst>
              <a:ext uri="{FF2B5EF4-FFF2-40B4-BE49-F238E27FC236}">
                <a16:creationId xmlns:a16="http://schemas.microsoft.com/office/drawing/2014/main" id="{E6F928F1-36E8-6EF6-F18E-CC50D8C7E8CF}"/>
              </a:ext>
            </a:extLst>
          </p:cNvPr>
          <p:cNvSpPr/>
          <p:nvPr/>
        </p:nvSpPr>
        <p:spPr>
          <a:xfrm>
            <a:off x="8041983" y="1947309"/>
            <a:ext cx="3896017" cy="10160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AU" b="1" dirty="0">
                <a:solidFill>
                  <a:schemeClr val="tx1"/>
                </a:solidFill>
              </a:rPr>
              <a:t>The order of vectors does not matter. The resultant vector will always be the same.</a:t>
            </a:r>
          </a:p>
          <a:p>
            <a:pPr algn="ctr"/>
            <a:endParaRPr lang="en-AU" b="1" dirty="0">
              <a:solidFill>
                <a:schemeClr val="tx1"/>
              </a:solidFill>
            </a:endParaRPr>
          </a:p>
          <a:p>
            <a:pPr algn="ctr"/>
            <a:endParaRPr lang="en-AU" b="1" dirty="0">
              <a:solidFill>
                <a:schemeClr val="tx1"/>
              </a:solidFill>
            </a:endParaRPr>
          </a:p>
          <a:p>
            <a:pPr algn="ctr"/>
            <a:endParaRPr lang="en-AU" dirty="0">
              <a:solidFill>
                <a:schemeClr val="tx1"/>
              </a:solidFill>
            </a:endParaRPr>
          </a:p>
        </p:txBody>
      </p:sp>
      <p:sp>
        <p:nvSpPr>
          <p:cNvPr id="14" name="Rectangle 13">
            <a:extLst>
              <a:ext uri="{FF2B5EF4-FFF2-40B4-BE49-F238E27FC236}">
                <a16:creationId xmlns:a16="http://schemas.microsoft.com/office/drawing/2014/main" id="{FF7670F4-DDC0-A200-DF55-BD42AFD20258}"/>
              </a:ext>
            </a:extLst>
          </p:cNvPr>
          <p:cNvSpPr/>
          <p:nvPr/>
        </p:nvSpPr>
        <p:spPr>
          <a:xfrm>
            <a:off x="8041983" y="3726139"/>
            <a:ext cx="3896017" cy="13020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AU" i="1" dirty="0">
                <a:solidFill>
                  <a:schemeClr val="tx1"/>
                </a:solidFill>
              </a:rPr>
              <a:t>Think of it like walking diagonally across a park vs walking down two perpendicular paths. You end up in the same place.</a:t>
            </a:r>
          </a:p>
          <a:p>
            <a:pPr algn="ctr"/>
            <a:endParaRPr lang="en-AU" dirty="0">
              <a:solidFill>
                <a:schemeClr val="tx1"/>
              </a:solidFill>
            </a:endParaRPr>
          </a:p>
        </p:txBody>
      </p:sp>
    </p:spTree>
    <p:extLst>
      <p:ext uri="{BB962C8B-B14F-4D97-AF65-F5344CB8AC3E}">
        <p14:creationId xmlns:p14="http://schemas.microsoft.com/office/powerpoint/2010/main" val="2630153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3" name="Text Placeholder 2">
            <a:extLst>
              <a:ext uri="{FF2B5EF4-FFF2-40B4-BE49-F238E27FC236}">
                <a16:creationId xmlns:a16="http://schemas.microsoft.com/office/drawing/2014/main" id="{C97FDB68-3734-4100-B745-3A70D62E7BB6}"/>
              </a:ext>
            </a:extLst>
          </p:cNvPr>
          <p:cNvSpPr>
            <a:spLocks noGrp="1"/>
          </p:cNvSpPr>
          <p:nvPr>
            <p:ph type="body" sz="quarter" idx="15"/>
          </p:nvPr>
        </p:nvSpPr>
        <p:spPr>
          <a:xfrm>
            <a:off x="397668" y="991704"/>
            <a:ext cx="11540332" cy="1971676"/>
          </a:xfrm>
        </p:spPr>
        <p:txBody>
          <a:bodyPr/>
          <a:lstStyle/>
          <a:p>
            <a:r>
              <a:rPr lang="en-AU" b="0" dirty="0"/>
              <a:t>To subtract vectors, you add the negative of subtracted vector.</a:t>
            </a:r>
          </a:p>
          <a:p>
            <a:endParaRPr lang="en-AU" b="0" dirty="0"/>
          </a:p>
          <a:p>
            <a:endParaRPr lang="en-AU" dirty="0"/>
          </a:p>
          <a:p>
            <a:endParaRPr lang="en-AU" dirty="0"/>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A quick review</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1153150"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8" name="Picture 7">
            <a:extLst>
              <a:ext uri="{FF2B5EF4-FFF2-40B4-BE49-F238E27FC236}">
                <a16:creationId xmlns:a16="http://schemas.microsoft.com/office/drawing/2014/main" id="{008179D0-2C04-4926-B1C4-51ABF0FE31F6}"/>
              </a:ext>
            </a:extLst>
          </p:cNvPr>
          <p:cNvPicPr>
            <a:picLocks noChangeAspect="1"/>
          </p:cNvPicPr>
          <p:nvPr/>
        </p:nvPicPr>
        <p:blipFill>
          <a:blip r:embed="rId3"/>
          <a:stretch>
            <a:fillRect/>
          </a:stretch>
        </p:blipFill>
        <p:spPr>
          <a:xfrm>
            <a:off x="173728" y="1741971"/>
            <a:ext cx="7610475" cy="4305300"/>
          </a:xfrm>
          <a:prstGeom prst="rect">
            <a:avLst/>
          </a:prstGeom>
        </p:spPr>
      </p:pic>
      <p:cxnSp>
        <p:nvCxnSpPr>
          <p:cNvPr id="10" name="Straight Arrow Connector 9">
            <a:extLst>
              <a:ext uri="{FF2B5EF4-FFF2-40B4-BE49-F238E27FC236}">
                <a16:creationId xmlns:a16="http://schemas.microsoft.com/office/drawing/2014/main" id="{DCE72285-AFD1-4B63-AF5F-1E08D4EEE8F6}"/>
              </a:ext>
            </a:extLst>
          </p:cNvPr>
          <p:cNvCxnSpPr/>
          <p:nvPr/>
        </p:nvCxnSpPr>
        <p:spPr>
          <a:xfrm flipV="1">
            <a:off x="511866" y="2362200"/>
            <a:ext cx="1104900" cy="2146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226CF65B-E064-44D0-8D30-130DA8539494}"/>
              </a:ext>
            </a:extLst>
          </p:cNvPr>
          <p:cNvSpPr/>
          <p:nvPr/>
        </p:nvSpPr>
        <p:spPr>
          <a:xfrm>
            <a:off x="403780" y="2514600"/>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A</a:t>
            </a:r>
          </a:p>
        </p:txBody>
      </p:sp>
      <p:cxnSp>
        <p:nvCxnSpPr>
          <p:cNvPr id="12" name="Straight Arrow Connector 11">
            <a:extLst>
              <a:ext uri="{FF2B5EF4-FFF2-40B4-BE49-F238E27FC236}">
                <a16:creationId xmlns:a16="http://schemas.microsoft.com/office/drawing/2014/main" id="{0FAC581D-60C8-416C-B831-403C93571302}"/>
              </a:ext>
            </a:extLst>
          </p:cNvPr>
          <p:cNvCxnSpPr>
            <a:cxnSpLocks/>
          </p:cNvCxnSpPr>
          <p:nvPr/>
        </p:nvCxnSpPr>
        <p:spPr>
          <a:xfrm>
            <a:off x="260438" y="5538859"/>
            <a:ext cx="128435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BE6AF4C-66A3-456B-A211-AE2C0B09A689}"/>
              </a:ext>
            </a:extLst>
          </p:cNvPr>
          <p:cNvSpPr/>
          <p:nvPr/>
        </p:nvSpPr>
        <p:spPr>
          <a:xfrm>
            <a:off x="437946" y="4624459"/>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B</a:t>
            </a:r>
          </a:p>
        </p:txBody>
      </p:sp>
      <p:sp>
        <p:nvSpPr>
          <p:cNvPr id="15" name="Oval 14">
            <a:extLst>
              <a:ext uri="{FF2B5EF4-FFF2-40B4-BE49-F238E27FC236}">
                <a16:creationId xmlns:a16="http://schemas.microsoft.com/office/drawing/2014/main" id="{3FC6DF43-06AA-42F2-9F43-CA3B0A9C2EE6}"/>
              </a:ext>
            </a:extLst>
          </p:cNvPr>
          <p:cNvSpPr/>
          <p:nvPr/>
        </p:nvSpPr>
        <p:spPr>
          <a:xfrm>
            <a:off x="4984307" y="4803189"/>
            <a:ext cx="195747" cy="19574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grpSp>
        <p:nvGrpSpPr>
          <p:cNvPr id="28" name="Group 27">
            <a:extLst>
              <a:ext uri="{FF2B5EF4-FFF2-40B4-BE49-F238E27FC236}">
                <a16:creationId xmlns:a16="http://schemas.microsoft.com/office/drawing/2014/main" id="{696DFBF0-BDDF-FC0E-E333-E89F1C8613CC}"/>
              </a:ext>
            </a:extLst>
          </p:cNvPr>
          <p:cNvGrpSpPr/>
          <p:nvPr/>
        </p:nvGrpSpPr>
        <p:grpSpPr>
          <a:xfrm>
            <a:off x="5068957" y="2789927"/>
            <a:ext cx="1216667" cy="2146300"/>
            <a:chOff x="5068957" y="2789927"/>
            <a:chExt cx="1216667" cy="2146300"/>
          </a:xfrm>
        </p:grpSpPr>
        <p:cxnSp>
          <p:nvCxnSpPr>
            <p:cNvPr id="16" name="Straight Arrow Connector 15">
              <a:extLst>
                <a:ext uri="{FF2B5EF4-FFF2-40B4-BE49-F238E27FC236}">
                  <a16:creationId xmlns:a16="http://schemas.microsoft.com/office/drawing/2014/main" id="{FEEC4853-18A2-4AE5-95B1-1B67CA4E8BD8}"/>
                </a:ext>
              </a:extLst>
            </p:cNvPr>
            <p:cNvCxnSpPr/>
            <p:nvPr/>
          </p:nvCxnSpPr>
          <p:spPr>
            <a:xfrm flipV="1">
              <a:off x="5068957" y="2789927"/>
              <a:ext cx="1104900" cy="21463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1553BB3-CE38-4902-ADD3-C883611C52D4}"/>
                </a:ext>
              </a:extLst>
            </p:cNvPr>
            <p:cNvSpPr/>
            <p:nvPr/>
          </p:nvSpPr>
          <p:spPr>
            <a:xfrm>
              <a:off x="5371224" y="3713647"/>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A</a:t>
              </a:r>
            </a:p>
          </p:txBody>
        </p:sp>
      </p:grpSp>
      <p:grpSp>
        <p:nvGrpSpPr>
          <p:cNvPr id="30" name="Group 29">
            <a:extLst>
              <a:ext uri="{FF2B5EF4-FFF2-40B4-BE49-F238E27FC236}">
                <a16:creationId xmlns:a16="http://schemas.microsoft.com/office/drawing/2014/main" id="{743D10C2-D9CC-EF87-5B54-40530758ED39}"/>
              </a:ext>
            </a:extLst>
          </p:cNvPr>
          <p:cNvGrpSpPr/>
          <p:nvPr/>
        </p:nvGrpSpPr>
        <p:grpSpPr>
          <a:xfrm>
            <a:off x="2278287" y="2820364"/>
            <a:ext cx="4151970" cy="1982825"/>
            <a:chOff x="2278287" y="2820364"/>
            <a:chExt cx="4151970" cy="1982825"/>
          </a:xfrm>
        </p:grpSpPr>
        <p:cxnSp>
          <p:nvCxnSpPr>
            <p:cNvPr id="21" name="Straight Arrow Connector 20">
              <a:extLst>
                <a:ext uri="{FF2B5EF4-FFF2-40B4-BE49-F238E27FC236}">
                  <a16:creationId xmlns:a16="http://schemas.microsoft.com/office/drawing/2014/main" id="{6949C64C-A43D-4B93-94C8-739FA65C9EAF}"/>
                </a:ext>
              </a:extLst>
            </p:cNvPr>
            <p:cNvCxnSpPr>
              <a:cxnSpLocks/>
              <a:stCxn id="15" idx="0"/>
            </p:cNvCxnSpPr>
            <p:nvPr/>
          </p:nvCxnSpPr>
          <p:spPr>
            <a:xfrm flipH="1" flipV="1">
              <a:off x="4928985" y="2820364"/>
              <a:ext cx="153196" cy="1982825"/>
            </a:xfrm>
            <a:prstGeom prst="straightConnector1">
              <a:avLst/>
            </a:prstGeom>
            <a:ln w="57150">
              <a:solidFill>
                <a:srgbClr val="692B7D"/>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ADAE1F86-62AF-4D58-B975-3BB82839F08C}"/>
                </a:ext>
              </a:extLst>
            </p:cNvPr>
            <p:cNvSpPr/>
            <p:nvPr/>
          </p:nvSpPr>
          <p:spPr>
            <a:xfrm>
              <a:off x="2278287" y="3166955"/>
              <a:ext cx="415197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rgbClr val="692B7D"/>
                  </a:solidFill>
                  <a:effectLst>
                    <a:outerShdw blurRad="38100" dist="25400" dir="5400000" algn="ctr" rotWithShape="0">
                      <a:srgbClr val="6E747A">
                        <a:alpha val="43000"/>
                      </a:srgbClr>
                    </a:outerShdw>
                  </a:effectLst>
                </a:rPr>
                <a:t>A+-B</a:t>
              </a:r>
            </a:p>
          </p:txBody>
        </p:sp>
      </p:grpSp>
      <p:sp>
        <p:nvSpPr>
          <p:cNvPr id="7" name="Text Placeholder 2">
            <a:extLst>
              <a:ext uri="{FF2B5EF4-FFF2-40B4-BE49-F238E27FC236}">
                <a16:creationId xmlns:a16="http://schemas.microsoft.com/office/drawing/2014/main" id="{6DAE8A80-A70D-C40D-7FD7-1B61B8C145D5}"/>
              </a:ext>
            </a:extLst>
          </p:cNvPr>
          <p:cNvSpPr txBox="1">
            <a:spLocks/>
          </p:cNvSpPr>
          <p:nvPr/>
        </p:nvSpPr>
        <p:spPr>
          <a:xfrm>
            <a:off x="154955" y="1748308"/>
            <a:ext cx="1385609" cy="28254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600" dirty="0"/>
              <a:t>Subtraction</a:t>
            </a:r>
          </a:p>
          <a:p>
            <a:endParaRPr lang="en-AU" dirty="0"/>
          </a:p>
        </p:txBody>
      </p:sp>
      <p:grpSp>
        <p:nvGrpSpPr>
          <p:cNvPr id="29" name="Group 28">
            <a:extLst>
              <a:ext uri="{FF2B5EF4-FFF2-40B4-BE49-F238E27FC236}">
                <a16:creationId xmlns:a16="http://schemas.microsoft.com/office/drawing/2014/main" id="{CA544FD9-4F7D-CC95-3EE2-960002ED3B6A}"/>
              </a:ext>
            </a:extLst>
          </p:cNvPr>
          <p:cNvGrpSpPr/>
          <p:nvPr/>
        </p:nvGrpSpPr>
        <p:grpSpPr>
          <a:xfrm>
            <a:off x="4878148" y="1983952"/>
            <a:ext cx="1284355" cy="914400"/>
            <a:chOff x="4878148" y="1983952"/>
            <a:chExt cx="1284355" cy="914400"/>
          </a:xfrm>
        </p:grpSpPr>
        <p:sp>
          <p:nvSpPr>
            <p:cNvPr id="19" name="Rectangle 18">
              <a:extLst>
                <a:ext uri="{FF2B5EF4-FFF2-40B4-BE49-F238E27FC236}">
                  <a16:creationId xmlns:a16="http://schemas.microsoft.com/office/drawing/2014/main" id="{608305DC-B06D-48C3-A093-13CAB9658DBF}"/>
                </a:ext>
              </a:extLst>
            </p:cNvPr>
            <p:cNvSpPr/>
            <p:nvPr/>
          </p:nvSpPr>
          <p:spPr>
            <a:xfrm>
              <a:off x="5063408" y="1983952"/>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-B</a:t>
              </a:r>
            </a:p>
          </p:txBody>
        </p:sp>
        <p:cxnSp>
          <p:nvCxnSpPr>
            <p:cNvPr id="5" name="Straight Arrow Connector 4">
              <a:extLst>
                <a:ext uri="{FF2B5EF4-FFF2-40B4-BE49-F238E27FC236}">
                  <a16:creationId xmlns:a16="http://schemas.microsoft.com/office/drawing/2014/main" id="{B0A25064-4615-A77F-F7FD-9FC83A709983}"/>
                </a:ext>
              </a:extLst>
            </p:cNvPr>
            <p:cNvCxnSpPr>
              <a:cxnSpLocks/>
            </p:cNvCxnSpPr>
            <p:nvPr/>
          </p:nvCxnSpPr>
          <p:spPr>
            <a:xfrm>
              <a:off x="4878148" y="2792690"/>
              <a:ext cx="1284355" cy="0"/>
            </a:xfrm>
            <a:prstGeom prst="straightConnector1">
              <a:avLst/>
            </a:prstGeom>
            <a:ln w="5715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2239849C-98EB-668B-9487-521D1298BA64}"/>
              </a:ext>
            </a:extLst>
          </p:cNvPr>
          <p:cNvGrpSpPr/>
          <p:nvPr/>
        </p:nvGrpSpPr>
        <p:grpSpPr>
          <a:xfrm>
            <a:off x="1795135" y="4624459"/>
            <a:ext cx="1284355" cy="914400"/>
            <a:chOff x="1795135" y="4624459"/>
            <a:chExt cx="1284355" cy="914400"/>
          </a:xfrm>
        </p:grpSpPr>
        <p:sp>
          <p:nvSpPr>
            <p:cNvPr id="20" name="Rectangle 19">
              <a:extLst>
                <a:ext uri="{FF2B5EF4-FFF2-40B4-BE49-F238E27FC236}">
                  <a16:creationId xmlns:a16="http://schemas.microsoft.com/office/drawing/2014/main" id="{848AC418-D1EC-B8CC-DAA3-9AC5B1FC1B5E}"/>
                </a:ext>
              </a:extLst>
            </p:cNvPr>
            <p:cNvSpPr/>
            <p:nvPr/>
          </p:nvSpPr>
          <p:spPr>
            <a:xfrm>
              <a:off x="1980113" y="4624459"/>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-B</a:t>
              </a:r>
            </a:p>
          </p:txBody>
        </p:sp>
        <p:cxnSp>
          <p:nvCxnSpPr>
            <p:cNvPr id="25" name="Straight Arrow Connector 24">
              <a:extLst>
                <a:ext uri="{FF2B5EF4-FFF2-40B4-BE49-F238E27FC236}">
                  <a16:creationId xmlns:a16="http://schemas.microsoft.com/office/drawing/2014/main" id="{B05AA750-73C3-2900-5E39-5A33A8ADD7AF}"/>
                </a:ext>
              </a:extLst>
            </p:cNvPr>
            <p:cNvCxnSpPr>
              <a:cxnSpLocks/>
            </p:cNvCxnSpPr>
            <p:nvPr/>
          </p:nvCxnSpPr>
          <p:spPr>
            <a:xfrm>
              <a:off x="1795135" y="5538859"/>
              <a:ext cx="1284355" cy="0"/>
            </a:xfrm>
            <a:prstGeom prst="straightConnector1">
              <a:avLst/>
            </a:prstGeom>
            <a:ln w="57150">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F5CF9359-E5BC-D3BA-0213-17E4A8E9EACB}"/>
              </a:ext>
            </a:extLst>
          </p:cNvPr>
          <p:cNvSpPr/>
          <p:nvPr/>
        </p:nvSpPr>
        <p:spPr>
          <a:xfrm>
            <a:off x="7878416" y="1754153"/>
            <a:ext cx="3896017" cy="37847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AU" b="1" dirty="0">
                <a:solidFill>
                  <a:schemeClr val="tx1"/>
                </a:solidFill>
              </a:rPr>
              <a:t>Instructions:</a:t>
            </a:r>
          </a:p>
          <a:p>
            <a:pPr algn="ctr"/>
            <a:endParaRPr lang="en-AU" dirty="0">
              <a:solidFill>
                <a:schemeClr val="tx1"/>
              </a:solidFill>
            </a:endParaRPr>
          </a:p>
          <a:p>
            <a:pPr marL="342900" indent="-342900" algn="ctr">
              <a:buFont typeface="+mj-lt"/>
              <a:buAutoNum type="arabicPeriod"/>
            </a:pPr>
            <a:r>
              <a:rPr lang="en-AU" dirty="0">
                <a:solidFill>
                  <a:schemeClr val="tx1"/>
                </a:solidFill>
              </a:rPr>
              <a:t>Identify the two vectors (A and B).</a:t>
            </a:r>
          </a:p>
          <a:p>
            <a:pPr marL="342900" indent="-342900" algn="ctr">
              <a:buFont typeface="+mj-lt"/>
              <a:buAutoNum type="arabicPeriod"/>
            </a:pPr>
            <a:r>
              <a:rPr lang="en-AU" dirty="0">
                <a:solidFill>
                  <a:schemeClr val="tx1"/>
                </a:solidFill>
              </a:rPr>
              <a:t>Flip the direction of the vector being subtracted (B to -B).</a:t>
            </a:r>
          </a:p>
          <a:p>
            <a:pPr marL="342900" indent="-342900" algn="ctr">
              <a:buFont typeface="+mj-lt"/>
              <a:buAutoNum type="arabicPeriod"/>
            </a:pPr>
            <a:r>
              <a:rPr lang="en-AU" dirty="0">
                <a:solidFill>
                  <a:schemeClr val="tx1"/>
                </a:solidFill>
              </a:rPr>
              <a:t>Draw vector A.</a:t>
            </a:r>
          </a:p>
          <a:p>
            <a:pPr marL="342900" indent="-342900" algn="ctr">
              <a:buFont typeface="+mj-lt"/>
              <a:buAutoNum type="arabicPeriod"/>
            </a:pPr>
            <a:r>
              <a:rPr lang="en-AU" dirty="0">
                <a:solidFill>
                  <a:schemeClr val="tx1"/>
                </a:solidFill>
              </a:rPr>
              <a:t>Draw vector –B, attaching the start of –B to the end of A.</a:t>
            </a:r>
          </a:p>
          <a:p>
            <a:pPr marL="342900" indent="-342900" algn="ctr">
              <a:buFont typeface="+mj-lt"/>
              <a:buAutoNum type="arabicPeriod"/>
            </a:pPr>
            <a:r>
              <a:rPr lang="en-AU" dirty="0">
                <a:solidFill>
                  <a:schemeClr val="tx1"/>
                </a:solidFill>
              </a:rPr>
              <a:t>Draw the resultant vector. It is the single, straight vector that connects the start location to the end location.</a:t>
            </a:r>
          </a:p>
        </p:txBody>
      </p:sp>
    </p:spTree>
    <p:extLst>
      <p:ext uri="{BB962C8B-B14F-4D97-AF65-F5344CB8AC3E}">
        <p14:creationId xmlns:p14="http://schemas.microsoft.com/office/powerpoint/2010/main" val="3851492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3" name="Text Placeholder 2">
            <a:extLst>
              <a:ext uri="{FF2B5EF4-FFF2-40B4-BE49-F238E27FC236}">
                <a16:creationId xmlns:a16="http://schemas.microsoft.com/office/drawing/2014/main" id="{C97FDB68-3734-4100-B745-3A70D62E7BB6}"/>
              </a:ext>
            </a:extLst>
          </p:cNvPr>
          <p:cNvSpPr>
            <a:spLocks noGrp="1"/>
          </p:cNvSpPr>
          <p:nvPr>
            <p:ph type="body" sz="quarter" idx="15"/>
          </p:nvPr>
        </p:nvSpPr>
        <p:spPr>
          <a:xfrm>
            <a:off x="397668" y="991704"/>
            <a:ext cx="11540332" cy="1971676"/>
          </a:xfrm>
        </p:spPr>
        <p:txBody>
          <a:bodyPr/>
          <a:lstStyle/>
          <a:p>
            <a:r>
              <a:rPr lang="en-AU" b="0" dirty="0"/>
              <a:t>For each of these: draw the vector diagram and calculate the resultant vector.</a:t>
            </a:r>
          </a:p>
          <a:p>
            <a:r>
              <a:rPr lang="en-AU" sz="2000" b="0" i="0" dirty="0">
                <a:effectLst/>
                <a:latin typeface="Arial" panose="020B0604020202020204" pitchFamily="34" charset="0"/>
              </a:rPr>
              <a:t>a) A plane heads due west at 180 m s</a:t>
            </a:r>
            <a:r>
              <a:rPr lang="en-AU" sz="2000" b="0" i="0" baseline="30000" dirty="0">
                <a:effectLst/>
                <a:latin typeface="Arial" panose="020B0604020202020204" pitchFamily="34" charset="0"/>
              </a:rPr>
              <a:t>-1</a:t>
            </a:r>
            <a:r>
              <a:rPr lang="en-AU" sz="2000" b="0" i="0" dirty="0">
                <a:effectLst/>
                <a:latin typeface="Arial" panose="020B0604020202020204" pitchFamily="34" charset="0"/>
              </a:rPr>
              <a:t>. A wind blows from the south with a velocity of 30 m s</a:t>
            </a:r>
            <a:r>
              <a:rPr lang="en-AU" sz="2000" b="0" i="0" baseline="30000" dirty="0">
                <a:effectLst/>
                <a:latin typeface="Arial" panose="020B0604020202020204" pitchFamily="34" charset="0"/>
              </a:rPr>
              <a:t>-1</a:t>
            </a:r>
            <a:r>
              <a:rPr lang="en-AU" sz="2000" b="0" i="0" dirty="0">
                <a:effectLst/>
                <a:latin typeface="Arial" panose="020B0604020202020204" pitchFamily="34" charset="0"/>
              </a:rPr>
              <a:t>.</a:t>
            </a:r>
          </a:p>
          <a:p>
            <a:endParaRPr lang="en-AU" sz="2000" b="0" dirty="0">
              <a:latin typeface="Arial" panose="020B0604020202020204" pitchFamily="34" charset="0"/>
            </a:endParaRPr>
          </a:p>
          <a:p>
            <a:endParaRPr lang="en-AU" sz="2000" b="0" dirty="0">
              <a:effectLst/>
              <a:latin typeface="Arial" panose="020B0604020202020204" pitchFamily="34" charset="0"/>
            </a:endParaRPr>
          </a:p>
          <a:p>
            <a:endParaRPr lang="en-AU" sz="2000" b="0" dirty="0">
              <a:latin typeface="Arial" panose="020B0604020202020204" pitchFamily="34" charset="0"/>
            </a:endParaRPr>
          </a:p>
          <a:p>
            <a:endParaRPr lang="en-AU" sz="2000" b="0" dirty="0">
              <a:latin typeface="Arial" panose="020B0604020202020204" pitchFamily="34" charset="0"/>
            </a:endParaRPr>
          </a:p>
          <a:p>
            <a:r>
              <a:rPr lang="en-AU" sz="2000" b="0" dirty="0">
                <a:effectLst/>
                <a:latin typeface="Arial" panose="020B0604020202020204" pitchFamily="34" charset="0"/>
              </a:rPr>
              <a:t>b) A motor boat heads across a river at 15 m s</a:t>
            </a:r>
            <a:r>
              <a:rPr lang="en-AU" sz="2000" b="0" baseline="30000" dirty="0">
                <a:effectLst/>
                <a:latin typeface="Arial" panose="020B0604020202020204" pitchFamily="34" charset="0"/>
              </a:rPr>
              <a:t>-1</a:t>
            </a:r>
            <a:r>
              <a:rPr lang="en-AU" sz="2000" b="0" dirty="0">
                <a:effectLst/>
                <a:latin typeface="Arial" panose="020B0604020202020204" pitchFamily="34" charset="0"/>
              </a:rPr>
              <a:t>.  There is a current of 5 m s</a:t>
            </a:r>
            <a:r>
              <a:rPr lang="en-AU" sz="2000" b="0" baseline="30000" dirty="0">
                <a:effectLst/>
                <a:latin typeface="Arial" panose="020B0604020202020204" pitchFamily="34" charset="0"/>
              </a:rPr>
              <a:t>-1</a:t>
            </a:r>
            <a:r>
              <a:rPr lang="en-AU" sz="2000" b="0" dirty="0">
                <a:effectLst/>
                <a:latin typeface="Arial" panose="020B0604020202020204" pitchFamily="34" charset="0"/>
              </a:rPr>
              <a:t> flowing at right angles to the direction of travel of the boat. </a:t>
            </a:r>
          </a:p>
          <a:p>
            <a:endParaRPr lang="en-AU" sz="2000" b="0" i="0" dirty="0">
              <a:effectLst/>
              <a:latin typeface="Arial" panose="020B0604020202020204" pitchFamily="34" charset="0"/>
            </a:endParaRPr>
          </a:p>
          <a:p>
            <a:endParaRPr lang="en-AU" dirty="0"/>
          </a:p>
          <a:p>
            <a:endParaRPr lang="en-AU" dirty="0"/>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Warm-up</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Tree>
    <p:extLst>
      <p:ext uri="{BB962C8B-B14F-4D97-AF65-F5344CB8AC3E}">
        <p14:creationId xmlns:p14="http://schemas.microsoft.com/office/powerpoint/2010/main" val="4291413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3" name="Text Placeholder 2">
            <a:extLst>
              <a:ext uri="{FF2B5EF4-FFF2-40B4-BE49-F238E27FC236}">
                <a16:creationId xmlns:a16="http://schemas.microsoft.com/office/drawing/2014/main" id="{C97FDB68-3734-4100-B745-3A70D62E7BB6}"/>
              </a:ext>
            </a:extLst>
          </p:cNvPr>
          <p:cNvSpPr>
            <a:spLocks noGrp="1"/>
          </p:cNvSpPr>
          <p:nvPr>
            <p:ph type="body" sz="quarter" idx="15"/>
          </p:nvPr>
        </p:nvSpPr>
        <p:spPr>
          <a:xfrm>
            <a:off x="397668" y="991704"/>
            <a:ext cx="11540332" cy="1971676"/>
          </a:xfrm>
        </p:spPr>
        <p:txBody>
          <a:bodyPr/>
          <a:lstStyle/>
          <a:p>
            <a:r>
              <a:rPr lang="en-AU" b="0" dirty="0"/>
              <a:t>For each of these: draw the vector diagram and calculate the resultant vector.</a:t>
            </a:r>
          </a:p>
          <a:p>
            <a:r>
              <a:rPr lang="en-AU" sz="2000" b="0" i="0" dirty="0">
                <a:effectLst/>
                <a:latin typeface="Arial" panose="020B0604020202020204" pitchFamily="34" charset="0"/>
              </a:rPr>
              <a:t>a) A plane heads due west at 180 m s</a:t>
            </a:r>
            <a:r>
              <a:rPr lang="en-AU" sz="2000" b="0" i="0" baseline="30000" dirty="0">
                <a:effectLst/>
                <a:latin typeface="Arial" panose="020B0604020202020204" pitchFamily="34" charset="0"/>
              </a:rPr>
              <a:t>-1</a:t>
            </a:r>
            <a:r>
              <a:rPr lang="en-AU" sz="2000" b="0" i="0" dirty="0">
                <a:effectLst/>
                <a:latin typeface="Arial" panose="020B0604020202020204" pitchFamily="34" charset="0"/>
              </a:rPr>
              <a:t>. A wind blows </a:t>
            </a:r>
            <a:r>
              <a:rPr lang="en-AU" sz="2000" i="0" dirty="0">
                <a:effectLst/>
                <a:latin typeface="Arial" panose="020B0604020202020204" pitchFamily="34" charset="0"/>
              </a:rPr>
              <a:t>from</a:t>
            </a:r>
            <a:r>
              <a:rPr lang="en-AU" sz="2000" b="0" i="0" dirty="0">
                <a:effectLst/>
                <a:latin typeface="Arial" panose="020B0604020202020204" pitchFamily="34" charset="0"/>
              </a:rPr>
              <a:t> the south with a velocity of 30 m s</a:t>
            </a:r>
            <a:r>
              <a:rPr lang="en-AU" sz="2000" b="0" i="0" baseline="30000" dirty="0">
                <a:effectLst/>
                <a:latin typeface="Arial" panose="020B0604020202020204" pitchFamily="34" charset="0"/>
              </a:rPr>
              <a:t>-1</a:t>
            </a:r>
            <a:r>
              <a:rPr lang="en-AU" sz="2000" b="0" i="0" dirty="0">
                <a:effectLst/>
                <a:latin typeface="Arial" panose="020B0604020202020204" pitchFamily="34" charset="0"/>
              </a:rPr>
              <a:t>.</a:t>
            </a:r>
          </a:p>
          <a:p>
            <a:endParaRPr lang="en-AU" sz="2000" b="0" dirty="0">
              <a:latin typeface="Arial" panose="020B0604020202020204" pitchFamily="34" charset="0"/>
            </a:endParaRPr>
          </a:p>
          <a:p>
            <a:endParaRPr lang="en-AU" sz="2000" b="0" dirty="0">
              <a:effectLst/>
              <a:latin typeface="Arial" panose="020B0604020202020204" pitchFamily="34" charset="0"/>
            </a:endParaRPr>
          </a:p>
          <a:p>
            <a:endParaRPr lang="en-AU" sz="2000" b="0" dirty="0">
              <a:latin typeface="Arial" panose="020B0604020202020204" pitchFamily="34" charset="0"/>
            </a:endParaRPr>
          </a:p>
          <a:p>
            <a:endParaRPr lang="en-AU" sz="2000" b="0" dirty="0">
              <a:latin typeface="Arial" panose="020B0604020202020204" pitchFamily="34" charset="0"/>
            </a:endParaRPr>
          </a:p>
          <a:p>
            <a:r>
              <a:rPr lang="en-AU" sz="2000" b="0" dirty="0">
                <a:effectLst/>
                <a:latin typeface="Arial" panose="020B0604020202020204" pitchFamily="34" charset="0"/>
              </a:rPr>
              <a:t>b) A motor boat heads across a river at 15 m s</a:t>
            </a:r>
            <a:r>
              <a:rPr lang="en-AU" sz="2000" b="0" baseline="30000" dirty="0">
                <a:effectLst/>
                <a:latin typeface="Arial" panose="020B0604020202020204" pitchFamily="34" charset="0"/>
              </a:rPr>
              <a:t>-1</a:t>
            </a:r>
            <a:r>
              <a:rPr lang="en-AU" sz="2000" b="0" dirty="0">
                <a:effectLst/>
                <a:latin typeface="Arial" panose="020B0604020202020204" pitchFamily="34" charset="0"/>
              </a:rPr>
              <a:t>.  There is a current of 5 m s</a:t>
            </a:r>
            <a:r>
              <a:rPr lang="en-AU" sz="2000" b="0" baseline="30000" dirty="0">
                <a:effectLst/>
                <a:latin typeface="Arial" panose="020B0604020202020204" pitchFamily="34" charset="0"/>
              </a:rPr>
              <a:t>-1</a:t>
            </a:r>
            <a:r>
              <a:rPr lang="en-AU" sz="2000" b="0" dirty="0">
                <a:effectLst/>
                <a:latin typeface="Arial" panose="020B0604020202020204" pitchFamily="34" charset="0"/>
              </a:rPr>
              <a:t> flowing at right angles to the direction of travel of the boat. </a:t>
            </a:r>
          </a:p>
          <a:p>
            <a:endParaRPr lang="en-AU" sz="2000" b="0" i="0" dirty="0">
              <a:effectLst/>
              <a:latin typeface="Arial" panose="020B0604020202020204" pitchFamily="34" charset="0"/>
            </a:endParaRPr>
          </a:p>
          <a:p>
            <a:endParaRPr lang="en-AU" dirty="0"/>
          </a:p>
          <a:p>
            <a:endParaRPr lang="en-AU" dirty="0"/>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Warm-up</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cxnSp>
        <p:nvCxnSpPr>
          <p:cNvPr id="7" name="Straight Arrow Connector 6">
            <a:extLst>
              <a:ext uri="{FF2B5EF4-FFF2-40B4-BE49-F238E27FC236}">
                <a16:creationId xmlns:a16="http://schemas.microsoft.com/office/drawing/2014/main" id="{26B1743C-095F-A52B-00E7-7AA525BB840D}"/>
              </a:ext>
            </a:extLst>
          </p:cNvPr>
          <p:cNvCxnSpPr/>
          <p:nvPr/>
        </p:nvCxnSpPr>
        <p:spPr>
          <a:xfrm>
            <a:off x="1755877" y="3066493"/>
            <a:ext cx="13114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131DE34-9366-2ED7-A782-DFF98E569200}"/>
              </a:ext>
            </a:extLst>
          </p:cNvPr>
          <p:cNvCxnSpPr>
            <a:cxnSpLocks/>
          </p:cNvCxnSpPr>
          <p:nvPr/>
        </p:nvCxnSpPr>
        <p:spPr>
          <a:xfrm flipV="1">
            <a:off x="3039773" y="2594221"/>
            <a:ext cx="0" cy="4722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191B3C3-3677-EE64-EE31-2D4924E6DCCA}"/>
              </a:ext>
            </a:extLst>
          </p:cNvPr>
          <p:cNvCxnSpPr>
            <a:cxnSpLocks/>
          </p:cNvCxnSpPr>
          <p:nvPr/>
        </p:nvCxnSpPr>
        <p:spPr>
          <a:xfrm flipV="1">
            <a:off x="1755877" y="2594221"/>
            <a:ext cx="1283896" cy="47227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1A420CD9-1420-D32A-724E-9D99ED4369B5}"/>
              </a:ext>
            </a:extLst>
          </p:cNvPr>
          <p:cNvSpPr/>
          <p:nvPr/>
        </p:nvSpPr>
        <p:spPr>
          <a:xfrm>
            <a:off x="2235200" y="3136902"/>
            <a:ext cx="584200" cy="2920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180</a:t>
            </a:r>
          </a:p>
        </p:txBody>
      </p:sp>
      <p:sp>
        <p:nvSpPr>
          <p:cNvPr id="21" name="Rectangle 20">
            <a:extLst>
              <a:ext uri="{FF2B5EF4-FFF2-40B4-BE49-F238E27FC236}">
                <a16:creationId xmlns:a16="http://schemas.microsoft.com/office/drawing/2014/main" id="{0EBF948C-E8AA-AE58-21B5-1BCB30756D00}"/>
              </a:ext>
            </a:extLst>
          </p:cNvPr>
          <p:cNvSpPr/>
          <p:nvPr/>
        </p:nvSpPr>
        <p:spPr>
          <a:xfrm>
            <a:off x="3039773" y="2722839"/>
            <a:ext cx="584200" cy="2920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30</a:t>
            </a:r>
          </a:p>
        </p:txBody>
      </p:sp>
      <p:sp>
        <p:nvSpPr>
          <p:cNvPr id="22" name="Rectangle 21">
            <a:extLst>
              <a:ext uri="{FF2B5EF4-FFF2-40B4-BE49-F238E27FC236}">
                <a16:creationId xmlns:a16="http://schemas.microsoft.com/office/drawing/2014/main" id="{9E14CD9A-02CB-5C27-C7FC-A2C2496E5880}"/>
              </a:ext>
            </a:extLst>
          </p:cNvPr>
          <p:cNvSpPr/>
          <p:nvPr/>
        </p:nvSpPr>
        <p:spPr>
          <a:xfrm>
            <a:off x="2068569" y="2453245"/>
            <a:ext cx="584200" cy="2920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AU" b="0" i="0" dirty="0">
                <a:solidFill>
                  <a:srgbClr val="373637"/>
                </a:solidFill>
                <a:effectLst/>
                <a:latin typeface="Source Sans Pro" panose="020B0503030403020204" pitchFamily="34" charset="0"/>
              </a:rPr>
              <a:t>𝑥</a:t>
            </a:r>
          </a:p>
        </p:txBody>
      </p:sp>
      <p:sp>
        <p:nvSpPr>
          <p:cNvPr id="23" name="Rectangle 22">
            <a:extLst>
              <a:ext uri="{FF2B5EF4-FFF2-40B4-BE49-F238E27FC236}">
                <a16:creationId xmlns:a16="http://schemas.microsoft.com/office/drawing/2014/main" id="{59A97A98-98E3-3D4E-0AA3-500BA87ED692}"/>
              </a:ext>
            </a:extLst>
          </p:cNvPr>
          <p:cNvSpPr/>
          <p:nvPr/>
        </p:nvSpPr>
        <p:spPr>
          <a:xfrm>
            <a:off x="2194038" y="2876180"/>
            <a:ext cx="166631" cy="196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sym typeface="Symbol" panose="05050102010706020507" pitchFamily="18" charset="2"/>
              </a:rPr>
              <a:t></a:t>
            </a:r>
            <a:endParaRPr lang="en-AU" sz="1400" dirty="0">
              <a:solidFill>
                <a:schemeClr val="tx1"/>
              </a:solidFill>
            </a:endParaRPr>
          </a:p>
        </p:txBody>
      </p:sp>
      <p:sp>
        <p:nvSpPr>
          <p:cNvPr id="24" name="Rectangle 23">
            <a:extLst>
              <a:ext uri="{FF2B5EF4-FFF2-40B4-BE49-F238E27FC236}">
                <a16:creationId xmlns:a16="http://schemas.microsoft.com/office/drawing/2014/main" id="{CA8E87FD-684B-A434-DBB7-4E60713055CC}"/>
              </a:ext>
            </a:extLst>
          </p:cNvPr>
          <p:cNvSpPr/>
          <p:nvPr/>
        </p:nvSpPr>
        <p:spPr>
          <a:xfrm>
            <a:off x="6692105" y="2343081"/>
            <a:ext cx="3299613" cy="1179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fontAlgn="base"/>
            <a:r>
              <a:rPr lang="en-AU" b="0" i="0" dirty="0">
                <a:solidFill>
                  <a:srgbClr val="373637"/>
                </a:solidFill>
                <a:effectLst/>
                <a:latin typeface="Source Sans Pro" panose="020B0503030403020204" pitchFamily="34" charset="0"/>
              </a:rPr>
              <a:t>tan 𝑥 = O / A</a:t>
            </a:r>
          </a:p>
          <a:p>
            <a:pPr fontAlgn="base"/>
            <a:r>
              <a:rPr lang="en-AU" dirty="0">
                <a:solidFill>
                  <a:srgbClr val="373637"/>
                </a:solidFill>
                <a:latin typeface="Source Sans Pro" panose="020B0503030403020204" pitchFamily="34" charset="0"/>
              </a:rPr>
              <a:t>tan </a:t>
            </a:r>
            <a:r>
              <a:rPr lang="en-AU" b="0" i="0" dirty="0">
                <a:solidFill>
                  <a:srgbClr val="373637"/>
                </a:solidFill>
                <a:effectLst/>
                <a:latin typeface="Source Sans Pro" panose="020B0503030403020204" pitchFamily="34" charset="0"/>
              </a:rPr>
              <a:t>𝑥 = 30/180</a:t>
            </a:r>
          </a:p>
          <a:p>
            <a:pPr fontAlgn="base"/>
            <a:r>
              <a:rPr lang="en-AU" b="0" i="0" dirty="0">
                <a:solidFill>
                  <a:srgbClr val="373637"/>
                </a:solidFill>
                <a:effectLst/>
                <a:latin typeface="Source Sans Pro" panose="020B0503030403020204" pitchFamily="34" charset="0"/>
              </a:rPr>
              <a:t>𝑥 = 9.46</a:t>
            </a:r>
            <a:r>
              <a:rPr lang="en-AU" b="0" i="0" baseline="30000" dirty="0">
                <a:solidFill>
                  <a:srgbClr val="373637"/>
                </a:solidFill>
                <a:effectLst/>
                <a:latin typeface="Source Sans Pro" panose="020B0503030403020204" pitchFamily="34" charset="0"/>
              </a:rPr>
              <a:t>o</a:t>
            </a:r>
            <a:endParaRPr lang="en-AU" b="0" i="0" dirty="0">
              <a:solidFill>
                <a:srgbClr val="373637"/>
              </a:solidFill>
              <a:effectLst/>
              <a:latin typeface="Source Sans Pro" panose="020B0503030403020204" pitchFamily="34" charset="0"/>
            </a:endParaRPr>
          </a:p>
          <a:p>
            <a:pPr fontAlgn="base"/>
            <a:endParaRPr lang="en-AU" b="0" i="0" dirty="0">
              <a:solidFill>
                <a:srgbClr val="373637"/>
              </a:solidFill>
              <a:effectLst/>
              <a:latin typeface="Source Sans Pro" panose="020B0503030403020204" pitchFamily="34" charset="0"/>
            </a:endParaRPr>
          </a:p>
        </p:txBody>
      </p:sp>
      <p:sp>
        <p:nvSpPr>
          <p:cNvPr id="25" name="Rectangle 24">
            <a:extLst>
              <a:ext uri="{FF2B5EF4-FFF2-40B4-BE49-F238E27FC236}">
                <a16:creationId xmlns:a16="http://schemas.microsoft.com/office/drawing/2014/main" id="{CA102078-2351-337A-8110-9639EC1A4097}"/>
              </a:ext>
            </a:extLst>
          </p:cNvPr>
          <p:cNvSpPr/>
          <p:nvPr/>
        </p:nvSpPr>
        <p:spPr>
          <a:xfrm>
            <a:off x="3947488" y="2343081"/>
            <a:ext cx="3299613" cy="1179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fontAlgn="base"/>
            <a:r>
              <a:rPr lang="en-AU" dirty="0">
                <a:solidFill>
                  <a:srgbClr val="373637"/>
                </a:solidFill>
                <a:latin typeface="Source Sans Pro" panose="020B0503030403020204" pitchFamily="34" charset="0"/>
              </a:rPr>
              <a:t>c</a:t>
            </a:r>
            <a:r>
              <a:rPr lang="en-AU" b="0" i="0" baseline="30000" dirty="0">
                <a:solidFill>
                  <a:srgbClr val="373637"/>
                </a:solidFill>
                <a:effectLst/>
                <a:latin typeface="Source Sans Pro" panose="020B0503030403020204" pitchFamily="34" charset="0"/>
              </a:rPr>
              <a:t>2 </a:t>
            </a:r>
            <a:r>
              <a:rPr lang="en-AU" b="0" i="0" dirty="0">
                <a:solidFill>
                  <a:srgbClr val="373637"/>
                </a:solidFill>
                <a:effectLst/>
                <a:latin typeface="Source Sans Pro" panose="020B0503030403020204" pitchFamily="34" charset="0"/>
              </a:rPr>
              <a:t>= a</a:t>
            </a:r>
            <a:r>
              <a:rPr lang="en-AU" b="0" i="0" baseline="30000" dirty="0">
                <a:solidFill>
                  <a:srgbClr val="373637"/>
                </a:solidFill>
                <a:effectLst/>
                <a:latin typeface="Source Sans Pro" panose="020B0503030403020204" pitchFamily="34" charset="0"/>
              </a:rPr>
              <a:t>2</a:t>
            </a:r>
            <a:r>
              <a:rPr lang="en-AU" b="0" i="0" dirty="0">
                <a:solidFill>
                  <a:srgbClr val="373637"/>
                </a:solidFill>
                <a:effectLst/>
                <a:latin typeface="Source Sans Pro" panose="020B0503030403020204" pitchFamily="34" charset="0"/>
              </a:rPr>
              <a:t> + b</a:t>
            </a:r>
            <a:r>
              <a:rPr lang="en-AU" b="0" i="0" baseline="30000" dirty="0">
                <a:solidFill>
                  <a:srgbClr val="373637"/>
                </a:solidFill>
                <a:effectLst/>
                <a:latin typeface="Source Sans Pro" panose="020B0503030403020204" pitchFamily="34" charset="0"/>
              </a:rPr>
              <a:t>2</a:t>
            </a:r>
          </a:p>
          <a:p>
            <a:pPr fontAlgn="base"/>
            <a:r>
              <a:rPr lang="en-AU" b="0" i="0" dirty="0">
                <a:solidFill>
                  <a:srgbClr val="373637"/>
                </a:solidFill>
                <a:effectLst/>
                <a:latin typeface="Source Sans Pro" panose="020B0503030403020204" pitchFamily="34" charset="0"/>
              </a:rPr>
              <a:t>𝑥</a:t>
            </a:r>
            <a:r>
              <a:rPr lang="en-AU" b="0" i="0" baseline="30000" dirty="0">
                <a:solidFill>
                  <a:srgbClr val="373637"/>
                </a:solidFill>
                <a:effectLst/>
                <a:latin typeface="Source Sans Pro" panose="020B0503030403020204" pitchFamily="34" charset="0"/>
              </a:rPr>
              <a:t>2</a:t>
            </a:r>
            <a:r>
              <a:rPr lang="en-AU" b="0" i="0" dirty="0">
                <a:solidFill>
                  <a:srgbClr val="373637"/>
                </a:solidFill>
                <a:effectLst/>
                <a:latin typeface="Source Sans Pro" panose="020B0503030403020204" pitchFamily="34" charset="0"/>
              </a:rPr>
              <a:t> = 30</a:t>
            </a:r>
            <a:r>
              <a:rPr lang="en-AU" b="0" i="0" baseline="30000" dirty="0">
                <a:solidFill>
                  <a:srgbClr val="373637"/>
                </a:solidFill>
                <a:effectLst/>
                <a:latin typeface="Source Sans Pro" panose="020B0503030403020204" pitchFamily="34" charset="0"/>
              </a:rPr>
              <a:t>2</a:t>
            </a:r>
            <a:r>
              <a:rPr lang="en-AU" b="0" i="0" dirty="0">
                <a:solidFill>
                  <a:srgbClr val="373637"/>
                </a:solidFill>
                <a:effectLst/>
                <a:latin typeface="Source Sans Pro" panose="020B0503030403020204" pitchFamily="34" charset="0"/>
              </a:rPr>
              <a:t> + 180</a:t>
            </a:r>
            <a:r>
              <a:rPr lang="en-AU" b="0" i="0" baseline="30000" dirty="0">
                <a:solidFill>
                  <a:srgbClr val="373637"/>
                </a:solidFill>
                <a:effectLst/>
                <a:latin typeface="Source Sans Pro" panose="020B0503030403020204" pitchFamily="34" charset="0"/>
              </a:rPr>
              <a:t>2</a:t>
            </a:r>
            <a:endParaRPr lang="en-AU" b="0" i="0" dirty="0">
              <a:solidFill>
                <a:srgbClr val="373637"/>
              </a:solidFill>
              <a:effectLst/>
              <a:latin typeface="Source Sans Pro" panose="020B0503030403020204" pitchFamily="34" charset="0"/>
            </a:endParaRPr>
          </a:p>
          <a:p>
            <a:pPr fontAlgn="base"/>
            <a:r>
              <a:rPr lang="en-AU" b="0" i="0" dirty="0">
                <a:solidFill>
                  <a:srgbClr val="373637"/>
                </a:solidFill>
                <a:effectLst/>
                <a:latin typeface="Source Sans Pro" panose="020B0503030403020204" pitchFamily="34" charset="0"/>
              </a:rPr>
              <a:t>𝑥 = 182 ms</a:t>
            </a:r>
            <a:r>
              <a:rPr lang="en-AU" b="0" i="0" baseline="30000" dirty="0">
                <a:solidFill>
                  <a:srgbClr val="373637"/>
                </a:solidFill>
                <a:effectLst/>
                <a:latin typeface="Source Sans Pro" panose="020B0503030403020204" pitchFamily="34" charset="0"/>
              </a:rPr>
              <a:t>-1</a:t>
            </a:r>
            <a:endParaRPr lang="en-AU" b="0" i="0" dirty="0">
              <a:solidFill>
                <a:srgbClr val="373637"/>
              </a:solidFill>
              <a:effectLst/>
              <a:latin typeface="Source Sans Pro" panose="020B0503030403020204" pitchFamily="34" charset="0"/>
            </a:endParaRPr>
          </a:p>
          <a:p>
            <a:pPr fontAlgn="base"/>
            <a:endParaRPr lang="en-AU" b="0" i="0" dirty="0">
              <a:solidFill>
                <a:srgbClr val="373637"/>
              </a:solidFill>
              <a:effectLst/>
              <a:latin typeface="Source Sans Pro" panose="020B0503030403020204" pitchFamily="34" charset="0"/>
            </a:endParaRPr>
          </a:p>
          <a:p>
            <a:pPr fontAlgn="base"/>
            <a:endParaRPr lang="en-AU" b="0" i="0" dirty="0">
              <a:solidFill>
                <a:srgbClr val="373637"/>
              </a:solidFill>
              <a:effectLst/>
              <a:latin typeface="Source Sans Pro" panose="020B0503030403020204" pitchFamily="34" charset="0"/>
            </a:endParaRPr>
          </a:p>
        </p:txBody>
      </p:sp>
      <p:sp>
        <p:nvSpPr>
          <p:cNvPr id="27" name="TextBox 26">
            <a:extLst>
              <a:ext uri="{FF2B5EF4-FFF2-40B4-BE49-F238E27FC236}">
                <a16:creationId xmlns:a16="http://schemas.microsoft.com/office/drawing/2014/main" id="{0964157C-4F1C-7A4A-983F-0410FC356E43}"/>
              </a:ext>
            </a:extLst>
          </p:cNvPr>
          <p:cNvSpPr txBox="1"/>
          <p:nvPr/>
        </p:nvSpPr>
        <p:spPr>
          <a:xfrm>
            <a:off x="6692105" y="3349210"/>
            <a:ext cx="6096000" cy="369332"/>
          </a:xfrm>
          <a:prstGeom prst="rect">
            <a:avLst/>
          </a:prstGeom>
          <a:noFill/>
          <a:ln>
            <a:noFill/>
          </a:ln>
        </p:spPr>
        <p:txBody>
          <a:bodyPr wrap="square">
            <a:spAutoFit/>
          </a:bodyPr>
          <a:lstStyle/>
          <a:p>
            <a:pPr fontAlgn="base"/>
            <a:r>
              <a:rPr lang="en-AU" dirty="0">
                <a:solidFill>
                  <a:srgbClr val="373637"/>
                </a:solidFill>
                <a:latin typeface="Source Sans Pro" panose="020B0503030403020204" pitchFamily="34" charset="0"/>
              </a:rPr>
              <a:t>Resultant velocity is 182 ms</a:t>
            </a:r>
            <a:r>
              <a:rPr lang="en-AU" baseline="30000" dirty="0">
                <a:solidFill>
                  <a:srgbClr val="373637"/>
                </a:solidFill>
                <a:latin typeface="Source Sans Pro" panose="020B0503030403020204" pitchFamily="34" charset="0"/>
              </a:rPr>
              <a:t>-1</a:t>
            </a:r>
            <a:r>
              <a:rPr lang="en-AU" dirty="0">
                <a:solidFill>
                  <a:srgbClr val="373637"/>
                </a:solidFill>
                <a:latin typeface="Source Sans Pro" panose="020B0503030403020204" pitchFamily="34" charset="0"/>
              </a:rPr>
              <a:t> E 9.46</a:t>
            </a:r>
            <a:r>
              <a:rPr lang="en-AU" baseline="30000" dirty="0">
                <a:solidFill>
                  <a:srgbClr val="373637"/>
                </a:solidFill>
                <a:latin typeface="Source Sans Pro" panose="020B0503030403020204" pitchFamily="34" charset="0"/>
              </a:rPr>
              <a:t>o</a:t>
            </a:r>
            <a:r>
              <a:rPr lang="en-AU" dirty="0">
                <a:solidFill>
                  <a:srgbClr val="373637"/>
                </a:solidFill>
                <a:latin typeface="Source Sans Pro" panose="020B0503030403020204" pitchFamily="34" charset="0"/>
              </a:rPr>
              <a:t> N </a:t>
            </a:r>
            <a:endParaRPr lang="en-AU" b="0" i="0" dirty="0">
              <a:solidFill>
                <a:srgbClr val="373637"/>
              </a:solidFill>
              <a:effectLst/>
              <a:latin typeface="Source Sans Pro" panose="020B0503030403020204" pitchFamily="34" charset="0"/>
            </a:endParaRPr>
          </a:p>
        </p:txBody>
      </p:sp>
      <p:cxnSp>
        <p:nvCxnSpPr>
          <p:cNvPr id="29" name="Straight Connector 28">
            <a:extLst>
              <a:ext uri="{FF2B5EF4-FFF2-40B4-BE49-F238E27FC236}">
                <a16:creationId xmlns:a16="http://schemas.microsoft.com/office/drawing/2014/main" id="{E0AAA1B5-B0E9-A87E-0B86-DD5A19FAC0DA}"/>
              </a:ext>
            </a:extLst>
          </p:cNvPr>
          <p:cNvCxnSpPr/>
          <p:nvPr/>
        </p:nvCxnSpPr>
        <p:spPr>
          <a:xfrm>
            <a:off x="596900" y="4806397"/>
            <a:ext cx="347785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A66D7EA-6C0C-5D1F-3C0E-F8155CCDF1EA}"/>
              </a:ext>
            </a:extLst>
          </p:cNvPr>
          <p:cNvCxnSpPr/>
          <p:nvPr/>
        </p:nvCxnSpPr>
        <p:spPr>
          <a:xfrm>
            <a:off x="614073" y="6228797"/>
            <a:ext cx="3477853"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Flowchart: Off-page Connector 30">
            <a:extLst>
              <a:ext uri="{FF2B5EF4-FFF2-40B4-BE49-F238E27FC236}">
                <a16:creationId xmlns:a16="http://schemas.microsoft.com/office/drawing/2014/main" id="{D6BA4CD1-98F2-726F-839A-7B707EC64AF8}"/>
              </a:ext>
            </a:extLst>
          </p:cNvPr>
          <p:cNvSpPr/>
          <p:nvPr/>
        </p:nvSpPr>
        <p:spPr>
          <a:xfrm rot="10800000">
            <a:off x="2282723" y="5557081"/>
            <a:ext cx="244577" cy="533399"/>
          </a:xfrm>
          <a:prstGeom prst="flowChartOffpage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2" name="Straight Arrow Connector 31">
            <a:extLst>
              <a:ext uri="{FF2B5EF4-FFF2-40B4-BE49-F238E27FC236}">
                <a16:creationId xmlns:a16="http://schemas.microsoft.com/office/drawing/2014/main" id="{134AD5D5-2ADD-F000-C58D-1928E4F58070}"/>
              </a:ext>
            </a:extLst>
          </p:cNvPr>
          <p:cNvCxnSpPr>
            <a:cxnSpLocks/>
          </p:cNvCxnSpPr>
          <p:nvPr/>
        </p:nvCxnSpPr>
        <p:spPr>
          <a:xfrm flipV="1">
            <a:off x="2404438" y="4806397"/>
            <a:ext cx="0" cy="7627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69160EE6-8D51-264F-13A6-4BEA5090845E}"/>
              </a:ext>
            </a:extLst>
          </p:cNvPr>
          <p:cNvSpPr/>
          <p:nvPr/>
        </p:nvSpPr>
        <p:spPr>
          <a:xfrm>
            <a:off x="1789305" y="5047636"/>
            <a:ext cx="584200" cy="2920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15</a:t>
            </a:r>
          </a:p>
        </p:txBody>
      </p:sp>
      <p:cxnSp>
        <p:nvCxnSpPr>
          <p:cNvPr id="35" name="Straight Arrow Connector 34">
            <a:extLst>
              <a:ext uri="{FF2B5EF4-FFF2-40B4-BE49-F238E27FC236}">
                <a16:creationId xmlns:a16="http://schemas.microsoft.com/office/drawing/2014/main" id="{C1703E85-8EFC-B801-F55C-4F9E55BAFB64}"/>
              </a:ext>
            </a:extLst>
          </p:cNvPr>
          <p:cNvCxnSpPr>
            <a:cxnSpLocks/>
          </p:cNvCxnSpPr>
          <p:nvPr/>
        </p:nvCxnSpPr>
        <p:spPr>
          <a:xfrm>
            <a:off x="2411605" y="4786790"/>
            <a:ext cx="57703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92D1D3D0-EAC9-0CA7-9AD8-C179608CBAEA}"/>
              </a:ext>
            </a:extLst>
          </p:cNvPr>
          <p:cNvSpPr/>
          <p:nvPr/>
        </p:nvSpPr>
        <p:spPr>
          <a:xfrm>
            <a:off x="2373505" y="4450329"/>
            <a:ext cx="584200" cy="2920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5</a:t>
            </a:r>
          </a:p>
        </p:txBody>
      </p:sp>
      <p:cxnSp>
        <p:nvCxnSpPr>
          <p:cNvPr id="38" name="Straight Arrow Connector 37">
            <a:extLst>
              <a:ext uri="{FF2B5EF4-FFF2-40B4-BE49-F238E27FC236}">
                <a16:creationId xmlns:a16="http://schemas.microsoft.com/office/drawing/2014/main" id="{EDDD4534-A132-7F97-03D9-C873D3B2F329}"/>
              </a:ext>
            </a:extLst>
          </p:cNvPr>
          <p:cNvCxnSpPr>
            <a:cxnSpLocks/>
          </p:cNvCxnSpPr>
          <p:nvPr/>
        </p:nvCxnSpPr>
        <p:spPr>
          <a:xfrm flipV="1">
            <a:off x="2411605" y="4806397"/>
            <a:ext cx="546100" cy="73800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0A6A3D04-6EDE-B5F0-30AB-FA62FDA4DF40}"/>
              </a:ext>
            </a:extLst>
          </p:cNvPr>
          <p:cNvSpPr/>
          <p:nvPr/>
        </p:nvSpPr>
        <p:spPr>
          <a:xfrm>
            <a:off x="2531785" y="5076692"/>
            <a:ext cx="584200" cy="2920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AU" b="0" i="0" dirty="0">
                <a:solidFill>
                  <a:srgbClr val="373637"/>
                </a:solidFill>
                <a:effectLst/>
                <a:latin typeface="Source Sans Pro" panose="020B0503030403020204" pitchFamily="34" charset="0"/>
              </a:rPr>
              <a:t>𝑥</a:t>
            </a:r>
          </a:p>
        </p:txBody>
      </p:sp>
      <p:sp>
        <p:nvSpPr>
          <p:cNvPr id="41" name="Rectangle 40">
            <a:extLst>
              <a:ext uri="{FF2B5EF4-FFF2-40B4-BE49-F238E27FC236}">
                <a16:creationId xmlns:a16="http://schemas.microsoft.com/office/drawing/2014/main" id="{AE5EEC9C-0C7E-6DE4-8F6B-73C3428D3884}"/>
              </a:ext>
            </a:extLst>
          </p:cNvPr>
          <p:cNvSpPr/>
          <p:nvPr/>
        </p:nvSpPr>
        <p:spPr>
          <a:xfrm>
            <a:off x="7150043" y="4687063"/>
            <a:ext cx="3299613" cy="1179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fontAlgn="base"/>
            <a:r>
              <a:rPr lang="en-AU" b="0" i="0" dirty="0">
                <a:solidFill>
                  <a:srgbClr val="373637"/>
                </a:solidFill>
                <a:effectLst/>
                <a:latin typeface="Source Sans Pro" panose="020B0503030403020204" pitchFamily="34" charset="0"/>
              </a:rPr>
              <a:t>tan 𝑥 = O / A</a:t>
            </a:r>
          </a:p>
          <a:p>
            <a:pPr fontAlgn="base"/>
            <a:r>
              <a:rPr lang="en-AU" dirty="0">
                <a:solidFill>
                  <a:srgbClr val="373637"/>
                </a:solidFill>
                <a:latin typeface="Source Sans Pro" panose="020B0503030403020204" pitchFamily="34" charset="0"/>
              </a:rPr>
              <a:t>tan </a:t>
            </a:r>
            <a:r>
              <a:rPr lang="en-AU" b="0" i="0" dirty="0">
                <a:solidFill>
                  <a:srgbClr val="373637"/>
                </a:solidFill>
                <a:effectLst/>
                <a:latin typeface="Source Sans Pro" panose="020B0503030403020204" pitchFamily="34" charset="0"/>
              </a:rPr>
              <a:t>𝑥 = 5/15</a:t>
            </a:r>
          </a:p>
          <a:p>
            <a:pPr fontAlgn="base"/>
            <a:r>
              <a:rPr lang="en-AU" b="0" i="0" dirty="0">
                <a:solidFill>
                  <a:srgbClr val="373637"/>
                </a:solidFill>
                <a:effectLst/>
                <a:latin typeface="Source Sans Pro" panose="020B0503030403020204" pitchFamily="34" charset="0"/>
              </a:rPr>
              <a:t>𝑥 = 18.4</a:t>
            </a:r>
            <a:r>
              <a:rPr lang="en-AU" b="0" i="0" baseline="30000" dirty="0">
                <a:solidFill>
                  <a:srgbClr val="373637"/>
                </a:solidFill>
                <a:effectLst/>
                <a:latin typeface="Source Sans Pro" panose="020B0503030403020204" pitchFamily="34" charset="0"/>
              </a:rPr>
              <a:t>o</a:t>
            </a:r>
            <a:endParaRPr lang="en-AU" b="0" i="0" dirty="0">
              <a:solidFill>
                <a:srgbClr val="373637"/>
              </a:solidFill>
              <a:effectLst/>
              <a:latin typeface="Source Sans Pro" panose="020B0503030403020204" pitchFamily="34" charset="0"/>
            </a:endParaRPr>
          </a:p>
          <a:p>
            <a:pPr fontAlgn="base"/>
            <a:endParaRPr lang="en-AU" b="0" i="0" dirty="0">
              <a:solidFill>
                <a:srgbClr val="373637"/>
              </a:solidFill>
              <a:effectLst/>
              <a:latin typeface="Source Sans Pro" panose="020B0503030403020204" pitchFamily="34" charset="0"/>
            </a:endParaRPr>
          </a:p>
        </p:txBody>
      </p:sp>
      <p:sp>
        <p:nvSpPr>
          <p:cNvPr id="42" name="Rectangle 41">
            <a:extLst>
              <a:ext uri="{FF2B5EF4-FFF2-40B4-BE49-F238E27FC236}">
                <a16:creationId xmlns:a16="http://schemas.microsoft.com/office/drawing/2014/main" id="{FE0D5F3A-7BF4-0C13-18C4-6514CEB47B1D}"/>
              </a:ext>
            </a:extLst>
          </p:cNvPr>
          <p:cNvSpPr/>
          <p:nvPr/>
        </p:nvSpPr>
        <p:spPr>
          <a:xfrm>
            <a:off x="4405426" y="4687063"/>
            <a:ext cx="3299613" cy="11792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fontAlgn="base"/>
            <a:r>
              <a:rPr lang="en-AU" dirty="0">
                <a:solidFill>
                  <a:srgbClr val="373637"/>
                </a:solidFill>
                <a:latin typeface="Source Sans Pro" panose="020B0503030403020204" pitchFamily="34" charset="0"/>
              </a:rPr>
              <a:t>c</a:t>
            </a:r>
            <a:r>
              <a:rPr lang="en-AU" b="0" i="0" baseline="30000" dirty="0">
                <a:solidFill>
                  <a:srgbClr val="373637"/>
                </a:solidFill>
                <a:effectLst/>
                <a:latin typeface="Source Sans Pro" panose="020B0503030403020204" pitchFamily="34" charset="0"/>
              </a:rPr>
              <a:t>2 </a:t>
            </a:r>
            <a:r>
              <a:rPr lang="en-AU" b="0" i="0" dirty="0">
                <a:solidFill>
                  <a:srgbClr val="373637"/>
                </a:solidFill>
                <a:effectLst/>
                <a:latin typeface="Source Sans Pro" panose="020B0503030403020204" pitchFamily="34" charset="0"/>
              </a:rPr>
              <a:t>= a</a:t>
            </a:r>
            <a:r>
              <a:rPr lang="en-AU" b="0" i="0" baseline="30000" dirty="0">
                <a:solidFill>
                  <a:srgbClr val="373637"/>
                </a:solidFill>
                <a:effectLst/>
                <a:latin typeface="Source Sans Pro" panose="020B0503030403020204" pitchFamily="34" charset="0"/>
              </a:rPr>
              <a:t>2</a:t>
            </a:r>
            <a:r>
              <a:rPr lang="en-AU" b="0" i="0" dirty="0">
                <a:solidFill>
                  <a:srgbClr val="373637"/>
                </a:solidFill>
                <a:effectLst/>
                <a:latin typeface="Source Sans Pro" panose="020B0503030403020204" pitchFamily="34" charset="0"/>
              </a:rPr>
              <a:t> + b</a:t>
            </a:r>
            <a:r>
              <a:rPr lang="en-AU" b="0" i="0" baseline="30000" dirty="0">
                <a:solidFill>
                  <a:srgbClr val="373637"/>
                </a:solidFill>
                <a:effectLst/>
                <a:latin typeface="Source Sans Pro" panose="020B0503030403020204" pitchFamily="34" charset="0"/>
              </a:rPr>
              <a:t>2</a:t>
            </a:r>
          </a:p>
          <a:p>
            <a:pPr fontAlgn="base"/>
            <a:r>
              <a:rPr lang="en-AU" b="0" i="0" dirty="0">
                <a:solidFill>
                  <a:srgbClr val="373637"/>
                </a:solidFill>
                <a:effectLst/>
                <a:latin typeface="Source Sans Pro" panose="020B0503030403020204" pitchFamily="34" charset="0"/>
              </a:rPr>
              <a:t>𝑥</a:t>
            </a:r>
            <a:r>
              <a:rPr lang="en-AU" b="0" i="0" baseline="30000" dirty="0">
                <a:solidFill>
                  <a:srgbClr val="373637"/>
                </a:solidFill>
                <a:effectLst/>
                <a:latin typeface="Source Sans Pro" panose="020B0503030403020204" pitchFamily="34" charset="0"/>
              </a:rPr>
              <a:t>2</a:t>
            </a:r>
            <a:r>
              <a:rPr lang="en-AU" b="0" i="0" dirty="0">
                <a:solidFill>
                  <a:srgbClr val="373637"/>
                </a:solidFill>
                <a:effectLst/>
                <a:latin typeface="Source Sans Pro" panose="020B0503030403020204" pitchFamily="34" charset="0"/>
              </a:rPr>
              <a:t> = 15</a:t>
            </a:r>
            <a:r>
              <a:rPr lang="en-AU" b="0" i="0" baseline="30000" dirty="0">
                <a:solidFill>
                  <a:srgbClr val="373637"/>
                </a:solidFill>
                <a:effectLst/>
                <a:latin typeface="Source Sans Pro" panose="020B0503030403020204" pitchFamily="34" charset="0"/>
              </a:rPr>
              <a:t>2</a:t>
            </a:r>
            <a:r>
              <a:rPr lang="en-AU" b="0" i="0" dirty="0">
                <a:solidFill>
                  <a:srgbClr val="373637"/>
                </a:solidFill>
                <a:effectLst/>
                <a:latin typeface="Source Sans Pro" panose="020B0503030403020204" pitchFamily="34" charset="0"/>
              </a:rPr>
              <a:t> + 5</a:t>
            </a:r>
            <a:r>
              <a:rPr lang="en-AU" b="0" i="0" baseline="30000" dirty="0">
                <a:solidFill>
                  <a:srgbClr val="373637"/>
                </a:solidFill>
                <a:effectLst/>
                <a:latin typeface="Source Sans Pro" panose="020B0503030403020204" pitchFamily="34" charset="0"/>
              </a:rPr>
              <a:t>2</a:t>
            </a:r>
            <a:endParaRPr lang="en-AU" b="0" i="0" dirty="0">
              <a:solidFill>
                <a:srgbClr val="373637"/>
              </a:solidFill>
              <a:effectLst/>
              <a:latin typeface="Source Sans Pro" panose="020B0503030403020204" pitchFamily="34" charset="0"/>
            </a:endParaRPr>
          </a:p>
          <a:p>
            <a:pPr fontAlgn="base"/>
            <a:r>
              <a:rPr lang="en-AU" b="0" i="0" dirty="0">
                <a:solidFill>
                  <a:srgbClr val="373637"/>
                </a:solidFill>
                <a:effectLst/>
                <a:latin typeface="Source Sans Pro" panose="020B0503030403020204" pitchFamily="34" charset="0"/>
              </a:rPr>
              <a:t>𝑥 = 15.8 ms</a:t>
            </a:r>
            <a:r>
              <a:rPr lang="en-AU" b="0" i="0" baseline="30000" dirty="0">
                <a:solidFill>
                  <a:srgbClr val="373637"/>
                </a:solidFill>
                <a:effectLst/>
                <a:latin typeface="Source Sans Pro" panose="020B0503030403020204" pitchFamily="34" charset="0"/>
              </a:rPr>
              <a:t>-1</a:t>
            </a:r>
            <a:endParaRPr lang="en-AU" b="0" i="0" dirty="0">
              <a:solidFill>
                <a:srgbClr val="373637"/>
              </a:solidFill>
              <a:effectLst/>
              <a:latin typeface="Source Sans Pro" panose="020B0503030403020204" pitchFamily="34" charset="0"/>
            </a:endParaRPr>
          </a:p>
          <a:p>
            <a:pPr fontAlgn="base"/>
            <a:endParaRPr lang="en-AU" b="0" i="0" dirty="0">
              <a:solidFill>
                <a:srgbClr val="373637"/>
              </a:solidFill>
              <a:effectLst/>
              <a:latin typeface="Source Sans Pro" panose="020B0503030403020204" pitchFamily="34" charset="0"/>
            </a:endParaRPr>
          </a:p>
          <a:p>
            <a:pPr fontAlgn="base"/>
            <a:endParaRPr lang="en-AU" b="0" i="0" dirty="0">
              <a:solidFill>
                <a:srgbClr val="373637"/>
              </a:solidFill>
              <a:effectLst/>
              <a:latin typeface="Source Sans Pro" panose="020B0503030403020204" pitchFamily="34" charset="0"/>
            </a:endParaRPr>
          </a:p>
        </p:txBody>
      </p:sp>
      <p:sp>
        <p:nvSpPr>
          <p:cNvPr id="43" name="TextBox 42">
            <a:extLst>
              <a:ext uri="{FF2B5EF4-FFF2-40B4-BE49-F238E27FC236}">
                <a16:creationId xmlns:a16="http://schemas.microsoft.com/office/drawing/2014/main" id="{D377C817-086B-3F57-F693-A3EE3CEBC169}"/>
              </a:ext>
            </a:extLst>
          </p:cNvPr>
          <p:cNvSpPr txBox="1"/>
          <p:nvPr/>
        </p:nvSpPr>
        <p:spPr>
          <a:xfrm>
            <a:off x="4528288" y="5756692"/>
            <a:ext cx="6096000" cy="646331"/>
          </a:xfrm>
          <a:prstGeom prst="rect">
            <a:avLst/>
          </a:prstGeom>
          <a:noFill/>
          <a:ln>
            <a:noFill/>
          </a:ln>
        </p:spPr>
        <p:txBody>
          <a:bodyPr wrap="square">
            <a:spAutoFit/>
          </a:bodyPr>
          <a:lstStyle/>
          <a:p>
            <a:pPr fontAlgn="base"/>
            <a:r>
              <a:rPr lang="en-AU" dirty="0">
                <a:solidFill>
                  <a:srgbClr val="373637"/>
                </a:solidFill>
                <a:latin typeface="Source Sans Pro" panose="020B0503030403020204" pitchFamily="34" charset="0"/>
              </a:rPr>
              <a:t>Resultant velocity is 15.8 ms</a:t>
            </a:r>
            <a:r>
              <a:rPr lang="en-AU" baseline="30000" dirty="0">
                <a:solidFill>
                  <a:srgbClr val="373637"/>
                </a:solidFill>
                <a:latin typeface="Source Sans Pro" panose="020B0503030403020204" pitchFamily="34" charset="0"/>
              </a:rPr>
              <a:t>-1</a:t>
            </a:r>
            <a:r>
              <a:rPr lang="en-AU" dirty="0">
                <a:solidFill>
                  <a:srgbClr val="373637"/>
                </a:solidFill>
                <a:latin typeface="Source Sans Pro" panose="020B0503030403020204" pitchFamily="34" charset="0"/>
              </a:rPr>
              <a:t> 18.4</a:t>
            </a:r>
            <a:r>
              <a:rPr lang="en-AU" baseline="30000" dirty="0">
                <a:solidFill>
                  <a:srgbClr val="373637"/>
                </a:solidFill>
                <a:latin typeface="Source Sans Pro" panose="020B0503030403020204" pitchFamily="34" charset="0"/>
              </a:rPr>
              <a:t>o</a:t>
            </a:r>
            <a:r>
              <a:rPr lang="en-AU" dirty="0">
                <a:solidFill>
                  <a:srgbClr val="373637"/>
                </a:solidFill>
                <a:latin typeface="Source Sans Pro" panose="020B0503030403020204" pitchFamily="34" charset="0"/>
              </a:rPr>
              <a:t> perpendicular to the bank, downstream</a:t>
            </a:r>
            <a:endParaRPr lang="en-AU" b="0" i="0" dirty="0">
              <a:solidFill>
                <a:srgbClr val="373637"/>
              </a:solidFill>
              <a:effectLst/>
              <a:latin typeface="Source Sans Pro" panose="020B0503030403020204" pitchFamily="34" charset="0"/>
            </a:endParaRPr>
          </a:p>
        </p:txBody>
      </p:sp>
      <p:sp>
        <p:nvSpPr>
          <p:cNvPr id="44" name="Rectangle 43">
            <a:extLst>
              <a:ext uri="{FF2B5EF4-FFF2-40B4-BE49-F238E27FC236}">
                <a16:creationId xmlns:a16="http://schemas.microsoft.com/office/drawing/2014/main" id="{18DF1FC4-AD16-C60C-979D-F2F5123B7458}"/>
              </a:ext>
            </a:extLst>
          </p:cNvPr>
          <p:cNvSpPr/>
          <p:nvPr/>
        </p:nvSpPr>
        <p:spPr>
          <a:xfrm>
            <a:off x="2397825" y="5152017"/>
            <a:ext cx="166631" cy="196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dirty="0">
                <a:solidFill>
                  <a:schemeClr val="tx1"/>
                </a:solidFill>
                <a:sym typeface="Symbol" panose="05050102010706020507" pitchFamily="18" charset="2"/>
              </a:rPr>
              <a:t></a:t>
            </a:r>
            <a:endParaRPr lang="en-AU" sz="1400" dirty="0">
              <a:solidFill>
                <a:schemeClr val="tx1"/>
              </a:solidFill>
            </a:endParaRPr>
          </a:p>
        </p:txBody>
      </p:sp>
    </p:spTree>
    <p:extLst>
      <p:ext uri="{BB962C8B-B14F-4D97-AF65-F5344CB8AC3E}">
        <p14:creationId xmlns:p14="http://schemas.microsoft.com/office/powerpoint/2010/main" val="1996572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Resolving vectors</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8" name="Picture 7">
            <a:extLst>
              <a:ext uri="{FF2B5EF4-FFF2-40B4-BE49-F238E27FC236}">
                <a16:creationId xmlns:a16="http://schemas.microsoft.com/office/drawing/2014/main" id="{008179D0-2C04-4926-B1C4-51ABF0FE31F6}"/>
              </a:ext>
            </a:extLst>
          </p:cNvPr>
          <p:cNvPicPr>
            <a:picLocks noChangeAspect="1"/>
          </p:cNvPicPr>
          <p:nvPr/>
        </p:nvPicPr>
        <p:blipFill rotWithShape="1">
          <a:blip r:embed="rId3"/>
          <a:srcRect r="28583" b="14798"/>
          <a:stretch/>
        </p:blipFill>
        <p:spPr>
          <a:xfrm>
            <a:off x="2844619" y="2237271"/>
            <a:ext cx="5435204" cy="3668229"/>
          </a:xfrm>
          <a:prstGeom prst="rect">
            <a:avLst/>
          </a:prstGeom>
        </p:spPr>
      </p:pic>
      <p:sp>
        <p:nvSpPr>
          <p:cNvPr id="15" name="Oval 14">
            <a:extLst>
              <a:ext uri="{FF2B5EF4-FFF2-40B4-BE49-F238E27FC236}">
                <a16:creationId xmlns:a16="http://schemas.microsoft.com/office/drawing/2014/main" id="{3FC6DF43-06AA-42F2-9F43-CA3B0A9C2EE6}"/>
              </a:ext>
            </a:extLst>
          </p:cNvPr>
          <p:cNvSpPr/>
          <p:nvPr/>
        </p:nvSpPr>
        <p:spPr>
          <a:xfrm>
            <a:off x="3977825" y="4575785"/>
            <a:ext cx="195747" cy="19574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grpSp>
        <p:nvGrpSpPr>
          <p:cNvPr id="14" name="Group 13">
            <a:extLst>
              <a:ext uri="{FF2B5EF4-FFF2-40B4-BE49-F238E27FC236}">
                <a16:creationId xmlns:a16="http://schemas.microsoft.com/office/drawing/2014/main" id="{297BD473-57AA-4399-AE08-D74D3DF062FB}"/>
              </a:ext>
            </a:extLst>
          </p:cNvPr>
          <p:cNvGrpSpPr/>
          <p:nvPr/>
        </p:nvGrpSpPr>
        <p:grpSpPr>
          <a:xfrm>
            <a:off x="6358110" y="2571821"/>
            <a:ext cx="914400" cy="2134108"/>
            <a:chOff x="6358110" y="2203521"/>
            <a:chExt cx="914400" cy="2134108"/>
          </a:xfrm>
        </p:grpSpPr>
        <p:cxnSp>
          <p:nvCxnSpPr>
            <p:cNvPr id="16" name="Straight Arrow Connector 15">
              <a:extLst>
                <a:ext uri="{FF2B5EF4-FFF2-40B4-BE49-F238E27FC236}">
                  <a16:creationId xmlns:a16="http://schemas.microsoft.com/office/drawing/2014/main" id="{FEEC4853-18A2-4AE5-95B1-1B67CA4E8BD8}"/>
                </a:ext>
              </a:extLst>
            </p:cNvPr>
            <p:cNvCxnSpPr>
              <a:cxnSpLocks/>
            </p:cNvCxnSpPr>
            <p:nvPr/>
          </p:nvCxnSpPr>
          <p:spPr>
            <a:xfrm flipV="1">
              <a:off x="6363320" y="2203521"/>
              <a:ext cx="24867" cy="21341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1553BB3-CE38-4902-ADD3-C883611C52D4}"/>
                </a:ext>
              </a:extLst>
            </p:cNvPr>
            <p:cNvSpPr/>
            <p:nvPr/>
          </p:nvSpPr>
          <p:spPr>
            <a:xfrm>
              <a:off x="6358110" y="2831513"/>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A</a:t>
              </a:r>
            </a:p>
          </p:txBody>
        </p:sp>
      </p:grpSp>
      <p:grpSp>
        <p:nvGrpSpPr>
          <p:cNvPr id="20" name="Group 19">
            <a:extLst>
              <a:ext uri="{FF2B5EF4-FFF2-40B4-BE49-F238E27FC236}">
                <a16:creationId xmlns:a16="http://schemas.microsoft.com/office/drawing/2014/main" id="{7378F6A8-590B-446C-AE51-F11B4A4C3DBC}"/>
              </a:ext>
            </a:extLst>
          </p:cNvPr>
          <p:cNvGrpSpPr/>
          <p:nvPr/>
        </p:nvGrpSpPr>
        <p:grpSpPr>
          <a:xfrm>
            <a:off x="4119914" y="4633550"/>
            <a:ext cx="2243406" cy="914400"/>
            <a:chOff x="4119914" y="4265250"/>
            <a:chExt cx="2243406" cy="914400"/>
          </a:xfrm>
        </p:grpSpPr>
        <p:cxnSp>
          <p:nvCxnSpPr>
            <p:cNvPr id="17" name="Straight Arrow Connector 16">
              <a:extLst>
                <a:ext uri="{FF2B5EF4-FFF2-40B4-BE49-F238E27FC236}">
                  <a16:creationId xmlns:a16="http://schemas.microsoft.com/office/drawing/2014/main" id="{7FAA613A-10D4-48DC-9091-192192638308}"/>
                </a:ext>
              </a:extLst>
            </p:cNvPr>
            <p:cNvCxnSpPr>
              <a:cxnSpLocks/>
            </p:cNvCxnSpPr>
            <p:nvPr/>
          </p:nvCxnSpPr>
          <p:spPr>
            <a:xfrm>
              <a:off x="4119914" y="4337629"/>
              <a:ext cx="2243406"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08305DC-B06D-48C3-A093-13CAB9658DBF}"/>
                </a:ext>
              </a:extLst>
            </p:cNvPr>
            <p:cNvSpPr/>
            <p:nvPr/>
          </p:nvSpPr>
          <p:spPr>
            <a:xfrm>
              <a:off x="4896160" y="4265250"/>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B</a:t>
              </a:r>
            </a:p>
          </p:txBody>
        </p:sp>
      </p:grpSp>
      <p:cxnSp>
        <p:nvCxnSpPr>
          <p:cNvPr id="21" name="Straight Arrow Connector 20">
            <a:extLst>
              <a:ext uri="{FF2B5EF4-FFF2-40B4-BE49-F238E27FC236}">
                <a16:creationId xmlns:a16="http://schemas.microsoft.com/office/drawing/2014/main" id="{6949C64C-A43D-4B93-94C8-739FA65C9EAF}"/>
              </a:ext>
            </a:extLst>
          </p:cNvPr>
          <p:cNvCxnSpPr>
            <a:cxnSpLocks/>
          </p:cNvCxnSpPr>
          <p:nvPr/>
        </p:nvCxnSpPr>
        <p:spPr>
          <a:xfrm flipV="1">
            <a:off x="4071938" y="2514584"/>
            <a:ext cx="2291382" cy="2175944"/>
          </a:xfrm>
          <a:prstGeom prst="straightConnector1">
            <a:avLst/>
          </a:prstGeom>
          <a:ln w="57150">
            <a:solidFill>
              <a:srgbClr val="692B7D"/>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ADAE1F86-62AF-4D58-B975-3BB82839F08C}"/>
              </a:ext>
            </a:extLst>
          </p:cNvPr>
          <p:cNvSpPr/>
          <p:nvPr/>
        </p:nvSpPr>
        <p:spPr>
          <a:xfrm>
            <a:off x="2686107" y="2783144"/>
            <a:ext cx="415197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rgbClr val="692B7D"/>
                </a:solidFill>
                <a:effectLst>
                  <a:outerShdw blurRad="38100" dist="25400" dir="5400000" algn="ctr" rotWithShape="0">
                    <a:srgbClr val="6E747A">
                      <a:alpha val="43000"/>
                    </a:srgbClr>
                  </a:outerShdw>
                </a:effectLst>
              </a:rPr>
              <a:t>A+B</a:t>
            </a:r>
          </a:p>
        </p:txBody>
      </p:sp>
      <p:sp>
        <p:nvSpPr>
          <p:cNvPr id="3" name="Text Placeholder 2">
            <a:extLst>
              <a:ext uri="{FF2B5EF4-FFF2-40B4-BE49-F238E27FC236}">
                <a16:creationId xmlns:a16="http://schemas.microsoft.com/office/drawing/2014/main" id="{C97FDB68-3734-4100-B745-3A70D62E7BB6}"/>
              </a:ext>
            </a:extLst>
          </p:cNvPr>
          <p:cNvSpPr>
            <a:spLocks noGrp="1"/>
          </p:cNvSpPr>
          <p:nvPr>
            <p:ph type="body" sz="quarter" idx="15"/>
          </p:nvPr>
        </p:nvSpPr>
        <p:spPr>
          <a:xfrm>
            <a:off x="397668" y="991704"/>
            <a:ext cx="11540332" cy="1971676"/>
          </a:xfrm>
        </p:spPr>
        <p:txBody>
          <a:bodyPr/>
          <a:lstStyle/>
          <a:p>
            <a:r>
              <a:rPr lang="en-AU" b="0" dirty="0"/>
              <a:t>Similar to adding vectors, you can ‘resolve’ a resultant vector by splitting it back into its components</a:t>
            </a:r>
          </a:p>
        </p:txBody>
      </p:sp>
      <p:sp>
        <p:nvSpPr>
          <p:cNvPr id="23" name="Text Placeholder 2">
            <a:extLst>
              <a:ext uri="{FF2B5EF4-FFF2-40B4-BE49-F238E27FC236}">
                <a16:creationId xmlns:a16="http://schemas.microsoft.com/office/drawing/2014/main" id="{69D17356-B83F-450C-B093-BE4E2C41C1E1}"/>
              </a:ext>
            </a:extLst>
          </p:cNvPr>
          <p:cNvSpPr txBox="1">
            <a:spLocks/>
          </p:cNvSpPr>
          <p:nvPr/>
        </p:nvSpPr>
        <p:spPr>
          <a:xfrm>
            <a:off x="8436558" y="2746996"/>
            <a:ext cx="3506707"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b="0" dirty="0"/>
              <a:t>Component vectors are perpendicular to each other and add up to give the resultant.</a:t>
            </a:r>
          </a:p>
          <a:p>
            <a:pPr algn="ctr"/>
            <a:endParaRPr lang="en-AU" dirty="0"/>
          </a:p>
          <a:p>
            <a:pPr algn="ctr"/>
            <a:endParaRPr lang="en-AU" dirty="0"/>
          </a:p>
          <a:p>
            <a:pPr algn="ctr"/>
            <a:endParaRPr lang="en-AU" dirty="0"/>
          </a:p>
        </p:txBody>
      </p:sp>
    </p:spTree>
    <p:extLst>
      <p:ext uri="{BB962C8B-B14F-4D97-AF65-F5344CB8AC3E}">
        <p14:creationId xmlns:p14="http://schemas.microsoft.com/office/powerpoint/2010/main" val="348399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3" name="Text Placeholder 2">
            <a:extLst>
              <a:ext uri="{FF2B5EF4-FFF2-40B4-BE49-F238E27FC236}">
                <a16:creationId xmlns:a16="http://schemas.microsoft.com/office/drawing/2014/main" id="{C97FDB68-3734-4100-B745-3A70D62E7BB6}"/>
              </a:ext>
            </a:extLst>
          </p:cNvPr>
          <p:cNvSpPr>
            <a:spLocks noGrp="1"/>
          </p:cNvSpPr>
          <p:nvPr>
            <p:ph type="body" sz="quarter" idx="15"/>
          </p:nvPr>
        </p:nvSpPr>
        <p:spPr>
          <a:xfrm>
            <a:off x="397668" y="991704"/>
            <a:ext cx="11540332" cy="1971676"/>
          </a:xfrm>
        </p:spPr>
        <p:txBody>
          <a:bodyPr/>
          <a:lstStyle/>
          <a:p>
            <a:r>
              <a:rPr lang="en-AU" b="0" dirty="0"/>
              <a:t>If you think back to the cannon, it is shooting the cannonball at an angle. To analyse the ball’s motion, we have to start by breaking down the velocity of the ball into its components.</a:t>
            </a:r>
          </a:p>
          <a:p>
            <a:endParaRPr lang="en-AU" dirty="0"/>
          </a:p>
          <a:p>
            <a:endParaRPr lang="en-AU" dirty="0"/>
          </a:p>
          <a:p>
            <a:endParaRPr lang="en-AU" dirty="0"/>
          </a:p>
          <a:p>
            <a:endParaRPr lang="en-AU" dirty="0"/>
          </a:p>
          <a:p>
            <a:endParaRPr lang="en-AU" dirty="0"/>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Resolving vectors</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7" name="Picture 4" descr="Golden cartoon cannon Royalty Free Vector Image">
            <a:extLst>
              <a:ext uri="{FF2B5EF4-FFF2-40B4-BE49-F238E27FC236}">
                <a16:creationId xmlns:a16="http://schemas.microsoft.com/office/drawing/2014/main" id="{FF188ED8-4834-41AE-924B-4A2F98DE2C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7362"/>
          <a:stretch/>
        </p:blipFill>
        <p:spPr bwMode="auto">
          <a:xfrm>
            <a:off x="295275" y="4058617"/>
            <a:ext cx="3604523" cy="2342929"/>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DF2F9F51-D7CB-4723-8C3F-F795F2FC02E1}"/>
              </a:ext>
            </a:extLst>
          </p:cNvPr>
          <p:cNvCxnSpPr>
            <a:cxnSpLocks/>
          </p:cNvCxnSpPr>
          <p:nvPr/>
        </p:nvCxnSpPr>
        <p:spPr>
          <a:xfrm flipV="1">
            <a:off x="2628900" y="3296951"/>
            <a:ext cx="2542222" cy="136684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A9D5324-1E93-4CA6-9F65-CC5CD29D94ED}"/>
              </a:ext>
            </a:extLst>
          </p:cNvPr>
          <p:cNvSpPr/>
          <p:nvPr/>
        </p:nvSpPr>
        <p:spPr>
          <a:xfrm>
            <a:off x="2311400" y="2992106"/>
            <a:ext cx="1920472"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velocity</a:t>
            </a:r>
          </a:p>
        </p:txBody>
      </p:sp>
      <p:cxnSp>
        <p:nvCxnSpPr>
          <p:cNvPr id="18" name="Straight Arrow Connector 17">
            <a:extLst>
              <a:ext uri="{FF2B5EF4-FFF2-40B4-BE49-F238E27FC236}">
                <a16:creationId xmlns:a16="http://schemas.microsoft.com/office/drawing/2014/main" id="{DE84BAD2-8C01-4E97-A97B-078F35533D8D}"/>
              </a:ext>
            </a:extLst>
          </p:cNvPr>
          <p:cNvCxnSpPr>
            <a:cxnSpLocks/>
          </p:cNvCxnSpPr>
          <p:nvPr/>
        </p:nvCxnSpPr>
        <p:spPr>
          <a:xfrm flipV="1">
            <a:off x="5241288" y="3296951"/>
            <a:ext cx="0" cy="1363379"/>
          </a:xfrm>
          <a:prstGeom prst="straightConnector1">
            <a:avLst/>
          </a:prstGeom>
          <a:ln w="57150">
            <a:solidFill>
              <a:srgbClr val="692B7D"/>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8037752-7FBC-435D-9205-39EFBEAFF2DE}"/>
              </a:ext>
            </a:extLst>
          </p:cNvPr>
          <p:cNvCxnSpPr>
            <a:cxnSpLocks/>
          </p:cNvCxnSpPr>
          <p:nvPr/>
        </p:nvCxnSpPr>
        <p:spPr>
          <a:xfrm flipV="1">
            <a:off x="2705099" y="4663791"/>
            <a:ext cx="2482169" cy="15392"/>
          </a:xfrm>
          <a:prstGeom prst="straightConnector1">
            <a:avLst/>
          </a:prstGeom>
          <a:ln w="57150">
            <a:solidFill>
              <a:srgbClr val="692B7D"/>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8" descr="Bomb Cartoon">
            <a:extLst>
              <a:ext uri="{FF2B5EF4-FFF2-40B4-BE49-F238E27FC236}">
                <a16:creationId xmlns:a16="http://schemas.microsoft.com/office/drawing/2014/main" id="{E5B818B3-C8BC-4449-97F2-D03ADC088E18}"/>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34" b="93276" l="10000" r="90000">
                        <a14:foregroundMark x1="47778" y1="6379" x2="47778" y2="6379"/>
                        <a14:foregroundMark x1="47778" y1="93448" x2="47778" y2="93448"/>
                        <a14:foregroundMark x1="49778" y1="1034" x2="49778" y2="1034"/>
                      </a14:backgroundRemoval>
                    </a14:imgEffect>
                  </a14:imgLayer>
                </a14:imgProps>
              </a:ext>
              <a:ext uri="{28A0092B-C50C-407E-A947-70E740481C1C}">
                <a14:useLocalDpi xmlns:a14="http://schemas.microsoft.com/office/drawing/2010/main" val="0"/>
              </a:ext>
            </a:extLst>
          </a:blip>
          <a:srcRect/>
          <a:stretch>
            <a:fillRect/>
          </a:stretch>
        </p:blipFill>
        <p:spPr bwMode="auto">
          <a:xfrm>
            <a:off x="4961731" y="2941306"/>
            <a:ext cx="742424" cy="478451"/>
          </a:xfrm>
          <a:prstGeom prst="rect">
            <a:avLst/>
          </a:prstGeom>
          <a:noFill/>
          <a:extLst>
            <a:ext uri="{909E8E84-426E-40DD-AFC4-6F175D3DCCD1}">
              <a14:hiddenFill xmlns:a14="http://schemas.microsoft.com/office/drawing/2010/main">
                <a:solidFill>
                  <a:srgbClr val="FFFFFF"/>
                </a:solidFill>
              </a14:hiddenFill>
            </a:ext>
          </a:extLst>
        </p:spPr>
      </p:pic>
      <p:grpSp>
        <p:nvGrpSpPr>
          <p:cNvPr id="36" name="Group 35">
            <a:extLst>
              <a:ext uri="{FF2B5EF4-FFF2-40B4-BE49-F238E27FC236}">
                <a16:creationId xmlns:a16="http://schemas.microsoft.com/office/drawing/2014/main" id="{F15DB897-56E2-4B23-BA1C-0527E6FCDA95}"/>
              </a:ext>
            </a:extLst>
          </p:cNvPr>
          <p:cNvGrpSpPr/>
          <p:nvPr/>
        </p:nvGrpSpPr>
        <p:grpSpPr>
          <a:xfrm>
            <a:off x="6329335" y="2280098"/>
            <a:ext cx="5593716" cy="3668229"/>
            <a:chOff x="6329335" y="2280098"/>
            <a:chExt cx="5593716" cy="3668229"/>
          </a:xfrm>
        </p:grpSpPr>
        <p:pic>
          <p:nvPicPr>
            <p:cNvPr id="26" name="Picture 25">
              <a:extLst>
                <a:ext uri="{FF2B5EF4-FFF2-40B4-BE49-F238E27FC236}">
                  <a16:creationId xmlns:a16="http://schemas.microsoft.com/office/drawing/2014/main" id="{A4AF9FF8-C1C9-495B-A229-CDD9C76828A1}"/>
                </a:ext>
              </a:extLst>
            </p:cNvPr>
            <p:cNvPicPr>
              <a:picLocks noChangeAspect="1"/>
            </p:cNvPicPr>
            <p:nvPr/>
          </p:nvPicPr>
          <p:blipFill rotWithShape="1">
            <a:blip r:embed="rId6"/>
            <a:srcRect r="28583" b="14798"/>
            <a:stretch/>
          </p:blipFill>
          <p:spPr>
            <a:xfrm>
              <a:off x="6487847" y="2280098"/>
              <a:ext cx="5435204" cy="3668229"/>
            </a:xfrm>
            <a:prstGeom prst="rect">
              <a:avLst/>
            </a:prstGeom>
          </p:spPr>
        </p:pic>
        <p:sp>
          <p:nvSpPr>
            <p:cNvPr id="27" name="Oval 26">
              <a:extLst>
                <a:ext uri="{FF2B5EF4-FFF2-40B4-BE49-F238E27FC236}">
                  <a16:creationId xmlns:a16="http://schemas.microsoft.com/office/drawing/2014/main" id="{1DCD109F-B80E-46E5-ABDB-0D5A8BA9F6D3}"/>
                </a:ext>
              </a:extLst>
            </p:cNvPr>
            <p:cNvSpPr/>
            <p:nvPr/>
          </p:nvSpPr>
          <p:spPr>
            <a:xfrm>
              <a:off x="7621053" y="4618612"/>
              <a:ext cx="195747" cy="19574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grpSp>
          <p:nvGrpSpPr>
            <p:cNvPr id="28" name="Group 27">
              <a:extLst>
                <a:ext uri="{FF2B5EF4-FFF2-40B4-BE49-F238E27FC236}">
                  <a16:creationId xmlns:a16="http://schemas.microsoft.com/office/drawing/2014/main" id="{355CCF58-66BB-4C07-AB2F-F94B93A21F5A}"/>
                </a:ext>
              </a:extLst>
            </p:cNvPr>
            <p:cNvGrpSpPr/>
            <p:nvPr/>
          </p:nvGrpSpPr>
          <p:grpSpPr>
            <a:xfrm>
              <a:off x="10001338" y="2614648"/>
              <a:ext cx="914400" cy="2134108"/>
              <a:chOff x="6358110" y="2203521"/>
              <a:chExt cx="914400" cy="2134108"/>
            </a:xfrm>
          </p:grpSpPr>
          <p:cxnSp>
            <p:nvCxnSpPr>
              <p:cNvPr id="29" name="Straight Arrow Connector 28">
                <a:extLst>
                  <a:ext uri="{FF2B5EF4-FFF2-40B4-BE49-F238E27FC236}">
                    <a16:creationId xmlns:a16="http://schemas.microsoft.com/office/drawing/2014/main" id="{41E4FBF5-3E53-4BEC-8A1B-32481D0C7F19}"/>
                  </a:ext>
                </a:extLst>
              </p:cNvPr>
              <p:cNvCxnSpPr>
                <a:cxnSpLocks/>
              </p:cNvCxnSpPr>
              <p:nvPr/>
            </p:nvCxnSpPr>
            <p:spPr>
              <a:xfrm flipV="1">
                <a:off x="6363320" y="2203521"/>
                <a:ext cx="24867" cy="21341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8D004FDB-FEA1-47E9-A320-5492A1A40DBE}"/>
                  </a:ext>
                </a:extLst>
              </p:cNvPr>
              <p:cNvSpPr/>
              <p:nvPr/>
            </p:nvSpPr>
            <p:spPr>
              <a:xfrm>
                <a:off x="6358110" y="2831513"/>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A</a:t>
                </a:r>
              </a:p>
            </p:txBody>
          </p:sp>
        </p:grpSp>
        <p:grpSp>
          <p:nvGrpSpPr>
            <p:cNvPr id="31" name="Group 30">
              <a:extLst>
                <a:ext uri="{FF2B5EF4-FFF2-40B4-BE49-F238E27FC236}">
                  <a16:creationId xmlns:a16="http://schemas.microsoft.com/office/drawing/2014/main" id="{DE56BBFB-BD76-4D6E-A9AB-C882B9BC0D3B}"/>
                </a:ext>
              </a:extLst>
            </p:cNvPr>
            <p:cNvGrpSpPr/>
            <p:nvPr/>
          </p:nvGrpSpPr>
          <p:grpSpPr>
            <a:xfrm>
              <a:off x="7763142" y="4676377"/>
              <a:ext cx="2243406" cy="914400"/>
              <a:chOff x="4119914" y="4265250"/>
              <a:chExt cx="2243406" cy="914400"/>
            </a:xfrm>
          </p:grpSpPr>
          <p:cxnSp>
            <p:nvCxnSpPr>
              <p:cNvPr id="32" name="Straight Arrow Connector 31">
                <a:extLst>
                  <a:ext uri="{FF2B5EF4-FFF2-40B4-BE49-F238E27FC236}">
                    <a16:creationId xmlns:a16="http://schemas.microsoft.com/office/drawing/2014/main" id="{19F5E4C0-3CCC-4C44-BB16-0D2B4FCEED5A}"/>
                  </a:ext>
                </a:extLst>
              </p:cNvPr>
              <p:cNvCxnSpPr>
                <a:cxnSpLocks/>
              </p:cNvCxnSpPr>
              <p:nvPr/>
            </p:nvCxnSpPr>
            <p:spPr>
              <a:xfrm>
                <a:off x="4119914" y="4337629"/>
                <a:ext cx="2243406"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1152FE50-99FB-4557-BDED-D006126C431E}"/>
                  </a:ext>
                </a:extLst>
              </p:cNvPr>
              <p:cNvSpPr/>
              <p:nvPr/>
            </p:nvSpPr>
            <p:spPr>
              <a:xfrm>
                <a:off x="4896160" y="4265250"/>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B</a:t>
                </a:r>
              </a:p>
            </p:txBody>
          </p:sp>
        </p:grpSp>
        <p:cxnSp>
          <p:nvCxnSpPr>
            <p:cNvPr id="34" name="Straight Arrow Connector 33">
              <a:extLst>
                <a:ext uri="{FF2B5EF4-FFF2-40B4-BE49-F238E27FC236}">
                  <a16:creationId xmlns:a16="http://schemas.microsoft.com/office/drawing/2014/main" id="{21B4F12C-3102-488C-9CE4-6F2F9AB9AA54}"/>
                </a:ext>
              </a:extLst>
            </p:cNvPr>
            <p:cNvCxnSpPr>
              <a:cxnSpLocks/>
            </p:cNvCxnSpPr>
            <p:nvPr/>
          </p:nvCxnSpPr>
          <p:spPr>
            <a:xfrm flipV="1">
              <a:off x="7715166" y="2557411"/>
              <a:ext cx="2291382" cy="2175944"/>
            </a:xfrm>
            <a:prstGeom prst="straightConnector1">
              <a:avLst/>
            </a:prstGeom>
            <a:ln w="57150">
              <a:solidFill>
                <a:srgbClr val="692B7D"/>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3D2A30F8-A6DE-4767-8531-E2888A3304EB}"/>
                </a:ext>
              </a:extLst>
            </p:cNvPr>
            <p:cNvSpPr/>
            <p:nvPr/>
          </p:nvSpPr>
          <p:spPr>
            <a:xfrm>
              <a:off x="6329335" y="2825971"/>
              <a:ext cx="415197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rgbClr val="692B7D"/>
                  </a:solidFill>
                  <a:effectLst>
                    <a:outerShdw blurRad="38100" dist="25400" dir="5400000" algn="ctr" rotWithShape="0">
                      <a:srgbClr val="6E747A">
                        <a:alpha val="43000"/>
                      </a:srgbClr>
                    </a:outerShdw>
                  </a:effectLst>
                </a:rPr>
                <a:t>A+B</a:t>
              </a:r>
            </a:p>
          </p:txBody>
        </p:sp>
      </p:grpSp>
    </p:spTree>
    <p:extLst>
      <p:ext uri="{BB962C8B-B14F-4D97-AF65-F5344CB8AC3E}">
        <p14:creationId xmlns:p14="http://schemas.microsoft.com/office/powerpoint/2010/main" val="82697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Resolving vectors</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8" name="Picture 7">
            <a:extLst>
              <a:ext uri="{FF2B5EF4-FFF2-40B4-BE49-F238E27FC236}">
                <a16:creationId xmlns:a16="http://schemas.microsoft.com/office/drawing/2014/main" id="{008179D0-2C04-4926-B1C4-51ABF0FE31F6}"/>
              </a:ext>
            </a:extLst>
          </p:cNvPr>
          <p:cNvPicPr>
            <a:picLocks noChangeAspect="1"/>
          </p:cNvPicPr>
          <p:nvPr/>
        </p:nvPicPr>
        <p:blipFill rotWithShape="1">
          <a:blip r:embed="rId3"/>
          <a:srcRect r="28583" b="14798"/>
          <a:stretch/>
        </p:blipFill>
        <p:spPr>
          <a:xfrm>
            <a:off x="2844619" y="2237271"/>
            <a:ext cx="5435204" cy="3668229"/>
          </a:xfrm>
          <a:prstGeom prst="rect">
            <a:avLst/>
          </a:prstGeom>
        </p:spPr>
      </p:pic>
      <p:sp>
        <p:nvSpPr>
          <p:cNvPr id="15" name="Oval 14">
            <a:extLst>
              <a:ext uri="{FF2B5EF4-FFF2-40B4-BE49-F238E27FC236}">
                <a16:creationId xmlns:a16="http://schemas.microsoft.com/office/drawing/2014/main" id="{3FC6DF43-06AA-42F2-9F43-CA3B0A9C2EE6}"/>
              </a:ext>
            </a:extLst>
          </p:cNvPr>
          <p:cNvSpPr/>
          <p:nvPr/>
        </p:nvSpPr>
        <p:spPr>
          <a:xfrm>
            <a:off x="3977825" y="4575785"/>
            <a:ext cx="195747" cy="19574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grpSp>
        <p:nvGrpSpPr>
          <p:cNvPr id="14" name="Group 13">
            <a:extLst>
              <a:ext uri="{FF2B5EF4-FFF2-40B4-BE49-F238E27FC236}">
                <a16:creationId xmlns:a16="http://schemas.microsoft.com/office/drawing/2014/main" id="{297BD473-57AA-4399-AE08-D74D3DF062FB}"/>
              </a:ext>
            </a:extLst>
          </p:cNvPr>
          <p:cNvGrpSpPr/>
          <p:nvPr/>
        </p:nvGrpSpPr>
        <p:grpSpPr>
          <a:xfrm>
            <a:off x="6358110" y="2571821"/>
            <a:ext cx="914400" cy="2134108"/>
            <a:chOff x="6358110" y="2203521"/>
            <a:chExt cx="914400" cy="2134108"/>
          </a:xfrm>
        </p:grpSpPr>
        <p:cxnSp>
          <p:nvCxnSpPr>
            <p:cNvPr id="16" name="Straight Arrow Connector 15">
              <a:extLst>
                <a:ext uri="{FF2B5EF4-FFF2-40B4-BE49-F238E27FC236}">
                  <a16:creationId xmlns:a16="http://schemas.microsoft.com/office/drawing/2014/main" id="{FEEC4853-18A2-4AE5-95B1-1B67CA4E8BD8}"/>
                </a:ext>
              </a:extLst>
            </p:cNvPr>
            <p:cNvCxnSpPr>
              <a:cxnSpLocks/>
            </p:cNvCxnSpPr>
            <p:nvPr/>
          </p:nvCxnSpPr>
          <p:spPr>
            <a:xfrm flipV="1">
              <a:off x="6363320" y="2203521"/>
              <a:ext cx="24867" cy="21341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1553BB3-CE38-4902-ADD3-C883611C52D4}"/>
                </a:ext>
              </a:extLst>
            </p:cNvPr>
            <p:cNvSpPr/>
            <p:nvPr/>
          </p:nvSpPr>
          <p:spPr>
            <a:xfrm>
              <a:off x="6358110" y="2831513"/>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R</a:t>
              </a:r>
              <a:r>
                <a:rPr lang="en-AU" sz="3200" b="1" baseline="-25000" dirty="0">
                  <a:ln w="0"/>
                  <a:solidFill>
                    <a:schemeClr val="accent1"/>
                  </a:solidFill>
                  <a:effectLst>
                    <a:outerShdw blurRad="38100" dist="25400" dir="5400000" algn="ctr" rotWithShape="0">
                      <a:srgbClr val="6E747A">
                        <a:alpha val="43000"/>
                      </a:srgbClr>
                    </a:outerShdw>
                  </a:effectLst>
                </a:rPr>
                <a:t>V</a:t>
              </a:r>
              <a:endParaRPr lang="en-AU" sz="3200" b="1" dirty="0">
                <a:ln w="0"/>
                <a:solidFill>
                  <a:schemeClr val="accent1"/>
                </a:solidFill>
                <a:effectLst>
                  <a:outerShdw blurRad="38100" dist="25400" dir="5400000" algn="ctr" rotWithShape="0">
                    <a:srgbClr val="6E747A">
                      <a:alpha val="43000"/>
                    </a:srgbClr>
                  </a:outerShdw>
                </a:effectLst>
              </a:endParaRPr>
            </a:p>
          </p:txBody>
        </p:sp>
      </p:grpSp>
      <p:grpSp>
        <p:nvGrpSpPr>
          <p:cNvPr id="20" name="Group 19">
            <a:extLst>
              <a:ext uri="{FF2B5EF4-FFF2-40B4-BE49-F238E27FC236}">
                <a16:creationId xmlns:a16="http://schemas.microsoft.com/office/drawing/2014/main" id="{7378F6A8-590B-446C-AE51-F11B4A4C3DBC}"/>
              </a:ext>
            </a:extLst>
          </p:cNvPr>
          <p:cNvGrpSpPr/>
          <p:nvPr/>
        </p:nvGrpSpPr>
        <p:grpSpPr>
          <a:xfrm>
            <a:off x="4119914" y="4633550"/>
            <a:ext cx="2243406" cy="914400"/>
            <a:chOff x="4119914" y="4265250"/>
            <a:chExt cx="2243406" cy="914400"/>
          </a:xfrm>
        </p:grpSpPr>
        <p:cxnSp>
          <p:nvCxnSpPr>
            <p:cNvPr id="17" name="Straight Arrow Connector 16">
              <a:extLst>
                <a:ext uri="{FF2B5EF4-FFF2-40B4-BE49-F238E27FC236}">
                  <a16:creationId xmlns:a16="http://schemas.microsoft.com/office/drawing/2014/main" id="{7FAA613A-10D4-48DC-9091-192192638308}"/>
                </a:ext>
              </a:extLst>
            </p:cNvPr>
            <p:cNvCxnSpPr>
              <a:cxnSpLocks/>
            </p:cNvCxnSpPr>
            <p:nvPr/>
          </p:nvCxnSpPr>
          <p:spPr>
            <a:xfrm>
              <a:off x="4119914" y="4337629"/>
              <a:ext cx="2243406"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08305DC-B06D-48C3-A093-13CAB9658DBF}"/>
                </a:ext>
              </a:extLst>
            </p:cNvPr>
            <p:cNvSpPr/>
            <p:nvPr/>
          </p:nvSpPr>
          <p:spPr>
            <a:xfrm>
              <a:off x="4896160" y="4265250"/>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R</a:t>
              </a:r>
              <a:r>
                <a:rPr lang="en-AU" sz="3200" b="1" baseline="-25000" dirty="0">
                  <a:ln w="0"/>
                  <a:solidFill>
                    <a:schemeClr val="accent1"/>
                  </a:solidFill>
                  <a:effectLst>
                    <a:outerShdw blurRad="38100" dist="25400" dir="5400000" algn="ctr" rotWithShape="0">
                      <a:srgbClr val="6E747A">
                        <a:alpha val="43000"/>
                      </a:srgbClr>
                    </a:outerShdw>
                  </a:effectLst>
                </a:rPr>
                <a:t>H</a:t>
              </a:r>
              <a:endParaRPr lang="en-AU" sz="3200" b="1" dirty="0">
                <a:ln w="0"/>
                <a:solidFill>
                  <a:schemeClr val="accent1"/>
                </a:solidFill>
                <a:effectLst>
                  <a:outerShdw blurRad="38100" dist="25400" dir="5400000" algn="ctr" rotWithShape="0">
                    <a:srgbClr val="6E747A">
                      <a:alpha val="43000"/>
                    </a:srgbClr>
                  </a:outerShdw>
                </a:effectLst>
              </a:endParaRPr>
            </a:p>
          </p:txBody>
        </p:sp>
      </p:grpSp>
      <p:cxnSp>
        <p:nvCxnSpPr>
          <p:cNvPr id="21" name="Straight Arrow Connector 20">
            <a:extLst>
              <a:ext uri="{FF2B5EF4-FFF2-40B4-BE49-F238E27FC236}">
                <a16:creationId xmlns:a16="http://schemas.microsoft.com/office/drawing/2014/main" id="{6949C64C-A43D-4B93-94C8-739FA65C9EAF}"/>
              </a:ext>
            </a:extLst>
          </p:cNvPr>
          <p:cNvCxnSpPr>
            <a:cxnSpLocks/>
          </p:cNvCxnSpPr>
          <p:nvPr/>
        </p:nvCxnSpPr>
        <p:spPr>
          <a:xfrm flipV="1">
            <a:off x="4071938" y="2514584"/>
            <a:ext cx="2291382" cy="2175944"/>
          </a:xfrm>
          <a:prstGeom prst="straightConnector1">
            <a:avLst/>
          </a:prstGeom>
          <a:ln w="57150">
            <a:solidFill>
              <a:srgbClr val="692B7D"/>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ADAE1F86-62AF-4D58-B975-3BB82839F08C}"/>
              </a:ext>
            </a:extLst>
          </p:cNvPr>
          <p:cNvSpPr/>
          <p:nvPr/>
        </p:nvSpPr>
        <p:spPr>
          <a:xfrm>
            <a:off x="2686107" y="2783144"/>
            <a:ext cx="415197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rgbClr val="692B7D"/>
                </a:solidFill>
                <a:effectLst>
                  <a:outerShdw blurRad="38100" dist="25400" dir="5400000" algn="ctr" rotWithShape="0">
                    <a:srgbClr val="6E747A">
                      <a:alpha val="43000"/>
                    </a:srgbClr>
                  </a:outerShdw>
                </a:effectLst>
              </a:rPr>
              <a:t>R</a:t>
            </a:r>
          </a:p>
        </p:txBody>
      </p:sp>
      <p:sp>
        <p:nvSpPr>
          <p:cNvPr id="3" name="Text Placeholder 2">
            <a:extLst>
              <a:ext uri="{FF2B5EF4-FFF2-40B4-BE49-F238E27FC236}">
                <a16:creationId xmlns:a16="http://schemas.microsoft.com/office/drawing/2014/main" id="{C97FDB68-3734-4100-B745-3A70D62E7BB6}"/>
              </a:ext>
            </a:extLst>
          </p:cNvPr>
          <p:cNvSpPr>
            <a:spLocks noGrp="1"/>
          </p:cNvSpPr>
          <p:nvPr>
            <p:ph type="body" sz="quarter" idx="15"/>
          </p:nvPr>
        </p:nvSpPr>
        <p:spPr>
          <a:xfrm>
            <a:off x="397668" y="991704"/>
            <a:ext cx="11540332" cy="1971676"/>
          </a:xfrm>
        </p:spPr>
        <p:txBody>
          <a:bodyPr/>
          <a:lstStyle/>
          <a:p>
            <a:r>
              <a:rPr lang="en-AU" b="0" dirty="0"/>
              <a:t>Similar to adding vectors, you can ‘resolve’ a resultant vector by splitting it back into its components</a:t>
            </a:r>
          </a:p>
        </p:txBody>
      </p:sp>
      <p:sp>
        <p:nvSpPr>
          <p:cNvPr id="5" name="Rectangle 4">
            <a:extLst>
              <a:ext uri="{FF2B5EF4-FFF2-40B4-BE49-F238E27FC236}">
                <a16:creationId xmlns:a16="http://schemas.microsoft.com/office/drawing/2014/main" id="{4BF4EFDE-8E2E-4D6D-8BF3-F9A65BD4DAA7}"/>
              </a:ext>
            </a:extLst>
          </p:cNvPr>
          <p:cNvSpPr/>
          <p:nvPr/>
        </p:nvSpPr>
        <p:spPr>
          <a:xfrm>
            <a:off x="5966847" y="4318290"/>
            <a:ext cx="391263" cy="372238"/>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Text Placeholder 2">
            <a:extLst>
              <a:ext uri="{FF2B5EF4-FFF2-40B4-BE49-F238E27FC236}">
                <a16:creationId xmlns:a16="http://schemas.microsoft.com/office/drawing/2014/main" id="{BA0C101F-0030-413E-971B-7BCD60A324E5}"/>
              </a:ext>
            </a:extLst>
          </p:cNvPr>
          <p:cNvSpPr txBox="1">
            <a:spLocks/>
          </p:cNvSpPr>
          <p:nvPr/>
        </p:nvSpPr>
        <p:spPr>
          <a:xfrm>
            <a:off x="8288209" y="2773214"/>
            <a:ext cx="3791880"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b="0" dirty="0"/>
              <a:t>Now, if we have the magnitude of the vector and the angle, we can calculate </a:t>
            </a:r>
            <a:r>
              <a:rPr lang="en-AU" b="0" dirty="0" err="1"/>
              <a:t>Rv</a:t>
            </a:r>
            <a:r>
              <a:rPr lang="en-AU" b="0" dirty="0"/>
              <a:t> and Rh using trigonometry.</a:t>
            </a:r>
            <a:endParaRPr lang="en-AU" dirty="0"/>
          </a:p>
          <a:p>
            <a:pPr algn="ctr"/>
            <a:endParaRPr lang="en-AU" dirty="0"/>
          </a:p>
        </p:txBody>
      </p:sp>
      <p:cxnSp>
        <p:nvCxnSpPr>
          <p:cNvPr id="9" name="Straight Arrow Connector 8">
            <a:extLst>
              <a:ext uri="{FF2B5EF4-FFF2-40B4-BE49-F238E27FC236}">
                <a16:creationId xmlns:a16="http://schemas.microsoft.com/office/drawing/2014/main" id="{14AB218E-F2CF-431D-A99C-3C2747745146}"/>
              </a:ext>
            </a:extLst>
          </p:cNvPr>
          <p:cNvCxnSpPr/>
          <p:nvPr/>
        </p:nvCxnSpPr>
        <p:spPr>
          <a:xfrm>
            <a:off x="4587498" y="3009874"/>
            <a:ext cx="324160" cy="0"/>
          </a:xfrm>
          <a:prstGeom prst="straightConnector1">
            <a:avLst/>
          </a:prstGeom>
          <a:ln w="28575">
            <a:solidFill>
              <a:srgbClr val="692B7D"/>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8981933-77B2-4954-B866-E0DAFD4586FB}"/>
              </a:ext>
            </a:extLst>
          </p:cNvPr>
          <p:cNvCxnSpPr/>
          <p:nvPr/>
        </p:nvCxnSpPr>
        <p:spPr>
          <a:xfrm>
            <a:off x="6618517" y="3429000"/>
            <a:ext cx="324160" cy="0"/>
          </a:xfrm>
          <a:prstGeom prst="straightConnector1">
            <a:avLst/>
          </a:prstGeom>
          <a:ln w="28575">
            <a:solidFill>
              <a:srgbClr val="2E546D"/>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86B91FE-69E8-4260-B7A4-6E431A44B266}"/>
              </a:ext>
            </a:extLst>
          </p:cNvPr>
          <p:cNvCxnSpPr/>
          <p:nvPr/>
        </p:nvCxnSpPr>
        <p:spPr>
          <a:xfrm>
            <a:off x="5177915" y="4884565"/>
            <a:ext cx="324160" cy="0"/>
          </a:xfrm>
          <a:prstGeom prst="straightConnector1">
            <a:avLst/>
          </a:prstGeom>
          <a:ln w="28575">
            <a:solidFill>
              <a:srgbClr val="2E546D"/>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3EB0A72E-611C-58D5-463B-C53795B6D76E}"/>
              </a:ext>
            </a:extLst>
          </p:cNvPr>
          <p:cNvSpPr/>
          <p:nvPr/>
        </p:nvSpPr>
        <p:spPr>
          <a:xfrm>
            <a:off x="4493425" y="4403621"/>
            <a:ext cx="166631" cy="1962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sym typeface="Symbol" panose="05050102010706020507" pitchFamily="18" charset="2"/>
              </a:rPr>
              <a:t></a:t>
            </a:r>
            <a:endParaRPr lang="en-AU" sz="2800" dirty="0">
              <a:solidFill>
                <a:schemeClr val="tx1"/>
              </a:solidFill>
            </a:endParaRPr>
          </a:p>
        </p:txBody>
      </p:sp>
    </p:spTree>
    <p:extLst>
      <p:ext uri="{BB962C8B-B14F-4D97-AF65-F5344CB8AC3E}">
        <p14:creationId xmlns:p14="http://schemas.microsoft.com/office/powerpoint/2010/main" val="19013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Resolving vectors</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15" name="Oval 14">
            <a:extLst>
              <a:ext uri="{FF2B5EF4-FFF2-40B4-BE49-F238E27FC236}">
                <a16:creationId xmlns:a16="http://schemas.microsoft.com/office/drawing/2014/main" id="{3FC6DF43-06AA-42F2-9F43-CA3B0A9C2EE6}"/>
              </a:ext>
            </a:extLst>
          </p:cNvPr>
          <p:cNvSpPr/>
          <p:nvPr/>
        </p:nvSpPr>
        <p:spPr>
          <a:xfrm>
            <a:off x="1637581" y="4575785"/>
            <a:ext cx="195747" cy="19574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grpSp>
        <p:nvGrpSpPr>
          <p:cNvPr id="14" name="Group 13">
            <a:extLst>
              <a:ext uri="{FF2B5EF4-FFF2-40B4-BE49-F238E27FC236}">
                <a16:creationId xmlns:a16="http://schemas.microsoft.com/office/drawing/2014/main" id="{297BD473-57AA-4399-AE08-D74D3DF062FB}"/>
              </a:ext>
            </a:extLst>
          </p:cNvPr>
          <p:cNvGrpSpPr/>
          <p:nvPr/>
        </p:nvGrpSpPr>
        <p:grpSpPr>
          <a:xfrm>
            <a:off x="4017866" y="2571821"/>
            <a:ext cx="914400" cy="2134108"/>
            <a:chOff x="6358110" y="2203521"/>
            <a:chExt cx="914400" cy="2134108"/>
          </a:xfrm>
        </p:grpSpPr>
        <p:cxnSp>
          <p:nvCxnSpPr>
            <p:cNvPr id="16" name="Straight Arrow Connector 15">
              <a:extLst>
                <a:ext uri="{FF2B5EF4-FFF2-40B4-BE49-F238E27FC236}">
                  <a16:creationId xmlns:a16="http://schemas.microsoft.com/office/drawing/2014/main" id="{FEEC4853-18A2-4AE5-95B1-1B67CA4E8BD8}"/>
                </a:ext>
              </a:extLst>
            </p:cNvPr>
            <p:cNvCxnSpPr>
              <a:cxnSpLocks/>
            </p:cNvCxnSpPr>
            <p:nvPr/>
          </p:nvCxnSpPr>
          <p:spPr>
            <a:xfrm flipV="1">
              <a:off x="6363320" y="2203521"/>
              <a:ext cx="24867" cy="21341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1553BB3-CE38-4902-ADD3-C883611C52D4}"/>
                </a:ext>
              </a:extLst>
            </p:cNvPr>
            <p:cNvSpPr/>
            <p:nvPr/>
          </p:nvSpPr>
          <p:spPr>
            <a:xfrm>
              <a:off x="6358110" y="2831513"/>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R</a:t>
              </a:r>
              <a:r>
                <a:rPr lang="en-AU" sz="3200" b="1" baseline="-25000" dirty="0">
                  <a:ln w="0"/>
                  <a:solidFill>
                    <a:schemeClr val="accent1"/>
                  </a:solidFill>
                  <a:effectLst>
                    <a:outerShdw blurRad="38100" dist="25400" dir="5400000" algn="ctr" rotWithShape="0">
                      <a:srgbClr val="6E747A">
                        <a:alpha val="43000"/>
                      </a:srgbClr>
                    </a:outerShdw>
                  </a:effectLst>
                </a:rPr>
                <a:t>V</a:t>
              </a:r>
              <a:endParaRPr lang="en-AU" sz="3200" b="1" dirty="0">
                <a:ln w="0"/>
                <a:solidFill>
                  <a:schemeClr val="accent1"/>
                </a:solidFill>
                <a:effectLst>
                  <a:outerShdw blurRad="38100" dist="25400" dir="5400000" algn="ctr" rotWithShape="0">
                    <a:srgbClr val="6E747A">
                      <a:alpha val="43000"/>
                    </a:srgbClr>
                  </a:outerShdw>
                </a:effectLst>
              </a:endParaRPr>
            </a:p>
          </p:txBody>
        </p:sp>
      </p:grpSp>
      <p:grpSp>
        <p:nvGrpSpPr>
          <p:cNvPr id="20" name="Group 19">
            <a:extLst>
              <a:ext uri="{FF2B5EF4-FFF2-40B4-BE49-F238E27FC236}">
                <a16:creationId xmlns:a16="http://schemas.microsoft.com/office/drawing/2014/main" id="{7378F6A8-590B-446C-AE51-F11B4A4C3DBC}"/>
              </a:ext>
            </a:extLst>
          </p:cNvPr>
          <p:cNvGrpSpPr/>
          <p:nvPr/>
        </p:nvGrpSpPr>
        <p:grpSpPr>
          <a:xfrm>
            <a:off x="1779670" y="4633550"/>
            <a:ext cx="2243406" cy="914400"/>
            <a:chOff x="4119914" y="4265250"/>
            <a:chExt cx="2243406" cy="914400"/>
          </a:xfrm>
        </p:grpSpPr>
        <p:cxnSp>
          <p:nvCxnSpPr>
            <p:cNvPr id="17" name="Straight Arrow Connector 16">
              <a:extLst>
                <a:ext uri="{FF2B5EF4-FFF2-40B4-BE49-F238E27FC236}">
                  <a16:creationId xmlns:a16="http://schemas.microsoft.com/office/drawing/2014/main" id="{7FAA613A-10D4-48DC-9091-192192638308}"/>
                </a:ext>
              </a:extLst>
            </p:cNvPr>
            <p:cNvCxnSpPr>
              <a:cxnSpLocks/>
            </p:cNvCxnSpPr>
            <p:nvPr/>
          </p:nvCxnSpPr>
          <p:spPr>
            <a:xfrm>
              <a:off x="4119914" y="4337629"/>
              <a:ext cx="2243406"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08305DC-B06D-48C3-A093-13CAB9658DBF}"/>
                </a:ext>
              </a:extLst>
            </p:cNvPr>
            <p:cNvSpPr/>
            <p:nvPr/>
          </p:nvSpPr>
          <p:spPr>
            <a:xfrm>
              <a:off x="4896160" y="4265250"/>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R</a:t>
              </a:r>
              <a:r>
                <a:rPr lang="en-AU" sz="3200" b="1" baseline="-25000" dirty="0">
                  <a:ln w="0"/>
                  <a:solidFill>
                    <a:schemeClr val="accent1"/>
                  </a:solidFill>
                  <a:effectLst>
                    <a:outerShdw blurRad="38100" dist="25400" dir="5400000" algn="ctr" rotWithShape="0">
                      <a:srgbClr val="6E747A">
                        <a:alpha val="43000"/>
                      </a:srgbClr>
                    </a:outerShdw>
                  </a:effectLst>
                </a:rPr>
                <a:t>H</a:t>
              </a:r>
              <a:endParaRPr lang="en-AU" sz="3200" b="1" dirty="0">
                <a:ln w="0"/>
                <a:solidFill>
                  <a:schemeClr val="accent1"/>
                </a:solidFill>
                <a:effectLst>
                  <a:outerShdw blurRad="38100" dist="25400" dir="5400000" algn="ctr" rotWithShape="0">
                    <a:srgbClr val="6E747A">
                      <a:alpha val="43000"/>
                    </a:srgbClr>
                  </a:outerShdw>
                </a:effectLst>
              </a:endParaRPr>
            </a:p>
          </p:txBody>
        </p:sp>
      </p:grpSp>
      <p:cxnSp>
        <p:nvCxnSpPr>
          <p:cNvPr id="21" name="Straight Arrow Connector 20">
            <a:extLst>
              <a:ext uri="{FF2B5EF4-FFF2-40B4-BE49-F238E27FC236}">
                <a16:creationId xmlns:a16="http://schemas.microsoft.com/office/drawing/2014/main" id="{6949C64C-A43D-4B93-94C8-739FA65C9EAF}"/>
              </a:ext>
            </a:extLst>
          </p:cNvPr>
          <p:cNvCxnSpPr>
            <a:cxnSpLocks/>
          </p:cNvCxnSpPr>
          <p:nvPr/>
        </p:nvCxnSpPr>
        <p:spPr>
          <a:xfrm flipV="1">
            <a:off x="1731694" y="2514584"/>
            <a:ext cx="2291382" cy="2175944"/>
          </a:xfrm>
          <a:prstGeom prst="straightConnector1">
            <a:avLst/>
          </a:prstGeom>
          <a:ln w="57150">
            <a:solidFill>
              <a:srgbClr val="692B7D"/>
            </a:solidFill>
            <a:tailEnd type="triangle"/>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C97FDB68-3734-4100-B745-3A70D62E7BB6}"/>
              </a:ext>
            </a:extLst>
          </p:cNvPr>
          <p:cNvSpPr>
            <a:spLocks noGrp="1"/>
          </p:cNvSpPr>
          <p:nvPr>
            <p:ph type="body" sz="quarter" idx="15"/>
          </p:nvPr>
        </p:nvSpPr>
        <p:spPr>
          <a:xfrm>
            <a:off x="397668" y="991704"/>
            <a:ext cx="11540332" cy="1971676"/>
          </a:xfrm>
        </p:spPr>
        <p:txBody>
          <a:bodyPr/>
          <a:lstStyle/>
          <a:p>
            <a:r>
              <a:rPr lang="en-AU" b="0" dirty="0"/>
              <a:t>Similar to adding vectors, you can ‘resolve’ a resultant vector by splitting it back into its components</a:t>
            </a:r>
          </a:p>
        </p:txBody>
      </p:sp>
      <p:sp>
        <p:nvSpPr>
          <p:cNvPr id="5" name="Rectangle 4">
            <a:extLst>
              <a:ext uri="{FF2B5EF4-FFF2-40B4-BE49-F238E27FC236}">
                <a16:creationId xmlns:a16="http://schemas.microsoft.com/office/drawing/2014/main" id="{4BF4EFDE-8E2E-4D6D-8BF3-F9A65BD4DAA7}"/>
              </a:ext>
            </a:extLst>
          </p:cNvPr>
          <p:cNvSpPr/>
          <p:nvPr/>
        </p:nvSpPr>
        <p:spPr>
          <a:xfrm>
            <a:off x="3626603" y="4318290"/>
            <a:ext cx="391263" cy="372238"/>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0CB6A23E-F7D3-4CA6-A33E-D5A60E602609}"/>
              </a:ext>
            </a:extLst>
          </p:cNvPr>
          <p:cNvSpPr txBox="1"/>
          <p:nvPr/>
        </p:nvSpPr>
        <p:spPr>
          <a:xfrm>
            <a:off x="2191709" y="4176350"/>
            <a:ext cx="1363850" cy="914400"/>
          </a:xfrm>
          <a:prstGeom prst="rect">
            <a:avLst/>
          </a:prstGeom>
          <a:noFill/>
          <a:ln>
            <a:noFill/>
          </a:ln>
        </p:spPr>
        <p:txBody>
          <a:bodyPr wrap="none" rtlCol="0" anchor="t" anchorCtr="0">
            <a:normAutofit/>
          </a:bodyPr>
          <a:lstStyle/>
          <a:p>
            <a:pPr algn="l"/>
            <a:r>
              <a:rPr lang="en-AU" sz="2800" b="1" dirty="0">
                <a:latin typeface="Century Gothic" panose="020B0502020202020204" pitchFamily="34" charset="0"/>
                <a:cs typeface="Futura Medium" panose="020B0602020204020303" pitchFamily="34" charset="-79"/>
              </a:rPr>
              <a:t>40</a:t>
            </a:r>
            <a:r>
              <a:rPr lang="en-AU" sz="2800" b="1" baseline="30000" dirty="0">
                <a:latin typeface="Century Gothic" panose="020B0502020202020204" pitchFamily="34" charset="0"/>
                <a:cs typeface="Futura Medium" panose="020B0602020204020303" pitchFamily="34" charset="-79"/>
              </a:rPr>
              <a:t>o</a:t>
            </a:r>
          </a:p>
        </p:txBody>
      </p:sp>
      <p:cxnSp>
        <p:nvCxnSpPr>
          <p:cNvPr id="25" name="Straight Arrow Connector 24">
            <a:extLst>
              <a:ext uri="{FF2B5EF4-FFF2-40B4-BE49-F238E27FC236}">
                <a16:creationId xmlns:a16="http://schemas.microsoft.com/office/drawing/2014/main" id="{41B2BA2D-BB61-4D88-8247-83A2D4E0732F}"/>
              </a:ext>
            </a:extLst>
          </p:cNvPr>
          <p:cNvCxnSpPr/>
          <p:nvPr/>
        </p:nvCxnSpPr>
        <p:spPr>
          <a:xfrm>
            <a:off x="4265937" y="3429000"/>
            <a:ext cx="324160" cy="0"/>
          </a:xfrm>
          <a:prstGeom prst="straightConnector1">
            <a:avLst/>
          </a:prstGeom>
          <a:ln w="28575">
            <a:solidFill>
              <a:srgbClr val="2E546D"/>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D1CE16E-A901-4AEA-A537-22C4F660DF97}"/>
              </a:ext>
            </a:extLst>
          </p:cNvPr>
          <p:cNvCxnSpPr/>
          <p:nvPr/>
        </p:nvCxnSpPr>
        <p:spPr>
          <a:xfrm>
            <a:off x="2747843" y="4900065"/>
            <a:ext cx="324160" cy="0"/>
          </a:xfrm>
          <a:prstGeom prst="straightConnector1">
            <a:avLst/>
          </a:prstGeom>
          <a:ln w="28575">
            <a:solidFill>
              <a:srgbClr val="2E546D"/>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9E7B485-94BE-1CA1-ADF4-457E542B66B7}"/>
              </a:ext>
            </a:extLst>
          </p:cNvPr>
          <p:cNvSpPr/>
          <p:nvPr/>
        </p:nvSpPr>
        <p:spPr>
          <a:xfrm>
            <a:off x="341883" y="2875301"/>
            <a:ext cx="415197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rgbClr val="692B7D"/>
                </a:solidFill>
                <a:effectLst>
                  <a:outerShdw blurRad="38100" dist="25400" dir="5400000" algn="ctr" rotWithShape="0">
                    <a:srgbClr val="6E747A">
                      <a:alpha val="43000"/>
                    </a:srgbClr>
                  </a:outerShdw>
                </a:effectLst>
              </a:rPr>
              <a:t>R=20</a:t>
            </a:r>
          </a:p>
        </p:txBody>
      </p:sp>
      <p:cxnSp>
        <p:nvCxnSpPr>
          <p:cNvPr id="9" name="Straight Arrow Connector 8">
            <a:extLst>
              <a:ext uri="{FF2B5EF4-FFF2-40B4-BE49-F238E27FC236}">
                <a16:creationId xmlns:a16="http://schemas.microsoft.com/office/drawing/2014/main" id="{1EE38FDC-A535-11FF-1AFF-00C1B9964485}"/>
              </a:ext>
            </a:extLst>
          </p:cNvPr>
          <p:cNvCxnSpPr/>
          <p:nvPr/>
        </p:nvCxnSpPr>
        <p:spPr>
          <a:xfrm>
            <a:off x="1894601" y="3115780"/>
            <a:ext cx="324160" cy="0"/>
          </a:xfrm>
          <a:prstGeom prst="straightConnector1">
            <a:avLst/>
          </a:prstGeom>
          <a:ln w="28575">
            <a:solidFill>
              <a:srgbClr val="692B7D"/>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8936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Resolving vectors</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15" name="Oval 14">
            <a:extLst>
              <a:ext uri="{FF2B5EF4-FFF2-40B4-BE49-F238E27FC236}">
                <a16:creationId xmlns:a16="http://schemas.microsoft.com/office/drawing/2014/main" id="{3FC6DF43-06AA-42F2-9F43-CA3B0A9C2EE6}"/>
              </a:ext>
            </a:extLst>
          </p:cNvPr>
          <p:cNvSpPr/>
          <p:nvPr/>
        </p:nvSpPr>
        <p:spPr>
          <a:xfrm>
            <a:off x="1637581" y="4575785"/>
            <a:ext cx="195747" cy="19574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grpSp>
        <p:nvGrpSpPr>
          <p:cNvPr id="14" name="Group 13">
            <a:extLst>
              <a:ext uri="{FF2B5EF4-FFF2-40B4-BE49-F238E27FC236}">
                <a16:creationId xmlns:a16="http://schemas.microsoft.com/office/drawing/2014/main" id="{297BD473-57AA-4399-AE08-D74D3DF062FB}"/>
              </a:ext>
            </a:extLst>
          </p:cNvPr>
          <p:cNvGrpSpPr/>
          <p:nvPr/>
        </p:nvGrpSpPr>
        <p:grpSpPr>
          <a:xfrm>
            <a:off x="4017866" y="2571821"/>
            <a:ext cx="914400" cy="2134108"/>
            <a:chOff x="6358110" y="2203521"/>
            <a:chExt cx="914400" cy="2134108"/>
          </a:xfrm>
        </p:grpSpPr>
        <p:cxnSp>
          <p:nvCxnSpPr>
            <p:cNvPr id="16" name="Straight Arrow Connector 15">
              <a:extLst>
                <a:ext uri="{FF2B5EF4-FFF2-40B4-BE49-F238E27FC236}">
                  <a16:creationId xmlns:a16="http://schemas.microsoft.com/office/drawing/2014/main" id="{FEEC4853-18A2-4AE5-95B1-1B67CA4E8BD8}"/>
                </a:ext>
              </a:extLst>
            </p:cNvPr>
            <p:cNvCxnSpPr>
              <a:cxnSpLocks/>
            </p:cNvCxnSpPr>
            <p:nvPr/>
          </p:nvCxnSpPr>
          <p:spPr>
            <a:xfrm flipV="1">
              <a:off x="6363320" y="2203521"/>
              <a:ext cx="24867" cy="21341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1553BB3-CE38-4902-ADD3-C883611C52D4}"/>
                </a:ext>
              </a:extLst>
            </p:cNvPr>
            <p:cNvSpPr/>
            <p:nvPr/>
          </p:nvSpPr>
          <p:spPr>
            <a:xfrm>
              <a:off x="6358110" y="2831513"/>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R</a:t>
              </a:r>
              <a:r>
                <a:rPr lang="en-AU" sz="3200" b="1" baseline="-25000" dirty="0">
                  <a:ln w="0"/>
                  <a:solidFill>
                    <a:schemeClr val="accent1"/>
                  </a:solidFill>
                  <a:effectLst>
                    <a:outerShdw blurRad="38100" dist="25400" dir="5400000" algn="ctr" rotWithShape="0">
                      <a:srgbClr val="6E747A">
                        <a:alpha val="43000"/>
                      </a:srgbClr>
                    </a:outerShdw>
                  </a:effectLst>
                </a:rPr>
                <a:t>V</a:t>
              </a:r>
              <a:endParaRPr lang="en-AU" sz="3200" b="1" dirty="0">
                <a:ln w="0"/>
                <a:solidFill>
                  <a:schemeClr val="accent1"/>
                </a:solidFill>
                <a:effectLst>
                  <a:outerShdw blurRad="38100" dist="25400" dir="5400000" algn="ctr" rotWithShape="0">
                    <a:srgbClr val="6E747A">
                      <a:alpha val="43000"/>
                    </a:srgbClr>
                  </a:outerShdw>
                </a:effectLst>
              </a:endParaRPr>
            </a:p>
          </p:txBody>
        </p:sp>
      </p:grpSp>
      <p:grpSp>
        <p:nvGrpSpPr>
          <p:cNvPr id="20" name="Group 19">
            <a:extLst>
              <a:ext uri="{FF2B5EF4-FFF2-40B4-BE49-F238E27FC236}">
                <a16:creationId xmlns:a16="http://schemas.microsoft.com/office/drawing/2014/main" id="{7378F6A8-590B-446C-AE51-F11B4A4C3DBC}"/>
              </a:ext>
            </a:extLst>
          </p:cNvPr>
          <p:cNvGrpSpPr/>
          <p:nvPr/>
        </p:nvGrpSpPr>
        <p:grpSpPr>
          <a:xfrm>
            <a:off x="1779670" y="4633550"/>
            <a:ext cx="2243406" cy="914400"/>
            <a:chOff x="4119914" y="4265250"/>
            <a:chExt cx="2243406" cy="914400"/>
          </a:xfrm>
        </p:grpSpPr>
        <p:cxnSp>
          <p:nvCxnSpPr>
            <p:cNvPr id="17" name="Straight Arrow Connector 16">
              <a:extLst>
                <a:ext uri="{FF2B5EF4-FFF2-40B4-BE49-F238E27FC236}">
                  <a16:creationId xmlns:a16="http://schemas.microsoft.com/office/drawing/2014/main" id="{7FAA613A-10D4-48DC-9091-192192638308}"/>
                </a:ext>
              </a:extLst>
            </p:cNvPr>
            <p:cNvCxnSpPr>
              <a:cxnSpLocks/>
            </p:cNvCxnSpPr>
            <p:nvPr/>
          </p:nvCxnSpPr>
          <p:spPr>
            <a:xfrm>
              <a:off x="4119914" y="4337629"/>
              <a:ext cx="2243406"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08305DC-B06D-48C3-A093-13CAB9658DBF}"/>
                </a:ext>
              </a:extLst>
            </p:cNvPr>
            <p:cNvSpPr/>
            <p:nvPr/>
          </p:nvSpPr>
          <p:spPr>
            <a:xfrm>
              <a:off x="4896160" y="4265250"/>
              <a:ext cx="91440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R</a:t>
              </a:r>
              <a:r>
                <a:rPr lang="en-AU" sz="3200" b="1" baseline="-25000" dirty="0">
                  <a:ln w="0"/>
                  <a:solidFill>
                    <a:schemeClr val="accent1"/>
                  </a:solidFill>
                  <a:effectLst>
                    <a:outerShdw blurRad="38100" dist="25400" dir="5400000" algn="ctr" rotWithShape="0">
                      <a:srgbClr val="6E747A">
                        <a:alpha val="43000"/>
                      </a:srgbClr>
                    </a:outerShdw>
                  </a:effectLst>
                </a:rPr>
                <a:t>H</a:t>
              </a:r>
              <a:endParaRPr lang="en-AU" sz="3200" b="1" dirty="0">
                <a:ln w="0"/>
                <a:solidFill>
                  <a:schemeClr val="accent1"/>
                </a:solidFill>
                <a:effectLst>
                  <a:outerShdw blurRad="38100" dist="25400" dir="5400000" algn="ctr" rotWithShape="0">
                    <a:srgbClr val="6E747A">
                      <a:alpha val="43000"/>
                    </a:srgbClr>
                  </a:outerShdw>
                </a:effectLst>
              </a:endParaRPr>
            </a:p>
          </p:txBody>
        </p:sp>
      </p:grpSp>
      <p:cxnSp>
        <p:nvCxnSpPr>
          <p:cNvPr id="21" name="Straight Arrow Connector 20">
            <a:extLst>
              <a:ext uri="{FF2B5EF4-FFF2-40B4-BE49-F238E27FC236}">
                <a16:creationId xmlns:a16="http://schemas.microsoft.com/office/drawing/2014/main" id="{6949C64C-A43D-4B93-94C8-739FA65C9EAF}"/>
              </a:ext>
            </a:extLst>
          </p:cNvPr>
          <p:cNvCxnSpPr>
            <a:cxnSpLocks/>
          </p:cNvCxnSpPr>
          <p:nvPr/>
        </p:nvCxnSpPr>
        <p:spPr>
          <a:xfrm flipV="1">
            <a:off x="1731694" y="2514584"/>
            <a:ext cx="2291382" cy="2175944"/>
          </a:xfrm>
          <a:prstGeom prst="straightConnector1">
            <a:avLst/>
          </a:prstGeom>
          <a:ln w="57150">
            <a:solidFill>
              <a:srgbClr val="692B7D"/>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ADAE1F86-62AF-4D58-B975-3BB82839F08C}"/>
              </a:ext>
            </a:extLst>
          </p:cNvPr>
          <p:cNvSpPr/>
          <p:nvPr/>
        </p:nvSpPr>
        <p:spPr>
          <a:xfrm>
            <a:off x="341883" y="2875301"/>
            <a:ext cx="415197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rgbClr val="692B7D"/>
                </a:solidFill>
                <a:effectLst>
                  <a:outerShdw blurRad="38100" dist="25400" dir="5400000" algn="ctr" rotWithShape="0">
                    <a:srgbClr val="6E747A">
                      <a:alpha val="43000"/>
                    </a:srgbClr>
                  </a:outerShdw>
                </a:effectLst>
              </a:rPr>
              <a:t>R=20</a:t>
            </a:r>
          </a:p>
        </p:txBody>
      </p:sp>
      <p:sp>
        <p:nvSpPr>
          <p:cNvPr id="3" name="Text Placeholder 2">
            <a:extLst>
              <a:ext uri="{FF2B5EF4-FFF2-40B4-BE49-F238E27FC236}">
                <a16:creationId xmlns:a16="http://schemas.microsoft.com/office/drawing/2014/main" id="{C97FDB68-3734-4100-B745-3A70D62E7BB6}"/>
              </a:ext>
            </a:extLst>
          </p:cNvPr>
          <p:cNvSpPr>
            <a:spLocks noGrp="1"/>
          </p:cNvSpPr>
          <p:nvPr>
            <p:ph type="body" sz="quarter" idx="15"/>
          </p:nvPr>
        </p:nvSpPr>
        <p:spPr>
          <a:xfrm>
            <a:off x="397668" y="991704"/>
            <a:ext cx="11540332" cy="1971676"/>
          </a:xfrm>
        </p:spPr>
        <p:txBody>
          <a:bodyPr/>
          <a:lstStyle/>
          <a:p>
            <a:r>
              <a:rPr lang="en-AU" dirty="0"/>
              <a:t>Similar to adding vectors, you can ‘resolve’ a resultant vector by splitting it back into its components</a:t>
            </a:r>
          </a:p>
        </p:txBody>
      </p:sp>
      <p:sp>
        <p:nvSpPr>
          <p:cNvPr id="5" name="Rectangle 4">
            <a:extLst>
              <a:ext uri="{FF2B5EF4-FFF2-40B4-BE49-F238E27FC236}">
                <a16:creationId xmlns:a16="http://schemas.microsoft.com/office/drawing/2014/main" id="{4BF4EFDE-8E2E-4D6D-8BF3-F9A65BD4DAA7}"/>
              </a:ext>
            </a:extLst>
          </p:cNvPr>
          <p:cNvSpPr/>
          <p:nvPr/>
        </p:nvSpPr>
        <p:spPr>
          <a:xfrm>
            <a:off x="3626603" y="4318290"/>
            <a:ext cx="391263" cy="372238"/>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0CB6A23E-F7D3-4CA6-A33E-D5A60E602609}"/>
              </a:ext>
            </a:extLst>
          </p:cNvPr>
          <p:cNvSpPr txBox="1"/>
          <p:nvPr/>
        </p:nvSpPr>
        <p:spPr>
          <a:xfrm>
            <a:off x="2191709" y="4176350"/>
            <a:ext cx="1363850" cy="914400"/>
          </a:xfrm>
          <a:prstGeom prst="rect">
            <a:avLst/>
          </a:prstGeom>
          <a:noFill/>
          <a:ln>
            <a:noFill/>
          </a:ln>
        </p:spPr>
        <p:txBody>
          <a:bodyPr wrap="none" rtlCol="0" anchor="t" anchorCtr="0">
            <a:normAutofit/>
          </a:bodyPr>
          <a:lstStyle/>
          <a:p>
            <a:pPr algn="l"/>
            <a:r>
              <a:rPr lang="en-AU" sz="2800" b="1" dirty="0">
                <a:latin typeface="Century Gothic" panose="020B0502020202020204" pitchFamily="34" charset="0"/>
                <a:cs typeface="Futura Medium" panose="020B0602020204020303" pitchFamily="34" charset="-79"/>
              </a:rPr>
              <a:t>40</a:t>
            </a:r>
            <a:r>
              <a:rPr lang="en-AU" sz="2800" b="1" baseline="30000" dirty="0">
                <a:latin typeface="Century Gothic" panose="020B0502020202020204" pitchFamily="34" charset="0"/>
                <a:cs typeface="Futura Medium" panose="020B0602020204020303" pitchFamily="34" charset="-79"/>
              </a:rPr>
              <a:t>o</a:t>
            </a:r>
          </a:p>
        </p:txBody>
      </p:sp>
      <p:sp>
        <p:nvSpPr>
          <p:cNvPr id="9" name="TextBox 8">
            <a:extLst>
              <a:ext uri="{FF2B5EF4-FFF2-40B4-BE49-F238E27FC236}">
                <a16:creationId xmlns:a16="http://schemas.microsoft.com/office/drawing/2014/main" id="{D7ED0121-773A-4CAA-904C-7D24B2A94915}"/>
              </a:ext>
            </a:extLst>
          </p:cNvPr>
          <p:cNvSpPr txBox="1"/>
          <p:nvPr/>
        </p:nvSpPr>
        <p:spPr>
          <a:xfrm>
            <a:off x="6167834" y="2200759"/>
            <a:ext cx="4151970" cy="3347191"/>
          </a:xfrm>
          <a:prstGeom prst="rect">
            <a:avLst/>
          </a:prstGeom>
          <a:noFill/>
          <a:ln>
            <a:noFill/>
          </a:ln>
        </p:spPr>
        <p:txBody>
          <a:bodyPr wrap="square" rtlCol="0" anchor="t" anchorCtr="0">
            <a:normAutofit fontScale="85000" lnSpcReduction="20000"/>
          </a:bodyPr>
          <a:lstStyle/>
          <a:p>
            <a:pPr algn="l"/>
            <a:r>
              <a:rPr lang="en-AU" sz="2800" dirty="0">
                <a:latin typeface="Times New Roman" panose="02020603050405020304" pitchFamily="18" charset="0"/>
                <a:cs typeface="Times New Roman" panose="02020603050405020304" pitchFamily="18" charset="0"/>
              </a:rPr>
              <a:t>cos </a:t>
            </a:r>
            <a:r>
              <a:rPr lang="el-GR" sz="2800" dirty="0">
                <a:latin typeface="Times New Roman" panose="02020603050405020304" pitchFamily="18" charset="0"/>
                <a:cs typeface="Times New Roman" panose="02020603050405020304" pitchFamily="18" charset="0"/>
              </a:rPr>
              <a:t>θ</a:t>
            </a:r>
            <a:r>
              <a:rPr lang="en-AU" sz="2800" dirty="0">
                <a:latin typeface="Times New Roman" panose="02020603050405020304" pitchFamily="18" charset="0"/>
                <a:cs typeface="Times New Roman" panose="02020603050405020304" pitchFamily="18" charset="0"/>
              </a:rPr>
              <a:t> = A / H </a:t>
            </a:r>
          </a:p>
          <a:p>
            <a:pPr algn="l"/>
            <a:r>
              <a:rPr lang="en-AU" sz="2800" dirty="0">
                <a:latin typeface="Times New Roman" panose="02020603050405020304" pitchFamily="18" charset="0"/>
                <a:cs typeface="Times New Roman" panose="02020603050405020304" pitchFamily="18" charset="0"/>
              </a:rPr>
              <a:t>cos 40 = R</a:t>
            </a:r>
            <a:r>
              <a:rPr lang="en-AU" sz="2800" baseline="-25000" dirty="0">
                <a:latin typeface="Times New Roman" panose="02020603050405020304" pitchFamily="18" charset="0"/>
                <a:cs typeface="Times New Roman" panose="02020603050405020304" pitchFamily="18" charset="0"/>
              </a:rPr>
              <a:t>H</a:t>
            </a:r>
            <a:r>
              <a:rPr lang="en-AU" sz="2800" dirty="0">
                <a:latin typeface="Times New Roman" panose="02020603050405020304" pitchFamily="18" charset="0"/>
                <a:cs typeface="Times New Roman" panose="02020603050405020304" pitchFamily="18" charset="0"/>
              </a:rPr>
              <a:t> / 20</a:t>
            </a:r>
          </a:p>
          <a:p>
            <a:pPr algn="l"/>
            <a:endParaRPr lang="en-AU" sz="2800" dirty="0">
              <a:latin typeface="Times New Roman" panose="02020603050405020304" pitchFamily="18" charset="0"/>
              <a:cs typeface="Times New Roman" panose="02020603050405020304" pitchFamily="18" charset="0"/>
            </a:endParaRPr>
          </a:p>
          <a:p>
            <a:pPr algn="l"/>
            <a:r>
              <a:rPr lang="en-AU" sz="2800" dirty="0">
                <a:latin typeface="Times New Roman" panose="02020603050405020304" pitchFamily="18" charset="0"/>
                <a:cs typeface="Times New Roman" panose="02020603050405020304" pitchFamily="18" charset="0"/>
              </a:rPr>
              <a:t>R</a:t>
            </a:r>
            <a:r>
              <a:rPr lang="en-AU" sz="2800" baseline="-25000" dirty="0">
                <a:latin typeface="Times New Roman" panose="02020603050405020304" pitchFamily="18" charset="0"/>
                <a:cs typeface="Times New Roman" panose="02020603050405020304" pitchFamily="18" charset="0"/>
              </a:rPr>
              <a:t>H </a:t>
            </a:r>
            <a:r>
              <a:rPr lang="en-AU" sz="2800" baseline="30000" dirty="0">
                <a:latin typeface="Times New Roman" panose="02020603050405020304" pitchFamily="18" charset="0"/>
                <a:cs typeface="Times New Roman" panose="02020603050405020304" pitchFamily="18" charset="0"/>
              </a:rPr>
              <a:t> </a:t>
            </a:r>
            <a:r>
              <a:rPr lang="en-AU" sz="2800" dirty="0">
                <a:latin typeface="Times New Roman" panose="02020603050405020304" pitchFamily="18" charset="0"/>
                <a:cs typeface="Times New Roman" panose="02020603050405020304" pitchFamily="18" charset="0"/>
              </a:rPr>
              <a:t>= 20 cos 40 = 15.3</a:t>
            </a:r>
          </a:p>
          <a:p>
            <a:pPr algn="l"/>
            <a:endParaRPr lang="en-AU" sz="2800" dirty="0">
              <a:latin typeface="Times New Roman" panose="02020603050405020304" pitchFamily="18" charset="0"/>
              <a:cs typeface="Times New Roman" panose="02020603050405020304" pitchFamily="18" charset="0"/>
            </a:endParaRPr>
          </a:p>
          <a:p>
            <a:pPr algn="l"/>
            <a:endParaRPr lang="en-AU" sz="2800" dirty="0">
              <a:latin typeface="Times New Roman" panose="02020603050405020304" pitchFamily="18" charset="0"/>
              <a:cs typeface="Times New Roman" panose="02020603050405020304" pitchFamily="18" charset="0"/>
            </a:endParaRPr>
          </a:p>
          <a:p>
            <a:pPr algn="l"/>
            <a:r>
              <a:rPr lang="en-AU" sz="2800" dirty="0">
                <a:latin typeface="Times New Roman" panose="02020603050405020304" pitchFamily="18" charset="0"/>
                <a:cs typeface="Times New Roman" panose="02020603050405020304" pitchFamily="18" charset="0"/>
              </a:rPr>
              <a:t>sin </a:t>
            </a:r>
            <a:r>
              <a:rPr lang="el-GR" sz="2800" dirty="0">
                <a:latin typeface="Times New Roman" panose="02020603050405020304" pitchFamily="18" charset="0"/>
                <a:cs typeface="Times New Roman" panose="02020603050405020304" pitchFamily="18" charset="0"/>
              </a:rPr>
              <a:t>θ</a:t>
            </a:r>
            <a:r>
              <a:rPr lang="en-AU" sz="2800" dirty="0">
                <a:latin typeface="Times New Roman" panose="02020603050405020304" pitchFamily="18" charset="0"/>
                <a:cs typeface="Times New Roman" panose="02020603050405020304" pitchFamily="18" charset="0"/>
              </a:rPr>
              <a:t> = O / H </a:t>
            </a:r>
          </a:p>
          <a:p>
            <a:pPr algn="l"/>
            <a:r>
              <a:rPr lang="en-AU" sz="2800" dirty="0">
                <a:latin typeface="Times New Roman" panose="02020603050405020304" pitchFamily="18" charset="0"/>
                <a:cs typeface="Times New Roman" panose="02020603050405020304" pitchFamily="18" charset="0"/>
              </a:rPr>
              <a:t>sin 40 = </a:t>
            </a:r>
            <a:r>
              <a:rPr lang="en-AU" sz="2800" dirty="0" err="1">
                <a:latin typeface="Times New Roman" panose="02020603050405020304" pitchFamily="18" charset="0"/>
                <a:cs typeface="Times New Roman" panose="02020603050405020304" pitchFamily="18" charset="0"/>
              </a:rPr>
              <a:t>R</a:t>
            </a:r>
            <a:r>
              <a:rPr lang="en-AU" sz="2800" baseline="-25000" dirty="0" err="1">
                <a:latin typeface="Times New Roman" panose="02020603050405020304" pitchFamily="18" charset="0"/>
                <a:cs typeface="Times New Roman" panose="02020603050405020304" pitchFamily="18" charset="0"/>
              </a:rPr>
              <a:t>v</a:t>
            </a:r>
            <a:r>
              <a:rPr lang="en-AU" sz="2800" dirty="0">
                <a:latin typeface="Times New Roman" panose="02020603050405020304" pitchFamily="18" charset="0"/>
                <a:cs typeface="Times New Roman" panose="02020603050405020304" pitchFamily="18" charset="0"/>
              </a:rPr>
              <a:t> / 20</a:t>
            </a:r>
          </a:p>
          <a:p>
            <a:pPr algn="l"/>
            <a:endParaRPr lang="en-AU" sz="2800" dirty="0">
              <a:latin typeface="Times New Roman" panose="02020603050405020304" pitchFamily="18" charset="0"/>
              <a:cs typeface="Times New Roman" panose="02020603050405020304" pitchFamily="18" charset="0"/>
            </a:endParaRPr>
          </a:p>
          <a:p>
            <a:pPr algn="l"/>
            <a:r>
              <a:rPr lang="en-AU" sz="2800" dirty="0" err="1">
                <a:latin typeface="Times New Roman" panose="02020603050405020304" pitchFamily="18" charset="0"/>
                <a:cs typeface="Times New Roman" panose="02020603050405020304" pitchFamily="18" charset="0"/>
              </a:rPr>
              <a:t>R</a:t>
            </a:r>
            <a:r>
              <a:rPr lang="en-AU" sz="2800" baseline="-25000" dirty="0" err="1">
                <a:latin typeface="Times New Roman" panose="02020603050405020304" pitchFamily="18" charset="0"/>
                <a:cs typeface="Times New Roman" panose="02020603050405020304" pitchFamily="18" charset="0"/>
              </a:rPr>
              <a:t>v</a:t>
            </a:r>
            <a:r>
              <a:rPr lang="en-AU" sz="2800" baseline="-25000" dirty="0">
                <a:latin typeface="Times New Roman" panose="02020603050405020304" pitchFamily="18" charset="0"/>
                <a:cs typeface="Times New Roman" panose="02020603050405020304" pitchFamily="18" charset="0"/>
              </a:rPr>
              <a:t> </a:t>
            </a:r>
            <a:r>
              <a:rPr lang="en-AU" sz="2800" baseline="30000" dirty="0">
                <a:latin typeface="Times New Roman" panose="02020603050405020304" pitchFamily="18" charset="0"/>
                <a:cs typeface="Times New Roman" panose="02020603050405020304" pitchFamily="18" charset="0"/>
              </a:rPr>
              <a:t> </a:t>
            </a:r>
            <a:r>
              <a:rPr lang="en-AU" sz="2800" dirty="0">
                <a:latin typeface="Times New Roman" panose="02020603050405020304" pitchFamily="18" charset="0"/>
                <a:cs typeface="Times New Roman" panose="02020603050405020304" pitchFamily="18" charset="0"/>
              </a:rPr>
              <a:t>= 20 cos 40 = 12.86</a:t>
            </a:r>
          </a:p>
          <a:p>
            <a:pPr algn="l"/>
            <a:r>
              <a:rPr lang="en-AU" sz="2800" dirty="0">
                <a:latin typeface="Times New Roman" panose="02020603050405020304" pitchFamily="18" charset="0"/>
                <a:cs typeface="Times New Roman" panose="02020603050405020304" pitchFamily="18" charset="0"/>
              </a:rPr>
              <a:t> </a:t>
            </a:r>
          </a:p>
          <a:p>
            <a:pPr algn="l"/>
            <a:endParaRPr lang="en-AU" sz="2800" b="1" dirty="0">
              <a:latin typeface="Times New Roman" panose="02020603050405020304" pitchFamily="18" charset="0"/>
              <a:cs typeface="Times New Roman" panose="02020603050405020304" pitchFamily="18" charset="0"/>
            </a:endParaRPr>
          </a:p>
          <a:p>
            <a:pPr algn="l"/>
            <a:endParaRPr lang="en-AU" sz="2800" b="1" dirty="0">
              <a:latin typeface="Century Gothic" panose="020B0502020202020204" pitchFamily="34" charset="0"/>
              <a:cs typeface="Futura Medium" panose="020B0602020204020303" pitchFamily="34" charset="-79"/>
            </a:endParaRPr>
          </a:p>
        </p:txBody>
      </p:sp>
      <p:cxnSp>
        <p:nvCxnSpPr>
          <p:cNvPr id="23" name="Straight Arrow Connector 22">
            <a:extLst>
              <a:ext uri="{FF2B5EF4-FFF2-40B4-BE49-F238E27FC236}">
                <a16:creationId xmlns:a16="http://schemas.microsoft.com/office/drawing/2014/main" id="{529C1165-C8E9-4FC8-B5BD-7CA4B496D6ED}"/>
              </a:ext>
            </a:extLst>
          </p:cNvPr>
          <p:cNvCxnSpPr/>
          <p:nvPr/>
        </p:nvCxnSpPr>
        <p:spPr>
          <a:xfrm>
            <a:off x="1894601" y="3115780"/>
            <a:ext cx="324160" cy="0"/>
          </a:xfrm>
          <a:prstGeom prst="straightConnector1">
            <a:avLst/>
          </a:prstGeom>
          <a:ln w="28575">
            <a:solidFill>
              <a:srgbClr val="692B7D"/>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7078C73-E185-4ECD-9584-6A93D394F86C}"/>
              </a:ext>
            </a:extLst>
          </p:cNvPr>
          <p:cNvCxnSpPr/>
          <p:nvPr/>
        </p:nvCxnSpPr>
        <p:spPr>
          <a:xfrm>
            <a:off x="4265937" y="3429000"/>
            <a:ext cx="324160" cy="0"/>
          </a:xfrm>
          <a:prstGeom prst="straightConnector1">
            <a:avLst/>
          </a:prstGeom>
          <a:ln w="28575">
            <a:solidFill>
              <a:srgbClr val="2E546D"/>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EE50952-3AA6-4B93-AF25-17E34523B5AB}"/>
              </a:ext>
            </a:extLst>
          </p:cNvPr>
          <p:cNvCxnSpPr/>
          <p:nvPr/>
        </p:nvCxnSpPr>
        <p:spPr>
          <a:xfrm>
            <a:off x="2747843" y="4900065"/>
            <a:ext cx="324160" cy="0"/>
          </a:xfrm>
          <a:prstGeom prst="straightConnector1">
            <a:avLst/>
          </a:prstGeom>
          <a:ln w="28575">
            <a:solidFill>
              <a:srgbClr val="2E546D"/>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159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Resultant from two components</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7" name="Picture 2">
            <a:extLst>
              <a:ext uri="{FF2B5EF4-FFF2-40B4-BE49-F238E27FC236}">
                <a16:creationId xmlns:a16="http://schemas.microsoft.com/office/drawing/2014/main" id="{C36B9DC1-9389-4FD8-8C61-B421EDD0E2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344" t="22061"/>
          <a:stretch/>
        </p:blipFill>
        <p:spPr bwMode="auto">
          <a:xfrm>
            <a:off x="264771" y="1204456"/>
            <a:ext cx="12011737" cy="57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4913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Resultant from two components</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7" name="Picture 2">
            <a:extLst>
              <a:ext uri="{FF2B5EF4-FFF2-40B4-BE49-F238E27FC236}">
                <a16:creationId xmlns:a16="http://schemas.microsoft.com/office/drawing/2014/main" id="{C36B9DC1-9389-4FD8-8C61-B421EDD0E2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344" t="22061"/>
          <a:stretch/>
        </p:blipFill>
        <p:spPr bwMode="auto">
          <a:xfrm>
            <a:off x="264771" y="1204456"/>
            <a:ext cx="12011737" cy="576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B9AC515-D482-4660-9899-A0CB61BB1D95}"/>
              </a:ext>
            </a:extLst>
          </p:cNvPr>
          <p:cNvPicPr>
            <a:picLocks noChangeAspect="1"/>
          </p:cNvPicPr>
          <p:nvPr/>
        </p:nvPicPr>
        <p:blipFill>
          <a:blip r:embed="rId4"/>
          <a:stretch>
            <a:fillRect/>
          </a:stretch>
        </p:blipFill>
        <p:spPr>
          <a:xfrm>
            <a:off x="1469048" y="1780456"/>
            <a:ext cx="8972550" cy="4714875"/>
          </a:xfrm>
          <a:prstGeom prst="rect">
            <a:avLst/>
          </a:prstGeom>
        </p:spPr>
      </p:pic>
    </p:spTree>
    <p:extLst>
      <p:ext uri="{BB962C8B-B14F-4D97-AF65-F5344CB8AC3E}">
        <p14:creationId xmlns:p14="http://schemas.microsoft.com/office/powerpoint/2010/main" val="4104460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Resultant from two components</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15" name="Oval 14">
            <a:extLst>
              <a:ext uri="{FF2B5EF4-FFF2-40B4-BE49-F238E27FC236}">
                <a16:creationId xmlns:a16="http://schemas.microsoft.com/office/drawing/2014/main" id="{3FC6DF43-06AA-42F2-9F43-CA3B0A9C2EE6}"/>
              </a:ext>
            </a:extLst>
          </p:cNvPr>
          <p:cNvSpPr/>
          <p:nvPr/>
        </p:nvSpPr>
        <p:spPr>
          <a:xfrm>
            <a:off x="1637581" y="4575785"/>
            <a:ext cx="195747" cy="19574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grpSp>
        <p:nvGrpSpPr>
          <p:cNvPr id="14" name="Group 13">
            <a:extLst>
              <a:ext uri="{FF2B5EF4-FFF2-40B4-BE49-F238E27FC236}">
                <a16:creationId xmlns:a16="http://schemas.microsoft.com/office/drawing/2014/main" id="{297BD473-57AA-4399-AE08-D74D3DF062FB}"/>
              </a:ext>
            </a:extLst>
          </p:cNvPr>
          <p:cNvGrpSpPr/>
          <p:nvPr/>
        </p:nvGrpSpPr>
        <p:grpSpPr>
          <a:xfrm>
            <a:off x="4017866" y="2571821"/>
            <a:ext cx="1865798" cy="2134108"/>
            <a:chOff x="6358110" y="2203521"/>
            <a:chExt cx="1865798" cy="2134108"/>
          </a:xfrm>
        </p:grpSpPr>
        <p:cxnSp>
          <p:nvCxnSpPr>
            <p:cNvPr id="16" name="Straight Arrow Connector 15">
              <a:extLst>
                <a:ext uri="{FF2B5EF4-FFF2-40B4-BE49-F238E27FC236}">
                  <a16:creationId xmlns:a16="http://schemas.microsoft.com/office/drawing/2014/main" id="{FEEC4853-18A2-4AE5-95B1-1B67CA4E8BD8}"/>
                </a:ext>
              </a:extLst>
            </p:cNvPr>
            <p:cNvCxnSpPr>
              <a:cxnSpLocks/>
            </p:cNvCxnSpPr>
            <p:nvPr/>
          </p:nvCxnSpPr>
          <p:spPr>
            <a:xfrm flipV="1">
              <a:off x="6363320" y="2203521"/>
              <a:ext cx="24867" cy="21341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1553BB3-CE38-4902-ADD3-C883611C52D4}"/>
                </a:ext>
              </a:extLst>
            </p:cNvPr>
            <p:cNvSpPr/>
            <p:nvPr/>
          </p:nvSpPr>
          <p:spPr>
            <a:xfrm>
              <a:off x="6358110" y="2831513"/>
              <a:ext cx="1865798"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R</a:t>
              </a:r>
              <a:r>
                <a:rPr lang="en-AU" sz="3200" b="1" baseline="-25000" dirty="0">
                  <a:ln w="0"/>
                  <a:solidFill>
                    <a:schemeClr val="accent1"/>
                  </a:solidFill>
                  <a:effectLst>
                    <a:outerShdw blurRad="38100" dist="25400" dir="5400000" algn="ctr" rotWithShape="0">
                      <a:srgbClr val="6E747A">
                        <a:alpha val="43000"/>
                      </a:srgbClr>
                    </a:outerShdw>
                  </a:effectLst>
                </a:rPr>
                <a:t>V</a:t>
              </a:r>
              <a:r>
                <a:rPr lang="en-AU" sz="3200" b="1" dirty="0">
                  <a:ln w="0"/>
                  <a:solidFill>
                    <a:schemeClr val="accent1"/>
                  </a:solidFill>
                  <a:effectLst>
                    <a:outerShdw blurRad="38100" dist="25400" dir="5400000" algn="ctr" rotWithShape="0">
                      <a:srgbClr val="6E747A">
                        <a:alpha val="43000"/>
                      </a:srgbClr>
                    </a:outerShdw>
                  </a:effectLst>
                </a:rPr>
                <a:t> = 19</a:t>
              </a:r>
            </a:p>
          </p:txBody>
        </p:sp>
      </p:grpSp>
      <p:grpSp>
        <p:nvGrpSpPr>
          <p:cNvPr id="20" name="Group 19">
            <a:extLst>
              <a:ext uri="{FF2B5EF4-FFF2-40B4-BE49-F238E27FC236}">
                <a16:creationId xmlns:a16="http://schemas.microsoft.com/office/drawing/2014/main" id="{7378F6A8-590B-446C-AE51-F11B4A4C3DBC}"/>
              </a:ext>
            </a:extLst>
          </p:cNvPr>
          <p:cNvGrpSpPr/>
          <p:nvPr/>
        </p:nvGrpSpPr>
        <p:grpSpPr>
          <a:xfrm>
            <a:off x="1779670" y="4633550"/>
            <a:ext cx="2243406" cy="914400"/>
            <a:chOff x="4119914" y="4265250"/>
            <a:chExt cx="2243406" cy="914400"/>
          </a:xfrm>
        </p:grpSpPr>
        <p:cxnSp>
          <p:nvCxnSpPr>
            <p:cNvPr id="17" name="Straight Arrow Connector 16">
              <a:extLst>
                <a:ext uri="{FF2B5EF4-FFF2-40B4-BE49-F238E27FC236}">
                  <a16:creationId xmlns:a16="http://schemas.microsoft.com/office/drawing/2014/main" id="{7FAA613A-10D4-48DC-9091-192192638308}"/>
                </a:ext>
              </a:extLst>
            </p:cNvPr>
            <p:cNvCxnSpPr>
              <a:cxnSpLocks/>
            </p:cNvCxnSpPr>
            <p:nvPr/>
          </p:nvCxnSpPr>
          <p:spPr>
            <a:xfrm>
              <a:off x="4119914" y="4337629"/>
              <a:ext cx="2243406"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08305DC-B06D-48C3-A093-13CAB9658DBF}"/>
                </a:ext>
              </a:extLst>
            </p:cNvPr>
            <p:cNvSpPr/>
            <p:nvPr/>
          </p:nvSpPr>
          <p:spPr>
            <a:xfrm>
              <a:off x="4315661" y="4265250"/>
              <a:ext cx="1494899"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R</a:t>
              </a:r>
              <a:r>
                <a:rPr lang="en-AU" sz="3200" b="1" baseline="-25000" dirty="0">
                  <a:ln w="0"/>
                  <a:solidFill>
                    <a:schemeClr val="accent1"/>
                  </a:solidFill>
                  <a:effectLst>
                    <a:outerShdw blurRad="38100" dist="25400" dir="5400000" algn="ctr" rotWithShape="0">
                      <a:srgbClr val="6E747A">
                        <a:alpha val="43000"/>
                      </a:srgbClr>
                    </a:outerShdw>
                  </a:effectLst>
                </a:rPr>
                <a:t>H </a:t>
              </a:r>
              <a:r>
                <a:rPr lang="en-AU" sz="3200" b="1" dirty="0">
                  <a:ln w="0"/>
                  <a:solidFill>
                    <a:schemeClr val="accent1"/>
                  </a:solidFill>
                  <a:effectLst>
                    <a:outerShdw blurRad="38100" dist="25400" dir="5400000" algn="ctr" rotWithShape="0">
                      <a:srgbClr val="6E747A">
                        <a:alpha val="43000"/>
                      </a:srgbClr>
                    </a:outerShdw>
                  </a:effectLst>
                </a:rPr>
                <a:t>= 14</a:t>
              </a:r>
            </a:p>
          </p:txBody>
        </p:sp>
      </p:grpSp>
      <p:cxnSp>
        <p:nvCxnSpPr>
          <p:cNvPr id="21" name="Straight Arrow Connector 20">
            <a:extLst>
              <a:ext uri="{FF2B5EF4-FFF2-40B4-BE49-F238E27FC236}">
                <a16:creationId xmlns:a16="http://schemas.microsoft.com/office/drawing/2014/main" id="{6949C64C-A43D-4B93-94C8-739FA65C9EAF}"/>
              </a:ext>
            </a:extLst>
          </p:cNvPr>
          <p:cNvCxnSpPr>
            <a:cxnSpLocks/>
          </p:cNvCxnSpPr>
          <p:nvPr/>
        </p:nvCxnSpPr>
        <p:spPr>
          <a:xfrm flipV="1">
            <a:off x="1731694" y="2514584"/>
            <a:ext cx="2291382" cy="2175944"/>
          </a:xfrm>
          <a:prstGeom prst="straightConnector1">
            <a:avLst/>
          </a:prstGeom>
          <a:ln w="57150">
            <a:solidFill>
              <a:srgbClr val="692B7D"/>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ADAE1F86-62AF-4D58-B975-3BB82839F08C}"/>
              </a:ext>
            </a:extLst>
          </p:cNvPr>
          <p:cNvSpPr/>
          <p:nvPr/>
        </p:nvSpPr>
        <p:spPr>
          <a:xfrm>
            <a:off x="-77217" y="2722901"/>
            <a:ext cx="415197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rgbClr val="692B7D"/>
                </a:solidFill>
                <a:effectLst>
                  <a:outerShdw blurRad="38100" dist="25400" dir="5400000" algn="ctr" rotWithShape="0">
                    <a:srgbClr val="6E747A">
                      <a:alpha val="43000"/>
                    </a:srgbClr>
                  </a:outerShdw>
                </a:effectLst>
              </a:rPr>
              <a:t>R</a:t>
            </a:r>
          </a:p>
        </p:txBody>
      </p:sp>
      <p:sp>
        <p:nvSpPr>
          <p:cNvPr id="3" name="Text Placeholder 2">
            <a:extLst>
              <a:ext uri="{FF2B5EF4-FFF2-40B4-BE49-F238E27FC236}">
                <a16:creationId xmlns:a16="http://schemas.microsoft.com/office/drawing/2014/main" id="{C97FDB68-3734-4100-B745-3A70D62E7BB6}"/>
              </a:ext>
            </a:extLst>
          </p:cNvPr>
          <p:cNvSpPr>
            <a:spLocks noGrp="1"/>
          </p:cNvSpPr>
          <p:nvPr>
            <p:ph type="body" sz="quarter" idx="15"/>
          </p:nvPr>
        </p:nvSpPr>
        <p:spPr>
          <a:xfrm>
            <a:off x="397668" y="991704"/>
            <a:ext cx="11540332" cy="1971676"/>
          </a:xfrm>
        </p:spPr>
        <p:txBody>
          <a:bodyPr/>
          <a:lstStyle/>
          <a:p>
            <a:pPr marL="457200" indent="-457200">
              <a:buFont typeface="Arial" panose="020B0604020202020204" pitchFamily="34" charset="0"/>
              <a:buChar char="•"/>
            </a:pPr>
            <a:r>
              <a:rPr lang="en-AU" b="0" dirty="0"/>
              <a:t>Use Pythagoras’ Theorem to find the magnitude</a:t>
            </a:r>
          </a:p>
          <a:p>
            <a:pPr marL="457200" indent="-457200">
              <a:buFont typeface="Arial" panose="020B0604020202020204" pitchFamily="34" charset="0"/>
              <a:buChar char="•"/>
            </a:pPr>
            <a:r>
              <a:rPr lang="en-AU" b="0" dirty="0"/>
              <a:t>Use trigonometry to find the direction</a:t>
            </a:r>
          </a:p>
        </p:txBody>
      </p:sp>
      <p:sp>
        <p:nvSpPr>
          <p:cNvPr id="5" name="Rectangle 4">
            <a:extLst>
              <a:ext uri="{FF2B5EF4-FFF2-40B4-BE49-F238E27FC236}">
                <a16:creationId xmlns:a16="http://schemas.microsoft.com/office/drawing/2014/main" id="{4BF4EFDE-8E2E-4D6D-8BF3-F9A65BD4DAA7}"/>
              </a:ext>
            </a:extLst>
          </p:cNvPr>
          <p:cNvSpPr/>
          <p:nvPr/>
        </p:nvSpPr>
        <p:spPr>
          <a:xfrm>
            <a:off x="3626603" y="4318290"/>
            <a:ext cx="391263" cy="372238"/>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3" name="Straight Arrow Connector 22">
            <a:extLst>
              <a:ext uri="{FF2B5EF4-FFF2-40B4-BE49-F238E27FC236}">
                <a16:creationId xmlns:a16="http://schemas.microsoft.com/office/drawing/2014/main" id="{63A58CDA-8050-4BC4-AF2C-456E52183CDB}"/>
              </a:ext>
            </a:extLst>
          </p:cNvPr>
          <p:cNvCxnSpPr/>
          <p:nvPr/>
        </p:nvCxnSpPr>
        <p:spPr>
          <a:xfrm>
            <a:off x="1831962" y="2963380"/>
            <a:ext cx="324160" cy="0"/>
          </a:xfrm>
          <a:prstGeom prst="straightConnector1">
            <a:avLst/>
          </a:prstGeom>
          <a:ln w="28575">
            <a:solidFill>
              <a:srgbClr val="692B7D"/>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3A80D31-D826-4257-89CC-8B6A0DE81479}"/>
              </a:ext>
            </a:extLst>
          </p:cNvPr>
          <p:cNvCxnSpPr/>
          <p:nvPr/>
        </p:nvCxnSpPr>
        <p:spPr>
          <a:xfrm>
            <a:off x="4265937" y="3429000"/>
            <a:ext cx="324160" cy="0"/>
          </a:xfrm>
          <a:prstGeom prst="straightConnector1">
            <a:avLst/>
          </a:prstGeom>
          <a:ln w="28575">
            <a:solidFill>
              <a:srgbClr val="2E546D"/>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41FE9CC-60E2-4C03-B899-CC7E86DEA7DA}"/>
              </a:ext>
            </a:extLst>
          </p:cNvPr>
          <p:cNvCxnSpPr/>
          <p:nvPr/>
        </p:nvCxnSpPr>
        <p:spPr>
          <a:xfrm>
            <a:off x="2037409" y="4900065"/>
            <a:ext cx="324160" cy="0"/>
          </a:xfrm>
          <a:prstGeom prst="straightConnector1">
            <a:avLst/>
          </a:prstGeom>
          <a:ln w="28575">
            <a:solidFill>
              <a:srgbClr val="2E546D"/>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4978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Resultant from two components</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26" name="Picture 6">
            <a:extLst>
              <a:ext uri="{FF2B5EF4-FFF2-40B4-BE49-F238E27FC236}">
                <a16:creationId xmlns:a16="http://schemas.microsoft.com/office/drawing/2014/main" id="{C1DCEFEB-3ECA-4C80-A55C-FE015E8120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343"/>
          <a:stretch/>
        </p:blipFill>
        <p:spPr bwMode="auto">
          <a:xfrm>
            <a:off x="111088" y="1006695"/>
            <a:ext cx="12150304" cy="1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602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Resultant from two components</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26" name="Picture 6">
            <a:extLst>
              <a:ext uri="{FF2B5EF4-FFF2-40B4-BE49-F238E27FC236}">
                <a16:creationId xmlns:a16="http://schemas.microsoft.com/office/drawing/2014/main" id="{C1DCEFEB-3ECA-4C80-A55C-FE015E8120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343"/>
          <a:stretch/>
        </p:blipFill>
        <p:spPr bwMode="auto">
          <a:xfrm>
            <a:off x="111088" y="1006695"/>
            <a:ext cx="12150304" cy="1080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1B5F88F-9B60-490C-9C05-FFA43F61C5E9}"/>
              </a:ext>
            </a:extLst>
          </p:cNvPr>
          <p:cNvPicPr>
            <a:picLocks noChangeAspect="1"/>
          </p:cNvPicPr>
          <p:nvPr/>
        </p:nvPicPr>
        <p:blipFill>
          <a:blip r:embed="rId4"/>
          <a:stretch>
            <a:fillRect/>
          </a:stretch>
        </p:blipFill>
        <p:spPr>
          <a:xfrm>
            <a:off x="1427162" y="2496270"/>
            <a:ext cx="9516260" cy="2123356"/>
          </a:xfrm>
          <a:prstGeom prst="rect">
            <a:avLst/>
          </a:prstGeom>
        </p:spPr>
      </p:pic>
    </p:spTree>
    <p:extLst>
      <p:ext uri="{BB962C8B-B14F-4D97-AF65-F5344CB8AC3E}">
        <p14:creationId xmlns:p14="http://schemas.microsoft.com/office/powerpoint/2010/main" val="1774336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Resolving complex resultants</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15" name="Oval 14">
            <a:extLst>
              <a:ext uri="{FF2B5EF4-FFF2-40B4-BE49-F238E27FC236}">
                <a16:creationId xmlns:a16="http://schemas.microsoft.com/office/drawing/2014/main" id="{3FC6DF43-06AA-42F2-9F43-CA3B0A9C2EE6}"/>
              </a:ext>
            </a:extLst>
          </p:cNvPr>
          <p:cNvSpPr/>
          <p:nvPr/>
        </p:nvSpPr>
        <p:spPr>
          <a:xfrm>
            <a:off x="1637581" y="4575785"/>
            <a:ext cx="195747" cy="19574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grpSp>
        <p:nvGrpSpPr>
          <p:cNvPr id="14" name="Group 13">
            <a:extLst>
              <a:ext uri="{FF2B5EF4-FFF2-40B4-BE49-F238E27FC236}">
                <a16:creationId xmlns:a16="http://schemas.microsoft.com/office/drawing/2014/main" id="{297BD473-57AA-4399-AE08-D74D3DF062FB}"/>
              </a:ext>
            </a:extLst>
          </p:cNvPr>
          <p:cNvGrpSpPr/>
          <p:nvPr/>
        </p:nvGrpSpPr>
        <p:grpSpPr>
          <a:xfrm>
            <a:off x="4017866" y="2571821"/>
            <a:ext cx="1865798" cy="2134108"/>
            <a:chOff x="6358110" y="2203521"/>
            <a:chExt cx="1865798" cy="2134108"/>
          </a:xfrm>
        </p:grpSpPr>
        <p:cxnSp>
          <p:nvCxnSpPr>
            <p:cNvPr id="16" name="Straight Arrow Connector 15">
              <a:extLst>
                <a:ext uri="{FF2B5EF4-FFF2-40B4-BE49-F238E27FC236}">
                  <a16:creationId xmlns:a16="http://schemas.microsoft.com/office/drawing/2014/main" id="{FEEC4853-18A2-4AE5-95B1-1B67CA4E8BD8}"/>
                </a:ext>
              </a:extLst>
            </p:cNvPr>
            <p:cNvCxnSpPr>
              <a:cxnSpLocks/>
            </p:cNvCxnSpPr>
            <p:nvPr/>
          </p:nvCxnSpPr>
          <p:spPr>
            <a:xfrm flipV="1">
              <a:off x="6363320" y="2203521"/>
              <a:ext cx="24867" cy="21341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1553BB3-CE38-4902-ADD3-C883611C52D4}"/>
                </a:ext>
              </a:extLst>
            </p:cNvPr>
            <p:cNvSpPr/>
            <p:nvPr/>
          </p:nvSpPr>
          <p:spPr>
            <a:xfrm>
              <a:off x="6358110" y="2831513"/>
              <a:ext cx="1865798"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R</a:t>
              </a:r>
              <a:r>
                <a:rPr lang="en-AU" sz="3200" b="1" baseline="-25000" dirty="0">
                  <a:ln w="0"/>
                  <a:solidFill>
                    <a:schemeClr val="accent1"/>
                  </a:solidFill>
                  <a:effectLst>
                    <a:outerShdw blurRad="38100" dist="25400" dir="5400000" algn="ctr" rotWithShape="0">
                      <a:srgbClr val="6E747A">
                        <a:alpha val="43000"/>
                      </a:srgbClr>
                    </a:outerShdw>
                  </a:effectLst>
                </a:rPr>
                <a:t>V</a:t>
              </a:r>
              <a:r>
                <a:rPr lang="en-AU" sz="3200" b="1" dirty="0">
                  <a:ln w="0"/>
                  <a:solidFill>
                    <a:schemeClr val="accent1"/>
                  </a:solidFill>
                  <a:effectLst>
                    <a:outerShdw blurRad="38100" dist="25400" dir="5400000" algn="ctr" rotWithShape="0">
                      <a:srgbClr val="6E747A">
                        <a:alpha val="43000"/>
                      </a:srgbClr>
                    </a:outerShdw>
                  </a:effectLst>
                </a:rPr>
                <a:t> = 19</a:t>
              </a:r>
            </a:p>
          </p:txBody>
        </p:sp>
      </p:grpSp>
      <p:grpSp>
        <p:nvGrpSpPr>
          <p:cNvPr id="20" name="Group 19">
            <a:extLst>
              <a:ext uri="{FF2B5EF4-FFF2-40B4-BE49-F238E27FC236}">
                <a16:creationId xmlns:a16="http://schemas.microsoft.com/office/drawing/2014/main" id="{7378F6A8-590B-446C-AE51-F11B4A4C3DBC}"/>
              </a:ext>
            </a:extLst>
          </p:cNvPr>
          <p:cNvGrpSpPr/>
          <p:nvPr/>
        </p:nvGrpSpPr>
        <p:grpSpPr>
          <a:xfrm>
            <a:off x="1779670" y="4633550"/>
            <a:ext cx="2243406" cy="914400"/>
            <a:chOff x="4119914" y="4265250"/>
            <a:chExt cx="2243406" cy="914400"/>
          </a:xfrm>
        </p:grpSpPr>
        <p:cxnSp>
          <p:nvCxnSpPr>
            <p:cNvPr id="17" name="Straight Arrow Connector 16">
              <a:extLst>
                <a:ext uri="{FF2B5EF4-FFF2-40B4-BE49-F238E27FC236}">
                  <a16:creationId xmlns:a16="http://schemas.microsoft.com/office/drawing/2014/main" id="{7FAA613A-10D4-48DC-9091-192192638308}"/>
                </a:ext>
              </a:extLst>
            </p:cNvPr>
            <p:cNvCxnSpPr>
              <a:cxnSpLocks/>
            </p:cNvCxnSpPr>
            <p:nvPr/>
          </p:nvCxnSpPr>
          <p:spPr>
            <a:xfrm>
              <a:off x="4119914" y="4337629"/>
              <a:ext cx="2243406"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08305DC-B06D-48C3-A093-13CAB9658DBF}"/>
                </a:ext>
              </a:extLst>
            </p:cNvPr>
            <p:cNvSpPr/>
            <p:nvPr/>
          </p:nvSpPr>
          <p:spPr>
            <a:xfrm>
              <a:off x="4315661" y="4265250"/>
              <a:ext cx="1494899"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R</a:t>
              </a:r>
              <a:r>
                <a:rPr lang="en-AU" sz="3200" b="1" baseline="-25000" dirty="0">
                  <a:ln w="0"/>
                  <a:solidFill>
                    <a:schemeClr val="accent1"/>
                  </a:solidFill>
                  <a:effectLst>
                    <a:outerShdw blurRad="38100" dist="25400" dir="5400000" algn="ctr" rotWithShape="0">
                      <a:srgbClr val="6E747A">
                        <a:alpha val="43000"/>
                      </a:srgbClr>
                    </a:outerShdw>
                  </a:effectLst>
                </a:rPr>
                <a:t>H </a:t>
              </a:r>
              <a:r>
                <a:rPr lang="en-AU" sz="3200" b="1" dirty="0">
                  <a:ln w="0"/>
                  <a:solidFill>
                    <a:schemeClr val="accent1"/>
                  </a:solidFill>
                  <a:effectLst>
                    <a:outerShdw blurRad="38100" dist="25400" dir="5400000" algn="ctr" rotWithShape="0">
                      <a:srgbClr val="6E747A">
                        <a:alpha val="43000"/>
                      </a:srgbClr>
                    </a:outerShdw>
                  </a:effectLst>
                </a:rPr>
                <a:t>= 14</a:t>
              </a:r>
            </a:p>
          </p:txBody>
        </p:sp>
      </p:grpSp>
      <p:cxnSp>
        <p:nvCxnSpPr>
          <p:cNvPr id="21" name="Straight Arrow Connector 20">
            <a:extLst>
              <a:ext uri="{FF2B5EF4-FFF2-40B4-BE49-F238E27FC236}">
                <a16:creationId xmlns:a16="http://schemas.microsoft.com/office/drawing/2014/main" id="{6949C64C-A43D-4B93-94C8-739FA65C9EAF}"/>
              </a:ext>
            </a:extLst>
          </p:cNvPr>
          <p:cNvCxnSpPr>
            <a:cxnSpLocks/>
          </p:cNvCxnSpPr>
          <p:nvPr/>
        </p:nvCxnSpPr>
        <p:spPr>
          <a:xfrm flipV="1">
            <a:off x="1731694" y="2514584"/>
            <a:ext cx="2291382" cy="2175944"/>
          </a:xfrm>
          <a:prstGeom prst="straightConnector1">
            <a:avLst/>
          </a:prstGeom>
          <a:ln w="57150">
            <a:solidFill>
              <a:srgbClr val="692B7D"/>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ADAE1F86-62AF-4D58-B975-3BB82839F08C}"/>
              </a:ext>
            </a:extLst>
          </p:cNvPr>
          <p:cNvSpPr/>
          <p:nvPr/>
        </p:nvSpPr>
        <p:spPr>
          <a:xfrm>
            <a:off x="-77217" y="2722901"/>
            <a:ext cx="4151970"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rgbClr val="692B7D"/>
                </a:solidFill>
                <a:effectLst>
                  <a:outerShdw blurRad="38100" dist="25400" dir="5400000" algn="ctr" rotWithShape="0">
                    <a:srgbClr val="6E747A">
                      <a:alpha val="43000"/>
                    </a:srgbClr>
                  </a:outerShdw>
                </a:effectLst>
              </a:rPr>
              <a:t>R</a:t>
            </a:r>
          </a:p>
        </p:txBody>
      </p:sp>
      <p:sp>
        <p:nvSpPr>
          <p:cNvPr id="5" name="Rectangle 4">
            <a:extLst>
              <a:ext uri="{FF2B5EF4-FFF2-40B4-BE49-F238E27FC236}">
                <a16:creationId xmlns:a16="http://schemas.microsoft.com/office/drawing/2014/main" id="{4BF4EFDE-8E2E-4D6D-8BF3-F9A65BD4DAA7}"/>
              </a:ext>
            </a:extLst>
          </p:cNvPr>
          <p:cNvSpPr/>
          <p:nvPr/>
        </p:nvSpPr>
        <p:spPr>
          <a:xfrm>
            <a:off x="3626603" y="4318290"/>
            <a:ext cx="391263" cy="372238"/>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4" name="Picture 23">
            <a:extLst>
              <a:ext uri="{FF2B5EF4-FFF2-40B4-BE49-F238E27FC236}">
                <a16:creationId xmlns:a16="http://schemas.microsoft.com/office/drawing/2014/main" id="{3680C8E8-CBD8-4672-AC11-6FC3107D6A06}"/>
              </a:ext>
            </a:extLst>
          </p:cNvPr>
          <p:cNvPicPr>
            <a:picLocks noChangeAspect="1"/>
          </p:cNvPicPr>
          <p:nvPr/>
        </p:nvPicPr>
        <p:blipFill>
          <a:blip r:embed="rId3"/>
          <a:stretch>
            <a:fillRect/>
          </a:stretch>
        </p:blipFill>
        <p:spPr>
          <a:xfrm>
            <a:off x="1439780" y="1176023"/>
            <a:ext cx="8972550" cy="5019675"/>
          </a:xfrm>
          <a:prstGeom prst="rect">
            <a:avLst/>
          </a:prstGeom>
          <a:ln>
            <a:solidFill>
              <a:schemeClr val="tx1"/>
            </a:solidFill>
          </a:ln>
        </p:spPr>
      </p:pic>
    </p:spTree>
    <p:extLst>
      <p:ext uri="{BB962C8B-B14F-4D97-AF65-F5344CB8AC3E}">
        <p14:creationId xmlns:p14="http://schemas.microsoft.com/office/powerpoint/2010/main" val="3348501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AA353F2-0E7F-468C-8945-2BAFA1ACB21E}"/>
              </a:ext>
            </a:extLst>
          </p:cNvPr>
          <p:cNvSpPr>
            <a:spLocks noGrp="1"/>
          </p:cNvSpPr>
          <p:nvPr>
            <p:ph type="body" sz="quarter" idx="14"/>
          </p:nvPr>
        </p:nvSpPr>
        <p:spPr/>
        <p:txBody>
          <a:bodyPr/>
          <a:lstStyle/>
          <a:p>
            <a:r>
              <a:rPr lang="en-AU" dirty="0"/>
              <a:t>To use and manipulate vectors to represent forces</a:t>
            </a:r>
          </a:p>
        </p:txBody>
      </p:sp>
      <p:sp>
        <p:nvSpPr>
          <p:cNvPr id="4" name="Text Placeholder 3">
            <a:extLst>
              <a:ext uri="{FF2B5EF4-FFF2-40B4-BE49-F238E27FC236}">
                <a16:creationId xmlns:a16="http://schemas.microsoft.com/office/drawing/2014/main" id="{56E092CB-179E-4573-A1C8-5471C075EAF8}"/>
              </a:ext>
            </a:extLst>
          </p:cNvPr>
          <p:cNvSpPr>
            <a:spLocks noGrp="1"/>
          </p:cNvSpPr>
          <p:nvPr>
            <p:ph type="body" sz="quarter" idx="17"/>
          </p:nvPr>
        </p:nvSpPr>
        <p:spPr>
          <a:xfrm>
            <a:off x="295275" y="598030"/>
            <a:ext cx="3779478" cy="319722"/>
          </a:xfrm>
        </p:spPr>
        <p:txBody>
          <a:bodyPr/>
          <a:lstStyle/>
          <a:p>
            <a:r>
              <a:rPr lang="en-AU" dirty="0"/>
              <a:t>Resolving complex resultants</a:t>
            </a:r>
          </a:p>
        </p:txBody>
      </p:sp>
      <p:pic>
        <p:nvPicPr>
          <p:cNvPr id="2052" name="Picture 4">
            <a:extLst>
              <a:ext uri="{FF2B5EF4-FFF2-40B4-BE49-F238E27FC236}">
                <a16:creationId xmlns:a16="http://schemas.microsoft.com/office/drawing/2014/main" id="{167751BF-A5DA-41DC-8263-1B7E0397BA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35"/>
          <a:stretch/>
        </p:blipFill>
        <p:spPr bwMode="auto">
          <a:xfrm>
            <a:off x="295275" y="970937"/>
            <a:ext cx="11724453" cy="717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17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AA353F2-0E7F-468C-8945-2BAFA1ACB21E}"/>
              </a:ext>
            </a:extLst>
          </p:cNvPr>
          <p:cNvSpPr>
            <a:spLocks noGrp="1"/>
          </p:cNvSpPr>
          <p:nvPr>
            <p:ph type="body" sz="quarter" idx="14"/>
          </p:nvPr>
        </p:nvSpPr>
        <p:spPr/>
        <p:txBody>
          <a:bodyPr/>
          <a:lstStyle/>
          <a:p>
            <a:r>
              <a:rPr lang="en-AU" dirty="0"/>
              <a:t>To use and manipulate vectors to represent forces</a:t>
            </a:r>
          </a:p>
        </p:txBody>
      </p:sp>
      <p:sp>
        <p:nvSpPr>
          <p:cNvPr id="4" name="Text Placeholder 3">
            <a:extLst>
              <a:ext uri="{FF2B5EF4-FFF2-40B4-BE49-F238E27FC236}">
                <a16:creationId xmlns:a16="http://schemas.microsoft.com/office/drawing/2014/main" id="{56E092CB-179E-4573-A1C8-5471C075EAF8}"/>
              </a:ext>
            </a:extLst>
          </p:cNvPr>
          <p:cNvSpPr>
            <a:spLocks noGrp="1"/>
          </p:cNvSpPr>
          <p:nvPr>
            <p:ph type="body" sz="quarter" idx="17"/>
          </p:nvPr>
        </p:nvSpPr>
        <p:spPr/>
        <p:txBody>
          <a:bodyPr/>
          <a:lstStyle/>
          <a:p>
            <a:r>
              <a:rPr lang="en-AU" dirty="0"/>
              <a:t>Resolving complex resultants</a:t>
            </a:r>
          </a:p>
        </p:txBody>
      </p:sp>
      <p:pic>
        <p:nvPicPr>
          <p:cNvPr id="2052" name="Picture 4">
            <a:extLst>
              <a:ext uri="{FF2B5EF4-FFF2-40B4-BE49-F238E27FC236}">
                <a16:creationId xmlns:a16="http://schemas.microsoft.com/office/drawing/2014/main" id="{167751BF-A5DA-41DC-8263-1B7E0397BA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35"/>
          <a:stretch/>
        </p:blipFill>
        <p:spPr bwMode="auto">
          <a:xfrm>
            <a:off x="233773" y="970937"/>
            <a:ext cx="11724453" cy="7175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EB042D8-22E2-431F-A724-2E89ADA00C69}"/>
              </a:ext>
            </a:extLst>
          </p:cNvPr>
          <p:cNvPicPr>
            <a:picLocks noChangeAspect="1"/>
          </p:cNvPicPr>
          <p:nvPr/>
        </p:nvPicPr>
        <p:blipFill>
          <a:blip r:embed="rId3"/>
          <a:stretch>
            <a:fillRect/>
          </a:stretch>
        </p:blipFill>
        <p:spPr>
          <a:xfrm>
            <a:off x="2700337" y="2143125"/>
            <a:ext cx="6791325" cy="2571750"/>
          </a:xfrm>
          <a:prstGeom prst="rect">
            <a:avLst/>
          </a:prstGeom>
        </p:spPr>
      </p:pic>
    </p:spTree>
    <p:extLst>
      <p:ext uri="{BB962C8B-B14F-4D97-AF65-F5344CB8AC3E}">
        <p14:creationId xmlns:p14="http://schemas.microsoft.com/office/powerpoint/2010/main" val="1513467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use and manipulate vectors to represent forces</a:t>
            </a:r>
          </a:p>
        </p:txBody>
      </p:sp>
      <p:sp>
        <p:nvSpPr>
          <p:cNvPr id="3" name="Text Placeholder 2">
            <a:extLst>
              <a:ext uri="{FF2B5EF4-FFF2-40B4-BE49-F238E27FC236}">
                <a16:creationId xmlns:a16="http://schemas.microsoft.com/office/drawing/2014/main" id="{C97FDB68-3734-4100-B745-3A70D62E7BB6}"/>
              </a:ext>
            </a:extLst>
          </p:cNvPr>
          <p:cNvSpPr>
            <a:spLocks noGrp="1"/>
          </p:cNvSpPr>
          <p:nvPr>
            <p:ph type="body" sz="quarter" idx="15"/>
          </p:nvPr>
        </p:nvSpPr>
        <p:spPr>
          <a:xfrm>
            <a:off x="397668" y="991704"/>
            <a:ext cx="11540332" cy="1971676"/>
          </a:xfrm>
        </p:spPr>
        <p:txBody>
          <a:bodyPr/>
          <a:lstStyle/>
          <a:p>
            <a:r>
              <a:rPr lang="en-AU" b="0" dirty="0"/>
              <a:t>Back to the cannon: the cannonball is travelling at a velocity of 200 m/s at an angle of 30</a:t>
            </a:r>
            <a:r>
              <a:rPr lang="en-AU" b="0" baseline="30000" dirty="0"/>
              <a:t>o</a:t>
            </a:r>
            <a:r>
              <a:rPr lang="en-AU" b="0" dirty="0"/>
              <a:t> from the horizontal. </a:t>
            </a:r>
          </a:p>
          <a:p>
            <a:r>
              <a:rPr lang="en-AU" b="0" dirty="0"/>
              <a:t>What are the cannonball’s velocities in the horizontal and vertical direction?</a:t>
            </a:r>
          </a:p>
          <a:p>
            <a:endParaRPr lang="en-AU" b="0" dirty="0"/>
          </a:p>
          <a:p>
            <a:endParaRPr lang="en-AU" dirty="0"/>
          </a:p>
          <a:p>
            <a:endParaRPr lang="en-AU" dirty="0"/>
          </a:p>
          <a:p>
            <a:endParaRPr lang="en-AU" dirty="0"/>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Resolving vectors</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3820559"/>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7" name="Picture 4" descr="Golden cartoon cannon Royalty Free Vector Image">
            <a:extLst>
              <a:ext uri="{FF2B5EF4-FFF2-40B4-BE49-F238E27FC236}">
                <a16:creationId xmlns:a16="http://schemas.microsoft.com/office/drawing/2014/main" id="{FF188ED8-4834-41AE-924B-4A2F98DE2C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7362"/>
          <a:stretch/>
        </p:blipFill>
        <p:spPr bwMode="auto">
          <a:xfrm>
            <a:off x="295275" y="4058617"/>
            <a:ext cx="3604523" cy="2342929"/>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DF2F9F51-D7CB-4723-8C3F-F795F2FC02E1}"/>
              </a:ext>
            </a:extLst>
          </p:cNvPr>
          <p:cNvCxnSpPr>
            <a:cxnSpLocks/>
          </p:cNvCxnSpPr>
          <p:nvPr/>
        </p:nvCxnSpPr>
        <p:spPr>
          <a:xfrm flipV="1">
            <a:off x="2628900" y="3296951"/>
            <a:ext cx="2542222" cy="136684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A9D5324-1E93-4CA6-9F65-CC5CD29D94ED}"/>
              </a:ext>
            </a:extLst>
          </p:cNvPr>
          <p:cNvSpPr/>
          <p:nvPr/>
        </p:nvSpPr>
        <p:spPr>
          <a:xfrm>
            <a:off x="2311400" y="2992106"/>
            <a:ext cx="1920472" cy="914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3200" b="1" dirty="0">
                <a:ln w="0"/>
                <a:solidFill>
                  <a:schemeClr val="accent1"/>
                </a:solidFill>
                <a:effectLst>
                  <a:outerShdw blurRad="38100" dist="25400" dir="5400000" algn="ctr" rotWithShape="0">
                    <a:srgbClr val="6E747A">
                      <a:alpha val="43000"/>
                    </a:srgbClr>
                  </a:outerShdw>
                </a:effectLst>
              </a:rPr>
              <a:t>velocity</a:t>
            </a:r>
          </a:p>
        </p:txBody>
      </p:sp>
      <p:cxnSp>
        <p:nvCxnSpPr>
          <p:cNvPr id="18" name="Straight Arrow Connector 17">
            <a:extLst>
              <a:ext uri="{FF2B5EF4-FFF2-40B4-BE49-F238E27FC236}">
                <a16:creationId xmlns:a16="http://schemas.microsoft.com/office/drawing/2014/main" id="{DE84BAD2-8C01-4E97-A97B-078F35533D8D}"/>
              </a:ext>
            </a:extLst>
          </p:cNvPr>
          <p:cNvCxnSpPr>
            <a:cxnSpLocks/>
          </p:cNvCxnSpPr>
          <p:nvPr/>
        </p:nvCxnSpPr>
        <p:spPr>
          <a:xfrm flipV="1">
            <a:off x="5241288" y="3296951"/>
            <a:ext cx="0" cy="1363379"/>
          </a:xfrm>
          <a:prstGeom prst="straightConnector1">
            <a:avLst/>
          </a:prstGeom>
          <a:ln w="57150">
            <a:solidFill>
              <a:srgbClr val="692B7D"/>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8037752-7FBC-435D-9205-39EFBEAFF2DE}"/>
              </a:ext>
            </a:extLst>
          </p:cNvPr>
          <p:cNvCxnSpPr>
            <a:cxnSpLocks/>
          </p:cNvCxnSpPr>
          <p:nvPr/>
        </p:nvCxnSpPr>
        <p:spPr>
          <a:xfrm flipV="1">
            <a:off x="2705099" y="4663791"/>
            <a:ext cx="2482169" cy="15392"/>
          </a:xfrm>
          <a:prstGeom prst="straightConnector1">
            <a:avLst/>
          </a:prstGeom>
          <a:ln w="57150">
            <a:solidFill>
              <a:srgbClr val="692B7D"/>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8" descr="Bomb Cartoon">
            <a:extLst>
              <a:ext uri="{FF2B5EF4-FFF2-40B4-BE49-F238E27FC236}">
                <a16:creationId xmlns:a16="http://schemas.microsoft.com/office/drawing/2014/main" id="{E5B818B3-C8BC-4449-97F2-D03ADC088E18}"/>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34" b="93276" l="10000" r="90000">
                        <a14:foregroundMark x1="47778" y1="6379" x2="47778" y2="6379"/>
                        <a14:foregroundMark x1="47778" y1="93448" x2="47778" y2="93448"/>
                        <a14:foregroundMark x1="49778" y1="1034" x2="49778" y2="1034"/>
                      </a14:backgroundRemoval>
                    </a14:imgEffect>
                  </a14:imgLayer>
                </a14:imgProps>
              </a:ext>
              <a:ext uri="{28A0092B-C50C-407E-A947-70E740481C1C}">
                <a14:useLocalDpi xmlns:a14="http://schemas.microsoft.com/office/drawing/2010/main" val="0"/>
              </a:ext>
            </a:extLst>
          </a:blip>
          <a:srcRect/>
          <a:stretch>
            <a:fillRect/>
          </a:stretch>
        </p:blipFill>
        <p:spPr bwMode="auto">
          <a:xfrm>
            <a:off x="4961731" y="2941306"/>
            <a:ext cx="742424" cy="478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9780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use and manipulate vectors to represent forces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95274" y="4983670"/>
            <a:ext cx="9077325"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I can calculate a resultant vector.</a:t>
            </a:r>
          </a:p>
          <a:p>
            <a:r>
              <a:rPr lang="en-AU" b="0" dirty="0"/>
              <a:t>I can resolve a resultant vector into its components.</a:t>
            </a:r>
          </a:p>
        </p:txBody>
      </p:sp>
    </p:spTree>
    <p:extLst>
      <p:ext uri="{BB962C8B-B14F-4D97-AF65-F5344CB8AC3E}">
        <p14:creationId xmlns:p14="http://schemas.microsoft.com/office/powerpoint/2010/main" val="194532358"/>
      </p:ext>
    </p:extLst>
  </p:cSld>
  <p:clrMapOvr>
    <a:masterClrMapping/>
  </p:clrMapOvr>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7829F49-598A-4232-9B42-7BAE1B7FF540}"/>
</file>

<file path=customXml/itemProps3.xml><?xml version="1.0" encoding="utf-8"?>
<ds:datastoreItem xmlns:ds="http://schemas.openxmlformats.org/officeDocument/2006/customXml" ds:itemID="{77F09D33-A1B5-4438-8F96-65DD7176249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{33057687-8793-EB47-A5E0-08E93C53D0F2}tf10001071</Template>
  <TotalTime>4631</TotalTime>
  <Words>1343</Words>
  <Application>Microsoft Office PowerPoint</Application>
  <PresentationFormat>Widescreen</PresentationFormat>
  <Paragraphs>239</Paragraphs>
  <Slides>23</Slides>
  <Notes>19</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23</vt:i4>
      </vt:variant>
    </vt:vector>
  </HeadingPairs>
  <TitlesOfParts>
    <vt:vector size="31" baseType="lpstr">
      <vt:lpstr>Arial</vt:lpstr>
      <vt:lpstr>Calibri</vt:lpstr>
      <vt:lpstr>Century Gothic</vt:lpstr>
      <vt:lpstr>Futura Medium</vt:lpstr>
      <vt:lpstr>Source Sans Pro</vt:lpstr>
      <vt:lpstr>Times New Roman</vt:lpstr>
      <vt:lpstr>Daily Review</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386</cp:revision>
  <cp:lastPrinted>2018-05-27T06:54:10Z</cp:lastPrinted>
  <dcterms:created xsi:type="dcterms:W3CDTF">2018-03-29T05:56:09Z</dcterms:created>
  <dcterms:modified xsi:type="dcterms:W3CDTF">2023-01-01T07:07:03Z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