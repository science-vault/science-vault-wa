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5"/>
  </p:notesMasterIdLst>
  <p:sldIdLst>
    <p:sldId id="256" r:id="rId2"/>
    <p:sldId id="271" r:id="rId3"/>
    <p:sldId id="277" r:id="rId4"/>
    <p:sldId id="272" r:id="rId5"/>
    <p:sldId id="257" r:id="rId6"/>
    <p:sldId id="258" r:id="rId7"/>
    <p:sldId id="259" r:id="rId8"/>
    <p:sldId id="276" r:id="rId9"/>
    <p:sldId id="260" r:id="rId10"/>
    <p:sldId id="261" r:id="rId11"/>
    <p:sldId id="262" r:id="rId12"/>
    <p:sldId id="263" r:id="rId13"/>
    <p:sldId id="274" r:id="rId14"/>
    <p:sldId id="264" r:id="rId15"/>
    <p:sldId id="265" r:id="rId16"/>
    <p:sldId id="266" r:id="rId17"/>
    <p:sldId id="267" r:id="rId18"/>
    <p:sldId id="268" r:id="rId19"/>
    <p:sldId id="269" r:id="rId20"/>
    <p:sldId id="278" r:id="rId21"/>
    <p:sldId id="270" r:id="rId22"/>
    <p:sldId id="275" r:id="rId23"/>
    <p:sldId id="273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5205" autoAdjust="0"/>
  </p:normalViewPr>
  <p:slideViewPr>
    <p:cSldViewPr snapToGrid="0">
      <p:cViewPr varScale="1">
        <p:scale>
          <a:sx n="98" d="100"/>
          <a:sy n="98" d="100"/>
        </p:scale>
        <p:origin x="96" y="2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69A7CF-F9E6-42E7-B453-7AA4E67A1045}" type="datetimeFigureOut">
              <a:rPr lang="en-AU" smtClean="0"/>
              <a:t>11/09/2023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4B4B24-A6D4-4439-84B4-5F2C511B8C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748600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C</a:t>
            </a:r>
          </a:p>
          <a:p>
            <a:r>
              <a:rPr lang="en-AU" b="0" i="0" dirty="0">
                <a:solidFill>
                  <a:srgbClr val="202124"/>
                </a:solidFill>
                <a:effectLst/>
                <a:latin typeface="Google Sans"/>
              </a:rPr>
              <a:t>Capillary action occurs because water is sticky, thanks to the forces of cohesion (</a:t>
            </a:r>
            <a:r>
              <a:rPr lang="en-AU" b="0" i="0" dirty="0">
                <a:solidFill>
                  <a:srgbClr val="040C28"/>
                </a:solidFill>
                <a:effectLst/>
                <a:latin typeface="Google Sans"/>
              </a:rPr>
              <a:t>water molecules like to stay close together) and adhesion (water molecules are attracted and stick to other substances)</a:t>
            </a:r>
            <a:r>
              <a:rPr lang="en-AU" b="0" i="0" dirty="0">
                <a:solidFill>
                  <a:srgbClr val="202124"/>
                </a:solidFill>
                <a:effectLst/>
                <a:latin typeface="Google Sans"/>
              </a:rPr>
              <a:t>.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4B4B24-A6D4-4439-84B4-5F2C511B8C47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608912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50D4756-2030-49EB-A4F3-A10F3D9893E1}" type="slidenum">
              <a:rPr lang="en-US"/>
              <a:pPr/>
              <a:t>5</a:t>
            </a:fld>
            <a:endParaRPr lang="en-US"/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0915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37C813A-843D-416E-B023-3124997EF776}" type="slidenum">
              <a:rPr lang="en-US"/>
              <a:pPr/>
              <a:t>7</a:t>
            </a:fld>
            <a:endParaRPr lang="en-US"/>
          </a:p>
        </p:txBody>
      </p:sp>
      <p:sp>
        <p:nvSpPr>
          <p:cNvPr id="3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965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1F62B18-BB7A-4D87-84B7-F22DA32FA8A6}" type="slidenum">
              <a:rPr lang="en-US"/>
              <a:pPr/>
              <a:t>9</a:t>
            </a:fld>
            <a:endParaRPr lang="en-US"/>
          </a:p>
        </p:txBody>
      </p:sp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4588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B586FE8-CE12-484A-B56D-D9B65296CE05}" type="slidenum">
              <a:rPr lang="en-US"/>
              <a:pPr/>
              <a:t>10</a:t>
            </a:fld>
            <a:endParaRPr lang="en-US"/>
          </a:p>
        </p:txBody>
      </p:sp>
      <p:sp>
        <p:nvSpPr>
          <p:cNvPr id="37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8066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4B4B24-A6D4-4439-84B4-5F2C511B8C47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427701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4B4B24-A6D4-4439-84B4-5F2C511B8C47}" type="slidenum">
              <a:rPr lang="en-AU" smtClean="0"/>
              <a:t>12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841173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Gas exchange primarily happens in the leaves.</a:t>
            </a:r>
          </a:p>
          <a:p>
            <a:r>
              <a:rPr lang="en-AU" b="1" dirty="0"/>
              <a:t>Light</a:t>
            </a:r>
            <a:r>
              <a:rPr lang="en-AU" dirty="0"/>
              <a:t>: Stomata open =&gt; CO2 in, O2 out, water vapour out (transpiration). Light </a:t>
            </a:r>
            <a:r>
              <a:rPr lang="en-AU"/>
              <a:t>= predominantly Photosynthesis </a:t>
            </a:r>
            <a:r>
              <a:rPr lang="en-AU" dirty="0"/>
              <a:t>- So O2 and water vapour increase, and CO2 decreases. </a:t>
            </a:r>
          </a:p>
          <a:p>
            <a:r>
              <a:rPr lang="en-AU" b="1" dirty="0"/>
              <a:t>Dark</a:t>
            </a:r>
            <a:r>
              <a:rPr lang="en-AU" dirty="0"/>
              <a:t>: Stomata closed =&gt; Little gas exchange…  Cellular Respiration – uses O2, releases CO2 and water vapour…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4B4B24-A6D4-4439-84B4-5F2C511B8C47}" type="slidenum">
              <a:rPr lang="en-AU" smtClean="0"/>
              <a:t>13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797128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265CCF7-C6F2-435C-AB36-78C649E2A501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1478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DA24258-0DC9-4BD3-A138-7DFAE78C888C}" type="slidenum">
              <a:rPr lang="en-US"/>
              <a:pPr/>
              <a:t>15</a:t>
            </a:fld>
            <a:endParaRPr lang="en-US"/>
          </a:p>
        </p:txBody>
      </p:sp>
      <p:sp>
        <p:nvSpPr>
          <p:cNvPr id="39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3844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F0CB616-F36B-4764-8811-8E96C61D4795}" type="slidenum">
              <a:rPr lang="en-US"/>
              <a:pPr/>
              <a:t>16</a:t>
            </a:fld>
            <a:endParaRPr lang="en-US"/>
          </a:p>
        </p:txBody>
      </p:sp>
      <p:sp>
        <p:nvSpPr>
          <p:cNvPr id="41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8374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0BDE3CC-83E1-4AAC-81C2-54891F27F420}" type="slidenum">
              <a:rPr lang="en-US"/>
              <a:pPr/>
              <a:t>18</a:t>
            </a:fld>
            <a:endParaRPr lang="en-US"/>
          </a:p>
        </p:txBody>
      </p:sp>
      <p:sp>
        <p:nvSpPr>
          <p:cNvPr id="43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4058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69B3763-5D85-4449-9744-0F3E33DED2F7}" type="slidenum">
              <a:rPr lang="en-US"/>
              <a:pPr/>
              <a:t>19</a:t>
            </a:fld>
            <a:endParaRPr lang="en-US"/>
          </a:p>
        </p:txBody>
      </p:sp>
      <p:sp>
        <p:nvSpPr>
          <p:cNvPr id="45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2303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9/11/2023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9/11/2023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9/11/2023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9/11/2023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9/11/2023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9/11/2023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9/11/2023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7813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6197600" y="1600201"/>
            <a:ext cx="5384800" cy="4530725"/>
          </a:xfrm>
        </p:spPr>
        <p:txBody>
          <a:bodyPr/>
          <a:lstStyle/>
          <a:p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B6C80777-D86E-4E36-8B97-31C2A2C7DF4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546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9/11/2023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bcs.whfreeman.com/thelifewire/content/chp36/f36011.gif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gi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Br4gJuQslMI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jpeg"/><Relationship Id="rId4" Type="http://schemas.openxmlformats.org/officeDocument/2006/relationships/hyperlink" Target="https://www.britannica.com/video/21899/Microphotography-animation-stomate-function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gi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770394"/>
          </a:xfrm>
        </p:spPr>
        <p:txBody>
          <a:bodyPr>
            <a:normAutofit fontScale="90000"/>
          </a:bodyPr>
          <a:lstStyle/>
          <a:p>
            <a:r>
              <a:rPr lang="en-AU" sz="4800" dirty="0"/>
              <a:t>11ATAR </a:t>
            </a:r>
            <a:r>
              <a:rPr lang="en-AU" sz="4800" dirty="0" err="1"/>
              <a:t>BioloGY</a:t>
            </a:r>
            <a:br>
              <a:rPr lang="en-AU" dirty="0"/>
            </a:br>
            <a:br>
              <a:rPr lang="en-AU" dirty="0"/>
            </a:br>
            <a:r>
              <a:rPr lang="en-AU" dirty="0"/>
              <a:t>Week 29 – Gas Exchange in Plants</a:t>
            </a:r>
          </a:p>
        </p:txBody>
      </p:sp>
      <p:pic>
        <p:nvPicPr>
          <p:cNvPr id="4" name="Picture 2" descr="https://encrypted-tbn3.gstatic.com/images?q=tbn:ANd9GcT3kZuPzQOkdnWOO7UbGBL3D0VCoTNcv5CHjXXVbfxPlJKaX17xdw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0387" y="3543468"/>
            <a:ext cx="3717297" cy="2490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159A4A7-6296-46BC-B116-4CA2AE7EDD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3163" y="3527569"/>
            <a:ext cx="3717297" cy="2506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3163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9612" y="595559"/>
            <a:ext cx="7024744" cy="749664"/>
          </a:xfrm>
        </p:spPr>
        <p:txBody>
          <a:bodyPr>
            <a:normAutofit/>
          </a:bodyPr>
          <a:lstStyle/>
          <a:p>
            <a:r>
              <a:rPr lang="en-AU" dirty="0"/>
              <a:t>Year 11 Biology Work Schedule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99117" y="1908675"/>
            <a:ext cx="8993085" cy="2329217"/>
          </a:xfrm>
        </p:spPr>
        <p:txBody>
          <a:bodyPr>
            <a:normAutofit lnSpcReduction="10000"/>
          </a:bodyPr>
          <a:lstStyle/>
          <a:p>
            <a:r>
              <a:rPr lang="en-AU" altLang="en-US" dirty="0"/>
              <a:t>It is important to remain on schedule during this Semester.</a:t>
            </a:r>
          </a:p>
          <a:p>
            <a:pPr marL="68580" indent="0">
              <a:buNone/>
            </a:pPr>
            <a:r>
              <a:rPr lang="en-AU" altLang="en-US" b="1" dirty="0"/>
              <a:t>Moodle</a:t>
            </a:r>
          </a:p>
          <a:p>
            <a:r>
              <a:rPr lang="en-AU" altLang="en-US" dirty="0"/>
              <a:t>Have you visited Moodle this week?        Yes /  No</a:t>
            </a:r>
          </a:p>
          <a:p>
            <a:pPr marL="68580" indent="0">
              <a:buNone/>
            </a:pPr>
            <a:r>
              <a:rPr lang="en-AU" altLang="en-US" b="1" dirty="0"/>
              <a:t>Tasks</a:t>
            </a:r>
          </a:p>
          <a:p>
            <a:r>
              <a:rPr lang="en-AU" altLang="en-US" dirty="0"/>
              <a:t>Are you on schedule?     	        	Yes /  No</a:t>
            </a:r>
          </a:p>
          <a:p>
            <a:r>
              <a:rPr lang="en-AU" altLang="en-US" dirty="0"/>
              <a:t>When is your next task due?</a:t>
            </a:r>
          </a:p>
          <a:p>
            <a:endParaRPr lang="en-AU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730" y="4127915"/>
            <a:ext cx="9788132" cy="2730085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9204C8A-F893-413D-922D-19E3B83262FD}"/>
              </a:ext>
            </a:extLst>
          </p:cNvPr>
          <p:cNvCxnSpPr>
            <a:cxnSpLocks/>
          </p:cNvCxnSpPr>
          <p:nvPr/>
        </p:nvCxnSpPr>
        <p:spPr>
          <a:xfrm flipH="1">
            <a:off x="7829525" y="4210794"/>
            <a:ext cx="504056" cy="115330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C371AA5-CC8E-49D4-B1DD-51CBFF87E73B}"/>
              </a:ext>
            </a:extLst>
          </p:cNvPr>
          <p:cNvSpPr txBox="1"/>
          <p:nvPr/>
        </p:nvSpPr>
        <p:spPr>
          <a:xfrm>
            <a:off x="7736164" y="3557051"/>
            <a:ext cx="1728192" cy="64633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AU" sz="1200" dirty="0">
                <a:solidFill>
                  <a:srgbClr val="FF0000"/>
                </a:solidFill>
              </a:rPr>
              <a:t>Answer 2 out of 3 questions (Topics 2-4)</a:t>
            </a:r>
          </a:p>
          <a:p>
            <a:r>
              <a:rPr lang="en-AU" sz="1200" dirty="0">
                <a:solidFill>
                  <a:srgbClr val="FF0000"/>
                </a:solidFill>
              </a:rPr>
              <a:t>60 min (40 marks)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8A407144-02AC-4F93-8788-F37BE5F52A05}"/>
              </a:ext>
            </a:extLst>
          </p:cNvPr>
          <p:cNvSpPr/>
          <p:nvPr/>
        </p:nvSpPr>
        <p:spPr>
          <a:xfrm rot="16200000">
            <a:off x="7124117" y="6133003"/>
            <a:ext cx="360040" cy="432048"/>
          </a:xfrm>
          <a:prstGeom prst="right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324037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AU" dirty="0"/>
              <a:t> The end products of photosynthesis are transported around the plant through</a:t>
            </a:r>
          </a:p>
          <a:p>
            <a:pPr marL="0" indent="0">
              <a:buNone/>
            </a:pPr>
            <a:r>
              <a:rPr lang="en-AU" dirty="0"/>
              <a:t>	(a)	tracheids.</a:t>
            </a:r>
          </a:p>
          <a:p>
            <a:pPr marL="0" indent="0">
              <a:buNone/>
            </a:pPr>
            <a:r>
              <a:rPr lang="en-AU" dirty="0"/>
              <a:t>	(b)	</a:t>
            </a:r>
            <a:r>
              <a:rPr lang="en-AU" dirty="0" err="1"/>
              <a:t>plasmodesmata</a:t>
            </a:r>
            <a:r>
              <a:rPr lang="en-AU" dirty="0"/>
              <a:t>.</a:t>
            </a:r>
          </a:p>
          <a:p>
            <a:pPr marL="0" indent="0">
              <a:buNone/>
            </a:pPr>
            <a:r>
              <a:rPr lang="en-AU" dirty="0"/>
              <a:t>	(c)	phloem sieve tubes.</a:t>
            </a:r>
          </a:p>
          <a:p>
            <a:pPr marL="0" indent="0">
              <a:buNone/>
            </a:pPr>
            <a:r>
              <a:rPr lang="en-AU" dirty="0"/>
              <a:t>	(d)	xylem vessels.</a:t>
            </a:r>
          </a:p>
          <a:p>
            <a:pPr marL="0" indent="0">
              <a:buNone/>
            </a:pPr>
            <a:endParaRPr lang="en-AU" dirty="0"/>
          </a:p>
          <a:p>
            <a:pPr marL="342900" indent="-342900">
              <a:buFont typeface="+mj-lt"/>
              <a:buAutoNum type="arabicPeriod" startAt="2"/>
            </a:pPr>
            <a:r>
              <a:rPr lang="en-AU" dirty="0"/>
              <a:t>Explain cohesion and adhesion.</a:t>
            </a:r>
          </a:p>
          <a:p>
            <a:pPr marL="0" indent="0">
              <a:buNone/>
            </a:pPr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1CF029-7DBD-454A-9DF9-B5EEF7D4BC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5837" y="2955444"/>
            <a:ext cx="3495675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2313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1" y="726596"/>
            <a:ext cx="11029615" cy="626216"/>
          </a:xfrm>
        </p:spPr>
        <p:txBody>
          <a:bodyPr>
            <a:normAutofit fontScale="90000"/>
          </a:bodyPr>
          <a:lstStyle/>
          <a:p>
            <a:r>
              <a:rPr lang="en-AU" dirty="0"/>
              <a:t>Learning Intentions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191" y="1478071"/>
            <a:ext cx="1042918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200" dirty="0"/>
              <a:t>Understand gas exchange in vascular plants.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1188" y="3020874"/>
            <a:ext cx="11029615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Students will be able to: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200" dirty="0"/>
              <a:t>Identify and label stomata and guard cells.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200" dirty="0"/>
              <a:t>Describe the process of gas exchange via the stomata and the plant surface.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200" dirty="0"/>
              <a:t>Explain factors that affect the rate of gas exchange.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200" dirty="0"/>
              <a:t>Describe the process of guard cells opening and closing to allow gas exchange.</a:t>
            </a:r>
          </a:p>
          <a:p>
            <a:endParaRPr lang="en-AU" dirty="0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581189" y="2309872"/>
            <a:ext cx="11029615" cy="62621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dirty="0"/>
              <a:t>Success Criteria</a:t>
            </a:r>
          </a:p>
        </p:txBody>
      </p:sp>
    </p:spTree>
    <p:extLst>
      <p:ext uri="{BB962C8B-B14F-4D97-AF65-F5344CB8AC3E}">
        <p14:creationId xmlns:p14="http://schemas.microsoft.com/office/powerpoint/2010/main" val="33448484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597818" y="677218"/>
            <a:ext cx="11029616" cy="1013800"/>
          </a:xfrm>
        </p:spPr>
        <p:txBody>
          <a:bodyPr>
            <a:normAutofit/>
          </a:bodyPr>
          <a:lstStyle/>
          <a:p>
            <a:r>
              <a:rPr lang="en-US" dirty="0"/>
              <a:t>Plants need Oxygen too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955963" y="1985107"/>
            <a:ext cx="6677143" cy="4634523"/>
          </a:xfrm>
        </p:spPr>
        <p:txBody>
          <a:bodyPr>
            <a:normAutofit/>
          </a:bodyPr>
          <a:lstStyle/>
          <a:p>
            <a:r>
              <a:rPr lang="en-US" dirty="0"/>
              <a:t>Plants obtain the gases they need through their surfaces, especially leaves. </a:t>
            </a:r>
          </a:p>
          <a:p>
            <a:r>
              <a:rPr lang="en-US" dirty="0"/>
              <a:t>They require oxygen for respiration and carbon dioxide for photosynthesis.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Remember: -</a:t>
            </a:r>
          </a:p>
          <a:p>
            <a:r>
              <a:rPr lang="en-US" dirty="0"/>
              <a:t>Photosynthesis</a:t>
            </a:r>
          </a:p>
          <a:p>
            <a:pPr lvl="1"/>
            <a:r>
              <a:rPr lang="en-US" dirty="0"/>
              <a:t>Occurs in the chloroplasts</a:t>
            </a:r>
          </a:p>
          <a:p>
            <a:pPr lvl="1"/>
            <a:r>
              <a:rPr lang="en-US" dirty="0"/>
              <a:t>Energy produced (glucose)</a:t>
            </a:r>
          </a:p>
          <a:p>
            <a:r>
              <a:rPr lang="en-US" dirty="0"/>
              <a:t>Cellular respiration</a:t>
            </a:r>
          </a:p>
          <a:p>
            <a:pPr lvl="1"/>
            <a:r>
              <a:rPr lang="en-US" dirty="0"/>
              <a:t>Occurs in the cytoplasm and mitochondria</a:t>
            </a:r>
          </a:p>
          <a:p>
            <a:pPr lvl="1"/>
            <a:r>
              <a:rPr lang="en-US" dirty="0"/>
              <a:t>Energy produced (ATP)</a:t>
            </a: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1098" y="1901973"/>
            <a:ext cx="2881202" cy="4834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271270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809624"/>
            <a:ext cx="11029616" cy="792031"/>
          </a:xfrm>
        </p:spPr>
        <p:txBody>
          <a:bodyPr/>
          <a:lstStyle/>
          <a:p>
            <a:r>
              <a:rPr lang="en-AU" dirty="0"/>
              <a:t>Gas exchange in plants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3" y="1924050"/>
            <a:ext cx="7753182" cy="4533900"/>
          </a:xfrm>
        </p:spPr>
        <p:txBody>
          <a:bodyPr>
            <a:normAutofit/>
          </a:bodyPr>
          <a:lstStyle/>
          <a:p>
            <a:r>
              <a:rPr lang="en-AU" sz="2000" dirty="0"/>
              <a:t>Plants have specialised structures for gas exchange but not a specialised system solely devoted to it.</a:t>
            </a:r>
          </a:p>
          <a:p>
            <a:r>
              <a:rPr lang="en-AU" sz="2000" dirty="0"/>
              <a:t>Gas exchange is local and gases do not need to be transported through the plant.</a:t>
            </a:r>
          </a:p>
          <a:p>
            <a:r>
              <a:rPr lang="en-AU" sz="2000" dirty="0"/>
              <a:t>In non-vascular plants, gases move by simple </a:t>
            </a:r>
            <a:r>
              <a:rPr lang="en-AU" sz="2000" b="1" dirty="0"/>
              <a:t>diffusion</a:t>
            </a:r>
            <a:r>
              <a:rPr lang="en-AU" sz="2000" dirty="0"/>
              <a:t> in and out across the short distance.</a:t>
            </a:r>
          </a:p>
          <a:p>
            <a:r>
              <a:rPr lang="en-AU" sz="2000" dirty="0"/>
              <a:t>In vascular plants, oxygen and carbon dioxide are exchanged through the </a:t>
            </a:r>
            <a:r>
              <a:rPr lang="en-AU" sz="2000" b="1" dirty="0"/>
              <a:t>stomata </a:t>
            </a:r>
            <a:r>
              <a:rPr lang="en-AU" sz="2000" dirty="0"/>
              <a:t>or</a:t>
            </a:r>
            <a:r>
              <a:rPr lang="en-AU" sz="2000" b="1" dirty="0"/>
              <a:t> lenticels</a:t>
            </a:r>
            <a:r>
              <a:rPr lang="en-AU" sz="2000" dirty="0"/>
              <a:t> on leaves, stems and roots into and out of air spaces between cells.</a:t>
            </a:r>
          </a:p>
          <a:p>
            <a:pPr marL="0" indent="0">
              <a:buNone/>
            </a:pPr>
            <a:endParaRPr lang="en-AU" sz="2000" dirty="0"/>
          </a:p>
          <a:p>
            <a:r>
              <a:rPr lang="en-AU" sz="2000" dirty="0"/>
              <a:t>Remember plants need to get both oxygen and carbon dioxide in (unlike animals that only intake oxygen and expel carbon dioxide.)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73BBDB-5632-43C1-926B-42E0F41CEE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4375" y="2029890"/>
            <a:ext cx="3614738" cy="243733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6507DDE-A6C5-4DE3-AA3F-EAEA735CE42B}"/>
              </a:ext>
            </a:extLst>
          </p:cNvPr>
          <p:cNvSpPr txBox="1"/>
          <p:nvPr/>
        </p:nvSpPr>
        <p:spPr>
          <a:xfrm>
            <a:off x="8334375" y="4449954"/>
            <a:ext cx="36147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b="0" i="0" dirty="0">
                <a:solidFill>
                  <a:srgbClr val="707070"/>
                </a:solidFill>
                <a:effectLst/>
                <a:latin typeface="Noto Sans" panose="020B0502040504020204" pitchFamily="34"/>
              </a:rPr>
              <a:t>Scanning electron micrograph (</a:t>
            </a:r>
            <a:r>
              <a:rPr lang="en-AU" sz="1000" b="0" i="0" dirty="0" err="1">
                <a:solidFill>
                  <a:srgbClr val="707070"/>
                </a:solidFill>
                <a:effectLst/>
                <a:latin typeface="Noto Sans" panose="020B0502040504020204" pitchFamily="34"/>
              </a:rPr>
              <a:t>sem</a:t>
            </a:r>
            <a:r>
              <a:rPr lang="en-AU" sz="1000" b="0" i="0" dirty="0">
                <a:solidFill>
                  <a:srgbClr val="707070"/>
                </a:solidFill>
                <a:effectLst/>
                <a:latin typeface="Noto Sans" panose="020B0502040504020204" pitchFamily="34"/>
              </a:rPr>
              <a:t>) of lilac leaf stomata</a:t>
            </a:r>
            <a:endParaRPr lang="en-AU" sz="1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711D5F3-4731-495F-8E44-773CDB4753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4375" y="4986122"/>
            <a:ext cx="3614738" cy="1708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5392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Gas Exchange in Vascular Plants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idx="1"/>
          </p:nvPr>
        </p:nvSpPr>
        <p:spPr>
          <a:xfrm>
            <a:off x="581193" y="1990726"/>
            <a:ext cx="8619958" cy="4343400"/>
          </a:xfrm>
        </p:spPr>
        <p:txBody>
          <a:bodyPr>
            <a:normAutofit/>
          </a:bodyPr>
          <a:lstStyle/>
          <a:p>
            <a:r>
              <a:rPr lang="en-AU" sz="2000" dirty="0"/>
              <a:t>Vascular plants absorb and release gases, including oxygen and carbon dioxide, via the stomata on the plant surface.</a:t>
            </a:r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Between the environment and the plant:</a:t>
            </a:r>
          </a:p>
          <a:p>
            <a:pPr lvl="1"/>
            <a:r>
              <a:rPr lang="en-US" sz="2000" dirty="0"/>
              <a:t>Gas exchange occurs through diffusion at the stomata</a:t>
            </a:r>
          </a:p>
          <a:p>
            <a:r>
              <a:rPr lang="en-US" sz="2000" dirty="0"/>
              <a:t>Within the plant:</a:t>
            </a:r>
          </a:p>
          <a:p>
            <a:pPr lvl="1"/>
            <a:r>
              <a:rPr lang="en-US" sz="2000" dirty="0"/>
              <a:t>Gas exchange involves the movement in and out of the                                                                                                  intercellular spaces (spongy tissue) </a:t>
            </a:r>
          </a:p>
          <a:p>
            <a:pPr lvl="1"/>
            <a:r>
              <a:rPr lang="en-US" sz="2000" dirty="0"/>
              <a:t>Occurs via passive transport</a:t>
            </a:r>
          </a:p>
        </p:txBody>
      </p:sp>
      <p:sp>
        <p:nvSpPr>
          <p:cNvPr id="3" name="AutoShape 2" descr="Image result for stomata"/>
          <p:cNvSpPr>
            <a:spLocks noChangeAspect="1" noChangeArrowheads="1"/>
          </p:cNvSpPr>
          <p:nvPr/>
        </p:nvSpPr>
        <p:spPr bwMode="auto">
          <a:xfrm>
            <a:off x="155575" y="-1173163"/>
            <a:ext cx="4733925" cy="2447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3004" y="3119090"/>
            <a:ext cx="4860764" cy="2508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5662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>
          <a:xfrm>
            <a:off x="731045" y="1047751"/>
            <a:ext cx="6259513" cy="543481"/>
          </a:xfrm>
        </p:spPr>
        <p:txBody>
          <a:bodyPr>
            <a:noAutofit/>
          </a:bodyPr>
          <a:lstStyle/>
          <a:p>
            <a:pPr eaLnBrk="1" hangingPunct="1"/>
            <a:r>
              <a:rPr lang="en-AU" altLang="en-US" dirty="0"/>
              <a:t>Stomata</a:t>
            </a:r>
          </a:p>
        </p:txBody>
      </p:sp>
      <p:pic>
        <p:nvPicPr>
          <p:cNvPr id="15363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64370" y="1960564"/>
            <a:ext cx="1655762" cy="1573213"/>
          </a:xfrm>
          <a:noFill/>
        </p:spPr>
      </p:pic>
      <p:pic>
        <p:nvPicPr>
          <p:cNvPr id="1536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4238" y="1960564"/>
            <a:ext cx="6121400" cy="4262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970A22F-D3DE-4C5E-A37F-C7BA902BB662}"/>
              </a:ext>
            </a:extLst>
          </p:cNvPr>
          <p:cNvSpPr txBox="1"/>
          <p:nvPr/>
        </p:nvSpPr>
        <p:spPr>
          <a:xfrm>
            <a:off x="466725" y="3533777"/>
            <a:ext cx="1952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Leaf cross-section</a:t>
            </a:r>
          </a:p>
        </p:txBody>
      </p:sp>
    </p:spTree>
    <p:extLst>
      <p:ext uri="{BB962C8B-B14F-4D97-AF65-F5344CB8AC3E}">
        <p14:creationId xmlns:p14="http://schemas.microsoft.com/office/powerpoint/2010/main" val="539743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695492" y="639387"/>
            <a:ext cx="11029616" cy="1013800"/>
          </a:xfrm>
        </p:spPr>
        <p:txBody>
          <a:bodyPr/>
          <a:lstStyle/>
          <a:p>
            <a:r>
              <a:rPr lang="en-US" dirty="0"/>
              <a:t>Stomata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581193" y="2180496"/>
            <a:ext cx="5876758" cy="4229829"/>
          </a:xfrm>
        </p:spPr>
        <p:txBody>
          <a:bodyPr>
            <a:normAutofit/>
          </a:bodyPr>
          <a:lstStyle/>
          <a:p>
            <a:r>
              <a:rPr lang="en-US" sz="2000" dirty="0"/>
              <a:t>Are the openings or “pores” in the leaf.</a:t>
            </a:r>
          </a:p>
          <a:p>
            <a:r>
              <a:rPr lang="en-US" sz="2000" dirty="0"/>
              <a:t>Most abundant on the leaves, where they are usually found on the underside. </a:t>
            </a:r>
          </a:p>
          <a:p>
            <a:r>
              <a:rPr lang="en-US" sz="2000" dirty="0"/>
              <a:t>Where diffusion of gases occurs</a:t>
            </a:r>
          </a:p>
          <a:p>
            <a:pPr lvl="1"/>
            <a:r>
              <a:rPr lang="en-US" sz="2000" dirty="0"/>
              <a:t>O</a:t>
            </a:r>
            <a:r>
              <a:rPr lang="en-US" sz="2000" baseline="-25000" dirty="0"/>
              <a:t>2 </a:t>
            </a:r>
            <a:r>
              <a:rPr lang="en-US" sz="2000" dirty="0"/>
              <a:t>net movement out</a:t>
            </a:r>
          </a:p>
          <a:p>
            <a:pPr lvl="1"/>
            <a:r>
              <a:rPr lang="en-US" sz="2000" dirty="0"/>
              <a:t>CO</a:t>
            </a:r>
            <a:r>
              <a:rPr lang="en-US" sz="2000" baseline="-25000" dirty="0"/>
              <a:t>2</a:t>
            </a:r>
            <a:r>
              <a:rPr lang="en-US" sz="2000" dirty="0"/>
              <a:t> net movement in</a:t>
            </a:r>
          </a:p>
          <a:p>
            <a:r>
              <a:rPr lang="en-US" sz="2000" dirty="0"/>
              <a:t>Guard cells control whether they are open or not (to leave them open all the time would be inefficient).</a:t>
            </a:r>
          </a:p>
          <a:p>
            <a:endParaRPr lang="en-US" dirty="0"/>
          </a:p>
        </p:txBody>
      </p:sp>
      <p:pic>
        <p:nvPicPr>
          <p:cNvPr id="7177" name="Picture 9">
            <a:hlinkClick r:id="rId3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9025" y="274760"/>
            <a:ext cx="3609975" cy="64794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051341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Guard Cells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705017" y="2127731"/>
            <a:ext cx="9448633" cy="2040592"/>
          </a:xfrm>
        </p:spPr>
        <p:txBody>
          <a:bodyPr>
            <a:normAutofit/>
          </a:bodyPr>
          <a:lstStyle/>
          <a:p>
            <a:r>
              <a:rPr lang="en-US" sz="2000" dirty="0"/>
              <a:t>A pair of kidney-shaped cells.</a:t>
            </a:r>
          </a:p>
          <a:p>
            <a:r>
              <a:rPr lang="en-AU" sz="2000" dirty="0"/>
              <a:t>Guard cells are cells surrounding each stoma.  They help to regulate the rate of transpiration by opening and closing the stoma. </a:t>
            </a:r>
          </a:p>
          <a:p>
            <a:r>
              <a:rPr lang="en-AU" sz="2000" dirty="0"/>
              <a:t>The opening and closing of stoma is in response to water moving in and out of the guard cells.</a:t>
            </a:r>
          </a:p>
          <a:p>
            <a:endParaRPr lang="en-AU" dirty="0"/>
          </a:p>
        </p:txBody>
      </p:sp>
      <p:sp>
        <p:nvSpPr>
          <p:cNvPr id="4" name="AutoShape 2" descr="Image result for guard cells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sp>
        <p:nvSpPr>
          <p:cNvPr id="5" name="AutoShape 4" descr="data:image/jpeg;base64,/9j/4AAQSkZJRgABAQAAAQABAAD/2wCEAAkGBxQTEhUUEhQUFBUUFBYQFhYUFBQUFRQUFRQWFhcUFRQYHSggGRooHhUYIjEhJiktLjIuGiAzODMsNygtLisBCgoKDg0OGxAQGiwkHyUsLC8sLCwsLCwsLCwuLCwsLCwsLCwsLCwsLCwsLCwsLCwsLCwsLCwsLCwsLCwsLCwsLP/AABEIALQBGQMBIgACEQEDEQH/xAAbAAABBQEBAAAAAAAAAAAAAAACAAEEBQYDB//EAEgQAAIBAgMFBQUEBgcGBwAAAAECAwARBBIhBRMiMVEGQWFxgSMyQlKRFHKCsWKSoaLB0RUWM1OywuEkQ3OTs/BUY3SDpMPT/8QAGQEAAwEBAQAAAAAAAAAAAAAAAAECAwQF/8QAKxEAAgIBAwMDAwQDAAAAAAAAAAECERIDITEiQVEEM2EyQnETgcHwI7HR/9oADAMBAAIRAxEAPwD100gadqQrzzQemvT2prU2AQpiKYUVPkAbUwFOaYGkA9EDSoKfAHQigIor0LGh0Agardt7XXDiPgeR5ZBDFGlszuVLHViAqhVYkk6AVPqo7Q7LklMEsJQTYaUzIJMwjcNG8bxsVBK3VzZgDYjkaUXbA6YXbZBkXExNht2EOd2VoXEjZFySjTNmsMpsdR1qTjNswRBjJNGmR1ibM4GV3UMqEfMVYEDnY1lcV2WxMv2h/ZQmSONY4RPPMhkjxCzmR2ZQEvly2VTYfSnn2FjmeSX2CNLi1xDRxzOp3S4RYAq4gwlkbMoJKqLi4uL1pSEaJu0WFtEftENpzaH2i+1NwpCa8WpArlhO0uHlxIw0MiSsY5ZWMbqwTdPGhVrd5Mmn3TVL2Y7KTQtCZmj4I8cjFJJJGzYrERyqVd1BYhVYFjrfreuvZnYGJhmwxmGHEeEwT4FWjdzJLd4SrshQBBaK9rmxY86WMQLXGbcYTPDBA87xRrLLZkjVA98iZmPE5AJA6cyLij/rJh1SJ5pBhzModY8QRFIL2BDIx0IJAPdeouJwGJixM0+FWCRcSkedJpHiKSxKUVwVRsylbAjQ8PjVLtXsjipH3jOmIaXCLhZr4ifBrmVpCSUgFpIiJSMhseHnxGmlEC/k7SoJzDka4xK4TNdcuZsKcTn+7lFvPwqVs3bOHxGbcTRy5bFt24awa9ibdxsdfCqD+qcomzAxZPtUc4BLn2abO+ykEHmc2ts3LvvXTsdsHEYZjvSqxCFIliWeTEgMpOsbyoHjjtYBMzeltZlFUBqQaJDThafJUJMYJow1MKWWqARNMKK1czSYBg0QNcqcGhMDoaBmogKFlpuwEpozQAU9CAVKmJpr0rARNNXPEzLGjO5sqKXY9Aouf2Cq6XbWRC80MkS+zIJKMLSSLHYlSbMC4JHTleimwLgUjVam3ITrn4coYMATcmSSPIFHFnDRsCtrix6GujbZg/vVPAsul24ZDZCLDXMdAOZ1te1VTAmrRE1WrtiAsqiVSzhWUDXRyyrc91yrAX5kEc654Tb0DrGxcIZI1lytplDRb7Kze6GCXa1+QJ5a0lYFpTWqDBtmJ5EjViWdXYcLC27yZg1xcHjBF+7zFT7UqAYmkKRFICkA5rm1daG1DQAJXVaYCiFCVAI0JojQGqYDg0iaC9HUpgMKMUFqcmmtgDvQ0ANFRdgGtI0INOKYCUUVDemvQIRNA1GBSKUmhgUrURWmpUA4NPzpjRJTAa1IiiNDTAA01Eaa9QwAxcCyIyMLq6lGHVWFj+dV67GZgBLPJJbdZdFUeylSXMyjRnJjALaaXsBc1arT3q0BTjYAVg6SMrq7yISFYKzyzyNde8WxDr5Ad9FHsMKtkkYMN0ysQps8WbiK6A3ztcac9LVaUQp5MDPw9nmWViZCY2ELMLLeSSOeacsTbhGaQaDu005mOezqI8AaWQhFEcZZUZQwwzYbIS1wMyszAZbFr3JvlOnNcMYU3bbwXS1iLXvfkAOt7W8bUZOxMrMDshcMVfemyl1y5bJaRYwEiQE5NYlawvqW0F9LLfO3IBB+lxN+qCAPqao4JnV1Wa7O2kDXBsLf2bnkHA5t8XdrpVwkLnmygjuCkj0N9R6UXZKUpboLO97ZkPeOAi/XXN/Dvp/tliBIMtzYMDmW55AmwI9RbxqFiGZSA1tTwsORIHLwNr6dKIyhlII0IIIP0INRmiG5RdMspHCgliABzJ0AriuJJ91DbqxyA+mp+oqhw20M8gic3OHGt/iZid256nIB6selWUuJ7h38z0FGSQfqXwTExDn4F/5h18fco/tgHvgp4nVf1hy9bVEwmZwGvlU6rpdiO4+HlXV4WOiv53AsfAWt9atOzTCZMNU/aiSZY4/s7hJGnjUZgCrDVjG3RWy5SRqL3HKnEpiJsMoAzNHfhKjm8R5Dy09OdGmLOIymGwi97ekXL/8ACU93MZz6A8wl5HfZlBB2tIXEyEcKfaXVZCEMZw+HwrNAdOeeSS515aaVYYvbT3IBjUCcQhQ15zu8THG/ARYqwY9CAV55tLyTDI3vIp1zaqDxWtm177aXolhXMWyrmNrtlFzl5XPM2oTXgZQ7I7TNLuy8axrIYiGzrwrKkrAGxOo3YGY2Bzcha1Fs7tE0kkSlUVJVUqwYvdmiMtri+XQcmAuNQT7tXn2SOxG7SzHOwyLZmvfMwtqbjnRrh0BDBVDAZQwUAhflB5geFXa8CCy016dqAVmMcmnZgASTYAXJOgAHMk0Jqvx0udxH8K2d/EnVE/zH8PWlYpSpWSFxDPqtlXuLAkt45biw89fAUzYl1OoDi1+EEN42Uk5vqKj4UlibGyXIBte5HMAdB18+lDiXZWCtY82UjvtzUjuNj/3anltZDjOrLI4pMmfMMpAIPUHlbre40rkmKY8k0/SfKfoAazsGJO+MfNI7zr0LTGy/QiX9cdKucGzP7pAUEre1yzA8Vh0vcX63oUtxRcp8El8Zl/tBlHzXzKPM6EeZFq72qBPmXiPEg52FiOrW7x/3rQYKbIwj+B/7M/K1r7vyIuV8iOlD5K3i6kWYpxTUhQWFemogtI0wAtTbuiFFSpACopyKcU5qkhHI0hRNTVIxqp8diAXN/ch7h8UxGgHWwYAeLdVqyx2I3cbPa+UXA+ZuSr6kgetUmEw3Gq3uUG9kPc8rE2JHic7eBy1MnRNZSUTrjcJIYWCrG0kls28Zgq94ylRfh0ta2uvOouy9m4kMr4jFNIy8lRVROnFYDN9BVwHJNuXj3eQNFNCVF7361otObjaNJKGabvb52IO2MR7Jz8SDeDwZOIemlRMdiQvkfz7jULbs+bgHNzu/Q+9fwy3NRSrYqYQrcA8UhHwRjmb9TyX69xrGrZPqa2RzUFCMSb5Z3aO//DACHyOWUg+XWrSee+HlPfu3J8BlP8Kv8ZsyOSEwEZUyhVy/BlsUZfFSAR5VjYs8UjYeYa2sT8Lo1wHTwOuncbju1claMMcGi3+0vJi4lUkRxRvIxHIs/Aq+YAY+H0qX2hnkSBjCWBuoJQXZUzDMyjqBf86qtiYkr7NveQ5D425N6ix9a0qIxF9APGtNJSyTSujrkoqLt8mY2Bh3xG9EskksKMpgMgPv2NycwvIBpz01I5jS4weKyPY6CRirL8kw1Nv0WGvnY82qcSw58vm/0/jVdtHDDNa9t6MubvWVOKNx46H9VafqG3O2qszUP8eztou1NdBUbZmI3kavaxIsw6OpysvoQRUsis0guxr0r01GBVKwEKVqGnvTsAZXCqWY2CgsT0AFyazodt2Dyknb1UvqfPIg/cqy2+/swn966x/h1dx6qjD1qBGPbdVjTN5M5IFvIKf1qzm+xMVlqJeDnjdnzuwRZhDh1CgCK+9awHvORw69L102tPonVZE/eOT8mNWQjLDMD5VntpuWkjUc82c/dTi/PKPWr1NOUVubRw6mjngj/tMvgkVvrL/M112Vi3Z8OgJCrhzJJ4s5UC/jfP8AtqHsqW+IxB52MSD9TN/mqVso7t2jPNXPqrHMtvCzW9DWa5MPTb2v7sN2q2tLFIixuycGaNVQMJ5c1t0xINhYLyt7x6aWOJh96IHLcb2JvkIIOn3WynyYCrHK1r2HgO/0qDtLksh0yOLjorcLX62vf8IrfWvCKqq7+TTBSy3u+PgtMBit7GjgWzC5HytyZT4ggj0ruKrNiPZpo+jCYeUoN/30c/iq1IrPlWRB2gs1ATT2pgKZQhRUqVNAI04oaIUIATQ3oyKa1JoCq2xJdoo+pMzeUdgB+s6n8NctmHgMn94xcfd91P3Qp9aibVkJknZSQVVIF+8Rm/OVR6VZQR5cigXAsBbQ2UWGlTFZTSHpbKU/2J8Edl8+dccacqm3Lof4GpIcf6cj9Kz3aTGHIQvM8K+LMcqj6kV3zkoqyIxydGdfED2kzaAZkXwUHjb1It+HxrWdm9mmGK7j2kntJPA20j8lGnnc99UWEwQaeGLmsftTfvWLLb6uU89a2RrhXFiTyk5CNUnazB54d6BxwXkFuZj/AN4vjwi4HVRV0x0oL6WPLlahuimrRiJH9yVdSpEb9CrHhufBj9GNbHAyhlBOp/YPIVksNhLRywfLnhHpcIfplNW+xMRmRXHxKGt4EXq9GeLphBZQ/BoZVuKpNqk7pj3xkSf8sh7eoFvWrjfgjTXy/nVdiEvmB0B6c9RbnW3qI3ArRfVQthSWkmj7rrMPASAqQPxRsfxVctWU7PNaWH9PDsreLIYyP89ai9c8X0mcFSrwCDRBqC9ODRZYd6AtSc0hQwKjasl541+SNnI8XYKp+iv9a47NN943zylfIJaP/IT61zxLXxEzX93JH4EKgfX1kNdtin2cebQlQx6Zm1OvmTSgstRC0/ukW8oyrcfTuP8Ar41mMHZ5JpPlO6W/dbic+pyj8NXu1Z8qVS7NhtAncWG8PUFznP5/srX1MuES9ofkgbGUDEYn/iofrBHU3aPDLFIOZO6byIJUnyII/FUDZpP2nEDlrE1/OMDT9WrXa0Y3D/o2l/5bB/8ALXNdNMy0XUkaHDWIvzPX+AqDtKDMHTudSPqLfxpbLltoeVdMc17W+p5enWu+TU9Ozpj0zKzZE5M0LnTewMD97gcfQCT61ozWQwGjwa+7iHT0tNGAPqK1xrjg+kiKptfIwNGKAUQqkUJqa9OaagBrUdCKc00AxNNRWolFKgMeHzH7+Kc+iM7L+yNa0OEHF5CsthXOaLQf2kp5/f8A51p8C+puD+w93hVaC6wj7KOuNN+H/seVZrHDM8WUgguTzuOBWPP7wFaCeQZtdNO8EfnWfw+D3RiTMG45yCOjs7gegNqPUSd0VHaDa8Mm9m47zTMRySJB4XMjN9eD6VoiBVLsDSSdfCJ/Rg6/5DVzUrgy0/pGtS3dccXi91ZmByXs7j/d9GYfL1PdzOlyJVOizJ41MuLlAHvCOb6qY/8A6qbYqAKqsdbugXlcIxWwHfoKlY5L4tz0hhX1zTG30YVFwOEzGKTMBkkmksfiWTefzBrJ/UGg3cq8/wAmiwYFrdNPSqPtXM0YWRCbJLGXA74ySrA/rX9L91XWDcanU3PcCfyqBtKTU8Jty1tb6V2z9vcWOUmkyr2QfawffnX0yy/yFawVj9gXaXD+UkvPuZW//QVsgtckeBLmX5OTLRAaURWiC06KBApstdLUBp8AZHESXTEt+nOPVSYx/hFXuz4wPIC1ZuR+DEaH+3xHT/xL1o8DILHu87j86rQ9xkw9t/kqu0R9nJY2JRyo8ha46cxUokAW5W0t5dKh7cw913l/cjkW3XMUJ/wftqdMListV3INbaKX97GfwB/2zED9CA/9Ufwq6xfFG6jW6MvhqpHOqXZ0H+14gnlkgX9kh9edX85sjHuCsfoDUSOaH8nPZZuisTc2U27hcA8vI1K7RM+4cxmz7typ52bKbaedQdkYXdgkkcYi06FUCn8hVntGUWFrnyB/PlXZpe2zt1VcqM5gJg4iccmxKsPxTD+dbcCsNgfeiAWwOK05clmJ0A+7W4JrCHBn90gSKV6RpqZQr01PalakA4NOKYimvTAMmkKAmnU0WBiFOWRR8uJmT0vNb+FarZrc6yu30yTzakccWJH3TYN/gkq42fi7OqAszNqQMvCvzsSNB3AcyfUi9HaYR9qvDLjFp39Pyqn2pGLxtYaSKOXzgx/5xV4Yz8x+i/yqs2jhGKMgI4gcptybmvf1ANaeo07VorSl9r7nLZ3BiRbQSxMp+9EwZR9Hk+lXjVm5ZSUSZfgKzWym9gCHXnzylh51oswIBBuDqCORB765ovpMdPa0xXquzfZv/Tn/AOP6/wBz/g1+H3bG1Q9rTlYyF0eT2Sd9mYHit3hRdreFUmW3Ssp5JL7+a17s2QdQgEaAeZW4+9VhgMGFVYx8KqpPWwAqi3Rw7JGCPsyASHQ+wy6Rqdf7IsL3+HJ8p4dXhomA5i5193/Wq0NPKWTCDxh8s7AWFZvb09kcjnlNvO2g+tqvsUSFPF+wVkdrNmdFudWzHlyTivy6hR61r6h9NFaW1yJ/ZqEb825QwBB/7jfyh/bWoNUPZKG0TyG53kjEX+VLRgeV1Y/iq7vWC2RnDgIGivXK9Peiywy1CRSvSvQBisULLiR0knb6yM/5GtLss3Bqg2jEd/iUvbPZhy5PEq/mGqy7OylkU3HEqnl1APWq0NtQmH0NfItsYUGOVbC5R7eqmh5qGBNiAR38xfvqzxkTc9D6EafWqXA3EQWw4Lx8z8BK9OgB9an1EKlfkNR3BfBAwAO/m174+79Dzqx2insmFzxWj5/3jBO771VWCkP2mcWHKI8+ocdPCrZ8zSIunDeU6k/oqOXVr/grJpt0Y6KuSLXBYcXuANNBXHbElqnQxkDmPof51ne0krZWAYXIyDTvbhHf1Nd00oadHTF5TtkXYq5pML14piPOJyf3nFbG9ZnYEV8SxvpHDl8BvHFv+ifrWlBrkWyM4b2wr09DRCqLHAorVGwuIz30t63PPv0t+01JtVCAc0C0RpwtTyxgMKENRsKhYqdr7uKxkIuSdViU/G/XwXmfAAkTTsDO9t2448lizKYZAblUR/ceS3LUOAOZLHoSOHZvELGgDNxFsjsx1eUHLcnxtp3WsBpWnm2QjQvDc+0uWc2LmTS0hPzAgEdwsAAAAK83xyycaMAr5grXOi4iMixH6LBRY+R76q6doSeN0uf9nqUWJBGuhrliplNhccxVZs+YOozG5tqBpr6UW0sZHCnFcZ7xqEW7sSDyA8NbmtlrOXSluaPSUVk3sQ9lbQD8aKRHK8mS50zKxufJgCw8m8KtNmybu0TaDURHutz3XmO7wHhVOmIiXCJuSckOW2YEMDGwzBgdcx187+NWc0edSGuB3W5gjUNfqDYjyrmfTJpmE7WMr3aLq3efOqN8RmJmYcCqQnUR82kIPzWvz5Be+9BNjzKiRHRmLia2mkRCsB0DkqbfKTXPa8tomvy4QT+jmGYH0vTlLsTam0ux1wcq2YMQJWAldCeIK2ii3Sy28wa7wyjDga3w50B/uD3Kf/K7gfh0Hu+7UbVwbS5ZoCFni909zqecb+B/nVmgDRhmQoWUFkJtYkaq1tD0rXS1VBUzolGUptVVceGv+nXaWK0PQVkJpWZnK6sSMPH0LsQPpmKg/dNRMRiJMOMrOHEhsBc5IG+GNb/7oDvtpY91rXnZHBZ5c1uDDiwPzTONT6KxY+LjpSm3OVkzdQxXLNfhMKIo0jXkihB6C16M10rmwqWJDU9MKKkhjU9qVqemBmO0CZMTG/dJGUPnG1wPpI36tcNhYoIchNiHdAPAXZR+oQatO1mHzQFwLtCwnHkoIfz4Gb1tWQluZonXQFg9z8yoyN9UYfqmknjJMmO0mvJ6BNOCvnWdhxYMsqgG2cppreSNIw58L5gLfoGp6TIEMjnhVS7E8goFzoOdVUWJiKqY8wtiGLBxlYNLmJBHT2gP0q9WT1I2lsi3Cum+UQsLcY2bTnFCbA66NKP41ebLkVszXGZmBy94jUlFNuhIZvWqUMRi3PWBPMWeTU113LGPDzQjM8SIrJ/ewsozp4nvHjWUXUkzHQtRk0rNhNMAtZLaMuaVB0JkPknL95l+lTNthgoWNsoLDMbm4TmQveCeXhc1RHEmzyWJJ9mgHxZSRYeJYkegrXV1M1SNmv04uzT9lY+CST55CB92MZP8Qf61eqKjbLwm6ijjvfIoUnq1uJvU3PrUsVKREVSBYUlpyKEG1Hcoh7PFmPRgT4Hi5rpoPPXUVYVXYCfM7WVV65QBfla5txHU6jTn1FT707ERdq4ho4XeNQxQZ8pBOZVILgWI4soNvG1VOO7ULE0jEBolsqsGjUuwQSSFc7jOArpZVBNw3Sr0Gq09nsNkWMRWRFdAqu6jLIQXQkNcqSAbHTQdKcZLuMP+mhe+6kMe9EAl4MrOZ1gItmzAB2IuR8LeF+EG14kJVI5LZ80rcJyF8RJhw7lmu12hbleyqOWgqTLsSBiSUN219+QBWurZ0AayNdVOZbG4vTpsSAZSI7ZDccT2J3jSjOL8dnZmGa9iSRVXERAwHaVHaOMqc7ZQxW2VXcZgMpbNa1tbWGYeNonbHYZkBmiUswXLIg5yIOTLb417uo05hauk2VCrKyqQVtYB3y8IIUsl7MQDa5BP0FTaiTXYGrPK8DthorXa69z9x+90b8+7oJu09qCUIQxV4yWQgA8xYgjvHL6CtHt/smJSZIGEUh1YEXikPVgPdb9IeoNY3EbFkhPtcHf9JI96h8boDb1Apwk4vKPISnccZombIBkO7BL5n3kz9y3tm8ASAFA5/Q1rZ8SFHOsZFtZlGVI3AHwrE4/dAqXhMFi8QeGJkU/HMDGoHXKeJvQeo51E1KcsmZSd0ktkd4sVbESP8L2S/dnREJHnlZT6Gr4FZUKtqGUqR1BFiK7Tdm0+y7hWOYHeiUi533MuR0NytvlNqx+ImxGFJE0bIB8YBaIjqJBpbzsfClKF8EYOIUuPlwpyy3AGgc3ysO4huX4eYppu0ufRTmJ5BeInyA1ph2pBX3lIPiCK44JpcSbYWO4J1YDLEPFpALX8Bc+FNX3R0L1D8DQxO7hbBppLoqc1RfiLHpbVj4WF+/b7KwwwSLFctD855xuxuc/6BJ0Pw8jpa3Ts9sFcMpJOeVhZ5LW0+VB8K+HfzPhbOoIIIBBFiDqCD3EU+BK27fIQp6rEYwEKxvCTZWPOInQI5+To3dyPcasiKZQ1IUNODU2AVM1PRBaoDn5153tPBGGRoCbAe0gY/JfhH4b5D32sfir0dhVXtzZK4mPKeFgcyOBco3W3eDyI7x050miZLuuTDLte6PE91upRhfVbi1x/A8qLZMpeTVi5D76RiLAWXKgIHI6AgeDGo209mzRNaeDeKPddUMqHxuASvkbetPg5ZXtHBA9uiRlVHiWICjzJqspYuK4CWonvW5YGQ/ad58BVYPx8Ulv1QajttBsM2Q6Lc7snkVJJUA+A0tz06GtKOzzfZDHdd8X+0Zvh3o5Le18uUZL9Nayc21WiO7nXITpkkAF7dL6MPEXFZ14I05PT/c7NtF5zlU/eYckHU92boP4Va7CwolnUAezgAc9Mw0jXx1Bb8I61R4PFPO26wyhvBbBI797kaKP2nuBr0LY2zFw8YRTmPvOxFi7nm1u7kAB3AAU6LcnqP4JooqQFEBTSKGtQkV0JrlPJZS1r2BNh32F7U2BX7PPHbi91jZh+kut+8dBzGtWVVOz5AZGPDexHCVIsGHOyi976E+NWmapsByKFjXWhZabQAZqK9LJSIpbgCKO1DTrSQB0r0rVitpbVkQTskxZ/9qEeVgyq0UcjKkuGdQ0eXL7y3DaEmzCtErEbQmhrMY/tHJGJDaF8gkUKCwYtHh99vTqbRE8PL4lNze1HiNuTRF94IcqSSQ3G8HEsG/VjzstuEgAnvuOVLFjNKKc1n4tsSPhJ5BYPEzx3UAgBct5MmZtQGJy3Pu+lRsXtUwPaGZZkYQhmmkDpE8uIjhVi6/MsjHLe3ALWBNVgKzQHARk3McZPUopP1tUg1lU7USmVEESMLoGYOirJnxEkOaLPIDa0ebQPfNbxNnsXackp9oEAaKOdcma4Ds65WvzPADcdbeJTi0Bb1lu1uM3bk71hlhzCMTSQMTma7wMAVml0A3TC3u8g2upvTXpJ0MymK27NFvfaREq+IZQ6NdigjMeFAVtHYPcHU9FOtHjNtYld4QYcqrjJApictbCTrGELB7EuGve2mXkb6aoGkTVZLwIxuJ7QyNPJEpGVX0KrkZTFjcPCVJEhJzB2vmVb2Nrg1YbR2zImJ3SmMgfZ7RFW3sgmkZHKNmsAijNyOgN7cxfXrmiKGLAcTAAnqFvb/EfrUZLwOjP4Dbk0hRQ0JLtDdhG5EJkExeBxn1dd2Nbj3tVGl5XZnbUs7OHCABQ2VSueJsxG7kAdtdDqQpup06XiNXSryT7CBc0lpiKy/aqfJJm3jjLCGWJZZYC7Z2OaBkus0ugG7YH4eQY3lK2M1RoWrJTbbmjEvtEZlkxTKGjN3ZHXdYQWbR2Vrg8yCLA2NdcXtXFLmYGOwTFyhd0xNsLMiKmbPrnD87aZdBVOIjSgU0kQYWZQw6MAR9DVJsbbDy4qSI2KASkcIUqY5lQLo7HUN8QU6XtY1DhxC2Jaaf7VmxKtGHkIWyy5Q0XuxxAKhVwBfgsSWOaVBhZqoogosoCjoAAPoKMLWVO25gGAaPMqPwOr3jCRBlnkcHVWPgBxDXhNcoe00zNGAEANtXCDfEzMjLGVkYGyhTdS3vg2HKrwA2BFCDVBsPaLyznO4PsczRqrLuXMpBjfUhnAFr6Hn3EVoQKTW4AmglJsbamxt510IpEVLQyBhHYk3uRYakWs3eB+2pVqMUVTiA16ehFPVAOahYvaSI2Uhic0KGwFgZ5N2l9eup8PMVLNVeI2YXkY3srSYfEaanPA4Yr5EIn7aE13A7rtjDkMRNGQmXMQwNs5IT6kEDqQR3Gm/pnD2uJoyLKbhwdHXMvLncG48NaiJsHKIyklniSJELJmW8QlF2UEXBEzaAjuN65Yrs6XFzLeQTLiMzJwlxh/s5DIjKctrnQgg21IveqiItTtWHMq72PMwDKMw1UqWBHgQpI6gGo39LYWxk3kNiTGWuvMKGIY87ZSDr3EHkahf1a4ozvTkjCAJlNrohQ2GbJlNydUJv320qL/AFS0HtRcZ1AKOYljkVFZUjMhKn2YPvZb34baUtvIFt9vg3whUoZCrKQuUlVQAlW8NRp4jqKfD7UgfecacBkD5rC26ssjHwGYAnxFcsJsYxyqwk9mhlZEyC4M1i93vqLjQADnrfS0fGdnmcvaUKHE6H2dyI8QY2cXze8GjFmtaxIsTY0qVjLJ9r4aMG8sSBCUbiVQpUcQPS1temlcsXiMJZ43eECMid1zKoXdlZM7+A4Sb9xF+dV+2diy7srAbtIuLjZjksq4uTeG6t3A/ELmw9030kTdn8wdTJ7MiUqoTiV5wQ5Z78Q1awsOepNhV7eRErFY/Dxqju8SKQTGzZRwgC5W/IAEX8KUm1YELAyxgoQjC4upILBT42BNumvKg2vs+SWSNo3VAI5o2Yrn0l3QsFuNbK2vcQLgg2qLiuzoKgI9ishdc6l1s0axlWCspOijW41HeNKhpeRk5tqwgkGWO6rnIzDRbA3+jKfxDqKOHaMTC6yIQbahh8TmMfvgr5giqn+q4BOVwqbsR5RHo2WNYxvFDBHUBARwhhyDW0p07OMAo355oXupa4jxG/VUZ3ZlW5K8RY2OhBF6KXkCzXbEGnto9WKDiGrKQGHoWAPiQKlYecODbTKzIwPMMpsb/sPkRVLP2YVwgziwQxPmQsGQuX4QGADcRFzmGvKrfA4YrvGbnJK0tudhZUUfqopPiTTpUI7Fai4uURgG1yWVFA72dgo/O58AanAVFx+FLhbWDI6SrfkSrag+YuPWpxQ7KzDbcvZnjyRNLLAJM6kBonkW7rYZVJiax17r2qV/T0GXNmf3suXdTby9i2kWXORYE5rWsCb1FHZtCCjyyyRZ5pBEd2FDTGQtqqBjbeta57+8gGhw3ZxYwMkro4NxIseHU2yZCCqxhT1uRe/hpVdKESpNvQC/GxsbcMcrDQXJBVTcDvI0Fxe1xRTbbhUspcjKpcnJJkIChjlky5WaxBygk68qiYvszHIqgu91aRszLFITvbZgRIhBN1Ug2vcdCQRk7LoZGfeSAlWQcMJyq8YjIBZDcAC4U3HgaNhk07ZhAUlmGfrHKCoBy3kBW8Yvpd7CumF2vG826S5IV2LZWC8DqhCkgBxdjqpI4SKqR2SiGXibhuDeOBgVL58qq0ZEYBuBkt7x77EWGz9lCOTOJHYKrxojZMqK7hyAQoJ1UAXJ0Ao6UIPBbbikQOCyg20dHRhmlMKkqR3sthSPaLD6cbanLfdS297ICWy2CljlDHQm4B0NRf6vDh9rKACpIG74gk+/RWOS9gxIuLEg69a44/YEhMawuVTKiSNnUFlSbegFTE2bmw4WT3je+lq2Any9oIFzXc8BCngk4iXEYEfD7XjIXgvqQOZo8btaKIqsjFSwzDhc2W4BZiAcigkAlrAXqG3Z5bgmSQhGVo1OQCMCdZ8ostyCyKNb6C3U0tp7IM0ly7LGYjC6rl9oGYEqbqbCwtcEHU+YhtXQzs+34Be7nRnQndy2BjOV2Jy2CKdC/ug6E0f9OwWc5yRG27YiOQ3fPuykdl9owfhIW9jpUPE9mYpMpLNdTLqUie4mk3jCzoQLHkRrbrRS9l42aVs7Xl5jJAVtvFksyGO0nu5QWBYKTY3N6cUhFiNpRnXNzyc1YH2gJUEEXBNj9KjRbdgYoFc+0tlJjlA4iQl2K2XMRw3tm7r1xj7OKpW0suVcl1O7Icx58pJyXHv8gQOFbWtqI7MxCSOS5vGsSarE2bc+4czIWU9cpHIcqbSAs8DiBIgYaXuCDzVlJVlPiCCPSpF6h7OwpjQAm7FnkYjlnkcu1vC7G1SrVAwxQmlSpsASaIUqVSuQCFMaVKrAcChpUqQCp6VKhAMTSpUqQBUJpUqYCFKlSoA6UN6VKmxCBpzSpUADTNSpUmMYUYpUqSAZhQgUqVN8gFXRaVKmgBIoSKalSYCWjNKlQgBNDSpUmAS0VqVKmgP/2Q=="/>
          <p:cNvSpPr>
            <a:spLocks noChangeAspect="1" noChangeArrowheads="1"/>
          </p:cNvSpPr>
          <p:nvPr/>
        </p:nvSpPr>
        <p:spPr bwMode="auto">
          <a:xfrm>
            <a:off x="1679575" y="-1462088"/>
            <a:ext cx="4762500" cy="304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pic>
        <p:nvPicPr>
          <p:cNvPr id="1030" name="Picture 6" descr="http://www.buzzle.com/images/buzzle/guard-cell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8352" y="3880200"/>
            <a:ext cx="4164499" cy="2665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63820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Regulating Stomata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3" y="2011680"/>
            <a:ext cx="7440590" cy="4541520"/>
          </a:xfrm>
        </p:spPr>
        <p:txBody>
          <a:bodyPr>
            <a:noAutofit/>
          </a:bodyPr>
          <a:lstStyle/>
          <a:p>
            <a:r>
              <a:rPr lang="en-AU" sz="2000" dirty="0"/>
              <a:t>When water moves in, the turgor (rigidity) of the guard cells increases causing them to swell and this opens the stomata.</a:t>
            </a:r>
          </a:p>
          <a:p>
            <a:r>
              <a:rPr lang="en-US" sz="2000" dirty="0"/>
              <a:t>The action that causes water to enter the guard cells is triggered by the uptake of potassium ions (K</a:t>
            </a:r>
            <a:r>
              <a:rPr lang="en-US" sz="2000" baseline="30000" dirty="0"/>
              <a:t>+</a:t>
            </a:r>
            <a:r>
              <a:rPr lang="en-US" sz="2000" dirty="0"/>
              <a:t>) into the cells.  This is stimulated by light hitting the leaves and potassium ions move into the guard cells by active transport.</a:t>
            </a:r>
          </a:p>
          <a:p>
            <a:pPr lvl="1"/>
            <a:r>
              <a:rPr lang="en-US" sz="2000" dirty="0"/>
              <a:t>This increases the concentration gradient so water enters by osmosis.  The guard cells swell opening the stomata.</a:t>
            </a:r>
          </a:p>
          <a:p>
            <a:pPr lvl="1"/>
            <a:r>
              <a:rPr lang="en-US" sz="2000" dirty="0"/>
              <a:t>When K</a:t>
            </a:r>
            <a:r>
              <a:rPr lang="en-US" sz="2000" baseline="30000" dirty="0"/>
              <a:t>+</a:t>
            </a:r>
            <a:r>
              <a:rPr lang="en-US" sz="2000" dirty="0"/>
              <a:t> ions move out of the guard cells (in the dark), water leaves via osmosis, guard cells go limp and the stomata close.</a:t>
            </a:r>
          </a:p>
          <a:p>
            <a:r>
              <a:rPr lang="en-AU" sz="2000" dirty="0"/>
              <a:t>The opening and closing of the stomata can also be in response to carbon dioxide levels as the guard cells contain chloroplasts which produce glucose.</a:t>
            </a:r>
          </a:p>
        </p:txBody>
      </p:sp>
      <p:pic>
        <p:nvPicPr>
          <p:cNvPr id="4" name="Picture 8" descr="http://www.phschool.com/science/biology_place/labbench/lab9/images/stoma1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8213" y="2213397"/>
            <a:ext cx="3193161" cy="1712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http://www.phschool.com/science/biology_place/labbench/lab9/images/stoma2.gi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0860" y="4243425"/>
            <a:ext cx="3193160" cy="1725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41361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Regulating Stomata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idx="1"/>
          </p:nvPr>
        </p:nvSpPr>
        <p:spPr>
          <a:xfrm>
            <a:off x="581191" y="5577840"/>
            <a:ext cx="11029615" cy="1120544"/>
          </a:xfrm>
        </p:spPr>
        <p:txBody>
          <a:bodyPr>
            <a:normAutofit/>
          </a:bodyPr>
          <a:lstStyle/>
          <a:p>
            <a:r>
              <a:rPr lang="en-AU" dirty="0"/>
              <a:t>Light plays an important role in regulating the opening and closing of the stomata.  As such, stomata are generally open during the day and closed at night.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23907" t="1301"/>
          <a:stretch/>
        </p:blipFill>
        <p:spPr>
          <a:xfrm>
            <a:off x="2016633" y="2005681"/>
            <a:ext cx="8158730" cy="3664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0432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259" y="587855"/>
            <a:ext cx="10171063" cy="3898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7842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Regulating Stomata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1" y="1609416"/>
            <a:ext cx="6606778" cy="5059944"/>
          </a:xfrm>
        </p:spPr>
        <p:txBody>
          <a:bodyPr>
            <a:normAutofit/>
          </a:bodyPr>
          <a:lstStyle/>
          <a:p>
            <a:r>
              <a:rPr lang="en-US" sz="2000" dirty="0"/>
              <a:t>The movement of gases in leaves depends on simple diffusion and happens locally over short distances. No transport system is used.</a:t>
            </a:r>
          </a:p>
          <a:p>
            <a:r>
              <a:rPr lang="en-US" sz="2000" dirty="0"/>
              <a:t>Plants need to balance their gaseous requirements with their ability to withstand water loss.</a:t>
            </a:r>
          </a:p>
          <a:p>
            <a:r>
              <a:rPr lang="en-US" sz="2000" dirty="0"/>
              <a:t>In drought - guard cells lose water and close stomata. </a:t>
            </a:r>
          </a:p>
          <a:p>
            <a:pPr lvl="1"/>
            <a:r>
              <a:rPr lang="en-US" sz="2000" dirty="0"/>
              <a:t>This reduces water loss but cuts CO</a:t>
            </a:r>
            <a:r>
              <a:rPr lang="en-US" sz="2000" baseline="-25000" dirty="0"/>
              <a:t>2</a:t>
            </a:r>
            <a:r>
              <a:rPr lang="en-US" sz="2000" dirty="0"/>
              <a:t> supply.</a:t>
            </a:r>
          </a:p>
          <a:p>
            <a:pPr lvl="1"/>
            <a:r>
              <a:rPr lang="en-US" sz="2000" dirty="0"/>
              <a:t>This restricts photosynthesis,</a:t>
            </a:r>
          </a:p>
          <a:p>
            <a:pPr lvl="1"/>
            <a:r>
              <a:rPr lang="en-US" sz="2000" dirty="0"/>
              <a:t>and reduces overall plant growth.</a:t>
            </a:r>
          </a:p>
          <a:p>
            <a:endParaRPr lang="en-AU" dirty="0"/>
          </a:p>
        </p:txBody>
      </p:sp>
      <p:pic>
        <p:nvPicPr>
          <p:cNvPr id="9" name="Picture 2" descr="stomadia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5943" y="2488452"/>
            <a:ext cx="3807857" cy="3560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9932807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Regulating Stomata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581192" y="2011680"/>
            <a:ext cx="7272639" cy="4846320"/>
          </a:xfrm>
        </p:spPr>
        <p:txBody>
          <a:bodyPr>
            <a:normAutofit/>
          </a:bodyPr>
          <a:lstStyle/>
          <a:p>
            <a:r>
              <a:rPr lang="en-US" sz="2000" dirty="0"/>
              <a:t>Why not leave the stomata open?</a:t>
            </a:r>
          </a:p>
          <a:p>
            <a:pPr lvl="1"/>
            <a:r>
              <a:rPr lang="en-US" sz="1800" dirty="0"/>
              <a:t>Remember that for gases to pass across the cell membrane they must be dissolved in water, thus a film of water must surround the guard cells.  Therefore, plants are constantly losing water.</a:t>
            </a:r>
          </a:p>
          <a:p>
            <a:pPr lvl="1"/>
            <a:r>
              <a:rPr lang="en-US" sz="1800" dirty="0"/>
              <a:t>The loss of water is called transpiration.</a:t>
            </a:r>
          </a:p>
          <a:p>
            <a:pPr lvl="1"/>
            <a:r>
              <a:rPr lang="en-US" sz="1800" dirty="0"/>
              <a:t>Without closing guard cells the plants would become very dehydrated.</a:t>
            </a:r>
            <a:endParaRPr lang="en-US" sz="1800" dirty="0">
              <a:hlinkClick r:id="rId3"/>
            </a:endParaRPr>
          </a:p>
          <a:p>
            <a:pPr lvl="1"/>
            <a:endParaRPr lang="en-US" sz="1800" dirty="0"/>
          </a:p>
          <a:p>
            <a:pPr lvl="1"/>
            <a:r>
              <a:rPr lang="en-US" sz="1800" dirty="0"/>
              <a:t>Video on stomata                          </a:t>
            </a:r>
            <a:r>
              <a:rPr lang="en-US" sz="1800" dirty="0">
                <a:hlinkClick r:id="rId4"/>
              </a:rPr>
              <a:t>https://www.britannica.com/video/21899/Microphotography-animation-stomate-function</a:t>
            </a:r>
            <a:endParaRPr lang="en-US" sz="1800" dirty="0"/>
          </a:p>
          <a:p>
            <a:pPr lvl="1"/>
            <a:r>
              <a:rPr lang="en-US" sz="1800" dirty="0"/>
              <a:t>https://www.youtube.com/watch?v=JQvdXX7hGqI</a:t>
            </a:r>
            <a:endParaRPr lang="en-US" dirty="0"/>
          </a:p>
          <a:p>
            <a:endParaRPr lang="en-US" dirty="0"/>
          </a:p>
        </p:txBody>
      </p:sp>
      <p:pic>
        <p:nvPicPr>
          <p:cNvPr id="5122" name="Picture 2" descr="http://www.colorado.edu/geography/class_homepages/geog_3251_sum08/01_stomata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9704" y="2670718"/>
            <a:ext cx="3492245" cy="3207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32937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Sensitivity of Stomata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581192" y="1890348"/>
            <a:ext cx="10200415" cy="2715354"/>
          </a:xfrm>
        </p:spPr>
        <p:txBody>
          <a:bodyPr>
            <a:normAutofit/>
          </a:bodyPr>
          <a:lstStyle/>
          <a:p>
            <a:r>
              <a:rPr lang="en-US" sz="2000" dirty="0"/>
              <a:t>Number and appearance of stomata depend on several environmental conditions.</a:t>
            </a:r>
          </a:p>
          <a:p>
            <a:pPr lvl="1"/>
            <a:r>
              <a:rPr lang="en-US" sz="2000" dirty="0"/>
              <a:t>Moist (high humidity, high rainfall) = stomata open.  Plants found in these climates also often have more stomata.</a:t>
            </a:r>
          </a:p>
          <a:p>
            <a:pPr lvl="1"/>
            <a:r>
              <a:rPr lang="en-US" sz="2000" dirty="0"/>
              <a:t>Hot, dry weather with low humidity = more stomata closed.  Plants found in these climates also often have fewer stomata. In some, the stomata are protected to reduce water loss.</a:t>
            </a:r>
          </a:p>
          <a:p>
            <a:pPr lvl="1"/>
            <a:r>
              <a:rPr lang="en-US" sz="2000" dirty="0"/>
              <a:t>Low CO</a:t>
            </a:r>
            <a:r>
              <a:rPr lang="en-US" sz="2000" baseline="-25000" dirty="0"/>
              <a:t>2</a:t>
            </a:r>
            <a:r>
              <a:rPr lang="en-US" sz="2000" dirty="0"/>
              <a:t> levels = stomata open.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AC63D2A-890B-459B-8655-5F9BBF346E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5625" y="4667251"/>
            <a:ext cx="5527541" cy="2020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5361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847528" y="1556792"/>
            <a:ext cx="2952329" cy="446449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404664"/>
            <a:ext cx="7239000" cy="936104"/>
          </a:xfrm>
        </p:spPr>
        <p:txBody>
          <a:bodyPr>
            <a:normAutofit/>
          </a:bodyPr>
          <a:lstStyle/>
          <a:p>
            <a:r>
              <a:rPr lang="en-AU" dirty="0"/>
              <a:t>Gas movement Through the plant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31904" y="3676649"/>
            <a:ext cx="6356038" cy="2901309"/>
          </a:xfrm>
        </p:spPr>
        <p:txBody>
          <a:bodyPr>
            <a:normAutofit/>
          </a:bodyPr>
          <a:lstStyle/>
          <a:p>
            <a:r>
              <a:rPr lang="en-AU" sz="2000" dirty="0"/>
              <a:t>Once through the stomata simple diffusion spreads the gases to the other plant cells.</a:t>
            </a:r>
          </a:p>
          <a:p>
            <a:r>
              <a:rPr lang="en-AU" sz="2000" dirty="0"/>
              <a:t>The cells of plants structures are loosely packed meaning that gas can diffuse through the spaces with no need for a transport system.</a:t>
            </a:r>
          </a:p>
        </p:txBody>
      </p:sp>
      <p:pic>
        <p:nvPicPr>
          <p:cNvPr id="4098" name="Picture 2" descr="http://users.rcn.com/jkimball.ma.ultranet/BiologyPages/S/stoma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7528" y="1731640"/>
            <a:ext cx="2952329" cy="4294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https://xylemup.files.wordpress.com/2012/11/movement2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4982" y="1556792"/>
            <a:ext cx="3556086" cy="2507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42258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Beyond the Leaf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xfrm>
            <a:off x="581192" y="2044856"/>
            <a:ext cx="7305508" cy="4371975"/>
          </a:xfrm>
        </p:spPr>
        <p:txBody>
          <a:bodyPr>
            <a:normAutofit/>
          </a:bodyPr>
          <a:lstStyle/>
          <a:p>
            <a:r>
              <a:rPr lang="en-US" sz="2000" dirty="0"/>
              <a:t>In the roots and stem gas exchange occurs in the outer layer of cells.</a:t>
            </a:r>
          </a:p>
          <a:p>
            <a:r>
              <a:rPr lang="en-US" sz="2000" b="1" dirty="0"/>
              <a:t>Lenticels</a:t>
            </a:r>
            <a:r>
              <a:rPr lang="en-US" sz="2000" dirty="0"/>
              <a:t> break though the bark and allow air to diffuse through.</a:t>
            </a:r>
          </a:p>
          <a:p>
            <a:r>
              <a:rPr lang="en-AU" sz="2000" dirty="0"/>
              <a:t>Lenticels</a:t>
            </a:r>
            <a:r>
              <a:rPr lang="en-AU" sz="2000" b="1" dirty="0"/>
              <a:t> </a:t>
            </a:r>
            <a:r>
              <a:rPr lang="en-AU" sz="2000" dirty="0"/>
              <a:t>are a porous tissue consisting of cells with large intercellular spaces. Found on the bark of woody stems and roots of flowering plants.</a:t>
            </a:r>
            <a:r>
              <a:rPr lang="en-AU" sz="2000" baseline="30000" dirty="0"/>
              <a:t> </a:t>
            </a:r>
            <a:r>
              <a:rPr lang="en-AU" sz="2000" dirty="0"/>
              <a:t> It functions as a pore, providing a pathway for the direct exchange of gases between the internal tissues and atmosphere through the bark, which is otherwise impermeable to gases.</a:t>
            </a:r>
            <a:endParaRPr lang="en-US" sz="2000" dirty="0"/>
          </a:p>
          <a:p>
            <a:r>
              <a:rPr lang="en-US" sz="2000" dirty="0"/>
              <a:t>Once inside the outer layers and within the plant, diffusion is used in the spongy tissue to spread the gases to all cells.</a:t>
            </a:r>
          </a:p>
        </p:txBody>
      </p:sp>
      <p:pic>
        <p:nvPicPr>
          <p:cNvPr id="8198" name="Picture 6" descr="lentic~1"/>
          <p:cNvPicPr>
            <a:picLocks noGrp="1" noChangeAspect="1" noChangeArrowheads="1"/>
          </p:cNvPicPr>
          <p:nvPr>
            <p:ph type="clipArt" sz="half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5480" y="2617662"/>
            <a:ext cx="2484470" cy="3799169"/>
          </a:xfrm>
        </p:spPr>
      </p:pic>
      <p:pic>
        <p:nvPicPr>
          <p:cNvPr id="8" name="Picture 2" descr="florenc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2605" y="441169"/>
            <a:ext cx="2832224" cy="2069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14362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581192" y="657737"/>
            <a:ext cx="11029616" cy="1013800"/>
          </a:xfrm>
        </p:spPr>
        <p:txBody>
          <a:bodyPr/>
          <a:lstStyle/>
          <a:p>
            <a:r>
              <a:rPr lang="en-US" dirty="0"/>
              <a:t>Gas Exchange in aquatic plants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581192" y="2180496"/>
            <a:ext cx="6659193" cy="4019767"/>
          </a:xfrm>
        </p:spPr>
        <p:txBody>
          <a:bodyPr/>
          <a:lstStyle/>
          <a:p>
            <a:r>
              <a:rPr lang="en-US" sz="2000" dirty="0"/>
              <a:t>Water plants have special adaptations to allow exchange of gases with their moist environment.</a:t>
            </a:r>
          </a:p>
          <a:p>
            <a:r>
              <a:rPr lang="en-US" sz="2000" dirty="0"/>
              <a:t>Some plants (like Water lilies) have their leaves floating on the water surface.  They have their stomata on the top surface of the leaf.</a:t>
            </a:r>
          </a:p>
          <a:p>
            <a:r>
              <a:rPr lang="en-US" sz="2000" dirty="0"/>
              <a:t>Mangroves have aerial root system above the water line.</a:t>
            </a:r>
          </a:p>
          <a:p>
            <a:r>
              <a:rPr lang="en-US" sz="2000" dirty="0"/>
              <a:t>Submerged plants are able to exchange gases with the water across the epidermis.</a:t>
            </a:r>
          </a:p>
          <a:p>
            <a:endParaRPr lang="en-US" dirty="0"/>
          </a:p>
        </p:txBody>
      </p:sp>
      <p:pic>
        <p:nvPicPr>
          <p:cNvPr id="6146" name="Picture 2" descr="http://thumbs.dreamstime.com/x/lily-pads-7551506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4607" y="1152525"/>
            <a:ext cx="3626478" cy="2420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4" descr="data:image/jpeg;base64,/9j/4AAQSkZJRgABAQAAAQABAAD/2wCEAAkGBxQTEhUUExMVFhUXGB4XGBgYGBoaHRoYHBcaGBcVGBgYHCggGB0lHxgaITEhJSkrLi4uFyAzODMsNygtLiwBCgoKDg0OGhAQGywkICQsLCw0LCwsLCwsLDQsLywsLCwsLCwsLCwsLCwsLCwsLCwsLCwsLCwsLCwsLCwsLCwsLP/AABEIAMIBAwMBIgACEQEDEQH/xAAcAAACAwEBAQEAAAAAAAAAAAAEBQACAwYBBwj/xAA8EAABAgUCBAQEBAUDBAMAAAABAhEAAxIhMQRBBSJRYRNxgZEyobHwFELB0QZSYuHxFSMzcoKSskNzov/EABgBAAMBAQAAAAAAAAAAAAAAAAABAgME/8QAJBEAAwACAgICAQUAAAAAAAAAAAERAiESMQNBE1FhIjJxgZH/2gAMAwEAAhEDEQA/APuMSMNLqAsODG8AEiRIkAEjx4iu0DzNSEhyR2vCbgqExIxRPH99o0KoE6OlopMxaMlzvRjf+0YztYlKuY3/AEhckKlwOU3232P3vHgKcZF3/f6wNN1QJVSQogO3qN/K/tA2qkrCHSAS+b2DvZhYZeFfoijhaklObYsf2hSlkLSCB1e+QzDu94GRqFU1AMDdQsQCzFIY9sQKdcXcum5Z7sMBQctfbyjnzybYnlRvM1dlUm4ALF8dQPsRXh0x6lK2sAN+/XDZ6QrHEWOCQbNa923y99o3RxPkYjJ322a+HH1hY+R3YUdfiLJYgvb52HnBKJnpCAcQpVysU1PfF2t2aN0cQdSUXfsQx3De0a4+VNwayHCiDZ7i/wDeIk3Zw/3eF2j1AUoudiA+4yXawbvF9RPSio3cb7ZxaLeaSpSfsYvEBjnFcQWMg8pD72zZ2cf2eDuHa6oVqKRZs73Jzgfe0LHypuByQ2iQv0uuqUoEgMbdx1aCNHOK0uQ3Tyisc1l0NNMIiRIkWMkSJEgAkSJEgAkSJEgAkSJEgATcN10tTlJZ2uBdTZ8292hwDHDcMlpFKSspU91OzWsWfY/Uw+XxZMlkFVQA5SxL4FyPOM8fImq2Z45TseQDqdbSopY4d2jFfEwqWCAeZ2D0qtn17QqnauyaqwVYu93+Rs0Z+byxfpG8vod6nVjwze5DdD9YRrSonlN/iIJsHwR1LWgSTq6bVk3bf9T8h3i+unpAKgUubh2BIJFn2O8YvyPLshuhkvWKBIqIIzbe1u17Q70upC7EX/b9e3aOATrGJFwPylmBHbrffvDDR8fDtUEk53Itawt136er8efHoFlB/q+IUKUoJq/LgsGzzdy0I9XOQFJJXdwkpF2A/MOh7xnxTiqitNhkWfNrKa7A2zb2heOJgLKSHqJQru6nSHZw1h0YDtBk3kwbGelUkrKpSjylQLlqgQWAHp0jca9S10Z2yxD7+rbjbpALCYUKEsoIqT4bBgA9RUWt+Vu79Yo6UqSoqKgpJpp2OHbBBq94kAzX6ylkg0hJa3Uu7sWH7wHM4gki9LWcm4372uLQp1s4ipXxAXDi9x8Q2iafVOKUhyxYEHBAfzNoOtkXY1TNCmNSQWdOCwZ7DyjWdNUuhKVdlPgF3B6gWhZLnJAdQCFJLlnLGkAhg473+cVma8IQopUAQ7+gw2zdIGqOm6tWVqUEvZ+uQw9vveGkjXMlgL0uNwDSWD9do4zQ6sgOkEWqc+zAdT+0Ey5yiixFzYuQxLDbzPvDWgR0+nnEKId8F+hDWPd7PDZE0XJIdXezHq+1o5rQkJYjB5di1me+PWD9OsBTKDsLF+zh3sethGeTfY6FcSSzkMUuXY2YGyT3dr9m6QnPFFgtteo9L2t95ims1Ll6WCrsXbYs339IWzJlRS3NewJzZ37j9oh7Jp0eh4i6q70BJHRiQ4xb7aOs4LPK5SSW9I+ZSVF6cBy+4N7XPWO44Br0JSU/Pqdh8hG/hy45R9FYPZ0kSMpc8Hsdx0jWO43pIkSJABIkSJABIkSJABIkSJAB8ilauxdx8JJ7OM779todSikPWbG7EA4wX+9xHDaPV1qCir4cgEuwLjAtmCdVripQNQAIJFqrsGHXY2jheLOU7KVrySFAhRGxDFL7i7vvjcRnN1qiQtlEBgAQWBucPfp0/XmNBNMwpTLJ5t8WYk7/ACh7qNGJSaUrUoA1ZwGsCG5i/T2tAlB0Dn8ZoWXBIBI5bOHvtYv7PB+h1HjhVbuwSlNrAE3PXGd2yI5XUImBbJqALv8A0jD7X+9oY8LrF0rLFQSOUuUbAbAO49YqaCj7iYl0AKIZBZLO5swsMehhRI0xNJRMCmBBBDEk2YO1UCa1Y8UAHKicg3Ln2Dj2gbQ6GYtJmIsRcqBvZ05F+kITOpTpmAVMmipAsLGwT8Jvth8OXLmOZ4uZctYUhRNbq6cuA3TJvBekVPUsBRuAxyTZOwNrAjtDCRwYeI04hY6FwQlio5Z8jG5irAoDouJzSZaaQRdklyk91GnyHmMYi8zWTEhpspLJcsEtdICqT1zaN+M6slQly1UpSPhA+Ji4DjYsPn1hPqdcsIBdizZLAsCR6t52zB36HRj+KLBZpAAe9naxDYaCdPqkpCPDApuogu5OxD4H7+/NStR4ktKVkkghPz5b9LfWM9LNJUqnAu2zBuhvj6QngJqDVWrUpYBUQ5dbDtzZ3ff5RrqOEJXLBlqKipYywZwQ5bOdgMwrGuCS8ypQcH+W469dv7QfrJq0gcwpDuALhRen9b+UISMkKTKStCxUpJL5FnpChUOptbBiS5lQAACSSwJLYuRcsM4gRE9KyAVEqNiSAC1W5cuXADdoxCKRz/zc122F6mLYyHimqM6bTLUJhKHqDkdzsM94KTrKAlKnKlHGSFXOXz+0I5K6VcpLFLv/AJ6Y9oaSNQAqspCSD8RfmcMM7tgjp7Y5LY0EI4qV1JIJSTVSBdmfGwH0ED6jhYJQrxCzlwE2SrNrt0s8TVa6SnkoAmMWUA2SckeWMgC0CyuJBSLKIVUCUPbDE3+KwiWn2hbQRopoTUlVlIYAJYsQSQTtlob8LUtR+EB2Zi1yblz6vC/TSZWUF3NyTm7uw/eGidYkFL/C16bC1ge+c2gWbQD3QcQ/5HKXSBu93IAHXbEPNLNCkgjpHAsoTFFNkgMFLdlE3ct38toecC1RcJLF3BJOD26f4jpw8v8AhpjkdO8exzyuKUFVN0jaw7Wc9oM0vGUq8yzD9PNo1+XGmnJDWJA6dWglnDxslYOI0qKpaJEiQwJEiRIAPg3D+HIpUVWqAN3qSB0wP8QPruH8xZQdJIDqLGzOHP28b61YlJUAAQFMxUSzl2JUb4+Y6RidapRdKkHluk+TuFOz7NHNs5NmPDeLK06mZwrlLhrbNlrtbtDiZqFNUtLVkENbF/y2L7whOsQpSCtwww27m4IDm7+x6RVeqrCkygf5lYbZNnv184OHsoaauY5FM0qtQEufZQ9/eL6H8RNWQt2CgAokJCbcjCzkMLfWBuHT0JQsLSFLTzOmzBNIZw13LtvfoYcStalEkKTXcfEUGlKgSkE3sLkv0GOjzX0Js84PwJSZlWoSyQXQkEuRgEsctjuTB2s4xKlABN1ks1vhG3Kbm4+cIOH8QBMtSphJd6c2pZjsHbEDr1wUJgRLckhj3/Mb9+nWISd2N7H3ByhzMKVFSHpK3YFWC1w4A6jaDtRxdCFJqKRhJcMCwuDftt07QmktKT4ZmqCibMzeIQHY7O9uwgSahBCgpRIqrFRAL3BJbvf0hcdknmq1SFAEBSR+dnD5s+23tAi56lAgIVSLCkMD0qte7qJPQReYtBUAtBUlLkqDmzvenODDmRKUsS6QUSgRZjSUm5ubgMSb9do0XoBTq1JQSDgEJawLpSoEtuHLxvw/RkpCwEoKyalG5AADWF/Me8KtfOEtRSU8xF7NzXdXd8vGP49SigEkBAxjIL+7Q3WN7GvGZpcKJHx2AvYUuq5tYdNokibWEluYm7G9Jxaq7eUL5s1NYXMJJJZgQLWN3wLiDpgl0E1pQRdJyoncXNzY26naFEtCk0baiRLSkTqSADcfru987eUZ/igqUpQDEm/RuUDJ6l3ffEU0uuIDBVQatiAx2ILeX/6vdo316jOSlW7FKQAAlndYA2a3s0Q77F12ey11AhJLBNjhhSBZ8Xv6jrDDiGpMmWtSg9Qov+ZTOkebh4VaeQoLZdkgbHIADO3l5F+0W4xPsDcioZA6EOXHc7jMQ1WX/AHpdWopJKi4YNsBf2H7QfLnFLJKUqBcPh2vm/WE80skFiFHqMtljj/EapWqZSyGpBUopfDh1egALxpG4N19nQ6dasAhN2Z33GBYs4B7wxlT1WQQzdhcXw2HIvHM6QsCtyzt5gktf0hlpdcQAkuVgte1uxJZ4wzT9EQ6L8cZasuCBbHzu9rPG6OIJN0A1HY4PS+f7CEc3VVMBLqU5TTghncgvf8AvGqNQ5YJL1Nc42c+R+UZpTsaY+XOrBWSSpIfBBIDksl75O/TOIHlaxHxEOkEEgZBdqSSPLaARxJRQo2QoG7gEP2NmbD9DAP45MtlKLbgOSCr0Nw5z2zG/iSkYU61XFHIoNnANgLAWudgBB2l4sAosq5O2HFjboX3jk0KJUQkqCmBJAdJq5koAYk5J2vAsrXqlrKgbpIfo/RmuQXjXPktjp9V0c+oXDGCY4ThPHwC56hkp3eyfTGI7LQarxEVffeNcM6bYZUJiRIkaFn5f4tLmJYlVTklh/Sd/eNtBpJr11IBAcIKiFnYBCW5i+wvE0mtKCoOCVWqN2FrnPtBUnWoQsqWtUwks+wHz+vWM04c11C03hk6cSV/7fKCkEEOL7swLs/nBUjg85KQEJl/1OoOzg3cADyeCtVqwEBA5UgPUl7N+a4wWF+kacJ1qFTg7lIAKibW+Hpcm1u++IlEpsNToH8QECWGALCxALuxNi2fN4W66dLTK8MrVMLAMk0h7PUEsLNi9yTHQa+YZgURSlN2e/MVM1WWFVj/AE3aOS4kUI5AUqID1D+YdRhj995/sSHHBZGkl0ljUpLqUrCTsBfJ7dox102Wj/aly3WQRc/C6nI/TpmOXRxFaalJUxV/KGpUFOKctgXDdNobSlGoLArCQFKUqpT8rmohNrki7frFvH6KaPdbrJiloqBTQc2uosx6ZAvGul1bpmGapJcjABLX2GMWHn2cGdqCgpTOJCbAhBAJAs4LsWf1+Yx0pBUmsEJNRBBBNNypzTzG3zfzaShSxqHul40JayZZcKN1HBLDrs1sn6Qb/qyJiVpPOaSQaaRSxTYJAsDZn6wi1q5QShcsrWRykFvha6mF82ZyHc9oGnTghEyk5plg3DpdSlt60/8AlEcEJYDLWrSQKruLANyjcO2bjF2hVxKQBSashk7AjGNhYjuxjBCkFgFFLtUT0JBsAHtd4pQ9YqsHFwfMe7fODoSU2aaiWHdw5CW3wgF/LMU2Ay1/oPkwxF1cxDbgDv8AD/nvGJCm+Ei3Q4Jz03MMtBOnQVOph3a2G9/1aD5UyYhJDBmBJ6AEg0uLZp/zCzSEbg4Ls/kbDzhvOn2SBdpYJALWdxnbD7sYnLszfYdwaUFoIKnrNKrXvZ79H+UaHVpKHCQqkh7Eglu1ntmOeTqypSrBnBcFmyD9flDfhkxIReZLBCqQgfEoUjnvZr+eekRl4/pjeMNtTNE9C/DsKTYksw5mG+w84QpWGYMnYs4cdw/Mf3MPkJlyrIUApLOA5sclL799yB5wo1hSJiwQUl/hYWBchj/4/PygwyiY8X9G61hMtF7Em/VmYtvk5gjTrVMS6lgEHl/muTexsH2gSfMSEpSWZrKDebADJ2gFC0hRrwT+tyG3ForLa0Nx7R0ui4qEMlSlGlQc0htwbgn/ABDjTlEwvSSFJflyGL8vUjtl45bTylJJKCKThZYJuLJCiLqKrW26PDzgYZXxAJ5kin/43OSokEuwx/aOTy4TaJiQs1M5U6fMBVSHSkqF2YBJcpe3UvFzo0lIQqYvIUKmpObAA2cneNuL64y5pmqly1pCaUOSOakBJADuxJUActgZhFInKWsBJYuHS7bZBOI7MYsE0A7nmZLSWXMCXpU5JIGcPgF//Ix7w/Wy6qlLUSbjuTt5WbMBFKaiw8SqkWsxypz+YZu2BBP+mJUASnAZipnDm6X+8w2/TEGSVEH/AG2SoGzkgm+LHIteOw/hjXzDMCancgkA5G6uu/SE38NcIVWlYlihwBWAaqBUaSDm25Y57Q+4TpVfil+FaXU4DUikOKWN8vcN5XjTHBNch4o7aJHgiRZ1H5TrUGd/Nnt0vG2jClLchzm4sWHSG6pqJkxS0qJBZgkkOWFQvgbY3iaziExIcBLABIKQHD7D0b2jOnLy9Q94cU1lU0TCQHNTszWBPm1oqeIS0r5SoMHCQ3KrsQXVcwL+OmlwlKian5r9vLfrvCoyVOawWJ/LeztbvaJ97GlXsd6riZBSt1d74ckXHTsYw1iTVeolWHb2PQWhWUgOCT5na+T17wXP1hIKi9b2IIAu4L2c9rw5Oi+P0EylUsgAVEO5szXe4uMxroilS1BalDlcMGClOGBfAZy/VmhNUVkncAquegJP0h/ptDNeUhaJiAoGkhLAm7KClHmJt5kgMXgj+iXjNnnEUlVBSy1LPwEvgCxSLvd97XxC/TqUC5DBjl2ulQDPnON29Y6HiXBZKZKTKn1S0ip3CVVGWljQT1tb9Y56epIDcyk/zbN+VnDg2x/VCfcLxCJMz4UoDqZyWwWLhJJYWJ7XjPWymmkBYUklwQC3Nzb4YlvSGEhA8RKJjSxLDWNTnlKg4FnKirsLRjqNOxFJcEVOxvcjcA7Y7xSU6KSaB16RKDSFhRIBwwDuS5JyCMdDAk5LHORt5W8nzD/U8NblUEhRShgl2FTkEC72T5c0LJqEoSy3CqnJaojDsPP1vGadIAUJJBSCWe4DNbfOf3g7SzlE0lRsCSVMNwSz5sMdXbMX4bKdI2UlTgKQFA2Jakc3MUpHQPFuJadBSJgISpQelOAl0pAyS/xE+UaNaoOFGpcdLHuNxE0esCQFqqdykMz/AA02e4brAkl+b0AcdS7jrYRrqlBNIa6Qzd9/TELHGrY+KhTRzKbJIY2vYg9XNjsYY6OSsrAAFhZ2yLt3sHhPJmJC+ZL5t0ObQw/Eip5bi3TszXz0icp6JY/myklNdAFIBDO2eZKjnyucQFxRMsy5cw2/KRktS6QH8jfvviD+H6xClgVUEppUCHTg3Gzwt4rwxJUhQXagBrgAh9ujN/iMcdOMyWmKvxVwkh0hzfby7AfeI1lSklSVLBIOwLMQpvTEbHQgUVOyviLOyfTL/pB07SgJQzEuXFgQRe7s1o6JejZL6MNNNMxbHlS9g5JS2KQ9+vvDWTQZqESiSpRUlSyoUruSlSSRylmtl4Cm6GlVMx0mkHGHumoMGyHu94b8D0SCp5xAlI5lFPROF0vVYna3UQljviLLH0jaYgy1iXOTLSFqsqamwAS1VQu4BsOp7QLO4DLUorkrlmWU1EFdkOCkFwLgM/W5tHTzjJVpjNlJDKABUtAUqjmS5ckAX6p+G1g0cdw7jC5J5FkIKWWkALBwVBllkvm35t46HisVH0RIVVoTSAkMFOlKkkrJY5DO2f8AMW1unVLmlCiolPYAkglwRgeUFzP4gSoDw5YlrYArYPa5UQGDm7eke6XUJmy1eKs1lRBccw/M4LNfBFsbxg5YiR3wME0KBmBKWUaQTTUS6hZrgAFjt3v1P8O8X8SY0wnxHIpADdLkb2+cc7/CfB5y5alywlKWCVJv/uKSonB5HwKvPvHXcI4F4VKkEC7qBSCXJDtZwWDZYbRsklioXgmdBEiRIR0n5N0M8pIBSCkd2c7YyYaSpAWomYSEgOA/fI73MAplISqtVwC7OLhhb6++8e6rXBYFIpyD3GwjN/g52q9DiUCsMkoASGN3JAGCRuYV8QSQSLXD2dyO5LXHYRgviC6BelsFJIJFskHt8owKS9Qfq/b9rQQFh7ZZLKYdmPc9e1oIlC7uQr9o8SgPuQCC/ncfflFJM5IN3cHHb3EDpWzVLIRMARUTgn8rXCgRk5t3hp/qCtSiqYo/7TISKvyMSAx2DfOE6ST8L9bsz48oK/Df7aQ45XBIDEucEvdrRL6E3o1W6pYAHK7OS3xJSb9Nh3ftFZiwmWykEFjSXvgMz5TeLasFBGMJVj+m30i89RIAJATdTbMAlQA82AiXKivZvwzRE3SxolmYq7FzMCVBuox0tBcrh+ocz6SUgl7gsQlKxjqFBoAlTFgqUVuEhZJfZcwpFIOzkqb+qM5M1QLkkGoUkEtuW7j940U5UpseaTjS9PMM1fhzUTDiZkAMygoAM1hY7GzQs46oVJ/2vDNCSxU5U6QoKJ2sym/qAgmYlYlilZFD1CpgxDF3zuG/qgLUyFzRWLul1GyQx2DlsJt5Q2psUjMtEqgAgAsxDpdvIb+3yiqtSH50myi72HXAZvJ4vP0y0LPihlAXc3fF2geQl2KmfYdR1MQt6FKNNGkBClqe1wOzFg2xu2YRTZxLlVyfbeHy9Io6cDeYp7O9IwP/AFhNxCQpEwgNY0eo5T6O8U1FCgSVuf5Q/wAwP1hlpEKASokIAL9ydgOv9490crwUqmTQ7ilCetwqojoGgzRq8RAXM5S71s73PIw2OL9oTX2Rl6CJOrSohVJHML2xvmz9jaDvClkgKcAkpSWFn5kklOC5IA6Qr0vObKYm2QkEE3Z7ODt5w70AKQ6lOnZhU/L8Js5unD2MZZKGWSgp4oSgtWC5CfL+q17d+sDDUmkAuz1X8w/33jbUSipT7qZwOhIB+e0YahA2ZnN7+YJPX9jGsiNZAiVqSUuouPhuAbm9iMeQtHRfwxrguaiWS6CbgJd0syi2VPlr+Uc9p5YKWLAEO4u3Q5YXtHsrUKQ6XLAnFjbBse7esZc46Z1s+p8b4Pp5cpS5ZAaykoNi5BStSXCSQ4PQ+kcdxbSynaVdv+Qr5Q9LiknckHpdgHd4G1XGQqXLlS6HQAFLAU61EksUgVKSPh9L7RRc5cxNarJcJJG9SbJtcMxZ32jryzTU7Hk6ATNNUmuWAoBQtuBTht+vlHY/w9oELkTPCLrSyilW7/ysbgfqY5lenIpIXSoj4QoAWKg/Y23/AGhppJyqgFM7PUNtqrfN9+jxz4t4ukLR9V4Bo0ypKUpe9yCXucs20MoU/wANTEmSKVE9XZ3PYbQ2jZdHVh0iRIkSGUfj9Ax9+kFaYOUghg+SN8273HvAwdwMZt2eC9EohYBP5xZu4fygEW1coWHZx2clg/p8otNVa5AewvbGIoHD1EkMAD2Hw39Y9QBVdgNgTbIGcNm8S0Q0FqlAoTS4UwCibvazAC2OsYTEDmZy5bYnf9TF5Y5elRcP2vfff5wRo9JUVAg1BJJNmPRj1iW4RtAq8JF3G+R2i4QCSmp9+nlbraGErQBJuL4Dlw4vjbb3gCfqWNkC3UB7dWie3oS29Buq8NTKqJazEMSE2BDm/nuQYr+IBQEi7kpu9xZi4OB/aEqprEFwWv8AW2IKkajlxdvrn5Ew3hs04tMcykJczFJDUhJLhOxLEFQsyRs3cRjJ0YUhKkmsJyEguf5Q2Qz3OzxECpuW5LD1SA1t7Ewx0QCFFiwSfDqYF1EEYNsl/wDthrZX7mWSpKW8dSKJ1lJBLgKYc2yb3G9vKH2p4lIkS16YSQSUjmLMpkcqic8r29dxHKrmpmhJmFQpfAw6wTVa5Ypv55g7WSwsI5qlSiEKNxZX/GSDs5IPYiNE9QcqB5qlKUopZSi6ri7AEKfYDHnFE6MJVKV8U1U0uP6Uml+4cKHanvFmmSQpKkMV1JqPwrdTZPbeGHAJgQJy1XKalEgZYkpZ7hzdvKFI4Eh7rAfEBSaaFUJ2LiX4hI63HqSIWp0RU86YXZ1KT1UTUxJsXubdD2jWSVTdQnKkhVajc3KElLnAB9MGLa7WhQTp0vQfhYsSzAO/8xJSPTvA1exCPUTlTVupr+yUjz9PU94vP1RCQASlLcqX2/mV1MWXKP8AKAojlF/iDDBw/TDnaF+pVyJUSxeg+YJJ9biDY5or+IIa+Lp/dj9IdJ4mpchYUslRZQB6ulKvPBPr2hDINRAAyWPY/d/SCZcuoVYSCfNrAMOwvCaFBnw/VuvG3yy3ygqYtJCihi11PyjuwPUD3EKpJpZSXFRD4dhYg+cZS5qlKIyYjInLo3lzylRpOehz/aCwFGXbqT18/L+3aBZch2SDYh92LHys7YgvTodh+Wq+b/YjNy6M/ejASCFMG7Obg4N+xHyjuv4V0qJqKK2nkkl01JSlJAL3Zbh8XvbEc5K4bVgEKfrsNm6k9OkdJwDgS0TEzEpmMFAikE3SC+2Dj/uisM/1aBnvD/4elzKpilpCEpIdSgBU/KpjdQIuO4I876TTzFTUIThX5iwAeyUqBs7XG8dGPF8RE0adQUAXHhlmLkpCQGdyS8VPD1qWVmRMJer4VB1WvZvsRvktaQnidF/D3DESwaauXluGwL+Ydz6w8hLw3WT6glcpdBHxMzHu5h1Ab4yaJEiRICj8iywWBYeubvf5xksXBvmzb2GbwYtTN5bfpAq2YW3zAmSmErFUsNkjPVizeeI8lSmFwTi/cg/rF5aR4YG7uB2IsLeQMEoYE9dvMsBFFwHXKYBtv3t99ovNrBpQaRY+vTttFZanCjmmwHU7e5DxsEGobgJDnqbJ+rwmglCDOSZYQtJL3DE26Z3gCaKTfPbyI/SGa5KCLpsAGcmxb64gZZlNWaiofEBgN8jbrGXRjUuwWdLFRLNhx8n+vyikw8wbBH39IL1E9JusMCGAGTbrcAA9jjHS2inNWulMtCLDlBUVHao3fyI+Ri0vZrx9jnhejUiWmpysuWBwNgeh27YjbVah0JdN/wDkt/NV8XUnvGIWUy0ctHLXa5S5chsk3vBrmohKkqLBTkBwC4A7Y2jHPvoxzqfQBpFpCDShRD1F832Ju23qIvoJ6ghUyYAmoUsRkAm98j2jLVTSlMyhrF2Fw4Adnz5/tC3QzlTZhQXUSk0/9SeYEebUj/qjXx4zbL8eDW2PP9XFaU0WFlAvfoSncB3bpBfEJwl6alLVzbkJGKWx2doR8Nl+IKFB1MSk4O7pvsbt3+bRcwzFhJCaE8mLjBt58w3+samjMpA8JBUsFNSEFSnpYUFCQGySdz26R7oNGgHxJjEvShIyf5CRekXDA79TDXXLFajQFeHh8XCQGGDcZ2pEc3xTUmtDs4CVEvdRTdNz0cfKDoIC8R1ZXSvHOseYASwfox+Ue6hCZqHTeohRe7KApNu4Lluhj06cVzpagQmrxUEAHlJsQHuClQOXtE06UsaFggK+FQoyMO7bHeJKSAdLoyFkFwWU9vhASef9ur+UbLIowwBIA7WJvuTck9oNUpbFNICizE5pDGm+Lt7GKzdPhDcu3mawe+/yEAoYJSaUC4f9GH6j2gaRWkunI+Q7jMMJMquWSL0uq3QpYD0YQuRpyRcHIcDo97eZ+sRktEZ4hmhnKF7vuAH6fKOiSkKSFBrMVAWLt9+wgHT6BaOZiSA5S1xuk+1oM0E5PM+4v2fd7Pn6Rl8btMlg+QfoiknBJAdnP0Ed7/CxUVNUCCD+ZixY2AybD0aOJRIPiIAClf8ATmyXBLvZ/wAvTzjvOBcOmshZTSMOLFSTeqzN0+3hLxZLOikyOrRKD1B7/bt1jQR4gMItHQbkiRIkAEiRIkAH5JEs8r2tjcl/7/OLytKV22yS+BFFqW4sPTp08v2EFI1CgCGIG/s59zDHMTSZLuQkNgP58o+Q+XnGipbK82+QDP8AOA5+qXSkBiXqFty9vR4Ina4hZb4cD2Y/fSDZShrptKQkJANyZnm2H9bQXotKVEJsbs30Ftub5RZfFkpTYBykJ8gMvbck+0b6TiyUXKWewNnwSpdt3YekJtlRA8xS703ubbYcD3hZzzVJl/CN1AYSLkq36m+5HWG+r4qhLsH5lEN/9ZOejlvQRFa6WiU6QKrlVgLg0geQY9XYRM/BPx42ir/T1TJgJNCRsXcJA6N9Wd4aS9PUEJR8LmlKSTdgEsRYl1XJJwfKA5mqCJS0uFTFEOQcuXpJ6AEpPeqHX8O6+UAk4KJbg2FyaQQMDIYdCYqlJI3m6epRpuEhYc786drPZJHlfqYx1CEyyhCQCZqmqfCFb+taWO18PBSOKy0IUFM5cAC5ust60k57CAuI62UsAg0qQyEqAsAWUhWfhwe2dmJRxC/hKySpCg6RLBIIdilQSsH/ALVEnyi0zTiQpRCXUmwuA+yRfD56WEHcGKTqp7pZJQVg2J5zLCk22OD5QDxTXSjMSqahRIqJDhg6i1muGIHkGHWFWKIZ6aUPGKwdn7qIQ6Vdh17vFOHJHikvYEKABOQrwwCcZIj3Q6sVi4dcgHAAJMxKeYuSbKsnYJOXjxXE5SEFUtN0zCgk3KkhK1pNsgqXjYGHWOIYpSVIStJ/5DQT5PQpvQZ/lhdxThniklNqVFBvjoD748swbpeMSxLSCAawkgEtdR5f+lhQx6k9IxT/ABDLSpZ51JWpJazgEKBKGFiCXYwtsNAun04VKPNUwY01YUCUlNndibDp2sBMAQEoNChdJKvivSU3Dkjm62cbPB0/lUsJL1kFRQGBYg+IkbKLJcdj1hNqdGpZqUpy9/MBn9Xhwl5IYydXLNVVqVNd3SbtnIz2IOBB+lTKdNKxa7EAWVYi1ifMbbvCJPDblydvliCtPw4JYue1+4/aCC5oM4TNl+NMQ+QbEWwXuc9x0v2gPWqEuYlRlAoIYNdJ3DFBYg2PUXxF9Poh4hPZvYERZUoODmHCHmiHWuolNgRezM+e9rXdoJRMqJILA7eocCzeu+8eeGDtt+kbyJYf77QzP5AxOomgpIUygVM1ilJIYE74j6T/AAfxqZNSlCg5AZ+w62jg9Ppart7/ALx3H8DSWew++8G7+DJ5N5nYR7HjRAIk6T2JEiQASJEiQAflROnMbolneGf4aNPwlhY5jVI5vkYtVI+r/fvF1yXViGJ08WEiCIr5AQ6dJFxs/wC8WlaJKth2+/aDkyLR7LlMYXFD+UAmaVB2GTt/S0VEhKgEsB+u8MTIjxGnuIXFC+YWL0YUC45v2/xBOk4alQAYuR8wXg3wMmNpaGbtD4jXlFw4Okgnd382UzxSbwtAAs74HlYA+8PRKYe/1ePJ2mekwcQflFGi0g8RYBIFPqwIwdv7QPqOGIe4fLv52h3KksSezR6ZLvBxF8os0/DkOOW9H0Lj6RZPDZZB5fzX+ghnLk39IsiSxMHEfygcvh6KQSl2b5P/AG9osdOlL2FiG+cMPDtGM6VC4g/KAt8RbNhA4kwwVKtFPDhwzfkAxKi6ZcEiXFhLhwXMFlSrxl4cMEojzw4UJeQMmXBWnlXi6ZcESJcEJ5DXhqOQjt0EdR/CMwVN27ffSOa0to6D+HUgKcep+/v5Rrx0CeztHiPA/i4jQLjnh2rI1iRQLj14RRaJEiQAfBk6WN/A5QILTLjUS42pwCtWmiydN2hn4UXEmAKLvw8V/DXhsqVHnhQBRZ+Hj0aeGyZMQSYQqKzp49Gnht4EeeDAFAvAtHpk2g9MqLeDBQoq/DxYyIZeBEMiGFFiZUX8GDxp49MiAdF5lxmuVDIyYoZMAUVqlxXwoZKkxXwYZNF3gxPChj4MeGTAKi8So88KDzJjwyYAoIlHaCZUu8aJlQRJlH7z9mBCN5KBbt9/flDrh628uj+Yt7/KFqJe4D/biDJKmGWw7DyvZo2g09nQp1LbE+/7YjaXO9P0hNLmEAF0nuPK/XcPGsriTC5Ibyw2eYBx5Rk8DfHIeomPv79do2Cj5wr0+tSojBzuDi/5SXx9PVlp1ggMPvONoyyxhtizZ48j148iC6fIkxomJEjQ4WaCLR7EgEexaPIkAFo9TEiQICwixjyJDEXRFxEiQDKxDEiQAQRIkSGB4YoqJEgAzVHkSJAIqYqqPYkAjyKKiRIALD794JkZHp9Y9iRSA3ln794LnLIwSLDHkI8iRshorpblL35Cb3vUL+caaOUkzCCkEDAIDDm2ESJEP2UjHTBpjC3MMdphAjqNIs+Gbn4j/wC5EexInL9peBeasubmJEiRJZ//2Q=="/>
          <p:cNvSpPr>
            <a:spLocks noChangeAspect="1" noChangeArrowheads="1"/>
          </p:cNvSpPr>
          <p:nvPr/>
        </p:nvSpPr>
        <p:spPr bwMode="auto">
          <a:xfrm>
            <a:off x="1679575" y="-2841625"/>
            <a:ext cx="7905750" cy="5924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pic>
        <p:nvPicPr>
          <p:cNvPr id="6150" name="Picture 6" descr="http://ocean.si.edu/sites/default/files/styles/colorbox_full/public/photos/Mangroves_in_Puerto_Rico.jpg?itok=novDafai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600582" y="3861048"/>
            <a:ext cx="3338217" cy="25016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42126B1-CBCA-42B4-98AA-7273E2A0EE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7883" y="3691248"/>
            <a:ext cx="4352925" cy="2959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6880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81190" y="1793216"/>
            <a:ext cx="11029615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Students will be able to: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200" dirty="0"/>
              <a:t>Identify and label stomata and guard cells.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200" dirty="0"/>
              <a:t>Describe the process of gas exchange via the stomata and the plant surface.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200" dirty="0"/>
              <a:t>Explain factors that affect the rate of gas exchange.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200" dirty="0"/>
              <a:t>Describe the process of guard cells opening and closing to allow gas exchange.</a:t>
            </a:r>
          </a:p>
          <a:p>
            <a:endParaRPr lang="en-AU" dirty="0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581190" y="969373"/>
            <a:ext cx="11029615" cy="62621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dirty="0"/>
              <a:t>Success Criteria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BC1DC1F-455C-4FDF-AF97-D1BBD3FFBB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0743" y="4083724"/>
            <a:ext cx="3401863" cy="1572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6894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417" y="689937"/>
            <a:ext cx="11029616" cy="1013800"/>
          </a:xfrm>
        </p:spPr>
        <p:txBody>
          <a:bodyPr/>
          <a:lstStyle/>
          <a:p>
            <a:r>
              <a:rPr lang="en-AU" dirty="0"/>
              <a:t>Exam review question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0348" y="702156"/>
            <a:ext cx="6936686" cy="5927244"/>
          </a:xfrm>
        </p:spPr>
      </p:pic>
    </p:spTree>
    <p:extLst>
      <p:ext uri="{BB962C8B-B14F-4D97-AF65-F5344CB8AC3E}">
        <p14:creationId xmlns:p14="http://schemas.microsoft.com/office/powerpoint/2010/main" val="25691591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Moodle &amp; Textbook Work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2699" y="2309541"/>
            <a:ext cx="2753542" cy="36105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81451" y="2468880"/>
            <a:ext cx="483325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Nelson Chapter 13</a:t>
            </a:r>
          </a:p>
          <a:p>
            <a:r>
              <a:rPr lang="en-AU" sz="2400" dirty="0"/>
              <a:t>-pg. 431</a:t>
            </a:r>
          </a:p>
          <a:p>
            <a:endParaRPr lang="en-AU" sz="2400" dirty="0"/>
          </a:p>
          <a:p>
            <a:r>
              <a:rPr lang="en-AU" sz="2400" dirty="0"/>
              <a:t>Study Guide Chapter 5.5</a:t>
            </a:r>
          </a:p>
        </p:txBody>
      </p:sp>
    </p:spTree>
    <p:extLst>
      <p:ext uri="{BB962C8B-B14F-4D97-AF65-F5344CB8AC3E}">
        <p14:creationId xmlns:p14="http://schemas.microsoft.com/office/powerpoint/2010/main" val="23003924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Student Feedback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856211" y="1772817"/>
            <a:ext cx="7622479" cy="4392487"/>
          </a:xfrm>
        </p:spPr>
        <p:txBody>
          <a:bodyPr>
            <a:normAutofit/>
          </a:bodyPr>
          <a:lstStyle/>
          <a:p>
            <a:r>
              <a:rPr lang="en-AU" sz="2000" dirty="0"/>
              <a:t>What I learnt today…..</a:t>
            </a:r>
          </a:p>
          <a:p>
            <a:endParaRPr lang="en-AU" sz="2000" dirty="0"/>
          </a:p>
          <a:p>
            <a:endParaRPr lang="en-AU" sz="2000" dirty="0"/>
          </a:p>
          <a:p>
            <a:endParaRPr lang="en-AU" sz="2000" dirty="0"/>
          </a:p>
          <a:p>
            <a:r>
              <a:rPr lang="en-AU" sz="2000" dirty="0"/>
              <a:t>What I need to revise….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720989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392</TotalTime>
  <Words>1382</Words>
  <Application>Microsoft Office PowerPoint</Application>
  <PresentationFormat>Widescreen</PresentationFormat>
  <Paragraphs>144</Paragraphs>
  <Slides>23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Arial</vt:lpstr>
      <vt:lpstr>Calibri</vt:lpstr>
      <vt:lpstr>Gill Sans MT</vt:lpstr>
      <vt:lpstr>Google Sans</vt:lpstr>
      <vt:lpstr>Noto Sans</vt:lpstr>
      <vt:lpstr>Wingdings 2</vt:lpstr>
      <vt:lpstr>Dividend</vt:lpstr>
      <vt:lpstr>11ATAR BioloGY  Week 29 – Gas Exchange in Plants</vt:lpstr>
      <vt:lpstr>Year 11 Biology Work Schedule</vt:lpstr>
      <vt:lpstr>Review</vt:lpstr>
      <vt:lpstr>Learning Intentions</vt:lpstr>
      <vt:lpstr>Plants need Oxygen too</vt:lpstr>
      <vt:lpstr>Gas exchange in plants</vt:lpstr>
      <vt:lpstr>Gas Exchange in Vascular Plants</vt:lpstr>
      <vt:lpstr>Stomata</vt:lpstr>
      <vt:lpstr>Stomata</vt:lpstr>
      <vt:lpstr>Guard Cells</vt:lpstr>
      <vt:lpstr>Regulating Stomata</vt:lpstr>
      <vt:lpstr>Regulating Stomata</vt:lpstr>
      <vt:lpstr>PowerPoint Presentation</vt:lpstr>
      <vt:lpstr>Regulating Stomata</vt:lpstr>
      <vt:lpstr>Regulating Stomata</vt:lpstr>
      <vt:lpstr>Sensitivity of Stomata</vt:lpstr>
      <vt:lpstr>Gas movement Through the plant</vt:lpstr>
      <vt:lpstr>Beyond the Leaf</vt:lpstr>
      <vt:lpstr>Gas Exchange in aquatic plants</vt:lpstr>
      <vt:lpstr>PowerPoint Presentation</vt:lpstr>
      <vt:lpstr>Exam review question</vt:lpstr>
      <vt:lpstr>Moodle &amp; Textbook Work</vt:lpstr>
      <vt:lpstr>Student Feedback</vt:lpstr>
    </vt:vector>
  </TitlesOfParts>
  <Company>Department of Education Western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28 – Gas Exchange in Plants</dc:title>
  <dc:creator>HARDINGHAM Gillian [SIDE - Sch of Isol &amp; Dist Edu]</dc:creator>
  <cp:lastModifiedBy>HARTLAND Robbert [SIDE - Sch of Isol &amp; Dist Edu]</cp:lastModifiedBy>
  <cp:revision>40</cp:revision>
  <dcterms:created xsi:type="dcterms:W3CDTF">2019-12-10T05:59:03Z</dcterms:created>
  <dcterms:modified xsi:type="dcterms:W3CDTF">2023-09-11T02:59:20Z</dcterms:modified>
</cp:coreProperties>
</file>