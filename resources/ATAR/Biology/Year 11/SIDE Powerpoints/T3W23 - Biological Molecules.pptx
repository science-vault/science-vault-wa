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77" r:id="rId1"/>
    <p:sldMasterId id="2147483694" r:id="rId2"/>
  </p:sldMasterIdLst>
  <p:notesMasterIdLst>
    <p:notesMasterId r:id="rId38"/>
  </p:notesMasterIdLst>
  <p:sldIdLst>
    <p:sldId id="256" r:id="rId3"/>
    <p:sldId id="290" r:id="rId4"/>
    <p:sldId id="269" r:id="rId5"/>
    <p:sldId id="274" r:id="rId6"/>
    <p:sldId id="270" r:id="rId7"/>
    <p:sldId id="257" r:id="rId8"/>
    <p:sldId id="272" r:id="rId9"/>
    <p:sldId id="258" r:id="rId10"/>
    <p:sldId id="275" r:id="rId11"/>
    <p:sldId id="276" r:id="rId12"/>
    <p:sldId id="277" r:id="rId13"/>
    <p:sldId id="278" r:id="rId14"/>
    <p:sldId id="259" r:id="rId15"/>
    <p:sldId id="280" r:id="rId16"/>
    <p:sldId id="281" r:id="rId17"/>
    <p:sldId id="279" r:id="rId18"/>
    <p:sldId id="260" r:id="rId19"/>
    <p:sldId id="282" r:id="rId20"/>
    <p:sldId id="283" r:id="rId21"/>
    <p:sldId id="286" r:id="rId22"/>
    <p:sldId id="287" r:id="rId23"/>
    <p:sldId id="288" r:id="rId24"/>
    <p:sldId id="289" r:id="rId25"/>
    <p:sldId id="284" r:id="rId26"/>
    <p:sldId id="261" r:id="rId27"/>
    <p:sldId id="262" r:id="rId28"/>
    <p:sldId id="263" r:id="rId29"/>
    <p:sldId id="264" r:id="rId30"/>
    <p:sldId id="265" r:id="rId31"/>
    <p:sldId id="266" r:id="rId32"/>
    <p:sldId id="267" r:id="rId33"/>
    <p:sldId id="268" r:id="rId34"/>
    <p:sldId id="285" r:id="rId35"/>
    <p:sldId id="273" r:id="rId36"/>
    <p:sldId id="271" r:id="rId3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0078" autoAdjust="0"/>
  </p:normalViewPr>
  <p:slideViewPr>
    <p:cSldViewPr snapToGrid="0">
      <p:cViewPr varScale="1">
        <p:scale>
          <a:sx n="96" d="100"/>
          <a:sy n="96" d="100"/>
        </p:scale>
        <p:origin x="58" y="36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presProps" Target="presProps.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6BC2655-EFCB-4BC3-B0CA-DF95ACBFCA3B}" type="datetimeFigureOut">
              <a:rPr lang="en-AU" smtClean="0"/>
              <a:t>2/08/2023</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CC34325-B567-45CE-9336-529EAF1237AF}" type="slidenum">
              <a:rPr lang="en-AU" smtClean="0"/>
              <a:t>‹#›</a:t>
            </a:fld>
            <a:endParaRPr lang="en-AU"/>
          </a:p>
        </p:txBody>
      </p:sp>
    </p:spTree>
    <p:extLst>
      <p:ext uri="{BB962C8B-B14F-4D97-AF65-F5344CB8AC3E}">
        <p14:creationId xmlns:p14="http://schemas.microsoft.com/office/powerpoint/2010/main" val="6257534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ECC34325-B567-45CE-9336-529EAF1237AF}" type="slidenum">
              <a:rPr lang="en-AU" smtClean="0"/>
              <a:t>1</a:t>
            </a:fld>
            <a:endParaRPr lang="en-AU"/>
          </a:p>
        </p:txBody>
      </p:sp>
    </p:spTree>
    <p:extLst>
      <p:ext uri="{BB962C8B-B14F-4D97-AF65-F5344CB8AC3E}">
        <p14:creationId xmlns:p14="http://schemas.microsoft.com/office/powerpoint/2010/main" val="18089373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T</a:t>
            </a:r>
          </a:p>
          <a:p>
            <a:r>
              <a:rPr lang="en-AU" dirty="0"/>
              <a:t>T</a:t>
            </a:r>
          </a:p>
          <a:p>
            <a:r>
              <a:rPr lang="en-AU" dirty="0"/>
              <a:t>F</a:t>
            </a:r>
          </a:p>
          <a:p>
            <a:r>
              <a:rPr lang="en-AU" dirty="0"/>
              <a:t>F</a:t>
            </a:r>
          </a:p>
        </p:txBody>
      </p:sp>
      <p:sp>
        <p:nvSpPr>
          <p:cNvPr id="4" name="Slide Number Placeholder 3"/>
          <p:cNvSpPr>
            <a:spLocks noGrp="1"/>
          </p:cNvSpPr>
          <p:nvPr>
            <p:ph type="sldNum" sz="quarter" idx="10"/>
          </p:nvPr>
        </p:nvSpPr>
        <p:spPr/>
        <p:txBody>
          <a:bodyPr/>
          <a:lstStyle/>
          <a:p>
            <a:fld id="{ECC34325-B567-45CE-9336-529EAF1237AF}" type="slidenum">
              <a:rPr lang="en-AU" smtClean="0"/>
              <a:t>4</a:t>
            </a:fld>
            <a:endParaRPr lang="en-AU"/>
          </a:p>
        </p:txBody>
      </p:sp>
    </p:spTree>
    <p:extLst>
      <p:ext uri="{BB962C8B-B14F-4D97-AF65-F5344CB8AC3E}">
        <p14:creationId xmlns:p14="http://schemas.microsoft.com/office/powerpoint/2010/main" val="14584754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Some organisms can make their own biomacromolecules. Others</a:t>
            </a:r>
            <a:r>
              <a:rPr lang="en-AU" baseline="0" dirty="0"/>
              <a:t> synthesise them from what they have ingested.</a:t>
            </a:r>
          </a:p>
          <a:p>
            <a:r>
              <a:rPr lang="en-AU" baseline="0" dirty="0"/>
              <a:t>Autotrophs build their own organic molecules from the inorganic molecules they have taken in from their surroundings. </a:t>
            </a:r>
          </a:p>
          <a:p>
            <a:r>
              <a:rPr lang="en-AU" baseline="0" dirty="0"/>
              <a:t>Heterotrophs take in organic molecules from their food.</a:t>
            </a:r>
            <a:endParaRPr lang="en-AU" dirty="0"/>
          </a:p>
        </p:txBody>
      </p:sp>
      <p:sp>
        <p:nvSpPr>
          <p:cNvPr id="4" name="Slide Number Placeholder 3"/>
          <p:cNvSpPr>
            <a:spLocks noGrp="1"/>
          </p:cNvSpPr>
          <p:nvPr>
            <p:ph type="sldNum" sz="quarter" idx="10"/>
          </p:nvPr>
        </p:nvSpPr>
        <p:spPr/>
        <p:txBody>
          <a:bodyPr/>
          <a:lstStyle/>
          <a:p>
            <a:fld id="{ECC34325-B567-45CE-9336-529EAF1237AF}" type="slidenum">
              <a:rPr lang="en-AU" smtClean="0"/>
              <a:t>6</a:t>
            </a:fld>
            <a:endParaRPr lang="en-AU"/>
          </a:p>
        </p:txBody>
      </p:sp>
    </p:spTree>
    <p:extLst>
      <p:ext uri="{BB962C8B-B14F-4D97-AF65-F5344CB8AC3E}">
        <p14:creationId xmlns:p14="http://schemas.microsoft.com/office/powerpoint/2010/main" val="5596036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p:cNvSpPr>
            <a:spLocks noGrp="1" noRot="1" noChangeAspect="1" noTextEdit="1"/>
          </p:cNvSpPr>
          <p:nvPr>
            <p:ph type="sldImg"/>
          </p:nvPr>
        </p:nvSpPr>
        <p:spPr bwMode="auto">
          <a:noFill/>
          <a:ln>
            <a:solidFill>
              <a:srgbClr val="000000"/>
            </a:solidFill>
            <a:miter lim="800000"/>
            <a:headEnd/>
            <a:tailEnd/>
          </a:ln>
        </p:spPr>
      </p:sp>
      <p:sp>
        <p:nvSpPr>
          <p:cNvPr id="14339"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dirty="0"/>
              <a:t>Sucrose, fructose, galactose, lactose, maltose</a:t>
            </a:r>
          </a:p>
        </p:txBody>
      </p:sp>
      <p:sp>
        <p:nvSpPr>
          <p:cNvPr id="4" name="Slide Number Placeholder 3"/>
          <p:cNvSpPr>
            <a:spLocks noGrp="1"/>
          </p:cNvSpPr>
          <p:nvPr>
            <p:ph type="sldNum" sz="quarter" idx="5"/>
          </p:nvPr>
        </p:nvSpPr>
        <p:spPr/>
        <p:txBody>
          <a:bodyPr/>
          <a:lstStyle/>
          <a:p>
            <a:pPr>
              <a:defRPr/>
            </a:pPr>
            <a:fld id="{8265CCF7-C6F2-435C-AB36-78C649E2A501}" type="slidenum">
              <a:rPr lang="en-US" smtClean="0"/>
              <a:pPr>
                <a:defRPr/>
              </a:pPr>
              <a:t>8</a:t>
            </a:fld>
            <a:endParaRPr lang="en-US"/>
          </a:p>
        </p:txBody>
      </p:sp>
    </p:spTree>
    <p:extLst>
      <p:ext uri="{BB962C8B-B14F-4D97-AF65-F5344CB8AC3E}">
        <p14:creationId xmlns:p14="http://schemas.microsoft.com/office/powerpoint/2010/main" val="26460112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p:cNvSpPr>
            <a:spLocks noGrp="1" noRot="1" noChangeAspect="1" noTextEdit="1"/>
          </p:cNvSpPr>
          <p:nvPr>
            <p:ph type="sldImg"/>
          </p:nvPr>
        </p:nvSpPr>
        <p:spPr bwMode="auto">
          <a:noFill/>
          <a:ln>
            <a:solidFill>
              <a:srgbClr val="000000"/>
            </a:solidFill>
            <a:miter lim="800000"/>
            <a:headEnd/>
            <a:tailEnd/>
          </a:ln>
        </p:spPr>
      </p:sp>
      <p:sp>
        <p:nvSpPr>
          <p:cNvPr id="14339"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baseline="0" dirty="0"/>
          </a:p>
        </p:txBody>
      </p:sp>
      <p:sp>
        <p:nvSpPr>
          <p:cNvPr id="4" name="Slide Number Placeholder 3"/>
          <p:cNvSpPr>
            <a:spLocks noGrp="1"/>
          </p:cNvSpPr>
          <p:nvPr>
            <p:ph type="sldNum" sz="quarter" idx="5"/>
          </p:nvPr>
        </p:nvSpPr>
        <p:spPr/>
        <p:txBody>
          <a:bodyPr/>
          <a:lstStyle/>
          <a:p>
            <a:pPr>
              <a:defRPr/>
            </a:pPr>
            <a:fld id="{8265CCF7-C6F2-435C-AB36-78C649E2A501}" type="slidenum">
              <a:rPr lang="en-US" smtClean="0"/>
              <a:pPr>
                <a:defRPr/>
              </a:pPr>
              <a:t>13</a:t>
            </a:fld>
            <a:endParaRPr lang="en-US"/>
          </a:p>
        </p:txBody>
      </p:sp>
    </p:spTree>
    <p:extLst>
      <p:ext uri="{BB962C8B-B14F-4D97-AF65-F5344CB8AC3E}">
        <p14:creationId xmlns:p14="http://schemas.microsoft.com/office/powerpoint/2010/main" val="26717954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p:cNvSpPr>
          <p:nvPr>
            <p:ph type="sldNum" sz="quarter" idx="5"/>
          </p:nvPr>
        </p:nvSpPr>
        <p:spPr>
          <a:ln/>
        </p:spPr>
        <p:txBody>
          <a:bodyPr/>
          <a:lstStyle/>
          <a:p>
            <a:fld id="{AE8EE2E0-8FD3-492D-BCDE-33E8B457E55D}" type="slidenum">
              <a:rPr lang="en-US" altLang="en-US"/>
              <a:pPr/>
              <a:t>14</a:t>
            </a:fld>
            <a:endParaRPr lang="en-US" altLang="en-US"/>
          </a:p>
        </p:txBody>
      </p:sp>
      <p:sp>
        <p:nvSpPr>
          <p:cNvPr id="246786" name="Rectangle 2"/>
          <p:cNvSpPr>
            <a:spLocks noGrp="1" noRot="1" noChangeAspect="1" noChangeArrowheads="1" noTextEdit="1"/>
          </p:cNvSpPr>
          <p:nvPr>
            <p:ph type="sldImg"/>
          </p:nvPr>
        </p:nvSpPr>
        <p:spPr>
          <a:ln/>
        </p:spPr>
      </p:sp>
      <p:sp>
        <p:nvSpPr>
          <p:cNvPr id="246787" name="Rectangle 3"/>
          <p:cNvSpPr>
            <a:spLocks noGrp="1"/>
          </p:cNvSpPr>
          <p:nvPr>
            <p:ph type="body" idx="1"/>
          </p:nvPr>
        </p:nvSpPr>
        <p:spPr/>
        <p:txBody>
          <a:bodyPr/>
          <a:lstStyle/>
          <a:p>
            <a:endParaRPr lang="en-US" altLang="en-US"/>
          </a:p>
        </p:txBody>
      </p:sp>
    </p:spTree>
    <p:extLst>
      <p:ext uri="{BB962C8B-B14F-4D97-AF65-F5344CB8AC3E}">
        <p14:creationId xmlns:p14="http://schemas.microsoft.com/office/powerpoint/2010/main" val="11011594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p:cNvSpPr>
          <p:nvPr>
            <p:ph type="sldNum" sz="quarter" idx="5"/>
          </p:nvPr>
        </p:nvSpPr>
        <p:spPr>
          <a:ln/>
        </p:spPr>
        <p:txBody>
          <a:bodyPr/>
          <a:lstStyle/>
          <a:p>
            <a:fld id="{A887BA69-E7F4-4FB3-BCE4-006AAC133FBD}" type="slidenum">
              <a:rPr lang="en-US" altLang="en-US"/>
              <a:pPr/>
              <a:t>15</a:t>
            </a:fld>
            <a:endParaRPr lang="en-US" altLang="en-US"/>
          </a:p>
        </p:txBody>
      </p:sp>
      <p:sp>
        <p:nvSpPr>
          <p:cNvPr id="247810" name="Rectangle 2"/>
          <p:cNvSpPr>
            <a:spLocks noGrp="1" noRot="1" noChangeAspect="1" noChangeArrowheads="1" noTextEdit="1"/>
          </p:cNvSpPr>
          <p:nvPr>
            <p:ph type="sldImg"/>
          </p:nvPr>
        </p:nvSpPr>
        <p:spPr>
          <a:ln/>
        </p:spPr>
      </p:sp>
      <p:sp>
        <p:nvSpPr>
          <p:cNvPr id="247811" name="Rectangle 3"/>
          <p:cNvSpPr>
            <a:spLocks noGrp="1"/>
          </p:cNvSpPr>
          <p:nvPr>
            <p:ph type="body" idx="1"/>
          </p:nvPr>
        </p:nvSpPr>
        <p:spPr/>
        <p:txBody>
          <a:bodyPr/>
          <a:lstStyle/>
          <a:p>
            <a:endParaRPr lang="en-US" altLang="en-US"/>
          </a:p>
        </p:txBody>
      </p:sp>
    </p:spTree>
    <p:extLst>
      <p:ext uri="{BB962C8B-B14F-4D97-AF65-F5344CB8AC3E}">
        <p14:creationId xmlns:p14="http://schemas.microsoft.com/office/powerpoint/2010/main" val="16609867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p:cNvSpPr>
            <a:spLocks noGrp="1" noRot="1" noChangeAspect="1" noTextEdit="1"/>
          </p:cNvSpPr>
          <p:nvPr>
            <p:ph type="sldImg"/>
          </p:nvPr>
        </p:nvSpPr>
        <p:spPr bwMode="auto">
          <a:noFill/>
          <a:ln>
            <a:solidFill>
              <a:srgbClr val="000000"/>
            </a:solidFill>
            <a:miter lim="800000"/>
            <a:headEnd/>
            <a:tailEnd/>
          </a:ln>
        </p:spPr>
      </p:sp>
      <p:sp>
        <p:nvSpPr>
          <p:cNvPr id="14339"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dirty="0"/>
          </a:p>
        </p:txBody>
      </p:sp>
      <p:sp>
        <p:nvSpPr>
          <p:cNvPr id="4" name="Slide Number Placeholder 3"/>
          <p:cNvSpPr>
            <a:spLocks noGrp="1"/>
          </p:cNvSpPr>
          <p:nvPr>
            <p:ph type="sldNum" sz="quarter" idx="5"/>
          </p:nvPr>
        </p:nvSpPr>
        <p:spPr/>
        <p:txBody>
          <a:bodyPr/>
          <a:lstStyle/>
          <a:p>
            <a:pPr>
              <a:defRPr/>
            </a:pPr>
            <a:fld id="{8265CCF7-C6F2-435C-AB36-78C649E2A501}" type="slidenum">
              <a:rPr lang="en-US" smtClean="0"/>
              <a:pPr>
                <a:defRPr/>
              </a:pPr>
              <a:t>17</a:t>
            </a:fld>
            <a:endParaRPr lang="en-US"/>
          </a:p>
        </p:txBody>
      </p:sp>
    </p:spTree>
    <p:extLst>
      <p:ext uri="{BB962C8B-B14F-4D97-AF65-F5344CB8AC3E}">
        <p14:creationId xmlns:p14="http://schemas.microsoft.com/office/powerpoint/2010/main" val="373647833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Body produces more</a:t>
            </a:r>
            <a:r>
              <a:rPr lang="en-US" baseline="0" dirty="0"/>
              <a:t> than one million red blood cells each second. A range of different proteins are found embedded in the membrane of these cells e.g. channel proteins. This means that your existing RBCs need to produce proteins for 1 million plasma membranes and organelle membranes each second.</a:t>
            </a:r>
            <a:endParaRPr lang="en-US" dirty="0"/>
          </a:p>
          <a:p>
            <a:endParaRPr lang="en-AU" dirty="0"/>
          </a:p>
        </p:txBody>
      </p:sp>
      <p:sp>
        <p:nvSpPr>
          <p:cNvPr id="4" name="Slide Number Placeholder 3"/>
          <p:cNvSpPr>
            <a:spLocks noGrp="1"/>
          </p:cNvSpPr>
          <p:nvPr>
            <p:ph type="sldNum" sz="quarter" idx="10"/>
          </p:nvPr>
        </p:nvSpPr>
        <p:spPr/>
        <p:txBody>
          <a:bodyPr/>
          <a:lstStyle/>
          <a:p>
            <a:fld id="{ECC34325-B567-45CE-9336-529EAF1237AF}" type="slidenum">
              <a:rPr lang="en-AU" smtClean="0"/>
              <a:t>18</a:t>
            </a:fld>
            <a:endParaRPr lang="en-AU"/>
          </a:p>
        </p:txBody>
      </p:sp>
    </p:spTree>
    <p:extLst>
      <p:ext uri="{BB962C8B-B14F-4D97-AF65-F5344CB8AC3E}">
        <p14:creationId xmlns:p14="http://schemas.microsoft.com/office/powerpoint/2010/main" val="32232116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p:cNvSpPr>
          <p:nvPr>
            <p:ph type="sldNum" sz="quarter" idx="5"/>
          </p:nvPr>
        </p:nvSpPr>
        <p:spPr>
          <a:ln/>
        </p:spPr>
        <p:txBody>
          <a:bodyPr/>
          <a:lstStyle/>
          <a:p>
            <a:fld id="{14F33FF5-A07A-4A0E-9F76-C2DB0E758079}" type="slidenum">
              <a:rPr lang="en-US" altLang="en-US"/>
              <a:pPr/>
              <a:t>19</a:t>
            </a:fld>
            <a:endParaRPr lang="en-US" altLang="en-US"/>
          </a:p>
        </p:txBody>
      </p:sp>
      <p:sp>
        <p:nvSpPr>
          <p:cNvPr id="258050" name="Rectangle 2"/>
          <p:cNvSpPr>
            <a:spLocks noGrp="1" noRot="1" noChangeAspect="1" noChangeArrowheads="1" noTextEdit="1"/>
          </p:cNvSpPr>
          <p:nvPr>
            <p:ph type="sldImg"/>
          </p:nvPr>
        </p:nvSpPr>
        <p:spPr>
          <a:ln/>
        </p:spPr>
      </p:sp>
      <p:sp>
        <p:nvSpPr>
          <p:cNvPr id="258051" name="Rectangle 3"/>
          <p:cNvSpPr>
            <a:spLocks noGrp="1"/>
          </p:cNvSpPr>
          <p:nvPr>
            <p:ph type="body" idx="1"/>
          </p:nvPr>
        </p:nvSpPr>
        <p:spPr/>
        <p:txBody>
          <a:bodyPr/>
          <a:lstStyle/>
          <a:p>
            <a:endParaRPr lang="en-US" altLang="en-US"/>
          </a:p>
        </p:txBody>
      </p:sp>
    </p:spTree>
    <p:extLst>
      <p:ext uri="{BB962C8B-B14F-4D97-AF65-F5344CB8AC3E}">
        <p14:creationId xmlns:p14="http://schemas.microsoft.com/office/powerpoint/2010/main" val="2024358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p:cNvSpPr>
            <a:spLocks noGrp="1" noRot="1" noChangeAspect="1" noTextEdit="1"/>
          </p:cNvSpPr>
          <p:nvPr>
            <p:ph type="sldImg"/>
          </p:nvPr>
        </p:nvSpPr>
        <p:spPr bwMode="auto">
          <a:noFill/>
          <a:ln>
            <a:solidFill>
              <a:srgbClr val="000000"/>
            </a:solidFill>
            <a:miter lim="800000"/>
            <a:headEnd/>
            <a:tailEnd/>
          </a:ln>
        </p:spPr>
      </p:sp>
      <p:sp>
        <p:nvSpPr>
          <p:cNvPr id="14339"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dirty="0"/>
              <a:t>https://www.youtube.com/watch?v=gG7uCskUOrA</a:t>
            </a:r>
          </a:p>
        </p:txBody>
      </p:sp>
      <p:sp>
        <p:nvSpPr>
          <p:cNvPr id="4" name="Slide Number Placeholder 3"/>
          <p:cNvSpPr>
            <a:spLocks noGrp="1"/>
          </p:cNvSpPr>
          <p:nvPr>
            <p:ph type="sldNum" sz="quarter" idx="5"/>
          </p:nvPr>
        </p:nvSpPr>
        <p:spPr/>
        <p:txBody>
          <a:bodyPr/>
          <a:lstStyle/>
          <a:p>
            <a:pPr>
              <a:defRPr/>
            </a:pPr>
            <a:fld id="{8265CCF7-C6F2-435C-AB36-78C649E2A501}" type="slidenum">
              <a:rPr lang="en-US" smtClean="0"/>
              <a:pPr>
                <a:defRPr/>
              </a:pPr>
              <a:t>25</a:t>
            </a:fld>
            <a:endParaRPr lang="en-US"/>
          </a:p>
        </p:txBody>
      </p:sp>
    </p:spTree>
    <p:extLst>
      <p:ext uri="{BB962C8B-B14F-4D97-AF65-F5344CB8AC3E}">
        <p14:creationId xmlns:p14="http://schemas.microsoft.com/office/powerpoint/2010/main" val="40717067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ECC34325-B567-45CE-9336-529EAF1237AF}" type="slidenum">
              <a:rPr lang="en-AU" smtClean="0"/>
              <a:t>27</a:t>
            </a:fld>
            <a:endParaRPr lang="en-AU"/>
          </a:p>
        </p:txBody>
      </p:sp>
    </p:spTree>
    <p:extLst>
      <p:ext uri="{BB962C8B-B14F-4D97-AF65-F5344CB8AC3E}">
        <p14:creationId xmlns:p14="http://schemas.microsoft.com/office/powerpoint/2010/main" val="227794323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Product from one reaction is continually</a:t>
            </a:r>
            <a:r>
              <a:rPr lang="en-AU" baseline="0" dirty="0"/>
              <a:t> being removed by becoming the reactant for the next reaction.</a:t>
            </a:r>
            <a:endParaRPr lang="en-AU" dirty="0"/>
          </a:p>
        </p:txBody>
      </p:sp>
      <p:sp>
        <p:nvSpPr>
          <p:cNvPr id="4" name="Slide Number Placeholder 3"/>
          <p:cNvSpPr>
            <a:spLocks noGrp="1"/>
          </p:cNvSpPr>
          <p:nvPr>
            <p:ph type="sldNum" sz="quarter" idx="10"/>
          </p:nvPr>
        </p:nvSpPr>
        <p:spPr/>
        <p:txBody>
          <a:bodyPr/>
          <a:lstStyle/>
          <a:p>
            <a:fld id="{ECC34325-B567-45CE-9336-529EAF1237AF}" type="slidenum">
              <a:rPr lang="en-AU" smtClean="0"/>
              <a:t>32</a:t>
            </a:fld>
            <a:endParaRPr lang="en-AU"/>
          </a:p>
        </p:txBody>
      </p:sp>
    </p:spTree>
    <p:extLst>
      <p:ext uri="{BB962C8B-B14F-4D97-AF65-F5344CB8AC3E}">
        <p14:creationId xmlns:p14="http://schemas.microsoft.com/office/powerpoint/2010/main" val="39585192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pPr/>
              <a:t>8/2/2023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9900279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8/2/2023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0517888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t>8/2/2023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3145104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smtClean="0"/>
              <a:t>8/2/2023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1420944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t>8/2/2023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85447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smtClean="0"/>
              <a:t>8/2/2023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3565473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smtClean="0"/>
              <a:t>8/2/2023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5397268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8/2/2023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1085439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8/2/2023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0583806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pPr/>
              <a:t>8/2/2023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5777387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pPr/>
              <a:t>8/2/2023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6D22F896-40B5-4ADD-8801-0D06FADFA095}" type="slidenum">
              <a:rPr lang="en-US" smtClean="0"/>
              <a:pPr/>
              <a:t>‹#›</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0655804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pPr/>
              <a:t>8/2/2023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8220957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pPr/>
              <a:t>8/2/2023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6D22F896-40B5-4ADD-8801-0D06FADFA095}" type="slidenum">
              <a:rPr lang="en-US" smtClean="0"/>
              <a:pPr/>
              <a:t>‹#›</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44208604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pPr/>
              <a:t>8/2/2023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285007569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8/2/2023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61256426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8/2/2023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776664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96381C-2A8E-4461-A885-48E8E797629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4FDB06B6-68D5-429D-88F2-007B18929B6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EA3E875C-6703-4F3B-9AEB-9CC53019EE16}"/>
              </a:ext>
            </a:extLst>
          </p:cNvPr>
          <p:cNvSpPr>
            <a:spLocks noGrp="1"/>
          </p:cNvSpPr>
          <p:nvPr>
            <p:ph type="dt" sz="half" idx="10"/>
          </p:nvPr>
        </p:nvSpPr>
        <p:spPr/>
        <p:txBody>
          <a:bodyPr/>
          <a:lstStyle/>
          <a:p>
            <a:fld id="{5578A1BF-F914-4E3A-B40D-FE8D5D3C8B44}" type="datetimeFigureOut">
              <a:rPr lang="en-AU" smtClean="0"/>
              <a:t>2/08/2023</a:t>
            </a:fld>
            <a:endParaRPr lang="en-AU"/>
          </a:p>
        </p:txBody>
      </p:sp>
      <p:sp>
        <p:nvSpPr>
          <p:cNvPr id="5" name="Footer Placeholder 4">
            <a:extLst>
              <a:ext uri="{FF2B5EF4-FFF2-40B4-BE49-F238E27FC236}">
                <a16:creationId xmlns:a16="http://schemas.microsoft.com/office/drawing/2014/main" id="{8D8998A0-B50B-48DD-A9EB-5D7A4DAF4836}"/>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21F11714-E762-4069-934B-F3A68D3C9B74}"/>
              </a:ext>
            </a:extLst>
          </p:cNvPr>
          <p:cNvSpPr>
            <a:spLocks noGrp="1"/>
          </p:cNvSpPr>
          <p:nvPr>
            <p:ph type="sldNum" sz="quarter" idx="12"/>
          </p:nvPr>
        </p:nvSpPr>
        <p:spPr/>
        <p:txBody>
          <a:bodyPr/>
          <a:lstStyle/>
          <a:p>
            <a:fld id="{0D222261-2D75-40C9-A767-53BE2F5D87BF}" type="slidenum">
              <a:rPr lang="en-AU" smtClean="0"/>
              <a:t>‹#›</a:t>
            </a:fld>
            <a:endParaRPr lang="en-AU"/>
          </a:p>
        </p:txBody>
      </p:sp>
    </p:spTree>
    <p:extLst>
      <p:ext uri="{BB962C8B-B14F-4D97-AF65-F5344CB8AC3E}">
        <p14:creationId xmlns:p14="http://schemas.microsoft.com/office/powerpoint/2010/main" val="315509111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BA824A-48DC-4CDC-B6D3-9035C77F741E}"/>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D50B6ADD-5412-482A-A37F-5F1F7A270B5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969A48A3-F98A-4102-BD0F-9F3CCA9C931A}"/>
              </a:ext>
            </a:extLst>
          </p:cNvPr>
          <p:cNvSpPr>
            <a:spLocks noGrp="1"/>
          </p:cNvSpPr>
          <p:nvPr>
            <p:ph type="dt" sz="half" idx="10"/>
          </p:nvPr>
        </p:nvSpPr>
        <p:spPr/>
        <p:txBody>
          <a:bodyPr/>
          <a:lstStyle/>
          <a:p>
            <a:fld id="{5578A1BF-F914-4E3A-B40D-FE8D5D3C8B44}" type="datetimeFigureOut">
              <a:rPr lang="en-AU" smtClean="0"/>
              <a:t>2/08/2023</a:t>
            </a:fld>
            <a:endParaRPr lang="en-AU"/>
          </a:p>
        </p:txBody>
      </p:sp>
      <p:sp>
        <p:nvSpPr>
          <p:cNvPr id="5" name="Footer Placeholder 4">
            <a:extLst>
              <a:ext uri="{FF2B5EF4-FFF2-40B4-BE49-F238E27FC236}">
                <a16:creationId xmlns:a16="http://schemas.microsoft.com/office/drawing/2014/main" id="{989C88B4-DD0D-4B39-8A45-2A956D038AE0}"/>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ED8C41AE-635D-4255-8C9C-4B62CA4F3C37}"/>
              </a:ext>
            </a:extLst>
          </p:cNvPr>
          <p:cNvSpPr>
            <a:spLocks noGrp="1"/>
          </p:cNvSpPr>
          <p:nvPr>
            <p:ph type="sldNum" sz="quarter" idx="12"/>
          </p:nvPr>
        </p:nvSpPr>
        <p:spPr/>
        <p:txBody>
          <a:bodyPr/>
          <a:lstStyle/>
          <a:p>
            <a:fld id="{0D222261-2D75-40C9-A767-53BE2F5D87BF}" type="slidenum">
              <a:rPr lang="en-AU" smtClean="0"/>
              <a:t>‹#›</a:t>
            </a:fld>
            <a:endParaRPr lang="en-AU"/>
          </a:p>
        </p:txBody>
      </p:sp>
    </p:spTree>
    <p:extLst>
      <p:ext uri="{BB962C8B-B14F-4D97-AF65-F5344CB8AC3E}">
        <p14:creationId xmlns:p14="http://schemas.microsoft.com/office/powerpoint/2010/main" val="21051416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EA2809-4A28-47E9-917A-18D6F1FE0AB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0CB8E256-BD5E-4F99-AA87-FF369DB528C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429379B-EBCF-43CF-919B-06566B6FA1CB}"/>
              </a:ext>
            </a:extLst>
          </p:cNvPr>
          <p:cNvSpPr>
            <a:spLocks noGrp="1"/>
          </p:cNvSpPr>
          <p:nvPr>
            <p:ph type="dt" sz="half" idx="10"/>
          </p:nvPr>
        </p:nvSpPr>
        <p:spPr/>
        <p:txBody>
          <a:bodyPr/>
          <a:lstStyle/>
          <a:p>
            <a:fld id="{5578A1BF-F914-4E3A-B40D-FE8D5D3C8B44}" type="datetimeFigureOut">
              <a:rPr lang="en-AU" smtClean="0"/>
              <a:t>2/08/2023</a:t>
            </a:fld>
            <a:endParaRPr lang="en-AU"/>
          </a:p>
        </p:txBody>
      </p:sp>
      <p:sp>
        <p:nvSpPr>
          <p:cNvPr id="5" name="Footer Placeholder 4">
            <a:extLst>
              <a:ext uri="{FF2B5EF4-FFF2-40B4-BE49-F238E27FC236}">
                <a16:creationId xmlns:a16="http://schemas.microsoft.com/office/drawing/2014/main" id="{37FCC3E2-482D-48AC-ABA9-34785C205F94}"/>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1B143396-509B-4353-B759-4F556F0E3FB8}"/>
              </a:ext>
            </a:extLst>
          </p:cNvPr>
          <p:cNvSpPr>
            <a:spLocks noGrp="1"/>
          </p:cNvSpPr>
          <p:nvPr>
            <p:ph type="sldNum" sz="quarter" idx="12"/>
          </p:nvPr>
        </p:nvSpPr>
        <p:spPr/>
        <p:txBody>
          <a:bodyPr/>
          <a:lstStyle/>
          <a:p>
            <a:fld id="{0D222261-2D75-40C9-A767-53BE2F5D87BF}" type="slidenum">
              <a:rPr lang="en-AU" smtClean="0"/>
              <a:t>‹#›</a:t>
            </a:fld>
            <a:endParaRPr lang="en-AU"/>
          </a:p>
        </p:txBody>
      </p:sp>
    </p:spTree>
    <p:extLst>
      <p:ext uri="{BB962C8B-B14F-4D97-AF65-F5344CB8AC3E}">
        <p14:creationId xmlns:p14="http://schemas.microsoft.com/office/powerpoint/2010/main" val="326002210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0413A2-EB5D-4FF7-8BBE-4959914FDE03}"/>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D0E471BA-3EAD-468B-8EC0-8E30AEB0577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AA817EC2-E8DA-429E-BFCD-6115023F737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ECF86A00-0545-4A7D-BC73-FEBBAF13E01D}"/>
              </a:ext>
            </a:extLst>
          </p:cNvPr>
          <p:cNvSpPr>
            <a:spLocks noGrp="1"/>
          </p:cNvSpPr>
          <p:nvPr>
            <p:ph type="dt" sz="half" idx="10"/>
          </p:nvPr>
        </p:nvSpPr>
        <p:spPr/>
        <p:txBody>
          <a:bodyPr/>
          <a:lstStyle/>
          <a:p>
            <a:fld id="{5578A1BF-F914-4E3A-B40D-FE8D5D3C8B44}" type="datetimeFigureOut">
              <a:rPr lang="en-AU" smtClean="0"/>
              <a:t>2/08/2023</a:t>
            </a:fld>
            <a:endParaRPr lang="en-AU"/>
          </a:p>
        </p:txBody>
      </p:sp>
      <p:sp>
        <p:nvSpPr>
          <p:cNvPr id="6" name="Footer Placeholder 5">
            <a:extLst>
              <a:ext uri="{FF2B5EF4-FFF2-40B4-BE49-F238E27FC236}">
                <a16:creationId xmlns:a16="http://schemas.microsoft.com/office/drawing/2014/main" id="{FE1EB00F-E440-4F8F-8FAF-3C26276EF1BE}"/>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F9887317-C68E-473F-B50F-47D0D214025C}"/>
              </a:ext>
            </a:extLst>
          </p:cNvPr>
          <p:cNvSpPr>
            <a:spLocks noGrp="1"/>
          </p:cNvSpPr>
          <p:nvPr>
            <p:ph type="sldNum" sz="quarter" idx="12"/>
          </p:nvPr>
        </p:nvSpPr>
        <p:spPr/>
        <p:txBody>
          <a:bodyPr/>
          <a:lstStyle/>
          <a:p>
            <a:fld id="{0D222261-2D75-40C9-A767-53BE2F5D87BF}" type="slidenum">
              <a:rPr lang="en-AU" smtClean="0"/>
              <a:t>‹#›</a:t>
            </a:fld>
            <a:endParaRPr lang="en-AU"/>
          </a:p>
        </p:txBody>
      </p:sp>
    </p:spTree>
    <p:extLst>
      <p:ext uri="{BB962C8B-B14F-4D97-AF65-F5344CB8AC3E}">
        <p14:creationId xmlns:p14="http://schemas.microsoft.com/office/powerpoint/2010/main" val="276746951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061EDB-C598-4874-9A0C-8AC16EEDF801}"/>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80FF1064-5FDE-4291-9EAB-125B3CD458E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2D9CE98-3808-4DB9-BD9B-7ACDDA83665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B450A4B6-B712-44AE-A35C-6C616C8C9C8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A640446-B7C6-4F4C-AD29-51F7B027006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821D4F96-30CE-4FBB-BF99-2BD8AEA6FE57}"/>
              </a:ext>
            </a:extLst>
          </p:cNvPr>
          <p:cNvSpPr>
            <a:spLocks noGrp="1"/>
          </p:cNvSpPr>
          <p:nvPr>
            <p:ph type="dt" sz="half" idx="10"/>
          </p:nvPr>
        </p:nvSpPr>
        <p:spPr/>
        <p:txBody>
          <a:bodyPr/>
          <a:lstStyle/>
          <a:p>
            <a:fld id="{5578A1BF-F914-4E3A-B40D-FE8D5D3C8B44}" type="datetimeFigureOut">
              <a:rPr lang="en-AU" smtClean="0"/>
              <a:t>2/08/2023</a:t>
            </a:fld>
            <a:endParaRPr lang="en-AU"/>
          </a:p>
        </p:txBody>
      </p:sp>
      <p:sp>
        <p:nvSpPr>
          <p:cNvPr id="8" name="Footer Placeholder 7">
            <a:extLst>
              <a:ext uri="{FF2B5EF4-FFF2-40B4-BE49-F238E27FC236}">
                <a16:creationId xmlns:a16="http://schemas.microsoft.com/office/drawing/2014/main" id="{2CC76531-845E-46BA-9AC7-D94C96B914AD}"/>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C882A309-CA4D-4F45-8A8A-867FBCA05749}"/>
              </a:ext>
            </a:extLst>
          </p:cNvPr>
          <p:cNvSpPr>
            <a:spLocks noGrp="1"/>
          </p:cNvSpPr>
          <p:nvPr>
            <p:ph type="sldNum" sz="quarter" idx="12"/>
          </p:nvPr>
        </p:nvSpPr>
        <p:spPr/>
        <p:txBody>
          <a:bodyPr/>
          <a:lstStyle/>
          <a:p>
            <a:fld id="{0D222261-2D75-40C9-A767-53BE2F5D87BF}" type="slidenum">
              <a:rPr lang="en-AU" smtClean="0"/>
              <a:t>‹#›</a:t>
            </a:fld>
            <a:endParaRPr lang="en-AU"/>
          </a:p>
        </p:txBody>
      </p:sp>
    </p:spTree>
    <p:extLst>
      <p:ext uri="{BB962C8B-B14F-4D97-AF65-F5344CB8AC3E}">
        <p14:creationId xmlns:p14="http://schemas.microsoft.com/office/powerpoint/2010/main" val="277554738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6BFE0F-9989-4FC8-AF4B-93C7A644017B}"/>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51D87B2A-3EFD-4D44-8813-79C90E836D14}"/>
              </a:ext>
            </a:extLst>
          </p:cNvPr>
          <p:cNvSpPr>
            <a:spLocks noGrp="1"/>
          </p:cNvSpPr>
          <p:nvPr>
            <p:ph type="dt" sz="half" idx="10"/>
          </p:nvPr>
        </p:nvSpPr>
        <p:spPr/>
        <p:txBody>
          <a:bodyPr/>
          <a:lstStyle/>
          <a:p>
            <a:fld id="{5578A1BF-F914-4E3A-B40D-FE8D5D3C8B44}" type="datetimeFigureOut">
              <a:rPr lang="en-AU" smtClean="0"/>
              <a:t>2/08/2023</a:t>
            </a:fld>
            <a:endParaRPr lang="en-AU"/>
          </a:p>
        </p:txBody>
      </p:sp>
      <p:sp>
        <p:nvSpPr>
          <p:cNvPr id="4" name="Footer Placeholder 3">
            <a:extLst>
              <a:ext uri="{FF2B5EF4-FFF2-40B4-BE49-F238E27FC236}">
                <a16:creationId xmlns:a16="http://schemas.microsoft.com/office/drawing/2014/main" id="{5590C39E-642B-49F1-96E2-DEAD8B0A915B}"/>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D2E66EA2-16CF-4CE4-90AF-AF6A78840724}"/>
              </a:ext>
            </a:extLst>
          </p:cNvPr>
          <p:cNvSpPr>
            <a:spLocks noGrp="1"/>
          </p:cNvSpPr>
          <p:nvPr>
            <p:ph type="sldNum" sz="quarter" idx="12"/>
          </p:nvPr>
        </p:nvSpPr>
        <p:spPr/>
        <p:txBody>
          <a:bodyPr/>
          <a:lstStyle/>
          <a:p>
            <a:fld id="{0D222261-2D75-40C9-A767-53BE2F5D87BF}" type="slidenum">
              <a:rPr lang="en-AU" smtClean="0"/>
              <a:t>‹#›</a:t>
            </a:fld>
            <a:endParaRPr lang="en-AU"/>
          </a:p>
        </p:txBody>
      </p:sp>
    </p:spTree>
    <p:extLst>
      <p:ext uri="{BB962C8B-B14F-4D97-AF65-F5344CB8AC3E}">
        <p14:creationId xmlns:p14="http://schemas.microsoft.com/office/powerpoint/2010/main" val="277831344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B922255-A1EF-40D1-AC5B-25E660D92FE4}"/>
              </a:ext>
            </a:extLst>
          </p:cNvPr>
          <p:cNvSpPr>
            <a:spLocks noGrp="1"/>
          </p:cNvSpPr>
          <p:nvPr>
            <p:ph type="dt" sz="half" idx="10"/>
          </p:nvPr>
        </p:nvSpPr>
        <p:spPr/>
        <p:txBody>
          <a:bodyPr/>
          <a:lstStyle/>
          <a:p>
            <a:fld id="{5578A1BF-F914-4E3A-B40D-FE8D5D3C8B44}" type="datetimeFigureOut">
              <a:rPr lang="en-AU" smtClean="0"/>
              <a:t>2/08/2023</a:t>
            </a:fld>
            <a:endParaRPr lang="en-AU"/>
          </a:p>
        </p:txBody>
      </p:sp>
      <p:sp>
        <p:nvSpPr>
          <p:cNvPr id="3" name="Footer Placeholder 2">
            <a:extLst>
              <a:ext uri="{FF2B5EF4-FFF2-40B4-BE49-F238E27FC236}">
                <a16:creationId xmlns:a16="http://schemas.microsoft.com/office/drawing/2014/main" id="{9583748F-17DC-4C93-A0DA-3761E863AB2A}"/>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DEB64D2A-FF9E-44EB-B637-4E07CBC7A6CA}"/>
              </a:ext>
            </a:extLst>
          </p:cNvPr>
          <p:cNvSpPr>
            <a:spLocks noGrp="1"/>
          </p:cNvSpPr>
          <p:nvPr>
            <p:ph type="sldNum" sz="quarter" idx="12"/>
          </p:nvPr>
        </p:nvSpPr>
        <p:spPr/>
        <p:txBody>
          <a:bodyPr/>
          <a:lstStyle/>
          <a:p>
            <a:fld id="{0D222261-2D75-40C9-A767-53BE2F5D87BF}" type="slidenum">
              <a:rPr lang="en-AU" smtClean="0"/>
              <a:t>‹#›</a:t>
            </a:fld>
            <a:endParaRPr lang="en-AU"/>
          </a:p>
        </p:txBody>
      </p:sp>
    </p:spTree>
    <p:extLst>
      <p:ext uri="{BB962C8B-B14F-4D97-AF65-F5344CB8AC3E}">
        <p14:creationId xmlns:p14="http://schemas.microsoft.com/office/powerpoint/2010/main" val="171631640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BD7CDE-EA7B-4BB8-A041-D4318A5343E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B1C74E8C-FA86-401A-999A-82BEEF8FFE7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F3B43B37-F2B5-4C7D-95C9-E82717E190D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64CB3FF-BF10-4CA2-9765-1CC8459E3B53}"/>
              </a:ext>
            </a:extLst>
          </p:cNvPr>
          <p:cNvSpPr>
            <a:spLocks noGrp="1"/>
          </p:cNvSpPr>
          <p:nvPr>
            <p:ph type="dt" sz="half" idx="10"/>
          </p:nvPr>
        </p:nvSpPr>
        <p:spPr/>
        <p:txBody>
          <a:bodyPr/>
          <a:lstStyle/>
          <a:p>
            <a:fld id="{5578A1BF-F914-4E3A-B40D-FE8D5D3C8B44}" type="datetimeFigureOut">
              <a:rPr lang="en-AU" smtClean="0"/>
              <a:t>2/08/2023</a:t>
            </a:fld>
            <a:endParaRPr lang="en-AU"/>
          </a:p>
        </p:txBody>
      </p:sp>
      <p:sp>
        <p:nvSpPr>
          <p:cNvPr id="6" name="Footer Placeholder 5">
            <a:extLst>
              <a:ext uri="{FF2B5EF4-FFF2-40B4-BE49-F238E27FC236}">
                <a16:creationId xmlns:a16="http://schemas.microsoft.com/office/drawing/2014/main" id="{FF8510B4-48EC-4145-9DAA-BD28A87C45EB}"/>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552BA0DD-C3B3-4D40-864F-E8DE98356475}"/>
              </a:ext>
            </a:extLst>
          </p:cNvPr>
          <p:cNvSpPr>
            <a:spLocks noGrp="1"/>
          </p:cNvSpPr>
          <p:nvPr>
            <p:ph type="sldNum" sz="quarter" idx="12"/>
          </p:nvPr>
        </p:nvSpPr>
        <p:spPr/>
        <p:txBody>
          <a:bodyPr/>
          <a:lstStyle/>
          <a:p>
            <a:fld id="{0D222261-2D75-40C9-A767-53BE2F5D87BF}" type="slidenum">
              <a:rPr lang="en-AU" smtClean="0"/>
              <a:t>‹#›</a:t>
            </a:fld>
            <a:endParaRPr lang="en-AU"/>
          </a:p>
        </p:txBody>
      </p:sp>
    </p:spTree>
    <p:extLst>
      <p:ext uri="{BB962C8B-B14F-4D97-AF65-F5344CB8AC3E}">
        <p14:creationId xmlns:p14="http://schemas.microsoft.com/office/powerpoint/2010/main" val="239462712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73B76-F1A7-4A51-9DCC-B4943FB07C6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C843B2F3-DD29-46D0-AB7F-F6C24393E78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45E9C8F6-3A38-4B23-9551-130CDF4CC4A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1B3E8D-0E00-4E86-9023-018AF5E143B7}"/>
              </a:ext>
            </a:extLst>
          </p:cNvPr>
          <p:cNvSpPr>
            <a:spLocks noGrp="1"/>
          </p:cNvSpPr>
          <p:nvPr>
            <p:ph type="dt" sz="half" idx="10"/>
          </p:nvPr>
        </p:nvSpPr>
        <p:spPr/>
        <p:txBody>
          <a:bodyPr/>
          <a:lstStyle/>
          <a:p>
            <a:fld id="{5578A1BF-F914-4E3A-B40D-FE8D5D3C8B44}" type="datetimeFigureOut">
              <a:rPr lang="en-AU" smtClean="0"/>
              <a:t>2/08/2023</a:t>
            </a:fld>
            <a:endParaRPr lang="en-AU"/>
          </a:p>
        </p:txBody>
      </p:sp>
      <p:sp>
        <p:nvSpPr>
          <p:cNvPr id="6" name="Footer Placeholder 5">
            <a:extLst>
              <a:ext uri="{FF2B5EF4-FFF2-40B4-BE49-F238E27FC236}">
                <a16:creationId xmlns:a16="http://schemas.microsoft.com/office/drawing/2014/main" id="{394523F5-1997-4996-BB14-55D5C792DCB2}"/>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F20442CB-200C-41DE-8656-8551ABE92110}"/>
              </a:ext>
            </a:extLst>
          </p:cNvPr>
          <p:cNvSpPr>
            <a:spLocks noGrp="1"/>
          </p:cNvSpPr>
          <p:nvPr>
            <p:ph type="sldNum" sz="quarter" idx="12"/>
          </p:nvPr>
        </p:nvSpPr>
        <p:spPr/>
        <p:txBody>
          <a:bodyPr/>
          <a:lstStyle/>
          <a:p>
            <a:fld id="{0D222261-2D75-40C9-A767-53BE2F5D87BF}" type="slidenum">
              <a:rPr lang="en-AU" smtClean="0"/>
              <a:t>‹#›</a:t>
            </a:fld>
            <a:endParaRPr lang="en-AU"/>
          </a:p>
        </p:txBody>
      </p:sp>
    </p:spTree>
    <p:extLst>
      <p:ext uri="{BB962C8B-B14F-4D97-AF65-F5344CB8AC3E}">
        <p14:creationId xmlns:p14="http://schemas.microsoft.com/office/powerpoint/2010/main" val="314568251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921C08-19F2-492B-BD5E-EB065B9BDAB0}"/>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F2B04CB3-ACA6-4D6D-A68A-1903944B675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A8209EEC-5EF5-4A1D-BE78-03D870EC9EBA}"/>
              </a:ext>
            </a:extLst>
          </p:cNvPr>
          <p:cNvSpPr>
            <a:spLocks noGrp="1"/>
          </p:cNvSpPr>
          <p:nvPr>
            <p:ph type="dt" sz="half" idx="10"/>
          </p:nvPr>
        </p:nvSpPr>
        <p:spPr/>
        <p:txBody>
          <a:bodyPr/>
          <a:lstStyle/>
          <a:p>
            <a:fld id="{5578A1BF-F914-4E3A-B40D-FE8D5D3C8B44}" type="datetimeFigureOut">
              <a:rPr lang="en-AU" smtClean="0"/>
              <a:t>2/08/2023</a:t>
            </a:fld>
            <a:endParaRPr lang="en-AU"/>
          </a:p>
        </p:txBody>
      </p:sp>
      <p:sp>
        <p:nvSpPr>
          <p:cNvPr id="5" name="Footer Placeholder 4">
            <a:extLst>
              <a:ext uri="{FF2B5EF4-FFF2-40B4-BE49-F238E27FC236}">
                <a16:creationId xmlns:a16="http://schemas.microsoft.com/office/drawing/2014/main" id="{B59A80E6-9005-4F90-83FF-763629D844C7}"/>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DA70648A-4D7F-45D7-94CB-5892953C7887}"/>
              </a:ext>
            </a:extLst>
          </p:cNvPr>
          <p:cNvSpPr>
            <a:spLocks noGrp="1"/>
          </p:cNvSpPr>
          <p:nvPr>
            <p:ph type="sldNum" sz="quarter" idx="12"/>
          </p:nvPr>
        </p:nvSpPr>
        <p:spPr/>
        <p:txBody>
          <a:bodyPr/>
          <a:lstStyle/>
          <a:p>
            <a:fld id="{0D222261-2D75-40C9-A767-53BE2F5D87BF}" type="slidenum">
              <a:rPr lang="en-AU" smtClean="0"/>
              <a:t>‹#›</a:t>
            </a:fld>
            <a:endParaRPr lang="en-AU"/>
          </a:p>
        </p:txBody>
      </p:sp>
    </p:spTree>
    <p:extLst>
      <p:ext uri="{BB962C8B-B14F-4D97-AF65-F5344CB8AC3E}">
        <p14:creationId xmlns:p14="http://schemas.microsoft.com/office/powerpoint/2010/main" val="10068677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C47E881-B9F6-47D2-96BD-2A133F7E32C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A95CE938-0934-46B7-AD42-27B8B777106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B8DB1004-5ABD-417D-8C52-849919F6DE55}"/>
              </a:ext>
            </a:extLst>
          </p:cNvPr>
          <p:cNvSpPr>
            <a:spLocks noGrp="1"/>
          </p:cNvSpPr>
          <p:nvPr>
            <p:ph type="dt" sz="half" idx="10"/>
          </p:nvPr>
        </p:nvSpPr>
        <p:spPr/>
        <p:txBody>
          <a:bodyPr/>
          <a:lstStyle/>
          <a:p>
            <a:fld id="{5578A1BF-F914-4E3A-B40D-FE8D5D3C8B44}" type="datetimeFigureOut">
              <a:rPr lang="en-AU" smtClean="0"/>
              <a:t>2/08/2023</a:t>
            </a:fld>
            <a:endParaRPr lang="en-AU"/>
          </a:p>
        </p:txBody>
      </p:sp>
      <p:sp>
        <p:nvSpPr>
          <p:cNvPr id="5" name="Footer Placeholder 4">
            <a:extLst>
              <a:ext uri="{FF2B5EF4-FFF2-40B4-BE49-F238E27FC236}">
                <a16:creationId xmlns:a16="http://schemas.microsoft.com/office/drawing/2014/main" id="{F343DD65-FDEF-4C18-9A44-00F75E740286}"/>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1F4B7ABD-172B-4018-B13E-138F9434A836}"/>
              </a:ext>
            </a:extLst>
          </p:cNvPr>
          <p:cNvSpPr>
            <a:spLocks noGrp="1"/>
          </p:cNvSpPr>
          <p:nvPr>
            <p:ph type="sldNum" sz="quarter" idx="12"/>
          </p:nvPr>
        </p:nvSpPr>
        <p:spPr/>
        <p:txBody>
          <a:bodyPr/>
          <a:lstStyle/>
          <a:p>
            <a:fld id="{0D222261-2D75-40C9-A767-53BE2F5D87BF}" type="slidenum">
              <a:rPr lang="en-AU" smtClean="0"/>
              <a:t>‹#›</a:t>
            </a:fld>
            <a:endParaRPr lang="en-AU"/>
          </a:p>
        </p:txBody>
      </p:sp>
    </p:spTree>
    <p:extLst>
      <p:ext uri="{BB962C8B-B14F-4D97-AF65-F5344CB8AC3E}">
        <p14:creationId xmlns:p14="http://schemas.microsoft.com/office/powerpoint/2010/main" val="16939456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4.xml"/><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theme" Target="../theme/theme2.xml"/><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157"/>
            <a:ext cx="2356674" cy="6853096"/>
            <a:chOff x="6627813" y="195610"/>
            <a:chExt cx="1952625" cy="5678141"/>
          </a:xfrm>
        </p:grpSpPr>
        <p:sp>
          <p:nvSpPr>
            <p:cNvPr id="11" name="Freeform 27"/>
            <p:cNvSpPr/>
            <p:nvPr/>
          </p:nvSpPr>
          <p:spPr bwMode="auto">
            <a:xfrm>
              <a:off x="6627813" y="195610"/>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48A87A34-81AB-432B-8DAE-1953F412C126}" type="datetimeFigureOut">
              <a:rPr lang="en-US" smtClean="0"/>
              <a:pPr/>
              <a:t>8/2/2023</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259533645"/>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Lst>
  <p:txStyles>
    <p:titleStyle>
      <a:lvl1pPr algn="l" defTabSz="457200" rtl="0" eaLnBrk="1" latinLnBrk="0" hangingPunct="1">
        <a:spcBef>
          <a:spcPct val="0"/>
        </a:spcBef>
        <a:buNone/>
        <a:defRPr sz="3600" kern="1200">
          <a:solidFill>
            <a:schemeClr val="accent2">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EA2BB4D-27E5-4381-8590-BA3D4779230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9C3CD5AE-ED0C-45ED-B580-6829B314AD4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8DC932DB-C523-40F1-8FE2-654559EC726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578A1BF-F914-4E3A-B40D-FE8D5D3C8B44}" type="datetimeFigureOut">
              <a:rPr lang="en-AU" smtClean="0"/>
              <a:t>2/08/2023</a:t>
            </a:fld>
            <a:endParaRPr lang="en-AU"/>
          </a:p>
        </p:txBody>
      </p:sp>
      <p:sp>
        <p:nvSpPr>
          <p:cNvPr id="5" name="Footer Placeholder 4">
            <a:extLst>
              <a:ext uri="{FF2B5EF4-FFF2-40B4-BE49-F238E27FC236}">
                <a16:creationId xmlns:a16="http://schemas.microsoft.com/office/drawing/2014/main" id="{9D315334-B7CD-4DF4-9D72-D46BF314E00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a:extLst>
              <a:ext uri="{FF2B5EF4-FFF2-40B4-BE49-F238E27FC236}">
                <a16:creationId xmlns:a16="http://schemas.microsoft.com/office/drawing/2014/main" id="{8E99B6EA-C793-4AEB-9200-E21E3874DFA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D222261-2D75-40C9-A767-53BE2F5D87BF}" type="slidenum">
              <a:rPr lang="en-AU" smtClean="0"/>
              <a:t>‹#›</a:t>
            </a:fld>
            <a:endParaRPr lang="en-AU"/>
          </a:p>
        </p:txBody>
      </p:sp>
    </p:spTree>
    <p:extLst>
      <p:ext uri="{BB962C8B-B14F-4D97-AF65-F5344CB8AC3E}">
        <p14:creationId xmlns:p14="http://schemas.microsoft.com/office/powerpoint/2010/main" val="584911249"/>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4.png"/><Relationship Id="rId3" Type="http://schemas.microsoft.com/office/2007/relationships/hdphoto" Target="../media/hdphoto1.wdp"/><Relationship Id="rId7"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7.xml"/><Relationship Id="rId6" Type="http://schemas.openxmlformats.org/officeDocument/2006/relationships/hyperlink" Target="https://pixabay.com/?utm_source=link-attribution&amp;utm_medium=referral&amp;utm_campaign=image&amp;utm_content=7790041" TargetMode="External"/><Relationship Id="rId11" Type="http://schemas.openxmlformats.org/officeDocument/2006/relationships/image" Target="../media/image6.png"/><Relationship Id="rId5" Type="http://schemas.openxmlformats.org/officeDocument/2006/relationships/hyperlink" Target="https://pixabay.com/users/angelicamari-33624144/?utm_source=link-attribution&amp;utm_medium=referral&amp;utm_campaign=image&amp;utm_content=7790041" TargetMode="External"/><Relationship Id="rId10" Type="http://schemas.openxmlformats.org/officeDocument/2006/relationships/hyperlink" Target="mailto:studenthelp@side.wa.edu.au" TargetMode="External"/><Relationship Id="rId4" Type="http://schemas.openxmlformats.org/officeDocument/2006/relationships/hyperlink" Target="https://pixabay.com/users/clker-free-vector-images-3736/?utm_source=link-attribution&amp;utm_medium=referral&amp;utm_campaign=image&amp;utm_content=33866" TargetMode="External"/><Relationship Id="rId9" Type="http://schemas.openxmlformats.org/officeDocument/2006/relationships/image" Target="../media/image5.png"/></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8.jpeg"/><Relationship Id="rId7" Type="http://schemas.openxmlformats.org/officeDocument/2006/relationships/image" Target="../media/image22.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21.jpeg"/><Relationship Id="rId5" Type="http://schemas.openxmlformats.org/officeDocument/2006/relationships/image" Target="../media/image20.png"/><Relationship Id="rId4" Type="http://schemas.openxmlformats.org/officeDocument/2006/relationships/image" Target="../media/image19.jpeg"/></Relationships>
</file>

<file path=ppt/slides/_rels/slide15.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5.jpeg"/><Relationship Id="rId4" Type="http://schemas.openxmlformats.org/officeDocument/2006/relationships/image" Target="../media/image24.jpeg"/></Relationships>
</file>

<file path=ppt/slides/_rels/slide1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1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1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13.png"/><Relationship Id="rId4" Type="http://schemas.openxmlformats.org/officeDocument/2006/relationships/image" Target="../media/image33.png"/></Relationships>
</file>

<file path=ppt/slides/_rels/slide2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44.gif"/><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jp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934758" y="565608"/>
            <a:ext cx="8915399" cy="2121031"/>
          </a:xfrm>
        </p:spPr>
        <p:txBody>
          <a:bodyPr>
            <a:normAutofit fontScale="90000"/>
          </a:bodyPr>
          <a:lstStyle/>
          <a:p>
            <a:pPr algn="ctr">
              <a:lnSpc>
                <a:spcPct val="150000"/>
              </a:lnSpc>
            </a:pPr>
            <a:r>
              <a:rPr lang="en-AU" sz="5600" b="1" dirty="0">
                <a:solidFill>
                  <a:srgbClr val="00B050"/>
                </a:solidFill>
              </a:rPr>
              <a:t>11ATAR Biology</a:t>
            </a:r>
            <a:br>
              <a:rPr lang="en-AU" dirty="0"/>
            </a:br>
            <a:r>
              <a:rPr lang="en-AU" sz="4000" dirty="0">
                <a:solidFill>
                  <a:srgbClr val="0070C0"/>
                </a:solidFill>
              </a:rPr>
              <a:t>Week 23 - Biological Molecules</a:t>
            </a:r>
          </a:p>
        </p:txBody>
      </p:sp>
      <p:pic>
        <p:nvPicPr>
          <p:cNvPr id="5" name="Picture 4"/>
          <p:cNvPicPr>
            <a:picLocks noChangeAspect="1"/>
          </p:cNvPicPr>
          <p:nvPr/>
        </p:nvPicPr>
        <p:blipFill>
          <a:blip r:embed="rId3"/>
          <a:stretch>
            <a:fillRect/>
          </a:stretch>
        </p:blipFill>
        <p:spPr>
          <a:xfrm>
            <a:off x="2817715" y="3190183"/>
            <a:ext cx="7031351" cy="2659293"/>
          </a:xfrm>
          <a:prstGeom prst="rect">
            <a:avLst/>
          </a:prstGeom>
        </p:spPr>
      </p:pic>
    </p:spTree>
    <p:extLst>
      <p:ext uri="{BB962C8B-B14F-4D97-AF65-F5344CB8AC3E}">
        <p14:creationId xmlns:p14="http://schemas.microsoft.com/office/powerpoint/2010/main" val="33769255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blue and white sign with white text&#10;&#10;Description automatically generated">
            <a:extLst>
              <a:ext uri="{FF2B5EF4-FFF2-40B4-BE49-F238E27FC236}">
                <a16:creationId xmlns:a16="http://schemas.microsoft.com/office/drawing/2014/main" id="{CC547488-EA7C-4D63-8DB8-379032F8604A}"/>
              </a:ext>
            </a:extLst>
          </p:cNvPr>
          <p:cNvPicPr>
            <a:picLocks noChangeAspect="1"/>
          </p:cNvPicPr>
          <p:nvPr/>
        </p:nvPicPr>
        <p:blipFill>
          <a:blip r:embed="rId2">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146858" y="101759"/>
            <a:ext cx="924608" cy="924608"/>
          </a:xfrm>
          <a:prstGeom prst="rect">
            <a:avLst/>
          </a:prstGeom>
        </p:spPr>
      </p:pic>
      <p:sp>
        <p:nvSpPr>
          <p:cNvPr id="20" name="TextBox 19">
            <a:extLst>
              <a:ext uri="{FF2B5EF4-FFF2-40B4-BE49-F238E27FC236}">
                <a16:creationId xmlns:a16="http://schemas.microsoft.com/office/drawing/2014/main" id="{4B8E10C4-3752-477C-B410-CE187498489E}"/>
              </a:ext>
            </a:extLst>
          </p:cNvPr>
          <p:cNvSpPr txBox="1"/>
          <p:nvPr/>
        </p:nvSpPr>
        <p:spPr>
          <a:xfrm>
            <a:off x="8885844" y="6642556"/>
            <a:ext cx="4248072" cy="215444"/>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800" b="0" i="0" u="none" strike="noStrike" kern="1200" cap="none" spc="0" normalizeH="0" baseline="0" noProof="0">
                <a:ln>
                  <a:noFill/>
                </a:ln>
                <a:solidFill>
                  <a:srgbClr val="191B26"/>
                </a:solidFill>
                <a:effectLst/>
                <a:uLnTx/>
                <a:uFillTx/>
                <a:latin typeface="Open Sans"/>
                <a:ea typeface="Open Sans"/>
                <a:cs typeface="Open Sans"/>
              </a:rPr>
              <a:t>Images by </a:t>
            </a:r>
            <a:r>
              <a:rPr kumimoji="0" lang="en-AU" sz="800" b="0" i="0" u="sng" strike="noStrike" kern="1200" cap="none" spc="0" normalizeH="0" baseline="0" noProof="0">
                <a:ln>
                  <a:noFill/>
                </a:ln>
                <a:solidFill>
                  <a:srgbClr val="191B26"/>
                </a:solidFill>
                <a:effectLst/>
                <a:uLnTx/>
                <a:uFillTx/>
                <a:latin typeface="Open Sans"/>
                <a:ea typeface="Open Sans"/>
                <a:cs typeface="Open Sans"/>
                <a:hlinkClick r:id="rId4"/>
              </a:rPr>
              <a:t>Clker-Free-Vector-Images; </a:t>
            </a:r>
            <a:r>
              <a:rPr kumimoji="0" lang="en-AU" sz="800" b="0" i="0" u="sng" strike="noStrike" kern="1200" cap="none" spc="0" normalizeH="0" baseline="0" noProof="0">
                <a:ln>
                  <a:noFill/>
                </a:ln>
                <a:solidFill>
                  <a:srgbClr val="191B26"/>
                </a:solidFill>
                <a:effectLst/>
                <a:uLnTx/>
                <a:uFillTx/>
                <a:latin typeface="Open Sans"/>
                <a:ea typeface="Open Sans"/>
                <a:cs typeface="Open Sans"/>
                <a:hlinkClick r:id="rId5"/>
              </a:rPr>
              <a:t>Angelica Mariotti</a:t>
            </a:r>
            <a:r>
              <a:rPr kumimoji="0" lang="en-AU" sz="800" b="0" i="0" u="none" strike="noStrike" kern="1200" cap="none" spc="0" normalizeH="0" baseline="0" noProof="0">
                <a:ln>
                  <a:noFill/>
                </a:ln>
                <a:solidFill>
                  <a:srgbClr val="191B26"/>
                </a:solidFill>
                <a:effectLst/>
                <a:uLnTx/>
                <a:uFillTx/>
                <a:latin typeface="Open Sans"/>
                <a:ea typeface="Open Sans"/>
                <a:cs typeface="Open Sans"/>
              </a:rPr>
              <a:t> from </a:t>
            </a:r>
            <a:r>
              <a:rPr kumimoji="0" lang="en-AU" sz="800" b="0" i="0" u="sng" strike="noStrike" kern="1200" cap="none" spc="0" normalizeH="0" baseline="0" noProof="0">
                <a:ln>
                  <a:noFill/>
                </a:ln>
                <a:solidFill>
                  <a:srgbClr val="191B26"/>
                </a:solidFill>
                <a:effectLst/>
                <a:uLnTx/>
                <a:uFillTx/>
                <a:latin typeface="Open Sans"/>
                <a:ea typeface="Open Sans"/>
                <a:cs typeface="Open Sans"/>
                <a:hlinkClick r:id="rId6"/>
              </a:rPr>
              <a:t>Pixabay</a:t>
            </a:r>
            <a:endParaRPr kumimoji="0" lang="en-AU" sz="800" b="0" i="0" u="sng" strike="noStrike" kern="1200" cap="none" spc="0" normalizeH="0" baseline="0" noProof="0">
              <a:ln>
                <a:noFill/>
              </a:ln>
              <a:solidFill>
                <a:srgbClr val="191B26"/>
              </a:solidFill>
              <a:effectLst/>
              <a:uLnTx/>
              <a:uFillTx/>
              <a:latin typeface="Open Sans"/>
              <a:ea typeface="Open Sans"/>
              <a:cs typeface="Open Sans"/>
            </a:endParaRPr>
          </a:p>
        </p:txBody>
      </p:sp>
      <p:grpSp>
        <p:nvGrpSpPr>
          <p:cNvPr id="23" name="Group 22">
            <a:extLst>
              <a:ext uri="{FF2B5EF4-FFF2-40B4-BE49-F238E27FC236}">
                <a16:creationId xmlns:a16="http://schemas.microsoft.com/office/drawing/2014/main" id="{798A129D-18E3-4490-94E5-9806CFF7228E}"/>
              </a:ext>
            </a:extLst>
          </p:cNvPr>
          <p:cNvGrpSpPr/>
          <p:nvPr/>
        </p:nvGrpSpPr>
        <p:grpSpPr>
          <a:xfrm>
            <a:off x="1180439" y="232079"/>
            <a:ext cx="3167254" cy="1588576"/>
            <a:chOff x="243281" y="1191236"/>
            <a:chExt cx="4335619" cy="2174584"/>
          </a:xfrm>
        </p:grpSpPr>
        <p:pic>
          <p:nvPicPr>
            <p:cNvPr id="22" name="Picture 21" descr="A green car with black wheels&#10;&#10;Description automatically generated">
              <a:extLst>
                <a:ext uri="{FF2B5EF4-FFF2-40B4-BE49-F238E27FC236}">
                  <a16:creationId xmlns:a16="http://schemas.microsoft.com/office/drawing/2014/main" id="{06EC4503-D9B0-48EA-B723-71CA366A6FA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43281" y="1191236"/>
              <a:ext cx="4335619" cy="2174584"/>
            </a:xfrm>
            <a:prstGeom prst="rect">
              <a:avLst/>
            </a:prstGeom>
          </p:spPr>
        </p:pic>
        <p:pic>
          <p:nvPicPr>
            <p:cNvPr id="7" name="Picture 6" descr="A blue and green spiral&#10;&#10;Description automatically generated">
              <a:extLst>
                <a:ext uri="{FF2B5EF4-FFF2-40B4-BE49-F238E27FC236}">
                  <a16:creationId xmlns:a16="http://schemas.microsoft.com/office/drawing/2014/main" id="{E0B04ED7-3B0D-4138-9C9F-B3D186D65E1E}"/>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243122" y="1969441"/>
              <a:ext cx="830285" cy="600864"/>
            </a:xfrm>
            <a:prstGeom prst="rect">
              <a:avLst/>
            </a:prstGeom>
          </p:spPr>
        </p:pic>
      </p:grpSp>
      <p:sp>
        <p:nvSpPr>
          <p:cNvPr id="24" name="TextBox 23">
            <a:extLst>
              <a:ext uri="{FF2B5EF4-FFF2-40B4-BE49-F238E27FC236}">
                <a16:creationId xmlns:a16="http://schemas.microsoft.com/office/drawing/2014/main" id="{043A7F89-974C-4DC1-AC17-276CAB7F2EF6}"/>
              </a:ext>
            </a:extLst>
          </p:cNvPr>
          <p:cNvSpPr txBox="1"/>
          <p:nvPr/>
        </p:nvSpPr>
        <p:spPr>
          <a:xfrm>
            <a:off x="4444254" y="213783"/>
            <a:ext cx="7563837" cy="1754326"/>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800" b="0" i="0" u="none" strike="noStrike" kern="1200" cap="none" spc="0" normalizeH="0" baseline="0" noProof="0" dirty="0">
                <a:ln>
                  <a:noFill/>
                </a:ln>
                <a:solidFill>
                  <a:prstClr val="black"/>
                </a:solidFill>
                <a:effectLst/>
                <a:uLnTx/>
                <a:uFillTx/>
                <a:latin typeface="Calibri" panose="020F0502020204030204"/>
                <a:ea typeface="+mn-ea"/>
                <a:cs typeface="+mn-cs"/>
              </a:rPr>
              <a:t>You will be the proud new owner of a </a:t>
            </a:r>
            <a:r>
              <a:rPr kumimoji="0" lang="en-AU" sz="1800" b="1" i="0" u="none" strike="noStrike" kern="1200" cap="none" spc="0" normalizeH="0" baseline="0" noProof="0" dirty="0">
                <a:ln>
                  <a:noFill/>
                </a:ln>
                <a:solidFill>
                  <a:prstClr val="black"/>
                </a:solidFill>
                <a:effectLst/>
                <a:uLnTx/>
                <a:uFillTx/>
                <a:latin typeface="Calibri" panose="020F0502020204030204"/>
                <a:ea typeface="+mn-ea"/>
                <a:cs typeface="+mn-cs"/>
              </a:rPr>
              <a:t>Webex Attendee account!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1"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800" b="0" i="0" u="none" strike="noStrike" kern="1200" cap="none" spc="0" normalizeH="0" baseline="0" noProof="0" dirty="0">
                <a:ln>
                  <a:noFill/>
                </a:ln>
                <a:solidFill>
                  <a:prstClr val="black"/>
                </a:solidFill>
                <a:effectLst/>
                <a:uLnTx/>
                <a:uFillTx/>
                <a:latin typeface="Calibri" panose="020F0502020204030204"/>
                <a:ea typeface="+mn-ea"/>
                <a:cs typeface="+mn-cs"/>
              </a:rPr>
              <a:t>This means you will need to sign in to your Webex lessons instead of joining as a guest. You will need to click the ‘Sign in’ link as shown below.</a:t>
            </a:r>
            <a:endParaRPr kumimoji="0" lang="en-AU" sz="1800" b="0" i="0" u="none" strike="noStrike" kern="1200" cap="none" spc="0" normalizeH="0" baseline="0" noProof="0" dirty="0">
              <a:ln>
                <a:noFill/>
              </a:ln>
              <a:solidFill>
                <a:prstClr val="black"/>
              </a:solidFill>
              <a:effectLst/>
              <a:uLnTx/>
              <a:uFillTx/>
              <a:latin typeface="Calibri" panose="020F0502020204030204"/>
              <a:ea typeface="+mn-ea"/>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5" name="Picture 24">
            <a:extLst>
              <a:ext uri="{FF2B5EF4-FFF2-40B4-BE49-F238E27FC236}">
                <a16:creationId xmlns:a16="http://schemas.microsoft.com/office/drawing/2014/main" id="{34012357-5A6A-4269-8236-B07C5A0F3151}"/>
              </a:ext>
            </a:extLst>
          </p:cNvPr>
          <p:cNvPicPr>
            <a:picLocks noChangeAspect="1"/>
          </p:cNvPicPr>
          <p:nvPr/>
        </p:nvPicPr>
        <p:blipFill>
          <a:blip r:embed="rId9"/>
          <a:stretch>
            <a:fillRect/>
          </a:stretch>
        </p:blipFill>
        <p:spPr>
          <a:xfrm>
            <a:off x="6969157" y="1968109"/>
            <a:ext cx="4673949" cy="3552502"/>
          </a:xfrm>
          <a:prstGeom prst="rect">
            <a:avLst/>
          </a:prstGeom>
        </p:spPr>
      </p:pic>
      <p:sp>
        <p:nvSpPr>
          <p:cNvPr id="26" name="TextBox 25">
            <a:extLst>
              <a:ext uri="{FF2B5EF4-FFF2-40B4-BE49-F238E27FC236}">
                <a16:creationId xmlns:a16="http://schemas.microsoft.com/office/drawing/2014/main" id="{86049838-6A34-4998-ACEE-27451230F676}"/>
              </a:ext>
            </a:extLst>
          </p:cNvPr>
          <p:cNvSpPr txBox="1"/>
          <p:nvPr/>
        </p:nvSpPr>
        <p:spPr>
          <a:xfrm>
            <a:off x="415777" y="1968109"/>
            <a:ext cx="5964024" cy="4524315"/>
          </a:xfrm>
          <a:prstGeom prst="rect">
            <a:avLst/>
          </a:prstGeom>
          <a:solidFill>
            <a:srgbClr val="E5FFF1"/>
          </a:solid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800" b="1" i="0" u="none" strike="noStrike" kern="1200" cap="none" spc="0" normalizeH="0" baseline="0" noProof="0">
                <a:ln>
                  <a:noFill/>
                </a:ln>
                <a:solidFill>
                  <a:prstClr val="black"/>
                </a:solidFill>
                <a:effectLst/>
                <a:uLnTx/>
                <a:uFillTx/>
                <a:latin typeface="Calibri" panose="020F0502020204030204"/>
                <a:ea typeface="+mn-ea"/>
                <a:cs typeface="+mn-cs"/>
              </a:rPr>
              <a:t>How will I know what to do?</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AU" sz="1800" b="0" i="0" u="none" strike="noStrike" kern="1200" cap="none" spc="0" normalizeH="0" baseline="0" noProof="0">
                <a:ln>
                  <a:noFill/>
                </a:ln>
                <a:solidFill>
                  <a:prstClr val="black"/>
                </a:solidFill>
                <a:effectLst/>
                <a:uLnTx/>
                <a:uFillTx/>
                <a:latin typeface="Calibri" panose="020F0502020204030204"/>
                <a:ea typeface="+mn-ea"/>
                <a:cs typeface="+mn-cs"/>
              </a:rPr>
              <a:t>Keep an eye on your Department of Education (DOE) email – SIDE will be sending information to all students.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AU" sz="1800" b="0" i="0" u="none" strike="noStrike" kern="1200" cap="none" spc="0" normalizeH="0" baseline="0" noProof="0">
                <a:ln>
                  <a:noFill/>
                </a:ln>
                <a:solidFill>
                  <a:prstClr val="black"/>
                </a:solidFill>
                <a:effectLst/>
                <a:uLnTx/>
                <a:uFillTx/>
                <a:latin typeface="Calibri" panose="020F0502020204030204"/>
                <a:ea typeface="+mn-ea"/>
                <a:cs typeface="+mn-cs"/>
              </a:rPr>
              <a:t>Visit the SIDE Website.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AU" sz="1800" b="0" i="0" u="none" strike="noStrike" kern="1200" cap="none" spc="0" normalizeH="0" baseline="0" noProof="0">
                <a:ln>
                  <a:noFill/>
                </a:ln>
                <a:solidFill>
                  <a:prstClr val="black"/>
                </a:solidFill>
                <a:effectLst/>
                <a:uLnTx/>
                <a:uFillTx/>
                <a:latin typeface="Calibri" panose="020F0502020204030204"/>
                <a:ea typeface="+mn-ea"/>
                <a:cs typeface="+mn-cs"/>
              </a:rPr>
              <a:t>Your teachers/supervisors also will remind you of the new process.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800" b="1" i="0" u="none" strike="noStrike" kern="1200" cap="none" spc="0" normalizeH="0" baseline="0" noProof="0">
                <a:ln>
                  <a:noFill/>
                </a:ln>
                <a:solidFill>
                  <a:prstClr val="black"/>
                </a:solidFill>
                <a:effectLst/>
                <a:uLnTx/>
                <a:uFillTx/>
                <a:latin typeface="Calibri" panose="020F0502020204030204"/>
                <a:ea typeface="+mn-ea"/>
                <a:cs typeface="+mn-cs"/>
              </a:rPr>
              <a:t>What if I have issues with signing in?</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AU" sz="1800" b="0" i="0" u="none" strike="noStrike" kern="1200" cap="none" spc="0" normalizeH="0" baseline="0" noProof="0">
                <a:ln>
                  <a:noFill/>
                </a:ln>
                <a:solidFill>
                  <a:prstClr val="black"/>
                </a:solidFill>
                <a:effectLst/>
                <a:uLnTx/>
                <a:uFillTx/>
                <a:latin typeface="Calibri" panose="020F0502020204030204"/>
                <a:ea typeface="+mn-ea"/>
                <a:cs typeface="+mn-cs"/>
              </a:rPr>
              <a:t>Tell your teacher and email </a:t>
            </a:r>
            <a:r>
              <a:rPr kumimoji="0" lang="en-AU" sz="1800" b="0" i="0" u="none" strike="noStrike" kern="1200" cap="none" spc="0" normalizeH="0" baseline="0" noProof="0">
                <a:ln>
                  <a:noFill/>
                </a:ln>
                <a:solidFill>
                  <a:prstClr val="black"/>
                </a:solidFill>
                <a:effectLst/>
                <a:uLnTx/>
                <a:uFillTx/>
                <a:latin typeface="Calibri" panose="020F0502020204030204"/>
                <a:ea typeface="+mn-ea"/>
                <a:cs typeface="+mn-cs"/>
                <a:hlinkClick r:id="rId10"/>
              </a:rPr>
              <a:t>studenthelp@side.wa.edu.au</a:t>
            </a:r>
            <a:r>
              <a:rPr kumimoji="0" lang="en-AU" sz="1800" b="0" i="0" u="none" strike="noStrike" kern="1200" cap="none" spc="0" normalizeH="0" baseline="0" noProof="0">
                <a:ln>
                  <a:noFill/>
                </a:ln>
                <a:solidFill>
                  <a:prstClr val="black"/>
                </a:solidFill>
                <a:effectLst/>
                <a:uLnTx/>
                <a:uFillTx/>
                <a:latin typeface="Calibri" panose="020F0502020204030204"/>
                <a:ea typeface="+mn-ea"/>
                <a:cs typeface="+mn-cs"/>
              </a:rPr>
              <a:t>.</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AU" sz="1800" b="0" i="0" u="none" strike="noStrike" kern="1200" cap="none" spc="0" normalizeH="0" baseline="0" noProof="0">
                <a:ln>
                  <a:noFill/>
                </a:ln>
                <a:solidFill>
                  <a:prstClr val="black"/>
                </a:solidFill>
                <a:effectLst/>
                <a:uLnTx/>
                <a:uFillTx/>
                <a:latin typeface="Calibri" panose="020F0502020204030204"/>
                <a:ea typeface="+mn-ea"/>
                <a:cs typeface="+mn-cs"/>
              </a:rPr>
              <a:t>You will still be able to join as a guest for now (the old way of joining your lessons).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1"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800" b="1" i="0" u="none" strike="noStrike" kern="1200" cap="none" spc="0" normalizeH="0" baseline="0" noProof="0">
                <a:ln>
                  <a:noFill/>
                </a:ln>
                <a:solidFill>
                  <a:prstClr val="black"/>
                </a:solidFill>
                <a:effectLst/>
                <a:uLnTx/>
                <a:uFillTx/>
                <a:latin typeface="Calibri" panose="020F0502020204030204"/>
                <a:ea typeface="+mn-ea"/>
                <a:cs typeface="+mn-cs"/>
              </a:rPr>
              <a:t>But why?</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AU" sz="1800" b="0" i="0" u="none" strike="noStrike" kern="1200" cap="none" spc="0" normalizeH="0" baseline="0" noProof="0">
                <a:ln>
                  <a:noFill/>
                </a:ln>
                <a:solidFill>
                  <a:prstClr val="black"/>
                </a:solidFill>
                <a:effectLst/>
                <a:uLnTx/>
                <a:uFillTx/>
                <a:latin typeface="Calibri" panose="020F0502020204030204"/>
                <a:ea typeface="+mn-ea"/>
                <a:cs typeface="+mn-cs"/>
              </a:rPr>
              <a:t>This change improves security.</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AU" sz="1800" b="1" i="0" u="none" strike="noStrike" kern="1200" cap="none" spc="0" normalizeH="0" baseline="0" noProof="0">
                <a:ln>
                  <a:noFill/>
                </a:ln>
                <a:solidFill>
                  <a:prstClr val="black"/>
                </a:solidFill>
                <a:effectLst/>
                <a:uLnTx/>
                <a:uFillTx/>
                <a:latin typeface="Calibri" panose="020F0502020204030204"/>
                <a:ea typeface="+mn-ea"/>
                <a:cs typeface="+mn-cs"/>
              </a:rPr>
              <a:t>And</a:t>
            </a:r>
            <a:r>
              <a:rPr kumimoji="0" lang="en-AU" sz="1800" b="0" i="0" u="none" strike="noStrike" kern="1200" cap="none" spc="0" normalizeH="0" baseline="0" noProof="0">
                <a:ln>
                  <a:noFill/>
                </a:ln>
                <a:solidFill>
                  <a:prstClr val="black"/>
                </a:solidFill>
                <a:effectLst/>
                <a:uLnTx/>
                <a:uFillTx/>
                <a:latin typeface="Calibri" panose="020F0502020204030204"/>
                <a:ea typeface="+mn-ea"/>
                <a:cs typeface="+mn-cs"/>
              </a:rPr>
              <a:t> once you have completed the new sign in process, getting into your lessons will be much quicker!</a:t>
            </a:r>
          </a:p>
        </p:txBody>
      </p:sp>
      <p:sp>
        <p:nvSpPr>
          <p:cNvPr id="28" name="TextBox 27">
            <a:extLst>
              <a:ext uri="{FF2B5EF4-FFF2-40B4-BE49-F238E27FC236}">
                <a16:creationId xmlns:a16="http://schemas.microsoft.com/office/drawing/2014/main" id="{3B649664-670F-436A-BECD-01EFDB79E321}"/>
              </a:ext>
            </a:extLst>
          </p:cNvPr>
          <p:cNvSpPr txBox="1"/>
          <p:nvPr/>
        </p:nvSpPr>
        <p:spPr>
          <a:xfrm>
            <a:off x="6884490" y="5601652"/>
            <a:ext cx="5637032" cy="923330"/>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800" b="0" i="0" u="none" strike="noStrike" kern="1200" cap="none" spc="0" normalizeH="0" baseline="0" noProof="0">
                <a:ln>
                  <a:noFill/>
                </a:ln>
                <a:solidFill>
                  <a:prstClr val="black"/>
                </a:solidFill>
                <a:effectLst/>
                <a:uLnTx/>
                <a:uFillTx/>
                <a:latin typeface="Calibri" panose="020F0502020204030204"/>
                <a:ea typeface="+mn-ea"/>
                <a:cs typeface="+mn-cs"/>
              </a:rPr>
              <a:t>You will sign in with your DOE student details:</a:t>
            </a:r>
            <a:endParaRPr kumimoji="0" lang="en-AU" sz="1800" b="0" i="0" u="none" strike="noStrike" kern="1200" cap="none" spc="0" normalizeH="0" baseline="0" noProof="0">
              <a:ln>
                <a:noFill/>
              </a:ln>
              <a:solidFill>
                <a:prstClr val="black"/>
              </a:solidFill>
              <a:effectLst/>
              <a:uLnTx/>
              <a:uFillTx/>
              <a:latin typeface="Calibri" panose="020F0502020204030204"/>
              <a:ea typeface="+mn-ea"/>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800" b="0" i="0" u="none" strike="noStrike" kern="1200" cap="none" spc="0" normalizeH="0" baseline="0" noProof="0">
                <a:ln>
                  <a:noFill/>
                </a:ln>
                <a:solidFill>
                  <a:prstClr val="black"/>
                </a:solidFill>
                <a:effectLst/>
                <a:uLnTx/>
                <a:uFillTx/>
                <a:latin typeface="Calibri" panose="020F0502020204030204"/>
                <a:ea typeface="+mn-ea"/>
                <a:cs typeface="Calibri"/>
              </a:rPr>
              <a:t>Email: username@student.education.wa.edu.au</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800" b="0" i="0" u="none" strike="noStrike" kern="1200" cap="none" spc="0" normalizeH="0" baseline="0" noProof="0">
                <a:ln>
                  <a:noFill/>
                </a:ln>
                <a:solidFill>
                  <a:prstClr val="black"/>
                </a:solidFill>
                <a:effectLst/>
                <a:uLnTx/>
                <a:uFillTx/>
                <a:latin typeface="Calibri" panose="020F0502020204030204"/>
                <a:ea typeface="+mn-ea"/>
                <a:cs typeface="Calibri"/>
              </a:rPr>
              <a:t>Password: set by you</a:t>
            </a:r>
          </a:p>
        </p:txBody>
      </p:sp>
      <p:pic>
        <p:nvPicPr>
          <p:cNvPr id="3" name="Picture 3" descr="A red and gold ribbon on a black background&#10;&#10;Description automatically generated">
            <a:extLst>
              <a:ext uri="{FF2B5EF4-FFF2-40B4-BE49-F238E27FC236}">
                <a16:creationId xmlns:a16="http://schemas.microsoft.com/office/drawing/2014/main" id="{B5617F59-BA35-CD35-89DD-FB3A02F91F67}"/>
              </a:ext>
            </a:extLst>
          </p:cNvPr>
          <p:cNvPicPr>
            <a:picLocks noChangeAspect="1"/>
          </p:cNvPicPr>
          <p:nvPr/>
        </p:nvPicPr>
        <p:blipFill rotWithShape="1">
          <a:blip r:embed="rId11"/>
          <a:srcRect r="-386" b="43791"/>
          <a:stretch/>
        </p:blipFill>
        <p:spPr>
          <a:xfrm rot="-1440000">
            <a:off x="1096843" y="397432"/>
            <a:ext cx="2203460" cy="817864"/>
          </a:xfrm>
          <a:prstGeom prst="rect">
            <a:avLst/>
          </a:prstGeom>
        </p:spPr>
      </p:pic>
    </p:spTree>
    <p:extLst>
      <p:ext uri="{BB962C8B-B14F-4D97-AF65-F5344CB8AC3E}">
        <p14:creationId xmlns:p14="http://schemas.microsoft.com/office/powerpoint/2010/main" val="3381504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83628" y="296838"/>
            <a:ext cx="7024744" cy="1143000"/>
          </a:xfrm>
        </p:spPr>
        <p:txBody>
          <a:bodyPr>
            <a:normAutofit/>
          </a:bodyPr>
          <a:lstStyle/>
          <a:p>
            <a:r>
              <a:rPr lang="en-AU" dirty="0">
                <a:solidFill>
                  <a:srgbClr val="00B050"/>
                </a:solidFill>
              </a:rPr>
              <a:t>Year 11 Biology Work Schedule</a:t>
            </a:r>
          </a:p>
        </p:txBody>
      </p:sp>
      <p:sp>
        <p:nvSpPr>
          <p:cNvPr id="3" name="Content Placeholder 2"/>
          <p:cNvSpPr>
            <a:spLocks noGrp="1"/>
          </p:cNvSpPr>
          <p:nvPr>
            <p:ph sz="quarter" idx="1"/>
          </p:nvPr>
        </p:nvSpPr>
        <p:spPr>
          <a:xfrm>
            <a:off x="2245357" y="1001688"/>
            <a:ext cx="7886700" cy="2692785"/>
          </a:xfrm>
        </p:spPr>
        <p:txBody>
          <a:bodyPr>
            <a:normAutofit/>
          </a:bodyPr>
          <a:lstStyle/>
          <a:p>
            <a:pPr marL="0" indent="0">
              <a:buNone/>
            </a:pPr>
            <a:r>
              <a:rPr lang="en-AU" altLang="en-US" sz="2000" dirty="0"/>
              <a:t>It is important to remain on schedule during this Semester.</a:t>
            </a:r>
          </a:p>
          <a:p>
            <a:pPr marL="0" indent="0">
              <a:buNone/>
            </a:pPr>
            <a:r>
              <a:rPr lang="en-AU" altLang="en-US" sz="2000" dirty="0"/>
              <a:t>Moodle</a:t>
            </a:r>
          </a:p>
          <a:p>
            <a:r>
              <a:rPr lang="en-AU" altLang="en-US" sz="2000" dirty="0"/>
              <a:t>Have you visited Moodle this week?        Yes  /  No</a:t>
            </a:r>
          </a:p>
          <a:p>
            <a:pPr marL="0" indent="0">
              <a:buNone/>
            </a:pPr>
            <a:r>
              <a:rPr lang="en-AU" altLang="en-US" sz="2000" dirty="0"/>
              <a:t>Tasks</a:t>
            </a:r>
          </a:p>
          <a:p>
            <a:r>
              <a:rPr lang="en-AU" altLang="en-US" sz="2000" dirty="0"/>
              <a:t>Are you on schedule?		    	        Yes  /  No</a:t>
            </a:r>
          </a:p>
          <a:p>
            <a:r>
              <a:rPr lang="en-AU" altLang="en-US" sz="2000" dirty="0"/>
              <a:t>When is your next task due?</a:t>
            </a:r>
          </a:p>
          <a:p>
            <a:endParaRPr lang="en-AU" dirty="0"/>
          </a:p>
        </p:txBody>
      </p:sp>
      <p:pic>
        <p:nvPicPr>
          <p:cNvPr id="5" name="Picture 4"/>
          <p:cNvPicPr>
            <a:picLocks noChangeAspect="1"/>
          </p:cNvPicPr>
          <p:nvPr/>
        </p:nvPicPr>
        <p:blipFill>
          <a:blip r:embed="rId2"/>
          <a:stretch>
            <a:fillRect/>
          </a:stretch>
        </p:blipFill>
        <p:spPr>
          <a:xfrm>
            <a:off x="1505607" y="3694473"/>
            <a:ext cx="10277898" cy="2866689"/>
          </a:xfrm>
          <a:prstGeom prst="rect">
            <a:avLst/>
          </a:prstGeom>
        </p:spPr>
      </p:pic>
      <p:sp>
        <p:nvSpPr>
          <p:cNvPr id="4" name="Arrow: Right 3">
            <a:extLst>
              <a:ext uri="{FF2B5EF4-FFF2-40B4-BE49-F238E27FC236}">
                <a16:creationId xmlns:a16="http://schemas.microsoft.com/office/drawing/2014/main" id="{2763E852-2E2C-4EC6-BFD7-087974D63CC5}"/>
              </a:ext>
            </a:extLst>
          </p:cNvPr>
          <p:cNvSpPr/>
          <p:nvPr/>
        </p:nvSpPr>
        <p:spPr>
          <a:xfrm rot="16200000">
            <a:off x="5181599" y="5696695"/>
            <a:ext cx="514350" cy="50482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22151756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89212" y="214499"/>
            <a:ext cx="8911687" cy="1280890"/>
          </a:xfrm>
        </p:spPr>
        <p:txBody>
          <a:bodyPr/>
          <a:lstStyle/>
          <a:p>
            <a:r>
              <a:rPr lang="en-AU" b="1" dirty="0">
                <a:solidFill>
                  <a:srgbClr val="00B050"/>
                </a:solidFill>
              </a:rPr>
              <a:t>Review</a:t>
            </a:r>
          </a:p>
        </p:txBody>
      </p:sp>
      <p:sp>
        <p:nvSpPr>
          <p:cNvPr id="3" name="Content Placeholder 2"/>
          <p:cNvSpPr>
            <a:spLocks noGrp="1"/>
          </p:cNvSpPr>
          <p:nvPr>
            <p:ph idx="1"/>
          </p:nvPr>
        </p:nvSpPr>
        <p:spPr>
          <a:xfrm>
            <a:off x="2589212" y="1133476"/>
            <a:ext cx="8915400" cy="5338576"/>
          </a:xfrm>
        </p:spPr>
        <p:txBody>
          <a:bodyPr>
            <a:normAutofit lnSpcReduction="10000"/>
          </a:bodyPr>
          <a:lstStyle/>
          <a:p>
            <a:pPr marL="0" indent="0">
              <a:buNone/>
            </a:pPr>
            <a:r>
              <a:rPr lang="en-AU" sz="1900" dirty="0">
                <a:latin typeface="Calibri" panose="020F0502020204030204" pitchFamily="34" charset="0"/>
                <a:cs typeface="Calibri" panose="020F0502020204030204" pitchFamily="34" charset="0"/>
              </a:rPr>
              <a:t>Decide if the following statements are TRUE of FALSE.</a:t>
            </a:r>
          </a:p>
          <a:p>
            <a:pPr marL="0" indent="0">
              <a:buNone/>
            </a:pPr>
            <a:endParaRPr lang="en-AU" sz="1900" dirty="0">
              <a:latin typeface="Calibri" panose="020F0502020204030204" pitchFamily="34" charset="0"/>
              <a:cs typeface="Calibri" panose="020F0502020204030204" pitchFamily="34" charset="0"/>
            </a:endParaRPr>
          </a:p>
          <a:p>
            <a:r>
              <a:rPr lang="en-AU" sz="1900" dirty="0">
                <a:latin typeface="Calibri" panose="020F0502020204030204" pitchFamily="34" charset="0"/>
                <a:cs typeface="Calibri" panose="020F0502020204030204" pitchFamily="34" charset="0"/>
              </a:rPr>
              <a:t>Charged particles must move across membranes through specific ion channels.</a:t>
            </a:r>
          </a:p>
          <a:p>
            <a:pPr marL="0" indent="0" algn="ctr">
              <a:buNone/>
            </a:pPr>
            <a:r>
              <a:rPr lang="en-AU" sz="1900" dirty="0">
                <a:latin typeface="Calibri" panose="020F0502020204030204" pitchFamily="34" charset="0"/>
                <a:cs typeface="Calibri" panose="020F0502020204030204" pitchFamily="34" charset="0"/>
              </a:rPr>
              <a:t>TRUE             FALSE</a:t>
            </a:r>
          </a:p>
          <a:p>
            <a:pPr marL="0" indent="0" algn="ctr">
              <a:buNone/>
            </a:pPr>
            <a:endParaRPr lang="en-AU" sz="1900" dirty="0">
              <a:latin typeface="Calibri" panose="020F0502020204030204" pitchFamily="34" charset="0"/>
              <a:cs typeface="Calibri" panose="020F0502020204030204" pitchFamily="34" charset="0"/>
            </a:endParaRPr>
          </a:p>
          <a:p>
            <a:r>
              <a:rPr lang="en-AU" sz="1900" dirty="0">
                <a:latin typeface="Calibri" panose="020F0502020204030204" pitchFamily="34" charset="0"/>
                <a:cs typeface="Calibri" panose="020F0502020204030204" pitchFamily="34" charset="0"/>
              </a:rPr>
              <a:t>A steep concentration gradient increases the rate of diffusion.</a:t>
            </a:r>
          </a:p>
          <a:p>
            <a:pPr marL="0" indent="0" algn="ctr">
              <a:buNone/>
            </a:pPr>
            <a:r>
              <a:rPr lang="en-AU" sz="1900" dirty="0">
                <a:latin typeface="Calibri" panose="020F0502020204030204" pitchFamily="34" charset="0"/>
                <a:cs typeface="Calibri" panose="020F0502020204030204" pitchFamily="34" charset="0"/>
              </a:rPr>
              <a:t>TRUE             FALSE</a:t>
            </a:r>
          </a:p>
          <a:p>
            <a:pPr marL="0" indent="0">
              <a:buNone/>
            </a:pPr>
            <a:endParaRPr lang="en-AU" sz="1900" dirty="0">
              <a:latin typeface="Calibri" panose="020F0502020204030204" pitchFamily="34" charset="0"/>
              <a:cs typeface="Calibri" panose="020F0502020204030204" pitchFamily="34" charset="0"/>
            </a:endParaRPr>
          </a:p>
          <a:p>
            <a:r>
              <a:rPr lang="en-AU" sz="1900" dirty="0">
                <a:latin typeface="Calibri" panose="020F0502020204030204" pitchFamily="34" charset="0"/>
                <a:cs typeface="Calibri" panose="020F0502020204030204" pitchFamily="34" charset="0"/>
              </a:rPr>
              <a:t>During osmosis substances move from areas of low water concentration to high water concentration.</a:t>
            </a:r>
          </a:p>
          <a:p>
            <a:pPr marL="0" indent="0" algn="ctr">
              <a:buNone/>
            </a:pPr>
            <a:r>
              <a:rPr lang="en-AU" sz="1900" dirty="0">
                <a:latin typeface="Calibri" panose="020F0502020204030204" pitchFamily="34" charset="0"/>
                <a:cs typeface="Calibri" panose="020F0502020204030204" pitchFamily="34" charset="0"/>
              </a:rPr>
              <a:t>TRUE             FALSE</a:t>
            </a:r>
          </a:p>
          <a:p>
            <a:endParaRPr lang="en-AU" sz="1900" dirty="0">
              <a:latin typeface="Calibri" panose="020F0502020204030204" pitchFamily="34" charset="0"/>
              <a:cs typeface="Calibri" panose="020F0502020204030204" pitchFamily="34" charset="0"/>
            </a:endParaRPr>
          </a:p>
          <a:p>
            <a:r>
              <a:rPr lang="en-AU" sz="1900" dirty="0">
                <a:latin typeface="Calibri" panose="020F0502020204030204" pitchFamily="34" charset="0"/>
                <a:cs typeface="Calibri" panose="020F0502020204030204" pitchFamily="34" charset="0"/>
              </a:rPr>
              <a:t>A low surface area to volume ratio increases the efficiency of material transport.</a:t>
            </a:r>
          </a:p>
          <a:p>
            <a:pPr marL="0" indent="0" algn="ctr">
              <a:buNone/>
            </a:pPr>
            <a:r>
              <a:rPr lang="en-AU" sz="1900" dirty="0">
                <a:latin typeface="Calibri" panose="020F0502020204030204" pitchFamily="34" charset="0"/>
                <a:cs typeface="Calibri" panose="020F0502020204030204" pitchFamily="34" charset="0"/>
              </a:rPr>
              <a:t>TRUE             FALSE</a:t>
            </a:r>
          </a:p>
          <a:p>
            <a:pPr marL="0" indent="0">
              <a:buNone/>
            </a:pPr>
            <a:endParaRPr lang="en-AU" b="1" dirty="0"/>
          </a:p>
          <a:p>
            <a:endParaRPr lang="en-AU" b="1" dirty="0"/>
          </a:p>
          <a:p>
            <a:pPr marL="0" indent="0">
              <a:buNone/>
            </a:pPr>
            <a:endParaRPr lang="en-AU" b="1" dirty="0"/>
          </a:p>
        </p:txBody>
      </p:sp>
    </p:spTree>
    <p:extLst>
      <p:ext uri="{BB962C8B-B14F-4D97-AF65-F5344CB8AC3E}">
        <p14:creationId xmlns:p14="http://schemas.microsoft.com/office/powerpoint/2010/main" val="3889314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721214"/>
          </a:xfrm>
        </p:spPr>
        <p:txBody>
          <a:bodyPr/>
          <a:lstStyle/>
          <a:p>
            <a:r>
              <a:rPr lang="en-AU" dirty="0">
                <a:solidFill>
                  <a:srgbClr val="00B050"/>
                </a:solidFill>
              </a:rPr>
              <a:t>Learning Intentions</a:t>
            </a:r>
          </a:p>
        </p:txBody>
      </p:sp>
      <p:sp>
        <p:nvSpPr>
          <p:cNvPr id="3" name="Content Placeholder 2"/>
          <p:cNvSpPr>
            <a:spLocks noGrp="1"/>
          </p:cNvSpPr>
          <p:nvPr>
            <p:ph idx="1"/>
          </p:nvPr>
        </p:nvSpPr>
        <p:spPr>
          <a:xfrm>
            <a:off x="2592925" y="1545020"/>
            <a:ext cx="8915400" cy="2081049"/>
          </a:xfrm>
        </p:spPr>
        <p:txBody>
          <a:bodyPr>
            <a:normAutofit/>
          </a:bodyPr>
          <a:lstStyle/>
          <a:p>
            <a:pPr marL="0" lvl="0" indent="0">
              <a:buNone/>
            </a:pPr>
            <a:r>
              <a:rPr lang="en-AU" dirty="0"/>
              <a:t>Understand:</a:t>
            </a:r>
          </a:p>
          <a:p>
            <a:pPr lvl="0"/>
            <a:r>
              <a:rPr lang="en-AU" dirty="0"/>
              <a:t>Biological molecules are synthesised from monomers to produce complex structures, including carbohydrates, proteins and lipids.</a:t>
            </a:r>
          </a:p>
          <a:p>
            <a:pPr lvl="0"/>
            <a:r>
              <a:rPr lang="en-AU" dirty="0"/>
              <a:t>Biochemical processes in the cell are controlled by factors, including the nature and arrangement of internal membranes, and the presence of specific enzymes.</a:t>
            </a:r>
          </a:p>
          <a:p>
            <a:pPr lvl="0"/>
            <a:endParaRPr lang="en-AU" dirty="0"/>
          </a:p>
          <a:p>
            <a:endParaRPr lang="en-AU" dirty="0"/>
          </a:p>
        </p:txBody>
      </p:sp>
      <p:sp>
        <p:nvSpPr>
          <p:cNvPr id="4" name="Title 1"/>
          <p:cNvSpPr txBox="1">
            <a:spLocks/>
          </p:cNvSpPr>
          <p:nvPr/>
        </p:nvSpPr>
        <p:spPr>
          <a:xfrm>
            <a:off x="2592925" y="3626069"/>
            <a:ext cx="8911687" cy="721214"/>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2">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dirty="0">
                <a:solidFill>
                  <a:srgbClr val="00B050"/>
                </a:solidFill>
              </a:rPr>
              <a:t>Success Criteria</a:t>
            </a:r>
          </a:p>
        </p:txBody>
      </p:sp>
      <p:sp>
        <p:nvSpPr>
          <p:cNvPr id="5" name="Content Placeholder 2"/>
          <p:cNvSpPr txBox="1">
            <a:spLocks/>
          </p:cNvSpPr>
          <p:nvPr/>
        </p:nvSpPr>
        <p:spPr>
          <a:xfrm>
            <a:off x="2589212" y="4329007"/>
            <a:ext cx="8915400" cy="2528993"/>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buFont typeface="Wingdings 3" charset="2"/>
              <a:buNone/>
            </a:pPr>
            <a:r>
              <a:rPr lang="en-AU" dirty="0"/>
              <a:t>Students will be able to:</a:t>
            </a:r>
          </a:p>
          <a:p>
            <a:r>
              <a:rPr lang="en-AU" dirty="0"/>
              <a:t>Define the terms monomer and polymer.</a:t>
            </a:r>
          </a:p>
          <a:p>
            <a:r>
              <a:rPr lang="en-AU" dirty="0"/>
              <a:t>Explain the chemical composition of proteins, carbohydrates, nucleic acids and lipids and list important biological roles of these macromolecules.</a:t>
            </a:r>
          </a:p>
          <a:p>
            <a:r>
              <a:rPr lang="en-AU" dirty="0"/>
              <a:t>Describe anabolic and catabolic reactions.</a:t>
            </a:r>
          </a:p>
          <a:p>
            <a:endParaRPr lang="en-AU" dirty="0"/>
          </a:p>
          <a:p>
            <a:endParaRPr lang="en-AU" dirty="0"/>
          </a:p>
        </p:txBody>
      </p:sp>
    </p:spTree>
    <p:extLst>
      <p:ext uri="{BB962C8B-B14F-4D97-AF65-F5344CB8AC3E}">
        <p14:creationId xmlns:p14="http://schemas.microsoft.com/office/powerpoint/2010/main" val="3620359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89212" y="234643"/>
            <a:ext cx="8911687" cy="1280890"/>
          </a:xfrm>
        </p:spPr>
        <p:txBody>
          <a:bodyPr/>
          <a:lstStyle/>
          <a:p>
            <a:r>
              <a:rPr lang="en-AU" b="1" dirty="0">
                <a:solidFill>
                  <a:srgbClr val="00B050"/>
                </a:solidFill>
              </a:rPr>
              <a:t>Macromolecules</a:t>
            </a:r>
          </a:p>
        </p:txBody>
      </p:sp>
      <p:sp>
        <p:nvSpPr>
          <p:cNvPr id="3" name="Content Placeholder 2"/>
          <p:cNvSpPr>
            <a:spLocks noGrp="1"/>
          </p:cNvSpPr>
          <p:nvPr>
            <p:ph idx="1"/>
          </p:nvPr>
        </p:nvSpPr>
        <p:spPr>
          <a:xfrm>
            <a:off x="2585499" y="1065324"/>
            <a:ext cx="8915400" cy="5462475"/>
          </a:xfrm>
        </p:spPr>
        <p:txBody>
          <a:bodyPr>
            <a:normAutofit lnSpcReduction="10000"/>
          </a:bodyPr>
          <a:lstStyle/>
          <a:p>
            <a:r>
              <a:rPr lang="en-AU" dirty="0"/>
              <a:t>Every living cell is involved in synthesising large molecules that are needed not only to build the body parts of organisms but also to maintain the biochemical processes that keep them living: communication, transforming energy and relaying genetic information.</a:t>
            </a:r>
          </a:p>
          <a:p>
            <a:r>
              <a:rPr lang="en-AU" dirty="0"/>
              <a:t>These large molecules are called </a:t>
            </a:r>
            <a:r>
              <a:rPr lang="en-AU" b="1" dirty="0"/>
              <a:t>biomacromolecules</a:t>
            </a:r>
            <a:r>
              <a:rPr lang="en-AU" dirty="0"/>
              <a:t>.  </a:t>
            </a:r>
          </a:p>
          <a:p>
            <a:r>
              <a:rPr lang="en-AU" dirty="0"/>
              <a:t>There are four classes –</a:t>
            </a:r>
          </a:p>
          <a:p>
            <a:pPr lvl="1"/>
            <a:r>
              <a:rPr lang="en-AU" dirty="0"/>
              <a:t>Carbohydrate</a:t>
            </a:r>
          </a:p>
          <a:p>
            <a:pPr lvl="1"/>
            <a:r>
              <a:rPr lang="en-AU" dirty="0"/>
              <a:t>Lipid</a:t>
            </a:r>
          </a:p>
          <a:p>
            <a:pPr lvl="1"/>
            <a:r>
              <a:rPr lang="en-AU" dirty="0"/>
              <a:t>Protein</a:t>
            </a:r>
          </a:p>
          <a:p>
            <a:pPr lvl="1"/>
            <a:r>
              <a:rPr lang="en-AU" dirty="0"/>
              <a:t>Nucleic acid</a:t>
            </a:r>
          </a:p>
          <a:p>
            <a:pPr lvl="1"/>
            <a:endParaRPr lang="en-AU" dirty="0"/>
          </a:p>
          <a:p>
            <a:r>
              <a:rPr lang="en-AU" dirty="0"/>
              <a:t>Some organisms can make their own biomacromolecules. Others</a:t>
            </a:r>
            <a:r>
              <a:rPr lang="en-AU" baseline="0" dirty="0"/>
              <a:t> synthesise them from what they have ingested.</a:t>
            </a:r>
          </a:p>
          <a:p>
            <a:r>
              <a:rPr lang="en-AU" baseline="0" dirty="0"/>
              <a:t>Autotrophs build their own organic molecules from the inorganic molecules they have taken in from their surroundings. </a:t>
            </a:r>
          </a:p>
          <a:p>
            <a:r>
              <a:rPr lang="en-AU" baseline="0" dirty="0"/>
              <a:t>Heterotrophs take in organic molecules from their food.</a:t>
            </a:r>
            <a:endParaRPr lang="en-AU" dirty="0"/>
          </a:p>
        </p:txBody>
      </p:sp>
      <p:pic>
        <p:nvPicPr>
          <p:cNvPr id="4" name="Picture 3"/>
          <p:cNvPicPr>
            <a:picLocks noChangeAspect="1"/>
          </p:cNvPicPr>
          <p:nvPr/>
        </p:nvPicPr>
        <p:blipFill rotWithShape="1">
          <a:blip r:embed="rId3"/>
          <a:srcRect l="1703" t="6491" r="26189" b="4260"/>
          <a:stretch/>
        </p:blipFill>
        <p:spPr>
          <a:xfrm>
            <a:off x="6839901" y="2502632"/>
            <a:ext cx="4899098" cy="2121658"/>
          </a:xfrm>
          <a:prstGeom prst="rect">
            <a:avLst/>
          </a:prstGeom>
        </p:spPr>
      </p:pic>
    </p:spTree>
    <p:extLst>
      <p:ext uri="{BB962C8B-B14F-4D97-AF65-F5344CB8AC3E}">
        <p14:creationId xmlns:p14="http://schemas.microsoft.com/office/powerpoint/2010/main" val="17484049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AU" dirty="0">
                <a:solidFill>
                  <a:srgbClr val="00B050"/>
                </a:solidFill>
              </a:rPr>
              <a:t>What do you know?</a:t>
            </a:r>
          </a:p>
        </p:txBody>
      </p:sp>
      <p:sp>
        <p:nvSpPr>
          <p:cNvPr id="3" name="Content Placeholder 2"/>
          <p:cNvSpPr>
            <a:spLocks noGrp="1"/>
          </p:cNvSpPr>
          <p:nvPr>
            <p:ph idx="1"/>
          </p:nvPr>
        </p:nvSpPr>
        <p:spPr>
          <a:xfrm>
            <a:off x="2592925" y="1667608"/>
            <a:ext cx="8915400" cy="3777622"/>
          </a:xfrm>
        </p:spPr>
        <p:txBody>
          <a:bodyPr>
            <a:normAutofit fontScale="25000" lnSpcReduction="20000"/>
          </a:bodyPr>
          <a:lstStyle/>
          <a:p>
            <a:endParaRPr lang="en-AU" sz="6400" dirty="0"/>
          </a:p>
          <a:p>
            <a:pPr marL="0" indent="0">
              <a:buNone/>
            </a:pPr>
            <a:r>
              <a:rPr lang="en-AU" sz="6400" dirty="0">
                <a:solidFill>
                  <a:schemeClr val="accent3">
                    <a:lumMod val="50000"/>
                  </a:schemeClr>
                </a:solidFill>
              </a:rPr>
              <a:t>Simple sugars are found in carbohydrate-rich foods such as</a:t>
            </a:r>
            <a:r>
              <a:rPr lang="en-AU" sz="6400" dirty="0"/>
              <a:t>:</a:t>
            </a:r>
          </a:p>
          <a:p>
            <a:pPr marL="0" indent="0">
              <a:buNone/>
            </a:pPr>
            <a:endParaRPr lang="en-AU" sz="6400" dirty="0"/>
          </a:p>
          <a:p>
            <a:pPr marL="0" indent="0">
              <a:buNone/>
            </a:pPr>
            <a:r>
              <a:rPr lang="en-AU" sz="6400" dirty="0"/>
              <a:t>				 _________________</a:t>
            </a:r>
          </a:p>
          <a:p>
            <a:pPr marL="0" indent="0">
              <a:buNone/>
            </a:pPr>
            <a:endParaRPr lang="en-AU" sz="6400" dirty="0"/>
          </a:p>
          <a:p>
            <a:endParaRPr lang="en-AU" sz="6400" dirty="0"/>
          </a:p>
          <a:p>
            <a:pPr marL="0" indent="0">
              <a:buNone/>
            </a:pPr>
            <a:r>
              <a:rPr lang="en-AU" sz="6400" dirty="0">
                <a:solidFill>
                  <a:schemeClr val="bg2">
                    <a:lumMod val="25000"/>
                  </a:schemeClr>
                </a:solidFill>
              </a:rPr>
              <a:t>Fatty acids are found in lipid-based foods such as: </a:t>
            </a:r>
          </a:p>
          <a:p>
            <a:pPr marL="0" indent="0">
              <a:buNone/>
            </a:pPr>
            <a:endParaRPr lang="en-AU" sz="6400" dirty="0"/>
          </a:p>
          <a:p>
            <a:pPr marL="0" indent="0">
              <a:buNone/>
            </a:pPr>
            <a:r>
              <a:rPr lang="en-AU" sz="6400" dirty="0"/>
              <a:t>				__________________</a:t>
            </a:r>
          </a:p>
          <a:p>
            <a:endParaRPr lang="en-AU" sz="6400" dirty="0"/>
          </a:p>
          <a:p>
            <a:endParaRPr lang="en-AU" sz="6400" dirty="0"/>
          </a:p>
          <a:p>
            <a:pPr marL="0" indent="0">
              <a:buNone/>
            </a:pPr>
            <a:r>
              <a:rPr lang="en-AU" sz="6400" dirty="0">
                <a:solidFill>
                  <a:schemeClr val="tx1"/>
                </a:solidFill>
              </a:rPr>
              <a:t>Amino acids are found in protein-rich foods such as: </a:t>
            </a:r>
          </a:p>
          <a:p>
            <a:pPr marL="0" indent="0">
              <a:buNone/>
            </a:pPr>
            <a:endParaRPr lang="en-AU" sz="6400" dirty="0"/>
          </a:p>
          <a:p>
            <a:pPr marL="0" indent="0">
              <a:buNone/>
            </a:pPr>
            <a:r>
              <a:rPr lang="en-AU" sz="6400" dirty="0"/>
              <a:t>				__________________</a:t>
            </a:r>
          </a:p>
          <a:p>
            <a:endParaRPr lang="en-AU" dirty="0"/>
          </a:p>
        </p:txBody>
      </p:sp>
    </p:spTree>
    <p:extLst>
      <p:ext uri="{BB962C8B-B14F-4D97-AF65-F5344CB8AC3E}">
        <p14:creationId xmlns:p14="http://schemas.microsoft.com/office/powerpoint/2010/main" val="20057563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3"/>
          <a:srcRect b="2671"/>
          <a:stretch/>
        </p:blipFill>
        <p:spPr>
          <a:xfrm>
            <a:off x="7578246" y="3300046"/>
            <a:ext cx="4441303" cy="3329354"/>
          </a:xfrm>
          <a:prstGeom prst="rect">
            <a:avLst/>
          </a:prstGeom>
        </p:spPr>
      </p:pic>
      <p:sp>
        <p:nvSpPr>
          <p:cNvPr id="8" name="Title 1"/>
          <p:cNvSpPr>
            <a:spLocks noGrp="1"/>
          </p:cNvSpPr>
          <p:nvPr>
            <p:ph type="title"/>
          </p:nvPr>
        </p:nvSpPr>
        <p:spPr/>
        <p:txBody>
          <a:bodyPr/>
          <a:lstStyle/>
          <a:p>
            <a:r>
              <a:rPr lang="en-US" b="1" dirty="0">
                <a:solidFill>
                  <a:srgbClr val="00B050"/>
                </a:solidFill>
              </a:rPr>
              <a:t>Carbohydrates</a:t>
            </a:r>
            <a:endParaRPr lang="en-AU" b="1" dirty="0">
              <a:solidFill>
                <a:srgbClr val="00B050"/>
              </a:solidFill>
            </a:endParaRPr>
          </a:p>
        </p:txBody>
      </p:sp>
      <p:sp>
        <p:nvSpPr>
          <p:cNvPr id="5" name="Content Placeholder 4"/>
          <p:cNvSpPr>
            <a:spLocks noGrp="1"/>
          </p:cNvSpPr>
          <p:nvPr>
            <p:ph idx="1"/>
          </p:nvPr>
        </p:nvSpPr>
        <p:spPr>
          <a:xfrm>
            <a:off x="2344552" y="1733549"/>
            <a:ext cx="4685422" cy="4818252"/>
          </a:xfrm>
        </p:spPr>
        <p:txBody>
          <a:bodyPr>
            <a:normAutofit/>
          </a:bodyPr>
          <a:lstStyle/>
          <a:p>
            <a:r>
              <a:rPr lang="en-US" dirty="0"/>
              <a:t>Carbohydrates are the most common compounds in living things. We see and hear about them constantly in relation to our diet. </a:t>
            </a:r>
          </a:p>
          <a:p>
            <a:r>
              <a:rPr lang="en-US" dirty="0"/>
              <a:t>Each molecule consists of </a:t>
            </a:r>
            <a:r>
              <a:rPr lang="en-US" b="1" dirty="0"/>
              <a:t>carbon, hydrogen and oxygen atoms </a:t>
            </a:r>
            <a:r>
              <a:rPr lang="en-US" dirty="0"/>
              <a:t>in the ratio of 1:2:1, giving the general formula for carbohydrates as (CH</a:t>
            </a:r>
            <a:r>
              <a:rPr lang="en-US" sz="1400" dirty="0"/>
              <a:t>2</a:t>
            </a:r>
            <a:r>
              <a:rPr lang="en-US" dirty="0"/>
              <a:t>O)</a:t>
            </a:r>
            <a:r>
              <a:rPr lang="en-US" sz="1600" dirty="0"/>
              <a:t>n</a:t>
            </a:r>
            <a:r>
              <a:rPr lang="en-US" dirty="0"/>
              <a:t>.</a:t>
            </a:r>
          </a:p>
          <a:p>
            <a:pPr lvl="1"/>
            <a:r>
              <a:rPr lang="en-US" dirty="0"/>
              <a:t>Glucose  C</a:t>
            </a:r>
            <a:r>
              <a:rPr lang="en-US" baseline="-25000" dirty="0"/>
              <a:t>6</a:t>
            </a:r>
            <a:r>
              <a:rPr lang="en-US" dirty="0"/>
              <a:t>H</a:t>
            </a:r>
            <a:r>
              <a:rPr lang="en-US" baseline="-25000" dirty="0"/>
              <a:t>12</a:t>
            </a:r>
            <a:r>
              <a:rPr lang="en-US" dirty="0"/>
              <a:t>O</a:t>
            </a:r>
            <a:r>
              <a:rPr lang="en-US" baseline="-25000" dirty="0"/>
              <a:t>6</a:t>
            </a:r>
          </a:p>
          <a:p>
            <a:r>
              <a:rPr lang="en-US" dirty="0"/>
              <a:t>Simple carbohydrates are generally called sugars.</a:t>
            </a:r>
          </a:p>
          <a:p>
            <a:r>
              <a:rPr lang="en-US" dirty="0"/>
              <a:t>Do you know the names of any other simple sugars?</a:t>
            </a:r>
          </a:p>
          <a:p>
            <a:endParaRPr lang="en-AU" dirty="0"/>
          </a:p>
        </p:txBody>
      </p:sp>
      <p:pic>
        <p:nvPicPr>
          <p:cNvPr id="3" name="Picture 2"/>
          <p:cNvPicPr>
            <a:picLocks noChangeAspect="1"/>
          </p:cNvPicPr>
          <p:nvPr/>
        </p:nvPicPr>
        <p:blipFill>
          <a:blip r:embed="rId4"/>
          <a:stretch>
            <a:fillRect/>
          </a:stretch>
        </p:blipFill>
        <p:spPr>
          <a:xfrm>
            <a:off x="7578247" y="359975"/>
            <a:ext cx="3847548" cy="2747149"/>
          </a:xfrm>
          <a:prstGeom prst="rect">
            <a:avLst/>
          </a:prstGeom>
        </p:spPr>
      </p:pic>
    </p:spTree>
    <p:extLst>
      <p:ext uri="{BB962C8B-B14F-4D97-AF65-F5344CB8AC3E}">
        <p14:creationId xmlns:p14="http://schemas.microsoft.com/office/powerpoint/2010/main" val="2620981358"/>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a:solidFill>
                  <a:srgbClr val="00B050"/>
                </a:solidFill>
              </a:rPr>
              <a:t>Carbohydrates</a:t>
            </a:r>
          </a:p>
        </p:txBody>
      </p:sp>
      <p:sp>
        <p:nvSpPr>
          <p:cNvPr id="3" name="Content Placeholder 2"/>
          <p:cNvSpPr>
            <a:spLocks noGrp="1"/>
          </p:cNvSpPr>
          <p:nvPr>
            <p:ph idx="1"/>
          </p:nvPr>
        </p:nvSpPr>
        <p:spPr>
          <a:xfrm>
            <a:off x="2592925" y="1668273"/>
            <a:ext cx="8915400" cy="3777622"/>
          </a:xfrm>
        </p:spPr>
        <p:txBody>
          <a:bodyPr/>
          <a:lstStyle/>
          <a:p>
            <a:r>
              <a:rPr lang="en-US" altLang="en-US" dirty="0"/>
              <a:t>Carbohydrates are important as both energy storage molecules and as the structural elements in cells and tissues.</a:t>
            </a:r>
          </a:p>
          <a:p>
            <a:r>
              <a:rPr lang="en-AU" dirty="0"/>
              <a:t>Carbohydrates combine with other atoms or groups to form important compounds. For example: glycoproteins.</a:t>
            </a:r>
          </a:p>
        </p:txBody>
      </p:sp>
      <p:pic>
        <p:nvPicPr>
          <p:cNvPr id="4" name="Picture 3"/>
          <p:cNvPicPr>
            <a:picLocks noChangeAspect="1"/>
          </p:cNvPicPr>
          <p:nvPr/>
        </p:nvPicPr>
        <p:blipFill>
          <a:blip r:embed="rId2"/>
          <a:stretch>
            <a:fillRect/>
          </a:stretch>
        </p:blipFill>
        <p:spPr>
          <a:xfrm>
            <a:off x="4045662" y="3213458"/>
            <a:ext cx="5471922" cy="3276600"/>
          </a:xfrm>
          <a:prstGeom prst="rect">
            <a:avLst/>
          </a:prstGeom>
        </p:spPr>
      </p:pic>
    </p:spTree>
    <p:extLst>
      <p:ext uri="{BB962C8B-B14F-4D97-AF65-F5344CB8AC3E}">
        <p14:creationId xmlns:p14="http://schemas.microsoft.com/office/powerpoint/2010/main" val="40658389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a:solidFill>
                  <a:srgbClr val="00B050"/>
                </a:solidFill>
              </a:rPr>
              <a:t>Carbohydrate structures</a:t>
            </a:r>
          </a:p>
        </p:txBody>
      </p:sp>
      <p:sp>
        <p:nvSpPr>
          <p:cNvPr id="3" name="Content Placeholder 2"/>
          <p:cNvSpPr>
            <a:spLocks noGrp="1"/>
          </p:cNvSpPr>
          <p:nvPr>
            <p:ph idx="1"/>
          </p:nvPr>
        </p:nvSpPr>
        <p:spPr>
          <a:xfrm>
            <a:off x="2589212" y="1534510"/>
            <a:ext cx="8915400" cy="3777622"/>
          </a:xfrm>
        </p:spPr>
        <p:txBody>
          <a:bodyPr/>
          <a:lstStyle/>
          <a:p>
            <a:r>
              <a:rPr lang="en-AU" dirty="0"/>
              <a:t>Classified as either </a:t>
            </a:r>
            <a:r>
              <a:rPr lang="en-AU" b="1" dirty="0"/>
              <a:t>monosaccharides (simple sugars), disaccharides </a:t>
            </a:r>
            <a:r>
              <a:rPr lang="en-AU" dirty="0"/>
              <a:t>or </a:t>
            </a:r>
            <a:r>
              <a:rPr lang="en-AU" b="1" dirty="0"/>
              <a:t>polysaccharides.</a:t>
            </a:r>
          </a:p>
        </p:txBody>
      </p:sp>
      <p:pic>
        <p:nvPicPr>
          <p:cNvPr id="4" name="Picture 3"/>
          <p:cNvPicPr>
            <a:picLocks noChangeAspect="1"/>
          </p:cNvPicPr>
          <p:nvPr/>
        </p:nvPicPr>
        <p:blipFill>
          <a:blip r:embed="rId2"/>
          <a:stretch>
            <a:fillRect/>
          </a:stretch>
        </p:blipFill>
        <p:spPr>
          <a:xfrm>
            <a:off x="7365673" y="2366824"/>
            <a:ext cx="4618927" cy="3462280"/>
          </a:xfrm>
          <a:prstGeom prst="rect">
            <a:avLst/>
          </a:prstGeom>
        </p:spPr>
      </p:pic>
      <p:sp>
        <p:nvSpPr>
          <p:cNvPr id="5" name="TextBox 4"/>
          <p:cNvSpPr txBox="1"/>
          <p:nvPr/>
        </p:nvSpPr>
        <p:spPr>
          <a:xfrm>
            <a:off x="2589211" y="2154620"/>
            <a:ext cx="4618927" cy="4165243"/>
          </a:xfrm>
          <a:prstGeom prst="rect">
            <a:avLst/>
          </a:prstGeom>
          <a:noFill/>
        </p:spPr>
        <p:txBody>
          <a:bodyPr wrap="square" rtlCol="0">
            <a:spAutoFit/>
          </a:bodyPr>
          <a:lstStyle/>
          <a:p>
            <a:pPr marL="285750" indent="-285750">
              <a:lnSpc>
                <a:spcPts val="3200"/>
              </a:lnSpc>
              <a:spcBef>
                <a:spcPct val="0"/>
              </a:spcBef>
              <a:spcAft>
                <a:spcPts val="2000"/>
              </a:spcAft>
              <a:buSzPct val="130000"/>
              <a:buFont typeface="Arial" panose="020B0604020202020204" pitchFamily="34" charset="0"/>
              <a:buChar char="•"/>
              <a:tabLst>
                <a:tab pos="1025525" algn="l"/>
                <a:tab pos="1025525" algn="l"/>
                <a:tab pos="1487488" algn="l"/>
                <a:tab pos="1487488" algn="l"/>
                <a:tab pos="1025525" algn="l"/>
                <a:tab pos="1487488" algn="l"/>
                <a:tab pos="1025525" algn="l"/>
              </a:tabLst>
            </a:pPr>
            <a:r>
              <a:rPr lang="en-US" altLang="en-US" b="1" dirty="0">
                <a:solidFill>
                  <a:srgbClr val="2D00FA"/>
                </a:solidFill>
              </a:rPr>
              <a:t>Monosaccharides</a:t>
            </a:r>
            <a:r>
              <a:rPr lang="en-US" altLang="en-US" dirty="0"/>
              <a:t> are used as a primary energy source for fueling cellular metabolism. </a:t>
            </a:r>
          </a:p>
          <a:p>
            <a:pPr marL="285750" indent="-285750">
              <a:lnSpc>
                <a:spcPts val="3200"/>
              </a:lnSpc>
              <a:spcBef>
                <a:spcPct val="0"/>
              </a:spcBef>
              <a:spcAft>
                <a:spcPts val="2000"/>
              </a:spcAft>
              <a:buSzPct val="130000"/>
              <a:buFont typeface="Arial" panose="020B0604020202020204" pitchFamily="34" charset="0"/>
              <a:buChar char="•"/>
              <a:tabLst>
                <a:tab pos="1025525" algn="l"/>
                <a:tab pos="1025525" algn="l"/>
                <a:tab pos="1487488" algn="l"/>
                <a:tab pos="1487488" algn="l"/>
                <a:tab pos="1025525" algn="l"/>
                <a:tab pos="1487488" algn="l"/>
                <a:tab pos="1025525" algn="l"/>
              </a:tabLst>
            </a:pPr>
            <a:r>
              <a:rPr lang="en-US" altLang="en-US" dirty="0"/>
              <a:t>Monosaccharides are </a:t>
            </a:r>
            <a:r>
              <a:rPr lang="en-US" altLang="en-US" b="1" dirty="0">
                <a:solidFill>
                  <a:srgbClr val="2D00FA"/>
                </a:solidFill>
              </a:rPr>
              <a:t>single-sugar molecules</a:t>
            </a:r>
            <a:r>
              <a:rPr lang="en-US" altLang="en-US" dirty="0"/>
              <a:t>. They include:</a:t>
            </a:r>
          </a:p>
          <a:p>
            <a:pPr marL="742950" lvl="1" indent="-285750">
              <a:lnSpc>
                <a:spcPts val="2800"/>
              </a:lnSpc>
              <a:spcBef>
                <a:spcPct val="0"/>
              </a:spcBef>
              <a:spcAft>
                <a:spcPts val="2000"/>
              </a:spcAft>
              <a:buSzPct val="120000"/>
              <a:buFont typeface="Arial" panose="020B0604020202020204" pitchFamily="34" charset="0"/>
              <a:buChar char="•"/>
              <a:tabLst>
                <a:tab pos="1025525" algn="l"/>
                <a:tab pos="1025525" algn="l"/>
                <a:tab pos="1487488" algn="l"/>
                <a:tab pos="1487488" algn="l"/>
                <a:tab pos="1025525" algn="l"/>
                <a:tab pos="1487488" algn="l"/>
                <a:tab pos="1025525" algn="l"/>
              </a:tabLst>
            </a:pPr>
            <a:r>
              <a:rPr lang="en-US" altLang="en-US" b="1">
                <a:solidFill>
                  <a:srgbClr val="2D00FA"/>
                </a:solidFill>
              </a:rPr>
              <a:t>glucose</a:t>
            </a:r>
            <a:r>
              <a:rPr lang="en-US" altLang="en-US"/>
              <a:t> (blood </a:t>
            </a:r>
            <a:r>
              <a:rPr lang="en-US" altLang="en-US" dirty="0"/>
              <a:t>sugar).</a:t>
            </a:r>
          </a:p>
          <a:p>
            <a:pPr marL="742950" lvl="1" indent="-285750">
              <a:lnSpc>
                <a:spcPts val="2800"/>
              </a:lnSpc>
              <a:spcBef>
                <a:spcPct val="0"/>
              </a:spcBef>
              <a:spcAft>
                <a:spcPts val="2000"/>
              </a:spcAft>
              <a:buSzPct val="120000"/>
              <a:buFont typeface="Arial" panose="020B0604020202020204" pitchFamily="34" charset="0"/>
              <a:buChar char="•"/>
              <a:tabLst>
                <a:tab pos="1025525" algn="l"/>
                <a:tab pos="1025525" algn="l"/>
                <a:tab pos="1487488" algn="l"/>
                <a:tab pos="1487488" algn="l"/>
                <a:tab pos="1025525" algn="l"/>
                <a:tab pos="1487488" algn="l"/>
                <a:tab pos="1025525" algn="l"/>
              </a:tabLst>
            </a:pPr>
            <a:r>
              <a:rPr lang="en-US" altLang="en-US" b="1" dirty="0">
                <a:solidFill>
                  <a:srgbClr val="2D00FA"/>
                </a:solidFill>
              </a:rPr>
              <a:t>fructose</a:t>
            </a:r>
            <a:r>
              <a:rPr lang="en-US" altLang="en-US" dirty="0"/>
              <a:t> (honey and fruit juices).</a:t>
            </a:r>
            <a:r>
              <a:rPr lang="en-US" altLang="en-US" sz="1400" dirty="0"/>
              <a:t> </a:t>
            </a:r>
          </a:p>
          <a:p>
            <a:pPr marL="285750" indent="-285750">
              <a:buFont typeface="Arial" panose="020B0604020202020204" pitchFamily="34" charset="0"/>
              <a:buChar char="•"/>
            </a:pPr>
            <a:endParaRPr lang="en-AU" dirty="0"/>
          </a:p>
        </p:txBody>
      </p:sp>
      <p:sp>
        <p:nvSpPr>
          <p:cNvPr id="6" name="TextBox 5">
            <a:extLst>
              <a:ext uri="{FF2B5EF4-FFF2-40B4-BE49-F238E27FC236}">
                <a16:creationId xmlns:a16="http://schemas.microsoft.com/office/drawing/2014/main" id="{09CAE8ED-0473-4F47-BE62-FE3B0F55A49B}"/>
              </a:ext>
            </a:extLst>
          </p:cNvPr>
          <p:cNvSpPr txBox="1"/>
          <p:nvPr/>
        </p:nvSpPr>
        <p:spPr>
          <a:xfrm>
            <a:off x="8905875" y="2737314"/>
            <a:ext cx="2438400" cy="369332"/>
          </a:xfrm>
          <a:prstGeom prst="rect">
            <a:avLst/>
          </a:prstGeom>
          <a:noFill/>
        </p:spPr>
        <p:txBody>
          <a:bodyPr wrap="square" rtlCol="0">
            <a:spAutoFit/>
          </a:bodyPr>
          <a:lstStyle/>
          <a:p>
            <a:r>
              <a:rPr lang="en-AU" dirty="0"/>
              <a:t>A monosaccharide</a:t>
            </a:r>
          </a:p>
        </p:txBody>
      </p:sp>
      <p:sp>
        <p:nvSpPr>
          <p:cNvPr id="7" name="TextBox 6">
            <a:extLst>
              <a:ext uri="{FF2B5EF4-FFF2-40B4-BE49-F238E27FC236}">
                <a16:creationId xmlns:a16="http://schemas.microsoft.com/office/drawing/2014/main" id="{9D82BC6D-A4EE-40ED-A4B3-E96FA831EA17}"/>
              </a:ext>
            </a:extLst>
          </p:cNvPr>
          <p:cNvSpPr txBox="1"/>
          <p:nvPr/>
        </p:nvSpPr>
        <p:spPr>
          <a:xfrm>
            <a:off x="9602788" y="3825246"/>
            <a:ext cx="1924050" cy="369332"/>
          </a:xfrm>
          <a:prstGeom prst="rect">
            <a:avLst/>
          </a:prstGeom>
          <a:noFill/>
        </p:spPr>
        <p:txBody>
          <a:bodyPr wrap="square" rtlCol="0">
            <a:spAutoFit/>
          </a:bodyPr>
          <a:lstStyle/>
          <a:p>
            <a:r>
              <a:rPr lang="en-AU" dirty="0"/>
              <a:t>A disaccharide</a:t>
            </a:r>
          </a:p>
        </p:txBody>
      </p:sp>
      <p:sp>
        <p:nvSpPr>
          <p:cNvPr id="8" name="TextBox 7">
            <a:extLst>
              <a:ext uri="{FF2B5EF4-FFF2-40B4-BE49-F238E27FC236}">
                <a16:creationId xmlns:a16="http://schemas.microsoft.com/office/drawing/2014/main" id="{F791EA37-029F-4A2E-9859-1B622DE76379}"/>
              </a:ext>
            </a:extLst>
          </p:cNvPr>
          <p:cNvSpPr txBox="1"/>
          <p:nvPr/>
        </p:nvSpPr>
        <p:spPr>
          <a:xfrm>
            <a:off x="9602788" y="4610735"/>
            <a:ext cx="2260667" cy="369332"/>
          </a:xfrm>
          <a:prstGeom prst="rect">
            <a:avLst/>
          </a:prstGeom>
          <a:noFill/>
        </p:spPr>
        <p:txBody>
          <a:bodyPr wrap="square" rtlCol="0">
            <a:spAutoFit/>
          </a:bodyPr>
          <a:lstStyle/>
          <a:p>
            <a:r>
              <a:rPr lang="en-AU" dirty="0"/>
              <a:t>A polysaccharide</a:t>
            </a:r>
          </a:p>
        </p:txBody>
      </p:sp>
    </p:spTree>
    <p:extLst>
      <p:ext uri="{BB962C8B-B14F-4D97-AF65-F5344CB8AC3E}">
        <p14:creationId xmlns:p14="http://schemas.microsoft.com/office/powerpoint/2010/main" val="1273098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a:solidFill>
                  <a:srgbClr val="00B050"/>
                </a:solidFill>
              </a:rPr>
              <a:t>Carbohydrate structures</a:t>
            </a:r>
          </a:p>
        </p:txBody>
      </p:sp>
      <p:sp>
        <p:nvSpPr>
          <p:cNvPr id="3" name="Content Placeholder 2"/>
          <p:cNvSpPr>
            <a:spLocks noGrp="1"/>
          </p:cNvSpPr>
          <p:nvPr>
            <p:ph idx="1"/>
          </p:nvPr>
        </p:nvSpPr>
        <p:spPr>
          <a:xfrm>
            <a:off x="2242370" y="1508816"/>
            <a:ext cx="8915400" cy="3777622"/>
          </a:xfrm>
        </p:spPr>
        <p:txBody>
          <a:bodyPr/>
          <a:lstStyle/>
          <a:p>
            <a:pPr>
              <a:lnSpc>
                <a:spcPct val="117000"/>
              </a:lnSpc>
              <a:buSzPct val="130000"/>
              <a:buFontTx/>
              <a:buBlip>
                <a:blip r:embed="rId2"/>
              </a:buBlip>
              <a:tabLst>
                <a:tab pos="1025525" algn="l"/>
                <a:tab pos="1025525" algn="l"/>
                <a:tab pos="1025525" algn="l"/>
                <a:tab pos="1025525" algn="l"/>
                <a:tab pos="1025525" algn="l"/>
                <a:tab pos="1025525" algn="l"/>
                <a:tab pos="1025525" algn="l"/>
                <a:tab pos="1025525" algn="l"/>
                <a:tab pos="1025525" algn="l"/>
                <a:tab pos="1025525" algn="l"/>
              </a:tabLst>
            </a:pPr>
            <a:r>
              <a:rPr lang="en-US" altLang="en-US" b="1" dirty="0">
                <a:solidFill>
                  <a:srgbClr val="2D00FA"/>
                </a:solidFill>
              </a:rPr>
              <a:t>Disaccharides </a:t>
            </a:r>
            <a:r>
              <a:rPr lang="en-US" altLang="en-US" dirty="0"/>
              <a:t>are double-sugar molecules joined with a </a:t>
            </a:r>
            <a:r>
              <a:rPr lang="en-US" altLang="en-US" dirty="0" err="1">
                <a:solidFill>
                  <a:srgbClr val="2D00FA"/>
                </a:solidFill>
              </a:rPr>
              <a:t>glycosidic</a:t>
            </a:r>
            <a:r>
              <a:rPr lang="en-US" altLang="en-US" dirty="0">
                <a:solidFill>
                  <a:srgbClr val="2D00FA"/>
                </a:solidFill>
              </a:rPr>
              <a:t> bond</a:t>
            </a:r>
            <a:r>
              <a:rPr lang="en-US" altLang="en-US" dirty="0"/>
              <a:t>.</a:t>
            </a:r>
          </a:p>
          <a:p>
            <a:pPr>
              <a:lnSpc>
                <a:spcPct val="117000"/>
              </a:lnSpc>
              <a:buSzPct val="130000"/>
              <a:buFontTx/>
              <a:buBlip>
                <a:blip r:embed="rId2"/>
              </a:buBlip>
              <a:tabLst>
                <a:tab pos="1025525" algn="l"/>
                <a:tab pos="1025525" algn="l"/>
                <a:tab pos="1025525" algn="l"/>
                <a:tab pos="1025525" algn="l"/>
                <a:tab pos="1025525" algn="l"/>
                <a:tab pos="1025525" algn="l"/>
                <a:tab pos="1025525" algn="l"/>
                <a:tab pos="1025525" algn="l"/>
                <a:tab pos="1025525" algn="l"/>
                <a:tab pos="1025525" algn="l"/>
              </a:tabLst>
            </a:pPr>
            <a:r>
              <a:rPr lang="en-US" altLang="en-US" dirty="0"/>
              <a:t>They are used as energy sources and as building blocks for larger molecules.</a:t>
            </a:r>
          </a:p>
          <a:p>
            <a:pPr>
              <a:lnSpc>
                <a:spcPct val="117000"/>
              </a:lnSpc>
              <a:buSzPct val="130000"/>
              <a:buFontTx/>
              <a:buBlip>
                <a:blip r:embed="rId2"/>
              </a:buBlip>
              <a:tabLst>
                <a:tab pos="1025525" algn="l"/>
                <a:tab pos="1025525" algn="l"/>
                <a:tab pos="1025525" algn="l"/>
                <a:tab pos="1025525" algn="l"/>
                <a:tab pos="1025525" algn="l"/>
                <a:tab pos="1025525" algn="l"/>
                <a:tab pos="1025525" algn="l"/>
                <a:tab pos="1025525" algn="l"/>
                <a:tab pos="1025525" algn="l"/>
                <a:tab pos="1025525" algn="l"/>
              </a:tabLst>
            </a:pPr>
            <a:r>
              <a:rPr lang="en-US" altLang="en-US" dirty="0"/>
              <a:t>Disaccharides provide a convenient way to transport glucose.</a:t>
            </a:r>
          </a:p>
          <a:p>
            <a:pPr>
              <a:lnSpc>
                <a:spcPct val="117000"/>
              </a:lnSpc>
              <a:buSzPct val="130000"/>
              <a:buFontTx/>
              <a:buBlip>
                <a:blip r:embed="rId2"/>
              </a:buBlip>
              <a:tabLst>
                <a:tab pos="1025525" algn="l"/>
                <a:tab pos="1025525" algn="l"/>
                <a:tab pos="1025525" algn="l"/>
                <a:tab pos="1025525" algn="l"/>
                <a:tab pos="1025525" algn="l"/>
                <a:tab pos="1025525" algn="l"/>
                <a:tab pos="1025525" algn="l"/>
                <a:tab pos="1025525" algn="l"/>
                <a:tab pos="1025525" algn="l"/>
                <a:tab pos="1025525" algn="l"/>
              </a:tabLst>
            </a:pPr>
            <a:endParaRPr lang="en-US" altLang="en-US" sz="1600" dirty="0"/>
          </a:p>
          <a:p>
            <a:endParaRPr lang="en-AU" dirty="0"/>
          </a:p>
        </p:txBody>
      </p:sp>
      <p:pic>
        <p:nvPicPr>
          <p:cNvPr id="4" name="Picture 3"/>
          <p:cNvPicPr>
            <a:picLocks noChangeAspect="1"/>
          </p:cNvPicPr>
          <p:nvPr/>
        </p:nvPicPr>
        <p:blipFill>
          <a:blip r:embed="rId3"/>
          <a:stretch>
            <a:fillRect/>
          </a:stretch>
        </p:blipFill>
        <p:spPr>
          <a:xfrm>
            <a:off x="2328099" y="3203503"/>
            <a:ext cx="8376630" cy="3615241"/>
          </a:xfrm>
          <a:prstGeom prst="rect">
            <a:avLst/>
          </a:prstGeom>
        </p:spPr>
      </p:pic>
    </p:spTree>
    <p:extLst>
      <p:ext uri="{BB962C8B-B14F-4D97-AF65-F5344CB8AC3E}">
        <p14:creationId xmlns:p14="http://schemas.microsoft.com/office/powerpoint/2010/main" val="1619622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04013" y="245497"/>
            <a:ext cx="8911687" cy="1280890"/>
          </a:xfrm>
        </p:spPr>
        <p:txBody>
          <a:bodyPr/>
          <a:lstStyle/>
          <a:p>
            <a:r>
              <a:rPr lang="en-AU" b="1" dirty="0">
                <a:solidFill>
                  <a:srgbClr val="00B050"/>
                </a:solidFill>
              </a:rPr>
              <a:t>Carbohydrate structures</a:t>
            </a:r>
          </a:p>
        </p:txBody>
      </p:sp>
      <p:sp>
        <p:nvSpPr>
          <p:cNvPr id="3" name="Content Placeholder 2"/>
          <p:cNvSpPr>
            <a:spLocks noGrp="1"/>
          </p:cNvSpPr>
          <p:nvPr>
            <p:ph idx="1"/>
          </p:nvPr>
        </p:nvSpPr>
        <p:spPr>
          <a:xfrm>
            <a:off x="1601032" y="1313901"/>
            <a:ext cx="4278313" cy="4581196"/>
          </a:xfrm>
        </p:spPr>
        <p:txBody>
          <a:bodyPr>
            <a:normAutofit/>
          </a:bodyPr>
          <a:lstStyle/>
          <a:p>
            <a:r>
              <a:rPr lang="en-US" altLang="en-US" b="1" dirty="0">
                <a:solidFill>
                  <a:srgbClr val="2D00FA"/>
                </a:solidFill>
              </a:rPr>
              <a:t>Polysaccharides </a:t>
            </a:r>
            <a:r>
              <a:rPr lang="en-US" altLang="en-US" dirty="0">
                <a:solidFill>
                  <a:schemeClr val="tx1"/>
                </a:solidFill>
              </a:rPr>
              <a:t>consist of </a:t>
            </a:r>
            <a:r>
              <a:rPr lang="en-US" altLang="en-US" dirty="0"/>
              <a:t>many monomers linked together.</a:t>
            </a:r>
          </a:p>
          <a:p>
            <a:r>
              <a:rPr lang="en-US" altLang="en-US" b="1" dirty="0">
                <a:solidFill>
                  <a:srgbClr val="2D00FA"/>
                </a:solidFill>
              </a:rPr>
              <a:t>Cellulose</a:t>
            </a:r>
            <a:r>
              <a:rPr lang="en-US" altLang="en-US" dirty="0"/>
              <a:t> is a glucose polymer. It is an important structural polymer found in plant cell walls. It is made up of many unbranched chains of glucose</a:t>
            </a:r>
            <a:r>
              <a:rPr lang="en-US" altLang="en-US" b="1" dirty="0">
                <a:solidFill>
                  <a:srgbClr val="2D00FA"/>
                </a:solidFill>
              </a:rPr>
              <a:t> </a:t>
            </a:r>
            <a:r>
              <a:rPr lang="en-US" altLang="en-US" dirty="0"/>
              <a:t>molecules.</a:t>
            </a:r>
          </a:p>
          <a:p>
            <a:r>
              <a:rPr lang="en-US" altLang="en-US" b="1" dirty="0">
                <a:solidFill>
                  <a:srgbClr val="2D00FA"/>
                </a:solidFill>
              </a:rPr>
              <a:t>Starch</a:t>
            </a:r>
            <a:r>
              <a:rPr lang="en-US" altLang="en-US" dirty="0"/>
              <a:t> is also a large, branched polymer of glucose. It is an energy storage molecule in plants.</a:t>
            </a:r>
          </a:p>
          <a:p>
            <a:r>
              <a:rPr lang="en-US" altLang="en-US" b="1" dirty="0">
                <a:solidFill>
                  <a:srgbClr val="2D00FA"/>
                </a:solidFill>
              </a:rPr>
              <a:t>Glycogen </a:t>
            </a:r>
            <a:r>
              <a:rPr lang="en-US" dirty="0"/>
              <a:t>is a highly branched polymer of glucose. It is a storage form of glucose in animals.</a:t>
            </a:r>
            <a:endParaRPr lang="en-AU" dirty="0"/>
          </a:p>
        </p:txBody>
      </p:sp>
      <p:pic>
        <p:nvPicPr>
          <p:cNvPr id="4" name="Picture 3"/>
          <p:cNvPicPr>
            <a:picLocks noChangeAspect="1"/>
          </p:cNvPicPr>
          <p:nvPr/>
        </p:nvPicPr>
        <p:blipFill>
          <a:blip r:embed="rId2"/>
          <a:stretch>
            <a:fillRect/>
          </a:stretch>
        </p:blipFill>
        <p:spPr>
          <a:xfrm>
            <a:off x="7350016" y="1853872"/>
            <a:ext cx="3965684" cy="3150255"/>
          </a:xfrm>
          <a:prstGeom prst="rect">
            <a:avLst/>
          </a:prstGeom>
        </p:spPr>
      </p:pic>
      <p:pic>
        <p:nvPicPr>
          <p:cNvPr id="5" name="Picture 4">
            <a:extLst>
              <a:ext uri="{FF2B5EF4-FFF2-40B4-BE49-F238E27FC236}">
                <a16:creationId xmlns:a16="http://schemas.microsoft.com/office/drawing/2014/main" id="{A7B2A431-C147-42D5-B385-6938A4EB22DB}"/>
              </a:ext>
            </a:extLst>
          </p:cNvPr>
          <p:cNvPicPr>
            <a:picLocks noChangeAspect="1"/>
          </p:cNvPicPr>
          <p:nvPr/>
        </p:nvPicPr>
        <p:blipFill>
          <a:blip r:embed="rId3"/>
          <a:stretch>
            <a:fillRect/>
          </a:stretch>
        </p:blipFill>
        <p:spPr>
          <a:xfrm>
            <a:off x="6019800" y="1198902"/>
            <a:ext cx="6038850" cy="4581197"/>
          </a:xfrm>
          <a:prstGeom prst="rect">
            <a:avLst/>
          </a:prstGeom>
        </p:spPr>
      </p:pic>
    </p:spTree>
    <p:extLst>
      <p:ext uri="{BB962C8B-B14F-4D97-AF65-F5344CB8AC3E}">
        <p14:creationId xmlns:p14="http://schemas.microsoft.com/office/powerpoint/2010/main" val="9418094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p:nvPr>
        </p:nvSpPr>
        <p:spPr>
          <a:xfrm>
            <a:off x="3932179" y="293033"/>
            <a:ext cx="3373189" cy="1044154"/>
          </a:xfrm>
        </p:spPr>
        <p:txBody>
          <a:bodyPr/>
          <a:lstStyle/>
          <a:p>
            <a:r>
              <a:rPr lang="en-US" b="1" dirty="0">
                <a:solidFill>
                  <a:srgbClr val="00B050"/>
                </a:solidFill>
              </a:rPr>
              <a:t>Lipids</a:t>
            </a:r>
            <a:endParaRPr lang="en-AU" b="1" dirty="0">
              <a:solidFill>
                <a:srgbClr val="00B050"/>
              </a:solidFill>
            </a:endParaRPr>
          </a:p>
        </p:txBody>
      </p:sp>
      <p:sp>
        <p:nvSpPr>
          <p:cNvPr id="4" name="Content Placeholder 3"/>
          <p:cNvSpPr>
            <a:spLocks noGrp="1"/>
          </p:cNvSpPr>
          <p:nvPr>
            <p:ph idx="1"/>
          </p:nvPr>
        </p:nvSpPr>
        <p:spPr>
          <a:xfrm>
            <a:off x="1897600" y="1573922"/>
            <a:ext cx="6355283" cy="4558429"/>
          </a:xfrm>
        </p:spPr>
        <p:txBody>
          <a:bodyPr>
            <a:normAutofit/>
          </a:bodyPr>
          <a:lstStyle/>
          <a:p>
            <a:r>
              <a:rPr lang="en-US" dirty="0"/>
              <a:t>Lipids are a diverse group of molecules and include fats and oils, terpenes, waxes, phospholipids, glycolipids and steroids. </a:t>
            </a:r>
          </a:p>
          <a:p>
            <a:r>
              <a:rPr lang="en-US" dirty="0"/>
              <a:t>Lipids all contain the elements </a:t>
            </a:r>
            <a:r>
              <a:rPr lang="en-US" b="1" dirty="0"/>
              <a:t>carbon, hydrogen </a:t>
            </a:r>
            <a:r>
              <a:rPr lang="en-US" dirty="0"/>
              <a:t>and</a:t>
            </a:r>
            <a:r>
              <a:rPr lang="en-US" b="1" dirty="0"/>
              <a:t> oxygen</a:t>
            </a:r>
            <a:r>
              <a:rPr lang="en-US" dirty="0"/>
              <a:t> and are </a:t>
            </a:r>
            <a:r>
              <a:rPr lang="en-US" b="1" dirty="0"/>
              <a:t>insoluble in water </a:t>
            </a:r>
            <a:r>
              <a:rPr lang="en-US" dirty="0"/>
              <a:t>(</a:t>
            </a:r>
            <a:r>
              <a:rPr lang="en-US" b="1" dirty="0"/>
              <a:t>hydrophobic</a:t>
            </a:r>
            <a:r>
              <a:rPr lang="en-US" dirty="0"/>
              <a:t>).</a:t>
            </a:r>
          </a:p>
          <a:p>
            <a:r>
              <a:rPr lang="en-US" dirty="0"/>
              <a:t>In cells, lipids have three important functions:</a:t>
            </a:r>
          </a:p>
          <a:p>
            <a:pPr lvl="1"/>
            <a:r>
              <a:rPr lang="en-US" dirty="0"/>
              <a:t>energy storage (they have approximately twice the amount of energy as carbohydrates)</a:t>
            </a:r>
          </a:p>
          <a:p>
            <a:pPr lvl="1"/>
            <a:r>
              <a:rPr lang="en-US" dirty="0"/>
              <a:t>structural component of membranes</a:t>
            </a:r>
          </a:p>
          <a:p>
            <a:pPr lvl="1"/>
            <a:r>
              <a:rPr lang="en-US" dirty="0"/>
              <a:t>specific biological functions (e.g. transmission of chemical signals both within and between cells).</a:t>
            </a:r>
          </a:p>
          <a:p>
            <a:endParaRPr lang="en-AU" dirty="0"/>
          </a:p>
        </p:txBody>
      </p:sp>
      <p:pic>
        <p:nvPicPr>
          <p:cNvPr id="2" name="Picture 1">
            <a:extLst>
              <a:ext uri="{FF2B5EF4-FFF2-40B4-BE49-F238E27FC236}">
                <a16:creationId xmlns:a16="http://schemas.microsoft.com/office/drawing/2014/main" id="{8BF93332-AF1A-4826-A211-587DE6D82DA5}"/>
              </a:ext>
            </a:extLst>
          </p:cNvPr>
          <p:cNvPicPr>
            <a:picLocks noChangeAspect="1"/>
          </p:cNvPicPr>
          <p:nvPr/>
        </p:nvPicPr>
        <p:blipFill>
          <a:blip r:embed="rId3"/>
          <a:stretch>
            <a:fillRect/>
          </a:stretch>
        </p:blipFill>
        <p:spPr>
          <a:xfrm>
            <a:off x="8436077" y="1479230"/>
            <a:ext cx="3659085" cy="3558460"/>
          </a:xfrm>
          <a:prstGeom prst="rect">
            <a:avLst/>
          </a:prstGeom>
        </p:spPr>
      </p:pic>
    </p:spTree>
    <p:extLst>
      <p:ext uri="{BB962C8B-B14F-4D97-AF65-F5344CB8AC3E}">
        <p14:creationId xmlns:p14="http://schemas.microsoft.com/office/powerpoint/2010/main" val="3498183557"/>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1"/>
          <p:cNvSpPr>
            <a:spLocks noGrp="1" noChangeArrowheads="1"/>
          </p:cNvSpPr>
          <p:nvPr>
            <p:ph type="title"/>
          </p:nvPr>
        </p:nvSpPr>
        <p:spPr>
          <a:xfrm>
            <a:off x="1782346" y="46882"/>
            <a:ext cx="9188648" cy="686469"/>
          </a:xfrm>
          <a:ln/>
        </p:spPr>
        <p:txBody>
          <a:bodyPr anchor="b">
            <a:normAutofit/>
          </a:bodyPr>
          <a:lstStyle/>
          <a:p>
            <a:pPr>
              <a:lnSpc>
                <a:spcPct val="68000"/>
              </a:lnSpc>
              <a:tabLst>
                <a:tab pos="669703" algn="l"/>
              </a:tabLst>
            </a:pPr>
            <a:r>
              <a:rPr lang="en-US" altLang="en-US" b="1" dirty="0">
                <a:solidFill>
                  <a:srgbClr val="00B050"/>
                </a:solidFill>
              </a:rPr>
              <a:t>Biological Roles of Lipids</a:t>
            </a:r>
          </a:p>
        </p:txBody>
      </p:sp>
      <p:grpSp>
        <p:nvGrpSpPr>
          <p:cNvPr id="76804" name="Group 4"/>
          <p:cNvGrpSpPr>
            <a:grpSpLocks/>
          </p:cNvGrpSpPr>
          <p:nvPr/>
        </p:nvGrpSpPr>
        <p:grpSpPr bwMode="auto">
          <a:xfrm>
            <a:off x="7747992" y="3750469"/>
            <a:ext cx="2714625" cy="2928938"/>
            <a:chOff x="0" y="0"/>
            <a:chExt cx="2432" cy="2624"/>
          </a:xfrm>
        </p:grpSpPr>
        <p:pic>
          <p:nvPicPr>
            <p:cNvPr id="76805"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 y="0"/>
              <a:ext cx="2263" cy="169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2700000" algn="ctr" rotWithShape="0">
                      <a:schemeClr val="bg2">
                        <a:alpha val="50000"/>
                      </a:schemeClr>
                    </a:outerShdw>
                  </a:effectLst>
                </a14:hiddenEffects>
              </a:ext>
            </a:extLst>
          </p:spPr>
        </p:pic>
        <p:sp>
          <p:nvSpPr>
            <p:cNvPr id="76806" name="Rectangle 6"/>
            <p:cNvSpPr>
              <a:spLocks/>
            </p:cNvSpPr>
            <p:nvPr/>
          </p:nvSpPr>
          <p:spPr bwMode="auto">
            <a:xfrm>
              <a:off x="0" y="1784"/>
              <a:ext cx="2432" cy="8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marL="114300">
                <a:tabLst>
                  <a:tab pos="520700" algn="l"/>
                </a:tabLst>
                <a:defRPr sz="1200">
                  <a:solidFill>
                    <a:schemeClr val="tx1"/>
                  </a:solidFill>
                  <a:latin typeface="Hoefler Text" pitchFamily="1" charset="0"/>
                </a:defRPr>
              </a:lvl1pPr>
              <a:lvl2pPr>
                <a:tabLst>
                  <a:tab pos="520700" algn="l"/>
                </a:tabLst>
                <a:defRPr sz="1200">
                  <a:solidFill>
                    <a:schemeClr val="tx1"/>
                  </a:solidFill>
                  <a:latin typeface="Hoefler Text" pitchFamily="1" charset="0"/>
                </a:defRPr>
              </a:lvl2pPr>
              <a:lvl3pPr>
                <a:tabLst>
                  <a:tab pos="520700" algn="l"/>
                </a:tabLst>
                <a:defRPr sz="1200">
                  <a:solidFill>
                    <a:schemeClr val="tx1"/>
                  </a:solidFill>
                  <a:latin typeface="Hoefler Text" pitchFamily="1" charset="0"/>
                </a:defRPr>
              </a:lvl3pPr>
              <a:lvl4pPr>
                <a:tabLst>
                  <a:tab pos="520700" algn="l"/>
                </a:tabLst>
                <a:defRPr sz="1200">
                  <a:solidFill>
                    <a:schemeClr val="tx1"/>
                  </a:solidFill>
                  <a:latin typeface="Hoefler Text" pitchFamily="1" charset="0"/>
                </a:defRPr>
              </a:lvl4pPr>
              <a:lvl5pPr>
                <a:tabLst>
                  <a:tab pos="520700" algn="l"/>
                </a:tabLst>
                <a:defRPr sz="1200">
                  <a:solidFill>
                    <a:schemeClr val="tx1"/>
                  </a:solidFill>
                  <a:latin typeface="Hoefler Text" pitchFamily="1" charset="0"/>
                </a:defRPr>
              </a:lvl5pPr>
              <a:lvl6pPr fontAlgn="base">
                <a:spcBef>
                  <a:spcPct val="0"/>
                </a:spcBef>
                <a:spcAft>
                  <a:spcPct val="0"/>
                </a:spcAft>
                <a:tabLst>
                  <a:tab pos="520700" algn="l"/>
                </a:tabLst>
                <a:defRPr sz="1200">
                  <a:solidFill>
                    <a:schemeClr val="tx1"/>
                  </a:solidFill>
                  <a:latin typeface="Hoefler Text" pitchFamily="1" charset="0"/>
                </a:defRPr>
              </a:lvl6pPr>
              <a:lvl7pPr fontAlgn="base">
                <a:spcBef>
                  <a:spcPct val="0"/>
                </a:spcBef>
                <a:spcAft>
                  <a:spcPct val="0"/>
                </a:spcAft>
                <a:tabLst>
                  <a:tab pos="520700" algn="l"/>
                </a:tabLst>
                <a:defRPr sz="1200">
                  <a:solidFill>
                    <a:schemeClr val="tx1"/>
                  </a:solidFill>
                  <a:latin typeface="Hoefler Text" pitchFamily="1" charset="0"/>
                </a:defRPr>
              </a:lvl7pPr>
              <a:lvl8pPr fontAlgn="base">
                <a:spcBef>
                  <a:spcPct val="0"/>
                </a:spcBef>
                <a:spcAft>
                  <a:spcPct val="0"/>
                </a:spcAft>
                <a:tabLst>
                  <a:tab pos="520700" algn="l"/>
                </a:tabLst>
                <a:defRPr sz="1200">
                  <a:solidFill>
                    <a:schemeClr val="tx1"/>
                  </a:solidFill>
                  <a:latin typeface="Hoefler Text" pitchFamily="1" charset="0"/>
                </a:defRPr>
              </a:lvl8pPr>
              <a:lvl9pPr fontAlgn="base">
                <a:spcBef>
                  <a:spcPct val="0"/>
                </a:spcBef>
                <a:spcAft>
                  <a:spcPct val="0"/>
                </a:spcAft>
                <a:tabLst>
                  <a:tab pos="520700" algn="l"/>
                </a:tabLst>
                <a:defRPr sz="1200">
                  <a:solidFill>
                    <a:schemeClr val="tx1"/>
                  </a:solidFill>
                  <a:latin typeface="Hoefler Text" pitchFamily="1" charset="0"/>
                </a:defRPr>
              </a:lvl9pPr>
            </a:lstStyle>
            <a:p>
              <a:pPr algn="ctr">
                <a:lnSpc>
                  <a:spcPct val="110000"/>
                </a:lnSpc>
              </a:pPr>
              <a:r>
                <a:rPr lang="en-US" altLang="en-US" sz="1406">
                  <a:solidFill>
                    <a:srgbClr val="2D00FA"/>
                  </a:solidFill>
                  <a:latin typeface="Arial" panose="020B0604020202020204" pitchFamily="34" charset="0"/>
                  <a:cs typeface="Arial" panose="020B0604020202020204" pitchFamily="34" charset="0"/>
                  <a:sym typeface="Arial" panose="020B0604020202020204" pitchFamily="34" charset="0"/>
                </a:rPr>
                <a:t>Phospholipids form the </a:t>
              </a:r>
              <a:r>
                <a:rPr lang="en-US" altLang="en-US" sz="1406" b="1">
                  <a:solidFill>
                    <a:srgbClr val="2D00FA"/>
                  </a:solidFill>
                  <a:latin typeface="Arial" panose="020B0604020202020204" pitchFamily="34" charset="0"/>
                  <a:cs typeface="Arial" panose="020B0604020202020204" pitchFamily="34" charset="0"/>
                  <a:sym typeface="Arial" panose="020B0604020202020204" pitchFamily="34" charset="0"/>
                </a:rPr>
                <a:t>structural framework</a:t>
              </a:r>
              <a:r>
                <a:rPr lang="en-US" altLang="en-US" sz="1406">
                  <a:solidFill>
                    <a:srgbClr val="2D00FA"/>
                  </a:solidFill>
                  <a:latin typeface="Arial" panose="020B0604020202020204" pitchFamily="34" charset="0"/>
                  <a:cs typeface="Arial" panose="020B0604020202020204" pitchFamily="34" charset="0"/>
                  <a:sym typeface="Arial" panose="020B0604020202020204" pitchFamily="34" charset="0"/>
                </a:rPr>
                <a:t> of cellular membranes, e.g. the plasma membrane (above).</a:t>
              </a:r>
            </a:p>
          </p:txBody>
        </p:sp>
        <p:sp>
          <p:nvSpPr>
            <p:cNvPr id="76807" name="Line 7"/>
            <p:cNvSpPr>
              <a:spLocks noChangeShapeType="1"/>
            </p:cNvSpPr>
            <p:nvPr/>
          </p:nvSpPr>
          <p:spPr bwMode="auto">
            <a:xfrm>
              <a:off x="1240" y="856"/>
              <a:ext cx="113" cy="161"/>
            </a:xfrm>
            <a:prstGeom prst="line">
              <a:avLst/>
            </a:prstGeom>
            <a:noFill/>
            <a:ln w="38100">
              <a:solidFill>
                <a:srgbClr val="FF0017"/>
              </a:solidFill>
              <a:round/>
              <a:headEnd type="stealth"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AU" sz="1266"/>
            </a:p>
          </p:txBody>
        </p:sp>
      </p:grpSp>
      <p:grpSp>
        <p:nvGrpSpPr>
          <p:cNvPr id="76808" name="Group 8"/>
          <p:cNvGrpSpPr>
            <a:grpSpLocks/>
          </p:cNvGrpSpPr>
          <p:nvPr/>
        </p:nvGrpSpPr>
        <p:grpSpPr bwMode="auto">
          <a:xfrm>
            <a:off x="1684734" y="892969"/>
            <a:ext cx="3171156" cy="4830961"/>
            <a:chOff x="0" y="0"/>
            <a:chExt cx="2841" cy="4328"/>
          </a:xfrm>
        </p:grpSpPr>
        <p:pic>
          <p:nvPicPr>
            <p:cNvPr id="76809" name="Picture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8" y="1320"/>
              <a:ext cx="2264" cy="17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2700000" algn="ctr" rotWithShape="0">
                      <a:schemeClr val="bg2">
                        <a:alpha val="50000"/>
                      </a:schemeClr>
                    </a:outerShdw>
                  </a:effectLst>
                </a14:hiddenEffects>
              </a:ext>
            </a:extLst>
          </p:spPr>
        </p:pic>
        <p:sp>
          <p:nvSpPr>
            <p:cNvPr id="76810" name="Rectangle 10"/>
            <p:cNvSpPr>
              <a:spLocks/>
            </p:cNvSpPr>
            <p:nvPr/>
          </p:nvSpPr>
          <p:spPr bwMode="auto">
            <a:xfrm>
              <a:off x="336" y="3088"/>
              <a:ext cx="2176" cy="1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marL="114300">
                <a:tabLst>
                  <a:tab pos="520700" algn="l"/>
                </a:tabLst>
                <a:defRPr sz="1200">
                  <a:solidFill>
                    <a:schemeClr val="tx1"/>
                  </a:solidFill>
                  <a:latin typeface="Hoefler Text" pitchFamily="1" charset="0"/>
                </a:defRPr>
              </a:lvl1pPr>
              <a:lvl2pPr>
                <a:tabLst>
                  <a:tab pos="520700" algn="l"/>
                </a:tabLst>
                <a:defRPr sz="1200">
                  <a:solidFill>
                    <a:schemeClr val="tx1"/>
                  </a:solidFill>
                  <a:latin typeface="Hoefler Text" pitchFamily="1" charset="0"/>
                </a:defRPr>
              </a:lvl2pPr>
              <a:lvl3pPr>
                <a:tabLst>
                  <a:tab pos="520700" algn="l"/>
                </a:tabLst>
                <a:defRPr sz="1200">
                  <a:solidFill>
                    <a:schemeClr val="tx1"/>
                  </a:solidFill>
                  <a:latin typeface="Hoefler Text" pitchFamily="1" charset="0"/>
                </a:defRPr>
              </a:lvl3pPr>
              <a:lvl4pPr>
                <a:tabLst>
                  <a:tab pos="520700" algn="l"/>
                </a:tabLst>
                <a:defRPr sz="1200">
                  <a:solidFill>
                    <a:schemeClr val="tx1"/>
                  </a:solidFill>
                  <a:latin typeface="Hoefler Text" pitchFamily="1" charset="0"/>
                </a:defRPr>
              </a:lvl4pPr>
              <a:lvl5pPr>
                <a:tabLst>
                  <a:tab pos="520700" algn="l"/>
                </a:tabLst>
                <a:defRPr sz="1200">
                  <a:solidFill>
                    <a:schemeClr val="tx1"/>
                  </a:solidFill>
                  <a:latin typeface="Hoefler Text" pitchFamily="1" charset="0"/>
                </a:defRPr>
              </a:lvl5pPr>
              <a:lvl6pPr fontAlgn="base">
                <a:spcBef>
                  <a:spcPct val="0"/>
                </a:spcBef>
                <a:spcAft>
                  <a:spcPct val="0"/>
                </a:spcAft>
                <a:tabLst>
                  <a:tab pos="520700" algn="l"/>
                </a:tabLst>
                <a:defRPr sz="1200">
                  <a:solidFill>
                    <a:schemeClr val="tx1"/>
                  </a:solidFill>
                  <a:latin typeface="Hoefler Text" pitchFamily="1" charset="0"/>
                </a:defRPr>
              </a:lvl6pPr>
              <a:lvl7pPr fontAlgn="base">
                <a:spcBef>
                  <a:spcPct val="0"/>
                </a:spcBef>
                <a:spcAft>
                  <a:spcPct val="0"/>
                </a:spcAft>
                <a:tabLst>
                  <a:tab pos="520700" algn="l"/>
                </a:tabLst>
                <a:defRPr sz="1200">
                  <a:solidFill>
                    <a:schemeClr val="tx1"/>
                  </a:solidFill>
                  <a:latin typeface="Hoefler Text" pitchFamily="1" charset="0"/>
                </a:defRPr>
              </a:lvl7pPr>
              <a:lvl8pPr fontAlgn="base">
                <a:spcBef>
                  <a:spcPct val="0"/>
                </a:spcBef>
                <a:spcAft>
                  <a:spcPct val="0"/>
                </a:spcAft>
                <a:tabLst>
                  <a:tab pos="520700" algn="l"/>
                </a:tabLst>
                <a:defRPr sz="1200">
                  <a:solidFill>
                    <a:schemeClr val="tx1"/>
                  </a:solidFill>
                  <a:latin typeface="Hoefler Text" pitchFamily="1" charset="0"/>
                </a:defRPr>
              </a:lvl8pPr>
              <a:lvl9pPr fontAlgn="base">
                <a:spcBef>
                  <a:spcPct val="0"/>
                </a:spcBef>
                <a:spcAft>
                  <a:spcPct val="0"/>
                </a:spcAft>
                <a:tabLst>
                  <a:tab pos="520700" algn="l"/>
                </a:tabLst>
                <a:defRPr sz="1200">
                  <a:solidFill>
                    <a:schemeClr val="tx1"/>
                  </a:solidFill>
                  <a:latin typeface="Hoefler Text" pitchFamily="1" charset="0"/>
                </a:defRPr>
              </a:lvl9pPr>
            </a:lstStyle>
            <a:p>
              <a:pPr algn="ctr">
                <a:lnSpc>
                  <a:spcPct val="110000"/>
                </a:lnSpc>
              </a:pPr>
              <a:r>
                <a:rPr lang="en-US" altLang="en-US" sz="1406" dirty="0">
                  <a:solidFill>
                    <a:srgbClr val="2D00FA"/>
                  </a:solidFill>
                  <a:latin typeface="Arial" panose="020B0604020202020204" pitchFamily="34" charset="0"/>
                  <a:cs typeface="Arial" panose="020B0604020202020204" pitchFamily="34" charset="0"/>
                  <a:sym typeface="Arial" panose="020B0604020202020204" pitchFamily="34" charset="0"/>
                </a:rPr>
                <a:t>Lipids are concentrated sources of </a:t>
              </a:r>
              <a:r>
                <a:rPr lang="en-US" altLang="en-US" sz="1406" b="1" dirty="0">
                  <a:solidFill>
                    <a:srgbClr val="2D00FA"/>
                  </a:solidFill>
                  <a:latin typeface="Arial" panose="020B0604020202020204" pitchFamily="34" charset="0"/>
                  <a:cs typeface="Arial" panose="020B0604020202020204" pitchFamily="34" charset="0"/>
                  <a:sym typeface="Arial" panose="020B0604020202020204" pitchFamily="34" charset="0"/>
                </a:rPr>
                <a:t>energy</a:t>
              </a:r>
              <a:r>
                <a:rPr lang="en-US" altLang="en-US" sz="1406" dirty="0">
                  <a:solidFill>
                    <a:srgbClr val="2D00FA"/>
                  </a:solidFill>
                  <a:latin typeface="Arial" panose="020B0604020202020204" pitchFamily="34" charset="0"/>
                  <a:cs typeface="Arial" panose="020B0604020202020204" pitchFamily="34" charset="0"/>
                  <a:sym typeface="Arial" panose="020B0604020202020204" pitchFamily="34" charset="0"/>
                </a:rPr>
                <a:t> and can be broken down (through fatty acid oxidation in the mitochondria) to provide fuel for aerobic respiration.</a:t>
              </a:r>
            </a:p>
          </p:txBody>
        </p:sp>
        <p:pic>
          <p:nvPicPr>
            <p:cNvPr id="76811" name="Picture 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1666" cy="171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2700000" algn="ctr" rotWithShape="0">
                      <a:schemeClr val="bg2">
                        <a:alpha val="50000"/>
                      </a:schemeClr>
                    </a:outerShdw>
                  </a:effectLst>
                </a14:hiddenEffects>
              </a:ext>
            </a:extLst>
          </p:spPr>
        </p:pic>
        <p:sp>
          <p:nvSpPr>
            <p:cNvPr id="76812" name="Rectangle 12"/>
            <p:cNvSpPr>
              <a:spLocks/>
            </p:cNvSpPr>
            <p:nvPr/>
          </p:nvSpPr>
          <p:spPr bwMode="auto">
            <a:xfrm>
              <a:off x="1481" y="536"/>
              <a:ext cx="1360" cy="3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marL="114300">
                <a:tabLst>
                  <a:tab pos="520700" algn="l"/>
                </a:tabLst>
                <a:defRPr sz="1200">
                  <a:solidFill>
                    <a:schemeClr val="tx1"/>
                  </a:solidFill>
                  <a:latin typeface="Hoefler Text" pitchFamily="1" charset="0"/>
                </a:defRPr>
              </a:lvl1pPr>
              <a:lvl2pPr>
                <a:tabLst>
                  <a:tab pos="520700" algn="l"/>
                </a:tabLst>
                <a:defRPr sz="1200">
                  <a:solidFill>
                    <a:schemeClr val="tx1"/>
                  </a:solidFill>
                  <a:latin typeface="Hoefler Text" pitchFamily="1" charset="0"/>
                </a:defRPr>
              </a:lvl2pPr>
              <a:lvl3pPr>
                <a:tabLst>
                  <a:tab pos="520700" algn="l"/>
                </a:tabLst>
                <a:defRPr sz="1200">
                  <a:solidFill>
                    <a:schemeClr val="tx1"/>
                  </a:solidFill>
                  <a:latin typeface="Hoefler Text" pitchFamily="1" charset="0"/>
                </a:defRPr>
              </a:lvl3pPr>
              <a:lvl4pPr>
                <a:tabLst>
                  <a:tab pos="520700" algn="l"/>
                </a:tabLst>
                <a:defRPr sz="1200">
                  <a:solidFill>
                    <a:schemeClr val="tx1"/>
                  </a:solidFill>
                  <a:latin typeface="Hoefler Text" pitchFamily="1" charset="0"/>
                </a:defRPr>
              </a:lvl4pPr>
              <a:lvl5pPr>
                <a:tabLst>
                  <a:tab pos="520700" algn="l"/>
                </a:tabLst>
                <a:defRPr sz="1200">
                  <a:solidFill>
                    <a:schemeClr val="tx1"/>
                  </a:solidFill>
                  <a:latin typeface="Hoefler Text" pitchFamily="1" charset="0"/>
                </a:defRPr>
              </a:lvl5pPr>
              <a:lvl6pPr fontAlgn="base">
                <a:spcBef>
                  <a:spcPct val="0"/>
                </a:spcBef>
                <a:spcAft>
                  <a:spcPct val="0"/>
                </a:spcAft>
                <a:tabLst>
                  <a:tab pos="520700" algn="l"/>
                </a:tabLst>
                <a:defRPr sz="1200">
                  <a:solidFill>
                    <a:schemeClr val="tx1"/>
                  </a:solidFill>
                  <a:latin typeface="Hoefler Text" pitchFamily="1" charset="0"/>
                </a:defRPr>
              </a:lvl6pPr>
              <a:lvl7pPr fontAlgn="base">
                <a:spcBef>
                  <a:spcPct val="0"/>
                </a:spcBef>
                <a:spcAft>
                  <a:spcPct val="0"/>
                </a:spcAft>
                <a:tabLst>
                  <a:tab pos="520700" algn="l"/>
                </a:tabLst>
                <a:defRPr sz="1200">
                  <a:solidFill>
                    <a:schemeClr val="tx1"/>
                  </a:solidFill>
                  <a:latin typeface="Hoefler Text" pitchFamily="1" charset="0"/>
                </a:defRPr>
              </a:lvl7pPr>
              <a:lvl8pPr fontAlgn="base">
                <a:spcBef>
                  <a:spcPct val="0"/>
                </a:spcBef>
                <a:spcAft>
                  <a:spcPct val="0"/>
                </a:spcAft>
                <a:tabLst>
                  <a:tab pos="520700" algn="l"/>
                </a:tabLst>
                <a:defRPr sz="1200">
                  <a:solidFill>
                    <a:schemeClr val="tx1"/>
                  </a:solidFill>
                  <a:latin typeface="Hoefler Text" pitchFamily="1" charset="0"/>
                </a:defRPr>
              </a:lvl8pPr>
              <a:lvl9pPr fontAlgn="base">
                <a:spcBef>
                  <a:spcPct val="0"/>
                </a:spcBef>
                <a:spcAft>
                  <a:spcPct val="0"/>
                </a:spcAft>
                <a:tabLst>
                  <a:tab pos="520700" algn="l"/>
                </a:tabLst>
                <a:defRPr sz="1200">
                  <a:solidFill>
                    <a:schemeClr val="tx1"/>
                  </a:solidFill>
                  <a:latin typeface="Hoefler Text" pitchFamily="1" charset="0"/>
                </a:defRPr>
              </a:lvl9pPr>
            </a:lstStyle>
            <a:p>
              <a:pPr algn="ctr"/>
              <a:r>
                <a:rPr lang="en-US" altLang="en-US" sz="1266" b="1">
                  <a:solidFill>
                    <a:srgbClr val="2D00FA"/>
                  </a:solidFill>
                  <a:latin typeface="Arial" panose="020B0604020202020204" pitchFamily="34" charset="0"/>
                  <a:cs typeface="Arial" panose="020B0604020202020204" pitchFamily="34" charset="0"/>
                  <a:sym typeface="Arial" panose="020B0604020202020204" pitchFamily="34" charset="0"/>
                </a:rPr>
                <a:t>Mitochondrion</a:t>
              </a:r>
              <a:r>
                <a:rPr lang="en-US" altLang="en-US" sz="1266">
                  <a:solidFill>
                    <a:srgbClr val="2D00FA"/>
                  </a:solidFill>
                  <a:latin typeface="Arial" panose="020B0604020202020204" pitchFamily="34" charset="0"/>
                  <a:cs typeface="Arial" panose="020B0604020202020204" pitchFamily="34" charset="0"/>
                  <a:sym typeface="Arial" panose="020B0604020202020204" pitchFamily="34" charset="0"/>
                </a:rPr>
                <a:t> (false color TEM)</a:t>
              </a:r>
            </a:p>
          </p:txBody>
        </p:sp>
      </p:grpSp>
      <p:grpSp>
        <p:nvGrpSpPr>
          <p:cNvPr id="76813" name="Group 13"/>
          <p:cNvGrpSpPr>
            <a:grpSpLocks/>
          </p:cNvGrpSpPr>
          <p:nvPr/>
        </p:nvGrpSpPr>
        <p:grpSpPr bwMode="auto">
          <a:xfrm>
            <a:off x="4961930" y="1410891"/>
            <a:ext cx="3589734" cy="4634508"/>
            <a:chOff x="0" y="0"/>
            <a:chExt cx="3216" cy="4152"/>
          </a:xfrm>
        </p:grpSpPr>
        <p:pic>
          <p:nvPicPr>
            <p:cNvPr id="76814" name="Picture 1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1512"/>
              <a:ext cx="2264" cy="17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2700000" algn="ctr" rotWithShape="0">
                      <a:schemeClr val="bg2">
                        <a:alpha val="50000"/>
                      </a:schemeClr>
                    </a:outerShdw>
                  </a:effectLst>
                </a14:hiddenEffects>
              </a:ext>
            </a:extLst>
          </p:spPr>
        </p:pic>
        <p:sp>
          <p:nvSpPr>
            <p:cNvPr id="76815" name="Rectangle 15"/>
            <p:cNvSpPr>
              <a:spLocks/>
            </p:cNvSpPr>
            <p:nvPr/>
          </p:nvSpPr>
          <p:spPr bwMode="auto">
            <a:xfrm>
              <a:off x="56" y="3312"/>
              <a:ext cx="1952" cy="8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marL="114300">
                <a:tabLst>
                  <a:tab pos="520700" algn="l"/>
                </a:tabLst>
                <a:defRPr sz="1200">
                  <a:solidFill>
                    <a:schemeClr val="tx1"/>
                  </a:solidFill>
                  <a:latin typeface="Hoefler Text" pitchFamily="1" charset="0"/>
                </a:defRPr>
              </a:lvl1pPr>
              <a:lvl2pPr>
                <a:tabLst>
                  <a:tab pos="520700" algn="l"/>
                </a:tabLst>
                <a:defRPr sz="1200">
                  <a:solidFill>
                    <a:schemeClr val="tx1"/>
                  </a:solidFill>
                  <a:latin typeface="Hoefler Text" pitchFamily="1" charset="0"/>
                </a:defRPr>
              </a:lvl2pPr>
              <a:lvl3pPr>
                <a:tabLst>
                  <a:tab pos="520700" algn="l"/>
                </a:tabLst>
                <a:defRPr sz="1200">
                  <a:solidFill>
                    <a:schemeClr val="tx1"/>
                  </a:solidFill>
                  <a:latin typeface="Hoefler Text" pitchFamily="1" charset="0"/>
                </a:defRPr>
              </a:lvl3pPr>
              <a:lvl4pPr>
                <a:tabLst>
                  <a:tab pos="520700" algn="l"/>
                </a:tabLst>
                <a:defRPr sz="1200">
                  <a:solidFill>
                    <a:schemeClr val="tx1"/>
                  </a:solidFill>
                  <a:latin typeface="Hoefler Text" pitchFamily="1" charset="0"/>
                </a:defRPr>
              </a:lvl4pPr>
              <a:lvl5pPr>
                <a:tabLst>
                  <a:tab pos="520700" algn="l"/>
                </a:tabLst>
                <a:defRPr sz="1200">
                  <a:solidFill>
                    <a:schemeClr val="tx1"/>
                  </a:solidFill>
                  <a:latin typeface="Hoefler Text" pitchFamily="1" charset="0"/>
                </a:defRPr>
              </a:lvl5pPr>
              <a:lvl6pPr fontAlgn="base">
                <a:spcBef>
                  <a:spcPct val="0"/>
                </a:spcBef>
                <a:spcAft>
                  <a:spcPct val="0"/>
                </a:spcAft>
                <a:tabLst>
                  <a:tab pos="520700" algn="l"/>
                </a:tabLst>
                <a:defRPr sz="1200">
                  <a:solidFill>
                    <a:schemeClr val="tx1"/>
                  </a:solidFill>
                  <a:latin typeface="Hoefler Text" pitchFamily="1" charset="0"/>
                </a:defRPr>
              </a:lvl6pPr>
              <a:lvl7pPr fontAlgn="base">
                <a:spcBef>
                  <a:spcPct val="0"/>
                </a:spcBef>
                <a:spcAft>
                  <a:spcPct val="0"/>
                </a:spcAft>
                <a:tabLst>
                  <a:tab pos="520700" algn="l"/>
                </a:tabLst>
                <a:defRPr sz="1200">
                  <a:solidFill>
                    <a:schemeClr val="tx1"/>
                  </a:solidFill>
                  <a:latin typeface="Hoefler Text" pitchFamily="1" charset="0"/>
                </a:defRPr>
              </a:lvl7pPr>
              <a:lvl8pPr fontAlgn="base">
                <a:spcBef>
                  <a:spcPct val="0"/>
                </a:spcBef>
                <a:spcAft>
                  <a:spcPct val="0"/>
                </a:spcAft>
                <a:tabLst>
                  <a:tab pos="520700" algn="l"/>
                </a:tabLst>
                <a:defRPr sz="1200">
                  <a:solidFill>
                    <a:schemeClr val="tx1"/>
                  </a:solidFill>
                  <a:latin typeface="Hoefler Text" pitchFamily="1" charset="0"/>
                </a:defRPr>
              </a:lvl8pPr>
              <a:lvl9pPr fontAlgn="base">
                <a:spcBef>
                  <a:spcPct val="0"/>
                </a:spcBef>
                <a:spcAft>
                  <a:spcPct val="0"/>
                </a:spcAft>
                <a:tabLst>
                  <a:tab pos="520700" algn="l"/>
                </a:tabLst>
                <a:defRPr sz="1200">
                  <a:solidFill>
                    <a:schemeClr val="tx1"/>
                  </a:solidFill>
                  <a:latin typeface="Hoefler Text" pitchFamily="1" charset="0"/>
                </a:defRPr>
              </a:lvl9pPr>
            </a:lstStyle>
            <a:p>
              <a:pPr algn="ctr">
                <a:lnSpc>
                  <a:spcPct val="110000"/>
                </a:lnSpc>
              </a:pPr>
              <a:r>
                <a:rPr lang="en-US" altLang="en-US" sz="1406">
                  <a:solidFill>
                    <a:srgbClr val="2D00FA"/>
                  </a:solidFill>
                  <a:latin typeface="Arial" panose="020B0604020202020204" pitchFamily="34" charset="0"/>
                  <a:cs typeface="Arial" panose="020B0604020202020204" pitchFamily="34" charset="0"/>
                  <a:sym typeface="Arial" panose="020B0604020202020204" pitchFamily="34" charset="0"/>
                </a:rPr>
                <a:t>Waxes and oils, when secreted on to surfaces provide </a:t>
              </a:r>
              <a:r>
                <a:rPr lang="en-US" altLang="en-US" sz="1406" b="1">
                  <a:solidFill>
                    <a:srgbClr val="2D00FA"/>
                  </a:solidFill>
                  <a:latin typeface="Arial" panose="020B0604020202020204" pitchFamily="34" charset="0"/>
                  <a:cs typeface="Arial" panose="020B0604020202020204" pitchFamily="34" charset="0"/>
                  <a:sym typeface="Arial" panose="020B0604020202020204" pitchFamily="34" charset="0"/>
                </a:rPr>
                <a:t>waterproofing</a:t>
              </a:r>
              <a:r>
                <a:rPr lang="en-US" altLang="en-US" sz="1406">
                  <a:solidFill>
                    <a:srgbClr val="2D00FA"/>
                  </a:solidFill>
                  <a:latin typeface="Arial" panose="020B0604020202020204" pitchFamily="34" charset="0"/>
                  <a:cs typeface="Arial" panose="020B0604020202020204" pitchFamily="34" charset="0"/>
                  <a:sym typeface="Arial" panose="020B0604020202020204" pitchFamily="34" charset="0"/>
                </a:rPr>
                <a:t> in plants and animals.</a:t>
              </a:r>
            </a:p>
          </p:txBody>
        </p:sp>
        <p:pic>
          <p:nvPicPr>
            <p:cNvPr id="76816" name="Picture 1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32" y="0"/>
              <a:ext cx="2784" cy="21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2700000" algn="ctr" rotWithShape="0">
                      <a:schemeClr val="bg2">
                        <a:alpha val="50000"/>
                      </a:schemeClr>
                    </a:outerShdw>
                  </a:effectLst>
                </a14:hiddenEffects>
              </a:ext>
            </a:extLst>
          </p:spPr>
        </p:pic>
      </p:grpSp>
    </p:spTree>
    <p:extLst>
      <p:ext uri="{BB962C8B-B14F-4D97-AF65-F5344CB8AC3E}">
        <p14:creationId xmlns:p14="http://schemas.microsoft.com/office/powerpoint/2010/main" val="4035565969"/>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76808"/>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76813"/>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7680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Rectangle 1"/>
          <p:cNvSpPr>
            <a:spLocks noGrp="1" noChangeArrowheads="1"/>
          </p:cNvSpPr>
          <p:nvPr>
            <p:ph type="title"/>
          </p:nvPr>
        </p:nvSpPr>
        <p:spPr>
          <a:xfrm>
            <a:off x="1768185" y="94396"/>
            <a:ext cx="9188648" cy="733360"/>
          </a:xfrm>
          <a:ln/>
        </p:spPr>
        <p:txBody>
          <a:bodyPr anchor="b">
            <a:normAutofit/>
          </a:bodyPr>
          <a:lstStyle/>
          <a:p>
            <a:pPr>
              <a:lnSpc>
                <a:spcPct val="68000"/>
              </a:lnSpc>
              <a:tabLst>
                <a:tab pos="669703" algn="l"/>
              </a:tabLst>
            </a:pPr>
            <a:r>
              <a:rPr lang="en-US" altLang="en-US" b="1" dirty="0">
                <a:solidFill>
                  <a:srgbClr val="00B050"/>
                </a:solidFill>
              </a:rPr>
              <a:t>Biological Roles of Lipids</a:t>
            </a:r>
          </a:p>
        </p:txBody>
      </p:sp>
      <p:grpSp>
        <p:nvGrpSpPr>
          <p:cNvPr id="77826" name="Group 2"/>
          <p:cNvGrpSpPr>
            <a:grpSpLocks/>
          </p:cNvGrpSpPr>
          <p:nvPr/>
        </p:nvGrpSpPr>
        <p:grpSpPr bwMode="auto">
          <a:xfrm>
            <a:off x="4537770" y="2133977"/>
            <a:ext cx="3071813" cy="2964656"/>
            <a:chOff x="0" y="0"/>
            <a:chExt cx="2752" cy="2656"/>
          </a:xfrm>
        </p:grpSpPr>
        <p:pic>
          <p:nvPicPr>
            <p:cNvPr id="778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0" y="0"/>
              <a:ext cx="2264" cy="17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2700000" algn="ctr" rotWithShape="0">
                      <a:schemeClr val="bg2">
                        <a:alpha val="50000"/>
                      </a:schemeClr>
                    </a:outerShdw>
                  </a:effectLst>
                </a14:hiddenEffects>
              </a:ext>
            </a:extLst>
          </p:spPr>
        </p:pic>
        <p:sp>
          <p:nvSpPr>
            <p:cNvPr id="77828" name="Rectangle 4"/>
            <p:cNvSpPr>
              <a:spLocks/>
            </p:cNvSpPr>
            <p:nvPr/>
          </p:nvSpPr>
          <p:spPr bwMode="auto">
            <a:xfrm>
              <a:off x="0" y="1816"/>
              <a:ext cx="2752" cy="8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marL="114300">
                <a:tabLst>
                  <a:tab pos="520700" algn="l"/>
                </a:tabLst>
                <a:defRPr sz="1200">
                  <a:solidFill>
                    <a:schemeClr val="tx1"/>
                  </a:solidFill>
                  <a:latin typeface="Hoefler Text" pitchFamily="1" charset="0"/>
                </a:defRPr>
              </a:lvl1pPr>
              <a:lvl2pPr>
                <a:tabLst>
                  <a:tab pos="520700" algn="l"/>
                </a:tabLst>
                <a:defRPr sz="1200">
                  <a:solidFill>
                    <a:schemeClr val="tx1"/>
                  </a:solidFill>
                  <a:latin typeface="Hoefler Text" pitchFamily="1" charset="0"/>
                </a:defRPr>
              </a:lvl2pPr>
              <a:lvl3pPr>
                <a:tabLst>
                  <a:tab pos="520700" algn="l"/>
                </a:tabLst>
                <a:defRPr sz="1200">
                  <a:solidFill>
                    <a:schemeClr val="tx1"/>
                  </a:solidFill>
                  <a:latin typeface="Hoefler Text" pitchFamily="1" charset="0"/>
                </a:defRPr>
              </a:lvl3pPr>
              <a:lvl4pPr>
                <a:tabLst>
                  <a:tab pos="520700" algn="l"/>
                </a:tabLst>
                <a:defRPr sz="1200">
                  <a:solidFill>
                    <a:schemeClr val="tx1"/>
                  </a:solidFill>
                  <a:latin typeface="Hoefler Text" pitchFamily="1" charset="0"/>
                </a:defRPr>
              </a:lvl4pPr>
              <a:lvl5pPr>
                <a:tabLst>
                  <a:tab pos="520700" algn="l"/>
                </a:tabLst>
                <a:defRPr sz="1200">
                  <a:solidFill>
                    <a:schemeClr val="tx1"/>
                  </a:solidFill>
                  <a:latin typeface="Hoefler Text" pitchFamily="1" charset="0"/>
                </a:defRPr>
              </a:lvl5pPr>
              <a:lvl6pPr fontAlgn="base">
                <a:spcBef>
                  <a:spcPct val="0"/>
                </a:spcBef>
                <a:spcAft>
                  <a:spcPct val="0"/>
                </a:spcAft>
                <a:tabLst>
                  <a:tab pos="520700" algn="l"/>
                </a:tabLst>
                <a:defRPr sz="1200">
                  <a:solidFill>
                    <a:schemeClr val="tx1"/>
                  </a:solidFill>
                  <a:latin typeface="Hoefler Text" pitchFamily="1" charset="0"/>
                </a:defRPr>
              </a:lvl6pPr>
              <a:lvl7pPr fontAlgn="base">
                <a:spcBef>
                  <a:spcPct val="0"/>
                </a:spcBef>
                <a:spcAft>
                  <a:spcPct val="0"/>
                </a:spcAft>
                <a:tabLst>
                  <a:tab pos="520700" algn="l"/>
                </a:tabLst>
                <a:defRPr sz="1200">
                  <a:solidFill>
                    <a:schemeClr val="tx1"/>
                  </a:solidFill>
                  <a:latin typeface="Hoefler Text" pitchFamily="1" charset="0"/>
                </a:defRPr>
              </a:lvl7pPr>
              <a:lvl8pPr fontAlgn="base">
                <a:spcBef>
                  <a:spcPct val="0"/>
                </a:spcBef>
                <a:spcAft>
                  <a:spcPct val="0"/>
                </a:spcAft>
                <a:tabLst>
                  <a:tab pos="520700" algn="l"/>
                </a:tabLst>
                <a:defRPr sz="1200">
                  <a:solidFill>
                    <a:schemeClr val="tx1"/>
                  </a:solidFill>
                  <a:latin typeface="Hoefler Text" pitchFamily="1" charset="0"/>
                </a:defRPr>
              </a:lvl8pPr>
              <a:lvl9pPr fontAlgn="base">
                <a:spcBef>
                  <a:spcPct val="0"/>
                </a:spcBef>
                <a:spcAft>
                  <a:spcPct val="0"/>
                </a:spcAft>
                <a:tabLst>
                  <a:tab pos="520700" algn="l"/>
                </a:tabLst>
                <a:defRPr sz="1200">
                  <a:solidFill>
                    <a:schemeClr val="tx1"/>
                  </a:solidFill>
                  <a:latin typeface="Hoefler Text" pitchFamily="1" charset="0"/>
                </a:defRPr>
              </a:lvl9pPr>
            </a:lstStyle>
            <a:p>
              <a:pPr algn="ctr">
                <a:lnSpc>
                  <a:spcPct val="110000"/>
                </a:lnSpc>
              </a:pPr>
              <a:r>
                <a:rPr lang="en-US" altLang="en-US" sz="1406">
                  <a:solidFill>
                    <a:srgbClr val="2D00FA"/>
                  </a:solidFill>
                  <a:latin typeface="Arial" panose="020B0604020202020204" pitchFamily="34" charset="0"/>
                  <a:cs typeface="Arial" panose="020B0604020202020204" pitchFamily="34" charset="0"/>
                  <a:sym typeface="Arial" panose="020B0604020202020204" pitchFamily="34" charset="0"/>
                </a:rPr>
                <a:t>Lipids are a source of </a:t>
              </a:r>
              <a:r>
                <a:rPr lang="en-US" altLang="en-US" sz="1406" b="1">
                  <a:solidFill>
                    <a:srgbClr val="2D00FA"/>
                  </a:solidFill>
                  <a:latin typeface="Arial" panose="020B0604020202020204" pitchFamily="34" charset="0"/>
                  <a:cs typeface="Arial" panose="020B0604020202020204" pitchFamily="34" charset="0"/>
                  <a:sym typeface="Arial" panose="020B0604020202020204" pitchFamily="34" charset="0"/>
                </a:rPr>
                <a:t>metabolic water</a:t>
              </a:r>
              <a:r>
                <a:rPr lang="en-US" altLang="en-US" sz="1406">
                  <a:solidFill>
                    <a:srgbClr val="2D00FA"/>
                  </a:solidFill>
                  <a:latin typeface="Arial" panose="020B0604020202020204" pitchFamily="34" charset="0"/>
                  <a:cs typeface="Arial" panose="020B0604020202020204" pitchFamily="34" charset="0"/>
                  <a:sym typeface="Arial" panose="020B0604020202020204" pitchFamily="34" charset="0"/>
                </a:rPr>
                <a:t>. During respiration, stored lipids are metabolized for energy, producing water and carbon dioxide.</a:t>
              </a:r>
            </a:p>
          </p:txBody>
        </p:sp>
      </p:grpSp>
      <p:grpSp>
        <p:nvGrpSpPr>
          <p:cNvPr id="77829" name="Group 5"/>
          <p:cNvGrpSpPr>
            <a:grpSpLocks/>
          </p:cNvGrpSpPr>
          <p:nvPr/>
        </p:nvGrpSpPr>
        <p:grpSpPr bwMode="auto">
          <a:xfrm>
            <a:off x="1934767" y="1192757"/>
            <a:ext cx="2527102" cy="3143250"/>
            <a:chOff x="0" y="0"/>
            <a:chExt cx="2264" cy="2816"/>
          </a:xfrm>
        </p:grpSpPr>
        <p:grpSp>
          <p:nvGrpSpPr>
            <p:cNvPr id="77830" name="Group 6"/>
            <p:cNvGrpSpPr>
              <a:grpSpLocks/>
            </p:cNvGrpSpPr>
            <p:nvPr/>
          </p:nvGrpSpPr>
          <p:grpSpPr bwMode="auto">
            <a:xfrm>
              <a:off x="0" y="0"/>
              <a:ext cx="2264" cy="2816"/>
              <a:chOff x="0" y="0"/>
              <a:chExt cx="2264" cy="2816"/>
            </a:xfrm>
          </p:grpSpPr>
          <p:sp>
            <p:nvSpPr>
              <p:cNvPr id="77831" name="Rectangle 7"/>
              <p:cNvSpPr>
                <a:spLocks/>
              </p:cNvSpPr>
              <p:nvPr/>
            </p:nvSpPr>
            <p:spPr bwMode="auto">
              <a:xfrm>
                <a:off x="72" y="1776"/>
                <a:ext cx="2120" cy="10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marL="114300">
                  <a:tabLst>
                    <a:tab pos="520700" algn="l"/>
                  </a:tabLst>
                  <a:defRPr sz="1200">
                    <a:solidFill>
                      <a:schemeClr val="tx1"/>
                    </a:solidFill>
                    <a:latin typeface="Hoefler Text" pitchFamily="1" charset="0"/>
                  </a:defRPr>
                </a:lvl1pPr>
                <a:lvl2pPr>
                  <a:tabLst>
                    <a:tab pos="520700" algn="l"/>
                  </a:tabLst>
                  <a:defRPr sz="1200">
                    <a:solidFill>
                      <a:schemeClr val="tx1"/>
                    </a:solidFill>
                    <a:latin typeface="Hoefler Text" pitchFamily="1" charset="0"/>
                  </a:defRPr>
                </a:lvl2pPr>
                <a:lvl3pPr>
                  <a:tabLst>
                    <a:tab pos="520700" algn="l"/>
                  </a:tabLst>
                  <a:defRPr sz="1200">
                    <a:solidFill>
                      <a:schemeClr val="tx1"/>
                    </a:solidFill>
                    <a:latin typeface="Hoefler Text" pitchFamily="1" charset="0"/>
                  </a:defRPr>
                </a:lvl3pPr>
                <a:lvl4pPr>
                  <a:tabLst>
                    <a:tab pos="520700" algn="l"/>
                  </a:tabLst>
                  <a:defRPr sz="1200">
                    <a:solidFill>
                      <a:schemeClr val="tx1"/>
                    </a:solidFill>
                    <a:latin typeface="Hoefler Text" pitchFamily="1" charset="0"/>
                  </a:defRPr>
                </a:lvl4pPr>
                <a:lvl5pPr>
                  <a:tabLst>
                    <a:tab pos="520700" algn="l"/>
                  </a:tabLst>
                  <a:defRPr sz="1200">
                    <a:solidFill>
                      <a:schemeClr val="tx1"/>
                    </a:solidFill>
                    <a:latin typeface="Hoefler Text" pitchFamily="1" charset="0"/>
                  </a:defRPr>
                </a:lvl5pPr>
                <a:lvl6pPr fontAlgn="base">
                  <a:spcBef>
                    <a:spcPct val="0"/>
                  </a:spcBef>
                  <a:spcAft>
                    <a:spcPct val="0"/>
                  </a:spcAft>
                  <a:tabLst>
                    <a:tab pos="520700" algn="l"/>
                  </a:tabLst>
                  <a:defRPr sz="1200">
                    <a:solidFill>
                      <a:schemeClr val="tx1"/>
                    </a:solidFill>
                    <a:latin typeface="Hoefler Text" pitchFamily="1" charset="0"/>
                  </a:defRPr>
                </a:lvl6pPr>
                <a:lvl7pPr fontAlgn="base">
                  <a:spcBef>
                    <a:spcPct val="0"/>
                  </a:spcBef>
                  <a:spcAft>
                    <a:spcPct val="0"/>
                  </a:spcAft>
                  <a:tabLst>
                    <a:tab pos="520700" algn="l"/>
                  </a:tabLst>
                  <a:defRPr sz="1200">
                    <a:solidFill>
                      <a:schemeClr val="tx1"/>
                    </a:solidFill>
                    <a:latin typeface="Hoefler Text" pitchFamily="1" charset="0"/>
                  </a:defRPr>
                </a:lvl7pPr>
                <a:lvl8pPr fontAlgn="base">
                  <a:spcBef>
                    <a:spcPct val="0"/>
                  </a:spcBef>
                  <a:spcAft>
                    <a:spcPct val="0"/>
                  </a:spcAft>
                  <a:tabLst>
                    <a:tab pos="520700" algn="l"/>
                  </a:tabLst>
                  <a:defRPr sz="1200">
                    <a:solidFill>
                      <a:schemeClr val="tx1"/>
                    </a:solidFill>
                    <a:latin typeface="Hoefler Text" pitchFamily="1" charset="0"/>
                  </a:defRPr>
                </a:lvl8pPr>
                <a:lvl9pPr fontAlgn="base">
                  <a:spcBef>
                    <a:spcPct val="0"/>
                  </a:spcBef>
                  <a:spcAft>
                    <a:spcPct val="0"/>
                  </a:spcAft>
                  <a:tabLst>
                    <a:tab pos="520700" algn="l"/>
                  </a:tabLst>
                  <a:defRPr sz="1200">
                    <a:solidFill>
                      <a:schemeClr val="tx1"/>
                    </a:solidFill>
                    <a:latin typeface="Hoefler Text" pitchFamily="1" charset="0"/>
                  </a:defRPr>
                </a:lvl9pPr>
              </a:lstStyle>
              <a:p>
                <a:pPr algn="ctr">
                  <a:lnSpc>
                    <a:spcPct val="110000"/>
                  </a:lnSpc>
                </a:pPr>
                <a:r>
                  <a:rPr lang="en-US" altLang="en-US" sz="1406">
                    <a:solidFill>
                      <a:srgbClr val="2D00FA"/>
                    </a:solidFill>
                    <a:latin typeface="Arial" panose="020B0604020202020204" pitchFamily="34" charset="0"/>
                    <a:cs typeface="Arial" panose="020B0604020202020204" pitchFamily="34" charset="0"/>
                    <a:sym typeface="Arial" panose="020B0604020202020204" pitchFamily="34" charset="0"/>
                  </a:rPr>
                  <a:t>Fat </a:t>
                </a:r>
                <a:r>
                  <a:rPr lang="en-US" altLang="en-US" sz="1406" b="1">
                    <a:solidFill>
                      <a:srgbClr val="2D00FA"/>
                    </a:solidFill>
                    <a:latin typeface="Arial" panose="020B0604020202020204" pitchFamily="34" charset="0"/>
                    <a:cs typeface="Arial" panose="020B0604020202020204" pitchFamily="34" charset="0"/>
                    <a:sym typeface="Arial" panose="020B0604020202020204" pitchFamily="34" charset="0"/>
                  </a:rPr>
                  <a:t>absorbs shocks</a:t>
                </a:r>
                <a:r>
                  <a:rPr lang="en-US" altLang="en-US" sz="1406">
                    <a:solidFill>
                      <a:srgbClr val="2D00FA"/>
                    </a:solidFill>
                    <a:latin typeface="Arial" panose="020B0604020202020204" pitchFamily="34" charset="0"/>
                    <a:cs typeface="Arial" panose="020B0604020202020204" pitchFamily="34" charset="0"/>
                    <a:sym typeface="Arial" panose="020B0604020202020204" pitchFamily="34" charset="0"/>
                  </a:rPr>
                  <a:t>. Organs that are prone to bumps and shocks (e.g. kidneys) are cushioned with a relatively thick layer of fat.</a:t>
                </a:r>
              </a:p>
            </p:txBody>
          </p:sp>
          <p:pic>
            <p:nvPicPr>
              <p:cNvPr id="77832" name="Picture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2264" cy="169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2700000" algn="ctr" rotWithShape="0">
                        <a:schemeClr val="bg2">
                          <a:alpha val="50000"/>
                        </a:schemeClr>
                      </a:outerShdw>
                    </a:effectLst>
                  </a14:hiddenEffects>
                </a:ext>
              </a:extLst>
            </p:spPr>
          </p:pic>
        </p:grpSp>
        <p:sp>
          <p:nvSpPr>
            <p:cNvPr id="77833" name="Rectangle 9"/>
            <p:cNvSpPr>
              <a:spLocks/>
            </p:cNvSpPr>
            <p:nvPr/>
          </p:nvSpPr>
          <p:spPr bwMode="auto">
            <a:xfrm>
              <a:off x="240" y="1144"/>
              <a:ext cx="1784" cy="3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marL="114300">
                <a:tabLst>
                  <a:tab pos="520700" algn="l"/>
                </a:tabLst>
                <a:defRPr sz="1200">
                  <a:solidFill>
                    <a:schemeClr val="tx1"/>
                  </a:solidFill>
                  <a:latin typeface="Hoefler Text" pitchFamily="1" charset="0"/>
                </a:defRPr>
              </a:lvl1pPr>
              <a:lvl2pPr>
                <a:tabLst>
                  <a:tab pos="520700" algn="l"/>
                </a:tabLst>
                <a:defRPr sz="1200">
                  <a:solidFill>
                    <a:schemeClr val="tx1"/>
                  </a:solidFill>
                  <a:latin typeface="Hoefler Text" pitchFamily="1" charset="0"/>
                </a:defRPr>
              </a:lvl2pPr>
              <a:lvl3pPr>
                <a:tabLst>
                  <a:tab pos="520700" algn="l"/>
                </a:tabLst>
                <a:defRPr sz="1200">
                  <a:solidFill>
                    <a:schemeClr val="tx1"/>
                  </a:solidFill>
                  <a:latin typeface="Hoefler Text" pitchFamily="1" charset="0"/>
                </a:defRPr>
              </a:lvl3pPr>
              <a:lvl4pPr>
                <a:tabLst>
                  <a:tab pos="520700" algn="l"/>
                </a:tabLst>
                <a:defRPr sz="1200">
                  <a:solidFill>
                    <a:schemeClr val="tx1"/>
                  </a:solidFill>
                  <a:latin typeface="Hoefler Text" pitchFamily="1" charset="0"/>
                </a:defRPr>
              </a:lvl4pPr>
              <a:lvl5pPr>
                <a:tabLst>
                  <a:tab pos="520700" algn="l"/>
                </a:tabLst>
                <a:defRPr sz="1200">
                  <a:solidFill>
                    <a:schemeClr val="tx1"/>
                  </a:solidFill>
                  <a:latin typeface="Hoefler Text" pitchFamily="1" charset="0"/>
                </a:defRPr>
              </a:lvl5pPr>
              <a:lvl6pPr fontAlgn="base">
                <a:spcBef>
                  <a:spcPct val="0"/>
                </a:spcBef>
                <a:spcAft>
                  <a:spcPct val="0"/>
                </a:spcAft>
                <a:tabLst>
                  <a:tab pos="520700" algn="l"/>
                </a:tabLst>
                <a:defRPr sz="1200">
                  <a:solidFill>
                    <a:schemeClr val="tx1"/>
                  </a:solidFill>
                  <a:latin typeface="Hoefler Text" pitchFamily="1" charset="0"/>
                </a:defRPr>
              </a:lvl6pPr>
              <a:lvl7pPr fontAlgn="base">
                <a:spcBef>
                  <a:spcPct val="0"/>
                </a:spcBef>
                <a:spcAft>
                  <a:spcPct val="0"/>
                </a:spcAft>
                <a:tabLst>
                  <a:tab pos="520700" algn="l"/>
                </a:tabLst>
                <a:defRPr sz="1200">
                  <a:solidFill>
                    <a:schemeClr val="tx1"/>
                  </a:solidFill>
                  <a:latin typeface="Hoefler Text" pitchFamily="1" charset="0"/>
                </a:defRPr>
              </a:lvl7pPr>
              <a:lvl8pPr fontAlgn="base">
                <a:spcBef>
                  <a:spcPct val="0"/>
                </a:spcBef>
                <a:spcAft>
                  <a:spcPct val="0"/>
                </a:spcAft>
                <a:tabLst>
                  <a:tab pos="520700" algn="l"/>
                </a:tabLst>
                <a:defRPr sz="1200">
                  <a:solidFill>
                    <a:schemeClr val="tx1"/>
                  </a:solidFill>
                  <a:latin typeface="Hoefler Text" pitchFamily="1" charset="0"/>
                </a:defRPr>
              </a:lvl8pPr>
              <a:lvl9pPr fontAlgn="base">
                <a:spcBef>
                  <a:spcPct val="0"/>
                </a:spcBef>
                <a:spcAft>
                  <a:spcPct val="0"/>
                </a:spcAft>
                <a:tabLst>
                  <a:tab pos="520700" algn="l"/>
                </a:tabLst>
                <a:defRPr sz="1200">
                  <a:solidFill>
                    <a:schemeClr val="tx1"/>
                  </a:solidFill>
                  <a:latin typeface="Hoefler Text" pitchFamily="1" charset="0"/>
                </a:defRPr>
              </a:lvl9pPr>
            </a:lstStyle>
            <a:p>
              <a:pPr algn="ctr"/>
              <a:r>
                <a:rPr lang="en-US" altLang="en-US" sz="1125" i="1">
                  <a:solidFill>
                    <a:srgbClr val="000000"/>
                  </a:solidFill>
                  <a:latin typeface="Arial" panose="020B0604020202020204" pitchFamily="34" charset="0"/>
                  <a:cs typeface="Arial" panose="020B0604020202020204" pitchFamily="34" charset="0"/>
                  <a:sym typeface="Arial" panose="020B0604020202020204" pitchFamily="34" charset="0"/>
                </a:rPr>
                <a:t>The white fat tissue (arrows) is visible in this ox kidney</a:t>
              </a:r>
            </a:p>
          </p:txBody>
        </p:sp>
        <p:sp>
          <p:nvSpPr>
            <p:cNvPr id="77834" name="Line 10"/>
            <p:cNvSpPr>
              <a:spLocks noChangeShapeType="1"/>
            </p:cNvSpPr>
            <p:nvPr/>
          </p:nvSpPr>
          <p:spPr bwMode="auto">
            <a:xfrm>
              <a:off x="1592" y="656"/>
              <a:ext cx="113" cy="161"/>
            </a:xfrm>
            <a:prstGeom prst="line">
              <a:avLst/>
            </a:prstGeom>
            <a:noFill/>
            <a:ln w="38100">
              <a:solidFill>
                <a:srgbClr val="F8FF23"/>
              </a:solidFill>
              <a:round/>
              <a:headEnd type="stealth"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25400" dist="12699" dir="5400000" algn="ctr" rotWithShape="0">
                      <a:schemeClr val="bg2">
                        <a:alpha val="20000"/>
                      </a:schemeClr>
                    </a:outerShdw>
                  </a:effectLst>
                </a14:hiddenEffects>
              </a:ext>
            </a:extLst>
          </p:spPr>
          <p:txBody>
            <a:bodyPr/>
            <a:lstStyle/>
            <a:p>
              <a:endParaRPr lang="en-AU" sz="1266"/>
            </a:p>
          </p:txBody>
        </p:sp>
        <p:sp>
          <p:nvSpPr>
            <p:cNvPr id="77835" name="Line 11"/>
            <p:cNvSpPr>
              <a:spLocks noChangeShapeType="1"/>
            </p:cNvSpPr>
            <p:nvPr/>
          </p:nvSpPr>
          <p:spPr bwMode="auto">
            <a:xfrm>
              <a:off x="976" y="592"/>
              <a:ext cx="113" cy="161"/>
            </a:xfrm>
            <a:prstGeom prst="line">
              <a:avLst/>
            </a:prstGeom>
            <a:noFill/>
            <a:ln w="38100">
              <a:solidFill>
                <a:srgbClr val="F8FF23"/>
              </a:solidFill>
              <a:round/>
              <a:headEnd type="stealth"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25400" dist="12699" dir="5400000" algn="ctr" rotWithShape="0">
                      <a:schemeClr val="bg2">
                        <a:alpha val="20000"/>
                      </a:schemeClr>
                    </a:outerShdw>
                  </a:effectLst>
                </a14:hiddenEffects>
              </a:ext>
            </a:extLst>
          </p:spPr>
          <p:txBody>
            <a:bodyPr/>
            <a:lstStyle/>
            <a:p>
              <a:endParaRPr lang="en-AU" sz="1266"/>
            </a:p>
          </p:txBody>
        </p:sp>
      </p:grpSp>
      <p:grpSp>
        <p:nvGrpSpPr>
          <p:cNvPr id="77836" name="Group 12"/>
          <p:cNvGrpSpPr>
            <a:grpSpLocks/>
          </p:cNvGrpSpPr>
          <p:nvPr/>
        </p:nvGrpSpPr>
        <p:grpSpPr bwMode="auto">
          <a:xfrm>
            <a:off x="7739062" y="1857375"/>
            <a:ext cx="2607469" cy="4723805"/>
            <a:chOff x="0" y="0"/>
            <a:chExt cx="2336" cy="4232"/>
          </a:xfrm>
        </p:grpSpPr>
        <p:pic>
          <p:nvPicPr>
            <p:cNvPr id="77837" name="Picture 1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 y="1440"/>
              <a:ext cx="2264" cy="16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2700000" algn="ctr" rotWithShape="0">
                      <a:schemeClr val="bg2">
                        <a:alpha val="50000"/>
                      </a:schemeClr>
                    </a:outerShdw>
                  </a:effectLst>
                </a14:hiddenEffects>
              </a:ext>
            </a:extLst>
          </p:spPr>
        </p:pic>
        <p:sp>
          <p:nvSpPr>
            <p:cNvPr id="77838" name="Rectangle 14"/>
            <p:cNvSpPr>
              <a:spLocks/>
            </p:cNvSpPr>
            <p:nvPr/>
          </p:nvSpPr>
          <p:spPr bwMode="auto">
            <a:xfrm>
              <a:off x="0" y="3192"/>
              <a:ext cx="2320" cy="10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marL="114300">
                <a:tabLst>
                  <a:tab pos="520700" algn="l"/>
                </a:tabLst>
                <a:defRPr sz="1200">
                  <a:solidFill>
                    <a:schemeClr val="tx1"/>
                  </a:solidFill>
                  <a:latin typeface="Hoefler Text" pitchFamily="1" charset="0"/>
                </a:defRPr>
              </a:lvl1pPr>
              <a:lvl2pPr>
                <a:tabLst>
                  <a:tab pos="520700" algn="l"/>
                </a:tabLst>
                <a:defRPr sz="1200">
                  <a:solidFill>
                    <a:schemeClr val="tx1"/>
                  </a:solidFill>
                  <a:latin typeface="Hoefler Text" pitchFamily="1" charset="0"/>
                </a:defRPr>
              </a:lvl2pPr>
              <a:lvl3pPr>
                <a:tabLst>
                  <a:tab pos="520700" algn="l"/>
                </a:tabLst>
                <a:defRPr sz="1200">
                  <a:solidFill>
                    <a:schemeClr val="tx1"/>
                  </a:solidFill>
                  <a:latin typeface="Hoefler Text" pitchFamily="1" charset="0"/>
                </a:defRPr>
              </a:lvl3pPr>
              <a:lvl4pPr>
                <a:tabLst>
                  <a:tab pos="520700" algn="l"/>
                </a:tabLst>
                <a:defRPr sz="1200">
                  <a:solidFill>
                    <a:schemeClr val="tx1"/>
                  </a:solidFill>
                  <a:latin typeface="Hoefler Text" pitchFamily="1" charset="0"/>
                </a:defRPr>
              </a:lvl4pPr>
              <a:lvl5pPr>
                <a:tabLst>
                  <a:tab pos="520700" algn="l"/>
                </a:tabLst>
                <a:defRPr sz="1200">
                  <a:solidFill>
                    <a:schemeClr val="tx1"/>
                  </a:solidFill>
                  <a:latin typeface="Hoefler Text" pitchFamily="1" charset="0"/>
                </a:defRPr>
              </a:lvl5pPr>
              <a:lvl6pPr fontAlgn="base">
                <a:spcBef>
                  <a:spcPct val="0"/>
                </a:spcBef>
                <a:spcAft>
                  <a:spcPct val="0"/>
                </a:spcAft>
                <a:tabLst>
                  <a:tab pos="520700" algn="l"/>
                </a:tabLst>
                <a:defRPr sz="1200">
                  <a:solidFill>
                    <a:schemeClr val="tx1"/>
                  </a:solidFill>
                  <a:latin typeface="Hoefler Text" pitchFamily="1" charset="0"/>
                </a:defRPr>
              </a:lvl6pPr>
              <a:lvl7pPr fontAlgn="base">
                <a:spcBef>
                  <a:spcPct val="0"/>
                </a:spcBef>
                <a:spcAft>
                  <a:spcPct val="0"/>
                </a:spcAft>
                <a:tabLst>
                  <a:tab pos="520700" algn="l"/>
                </a:tabLst>
                <a:defRPr sz="1200">
                  <a:solidFill>
                    <a:schemeClr val="tx1"/>
                  </a:solidFill>
                  <a:latin typeface="Hoefler Text" pitchFamily="1" charset="0"/>
                </a:defRPr>
              </a:lvl7pPr>
              <a:lvl8pPr fontAlgn="base">
                <a:spcBef>
                  <a:spcPct val="0"/>
                </a:spcBef>
                <a:spcAft>
                  <a:spcPct val="0"/>
                </a:spcAft>
                <a:tabLst>
                  <a:tab pos="520700" algn="l"/>
                </a:tabLst>
                <a:defRPr sz="1200">
                  <a:solidFill>
                    <a:schemeClr val="tx1"/>
                  </a:solidFill>
                  <a:latin typeface="Hoefler Text" pitchFamily="1" charset="0"/>
                </a:defRPr>
              </a:lvl8pPr>
              <a:lvl9pPr fontAlgn="base">
                <a:spcBef>
                  <a:spcPct val="0"/>
                </a:spcBef>
                <a:spcAft>
                  <a:spcPct val="0"/>
                </a:spcAft>
                <a:tabLst>
                  <a:tab pos="520700" algn="l"/>
                </a:tabLst>
                <a:defRPr sz="1200">
                  <a:solidFill>
                    <a:schemeClr val="tx1"/>
                  </a:solidFill>
                  <a:latin typeface="Hoefler Text" pitchFamily="1" charset="0"/>
                </a:defRPr>
              </a:lvl9pPr>
            </a:lstStyle>
            <a:p>
              <a:pPr algn="ctr">
                <a:lnSpc>
                  <a:spcPct val="110000"/>
                </a:lnSpc>
              </a:pPr>
              <a:r>
                <a:rPr lang="en-US" altLang="en-US" sz="1406" dirty="0">
                  <a:solidFill>
                    <a:srgbClr val="2D00FA"/>
                  </a:solidFill>
                  <a:latin typeface="Arial" panose="020B0604020202020204" pitchFamily="34" charset="0"/>
                  <a:cs typeface="Arial" panose="020B0604020202020204" pitchFamily="34" charset="0"/>
                  <a:sym typeface="Arial" panose="020B0604020202020204" pitchFamily="34" charset="0"/>
                </a:rPr>
                <a:t>Stored lipids provide </a:t>
              </a:r>
              <a:r>
                <a:rPr lang="en-US" altLang="en-US" sz="1406" b="1" dirty="0">
                  <a:solidFill>
                    <a:srgbClr val="2D00FA"/>
                  </a:solidFill>
                  <a:latin typeface="Arial" panose="020B0604020202020204" pitchFamily="34" charset="0"/>
                  <a:cs typeface="Arial" panose="020B0604020202020204" pitchFamily="34" charset="0"/>
                  <a:sym typeface="Arial" panose="020B0604020202020204" pitchFamily="34" charset="0"/>
                </a:rPr>
                <a:t>insulation</a:t>
              </a:r>
              <a:r>
                <a:rPr lang="en-US" altLang="en-US" sz="1406" dirty="0">
                  <a:solidFill>
                    <a:srgbClr val="2D00FA"/>
                  </a:solidFill>
                  <a:latin typeface="Arial" panose="020B0604020202020204" pitchFamily="34" charset="0"/>
                  <a:cs typeface="Arial" panose="020B0604020202020204" pitchFamily="34" charset="0"/>
                  <a:sym typeface="Arial" panose="020B0604020202020204" pitchFamily="34" charset="0"/>
                </a:rPr>
                <a:t> in extreme environments. Increased body fat in winter reduces heat loss to the environment.</a:t>
              </a:r>
            </a:p>
          </p:txBody>
        </p:sp>
        <p:pic>
          <p:nvPicPr>
            <p:cNvPr id="77839" name="Picture 1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80" y="0"/>
              <a:ext cx="1056" cy="18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2700000" algn="ctr" rotWithShape="0">
                      <a:schemeClr val="bg2">
                        <a:alpha val="50000"/>
                      </a:schemeClr>
                    </a:outerShdw>
                  </a:effectLst>
                </a14:hiddenEffects>
              </a:ext>
            </a:extLst>
          </p:spPr>
        </p:pic>
      </p:grpSp>
    </p:spTree>
    <p:extLst>
      <p:ext uri="{BB962C8B-B14F-4D97-AF65-F5344CB8AC3E}">
        <p14:creationId xmlns:p14="http://schemas.microsoft.com/office/powerpoint/2010/main" val="2897418768"/>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7782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77826"/>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778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31000" y="528860"/>
            <a:ext cx="8911687" cy="1280890"/>
          </a:xfrm>
        </p:spPr>
        <p:txBody>
          <a:bodyPr/>
          <a:lstStyle/>
          <a:p>
            <a:r>
              <a:rPr lang="en-AU" b="1" dirty="0">
                <a:solidFill>
                  <a:srgbClr val="00B050"/>
                </a:solidFill>
              </a:rPr>
              <a:t>Lipid Structures</a:t>
            </a:r>
          </a:p>
        </p:txBody>
      </p:sp>
      <p:sp>
        <p:nvSpPr>
          <p:cNvPr id="3" name="Content Placeholder 2"/>
          <p:cNvSpPr>
            <a:spLocks noGrp="1"/>
          </p:cNvSpPr>
          <p:nvPr>
            <p:ph idx="1"/>
          </p:nvPr>
        </p:nvSpPr>
        <p:spPr>
          <a:xfrm>
            <a:off x="2011143" y="1809750"/>
            <a:ext cx="6680912" cy="4114800"/>
          </a:xfrm>
        </p:spPr>
        <p:txBody>
          <a:bodyPr/>
          <a:lstStyle/>
          <a:p>
            <a:r>
              <a:rPr lang="en-US" altLang="en-US" dirty="0"/>
              <a:t>Typical lipids consist of 1-3 fatty acid chains attached to a glycerol back bone.</a:t>
            </a:r>
          </a:p>
          <a:p>
            <a:pPr marL="0" indent="0">
              <a:buNone/>
            </a:pPr>
            <a:endParaRPr lang="en-US" altLang="en-US" dirty="0"/>
          </a:p>
          <a:p>
            <a:pPr lvl="1">
              <a:lnSpc>
                <a:spcPts val="2800"/>
              </a:lnSpc>
              <a:spcBef>
                <a:spcPct val="0"/>
              </a:spcBef>
              <a:spcAft>
                <a:spcPts val="1500"/>
              </a:spcAft>
              <a:buSzPct val="120000"/>
              <a:buFontTx/>
              <a:buBlip>
                <a:blip r:embed="rId2"/>
              </a:buBlip>
              <a:tabLst>
                <a:tab pos="1025525" algn="l"/>
                <a:tab pos="1025525" algn="l"/>
                <a:tab pos="1487488" algn="l"/>
                <a:tab pos="1487488" algn="l"/>
                <a:tab pos="1487488" algn="l"/>
                <a:tab pos="1487488" algn="l"/>
              </a:tabLst>
            </a:pPr>
            <a:r>
              <a:rPr lang="en-US" altLang="en-US" sz="1800" dirty="0"/>
              <a:t>One fatty acid chain = </a:t>
            </a:r>
            <a:r>
              <a:rPr lang="en-US" altLang="en-US" sz="1800" b="1" dirty="0"/>
              <a:t>monoglyceride</a:t>
            </a:r>
            <a:endParaRPr lang="en-US" altLang="en-US" sz="1800" dirty="0"/>
          </a:p>
          <a:p>
            <a:pPr lvl="1">
              <a:lnSpc>
                <a:spcPts val="2800"/>
              </a:lnSpc>
              <a:spcBef>
                <a:spcPct val="0"/>
              </a:spcBef>
              <a:spcAft>
                <a:spcPts val="1500"/>
              </a:spcAft>
              <a:buSzPct val="120000"/>
              <a:buFontTx/>
              <a:buBlip>
                <a:blip r:embed="rId2"/>
              </a:buBlip>
              <a:tabLst>
                <a:tab pos="1025525" algn="l"/>
                <a:tab pos="1025525" algn="l"/>
                <a:tab pos="1487488" algn="l"/>
                <a:tab pos="1487488" algn="l"/>
                <a:tab pos="1487488" algn="l"/>
                <a:tab pos="1487488" algn="l"/>
              </a:tabLst>
            </a:pPr>
            <a:r>
              <a:rPr lang="en-US" altLang="en-US" sz="1800" dirty="0"/>
              <a:t>Two fatty acid chains = </a:t>
            </a:r>
            <a:r>
              <a:rPr lang="en-US" altLang="en-US" sz="1800" b="1" dirty="0"/>
              <a:t>diglyceride</a:t>
            </a:r>
            <a:endParaRPr lang="en-US" altLang="en-US" sz="1800" dirty="0"/>
          </a:p>
          <a:p>
            <a:pPr lvl="1">
              <a:lnSpc>
                <a:spcPts val="2800"/>
              </a:lnSpc>
              <a:spcBef>
                <a:spcPct val="0"/>
              </a:spcBef>
              <a:spcAft>
                <a:spcPts val="1500"/>
              </a:spcAft>
              <a:buSzPct val="120000"/>
              <a:buFontTx/>
              <a:buBlip>
                <a:blip r:embed="rId2"/>
              </a:buBlip>
              <a:tabLst>
                <a:tab pos="1025525" algn="l"/>
                <a:tab pos="1025525" algn="l"/>
                <a:tab pos="1487488" algn="l"/>
                <a:tab pos="1487488" algn="l"/>
                <a:tab pos="1487488" algn="l"/>
                <a:tab pos="1487488" algn="l"/>
              </a:tabLst>
            </a:pPr>
            <a:r>
              <a:rPr lang="en-US" altLang="en-US" sz="1800" dirty="0"/>
              <a:t>Three fatty acid chains = </a:t>
            </a:r>
            <a:r>
              <a:rPr lang="en-US" altLang="en-US" sz="1800" b="1" dirty="0"/>
              <a:t>triglyceride</a:t>
            </a:r>
            <a:r>
              <a:rPr lang="en-US" altLang="en-US" sz="1800" dirty="0"/>
              <a:t> </a:t>
            </a:r>
          </a:p>
          <a:p>
            <a:pPr>
              <a:lnSpc>
                <a:spcPts val="2800"/>
              </a:lnSpc>
              <a:spcBef>
                <a:spcPct val="0"/>
              </a:spcBef>
              <a:spcAft>
                <a:spcPts val="1500"/>
              </a:spcAft>
              <a:buSzPct val="120000"/>
              <a:tabLst>
                <a:tab pos="1025525" algn="l"/>
                <a:tab pos="1025525" algn="l"/>
                <a:tab pos="1487488" algn="l"/>
                <a:tab pos="1487488" algn="l"/>
                <a:tab pos="1487488" algn="l"/>
                <a:tab pos="1487488" algn="l"/>
              </a:tabLst>
            </a:pPr>
            <a:r>
              <a:rPr lang="en-US" altLang="en-US" sz="2000" dirty="0"/>
              <a:t>Triglycerides are the most common of these.</a:t>
            </a:r>
          </a:p>
          <a:p>
            <a:endParaRPr lang="en-AU" dirty="0"/>
          </a:p>
        </p:txBody>
      </p:sp>
      <p:pic>
        <p:nvPicPr>
          <p:cNvPr id="4" name="Picture 3"/>
          <p:cNvPicPr>
            <a:picLocks noChangeAspect="1"/>
          </p:cNvPicPr>
          <p:nvPr/>
        </p:nvPicPr>
        <p:blipFill>
          <a:blip r:embed="rId3"/>
          <a:stretch>
            <a:fillRect/>
          </a:stretch>
        </p:blipFill>
        <p:spPr>
          <a:xfrm>
            <a:off x="8587837" y="2064450"/>
            <a:ext cx="3260014" cy="2610896"/>
          </a:xfrm>
          <a:prstGeom prst="rect">
            <a:avLst/>
          </a:prstGeom>
        </p:spPr>
      </p:pic>
      <p:pic>
        <p:nvPicPr>
          <p:cNvPr id="6" name="Picture 5">
            <a:extLst>
              <a:ext uri="{FF2B5EF4-FFF2-40B4-BE49-F238E27FC236}">
                <a16:creationId xmlns:a16="http://schemas.microsoft.com/office/drawing/2014/main" id="{E57E599C-1EF6-B550-7065-C07C46A42199}"/>
              </a:ext>
            </a:extLst>
          </p:cNvPr>
          <p:cNvPicPr>
            <a:picLocks noChangeAspect="1"/>
          </p:cNvPicPr>
          <p:nvPr/>
        </p:nvPicPr>
        <p:blipFill>
          <a:blip r:embed="rId4"/>
          <a:stretch>
            <a:fillRect/>
          </a:stretch>
        </p:blipFill>
        <p:spPr>
          <a:xfrm>
            <a:off x="8587837" y="4930046"/>
            <a:ext cx="3186040" cy="1688910"/>
          </a:xfrm>
          <a:prstGeom prst="rect">
            <a:avLst/>
          </a:prstGeom>
        </p:spPr>
      </p:pic>
    </p:spTree>
    <p:extLst>
      <p:ext uri="{BB962C8B-B14F-4D97-AF65-F5344CB8AC3E}">
        <p14:creationId xmlns:p14="http://schemas.microsoft.com/office/powerpoint/2010/main" val="36963054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p:nvPr>
        </p:nvSpPr>
        <p:spPr>
          <a:xfrm>
            <a:off x="4461108" y="116378"/>
            <a:ext cx="3446515" cy="865324"/>
          </a:xfrm>
        </p:spPr>
        <p:txBody>
          <a:bodyPr/>
          <a:lstStyle/>
          <a:p>
            <a:r>
              <a:rPr lang="en-US" b="1" dirty="0">
                <a:solidFill>
                  <a:srgbClr val="00B050"/>
                </a:solidFill>
              </a:rPr>
              <a:t>Proteins</a:t>
            </a:r>
            <a:endParaRPr lang="en-AU" b="1" dirty="0">
              <a:solidFill>
                <a:srgbClr val="00B050"/>
              </a:solidFill>
            </a:endParaRPr>
          </a:p>
        </p:txBody>
      </p:sp>
      <p:sp>
        <p:nvSpPr>
          <p:cNvPr id="3" name="Content Placeholder 2"/>
          <p:cNvSpPr>
            <a:spLocks noGrp="1"/>
          </p:cNvSpPr>
          <p:nvPr>
            <p:ph idx="1"/>
          </p:nvPr>
        </p:nvSpPr>
        <p:spPr>
          <a:xfrm>
            <a:off x="1644533" y="981702"/>
            <a:ext cx="7128047" cy="5759920"/>
          </a:xfrm>
        </p:spPr>
        <p:txBody>
          <a:bodyPr>
            <a:normAutofit/>
          </a:bodyPr>
          <a:lstStyle/>
          <a:p>
            <a:r>
              <a:rPr lang="en-US" sz="1900" dirty="0"/>
              <a:t>Proteins are made up of the elements </a:t>
            </a:r>
            <a:r>
              <a:rPr lang="en-US" sz="1900" b="1" dirty="0"/>
              <a:t>carbon, hydrogen </a:t>
            </a:r>
            <a:r>
              <a:rPr lang="en-US" sz="1900" dirty="0"/>
              <a:t>and</a:t>
            </a:r>
            <a:r>
              <a:rPr lang="en-US" sz="1900" b="1" dirty="0"/>
              <a:t> oxygen</a:t>
            </a:r>
            <a:r>
              <a:rPr lang="en-US" sz="1900" dirty="0"/>
              <a:t>. However, they are different to the previous compounds in that </a:t>
            </a:r>
            <a:r>
              <a:rPr lang="en-US" sz="1900" b="1" dirty="0"/>
              <a:t>they always contain nitrogen</a:t>
            </a:r>
            <a:r>
              <a:rPr lang="en-US" sz="1900" dirty="0"/>
              <a:t>. In addition, sulfur is often present, and sometimes phosphorus and other elements. </a:t>
            </a:r>
          </a:p>
          <a:p>
            <a:r>
              <a:rPr lang="en-US" sz="1900" dirty="0"/>
              <a:t>These elements combine to form building blocks of proteins, </a:t>
            </a:r>
            <a:r>
              <a:rPr lang="en-US" sz="1900" b="1" dirty="0"/>
              <a:t>amino acids</a:t>
            </a:r>
            <a:r>
              <a:rPr lang="en-US" sz="1900" dirty="0"/>
              <a:t>. Amino acids are made into proteins in the ribosomes.</a:t>
            </a:r>
          </a:p>
          <a:p>
            <a:r>
              <a:rPr lang="en-US" sz="1900" dirty="0"/>
              <a:t>Amino acids are linked by peptide bonds to form a </a:t>
            </a:r>
            <a:r>
              <a:rPr lang="en-US" sz="1900" b="1" dirty="0"/>
              <a:t>polypeptide chain</a:t>
            </a:r>
            <a:r>
              <a:rPr lang="en-US" sz="1900" dirty="0"/>
              <a:t>.  The order of amino acids in proteins is determined by the base sequence in genes in our chromosomes. The order determines the type of protein.</a:t>
            </a:r>
          </a:p>
          <a:p>
            <a:r>
              <a:rPr lang="en-US" sz="1900" dirty="0"/>
              <a:t>Plants can synthesise their own amino acids. </a:t>
            </a:r>
          </a:p>
          <a:p>
            <a:r>
              <a:rPr lang="en-US" sz="1900" dirty="0"/>
              <a:t>Mammals use 20 amino acids to make proteins.  There are 9 essential amino acids that we can’t manufacture and must be taken from our diet.</a:t>
            </a:r>
          </a:p>
          <a:p>
            <a:pPr marL="0" indent="0">
              <a:buNone/>
            </a:pPr>
            <a:endParaRPr lang="en-AU" dirty="0"/>
          </a:p>
        </p:txBody>
      </p:sp>
      <p:pic>
        <p:nvPicPr>
          <p:cNvPr id="4" name="Picture 3">
            <a:extLst>
              <a:ext uri="{FF2B5EF4-FFF2-40B4-BE49-F238E27FC236}">
                <a16:creationId xmlns:a16="http://schemas.microsoft.com/office/drawing/2014/main" id="{B3912996-F514-48D0-895D-4408DF926BD6}"/>
              </a:ext>
            </a:extLst>
          </p:cNvPr>
          <p:cNvPicPr>
            <a:picLocks noChangeAspect="1"/>
          </p:cNvPicPr>
          <p:nvPr/>
        </p:nvPicPr>
        <p:blipFill>
          <a:blip r:embed="rId3"/>
          <a:stretch>
            <a:fillRect/>
          </a:stretch>
        </p:blipFill>
        <p:spPr>
          <a:xfrm>
            <a:off x="8772580" y="629801"/>
            <a:ext cx="3419420" cy="5893872"/>
          </a:xfrm>
          <a:prstGeom prst="rect">
            <a:avLst/>
          </a:prstGeom>
        </p:spPr>
      </p:pic>
    </p:spTree>
    <p:extLst>
      <p:ext uri="{BB962C8B-B14F-4D97-AF65-F5344CB8AC3E}">
        <p14:creationId xmlns:p14="http://schemas.microsoft.com/office/powerpoint/2010/main" val="3130653217"/>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37357" y="159378"/>
            <a:ext cx="3299875" cy="866782"/>
          </a:xfrm>
        </p:spPr>
        <p:txBody>
          <a:bodyPr/>
          <a:lstStyle/>
          <a:p>
            <a:r>
              <a:rPr lang="en-AU" b="1" dirty="0">
                <a:solidFill>
                  <a:srgbClr val="00B050"/>
                </a:solidFill>
              </a:rPr>
              <a:t>Proteins</a:t>
            </a:r>
          </a:p>
        </p:txBody>
      </p:sp>
      <p:sp>
        <p:nvSpPr>
          <p:cNvPr id="3" name="Content Placeholder 2"/>
          <p:cNvSpPr>
            <a:spLocks noGrp="1"/>
          </p:cNvSpPr>
          <p:nvPr>
            <p:ph idx="1"/>
          </p:nvPr>
        </p:nvSpPr>
        <p:spPr>
          <a:xfrm>
            <a:off x="2406332" y="1198603"/>
            <a:ext cx="8915400" cy="4460794"/>
          </a:xfrm>
        </p:spPr>
        <p:txBody>
          <a:bodyPr>
            <a:normAutofit/>
          </a:bodyPr>
          <a:lstStyle/>
          <a:p>
            <a:r>
              <a:rPr lang="en-AU" dirty="0"/>
              <a:t>Virtually everything a cell is, or does, depends on the proteins it contains. They contribute to building many different structures and parts and, as enzymes, control the thousands of chemical reactions that maintain life processes. </a:t>
            </a:r>
          </a:p>
          <a:p>
            <a:pPr marL="0" indent="0">
              <a:buNone/>
            </a:pPr>
            <a:endParaRPr lang="en-AU" dirty="0"/>
          </a:p>
          <a:p>
            <a:pPr>
              <a:lnSpc>
                <a:spcPct val="120000"/>
              </a:lnSpc>
              <a:spcBef>
                <a:spcPct val="0"/>
              </a:spcBef>
              <a:spcAft>
                <a:spcPts val="600"/>
              </a:spcAft>
              <a:buSzPct val="130000"/>
              <a:tabLst>
                <a:tab pos="1025525" algn="l"/>
                <a:tab pos="1025525" algn="l"/>
                <a:tab pos="1025525" algn="l"/>
                <a:tab pos="1487488" algn="l"/>
                <a:tab pos="1487488" algn="l"/>
                <a:tab pos="1487488" algn="l"/>
                <a:tab pos="1487488" algn="l"/>
                <a:tab pos="1487488" algn="l"/>
                <a:tab pos="1487488" algn="l"/>
                <a:tab pos="1487488" algn="l"/>
              </a:tabLst>
            </a:pPr>
            <a:r>
              <a:rPr lang="en-US" altLang="en-US" dirty="0"/>
              <a:t>They are involved in:</a:t>
            </a:r>
            <a:endParaRPr lang="en-US" altLang="en-US" sz="2400" dirty="0"/>
          </a:p>
          <a:p>
            <a:pPr marL="857250" lvl="3">
              <a:lnSpc>
                <a:spcPct val="120000"/>
              </a:lnSpc>
              <a:spcBef>
                <a:spcPct val="0"/>
              </a:spcBef>
              <a:spcAft>
                <a:spcPts val="600"/>
              </a:spcAft>
              <a:buSzPct val="120000"/>
              <a:buFontTx/>
              <a:buBlip>
                <a:blip r:embed="rId3"/>
              </a:buBlip>
              <a:tabLst>
                <a:tab pos="1025525" algn="l"/>
                <a:tab pos="1025525" algn="l"/>
                <a:tab pos="1025525" algn="l"/>
                <a:tab pos="1487488" algn="l"/>
                <a:tab pos="1487488" algn="l"/>
                <a:tab pos="1487488" algn="l"/>
                <a:tab pos="1487488" algn="l"/>
                <a:tab pos="1487488" algn="l"/>
                <a:tab pos="1487488" algn="l"/>
                <a:tab pos="1487488" algn="l"/>
              </a:tabLst>
            </a:pPr>
            <a:r>
              <a:rPr lang="en-US" altLang="en-US" sz="1800" dirty="0"/>
              <a:t>Enzyme reactions</a:t>
            </a:r>
            <a:endParaRPr lang="en-US" altLang="en-US" sz="1800" dirty="0">
              <a:ea typeface="ヒラギノ角ゴ Pro W6" pitchFamily="1" charset="-128"/>
            </a:endParaRPr>
          </a:p>
          <a:p>
            <a:pPr marL="857250" lvl="3">
              <a:lnSpc>
                <a:spcPct val="120000"/>
              </a:lnSpc>
              <a:spcBef>
                <a:spcPct val="0"/>
              </a:spcBef>
              <a:spcAft>
                <a:spcPts val="600"/>
              </a:spcAft>
              <a:buSzPct val="120000"/>
              <a:buFontTx/>
              <a:buBlip>
                <a:blip r:embed="rId3"/>
              </a:buBlip>
              <a:tabLst>
                <a:tab pos="1025525" algn="l"/>
                <a:tab pos="1025525" algn="l"/>
                <a:tab pos="1025525" algn="l"/>
                <a:tab pos="1487488" algn="l"/>
                <a:tab pos="1487488" algn="l"/>
                <a:tab pos="1487488" algn="l"/>
                <a:tab pos="1487488" algn="l"/>
                <a:tab pos="1487488" algn="l"/>
                <a:tab pos="1487488" algn="l"/>
                <a:tab pos="1487488" algn="l"/>
              </a:tabLst>
            </a:pPr>
            <a:r>
              <a:rPr lang="en-US" altLang="en-US" sz="1800" dirty="0"/>
              <a:t>Structure</a:t>
            </a:r>
            <a:endParaRPr lang="en-US" altLang="en-US" sz="1800" dirty="0">
              <a:ea typeface="ヒラギノ角ゴ Pro W6" pitchFamily="1" charset="-128"/>
            </a:endParaRPr>
          </a:p>
          <a:p>
            <a:pPr marL="857250" lvl="3">
              <a:lnSpc>
                <a:spcPct val="120000"/>
              </a:lnSpc>
              <a:spcBef>
                <a:spcPct val="0"/>
              </a:spcBef>
              <a:spcAft>
                <a:spcPts val="600"/>
              </a:spcAft>
              <a:buSzPct val="120000"/>
              <a:buFontTx/>
              <a:buBlip>
                <a:blip r:embed="rId3"/>
              </a:buBlip>
              <a:tabLst>
                <a:tab pos="1025525" algn="l"/>
                <a:tab pos="1025525" algn="l"/>
                <a:tab pos="1025525" algn="l"/>
                <a:tab pos="1487488" algn="l"/>
                <a:tab pos="1487488" algn="l"/>
                <a:tab pos="1487488" algn="l"/>
                <a:tab pos="1487488" algn="l"/>
                <a:tab pos="1487488" algn="l"/>
                <a:tab pos="1487488" algn="l"/>
                <a:tab pos="1487488" algn="l"/>
              </a:tabLst>
            </a:pPr>
            <a:r>
              <a:rPr lang="en-US" altLang="en-US" sz="1800" dirty="0"/>
              <a:t>Storage</a:t>
            </a:r>
            <a:endParaRPr lang="en-US" altLang="en-US" sz="1800" dirty="0">
              <a:ea typeface="ヒラギノ角ゴ Pro W6" pitchFamily="1" charset="-128"/>
            </a:endParaRPr>
          </a:p>
          <a:p>
            <a:pPr marL="857250" lvl="3">
              <a:lnSpc>
                <a:spcPct val="120000"/>
              </a:lnSpc>
              <a:spcBef>
                <a:spcPct val="0"/>
              </a:spcBef>
              <a:spcAft>
                <a:spcPts val="600"/>
              </a:spcAft>
              <a:buSzPct val="120000"/>
              <a:buFontTx/>
              <a:buBlip>
                <a:blip r:embed="rId3"/>
              </a:buBlip>
              <a:tabLst>
                <a:tab pos="1025525" algn="l"/>
                <a:tab pos="1025525" algn="l"/>
                <a:tab pos="1025525" algn="l"/>
                <a:tab pos="1487488" algn="l"/>
                <a:tab pos="1487488" algn="l"/>
                <a:tab pos="1487488" algn="l"/>
                <a:tab pos="1487488" algn="l"/>
                <a:tab pos="1487488" algn="l"/>
                <a:tab pos="1487488" algn="l"/>
                <a:tab pos="1487488" algn="l"/>
              </a:tabLst>
            </a:pPr>
            <a:r>
              <a:rPr lang="en-US" altLang="en-US" sz="1800" dirty="0"/>
              <a:t>Transport</a:t>
            </a:r>
            <a:endParaRPr lang="en-US" altLang="en-US" sz="1800" dirty="0">
              <a:ea typeface="ヒラギノ角ゴ Pro W6" pitchFamily="1" charset="-128"/>
            </a:endParaRPr>
          </a:p>
          <a:p>
            <a:pPr marL="857250" lvl="3">
              <a:lnSpc>
                <a:spcPct val="120000"/>
              </a:lnSpc>
              <a:spcBef>
                <a:spcPct val="0"/>
              </a:spcBef>
              <a:spcAft>
                <a:spcPts val="600"/>
              </a:spcAft>
              <a:buSzPct val="120000"/>
              <a:buFontTx/>
              <a:buBlip>
                <a:blip r:embed="rId3"/>
              </a:buBlip>
              <a:tabLst>
                <a:tab pos="1025525" algn="l"/>
                <a:tab pos="1025525" algn="l"/>
                <a:tab pos="1025525" algn="l"/>
                <a:tab pos="1487488" algn="l"/>
                <a:tab pos="1487488" algn="l"/>
                <a:tab pos="1487488" algn="l"/>
                <a:tab pos="1487488" algn="l"/>
                <a:tab pos="1487488" algn="l"/>
                <a:tab pos="1487488" algn="l"/>
                <a:tab pos="1487488" algn="l"/>
              </a:tabLst>
            </a:pPr>
            <a:r>
              <a:rPr lang="en-US" altLang="en-US" sz="1800" dirty="0"/>
              <a:t>Cell signaling</a:t>
            </a:r>
            <a:endParaRPr lang="en-US" altLang="en-US" sz="1800" dirty="0">
              <a:ea typeface="ヒラギノ角ゴ Pro W6" pitchFamily="1" charset="-128"/>
            </a:endParaRPr>
          </a:p>
          <a:p>
            <a:pPr marL="857250" lvl="3">
              <a:lnSpc>
                <a:spcPct val="120000"/>
              </a:lnSpc>
              <a:spcBef>
                <a:spcPct val="0"/>
              </a:spcBef>
              <a:spcAft>
                <a:spcPts val="600"/>
              </a:spcAft>
              <a:buSzPct val="120000"/>
              <a:buFontTx/>
              <a:buBlip>
                <a:blip r:embed="rId3"/>
              </a:buBlip>
              <a:tabLst>
                <a:tab pos="1025525" algn="l"/>
                <a:tab pos="1025525" algn="l"/>
                <a:tab pos="1025525" algn="l"/>
                <a:tab pos="1487488" algn="l"/>
                <a:tab pos="1487488" algn="l"/>
                <a:tab pos="1487488" algn="l"/>
                <a:tab pos="1487488" algn="l"/>
                <a:tab pos="1487488" algn="l"/>
                <a:tab pos="1487488" algn="l"/>
                <a:tab pos="1487488" algn="l"/>
              </a:tabLst>
            </a:pPr>
            <a:r>
              <a:rPr lang="en-US" altLang="en-US" sz="1800" dirty="0"/>
              <a:t>Defense</a:t>
            </a:r>
            <a:endParaRPr lang="en-US" altLang="en-US" sz="1800" dirty="0">
              <a:ea typeface="ヒラギノ角ゴ Pro W6" pitchFamily="1" charset="-128"/>
            </a:endParaRPr>
          </a:p>
          <a:p>
            <a:pPr marL="0" indent="0">
              <a:buNone/>
            </a:pPr>
            <a:endParaRPr lang="en-AU" dirty="0"/>
          </a:p>
        </p:txBody>
      </p:sp>
      <p:pic>
        <p:nvPicPr>
          <p:cNvPr id="4" name="Picture 3"/>
          <p:cNvPicPr>
            <a:picLocks noChangeAspect="1"/>
          </p:cNvPicPr>
          <p:nvPr/>
        </p:nvPicPr>
        <p:blipFill>
          <a:blip r:embed="rId4"/>
          <a:stretch>
            <a:fillRect/>
          </a:stretch>
        </p:blipFill>
        <p:spPr>
          <a:xfrm>
            <a:off x="6414305" y="2527755"/>
            <a:ext cx="4421644" cy="3466645"/>
          </a:xfrm>
          <a:prstGeom prst="rect">
            <a:avLst/>
          </a:prstGeom>
        </p:spPr>
      </p:pic>
    </p:spTree>
    <p:extLst>
      <p:ext uri="{BB962C8B-B14F-4D97-AF65-F5344CB8AC3E}">
        <p14:creationId xmlns:p14="http://schemas.microsoft.com/office/powerpoint/2010/main" val="18057979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8065" name="Rectangle 1"/>
          <p:cNvSpPr>
            <a:spLocks/>
          </p:cNvSpPr>
          <p:nvPr/>
        </p:nvSpPr>
        <p:spPr bwMode="auto">
          <a:xfrm>
            <a:off x="9239335" y="3889309"/>
            <a:ext cx="1306395" cy="1139651"/>
          </a:xfrm>
          <a:prstGeom prst="rect">
            <a:avLst/>
          </a:prstGeom>
          <a:solidFill>
            <a:srgbClr val="FBEC66">
              <a:alpha val="32941"/>
            </a:srgbClr>
          </a:solidFill>
          <a:ln>
            <a:noFill/>
          </a:ln>
          <a:effectLst/>
          <a:extLst>
            <a:ext uri="{91240B29-F687-4F45-9708-019B960494DF}">
              <a14:hiddenLine xmlns:a14="http://schemas.microsoft.com/office/drawing/2010/main" w="25400">
                <a:solidFill>
                  <a:srgbClr val="6E362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AU" sz="1266"/>
          </a:p>
        </p:txBody>
      </p:sp>
      <p:sp>
        <p:nvSpPr>
          <p:cNvPr id="88066" name="Rectangle 2"/>
          <p:cNvSpPr>
            <a:spLocks/>
          </p:cNvSpPr>
          <p:nvPr/>
        </p:nvSpPr>
        <p:spPr bwMode="auto">
          <a:xfrm>
            <a:off x="6620354" y="3894275"/>
            <a:ext cx="1050783" cy="1134686"/>
          </a:xfrm>
          <a:prstGeom prst="rect">
            <a:avLst/>
          </a:prstGeom>
          <a:solidFill>
            <a:srgbClr val="9792B6">
              <a:alpha val="44705"/>
            </a:srgbClr>
          </a:solidFill>
          <a:ln>
            <a:noFill/>
          </a:ln>
          <a:effectLst/>
          <a:extLst>
            <a:ext uri="{91240B29-F687-4F45-9708-019B960494DF}">
              <a14:hiddenLine xmlns:a14="http://schemas.microsoft.com/office/drawing/2010/main" w="25400">
                <a:solidFill>
                  <a:srgbClr val="6E362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AU" sz="1266"/>
          </a:p>
        </p:txBody>
      </p:sp>
      <p:pic>
        <p:nvPicPr>
          <p:cNvPr id="8806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20355" y="3738629"/>
            <a:ext cx="4224440" cy="220423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8806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48110" y="4133777"/>
            <a:ext cx="3116642" cy="16631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5400000" algn="ctr" rotWithShape="0">
                    <a:schemeClr val="bg2">
                      <a:alpha val="50000"/>
                    </a:schemeClr>
                  </a:outerShdw>
                </a:effectLst>
              </a14:hiddenEffects>
            </a:ext>
          </a:extLst>
        </p:spPr>
      </p:pic>
      <p:sp>
        <p:nvSpPr>
          <p:cNvPr id="88069" name="Rectangle 5"/>
          <p:cNvSpPr>
            <a:spLocks noGrp="1" noChangeArrowheads="1"/>
          </p:cNvSpPr>
          <p:nvPr>
            <p:ph type="title"/>
          </p:nvPr>
        </p:nvSpPr>
        <p:spPr>
          <a:xfrm>
            <a:off x="1717764" y="61490"/>
            <a:ext cx="4934069" cy="785813"/>
          </a:xfrm>
          <a:ln/>
        </p:spPr>
        <p:txBody>
          <a:bodyPr anchor="b"/>
          <a:lstStyle/>
          <a:p>
            <a:pPr>
              <a:tabLst>
                <a:tab pos="669703" algn="l"/>
              </a:tabLst>
            </a:pPr>
            <a:r>
              <a:rPr lang="en-US" altLang="en-US" b="1" dirty="0">
                <a:solidFill>
                  <a:srgbClr val="00B050"/>
                </a:solidFill>
              </a:rPr>
              <a:t>Nucleotides</a:t>
            </a:r>
          </a:p>
        </p:txBody>
      </p:sp>
      <p:sp>
        <p:nvSpPr>
          <p:cNvPr id="88070" name="Rectangle 6"/>
          <p:cNvSpPr>
            <a:spLocks noGrp="1" noChangeArrowheads="1"/>
          </p:cNvSpPr>
          <p:nvPr>
            <p:ph type="body" idx="1"/>
          </p:nvPr>
        </p:nvSpPr>
        <p:spPr>
          <a:xfrm>
            <a:off x="5101061" y="353920"/>
            <a:ext cx="5657747" cy="3073695"/>
          </a:xfrm>
          <a:ln/>
          <a:extLst>
            <a:ext uri="{91240B29-F687-4F45-9708-019B960494DF}">
              <a14:hiddenLine xmlns:a14="http://schemas.microsoft.com/office/drawing/2010/main" w="50800">
                <a:solidFill>
                  <a:srgbClr val="FFFFFF"/>
                </a:solidFill>
                <a:miter lim="800000"/>
                <a:headEnd/>
                <a:tailEnd/>
              </a14:hiddenLine>
            </a:ext>
          </a:extLst>
        </p:spPr>
        <p:txBody>
          <a:bodyPr>
            <a:noAutofit/>
          </a:bodyPr>
          <a:lstStyle/>
          <a:p>
            <a:pPr>
              <a:lnSpc>
                <a:spcPts val="2250"/>
              </a:lnSpc>
              <a:spcBef>
                <a:spcPct val="0"/>
              </a:spcBef>
              <a:spcAft>
                <a:spcPts val="1406"/>
              </a:spcAft>
              <a:buSzPct val="130000"/>
              <a:buBlip>
                <a:blip r:embed="rId5"/>
              </a:buBlip>
              <a:tabLst>
                <a:tab pos="721047" algn="l"/>
                <a:tab pos="721047" algn="l"/>
                <a:tab pos="1045853" algn="l"/>
                <a:tab pos="1045853" algn="l"/>
                <a:tab pos="1045853" algn="l"/>
              </a:tabLst>
            </a:pPr>
            <a:r>
              <a:rPr lang="en-US" altLang="en-US" dirty="0"/>
              <a:t>A </a:t>
            </a:r>
            <a:r>
              <a:rPr lang="en-US" altLang="en-US" b="1" dirty="0">
                <a:solidFill>
                  <a:srgbClr val="2D00FA"/>
                </a:solidFill>
              </a:rPr>
              <a:t>nucleotide</a:t>
            </a:r>
            <a:r>
              <a:rPr lang="en-US" altLang="en-US" dirty="0"/>
              <a:t> is the basic unit of a nucleic acid. Nucleic acids are </a:t>
            </a:r>
            <a:r>
              <a:rPr lang="en-US" altLang="en-US" b="1" dirty="0">
                <a:solidFill>
                  <a:srgbClr val="2D00FA"/>
                </a:solidFill>
              </a:rPr>
              <a:t>polymers </a:t>
            </a:r>
            <a:r>
              <a:rPr lang="en-US" altLang="en-US" dirty="0"/>
              <a:t>made up of many nucleotides.</a:t>
            </a:r>
          </a:p>
          <a:p>
            <a:pPr>
              <a:lnSpc>
                <a:spcPts val="2250"/>
              </a:lnSpc>
              <a:spcBef>
                <a:spcPct val="0"/>
              </a:spcBef>
              <a:spcAft>
                <a:spcPts val="1406"/>
              </a:spcAft>
              <a:buSzPct val="130000"/>
              <a:buBlip>
                <a:blip r:embed="rId5"/>
              </a:buBlip>
              <a:tabLst>
                <a:tab pos="721047" algn="l"/>
                <a:tab pos="721047" algn="l"/>
                <a:tab pos="1045853" algn="l"/>
                <a:tab pos="1045853" algn="l"/>
                <a:tab pos="1045853" algn="l"/>
              </a:tabLst>
            </a:pPr>
            <a:r>
              <a:rPr lang="en-US" altLang="en-US" dirty="0"/>
              <a:t>A nucleotide has three components:</a:t>
            </a:r>
          </a:p>
          <a:p>
            <a:pPr lvl="1">
              <a:lnSpc>
                <a:spcPct val="120000"/>
              </a:lnSpc>
              <a:spcBef>
                <a:spcPct val="0"/>
              </a:spcBef>
              <a:spcAft>
                <a:spcPts val="600"/>
              </a:spcAft>
              <a:buSzPct val="120000"/>
              <a:buBlip>
                <a:blip r:embed="rId6"/>
              </a:buBlip>
              <a:tabLst>
                <a:tab pos="721047" algn="l"/>
                <a:tab pos="721047" algn="l"/>
                <a:tab pos="1045853" algn="l"/>
                <a:tab pos="1045853" algn="l"/>
                <a:tab pos="1045853" algn="l"/>
              </a:tabLst>
            </a:pPr>
            <a:r>
              <a:rPr lang="en-US" altLang="en-US" sz="1800" dirty="0"/>
              <a:t>A </a:t>
            </a:r>
            <a:r>
              <a:rPr lang="en-US" altLang="en-US" sz="1800" b="1" dirty="0">
                <a:solidFill>
                  <a:srgbClr val="2D00FA"/>
                </a:solidFill>
              </a:rPr>
              <a:t>phosphate</a:t>
            </a:r>
            <a:r>
              <a:rPr lang="en-US" altLang="en-US" sz="1800" dirty="0"/>
              <a:t> group</a:t>
            </a:r>
          </a:p>
          <a:p>
            <a:pPr lvl="1">
              <a:lnSpc>
                <a:spcPts val="1969"/>
              </a:lnSpc>
              <a:spcBef>
                <a:spcPct val="0"/>
              </a:spcBef>
              <a:spcAft>
                <a:spcPts val="1406"/>
              </a:spcAft>
              <a:buSzPct val="120000"/>
              <a:buBlip>
                <a:blip r:embed="rId6"/>
              </a:buBlip>
              <a:tabLst>
                <a:tab pos="721047" algn="l"/>
                <a:tab pos="721047" algn="l"/>
                <a:tab pos="1045853" algn="l"/>
                <a:tab pos="1045853" algn="l"/>
                <a:tab pos="1045853" algn="l"/>
              </a:tabLst>
            </a:pPr>
            <a:r>
              <a:rPr lang="en-US" altLang="en-US" sz="1800" dirty="0"/>
              <a:t>A </a:t>
            </a:r>
            <a:r>
              <a:rPr lang="en-US" altLang="en-US" sz="1800" b="1" dirty="0">
                <a:solidFill>
                  <a:srgbClr val="2D00FA"/>
                </a:solidFill>
              </a:rPr>
              <a:t>sugar</a:t>
            </a:r>
            <a:r>
              <a:rPr lang="en-US" altLang="en-US" sz="1800" dirty="0">
                <a:solidFill>
                  <a:schemeClr val="tx1"/>
                </a:solidFill>
              </a:rPr>
              <a:t>   - Which sugar?</a:t>
            </a:r>
          </a:p>
          <a:p>
            <a:pPr lvl="1">
              <a:lnSpc>
                <a:spcPts val="1969"/>
              </a:lnSpc>
              <a:spcBef>
                <a:spcPct val="0"/>
              </a:spcBef>
              <a:spcAft>
                <a:spcPts val="1406"/>
              </a:spcAft>
              <a:buSzPct val="120000"/>
              <a:buBlip>
                <a:blip r:embed="rId6"/>
              </a:buBlip>
              <a:tabLst>
                <a:tab pos="721047" algn="l"/>
                <a:tab pos="721047" algn="l"/>
                <a:tab pos="1045853" algn="l"/>
                <a:tab pos="1045853" algn="l"/>
                <a:tab pos="1045853" algn="l"/>
              </a:tabLst>
            </a:pPr>
            <a:r>
              <a:rPr lang="en-US" altLang="en-US" sz="1800" dirty="0"/>
              <a:t>A </a:t>
            </a:r>
            <a:r>
              <a:rPr lang="en-US" altLang="en-US" sz="1800" b="1" dirty="0">
                <a:solidFill>
                  <a:srgbClr val="2D00FA"/>
                </a:solidFill>
              </a:rPr>
              <a:t>base</a:t>
            </a:r>
            <a:r>
              <a:rPr lang="en-US" altLang="en-US" sz="1800" dirty="0"/>
              <a:t>    - Which bases?</a:t>
            </a:r>
          </a:p>
        </p:txBody>
      </p:sp>
      <p:sp>
        <p:nvSpPr>
          <p:cNvPr id="88071" name="Rectangle 7"/>
          <p:cNvSpPr>
            <a:spLocks/>
          </p:cNvSpPr>
          <p:nvPr/>
        </p:nvSpPr>
        <p:spPr bwMode="auto">
          <a:xfrm>
            <a:off x="2594531" y="6420875"/>
            <a:ext cx="2484655" cy="21634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lvl1pPr marL="114300">
              <a:tabLst>
                <a:tab pos="520700" algn="l"/>
              </a:tabLst>
              <a:defRPr sz="1200">
                <a:solidFill>
                  <a:schemeClr val="tx1"/>
                </a:solidFill>
                <a:latin typeface="Hoefler Text" pitchFamily="1" charset="0"/>
              </a:defRPr>
            </a:lvl1pPr>
            <a:lvl2pPr>
              <a:tabLst>
                <a:tab pos="520700" algn="l"/>
              </a:tabLst>
              <a:defRPr sz="1200">
                <a:solidFill>
                  <a:schemeClr val="tx1"/>
                </a:solidFill>
                <a:latin typeface="Hoefler Text" pitchFamily="1" charset="0"/>
              </a:defRPr>
            </a:lvl2pPr>
            <a:lvl3pPr>
              <a:tabLst>
                <a:tab pos="520700" algn="l"/>
              </a:tabLst>
              <a:defRPr sz="1200">
                <a:solidFill>
                  <a:schemeClr val="tx1"/>
                </a:solidFill>
                <a:latin typeface="Hoefler Text" pitchFamily="1" charset="0"/>
              </a:defRPr>
            </a:lvl3pPr>
            <a:lvl4pPr>
              <a:tabLst>
                <a:tab pos="520700" algn="l"/>
              </a:tabLst>
              <a:defRPr sz="1200">
                <a:solidFill>
                  <a:schemeClr val="tx1"/>
                </a:solidFill>
                <a:latin typeface="Hoefler Text" pitchFamily="1" charset="0"/>
              </a:defRPr>
            </a:lvl4pPr>
            <a:lvl5pPr>
              <a:tabLst>
                <a:tab pos="520700" algn="l"/>
              </a:tabLst>
              <a:defRPr sz="1200">
                <a:solidFill>
                  <a:schemeClr val="tx1"/>
                </a:solidFill>
                <a:latin typeface="Hoefler Text" pitchFamily="1" charset="0"/>
              </a:defRPr>
            </a:lvl5pPr>
            <a:lvl6pPr fontAlgn="base">
              <a:spcBef>
                <a:spcPct val="0"/>
              </a:spcBef>
              <a:spcAft>
                <a:spcPct val="0"/>
              </a:spcAft>
              <a:tabLst>
                <a:tab pos="520700" algn="l"/>
              </a:tabLst>
              <a:defRPr sz="1200">
                <a:solidFill>
                  <a:schemeClr val="tx1"/>
                </a:solidFill>
                <a:latin typeface="Hoefler Text" pitchFamily="1" charset="0"/>
              </a:defRPr>
            </a:lvl6pPr>
            <a:lvl7pPr fontAlgn="base">
              <a:spcBef>
                <a:spcPct val="0"/>
              </a:spcBef>
              <a:spcAft>
                <a:spcPct val="0"/>
              </a:spcAft>
              <a:tabLst>
                <a:tab pos="520700" algn="l"/>
              </a:tabLst>
              <a:defRPr sz="1200">
                <a:solidFill>
                  <a:schemeClr val="tx1"/>
                </a:solidFill>
                <a:latin typeface="Hoefler Text" pitchFamily="1" charset="0"/>
              </a:defRPr>
            </a:lvl7pPr>
            <a:lvl8pPr fontAlgn="base">
              <a:spcBef>
                <a:spcPct val="0"/>
              </a:spcBef>
              <a:spcAft>
                <a:spcPct val="0"/>
              </a:spcAft>
              <a:tabLst>
                <a:tab pos="520700" algn="l"/>
              </a:tabLst>
              <a:defRPr sz="1200">
                <a:solidFill>
                  <a:schemeClr val="tx1"/>
                </a:solidFill>
                <a:latin typeface="Hoefler Text" pitchFamily="1" charset="0"/>
              </a:defRPr>
            </a:lvl8pPr>
            <a:lvl9pPr fontAlgn="base">
              <a:spcBef>
                <a:spcPct val="0"/>
              </a:spcBef>
              <a:spcAft>
                <a:spcPct val="0"/>
              </a:spcAft>
              <a:tabLst>
                <a:tab pos="520700" algn="l"/>
              </a:tabLst>
              <a:defRPr sz="1200">
                <a:solidFill>
                  <a:schemeClr val="tx1"/>
                </a:solidFill>
                <a:latin typeface="Hoefler Text" pitchFamily="1" charset="0"/>
              </a:defRPr>
            </a:lvl9pPr>
          </a:lstStyle>
          <a:p>
            <a:r>
              <a:rPr lang="en-US" altLang="en-US" sz="1406">
                <a:solidFill>
                  <a:srgbClr val="2D00FA"/>
                </a:solidFill>
                <a:latin typeface="Arial" panose="020B0604020202020204" pitchFamily="34" charset="0"/>
                <a:cs typeface="Arial" panose="020B0604020202020204" pitchFamily="34" charset="0"/>
                <a:sym typeface="Arial" panose="020B0604020202020204" pitchFamily="34" charset="0"/>
              </a:rPr>
              <a:t>Symbolic form of a nucleotide</a:t>
            </a:r>
          </a:p>
        </p:txBody>
      </p:sp>
      <p:sp>
        <p:nvSpPr>
          <p:cNvPr id="88072" name="Rectangle 8"/>
          <p:cNvSpPr>
            <a:spLocks/>
          </p:cNvSpPr>
          <p:nvPr/>
        </p:nvSpPr>
        <p:spPr bwMode="auto">
          <a:xfrm>
            <a:off x="7345125" y="6420875"/>
            <a:ext cx="2845331" cy="21634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lvl1pPr marL="114300">
              <a:tabLst>
                <a:tab pos="520700" algn="l"/>
              </a:tabLst>
              <a:defRPr sz="1200">
                <a:solidFill>
                  <a:schemeClr val="tx1"/>
                </a:solidFill>
                <a:latin typeface="Hoefler Text" pitchFamily="1" charset="0"/>
              </a:defRPr>
            </a:lvl1pPr>
            <a:lvl2pPr>
              <a:tabLst>
                <a:tab pos="520700" algn="l"/>
              </a:tabLst>
              <a:defRPr sz="1200">
                <a:solidFill>
                  <a:schemeClr val="tx1"/>
                </a:solidFill>
                <a:latin typeface="Hoefler Text" pitchFamily="1" charset="0"/>
              </a:defRPr>
            </a:lvl2pPr>
            <a:lvl3pPr>
              <a:tabLst>
                <a:tab pos="520700" algn="l"/>
              </a:tabLst>
              <a:defRPr sz="1200">
                <a:solidFill>
                  <a:schemeClr val="tx1"/>
                </a:solidFill>
                <a:latin typeface="Hoefler Text" pitchFamily="1" charset="0"/>
              </a:defRPr>
            </a:lvl3pPr>
            <a:lvl4pPr>
              <a:tabLst>
                <a:tab pos="520700" algn="l"/>
              </a:tabLst>
              <a:defRPr sz="1200">
                <a:solidFill>
                  <a:schemeClr val="tx1"/>
                </a:solidFill>
                <a:latin typeface="Hoefler Text" pitchFamily="1" charset="0"/>
              </a:defRPr>
            </a:lvl4pPr>
            <a:lvl5pPr>
              <a:tabLst>
                <a:tab pos="520700" algn="l"/>
              </a:tabLst>
              <a:defRPr sz="1200">
                <a:solidFill>
                  <a:schemeClr val="tx1"/>
                </a:solidFill>
                <a:latin typeface="Hoefler Text" pitchFamily="1" charset="0"/>
              </a:defRPr>
            </a:lvl5pPr>
            <a:lvl6pPr fontAlgn="base">
              <a:spcBef>
                <a:spcPct val="0"/>
              </a:spcBef>
              <a:spcAft>
                <a:spcPct val="0"/>
              </a:spcAft>
              <a:tabLst>
                <a:tab pos="520700" algn="l"/>
              </a:tabLst>
              <a:defRPr sz="1200">
                <a:solidFill>
                  <a:schemeClr val="tx1"/>
                </a:solidFill>
                <a:latin typeface="Hoefler Text" pitchFamily="1" charset="0"/>
              </a:defRPr>
            </a:lvl6pPr>
            <a:lvl7pPr fontAlgn="base">
              <a:spcBef>
                <a:spcPct val="0"/>
              </a:spcBef>
              <a:spcAft>
                <a:spcPct val="0"/>
              </a:spcAft>
              <a:tabLst>
                <a:tab pos="520700" algn="l"/>
              </a:tabLst>
              <a:defRPr sz="1200">
                <a:solidFill>
                  <a:schemeClr val="tx1"/>
                </a:solidFill>
                <a:latin typeface="Hoefler Text" pitchFamily="1" charset="0"/>
              </a:defRPr>
            </a:lvl7pPr>
            <a:lvl8pPr fontAlgn="base">
              <a:spcBef>
                <a:spcPct val="0"/>
              </a:spcBef>
              <a:spcAft>
                <a:spcPct val="0"/>
              </a:spcAft>
              <a:tabLst>
                <a:tab pos="520700" algn="l"/>
              </a:tabLst>
              <a:defRPr sz="1200">
                <a:solidFill>
                  <a:schemeClr val="tx1"/>
                </a:solidFill>
                <a:latin typeface="Hoefler Text" pitchFamily="1" charset="0"/>
              </a:defRPr>
            </a:lvl8pPr>
            <a:lvl9pPr fontAlgn="base">
              <a:spcBef>
                <a:spcPct val="0"/>
              </a:spcBef>
              <a:spcAft>
                <a:spcPct val="0"/>
              </a:spcAft>
              <a:tabLst>
                <a:tab pos="520700" algn="l"/>
              </a:tabLst>
              <a:defRPr sz="1200">
                <a:solidFill>
                  <a:schemeClr val="tx1"/>
                </a:solidFill>
                <a:latin typeface="Hoefler Text" pitchFamily="1" charset="0"/>
              </a:defRPr>
            </a:lvl9pPr>
          </a:lstStyle>
          <a:p>
            <a:r>
              <a:rPr lang="en-US" altLang="en-US" sz="1406">
                <a:solidFill>
                  <a:srgbClr val="2D00FA"/>
                </a:solidFill>
                <a:latin typeface="Arial" panose="020B0604020202020204" pitchFamily="34" charset="0"/>
                <a:cs typeface="Arial" panose="020B0604020202020204" pitchFamily="34" charset="0"/>
                <a:sym typeface="Arial" panose="020B0604020202020204" pitchFamily="34" charset="0"/>
              </a:rPr>
              <a:t>Chemical structure of a nucleotide</a:t>
            </a:r>
          </a:p>
        </p:txBody>
      </p:sp>
      <p:grpSp>
        <p:nvGrpSpPr>
          <p:cNvPr id="88073" name="Group 9"/>
          <p:cNvGrpSpPr>
            <a:grpSpLocks/>
          </p:cNvGrpSpPr>
          <p:nvPr/>
        </p:nvGrpSpPr>
        <p:grpSpPr bwMode="auto">
          <a:xfrm>
            <a:off x="2520404" y="3672940"/>
            <a:ext cx="5062017" cy="776883"/>
            <a:chOff x="0" y="-27"/>
            <a:chExt cx="4535" cy="696"/>
          </a:xfrm>
        </p:grpSpPr>
        <p:sp>
          <p:nvSpPr>
            <p:cNvPr id="88074" name="Rectangle 10"/>
            <p:cNvSpPr>
              <a:spLocks/>
            </p:cNvSpPr>
            <p:nvPr/>
          </p:nvSpPr>
          <p:spPr bwMode="auto">
            <a:xfrm>
              <a:off x="0" y="0"/>
              <a:ext cx="932" cy="19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lvl1pPr marL="114300">
                <a:tabLst>
                  <a:tab pos="520700" algn="l"/>
                </a:tabLst>
                <a:defRPr sz="1200">
                  <a:solidFill>
                    <a:schemeClr val="tx1"/>
                  </a:solidFill>
                  <a:latin typeface="Hoefler Text" pitchFamily="1" charset="0"/>
                </a:defRPr>
              </a:lvl1pPr>
              <a:lvl2pPr>
                <a:tabLst>
                  <a:tab pos="520700" algn="l"/>
                </a:tabLst>
                <a:defRPr sz="1200">
                  <a:solidFill>
                    <a:schemeClr val="tx1"/>
                  </a:solidFill>
                  <a:latin typeface="Hoefler Text" pitchFamily="1" charset="0"/>
                </a:defRPr>
              </a:lvl2pPr>
              <a:lvl3pPr>
                <a:tabLst>
                  <a:tab pos="520700" algn="l"/>
                </a:tabLst>
                <a:defRPr sz="1200">
                  <a:solidFill>
                    <a:schemeClr val="tx1"/>
                  </a:solidFill>
                  <a:latin typeface="Hoefler Text" pitchFamily="1" charset="0"/>
                </a:defRPr>
              </a:lvl3pPr>
              <a:lvl4pPr>
                <a:tabLst>
                  <a:tab pos="520700" algn="l"/>
                </a:tabLst>
                <a:defRPr sz="1200">
                  <a:solidFill>
                    <a:schemeClr val="tx1"/>
                  </a:solidFill>
                  <a:latin typeface="Hoefler Text" pitchFamily="1" charset="0"/>
                </a:defRPr>
              </a:lvl4pPr>
              <a:lvl5pPr>
                <a:tabLst>
                  <a:tab pos="520700" algn="l"/>
                </a:tabLst>
                <a:defRPr sz="1200">
                  <a:solidFill>
                    <a:schemeClr val="tx1"/>
                  </a:solidFill>
                  <a:latin typeface="Hoefler Text" pitchFamily="1" charset="0"/>
                </a:defRPr>
              </a:lvl5pPr>
              <a:lvl6pPr fontAlgn="base">
                <a:spcBef>
                  <a:spcPct val="0"/>
                </a:spcBef>
                <a:spcAft>
                  <a:spcPct val="0"/>
                </a:spcAft>
                <a:tabLst>
                  <a:tab pos="520700" algn="l"/>
                </a:tabLst>
                <a:defRPr sz="1200">
                  <a:solidFill>
                    <a:schemeClr val="tx1"/>
                  </a:solidFill>
                  <a:latin typeface="Hoefler Text" pitchFamily="1" charset="0"/>
                </a:defRPr>
              </a:lvl6pPr>
              <a:lvl7pPr fontAlgn="base">
                <a:spcBef>
                  <a:spcPct val="0"/>
                </a:spcBef>
                <a:spcAft>
                  <a:spcPct val="0"/>
                </a:spcAft>
                <a:tabLst>
                  <a:tab pos="520700" algn="l"/>
                </a:tabLst>
                <a:defRPr sz="1200">
                  <a:solidFill>
                    <a:schemeClr val="tx1"/>
                  </a:solidFill>
                  <a:latin typeface="Hoefler Text" pitchFamily="1" charset="0"/>
                </a:defRPr>
              </a:lvl7pPr>
              <a:lvl8pPr fontAlgn="base">
                <a:spcBef>
                  <a:spcPct val="0"/>
                </a:spcBef>
                <a:spcAft>
                  <a:spcPct val="0"/>
                </a:spcAft>
                <a:tabLst>
                  <a:tab pos="520700" algn="l"/>
                </a:tabLst>
                <a:defRPr sz="1200">
                  <a:solidFill>
                    <a:schemeClr val="tx1"/>
                  </a:solidFill>
                  <a:latin typeface="Hoefler Text" pitchFamily="1" charset="0"/>
                </a:defRPr>
              </a:lvl8pPr>
              <a:lvl9pPr fontAlgn="base">
                <a:spcBef>
                  <a:spcPct val="0"/>
                </a:spcBef>
                <a:spcAft>
                  <a:spcPct val="0"/>
                </a:spcAft>
                <a:tabLst>
                  <a:tab pos="520700" algn="l"/>
                </a:tabLst>
                <a:defRPr sz="1200">
                  <a:solidFill>
                    <a:schemeClr val="tx1"/>
                  </a:solidFill>
                  <a:latin typeface="Hoefler Text" pitchFamily="1" charset="0"/>
                </a:defRPr>
              </a:lvl9pPr>
            </a:lstStyle>
            <a:p>
              <a:r>
                <a:rPr lang="en-US" altLang="en-US" sz="1406" b="1">
                  <a:solidFill>
                    <a:srgbClr val="000000"/>
                  </a:solidFill>
                  <a:latin typeface="Arial" panose="020B0604020202020204" pitchFamily="34" charset="0"/>
                  <a:cs typeface="Arial" panose="020B0604020202020204" pitchFamily="34" charset="0"/>
                  <a:sym typeface="Arial" panose="020B0604020202020204" pitchFamily="34" charset="0"/>
                </a:rPr>
                <a:t>Phosphate</a:t>
              </a:r>
            </a:p>
          </p:txBody>
        </p:sp>
        <p:sp>
          <p:nvSpPr>
            <p:cNvPr id="88075" name="Rectangle 11"/>
            <p:cNvSpPr>
              <a:spLocks/>
            </p:cNvSpPr>
            <p:nvPr/>
          </p:nvSpPr>
          <p:spPr bwMode="auto">
            <a:xfrm>
              <a:off x="3603" y="-27"/>
              <a:ext cx="932" cy="19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lvl1pPr marL="114300">
                <a:tabLst>
                  <a:tab pos="520700" algn="l"/>
                </a:tabLst>
                <a:defRPr sz="1200">
                  <a:solidFill>
                    <a:schemeClr val="tx1"/>
                  </a:solidFill>
                  <a:latin typeface="Hoefler Text" pitchFamily="1" charset="0"/>
                </a:defRPr>
              </a:lvl1pPr>
              <a:lvl2pPr>
                <a:tabLst>
                  <a:tab pos="520700" algn="l"/>
                </a:tabLst>
                <a:defRPr sz="1200">
                  <a:solidFill>
                    <a:schemeClr val="tx1"/>
                  </a:solidFill>
                  <a:latin typeface="Hoefler Text" pitchFamily="1" charset="0"/>
                </a:defRPr>
              </a:lvl2pPr>
              <a:lvl3pPr>
                <a:tabLst>
                  <a:tab pos="520700" algn="l"/>
                </a:tabLst>
                <a:defRPr sz="1200">
                  <a:solidFill>
                    <a:schemeClr val="tx1"/>
                  </a:solidFill>
                  <a:latin typeface="Hoefler Text" pitchFamily="1" charset="0"/>
                </a:defRPr>
              </a:lvl3pPr>
              <a:lvl4pPr>
                <a:tabLst>
                  <a:tab pos="520700" algn="l"/>
                </a:tabLst>
                <a:defRPr sz="1200">
                  <a:solidFill>
                    <a:schemeClr val="tx1"/>
                  </a:solidFill>
                  <a:latin typeface="Hoefler Text" pitchFamily="1" charset="0"/>
                </a:defRPr>
              </a:lvl4pPr>
              <a:lvl5pPr>
                <a:tabLst>
                  <a:tab pos="520700" algn="l"/>
                </a:tabLst>
                <a:defRPr sz="1200">
                  <a:solidFill>
                    <a:schemeClr val="tx1"/>
                  </a:solidFill>
                  <a:latin typeface="Hoefler Text" pitchFamily="1" charset="0"/>
                </a:defRPr>
              </a:lvl5pPr>
              <a:lvl6pPr fontAlgn="base">
                <a:spcBef>
                  <a:spcPct val="0"/>
                </a:spcBef>
                <a:spcAft>
                  <a:spcPct val="0"/>
                </a:spcAft>
                <a:tabLst>
                  <a:tab pos="520700" algn="l"/>
                </a:tabLst>
                <a:defRPr sz="1200">
                  <a:solidFill>
                    <a:schemeClr val="tx1"/>
                  </a:solidFill>
                  <a:latin typeface="Hoefler Text" pitchFamily="1" charset="0"/>
                </a:defRPr>
              </a:lvl6pPr>
              <a:lvl7pPr fontAlgn="base">
                <a:spcBef>
                  <a:spcPct val="0"/>
                </a:spcBef>
                <a:spcAft>
                  <a:spcPct val="0"/>
                </a:spcAft>
                <a:tabLst>
                  <a:tab pos="520700" algn="l"/>
                </a:tabLst>
                <a:defRPr sz="1200">
                  <a:solidFill>
                    <a:schemeClr val="tx1"/>
                  </a:solidFill>
                  <a:latin typeface="Hoefler Text" pitchFamily="1" charset="0"/>
                </a:defRPr>
              </a:lvl7pPr>
              <a:lvl8pPr fontAlgn="base">
                <a:spcBef>
                  <a:spcPct val="0"/>
                </a:spcBef>
                <a:spcAft>
                  <a:spcPct val="0"/>
                </a:spcAft>
                <a:tabLst>
                  <a:tab pos="520700" algn="l"/>
                </a:tabLst>
                <a:defRPr sz="1200">
                  <a:solidFill>
                    <a:schemeClr val="tx1"/>
                  </a:solidFill>
                  <a:latin typeface="Hoefler Text" pitchFamily="1" charset="0"/>
                </a:defRPr>
              </a:lvl8pPr>
              <a:lvl9pPr fontAlgn="base">
                <a:spcBef>
                  <a:spcPct val="0"/>
                </a:spcBef>
                <a:spcAft>
                  <a:spcPct val="0"/>
                </a:spcAft>
                <a:tabLst>
                  <a:tab pos="520700" algn="l"/>
                </a:tabLst>
                <a:defRPr sz="1200">
                  <a:solidFill>
                    <a:schemeClr val="tx1"/>
                  </a:solidFill>
                  <a:latin typeface="Hoefler Text" pitchFamily="1" charset="0"/>
                </a:defRPr>
              </a:lvl9pPr>
            </a:lstStyle>
            <a:p>
              <a:r>
                <a:rPr lang="en-US" altLang="en-US" sz="1406" b="1" dirty="0">
                  <a:solidFill>
                    <a:srgbClr val="000000"/>
                  </a:solidFill>
                  <a:latin typeface="Arial" panose="020B0604020202020204" pitchFamily="34" charset="0"/>
                  <a:cs typeface="Arial" panose="020B0604020202020204" pitchFamily="34" charset="0"/>
                  <a:sym typeface="Arial" panose="020B0604020202020204" pitchFamily="34" charset="0"/>
                </a:rPr>
                <a:t>Phosphate</a:t>
              </a:r>
            </a:p>
          </p:txBody>
        </p:sp>
        <p:sp>
          <p:nvSpPr>
            <p:cNvPr id="88076" name="Line 12"/>
            <p:cNvSpPr>
              <a:spLocks noChangeShapeType="1"/>
            </p:cNvSpPr>
            <p:nvPr/>
          </p:nvSpPr>
          <p:spPr bwMode="auto">
            <a:xfrm rot="10800000">
              <a:off x="413" y="221"/>
              <a:ext cx="0" cy="448"/>
            </a:xfrm>
            <a:prstGeom prst="line">
              <a:avLst/>
            </a:prstGeom>
            <a:noFill/>
            <a:ln w="25400">
              <a:solidFill>
                <a:srgbClr val="2D00FA"/>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AU" sz="1266"/>
            </a:p>
          </p:txBody>
        </p:sp>
      </p:grpSp>
      <p:grpSp>
        <p:nvGrpSpPr>
          <p:cNvPr id="88077" name="Group 13"/>
          <p:cNvGrpSpPr>
            <a:grpSpLocks/>
          </p:cNvGrpSpPr>
          <p:nvPr/>
        </p:nvGrpSpPr>
        <p:grpSpPr bwMode="auto">
          <a:xfrm>
            <a:off x="4599459" y="3691739"/>
            <a:ext cx="5602263" cy="746745"/>
            <a:chOff x="0" y="232"/>
            <a:chExt cx="5019" cy="669"/>
          </a:xfrm>
        </p:grpSpPr>
        <p:sp>
          <p:nvSpPr>
            <p:cNvPr id="88078" name="Rectangle 14"/>
            <p:cNvSpPr>
              <a:spLocks/>
            </p:cNvSpPr>
            <p:nvPr/>
          </p:nvSpPr>
          <p:spPr bwMode="auto">
            <a:xfrm>
              <a:off x="0" y="232"/>
              <a:ext cx="491" cy="19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lvl1pPr marL="114300">
                <a:tabLst>
                  <a:tab pos="520700" algn="l"/>
                </a:tabLst>
                <a:defRPr sz="1200">
                  <a:solidFill>
                    <a:schemeClr val="tx1"/>
                  </a:solidFill>
                  <a:latin typeface="Hoefler Text" pitchFamily="1" charset="0"/>
                </a:defRPr>
              </a:lvl1pPr>
              <a:lvl2pPr>
                <a:tabLst>
                  <a:tab pos="520700" algn="l"/>
                </a:tabLst>
                <a:defRPr sz="1200">
                  <a:solidFill>
                    <a:schemeClr val="tx1"/>
                  </a:solidFill>
                  <a:latin typeface="Hoefler Text" pitchFamily="1" charset="0"/>
                </a:defRPr>
              </a:lvl2pPr>
              <a:lvl3pPr>
                <a:tabLst>
                  <a:tab pos="520700" algn="l"/>
                </a:tabLst>
                <a:defRPr sz="1200">
                  <a:solidFill>
                    <a:schemeClr val="tx1"/>
                  </a:solidFill>
                  <a:latin typeface="Hoefler Text" pitchFamily="1" charset="0"/>
                </a:defRPr>
              </a:lvl3pPr>
              <a:lvl4pPr>
                <a:tabLst>
                  <a:tab pos="520700" algn="l"/>
                </a:tabLst>
                <a:defRPr sz="1200">
                  <a:solidFill>
                    <a:schemeClr val="tx1"/>
                  </a:solidFill>
                  <a:latin typeface="Hoefler Text" pitchFamily="1" charset="0"/>
                </a:defRPr>
              </a:lvl4pPr>
              <a:lvl5pPr>
                <a:tabLst>
                  <a:tab pos="520700" algn="l"/>
                </a:tabLst>
                <a:defRPr sz="1200">
                  <a:solidFill>
                    <a:schemeClr val="tx1"/>
                  </a:solidFill>
                  <a:latin typeface="Hoefler Text" pitchFamily="1" charset="0"/>
                </a:defRPr>
              </a:lvl5pPr>
              <a:lvl6pPr fontAlgn="base">
                <a:spcBef>
                  <a:spcPct val="0"/>
                </a:spcBef>
                <a:spcAft>
                  <a:spcPct val="0"/>
                </a:spcAft>
                <a:tabLst>
                  <a:tab pos="520700" algn="l"/>
                </a:tabLst>
                <a:defRPr sz="1200">
                  <a:solidFill>
                    <a:schemeClr val="tx1"/>
                  </a:solidFill>
                  <a:latin typeface="Hoefler Text" pitchFamily="1" charset="0"/>
                </a:defRPr>
              </a:lvl6pPr>
              <a:lvl7pPr fontAlgn="base">
                <a:spcBef>
                  <a:spcPct val="0"/>
                </a:spcBef>
                <a:spcAft>
                  <a:spcPct val="0"/>
                </a:spcAft>
                <a:tabLst>
                  <a:tab pos="520700" algn="l"/>
                </a:tabLst>
                <a:defRPr sz="1200">
                  <a:solidFill>
                    <a:schemeClr val="tx1"/>
                  </a:solidFill>
                  <a:latin typeface="Hoefler Text" pitchFamily="1" charset="0"/>
                </a:defRPr>
              </a:lvl7pPr>
              <a:lvl8pPr fontAlgn="base">
                <a:spcBef>
                  <a:spcPct val="0"/>
                </a:spcBef>
                <a:spcAft>
                  <a:spcPct val="0"/>
                </a:spcAft>
                <a:tabLst>
                  <a:tab pos="520700" algn="l"/>
                </a:tabLst>
                <a:defRPr sz="1200">
                  <a:solidFill>
                    <a:schemeClr val="tx1"/>
                  </a:solidFill>
                  <a:latin typeface="Hoefler Text" pitchFamily="1" charset="0"/>
                </a:defRPr>
              </a:lvl8pPr>
              <a:lvl9pPr fontAlgn="base">
                <a:spcBef>
                  <a:spcPct val="0"/>
                </a:spcBef>
                <a:spcAft>
                  <a:spcPct val="0"/>
                </a:spcAft>
                <a:tabLst>
                  <a:tab pos="520700" algn="l"/>
                </a:tabLst>
                <a:defRPr sz="1200">
                  <a:solidFill>
                    <a:schemeClr val="tx1"/>
                  </a:solidFill>
                  <a:latin typeface="Hoefler Text" pitchFamily="1" charset="0"/>
                </a:defRPr>
              </a:lvl9pPr>
            </a:lstStyle>
            <a:p>
              <a:r>
                <a:rPr lang="en-US" altLang="en-US" sz="1406" b="1" dirty="0">
                  <a:solidFill>
                    <a:srgbClr val="000000"/>
                  </a:solidFill>
                  <a:latin typeface="Arial" panose="020B0604020202020204" pitchFamily="34" charset="0"/>
                  <a:cs typeface="Arial" panose="020B0604020202020204" pitchFamily="34" charset="0"/>
                  <a:sym typeface="Arial" panose="020B0604020202020204" pitchFamily="34" charset="0"/>
                </a:rPr>
                <a:t>Base</a:t>
              </a:r>
            </a:p>
          </p:txBody>
        </p:sp>
        <p:sp>
          <p:nvSpPr>
            <p:cNvPr id="88079" name="Rectangle 15"/>
            <p:cNvSpPr>
              <a:spLocks/>
            </p:cNvSpPr>
            <p:nvPr/>
          </p:nvSpPr>
          <p:spPr bwMode="auto">
            <a:xfrm>
              <a:off x="4528" y="232"/>
              <a:ext cx="491" cy="19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lvl1pPr marL="114300">
                <a:tabLst>
                  <a:tab pos="520700" algn="l"/>
                </a:tabLst>
                <a:defRPr sz="1200">
                  <a:solidFill>
                    <a:schemeClr val="tx1"/>
                  </a:solidFill>
                  <a:latin typeface="Hoefler Text" pitchFamily="1" charset="0"/>
                </a:defRPr>
              </a:lvl1pPr>
              <a:lvl2pPr>
                <a:tabLst>
                  <a:tab pos="520700" algn="l"/>
                </a:tabLst>
                <a:defRPr sz="1200">
                  <a:solidFill>
                    <a:schemeClr val="tx1"/>
                  </a:solidFill>
                  <a:latin typeface="Hoefler Text" pitchFamily="1" charset="0"/>
                </a:defRPr>
              </a:lvl2pPr>
              <a:lvl3pPr>
                <a:tabLst>
                  <a:tab pos="520700" algn="l"/>
                </a:tabLst>
                <a:defRPr sz="1200">
                  <a:solidFill>
                    <a:schemeClr val="tx1"/>
                  </a:solidFill>
                  <a:latin typeface="Hoefler Text" pitchFamily="1" charset="0"/>
                </a:defRPr>
              </a:lvl3pPr>
              <a:lvl4pPr>
                <a:tabLst>
                  <a:tab pos="520700" algn="l"/>
                </a:tabLst>
                <a:defRPr sz="1200">
                  <a:solidFill>
                    <a:schemeClr val="tx1"/>
                  </a:solidFill>
                  <a:latin typeface="Hoefler Text" pitchFamily="1" charset="0"/>
                </a:defRPr>
              </a:lvl4pPr>
              <a:lvl5pPr>
                <a:tabLst>
                  <a:tab pos="520700" algn="l"/>
                </a:tabLst>
                <a:defRPr sz="1200">
                  <a:solidFill>
                    <a:schemeClr val="tx1"/>
                  </a:solidFill>
                  <a:latin typeface="Hoefler Text" pitchFamily="1" charset="0"/>
                </a:defRPr>
              </a:lvl5pPr>
              <a:lvl6pPr fontAlgn="base">
                <a:spcBef>
                  <a:spcPct val="0"/>
                </a:spcBef>
                <a:spcAft>
                  <a:spcPct val="0"/>
                </a:spcAft>
                <a:tabLst>
                  <a:tab pos="520700" algn="l"/>
                </a:tabLst>
                <a:defRPr sz="1200">
                  <a:solidFill>
                    <a:schemeClr val="tx1"/>
                  </a:solidFill>
                  <a:latin typeface="Hoefler Text" pitchFamily="1" charset="0"/>
                </a:defRPr>
              </a:lvl6pPr>
              <a:lvl7pPr fontAlgn="base">
                <a:spcBef>
                  <a:spcPct val="0"/>
                </a:spcBef>
                <a:spcAft>
                  <a:spcPct val="0"/>
                </a:spcAft>
                <a:tabLst>
                  <a:tab pos="520700" algn="l"/>
                </a:tabLst>
                <a:defRPr sz="1200">
                  <a:solidFill>
                    <a:schemeClr val="tx1"/>
                  </a:solidFill>
                  <a:latin typeface="Hoefler Text" pitchFamily="1" charset="0"/>
                </a:defRPr>
              </a:lvl7pPr>
              <a:lvl8pPr fontAlgn="base">
                <a:spcBef>
                  <a:spcPct val="0"/>
                </a:spcBef>
                <a:spcAft>
                  <a:spcPct val="0"/>
                </a:spcAft>
                <a:tabLst>
                  <a:tab pos="520700" algn="l"/>
                </a:tabLst>
                <a:defRPr sz="1200">
                  <a:solidFill>
                    <a:schemeClr val="tx1"/>
                  </a:solidFill>
                  <a:latin typeface="Hoefler Text" pitchFamily="1" charset="0"/>
                </a:defRPr>
              </a:lvl8pPr>
              <a:lvl9pPr fontAlgn="base">
                <a:spcBef>
                  <a:spcPct val="0"/>
                </a:spcBef>
                <a:spcAft>
                  <a:spcPct val="0"/>
                </a:spcAft>
                <a:tabLst>
                  <a:tab pos="520700" algn="l"/>
                </a:tabLst>
                <a:defRPr sz="1200">
                  <a:solidFill>
                    <a:schemeClr val="tx1"/>
                  </a:solidFill>
                  <a:latin typeface="Hoefler Text" pitchFamily="1" charset="0"/>
                </a:defRPr>
              </a:lvl9pPr>
            </a:lstStyle>
            <a:p>
              <a:r>
                <a:rPr lang="en-US" altLang="en-US" sz="1406" b="1" dirty="0">
                  <a:solidFill>
                    <a:srgbClr val="000000"/>
                  </a:solidFill>
                  <a:latin typeface="Arial" panose="020B0604020202020204" pitchFamily="34" charset="0"/>
                  <a:cs typeface="Arial" panose="020B0604020202020204" pitchFamily="34" charset="0"/>
                  <a:sym typeface="Arial" panose="020B0604020202020204" pitchFamily="34" charset="0"/>
                </a:rPr>
                <a:t>Base</a:t>
              </a:r>
            </a:p>
          </p:txBody>
        </p:sp>
        <p:sp>
          <p:nvSpPr>
            <p:cNvPr id="88080" name="Line 16"/>
            <p:cNvSpPr>
              <a:spLocks noChangeShapeType="1"/>
            </p:cNvSpPr>
            <p:nvPr/>
          </p:nvSpPr>
          <p:spPr bwMode="auto">
            <a:xfrm rot="10800000">
              <a:off x="181" y="453"/>
              <a:ext cx="0" cy="448"/>
            </a:xfrm>
            <a:prstGeom prst="line">
              <a:avLst/>
            </a:prstGeom>
            <a:noFill/>
            <a:ln w="25400">
              <a:solidFill>
                <a:srgbClr val="2D00FA"/>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AU" sz="1266"/>
            </a:p>
          </p:txBody>
        </p:sp>
      </p:grpSp>
      <p:grpSp>
        <p:nvGrpSpPr>
          <p:cNvPr id="88081" name="Group 17"/>
          <p:cNvGrpSpPr>
            <a:grpSpLocks/>
          </p:cNvGrpSpPr>
          <p:nvPr/>
        </p:nvGrpSpPr>
        <p:grpSpPr bwMode="auto">
          <a:xfrm>
            <a:off x="3382576" y="5401792"/>
            <a:ext cx="5349999" cy="726653"/>
            <a:chOff x="-110" y="34"/>
            <a:chExt cx="4793" cy="650"/>
          </a:xfrm>
        </p:grpSpPr>
        <p:sp>
          <p:nvSpPr>
            <p:cNvPr id="88082" name="Rectangle 18"/>
            <p:cNvSpPr>
              <a:spLocks/>
            </p:cNvSpPr>
            <p:nvPr/>
          </p:nvSpPr>
          <p:spPr bwMode="auto">
            <a:xfrm>
              <a:off x="-110" y="490"/>
              <a:ext cx="563" cy="19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lvl1pPr marL="114300">
                <a:tabLst>
                  <a:tab pos="520700" algn="l"/>
                </a:tabLst>
                <a:defRPr sz="1200">
                  <a:solidFill>
                    <a:schemeClr val="tx1"/>
                  </a:solidFill>
                  <a:latin typeface="Hoefler Text" pitchFamily="1" charset="0"/>
                </a:defRPr>
              </a:lvl1pPr>
              <a:lvl2pPr>
                <a:tabLst>
                  <a:tab pos="520700" algn="l"/>
                </a:tabLst>
                <a:defRPr sz="1200">
                  <a:solidFill>
                    <a:schemeClr val="tx1"/>
                  </a:solidFill>
                  <a:latin typeface="Hoefler Text" pitchFamily="1" charset="0"/>
                </a:defRPr>
              </a:lvl2pPr>
              <a:lvl3pPr>
                <a:tabLst>
                  <a:tab pos="520700" algn="l"/>
                </a:tabLst>
                <a:defRPr sz="1200">
                  <a:solidFill>
                    <a:schemeClr val="tx1"/>
                  </a:solidFill>
                  <a:latin typeface="Hoefler Text" pitchFamily="1" charset="0"/>
                </a:defRPr>
              </a:lvl3pPr>
              <a:lvl4pPr>
                <a:tabLst>
                  <a:tab pos="520700" algn="l"/>
                </a:tabLst>
                <a:defRPr sz="1200">
                  <a:solidFill>
                    <a:schemeClr val="tx1"/>
                  </a:solidFill>
                  <a:latin typeface="Hoefler Text" pitchFamily="1" charset="0"/>
                </a:defRPr>
              </a:lvl4pPr>
              <a:lvl5pPr>
                <a:tabLst>
                  <a:tab pos="520700" algn="l"/>
                </a:tabLst>
                <a:defRPr sz="1200">
                  <a:solidFill>
                    <a:schemeClr val="tx1"/>
                  </a:solidFill>
                  <a:latin typeface="Hoefler Text" pitchFamily="1" charset="0"/>
                </a:defRPr>
              </a:lvl5pPr>
              <a:lvl6pPr fontAlgn="base">
                <a:spcBef>
                  <a:spcPct val="0"/>
                </a:spcBef>
                <a:spcAft>
                  <a:spcPct val="0"/>
                </a:spcAft>
                <a:tabLst>
                  <a:tab pos="520700" algn="l"/>
                </a:tabLst>
                <a:defRPr sz="1200">
                  <a:solidFill>
                    <a:schemeClr val="tx1"/>
                  </a:solidFill>
                  <a:latin typeface="Hoefler Text" pitchFamily="1" charset="0"/>
                </a:defRPr>
              </a:lvl6pPr>
              <a:lvl7pPr fontAlgn="base">
                <a:spcBef>
                  <a:spcPct val="0"/>
                </a:spcBef>
                <a:spcAft>
                  <a:spcPct val="0"/>
                </a:spcAft>
                <a:tabLst>
                  <a:tab pos="520700" algn="l"/>
                </a:tabLst>
                <a:defRPr sz="1200">
                  <a:solidFill>
                    <a:schemeClr val="tx1"/>
                  </a:solidFill>
                  <a:latin typeface="Hoefler Text" pitchFamily="1" charset="0"/>
                </a:defRPr>
              </a:lvl7pPr>
              <a:lvl8pPr fontAlgn="base">
                <a:spcBef>
                  <a:spcPct val="0"/>
                </a:spcBef>
                <a:spcAft>
                  <a:spcPct val="0"/>
                </a:spcAft>
                <a:tabLst>
                  <a:tab pos="520700" algn="l"/>
                </a:tabLst>
                <a:defRPr sz="1200">
                  <a:solidFill>
                    <a:schemeClr val="tx1"/>
                  </a:solidFill>
                  <a:latin typeface="Hoefler Text" pitchFamily="1" charset="0"/>
                </a:defRPr>
              </a:lvl8pPr>
              <a:lvl9pPr fontAlgn="base">
                <a:spcBef>
                  <a:spcPct val="0"/>
                </a:spcBef>
                <a:spcAft>
                  <a:spcPct val="0"/>
                </a:spcAft>
                <a:tabLst>
                  <a:tab pos="520700" algn="l"/>
                </a:tabLst>
                <a:defRPr sz="1200">
                  <a:solidFill>
                    <a:schemeClr val="tx1"/>
                  </a:solidFill>
                  <a:latin typeface="Hoefler Text" pitchFamily="1" charset="0"/>
                </a:defRPr>
              </a:lvl9pPr>
            </a:lstStyle>
            <a:p>
              <a:r>
                <a:rPr lang="en-US" altLang="en-US" sz="1406" b="1" dirty="0">
                  <a:solidFill>
                    <a:srgbClr val="000000"/>
                  </a:solidFill>
                  <a:latin typeface="Arial" panose="020B0604020202020204" pitchFamily="34" charset="0"/>
                  <a:cs typeface="Arial" panose="020B0604020202020204" pitchFamily="34" charset="0"/>
                  <a:sym typeface="Arial" panose="020B0604020202020204" pitchFamily="34" charset="0"/>
                </a:rPr>
                <a:t>Sugar</a:t>
              </a:r>
            </a:p>
          </p:txBody>
        </p:sp>
        <p:sp>
          <p:nvSpPr>
            <p:cNvPr id="88083" name="Rectangle 19"/>
            <p:cNvSpPr>
              <a:spLocks/>
            </p:cNvSpPr>
            <p:nvPr/>
          </p:nvSpPr>
          <p:spPr bwMode="auto">
            <a:xfrm>
              <a:off x="4120" y="482"/>
              <a:ext cx="563" cy="19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lvl1pPr marL="114300">
                <a:tabLst>
                  <a:tab pos="520700" algn="l"/>
                </a:tabLst>
                <a:defRPr sz="1200">
                  <a:solidFill>
                    <a:schemeClr val="tx1"/>
                  </a:solidFill>
                  <a:latin typeface="Hoefler Text" pitchFamily="1" charset="0"/>
                </a:defRPr>
              </a:lvl1pPr>
              <a:lvl2pPr>
                <a:tabLst>
                  <a:tab pos="520700" algn="l"/>
                </a:tabLst>
                <a:defRPr sz="1200">
                  <a:solidFill>
                    <a:schemeClr val="tx1"/>
                  </a:solidFill>
                  <a:latin typeface="Hoefler Text" pitchFamily="1" charset="0"/>
                </a:defRPr>
              </a:lvl2pPr>
              <a:lvl3pPr>
                <a:tabLst>
                  <a:tab pos="520700" algn="l"/>
                </a:tabLst>
                <a:defRPr sz="1200">
                  <a:solidFill>
                    <a:schemeClr val="tx1"/>
                  </a:solidFill>
                  <a:latin typeface="Hoefler Text" pitchFamily="1" charset="0"/>
                </a:defRPr>
              </a:lvl3pPr>
              <a:lvl4pPr>
                <a:tabLst>
                  <a:tab pos="520700" algn="l"/>
                </a:tabLst>
                <a:defRPr sz="1200">
                  <a:solidFill>
                    <a:schemeClr val="tx1"/>
                  </a:solidFill>
                  <a:latin typeface="Hoefler Text" pitchFamily="1" charset="0"/>
                </a:defRPr>
              </a:lvl4pPr>
              <a:lvl5pPr>
                <a:tabLst>
                  <a:tab pos="520700" algn="l"/>
                </a:tabLst>
                <a:defRPr sz="1200">
                  <a:solidFill>
                    <a:schemeClr val="tx1"/>
                  </a:solidFill>
                  <a:latin typeface="Hoefler Text" pitchFamily="1" charset="0"/>
                </a:defRPr>
              </a:lvl5pPr>
              <a:lvl6pPr fontAlgn="base">
                <a:spcBef>
                  <a:spcPct val="0"/>
                </a:spcBef>
                <a:spcAft>
                  <a:spcPct val="0"/>
                </a:spcAft>
                <a:tabLst>
                  <a:tab pos="520700" algn="l"/>
                </a:tabLst>
                <a:defRPr sz="1200">
                  <a:solidFill>
                    <a:schemeClr val="tx1"/>
                  </a:solidFill>
                  <a:latin typeface="Hoefler Text" pitchFamily="1" charset="0"/>
                </a:defRPr>
              </a:lvl6pPr>
              <a:lvl7pPr fontAlgn="base">
                <a:spcBef>
                  <a:spcPct val="0"/>
                </a:spcBef>
                <a:spcAft>
                  <a:spcPct val="0"/>
                </a:spcAft>
                <a:tabLst>
                  <a:tab pos="520700" algn="l"/>
                </a:tabLst>
                <a:defRPr sz="1200">
                  <a:solidFill>
                    <a:schemeClr val="tx1"/>
                  </a:solidFill>
                  <a:latin typeface="Hoefler Text" pitchFamily="1" charset="0"/>
                </a:defRPr>
              </a:lvl7pPr>
              <a:lvl8pPr fontAlgn="base">
                <a:spcBef>
                  <a:spcPct val="0"/>
                </a:spcBef>
                <a:spcAft>
                  <a:spcPct val="0"/>
                </a:spcAft>
                <a:tabLst>
                  <a:tab pos="520700" algn="l"/>
                </a:tabLst>
                <a:defRPr sz="1200">
                  <a:solidFill>
                    <a:schemeClr val="tx1"/>
                  </a:solidFill>
                  <a:latin typeface="Hoefler Text" pitchFamily="1" charset="0"/>
                </a:defRPr>
              </a:lvl8pPr>
              <a:lvl9pPr fontAlgn="base">
                <a:spcBef>
                  <a:spcPct val="0"/>
                </a:spcBef>
                <a:spcAft>
                  <a:spcPct val="0"/>
                </a:spcAft>
                <a:tabLst>
                  <a:tab pos="520700" algn="l"/>
                </a:tabLst>
                <a:defRPr sz="1200">
                  <a:solidFill>
                    <a:schemeClr val="tx1"/>
                  </a:solidFill>
                  <a:latin typeface="Hoefler Text" pitchFamily="1" charset="0"/>
                </a:defRPr>
              </a:lvl9pPr>
            </a:lstStyle>
            <a:p>
              <a:r>
                <a:rPr lang="en-US" altLang="en-US" sz="1406" b="1">
                  <a:solidFill>
                    <a:srgbClr val="000000"/>
                  </a:solidFill>
                  <a:latin typeface="Arial" panose="020B0604020202020204" pitchFamily="34" charset="0"/>
                  <a:cs typeface="Arial" panose="020B0604020202020204" pitchFamily="34" charset="0"/>
                  <a:sym typeface="Arial" panose="020B0604020202020204" pitchFamily="34" charset="0"/>
                </a:rPr>
                <a:t>Sugar</a:t>
              </a:r>
            </a:p>
          </p:txBody>
        </p:sp>
        <p:sp>
          <p:nvSpPr>
            <p:cNvPr id="88084" name="Line 20"/>
            <p:cNvSpPr>
              <a:spLocks noChangeShapeType="1"/>
            </p:cNvSpPr>
            <p:nvPr/>
          </p:nvSpPr>
          <p:spPr bwMode="auto">
            <a:xfrm>
              <a:off x="172" y="34"/>
              <a:ext cx="0" cy="448"/>
            </a:xfrm>
            <a:prstGeom prst="line">
              <a:avLst/>
            </a:prstGeom>
            <a:noFill/>
            <a:ln w="25400">
              <a:solidFill>
                <a:srgbClr val="2D00FA"/>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AU" sz="1266"/>
            </a:p>
          </p:txBody>
        </p:sp>
      </p:grpSp>
    </p:spTree>
    <p:extLst>
      <p:ext uri="{BB962C8B-B14F-4D97-AF65-F5344CB8AC3E}">
        <p14:creationId xmlns:p14="http://schemas.microsoft.com/office/powerpoint/2010/main" val="1777205226"/>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88070">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88070">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88070">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499"/>
                                          </p:stCondLst>
                                        </p:cTn>
                                        <p:tgtEl>
                                          <p:spTgt spid="88073"/>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499"/>
                                          </p:stCondLst>
                                        </p:cTn>
                                        <p:tgtEl>
                                          <p:spTgt spid="88070">
                                            <p:txEl>
                                              <p:pRg st="3" end="3"/>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499"/>
                                          </p:stCondLst>
                                        </p:cTn>
                                        <p:tgtEl>
                                          <p:spTgt spid="88081"/>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88070">
                                            <p:txEl>
                                              <p:pRg st="4" end="4"/>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499"/>
                                          </p:stCondLst>
                                        </p:cTn>
                                        <p:tgtEl>
                                          <p:spTgt spid="8807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070" grpId="0" build="p" bldLvl="5"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60949" y="893640"/>
            <a:ext cx="8911687" cy="721214"/>
          </a:xfrm>
        </p:spPr>
        <p:txBody>
          <a:bodyPr/>
          <a:lstStyle/>
          <a:p>
            <a:r>
              <a:rPr lang="en-AU" dirty="0">
                <a:solidFill>
                  <a:srgbClr val="00B050"/>
                </a:solidFill>
              </a:rPr>
              <a:t>Learning Intentions</a:t>
            </a:r>
          </a:p>
        </p:txBody>
      </p:sp>
      <p:sp>
        <p:nvSpPr>
          <p:cNvPr id="3" name="Content Placeholder 2"/>
          <p:cNvSpPr>
            <a:spLocks noGrp="1"/>
          </p:cNvSpPr>
          <p:nvPr>
            <p:ph idx="1"/>
          </p:nvPr>
        </p:nvSpPr>
        <p:spPr>
          <a:xfrm>
            <a:off x="2460949" y="1614854"/>
            <a:ext cx="8587265" cy="2081049"/>
          </a:xfrm>
        </p:spPr>
        <p:txBody>
          <a:bodyPr>
            <a:normAutofit/>
          </a:bodyPr>
          <a:lstStyle/>
          <a:p>
            <a:pPr marL="0" lvl="0" indent="0">
              <a:buNone/>
            </a:pPr>
            <a:r>
              <a:rPr lang="en-AU" dirty="0"/>
              <a:t>Understand:</a:t>
            </a:r>
          </a:p>
          <a:p>
            <a:pPr lvl="0"/>
            <a:r>
              <a:rPr lang="en-AU" dirty="0"/>
              <a:t>biological molecules are synthesised from monomers to produce complex structures, including carbohydrates, proteins and lipids.</a:t>
            </a:r>
          </a:p>
          <a:p>
            <a:pPr lvl="0"/>
            <a:r>
              <a:rPr lang="en-AU" dirty="0"/>
              <a:t>biochemical processes in the cell are controlled by factors, including the nature and arrangement of internal membranes, and the presence of specific enzymes.</a:t>
            </a:r>
          </a:p>
          <a:p>
            <a:pPr lvl="0"/>
            <a:endParaRPr lang="en-AU" dirty="0"/>
          </a:p>
          <a:p>
            <a:pPr marL="0" indent="0">
              <a:buNone/>
            </a:pPr>
            <a:endParaRPr lang="en-AU" dirty="0"/>
          </a:p>
        </p:txBody>
      </p:sp>
      <p:sp>
        <p:nvSpPr>
          <p:cNvPr id="4" name="Title 1"/>
          <p:cNvSpPr txBox="1">
            <a:spLocks/>
          </p:cNvSpPr>
          <p:nvPr/>
        </p:nvSpPr>
        <p:spPr>
          <a:xfrm>
            <a:off x="2460949" y="3800495"/>
            <a:ext cx="8911687" cy="721214"/>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2">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dirty="0">
                <a:solidFill>
                  <a:srgbClr val="00B050"/>
                </a:solidFill>
              </a:rPr>
              <a:t>Success Criteria</a:t>
            </a:r>
          </a:p>
        </p:txBody>
      </p:sp>
      <p:sp>
        <p:nvSpPr>
          <p:cNvPr id="5" name="Content Placeholder 2"/>
          <p:cNvSpPr txBox="1">
            <a:spLocks/>
          </p:cNvSpPr>
          <p:nvPr/>
        </p:nvSpPr>
        <p:spPr>
          <a:xfrm>
            <a:off x="2460949" y="4486031"/>
            <a:ext cx="8915400" cy="2528993"/>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buFont typeface="Wingdings 3" charset="2"/>
              <a:buNone/>
            </a:pPr>
            <a:r>
              <a:rPr lang="en-AU" dirty="0"/>
              <a:t>Can you:</a:t>
            </a:r>
          </a:p>
          <a:p>
            <a:r>
              <a:rPr lang="en-AU" dirty="0"/>
              <a:t>Define the terms monomer and polymer.</a:t>
            </a:r>
          </a:p>
          <a:p>
            <a:r>
              <a:rPr lang="en-AU" dirty="0"/>
              <a:t>Explain the chemical composition of proteins, carbohydrates, nucleic acids and lipids and list important biological roles of these macromolecules.</a:t>
            </a:r>
          </a:p>
          <a:p>
            <a:r>
              <a:rPr lang="en-AU" dirty="0"/>
              <a:t>Describe anabolic and catabolic reactions.</a:t>
            </a:r>
          </a:p>
          <a:p>
            <a:endParaRPr lang="en-AU" dirty="0"/>
          </a:p>
          <a:p>
            <a:endParaRPr lang="en-AU" dirty="0"/>
          </a:p>
        </p:txBody>
      </p:sp>
      <p:pic>
        <p:nvPicPr>
          <p:cNvPr id="6" name="Picture 5">
            <a:extLst>
              <a:ext uri="{FF2B5EF4-FFF2-40B4-BE49-F238E27FC236}">
                <a16:creationId xmlns:a16="http://schemas.microsoft.com/office/drawing/2014/main" id="{67A3A76A-B41A-4B39-9E79-E8F1316C0AA6}"/>
              </a:ext>
            </a:extLst>
          </p:cNvPr>
          <p:cNvPicPr>
            <a:picLocks noChangeAspect="1"/>
          </p:cNvPicPr>
          <p:nvPr/>
        </p:nvPicPr>
        <p:blipFill>
          <a:blip r:embed="rId2"/>
          <a:stretch>
            <a:fillRect/>
          </a:stretch>
        </p:blipFill>
        <p:spPr>
          <a:xfrm>
            <a:off x="7303156" y="248820"/>
            <a:ext cx="3392465" cy="1572444"/>
          </a:xfrm>
          <a:prstGeom prst="rect">
            <a:avLst/>
          </a:prstGeom>
        </p:spPr>
      </p:pic>
    </p:spTree>
    <p:extLst>
      <p:ext uri="{BB962C8B-B14F-4D97-AF65-F5344CB8AC3E}">
        <p14:creationId xmlns:p14="http://schemas.microsoft.com/office/powerpoint/2010/main" val="7639579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07705" y="501561"/>
            <a:ext cx="6503941" cy="1023879"/>
          </a:xfrm>
        </p:spPr>
        <p:txBody>
          <a:bodyPr/>
          <a:lstStyle/>
          <a:p>
            <a:r>
              <a:rPr lang="en-AU" b="1" dirty="0">
                <a:solidFill>
                  <a:srgbClr val="00B050"/>
                </a:solidFill>
              </a:rPr>
              <a:t>Moodle &amp; Textbook Work</a:t>
            </a:r>
          </a:p>
        </p:txBody>
      </p:sp>
      <p:sp>
        <p:nvSpPr>
          <p:cNvPr id="6" name="Content Placeholder 2"/>
          <p:cNvSpPr txBox="1">
            <a:spLocks/>
          </p:cNvSpPr>
          <p:nvPr/>
        </p:nvSpPr>
        <p:spPr>
          <a:xfrm>
            <a:off x="5174879" y="1849310"/>
            <a:ext cx="5865642" cy="3213539"/>
          </a:xfrm>
          <a:prstGeom prst="rect">
            <a:avLst/>
          </a:prstGeom>
        </p:spPr>
        <p:txBody>
          <a:bodyPr vert="horz">
            <a:normAutofit fontScale="92500"/>
          </a:bodyPr>
          <a:lst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a:lstStyle>
          <a:p>
            <a:r>
              <a:rPr lang="en-AU" dirty="0"/>
              <a:t>Textbook pages 253-256 &amp; 310-312.</a:t>
            </a:r>
          </a:p>
          <a:p>
            <a:r>
              <a:rPr lang="en-AU" dirty="0"/>
              <a:t>Academic Associates Chapter 4.3.</a:t>
            </a:r>
          </a:p>
          <a:p>
            <a:r>
              <a:rPr lang="en-AU" dirty="0"/>
              <a:t>Trial Test 8.</a:t>
            </a:r>
          </a:p>
          <a:p>
            <a:pPr marL="0" indent="0">
              <a:buNone/>
            </a:pPr>
            <a:endParaRPr lang="en-AU" dirty="0"/>
          </a:p>
          <a:p>
            <a:endParaRPr lang="en-AU" dirty="0"/>
          </a:p>
          <a:p>
            <a:r>
              <a:rPr lang="en-AU" dirty="0"/>
              <a:t>Task due next week! </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37119" y="1594786"/>
            <a:ext cx="2268263" cy="2974202"/>
          </a:xfrm>
          <a:prstGeom prst="rect">
            <a:avLst/>
          </a:prstGeom>
        </p:spPr>
      </p:pic>
      <p:pic>
        <p:nvPicPr>
          <p:cNvPr id="5" name="Picture 4">
            <a:extLst>
              <a:ext uri="{FF2B5EF4-FFF2-40B4-BE49-F238E27FC236}">
                <a16:creationId xmlns:a16="http://schemas.microsoft.com/office/drawing/2014/main" id="{FB5F09EB-AE6C-4345-A94C-F6CBF859E3E5}"/>
              </a:ext>
            </a:extLst>
          </p:cNvPr>
          <p:cNvPicPr>
            <a:picLocks noChangeAspect="1"/>
          </p:cNvPicPr>
          <p:nvPr/>
        </p:nvPicPr>
        <p:blipFill>
          <a:blip r:embed="rId3"/>
          <a:stretch>
            <a:fillRect/>
          </a:stretch>
        </p:blipFill>
        <p:spPr>
          <a:xfrm>
            <a:off x="3829050" y="4831486"/>
            <a:ext cx="8191500" cy="1847850"/>
          </a:xfrm>
          <a:prstGeom prst="rect">
            <a:avLst/>
          </a:prstGeom>
        </p:spPr>
      </p:pic>
    </p:spTree>
    <p:extLst>
      <p:ext uri="{BB962C8B-B14F-4D97-AF65-F5344CB8AC3E}">
        <p14:creationId xmlns:p14="http://schemas.microsoft.com/office/powerpoint/2010/main" val="7037541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a:solidFill>
                  <a:srgbClr val="00B050"/>
                </a:solidFill>
              </a:rPr>
              <a:t>Student Feedback</a:t>
            </a:r>
          </a:p>
        </p:txBody>
      </p:sp>
      <p:sp>
        <p:nvSpPr>
          <p:cNvPr id="3" name="Content Placeholder 2"/>
          <p:cNvSpPr>
            <a:spLocks noGrp="1"/>
          </p:cNvSpPr>
          <p:nvPr>
            <p:ph sz="quarter" idx="1"/>
          </p:nvPr>
        </p:nvSpPr>
        <p:spPr/>
        <p:txBody>
          <a:bodyPr/>
          <a:lstStyle/>
          <a:p>
            <a:r>
              <a:rPr lang="en-AU" sz="2200" dirty="0"/>
              <a:t>What I learnt today…..</a:t>
            </a:r>
          </a:p>
          <a:p>
            <a:endParaRPr lang="en-AU" sz="2200" dirty="0"/>
          </a:p>
          <a:p>
            <a:endParaRPr lang="en-AU" sz="2200" dirty="0"/>
          </a:p>
          <a:p>
            <a:endParaRPr lang="en-AU" sz="2200" dirty="0"/>
          </a:p>
          <a:p>
            <a:r>
              <a:rPr lang="en-AU" sz="2200" dirty="0"/>
              <a:t>What I need to revise….</a:t>
            </a:r>
          </a:p>
          <a:p>
            <a:endParaRPr lang="en-AU" dirty="0"/>
          </a:p>
          <a:p>
            <a:endParaRPr lang="en-AU" dirty="0"/>
          </a:p>
          <a:p>
            <a:pPr marL="0" indent="0">
              <a:buNone/>
            </a:pPr>
            <a:endParaRPr lang="en-AU" dirty="0"/>
          </a:p>
        </p:txBody>
      </p:sp>
    </p:spTree>
    <p:extLst>
      <p:ext uri="{BB962C8B-B14F-4D97-AF65-F5344CB8AC3E}">
        <p14:creationId xmlns:p14="http://schemas.microsoft.com/office/powerpoint/2010/main" val="687107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E1BFDA-FA03-0718-D125-0DF13B68A7E7}"/>
              </a:ext>
            </a:extLst>
          </p:cNvPr>
          <p:cNvSpPr>
            <a:spLocks noGrp="1"/>
          </p:cNvSpPr>
          <p:nvPr>
            <p:ph type="title"/>
          </p:nvPr>
        </p:nvSpPr>
        <p:spPr/>
        <p:txBody>
          <a:bodyPr/>
          <a:lstStyle/>
          <a:p>
            <a:endParaRPr lang="en-AU"/>
          </a:p>
        </p:txBody>
      </p:sp>
      <p:sp>
        <p:nvSpPr>
          <p:cNvPr id="3" name="Content Placeholder 2">
            <a:extLst>
              <a:ext uri="{FF2B5EF4-FFF2-40B4-BE49-F238E27FC236}">
                <a16:creationId xmlns:a16="http://schemas.microsoft.com/office/drawing/2014/main" id="{95E0B8EC-1A62-DB52-50FF-D32D0C3158FE}"/>
              </a:ext>
            </a:extLst>
          </p:cNvPr>
          <p:cNvSpPr>
            <a:spLocks noGrp="1"/>
          </p:cNvSpPr>
          <p:nvPr>
            <p:ph idx="1"/>
          </p:nvPr>
        </p:nvSpPr>
        <p:spPr/>
        <p:txBody>
          <a:bodyPr/>
          <a:lstStyle/>
          <a:p>
            <a:endParaRPr lang="en-AU"/>
          </a:p>
        </p:txBody>
      </p:sp>
    </p:spTree>
    <p:extLst>
      <p:ext uri="{BB962C8B-B14F-4D97-AF65-F5344CB8AC3E}">
        <p14:creationId xmlns:p14="http://schemas.microsoft.com/office/powerpoint/2010/main" val="20217593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89212" y="491753"/>
            <a:ext cx="5281075" cy="910050"/>
          </a:xfrm>
        </p:spPr>
        <p:txBody>
          <a:bodyPr/>
          <a:lstStyle/>
          <a:p>
            <a:r>
              <a:rPr lang="en-AU" dirty="0">
                <a:solidFill>
                  <a:srgbClr val="00B050"/>
                </a:solidFill>
              </a:rPr>
              <a:t>Quick Questions</a:t>
            </a:r>
          </a:p>
        </p:txBody>
      </p:sp>
      <p:sp>
        <p:nvSpPr>
          <p:cNvPr id="3" name="Content Placeholder 2"/>
          <p:cNvSpPr>
            <a:spLocks noGrp="1"/>
          </p:cNvSpPr>
          <p:nvPr>
            <p:ph idx="1"/>
          </p:nvPr>
        </p:nvSpPr>
        <p:spPr>
          <a:xfrm>
            <a:off x="2589212" y="1757680"/>
            <a:ext cx="8915400" cy="3777622"/>
          </a:xfrm>
        </p:spPr>
        <p:txBody>
          <a:bodyPr/>
          <a:lstStyle/>
          <a:p>
            <a:r>
              <a:rPr lang="en-AU" sz="1900" dirty="0"/>
              <a:t>What elements do carbohydrates contain?</a:t>
            </a:r>
          </a:p>
          <a:p>
            <a:endParaRPr lang="en-AU" sz="1900" dirty="0"/>
          </a:p>
          <a:p>
            <a:endParaRPr lang="en-AU" sz="1900" dirty="0"/>
          </a:p>
          <a:p>
            <a:r>
              <a:rPr lang="en-AU" sz="1900" dirty="0"/>
              <a:t>State a function of lipids?</a:t>
            </a:r>
          </a:p>
          <a:p>
            <a:endParaRPr lang="en-AU" sz="1900" dirty="0"/>
          </a:p>
          <a:p>
            <a:endParaRPr lang="en-AU" sz="1900" dirty="0"/>
          </a:p>
          <a:p>
            <a:r>
              <a:rPr lang="en-AU" sz="1900" dirty="0"/>
              <a:t>How many essential amino acids are there?</a:t>
            </a:r>
          </a:p>
          <a:p>
            <a:endParaRPr lang="en-AU" dirty="0"/>
          </a:p>
          <a:p>
            <a:endParaRPr lang="en-AU" dirty="0"/>
          </a:p>
          <a:p>
            <a:endParaRPr lang="en-AU" dirty="0"/>
          </a:p>
        </p:txBody>
      </p:sp>
    </p:spTree>
    <p:extLst>
      <p:ext uri="{BB962C8B-B14F-4D97-AF65-F5344CB8AC3E}">
        <p14:creationId xmlns:p14="http://schemas.microsoft.com/office/powerpoint/2010/main" val="33633118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p:nvPr>
        </p:nvSpPr>
        <p:spPr>
          <a:xfrm>
            <a:off x="3100925" y="105950"/>
            <a:ext cx="3736755" cy="818610"/>
          </a:xfrm>
        </p:spPr>
        <p:txBody>
          <a:bodyPr/>
          <a:lstStyle/>
          <a:p>
            <a:r>
              <a:rPr lang="en-US" b="1" dirty="0">
                <a:solidFill>
                  <a:srgbClr val="00B050"/>
                </a:solidFill>
              </a:rPr>
              <a:t>Nucleic Acid</a:t>
            </a:r>
            <a:endParaRPr lang="en-AU" b="1" dirty="0">
              <a:solidFill>
                <a:srgbClr val="00B050"/>
              </a:solidFill>
            </a:endParaRPr>
          </a:p>
        </p:txBody>
      </p:sp>
      <p:sp>
        <p:nvSpPr>
          <p:cNvPr id="5" name="Content Placeholder 4"/>
          <p:cNvSpPr>
            <a:spLocks noGrp="1"/>
          </p:cNvSpPr>
          <p:nvPr>
            <p:ph idx="1"/>
          </p:nvPr>
        </p:nvSpPr>
        <p:spPr>
          <a:xfrm>
            <a:off x="2029488" y="994092"/>
            <a:ext cx="6200112" cy="5757958"/>
          </a:xfrm>
        </p:spPr>
        <p:txBody>
          <a:bodyPr>
            <a:normAutofit lnSpcReduction="10000"/>
          </a:bodyPr>
          <a:lstStyle/>
          <a:p>
            <a:r>
              <a:rPr lang="en-AU" sz="1900" dirty="0"/>
              <a:t>The nucleic acids </a:t>
            </a:r>
            <a:r>
              <a:rPr lang="en-AU" sz="1900" b="1" dirty="0"/>
              <a:t>DNA</a:t>
            </a:r>
            <a:r>
              <a:rPr lang="en-AU" sz="1900" dirty="0"/>
              <a:t> and </a:t>
            </a:r>
            <a:r>
              <a:rPr lang="en-AU" sz="1900" b="1" dirty="0"/>
              <a:t>RNA</a:t>
            </a:r>
            <a:r>
              <a:rPr lang="en-AU" sz="1900" dirty="0"/>
              <a:t> are found in the nucleus. A molecule of DNA is composed of two long strands of </a:t>
            </a:r>
            <a:r>
              <a:rPr lang="en-AU" sz="1900" b="1" dirty="0"/>
              <a:t>nucleotides</a:t>
            </a:r>
            <a:r>
              <a:rPr lang="en-AU" sz="1900" dirty="0"/>
              <a:t>. They are wound around each other to form a double helix.  </a:t>
            </a:r>
          </a:p>
          <a:p>
            <a:r>
              <a:rPr lang="en-AU" sz="1900" dirty="0"/>
              <a:t>DNA codes for the production of proteins that carry out and control the many activities within a cell. When a cell divides, new DNA is synthesised.</a:t>
            </a:r>
          </a:p>
          <a:p>
            <a:r>
              <a:rPr lang="en-AU" sz="1900" dirty="0"/>
              <a:t>Each DNA molecule is large. They are too large to move through the nuclear membrane. It is the job of another type of nucleic acid, </a:t>
            </a:r>
            <a:r>
              <a:rPr lang="en-AU" sz="1900" b="1" dirty="0"/>
              <a:t>messenger RNA </a:t>
            </a:r>
            <a:r>
              <a:rPr lang="en-AU" sz="1900" dirty="0"/>
              <a:t>(mRNA) to transfer the DNA code to the ribosomes for protein synthesis. The order of nucleotides in mRNA is determined by the order of nucleotides in a section of DNA. After synthesis of a strand of mRNA has been completed, it moves from the nucleus to ribosomes in the cytoplasm. The order of nucleotides in the mRNA determines the order of amino acids in protein synthesis.</a:t>
            </a:r>
            <a:endParaRPr lang="en-US" sz="1900" dirty="0"/>
          </a:p>
          <a:p>
            <a:endParaRPr lang="en-AU" dirty="0"/>
          </a:p>
        </p:txBody>
      </p:sp>
      <p:pic>
        <p:nvPicPr>
          <p:cNvPr id="2" name="Picture 1"/>
          <p:cNvPicPr>
            <a:picLocks noChangeAspect="1"/>
          </p:cNvPicPr>
          <p:nvPr/>
        </p:nvPicPr>
        <p:blipFill rotWithShape="1">
          <a:blip r:embed="rId3"/>
          <a:srcRect t="791" b="-1"/>
          <a:stretch/>
        </p:blipFill>
        <p:spPr>
          <a:xfrm>
            <a:off x="8689664" y="741985"/>
            <a:ext cx="3278816" cy="5608015"/>
          </a:xfrm>
          <a:prstGeom prst="rect">
            <a:avLst/>
          </a:prstGeom>
        </p:spPr>
      </p:pic>
    </p:spTree>
    <p:extLst>
      <p:ext uri="{BB962C8B-B14F-4D97-AF65-F5344CB8AC3E}">
        <p14:creationId xmlns:p14="http://schemas.microsoft.com/office/powerpoint/2010/main" val="3803751518"/>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04685" y="532393"/>
            <a:ext cx="8911687" cy="828770"/>
          </a:xfrm>
        </p:spPr>
        <p:txBody>
          <a:bodyPr/>
          <a:lstStyle/>
          <a:p>
            <a:r>
              <a:rPr lang="en-AU" b="1" dirty="0">
                <a:solidFill>
                  <a:srgbClr val="00B050"/>
                </a:solidFill>
              </a:rPr>
              <a:t>Biochemical Processes</a:t>
            </a:r>
          </a:p>
        </p:txBody>
      </p:sp>
      <p:sp>
        <p:nvSpPr>
          <p:cNvPr id="3" name="Content Placeholder 2"/>
          <p:cNvSpPr>
            <a:spLocks noGrp="1"/>
          </p:cNvSpPr>
          <p:nvPr>
            <p:ph idx="1"/>
          </p:nvPr>
        </p:nvSpPr>
        <p:spPr>
          <a:xfrm>
            <a:off x="5436524" y="2133599"/>
            <a:ext cx="6068088" cy="4192007"/>
          </a:xfrm>
        </p:spPr>
        <p:txBody>
          <a:bodyPr/>
          <a:lstStyle/>
          <a:p>
            <a:r>
              <a:rPr lang="en-US" sz="1900" dirty="0"/>
              <a:t>Every living cell of every part of an organism needs matter and energy to keep it alive.</a:t>
            </a:r>
          </a:p>
          <a:p>
            <a:r>
              <a:rPr lang="en-US" sz="1900" dirty="0"/>
              <a:t>Unicellular organisms take in materials (inputs) from their external environment. </a:t>
            </a:r>
          </a:p>
          <a:p>
            <a:r>
              <a:rPr lang="en-US" sz="1900" dirty="0"/>
              <a:t>They use these materials inside their single cell. </a:t>
            </a:r>
          </a:p>
          <a:p>
            <a:r>
              <a:rPr lang="en-US" sz="1900" dirty="0"/>
              <a:t>Outputs or products of these activities are biomolecules and inorganic wastes.</a:t>
            </a:r>
          </a:p>
          <a:p>
            <a:r>
              <a:rPr lang="en-US" sz="1900" dirty="0"/>
              <a:t>The biomolecules form the structures that carry out tasks.</a:t>
            </a:r>
          </a:p>
          <a:p>
            <a:endParaRPr lang="en-AU" dirty="0"/>
          </a:p>
        </p:txBody>
      </p:sp>
      <p:pic>
        <p:nvPicPr>
          <p:cNvPr id="3074" name="Picture 2" descr="http://www.mda.org/sites/default/files/metabolics_muscle-cell.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8720" y="2256552"/>
            <a:ext cx="3632752" cy="29565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3743432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23405" y="304800"/>
            <a:ext cx="8911687" cy="1280890"/>
          </a:xfrm>
        </p:spPr>
        <p:txBody>
          <a:bodyPr/>
          <a:lstStyle/>
          <a:p>
            <a:r>
              <a:rPr lang="en-AU" b="1" dirty="0">
                <a:solidFill>
                  <a:srgbClr val="00B050"/>
                </a:solidFill>
              </a:rPr>
              <a:t>Biochemical Processes</a:t>
            </a:r>
          </a:p>
        </p:txBody>
      </p:sp>
      <p:sp>
        <p:nvSpPr>
          <p:cNvPr id="3" name="Content Placeholder 2"/>
          <p:cNvSpPr>
            <a:spLocks noGrp="1"/>
          </p:cNvSpPr>
          <p:nvPr>
            <p:ph idx="1"/>
          </p:nvPr>
        </p:nvSpPr>
        <p:spPr>
          <a:xfrm>
            <a:off x="5555932" y="1300480"/>
            <a:ext cx="6249988" cy="5344160"/>
          </a:xfrm>
        </p:spPr>
        <p:txBody>
          <a:bodyPr>
            <a:normAutofit fontScale="85000" lnSpcReduction="10000"/>
          </a:bodyPr>
          <a:lstStyle/>
          <a:p>
            <a:r>
              <a:rPr lang="en-AU" sz="2400" dirty="0"/>
              <a:t>Similar to a factory, compartmentalising a cell by having membrane-bound organelles creates specialised environments for specific functions. A large number of activities can occur at the same time in a very limited space and under different conditions. </a:t>
            </a:r>
          </a:p>
          <a:p>
            <a:r>
              <a:rPr lang="en-AU" sz="2400" dirty="0"/>
              <a:t>For example, chemical reactions in lysosomes break down compounds brought into the cell by using strong digestive enzymes in an acidic environment. Enclosing them in a membrane prevents them destroying the cell. </a:t>
            </a:r>
          </a:p>
          <a:p>
            <a:r>
              <a:rPr lang="en-AU" sz="2400" dirty="0"/>
              <a:t>Specific chemical reactions can occur using only a handful of enzymes that can be concentrated and recycled in membrane-bound areas. Membrane-bound structures can concentrate reactants and store products.</a:t>
            </a:r>
          </a:p>
          <a:p>
            <a:endParaRPr lang="en-US" sz="2800" dirty="0"/>
          </a:p>
          <a:p>
            <a:endParaRPr lang="en-AU" dirty="0"/>
          </a:p>
        </p:txBody>
      </p:sp>
      <p:pic>
        <p:nvPicPr>
          <p:cNvPr id="5" name="Picture 4">
            <a:extLst>
              <a:ext uri="{FF2B5EF4-FFF2-40B4-BE49-F238E27FC236}">
                <a16:creationId xmlns:a16="http://schemas.microsoft.com/office/drawing/2014/main" id="{FE3FF5DB-8E8C-4944-8150-52175E1CD20F}"/>
              </a:ext>
            </a:extLst>
          </p:cNvPr>
          <p:cNvPicPr>
            <a:picLocks noChangeAspect="1"/>
          </p:cNvPicPr>
          <p:nvPr/>
        </p:nvPicPr>
        <p:blipFill>
          <a:blip r:embed="rId3"/>
          <a:stretch>
            <a:fillRect/>
          </a:stretch>
        </p:blipFill>
        <p:spPr>
          <a:xfrm>
            <a:off x="215656" y="1494250"/>
            <a:ext cx="5148823" cy="4476351"/>
          </a:xfrm>
          <a:prstGeom prst="rect">
            <a:avLst/>
          </a:prstGeom>
        </p:spPr>
      </p:pic>
    </p:spTree>
    <p:extLst>
      <p:ext uri="{BB962C8B-B14F-4D97-AF65-F5344CB8AC3E}">
        <p14:creationId xmlns:p14="http://schemas.microsoft.com/office/powerpoint/2010/main" val="25760087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2932584" y="357775"/>
            <a:ext cx="5728115" cy="879570"/>
          </a:xfrm>
        </p:spPr>
        <p:txBody>
          <a:bodyPr/>
          <a:lstStyle/>
          <a:p>
            <a:r>
              <a:rPr lang="en-AU" b="1" dirty="0">
                <a:solidFill>
                  <a:srgbClr val="00B050"/>
                </a:solidFill>
              </a:rPr>
              <a:t>Biochemical Processes</a:t>
            </a:r>
          </a:p>
        </p:txBody>
      </p:sp>
      <p:sp>
        <p:nvSpPr>
          <p:cNvPr id="3" name="Content Placeholder 2"/>
          <p:cNvSpPr>
            <a:spLocks noGrp="1"/>
          </p:cNvSpPr>
          <p:nvPr>
            <p:ph idx="1"/>
          </p:nvPr>
        </p:nvSpPr>
        <p:spPr>
          <a:xfrm>
            <a:off x="2510243" y="1671320"/>
            <a:ext cx="5987896" cy="4389120"/>
          </a:xfrm>
        </p:spPr>
        <p:txBody>
          <a:bodyPr>
            <a:normAutofit/>
          </a:bodyPr>
          <a:lstStyle/>
          <a:p>
            <a:r>
              <a:rPr lang="en-US" sz="2000" dirty="0"/>
              <a:t>Cellular metabolism is the term used to describe all the chemical reactions that occur in a cell.  Thousands of chemical reactions occur constantly in each living cell.</a:t>
            </a:r>
          </a:p>
          <a:p>
            <a:r>
              <a:rPr lang="en-US" sz="2000" dirty="0"/>
              <a:t>Rate of the reactions varies among organisms. </a:t>
            </a:r>
          </a:p>
          <a:p>
            <a:r>
              <a:rPr lang="en-US" sz="2000" dirty="0"/>
              <a:t>Metabolic reactions are controlled and regulated to: </a:t>
            </a:r>
          </a:p>
          <a:p>
            <a:pPr lvl="1"/>
            <a:r>
              <a:rPr lang="en-US" sz="2000" dirty="0"/>
              <a:t>maintain cell functions </a:t>
            </a:r>
          </a:p>
          <a:p>
            <a:pPr lvl="1"/>
            <a:r>
              <a:rPr lang="en-US" sz="2000" dirty="0"/>
              <a:t>meet the energy needs of the cell. </a:t>
            </a:r>
          </a:p>
          <a:p>
            <a:pPr marL="0" indent="0">
              <a:buNone/>
            </a:pPr>
            <a:endParaRPr lang="en-US" sz="1900" dirty="0"/>
          </a:p>
        </p:txBody>
      </p:sp>
      <p:pic>
        <p:nvPicPr>
          <p:cNvPr id="2050" name="Picture 2" descr="http://people.eku.edu/ritchisong/energyflowchart.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13999" y="2067560"/>
            <a:ext cx="2491232" cy="31140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9121662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91805" y="420910"/>
            <a:ext cx="3736755" cy="1214850"/>
          </a:xfrm>
        </p:spPr>
        <p:txBody>
          <a:bodyPr/>
          <a:lstStyle/>
          <a:p>
            <a:r>
              <a:rPr lang="en-AU" b="1" dirty="0">
                <a:solidFill>
                  <a:srgbClr val="00B050"/>
                </a:solidFill>
              </a:rPr>
              <a:t>Enzymes</a:t>
            </a:r>
          </a:p>
        </p:txBody>
      </p:sp>
      <p:sp>
        <p:nvSpPr>
          <p:cNvPr id="3" name="Content Placeholder 2"/>
          <p:cNvSpPr>
            <a:spLocks noGrp="1"/>
          </p:cNvSpPr>
          <p:nvPr>
            <p:ph idx="1"/>
          </p:nvPr>
        </p:nvSpPr>
        <p:spPr>
          <a:xfrm>
            <a:off x="1847532" y="1341120"/>
            <a:ext cx="7296468" cy="5242560"/>
          </a:xfrm>
        </p:spPr>
        <p:txBody>
          <a:bodyPr>
            <a:normAutofit/>
          </a:bodyPr>
          <a:lstStyle/>
          <a:p>
            <a:r>
              <a:rPr lang="en-US" sz="1900" dirty="0"/>
              <a:t>Enzymes control the type and duration of these reactions.  They do this by controlling each step in the pathway and speeding up the rate of chemical reactions without undergoing any change itself.</a:t>
            </a:r>
          </a:p>
          <a:p>
            <a:r>
              <a:rPr lang="en-US" sz="1900" dirty="0"/>
              <a:t>Without enzymes the reactions would occur so slow as to hardly proceed at all.</a:t>
            </a:r>
          </a:p>
          <a:p>
            <a:pPr marL="0" indent="0">
              <a:buNone/>
            </a:pPr>
            <a:endParaRPr lang="en-US" sz="1900" dirty="0"/>
          </a:p>
          <a:p>
            <a:r>
              <a:rPr lang="en-US" sz="1900" dirty="0"/>
              <a:t>Intracellular enzymes occur inside cells.  They speed up and control metabolic reactions.</a:t>
            </a:r>
          </a:p>
          <a:p>
            <a:endParaRPr lang="en-US" sz="1900" dirty="0"/>
          </a:p>
          <a:p>
            <a:r>
              <a:rPr lang="en-US" sz="1900" dirty="0"/>
              <a:t>Extracellular enzymes are produced by cells. They work outside the cell, e.g. digestive enzymes break down food in the small intestines.</a:t>
            </a:r>
          </a:p>
          <a:p>
            <a:endParaRPr lang="en-AU" dirty="0"/>
          </a:p>
        </p:txBody>
      </p:sp>
      <p:pic>
        <p:nvPicPr>
          <p:cNvPr id="5" name="Picture 4">
            <a:extLst>
              <a:ext uri="{FF2B5EF4-FFF2-40B4-BE49-F238E27FC236}">
                <a16:creationId xmlns:a16="http://schemas.microsoft.com/office/drawing/2014/main" id="{96C63DB4-8B5A-4994-A844-802B4F82EB30}"/>
              </a:ext>
            </a:extLst>
          </p:cNvPr>
          <p:cNvPicPr>
            <a:picLocks noChangeAspect="1"/>
          </p:cNvPicPr>
          <p:nvPr/>
        </p:nvPicPr>
        <p:blipFill>
          <a:blip r:embed="rId2"/>
          <a:stretch>
            <a:fillRect/>
          </a:stretch>
        </p:blipFill>
        <p:spPr>
          <a:xfrm>
            <a:off x="9144000" y="4507887"/>
            <a:ext cx="2895601" cy="2075793"/>
          </a:xfrm>
          <a:prstGeom prst="rect">
            <a:avLst/>
          </a:prstGeom>
        </p:spPr>
      </p:pic>
      <p:pic>
        <p:nvPicPr>
          <p:cNvPr id="7" name="Picture 6">
            <a:extLst>
              <a:ext uri="{FF2B5EF4-FFF2-40B4-BE49-F238E27FC236}">
                <a16:creationId xmlns:a16="http://schemas.microsoft.com/office/drawing/2014/main" id="{448926C0-E9FF-49FC-A7D7-C019AB903978}"/>
              </a:ext>
            </a:extLst>
          </p:cNvPr>
          <p:cNvPicPr>
            <a:picLocks noChangeAspect="1"/>
          </p:cNvPicPr>
          <p:nvPr/>
        </p:nvPicPr>
        <p:blipFill>
          <a:blip r:embed="rId3"/>
          <a:stretch>
            <a:fillRect/>
          </a:stretch>
        </p:blipFill>
        <p:spPr>
          <a:xfrm>
            <a:off x="9639301" y="1733550"/>
            <a:ext cx="2400300" cy="1695450"/>
          </a:xfrm>
          <a:prstGeom prst="rect">
            <a:avLst/>
          </a:prstGeom>
        </p:spPr>
      </p:pic>
    </p:spTree>
    <p:extLst>
      <p:ext uri="{BB962C8B-B14F-4D97-AF65-F5344CB8AC3E}">
        <p14:creationId xmlns:p14="http://schemas.microsoft.com/office/powerpoint/2010/main" val="409689498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274320"/>
            <a:ext cx="8911687" cy="1280890"/>
          </a:xfrm>
        </p:spPr>
        <p:txBody>
          <a:bodyPr/>
          <a:lstStyle/>
          <a:p>
            <a:r>
              <a:rPr lang="en-AU" b="1" dirty="0">
                <a:solidFill>
                  <a:srgbClr val="00B050"/>
                </a:solidFill>
              </a:rPr>
              <a:t>Types of Reactions</a:t>
            </a:r>
          </a:p>
        </p:txBody>
      </p:sp>
      <p:sp>
        <p:nvSpPr>
          <p:cNvPr id="3" name="Content Placeholder 2"/>
          <p:cNvSpPr>
            <a:spLocks noGrp="1"/>
          </p:cNvSpPr>
          <p:nvPr>
            <p:ph idx="1"/>
          </p:nvPr>
        </p:nvSpPr>
        <p:spPr>
          <a:xfrm>
            <a:off x="1853738" y="1487978"/>
            <a:ext cx="4414982" cy="5095702"/>
          </a:xfrm>
        </p:spPr>
        <p:txBody>
          <a:bodyPr>
            <a:normAutofit/>
          </a:bodyPr>
          <a:lstStyle/>
          <a:p>
            <a:r>
              <a:rPr lang="en-US" sz="2000" dirty="0"/>
              <a:t>Reactions that breakdown complex molecules to simpler fragments are called </a:t>
            </a:r>
            <a:r>
              <a:rPr lang="en-US" sz="2000" b="1" dirty="0"/>
              <a:t>catabolic</a:t>
            </a:r>
            <a:r>
              <a:rPr lang="en-US" sz="2000" dirty="0"/>
              <a:t> </a:t>
            </a:r>
            <a:r>
              <a:rPr lang="en-US" sz="2000" b="1" dirty="0"/>
              <a:t>reactions</a:t>
            </a:r>
            <a:r>
              <a:rPr lang="en-US" sz="2000" dirty="0"/>
              <a:t>. For example, starch polymer breaking down to simple glucose monomers.</a:t>
            </a:r>
          </a:p>
          <a:p>
            <a:endParaRPr lang="en-US" sz="2000" dirty="0"/>
          </a:p>
          <a:p>
            <a:r>
              <a:rPr lang="en-US" sz="2000" dirty="0"/>
              <a:t>Reactions that start with simple molecules to build more complex molecules  are called </a:t>
            </a:r>
            <a:r>
              <a:rPr lang="en-US" sz="2000" b="1" dirty="0"/>
              <a:t>anabolic</a:t>
            </a:r>
            <a:r>
              <a:rPr lang="en-US" sz="2000" dirty="0"/>
              <a:t> </a:t>
            </a:r>
            <a:r>
              <a:rPr lang="en-US" sz="2000" b="1" dirty="0"/>
              <a:t>reactions</a:t>
            </a:r>
            <a:r>
              <a:rPr lang="en-US" sz="2000" dirty="0"/>
              <a:t>. For example, amino acids form a polypeptide chain.</a:t>
            </a:r>
          </a:p>
          <a:p>
            <a:endParaRPr lang="en-AU" dirty="0"/>
          </a:p>
        </p:txBody>
      </p:sp>
      <p:pic>
        <p:nvPicPr>
          <p:cNvPr id="4" name="Picture 3"/>
          <p:cNvPicPr>
            <a:picLocks noChangeAspect="1"/>
          </p:cNvPicPr>
          <p:nvPr/>
        </p:nvPicPr>
        <p:blipFill rotWithShape="1">
          <a:blip r:embed="rId2"/>
          <a:srcRect t="4780"/>
          <a:stretch/>
        </p:blipFill>
        <p:spPr>
          <a:xfrm>
            <a:off x="7211551" y="508000"/>
            <a:ext cx="4572511" cy="3214206"/>
          </a:xfrm>
          <a:prstGeom prst="rect">
            <a:avLst/>
          </a:prstGeom>
        </p:spPr>
      </p:pic>
      <p:pic>
        <p:nvPicPr>
          <p:cNvPr id="4098" name="Picture 2" descr="http://4.bp.blogspot.com/-v-w8R9il-f0/U6GGhE0WBmI/AAAAAAAAAEk/NI02oR0fQME/s1600/13G-catabolism&amp;anabolism2.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11551" y="3955886"/>
            <a:ext cx="3187389" cy="27725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3160631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2295084" y="230632"/>
            <a:ext cx="4569219" cy="942094"/>
          </a:xfrm>
        </p:spPr>
        <p:txBody>
          <a:bodyPr/>
          <a:lstStyle/>
          <a:p>
            <a:r>
              <a:rPr lang="en-AU" b="1" dirty="0">
                <a:solidFill>
                  <a:srgbClr val="00B050"/>
                </a:solidFill>
              </a:rPr>
              <a:t>Types of Reactions</a:t>
            </a:r>
          </a:p>
        </p:txBody>
      </p:sp>
      <p:sp>
        <p:nvSpPr>
          <p:cNvPr id="3" name="Content Placeholder 2"/>
          <p:cNvSpPr>
            <a:spLocks noGrp="1"/>
          </p:cNvSpPr>
          <p:nvPr>
            <p:ph idx="1"/>
          </p:nvPr>
        </p:nvSpPr>
        <p:spPr>
          <a:xfrm>
            <a:off x="1963382" y="1196094"/>
            <a:ext cx="4703618" cy="5552440"/>
          </a:xfrm>
        </p:spPr>
        <p:txBody>
          <a:bodyPr>
            <a:normAutofit lnSpcReduction="10000"/>
          </a:bodyPr>
          <a:lstStyle/>
          <a:p>
            <a:r>
              <a:rPr lang="en-US" dirty="0"/>
              <a:t>Energy is required to make any reaction go. </a:t>
            </a:r>
            <a:r>
              <a:rPr lang="en-US" b="1" dirty="0"/>
              <a:t>Exergonic</a:t>
            </a:r>
            <a:r>
              <a:rPr lang="en-US" dirty="0"/>
              <a:t> reactions (‘</a:t>
            </a:r>
            <a:r>
              <a:rPr lang="en-US" dirty="0" err="1"/>
              <a:t>exo</a:t>
            </a:r>
            <a:r>
              <a:rPr lang="en-US" dirty="0"/>
              <a:t>’ = out) are those that release surplus energy as the reaction forms products.  When molecular bonds are broken, energy is released.  It makes sense that when a large molecule is broken down to smaller molecules, a large amount of energy is released. Therefore, </a:t>
            </a:r>
            <a:r>
              <a:rPr lang="en-US" b="1" dirty="0"/>
              <a:t>catabolic reactions are exergonic reactions</a:t>
            </a:r>
            <a:r>
              <a:rPr lang="en-US" dirty="0"/>
              <a:t>. </a:t>
            </a:r>
          </a:p>
          <a:p>
            <a:r>
              <a:rPr lang="en-US" dirty="0"/>
              <a:t>Reactions that require more energy to go are </a:t>
            </a:r>
            <a:r>
              <a:rPr lang="en-US" b="1" dirty="0"/>
              <a:t>endergonic</a:t>
            </a:r>
            <a:r>
              <a:rPr lang="en-US" dirty="0"/>
              <a:t> reaction (‘</a:t>
            </a:r>
            <a:r>
              <a:rPr lang="en-US" dirty="0" err="1"/>
              <a:t>endo</a:t>
            </a:r>
            <a:r>
              <a:rPr lang="en-US" dirty="0"/>
              <a:t>’ = in). When proteins are built up from amino acids, energy is used. </a:t>
            </a:r>
            <a:r>
              <a:rPr lang="en-US" b="1" dirty="0"/>
              <a:t>Anabolic reactions are always endergonic</a:t>
            </a:r>
            <a:r>
              <a:rPr lang="en-US" dirty="0"/>
              <a:t>. </a:t>
            </a:r>
          </a:p>
          <a:p>
            <a:r>
              <a:rPr lang="en-US" dirty="0"/>
              <a:t>Cells use the available energy released from catabolic reactions to fuel anabolic reactions. </a:t>
            </a:r>
          </a:p>
          <a:p>
            <a:endParaRPr lang="en-US" dirty="0"/>
          </a:p>
          <a:p>
            <a:endParaRPr lang="en-AU" dirty="0"/>
          </a:p>
        </p:txBody>
      </p:sp>
      <p:pic>
        <p:nvPicPr>
          <p:cNvPr id="6" name="Picture 5"/>
          <p:cNvPicPr>
            <a:picLocks noChangeAspect="1"/>
          </p:cNvPicPr>
          <p:nvPr/>
        </p:nvPicPr>
        <p:blipFill>
          <a:blip r:embed="rId2"/>
          <a:stretch>
            <a:fillRect/>
          </a:stretch>
        </p:blipFill>
        <p:spPr>
          <a:xfrm>
            <a:off x="6939718" y="230632"/>
            <a:ext cx="4904266" cy="2993513"/>
          </a:xfrm>
          <a:prstGeom prst="rect">
            <a:avLst/>
          </a:prstGeom>
        </p:spPr>
      </p:pic>
      <p:pic>
        <p:nvPicPr>
          <p:cNvPr id="8" name="Picture 7">
            <a:extLst>
              <a:ext uri="{FF2B5EF4-FFF2-40B4-BE49-F238E27FC236}">
                <a16:creationId xmlns:a16="http://schemas.microsoft.com/office/drawing/2014/main" id="{AB2145EB-A5FB-4141-95BD-16B4559AADD0}"/>
              </a:ext>
            </a:extLst>
          </p:cNvPr>
          <p:cNvPicPr>
            <a:picLocks noChangeAspect="1"/>
          </p:cNvPicPr>
          <p:nvPr/>
        </p:nvPicPr>
        <p:blipFill>
          <a:blip r:embed="rId3"/>
          <a:stretch>
            <a:fillRect/>
          </a:stretch>
        </p:blipFill>
        <p:spPr>
          <a:xfrm>
            <a:off x="6987388" y="3429000"/>
            <a:ext cx="4904266" cy="3396835"/>
          </a:xfrm>
          <a:prstGeom prst="rect">
            <a:avLst/>
          </a:prstGeom>
        </p:spPr>
      </p:pic>
    </p:spTree>
    <p:extLst>
      <p:ext uri="{BB962C8B-B14F-4D97-AF65-F5344CB8AC3E}">
        <p14:creationId xmlns:p14="http://schemas.microsoft.com/office/powerpoint/2010/main" val="127829024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61627" y="269776"/>
            <a:ext cx="6020460" cy="804880"/>
          </a:xfrm>
        </p:spPr>
        <p:txBody>
          <a:bodyPr/>
          <a:lstStyle/>
          <a:p>
            <a:r>
              <a:rPr lang="en-AU" b="1" dirty="0">
                <a:solidFill>
                  <a:srgbClr val="00B050"/>
                </a:solidFill>
              </a:rPr>
              <a:t>Biochemical Processes</a:t>
            </a:r>
          </a:p>
        </p:txBody>
      </p:sp>
      <p:sp>
        <p:nvSpPr>
          <p:cNvPr id="3" name="Content Placeholder 2"/>
          <p:cNvSpPr>
            <a:spLocks noGrp="1"/>
          </p:cNvSpPr>
          <p:nvPr>
            <p:ph idx="1"/>
          </p:nvPr>
        </p:nvSpPr>
        <p:spPr>
          <a:xfrm>
            <a:off x="2297373" y="1189971"/>
            <a:ext cx="8816829" cy="4104456"/>
          </a:xfrm>
        </p:spPr>
        <p:txBody>
          <a:bodyPr>
            <a:normAutofit/>
          </a:bodyPr>
          <a:lstStyle/>
          <a:p>
            <a:r>
              <a:rPr lang="en-US" dirty="0"/>
              <a:t>Many cellular processes involve many reaction steps. At each step, reactants react to form new products, which themselves become reactants for the next step in the reaction chain, until the final products are formed.</a:t>
            </a:r>
          </a:p>
          <a:p>
            <a:r>
              <a:rPr lang="en-US" dirty="0"/>
              <a:t>If products build up and are not removed, the reaction might slow down to the point that the whole pathway is slowed.</a:t>
            </a:r>
          </a:p>
          <a:p>
            <a:r>
              <a:rPr lang="en-US" dirty="0"/>
              <a:t>Fortunately, the products formed at each step are consumed by the next step in the pathway, or are removed in a variety of ways, ensuring the reactions continue in the right direction.</a:t>
            </a:r>
          </a:p>
          <a:p>
            <a:r>
              <a:rPr lang="en-US" dirty="0"/>
              <a:t>Photosynthesis and respiration are two pathways controlled and regulated by enzymes.</a:t>
            </a:r>
          </a:p>
          <a:p>
            <a:endParaRPr lang="en-AU" dirty="0"/>
          </a:p>
        </p:txBody>
      </p:sp>
      <p:pic>
        <p:nvPicPr>
          <p:cNvPr id="4" name="Picture 3"/>
          <p:cNvPicPr>
            <a:picLocks noChangeAspect="1"/>
          </p:cNvPicPr>
          <p:nvPr/>
        </p:nvPicPr>
        <p:blipFill rotWithShape="1">
          <a:blip r:embed="rId3"/>
          <a:srcRect r="2206"/>
          <a:stretch/>
        </p:blipFill>
        <p:spPr>
          <a:xfrm>
            <a:off x="2927648" y="4958499"/>
            <a:ext cx="7750018" cy="1629725"/>
          </a:xfrm>
          <a:prstGeom prst="rect">
            <a:avLst/>
          </a:prstGeom>
        </p:spPr>
      </p:pic>
    </p:spTree>
    <p:extLst>
      <p:ext uri="{BB962C8B-B14F-4D97-AF65-F5344CB8AC3E}">
        <p14:creationId xmlns:p14="http://schemas.microsoft.com/office/powerpoint/2010/main" val="424241980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60949" y="893640"/>
            <a:ext cx="8911687" cy="721214"/>
          </a:xfrm>
        </p:spPr>
        <p:txBody>
          <a:bodyPr/>
          <a:lstStyle/>
          <a:p>
            <a:r>
              <a:rPr lang="en-AU" dirty="0">
                <a:solidFill>
                  <a:srgbClr val="00B050"/>
                </a:solidFill>
              </a:rPr>
              <a:t>Learning Intentions</a:t>
            </a:r>
          </a:p>
        </p:txBody>
      </p:sp>
      <p:sp>
        <p:nvSpPr>
          <p:cNvPr id="3" name="Content Placeholder 2"/>
          <p:cNvSpPr>
            <a:spLocks noGrp="1"/>
          </p:cNvSpPr>
          <p:nvPr>
            <p:ph idx="1"/>
          </p:nvPr>
        </p:nvSpPr>
        <p:spPr>
          <a:xfrm>
            <a:off x="2460949" y="1614854"/>
            <a:ext cx="8587265" cy="2081049"/>
          </a:xfrm>
        </p:spPr>
        <p:txBody>
          <a:bodyPr>
            <a:normAutofit/>
          </a:bodyPr>
          <a:lstStyle/>
          <a:p>
            <a:pPr marL="0" lvl="0" indent="0">
              <a:buNone/>
            </a:pPr>
            <a:r>
              <a:rPr lang="en-AU" dirty="0"/>
              <a:t>Understand:</a:t>
            </a:r>
          </a:p>
          <a:p>
            <a:pPr lvl="0"/>
            <a:r>
              <a:rPr lang="en-AU" dirty="0"/>
              <a:t>biological molecules are synthesised from monomers to produce complex structures, including carbohydrates, proteins and lipids.</a:t>
            </a:r>
          </a:p>
          <a:p>
            <a:pPr lvl="0"/>
            <a:r>
              <a:rPr lang="en-AU" dirty="0"/>
              <a:t>biochemical processes in the cell are controlled by factors, including the nature and arrangement of internal membranes, and the presence of specific enzymes.</a:t>
            </a:r>
          </a:p>
          <a:p>
            <a:pPr lvl="0"/>
            <a:endParaRPr lang="en-AU" dirty="0"/>
          </a:p>
          <a:p>
            <a:pPr marL="0" indent="0">
              <a:buNone/>
            </a:pPr>
            <a:endParaRPr lang="en-AU" dirty="0"/>
          </a:p>
        </p:txBody>
      </p:sp>
      <p:sp>
        <p:nvSpPr>
          <p:cNvPr id="4" name="Title 1"/>
          <p:cNvSpPr txBox="1">
            <a:spLocks/>
          </p:cNvSpPr>
          <p:nvPr/>
        </p:nvSpPr>
        <p:spPr>
          <a:xfrm>
            <a:off x="2460949" y="3800495"/>
            <a:ext cx="8911687" cy="721214"/>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2">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dirty="0">
                <a:solidFill>
                  <a:srgbClr val="00B050"/>
                </a:solidFill>
              </a:rPr>
              <a:t>Success Criteria</a:t>
            </a:r>
          </a:p>
        </p:txBody>
      </p:sp>
      <p:sp>
        <p:nvSpPr>
          <p:cNvPr id="5" name="Content Placeholder 2"/>
          <p:cNvSpPr txBox="1">
            <a:spLocks/>
          </p:cNvSpPr>
          <p:nvPr/>
        </p:nvSpPr>
        <p:spPr>
          <a:xfrm>
            <a:off x="2460949" y="4486031"/>
            <a:ext cx="8915400" cy="2528993"/>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buFont typeface="Wingdings 3" charset="2"/>
              <a:buNone/>
            </a:pPr>
            <a:r>
              <a:rPr lang="en-AU" dirty="0"/>
              <a:t>Can you:</a:t>
            </a:r>
          </a:p>
          <a:p>
            <a:r>
              <a:rPr lang="en-AU" dirty="0"/>
              <a:t>Define the terms monomer and polymer.</a:t>
            </a:r>
          </a:p>
          <a:p>
            <a:r>
              <a:rPr lang="en-AU" dirty="0"/>
              <a:t>Explain the chemical composition of proteins, carbohydrates, nucleic acids and lipids and list important biological roles of these macromolecules.</a:t>
            </a:r>
          </a:p>
          <a:p>
            <a:r>
              <a:rPr lang="en-AU" dirty="0"/>
              <a:t>Describe anabolic and catabolic reactions.</a:t>
            </a:r>
          </a:p>
          <a:p>
            <a:endParaRPr lang="en-AU" dirty="0"/>
          </a:p>
          <a:p>
            <a:endParaRPr lang="en-AU" dirty="0"/>
          </a:p>
        </p:txBody>
      </p:sp>
      <p:pic>
        <p:nvPicPr>
          <p:cNvPr id="6" name="Picture 5">
            <a:extLst>
              <a:ext uri="{FF2B5EF4-FFF2-40B4-BE49-F238E27FC236}">
                <a16:creationId xmlns:a16="http://schemas.microsoft.com/office/drawing/2014/main" id="{67A3A76A-B41A-4B39-9E79-E8F1316C0AA6}"/>
              </a:ext>
            </a:extLst>
          </p:cNvPr>
          <p:cNvPicPr>
            <a:picLocks noChangeAspect="1"/>
          </p:cNvPicPr>
          <p:nvPr/>
        </p:nvPicPr>
        <p:blipFill>
          <a:blip r:embed="rId2"/>
          <a:stretch>
            <a:fillRect/>
          </a:stretch>
        </p:blipFill>
        <p:spPr>
          <a:xfrm>
            <a:off x="7303156" y="248820"/>
            <a:ext cx="3392465" cy="1572444"/>
          </a:xfrm>
          <a:prstGeom prst="rect">
            <a:avLst/>
          </a:prstGeom>
        </p:spPr>
      </p:pic>
    </p:spTree>
    <p:extLst>
      <p:ext uri="{BB962C8B-B14F-4D97-AF65-F5344CB8AC3E}">
        <p14:creationId xmlns:p14="http://schemas.microsoft.com/office/powerpoint/2010/main" val="56497434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07705" y="501561"/>
            <a:ext cx="6503941" cy="1023879"/>
          </a:xfrm>
        </p:spPr>
        <p:txBody>
          <a:bodyPr/>
          <a:lstStyle/>
          <a:p>
            <a:r>
              <a:rPr lang="en-AU" b="1" dirty="0">
                <a:solidFill>
                  <a:srgbClr val="00B050"/>
                </a:solidFill>
              </a:rPr>
              <a:t>Moodle &amp; Textbook Work</a:t>
            </a:r>
          </a:p>
        </p:txBody>
      </p:sp>
      <p:sp>
        <p:nvSpPr>
          <p:cNvPr id="6" name="Content Placeholder 2"/>
          <p:cNvSpPr txBox="1">
            <a:spLocks/>
          </p:cNvSpPr>
          <p:nvPr/>
        </p:nvSpPr>
        <p:spPr>
          <a:xfrm>
            <a:off x="5174879" y="1849310"/>
            <a:ext cx="5865642" cy="3213539"/>
          </a:xfrm>
          <a:prstGeom prst="rect">
            <a:avLst/>
          </a:prstGeom>
        </p:spPr>
        <p:txBody>
          <a:bodyPr vert="horz">
            <a:normAutofit fontScale="92500"/>
          </a:bodyPr>
          <a:lst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a:lstStyle>
          <a:p>
            <a:r>
              <a:rPr lang="en-AU" dirty="0"/>
              <a:t>Textbook pages 253-256 &amp; 310-312.</a:t>
            </a:r>
          </a:p>
          <a:p>
            <a:r>
              <a:rPr lang="en-AU" dirty="0"/>
              <a:t>Academic Associates Chapter 4.3.</a:t>
            </a:r>
          </a:p>
          <a:p>
            <a:r>
              <a:rPr lang="en-AU" dirty="0"/>
              <a:t>Trial Test 8.</a:t>
            </a:r>
          </a:p>
          <a:p>
            <a:pPr marL="0" indent="0">
              <a:buNone/>
            </a:pPr>
            <a:endParaRPr lang="en-AU" dirty="0"/>
          </a:p>
          <a:p>
            <a:endParaRPr lang="en-AU" dirty="0"/>
          </a:p>
          <a:p>
            <a:r>
              <a:rPr lang="en-AU" dirty="0"/>
              <a:t>Task due next week! </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37119" y="1594786"/>
            <a:ext cx="2268263" cy="2974202"/>
          </a:xfrm>
          <a:prstGeom prst="rect">
            <a:avLst/>
          </a:prstGeom>
        </p:spPr>
      </p:pic>
      <p:pic>
        <p:nvPicPr>
          <p:cNvPr id="5" name="Picture 4">
            <a:extLst>
              <a:ext uri="{FF2B5EF4-FFF2-40B4-BE49-F238E27FC236}">
                <a16:creationId xmlns:a16="http://schemas.microsoft.com/office/drawing/2014/main" id="{FB5F09EB-AE6C-4345-A94C-F6CBF859E3E5}"/>
              </a:ext>
            </a:extLst>
          </p:cNvPr>
          <p:cNvPicPr>
            <a:picLocks noChangeAspect="1"/>
          </p:cNvPicPr>
          <p:nvPr/>
        </p:nvPicPr>
        <p:blipFill>
          <a:blip r:embed="rId3"/>
          <a:stretch>
            <a:fillRect/>
          </a:stretch>
        </p:blipFill>
        <p:spPr>
          <a:xfrm>
            <a:off x="3829050" y="4831486"/>
            <a:ext cx="8191500" cy="1847850"/>
          </a:xfrm>
          <a:prstGeom prst="rect">
            <a:avLst/>
          </a:prstGeom>
        </p:spPr>
      </p:pic>
    </p:spTree>
    <p:extLst>
      <p:ext uri="{BB962C8B-B14F-4D97-AF65-F5344CB8AC3E}">
        <p14:creationId xmlns:p14="http://schemas.microsoft.com/office/powerpoint/2010/main" val="6654892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a:solidFill>
                  <a:srgbClr val="00B050"/>
                </a:solidFill>
              </a:rPr>
              <a:t>Student Feedback</a:t>
            </a:r>
          </a:p>
        </p:txBody>
      </p:sp>
      <p:sp>
        <p:nvSpPr>
          <p:cNvPr id="3" name="Content Placeholder 2"/>
          <p:cNvSpPr>
            <a:spLocks noGrp="1"/>
          </p:cNvSpPr>
          <p:nvPr>
            <p:ph sz="quarter" idx="1"/>
          </p:nvPr>
        </p:nvSpPr>
        <p:spPr/>
        <p:txBody>
          <a:bodyPr/>
          <a:lstStyle/>
          <a:p>
            <a:r>
              <a:rPr lang="en-AU" sz="2200" dirty="0"/>
              <a:t>What I learnt today…..</a:t>
            </a:r>
          </a:p>
          <a:p>
            <a:endParaRPr lang="en-AU" sz="2200" dirty="0"/>
          </a:p>
          <a:p>
            <a:endParaRPr lang="en-AU" sz="2200" dirty="0"/>
          </a:p>
          <a:p>
            <a:endParaRPr lang="en-AU" sz="2200" dirty="0"/>
          </a:p>
          <a:p>
            <a:r>
              <a:rPr lang="en-AU" sz="2200" dirty="0"/>
              <a:t>What I need to revise….</a:t>
            </a:r>
          </a:p>
          <a:p>
            <a:endParaRPr lang="en-AU" dirty="0"/>
          </a:p>
          <a:p>
            <a:endParaRPr lang="en-AU" dirty="0"/>
          </a:p>
          <a:p>
            <a:pPr marL="0" indent="0">
              <a:buNone/>
            </a:pPr>
            <a:endParaRPr lang="en-AU" dirty="0"/>
          </a:p>
        </p:txBody>
      </p:sp>
    </p:spTree>
    <p:extLst>
      <p:ext uri="{BB962C8B-B14F-4D97-AF65-F5344CB8AC3E}">
        <p14:creationId xmlns:p14="http://schemas.microsoft.com/office/powerpoint/2010/main" val="4012228618"/>
      </p:ext>
    </p:extLst>
  </p:cSld>
  <p:clrMapOvr>
    <a:masterClrMapping/>
  </p:clrMapOvr>
</p:sld>
</file>

<file path=ppt/theme/theme1.xml><?xml version="1.0" encoding="utf-8"?>
<a:theme xmlns:a="http://schemas.openxmlformats.org/drawingml/2006/main" name="Wisp">
  <a:themeElements>
    <a:clrScheme name="Red Orange">
      <a:dk1>
        <a:sysClr val="windowText" lastClr="000000"/>
      </a:dk1>
      <a:lt1>
        <a:sysClr val="window" lastClr="FFFFFF"/>
      </a:lt1>
      <a:dk2>
        <a:srgbClr val="505046"/>
      </a:dk2>
      <a:lt2>
        <a:srgbClr val="EEECE1"/>
      </a:lt2>
      <a:accent1>
        <a:srgbClr val="E84C22"/>
      </a:accent1>
      <a:accent2>
        <a:srgbClr val="FFBD47"/>
      </a:accent2>
      <a:accent3>
        <a:srgbClr val="B64926"/>
      </a:accent3>
      <a:accent4>
        <a:srgbClr val="FF8427"/>
      </a:accent4>
      <a:accent5>
        <a:srgbClr val="CC9900"/>
      </a:accent5>
      <a:accent6>
        <a:srgbClr val="B22600"/>
      </a:accent6>
      <a:hlink>
        <a:srgbClr val="CC9900"/>
      </a:hlink>
      <a:folHlink>
        <a:srgbClr val="666699"/>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4F34B87B-9C7A-41AE-A6CB-48536223DFF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860</TotalTime>
  <Words>2605</Words>
  <Application>Microsoft Office PowerPoint</Application>
  <PresentationFormat>Widescreen</PresentationFormat>
  <Paragraphs>278</Paragraphs>
  <Slides>35</Slides>
  <Notes>13</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35</vt:i4>
      </vt:variant>
    </vt:vector>
  </HeadingPairs>
  <TitlesOfParts>
    <vt:vector size="44" baseType="lpstr">
      <vt:lpstr>Arial</vt:lpstr>
      <vt:lpstr>Calibri</vt:lpstr>
      <vt:lpstr>Calibri Light</vt:lpstr>
      <vt:lpstr>Century Gothic</vt:lpstr>
      <vt:lpstr>Open Sans</vt:lpstr>
      <vt:lpstr>Wingdings 2</vt:lpstr>
      <vt:lpstr>Wingdings 3</vt:lpstr>
      <vt:lpstr>Wisp</vt:lpstr>
      <vt:lpstr>Office Theme</vt:lpstr>
      <vt:lpstr>11ATAR Biology Week 23 - Biological Molecules</vt:lpstr>
      <vt:lpstr>PowerPoint Presentation</vt:lpstr>
      <vt:lpstr>Year 11 Biology Work Schedule</vt:lpstr>
      <vt:lpstr>Review</vt:lpstr>
      <vt:lpstr>Learning Intentions</vt:lpstr>
      <vt:lpstr>Macromolecules</vt:lpstr>
      <vt:lpstr>What do you know?</vt:lpstr>
      <vt:lpstr>Carbohydrates</vt:lpstr>
      <vt:lpstr>Carbohydrates</vt:lpstr>
      <vt:lpstr>Carbohydrate structures</vt:lpstr>
      <vt:lpstr>Carbohydrate structures</vt:lpstr>
      <vt:lpstr>Carbohydrate structures</vt:lpstr>
      <vt:lpstr>Lipids</vt:lpstr>
      <vt:lpstr>Biological Roles of Lipids</vt:lpstr>
      <vt:lpstr>Biological Roles of Lipids</vt:lpstr>
      <vt:lpstr>Lipid Structures</vt:lpstr>
      <vt:lpstr>Proteins</vt:lpstr>
      <vt:lpstr>Proteins</vt:lpstr>
      <vt:lpstr>Nucleotides</vt:lpstr>
      <vt:lpstr>Learning Intentions</vt:lpstr>
      <vt:lpstr>Moodle &amp; Textbook Work</vt:lpstr>
      <vt:lpstr>Student Feedback</vt:lpstr>
      <vt:lpstr>PowerPoint Presentation</vt:lpstr>
      <vt:lpstr>Quick Questions</vt:lpstr>
      <vt:lpstr>Nucleic Acid</vt:lpstr>
      <vt:lpstr>Biochemical Processes</vt:lpstr>
      <vt:lpstr>Biochemical Processes</vt:lpstr>
      <vt:lpstr>Biochemical Processes</vt:lpstr>
      <vt:lpstr>Enzymes</vt:lpstr>
      <vt:lpstr>Types of Reactions</vt:lpstr>
      <vt:lpstr>Types of Reactions</vt:lpstr>
      <vt:lpstr>Biochemical Processes</vt:lpstr>
      <vt:lpstr>Learning Intentions</vt:lpstr>
      <vt:lpstr>Moodle &amp; Textbook Work</vt:lpstr>
      <vt:lpstr>Student Feedback</vt:lpstr>
    </vt:vector>
  </TitlesOfParts>
  <Company>Department of Education Western Australia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Biological Molecules</dc:title>
  <dc:creator>HARDINGHAM Gillian [SIDE - Sch of Isol &amp; Dist Edu]</dc:creator>
  <cp:lastModifiedBy>HARTLAND Robbert [SIDE - Sch of Isol &amp; Dist Edu]</cp:lastModifiedBy>
  <cp:revision>52</cp:revision>
  <dcterms:created xsi:type="dcterms:W3CDTF">2019-11-27T05:45:58Z</dcterms:created>
  <dcterms:modified xsi:type="dcterms:W3CDTF">2023-08-02T01:14:22Z</dcterms:modified>
</cp:coreProperties>
</file>