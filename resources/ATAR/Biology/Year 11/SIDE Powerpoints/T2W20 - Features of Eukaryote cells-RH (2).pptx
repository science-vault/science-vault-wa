
<file path=[Content_Types].xml><?xml version="1.0" encoding="utf-8"?>
<Types xmlns="http://schemas.openxmlformats.org/package/2006/content-types">
  <Default Extension="bin" ContentType="audio/unknown"/>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notesMasterIdLst>
    <p:notesMasterId r:id="rId52"/>
  </p:notesMasterIdLst>
  <p:sldIdLst>
    <p:sldId id="256" r:id="rId2"/>
    <p:sldId id="303" r:id="rId3"/>
    <p:sldId id="316" r:id="rId4"/>
    <p:sldId id="304" r:id="rId5"/>
    <p:sldId id="318" r:id="rId6"/>
    <p:sldId id="319" r:id="rId7"/>
    <p:sldId id="282" r:id="rId8"/>
    <p:sldId id="259" r:id="rId9"/>
    <p:sldId id="260" r:id="rId10"/>
    <p:sldId id="288" r:id="rId11"/>
    <p:sldId id="291" r:id="rId12"/>
    <p:sldId id="293" r:id="rId13"/>
    <p:sldId id="294" r:id="rId14"/>
    <p:sldId id="305" r:id="rId15"/>
    <p:sldId id="299" r:id="rId16"/>
    <p:sldId id="301" r:id="rId17"/>
    <p:sldId id="290" r:id="rId18"/>
    <p:sldId id="261" r:id="rId19"/>
    <p:sldId id="262" r:id="rId20"/>
    <p:sldId id="263" r:id="rId21"/>
    <p:sldId id="264" r:id="rId22"/>
    <p:sldId id="321" r:id="rId23"/>
    <p:sldId id="322" r:id="rId24"/>
    <p:sldId id="323" r:id="rId25"/>
    <p:sldId id="324" r:id="rId26"/>
    <p:sldId id="320" r:id="rId27"/>
    <p:sldId id="265" r:id="rId28"/>
    <p:sldId id="266" r:id="rId29"/>
    <p:sldId id="267" r:id="rId30"/>
    <p:sldId id="268" r:id="rId31"/>
    <p:sldId id="269" r:id="rId32"/>
    <p:sldId id="270" r:id="rId33"/>
    <p:sldId id="271" r:id="rId34"/>
    <p:sldId id="272" r:id="rId35"/>
    <p:sldId id="274" r:id="rId36"/>
    <p:sldId id="275" r:id="rId37"/>
    <p:sldId id="273" r:id="rId38"/>
    <p:sldId id="277" r:id="rId39"/>
    <p:sldId id="278" r:id="rId40"/>
    <p:sldId id="279" r:id="rId41"/>
    <p:sldId id="309" r:id="rId42"/>
    <p:sldId id="314" r:id="rId43"/>
    <p:sldId id="310" r:id="rId44"/>
    <p:sldId id="315" r:id="rId45"/>
    <p:sldId id="286" r:id="rId46"/>
    <p:sldId id="287" r:id="rId47"/>
    <p:sldId id="302" r:id="rId48"/>
    <p:sldId id="283" r:id="rId49"/>
    <p:sldId id="311" r:id="rId50"/>
    <p:sldId id="306"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493" autoAdjust="0"/>
  </p:normalViewPr>
  <p:slideViewPr>
    <p:cSldViewPr>
      <p:cViewPr varScale="1">
        <p:scale>
          <a:sx n="112" d="100"/>
          <a:sy n="112" d="100"/>
        </p:scale>
        <p:origin x="106" y="8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5A3337-B044-462E-966D-BE212D717E92}" type="datetimeFigureOut">
              <a:rPr lang="en-AU" smtClean="0"/>
              <a:t>26/06/2023</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9AF0EC-87AA-4D79-8556-1C0AB2E93A09}" type="slidenum">
              <a:rPr lang="en-AU" smtClean="0"/>
              <a:t>‹#›</a:t>
            </a:fld>
            <a:endParaRPr lang="en-AU"/>
          </a:p>
        </p:txBody>
      </p:sp>
    </p:spTree>
    <p:extLst>
      <p:ext uri="{BB962C8B-B14F-4D97-AF65-F5344CB8AC3E}">
        <p14:creationId xmlns:p14="http://schemas.microsoft.com/office/powerpoint/2010/main" val="1077278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B</a:t>
            </a:r>
          </a:p>
          <a:p>
            <a:r>
              <a:rPr lang="en-AU" dirty="0"/>
              <a:t>A</a:t>
            </a:r>
          </a:p>
        </p:txBody>
      </p:sp>
      <p:sp>
        <p:nvSpPr>
          <p:cNvPr id="4" name="Slide Number Placeholder 3"/>
          <p:cNvSpPr>
            <a:spLocks noGrp="1"/>
          </p:cNvSpPr>
          <p:nvPr>
            <p:ph type="sldNum" sz="quarter" idx="10"/>
          </p:nvPr>
        </p:nvSpPr>
        <p:spPr/>
        <p:txBody>
          <a:bodyPr/>
          <a:lstStyle/>
          <a:p>
            <a:fld id="{8C9AF0EC-87AA-4D79-8556-1C0AB2E93A09}" type="slidenum">
              <a:rPr lang="en-AU" smtClean="0"/>
              <a:t>3</a:t>
            </a:fld>
            <a:endParaRPr lang="en-AU"/>
          </a:p>
        </p:txBody>
      </p:sp>
    </p:spTree>
    <p:extLst>
      <p:ext uri="{BB962C8B-B14F-4D97-AF65-F5344CB8AC3E}">
        <p14:creationId xmlns:p14="http://schemas.microsoft.com/office/powerpoint/2010/main" val="2371289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FD18230E-09C4-4797-9E46-50A80F2D08B0}" type="slidenum">
              <a:rPr lang="en-US"/>
              <a:pPr/>
              <a:t>8</a:t>
            </a:fld>
            <a:endParaRPr lang="en-US"/>
          </a:p>
        </p:txBody>
      </p:sp>
      <p:sp>
        <p:nvSpPr>
          <p:cNvPr id="172034" name="Rectangle 2"/>
          <p:cNvSpPr>
            <a:spLocks noGrp="1" noRot="1" noChangeAspect="1" noChangeArrowheads="1" noTextEdit="1"/>
          </p:cNvSpPr>
          <p:nvPr>
            <p:ph type="sldImg"/>
          </p:nvPr>
        </p:nvSpPr>
        <p:spPr>
          <a:ln/>
        </p:spPr>
      </p:sp>
      <p:sp>
        <p:nvSpPr>
          <p:cNvPr id="172035" name="Rectangle 3"/>
          <p:cNvSpPr>
            <a:spLocks noGrp="1"/>
          </p:cNvSpPr>
          <p:nvPr>
            <p:ph type="body" idx="1"/>
          </p:nvPr>
        </p:nvSpPr>
        <p:spPr/>
        <p:txBody>
          <a:bodyPr/>
          <a:lstStyle/>
          <a:p>
            <a:endParaRPr lang="en-US"/>
          </a:p>
        </p:txBody>
      </p:sp>
    </p:spTree>
    <p:extLst>
      <p:ext uri="{BB962C8B-B14F-4D97-AF65-F5344CB8AC3E}">
        <p14:creationId xmlns:p14="http://schemas.microsoft.com/office/powerpoint/2010/main" val="3238400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5892B95D-F37C-4D83-A560-0612651153E7}" type="slidenum">
              <a:rPr lang="en-US"/>
              <a:pPr/>
              <a:t>9</a:t>
            </a:fld>
            <a:endParaRPr lang="en-US"/>
          </a:p>
        </p:txBody>
      </p:sp>
      <p:sp>
        <p:nvSpPr>
          <p:cNvPr id="173058" name="Rectangle 2"/>
          <p:cNvSpPr>
            <a:spLocks noGrp="1" noRot="1" noChangeAspect="1" noChangeArrowheads="1" noTextEdit="1"/>
          </p:cNvSpPr>
          <p:nvPr>
            <p:ph type="sldImg"/>
          </p:nvPr>
        </p:nvSpPr>
        <p:spPr>
          <a:ln/>
        </p:spPr>
      </p:sp>
      <p:sp>
        <p:nvSpPr>
          <p:cNvPr id="173059" name="Rectangle 3"/>
          <p:cNvSpPr>
            <a:spLocks noGrp="1"/>
          </p:cNvSpPr>
          <p:nvPr>
            <p:ph type="body" idx="1"/>
          </p:nvPr>
        </p:nvSpPr>
        <p:spPr/>
        <p:txBody>
          <a:bodyPr/>
          <a:lstStyle/>
          <a:p>
            <a:r>
              <a:rPr lang="en-US" dirty="0"/>
              <a:t>Integral and peripheral proteins</a:t>
            </a:r>
          </a:p>
          <a:p>
            <a:r>
              <a:rPr lang="en-US" dirty="0"/>
              <a:t>Desmosomes =cell</a:t>
            </a:r>
            <a:r>
              <a:rPr lang="en-US" baseline="0" dirty="0"/>
              <a:t> to cell adhesions.</a:t>
            </a:r>
          </a:p>
          <a:p>
            <a:r>
              <a:rPr lang="en-US" baseline="0" dirty="0"/>
              <a:t>1 micron = 1000 nanometers</a:t>
            </a:r>
            <a:endParaRPr lang="en-US" dirty="0"/>
          </a:p>
        </p:txBody>
      </p:sp>
    </p:spTree>
    <p:extLst>
      <p:ext uri="{BB962C8B-B14F-4D97-AF65-F5344CB8AC3E}">
        <p14:creationId xmlns:p14="http://schemas.microsoft.com/office/powerpoint/2010/main" val="3759271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040C28"/>
                </a:solidFill>
                <a:effectLst/>
                <a:latin typeface="Google Sans"/>
              </a:rPr>
              <a:t>Cholesterol plays important roles in maintaining the structural integrity and regulating the fluidity of cell membranes.</a:t>
            </a:r>
            <a:endParaRPr lang="en-AU" dirty="0"/>
          </a:p>
        </p:txBody>
      </p:sp>
      <p:sp>
        <p:nvSpPr>
          <p:cNvPr id="4" name="Slide Number Placeholder 3"/>
          <p:cNvSpPr>
            <a:spLocks noGrp="1"/>
          </p:cNvSpPr>
          <p:nvPr>
            <p:ph type="sldNum" sz="quarter" idx="5"/>
          </p:nvPr>
        </p:nvSpPr>
        <p:spPr/>
        <p:txBody>
          <a:bodyPr/>
          <a:lstStyle/>
          <a:p>
            <a:fld id="{8C9AF0EC-87AA-4D79-8556-1C0AB2E93A09}" type="slidenum">
              <a:rPr lang="en-AU" smtClean="0"/>
              <a:t>10</a:t>
            </a:fld>
            <a:endParaRPr lang="en-AU"/>
          </a:p>
        </p:txBody>
      </p:sp>
    </p:spTree>
    <p:extLst>
      <p:ext uri="{BB962C8B-B14F-4D97-AF65-F5344CB8AC3E}">
        <p14:creationId xmlns:p14="http://schemas.microsoft.com/office/powerpoint/2010/main" val="2266481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82C6A346-51AF-447C-8F50-321F76945B34}" type="slidenum">
              <a:rPr lang="en-US"/>
              <a:pPr/>
              <a:t>11</a:t>
            </a:fld>
            <a:endParaRPr lang="en-US"/>
          </a:p>
        </p:txBody>
      </p:sp>
      <p:sp>
        <p:nvSpPr>
          <p:cNvPr id="38297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8297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2296022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F0AB3CC7-1022-4A5A-98C7-FE3204BDB4B6}" type="slidenum">
              <a:rPr lang="en-US"/>
              <a:pPr/>
              <a:t>12</a:t>
            </a:fld>
            <a:endParaRPr lang="en-US"/>
          </a:p>
        </p:txBody>
      </p:sp>
      <p:sp>
        <p:nvSpPr>
          <p:cNvPr id="38707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8707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dirty="0"/>
              <a:t>Hydrophilic – able to absorb water or dissolve in water</a:t>
            </a:r>
          </a:p>
          <a:p>
            <a:r>
              <a:rPr lang="en-US" dirty="0"/>
              <a:t>Hydrophobic – water avoiding/repelling</a:t>
            </a:r>
          </a:p>
          <a:p>
            <a:r>
              <a:rPr lang="en-US" dirty="0"/>
              <a:t>In a bilayer the tails turn toward each</a:t>
            </a:r>
            <a:r>
              <a:rPr lang="en-US" baseline="0" dirty="0"/>
              <a:t> other away from the watery environment and cytoplasm.</a:t>
            </a:r>
            <a:endParaRPr lang="en-US" dirty="0"/>
          </a:p>
        </p:txBody>
      </p:sp>
    </p:spTree>
    <p:extLst>
      <p:ext uri="{BB962C8B-B14F-4D97-AF65-F5344CB8AC3E}">
        <p14:creationId xmlns:p14="http://schemas.microsoft.com/office/powerpoint/2010/main" val="2105108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bg1"/>
                </a:solidFill>
                <a:latin typeface="Comic Sans MS" pitchFamily="48" charset="0"/>
              </a:defRPr>
            </a:lvl1pPr>
            <a:lvl2pPr marL="742950" indent="-285750" defTabSz="919163">
              <a:defRPr sz="2400">
                <a:solidFill>
                  <a:schemeClr val="bg1"/>
                </a:solidFill>
                <a:latin typeface="Comic Sans MS" pitchFamily="48" charset="0"/>
              </a:defRPr>
            </a:lvl2pPr>
            <a:lvl3pPr marL="1143000" indent="-228600" defTabSz="919163">
              <a:defRPr sz="2400">
                <a:solidFill>
                  <a:schemeClr val="bg1"/>
                </a:solidFill>
                <a:latin typeface="Comic Sans MS" pitchFamily="48" charset="0"/>
              </a:defRPr>
            </a:lvl3pPr>
            <a:lvl4pPr marL="1600200" indent="-228600" defTabSz="919163">
              <a:defRPr sz="2400">
                <a:solidFill>
                  <a:schemeClr val="bg1"/>
                </a:solidFill>
                <a:latin typeface="Comic Sans MS" pitchFamily="48" charset="0"/>
              </a:defRPr>
            </a:lvl4pPr>
            <a:lvl5pPr marL="2057400" indent="-228600" defTabSz="919163">
              <a:defRPr sz="2400">
                <a:solidFill>
                  <a:schemeClr val="bg1"/>
                </a:solidFill>
                <a:latin typeface="Comic Sans MS" pitchFamily="48" charset="0"/>
              </a:defRPr>
            </a:lvl5pPr>
            <a:lvl6pPr marL="2514600" indent="-228600" defTabSz="919163" eaLnBrk="0" fontAlgn="base" hangingPunct="0">
              <a:spcBef>
                <a:spcPct val="0"/>
              </a:spcBef>
              <a:spcAft>
                <a:spcPct val="0"/>
              </a:spcAft>
              <a:defRPr sz="2400">
                <a:solidFill>
                  <a:schemeClr val="bg1"/>
                </a:solidFill>
                <a:latin typeface="Comic Sans MS" pitchFamily="48" charset="0"/>
              </a:defRPr>
            </a:lvl6pPr>
            <a:lvl7pPr marL="2971800" indent="-228600" defTabSz="919163" eaLnBrk="0" fontAlgn="base" hangingPunct="0">
              <a:spcBef>
                <a:spcPct val="0"/>
              </a:spcBef>
              <a:spcAft>
                <a:spcPct val="0"/>
              </a:spcAft>
              <a:defRPr sz="2400">
                <a:solidFill>
                  <a:schemeClr val="bg1"/>
                </a:solidFill>
                <a:latin typeface="Comic Sans MS" pitchFamily="48" charset="0"/>
              </a:defRPr>
            </a:lvl7pPr>
            <a:lvl8pPr marL="3429000" indent="-228600" defTabSz="919163" eaLnBrk="0" fontAlgn="base" hangingPunct="0">
              <a:spcBef>
                <a:spcPct val="0"/>
              </a:spcBef>
              <a:spcAft>
                <a:spcPct val="0"/>
              </a:spcAft>
              <a:defRPr sz="2400">
                <a:solidFill>
                  <a:schemeClr val="bg1"/>
                </a:solidFill>
                <a:latin typeface="Comic Sans MS" pitchFamily="48" charset="0"/>
              </a:defRPr>
            </a:lvl8pPr>
            <a:lvl9pPr marL="3886200" indent="-228600" defTabSz="919163" eaLnBrk="0" fontAlgn="base" hangingPunct="0">
              <a:spcBef>
                <a:spcPct val="0"/>
              </a:spcBef>
              <a:spcAft>
                <a:spcPct val="0"/>
              </a:spcAft>
              <a:defRPr sz="2400">
                <a:solidFill>
                  <a:schemeClr val="bg1"/>
                </a:solidFill>
                <a:latin typeface="Comic Sans MS" pitchFamily="48" charset="0"/>
              </a:defRPr>
            </a:lvl9pPr>
          </a:lstStyle>
          <a:p>
            <a:r>
              <a:rPr lang="en-US" sz="1200"/>
              <a:t>The Plasma Membrane</a:t>
            </a:r>
          </a:p>
        </p:txBody>
      </p:sp>
      <p:sp>
        <p:nvSpPr>
          <p:cNvPr id="7373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bg1"/>
                </a:solidFill>
                <a:latin typeface="Comic Sans MS" pitchFamily="48" charset="0"/>
              </a:defRPr>
            </a:lvl1pPr>
            <a:lvl2pPr marL="742950" indent="-285750" defTabSz="919163">
              <a:defRPr sz="2400">
                <a:solidFill>
                  <a:schemeClr val="bg1"/>
                </a:solidFill>
                <a:latin typeface="Comic Sans MS" pitchFamily="48" charset="0"/>
              </a:defRPr>
            </a:lvl2pPr>
            <a:lvl3pPr marL="1143000" indent="-228600" defTabSz="919163">
              <a:defRPr sz="2400">
                <a:solidFill>
                  <a:schemeClr val="bg1"/>
                </a:solidFill>
                <a:latin typeface="Comic Sans MS" pitchFamily="48" charset="0"/>
              </a:defRPr>
            </a:lvl3pPr>
            <a:lvl4pPr marL="1600200" indent="-228600" defTabSz="919163">
              <a:defRPr sz="2400">
                <a:solidFill>
                  <a:schemeClr val="bg1"/>
                </a:solidFill>
                <a:latin typeface="Comic Sans MS" pitchFamily="48" charset="0"/>
              </a:defRPr>
            </a:lvl4pPr>
            <a:lvl5pPr marL="2057400" indent="-228600" defTabSz="919163">
              <a:defRPr sz="2400">
                <a:solidFill>
                  <a:schemeClr val="bg1"/>
                </a:solidFill>
                <a:latin typeface="Comic Sans MS" pitchFamily="48" charset="0"/>
              </a:defRPr>
            </a:lvl5pPr>
            <a:lvl6pPr marL="2514600" indent="-228600" defTabSz="919163" eaLnBrk="0" fontAlgn="base" hangingPunct="0">
              <a:spcBef>
                <a:spcPct val="0"/>
              </a:spcBef>
              <a:spcAft>
                <a:spcPct val="0"/>
              </a:spcAft>
              <a:defRPr sz="2400">
                <a:solidFill>
                  <a:schemeClr val="bg1"/>
                </a:solidFill>
                <a:latin typeface="Comic Sans MS" pitchFamily="48" charset="0"/>
              </a:defRPr>
            </a:lvl6pPr>
            <a:lvl7pPr marL="2971800" indent="-228600" defTabSz="919163" eaLnBrk="0" fontAlgn="base" hangingPunct="0">
              <a:spcBef>
                <a:spcPct val="0"/>
              </a:spcBef>
              <a:spcAft>
                <a:spcPct val="0"/>
              </a:spcAft>
              <a:defRPr sz="2400">
                <a:solidFill>
                  <a:schemeClr val="bg1"/>
                </a:solidFill>
                <a:latin typeface="Comic Sans MS" pitchFamily="48" charset="0"/>
              </a:defRPr>
            </a:lvl7pPr>
            <a:lvl8pPr marL="3429000" indent="-228600" defTabSz="919163" eaLnBrk="0" fontAlgn="base" hangingPunct="0">
              <a:spcBef>
                <a:spcPct val="0"/>
              </a:spcBef>
              <a:spcAft>
                <a:spcPct val="0"/>
              </a:spcAft>
              <a:defRPr sz="2400">
                <a:solidFill>
                  <a:schemeClr val="bg1"/>
                </a:solidFill>
                <a:latin typeface="Comic Sans MS" pitchFamily="48" charset="0"/>
              </a:defRPr>
            </a:lvl8pPr>
            <a:lvl9pPr marL="3886200" indent="-228600" defTabSz="919163" eaLnBrk="0" fontAlgn="base" hangingPunct="0">
              <a:spcBef>
                <a:spcPct val="0"/>
              </a:spcBef>
              <a:spcAft>
                <a:spcPct val="0"/>
              </a:spcAft>
              <a:defRPr sz="2400">
                <a:solidFill>
                  <a:schemeClr val="bg1"/>
                </a:solidFill>
                <a:latin typeface="Comic Sans MS" pitchFamily="48" charset="0"/>
              </a:defRPr>
            </a:lvl9pPr>
          </a:lstStyle>
          <a:p>
            <a:fld id="{D3304817-026A-4FFC-93DE-CD66F2926454}" type="datetime1">
              <a:rPr lang="en-US" sz="1200" smtClean="0"/>
              <a:pPr/>
              <a:t>6/26/2023</a:t>
            </a:fld>
            <a:endParaRPr lang="en-US" sz="1200"/>
          </a:p>
        </p:txBody>
      </p:sp>
      <p:sp>
        <p:nvSpPr>
          <p:cNvPr id="7373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bg1"/>
                </a:solidFill>
                <a:latin typeface="Comic Sans MS" pitchFamily="48" charset="0"/>
              </a:defRPr>
            </a:lvl1pPr>
            <a:lvl2pPr marL="742950" indent="-285750" defTabSz="919163">
              <a:defRPr sz="2400">
                <a:solidFill>
                  <a:schemeClr val="bg1"/>
                </a:solidFill>
                <a:latin typeface="Comic Sans MS" pitchFamily="48" charset="0"/>
              </a:defRPr>
            </a:lvl2pPr>
            <a:lvl3pPr marL="1143000" indent="-228600" defTabSz="919163">
              <a:defRPr sz="2400">
                <a:solidFill>
                  <a:schemeClr val="bg1"/>
                </a:solidFill>
                <a:latin typeface="Comic Sans MS" pitchFamily="48" charset="0"/>
              </a:defRPr>
            </a:lvl3pPr>
            <a:lvl4pPr marL="1600200" indent="-228600" defTabSz="919163">
              <a:defRPr sz="2400">
                <a:solidFill>
                  <a:schemeClr val="bg1"/>
                </a:solidFill>
                <a:latin typeface="Comic Sans MS" pitchFamily="48" charset="0"/>
              </a:defRPr>
            </a:lvl4pPr>
            <a:lvl5pPr marL="2057400" indent="-228600" defTabSz="919163">
              <a:defRPr sz="2400">
                <a:solidFill>
                  <a:schemeClr val="bg1"/>
                </a:solidFill>
                <a:latin typeface="Comic Sans MS" pitchFamily="48" charset="0"/>
              </a:defRPr>
            </a:lvl5pPr>
            <a:lvl6pPr marL="2514600" indent="-228600" defTabSz="919163" eaLnBrk="0" fontAlgn="base" hangingPunct="0">
              <a:spcBef>
                <a:spcPct val="0"/>
              </a:spcBef>
              <a:spcAft>
                <a:spcPct val="0"/>
              </a:spcAft>
              <a:defRPr sz="2400">
                <a:solidFill>
                  <a:schemeClr val="bg1"/>
                </a:solidFill>
                <a:latin typeface="Comic Sans MS" pitchFamily="48" charset="0"/>
              </a:defRPr>
            </a:lvl6pPr>
            <a:lvl7pPr marL="2971800" indent="-228600" defTabSz="919163" eaLnBrk="0" fontAlgn="base" hangingPunct="0">
              <a:spcBef>
                <a:spcPct val="0"/>
              </a:spcBef>
              <a:spcAft>
                <a:spcPct val="0"/>
              </a:spcAft>
              <a:defRPr sz="2400">
                <a:solidFill>
                  <a:schemeClr val="bg1"/>
                </a:solidFill>
                <a:latin typeface="Comic Sans MS" pitchFamily="48" charset="0"/>
              </a:defRPr>
            </a:lvl7pPr>
            <a:lvl8pPr marL="3429000" indent="-228600" defTabSz="919163" eaLnBrk="0" fontAlgn="base" hangingPunct="0">
              <a:spcBef>
                <a:spcPct val="0"/>
              </a:spcBef>
              <a:spcAft>
                <a:spcPct val="0"/>
              </a:spcAft>
              <a:defRPr sz="2400">
                <a:solidFill>
                  <a:schemeClr val="bg1"/>
                </a:solidFill>
                <a:latin typeface="Comic Sans MS" pitchFamily="48" charset="0"/>
              </a:defRPr>
            </a:lvl8pPr>
            <a:lvl9pPr marL="3886200" indent="-228600" defTabSz="919163" eaLnBrk="0" fontAlgn="base" hangingPunct="0">
              <a:spcBef>
                <a:spcPct val="0"/>
              </a:spcBef>
              <a:spcAft>
                <a:spcPct val="0"/>
              </a:spcAft>
              <a:defRPr sz="2400">
                <a:solidFill>
                  <a:schemeClr val="bg1"/>
                </a:solidFill>
                <a:latin typeface="Comic Sans MS" pitchFamily="48" charset="0"/>
              </a:defRPr>
            </a:lvl9pPr>
          </a:lstStyle>
          <a:p>
            <a:r>
              <a:rPr lang="en-US" sz="1200"/>
              <a:t>G. Podgorski, Biol. 1010</a:t>
            </a:r>
          </a:p>
        </p:txBody>
      </p:sp>
      <p:sp>
        <p:nvSpPr>
          <p:cNvPr id="737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bg1"/>
                </a:solidFill>
                <a:latin typeface="Comic Sans MS" pitchFamily="48" charset="0"/>
              </a:defRPr>
            </a:lvl1pPr>
            <a:lvl2pPr marL="742950" indent="-285750" defTabSz="919163">
              <a:defRPr sz="2400">
                <a:solidFill>
                  <a:schemeClr val="bg1"/>
                </a:solidFill>
                <a:latin typeface="Comic Sans MS" pitchFamily="48" charset="0"/>
              </a:defRPr>
            </a:lvl2pPr>
            <a:lvl3pPr marL="1143000" indent="-228600" defTabSz="919163">
              <a:defRPr sz="2400">
                <a:solidFill>
                  <a:schemeClr val="bg1"/>
                </a:solidFill>
                <a:latin typeface="Comic Sans MS" pitchFamily="48" charset="0"/>
              </a:defRPr>
            </a:lvl3pPr>
            <a:lvl4pPr marL="1600200" indent="-228600" defTabSz="919163">
              <a:defRPr sz="2400">
                <a:solidFill>
                  <a:schemeClr val="bg1"/>
                </a:solidFill>
                <a:latin typeface="Comic Sans MS" pitchFamily="48" charset="0"/>
              </a:defRPr>
            </a:lvl4pPr>
            <a:lvl5pPr marL="2057400" indent="-228600" defTabSz="919163">
              <a:defRPr sz="2400">
                <a:solidFill>
                  <a:schemeClr val="bg1"/>
                </a:solidFill>
                <a:latin typeface="Comic Sans MS" pitchFamily="48" charset="0"/>
              </a:defRPr>
            </a:lvl5pPr>
            <a:lvl6pPr marL="2514600" indent="-228600" defTabSz="919163" eaLnBrk="0" fontAlgn="base" hangingPunct="0">
              <a:spcBef>
                <a:spcPct val="0"/>
              </a:spcBef>
              <a:spcAft>
                <a:spcPct val="0"/>
              </a:spcAft>
              <a:defRPr sz="2400">
                <a:solidFill>
                  <a:schemeClr val="bg1"/>
                </a:solidFill>
                <a:latin typeface="Comic Sans MS" pitchFamily="48" charset="0"/>
              </a:defRPr>
            </a:lvl6pPr>
            <a:lvl7pPr marL="2971800" indent="-228600" defTabSz="919163" eaLnBrk="0" fontAlgn="base" hangingPunct="0">
              <a:spcBef>
                <a:spcPct val="0"/>
              </a:spcBef>
              <a:spcAft>
                <a:spcPct val="0"/>
              </a:spcAft>
              <a:defRPr sz="2400">
                <a:solidFill>
                  <a:schemeClr val="bg1"/>
                </a:solidFill>
                <a:latin typeface="Comic Sans MS" pitchFamily="48" charset="0"/>
              </a:defRPr>
            </a:lvl7pPr>
            <a:lvl8pPr marL="3429000" indent="-228600" defTabSz="919163" eaLnBrk="0" fontAlgn="base" hangingPunct="0">
              <a:spcBef>
                <a:spcPct val="0"/>
              </a:spcBef>
              <a:spcAft>
                <a:spcPct val="0"/>
              </a:spcAft>
              <a:defRPr sz="2400">
                <a:solidFill>
                  <a:schemeClr val="bg1"/>
                </a:solidFill>
                <a:latin typeface="Comic Sans MS" pitchFamily="48" charset="0"/>
              </a:defRPr>
            </a:lvl8pPr>
            <a:lvl9pPr marL="3886200" indent="-228600" defTabSz="919163" eaLnBrk="0" fontAlgn="base" hangingPunct="0">
              <a:spcBef>
                <a:spcPct val="0"/>
              </a:spcBef>
              <a:spcAft>
                <a:spcPct val="0"/>
              </a:spcAft>
              <a:defRPr sz="2400">
                <a:solidFill>
                  <a:schemeClr val="bg1"/>
                </a:solidFill>
                <a:latin typeface="Comic Sans MS" pitchFamily="48" charset="0"/>
              </a:defRPr>
            </a:lvl9pPr>
          </a:lstStyle>
          <a:p>
            <a:fld id="{1E8ED9AD-F25F-4184-9A73-3E43B0668B37}" type="slidenum">
              <a:rPr lang="en-US" sz="1200" smtClean="0"/>
              <a:pPr/>
              <a:t>13</a:t>
            </a:fld>
            <a:endParaRPr lang="en-US" sz="1200"/>
          </a:p>
        </p:txBody>
      </p:sp>
      <p:sp>
        <p:nvSpPr>
          <p:cNvPr id="73734" name="Rectangle 2"/>
          <p:cNvSpPr>
            <a:spLocks noGrp="1" noRot="1" noChangeAspect="1" noChangeArrowheads="1" noTextEdit="1"/>
          </p:cNvSpPr>
          <p:nvPr>
            <p:ph type="sldImg"/>
          </p:nvPr>
        </p:nvSpPr>
        <p:spPr>
          <a:xfrm>
            <a:off x="1143000" y="684213"/>
            <a:ext cx="4573588" cy="3432175"/>
          </a:xfrm>
          <a:solidFill>
            <a:srgbClr val="FFFFFF"/>
          </a:solidFill>
          <a:ln/>
        </p:spPr>
      </p:sp>
      <p:sp>
        <p:nvSpPr>
          <p:cNvPr id="73735" name="Rectangle 3"/>
          <p:cNvSpPr>
            <a:spLocks noGrp="1" noChangeArrowheads="1"/>
          </p:cNvSpPr>
          <p:nvPr>
            <p:ph type="body" idx="1"/>
          </p:nvPr>
        </p:nvSpPr>
        <p:spPr>
          <a:xfrm>
            <a:off x="685800" y="4343519"/>
            <a:ext cx="5486400" cy="4115835"/>
          </a:xfrm>
          <a:solidFill>
            <a:srgbClr val="FFFFFF"/>
          </a:solidFill>
          <a:ln>
            <a:solidFill>
              <a:srgbClr val="000000"/>
            </a:solidFill>
          </a:ln>
        </p:spPr>
        <p:txBody>
          <a:bodyPr/>
          <a:lstStyle/>
          <a:p>
            <a:endParaRPr lang="en-US">
              <a:latin typeface="Comic Sans MS" pitchFamily="48" charset="0"/>
            </a:endParaRPr>
          </a:p>
        </p:txBody>
      </p:sp>
    </p:spTree>
    <p:extLst>
      <p:ext uri="{BB962C8B-B14F-4D97-AF65-F5344CB8AC3E}">
        <p14:creationId xmlns:p14="http://schemas.microsoft.com/office/powerpoint/2010/main" val="39029712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Because</a:t>
            </a:r>
            <a:r>
              <a:rPr lang="en-AU" baseline="0" dirty="0"/>
              <a:t> cell is mostly lipid, only allows lipid soluble substances to pass through easily. Water soluble substances need the help of proteins to pass through.</a:t>
            </a:r>
            <a:endParaRPr lang="en-AU" dirty="0"/>
          </a:p>
        </p:txBody>
      </p:sp>
      <p:sp>
        <p:nvSpPr>
          <p:cNvPr id="4" name="Slide Number Placeholder 3"/>
          <p:cNvSpPr>
            <a:spLocks noGrp="1"/>
          </p:cNvSpPr>
          <p:nvPr>
            <p:ph type="sldNum" sz="quarter" idx="10"/>
          </p:nvPr>
        </p:nvSpPr>
        <p:spPr/>
        <p:txBody>
          <a:bodyPr/>
          <a:lstStyle/>
          <a:p>
            <a:fld id="{8C9AF0EC-87AA-4D79-8556-1C0AB2E93A09}" type="slidenum">
              <a:rPr lang="en-AU" smtClean="0"/>
              <a:t>14</a:t>
            </a:fld>
            <a:endParaRPr lang="en-AU"/>
          </a:p>
        </p:txBody>
      </p:sp>
    </p:spTree>
    <p:extLst>
      <p:ext uri="{BB962C8B-B14F-4D97-AF65-F5344CB8AC3E}">
        <p14:creationId xmlns:p14="http://schemas.microsoft.com/office/powerpoint/2010/main" val="3791222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Plant cells have phytosterol not cholesterol. They’re interspersed</a:t>
            </a:r>
            <a:r>
              <a:rPr lang="en-AU" baseline="0" dirty="0"/>
              <a:t> among the phospholipid molecules and affect interactions – can help the flexibility and structure</a:t>
            </a:r>
            <a:endParaRPr lang="en-AU" dirty="0"/>
          </a:p>
        </p:txBody>
      </p:sp>
      <p:sp>
        <p:nvSpPr>
          <p:cNvPr id="4" name="Slide Number Placeholder 3"/>
          <p:cNvSpPr>
            <a:spLocks noGrp="1"/>
          </p:cNvSpPr>
          <p:nvPr>
            <p:ph type="sldNum" sz="quarter" idx="10"/>
          </p:nvPr>
        </p:nvSpPr>
        <p:spPr/>
        <p:txBody>
          <a:bodyPr/>
          <a:lstStyle/>
          <a:p>
            <a:fld id="{8C9AF0EC-87AA-4D79-8556-1C0AB2E93A09}" type="slidenum">
              <a:rPr lang="en-AU" smtClean="0"/>
              <a:t>15</a:t>
            </a:fld>
            <a:endParaRPr lang="en-AU"/>
          </a:p>
        </p:txBody>
      </p:sp>
    </p:spTree>
    <p:extLst>
      <p:ext uri="{BB962C8B-B14F-4D97-AF65-F5344CB8AC3E}">
        <p14:creationId xmlns:p14="http://schemas.microsoft.com/office/powerpoint/2010/main" val="1428079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3DBD1EC2-82CD-448B-8F0C-A0E9AACF9533}" type="slidenum">
              <a:rPr lang="en-US"/>
              <a:pPr/>
              <a:t>18</a:t>
            </a:fld>
            <a:endParaRPr lang="en-US"/>
          </a:p>
        </p:txBody>
      </p:sp>
      <p:sp>
        <p:nvSpPr>
          <p:cNvPr id="174082" name="Rectangle 2"/>
          <p:cNvSpPr>
            <a:spLocks noGrp="1" noRot="1" noChangeAspect="1" noChangeArrowheads="1" noTextEdit="1"/>
          </p:cNvSpPr>
          <p:nvPr>
            <p:ph type="sldImg"/>
          </p:nvPr>
        </p:nvSpPr>
        <p:spPr>
          <a:ln/>
        </p:spPr>
      </p:sp>
      <p:sp>
        <p:nvSpPr>
          <p:cNvPr id="174083" name="Rectangle 3"/>
          <p:cNvSpPr>
            <a:spLocks noGrp="1"/>
          </p:cNvSpPr>
          <p:nvPr>
            <p:ph type="body" idx="1"/>
          </p:nvPr>
        </p:nvSpPr>
        <p:spPr/>
        <p:txBody>
          <a:bodyPr/>
          <a:lstStyle/>
          <a:p>
            <a:r>
              <a:rPr lang="en-US" dirty="0"/>
              <a:t>Need to be viewed with an electron microscope. Proteins are required for growth, repair and general cell functioning. </a:t>
            </a:r>
          </a:p>
        </p:txBody>
      </p:sp>
    </p:spTree>
    <p:extLst>
      <p:ext uri="{BB962C8B-B14F-4D97-AF65-F5344CB8AC3E}">
        <p14:creationId xmlns:p14="http://schemas.microsoft.com/office/powerpoint/2010/main" val="3746599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EA274A67-CE47-478F-9998-9E0D8391A68D}" type="slidenum">
              <a:rPr lang="en-US"/>
              <a:pPr/>
              <a:t>19</a:t>
            </a:fld>
            <a:endParaRPr lang="en-US"/>
          </a:p>
        </p:txBody>
      </p:sp>
      <p:sp>
        <p:nvSpPr>
          <p:cNvPr id="175106" name="Rectangle 2"/>
          <p:cNvSpPr>
            <a:spLocks noGrp="1" noRot="1" noChangeAspect="1" noChangeArrowheads="1" noTextEdit="1"/>
          </p:cNvSpPr>
          <p:nvPr>
            <p:ph type="sldImg"/>
          </p:nvPr>
        </p:nvSpPr>
        <p:spPr>
          <a:ln/>
        </p:spPr>
      </p:sp>
      <p:sp>
        <p:nvSpPr>
          <p:cNvPr id="175107" name="Rectangle 3"/>
          <p:cNvSpPr>
            <a:spLocks noGrp="1"/>
          </p:cNvSpPr>
          <p:nvPr>
            <p:ph type="body" idx="1"/>
          </p:nvPr>
        </p:nvSpPr>
        <p:spPr/>
        <p:txBody>
          <a:bodyPr/>
          <a:lstStyle/>
          <a:p>
            <a:r>
              <a:rPr lang="en-US" dirty="0"/>
              <a:t>Enzymes for cellular respiration contain within cristae and increase SA for chemical reactions to occur.</a:t>
            </a:r>
          </a:p>
        </p:txBody>
      </p:sp>
    </p:spTree>
    <p:extLst>
      <p:ext uri="{BB962C8B-B14F-4D97-AF65-F5344CB8AC3E}">
        <p14:creationId xmlns:p14="http://schemas.microsoft.com/office/powerpoint/2010/main" val="547578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5210DDB4-9203-48D8-8D0E-C85415F97488}" type="slidenum">
              <a:rPr lang="en-US"/>
              <a:pPr/>
              <a:t>20</a:t>
            </a:fld>
            <a:endParaRPr lang="en-US"/>
          </a:p>
        </p:txBody>
      </p:sp>
      <p:sp>
        <p:nvSpPr>
          <p:cNvPr id="176130" name="Rectangle 2"/>
          <p:cNvSpPr>
            <a:spLocks noGrp="1" noRot="1" noChangeAspect="1" noChangeArrowheads="1" noTextEdit="1"/>
          </p:cNvSpPr>
          <p:nvPr>
            <p:ph type="sldImg"/>
          </p:nvPr>
        </p:nvSpPr>
        <p:spPr>
          <a:ln/>
        </p:spPr>
      </p:sp>
      <p:sp>
        <p:nvSpPr>
          <p:cNvPr id="176131" name="Rectangle 3"/>
          <p:cNvSpPr>
            <a:spLocks noGrp="1"/>
          </p:cNvSpPr>
          <p:nvPr>
            <p:ph type="body" idx="1"/>
          </p:nvPr>
        </p:nvSpPr>
        <p:spPr/>
        <p:txBody>
          <a:bodyPr/>
          <a:lstStyle/>
          <a:p>
            <a:r>
              <a:rPr lang="en-AU" dirty="0"/>
              <a:t>Some of the proteins are delivered into the lumen or space inside the ER whilst others are processed within the ER membrane itself. Some proteins may undergo glycosylation. It is also in the lumen that an amazing process of quality control checking is carried out. Proteins are subjected to a quality control check and any that are found to be incorrectly formed or incorrectly folded are rejected. </a:t>
            </a:r>
            <a:endParaRPr lang="en-US" dirty="0"/>
          </a:p>
        </p:txBody>
      </p:sp>
    </p:spTree>
    <p:extLst>
      <p:ext uri="{BB962C8B-B14F-4D97-AF65-F5344CB8AC3E}">
        <p14:creationId xmlns:p14="http://schemas.microsoft.com/office/powerpoint/2010/main" val="3411888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9B5404B7-A0DB-4B10-AC0A-30524365D42B}" type="slidenum">
              <a:rPr lang="en-US"/>
              <a:pPr/>
              <a:t>21</a:t>
            </a:fld>
            <a:endParaRPr lang="en-US"/>
          </a:p>
        </p:txBody>
      </p:sp>
      <p:sp>
        <p:nvSpPr>
          <p:cNvPr id="177154" name="Rectangle 2"/>
          <p:cNvSpPr>
            <a:spLocks noGrp="1" noRot="1" noChangeAspect="1" noChangeArrowheads="1" noTextEdit="1"/>
          </p:cNvSpPr>
          <p:nvPr>
            <p:ph type="sldImg"/>
          </p:nvPr>
        </p:nvSpPr>
        <p:spPr>
          <a:ln/>
        </p:spPr>
      </p:sp>
      <p:sp>
        <p:nvSpPr>
          <p:cNvPr id="177155" name="Rectangle 3"/>
          <p:cNvSpPr>
            <a:spLocks noGrp="1"/>
          </p:cNvSpPr>
          <p:nvPr>
            <p:ph type="body" idx="1"/>
          </p:nvPr>
        </p:nvSpPr>
        <p:spPr/>
        <p:txBody>
          <a:bodyPr/>
          <a:lstStyle/>
          <a:p>
            <a:r>
              <a:rPr lang="en-AU" dirty="0"/>
              <a:t>There are two types of endoplasmic reticulum: </a:t>
            </a:r>
            <a:r>
              <a:rPr lang="en-AU" b="1" dirty="0"/>
              <a:t>rough endoplasmic reticulum </a:t>
            </a:r>
            <a:r>
              <a:rPr lang="en-AU" dirty="0"/>
              <a:t>(rough ER) and </a:t>
            </a:r>
            <a:r>
              <a:rPr lang="en-AU" b="1" dirty="0"/>
              <a:t>smooth endoplasmic reticulum</a:t>
            </a:r>
            <a:r>
              <a:rPr lang="en-AU" dirty="0"/>
              <a:t> (smooth ER). Both types are present in plant and animal cells. The two types of ER often appear as if separate, but they are sub-compartments of the same organelle. Cells specialising in the production of proteins will tend to have a larger amount of rough ER whilst cells producing lipids (fats) and steroid hormones will have a greater amount of smooth ER.</a:t>
            </a:r>
          </a:p>
          <a:p>
            <a:r>
              <a:rPr lang="en-AU" dirty="0"/>
              <a:t>Part of the ER is contiguous with the nuclear envelope. </a:t>
            </a:r>
            <a:endParaRPr lang="en-US" dirty="0"/>
          </a:p>
        </p:txBody>
      </p:sp>
    </p:spTree>
    <p:extLst>
      <p:ext uri="{BB962C8B-B14F-4D97-AF65-F5344CB8AC3E}">
        <p14:creationId xmlns:p14="http://schemas.microsoft.com/office/powerpoint/2010/main" val="2054623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F6311878-9C71-4114-9772-E869D8E3C464}" type="slidenum">
              <a:rPr lang="en-US"/>
              <a:pPr/>
              <a:t>27</a:t>
            </a:fld>
            <a:endParaRPr lang="en-US"/>
          </a:p>
        </p:txBody>
      </p:sp>
      <p:sp>
        <p:nvSpPr>
          <p:cNvPr id="178178" name="Rectangle 2"/>
          <p:cNvSpPr>
            <a:spLocks noGrp="1" noRot="1" noChangeAspect="1" noChangeArrowheads="1" noTextEdit="1"/>
          </p:cNvSpPr>
          <p:nvPr>
            <p:ph type="sldImg"/>
          </p:nvPr>
        </p:nvSpPr>
        <p:spPr>
          <a:ln/>
        </p:spPr>
      </p:sp>
      <p:sp>
        <p:nvSpPr>
          <p:cNvPr id="178179" name="Rectangle 3"/>
          <p:cNvSpPr>
            <a:spLocks noGrp="1"/>
          </p:cNvSpPr>
          <p:nvPr>
            <p:ph type="body" idx="1"/>
          </p:nvPr>
        </p:nvSpPr>
        <p:spPr/>
        <p:txBody>
          <a:bodyPr/>
          <a:lstStyle/>
          <a:p>
            <a:r>
              <a:rPr lang="en-AU" dirty="0"/>
              <a:t>The Golgi apparatus is also closely associated with the ER and recent observations suggest that parts of the two organelles, i.e. the ER and the Golgi complex, are so close that some chemical products probably pass directly between them instead of being packaged into vesicles (droplets enclosed within a membrane) and transported to them through the cytoplasm.</a:t>
            </a:r>
          </a:p>
          <a:p>
            <a:endParaRPr lang="en-US" dirty="0"/>
          </a:p>
          <a:p>
            <a:endParaRPr lang="en-US" dirty="0"/>
          </a:p>
        </p:txBody>
      </p:sp>
    </p:spTree>
    <p:extLst>
      <p:ext uri="{BB962C8B-B14F-4D97-AF65-F5344CB8AC3E}">
        <p14:creationId xmlns:p14="http://schemas.microsoft.com/office/powerpoint/2010/main" val="24241911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A70A5982-9C0A-4D31-8ADA-5AE7F5A10635}" type="slidenum">
              <a:rPr lang="en-US"/>
              <a:pPr/>
              <a:t>28</a:t>
            </a:fld>
            <a:endParaRPr lang="en-US"/>
          </a:p>
        </p:txBody>
      </p:sp>
      <p:sp>
        <p:nvSpPr>
          <p:cNvPr id="179202" name="Rectangle 2"/>
          <p:cNvSpPr>
            <a:spLocks noGrp="1" noRot="1" noChangeAspect="1" noChangeArrowheads="1" noTextEdit="1"/>
          </p:cNvSpPr>
          <p:nvPr>
            <p:ph type="sldImg"/>
          </p:nvPr>
        </p:nvSpPr>
        <p:spPr>
          <a:ln/>
        </p:spPr>
      </p:sp>
      <p:sp>
        <p:nvSpPr>
          <p:cNvPr id="179203" name="Rectangle 3"/>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28479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EEEC0DE2-522B-487C-A603-2DBB44AAE2FF}" type="slidenum">
              <a:rPr lang="en-US"/>
              <a:pPr/>
              <a:t>29</a:t>
            </a:fld>
            <a:endParaRPr lang="en-US"/>
          </a:p>
        </p:txBody>
      </p:sp>
      <p:sp>
        <p:nvSpPr>
          <p:cNvPr id="180226" name="Rectangle 2"/>
          <p:cNvSpPr>
            <a:spLocks noGrp="1" noRot="1" noChangeAspect="1" noChangeArrowheads="1" noTextEdit="1"/>
          </p:cNvSpPr>
          <p:nvPr>
            <p:ph type="sldImg"/>
          </p:nvPr>
        </p:nvSpPr>
        <p:spPr>
          <a:ln/>
        </p:spPr>
      </p:sp>
      <p:sp>
        <p:nvSpPr>
          <p:cNvPr id="180227" name="Rectangle 3"/>
          <p:cNvSpPr>
            <a:spLocks noGrp="1"/>
          </p:cNvSpPr>
          <p:nvPr>
            <p:ph type="body" idx="1"/>
          </p:nvPr>
        </p:nvSpPr>
        <p:spPr/>
        <p:txBody>
          <a:bodyPr/>
          <a:lstStyle/>
          <a:p>
            <a:r>
              <a:rPr lang="en-AU" b="0" i="0" dirty="0">
                <a:solidFill>
                  <a:srgbClr val="202124"/>
                </a:solidFill>
                <a:effectLst/>
                <a:latin typeface="Google Sans"/>
              </a:rPr>
              <a:t>The primary function of the nucleolus is to produce ribosomes (via </a:t>
            </a:r>
            <a:r>
              <a:rPr lang="en-AU" b="0" i="0" dirty="0">
                <a:solidFill>
                  <a:srgbClr val="040C28"/>
                </a:solidFill>
                <a:effectLst/>
                <a:latin typeface="Google Sans"/>
              </a:rPr>
              <a:t>ribosomal RNA (rRNA) transcription, rRNA processing and ribosome subunit assembly).</a:t>
            </a:r>
            <a:endParaRPr lang="en-US" dirty="0"/>
          </a:p>
        </p:txBody>
      </p:sp>
    </p:spTree>
    <p:extLst>
      <p:ext uri="{BB962C8B-B14F-4D97-AF65-F5344CB8AC3E}">
        <p14:creationId xmlns:p14="http://schemas.microsoft.com/office/powerpoint/2010/main" val="11210402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90A4455B-6BCB-429D-87AD-88B8948F1E88}" type="slidenum">
              <a:rPr lang="en-US"/>
              <a:pPr/>
              <a:t>30</a:t>
            </a:fld>
            <a:endParaRPr lang="en-US"/>
          </a:p>
        </p:txBody>
      </p:sp>
      <p:sp>
        <p:nvSpPr>
          <p:cNvPr id="181250" name="Rectangle 2"/>
          <p:cNvSpPr>
            <a:spLocks noGrp="1" noRot="1" noChangeAspect="1" noChangeArrowheads="1" noTextEdit="1"/>
          </p:cNvSpPr>
          <p:nvPr>
            <p:ph type="sldImg"/>
          </p:nvPr>
        </p:nvSpPr>
        <p:spPr>
          <a:ln/>
        </p:spPr>
      </p:sp>
      <p:sp>
        <p:nvSpPr>
          <p:cNvPr id="181251" name="Rectangle 3"/>
          <p:cNvSpPr>
            <a:spLocks noGrp="1"/>
          </p:cNvSpPr>
          <p:nvPr>
            <p:ph type="body" idx="1"/>
          </p:nvPr>
        </p:nvSpPr>
        <p:spPr/>
        <p:txBody>
          <a:bodyPr/>
          <a:lstStyle/>
          <a:p>
            <a:endParaRPr lang="en-US"/>
          </a:p>
        </p:txBody>
      </p:sp>
    </p:spTree>
    <p:extLst>
      <p:ext uri="{BB962C8B-B14F-4D97-AF65-F5344CB8AC3E}">
        <p14:creationId xmlns:p14="http://schemas.microsoft.com/office/powerpoint/2010/main" val="37499405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DF99B741-5CFC-46BE-879B-83524EC42BD1}" type="slidenum">
              <a:rPr lang="en-US"/>
              <a:pPr/>
              <a:t>31</a:t>
            </a:fld>
            <a:endParaRPr lang="en-US"/>
          </a:p>
        </p:txBody>
      </p:sp>
      <p:sp>
        <p:nvSpPr>
          <p:cNvPr id="182274" name="Rectangle 2"/>
          <p:cNvSpPr>
            <a:spLocks noGrp="1" noRot="1" noChangeAspect="1" noChangeArrowheads="1" noTextEdit="1"/>
          </p:cNvSpPr>
          <p:nvPr>
            <p:ph type="sldImg"/>
          </p:nvPr>
        </p:nvSpPr>
        <p:spPr>
          <a:ln/>
        </p:spPr>
      </p:sp>
      <p:sp>
        <p:nvSpPr>
          <p:cNvPr id="182275" name="Rectangle 3"/>
          <p:cNvSpPr>
            <a:spLocks noGrp="1"/>
          </p:cNvSpPr>
          <p:nvPr>
            <p:ph type="body" idx="1"/>
          </p:nvPr>
        </p:nvSpPr>
        <p:spPr/>
        <p:txBody>
          <a:bodyPr/>
          <a:lstStyle/>
          <a:p>
            <a:endParaRPr lang="en-US"/>
          </a:p>
        </p:txBody>
      </p:sp>
    </p:spTree>
    <p:extLst>
      <p:ext uri="{BB962C8B-B14F-4D97-AF65-F5344CB8AC3E}">
        <p14:creationId xmlns:p14="http://schemas.microsoft.com/office/powerpoint/2010/main" val="1033879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783AC46B-3023-43C8-9098-3AD4CA4D176B}" type="slidenum">
              <a:rPr lang="en-US"/>
              <a:pPr/>
              <a:t>32</a:t>
            </a:fld>
            <a:endParaRPr lang="en-US"/>
          </a:p>
        </p:txBody>
      </p:sp>
      <p:sp>
        <p:nvSpPr>
          <p:cNvPr id="183298" name="Rectangle 2"/>
          <p:cNvSpPr>
            <a:spLocks noGrp="1" noRot="1" noChangeAspect="1" noChangeArrowheads="1" noTextEdit="1"/>
          </p:cNvSpPr>
          <p:nvPr>
            <p:ph type="sldImg"/>
          </p:nvPr>
        </p:nvSpPr>
        <p:spPr>
          <a:ln/>
        </p:spPr>
      </p:sp>
      <p:sp>
        <p:nvSpPr>
          <p:cNvPr id="183299" name="Rectangle 3"/>
          <p:cNvSpPr>
            <a:spLocks noGrp="1"/>
          </p:cNvSpPr>
          <p:nvPr>
            <p:ph type="body" idx="1"/>
          </p:nvPr>
        </p:nvSpPr>
        <p:spPr/>
        <p:txBody>
          <a:bodyPr/>
          <a:lstStyle/>
          <a:p>
            <a:endParaRPr lang="en-US"/>
          </a:p>
        </p:txBody>
      </p:sp>
    </p:spTree>
    <p:extLst>
      <p:ext uri="{BB962C8B-B14F-4D97-AF65-F5344CB8AC3E}">
        <p14:creationId xmlns:p14="http://schemas.microsoft.com/office/powerpoint/2010/main" val="21348341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BAE80003-B039-48BE-8194-2651B28B95FE}" type="slidenum">
              <a:rPr lang="en-US"/>
              <a:pPr/>
              <a:t>33</a:t>
            </a:fld>
            <a:endParaRPr lang="en-US"/>
          </a:p>
        </p:txBody>
      </p:sp>
      <p:sp>
        <p:nvSpPr>
          <p:cNvPr id="184322" name="Rectangle 2"/>
          <p:cNvSpPr>
            <a:spLocks noGrp="1" noRot="1" noChangeAspect="1" noChangeArrowheads="1" noTextEdit="1"/>
          </p:cNvSpPr>
          <p:nvPr>
            <p:ph type="sldImg"/>
          </p:nvPr>
        </p:nvSpPr>
        <p:spPr>
          <a:ln/>
        </p:spPr>
      </p:sp>
      <p:sp>
        <p:nvSpPr>
          <p:cNvPr id="184323" name="Rectangle 3"/>
          <p:cNvSpPr>
            <a:spLocks noGrp="1"/>
          </p:cNvSpPr>
          <p:nvPr>
            <p:ph type="body" idx="1"/>
          </p:nvPr>
        </p:nvSpPr>
        <p:spPr/>
        <p:txBody>
          <a:bodyPr/>
          <a:lstStyle/>
          <a:p>
            <a:endParaRPr lang="en-US"/>
          </a:p>
        </p:txBody>
      </p:sp>
    </p:spTree>
    <p:extLst>
      <p:ext uri="{BB962C8B-B14F-4D97-AF65-F5344CB8AC3E}">
        <p14:creationId xmlns:p14="http://schemas.microsoft.com/office/powerpoint/2010/main" val="28342123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9C9F11ED-165D-407F-A270-4A01247F0B10}" type="slidenum">
              <a:rPr lang="en-US"/>
              <a:pPr/>
              <a:t>34</a:t>
            </a:fld>
            <a:endParaRPr lang="en-US"/>
          </a:p>
        </p:txBody>
      </p:sp>
      <p:sp>
        <p:nvSpPr>
          <p:cNvPr id="185346" name="Rectangle 2"/>
          <p:cNvSpPr>
            <a:spLocks noGrp="1" noRot="1" noChangeAspect="1" noChangeArrowheads="1" noTextEdit="1"/>
          </p:cNvSpPr>
          <p:nvPr>
            <p:ph type="sldImg"/>
          </p:nvPr>
        </p:nvSpPr>
        <p:spPr>
          <a:ln/>
        </p:spPr>
      </p:sp>
      <p:sp>
        <p:nvSpPr>
          <p:cNvPr id="185347" name="Rectangle 3"/>
          <p:cNvSpPr>
            <a:spLocks noGrp="1"/>
          </p:cNvSpPr>
          <p:nvPr>
            <p:ph type="body" idx="1"/>
          </p:nvPr>
        </p:nvSpPr>
        <p:spPr/>
        <p:txBody>
          <a:bodyPr/>
          <a:lstStyle/>
          <a:p>
            <a:endParaRPr lang="en-US"/>
          </a:p>
        </p:txBody>
      </p:sp>
    </p:spTree>
    <p:extLst>
      <p:ext uri="{BB962C8B-B14F-4D97-AF65-F5344CB8AC3E}">
        <p14:creationId xmlns:p14="http://schemas.microsoft.com/office/powerpoint/2010/main" val="22643993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E47875FE-2EAA-4FEA-BA49-6BDCBE8DE964}" type="slidenum">
              <a:rPr lang="en-US"/>
              <a:pPr/>
              <a:t>35</a:t>
            </a:fld>
            <a:endParaRPr lang="en-US"/>
          </a:p>
        </p:txBody>
      </p:sp>
      <p:sp>
        <p:nvSpPr>
          <p:cNvPr id="187394" name="Rectangle 2"/>
          <p:cNvSpPr>
            <a:spLocks noGrp="1" noRot="1" noChangeAspect="1" noChangeArrowheads="1" noTextEdit="1"/>
          </p:cNvSpPr>
          <p:nvPr>
            <p:ph type="sldImg"/>
          </p:nvPr>
        </p:nvSpPr>
        <p:spPr>
          <a:ln/>
        </p:spPr>
      </p:sp>
      <p:sp>
        <p:nvSpPr>
          <p:cNvPr id="187395" name="Rectangle 3"/>
          <p:cNvSpPr>
            <a:spLocks noGrp="1"/>
          </p:cNvSpPr>
          <p:nvPr>
            <p:ph type="body" idx="1"/>
          </p:nvPr>
        </p:nvSpPr>
        <p:spPr/>
        <p:txBody>
          <a:bodyPr/>
          <a:lstStyle/>
          <a:p>
            <a:r>
              <a:rPr lang="en-AU" b="0" i="0" dirty="0">
                <a:solidFill>
                  <a:srgbClr val="202124"/>
                </a:solidFill>
                <a:effectLst/>
                <a:latin typeface="Google Sans"/>
              </a:rPr>
              <a:t>The cellulose molecules </a:t>
            </a:r>
            <a:r>
              <a:rPr lang="en-AU" b="0" i="0" dirty="0">
                <a:solidFill>
                  <a:srgbClr val="040C28"/>
                </a:solidFill>
                <a:effectLst/>
                <a:latin typeface="Google Sans"/>
              </a:rPr>
              <a:t>provide tensile strength to the primary cell wall</a:t>
            </a:r>
            <a:r>
              <a:rPr lang="en-AU" b="0" i="0" dirty="0">
                <a:solidFill>
                  <a:srgbClr val="202124"/>
                </a:solidFill>
                <a:effectLst/>
                <a:latin typeface="Google Sans"/>
              </a:rPr>
              <a:t>. Each molecule consists of a linear chain of at least 500 glucose residues that are covalently linked to one another to form a ribbonlike structure.</a:t>
            </a:r>
            <a:endParaRPr lang="en-US" dirty="0"/>
          </a:p>
        </p:txBody>
      </p:sp>
    </p:spTree>
    <p:extLst>
      <p:ext uri="{BB962C8B-B14F-4D97-AF65-F5344CB8AC3E}">
        <p14:creationId xmlns:p14="http://schemas.microsoft.com/office/powerpoint/2010/main" val="5687580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7AC5553F-A653-4142-B9CC-E9D02EFE1AED}" type="slidenum">
              <a:rPr lang="en-US"/>
              <a:pPr/>
              <a:t>36</a:t>
            </a:fld>
            <a:endParaRPr lang="en-US"/>
          </a:p>
        </p:txBody>
      </p:sp>
      <p:sp>
        <p:nvSpPr>
          <p:cNvPr id="188418" name="Rectangle 2"/>
          <p:cNvSpPr>
            <a:spLocks noGrp="1" noRot="1" noChangeAspect="1" noChangeArrowheads="1" noTextEdit="1"/>
          </p:cNvSpPr>
          <p:nvPr>
            <p:ph type="sldImg"/>
          </p:nvPr>
        </p:nvSpPr>
        <p:spPr>
          <a:ln/>
        </p:spPr>
      </p:sp>
      <p:sp>
        <p:nvSpPr>
          <p:cNvPr id="188419" name="Rectangle 3"/>
          <p:cNvSpPr>
            <a:spLocks noGrp="1"/>
          </p:cNvSpPr>
          <p:nvPr>
            <p:ph type="body" idx="1"/>
          </p:nvPr>
        </p:nvSpPr>
        <p:spPr/>
        <p:txBody>
          <a:bodyPr/>
          <a:lstStyle/>
          <a:p>
            <a:endParaRPr lang="en-US"/>
          </a:p>
        </p:txBody>
      </p:sp>
    </p:spTree>
    <p:extLst>
      <p:ext uri="{BB962C8B-B14F-4D97-AF65-F5344CB8AC3E}">
        <p14:creationId xmlns:p14="http://schemas.microsoft.com/office/powerpoint/2010/main" val="23695231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E7637813-A987-48F8-AFE7-2082DEFA67E2}" type="slidenum">
              <a:rPr lang="en-US"/>
              <a:pPr/>
              <a:t>37</a:t>
            </a:fld>
            <a:endParaRPr lang="en-US"/>
          </a:p>
        </p:txBody>
      </p:sp>
      <p:sp>
        <p:nvSpPr>
          <p:cNvPr id="186370" name="Rectangle 2"/>
          <p:cNvSpPr>
            <a:spLocks noGrp="1" noRot="1" noChangeAspect="1" noChangeArrowheads="1" noTextEdit="1"/>
          </p:cNvSpPr>
          <p:nvPr>
            <p:ph type="sldImg"/>
          </p:nvPr>
        </p:nvSpPr>
        <p:spPr>
          <a:ln/>
        </p:spPr>
      </p:sp>
      <p:sp>
        <p:nvSpPr>
          <p:cNvPr id="186371" name="Rectangle 3"/>
          <p:cNvSpPr>
            <a:spLocks noGrp="1"/>
          </p:cNvSpPr>
          <p:nvPr>
            <p:ph type="body" idx="1"/>
          </p:nvPr>
        </p:nvSpPr>
        <p:spPr/>
        <p:txBody>
          <a:bodyPr/>
          <a:lstStyle/>
          <a:p>
            <a:endParaRPr lang="en-US"/>
          </a:p>
        </p:txBody>
      </p:sp>
    </p:spTree>
    <p:extLst>
      <p:ext uri="{BB962C8B-B14F-4D97-AF65-F5344CB8AC3E}">
        <p14:creationId xmlns:p14="http://schemas.microsoft.com/office/powerpoint/2010/main" val="31438010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B0AC7BC8-1CED-45A6-8856-A8C698E8B1A0}" type="slidenum">
              <a:rPr lang="en-US"/>
              <a:pPr/>
              <a:t>38</a:t>
            </a:fld>
            <a:endParaRPr lang="en-US"/>
          </a:p>
        </p:txBody>
      </p:sp>
      <p:sp>
        <p:nvSpPr>
          <p:cNvPr id="190466" name="Rectangle 2"/>
          <p:cNvSpPr>
            <a:spLocks noGrp="1" noRot="1" noChangeAspect="1" noChangeArrowheads="1" noTextEdit="1"/>
          </p:cNvSpPr>
          <p:nvPr>
            <p:ph type="sldImg"/>
          </p:nvPr>
        </p:nvSpPr>
        <p:spPr>
          <a:ln/>
        </p:spPr>
      </p:sp>
      <p:sp>
        <p:nvSpPr>
          <p:cNvPr id="190467" name="Rectangle 3"/>
          <p:cNvSpPr>
            <a:spLocks noGrp="1"/>
          </p:cNvSpPr>
          <p:nvPr>
            <p:ph type="body" idx="1"/>
          </p:nvPr>
        </p:nvSpPr>
        <p:spPr/>
        <p:txBody>
          <a:bodyPr/>
          <a:lstStyle/>
          <a:p>
            <a:endParaRPr lang="en-US"/>
          </a:p>
        </p:txBody>
      </p:sp>
    </p:spTree>
    <p:extLst>
      <p:ext uri="{BB962C8B-B14F-4D97-AF65-F5344CB8AC3E}">
        <p14:creationId xmlns:p14="http://schemas.microsoft.com/office/powerpoint/2010/main" val="12345617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60D14A87-8433-44C1-8D48-BFB30A99761C}" type="slidenum">
              <a:rPr lang="en-US"/>
              <a:pPr/>
              <a:t>39</a:t>
            </a:fld>
            <a:endParaRPr lang="en-US"/>
          </a:p>
        </p:txBody>
      </p:sp>
      <p:sp>
        <p:nvSpPr>
          <p:cNvPr id="191490" name="Rectangle 2"/>
          <p:cNvSpPr>
            <a:spLocks noGrp="1" noRot="1" noChangeAspect="1" noChangeArrowheads="1" noTextEdit="1"/>
          </p:cNvSpPr>
          <p:nvPr>
            <p:ph type="sldImg"/>
          </p:nvPr>
        </p:nvSpPr>
        <p:spPr>
          <a:ln/>
        </p:spPr>
      </p:sp>
      <p:sp>
        <p:nvSpPr>
          <p:cNvPr id="191491" name="Rectangle 3"/>
          <p:cNvSpPr>
            <a:spLocks noGrp="1"/>
          </p:cNvSpPr>
          <p:nvPr>
            <p:ph type="body" idx="1"/>
          </p:nvPr>
        </p:nvSpPr>
        <p:spPr/>
        <p:txBody>
          <a:bodyPr/>
          <a:lstStyle/>
          <a:p>
            <a:endParaRPr lang="en-US"/>
          </a:p>
        </p:txBody>
      </p:sp>
    </p:spTree>
    <p:extLst>
      <p:ext uri="{BB962C8B-B14F-4D97-AF65-F5344CB8AC3E}">
        <p14:creationId xmlns:p14="http://schemas.microsoft.com/office/powerpoint/2010/main" val="33076972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p:cNvSpPr>
          <p:nvPr>
            <p:ph type="sldNum" sz="quarter" idx="5"/>
          </p:nvPr>
        </p:nvSpPr>
        <p:spPr>
          <a:ln/>
        </p:spPr>
        <p:txBody>
          <a:bodyPr/>
          <a:lstStyle/>
          <a:p>
            <a:fld id="{CF700449-F7BD-45C6-B7C3-6BCD8848A1B1}" type="slidenum">
              <a:rPr lang="en-US"/>
              <a:pPr/>
              <a:t>40</a:t>
            </a:fld>
            <a:endParaRPr lang="en-US"/>
          </a:p>
        </p:txBody>
      </p:sp>
      <p:sp>
        <p:nvSpPr>
          <p:cNvPr id="192514" name="Rectangle 2"/>
          <p:cNvSpPr>
            <a:spLocks noGrp="1" noRot="1" noChangeAspect="1" noChangeArrowheads="1" noTextEdit="1"/>
          </p:cNvSpPr>
          <p:nvPr>
            <p:ph type="sldImg"/>
          </p:nvPr>
        </p:nvSpPr>
        <p:spPr>
          <a:ln/>
        </p:spPr>
      </p:sp>
      <p:sp>
        <p:nvSpPr>
          <p:cNvPr id="192515" name="Rectangle 3"/>
          <p:cNvSpPr>
            <a:spLocks noGrp="1"/>
          </p:cNvSpPr>
          <p:nvPr>
            <p:ph type="body" idx="1"/>
          </p:nvPr>
        </p:nvSpPr>
        <p:spPr/>
        <p:txBody>
          <a:bodyPr/>
          <a:lstStyle/>
          <a:p>
            <a:endParaRPr lang="en-US"/>
          </a:p>
        </p:txBody>
      </p:sp>
    </p:spTree>
    <p:extLst>
      <p:ext uri="{BB962C8B-B14F-4D97-AF65-F5344CB8AC3E}">
        <p14:creationId xmlns:p14="http://schemas.microsoft.com/office/powerpoint/2010/main" val="31212900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Stage 2 </a:t>
            </a:r>
            <a:r>
              <a:rPr lang="en-AU" dirty="0" err="1"/>
              <a:t>wace</a:t>
            </a:r>
            <a:r>
              <a:rPr lang="en-AU" dirty="0"/>
              <a:t> 2013 &amp; 2013</a:t>
            </a:r>
          </a:p>
        </p:txBody>
      </p:sp>
      <p:sp>
        <p:nvSpPr>
          <p:cNvPr id="4" name="Slide Number Placeholder 3"/>
          <p:cNvSpPr>
            <a:spLocks noGrp="1"/>
          </p:cNvSpPr>
          <p:nvPr>
            <p:ph type="sldNum" sz="quarter" idx="10"/>
          </p:nvPr>
        </p:nvSpPr>
        <p:spPr/>
        <p:txBody>
          <a:bodyPr/>
          <a:lstStyle/>
          <a:p>
            <a:fld id="{8C9AF0EC-87AA-4D79-8556-1C0AB2E93A09}" type="slidenum">
              <a:rPr lang="en-AU" smtClean="0"/>
              <a:t>48</a:t>
            </a:fld>
            <a:endParaRPr lang="en-AU"/>
          </a:p>
        </p:txBody>
      </p:sp>
    </p:spTree>
    <p:extLst>
      <p:ext uri="{BB962C8B-B14F-4D97-AF65-F5344CB8AC3E}">
        <p14:creationId xmlns:p14="http://schemas.microsoft.com/office/powerpoint/2010/main" val="37127225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pPr eaLnBrk="1" latinLnBrk="0" hangingPunct="1"/>
            <a:fld id="{7CB97365-EBCA-4027-87D5-99FC1D4DF0BB}" type="datetimeFigureOut">
              <a:rPr lang="en-US" smtClean="0"/>
              <a:pPr eaLnBrk="1" latinLnBrk="0" hangingPunct="1"/>
              <a:t>6/26/2023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eaLnBrk="1" latinLnBrk="0" hangingPunct="1"/>
              <a:t>‹#›</a:t>
            </a:fld>
            <a:endParaRPr kumimoji="0" lang="en-US"/>
          </a:p>
        </p:txBody>
      </p:sp>
      <p:sp>
        <p:nvSpPr>
          <p:cNvPr id="11" name="Rectangle 10"/>
          <p:cNvSpPr/>
          <p:nvPr/>
        </p:nvSpPr>
        <p:spPr>
          <a:xfrm>
            <a:off x="0" y="0"/>
            <a:ext cx="9144000" cy="4572001"/>
          </a:xfrm>
          <a:prstGeom prst="rect">
            <a:avLst/>
          </a:prstGeom>
          <a:blipFill dpi="0" rotWithShape="1">
            <a:blip r:embed="rId2">
              <a:duotone>
                <a:schemeClr val="accent2">
                  <a:shade val="45000"/>
                  <a:satMod val="135000"/>
                </a:schemeClr>
                <a:prstClr val="white"/>
              </a:duotone>
            </a:blip>
            <a:srcRect/>
            <a:tile tx="-165100" ty="-7620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p:cNvCxnSpPr/>
          <p:nvPr/>
        </p:nvCxnSpPr>
        <p:spPr>
          <a:xfrm flipV="1">
            <a:off x="629013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2207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eaLnBrk="1" latinLnBrk="0" hangingPunct="1"/>
            <a:fld id="{7CB97365-EBCA-4027-87D5-99FC1D4DF0BB}" type="datetimeFigureOut">
              <a:rPr lang="en-US" smtClean="0"/>
              <a:pPr eaLnBrk="1" latinLnBrk="0" hangingPunct="1"/>
              <a:t>6/26/2023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eaLnBrk="1" latinLnBrk="0" hangingPunct="1"/>
              <a:t>‹#›</a:t>
            </a:fld>
            <a:endParaRPr kumimoji="0" lang="en-US"/>
          </a:p>
        </p:txBody>
      </p:sp>
    </p:spTree>
    <p:extLst>
      <p:ext uri="{BB962C8B-B14F-4D97-AF65-F5344CB8AC3E}">
        <p14:creationId xmlns:p14="http://schemas.microsoft.com/office/powerpoint/2010/main" val="2213122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eaLnBrk="1" latinLnBrk="0" hangingPunct="1"/>
            <a:fld id="{7CB97365-EBCA-4027-87D5-99FC1D4DF0BB}" type="datetimeFigureOut">
              <a:rPr lang="en-US" smtClean="0"/>
              <a:pPr eaLnBrk="1" latinLnBrk="0" hangingPunct="1"/>
              <a:t>6/26/2023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eaLnBrk="1" latinLnBrk="0" hangingPunct="1"/>
              <a:t>‹#›</a:t>
            </a:fld>
            <a:endParaRPr kumimoji="0" lang="en-US"/>
          </a:p>
        </p:txBody>
      </p:sp>
      <p:sp>
        <p:nvSpPr>
          <p:cNvPr id="10" name="Rectangle 9"/>
          <p:cNvSpPr/>
          <p:nvPr/>
        </p:nvSpPr>
        <p:spPr>
          <a:xfrm>
            <a:off x="0" y="0"/>
            <a:ext cx="9144000" cy="4572000"/>
          </a:xfrm>
          <a:prstGeom prst="rect">
            <a:avLst/>
          </a:prstGeom>
          <a:blipFill dpi="0" rotWithShape="1">
            <a:blip r:embed="rId2">
              <a:duotone>
                <a:schemeClr val="accent1">
                  <a:shade val="45000"/>
                  <a:satMod val="135000"/>
                </a:schemeClr>
                <a:prstClr val="white"/>
              </a:duotone>
            </a:blip>
            <a:srcRect/>
            <a:tile tx="-165100" ty="-7620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4552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eaLnBrk="1" latinLnBrk="0" hangingPunct="1"/>
            <a:fld id="{7CB97365-EBCA-4027-87D5-99FC1D4DF0BB}" type="datetimeFigureOut">
              <a:rPr lang="en-US" smtClean="0"/>
              <a:pPr eaLnBrk="1" latinLnBrk="0" hangingPunct="1"/>
              <a:t>6/26/2023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eaLnBrk="1" latinLnBrk="0" hangingPunct="1"/>
              <a:t>‹#›</a:t>
            </a:fld>
            <a:endParaRPr kumimoji="0" lang="en-US"/>
          </a:p>
        </p:txBody>
      </p:sp>
    </p:spTree>
    <p:extLst>
      <p:ext uri="{BB962C8B-B14F-4D97-AF65-F5344CB8AC3E}">
        <p14:creationId xmlns:p14="http://schemas.microsoft.com/office/powerpoint/2010/main" val="3959738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eaLnBrk="1" latinLnBrk="0" hangingPunct="1"/>
            <a:fld id="{7CB97365-EBCA-4027-87D5-99FC1D4DF0BB}" type="datetimeFigureOut">
              <a:rPr lang="en-US" smtClean="0"/>
              <a:pPr eaLnBrk="1" latinLnBrk="0" hangingPunct="1"/>
              <a:t>6/26/2023</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69E29E33-B620-47F9-BB04-8846C2A5AFCC}" type="slidenum">
              <a:rPr kumimoji="0" lang="en-US" smtClean="0"/>
              <a:pPr eaLnBrk="1" latinLnBrk="0" hangingPunct="1"/>
              <a:t>‹#›</a:t>
            </a:fld>
            <a:endParaRPr kumimoji="0" lang="en-US"/>
          </a:p>
        </p:txBody>
      </p:sp>
    </p:spTree>
    <p:extLst>
      <p:ext uri="{BB962C8B-B14F-4D97-AF65-F5344CB8AC3E}">
        <p14:creationId xmlns:p14="http://schemas.microsoft.com/office/powerpoint/2010/main" val="3791184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eaLnBrk="1" latinLnBrk="0" hangingPunct="1"/>
            <a:fld id="{7CB97365-EBCA-4027-87D5-99FC1D4DF0BB}" type="datetimeFigureOut">
              <a:rPr lang="en-US" smtClean="0"/>
              <a:pPr eaLnBrk="1" latinLnBrk="0" hangingPunct="1"/>
              <a:t>6/26/2023</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69E29E33-B620-47F9-BB04-8846C2A5AFCC}" type="slidenum">
              <a:rPr kumimoji="0" lang="en-US" smtClean="0"/>
              <a:pPr eaLnBrk="1" latinLnBrk="0" hangingPunct="1"/>
              <a:t>‹#›</a:t>
            </a:fld>
            <a:endParaRPr kumimoji="0" lang="en-US"/>
          </a:p>
        </p:txBody>
      </p:sp>
    </p:spTree>
    <p:extLst>
      <p:ext uri="{BB962C8B-B14F-4D97-AF65-F5344CB8AC3E}">
        <p14:creationId xmlns:p14="http://schemas.microsoft.com/office/powerpoint/2010/main" val="1853154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7CB97365-EBCA-4027-87D5-99FC1D4DF0BB}" type="datetimeFigureOut">
              <a:rPr lang="en-US" smtClean="0"/>
              <a:pPr eaLnBrk="1" latinLnBrk="0" hangingPunct="1"/>
              <a:t>6/26/2023</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69E29E33-B620-47F9-BB04-8846C2A5AFCC}" type="slidenum">
              <a:rPr kumimoji="0" lang="en-US" smtClean="0"/>
              <a:pPr eaLnBrk="1" latinLnBrk="0" hangingPunct="1"/>
              <a:t>‹#›</a:t>
            </a:fld>
            <a:endParaRPr kumimoji="0" lang="en-US"/>
          </a:p>
        </p:txBody>
      </p:sp>
    </p:spTree>
    <p:extLst>
      <p:ext uri="{BB962C8B-B14F-4D97-AF65-F5344CB8AC3E}">
        <p14:creationId xmlns:p14="http://schemas.microsoft.com/office/powerpoint/2010/main" val="3104903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eaLnBrk="1" latinLnBrk="0" hangingPunct="1"/>
            <a:fld id="{7CB97365-EBCA-4027-87D5-99FC1D4DF0BB}" type="datetimeFigureOut">
              <a:rPr lang="en-US" smtClean="0"/>
              <a:pPr eaLnBrk="1" latinLnBrk="0" hangingPunct="1"/>
              <a:t>6/26/2023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eaLnBrk="1" latinLnBrk="0" hangingPunct="1"/>
              <a:t>‹#›</a:t>
            </a:fld>
            <a:endParaRPr kumimoji="0" lang="en-US"/>
          </a:p>
        </p:txBody>
      </p:sp>
    </p:spTree>
    <p:extLst>
      <p:ext uri="{BB962C8B-B14F-4D97-AF65-F5344CB8AC3E}">
        <p14:creationId xmlns:p14="http://schemas.microsoft.com/office/powerpoint/2010/main" val="851960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2">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eaLnBrk="1" latinLnBrk="0" hangingPunct="1"/>
            <a:fld id="{7CB97365-EBCA-4027-87D5-99FC1D4DF0BB}" type="datetimeFigureOut">
              <a:rPr lang="en-US" smtClean="0"/>
              <a:pPr eaLnBrk="1" latinLnBrk="0" hangingPunct="1"/>
              <a:t>6/26/2023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eaLnBrk="1" latinLnBrk="0" hangingPunct="1"/>
              <a:t>‹#›</a:t>
            </a:fld>
            <a:endParaRPr kumimoji="0"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8909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eaLnBrk="1" latinLnBrk="0" hangingPunct="1"/>
            <a:fld id="{7CB97365-EBCA-4027-87D5-99FC1D4DF0BB}" type="datetimeFigureOut">
              <a:rPr lang="en-US" smtClean="0"/>
              <a:pPr eaLnBrk="1" latinLnBrk="0" hangingPunct="1"/>
              <a:t>6/26/2023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eaLnBrk="1" latinLnBrk="0" hangingPunct="1"/>
              <a:t>‹#›</a:t>
            </a:fld>
            <a:endParaRPr kumimoji="0" lang="en-US"/>
          </a:p>
        </p:txBody>
      </p:sp>
    </p:spTree>
    <p:extLst>
      <p:ext uri="{BB962C8B-B14F-4D97-AF65-F5344CB8AC3E}">
        <p14:creationId xmlns:p14="http://schemas.microsoft.com/office/powerpoint/2010/main" val="954023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eaLnBrk="1" latinLnBrk="0" hangingPunct="1"/>
            <a:fld id="{7CB97365-EBCA-4027-87D5-99FC1D4DF0BB}" type="datetimeFigureOut">
              <a:rPr lang="en-US" smtClean="0"/>
              <a:pPr eaLnBrk="1" latinLnBrk="0" hangingPunct="1"/>
              <a:t>6/26/2023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eaLnBrk="1" latinLnBrk="0" hangingPunct="1"/>
              <a:t>‹#›</a:t>
            </a:fld>
            <a:endParaRPr kumimoji="0" lang="en-US"/>
          </a:p>
        </p:txBody>
      </p:sp>
      <p:cxnSp>
        <p:nvCxnSpPr>
          <p:cNvPr id="8" name="Straight Connector 7"/>
          <p:cNvCxnSpPr/>
          <p:nvPr/>
        </p:nvCxnSpPr>
        <p:spPr>
          <a:xfrm rot="5400000" flipV="1">
            <a:off x="7543800" y="17356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7280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41148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copyright cmassengale</a:t>
            </a:r>
          </a:p>
        </p:txBody>
      </p:sp>
      <p:sp>
        <p:nvSpPr>
          <p:cNvPr id="7" name="Rectangle 6"/>
          <p:cNvSpPr>
            <a:spLocks noGrp="1" noChangeArrowheads="1"/>
          </p:cNvSpPr>
          <p:nvPr>
            <p:ph type="sldNum" sz="quarter" idx="12"/>
          </p:nvPr>
        </p:nvSpPr>
        <p:spPr>
          <a:ln/>
        </p:spPr>
        <p:txBody>
          <a:bodyPr/>
          <a:lstStyle>
            <a:lvl1pPr>
              <a:defRPr/>
            </a:lvl1pPr>
          </a:lstStyle>
          <a:p>
            <a:pPr>
              <a:defRPr/>
            </a:pPr>
            <a:fld id="{52B21C28-9CF6-479E-BCA4-53FBB0B9D95E}" type="slidenum">
              <a:rPr lang="en-US"/>
              <a:pPr>
                <a:defRPr/>
              </a:pPr>
              <a:t>‹#›</a:t>
            </a:fld>
            <a:endParaRPr lang="en-US"/>
          </a:p>
        </p:txBody>
      </p:sp>
    </p:spTree>
    <p:extLst>
      <p:ext uri="{BB962C8B-B14F-4D97-AF65-F5344CB8AC3E}">
        <p14:creationId xmlns:p14="http://schemas.microsoft.com/office/powerpoint/2010/main" val="4168137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3" name="Rectangle 4"/>
          <p:cNvSpPr>
            <a:spLocks noGrp="1" noChangeArrowheads="1"/>
          </p:cNvSpPr>
          <p:nvPr>
            <p:ph type="dt" sz="half" idx="10"/>
          </p:nvPr>
        </p:nvSpPr>
        <p:spPr>
          <a:ln/>
        </p:spPr>
        <p:txBody>
          <a:bodyPr/>
          <a:lstStyle>
            <a:lvl1pPr>
              <a:defRPr/>
            </a:lvl1pPr>
          </a:lstStyle>
          <a:p>
            <a:pPr>
              <a:defRPr/>
            </a:pPr>
            <a:endParaRPr lang="en-AU" alt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AU" alt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FD389E17-65D9-4F38-A3FD-A064DCF9BEB8}" type="slidenum">
              <a:rPr lang="en-AU" altLang="en-US">
                <a:solidFill>
                  <a:srgbClr val="000000"/>
                </a:solidFill>
              </a:rPr>
              <a:pPr>
                <a:defRPr/>
              </a:pPr>
              <a:t>‹#›</a:t>
            </a:fld>
            <a:endParaRPr lang="en-AU" altLang="en-US">
              <a:solidFill>
                <a:srgbClr val="000000"/>
              </a:solidFill>
            </a:endParaRPr>
          </a:p>
        </p:txBody>
      </p:sp>
    </p:spTree>
    <p:extLst>
      <p:ext uri="{BB962C8B-B14F-4D97-AF65-F5344CB8AC3E}">
        <p14:creationId xmlns:p14="http://schemas.microsoft.com/office/powerpoint/2010/main" val="604454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eaLnBrk="1" latinLnBrk="0" hangingPunct="1"/>
            <a:fld id="{7CB97365-EBCA-4027-87D5-99FC1D4DF0BB}" type="datetimeFigureOut">
              <a:rPr lang="en-US" smtClean="0"/>
              <a:pPr eaLnBrk="1" latinLnBrk="0" hangingPunct="1"/>
              <a:t>6/26/2023</a:t>
            </a:fld>
            <a:endParaRPr lang="en-US">
              <a:solidFill>
                <a:schemeClr val="tx1">
                  <a:shade val="50000"/>
                </a:schemeClr>
              </a:solidFill>
            </a:endParaRPr>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kumimoji="0" lang="en-US">
              <a:solidFill>
                <a:schemeClr val="tx1">
                  <a:shade val="50000"/>
                </a:schemeClr>
              </a:solidFill>
            </a:endParaRPr>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9E29E33-B620-47F9-BB04-8846C2A5AFCC}" type="slidenum">
              <a:rPr kumimoji="0" lang="en-US" smtClean="0"/>
              <a:pPr eaLnBrk="1" latinLnBrk="0" hangingPunct="1"/>
              <a:t>‹#›</a:t>
            </a:fld>
            <a:endParaRPr kumimoji="0" lang="en-US" dirty="0">
              <a:solidFill>
                <a:schemeClr val="tx1">
                  <a:shade val="50000"/>
                </a:schemeClr>
              </a:solidFill>
            </a:endParaRPr>
          </a:p>
        </p:txBody>
      </p:sp>
      <p:cxnSp>
        <p:nvCxnSpPr>
          <p:cNvPr id="8" name="Straight Connector 7"/>
          <p:cNvCxnSpPr/>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596512"/>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audio" Target="../media/audio3.bin"/><Relationship Id="rId4" Type="http://schemas.openxmlformats.org/officeDocument/2006/relationships/audio" Target="../media/audio2.bin"/></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audio" Target="../media/audio4.bin"/><Relationship Id="rId4" Type="http://schemas.openxmlformats.org/officeDocument/2006/relationships/audio" Target="../media/audio3.bin"/></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hyperlink" Target="https://www.wisc-online.com/learn/natural-science/life-science/ap1101/construction-of-the-cell-membran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hyperlink" Target="http://www.whatislife.com/education/fact/history.htm" TargetMode="Externa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www.sheppardsoftware.com/health/anatomy/cell/cell_game.htm" TargetMode="External"/><Relationship Id="rId2" Type="http://schemas.openxmlformats.org/officeDocument/2006/relationships/hyperlink" Target="http://www.sheppardsoftware.com/health/anatomy/cell/plant_cell_game.htm"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54.jpg"/><Relationship Id="rId4" Type="http://schemas.openxmlformats.org/officeDocument/2006/relationships/image" Target="../media/image53.jpg"/></Relationships>
</file>

<file path=ppt/slides/_rels/slide4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3528" y="4725144"/>
            <a:ext cx="8229600" cy="1828800"/>
          </a:xfrm>
        </p:spPr>
        <p:txBody>
          <a:bodyPr>
            <a:normAutofit/>
          </a:bodyPr>
          <a:lstStyle/>
          <a:p>
            <a:pPr algn="ctr"/>
            <a:r>
              <a:rPr lang="en-AU" dirty="0">
                <a:solidFill>
                  <a:srgbClr val="00B050"/>
                </a:solidFill>
              </a:rPr>
              <a:t>Year 11 ATAR Biology</a:t>
            </a:r>
            <a:br>
              <a:rPr lang="en-AU" dirty="0"/>
            </a:br>
            <a:br>
              <a:rPr lang="en-AU" dirty="0"/>
            </a:br>
            <a:r>
              <a:rPr lang="en-AU" dirty="0">
                <a:solidFill>
                  <a:srgbClr val="0070C0"/>
                </a:solidFill>
              </a:rPr>
              <a:t>Week 20 - Features of Eukaryote cells</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928865"/>
            <a:ext cx="5110162" cy="3892550"/>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4590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1161" y="234331"/>
            <a:ext cx="7024744" cy="1143000"/>
          </a:xfrm>
        </p:spPr>
        <p:txBody>
          <a:bodyPr>
            <a:normAutofit/>
          </a:bodyPr>
          <a:lstStyle/>
          <a:p>
            <a:r>
              <a:rPr lang="en-AU" dirty="0">
                <a:solidFill>
                  <a:srgbClr val="0070C0"/>
                </a:solidFill>
              </a:rPr>
              <a:t>Year 11 Biology Work Schedule</a:t>
            </a:r>
          </a:p>
        </p:txBody>
      </p:sp>
      <p:sp>
        <p:nvSpPr>
          <p:cNvPr id="3" name="Content Placeholder 2"/>
          <p:cNvSpPr>
            <a:spLocks noGrp="1"/>
          </p:cNvSpPr>
          <p:nvPr>
            <p:ph sz="quarter" idx="1"/>
          </p:nvPr>
        </p:nvSpPr>
        <p:spPr>
          <a:xfrm>
            <a:off x="651766" y="1384040"/>
            <a:ext cx="7886700" cy="3263504"/>
          </a:xfrm>
        </p:spPr>
        <p:txBody>
          <a:bodyPr>
            <a:normAutofit/>
          </a:bodyPr>
          <a:lstStyle/>
          <a:p>
            <a:pPr marL="0" indent="0">
              <a:buNone/>
            </a:pPr>
            <a:r>
              <a:rPr lang="en-AU" altLang="en-US" sz="2000" dirty="0"/>
              <a:t>It is important to remain on schedule during this Semester.</a:t>
            </a:r>
          </a:p>
          <a:p>
            <a:pPr marL="0" indent="0">
              <a:buNone/>
            </a:pPr>
            <a:r>
              <a:rPr lang="en-AU" altLang="en-US" sz="2000" b="1" dirty="0"/>
              <a:t>Moodle</a:t>
            </a:r>
          </a:p>
          <a:p>
            <a:r>
              <a:rPr lang="en-AU" altLang="en-US" sz="2000" dirty="0"/>
              <a:t>Have you visited Moodle this week?        		Yes / No</a:t>
            </a:r>
          </a:p>
          <a:p>
            <a:pPr marL="0" indent="0">
              <a:buNone/>
            </a:pPr>
            <a:r>
              <a:rPr lang="en-AU" altLang="en-US" sz="2000" b="1" dirty="0"/>
              <a:t>Tasks</a:t>
            </a:r>
          </a:p>
          <a:p>
            <a:r>
              <a:rPr lang="en-AU" altLang="en-US" sz="2000" dirty="0"/>
              <a:t>Are you on schedule?		    	        	Yes / No</a:t>
            </a:r>
          </a:p>
          <a:p>
            <a:r>
              <a:rPr lang="en-AU" altLang="en-US" sz="2000" dirty="0"/>
              <a:t>When is your next task due?</a:t>
            </a:r>
          </a:p>
          <a:p>
            <a:endParaRPr lang="en-AU" dirty="0"/>
          </a:p>
        </p:txBody>
      </p:sp>
      <p:pic>
        <p:nvPicPr>
          <p:cNvPr id="5" name="Picture 4"/>
          <p:cNvPicPr>
            <a:picLocks noChangeAspect="1"/>
          </p:cNvPicPr>
          <p:nvPr/>
        </p:nvPicPr>
        <p:blipFill>
          <a:blip r:embed="rId2"/>
          <a:stretch>
            <a:fillRect/>
          </a:stretch>
        </p:blipFill>
        <p:spPr>
          <a:xfrm>
            <a:off x="-1991" y="4361392"/>
            <a:ext cx="8951049" cy="2496608"/>
          </a:xfrm>
          <a:prstGeom prst="rect">
            <a:avLst/>
          </a:prstGeom>
        </p:spPr>
      </p:pic>
    </p:spTree>
    <p:extLst>
      <p:ext uri="{BB962C8B-B14F-4D97-AF65-F5344CB8AC3E}">
        <p14:creationId xmlns:p14="http://schemas.microsoft.com/office/powerpoint/2010/main" val="1565215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259608"/>
          </a:xfrm>
        </p:spPr>
        <p:txBody>
          <a:bodyPr/>
          <a:lstStyle/>
          <a:p>
            <a:r>
              <a:rPr lang="en-AU" dirty="0">
                <a:solidFill>
                  <a:srgbClr val="0070C0"/>
                </a:solidFill>
              </a:rPr>
              <a:t>Review</a:t>
            </a:r>
          </a:p>
        </p:txBody>
      </p:sp>
      <p:pic>
        <p:nvPicPr>
          <p:cNvPr id="4" name="Picture 3"/>
          <p:cNvPicPr>
            <a:picLocks noChangeAspect="1"/>
          </p:cNvPicPr>
          <p:nvPr/>
        </p:nvPicPr>
        <p:blipFill>
          <a:blip r:embed="rId3"/>
          <a:stretch>
            <a:fillRect/>
          </a:stretch>
        </p:blipFill>
        <p:spPr>
          <a:xfrm>
            <a:off x="655598" y="1916832"/>
            <a:ext cx="6248628" cy="1512168"/>
          </a:xfrm>
          <a:prstGeom prst="rect">
            <a:avLst/>
          </a:prstGeom>
        </p:spPr>
      </p:pic>
      <p:pic>
        <p:nvPicPr>
          <p:cNvPr id="5" name="Picture 4"/>
          <p:cNvPicPr>
            <a:picLocks noChangeAspect="1"/>
          </p:cNvPicPr>
          <p:nvPr/>
        </p:nvPicPr>
        <p:blipFill>
          <a:blip r:embed="rId4"/>
          <a:stretch>
            <a:fillRect/>
          </a:stretch>
        </p:blipFill>
        <p:spPr>
          <a:xfrm>
            <a:off x="624167" y="3861048"/>
            <a:ext cx="6280059" cy="1469297"/>
          </a:xfrm>
          <a:prstGeom prst="rect">
            <a:avLst/>
          </a:prstGeom>
        </p:spPr>
      </p:pic>
    </p:spTree>
    <p:extLst>
      <p:ext uri="{BB962C8B-B14F-4D97-AF65-F5344CB8AC3E}">
        <p14:creationId xmlns:p14="http://schemas.microsoft.com/office/powerpoint/2010/main" val="2585007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5" y="329280"/>
            <a:ext cx="7290054" cy="899568"/>
          </a:xfrm>
        </p:spPr>
        <p:txBody>
          <a:bodyPr/>
          <a:lstStyle/>
          <a:p>
            <a:r>
              <a:rPr lang="en-AU" dirty="0">
                <a:solidFill>
                  <a:srgbClr val="0070C0"/>
                </a:solidFill>
              </a:rPr>
              <a:t>Learning Intentions</a:t>
            </a:r>
          </a:p>
        </p:txBody>
      </p:sp>
      <p:sp>
        <p:nvSpPr>
          <p:cNvPr id="3" name="Content Placeholder 2"/>
          <p:cNvSpPr>
            <a:spLocks noGrp="1"/>
          </p:cNvSpPr>
          <p:nvPr>
            <p:ph idx="1"/>
          </p:nvPr>
        </p:nvSpPr>
        <p:spPr>
          <a:xfrm>
            <a:off x="768095" y="1120050"/>
            <a:ext cx="7898115" cy="3600400"/>
          </a:xfrm>
        </p:spPr>
        <p:txBody>
          <a:bodyPr>
            <a:normAutofit/>
          </a:bodyPr>
          <a:lstStyle/>
          <a:p>
            <a:pPr lvl="0">
              <a:buFont typeface="Wingdings" panose="05000000000000000000" pitchFamily="2" charset="2"/>
              <a:buChar char="Ø"/>
            </a:pPr>
            <a:r>
              <a:rPr lang="en-AU" dirty="0"/>
              <a:t> Eukaryotic cells carry out specific cellular functions in specialised structures and organelles, including:</a:t>
            </a:r>
          </a:p>
          <a:p>
            <a:pPr lvl="4"/>
            <a:r>
              <a:rPr lang="en-AU" sz="1700" dirty="0"/>
              <a:t>cell membrane</a:t>
            </a:r>
          </a:p>
          <a:p>
            <a:pPr lvl="4"/>
            <a:r>
              <a:rPr lang="en-AU" sz="1700" dirty="0"/>
              <a:t>cell wall</a:t>
            </a:r>
          </a:p>
          <a:p>
            <a:pPr lvl="4"/>
            <a:r>
              <a:rPr lang="en-AU" sz="1700" dirty="0"/>
              <a:t>chloroplasts</a:t>
            </a:r>
          </a:p>
          <a:p>
            <a:pPr lvl="4"/>
            <a:r>
              <a:rPr lang="en-AU" sz="1700" dirty="0"/>
              <a:t>endoplasmic reticulum (rough and smooth)</a:t>
            </a:r>
          </a:p>
          <a:p>
            <a:pPr lvl="4"/>
            <a:r>
              <a:rPr lang="en-AU" sz="1700" dirty="0" err="1"/>
              <a:t>golgi</a:t>
            </a:r>
            <a:r>
              <a:rPr lang="en-AU" sz="1700" dirty="0"/>
              <a:t> apparatus</a:t>
            </a:r>
          </a:p>
          <a:p>
            <a:pPr>
              <a:buFont typeface="Wingdings" panose="05000000000000000000" pitchFamily="2" charset="2"/>
              <a:buChar char="Ø"/>
            </a:pPr>
            <a:r>
              <a:rPr lang="en-AU" dirty="0"/>
              <a:t> The cell membrane model has been continually reconceptualised and revised and the currently accepted model, is the fluid mosaic model.</a:t>
            </a:r>
          </a:p>
          <a:p>
            <a:pPr lvl="0"/>
            <a:endParaRPr lang="en-AU" dirty="0"/>
          </a:p>
          <a:p>
            <a:endParaRPr lang="en-AU" dirty="0"/>
          </a:p>
        </p:txBody>
      </p:sp>
      <p:sp>
        <p:nvSpPr>
          <p:cNvPr id="5" name="Content Placeholder 2"/>
          <p:cNvSpPr txBox="1">
            <a:spLocks/>
          </p:cNvSpPr>
          <p:nvPr/>
        </p:nvSpPr>
        <p:spPr>
          <a:xfrm>
            <a:off x="4723358" y="1772816"/>
            <a:ext cx="3505627" cy="1656184"/>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lvl="4"/>
            <a:r>
              <a:rPr lang="en-AU" sz="1700" dirty="0"/>
              <a:t>lysosomes</a:t>
            </a:r>
          </a:p>
          <a:p>
            <a:pPr lvl="4"/>
            <a:r>
              <a:rPr lang="en-AU" sz="1700" dirty="0"/>
              <a:t>mitochondria</a:t>
            </a:r>
          </a:p>
          <a:p>
            <a:pPr lvl="4"/>
            <a:r>
              <a:rPr lang="en-AU" sz="1700" dirty="0"/>
              <a:t>nucleus</a:t>
            </a:r>
          </a:p>
          <a:p>
            <a:pPr lvl="4"/>
            <a:r>
              <a:rPr lang="en-AU" sz="1700" dirty="0"/>
              <a:t>ribosomes</a:t>
            </a:r>
          </a:p>
          <a:p>
            <a:pPr lvl="4"/>
            <a:r>
              <a:rPr lang="en-AU" sz="1700" dirty="0"/>
              <a:t>vacuoles</a:t>
            </a:r>
          </a:p>
          <a:p>
            <a:endParaRPr lang="en-AU" dirty="0"/>
          </a:p>
          <a:p>
            <a:endParaRPr lang="en-AU" dirty="0"/>
          </a:p>
        </p:txBody>
      </p:sp>
      <p:sp>
        <p:nvSpPr>
          <p:cNvPr id="6" name="Title 1"/>
          <p:cNvSpPr txBox="1">
            <a:spLocks/>
          </p:cNvSpPr>
          <p:nvPr/>
        </p:nvSpPr>
        <p:spPr>
          <a:xfrm>
            <a:off x="782380" y="4275893"/>
            <a:ext cx="7290054" cy="899568"/>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r>
              <a:rPr lang="en-AU" dirty="0">
                <a:solidFill>
                  <a:srgbClr val="0070C0"/>
                </a:solidFill>
              </a:rPr>
              <a:t>Success criteria</a:t>
            </a:r>
          </a:p>
        </p:txBody>
      </p:sp>
      <p:sp>
        <p:nvSpPr>
          <p:cNvPr id="8" name="Content Placeholder 2"/>
          <p:cNvSpPr txBox="1">
            <a:spLocks/>
          </p:cNvSpPr>
          <p:nvPr/>
        </p:nvSpPr>
        <p:spPr>
          <a:xfrm>
            <a:off x="768096" y="5071888"/>
            <a:ext cx="7898115" cy="1097325"/>
          </a:xfrm>
          <a:prstGeom prst="rect">
            <a:avLst/>
          </a:prstGeom>
        </p:spPr>
        <p:txBody>
          <a:bodyPr vert="horz" lIns="45720" tIns="45720" rIns="45720" bIns="45720" rtlCol="0">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pPr marL="0" indent="0">
              <a:buNone/>
            </a:pPr>
            <a:r>
              <a:rPr lang="en-AU" dirty="0"/>
              <a:t>Students will be able to:</a:t>
            </a:r>
          </a:p>
          <a:p>
            <a:pPr>
              <a:buFont typeface="Wingdings" panose="05000000000000000000" pitchFamily="2" charset="2"/>
              <a:buChar char="Ø"/>
            </a:pPr>
            <a:r>
              <a:rPr lang="en-AU" dirty="0"/>
              <a:t> Describe the structure and function of cell organelles. </a:t>
            </a:r>
          </a:p>
          <a:p>
            <a:pPr>
              <a:buFont typeface="Wingdings" panose="05000000000000000000" pitchFamily="2" charset="2"/>
              <a:buChar char="Ø"/>
            </a:pPr>
            <a:r>
              <a:rPr lang="en-AU" dirty="0"/>
              <a:t> Label eukaryotic cell organelles. </a:t>
            </a:r>
          </a:p>
        </p:txBody>
      </p:sp>
    </p:spTree>
    <p:extLst>
      <p:ext uri="{BB962C8B-B14F-4D97-AF65-F5344CB8AC3E}">
        <p14:creationId xmlns:p14="http://schemas.microsoft.com/office/powerpoint/2010/main" val="1694502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99592" y="773213"/>
            <a:ext cx="7071742" cy="5464099"/>
          </a:xfrm>
          <a:prstGeom prst="rect">
            <a:avLst/>
          </a:prstGeom>
        </p:spPr>
      </p:pic>
      <p:sp>
        <p:nvSpPr>
          <p:cNvPr id="3" name="Title 4">
            <a:extLst>
              <a:ext uri="{FF2B5EF4-FFF2-40B4-BE49-F238E27FC236}">
                <a16:creationId xmlns:a16="http://schemas.microsoft.com/office/drawing/2014/main" id="{7860B09F-D8B2-4B2D-9193-972753DC8410}"/>
              </a:ext>
            </a:extLst>
          </p:cNvPr>
          <p:cNvSpPr txBox="1">
            <a:spLocks/>
          </p:cNvSpPr>
          <p:nvPr/>
        </p:nvSpPr>
        <p:spPr>
          <a:xfrm>
            <a:off x="107504" y="77477"/>
            <a:ext cx="6408712" cy="533784"/>
          </a:xfrm>
          <a:prstGeom prst="rect">
            <a:avLst/>
          </a:prstGeom>
        </p:spPr>
        <p:txBody>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r>
              <a:rPr lang="en-AU" sz="3600" dirty="0" err="1">
                <a:solidFill>
                  <a:srgbClr val="0070C0"/>
                </a:solidFill>
              </a:rPr>
              <a:t>Yr</a:t>
            </a:r>
            <a:r>
              <a:rPr lang="en-AU" sz="3600" dirty="0">
                <a:solidFill>
                  <a:srgbClr val="0070C0"/>
                </a:solidFill>
              </a:rPr>
              <a:t> 8 Science: What do you remember?</a:t>
            </a:r>
          </a:p>
        </p:txBody>
      </p:sp>
      <p:sp>
        <p:nvSpPr>
          <p:cNvPr id="5" name="Rectangle 4">
            <a:extLst>
              <a:ext uri="{FF2B5EF4-FFF2-40B4-BE49-F238E27FC236}">
                <a16:creationId xmlns:a16="http://schemas.microsoft.com/office/drawing/2014/main" id="{290E3EFF-CCB0-4826-92F4-37B3E7E3D992}"/>
              </a:ext>
            </a:extLst>
          </p:cNvPr>
          <p:cNvSpPr/>
          <p:nvPr/>
        </p:nvSpPr>
        <p:spPr>
          <a:xfrm>
            <a:off x="6300192" y="1124744"/>
            <a:ext cx="864096"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1BFC2652-0D41-4A6C-BEB0-01FCF351C669}"/>
              </a:ext>
            </a:extLst>
          </p:cNvPr>
          <p:cNvSpPr/>
          <p:nvPr/>
        </p:nvSpPr>
        <p:spPr>
          <a:xfrm>
            <a:off x="5114598" y="1052736"/>
            <a:ext cx="864096"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EF548976-2019-48FE-9118-63BD2EB6064E}"/>
              </a:ext>
            </a:extLst>
          </p:cNvPr>
          <p:cNvSpPr/>
          <p:nvPr/>
        </p:nvSpPr>
        <p:spPr>
          <a:xfrm>
            <a:off x="4029403" y="1234989"/>
            <a:ext cx="864096"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09549091-35AE-4604-9FA3-DEEF7045AF19}"/>
              </a:ext>
            </a:extLst>
          </p:cNvPr>
          <p:cNvSpPr/>
          <p:nvPr/>
        </p:nvSpPr>
        <p:spPr>
          <a:xfrm>
            <a:off x="6516216" y="4653136"/>
            <a:ext cx="1080120"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F7C68B44-69C7-407D-88E3-4DBEFC5FD558}"/>
              </a:ext>
            </a:extLst>
          </p:cNvPr>
          <p:cNvSpPr/>
          <p:nvPr/>
        </p:nvSpPr>
        <p:spPr>
          <a:xfrm>
            <a:off x="4211960" y="5623011"/>
            <a:ext cx="1080120"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D7CEBFD1-9EDA-459C-8691-4038E64BCB9E}"/>
              </a:ext>
            </a:extLst>
          </p:cNvPr>
          <p:cNvSpPr/>
          <p:nvPr/>
        </p:nvSpPr>
        <p:spPr>
          <a:xfrm>
            <a:off x="3131840" y="5661248"/>
            <a:ext cx="1080120"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33F51984-2B87-40F9-98DC-256E94F4C4AE}"/>
              </a:ext>
            </a:extLst>
          </p:cNvPr>
          <p:cNvSpPr/>
          <p:nvPr/>
        </p:nvSpPr>
        <p:spPr>
          <a:xfrm>
            <a:off x="1835696" y="5661248"/>
            <a:ext cx="1224136"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9AAA1528-7D49-40D9-88B9-BE26A31158D0}"/>
              </a:ext>
            </a:extLst>
          </p:cNvPr>
          <p:cNvSpPr/>
          <p:nvPr/>
        </p:nvSpPr>
        <p:spPr>
          <a:xfrm>
            <a:off x="865627" y="5085184"/>
            <a:ext cx="1224136"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957A207D-EF76-4E74-B2C1-7E1BAC09E821}"/>
              </a:ext>
            </a:extLst>
          </p:cNvPr>
          <p:cNvSpPr/>
          <p:nvPr/>
        </p:nvSpPr>
        <p:spPr>
          <a:xfrm>
            <a:off x="1259632" y="5373216"/>
            <a:ext cx="1224136"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BCAAA7DD-B8B4-4E89-8E61-D0E387E2357D}"/>
              </a:ext>
            </a:extLst>
          </p:cNvPr>
          <p:cNvSpPr/>
          <p:nvPr/>
        </p:nvSpPr>
        <p:spPr>
          <a:xfrm>
            <a:off x="5580114" y="5292699"/>
            <a:ext cx="1872206"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4">
            <a:extLst>
              <a:ext uri="{FF2B5EF4-FFF2-40B4-BE49-F238E27FC236}">
                <a16:creationId xmlns:a16="http://schemas.microsoft.com/office/drawing/2014/main" id="{3C92B233-96D9-4F1A-A271-2C03CEFBA375}"/>
              </a:ext>
            </a:extLst>
          </p:cNvPr>
          <p:cNvSpPr/>
          <p:nvPr/>
        </p:nvSpPr>
        <p:spPr>
          <a:xfrm>
            <a:off x="6785059" y="1628800"/>
            <a:ext cx="811277"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7632F329-6D0B-4329-8677-696F4A31E742}"/>
              </a:ext>
            </a:extLst>
          </p:cNvPr>
          <p:cNvSpPr/>
          <p:nvPr/>
        </p:nvSpPr>
        <p:spPr>
          <a:xfrm>
            <a:off x="1280461" y="1916832"/>
            <a:ext cx="811277"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6">
            <a:extLst>
              <a:ext uri="{FF2B5EF4-FFF2-40B4-BE49-F238E27FC236}">
                <a16:creationId xmlns:a16="http://schemas.microsoft.com/office/drawing/2014/main" id="{DD68CF60-A8C7-475A-83A6-E347827B2265}"/>
              </a:ext>
            </a:extLst>
          </p:cNvPr>
          <p:cNvSpPr/>
          <p:nvPr/>
        </p:nvSpPr>
        <p:spPr>
          <a:xfrm>
            <a:off x="2248555" y="1553134"/>
            <a:ext cx="811277"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901335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99592" y="764704"/>
            <a:ext cx="7071742" cy="5464099"/>
          </a:xfrm>
          <a:prstGeom prst="rect">
            <a:avLst/>
          </a:prstGeom>
        </p:spPr>
      </p:pic>
      <p:sp>
        <p:nvSpPr>
          <p:cNvPr id="3" name="Title 4">
            <a:extLst>
              <a:ext uri="{FF2B5EF4-FFF2-40B4-BE49-F238E27FC236}">
                <a16:creationId xmlns:a16="http://schemas.microsoft.com/office/drawing/2014/main" id="{0DFDB029-668D-4943-937A-DEFA577D084C}"/>
              </a:ext>
            </a:extLst>
          </p:cNvPr>
          <p:cNvSpPr txBox="1">
            <a:spLocks/>
          </p:cNvSpPr>
          <p:nvPr/>
        </p:nvSpPr>
        <p:spPr>
          <a:xfrm>
            <a:off x="107504" y="77477"/>
            <a:ext cx="6408712" cy="533784"/>
          </a:xfrm>
          <a:prstGeom prst="rect">
            <a:avLst/>
          </a:prstGeom>
        </p:spPr>
        <p:txBody>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r>
              <a:rPr lang="en-AU" sz="3600" dirty="0" err="1">
                <a:solidFill>
                  <a:srgbClr val="0070C0"/>
                </a:solidFill>
              </a:rPr>
              <a:t>Yr</a:t>
            </a:r>
            <a:r>
              <a:rPr lang="en-AU" sz="3600" dirty="0">
                <a:solidFill>
                  <a:srgbClr val="0070C0"/>
                </a:solidFill>
              </a:rPr>
              <a:t> 8 Science: What do you remember?</a:t>
            </a:r>
          </a:p>
        </p:txBody>
      </p:sp>
    </p:spTree>
    <p:extLst>
      <p:ext uri="{BB962C8B-B14F-4D97-AF65-F5344CB8AC3E}">
        <p14:creationId xmlns:p14="http://schemas.microsoft.com/office/powerpoint/2010/main" val="2083107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187600"/>
          </a:xfrm>
        </p:spPr>
        <p:txBody>
          <a:bodyPr/>
          <a:lstStyle/>
          <a:p>
            <a:r>
              <a:rPr lang="en-AU" dirty="0">
                <a:solidFill>
                  <a:srgbClr val="0070C0"/>
                </a:solidFill>
              </a:rPr>
              <a:t>Animal &amp; Plant Cells</a:t>
            </a:r>
          </a:p>
        </p:txBody>
      </p:sp>
      <p:sp>
        <p:nvSpPr>
          <p:cNvPr id="4" name="Rectangle 3"/>
          <p:cNvSpPr>
            <a:spLocks noGrp="1" noChangeArrowheads="1"/>
          </p:cNvSpPr>
          <p:nvPr>
            <p:ph idx="1"/>
          </p:nvPr>
        </p:nvSpPr>
        <p:spPr>
          <a:xfrm>
            <a:off x="539552" y="1916832"/>
            <a:ext cx="8229600" cy="2232248"/>
          </a:xfrm>
        </p:spPr>
        <p:txBody>
          <a:bodyPr>
            <a:normAutofit/>
          </a:bodyPr>
          <a:lstStyle/>
          <a:p>
            <a:r>
              <a:rPr lang="en-US" dirty="0">
                <a:latin typeface="Calibri" panose="020F0502020204030204" pitchFamily="34" charset="0"/>
                <a:cs typeface="Calibri" panose="020F0502020204030204" pitchFamily="34" charset="0"/>
              </a:rPr>
              <a:t>Animal and plant cells have many organelles in common, as well as several features specific to each. </a:t>
            </a:r>
          </a:p>
          <a:p>
            <a:r>
              <a:rPr lang="en-US" b="1" dirty="0">
                <a:latin typeface="Calibri" panose="020F0502020204030204" pitchFamily="34" charset="0"/>
                <a:cs typeface="Calibri" panose="020F0502020204030204" pitchFamily="34" charset="0"/>
              </a:rPr>
              <a:t>Organelle</a:t>
            </a:r>
            <a:r>
              <a:rPr lang="en-US" dirty="0">
                <a:latin typeface="Calibri" panose="020F0502020204030204" pitchFamily="34" charset="0"/>
                <a:cs typeface="Calibri" panose="020F0502020204030204" pitchFamily="34" charset="0"/>
              </a:rPr>
              <a:t> is a </a:t>
            </a:r>
            <a:r>
              <a:rPr lang="en-AU" dirty="0">
                <a:latin typeface="Calibri" panose="020F0502020204030204" pitchFamily="34" charset="0"/>
                <a:cs typeface="Calibri" panose="020F0502020204030204" pitchFamily="34" charset="0"/>
              </a:rPr>
              <a:t>part within a cell that has a specific function.</a:t>
            </a:r>
            <a:endParaRPr lang="en-US" dirty="0">
              <a:latin typeface="Calibri" panose="020F0502020204030204" pitchFamily="34" charset="0"/>
              <a:cs typeface="Calibri" panose="020F0502020204030204" pitchFamily="34" charset="0"/>
            </a:endParaRPr>
          </a:p>
        </p:txBody>
      </p:sp>
      <p:pic>
        <p:nvPicPr>
          <p:cNvPr id="1026" name="Picture 2" descr="http://www.solpass.org/science4-5/cells/images/cell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1378" y="3429001"/>
            <a:ext cx="6507006" cy="3178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13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5"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8096" y="585216"/>
            <a:ext cx="7290054" cy="1259608"/>
          </a:xfrm>
        </p:spPr>
        <p:txBody>
          <a:bodyPr>
            <a:normAutofit/>
          </a:bodyPr>
          <a:lstStyle/>
          <a:p>
            <a:r>
              <a:rPr lang="en-US" dirty="0">
                <a:solidFill>
                  <a:srgbClr val="0070C0"/>
                </a:solidFill>
              </a:rPr>
              <a:t>Features Shared by Plant</a:t>
            </a:r>
            <a:br>
              <a:rPr lang="en-US" dirty="0">
                <a:solidFill>
                  <a:srgbClr val="0070C0"/>
                </a:solidFill>
              </a:rPr>
            </a:br>
            <a:r>
              <a:rPr lang="en-US" dirty="0">
                <a:solidFill>
                  <a:srgbClr val="0070C0"/>
                </a:solidFill>
              </a:rPr>
              <a:t>and Animal Cells</a:t>
            </a:r>
          </a:p>
        </p:txBody>
      </p:sp>
      <p:sp>
        <p:nvSpPr>
          <p:cNvPr id="44033" name="Rectangle 1"/>
          <p:cNvSpPr>
            <a:spLocks noGrp="1" noChangeArrowheads="1"/>
          </p:cNvSpPr>
          <p:nvPr>
            <p:ph idx="1"/>
          </p:nvPr>
        </p:nvSpPr>
        <p:spPr>
          <a:xfrm>
            <a:off x="611560" y="2082826"/>
            <a:ext cx="5472608" cy="4658541"/>
          </a:xfrm>
        </p:spPr>
        <p:txBody>
          <a:bodyPr>
            <a:normAutofit/>
          </a:bodyPr>
          <a:lstStyle/>
          <a:p>
            <a:r>
              <a:rPr lang="en-US" dirty="0">
                <a:latin typeface="Calibri" panose="020F0502020204030204" pitchFamily="34" charset="0"/>
                <a:cs typeface="Calibri" panose="020F0502020204030204" pitchFamily="34" charset="0"/>
              </a:rPr>
              <a:t>Some cellular organelles are commonly found in both plant and animal cells, while others are found exclusively in just one or the other cell type.</a:t>
            </a:r>
          </a:p>
          <a:p>
            <a:r>
              <a:rPr lang="en-US" dirty="0">
                <a:latin typeface="Calibri" panose="020F0502020204030204" pitchFamily="34" charset="0"/>
                <a:cs typeface="Calibri" panose="020F0502020204030204" pitchFamily="34" charset="0"/>
              </a:rPr>
              <a:t>Organelles and structures common to</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both plant and animal cells include:</a:t>
            </a:r>
          </a:p>
          <a:p>
            <a:pPr lvl="1"/>
            <a:r>
              <a:rPr lang="en-US" sz="1700" dirty="0">
                <a:latin typeface="Calibri" panose="020F0502020204030204" pitchFamily="34" charset="0"/>
                <a:cs typeface="Calibri" panose="020F0502020204030204" pitchFamily="34" charset="0"/>
              </a:rPr>
              <a:t>nucleus</a:t>
            </a:r>
          </a:p>
          <a:p>
            <a:pPr lvl="1"/>
            <a:r>
              <a:rPr lang="en-US" sz="1700" dirty="0">
                <a:latin typeface="Calibri" panose="020F0502020204030204" pitchFamily="34" charset="0"/>
                <a:cs typeface="Calibri" panose="020F0502020204030204" pitchFamily="34" charset="0"/>
              </a:rPr>
              <a:t>plasma membrane</a:t>
            </a:r>
          </a:p>
          <a:p>
            <a:pPr lvl="1"/>
            <a:r>
              <a:rPr lang="en-US" sz="1700" dirty="0">
                <a:latin typeface="Calibri" panose="020F0502020204030204" pitchFamily="34" charset="0"/>
                <a:cs typeface="Calibri" panose="020F0502020204030204" pitchFamily="34" charset="0"/>
              </a:rPr>
              <a:t>ribosomes</a:t>
            </a:r>
          </a:p>
          <a:p>
            <a:pPr lvl="1"/>
            <a:r>
              <a:rPr lang="en-US" sz="1700" dirty="0">
                <a:latin typeface="Calibri" panose="020F0502020204030204" pitchFamily="34" charset="0"/>
                <a:cs typeface="Calibri" panose="020F0502020204030204" pitchFamily="34" charset="0"/>
              </a:rPr>
              <a:t>mitochondria</a:t>
            </a:r>
          </a:p>
          <a:p>
            <a:pPr lvl="1"/>
            <a:r>
              <a:rPr lang="en-US" sz="1700" dirty="0" err="1">
                <a:latin typeface="Calibri" panose="020F0502020204030204" pitchFamily="34" charset="0"/>
                <a:cs typeface="Calibri" panose="020F0502020204030204" pitchFamily="34" charset="0"/>
              </a:rPr>
              <a:t>golgi</a:t>
            </a:r>
            <a:r>
              <a:rPr lang="en-US" sz="1700" dirty="0">
                <a:latin typeface="Calibri" panose="020F0502020204030204" pitchFamily="34" charset="0"/>
                <a:cs typeface="Calibri" panose="020F0502020204030204" pitchFamily="34" charset="0"/>
              </a:rPr>
              <a:t> apparatus</a:t>
            </a:r>
          </a:p>
          <a:p>
            <a:pPr lvl="1"/>
            <a:r>
              <a:rPr lang="en-US" sz="1700" dirty="0">
                <a:latin typeface="Calibri" panose="020F0502020204030204" pitchFamily="34" charset="0"/>
                <a:cs typeface="Calibri" panose="020F0502020204030204" pitchFamily="34" charset="0"/>
              </a:rPr>
              <a:t>endoplasmic reticulum (rough and smooth)</a:t>
            </a:r>
          </a:p>
          <a:p>
            <a:pPr lvl="1"/>
            <a:r>
              <a:rPr lang="en-US" sz="1700" dirty="0">
                <a:latin typeface="Calibri" panose="020F0502020204030204" pitchFamily="34" charset="0"/>
                <a:cs typeface="Calibri" panose="020F0502020204030204" pitchFamily="34" charset="0"/>
              </a:rPr>
              <a:t>cytoskeleton</a:t>
            </a:r>
          </a:p>
          <a:p>
            <a:pPr lvl="1"/>
            <a:r>
              <a:rPr lang="en-US" sz="1700" dirty="0">
                <a:latin typeface="Calibri" panose="020F0502020204030204" pitchFamily="34" charset="0"/>
                <a:cs typeface="Calibri" panose="020F0502020204030204" pitchFamily="34" charset="0"/>
              </a:rPr>
              <a:t>vacuoles and vesicles, although these differ</a:t>
            </a:r>
            <a:br>
              <a:rPr lang="en-US" sz="1700" dirty="0">
                <a:latin typeface="Calibri" panose="020F0502020204030204" pitchFamily="34" charset="0"/>
                <a:cs typeface="Calibri" panose="020F0502020204030204" pitchFamily="34" charset="0"/>
              </a:rPr>
            </a:br>
            <a:r>
              <a:rPr lang="en-US" sz="1700" dirty="0">
                <a:latin typeface="Calibri" panose="020F0502020204030204" pitchFamily="34" charset="0"/>
                <a:cs typeface="Calibri" panose="020F0502020204030204" pitchFamily="34" charset="0"/>
              </a:rPr>
              <a:t>in size and function in plants and animal cells.</a:t>
            </a:r>
          </a:p>
        </p:txBody>
      </p:sp>
      <p:pic>
        <p:nvPicPr>
          <p:cNvPr id="440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5238" y="383977"/>
            <a:ext cx="3068762" cy="64740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Tree>
    <p:extLst>
      <p:ext uri="{BB962C8B-B14F-4D97-AF65-F5344CB8AC3E}">
        <p14:creationId xmlns:p14="http://schemas.microsoft.com/office/powerpoint/2010/main" val="185328147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03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03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403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403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403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403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403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44033">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44033">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4403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3" grpId="0" build="p" bldLvl="5"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9617" y="3839765"/>
            <a:ext cx="3027164" cy="2268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45058" name="Rectangle 2"/>
          <p:cNvSpPr>
            <a:spLocks noGrp="1" noChangeArrowheads="1"/>
          </p:cNvSpPr>
          <p:nvPr>
            <p:ph type="title"/>
          </p:nvPr>
        </p:nvSpPr>
        <p:spPr>
          <a:xfrm>
            <a:off x="768096" y="585216"/>
            <a:ext cx="7290054" cy="1091086"/>
          </a:xfrm>
        </p:spPr>
        <p:txBody>
          <a:bodyPr/>
          <a:lstStyle/>
          <a:p>
            <a:r>
              <a:rPr lang="en-US" dirty="0">
                <a:solidFill>
                  <a:srgbClr val="0070C0"/>
                </a:solidFill>
              </a:rPr>
              <a:t>Plasma Membrane</a:t>
            </a:r>
          </a:p>
        </p:txBody>
      </p:sp>
      <p:sp>
        <p:nvSpPr>
          <p:cNvPr id="45059" name="Rectangle 3"/>
          <p:cNvSpPr>
            <a:spLocks noGrp="1" noChangeArrowheads="1"/>
          </p:cNvSpPr>
          <p:nvPr>
            <p:ph idx="1"/>
          </p:nvPr>
        </p:nvSpPr>
        <p:spPr>
          <a:xfrm>
            <a:off x="768097" y="1988840"/>
            <a:ext cx="4218018" cy="4320520"/>
          </a:xfrm>
        </p:spPr>
        <p:txBody>
          <a:bodyPr>
            <a:normAutofit lnSpcReduction="10000"/>
          </a:bodyPr>
          <a:lstStyle/>
          <a:p>
            <a:r>
              <a:rPr lang="en-US" dirty="0">
                <a:latin typeface="Calibri" panose="020F0502020204030204" pitchFamily="34" charset="0"/>
                <a:cs typeface="Calibri" panose="020F0502020204030204" pitchFamily="34" charset="0"/>
              </a:rPr>
              <a:t>Located:</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Surrounds the cell forming a</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boundary between the cell contents and the extracellular environment.</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b="1" dirty="0">
                <a:latin typeface="Calibri" panose="020F0502020204030204" pitchFamily="34" charset="0"/>
                <a:cs typeface="Calibri" panose="020F0502020204030204" pitchFamily="34" charset="0"/>
              </a:rPr>
              <a:t>Semi-fluid phospholipid bilayer </a:t>
            </a:r>
            <a:r>
              <a:rPr lang="en-US" dirty="0">
                <a:latin typeface="Calibri" panose="020F0502020204030204" pitchFamily="34" charset="0"/>
                <a:cs typeface="Calibri" panose="020F0502020204030204" pitchFamily="34" charset="0"/>
              </a:rPr>
              <a:t>in which proteins are embedded. Some of the proteins fully span the membrane.</a:t>
            </a:r>
          </a:p>
          <a:p>
            <a:r>
              <a:rPr lang="en-US" dirty="0">
                <a:latin typeface="Calibri" panose="020F0502020204030204" pitchFamily="34" charset="0"/>
                <a:cs typeface="Calibri" panose="020F0502020204030204" pitchFamily="34" charset="0"/>
              </a:rPr>
              <a:t>Function:</a:t>
            </a:r>
          </a:p>
          <a:p>
            <a:pPr lvl="1"/>
            <a:r>
              <a:rPr lang="en-US" sz="1700" dirty="0">
                <a:latin typeface="Calibri" panose="020F0502020204030204" pitchFamily="34" charset="0"/>
                <a:cs typeface="Calibri" panose="020F0502020204030204" pitchFamily="34" charset="0"/>
              </a:rPr>
              <a:t>Forms the boundary between the cell and the extracellular environment.</a:t>
            </a:r>
          </a:p>
          <a:p>
            <a:pPr lvl="1"/>
            <a:r>
              <a:rPr lang="en-US" sz="1700" dirty="0">
                <a:latin typeface="Calibri" panose="020F0502020204030204" pitchFamily="34" charset="0"/>
                <a:cs typeface="Calibri" panose="020F0502020204030204" pitchFamily="34" charset="0"/>
              </a:rPr>
              <a:t>Regulates movement of substances in and out of the cell.</a:t>
            </a:r>
          </a:p>
          <a:p>
            <a:r>
              <a:rPr lang="en-US" dirty="0">
                <a:latin typeface="Calibri" panose="020F0502020204030204" pitchFamily="34" charset="0"/>
                <a:cs typeface="Calibri" panose="020F0502020204030204" pitchFamily="34" charset="0"/>
              </a:rPr>
              <a:t>Size: 3–10 nm thick.</a:t>
            </a:r>
          </a:p>
        </p:txBody>
      </p:sp>
      <p:pic>
        <p:nvPicPr>
          <p:cNvPr id="4506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7016" y="821532"/>
            <a:ext cx="4455914" cy="23150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45061" name="Rectangle 5"/>
          <p:cNvSpPr>
            <a:spLocks/>
          </p:cNvSpPr>
          <p:nvPr/>
        </p:nvSpPr>
        <p:spPr bwMode="auto">
          <a:xfrm>
            <a:off x="5357813" y="3107531"/>
            <a:ext cx="1250156" cy="3839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2D00FA"/>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90000"/>
              </a:lnSpc>
              <a:tabLst>
                <a:tab pos="366104" algn="l"/>
              </a:tabLst>
            </a:pPr>
            <a:r>
              <a:rPr lang="en-US" sz="1400" dirty="0">
                <a:solidFill>
                  <a:srgbClr val="2D00FA"/>
                </a:solidFill>
                <a:latin typeface="Arial" charset="0"/>
                <a:cs typeface="Arial" charset="0"/>
                <a:sym typeface="Arial" charset="0"/>
              </a:rPr>
              <a:t>Phospholipid bilayer</a:t>
            </a:r>
          </a:p>
        </p:txBody>
      </p:sp>
      <p:sp>
        <p:nvSpPr>
          <p:cNvPr id="45062" name="Line 6"/>
          <p:cNvSpPr>
            <a:spLocks noChangeShapeType="1"/>
          </p:cNvSpPr>
          <p:nvPr/>
        </p:nvSpPr>
        <p:spPr bwMode="auto">
          <a:xfrm>
            <a:off x="7377039" y="2765971"/>
            <a:ext cx="212080" cy="502295"/>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45063" name="Line 7"/>
          <p:cNvSpPr>
            <a:spLocks noChangeShapeType="1"/>
          </p:cNvSpPr>
          <p:nvPr/>
        </p:nvSpPr>
        <p:spPr bwMode="auto">
          <a:xfrm flipH="1">
            <a:off x="6036469" y="2541613"/>
            <a:ext cx="290215" cy="548059"/>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45064" name="Rectangle 8"/>
          <p:cNvSpPr>
            <a:spLocks/>
          </p:cNvSpPr>
          <p:nvPr/>
        </p:nvSpPr>
        <p:spPr bwMode="auto">
          <a:xfrm>
            <a:off x="5393531" y="6179344"/>
            <a:ext cx="3321844" cy="473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2D00FA"/>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400" dirty="0">
                <a:solidFill>
                  <a:srgbClr val="2D00FA"/>
                </a:solidFill>
                <a:latin typeface="Arial" charset="0"/>
                <a:cs typeface="Arial" charset="0"/>
                <a:sym typeface="Arial" charset="0"/>
              </a:rPr>
              <a:t>The plasma membranes of two adjacent cells joined with </a:t>
            </a:r>
            <a:r>
              <a:rPr lang="en-US" sz="1400" b="1" dirty="0">
                <a:solidFill>
                  <a:srgbClr val="2D00FA"/>
                </a:solidFill>
                <a:latin typeface="Arial" charset="0"/>
                <a:cs typeface="Arial" charset="0"/>
                <a:sym typeface="Arial" charset="0"/>
              </a:rPr>
              <a:t>desmosomes</a:t>
            </a:r>
          </a:p>
        </p:txBody>
      </p:sp>
      <p:sp>
        <p:nvSpPr>
          <p:cNvPr id="45065" name="Rectangle 9"/>
          <p:cNvSpPr>
            <a:spLocks/>
          </p:cNvSpPr>
          <p:nvPr/>
        </p:nvSpPr>
        <p:spPr bwMode="auto">
          <a:xfrm>
            <a:off x="7206258" y="3330774"/>
            <a:ext cx="750094" cy="196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2D00FA"/>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90000"/>
              </a:lnSpc>
              <a:tabLst>
                <a:tab pos="366104" algn="l"/>
              </a:tabLst>
            </a:pPr>
            <a:r>
              <a:rPr lang="en-US" sz="1400">
                <a:solidFill>
                  <a:srgbClr val="2D00FA"/>
                </a:solidFill>
                <a:latin typeface="Arial" charset="0"/>
                <a:cs typeface="Arial" charset="0"/>
                <a:sym typeface="Arial" charset="0"/>
              </a:rPr>
              <a:t>Protein</a:t>
            </a:r>
          </a:p>
        </p:txBody>
      </p:sp>
      <p:sp>
        <p:nvSpPr>
          <p:cNvPr id="45066" name="Line 10"/>
          <p:cNvSpPr>
            <a:spLocks noChangeShapeType="1"/>
          </p:cNvSpPr>
          <p:nvPr/>
        </p:nvSpPr>
        <p:spPr bwMode="auto">
          <a:xfrm>
            <a:off x="7514333" y="4647903"/>
            <a:ext cx="319236" cy="292447"/>
          </a:xfrm>
          <a:prstGeom prst="line">
            <a:avLst/>
          </a:prstGeom>
          <a:noFill/>
          <a:ln w="508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25400" dist="12699" dir="5400000" algn="ctr" rotWithShape="0">
                    <a:schemeClr val="bg2">
                      <a:alpha val="20000"/>
                    </a:schemeClr>
                  </a:outerShdw>
                </a:effectLst>
              </a14:hiddenEffects>
            </a:ext>
          </a:extLst>
        </p:spPr>
        <p:txBody>
          <a:bodyPr lIns="64291" tIns="32146" rIns="64291" bIns="32146"/>
          <a:lstStyle/>
          <a:p>
            <a:endParaRPr lang="en-AU"/>
          </a:p>
        </p:txBody>
      </p:sp>
    </p:spTree>
    <p:extLst>
      <p:ext uri="{BB962C8B-B14F-4D97-AF65-F5344CB8AC3E}">
        <p14:creationId xmlns:p14="http://schemas.microsoft.com/office/powerpoint/2010/main" val="169571038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0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0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505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505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505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50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bldLvl="5"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259608"/>
          </a:xfrm>
        </p:spPr>
        <p:txBody>
          <a:bodyPr/>
          <a:lstStyle/>
          <a:p>
            <a:r>
              <a:rPr lang="en-AU" dirty="0">
                <a:solidFill>
                  <a:srgbClr val="0070C0"/>
                </a:solidFill>
              </a:rPr>
              <a:t>Plasma Membrane</a:t>
            </a:r>
          </a:p>
        </p:txBody>
      </p:sp>
      <p:sp>
        <p:nvSpPr>
          <p:cNvPr id="3" name="Content Placeholder 2"/>
          <p:cNvSpPr>
            <a:spLocks noGrp="1"/>
          </p:cNvSpPr>
          <p:nvPr>
            <p:ph idx="1"/>
          </p:nvPr>
        </p:nvSpPr>
        <p:spPr/>
        <p:txBody>
          <a:bodyPr/>
          <a:lstStyle/>
          <a:p>
            <a:r>
              <a:rPr lang="en-AU" dirty="0"/>
              <a:t>Parts of the plasma membrane include -</a:t>
            </a:r>
          </a:p>
        </p:txBody>
      </p:sp>
      <p:pic>
        <p:nvPicPr>
          <p:cNvPr id="4" name="Picture 3" descr="FG05_01"/>
          <p:cNvPicPr>
            <a:picLocks noChangeAspect="1" noChangeArrowheads="1"/>
          </p:cNvPicPr>
          <p:nvPr/>
        </p:nvPicPr>
        <p:blipFill>
          <a:blip r:embed="rId3">
            <a:extLst>
              <a:ext uri="{28A0092B-C50C-407E-A947-70E740481C1C}">
                <a14:useLocalDpi xmlns:a14="http://schemas.microsoft.com/office/drawing/2010/main" val="0"/>
              </a:ext>
            </a:extLst>
          </a:blip>
          <a:srcRect r="2499" b="5067"/>
          <a:stretch>
            <a:fillRect/>
          </a:stretch>
        </p:blipFill>
        <p:spPr bwMode="auto">
          <a:xfrm>
            <a:off x="114300" y="1823120"/>
            <a:ext cx="8915400"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6377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768096" y="585216"/>
            <a:ext cx="7290054" cy="1202139"/>
          </a:xfrm>
        </p:spPr>
        <p:txBody>
          <a:bodyPr/>
          <a:lstStyle/>
          <a:p>
            <a:r>
              <a:rPr lang="en-US" dirty="0">
                <a:solidFill>
                  <a:srgbClr val="0070C0"/>
                </a:solidFill>
              </a:rPr>
              <a:t>Plasma Membrane</a:t>
            </a:r>
          </a:p>
        </p:txBody>
      </p:sp>
      <p:sp>
        <p:nvSpPr>
          <p:cNvPr id="381955" name="Rectangle 3" descr="Rectangle: Click to edit Master text styles&#10;Second level&#10;Third level&#10;Fourth level&#10;Fifth level"/>
          <p:cNvSpPr>
            <a:spLocks noGrp="1" noChangeArrowheads="1"/>
          </p:cNvSpPr>
          <p:nvPr>
            <p:ph idx="1"/>
          </p:nvPr>
        </p:nvSpPr>
        <p:spPr>
          <a:xfrm>
            <a:off x="838200" y="1989544"/>
            <a:ext cx="7290055" cy="4023360"/>
          </a:xfrm>
        </p:spPr>
        <p:txBody>
          <a:bodyPr/>
          <a:lstStyle/>
          <a:p>
            <a:r>
              <a:rPr lang="en-US" dirty="0">
                <a:latin typeface="Calibri" panose="020F0502020204030204" pitchFamily="34" charset="0"/>
                <a:cs typeface="Calibri" panose="020F0502020204030204" pitchFamily="34" charset="0"/>
              </a:rPr>
              <a:t>Cells need an inside &amp; an outside to separate the cell from its environment.  Plasma membrane is the boundary.</a:t>
            </a:r>
          </a:p>
        </p:txBody>
      </p:sp>
      <p:sp>
        <p:nvSpPr>
          <p:cNvPr id="381956" name="Oval 4"/>
          <p:cNvSpPr>
            <a:spLocks noChangeArrowheads="1"/>
          </p:cNvSpPr>
          <p:nvPr/>
        </p:nvSpPr>
        <p:spPr bwMode="auto">
          <a:xfrm rot="1773324">
            <a:off x="2895600" y="3810000"/>
            <a:ext cx="3733800" cy="1371600"/>
          </a:xfrm>
          <a:prstGeom prst="ellipse">
            <a:avLst/>
          </a:prstGeom>
          <a:solidFill>
            <a:schemeClr val="hlink"/>
          </a:solidFill>
          <a:ln w="57150">
            <a:solidFill>
              <a:schemeClr val="tx2">
                <a:alpha val="39999"/>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1957" name="Oval 5"/>
          <p:cNvSpPr>
            <a:spLocks noChangeArrowheads="1"/>
          </p:cNvSpPr>
          <p:nvPr/>
        </p:nvSpPr>
        <p:spPr bwMode="auto">
          <a:xfrm>
            <a:off x="3962400" y="3733800"/>
            <a:ext cx="381000" cy="381000"/>
          </a:xfrm>
          <a:prstGeom prst="ellipse">
            <a:avLst/>
          </a:prstGeom>
          <a:solidFill>
            <a:srgbClr val="0F116A"/>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81958" name="AutoShape 6"/>
          <p:cNvSpPr>
            <a:spLocks noChangeArrowheads="1"/>
          </p:cNvSpPr>
          <p:nvPr/>
        </p:nvSpPr>
        <p:spPr bwMode="auto">
          <a:xfrm>
            <a:off x="2487509" y="4495800"/>
            <a:ext cx="1143000" cy="457200"/>
          </a:xfrm>
          <a:prstGeom prst="rightArrow">
            <a:avLst>
              <a:gd name="adj1" fmla="val 50000"/>
              <a:gd name="adj2" fmla="val 62500"/>
            </a:avLst>
          </a:prstGeom>
          <a:solidFill>
            <a:srgbClr val="1A941A"/>
          </a:solidFill>
          <a:ln w="9525">
            <a:solidFill>
              <a:srgbClr val="1A941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81959" name="Rectangle 7"/>
          <p:cNvSpPr>
            <a:spLocks noChangeArrowheads="1"/>
          </p:cNvSpPr>
          <p:nvPr/>
        </p:nvSpPr>
        <p:spPr bwMode="auto">
          <a:xfrm>
            <a:off x="838200" y="3352771"/>
            <a:ext cx="1304653" cy="286232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tabLst>
                <a:tab pos="114300" algn="l"/>
              </a:tabLst>
            </a:pPr>
            <a:r>
              <a:rPr lang="en-US" sz="2600" b="1" u="sng" dirty="0">
                <a:solidFill>
                  <a:srgbClr val="1A941A"/>
                </a:solidFill>
                <a:latin typeface="Calibri" panose="020F0502020204030204" pitchFamily="34" charset="0"/>
                <a:cs typeface="Calibri" panose="020F0502020204030204" pitchFamily="34" charset="0"/>
              </a:rPr>
              <a:t>IN</a:t>
            </a:r>
            <a:endParaRPr lang="en-US" sz="2600" b="1" dirty="0">
              <a:solidFill>
                <a:srgbClr val="1A941A"/>
              </a:solidFill>
              <a:latin typeface="Calibri" panose="020F0502020204030204" pitchFamily="34" charset="0"/>
              <a:cs typeface="Calibri" panose="020F0502020204030204" pitchFamily="34" charset="0"/>
            </a:endParaRPr>
          </a:p>
          <a:p>
            <a:pPr algn="l">
              <a:tabLst>
                <a:tab pos="114300" algn="l"/>
              </a:tabLst>
            </a:pPr>
            <a:r>
              <a:rPr lang="en-US" sz="2200" b="1" u="sng" dirty="0">
                <a:solidFill>
                  <a:srgbClr val="CC0000"/>
                </a:solidFill>
                <a:latin typeface="Calibri" panose="020F0502020204030204" pitchFamily="34" charset="0"/>
                <a:cs typeface="Calibri" panose="020F0502020204030204" pitchFamily="34" charset="0"/>
              </a:rPr>
              <a:t>food</a:t>
            </a:r>
            <a:endParaRPr lang="en-US" sz="2200" b="1" dirty="0">
              <a:solidFill>
                <a:srgbClr val="0F116A"/>
              </a:solidFill>
              <a:latin typeface="Calibri" panose="020F0502020204030204" pitchFamily="34" charset="0"/>
              <a:cs typeface="Calibri" panose="020F0502020204030204" pitchFamily="34" charset="0"/>
            </a:endParaRPr>
          </a:p>
          <a:p>
            <a:pPr algn="l">
              <a:tabLst>
                <a:tab pos="114300" algn="l"/>
              </a:tabLst>
            </a:pPr>
            <a:r>
              <a:rPr lang="en-US" sz="2200" dirty="0">
                <a:solidFill>
                  <a:srgbClr val="0F116A"/>
                </a:solidFill>
                <a:latin typeface="Calibri" panose="020F0502020204030204" pitchFamily="34" charset="0"/>
                <a:cs typeface="Calibri" panose="020F0502020204030204" pitchFamily="34" charset="0"/>
              </a:rPr>
              <a:t>- sugars</a:t>
            </a:r>
          </a:p>
          <a:p>
            <a:pPr algn="l">
              <a:tabLst>
                <a:tab pos="114300" algn="l"/>
              </a:tabLst>
            </a:pPr>
            <a:r>
              <a:rPr lang="en-US" sz="2200" dirty="0">
                <a:solidFill>
                  <a:srgbClr val="0F116A"/>
                </a:solidFill>
                <a:latin typeface="Calibri" panose="020F0502020204030204" pitchFamily="34" charset="0"/>
                <a:cs typeface="Calibri" panose="020F0502020204030204" pitchFamily="34" charset="0"/>
              </a:rPr>
              <a:t>- proteins</a:t>
            </a:r>
          </a:p>
          <a:p>
            <a:pPr algn="l">
              <a:tabLst>
                <a:tab pos="114300" algn="l"/>
              </a:tabLst>
            </a:pPr>
            <a:r>
              <a:rPr lang="en-US" sz="2200" dirty="0">
                <a:solidFill>
                  <a:srgbClr val="0F116A"/>
                </a:solidFill>
                <a:latin typeface="Calibri" panose="020F0502020204030204" pitchFamily="34" charset="0"/>
                <a:cs typeface="Calibri" panose="020F0502020204030204" pitchFamily="34" charset="0"/>
              </a:rPr>
              <a:t>- fats</a:t>
            </a:r>
          </a:p>
          <a:p>
            <a:pPr algn="l">
              <a:tabLst>
                <a:tab pos="114300" algn="l"/>
              </a:tabLst>
            </a:pPr>
            <a:r>
              <a:rPr lang="en-US" sz="2200" dirty="0">
                <a:solidFill>
                  <a:srgbClr val="0F116A"/>
                </a:solidFill>
                <a:latin typeface="Calibri" panose="020F0502020204030204" pitchFamily="34" charset="0"/>
                <a:cs typeface="Calibri" panose="020F0502020204030204" pitchFamily="34" charset="0"/>
              </a:rPr>
              <a:t>- salts</a:t>
            </a:r>
          </a:p>
          <a:p>
            <a:pPr algn="l">
              <a:tabLst>
                <a:tab pos="114300" algn="l"/>
              </a:tabLst>
            </a:pPr>
            <a:r>
              <a:rPr lang="en-US" sz="2200" dirty="0">
                <a:solidFill>
                  <a:srgbClr val="0F116A"/>
                </a:solidFill>
                <a:latin typeface="Calibri" panose="020F0502020204030204" pitchFamily="34" charset="0"/>
                <a:cs typeface="Calibri" panose="020F0502020204030204" pitchFamily="34" charset="0"/>
              </a:rPr>
              <a:t>- O</a:t>
            </a:r>
            <a:r>
              <a:rPr lang="en-US" sz="2200" baseline="-25000" dirty="0">
                <a:solidFill>
                  <a:srgbClr val="0F116A"/>
                </a:solidFill>
                <a:latin typeface="Calibri" panose="020F0502020204030204" pitchFamily="34" charset="0"/>
                <a:cs typeface="Calibri" panose="020F0502020204030204" pitchFamily="34" charset="0"/>
              </a:rPr>
              <a:t>2</a:t>
            </a:r>
          </a:p>
          <a:p>
            <a:pPr algn="l">
              <a:tabLst>
                <a:tab pos="114300" algn="l"/>
              </a:tabLst>
            </a:pPr>
            <a:r>
              <a:rPr lang="en-US" sz="2200" dirty="0">
                <a:solidFill>
                  <a:srgbClr val="0F116A"/>
                </a:solidFill>
                <a:latin typeface="Calibri" panose="020F0502020204030204" pitchFamily="34" charset="0"/>
                <a:cs typeface="Calibri" panose="020F0502020204030204" pitchFamily="34" charset="0"/>
              </a:rPr>
              <a:t>- H</a:t>
            </a:r>
            <a:r>
              <a:rPr lang="en-US" sz="2200" baseline="-25000" dirty="0">
                <a:solidFill>
                  <a:srgbClr val="0F116A"/>
                </a:solidFill>
                <a:latin typeface="Calibri" panose="020F0502020204030204" pitchFamily="34" charset="0"/>
                <a:cs typeface="Calibri" panose="020F0502020204030204" pitchFamily="34" charset="0"/>
              </a:rPr>
              <a:t>2</a:t>
            </a:r>
            <a:r>
              <a:rPr lang="en-US" sz="2200" dirty="0">
                <a:solidFill>
                  <a:srgbClr val="0F116A"/>
                </a:solidFill>
                <a:latin typeface="Calibri" panose="020F0502020204030204" pitchFamily="34" charset="0"/>
                <a:cs typeface="Calibri" panose="020F0502020204030204" pitchFamily="34" charset="0"/>
              </a:rPr>
              <a:t>O</a:t>
            </a:r>
          </a:p>
        </p:txBody>
      </p:sp>
      <p:sp>
        <p:nvSpPr>
          <p:cNvPr id="381960" name="Rectangle 8"/>
          <p:cNvSpPr>
            <a:spLocks noChangeArrowheads="1"/>
          </p:cNvSpPr>
          <p:nvPr/>
        </p:nvSpPr>
        <p:spPr bwMode="auto">
          <a:xfrm>
            <a:off x="7010400" y="3429000"/>
            <a:ext cx="1828800" cy="2862322"/>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tabLst>
                <a:tab pos="114300" algn="l"/>
              </a:tabLst>
            </a:pPr>
            <a:r>
              <a:rPr lang="en-US" sz="2600" b="1" u="sng" dirty="0">
                <a:solidFill>
                  <a:srgbClr val="CC0000"/>
                </a:solidFill>
                <a:latin typeface="Calibri" panose="020F0502020204030204" pitchFamily="34" charset="0"/>
                <a:cs typeface="Calibri" panose="020F0502020204030204" pitchFamily="34" charset="0"/>
              </a:rPr>
              <a:t>OUT</a:t>
            </a:r>
            <a:endParaRPr lang="en-US" sz="2600" b="1" dirty="0">
              <a:solidFill>
                <a:srgbClr val="1A941A"/>
              </a:solidFill>
              <a:latin typeface="Calibri" panose="020F0502020204030204" pitchFamily="34" charset="0"/>
              <a:cs typeface="Calibri" panose="020F0502020204030204" pitchFamily="34" charset="0"/>
            </a:endParaRPr>
          </a:p>
          <a:p>
            <a:pPr algn="l">
              <a:tabLst>
                <a:tab pos="114300" algn="l"/>
              </a:tabLst>
            </a:pPr>
            <a:r>
              <a:rPr lang="en-US" sz="2200" b="1" u="sng" dirty="0">
                <a:solidFill>
                  <a:srgbClr val="CC0000"/>
                </a:solidFill>
                <a:latin typeface="Calibri" panose="020F0502020204030204" pitchFamily="34" charset="0"/>
                <a:cs typeface="Calibri" panose="020F0502020204030204" pitchFamily="34" charset="0"/>
              </a:rPr>
              <a:t>waste</a:t>
            </a:r>
            <a:endParaRPr lang="en-US" sz="2200" b="1" dirty="0">
              <a:solidFill>
                <a:srgbClr val="0F116A"/>
              </a:solidFill>
              <a:latin typeface="Calibri" panose="020F0502020204030204" pitchFamily="34" charset="0"/>
              <a:cs typeface="Calibri" panose="020F0502020204030204" pitchFamily="34" charset="0"/>
            </a:endParaRPr>
          </a:p>
          <a:p>
            <a:pPr algn="l">
              <a:tabLst>
                <a:tab pos="114300" algn="l"/>
              </a:tabLst>
            </a:pPr>
            <a:r>
              <a:rPr lang="en-US" sz="2200" dirty="0">
                <a:solidFill>
                  <a:srgbClr val="0F116A"/>
                </a:solidFill>
                <a:latin typeface="Calibri" panose="020F0502020204030204" pitchFamily="34" charset="0"/>
                <a:cs typeface="Calibri" panose="020F0502020204030204" pitchFamily="34" charset="0"/>
              </a:rPr>
              <a:t>- ammonia</a:t>
            </a:r>
          </a:p>
          <a:p>
            <a:pPr algn="l">
              <a:tabLst>
                <a:tab pos="114300" algn="l"/>
              </a:tabLst>
            </a:pPr>
            <a:r>
              <a:rPr lang="en-US" sz="2200" dirty="0">
                <a:solidFill>
                  <a:srgbClr val="0F116A"/>
                </a:solidFill>
                <a:latin typeface="Calibri" panose="020F0502020204030204" pitchFamily="34" charset="0"/>
                <a:cs typeface="Calibri" panose="020F0502020204030204" pitchFamily="34" charset="0"/>
              </a:rPr>
              <a:t>- salts</a:t>
            </a:r>
          </a:p>
          <a:p>
            <a:pPr algn="l">
              <a:tabLst>
                <a:tab pos="114300" algn="l"/>
              </a:tabLst>
            </a:pPr>
            <a:r>
              <a:rPr lang="en-US" sz="2200" dirty="0">
                <a:solidFill>
                  <a:srgbClr val="0F116A"/>
                </a:solidFill>
                <a:latin typeface="Calibri" panose="020F0502020204030204" pitchFamily="34" charset="0"/>
                <a:cs typeface="Calibri" panose="020F0502020204030204" pitchFamily="34" charset="0"/>
              </a:rPr>
              <a:t>- CO</a:t>
            </a:r>
            <a:r>
              <a:rPr lang="en-US" sz="2200" baseline="-25000" dirty="0">
                <a:solidFill>
                  <a:srgbClr val="0F116A"/>
                </a:solidFill>
                <a:latin typeface="Calibri" panose="020F0502020204030204" pitchFamily="34" charset="0"/>
                <a:cs typeface="Calibri" panose="020F0502020204030204" pitchFamily="34" charset="0"/>
              </a:rPr>
              <a:t>2</a:t>
            </a:r>
          </a:p>
          <a:p>
            <a:pPr algn="l">
              <a:tabLst>
                <a:tab pos="114300" algn="l"/>
              </a:tabLst>
            </a:pPr>
            <a:r>
              <a:rPr lang="en-US" sz="2200" dirty="0">
                <a:solidFill>
                  <a:srgbClr val="0F116A"/>
                </a:solidFill>
                <a:latin typeface="Calibri" panose="020F0502020204030204" pitchFamily="34" charset="0"/>
                <a:cs typeface="Calibri" panose="020F0502020204030204" pitchFamily="34" charset="0"/>
              </a:rPr>
              <a:t>- H</a:t>
            </a:r>
            <a:r>
              <a:rPr lang="en-US" sz="2200" baseline="-25000" dirty="0">
                <a:solidFill>
                  <a:srgbClr val="0F116A"/>
                </a:solidFill>
                <a:latin typeface="Calibri" panose="020F0502020204030204" pitchFamily="34" charset="0"/>
                <a:cs typeface="Calibri" panose="020F0502020204030204" pitchFamily="34" charset="0"/>
              </a:rPr>
              <a:t>2</a:t>
            </a:r>
            <a:r>
              <a:rPr lang="en-US" sz="2200" dirty="0">
                <a:solidFill>
                  <a:srgbClr val="0F116A"/>
                </a:solidFill>
                <a:latin typeface="Calibri" panose="020F0502020204030204" pitchFamily="34" charset="0"/>
                <a:cs typeface="Calibri" panose="020F0502020204030204" pitchFamily="34" charset="0"/>
              </a:rPr>
              <a:t>O </a:t>
            </a:r>
          </a:p>
          <a:p>
            <a:pPr algn="l">
              <a:tabLst>
                <a:tab pos="114300" algn="l"/>
              </a:tabLst>
            </a:pPr>
            <a:r>
              <a:rPr lang="en-US" sz="2200" b="1" u="sng" dirty="0">
                <a:solidFill>
                  <a:srgbClr val="CC0000"/>
                </a:solidFill>
                <a:latin typeface="Calibri" panose="020F0502020204030204" pitchFamily="34" charset="0"/>
                <a:cs typeface="Calibri" panose="020F0502020204030204" pitchFamily="34" charset="0"/>
              </a:rPr>
              <a:t>products</a:t>
            </a:r>
          </a:p>
          <a:p>
            <a:pPr algn="l">
              <a:tabLst>
                <a:tab pos="114300" algn="l"/>
              </a:tabLst>
            </a:pPr>
            <a:r>
              <a:rPr lang="en-US" sz="2200" dirty="0">
                <a:solidFill>
                  <a:srgbClr val="0F116A"/>
                </a:solidFill>
                <a:latin typeface="Calibri" panose="020F0502020204030204" pitchFamily="34" charset="0"/>
                <a:cs typeface="Calibri" panose="020F0502020204030204" pitchFamily="34" charset="0"/>
              </a:rPr>
              <a:t>- proteins</a:t>
            </a:r>
          </a:p>
        </p:txBody>
      </p:sp>
      <p:sp>
        <p:nvSpPr>
          <p:cNvPr id="381961" name="AutoShape 9"/>
          <p:cNvSpPr>
            <a:spLocks noChangeArrowheads="1"/>
          </p:cNvSpPr>
          <p:nvPr/>
        </p:nvSpPr>
        <p:spPr bwMode="auto">
          <a:xfrm>
            <a:off x="5581759" y="4495800"/>
            <a:ext cx="1143000" cy="457200"/>
          </a:xfrm>
          <a:prstGeom prst="rightArrow">
            <a:avLst>
              <a:gd name="adj1" fmla="val 50000"/>
              <a:gd name="adj2" fmla="val 62500"/>
            </a:avLst>
          </a:prstGeom>
          <a:solidFill>
            <a:srgbClr val="CC0000"/>
          </a:solidFill>
          <a:ln w="9525">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81962" name="Rectangle 10"/>
          <p:cNvSpPr>
            <a:spLocks noChangeArrowheads="1"/>
          </p:cNvSpPr>
          <p:nvPr/>
        </p:nvSpPr>
        <p:spPr bwMode="auto">
          <a:xfrm>
            <a:off x="1883145" y="6111797"/>
            <a:ext cx="5059955" cy="369332"/>
          </a:xfrm>
          <a:prstGeom prst="rect">
            <a:avLst/>
          </a:prstGeom>
          <a:solidFill>
            <a:srgbClr val="FFEA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dirty="0">
                <a:solidFill>
                  <a:srgbClr val="CC0000"/>
                </a:solidFill>
                <a:latin typeface="Calibri" panose="020F0502020204030204" pitchFamily="34" charset="0"/>
                <a:cs typeface="Calibri" panose="020F0502020204030204" pitchFamily="34" charset="0"/>
              </a:rPr>
              <a:t>cell needs materials </a:t>
            </a:r>
            <a:r>
              <a:rPr lang="en-US" u="sng" dirty="0">
                <a:solidFill>
                  <a:srgbClr val="CC0000"/>
                </a:solidFill>
                <a:latin typeface="Calibri" panose="020F0502020204030204" pitchFamily="34" charset="0"/>
                <a:cs typeface="Calibri" panose="020F0502020204030204" pitchFamily="34" charset="0"/>
              </a:rPr>
              <a:t>in</a:t>
            </a:r>
            <a:r>
              <a:rPr lang="en-US" dirty="0">
                <a:solidFill>
                  <a:srgbClr val="CC0000"/>
                </a:solidFill>
                <a:latin typeface="Calibri" panose="020F0502020204030204" pitchFamily="34" charset="0"/>
                <a:cs typeface="Calibri" panose="020F0502020204030204" pitchFamily="34" charset="0"/>
              </a:rPr>
              <a:t> &amp; products or waste </a:t>
            </a:r>
            <a:r>
              <a:rPr lang="en-US" u="sng" dirty="0">
                <a:solidFill>
                  <a:srgbClr val="CC0000"/>
                </a:solidFill>
                <a:latin typeface="Calibri" panose="020F0502020204030204" pitchFamily="34" charset="0"/>
                <a:cs typeface="Calibri" panose="020F0502020204030204" pitchFamily="34" charset="0"/>
              </a:rPr>
              <a:t>out</a:t>
            </a:r>
          </a:p>
        </p:txBody>
      </p:sp>
    </p:spTree>
    <p:extLst>
      <p:ext uri="{BB962C8B-B14F-4D97-AF65-F5344CB8AC3E}">
        <p14:creationId xmlns:p14="http://schemas.microsoft.com/office/powerpoint/2010/main" val="30333334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1955">
                                            <p:txEl>
                                              <p:pRg st="0" end="0"/>
                                            </p:txEl>
                                          </p:spTgt>
                                        </p:tgtEl>
                                        <p:attrNameLst>
                                          <p:attrName>style.visibility</p:attrName>
                                        </p:attrNameLst>
                                      </p:cBhvr>
                                      <p:to>
                                        <p:strVal val="visible"/>
                                      </p:to>
                                    </p:set>
                                    <p:anim calcmode="lin" valueType="num">
                                      <p:cBhvr additive="base">
                                        <p:cTn id="7" dur="500" fill="hold"/>
                                        <p:tgtEl>
                                          <p:spTgt spid="3819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8195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34" presetClass="entr" presetSubtype="0" fill="hold" grpId="0" nodeType="clickEffect">
                                  <p:stCondLst>
                                    <p:cond delay="0"/>
                                  </p:stCondLst>
                                  <p:childTnLst>
                                    <p:set>
                                      <p:cBhvr>
                                        <p:cTn id="12" dur="1" fill="hold">
                                          <p:stCondLst>
                                            <p:cond delay="0"/>
                                          </p:stCondLst>
                                        </p:cTn>
                                        <p:tgtEl>
                                          <p:spTgt spid="381958"/>
                                        </p:tgtEl>
                                        <p:attrNameLst>
                                          <p:attrName>style.visibility</p:attrName>
                                        </p:attrNameLst>
                                      </p:cBhvr>
                                      <p:to>
                                        <p:strVal val="visible"/>
                                      </p:to>
                                    </p:set>
                                    <p:anim from="(-#ppt_w/2)" to="(#ppt_x)" calcmode="lin" valueType="num">
                                      <p:cBhvr>
                                        <p:cTn id="13" dur="600" fill="hold">
                                          <p:stCondLst>
                                            <p:cond delay="0"/>
                                          </p:stCondLst>
                                        </p:cTn>
                                        <p:tgtEl>
                                          <p:spTgt spid="381958"/>
                                        </p:tgtEl>
                                        <p:attrNameLst>
                                          <p:attrName>ppt_x</p:attrName>
                                        </p:attrNameLst>
                                      </p:cBhvr>
                                    </p:anim>
                                    <p:anim from="0" to="-1.0" calcmode="lin" valueType="num">
                                      <p:cBhvr>
                                        <p:cTn id="14" dur="200" decel="50000" autoRev="1" fill="hold">
                                          <p:stCondLst>
                                            <p:cond delay="600"/>
                                          </p:stCondLst>
                                        </p:cTn>
                                        <p:tgtEl>
                                          <p:spTgt spid="381958"/>
                                        </p:tgtEl>
                                        <p:attrNameLst>
                                          <p:attrName>xshear</p:attrName>
                                        </p:attrNameLst>
                                      </p:cBhvr>
                                    </p:anim>
                                    <p:animScale>
                                      <p:cBhvr>
                                        <p:cTn id="15" dur="200" decel="100000" autoRev="1" fill="hold">
                                          <p:stCondLst>
                                            <p:cond delay="600"/>
                                          </p:stCondLst>
                                        </p:cTn>
                                        <p:tgtEl>
                                          <p:spTgt spid="381958"/>
                                        </p:tgtEl>
                                      </p:cBhvr>
                                      <p:from x="100000" y="100000"/>
                                      <p:to x="80000" y="100000"/>
                                    </p:animScale>
                                    <p:anim by="(#ppt_h/3+#ppt_w*0.1)" calcmode="lin" valueType="num">
                                      <p:cBhvr additive="sum">
                                        <p:cTn id="16" dur="200" decel="100000" autoRev="1" fill="hold">
                                          <p:stCondLst>
                                            <p:cond delay="600"/>
                                          </p:stCondLst>
                                        </p:cTn>
                                        <p:tgtEl>
                                          <p:spTgt spid="381958"/>
                                        </p:tgtEl>
                                        <p:attrNameLst>
                                          <p:attrName>ppt_x</p:attrName>
                                        </p:attrNameLst>
                                      </p:cBhvr>
                                    </p:anim>
                                  </p:childTnLst>
                                  <p:subTnLst>
                                    <p:audio>
                                      <p:cMediaNode>
                                        <p:cTn display="0" masterRel="sameClick">
                                          <p:stCondLst>
                                            <p:cond evt="begin" delay="0">
                                              <p:tn val="11"/>
                                            </p:cond>
                                          </p:stCondLst>
                                          <p:endCondLst>
                                            <p:cond evt="onStopAudio" delay="0">
                                              <p:tgtEl>
                                                <p:sldTgt/>
                                              </p:tgtEl>
                                            </p:cond>
                                          </p:endCondLst>
                                        </p:cTn>
                                        <p:tgtEl>
                                          <p:sndTgt r:embed="rId4" name="Arrow"/>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81959">
                                            <p:txEl>
                                              <p:pRg st="0" end="0"/>
                                            </p:txEl>
                                          </p:spTgt>
                                        </p:tgtEl>
                                        <p:attrNameLst>
                                          <p:attrName>style.visibility</p:attrName>
                                        </p:attrNameLst>
                                      </p:cBhvr>
                                      <p:to>
                                        <p:strVal val="visible"/>
                                      </p:to>
                                    </p:set>
                                    <p:animEffect transition="in" filter="wipe(up)">
                                      <p:cBhvr>
                                        <p:cTn id="21" dur="500"/>
                                        <p:tgtEl>
                                          <p:spTgt spid="381959">
                                            <p:txEl>
                                              <p:pRg st="0" end="0"/>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5" name="Pencil Check"/>
                                        </p:tgtEl>
                                      </p:cMediaNode>
                                    </p:audio>
                                  </p:sub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381959">
                                            <p:txEl>
                                              <p:pRg st="1" end="1"/>
                                            </p:txEl>
                                          </p:spTgt>
                                        </p:tgtEl>
                                        <p:attrNameLst>
                                          <p:attrName>style.visibility</p:attrName>
                                        </p:attrNameLst>
                                      </p:cBhvr>
                                      <p:to>
                                        <p:strVal val="visible"/>
                                      </p:to>
                                    </p:set>
                                    <p:animEffect transition="in" filter="wipe(up)">
                                      <p:cBhvr>
                                        <p:cTn id="26" dur="500"/>
                                        <p:tgtEl>
                                          <p:spTgt spid="381959">
                                            <p:txEl>
                                              <p:pRg st="1" end="1"/>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5" name="Pencil Check"/>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381959">
                                            <p:txEl>
                                              <p:pRg st="2" end="2"/>
                                            </p:txEl>
                                          </p:spTgt>
                                        </p:tgtEl>
                                        <p:attrNameLst>
                                          <p:attrName>style.visibility</p:attrName>
                                        </p:attrNameLst>
                                      </p:cBhvr>
                                      <p:to>
                                        <p:strVal val="visible"/>
                                      </p:to>
                                    </p:set>
                                    <p:animEffect transition="in" filter="wipe(up)">
                                      <p:cBhvr>
                                        <p:cTn id="31" dur="500"/>
                                        <p:tgtEl>
                                          <p:spTgt spid="381959">
                                            <p:txEl>
                                              <p:pRg st="2" end="2"/>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5" name="Pencil Check"/>
                                        </p:tgtEl>
                                      </p:cMediaNode>
                                    </p:audio>
                                  </p:sub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381959">
                                            <p:txEl>
                                              <p:pRg st="3" end="3"/>
                                            </p:txEl>
                                          </p:spTgt>
                                        </p:tgtEl>
                                        <p:attrNameLst>
                                          <p:attrName>style.visibility</p:attrName>
                                        </p:attrNameLst>
                                      </p:cBhvr>
                                      <p:to>
                                        <p:strVal val="visible"/>
                                      </p:to>
                                    </p:set>
                                    <p:animEffect transition="in" filter="wipe(up)">
                                      <p:cBhvr>
                                        <p:cTn id="36" dur="500"/>
                                        <p:tgtEl>
                                          <p:spTgt spid="381959">
                                            <p:txEl>
                                              <p:pRg st="3" end="3"/>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5" name="Pencil Check"/>
                                        </p:tgtEl>
                                      </p:cMediaNode>
                                    </p:audio>
                                  </p:sub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381959">
                                            <p:txEl>
                                              <p:pRg st="4" end="4"/>
                                            </p:txEl>
                                          </p:spTgt>
                                        </p:tgtEl>
                                        <p:attrNameLst>
                                          <p:attrName>style.visibility</p:attrName>
                                        </p:attrNameLst>
                                      </p:cBhvr>
                                      <p:to>
                                        <p:strVal val="visible"/>
                                      </p:to>
                                    </p:set>
                                    <p:animEffect transition="in" filter="wipe(up)">
                                      <p:cBhvr>
                                        <p:cTn id="41" dur="500"/>
                                        <p:tgtEl>
                                          <p:spTgt spid="381959">
                                            <p:txEl>
                                              <p:pRg st="4" end="4"/>
                                            </p:txEl>
                                          </p:spTgt>
                                        </p:tgtEl>
                                      </p:cBhvr>
                                    </p:animEffect>
                                  </p:childTnLst>
                                  <p:subTnLst>
                                    <p:audio>
                                      <p:cMediaNode>
                                        <p:cTn display="0" masterRel="sameClick">
                                          <p:stCondLst>
                                            <p:cond evt="begin" delay="0">
                                              <p:tn val="39"/>
                                            </p:cond>
                                          </p:stCondLst>
                                          <p:endCondLst>
                                            <p:cond evt="onStopAudio" delay="0">
                                              <p:tgtEl>
                                                <p:sldTgt/>
                                              </p:tgtEl>
                                            </p:cond>
                                          </p:endCondLst>
                                        </p:cTn>
                                        <p:tgtEl>
                                          <p:sndTgt r:embed="rId5" name="Pencil Check"/>
                                        </p:tgtEl>
                                      </p:cMediaNode>
                                    </p:audio>
                                  </p:sub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381959">
                                            <p:txEl>
                                              <p:pRg st="5" end="5"/>
                                            </p:txEl>
                                          </p:spTgt>
                                        </p:tgtEl>
                                        <p:attrNameLst>
                                          <p:attrName>style.visibility</p:attrName>
                                        </p:attrNameLst>
                                      </p:cBhvr>
                                      <p:to>
                                        <p:strVal val="visible"/>
                                      </p:to>
                                    </p:set>
                                    <p:animEffect transition="in" filter="wipe(up)">
                                      <p:cBhvr>
                                        <p:cTn id="46" dur="500"/>
                                        <p:tgtEl>
                                          <p:spTgt spid="381959">
                                            <p:txEl>
                                              <p:pRg st="5" end="5"/>
                                            </p:txEl>
                                          </p:spTgt>
                                        </p:tgtEl>
                                      </p:cBhvr>
                                    </p:animEffect>
                                  </p:childTnLst>
                                  <p:subTnLst>
                                    <p:audio>
                                      <p:cMediaNode>
                                        <p:cTn display="0" masterRel="sameClick">
                                          <p:stCondLst>
                                            <p:cond evt="begin" delay="0">
                                              <p:tn val="44"/>
                                            </p:cond>
                                          </p:stCondLst>
                                          <p:endCondLst>
                                            <p:cond evt="onStopAudio" delay="0">
                                              <p:tgtEl>
                                                <p:sldTgt/>
                                              </p:tgtEl>
                                            </p:cond>
                                          </p:endCondLst>
                                        </p:cTn>
                                        <p:tgtEl>
                                          <p:sndTgt r:embed="rId5" name="Pencil Check"/>
                                        </p:tgtEl>
                                      </p:cMediaNode>
                                    </p:audio>
                                  </p:sub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381959">
                                            <p:txEl>
                                              <p:pRg st="6" end="6"/>
                                            </p:txEl>
                                          </p:spTgt>
                                        </p:tgtEl>
                                        <p:attrNameLst>
                                          <p:attrName>style.visibility</p:attrName>
                                        </p:attrNameLst>
                                      </p:cBhvr>
                                      <p:to>
                                        <p:strVal val="visible"/>
                                      </p:to>
                                    </p:set>
                                    <p:animEffect transition="in" filter="wipe(up)">
                                      <p:cBhvr>
                                        <p:cTn id="51" dur="500"/>
                                        <p:tgtEl>
                                          <p:spTgt spid="381959">
                                            <p:txEl>
                                              <p:pRg st="6" end="6"/>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5" name="Pencil Check"/>
                                        </p:tgtEl>
                                      </p:cMediaNode>
                                    </p:audio>
                                  </p:sub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381959">
                                            <p:txEl>
                                              <p:pRg st="7" end="7"/>
                                            </p:txEl>
                                          </p:spTgt>
                                        </p:tgtEl>
                                        <p:attrNameLst>
                                          <p:attrName>style.visibility</p:attrName>
                                        </p:attrNameLst>
                                      </p:cBhvr>
                                      <p:to>
                                        <p:strVal val="visible"/>
                                      </p:to>
                                    </p:set>
                                    <p:animEffect transition="in" filter="wipe(up)">
                                      <p:cBhvr>
                                        <p:cTn id="56" dur="500"/>
                                        <p:tgtEl>
                                          <p:spTgt spid="381959">
                                            <p:txEl>
                                              <p:pRg st="7" end="7"/>
                                            </p:txEl>
                                          </p:spTgt>
                                        </p:tgtEl>
                                      </p:cBhvr>
                                    </p:animEffect>
                                  </p:childTnLst>
                                  <p:subTnLst>
                                    <p:audio>
                                      <p:cMediaNode>
                                        <p:cTn display="0" masterRel="sameClick">
                                          <p:stCondLst>
                                            <p:cond evt="begin" delay="0">
                                              <p:tn val="54"/>
                                            </p:cond>
                                          </p:stCondLst>
                                          <p:endCondLst>
                                            <p:cond evt="onStopAudio" delay="0">
                                              <p:tgtEl>
                                                <p:sldTgt/>
                                              </p:tgtEl>
                                            </p:cond>
                                          </p:endCondLst>
                                        </p:cTn>
                                        <p:tgtEl>
                                          <p:sndTgt r:embed="rId5" name="Pencil Check"/>
                                        </p:tgtEl>
                                      </p:cMediaNode>
                                    </p:audio>
                                  </p:sub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81961"/>
                                        </p:tgtEl>
                                        <p:attrNameLst>
                                          <p:attrName>style.visibility</p:attrName>
                                        </p:attrNameLst>
                                      </p:cBhvr>
                                      <p:to>
                                        <p:strVal val="visible"/>
                                      </p:to>
                                    </p:set>
                                    <p:anim calcmode="lin" valueType="num">
                                      <p:cBhvr additive="base">
                                        <p:cTn id="61" dur="500" fill="hold"/>
                                        <p:tgtEl>
                                          <p:spTgt spid="381961"/>
                                        </p:tgtEl>
                                        <p:attrNameLst>
                                          <p:attrName>ppt_x</p:attrName>
                                        </p:attrNameLst>
                                      </p:cBhvr>
                                      <p:tavLst>
                                        <p:tav tm="0">
                                          <p:val>
                                            <p:strVal val="0-#ppt_w/2"/>
                                          </p:val>
                                        </p:tav>
                                        <p:tav tm="100000">
                                          <p:val>
                                            <p:strVal val="#ppt_x"/>
                                          </p:val>
                                        </p:tav>
                                      </p:tavLst>
                                    </p:anim>
                                    <p:anim calcmode="lin" valueType="num">
                                      <p:cBhvr additive="base">
                                        <p:cTn id="62" dur="500" fill="hold"/>
                                        <p:tgtEl>
                                          <p:spTgt spid="38196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4" name="Arrow"/>
                                        </p:tgtEl>
                                      </p:cMediaNode>
                                    </p:audio>
                                  </p:sub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381960">
                                            <p:txEl>
                                              <p:pRg st="0" end="0"/>
                                            </p:txEl>
                                          </p:spTgt>
                                        </p:tgtEl>
                                        <p:attrNameLst>
                                          <p:attrName>style.visibility</p:attrName>
                                        </p:attrNameLst>
                                      </p:cBhvr>
                                      <p:to>
                                        <p:strVal val="visible"/>
                                      </p:to>
                                    </p:set>
                                    <p:animEffect transition="in" filter="wipe(up)">
                                      <p:cBhvr>
                                        <p:cTn id="67" dur="500"/>
                                        <p:tgtEl>
                                          <p:spTgt spid="381960">
                                            <p:txEl>
                                              <p:pRg st="0" end="0"/>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5" name="Pencil Check"/>
                                        </p:tgtEl>
                                      </p:cMediaNode>
                                    </p:audio>
                                  </p:sub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381960">
                                            <p:txEl>
                                              <p:pRg st="1" end="1"/>
                                            </p:txEl>
                                          </p:spTgt>
                                        </p:tgtEl>
                                        <p:attrNameLst>
                                          <p:attrName>style.visibility</p:attrName>
                                        </p:attrNameLst>
                                      </p:cBhvr>
                                      <p:to>
                                        <p:strVal val="visible"/>
                                      </p:to>
                                    </p:set>
                                    <p:animEffect transition="in" filter="wipe(up)">
                                      <p:cBhvr>
                                        <p:cTn id="72" dur="500"/>
                                        <p:tgtEl>
                                          <p:spTgt spid="381960">
                                            <p:txEl>
                                              <p:pRg st="1" end="1"/>
                                            </p:txEl>
                                          </p:spTgt>
                                        </p:tgtEl>
                                      </p:cBhvr>
                                    </p:animEffect>
                                  </p:childTnLst>
                                  <p:subTnLst>
                                    <p:audio>
                                      <p:cMediaNode>
                                        <p:cTn display="0" masterRel="sameClick">
                                          <p:stCondLst>
                                            <p:cond evt="begin" delay="0">
                                              <p:tn val="70"/>
                                            </p:cond>
                                          </p:stCondLst>
                                          <p:endCondLst>
                                            <p:cond evt="onStopAudio" delay="0">
                                              <p:tgtEl>
                                                <p:sldTgt/>
                                              </p:tgtEl>
                                            </p:cond>
                                          </p:endCondLst>
                                        </p:cTn>
                                        <p:tgtEl>
                                          <p:sndTgt r:embed="rId5" name="Pencil Check"/>
                                        </p:tgtEl>
                                      </p:cMediaNode>
                                    </p:audio>
                                  </p:sub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381960">
                                            <p:txEl>
                                              <p:pRg st="2" end="2"/>
                                            </p:txEl>
                                          </p:spTgt>
                                        </p:tgtEl>
                                        <p:attrNameLst>
                                          <p:attrName>style.visibility</p:attrName>
                                        </p:attrNameLst>
                                      </p:cBhvr>
                                      <p:to>
                                        <p:strVal val="visible"/>
                                      </p:to>
                                    </p:set>
                                    <p:animEffect transition="in" filter="wipe(up)">
                                      <p:cBhvr>
                                        <p:cTn id="77" dur="500"/>
                                        <p:tgtEl>
                                          <p:spTgt spid="381960">
                                            <p:txEl>
                                              <p:pRg st="2" end="2"/>
                                            </p:txEl>
                                          </p:spTgt>
                                        </p:tgtEl>
                                      </p:cBhvr>
                                    </p:animEffect>
                                  </p:childTnLst>
                                  <p:subTnLst>
                                    <p:audio>
                                      <p:cMediaNode>
                                        <p:cTn display="0" masterRel="sameClick">
                                          <p:stCondLst>
                                            <p:cond evt="begin" delay="0">
                                              <p:tn val="75"/>
                                            </p:cond>
                                          </p:stCondLst>
                                          <p:endCondLst>
                                            <p:cond evt="onStopAudio" delay="0">
                                              <p:tgtEl>
                                                <p:sldTgt/>
                                              </p:tgtEl>
                                            </p:cond>
                                          </p:endCondLst>
                                        </p:cTn>
                                        <p:tgtEl>
                                          <p:sndTgt r:embed="rId5" name="Pencil Check"/>
                                        </p:tgtEl>
                                      </p:cMediaNode>
                                    </p:audio>
                                  </p:sub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381960">
                                            <p:txEl>
                                              <p:pRg st="3" end="3"/>
                                            </p:txEl>
                                          </p:spTgt>
                                        </p:tgtEl>
                                        <p:attrNameLst>
                                          <p:attrName>style.visibility</p:attrName>
                                        </p:attrNameLst>
                                      </p:cBhvr>
                                      <p:to>
                                        <p:strVal val="visible"/>
                                      </p:to>
                                    </p:set>
                                    <p:animEffect transition="in" filter="wipe(up)">
                                      <p:cBhvr>
                                        <p:cTn id="82" dur="500"/>
                                        <p:tgtEl>
                                          <p:spTgt spid="381960">
                                            <p:txEl>
                                              <p:pRg st="3" end="3"/>
                                            </p:txEl>
                                          </p:spTgt>
                                        </p:tgtEl>
                                      </p:cBhvr>
                                    </p:animEffect>
                                  </p:childTnLst>
                                  <p:subTnLst>
                                    <p:audio>
                                      <p:cMediaNode>
                                        <p:cTn display="0" masterRel="sameClick">
                                          <p:stCondLst>
                                            <p:cond evt="begin" delay="0">
                                              <p:tn val="80"/>
                                            </p:cond>
                                          </p:stCondLst>
                                          <p:endCondLst>
                                            <p:cond evt="onStopAudio" delay="0">
                                              <p:tgtEl>
                                                <p:sldTgt/>
                                              </p:tgtEl>
                                            </p:cond>
                                          </p:endCondLst>
                                        </p:cTn>
                                        <p:tgtEl>
                                          <p:sndTgt r:embed="rId5" name="Pencil Check"/>
                                        </p:tgtEl>
                                      </p:cMediaNode>
                                    </p:audio>
                                  </p:sub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381960">
                                            <p:txEl>
                                              <p:pRg st="4" end="4"/>
                                            </p:txEl>
                                          </p:spTgt>
                                        </p:tgtEl>
                                        <p:attrNameLst>
                                          <p:attrName>style.visibility</p:attrName>
                                        </p:attrNameLst>
                                      </p:cBhvr>
                                      <p:to>
                                        <p:strVal val="visible"/>
                                      </p:to>
                                    </p:set>
                                    <p:animEffect transition="in" filter="wipe(up)">
                                      <p:cBhvr>
                                        <p:cTn id="87" dur="500"/>
                                        <p:tgtEl>
                                          <p:spTgt spid="381960">
                                            <p:txEl>
                                              <p:pRg st="4" end="4"/>
                                            </p:txEl>
                                          </p:spTgt>
                                        </p:tgtEl>
                                      </p:cBhvr>
                                    </p:animEffect>
                                  </p:childTnLst>
                                  <p:subTnLst>
                                    <p:audio>
                                      <p:cMediaNode>
                                        <p:cTn display="0" masterRel="sameClick">
                                          <p:stCondLst>
                                            <p:cond evt="begin" delay="0">
                                              <p:tn val="85"/>
                                            </p:cond>
                                          </p:stCondLst>
                                          <p:endCondLst>
                                            <p:cond evt="onStopAudio" delay="0">
                                              <p:tgtEl>
                                                <p:sldTgt/>
                                              </p:tgtEl>
                                            </p:cond>
                                          </p:endCondLst>
                                        </p:cTn>
                                        <p:tgtEl>
                                          <p:sndTgt r:embed="rId5" name="Pencil Check"/>
                                        </p:tgtEl>
                                      </p:cMediaNode>
                                    </p:audio>
                                  </p:sub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381960">
                                            <p:txEl>
                                              <p:pRg st="5" end="5"/>
                                            </p:txEl>
                                          </p:spTgt>
                                        </p:tgtEl>
                                        <p:attrNameLst>
                                          <p:attrName>style.visibility</p:attrName>
                                        </p:attrNameLst>
                                      </p:cBhvr>
                                      <p:to>
                                        <p:strVal val="visible"/>
                                      </p:to>
                                    </p:set>
                                    <p:animEffect transition="in" filter="wipe(up)">
                                      <p:cBhvr>
                                        <p:cTn id="92" dur="500"/>
                                        <p:tgtEl>
                                          <p:spTgt spid="381960">
                                            <p:txEl>
                                              <p:pRg st="5" end="5"/>
                                            </p:txEl>
                                          </p:spTgt>
                                        </p:tgtEl>
                                      </p:cBhvr>
                                    </p:animEffect>
                                  </p:childTnLst>
                                  <p:subTnLst>
                                    <p:audio>
                                      <p:cMediaNode>
                                        <p:cTn display="0" masterRel="sameClick">
                                          <p:stCondLst>
                                            <p:cond evt="begin" delay="0">
                                              <p:tn val="90"/>
                                            </p:cond>
                                          </p:stCondLst>
                                          <p:endCondLst>
                                            <p:cond evt="onStopAudio" delay="0">
                                              <p:tgtEl>
                                                <p:sldTgt/>
                                              </p:tgtEl>
                                            </p:cond>
                                          </p:endCondLst>
                                        </p:cTn>
                                        <p:tgtEl>
                                          <p:sndTgt r:embed="rId5" name="Pencil Check"/>
                                        </p:tgtEl>
                                      </p:cMediaNode>
                                    </p:audio>
                                  </p:sub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381960">
                                            <p:txEl>
                                              <p:pRg st="6" end="6"/>
                                            </p:txEl>
                                          </p:spTgt>
                                        </p:tgtEl>
                                        <p:attrNameLst>
                                          <p:attrName>style.visibility</p:attrName>
                                        </p:attrNameLst>
                                      </p:cBhvr>
                                      <p:to>
                                        <p:strVal val="visible"/>
                                      </p:to>
                                    </p:set>
                                    <p:animEffect transition="in" filter="wipe(up)">
                                      <p:cBhvr>
                                        <p:cTn id="97" dur="500"/>
                                        <p:tgtEl>
                                          <p:spTgt spid="381960">
                                            <p:txEl>
                                              <p:pRg st="6" end="6"/>
                                            </p:txEl>
                                          </p:spTgt>
                                        </p:tgtEl>
                                      </p:cBhvr>
                                    </p:animEffect>
                                  </p:childTnLst>
                                  <p:subTnLst>
                                    <p:audio>
                                      <p:cMediaNode>
                                        <p:cTn display="0" masterRel="sameClick">
                                          <p:stCondLst>
                                            <p:cond evt="begin" delay="0">
                                              <p:tn val="95"/>
                                            </p:cond>
                                          </p:stCondLst>
                                          <p:endCondLst>
                                            <p:cond evt="onStopAudio" delay="0">
                                              <p:tgtEl>
                                                <p:sldTgt/>
                                              </p:tgtEl>
                                            </p:cond>
                                          </p:endCondLst>
                                        </p:cTn>
                                        <p:tgtEl>
                                          <p:sndTgt r:embed="rId5" name="Pencil Check"/>
                                        </p:tgtEl>
                                      </p:cMediaNode>
                                    </p:audio>
                                  </p:sub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1" fill="hold" grpId="0" nodeType="clickEffect">
                                  <p:stCondLst>
                                    <p:cond delay="0"/>
                                  </p:stCondLst>
                                  <p:childTnLst>
                                    <p:set>
                                      <p:cBhvr>
                                        <p:cTn id="101" dur="1" fill="hold">
                                          <p:stCondLst>
                                            <p:cond delay="0"/>
                                          </p:stCondLst>
                                        </p:cTn>
                                        <p:tgtEl>
                                          <p:spTgt spid="381960">
                                            <p:txEl>
                                              <p:pRg st="7" end="7"/>
                                            </p:txEl>
                                          </p:spTgt>
                                        </p:tgtEl>
                                        <p:attrNameLst>
                                          <p:attrName>style.visibility</p:attrName>
                                        </p:attrNameLst>
                                      </p:cBhvr>
                                      <p:to>
                                        <p:strVal val="visible"/>
                                      </p:to>
                                    </p:set>
                                    <p:animEffect transition="in" filter="wipe(up)">
                                      <p:cBhvr>
                                        <p:cTn id="102" dur="500"/>
                                        <p:tgtEl>
                                          <p:spTgt spid="381960">
                                            <p:txEl>
                                              <p:pRg st="7" end="7"/>
                                            </p:txEl>
                                          </p:spTgt>
                                        </p:tgtEl>
                                      </p:cBhvr>
                                    </p:animEffect>
                                  </p:childTnLst>
                                  <p:subTnLst>
                                    <p:audio>
                                      <p:cMediaNode>
                                        <p:cTn display="0" masterRel="sameClick">
                                          <p:stCondLst>
                                            <p:cond evt="begin" delay="0">
                                              <p:tn val="100"/>
                                            </p:cond>
                                          </p:stCondLst>
                                          <p:endCondLst>
                                            <p:cond evt="onStopAudio" delay="0">
                                              <p:tgtEl>
                                                <p:sldTgt/>
                                              </p:tgtEl>
                                            </p:cond>
                                          </p:endCondLst>
                                        </p:cTn>
                                        <p:tgtEl>
                                          <p:sndTgt r:embed="rId5" name="Pencil Check"/>
                                        </p:tgtEl>
                                      </p:cMediaNode>
                                    </p:audio>
                                  </p:sub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381962"/>
                                        </p:tgtEl>
                                        <p:attrNameLst>
                                          <p:attrName>style.visibility</p:attrName>
                                        </p:attrNameLst>
                                      </p:cBhvr>
                                      <p:to>
                                        <p:strVal val="visible"/>
                                      </p:to>
                                    </p:set>
                                    <p:animEffect transition="in" filter="wipe(left)">
                                      <p:cBhvr>
                                        <p:cTn id="107" dur="500"/>
                                        <p:tgtEl>
                                          <p:spTgt spid="381962"/>
                                        </p:tgtEl>
                                      </p:cBhvr>
                                    </p:animEffect>
                                  </p:childTnLst>
                                  <p:subTnLst>
                                    <p:audio>
                                      <p:cMediaNode>
                                        <p:cTn display="0" masterRel="sameClick">
                                          <p:stCondLst>
                                            <p:cond evt="begin" delay="0">
                                              <p:tn val="105"/>
                                            </p:cond>
                                          </p:stCondLst>
                                          <p:endCondLst>
                                            <p:cond evt="onStopAudio" delay="0">
                                              <p:tgtEl>
                                                <p:sldTgt/>
                                              </p:tgtEl>
                                            </p:cond>
                                          </p:endCondLst>
                                        </p:cTn>
                                        <p:tgtEl>
                                          <p:sndTgt r:embed="rId3"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5" grpId="0" build="p" autoUpdateAnimBg="0"/>
      <p:bldP spid="381958" grpId="0" animBg="1"/>
      <p:bldP spid="381959" grpId="0" build="p"/>
      <p:bldP spid="381960" grpId="0" build="p"/>
      <p:bldP spid="381961" grpId="0" animBg="1"/>
      <p:bldP spid="381962"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a:xfrm>
            <a:off x="768096" y="585216"/>
            <a:ext cx="7290054" cy="1113967"/>
          </a:xfrm>
        </p:spPr>
        <p:txBody>
          <a:bodyPr/>
          <a:lstStyle/>
          <a:p>
            <a:r>
              <a:rPr lang="en-US" dirty="0">
                <a:solidFill>
                  <a:srgbClr val="0070C0"/>
                </a:solidFill>
              </a:rPr>
              <a:t>Plasma Membrane</a:t>
            </a:r>
          </a:p>
        </p:txBody>
      </p:sp>
      <p:sp>
        <p:nvSpPr>
          <p:cNvPr id="386051" name="Rectangle 3" descr="Rectangle: Click to edit Master text styles&#10;Second level&#10;Third level&#10;Fourth level&#10;Fifth level"/>
          <p:cNvSpPr>
            <a:spLocks noGrp="1" noChangeArrowheads="1"/>
          </p:cNvSpPr>
          <p:nvPr>
            <p:ph idx="1"/>
          </p:nvPr>
        </p:nvSpPr>
        <p:spPr>
          <a:xfrm>
            <a:off x="733699" y="1929384"/>
            <a:ext cx="5019401" cy="4099560"/>
          </a:xfrm>
        </p:spPr>
        <p:txBody>
          <a:bodyPr/>
          <a:lstStyle/>
          <a:p>
            <a:r>
              <a:rPr lang="en-US" dirty="0">
                <a:latin typeface="Calibri" panose="020F0502020204030204" pitchFamily="34" charset="0"/>
                <a:cs typeface="Calibri" panose="020F0502020204030204" pitchFamily="34" charset="0"/>
              </a:rPr>
              <a:t>Membrane is made of phospholipids, with a phosphate head (hydrophilic – water loving)  and a lipid tail (hydrophobic – water repelling).  Membrane is a double layer hence the name </a:t>
            </a:r>
            <a:r>
              <a:rPr lang="en-US" b="1" dirty="0">
                <a:latin typeface="Calibri" panose="020F0502020204030204" pitchFamily="34" charset="0"/>
                <a:cs typeface="Calibri" panose="020F0502020204030204" pitchFamily="34" charset="0"/>
              </a:rPr>
              <a:t>phospholipid bilayer. </a:t>
            </a:r>
          </a:p>
        </p:txBody>
      </p:sp>
      <p:grpSp>
        <p:nvGrpSpPr>
          <p:cNvPr id="386065" name="Group 17"/>
          <p:cNvGrpSpPr>
            <a:grpSpLocks/>
          </p:cNvGrpSpPr>
          <p:nvPr/>
        </p:nvGrpSpPr>
        <p:grpSpPr bwMode="auto">
          <a:xfrm>
            <a:off x="1278571" y="3870184"/>
            <a:ext cx="2952328" cy="1938750"/>
            <a:chOff x="417" y="2256"/>
            <a:chExt cx="2668" cy="1824"/>
          </a:xfrm>
        </p:grpSpPr>
        <p:pic>
          <p:nvPicPr>
            <p:cNvPr id="386055" name="Picture 7"/>
            <p:cNvPicPr>
              <a:picLocks noChangeAspect="1" noChangeArrowheads="1"/>
            </p:cNvPicPr>
            <p:nvPr/>
          </p:nvPicPr>
          <p:blipFill>
            <a:blip r:embed="rId6">
              <a:extLst>
                <a:ext uri="{28A0092B-C50C-407E-A947-70E740481C1C}">
                  <a14:useLocalDpi xmlns:a14="http://schemas.microsoft.com/office/drawing/2010/main" val="0"/>
                </a:ext>
              </a:extLst>
            </a:blip>
            <a:srcRect l="29604" t="49200" r="1057" b="7201"/>
            <a:stretch>
              <a:fillRect/>
            </a:stretch>
          </p:blipFill>
          <p:spPr bwMode="auto">
            <a:xfrm>
              <a:off x="417" y="2448"/>
              <a:ext cx="2668" cy="1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6056" name="Rectangle 8"/>
            <p:cNvSpPr>
              <a:spLocks noChangeArrowheads="1"/>
            </p:cNvSpPr>
            <p:nvPr/>
          </p:nvSpPr>
          <p:spPr bwMode="auto">
            <a:xfrm>
              <a:off x="432" y="2256"/>
              <a:ext cx="2625" cy="288"/>
            </a:xfrm>
            <a:prstGeom prst="rect">
              <a:avLst/>
            </a:prstGeom>
            <a:solidFill>
              <a:srgbClr val="98D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b="1">
                  <a:solidFill>
                    <a:srgbClr val="0F116A"/>
                  </a:solidFill>
                </a:rPr>
                <a:t>inside cell</a:t>
              </a:r>
            </a:p>
          </p:txBody>
        </p:sp>
        <p:sp>
          <p:nvSpPr>
            <p:cNvPr id="386057" name="Rectangle 9"/>
            <p:cNvSpPr>
              <a:spLocks noChangeArrowheads="1"/>
            </p:cNvSpPr>
            <p:nvPr/>
          </p:nvSpPr>
          <p:spPr bwMode="auto">
            <a:xfrm>
              <a:off x="432" y="3792"/>
              <a:ext cx="2625" cy="288"/>
            </a:xfrm>
            <a:prstGeom prst="rect">
              <a:avLst/>
            </a:prstGeom>
            <a:solidFill>
              <a:srgbClr val="98D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b="1">
                  <a:solidFill>
                    <a:srgbClr val="0F116A"/>
                  </a:solidFill>
                </a:rPr>
                <a:t>outside cell</a:t>
              </a:r>
            </a:p>
          </p:txBody>
        </p:sp>
      </p:grpSp>
      <p:sp>
        <p:nvSpPr>
          <p:cNvPr id="386060" name="Freeform 12"/>
          <p:cNvSpPr>
            <a:spLocks/>
          </p:cNvSpPr>
          <p:nvPr/>
        </p:nvSpPr>
        <p:spPr bwMode="auto">
          <a:xfrm>
            <a:off x="6870700" y="3886200"/>
            <a:ext cx="165100" cy="2667000"/>
          </a:xfrm>
          <a:custGeom>
            <a:avLst/>
            <a:gdLst>
              <a:gd name="T0" fmla="*/ 0 w 104"/>
              <a:gd name="T1" fmla="*/ 0 h 1680"/>
              <a:gd name="T2" fmla="*/ 48 w 104"/>
              <a:gd name="T3" fmla="*/ 192 h 1680"/>
              <a:gd name="T4" fmla="*/ 96 w 104"/>
              <a:gd name="T5" fmla="*/ 768 h 1680"/>
              <a:gd name="T6" fmla="*/ 96 w 104"/>
              <a:gd name="T7" fmla="*/ 1680 h 1680"/>
            </a:gdLst>
            <a:ahLst/>
            <a:cxnLst>
              <a:cxn ang="0">
                <a:pos x="T0" y="T1"/>
              </a:cxn>
              <a:cxn ang="0">
                <a:pos x="T2" y="T3"/>
              </a:cxn>
              <a:cxn ang="0">
                <a:pos x="T4" y="T5"/>
              </a:cxn>
              <a:cxn ang="0">
                <a:pos x="T6" y="T7"/>
              </a:cxn>
            </a:cxnLst>
            <a:rect l="0" t="0" r="r" b="b"/>
            <a:pathLst>
              <a:path w="104" h="1680">
                <a:moveTo>
                  <a:pt x="0" y="0"/>
                </a:moveTo>
                <a:cubicBezTo>
                  <a:pt x="16" y="32"/>
                  <a:pt x="32" y="64"/>
                  <a:pt x="48" y="192"/>
                </a:cubicBezTo>
                <a:cubicBezTo>
                  <a:pt x="64" y="320"/>
                  <a:pt x="88" y="520"/>
                  <a:pt x="96" y="768"/>
                </a:cubicBezTo>
                <a:cubicBezTo>
                  <a:pt x="104" y="1016"/>
                  <a:pt x="96" y="1528"/>
                  <a:pt x="96" y="1680"/>
                </a:cubicBezTo>
              </a:path>
            </a:pathLst>
          </a:custGeom>
          <a:noFill/>
          <a:ln w="177800" cap="flat" cmpd="sng">
            <a:solidFill>
              <a:schemeClr val="tx1"/>
            </a:solidFill>
            <a:prstDash val="solid"/>
            <a:round/>
            <a:headEnd/>
            <a:tailEnd/>
          </a:ln>
          <a:effectLst/>
          <a:extLst>
            <a:ext uri="{909E8E84-426E-40DD-AFC4-6F175D3DCCD1}">
              <a14:hiddenFill xmlns:a14="http://schemas.microsoft.com/office/drawing/2010/main">
                <a:solidFill>
                  <a:srgbClr val="FFEA1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86061" name="Freeform 13"/>
          <p:cNvSpPr>
            <a:spLocks/>
          </p:cNvSpPr>
          <p:nvPr/>
        </p:nvSpPr>
        <p:spPr bwMode="auto">
          <a:xfrm>
            <a:off x="6324600" y="3886200"/>
            <a:ext cx="165100" cy="2590800"/>
          </a:xfrm>
          <a:custGeom>
            <a:avLst/>
            <a:gdLst>
              <a:gd name="T0" fmla="*/ 104 w 104"/>
              <a:gd name="T1" fmla="*/ 0 h 1632"/>
              <a:gd name="T2" fmla="*/ 56 w 104"/>
              <a:gd name="T3" fmla="*/ 240 h 1632"/>
              <a:gd name="T4" fmla="*/ 8 w 104"/>
              <a:gd name="T5" fmla="*/ 960 h 1632"/>
              <a:gd name="T6" fmla="*/ 104 w 104"/>
              <a:gd name="T7" fmla="*/ 1632 h 1632"/>
            </a:gdLst>
            <a:ahLst/>
            <a:cxnLst>
              <a:cxn ang="0">
                <a:pos x="T0" y="T1"/>
              </a:cxn>
              <a:cxn ang="0">
                <a:pos x="T2" y="T3"/>
              </a:cxn>
              <a:cxn ang="0">
                <a:pos x="T4" y="T5"/>
              </a:cxn>
              <a:cxn ang="0">
                <a:pos x="T6" y="T7"/>
              </a:cxn>
            </a:cxnLst>
            <a:rect l="0" t="0" r="r" b="b"/>
            <a:pathLst>
              <a:path w="104" h="1632">
                <a:moveTo>
                  <a:pt x="104" y="0"/>
                </a:moveTo>
                <a:cubicBezTo>
                  <a:pt x="88" y="40"/>
                  <a:pt x="72" y="80"/>
                  <a:pt x="56" y="240"/>
                </a:cubicBezTo>
                <a:cubicBezTo>
                  <a:pt x="40" y="400"/>
                  <a:pt x="0" y="728"/>
                  <a:pt x="8" y="960"/>
                </a:cubicBezTo>
                <a:cubicBezTo>
                  <a:pt x="16" y="1192"/>
                  <a:pt x="60" y="1412"/>
                  <a:pt x="104" y="1632"/>
                </a:cubicBezTo>
              </a:path>
            </a:pathLst>
          </a:custGeom>
          <a:noFill/>
          <a:ln w="177800" cap="flat" cmpd="sng">
            <a:solidFill>
              <a:schemeClr val="tx1"/>
            </a:solidFill>
            <a:prstDash val="solid"/>
            <a:round/>
            <a:headEnd/>
            <a:tailEnd/>
          </a:ln>
          <a:effectLst/>
          <a:extLst>
            <a:ext uri="{909E8E84-426E-40DD-AFC4-6F175D3DCCD1}">
              <a14:hiddenFill xmlns:a14="http://schemas.microsoft.com/office/drawing/2010/main">
                <a:solidFill>
                  <a:srgbClr val="FFEA1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386062" name="Oval 14"/>
          <p:cNvSpPr>
            <a:spLocks noChangeArrowheads="1"/>
          </p:cNvSpPr>
          <p:nvPr/>
        </p:nvSpPr>
        <p:spPr bwMode="auto">
          <a:xfrm>
            <a:off x="5992813" y="2667000"/>
            <a:ext cx="1371600" cy="1371600"/>
          </a:xfrm>
          <a:prstGeom prst="ellipse">
            <a:avLst/>
          </a:prstGeom>
          <a:solidFill>
            <a:srgbClr val="FFEA18"/>
          </a:solidFill>
          <a:ln w="9525">
            <a:solidFill>
              <a:srgbClr val="FFEA1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p>
        </p:txBody>
      </p:sp>
      <p:sp>
        <p:nvSpPr>
          <p:cNvPr id="386063" name="Rectangle 15"/>
          <p:cNvSpPr>
            <a:spLocks noChangeArrowheads="1"/>
          </p:cNvSpPr>
          <p:nvPr/>
        </p:nvSpPr>
        <p:spPr bwMode="auto">
          <a:xfrm>
            <a:off x="5562600" y="4798983"/>
            <a:ext cx="635110" cy="400110"/>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000" dirty="0">
                <a:solidFill>
                  <a:srgbClr val="CC0000"/>
                </a:solidFill>
                <a:latin typeface="Calibri" panose="020F0502020204030204" pitchFamily="34" charset="0"/>
                <a:cs typeface="Calibri" panose="020F0502020204030204" pitchFamily="34" charset="0"/>
              </a:rPr>
              <a:t>lipid</a:t>
            </a:r>
          </a:p>
        </p:txBody>
      </p:sp>
      <p:sp>
        <p:nvSpPr>
          <p:cNvPr id="386053" name="AutoShape 5"/>
          <p:cNvSpPr>
            <a:spLocks noChangeArrowheads="1"/>
          </p:cNvSpPr>
          <p:nvPr/>
        </p:nvSpPr>
        <p:spPr bwMode="auto">
          <a:xfrm>
            <a:off x="6553200" y="6019403"/>
            <a:ext cx="2072012" cy="340519"/>
          </a:xfrm>
          <a:prstGeom prst="roundRect">
            <a:avLst>
              <a:gd name="adj" fmla="val 16667"/>
            </a:avLst>
          </a:prstGeom>
          <a:solidFill>
            <a:srgbClr val="CC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gn="l"/>
            <a:r>
              <a:rPr lang="en-US" sz="2000" dirty="0">
                <a:solidFill>
                  <a:schemeClr val="bg1"/>
                </a:solidFill>
                <a:latin typeface="Calibri" panose="020F0502020204030204" pitchFamily="34" charset="0"/>
                <a:cs typeface="Calibri" panose="020F0502020204030204" pitchFamily="34" charset="0"/>
              </a:rPr>
              <a:t>“repelled by water”</a:t>
            </a:r>
          </a:p>
        </p:txBody>
      </p:sp>
      <p:sp>
        <p:nvSpPr>
          <p:cNvPr id="386052" name="AutoShape 4"/>
          <p:cNvSpPr>
            <a:spLocks noChangeArrowheads="1"/>
          </p:cNvSpPr>
          <p:nvPr/>
        </p:nvSpPr>
        <p:spPr bwMode="auto">
          <a:xfrm>
            <a:off x="6553200" y="2209403"/>
            <a:ext cx="2174883" cy="340519"/>
          </a:xfrm>
          <a:prstGeom prst="roundRect">
            <a:avLst>
              <a:gd name="adj" fmla="val 16667"/>
            </a:avLst>
          </a:prstGeom>
          <a:solidFill>
            <a:srgbClr val="CC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gn="l"/>
            <a:r>
              <a:rPr lang="en-US" sz="2000" dirty="0">
                <a:solidFill>
                  <a:schemeClr val="bg1"/>
                </a:solidFill>
                <a:latin typeface="Calibri" panose="020F0502020204030204" pitchFamily="34" charset="0"/>
                <a:cs typeface="Calibri" panose="020F0502020204030204" pitchFamily="34" charset="0"/>
              </a:rPr>
              <a:t>“attracted to water”</a:t>
            </a:r>
          </a:p>
        </p:txBody>
      </p:sp>
      <p:sp>
        <p:nvSpPr>
          <p:cNvPr id="386066" name="Rectangle 18"/>
          <p:cNvSpPr>
            <a:spLocks noChangeArrowheads="1"/>
          </p:cNvSpPr>
          <p:nvPr/>
        </p:nvSpPr>
        <p:spPr bwMode="auto">
          <a:xfrm>
            <a:off x="6014657" y="3076545"/>
            <a:ext cx="1315681" cy="400110"/>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000" dirty="0">
                <a:solidFill>
                  <a:srgbClr val="CC0000"/>
                </a:solidFill>
                <a:latin typeface="Calibri" panose="020F0502020204030204" pitchFamily="34" charset="0"/>
                <a:cs typeface="Calibri" panose="020F0502020204030204" pitchFamily="34" charset="0"/>
              </a:rPr>
              <a:t>phosphate</a:t>
            </a:r>
          </a:p>
        </p:txBody>
      </p:sp>
    </p:spTree>
    <p:extLst>
      <p:ext uri="{BB962C8B-B14F-4D97-AF65-F5344CB8AC3E}">
        <p14:creationId xmlns:p14="http://schemas.microsoft.com/office/powerpoint/2010/main" val="22351564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6051">
                                            <p:txEl>
                                              <p:pRg st="0" end="0"/>
                                            </p:txEl>
                                          </p:spTgt>
                                        </p:tgtEl>
                                        <p:attrNameLst>
                                          <p:attrName>style.visibility</p:attrName>
                                        </p:attrNameLst>
                                      </p:cBhvr>
                                      <p:to>
                                        <p:strVal val="visible"/>
                                      </p:to>
                                    </p:set>
                                    <p:anim calcmode="lin" valueType="num">
                                      <p:cBhvr additive="base">
                                        <p:cTn id="7" dur="500" fill="hold"/>
                                        <p:tgtEl>
                                          <p:spTgt spid="3860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860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86066">
                                            <p:txEl>
                                              <p:pRg st="0" end="0"/>
                                            </p:txEl>
                                          </p:spTgt>
                                        </p:tgtEl>
                                        <p:attrNameLst>
                                          <p:attrName>style.visibility</p:attrName>
                                        </p:attrNameLst>
                                      </p:cBhvr>
                                      <p:to>
                                        <p:strVal val="visible"/>
                                      </p:to>
                                    </p:set>
                                    <p:animEffect transition="in" filter="wipe(left)">
                                      <p:cBhvr>
                                        <p:cTn id="13" dur="500"/>
                                        <p:tgtEl>
                                          <p:spTgt spid="386066">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4" name="Pencil Check"/>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86063">
                                            <p:txEl>
                                              <p:pRg st="0" end="0"/>
                                            </p:txEl>
                                          </p:spTgt>
                                        </p:tgtEl>
                                        <p:attrNameLst>
                                          <p:attrName>style.visibility</p:attrName>
                                        </p:attrNameLst>
                                      </p:cBhvr>
                                      <p:to>
                                        <p:strVal val="visible"/>
                                      </p:to>
                                    </p:set>
                                    <p:animEffect transition="in" filter="wipe(left)">
                                      <p:cBhvr>
                                        <p:cTn id="18" dur="500"/>
                                        <p:tgtEl>
                                          <p:spTgt spid="386063">
                                            <p:txEl>
                                              <p:pRg st="0" end="0"/>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4" name="Pencil Check"/>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86052"/>
                                        </p:tgtEl>
                                        <p:attrNameLst>
                                          <p:attrName>style.visibility</p:attrName>
                                        </p:attrNameLst>
                                      </p:cBhvr>
                                      <p:to>
                                        <p:strVal val="visible"/>
                                      </p:to>
                                    </p:set>
                                    <p:animEffect transition="in" filter="wipe(left)">
                                      <p:cBhvr>
                                        <p:cTn id="23" dur="500"/>
                                        <p:tgtEl>
                                          <p:spTgt spid="386052"/>
                                        </p:tgtEl>
                                      </p:cBhvr>
                                    </p:animEffect>
                                  </p:childTnLst>
                                  <p:subTnLst>
                                    <p:audio>
                                      <p:cMediaNode>
                                        <p:cTn display="0" masterRel="sameClick">
                                          <p:stCondLst>
                                            <p:cond evt="begin" delay="0">
                                              <p:tn val="21"/>
                                            </p:cond>
                                          </p:stCondLst>
                                          <p:endCondLst>
                                            <p:cond evt="onStopAudio" delay="0">
                                              <p:tgtEl>
                                                <p:sldTgt/>
                                              </p:tgtEl>
                                            </p:cond>
                                          </p:endCondLst>
                                        </p:cTn>
                                        <p:tgtEl>
                                          <p:sndTgt r:embed="rId5" name="Vibro Up"/>
                                        </p:tgtEl>
                                      </p:cMediaNode>
                                    </p:audio>
                                  </p:sub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86053"/>
                                        </p:tgtEl>
                                        <p:attrNameLst>
                                          <p:attrName>style.visibility</p:attrName>
                                        </p:attrNameLst>
                                      </p:cBhvr>
                                      <p:to>
                                        <p:strVal val="visible"/>
                                      </p:to>
                                    </p:set>
                                    <p:animEffect transition="in" filter="wipe(left)">
                                      <p:cBhvr>
                                        <p:cTn id="28" dur="500"/>
                                        <p:tgtEl>
                                          <p:spTgt spid="386053"/>
                                        </p:tgtEl>
                                      </p:cBhvr>
                                    </p:animEffect>
                                  </p:childTnLst>
                                  <p:subTnLst>
                                    <p:audio>
                                      <p:cMediaNode>
                                        <p:cTn display="0" masterRel="sameClick">
                                          <p:stCondLst>
                                            <p:cond evt="begin" delay="0">
                                              <p:tn val="26"/>
                                            </p:cond>
                                          </p:stCondLst>
                                          <p:endCondLst>
                                            <p:cond evt="onStopAudio" delay="0">
                                              <p:tgtEl>
                                                <p:sldTgt/>
                                              </p:tgtEl>
                                            </p:cond>
                                          </p:endCondLst>
                                        </p:cTn>
                                        <p:tgtEl>
                                          <p:sndTgt r:embed="rId5" name="Vibro Up"/>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1" grpId="0" build="p" autoUpdateAnimBg="0"/>
      <p:bldP spid="386063" grpId="0" build="p" autoUpdateAnimBg="0"/>
      <p:bldP spid="386053" grpId="0" animBg="1" autoUpdateAnimBg="0"/>
      <p:bldP spid="386052" grpId="0" animBg="1" autoUpdateAnimBg="0"/>
      <p:bldP spid="386066"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4"/>
          <p:cNvSpPr>
            <a:spLocks noGrp="1"/>
          </p:cNvSpPr>
          <p:nvPr>
            <p:ph type="title"/>
          </p:nvPr>
        </p:nvSpPr>
        <p:spPr>
          <a:xfrm>
            <a:off x="685800" y="483400"/>
            <a:ext cx="7772400" cy="875184"/>
          </a:xfrm>
        </p:spPr>
        <p:txBody>
          <a:bodyPr/>
          <a:lstStyle/>
          <a:p>
            <a:r>
              <a:rPr lang="en-AU" dirty="0">
                <a:solidFill>
                  <a:srgbClr val="0070C0"/>
                </a:solidFill>
              </a:rPr>
              <a:t>Plasma Membrane</a:t>
            </a:r>
          </a:p>
        </p:txBody>
      </p:sp>
      <p:sp>
        <p:nvSpPr>
          <p:cNvPr id="6" name="Content Placeholder 5"/>
          <p:cNvSpPr>
            <a:spLocks noGrp="1"/>
          </p:cNvSpPr>
          <p:nvPr>
            <p:ph sz="half" idx="1"/>
          </p:nvPr>
        </p:nvSpPr>
        <p:spPr>
          <a:xfrm>
            <a:off x="685800" y="1447800"/>
            <a:ext cx="7772400" cy="1981200"/>
          </a:xfrm>
        </p:spPr>
        <p:txBody>
          <a:bodyPr/>
          <a:lstStyle/>
          <a:p>
            <a:r>
              <a:rPr lang="en-GB" dirty="0">
                <a:latin typeface="Calibri" panose="020F0502020204030204" pitchFamily="34" charset="0"/>
                <a:cs typeface="Calibri" panose="020F0502020204030204" pitchFamily="34" charset="0"/>
              </a:rPr>
              <a:t>Plasma membrane is often called the </a:t>
            </a:r>
            <a:r>
              <a:rPr lang="en-GB" b="1" dirty="0">
                <a:latin typeface="Calibri" panose="020F0502020204030204" pitchFamily="34" charset="0"/>
                <a:cs typeface="Calibri" panose="020F0502020204030204" pitchFamily="34" charset="0"/>
              </a:rPr>
              <a:t>fluid mosaic model</a:t>
            </a:r>
          </a:p>
          <a:p>
            <a:r>
              <a:rPr lang="en-GB" b="1" dirty="0">
                <a:latin typeface="Calibri" panose="020F0502020204030204" pitchFamily="34" charset="0"/>
                <a:cs typeface="Calibri" panose="020F0502020204030204" pitchFamily="34" charset="0"/>
              </a:rPr>
              <a:t>FLUID</a:t>
            </a:r>
            <a:r>
              <a:rPr lang="en-GB" dirty="0">
                <a:latin typeface="Calibri" panose="020F0502020204030204" pitchFamily="34" charset="0"/>
                <a:cs typeface="Calibri" panose="020F0502020204030204" pitchFamily="34" charset="0"/>
              </a:rPr>
              <a:t> - because individual phospholipids and proteins can move side-to-side within the layer, like it’s a liquid.</a:t>
            </a:r>
          </a:p>
          <a:p>
            <a:r>
              <a:rPr lang="en-GB" b="1" dirty="0">
                <a:latin typeface="Calibri" panose="020F0502020204030204" pitchFamily="34" charset="0"/>
                <a:cs typeface="Calibri" panose="020F0502020204030204" pitchFamily="34" charset="0"/>
              </a:rPr>
              <a:t>MOSAIC</a:t>
            </a:r>
            <a:r>
              <a:rPr lang="en-GB" dirty="0">
                <a:latin typeface="Calibri" panose="020F0502020204030204" pitchFamily="34" charset="0"/>
                <a:cs typeface="Calibri" panose="020F0502020204030204" pitchFamily="34" charset="0"/>
              </a:rPr>
              <a:t> - because of the pattern produced by the scattered protein molecules when the membrane is viewed from above.</a:t>
            </a:r>
          </a:p>
          <a:p>
            <a:endParaRPr lang="en-AU" dirty="0"/>
          </a:p>
        </p:txBody>
      </p:sp>
      <p:pic>
        <p:nvPicPr>
          <p:cNvPr id="3" name="Picture 2">
            <a:extLst>
              <a:ext uri="{FF2B5EF4-FFF2-40B4-BE49-F238E27FC236}">
                <a16:creationId xmlns:a16="http://schemas.microsoft.com/office/drawing/2014/main" id="{235A98B6-1396-4E7A-97D5-3DD5BFC355C2}"/>
              </a:ext>
            </a:extLst>
          </p:cNvPr>
          <p:cNvPicPr>
            <a:picLocks noChangeAspect="1"/>
          </p:cNvPicPr>
          <p:nvPr/>
        </p:nvPicPr>
        <p:blipFill>
          <a:blip r:embed="rId3"/>
          <a:stretch>
            <a:fillRect/>
          </a:stretch>
        </p:blipFill>
        <p:spPr>
          <a:xfrm>
            <a:off x="1290637" y="3532530"/>
            <a:ext cx="6562725" cy="3133725"/>
          </a:xfrm>
          <a:prstGeom prst="rect">
            <a:avLst/>
          </a:prstGeom>
        </p:spPr>
      </p:pic>
    </p:spTree>
    <p:extLst>
      <p:ext uri="{BB962C8B-B14F-4D97-AF65-F5344CB8AC3E}">
        <p14:creationId xmlns:p14="http://schemas.microsoft.com/office/powerpoint/2010/main" val="140594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76672"/>
            <a:ext cx="7772400" cy="1019200"/>
          </a:xfrm>
        </p:spPr>
        <p:txBody>
          <a:bodyPr/>
          <a:lstStyle/>
          <a:p>
            <a:r>
              <a:rPr lang="en-AU" dirty="0">
                <a:solidFill>
                  <a:srgbClr val="0070C0"/>
                </a:solidFill>
              </a:rPr>
              <a:t>Plasma Membrane</a:t>
            </a:r>
          </a:p>
        </p:txBody>
      </p:sp>
      <p:sp>
        <p:nvSpPr>
          <p:cNvPr id="3" name="Content Placeholder 2"/>
          <p:cNvSpPr>
            <a:spLocks noGrp="1"/>
          </p:cNvSpPr>
          <p:nvPr>
            <p:ph sz="half" idx="1"/>
          </p:nvPr>
        </p:nvSpPr>
        <p:spPr>
          <a:xfrm>
            <a:off x="708217" y="1659531"/>
            <a:ext cx="7772400" cy="1981200"/>
          </a:xfrm>
        </p:spPr>
        <p:txBody>
          <a:bodyPr/>
          <a:lstStyle/>
          <a:p>
            <a:r>
              <a:rPr lang="en-US" dirty="0">
                <a:latin typeface="Calibri" panose="020F0502020204030204" pitchFamily="34" charset="0"/>
                <a:cs typeface="Calibri" panose="020F0502020204030204" pitchFamily="34" charset="0"/>
              </a:rPr>
              <a:t>Phosphate (polar) heads are hydrophilic “water loving” Lipid (nonpolar) tails are hydrophobic “water fearing”.   </a:t>
            </a:r>
          </a:p>
          <a:p>
            <a:r>
              <a:rPr lang="en-US" dirty="0">
                <a:latin typeface="Calibri" panose="020F0502020204030204" pitchFamily="34" charset="0"/>
                <a:cs typeface="Calibri" panose="020F0502020204030204" pitchFamily="34" charset="0"/>
              </a:rPr>
              <a:t>This makes the membrane selective in what can cross it, hence the name </a:t>
            </a:r>
            <a:r>
              <a:rPr lang="en-US" b="1" dirty="0">
                <a:latin typeface="Calibri" panose="020F0502020204030204" pitchFamily="34" charset="0"/>
                <a:cs typeface="Calibri" panose="020F0502020204030204" pitchFamily="34" charset="0"/>
              </a:rPr>
              <a:t>selectively permeable</a:t>
            </a:r>
            <a:r>
              <a:rPr lang="en-US" dirty="0">
                <a:latin typeface="Calibri" panose="020F0502020204030204" pitchFamily="34" charset="0"/>
                <a:cs typeface="Calibri" panose="020F0502020204030204" pitchFamily="34" charset="0"/>
              </a:rPr>
              <a:t>.</a:t>
            </a:r>
          </a:p>
          <a:p>
            <a:endParaRPr lang="en-AU" dirty="0"/>
          </a:p>
        </p:txBody>
      </p:sp>
      <p:pic>
        <p:nvPicPr>
          <p:cNvPr id="5" name="Picture 6" descr="FG05_02"/>
          <p:cNvPicPr>
            <a:picLocks noChangeAspect="1" noChangeArrowheads="1"/>
          </p:cNvPicPr>
          <p:nvPr/>
        </p:nvPicPr>
        <p:blipFill>
          <a:blip r:embed="rId3">
            <a:extLst>
              <a:ext uri="{28A0092B-C50C-407E-A947-70E740481C1C}">
                <a14:useLocalDpi xmlns:a14="http://schemas.microsoft.com/office/drawing/2010/main" val="0"/>
              </a:ext>
            </a:extLst>
          </a:blip>
          <a:srcRect l="31532" b="9163"/>
          <a:stretch>
            <a:fillRect/>
          </a:stretch>
        </p:blipFill>
        <p:spPr bwMode="auto">
          <a:xfrm>
            <a:off x="783508" y="3229343"/>
            <a:ext cx="4840682" cy="3046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59A4DFD8-C6CE-459D-9CFA-E2CF5BF14361}"/>
              </a:ext>
            </a:extLst>
          </p:cNvPr>
          <p:cNvSpPr txBox="1"/>
          <p:nvPr/>
        </p:nvSpPr>
        <p:spPr>
          <a:xfrm>
            <a:off x="5940152" y="3398129"/>
            <a:ext cx="3077037" cy="2585323"/>
          </a:xfrm>
          <a:prstGeom prst="rect">
            <a:avLst/>
          </a:prstGeom>
          <a:noFill/>
        </p:spPr>
        <p:txBody>
          <a:bodyPr wrap="square" rtlCol="0">
            <a:spAutoFit/>
          </a:bodyPr>
          <a:lstStyle/>
          <a:p>
            <a:r>
              <a:rPr lang="en-AU" dirty="0">
                <a:latin typeface="Calibri" panose="020F0502020204030204" pitchFamily="34" charset="0"/>
                <a:cs typeface="Calibri" panose="020F0502020204030204" pitchFamily="34" charset="0"/>
              </a:rPr>
              <a:t>Lipid-soluble substances, such as oxygen, carbon dioxide and steroids can pass through.</a:t>
            </a:r>
          </a:p>
          <a:p>
            <a:endParaRPr lang="en-AU" dirty="0">
              <a:latin typeface="Calibri" panose="020F0502020204030204" pitchFamily="34" charset="0"/>
              <a:cs typeface="Calibri" panose="020F0502020204030204" pitchFamily="34" charset="0"/>
            </a:endParaRPr>
          </a:p>
          <a:p>
            <a:r>
              <a:rPr lang="en-AU" dirty="0">
                <a:latin typeface="Calibri" panose="020F0502020204030204" pitchFamily="34" charset="0"/>
                <a:cs typeface="Calibri" panose="020F0502020204030204" pitchFamily="34" charset="0"/>
              </a:rPr>
              <a:t>Water-soluble substances, such as glucose, amino acids, and ions need the help of various proteins for transport across the membrane.</a:t>
            </a:r>
          </a:p>
        </p:txBody>
      </p:sp>
    </p:spTree>
    <p:extLst>
      <p:ext uri="{BB962C8B-B14F-4D97-AF65-F5344CB8AC3E}">
        <p14:creationId xmlns:p14="http://schemas.microsoft.com/office/powerpoint/2010/main" val="3762573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259608"/>
          </a:xfrm>
        </p:spPr>
        <p:txBody>
          <a:bodyPr/>
          <a:lstStyle/>
          <a:p>
            <a:r>
              <a:rPr lang="en-US" dirty="0">
                <a:solidFill>
                  <a:srgbClr val="0070C0"/>
                </a:solidFill>
              </a:rPr>
              <a:t>Plasma Membrane</a:t>
            </a:r>
            <a:endParaRPr lang="en-AU" dirty="0">
              <a:solidFill>
                <a:srgbClr val="0070C0"/>
              </a:solidFill>
            </a:endParaRPr>
          </a:p>
        </p:txBody>
      </p:sp>
      <p:sp>
        <p:nvSpPr>
          <p:cNvPr id="3" name="Content Placeholder 2"/>
          <p:cNvSpPr>
            <a:spLocks noGrp="1"/>
          </p:cNvSpPr>
          <p:nvPr>
            <p:ph idx="1"/>
          </p:nvPr>
        </p:nvSpPr>
        <p:spPr>
          <a:xfrm>
            <a:off x="5292080" y="585216"/>
            <a:ext cx="3384376" cy="6188327"/>
          </a:xfrm>
        </p:spPr>
        <p:txBody>
          <a:bodyPr>
            <a:normAutofit lnSpcReduction="10000"/>
          </a:bodyPr>
          <a:lstStyle/>
          <a:p>
            <a:r>
              <a:rPr lang="en-AU" dirty="0">
                <a:latin typeface="Calibri" panose="020F0502020204030204" pitchFamily="34" charset="0"/>
                <a:cs typeface="Calibri" panose="020F0502020204030204" pitchFamily="34" charset="0"/>
              </a:rPr>
              <a:t>Protein molecules are embedded in the phospholipid bilayer.  The different proteins include:</a:t>
            </a:r>
          </a:p>
          <a:p>
            <a:pPr lvl="1"/>
            <a:r>
              <a:rPr lang="en-AU" b="1" dirty="0">
                <a:latin typeface="Calibri" panose="020F0502020204030204" pitchFamily="34" charset="0"/>
                <a:cs typeface="Calibri" panose="020F0502020204030204" pitchFamily="34" charset="0"/>
              </a:rPr>
              <a:t>Transport proteins </a:t>
            </a:r>
            <a:r>
              <a:rPr lang="en-AU" dirty="0">
                <a:latin typeface="Calibri" panose="020F0502020204030204" pitchFamily="34" charset="0"/>
                <a:cs typeface="Calibri" panose="020F0502020204030204" pitchFamily="34" charset="0"/>
              </a:rPr>
              <a:t>(channel and carrier proteins) – passageways to move substances</a:t>
            </a:r>
          </a:p>
          <a:p>
            <a:pPr lvl="1"/>
            <a:r>
              <a:rPr lang="en-AU" b="1" dirty="0">
                <a:latin typeface="Calibri" panose="020F0502020204030204" pitchFamily="34" charset="0"/>
                <a:cs typeface="Calibri" panose="020F0502020204030204" pitchFamily="34" charset="0"/>
              </a:rPr>
              <a:t>Receptor proteins </a:t>
            </a:r>
            <a:r>
              <a:rPr lang="en-AU" dirty="0">
                <a:latin typeface="Calibri" panose="020F0502020204030204" pitchFamily="34" charset="0"/>
                <a:cs typeface="Calibri" panose="020F0502020204030204" pitchFamily="34" charset="0"/>
              </a:rPr>
              <a:t>– bind to hormones to cause changes in cell activity</a:t>
            </a:r>
          </a:p>
          <a:p>
            <a:pPr lvl="1"/>
            <a:r>
              <a:rPr lang="en-AU" b="1" dirty="0">
                <a:latin typeface="Calibri" panose="020F0502020204030204" pitchFamily="34" charset="0"/>
                <a:cs typeface="Calibri" panose="020F0502020204030204" pitchFamily="34" charset="0"/>
              </a:rPr>
              <a:t>Recognition proteins </a:t>
            </a:r>
            <a:r>
              <a:rPr lang="en-AU" dirty="0">
                <a:latin typeface="Calibri" panose="020F0502020204030204" pitchFamily="34" charset="0"/>
                <a:cs typeface="Calibri" panose="020F0502020204030204" pitchFamily="34" charset="0"/>
              </a:rPr>
              <a:t>(glycoproteins) – act as markers so the body recognises them as “own” cells.</a:t>
            </a:r>
          </a:p>
          <a:p>
            <a:pPr lvl="1"/>
            <a:r>
              <a:rPr lang="en-AU" b="1" dirty="0">
                <a:latin typeface="Calibri" panose="020F0502020204030204" pitchFamily="34" charset="0"/>
                <a:cs typeface="Calibri" panose="020F0502020204030204" pitchFamily="34" charset="0"/>
              </a:rPr>
              <a:t>Enzymes</a:t>
            </a:r>
            <a:r>
              <a:rPr lang="en-AU" dirty="0">
                <a:latin typeface="Calibri" panose="020F0502020204030204" pitchFamily="34" charset="0"/>
                <a:cs typeface="Calibri" panose="020F0502020204030204" pitchFamily="34" charset="0"/>
              </a:rPr>
              <a:t> – help perform cellular reactions.</a:t>
            </a:r>
          </a:p>
          <a:p>
            <a:pPr lvl="1"/>
            <a:r>
              <a:rPr lang="en-AU" b="1" dirty="0">
                <a:latin typeface="Calibri" panose="020F0502020204030204" pitchFamily="34" charset="0"/>
                <a:cs typeface="Calibri" panose="020F0502020204030204" pitchFamily="34" charset="0"/>
              </a:rPr>
              <a:t>Adhesion proteins </a:t>
            </a:r>
            <a:r>
              <a:rPr lang="en-AU" dirty="0">
                <a:latin typeface="Calibri" panose="020F0502020204030204" pitchFamily="34" charset="0"/>
                <a:cs typeface="Calibri" panose="020F0502020204030204" pitchFamily="34" charset="0"/>
              </a:rPr>
              <a:t>– help maintain structure.</a:t>
            </a:r>
          </a:p>
          <a:p>
            <a:r>
              <a:rPr lang="en-AU" dirty="0">
                <a:latin typeface="Calibri" panose="020F0502020204030204" pitchFamily="34" charset="0"/>
                <a:cs typeface="Calibri" panose="020F0502020204030204" pitchFamily="34" charset="0"/>
              </a:rPr>
              <a:t>Animal cells also have cholesterol embedded in the layer to improve flexibility.</a:t>
            </a:r>
          </a:p>
          <a:p>
            <a:r>
              <a:rPr lang="en-AU" sz="1700" dirty="0">
                <a:latin typeface="Calibri" panose="020F0502020204030204" pitchFamily="34" charset="0"/>
                <a:cs typeface="Calibri" panose="020F0502020204030204" pitchFamily="34" charset="0"/>
                <a:hlinkClick r:id="rId3"/>
              </a:rPr>
              <a:t>https://www.wisc-online.com/learn/natural-science/life-science/ap1101/construction-of-the-cell-membrane</a:t>
            </a:r>
            <a:endParaRPr lang="en-AU" sz="17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rotWithShape="1">
          <a:blip r:embed="rId4"/>
          <a:srcRect l="4151" t="675" r="2900" b="-1"/>
          <a:stretch/>
        </p:blipFill>
        <p:spPr>
          <a:xfrm>
            <a:off x="323528" y="2204864"/>
            <a:ext cx="4558049" cy="3144368"/>
          </a:xfrm>
          <a:prstGeom prst="rect">
            <a:avLst/>
          </a:prstGeom>
        </p:spPr>
      </p:pic>
    </p:spTree>
    <p:extLst>
      <p:ext uri="{BB962C8B-B14F-4D97-AF65-F5344CB8AC3E}">
        <p14:creationId xmlns:p14="http://schemas.microsoft.com/office/powerpoint/2010/main" val="802748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043584"/>
          </a:xfrm>
        </p:spPr>
        <p:txBody>
          <a:bodyPr/>
          <a:lstStyle/>
          <a:p>
            <a:r>
              <a:rPr lang="en-US" dirty="0">
                <a:solidFill>
                  <a:srgbClr val="0070C0"/>
                </a:solidFill>
              </a:rPr>
              <a:t>Plasma Membrane</a:t>
            </a:r>
            <a:endParaRPr lang="en-AU" dirty="0">
              <a:solidFill>
                <a:srgbClr val="0070C0"/>
              </a:solidFill>
            </a:endParaRPr>
          </a:p>
        </p:txBody>
      </p:sp>
      <p:sp>
        <p:nvSpPr>
          <p:cNvPr id="3" name="Content Placeholder 2"/>
          <p:cNvSpPr>
            <a:spLocks noGrp="1"/>
          </p:cNvSpPr>
          <p:nvPr>
            <p:ph idx="1"/>
          </p:nvPr>
        </p:nvSpPr>
        <p:spPr>
          <a:xfrm>
            <a:off x="464348" y="1978451"/>
            <a:ext cx="4827731" cy="3960480"/>
          </a:xfrm>
        </p:spPr>
        <p:txBody>
          <a:bodyPr>
            <a:normAutofit/>
          </a:bodyPr>
          <a:lstStyle/>
          <a:p>
            <a:r>
              <a:rPr lang="en-AU" sz="2200" dirty="0">
                <a:latin typeface="Calibri" panose="020F0502020204030204" pitchFamily="34" charset="0"/>
                <a:cs typeface="Calibri" panose="020F0502020204030204" pitchFamily="34" charset="0"/>
              </a:rPr>
              <a:t>The theory of the fluid mosaic model of the cell membrane took several years to develop.  </a:t>
            </a:r>
          </a:p>
          <a:p>
            <a:r>
              <a:rPr lang="en-AU" sz="2200" dirty="0">
                <a:latin typeface="Calibri" panose="020F0502020204030204" pitchFamily="34" charset="0"/>
                <a:cs typeface="Calibri" panose="020F0502020204030204" pitchFamily="34" charset="0"/>
              </a:rPr>
              <a:t>Read </a:t>
            </a:r>
            <a:r>
              <a:rPr lang="en-AU" sz="2200" dirty="0" err="1">
                <a:latin typeface="Calibri" panose="020F0502020204030204" pitchFamily="34" charset="0"/>
                <a:cs typeface="Calibri" panose="020F0502020204030204" pitchFamily="34" charset="0"/>
              </a:rPr>
              <a:t>pg</a:t>
            </a:r>
            <a:r>
              <a:rPr lang="en-AU" sz="2200" dirty="0">
                <a:latin typeface="Calibri" panose="020F0502020204030204" pitchFamily="34" charset="0"/>
                <a:cs typeface="Calibri" panose="020F0502020204030204" pitchFamily="34" charset="0"/>
              </a:rPr>
              <a:t> 186 of Nelson “Scientific Literacy – Development of the Cell Membrane Model” and complete the questions.</a:t>
            </a:r>
          </a:p>
          <a:p>
            <a:endParaRPr lang="en-AU" dirty="0">
              <a:latin typeface="Calibri" panose="020F0502020204030204" pitchFamily="34" charset="0"/>
              <a:cs typeface="Calibri" panose="020F0502020204030204" pitchFamily="34" charset="0"/>
            </a:endParaRPr>
          </a:p>
          <a:p>
            <a:r>
              <a:rPr lang="en-AU" dirty="0">
                <a:latin typeface="Calibri" panose="020F0502020204030204" pitchFamily="34" charset="0"/>
                <a:cs typeface="Calibri" panose="020F0502020204030204" pitchFamily="34" charset="0"/>
              </a:rPr>
              <a:t>For more information check out  </a:t>
            </a:r>
            <a:r>
              <a:rPr lang="en-AU" sz="1600" dirty="0">
                <a:latin typeface="Calibri" panose="020F0502020204030204" pitchFamily="34" charset="0"/>
                <a:cs typeface="Calibri" panose="020F0502020204030204" pitchFamily="34" charset="0"/>
                <a:hlinkClick r:id="rId2"/>
              </a:rPr>
              <a:t>http://www.whatislife.com/education/fact/history.htm</a:t>
            </a:r>
            <a:endParaRPr lang="en-AU" sz="1600" dirty="0">
              <a:latin typeface="Calibri" panose="020F0502020204030204" pitchFamily="34" charset="0"/>
              <a:cs typeface="Calibri" panose="020F0502020204030204" pitchFamily="34" charset="0"/>
            </a:endParaRPr>
          </a:p>
          <a:p>
            <a:endParaRPr lang="en-AU" dirty="0"/>
          </a:p>
          <a:p>
            <a:endParaRPr lang="en-AU"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7069" y="4597165"/>
            <a:ext cx="3617419" cy="1928179"/>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1770" y="1869999"/>
            <a:ext cx="3382435" cy="2088692"/>
          </a:xfrm>
          <a:prstGeom prst="rect">
            <a:avLst/>
          </a:prstGeom>
        </p:spPr>
      </p:pic>
      <p:sp>
        <p:nvSpPr>
          <p:cNvPr id="8" name="TextBox 7"/>
          <p:cNvSpPr txBox="1"/>
          <p:nvPr/>
        </p:nvSpPr>
        <p:spPr>
          <a:xfrm>
            <a:off x="5364088" y="1196752"/>
            <a:ext cx="3240360" cy="646331"/>
          </a:xfrm>
          <a:prstGeom prst="rect">
            <a:avLst/>
          </a:prstGeom>
          <a:noFill/>
        </p:spPr>
        <p:txBody>
          <a:bodyPr wrap="square" rtlCol="0">
            <a:spAutoFit/>
          </a:bodyPr>
          <a:lstStyle/>
          <a:p>
            <a:pPr algn="ctr"/>
            <a:r>
              <a:rPr lang="en-AU" dirty="0"/>
              <a:t>DANIELLI AND DAVSON  MODEL - 1954</a:t>
            </a:r>
          </a:p>
        </p:txBody>
      </p:sp>
      <p:sp>
        <p:nvSpPr>
          <p:cNvPr id="9" name="TextBox 8"/>
          <p:cNvSpPr txBox="1"/>
          <p:nvPr/>
        </p:nvSpPr>
        <p:spPr>
          <a:xfrm>
            <a:off x="5451770" y="4108430"/>
            <a:ext cx="3258186" cy="369332"/>
          </a:xfrm>
          <a:prstGeom prst="rect">
            <a:avLst/>
          </a:prstGeom>
          <a:noFill/>
        </p:spPr>
        <p:txBody>
          <a:bodyPr wrap="square" rtlCol="0">
            <a:spAutoFit/>
          </a:bodyPr>
          <a:lstStyle/>
          <a:p>
            <a:r>
              <a:rPr lang="en-AU" dirty="0"/>
              <a:t>ROBERTSON MODEL - 1959</a:t>
            </a:r>
          </a:p>
        </p:txBody>
      </p:sp>
    </p:spTree>
    <p:extLst>
      <p:ext uri="{BB962C8B-B14F-4D97-AF65-F5344CB8AC3E}">
        <p14:creationId xmlns:p14="http://schemas.microsoft.com/office/powerpoint/2010/main" val="1513411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043584"/>
          </a:xfrm>
        </p:spPr>
        <p:txBody>
          <a:bodyPr/>
          <a:lstStyle/>
          <a:p>
            <a:r>
              <a:rPr lang="en-AU" dirty="0">
                <a:solidFill>
                  <a:srgbClr val="0070C0"/>
                </a:solidFill>
              </a:rPr>
              <a:t>Cytoplasm</a:t>
            </a:r>
          </a:p>
        </p:txBody>
      </p:sp>
      <p:sp>
        <p:nvSpPr>
          <p:cNvPr id="3" name="Content Placeholder 2"/>
          <p:cNvSpPr>
            <a:spLocks noGrp="1"/>
          </p:cNvSpPr>
          <p:nvPr>
            <p:ph idx="1"/>
          </p:nvPr>
        </p:nvSpPr>
        <p:spPr/>
        <p:txBody>
          <a:bodyPr>
            <a:normAutofit lnSpcReduction="10000"/>
          </a:bodyPr>
          <a:lstStyle/>
          <a:p>
            <a:r>
              <a:rPr lang="en-AU" dirty="0">
                <a:latin typeface="Calibri" panose="020F0502020204030204" pitchFamily="34" charset="0"/>
                <a:cs typeface="Calibri" panose="020F0502020204030204" pitchFamily="34" charset="0"/>
              </a:rPr>
              <a:t>All cells also have </a:t>
            </a:r>
            <a:r>
              <a:rPr lang="en-AU" b="1" dirty="0">
                <a:latin typeface="Calibri" panose="020F0502020204030204" pitchFamily="34" charset="0"/>
                <a:cs typeface="Calibri" panose="020F0502020204030204" pitchFamily="34" charset="0"/>
              </a:rPr>
              <a:t>cytoplasm</a:t>
            </a:r>
            <a:r>
              <a:rPr lang="en-AU" dirty="0">
                <a:latin typeface="Calibri" panose="020F0502020204030204" pitchFamily="34" charset="0"/>
                <a:cs typeface="Calibri" panose="020F0502020204030204" pitchFamily="34" charset="0"/>
              </a:rPr>
              <a:t>, 				                  which is a clear, jelly-like fluid that                                                                      fills the inside of the cell.</a:t>
            </a:r>
          </a:p>
          <a:p>
            <a:r>
              <a:rPr lang="en-AU" dirty="0">
                <a:latin typeface="Calibri" panose="020F0502020204030204" pitchFamily="34" charset="0"/>
                <a:cs typeface="Calibri" panose="020F0502020204030204" pitchFamily="34" charset="0"/>
              </a:rPr>
              <a:t>It provides a suspension                                                               solution for the organelles.</a:t>
            </a:r>
          </a:p>
          <a:p>
            <a:r>
              <a:rPr lang="en-AU" dirty="0">
                <a:latin typeface="Calibri" panose="020F0502020204030204" pitchFamily="34" charset="0"/>
                <a:cs typeface="Calibri" panose="020F0502020204030204" pitchFamily="34" charset="0"/>
              </a:rPr>
              <a:t>It’s the site for many of the chemical reactions that occur in the cell.</a:t>
            </a:r>
          </a:p>
          <a:p>
            <a:r>
              <a:rPr lang="en-AU" b="1" dirty="0">
                <a:latin typeface="Calibri" panose="020F0502020204030204" pitchFamily="34" charset="0"/>
                <a:cs typeface="Calibri" panose="020F0502020204030204" pitchFamily="34" charset="0"/>
              </a:rPr>
              <a:t>Cytoplasm</a:t>
            </a:r>
            <a:r>
              <a:rPr lang="en-AU" dirty="0">
                <a:latin typeface="Calibri" panose="020F0502020204030204" pitchFamily="34" charset="0"/>
                <a:cs typeface="Calibri" panose="020F0502020204030204" pitchFamily="34" charset="0"/>
              </a:rPr>
              <a:t> is responsible for giving a cell its shape. It helps to fill out the cell and keeps organelles in their place. Without cytoplasm, the cell would be deflated and materials would not be able to pass easily from one organelle to another.</a:t>
            </a:r>
            <a:br>
              <a:rPr lang="en-AU" dirty="0">
                <a:latin typeface="Calibri" panose="020F0502020204030204" pitchFamily="34" charset="0"/>
                <a:cs typeface="Calibri" panose="020F0502020204030204" pitchFamily="34" charset="0"/>
              </a:rPr>
            </a:br>
            <a:endParaRPr lang="en-AU" dirty="0">
              <a:latin typeface="Calibri" panose="020F0502020204030204" pitchFamily="34" charset="0"/>
              <a:cs typeface="Calibri" panose="020F0502020204030204" pitchFamily="34" charset="0"/>
            </a:endParaRPr>
          </a:p>
          <a:p>
            <a:r>
              <a:rPr lang="en-AU" b="1" dirty="0">
                <a:latin typeface="Calibri" panose="020F0502020204030204" pitchFamily="34" charset="0"/>
                <a:cs typeface="Calibri" panose="020F0502020204030204" pitchFamily="34" charset="0"/>
              </a:rPr>
              <a:t>Cytosol</a:t>
            </a:r>
            <a:r>
              <a:rPr lang="en-AU" dirty="0">
                <a:latin typeface="Calibri" panose="020F0502020204030204" pitchFamily="34" charset="0"/>
                <a:cs typeface="Calibri" panose="020F0502020204030204" pitchFamily="34" charset="0"/>
              </a:rPr>
              <a:t> is the part of the cytoplasm that does not contain organelles. </a:t>
            </a:r>
          </a:p>
        </p:txBody>
      </p:sp>
      <p:pic>
        <p:nvPicPr>
          <p:cNvPr id="1026" name="Picture 2" descr="http://image.slidesharecdn.com/cells-part1-141001021605-phpapp01/95/cells-part-1-27-638.jpg%3Fcb%3D1412130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585216"/>
            <a:ext cx="4248538" cy="3189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4974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1"/>
          <p:cNvSpPr>
            <a:spLocks noGrp="1" noChangeArrowheads="1"/>
          </p:cNvSpPr>
          <p:nvPr>
            <p:ph type="title"/>
          </p:nvPr>
        </p:nvSpPr>
        <p:spPr>
          <a:xfrm>
            <a:off x="768096" y="585216"/>
            <a:ext cx="7290054" cy="1100263"/>
          </a:xfrm>
        </p:spPr>
        <p:txBody>
          <a:bodyPr/>
          <a:lstStyle/>
          <a:p>
            <a:r>
              <a:rPr lang="en-US" dirty="0">
                <a:solidFill>
                  <a:srgbClr val="0070C0"/>
                </a:solidFill>
              </a:rPr>
              <a:t>Ribosomes</a:t>
            </a:r>
          </a:p>
        </p:txBody>
      </p:sp>
      <p:sp>
        <p:nvSpPr>
          <p:cNvPr id="46082" name="Rectangle 2"/>
          <p:cNvSpPr>
            <a:spLocks noGrp="1" noChangeArrowheads="1"/>
          </p:cNvSpPr>
          <p:nvPr>
            <p:ph idx="1"/>
          </p:nvPr>
        </p:nvSpPr>
        <p:spPr>
          <a:xfrm>
            <a:off x="821477" y="1785800"/>
            <a:ext cx="3628660" cy="4023360"/>
          </a:xfrm>
        </p:spPr>
        <p:txBody>
          <a:bodyPr/>
          <a:lstStyle/>
          <a:p>
            <a:r>
              <a:rPr lang="en-US" dirty="0">
                <a:latin typeface="Calibri" panose="020F0502020204030204" pitchFamily="34" charset="0"/>
                <a:cs typeface="Calibri" panose="020F0502020204030204" pitchFamily="34" charset="0"/>
              </a:rPr>
              <a:t>Located:</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Free in the cytoplasm or bound to rough endoplasmic reticulum.</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Made up of ribosomal RNA and protein and composed of two subunits, a larger and a smaller one.</a:t>
            </a:r>
          </a:p>
          <a:p>
            <a:r>
              <a:rPr lang="en-US" dirty="0">
                <a:latin typeface="Calibri" panose="020F0502020204030204" pitchFamily="34" charset="0"/>
                <a:cs typeface="Calibri" panose="020F0502020204030204" pitchFamily="34" charset="0"/>
              </a:rPr>
              <a:t>Function:</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Makes polypeptides</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(proteins).</a:t>
            </a:r>
          </a:p>
          <a:p>
            <a:r>
              <a:rPr lang="en-US" dirty="0">
                <a:latin typeface="Calibri" panose="020F0502020204030204" pitchFamily="34" charset="0"/>
                <a:cs typeface="Calibri" panose="020F0502020204030204" pitchFamily="34" charset="0"/>
              </a:rPr>
              <a:t>Size: 20 nm</a:t>
            </a:r>
          </a:p>
        </p:txBody>
      </p:sp>
      <p:sp>
        <p:nvSpPr>
          <p:cNvPr id="46083" name="Rectangle 3"/>
          <p:cNvSpPr>
            <a:spLocks/>
          </p:cNvSpPr>
          <p:nvPr/>
        </p:nvSpPr>
        <p:spPr bwMode="auto">
          <a:xfrm>
            <a:off x="7518797" y="473274"/>
            <a:ext cx="1196578" cy="196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2D00FA"/>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a:solidFill>
                  <a:srgbClr val="2D00FA"/>
                </a:solidFill>
                <a:latin typeface="Arial" charset="0"/>
                <a:cs typeface="Arial" charset="0"/>
                <a:sym typeface="Arial" charset="0"/>
              </a:rPr>
              <a:t>Small subunit</a:t>
            </a:r>
          </a:p>
        </p:txBody>
      </p:sp>
      <p:sp>
        <p:nvSpPr>
          <p:cNvPr id="46084" name="Rectangle 4"/>
          <p:cNvSpPr>
            <a:spLocks/>
          </p:cNvSpPr>
          <p:nvPr/>
        </p:nvSpPr>
        <p:spPr bwMode="auto">
          <a:xfrm>
            <a:off x="7750969" y="1830586"/>
            <a:ext cx="723305" cy="4018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2D00FA"/>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400">
                <a:solidFill>
                  <a:srgbClr val="2D00FA"/>
                </a:solidFill>
                <a:latin typeface="Arial" charset="0"/>
                <a:cs typeface="Arial" charset="0"/>
                <a:sym typeface="Arial" charset="0"/>
              </a:rPr>
              <a:t>Large subunit</a:t>
            </a:r>
          </a:p>
        </p:txBody>
      </p:sp>
      <p:pic>
        <p:nvPicPr>
          <p:cNvPr id="460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231" y="285750"/>
            <a:ext cx="3137669" cy="30450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608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4172" y="3875485"/>
            <a:ext cx="4018359" cy="26163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46087" name="Line 7"/>
          <p:cNvSpPr>
            <a:spLocks noChangeShapeType="1"/>
          </p:cNvSpPr>
          <p:nvPr/>
        </p:nvSpPr>
        <p:spPr bwMode="auto">
          <a:xfrm rot="10800000" flipH="1">
            <a:off x="7170539" y="580430"/>
            <a:ext cx="339328" cy="247799"/>
          </a:xfrm>
          <a:prstGeom prst="line">
            <a:avLst/>
          </a:prstGeom>
          <a:noFill/>
          <a:ln w="508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46088" name="Line 8"/>
          <p:cNvSpPr>
            <a:spLocks noChangeShapeType="1"/>
          </p:cNvSpPr>
          <p:nvPr/>
        </p:nvSpPr>
        <p:spPr bwMode="auto">
          <a:xfrm>
            <a:off x="7777758" y="1526977"/>
            <a:ext cx="267891" cy="285750"/>
          </a:xfrm>
          <a:prstGeom prst="line">
            <a:avLst/>
          </a:prstGeom>
          <a:noFill/>
          <a:ln w="508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46089" name="Rectangle 9"/>
          <p:cNvSpPr>
            <a:spLocks/>
          </p:cNvSpPr>
          <p:nvPr/>
        </p:nvSpPr>
        <p:spPr bwMode="auto">
          <a:xfrm>
            <a:off x="2258243" y="5934486"/>
            <a:ext cx="2394123" cy="732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2D00FA"/>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90000"/>
              </a:lnSpc>
              <a:tabLst>
                <a:tab pos="366104" algn="l"/>
              </a:tabLst>
            </a:pPr>
            <a:r>
              <a:rPr lang="en-US" sz="1400" dirty="0">
                <a:solidFill>
                  <a:srgbClr val="2D00FA"/>
                </a:solidFill>
                <a:latin typeface="Arial" charset="0"/>
                <a:cs typeface="Arial" charset="0"/>
                <a:sym typeface="Arial" charset="0"/>
              </a:rPr>
              <a:t>Polypeptides being produced by translation on a </a:t>
            </a:r>
            <a:r>
              <a:rPr lang="en-US" sz="1400" b="1" dirty="0">
                <a:solidFill>
                  <a:srgbClr val="2D00FA"/>
                </a:solidFill>
                <a:latin typeface="Arial" charset="0"/>
                <a:cs typeface="Arial" charset="0"/>
                <a:sym typeface="Arial" charset="0"/>
              </a:rPr>
              <a:t>polyribosome</a:t>
            </a:r>
            <a:r>
              <a:rPr lang="en-US" sz="1400" dirty="0">
                <a:solidFill>
                  <a:srgbClr val="2D00FA"/>
                </a:solidFill>
                <a:latin typeface="Arial" charset="0"/>
                <a:cs typeface="Arial" charset="0"/>
                <a:sym typeface="Arial" charset="0"/>
              </a:rPr>
              <a:t> system</a:t>
            </a:r>
          </a:p>
        </p:txBody>
      </p:sp>
      <p:sp>
        <p:nvSpPr>
          <p:cNvPr id="46090" name="Rectangle 10"/>
          <p:cNvSpPr>
            <a:spLocks/>
          </p:cNvSpPr>
          <p:nvPr/>
        </p:nvSpPr>
        <p:spPr bwMode="auto">
          <a:xfrm>
            <a:off x="5054203" y="3491508"/>
            <a:ext cx="1509117" cy="196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2D00FA"/>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400">
                <a:solidFill>
                  <a:srgbClr val="2D00FA"/>
                </a:solidFill>
                <a:latin typeface="Arial" charset="0"/>
                <a:cs typeface="Arial" charset="0"/>
                <a:sym typeface="Arial" charset="0"/>
              </a:rPr>
              <a:t>Polypeptide chain</a:t>
            </a:r>
          </a:p>
        </p:txBody>
      </p:sp>
      <p:sp>
        <p:nvSpPr>
          <p:cNvPr id="46091" name="Rectangle 11"/>
          <p:cNvSpPr>
            <a:spLocks/>
          </p:cNvSpPr>
          <p:nvPr/>
        </p:nvSpPr>
        <p:spPr bwMode="auto">
          <a:xfrm>
            <a:off x="3607594" y="5188149"/>
            <a:ext cx="982266" cy="196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2D00FA"/>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400">
                <a:solidFill>
                  <a:srgbClr val="2D00FA"/>
                </a:solidFill>
                <a:latin typeface="Arial" charset="0"/>
                <a:cs typeface="Arial" charset="0"/>
                <a:sym typeface="Arial" charset="0"/>
              </a:rPr>
              <a:t>Ribosomes</a:t>
            </a:r>
          </a:p>
        </p:txBody>
      </p:sp>
      <p:sp>
        <p:nvSpPr>
          <p:cNvPr id="46092" name="Line 12"/>
          <p:cNvSpPr>
            <a:spLocks noChangeShapeType="1"/>
          </p:cNvSpPr>
          <p:nvPr/>
        </p:nvSpPr>
        <p:spPr bwMode="auto">
          <a:xfrm rot="10800000" flipH="1">
            <a:off x="5482828" y="3714750"/>
            <a:ext cx="285750" cy="446484"/>
          </a:xfrm>
          <a:prstGeom prst="line">
            <a:avLst/>
          </a:prstGeom>
          <a:noFill/>
          <a:ln w="508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46093" name="Line 13"/>
          <p:cNvSpPr>
            <a:spLocks noChangeShapeType="1"/>
          </p:cNvSpPr>
          <p:nvPr/>
        </p:nvSpPr>
        <p:spPr bwMode="auto">
          <a:xfrm rot="10800000">
            <a:off x="4652367" y="5286375"/>
            <a:ext cx="482203" cy="446484"/>
          </a:xfrm>
          <a:prstGeom prst="line">
            <a:avLst/>
          </a:prstGeom>
          <a:noFill/>
          <a:ln w="508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Tree>
    <p:extLst>
      <p:ext uri="{BB962C8B-B14F-4D97-AF65-F5344CB8AC3E}">
        <p14:creationId xmlns:p14="http://schemas.microsoft.com/office/powerpoint/2010/main" val="215362674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08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608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608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608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build="p" bldLvl="5"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1"/>
          <p:cNvSpPr>
            <a:spLocks noGrp="1" noChangeArrowheads="1"/>
          </p:cNvSpPr>
          <p:nvPr>
            <p:ph type="title"/>
          </p:nvPr>
        </p:nvSpPr>
        <p:spPr>
          <a:xfrm>
            <a:off x="768096" y="585216"/>
            <a:ext cx="7290054" cy="1206304"/>
          </a:xfrm>
        </p:spPr>
        <p:txBody>
          <a:bodyPr/>
          <a:lstStyle/>
          <a:p>
            <a:r>
              <a:rPr lang="en-US" dirty="0">
                <a:solidFill>
                  <a:srgbClr val="0070C0"/>
                </a:solidFill>
              </a:rPr>
              <a:t>Mitochondria</a:t>
            </a:r>
          </a:p>
        </p:txBody>
      </p:sp>
      <p:sp>
        <p:nvSpPr>
          <p:cNvPr id="47106" name="Rectangle 2"/>
          <p:cNvSpPr>
            <a:spLocks noGrp="1" noChangeArrowheads="1"/>
          </p:cNvSpPr>
          <p:nvPr>
            <p:ph idx="1"/>
          </p:nvPr>
        </p:nvSpPr>
        <p:spPr>
          <a:xfrm>
            <a:off x="768096" y="1988840"/>
            <a:ext cx="4009287" cy="4320520"/>
          </a:xfrm>
        </p:spPr>
        <p:txBody>
          <a:bodyPr>
            <a:normAutofit lnSpcReduction="10000"/>
          </a:bodyPr>
          <a:lstStyle/>
          <a:p>
            <a:r>
              <a:rPr lang="en-US" dirty="0">
                <a:latin typeface="Calibri" panose="020F0502020204030204" pitchFamily="34" charset="0"/>
                <a:cs typeface="Calibri" panose="020F0502020204030204" pitchFamily="34" charset="0"/>
              </a:rPr>
              <a:t>Location: Cytoplasm</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Rod shaped or cylindrical</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organelles occurring in large numbers, especially in metabolically very active cells. Bounded by a double membrane; the inner layer is extensively folded to form partitions called cristae. Mitochondria contain some DNA.</a:t>
            </a:r>
          </a:p>
          <a:p>
            <a:r>
              <a:rPr lang="en-US" dirty="0">
                <a:latin typeface="Calibri" panose="020F0502020204030204" pitchFamily="34" charset="0"/>
                <a:cs typeface="Calibri" panose="020F0502020204030204" pitchFamily="34" charset="0"/>
              </a:rPr>
              <a:t>Function:</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The site of cellular respiration (the production of ATP).</a:t>
            </a:r>
          </a:p>
          <a:p>
            <a:r>
              <a:rPr lang="en-US" dirty="0">
                <a:latin typeface="Calibri" panose="020F0502020204030204" pitchFamily="34" charset="0"/>
                <a:cs typeface="Calibri" panose="020F0502020204030204" pitchFamily="34" charset="0"/>
              </a:rPr>
              <a:t>Size: Variable but 0.5–1.5 µm wide and 3.0–10 µm long.</a:t>
            </a:r>
          </a:p>
        </p:txBody>
      </p:sp>
      <p:pic>
        <p:nvPicPr>
          <p:cNvPr id="471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4266" y="3679031"/>
            <a:ext cx="2945681" cy="2453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4710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4844" y="678656"/>
            <a:ext cx="3964781" cy="2589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47109" name="Rectangle 5"/>
          <p:cNvSpPr>
            <a:spLocks/>
          </p:cNvSpPr>
          <p:nvPr/>
        </p:nvSpPr>
        <p:spPr bwMode="auto">
          <a:xfrm>
            <a:off x="6875859" y="830461"/>
            <a:ext cx="2089547" cy="4018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400">
                <a:solidFill>
                  <a:srgbClr val="2D00FA"/>
                </a:solidFill>
                <a:latin typeface="Arial" charset="0"/>
                <a:cs typeface="Arial" charset="0"/>
                <a:sym typeface="Arial" charset="0"/>
              </a:rPr>
              <a:t>Folded inner membrane forms cristae</a:t>
            </a:r>
          </a:p>
        </p:txBody>
      </p:sp>
      <p:sp>
        <p:nvSpPr>
          <p:cNvPr id="47110" name="Rectangle 6"/>
          <p:cNvSpPr>
            <a:spLocks/>
          </p:cNvSpPr>
          <p:nvPr/>
        </p:nvSpPr>
        <p:spPr bwMode="auto">
          <a:xfrm>
            <a:off x="4938117" y="2768203"/>
            <a:ext cx="1268016" cy="4018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400">
                <a:solidFill>
                  <a:srgbClr val="2D00FA"/>
                </a:solidFill>
                <a:latin typeface="Arial" charset="0"/>
                <a:cs typeface="Arial" charset="0"/>
                <a:sym typeface="Arial" charset="0"/>
              </a:rPr>
              <a:t>Smooth outer membrane</a:t>
            </a:r>
          </a:p>
        </p:txBody>
      </p:sp>
      <p:sp>
        <p:nvSpPr>
          <p:cNvPr id="47111" name="Rectangle 7"/>
          <p:cNvSpPr>
            <a:spLocks/>
          </p:cNvSpPr>
          <p:nvPr/>
        </p:nvSpPr>
        <p:spPr bwMode="auto">
          <a:xfrm>
            <a:off x="6528718" y="3286125"/>
            <a:ext cx="567035"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lgn="ctr">
              <a:tabLst>
                <a:tab pos="366104" algn="l"/>
              </a:tabLst>
            </a:pPr>
            <a:r>
              <a:rPr lang="en-US" sz="1400">
                <a:solidFill>
                  <a:srgbClr val="2D00FA"/>
                </a:solidFill>
                <a:latin typeface="Arial" charset="0"/>
                <a:cs typeface="Arial" charset="0"/>
                <a:sym typeface="Arial" charset="0"/>
              </a:rPr>
              <a:t>Matrix</a:t>
            </a:r>
          </a:p>
        </p:txBody>
      </p:sp>
      <p:sp>
        <p:nvSpPr>
          <p:cNvPr id="47112" name="Line 8"/>
          <p:cNvSpPr>
            <a:spLocks noChangeShapeType="1"/>
          </p:cNvSpPr>
          <p:nvPr/>
        </p:nvSpPr>
        <p:spPr bwMode="auto">
          <a:xfrm>
            <a:off x="6938367" y="1848445"/>
            <a:ext cx="0" cy="1401961"/>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47113" name="Line 9"/>
          <p:cNvSpPr>
            <a:spLocks noChangeShapeType="1"/>
          </p:cNvSpPr>
          <p:nvPr/>
        </p:nvSpPr>
        <p:spPr bwMode="auto">
          <a:xfrm>
            <a:off x="5568777" y="1900908"/>
            <a:ext cx="0" cy="849436"/>
          </a:xfrm>
          <a:prstGeom prst="line">
            <a:avLst/>
          </a:prstGeom>
          <a:noFill/>
          <a:ln w="254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47114" name="Line 10"/>
          <p:cNvSpPr>
            <a:spLocks noChangeShapeType="1"/>
          </p:cNvSpPr>
          <p:nvPr/>
        </p:nvSpPr>
        <p:spPr bwMode="auto">
          <a:xfrm rot="10800000" flipH="1">
            <a:off x="7759898" y="1347267"/>
            <a:ext cx="0" cy="551408"/>
          </a:xfrm>
          <a:prstGeom prst="line">
            <a:avLst/>
          </a:prstGeom>
          <a:noFill/>
          <a:ln w="254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47115" name="Rectangle 11"/>
          <p:cNvSpPr>
            <a:spLocks/>
          </p:cNvSpPr>
          <p:nvPr/>
        </p:nvSpPr>
        <p:spPr bwMode="auto">
          <a:xfrm>
            <a:off x="5313164" y="6241851"/>
            <a:ext cx="3429000" cy="2678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a:solidFill>
                  <a:srgbClr val="000000"/>
                </a:solidFill>
                <a:latin typeface="Arial" charset="0"/>
                <a:cs typeface="Arial" charset="0"/>
                <a:sym typeface="Arial" charset="0"/>
              </a:rPr>
              <a:t>A single </a:t>
            </a:r>
            <a:r>
              <a:rPr lang="en-US" sz="1400" b="1">
                <a:solidFill>
                  <a:srgbClr val="000000"/>
                </a:solidFill>
                <a:latin typeface="Arial" charset="0"/>
                <a:cs typeface="Arial" charset="0"/>
                <a:sym typeface="Arial" charset="0"/>
              </a:rPr>
              <a:t>mitochondrion</a:t>
            </a:r>
            <a:r>
              <a:rPr lang="en-US" sz="1400">
                <a:solidFill>
                  <a:srgbClr val="000000"/>
                </a:solidFill>
                <a:latin typeface="Arial" charset="0"/>
                <a:cs typeface="Arial" charset="0"/>
                <a:sym typeface="Arial" charset="0"/>
              </a:rPr>
              <a:t> in cross section</a:t>
            </a:r>
          </a:p>
        </p:txBody>
      </p:sp>
    </p:spTree>
    <p:extLst>
      <p:ext uri="{BB962C8B-B14F-4D97-AF65-F5344CB8AC3E}">
        <p14:creationId xmlns:p14="http://schemas.microsoft.com/office/powerpoint/2010/main" val="359492869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710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710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710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710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build="p" bldLvl="5"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1"/>
          <p:cNvSpPr>
            <a:spLocks noGrp="1" noChangeArrowheads="1"/>
          </p:cNvSpPr>
          <p:nvPr>
            <p:ph type="title"/>
          </p:nvPr>
        </p:nvSpPr>
        <p:spPr>
          <a:xfrm>
            <a:off x="768096" y="585216"/>
            <a:ext cx="7290054" cy="1331616"/>
          </a:xfrm>
        </p:spPr>
        <p:txBody>
          <a:bodyPr/>
          <a:lstStyle/>
          <a:p>
            <a:r>
              <a:rPr lang="en-US" dirty="0">
                <a:solidFill>
                  <a:srgbClr val="0070C0"/>
                </a:solidFill>
              </a:rPr>
              <a:t>Rough Endoplasmic </a:t>
            </a:r>
            <a:br>
              <a:rPr lang="en-US" dirty="0">
                <a:solidFill>
                  <a:srgbClr val="0070C0"/>
                </a:solidFill>
              </a:rPr>
            </a:br>
            <a:r>
              <a:rPr lang="en-US" dirty="0">
                <a:solidFill>
                  <a:srgbClr val="0070C0"/>
                </a:solidFill>
              </a:rPr>
              <a:t>Reticulum</a:t>
            </a:r>
          </a:p>
        </p:txBody>
      </p:sp>
      <p:sp>
        <p:nvSpPr>
          <p:cNvPr id="48130" name="Rectangle 2"/>
          <p:cNvSpPr>
            <a:spLocks noGrp="1" noChangeArrowheads="1"/>
          </p:cNvSpPr>
          <p:nvPr>
            <p:ph idx="1"/>
          </p:nvPr>
        </p:nvSpPr>
        <p:spPr>
          <a:xfrm>
            <a:off x="659209" y="2174886"/>
            <a:ext cx="4307960" cy="4239344"/>
          </a:xfrm>
        </p:spPr>
        <p:txBody>
          <a:bodyPr>
            <a:normAutofit fontScale="92500" lnSpcReduction="10000"/>
          </a:bodyPr>
          <a:lstStyle/>
          <a:p>
            <a:r>
              <a:rPr lang="en-US" dirty="0">
                <a:latin typeface="Calibri" panose="020F0502020204030204" pitchFamily="34" charset="0"/>
                <a:cs typeface="Calibri" panose="020F0502020204030204" pitchFamily="34" charset="0"/>
              </a:rPr>
              <a:t>Location:</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Continuous with the nuclear membrane and extending to the cytoplasm.</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 complex system of membranous tubules studded with ribosomes. Connected to the smooth ER but structurally and functionally distinct from it.</a:t>
            </a:r>
          </a:p>
          <a:p>
            <a:r>
              <a:rPr lang="en-US" dirty="0">
                <a:latin typeface="Calibri" panose="020F0502020204030204" pitchFamily="34" charset="0"/>
                <a:cs typeface="Calibri" panose="020F0502020204030204" pitchFamily="34" charset="0"/>
              </a:rPr>
              <a:t>Function:</a:t>
            </a:r>
          </a:p>
          <a:p>
            <a:pPr lvl="1"/>
            <a:r>
              <a:rPr lang="en-US" dirty="0">
                <a:latin typeface="Calibri" panose="020F0502020204030204" pitchFamily="34" charset="0"/>
                <a:cs typeface="Calibri" panose="020F0502020204030204" pitchFamily="34" charset="0"/>
              </a:rPr>
              <a:t>Synthesis, folding, and</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 modification of proteins.</a:t>
            </a:r>
          </a:p>
          <a:p>
            <a:pPr lvl="1"/>
            <a:r>
              <a:rPr lang="en-US" dirty="0">
                <a:latin typeface="Calibri" panose="020F0502020204030204" pitchFamily="34" charset="0"/>
                <a:cs typeface="Calibri" panose="020F0502020204030204" pitchFamily="34" charset="0"/>
              </a:rPr>
              <a:t>Transport of proteins through the cell.</a:t>
            </a:r>
          </a:p>
          <a:p>
            <a:pPr lvl="1"/>
            <a:r>
              <a:rPr lang="en-US" dirty="0">
                <a:latin typeface="Calibri" panose="020F0502020204030204" pitchFamily="34" charset="0"/>
                <a:cs typeface="Calibri" panose="020F0502020204030204" pitchFamily="34" charset="0"/>
              </a:rPr>
              <a:t>Membrane production.</a:t>
            </a:r>
          </a:p>
          <a:p>
            <a:r>
              <a:rPr lang="en-US" dirty="0">
                <a:latin typeface="Calibri" panose="020F0502020204030204" pitchFamily="34" charset="0"/>
                <a:cs typeface="Calibri" panose="020F0502020204030204" pitchFamily="34" charset="0"/>
              </a:rPr>
              <a:t>Size: Variable according to cell size.</a:t>
            </a:r>
          </a:p>
        </p:txBody>
      </p:sp>
      <p:pic>
        <p:nvPicPr>
          <p:cNvPr id="481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8547" y="4107656"/>
            <a:ext cx="2961308" cy="23127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48132" name="Line 4"/>
          <p:cNvSpPr>
            <a:spLocks noChangeShapeType="1"/>
          </p:cNvSpPr>
          <p:nvPr/>
        </p:nvSpPr>
        <p:spPr bwMode="auto">
          <a:xfrm rot="10800000" flipH="1">
            <a:off x="7992070" y="1547069"/>
            <a:ext cx="246683" cy="190872"/>
          </a:xfrm>
          <a:prstGeom prst="line">
            <a:avLst/>
          </a:prstGeom>
          <a:noFill/>
          <a:ln w="254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pic>
        <p:nvPicPr>
          <p:cNvPr id="4813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8056" y="1025798"/>
            <a:ext cx="3125391" cy="25460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48134" name="Rectangle 6"/>
          <p:cNvSpPr>
            <a:spLocks/>
          </p:cNvSpPr>
          <p:nvPr/>
        </p:nvSpPr>
        <p:spPr bwMode="auto">
          <a:xfrm>
            <a:off x="8090297" y="1339453"/>
            <a:ext cx="884039"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400">
                <a:solidFill>
                  <a:srgbClr val="2D00FA"/>
                </a:solidFill>
                <a:latin typeface="Arial" charset="0"/>
                <a:cs typeface="Arial" charset="0"/>
                <a:sym typeface="Arial" charset="0"/>
              </a:rPr>
              <a:t>Ribosome</a:t>
            </a:r>
          </a:p>
        </p:txBody>
      </p:sp>
      <p:sp>
        <p:nvSpPr>
          <p:cNvPr id="48135" name="Rectangle 7"/>
          <p:cNvSpPr>
            <a:spLocks/>
          </p:cNvSpPr>
          <p:nvPr/>
        </p:nvSpPr>
        <p:spPr bwMode="auto">
          <a:xfrm>
            <a:off x="7215188" y="705445"/>
            <a:ext cx="1794867" cy="196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a:solidFill>
                  <a:srgbClr val="2D00FA"/>
                </a:solidFill>
                <a:latin typeface="Arial" charset="0"/>
                <a:cs typeface="Arial" charset="0"/>
                <a:sym typeface="Arial" charset="0"/>
              </a:rPr>
              <a:t>Membranous tubules</a:t>
            </a:r>
          </a:p>
        </p:txBody>
      </p:sp>
      <p:sp>
        <p:nvSpPr>
          <p:cNvPr id="48136" name="Line 8"/>
          <p:cNvSpPr>
            <a:spLocks noChangeShapeType="1"/>
          </p:cNvSpPr>
          <p:nvPr/>
        </p:nvSpPr>
        <p:spPr bwMode="auto">
          <a:xfrm rot="10800000" flipH="1">
            <a:off x="7506519" y="919758"/>
            <a:ext cx="369465" cy="527968"/>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48137" name="Rectangle 9"/>
          <p:cNvSpPr>
            <a:spLocks/>
          </p:cNvSpPr>
          <p:nvPr/>
        </p:nvSpPr>
        <p:spPr bwMode="auto">
          <a:xfrm>
            <a:off x="7295555" y="3223617"/>
            <a:ext cx="1464469" cy="4018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a:solidFill>
                  <a:srgbClr val="2D00FA"/>
                </a:solidFill>
                <a:latin typeface="Arial" charset="0"/>
                <a:cs typeface="Arial" charset="0"/>
                <a:sym typeface="Arial" charset="0"/>
              </a:rPr>
              <a:t>Transport vesicle budding off</a:t>
            </a:r>
          </a:p>
        </p:txBody>
      </p:sp>
      <p:sp>
        <p:nvSpPr>
          <p:cNvPr id="48138" name="Line 10"/>
          <p:cNvSpPr>
            <a:spLocks noChangeShapeType="1"/>
          </p:cNvSpPr>
          <p:nvPr/>
        </p:nvSpPr>
        <p:spPr bwMode="auto">
          <a:xfrm>
            <a:off x="7310066" y="2868662"/>
            <a:ext cx="273471" cy="274588"/>
          </a:xfrm>
          <a:prstGeom prst="line">
            <a:avLst/>
          </a:prstGeom>
          <a:noFill/>
          <a:ln w="254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Tree>
    <p:extLst>
      <p:ext uri="{BB962C8B-B14F-4D97-AF65-F5344CB8AC3E}">
        <p14:creationId xmlns:p14="http://schemas.microsoft.com/office/powerpoint/2010/main" val="353390959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813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813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813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813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813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8130">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813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uild="p" bldLvl="5"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1"/>
          <p:cNvSpPr>
            <a:spLocks noGrp="1" noChangeArrowheads="1"/>
          </p:cNvSpPr>
          <p:nvPr>
            <p:ph type="title"/>
          </p:nvPr>
        </p:nvSpPr>
        <p:spPr>
          <a:xfrm>
            <a:off x="768096" y="585216"/>
            <a:ext cx="7290054" cy="1371849"/>
          </a:xfrm>
        </p:spPr>
        <p:txBody>
          <a:bodyPr/>
          <a:lstStyle/>
          <a:p>
            <a:r>
              <a:rPr lang="en-US" dirty="0">
                <a:solidFill>
                  <a:srgbClr val="0070C0"/>
                </a:solidFill>
              </a:rPr>
              <a:t>Smooth Endoplasmic </a:t>
            </a:r>
            <a:br>
              <a:rPr lang="en-US" dirty="0">
                <a:solidFill>
                  <a:srgbClr val="0070C0"/>
                </a:solidFill>
              </a:rPr>
            </a:br>
            <a:r>
              <a:rPr lang="en-US" dirty="0">
                <a:solidFill>
                  <a:srgbClr val="0070C0"/>
                </a:solidFill>
              </a:rPr>
              <a:t>Reticulum</a:t>
            </a:r>
          </a:p>
        </p:txBody>
      </p:sp>
      <p:sp>
        <p:nvSpPr>
          <p:cNvPr id="49154" name="Rectangle 2"/>
          <p:cNvSpPr>
            <a:spLocks noGrp="1" noChangeArrowheads="1"/>
          </p:cNvSpPr>
          <p:nvPr>
            <p:ph idx="1"/>
          </p:nvPr>
        </p:nvSpPr>
        <p:spPr>
          <a:xfrm>
            <a:off x="614659" y="2136775"/>
            <a:ext cx="4235952" cy="4260230"/>
          </a:xfrm>
        </p:spPr>
        <p:txBody>
          <a:bodyPr>
            <a:normAutofit/>
          </a:bodyPr>
          <a:lstStyle/>
          <a:p>
            <a:r>
              <a:rPr lang="en-US" dirty="0">
                <a:latin typeface="Calibri" panose="020F0502020204030204" pitchFamily="34" charset="0"/>
                <a:cs typeface="Calibri" panose="020F0502020204030204" pitchFamily="34" charset="0"/>
              </a:rPr>
              <a:t>Located:</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In the cytoplasm </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 system of membranous tubules similar in appearance to the rough ER but lacking ribosomes.</a:t>
            </a:r>
          </a:p>
          <a:p>
            <a:r>
              <a:rPr lang="en-US" dirty="0">
                <a:latin typeface="Calibri" panose="020F0502020204030204" pitchFamily="34" charset="0"/>
                <a:cs typeface="Calibri" panose="020F0502020204030204" pitchFamily="34" charset="0"/>
              </a:rPr>
              <a:t>Function:</a:t>
            </a:r>
          </a:p>
          <a:p>
            <a:pPr lvl="1"/>
            <a:r>
              <a:rPr lang="en-US" dirty="0">
                <a:latin typeface="Calibri" panose="020F0502020204030204" pitchFamily="34" charset="0"/>
                <a:cs typeface="Calibri" panose="020F0502020204030204" pitchFamily="34" charset="0"/>
              </a:rPr>
              <a:t>Synthesis of lipids, including oils, phospholipids, and steroids.</a:t>
            </a:r>
          </a:p>
          <a:p>
            <a:pPr lvl="1"/>
            <a:r>
              <a:rPr lang="en-US" dirty="0">
                <a:latin typeface="Calibri" panose="020F0502020204030204" pitchFamily="34" charset="0"/>
                <a:cs typeface="Calibri" panose="020F0502020204030204" pitchFamily="34" charset="0"/>
              </a:rPr>
              <a:t>Carbohydrate metabolism.</a:t>
            </a:r>
          </a:p>
          <a:p>
            <a:pPr lvl="1"/>
            <a:r>
              <a:rPr lang="en-US" dirty="0">
                <a:latin typeface="Calibri" panose="020F0502020204030204" pitchFamily="34" charset="0"/>
                <a:cs typeface="Calibri" panose="020F0502020204030204" pitchFamily="34" charset="0"/>
              </a:rPr>
              <a:t>Transport of these materials through the cell.</a:t>
            </a:r>
          </a:p>
          <a:p>
            <a:pPr lvl="1"/>
            <a:r>
              <a:rPr lang="en-US" dirty="0">
                <a:latin typeface="Calibri" panose="020F0502020204030204" pitchFamily="34" charset="0"/>
                <a:cs typeface="Calibri" panose="020F0502020204030204" pitchFamily="34" charset="0"/>
              </a:rPr>
              <a:t>Detoxification of drugs and poisons.</a:t>
            </a:r>
          </a:p>
          <a:p>
            <a:r>
              <a:rPr lang="en-US" dirty="0">
                <a:latin typeface="Calibri" panose="020F0502020204030204" pitchFamily="34" charset="0"/>
                <a:cs typeface="Calibri" panose="020F0502020204030204" pitchFamily="34" charset="0"/>
              </a:rPr>
              <a:t>Size: Variable according to cell size.</a:t>
            </a:r>
          </a:p>
        </p:txBody>
      </p:sp>
      <p:pic>
        <p:nvPicPr>
          <p:cNvPr id="491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25" y="3946922"/>
            <a:ext cx="2951262" cy="2518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49156" name="Rectangle 4"/>
          <p:cNvSpPr>
            <a:spLocks/>
          </p:cNvSpPr>
          <p:nvPr/>
        </p:nvSpPr>
        <p:spPr bwMode="auto">
          <a:xfrm>
            <a:off x="6983016" y="750094"/>
            <a:ext cx="1830586" cy="473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a:solidFill>
                  <a:srgbClr val="2D00FA"/>
                </a:solidFill>
                <a:latin typeface="Arial" charset="0"/>
                <a:cs typeface="Arial" charset="0"/>
                <a:sym typeface="Arial" charset="0"/>
              </a:rPr>
              <a:t>Membranous tubules lacking ribosomes</a:t>
            </a:r>
          </a:p>
        </p:txBody>
      </p:sp>
      <p:pic>
        <p:nvPicPr>
          <p:cNvPr id="4915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1665" y="1426518"/>
            <a:ext cx="4118818" cy="2509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49158" name="Line 6"/>
          <p:cNvSpPr>
            <a:spLocks noChangeShapeType="1"/>
          </p:cNvSpPr>
          <p:nvPr/>
        </p:nvSpPr>
        <p:spPr bwMode="auto">
          <a:xfrm rot="10800000" flipH="1">
            <a:off x="7974211" y="1246808"/>
            <a:ext cx="0" cy="428625"/>
          </a:xfrm>
          <a:prstGeom prst="line">
            <a:avLst/>
          </a:prstGeom>
          <a:noFill/>
          <a:ln w="254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49159" name="Rectangle 7"/>
          <p:cNvSpPr>
            <a:spLocks/>
          </p:cNvSpPr>
          <p:nvPr/>
        </p:nvSpPr>
        <p:spPr bwMode="auto">
          <a:xfrm>
            <a:off x="7509867" y="3286125"/>
            <a:ext cx="1464469" cy="4018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a:solidFill>
                  <a:srgbClr val="2D00FA"/>
                </a:solidFill>
                <a:latin typeface="Arial" charset="0"/>
                <a:cs typeface="Arial" charset="0"/>
                <a:sym typeface="Arial" charset="0"/>
              </a:rPr>
              <a:t>Transport vesicle budding off</a:t>
            </a:r>
          </a:p>
        </p:txBody>
      </p:sp>
      <p:sp>
        <p:nvSpPr>
          <p:cNvPr id="49160" name="Line 8"/>
          <p:cNvSpPr>
            <a:spLocks noChangeShapeType="1"/>
          </p:cNvSpPr>
          <p:nvPr/>
        </p:nvSpPr>
        <p:spPr bwMode="auto">
          <a:xfrm>
            <a:off x="7524379" y="2931170"/>
            <a:ext cx="273471" cy="274588"/>
          </a:xfrm>
          <a:prstGeom prst="line">
            <a:avLst/>
          </a:prstGeom>
          <a:noFill/>
          <a:ln w="254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Tree>
    <p:extLst>
      <p:ext uri="{BB962C8B-B14F-4D97-AF65-F5344CB8AC3E}">
        <p14:creationId xmlns:p14="http://schemas.microsoft.com/office/powerpoint/2010/main" val="175065993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91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915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915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9154">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9154">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9154">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9154">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4915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build="p" bldLvl="5"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692696"/>
            <a:ext cx="7290054" cy="720080"/>
          </a:xfrm>
        </p:spPr>
        <p:txBody>
          <a:bodyPr>
            <a:normAutofit fontScale="90000"/>
          </a:bodyPr>
          <a:lstStyle/>
          <a:p>
            <a:r>
              <a:rPr lang="en-AU" altLang="en-US" dirty="0">
                <a:solidFill>
                  <a:srgbClr val="0070C0"/>
                </a:solidFill>
              </a:rPr>
              <a:t>Success Criteria: label cell organelles</a:t>
            </a:r>
            <a:endParaRPr lang="en-AU" dirty="0">
              <a:solidFill>
                <a:srgbClr val="0070C0"/>
              </a:solidFill>
            </a:endParaRPr>
          </a:p>
        </p:txBody>
      </p:sp>
      <p:pic>
        <p:nvPicPr>
          <p:cNvPr id="3" name="Picture 2"/>
          <p:cNvPicPr>
            <a:picLocks noChangeAspect="1"/>
          </p:cNvPicPr>
          <p:nvPr/>
        </p:nvPicPr>
        <p:blipFill>
          <a:blip r:embed="rId2"/>
          <a:stretch>
            <a:fillRect/>
          </a:stretch>
        </p:blipFill>
        <p:spPr>
          <a:xfrm>
            <a:off x="1547664" y="1719758"/>
            <a:ext cx="5400600" cy="4173191"/>
          </a:xfrm>
          <a:prstGeom prst="rect">
            <a:avLst/>
          </a:prstGeom>
        </p:spPr>
      </p:pic>
      <p:sp>
        <p:nvSpPr>
          <p:cNvPr id="5" name="TextBox 4"/>
          <p:cNvSpPr txBox="1"/>
          <p:nvPr/>
        </p:nvSpPr>
        <p:spPr>
          <a:xfrm>
            <a:off x="2267744" y="2204864"/>
            <a:ext cx="1224136" cy="369332"/>
          </a:xfrm>
          <a:prstGeom prst="rect">
            <a:avLst/>
          </a:prstGeom>
          <a:noFill/>
        </p:spPr>
        <p:txBody>
          <a:bodyPr wrap="square" rtlCol="0">
            <a:spAutoFit/>
          </a:bodyPr>
          <a:lstStyle/>
          <a:p>
            <a:r>
              <a:rPr lang="en-AU" dirty="0"/>
              <a:t>Chromatin</a:t>
            </a:r>
          </a:p>
        </p:txBody>
      </p:sp>
    </p:spTree>
    <p:extLst>
      <p:ext uri="{BB962C8B-B14F-4D97-AF65-F5344CB8AC3E}">
        <p14:creationId xmlns:p14="http://schemas.microsoft.com/office/powerpoint/2010/main" val="1094460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1475656" y="1196752"/>
            <a:ext cx="6002050" cy="4637948"/>
          </a:xfrm>
          <a:prstGeom prst="rect">
            <a:avLst/>
          </a:prstGeom>
        </p:spPr>
      </p:pic>
    </p:spTree>
    <p:extLst>
      <p:ext uri="{BB962C8B-B14F-4D97-AF65-F5344CB8AC3E}">
        <p14:creationId xmlns:p14="http://schemas.microsoft.com/office/powerpoint/2010/main" val="2706877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rgbClr val="0070C0"/>
                </a:solidFill>
              </a:rPr>
              <a:t>Moodle &amp; Textbook Work</a:t>
            </a:r>
          </a:p>
        </p:txBody>
      </p:sp>
      <p:sp>
        <p:nvSpPr>
          <p:cNvPr id="6" name="Content Placeholder 2"/>
          <p:cNvSpPr txBox="1">
            <a:spLocks/>
          </p:cNvSpPr>
          <p:nvPr/>
        </p:nvSpPr>
        <p:spPr>
          <a:xfrm>
            <a:off x="3203848" y="2072062"/>
            <a:ext cx="5461800" cy="2331621"/>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r>
              <a:rPr lang="en-AU" dirty="0">
                <a:latin typeface="Calibri" panose="020F0502020204030204" pitchFamily="34" charset="0"/>
                <a:cs typeface="Calibri" panose="020F0502020204030204" pitchFamily="34" charset="0"/>
              </a:rPr>
              <a:t>Read Nelson pages 245-250 and 257-259.  </a:t>
            </a:r>
          </a:p>
          <a:p>
            <a:r>
              <a:rPr lang="en-AU" dirty="0">
                <a:latin typeface="Calibri" panose="020F0502020204030204" pitchFamily="34" charset="0"/>
                <a:cs typeface="Calibri" panose="020F0502020204030204" pitchFamily="34" charset="0"/>
              </a:rPr>
              <a:t>Complete question sets 8.2 and 8.5.</a:t>
            </a:r>
          </a:p>
          <a:p>
            <a:r>
              <a:rPr lang="en-AU" dirty="0">
                <a:latin typeface="Calibri" panose="020F0502020204030204" pitchFamily="34" charset="0"/>
                <a:cs typeface="Calibri" panose="020F0502020204030204" pitchFamily="34" charset="0"/>
              </a:rPr>
              <a:t>Complete Chapter review questions 1-12.</a:t>
            </a:r>
          </a:p>
          <a:p>
            <a:endParaRPr lang="en-AU" dirty="0"/>
          </a:p>
          <a:p>
            <a:endParaRPr lang="en-AU"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096" y="2072062"/>
            <a:ext cx="2088232" cy="2738141"/>
          </a:xfrm>
          <a:prstGeom prst="rect">
            <a:avLst/>
          </a:prstGeom>
        </p:spPr>
      </p:pic>
    </p:spTree>
    <p:extLst>
      <p:ext uri="{BB962C8B-B14F-4D97-AF65-F5344CB8AC3E}">
        <p14:creationId xmlns:p14="http://schemas.microsoft.com/office/powerpoint/2010/main" val="1324116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043584"/>
          </a:xfrm>
        </p:spPr>
        <p:txBody>
          <a:bodyPr/>
          <a:lstStyle/>
          <a:p>
            <a:r>
              <a:rPr lang="en-AU" dirty="0">
                <a:solidFill>
                  <a:srgbClr val="0070C0"/>
                </a:solidFill>
              </a:rPr>
              <a:t>Student Feedback</a:t>
            </a:r>
          </a:p>
        </p:txBody>
      </p:sp>
      <p:sp>
        <p:nvSpPr>
          <p:cNvPr id="3" name="Content Placeholder 2"/>
          <p:cNvSpPr>
            <a:spLocks noGrp="1"/>
          </p:cNvSpPr>
          <p:nvPr>
            <p:ph sz="quarter" idx="1"/>
          </p:nvPr>
        </p:nvSpPr>
        <p:spPr/>
        <p:txBody>
          <a:bodyPr/>
          <a:lstStyle/>
          <a:p>
            <a:r>
              <a:rPr lang="en-AU" dirty="0">
                <a:latin typeface="Calibri" panose="020F0502020204030204" pitchFamily="34" charset="0"/>
                <a:cs typeface="Calibri" panose="020F0502020204030204" pitchFamily="34" charset="0"/>
              </a:rPr>
              <a:t>What I learnt today…..</a:t>
            </a:r>
          </a:p>
          <a:p>
            <a:endParaRPr lang="en-AU"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a:p>
            <a:pPr marL="0" indent="0">
              <a:buNone/>
            </a:pPr>
            <a:endParaRPr lang="en-AU" dirty="0">
              <a:latin typeface="Calibri" panose="020F0502020204030204" pitchFamily="34" charset="0"/>
              <a:cs typeface="Calibri" panose="020F0502020204030204" pitchFamily="34" charset="0"/>
            </a:endParaRPr>
          </a:p>
          <a:p>
            <a:r>
              <a:rPr lang="en-AU" dirty="0">
                <a:latin typeface="Calibri" panose="020F0502020204030204" pitchFamily="34" charset="0"/>
                <a:cs typeface="Calibri" panose="020F0502020204030204" pitchFamily="34" charset="0"/>
              </a:rPr>
              <a:t>What I need to revise….</a:t>
            </a:r>
          </a:p>
          <a:p>
            <a:endParaRPr lang="en-AU" dirty="0">
              <a:latin typeface="Calibri" panose="020F0502020204030204" pitchFamily="34" charset="0"/>
              <a:cs typeface="Calibri" panose="020F0502020204030204" pitchFamily="34" charset="0"/>
            </a:endParaRPr>
          </a:p>
          <a:p>
            <a:endParaRPr lang="en-AU" dirty="0"/>
          </a:p>
        </p:txBody>
      </p:sp>
    </p:spTree>
    <p:extLst>
      <p:ext uri="{BB962C8B-B14F-4D97-AF65-F5344CB8AC3E}">
        <p14:creationId xmlns:p14="http://schemas.microsoft.com/office/powerpoint/2010/main" val="25009924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FF6E3-B8A6-9B36-C881-9CEC5031156C}"/>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9B68E894-8818-F21A-E289-8E33C1D2D5D2}"/>
              </a:ext>
            </a:extLst>
          </p:cNvPr>
          <p:cNvSpPr>
            <a:spLocks noGrp="1"/>
          </p:cNvSpPr>
          <p:nvPr>
            <p:ph idx="1"/>
          </p:nvPr>
        </p:nvSpPr>
        <p:spPr/>
        <p:txBody>
          <a:bodyPr/>
          <a:lstStyle/>
          <a:p>
            <a:endParaRPr lang="en-AU"/>
          </a:p>
        </p:txBody>
      </p:sp>
    </p:spTree>
    <p:extLst>
      <p:ext uri="{BB962C8B-B14F-4D97-AF65-F5344CB8AC3E}">
        <p14:creationId xmlns:p14="http://schemas.microsoft.com/office/powerpoint/2010/main" val="1869924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
          <p:cNvSpPr>
            <a:spLocks noGrp="1" noChangeArrowheads="1"/>
          </p:cNvSpPr>
          <p:nvPr>
            <p:ph type="title"/>
          </p:nvPr>
        </p:nvSpPr>
        <p:spPr>
          <a:xfrm>
            <a:off x="768096" y="585216"/>
            <a:ext cx="7290054" cy="1129355"/>
          </a:xfrm>
        </p:spPr>
        <p:txBody>
          <a:bodyPr/>
          <a:lstStyle/>
          <a:p>
            <a:r>
              <a:rPr lang="en-US" dirty="0">
                <a:solidFill>
                  <a:srgbClr val="0070C0"/>
                </a:solidFill>
              </a:rPr>
              <a:t>Golgi Apparatus</a:t>
            </a:r>
          </a:p>
        </p:txBody>
      </p:sp>
      <p:sp>
        <p:nvSpPr>
          <p:cNvPr id="50178" name="Rectangle 2"/>
          <p:cNvSpPr>
            <a:spLocks noGrp="1" noChangeArrowheads="1"/>
          </p:cNvSpPr>
          <p:nvPr>
            <p:ph idx="1"/>
          </p:nvPr>
        </p:nvSpPr>
        <p:spPr>
          <a:xfrm>
            <a:off x="522952" y="2061832"/>
            <a:ext cx="4049047" cy="4463512"/>
          </a:xfrm>
        </p:spPr>
        <p:txBody>
          <a:bodyPr>
            <a:normAutofit/>
          </a:bodyPr>
          <a:lstStyle/>
          <a:p>
            <a:r>
              <a:rPr lang="en-US" dirty="0">
                <a:latin typeface="Calibri" panose="020F0502020204030204" pitchFamily="34" charset="0"/>
                <a:cs typeface="Calibri" panose="020F0502020204030204" pitchFamily="34" charset="0"/>
              </a:rPr>
              <a:t>Location: Cytoplasm</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Stack of flattened, membranous sacs called cisternae.</a:t>
            </a:r>
          </a:p>
          <a:p>
            <a:r>
              <a:rPr lang="en-US" dirty="0">
                <a:latin typeface="Calibri" panose="020F0502020204030204" pitchFamily="34" charset="0"/>
                <a:cs typeface="Calibri" panose="020F0502020204030204" pitchFamily="34" charset="0"/>
              </a:rPr>
              <a:t>Function:</a:t>
            </a:r>
          </a:p>
          <a:p>
            <a:pPr lvl="1"/>
            <a:r>
              <a:rPr lang="en-US" dirty="0">
                <a:latin typeface="Calibri" panose="020F0502020204030204" pitchFamily="34" charset="0"/>
                <a:cs typeface="Calibri" panose="020F0502020204030204" pitchFamily="34" charset="0"/>
              </a:rPr>
              <a:t>Modification of proteins and lipids received from the ER, </a:t>
            </a:r>
            <a:r>
              <a:rPr lang="en-US" dirty="0" err="1">
                <a:latin typeface="Calibri" panose="020F0502020204030204" pitchFamily="34" charset="0"/>
                <a:cs typeface="Calibri" panose="020F0502020204030204" pitchFamily="34" charset="0"/>
              </a:rPr>
              <a:t>eg.</a:t>
            </a:r>
            <a:r>
              <a:rPr lang="en-US" dirty="0">
                <a:latin typeface="Calibri" panose="020F0502020204030204" pitchFamily="34" charset="0"/>
                <a:cs typeface="Calibri" panose="020F0502020204030204" pitchFamily="34" charset="0"/>
              </a:rPr>
              <a:t> Protein glycosylation.</a:t>
            </a:r>
          </a:p>
          <a:p>
            <a:pPr lvl="1"/>
            <a:r>
              <a:rPr lang="en-US" dirty="0">
                <a:latin typeface="Calibri" panose="020F0502020204030204" pitchFamily="34" charset="0"/>
                <a:cs typeface="Calibri" panose="020F0502020204030204" pitchFamily="34" charset="0"/>
              </a:rPr>
              <a:t>Sorting, packaging, and storage of proteins and lipids.</a:t>
            </a:r>
          </a:p>
          <a:p>
            <a:pPr lvl="1"/>
            <a:r>
              <a:rPr lang="en-US" dirty="0">
                <a:latin typeface="Calibri" panose="020F0502020204030204" pitchFamily="34" charset="0"/>
                <a:cs typeface="Calibri" panose="020F0502020204030204" pitchFamily="34" charset="0"/>
              </a:rPr>
              <a:t>Transport of these materials in vesicles through the cell.</a:t>
            </a:r>
          </a:p>
          <a:p>
            <a:pPr lvl="1"/>
            <a:r>
              <a:rPr lang="en-US" dirty="0">
                <a:latin typeface="Calibri" panose="020F0502020204030204" pitchFamily="34" charset="0"/>
                <a:cs typeface="Calibri" panose="020F0502020204030204" pitchFamily="34" charset="0"/>
              </a:rPr>
              <a:t>Manufacture of some certain macromolecules, </a:t>
            </a:r>
            <a:r>
              <a:rPr lang="en-US" dirty="0" err="1">
                <a:latin typeface="Calibri" panose="020F0502020204030204" pitchFamily="34" charset="0"/>
                <a:cs typeface="Calibri" panose="020F0502020204030204" pitchFamily="34" charset="0"/>
              </a:rPr>
              <a:t>eg.</a:t>
            </a:r>
            <a:r>
              <a:rPr lang="en-US" dirty="0">
                <a:latin typeface="Calibri" panose="020F0502020204030204" pitchFamily="34" charset="0"/>
                <a:cs typeface="Calibri" panose="020F0502020204030204" pitchFamily="34" charset="0"/>
              </a:rPr>
              <a:t> hyaluronic acid.</a:t>
            </a:r>
          </a:p>
          <a:p>
            <a:r>
              <a:rPr lang="en-US" dirty="0">
                <a:latin typeface="Calibri" panose="020F0502020204030204" pitchFamily="34" charset="0"/>
                <a:cs typeface="Calibri" panose="020F0502020204030204" pitchFamily="34" charset="0"/>
              </a:rPr>
              <a:t>Size: 1-3 µm diameter</a:t>
            </a:r>
          </a:p>
        </p:txBody>
      </p:sp>
      <p:pic>
        <p:nvPicPr>
          <p:cNvPr id="501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25" y="3955852"/>
            <a:ext cx="3071813" cy="24757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5018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106096">
            <a:off x="4286250" y="708794"/>
            <a:ext cx="3768328" cy="30483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50181" name="Rectangle 5"/>
          <p:cNvSpPr>
            <a:spLocks/>
          </p:cNvSpPr>
          <p:nvPr/>
        </p:nvSpPr>
        <p:spPr bwMode="auto">
          <a:xfrm>
            <a:off x="7364760" y="973336"/>
            <a:ext cx="844972" cy="1931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lgn="ctr">
              <a:lnSpc>
                <a:spcPct val="90000"/>
              </a:lnSpc>
              <a:tabLst>
                <a:tab pos="366104" algn="l"/>
              </a:tabLst>
            </a:pPr>
            <a:r>
              <a:rPr lang="en-US" sz="1400">
                <a:solidFill>
                  <a:srgbClr val="2D00FA"/>
                </a:solidFill>
                <a:latin typeface="Arial" charset="0"/>
                <a:cs typeface="Arial" charset="0"/>
                <a:sym typeface="Arial" charset="0"/>
              </a:rPr>
              <a:t>Cisternae</a:t>
            </a:r>
          </a:p>
        </p:txBody>
      </p:sp>
      <p:sp>
        <p:nvSpPr>
          <p:cNvPr id="50182" name="Line 6"/>
          <p:cNvSpPr>
            <a:spLocks noChangeShapeType="1"/>
          </p:cNvSpPr>
          <p:nvPr/>
        </p:nvSpPr>
        <p:spPr bwMode="auto">
          <a:xfrm rot="10800000" flipH="1">
            <a:off x="7058918" y="1079377"/>
            <a:ext cx="325934" cy="558105"/>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0183" name="Rectangle 7"/>
          <p:cNvSpPr>
            <a:spLocks/>
          </p:cNvSpPr>
          <p:nvPr/>
        </p:nvSpPr>
        <p:spPr bwMode="auto">
          <a:xfrm>
            <a:off x="6581179" y="3223617"/>
            <a:ext cx="2214563" cy="4018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a:solidFill>
                  <a:srgbClr val="2D00FA"/>
                </a:solidFill>
                <a:latin typeface="Arial" charset="0"/>
                <a:cs typeface="Arial" charset="0"/>
                <a:sym typeface="Arial" charset="0"/>
              </a:rPr>
              <a:t>Vesicle from the ‘shipping’ side of the Golgi</a:t>
            </a:r>
          </a:p>
        </p:txBody>
      </p:sp>
      <p:sp>
        <p:nvSpPr>
          <p:cNvPr id="50184" name="Line 8"/>
          <p:cNvSpPr>
            <a:spLocks noChangeShapeType="1"/>
          </p:cNvSpPr>
          <p:nvPr/>
        </p:nvSpPr>
        <p:spPr bwMode="auto">
          <a:xfrm rot="10800000" flipH="1">
            <a:off x="6249665" y="3384352"/>
            <a:ext cx="383977" cy="58043"/>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0185" name="Rectangle 9"/>
          <p:cNvSpPr>
            <a:spLocks/>
          </p:cNvSpPr>
          <p:nvPr/>
        </p:nvSpPr>
        <p:spPr bwMode="auto">
          <a:xfrm>
            <a:off x="6615783" y="508992"/>
            <a:ext cx="2342926" cy="1931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lgn="ctr">
              <a:lnSpc>
                <a:spcPct val="90000"/>
              </a:lnSpc>
              <a:tabLst>
                <a:tab pos="366104" algn="l"/>
              </a:tabLst>
            </a:pPr>
            <a:r>
              <a:rPr lang="en-US" sz="1400">
                <a:solidFill>
                  <a:srgbClr val="2D00FA"/>
                </a:solidFill>
                <a:latin typeface="Arial" charset="0"/>
                <a:cs typeface="Arial" charset="0"/>
                <a:sym typeface="Arial" charset="0"/>
              </a:rPr>
              <a:t>Transfer vesicle from the ER</a:t>
            </a:r>
          </a:p>
        </p:txBody>
      </p:sp>
      <p:sp>
        <p:nvSpPr>
          <p:cNvPr id="50186" name="Line 10"/>
          <p:cNvSpPr>
            <a:spLocks noChangeShapeType="1"/>
          </p:cNvSpPr>
          <p:nvPr/>
        </p:nvSpPr>
        <p:spPr bwMode="auto">
          <a:xfrm rot="10800000" flipH="1">
            <a:off x="5799832" y="641822"/>
            <a:ext cx="745629" cy="425276"/>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Tree>
    <p:extLst>
      <p:ext uri="{BB962C8B-B14F-4D97-AF65-F5344CB8AC3E}">
        <p14:creationId xmlns:p14="http://schemas.microsoft.com/office/powerpoint/2010/main" val="279996539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017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017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017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0178">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0178">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0178">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0178">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017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build="p" bldLvl="5"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a:xfrm>
            <a:off x="768096" y="585216"/>
            <a:ext cx="7290054" cy="1239790"/>
          </a:xfrm>
        </p:spPr>
        <p:txBody>
          <a:bodyPr/>
          <a:lstStyle/>
          <a:p>
            <a:r>
              <a:rPr lang="en-US" dirty="0">
                <a:solidFill>
                  <a:srgbClr val="0070C0"/>
                </a:solidFill>
              </a:rPr>
              <a:t>Nucleus</a:t>
            </a:r>
          </a:p>
        </p:txBody>
      </p:sp>
      <p:sp>
        <p:nvSpPr>
          <p:cNvPr id="51202" name="Rectangle 2"/>
          <p:cNvSpPr>
            <a:spLocks noGrp="1" noChangeArrowheads="1"/>
          </p:cNvSpPr>
          <p:nvPr>
            <p:ph idx="1"/>
          </p:nvPr>
        </p:nvSpPr>
        <p:spPr>
          <a:xfrm>
            <a:off x="768096" y="1988840"/>
            <a:ext cx="3742513" cy="4320520"/>
          </a:xfrm>
        </p:spPr>
        <p:txBody>
          <a:bodyPr>
            <a:normAutofit lnSpcReduction="10000"/>
          </a:bodyPr>
          <a:lstStyle/>
          <a:p>
            <a:r>
              <a:rPr lang="en-US" dirty="0">
                <a:latin typeface="Calibri" panose="020F0502020204030204" pitchFamily="34" charset="0"/>
                <a:cs typeface="Calibri" panose="020F0502020204030204" pitchFamily="34" charset="0"/>
              </a:rPr>
              <a:t>Located:</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Variable location; not necessarily near the center of the cell.</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Surrounded by a nuclear envelope and encloses the genetic material (chromatin). Nuclear envelope comprises a double membrane perforated by pores. </a:t>
            </a:r>
          </a:p>
          <a:p>
            <a:r>
              <a:rPr lang="en-US" dirty="0">
                <a:latin typeface="Calibri" panose="020F0502020204030204" pitchFamily="34" charset="0"/>
                <a:cs typeface="Calibri" panose="020F0502020204030204" pitchFamily="34" charset="0"/>
              </a:rPr>
              <a:t>Function:</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Contains most of the cell’s genetic material, which regulates all the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activities of the cell.</a:t>
            </a:r>
          </a:p>
          <a:p>
            <a:r>
              <a:rPr lang="en-US" dirty="0">
                <a:latin typeface="Calibri" panose="020F0502020204030204" pitchFamily="34" charset="0"/>
                <a:cs typeface="Calibri" panose="020F0502020204030204" pitchFamily="34" charset="0"/>
              </a:rPr>
              <a:t>Size: 5 µm diameter.</a:t>
            </a:r>
          </a:p>
        </p:txBody>
      </p:sp>
      <p:sp>
        <p:nvSpPr>
          <p:cNvPr id="51203" name="Rectangle 3"/>
          <p:cNvSpPr>
            <a:spLocks/>
          </p:cNvSpPr>
          <p:nvPr/>
        </p:nvSpPr>
        <p:spPr bwMode="auto">
          <a:xfrm>
            <a:off x="7219653" y="1079377"/>
            <a:ext cx="1419820" cy="2243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a:solidFill>
                  <a:srgbClr val="2D00FA"/>
                </a:solidFill>
                <a:latin typeface="Arial" charset="0"/>
                <a:cs typeface="Arial" charset="0"/>
                <a:sym typeface="Arial" charset="0"/>
              </a:rPr>
              <a:t>Nuclear pores</a:t>
            </a:r>
          </a:p>
        </p:txBody>
      </p:sp>
      <p:sp>
        <p:nvSpPr>
          <p:cNvPr id="51204" name="Rectangle 4"/>
          <p:cNvSpPr>
            <a:spLocks/>
          </p:cNvSpPr>
          <p:nvPr/>
        </p:nvSpPr>
        <p:spPr bwMode="auto">
          <a:xfrm>
            <a:off x="4830961" y="5184800"/>
            <a:ext cx="1214438" cy="4598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a:solidFill>
                  <a:srgbClr val="2D00FA"/>
                </a:solidFill>
                <a:latin typeface="Arial" charset="0"/>
                <a:cs typeface="Arial" charset="0"/>
                <a:sym typeface="Arial" charset="0"/>
              </a:rPr>
              <a:t>Nuclear membrane</a:t>
            </a:r>
          </a:p>
        </p:txBody>
      </p:sp>
      <p:sp>
        <p:nvSpPr>
          <p:cNvPr id="51205" name="Rectangle 5"/>
          <p:cNvSpPr>
            <a:spLocks/>
          </p:cNvSpPr>
          <p:nvPr/>
        </p:nvSpPr>
        <p:spPr bwMode="auto">
          <a:xfrm>
            <a:off x="7938493" y="5143500"/>
            <a:ext cx="999009" cy="2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a:solidFill>
                  <a:srgbClr val="2D00FA"/>
                </a:solidFill>
                <a:latin typeface="Arial" charset="0"/>
                <a:cs typeface="Arial" charset="0"/>
                <a:sym typeface="Arial" charset="0"/>
              </a:rPr>
              <a:t>Nucleolus</a:t>
            </a:r>
          </a:p>
        </p:txBody>
      </p:sp>
      <p:sp>
        <p:nvSpPr>
          <p:cNvPr id="51206" name="Rectangle 6"/>
          <p:cNvSpPr>
            <a:spLocks/>
          </p:cNvSpPr>
          <p:nvPr/>
        </p:nvSpPr>
        <p:spPr bwMode="auto">
          <a:xfrm>
            <a:off x="6596806" y="5552033"/>
            <a:ext cx="1144117" cy="2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400">
                <a:solidFill>
                  <a:srgbClr val="2D00FA"/>
                </a:solidFill>
                <a:latin typeface="Arial" charset="0"/>
                <a:cs typeface="Arial" charset="0"/>
                <a:sym typeface="Arial" charset="0"/>
              </a:rPr>
              <a:t>Chromatin</a:t>
            </a:r>
          </a:p>
        </p:txBody>
      </p:sp>
      <p:pic>
        <p:nvPicPr>
          <p:cNvPr id="5120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5365" y="1650877"/>
            <a:ext cx="3554016" cy="36410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51208" name="Line 8"/>
          <p:cNvSpPr>
            <a:spLocks noChangeShapeType="1"/>
          </p:cNvSpPr>
          <p:nvPr/>
        </p:nvSpPr>
        <p:spPr bwMode="auto">
          <a:xfrm>
            <a:off x="7169423" y="4394523"/>
            <a:ext cx="20092" cy="1157510"/>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1209" name="Line 9"/>
          <p:cNvSpPr>
            <a:spLocks noChangeShapeType="1"/>
          </p:cNvSpPr>
          <p:nvPr/>
        </p:nvSpPr>
        <p:spPr bwMode="auto">
          <a:xfrm>
            <a:off x="7177237" y="3743771"/>
            <a:ext cx="1217786" cy="1348383"/>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1210" name="Line 10"/>
          <p:cNvSpPr>
            <a:spLocks noChangeShapeType="1"/>
          </p:cNvSpPr>
          <p:nvPr/>
        </p:nvSpPr>
        <p:spPr bwMode="auto">
          <a:xfrm rot="10800000" flipH="1">
            <a:off x="7618140" y="1345035"/>
            <a:ext cx="204266" cy="479971"/>
          </a:xfrm>
          <a:prstGeom prst="line">
            <a:avLst/>
          </a:prstGeom>
          <a:noFill/>
          <a:ln w="254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1211" name="Line 11"/>
          <p:cNvSpPr>
            <a:spLocks noChangeShapeType="1"/>
          </p:cNvSpPr>
          <p:nvPr/>
        </p:nvSpPr>
        <p:spPr bwMode="auto">
          <a:xfrm flipH="1">
            <a:off x="5688211" y="4500562"/>
            <a:ext cx="677540" cy="827113"/>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Tree>
    <p:extLst>
      <p:ext uri="{BB962C8B-B14F-4D97-AF65-F5344CB8AC3E}">
        <p14:creationId xmlns:p14="http://schemas.microsoft.com/office/powerpoint/2010/main" val="371805605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0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120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120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120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build="p" bldLvl="5"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1"/>
          <p:cNvSpPr>
            <a:spLocks noGrp="1" noChangeArrowheads="1"/>
          </p:cNvSpPr>
          <p:nvPr>
            <p:ph type="title"/>
          </p:nvPr>
        </p:nvSpPr>
        <p:spPr>
          <a:xfrm>
            <a:off x="768096" y="585216"/>
            <a:ext cx="7290054" cy="1120354"/>
          </a:xfrm>
        </p:spPr>
        <p:txBody>
          <a:bodyPr/>
          <a:lstStyle/>
          <a:p>
            <a:r>
              <a:rPr lang="en-US" dirty="0">
                <a:solidFill>
                  <a:srgbClr val="0070C0"/>
                </a:solidFill>
              </a:rPr>
              <a:t>Nucleolus</a:t>
            </a:r>
          </a:p>
        </p:txBody>
      </p:sp>
      <p:sp>
        <p:nvSpPr>
          <p:cNvPr id="52226" name="Rectangle 2"/>
          <p:cNvSpPr>
            <a:spLocks noGrp="1" noChangeArrowheads="1"/>
          </p:cNvSpPr>
          <p:nvPr>
            <p:ph idx="1"/>
          </p:nvPr>
        </p:nvSpPr>
        <p:spPr>
          <a:xfrm>
            <a:off x="768097" y="1988840"/>
            <a:ext cx="4163944" cy="4320520"/>
          </a:xfrm>
        </p:spPr>
        <p:txBody>
          <a:bodyPr>
            <a:normAutofit/>
          </a:bodyPr>
          <a:lstStyle/>
          <a:p>
            <a:r>
              <a:rPr lang="en-US" dirty="0">
                <a:latin typeface="Calibri" panose="020F0502020204030204" pitchFamily="34" charset="0"/>
                <a:cs typeface="Calibri" panose="020F0502020204030204" pitchFamily="34" charset="0"/>
              </a:rPr>
              <a:t>Located: Within the nucleus.</a:t>
            </a:r>
          </a:p>
          <a:p>
            <a:r>
              <a:rPr lang="en-US" dirty="0">
                <a:latin typeface="Calibri" panose="020F0502020204030204" pitchFamily="34" charset="0"/>
                <a:cs typeface="Calibri" panose="020F0502020204030204" pitchFamily="34" charset="0"/>
              </a:rPr>
              <a:t>Depending on the organism, there may be more than one.</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 prominent structure which appears under EM as a mass of darkly stained granules and fibers adjoining part of the chromatin. </a:t>
            </a:r>
          </a:p>
          <a:p>
            <a:r>
              <a:rPr lang="en-US" dirty="0">
                <a:latin typeface="Calibri" panose="020F0502020204030204" pitchFamily="34" charset="0"/>
                <a:cs typeface="Calibri" panose="020F0502020204030204" pitchFamily="34" charset="0"/>
              </a:rPr>
              <a:t>Function:</a:t>
            </a:r>
          </a:p>
          <a:p>
            <a:pPr lvl="1"/>
            <a:r>
              <a:rPr lang="en-US" dirty="0">
                <a:latin typeface="Calibri" panose="020F0502020204030204" pitchFamily="34" charset="0"/>
                <a:cs typeface="Calibri" panose="020F0502020204030204" pitchFamily="34" charset="0"/>
              </a:rPr>
              <a:t>Synthesis of ribosomal RNA</a:t>
            </a:r>
          </a:p>
          <a:p>
            <a:pPr lvl="1"/>
            <a:r>
              <a:rPr lang="en-US" dirty="0">
                <a:latin typeface="Calibri" panose="020F0502020204030204" pitchFamily="34" charset="0"/>
                <a:cs typeface="Calibri" panose="020F0502020204030204" pitchFamily="34" charset="0"/>
              </a:rPr>
              <a:t>Assembly of ribosomal subunits.</a:t>
            </a:r>
          </a:p>
          <a:p>
            <a:r>
              <a:rPr lang="en-US" dirty="0">
                <a:latin typeface="Calibri" panose="020F0502020204030204" pitchFamily="34" charset="0"/>
                <a:cs typeface="Calibri" panose="020F0502020204030204" pitchFamily="34" charset="0"/>
              </a:rPr>
              <a:t>Size: 1-2 µm diameter.</a:t>
            </a:r>
          </a:p>
        </p:txBody>
      </p:sp>
      <p:sp>
        <p:nvSpPr>
          <p:cNvPr id="52227" name="Rectangle 3"/>
          <p:cNvSpPr>
            <a:spLocks/>
          </p:cNvSpPr>
          <p:nvPr/>
        </p:nvSpPr>
        <p:spPr bwMode="auto">
          <a:xfrm>
            <a:off x="5329908" y="5286375"/>
            <a:ext cx="865063" cy="1931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lgn="ctr">
              <a:lnSpc>
                <a:spcPct val="90000"/>
              </a:lnSpc>
              <a:tabLst>
                <a:tab pos="366104" algn="l"/>
              </a:tabLst>
            </a:pPr>
            <a:r>
              <a:rPr lang="en-US" sz="1400">
                <a:solidFill>
                  <a:srgbClr val="2D00FA"/>
                </a:solidFill>
                <a:latin typeface="Arial" charset="0"/>
                <a:cs typeface="Arial" charset="0"/>
                <a:sym typeface="Arial" charset="0"/>
              </a:rPr>
              <a:t>Nucleolus</a:t>
            </a:r>
          </a:p>
        </p:txBody>
      </p:sp>
      <p:pic>
        <p:nvPicPr>
          <p:cNvPr id="522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8852" y="1544836"/>
            <a:ext cx="3521646" cy="36075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52229" name="Line 5"/>
          <p:cNvSpPr>
            <a:spLocks noChangeShapeType="1"/>
          </p:cNvSpPr>
          <p:nvPr/>
        </p:nvSpPr>
        <p:spPr bwMode="auto">
          <a:xfrm flipH="1">
            <a:off x="5741789" y="3612058"/>
            <a:ext cx="914177" cy="1585020"/>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Tree>
    <p:extLst>
      <p:ext uri="{BB962C8B-B14F-4D97-AF65-F5344CB8AC3E}">
        <p14:creationId xmlns:p14="http://schemas.microsoft.com/office/powerpoint/2010/main" val="203418046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22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222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2226">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2226">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2226">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222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bldLvl="5"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1"/>
          <p:cNvSpPr>
            <a:spLocks noGrp="1" noChangeArrowheads="1"/>
          </p:cNvSpPr>
          <p:nvPr>
            <p:ph type="title"/>
          </p:nvPr>
        </p:nvSpPr>
        <p:spPr>
          <a:xfrm>
            <a:off x="768096" y="585216"/>
            <a:ext cx="7290054" cy="1115592"/>
          </a:xfrm>
        </p:spPr>
        <p:txBody>
          <a:bodyPr/>
          <a:lstStyle/>
          <a:p>
            <a:r>
              <a:rPr lang="en-US" dirty="0">
                <a:solidFill>
                  <a:srgbClr val="0070C0"/>
                </a:solidFill>
              </a:rPr>
              <a:t>Centrioles</a:t>
            </a:r>
          </a:p>
        </p:txBody>
      </p:sp>
      <p:sp>
        <p:nvSpPr>
          <p:cNvPr id="53250" name="Rectangle 2"/>
          <p:cNvSpPr>
            <a:spLocks noGrp="1" noChangeArrowheads="1"/>
          </p:cNvSpPr>
          <p:nvPr>
            <p:ph idx="1"/>
          </p:nvPr>
        </p:nvSpPr>
        <p:spPr>
          <a:xfrm>
            <a:off x="768097" y="2125265"/>
            <a:ext cx="4523984" cy="4328071"/>
          </a:xfrm>
        </p:spPr>
        <p:txBody>
          <a:bodyPr/>
          <a:lstStyle/>
          <a:p>
            <a:r>
              <a:rPr lang="en-US" dirty="0">
                <a:latin typeface="Calibri" panose="020F0502020204030204" pitchFamily="34" charset="0"/>
                <a:cs typeface="Calibri" panose="020F0502020204030204" pitchFamily="34" charset="0"/>
              </a:rPr>
              <a:t>Located:</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In the cytoplasm, as part of the cell cytoskeleton. Usually next to or close to the nucleus.</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Found as a pair, each one composed of nine sets of triplet microtubules arranged in a ring. </a:t>
            </a:r>
          </a:p>
          <a:p>
            <a:r>
              <a:rPr lang="en-US" dirty="0">
                <a:latin typeface="Calibri" panose="020F0502020204030204" pitchFamily="34" charset="0"/>
                <a:cs typeface="Calibri" panose="020F0502020204030204" pitchFamily="34" charset="0"/>
              </a:rPr>
              <a:t>Function:</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Involved in cell reproduction (formation of the spindle)</a:t>
            </a:r>
          </a:p>
          <a:p>
            <a:r>
              <a:rPr lang="en-US" dirty="0">
                <a:latin typeface="Calibri" panose="020F0502020204030204" pitchFamily="34" charset="0"/>
                <a:cs typeface="Calibri" panose="020F0502020204030204" pitchFamily="34" charset="0"/>
              </a:rPr>
              <a:t>Size: 0.25 µm diameter.</a:t>
            </a:r>
          </a:p>
        </p:txBody>
      </p:sp>
      <p:sp>
        <p:nvSpPr>
          <p:cNvPr id="53251" name="Rectangle 3"/>
          <p:cNvSpPr>
            <a:spLocks/>
          </p:cNvSpPr>
          <p:nvPr/>
        </p:nvSpPr>
        <p:spPr bwMode="auto">
          <a:xfrm>
            <a:off x="5984007" y="6197203"/>
            <a:ext cx="2075036" cy="1931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lgn="ctr">
              <a:lnSpc>
                <a:spcPct val="90000"/>
              </a:lnSpc>
              <a:tabLst>
                <a:tab pos="366104" algn="l"/>
              </a:tabLst>
            </a:pPr>
            <a:r>
              <a:rPr lang="en-US" sz="1400">
                <a:solidFill>
                  <a:srgbClr val="2D00FA"/>
                </a:solidFill>
                <a:latin typeface="Arial" charset="0"/>
                <a:cs typeface="Arial" charset="0"/>
                <a:sym typeface="Arial" charset="0"/>
              </a:rPr>
              <a:t>Centriole in cross section</a:t>
            </a:r>
          </a:p>
        </p:txBody>
      </p:sp>
      <p:pic>
        <p:nvPicPr>
          <p:cNvPr id="532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9617" y="4054078"/>
            <a:ext cx="3036094" cy="20270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532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6281" y="952128"/>
            <a:ext cx="4563070" cy="33966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53254" name="Rectangle 6"/>
          <p:cNvSpPr>
            <a:spLocks/>
          </p:cNvSpPr>
          <p:nvPr/>
        </p:nvSpPr>
        <p:spPr bwMode="auto">
          <a:xfrm>
            <a:off x="7250906" y="562570"/>
            <a:ext cx="1259086" cy="196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90000"/>
              </a:lnSpc>
              <a:tabLst>
                <a:tab pos="366104" algn="l"/>
              </a:tabLst>
            </a:pPr>
            <a:r>
              <a:rPr lang="en-US" sz="1400">
                <a:solidFill>
                  <a:srgbClr val="2D00FA"/>
                </a:solidFill>
                <a:latin typeface="Arial" charset="0"/>
                <a:cs typeface="Arial" charset="0"/>
                <a:sym typeface="Arial" charset="0"/>
              </a:rPr>
              <a:t>Microtubules</a:t>
            </a:r>
          </a:p>
        </p:txBody>
      </p:sp>
      <p:sp>
        <p:nvSpPr>
          <p:cNvPr id="53255" name="Line 7"/>
          <p:cNvSpPr>
            <a:spLocks noChangeShapeType="1"/>
          </p:cNvSpPr>
          <p:nvPr/>
        </p:nvSpPr>
        <p:spPr bwMode="auto">
          <a:xfrm rot="10800000" flipH="1">
            <a:off x="6941716" y="820416"/>
            <a:ext cx="862831" cy="627311"/>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3256" name="Line 8"/>
          <p:cNvSpPr>
            <a:spLocks noChangeShapeType="1"/>
          </p:cNvSpPr>
          <p:nvPr/>
        </p:nvSpPr>
        <p:spPr bwMode="auto">
          <a:xfrm rot="10800000" flipH="1">
            <a:off x="7462987" y="821531"/>
            <a:ext cx="350490" cy="1303734"/>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Tree>
    <p:extLst>
      <p:ext uri="{BB962C8B-B14F-4D97-AF65-F5344CB8AC3E}">
        <p14:creationId xmlns:p14="http://schemas.microsoft.com/office/powerpoint/2010/main" val="67775885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25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25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325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325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build="p" bldLvl="5"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1"/>
          <p:cNvSpPr>
            <a:spLocks noGrp="1" noChangeArrowheads="1"/>
          </p:cNvSpPr>
          <p:nvPr>
            <p:ph type="title"/>
          </p:nvPr>
        </p:nvSpPr>
        <p:spPr>
          <a:xfrm>
            <a:off x="768096" y="585216"/>
            <a:ext cx="5105356" cy="1140163"/>
          </a:xfrm>
        </p:spPr>
        <p:txBody>
          <a:bodyPr/>
          <a:lstStyle/>
          <a:p>
            <a:r>
              <a:rPr lang="en-US" dirty="0">
                <a:solidFill>
                  <a:srgbClr val="0070C0"/>
                </a:solidFill>
              </a:rPr>
              <a:t>Vacuoles and Vesicles</a:t>
            </a:r>
          </a:p>
        </p:txBody>
      </p:sp>
      <p:sp>
        <p:nvSpPr>
          <p:cNvPr id="54274" name="Rectangle 2"/>
          <p:cNvSpPr>
            <a:spLocks noGrp="1" noChangeArrowheads="1"/>
          </p:cNvSpPr>
          <p:nvPr>
            <p:ph idx="1"/>
          </p:nvPr>
        </p:nvSpPr>
        <p:spPr>
          <a:xfrm>
            <a:off x="696247" y="1869692"/>
            <a:ext cx="4595992" cy="4441826"/>
          </a:xfrm>
        </p:spPr>
        <p:txBody>
          <a:bodyPr>
            <a:normAutofit/>
          </a:bodyPr>
          <a:lstStyle/>
          <a:p>
            <a:r>
              <a:rPr lang="en-US" dirty="0">
                <a:latin typeface="Calibri" panose="020F0502020204030204" pitchFamily="34" charset="0"/>
                <a:cs typeface="Calibri" panose="020F0502020204030204" pitchFamily="34" charset="0"/>
              </a:rPr>
              <a:t>Located:</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In the cytoplasm; often numerous.</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Vacuoles and vesicles are both membrane-bound sacs, but vacuoles are larger. </a:t>
            </a:r>
          </a:p>
          <a:p>
            <a:r>
              <a:rPr lang="en-US" dirty="0">
                <a:latin typeface="Calibri" panose="020F0502020204030204" pitchFamily="34" charset="0"/>
                <a:cs typeface="Calibri" panose="020F0502020204030204" pitchFamily="34" charset="0"/>
              </a:rPr>
              <a:t>Function:</a:t>
            </a:r>
          </a:p>
          <a:p>
            <a:pPr lvl="1"/>
            <a:r>
              <a:rPr lang="en-US" dirty="0">
                <a:latin typeface="Calibri" panose="020F0502020204030204" pitchFamily="34" charset="0"/>
                <a:cs typeface="Calibri" panose="020F0502020204030204" pitchFamily="34" charset="0"/>
              </a:rPr>
              <a:t>food vacuoles in animal cells are formed by endocytosis of food particles.</a:t>
            </a:r>
          </a:p>
          <a:p>
            <a:pPr lvl="1"/>
            <a:r>
              <a:rPr lang="en-US" dirty="0">
                <a:latin typeface="Calibri" panose="020F0502020204030204" pitchFamily="34" charset="0"/>
                <a:cs typeface="Calibri" panose="020F0502020204030204" pitchFamily="34" charset="0"/>
              </a:rPr>
              <a:t>contractile vacuoles of freshwater </a:t>
            </a:r>
            <a:r>
              <a:rPr lang="en-US" dirty="0" err="1">
                <a:latin typeface="Calibri" panose="020F0502020204030204" pitchFamily="34" charset="0"/>
                <a:cs typeface="Calibri" panose="020F0502020204030204" pitchFamily="34" charset="0"/>
              </a:rPr>
              <a:t>protists</a:t>
            </a:r>
            <a:r>
              <a:rPr lang="en-US" dirty="0">
                <a:latin typeface="Calibri" panose="020F0502020204030204" pitchFamily="34" charset="0"/>
                <a:cs typeface="Calibri" panose="020F0502020204030204" pitchFamily="34" charset="0"/>
              </a:rPr>
              <a:t> pump excess water from the cell.</a:t>
            </a:r>
          </a:p>
          <a:p>
            <a:pPr lvl="1"/>
            <a:r>
              <a:rPr lang="en-US" dirty="0">
                <a:latin typeface="Calibri" panose="020F0502020204030204" pitchFamily="34" charset="0"/>
                <a:cs typeface="Calibri" panose="020F0502020204030204" pitchFamily="34" charset="0"/>
              </a:rPr>
              <a:t>central vacuole of plants provides cell volume and stores inorganic ions and metabolic wastes.</a:t>
            </a:r>
          </a:p>
          <a:p>
            <a:r>
              <a:rPr lang="en-US" dirty="0">
                <a:latin typeface="Calibri" panose="020F0502020204030204" pitchFamily="34" charset="0"/>
                <a:cs typeface="Calibri" panose="020F0502020204030204" pitchFamily="34" charset="0"/>
              </a:rPr>
              <a:t>Size: varies according to</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cell type and size.</a:t>
            </a:r>
          </a:p>
        </p:txBody>
      </p:sp>
      <p:pic>
        <p:nvPicPr>
          <p:cNvPr id="542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4692" y="1036132"/>
            <a:ext cx="3134320" cy="2421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542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2766" y="3692553"/>
            <a:ext cx="4161234" cy="32727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54277" name="Rectangle 5"/>
          <p:cNvSpPr>
            <a:spLocks/>
          </p:cNvSpPr>
          <p:nvPr/>
        </p:nvSpPr>
        <p:spPr bwMode="auto">
          <a:xfrm>
            <a:off x="4283968" y="6119529"/>
            <a:ext cx="1589484" cy="3839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90000"/>
              </a:lnSpc>
              <a:tabLst>
                <a:tab pos="366104" algn="l"/>
              </a:tabLst>
            </a:pPr>
            <a:r>
              <a:rPr lang="en-US" sz="1400" dirty="0">
                <a:solidFill>
                  <a:srgbClr val="2D00FA"/>
                </a:solidFill>
                <a:latin typeface="Arial" charset="0"/>
                <a:cs typeface="Arial" charset="0"/>
                <a:sym typeface="Arial" charset="0"/>
              </a:rPr>
              <a:t>Food vacuole in a human lymphocyte</a:t>
            </a:r>
          </a:p>
        </p:txBody>
      </p:sp>
      <p:sp>
        <p:nvSpPr>
          <p:cNvPr id="54278" name="Line 6"/>
          <p:cNvSpPr>
            <a:spLocks noChangeShapeType="1"/>
          </p:cNvSpPr>
          <p:nvPr/>
        </p:nvSpPr>
        <p:spPr bwMode="auto">
          <a:xfrm flipH="1">
            <a:off x="5959372" y="5792813"/>
            <a:ext cx="1064865" cy="479971"/>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2" name="TextBox 1">
            <a:extLst>
              <a:ext uri="{FF2B5EF4-FFF2-40B4-BE49-F238E27FC236}">
                <a16:creationId xmlns:a16="http://schemas.microsoft.com/office/drawing/2014/main" id="{C4330F5C-8AFE-44A1-BA0D-FB98DB584988}"/>
              </a:ext>
            </a:extLst>
          </p:cNvPr>
          <p:cNvSpPr txBox="1"/>
          <p:nvPr/>
        </p:nvSpPr>
        <p:spPr>
          <a:xfrm>
            <a:off x="6300192" y="692696"/>
            <a:ext cx="1656184" cy="369332"/>
          </a:xfrm>
          <a:prstGeom prst="rect">
            <a:avLst/>
          </a:prstGeom>
          <a:noFill/>
        </p:spPr>
        <p:txBody>
          <a:bodyPr wrap="square" rtlCol="0">
            <a:spAutoFit/>
          </a:bodyPr>
          <a:lstStyle/>
          <a:p>
            <a:r>
              <a:rPr lang="en-AU" dirty="0">
                <a:latin typeface="Calibri" panose="020F0502020204030204" pitchFamily="34" charset="0"/>
                <a:cs typeface="Calibri" panose="020F0502020204030204" pitchFamily="34" charset="0"/>
              </a:rPr>
              <a:t>Endocytosis:</a:t>
            </a:r>
          </a:p>
        </p:txBody>
      </p:sp>
      <p:sp>
        <p:nvSpPr>
          <p:cNvPr id="3" name="Arrow: Right 2">
            <a:extLst>
              <a:ext uri="{FF2B5EF4-FFF2-40B4-BE49-F238E27FC236}">
                <a16:creationId xmlns:a16="http://schemas.microsoft.com/office/drawing/2014/main" id="{3F9A964E-7717-4324-95F7-0CFB5665BB8D}"/>
              </a:ext>
            </a:extLst>
          </p:cNvPr>
          <p:cNvSpPr/>
          <p:nvPr/>
        </p:nvSpPr>
        <p:spPr>
          <a:xfrm rot="9727038">
            <a:off x="6948263" y="2237148"/>
            <a:ext cx="360040" cy="268697"/>
          </a:xfrm>
          <a:prstGeom prst="rightArrow">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80224829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27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27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427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4274">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4274">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4274">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427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build="p" bldLvl="5"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1"/>
          <p:cNvSpPr>
            <a:spLocks noGrp="1" noChangeArrowheads="1"/>
          </p:cNvSpPr>
          <p:nvPr>
            <p:ph type="title"/>
          </p:nvPr>
        </p:nvSpPr>
        <p:spPr>
          <a:xfrm>
            <a:off x="755576" y="772940"/>
            <a:ext cx="7290054" cy="870917"/>
          </a:xfrm>
        </p:spPr>
        <p:txBody>
          <a:bodyPr/>
          <a:lstStyle/>
          <a:p>
            <a:r>
              <a:rPr lang="en-US" dirty="0">
                <a:solidFill>
                  <a:srgbClr val="0070C0"/>
                </a:solidFill>
              </a:rPr>
              <a:t>The Cell Cytoskeleton</a:t>
            </a:r>
          </a:p>
        </p:txBody>
      </p:sp>
      <p:sp>
        <p:nvSpPr>
          <p:cNvPr id="55298" name="Rectangle 2"/>
          <p:cNvSpPr>
            <a:spLocks noGrp="1" noChangeArrowheads="1"/>
          </p:cNvSpPr>
          <p:nvPr>
            <p:ph idx="1"/>
          </p:nvPr>
        </p:nvSpPr>
        <p:spPr>
          <a:xfrm>
            <a:off x="654026" y="2060848"/>
            <a:ext cx="4795099" cy="4521448"/>
          </a:xfrm>
        </p:spPr>
        <p:txBody>
          <a:bodyPr>
            <a:normAutofit fontScale="92500" lnSpcReduction="10000"/>
          </a:bodyPr>
          <a:lstStyle/>
          <a:p>
            <a:r>
              <a:rPr lang="en-US" dirty="0">
                <a:latin typeface="Calibri" panose="020F0502020204030204" pitchFamily="34" charset="0"/>
                <a:cs typeface="Calibri" panose="020F0502020204030204" pitchFamily="34" charset="0"/>
              </a:rPr>
              <a:t>Located:</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 network throughout the cytoplasm.</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 dynamic system of microtubules, microfilaments, and intermediate filaments. </a:t>
            </a:r>
          </a:p>
          <a:p>
            <a:r>
              <a:rPr lang="en-US" dirty="0">
                <a:latin typeface="Calibri" panose="020F0502020204030204" pitchFamily="34" charset="0"/>
                <a:cs typeface="Calibri" panose="020F0502020204030204" pitchFamily="34" charset="0"/>
              </a:rPr>
              <a:t>Function:</a:t>
            </a:r>
          </a:p>
          <a:p>
            <a:pPr lvl="1"/>
            <a:r>
              <a:rPr lang="en-US" dirty="0">
                <a:latin typeface="Calibri" panose="020F0502020204030204" pitchFamily="34" charset="0"/>
                <a:cs typeface="Calibri" panose="020F0502020204030204" pitchFamily="34" charset="0"/>
              </a:rPr>
              <a:t>shape and mechanical support for the cell</a:t>
            </a:r>
          </a:p>
          <a:p>
            <a:pPr lvl="1"/>
            <a:r>
              <a:rPr lang="en-US" dirty="0">
                <a:latin typeface="Calibri" panose="020F0502020204030204" pitchFamily="34" charset="0"/>
                <a:cs typeface="Calibri" panose="020F0502020204030204" pitchFamily="34" charset="0"/>
              </a:rPr>
              <a:t>regulation of cellular activities, e.g. guiding secretory vesicles.</a:t>
            </a:r>
          </a:p>
          <a:p>
            <a:pPr lvl="1"/>
            <a:r>
              <a:rPr lang="en-US" dirty="0">
                <a:latin typeface="Calibri" panose="020F0502020204030204" pitchFamily="34" charset="0"/>
                <a:cs typeface="Calibri" panose="020F0502020204030204" pitchFamily="34" charset="0"/>
              </a:rPr>
              <a:t>especially important in animal cells.</a:t>
            </a:r>
          </a:p>
          <a:p>
            <a:pPr lvl="1"/>
            <a:r>
              <a:rPr lang="en-US" dirty="0">
                <a:latin typeface="Calibri" panose="020F0502020204030204" pitchFamily="34" charset="0"/>
                <a:cs typeface="Calibri" panose="020F0502020204030204" pitchFamily="34" charset="0"/>
              </a:rPr>
              <a:t>involved in cell movement (motility).</a:t>
            </a:r>
          </a:p>
          <a:p>
            <a:r>
              <a:rPr lang="en-US" dirty="0">
                <a:latin typeface="Calibri" panose="020F0502020204030204" pitchFamily="34" charset="0"/>
                <a:cs typeface="Calibri" panose="020F0502020204030204" pitchFamily="34" charset="0"/>
              </a:rPr>
              <a:t>Size:</a:t>
            </a:r>
          </a:p>
          <a:p>
            <a:pPr lvl="1"/>
            <a:r>
              <a:rPr lang="en-US" dirty="0">
                <a:latin typeface="Calibri" panose="020F0502020204030204" pitchFamily="34" charset="0"/>
                <a:cs typeface="Calibri" panose="020F0502020204030204" pitchFamily="34" charset="0"/>
              </a:rPr>
              <a:t>microtubules: 25 nm</a:t>
            </a:r>
          </a:p>
          <a:p>
            <a:pPr lvl="1"/>
            <a:r>
              <a:rPr lang="en-US" dirty="0">
                <a:latin typeface="Calibri" panose="020F0502020204030204" pitchFamily="34" charset="0"/>
                <a:cs typeface="Calibri" panose="020F0502020204030204" pitchFamily="34" charset="0"/>
              </a:rPr>
              <a:t>microfilaments (actin filaments): 7 nm</a:t>
            </a:r>
          </a:p>
          <a:p>
            <a:pPr lvl="1"/>
            <a:r>
              <a:rPr lang="en-US" dirty="0">
                <a:latin typeface="Calibri" panose="020F0502020204030204" pitchFamily="34" charset="0"/>
                <a:cs typeface="Calibri" panose="020F0502020204030204" pitchFamily="34" charset="0"/>
              </a:rPr>
              <a:t>intermediate filaments: 8-12 nm</a:t>
            </a:r>
          </a:p>
        </p:txBody>
      </p:sp>
      <p:pic>
        <p:nvPicPr>
          <p:cNvPr id="552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3195" y="3595316"/>
            <a:ext cx="3009305" cy="2986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553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5703" y="901899"/>
            <a:ext cx="2893219" cy="23038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55301" name="Rectangle 5"/>
          <p:cNvSpPr>
            <a:spLocks/>
          </p:cNvSpPr>
          <p:nvPr/>
        </p:nvSpPr>
        <p:spPr bwMode="auto">
          <a:xfrm>
            <a:off x="5697140" y="2768203"/>
            <a:ext cx="1839516" cy="294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88000"/>
              </a:lnSpc>
              <a:tabLst>
                <a:tab pos="366104" algn="l"/>
              </a:tabLst>
            </a:pPr>
            <a:r>
              <a:rPr lang="en-US" sz="1100">
                <a:solidFill>
                  <a:srgbClr val="FFFFFF"/>
                </a:solidFill>
                <a:latin typeface="Arial" charset="0"/>
                <a:cs typeface="Arial" charset="0"/>
                <a:sym typeface="Arial" charset="0"/>
              </a:rPr>
              <a:t>An actin stain reveals the cytoskeleton of a fibroblast</a:t>
            </a:r>
          </a:p>
        </p:txBody>
      </p:sp>
      <p:sp>
        <p:nvSpPr>
          <p:cNvPr id="55302" name="Rectangle 6"/>
          <p:cNvSpPr>
            <a:spLocks/>
          </p:cNvSpPr>
          <p:nvPr/>
        </p:nvSpPr>
        <p:spPr bwMode="auto">
          <a:xfrm rot="-5400000">
            <a:off x="8392079" y="2894729"/>
            <a:ext cx="361959" cy="123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800">
                <a:solidFill>
                  <a:srgbClr val="000000"/>
                </a:solidFill>
                <a:latin typeface="Arial" charset="0"/>
                <a:cs typeface="Arial" charset="0"/>
                <a:sym typeface="Arial" charset="0"/>
              </a:rPr>
              <a:t>iStock</a:t>
            </a:r>
          </a:p>
        </p:txBody>
      </p:sp>
      <p:cxnSp>
        <p:nvCxnSpPr>
          <p:cNvPr id="3" name="Straight Connector 2">
            <a:extLst>
              <a:ext uri="{FF2B5EF4-FFF2-40B4-BE49-F238E27FC236}">
                <a16:creationId xmlns:a16="http://schemas.microsoft.com/office/drawing/2014/main" id="{5CA45D25-2BA5-49F3-8CA1-165FAA8691B2}"/>
              </a:ext>
            </a:extLst>
          </p:cNvPr>
          <p:cNvCxnSpPr/>
          <p:nvPr/>
        </p:nvCxnSpPr>
        <p:spPr>
          <a:xfrm flipH="1">
            <a:off x="2771800" y="5088806"/>
            <a:ext cx="3384376" cy="572442"/>
          </a:xfrm>
          <a:prstGeom prst="line">
            <a:avLst/>
          </a:prstGeom>
        </p:spPr>
        <p:style>
          <a:lnRef idx="2">
            <a:schemeClr val="accent6"/>
          </a:lnRef>
          <a:fillRef idx="0">
            <a:schemeClr val="accent6"/>
          </a:fillRef>
          <a:effectRef idx="1">
            <a:schemeClr val="accent6"/>
          </a:effectRef>
          <a:fontRef idx="minor">
            <a:schemeClr val="tx1"/>
          </a:fontRef>
        </p:style>
      </p:cxnSp>
      <p:cxnSp>
        <p:nvCxnSpPr>
          <p:cNvPr id="5" name="Straight Connector 4">
            <a:extLst>
              <a:ext uri="{FF2B5EF4-FFF2-40B4-BE49-F238E27FC236}">
                <a16:creationId xmlns:a16="http://schemas.microsoft.com/office/drawing/2014/main" id="{DD7F6EDC-2EDB-4472-9941-707326FC2EDF}"/>
              </a:ext>
            </a:extLst>
          </p:cNvPr>
          <p:cNvCxnSpPr>
            <a:cxnSpLocks/>
          </p:cNvCxnSpPr>
          <p:nvPr/>
        </p:nvCxnSpPr>
        <p:spPr>
          <a:xfrm flipH="1">
            <a:off x="3635896" y="6165304"/>
            <a:ext cx="288032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Straight Connector 11">
            <a:extLst>
              <a:ext uri="{FF2B5EF4-FFF2-40B4-BE49-F238E27FC236}">
                <a16:creationId xmlns:a16="http://schemas.microsoft.com/office/drawing/2014/main" id="{370D4796-4239-4E24-9FC2-641AA0599376}"/>
              </a:ext>
            </a:extLst>
          </p:cNvPr>
          <p:cNvCxnSpPr>
            <a:cxnSpLocks/>
          </p:cNvCxnSpPr>
          <p:nvPr/>
        </p:nvCxnSpPr>
        <p:spPr>
          <a:xfrm flipH="1" flipV="1">
            <a:off x="3995936" y="5877272"/>
            <a:ext cx="2827399" cy="216024"/>
          </a:xfrm>
          <a:prstGeom prst="line">
            <a:avLst/>
          </a:prstGeom>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92788575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529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529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529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5298">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5298">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5298">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5298">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5298">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55298">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55298">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5529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build="p" bldLvl="5"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6153" y="934269"/>
            <a:ext cx="5419204" cy="53779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56323" name="Rectangle 3"/>
          <p:cNvSpPr>
            <a:spLocks/>
          </p:cNvSpPr>
          <p:nvPr/>
        </p:nvSpPr>
        <p:spPr bwMode="auto">
          <a:xfrm>
            <a:off x="1076027" y="5789786"/>
            <a:ext cx="1366242"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90000"/>
              </a:lnSpc>
              <a:tabLst>
                <a:tab pos="366104" algn="l"/>
              </a:tabLst>
            </a:pPr>
            <a:r>
              <a:rPr lang="en-US" sz="1400" b="1">
                <a:solidFill>
                  <a:srgbClr val="2D00FA"/>
                </a:solidFill>
                <a:latin typeface="Arial" charset="0"/>
                <a:cs typeface="Arial" charset="0"/>
                <a:sym typeface="Arial" charset="0"/>
              </a:rPr>
              <a:t>Microfilament</a:t>
            </a:r>
          </a:p>
        </p:txBody>
      </p:sp>
      <p:sp>
        <p:nvSpPr>
          <p:cNvPr id="56324" name="Line 4"/>
          <p:cNvSpPr>
            <a:spLocks noChangeShapeType="1"/>
          </p:cNvSpPr>
          <p:nvPr/>
        </p:nvSpPr>
        <p:spPr bwMode="auto">
          <a:xfrm flipH="1">
            <a:off x="2419946" y="5412507"/>
            <a:ext cx="1814959" cy="482203"/>
          </a:xfrm>
          <a:prstGeom prst="line">
            <a:avLst/>
          </a:prstGeom>
          <a:noFill/>
          <a:ln w="381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6325" name="Rectangle 5"/>
          <p:cNvSpPr>
            <a:spLocks/>
          </p:cNvSpPr>
          <p:nvPr/>
        </p:nvSpPr>
        <p:spPr bwMode="auto">
          <a:xfrm>
            <a:off x="341561" y="2723555"/>
            <a:ext cx="1169789" cy="3929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r">
              <a:lnSpc>
                <a:spcPct val="90000"/>
              </a:lnSpc>
              <a:tabLst>
                <a:tab pos="366104" algn="l"/>
              </a:tabLst>
            </a:pPr>
            <a:r>
              <a:rPr lang="en-US" sz="1400" b="1">
                <a:solidFill>
                  <a:srgbClr val="2D00FA"/>
                </a:solidFill>
                <a:latin typeface="Arial" charset="0"/>
                <a:cs typeface="Arial" charset="0"/>
                <a:sym typeface="Arial" charset="0"/>
              </a:rPr>
              <a:t>Intermediate filament</a:t>
            </a:r>
          </a:p>
        </p:txBody>
      </p:sp>
      <p:sp>
        <p:nvSpPr>
          <p:cNvPr id="56326" name="Line 6"/>
          <p:cNvSpPr>
            <a:spLocks noChangeShapeType="1"/>
          </p:cNvSpPr>
          <p:nvPr/>
        </p:nvSpPr>
        <p:spPr bwMode="auto">
          <a:xfrm rot="10800000">
            <a:off x="1542604" y="2955727"/>
            <a:ext cx="763488" cy="285750"/>
          </a:xfrm>
          <a:prstGeom prst="line">
            <a:avLst/>
          </a:prstGeom>
          <a:noFill/>
          <a:ln w="381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6327" name="Rectangle 7"/>
          <p:cNvSpPr>
            <a:spLocks/>
          </p:cNvSpPr>
          <p:nvPr/>
        </p:nvSpPr>
        <p:spPr bwMode="auto">
          <a:xfrm>
            <a:off x="610568" y="4009430"/>
            <a:ext cx="1205508" cy="232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90000"/>
              </a:lnSpc>
              <a:tabLst>
                <a:tab pos="366104" algn="l"/>
              </a:tabLst>
            </a:pPr>
            <a:r>
              <a:rPr lang="en-US" sz="1400" b="1">
                <a:solidFill>
                  <a:srgbClr val="2D00FA"/>
                </a:solidFill>
                <a:latin typeface="Arial" charset="0"/>
                <a:cs typeface="Arial" charset="0"/>
                <a:sym typeface="Arial" charset="0"/>
              </a:rPr>
              <a:t>Microtubule</a:t>
            </a:r>
          </a:p>
        </p:txBody>
      </p:sp>
      <p:sp>
        <p:nvSpPr>
          <p:cNvPr id="56328" name="Line 8"/>
          <p:cNvSpPr>
            <a:spLocks noChangeShapeType="1"/>
          </p:cNvSpPr>
          <p:nvPr/>
        </p:nvSpPr>
        <p:spPr bwMode="auto">
          <a:xfrm flipH="1">
            <a:off x="1818308" y="3633267"/>
            <a:ext cx="933152" cy="466576"/>
          </a:xfrm>
          <a:prstGeom prst="line">
            <a:avLst/>
          </a:prstGeom>
          <a:noFill/>
          <a:ln w="381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6329" name="Rectangle 9"/>
          <p:cNvSpPr>
            <a:spLocks/>
          </p:cNvSpPr>
          <p:nvPr/>
        </p:nvSpPr>
        <p:spPr bwMode="auto">
          <a:xfrm>
            <a:off x="266775" y="1302618"/>
            <a:ext cx="1053703" cy="3839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r">
              <a:lnSpc>
                <a:spcPct val="90000"/>
              </a:lnSpc>
              <a:tabLst>
                <a:tab pos="366104" algn="l"/>
              </a:tabLst>
            </a:pPr>
            <a:r>
              <a:rPr lang="en-US" sz="1400" b="1">
                <a:solidFill>
                  <a:srgbClr val="2D00FA"/>
                </a:solidFill>
                <a:latin typeface="Arial" charset="0"/>
                <a:cs typeface="Arial" charset="0"/>
                <a:sym typeface="Arial" charset="0"/>
              </a:rPr>
              <a:t>Plasma membrane</a:t>
            </a:r>
          </a:p>
        </p:txBody>
      </p:sp>
      <p:sp>
        <p:nvSpPr>
          <p:cNvPr id="56330" name="Line 10"/>
          <p:cNvSpPr>
            <a:spLocks noChangeShapeType="1"/>
          </p:cNvSpPr>
          <p:nvPr/>
        </p:nvSpPr>
        <p:spPr bwMode="auto">
          <a:xfrm rot="10800000">
            <a:off x="1376289" y="1499072"/>
            <a:ext cx="756791" cy="0"/>
          </a:xfrm>
          <a:prstGeom prst="line">
            <a:avLst/>
          </a:prstGeom>
          <a:noFill/>
          <a:ln w="381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6331" name="Rectangle 11"/>
          <p:cNvSpPr>
            <a:spLocks/>
          </p:cNvSpPr>
          <p:nvPr/>
        </p:nvSpPr>
        <p:spPr bwMode="auto">
          <a:xfrm>
            <a:off x="7373689" y="2809503"/>
            <a:ext cx="1500188" cy="607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90000"/>
              </a:lnSpc>
              <a:tabLst>
                <a:tab pos="366104" algn="l"/>
              </a:tabLst>
            </a:pPr>
            <a:r>
              <a:rPr lang="en-US" sz="1400" b="1">
                <a:solidFill>
                  <a:srgbClr val="2D00FA"/>
                </a:solidFill>
                <a:latin typeface="Arial" charset="0"/>
                <a:cs typeface="Arial" charset="0"/>
                <a:sym typeface="Arial" charset="0"/>
              </a:rPr>
              <a:t>An organelle held in place by cytoskeleton</a:t>
            </a:r>
          </a:p>
        </p:txBody>
      </p:sp>
      <p:sp>
        <p:nvSpPr>
          <p:cNvPr id="56332" name="Line 12"/>
          <p:cNvSpPr>
            <a:spLocks noChangeShapeType="1"/>
          </p:cNvSpPr>
          <p:nvPr/>
        </p:nvSpPr>
        <p:spPr bwMode="auto">
          <a:xfrm rot="10800000" flipH="1">
            <a:off x="6190506" y="3123158"/>
            <a:ext cx="1197695" cy="409650"/>
          </a:xfrm>
          <a:prstGeom prst="line">
            <a:avLst/>
          </a:prstGeom>
          <a:noFill/>
          <a:ln w="381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13" name="Rectangle 1">
            <a:extLst>
              <a:ext uri="{FF2B5EF4-FFF2-40B4-BE49-F238E27FC236}">
                <a16:creationId xmlns:a16="http://schemas.microsoft.com/office/drawing/2014/main" id="{7413D749-14EE-4170-954B-47804C810187}"/>
              </a:ext>
            </a:extLst>
          </p:cNvPr>
          <p:cNvSpPr>
            <a:spLocks noGrp="1" noChangeArrowheads="1"/>
          </p:cNvSpPr>
          <p:nvPr>
            <p:ph type="title"/>
          </p:nvPr>
        </p:nvSpPr>
        <p:spPr>
          <a:xfrm>
            <a:off x="178731" y="87640"/>
            <a:ext cx="7290054" cy="582668"/>
          </a:xfrm>
        </p:spPr>
        <p:txBody>
          <a:bodyPr>
            <a:normAutofit fontScale="90000"/>
          </a:bodyPr>
          <a:lstStyle/>
          <a:p>
            <a:r>
              <a:rPr lang="en-US" dirty="0">
                <a:solidFill>
                  <a:srgbClr val="0070C0"/>
                </a:solidFill>
              </a:rPr>
              <a:t>The Cell Cytoskeleton</a:t>
            </a:r>
          </a:p>
        </p:txBody>
      </p:sp>
    </p:spTree>
    <p:extLst>
      <p:ext uri="{BB962C8B-B14F-4D97-AF65-F5344CB8AC3E}">
        <p14:creationId xmlns:p14="http://schemas.microsoft.com/office/powerpoint/2010/main" val="2971292166"/>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768096" y="585216"/>
            <a:ext cx="7290054" cy="1107412"/>
          </a:xfrm>
        </p:spPr>
        <p:txBody>
          <a:bodyPr/>
          <a:lstStyle/>
          <a:p>
            <a:r>
              <a:rPr lang="en-US" dirty="0">
                <a:solidFill>
                  <a:srgbClr val="0070C0"/>
                </a:solidFill>
              </a:rPr>
              <a:t>Specialist Plant Cell Features</a:t>
            </a:r>
          </a:p>
        </p:txBody>
      </p:sp>
      <p:sp>
        <p:nvSpPr>
          <p:cNvPr id="57345" name="Rectangle 1"/>
          <p:cNvSpPr>
            <a:spLocks noGrp="1" noChangeArrowheads="1"/>
          </p:cNvSpPr>
          <p:nvPr>
            <p:ph idx="1"/>
          </p:nvPr>
        </p:nvSpPr>
        <p:spPr>
          <a:xfrm>
            <a:off x="632926" y="2249424"/>
            <a:ext cx="4668000" cy="4023360"/>
          </a:xfrm>
        </p:spPr>
        <p:txBody>
          <a:bodyPr/>
          <a:lstStyle/>
          <a:p>
            <a:r>
              <a:rPr lang="en-US" sz="2200" dirty="0">
                <a:latin typeface="Calibri" panose="020F0502020204030204" pitchFamily="34" charset="0"/>
                <a:cs typeface="Calibri" panose="020F0502020204030204" pitchFamily="34" charset="0"/>
              </a:rPr>
              <a:t>A small number of cellular organelles are typically found in plant cells but not in animal cells.</a:t>
            </a:r>
          </a:p>
          <a:p>
            <a:r>
              <a:rPr lang="en-US" sz="2200" dirty="0">
                <a:latin typeface="Calibri" panose="020F0502020204030204" pitchFamily="34" charset="0"/>
                <a:cs typeface="Calibri" panose="020F0502020204030204" pitchFamily="34" charset="0"/>
              </a:rPr>
              <a:t>Organelles and structures found in plant cells are:</a:t>
            </a:r>
          </a:p>
          <a:p>
            <a:pPr lvl="1"/>
            <a:r>
              <a:rPr lang="en-US" sz="2000" dirty="0">
                <a:latin typeface="Calibri" panose="020F0502020204030204" pitchFamily="34" charset="0"/>
                <a:cs typeface="Calibri" panose="020F0502020204030204" pitchFamily="34" charset="0"/>
              </a:rPr>
              <a:t>cellulose cell wall</a:t>
            </a:r>
          </a:p>
          <a:p>
            <a:pPr lvl="1"/>
            <a:r>
              <a:rPr lang="en-US" sz="2000" dirty="0">
                <a:latin typeface="Calibri" panose="020F0502020204030204" pitchFamily="34" charset="0"/>
                <a:cs typeface="Calibri" panose="020F0502020204030204" pitchFamily="34" charset="0"/>
              </a:rPr>
              <a:t>plastids</a:t>
            </a:r>
          </a:p>
          <a:p>
            <a:pPr lvl="2"/>
            <a:r>
              <a:rPr lang="en-US" sz="1800" dirty="0">
                <a:latin typeface="Calibri" panose="020F0502020204030204" pitchFamily="34" charset="0"/>
                <a:cs typeface="Calibri" panose="020F0502020204030204" pitchFamily="34" charset="0"/>
              </a:rPr>
              <a:t>chloroplasts</a:t>
            </a:r>
          </a:p>
          <a:p>
            <a:pPr lvl="2"/>
            <a:r>
              <a:rPr lang="en-US" sz="1800" dirty="0" err="1">
                <a:latin typeface="Calibri" panose="020F0502020204030204" pitchFamily="34" charset="0"/>
                <a:cs typeface="Calibri" panose="020F0502020204030204" pitchFamily="34" charset="0"/>
              </a:rPr>
              <a:t>amyloplasts</a:t>
            </a:r>
            <a:endParaRPr lang="en-US" sz="1800" dirty="0">
              <a:latin typeface="Calibri" panose="020F0502020204030204" pitchFamily="34" charset="0"/>
              <a:cs typeface="Calibri" panose="020F0502020204030204" pitchFamily="34" charset="0"/>
            </a:endParaRPr>
          </a:p>
          <a:p>
            <a:pPr lvl="2"/>
            <a:r>
              <a:rPr lang="en-US" sz="1800" dirty="0" err="1">
                <a:latin typeface="Calibri" panose="020F0502020204030204" pitchFamily="34" charset="0"/>
                <a:cs typeface="Calibri" panose="020F0502020204030204" pitchFamily="34" charset="0"/>
              </a:rPr>
              <a:t>chromoplasts</a:t>
            </a:r>
            <a:endParaRPr lang="en-US" sz="1800" dirty="0">
              <a:latin typeface="Calibri" panose="020F0502020204030204" pitchFamily="34" charset="0"/>
              <a:cs typeface="Calibri" panose="020F0502020204030204" pitchFamily="34" charset="0"/>
            </a:endParaRPr>
          </a:p>
        </p:txBody>
      </p:sp>
      <p:pic>
        <p:nvPicPr>
          <p:cNvPr id="573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926" y="1869511"/>
            <a:ext cx="3826314" cy="3826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57348" name="Rectangle 4"/>
          <p:cNvSpPr>
            <a:spLocks/>
          </p:cNvSpPr>
          <p:nvPr/>
        </p:nvSpPr>
        <p:spPr bwMode="auto">
          <a:xfrm>
            <a:off x="4644008" y="5301208"/>
            <a:ext cx="2187773"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90000"/>
              </a:lnSpc>
              <a:tabLst>
                <a:tab pos="366104" algn="l"/>
              </a:tabLst>
            </a:pPr>
            <a:r>
              <a:rPr lang="en-US" sz="1400" dirty="0">
                <a:solidFill>
                  <a:srgbClr val="2D00FA"/>
                </a:solidFill>
                <a:latin typeface="Arial" charset="0"/>
                <a:cs typeface="Arial" charset="0"/>
                <a:sym typeface="Arial" charset="0"/>
              </a:rPr>
              <a:t>Cross section through a buttercup stem showing the individual cells</a:t>
            </a:r>
          </a:p>
        </p:txBody>
      </p:sp>
      <p:sp>
        <p:nvSpPr>
          <p:cNvPr id="57349" name="Rectangle 5"/>
          <p:cNvSpPr>
            <a:spLocks/>
          </p:cNvSpPr>
          <p:nvPr/>
        </p:nvSpPr>
        <p:spPr bwMode="auto">
          <a:xfrm rot="-5400000">
            <a:off x="8677829" y="4153815"/>
            <a:ext cx="361959" cy="123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800">
                <a:solidFill>
                  <a:srgbClr val="000000"/>
                </a:solidFill>
                <a:latin typeface="Arial" charset="0"/>
                <a:cs typeface="Arial" charset="0"/>
                <a:sym typeface="Arial" charset="0"/>
              </a:rPr>
              <a:t>iStock</a:t>
            </a:r>
          </a:p>
        </p:txBody>
      </p:sp>
    </p:spTree>
    <p:extLst>
      <p:ext uri="{BB962C8B-B14F-4D97-AF65-F5344CB8AC3E}">
        <p14:creationId xmlns:p14="http://schemas.microsoft.com/office/powerpoint/2010/main" val="339138402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34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734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734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734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734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734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734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5" grpId="0" build="p" bldLvl="5"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1"/>
          <p:cNvSpPr>
            <a:spLocks noGrp="1" noChangeArrowheads="1"/>
          </p:cNvSpPr>
          <p:nvPr>
            <p:ph type="title"/>
          </p:nvPr>
        </p:nvSpPr>
        <p:spPr>
          <a:xfrm>
            <a:off x="768096" y="585216"/>
            <a:ext cx="7290054" cy="1185093"/>
          </a:xfrm>
        </p:spPr>
        <p:txBody>
          <a:bodyPr/>
          <a:lstStyle/>
          <a:p>
            <a:r>
              <a:rPr lang="en-US" dirty="0">
                <a:solidFill>
                  <a:srgbClr val="0070C0"/>
                </a:solidFill>
              </a:rPr>
              <a:t>Cellulose Cell Wall</a:t>
            </a:r>
          </a:p>
        </p:txBody>
      </p:sp>
      <p:sp>
        <p:nvSpPr>
          <p:cNvPr id="59394" name="Rectangle 2"/>
          <p:cNvSpPr>
            <a:spLocks noGrp="1" noChangeArrowheads="1"/>
          </p:cNvSpPr>
          <p:nvPr>
            <p:ph idx="1"/>
          </p:nvPr>
        </p:nvSpPr>
        <p:spPr>
          <a:xfrm>
            <a:off x="768096" y="1988840"/>
            <a:ext cx="4143233" cy="4536504"/>
          </a:xfrm>
        </p:spPr>
        <p:txBody>
          <a:bodyPr/>
          <a:lstStyle/>
          <a:p>
            <a:r>
              <a:rPr lang="en-US" dirty="0">
                <a:latin typeface="Calibri" panose="020F0502020204030204" pitchFamily="34" charset="0"/>
                <a:cs typeface="Calibri" panose="020F0502020204030204" pitchFamily="34" charset="0"/>
              </a:rPr>
              <a:t>Location:</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Surrounds the plant cell and lies outside the plasma membrane.</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Cellulose fibers.  Between the walls of adjacent cells, is a sticky substance called the middle lamella.</a:t>
            </a:r>
          </a:p>
          <a:p>
            <a:r>
              <a:rPr lang="en-US" dirty="0">
                <a:latin typeface="Calibri" panose="020F0502020204030204" pitchFamily="34" charset="0"/>
                <a:cs typeface="Calibri" panose="020F0502020204030204" pitchFamily="34" charset="0"/>
              </a:rPr>
              <a:t>Function:</a:t>
            </a:r>
          </a:p>
          <a:p>
            <a:pPr lvl="1"/>
            <a:r>
              <a:rPr lang="en-US" sz="1800" dirty="0">
                <a:latin typeface="Calibri" panose="020F0502020204030204" pitchFamily="34" charset="0"/>
                <a:cs typeface="Calibri" panose="020F0502020204030204" pitchFamily="34" charset="0"/>
              </a:rPr>
              <a:t>protects the cell</a:t>
            </a:r>
          </a:p>
          <a:p>
            <a:pPr lvl="1"/>
            <a:r>
              <a:rPr lang="en-US" sz="1800" dirty="0">
                <a:latin typeface="Calibri" panose="020F0502020204030204" pitchFamily="34" charset="0"/>
                <a:cs typeface="Calibri" panose="020F0502020204030204" pitchFamily="34" charset="0"/>
              </a:rPr>
              <a:t>maintains cell shape</a:t>
            </a:r>
          </a:p>
          <a:p>
            <a:pPr lvl="1"/>
            <a:r>
              <a:rPr lang="en-US" sz="1800" dirty="0">
                <a:latin typeface="Calibri" panose="020F0502020204030204" pitchFamily="34" charset="0"/>
                <a:cs typeface="Calibri" panose="020F0502020204030204" pitchFamily="34" charset="0"/>
              </a:rPr>
              <a:t>prevents excessive water uptake</a:t>
            </a:r>
          </a:p>
          <a:p>
            <a:r>
              <a:rPr lang="en-US" dirty="0">
                <a:latin typeface="Calibri" panose="020F0502020204030204" pitchFamily="34" charset="0"/>
                <a:cs typeface="Calibri" panose="020F0502020204030204" pitchFamily="34" charset="0"/>
              </a:rPr>
              <a:t>Size: 0.1 µm to several µm thick.</a:t>
            </a:r>
          </a:p>
        </p:txBody>
      </p:sp>
      <p:pic>
        <p:nvPicPr>
          <p:cNvPr id="593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9219" y="1857375"/>
            <a:ext cx="3482578" cy="31465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59396" name="Rectangle 4"/>
          <p:cNvSpPr>
            <a:spLocks/>
          </p:cNvSpPr>
          <p:nvPr/>
        </p:nvSpPr>
        <p:spPr bwMode="auto">
          <a:xfrm>
            <a:off x="6554391" y="1241226"/>
            <a:ext cx="1223367" cy="1785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106000"/>
              </a:lnSpc>
              <a:tabLst>
                <a:tab pos="366104" algn="l"/>
              </a:tabLst>
            </a:pPr>
            <a:r>
              <a:rPr lang="en-US" sz="1300">
                <a:solidFill>
                  <a:srgbClr val="2D00FA"/>
                </a:solidFill>
                <a:latin typeface="Arial" charset="0"/>
                <a:cs typeface="Arial" charset="0"/>
                <a:sym typeface="Arial" charset="0"/>
              </a:rPr>
              <a:t>Middle lamella</a:t>
            </a:r>
          </a:p>
        </p:txBody>
      </p:sp>
      <p:sp>
        <p:nvSpPr>
          <p:cNvPr id="59397" name="Rectangle 5"/>
          <p:cNvSpPr>
            <a:spLocks/>
          </p:cNvSpPr>
          <p:nvPr/>
        </p:nvSpPr>
        <p:spPr bwMode="auto">
          <a:xfrm>
            <a:off x="7643812" y="5464969"/>
            <a:ext cx="1241227" cy="1785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106000"/>
              </a:lnSpc>
              <a:tabLst>
                <a:tab pos="366104" algn="l"/>
              </a:tabLst>
            </a:pPr>
            <a:r>
              <a:rPr lang="en-US" sz="1300">
                <a:solidFill>
                  <a:srgbClr val="2D00FA"/>
                </a:solidFill>
                <a:latin typeface="Arial" charset="0"/>
                <a:cs typeface="Arial" charset="0"/>
                <a:sym typeface="Arial" charset="0"/>
              </a:rPr>
              <a:t>Cellulose fibers</a:t>
            </a:r>
          </a:p>
        </p:txBody>
      </p:sp>
      <p:sp>
        <p:nvSpPr>
          <p:cNvPr id="59398" name="Line 6"/>
          <p:cNvSpPr>
            <a:spLocks noChangeShapeType="1"/>
          </p:cNvSpPr>
          <p:nvPr/>
        </p:nvSpPr>
        <p:spPr bwMode="auto">
          <a:xfrm rot="10800000" flipH="1">
            <a:off x="7170539" y="1494607"/>
            <a:ext cx="0" cy="684237"/>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9399" name="Line 7"/>
          <p:cNvSpPr>
            <a:spLocks noChangeShapeType="1"/>
          </p:cNvSpPr>
          <p:nvPr/>
        </p:nvSpPr>
        <p:spPr bwMode="auto">
          <a:xfrm>
            <a:off x="7774410" y="4115470"/>
            <a:ext cx="324817" cy="1289223"/>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9400" name="Rectangle 8"/>
          <p:cNvSpPr>
            <a:spLocks/>
          </p:cNvSpPr>
          <p:nvPr/>
        </p:nvSpPr>
        <p:spPr bwMode="auto">
          <a:xfrm>
            <a:off x="6161484" y="5188148"/>
            <a:ext cx="1241227" cy="1785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106000"/>
              </a:lnSpc>
              <a:tabLst>
                <a:tab pos="366104" algn="l"/>
              </a:tabLst>
            </a:pPr>
            <a:r>
              <a:rPr lang="en-US" sz="1300" dirty="0">
                <a:solidFill>
                  <a:srgbClr val="2D00FA"/>
                </a:solidFill>
                <a:latin typeface="Arial" charset="0"/>
                <a:cs typeface="Arial" charset="0"/>
                <a:sym typeface="Arial" charset="0"/>
              </a:rPr>
              <a:t>Hemicelluloses</a:t>
            </a:r>
          </a:p>
        </p:txBody>
      </p:sp>
      <p:sp>
        <p:nvSpPr>
          <p:cNvPr id="59401" name="Line 9"/>
          <p:cNvSpPr>
            <a:spLocks noChangeShapeType="1"/>
          </p:cNvSpPr>
          <p:nvPr/>
        </p:nvSpPr>
        <p:spPr bwMode="auto">
          <a:xfrm>
            <a:off x="6652617" y="3199060"/>
            <a:ext cx="0" cy="1928813"/>
          </a:xfrm>
          <a:prstGeom prst="line">
            <a:avLst/>
          </a:prstGeom>
          <a:noFill/>
          <a:ln w="25400">
            <a:solidFill>
              <a:srgbClr val="FF0017"/>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9402" name="Rectangle 10"/>
          <p:cNvSpPr>
            <a:spLocks/>
          </p:cNvSpPr>
          <p:nvPr/>
        </p:nvSpPr>
        <p:spPr bwMode="auto">
          <a:xfrm>
            <a:off x="5179219" y="5188147"/>
            <a:ext cx="714375" cy="216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106000"/>
              </a:lnSpc>
              <a:tabLst>
                <a:tab pos="366104" algn="l"/>
              </a:tabLst>
            </a:pPr>
            <a:r>
              <a:rPr lang="en-US" sz="1300" dirty="0" err="1">
                <a:solidFill>
                  <a:srgbClr val="2D00FA"/>
                </a:solidFill>
                <a:latin typeface="Arial" charset="0"/>
                <a:cs typeface="Arial" charset="0"/>
                <a:sym typeface="Arial" charset="0"/>
              </a:rPr>
              <a:t>Pectins</a:t>
            </a:r>
            <a:endParaRPr lang="en-US" sz="1300" dirty="0">
              <a:solidFill>
                <a:srgbClr val="2D00FA"/>
              </a:solidFill>
              <a:latin typeface="Arial" charset="0"/>
              <a:cs typeface="Arial" charset="0"/>
              <a:sym typeface="Arial" charset="0"/>
            </a:endParaRPr>
          </a:p>
        </p:txBody>
      </p:sp>
      <p:sp>
        <p:nvSpPr>
          <p:cNvPr id="59403" name="Line 11"/>
          <p:cNvSpPr>
            <a:spLocks noChangeShapeType="1"/>
          </p:cNvSpPr>
          <p:nvPr/>
        </p:nvSpPr>
        <p:spPr bwMode="auto">
          <a:xfrm>
            <a:off x="5589984" y="3225850"/>
            <a:ext cx="0" cy="1902023"/>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9404" name="Rectangle 12"/>
          <p:cNvSpPr>
            <a:spLocks/>
          </p:cNvSpPr>
          <p:nvPr/>
        </p:nvSpPr>
        <p:spPr bwMode="auto">
          <a:xfrm>
            <a:off x="5554266" y="5920383"/>
            <a:ext cx="2884289" cy="464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lnSpc>
                <a:spcPct val="105000"/>
              </a:lnSpc>
              <a:tabLst>
                <a:tab pos="366104" algn="l"/>
              </a:tabLst>
            </a:pPr>
            <a:r>
              <a:rPr lang="en-US" sz="1500" b="1">
                <a:solidFill>
                  <a:srgbClr val="2D00FA"/>
                </a:solidFill>
                <a:latin typeface="Arial" charset="0"/>
                <a:cs typeface="Arial" charset="0"/>
                <a:sym typeface="Arial" charset="0"/>
              </a:rPr>
              <a:t>Diagrammatic representation of plant cell wall structure</a:t>
            </a:r>
          </a:p>
        </p:txBody>
      </p:sp>
    </p:spTree>
    <p:extLst>
      <p:ext uri="{BB962C8B-B14F-4D97-AF65-F5344CB8AC3E}">
        <p14:creationId xmlns:p14="http://schemas.microsoft.com/office/powerpoint/2010/main" val="239337838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939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939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939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9394">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9394">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9394">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939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build="p" bldLvl="5"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1"/>
          <p:cNvSpPr>
            <a:spLocks noGrp="1" noChangeArrowheads="1"/>
          </p:cNvSpPr>
          <p:nvPr>
            <p:ph type="title"/>
          </p:nvPr>
        </p:nvSpPr>
        <p:spPr>
          <a:xfrm>
            <a:off x="768096" y="585216"/>
            <a:ext cx="7290054" cy="1022981"/>
          </a:xfrm>
        </p:spPr>
        <p:txBody>
          <a:bodyPr/>
          <a:lstStyle/>
          <a:p>
            <a:r>
              <a:rPr lang="en-US" dirty="0">
                <a:solidFill>
                  <a:srgbClr val="0070C0"/>
                </a:solidFill>
              </a:rPr>
              <a:t>Plastids</a:t>
            </a:r>
          </a:p>
        </p:txBody>
      </p:sp>
      <p:sp>
        <p:nvSpPr>
          <p:cNvPr id="60418" name="Rectangle 2"/>
          <p:cNvSpPr>
            <a:spLocks noGrp="1" noChangeArrowheads="1"/>
          </p:cNvSpPr>
          <p:nvPr>
            <p:ph idx="1"/>
          </p:nvPr>
        </p:nvSpPr>
        <p:spPr>
          <a:xfrm>
            <a:off x="492611" y="1598866"/>
            <a:ext cx="5172056" cy="4874756"/>
          </a:xfrm>
        </p:spPr>
        <p:txBody>
          <a:bodyPr>
            <a:normAutofit/>
          </a:bodyPr>
          <a:lstStyle/>
          <a:p>
            <a:r>
              <a:rPr lang="en-US" dirty="0">
                <a:latin typeface="Calibri" panose="020F0502020204030204" pitchFamily="34" charset="0"/>
                <a:cs typeface="Calibri" panose="020F0502020204030204" pitchFamily="34" charset="0"/>
              </a:rPr>
              <a:t>Located:</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In the cytoplasm.</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Double membrane-bound structures.</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The inner membranes typically possess the enzymes that determine what plastids do.</a:t>
            </a:r>
          </a:p>
          <a:p>
            <a:r>
              <a:rPr lang="en-US" dirty="0">
                <a:latin typeface="Calibri" panose="020F0502020204030204" pitchFamily="34" charset="0"/>
                <a:cs typeface="Calibri" panose="020F0502020204030204" pitchFamily="34" charset="0"/>
              </a:rPr>
              <a:t>Function:</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Different plastids have particular roles:</a:t>
            </a:r>
          </a:p>
          <a:p>
            <a:pPr lvl="1"/>
            <a:r>
              <a:rPr lang="en-US" dirty="0">
                <a:latin typeface="Calibri" panose="020F0502020204030204" pitchFamily="34" charset="0"/>
                <a:cs typeface="Calibri" panose="020F0502020204030204" pitchFamily="34" charset="0"/>
              </a:rPr>
              <a:t>Chloroplasts; site of photosynthesis</a:t>
            </a:r>
          </a:p>
          <a:p>
            <a:pPr lvl="1"/>
            <a:r>
              <a:rPr lang="en-US" dirty="0" err="1">
                <a:latin typeface="Calibri" panose="020F0502020204030204" pitchFamily="34" charset="0"/>
                <a:cs typeface="Calibri" panose="020F0502020204030204" pitchFamily="34" charset="0"/>
              </a:rPr>
              <a:t>Chromoplasts</a:t>
            </a:r>
            <a:r>
              <a:rPr lang="en-US" dirty="0">
                <a:latin typeface="Calibri" panose="020F0502020204030204" pitchFamily="34" charset="0"/>
                <a:cs typeface="Calibri" panose="020F0502020204030204" pitchFamily="34" charset="0"/>
              </a:rPr>
              <a:t>: contain red, orange,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and/or yellow pigments and give color to plant organs such as flowers and fruits. They serve as attractants and identifiers.</a:t>
            </a:r>
          </a:p>
          <a:p>
            <a:pPr lvl="1"/>
            <a:r>
              <a:rPr lang="en-US" dirty="0" err="1">
                <a:latin typeface="Calibri" panose="020F0502020204030204" pitchFamily="34" charset="0"/>
                <a:cs typeface="Calibri" panose="020F0502020204030204" pitchFamily="34" charset="0"/>
              </a:rPr>
              <a:t>Amyloplasts</a:t>
            </a:r>
            <a:r>
              <a:rPr lang="en-US" dirty="0">
                <a:latin typeface="Calibri" panose="020F0502020204030204" pitchFamily="34" charset="0"/>
                <a:cs typeface="Calibri" panose="020F0502020204030204" pitchFamily="34" charset="0"/>
              </a:rPr>
              <a:t>: storage of starch and fats.</a:t>
            </a:r>
          </a:p>
          <a:p>
            <a:r>
              <a:rPr lang="en-US" dirty="0">
                <a:latin typeface="Calibri" panose="020F0502020204030204" pitchFamily="34" charset="0"/>
                <a:cs typeface="Calibri" panose="020F0502020204030204" pitchFamily="34" charset="0"/>
              </a:rPr>
              <a:t>Size: variable depending on type</a:t>
            </a:r>
          </a:p>
        </p:txBody>
      </p:sp>
      <p:pic>
        <p:nvPicPr>
          <p:cNvPr id="604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1422" y="687586"/>
            <a:ext cx="3196828" cy="31968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60420" name="Rectangle 4"/>
          <p:cNvSpPr>
            <a:spLocks/>
          </p:cNvSpPr>
          <p:nvPr/>
        </p:nvSpPr>
        <p:spPr bwMode="auto">
          <a:xfrm>
            <a:off x="6364635" y="6143625"/>
            <a:ext cx="2330648" cy="3750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106000"/>
              </a:lnSpc>
              <a:tabLst>
                <a:tab pos="366104" algn="l"/>
              </a:tabLst>
            </a:pPr>
            <a:r>
              <a:rPr lang="en-US" sz="1300" b="1">
                <a:solidFill>
                  <a:srgbClr val="2D00FA"/>
                </a:solidFill>
                <a:latin typeface="Arial" charset="0"/>
                <a:cs typeface="Arial" charset="0"/>
                <a:sym typeface="Arial" charset="0"/>
              </a:rPr>
              <a:t>Chromoplasts</a:t>
            </a:r>
            <a:r>
              <a:rPr lang="en-US" sz="1300">
                <a:solidFill>
                  <a:srgbClr val="2D00FA"/>
                </a:solidFill>
                <a:latin typeface="Arial" charset="0"/>
                <a:cs typeface="Arial" charset="0"/>
                <a:sym typeface="Arial" charset="0"/>
              </a:rPr>
              <a:t> provide the bright color of flowers and fruit</a:t>
            </a:r>
          </a:p>
        </p:txBody>
      </p:sp>
      <p:sp>
        <p:nvSpPr>
          <p:cNvPr id="60421" name="Rectangle 5"/>
          <p:cNvSpPr>
            <a:spLocks/>
          </p:cNvSpPr>
          <p:nvPr/>
        </p:nvSpPr>
        <p:spPr bwMode="auto">
          <a:xfrm>
            <a:off x="7812360" y="260648"/>
            <a:ext cx="1196578"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106000"/>
              </a:lnSpc>
              <a:tabLst>
                <a:tab pos="366104" algn="l"/>
              </a:tabLst>
            </a:pPr>
            <a:r>
              <a:rPr lang="en-US" sz="1300" dirty="0">
                <a:solidFill>
                  <a:srgbClr val="2D00FA"/>
                </a:solidFill>
                <a:latin typeface="Arial" charset="0"/>
                <a:cs typeface="Arial" charset="0"/>
                <a:sym typeface="Arial" charset="0"/>
              </a:rPr>
              <a:t>Colorless </a:t>
            </a:r>
            <a:r>
              <a:rPr lang="en-US" sz="1300" b="1" dirty="0" err="1">
                <a:solidFill>
                  <a:srgbClr val="2D00FA"/>
                </a:solidFill>
                <a:latin typeface="Arial" charset="0"/>
                <a:cs typeface="Arial" charset="0"/>
                <a:sym typeface="Arial" charset="0"/>
              </a:rPr>
              <a:t>amyloplasts</a:t>
            </a:r>
            <a:r>
              <a:rPr lang="en-US" sz="1300" dirty="0">
                <a:solidFill>
                  <a:srgbClr val="2D00FA"/>
                </a:solidFill>
                <a:latin typeface="Arial" charset="0"/>
                <a:cs typeface="Arial" charset="0"/>
                <a:sym typeface="Arial" charset="0"/>
              </a:rPr>
              <a:t> in potato tubers</a:t>
            </a:r>
          </a:p>
        </p:txBody>
      </p:sp>
      <p:pic>
        <p:nvPicPr>
          <p:cNvPr id="6042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1758" y="3143250"/>
            <a:ext cx="3320728" cy="28139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Tree>
    <p:extLst>
      <p:ext uri="{BB962C8B-B14F-4D97-AF65-F5344CB8AC3E}">
        <p14:creationId xmlns:p14="http://schemas.microsoft.com/office/powerpoint/2010/main" val="170786954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041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041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041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0418">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0418">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0418">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604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build="p" bldLvl="5"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1"/>
          <p:cNvSpPr>
            <a:spLocks noGrp="1" noChangeArrowheads="1"/>
          </p:cNvSpPr>
          <p:nvPr>
            <p:ph type="title"/>
          </p:nvPr>
        </p:nvSpPr>
        <p:spPr>
          <a:xfrm>
            <a:off x="768096" y="585216"/>
            <a:ext cx="7290054" cy="1045569"/>
          </a:xfrm>
        </p:spPr>
        <p:txBody>
          <a:bodyPr/>
          <a:lstStyle/>
          <a:p>
            <a:r>
              <a:rPr lang="en-US" dirty="0">
                <a:solidFill>
                  <a:srgbClr val="0070C0"/>
                </a:solidFill>
              </a:rPr>
              <a:t>Chloroplasts</a:t>
            </a:r>
          </a:p>
        </p:txBody>
      </p:sp>
      <p:sp>
        <p:nvSpPr>
          <p:cNvPr id="58370" name="Rectangle 2"/>
          <p:cNvSpPr>
            <a:spLocks noGrp="1" noChangeArrowheads="1"/>
          </p:cNvSpPr>
          <p:nvPr>
            <p:ph idx="1"/>
          </p:nvPr>
        </p:nvSpPr>
        <p:spPr>
          <a:xfrm>
            <a:off x="768097" y="1785938"/>
            <a:ext cx="4053934" cy="4667398"/>
          </a:xfrm>
        </p:spPr>
        <p:txBody>
          <a:bodyPr>
            <a:normAutofit/>
          </a:bodyPr>
          <a:lstStyle/>
          <a:p>
            <a:r>
              <a:rPr lang="en-US" dirty="0">
                <a:latin typeface="Calibri" panose="020F0502020204030204" pitchFamily="34" charset="0"/>
                <a:cs typeface="Calibri" panose="020F0502020204030204" pitchFamily="34" charset="0"/>
              </a:rPr>
              <a:t>Located:</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Within the cytoplasm of plant leaf (and sometimes stem) cells.</a:t>
            </a:r>
          </a:p>
          <a:p>
            <a:r>
              <a:rPr lang="en-US" dirty="0">
                <a:latin typeface="Calibri" panose="020F0502020204030204" pitchFamily="34" charset="0"/>
                <a:cs typeface="Calibri" panose="020F0502020204030204" pitchFamily="34" charset="0"/>
              </a:rPr>
              <a:t>Structure:</a:t>
            </a:r>
          </a:p>
          <a:p>
            <a:pPr lvl="1"/>
            <a:r>
              <a:rPr lang="en-US" dirty="0">
                <a:latin typeface="Calibri" panose="020F0502020204030204" pitchFamily="34" charset="0"/>
                <a:cs typeface="Calibri" panose="020F0502020204030204" pitchFamily="34" charset="0"/>
              </a:rPr>
              <a:t>Specialized plastids containing the green pigment chlorophyll.</a:t>
            </a:r>
          </a:p>
          <a:p>
            <a:pPr lvl="1"/>
            <a:r>
              <a:rPr lang="en-US" dirty="0">
                <a:latin typeface="Calibri" panose="020F0502020204030204" pitchFamily="34" charset="0"/>
                <a:cs typeface="Calibri" panose="020F0502020204030204" pitchFamily="34" charset="0"/>
              </a:rPr>
              <a:t>Two outer membranes are separated by a narrow inter-membrane space.</a:t>
            </a:r>
          </a:p>
          <a:p>
            <a:pPr lvl="1"/>
            <a:r>
              <a:rPr lang="en-US" dirty="0">
                <a:latin typeface="Calibri" panose="020F0502020204030204" pitchFamily="34" charset="0"/>
                <a:cs typeface="Calibri" panose="020F0502020204030204" pitchFamily="34" charset="0"/>
              </a:rPr>
              <a:t>Inside the chloroplasts are stacks of flattened sacs.</a:t>
            </a:r>
          </a:p>
          <a:p>
            <a:pPr lvl="1"/>
            <a:r>
              <a:rPr lang="en-US" dirty="0">
                <a:latin typeface="Calibri" panose="020F0502020204030204" pitchFamily="34" charset="0"/>
                <a:cs typeface="Calibri" panose="020F0502020204030204" pitchFamily="34" charset="0"/>
              </a:rPr>
              <a:t>Chloroplasts contain some DNA</a:t>
            </a:r>
          </a:p>
          <a:p>
            <a:r>
              <a:rPr lang="en-US" dirty="0">
                <a:latin typeface="Calibri" panose="020F0502020204030204" pitchFamily="34" charset="0"/>
                <a:cs typeface="Calibri" panose="020F0502020204030204" pitchFamily="34" charset="0"/>
              </a:rPr>
              <a:t>Function:</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The site of photosynthesis</a:t>
            </a:r>
          </a:p>
          <a:p>
            <a:r>
              <a:rPr lang="en-US" dirty="0">
                <a:latin typeface="Calibri" panose="020F0502020204030204" pitchFamily="34" charset="0"/>
                <a:cs typeface="Calibri" panose="020F0502020204030204" pitchFamily="34" charset="0"/>
              </a:rPr>
              <a:t>Size: 2 X 5 µm</a:t>
            </a:r>
          </a:p>
        </p:txBody>
      </p:sp>
      <p:pic>
        <p:nvPicPr>
          <p:cNvPr id="583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4570" y="1294805"/>
            <a:ext cx="3696891" cy="24645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58372" name="Rectangle 4"/>
          <p:cNvSpPr>
            <a:spLocks/>
          </p:cNvSpPr>
          <p:nvPr/>
        </p:nvSpPr>
        <p:spPr bwMode="auto">
          <a:xfrm>
            <a:off x="4973836" y="1571625"/>
            <a:ext cx="656332"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400">
                <a:solidFill>
                  <a:srgbClr val="2D00FA"/>
                </a:solidFill>
                <a:latin typeface="Arial" charset="0"/>
                <a:cs typeface="Arial" charset="0"/>
                <a:sym typeface="Arial" charset="0"/>
              </a:rPr>
              <a:t>Stroma</a:t>
            </a:r>
          </a:p>
        </p:txBody>
      </p:sp>
      <p:sp>
        <p:nvSpPr>
          <p:cNvPr id="58373" name="Rectangle 5"/>
          <p:cNvSpPr>
            <a:spLocks/>
          </p:cNvSpPr>
          <p:nvPr/>
        </p:nvSpPr>
        <p:spPr bwMode="auto">
          <a:xfrm>
            <a:off x="7893844" y="1348383"/>
            <a:ext cx="577081"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marL="80364">
              <a:tabLst>
                <a:tab pos="366104" algn="l"/>
              </a:tabLst>
            </a:pPr>
            <a:r>
              <a:rPr lang="en-US" sz="1400">
                <a:solidFill>
                  <a:srgbClr val="2D00FA"/>
                </a:solidFill>
                <a:latin typeface="Arial" charset="0"/>
                <a:cs typeface="Arial" charset="0"/>
                <a:sym typeface="Arial" charset="0"/>
              </a:rPr>
              <a:t>Grana</a:t>
            </a:r>
          </a:p>
        </p:txBody>
      </p:sp>
      <p:sp>
        <p:nvSpPr>
          <p:cNvPr id="58374" name="Line 6"/>
          <p:cNvSpPr>
            <a:spLocks noChangeShapeType="1"/>
          </p:cNvSpPr>
          <p:nvPr/>
        </p:nvSpPr>
        <p:spPr bwMode="auto">
          <a:xfrm rot="10800000">
            <a:off x="5420321" y="1800448"/>
            <a:ext cx="412998" cy="584895"/>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58375" name="Line 7"/>
          <p:cNvSpPr>
            <a:spLocks noChangeShapeType="1"/>
          </p:cNvSpPr>
          <p:nvPr/>
        </p:nvSpPr>
        <p:spPr bwMode="auto">
          <a:xfrm rot="10800000" flipH="1">
            <a:off x="8242102" y="1630785"/>
            <a:ext cx="2232" cy="896317"/>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pic>
        <p:nvPicPr>
          <p:cNvPr id="5837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6344" y="3484380"/>
            <a:ext cx="4107656" cy="28128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Tree>
    <p:extLst>
      <p:ext uri="{BB962C8B-B14F-4D97-AF65-F5344CB8AC3E}">
        <p14:creationId xmlns:p14="http://schemas.microsoft.com/office/powerpoint/2010/main" val="309478249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837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837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837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837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837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8370">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8370">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837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build="p" bldLvl="5"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1"/>
          <p:cNvSpPr>
            <a:spLocks noGrp="1" noChangeArrowheads="1"/>
          </p:cNvSpPr>
          <p:nvPr>
            <p:ph type="title"/>
          </p:nvPr>
        </p:nvSpPr>
        <p:spPr>
          <a:xfrm>
            <a:off x="683568" y="638956"/>
            <a:ext cx="6612216" cy="971576"/>
          </a:xfrm>
        </p:spPr>
        <p:txBody>
          <a:bodyPr/>
          <a:lstStyle/>
          <a:p>
            <a:r>
              <a:rPr lang="en-US" dirty="0">
                <a:solidFill>
                  <a:srgbClr val="0070C0"/>
                </a:solidFill>
              </a:rPr>
              <a:t>Specialist Animal Cell Features</a:t>
            </a:r>
          </a:p>
        </p:txBody>
      </p:sp>
      <p:sp>
        <p:nvSpPr>
          <p:cNvPr id="62466" name="Rectangle 2"/>
          <p:cNvSpPr>
            <a:spLocks noGrp="1" noChangeArrowheads="1"/>
          </p:cNvSpPr>
          <p:nvPr>
            <p:ph idx="1"/>
          </p:nvPr>
        </p:nvSpPr>
        <p:spPr>
          <a:xfrm>
            <a:off x="768097" y="2286000"/>
            <a:ext cx="5279455" cy="4023360"/>
          </a:xfrm>
        </p:spPr>
        <p:txBody>
          <a:bodyPr/>
          <a:lstStyle/>
          <a:p>
            <a:r>
              <a:rPr lang="en-US" dirty="0">
                <a:latin typeface="Calibri" panose="020F0502020204030204" pitchFamily="34" charset="0"/>
                <a:cs typeface="Calibri" panose="020F0502020204030204" pitchFamily="34" charset="0"/>
              </a:rPr>
              <a:t>A small number of cellular organelles are typically found in animal cells but not in plant cells.</a:t>
            </a:r>
          </a:p>
          <a:p>
            <a:r>
              <a:rPr lang="en-US" dirty="0">
                <a:latin typeface="Calibri" panose="020F0502020204030204" pitchFamily="34" charset="0"/>
                <a:cs typeface="Calibri" panose="020F0502020204030204" pitchFamily="34" charset="0"/>
              </a:rPr>
              <a:t>Organelles and structures found in animal cells are:</a:t>
            </a:r>
          </a:p>
          <a:p>
            <a:pPr lvl="1"/>
            <a:r>
              <a:rPr lang="en-US" sz="1800" dirty="0">
                <a:latin typeface="Calibri" panose="020F0502020204030204" pitchFamily="34" charset="0"/>
                <a:cs typeface="Calibri" panose="020F0502020204030204" pitchFamily="34" charset="0"/>
              </a:rPr>
              <a:t>lysosomes</a:t>
            </a:r>
          </a:p>
          <a:p>
            <a:pPr lvl="1"/>
            <a:r>
              <a:rPr lang="en-US" sz="1800" dirty="0">
                <a:latin typeface="Calibri" panose="020F0502020204030204" pitchFamily="34" charset="0"/>
                <a:cs typeface="Calibri" panose="020F0502020204030204" pitchFamily="34" charset="0"/>
              </a:rPr>
              <a:t>cilia</a:t>
            </a:r>
          </a:p>
          <a:p>
            <a:pPr lvl="1"/>
            <a:r>
              <a:rPr lang="en-US" sz="1800" dirty="0">
                <a:latin typeface="Calibri" panose="020F0502020204030204" pitchFamily="34" charset="0"/>
                <a:cs typeface="Calibri" panose="020F0502020204030204" pitchFamily="34" charset="0"/>
              </a:rPr>
              <a:t>flagella</a:t>
            </a:r>
          </a:p>
        </p:txBody>
      </p:sp>
      <p:sp>
        <p:nvSpPr>
          <p:cNvPr id="62467" name="Rectangle 3"/>
          <p:cNvSpPr>
            <a:spLocks/>
          </p:cNvSpPr>
          <p:nvPr/>
        </p:nvSpPr>
        <p:spPr bwMode="auto">
          <a:xfrm>
            <a:off x="4427984" y="6152555"/>
            <a:ext cx="2527102" cy="196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90000"/>
              </a:lnSpc>
              <a:tabLst>
                <a:tab pos="366104" algn="l"/>
              </a:tabLst>
            </a:pPr>
            <a:r>
              <a:rPr lang="en-US" sz="1400" b="1" dirty="0">
                <a:solidFill>
                  <a:srgbClr val="2D00FA"/>
                </a:solidFill>
                <a:latin typeface="Arial" charset="0"/>
                <a:cs typeface="Arial" charset="0"/>
                <a:sym typeface="Arial" charset="0"/>
              </a:rPr>
              <a:t>TEM of a human lymphocyte</a:t>
            </a:r>
          </a:p>
        </p:txBody>
      </p:sp>
      <p:pic>
        <p:nvPicPr>
          <p:cNvPr id="624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7552" y="1124744"/>
            <a:ext cx="3075754" cy="55748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Tree>
    <p:extLst>
      <p:ext uri="{BB962C8B-B14F-4D97-AF65-F5344CB8AC3E}">
        <p14:creationId xmlns:p14="http://schemas.microsoft.com/office/powerpoint/2010/main" val="318288087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46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246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246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2466">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246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build="p" bldLvl="5"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1"/>
          <p:cNvSpPr>
            <a:spLocks noGrp="1" noChangeArrowheads="1"/>
          </p:cNvSpPr>
          <p:nvPr>
            <p:ph type="title"/>
          </p:nvPr>
        </p:nvSpPr>
        <p:spPr>
          <a:xfrm>
            <a:off x="768096" y="585216"/>
            <a:ext cx="7290054" cy="976663"/>
          </a:xfrm>
        </p:spPr>
        <p:txBody>
          <a:bodyPr/>
          <a:lstStyle/>
          <a:p>
            <a:r>
              <a:rPr lang="en-US" dirty="0">
                <a:solidFill>
                  <a:srgbClr val="0070C0"/>
                </a:solidFill>
              </a:rPr>
              <a:t>Lysosomes</a:t>
            </a:r>
          </a:p>
        </p:txBody>
      </p:sp>
      <p:sp>
        <p:nvSpPr>
          <p:cNvPr id="63490" name="Rectangle 2"/>
          <p:cNvSpPr>
            <a:spLocks noGrp="1" noChangeArrowheads="1"/>
          </p:cNvSpPr>
          <p:nvPr>
            <p:ph idx="1"/>
          </p:nvPr>
        </p:nvSpPr>
        <p:spPr>
          <a:xfrm>
            <a:off x="768097" y="1916832"/>
            <a:ext cx="4379967" cy="4392528"/>
          </a:xfrm>
        </p:spPr>
        <p:txBody>
          <a:bodyPr>
            <a:normAutofit/>
          </a:bodyPr>
          <a:lstStyle/>
          <a:p>
            <a:r>
              <a:rPr lang="en-US" dirty="0">
                <a:latin typeface="Calibri" panose="020F0502020204030204" pitchFamily="34" charset="0"/>
                <a:cs typeface="Calibri" panose="020F0502020204030204" pitchFamily="34" charset="0"/>
              </a:rPr>
              <a:t>Located:</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Free in the cytoplasm.</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Single-membrane-bound sac of hydrolytic enzymes. Lysosomes bud off the Golgi apparatus.</a:t>
            </a:r>
          </a:p>
          <a:p>
            <a:r>
              <a:rPr lang="en-US" dirty="0">
                <a:latin typeface="Calibri" panose="020F0502020204030204" pitchFamily="34" charset="0"/>
                <a:cs typeface="Calibri" panose="020F0502020204030204" pitchFamily="34" charset="0"/>
              </a:rPr>
              <a:t>Function:</a:t>
            </a:r>
          </a:p>
          <a:p>
            <a:pPr lvl="1"/>
            <a:r>
              <a:rPr lang="en-US" dirty="0">
                <a:latin typeface="Calibri" panose="020F0502020204030204" pitchFamily="34" charset="0"/>
                <a:cs typeface="Calibri" panose="020F0502020204030204" pitchFamily="34" charset="0"/>
              </a:rPr>
              <a:t>intracellular digestion of macromolecules (fats, protein, polysaccharides, and nucleic acids)</a:t>
            </a:r>
          </a:p>
          <a:p>
            <a:pPr lvl="1"/>
            <a:r>
              <a:rPr lang="en-US" dirty="0">
                <a:latin typeface="Calibri" panose="020F0502020204030204" pitchFamily="34" charset="0"/>
                <a:cs typeface="Calibri" panose="020F0502020204030204" pitchFamily="34" charset="0"/>
              </a:rPr>
              <a:t>recycling of cellular components </a:t>
            </a:r>
          </a:p>
          <a:p>
            <a:r>
              <a:rPr lang="en-US" dirty="0">
                <a:latin typeface="Calibri" panose="020F0502020204030204" pitchFamily="34" charset="0"/>
                <a:cs typeface="Calibri" panose="020F0502020204030204" pitchFamily="34" charset="0"/>
              </a:rPr>
              <a:t>Size: varies according to cell size.</a:t>
            </a:r>
          </a:p>
        </p:txBody>
      </p:sp>
      <p:pic>
        <p:nvPicPr>
          <p:cNvPr id="634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1453" y="857250"/>
            <a:ext cx="3036094" cy="2357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63492" name="Rectangle 4"/>
          <p:cNvSpPr>
            <a:spLocks/>
          </p:cNvSpPr>
          <p:nvPr/>
        </p:nvSpPr>
        <p:spPr bwMode="auto">
          <a:xfrm>
            <a:off x="5554266" y="3295055"/>
            <a:ext cx="1535906" cy="7590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90000"/>
              </a:lnSpc>
              <a:tabLst>
                <a:tab pos="366104" algn="l"/>
              </a:tabLst>
            </a:pPr>
            <a:r>
              <a:rPr lang="en-US" sz="1400">
                <a:solidFill>
                  <a:srgbClr val="2D00FA"/>
                </a:solidFill>
                <a:latin typeface="Arial" charset="0"/>
                <a:cs typeface="Arial" charset="0"/>
                <a:sym typeface="Arial" charset="0"/>
              </a:rPr>
              <a:t>Hydrolytic enzymes break down compounds by adding water</a:t>
            </a:r>
          </a:p>
        </p:txBody>
      </p:sp>
      <p:sp>
        <p:nvSpPr>
          <p:cNvPr id="63493" name="Rectangle 5"/>
          <p:cNvSpPr>
            <a:spLocks/>
          </p:cNvSpPr>
          <p:nvPr/>
        </p:nvSpPr>
        <p:spPr bwMode="auto">
          <a:xfrm>
            <a:off x="5723930" y="392906"/>
            <a:ext cx="1777008" cy="196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ctr">
              <a:tabLst>
                <a:tab pos="366104" algn="l"/>
              </a:tabLst>
            </a:pPr>
            <a:r>
              <a:rPr lang="en-US" sz="1400">
                <a:solidFill>
                  <a:srgbClr val="2D00FA"/>
                </a:solidFill>
                <a:latin typeface="Arial" charset="0"/>
                <a:cs typeface="Arial" charset="0"/>
                <a:sym typeface="Arial" charset="0"/>
              </a:rPr>
              <a:t>Membrane proteins</a:t>
            </a:r>
          </a:p>
        </p:txBody>
      </p:sp>
      <p:sp>
        <p:nvSpPr>
          <p:cNvPr id="63494" name="Line 6"/>
          <p:cNvSpPr>
            <a:spLocks noChangeShapeType="1"/>
          </p:cNvSpPr>
          <p:nvPr/>
        </p:nvSpPr>
        <p:spPr bwMode="auto">
          <a:xfrm flipH="1">
            <a:off x="6098977" y="2321719"/>
            <a:ext cx="578197" cy="964406"/>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63495" name="AutoShape 7"/>
          <p:cNvSpPr>
            <a:spLocks/>
          </p:cNvSpPr>
          <p:nvPr/>
        </p:nvSpPr>
        <p:spPr bwMode="auto">
          <a:xfrm>
            <a:off x="6613550" y="669727"/>
            <a:ext cx="378395" cy="678656"/>
          </a:xfrm>
          <a:custGeom>
            <a:avLst/>
            <a:gdLst/>
            <a:ahLst/>
            <a:cxnLst/>
            <a:rect l="0" t="0" r="r" b="b"/>
            <a:pathLst>
              <a:path w="21600" h="21600">
                <a:moveTo>
                  <a:pt x="21600" y="11368"/>
                </a:moveTo>
                <a:lnTo>
                  <a:pt x="191" y="0"/>
                </a:lnTo>
                <a:lnTo>
                  <a:pt x="0" y="21600"/>
                </a:lnTo>
              </a:path>
            </a:pathLst>
          </a:custGeom>
          <a:noFill/>
          <a:ln w="25400">
            <a:solidFill>
              <a:srgbClr val="FF0017"/>
            </a:solidFill>
            <a:miter lim="800000"/>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pic>
        <p:nvPicPr>
          <p:cNvPr id="6349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8534" y="3429000"/>
            <a:ext cx="2655466" cy="3464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63497" name="Rectangle 9"/>
          <p:cNvSpPr>
            <a:spLocks/>
          </p:cNvSpPr>
          <p:nvPr/>
        </p:nvSpPr>
        <p:spPr bwMode="auto">
          <a:xfrm>
            <a:off x="5456039" y="4589859"/>
            <a:ext cx="1384102" cy="13594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105000"/>
              </a:lnSpc>
              <a:tabLst>
                <a:tab pos="366104" algn="l"/>
              </a:tabLst>
            </a:pPr>
            <a:r>
              <a:rPr lang="en-US" sz="1400" dirty="0">
                <a:solidFill>
                  <a:srgbClr val="2D00FA"/>
                </a:solidFill>
                <a:latin typeface="Arial" charset="0"/>
                <a:cs typeface="Arial" charset="0"/>
                <a:sym typeface="Arial" charset="0"/>
              </a:rPr>
              <a:t>Lysosomes in a lymphocyte. Note how they are budding from the Golgi</a:t>
            </a:r>
          </a:p>
        </p:txBody>
      </p:sp>
      <p:sp>
        <p:nvSpPr>
          <p:cNvPr id="63498" name="Line 10"/>
          <p:cNvSpPr>
            <a:spLocks noChangeShapeType="1"/>
          </p:cNvSpPr>
          <p:nvPr/>
        </p:nvSpPr>
        <p:spPr bwMode="auto">
          <a:xfrm rot="10800000">
            <a:off x="6833444" y="4893469"/>
            <a:ext cx="1587252" cy="395139"/>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Tree>
    <p:extLst>
      <p:ext uri="{BB962C8B-B14F-4D97-AF65-F5344CB8AC3E}">
        <p14:creationId xmlns:p14="http://schemas.microsoft.com/office/powerpoint/2010/main" val="124588551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349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349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349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349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349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349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build="p" bldLvl="5"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1"/>
          <p:cNvSpPr>
            <a:spLocks noGrp="1" noChangeArrowheads="1"/>
          </p:cNvSpPr>
          <p:nvPr>
            <p:ph type="title"/>
          </p:nvPr>
        </p:nvSpPr>
        <p:spPr>
          <a:xfrm>
            <a:off x="768096" y="585216"/>
            <a:ext cx="7290054" cy="1159423"/>
          </a:xfrm>
        </p:spPr>
        <p:txBody>
          <a:bodyPr/>
          <a:lstStyle/>
          <a:p>
            <a:r>
              <a:rPr lang="en-US" dirty="0">
                <a:solidFill>
                  <a:srgbClr val="0070C0"/>
                </a:solidFill>
              </a:rPr>
              <a:t>Cilia and Flagella</a:t>
            </a:r>
          </a:p>
        </p:txBody>
      </p:sp>
      <p:sp>
        <p:nvSpPr>
          <p:cNvPr id="64514" name="Rectangle 2"/>
          <p:cNvSpPr>
            <a:spLocks noGrp="1" noChangeArrowheads="1"/>
          </p:cNvSpPr>
          <p:nvPr>
            <p:ph idx="1"/>
          </p:nvPr>
        </p:nvSpPr>
        <p:spPr>
          <a:xfrm>
            <a:off x="774887" y="1804368"/>
            <a:ext cx="4293921" cy="4642866"/>
          </a:xfrm>
        </p:spPr>
        <p:txBody>
          <a:bodyPr>
            <a:normAutofit fontScale="92500" lnSpcReduction="10000"/>
          </a:bodyPr>
          <a:lstStyle/>
          <a:p>
            <a:r>
              <a:rPr lang="en-US" dirty="0">
                <a:latin typeface="Calibri" panose="020F0502020204030204" pitchFamily="34" charset="0"/>
                <a:cs typeface="Calibri" panose="020F0502020204030204" pitchFamily="34" charset="0"/>
              </a:rPr>
              <a:t>Located:</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Anchored to the cell membrane of some animal cells and unicellular eukaryotes.</a:t>
            </a:r>
          </a:p>
          <a:p>
            <a:r>
              <a:rPr lang="en-US" dirty="0">
                <a:latin typeface="Calibri" panose="020F0502020204030204" pitchFamily="34" charset="0"/>
                <a:cs typeface="Calibri" panose="020F0502020204030204" pitchFamily="34" charset="0"/>
              </a:rPr>
              <a:t>Structure:</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Core of microtubules sheathed in an extension of the plasma membrane. Microtubules are arranged in a 9+2 pattern with nine doublets of microtubules arranged in a ring</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around two single microtubules.</a:t>
            </a:r>
          </a:p>
          <a:p>
            <a:r>
              <a:rPr lang="en-US" dirty="0">
                <a:latin typeface="Calibri" panose="020F0502020204030204" pitchFamily="34" charset="0"/>
                <a:cs typeface="Calibri" panose="020F0502020204030204" pitchFamily="34" charset="0"/>
              </a:rPr>
              <a:t>Function:</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Cell motility or, in cells held in place, they move fluid across the cell surface.</a:t>
            </a:r>
          </a:p>
          <a:p>
            <a:r>
              <a:rPr lang="en-US" dirty="0">
                <a:latin typeface="Calibri" panose="020F0502020204030204" pitchFamily="34" charset="0"/>
                <a:cs typeface="Calibri" panose="020F0502020204030204" pitchFamily="34" charset="0"/>
              </a:rPr>
              <a:t>Size:</a:t>
            </a:r>
          </a:p>
          <a:p>
            <a:pPr lvl="1"/>
            <a:r>
              <a:rPr lang="en-US" dirty="0">
                <a:latin typeface="Calibri" panose="020F0502020204030204" pitchFamily="34" charset="0"/>
                <a:cs typeface="Calibri" panose="020F0502020204030204" pitchFamily="34" charset="0"/>
              </a:rPr>
              <a:t>Cilia: 0.25 µm X 2-20 µm</a:t>
            </a:r>
          </a:p>
          <a:p>
            <a:pPr lvl="1"/>
            <a:r>
              <a:rPr lang="en-US" dirty="0">
                <a:latin typeface="Calibri" panose="020F0502020204030204" pitchFamily="34" charset="0"/>
                <a:cs typeface="Calibri" panose="020F0502020204030204" pitchFamily="34" charset="0"/>
              </a:rPr>
              <a:t>Flagella: 0.25 µm X 10-200 µm</a:t>
            </a:r>
          </a:p>
        </p:txBody>
      </p:sp>
      <p:pic>
        <p:nvPicPr>
          <p:cNvPr id="645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1744" y="3938888"/>
            <a:ext cx="2705695" cy="2413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pic>
        <p:nvPicPr>
          <p:cNvPr id="645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3210" y="338213"/>
            <a:ext cx="3114229" cy="3604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 uri="{AF507438-7753-43E0-B8FC-AC1667EBCBE1}">
              <a14:hiddenEffects xmlns:a14="http://schemas.microsoft.com/office/drawing/2010/main">
                <a:effectLst>
                  <a:outerShdw blurRad="190500" dist="190499" dir="2700000" algn="ctr" rotWithShape="0">
                    <a:schemeClr val="bg2">
                      <a:alpha val="50000"/>
                    </a:schemeClr>
                  </a:outerShdw>
                </a:effectLst>
              </a14:hiddenEffects>
            </a:ext>
          </a:extLst>
        </p:spPr>
      </p:pic>
      <p:sp>
        <p:nvSpPr>
          <p:cNvPr id="64517" name="Rectangle 5"/>
          <p:cNvSpPr>
            <a:spLocks/>
          </p:cNvSpPr>
          <p:nvPr/>
        </p:nvSpPr>
        <p:spPr bwMode="auto">
          <a:xfrm>
            <a:off x="7544470" y="361652"/>
            <a:ext cx="1196578" cy="410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2D00FA"/>
                </a:solidFill>
                <a:latin typeface="Arial" charset="0"/>
                <a:cs typeface="Arial" charset="0"/>
                <a:sym typeface="Arial" charset="0"/>
              </a:rPr>
              <a:t>2 central single microtubules</a:t>
            </a:r>
          </a:p>
        </p:txBody>
      </p:sp>
      <p:sp>
        <p:nvSpPr>
          <p:cNvPr id="64518" name="Rectangle 6"/>
          <p:cNvSpPr>
            <a:spLocks/>
          </p:cNvSpPr>
          <p:nvPr/>
        </p:nvSpPr>
        <p:spPr bwMode="auto">
          <a:xfrm>
            <a:off x="7591351" y="1078260"/>
            <a:ext cx="1107281" cy="4018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2D00FA"/>
                </a:solidFill>
                <a:latin typeface="Arial" charset="0"/>
                <a:cs typeface="Arial" charset="0"/>
                <a:sym typeface="Arial" charset="0"/>
              </a:rPr>
              <a:t>9 doublets of microtubules</a:t>
            </a:r>
          </a:p>
        </p:txBody>
      </p:sp>
      <p:sp>
        <p:nvSpPr>
          <p:cNvPr id="64519" name="Rectangle 7"/>
          <p:cNvSpPr>
            <a:spLocks/>
          </p:cNvSpPr>
          <p:nvPr/>
        </p:nvSpPr>
        <p:spPr bwMode="auto">
          <a:xfrm>
            <a:off x="7785571" y="2408783"/>
            <a:ext cx="955477" cy="6161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gn="r">
              <a:tabLst>
                <a:tab pos="366104" algn="l"/>
              </a:tabLst>
            </a:pPr>
            <a:r>
              <a:rPr lang="en-US" sz="1300">
                <a:solidFill>
                  <a:srgbClr val="2D00FA"/>
                </a:solidFill>
                <a:latin typeface="Arial" charset="0"/>
                <a:cs typeface="Arial" charset="0"/>
                <a:sym typeface="Arial" charset="0"/>
              </a:rPr>
              <a:t>Basal body</a:t>
            </a:r>
          </a:p>
          <a:p>
            <a:pPr marL="80364" algn="r">
              <a:tabLst>
                <a:tab pos="366104" algn="l"/>
              </a:tabLst>
            </a:pPr>
            <a:r>
              <a:rPr lang="en-US" sz="1300">
                <a:solidFill>
                  <a:srgbClr val="2D00FA"/>
                </a:solidFill>
                <a:latin typeface="Arial" charset="0"/>
                <a:cs typeface="Arial" charset="0"/>
                <a:sym typeface="Arial" charset="0"/>
              </a:rPr>
              <a:t>anchors the cilium</a:t>
            </a:r>
          </a:p>
        </p:txBody>
      </p:sp>
      <p:sp>
        <p:nvSpPr>
          <p:cNvPr id="64520" name="Rectangle 8"/>
          <p:cNvSpPr>
            <a:spLocks/>
          </p:cNvSpPr>
          <p:nvPr/>
        </p:nvSpPr>
        <p:spPr bwMode="auto">
          <a:xfrm>
            <a:off x="5438180" y="1798216"/>
            <a:ext cx="937617" cy="598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tabLst>
                <a:tab pos="366104" algn="l"/>
              </a:tabLst>
            </a:pPr>
            <a:r>
              <a:rPr lang="en-US" sz="1300">
                <a:solidFill>
                  <a:srgbClr val="2D00FA"/>
                </a:solidFill>
                <a:latin typeface="Arial" charset="0"/>
                <a:cs typeface="Arial" charset="0"/>
                <a:sym typeface="Arial" charset="0"/>
              </a:rPr>
              <a:t>Plasma membrane extension</a:t>
            </a:r>
          </a:p>
        </p:txBody>
      </p:sp>
      <p:sp>
        <p:nvSpPr>
          <p:cNvPr id="64521" name="Line 9"/>
          <p:cNvSpPr>
            <a:spLocks noChangeShapeType="1"/>
          </p:cNvSpPr>
          <p:nvPr/>
        </p:nvSpPr>
        <p:spPr bwMode="auto">
          <a:xfrm>
            <a:off x="7046640" y="1003474"/>
            <a:ext cx="525735" cy="202034"/>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64522" name="Line 10"/>
          <p:cNvSpPr>
            <a:spLocks noChangeShapeType="1"/>
          </p:cNvSpPr>
          <p:nvPr/>
        </p:nvSpPr>
        <p:spPr bwMode="auto">
          <a:xfrm flipH="1">
            <a:off x="6107907" y="1731244"/>
            <a:ext cx="658564" cy="223242"/>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64523" name="Line 11"/>
          <p:cNvSpPr>
            <a:spLocks noChangeShapeType="1"/>
          </p:cNvSpPr>
          <p:nvPr/>
        </p:nvSpPr>
        <p:spPr bwMode="auto">
          <a:xfrm rot="10800000" flipH="1">
            <a:off x="7049988" y="2812852"/>
            <a:ext cx="1138535" cy="734467"/>
          </a:xfrm>
          <a:prstGeom prst="line">
            <a:avLst/>
          </a:prstGeom>
          <a:noFill/>
          <a:ln w="25400">
            <a:solidFill>
              <a:srgbClr val="FF0017"/>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64524" name="AutoShape 12"/>
          <p:cNvSpPr>
            <a:spLocks/>
          </p:cNvSpPr>
          <p:nvPr/>
        </p:nvSpPr>
        <p:spPr bwMode="auto">
          <a:xfrm>
            <a:off x="6706195" y="500062"/>
            <a:ext cx="839391" cy="258961"/>
          </a:xfrm>
          <a:custGeom>
            <a:avLst/>
            <a:gdLst/>
            <a:ahLst/>
            <a:cxnLst/>
            <a:rect l="0" t="0" r="r" b="b"/>
            <a:pathLst>
              <a:path w="21600" h="21600">
                <a:moveTo>
                  <a:pt x="0" y="11172"/>
                </a:moveTo>
                <a:lnTo>
                  <a:pt x="21600" y="0"/>
                </a:lnTo>
                <a:lnTo>
                  <a:pt x="2987" y="21600"/>
                </a:lnTo>
              </a:path>
            </a:pathLst>
          </a:custGeom>
          <a:noFill/>
          <a:ln w="25400">
            <a:solidFill>
              <a:srgbClr val="FF0017"/>
            </a:solidFill>
            <a:miter lim="800000"/>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291" tIns="32146" rIns="64291" bIns="32146"/>
          <a:lstStyle/>
          <a:p>
            <a:endParaRPr lang="en-AU"/>
          </a:p>
        </p:txBody>
      </p:sp>
      <p:sp>
        <p:nvSpPr>
          <p:cNvPr id="64525" name="Rectangle 13"/>
          <p:cNvSpPr>
            <a:spLocks/>
          </p:cNvSpPr>
          <p:nvPr/>
        </p:nvSpPr>
        <p:spPr bwMode="auto">
          <a:xfrm>
            <a:off x="5902523" y="6357937"/>
            <a:ext cx="2534916" cy="16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80364">
              <a:lnSpc>
                <a:spcPct val="106000"/>
              </a:lnSpc>
              <a:tabLst>
                <a:tab pos="366104" algn="l"/>
              </a:tabLst>
            </a:pPr>
            <a:r>
              <a:rPr lang="en-US" sz="1300" b="1" dirty="0">
                <a:solidFill>
                  <a:srgbClr val="2D00FA"/>
                </a:solidFill>
                <a:latin typeface="Arial" charset="0"/>
                <a:cs typeface="Arial" charset="0"/>
                <a:sym typeface="Arial" charset="0"/>
              </a:rPr>
              <a:t>TEM of cilia in cross section</a:t>
            </a:r>
          </a:p>
        </p:txBody>
      </p:sp>
    </p:spTree>
    <p:extLst>
      <p:ext uri="{BB962C8B-B14F-4D97-AF65-F5344CB8AC3E}">
        <p14:creationId xmlns:p14="http://schemas.microsoft.com/office/powerpoint/2010/main" val="30950087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451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451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451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4514">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4514">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45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build="p" bldLvl="5"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692696"/>
            <a:ext cx="7290054" cy="720080"/>
          </a:xfrm>
        </p:spPr>
        <p:txBody>
          <a:bodyPr>
            <a:normAutofit fontScale="90000"/>
          </a:bodyPr>
          <a:lstStyle/>
          <a:p>
            <a:r>
              <a:rPr lang="en-AU" altLang="en-US" dirty="0">
                <a:solidFill>
                  <a:srgbClr val="0070C0"/>
                </a:solidFill>
              </a:rPr>
              <a:t>Success Criteria: label cell organelles</a:t>
            </a:r>
            <a:endParaRPr lang="en-AU" dirty="0">
              <a:solidFill>
                <a:srgbClr val="0070C0"/>
              </a:solidFill>
            </a:endParaRPr>
          </a:p>
        </p:txBody>
      </p:sp>
      <p:pic>
        <p:nvPicPr>
          <p:cNvPr id="3" name="Picture 2"/>
          <p:cNvPicPr>
            <a:picLocks noChangeAspect="1"/>
          </p:cNvPicPr>
          <p:nvPr/>
        </p:nvPicPr>
        <p:blipFill>
          <a:blip r:embed="rId2"/>
          <a:stretch>
            <a:fillRect/>
          </a:stretch>
        </p:blipFill>
        <p:spPr>
          <a:xfrm>
            <a:off x="1547664" y="1719758"/>
            <a:ext cx="5400600" cy="4173191"/>
          </a:xfrm>
          <a:prstGeom prst="rect">
            <a:avLst/>
          </a:prstGeom>
        </p:spPr>
      </p:pic>
      <p:sp>
        <p:nvSpPr>
          <p:cNvPr id="5" name="TextBox 4"/>
          <p:cNvSpPr txBox="1"/>
          <p:nvPr/>
        </p:nvSpPr>
        <p:spPr>
          <a:xfrm>
            <a:off x="2267744" y="2204864"/>
            <a:ext cx="1224136" cy="369332"/>
          </a:xfrm>
          <a:prstGeom prst="rect">
            <a:avLst/>
          </a:prstGeom>
          <a:noFill/>
        </p:spPr>
        <p:txBody>
          <a:bodyPr wrap="square" rtlCol="0">
            <a:spAutoFit/>
          </a:bodyPr>
          <a:lstStyle/>
          <a:p>
            <a:r>
              <a:rPr lang="en-AU" dirty="0"/>
              <a:t>Chromatin</a:t>
            </a:r>
          </a:p>
        </p:txBody>
      </p:sp>
    </p:spTree>
    <p:extLst>
      <p:ext uri="{BB962C8B-B14F-4D97-AF65-F5344CB8AC3E}">
        <p14:creationId xmlns:p14="http://schemas.microsoft.com/office/powerpoint/2010/main" val="8373748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1475656" y="1196752"/>
            <a:ext cx="6002050" cy="4637948"/>
          </a:xfrm>
          <a:prstGeom prst="rect">
            <a:avLst/>
          </a:prstGeom>
        </p:spPr>
      </p:pic>
    </p:spTree>
    <p:extLst>
      <p:ext uri="{BB962C8B-B14F-4D97-AF65-F5344CB8AC3E}">
        <p14:creationId xmlns:p14="http://schemas.microsoft.com/office/powerpoint/2010/main" val="42059469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27584" y="404664"/>
            <a:ext cx="7250387" cy="5231879"/>
          </a:xfrm>
          <a:prstGeom prst="rect">
            <a:avLst/>
          </a:prstGeom>
        </p:spPr>
      </p:pic>
      <p:sp>
        <p:nvSpPr>
          <p:cNvPr id="6" name="Rectangle 5"/>
          <p:cNvSpPr/>
          <p:nvPr/>
        </p:nvSpPr>
        <p:spPr>
          <a:xfrm>
            <a:off x="1259632" y="1268760"/>
            <a:ext cx="1440160"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p:cNvSpPr/>
          <p:nvPr/>
        </p:nvSpPr>
        <p:spPr>
          <a:xfrm>
            <a:off x="3131840" y="1100590"/>
            <a:ext cx="1728192" cy="60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p:cNvSpPr/>
          <p:nvPr/>
        </p:nvSpPr>
        <p:spPr>
          <a:xfrm>
            <a:off x="5436096" y="1100590"/>
            <a:ext cx="1728192" cy="60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p:cNvSpPr/>
          <p:nvPr/>
        </p:nvSpPr>
        <p:spPr>
          <a:xfrm>
            <a:off x="6444208" y="1708484"/>
            <a:ext cx="1728192" cy="60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p:cNvSpPr/>
          <p:nvPr/>
        </p:nvSpPr>
        <p:spPr>
          <a:xfrm>
            <a:off x="6804248" y="2704519"/>
            <a:ext cx="1728192" cy="60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p:cNvSpPr/>
          <p:nvPr/>
        </p:nvSpPr>
        <p:spPr>
          <a:xfrm>
            <a:off x="6603626" y="3323697"/>
            <a:ext cx="1121323"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p:cNvSpPr/>
          <p:nvPr/>
        </p:nvSpPr>
        <p:spPr>
          <a:xfrm>
            <a:off x="6577014" y="3956102"/>
            <a:ext cx="1728192" cy="60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p:cNvSpPr/>
          <p:nvPr/>
        </p:nvSpPr>
        <p:spPr>
          <a:xfrm>
            <a:off x="6396994" y="4976219"/>
            <a:ext cx="1728192" cy="60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p:cNvSpPr/>
          <p:nvPr/>
        </p:nvSpPr>
        <p:spPr>
          <a:xfrm>
            <a:off x="6463397" y="4562771"/>
            <a:ext cx="1728192" cy="60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4"/>
          <p:cNvSpPr/>
          <p:nvPr/>
        </p:nvSpPr>
        <p:spPr>
          <a:xfrm>
            <a:off x="713966" y="4862880"/>
            <a:ext cx="1728192" cy="60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p:cNvSpPr/>
          <p:nvPr/>
        </p:nvSpPr>
        <p:spPr>
          <a:xfrm>
            <a:off x="395536" y="3789040"/>
            <a:ext cx="1728192" cy="60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6"/>
          <p:cNvSpPr/>
          <p:nvPr/>
        </p:nvSpPr>
        <p:spPr>
          <a:xfrm>
            <a:off x="298775" y="3252120"/>
            <a:ext cx="1728192" cy="60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7"/>
          <p:cNvSpPr/>
          <p:nvPr/>
        </p:nvSpPr>
        <p:spPr>
          <a:xfrm>
            <a:off x="414214" y="2369573"/>
            <a:ext cx="1728192" cy="60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9382543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191" y="620688"/>
            <a:ext cx="7290054" cy="1032096"/>
          </a:xfrm>
        </p:spPr>
        <p:txBody>
          <a:bodyPr/>
          <a:lstStyle/>
          <a:p>
            <a:r>
              <a:rPr lang="en-AU" altLang="en-US" dirty="0">
                <a:solidFill>
                  <a:srgbClr val="0070C0"/>
                </a:solidFill>
              </a:rPr>
              <a:t>Plant cell structure and function</a:t>
            </a:r>
            <a:endParaRPr lang="en-AU" dirty="0">
              <a:solidFill>
                <a:srgbClr val="0070C0"/>
              </a:solidFill>
            </a:endParaRPr>
          </a:p>
        </p:txBody>
      </p:sp>
      <p:pic>
        <p:nvPicPr>
          <p:cNvPr id="3" name="Picture 2"/>
          <p:cNvPicPr>
            <a:picLocks noChangeAspect="1"/>
          </p:cNvPicPr>
          <p:nvPr/>
        </p:nvPicPr>
        <p:blipFill>
          <a:blip r:embed="rId2"/>
          <a:stretch>
            <a:fillRect/>
          </a:stretch>
        </p:blipFill>
        <p:spPr>
          <a:xfrm>
            <a:off x="1241842" y="1772816"/>
            <a:ext cx="6186940" cy="4464496"/>
          </a:xfrm>
          <a:prstGeom prst="rect">
            <a:avLst/>
          </a:prstGeom>
        </p:spPr>
      </p:pic>
    </p:spTree>
    <p:extLst>
      <p:ext uri="{BB962C8B-B14F-4D97-AF65-F5344CB8AC3E}">
        <p14:creationId xmlns:p14="http://schemas.microsoft.com/office/powerpoint/2010/main" val="91080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768096" y="585216"/>
            <a:ext cx="7290054" cy="1043584"/>
          </a:xfrm>
        </p:spPr>
        <p:txBody>
          <a:bodyPr/>
          <a:lstStyle/>
          <a:p>
            <a:r>
              <a:rPr lang="en-US" dirty="0">
                <a:solidFill>
                  <a:srgbClr val="0070C0"/>
                </a:solidFill>
              </a:rPr>
              <a:t>Plant and Animal Cell Similarities</a:t>
            </a:r>
          </a:p>
        </p:txBody>
      </p:sp>
      <p:sp>
        <p:nvSpPr>
          <p:cNvPr id="24579" name="Rectangle 3"/>
          <p:cNvSpPr>
            <a:spLocks noGrp="1" noChangeArrowheads="1"/>
          </p:cNvSpPr>
          <p:nvPr>
            <p:ph idx="1"/>
          </p:nvPr>
        </p:nvSpPr>
        <p:spPr/>
        <p:txBody>
          <a:bodyPr>
            <a:normAutofit/>
          </a:bodyPr>
          <a:lstStyle/>
          <a:p>
            <a:r>
              <a:rPr lang="en-US" dirty="0">
                <a:latin typeface="Calibri" panose="020F0502020204030204" pitchFamily="34" charset="0"/>
                <a:cs typeface="Calibri" panose="020F0502020204030204" pitchFamily="34" charset="0"/>
              </a:rPr>
              <a:t>Both contain:</a:t>
            </a:r>
          </a:p>
          <a:p>
            <a:pPr lvl="1"/>
            <a:r>
              <a:rPr lang="en-US" dirty="0">
                <a:latin typeface="Calibri" panose="020F0502020204030204" pitchFamily="34" charset="0"/>
                <a:cs typeface="Calibri" panose="020F0502020204030204" pitchFamily="34" charset="0"/>
              </a:rPr>
              <a:t>Nucleus, Nuclear membrane, Chromosomes- which carry the genes or the DNA.</a:t>
            </a:r>
          </a:p>
          <a:p>
            <a:pPr lvl="1"/>
            <a:r>
              <a:rPr lang="en-US" dirty="0">
                <a:latin typeface="Calibri" panose="020F0502020204030204" pitchFamily="34" charset="0"/>
                <a:cs typeface="Calibri" panose="020F0502020204030204" pitchFamily="34" charset="0"/>
              </a:rPr>
              <a:t>Cytoplasm</a:t>
            </a:r>
          </a:p>
          <a:p>
            <a:pPr lvl="1"/>
            <a:r>
              <a:rPr lang="en-US" dirty="0">
                <a:latin typeface="Calibri" panose="020F0502020204030204" pitchFamily="34" charset="0"/>
                <a:cs typeface="Calibri" panose="020F0502020204030204" pitchFamily="34" charset="0"/>
              </a:rPr>
              <a:t>Mitochondria</a:t>
            </a:r>
          </a:p>
          <a:p>
            <a:pPr lvl="1"/>
            <a:r>
              <a:rPr lang="en-US" dirty="0">
                <a:latin typeface="Calibri" panose="020F0502020204030204" pitchFamily="34" charset="0"/>
                <a:cs typeface="Calibri" panose="020F0502020204030204" pitchFamily="34" charset="0"/>
              </a:rPr>
              <a:t>Plasma membranes</a:t>
            </a:r>
          </a:p>
          <a:p>
            <a:pPr lvl="1"/>
            <a:r>
              <a:rPr lang="en-US" dirty="0">
                <a:latin typeface="Calibri" panose="020F0502020204030204" pitchFamily="34" charset="0"/>
                <a:cs typeface="Calibri" panose="020F0502020204030204" pitchFamily="34" charset="0"/>
              </a:rPr>
              <a:t>Ribosomes </a:t>
            </a:r>
          </a:p>
          <a:p>
            <a:pPr lvl="1"/>
            <a:r>
              <a:rPr lang="en-US" dirty="0">
                <a:latin typeface="Calibri" panose="020F0502020204030204" pitchFamily="34" charset="0"/>
                <a:cs typeface="Calibri" panose="020F0502020204030204" pitchFamily="34" charset="0"/>
              </a:rPr>
              <a:t>Golgi apparatus</a:t>
            </a:r>
          </a:p>
          <a:p>
            <a:pPr lvl="1"/>
            <a:r>
              <a:rPr lang="en-US" dirty="0">
                <a:latin typeface="Calibri" panose="020F0502020204030204" pitchFamily="34" charset="0"/>
                <a:cs typeface="Calibri" panose="020F0502020204030204" pitchFamily="34" charset="0"/>
              </a:rPr>
              <a:t>Endoplasmic reticulum (rough and smooth)</a:t>
            </a:r>
          </a:p>
          <a:p>
            <a:pPr lvl="1"/>
            <a:r>
              <a:rPr lang="en-US" dirty="0">
                <a:latin typeface="Calibri" panose="020F0502020204030204" pitchFamily="34" charset="0"/>
                <a:cs typeface="Calibri" panose="020F0502020204030204" pitchFamily="34" charset="0"/>
              </a:rPr>
              <a:t>Cytoskeleton</a:t>
            </a:r>
          </a:p>
          <a:p>
            <a:endParaRPr lang="en-US" dirty="0"/>
          </a:p>
          <a:p>
            <a:endParaRPr lang="en-US" dirty="0"/>
          </a:p>
        </p:txBody>
      </p:sp>
    </p:spTree>
    <p:extLst>
      <p:ext uri="{BB962C8B-B14F-4D97-AF65-F5344CB8AC3E}">
        <p14:creationId xmlns:p14="http://schemas.microsoft.com/office/powerpoint/2010/main" val="3321703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8" fill="hold" grpId="0" nodeType="afterEffect">
                                  <p:stCondLst>
                                    <p:cond delay="300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0" fill="hold"/>
                                        <p:tgtEl>
                                          <p:spTgt spid="24579">
                                            <p:txEl>
                                              <p:pRg st="0" end="0"/>
                                            </p:txEl>
                                          </p:spTgt>
                                        </p:tgtEl>
                                        <p:attrNameLst>
                                          <p:attrName>ppt_x</p:attrName>
                                        </p:attrNameLst>
                                      </p:cBhvr>
                                      <p:tavLst>
                                        <p:tav tm="0">
                                          <p:val>
                                            <p:strVal val="0-#ppt_w/2"/>
                                          </p:val>
                                        </p:tav>
                                        <p:tav tm="100000">
                                          <p:val>
                                            <p:strVal val="#ppt_x"/>
                                          </p:val>
                                        </p:tav>
                                      </p:tavLst>
                                    </p:anim>
                                    <p:anim calcmode="lin" valueType="num">
                                      <p:cBhvr additive="base">
                                        <p:cTn id="8" dur="5000" fill="hold"/>
                                        <p:tgtEl>
                                          <p:spTgt spid="24579">
                                            <p:txEl>
                                              <p:pRg st="0" end="0"/>
                                            </p:txEl>
                                          </p:spTgt>
                                        </p:tgtEl>
                                        <p:attrNameLst>
                                          <p:attrName>ppt_y</p:attrName>
                                        </p:attrNameLst>
                                      </p:cBhvr>
                                      <p:tavLst>
                                        <p:tav tm="0">
                                          <p:val>
                                            <p:strVal val="#ppt_y"/>
                                          </p:val>
                                        </p:tav>
                                        <p:tav tm="100000">
                                          <p:val>
                                            <p:strVal val="#ppt_y"/>
                                          </p:val>
                                        </p:tav>
                                      </p:tavLst>
                                    </p:anim>
                                  </p:childTnLst>
                                </p:cTn>
                              </p:par>
                              <p:par>
                                <p:cTn id="9" presetID="7" presetClass="entr" presetSubtype="8" fill="hold" grpId="0" nodeType="withEffect">
                                  <p:stCondLst>
                                    <p:cond delay="6000"/>
                                  </p:stCondLst>
                                  <p:childTnLst>
                                    <p:set>
                                      <p:cBhvr>
                                        <p:cTn id="10" dur="1" fill="hold">
                                          <p:stCondLst>
                                            <p:cond delay="0"/>
                                          </p:stCondLst>
                                        </p:cTn>
                                        <p:tgtEl>
                                          <p:spTgt spid="24579">
                                            <p:txEl>
                                              <p:pRg st="1" end="1"/>
                                            </p:txEl>
                                          </p:spTgt>
                                        </p:tgtEl>
                                        <p:attrNameLst>
                                          <p:attrName>style.visibility</p:attrName>
                                        </p:attrNameLst>
                                      </p:cBhvr>
                                      <p:to>
                                        <p:strVal val="visible"/>
                                      </p:to>
                                    </p:set>
                                    <p:anim calcmode="lin" valueType="num">
                                      <p:cBhvr additive="base">
                                        <p:cTn id="11" dur="5000" fill="hold"/>
                                        <p:tgtEl>
                                          <p:spTgt spid="24579">
                                            <p:txEl>
                                              <p:pRg st="1" end="1"/>
                                            </p:txEl>
                                          </p:spTgt>
                                        </p:tgtEl>
                                        <p:attrNameLst>
                                          <p:attrName>ppt_x</p:attrName>
                                        </p:attrNameLst>
                                      </p:cBhvr>
                                      <p:tavLst>
                                        <p:tav tm="0">
                                          <p:val>
                                            <p:strVal val="0-#ppt_w/2"/>
                                          </p:val>
                                        </p:tav>
                                        <p:tav tm="100000">
                                          <p:val>
                                            <p:strVal val="#ppt_x"/>
                                          </p:val>
                                        </p:tav>
                                      </p:tavLst>
                                    </p:anim>
                                    <p:anim calcmode="lin" valueType="num">
                                      <p:cBhvr additive="base">
                                        <p:cTn id="12" dur="5000" fill="hold"/>
                                        <p:tgtEl>
                                          <p:spTgt spid="24579">
                                            <p:txEl>
                                              <p:pRg st="1" end="1"/>
                                            </p:txEl>
                                          </p:spTgt>
                                        </p:tgtEl>
                                        <p:attrNameLst>
                                          <p:attrName>ppt_y</p:attrName>
                                        </p:attrNameLst>
                                      </p:cBhvr>
                                      <p:tavLst>
                                        <p:tav tm="0">
                                          <p:val>
                                            <p:strVal val="#ppt_y"/>
                                          </p:val>
                                        </p:tav>
                                        <p:tav tm="100000">
                                          <p:val>
                                            <p:strVal val="#ppt_y"/>
                                          </p:val>
                                        </p:tav>
                                      </p:tavLst>
                                    </p:anim>
                                  </p:childTnLst>
                                </p:cTn>
                              </p:par>
                              <p:par>
                                <p:cTn id="13" presetID="7" presetClass="entr" presetSubtype="8" fill="hold" grpId="0" nodeType="withEffect">
                                  <p:stCondLst>
                                    <p:cond delay="9000"/>
                                  </p:stCondLst>
                                  <p:childTnLst>
                                    <p:set>
                                      <p:cBhvr>
                                        <p:cTn id="14" dur="1" fill="hold">
                                          <p:stCondLst>
                                            <p:cond delay="0"/>
                                          </p:stCondLst>
                                        </p:cTn>
                                        <p:tgtEl>
                                          <p:spTgt spid="24579">
                                            <p:txEl>
                                              <p:pRg st="2" end="2"/>
                                            </p:txEl>
                                          </p:spTgt>
                                        </p:tgtEl>
                                        <p:attrNameLst>
                                          <p:attrName>style.visibility</p:attrName>
                                        </p:attrNameLst>
                                      </p:cBhvr>
                                      <p:to>
                                        <p:strVal val="visible"/>
                                      </p:to>
                                    </p:set>
                                    <p:anim calcmode="lin" valueType="num">
                                      <p:cBhvr additive="base">
                                        <p:cTn id="15" dur="5000" fill="hold"/>
                                        <p:tgtEl>
                                          <p:spTgt spid="24579">
                                            <p:txEl>
                                              <p:pRg st="2" end="2"/>
                                            </p:txEl>
                                          </p:spTgt>
                                        </p:tgtEl>
                                        <p:attrNameLst>
                                          <p:attrName>ppt_x</p:attrName>
                                        </p:attrNameLst>
                                      </p:cBhvr>
                                      <p:tavLst>
                                        <p:tav tm="0">
                                          <p:val>
                                            <p:strVal val="0-#ppt_w/2"/>
                                          </p:val>
                                        </p:tav>
                                        <p:tav tm="100000">
                                          <p:val>
                                            <p:strVal val="#ppt_x"/>
                                          </p:val>
                                        </p:tav>
                                      </p:tavLst>
                                    </p:anim>
                                    <p:anim calcmode="lin" valueType="num">
                                      <p:cBhvr additive="base">
                                        <p:cTn id="16" dur="5000" fill="hold"/>
                                        <p:tgtEl>
                                          <p:spTgt spid="24579">
                                            <p:txEl>
                                              <p:pRg st="2" end="2"/>
                                            </p:txEl>
                                          </p:spTgt>
                                        </p:tgtEl>
                                        <p:attrNameLst>
                                          <p:attrName>ppt_y</p:attrName>
                                        </p:attrNameLst>
                                      </p:cBhvr>
                                      <p:tavLst>
                                        <p:tav tm="0">
                                          <p:val>
                                            <p:strVal val="#ppt_y"/>
                                          </p:val>
                                        </p:tav>
                                        <p:tav tm="100000">
                                          <p:val>
                                            <p:strVal val="#ppt_y"/>
                                          </p:val>
                                        </p:tav>
                                      </p:tavLst>
                                    </p:anim>
                                  </p:childTnLst>
                                </p:cTn>
                              </p:par>
                              <p:par>
                                <p:cTn id="17" presetID="7" presetClass="entr" presetSubtype="8" fill="hold" grpId="0" nodeType="withEffect">
                                  <p:stCondLst>
                                    <p:cond delay="9000"/>
                                  </p:stCondLst>
                                  <p:childTnLst>
                                    <p:set>
                                      <p:cBhvr>
                                        <p:cTn id="18" dur="1" fill="hold">
                                          <p:stCondLst>
                                            <p:cond delay="0"/>
                                          </p:stCondLst>
                                        </p:cTn>
                                        <p:tgtEl>
                                          <p:spTgt spid="24579">
                                            <p:txEl>
                                              <p:pRg st="3" end="3"/>
                                            </p:txEl>
                                          </p:spTgt>
                                        </p:tgtEl>
                                        <p:attrNameLst>
                                          <p:attrName>style.visibility</p:attrName>
                                        </p:attrNameLst>
                                      </p:cBhvr>
                                      <p:to>
                                        <p:strVal val="visible"/>
                                      </p:to>
                                    </p:set>
                                    <p:anim calcmode="lin" valueType="num">
                                      <p:cBhvr additive="base">
                                        <p:cTn id="19" dur="5000" fill="hold"/>
                                        <p:tgtEl>
                                          <p:spTgt spid="24579">
                                            <p:txEl>
                                              <p:pRg st="3" end="3"/>
                                            </p:txEl>
                                          </p:spTgt>
                                        </p:tgtEl>
                                        <p:attrNameLst>
                                          <p:attrName>ppt_x</p:attrName>
                                        </p:attrNameLst>
                                      </p:cBhvr>
                                      <p:tavLst>
                                        <p:tav tm="0">
                                          <p:val>
                                            <p:strVal val="0-#ppt_w/2"/>
                                          </p:val>
                                        </p:tav>
                                        <p:tav tm="100000">
                                          <p:val>
                                            <p:strVal val="#ppt_x"/>
                                          </p:val>
                                        </p:tav>
                                      </p:tavLst>
                                    </p:anim>
                                    <p:anim calcmode="lin" valueType="num">
                                      <p:cBhvr additive="base">
                                        <p:cTn id="20" dur="5000" fill="hold"/>
                                        <p:tgtEl>
                                          <p:spTgt spid="24579">
                                            <p:txEl>
                                              <p:pRg st="3" end="3"/>
                                            </p:txEl>
                                          </p:spTgt>
                                        </p:tgtEl>
                                        <p:attrNameLst>
                                          <p:attrName>ppt_y</p:attrName>
                                        </p:attrNameLst>
                                      </p:cBhvr>
                                      <p:tavLst>
                                        <p:tav tm="0">
                                          <p:val>
                                            <p:strVal val="#ppt_y"/>
                                          </p:val>
                                        </p:tav>
                                        <p:tav tm="100000">
                                          <p:val>
                                            <p:strVal val="#ppt_y"/>
                                          </p:val>
                                        </p:tav>
                                      </p:tavLst>
                                    </p:anim>
                                  </p:childTnLst>
                                </p:cTn>
                              </p:par>
                              <p:par>
                                <p:cTn id="21" presetID="7" presetClass="entr" presetSubtype="8" fill="hold" grpId="0" nodeType="withEffect">
                                  <p:stCondLst>
                                    <p:cond delay="9000"/>
                                  </p:stCondLst>
                                  <p:childTnLst>
                                    <p:set>
                                      <p:cBhvr>
                                        <p:cTn id="22" dur="1" fill="hold">
                                          <p:stCondLst>
                                            <p:cond delay="0"/>
                                          </p:stCondLst>
                                        </p:cTn>
                                        <p:tgtEl>
                                          <p:spTgt spid="24579">
                                            <p:txEl>
                                              <p:pRg st="4" end="4"/>
                                            </p:txEl>
                                          </p:spTgt>
                                        </p:tgtEl>
                                        <p:attrNameLst>
                                          <p:attrName>style.visibility</p:attrName>
                                        </p:attrNameLst>
                                      </p:cBhvr>
                                      <p:to>
                                        <p:strVal val="visible"/>
                                      </p:to>
                                    </p:set>
                                    <p:anim calcmode="lin" valueType="num">
                                      <p:cBhvr additive="base">
                                        <p:cTn id="23" dur="5000" fill="hold"/>
                                        <p:tgtEl>
                                          <p:spTgt spid="24579">
                                            <p:txEl>
                                              <p:pRg st="4" end="4"/>
                                            </p:txEl>
                                          </p:spTgt>
                                        </p:tgtEl>
                                        <p:attrNameLst>
                                          <p:attrName>ppt_x</p:attrName>
                                        </p:attrNameLst>
                                      </p:cBhvr>
                                      <p:tavLst>
                                        <p:tav tm="0">
                                          <p:val>
                                            <p:strVal val="0-#ppt_w/2"/>
                                          </p:val>
                                        </p:tav>
                                        <p:tav tm="100000">
                                          <p:val>
                                            <p:strVal val="#ppt_x"/>
                                          </p:val>
                                        </p:tav>
                                      </p:tavLst>
                                    </p:anim>
                                    <p:anim calcmode="lin" valueType="num">
                                      <p:cBhvr additive="base">
                                        <p:cTn id="24" dur="5000" fill="hold"/>
                                        <p:tgtEl>
                                          <p:spTgt spid="24579">
                                            <p:txEl>
                                              <p:pRg st="4" end="4"/>
                                            </p:txEl>
                                          </p:spTgt>
                                        </p:tgtEl>
                                        <p:attrNameLst>
                                          <p:attrName>ppt_y</p:attrName>
                                        </p:attrNameLst>
                                      </p:cBhvr>
                                      <p:tavLst>
                                        <p:tav tm="0">
                                          <p:val>
                                            <p:strVal val="#ppt_y"/>
                                          </p:val>
                                        </p:tav>
                                        <p:tav tm="100000">
                                          <p:val>
                                            <p:strVal val="#ppt_y"/>
                                          </p:val>
                                        </p:tav>
                                      </p:tavLst>
                                    </p:anim>
                                  </p:childTnLst>
                                </p:cTn>
                              </p:par>
                              <p:par>
                                <p:cTn id="25" presetID="7" presetClass="entr" presetSubtype="8" fill="hold" grpId="0" nodeType="withEffect">
                                  <p:stCondLst>
                                    <p:cond delay="9000"/>
                                  </p:stCondLst>
                                  <p:childTnLst>
                                    <p:set>
                                      <p:cBhvr>
                                        <p:cTn id="26" dur="1" fill="hold">
                                          <p:stCondLst>
                                            <p:cond delay="0"/>
                                          </p:stCondLst>
                                        </p:cTn>
                                        <p:tgtEl>
                                          <p:spTgt spid="24579">
                                            <p:txEl>
                                              <p:pRg st="5" end="5"/>
                                            </p:txEl>
                                          </p:spTgt>
                                        </p:tgtEl>
                                        <p:attrNameLst>
                                          <p:attrName>style.visibility</p:attrName>
                                        </p:attrNameLst>
                                      </p:cBhvr>
                                      <p:to>
                                        <p:strVal val="visible"/>
                                      </p:to>
                                    </p:set>
                                    <p:anim calcmode="lin" valueType="num">
                                      <p:cBhvr additive="base">
                                        <p:cTn id="27" dur="5000" fill="hold"/>
                                        <p:tgtEl>
                                          <p:spTgt spid="24579">
                                            <p:txEl>
                                              <p:pRg st="5" end="5"/>
                                            </p:txEl>
                                          </p:spTgt>
                                        </p:tgtEl>
                                        <p:attrNameLst>
                                          <p:attrName>ppt_x</p:attrName>
                                        </p:attrNameLst>
                                      </p:cBhvr>
                                      <p:tavLst>
                                        <p:tav tm="0">
                                          <p:val>
                                            <p:strVal val="0-#ppt_w/2"/>
                                          </p:val>
                                        </p:tav>
                                        <p:tav tm="100000">
                                          <p:val>
                                            <p:strVal val="#ppt_x"/>
                                          </p:val>
                                        </p:tav>
                                      </p:tavLst>
                                    </p:anim>
                                    <p:anim calcmode="lin" valueType="num">
                                      <p:cBhvr additive="base">
                                        <p:cTn id="28" dur="5000" fill="hold"/>
                                        <p:tgtEl>
                                          <p:spTgt spid="24579">
                                            <p:txEl>
                                              <p:pRg st="5" end="5"/>
                                            </p:txEl>
                                          </p:spTgt>
                                        </p:tgtEl>
                                        <p:attrNameLst>
                                          <p:attrName>ppt_y</p:attrName>
                                        </p:attrNameLst>
                                      </p:cBhvr>
                                      <p:tavLst>
                                        <p:tav tm="0">
                                          <p:val>
                                            <p:strVal val="#ppt_y"/>
                                          </p:val>
                                        </p:tav>
                                        <p:tav tm="100000">
                                          <p:val>
                                            <p:strVal val="#ppt_y"/>
                                          </p:val>
                                        </p:tav>
                                      </p:tavLst>
                                    </p:anim>
                                  </p:childTnLst>
                                </p:cTn>
                              </p:par>
                              <p:par>
                                <p:cTn id="29" presetID="7" presetClass="entr" presetSubtype="8" fill="hold" grpId="0" nodeType="withEffect">
                                  <p:stCondLst>
                                    <p:cond delay="9000"/>
                                  </p:stCondLst>
                                  <p:childTnLst>
                                    <p:set>
                                      <p:cBhvr>
                                        <p:cTn id="30" dur="1" fill="hold">
                                          <p:stCondLst>
                                            <p:cond delay="0"/>
                                          </p:stCondLst>
                                        </p:cTn>
                                        <p:tgtEl>
                                          <p:spTgt spid="24579">
                                            <p:txEl>
                                              <p:pRg st="6" end="6"/>
                                            </p:txEl>
                                          </p:spTgt>
                                        </p:tgtEl>
                                        <p:attrNameLst>
                                          <p:attrName>style.visibility</p:attrName>
                                        </p:attrNameLst>
                                      </p:cBhvr>
                                      <p:to>
                                        <p:strVal val="visible"/>
                                      </p:to>
                                    </p:set>
                                    <p:anim calcmode="lin" valueType="num">
                                      <p:cBhvr additive="base">
                                        <p:cTn id="31" dur="5000" fill="hold"/>
                                        <p:tgtEl>
                                          <p:spTgt spid="24579">
                                            <p:txEl>
                                              <p:pRg st="6" end="6"/>
                                            </p:txEl>
                                          </p:spTgt>
                                        </p:tgtEl>
                                        <p:attrNameLst>
                                          <p:attrName>ppt_x</p:attrName>
                                        </p:attrNameLst>
                                      </p:cBhvr>
                                      <p:tavLst>
                                        <p:tav tm="0">
                                          <p:val>
                                            <p:strVal val="0-#ppt_w/2"/>
                                          </p:val>
                                        </p:tav>
                                        <p:tav tm="100000">
                                          <p:val>
                                            <p:strVal val="#ppt_x"/>
                                          </p:val>
                                        </p:tav>
                                      </p:tavLst>
                                    </p:anim>
                                    <p:anim calcmode="lin" valueType="num">
                                      <p:cBhvr additive="base">
                                        <p:cTn id="32" dur="5000" fill="hold"/>
                                        <p:tgtEl>
                                          <p:spTgt spid="24579">
                                            <p:txEl>
                                              <p:pRg st="6" end="6"/>
                                            </p:txEl>
                                          </p:spTgt>
                                        </p:tgtEl>
                                        <p:attrNameLst>
                                          <p:attrName>ppt_y</p:attrName>
                                        </p:attrNameLst>
                                      </p:cBhvr>
                                      <p:tavLst>
                                        <p:tav tm="0">
                                          <p:val>
                                            <p:strVal val="#ppt_y"/>
                                          </p:val>
                                        </p:tav>
                                        <p:tav tm="100000">
                                          <p:val>
                                            <p:strVal val="#ppt_y"/>
                                          </p:val>
                                        </p:tav>
                                      </p:tavLst>
                                    </p:anim>
                                  </p:childTnLst>
                                </p:cTn>
                              </p:par>
                              <p:par>
                                <p:cTn id="33" presetID="7" presetClass="entr" presetSubtype="8" fill="hold" grpId="0" nodeType="withEffect">
                                  <p:stCondLst>
                                    <p:cond delay="9000"/>
                                  </p:stCondLst>
                                  <p:childTnLst>
                                    <p:set>
                                      <p:cBhvr>
                                        <p:cTn id="34" dur="1" fill="hold">
                                          <p:stCondLst>
                                            <p:cond delay="0"/>
                                          </p:stCondLst>
                                        </p:cTn>
                                        <p:tgtEl>
                                          <p:spTgt spid="24579">
                                            <p:txEl>
                                              <p:pRg st="7" end="7"/>
                                            </p:txEl>
                                          </p:spTgt>
                                        </p:tgtEl>
                                        <p:attrNameLst>
                                          <p:attrName>style.visibility</p:attrName>
                                        </p:attrNameLst>
                                      </p:cBhvr>
                                      <p:to>
                                        <p:strVal val="visible"/>
                                      </p:to>
                                    </p:set>
                                    <p:anim calcmode="lin" valueType="num">
                                      <p:cBhvr additive="base">
                                        <p:cTn id="35" dur="5000" fill="hold"/>
                                        <p:tgtEl>
                                          <p:spTgt spid="24579">
                                            <p:txEl>
                                              <p:pRg st="7" end="7"/>
                                            </p:txEl>
                                          </p:spTgt>
                                        </p:tgtEl>
                                        <p:attrNameLst>
                                          <p:attrName>ppt_x</p:attrName>
                                        </p:attrNameLst>
                                      </p:cBhvr>
                                      <p:tavLst>
                                        <p:tav tm="0">
                                          <p:val>
                                            <p:strVal val="0-#ppt_w/2"/>
                                          </p:val>
                                        </p:tav>
                                        <p:tav tm="100000">
                                          <p:val>
                                            <p:strVal val="#ppt_x"/>
                                          </p:val>
                                        </p:tav>
                                      </p:tavLst>
                                    </p:anim>
                                    <p:anim calcmode="lin" valueType="num">
                                      <p:cBhvr additive="base">
                                        <p:cTn id="36" dur="5000" fill="hold"/>
                                        <p:tgtEl>
                                          <p:spTgt spid="24579">
                                            <p:txEl>
                                              <p:pRg st="7" end="7"/>
                                            </p:txEl>
                                          </p:spTgt>
                                        </p:tgtEl>
                                        <p:attrNameLst>
                                          <p:attrName>ppt_y</p:attrName>
                                        </p:attrNameLst>
                                      </p:cBhvr>
                                      <p:tavLst>
                                        <p:tav tm="0">
                                          <p:val>
                                            <p:strVal val="#ppt_y"/>
                                          </p:val>
                                        </p:tav>
                                        <p:tav tm="100000">
                                          <p:val>
                                            <p:strVal val="#ppt_y"/>
                                          </p:val>
                                        </p:tav>
                                      </p:tavLst>
                                    </p:anim>
                                  </p:childTnLst>
                                </p:cTn>
                              </p:par>
                              <p:par>
                                <p:cTn id="37" presetID="7" presetClass="entr" presetSubtype="8" fill="hold" grpId="0" nodeType="withEffect">
                                  <p:stCondLst>
                                    <p:cond delay="9000"/>
                                  </p:stCondLst>
                                  <p:childTnLst>
                                    <p:set>
                                      <p:cBhvr>
                                        <p:cTn id="38" dur="1" fill="hold">
                                          <p:stCondLst>
                                            <p:cond delay="0"/>
                                          </p:stCondLst>
                                        </p:cTn>
                                        <p:tgtEl>
                                          <p:spTgt spid="24579">
                                            <p:txEl>
                                              <p:pRg st="8" end="8"/>
                                            </p:txEl>
                                          </p:spTgt>
                                        </p:tgtEl>
                                        <p:attrNameLst>
                                          <p:attrName>style.visibility</p:attrName>
                                        </p:attrNameLst>
                                      </p:cBhvr>
                                      <p:to>
                                        <p:strVal val="visible"/>
                                      </p:to>
                                    </p:set>
                                    <p:anim calcmode="lin" valueType="num">
                                      <p:cBhvr additive="base">
                                        <p:cTn id="39" dur="5000" fill="hold"/>
                                        <p:tgtEl>
                                          <p:spTgt spid="24579">
                                            <p:txEl>
                                              <p:pRg st="8" end="8"/>
                                            </p:txEl>
                                          </p:spTgt>
                                        </p:tgtEl>
                                        <p:attrNameLst>
                                          <p:attrName>ppt_x</p:attrName>
                                        </p:attrNameLst>
                                      </p:cBhvr>
                                      <p:tavLst>
                                        <p:tav tm="0">
                                          <p:val>
                                            <p:strVal val="0-#ppt_w/2"/>
                                          </p:val>
                                        </p:tav>
                                        <p:tav tm="100000">
                                          <p:val>
                                            <p:strVal val="#ppt_x"/>
                                          </p:val>
                                        </p:tav>
                                      </p:tavLst>
                                    </p:anim>
                                    <p:anim calcmode="lin" valueType="num">
                                      <p:cBhvr additive="base">
                                        <p:cTn id="40" dur="5000" fill="hold"/>
                                        <p:tgtEl>
                                          <p:spTgt spid="2457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autoUpdateAnimBg="0" advAuto="300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768096" y="585216"/>
            <a:ext cx="7290054" cy="1331616"/>
          </a:xfrm>
        </p:spPr>
        <p:txBody>
          <a:bodyPr>
            <a:normAutofit/>
          </a:bodyPr>
          <a:lstStyle/>
          <a:p>
            <a:r>
              <a:rPr lang="en-US" dirty="0">
                <a:solidFill>
                  <a:srgbClr val="0070C0"/>
                </a:solidFill>
              </a:rPr>
              <a:t>Plant and Animal Cell Differences</a:t>
            </a:r>
          </a:p>
        </p:txBody>
      </p:sp>
      <p:sp>
        <p:nvSpPr>
          <p:cNvPr id="23555" name="Rectangle 3"/>
          <p:cNvSpPr>
            <a:spLocks noGrp="1" noChangeArrowheads="1"/>
          </p:cNvSpPr>
          <p:nvPr>
            <p:ph idx="1"/>
          </p:nvPr>
        </p:nvSpPr>
        <p:spPr/>
        <p:txBody>
          <a:bodyPr/>
          <a:lstStyle/>
          <a:p>
            <a:r>
              <a:rPr lang="en-US" dirty="0">
                <a:latin typeface="Calibri" panose="020F0502020204030204" pitchFamily="34" charset="0"/>
                <a:cs typeface="Calibri" panose="020F0502020204030204" pitchFamily="34" charset="0"/>
              </a:rPr>
              <a:t>Plant cells have non-living rigid cell walls.</a:t>
            </a:r>
          </a:p>
          <a:p>
            <a:r>
              <a:rPr lang="en-US" dirty="0">
                <a:latin typeface="Calibri" panose="020F0502020204030204" pitchFamily="34" charset="0"/>
                <a:cs typeface="Calibri" panose="020F0502020204030204" pitchFamily="34" charset="0"/>
              </a:rPr>
              <a:t>Plant cells contain chloroplasts which contain chlorophyll, a green chemical needed for photosynthesis.</a:t>
            </a:r>
          </a:p>
          <a:p>
            <a:r>
              <a:rPr lang="en-US" dirty="0">
                <a:latin typeface="Calibri" panose="020F0502020204030204" pitchFamily="34" charset="0"/>
                <a:cs typeface="Calibri" panose="020F0502020204030204" pitchFamily="34" charset="0"/>
              </a:rPr>
              <a:t>Plant cells contain a large vacuole; animal cells never contain large vacuoles.</a:t>
            </a:r>
          </a:p>
          <a:p>
            <a:r>
              <a:rPr lang="en-US" dirty="0">
                <a:latin typeface="Calibri" panose="020F0502020204030204" pitchFamily="34" charset="0"/>
                <a:cs typeface="Calibri" panose="020F0502020204030204" pitchFamily="34" charset="0"/>
              </a:rPr>
              <a:t>Plant cells are regular in shape; animal cells are irregular in shape.</a:t>
            </a:r>
          </a:p>
          <a:p>
            <a:r>
              <a:rPr lang="en-US" dirty="0">
                <a:latin typeface="Calibri" panose="020F0502020204030204" pitchFamily="34" charset="0"/>
                <a:cs typeface="Calibri" panose="020F0502020204030204" pitchFamily="34" charset="0"/>
              </a:rPr>
              <a:t>Animals cells often have cilia or flagella and lysosomes; plant cells do not.</a:t>
            </a:r>
          </a:p>
        </p:txBody>
      </p:sp>
    </p:spTree>
    <p:extLst>
      <p:ext uri="{BB962C8B-B14F-4D97-AF65-F5344CB8AC3E}">
        <p14:creationId xmlns:p14="http://schemas.microsoft.com/office/powerpoint/2010/main" val="629835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afterEffect">
                                  <p:stCondLst>
                                    <p:cond delay="300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vertical)">
                                      <p:cBhvr>
                                        <p:cTn id="7" dur="500"/>
                                        <p:tgtEl>
                                          <p:spTgt spid="23555">
                                            <p:txEl>
                                              <p:pRg st="0" end="0"/>
                                            </p:txEl>
                                          </p:spTgt>
                                        </p:tgtEl>
                                      </p:cBhvr>
                                    </p:animEffect>
                                  </p:childTnLst>
                                </p:cTn>
                              </p:par>
                            </p:childTnLst>
                          </p:cTn>
                        </p:par>
                        <p:par>
                          <p:cTn id="8" fill="hold">
                            <p:stCondLst>
                              <p:cond delay="3500"/>
                            </p:stCondLst>
                            <p:childTnLst>
                              <p:par>
                                <p:cTn id="9" presetID="3" presetClass="entr" presetSubtype="5" fill="hold" grpId="0" nodeType="afterEffect">
                                  <p:stCondLst>
                                    <p:cond delay="3000"/>
                                  </p:stCondLst>
                                  <p:childTnLst>
                                    <p:set>
                                      <p:cBhvr>
                                        <p:cTn id="10" dur="1" fill="hold">
                                          <p:stCondLst>
                                            <p:cond delay="0"/>
                                          </p:stCondLst>
                                        </p:cTn>
                                        <p:tgtEl>
                                          <p:spTgt spid="23555">
                                            <p:txEl>
                                              <p:pRg st="1" end="1"/>
                                            </p:txEl>
                                          </p:spTgt>
                                        </p:tgtEl>
                                        <p:attrNameLst>
                                          <p:attrName>style.visibility</p:attrName>
                                        </p:attrNameLst>
                                      </p:cBhvr>
                                      <p:to>
                                        <p:strVal val="visible"/>
                                      </p:to>
                                    </p:set>
                                    <p:animEffect transition="in" filter="blinds(vertical)">
                                      <p:cBhvr>
                                        <p:cTn id="11" dur="500"/>
                                        <p:tgtEl>
                                          <p:spTgt spid="23555">
                                            <p:txEl>
                                              <p:pRg st="1" end="1"/>
                                            </p:txEl>
                                          </p:spTgt>
                                        </p:tgtEl>
                                      </p:cBhvr>
                                    </p:animEffect>
                                  </p:childTnLst>
                                </p:cTn>
                              </p:par>
                            </p:childTnLst>
                          </p:cTn>
                        </p:par>
                        <p:par>
                          <p:cTn id="12" fill="hold">
                            <p:stCondLst>
                              <p:cond delay="7000"/>
                            </p:stCondLst>
                            <p:childTnLst>
                              <p:par>
                                <p:cTn id="13" presetID="3" presetClass="entr" presetSubtype="5" fill="hold" grpId="0" nodeType="afterEffect">
                                  <p:stCondLst>
                                    <p:cond delay="3000"/>
                                  </p:stCondLst>
                                  <p:childTnLst>
                                    <p:set>
                                      <p:cBhvr>
                                        <p:cTn id="14" dur="1" fill="hold">
                                          <p:stCondLst>
                                            <p:cond delay="0"/>
                                          </p:stCondLst>
                                        </p:cTn>
                                        <p:tgtEl>
                                          <p:spTgt spid="23555">
                                            <p:txEl>
                                              <p:pRg st="2" end="2"/>
                                            </p:txEl>
                                          </p:spTgt>
                                        </p:tgtEl>
                                        <p:attrNameLst>
                                          <p:attrName>style.visibility</p:attrName>
                                        </p:attrNameLst>
                                      </p:cBhvr>
                                      <p:to>
                                        <p:strVal val="visible"/>
                                      </p:to>
                                    </p:set>
                                    <p:animEffect transition="in" filter="blinds(vertical)">
                                      <p:cBhvr>
                                        <p:cTn id="15" dur="500"/>
                                        <p:tgtEl>
                                          <p:spTgt spid="23555">
                                            <p:txEl>
                                              <p:pRg st="2" end="2"/>
                                            </p:txEl>
                                          </p:spTgt>
                                        </p:tgtEl>
                                      </p:cBhvr>
                                    </p:animEffect>
                                  </p:childTnLst>
                                </p:cTn>
                              </p:par>
                            </p:childTnLst>
                          </p:cTn>
                        </p:par>
                        <p:par>
                          <p:cTn id="16" fill="hold">
                            <p:stCondLst>
                              <p:cond delay="10500"/>
                            </p:stCondLst>
                            <p:childTnLst>
                              <p:par>
                                <p:cTn id="17" presetID="3" presetClass="entr" presetSubtype="5" fill="hold" grpId="0" nodeType="afterEffect">
                                  <p:stCondLst>
                                    <p:cond delay="3000"/>
                                  </p:stCondLst>
                                  <p:childTnLst>
                                    <p:set>
                                      <p:cBhvr>
                                        <p:cTn id="18" dur="1" fill="hold">
                                          <p:stCondLst>
                                            <p:cond delay="0"/>
                                          </p:stCondLst>
                                        </p:cTn>
                                        <p:tgtEl>
                                          <p:spTgt spid="23555">
                                            <p:txEl>
                                              <p:pRg st="3" end="3"/>
                                            </p:txEl>
                                          </p:spTgt>
                                        </p:tgtEl>
                                        <p:attrNameLst>
                                          <p:attrName>style.visibility</p:attrName>
                                        </p:attrNameLst>
                                      </p:cBhvr>
                                      <p:to>
                                        <p:strVal val="visible"/>
                                      </p:to>
                                    </p:set>
                                    <p:animEffect transition="in" filter="blinds(vertical)">
                                      <p:cBhvr>
                                        <p:cTn id="19" dur="500"/>
                                        <p:tgtEl>
                                          <p:spTgt spid="23555">
                                            <p:txEl>
                                              <p:pRg st="3" end="3"/>
                                            </p:txEl>
                                          </p:spTgt>
                                        </p:tgtEl>
                                      </p:cBhvr>
                                    </p:animEffect>
                                  </p:childTnLst>
                                </p:cTn>
                              </p:par>
                            </p:childTnLst>
                          </p:cTn>
                        </p:par>
                        <p:par>
                          <p:cTn id="20" fill="hold">
                            <p:stCondLst>
                              <p:cond delay="14000"/>
                            </p:stCondLst>
                            <p:childTnLst>
                              <p:par>
                                <p:cTn id="21" presetID="3" presetClass="entr" presetSubtype="5" fill="hold" grpId="0" nodeType="afterEffect">
                                  <p:stCondLst>
                                    <p:cond delay="6000"/>
                                  </p:stCondLst>
                                  <p:childTnLst>
                                    <p:set>
                                      <p:cBhvr>
                                        <p:cTn id="22" dur="1" fill="hold">
                                          <p:stCondLst>
                                            <p:cond delay="0"/>
                                          </p:stCondLst>
                                        </p:cTn>
                                        <p:tgtEl>
                                          <p:spTgt spid="23555">
                                            <p:txEl>
                                              <p:pRg st="4" end="4"/>
                                            </p:txEl>
                                          </p:spTgt>
                                        </p:tgtEl>
                                        <p:attrNameLst>
                                          <p:attrName>style.visibility</p:attrName>
                                        </p:attrNameLst>
                                      </p:cBhvr>
                                      <p:to>
                                        <p:strVal val="visible"/>
                                      </p:to>
                                    </p:set>
                                    <p:animEffect transition="in" filter="blinds(vertical)">
                                      <p:cBhvr>
                                        <p:cTn id="23" dur="500"/>
                                        <p:tgtEl>
                                          <p:spTgt spid="235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autoUpdateAnimBg="0" advAuto="300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043584"/>
          </a:xfrm>
        </p:spPr>
        <p:txBody>
          <a:bodyPr/>
          <a:lstStyle/>
          <a:p>
            <a:r>
              <a:rPr lang="en-AU" dirty="0">
                <a:solidFill>
                  <a:srgbClr val="0070C0"/>
                </a:solidFill>
              </a:rPr>
              <a:t>Online Activity</a:t>
            </a:r>
          </a:p>
        </p:txBody>
      </p:sp>
      <p:sp>
        <p:nvSpPr>
          <p:cNvPr id="3" name="Content Placeholder 2"/>
          <p:cNvSpPr>
            <a:spLocks noGrp="1"/>
          </p:cNvSpPr>
          <p:nvPr>
            <p:ph idx="1"/>
          </p:nvPr>
        </p:nvSpPr>
        <p:spPr>
          <a:xfrm>
            <a:off x="768096" y="2286000"/>
            <a:ext cx="7290055" cy="3159224"/>
          </a:xfrm>
        </p:spPr>
        <p:txBody>
          <a:bodyPr/>
          <a:lstStyle/>
          <a:p>
            <a:r>
              <a:rPr lang="en-AU" dirty="0">
                <a:latin typeface="Calibri" panose="020F0502020204030204" pitchFamily="34" charset="0"/>
                <a:cs typeface="Calibri" panose="020F0502020204030204" pitchFamily="34" charset="0"/>
              </a:rPr>
              <a:t>Check out the links below for some online interactive activity on plant and animal cell organelles.  Each link has a tutorial, game and quiz.</a:t>
            </a:r>
          </a:p>
          <a:p>
            <a:r>
              <a:rPr lang="en-AU" sz="1600" dirty="0">
                <a:latin typeface="Calibri" panose="020F0502020204030204" pitchFamily="34" charset="0"/>
                <a:cs typeface="Calibri" panose="020F0502020204030204" pitchFamily="34" charset="0"/>
                <a:hlinkClick r:id="rId2"/>
              </a:rPr>
              <a:t>http://www.sheppardsoftware.com/health/anatomy/cell/plant_cell_game.htm</a:t>
            </a:r>
            <a:endParaRPr lang="en-AU" sz="1600" dirty="0">
              <a:latin typeface="Calibri" panose="020F0502020204030204" pitchFamily="34" charset="0"/>
              <a:cs typeface="Calibri" panose="020F0502020204030204" pitchFamily="34" charset="0"/>
            </a:endParaRPr>
          </a:p>
          <a:p>
            <a:r>
              <a:rPr lang="en-AU" sz="1600" dirty="0">
                <a:latin typeface="Calibri" panose="020F0502020204030204" pitchFamily="34" charset="0"/>
                <a:cs typeface="Calibri" panose="020F0502020204030204" pitchFamily="34" charset="0"/>
                <a:hlinkClick r:id="rId3"/>
              </a:rPr>
              <a:t>http://www.sheppardsoftware.com/health/anatomy/cell/cell_game.htm</a:t>
            </a:r>
            <a:endParaRPr lang="en-AU" sz="1600" dirty="0">
              <a:latin typeface="Calibri" panose="020F0502020204030204" pitchFamily="34" charset="0"/>
              <a:cs typeface="Calibri" panose="020F0502020204030204" pitchFamily="34" charset="0"/>
            </a:endParaRPr>
          </a:p>
          <a:p>
            <a:endParaRPr lang="en-AU" dirty="0"/>
          </a:p>
        </p:txBody>
      </p:sp>
    </p:spTree>
    <p:extLst>
      <p:ext uri="{BB962C8B-B14F-4D97-AF65-F5344CB8AC3E}">
        <p14:creationId xmlns:p14="http://schemas.microsoft.com/office/powerpoint/2010/main" val="452387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325" y="404664"/>
            <a:ext cx="3672408" cy="1143000"/>
          </a:xfrm>
        </p:spPr>
        <p:txBody>
          <a:bodyPr>
            <a:normAutofit fontScale="90000"/>
          </a:bodyPr>
          <a:lstStyle/>
          <a:p>
            <a:r>
              <a:rPr lang="en-AU" dirty="0">
                <a:solidFill>
                  <a:srgbClr val="0070C0"/>
                </a:solidFill>
              </a:rPr>
              <a:t>Exam Question Review</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7944" y="188640"/>
            <a:ext cx="4945445" cy="4896544"/>
          </a:xfrm>
          <a:prstGeom prst="rect">
            <a:avLst/>
          </a:prstGeom>
        </p:spPr>
      </p:pic>
      <p:pic>
        <p:nvPicPr>
          <p:cNvPr id="4" name="Content Placeholder 3"/>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07504" y="1628800"/>
            <a:ext cx="4392488" cy="4776910"/>
          </a:xfrm>
        </p:spPr>
      </p:pic>
      <p:pic>
        <p:nvPicPr>
          <p:cNvPr id="7" name="Picture 6"/>
          <p:cNvPicPr>
            <a:picLocks noChangeAspect="1"/>
          </p:cNvPicPr>
          <p:nvPr/>
        </p:nvPicPr>
        <p:blipFill rotWithShape="1">
          <a:blip r:embed="rId5">
            <a:extLst>
              <a:ext uri="{28A0092B-C50C-407E-A947-70E740481C1C}">
                <a14:useLocalDpi xmlns:a14="http://schemas.microsoft.com/office/drawing/2010/main" val="0"/>
              </a:ext>
            </a:extLst>
          </a:blip>
          <a:srcRect t="686" b="22721"/>
          <a:stretch/>
        </p:blipFill>
        <p:spPr>
          <a:xfrm>
            <a:off x="4283968" y="5157192"/>
            <a:ext cx="4417718" cy="1570112"/>
          </a:xfrm>
          <a:prstGeom prst="rect">
            <a:avLst/>
          </a:prstGeom>
        </p:spPr>
      </p:pic>
      <p:sp>
        <p:nvSpPr>
          <p:cNvPr id="3" name="Rectangle 2"/>
          <p:cNvSpPr/>
          <p:nvPr/>
        </p:nvSpPr>
        <p:spPr>
          <a:xfrm>
            <a:off x="7956376" y="5157192"/>
            <a:ext cx="601294"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1635400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rgbClr val="0070C0"/>
                </a:solidFill>
              </a:rPr>
              <a:t>Moodle &amp; Textbook Work</a:t>
            </a:r>
          </a:p>
        </p:txBody>
      </p:sp>
      <p:sp>
        <p:nvSpPr>
          <p:cNvPr id="6" name="Content Placeholder 2"/>
          <p:cNvSpPr txBox="1">
            <a:spLocks/>
          </p:cNvSpPr>
          <p:nvPr/>
        </p:nvSpPr>
        <p:spPr>
          <a:xfrm>
            <a:off x="3203848" y="2072062"/>
            <a:ext cx="5461800" cy="2331621"/>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a:lstStyle>
          <a:p>
            <a:r>
              <a:rPr lang="en-AU" dirty="0">
                <a:latin typeface="Calibri" panose="020F0502020204030204" pitchFamily="34" charset="0"/>
                <a:cs typeface="Calibri" panose="020F0502020204030204" pitchFamily="34" charset="0"/>
              </a:rPr>
              <a:t>Read Nelson pages 245-250 and 257-259.  </a:t>
            </a:r>
          </a:p>
          <a:p>
            <a:r>
              <a:rPr lang="en-AU" dirty="0">
                <a:latin typeface="Calibri" panose="020F0502020204030204" pitchFamily="34" charset="0"/>
                <a:cs typeface="Calibri" panose="020F0502020204030204" pitchFamily="34" charset="0"/>
              </a:rPr>
              <a:t>Complete question sets 8.2 and 8.5.</a:t>
            </a:r>
          </a:p>
          <a:p>
            <a:r>
              <a:rPr lang="en-AU" dirty="0">
                <a:latin typeface="Calibri" panose="020F0502020204030204" pitchFamily="34" charset="0"/>
                <a:cs typeface="Calibri" panose="020F0502020204030204" pitchFamily="34" charset="0"/>
              </a:rPr>
              <a:t>Complete Chapter review questions 1-12.</a:t>
            </a:r>
          </a:p>
          <a:p>
            <a:endParaRPr lang="en-AU" dirty="0"/>
          </a:p>
          <a:p>
            <a:endParaRPr lang="en-AU"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096" y="2072062"/>
            <a:ext cx="2088232" cy="2738141"/>
          </a:xfrm>
          <a:prstGeom prst="rect">
            <a:avLst/>
          </a:prstGeom>
        </p:spPr>
      </p:pic>
    </p:spTree>
    <p:extLst>
      <p:ext uri="{BB962C8B-B14F-4D97-AF65-F5344CB8AC3E}">
        <p14:creationId xmlns:p14="http://schemas.microsoft.com/office/powerpoint/2010/main" val="35475284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043584"/>
          </a:xfrm>
        </p:spPr>
        <p:txBody>
          <a:bodyPr/>
          <a:lstStyle/>
          <a:p>
            <a:r>
              <a:rPr lang="en-AU" dirty="0">
                <a:solidFill>
                  <a:srgbClr val="0070C0"/>
                </a:solidFill>
              </a:rPr>
              <a:t>Student Feedback</a:t>
            </a:r>
          </a:p>
        </p:txBody>
      </p:sp>
      <p:sp>
        <p:nvSpPr>
          <p:cNvPr id="3" name="Content Placeholder 2"/>
          <p:cNvSpPr>
            <a:spLocks noGrp="1"/>
          </p:cNvSpPr>
          <p:nvPr>
            <p:ph sz="quarter" idx="1"/>
          </p:nvPr>
        </p:nvSpPr>
        <p:spPr/>
        <p:txBody>
          <a:bodyPr/>
          <a:lstStyle/>
          <a:p>
            <a:r>
              <a:rPr lang="en-AU" dirty="0">
                <a:latin typeface="Calibri" panose="020F0502020204030204" pitchFamily="34" charset="0"/>
                <a:cs typeface="Calibri" panose="020F0502020204030204" pitchFamily="34" charset="0"/>
              </a:rPr>
              <a:t>What I learnt today…..</a:t>
            </a:r>
          </a:p>
          <a:p>
            <a:endParaRPr lang="en-AU"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a:p>
            <a:pPr marL="0" indent="0">
              <a:buNone/>
            </a:pPr>
            <a:endParaRPr lang="en-AU" dirty="0">
              <a:latin typeface="Calibri" panose="020F0502020204030204" pitchFamily="34" charset="0"/>
              <a:cs typeface="Calibri" panose="020F0502020204030204" pitchFamily="34" charset="0"/>
            </a:endParaRPr>
          </a:p>
          <a:p>
            <a:r>
              <a:rPr lang="en-AU" dirty="0">
                <a:latin typeface="Calibri" panose="020F0502020204030204" pitchFamily="34" charset="0"/>
                <a:cs typeface="Calibri" panose="020F0502020204030204" pitchFamily="34" charset="0"/>
              </a:rPr>
              <a:t>What I need to revise….</a:t>
            </a:r>
          </a:p>
          <a:p>
            <a:endParaRPr lang="en-AU" dirty="0">
              <a:latin typeface="Calibri" panose="020F0502020204030204" pitchFamily="34" charset="0"/>
              <a:cs typeface="Calibri" panose="020F0502020204030204" pitchFamily="34" charset="0"/>
            </a:endParaRPr>
          </a:p>
          <a:p>
            <a:endParaRPr lang="en-AU" dirty="0"/>
          </a:p>
        </p:txBody>
      </p:sp>
    </p:spTree>
    <p:extLst>
      <p:ext uri="{BB962C8B-B14F-4D97-AF65-F5344CB8AC3E}">
        <p14:creationId xmlns:p14="http://schemas.microsoft.com/office/powerpoint/2010/main" val="8974242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C1C93EF2-4785-427F-84A5-F1666490E9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853</TotalTime>
  <Words>3009</Words>
  <Application>Microsoft Office PowerPoint</Application>
  <PresentationFormat>On-screen Show (4:3)</PresentationFormat>
  <Paragraphs>392</Paragraphs>
  <Slides>50</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Arial</vt:lpstr>
      <vt:lpstr>Calibri</vt:lpstr>
      <vt:lpstr>Comic Sans MS</vt:lpstr>
      <vt:lpstr>Google Sans</vt:lpstr>
      <vt:lpstr>Tw Cen MT</vt:lpstr>
      <vt:lpstr>Tw Cen MT Condensed</vt:lpstr>
      <vt:lpstr>Wingdings</vt:lpstr>
      <vt:lpstr>Wingdings 3</vt:lpstr>
      <vt:lpstr>Integral</vt:lpstr>
      <vt:lpstr>Year 11 ATAR Biology  Week 20 - Features of Eukaryote cells</vt:lpstr>
      <vt:lpstr>Year 11 Biology Work Schedule</vt:lpstr>
      <vt:lpstr>Review</vt:lpstr>
      <vt:lpstr>Learning Intentions</vt:lpstr>
      <vt:lpstr>PowerPoint Presentation</vt:lpstr>
      <vt:lpstr>PowerPoint Presentation</vt:lpstr>
      <vt:lpstr>Animal &amp; Plant Cells</vt:lpstr>
      <vt:lpstr>Features Shared by Plant and Animal Cells</vt:lpstr>
      <vt:lpstr>Plasma Membrane</vt:lpstr>
      <vt:lpstr>Plasma Membrane</vt:lpstr>
      <vt:lpstr>Plasma Membrane</vt:lpstr>
      <vt:lpstr>Plasma Membrane</vt:lpstr>
      <vt:lpstr>Plasma Membrane</vt:lpstr>
      <vt:lpstr>Plasma Membrane</vt:lpstr>
      <vt:lpstr>Plasma Membrane</vt:lpstr>
      <vt:lpstr>Plasma Membrane</vt:lpstr>
      <vt:lpstr>Cytoplasm</vt:lpstr>
      <vt:lpstr>Ribosomes</vt:lpstr>
      <vt:lpstr>Mitochondria</vt:lpstr>
      <vt:lpstr>Rough Endoplasmic  Reticulum</vt:lpstr>
      <vt:lpstr>Smooth Endoplasmic  Reticulum</vt:lpstr>
      <vt:lpstr>Success Criteria: label cell organelles</vt:lpstr>
      <vt:lpstr>PowerPoint Presentation</vt:lpstr>
      <vt:lpstr>Moodle &amp; Textbook Work</vt:lpstr>
      <vt:lpstr>Student Feedback</vt:lpstr>
      <vt:lpstr>PowerPoint Presentation</vt:lpstr>
      <vt:lpstr>Golgi Apparatus</vt:lpstr>
      <vt:lpstr>Nucleus</vt:lpstr>
      <vt:lpstr>Nucleolus</vt:lpstr>
      <vt:lpstr>Centrioles</vt:lpstr>
      <vt:lpstr>Vacuoles and Vesicles</vt:lpstr>
      <vt:lpstr>The Cell Cytoskeleton</vt:lpstr>
      <vt:lpstr>The Cell Cytoskeleton</vt:lpstr>
      <vt:lpstr>Specialist Plant Cell Features</vt:lpstr>
      <vt:lpstr>Cellulose Cell Wall</vt:lpstr>
      <vt:lpstr>Plastids</vt:lpstr>
      <vt:lpstr>Chloroplasts</vt:lpstr>
      <vt:lpstr>Specialist Animal Cell Features</vt:lpstr>
      <vt:lpstr>Lysosomes</vt:lpstr>
      <vt:lpstr>Cilia and Flagella</vt:lpstr>
      <vt:lpstr>Success Criteria: label cell organelles</vt:lpstr>
      <vt:lpstr>PowerPoint Presentation</vt:lpstr>
      <vt:lpstr>PowerPoint Presentation</vt:lpstr>
      <vt:lpstr>Plant cell structure and function</vt:lpstr>
      <vt:lpstr>Plant and Animal Cell Similarities</vt:lpstr>
      <vt:lpstr>Plant and Animal Cell Differences</vt:lpstr>
      <vt:lpstr>Online Activity</vt:lpstr>
      <vt:lpstr>Exam Question Review</vt:lpstr>
      <vt:lpstr>Moodle &amp; Textbook Work</vt:lpstr>
      <vt:lpstr>Student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Features of Eukaryote cells</dc:title>
  <dc:creator>HARDINGHAM Gillian</dc:creator>
  <cp:lastModifiedBy>HARTLAND Robbert [SIDE - Sch of Isol &amp; Dist Edu]</cp:lastModifiedBy>
  <cp:revision>71</cp:revision>
  <dcterms:created xsi:type="dcterms:W3CDTF">2015-07-02T04:37:56Z</dcterms:created>
  <dcterms:modified xsi:type="dcterms:W3CDTF">2023-06-26T02:15:38Z</dcterms:modified>
</cp:coreProperties>
</file>