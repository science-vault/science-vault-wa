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25"/>
  </p:notesMasterIdLst>
  <p:sldIdLst>
    <p:sldId id="256" r:id="rId4"/>
    <p:sldId id="319" r:id="rId5"/>
    <p:sldId id="322" r:id="rId6"/>
    <p:sldId id="257" r:id="rId7"/>
    <p:sldId id="260" r:id="rId8"/>
    <p:sldId id="271" r:id="rId9"/>
    <p:sldId id="279" r:id="rId10"/>
    <p:sldId id="270" r:id="rId11"/>
    <p:sldId id="272" r:id="rId12"/>
    <p:sldId id="273" r:id="rId13"/>
    <p:sldId id="274" r:id="rId14"/>
    <p:sldId id="259" r:id="rId15"/>
    <p:sldId id="275" r:id="rId16"/>
    <p:sldId id="277" r:id="rId17"/>
    <p:sldId id="320" r:id="rId18"/>
    <p:sldId id="276" r:id="rId19"/>
    <p:sldId id="280" r:id="rId20"/>
    <p:sldId id="281" r:id="rId21"/>
    <p:sldId id="261" r:id="rId22"/>
    <p:sldId id="321" r:id="rId23"/>
    <p:sldId id="32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84682" autoAdjust="0"/>
  </p:normalViewPr>
  <p:slideViewPr>
    <p:cSldViewPr snapToGrid="0">
      <p:cViewPr varScale="1">
        <p:scale>
          <a:sx n="97" d="100"/>
          <a:sy n="97" d="100"/>
        </p:scale>
        <p:origin x="101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5E849-5F31-4B2A-9A11-E8471BBB84B7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6703-266F-4FA8-A721-1F0AF82E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13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60CBA7F-B7A3-4D63-99B0-83C725C4B47B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04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fld id="{6A8BF635-D03C-4EF3-95BE-E00B6C039540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</a:rPr>
              <a:t>Figure 44.8 Forms of nitrogenous waste.</a:t>
            </a:r>
          </a:p>
        </p:txBody>
      </p:sp>
    </p:spTree>
    <p:extLst>
      <p:ext uri="{BB962C8B-B14F-4D97-AF65-F5344CB8AC3E}">
        <p14:creationId xmlns:p14="http://schemas.microsoft.com/office/powerpoint/2010/main" val="87471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1EE056-AB33-4CDC-8E17-119974E5E95F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054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5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7FA11D8-91A4-474F-BE2F-8B69938CEED7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147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3074F4D-1CB8-4891-894E-AA957FEC8C9F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08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F2C92F-F9EE-4285-9139-2904C04C8971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310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51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7648F22-3A8D-4B1B-AADB-43A16CBF0F0E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9083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The loop of Henle occurs only in mammals and some bird kidneys, which enables these animals to produce highly concentrated urine.</a:t>
            </a:r>
          </a:p>
          <a:p>
            <a:r>
              <a:rPr lang="en-US" altLang="en-US" dirty="0"/>
              <a:t>The Australian Spinifex Hopping Mouse has long loops of Henle, producing very concentrated urine, absorbing enough water that it hardly needs to drink.</a:t>
            </a:r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9FCFDE-9D04-4903-8A80-722FB44A70FA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19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fld id="{185E73B7-F969-4718-B417-08E1FC5BC5F7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Figure 44.UN01 Summary figure, Concept 44.1 </a:t>
            </a:r>
          </a:p>
        </p:txBody>
      </p:sp>
    </p:spTree>
    <p:extLst>
      <p:ext uri="{BB962C8B-B14F-4D97-AF65-F5344CB8AC3E}">
        <p14:creationId xmlns:p14="http://schemas.microsoft.com/office/powerpoint/2010/main" val="522665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fld id="{AEA5A37D-B733-4A06-806C-C4CC8F1124CD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Figure 44.UN01 Summary figure, Concept 44.1 </a:t>
            </a:r>
          </a:p>
        </p:txBody>
      </p:sp>
    </p:spTree>
    <p:extLst>
      <p:ext uri="{BB962C8B-B14F-4D97-AF65-F5344CB8AC3E}">
        <p14:creationId xmlns:p14="http://schemas.microsoft.com/office/powerpoint/2010/main" val="2737757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16703-266F-4FA8-A721-1F0AF82E1A6C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722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solidFill>
                  <a:srgbClr val="0070C0"/>
                </a:solidFill>
              </a:rPr>
              <a:t>Pivot Survey:    </a:t>
            </a:r>
            <a:r>
              <a:rPr lang="en-AU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https://survey.pivotpl.com/login/sst/</a:t>
            </a:r>
            <a:r>
              <a:rPr lang="en-AU" b="0" i="0" dirty="0">
                <a:solidFill>
                  <a:srgbClr val="35A3BF"/>
                </a:solidFill>
                <a:effectLst/>
                <a:latin typeface="Segoe UI" panose="020B0502040204020203" pitchFamily="34" charset="0"/>
              </a:rPr>
              <a:t>KWUEP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5C081-5051-4407-B163-A70E6E988381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30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223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76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24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61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06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80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335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597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6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57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18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/>
          <p:cNvSpPr>
            <a:spLocks noChangeArrowheads="1"/>
          </p:cNvSpPr>
          <p:nvPr/>
        </p:nvSpPr>
        <p:spPr bwMode="gray">
          <a:xfrm>
            <a:off x="1" y="1"/>
            <a:ext cx="12187767" cy="6856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pic>
        <p:nvPicPr>
          <p:cNvPr id="5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3"/>
          <p:cNvSpPr>
            <a:spLocks noChangeArrowheads="1"/>
          </p:cNvSpPr>
          <p:nvPr/>
        </p:nvSpPr>
        <p:spPr bwMode="gray">
          <a:xfrm>
            <a:off x="0" y="3200400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7" name="Line 15"/>
          <p:cNvSpPr>
            <a:spLocks noChangeShapeType="1"/>
          </p:cNvSpPr>
          <p:nvPr/>
        </p:nvSpPr>
        <p:spPr bwMode="gray">
          <a:xfrm>
            <a:off x="0" y="3200400"/>
            <a:ext cx="12192000" cy="0"/>
          </a:xfrm>
          <a:prstGeom prst="line">
            <a:avLst/>
          </a:prstGeom>
          <a:noFill/>
          <a:ln w="635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8" name="Rectangle 30"/>
          <p:cNvSpPr>
            <a:spLocks noChangeArrowheads="1"/>
          </p:cNvSpPr>
          <p:nvPr/>
        </p:nvSpPr>
        <p:spPr bwMode="auto"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pic>
        <p:nvPicPr>
          <p:cNvPr id="9" name="Picture 31" descr="CL_Logo_RGB_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8017934" y="5002213"/>
            <a:ext cx="3596217" cy="117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609600" y="3365500"/>
            <a:ext cx="10972800" cy="304800"/>
          </a:xfrm>
          <a:solidFill>
            <a:schemeClr val="accent1"/>
          </a:solidFill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09600" y="1143000"/>
            <a:ext cx="10972800" cy="1828800"/>
          </a:xfrm>
        </p:spPr>
        <p:txBody>
          <a:bodyPr anchor="b"/>
          <a:lstStyle>
            <a:lvl1pPr>
              <a:lnSpc>
                <a:spcPts val="42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0843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756B7-765A-4094-9127-A1AB3AD242E6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B83CF4-63EA-4AC9-A2D0-37350994A8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093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3CB78-1726-48BA-8E79-BE7E8841DBCD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BCDA7-15F5-487C-B488-375EC0C920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248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5384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384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5272D-4250-46F0-98A3-796BF0EC0CC9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86D0D-58AB-4545-AC20-ADAD084AAF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9578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1ED5D-5457-4448-B772-A383446611E7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AD0AD-F611-433B-BA39-E48C2E98F1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370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D3BB0-D4D4-4A64-996D-C376C14797E4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43983-871E-4CC6-9E89-7376F30F6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6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C23F8-6B8F-4630-9991-1470794CB770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AAFF8-6F19-4E5F-8D8A-CD94C73850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182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A10E6-9DD3-45D5-82C7-5DCE50BEA798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FD2DD-5E93-4C42-99B3-20ACFE86DD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270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0315E-53B1-4447-895F-A0F1BF2BD882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2C659-8756-4B9F-984A-9961EDE9BD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610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20240-DB6C-4BB0-8C40-6290C1564CE9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6159A-D965-40A7-9A73-A0A9FE2025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393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2814"/>
            <a:ext cx="2743200" cy="48783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2814"/>
            <a:ext cx="8026400" cy="48783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60051-5F7A-46F6-BB75-CF6692F3A973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393EA-E78E-4387-AB52-ED23AA419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4185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2813"/>
            <a:ext cx="10972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76400"/>
            <a:ext cx="109728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EFCB8E-582A-49E9-8E3C-CCB35E7DBA21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FF6C1-A983-413C-86B5-49DB22DF66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697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3839" y="182879"/>
            <a:ext cx="1170432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1" y="3869636"/>
            <a:ext cx="8767860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1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295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052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1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2609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3250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576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6177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7408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7795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752" y="1097280"/>
            <a:ext cx="5532851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77952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8267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7795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8810" y="1069848"/>
            <a:ext cx="5676937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7795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767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0323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1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86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B0FA3-0BCB-492E-B26F-7C26CF9969FB}" type="datetimeFigureOut">
              <a:rPr lang="en-AU" smtClean="0"/>
              <a:t>10/10/2023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43FAA-3BFF-412C-BFDA-2DF6CBC4DE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467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90" b="52380"/>
          <a:stretch>
            <a:fillRect/>
          </a:stretch>
        </p:blipFill>
        <p:spPr bwMode="gray">
          <a:xfrm>
            <a:off x="0" y="0"/>
            <a:ext cx="121941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1"/>
          <p:cNvSpPr>
            <a:spLocks noChangeArrowheads="1"/>
          </p:cNvSpPr>
          <p:nvPr/>
        </p:nvSpPr>
        <p:spPr bwMode="gray">
          <a:xfrm>
            <a:off x="0" y="684214"/>
            <a:ext cx="12192000" cy="1095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1097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426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E11103D-60A5-433E-BB09-6C7B40E45A65}" type="datetimeFigureOut">
              <a:rPr lang="en-US" altLang="en-US"/>
              <a:pPr>
                <a:defRPr/>
              </a:pPr>
              <a:t>10/10/2023</a:t>
            </a:fld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" y="6426200"/>
            <a:ext cx="304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A63D7-C7EE-455E-BAB6-983F35F163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9600" y="912813"/>
            <a:ext cx="1097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2" name="Rectangle 18"/>
          <p:cNvSpPr>
            <a:spLocks noChangeArrowheads="1"/>
          </p:cNvSpPr>
          <p:nvPr/>
        </p:nvSpPr>
        <p:spPr bwMode="gray">
          <a:xfrm>
            <a:off x="0" y="6721476"/>
            <a:ext cx="12192000" cy="1365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  <p:pic>
        <p:nvPicPr>
          <p:cNvPr id="1033" name="Picture 29" descr="CL_Logo_RGB_PNG"/>
          <p:cNvPicPr preferRelativeResize="0"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734" y="6035676"/>
            <a:ext cx="205951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234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ts val="2200"/>
        </a:lnSpc>
        <a:spcBef>
          <a:spcPct val="5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228600" indent="-227013" algn="l" rtl="0" eaLnBrk="0" fontAlgn="base" hangingPunct="0">
        <a:lnSpc>
          <a:spcPts val="22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449263" indent="-219075" algn="l" rtl="0" eaLnBrk="0" fontAlgn="base" hangingPunct="0">
        <a:lnSpc>
          <a:spcPts val="18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682625" indent="-231775" algn="l" rtl="0" eaLnBrk="0" fontAlgn="base" hangingPunct="0">
        <a:lnSpc>
          <a:spcPts val="18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915988" indent="-231775" algn="l" rtl="0" eaLnBrk="0" fontAlgn="base" hangingPunct="0">
        <a:lnSpc>
          <a:spcPts val="16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1373188" indent="-231775" algn="l" rtl="0" eaLnBrk="1" fontAlgn="base" hangingPunct="1">
        <a:lnSpc>
          <a:spcPts val="16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400">
          <a:solidFill>
            <a:schemeClr val="tx1"/>
          </a:solidFill>
          <a:latin typeface="+mn-lt"/>
        </a:defRPr>
      </a:lvl6pPr>
      <a:lvl7pPr marL="1830388" indent="-231775" algn="l" rtl="0" eaLnBrk="1" fontAlgn="base" hangingPunct="1">
        <a:lnSpc>
          <a:spcPts val="16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400">
          <a:solidFill>
            <a:schemeClr val="tx1"/>
          </a:solidFill>
          <a:latin typeface="+mn-lt"/>
        </a:defRPr>
      </a:lvl7pPr>
      <a:lvl8pPr marL="2287588" indent="-231775" algn="l" rtl="0" eaLnBrk="1" fontAlgn="base" hangingPunct="1">
        <a:lnSpc>
          <a:spcPts val="16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400">
          <a:solidFill>
            <a:schemeClr val="tx1"/>
          </a:solidFill>
          <a:latin typeface="+mn-lt"/>
        </a:defRPr>
      </a:lvl8pPr>
      <a:lvl9pPr marL="2744788" indent="-231775" algn="l" rtl="0" eaLnBrk="1" fontAlgn="base" hangingPunct="1">
        <a:lnSpc>
          <a:spcPts val="1600"/>
        </a:lnSpc>
        <a:spcBef>
          <a:spcPct val="50000"/>
        </a:spcBef>
        <a:spcAft>
          <a:spcPct val="0"/>
        </a:spcAft>
        <a:buClr>
          <a:schemeClr val="hlink"/>
        </a:buClr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3840" y="182880"/>
            <a:ext cx="1170432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2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30"/>
            <a:ext cx="2329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 eaLnBrk="1" latinLnBrk="0" hangingPunct="1"/>
            <a:fld id="{8F6BCBE8-30B0-4476-8762-9236B142003A}" type="datetimeFigureOut">
              <a:rPr lang="en-US" smtClean="0"/>
              <a:pPr eaLnBrk="1" latinLnBrk="0" hangingPunct="1"/>
              <a:t>10/10/2023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9" y="6223830"/>
            <a:ext cx="4717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2" y="6223830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12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5896"/>
            <a:ext cx="9144000" cy="3879241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11ATAR Biology</a:t>
            </a:r>
            <a:br>
              <a:rPr lang="en-AU" b="1" dirty="0"/>
            </a:br>
            <a:br>
              <a:rPr lang="en-AU" b="1" dirty="0"/>
            </a:br>
            <a:r>
              <a:rPr lang="en-AU" sz="4800" b="1" dirty="0">
                <a:solidFill>
                  <a:srgbClr val="0070C0"/>
                </a:solidFill>
              </a:rPr>
              <a:t>Week 31</a:t>
            </a:r>
            <a:br>
              <a:rPr lang="en-AU" b="1" dirty="0">
                <a:solidFill>
                  <a:srgbClr val="0070C0"/>
                </a:solidFill>
              </a:rPr>
            </a:br>
            <a:r>
              <a:rPr lang="en-AU" sz="4200" b="1" dirty="0">
                <a:solidFill>
                  <a:srgbClr val="0070C0"/>
                </a:solidFill>
              </a:rPr>
              <a:t>Animal Systems - Excretory processes</a:t>
            </a:r>
            <a:br>
              <a:rPr lang="en-AU" b="1" dirty="0"/>
            </a:b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EC87C-6B72-631C-D098-D110268FF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451" y="3835555"/>
            <a:ext cx="4711098" cy="245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4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0" y="609600"/>
            <a:ext cx="7406640" cy="803176"/>
          </a:xfrm>
        </p:spPr>
        <p:txBody>
          <a:bodyPr/>
          <a:lstStyle/>
          <a:p>
            <a:r>
              <a:rPr lang="en-AU" dirty="0"/>
              <a:t>Year 11 Biology Work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7554" y="1632138"/>
            <a:ext cx="8153400" cy="2781003"/>
          </a:xfrm>
        </p:spPr>
        <p:txBody>
          <a:bodyPr>
            <a:normAutofit/>
          </a:bodyPr>
          <a:lstStyle/>
          <a:p>
            <a:r>
              <a:rPr lang="en-AU" altLang="en-US" dirty="0"/>
              <a:t>It is important to remain on schedule during this Semester.</a:t>
            </a:r>
          </a:p>
          <a:p>
            <a:pPr marL="0" indent="0">
              <a:buNone/>
            </a:pPr>
            <a:r>
              <a:rPr lang="en-AU" altLang="en-US" b="1" dirty="0"/>
              <a:t>Moodle</a:t>
            </a:r>
          </a:p>
          <a:p>
            <a:r>
              <a:rPr lang="en-AU" altLang="en-US" dirty="0"/>
              <a:t>Have you visited Moodle this week?        Yes  /  No</a:t>
            </a:r>
          </a:p>
          <a:p>
            <a:pPr marL="0" indent="0">
              <a:buNone/>
            </a:pPr>
            <a:r>
              <a:rPr lang="en-AU" altLang="en-US" b="1" dirty="0"/>
              <a:t>Tasks</a:t>
            </a:r>
          </a:p>
          <a:p>
            <a:r>
              <a:rPr lang="en-AU" altLang="en-US" dirty="0"/>
              <a:t>Are you on schedule?     	        	Yes  /  No</a:t>
            </a:r>
          </a:p>
          <a:p>
            <a:r>
              <a:rPr lang="en-AU" altLang="en-US" dirty="0"/>
              <a:t>When is your next task due?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73" y="4077072"/>
            <a:ext cx="8705162" cy="242802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4F9D6BA-D6FD-CCD5-31F1-E54DB7FBE55D}"/>
              </a:ext>
            </a:extLst>
          </p:cNvPr>
          <p:cNvSpPr/>
          <p:nvPr/>
        </p:nvSpPr>
        <p:spPr>
          <a:xfrm rot="16200000">
            <a:off x="8435546" y="5875993"/>
            <a:ext cx="288324" cy="30480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409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1475A6-B1B0-F844-A1F7-E1ADF5613724}"/>
              </a:ext>
            </a:extLst>
          </p:cNvPr>
          <p:cNvSpPr txBox="1">
            <a:spLocks/>
          </p:cNvSpPr>
          <p:nvPr/>
        </p:nvSpPr>
        <p:spPr bwMode="gray">
          <a:xfrm>
            <a:off x="913431" y="783829"/>
            <a:ext cx="7406640" cy="94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AU" sz="3600" kern="0" dirty="0">
                <a:solidFill>
                  <a:srgbClr val="0070C0"/>
                </a:solidFill>
              </a:rPr>
              <a:t>Learning Intentions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78301B-92A5-55F0-F847-7A0BD9E50AFE}"/>
              </a:ext>
            </a:extLst>
          </p:cNvPr>
          <p:cNvSpPr txBox="1">
            <a:spLocks/>
          </p:cNvSpPr>
          <p:nvPr/>
        </p:nvSpPr>
        <p:spPr bwMode="auto">
          <a:xfrm>
            <a:off x="902066" y="1622426"/>
            <a:ext cx="8139458" cy="73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228600" indent="-227013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449263" indent="-219075" algn="l" rtl="0" eaLnBrk="0" fontAlgn="base" hangingPunct="0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682625" indent="-231775" algn="l" rtl="0" eaLnBrk="0" fontAlgn="base" hangingPunct="0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915988" indent="-231775" algn="l" rtl="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13731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18303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22875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27447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AU" sz="2000" kern="0" dirty="0">
                <a:solidFill>
                  <a:srgbClr val="002060"/>
                </a:solidFill>
              </a:rPr>
              <a:t>Understand the structure and function of the excretory system in animals. </a:t>
            </a:r>
          </a:p>
          <a:p>
            <a:pPr marL="34290" indent="0"/>
            <a:endParaRPr lang="en-AU" kern="0" dirty="0"/>
          </a:p>
          <a:p>
            <a:endParaRPr lang="en-AU" kern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8D4221-FF82-FB54-2A45-E42061B0869A}"/>
              </a:ext>
            </a:extLst>
          </p:cNvPr>
          <p:cNvSpPr txBox="1">
            <a:spLocks/>
          </p:cNvSpPr>
          <p:nvPr/>
        </p:nvSpPr>
        <p:spPr>
          <a:xfrm>
            <a:off x="758185" y="3337867"/>
            <a:ext cx="7776864" cy="2871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" indent="0">
              <a:buNone/>
            </a:pPr>
            <a:r>
              <a:rPr lang="en-AU" sz="2400" dirty="0">
                <a:solidFill>
                  <a:srgbClr val="002060"/>
                </a:solidFill>
              </a:rPr>
              <a:t>Students will be able to:</a:t>
            </a:r>
          </a:p>
          <a:p>
            <a:r>
              <a:rPr lang="en-AU" dirty="0">
                <a:solidFill>
                  <a:srgbClr val="002060"/>
                </a:solidFill>
              </a:rPr>
              <a:t>Describe the structure and function of kidneys within excretory system.</a:t>
            </a:r>
          </a:p>
          <a:p>
            <a:r>
              <a:rPr lang="en-AU" dirty="0">
                <a:solidFill>
                  <a:srgbClr val="002060"/>
                </a:solidFill>
              </a:rPr>
              <a:t>Describe the structure and function of the nephron within the kidneys. </a:t>
            </a:r>
          </a:p>
          <a:p>
            <a:r>
              <a:rPr lang="en-AU" dirty="0">
                <a:solidFill>
                  <a:srgbClr val="002060"/>
                </a:solidFill>
              </a:rPr>
              <a:t>Appreciate differences between the excretory systems of different types of animals.</a:t>
            </a:r>
          </a:p>
          <a:p>
            <a:r>
              <a:rPr lang="en-AU" dirty="0">
                <a:solidFill>
                  <a:srgbClr val="002060"/>
                </a:solidFill>
              </a:rPr>
              <a:t>Describe mechanisms to reduce water loss in animals related to their excretory system.</a:t>
            </a:r>
          </a:p>
          <a:p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70AB99-29F2-5722-3A70-D20AE5762377}"/>
              </a:ext>
            </a:extLst>
          </p:cNvPr>
          <p:cNvSpPr txBox="1">
            <a:spLocks/>
          </p:cNvSpPr>
          <p:nvPr/>
        </p:nvSpPr>
        <p:spPr>
          <a:xfrm>
            <a:off x="771957" y="2420888"/>
            <a:ext cx="7406640" cy="94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>
                <a:solidFill>
                  <a:srgbClr val="0070C0"/>
                </a:solidFill>
              </a:rPr>
              <a:t>Success Criteria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BA808E-5ABA-A8D7-08DE-AD2F5DEA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597" y="2274688"/>
            <a:ext cx="3588225" cy="187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5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70" y="451836"/>
            <a:ext cx="7927428" cy="1325563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Science Understanding</a:t>
            </a:r>
            <a:br>
              <a:rPr lang="en-AU" b="1" dirty="0">
                <a:solidFill>
                  <a:srgbClr val="0070C0"/>
                </a:solidFill>
              </a:rPr>
            </a:br>
            <a:r>
              <a:rPr lang="en-AU" sz="3600" b="1" dirty="0">
                <a:solidFill>
                  <a:srgbClr val="0070C0"/>
                </a:solidFill>
              </a:rPr>
              <a:t>- Multicellular Organisms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470" y="2151992"/>
            <a:ext cx="8140262" cy="3862553"/>
          </a:xfrm>
        </p:spPr>
        <p:txBody>
          <a:bodyPr>
            <a:normAutofit/>
          </a:bodyPr>
          <a:lstStyle/>
          <a:p>
            <a:r>
              <a:rPr lang="en-AU" sz="2600" dirty="0">
                <a:solidFill>
                  <a:srgbClr val="002060"/>
                </a:solidFill>
              </a:rPr>
              <a:t>In animals, waste such as carbon dioxide, water, nitrogenous compounds and salts are excreted; </a:t>
            </a:r>
          </a:p>
          <a:p>
            <a:r>
              <a:rPr lang="en-AU" sz="2600" dirty="0">
                <a:solidFill>
                  <a:srgbClr val="002060"/>
                </a:solidFill>
              </a:rPr>
              <a:t>Different types of nitrogenous wastes are produced by the breakdown of proteins; </a:t>
            </a:r>
          </a:p>
          <a:p>
            <a:r>
              <a:rPr lang="en-AU" sz="2600" dirty="0">
                <a:solidFill>
                  <a:srgbClr val="002060"/>
                </a:solidFill>
              </a:rPr>
              <a:t>Most aquatic animals excrete nitrogenous wastes directly into their surroundings; </a:t>
            </a:r>
          </a:p>
          <a:p>
            <a:r>
              <a:rPr lang="en-AU" sz="2600" dirty="0">
                <a:solidFill>
                  <a:srgbClr val="002060"/>
                </a:solidFill>
              </a:rPr>
              <a:t>Terrestrial animals require specialised mechanisms.</a:t>
            </a:r>
          </a:p>
        </p:txBody>
      </p:sp>
    </p:spTree>
    <p:extLst>
      <p:ext uri="{BB962C8B-B14F-4D97-AF65-F5344CB8AC3E}">
        <p14:creationId xmlns:p14="http://schemas.microsoft.com/office/powerpoint/2010/main" val="245026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Kidneys regulate water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083" y="1763110"/>
            <a:ext cx="7832834" cy="4648200"/>
          </a:xfrm>
        </p:spPr>
        <p:txBody>
          <a:bodyPr/>
          <a:lstStyle/>
          <a:p>
            <a:pPr>
              <a:defRPr/>
            </a:pPr>
            <a:r>
              <a:rPr lang="en-US" altLang="en-US" sz="2000" b="1" dirty="0"/>
              <a:t>The kidneys:</a:t>
            </a:r>
            <a:r>
              <a:rPr lang="en-US" altLang="en-US" sz="2000" dirty="0"/>
              <a:t>	1. Remove nitrogenous wastes from the body</a:t>
            </a:r>
          </a:p>
          <a:p>
            <a:pPr>
              <a:defRPr/>
            </a:pPr>
            <a:r>
              <a:rPr lang="en-US" altLang="en-US" sz="2000" dirty="0"/>
              <a:t>			2. Regulate water concentration in the blood</a:t>
            </a:r>
          </a:p>
          <a:p>
            <a:pPr>
              <a:defRPr/>
            </a:pPr>
            <a:r>
              <a:rPr lang="en-US" altLang="en-US" sz="2000" dirty="0"/>
              <a:t>			3. Maintain ion levels in the blood</a:t>
            </a:r>
          </a:p>
          <a:p>
            <a:pPr>
              <a:defRPr/>
            </a:pPr>
            <a:endParaRPr lang="en-US" altLang="en-US" sz="2000" dirty="0"/>
          </a:p>
          <a:p>
            <a:pPr marL="0" indent="0">
              <a:defRPr/>
            </a:pPr>
            <a:r>
              <a:rPr lang="en-US" altLang="en-US" sz="2000" dirty="0"/>
              <a:t>Nitrogenous wastes come from the breakdown of proteins. They occur in three biological forms:</a:t>
            </a:r>
          </a:p>
          <a:p>
            <a:pPr>
              <a:defRPr/>
            </a:pPr>
            <a:r>
              <a:rPr lang="en-US" altLang="en-US" sz="2000" dirty="0"/>
              <a:t>			</a:t>
            </a:r>
            <a:r>
              <a:rPr lang="en-US" altLang="en-US" sz="2000" b="1" dirty="0">
                <a:solidFill>
                  <a:srgbClr val="FF9900"/>
                </a:solidFill>
              </a:rPr>
              <a:t>Ammonia</a:t>
            </a:r>
            <a:r>
              <a:rPr lang="en-US" altLang="en-US" sz="2000" dirty="0">
                <a:solidFill>
                  <a:srgbClr val="FF9900"/>
                </a:solidFill>
              </a:rPr>
              <a:t> </a:t>
            </a:r>
            <a:r>
              <a:rPr lang="en-US" altLang="en-US" sz="2000" dirty="0"/>
              <a:t>– least toxic</a:t>
            </a:r>
          </a:p>
          <a:p>
            <a:pPr>
              <a:defRPr/>
            </a:pPr>
            <a:r>
              <a:rPr lang="en-US" altLang="en-US" sz="2000" dirty="0"/>
              <a:t>			</a:t>
            </a:r>
            <a:r>
              <a:rPr lang="en-US" altLang="en-US" sz="2000" b="1" dirty="0">
                <a:solidFill>
                  <a:srgbClr val="FF9900"/>
                </a:solidFill>
              </a:rPr>
              <a:t>Urea</a:t>
            </a:r>
            <a:r>
              <a:rPr lang="en-US" altLang="en-US" sz="2000" dirty="0"/>
              <a:t> – intermediate toxicity</a:t>
            </a:r>
          </a:p>
          <a:p>
            <a:pPr>
              <a:defRPr/>
            </a:pPr>
            <a:r>
              <a:rPr lang="en-US" altLang="en-US" sz="2000" dirty="0"/>
              <a:t>			</a:t>
            </a:r>
            <a:r>
              <a:rPr lang="en-US" altLang="en-US" sz="2000" b="1" dirty="0">
                <a:solidFill>
                  <a:srgbClr val="FF9900"/>
                </a:solidFill>
              </a:rPr>
              <a:t>Uric acid</a:t>
            </a:r>
            <a:r>
              <a:rPr lang="en-US" altLang="en-US" sz="2000" dirty="0"/>
              <a:t> – least toxic</a:t>
            </a:r>
          </a:p>
          <a:p>
            <a:pPr marL="0" indent="0">
              <a:lnSpc>
                <a:spcPct val="120000"/>
              </a:lnSpc>
              <a:defRPr/>
            </a:pPr>
            <a:r>
              <a:rPr lang="en-US" altLang="en-US" sz="2000" dirty="0"/>
              <a:t>Different organisms have adapted the use of one of these different waste forms depending on their environmental demands.</a:t>
            </a:r>
          </a:p>
        </p:txBody>
      </p:sp>
      <p:sp>
        <p:nvSpPr>
          <p:cNvPr id="57348" name="Title 1"/>
          <p:cNvSpPr txBox="1">
            <a:spLocks/>
          </p:cNvSpPr>
          <p:nvPr/>
        </p:nvSpPr>
        <p:spPr bwMode="gray">
          <a:xfrm>
            <a:off x="1676400" y="1524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ts val="2200"/>
              </a:lnSpc>
              <a:spcBef>
                <a:spcPct val="5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ts val="22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ts val="16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rgbClr val="FFFFFF"/>
                </a:solidFill>
                <a:cs typeface="Arial" panose="020B0604020202020204" pitchFamily="34" charset="0"/>
              </a:rPr>
              <a:t>Osmoregulation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B45651-4EB4-8824-D8B4-79EFA8380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558" y="811925"/>
            <a:ext cx="3292170" cy="253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8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"/>
          <p:cNvSpPr>
            <a:spLocks noGrp="1" noChangeArrowheads="1"/>
          </p:cNvSpPr>
          <p:nvPr>
            <p:ph type="title"/>
          </p:nvPr>
        </p:nvSpPr>
        <p:spPr>
          <a:xfrm>
            <a:off x="1752600" y="36513"/>
            <a:ext cx="8763000" cy="741362"/>
          </a:xfrm>
        </p:spPr>
        <p:txBody>
          <a:bodyPr/>
          <a:lstStyle/>
          <a:p>
            <a:pPr eaLnBrk="1" hangingPunct="1"/>
            <a:r>
              <a:rPr lang="en-US" altLang="en-US" sz="2400" b="1">
                <a:solidFill>
                  <a:schemeClr val="bg1"/>
                </a:solidFill>
                <a:cs typeface="Arial" panose="020B0604020202020204" pitchFamily="34" charset="0"/>
              </a:rPr>
              <a:t>Excretory systems (Extension work)</a:t>
            </a:r>
          </a:p>
        </p:txBody>
      </p:sp>
      <p:pic>
        <p:nvPicPr>
          <p:cNvPr id="142339" name="Diagram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07194"/>
            <a:ext cx="8305800" cy="614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43752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25" descr="44_08_NitrogenousWaste-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941" y="136525"/>
            <a:ext cx="5683250" cy="658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5699017" y="276226"/>
            <a:ext cx="7461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400" b="1"/>
              <a:t>Proteins</a:t>
            </a:r>
          </a:p>
        </p:txBody>
      </p:sp>
      <p:sp>
        <p:nvSpPr>
          <p:cNvPr id="31749" name="Text Box 15"/>
          <p:cNvSpPr txBox="1">
            <a:spLocks noChangeArrowheads="1"/>
          </p:cNvSpPr>
          <p:nvPr/>
        </p:nvSpPr>
        <p:spPr bwMode="auto">
          <a:xfrm>
            <a:off x="6856304" y="269875"/>
            <a:ext cx="1168400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400" b="1"/>
              <a:t>Nucleic acids</a:t>
            </a:r>
          </a:p>
        </p:txBody>
      </p:sp>
      <p:sp>
        <p:nvSpPr>
          <p:cNvPr id="31750" name="Text Box 16"/>
          <p:cNvSpPr txBox="1">
            <a:spLocks noChangeArrowheads="1"/>
          </p:cNvSpPr>
          <p:nvPr/>
        </p:nvSpPr>
        <p:spPr bwMode="auto">
          <a:xfrm>
            <a:off x="5799030" y="946150"/>
            <a:ext cx="5603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algn="ctr"/>
            <a:r>
              <a:rPr lang="en-US" altLang="en-US" sz="1400" b="1"/>
              <a:t>Amino</a:t>
            </a:r>
            <a:br>
              <a:rPr lang="en-US" altLang="en-US" sz="1400" b="1"/>
            </a:br>
            <a:r>
              <a:rPr lang="en-US" altLang="en-US" sz="1400" b="1"/>
              <a:t>acids</a:t>
            </a:r>
          </a:p>
        </p:txBody>
      </p:sp>
      <p:sp>
        <p:nvSpPr>
          <p:cNvPr id="31751" name="Text Box 17"/>
          <p:cNvSpPr txBox="1">
            <a:spLocks noChangeArrowheads="1"/>
          </p:cNvSpPr>
          <p:nvPr/>
        </p:nvSpPr>
        <p:spPr bwMode="auto">
          <a:xfrm>
            <a:off x="6838842" y="939800"/>
            <a:ext cx="10890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algn="ctr"/>
            <a:r>
              <a:rPr lang="en-US" altLang="en-US" sz="1400" b="1"/>
              <a:t>Nitrogenous</a:t>
            </a:r>
            <a:br>
              <a:rPr lang="en-US" altLang="en-US" sz="1400" b="1"/>
            </a:br>
            <a:r>
              <a:rPr lang="en-US" altLang="en-US" sz="1400" b="1"/>
              <a:t>bases</a:t>
            </a:r>
          </a:p>
        </p:txBody>
      </p:sp>
      <p:sp>
        <p:nvSpPr>
          <p:cNvPr id="31752" name="Text Box 18"/>
          <p:cNvSpPr txBox="1">
            <a:spLocks noChangeArrowheads="1"/>
          </p:cNvSpPr>
          <p:nvPr/>
        </p:nvSpPr>
        <p:spPr bwMode="auto">
          <a:xfrm>
            <a:off x="6149867" y="1789114"/>
            <a:ext cx="1287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algn="ctr"/>
            <a:r>
              <a:rPr lang="en-US" altLang="en-US" sz="1400" b="1"/>
              <a:t>—</a:t>
            </a:r>
            <a:r>
              <a:rPr lang="en-US" altLang="en-US" sz="1400" b="1">
                <a:solidFill>
                  <a:srgbClr val="ED028B"/>
                </a:solidFill>
              </a:rPr>
              <a:t>N</a:t>
            </a:r>
            <a:r>
              <a:rPr lang="en-US" altLang="en-US" sz="1400" b="1"/>
              <a:t>H</a:t>
            </a:r>
            <a:r>
              <a:rPr lang="en-US" altLang="en-US" sz="1400" b="1" baseline="-25000"/>
              <a:t>2</a:t>
            </a:r>
            <a:br>
              <a:rPr lang="en-US" altLang="en-US" sz="1400" b="1">
                <a:sym typeface="Symbol" panose="05050102010706020507" pitchFamily="18" charset="2"/>
              </a:rPr>
            </a:br>
            <a:r>
              <a:rPr lang="en-US" altLang="en-US" sz="1400" b="1"/>
              <a:t>Amino groups</a:t>
            </a:r>
          </a:p>
        </p:txBody>
      </p:sp>
      <p:sp>
        <p:nvSpPr>
          <p:cNvPr id="31753" name="Text Box 19"/>
          <p:cNvSpPr txBox="1">
            <a:spLocks noChangeArrowheads="1"/>
          </p:cNvSpPr>
          <p:nvPr/>
        </p:nvSpPr>
        <p:spPr bwMode="auto">
          <a:xfrm>
            <a:off x="4073417" y="3786189"/>
            <a:ext cx="1565275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algn="ctr"/>
            <a:r>
              <a:rPr lang="en-US" altLang="en-US" sz="1400" b="1"/>
              <a:t>Most aquatic</a:t>
            </a:r>
            <a:br>
              <a:rPr lang="en-US" altLang="en-US" sz="1400" b="1"/>
            </a:br>
            <a:r>
              <a:rPr lang="en-US" altLang="en-US" sz="1400" b="1"/>
              <a:t>animals, including</a:t>
            </a:r>
            <a:br>
              <a:rPr lang="en-US" altLang="en-US" sz="1400" b="1"/>
            </a:br>
            <a:r>
              <a:rPr lang="en-US" altLang="en-US" sz="1400" b="1"/>
              <a:t>most bony fishes</a:t>
            </a:r>
          </a:p>
        </p:txBody>
      </p:sp>
      <p:sp>
        <p:nvSpPr>
          <p:cNvPr id="31754" name="Text Box 20"/>
          <p:cNvSpPr txBox="1">
            <a:spLocks noChangeArrowheads="1"/>
          </p:cNvSpPr>
          <p:nvPr/>
        </p:nvSpPr>
        <p:spPr bwMode="auto">
          <a:xfrm>
            <a:off x="5937141" y="3779838"/>
            <a:ext cx="1709738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algn="ctr"/>
            <a:r>
              <a:rPr lang="en-US" altLang="en-US" sz="1400" b="1"/>
              <a:t>Mammals, most</a:t>
            </a:r>
            <a:br>
              <a:rPr lang="en-US" altLang="en-US" sz="1400" b="1"/>
            </a:br>
            <a:r>
              <a:rPr lang="en-US" altLang="en-US" sz="1400" b="1"/>
              <a:t>amphibians, sharks,</a:t>
            </a:r>
            <a:br>
              <a:rPr lang="en-US" altLang="en-US" sz="1400" b="1"/>
            </a:br>
            <a:r>
              <a:rPr lang="en-US" altLang="en-US" sz="1400" b="1"/>
              <a:t>some bony fishes</a:t>
            </a:r>
          </a:p>
        </p:txBody>
      </p:sp>
      <p:sp>
        <p:nvSpPr>
          <p:cNvPr id="31755" name="Text Box 21"/>
          <p:cNvSpPr txBox="1">
            <a:spLocks noChangeArrowheads="1"/>
          </p:cNvSpPr>
          <p:nvPr/>
        </p:nvSpPr>
        <p:spPr bwMode="auto">
          <a:xfrm>
            <a:off x="7877066" y="3792539"/>
            <a:ext cx="16827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algn="ctr"/>
            <a:r>
              <a:rPr lang="en-US" altLang="en-US" sz="1400" b="1"/>
              <a:t>Many reptiles</a:t>
            </a:r>
            <a:br>
              <a:rPr lang="en-US" altLang="en-US" sz="1400" b="1"/>
            </a:br>
            <a:r>
              <a:rPr lang="en-US" altLang="en-US" sz="1400" b="1"/>
              <a:t>(including birds),</a:t>
            </a:r>
            <a:br>
              <a:rPr lang="en-US" altLang="en-US" sz="1400" b="1"/>
            </a:br>
            <a:r>
              <a:rPr lang="en-US" altLang="en-US" sz="1400" b="1"/>
              <a:t>insects, land snails</a:t>
            </a:r>
          </a:p>
        </p:txBody>
      </p:sp>
      <p:sp>
        <p:nvSpPr>
          <p:cNvPr id="31756" name="Text Box 22"/>
          <p:cNvSpPr txBox="1">
            <a:spLocks noChangeArrowheads="1"/>
          </p:cNvSpPr>
          <p:nvPr/>
        </p:nvSpPr>
        <p:spPr bwMode="auto">
          <a:xfrm>
            <a:off x="4463941" y="6359525"/>
            <a:ext cx="86518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r>
              <a:rPr lang="en-US" altLang="en-US" sz="1400" b="1"/>
              <a:t>Ammonia</a:t>
            </a:r>
          </a:p>
        </p:txBody>
      </p:sp>
      <p:sp>
        <p:nvSpPr>
          <p:cNvPr id="31757" name="Text Box 23"/>
          <p:cNvSpPr txBox="1">
            <a:spLocks noChangeArrowheads="1"/>
          </p:cNvSpPr>
          <p:nvPr/>
        </p:nvSpPr>
        <p:spPr bwMode="auto">
          <a:xfrm>
            <a:off x="6400692" y="6354763"/>
            <a:ext cx="428625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r>
              <a:rPr lang="en-US" altLang="en-US" sz="1400" b="1"/>
              <a:t>Urea</a:t>
            </a:r>
          </a:p>
        </p:txBody>
      </p:sp>
      <p:sp>
        <p:nvSpPr>
          <p:cNvPr id="31758" name="Text Box 24"/>
          <p:cNvSpPr txBox="1">
            <a:spLocks noChangeArrowheads="1"/>
          </p:cNvSpPr>
          <p:nvPr/>
        </p:nvSpPr>
        <p:spPr bwMode="auto">
          <a:xfrm>
            <a:off x="8180279" y="6350000"/>
            <a:ext cx="773112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r>
              <a:rPr lang="en-US" altLang="en-US" sz="1400" b="1"/>
              <a:t>Uric acid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0F9B3-3EEC-5672-3F19-929A3BE37A16}"/>
              </a:ext>
            </a:extLst>
          </p:cNvPr>
          <p:cNvSpPr txBox="1"/>
          <p:nvPr/>
        </p:nvSpPr>
        <p:spPr>
          <a:xfrm>
            <a:off x="228599" y="269875"/>
            <a:ext cx="4389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0070C0"/>
                </a:solidFill>
              </a:rPr>
              <a:t>Forms of nitrogenous waste</a:t>
            </a:r>
            <a:endParaRPr lang="en-AU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31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/>
          <p:cNvSpPr>
            <a:spLocks noGrp="1" noChangeArrowheads="1"/>
          </p:cNvSpPr>
          <p:nvPr>
            <p:ph type="title"/>
          </p:nvPr>
        </p:nvSpPr>
        <p:spPr>
          <a:xfrm>
            <a:off x="585733" y="3514"/>
            <a:ext cx="3765332" cy="7413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solidFill>
                  <a:srgbClr val="0070C0"/>
                </a:solidFill>
                <a:cs typeface="Arial" panose="020B0604020202020204" pitchFamily="34" charset="0"/>
              </a:rPr>
              <a:t>Excretory systems</a:t>
            </a:r>
          </a:p>
        </p:txBody>
      </p:sp>
      <p:sp>
        <p:nvSpPr>
          <p:cNvPr id="140291" name="TextBox 4"/>
          <p:cNvSpPr txBox="1">
            <a:spLocks noChangeArrowheads="1"/>
          </p:cNvSpPr>
          <p:nvPr/>
        </p:nvSpPr>
        <p:spPr bwMode="auto">
          <a:xfrm>
            <a:off x="585733" y="1584612"/>
            <a:ext cx="812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solidFill>
                  <a:srgbClr val="002060"/>
                </a:solidFill>
              </a:rPr>
              <a:t>Excretion is the removal of nitrogen-related or other metabolic wastes.</a:t>
            </a:r>
          </a:p>
        </p:txBody>
      </p:sp>
      <p:sp>
        <p:nvSpPr>
          <p:cNvPr id="140292" name="TextBox 1"/>
          <p:cNvSpPr txBox="1">
            <a:spLocks noChangeArrowheads="1"/>
          </p:cNvSpPr>
          <p:nvPr/>
        </p:nvSpPr>
        <p:spPr bwMode="auto">
          <a:xfrm>
            <a:off x="585733" y="804743"/>
            <a:ext cx="8763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2000" dirty="0">
                <a:solidFill>
                  <a:srgbClr val="002060"/>
                </a:solidFill>
              </a:rPr>
              <a:t>The main functions of the excretory system include filtration of blood, reabsorption of water and solutes, and secretion of urine.</a:t>
            </a:r>
          </a:p>
        </p:txBody>
      </p:sp>
      <p:sp>
        <p:nvSpPr>
          <p:cNvPr id="140293" name="TextBox 2"/>
          <p:cNvSpPr txBox="1">
            <a:spLocks noChangeArrowheads="1"/>
          </p:cNvSpPr>
          <p:nvPr/>
        </p:nvSpPr>
        <p:spPr bwMode="auto">
          <a:xfrm>
            <a:off x="585733" y="2063871"/>
            <a:ext cx="7919545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2000" dirty="0">
                <a:solidFill>
                  <a:srgbClr val="002060"/>
                </a:solidFill>
              </a:rPr>
              <a:t>Kidneys filter water and solutes from blood. Most of this is reabsorbed back into blood, but the excess leaves the kidneys as urine. </a:t>
            </a:r>
          </a:p>
          <a:p>
            <a:endParaRPr lang="en-AU" altLang="en-US" dirty="0">
              <a:solidFill>
                <a:srgbClr val="002060"/>
              </a:solidFill>
            </a:endParaRPr>
          </a:p>
          <a:p>
            <a:r>
              <a:rPr lang="en-AU" altLang="en-US" sz="2000" dirty="0">
                <a:solidFill>
                  <a:srgbClr val="002060"/>
                </a:solidFill>
              </a:rPr>
              <a:t>The body adjusts for excess water intake by increasing urine output.</a:t>
            </a:r>
          </a:p>
          <a:p>
            <a:r>
              <a:rPr lang="en-AU" altLang="en-US" sz="2000" dirty="0">
                <a:solidFill>
                  <a:srgbClr val="002060"/>
                </a:solidFill>
              </a:rPr>
              <a:t>Conversely, it adjusts for increased exercise or decreased water intake by reducing urine output.</a:t>
            </a:r>
          </a:p>
          <a:p>
            <a:r>
              <a:rPr lang="en-AU" altLang="en-US" sz="2000" dirty="0">
                <a:solidFill>
                  <a:srgbClr val="002060"/>
                </a:solidFill>
              </a:rPr>
              <a:t> </a:t>
            </a:r>
          </a:p>
          <a:p>
            <a:r>
              <a:rPr lang="en-AU" altLang="en-US" sz="2000" dirty="0">
                <a:solidFill>
                  <a:srgbClr val="002060"/>
                </a:solidFill>
              </a:rPr>
              <a:t>The kidneys not only prevent the build-up of wastes but also help maintain water balance by controlling the volume, composition and pressure of body fluids.</a:t>
            </a:r>
          </a:p>
          <a:p>
            <a:endParaRPr lang="en-US" altLang="en-US" dirty="0"/>
          </a:p>
        </p:txBody>
      </p:sp>
      <p:sp>
        <p:nvSpPr>
          <p:cNvPr id="140294" name="TextBox 3"/>
          <p:cNvSpPr txBox="1">
            <a:spLocks noChangeArrowheads="1"/>
          </p:cNvSpPr>
          <p:nvPr/>
        </p:nvSpPr>
        <p:spPr bwMode="auto">
          <a:xfrm>
            <a:off x="585732" y="5659515"/>
            <a:ext cx="791954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solidFill>
                  <a:srgbClr val="002060"/>
                </a:solidFill>
              </a:rPr>
              <a:t>Once the kidneys have finished filtering and reabsorbing, the resulting urine volume and concentration has been adjusted to enable the balance of water and removal of wastes.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50328D-85D4-5342-63A6-536E76B6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631" y="744876"/>
            <a:ext cx="3416104" cy="26379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063F2A-A1A6-A9F7-DCF4-FA613B50D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483" y="3762247"/>
            <a:ext cx="3894082" cy="279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518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itle 1"/>
          <p:cNvSpPr>
            <a:spLocks noGrp="1" noChangeArrowheads="1"/>
          </p:cNvSpPr>
          <p:nvPr>
            <p:ph type="title"/>
          </p:nvPr>
        </p:nvSpPr>
        <p:spPr>
          <a:xfrm>
            <a:off x="1752600" y="36513"/>
            <a:ext cx="8763000" cy="741362"/>
          </a:xfrm>
        </p:spPr>
        <p:txBody>
          <a:bodyPr/>
          <a:lstStyle/>
          <a:p>
            <a:pPr eaLnBrk="1" hangingPunct="1"/>
            <a:r>
              <a:rPr lang="en-US" altLang="en-US" sz="2400" b="1">
                <a:solidFill>
                  <a:schemeClr val="bg1"/>
                </a:solidFill>
                <a:cs typeface="Arial" panose="020B0604020202020204" pitchFamily="34" charset="0"/>
              </a:rPr>
              <a:t>Excretory systems (Extension work)</a:t>
            </a:r>
          </a:p>
        </p:txBody>
      </p:sp>
      <p:sp>
        <p:nvSpPr>
          <p:cNvPr id="144387" name="TextBox 1"/>
          <p:cNvSpPr txBox="1">
            <a:spLocks noChangeArrowheads="1"/>
          </p:cNvSpPr>
          <p:nvPr/>
        </p:nvSpPr>
        <p:spPr bwMode="auto">
          <a:xfrm>
            <a:off x="3180061" y="254655"/>
            <a:ext cx="53175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0070C0"/>
                </a:solidFill>
              </a:rPr>
              <a:t>Mammalian excretory system</a:t>
            </a:r>
          </a:p>
        </p:txBody>
      </p:sp>
      <p:pic>
        <p:nvPicPr>
          <p:cNvPr id="14438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956" y="1146175"/>
            <a:ext cx="6950577" cy="5091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76020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itle 1"/>
          <p:cNvSpPr>
            <a:spLocks noGrp="1" noChangeArrowheads="1"/>
          </p:cNvSpPr>
          <p:nvPr>
            <p:ph type="title"/>
          </p:nvPr>
        </p:nvSpPr>
        <p:spPr>
          <a:xfrm>
            <a:off x="1752600" y="36513"/>
            <a:ext cx="8763000" cy="741362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Excretory systems (Extension work)</a:t>
            </a:r>
          </a:p>
        </p:txBody>
      </p:sp>
      <p:sp>
        <p:nvSpPr>
          <p:cNvPr id="146435" name="TextBox 1"/>
          <p:cNvSpPr txBox="1">
            <a:spLocks noChangeArrowheads="1"/>
          </p:cNvSpPr>
          <p:nvPr/>
        </p:nvSpPr>
        <p:spPr bwMode="auto">
          <a:xfrm>
            <a:off x="392706" y="967626"/>
            <a:ext cx="6899934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>
                <a:solidFill>
                  <a:srgbClr val="0070C0"/>
                </a:solidFill>
              </a:rPr>
              <a:t>The </a:t>
            </a:r>
            <a:r>
              <a:rPr lang="en-AU" altLang="en-US" sz="2000" b="1" dirty="0">
                <a:solidFill>
                  <a:srgbClr val="0070C0"/>
                </a:solidFill>
              </a:rPr>
              <a:t>nephron</a:t>
            </a:r>
            <a:r>
              <a:rPr lang="en-AU" altLang="en-US" sz="2000" dirty="0">
                <a:solidFill>
                  <a:srgbClr val="0070C0"/>
                </a:solidFill>
              </a:rPr>
              <a:t> </a:t>
            </a:r>
            <a:r>
              <a:rPr lang="en-AU" altLang="en-US" sz="2000" dirty="0"/>
              <a:t>is the basic functional unit of the kidney.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/>
              <a:t>Each kidney consists of approximately one million nephrons.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/>
              <a:t>Water and solutes are filtered at the start of the nephron.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/>
              <a:t>During the journey through the nephron, different amounts of solutes and water are reabsorbed back into the bloodstream.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/>
              <a:t>The amount reabsorbed is determined by the needs of the body.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/>
              <a:t>Nephron structures relate to their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dirty="0"/>
              <a:t>Mammalian nephrons collect urea, unwanted solutes and water forming urine at the end of the structure.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2706" y="153124"/>
            <a:ext cx="7056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Subunit of the kidney:-  the nephron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47EB5-3282-C88E-70D0-F515FD09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617" y="1449881"/>
            <a:ext cx="4830390" cy="444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2510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"/>
          <p:cNvSpPr>
            <a:spLocks noGrp="1" noChangeArrowheads="1"/>
          </p:cNvSpPr>
          <p:nvPr>
            <p:ph type="title"/>
          </p:nvPr>
        </p:nvSpPr>
        <p:spPr>
          <a:xfrm>
            <a:off x="1752600" y="36513"/>
            <a:ext cx="8763000" cy="741362"/>
          </a:xfrm>
        </p:spPr>
        <p:txBody>
          <a:bodyPr/>
          <a:lstStyle/>
          <a:p>
            <a:pPr eaLnBrk="1" hangingPunct="1"/>
            <a:r>
              <a:rPr lang="en-US" altLang="en-US" sz="2400" b="1">
                <a:solidFill>
                  <a:schemeClr val="bg1"/>
                </a:solidFill>
                <a:cs typeface="Arial" panose="020B0604020202020204" pitchFamily="34" charset="0"/>
              </a:rPr>
              <a:t>Excretory systems (Extension work)</a:t>
            </a:r>
          </a:p>
        </p:txBody>
      </p:sp>
      <p:sp>
        <p:nvSpPr>
          <p:cNvPr id="148484" name="TextBox 2"/>
          <p:cNvSpPr txBox="1">
            <a:spLocks noChangeArrowheads="1"/>
          </p:cNvSpPr>
          <p:nvPr/>
        </p:nvSpPr>
        <p:spPr bwMode="auto">
          <a:xfrm>
            <a:off x="2037786" y="324508"/>
            <a:ext cx="65746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rgbClr val="0070C0"/>
                </a:solidFill>
              </a:rPr>
              <a:t>The kidney and its functional unit, the nephron</a:t>
            </a:r>
          </a:p>
        </p:txBody>
      </p:sp>
      <p:pic>
        <p:nvPicPr>
          <p:cNvPr id="14848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62" y="1161543"/>
            <a:ext cx="6805589" cy="543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90138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44"/>
          <a:stretch>
            <a:fillRect/>
          </a:stretch>
        </p:blipFill>
        <p:spPr bwMode="auto">
          <a:xfrm>
            <a:off x="6513185" y="838200"/>
            <a:ext cx="5488159" cy="415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Title 1"/>
          <p:cNvSpPr>
            <a:spLocks noGrp="1"/>
          </p:cNvSpPr>
          <p:nvPr>
            <p:ph type="title"/>
          </p:nvPr>
        </p:nvSpPr>
        <p:spPr>
          <a:xfrm>
            <a:off x="1305910" y="1240220"/>
            <a:ext cx="8229600" cy="685800"/>
          </a:xfrm>
        </p:spPr>
        <p:txBody>
          <a:bodyPr/>
          <a:lstStyle/>
          <a:p>
            <a:r>
              <a:rPr lang="en-US" altLang="en-US" dirty="0"/>
              <a:t>Kidneys regulate water balance</a:t>
            </a:r>
          </a:p>
        </p:txBody>
      </p:sp>
      <p:sp>
        <p:nvSpPr>
          <p:cNvPr id="58372" name="Content Placeholder 2"/>
          <p:cNvSpPr>
            <a:spLocks noGrp="1"/>
          </p:cNvSpPr>
          <p:nvPr>
            <p:ph idx="1"/>
          </p:nvPr>
        </p:nvSpPr>
        <p:spPr>
          <a:xfrm>
            <a:off x="1305910" y="2122160"/>
            <a:ext cx="4191000" cy="2095116"/>
          </a:xfrm>
        </p:spPr>
        <p:txBody>
          <a:bodyPr/>
          <a:lstStyle/>
          <a:p>
            <a:pPr marL="0" indent="0"/>
            <a:r>
              <a:rPr lang="en-US" altLang="en-US" dirty="0"/>
              <a:t>The functional unit of the kidney is the </a:t>
            </a:r>
            <a:r>
              <a:rPr lang="en-US" altLang="en-US" b="1" dirty="0"/>
              <a:t>nephron</a:t>
            </a:r>
            <a:r>
              <a:rPr lang="en-US" altLang="en-US" dirty="0"/>
              <a:t>.</a:t>
            </a:r>
          </a:p>
          <a:p>
            <a:pPr marL="0" indent="0"/>
            <a:endParaRPr lang="en-US" altLang="en-US" dirty="0"/>
          </a:p>
          <a:p>
            <a:pPr marL="0" indent="0"/>
            <a:r>
              <a:rPr lang="en-US" altLang="en-US" dirty="0"/>
              <a:t>In the </a:t>
            </a:r>
            <a:r>
              <a:rPr lang="en-US" altLang="en-US" b="1" dirty="0"/>
              <a:t>glomerulus</a:t>
            </a:r>
            <a:r>
              <a:rPr lang="en-US" altLang="en-US" dirty="0"/>
              <a:t>, blood plasma is filtered from fine capillaries. </a:t>
            </a:r>
          </a:p>
          <a:p>
            <a:pPr marL="0" indent="0"/>
            <a:endParaRPr lang="en-US" altLang="en-US" b="1" dirty="0"/>
          </a:p>
          <a:p>
            <a:pPr marL="0" indent="0"/>
            <a:endParaRPr lang="en-US" altLang="en-US" dirty="0"/>
          </a:p>
        </p:txBody>
      </p:sp>
      <p:sp>
        <p:nvSpPr>
          <p:cNvPr id="58373" name="Title 1"/>
          <p:cNvSpPr txBox="1">
            <a:spLocks/>
          </p:cNvSpPr>
          <p:nvPr/>
        </p:nvSpPr>
        <p:spPr bwMode="gray">
          <a:xfrm>
            <a:off x="1305910" y="199888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ts val="2200"/>
              </a:lnSpc>
              <a:spcBef>
                <a:spcPct val="5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ts val="22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ts val="16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FFFFFF"/>
                </a:solidFill>
                <a:cs typeface="Arial" panose="020B0604020202020204" pitchFamily="34" charset="0"/>
              </a:rPr>
              <a:t>Osmoregulation</a:t>
            </a:r>
          </a:p>
        </p:txBody>
      </p:sp>
      <p:sp>
        <p:nvSpPr>
          <p:cNvPr id="58374" name="TextBox 2"/>
          <p:cNvSpPr txBox="1">
            <a:spLocks noChangeArrowheads="1"/>
          </p:cNvSpPr>
          <p:nvPr/>
        </p:nvSpPr>
        <p:spPr bwMode="auto">
          <a:xfrm>
            <a:off x="1211317" y="5098646"/>
            <a:ext cx="81534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</a:rPr>
              <a:t>Filtrate</a:t>
            </a:r>
            <a:r>
              <a:rPr lang="en-US" altLang="en-US" dirty="0">
                <a:solidFill>
                  <a:srgbClr val="000000"/>
                </a:solidFill>
              </a:rPr>
              <a:t> is collected in the </a:t>
            </a:r>
            <a:r>
              <a:rPr lang="en-US" altLang="en-US" b="1" dirty="0">
                <a:solidFill>
                  <a:srgbClr val="000000"/>
                </a:solidFill>
              </a:rPr>
              <a:t>Bowman’s capsule</a:t>
            </a:r>
            <a:r>
              <a:rPr lang="en-US" altLang="en-US" dirty="0">
                <a:solidFill>
                  <a:srgbClr val="000000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</a:rPr>
              <a:t>Filtrate travels through the </a:t>
            </a:r>
            <a:r>
              <a:rPr lang="en-US" altLang="en-US" b="1" dirty="0">
                <a:solidFill>
                  <a:srgbClr val="000000"/>
                </a:solidFill>
              </a:rPr>
              <a:t>loop of Henle</a:t>
            </a:r>
            <a:r>
              <a:rPr lang="en-US" altLang="en-US" dirty="0">
                <a:solidFill>
                  <a:srgbClr val="000000"/>
                </a:solidFill>
              </a:rPr>
              <a:t>, along which nutrients and proteins are reabsorbed back into the bloodstream.</a:t>
            </a:r>
          </a:p>
        </p:txBody>
      </p:sp>
      <p:sp>
        <p:nvSpPr>
          <p:cNvPr id="58375" name="TextBox 4"/>
          <p:cNvSpPr txBox="1">
            <a:spLocks noChangeArrowheads="1"/>
          </p:cNvSpPr>
          <p:nvPr/>
        </p:nvSpPr>
        <p:spPr bwMode="auto">
          <a:xfrm>
            <a:off x="9544542" y="5098646"/>
            <a:ext cx="11287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200"/>
              </a:lnSpc>
              <a:spcBef>
                <a:spcPct val="5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ts val="22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ts val="16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FF9900"/>
                </a:solidFill>
              </a:rPr>
              <a:t>Figure 8.28</a:t>
            </a:r>
          </a:p>
        </p:txBody>
      </p:sp>
    </p:spTree>
    <p:extLst>
      <p:ext uri="{BB962C8B-B14F-4D97-AF65-F5344CB8AC3E}">
        <p14:creationId xmlns:p14="http://schemas.microsoft.com/office/powerpoint/2010/main" val="84606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TextBox 2"/>
          <p:cNvSpPr txBox="1">
            <a:spLocks noChangeArrowheads="1"/>
          </p:cNvSpPr>
          <p:nvPr/>
        </p:nvSpPr>
        <p:spPr bwMode="auto">
          <a:xfrm>
            <a:off x="1649837" y="135541"/>
            <a:ext cx="59806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0070C0"/>
                </a:solidFill>
              </a:rPr>
              <a:t>Nephron structures and functions</a:t>
            </a:r>
          </a:p>
          <a:p>
            <a:endParaRPr lang="en-US" altLang="en-US" sz="1600" dirty="0">
              <a:solidFill>
                <a:srgbClr val="0070C0"/>
              </a:solidFill>
            </a:endParaRPr>
          </a:p>
          <a:p>
            <a:r>
              <a:rPr lang="en-US" altLang="en-US" sz="1600" dirty="0">
                <a:solidFill>
                  <a:srgbClr val="0070C0"/>
                </a:solidFill>
              </a:rPr>
              <a:t>See pages 409 – 410 of your textbook</a:t>
            </a:r>
          </a:p>
        </p:txBody>
      </p:sp>
      <p:pic>
        <p:nvPicPr>
          <p:cNvPr id="15053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2317"/>
            <a:ext cx="8789651" cy="3090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682D65-6402-23EB-0E37-761E5A825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075" y="579545"/>
            <a:ext cx="35909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5367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7" y="1792539"/>
            <a:ext cx="8517848" cy="368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6066" y="479906"/>
            <a:ext cx="78337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en-US" sz="2800" dirty="0">
                <a:solidFill>
                  <a:srgbClr val="0070C0"/>
                </a:solidFill>
              </a:rPr>
              <a:t>Nephron structures and functions continued…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670877-F6D7-A3DA-9EF1-992E2FBEF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848" y="1003126"/>
            <a:ext cx="3590855" cy="5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0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5CDF9-21F4-DC5E-F519-CFD82871E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196" y="354724"/>
            <a:ext cx="5724127" cy="6290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D057A1-D787-C67C-49F1-F1EFDAA0128E}"/>
              </a:ext>
            </a:extLst>
          </p:cNvPr>
          <p:cNvSpPr txBox="1"/>
          <p:nvPr/>
        </p:nvSpPr>
        <p:spPr>
          <a:xfrm>
            <a:off x="409903" y="283779"/>
            <a:ext cx="2010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The Nephron</a:t>
            </a:r>
            <a:endParaRPr lang="en-A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63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/>
          <p:cNvSpPr>
            <a:spLocks noGrp="1" noChangeArrowheads="1"/>
          </p:cNvSpPr>
          <p:nvPr>
            <p:ph type="title"/>
          </p:nvPr>
        </p:nvSpPr>
        <p:spPr>
          <a:xfrm>
            <a:off x="1752600" y="36513"/>
            <a:ext cx="8763000" cy="741362"/>
          </a:xfrm>
        </p:spPr>
        <p:txBody>
          <a:bodyPr/>
          <a:lstStyle/>
          <a:p>
            <a:pPr eaLnBrk="1" hangingPunct="1"/>
            <a:r>
              <a:rPr lang="en-US" altLang="en-US" sz="2400" b="1">
                <a:solidFill>
                  <a:schemeClr val="bg1"/>
                </a:solidFill>
                <a:cs typeface="Arial" panose="020B0604020202020204" pitchFamily="34" charset="0"/>
              </a:rPr>
              <a:t>Excretory systems (Extension work)</a:t>
            </a:r>
          </a:p>
        </p:txBody>
      </p:sp>
      <p:sp>
        <p:nvSpPr>
          <p:cNvPr id="152579" name="TextBox 1"/>
          <p:cNvSpPr txBox="1">
            <a:spLocks noChangeArrowheads="1"/>
          </p:cNvSpPr>
          <p:nvPr/>
        </p:nvSpPr>
        <p:spPr bwMode="auto">
          <a:xfrm>
            <a:off x="2123829" y="5603635"/>
            <a:ext cx="80205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dirty="0">
                <a:solidFill>
                  <a:srgbClr val="002060"/>
                </a:solidFill>
              </a:rPr>
              <a:t>A comparison of the structural differences in nephrons between vertebrates</a:t>
            </a:r>
          </a:p>
        </p:txBody>
      </p:sp>
      <p:sp>
        <p:nvSpPr>
          <p:cNvPr id="152580" name="TextBox 2"/>
          <p:cNvSpPr txBox="1">
            <a:spLocks noChangeArrowheads="1"/>
          </p:cNvSpPr>
          <p:nvPr/>
        </p:nvSpPr>
        <p:spPr bwMode="auto">
          <a:xfrm>
            <a:off x="1822450" y="454820"/>
            <a:ext cx="78787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 err="1">
                <a:solidFill>
                  <a:srgbClr val="002060"/>
                </a:solidFill>
              </a:rPr>
              <a:t>Analyse</a:t>
            </a:r>
            <a:r>
              <a:rPr lang="en-US" altLang="en-US" dirty="0">
                <a:solidFill>
                  <a:srgbClr val="002060"/>
                </a:solidFill>
              </a:rPr>
              <a:t> the different nephron structure in different mammals. </a:t>
            </a:r>
          </a:p>
          <a:p>
            <a:r>
              <a:rPr lang="en-US" altLang="en-US" dirty="0">
                <a:solidFill>
                  <a:srgbClr val="002060"/>
                </a:solidFill>
              </a:rPr>
              <a:t>How might the structure relate to the water availability in their environment?</a:t>
            </a:r>
          </a:p>
        </p:txBody>
      </p:sp>
      <p:pic>
        <p:nvPicPr>
          <p:cNvPr id="15258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042" y="1686718"/>
            <a:ext cx="6792912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255462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5400"/>
            <a:ext cx="2590800" cy="304800"/>
          </a:xfrm>
        </p:spPr>
        <p:txBody>
          <a:bodyPr/>
          <a:lstStyle/>
          <a:p>
            <a:pPr eaLnBrk="1" hangingPunct="1"/>
            <a:r>
              <a:rPr lang="en-US" altLang="en-US" sz="1200">
                <a:latin typeface="Arial" panose="020B0604020202020204" pitchFamily="34" charset="0"/>
              </a:rPr>
              <a:t>Figure 44.UN01a</a:t>
            </a:r>
          </a:p>
        </p:txBody>
      </p:sp>
      <p:pic>
        <p:nvPicPr>
          <p:cNvPr id="96259" name="Picture 36" descr="44_UN01aSummary_C1-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4" y="987425"/>
            <a:ext cx="8548687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2676526" y="1390650"/>
            <a:ext cx="9810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Animal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4906964" y="1395413"/>
            <a:ext cx="19780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Inflow/Outflow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8462964" y="1395413"/>
            <a:ext cx="76358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Urine</a:t>
            </a:r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2164161" y="2175398"/>
            <a:ext cx="2085975" cy="260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 dirty="0"/>
              <a:t>Freshwater</a:t>
            </a:r>
            <a:br>
              <a:rPr lang="en-US" altLang="en-US" sz="2200" b="1" dirty="0"/>
            </a:br>
            <a:r>
              <a:rPr lang="en-US" altLang="en-US" sz="2200" b="1" dirty="0"/>
              <a:t>fish. Lives in</a:t>
            </a:r>
            <a:br>
              <a:rPr lang="en-US" altLang="en-US" sz="2200" b="1" dirty="0"/>
            </a:br>
            <a:r>
              <a:rPr lang="en-US" altLang="en-US" sz="2200" b="1" dirty="0"/>
              <a:t>water less</a:t>
            </a:r>
            <a:br>
              <a:rPr lang="en-US" altLang="en-US" sz="2200" b="1" dirty="0"/>
            </a:br>
            <a:r>
              <a:rPr lang="en-US" altLang="en-US" sz="2200" b="1" dirty="0"/>
              <a:t>concentrated</a:t>
            </a:r>
            <a:br>
              <a:rPr lang="en-US" altLang="en-US" sz="2200" b="1" dirty="0"/>
            </a:br>
            <a:r>
              <a:rPr lang="en-US" altLang="en-US" sz="2200" b="1" dirty="0"/>
              <a:t>than body </a:t>
            </a:r>
            <a:br>
              <a:rPr lang="en-US" altLang="en-US" sz="2200" b="1" dirty="0"/>
            </a:br>
            <a:r>
              <a:rPr lang="en-US" altLang="en-US" sz="2200" b="1" dirty="0"/>
              <a:t>fluids; fish</a:t>
            </a:r>
            <a:br>
              <a:rPr lang="en-US" altLang="en-US" sz="2200" b="1" dirty="0"/>
            </a:br>
            <a:r>
              <a:rPr lang="en-US" altLang="en-US" sz="2200" b="1" dirty="0"/>
              <a:t>tends to gain</a:t>
            </a:r>
            <a:br>
              <a:rPr lang="en-US" altLang="en-US" sz="2200" b="1" dirty="0"/>
            </a:br>
            <a:r>
              <a:rPr lang="en-US" altLang="en-US" sz="2200" b="1" dirty="0"/>
              <a:t>water, lose salt</a:t>
            </a:r>
          </a:p>
        </p:txBody>
      </p:sp>
      <p:sp>
        <p:nvSpPr>
          <p:cNvPr id="96264" name="Text Box 8"/>
          <p:cNvSpPr txBox="1">
            <a:spLocks noChangeArrowheads="1"/>
          </p:cNvSpPr>
          <p:nvPr/>
        </p:nvSpPr>
        <p:spPr bwMode="auto">
          <a:xfrm>
            <a:off x="4475957" y="2046017"/>
            <a:ext cx="2795588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 dirty="0"/>
              <a:t>Does not drink water</a:t>
            </a:r>
          </a:p>
        </p:txBody>
      </p:sp>
      <p:sp>
        <p:nvSpPr>
          <p:cNvPr id="96265" name="Text Box 9"/>
          <p:cNvSpPr txBox="1">
            <a:spLocks noChangeArrowheads="1"/>
          </p:cNvSpPr>
          <p:nvPr/>
        </p:nvSpPr>
        <p:spPr bwMode="auto">
          <a:xfrm>
            <a:off x="4593433" y="2504010"/>
            <a:ext cx="1755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 dirty="0"/>
              <a:t>Salt in</a:t>
            </a:r>
            <a:br>
              <a:rPr lang="en-US" altLang="en-US" sz="2200" b="1" dirty="0"/>
            </a:br>
            <a:r>
              <a:rPr lang="en-US" altLang="en-US" sz="2200" b="1" dirty="0"/>
              <a:t>(active trans-</a:t>
            </a:r>
            <a:br>
              <a:rPr lang="en-US" altLang="en-US" sz="2200" b="1" dirty="0"/>
            </a:br>
            <a:r>
              <a:rPr lang="en-US" altLang="en-US" sz="2200" b="1" dirty="0"/>
              <a:t>port by gills)</a:t>
            </a:r>
          </a:p>
        </p:txBody>
      </p:sp>
      <p:sp>
        <p:nvSpPr>
          <p:cNvPr id="96266" name="Text Box 10"/>
          <p:cNvSpPr txBox="1">
            <a:spLocks noChangeArrowheads="1"/>
          </p:cNvSpPr>
          <p:nvPr/>
        </p:nvSpPr>
        <p:spPr bwMode="auto">
          <a:xfrm>
            <a:off x="6116639" y="2455864"/>
            <a:ext cx="1023937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H</a:t>
            </a:r>
            <a:r>
              <a:rPr lang="en-US" altLang="en-US" sz="2200" b="1" baseline="-25000"/>
              <a:t>2</a:t>
            </a:r>
            <a:r>
              <a:rPr lang="en-US" altLang="en-US" sz="2200" b="1"/>
              <a:t>O in</a:t>
            </a:r>
          </a:p>
        </p:txBody>
      </p:sp>
      <p:sp>
        <p:nvSpPr>
          <p:cNvPr id="96267" name="Text Box 21"/>
          <p:cNvSpPr txBox="1">
            <a:spLocks noChangeArrowheads="1"/>
          </p:cNvSpPr>
          <p:nvPr/>
        </p:nvSpPr>
        <p:spPr bwMode="auto">
          <a:xfrm>
            <a:off x="8431213" y="2103438"/>
            <a:ext cx="180181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Large volume </a:t>
            </a:r>
            <a:br>
              <a:rPr lang="en-US" altLang="en-US" sz="2200" b="1"/>
            </a:br>
            <a:r>
              <a:rPr lang="en-US" altLang="en-US" sz="2200" b="1"/>
              <a:t>of urine</a:t>
            </a:r>
          </a:p>
        </p:txBody>
      </p:sp>
      <p:sp>
        <p:nvSpPr>
          <p:cNvPr id="96268" name="Text Box 22"/>
          <p:cNvSpPr txBox="1">
            <a:spLocks noChangeArrowheads="1"/>
          </p:cNvSpPr>
          <p:nvPr/>
        </p:nvSpPr>
        <p:spPr bwMode="auto">
          <a:xfrm>
            <a:off x="8423276" y="3021014"/>
            <a:ext cx="1801813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Urine is less</a:t>
            </a:r>
            <a:br>
              <a:rPr lang="en-US" altLang="en-US" sz="2200" b="1"/>
            </a:br>
            <a:r>
              <a:rPr lang="en-US" altLang="en-US" sz="2200" b="1"/>
              <a:t>concentrated</a:t>
            </a:r>
            <a:br>
              <a:rPr lang="en-US" altLang="en-US" sz="2200" b="1"/>
            </a:br>
            <a:r>
              <a:rPr lang="en-US" altLang="en-US" sz="2200" b="1"/>
              <a:t>than body</a:t>
            </a:r>
            <a:br>
              <a:rPr lang="en-US" altLang="en-US" sz="2200" b="1"/>
            </a:br>
            <a:r>
              <a:rPr lang="en-US" altLang="en-US" sz="2200" b="1"/>
              <a:t>fluids</a:t>
            </a:r>
          </a:p>
        </p:txBody>
      </p:sp>
      <p:sp>
        <p:nvSpPr>
          <p:cNvPr id="96269" name="AutoShape 27"/>
          <p:cNvSpPr>
            <a:spLocks noChangeArrowheads="1"/>
          </p:cNvSpPr>
          <p:nvPr/>
        </p:nvSpPr>
        <p:spPr bwMode="auto">
          <a:xfrm rot="5400000">
            <a:off x="8151813" y="2111376"/>
            <a:ext cx="236538" cy="249237"/>
          </a:xfrm>
          <a:prstGeom prst="triangle">
            <a:avLst>
              <a:gd name="adj" fmla="val 50000"/>
            </a:avLst>
          </a:prstGeom>
          <a:solidFill>
            <a:srgbClr val="0193C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96270" name="AutoShape 34"/>
          <p:cNvSpPr>
            <a:spLocks noChangeArrowheads="1"/>
          </p:cNvSpPr>
          <p:nvPr/>
        </p:nvSpPr>
        <p:spPr bwMode="auto">
          <a:xfrm rot="5400000">
            <a:off x="8150226" y="3017838"/>
            <a:ext cx="236537" cy="249238"/>
          </a:xfrm>
          <a:prstGeom prst="triangle">
            <a:avLst>
              <a:gd name="adj" fmla="val 50000"/>
            </a:avLst>
          </a:prstGeom>
          <a:solidFill>
            <a:srgbClr val="0193C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96271" name="Text Box 35"/>
          <p:cNvSpPr txBox="1">
            <a:spLocks noChangeArrowheads="1"/>
          </p:cNvSpPr>
          <p:nvPr/>
        </p:nvSpPr>
        <p:spPr bwMode="auto">
          <a:xfrm>
            <a:off x="5345114" y="5187951"/>
            <a:ext cx="1112837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Salt out</a:t>
            </a:r>
          </a:p>
        </p:txBody>
      </p:sp>
    </p:spTree>
    <p:extLst>
      <p:ext uri="{BB962C8B-B14F-4D97-AF65-F5344CB8AC3E}">
        <p14:creationId xmlns:p14="http://schemas.microsoft.com/office/powerpoint/2010/main" val="146382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5400"/>
            <a:ext cx="2590800" cy="304800"/>
          </a:xfrm>
        </p:spPr>
        <p:txBody>
          <a:bodyPr/>
          <a:lstStyle/>
          <a:p>
            <a:pPr eaLnBrk="1" hangingPunct="1"/>
            <a:r>
              <a:rPr lang="en-US" altLang="en-US" sz="1200">
                <a:latin typeface="Arial" panose="020B0604020202020204" pitchFamily="34" charset="0"/>
              </a:rPr>
              <a:t>Figure 44.UN01b</a:t>
            </a:r>
          </a:p>
        </p:txBody>
      </p:sp>
      <p:pic>
        <p:nvPicPr>
          <p:cNvPr id="97283" name="Picture 36" descr="44_UN01bSummary_C1-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4" y="1144589"/>
            <a:ext cx="8548687" cy="456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2689226" y="1546226"/>
            <a:ext cx="10255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Animal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4919664" y="1566864"/>
            <a:ext cx="20462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Inflow/Outflow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8451851" y="1566864"/>
            <a:ext cx="7842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Urine</a:t>
            </a:r>
          </a:p>
        </p:txBody>
      </p:sp>
      <p:sp>
        <p:nvSpPr>
          <p:cNvPr id="97287" name="Text Box 12"/>
          <p:cNvSpPr txBox="1">
            <a:spLocks noChangeArrowheads="1"/>
          </p:cNvSpPr>
          <p:nvPr/>
        </p:nvSpPr>
        <p:spPr bwMode="auto">
          <a:xfrm>
            <a:off x="2079626" y="2235200"/>
            <a:ext cx="2119313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Marine bony </a:t>
            </a:r>
            <a:br>
              <a:rPr lang="en-US" altLang="en-US" sz="2200" b="1"/>
            </a:br>
            <a:r>
              <a:rPr lang="en-US" altLang="en-US" sz="2200" b="1"/>
              <a:t>fish. Lives in</a:t>
            </a:r>
            <a:br>
              <a:rPr lang="en-US" altLang="en-US" sz="2200" b="1"/>
            </a:br>
            <a:r>
              <a:rPr lang="en-US" altLang="en-US" sz="2200" b="1"/>
              <a:t>water more</a:t>
            </a:r>
            <a:br>
              <a:rPr lang="en-US" altLang="en-US" sz="2200" b="1"/>
            </a:br>
            <a:r>
              <a:rPr lang="en-US" altLang="en-US" sz="2200" b="1"/>
              <a:t>concentrated</a:t>
            </a:r>
            <a:br>
              <a:rPr lang="en-US" altLang="en-US" sz="2200" b="1"/>
            </a:br>
            <a:r>
              <a:rPr lang="en-US" altLang="en-US" sz="2200" b="1"/>
              <a:t>than body</a:t>
            </a:r>
            <a:br>
              <a:rPr lang="en-US" altLang="en-US" sz="2200" b="1"/>
            </a:br>
            <a:r>
              <a:rPr lang="en-US" altLang="en-US" sz="2200" b="1"/>
              <a:t>fluids; fish</a:t>
            </a:r>
            <a:br>
              <a:rPr lang="en-US" altLang="en-US" sz="2200" b="1"/>
            </a:br>
            <a:r>
              <a:rPr lang="en-US" altLang="en-US" sz="2200" b="1"/>
              <a:t>tends to lose</a:t>
            </a:r>
            <a:br>
              <a:rPr lang="en-US" altLang="en-US" sz="2200" b="1"/>
            </a:br>
            <a:r>
              <a:rPr lang="en-US" altLang="en-US" sz="2200" b="1"/>
              <a:t>water, gain salt</a:t>
            </a:r>
          </a:p>
        </p:txBody>
      </p:sp>
      <p:sp>
        <p:nvSpPr>
          <p:cNvPr id="97288" name="Text Box 14"/>
          <p:cNvSpPr txBox="1">
            <a:spLocks noChangeArrowheads="1"/>
          </p:cNvSpPr>
          <p:nvPr/>
        </p:nvSpPr>
        <p:spPr bwMode="auto">
          <a:xfrm>
            <a:off x="5056188" y="2247900"/>
            <a:ext cx="182721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Drinks water</a:t>
            </a:r>
          </a:p>
        </p:txBody>
      </p:sp>
      <p:sp>
        <p:nvSpPr>
          <p:cNvPr id="97289" name="Text Box 16"/>
          <p:cNvSpPr txBox="1">
            <a:spLocks noChangeArrowheads="1"/>
          </p:cNvSpPr>
          <p:nvPr/>
        </p:nvSpPr>
        <p:spPr bwMode="auto">
          <a:xfrm>
            <a:off x="4799014" y="2609850"/>
            <a:ext cx="9794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Salt in</a:t>
            </a:r>
          </a:p>
        </p:txBody>
      </p:sp>
      <p:sp>
        <p:nvSpPr>
          <p:cNvPr id="97290" name="Text Box 17"/>
          <p:cNvSpPr txBox="1">
            <a:spLocks noChangeArrowheads="1"/>
          </p:cNvSpPr>
          <p:nvPr/>
        </p:nvSpPr>
        <p:spPr bwMode="auto">
          <a:xfrm>
            <a:off x="5881689" y="2609851"/>
            <a:ext cx="11715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H</a:t>
            </a:r>
            <a:r>
              <a:rPr lang="en-US" altLang="en-US" sz="2200" b="1" baseline="-25000"/>
              <a:t>2</a:t>
            </a:r>
            <a:r>
              <a:rPr lang="en-US" altLang="en-US" sz="2200" b="1"/>
              <a:t>O out</a:t>
            </a:r>
          </a:p>
        </p:txBody>
      </p:sp>
      <p:sp>
        <p:nvSpPr>
          <p:cNvPr id="97291" name="Text Box 18"/>
          <p:cNvSpPr txBox="1">
            <a:spLocks noChangeArrowheads="1"/>
          </p:cNvSpPr>
          <p:nvPr/>
        </p:nvSpPr>
        <p:spPr bwMode="auto">
          <a:xfrm>
            <a:off x="4799014" y="4702176"/>
            <a:ext cx="2433637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Salt out (active</a:t>
            </a:r>
            <a:br>
              <a:rPr lang="en-US" altLang="en-US" sz="2200" b="1"/>
            </a:br>
            <a:r>
              <a:rPr lang="en-US" altLang="en-US" sz="2200" b="1"/>
              <a:t>transport by gills)</a:t>
            </a:r>
          </a:p>
        </p:txBody>
      </p:sp>
      <p:sp>
        <p:nvSpPr>
          <p:cNvPr id="97292" name="Text Box 23"/>
          <p:cNvSpPr txBox="1">
            <a:spLocks noChangeArrowheads="1"/>
          </p:cNvSpPr>
          <p:nvPr/>
        </p:nvSpPr>
        <p:spPr bwMode="auto">
          <a:xfrm>
            <a:off x="8418513" y="2247900"/>
            <a:ext cx="182721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Small volume</a:t>
            </a:r>
            <a:br>
              <a:rPr lang="en-US" altLang="en-US" sz="2200" b="1"/>
            </a:br>
            <a:r>
              <a:rPr lang="en-US" altLang="en-US" sz="2200" b="1"/>
              <a:t>of urine</a:t>
            </a:r>
          </a:p>
        </p:txBody>
      </p:sp>
      <p:sp>
        <p:nvSpPr>
          <p:cNvPr id="97293" name="Text Box 24"/>
          <p:cNvSpPr txBox="1">
            <a:spLocks noChangeArrowheads="1"/>
          </p:cNvSpPr>
          <p:nvPr/>
        </p:nvSpPr>
        <p:spPr bwMode="auto">
          <a:xfrm>
            <a:off x="8429626" y="3173413"/>
            <a:ext cx="182721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b="1"/>
              <a:t>Urine is</a:t>
            </a:r>
            <a:br>
              <a:rPr lang="en-US" altLang="en-US" sz="2200" b="1"/>
            </a:br>
            <a:r>
              <a:rPr lang="en-US" altLang="en-US" sz="2200" b="1"/>
              <a:t>slightly less</a:t>
            </a:r>
            <a:br>
              <a:rPr lang="en-US" altLang="en-US" sz="2200" b="1"/>
            </a:br>
            <a:r>
              <a:rPr lang="en-US" altLang="en-US" sz="2200" b="1"/>
              <a:t>concentrated</a:t>
            </a:r>
            <a:br>
              <a:rPr lang="en-US" altLang="en-US" sz="2200" b="1"/>
            </a:br>
            <a:r>
              <a:rPr lang="en-US" altLang="en-US" sz="2200" b="1"/>
              <a:t>than body</a:t>
            </a:r>
            <a:br>
              <a:rPr lang="en-US" altLang="en-US" sz="2200" b="1"/>
            </a:br>
            <a:r>
              <a:rPr lang="en-US" altLang="en-US" sz="2200" b="1"/>
              <a:t>fluids</a:t>
            </a:r>
          </a:p>
        </p:txBody>
      </p:sp>
      <p:sp>
        <p:nvSpPr>
          <p:cNvPr id="97294" name="AutoShape 34"/>
          <p:cNvSpPr>
            <a:spLocks noChangeArrowheads="1"/>
          </p:cNvSpPr>
          <p:nvPr/>
        </p:nvSpPr>
        <p:spPr bwMode="auto">
          <a:xfrm rot="5400000">
            <a:off x="8151813" y="2289176"/>
            <a:ext cx="236538" cy="249237"/>
          </a:xfrm>
          <a:prstGeom prst="triangle">
            <a:avLst>
              <a:gd name="adj" fmla="val 50000"/>
            </a:avLst>
          </a:prstGeom>
          <a:solidFill>
            <a:srgbClr val="0193C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97295" name="AutoShape 35"/>
          <p:cNvSpPr>
            <a:spLocks noChangeArrowheads="1"/>
          </p:cNvSpPr>
          <p:nvPr/>
        </p:nvSpPr>
        <p:spPr bwMode="auto">
          <a:xfrm rot="5400000">
            <a:off x="8150226" y="3179763"/>
            <a:ext cx="236537" cy="249238"/>
          </a:xfrm>
          <a:prstGeom prst="triangle">
            <a:avLst>
              <a:gd name="adj" fmla="val 50000"/>
            </a:avLst>
          </a:prstGeom>
          <a:solidFill>
            <a:srgbClr val="0193C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endParaRPr lang="en-US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54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</a:rPr>
              <a:t>Mechanisms to reduce water loss include: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604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Kidneys regulate water balance</a:t>
            </a:r>
          </a:p>
        </p:txBody>
      </p:sp>
      <p:sp>
        <p:nvSpPr>
          <p:cNvPr id="60420" name="Title 1"/>
          <p:cNvSpPr txBox="1">
            <a:spLocks/>
          </p:cNvSpPr>
          <p:nvPr/>
        </p:nvSpPr>
        <p:spPr bwMode="gray">
          <a:xfrm>
            <a:off x="1676400" y="1524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ts val="2200"/>
              </a:lnSpc>
              <a:spcBef>
                <a:spcPct val="5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ts val="22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ts val="18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ts val="1600"/>
              </a:lnSpc>
              <a:spcBef>
                <a:spcPct val="50000"/>
              </a:spcBef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FFFFFF"/>
                </a:solidFill>
                <a:cs typeface="Arial" panose="020B0604020202020204" pitchFamily="34" charset="0"/>
              </a:rPr>
              <a:t>Osmoregulation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869518"/>
              </p:ext>
            </p:extLst>
          </p:nvPr>
        </p:nvGraphicFramePr>
        <p:xfrm>
          <a:off x="1137745" y="2192776"/>
          <a:ext cx="7848600" cy="3840160"/>
        </p:xfrm>
        <a:graphic>
          <a:graphicData uri="http://schemas.openxmlformats.org/drawingml/2006/table">
            <a:tbl>
              <a:tblPr/>
              <a:tblGrid>
                <a:gridCol w="784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9748">
                <a:tc>
                  <a:txBody>
                    <a:bodyPr/>
                    <a:lstStyle>
                      <a:lvl1pPr marL="2857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Reptiles and birds reabsorb water from their cloaca, the cavity into which their ureter and rectum open.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748">
                <a:tc>
                  <a:txBody>
                    <a:bodyPr/>
                    <a:lstStyle>
                      <a:lvl1pPr marL="2857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9456D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Terrestrial vertebrates can slow the production of urine by reducing the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9456D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glomerular filtration rate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9456D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748">
                <a:tc>
                  <a:txBody>
                    <a:bodyPr/>
                    <a:lstStyle>
                      <a:lvl1pPr marL="2857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The Australian desert frog can also swell and store its urine for use in the dry season.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84">
                <a:tc>
                  <a:txBody>
                    <a:bodyPr/>
                    <a:lstStyle>
                      <a:lvl1pPr marL="2857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9456D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Having longer loops of Henle allow organisms to concentrate their urine.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748">
                <a:tc>
                  <a:txBody>
                    <a:bodyPr/>
                    <a:lstStyle>
                      <a:lvl1pPr marL="2857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The desert hopping mouse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Notomys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alexis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3CA7E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can concentrate its urine more than any other known rodent.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584">
                <a:tc>
                  <a:txBody>
                    <a:bodyPr/>
                    <a:lstStyle>
                      <a:lvl1pPr marL="2857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lnSpc>
                          <a:spcPts val="22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lnSpc>
                          <a:spcPts val="18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ts val="16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9456D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Camels can tolerate water loss and concentration of their body’s fluids.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1BF7AFB-26CA-1233-CF7A-6ADDE2DE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76" y="3334407"/>
            <a:ext cx="2790615" cy="23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4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1475A6-B1B0-F844-A1F7-E1ADF5613724}"/>
              </a:ext>
            </a:extLst>
          </p:cNvPr>
          <p:cNvSpPr txBox="1">
            <a:spLocks/>
          </p:cNvSpPr>
          <p:nvPr/>
        </p:nvSpPr>
        <p:spPr bwMode="gray">
          <a:xfrm>
            <a:off x="913431" y="783829"/>
            <a:ext cx="7406640" cy="94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AU" sz="3600" kern="0" dirty="0">
                <a:solidFill>
                  <a:srgbClr val="0070C0"/>
                </a:solidFill>
              </a:rPr>
              <a:t>Learning Intentions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78301B-92A5-55F0-F847-7A0BD9E50AFE}"/>
              </a:ext>
            </a:extLst>
          </p:cNvPr>
          <p:cNvSpPr txBox="1">
            <a:spLocks/>
          </p:cNvSpPr>
          <p:nvPr/>
        </p:nvSpPr>
        <p:spPr bwMode="auto">
          <a:xfrm>
            <a:off x="902066" y="1622426"/>
            <a:ext cx="8139458" cy="73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228600" indent="-227013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449263" indent="-219075" algn="l" rtl="0" eaLnBrk="0" fontAlgn="base" hangingPunct="0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682625" indent="-231775" algn="l" rtl="0" eaLnBrk="0" fontAlgn="base" hangingPunct="0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915988" indent="-231775" algn="l" rtl="0" eaLnBrk="0" fontAlgn="base" hangingPunct="0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13731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18303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22875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2744788" indent="-231775" algn="l" rtl="0" eaLnBrk="1" fontAlgn="base" hangingPunct="1">
              <a:lnSpc>
                <a:spcPts val="16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AU" sz="2000" kern="0" dirty="0">
                <a:solidFill>
                  <a:srgbClr val="002060"/>
                </a:solidFill>
              </a:rPr>
              <a:t>Understand the structure and function of the excretory system in animals. </a:t>
            </a:r>
          </a:p>
          <a:p>
            <a:pPr marL="34290" indent="0"/>
            <a:endParaRPr lang="en-AU" kern="0" dirty="0"/>
          </a:p>
          <a:p>
            <a:endParaRPr lang="en-AU" kern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8D4221-FF82-FB54-2A45-E42061B0869A}"/>
              </a:ext>
            </a:extLst>
          </p:cNvPr>
          <p:cNvSpPr txBox="1">
            <a:spLocks/>
          </p:cNvSpPr>
          <p:nvPr/>
        </p:nvSpPr>
        <p:spPr>
          <a:xfrm>
            <a:off x="758185" y="3337867"/>
            <a:ext cx="7776864" cy="2871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" indent="0">
              <a:buNone/>
            </a:pPr>
            <a:r>
              <a:rPr lang="en-AU" sz="2400" dirty="0"/>
              <a:t>Students will be able to:</a:t>
            </a:r>
          </a:p>
          <a:p>
            <a:r>
              <a:rPr lang="en-AU" dirty="0"/>
              <a:t>Describe the structure and function of kidneys within excretory system.</a:t>
            </a:r>
          </a:p>
          <a:p>
            <a:r>
              <a:rPr lang="en-AU" dirty="0"/>
              <a:t>Describe the structure and function of the nephron within the kidneys. </a:t>
            </a:r>
          </a:p>
          <a:p>
            <a:r>
              <a:rPr lang="en-AU" dirty="0"/>
              <a:t>Appreciate differences between the excretory systems of different types of animals.</a:t>
            </a:r>
          </a:p>
          <a:p>
            <a:r>
              <a:rPr lang="en-AU" dirty="0"/>
              <a:t>Describe mechanisms to reduce water loss in animals related to their excretory system.</a:t>
            </a:r>
          </a:p>
          <a:p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70AB99-29F2-5722-3A70-D20AE5762377}"/>
              </a:ext>
            </a:extLst>
          </p:cNvPr>
          <p:cNvSpPr txBox="1">
            <a:spLocks/>
          </p:cNvSpPr>
          <p:nvPr/>
        </p:nvSpPr>
        <p:spPr>
          <a:xfrm>
            <a:off x="771957" y="2420888"/>
            <a:ext cx="7406640" cy="94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>
                <a:solidFill>
                  <a:srgbClr val="0070C0"/>
                </a:solidFill>
              </a:rPr>
              <a:t>Success Criteria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CE29C4-0A23-5DFA-B888-43B3B0C2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369" y="2092926"/>
            <a:ext cx="3401863" cy="15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5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35" y="649847"/>
            <a:ext cx="7406640" cy="1356360"/>
          </a:xfrm>
        </p:spPr>
        <p:txBody>
          <a:bodyPr/>
          <a:lstStyle/>
          <a:p>
            <a:r>
              <a:rPr lang="en-AU" sz="3600" b="1" dirty="0">
                <a:solidFill>
                  <a:srgbClr val="0070C0"/>
                </a:solidFill>
              </a:rPr>
              <a:t>Student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197" y="2036774"/>
            <a:ext cx="6768752" cy="4392487"/>
          </a:xfrm>
        </p:spPr>
        <p:txBody>
          <a:bodyPr>
            <a:normAutofit/>
          </a:bodyPr>
          <a:lstStyle/>
          <a:p>
            <a:r>
              <a:rPr lang="en-AU" sz="2200" dirty="0">
                <a:solidFill>
                  <a:srgbClr val="002060"/>
                </a:solidFill>
              </a:rPr>
              <a:t>What I learnt today…..</a:t>
            </a:r>
          </a:p>
          <a:p>
            <a:endParaRPr lang="en-AU" sz="2200" dirty="0"/>
          </a:p>
          <a:p>
            <a:endParaRPr lang="en-AU" sz="2200" dirty="0"/>
          </a:p>
          <a:p>
            <a:endParaRPr lang="en-AU" sz="2200" dirty="0"/>
          </a:p>
          <a:p>
            <a:endParaRPr lang="en-AU" sz="2200" dirty="0"/>
          </a:p>
          <a:p>
            <a:r>
              <a:rPr lang="en-AU" sz="2200" dirty="0">
                <a:solidFill>
                  <a:srgbClr val="002060"/>
                </a:solidFill>
              </a:rPr>
              <a:t>What I need to revise….</a:t>
            </a:r>
          </a:p>
          <a:p>
            <a:endParaRPr lang="en-AU" dirty="0"/>
          </a:p>
          <a:p>
            <a:endParaRPr lang="en-AU" dirty="0"/>
          </a:p>
          <a:p>
            <a:pPr marL="34290" indent="0"/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8032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">
      <a:dk1>
        <a:srgbClr val="000000"/>
      </a:dk1>
      <a:lt1>
        <a:srgbClr val="FFFFFF"/>
      </a:lt1>
      <a:dk2>
        <a:srgbClr val="B2DCEE"/>
      </a:dk2>
      <a:lt2>
        <a:srgbClr val="80C4E2"/>
      </a:lt2>
      <a:accent1>
        <a:srgbClr val="013658"/>
      </a:accent1>
      <a:accent2>
        <a:srgbClr val="0C5C92"/>
      </a:accent2>
      <a:accent3>
        <a:srgbClr val="FFFFFF"/>
      </a:accent3>
      <a:accent4>
        <a:srgbClr val="000000"/>
      </a:accent4>
      <a:accent5>
        <a:srgbClr val="AAAEB4"/>
      </a:accent5>
      <a:accent6>
        <a:srgbClr val="0A5384"/>
      </a:accent6>
      <a:hlink>
        <a:srgbClr val="0089C5"/>
      </a:hlink>
      <a:folHlink>
        <a:srgbClr val="4CACD6"/>
      </a:folHlink>
    </a:clrScheme>
    <a:fontScheme name="CL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L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_PowerPoin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_PowerPoin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_PowerPoin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_PowerPoin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_PowerPoin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_PowerPoin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_PowerPoin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_PowerPoin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_PowerPoin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_PowerPoin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_PowerPoin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1160</Words>
  <Application>Microsoft Office PowerPoint</Application>
  <PresentationFormat>Widescreen</PresentationFormat>
  <Paragraphs>159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Corbel</vt:lpstr>
      <vt:lpstr>Segoe UI</vt:lpstr>
      <vt:lpstr>Times</vt:lpstr>
      <vt:lpstr>Times New Roman</vt:lpstr>
      <vt:lpstr>Wingdings</vt:lpstr>
      <vt:lpstr>Office Theme</vt:lpstr>
      <vt:lpstr>Theme1</vt:lpstr>
      <vt:lpstr>Basis</vt:lpstr>
      <vt:lpstr>11ATAR Biology  Week 31 Animal Systems - Excretory processes </vt:lpstr>
      <vt:lpstr>Year 11 Biology Work Schedule</vt:lpstr>
      <vt:lpstr>PowerPoint Presentation</vt:lpstr>
      <vt:lpstr>Science Understanding - Multicellular Organisms</vt:lpstr>
      <vt:lpstr>Kidneys regulate water balance</vt:lpstr>
      <vt:lpstr>Excretory systems (Extension work)</vt:lpstr>
      <vt:lpstr>PowerPoint Presentation</vt:lpstr>
      <vt:lpstr>Excretory systems</vt:lpstr>
      <vt:lpstr>Excretory systems (Extension work)</vt:lpstr>
      <vt:lpstr>Excretory systems (Extension work)</vt:lpstr>
      <vt:lpstr>Excretory systems (Extension work)</vt:lpstr>
      <vt:lpstr>Kidneys regulate water balance</vt:lpstr>
      <vt:lpstr>PowerPoint Presentation</vt:lpstr>
      <vt:lpstr>PowerPoint Presentation</vt:lpstr>
      <vt:lpstr>PowerPoint Presentation</vt:lpstr>
      <vt:lpstr>Excretory systems (Extension work)</vt:lpstr>
      <vt:lpstr>Figure 44.UN01a</vt:lpstr>
      <vt:lpstr>Figure 44.UN01b</vt:lpstr>
      <vt:lpstr>Kidneys regulate water balance</vt:lpstr>
      <vt:lpstr>PowerPoint Presentation</vt:lpstr>
      <vt:lpstr>Student Feedback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Kidney</dc:title>
  <dc:creator>DADOUR Wilhelmina [SIDE - Sch of Isol &amp; Dist Edu]</dc:creator>
  <cp:lastModifiedBy>HARTLAND Robbert [SIDE - Sch of Isol &amp; Dist Edu]</cp:lastModifiedBy>
  <cp:revision>16</cp:revision>
  <dcterms:created xsi:type="dcterms:W3CDTF">2022-12-01T04:09:23Z</dcterms:created>
  <dcterms:modified xsi:type="dcterms:W3CDTF">2023-10-10T09:24:10Z</dcterms:modified>
</cp:coreProperties>
</file>