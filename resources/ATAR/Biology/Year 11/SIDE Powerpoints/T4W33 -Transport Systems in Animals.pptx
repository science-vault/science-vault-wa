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8" r:id="rId1"/>
  </p:sldMasterIdLst>
  <p:notesMasterIdLst>
    <p:notesMasterId r:id="rId50"/>
  </p:notesMasterIdLst>
  <p:sldIdLst>
    <p:sldId id="256" r:id="rId2"/>
    <p:sldId id="337" r:id="rId3"/>
    <p:sldId id="346" r:id="rId4"/>
    <p:sldId id="338" r:id="rId5"/>
    <p:sldId id="286" r:id="rId6"/>
    <p:sldId id="287" r:id="rId7"/>
    <p:sldId id="334" r:id="rId8"/>
    <p:sldId id="288" r:id="rId9"/>
    <p:sldId id="289" r:id="rId10"/>
    <p:sldId id="290" r:id="rId11"/>
    <p:sldId id="264" r:id="rId12"/>
    <p:sldId id="265" r:id="rId13"/>
    <p:sldId id="292" r:id="rId14"/>
    <p:sldId id="266" r:id="rId15"/>
    <p:sldId id="326" r:id="rId16"/>
    <p:sldId id="344" r:id="rId17"/>
    <p:sldId id="343" r:id="rId18"/>
    <p:sldId id="317" r:id="rId19"/>
    <p:sldId id="301" r:id="rId20"/>
    <p:sldId id="302" r:id="rId21"/>
    <p:sldId id="305" r:id="rId22"/>
    <p:sldId id="306" r:id="rId23"/>
    <p:sldId id="307" r:id="rId24"/>
    <p:sldId id="308" r:id="rId25"/>
    <p:sldId id="351" r:id="rId26"/>
    <p:sldId id="309" r:id="rId27"/>
    <p:sldId id="310" r:id="rId28"/>
    <p:sldId id="311" r:id="rId29"/>
    <p:sldId id="312" r:id="rId30"/>
    <p:sldId id="313" r:id="rId31"/>
    <p:sldId id="314" r:id="rId32"/>
    <p:sldId id="318" r:id="rId33"/>
    <p:sldId id="316" r:id="rId34"/>
    <p:sldId id="320" r:id="rId35"/>
    <p:sldId id="319" r:id="rId36"/>
    <p:sldId id="295" r:id="rId37"/>
    <p:sldId id="335" r:id="rId38"/>
    <p:sldId id="321" r:id="rId39"/>
    <p:sldId id="336" r:id="rId40"/>
    <p:sldId id="330" r:id="rId41"/>
    <p:sldId id="331" r:id="rId42"/>
    <p:sldId id="332" r:id="rId43"/>
    <p:sldId id="333" r:id="rId44"/>
    <p:sldId id="347" r:id="rId45"/>
    <p:sldId id="323" r:id="rId46"/>
    <p:sldId id="345" r:id="rId47"/>
    <p:sldId id="340" r:id="rId48"/>
    <p:sldId id="339" r:id="rId4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8002"/>
    <a:srgbClr val="F8F4FA"/>
    <a:srgbClr val="FDF1F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79" autoAdjust="0"/>
    <p:restoredTop sz="89870" autoAdjust="0"/>
  </p:normalViewPr>
  <p:slideViewPr>
    <p:cSldViewPr>
      <p:cViewPr varScale="1">
        <p:scale>
          <a:sx n="111" d="100"/>
          <a:sy n="111" d="100"/>
        </p:scale>
        <p:origin x="610" y="8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7F9B198-3D22-489C-8162-099D23A8DB78}" type="datetimeFigureOut">
              <a:rPr lang="en-AU" smtClean="0"/>
              <a:t>25/10/2023</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CA30BCC-94FA-436E-A017-406914F69CC5}" type="slidenum">
              <a:rPr lang="en-AU" smtClean="0"/>
              <a:t>‹#›</a:t>
            </a:fld>
            <a:endParaRPr lang="en-AU"/>
          </a:p>
        </p:txBody>
      </p:sp>
    </p:spTree>
    <p:extLst>
      <p:ext uri="{BB962C8B-B14F-4D97-AF65-F5344CB8AC3E}">
        <p14:creationId xmlns:p14="http://schemas.microsoft.com/office/powerpoint/2010/main" val="28392524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en.wikipedia.org/wiki/Capillaries" TargetMode="External"/><Relationship Id="rId2" Type="http://schemas.openxmlformats.org/officeDocument/2006/relationships/slide" Target="../slides/slide38.xml"/><Relationship Id="rId1" Type="http://schemas.openxmlformats.org/officeDocument/2006/relationships/notesMaster" Target="../notesMasters/notesMaster1.xml"/><Relationship Id="rId4" Type="http://schemas.openxmlformats.org/officeDocument/2006/relationships/hyperlink" Target="https://en.wikipedia.org/wiki/Metabolism"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5B7DAECE-F7A5-4FDA-BB6B-E3318326822C}" type="slidenum">
              <a:rPr lang="en-US"/>
              <a:pPr/>
              <a:t>5</a:t>
            </a:fld>
            <a:endParaRPr lang="en-US"/>
          </a:p>
        </p:txBody>
      </p:sp>
      <p:sp>
        <p:nvSpPr>
          <p:cNvPr id="37069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370691" name="Rectangle 3"/>
          <p:cNvSpPr>
            <a:spLocks noGrp="1" noChangeArrowheads="1"/>
          </p:cNvSpPr>
          <p:nvPr>
            <p:ph type="body" idx="1"/>
          </p:nvPr>
        </p:nvSpPr>
        <p:spPr bwMode="auto">
          <a:xfrm>
            <a:off x="914400" y="4343400"/>
            <a:ext cx="5029200" cy="4114800"/>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respiratory (gas exchange) system and digestive system get the required molecules, nutrients and fuel into the body and remove the waste products from the body.  </a:t>
            </a:r>
          </a:p>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1BCAB716-2F10-473F-AF07-834B85640BF7}" type="slidenum">
              <a:rPr lang="en-US"/>
              <a:pPr/>
              <a:t>6</a:t>
            </a:fld>
            <a:endParaRPr lang="en-US"/>
          </a:p>
        </p:txBody>
      </p:sp>
      <p:sp>
        <p:nvSpPr>
          <p:cNvPr id="376834"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376835" name="Rectangle 3"/>
          <p:cNvSpPr>
            <a:spLocks noGrp="1" noChangeArrowheads="1"/>
          </p:cNvSpPr>
          <p:nvPr>
            <p:ph type="body" idx="1"/>
          </p:nvPr>
        </p:nvSpPr>
        <p:spPr bwMode="auto">
          <a:xfrm>
            <a:off x="914400" y="4343400"/>
            <a:ext cx="5029200" cy="4114800"/>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AU" dirty="0"/>
              <a:t>The flatworms body cavity has no lining or enclosed fluid. Instead a muscular pharynx leads to a branched digestive system that allows direct diffusion of nutrients to all cells. The flatworm's flattened body shape also restricts the distance of any cell from the digestive system or the exterior of the organism. Oxygen can diffuse from the surrounding water into the cells, and carbon dioxide can diffuse out. </a:t>
            </a:r>
            <a:endParaRPr lang="en-AU" sz="1200" kern="1200" dirty="0">
              <a:solidFill>
                <a:schemeClr val="tx1"/>
              </a:solidFill>
              <a:effectLst/>
              <a:latin typeface="+mn-lt"/>
              <a:ea typeface="+mn-ea"/>
              <a:cs typeface="+mn-cs"/>
            </a:endParaRPr>
          </a:p>
          <a:p>
            <a:pPr lvl="0"/>
            <a:endParaRPr lang="en-AU" sz="1200" kern="1200" dirty="0">
              <a:solidFill>
                <a:schemeClr val="tx1"/>
              </a:solidFill>
              <a:effectLst/>
              <a:latin typeface="+mn-lt"/>
              <a:ea typeface="+mn-ea"/>
              <a:cs typeface="+mn-cs"/>
            </a:endParaRPr>
          </a:p>
          <a:p>
            <a:pPr lvl="0"/>
            <a:endParaRPr lang="en-AU" sz="1200" kern="1200" dirty="0">
              <a:solidFill>
                <a:schemeClr val="tx1"/>
              </a:solidFill>
              <a:effectLst/>
              <a:latin typeface="+mn-lt"/>
              <a:ea typeface="+mn-ea"/>
              <a:cs typeface="+mn-cs"/>
            </a:endParaRPr>
          </a:p>
          <a:p>
            <a:pPr lvl="0"/>
            <a:r>
              <a:rPr lang="en-AU" sz="1200" kern="1200" dirty="0">
                <a:solidFill>
                  <a:schemeClr val="tx1"/>
                </a:solidFill>
                <a:effectLst/>
                <a:latin typeface="+mn-lt"/>
                <a:ea typeface="+mn-ea"/>
                <a:cs typeface="+mn-cs"/>
              </a:rPr>
              <a:t>Gastrovascular cavity has single opening (mouth/anus) (1)</a:t>
            </a:r>
          </a:p>
          <a:p>
            <a:r>
              <a:rPr lang="en-AU" sz="1200" kern="1200" dirty="0">
                <a:solidFill>
                  <a:schemeClr val="tx1"/>
                </a:solidFill>
                <a:effectLst/>
                <a:latin typeface="+mn-lt"/>
                <a:ea typeface="+mn-ea"/>
                <a:cs typeface="+mn-cs"/>
              </a:rPr>
              <a:t>Alimentary canal is one-way system with separate mouth/anus (1)</a:t>
            </a:r>
          </a:p>
          <a:p>
            <a:endParaRPr lang="en-AU" dirty="0"/>
          </a:p>
        </p:txBody>
      </p:sp>
      <p:sp>
        <p:nvSpPr>
          <p:cNvPr id="4" name="Slide Number Placeholder 3"/>
          <p:cNvSpPr>
            <a:spLocks noGrp="1"/>
          </p:cNvSpPr>
          <p:nvPr>
            <p:ph type="sldNum" sz="quarter" idx="10"/>
          </p:nvPr>
        </p:nvSpPr>
        <p:spPr/>
        <p:txBody>
          <a:bodyPr/>
          <a:lstStyle/>
          <a:p>
            <a:fld id="{6CA30BCC-94FA-436E-A017-406914F69CC5}" type="slidenum">
              <a:rPr lang="en-AU" smtClean="0"/>
              <a:t>7</a:t>
            </a:fld>
            <a:endParaRPr lang="en-AU"/>
          </a:p>
        </p:txBody>
      </p:sp>
    </p:spTree>
    <p:extLst>
      <p:ext uri="{BB962C8B-B14F-4D97-AF65-F5344CB8AC3E}">
        <p14:creationId xmlns:p14="http://schemas.microsoft.com/office/powerpoint/2010/main" val="16378732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515614AC-C205-4AE2-9850-F2533DA50470}" type="slidenum">
              <a:rPr lang="en-US"/>
              <a:pPr/>
              <a:t>9</a:t>
            </a:fld>
            <a:endParaRPr lang="en-US"/>
          </a:p>
        </p:txBody>
      </p:sp>
      <p:sp>
        <p:nvSpPr>
          <p:cNvPr id="382978"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382979" name="Rectangle 3"/>
          <p:cNvSpPr>
            <a:spLocks noGrp="1" noChangeArrowheads="1"/>
          </p:cNvSpPr>
          <p:nvPr>
            <p:ph type="body" idx="1"/>
          </p:nvPr>
        </p:nvSpPr>
        <p:spPr bwMode="auto">
          <a:xfrm>
            <a:off x="914400" y="4343400"/>
            <a:ext cx="5029200" cy="4114800"/>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en-GB" altLang="en-US" dirty="0"/>
              <a:t>Insect blood, properly called </a:t>
            </a:r>
            <a:r>
              <a:rPr lang="en-GB" altLang="en-US" b="1" dirty="0" err="1"/>
              <a:t>hemolymph</a:t>
            </a:r>
            <a:r>
              <a:rPr lang="en-GB" altLang="en-US" dirty="0"/>
              <a:t>, flows freely through the body cavity and makes </a:t>
            </a:r>
            <a:r>
              <a:rPr lang="en-GB" altLang="en-US" u="sng" dirty="0"/>
              <a:t>direct contact</a:t>
            </a:r>
            <a:r>
              <a:rPr lang="en-GB" altLang="en-US" dirty="0"/>
              <a:t> with organs and tissues. </a:t>
            </a:r>
          </a:p>
          <a:p>
            <a:pPr eaLnBrk="1" hangingPunct="1">
              <a:buFontTx/>
              <a:buChar char="•"/>
            </a:pPr>
            <a:endParaRPr lang="en-GB" altLang="en-US" dirty="0"/>
          </a:p>
          <a:p>
            <a:pPr eaLnBrk="1" hangingPunct="1">
              <a:buFontTx/>
              <a:buChar char="•"/>
            </a:pPr>
            <a:r>
              <a:rPr lang="en-GB" altLang="en-US" dirty="0"/>
              <a:t>The insect circulation system </a:t>
            </a:r>
            <a:r>
              <a:rPr lang="en-GB" altLang="en-US" u="sng" dirty="0"/>
              <a:t>does not carry</a:t>
            </a:r>
            <a:r>
              <a:rPr lang="en-GB" altLang="en-US" dirty="0"/>
              <a:t> oxygen, so the blood does not contain red blood cells as ours does. </a:t>
            </a:r>
            <a:r>
              <a:rPr lang="en-GB" altLang="en-US" dirty="0" err="1"/>
              <a:t>Hemolymph</a:t>
            </a:r>
            <a:r>
              <a:rPr lang="en-GB" altLang="en-US" dirty="0"/>
              <a:t> is usually green or yellow.</a:t>
            </a:r>
          </a:p>
          <a:p>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 </a:t>
            </a:r>
            <a:r>
              <a:rPr lang="en-AU" i="1" dirty="0" err="1"/>
              <a:t>haemocoel</a:t>
            </a:r>
            <a:r>
              <a:rPr lang="en-AU" dirty="0"/>
              <a:t> is the main body cavity of invertebrates, such as insects. Insects do not possess an arrangement of blood vessels such as those in mammals. Instead insects have a cavity that is full of insect blood (known as haemolymph) and the organs of the insect are suspended in this cavity.</a:t>
            </a:r>
          </a:p>
        </p:txBody>
      </p:sp>
      <p:sp>
        <p:nvSpPr>
          <p:cNvPr id="4" name="Slide Number Placeholder 3"/>
          <p:cNvSpPr>
            <a:spLocks noGrp="1"/>
          </p:cNvSpPr>
          <p:nvPr>
            <p:ph type="sldNum" sz="quarter" idx="10"/>
          </p:nvPr>
        </p:nvSpPr>
        <p:spPr/>
        <p:txBody>
          <a:bodyPr/>
          <a:lstStyle/>
          <a:p>
            <a:fld id="{6CA30BCC-94FA-436E-A017-406914F69CC5}" type="slidenum">
              <a:rPr lang="en-AU" smtClean="0"/>
              <a:t>10</a:t>
            </a:fld>
            <a:endParaRPr lang="en-AU"/>
          </a:p>
        </p:txBody>
      </p:sp>
    </p:spTree>
    <p:extLst>
      <p:ext uri="{BB962C8B-B14F-4D97-AF65-F5344CB8AC3E}">
        <p14:creationId xmlns:p14="http://schemas.microsoft.com/office/powerpoint/2010/main" val="18035840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88299912-D880-4641-92FC-5B1AF062D9BC}" type="slidenum">
              <a:rPr lang="en-US"/>
              <a:pPr/>
              <a:t>11</a:t>
            </a:fld>
            <a:endParaRPr lang="en-US"/>
          </a:p>
        </p:txBody>
      </p:sp>
      <p:sp>
        <p:nvSpPr>
          <p:cNvPr id="385026"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385027" name="Rectangle 3"/>
          <p:cNvSpPr>
            <a:spLocks noGrp="1" noChangeArrowheads="1"/>
          </p:cNvSpPr>
          <p:nvPr>
            <p:ph type="body" idx="1"/>
          </p:nvPr>
        </p:nvSpPr>
        <p:spPr bwMode="auto">
          <a:xfrm>
            <a:off x="914400" y="4343400"/>
            <a:ext cx="5029200" cy="4114800"/>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7B124356-FFC1-4A29-B0E6-DFDAEFE93747}" type="slidenum">
              <a:rPr lang="en-US"/>
              <a:pPr/>
              <a:t>12</a:t>
            </a:fld>
            <a:endParaRPr lang="en-US"/>
          </a:p>
        </p:txBody>
      </p:sp>
      <p:sp>
        <p:nvSpPr>
          <p:cNvPr id="387074"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387075" name="Rectangle 3"/>
          <p:cNvSpPr>
            <a:spLocks noGrp="1" noChangeArrowheads="1"/>
          </p:cNvSpPr>
          <p:nvPr>
            <p:ph type="body" idx="1"/>
          </p:nvPr>
        </p:nvSpPr>
        <p:spPr bwMode="auto">
          <a:xfrm>
            <a:off x="914400" y="4343400"/>
            <a:ext cx="5029200" cy="4114800"/>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98E7E5AA-7220-49BD-BD1E-6CF817190100}" type="slidenum">
              <a:rPr lang="en-US"/>
              <a:pPr/>
              <a:t>13</a:t>
            </a:fld>
            <a:endParaRPr lang="en-US"/>
          </a:p>
        </p:txBody>
      </p:sp>
      <p:sp>
        <p:nvSpPr>
          <p:cNvPr id="397314"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397315" name="Rectangle 3"/>
          <p:cNvSpPr>
            <a:spLocks noGrp="1" noChangeArrowheads="1"/>
          </p:cNvSpPr>
          <p:nvPr>
            <p:ph type="body" idx="1"/>
          </p:nvPr>
        </p:nvSpPr>
        <p:spPr bwMode="auto">
          <a:xfrm>
            <a:off x="914400" y="4343400"/>
            <a:ext cx="5029200" cy="4114800"/>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50EEB329-F824-43A0-8F9E-096DC68AA6C0}" type="slidenum">
              <a:rPr lang="en-US"/>
              <a:pPr/>
              <a:t>14</a:t>
            </a:fld>
            <a:endParaRPr lang="en-US"/>
          </a:p>
        </p:txBody>
      </p:sp>
      <p:sp>
        <p:nvSpPr>
          <p:cNvPr id="38912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389123" name="Rectangle 3"/>
          <p:cNvSpPr>
            <a:spLocks noGrp="1" noChangeArrowheads="1"/>
          </p:cNvSpPr>
          <p:nvPr>
            <p:ph type="body" idx="1"/>
          </p:nvPr>
        </p:nvSpPr>
        <p:spPr bwMode="auto">
          <a:xfrm>
            <a:off x="914400" y="4343400"/>
            <a:ext cx="5029200" cy="4114800"/>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6CA30BCC-94FA-436E-A017-406914F69CC5}" type="slidenum">
              <a:rPr lang="en-AU" smtClean="0"/>
              <a:t>17</a:t>
            </a:fld>
            <a:endParaRPr lang="en-AU"/>
          </a:p>
        </p:txBody>
      </p:sp>
    </p:spTree>
    <p:extLst>
      <p:ext uri="{BB962C8B-B14F-4D97-AF65-F5344CB8AC3E}">
        <p14:creationId xmlns:p14="http://schemas.microsoft.com/office/powerpoint/2010/main" val="34028989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E88C8E85-0D05-4F49-982B-2EE6D0758CBA}" type="slidenum">
              <a:rPr lang="en-US"/>
              <a:pPr/>
              <a:t>18</a:t>
            </a:fld>
            <a:endParaRPr lang="en-US"/>
          </a:p>
        </p:txBody>
      </p:sp>
      <p:sp>
        <p:nvSpPr>
          <p:cNvPr id="407554"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07555" name="Rectangle 3"/>
          <p:cNvSpPr>
            <a:spLocks noGrp="1" noChangeArrowheads="1"/>
          </p:cNvSpPr>
          <p:nvPr>
            <p:ph type="body" idx="1"/>
          </p:nvPr>
        </p:nvSpPr>
        <p:spPr bwMode="auto">
          <a:xfrm>
            <a:off x="914400" y="4343400"/>
            <a:ext cx="5029200" cy="4114800"/>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sound pattern is “</a:t>
            </a:r>
            <a:r>
              <a:rPr lang="en-US" dirty="0" err="1"/>
              <a:t>lub</a:t>
            </a:r>
            <a:r>
              <a:rPr lang="en-US" dirty="0"/>
              <a:t>–dup, </a:t>
            </a:r>
            <a:r>
              <a:rPr lang="en-US" dirty="0" err="1"/>
              <a:t>lub</a:t>
            </a:r>
            <a:r>
              <a:rPr lang="en-US" dirty="0"/>
              <a:t>–dup, </a:t>
            </a:r>
            <a:r>
              <a:rPr lang="en-US" dirty="0" err="1"/>
              <a:t>lub</a:t>
            </a:r>
            <a:r>
              <a:rPr lang="en-US" dirty="0"/>
              <a:t>–dup.” The first heart sound (“</a:t>
            </a:r>
            <a:r>
              <a:rPr lang="en-US" dirty="0" err="1"/>
              <a:t>lub</a:t>
            </a:r>
            <a:r>
              <a:rPr lang="en-US" dirty="0"/>
              <a:t>”) is created by the recoil of blood against the closed AV valves. The second sound (“dup”) is the recoil of blood against the semilunar valves.</a:t>
            </a:r>
          </a:p>
          <a:p>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One exception is the hepatic portal vein that carries blood from capillary beds in the digestive system to capillary beds in the liver. Blood flowing from the liver passes into the hepatic vein, which conducts blood to the heart.</a:t>
            </a:r>
          </a:p>
          <a:p>
            <a:endParaRPr lang="en-AU" dirty="0"/>
          </a:p>
        </p:txBody>
      </p:sp>
      <p:sp>
        <p:nvSpPr>
          <p:cNvPr id="4" name="Slide Number Placeholder 3"/>
          <p:cNvSpPr>
            <a:spLocks noGrp="1"/>
          </p:cNvSpPr>
          <p:nvPr>
            <p:ph type="sldNum" sz="quarter" idx="10"/>
          </p:nvPr>
        </p:nvSpPr>
        <p:spPr/>
        <p:txBody>
          <a:bodyPr/>
          <a:lstStyle/>
          <a:p>
            <a:fld id="{6CA30BCC-94FA-436E-A017-406914F69CC5}" type="slidenum">
              <a:rPr lang="en-AU" smtClean="0"/>
              <a:t>19</a:t>
            </a:fld>
            <a:endParaRPr lang="en-AU"/>
          </a:p>
        </p:txBody>
      </p:sp>
    </p:spTree>
    <p:extLst>
      <p:ext uri="{BB962C8B-B14F-4D97-AF65-F5344CB8AC3E}">
        <p14:creationId xmlns:p14="http://schemas.microsoft.com/office/powerpoint/2010/main" val="10469078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6CA30BCC-94FA-436E-A017-406914F69CC5}" type="slidenum">
              <a:rPr lang="en-AU" smtClean="0"/>
              <a:t>21</a:t>
            </a:fld>
            <a:endParaRPr lang="en-AU"/>
          </a:p>
        </p:txBody>
      </p:sp>
    </p:spTree>
    <p:extLst>
      <p:ext uri="{BB962C8B-B14F-4D97-AF65-F5344CB8AC3E}">
        <p14:creationId xmlns:p14="http://schemas.microsoft.com/office/powerpoint/2010/main" val="27277932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617220E1-DB3E-42D8-AC22-E40595F21952}" type="slidenum">
              <a:rPr lang="en-US"/>
              <a:pPr/>
              <a:t>36</a:t>
            </a:fld>
            <a:endParaRPr lang="en-US"/>
          </a:p>
        </p:txBody>
      </p:sp>
      <p:sp>
        <p:nvSpPr>
          <p:cNvPr id="40960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09603" name="Rectangle 3"/>
          <p:cNvSpPr>
            <a:spLocks noGrp="1" noChangeArrowheads="1"/>
          </p:cNvSpPr>
          <p:nvPr>
            <p:ph type="body" idx="1"/>
          </p:nvPr>
        </p:nvSpPr>
        <p:spPr bwMode="auto">
          <a:xfrm>
            <a:off x="914400" y="4343400"/>
            <a:ext cx="5029200" cy="4114800"/>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Repeating</a:t>
            </a:r>
            <a:r>
              <a:rPr lang="en-US" baseline="0" dirty="0"/>
              <a:t> pattern of contraction and relaxation</a:t>
            </a:r>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a:p>
            <a:r>
              <a:rPr lang="en-AU" dirty="0"/>
              <a:t>Interstitial fluid is the body fluid between blood vessels and cells, containing nutrients from </a:t>
            </a:r>
            <a:r>
              <a:rPr lang="en-AU" dirty="0">
                <a:hlinkClick r:id="rId3" tooltip="Capillaries"/>
              </a:rPr>
              <a:t>capillaries</a:t>
            </a:r>
            <a:r>
              <a:rPr lang="en-AU" dirty="0"/>
              <a:t> by diffusion and holding waste products discharged out by cells due to </a:t>
            </a:r>
            <a:r>
              <a:rPr lang="en-AU" dirty="0">
                <a:hlinkClick r:id="rId4" tooltip="Metabolism"/>
              </a:rPr>
              <a:t>metabolism</a:t>
            </a:r>
            <a:r>
              <a:rPr lang="en-AU" dirty="0"/>
              <a:t>.</a:t>
            </a:r>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When crocodilians are digesting a meal, they choose to shunt and direct CO</a:t>
            </a:r>
            <a:r>
              <a:rPr lang="en-AU" baseline="-25000" dirty="0"/>
              <a:t>2</a:t>
            </a:r>
            <a:r>
              <a:rPr lang="en-AU" dirty="0"/>
              <a:t>-rich blood straight to the stomach where glands make use of the CO</a:t>
            </a:r>
            <a:r>
              <a:rPr lang="en-AU" baseline="-25000" dirty="0"/>
              <a:t>2</a:t>
            </a:r>
            <a:r>
              <a:rPr lang="en-AU" dirty="0"/>
              <a:t> to form gastric acid and bicarbonate. Consequently this shunt enables crocodilians to secrete gastric acid at a rate that is approximately 10 times the highest rates measured in mammals. If crocodilians are deprived of this ability to sidestep their lungs, their rates of acid secretion drop significantly and their ability to dissolve bone, a regular part of their normal diet, is impaired.</a:t>
            </a:r>
          </a:p>
          <a:p>
            <a:endParaRPr lang="en-AU" dirty="0"/>
          </a:p>
          <a:p>
            <a:r>
              <a:rPr lang="en-AU" dirty="0"/>
              <a:t>Concealed below the water's surface, crocodilians stealthily approach animals that have come to drink, spring upon their prey, and drag them into the water and drown them. This powerful burst of activity generates an extraordinary amount of lactic acid in their muscles, which, unless cleared rapidly from the body, can be lethal. The shunting of this acidic blood past the lungs and to the stomach allows the acid to quickly leave the blood and provides the blood with bicarbonate, an important buffer.</a:t>
            </a:r>
          </a:p>
          <a:p>
            <a:endParaRPr lang="en-AU" dirty="0"/>
          </a:p>
          <a:p>
            <a:r>
              <a:rPr lang="en-AU" dirty="0"/>
              <a:t>It means that blood does NOT have to unnecessarily flow to the lungs when the crocodilian is underwater. The heart rate can fall to just 2–3 beats/minute, thus saving energy in the form of reduced cellular respiration. This same adaptation is interestingly also linked to efficient digestion. Oxygen-rich blood is also carried to areas of the body that need it the most.</a:t>
            </a:r>
          </a:p>
          <a:p>
            <a:endParaRPr lang="en-AU" dirty="0"/>
          </a:p>
          <a:p>
            <a:endParaRPr lang="en-AU" dirty="0"/>
          </a:p>
        </p:txBody>
      </p:sp>
      <p:sp>
        <p:nvSpPr>
          <p:cNvPr id="4" name="Slide Number Placeholder 3"/>
          <p:cNvSpPr>
            <a:spLocks noGrp="1"/>
          </p:cNvSpPr>
          <p:nvPr>
            <p:ph type="sldNum" sz="quarter" idx="10"/>
          </p:nvPr>
        </p:nvSpPr>
        <p:spPr/>
        <p:txBody>
          <a:bodyPr/>
          <a:lstStyle/>
          <a:p>
            <a:fld id="{6CA30BCC-94FA-436E-A017-406914F69CC5}" type="slidenum">
              <a:rPr lang="en-AU" smtClean="0"/>
              <a:t>43</a:t>
            </a:fld>
            <a:endParaRPr lang="en-AU"/>
          </a:p>
        </p:txBody>
      </p:sp>
    </p:spTree>
    <p:extLst>
      <p:ext uri="{BB962C8B-B14F-4D97-AF65-F5344CB8AC3E}">
        <p14:creationId xmlns:p14="http://schemas.microsoft.com/office/powerpoint/2010/main" val="29541482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Type 1: Single-circuit (one way flow, and heart has only one atrium and one ventricle)    E.g. Fish</a:t>
            </a:r>
          </a:p>
          <a:p>
            <a:r>
              <a:rPr lang="en-AU" dirty="0"/>
              <a:t>Type 2: Double circulation  E.g. Mammals</a:t>
            </a:r>
          </a:p>
        </p:txBody>
      </p:sp>
      <p:sp>
        <p:nvSpPr>
          <p:cNvPr id="4" name="Slide Number Placeholder 3"/>
          <p:cNvSpPr>
            <a:spLocks noGrp="1"/>
          </p:cNvSpPr>
          <p:nvPr>
            <p:ph type="sldNum" sz="quarter" idx="5"/>
          </p:nvPr>
        </p:nvSpPr>
        <p:spPr/>
        <p:txBody>
          <a:bodyPr/>
          <a:lstStyle/>
          <a:p>
            <a:fld id="{6CA30BCC-94FA-436E-A017-406914F69CC5}" type="slidenum">
              <a:rPr lang="en-AU" smtClean="0"/>
              <a:t>45</a:t>
            </a:fld>
            <a:endParaRPr lang="en-AU"/>
          </a:p>
        </p:txBody>
      </p:sp>
    </p:spTree>
    <p:extLst>
      <p:ext uri="{BB962C8B-B14F-4D97-AF65-F5344CB8AC3E}">
        <p14:creationId xmlns:p14="http://schemas.microsoft.com/office/powerpoint/2010/main" val="27613839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kern="1200" dirty="0">
                <a:solidFill>
                  <a:schemeClr val="tx1"/>
                </a:solidFill>
                <a:effectLst/>
                <a:latin typeface="+mn-lt"/>
                <a:ea typeface="+mn-ea"/>
                <a:cs typeface="+mn-cs"/>
              </a:rPr>
              <a:t>Transport system where transport liquid (haemolymph) is washed freely over internal organs (1) instead of being enclosed in vessels as in a closed system (1).</a:t>
            </a:r>
          </a:p>
          <a:p>
            <a:endParaRPr lang="en-AU" dirty="0"/>
          </a:p>
          <a:p>
            <a:r>
              <a:rPr lang="en-AU" sz="1200" kern="1200" dirty="0">
                <a:solidFill>
                  <a:schemeClr val="tx1"/>
                </a:solidFill>
                <a:effectLst/>
                <a:latin typeface="+mn-lt"/>
                <a:ea typeface="+mn-ea"/>
                <a:cs typeface="+mn-cs"/>
              </a:rPr>
              <a:t>Delivers oxygen and nutrients directly to cells.</a:t>
            </a:r>
          </a:p>
          <a:p>
            <a:r>
              <a:rPr lang="en-AU" sz="1200" kern="1200" dirty="0">
                <a:solidFill>
                  <a:schemeClr val="tx1"/>
                </a:solidFill>
                <a:effectLst/>
                <a:latin typeface="+mn-lt"/>
                <a:ea typeface="+mn-ea"/>
                <a:cs typeface="+mn-cs"/>
              </a:rPr>
              <a:t>Allow animals to control blood flow to different organs as necessary.</a:t>
            </a:r>
          </a:p>
          <a:p>
            <a:r>
              <a:rPr lang="en-AU" sz="1200" kern="1200" dirty="0">
                <a:solidFill>
                  <a:schemeClr val="tx1"/>
                </a:solidFill>
                <a:effectLst/>
                <a:latin typeface="+mn-lt"/>
                <a:ea typeface="+mn-ea"/>
                <a:cs typeface="+mn-cs"/>
              </a:rPr>
              <a:t>Allows oxygenated and deoxygenated blood fluids to be kept separate for greater efficiency.</a:t>
            </a:r>
          </a:p>
          <a:p>
            <a:endParaRPr lang="en-AU" dirty="0"/>
          </a:p>
        </p:txBody>
      </p:sp>
      <p:sp>
        <p:nvSpPr>
          <p:cNvPr id="4" name="Slide Number Placeholder 3"/>
          <p:cNvSpPr>
            <a:spLocks noGrp="1"/>
          </p:cNvSpPr>
          <p:nvPr>
            <p:ph type="sldNum" sz="quarter" idx="10"/>
          </p:nvPr>
        </p:nvSpPr>
        <p:spPr/>
        <p:txBody>
          <a:bodyPr/>
          <a:lstStyle/>
          <a:p>
            <a:fld id="{6CA30BCC-94FA-436E-A017-406914F69CC5}" type="slidenum">
              <a:rPr lang="en-AU" smtClean="0"/>
              <a:t>46</a:t>
            </a:fld>
            <a:endParaRPr lang="en-AU"/>
          </a:p>
        </p:txBody>
      </p:sp>
    </p:spTree>
    <p:extLst>
      <p:ext uri="{BB962C8B-B14F-4D97-AF65-F5344CB8AC3E}">
        <p14:creationId xmlns:p14="http://schemas.microsoft.com/office/powerpoint/2010/main" val="36389862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36346" y="1788454"/>
            <a:ext cx="6270922" cy="2098226"/>
          </a:xfrm>
        </p:spPr>
        <p:txBody>
          <a:bodyPr anchor="b">
            <a:noAutofit/>
          </a:bodyPr>
          <a:lstStyle>
            <a:lvl1pPr algn="ctr">
              <a:defRPr sz="60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009930" y="3956280"/>
            <a:ext cx="5123755" cy="1086237"/>
          </a:xfrm>
        </p:spPr>
        <p:txBody>
          <a:bodyPr>
            <a:normAutofit/>
          </a:bodyPr>
          <a:lstStyle>
            <a:lvl1pPr marL="0" indent="0" algn="ctr">
              <a:lnSpc>
                <a:spcPct val="112000"/>
              </a:lnSpc>
              <a:spcBef>
                <a:spcPts val="0"/>
              </a:spcBef>
              <a:spcAft>
                <a:spcPts val="0"/>
              </a:spcAft>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a:xfrm>
            <a:off x="564644" y="6453386"/>
            <a:ext cx="1205958" cy="404614"/>
          </a:xfrm>
        </p:spPr>
        <p:txBody>
          <a:bodyPr/>
          <a:lstStyle>
            <a:lvl1pPr>
              <a:defRPr baseline="0">
                <a:solidFill>
                  <a:schemeClr val="tx2"/>
                </a:solidFill>
              </a:defRPr>
            </a:lvl1pPr>
          </a:lstStyle>
          <a:p>
            <a:fld id="{0106B4A3-4212-4E39-93DE-E053E8F69C28}" type="datetimeFigureOut">
              <a:rPr lang="en-US" smtClean="0"/>
              <a:t>10/25/2023</a:t>
            </a:fld>
            <a:endParaRPr lang="en-US"/>
          </a:p>
        </p:txBody>
      </p:sp>
      <p:sp>
        <p:nvSpPr>
          <p:cNvPr id="5" name="Footer Placeholder 4"/>
          <p:cNvSpPr>
            <a:spLocks noGrp="1"/>
          </p:cNvSpPr>
          <p:nvPr>
            <p:ph type="ftr" sz="quarter" idx="11"/>
          </p:nvPr>
        </p:nvSpPr>
        <p:spPr>
          <a:xfrm>
            <a:off x="1938041" y="6453386"/>
            <a:ext cx="5267533" cy="404614"/>
          </a:xfrm>
        </p:spPr>
        <p:txBody>
          <a:bodyPr/>
          <a:lstStyle>
            <a:lvl1pPr algn="ctr">
              <a:defRPr baseline="0">
                <a:solidFill>
                  <a:schemeClr val="tx2"/>
                </a:solidFill>
              </a:defRPr>
            </a:lvl1pPr>
          </a:lstStyle>
          <a:p>
            <a:endParaRPr kumimoji="0" lang="en-US"/>
          </a:p>
        </p:txBody>
      </p:sp>
      <p:sp>
        <p:nvSpPr>
          <p:cNvPr id="6" name="Slide Number Placeholder 5"/>
          <p:cNvSpPr>
            <a:spLocks noGrp="1"/>
          </p:cNvSpPr>
          <p:nvPr>
            <p:ph type="sldNum" sz="quarter" idx="12"/>
          </p:nvPr>
        </p:nvSpPr>
        <p:spPr>
          <a:xfrm>
            <a:off x="7373012" y="6453386"/>
            <a:ext cx="1197219" cy="404614"/>
          </a:xfrm>
        </p:spPr>
        <p:txBody>
          <a:bodyPr/>
          <a:lstStyle>
            <a:lvl1pPr>
              <a:defRPr baseline="0">
                <a:solidFill>
                  <a:schemeClr val="tx2"/>
                </a:solidFill>
              </a:defRPr>
            </a:lvl1pPr>
          </a:lstStyle>
          <a:p>
            <a:fld id="{A3DCDF73-85D2-4237-9B32-053DBDB0C312}" type="slidenum">
              <a:rPr kumimoji="0" lang="en-US" smtClean="0"/>
              <a:t>‹#›</a:t>
            </a:fld>
            <a:endParaRPr kumimoji="0" lang="en-US"/>
          </a:p>
        </p:txBody>
      </p:sp>
      <p:grpSp>
        <p:nvGrpSpPr>
          <p:cNvPr id="8" name="Group 7"/>
          <p:cNvGrpSpPr/>
          <p:nvPr/>
        </p:nvGrpSpPr>
        <p:grpSpPr>
          <a:xfrm>
            <a:off x="564643" y="744469"/>
            <a:ext cx="8005589" cy="5349671"/>
            <a:chOff x="564643" y="744469"/>
            <a:chExt cx="8005589" cy="5349671"/>
          </a:xfrm>
        </p:grpSpPr>
        <p:sp>
          <p:nvSpPr>
            <p:cNvPr id="11" name="Freeform 6"/>
            <p:cNvSpPr/>
            <p:nvPr/>
          </p:nvSpPr>
          <p:spPr bwMode="auto">
            <a:xfrm>
              <a:off x="6113972" y="1685652"/>
              <a:ext cx="2456260" cy="4408488"/>
            </a:xfrm>
            <a:custGeom>
              <a:avLst/>
              <a:gdLst/>
              <a:ahLst/>
              <a:cxnLst/>
              <a:rect l="l" t="t" r="r" b="b"/>
              <a:pathLst>
                <a:path w="10000" h="10000">
                  <a:moveTo>
                    <a:pt x="8761" y="0"/>
                  </a:moveTo>
                  <a:lnTo>
                    <a:pt x="10000" y="0"/>
                  </a:lnTo>
                  <a:lnTo>
                    <a:pt x="10000" y="10000"/>
                  </a:lnTo>
                  <a:lnTo>
                    <a:pt x="0" y="10000"/>
                  </a:lnTo>
                  <a:lnTo>
                    <a:pt x="0" y="9357"/>
                  </a:lnTo>
                  <a:lnTo>
                    <a:pt x="8761" y="935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564643" y="744469"/>
              <a:ext cx="2456505" cy="4408488"/>
            </a:xfrm>
            <a:custGeom>
              <a:avLst/>
              <a:gdLst/>
              <a:ahLst/>
              <a:cxnLst/>
              <a:rect l="l" t="t" r="r" b="b"/>
              <a:pathLst>
                <a:path w="10001" h="10000">
                  <a:moveTo>
                    <a:pt x="8762" y="0"/>
                  </a:moveTo>
                  <a:lnTo>
                    <a:pt x="10001" y="0"/>
                  </a:lnTo>
                  <a:lnTo>
                    <a:pt x="10001" y="10000"/>
                  </a:lnTo>
                  <a:lnTo>
                    <a:pt x="1" y="10000"/>
                  </a:lnTo>
                  <a:cubicBezTo>
                    <a:pt x="-2" y="9766"/>
                    <a:pt x="4" y="9586"/>
                    <a:pt x="1" y="9352"/>
                  </a:cubicBezTo>
                  <a:lnTo>
                    <a:pt x="8762" y="9346"/>
                  </a:lnTo>
                  <a:lnTo>
                    <a:pt x="8762"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26734600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06B4A3-4212-4E39-93DE-E053E8F69C28}" type="datetimeFigureOut">
              <a:rPr lang="en-US" smtClean="0"/>
              <a:t>10/25/2023</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A3DCDF73-85D2-4237-9B32-053DBDB0C312}" type="slidenum">
              <a:rPr kumimoji="0" lang="en-US" smtClean="0"/>
              <a:t>‹#›</a:t>
            </a:fld>
            <a:endParaRPr kumimoji="0" lang="en-US"/>
          </a:p>
        </p:txBody>
      </p:sp>
    </p:spTree>
    <p:extLst>
      <p:ext uri="{BB962C8B-B14F-4D97-AF65-F5344CB8AC3E}">
        <p14:creationId xmlns:p14="http://schemas.microsoft.com/office/powerpoint/2010/main" val="3705356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73769" y="1301361"/>
            <a:ext cx="7209728" cy="2852737"/>
          </a:xfrm>
        </p:spPr>
        <p:txBody>
          <a:bodyPr anchor="b">
            <a:normAutofit/>
          </a:bodyPr>
          <a:lstStyle>
            <a:lvl1pPr algn="r">
              <a:defRPr sz="60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573769" y="4216328"/>
            <a:ext cx="7209728" cy="1143324"/>
          </a:xfrm>
        </p:spPr>
        <p:txBody>
          <a:bodyPr/>
          <a:lstStyle>
            <a:lvl1pPr marL="0" indent="0" algn="r">
              <a:lnSpc>
                <a:spcPct val="112000"/>
              </a:lnSpc>
              <a:spcBef>
                <a:spcPts val="0"/>
              </a:spcBef>
              <a:spcAft>
                <a:spcPts val="0"/>
              </a:spcAft>
              <a:buNone/>
              <a:defRPr sz="1800">
                <a:solidFill>
                  <a:schemeClr val="tx2"/>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554181" y="6453386"/>
            <a:ext cx="1216807" cy="404614"/>
          </a:xfrm>
        </p:spPr>
        <p:txBody>
          <a:bodyPr/>
          <a:lstStyle>
            <a:lvl1pPr>
              <a:defRPr>
                <a:solidFill>
                  <a:schemeClr val="tx2"/>
                </a:solidFill>
              </a:defRPr>
            </a:lvl1pPr>
          </a:lstStyle>
          <a:p>
            <a:fld id="{0106B4A3-4212-4E39-93DE-E053E8F69C28}" type="datetimeFigureOut">
              <a:rPr lang="en-US" smtClean="0"/>
              <a:t>10/25/2023</a:t>
            </a:fld>
            <a:endParaRPr lang="en-US"/>
          </a:p>
        </p:txBody>
      </p:sp>
      <p:sp>
        <p:nvSpPr>
          <p:cNvPr id="5" name="Footer Placeholder 4"/>
          <p:cNvSpPr>
            <a:spLocks noGrp="1"/>
          </p:cNvSpPr>
          <p:nvPr>
            <p:ph type="ftr" sz="quarter" idx="11"/>
          </p:nvPr>
        </p:nvSpPr>
        <p:spPr>
          <a:xfrm>
            <a:off x="1938234" y="6453386"/>
            <a:ext cx="5267533" cy="404614"/>
          </a:xfrm>
        </p:spPr>
        <p:txBody>
          <a:bodyPr/>
          <a:lstStyle>
            <a:lvl1pPr algn="ctr">
              <a:defRPr>
                <a:solidFill>
                  <a:schemeClr val="tx2"/>
                </a:solidFill>
              </a:defRPr>
            </a:lvl1pPr>
          </a:lstStyle>
          <a:p>
            <a:endParaRPr kumimoji="0" lang="en-US"/>
          </a:p>
        </p:txBody>
      </p:sp>
      <p:sp>
        <p:nvSpPr>
          <p:cNvPr id="6" name="Slide Number Placeholder 5"/>
          <p:cNvSpPr>
            <a:spLocks noGrp="1"/>
          </p:cNvSpPr>
          <p:nvPr>
            <p:ph type="sldNum" sz="quarter" idx="12"/>
          </p:nvPr>
        </p:nvSpPr>
        <p:spPr>
          <a:xfrm>
            <a:off x="7373012" y="6453386"/>
            <a:ext cx="1197219" cy="404614"/>
          </a:xfrm>
        </p:spPr>
        <p:txBody>
          <a:bodyPr/>
          <a:lstStyle>
            <a:lvl1pPr>
              <a:defRPr>
                <a:solidFill>
                  <a:schemeClr val="tx2"/>
                </a:solidFill>
              </a:defRPr>
            </a:lvl1pPr>
          </a:lstStyle>
          <a:p>
            <a:fld id="{A3DCDF73-85D2-4237-9B32-053DBDB0C312}" type="slidenum">
              <a:rPr kumimoji="0" lang="en-US" smtClean="0"/>
              <a:t>‹#›</a:t>
            </a:fld>
            <a:endParaRPr kumimoji="0" lang="en-US"/>
          </a:p>
        </p:txBody>
      </p:sp>
      <p:sp>
        <p:nvSpPr>
          <p:cNvPr id="7" name="Freeform 6"/>
          <p:cNvSpPr/>
          <p:nvPr/>
        </p:nvSpPr>
        <p:spPr bwMode="auto">
          <a:xfrm>
            <a:off x="6113972" y="1685652"/>
            <a:ext cx="2456260"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bg2"/>
          </a:solidFill>
          <a:ln w="0">
            <a:noFill/>
            <a:prstDash val="solid"/>
            <a:round/>
            <a:headEnd/>
            <a:tailEnd/>
          </a:ln>
        </p:spPr>
      </p:sp>
      <p:sp>
        <p:nvSpPr>
          <p:cNvPr id="8" name="Freeform 7" title="Crop Mark"/>
          <p:cNvSpPr/>
          <p:nvPr/>
        </p:nvSpPr>
        <p:spPr bwMode="auto">
          <a:xfrm>
            <a:off x="6113972" y="1685652"/>
            <a:ext cx="2456260"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6456310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028700" y="2286000"/>
            <a:ext cx="3335840"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94052" y="2286000"/>
            <a:ext cx="3335840"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106B4A3-4212-4E39-93DE-E053E8F69C28}" type="datetimeFigureOut">
              <a:rPr lang="en-US" smtClean="0"/>
              <a:t>10/25/2023</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A3DCDF73-85D2-4237-9B32-053DBDB0C312}" type="slidenum">
              <a:rPr kumimoji="0" lang="en-US" smtClean="0"/>
              <a:t>‹#›</a:t>
            </a:fld>
            <a:endParaRPr kumimoji="0" lang="en-US"/>
          </a:p>
        </p:txBody>
      </p:sp>
    </p:spTree>
    <p:extLst>
      <p:ext uri="{BB962C8B-B14F-4D97-AF65-F5344CB8AC3E}">
        <p14:creationId xmlns:p14="http://schemas.microsoft.com/office/powerpoint/2010/main" val="937040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28700" y="685800"/>
            <a:ext cx="72009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28700" y="2340230"/>
            <a:ext cx="3335840" cy="823912"/>
          </a:xfrm>
        </p:spPr>
        <p:txBody>
          <a:bodyPr anchor="b">
            <a:noAutofit/>
          </a:bodyPr>
          <a:lstStyle>
            <a:lvl1pPr marL="0" indent="0">
              <a:lnSpc>
                <a:spcPct val="84000"/>
              </a:lnSpc>
              <a:spcBef>
                <a:spcPts val="0"/>
              </a:spcBef>
              <a:spcAft>
                <a:spcPts val="0"/>
              </a:spcAft>
              <a:buNone/>
              <a:defRPr sz="2400" b="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1028700" y="3305208"/>
            <a:ext cx="3335839"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93760" y="2349754"/>
            <a:ext cx="3335840" cy="823912"/>
          </a:xfrm>
        </p:spPr>
        <p:txBody>
          <a:bodyPr anchor="b">
            <a:noAutofit/>
          </a:bodyPr>
          <a:lstStyle>
            <a:lvl1pPr marL="0" indent="0">
              <a:lnSpc>
                <a:spcPct val="84000"/>
              </a:lnSpc>
              <a:spcBef>
                <a:spcPts val="0"/>
              </a:spcBef>
              <a:spcAft>
                <a:spcPts val="0"/>
              </a:spcAft>
              <a:buNone/>
              <a:defRPr sz="2400" b="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893760" y="3305208"/>
            <a:ext cx="3335840"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106B4A3-4212-4E39-93DE-E053E8F69C28}" type="datetimeFigureOut">
              <a:rPr lang="en-US" smtClean="0"/>
              <a:t>10/25/2023</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A3DCDF73-85D2-4237-9B32-053DBDB0C312}" type="slidenum">
              <a:rPr kumimoji="0" lang="en-US" smtClean="0"/>
              <a:t>‹#›</a:t>
            </a:fld>
            <a:endParaRPr kumimoji="0" lang="en-US"/>
          </a:p>
        </p:txBody>
      </p:sp>
    </p:spTree>
    <p:extLst>
      <p:ext uri="{BB962C8B-B14F-4D97-AF65-F5344CB8AC3E}">
        <p14:creationId xmlns:p14="http://schemas.microsoft.com/office/powerpoint/2010/main" val="2898159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106B4A3-4212-4E39-93DE-E053E8F69C28}" type="datetimeFigureOut">
              <a:rPr lang="en-US" smtClean="0"/>
              <a:t>10/25/2023</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A3DCDF73-85D2-4237-9B32-053DBDB0C312}" type="slidenum">
              <a:rPr kumimoji="0" lang="en-US" smtClean="0"/>
              <a:t>‹#›</a:t>
            </a:fld>
            <a:endParaRPr kumimoji="0" lang="en-US"/>
          </a:p>
        </p:txBody>
      </p:sp>
    </p:spTree>
    <p:extLst>
      <p:ext uri="{BB962C8B-B14F-4D97-AF65-F5344CB8AC3E}">
        <p14:creationId xmlns:p14="http://schemas.microsoft.com/office/powerpoint/2010/main" val="555162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06B4A3-4212-4E39-93DE-E053E8F69C28}" type="datetimeFigureOut">
              <a:rPr lang="en-US" smtClean="0"/>
              <a:t>10/25/2023</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A3DCDF73-85D2-4237-9B32-053DBDB0C312}" type="slidenum">
              <a:rPr kumimoji="0" lang="en-US" smtClean="0"/>
              <a:t>‹#›</a:t>
            </a:fld>
            <a:endParaRPr kumimoji="0" lang="en-US"/>
          </a:p>
        </p:txBody>
      </p:sp>
    </p:spTree>
    <p:extLst>
      <p:ext uri="{BB962C8B-B14F-4D97-AF65-F5344CB8AC3E}">
        <p14:creationId xmlns:p14="http://schemas.microsoft.com/office/powerpoint/2010/main" val="2441321024"/>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397764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42925" y="685800"/>
            <a:ext cx="2891790" cy="2157884"/>
          </a:xfrm>
        </p:spPr>
        <p:txBody>
          <a:bodyPr anchor="t">
            <a:noAutofit/>
          </a:bodyPr>
          <a:lstStyle>
            <a:lvl1pPr>
              <a:lnSpc>
                <a:spcPct val="84000"/>
              </a:lnSpc>
              <a:defRPr sz="44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4692015" y="685801"/>
            <a:ext cx="3909060" cy="5175250"/>
          </a:xfrm>
        </p:spPr>
        <p:txBody>
          <a:bodyPr/>
          <a:lstStyle>
            <a:lvl1pPr>
              <a:defRPr sz="1500"/>
            </a:lvl1pPr>
            <a:lvl2pPr>
              <a:defRPr sz="1500"/>
            </a:lvl2pPr>
            <a:lvl3pPr>
              <a:defRPr sz="1350"/>
            </a:lvl3pPr>
            <a:lvl4pPr>
              <a:defRPr sz="135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42925" y="2856344"/>
            <a:ext cx="2891790" cy="3011056"/>
          </a:xfrm>
        </p:spPr>
        <p:txBody>
          <a:bodyPr>
            <a:normAutofit/>
          </a:bodyPr>
          <a:lstStyle>
            <a:lvl1pPr marL="0" indent="0">
              <a:lnSpc>
                <a:spcPct val="113000"/>
              </a:lnSpc>
              <a:spcBef>
                <a:spcPts val="0"/>
              </a:spcBef>
              <a:spcAft>
                <a:spcPts val="1500"/>
              </a:spcAft>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a:xfrm>
            <a:off x="542925" y="6453386"/>
            <a:ext cx="903429" cy="404614"/>
          </a:xfrm>
        </p:spPr>
        <p:txBody>
          <a:bodyPr/>
          <a:lstStyle>
            <a:lvl1pPr>
              <a:defRPr>
                <a:solidFill>
                  <a:schemeClr val="tx2"/>
                </a:solidFill>
              </a:defRPr>
            </a:lvl1pPr>
          </a:lstStyle>
          <a:p>
            <a:fld id="{0106B4A3-4212-4E39-93DE-E053E8F69C28}" type="datetimeFigureOut">
              <a:rPr lang="en-US" smtClean="0"/>
              <a:t>10/25/2023</a:t>
            </a:fld>
            <a:endParaRPr lang="en-US"/>
          </a:p>
        </p:txBody>
      </p:sp>
      <p:sp>
        <p:nvSpPr>
          <p:cNvPr id="6" name="Footer Placeholder 5"/>
          <p:cNvSpPr>
            <a:spLocks noGrp="1"/>
          </p:cNvSpPr>
          <p:nvPr>
            <p:ph type="ftr" sz="quarter" idx="11"/>
          </p:nvPr>
        </p:nvSpPr>
        <p:spPr>
          <a:xfrm>
            <a:off x="1654459" y="6453386"/>
            <a:ext cx="1780256" cy="404614"/>
          </a:xfrm>
        </p:spPr>
        <p:txBody>
          <a:bodyPr/>
          <a:lstStyle>
            <a:lvl1pPr>
              <a:defRPr>
                <a:solidFill>
                  <a:schemeClr val="tx2"/>
                </a:solidFill>
              </a:defRPr>
            </a:lvl1pPr>
          </a:lstStyle>
          <a:p>
            <a:endParaRPr kumimoji="0" lang="en-US"/>
          </a:p>
        </p:txBody>
      </p:sp>
      <p:sp>
        <p:nvSpPr>
          <p:cNvPr id="7" name="Slide Number Placeholder 6"/>
          <p:cNvSpPr>
            <a:spLocks noGrp="1"/>
          </p:cNvSpPr>
          <p:nvPr>
            <p:ph type="sldNum" sz="quarter" idx="12"/>
          </p:nvPr>
        </p:nvSpPr>
        <p:spPr>
          <a:xfrm>
            <a:off x="7412355" y="6453386"/>
            <a:ext cx="1197219" cy="404614"/>
          </a:xfrm>
        </p:spPr>
        <p:txBody>
          <a:bodyPr/>
          <a:lstStyle>
            <a:lvl1pPr>
              <a:defRPr>
                <a:solidFill>
                  <a:schemeClr val="tx2"/>
                </a:solidFill>
              </a:defRPr>
            </a:lvl1pPr>
          </a:lstStyle>
          <a:p>
            <a:fld id="{A3DCDF73-85D2-4237-9B32-053DBDB0C312}" type="slidenum">
              <a:rPr kumimoji="0" lang="en-US" smtClean="0"/>
              <a:t>‹#›</a:t>
            </a:fld>
            <a:endParaRPr kumimoji="0" lang="en-US"/>
          </a:p>
        </p:txBody>
      </p:sp>
      <p:sp>
        <p:nvSpPr>
          <p:cNvPr id="9" name="Rectangle 8"/>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title="Divider Bar"/>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6022313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397764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42925" y="685800"/>
            <a:ext cx="2891790" cy="2157884"/>
          </a:xfrm>
        </p:spPr>
        <p:txBody>
          <a:bodyPr anchor="t">
            <a:normAutofit/>
          </a:bodyPr>
          <a:lstStyle>
            <a:lvl1pPr>
              <a:lnSpc>
                <a:spcPct val="84000"/>
              </a:lnSpc>
              <a:defRPr sz="44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4149090" y="1"/>
            <a:ext cx="4994910" cy="6857999"/>
          </a:xfrm>
        </p:spPr>
        <p:txBody>
          <a:bodyPr anchor="t">
            <a:normAutofit/>
          </a:bodyPr>
          <a:lstStyle>
            <a:lvl1pPr marL="0" indent="0">
              <a:buNone/>
              <a:defRPr sz="1500"/>
            </a:lvl1pPr>
            <a:lvl2pPr marL="342900" indent="0">
              <a:buNone/>
              <a:defRPr sz="1500"/>
            </a:lvl2pPr>
            <a:lvl3pPr marL="685800" indent="0">
              <a:buNone/>
              <a:defRPr sz="15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542925" y="2855968"/>
            <a:ext cx="2891790" cy="3011432"/>
          </a:xfrm>
        </p:spPr>
        <p:txBody>
          <a:bodyPr>
            <a:normAutofit/>
          </a:bodyPr>
          <a:lstStyle>
            <a:lvl1pPr marL="0" indent="0">
              <a:lnSpc>
                <a:spcPct val="113000"/>
              </a:lnSpc>
              <a:spcBef>
                <a:spcPts val="0"/>
              </a:spcBef>
              <a:spcAft>
                <a:spcPts val="1500"/>
              </a:spcAft>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a:xfrm>
            <a:off x="542925" y="6453386"/>
            <a:ext cx="903429" cy="404614"/>
          </a:xfrm>
        </p:spPr>
        <p:txBody>
          <a:bodyPr/>
          <a:lstStyle>
            <a:lvl1pPr>
              <a:defRPr>
                <a:solidFill>
                  <a:schemeClr val="tx2"/>
                </a:solidFill>
              </a:defRPr>
            </a:lvl1pPr>
          </a:lstStyle>
          <a:p>
            <a:fld id="{0106B4A3-4212-4E39-93DE-E053E8F69C28}" type="datetimeFigureOut">
              <a:rPr lang="en-US" smtClean="0"/>
              <a:t>10/25/2023</a:t>
            </a:fld>
            <a:endParaRPr lang="en-US"/>
          </a:p>
        </p:txBody>
      </p:sp>
      <p:sp>
        <p:nvSpPr>
          <p:cNvPr id="6" name="Footer Placeholder 5"/>
          <p:cNvSpPr>
            <a:spLocks noGrp="1"/>
          </p:cNvSpPr>
          <p:nvPr>
            <p:ph type="ftr" sz="quarter" idx="11"/>
          </p:nvPr>
        </p:nvSpPr>
        <p:spPr>
          <a:xfrm>
            <a:off x="1654459" y="6453386"/>
            <a:ext cx="1780256" cy="404614"/>
          </a:xfrm>
        </p:spPr>
        <p:txBody>
          <a:bodyPr/>
          <a:lstStyle>
            <a:lvl1pPr>
              <a:defRPr>
                <a:solidFill>
                  <a:schemeClr val="tx2"/>
                </a:solidFill>
              </a:defRPr>
            </a:lvl1pPr>
          </a:lstStyle>
          <a:p>
            <a:endParaRPr kumimoji="0" lang="en-US"/>
          </a:p>
        </p:txBody>
      </p:sp>
      <p:sp>
        <p:nvSpPr>
          <p:cNvPr id="7" name="Slide Number Placeholder 6"/>
          <p:cNvSpPr>
            <a:spLocks noGrp="1"/>
          </p:cNvSpPr>
          <p:nvPr>
            <p:ph type="sldNum" sz="quarter" idx="12"/>
          </p:nvPr>
        </p:nvSpPr>
        <p:spPr>
          <a:xfrm>
            <a:off x="7412355" y="6453386"/>
            <a:ext cx="1197219" cy="404614"/>
          </a:xfrm>
        </p:spPr>
        <p:txBody>
          <a:bodyPr/>
          <a:lstStyle>
            <a:lvl1pPr>
              <a:defRPr>
                <a:solidFill>
                  <a:schemeClr val="tx2"/>
                </a:solidFill>
              </a:defRPr>
            </a:lvl1pPr>
          </a:lstStyle>
          <a:p>
            <a:fld id="{A3DCDF73-85D2-4237-9B32-053DBDB0C312}" type="slidenum">
              <a:rPr kumimoji="0" lang="en-US" smtClean="0"/>
              <a:t>‹#›</a:t>
            </a:fld>
            <a:endParaRPr kumimoji="0" lang="en-US"/>
          </a:p>
        </p:txBody>
      </p:sp>
      <p:sp>
        <p:nvSpPr>
          <p:cNvPr id="9" name="Rectangle 8"/>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title="Divider Bar"/>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640111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028700" y="2295526"/>
            <a:ext cx="7200900" cy="35718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06B4A3-4212-4E39-93DE-E053E8F69C28}" type="datetimeFigureOut">
              <a:rPr lang="en-US" smtClean="0"/>
              <a:t>10/25/2023</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A3DCDF73-85D2-4237-9B32-053DBDB0C312}" type="slidenum">
              <a:rPr kumimoji="0" lang="en-US" smtClean="0"/>
              <a:t>‹#›</a:t>
            </a:fld>
            <a:endParaRPr kumimoji="0" lang="en-US"/>
          </a:p>
        </p:txBody>
      </p:sp>
    </p:spTree>
    <p:extLst>
      <p:ext uri="{BB962C8B-B14F-4D97-AF65-F5344CB8AC3E}">
        <p14:creationId xmlns:p14="http://schemas.microsoft.com/office/powerpoint/2010/main" val="7351156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80797" y="624156"/>
            <a:ext cx="1490950"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28700" y="624156"/>
            <a:ext cx="5724525" cy="524324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06B4A3-4212-4E39-93DE-E053E8F69C28}" type="datetimeFigureOut">
              <a:rPr lang="en-US" smtClean="0"/>
              <a:t>10/25/2023</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A3DCDF73-85D2-4237-9B32-053DBDB0C312}" type="slidenum">
              <a:rPr kumimoji="0" lang="en-US" smtClean="0"/>
              <a:t>‹#›</a:t>
            </a:fld>
            <a:endParaRPr kumimoji="0" lang="en-US"/>
          </a:p>
        </p:txBody>
      </p:sp>
    </p:spTree>
    <p:extLst>
      <p:ext uri="{BB962C8B-B14F-4D97-AF65-F5344CB8AC3E}">
        <p14:creationId xmlns:p14="http://schemas.microsoft.com/office/powerpoint/2010/main" val="12110427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4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8700" y="685800"/>
            <a:ext cx="72009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028700" y="2286000"/>
            <a:ext cx="7200900" cy="35814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42987" y="6453386"/>
            <a:ext cx="903429" cy="404614"/>
          </a:xfrm>
          <a:prstGeom prst="rect">
            <a:avLst/>
          </a:prstGeom>
        </p:spPr>
        <p:txBody>
          <a:bodyPr vert="horz" lIns="91440" tIns="45720" rIns="91440" bIns="45720" rtlCol="0" anchor="ctr"/>
          <a:lstStyle>
            <a:lvl1pPr algn="l">
              <a:defRPr sz="1000" baseline="0">
                <a:solidFill>
                  <a:schemeClr val="tx2"/>
                </a:solidFill>
              </a:defRPr>
            </a:lvl1pPr>
          </a:lstStyle>
          <a:p>
            <a:fld id="{0106B4A3-4212-4E39-93DE-E053E8F69C28}" type="datetimeFigureOut">
              <a:rPr lang="en-US" smtClean="0"/>
              <a:t>10/25/2023</a:t>
            </a:fld>
            <a:endParaRPr lang="en-US"/>
          </a:p>
        </p:txBody>
      </p:sp>
      <p:sp>
        <p:nvSpPr>
          <p:cNvPr id="5" name="Footer Placeholder 4"/>
          <p:cNvSpPr>
            <a:spLocks noGrp="1"/>
          </p:cNvSpPr>
          <p:nvPr>
            <p:ph type="ftr" sz="quarter" idx="3"/>
          </p:nvPr>
        </p:nvSpPr>
        <p:spPr>
          <a:xfrm>
            <a:off x="2170173" y="6453386"/>
            <a:ext cx="4710623" cy="404614"/>
          </a:xfrm>
          <a:prstGeom prst="rect">
            <a:avLst/>
          </a:prstGeom>
        </p:spPr>
        <p:txBody>
          <a:bodyPr vert="horz" lIns="91440" tIns="45720" rIns="91440" bIns="45720" rtlCol="0" anchor="ctr"/>
          <a:lstStyle>
            <a:lvl1pPr algn="l">
              <a:defRPr sz="1000" baseline="0">
                <a:solidFill>
                  <a:schemeClr val="tx2"/>
                </a:solidFill>
              </a:defRPr>
            </a:lvl1pPr>
          </a:lstStyle>
          <a:p>
            <a:endParaRPr kumimoji="0" lang="en-US"/>
          </a:p>
        </p:txBody>
      </p:sp>
      <p:sp>
        <p:nvSpPr>
          <p:cNvPr id="6" name="Slide Number Placeholder 5"/>
          <p:cNvSpPr>
            <a:spLocks noGrp="1"/>
          </p:cNvSpPr>
          <p:nvPr>
            <p:ph type="sldNum" sz="quarter" idx="4"/>
          </p:nvPr>
        </p:nvSpPr>
        <p:spPr>
          <a:xfrm>
            <a:off x="7104552" y="6453386"/>
            <a:ext cx="1197219" cy="404614"/>
          </a:xfrm>
          <a:prstGeom prst="rect">
            <a:avLst/>
          </a:prstGeom>
        </p:spPr>
        <p:txBody>
          <a:bodyPr vert="horz" lIns="91440" tIns="45720" rIns="91440" bIns="45720" rtlCol="0" anchor="ctr"/>
          <a:lstStyle>
            <a:lvl1pPr algn="r">
              <a:defRPr sz="1000" baseline="0">
                <a:solidFill>
                  <a:schemeClr val="tx2"/>
                </a:solidFill>
              </a:defRPr>
            </a:lvl1pPr>
          </a:lstStyle>
          <a:p>
            <a:fld id="{A3DCDF73-85D2-4237-9B32-053DBDB0C312}" type="slidenum">
              <a:rPr kumimoji="0" lang="en-US" smtClean="0"/>
              <a:t>‹#›</a:t>
            </a:fld>
            <a:endParaRPr kumimoji="0" lang="en-US"/>
          </a:p>
        </p:txBody>
      </p:sp>
      <p:sp>
        <p:nvSpPr>
          <p:cNvPr id="9" name="Rectangle 8"/>
          <p:cNvSpPr/>
          <p:nvPr/>
        </p:nvSpPr>
        <p:spPr>
          <a:xfrm>
            <a:off x="358571"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title="Side bar"/>
          <p:cNvSpPr/>
          <p:nvPr/>
        </p:nvSpPr>
        <p:spPr>
          <a:xfrm>
            <a:off x="358571"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88459206"/>
      </p:ext>
    </p:extLst>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Lst>
  <p:txStyles>
    <p:titleStyle>
      <a:lvl1pPr algn="l" defTabSz="6858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6858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1368">
          <p15:clr>
            <a:srgbClr val="F26B43"/>
          </p15:clr>
        </p15:guide>
        <p15:guide id="1" pos="6912">
          <p15:clr>
            <a:srgbClr val="F26B43"/>
          </p15:clr>
        </p15:guide>
        <p15:guide id="2" pos="936">
          <p15:clr>
            <a:srgbClr val="F26B43"/>
          </p15:clr>
        </p15:guide>
        <p15:guide id="3" pos="864">
          <p15:clr>
            <a:srgbClr val="F26B43"/>
          </p15:clr>
        </p15:guide>
        <p15:guide id="4" orient="horz" pos="1440">
          <p15:clr>
            <a:srgbClr val="F26B43"/>
          </p15:clr>
        </p15:guide>
        <p15:guide id="5" orient="horz" pos="3696">
          <p15:clr>
            <a:srgbClr val="F26B43"/>
          </p15:clr>
        </p15:guide>
        <p15:guide id="6" orient="horz" pos="432">
          <p15:clr>
            <a:srgbClr val="F26B43"/>
          </p15:clr>
        </p15:guide>
        <p15:guide id="7" orient="horz" pos="1512">
          <p15:clr>
            <a:srgbClr val="F26B43"/>
          </p15:clr>
        </p15:guide>
        <p15:guide id="8" pos="5184">
          <p15:clr>
            <a:srgbClr val="F26B43"/>
          </p15:clr>
        </p15:guide>
        <p15:guide id="9" pos="702">
          <p15:clr>
            <a:srgbClr val="F26B43"/>
          </p15:clr>
        </p15:guide>
        <p15:guide id="10" pos="64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youtube.com/watch?v=-vsHgj1f0XE"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9.jp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24.jpeg"/></Relationships>
</file>

<file path=ppt/slides/_rels/slide21.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39.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gi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55.jpeg"/></Relationships>
</file>

<file path=ppt/slides/_rels/slide4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8.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47664" y="1772816"/>
            <a:ext cx="6270922" cy="2098226"/>
          </a:xfrm>
        </p:spPr>
        <p:txBody>
          <a:bodyPr/>
          <a:lstStyle/>
          <a:p>
            <a:r>
              <a:rPr lang="en-AU" cap="none" dirty="0">
                <a:solidFill>
                  <a:srgbClr val="7030A0"/>
                </a:solidFill>
              </a:rPr>
              <a:t>11ATAR Biology</a:t>
            </a:r>
            <a:br>
              <a:rPr lang="en-AU" cap="none" dirty="0"/>
            </a:br>
            <a:br>
              <a:rPr lang="en-AU" sz="2400" cap="none" dirty="0"/>
            </a:br>
            <a:r>
              <a:rPr lang="en-AU" sz="4800" cap="none" dirty="0">
                <a:solidFill>
                  <a:schemeClr val="accent1">
                    <a:lumMod val="50000"/>
                  </a:schemeClr>
                </a:solidFill>
              </a:rPr>
              <a:t>Week 33</a:t>
            </a:r>
            <a:br>
              <a:rPr lang="en-AU" sz="4400" cap="none" dirty="0">
                <a:solidFill>
                  <a:schemeClr val="accent1">
                    <a:lumMod val="50000"/>
                  </a:schemeClr>
                </a:solidFill>
              </a:rPr>
            </a:br>
            <a:r>
              <a:rPr lang="en-AU" sz="3600" cap="none" dirty="0">
                <a:solidFill>
                  <a:schemeClr val="accent1">
                    <a:lumMod val="50000"/>
                  </a:schemeClr>
                </a:solidFill>
              </a:rPr>
              <a:t>Transport Systems In Animals</a:t>
            </a:r>
          </a:p>
        </p:txBody>
      </p:sp>
      <p:pic>
        <p:nvPicPr>
          <p:cNvPr id="4" name="Picture 2" descr="Firefox089"/>
          <p:cNvPicPr>
            <a:picLocks noChangeAspect="1" noChangeArrowheads="1"/>
          </p:cNvPicPr>
          <p:nvPr/>
        </p:nvPicPr>
        <p:blipFill>
          <a:blip r:embed="rId2">
            <a:extLst>
              <a:ext uri="{28A0092B-C50C-407E-A947-70E740481C1C}">
                <a14:useLocalDpi xmlns:a14="http://schemas.microsoft.com/office/drawing/2010/main" val="0"/>
              </a:ext>
            </a:extLst>
          </a:blip>
          <a:srcRect l="10641" t="1585" r="3548" b="6345"/>
          <a:stretch>
            <a:fillRect/>
          </a:stretch>
        </p:blipFill>
        <p:spPr bwMode="auto">
          <a:xfrm>
            <a:off x="3923928" y="4293096"/>
            <a:ext cx="1800200" cy="215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15147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1" y="435254"/>
            <a:ext cx="7841115" cy="1015008"/>
          </a:xfrm>
        </p:spPr>
        <p:txBody>
          <a:bodyPr/>
          <a:lstStyle/>
          <a:p>
            <a:r>
              <a:rPr lang="en-AU" dirty="0">
                <a:solidFill>
                  <a:srgbClr val="0070C0"/>
                </a:solidFill>
              </a:rPr>
              <a:t>Year 11 Biology Work Schedule</a:t>
            </a:r>
          </a:p>
        </p:txBody>
      </p:sp>
      <p:sp>
        <p:nvSpPr>
          <p:cNvPr id="3" name="Content Placeholder 2"/>
          <p:cNvSpPr>
            <a:spLocks noGrp="1"/>
          </p:cNvSpPr>
          <p:nvPr>
            <p:ph idx="1"/>
          </p:nvPr>
        </p:nvSpPr>
        <p:spPr>
          <a:xfrm>
            <a:off x="1059480" y="1484784"/>
            <a:ext cx="7521338" cy="2241440"/>
          </a:xfrm>
        </p:spPr>
        <p:txBody>
          <a:bodyPr>
            <a:normAutofit fontScale="92500" lnSpcReduction="20000"/>
          </a:bodyPr>
          <a:lstStyle/>
          <a:p>
            <a:r>
              <a:rPr lang="en-AU" altLang="en-US" dirty="0">
                <a:solidFill>
                  <a:srgbClr val="002060"/>
                </a:solidFill>
              </a:rPr>
              <a:t>It is important to remain on schedule during this Semester.</a:t>
            </a:r>
          </a:p>
          <a:p>
            <a:pPr marL="0" indent="0">
              <a:buNone/>
            </a:pPr>
            <a:r>
              <a:rPr lang="en-AU" altLang="en-US" sz="2300" b="1" dirty="0">
                <a:solidFill>
                  <a:srgbClr val="002060"/>
                </a:solidFill>
              </a:rPr>
              <a:t>Moodle</a:t>
            </a:r>
          </a:p>
          <a:p>
            <a:r>
              <a:rPr lang="en-AU" altLang="en-US" dirty="0">
                <a:solidFill>
                  <a:srgbClr val="002060"/>
                </a:solidFill>
              </a:rPr>
              <a:t>Have you visited Moodle this week?        Yes / No</a:t>
            </a:r>
          </a:p>
          <a:p>
            <a:pPr marL="0" indent="0">
              <a:buNone/>
            </a:pPr>
            <a:r>
              <a:rPr lang="en-AU" altLang="en-US" sz="2400" b="1" dirty="0">
                <a:solidFill>
                  <a:srgbClr val="002060"/>
                </a:solidFill>
              </a:rPr>
              <a:t>Tasks</a:t>
            </a:r>
          </a:p>
          <a:p>
            <a:r>
              <a:rPr lang="en-AU" altLang="en-US" dirty="0">
                <a:solidFill>
                  <a:srgbClr val="002060"/>
                </a:solidFill>
              </a:rPr>
              <a:t>Are you on schedule?           Yes / No</a:t>
            </a:r>
          </a:p>
          <a:p>
            <a:r>
              <a:rPr lang="en-AU" altLang="en-US" dirty="0">
                <a:solidFill>
                  <a:srgbClr val="002060"/>
                </a:solidFill>
              </a:rPr>
              <a:t>When is your next task due?</a:t>
            </a:r>
          </a:p>
          <a:p>
            <a:endParaRPr lang="en-AU" dirty="0"/>
          </a:p>
        </p:txBody>
      </p:sp>
      <p:pic>
        <p:nvPicPr>
          <p:cNvPr id="5" name="Picture 4"/>
          <p:cNvPicPr>
            <a:picLocks noChangeAspect="1"/>
          </p:cNvPicPr>
          <p:nvPr/>
        </p:nvPicPr>
        <p:blipFill>
          <a:blip r:embed="rId2"/>
          <a:stretch>
            <a:fillRect/>
          </a:stretch>
        </p:blipFill>
        <p:spPr>
          <a:xfrm>
            <a:off x="608402" y="4365104"/>
            <a:ext cx="8261413" cy="2304256"/>
          </a:xfrm>
          <a:prstGeom prst="rect">
            <a:avLst/>
          </a:prstGeom>
        </p:spPr>
      </p:pic>
      <p:sp>
        <p:nvSpPr>
          <p:cNvPr id="4" name="TextBox 3">
            <a:extLst>
              <a:ext uri="{FF2B5EF4-FFF2-40B4-BE49-F238E27FC236}">
                <a16:creationId xmlns:a16="http://schemas.microsoft.com/office/drawing/2014/main" id="{94207F9B-CDBB-A4CE-6E13-FD6103CAADF7}"/>
              </a:ext>
            </a:extLst>
          </p:cNvPr>
          <p:cNvSpPr txBox="1"/>
          <p:nvPr/>
        </p:nvSpPr>
        <p:spPr>
          <a:xfrm>
            <a:off x="5652120" y="3310725"/>
            <a:ext cx="3312368" cy="830997"/>
          </a:xfrm>
          <a:prstGeom prst="rect">
            <a:avLst/>
          </a:prstGeom>
          <a:solidFill>
            <a:srgbClr val="E8FFDD"/>
          </a:solidFill>
          <a:ln>
            <a:solidFill>
              <a:srgbClr val="00B050"/>
            </a:solidFill>
          </a:ln>
        </p:spPr>
        <p:txBody>
          <a:bodyPr wrap="square" rtlCol="0">
            <a:spAutoFit/>
          </a:bodyPr>
          <a:lstStyle/>
          <a:p>
            <a:r>
              <a:rPr lang="en-AU" sz="1200" b="1" dirty="0">
                <a:solidFill>
                  <a:srgbClr val="0070C0"/>
                </a:solidFill>
                <a:latin typeface="Calibri" panose="020F0502020204030204" pitchFamily="34" charset="0"/>
                <a:cs typeface="Calibri" panose="020F0502020204030204" pitchFamily="34" charset="0"/>
              </a:rPr>
              <a:t>U2T4 Topic Test</a:t>
            </a:r>
          </a:p>
          <a:p>
            <a:r>
              <a:rPr lang="en-AU" sz="1200" dirty="0">
                <a:solidFill>
                  <a:srgbClr val="0070C0"/>
                </a:solidFill>
                <a:latin typeface="Calibri" panose="020F0502020204030204" pitchFamily="34" charset="0"/>
                <a:cs typeface="Calibri" panose="020F0502020204030204" pitchFamily="34" charset="0"/>
              </a:rPr>
              <a:t>On Topic 4 – Multicellular Organisms</a:t>
            </a:r>
          </a:p>
          <a:p>
            <a:r>
              <a:rPr lang="en-AU" sz="1200" dirty="0">
                <a:solidFill>
                  <a:srgbClr val="0070C0"/>
                </a:solidFill>
                <a:latin typeface="Calibri" panose="020F0502020204030204" pitchFamily="34" charset="0"/>
                <a:cs typeface="Calibri" panose="020F0502020204030204" pitchFamily="34" charset="0"/>
              </a:rPr>
              <a:t>62 marks / 60 min</a:t>
            </a:r>
          </a:p>
          <a:p>
            <a:r>
              <a:rPr lang="en-AU" sz="1200" dirty="0">
                <a:solidFill>
                  <a:srgbClr val="0070C0"/>
                </a:solidFill>
                <a:latin typeface="Calibri" panose="020F0502020204030204" pitchFamily="34" charset="0"/>
                <a:cs typeface="Calibri" panose="020F0502020204030204" pitchFamily="34" charset="0"/>
              </a:rPr>
              <a:t>Multiple choice/short answer/1 Extended Answer</a:t>
            </a:r>
          </a:p>
        </p:txBody>
      </p:sp>
      <p:cxnSp>
        <p:nvCxnSpPr>
          <p:cNvPr id="6" name="Straight Arrow Connector 5">
            <a:extLst>
              <a:ext uri="{FF2B5EF4-FFF2-40B4-BE49-F238E27FC236}">
                <a16:creationId xmlns:a16="http://schemas.microsoft.com/office/drawing/2014/main" id="{089D1938-D1C2-31E3-9E2B-8E5950786FDF}"/>
              </a:ext>
            </a:extLst>
          </p:cNvPr>
          <p:cNvCxnSpPr>
            <a:cxnSpLocks/>
          </p:cNvCxnSpPr>
          <p:nvPr/>
        </p:nvCxnSpPr>
        <p:spPr>
          <a:xfrm>
            <a:off x="7596336" y="4141722"/>
            <a:ext cx="216024" cy="1231494"/>
          </a:xfrm>
          <a:prstGeom prst="straightConnector1">
            <a:avLst/>
          </a:prstGeom>
          <a:ln>
            <a:solidFill>
              <a:srgbClr val="008A3E"/>
            </a:solidFill>
            <a:tailEnd type="triangle"/>
          </a:ln>
        </p:spPr>
        <p:style>
          <a:lnRef idx="1">
            <a:schemeClr val="accent1"/>
          </a:lnRef>
          <a:fillRef idx="0">
            <a:schemeClr val="accent1"/>
          </a:fillRef>
          <a:effectRef idx="0">
            <a:schemeClr val="accent1"/>
          </a:effectRef>
          <a:fontRef idx="minor">
            <a:schemeClr val="tx1"/>
          </a:fontRef>
        </p:style>
      </p:cxnSp>
      <p:sp>
        <p:nvSpPr>
          <p:cNvPr id="7" name="Arrow: Right 6">
            <a:extLst>
              <a:ext uri="{FF2B5EF4-FFF2-40B4-BE49-F238E27FC236}">
                <a16:creationId xmlns:a16="http://schemas.microsoft.com/office/drawing/2014/main" id="{484E2992-BC70-07B6-6CE4-FCCED4F5F543}"/>
              </a:ext>
            </a:extLst>
          </p:cNvPr>
          <p:cNvSpPr/>
          <p:nvPr/>
        </p:nvSpPr>
        <p:spPr>
          <a:xfrm rot="16200000">
            <a:off x="7692487" y="6039817"/>
            <a:ext cx="282421" cy="389377"/>
          </a:xfrm>
          <a:prstGeom prst="rightArrow">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0711907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6625" y="548680"/>
            <a:ext cx="7200900" cy="1485900"/>
          </a:xfrm>
        </p:spPr>
        <p:txBody>
          <a:bodyPr/>
          <a:lstStyle/>
          <a:p>
            <a:r>
              <a:rPr lang="en-AU" dirty="0">
                <a:solidFill>
                  <a:srgbClr val="0070C0"/>
                </a:solidFill>
              </a:rPr>
              <a:t>Review</a:t>
            </a:r>
          </a:p>
        </p:txBody>
      </p:sp>
      <p:sp>
        <p:nvSpPr>
          <p:cNvPr id="3" name="Content Placeholder 2"/>
          <p:cNvSpPr>
            <a:spLocks noGrp="1"/>
          </p:cNvSpPr>
          <p:nvPr>
            <p:ph idx="1"/>
          </p:nvPr>
        </p:nvSpPr>
        <p:spPr>
          <a:xfrm>
            <a:off x="1028700" y="1638300"/>
            <a:ext cx="6495628" cy="3581400"/>
          </a:xfrm>
        </p:spPr>
        <p:txBody>
          <a:bodyPr/>
          <a:lstStyle/>
          <a:p>
            <a:r>
              <a:rPr lang="en-AU" dirty="0">
                <a:solidFill>
                  <a:srgbClr val="002060"/>
                </a:solidFill>
              </a:rPr>
              <a:t>State two characteristics of all gas exchange surfaces in animals.</a:t>
            </a:r>
          </a:p>
          <a:p>
            <a:pPr marL="0" indent="0">
              <a:buNone/>
            </a:pPr>
            <a:endParaRPr lang="en-AU" dirty="0">
              <a:solidFill>
                <a:srgbClr val="002060"/>
              </a:solidFill>
            </a:endParaRPr>
          </a:p>
          <a:p>
            <a:pPr marL="0" indent="0">
              <a:buNone/>
            </a:pPr>
            <a:endParaRPr lang="en-AU" dirty="0">
              <a:solidFill>
                <a:srgbClr val="002060"/>
              </a:solidFill>
            </a:endParaRPr>
          </a:p>
          <a:p>
            <a:pPr marL="0" indent="0">
              <a:buNone/>
            </a:pPr>
            <a:endParaRPr lang="en-AU" dirty="0">
              <a:solidFill>
                <a:srgbClr val="002060"/>
              </a:solidFill>
            </a:endParaRPr>
          </a:p>
          <a:p>
            <a:pPr marL="0" indent="0">
              <a:buNone/>
            </a:pPr>
            <a:endParaRPr lang="en-AU" dirty="0">
              <a:solidFill>
                <a:srgbClr val="002060"/>
              </a:solidFill>
            </a:endParaRPr>
          </a:p>
          <a:p>
            <a:r>
              <a:rPr lang="en-AU" dirty="0">
                <a:solidFill>
                  <a:srgbClr val="002060"/>
                </a:solidFill>
              </a:rPr>
              <a:t>Identify the main gas exchange surface of mammals.</a:t>
            </a:r>
          </a:p>
        </p:txBody>
      </p:sp>
    </p:spTree>
    <p:extLst>
      <p:ext uri="{BB962C8B-B14F-4D97-AF65-F5344CB8AC3E}">
        <p14:creationId xmlns:p14="http://schemas.microsoft.com/office/powerpoint/2010/main" val="25009004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700" y="685800"/>
            <a:ext cx="7200900" cy="726976"/>
          </a:xfrm>
        </p:spPr>
        <p:txBody>
          <a:bodyPr>
            <a:normAutofit/>
          </a:bodyPr>
          <a:lstStyle/>
          <a:p>
            <a:r>
              <a:rPr lang="en-AU" sz="3800" dirty="0">
                <a:solidFill>
                  <a:srgbClr val="0070C0"/>
                </a:solidFill>
              </a:rPr>
              <a:t>Learning Intentions</a:t>
            </a:r>
          </a:p>
        </p:txBody>
      </p:sp>
      <p:sp>
        <p:nvSpPr>
          <p:cNvPr id="3" name="Content Placeholder 2"/>
          <p:cNvSpPr>
            <a:spLocks noGrp="1"/>
          </p:cNvSpPr>
          <p:nvPr>
            <p:ph idx="1"/>
          </p:nvPr>
        </p:nvSpPr>
        <p:spPr>
          <a:xfrm>
            <a:off x="1028700" y="1556792"/>
            <a:ext cx="7200900" cy="1080120"/>
          </a:xfrm>
        </p:spPr>
        <p:txBody>
          <a:bodyPr>
            <a:normAutofit/>
          </a:bodyPr>
          <a:lstStyle/>
          <a:p>
            <a:pPr lvl="0"/>
            <a:r>
              <a:rPr lang="en-AU" sz="2300" dirty="0">
                <a:solidFill>
                  <a:schemeClr val="tx1"/>
                </a:solidFill>
              </a:rPr>
              <a:t>Describe the structure and function of animal circulatory systems. </a:t>
            </a:r>
          </a:p>
          <a:p>
            <a:pPr lvl="0"/>
            <a:endParaRPr lang="en-AU" dirty="0"/>
          </a:p>
          <a:p>
            <a:endParaRPr lang="en-AU" dirty="0"/>
          </a:p>
        </p:txBody>
      </p:sp>
      <p:sp>
        <p:nvSpPr>
          <p:cNvPr id="4" name="Content Placeholder 2"/>
          <p:cNvSpPr txBox="1">
            <a:spLocks/>
          </p:cNvSpPr>
          <p:nvPr/>
        </p:nvSpPr>
        <p:spPr>
          <a:xfrm>
            <a:off x="1028700" y="3677530"/>
            <a:ext cx="7359724" cy="2271750"/>
          </a:xfrm>
          <a:prstGeom prst="rect">
            <a:avLst/>
          </a:prstGeom>
        </p:spPr>
        <p:txBody>
          <a:bodyPr vert="horz" lIns="91440" tIns="45720" rIns="91440" bIns="45720" rtlCol="0">
            <a:normAutofit fontScale="92500" lnSpcReduction="10000"/>
          </a:bodyPr>
          <a:lstStyle>
            <a:lvl1pPr marL="384048" indent="-384048" algn="l" defTabSz="6858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buNone/>
            </a:pPr>
            <a:r>
              <a:rPr lang="en-AU" sz="2400" dirty="0">
                <a:solidFill>
                  <a:schemeClr val="tx1"/>
                </a:solidFill>
              </a:rPr>
              <a:t>Students will be able to:</a:t>
            </a:r>
          </a:p>
          <a:p>
            <a:r>
              <a:rPr lang="en-AU" sz="2400" dirty="0">
                <a:solidFill>
                  <a:schemeClr val="tx1"/>
                </a:solidFill>
              </a:rPr>
              <a:t>Explain the structure of open and closed circulatory systems.</a:t>
            </a:r>
          </a:p>
          <a:p>
            <a:r>
              <a:rPr lang="en-AU" sz="2400" dirty="0">
                <a:solidFill>
                  <a:schemeClr val="tx1"/>
                </a:solidFill>
              </a:rPr>
              <a:t>Describe the structure and function of the heart, blood vessels and blood according to the different metabolic requirements of organisms and differing environments.</a:t>
            </a:r>
          </a:p>
          <a:p>
            <a:endParaRPr lang="en-AU" dirty="0"/>
          </a:p>
        </p:txBody>
      </p:sp>
      <p:sp>
        <p:nvSpPr>
          <p:cNvPr id="5" name="Title 1"/>
          <p:cNvSpPr txBox="1">
            <a:spLocks/>
          </p:cNvSpPr>
          <p:nvPr/>
        </p:nvSpPr>
        <p:spPr>
          <a:xfrm>
            <a:off x="1028700" y="2793733"/>
            <a:ext cx="7200900" cy="726976"/>
          </a:xfrm>
          <a:prstGeom prst="rect">
            <a:avLst/>
          </a:prstGeom>
        </p:spPr>
        <p:txBody>
          <a:bodyPr vert="horz" lIns="91440" tIns="45720" rIns="91440" bIns="45720" rtlCol="0" anchor="t">
            <a:normAutofit/>
          </a:bodyPr>
          <a:lstStyle>
            <a:lvl1pPr algn="l" defTabSz="6858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AU" sz="3800" dirty="0">
                <a:solidFill>
                  <a:srgbClr val="0070C0"/>
                </a:solidFill>
              </a:rPr>
              <a:t>Success Criteria</a:t>
            </a:r>
          </a:p>
        </p:txBody>
      </p:sp>
    </p:spTree>
    <p:extLst>
      <p:ext uri="{BB962C8B-B14F-4D97-AF65-F5344CB8AC3E}">
        <p14:creationId xmlns:p14="http://schemas.microsoft.com/office/powerpoint/2010/main" val="19229907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Rectangle 1"/>
          <p:cNvSpPr/>
          <p:nvPr/>
        </p:nvSpPr>
        <p:spPr>
          <a:xfrm>
            <a:off x="5724128" y="1556792"/>
            <a:ext cx="3419872" cy="489654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69667" name="Rectangle 3"/>
          <p:cNvSpPr>
            <a:spLocks noGrp="1" noChangeArrowheads="1"/>
          </p:cNvSpPr>
          <p:nvPr>
            <p:ph type="title"/>
          </p:nvPr>
        </p:nvSpPr>
        <p:spPr>
          <a:xfrm>
            <a:off x="971550" y="404664"/>
            <a:ext cx="7200900" cy="936104"/>
          </a:xfrm>
        </p:spPr>
        <p:txBody>
          <a:bodyPr/>
          <a:lstStyle/>
          <a:p>
            <a:r>
              <a:rPr lang="en-US" dirty="0">
                <a:solidFill>
                  <a:srgbClr val="0070C0"/>
                </a:solidFill>
              </a:rPr>
              <a:t>Transport System</a:t>
            </a:r>
          </a:p>
        </p:txBody>
      </p:sp>
      <p:sp>
        <p:nvSpPr>
          <p:cNvPr id="369668" name="Rectangle 4" descr="Rectangle: Click to edit Master text styles&#10;Second level&#10;Third level&#10;Fourth level&#10;Fifth level"/>
          <p:cNvSpPr>
            <a:spLocks noGrp="1" noChangeArrowheads="1"/>
          </p:cNvSpPr>
          <p:nvPr>
            <p:ph idx="1"/>
          </p:nvPr>
        </p:nvSpPr>
        <p:spPr>
          <a:xfrm>
            <a:off x="611560" y="1483312"/>
            <a:ext cx="4968552" cy="4465968"/>
          </a:xfrm>
        </p:spPr>
        <p:txBody>
          <a:bodyPr>
            <a:normAutofit/>
          </a:bodyPr>
          <a:lstStyle/>
          <a:p>
            <a:r>
              <a:rPr lang="en-US" dirty="0"/>
              <a:t>We need a system which can pick up and deliver the supplies to all the cells. The system also needs to be able transport all the wastes from the cells to get expelled.</a:t>
            </a:r>
          </a:p>
          <a:p>
            <a:r>
              <a:rPr lang="en-US" dirty="0"/>
              <a:t>This transport system is the </a:t>
            </a:r>
            <a:r>
              <a:rPr lang="en-US" b="1" dirty="0"/>
              <a:t>circulatory system</a:t>
            </a:r>
            <a:r>
              <a:rPr lang="en-US" dirty="0"/>
              <a:t>.</a:t>
            </a:r>
          </a:p>
          <a:p>
            <a:r>
              <a:rPr lang="en-US" dirty="0"/>
              <a:t>The circulatory system is also important for other functions such as maintenance of body temperature, the immune response and hormonal control of bodily functions.</a:t>
            </a:r>
          </a:p>
        </p:txBody>
      </p:sp>
      <p:pic>
        <p:nvPicPr>
          <p:cNvPr id="369666" name="Picture 2" descr="40_04ExchangeSurfaces_CL"/>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r="3233"/>
          <a:stretch>
            <a:fillRect/>
          </a:stretch>
        </p:blipFill>
        <p:spPr bwMode="auto">
          <a:xfrm>
            <a:off x="5796136" y="1844824"/>
            <a:ext cx="3198642" cy="42731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6518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5810" name="Picture 2"/>
          <p:cNvPicPr>
            <a:picLocks noChangeAspect="1" noChangeArrowheads="1"/>
          </p:cNvPicPr>
          <p:nvPr/>
        </p:nvPicPr>
        <p:blipFill>
          <a:blip r:embed="rId3">
            <a:extLst>
              <a:ext uri="{28A0092B-C50C-407E-A947-70E740481C1C}">
                <a14:useLocalDpi xmlns:a14="http://schemas.microsoft.com/office/drawing/2010/main" val="0"/>
              </a:ext>
            </a:extLst>
          </a:blip>
          <a:srcRect l="1372" t="1372" r="1646" b="1372"/>
          <a:stretch>
            <a:fillRect/>
          </a:stretch>
        </p:blipFill>
        <p:spPr bwMode="auto">
          <a:xfrm>
            <a:off x="5336559" y="2770924"/>
            <a:ext cx="2395790" cy="2944661"/>
          </a:xfrm>
          <a:prstGeom prst="rect">
            <a:avLst/>
          </a:prstGeom>
          <a:noFill/>
          <a:ln>
            <a:noFill/>
          </a:ln>
          <a:effectLst>
            <a:outerShdw dist="35921" dir="2700000" algn="ctr" rotWithShape="0">
              <a:schemeClr val="bg2">
                <a:alpha val="87000"/>
              </a:schemeClr>
            </a:outerShdw>
          </a:effectLst>
          <a:extLst>
            <a:ext uri="{909E8E84-426E-40DD-AFC4-6F175D3DCCD1}">
              <a14:hiddenFill xmlns:a14="http://schemas.microsoft.com/office/drawing/2010/main">
                <a:solidFill>
                  <a:srgbClr val="FFEA18"/>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75811" name="Rectangle 3"/>
          <p:cNvSpPr>
            <a:spLocks noGrp="1" noChangeArrowheads="1"/>
          </p:cNvSpPr>
          <p:nvPr>
            <p:ph type="title"/>
          </p:nvPr>
        </p:nvSpPr>
        <p:spPr>
          <a:xfrm>
            <a:off x="1043608" y="462158"/>
            <a:ext cx="5616624" cy="840943"/>
          </a:xfrm>
        </p:spPr>
        <p:txBody>
          <a:bodyPr/>
          <a:lstStyle/>
          <a:p>
            <a:r>
              <a:rPr lang="en-US" dirty="0">
                <a:solidFill>
                  <a:srgbClr val="0070C0"/>
                </a:solidFill>
              </a:rPr>
              <a:t>Simple Organisms</a:t>
            </a:r>
          </a:p>
        </p:txBody>
      </p:sp>
      <p:sp>
        <p:nvSpPr>
          <p:cNvPr id="375812" name="Rectangle 4" descr="Rectangle: Click to edit Master text styles&#10;Second level&#10;Third level&#10;Fourth level&#10;Fifth level"/>
          <p:cNvSpPr>
            <a:spLocks noGrp="1" noChangeArrowheads="1"/>
          </p:cNvSpPr>
          <p:nvPr>
            <p:ph idx="1"/>
          </p:nvPr>
        </p:nvSpPr>
        <p:spPr>
          <a:xfrm>
            <a:off x="755575" y="1559070"/>
            <a:ext cx="7977931" cy="1474184"/>
          </a:xfrm>
        </p:spPr>
        <p:txBody>
          <a:bodyPr>
            <a:normAutofit/>
          </a:bodyPr>
          <a:lstStyle/>
          <a:p>
            <a:r>
              <a:rPr lang="en-US" dirty="0"/>
              <a:t>When your body is only two-cell layers thick, you can get supplies in and waste out just through diffusion.</a:t>
            </a:r>
          </a:p>
        </p:txBody>
      </p:sp>
      <p:pic>
        <p:nvPicPr>
          <p:cNvPr id="375813" name="Picture 5"/>
          <p:cNvPicPr>
            <a:picLocks noChangeAspect="1" noChangeArrowheads="1"/>
          </p:cNvPicPr>
          <p:nvPr/>
        </p:nvPicPr>
        <p:blipFill>
          <a:blip r:embed="rId4">
            <a:extLst>
              <a:ext uri="{28A0092B-C50C-407E-A947-70E740481C1C}">
                <a14:useLocalDpi xmlns:a14="http://schemas.microsoft.com/office/drawing/2010/main" val="0"/>
              </a:ext>
            </a:extLst>
          </a:blip>
          <a:srcRect l="55838" t="1741" r="1244" b="16292"/>
          <a:stretch>
            <a:fillRect/>
          </a:stretch>
        </p:blipFill>
        <p:spPr bwMode="auto">
          <a:xfrm>
            <a:off x="1696405" y="3033254"/>
            <a:ext cx="2715731" cy="2718147"/>
          </a:xfrm>
          <a:prstGeom prst="rect">
            <a:avLst/>
          </a:prstGeom>
          <a:noFill/>
          <a:ln>
            <a:noFill/>
          </a:ln>
          <a:effectLst>
            <a:outerShdw dist="35921" dir="2700000" algn="ctr" rotWithShape="0">
              <a:srgbClr val="808080">
                <a:alpha val="74001"/>
              </a:srgbClr>
            </a:outerShdw>
          </a:effectLst>
          <a:extLst>
            <a:ext uri="{909E8E84-426E-40DD-AFC4-6F175D3DCCD1}">
              <a14:hiddenFill xmlns:a14="http://schemas.microsoft.com/office/drawing/2010/main">
                <a:solidFill>
                  <a:srgbClr val="FFEA18"/>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75815" name="Rectangle 7"/>
          <p:cNvSpPr>
            <a:spLocks noChangeArrowheads="1"/>
          </p:cNvSpPr>
          <p:nvPr/>
        </p:nvSpPr>
        <p:spPr bwMode="auto">
          <a:xfrm>
            <a:off x="6157588" y="5751401"/>
            <a:ext cx="753732" cy="369332"/>
          </a:xfrm>
          <a:prstGeom prst="rect">
            <a:avLst/>
          </a:prstGeom>
          <a:noFill/>
          <a:ln>
            <a:noFill/>
          </a:ln>
          <a:effectLst/>
          <a:extLst>
            <a:ext uri="{909E8E84-426E-40DD-AFC4-6F175D3DCCD1}">
              <a14:hiddenFill xmlns:a14="http://schemas.microsoft.com/office/drawing/2010/main">
                <a:solidFill>
                  <a:srgbClr val="FFEA18"/>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b="1" dirty="0">
                <a:solidFill>
                  <a:srgbClr val="FF0000"/>
                </a:solidFill>
              </a:rPr>
              <a:t>Hydra</a:t>
            </a:r>
          </a:p>
        </p:txBody>
      </p:sp>
      <p:sp>
        <p:nvSpPr>
          <p:cNvPr id="375817" name="Rectangle 9"/>
          <p:cNvSpPr>
            <a:spLocks noChangeArrowheads="1"/>
          </p:cNvSpPr>
          <p:nvPr/>
        </p:nvSpPr>
        <p:spPr bwMode="auto">
          <a:xfrm>
            <a:off x="2540833" y="5751401"/>
            <a:ext cx="949042" cy="369332"/>
          </a:xfrm>
          <a:prstGeom prst="rect">
            <a:avLst/>
          </a:prstGeom>
          <a:noFill/>
          <a:ln>
            <a:noFill/>
          </a:ln>
          <a:effectLst/>
          <a:extLst>
            <a:ext uri="{909E8E84-426E-40DD-AFC4-6F175D3DCCD1}">
              <a14:hiddenFill xmlns:a14="http://schemas.microsoft.com/office/drawing/2010/main">
                <a:solidFill>
                  <a:srgbClr val="FFEA18"/>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b="1" dirty="0">
                <a:solidFill>
                  <a:srgbClr val="FF0000"/>
                </a:solidFill>
              </a:rPr>
              <a:t>Jellyfish</a:t>
            </a:r>
          </a:p>
        </p:txBody>
      </p:sp>
    </p:spTree>
    <p:extLst>
      <p:ext uri="{BB962C8B-B14F-4D97-AF65-F5344CB8AC3E}">
        <p14:creationId xmlns:p14="http://schemas.microsoft.com/office/powerpoint/2010/main" val="3528824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5616" y="351843"/>
            <a:ext cx="7200900" cy="870992"/>
          </a:xfrm>
        </p:spPr>
        <p:txBody>
          <a:bodyPr/>
          <a:lstStyle/>
          <a:p>
            <a:r>
              <a:rPr lang="en-AU" dirty="0">
                <a:solidFill>
                  <a:srgbClr val="0070C0"/>
                </a:solidFill>
              </a:rPr>
              <a:t>Simple Organisms</a:t>
            </a:r>
          </a:p>
        </p:txBody>
      </p:sp>
      <p:sp>
        <p:nvSpPr>
          <p:cNvPr id="3" name="Content Placeholder 2"/>
          <p:cNvSpPr>
            <a:spLocks noGrp="1"/>
          </p:cNvSpPr>
          <p:nvPr>
            <p:ph idx="1"/>
          </p:nvPr>
        </p:nvSpPr>
        <p:spPr>
          <a:xfrm>
            <a:off x="755576" y="1484784"/>
            <a:ext cx="5028061" cy="5021373"/>
          </a:xfrm>
        </p:spPr>
        <p:txBody>
          <a:bodyPr>
            <a:normAutofit lnSpcReduction="10000"/>
          </a:bodyPr>
          <a:lstStyle/>
          <a:p>
            <a:r>
              <a:rPr lang="en-AU" dirty="0"/>
              <a:t>Flatworms - every cell is able to obtain nutrients, water and oxygen without the need of a transport system. </a:t>
            </a:r>
          </a:p>
          <a:p>
            <a:r>
              <a:rPr lang="en-AU" dirty="0"/>
              <a:t>The flatworm's flattened body shape also restricts the distance of any cell from the digestive system or the exterior of the organism. Oxygen can diffuse from the surrounding water into the cells, and carbon dioxide can diffuse out. </a:t>
            </a:r>
          </a:p>
          <a:p>
            <a:r>
              <a:rPr lang="en-AU" dirty="0"/>
              <a:t>Some animals, such as jellyfish, have more extensive branching from their gastrovascular cavity (which functions as both a place of digestion and a form of circulation). This branching allows for bodily fluids to reach the outer layers, since the digestion begins in the inner layers.</a:t>
            </a:r>
          </a:p>
          <a:p>
            <a:endParaRPr lang="en-AU" dirty="0"/>
          </a:p>
        </p:txBody>
      </p:sp>
      <p:pic>
        <p:nvPicPr>
          <p:cNvPr id="11266" name="Picture 2" descr="https://upload.wikimedia.org/wikipedia/commons/thumb/5/50/Pseudoceros_bifurcus_-_Blue_Pseudoceros_Flatworm.jpg/220px-Pseudoceros_bifurcus_-_Blue_Pseudoceros_Flatworm.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0152" y="999597"/>
            <a:ext cx="2724378" cy="1944216"/>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http://1.bp.blogspot.com/-aBE7O75lbfw/UM-0QC6B5KI/AAAAAAAAALY/i7kwu-V3Uvc/s1600/Jellyfish+diagram.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86960" y="3266974"/>
            <a:ext cx="3249536" cy="32278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053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508934" name="Picture 6"/>
          <p:cNvPicPr>
            <a:picLocks noChangeAspect="1" noChangeArrowheads="1"/>
          </p:cNvPicPr>
          <p:nvPr/>
        </p:nvPicPr>
        <p:blipFill>
          <a:blip r:embed="rId2">
            <a:extLst>
              <a:ext uri="{28A0092B-C50C-407E-A947-70E740481C1C}">
                <a14:useLocalDpi xmlns:a14="http://schemas.microsoft.com/office/drawing/2010/main" val="0"/>
              </a:ext>
            </a:extLst>
          </a:blip>
          <a:srcRect l="75600" t="41716" r="2251"/>
          <a:stretch>
            <a:fillRect/>
          </a:stretch>
        </p:blipFill>
        <p:spPr bwMode="auto">
          <a:xfrm>
            <a:off x="7148513" y="3700463"/>
            <a:ext cx="1982787" cy="3040062"/>
          </a:xfrm>
          <a:prstGeom prst="rect">
            <a:avLst/>
          </a:prstGeom>
          <a:noFill/>
          <a:ln>
            <a:noFill/>
          </a:ln>
          <a:effectLst/>
          <a:extLst>
            <a:ext uri="{909E8E84-426E-40DD-AFC4-6F175D3DCCD1}">
              <a14:hiddenFill xmlns:a14="http://schemas.microsoft.com/office/drawing/2010/main">
                <a:solidFill>
                  <a:srgbClr val="FFEA18"/>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08930" name="Rectangle 2"/>
          <p:cNvSpPr>
            <a:spLocks noGrp="1" noChangeArrowheads="1"/>
          </p:cNvSpPr>
          <p:nvPr>
            <p:ph type="title"/>
          </p:nvPr>
        </p:nvSpPr>
        <p:spPr>
          <a:xfrm>
            <a:off x="962059" y="379413"/>
            <a:ext cx="7200900" cy="1033362"/>
          </a:xfrm>
        </p:spPr>
        <p:txBody>
          <a:bodyPr/>
          <a:lstStyle/>
          <a:p>
            <a:r>
              <a:rPr lang="en-US" dirty="0">
                <a:solidFill>
                  <a:srgbClr val="0070C0"/>
                </a:solidFill>
              </a:rPr>
              <a:t>Complex Organisms</a:t>
            </a:r>
          </a:p>
        </p:txBody>
      </p:sp>
      <p:sp>
        <p:nvSpPr>
          <p:cNvPr id="508931" name="Rectangle 3" descr="Rectangle: Click to edit Master text styles&#10;Second level&#10;Third level&#10;Fourth level&#10;Fifth level"/>
          <p:cNvSpPr>
            <a:spLocks noGrp="1" noChangeArrowheads="1"/>
          </p:cNvSpPr>
          <p:nvPr>
            <p:ph idx="1"/>
          </p:nvPr>
        </p:nvSpPr>
        <p:spPr>
          <a:xfrm>
            <a:off x="755576" y="1412775"/>
            <a:ext cx="5112568" cy="4896545"/>
          </a:xfrm>
        </p:spPr>
        <p:txBody>
          <a:bodyPr>
            <a:normAutofit/>
          </a:bodyPr>
          <a:lstStyle/>
          <a:p>
            <a:r>
              <a:rPr lang="en-US" dirty="0"/>
              <a:t>Complex organisms need a circulatory system to deliver the materials where they are needed.</a:t>
            </a:r>
          </a:p>
          <a:p>
            <a:r>
              <a:rPr lang="en-US" dirty="0"/>
              <a:t>The main system all complex animals have is called the </a:t>
            </a:r>
            <a:r>
              <a:rPr lang="en-US" b="1" dirty="0"/>
              <a:t>cardiovascular system</a:t>
            </a:r>
            <a:r>
              <a:rPr lang="en-US" dirty="0"/>
              <a:t>.</a:t>
            </a:r>
          </a:p>
          <a:p>
            <a:r>
              <a:rPr lang="en-US" dirty="0"/>
              <a:t>The cardiovascular system is made up of three parts -</a:t>
            </a:r>
          </a:p>
          <a:p>
            <a:pPr lvl="2"/>
            <a:r>
              <a:rPr lang="en-US" b="1" dirty="0"/>
              <a:t>Heart</a:t>
            </a:r>
          </a:p>
          <a:p>
            <a:pPr lvl="2"/>
            <a:r>
              <a:rPr lang="en-US" b="1" dirty="0"/>
              <a:t>Blood vessels </a:t>
            </a:r>
            <a:r>
              <a:rPr lang="en-US" dirty="0"/>
              <a:t>which includes the:</a:t>
            </a:r>
          </a:p>
          <a:p>
            <a:pPr lvl="4"/>
            <a:r>
              <a:rPr lang="en-US" dirty="0"/>
              <a:t> </a:t>
            </a:r>
          </a:p>
          <a:p>
            <a:pPr lvl="4"/>
            <a:r>
              <a:rPr lang="en-US" dirty="0"/>
              <a:t> </a:t>
            </a:r>
          </a:p>
          <a:p>
            <a:pPr lvl="4"/>
            <a:r>
              <a:rPr lang="en-US" dirty="0"/>
              <a:t>  </a:t>
            </a:r>
          </a:p>
          <a:p>
            <a:pPr lvl="2"/>
            <a:r>
              <a:rPr lang="en-US" b="1" dirty="0"/>
              <a:t>Blood</a:t>
            </a:r>
            <a:endParaRPr lang="en-US" dirty="0"/>
          </a:p>
        </p:txBody>
      </p:sp>
      <p:pic>
        <p:nvPicPr>
          <p:cNvPr id="508932"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b="12959"/>
          <a:stretch>
            <a:fillRect/>
          </a:stretch>
        </p:blipFill>
        <p:spPr bwMode="auto">
          <a:xfrm rot="5400000">
            <a:off x="5849412" y="2051851"/>
            <a:ext cx="1846174" cy="2008189"/>
          </a:xfrm>
          <a:prstGeom prst="rect">
            <a:avLst/>
          </a:prstGeom>
          <a:noFill/>
          <a:ln>
            <a:noFill/>
          </a:ln>
          <a:effectLst>
            <a:outerShdw dist="35921" dir="2700000" algn="ctr" rotWithShape="0">
              <a:srgbClr val="808080">
                <a:alpha val="75000"/>
              </a:srgbClr>
            </a:outerShdw>
          </a:effectLst>
          <a:extLst>
            <a:ext uri="{909E8E84-426E-40DD-AFC4-6F175D3DCCD1}">
              <a14:hiddenFill xmlns:a14="http://schemas.microsoft.com/office/drawing/2010/main">
                <a:solidFill>
                  <a:srgbClr val="FFEA18"/>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08933" name="Picture 5" descr="Firefox089"/>
          <p:cNvPicPr>
            <a:picLocks noChangeAspect="1" noChangeArrowheads="1"/>
          </p:cNvPicPr>
          <p:nvPr/>
        </p:nvPicPr>
        <p:blipFill>
          <a:blip r:embed="rId4">
            <a:extLst>
              <a:ext uri="{28A0092B-C50C-407E-A947-70E740481C1C}">
                <a14:useLocalDpi xmlns:a14="http://schemas.microsoft.com/office/drawing/2010/main" val="0"/>
              </a:ext>
            </a:extLst>
          </a:blip>
          <a:srcRect l="10641" t="1585" r="3548" b="6345"/>
          <a:stretch>
            <a:fillRect/>
          </a:stretch>
        </p:blipFill>
        <p:spPr bwMode="auto">
          <a:xfrm>
            <a:off x="6904148" y="208656"/>
            <a:ext cx="2008188" cy="2408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79646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a:xfrm>
            <a:off x="952500" y="363537"/>
            <a:ext cx="7200900" cy="934715"/>
          </a:xfrm>
        </p:spPr>
        <p:txBody>
          <a:bodyPr/>
          <a:lstStyle/>
          <a:p>
            <a:r>
              <a:rPr lang="en-US" dirty="0">
                <a:solidFill>
                  <a:srgbClr val="0070C0"/>
                </a:solidFill>
              </a:rPr>
              <a:t>Cardiovascular Systems</a:t>
            </a:r>
          </a:p>
        </p:txBody>
      </p:sp>
      <p:sp>
        <p:nvSpPr>
          <p:cNvPr id="381955" name="Rectangle 3" descr="Rectangle: Click to edit Master text styles&#10;Second level&#10;Third level&#10;Fourth level&#10;Fifth level"/>
          <p:cNvSpPr>
            <a:spLocks noGrp="1" noChangeArrowheads="1"/>
          </p:cNvSpPr>
          <p:nvPr>
            <p:ph idx="1"/>
          </p:nvPr>
        </p:nvSpPr>
        <p:spPr>
          <a:xfrm>
            <a:off x="952500" y="1354678"/>
            <a:ext cx="7845722" cy="1656184"/>
          </a:xfrm>
        </p:spPr>
        <p:txBody>
          <a:bodyPr>
            <a:normAutofit/>
          </a:bodyPr>
          <a:lstStyle/>
          <a:p>
            <a:r>
              <a:rPr lang="en-US" dirty="0"/>
              <a:t>Animal cardiovascular systems have: -</a:t>
            </a:r>
          </a:p>
          <a:p>
            <a:pPr lvl="1"/>
            <a:r>
              <a:rPr lang="en-US" dirty="0"/>
              <a:t>A muscular pump =  heart </a:t>
            </a:r>
          </a:p>
          <a:p>
            <a:pPr lvl="1"/>
            <a:r>
              <a:rPr lang="en-US" dirty="0"/>
              <a:t>Tubes =  blood vessels </a:t>
            </a:r>
          </a:p>
          <a:p>
            <a:pPr lvl="1"/>
            <a:r>
              <a:rPr lang="en-US" dirty="0"/>
              <a:t>Circulatory fluid =  blood</a:t>
            </a:r>
          </a:p>
        </p:txBody>
      </p:sp>
      <p:pic>
        <p:nvPicPr>
          <p:cNvPr id="38195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2100" y="3298825"/>
            <a:ext cx="6369050" cy="3559175"/>
          </a:xfrm>
          <a:prstGeom prst="rect">
            <a:avLst/>
          </a:prstGeom>
          <a:noFill/>
          <a:ln>
            <a:noFill/>
          </a:ln>
          <a:effectLst/>
          <a:extLst>
            <a:ext uri="{909E8E84-426E-40DD-AFC4-6F175D3DCCD1}">
              <a14:hiddenFill xmlns:a14="http://schemas.microsoft.com/office/drawing/2010/main">
                <a:solidFill>
                  <a:srgbClr val="FFEA18"/>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1957" name="Rectangle 5"/>
          <p:cNvSpPr>
            <a:spLocks noChangeArrowheads="1"/>
          </p:cNvSpPr>
          <p:nvPr/>
        </p:nvSpPr>
        <p:spPr bwMode="auto">
          <a:xfrm>
            <a:off x="688975" y="3789040"/>
            <a:ext cx="973138" cy="488950"/>
          </a:xfrm>
          <a:prstGeom prst="rect">
            <a:avLst/>
          </a:prstGeom>
          <a:noFill/>
          <a:ln>
            <a:noFill/>
          </a:ln>
          <a:effectLst/>
          <a:extLst>
            <a:ext uri="{909E8E84-426E-40DD-AFC4-6F175D3DCCD1}">
              <a14:hiddenFill xmlns:a14="http://schemas.microsoft.com/office/drawing/2010/main">
                <a:solidFill>
                  <a:srgbClr val="FFEA18"/>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sz="2600" b="1" dirty="0">
                <a:solidFill>
                  <a:srgbClr val="0F116A"/>
                </a:solidFill>
              </a:rPr>
              <a:t>open</a:t>
            </a:r>
          </a:p>
        </p:txBody>
      </p:sp>
      <p:sp>
        <p:nvSpPr>
          <p:cNvPr id="381958" name="Rectangle 6"/>
          <p:cNvSpPr>
            <a:spLocks noChangeArrowheads="1"/>
          </p:cNvSpPr>
          <p:nvPr/>
        </p:nvSpPr>
        <p:spPr bwMode="auto">
          <a:xfrm>
            <a:off x="7839869" y="3789040"/>
            <a:ext cx="1230312" cy="488950"/>
          </a:xfrm>
          <a:prstGeom prst="rect">
            <a:avLst/>
          </a:prstGeom>
          <a:noFill/>
          <a:ln>
            <a:noFill/>
          </a:ln>
          <a:effectLst/>
          <a:extLst>
            <a:ext uri="{909E8E84-426E-40DD-AFC4-6F175D3DCCD1}">
              <a14:hiddenFill xmlns:a14="http://schemas.microsoft.com/office/drawing/2010/main">
                <a:solidFill>
                  <a:srgbClr val="FFEA18"/>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sz="2600" b="1" dirty="0">
                <a:solidFill>
                  <a:srgbClr val="0F116A"/>
                </a:solidFill>
              </a:rPr>
              <a:t>closed</a:t>
            </a:r>
          </a:p>
        </p:txBody>
      </p:sp>
      <p:sp>
        <p:nvSpPr>
          <p:cNvPr id="381959" name="Rectangle 7"/>
          <p:cNvSpPr>
            <a:spLocks noChangeArrowheads="1"/>
          </p:cNvSpPr>
          <p:nvPr/>
        </p:nvSpPr>
        <p:spPr bwMode="auto">
          <a:xfrm>
            <a:off x="76200" y="6278563"/>
            <a:ext cx="1752600" cy="427037"/>
          </a:xfrm>
          <a:prstGeom prst="rect">
            <a:avLst/>
          </a:prstGeom>
          <a:solidFill>
            <a:srgbClr val="FFCC1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lang="en-US" sz="2200" b="1" u="sng">
                <a:solidFill>
                  <a:srgbClr val="CC0000"/>
                </a:solidFill>
              </a:rPr>
              <a:t>hemolymph</a:t>
            </a:r>
          </a:p>
        </p:txBody>
      </p:sp>
      <p:sp>
        <p:nvSpPr>
          <p:cNvPr id="381960" name="Rectangle 8"/>
          <p:cNvSpPr>
            <a:spLocks noChangeArrowheads="1"/>
          </p:cNvSpPr>
          <p:nvPr/>
        </p:nvSpPr>
        <p:spPr bwMode="auto">
          <a:xfrm>
            <a:off x="7859712" y="6278563"/>
            <a:ext cx="944563" cy="427037"/>
          </a:xfrm>
          <a:prstGeom prst="rect">
            <a:avLst/>
          </a:prstGeom>
          <a:solidFill>
            <a:srgbClr val="FFCC1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r"/>
            <a:r>
              <a:rPr lang="en-US" sz="2200" b="1" u="sng" dirty="0">
                <a:solidFill>
                  <a:srgbClr val="CC0000"/>
                </a:solidFill>
              </a:rPr>
              <a:t>blood</a:t>
            </a:r>
          </a:p>
        </p:txBody>
      </p:sp>
    </p:spTree>
    <p:extLst>
      <p:ext uri="{BB962C8B-B14F-4D97-AF65-F5344CB8AC3E}">
        <p14:creationId xmlns:p14="http://schemas.microsoft.com/office/powerpoint/2010/main" val="1405083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9198" y="116632"/>
            <a:ext cx="8229600" cy="864096"/>
          </a:xfrm>
        </p:spPr>
        <p:txBody>
          <a:bodyPr/>
          <a:lstStyle/>
          <a:p>
            <a:r>
              <a:rPr lang="en-AU" dirty="0">
                <a:solidFill>
                  <a:srgbClr val="0070C0"/>
                </a:solidFill>
              </a:rPr>
              <a:t>Types of Cardiovascular Systems</a:t>
            </a:r>
          </a:p>
        </p:txBody>
      </p:sp>
      <p:sp>
        <p:nvSpPr>
          <p:cNvPr id="3" name="Content Placeholder 2"/>
          <p:cNvSpPr>
            <a:spLocks noGrp="1"/>
          </p:cNvSpPr>
          <p:nvPr>
            <p:ph idx="1"/>
          </p:nvPr>
        </p:nvSpPr>
        <p:spPr>
          <a:xfrm>
            <a:off x="917554" y="3305222"/>
            <a:ext cx="7992888" cy="3364138"/>
          </a:xfrm>
        </p:spPr>
        <p:txBody>
          <a:bodyPr>
            <a:noAutofit/>
          </a:bodyPr>
          <a:lstStyle/>
          <a:p>
            <a:r>
              <a:rPr lang="en-AU" sz="1800" dirty="0"/>
              <a:t>In animals these are classified as either </a:t>
            </a:r>
            <a:r>
              <a:rPr lang="en-AU" sz="1800" b="1" dirty="0"/>
              <a:t>open or closed systems</a:t>
            </a:r>
            <a:r>
              <a:rPr lang="en-AU" sz="1800" dirty="0"/>
              <a:t>.</a:t>
            </a:r>
          </a:p>
          <a:p>
            <a:r>
              <a:rPr lang="en-AU" sz="1800" b="1" dirty="0"/>
              <a:t>Closed circulatory systems </a:t>
            </a:r>
            <a:r>
              <a:rPr lang="en-AU" sz="1800" dirty="0"/>
              <a:t>have the blood enclosed at all times within vessels of different size and wall thickness. In this type of system, blood is pumped by a heart through vessels, and does not normally fill body cavities.</a:t>
            </a:r>
          </a:p>
          <a:p>
            <a:r>
              <a:rPr lang="en-AU" sz="1800" b="1" dirty="0"/>
              <a:t>Open circulatory systems </a:t>
            </a:r>
            <a:r>
              <a:rPr lang="en-AU" sz="1800" dirty="0"/>
              <a:t>pump blood into a haemocoel (main body cavity of invertebrates) with the blood diffusing back to the circulatory system between cells. Blood is pumped by a heart into the body cavities, where tissues are surrounded by the blood.</a:t>
            </a:r>
          </a:p>
          <a:p>
            <a:r>
              <a:rPr lang="en-AU" sz="1800" dirty="0"/>
              <a:t>Insects have a cavity that is full of insect blood (known as haemolymph) and the organs of the insect are suspended in this cavity.</a:t>
            </a:r>
          </a:p>
        </p:txBody>
      </p:sp>
      <p:pic>
        <p:nvPicPr>
          <p:cNvPr id="1028" name="Picture 4" descr="http://leavingcertbiology.net/uploads/3/0/2/5/3025587/2380322.jpg?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5776" y="836712"/>
            <a:ext cx="4392100" cy="23965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7579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a:xfrm>
            <a:off x="1259632" y="225232"/>
            <a:ext cx="7200900" cy="971520"/>
          </a:xfrm>
        </p:spPr>
        <p:txBody>
          <a:bodyPr/>
          <a:lstStyle/>
          <a:p>
            <a:r>
              <a:rPr lang="en-US" dirty="0">
                <a:solidFill>
                  <a:srgbClr val="0070C0"/>
                </a:solidFill>
              </a:rPr>
              <a:t>Open Circulatory System</a:t>
            </a:r>
          </a:p>
        </p:txBody>
      </p:sp>
      <p:sp>
        <p:nvSpPr>
          <p:cNvPr id="384003" name="Rectangle 3" descr="Rectangle: Click to edit Master text styles&#10;Second level&#10;Third level&#10;Fourth level&#10;Fifth level"/>
          <p:cNvSpPr>
            <a:spLocks noGrp="1" noChangeArrowheads="1"/>
          </p:cNvSpPr>
          <p:nvPr>
            <p:ph idx="1"/>
          </p:nvPr>
        </p:nvSpPr>
        <p:spPr>
          <a:xfrm>
            <a:off x="788035" y="1268760"/>
            <a:ext cx="4970916" cy="5256584"/>
          </a:xfrm>
        </p:spPr>
        <p:txBody>
          <a:bodyPr>
            <a:normAutofit fontScale="85000" lnSpcReduction="10000"/>
          </a:bodyPr>
          <a:lstStyle/>
          <a:p>
            <a:r>
              <a:rPr lang="en-US" dirty="0"/>
              <a:t>Found in invertebrates (insects, arthropods, </a:t>
            </a:r>
            <a:r>
              <a:rPr lang="en-US" dirty="0" err="1"/>
              <a:t>molluscs</a:t>
            </a:r>
            <a:r>
              <a:rPr lang="en-US" dirty="0"/>
              <a:t>)</a:t>
            </a:r>
          </a:p>
          <a:p>
            <a:r>
              <a:rPr lang="en-US" dirty="0"/>
              <a:t>Structure -</a:t>
            </a:r>
          </a:p>
          <a:p>
            <a:pPr lvl="1"/>
            <a:r>
              <a:rPr lang="en-AU" i="0" dirty="0"/>
              <a:t>Blood does not remain enclosed in the blood vessels and comes in direct contact with other body cells and bathes them. </a:t>
            </a:r>
          </a:p>
          <a:p>
            <a:pPr lvl="1"/>
            <a:r>
              <a:rPr lang="en-AU" i="0" dirty="0"/>
              <a:t>There are no typical arteries, veins, and capillaries and for much of the time the blood called haemolymph surrounds the cells. </a:t>
            </a:r>
          </a:p>
          <a:p>
            <a:pPr lvl="1"/>
            <a:r>
              <a:rPr lang="en-AU" i="0" dirty="0"/>
              <a:t>This system does not transport gases like oxygen and carbon dioxide. </a:t>
            </a:r>
          </a:p>
          <a:p>
            <a:r>
              <a:rPr lang="en-AU" dirty="0"/>
              <a:t>Advantages of an open system:</a:t>
            </a:r>
          </a:p>
          <a:p>
            <a:pPr lvl="1"/>
            <a:r>
              <a:rPr lang="en-US" i="0" dirty="0"/>
              <a:t>Requires less energy expenditure to operate.</a:t>
            </a:r>
          </a:p>
          <a:p>
            <a:pPr lvl="1"/>
            <a:r>
              <a:rPr lang="en-US" i="0" dirty="0"/>
              <a:t>Can serve other functions. For example, in </a:t>
            </a:r>
            <a:r>
              <a:rPr lang="en-US" i="0" dirty="0" err="1"/>
              <a:t>molluscs</a:t>
            </a:r>
            <a:r>
              <a:rPr lang="en-US" i="0" dirty="0"/>
              <a:t> the open circulatory system functions as a hydrostatic skeleton in supporting the body.</a:t>
            </a:r>
          </a:p>
        </p:txBody>
      </p:sp>
      <p:pic>
        <p:nvPicPr>
          <p:cNvPr id="384004" name="Picture 4"/>
          <p:cNvPicPr>
            <a:picLocks noChangeAspect="1" noChangeArrowheads="1"/>
          </p:cNvPicPr>
          <p:nvPr/>
        </p:nvPicPr>
        <p:blipFill>
          <a:blip r:embed="rId3">
            <a:extLst>
              <a:ext uri="{28A0092B-C50C-407E-A947-70E740481C1C}">
                <a14:useLocalDpi xmlns:a14="http://schemas.microsoft.com/office/drawing/2010/main" val="0"/>
              </a:ext>
            </a:extLst>
          </a:blip>
          <a:srcRect r="49989" b="4407"/>
          <a:stretch>
            <a:fillRect/>
          </a:stretch>
        </p:blipFill>
        <p:spPr bwMode="auto">
          <a:xfrm>
            <a:off x="5870508" y="1844824"/>
            <a:ext cx="3234535" cy="36007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91915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6050" name="Picture 2"/>
          <p:cNvPicPr>
            <a:picLocks noChangeAspect="1" noChangeArrowheads="1"/>
          </p:cNvPicPr>
          <p:nvPr/>
        </p:nvPicPr>
        <p:blipFill>
          <a:blip r:embed="rId3">
            <a:extLst>
              <a:ext uri="{28A0092B-C50C-407E-A947-70E740481C1C}">
                <a14:useLocalDpi xmlns:a14="http://schemas.microsoft.com/office/drawing/2010/main" val="0"/>
              </a:ext>
            </a:extLst>
          </a:blip>
          <a:srcRect l="50011" b="4407"/>
          <a:stretch>
            <a:fillRect/>
          </a:stretch>
        </p:blipFill>
        <p:spPr bwMode="auto">
          <a:xfrm>
            <a:off x="6220409" y="1988841"/>
            <a:ext cx="2844316" cy="3168352"/>
          </a:xfrm>
          <a:prstGeom prst="rect">
            <a:avLst/>
          </a:prstGeom>
          <a:noFill/>
          <a:extLst>
            <a:ext uri="{909E8E84-426E-40DD-AFC4-6F175D3DCCD1}">
              <a14:hiddenFill xmlns:a14="http://schemas.microsoft.com/office/drawing/2010/main">
                <a:solidFill>
                  <a:srgbClr val="FFFFFF"/>
                </a:solidFill>
              </a14:hiddenFill>
            </a:ext>
          </a:extLst>
        </p:spPr>
      </p:pic>
      <p:sp>
        <p:nvSpPr>
          <p:cNvPr id="386051" name="Rectangle 3"/>
          <p:cNvSpPr>
            <a:spLocks noGrp="1" noChangeArrowheads="1"/>
          </p:cNvSpPr>
          <p:nvPr>
            <p:ph type="title"/>
          </p:nvPr>
        </p:nvSpPr>
        <p:spPr>
          <a:xfrm>
            <a:off x="914400" y="188640"/>
            <a:ext cx="6825952" cy="864096"/>
          </a:xfrm>
        </p:spPr>
        <p:txBody>
          <a:bodyPr/>
          <a:lstStyle/>
          <a:p>
            <a:r>
              <a:rPr lang="en-US" dirty="0">
                <a:solidFill>
                  <a:srgbClr val="0070C0"/>
                </a:solidFill>
              </a:rPr>
              <a:t>Closed Circulatory System</a:t>
            </a:r>
          </a:p>
        </p:txBody>
      </p:sp>
      <p:sp>
        <p:nvSpPr>
          <p:cNvPr id="386052" name="Rectangle 4" descr="Rectangle: Click to edit Master text styles&#10;Second level&#10;Third level&#10;Fourth level&#10;Fifth level"/>
          <p:cNvSpPr>
            <a:spLocks noGrp="1" noChangeArrowheads="1"/>
          </p:cNvSpPr>
          <p:nvPr>
            <p:ph idx="1"/>
          </p:nvPr>
        </p:nvSpPr>
        <p:spPr>
          <a:xfrm>
            <a:off x="755576" y="1080564"/>
            <a:ext cx="5400600" cy="5661248"/>
          </a:xfrm>
        </p:spPr>
        <p:txBody>
          <a:bodyPr>
            <a:normAutofit fontScale="85000" lnSpcReduction="20000"/>
          </a:bodyPr>
          <a:lstStyle/>
          <a:p>
            <a:r>
              <a:rPr lang="en-US" dirty="0"/>
              <a:t>Found in invertebrates such as earthworms, squid, octopuses and all vertebrates.</a:t>
            </a:r>
          </a:p>
          <a:p>
            <a:r>
              <a:rPr lang="en-US" dirty="0"/>
              <a:t>Structure: -</a:t>
            </a:r>
          </a:p>
          <a:p>
            <a:pPr lvl="1"/>
            <a:r>
              <a:rPr lang="en-AU" i="0" dirty="0"/>
              <a:t>Blood always remains in the blood vessels and does not come in direct contact with other cells of the body.  B</a:t>
            </a:r>
            <a:r>
              <a:rPr lang="en-US" i="0" dirty="0"/>
              <a:t>lood confined to vessels and separate from tissue fluid.</a:t>
            </a:r>
          </a:p>
          <a:p>
            <a:pPr lvl="1"/>
            <a:r>
              <a:rPr lang="en-US" i="0" dirty="0"/>
              <a:t>One or more hearts to pump blood.</a:t>
            </a:r>
          </a:p>
          <a:p>
            <a:pPr lvl="1"/>
            <a:r>
              <a:rPr lang="en-US" i="0" dirty="0"/>
              <a:t>I</a:t>
            </a:r>
            <a:r>
              <a:rPr lang="en-AU" i="0" dirty="0" err="1"/>
              <a:t>nterconnected</a:t>
            </a:r>
            <a:r>
              <a:rPr lang="en-AU" i="0" dirty="0"/>
              <a:t> system of arteries, veins, and capillaries present. </a:t>
            </a:r>
          </a:p>
          <a:p>
            <a:pPr lvl="1"/>
            <a:r>
              <a:rPr lang="en-AU" i="0" dirty="0"/>
              <a:t>Exchange of nutrients and waste products between the blood and tissue via tissue fluid occurs at the capillaries. </a:t>
            </a:r>
          </a:p>
          <a:p>
            <a:pPr lvl="1"/>
            <a:r>
              <a:rPr lang="en-AU" i="0" dirty="0"/>
              <a:t>The system also transports gases, </a:t>
            </a:r>
            <a:r>
              <a:rPr lang="en-AU" i="0" dirty="0" err="1"/>
              <a:t>ie</a:t>
            </a:r>
            <a:r>
              <a:rPr lang="en-AU" i="0" dirty="0"/>
              <a:t>. oxygen and carbon dioxide. </a:t>
            </a:r>
            <a:endParaRPr lang="en-US" i="0" dirty="0"/>
          </a:p>
          <a:p>
            <a:r>
              <a:rPr lang="en-US" dirty="0"/>
              <a:t>Advantages: - </a:t>
            </a:r>
          </a:p>
          <a:p>
            <a:pPr lvl="1"/>
            <a:r>
              <a:rPr lang="en-US" i="0" dirty="0"/>
              <a:t>Closed systems, with their higher blood pressure, are more effective at transporting circulatory fluids to meet the high metabolic demands of the tissues and cells of larger and more active animals. </a:t>
            </a:r>
          </a:p>
          <a:p>
            <a:pPr lvl="1"/>
            <a:r>
              <a:rPr lang="en-US" i="0" dirty="0"/>
              <a:t>Allows animals to control blood flow to different organs as necessary.</a:t>
            </a:r>
          </a:p>
        </p:txBody>
      </p:sp>
    </p:spTree>
    <p:extLst>
      <p:ext uri="{BB962C8B-B14F-4D97-AF65-F5344CB8AC3E}">
        <p14:creationId xmlns:p14="http://schemas.microsoft.com/office/powerpoint/2010/main" val="1059702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6290" name="Rectangle 2"/>
          <p:cNvSpPr>
            <a:spLocks noGrp="1" noChangeArrowheads="1"/>
          </p:cNvSpPr>
          <p:nvPr>
            <p:ph type="title"/>
          </p:nvPr>
        </p:nvSpPr>
        <p:spPr>
          <a:xfrm>
            <a:off x="827584" y="548679"/>
            <a:ext cx="7992888" cy="1080121"/>
          </a:xfrm>
        </p:spPr>
        <p:txBody>
          <a:bodyPr>
            <a:normAutofit/>
          </a:bodyPr>
          <a:lstStyle/>
          <a:p>
            <a:r>
              <a:rPr lang="en-US" sz="4000" dirty="0">
                <a:solidFill>
                  <a:srgbClr val="0070C0"/>
                </a:solidFill>
              </a:rPr>
              <a:t>Vertebrate Cardiovascular Systems</a:t>
            </a:r>
          </a:p>
        </p:txBody>
      </p:sp>
      <p:sp>
        <p:nvSpPr>
          <p:cNvPr id="396291" name="Rectangle 3" descr="Rectangle: Click to edit Master text styles&#10;Second level&#10;Third level&#10;Fourth level&#10;Fifth level"/>
          <p:cNvSpPr>
            <a:spLocks noGrp="1" noChangeArrowheads="1"/>
          </p:cNvSpPr>
          <p:nvPr>
            <p:ph idx="1"/>
          </p:nvPr>
        </p:nvSpPr>
        <p:spPr>
          <a:xfrm>
            <a:off x="894420" y="1628800"/>
            <a:ext cx="7859216" cy="2573025"/>
          </a:xfrm>
        </p:spPr>
        <p:txBody>
          <a:bodyPr>
            <a:normAutofit/>
          </a:bodyPr>
          <a:lstStyle/>
          <a:p>
            <a:r>
              <a:rPr lang="en-US" dirty="0"/>
              <a:t>Vertebrates have a chambered heart</a:t>
            </a:r>
          </a:p>
          <a:p>
            <a:pPr lvl="1"/>
            <a:r>
              <a:rPr lang="en-US" dirty="0"/>
              <a:t>Atrium, which receives blood.</a:t>
            </a:r>
          </a:p>
          <a:p>
            <a:pPr lvl="1"/>
            <a:r>
              <a:rPr lang="en-US" dirty="0"/>
              <a:t>Ventricle which pumps blood out.</a:t>
            </a:r>
          </a:p>
          <a:p>
            <a:r>
              <a:rPr lang="en-US" dirty="0"/>
              <a:t>In vertebrates the number of chambers differ.  Some only have two, some three and some four.</a:t>
            </a:r>
          </a:p>
        </p:txBody>
      </p:sp>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04" y="3913348"/>
            <a:ext cx="5914943" cy="2573025"/>
          </a:xfrm>
          <a:prstGeom prst="rect">
            <a:avLst/>
          </a:prstGeom>
          <a:noFill/>
          <a:ln>
            <a:noFill/>
          </a:ln>
          <a:effectLst/>
          <a:extLst>
            <a:ext uri="{909E8E84-426E-40DD-AFC4-6F175D3DCCD1}">
              <a14:hiddenFill xmlns:a14="http://schemas.microsoft.com/office/drawing/2010/main">
                <a:solidFill>
                  <a:srgbClr val="FFEA18"/>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19800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Rectangle 2"/>
          <p:cNvSpPr>
            <a:spLocks noGrp="1" noChangeArrowheads="1"/>
          </p:cNvSpPr>
          <p:nvPr>
            <p:ph type="title"/>
          </p:nvPr>
        </p:nvSpPr>
        <p:spPr>
          <a:xfrm>
            <a:off x="652487" y="144231"/>
            <a:ext cx="8383587" cy="895115"/>
          </a:xfrm>
        </p:spPr>
        <p:txBody>
          <a:bodyPr>
            <a:normAutofit/>
          </a:bodyPr>
          <a:lstStyle/>
          <a:p>
            <a:r>
              <a:rPr lang="en-US" sz="4200" dirty="0">
                <a:solidFill>
                  <a:srgbClr val="0070C0"/>
                </a:solidFill>
              </a:rPr>
              <a:t>Vertebrate Cardiovascular Systems</a:t>
            </a:r>
          </a:p>
        </p:txBody>
      </p:sp>
      <p:sp>
        <p:nvSpPr>
          <p:cNvPr id="388099" name="Rectangle 3" descr="Rectangle: Click to edit Master text styles&#10;Second level&#10;Third level&#10;Fourth level&#10;Fifth level"/>
          <p:cNvSpPr>
            <a:spLocks noGrp="1" noChangeArrowheads="1"/>
          </p:cNvSpPr>
          <p:nvPr>
            <p:ph idx="1"/>
          </p:nvPr>
        </p:nvSpPr>
        <p:spPr>
          <a:xfrm>
            <a:off x="775828" y="4409728"/>
            <a:ext cx="7972636" cy="2448272"/>
          </a:xfrm>
        </p:spPr>
        <p:txBody>
          <a:bodyPr>
            <a:normAutofit/>
          </a:bodyPr>
          <a:lstStyle/>
          <a:p>
            <a:pPr>
              <a:tabLst>
                <a:tab pos="915988" algn="l"/>
              </a:tabLst>
            </a:pPr>
            <a:r>
              <a:rPr lang="en-US" sz="1800" dirty="0"/>
              <a:t>A powerful four–chambered heart was an essential adaptation in support of life of mammals and birds. Endotherms use about ten times as much energy as equal–sized ectotherms. Therefore, their circulatory systems need to deliver about ten times as much fuel and O</a:t>
            </a:r>
            <a:r>
              <a:rPr lang="en-US" sz="1800" baseline="-25000" dirty="0"/>
              <a:t>2</a:t>
            </a:r>
            <a:r>
              <a:rPr lang="en-US" sz="1800" dirty="0"/>
              <a:t> to their tissues (and remove ten times as much CO</a:t>
            </a:r>
            <a:r>
              <a:rPr lang="en-US" sz="1800" baseline="-25000" dirty="0"/>
              <a:t>2</a:t>
            </a:r>
            <a:r>
              <a:rPr lang="en-US" sz="1800" dirty="0"/>
              <a:t> and other wastes). </a:t>
            </a:r>
          </a:p>
          <a:p>
            <a:pPr>
              <a:tabLst>
                <a:tab pos="915988" algn="l"/>
              </a:tabLst>
            </a:pPr>
            <a:r>
              <a:rPr lang="en-US" sz="1800" dirty="0"/>
              <a:t>This large traffic of substances is made possible by separate and independent systemic (body) and pulmonary (lung) circulations and by large, powerful hearts that pump the necessary volume of blood. </a:t>
            </a:r>
          </a:p>
          <a:p>
            <a:pPr lvl="1"/>
            <a:endParaRPr lang="en-US"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75887" y="1039346"/>
            <a:ext cx="5522473" cy="3207698"/>
          </a:xfrm>
          <a:prstGeom prst="rect">
            <a:avLst/>
          </a:prstGeom>
        </p:spPr>
      </p:pic>
      <p:pic>
        <p:nvPicPr>
          <p:cNvPr id="14" name="Picture 2"/>
          <p:cNvPicPr>
            <a:picLocks noChangeAspect="1" noChangeArrowheads="1"/>
          </p:cNvPicPr>
          <p:nvPr/>
        </p:nvPicPr>
        <p:blipFill>
          <a:blip r:embed="rId4">
            <a:extLst>
              <a:ext uri="{28A0092B-C50C-407E-A947-70E740481C1C}">
                <a14:useLocalDpi xmlns:a14="http://schemas.microsoft.com/office/drawing/2010/main" val="0"/>
              </a:ext>
            </a:extLst>
          </a:blip>
          <a:srcRect l="71550" r="4500" b="11771"/>
          <a:stretch>
            <a:fillRect/>
          </a:stretch>
        </p:blipFill>
        <p:spPr bwMode="auto">
          <a:xfrm>
            <a:off x="899592" y="1007443"/>
            <a:ext cx="1738581" cy="2934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64221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365765"/>
            <a:ext cx="7200900" cy="955121"/>
          </a:xfrm>
        </p:spPr>
        <p:txBody>
          <a:bodyPr/>
          <a:lstStyle/>
          <a:p>
            <a:r>
              <a:rPr lang="en-AU" dirty="0">
                <a:solidFill>
                  <a:srgbClr val="0070C0"/>
                </a:solidFill>
              </a:rPr>
              <a:t>Mammalian Heart</a:t>
            </a:r>
          </a:p>
        </p:txBody>
      </p:sp>
      <p:pic>
        <p:nvPicPr>
          <p:cNvPr id="12" name="Content Placeholder 11"/>
          <p:cNvPicPr>
            <a:picLocks noGrp="1" noChangeAspect="1"/>
          </p:cNvPicPr>
          <p:nvPr>
            <p:ph idx="1"/>
          </p:nvPr>
        </p:nvPicPr>
        <p:blipFill>
          <a:blip r:embed="rId2"/>
          <a:stretch>
            <a:fillRect/>
          </a:stretch>
        </p:blipFill>
        <p:spPr>
          <a:xfrm>
            <a:off x="5292080" y="3068960"/>
            <a:ext cx="3375327" cy="3581400"/>
          </a:xfrm>
          <a:prstGeom prst="rect">
            <a:avLst/>
          </a:prstGeom>
        </p:spPr>
      </p:pic>
      <p:pic>
        <p:nvPicPr>
          <p:cNvPr id="6" name="Picture 5"/>
          <p:cNvPicPr>
            <a:picLocks noChangeAspect="1"/>
          </p:cNvPicPr>
          <p:nvPr/>
        </p:nvPicPr>
        <p:blipFill>
          <a:blip r:embed="rId3"/>
          <a:stretch>
            <a:fillRect/>
          </a:stretch>
        </p:blipFill>
        <p:spPr>
          <a:xfrm>
            <a:off x="755576" y="1340768"/>
            <a:ext cx="4752528" cy="2991007"/>
          </a:xfrm>
          <a:prstGeom prst="rect">
            <a:avLst/>
          </a:prstGeom>
        </p:spPr>
      </p:pic>
      <p:sp>
        <p:nvSpPr>
          <p:cNvPr id="7" name="Rectangle 6"/>
          <p:cNvSpPr/>
          <p:nvPr/>
        </p:nvSpPr>
        <p:spPr>
          <a:xfrm>
            <a:off x="1028700" y="2780928"/>
            <a:ext cx="1239044"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7"/>
          <p:cNvSpPr/>
          <p:nvPr/>
        </p:nvSpPr>
        <p:spPr>
          <a:xfrm>
            <a:off x="899592" y="3369313"/>
            <a:ext cx="1239044"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Rectangle 8"/>
          <p:cNvSpPr/>
          <p:nvPr/>
        </p:nvSpPr>
        <p:spPr>
          <a:xfrm>
            <a:off x="1028700" y="3627629"/>
            <a:ext cx="1239044"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Rectangle 9"/>
          <p:cNvSpPr/>
          <p:nvPr/>
        </p:nvSpPr>
        <p:spPr>
          <a:xfrm>
            <a:off x="4427984" y="2358483"/>
            <a:ext cx="723568" cy="5486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Rectangle 10"/>
          <p:cNvSpPr/>
          <p:nvPr/>
        </p:nvSpPr>
        <p:spPr>
          <a:xfrm>
            <a:off x="4427984" y="3353324"/>
            <a:ext cx="864096" cy="5486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Rectangle 3">
            <a:extLst>
              <a:ext uri="{FF2B5EF4-FFF2-40B4-BE49-F238E27FC236}">
                <a16:creationId xmlns:a16="http://schemas.microsoft.com/office/drawing/2014/main" id="{91E8960F-D4AC-C126-B087-EA2504D24721}"/>
              </a:ext>
            </a:extLst>
          </p:cNvPr>
          <p:cNvSpPr/>
          <p:nvPr/>
        </p:nvSpPr>
        <p:spPr>
          <a:xfrm>
            <a:off x="755576" y="3573016"/>
            <a:ext cx="513105" cy="3426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41386445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584" y="332656"/>
            <a:ext cx="7200900" cy="936104"/>
          </a:xfrm>
        </p:spPr>
        <p:txBody>
          <a:bodyPr/>
          <a:lstStyle/>
          <a:p>
            <a:r>
              <a:rPr lang="en-AU" dirty="0">
                <a:solidFill>
                  <a:srgbClr val="0070C0"/>
                </a:solidFill>
              </a:rPr>
              <a:t>Mammalian Heart</a:t>
            </a:r>
          </a:p>
        </p:txBody>
      </p:sp>
      <p:pic>
        <p:nvPicPr>
          <p:cNvPr id="4" name="Picture 3"/>
          <p:cNvPicPr>
            <a:picLocks noChangeAspect="1"/>
          </p:cNvPicPr>
          <p:nvPr/>
        </p:nvPicPr>
        <p:blipFill>
          <a:blip r:embed="rId2"/>
          <a:stretch>
            <a:fillRect/>
          </a:stretch>
        </p:blipFill>
        <p:spPr>
          <a:xfrm>
            <a:off x="4582296" y="4005064"/>
            <a:ext cx="4365165" cy="2671642"/>
          </a:xfrm>
          <a:prstGeom prst="rect">
            <a:avLst/>
          </a:prstGeom>
        </p:spPr>
      </p:pic>
      <p:pic>
        <p:nvPicPr>
          <p:cNvPr id="5" name="Picture 4"/>
          <p:cNvPicPr>
            <a:picLocks noChangeAspect="1"/>
          </p:cNvPicPr>
          <p:nvPr/>
        </p:nvPicPr>
        <p:blipFill>
          <a:blip r:embed="rId3"/>
          <a:stretch>
            <a:fillRect/>
          </a:stretch>
        </p:blipFill>
        <p:spPr>
          <a:xfrm>
            <a:off x="827584" y="1268760"/>
            <a:ext cx="4498884" cy="2831376"/>
          </a:xfrm>
          <a:prstGeom prst="rect">
            <a:avLst/>
          </a:prstGeom>
        </p:spPr>
      </p:pic>
    </p:spTree>
    <p:extLst>
      <p:ext uri="{BB962C8B-B14F-4D97-AF65-F5344CB8AC3E}">
        <p14:creationId xmlns:p14="http://schemas.microsoft.com/office/powerpoint/2010/main" val="17142326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7121" y="291455"/>
            <a:ext cx="7200900" cy="977305"/>
          </a:xfrm>
        </p:spPr>
        <p:txBody>
          <a:bodyPr/>
          <a:lstStyle/>
          <a:p>
            <a:r>
              <a:rPr lang="en-AU" dirty="0">
                <a:solidFill>
                  <a:srgbClr val="0070C0"/>
                </a:solidFill>
              </a:rPr>
              <a:t>Mammalian Heart</a:t>
            </a:r>
          </a:p>
        </p:txBody>
      </p:sp>
      <p:sp>
        <p:nvSpPr>
          <p:cNvPr id="3" name="Content Placeholder 2"/>
          <p:cNvSpPr>
            <a:spLocks noGrp="1"/>
          </p:cNvSpPr>
          <p:nvPr>
            <p:ph idx="1"/>
          </p:nvPr>
        </p:nvSpPr>
        <p:spPr>
          <a:xfrm>
            <a:off x="971600" y="5695923"/>
            <a:ext cx="7661998" cy="865568"/>
          </a:xfrm>
        </p:spPr>
        <p:txBody>
          <a:bodyPr>
            <a:normAutofit/>
          </a:bodyPr>
          <a:lstStyle/>
          <a:p>
            <a:r>
              <a:rPr lang="en-AU" dirty="0"/>
              <a:t>Must watch video of a heart dissection</a:t>
            </a:r>
          </a:p>
          <a:p>
            <a:pPr marL="64008" indent="0">
              <a:buNone/>
            </a:pPr>
            <a:r>
              <a:rPr lang="en-AU" dirty="0">
                <a:hlinkClick r:id="rId3"/>
              </a:rPr>
              <a:t>https://www.youtube.com/watch?v=-vsHgj1f0XE</a:t>
            </a:r>
            <a:endParaRPr lang="en-AU" dirty="0"/>
          </a:p>
          <a:p>
            <a:endParaRPr lang="en-AU" dirty="0"/>
          </a:p>
        </p:txBody>
      </p:sp>
      <p:pic>
        <p:nvPicPr>
          <p:cNvPr id="4" name="Content Placeholder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2062" y="1268760"/>
            <a:ext cx="7466361" cy="4057100"/>
          </a:xfrm>
          <a:prstGeom prst="rect">
            <a:avLst/>
          </a:prstGeom>
        </p:spPr>
      </p:pic>
    </p:spTree>
    <p:extLst>
      <p:ext uri="{BB962C8B-B14F-4D97-AF65-F5344CB8AC3E}">
        <p14:creationId xmlns:p14="http://schemas.microsoft.com/office/powerpoint/2010/main" val="37461701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6537" name="Group 9"/>
          <p:cNvGrpSpPr>
            <a:grpSpLocks/>
          </p:cNvGrpSpPr>
          <p:nvPr/>
        </p:nvGrpSpPr>
        <p:grpSpPr bwMode="auto">
          <a:xfrm>
            <a:off x="5958781" y="404664"/>
            <a:ext cx="2605641" cy="3600400"/>
            <a:chOff x="4042" y="826"/>
            <a:chExt cx="1718" cy="2432"/>
          </a:xfrm>
        </p:grpSpPr>
        <p:pic>
          <p:nvPicPr>
            <p:cNvPr id="406530" name="Picture 2" descr="42-05-MammalianHeart-NL"/>
            <p:cNvPicPr>
              <a:picLocks noChangeAspect="1" noChangeArrowheads="1"/>
            </p:cNvPicPr>
            <p:nvPr/>
          </p:nvPicPr>
          <p:blipFill>
            <a:blip r:embed="rId3">
              <a:extLst>
                <a:ext uri="{28A0092B-C50C-407E-A947-70E740481C1C}">
                  <a14:useLocalDpi xmlns:a14="http://schemas.microsoft.com/office/drawing/2010/main" val="0"/>
                </a:ext>
              </a:extLst>
            </a:blip>
            <a:srcRect b="4099"/>
            <a:stretch>
              <a:fillRect/>
            </a:stretch>
          </p:blipFill>
          <p:spPr bwMode="auto">
            <a:xfrm>
              <a:off x="4042" y="826"/>
              <a:ext cx="1718" cy="2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6533" name="Rectangle 5"/>
            <p:cNvSpPr>
              <a:spLocks noChangeArrowheads="1"/>
            </p:cNvSpPr>
            <p:nvPr/>
          </p:nvSpPr>
          <p:spPr bwMode="auto">
            <a:xfrm>
              <a:off x="4406" y="2443"/>
              <a:ext cx="266" cy="192"/>
            </a:xfrm>
            <a:prstGeom prst="rect">
              <a:avLst/>
            </a:prstGeom>
            <a:noFill/>
            <a:ln>
              <a:noFill/>
            </a:ln>
            <a:effectLst/>
            <a:extLst>
              <a:ext uri="{909E8E84-426E-40DD-AFC4-6F175D3DCCD1}">
                <a14:hiddenFill xmlns:a14="http://schemas.microsoft.com/office/drawing/2010/main">
                  <a:solidFill>
                    <a:srgbClr val="FFEA18"/>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sz="1600" b="1">
                  <a:solidFill>
                    <a:srgbClr val="000000"/>
                  </a:solidFill>
                </a:rPr>
                <a:t>AV</a:t>
              </a:r>
            </a:p>
          </p:txBody>
        </p:sp>
        <p:sp>
          <p:nvSpPr>
            <p:cNvPr id="406534" name="Rectangle 6"/>
            <p:cNvSpPr>
              <a:spLocks noChangeArrowheads="1"/>
            </p:cNvSpPr>
            <p:nvPr/>
          </p:nvSpPr>
          <p:spPr bwMode="auto">
            <a:xfrm>
              <a:off x="4736" y="1975"/>
              <a:ext cx="253" cy="192"/>
            </a:xfrm>
            <a:prstGeom prst="rect">
              <a:avLst/>
            </a:prstGeom>
            <a:noFill/>
            <a:ln>
              <a:noFill/>
            </a:ln>
            <a:effectLst/>
            <a:extLst>
              <a:ext uri="{909E8E84-426E-40DD-AFC4-6F175D3DCCD1}">
                <a14:hiddenFill xmlns:a14="http://schemas.microsoft.com/office/drawing/2010/main">
                  <a:solidFill>
                    <a:srgbClr val="FFEA18"/>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sz="1600" b="1">
                  <a:solidFill>
                    <a:srgbClr val="000000"/>
                  </a:solidFill>
                </a:rPr>
                <a:t>SL</a:t>
              </a:r>
            </a:p>
          </p:txBody>
        </p:sp>
        <p:sp>
          <p:nvSpPr>
            <p:cNvPr id="406535" name="Rectangle 7"/>
            <p:cNvSpPr>
              <a:spLocks noChangeArrowheads="1"/>
            </p:cNvSpPr>
            <p:nvPr/>
          </p:nvSpPr>
          <p:spPr bwMode="auto">
            <a:xfrm>
              <a:off x="5198" y="2281"/>
              <a:ext cx="266" cy="192"/>
            </a:xfrm>
            <a:prstGeom prst="rect">
              <a:avLst/>
            </a:prstGeom>
            <a:noFill/>
            <a:ln>
              <a:noFill/>
            </a:ln>
            <a:effectLst/>
            <a:extLst>
              <a:ext uri="{909E8E84-426E-40DD-AFC4-6F175D3DCCD1}">
                <a14:hiddenFill xmlns:a14="http://schemas.microsoft.com/office/drawing/2010/main">
                  <a:solidFill>
                    <a:srgbClr val="FFEA18"/>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sz="1600" b="1">
                  <a:solidFill>
                    <a:srgbClr val="000000"/>
                  </a:solidFill>
                </a:rPr>
                <a:t>AV</a:t>
              </a:r>
            </a:p>
          </p:txBody>
        </p:sp>
      </p:grpSp>
      <p:sp>
        <p:nvSpPr>
          <p:cNvPr id="406531" name="Rectangle 3"/>
          <p:cNvSpPr>
            <a:spLocks noGrp="1" noChangeArrowheads="1"/>
          </p:cNvSpPr>
          <p:nvPr>
            <p:ph type="title"/>
          </p:nvPr>
        </p:nvSpPr>
        <p:spPr>
          <a:xfrm>
            <a:off x="985226" y="254412"/>
            <a:ext cx="7200900" cy="852339"/>
          </a:xfrm>
        </p:spPr>
        <p:txBody>
          <a:bodyPr/>
          <a:lstStyle/>
          <a:p>
            <a:r>
              <a:rPr lang="en-US" dirty="0">
                <a:solidFill>
                  <a:srgbClr val="0070C0"/>
                </a:solidFill>
              </a:rPr>
              <a:t>Heart Valves</a:t>
            </a:r>
          </a:p>
        </p:txBody>
      </p:sp>
      <p:sp>
        <p:nvSpPr>
          <p:cNvPr id="406532" name="Rectangle 4" descr="Rectangle: Click to edit Master text styles&#10;Second level&#10;Third level&#10;Fourth level&#10;Fifth level"/>
          <p:cNvSpPr>
            <a:spLocks noGrp="1" noChangeArrowheads="1"/>
          </p:cNvSpPr>
          <p:nvPr>
            <p:ph idx="1"/>
          </p:nvPr>
        </p:nvSpPr>
        <p:spPr>
          <a:xfrm>
            <a:off x="849222" y="1317479"/>
            <a:ext cx="7715200" cy="5256584"/>
          </a:xfrm>
        </p:spPr>
        <p:txBody>
          <a:bodyPr>
            <a:normAutofit/>
          </a:bodyPr>
          <a:lstStyle/>
          <a:p>
            <a:r>
              <a:rPr lang="en-US" dirty="0"/>
              <a:t>There are four valves in the heart.                                                      These are flaps of connective tissue                                                  which prevent backflow of blood.</a:t>
            </a:r>
          </a:p>
          <a:p>
            <a:r>
              <a:rPr lang="en-US" dirty="0" err="1"/>
              <a:t>Atrioventricular</a:t>
            </a:r>
            <a:r>
              <a:rPr lang="en-US" dirty="0"/>
              <a:t> (AV) valve </a:t>
            </a:r>
          </a:p>
          <a:p>
            <a:pPr lvl="1"/>
            <a:r>
              <a:rPr lang="en-US" dirty="0"/>
              <a:t>between atrium &amp; ventricle</a:t>
            </a:r>
          </a:p>
          <a:p>
            <a:pPr lvl="1"/>
            <a:r>
              <a:rPr lang="en-US" dirty="0"/>
              <a:t>keeps blood from flowing back </a:t>
            </a:r>
            <a:br>
              <a:rPr lang="en-US" dirty="0"/>
            </a:br>
            <a:r>
              <a:rPr lang="en-US" dirty="0"/>
              <a:t>into atria when ventricles contract</a:t>
            </a:r>
          </a:p>
          <a:p>
            <a:r>
              <a:rPr lang="en-US" dirty="0"/>
              <a:t>Semilunar valves</a:t>
            </a:r>
          </a:p>
          <a:p>
            <a:pPr lvl="1"/>
            <a:r>
              <a:rPr lang="en-US" dirty="0"/>
              <a:t>between ventricle &amp; arteries</a:t>
            </a:r>
          </a:p>
          <a:p>
            <a:pPr lvl="1"/>
            <a:r>
              <a:rPr lang="en-US" dirty="0"/>
              <a:t>prevent backflow from arteries into ventricles while they are relaxing</a:t>
            </a:r>
          </a:p>
          <a:p>
            <a:r>
              <a:rPr lang="en-US" dirty="0"/>
              <a:t>The heart sounds heard with a stethoscope are caused by the closing of the valves. (Even without a stethoscope, you can hear these sounds by pressing your ear tightly against the chest of a friend—a close friend.)</a:t>
            </a:r>
          </a:p>
        </p:txBody>
      </p:sp>
    </p:spTree>
    <p:extLst>
      <p:ext uri="{BB962C8B-B14F-4D97-AF65-F5344CB8AC3E}">
        <p14:creationId xmlns:p14="http://schemas.microsoft.com/office/powerpoint/2010/main" val="40748761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584" y="380593"/>
            <a:ext cx="7200900" cy="800100"/>
          </a:xfrm>
        </p:spPr>
        <p:txBody>
          <a:bodyPr/>
          <a:lstStyle/>
          <a:p>
            <a:r>
              <a:rPr lang="en-AU" dirty="0">
                <a:solidFill>
                  <a:srgbClr val="0070C0"/>
                </a:solidFill>
              </a:rPr>
              <a:t>Blood Vessels</a:t>
            </a:r>
          </a:p>
        </p:txBody>
      </p:sp>
      <p:sp>
        <p:nvSpPr>
          <p:cNvPr id="3" name="Content Placeholder 2"/>
          <p:cNvSpPr>
            <a:spLocks noGrp="1"/>
          </p:cNvSpPr>
          <p:nvPr>
            <p:ph idx="1"/>
          </p:nvPr>
        </p:nvSpPr>
        <p:spPr>
          <a:xfrm>
            <a:off x="457200" y="1590378"/>
            <a:ext cx="8229600" cy="4826008"/>
          </a:xfrm>
        </p:spPr>
        <p:txBody>
          <a:bodyPr>
            <a:normAutofit lnSpcReduction="10000"/>
          </a:bodyPr>
          <a:lstStyle/>
          <a:p>
            <a:r>
              <a:rPr lang="en-US" dirty="0"/>
              <a:t>Blood vessels</a:t>
            </a:r>
          </a:p>
          <a:p>
            <a:pPr lvl="1"/>
            <a:r>
              <a:rPr lang="en-US" b="1" dirty="0"/>
              <a:t>Arteries</a:t>
            </a:r>
            <a:r>
              <a:rPr lang="en-US" dirty="0"/>
              <a:t> = carry blood away from heart.                                             Smaller arteries are called arterioles.</a:t>
            </a:r>
          </a:p>
          <a:p>
            <a:pPr lvl="1"/>
            <a:r>
              <a:rPr lang="en-US" b="1" dirty="0"/>
              <a:t>Veins</a:t>
            </a:r>
            <a:r>
              <a:rPr lang="en-US" dirty="0"/>
              <a:t> = return blood to heart. Smaller                                                          veins are called venules.</a:t>
            </a:r>
          </a:p>
          <a:p>
            <a:pPr lvl="1"/>
            <a:r>
              <a:rPr lang="en-US" b="1" dirty="0"/>
              <a:t>Capillaries</a:t>
            </a:r>
            <a:r>
              <a:rPr lang="en-US" dirty="0"/>
              <a:t> = deliver blood to cells and                                                       connect arteries and veins.</a:t>
            </a:r>
          </a:p>
          <a:p>
            <a:r>
              <a:rPr lang="en-US" dirty="0"/>
              <a:t>Arteries, veins, and capillaries are the three main kinds of blood vessels, which in the human body have a total length of about 100,000 km. </a:t>
            </a:r>
          </a:p>
          <a:p>
            <a:r>
              <a:rPr lang="en-US" dirty="0"/>
              <a:t>All </a:t>
            </a:r>
            <a:r>
              <a:rPr lang="en-US" b="1" dirty="0"/>
              <a:t>arteries carry blood from the heart </a:t>
            </a:r>
            <a:r>
              <a:rPr lang="en-US" dirty="0"/>
              <a:t>toward capillaries, and </a:t>
            </a:r>
            <a:r>
              <a:rPr lang="en-US" b="1" dirty="0"/>
              <a:t>veins return blood to the heart </a:t>
            </a:r>
            <a:r>
              <a:rPr lang="en-US" dirty="0"/>
              <a:t>from capillaries. One exception is the hepatic portal vein that carries blood from capillary beds in the digestive system to capillary beds in the liver. Blood flowing from the liver passes into the hepatic vein, which conducts blood to the heart.</a:t>
            </a:r>
          </a:p>
          <a:p>
            <a:endParaRPr lang="en-US" dirty="0"/>
          </a:p>
        </p:txBody>
      </p:sp>
      <p:sp>
        <p:nvSpPr>
          <p:cNvPr id="4" name="AutoShape 2" descr="data:image/jpeg;base64,/9j/4AAQSkZJRgABAQAAAQABAAD/2wCEAAkGBxQSEhUUEhQWFRUXFxUWGRQVGBgXFxgYFxcXGRwXFBYYHighGhwlHBgUIjEhJSkrLi4uGh8zODMsNygtLisBCgoKDg0OGxAQGywlICYsKzQ3NCw0LCwsLCwsNCwsLCwsLCwsLy0sLCwsLCwsLCw1LC8sLCwsLCwsLCwsLC8sLP/AABEIANkA6AMBIgACEQEDEQH/xAAcAAACAwEBAQEAAAAAAAAAAAAABgQFBwMBAgj/xABJEAACAQIDBAYGBgcFBwUAAAABAgMAEQQSIQUGMUETIlFhcZEyUoGhscEHFCNCYnJTY4KSorLRFSQzQ3M0g6Oz0+HwJVS0wvH/xAAaAQACAwEBAAAAAAAAAAAAAAAABAIDBQEG/8QAMhEAAgECBAQEBQMFAQAAAAAAAAECAxEEEiExIkFRYQUycfATgZGh0SOxwRRCYuHxM//aAAwDAQACEQMRAD8A3A0sQ74KHlWWKVSjyquVC+ZI2RMxtoCzsFC87jvs0VWT7BgcPdT182Yh3B6zhyVIPVOYAgjhagCrm32gWwMeILXsyiIko3SCMJJY6MXKgdt78LkSMbvKqR4eVIpHE8pjyBftFtFM56naDEQRfnXfD7twICMrMSyuzM7lmZJelDMb6nPr4WHDSvVgw4ligsc8efExi72F80bNe9j/AIzDKfW4aCwdSb2Ia76YQuUVyxy5uqpN/sxLlA43yMDwtxF7g1wxG/EPQvJFHLKVjmkKKo06E5WDPfKOtbgTe9xexqRJuTgyrL0ZysmQgO9rZFS/H0sqqL93eb94d1sOqSoA5Equj3kcm0npWN9LnXThfS1BwuY2uAbEXA0PEdx76+q+Y1sALk2FrnU+019UAFFFFABRRRQAUUUUAFFFFABRRRQAUUUUAFFFFABRRRQAqPvc0bTCTDPaJ5MzK0ZCwoUHStdrknMTlGtlPdeTtDeIw4ponjJhWLDsZRbqNNLNH1gTdhdE9EXFyam4jdzDSPneIFsxcm7ak5b3F7EdRDlOl1Btepc2AjZizIpJEYJI1IjYugP5WJI7zQAqj6RIDEZVikPAhbxgsrI0l1Oexaynq8bkctanx7zM8sSRwN0bztCZGZRoIGlzIt7kaAa251z2FszB4qBZFgTLme3HgpePLx9HLcZeFja1XcWx4VCBUAEbZ143DZSua97k5SRr211pp2ZxNNXRNFFe0Vw6FFFFAAaS33hw/wBeWfpV6MYWRSfvZumi6mTjn0PVtenSsvbdlf7dtb7PL9at3g21/wB5r7RUJtqxo+HwpSc/iNq0W9OfVevQ05DcV9V4K9qZnBRRRQAUUUUAFFFFABRRRQAUUUUAFFFFABRRRQAUUUUAFFFFABVPvXtEwYWR1BLkZEUC5Lv1VAA48b+yrZ2AFzwpH23vpOkhSDZ+IkynR2QhDxF1Iv56VZTjeWxCe1iP9EuLZY5MPIrKQTKmYWupOVsvbZh5mtCrL9kbexsEao8EUarmOeaVEIzsWOlyRqezlTduzvKuJZo7hnVQ5KXyam1kJAJtprbnV2Ji5Tc0U4fhgoMYqKKKVGQooooAXNob0IrPHFkaRDlIkYoL+NjVBPtLGLKJ2GEQ5CgYuzHIWDcANdQPKom3MNlx83eVbzVa+tuf4Y8B8KSdWVpN8jbpYemlG3NfuX2xd7RLNHD6ZbNdwuVbgE9UE3ptrHdz3tjoPzsPNGrYqtw03ON2JeIUY0qiUen5CiiimBEKKKKACiiigAoqk3j20cOY1VUJcSNeWToowsS5mGex6xuLA9jHlVA+/jF2VI4rF1WN2lZUOafoCXYpyNj1b8xxoAeqKQJd7ZnCspEdyoIGV1v0qxtkYqCVNmIPYRwqRgN9ZJpTFHFHmLJkYyMFKN9Y6x6l7joDwFmvx50AO9FIEW/zgIOhzfYqxkkcRKZDhPrAJcqECn0bg8STYAU17t7TOJh6RgFYM6FVzaFWIsQ6gg91vOgC0ooooAKKKKACiiigCo3thz4LEL+rY+0C/wAqzfdVrgi51Haa1baSZopB2o481NZDug/WUU7hvJIXrbog7dw+VjpVz9Gc2XGqPXikX2gq3yNR96YusTXHcWTLjID+Nl/eRhTM9ab9CmGkkbVRQKKyR4K8Ne1D2tjRDGznloB2seAoOxTk7ISt4CGxMjjgCq37wAP61E276A8B8K5bUxIDLHe7XzN+Y/8A7XXb3oj8q/CkKrVpWPQ045ciKDdt7Y2E/rkHmCPnW11hWzJcuJjPZNCf+IK3Wp4N8LQn4suOL7BRRRThkhRRRQAUUUUAcp8Or2DqrAEEBgDYjgRfnULF7Bw8npRJ6YkNlUZmBB62moNhcHjarKigCn2/GY4PsFRXzwKt1XLrNGuUi2gIJHdfSu2yY4HRZYokQsDeyqGVrnMrWHpBswPeDX1tz/DX/Ww3/wAiKuC/YYm3+XiCSOxZgOsP21F/FG9agCe2BjJuY0vlyXyi+X1fDur7w2HWNQqKqKOCqAAPACutFABRRRQAUUUUAFFFFAHjCsW3eOSex+7IR5NatqNY1bJjpgOU8hH75IpvC/3Ior8idvZHqTVBu5JlxER7JY/ewHzpn3qXnSdgZMsgPYynyYGnI6wF/wC4/QFFFFZA+fDuACSbAcSaSN5dvKPtDwW/RoeZ/SMPgKuN8ZSEjUXu7FQfu5grMoccwcpHjaslAmx0qogLsx0HxJPIDmaWrVGnlRq+H4aMl8STJ2wYmneaZycsa5vFmYKo+J9lMm2F+zB7hVptTY6YLZ3RJqWePO/NmzC58NLAdlQdpreFT+EVTKFotdhyNf4ss62vZfKxn7zMspIUmxBvcciD8q3RcZKQD0B1/Gn9aw7Ej7Q+B+FbtsqXNDE3aiH+EV3BvdFHi0dIP1/gXd595JMPiYYky5WMWcMupWSURllfOD1QcxsrW0vluDVVPvDjIkSV2RjJBE/RCIqI88yqzktIL9Gra3KjgTlFaDloK08YojRbz4sQNiZUQRxdEXjVGzsrNZ5EObklmCgG97XIsS4bKeRoY2mAEhRS4XgGIuQL9nCvrG4JJlyyKGW6tlPC6kMLjnqBodK7igD2iioO0tppCBmuWbRUXVmPcOztPAVxtLc7GLk7Im3rlPi0T03VfzED40obX2pim4K3+nGbAD8cnFvBbe2ouAw8TG+JxRVv0YVoVHi7C7HvvVLra2Q4sG1HNJ/TUvts7cw7IoWVWPTYb0bnhiI+YFStoYmCeMp0qqTYqx0KupzK4vzDAH2VX4/Y+G6JSih/tcN1sxfjPGDrc99Wb7vYYi3RAeBYfA1Ys3OxRJUuV/sddjY/powxsHBKOo1CuujAHmL6g8wQedT6SNp7CfCSrLhXIWQhHR2Ng/CNg/FbnqG97kpwtVhs3egXKTgoynK2YWKH8Y4ZfxDTwq1QbV0UyaTGeivAb8K9qIBSpvLvY2ElePoekIiM65SbtFGkjSnhYEFEUd8q0118mMHWw5j2HlQAjYffKeQrlhQOX6IKzkIxZ8KBJ6OYWE5Fvw94sybM2s8kEcjQsXYMGWIqyqysVIDOVJFwbaVZR4ZFACqoA4AAADnpXQLbhQBB/tBv/bzf8L/qVlW1ZT/aE32UgvJe3UvqAfWrY6y7bMf/AKlN+ZT/AALTOF8z9CmtsjpvG11BII04G1x42NqRidW8DT1vOeNIrel50/T8otLc/QeHfMqntAPmKKjbFfNh4T2xx/yiish7j6O+KwyyLlYAi4OvIg3BHeDVZu9u5DhAejF2a93a2Yi98otwUdlXNFRyq9yaqSUXFPRir9IrWwy/6yfBj8qqXGbDr4EVc/SFFmwhPqyRt77fOqXZrZoLdlqWl/6NdjUwr/QT/wAhFx6Wk9tbHujLmwcB/AB+71flWUbehs1++tH+jqfNg1XmjuPNsw/mpfCO1S3Yv8TWagpd/wAjRRRRWkYIUUV8yOFBJNgASSeAA5mgCJtXaCwRliLn0VUcWY8FHj28qQpp58TOYoTeY/4sovlhX1FPYOwak1J21tOSaUdEC0jkpAnqqfSnfs017hTZu9sZMLEEXVjq7ni7cyfkOQpZ3qy7GjG2Gp5muJ+/fV+hWYTcuNV+0lmkf1s5XXuA4e29VO2NnTYb0maaDk7ekn4ZLfdPrW050/V8SRhgQwBBFiDqCDyNWOjG2mhTDGVFK8nf3y6CThNgrMmfDyAEFSUdbMrKQw68ZHAgEGx4CpS7RxWG0nIsTYM4Lg+DoRr3MBXObDtgZg6XMR4r2xjiveUvcd2lNbIkqWIDo48QQRXIR+TJV6l9d0/r6C8EmxkZ61o3BBOigjhYKt2v4sK9xW6zEF1mLS2sGkUMG/C17m3tNR8IWwOIMbEmN7lT2gcQfxqPMU3RuCARqDqD3UzGco7CU4psUt3NtFG6CVcmU5GU8I25WP6NtLchpyOjfShvxsu1sVGLsgyyoP8AMi5371verDdLa3TR5GbM6AWJ4vGfRfvPI94PbU5xUo518yuLs8rL+iiiqSwKKKKAPDWbbXW+0ZvFB/AtaRI4AJOgGpPcKzXCy9NiHmI0Zy37PAe4CmcMtW+xTW2SOe9st2NJDelTLvBiMzGlq+taEFaIq9Wbluq18Hhz+qT4UVx3La+Bg/JbyJFFZE/M/Ufjsi7oooqJ0qt6IM+EmXnkJHiuvypL3ckuuXtFv6Vo8iBgQeBBB9tZZsS6MUPFGKn9k2+VL1NKkWaeBd6co/M57fwl71afRfjrPJAfvDOPFdCPIqfYakYyASA29Ie8VQxQPDKs0fpKb25HtB8RcUs4uFTMh+VqtF0376Gt0VB2TtJMRGHQ9xU8VPMGpt60E01dHnpRcXZgaUt6drBy0INo4xmnbl2iK/MniR2ac6l7wbdKkwQEGW13b7sK+s34uwUt7AwP1uUILnDQtnZjxlkvfrdtzqe7xqirO7yR9++Y9hqGVfFnsvf/AD6l/ufsoi+KlH2kosoP3I+QHYToT7KaK5ySqguxCjv0FV+I23EvDM/5Rp+81h76sWWCtcWm51pZrFpXLETqilnYKo5nSlmbelnJTDxGRuYUFreLaKPOqraMW0HOZsNfTT7RGde9RewPgKi6ytw6lsMJK/G1H1auTsbLLi5fshbKCqhtAqt6TyDkzWAA42v215svaz4T7GVGsLlRoGA5hCTZ17LG4r42FvGkAEMsbRHmSpDE82YHVvEX8KanSHEJqElQ+BH/AGNRhxap6llZ5OCUeHl+Sn2jjsNi48nSZHBDIXBQq44ekAD2Gx4GvndLama8L2BFytjcaGzoDzynh3EV1l3RgPomVPyyH3BriqPHbPlwbBs2ZAwZJiLFW4ZZgPukEi47aYhd6MUlltwj2ygix1rP8XhWwGJUoD0d2aPvU6yQHwHWXw7qcNkbXScW9GQelGT1lPd6y9jDjX1tzZoxELRk2PFW5qw1DD/zheracsjs9iiSutCZh5ldVdTdWAII5g10pO3Q2oUzQTDIVcrbXqP6v5W4qeGpHZTjUZxyux2Lugooql25troz0UQDzH7vJB6z/wBOdRjFydkdbSV2Q97dokj6tFq7+nb7qdnifhel3HzrBHkW19Lmuk0qwBiWzytq79540pbSxZc6mtGlTsrCk53Zyxk+aqljrU6WMgVA50yVo23cI/3CDwb+dqK+fo//ANgh/b/naiser536sej5UMVFFFQJBWYY2Lo8fOvItnHgwB+ZrT6QN+IsmLik5OmU+Kn+jDypfErhT6MewErVHHqv9kXaeJMLhuWl/C1SYmSYZlPHlULbyZl9gqs3SwJxDyIjlJUXOoPosAQDfmOK1S3xW6mo4r4edu1i8bDMhzJmVh95TY+7jXPE47FkHpMSYouZ6oc9wsL1HxmMlhbo51KN7iO1TwIqLNiMxDBBIQDYHUeVck1yOxhms2k++jOKkzjosOrRw3u8zA3btJP3j3UwS7xR4SFYoSERRqdC5J4kk6XJ52NQ9jbEmx6iRsQqR3tki1dSPukGwU+dN2yt08NBYiPO/ry9dvEX0HsFdpQk1dC+Jr0U8s9bcl17tiZBicXiWzQYdmB/zJeB7wXIFvCpMuwtosLvHC34brfz0+NaOBRarv6dc2xR+IST4YpfczjDbcnwZVJEMQ4dG4uh/I3EH2nwpx2Tt6Ofqg5X45SeI7VPP41Y4rDJIpSRQynirC4pI2zuW0Zz4Q3W9zCzWI74X5eB8+VGWdPbVHM9GvpNZZdeXv3cdMbgY5lKSKGU8iPeOw99KeL2TPgjngZnjHLi6Dv9dffXxsfeWWI9HOrMBybqzL3G9hIO/Q+NdN4d4iy2XNFH943HSv8AhjAJyjtJqScJ68yvJVo8O6+zLPBb0Ky3dGBAuSLFD3hifcapNp71GYmOJWbkVjGYnxYg6ez219bH3Ueaz4q6RjVMMhsAP1hHPu4054PBxxLljRUUclAFNcK7ir3M0xCSRqDLhJlVeEitd071K+j8KuNj71uqjMTiIvXFhMv514P4ix8ab9o45IUzudOAA1LE8Ao5ms8lgnxeIf6qqxm95JBoqdi3HFuZtxNXQamuJaFMtNi22vtTZ+I6/TGKUCwfI4NvVkUrZx3eRFctmb0yg5AFkVdM9pAraaWZhmXhwIPjXCXc/HnT6xEeeoYa9/VrkdysVYtNiY1QAksMzWA1PECppUrWbv79CHHe9iwxW3sTN1c0eHU8SjdJJb8JtZfKqvF7QSFCsfP0nN8zntY86o3lEQNixzagt6WTlcDgTxt31z2VsyfHORENBxdtEXxPM9wq9U4xV9kVOUpOx3w4kxUgiiGZj28FHNmPIV33p2KuGmgiU5j0Wd39Zmdh7BpYCtK3f2HHhI8kYuTq7n0nPae7u5Uj78tm2gB6sUY82c/Oq4Vs9Sy2Jyp5YXe5UbdwmWOMjmvzNK9tR40770D7OMfh+ZpKA61MwehUzaPo/wD9gh/b/naivdwB/cIPBv52orJq+d+rHY+VDDRRRUCQUm/SVH9jC/qy29jK39BTlSt9JC/3MnskjPvt86qrK8GMYR2rR9RdxRzRqe1ag7jPk2gv4g6+a3+K1Jia+HTwNVe7smXHQn9Yo/euPnSl9Ys3HG9KcezNbxuCjmUpKgdTyYX9o7D30gbw7mSwEy4Ml0GrQsbsB+A/e8Dr41o4otTs6cZbmFQxM6L4dunIyzZmLy5cThWCO3Vljb0HI+6ew8dafNi7fin6uqSgdaJ9GHh6w7xStvjscYd2xCqTDKbToPutylXs7+/XmapIMNI/VVfrGTrhQcsoXk8bc7aXF7g0pmlSlaxqTpUsTDPe3f8Ah+ny9TW717WaYbeiWIhDMVI/ysUhv4BxY+01dYbe+U8Yoj3rLYeRFXrEQYjLAVVtr77jgTS3vDvMkIIQjNqM3EAjko5n3D3VU7V3hmkZYY1BeTQKCRHqPvyHUjuAHtq12TunGoLYm08rCxJHUUerGvId/Gj4jnpAFQjRtKt9Cm3c2H9bY4id7qTcRq12bvmI1H5dPlVvtnc+J1JgURyDgB6LfhYfOqLb+5zwXlwl2XUmO5zrpxRuLDuvfxrtuwks8d48U4YekrEn2i99L91cpXi7Nakq7zrPGWnToWu7u3gseSdiOj6mYjUEaZJLfeFuPMVMx+88SpmQFuwtdF821PsBqj2hu9iFZprs7MLN0bDMbDS6lRf41A2FsWDFORLNKX16ui5rXuLkXBHMU/GMHqzOlfkc/rMuOnyRnM/OSxCQoeORTwvwudTWg7K2cmHjWOMWUc+ZPNj3mvNl7Liw6ZIUCjieZJ7WJ1JqbUalTNotjkY21e4Ur78YsdGsGbL0hu57Ik1bzOVfaaYcbi1iRnc2VRcn5DtJrL95cfJI2o+1nK5UHFI79RPE3JPjUqEM0r9DlSVlYh7G2Q+0MQQDljXV3HIclXvNvnWtYDApDGscShUXgB8T2nvqHu1sZcLAsY9L0nb1nIFz8vAVa1ytVzuy2CnDKu4Gss3kbNtKTuyL5KP61qRrKcS2faM5/WEfugL8qnhfM32I19j63qfRR2IPiaS19Lzpw3pOpHYAKTlOpPcafp+UWe5t+5KWwOHH6sHzua8qZsCHJhoF7Iox/CK9rJm7ybHlsT6KKKidClj6RT/cm73j/mpnpQ+k2W2FRebTKPJXb5Cq6vkYxhFevD1FpDbDp4GqXZj2xcJ/XQ/8xRV1OLQoPw/Ol/Aa4mL/AFof+YtIy3R6CK4ZfM3MV7Xgr2tI8ucsRArqyMAVYFSDwIIsQay/6rLgcSYl1KHpMOSf8SM+lET226viAa1WqHfDYpxMPU0mjOeM/iA9E9zcPLsqqrDMrrdDeErqEssvK/d/z2J+FlixUKvlDo4vlYA2PAqQeBBuDVVi9ycG+oj6M9sbFf4fR91Lu6+2+hcM9xFMwWQH/Kn9HMexWOh7Dr21ooNcjlqR1QVY1MNO0W0jO9q7mYiLWB+lQa5G0fTs5H3Vw2bvXPAejk0I+5KG8g3Ee24rTKg7U2dDMhEyKygcToR3huIqDw9neDsWxx2ZZa0cy+5UYDfLDvYSXhb8fon8rjTztVVvFhBC/wBdwbKRe8qoQ3H/ADFA9txzpYx0EIly4VpJEJIAYBs55CKwuR3mp2J3ZnSPOMMOGoDZn9qioQqybs9bF88LShaSdr8n7/I77F3jinQEsqtbUE2B8CfhS9vNhUjnE8D3zn7RIzdg3KVbXHHjeq/dXY7YnN9t0WX7iKM1u2579OdqZW3IgYdeSdv27e4C1P0ZJasyq8LNpH1s3epAoXFHo3H37Ho3HJlblfmDap0m8uGAuJVf8KdZj4AVXLuTGv8AhzzKOwlWH8S14u5SX688rDmBlW/doKsaovW7KVnFfb+33ncfmARBqqX+854F7X8KkbibP6fFviG1WHRe9yLX9i/EV23yEeHCxQoFWME5RqWlkGUX5k5b+Yps3U2V9Ww0cZ9K2d/ztqfLh7KunNRpaK1yuMbz1LcV7RRSQweMbC5rIN3ZeknaQ/ed382J+dafvFieiwsz+rG/naw99ZpuXCNSew/CnMMuGTF626Ry3je+Y95pXgjzNYc7L56fOmHbraHxqBuvh+kxMK9sqeSnMfhTqdo3F1qzdY0sABwAA8qK+qKxjQCiiigApB+k6a7YaPvd/IBf/safqzHfubPtBE9SNR7WJJ92Wqa7tAd8Pjeun0TOO0zZQOxQKo9gJmxsI/Wxn91gflV1ttuP/nAVA3Ehz7Qj/DmbyU/Mik2r1EjabtRk+zNkFe0UVpHmAotRRQAgb07PGGxHS2vh8Sckq8g5HHuDD3+NTNi7aOGXo5LyRKcocdZ4xyEi8WUcmHLj20zbW2cmIieKQdVha/MHkw7wbGsxlw7JLlld0aLqSmMXJW3VlVT6S2sSOPHspSonTlmiatCUcRTyT3XtP+PoanFjI2TpFdSlr5gRa3jSTvNtZ8Yww2GuYyeuw06W33V7I+1zoeAvX3FutM6hosTA6HUN0INx2kg612O5+IY3fFJe1rrDy7PSrspVJKyj+xClDD0pZnNN8tHp9i12DseLCDM7IZSAC5IAAH3UB4KPfzq2+vxfpY/31/rSym5B+9iXPcqIvxvUfauyMNhV1zyykdVWawH4mCW0+NSi5RXlsiucadSd87k32/J33gmgR+mgmVZhqVTrZ/ELcA9548+0S9l71qwAlGVrXJFvet7j2XqHsbdZmUGZiqnXInVY39ZuIHcKusPuzhEGkCHvYZj5tc0xB6cQvWUVpF3Ja7VhIv0qe0ge41W7S3mRARErStw00QH8Tn5VB2zu5gl6zSth78lksD3KjX8hSrteLDxKFgEskrWCdIxLEnQERiwHtF6Zp04S6ik5yR22NAcbj1zHMsRM0p5M9+qB3Xy+xTWo1QbnbB+qQZWsZXOeQ/it6I7gNPOr+q601KWmyJU42WoUUUVUTFL6TcVlwRUHWR0T2A5j/LSxu8mWEnt/pUn6UsbmnhgH3VMjeLGw9wPnX3hVCYY9+Ue//tWhSjaku4rUd5izt59LVP8Ao0wufGIeSJI/tNkH8x8qpduSXa1PH0UYOyzS9uRB7OsfiKtrPLTZCkryRoAr2iisodCiiigArJ526XaczngHtfuQBflWoY7EiKN5G4IpY+wXrJ9jEhHlb0mJ/eY3J+NK4mWqRqeGx0nL5fU821NoasPoow2bETSepGF9sjX+Ce+l/bE2lu2nz6K8LlwrS/pZGt4J1PirVTRWapcdxksmHffQdaKKK0DzwUUUUAFL29W7v1gCSJsmIQdVuTD1JO7v5Uw0VxpNWZOnUlTlmjuZVhNqzYaQpf6vKDdoHH2Unay9l+1dKbtnb2lrCWCRT60dpEPeDofdVvtjY8OJTJMgYcjwZT2ow1U+FKGN3HmjJOFmDL+jluD4CQfMUs4Tg+F6GgquHrr9RWfvn+fqMOM3hFvs0a/DM/VAPcvpMe4Cq/D7vSTXeVmjza30MjHta+ijsUcKXI9nY6FriGVW4Zoykg9l/wClWcG09oDiJv2sPf8AlAqcZOT4kRnTVNfpSXrfUuX3WbliZPaAfgRUPF7tuqktjAq8yyH/AKlRf7S2i2ipKf8AcpH/ABSHSvld2cZiDeeQRDtJMsluwcFX2U7DTmkZ85Sej1KHG5Y5AIW6eU6LZACT2gakDxOtN26W6xiP1jE9ac6i/CO/ZyzfCrTYe7cOF1QZnPGR9WPh2eyrmpVK7ayoqjTSd2FFFFLlgUUVTb37R+r4SWQHrZcq/mc5R8b+yuxV3ZHG7K5mGPxP1nHSycRnKr+VeqLeV/bV/tDqxgVQ7rYXUGrHeDF3vyA0ArVtqorkIt8xTxxzPatj3HwXRYRBza7n26D3AVjuDUvMqjUswA8SbVvuHiCKqjgoAHsFqoxktEi6guZ0ooopAZCiuU06oLswUcLsQB5mugoAod89nTYjD9HCRfMCwJtmUX6oPjlPspCnwsqKEaJxl5ZW+IGta5XlqoqUFN3uO4fGyoxy2TRhMuzcRNIFjhkY8uowA7yxFgK2nYmzhh4IoV4IoW/aeZ9puam2r2u0qSgcxWMlXSVrJBRRRVwmFFFFABRRRQAUUUUAFFFFABRRRQAUUUUAFFFFABSB9KuL6sMA4sxkI7lFh7yfKn+sq3qk6baTA8ECIPYMx97GmMNG879Cqs7RJGyouihzcyOffS5tae9Xu2MWAAo4ClHGyXNaEFzFGXX0eYHpcah5R3kPs4fxEVs9Iv0WbNyRSTHi7ZR4LxPmT5U9Vn4mWap6DdFWiFFFFLlpS7c2dJI8bp1gpF0va4DXI4jQ6XsRqq3DLdTyx+zHMMUfRiQgm7Z8pjGpDQ3++NFVtCouR6pv6KAFd9iSFrmNHUPmkQkWn0lAZwRYkF4j1v0Y7BUrYWzp4mPSsJLoFMhsWYrbIFPpZQC9w3M3HFr31FACxsjZeIhiw6LljyL9qBktI+aAZjlXXqCfXQ3y3qRKmJBC52u7OpIAZVQ2vIpyWRlsMoYm920Olr+vBQBQYnAYhsjXGdJGOa4vkZHVhH1ere6WBvYgE8K8KYzOwDcIlFzbIXKuDl0BLhshvcDQjS9ww14aAFcbPxxWMSyq9po3bIBH1UlhfjdrrlWXq6EkryvVhsyDErKBIU6ERWIFr9ICtiLWsLdICLcl7bC5ooAVsLsbEI8jIQjPKxLgrdkfFK/q9YrDnUZ72JstgTXebZeIErSJJeySooJGudMPaR7AZmBik5jiouBwYqKAFqDCY8gZ5Rduiz5coy5Ths/RDKbXAxfG+pTXskRYbFB0YstrLnAIF2CoCScpuukunG7LwtV7RQBS4H6wUeKYXciUiQaKAbBFJvqxu/C9gutrgGPhcHjFRlaQNqCLFQwHSTdVWy2ACfVuIPB+JphFe0AfEV+Y/wC+g1r7oooAKKKKACiiigAqu2nsaKfV1640Dro49vZ3GrGiuptao41fcQ8duA7E5MQLHk6a+YOvlUFPozkLDNiEA7kJPsua0qirv6mp1IfCh0Imy8AsESRJwQAX5ntJ7yal0UVQ3fUsCiiigD//2Q=="/>
          <p:cNvSpPr>
            <a:spLocks noChangeAspect="1" noChangeArrowheads="1"/>
          </p:cNvSpPr>
          <p:nvPr/>
        </p:nvSpPr>
        <p:spPr bwMode="auto">
          <a:xfrm>
            <a:off x="155575" y="-1371600"/>
            <a:ext cx="3048000" cy="2857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1028" name="Picture 4" descr="http://media-3.web.britannica.com/eb-media/06/92806-004-95B4D32F.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6135" y="436229"/>
            <a:ext cx="3192289" cy="29927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6262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6909" name="Picture 29"/>
          <p:cNvPicPr>
            <a:picLocks noChangeAspect="1" noChangeArrowheads="1"/>
          </p:cNvPicPr>
          <p:nvPr/>
        </p:nvPicPr>
        <p:blipFill>
          <a:blip r:embed="rId2">
            <a:extLst>
              <a:ext uri="{28A0092B-C50C-407E-A947-70E740481C1C}">
                <a14:useLocalDpi xmlns:a14="http://schemas.microsoft.com/office/drawing/2010/main" val="0"/>
              </a:ext>
            </a:extLst>
          </a:blip>
          <a:srcRect l="33749" t="14999" r="33749" b="24001"/>
          <a:stretch>
            <a:fillRect/>
          </a:stretch>
        </p:blipFill>
        <p:spPr bwMode="auto">
          <a:xfrm>
            <a:off x="2741613" y="3500437"/>
            <a:ext cx="1574800" cy="2218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6912" name="Picture 32"/>
          <p:cNvPicPr>
            <a:picLocks noChangeAspect="1" noChangeArrowheads="1"/>
          </p:cNvPicPr>
          <p:nvPr/>
        </p:nvPicPr>
        <p:blipFill>
          <a:blip r:embed="rId3">
            <a:extLst>
              <a:ext uri="{28A0092B-C50C-407E-A947-70E740481C1C}">
                <a14:useLocalDpi xmlns:a14="http://schemas.microsoft.com/office/drawing/2010/main" val="0"/>
              </a:ext>
            </a:extLst>
          </a:blip>
          <a:srcRect l="25874" t="12000" r="28125" b="13499"/>
          <a:stretch>
            <a:fillRect/>
          </a:stretch>
        </p:blipFill>
        <p:spPr bwMode="auto">
          <a:xfrm>
            <a:off x="6010275" y="4451350"/>
            <a:ext cx="1943100" cy="2359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6915" name="Picture 35"/>
          <p:cNvPicPr>
            <a:picLocks noChangeAspect="1" noChangeArrowheads="1"/>
          </p:cNvPicPr>
          <p:nvPr/>
        </p:nvPicPr>
        <p:blipFill>
          <a:blip r:embed="rId4">
            <a:extLst>
              <a:ext uri="{28A0092B-C50C-407E-A947-70E740481C1C}">
                <a14:useLocalDpi xmlns:a14="http://schemas.microsoft.com/office/drawing/2010/main" val="0"/>
              </a:ext>
            </a:extLst>
          </a:blip>
          <a:srcRect l="22501" t="9000" r="33749" b="19501"/>
          <a:stretch>
            <a:fillRect/>
          </a:stretch>
        </p:blipFill>
        <p:spPr bwMode="auto">
          <a:xfrm>
            <a:off x="88900" y="1890713"/>
            <a:ext cx="2012950" cy="246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6918" name="Text Box 38"/>
          <p:cNvSpPr txBox="1">
            <a:spLocks noChangeArrowheads="1"/>
          </p:cNvSpPr>
          <p:nvPr/>
        </p:nvSpPr>
        <p:spPr bwMode="auto">
          <a:xfrm>
            <a:off x="796925" y="1265238"/>
            <a:ext cx="1468438" cy="519112"/>
          </a:xfrm>
          <a:prstGeom prst="rect">
            <a:avLst/>
          </a:prstGeom>
          <a:noFill/>
          <a:ln>
            <a:noFill/>
          </a:ln>
          <a:effectLst/>
          <a:extLst>
            <a:ext uri="{909E8E84-426E-40DD-AFC4-6F175D3DCCD1}">
              <a14:hiddenFill xmlns:a14="http://schemas.microsoft.com/office/drawing/2010/main">
                <a:solidFill>
                  <a:srgbClr val="FFEA18"/>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sz="2800" b="1" u="sng">
                <a:solidFill>
                  <a:srgbClr val="CC0000"/>
                </a:solidFill>
                <a:ea typeface="Geneva" pitchFamily="48" charset="-128"/>
              </a:rPr>
              <a:t>arteries</a:t>
            </a:r>
            <a:endParaRPr lang="en-US" sz="2800">
              <a:ea typeface="Geneva" pitchFamily="48" charset="-128"/>
            </a:endParaRPr>
          </a:p>
        </p:txBody>
      </p:sp>
      <p:sp>
        <p:nvSpPr>
          <p:cNvPr id="506919" name="Text Box 39"/>
          <p:cNvSpPr txBox="1">
            <a:spLocks noChangeArrowheads="1"/>
          </p:cNvSpPr>
          <p:nvPr/>
        </p:nvSpPr>
        <p:spPr bwMode="auto">
          <a:xfrm>
            <a:off x="1947863" y="2198688"/>
            <a:ext cx="1785937" cy="519112"/>
          </a:xfrm>
          <a:prstGeom prst="rect">
            <a:avLst/>
          </a:prstGeom>
          <a:noFill/>
          <a:ln>
            <a:noFill/>
          </a:ln>
          <a:effectLst/>
          <a:extLst>
            <a:ext uri="{909E8E84-426E-40DD-AFC4-6F175D3DCCD1}">
              <a14:hiddenFill xmlns:a14="http://schemas.microsoft.com/office/drawing/2010/main">
                <a:solidFill>
                  <a:srgbClr val="FFEA18"/>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sz="2800" b="1" u="sng">
                <a:solidFill>
                  <a:srgbClr val="0F116A"/>
                </a:solidFill>
                <a:ea typeface="Geneva" pitchFamily="48" charset="-128"/>
              </a:rPr>
              <a:t>arterioles</a:t>
            </a:r>
            <a:endParaRPr lang="en-US" sz="2800">
              <a:ea typeface="Geneva" pitchFamily="48" charset="-128"/>
            </a:endParaRPr>
          </a:p>
        </p:txBody>
      </p:sp>
      <p:sp>
        <p:nvSpPr>
          <p:cNvPr id="506920" name="Text Box 40"/>
          <p:cNvSpPr txBox="1">
            <a:spLocks noChangeArrowheads="1"/>
          </p:cNvSpPr>
          <p:nvPr/>
        </p:nvSpPr>
        <p:spPr bwMode="auto">
          <a:xfrm>
            <a:off x="3452813" y="3132138"/>
            <a:ext cx="1924050" cy="519112"/>
          </a:xfrm>
          <a:prstGeom prst="rect">
            <a:avLst/>
          </a:prstGeom>
          <a:noFill/>
          <a:ln>
            <a:noFill/>
          </a:ln>
          <a:effectLst/>
          <a:extLst>
            <a:ext uri="{909E8E84-426E-40DD-AFC4-6F175D3DCCD1}">
              <a14:hiddenFill xmlns:a14="http://schemas.microsoft.com/office/drawing/2010/main">
                <a:solidFill>
                  <a:srgbClr val="FFEA18"/>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sz="2800" b="1" u="sng">
                <a:solidFill>
                  <a:srgbClr val="CC0000"/>
                </a:solidFill>
                <a:ea typeface="Geneva" pitchFamily="48" charset="-128"/>
              </a:rPr>
              <a:t>capillaries</a:t>
            </a:r>
            <a:endParaRPr lang="en-US" sz="2800">
              <a:ea typeface="Geneva" pitchFamily="48" charset="-128"/>
            </a:endParaRPr>
          </a:p>
        </p:txBody>
      </p:sp>
      <p:sp>
        <p:nvSpPr>
          <p:cNvPr id="506921" name="Text Box 41"/>
          <p:cNvSpPr txBox="1">
            <a:spLocks noChangeArrowheads="1"/>
          </p:cNvSpPr>
          <p:nvPr/>
        </p:nvSpPr>
        <p:spPr bwMode="auto">
          <a:xfrm>
            <a:off x="5521325" y="4065588"/>
            <a:ext cx="1508125" cy="519112"/>
          </a:xfrm>
          <a:prstGeom prst="rect">
            <a:avLst/>
          </a:prstGeom>
          <a:noFill/>
          <a:ln>
            <a:noFill/>
          </a:ln>
          <a:effectLst/>
          <a:extLst>
            <a:ext uri="{909E8E84-426E-40DD-AFC4-6F175D3DCCD1}">
              <a14:hiddenFill xmlns:a14="http://schemas.microsoft.com/office/drawing/2010/main">
                <a:solidFill>
                  <a:srgbClr val="FFEA18"/>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sz="2800" b="1" u="sng">
                <a:solidFill>
                  <a:srgbClr val="0F116A"/>
                </a:solidFill>
                <a:ea typeface="Geneva" pitchFamily="48" charset="-128"/>
              </a:rPr>
              <a:t>venules</a:t>
            </a:r>
            <a:endParaRPr lang="en-US" sz="2800">
              <a:ea typeface="Geneva" pitchFamily="48" charset="-128"/>
            </a:endParaRPr>
          </a:p>
        </p:txBody>
      </p:sp>
      <p:sp>
        <p:nvSpPr>
          <p:cNvPr id="506922" name="Text Box 42"/>
          <p:cNvSpPr txBox="1">
            <a:spLocks noChangeArrowheads="1"/>
          </p:cNvSpPr>
          <p:nvPr/>
        </p:nvSpPr>
        <p:spPr bwMode="auto">
          <a:xfrm>
            <a:off x="7273925" y="4999038"/>
            <a:ext cx="1093788" cy="519112"/>
          </a:xfrm>
          <a:prstGeom prst="rect">
            <a:avLst/>
          </a:prstGeom>
          <a:noFill/>
          <a:ln>
            <a:noFill/>
          </a:ln>
          <a:effectLst/>
          <a:extLst>
            <a:ext uri="{909E8E84-426E-40DD-AFC4-6F175D3DCCD1}">
              <a14:hiddenFill xmlns:a14="http://schemas.microsoft.com/office/drawing/2010/main">
                <a:solidFill>
                  <a:srgbClr val="FFEA18"/>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sz="2800" b="1" u="sng">
                <a:solidFill>
                  <a:srgbClr val="CC0000"/>
                </a:solidFill>
                <a:ea typeface="Geneva" pitchFamily="48" charset="-128"/>
              </a:rPr>
              <a:t>veins</a:t>
            </a:r>
            <a:endParaRPr lang="en-US" sz="2800">
              <a:ea typeface="Geneva" pitchFamily="48" charset="-128"/>
            </a:endParaRPr>
          </a:p>
        </p:txBody>
      </p:sp>
      <p:sp>
        <p:nvSpPr>
          <p:cNvPr id="506923" name="AutoShape 43"/>
          <p:cNvSpPr>
            <a:spLocks noChangeArrowheads="1"/>
          </p:cNvSpPr>
          <p:nvPr/>
        </p:nvSpPr>
        <p:spPr bwMode="auto">
          <a:xfrm rot="2539572">
            <a:off x="1482725" y="1838325"/>
            <a:ext cx="609600" cy="304800"/>
          </a:xfrm>
          <a:prstGeom prst="rightArrow">
            <a:avLst>
              <a:gd name="adj1" fmla="val 50000"/>
              <a:gd name="adj2" fmla="val 50000"/>
            </a:avLst>
          </a:prstGeom>
          <a:solidFill>
            <a:srgbClr val="FFEA1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506924" name="AutoShape 44"/>
          <p:cNvSpPr>
            <a:spLocks noChangeArrowheads="1"/>
          </p:cNvSpPr>
          <p:nvPr/>
        </p:nvSpPr>
        <p:spPr bwMode="auto">
          <a:xfrm rot="2539572">
            <a:off x="3014663" y="2771775"/>
            <a:ext cx="609600" cy="304800"/>
          </a:xfrm>
          <a:prstGeom prst="rightArrow">
            <a:avLst>
              <a:gd name="adj1" fmla="val 50000"/>
              <a:gd name="adj2" fmla="val 50000"/>
            </a:avLst>
          </a:prstGeom>
          <a:solidFill>
            <a:srgbClr val="FFEA1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506925" name="AutoShape 45"/>
          <p:cNvSpPr>
            <a:spLocks noChangeArrowheads="1"/>
          </p:cNvSpPr>
          <p:nvPr/>
        </p:nvSpPr>
        <p:spPr bwMode="auto">
          <a:xfrm rot="2539572">
            <a:off x="5072063" y="3705225"/>
            <a:ext cx="609600" cy="304800"/>
          </a:xfrm>
          <a:prstGeom prst="rightArrow">
            <a:avLst>
              <a:gd name="adj1" fmla="val 50000"/>
              <a:gd name="adj2" fmla="val 50000"/>
            </a:avLst>
          </a:prstGeom>
          <a:solidFill>
            <a:srgbClr val="FFEA1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506926" name="AutoShape 46"/>
          <p:cNvSpPr>
            <a:spLocks noChangeArrowheads="1"/>
          </p:cNvSpPr>
          <p:nvPr/>
        </p:nvSpPr>
        <p:spPr bwMode="auto">
          <a:xfrm rot="2539572">
            <a:off x="6892925" y="4638675"/>
            <a:ext cx="609600" cy="304800"/>
          </a:xfrm>
          <a:prstGeom prst="rightArrow">
            <a:avLst>
              <a:gd name="adj1" fmla="val 50000"/>
              <a:gd name="adj2" fmla="val 50000"/>
            </a:avLst>
          </a:prstGeom>
          <a:solidFill>
            <a:srgbClr val="FFEA1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pic>
        <p:nvPicPr>
          <p:cNvPr id="506927" name="Picture 47"/>
          <p:cNvPicPr>
            <a:picLocks noChangeAspect="1" noChangeArrowheads="1"/>
          </p:cNvPicPr>
          <p:nvPr/>
        </p:nvPicPr>
        <p:blipFill>
          <a:blip r:embed="rId5">
            <a:extLst>
              <a:ext uri="{28A0092B-C50C-407E-A947-70E740481C1C}">
                <a14:useLocalDpi xmlns:a14="http://schemas.microsoft.com/office/drawing/2010/main" val="0"/>
              </a:ext>
            </a:extLst>
          </a:blip>
          <a:srcRect l="67050" t="3923" b="11771"/>
          <a:stretch>
            <a:fillRect/>
          </a:stretch>
        </p:blipFill>
        <p:spPr bwMode="auto">
          <a:xfrm>
            <a:off x="5754688" y="333375"/>
            <a:ext cx="2855912" cy="334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6928" name="Text Box 48"/>
          <p:cNvSpPr txBox="1">
            <a:spLocks noChangeArrowheads="1"/>
          </p:cNvSpPr>
          <p:nvPr/>
        </p:nvSpPr>
        <p:spPr bwMode="auto">
          <a:xfrm>
            <a:off x="8016875" y="1509713"/>
            <a:ext cx="749300" cy="336550"/>
          </a:xfrm>
          <a:prstGeom prst="rect">
            <a:avLst/>
          </a:prstGeom>
          <a:solidFill>
            <a:srgbClr val="FFEA1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sz="1600" b="1">
                <a:solidFill>
                  <a:srgbClr val="0F116A"/>
                </a:solidFill>
                <a:ea typeface="Geneva" pitchFamily="48" charset="-128"/>
              </a:rPr>
              <a:t>artery</a:t>
            </a:r>
            <a:endParaRPr lang="en-US" sz="1600">
              <a:ea typeface="Geneva" pitchFamily="48" charset="-128"/>
            </a:endParaRPr>
          </a:p>
        </p:txBody>
      </p:sp>
      <p:sp>
        <p:nvSpPr>
          <p:cNvPr id="506929" name="Text Box 49"/>
          <p:cNvSpPr txBox="1">
            <a:spLocks noChangeArrowheads="1"/>
          </p:cNvSpPr>
          <p:nvPr/>
        </p:nvSpPr>
        <p:spPr bwMode="auto">
          <a:xfrm>
            <a:off x="8016875" y="2928938"/>
            <a:ext cx="1098550" cy="336550"/>
          </a:xfrm>
          <a:prstGeom prst="rect">
            <a:avLst/>
          </a:prstGeom>
          <a:solidFill>
            <a:srgbClr val="FFEA1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sz="1600" b="1">
                <a:solidFill>
                  <a:srgbClr val="0F116A"/>
                </a:solidFill>
                <a:ea typeface="Geneva" pitchFamily="48" charset="-128"/>
              </a:rPr>
              <a:t>arterioles</a:t>
            </a:r>
            <a:endParaRPr lang="en-US" sz="1600">
              <a:ea typeface="Geneva" pitchFamily="48" charset="-128"/>
            </a:endParaRPr>
          </a:p>
        </p:txBody>
      </p:sp>
      <p:sp>
        <p:nvSpPr>
          <p:cNvPr id="506930" name="Text Box 50"/>
          <p:cNvSpPr txBox="1">
            <a:spLocks noChangeArrowheads="1"/>
          </p:cNvSpPr>
          <p:nvPr/>
        </p:nvSpPr>
        <p:spPr bwMode="auto">
          <a:xfrm>
            <a:off x="5392738" y="2928938"/>
            <a:ext cx="941387" cy="336550"/>
          </a:xfrm>
          <a:prstGeom prst="rect">
            <a:avLst/>
          </a:prstGeom>
          <a:solidFill>
            <a:srgbClr val="FFEA1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sz="1600" b="1">
                <a:solidFill>
                  <a:srgbClr val="0F116A"/>
                </a:solidFill>
                <a:ea typeface="Geneva" pitchFamily="48" charset="-128"/>
              </a:rPr>
              <a:t>venules</a:t>
            </a:r>
            <a:endParaRPr lang="en-US" sz="1600">
              <a:ea typeface="Geneva" pitchFamily="48" charset="-128"/>
            </a:endParaRPr>
          </a:p>
        </p:txBody>
      </p:sp>
      <p:sp>
        <p:nvSpPr>
          <p:cNvPr id="506931" name="Text Box 51"/>
          <p:cNvSpPr txBox="1">
            <a:spLocks noChangeArrowheads="1"/>
          </p:cNvSpPr>
          <p:nvPr/>
        </p:nvSpPr>
        <p:spPr bwMode="auto">
          <a:xfrm>
            <a:off x="5392738" y="1509713"/>
            <a:ext cx="703262" cy="336550"/>
          </a:xfrm>
          <a:prstGeom prst="rect">
            <a:avLst/>
          </a:prstGeom>
          <a:solidFill>
            <a:srgbClr val="FFEA1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sz="1600" b="1">
                <a:solidFill>
                  <a:srgbClr val="0F116A"/>
                </a:solidFill>
                <a:ea typeface="Geneva" pitchFamily="48" charset="-128"/>
              </a:rPr>
              <a:t>veins</a:t>
            </a:r>
            <a:endParaRPr lang="en-US" sz="1600">
              <a:ea typeface="Geneva" pitchFamily="48" charset="-128"/>
            </a:endParaRPr>
          </a:p>
        </p:txBody>
      </p:sp>
      <p:sp>
        <p:nvSpPr>
          <p:cNvPr id="2" name="Title 1"/>
          <p:cNvSpPr>
            <a:spLocks noGrp="1"/>
          </p:cNvSpPr>
          <p:nvPr>
            <p:ph type="title"/>
          </p:nvPr>
        </p:nvSpPr>
        <p:spPr>
          <a:xfrm>
            <a:off x="1095375" y="378541"/>
            <a:ext cx="8229600" cy="908510"/>
          </a:xfrm>
        </p:spPr>
        <p:txBody>
          <a:bodyPr/>
          <a:lstStyle/>
          <a:p>
            <a:r>
              <a:rPr lang="en-AU" dirty="0">
                <a:solidFill>
                  <a:srgbClr val="0070C0"/>
                </a:solidFill>
              </a:rPr>
              <a:t>Blood Vessels</a:t>
            </a:r>
          </a:p>
        </p:txBody>
      </p:sp>
    </p:spTree>
    <p:extLst>
      <p:ext uri="{BB962C8B-B14F-4D97-AF65-F5344CB8AC3E}">
        <p14:creationId xmlns:p14="http://schemas.microsoft.com/office/powerpoint/2010/main" val="30479714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3" y="619472"/>
            <a:ext cx="7200900" cy="1015008"/>
          </a:xfrm>
        </p:spPr>
        <p:txBody>
          <a:bodyPr/>
          <a:lstStyle/>
          <a:p>
            <a:r>
              <a:rPr lang="en-AU" dirty="0">
                <a:solidFill>
                  <a:srgbClr val="0070C0"/>
                </a:solidFill>
              </a:rPr>
              <a:t>Blood Vessels - Arteries</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777779" y="1844824"/>
            <a:ext cx="6020589" cy="3886200"/>
          </a:xfrm>
        </p:spPr>
      </p:pic>
    </p:spTree>
    <p:extLst>
      <p:ext uri="{BB962C8B-B14F-4D97-AF65-F5344CB8AC3E}">
        <p14:creationId xmlns:p14="http://schemas.microsoft.com/office/powerpoint/2010/main" val="10126713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5616" y="423863"/>
            <a:ext cx="7200900" cy="1485900"/>
          </a:xfrm>
        </p:spPr>
        <p:txBody>
          <a:bodyPr/>
          <a:lstStyle/>
          <a:p>
            <a:r>
              <a:rPr lang="en-AU" dirty="0">
                <a:solidFill>
                  <a:srgbClr val="0070C0"/>
                </a:solidFill>
              </a:rPr>
              <a:t>Blood Vessels - Veins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1520" y="1781175"/>
            <a:ext cx="5908917" cy="4017284"/>
          </a:xfrm>
        </p:spPr>
      </p:pic>
      <p:pic>
        <p:nvPicPr>
          <p:cNvPr id="5" name="Picture 5"/>
          <p:cNvPicPr>
            <a:picLocks noChangeAspect="1" noChangeArrowheads="1"/>
          </p:cNvPicPr>
          <p:nvPr/>
        </p:nvPicPr>
        <p:blipFill>
          <a:blip r:embed="rId3">
            <a:extLst>
              <a:ext uri="{28A0092B-C50C-407E-A947-70E740481C1C}">
                <a14:useLocalDpi xmlns:a14="http://schemas.microsoft.com/office/drawing/2010/main" val="0"/>
              </a:ext>
            </a:extLst>
          </a:blip>
          <a:srcRect l="25874" t="12000" r="29250" b="1500"/>
          <a:stretch>
            <a:fillRect/>
          </a:stretch>
        </p:blipFill>
        <p:spPr bwMode="auto">
          <a:xfrm>
            <a:off x="6727825" y="1871663"/>
            <a:ext cx="2416175" cy="349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6"/>
          <p:cNvSpPr>
            <a:spLocks noChangeArrowheads="1"/>
          </p:cNvSpPr>
          <p:nvPr/>
        </p:nvSpPr>
        <p:spPr bwMode="auto">
          <a:xfrm>
            <a:off x="6345238" y="2201863"/>
            <a:ext cx="1287462"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lnSpc>
                <a:spcPct val="85000"/>
              </a:lnSpc>
            </a:pPr>
            <a:r>
              <a:rPr lang="en-US" sz="1900" b="1">
                <a:solidFill>
                  <a:srgbClr val="000000"/>
                </a:solidFill>
              </a:rPr>
              <a:t>Open</a:t>
            </a:r>
            <a:r>
              <a:rPr lang="en-US" sz="1900" b="1">
                <a:solidFill>
                  <a:srgbClr val="CC0000"/>
                </a:solidFill>
              </a:rPr>
              <a:t> </a:t>
            </a:r>
            <a:r>
              <a:rPr lang="en-US" sz="1900" b="1">
                <a:solidFill>
                  <a:srgbClr val="000000"/>
                </a:solidFill>
              </a:rPr>
              <a:t>valve</a:t>
            </a:r>
            <a:endParaRPr lang="en-US" sz="1900" b="1">
              <a:solidFill>
                <a:srgbClr val="CC0000"/>
              </a:solidFill>
            </a:endParaRPr>
          </a:p>
        </p:txBody>
      </p:sp>
      <p:sp>
        <p:nvSpPr>
          <p:cNvPr id="7" name="Rectangle 7"/>
          <p:cNvSpPr>
            <a:spLocks noChangeArrowheads="1"/>
          </p:cNvSpPr>
          <p:nvPr/>
        </p:nvSpPr>
        <p:spPr bwMode="auto">
          <a:xfrm>
            <a:off x="7251700" y="1289050"/>
            <a:ext cx="144780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85000"/>
              </a:lnSpc>
            </a:pPr>
            <a:r>
              <a:rPr lang="en-US" sz="1900" b="1" dirty="0">
                <a:solidFill>
                  <a:srgbClr val="000000"/>
                </a:solidFill>
              </a:rPr>
              <a:t>Blood flows</a:t>
            </a:r>
          </a:p>
          <a:p>
            <a:pPr>
              <a:lnSpc>
                <a:spcPct val="85000"/>
              </a:lnSpc>
            </a:pPr>
            <a:r>
              <a:rPr lang="en-US" sz="1900" b="1" dirty="0">
                <a:solidFill>
                  <a:srgbClr val="000000"/>
                </a:solidFill>
              </a:rPr>
              <a:t>toward heart</a:t>
            </a:r>
            <a:endParaRPr lang="en-US" sz="1800" dirty="0">
              <a:solidFill>
                <a:srgbClr val="000000"/>
              </a:solidFill>
            </a:endParaRPr>
          </a:p>
        </p:txBody>
      </p:sp>
      <p:sp>
        <p:nvSpPr>
          <p:cNvPr id="8" name="Rectangle 8"/>
          <p:cNvSpPr>
            <a:spLocks noChangeArrowheads="1"/>
          </p:cNvSpPr>
          <p:nvPr/>
        </p:nvSpPr>
        <p:spPr bwMode="auto">
          <a:xfrm>
            <a:off x="6053138" y="4708525"/>
            <a:ext cx="1579562"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r">
              <a:lnSpc>
                <a:spcPct val="85000"/>
              </a:lnSpc>
            </a:pPr>
            <a:r>
              <a:rPr lang="en-US" sz="1900" b="1">
                <a:solidFill>
                  <a:srgbClr val="000000"/>
                </a:solidFill>
              </a:rPr>
              <a:t>Closed valve </a:t>
            </a:r>
          </a:p>
        </p:txBody>
      </p:sp>
    </p:spTree>
    <p:extLst>
      <p:ext uri="{BB962C8B-B14F-4D97-AF65-F5344CB8AC3E}">
        <p14:creationId xmlns:p14="http://schemas.microsoft.com/office/powerpoint/2010/main" val="13187210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1640" y="142900"/>
            <a:ext cx="7200900" cy="1485900"/>
          </a:xfrm>
        </p:spPr>
        <p:txBody>
          <a:bodyPr/>
          <a:lstStyle/>
          <a:p>
            <a:r>
              <a:rPr lang="en-AU" dirty="0">
                <a:solidFill>
                  <a:srgbClr val="0070C0"/>
                </a:solidFill>
              </a:rPr>
              <a:t>Blood Vessels - Capillaries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26723" y="1052736"/>
            <a:ext cx="5892361" cy="3753796"/>
          </a:xfrm>
        </p:spPr>
      </p:pic>
      <p:pic>
        <p:nvPicPr>
          <p:cNvPr id="5" name="Picture 4">
            <a:extLst>
              <a:ext uri="{FF2B5EF4-FFF2-40B4-BE49-F238E27FC236}">
                <a16:creationId xmlns:a16="http://schemas.microsoft.com/office/drawing/2014/main" id="{8E826795-1FE2-87B7-61BB-EEF1B2754355}"/>
              </a:ext>
            </a:extLst>
          </p:cNvPr>
          <p:cNvPicPr>
            <a:picLocks noChangeAspect="1"/>
          </p:cNvPicPr>
          <p:nvPr/>
        </p:nvPicPr>
        <p:blipFill>
          <a:blip r:embed="rId3"/>
          <a:stretch>
            <a:fillRect/>
          </a:stretch>
        </p:blipFill>
        <p:spPr>
          <a:xfrm>
            <a:off x="3059832" y="4939850"/>
            <a:ext cx="3226144" cy="1841068"/>
          </a:xfrm>
          <a:prstGeom prst="rect">
            <a:avLst/>
          </a:prstGeom>
        </p:spPr>
      </p:pic>
    </p:spTree>
    <p:extLst>
      <p:ext uri="{BB962C8B-B14F-4D97-AF65-F5344CB8AC3E}">
        <p14:creationId xmlns:p14="http://schemas.microsoft.com/office/powerpoint/2010/main" val="7410436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6634" y="286916"/>
            <a:ext cx="7200900" cy="837828"/>
          </a:xfrm>
        </p:spPr>
        <p:txBody>
          <a:bodyPr/>
          <a:lstStyle/>
          <a:p>
            <a:r>
              <a:rPr lang="en-AU" dirty="0">
                <a:solidFill>
                  <a:srgbClr val="0070C0"/>
                </a:solidFill>
              </a:rPr>
              <a:t>Blood Vessels - Capillary Bed</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99592" y="1209582"/>
            <a:ext cx="6318841" cy="3770684"/>
          </a:xfrm>
        </p:spPr>
      </p:pic>
      <p:pic>
        <p:nvPicPr>
          <p:cNvPr id="5" name="Picture 4">
            <a:extLst>
              <a:ext uri="{FF2B5EF4-FFF2-40B4-BE49-F238E27FC236}">
                <a16:creationId xmlns:a16="http://schemas.microsoft.com/office/drawing/2014/main" id="{68FDF34F-FA1F-422E-DAD7-ABFAF05C795D}"/>
              </a:ext>
            </a:extLst>
          </p:cNvPr>
          <p:cNvPicPr>
            <a:picLocks noChangeAspect="1"/>
          </p:cNvPicPr>
          <p:nvPr/>
        </p:nvPicPr>
        <p:blipFill>
          <a:blip r:embed="rId3"/>
          <a:stretch>
            <a:fillRect/>
          </a:stretch>
        </p:blipFill>
        <p:spPr>
          <a:xfrm>
            <a:off x="6084168" y="4597490"/>
            <a:ext cx="2880320" cy="2101855"/>
          </a:xfrm>
          <a:prstGeom prst="rect">
            <a:avLst/>
          </a:prstGeom>
        </p:spPr>
      </p:pic>
    </p:spTree>
    <p:extLst>
      <p:ext uri="{BB962C8B-B14F-4D97-AF65-F5344CB8AC3E}">
        <p14:creationId xmlns:p14="http://schemas.microsoft.com/office/powerpoint/2010/main" val="34356447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513D1-C085-1203-6C74-8E561559356C}"/>
              </a:ext>
            </a:extLst>
          </p:cNvPr>
          <p:cNvSpPr>
            <a:spLocks noGrp="1"/>
          </p:cNvSpPr>
          <p:nvPr>
            <p:ph type="title"/>
          </p:nvPr>
        </p:nvSpPr>
        <p:spPr/>
        <p:txBody>
          <a:bodyPr/>
          <a:lstStyle/>
          <a:p>
            <a:r>
              <a:rPr lang="en-GB" dirty="0">
                <a:solidFill>
                  <a:srgbClr val="00B050"/>
                </a:solidFill>
              </a:rPr>
              <a:t>Lesson 2…</a:t>
            </a:r>
            <a:endParaRPr lang="en-AU" dirty="0">
              <a:solidFill>
                <a:srgbClr val="00B050"/>
              </a:solidFill>
            </a:endParaRPr>
          </a:p>
        </p:txBody>
      </p:sp>
    </p:spTree>
    <p:extLst>
      <p:ext uri="{BB962C8B-B14F-4D97-AF65-F5344CB8AC3E}">
        <p14:creationId xmlns:p14="http://schemas.microsoft.com/office/powerpoint/2010/main" val="29908568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458147"/>
            <a:ext cx="3600450" cy="943860"/>
          </a:xfrm>
        </p:spPr>
        <p:txBody>
          <a:bodyPr/>
          <a:lstStyle/>
          <a:p>
            <a:r>
              <a:rPr lang="en-AU" dirty="0">
                <a:solidFill>
                  <a:srgbClr val="0070C0"/>
                </a:solidFill>
              </a:rPr>
              <a:t>Blood</a:t>
            </a:r>
          </a:p>
        </p:txBody>
      </p:sp>
      <p:sp>
        <p:nvSpPr>
          <p:cNvPr id="3" name="Content Placeholder 2"/>
          <p:cNvSpPr>
            <a:spLocks noGrp="1"/>
          </p:cNvSpPr>
          <p:nvPr>
            <p:ph idx="1"/>
          </p:nvPr>
        </p:nvSpPr>
        <p:spPr>
          <a:xfrm>
            <a:off x="755576" y="1480801"/>
            <a:ext cx="5269210" cy="4565602"/>
          </a:xfrm>
        </p:spPr>
        <p:txBody>
          <a:bodyPr>
            <a:normAutofit/>
          </a:bodyPr>
          <a:lstStyle/>
          <a:p>
            <a:r>
              <a:rPr lang="en-AU" sz="2300" dirty="0"/>
              <a:t>The average 70 kg human has                                                 about 5 L of blood.</a:t>
            </a:r>
          </a:p>
          <a:p>
            <a:pPr marL="0" indent="0">
              <a:buNone/>
            </a:pPr>
            <a:endParaRPr lang="en-AU" sz="2300" dirty="0"/>
          </a:p>
          <a:p>
            <a:r>
              <a:rPr lang="en-AU" sz="2300" dirty="0"/>
              <a:t>Approximately 55% of the blood is liquid, called the </a:t>
            </a:r>
            <a:r>
              <a:rPr lang="en-AU" sz="2300" b="1" dirty="0"/>
              <a:t>plasma</a:t>
            </a:r>
            <a:r>
              <a:rPr lang="en-AU" sz="2300" dirty="0"/>
              <a:t>; the remaining 45% is composed of blood cells, including</a:t>
            </a:r>
            <a:r>
              <a:rPr lang="en-AU" sz="2300" b="1" dirty="0"/>
              <a:t> erythrocytes (red blood cells)</a:t>
            </a:r>
            <a:r>
              <a:rPr lang="en-AU" sz="2300" dirty="0"/>
              <a:t>, </a:t>
            </a:r>
            <a:r>
              <a:rPr lang="en-AU" sz="2300" b="1" dirty="0"/>
              <a:t>leucocytes (white blood cells) </a:t>
            </a:r>
            <a:r>
              <a:rPr lang="en-AU" sz="2300" dirty="0"/>
              <a:t>and </a:t>
            </a:r>
            <a:r>
              <a:rPr lang="en-AU" sz="2300" b="1" dirty="0"/>
              <a:t>platelets</a:t>
            </a:r>
            <a:r>
              <a:rPr lang="en-AU" sz="2300" dirty="0"/>
              <a:t>. </a:t>
            </a:r>
          </a:p>
          <a:p>
            <a:r>
              <a:rPr lang="en-AU" sz="2300" dirty="0"/>
              <a:t>The blood cells are considered to be a tissue because they are cells that work together for a common cause.    </a:t>
            </a:r>
          </a:p>
        </p:txBody>
      </p:sp>
      <p:pic>
        <p:nvPicPr>
          <p:cNvPr id="2050" name="Picture 2" descr="http://0101.nccdn.net/1_5/162/00b/358/BloodViscosity.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40046" y="260648"/>
            <a:ext cx="3252434" cy="244030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4878550F-F2AD-175C-7A7E-D23732B97237}"/>
              </a:ext>
            </a:extLst>
          </p:cNvPr>
          <p:cNvPicPr>
            <a:picLocks noChangeAspect="1"/>
          </p:cNvPicPr>
          <p:nvPr/>
        </p:nvPicPr>
        <p:blipFill>
          <a:blip r:embed="rId3"/>
          <a:stretch>
            <a:fillRect/>
          </a:stretch>
        </p:blipFill>
        <p:spPr>
          <a:xfrm>
            <a:off x="6518481" y="3140968"/>
            <a:ext cx="2373999" cy="3088183"/>
          </a:xfrm>
          <a:prstGeom prst="rect">
            <a:avLst/>
          </a:prstGeom>
        </p:spPr>
      </p:pic>
    </p:spTree>
    <p:extLst>
      <p:ext uri="{BB962C8B-B14F-4D97-AF65-F5344CB8AC3E}">
        <p14:creationId xmlns:p14="http://schemas.microsoft.com/office/powerpoint/2010/main" val="10567501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9632" y="509228"/>
            <a:ext cx="7200900" cy="1231032"/>
          </a:xfrm>
        </p:spPr>
        <p:txBody>
          <a:bodyPr/>
          <a:lstStyle/>
          <a:p>
            <a:r>
              <a:rPr lang="en-AU" dirty="0">
                <a:solidFill>
                  <a:srgbClr val="0070C0"/>
                </a:solidFill>
              </a:rPr>
              <a:t>Blood – Plasma</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66648" y="1916832"/>
            <a:ext cx="6179927" cy="3816424"/>
          </a:xfrm>
        </p:spPr>
      </p:pic>
    </p:spTree>
    <p:extLst>
      <p:ext uri="{BB962C8B-B14F-4D97-AF65-F5344CB8AC3E}">
        <p14:creationId xmlns:p14="http://schemas.microsoft.com/office/powerpoint/2010/main" val="41883181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600" y="602686"/>
            <a:ext cx="6624736" cy="1350150"/>
          </a:xfrm>
        </p:spPr>
        <p:txBody>
          <a:bodyPr/>
          <a:lstStyle/>
          <a:p>
            <a:r>
              <a:rPr lang="en-AU" dirty="0">
                <a:solidFill>
                  <a:srgbClr val="0070C0"/>
                </a:solidFill>
              </a:rPr>
              <a:t>Blood – Red Blood Cells</a:t>
            </a:r>
            <a:br>
              <a:rPr lang="en-AU" dirty="0">
                <a:solidFill>
                  <a:srgbClr val="0070C0"/>
                </a:solidFill>
              </a:rPr>
            </a:br>
            <a:r>
              <a:rPr lang="en-AU" dirty="0">
                <a:solidFill>
                  <a:srgbClr val="0070C0"/>
                </a:solidFill>
              </a:rPr>
              <a:t>              </a:t>
            </a:r>
            <a:r>
              <a:rPr lang="en-AU" sz="3600" dirty="0">
                <a:solidFill>
                  <a:srgbClr val="0070C0"/>
                </a:solidFill>
              </a:rPr>
              <a:t>(Erythrocytes)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75656" y="2253225"/>
            <a:ext cx="5890412" cy="3807296"/>
          </a:xfrm>
        </p:spPr>
      </p:pic>
      <p:pic>
        <p:nvPicPr>
          <p:cNvPr id="5" name="Picture 4">
            <a:extLst>
              <a:ext uri="{FF2B5EF4-FFF2-40B4-BE49-F238E27FC236}">
                <a16:creationId xmlns:a16="http://schemas.microsoft.com/office/drawing/2014/main" id="{9F919476-3EDD-C3DC-D722-92411F1EDBCD}"/>
              </a:ext>
            </a:extLst>
          </p:cNvPr>
          <p:cNvPicPr>
            <a:picLocks noChangeAspect="1"/>
          </p:cNvPicPr>
          <p:nvPr/>
        </p:nvPicPr>
        <p:blipFill>
          <a:blip r:embed="rId3"/>
          <a:stretch>
            <a:fillRect/>
          </a:stretch>
        </p:blipFill>
        <p:spPr>
          <a:xfrm>
            <a:off x="6876256" y="467671"/>
            <a:ext cx="2088232" cy="1620180"/>
          </a:xfrm>
          <a:prstGeom prst="rect">
            <a:avLst/>
          </a:prstGeom>
        </p:spPr>
      </p:pic>
    </p:spTree>
    <p:extLst>
      <p:ext uri="{BB962C8B-B14F-4D97-AF65-F5344CB8AC3E}">
        <p14:creationId xmlns:p14="http://schemas.microsoft.com/office/powerpoint/2010/main" val="26825619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9632" y="172055"/>
            <a:ext cx="7200900" cy="1485900"/>
          </a:xfrm>
        </p:spPr>
        <p:txBody>
          <a:bodyPr/>
          <a:lstStyle/>
          <a:p>
            <a:r>
              <a:rPr lang="en-AU" dirty="0">
                <a:solidFill>
                  <a:srgbClr val="0070C0"/>
                </a:solidFill>
              </a:rPr>
              <a:t>Blood – White Blood Cells</a:t>
            </a:r>
            <a:br>
              <a:rPr lang="en-AU" dirty="0">
                <a:solidFill>
                  <a:srgbClr val="0070C0"/>
                </a:solidFill>
              </a:rPr>
            </a:br>
            <a:r>
              <a:rPr lang="en-AU" dirty="0">
                <a:solidFill>
                  <a:srgbClr val="0070C0"/>
                </a:solidFill>
              </a:rPr>
              <a:t>              </a:t>
            </a:r>
            <a:r>
              <a:rPr lang="en-AU" sz="3600" dirty="0">
                <a:solidFill>
                  <a:srgbClr val="0070C0"/>
                </a:solidFill>
              </a:rPr>
              <a:t>(Leukocytes)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99592" y="1657955"/>
            <a:ext cx="5836134" cy="3816424"/>
          </a:xfrm>
        </p:spPr>
      </p:pic>
      <p:pic>
        <p:nvPicPr>
          <p:cNvPr id="5" name="Picture 4">
            <a:extLst>
              <a:ext uri="{FF2B5EF4-FFF2-40B4-BE49-F238E27FC236}">
                <a16:creationId xmlns:a16="http://schemas.microsoft.com/office/drawing/2014/main" id="{5269116E-21BD-C291-3120-E5E071E76B14}"/>
              </a:ext>
            </a:extLst>
          </p:cNvPr>
          <p:cNvPicPr>
            <a:picLocks noChangeAspect="1"/>
          </p:cNvPicPr>
          <p:nvPr/>
        </p:nvPicPr>
        <p:blipFill>
          <a:blip r:embed="rId3"/>
          <a:stretch>
            <a:fillRect/>
          </a:stretch>
        </p:blipFill>
        <p:spPr>
          <a:xfrm>
            <a:off x="6659440" y="4847451"/>
            <a:ext cx="2438400" cy="1733550"/>
          </a:xfrm>
          <a:prstGeom prst="rect">
            <a:avLst/>
          </a:prstGeom>
        </p:spPr>
      </p:pic>
      <p:sp>
        <p:nvSpPr>
          <p:cNvPr id="6" name="TextBox 5">
            <a:extLst>
              <a:ext uri="{FF2B5EF4-FFF2-40B4-BE49-F238E27FC236}">
                <a16:creationId xmlns:a16="http://schemas.microsoft.com/office/drawing/2014/main" id="{D94C5239-4B47-C8F4-FEFD-921885B6FB8D}"/>
              </a:ext>
            </a:extLst>
          </p:cNvPr>
          <p:cNvSpPr txBox="1"/>
          <p:nvPr/>
        </p:nvSpPr>
        <p:spPr>
          <a:xfrm>
            <a:off x="6831969" y="6581001"/>
            <a:ext cx="2232248" cy="276999"/>
          </a:xfrm>
          <a:prstGeom prst="rect">
            <a:avLst/>
          </a:prstGeom>
          <a:noFill/>
        </p:spPr>
        <p:txBody>
          <a:bodyPr wrap="square" rtlCol="0">
            <a:spAutoFit/>
          </a:bodyPr>
          <a:lstStyle/>
          <a:p>
            <a:r>
              <a:rPr lang="en-AU" sz="1200" dirty="0">
                <a:solidFill>
                  <a:srgbClr val="002060"/>
                </a:solidFill>
              </a:rPr>
              <a:t>Macrophage engulfing bacteria</a:t>
            </a:r>
          </a:p>
        </p:txBody>
      </p:sp>
    </p:spTree>
    <p:extLst>
      <p:ext uri="{BB962C8B-B14F-4D97-AF65-F5344CB8AC3E}">
        <p14:creationId xmlns:p14="http://schemas.microsoft.com/office/powerpoint/2010/main" val="24266770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341311"/>
            <a:ext cx="7200900" cy="943000"/>
          </a:xfrm>
        </p:spPr>
        <p:txBody>
          <a:bodyPr/>
          <a:lstStyle/>
          <a:p>
            <a:r>
              <a:rPr lang="en-AU" dirty="0">
                <a:solidFill>
                  <a:srgbClr val="0070C0"/>
                </a:solidFill>
              </a:rPr>
              <a:t>Blood - Platelets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31640" y="1556792"/>
            <a:ext cx="6371830" cy="4032448"/>
          </a:xfrm>
        </p:spPr>
      </p:pic>
    </p:spTree>
    <p:extLst>
      <p:ext uri="{BB962C8B-B14F-4D97-AF65-F5344CB8AC3E}">
        <p14:creationId xmlns:p14="http://schemas.microsoft.com/office/powerpoint/2010/main" val="16161805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358924"/>
            <a:ext cx="7200900" cy="981844"/>
          </a:xfrm>
        </p:spPr>
        <p:txBody>
          <a:bodyPr/>
          <a:lstStyle/>
          <a:p>
            <a:r>
              <a:rPr lang="en-AU" dirty="0">
                <a:solidFill>
                  <a:srgbClr val="0070C0"/>
                </a:solidFill>
              </a:rPr>
              <a:t>Mammalian Circulation</a:t>
            </a:r>
          </a:p>
        </p:txBody>
      </p:sp>
      <p:sp>
        <p:nvSpPr>
          <p:cNvPr id="3" name="Content Placeholder 2"/>
          <p:cNvSpPr>
            <a:spLocks noGrp="1"/>
          </p:cNvSpPr>
          <p:nvPr>
            <p:ph idx="1"/>
          </p:nvPr>
        </p:nvSpPr>
        <p:spPr>
          <a:xfrm>
            <a:off x="827584" y="1340768"/>
            <a:ext cx="7931224" cy="1296144"/>
          </a:xfrm>
        </p:spPr>
        <p:txBody>
          <a:bodyPr>
            <a:normAutofit/>
          </a:bodyPr>
          <a:lstStyle/>
          <a:p>
            <a:r>
              <a:rPr lang="en-AU" dirty="0"/>
              <a:t>The heart, blood vessels and blood all work together to circulate the required materials around the body.</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5736" y="2227144"/>
            <a:ext cx="5256584" cy="4276862"/>
          </a:xfrm>
          <a:prstGeom prst="rect">
            <a:avLst/>
          </a:prstGeom>
        </p:spPr>
      </p:pic>
    </p:spTree>
    <p:extLst>
      <p:ext uri="{BB962C8B-B14F-4D97-AF65-F5344CB8AC3E}">
        <p14:creationId xmlns:p14="http://schemas.microsoft.com/office/powerpoint/2010/main" val="21187108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0738" y="332656"/>
            <a:ext cx="7200900" cy="1485900"/>
          </a:xfrm>
        </p:spPr>
        <p:txBody>
          <a:bodyPr/>
          <a:lstStyle/>
          <a:p>
            <a:r>
              <a:rPr lang="en-AU" dirty="0">
                <a:solidFill>
                  <a:srgbClr val="0070C0"/>
                </a:solidFill>
              </a:rPr>
              <a:t>Mammalian Circulation</a:t>
            </a:r>
          </a:p>
        </p:txBody>
      </p:sp>
      <p:sp>
        <p:nvSpPr>
          <p:cNvPr id="3" name="Content Placeholder 2"/>
          <p:cNvSpPr>
            <a:spLocks noGrp="1"/>
          </p:cNvSpPr>
          <p:nvPr>
            <p:ph idx="1"/>
          </p:nvPr>
        </p:nvSpPr>
        <p:spPr>
          <a:xfrm>
            <a:off x="869496" y="1340768"/>
            <a:ext cx="7931224" cy="4898016"/>
          </a:xfrm>
        </p:spPr>
        <p:txBody>
          <a:bodyPr/>
          <a:lstStyle/>
          <a:p>
            <a:r>
              <a:rPr lang="en-AU" dirty="0"/>
              <a:t>There are </a:t>
            </a:r>
            <a:r>
              <a:rPr lang="en-AU" b="1" dirty="0"/>
              <a:t>two circulation loops </a:t>
            </a:r>
            <a:r>
              <a:rPr lang="en-AU" dirty="0"/>
              <a:t>– one </a:t>
            </a:r>
            <a:r>
              <a:rPr lang="en-AU" b="1" dirty="0"/>
              <a:t>pulmonary</a:t>
            </a:r>
            <a:r>
              <a:rPr lang="en-AU" dirty="0"/>
              <a:t> to the lungs and one </a:t>
            </a:r>
            <a:r>
              <a:rPr lang="en-AU" b="1" dirty="0"/>
              <a:t>systemic</a:t>
            </a:r>
            <a:r>
              <a:rPr lang="en-AU" dirty="0"/>
              <a:t> to the rest of the body</a:t>
            </a:r>
          </a:p>
        </p:txBody>
      </p:sp>
      <p:pic>
        <p:nvPicPr>
          <p:cNvPr id="4"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1680" y="2420888"/>
            <a:ext cx="6219228" cy="3504049"/>
          </a:xfrm>
          <a:prstGeom prst="rect">
            <a:avLst/>
          </a:prstGeom>
        </p:spPr>
      </p:pic>
    </p:spTree>
    <p:extLst>
      <p:ext uri="{BB962C8B-B14F-4D97-AF65-F5344CB8AC3E}">
        <p14:creationId xmlns:p14="http://schemas.microsoft.com/office/powerpoint/2010/main" val="26417553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7488" y="260648"/>
            <a:ext cx="7872984" cy="915540"/>
          </a:xfrm>
        </p:spPr>
        <p:txBody>
          <a:bodyPr>
            <a:normAutofit/>
          </a:bodyPr>
          <a:lstStyle/>
          <a:p>
            <a:r>
              <a:rPr lang="en-AU" sz="3800" dirty="0">
                <a:solidFill>
                  <a:srgbClr val="0070C0"/>
                </a:solidFill>
              </a:rPr>
              <a:t>Steps in Mammalian Circulation</a:t>
            </a:r>
          </a:p>
        </p:txBody>
      </p:sp>
      <p:sp>
        <p:nvSpPr>
          <p:cNvPr id="3" name="Content Placeholder 2"/>
          <p:cNvSpPr>
            <a:spLocks noGrp="1"/>
          </p:cNvSpPr>
          <p:nvPr>
            <p:ph idx="1"/>
          </p:nvPr>
        </p:nvSpPr>
        <p:spPr>
          <a:xfrm>
            <a:off x="791580" y="1844824"/>
            <a:ext cx="7560840" cy="4752528"/>
          </a:xfrm>
        </p:spPr>
        <p:txBody>
          <a:bodyPr>
            <a:normAutofit fontScale="92500" lnSpcReduction="10000"/>
          </a:bodyPr>
          <a:lstStyle/>
          <a:p>
            <a:pPr marL="578358" indent="-514350">
              <a:buFont typeface="+mj-lt"/>
              <a:buAutoNum type="arabicPeriod"/>
            </a:pPr>
            <a:r>
              <a:rPr lang="en-AU" sz="2600" dirty="0"/>
              <a:t>Deoxygenated blood                                             enters the right                                                      atrium, via the                                                           </a:t>
            </a:r>
            <a:r>
              <a:rPr lang="en-AU" sz="2600" b="1" dirty="0"/>
              <a:t>vena cava</a:t>
            </a:r>
            <a:r>
              <a:rPr lang="en-AU" sz="2600" dirty="0"/>
              <a:t>, from the                                               systemic loop                                                          (coming from the                                                                        body system) of                                                              blood and passes into the right ventricle.</a:t>
            </a:r>
          </a:p>
          <a:p>
            <a:pPr marL="578358" indent="-514350">
              <a:buFont typeface="+mj-lt"/>
              <a:buAutoNum type="arabicPeriod"/>
            </a:pPr>
            <a:r>
              <a:rPr lang="en-AU" sz="2600" dirty="0"/>
              <a:t>Right atrium contracts and pumps blood into right ventricle.</a:t>
            </a:r>
          </a:p>
          <a:p>
            <a:pPr marL="578358" indent="-514350">
              <a:buFont typeface="+mj-lt"/>
              <a:buAutoNum type="arabicPeriod"/>
            </a:pPr>
            <a:r>
              <a:rPr lang="en-AU" sz="2600" dirty="0"/>
              <a:t>When the right ventricle contracts, blood is forced into the pulmonary artery, which leads to the lungs (pulmonary loop). This is called </a:t>
            </a:r>
            <a:r>
              <a:rPr lang="en-AU" sz="2600" b="1" dirty="0"/>
              <a:t>pulmonary circulation</a:t>
            </a:r>
            <a:r>
              <a:rPr lang="en-AU" sz="2600" dirty="0"/>
              <a:t>.</a:t>
            </a:r>
          </a:p>
          <a:p>
            <a:endParaRPr lang="en-AU"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76" y="980728"/>
            <a:ext cx="4612391" cy="2952328"/>
          </a:xfrm>
          <a:prstGeom prst="rect">
            <a:avLst/>
          </a:prstGeom>
        </p:spPr>
      </p:pic>
    </p:spTree>
    <p:extLst>
      <p:ext uri="{BB962C8B-B14F-4D97-AF65-F5344CB8AC3E}">
        <p14:creationId xmlns:p14="http://schemas.microsoft.com/office/powerpoint/2010/main" val="29314080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4734" y="116632"/>
            <a:ext cx="7200900" cy="1485900"/>
          </a:xfrm>
        </p:spPr>
        <p:txBody>
          <a:bodyPr>
            <a:normAutofit/>
          </a:bodyPr>
          <a:lstStyle/>
          <a:p>
            <a:r>
              <a:rPr lang="en-AU" sz="3800" dirty="0">
                <a:solidFill>
                  <a:srgbClr val="0070C0"/>
                </a:solidFill>
              </a:rPr>
              <a:t>Steps in Mammalian Circulation</a:t>
            </a:r>
          </a:p>
        </p:txBody>
      </p:sp>
      <p:sp>
        <p:nvSpPr>
          <p:cNvPr id="3" name="Content Placeholder 2"/>
          <p:cNvSpPr>
            <a:spLocks noGrp="1"/>
          </p:cNvSpPr>
          <p:nvPr>
            <p:ph idx="1"/>
          </p:nvPr>
        </p:nvSpPr>
        <p:spPr>
          <a:xfrm>
            <a:off x="683568" y="1882808"/>
            <a:ext cx="8003232" cy="4426512"/>
          </a:xfrm>
        </p:spPr>
        <p:txBody>
          <a:bodyPr>
            <a:normAutofit fontScale="70000" lnSpcReduction="20000"/>
          </a:bodyPr>
          <a:lstStyle/>
          <a:p>
            <a:pPr marL="578358" indent="-514350">
              <a:buFont typeface="+mj-lt"/>
              <a:buAutoNum type="arabicPeriod" startAt="4"/>
            </a:pPr>
            <a:r>
              <a:rPr lang="en-AU" sz="2800" dirty="0"/>
              <a:t>In the lungs,                                                                                           oxygen diffuses                                                                                           into the blood                                                                                          and carbon                                                                                      dioxide passes                                                                                    out into the air in                                                                                    the lungs. </a:t>
            </a:r>
          </a:p>
          <a:p>
            <a:pPr marL="578358" indent="-514350">
              <a:buFont typeface="+mj-lt"/>
              <a:buAutoNum type="arabicPeriod" startAt="4"/>
            </a:pPr>
            <a:r>
              <a:rPr lang="en-AU" sz="2800" dirty="0"/>
              <a:t>The now oxygen-rich                                                                             or oxygenated blood                                                                          passes back into the                                                                           heart via the                                                                                     </a:t>
            </a:r>
            <a:r>
              <a:rPr lang="en-AU" sz="2800" b="1" dirty="0"/>
              <a:t>pulmonary veins</a:t>
            </a:r>
            <a:r>
              <a:rPr lang="en-AU" sz="2800" dirty="0"/>
              <a:t> and into the left atrium.</a:t>
            </a:r>
          </a:p>
          <a:p>
            <a:pPr marL="578358" indent="-514350">
              <a:buFont typeface="+mj-lt"/>
              <a:buAutoNum type="arabicPeriod" startAt="4"/>
            </a:pPr>
            <a:r>
              <a:rPr lang="en-AU" sz="2800" dirty="0"/>
              <a:t>The left atrium contracts and pumps blood into the left ventricle. </a:t>
            </a:r>
          </a:p>
          <a:p>
            <a:pPr marL="578358" indent="-514350">
              <a:buFont typeface="+mj-lt"/>
              <a:buAutoNum type="arabicPeriod" startAt="4"/>
            </a:pPr>
            <a:r>
              <a:rPr lang="en-AU" sz="2800" dirty="0"/>
              <a:t>When this ventricle contracts, the blood is forced into the </a:t>
            </a:r>
            <a:r>
              <a:rPr lang="en-AU" sz="2800" b="1" dirty="0"/>
              <a:t>aorta</a:t>
            </a:r>
            <a:r>
              <a:rPr lang="en-AU" sz="2800" dirty="0"/>
              <a:t>, the largest artery, which, through its many branches, takes blood to all parts of the body. This is called </a:t>
            </a:r>
            <a:r>
              <a:rPr lang="en-AU" sz="2800" b="1" dirty="0"/>
              <a:t>systemic circulation</a:t>
            </a:r>
            <a:r>
              <a:rPr lang="en-AU" sz="2800" dirty="0"/>
              <a:t>. </a:t>
            </a:r>
          </a:p>
          <a:p>
            <a:endParaRPr lang="en-AU" dirty="0"/>
          </a:p>
        </p:txBody>
      </p:sp>
      <p:pic>
        <p:nvPicPr>
          <p:cNvPr id="4" name="Picture 3"/>
          <p:cNvPicPr>
            <a:picLocks noChangeAspect="1"/>
          </p:cNvPicPr>
          <p:nvPr/>
        </p:nvPicPr>
        <p:blipFill rotWithShape="1">
          <a:blip r:embed="rId2"/>
          <a:srcRect l="3448" r="1724"/>
          <a:stretch/>
        </p:blipFill>
        <p:spPr>
          <a:xfrm>
            <a:off x="3830848" y="836712"/>
            <a:ext cx="5171688" cy="3562521"/>
          </a:xfrm>
          <a:prstGeom prst="rect">
            <a:avLst/>
          </a:prstGeom>
        </p:spPr>
      </p:pic>
    </p:spTree>
    <p:extLst>
      <p:ext uri="{BB962C8B-B14F-4D97-AF65-F5344CB8AC3E}">
        <p14:creationId xmlns:p14="http://schemas.microsoft.com/office/powerpoint/2010/main" val="24759192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396908"/>
            <a:ext cx="7488882" cy="1087876"/>
          </a:xfrm>
        </p:spPr>
        <p:txBody>
          <a:bodyPr>
            <a:normAutofit/>
          </a:bodyPr>
          <a:lstStyle/>
          <a:p>
            <a:r>
              <a:rPr lang="en-AU" sz="4000" dirty="0">
                <a:solidFill>
                  <a:srgbClr val="0070C0"/>
                </a:solidFill>
              </a:rPr>
              <a:t>Steps in Mammalian Circulation</a:t>
            </a:r>
          </a:p>
        </p:txBody>
      </p:sp>
      <p:sp>
        <p:nvSpPr>
          <p:cNvPr id="3" name="Content Placeholder 2"/>
          <p:cNvSpPr>
            <a:spLocks noGrp="1"/>
          </p:cNvSpPr>
          <p:nvPr>
            <p:ph idx="1"/>
          </p:nvPr>
        </p:nvSpPr>
        <p:spPr>
          <a:xfrm>
            <a:off x="3131840" y="1539044"/>
            <a:ext cx="5698976" cy="4572000"/>
          </a:xfrm>
        </p:spPr>
        <p:txBody>
          <a:bodyPr>
            <a:normAutofit fontScale="85000" lnSpcReduction="20000"/>
          </a:bodyPr>
          <a:lstStyle/>
          <a:p>
            <a:r>
              <a:rPr lang="en-AU" sz="2800" dirty="0"/>
              <a:t>The blood is kept flowing in one direction in the heart by the presence of four valves.</a:t>
            </a:r>
          </a:p>
          <a:p>
            <a:r>
              <a:rPr lang="en-AU" sz="2800" dirty="0"/>
              <a:t>The two ventricles contract at the same time and the atria contract at the same time, but the ventricles and atria contract at different times. </a:t>
            </a:r>
          </a:p>
          <a:p>
            <a:r>
              <a:rPr lang="en-AU" sz="2800" dirty="0"/>
              <a:t>The </a:t>
            </a:r>
            <a:r>
              <a:rPr lang="en-AU" sz="2800" b="1" dirty="0"/>
              <a:t>septum </a:t>
            </a:r>
            <a:r>
              <a:rPr lang="en-AU" sz="2800" dirty="0"/>
              <a:t>keeps the deoxygenated blood on the right side of the heart from mixing with the oxygenated blood on the left side.</a:t>
            </a:r>
          </a:p>
          <a:p>
            <a:r>
              <a:rPr lang="en-AU" sz="2800" dirty="0"/>
              <a:t>Video animation of blood flow through the heart </a:t>
            </a:r>
            <a:r>
              <a:rPr lang="en-AU" sz="2100" dirty="0">
                <a:solidFill>
                  <a:srgbClr val="FE8002"/>
                </a:solidFill>
              </a:rPr>
              <a:t>https://www.youtube.com/watch?v=JA0Wb3gc4mE</a:t>
            </a:r>
            <a:endParaRPr lang="en-AU" sz="2800" dirty="0"/>
          </a:p>
        </p:txBody>
      </p:sp>
      <p:pic>
        <p:nvPicPr>
          <p:cNvPr id="3074" name="Picture 2" descr="http://www.fairview.org/fv/groups/public/documents/images/10452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2176616"/>
            <a:ext cx="2825768" cy="2664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35068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85" name="Rectangle 9"/>
          <p:cNvSpPr>
            <a:spLocks noGrp="1" noChangeArrowheads="1"/>
          </p:cNvSpPr>
          <p:nvPr>
            <p:ph type="title"/>
          </p:nvPr>
        </p:nvSpPr>
        <p:spPr>
          <a:xfrm>
            <a:off x="1085514" y="246784"/>
            <a:ext cx="7200900" cy="945317"/>
          </a:xfrm>
        </p:spPr>
        <p:txBody>
          <a:bodyPr/>
          <a:lstStyle/>
          <a:p>
            <a:r>
              <a:rPr lang="en-US" dirty="0">
                <a:solidFill>
                  <a:srgbClr val="0070C0"/>
                </a:solidFill>
              </a:rPr>
              <a:t>Cardiac Cycle</a:t>
            </a:r>
          </a:p>
        </p:txBody>
      </p:sp>
      <p:sp>
        <p:nvSpPr>
          <p:cNvPr id="408586" name="Rectangle 10" descr="Rectangle: Click to edit Master text styles&#10;Second level&#10;Third level&#10;Fourth level&#10;Fifth level"/>
          <p:cNvSpPr>
            <a:spLocks noGrp="1" noChangeArrowheads="1"/>
          </p:cNvSpPr>
          <p:nvPr>
            <p:ph idx="1"/>
          </p:nvPr>
        </p:nvSpPr>
        <p:spPr>
          <a:xfrm>
            <a:off x="1115616" y="1301684"/>
            <a:ext cx="7658100" cy="2088232"/>
          </a:xfrm>
        </p:spPr>
        <p:txBody>
          <a:bodyPr>
            <a:normAutofit fontScale="92500" lnSpcReduction="10000"/>
          </a:bodyPr>
          <a:lstStyle/>
          <a:p>
            <a:r>
              <a:rPr lang="en-US" dirty="0"/>
              <a:t>One complete sequence of pumping of the heart is called the </a:t>
            </a:r>
            <a:r>
              <a:rPr lang="en-US" b="1" dirty="0"/>
              <a:t>cardiac cycle</a:t>
            </a:r>
            <a:r>
              <a:rPr lang="en-US" dirty="0"/>
              <a:t>.</a:t>
            </a:r>
          </a:p>
          <a:p>
            <a:pPr lvl="1"/>
            <a:r>
              <a:rPr lang="en-US" dirty="0"/>
              <a:t>heart contracts &amp; pumps</a:t>
            </a:r>
          </a:p>
          <a:p>
            <a:pPr lvl="1"/>
            <a:r>
              <a:rPr lang="en-US" dirty="0"/>
              <a:t>heart relaxes &amp; chambers fill </a:t>
            </a:r>
          </a:p>
          <a:p>
            <a:r>
              <a:rPr lang="en-US" dirty="0"/>
              <a:t>Contraction phase is called </a:t>
            </a:r>
            <a:r>
              <a:rPr lang="en-US" b="1" dirty="0"/>
              <a:t>systole</a:t>
            </a:r>
            <a:r>
              <a:rPr lang="en-US" dirty="0"/>
              <a:t>. </a:t>
            </a:r>
          </a:p>
          <a:p>
            <a:r>
              <a:rPr lang="en-US" dirty="0"/>
              <a:t>Relaxation phase is called </a:t>
            </a:r>
            <a:r>
              <a:rPr lang="en-US" b="1" dirty="0"/>
              <a:t>diastole</a:t>
            </a:r>
            <a:r>
              <a:rPr lang="en-US" dirty="0"/>
              <a:t>.  </a:t>
            </a:r>
          </a:p>
        </p:txBody>
      </p:sp>
      <p:pic>
        <p:nvPicPr>
          <p:cNvPr id="4098" name="Picture 2" descr="http://wps.prenhall.com/wps/media/objects/3020/3092719/cyk/fg25_0060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33202" y="3521029"/>
            <a:ext cx="6105523" cy="286029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2195736" y="6381328"/>
            <a:ext cx="6033864" cy="369332"/>
          </a:xfrm>
          <a:prstGeom prst="rect">
            <a:avLst/>
          </a:prstGeom>
          <a:noFill/>
        </p:spPr>
        <p:txBody>
          <a:bodyPr wrap="square" rtlCol="0">
            <a:spAutoFit/>
          </a:bodyPr>
          <a:lstStyle/>
          <a:p>
            <a:r>
              <a:rPr lang="en-AU" dirty="0">
                <a:solidFill>
                  <a:srgbClr val="FE8002"/>
                </a:solidFill>
              </a:rPr>
              <a:t>https://www.youtube.com/watch?v=o3UA-bTbWDc</a:t>
            </a:r>
          </a:p>
        </p:txBody>
      </p:sp>
    </p:spTree>
    <p:extLst>
      <p:ext uri="{BB962C8B-B14F-4D97-AF65-F5344CB8AC3E}">
        <p14:creationId xmlns:p14="http://schemas.microsoft.com/office/powerpoint/2010/main" val="20302049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57049" y="285668"/>
            <a:ext cx="4207439" cy="1399032"/>
          </a:xfrm>
        </p:spPr>
        <p:txBody>
          <a:bodyPr>
            <a:normAutofit/>
          </a:bodyPr>
          <a:lstStyle/>
          <a:p>
            <a:r>
              <a:rPr lang="en-AU" dirty="0">
                <a:solidFill>
                  <a:srgbClr val="0070C0"/>
                </a:solidFill>
              </a:rPr>
              <a:t>Blood Delivery - Aorta</a:t>
            </a:r>
          </a:p>
        </p:txBody>
      </p:sp>
      <p:sp>
        <p:nvSpPr>
          <p:cNvPr id="3" name="Content Placeholder 2"/>
          <p:cNvSpPr>
            <a:spLocks noGrp="1"/>
          </p:cNvSpPr>
          <p:nvPr>
            <p:ph idx="1"/>
          </p:nvPr>
        </p:nvSpPr>
        <p:spPr>
          <a:xfrm>
            <a:off x="4582136" y="1844824"/>
            <a:ext cx="4258816" cy="3922456"/>
          </a:xfrm>
        </p:spPr>
        <p:txBody>
          <a:bodyPr>
            <a:normAutofit/>
          </a:bodyPr>
          <a:lstStyle/>
          <a:p>
            <a:r>
              <a:rPr lang="en-AU" dirty="0"/>
              <a:t>Oxygenated blood leaving the heart in the aorta is sent to all parts of the body.  </a:t>
            </a:r>
          </a:p>
          <a:p>
            <a:r>
              <a:rPr lang="en-AU" dirty="0"/>
              <a:t>The aorta divides and branches off into numerous smaller arteries and arterioles.</a:t>
            </a:r>
          </a:p>
          <a:p>
            <a:r>
              <a:rPr lang="en-AU" dirty="0"/>
              <a:t>Eventually all the branches deliver blood to every body cell at the capillary level.</a:t>
            </a:r>
          </a:p>
        </p:txBody>
      </p:sp>
      <p:pic>
        <p:nvPicPr>
          <p:cNvPr id="1026" name="Picture 2" descr="http://www.taylorillustration.com/s/cc_images/cache_3296362004.jpg?t=134262786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251242"/>
            <a:ext cx="4176464" cy="64584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02007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204" name="Rectangle 24"/>
          <p:cNvSpPr>
            <a:spLocks noGrp="1" noChangeArrowheads="1"/>
          </p:cNvSpPr>
          <p:nvPr>
            <p:ph type="title"/>
          </p:nvPr>
        </p:nvSpPr>
        <p:spPr>
          <a:xfrm>
            <a:off x="796040" y="331071"/>
            <a:ext cx="8229600" cy="1399032"/>
          </a:xfrm>
        </p:spPr>
        <p:txBody>
          <a:bodyPr>
            <a:normAutofit/>
          </a:bodyPr>
          <a:lstStyle/>
          <a:p>
            <a:r>
              <a:rPr lang="en-US" sz="4200" dirty="0">
                <a:solidFill>
                  <a:srgbClr val="0070C0"/>
                </a:solidFill>
              </a:rPr>
              <a:t>Exchanges in </a:t>
            </a:r>
            <a:br>
              <a:rPr lang="en-US" sz="4200" dirty="0">
                <a:solidFill>
                  <a:srgbClr val="0070C0"/>
                </a:solidFill>
              </a:rPr>
            </a:br>
            <a:r>
              <a:rPr lang="en-US" sz="4200" dirty="0">
                <a:solidFill>
                  <a:srgbClr val="0070C0"/>
                </a:solidFill>
              </a:rPr>
              <a:t>the Capillaries</a:t>
            </a:r>
          </a:p>
        </p:txBody>
      </p:sp>
      <p:sp>
        <p:nvSpPr>
          <p:cNvPr id="36866" name="Rectangle 2"/>
          <p:cNvSpPr>
            <a:spLocks noGrp="1" noChangeArrowheads="1"/>
          </p:cNvSpPr>
          <p:nvPr>
            <p:ph idx="1"/>
          </p:nvPr>
        </p:nvSpPr>
        <p:spPr>
          <a:xfrm>
            <a:off x="796040" y="1772816"/>
            <a:ext cx="3820608" cy="4681992"/>
          </a:xfrm>
        </p:spPr>
        <p:txBody>
          <a:bodyPr>
            <a:normAutofit/>
          </a:bodyPr>
          <a:lstStyle/>
          <a:p>
            <a:r>
              <a:rPr lang="en-US" dirty="0"/>
              <a:t>Once the blood has reached the capillaries, fluid leaks from capillaries through small gaps where cells join.</a:t>
            </a:r>
          </a:p>
          <a:p>
            <a:r>
              <a:rPr lang="en-US" dirty="0"/>
              <a:t>The fluid (called tissue fluid) bathes the tissues supplying nutrients and oxygen.</a:t>
            </a:r>
          </a:p>
          <a:p>
            <a:r>
              <a:rPr lang="en-US" dirty="0"/>
              <a:t>No cell is more than 25 µm away from a capillary. </a:t>
            </a:r>
          </a:p>
          <a:p>
            <a:r>
              <a:rPr lang="en-US" dirty="0"/>
              <a:t>Capillary walls are thin enough to allow all the exchanges of materials between tissue and blood cells to take place.</a:t>
            </a:r>
          </a:p>
        </p:txBody>
      </p:sp>
      <p:pic>
        <p:nvPicPr>
          <p:cNvPr id="3686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36281" y="3375422"/>
            <a:ext cx="80367" cy="116086"/>
          </a:xfrm>
          <a:prstGeom prst="rect">
            <a:avLst/>
          </a:prstGeom>
          <a:noFill/>
          <a:ln>
            <a:noFill/>
          </a:ln>
          <a:effectLst>
            <a:outerShdw blurRad="190500" dist="190499" dir="2700000" algn="ctr" rotWithShape="0">
              <a:schemeClr val="bg2">
                <a:alpha val="50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136197"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45472" y="335980"/>
            <a:ext cx="4307458" cy="5688211"/>
          </a:xfrm>
          <a:prstGeom prst="rect">
            <a:avLst/>
          </a:prstGeom>
          <a:noFill/>
          <a:ln w="25400">
            <a:solidFill>
              <a:srgbClr val="FFFFFF"/>
            </a:solidFill>
            <a:miter lim="800000"/>
            <a:headEnd/>
            <a:tailEnd/>
          </a:ln>
          <a:extLst>
            <a:ext uri="{909E8E84-426E-40DD-AFC4-6F175D3DCCD1}">
              <a14:hiddenFill xmlns:a14="http://schemas.microsoft.com/office/drawing/2010/main">
                <a:solidFill>
                  <a:srgbClr val="FFFFFF"/>
                </a:solidFill>
              </a14:hiddenFill>
            </a:ext>
          </a:extLst>
        </p:spPr>
      </p:pic>
      <p:grpSp>
        <p:nvGrpSpPr>
          <p:cNvPr id="2" name="Group 9"/>
          <p:cNvGrpSpPr>
            <a:grpSpLocks/>
          </p:cNvGrpSpPr>
          <p:nvPr/>
        </p:nvGrpSpPr>
        <p:grpSpPr bwMode="auto">
          <a:xfrm>
            <a:off x="6902648" y="669727"/>
            <a:ext cx="1544836" cy="3479229"/>
            <a:chOff x="0" y="0"/>
            <a:chExt cx="1384" cy="3117"/>
          </a:xfrm>
        </p:grpSpPr>
        <p:grpSp>
          <p:nvGrpSpPr>
            <p:cNvPr id="136214" name="Group 7"/>
            <p:cNvGrpSpPr>
              <a:grpSpLocks/>
            </p:cNvGrpSpPr>
            <p:nvPr/>
          </p:nvGrpSpPr>
          <p:grpSpPr bwMode="auto">
            <a:xfrm>
              <a:off x="0" y="0"/>
              <a:ext cx="1384" cy="3117"/>
              <a:chOff x="0" y="0"/>
              <a:chExt cx="1384" cy="3117"/>
            </a:xfrm>
          </p:grpSpPr>
          <p:sp>
            <p:nvSpPr>
              <p:cNvPr id="136216" name="Rectangle 5"/>
              <p:cNvSpPr>
                <a:spLocks/>
              </p:cNvSpPr>
              <p:nvPr/>
            </p:nvSpPr>
            <p:spPr bwMode="auto">
              <a:xfrm>
                <a:off x="560" y="0"/>
                <a:ext cx="824" cy="160"/>
              </a:xfrm>
              <a:prstGeom prst="rect">
                <a:avLst/>
              </a:prstGeom>
              <a:solidFill>
                <a:schemeClr val="accent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p>
                <a:pPr marL="80364">
                  <a:tabLst>
                    <a:tab pos="366104" algn="l"/>
                  </a:tabLst>
                </a:pPr>
                <a:r>
                  <a:rPr lang="en-US" sz="1300">
                    <a:solidFill>
                      <a:srgbClr val="000000"/>
                    </a:solidFill>
                    <a:cs typeface="Arial" charset="0"/>
                  </a:rPr>
                  <a:t>Tissue cell</a:t>
                </a:r>
              </a:p>
            </p:txBody>
          </p:sp>
          <p:sp>
            <p:nvSpPr>
              <p:cNvPr id="136217" name="Rectangle 6"/>
              <p:cNvSpPr>
                <a:spLocks/>
              </p:cNvSpPr>
              <p:nvPr/>
            </p:nvSpPr>
            <p:spPr bwMode="auto">
              <a:xfrm>
                <a:off x="0" y="2912"/>
                <a:ext cx="815" cy="205"/>
              </a:xfrm>
              <a:prstGeom prst="rect">
                <a:avLst/>
              </a:prstGeom>
              <a:solidFill>
                <a:schemeClr val="accent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p>
                <a:pPr marL="80364">
                  <a:tabLst>
                    <a:tab pos="366104" algn="l"/>
                  </a:tabLst>
                </a:pPr>
                <a:r>
                  <a:rPr lang="en-US" sz="1300" dirty="0">
                    <a:solidFill>
                      <a:srgbClr val="000000"/>
                    </a:solidFill>
                    <a:cs typeface="Arial" charset="0"/>
                  </a:rPr>
                  <a:t>Capillary</a:t>
                </a:r>
              </a:p>
            </p:txBody>
          </p:sp>
        </p:grpSp>
        <p:sp>
          <p:nvSpPr>
            <p:cNvPr id="136215" name="Rectangle 8"/>
            <p:cNvSpPr>
              <a:spLocks/>
            </p:cNvSpPr>
            <p:nvPr/>
          </p:nvSpPr>
          <p:spPr bwMode="auto">
            <a:xfrm>
              <a:off x="944" y="1632"/>
              <a:ext cx="408" cy="160"/>
            </a:xfrm>
            <a:prstGeom prst="rect">
              <a:avLst/>
            </a:prstGeom>
            <a:solidFill>
              <a:schemeClr val="accent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p>
              <a:pPr marL="80364">
                <a:tabLst>
                  <a:tab pos="366104" algn="l"/>
                </a:tabLst>
              </a:pPr>
              <a:r>
                <a:rPr lang="en-US" sz="1300">
                  <a:solidFill>
                    <a:srgbClr val="005481"/>
                  </a:solidFill>
                  <a:cs typeface="Arial" charset="0"/>
                </a:rPr>
                <a:t>RBC</a:t>
              </a:r>
            </a:p>
          </p:txBody>
        </p:sp>
      </p:grpSp>
      <p:grpSp>
        <p:nvGrpSpPr>
          <p:cNvPr id="4" name="Group 13"/>
          <p:cNvGrpSpPr>
            <a:grpSpLocks/>
          </p:cNvGrpSpPr>
          <p:nvPr/>
        </p:nvGrpSpPr>
        <p:grpSpPr bwMode="auto">
          <a:xfrm>
            <a:off x="7775526" y="1499072"/>
            <a:ext cx="1091654" cy="4198069"/>
            <a:chOff x="0" y="0"/>
            <a:chExt cx="977" cy="3760"/>
          </a:xfrm>
        </p:grpSpPr>
        <p:sp>
          <p:nvSpPr>
            <p:cNvPr id="136211" name="Freeform 10"/>
            <p:cNvSpPr>
              <a:spLocks/>
            </p:cNvSpPr>
            <p:nvPr/>
          </p:nvSpPr>
          <p:spPr bwMode="auto">
            <a:xfrm>
              <a:off x="0" y="0"/>
              <a:ext cx="489" cy="620"/>
            </a:xfrm>
            <a:custGeom>
              <a:avLst/>
              <a:gdLst>
                <a:gd name="T0" fmla="*/ 0 w 21600"/>
                <a:gd name="T1" fmla="*/ 0 h 20954"/>
                <a:gd name="T2" fmla="*/ 0 w 21600"/>
                <a:gd name="T3" fmla="*/ 0 h 20954"/>
                <a:gd name="T4" fmla="*/ 0 60000 65536"/>
                <a:gd name="T5" fmla="*/ 0 60000 65536"/>
                <a:gd name="T6" fmla="*/ 0 w 21600"/>
                <a:gd name="T7" fmla="*/ 0 h 20954"/>
                <a:gd name="T8" fmla="*/ 21600 w 21600"/>
                <a:gd name="T9" fmla="*/ 20954 h 20954"/>
              </a:gdLst>
              <a:ahLst/>
              <a:cxnLst>
                <a:cxn ang="T4">
                  <a:pos x="T0" y="T1"/>
                </a:cxn>
                <a:cxn ang="T5">
                  <a:pos x="T2" y="T3"/>
                </a:cxn>
              </a:cxnLst>
              <a:rect l="T6" t="T7" r="T8" b="T9"/>
              <a:pathLst>
                <a:path w="21600" h="20954">
                  <a:moveTo>
                    <a:pt x="21600" y="2"/>
                  </a:moveTo>
                  <a:cubicBezTo>
                    <a:pt x="21600" y="2"/>
                    <a:pt x="3529" y="-646"/>
                    <a:pt x="0" y="20954"/>
                  </a:cubicBezTo>
                </a:path>
              </a:pathLst>
            </a:custGeom>
            <a:noFill/>
            <a:ln w="38100">
              <a:solidFill>
                <a:srgbClr val="000000"/>
              </a:solidFill>
              <a:miter lim="800000"/>
              <a:headEnd type="stealth" w="med" len="me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36212" name="Freeform 11"/>
            <p:cNvSpPr>
              <a:spLocks/>
            </p:cNvSpPr>
            <p:nvPr/>
          </p:nvSpPr>
          <p:spPr bwMode="auto">
            <a:xfrm>
              <a:off x="172" y="3289"/>
              <a:ext cx="266" cy="269"/>
            </a:xfrm>
            <a:custGeom>
              <a:avLst/>
              <a:gdLst>
                <a:gd name="T0" fmla="*/ 0 w 21600"/>
                <a:gd name="T1" fmla="*/ 0 h 21600"/>
                <a:gd name="T2" fmla="*/ 0 w 21600"/>
                <a:gd name="T3" fmla="*/ 0 h 21600"/>
                <a:gd name="T4" fmla="*/ 0 60000 65536"/>
                <a:gd name="T5" fmla="*/ 0 60000 65536"/>
                <a:gd name="T6" fmla="*/ 0 w 21600"/>
                <a:gd name="T7" fmla="*/ 0 h 21600"/>
                <a:gd name="T8" fmla="*/ 21600 w 21600"/>
                <a:gd name="T9" fmla="*/ 21600 h 21600"/>
              </a:gdLst>
              <a:ahLst/>
              <a:cxnLst>
                <a:cxn ang="T4">
                  <a:pos x="T0" y="T1"/>
                </a:cxn>
                <a:cxn ang="T5">
                  <a:pos x="T2" y="T3"/>
                </a:cxn>
              </a:cxnLst>
              <a:rect l="T6" t="T7" r="T8" b="T9"/>
              <a:pathLst>
                <a:path w="21600" h="21600">
                  <a:moveTo>
                    <a:pt x="21600" y="21600"/>
                  </a:moveTo>
                  <a:cubicBezTo>
                    <a:pt x="21600" y="21600"/>
                    <a:pt x="17696" y="5657"/>
                    <a:pt x="0" y="0"/>
                  </a:cubicBezTo>
                </a:path>
              </a:pathLst>
            </a:custGeom>
            <a:noFill/>
            <a:ln w="38100">
              <a:solidFill>
                <a:srgbClr val="000000"/>
              </a:solidFill>
              <a:miter lim="800000"/>
              <a:headEnd type="stealth" w="med" len="me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36213" name="Rectangle 12"/>
            <p:cNvSpPr>
              <a:spLocks/>
            </p:cNvSpPr>
            <p:nvPr/>
          </p:nvSpPr>
          <p:spPr bwMode="auto">
            <a:xfrm>
              <a:off x="121" y="3600"/>
              <a:ext cx="856" cy="160"/>
            </a:xfrm>
            <a:prstGeom prst="rect">
              <a:avLst/>
            </a:prstGeom>
            <a:solidFill>
              <a:schemeClr val="accent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p>
              <a:pPr marL="80364">
                <a:tabLst>
                  <a:tab pos="366104" algn="l"/>
                </a:tabLst>
              </a:pPr>
              <a:r>
                <a:rPr lang="en-US" sz="1300">
                  <a:solidFill>
                    <a:srgbClr val="005481"/>
                  </a:solidFill>
                  <a:cs typeface="Arial" charset="0"/>
                </a:rPr>
                <a:t>Tissue fluid</a:t>
              </a:r>
            </a:p>
          </p:txBody>
        </p:sp>
      </p:grpSp>
      <p:sp>
        <p:nvSpPr>
          <p:cNvPr id="136200" name="Rectangle 14"/>
          <p:cNvSpPr>
            <a:spLocks/>
          </p:cNvSpPr>
          <p:nvPr/>
        </p:nvSpPr>
        <p:spPr bwMode="auto">
          <a:xfrm>
            <a:off x="4972762" y="6093296"/>
            <a:ext cx="4052878" cy="553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p>
            <a:pPr marL="80364">
              <a:tabLst>
                <a:tab pos="366104" algn="l"/>
              </a:tabLst>
            </a:pPr>
            <a:r>
              <a:rPr lang="en-US" sz="1300" dirty="0">
                <a:solidFill>
                  <a:srgbClr val="000000"/>
                </a:solidFill>
                <a:cs typeface="Arial" charset="0"/>
              </a:rPr>
              <a:t>Tissue fluid leaks from the capillaries. Nutrients and wastes are exchanged across the capillary wall, traveling through the tissue fluid.</a:t>
            </a:r>
          </a:p>
        </p:txBody>
      </p:sp>
      <p:grpSp>
        <p:nvGrpSpPr>
          <p:cNvPr id="5" name="Group 17"/>
          <p:cNvGrpSpPr>
            <a:grpSpLocks/>
          </p:cNvGrpSpPr>
          <p:nvPr/>
        </p:nvGrpSpPr>
        <p:grpSpPr bwMode="auto">
          <a:xfrm>
            <a:off x="6572250" y="1973461"/>
            <a:ext cx="721072" cy="224359"/>
            <a:chOff x="0" y="0"/>
            <a:chExt cx="646" cy="201"/>
          </a:xfrm>
        </p:grpSpPr>
        <p:sp>
          <p:nvSpPr>
            <p:cNvPr id="136209" name="Rectangle 15"/>
            <p:cNvSpPr>
              <a:spLocks/>
            </p:cNvSpPr>
            <p:nvPr/>
          </p:nvSpPr>
          <p:spPr bwMode="auto">
            <a:xfrm>
              <a:off x="8" y="0"/>
              <a:ext cx="608" cy="160"/>
            </a:xfrm>
            <a:prstGeom prst="rect">
              <a:avLst/>
            </a:prstGeom>
            <a:solidFill>
              <a:schemeClr val="accent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p>
              <a:pPr marL="80364">
                <a:tabLst>
                  <a:tab pos="366104" algn="l"/>
                </a:tabLst>
              </a:pPr>
              <a:r>
                <a:rPr lang="en-US" sz="1300">
                  <a:solidFill>
                    <a:srgbClr val="005481"/>
                  </a:solidFill>
                  <a:cs typeface="Arial" charset="0"/>
                </a:rPr>
                <a:t>Wastes</a:t>
              </a:r>
            </a:p>
          </p:txBody>
        </p:sp>
        <p:sp>
          <p:nvSpPr>
            <p:cNvPr id="136210" name="Line 16"/>
            <p:cNvSpPr>
              <a:spLocks noChangeShapeType="1"/>
            </p:cNvSpPr>
            <p:nvPr/>
          </p:nvSpPr>
          <p:spPr bwMode="auto">
            <a:xfrm>
              <a:off x="0" y="201"/>
              <a:ext cx="646" cy="0"/>
            </a:xfrm>
            <a:prstGeom prst="line">
              <a:avLst/>
            </a:prstGeom>
            <a:noFill/>
            <a:ln w="38100">
              <a:solidFill>
                <a:srgbClr val="000000"/>
              </a:solidFill>
              <a:miter lim="800000"/>
              <a:headEnd/>
              <a:tailEnd type="stealth" w="med" len="med"/>
            </a:ln>
            <a:extLst>
              <a:ext uri="{909E8E84-426E-40DD-AFC4-6F175D3DCCD1}">
                <a14:hiddenFill xmlns:a14="http://schemas.microsoft.com/office/drawing/2010/main">
                  <a:noFill/>
                </a14:hiddenFill>
              </a:ext>
            </a:extLst>
          </p:spPr>
          <p:txBody>
            <a:bodyPr lIns="0" tIns="0" rIns="0" bIns="0"/>
            <a:lstStyle/>
            <a:p>
              <a:endParaRPr lang="en-AU"/>
            </a:p>
          </p:txBody>
        </p:sp>
      </p:grpSp>
      <p:grpSp>
        <p:nvGrpSpPr>
          <p:cNvPr id="6" name="Group 20"/>
          <p:cNvGrpSpPr>
            <a:grpSpLocks/>
          </p:cNvGrpSpPr>
          <p:nvPr/>
        </p:nvGrpSpPr>
        <p:grpSpPr bwMode="auto">
          <a:xfrm>
            <a:off x="6112371" y="2669978"/>
            <a:ext cx="1113210" cy="387326"/>
            <a:chOff x="0" y="0"/>
            <a:chExt cx="843" cy="211"/>
          </a:xfrm>
        </p:grpSpPr>
        <p:sp>
          <p:nvSpPr>
            <p:cNvPr id="136207" name="Line 18"/>
            <p:cNvSpPr>
              <a:spLocks noChangeShapeType="1"/>
            </p:cNvSpPr>
            <p:nvPr/>
          </p:nvSpPr>
          <p:spPr bwMode="auto">
            <a:xfrm rot="10800000" flipH="1">
              <a:off x="0" y="207"/>
              <a:ext cx="843" cy="4"/>
            </a:xfrm>
            <a:prstGeom prst="line">
              <a:avLst/>
            </a:prstGeom>
            <a:noFill/>
            <a:ln w="38100">
              <a:solidFill>
                <a:srgbClr val="000000"/>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sp>
          <p:nvSpPr>
            <p:cNvPr id="136208" name="Rectangle 19"/>
            <p:cNvSpPr>
              <a:spLocks/>
            </p:cNvSpPr>
            <p:nvPr/>
          </p:nvSpPr>
          <p:spPr bwMode="auto">
            <a:xfrm>
              <a:off x="131" y="0"/>
              <a:ext cx="688" cy="160"/>
            </a:xfrm>
            <a:prstGeom prst="rect">
              <a:avLst/>
            </a:prstGeom>
            <a:solidFill>
              <a:schemeClr val="accent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p>
              <a:pPr marL="80364">
                <a:tabLst>
                  <a:tab pos="366104" algn="l"/>
                </a:tabLst>
              </a:pPr>
              <a:r>
                <a:rPr lang="en-US" sz="1300" dirty="0">
                  <a:solidFill>
                    <a:srgbClr val="005481"/>
                  </a:solidFill>
                  <a:cs typeface="Arial" charset="0"/>
                </a:rPr>
                <a:t>Nutrients</a:t>
              </a:r>
            </a:p>
          </p:txBody>
        </p:sp>
      </p:grpSp>
      <p:grpSp>
        <p:nvGrpSpPr>
          <p:cNvPr id="7" name="Group 23"/>
          <p:cNvGrpSpPr>
            <a:grpSpLocks/>
          </p:cNvGrpSpPr>
          <p:nvPr/>
        </p:nvGrpSpPr>
        <p:grpSpPr bwMode="auto">
          <a:xfrm>
            <a:off x="6210598" y="3312915"/>
            <a:ext cx="1048307" cy="261761"/>
            <a:chOff x="0" y="0"/>
            <a:chExt cx="755" cy="203"/>
          </a:xfrm>
        </p:grpSpPr>
        <p:sp>
          <p:nvSpPr>
            <p:cNvPr id="136205" name="Line 21"/>
            <p:cNvSpPr>
              <a:spLocks noChangeShapeType="1"/>
            </p:cNvSpPr>
            <p:nvPr/>
          </p:nvSpPr>
          <p:spPr bwMode="auto">
            <a:xfrm rot="10800000" flipH="1">
              <a:off x="0" y="196"/>
              <a:ext cx="755" cy="7"/>
            </a:xfrm>
            <a:prstGeom prst="line">
              <a:avLst/>
            </a:prstGeom>
            <a:noFill/>
            <a:ln w="38100">
              <a:solidFill>
                <a:srgbClr val="000000"/>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sp>
          <p:nvSpPr>
            <p:cNvPr id="136206" name="Rectangle 22"/>
            <p:cNvSpPr>
              <a:spLocks/>
            </p:cNvSpPr>
            <p:nvPr/>
          </p:nvSpPr>
          <p:spPr bwMode="auto">
            <a:xfrm>
              <a:off x="107" y="0"/>
              <a:ext cx="624" cy="160"/>
            </a:xfrm>
            <a:prstGeom prst="rect">
              <a:avLst/>
            </a:prstGeom>
            <a:solidFill>
              <a:schemeClr val="accent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p>
              <a:pPr marL="80364">
                <a:tabLst>
                  <a:tab pos="366104" algn="l"/>
                </a:tabLst>
              </a:pPr>
              <a:r>
                <a:rPr lang="en-US" sz="1300" dirty="0">
                  <a:solidFill>
                    <a:srgbClr val="005481"/>
                  </a:solidFill>
                  <a:cs typeface="Arial" charset="0"/>
                </a:rPr>
                <a:t>Oxygen</a:t>
              </a:r>
            </a:p>
          </p:txBody>
        </p:sp>
      </p:grpSp>
    </p:spTree>
    <p:extLst>
      <p:ext uri="{BB962C8B-B14F-4D97-AF65-F5344CB8AC3E}">
        <p14:creationId xmlns:p14="http://schemas.microsoft.com/office/powerpoint/2010/main" val="3289593850"/>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608" y="403192"/>
            <a:ext cx="7200900" cy="798984"/>
          </a:xfrm>
        </p:spPr>
        <p:txBody>
          <a:bodyPr>
            <a:normAutofit/>
          </a:bodyPr>
          <a:lstStyle/>
          <a:p>
            <a:r>
              <a:rPr lang="en-AU" sz="4200" dirty="0">
                <a:solidFill>
                  <a:srgbClr val="0070C0"/>
                </a:solidFill>
              </a:rPr>
              <a:t>Returning Blood – Vena Cava </a:t>
            </a:r>
          </a:p>
        </p:txBody>
      </p:sp>
      <p:sp>
        <p:nvSpPr>
          <p:cNvPr id="3" name="Content Placeholder 2"/>
          <p:cNvSpPr>
            <a:spLocks noGrp="1"/>
          </p:cNvSpPr>
          <p:nvPr>
            <p:ph idx="1"/>
          </p:nvPr>
        </p:nvSpPr>
        <p:spPr>
          <a:xfrm>
            <a:off x="4129608" y="1741706"/>
            <a:ext cx="4618856" cy="4572000"/>
          </a:xfrm>
        </p:spPr>
        <p:txBody>
          <a:bodyPr>
            <a:normAutofit/>
          </a:bodyPr>
          <a:lstStyle/>
          <a:p>
            <a:r>
              <a:rPr lang="en-AU" dirty="0"/>
              <a:t>Upon leaving the capillary beds, blood now travelling in the veins makes its way back to the heart.</a:t>
            </a:r>
          </a:p>
          <a:p>
            <a:r>
              <a:rPr lang="en-AU" dirty="0"/>
              <a:t>Venules and veins ultimately combine to form the largest vein in the body – the vena cava.  </a:t>
            </a:r>
          </a:p>
          <a:p>
            <a:r>
              <a:rPr lang="en-AU" dirty="0"/>
              <a:t>The vena cava empties blood back into the heart at the right atrium.</a:t>
            </a:r>
          </a:p>
        </p:txBody>
      </p:sp>
      <p:pic>
        <p:nvPicPr>
          <p:cNvPr id="2050" name="Picture 2" descr="http://img.medscapestatic.com/pi/meds/ckb/46/36146t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1387706"/>
            <a:ext cx="3399044" cy="50851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3029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332656"/>
            <a:ext cx="3384376" cy="1937370"/>
          </a:xfrm>
        </p:spPr>
        <p:txBody>
          <a:bodyPr>
            <a:normAutofit/>
          </a:bodyPr>
          <a:lstStyle/>
          <a:p>
            <a:r>
              <a:rPr lang="en-AU" sz="4200" dirty="0">
                <a:solidFill>
                  <a:srgbClr val="0070C0"/>
                </a:solidFill>
              </a:rPr>
              <a:t>Other Vertebrate Systems</a:t>
            </a:r>
          </a:p>
        </p:txBody>
      </p:sp>
      <p:sp>
        <p:nvSpPr>
          <p:cNvPr id="3" name="Content Placeholder 2"/>
          <p:cNvSpPr>
            <a:spLocks noGrp="1"/>
          </p:cNvSpPr>
          <p:nvPr>
            <p:ph idx="1"/>
          </p:nvPr>
        </p:nvSpPr>
        <p:spPr>
          <a:xfrm>
            <a:off x="971600" y="2420888"/>
            <a:ext cx="2304256" cy="4033920"/>
          </a:xfrm>
        </p:spPr>
        <p:txBody>
          <a:bodyPr>
            <a:normAutofit/>
          </a:bodyPr>
          <a:lstStyle/>
          <a:p>
            <a:r>
              <a:rPr lang="en-AU" sz="2200" dirty="0"/>
              <a:t>All vertebrates have closed circulatory systems.</a:t>
            </a:r>
          </a:p>
        </p:txBody>
      </p:sp>
      <p:pic>
        <p:nvPicPr>
          <p:cNvPr id="1026" name="Picture 2" descr="https://figures.boundless.com/19668/large/figure-40-01-03abcd.jp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5896" y="260648"/>
            <a:ext cx="5328592" cy="6402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50191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456337"/>
            <a:ext cx="7200900" cy="1028447"/>
          </a:xfrm>
        </p:spPr>
        <p:txBody>
          <a:bodyPr/>
          <a:lstStyle/>
          <a:p>
            <a:r>
              <a:rPr lang="en-AU" dirty="0">
                <a:solidFill>
                  <a:srgbClr val="0070C0"/>
                </a:solidFill>
              </a:rPr>
              <a:t>Fish Circulatory Systems</a:t>
            </a:r>
          </a:p>
        </p:txBody>
      </p:sp>
      <p:sp>
        <p:nvSpPr>
          <p:cNvPr id="3" name="Content Placeholder 2"/>
          <p:cNvSpPr>
            <a:spLocks noGrp="1"/>
          </p:cNvSpPr>
          <p:nvPr>
            <p:ph idx="1"/>
          </p:nvPr>
        </p:nvSpPr>
        <p:spPr>
          <a:xfrm>
            <a:off x="827584" y="1606700"/>
            <a:ext cx="4392488" cy="4572000"/>
          </a:xfrm>
        </p:spPr>
        <p:txBody>
          <a:bodyPr>
            <a:normAutofit/>
          </a:bodyPr>
          <a:lstStyle/>
          <a:p>
            <a:r>
              <a:rPr lang="en-AU" dirty="0"/>
              <a:t>Fish have a single circuit for blood flow and a two-chambered heart that has only a single atrium and a single ventricle.  </a:t>
            </a:r>
          </a:p>
          <a:p>
            <a:r>
              <a:rPr lang="en-AU" dirty="0"/>
              <a:t>The atrium collects blood that has returned from the body, while the ventricle pumps the blood to the gills where gas exchange occurs and the blood is re-oxygenated; this is called gill circulation. </a:t>
            </a:r>
          </a:p>
          <a:p>
            <a:r>
              <a:rPr lang="en-AU" dirty="0"/>
              <a:t>The blood then continues through the rest of the body before arriving back at the atrium; this is called systemic circulation. </a:t>
            </a:r>
          </a:p>
          <a:p>
            <a:endParaRPr lang="en-AU" dirty="0"/>
          </a:p>
        </p:txBody>
      </p:sp>
      <p:pic>
        <p:nvPicPr>
          <p:cNvPr id="10242" name="Picture 2" descr="http://users.rcn.com/jkimball.ma.ultranet/BiologyPages/F/fish_heart.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4088" y="1684982"/>
            <a:ext cx="3429000" cy="2047876"/>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http://www.buzzle.com/images/buzzle/working-of-fish-circulatory-system.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088" y="4149080"/>
            <a:ext cx="3429000" cy="228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02193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608" y="184648"/>
            <a:ext cx="7200900" cy="1485900"/>
          </a:xfrm>
        </p:spPr>
        <p:txBody>
          <a:bodyPr>
            <a:normAutofit/>
          </a:bodyPr>
          <a:lstStyle/>
          <a:p>
            <a:r>
              <a:rPr lang="en-AU" sz="4200" dirty="0">
                <a:solidFill>
                  <a:srgbClr val="0070C0"/>
                </a:solidFill>
              </a:rPr>
              <a:t>Amphibians and Reptile Systems</a:t>
            </a:r>
          </a:p>
        </p:txBody>
      </p:sp>
      <p:sp>
        <p:nvSpPr>
          <p:cNvPr id="3" name="Content Placeholder 2"/>
          <p:cNvSpPr>
            <a:spLocks noGrp="1"/>
          </p:cNvSpPr>
          <p:nvPr>
            <p:ph idx="1"/>
          </p:nvPr>
        </p:nvSpPr>
        <p:spPr>
          <a:xfrm>
            <a:off x="683568" y="1814792"/>
            <a:ext cx="8291264" cy="4858560"/>
          </a:xfrm>
        </p:spPr>
        <p:txBody>
          <a:bodyPr>
            <a:normAutofit fontScale="92500" lnSpcReduction="20000"/>
          </a:bodyPr>
          <a:lstStyle/>
          <a:p>
            <a:r>
              <a:rPr lang="en-AU" dirty="0"/>
              <a:t>In amphibians, reptiles,                                                                                birds, and mammals,                                                                                               blood flow all have the                                                                                               two-loop pattern (double)                                                                                          of circulation.</a:t>
            </a:r>
          </a:p>
          <a:p>
            <a:r>
              <a:rPr lang="en-AU" b="1" dirty="0"/>
              <a:t>Amphibians</a:t>
            </a:r>
            <a:r>
              <a:rPr lang="en-AU" dirty="0"/>
              <a:t> have a                                                                                                     </a:t>
            </a:r>
            <a:r>
              <a:rPr lang="en-AU" b="1" dirty="0"/>
              <a:t>three-chambered</a:t>
            </a:r>
            <a:r>
              <a:rPr lang="en-AU" dirty="0"/>
              <a:t> heart                                                                                         that has two atria and one                                                                           ventricle.  The two atria receive blood from the two different circuits (the lungs and the systems). There is some mixing of the blood in the heart's ventricle, which reduces the efficiency of oxygenation. The mixing is </a:t>
            </a:r>
            <a:r>
              <a:rPr lang="en-AU" b="1" dirty="0"/>
              <a:t>reduced by a ridge within the ventricle </a:t>
            </a:r>
            <a:r>
              <a:rPr lang="en-AU" dirty="0"/>
              <a:t>that diverts oxygen-rich blood through the systemic circulatory system and deoxygenated blood to the pulmocutaneous circuit.</a:t>
            </a:r>
          </a:p>
          <a:p>
            <a:r>
              <a:rPr lang="en-AU" dirty="0"/>
              <a:t>Most </a:t>
            </a:r>
            <a:r>
              <a:rPr lang="en-AU" b="1" dirty="0"/>
              <a:t>reptiles</a:t>
            </a:r>
            <a:r>
              <a:rPr lang="en-AU" dirty="0"/>
              <a:t> also have a </a:t>
            </a:r>
            <a:r>
              <a:rPr lang="en-AU" b="1" dirty="0"/>
              <a:t>three-chambered</a:t>
            </a:r>
            <a:r>
              <a:rPr lang="en-AU" dirty="0"/>
              <a:t> heart similar to the amphibian heart that directs blood to the pulmonary and systemic circuits. The ventricle is divided more effectively by </a:t>
            </a:r>
            <a:r>
              <a:rPr lang="en-AU" b="1" dirty="0"/>
              <a:t>a partial septum</a:t>
            </a:r>
            <a:r>
              <a:rPr lang="en-AU" dirty="0"/>
              <a:t>, which results in less mixing of oxygenated and deoxygenated blood. Some reptiles (alligators and crocodiles) are the most primitive animals to exhibit a four-chambered heart. </a:t>
            </a:r>
          </a:p>
        </p:txBody>
      </p:sp>
      <p:sp>
        <p:nvSpPr>
          <p:cNvPr id="4" name="AutoShape 2" descr="data:image/jpeg;base64,/9j/4AAQSkZJRgABAQAAAQABAAD/2wCEAAkGBxQSEhUTExMVFhUWGBwZGRgYFRcXGRgYHBgcHBoXGR0YHSggGRolHBgbIzEiJSkrLi4uHR8zODMsNygtLisBCgoKDg0OGxAQGywkICQyNSwuLCwsLDQsLDQvLywvLCw0LCwsLCwsLCwsLCwsLCwsLCwtLCwsLCwsLCwsLCwsLP/AABEIAKcBLQMBIgACEQEDEQH/xAAcAAABBQEBAQAAAAAAAAAAAAAAAQQFBgcDAgj/xABEEAACAQIEAwYDBgMHAgUFAAABAhEAAwQSITEFQVEGEyJhcYEykaEHFEJSscEjYtEzQ3KCkuHwU6IVY3OD0hYkJcLx/8QAGgEBAAMBAQEAAAAAAAAAAAAAAAIDBAUBBv/EAC8RAAICAQQBAgMHBQEAAAAAAAABAgMRBBIhMUETUSJhgQUjMpGh0fAUcbHB4UL/2gAMAwEAAhEDEQA/ANxooooAoopJoBaKSaJoBaKSaJoBaKSaJoBaKSaJoBaKSaJoBaKSaJoBaKSaJoBaKSaAaAWiiigCkpaSgCiiigCiiigCovjfG7eHABINxpyJMExux/Ko5mpSsew2JbEYvE3C2huuqnSQoaFCk8sq+08qrsltjlEoRyxx2l7S4lSt5Ggq8le8YFl5juoyhegJze9aF2Y42mMsLdXmNR0PMVmXanAKq6e/y/359a7/AGP4plv3rc+HwmPM5gT9BVdEm0Tsjjk12iiitBUFFFFAFAooFALRRRQDbH4wWlzsCRIBiNJ0kyRpTd+LWgdWiQCPC2slhG3xSreHfQ9DT69aVxlZQw6ESPrTV+G2TE2rZgQJRTA3gabSaA84bidq4xVGkgxsdfCGkdVgjUaVHcE4kSVtuSxYSp3PUq37H26TKWeH20bOqKrQ2qgD4suY6czkXX+UVXOK4sYO+os2WeR8KCFAiGBOy7Kw6majJ45LqY78xxz4LZRTThmOW9bFxecgjoQYIp3Uippp4YUUUUPAooooAooooAoorlir4RSx5cup5AeZOlAlkiOIcSi8oVvDbYZ4O5bQg+QUz6+lTk1U+HYgX8UyXrWQifAxRgwAyjY6jViZA1Iqbbh7d+LqvlXTMupzR7wP+dKjF5Lro7MRxzgkaVagP/CMRkyfejGTLsZmImZmZ138tql+HW3VIuNmaTr5Sco9QsT1M1IpHVFFFAFJS0hoAoqp8d7XhLhsWAGcaM7TkQjcafERz1gczUJexoBz4jFXif5bjIo6ABCBVcrVHgmoNmjzRWWYnjaiGtYjEL0m6zCddwzEcjXpO2+ItAkvbu6aB1yGeWqAaeorxXJhwZqNYR2cxvd3LqNEh3365o161P4b7SsW6yLFsn/07pj5NVPfCMpNxkuIWM5gAUM6n4iDOvU1GclJYJRTi+Sd7T48FZMaDQe36613+xzxYi63WB8sx/eqfxGyWgG7p/hM/ITXXs72nPDroKWw+YBtXyjSQdgd5+lKo7T2x54Po+is44V9qa3CDdw+RDzS5nI8yCqyPQz5VM2u2L3iRhsMWUfjuPkHyUMY2qzfFeStwZbqKqx7SYhP7TDW/wDLfP7p+9OMP2uskhbqvZJ5uAV/1KSPnFFZF+RtZYaBXm24YAggg6gjUEdRXoVMiLRXlxIImPMcvPWoW3cxgtGUDXBlicnimcwMMBpprp/miSBOV4qEuYvGA/2KxtyMlmCiYckATMxqAScvw044pZvk+BvB+VTlf/Ud/Yr70Z7FZeCTqr9sLDKyYi3qUEMvVd/pXbA4bE5PA2QS3hYrPxGTrbJM+pqD4j3lq8731NwNlCj4gIBkiFAAMjlyquTyujZpq8WZUlx+p04bjipN3DEHNq9ljAY9VP4WqcwvaqyTluh7LfzrpP8AiEiPWKruD4tZJ8Ng+w2pj2346UtgWUk/iYrIQcp6VBb4o1zqrts24598r+M0uzeVxmVgw6ggj6V7rGOB4rH2U+82nS7bIllzKsRuDIGUj3Hkav8A2V7ZWsWMp8Fzmp3/ANx5jT02qyM0zHfo5V5a5RaKKRmAEnaqp2m7c2cL4R435Afr5DzMeU1JtIz11SseIothNNbnEbS73F+c/pWX/fuIcQVmVxYSdMwYZh1DZfqAPeoPhXaS9g8R47/f2s0XPEzr5shfWR1Gh2qHqGxfZ8sPL5XhGzXeKr+BWbzjKPct+wNVvjXaBVPiYMw+FF+FT18z50/xWNWDmtkjqJg+dQV/FYItLIQ3XUGoTcizTU1p5abJLsVgHLviLgILaCd4q4Vm3FeNrbs5sLdud4GXwl3KhSwBOWdYmrWnHmCDOgnLvJWTG8OF096nCUcYKtVTa5b5efBPUq1G8O4oHhXGVzy5N/hPP039RrThOIp3htzDgxBBEmJ8M/FoQdKsTyYZRcXhjyio4ccsZM/erGXNvrETtvMct6e2byuMykEdQZGmh+tDw6VEdqse9jC3bltSzhTEcp/F6KNY3MRzqXpCKAwnCcIxFxiqAmPiWYKncI7alnJMlRsZ8pe4jsffCNcvsERRJPIdN4/3rX8HgLdrNkUDMSxgAasZJ06kzWX/AGu8fY4mzhE+BIuXehY/Ap9F1j+YdKrcUuScW28FGS4zXu6CNI+EEavrAgDnJGmu9af2e4DasIHuoLl875gGCfyruJ86YcFwqXcR97ygFUCIBycqDcPsIA9T0qw8Qxq4a2XYS2yr1J+FfU/QanzxuUrWoQ7LmlBZZ1vu5GpCr5kKPaml7GFEa08G2+gB1yk8teVVyzxG8WXEXLn94ghLoAQZvEtxNyCJjNtHQiHOPxqtcKL4giiXRrbrMQdEYvpGpKwOsVXqtJZUk4vL8ntF0ZvDJ7hfCMOtsBcPaa42pJRTAJ5kjQU7PDsPb8LWwxO5CKY0mAu8a7KDTbh/EBhrKjuncjLmK5FAzN+a6yqTuSASQBykVXu1tu2+JuHMjA21ZGEMQ8+FFYHQlhy18VX6Sj1fxFV9uzo8drOzKIDcw6qvOFAytz5aA/8ADVbXtb3aZRmB2idiNOu41G3OrTguJtLWLhLDSHIO5Ew0gSw6/i8z8ef9uuFNh7sje5t/i5n5UVTrt9OfT5TLI2Kde5eOxzc7XMT4hO++vpvr9akDx0XLciRyM+ID15xGnkPPdr2Ewq27qWsSEdbxiNCytEwfUA6da0XGfZnhj47Be2x18LafIyPpV/pRa4Ib2uyD7DdpWsuUdv4BiROYKxPxqeS9fM661rKmRNZtwPs3FxbJHht/FGh6i4pjUllIPr6k6QiwIGwqcE0iE8eD1RRTLEcSVLgtsGGaIbQrqYjQyPWI86mQHhrzTF+NWR8Tx42TUNoymDMDQajU6a0Jxa2wcq0m2CWBVlIidCGA1lSIoBziMQqCWMdOZJ6ADUnyFUztFxk94ytbYoFDKsiJJCkOBsZMgEkETsRUrhLDO6glnGod5+HnlB5AneDm28iJw4K3AXIsDYQNKmmosGcfesU2yKo6a/sIqIxef7xbNy61hSGBYAsmYxC3F2ZGE7/StgXDoBoo+VUL7QeO2LKZVVC7DQGSCP8ACNSPOQPOpu3dhYLIS258fP2K5ie8wVwd0QLVxgxUeJM8HQH/AKbjUHfwx+GunE+Gjw4nD+BoziPkyx0B0I6GKiTiQ9lss929lriAmcr22DlfVSD6hgeZqd4RiCcNa0Jm6yQOjIWj/UKx317JcHb0t2+tTfecP5oOI9tL2IRLGHVzdYQQQPD13+KPzHQCOdR2Hwluw8ZfvWMmWkk2rRPNyfiby32+Henl3wFrGGMOdL98fh/8q2evU8vXab4Rw63ZthUH9STz9TVTkWqMYL4Vhf5/4Q2I4beuSb9+4S4ylU0WCfgVR1IjqRMmJrrwzhxs3kW3dw6sGXNZRVuvknxG9cOq+GdoEwBTbiXFLL4gpNy7k8OW34UDfizNILHlA0AEa61YuENbVQO4KqOQCgfIVpr2xXPLOfqLLJPEVhfLyNsR2ju537sHJmMbajkYPlXF+J27v9ogV/zQPqNjV1wljD3RoPbnTTiXZK3cHh8J6itUbYdNHMy0xlwGxh7rBHspn3VgPC4G/ofKrbesKylGEqdxVTwvADhB3jXSxBgQpGWdM3OT66b1YuG4p3LK+WVykZZ1Bkc/NZjlMa71VOMc5j0eucn2ztawNtTK20B6hRPz3r2cIhcOVGYag89o/QCutKtQPG2+xkODWAIFpdo25bfoAPQAbCKc4XDrbQIogDau1FDwKSlpKAb8Qxa2bT3XnLbVnaN4UEmPYVleG4zhr9p7zKGxJLXCSNRmMAL1CjKo9BV+7bjNhHtAwbxW17Mwzf8AYGrMeEdjWwmKtB7gYPd0CzGVQW1kfy7CsuplHGM4ZfSuclv4Hw5sPYQOAIBMzpJJYzPIaz5LVe4lxA3s16bq5NLOWB8Q+NzMqWGug2gCrZ2mvq82JgshA36rMhQSRqAY5B6r7cMRFZkL5VAnUZWua65cp2zFdJnTSDI9oi4LK7Zog6+7PpwRWHVCBI70KNdFs2wDvmuFc7a+Xoa5cbRTbbu7Vu2yBWBQX1IBaAQbmh15jWrFiuGMWTDLdYM2e9euKcrMJKosjZSVYwOUVUcJdvPmtNca5bLL8UMRDgiGPiGgGk1trhbNqTl9PkYtRdp45UIfX+fsSAu5tboW64hA99zlmPhUCIjrIG5O9Pe4swwZkw2ItMvhdlNtwToy59YHMa6etMsFdVv4OXV3Ylp+FUMnKOZYzrpAHSpE8AtPiUsumZLli5pJ0cZunIZTHtVEr5qXD4Oj/SUeklNc4znzx2MRxG5fuXLd25ZF1srBlOZf4a+HunQnKDzkSOcCuHaS33+DW7HiSG15Row9gfYMo5VLYfsvakD+K5UE92MxGcCJBIICnNOkgZSOdecVw4G3dtMzEsASSZ8XwwDGsyrHeRlmDIEbfjjl+OSvFaWIv9Cm8O4DcBOIlhkHeW25TyA61vXAcWLti242Kg/SsBt8avkW7CLIjKZG5nbX9q137MsQThhbb4kJQjoVJEfKo0uWXu+hntSwmi2rYUMWA1O5roKKBV5QLXK9hkYgsqkgyCQDBGxE7GutFANW4faJJ7tJO5yiT5zEzPOuWH4VZRSi21CkQdNSJnUnU6nnT+vFAeUQAQAABsBoBXqiigKz234+MNZY7mNvzMfhT33PkKxFrVzEO1x2ljqSdvIeQ5AVcftDxZu4hU/CoL+7GB8lH1qopgfvF5LLP3dpQWZspYZuUgch+9bNPBKO5rsy6qbc/TXS/VkrwFAMLjFb4rSsy/8AuIUYe+UVYOB3Ht4K0iaXbzNkJE5BENd/yqNOpKjnTDHYS3bsYprV63c7xbSeAzB7yBmHImf1qTxt4WbqosSO6wtudgzAM7n+UBkJHMgCsWoW61qJ3NBJQ0i3fzB34hYs4ayChuaaCFz5jzJ5mTqTIHnUV2j481rB5llbl3wW+okeNx6DQHqa8X7F2xax9971x7i3BZssWPgbN8SgeEeFgYAiB0qH7Y4tsRiraH+7tJI6XHUO/wCqj2qcNJiaK9T9oP0JJd+Dpwu592wNpl0u3i8H8qqxEjz2ApgvE7iNIvXM3XO3111qX41ajD4MjbI498wP9ard9ktqGcMczQAok1RZ+JnU0cY+hGUvY0Lst2na4wRyBc/Cw0DxyI2Df89dM4ZjO8SefOsMscOZQrpsQHRh8wa1XstjcxVuVxQ0eZ3HzpXLnBj+0dMo4siWlhOhpphsALbllJgiMvIazpzjy5U7oq05Iy4naunIbTQQ0sNIZYOmo3mI1HnpTdxiswju4OWT+Xw+OBufFtPnUrSrQEPw69i2ufxFQWwWB0g7aFdTIn059BU1RRQBSUtJQFJ+0jja4RsLccEpmf8A1BQF+hb61BYPjKYm/YuodAHJB3BgD9/rUl9qXBTjGsWQROW4wBOhMoP0qucJ7OHC37NpCGYq+aCYjTaehiudqtm7P/o10dFsxNqzdYd4qMRMFg06kkgw4nUmnvDeB2FbNbS2p6opDexLEfSoe9wy8D8EjqCK7YZbgVVJe2Tdt6iAYVxccSQRBRHnyms9N9spKLLbOIcS+mRzw6GxGMujZCtpf8NsAMo91b51REw7DEuq/wAP+L4YMki28ONdx3aj2PvVm4Xjjbw6uRrdZrh05sSf3NdLK5ywtZczCCDExGXMs7MF0I5gA8yK7VeoirpVv+35HMlRKVamio8GtOLswXMlSAQpUXWBQSQY0zaxV5K5cRhLg2JuD/VBA+TGmVq4tpAhVe8gBgsMV0g5iu7xoByBPWneKxBy4ZyCIxA3Ead2/wDQVinYt+1f3Oy5bp8dcr8x9xHs9buNntsbdwbMpyMIEASNxHIieUgVXLvDLyN4ykILhknKzF10WNj4wNFmJNTj8RYXWhLkBiuiMw05yBXDiPEjB/h3PdGH7VlnqpR4cSqtzS254+fgrHYu2me/mRSyXWykgSJJ26VaPs5ufxMSv/mk/MA/vWU44XrgudxPivHQAzM6TFaR9k9i5ba+t4y4cSepKjT1FaqIYm232ujPa1jBpNAooFbDMLRTTidp3tlbbBWJXxGTAzAtsQTpI0I9ah1tY0nLmAC65jBDeEwPhknMddANBAHMCxV5qHu2cWXSLihAFzbFichDH4Y+Iz/lHmKRbeM8PjtgAa88zakbroNh8zQEzXPE3AqMSQAAdSYFc2tOTrcgcgqgGOhLTPsBXi5ZtJq0AnQMxlvQFiT7CgMg49ZzYm4SRELGsmMg5DzmufC7ai8toZmZgW6ADqekxUrxvDDv8xkZlHIgkrod9uVPOEYQA5o1iJ2MchO/yNdCp/dpmO+P30l8xtxXDAJbRV+PEWQY/KrZifpUZxozi1M6FnYbjWQnqDFsU67ZMUbChFJi41w/5coBJ9zvTJrPfQucC7nZ0hokORnQEfiEBhH81Yo2JajMjuQol/RrHjklcXwaHRHBLXfH4mZmDZ1QySdTlcb7cqjrvdYpPvIQK9vEvZcj8aMxKMfTMo+flU5jbh767dLHJh86IukQtlXY9ZzrHtVX7LD/APHP54q0PkyGtUc7kcm9/Al7/wCh3x20Rg0HO1fI/wArBj+/0pjd4YPu9pIBvYkllJ/u7YjxDzMj5+VTnG1As3SQDrb38yQaXE4ab6beHD2lUa6Al9deu3tXP1K2zZ9F9n2btPBS6/YkLGAC2raZi2RMpaZkx5077KuVW3CyFZxAOvxHTXT6ivNq2UQ8/oR/X/m9Oeylr4B/M7HyljH0qmvO4jqmvRaLgmMQkAnKTsGGUn0n4vaacUjoCIIBB3B1FMsXgF7t1DG2GRl0PhEqRIU6CJnSK0nFH1KtVh7SEhUxoVc0KARIY5ZWVYDnoABGYin3/g93xf8A3T7gro2gE6Hx+LTTl1MnWgJuaKicDw66jpmvtcABzTOpyqq6SdNHY9SRvUtQBSUtJQGf/abxb7pdw14iRkuqPWUP6fpUR2W42uJxdi4NJDgg8tAf2q1faVwlcRhlzbW7qkneA3gJj1Ye01WcLw23g7mGCGYcgtAE5lI/pXP1SgpZfZqpbccGiXLqgxFQXa0lbDXBAAtso697dy2kI9Fd/nXriHEAGptxoHEdxYUx8V1j0yKck+RYn5U0U1Zdjwiq6LjXkcPhhbwtpeiD9JqqY+7uOVTz8Q7zCIy6lBkbyZdNfUQfQiqfisQSTWTWRfrvJr0iTrTNFwFpVtjKAABpGlRvau9Fm1J1N9QP9D/tT7hryojmKhuNEXrlxVMrhbbMT1vEQAP8I0Pm0VfRzho9oX3vPS5JrhOLDi4VYGLmsGYLIj69DDCmfaK/4Nd9T9KdcJULhrbAAEjxECMzKBbk9TCAT0AqB7TX9DVGqk92CFUMTKZ2e4rbsG6XMFrjD08VX37MTmW5cmc9xjPWNP2rLuGcA++KzZ1UF2YySDE+Va39l+DFvBoBt4iPQsSPoRXRpjHe2uym5vGC5UCigVqM5xxuJFtC5ExyG5kwP1qL/wDqixEgsTBMBegEwdjqwG/01qaZZ0OoNczhknNlEgETAmDEj3Cj5CgGFrj1lmVVJJYAg5TEHQSfUge9OPvRb4EZvNvAv18XuFNORaA2A+VBoBsLLt8TwOiCPYsZJ9RlrpawyrJAAJ3O7H1J1PvXP74D/Zgv5j4R6sdD7SfKjuGb42gflSVHu3xH2y+lAVDtVgJchYzg51G+jfEp6a9fKojDYuNJgjfTX67fKrtx7DKttSqgBW2AjRv94qs8VxNu1bN24oIXQaAktyUTU679nwNZRc9L66U08PoqPa7DPexdq0shVtK7sZIUFmlyT0A0+VeeC8OnFWNTkDK4mMwIYQp+c0lzjl7FMFYratSAQAWjzMaselSuIw1u1xCyVPwm0pE7EtBzecFT5zVGyTnyddWRjS4L2wR9zHZ1x6QwuA3YBBi4t26UV1npOU8tvOu2A4Y1rhxDKdL4uNpsFUTvvqsac9K4YjiN9LtzDwCn3honcDviYHkalOP8XnDpk3uPbLrOqlcrz5gwvyPU1urn3n3ONqdM5NOPWMHbGYLvldN1Q5njeEnT5n6U4XCOb9llH9paW3B/MguNqDyyzVd7OY18JiCxJYMMzjm2hOnnP6VJ8Q453LZ7YDrbutkQkqQSjqRIHwAkGNDrG22S+LnPPudKhuqtQXj/AGS2JDz3Sg520CxMec/lHn/QVYOBYJG1UkBAFVgYYAf7yYPuKqXZLtHfvfeDcCBQFAyoF1Ykb6k6DmTV64bgv4YZTlfryI6MPxD6jWCKjGG1mbVWSaUekPO9dPjGZfzKNR/iX91n0FdfDcQjRkYEHmCDoRXi1idcrjK3LWVb/Cefpv7a14xeAV1eCVZ1ZSROsqRJEwxHz03qZiEThVkGRbUGSduZ3PlMU9Woc8GY3Bce8zFXDhYZVWBBAGfYifnz1nkvAbkuTibhLCAfF4YYsIGeNJI9/IUBP0VGYPhrpc7xrzsTustk2IgKWIAmD7edSdAFJS0hoBpxXCC9ZuWmMB1Kz0kfF7b+1fPmDuXredjczZLphgSwco8C4usBdjPQ+la72lxhxF04VTltIB3x/OWEi31iDJ67etM7XYBbaNl2jaNDyB03id/MVnslGTwXVppZLthOFG8quzASAYGv1JqM7SMtu8y5yrdzbyQD4gXcOpI2GUnU6V67F8b73BW9fEoyn/Lp+kGuvaRGKriF5KbV0Rr3bHf2MjyzTyqrQbIW7cckdUpOGfAyvW7q3bly2gsjuQ5T+0W4F8ILDSDHSDpvrTXvbtzIxwtoi5qrJiAqN7lSFM6QTM6U7sZVa42ZnsqbbIzEkquvhB/DBYgT5/llVufz3GkrqAzDQBSWAygAvkBgEL4tCdK22xhY/iXRChuC4/ycb/GL7IGRLeHtuzI11S12CuhhlWBroCAf6RqYlQyHuSLKHuzlZv4jnM6zmAYyQp1HIVPXb8BYaCQTka85XwSDshmSCdNJHONYrGl0yYm5cUuXZikRbXuxlGx1OoA8jVE4qOMcHV0k1LKx+v8APzJjhuOyYG2CdQXHrDtrVX7VY+LLGdSIHqdB9TVwscEU4NFf4gC511BYlonrrFZl2kYC+trMSqkNv6gDTyB+dc+cN96ISlH4pL3Yyw+IvWkWyqQbkBfMnbXlW69lMPkw6KNgAPkIrOcdgkuWQ9s5XSGEb+sfLyq69hOK99aAO/MfzAcvIgz710KWnn3MNmS1UCigVeVHDHl8h7v4tNomMwzRm0zZZidJiajPvGL1i0pAHMjMx000eAec7aEdGMjxTCG9aa2HZM2mZdGGoOn6VHNwDxhu+ujQyAzDNPM66xy6a+wHfB38Q2bPbVNRlJadCDJIUmSDGkjfenH3MHW4S/kfg9l2PvJ86jxwAgqRiLoy8pJB05iYP9ABpqS84XgDZDA3HuSZlzJGgHP0oB7RRRQDLjSzZfyg/Ig/tWddvLLNaBHwq409QQD8z9a0riFrPadRuVIHrFU/itnvbOX89sgf4okH/UBUG8STN2lfwtGd8J8JD8s0GrDxWwPvFxjpFwEH/wBtIPzqEtWsuGU/naasN9DdRbnMKFuDnpOW56HWf9jVz7TNR64hgTfcYmwpdbhUuF1KXFADAjpoDp59RLLiuB7pUFyA7EZUkFsozSxjZRm/TrTQA95bRGdC7qpKOyEidRKkTpNdMPgywv5dWN5QvjzMRqxViSSdCK96IdcHh7RN5IEk5R9dfaK8Nw97tu4FUtc785QNZAQTHkdak70W5tSBiLgAPiUm1b/Ew1+Mgae3TV/2VsPbFxypyRCaiPPc+Q1rzdxkOSDhHDTYt27bCHds7joY0X2AHvNaLhFhFHlVRwgNy+DlJgDmu+/WraL5/wCm/wD2/wDyqqPPLMeqlmSXsjpetBhlYAjz+nvTYl7YP94oBIknMIEgGASw5SAW20bU1278/wDTf/t/+VeXvtBi20wYkqATGgJBMTttUjMRtnjjRLWLkSASAefOOY0JJHlvM10TjZ7sv93uzmZcuXXwrmn0InXqI3NcB2i0YixeMER4QMwYEq2pBAgCdNJ5xXq52hygnuLpiDAAJIkA5YOumvymJoD2ePNE/druq5gPnppoDI+WvlXTC8azvbXubozzJKkBd4BkcwAfQipHCXhcRXgjMAYMSJGxjSu0UAVwx2IFu29w7IpY+gBP7V3qJ7UuBhL06goVjrm8MeuteN4QRnGF4kVV3f8AtDDN/wCrcgxP8qwPXN1qC7T44lchOijXzP8Azyke1St/gThSwYkJeAg/jumdJHKco/8A5Xh+wOKvXAjQtvdmU6noBI/Ws0YNyyaG0kVX7Ou0fd4tsO58D6Kejg8/WY+Va3h8dkud2RmV9I3BnlHSsw7T9hzgb+dQe6bUEAnI/Sd4O4PWRV17DcVt3DN4/wAZRAB0kfmHmedUamtxsVkfqSrknFpktxHg17Dw1hEvWQwY22Cm4omSgLfEh6b6DeJqFvcTcXMwtEWg0901vKxQ+ZUgx5nUmeelxv8AEAZBAKnQgwQRzBB3FVm7iLVpkS2uRBACoz21A6AIwFWPXxf4j2qrbxg5HGsWa4tq6yBpVbigKLcHMGY+FZJmJ2p5geFK79/iMh8WcW01QH8MnnA2A0568pG8bAAfu0LcmYZmHozSfrVU4hjjbZmB8G58up9Kz3avdxA0VbsPHBYu0XHBbtOSYAEk+lYM/aE38SxiMzGDz0+H6Cp3tX2gOJHc25yTq22aP/1/pUn9n/2ed/cW7dXwKCVXbMSPiPQDl56+unSUuKcpdsy2zX4Y9CW+IObagQOU+caAjz6+tWr7MMaReykmG1XTlJ2nc5mYH0FRV7srdtnJcBW01wKG/FmWSCvISBv1051buxHBiXF0qAqiFjkQzB1HlKr9augsMhJpo0GgUUCrikWiiigCvFe68UAUUUUAVVsTYyXTbO05l/wtuPYz9KtNMeK4HvFBXR1Mqf1U+R/pUZLKLqLNkuemZp2h4Q2RDYUlU8JQS0DkQNyOvtXN2dUDW2KumoI6HdSDoRI2NWgPB2IIYgjmDTDEcHF0s5cqhOqgaluevIc/ekLFjEjpteSG4bxB77MxsYclP7woVJboInXz867Xbl/upUpZzHVbVvK0dSxJ38gD51KYHg7KcsqEGx6j03mn44anxFnI6aQY9pqbcEQyVvsxwJTdLkEganMZkk7EnUkneelWriWIAR+ggf7UiYgKkAAaqYAiAT/tXKxYOIuBB8KtLHkT09BVMpObwj1/D8cvBK9lcGQucjU1P15tWwoAHKvVWJYOVOTlJyfkKKKK9IhSrSUq0B6ooooArxcthhBAI8690lAR13g9s5I0CXDcjkWMzM+bTUjRRXmAN8bhFuLDCs67RdljZtMLVstrKsurDXbr6f8ADWm0jLOhqM61PslGTiYhwi/jAWXPmygSt0GQT+GQQ0+pNMcdxa+xnuwCDrGZtjEEDbXrWx8U7N2r3IA9dj8xqKyPtVwhbGIvpyXJGpOrW1MSTO5rNLTRzlpF8bn0jg3am65FtbYmN8+m5GmnkaZjvL75bp8M/AgJ1H5uZ94HpVq7KdgDdCXi7LIGmwA5DaZ578zWh8K7LWLIELmI61OGmhF5SweO+T4ZRuyvYFXbvXTKNInX6bT/AMHU6dgsElpcqCK7qoGgpa0JYKG8jTiXD0vqFeYDKwgxqpkU5t2wogCBXqivTwKBRQKAWiiigCvFe68UAUUUUAUUUUBGcW4SLviXR435HyP9aqtx2QtbuAqwMidiNjB51fa4YvBpcGV1DDzH6dKhKCZro1Tr4lyio4W74J/lH71zv4wBFE7r9amm7LW/wswHSZH11r3h+zVtTqZioKtmiWsq7SbK5Yw1y80AEKco8zH6CrlwvACysDenFjDKghRFdasjFRMV18rXz+QUUUVIpCiiigClWkpVoD1RRRQBSUtIaAKKKKAKKKKARjGprKPuR4jjrjgE2jczMeTBVCovuFDHpMdK07iWCF62bbMwVtGymCRzWRqAdtKTh3DrdlcttQAKi1k9TwdMHhxbQKOVd6KKkeBRRRQBRRRQBQKKKAZcQvkp/DaGkddswnl0mo1RfNvKbqhwyktDQQomBAEAsAD5ZtNaWigOV1cUfCMQIK6tAGU84i3J306RJOkFHtYqWK301AiZ3A3gW9P08qKKA7hb5XW+ueZkLpMOMvwarOTfX4tdq4BMWRDYhB4GBKrBz+LKRNvQbf8ANyigJ1b6xv8AQ/0pe/Xr9DS0UAnfr1+ho79ev0NLRQCd+vX6Gjv16/Q0tFAJ369foaO/Xr9DS0UAnfr1+ho79ev0NLRQCd+vX6Gjv16/Q0tFAJ369foaUYhev0NFFAL95Xr9DR95Xr9DRRQB95Xr9DTHi1xmTLafKxnXURKMAZgxDFT6A77UUUAye1dZVm9lKuG0LCVyrIlQJk5txGoOX8I4BcWdGvpoN10BJJ5BJAAI5+X81LRQHTCriQ3ivplDKRAJJUTnBJTnI58txXtvvGZj3yxyGn5552jlGSRsxmJJ3oooDlcTFEj+PbAKw0TqQpAYfw/CS5B8hprFOMD34ZO8vKVE5gB8QgAalJ0PnPUmYBRQEv8AeV6/Q0feV6/Q0UUAfeV6/Q0feV6/Q0UUAfeV6/Q0feV6/Q0UUAfeV6/Q0feV6/Q0UUB//9k="/>
          <p:cNvSpPr>
            <a:spLocks noChangeAspect="1" noChangeArrowheads="1"/>
          </p:cNvSpPr>
          <p:nvPr/>
        </p:nvSpPr>
        <p:spPr bwMode="auto">
          <a:xfrm>
            <a:off x="155575" y="-1866900"/>
            <a:ext cx="6991350" cy="38957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5" name="AutoShape 4" descr="data:image/jpeg;base64,/9j/4AAQSkZJRgABAQAAAQABAAD/2wCEAAkGBxQSEhUTExMVFhUWGBwZGRgYFRcXGRgYHBgcHBoXGR0YHSggGRolHBgbIzEiJSkrLi4uHR8zODMsNygtLisBCgoKDg0OGxAQGywkICQyNSwuLCwsLDQsLDQvLywvLCw0LCwsLCwsLCwsLCwsLCwsLCwtLCwsLCwsLCwsLCwsLP/AABEIAKcBLQMBIgACEQEDEQH/xAAcAAABBQEBAQAAAAAAAAAAAAAAAQQFBgcDAgj/xABEEAACAQIEAwYDBgMHAgUFAAABAhEAAwQSITEFQVEGEyJhcYEykaEHFEJSscEjYtEzQ3KCkuHwU6IVY3OD0hYkJcLx/8QAGgEBAAMBAQEAAAAAAAAAAAAAAAIDBAUBBv/EAC8RAAICAQQBAgMHBQEAAAAAAAABAgMRBBIhMUETUSJhgQUjMpGh0fAUcbHB4UL/2gAMAwEAAhEDEQA/ANxooooAoopJoBaKSaJoBaKSaJoBaKSaJoBaKSaJoBaKSaJoBaKSaJoBaKSaJoBaKSaAaAWiiigCkpaSgCiiigCiiigCovjfG7eHABINxpyJMExux/Ko5mpSsew2JbEYvE3C2huuqnSQoaFCk8sq+08qrsltjlEoRyxx2l7S4lSt5Ggq8le8YFl5juoyhegJze9aF2Y42mMsLdXmNR0PMVmXanAKq6e/y/359a7/AGP4plv3rc+HwmPM5gT9BVdEm0Tsjjk12iiitBUFFFFAFAooFALRRRQDbH4wWlzsCRIBiNJ0kyRpTd+LWgdWiQCPC2slhG3xSreHfQ9DT69aVxlZQw6ESPrTV+G2TE2rZgQJRTA3gabSaA84bidq4xVGkgxsdfCGkdVgjUaVHcE4kSVtuSxYSp3PUq37H26TKWeH20bOqKrQ2qgD4suY6czkXX+UVXOK4sYO+os2WeR8KCFAiGBOy7Kw6majJ45LqY78xxz4LZRTThmOW9bFxecgjoQYIp3Uippp4YUUUUPAooooAooooAoorlir4RSx5cup5AeZOlAlkiOIcSi8oVvDbYZ4O5bQg+QUz6+lTk1U+HYgX8UyXrWQifAxRgwAyjY6jViZA1Iqbbh7d+LqvlXTMupzR7wP+dKjF5Lro7MRxzgkaVagP/CMRkyfejGTLsZmImZmZ138tql+HW3VIuNmaTr5Sco9QsT1M1IpHVFFFAFJS0hoAoqp8d7XhLhsWAGcaM7TkQjcafERz1gczUJexoBz4jFXif5bjIo6ABCBVcrVHgmoNmjzRWWYnjaiGtYjEL0m6zCddwzEcjXpO2+ItAkvbu6aB1yGeWqAaeorxXJhwZqNYR2cxvd3LqNEh3365o161P4b7SsW6yLFsn/07pj5NVPfCMpNxkuIWM5gAUM6n4iDOvU1GclJYJRTi+Sd7T48FZMaDQe36613+xzxYi63WB8sx/eqfxGyWgG7p/hM/ITXXs72nPDroKWw+YBtXyjSQdgd5+lKo7T2x54Po+is44V9qa3CDdw+RDzS5nI8yCqyPQz5VM2u2L3iRhsMWUfjuPkHyUMY2qzfFeStwZbqKqx7SYhP7TDW/wDLfP7p+9OMP2uskhbqvZJ5uAV/1KSPnFFZF+RtZYaBXm24YAggg6gjUEdRXoVMiLRXlxIImPMcvPWoW3cxgtGUDXBlicnimcwMMBpprp/miSBOV4qEuYvGA/2KxtyMlmCiYckATMxqAScvw044pZvk+BvB+VTlf/Ud/Yr70Z7FZeCTqr9sLDKyYi3qUEMvVd/pXbA4bE5PA2QS3hYrPxGTrbJM+pqD4j3lq8731NwNlCj4gIBkiFAAMjlyquTyujZpq8WZUlx+p04bjipN3DEHNq9ljAY9VP4WqcwvaqyTluh7LfzrpP8AiEiPWKruD4tZJ8Ng+w2pj2346UtgWUk/iYrIQcp6VBb4o1zqrts24598r+M0uzeVxmVgw6ggj6V7rGOB4rH2U+82nS7bIllzKsRuDIGUj3Hkav8A2V7ZWsWMp8Fzmp3/ANx5jT02qyM0zHfo5V5a5RaKKRmAEnaqp2m7c2cL4R435Afr5DzMeU1JtIz11SseIothNNbnEbS73F+c/pWX/fuIcQVmVxYSdMwYZh1DZfqAPeoPhXaS9g8R47/f2s0XPEzr5shfWR1Gh2qHqGxfZ8sPL5XhGzXeKr+BWbzjKPct+wNVvjXaBVPiYMw+FF+FT18z50/xWNWDmtkjqJg+dQV/FYItLIQ3XUGoTcizTU1p5abJLsVgHLviLgILaCd4q4Vm3FeNrbs5sLdud4GXwl3KhSwBOWdYmrWnHmCDOgnLvJWTG8OF096nCUcYKtVTa5b5efBPUq1G8O4oHhXGVzy5N/hPP039RrThOIp3htzDgxBBEmJ8M/FoQdKsTyYZRcXhjyio4ccsZM/erGXNvrETtvMct6e2byuMykEdQZGmh+tDw6VEdqse9jC3bltSzhTEcp/F6KNY3MRzqXpCKAwnCcIxFxiqAmPiWYKncI7alnJMlRsZ8pe4jsffCNcvsERRJPIdN4/3rX8HgLdrNkUDMSxgAasZJ06kzWX/AGu8fY4mzhE+BIuXehY/Ap9F1j+YdKrcUuScW28FGS4zXu6CNI+EEavrAgDnJGmu9af2e4DasIHuoLl875gGCfyruJ86YcFwqXcR97ygFUCIBycqDcPsIA9T0qw8Qxq4a2XYS2yr1J+FfU/QanzxuUrWoQ7LmlBZZ1vu5GpCr5kKPaml7GFEa08G2+gB1yk8teVVyzxG8WXEXLn94ghLoAQZvEtxNyCJjNtHQiHOPxqtcKL4giiXRrbrMQdEYvpGpKwOsVXqtJZUk4vL8ntF0ZvDJ7hfCMOtsBcPaa42pJRTAJ5kjQU7PDsPb8LWwxO5CKY0mAu8a7KDTbh/EBhrKjuncjLmK5FAzN+a6yqTuSASQBykVXu1tu2+JuHMjA21ZGEMQ8+FFYHQlhy18VX6Sj1fxFV9uzo8drOzKIDcw6qvOFAytz5aA/8ADVbXtb3aZRmB2idiNOu41G3OrTguJtLWLhLDSHIO5Ew0gSw6/i8z8ef9uuFNh7sje5t/i5n5UVTrt9OfT5TLI2Kde5eOxzc7XMT4hO++vpvr9akDx0XLciRyM+ID15xGnkPPdr2Ewq27qWsSEdbxiNCytEwfUA6da0XGfZnhj47Be2x18LafIyPpV/pRa4Ib2uyD7DdpWsuUdv4BiROYKxPxqeS9fM661rKmRNZtwPs3FxbJHht/FGh6i4pjUllIPr6k6QiwIGwqcE0iE8eD1RRTLEcSVLgtsGGaIbQrqYjQyPWI86mQHhrzTF+NWR8Tx42TUNoymDMDQajU6a0Jxa2wcq0m2CWBVlIidCGA1lSIoBziMQqCWMdOZJ6ADUnyFUztFxk94ytbYoFDKsiJJCkOBsZMgEkETsRUrhLDO6glnGod5+HnlB5AneDm28iJw4K3AXIsDYQNKmmosGcfesU2yKo6a/sIqIxef7xbNy61hSGBYAsmYxC3F2ZGE7/StgXDoBoo+VUL7QeO2LKZVVC7DQGSCP8ACNSPOQPOpu3dhYLIS258fP2K5ie8wVwd0QLVxgxUeJM8HQH/AKbjUHfwx+GunE+Gjw4nD+BoziPkyx0B0I6GKiTiQ9lss929lriAmcr22DlfVSD6hgeZqd4RiCcNa0Jm6yQOjIWj/UKx317JcHb0t2+tTfecP5oOI9tL2IRLGHVzdYQQQPD13+KPzHQCOdR2Hwluw8ZfvWMmWkk2rRPNyfiby32+Henl3wFrGGMOdL98fh/8q2evU8vXab4Rw63ZthUH9STz9TVTkWqMYL4Vhf5/4Q2I4beuSb9+4S4ylU0WCfgVR1IjqRMmJrrwzhxs3kW3dw6sGXNZRVuvknxG9cOq+GdoEwBTbiXFLL4gpNy7k8OW34UDfizNILHlA0AEa61YuENbVQO4KqOQCgfIVpr2xXPLOfqLLJPEVhfLyNsR2ju537sHJmMbajkYPlXF+J27v9ogV/zQPqNjV1wljD3RoPbnTTiXZK3cHh8J6itUbYdNHMy0xlwGxh7rBHspn3VgPC4G/ofKrbesKylGEqdxVTwvADhB3jXSxBgQpGWdM3OT66b1YuG4p3LK+WVykZZ1Bkc/NZjlMa71VOMc5j0eucn2ztawNtTK20B6hRPz3r2cIhcOVGYag89o/QCutKtQPG2+xkODWAIFpdo25bfoAPQAbCKc4XDrbQIogDau1FDwKSlpKAb8Qxa2bT3XnLbVnaN4UEmPYVleG4zhr9p7zKGxJLXCSNRmMAL1CjKo9BV+7bjNhHtAwbxW17Mwzf8AYGrMeEdjWwmKtB7gYPd0CzGVQW1kfy7CsuplHGM4ZfSuclv4Hw5sPYQOAIBMzpJJYzPIaz5LVe4lxA3s16bq5NLOWB8Q+NzMqWGug2gCrZ2mvq82JgshA36rMhQSRqAY5B6r7cMRFZkL5VAnUZWua65cp2zFdJnTSDI9oi4LK7Zog6+7PpwRWHVCBI70KNdFs2wDvmuFc7a+Xoa5cbRTbbu7Vu2yBWBQX1IBaAQbmh15jWrFiuGMWTDLdYM2e9euKcrMJKosjZSVYwOUVUcJdvPmtNca5bLL8UMRDgiGPiGgGk1trhbNqTl9PkYtRdp45UIfX+fsSAu5tboW64hA99zlmPhUCIjrIG5O9Pe4swwZkw2ItMvhdlNtwToy59YHMa6etMsFdVv4OXV3Ylp+FUMnKOZYzrpAHSpE8AtPiUsumZLli5pJ0cZunIZTHtVEr5qXD4Oj/SUeklNc4znzx2MRxG5fuXLd25ZF1srBlOZf4a+HunQnKDzkSOcCuHaS33+DW7HiSG15Row9gfYMo5VLYfsvakD+K5UE92MxGcCJBIICnNOkgZSOdecVw4G3dtMzEsASSZ8XwwDGsyrHeRlmDIEbfjjl+OSvFaWIv9Cm8O4DcBOIlhkHeW25TyA61vXAcWLti242Kg/SsBt8avkW7CLIjKZG5nbX9q137MsQThhbb4kJQjoVJEfKo0uWXu+hntSwmi2rYUMWA1O5roKKBV5QLXK9hkYgsqkgyCQDBGxE7GutFANW4faJJ7tJO5yiT5zEzPOuWH4VZRSi21CkQdNSJnUnU6nnT+vFAeUQAQAABsBoBXqiigKz234+MNZY7mNvzMfhT33PkKxFrVzEO1x2ljqSdvIeQ5AVcftDxZu4hU/CoL+7GB8lH1qopgfvF5LLP3dpQWZspYZuUgch+9bNPBKO5rsy6qbc/TXS/VkrwFAMLjFb4rSsy/8AuIUYe+UVYOB3Ht4K0iaXbzNkJE5BENd/yqNOpKjnTDHYS3bsYprV63c7xbSeAzB7yBmHImf1qTxt4WbqosSO6wtudgzAM7n+UBkJHMgCsWoW61qJ3NBJQ0i3fzB34hYs4ayChuaaCFz5jzJ5mTqTIHnUV2j481rB5llbl3wW+okeNx6DQHqa8X7F2xax9971x7i3BZssWPgbN8SgeEeFgYAiB0qH7Y4tsRiraH+7tJI6XHUO/wCqj2qcNJiaK9T9oP0JJd+Dpwu592wNpl0u3i8H8qqxEjz2ApgvE7iNIvXM3XO3111qX41ajD4MjbI498wP9ard9ktqGcMczQAok1RZ+JnU0cY+hGUvY0Lst2na4wRyBc/Cw0DxyI2Df89dM4ZjO8SefOsMscOZQrpsQHRh8wa1XstjcxVuVxQ0eZ3HzpXLnBj+0dMo4siWlhOhpphsALbllJgiMvIazpzjy5U7oq05Iy4naunIbTQQ0sNIZYOmo3mI1HnpTdxiswju4OWT+Xw+OBufFtPnUrSrQEPw69i2ufxFQWwWB0g7aFdTIn059BU1RRQBSUtJQFJ+0jja4RsLccEpmf8A1BQF+hb61BYPjKYm/YuodAHJB3BgD9/rUl9qXBTjGsWQROW4wBOhMoP0qucJ7OHC37NpCGYq+aCYjTaehiudqtm7P/o10dFsxNqzdYd4qMRMFg06kkgw4nUmnvDeB2FbNbS2p6opDexLEfSoe9wy8D8EjqCK7YZbgVVJe2Tdt6iAYVxccSQRBRHnyms9N9spKLLbOIcS+mRzw6GxGMujZCtpf8NsAMo91b51REw7DEuq/wAP+L4YMki28ONdx3aj2PvVm4Xjjbw6uRrdZrh05sSf3NdLK5ywtZczCCDExGXMs7MF0I5gA8yK7VeoirpVv+35HMlRKVamio8GtOLswXMlSAQpUXWBQSQY0zaxV5K5cRhLg2JuD/VBA+TGmVq4tpAhVe8gBgsMV0g5iu7xoByBPWneKxBy4ZyCIxA3Ead2/wDQVinYt+1f3Oy5bp8dcr8x9xHs9buNntsbdwbMpyMIEASNxHIieUgVXLvDLyN4ykILhknKzF10WNj4wNFmJNTj8RYXWhLkBiuiMw05yBXDiPEjB/h3PdGH7VlnqpR4cSqtzS254+fgrHYu2me/mRSyXWykgSJJ26VaPs5ufxMSv/mk/MA/vWU44XrgudxPivHQAzM6TFaR9k9i5ba+t4y4cSepKjT1FaqIYm232ujPa1jBpNAooFbDMLRTTidp3tlbbBWJXxGTAzAtsQTpI0I9ah1tY0nLmAC65jBDeEwPhknMddANBAHMCxV5qHu2cWXSLihAFzbFichDH4Y+Iz/lHmKRbeM8PjtgAa88zakbroNh8zQEzXPE3AqMSQAAdSYFc2tOTrcgcgqgGOhLTPsBXi5ZtJq0AnQMxlvQFiT7CgMg49ZzYm4SRELGsmMg5DzmufC7ai8toZmZgW6ADqekxUrxvDDv8xkZlHIgkrod9uVPOEYQA5o1iJ2MchO/yNdCp/dpmO+P30l8xtxXDAJbRV+PEWQY/KrZifpUZxozi1M6FnYbjWQnqDFsU67ZMUbChFJi41w/5coBJ9zvTJrPfQucC7nZ0hokORnQEfiEBhH81Yo2JajMjuQol/RrHjklcXwaHRHBLXfH4mZmDZ1QySdTlcb7cqjrvdYpPvIQK9vEvZcj8aMxKMfTMo+flU5jbh767dLHJh86IukQtlXY9ZzrHtVX7LD/APHP54q0PkyGtUc7kcm9/Al7/wCh3x20Rg0HO1fI/wArBj+/0pjd4YPu9pIBvYkllJ/u7YjxDzMj5+VTnG1As3SQDrb38yQaXE4ab6beHD2lUa6Al9deu3tXP1K2zZ9F9n2btPBS6/YkLGAC2raZi2RMpaZkx5077KuVW3CyFZxAOvxHTXT6ivNq2UQ8/oR/X/m9Oeylr4B/M7HyljH0qmvO4jqmvRaLgmMQkAnKTsGGUn0n4vaacUjoCIIBB3B1FMsXgF7t1DG2GRl0PhEqRIU6CJnSK0nFH1KtVh7SEhUxoVc0KARIY5ZWVYDnoABGYin3/g93xf8A3T7gro2gE6Hx+LTTl1MnWgJuaKicDw66jpmvtcABzTOpyqq6SdNHY9SRvUtQBSUtJQGf/abxb7pdw14iRkuqPWUP6fpUR2W42uJxdi4NJDgg8tAf2q1faVwlcRhlzbW7qkneA3gJj1Ye01WcLw23g7mGCGYcgtAE5lI/pXP1SgpZfZqpbccGiXLqgxFQXa0lbDXBAAtso697dy2kI9Fd/nXriHEAGptxoHEdxYUx8V1j0yKck+RYn5U0U1Zdjwiq6LjXkcPhhbwtpeiD9JqqY+7uOVTz8Q7zCIy6lBkbyZdNfUQfQiqfisQSTWTWRfrvJr0iTrTNFwFpVtjKAABpGlRvau9Fm1J1N9QP9D/tT7hryojmKhuNEXrlxVMrhbbMT1vEQAP8I0Pm0VfRzho9oX3vPS5JrhOLDi4VYGLmsGYLIj69DDCmfaK/4Nd9T9KdcJULhrbAAEjxECMzKBbk9TCAT0AqB7TX9DVGqk92CFUMTKZ2e4rbsG6XMFrjD08VX37MTmW5cmc9xjPWNP2rLuGcA++KzZ1UF2YySDE+Va39l+DFvBoBt4iPQsSPoRXRpjHe2uym5vGC5UCigVqM5xxuJFtC5ExyG5kwP1qL/wDqixEgsTBMBegEwdjqwG/01qaZZ0OoNczhknNlEgETAmDEj3Cj5CgGFrj1lmVVJJYAg5TEHQSfUge9OPvRb4EZvNvAv18XuFNORaA2A+VBoBsLLt8TwOiCPYsZJ9RlrpawyrJAAJ3O7H1J1PvXP74D/Zgv5j4R6sdD7SfKjuGb42gflSVHu3xH2y+lAVDtVgJchYzg51G+jfEp6a9fKojDYuNJgjfTX67fKrtx7DKttSqgBW2AjRv94qs8VxNu1bN24oIXQaAktyUTU679nwNZRc9L66U08PoqPa7DPexdq0shVtK7sZIUFmlyT0A0+VeeC8OnFWNTkDK4mMwIYQp+c0lzjl7FMFYratSAQAWjzMaselSuIw1u1xCyVPwm0pE7EtBzecFT5zVGyTnyddWRjS4L2wR9zHZ1x6QwuA3YBBi4t26UV1npOU8tvOu2A4Y1rhxDKdL4uNpsFUTvvqsac9K4YjiN9LtzDwCn3honcDviYHkalOP8XnDpk3uPbLrOqlcrz5gwvyPU1urn3n3ONqdM5NOPWMHbGYLvldN1Q5njeEnT5n6U4XCOb9llH9paW3B/MguNqDyyzVd7OY18JiCxJYMMzjm2hOnnP6VJ8Q453LZ7YDrbutkQkqQSjqRIHwAkGNDrG22S+LnPPudKhuqtQXj/AGS2JDz3Sg520CxMec/lHn/QVYOBYJG1UkBAFVgYYAf7yYPuKqXZLtHfvfeDcCBQFAyoF1Ykb6k6DmTV64bgv4YZTlfryI6MPxD6jWCKjGG1mbVWSaUekPO9dPjGZfzKNR/iX91n0FdfDcQjRkYEHmCDoRXi1idcrjK3LWVb/Cefpv7a14xeAV1eCVZ1ZSROsqRJEwxHz03qZiEThVkGRbUGSduZ3PlMU9Woc8GY3Bce8zFXDhYZVWBBAGfYifnz1nkvAbkuTibhLCAfF4YYsIGeNJI9/IUBP0VGYPhrpc7xrzsTustk2IgKWIAmD7edSdAFJS0hoBpxXCC9ZuWmMB1Kz0kfF7b+1fPmDuXredjczZLphgSwco8C4usBdjPQ+la72lxhxF04VTltIB3x/OWEi31iDJ67etM7XYBbaNl2jaNDyB03id/MVnslGTwXVppZLthOFG8quzASAYGv1JqM7SMtu8y5yrdzbyQD4gXcOpI2GUnU6V67F8b73BW9fEoyn/Lp+kGuvaRGKriF5KbV0Rr3bHf2MjyzTyqrQbIW7cckdUpOGfAyvW7q3bly2gsjuQ5T+0W4F8ILDSDHSDpvrTXvbtzIxwtoi5qrJiAqN7lSFM6QTM6U7sZVa42ZnsqbbIzEkquvhB/DBYgT5/llVufz3GkrqAzDQBSWAygAvkBgEL4tCdK22xhY/iXRChuC4/ycb/GL7IGRLeHtuzI11S12CuhhlWBroCAf6RqYlQyHuSLKHuzlZv4jnM6zmAYyQp1HIVPXb8BYaCQTka85XwSDshmSCdNJHONYrGl0yYm5cUuXZikRbXuxlGx1OoA8jVE4qOMcHV0k1LKx+v8APzJjhuOyYG2CdQXHrDtrVX7VY+LLGdSIHqdB9TVwscEU4NFf4gC511BYlonrrFZl2kYC+trMSqkNv6gDTyB+dc+cN96ISlH4pL3Yyw+IvWkWyqQbkBfMnbXlW69lMPkw6KNgAPkIrOcdgkuWQ9s5XSGEb+sfLyq69hOK99aAO/MfzAcvIgz710KWnn3MNmS1UCigVeVHDHl8h7v4tNomMwzRm0zZZidJiajPvGL1i0pAHMjMx000eAec7aEdGMjxTCG9aa2HZM2mZdGGoOn6VHNwDxhu+ujQyAzDNPM66xy6a+wHfB38Q2bPbVNRlJadCDJIUmSDGkjfenH3MHW4S/kfg9l2PvJ86jxwAgqRiLoy8pJB05iYP9ABpqS84XgDZDA3HuSZlzJGgHP0oB7RRRQDLjSzZfyg/Ig/tWddvLLNaBHwq409QQD8z9a0riFrPadRuVIHrFU/itnvbOX89sgf4okH/UBUG8STN2lfwtGd8J8JD8s0GrDxWwPvFxjpFwEH/wBtIPzqEtWsuGU/naasN9DdRbnMKFuDnpOW56HWf9jVz7TNR64hgTfcYmwpdbhUuF1KXFADAjpoDp59RLLiuB7pUFyA7EZUkFsozSxjZRm/TrTQA95bRGdC7qpKOyEidRKkTpNdMPgywv5dWN5QvjzMRqxViSSdCK96IdcHh7RN5IEk5R9dfaK8Nw97tu4FUtc785QNZAQTHkdak70W5tSBiLgAPiUm1b/Ew1+Mgae3TV/2VsPbFxypyRCaiPPc+Q1rzdxkOSDhHDTYt27bCHds7joY0X2AHvNaLhFhFHlVRwgNy+DlJgDmu+/WraL5/wCm/wD2/wDyqqPPLMeqlmSXsjpetBhlYAjz+nvTYl7YP94oBIknMIEgGASw5SAW20bU1278/wDTf/t/+VeXvtBi20wYkqATGgJBMTttUjMRtnjjRLWLkSASAefOOY0JJHlvM10TjZ7sv93uzmZcuXXwrmn0InXqI3NcB2i0YixeMER4QMwYEq2pBAgCdNJ5xXq52hygnuLpiDAAJIkA5YOumvymJoD2ePNE/druq5gPnppoDI+WvlXTC8azvbXubozzJKkBd4BkcwAfQipHCXhcRXgjMAYMSJGxjSu0UAVwx2IFu29w7IpY+gBP7V3qJ7UuBhL06goVjrm8MeuteN4QRnGF4kVV3f8AtDDN/wCrcgxP8qwPXN1qC7T44lchOijXzP8Azyke1St/gThSwYkJeAg/jumdJHKco/8A5Xh+wOKvXAjQtvdmU6noBI/Ws0YNyyaG0kVX7Ou0fd4tsO58D6Kejg8/WY+Va3h8dkud2RmV9I3BnlHSsw7T9hzgb+dQe6bUEAnI/Sd4O4PWRV17DcVt3DN4/wAZRAB0kfmHmedUamtxsVkfqSrknFpktxHg17Dw1hEvWQwY22Cm4omSgLfEh6b6DeJqFvcTcXMwtEWg0901vKxQ+ZUgx5nUmeelxv8AEAZBAKnQgwQRzBB3FVm7iLVpkS2uRBACoz21A6AIwFWPXxf4j2qrbxg5HGsWa4tq6yBpVbigKLcHMGY+FZJmJ2p5geFK79/iMh8WcW01QH8MnnA2A0568pG8bAAfu0LcmYZmHozSfrVU4hjjbZmB8G58up9Kz3avdxA0VbsPHBYu0XHBbtOSYAEk+lYM/aE38SxiMzGDz0+H6Cp3tX2gOJHc25yTq22aP/1/pUn9n/2ed/cW7dXwKCVXbMSPiPQDl56+unSUuKcpdsy2zX4Y9CW+IObagQOU+caAjz6+tWr7MMaReykmG1XTlJ2nc5mYH0FRV7srdtnJcBW01wKG/FmWSCvISBv1051buxHBiXF0qAqiFjkQzB1HlKr9augsMhJpo0GgUUCrikWiiigCvFe68UAUUUUAVVsTYyXTbO05l/wtuPYz9KtNMeK4HvFBXR1Mqf1U+R/pUZLKLqLNkuemZp2h4Q2RDYUlU8JQS0DkQNyOvtXN2dUDW2KumoI6HdSDoRI2NWgPB2IIYgjmDTDEcHF0s5cqhOqgaluevIc/ekLFjEjpteSG4bxB77MxsYclP7woVJboInXz867Xbl/upUpZzHVbVvK0dSxJ38gD51KYHg7KcsqEGx6j03mn44anxFnI6aQY9pqbcEQyVvsxwJTdLkEganMZkk7EnUkneelWriWIAR+ggf7UiYgKkAAaqYAiAT/tXKxYOIuBB8KtLHkT09BVMpObwj1/D8cvBK9lcGQucjU1P15tWwoAHKvVWJYOVOTlJyfkKKKK9IhSrSUq0B6ooooArxcthhBAI8690lAR13g9s5I0CXDcjkWMzM+bTUjRRXmAN8bhFuLDCs67RdljZtMLVstrKsurDXbr6f8ADWm0jLOhqM61PslGTiYhwi/jAWXPmygSt0GQT+GQQ0+pNMcdxa+xnuwCDrGZtjEEDbXrWx8U7N2r3IA9dj8xqKyPtVwhbGIvpyXJGpOrW1MSTO5rNLTRzlpF8bn0jg3am65FtbYmN8+m5GmnkaZjvL75bp8M/AgJ1H5uZ94HpVq7KdgDdCXi7LIGmwA5DaZ578zWh8K7LWLIELmI61OGmhF5SweO+T4ZRuyvYFXbvXTKNInX6bT/AMHU6dgsElpcqCK7qoGgpa0JYKG8jTiXD0vqFeYDKwgxqpkU5t2wogCBXqivTwKBRQKAWiiigCvFe68UAUUUUAUUUUBGcW4SLviXR435HyP9aqtx2QtbuAqwMidiNjB51fa4YvBpcGV1DDzH6dKhKCZro1Tr4lyio4W74J/lH71zv4wBFE7r9amm7LW/wswHSZH11r3h+zVtTqZioKtmiWsq7SbK5Yw1y80AEKco8zH6CrlwvACysDenFjDKghRFdasjFRMV18rXz+QUUUVIpCiiigClWkpVoD1RRRQBSUtIaAKKKKAKKKKARjGprKPuR4jjrjgE2jczMeTBVCovuFDHpMdK07iWCF62bbMwVtGymCRzWRqAdtKTh3DrdlcttQAKi1k9TwdMHhxbQKOVd6KKkeBRRRQBRRRQBQKKKAZcQvkp/DaGkddswnl0mo1RfNvKbqhwyktDQQomBAEAsAD5ZtNaWigOV1cUfCMQIK6tAGU84i3J306RJOkFHtYqWK301AiZ3A3gW9P08qKKA7hb5XW+ueZkLpMOMvwarOTfX4tdq4BMWRDYhB4GBKrBz+LKRNvQbf8ANyigJ1b6xv8AQ/0pe/Xr9DS0UAnfr1+ho79ev0NLRQCd+vX6Gjv16/Q0tFAJ369foaO/Xr9DS0UAnfr1+ho79ev0NLRQCd+vX6Gjv16/Q0tFAJ369foaUYhev0NFFAL95Xr9DR95Xr9DRRQB95Xr9DTHi1xmTLafKxnXURKMAZgxDFT6A77UUUAye1dZVm9lKuG0LCVyrIlQJk5txGoOX8I4BcWdGvpoN10BJJ5BJAAI5+X81LRQHTCriQ3ivplDKRAJJUTnBJTnI58txXtvvGZj3yxyGn5552jlGSRsxmJJ3oooDlcTFEj+PbAKw0TqQpAYfw/CS5B8hprFOMD34ZO8vKVE5gB8QgAalJ0PnPUmYBRQEv8AeV6/Q0feV6/Q0UUAfeV6/Q0feV6/Q0UUAfeV6/Q0feV6/Q0UUAfeV6/Q0feV6/Q0UUB//9k="/>
          <p:cNvSpPr>
            <a:spLocks noChangeAspect="1" noChangeArrowheads="1"/>
          </p:cNvSpPr>
          <p:nvPr/>
        </p:nvSpPr>
        <p:spPr bwMode="auto">
          <a:xfrm>
            <a:off x="307975" y="-1714500"/>
            <a:ext cx="6991350" cy="38957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6" name="AutoShape 6" descr="data:image/jpeg;base64,/9j/4AAQSkZJRgABAQAAAQABAAD/2wCEAAkGBxQSEhUTExMVFhUWGBwZGRgYFRcXGRgYHBgcHBoXGR0YHSggGRolHBgbIzEiJSkrLi4uHR8zODMsNygtLisBCgoKDg0OGxAQGywkICQyNSwuLCwsLDQsLDQvLywvLCw0LCwsLCwsLCwsLCwsLCwsLCwtLCwsLCwsLCwsLCwsLP/AABEIAKcBLQMBIgACEQEDEQH/xAAcAAABBQEBAQAAAAAAAAAAAAAAAQQFBgcDAgj/xABEEAACAQIEAwYDBgMHAgUFAAABAhEAAwQSITEFQVEGEyJhcYEykaEHFEJSscEjYtEzQ3KCkuHwU6IVY3OD0hYkJcLx/8QAGgEBAAMBAQEAAAAAAAAAAAAAAAIDBAUBBv/EAC8RAAICAQQBAgMHBQEAAAAAAAABAgMRBBIhMUETUSJhgQUjMpGh0fAUcbHB4UL/2gAMAwEAAhEDEQA/ANxooooAoopJoBaKSaJoBaKSaJoBaKSaJoBaKSaJoBaKSaJoBaKSaJoBaKSaJoBaKSaAaAWiiigCkpaSgCiiigCiiigCovjfG7eHABINxpyJMExux/Ko5mpSsew2JbEYvE3C2huuqnSQoaFCk8sq+08qrsltjlEoRyxx2l7S4lSt5Ggq8le8YFl5juoyhegJze9aF2Y42mMsLdXmNR0PMVmXanAKq6e/y/359a7/AGP4plv3rc+HwmPM5gT9BVdEm0Tsjjk12iiitBUFFFFAFAooFALRRRQDbH4wWlzsCRIBiNJ0kyRpTd+LWgdWiQCPC2slhG3xSreHfQ9DT69aVxlZQw6ESPrTV+G2TE2rZgQJRTA3gabSaA84bidq4xVGkgxsdfCGkdVgjUaVHcE4kSVtuSxYSp3PUq37H26TKWeH20bOqKrQ2qgD4suY6czkXX+UVXOK4sYO+os2WeR8KCFAiGBOy7Kw6majJ45LqY78xxz4LZRTThmOW9bFxecgjoQYIp3Uippp4YUUUUPAooooAooooAoorlir4RSx5cup5AeZOlAlkiOIcSi8oVvDbYZ4O5bQg+QUz6+lTk1U+HYgX8UyXrWQifAxRgwAyjY6jViZA1Iqbbh7d+LqvlXTMupzR7wP+dKjF5Lro7MRxzgkaVagP/CMRkyfejGTLsZmImZmZ138tql+HW3VIuNmaTr5Sco9QsT1M1IpHVFFFAFJS0hoAoqp8d7XhLhsWAGcaM7TkQjcafERz1gczUJexoBz4jFXif5bjIo6ABCBVcrVHgmoNmjzRWWYnjaiGtYjEL0m6zCddwzEcjXpO2+ItAkvbu6aB1yGeWqAaeorxXJhwZqNYR2cxvd3LqNEh3365o161P4b7SsW6yLFsn/07pj5NVPfCMpNxkuIWM5gAUM6n4iDOvU1GclJYJRTi+Sd7T48FZMaDQe36613+xzxYi63WB8sx/eqfxGyWgG7p/hM/ITXXs72nPDroKWw+YBtXyjSQdgd5+lKo7T2x54Po+is44V9qa3CDdw+RDzS5nI8yCqyPQz5VM2u2L3iRhsMWUfjuPkHyUMY2qzfFeStwZbqKqx7SYhP7TDW/wDLfP7p+9OMP2uskhbqvZJ5uAV/1KSPnFFZF+RtZYaBXm24YAggg6gjUEdRXoVMiLRXlxIImPMcvPWoW3cxgtGUDXBlicnimcwMMBpprp/miSBOV4qEuYvGA/2KxtyMlmCiYckATMxqAScvw044pZvk+BvB+VTlf/Ud/Yr70Z7FZeCTqr9sLDKyYi3qUEMvVd/pXbA4bE5PA2QS3hYrPxGTrbJM+pqD4j3lq8731NwNlCj4gIBkiFAAMjlyquTyujZpq8WZUlx+p04bjipN3DEHNq9ljAY9VP4WqcwvaqyTluh7LfzrpP8AiEiPWKruD4tZJ8Ng+w2pj2346UtgWUk/iYrIQcp6VBb4o1zqrts24598r+M0uzeVxmVgw6ggj6V7rGOB4rH2U+82nS7bIllzKsRuDIGUj3Hkav8A2V7ZWsWMp8Fzmp3/ANx5jT02qyM0zHfo5V5a5RaKKRmAEnaqp2m7c2cL4R435Afr5DzMeU1JtIz11SseIothNNbnEbS73F+c/pWX/fuIcQVmVxYSdMwYZh1DZfqAPeoPhXaS9g8R47/f2s0XPEzr5shfWR1Gh2qHqGxfZ8sPL5XhGzXeKr+BWbzjKPct+wNVvjXaBVPiYMw+FF+FT18z50/xWNWDmtkjqJg+dQV/FYItLIQ3XUGoTcizTU1p5abJLsVgHLviLgILaCd4q4Vm3FeNrbs5sLdud4GXwl3KhSwBOWdYmrWnHmCDOgnLvJWTG8OF096nCUcYKtVTa5b5efBPUq1G8O4oHhXGVzy5N/hPP039RrThOIp3htzDgxBBEmJ8M/FoQdKsTyYZRcXhjyio4ccsZM/erGXNvrETtvMct6e2byuMykEdQZGmh+tDw6VEdqse9jC3bltSzhTEcp/F6KNY3MRzqXpCKAwnCcIxFxiqAmPiWYKncI7alnJMlRsZ8pe4jsffCNcvsERRJPIdN4/3rX8HgLdrNkUDMSxgAasZJ06kzWX/AGu8fY4mzhE+BIuXehY/Ap9F1j+YdKrcUuScW28FGS4zXu6CNI+EEavrAgDnJGmu9af2e4DasIHuoLl875gGCfyruJ86YcFwqXcR97ygFUCIBycqDcPsIA9T0qw8Qxq4a2XYS2yr1J+FfU/QanzxuUrWoQ7LmlBZZ1vu5GpCr5kKPaml7GFEa08G2+gB1yk8teVVyzxG8WXEXLn94ghLoAQZvEtxNyCJjNtHQiHOPxqtcKL4giiXRrbrMQdEYvpGpKwOsVXqtJZUk4vL8ntF0ZvDJ7hfCMOtsBcPaa42pJRTAJ5kjQU7PDsPb8LWwxO5CKY0mAu8a7KDTbh/EBhrKjuncjLmK5FAzN+a6yqTuSASQBykVXu1tu2+JuHMjA21ZGEMQ8+FFYHQlhy18VX6Sj1fxFV9uzo8drOzKIDcw6qvOFAytz5aA/8ADVbXtb3aZRmB2idiNOu41G3OrTguJtLWLhLDSHIO5Ew0gSw6/i8z8ef9uuFNh7sje5t/i5n5UVTrt9OfT5TLI2Kde5eOxzc7XMT4hO++vpvr9akDx0XLciRyM+ID15xGnkPPdr2Ewq27qWsSEdbxiNCytEwfUA6da0XGfZnhj47Be2x18LafIyPpV/pRa4Ib2uyD7DdpWsuUdv4BiROYKxPxqeS9fM661rKmRNZtwPs3FxbJHht/FGh6i4pjUllIPr6k6QiwIGwqcE0iE8eD1RRTLEcSVLgtsGGaIbQrqYjQyPWI86mQHhrzTF+NWR8Tx42TUNoymDMDQajU6a0Jxa2wcq0m2CWBVlIidCGA1lSIoBziMQqCWMdOZJ6ADUnyFUztFxk94ytbYoFDKsiJJCkOBsZMgEkETsRUrhLDO6glnGod5+HnlB5AneDm28iJw4K3AXIsDYQNKmmosGcfesU2yKo6a/sIqIxef7xbNy61hSGBYAsmYxC3F2ZGE7/StgXDoBoo+VUL7QeO2LKZVVC7DQGSCP8ACNSPOQPOpu3dhYLIS258fP2K5ie8wVwd0QLVxgxUeJM8HQH/AKbjUHfwx+GunE+Gjw4nD+BoziPkyx0B0I6GKiTiQ9lss929lriAmcr22DlfVSD6hgeZqd4RiCcNa0Jm6yQOjIWj/UKx317JcHb0t2+tTfecP5oOI9tL2IRLGHVzdYQQQPD13+KPzHQCOdR2Hwluw8ZfvWMmWkk2rRPNyfiby32+Henl3wFrGGMOdL98fh/8q2evU8vXab4Rw63ZthUH9STz9TVTkWqMYL4Vhf5/4Q2I4beuSb9+4S4ylU0WCfgVR1IjqRMmJrrwzhxs3kW3dw6sGXNZRVuvknxG9cOq+GdoEwBTbiXFLL4gpNy7k8OW34UDfizNILHlA0AEa61YuENbVQO4KqOQCgfIVpr2xXPLOfqLLJPEVhfLyNsR2ju537sHJmMbajkYPlXF+J27v9ogV/zQPqNjV1wljD3RoPbnTTiXZK3cHh8J6itUbYdNHMy0xlwGxh7rBHspn3VgPC4G/ofKrbesKylGEqdxVTwvADhB3jXSxBgQpGWdM3OT66b1YuG4p3LK+WVykZZ1Bkc/NZjlMa71VOMc5j0eucn2ztawNtTK20B6hRPz3r2cIhcOVGYag89o/QCutKtQPG2+xkODWAIFpdo25bfoAPQAbCKc4XDrbQIogDau1FDwKSlpKAb8Qxa2bT3XnLbVnaN4UEmPYVleG4zhr9p7zKGxJLXCSNRmMAL1CjKo9BV+7bjNhHtAwbxW17Mwzf8AYGrMeEdjWwmKtB7gYPd0CzGVQW1kfy7CsuplHGM4ZfSuclv4Hw5sPYQOAIBMzpJJYzPIaz5LVe4lxA3s16bq5NLOWB8Q+NzMqWGug2gCrZ2mvq82JgshA36rMhQSRqAY5B6r7cMRFZkL5VAnUZWua65cp2zFdJnTSDI9oi4LK7Zog6+7PpwRWHVCBI70KNdFs2wDvmuFc7a+Xoa5cbRTbbu7Vu2yBWBQX1IBaAQbmh15jWrFiuGMWTDLdYM2e9euKcrMJKosjZSVYwOUVUcJdvPmtNca5bLL8UMRDgiGPiGgGk1trhbNqTl9PkYtRdp45UIfX+fsSAu5tboW64hA99zlmPhUCIjrIG5O9Pe4swwZkw2ItMvhdlNtwToy59YHMa6etMsFdVv4OXV3Ylp+FUMnKOZYzrpAHSpE8AtPiUsumZLli5pJ0cZunIZTHtVEr5qXD4Oj/SUeklNc4znzx2MRxG5fuXLd25ZF1srBlOZf4a+HunQnKDzkSOcCuHaS33+DW7HiSG15Row9gfYMo5VLYfsvakD+K5UE92MxGcCJBIICnNOkgZSOdecVw4G3dtMzEsASSZ8XwwDGsyrHeRlmDIEbfjjl+OSvFaWIv9Cm8O4DcBOIlhkHeW25TyA61vXAcWLti242Kg/SsBt8avkW7CLIjKZG5nbX9q137MsQThhbb4kJQjoVJEfKo0uWXu+hntSwmi2rYUMWA1O5roKKBV5QLXK9hkYgsqkgyCQDBGxE7GutFANW4faJJ7tJO5yiT5zEzPOuWH4VZRSi21CkQdNSJnUnU6nnT+vFAeUQAQAABsBoBXqiigKz234+MNZY7mNvzMfhT33PkKxFrVzEO1x2ljqSdvIeQ5AVcftDxZu4hU/CoL+7GB8lH1qopgfvF5LLP3dpQWZspYZuUgch+9bNPBKO5rsy6qbc/TXS/VkrwFAMLjFb4rSsy/8AuIUYe+UVYOB3Ht4K0iaXbzNkJE5BENd/yqNOpKjnTDHYS3bsYprV63c7xbSeAzB7yBmHImf1qTxt4WbqosSO6wtudgzAM7n+UBkJHMgCsWoW61qJ3NBJQ0i3fzB34hYs4ayChuaaCFz5jzJ5mTqTIHnUV2j481rB5llbl3wW+okeNx6DQHqa8X7F2xax9971x7i3BZssWPgbN8SgeEeFgYAiB0qH7Y4tsRiraH+7tJI6XHUO/wCqj2qcNJiaK9T9oP0JJd+Dpwu592wNpl0u3i8H8qqxEjz2ApgvE7iNIvXM3XO3111qX41ajD4MjbI498wP9ard9ktqGcMczQAok1RZ+JnU0cY+hGUvY0Lst2na4wRyBc/Cw0DxyI2Df89dM4ZjO8SefOsMscOZQrpsQHRh8wa1XstjcxVuVxQ0eZ3HzpXLnBj+0dMo4siWlhOhpphsALbllJgiMvIazpzjy5U7oq05Iy4naunIbTQQ0sNIZYOmo3mI1HnpTdxiswju4OWT+Xw+OBufFtPnUrSrQEPw69i2ufxFQWwWB0g7aFdTIn059BU1RRQBSUtJQFJ+0jja4RsLccEpmf8A1BQF+hb61BYPjKYm/YuodAHJB3BgD9/rUl9qXBTjGsWQROW4wBOhMoP0qucJ7OHC37NpCGYq+aCYjTaehiudqtm7P/o10dFsxNqzdYd4qMRMFg06kkgw4nUmnvDeB2FbNbS2p6opDexLEfSoe9wy8D8EjqCK7YZbgVVJe2Tdt6iAYVxccSQRBRHnyms9N9spKLLbOIcS+mRzw6GxGMujZCtpf8NsAMo91b51REw7DEuq/wAP+L4YMki28ONdx3aj2PvVm4Xjjbw6uRrdZrh05sSf3NdLK5ywtZczCCDExGXMs7MF0I5gA8yK7VeoirpVv+35HMlRKVamio8GtOLswXMlSAQpUXWBQSQY0zaxV5K5cRhLg2JuD/VBA+TGmVq4tpAhVe8gBgsMV0g5iu7xoByBPWneKxBy4ZyCIxA3Ead2/wDQVinYt+1f3Oy5bp8dcr8x9xHs9buNntsbdwbMpyMIEASNxHIieUgVXLvDLyN4ykILhknKzF10WNj4wNFmJNTj8RYXWhLkBiuiMw05yBXDiPEjB/h3PdGH7VlnqpR4cSqtzS254+fgrHYu2me/mRSyXWykgSJJ26VaPs5ufxMSv/mk/MA/vWU44XrgudxPivHQAzM6TFaR9k9i5ba+t4y4cSepKjT1FaqIYm232ujPa1jBpNAooFbDMLRTTidp3tlbbBWJXxGTAzAtsQTpI0I9ah1tY0nLmAC65jBDeEwPhknMddANBAHMCxV5qHu2cWXSLihAFzbFichDH4Y+Iz/lHmKRbeM8PjtgAa88zakbroNh8zQEzXPE3AqMSQAAdSYFc2tOTrcgcgqgGOhLTPsBXi5ZtJq0AnQMxlvQFiT7CgMg49ZzYm4SRELGsmMg5DzmufC7ai8toZmZgW6ADqekxUrxvDDv8xkZlHIgkrod9uVPOEYQA5o1iJ2MchO/yNdCp/dpmO+P30l8xtxXDAJbRV+PEWQY/KrZifpUZxozi1M6FnYbjWQnqDFsU67ZMUbChFJi41w/5coBJ9zvTJrPfQucC7nZ0hokORnQEfiEBhH81Yo2JajMjuQol/RrHjklcXwaHRHBLXfH4mZmDZ1QySdTlcb7cqjrvdYpPvIQK9vEvZcj8aMxKMfTMo+flU5jbh767dLHJh86IukQtlXY9ZzrHtVX7LD/APHP54q0PkyGtUc7kcm9/Al7/wCh3x20Rg0HO1fI/wArBj+/0pjd4YPu9pIBvYkllJ/u7YjxDzMj5+VTnG1As3SQDrb38yQaXE4ab6beHD2lUa6Al9deu3tXP1K2zZ9F9n2btPBS6/YkLGAC2raZi2RMpaZkx5077KuVW3CyFZxAOvxHTXT6ivNq2UQ8/oR/X/m9Oeylr4B/M7HyljH0qmvO4jqmvRaLgmMQkAnKTsGGUn0n4vaacUjoCIIBB3B1FMsXgF7t1DG2GRl0PhEqRIU6CJnSK0nFH1KtVh7SEhUxoVc0KARIY5ZWVYDnoABGYin3/g93xf8A3T7gro2gE6Hx+LTTl1MnWgJuaKicDw66jpmvtcABzTOpyqq6SdNHY9SRvUtQBSUtJQGf/abxb7pdw14iRkuqPWUP6fpUR2W42uJxdi4NJDgg8tAf2q1faVwlcRhlzbW7qkneA3gJj1Ye01WcLw23g7mGCGYcgtAE5lI/pXP1SgpZfZqpbccGiXLqgxFQXa0lbDXBAAtso697dy2kI9Fd/nXriHEAGptxoHEdxYUx8V1j0yKck+RYn5U0U1Zdjwiq6LjXkcPhhbwtpeiD9JqqY+7uOVTz8Q7zCIy6lBkbyZdNfUQfQiqfisQSTWTWRfrvJr0iTrTNFwFpVtjKAABpGlRvau9Fm1J1N9QP9D/tT7hryojmKhuNEXrlxVMrhbbMT1vEQAP8I0Pm0VfRzho9oX3vPS5JrhOLDi4VYGLmsGYLIj69DDCmfaK/4Nd9T9KdcJULhrbAAEjxECMzKBbk9TCAT0AqB7TX9DVGqk92CFUMTKZ2e4rbsG6XMFrjD08VX37MTmW5cmc9xjPWNP2rLuGcA++KzZ1UF2YySDE+Va39l+DFvBoBt4iPQsSPoRXRpjHe2uym5vGC5UCigVqM5xxuJFtC5ExyG5kwP1qL/wDqixEgsTBMBegEwdjqwG/01qaZZ0OoNczhknNlEgETAmDEj3Cj5CgGFrj1lmVVJJYAg5TEHQSfUge9OPvRb4EZvNvAv18XuFNORaA2A+VBoBsLLt8TwOiCPYsZJ9RlrpawyrJAAJ3O7H1J1PvXP74D/Zgv5j4R6sdD7SfKjuGb42gflSVHu3xH2y+lAVDtVgJchYzg51G+jfEp6a9fKojDYuNJgjfTX67fKrtx7DKttSqgBW2AjRv94qs8VxNu1bN24oIXQaAktyUTU679nwNZRc9L66U08PoqPa7DPexdq0shVtK7sZIUFmlyT0A0+VeeC8OnFWNTkDK4mMwIYQp+c0lzjl7FMFYratSAQAWjzMaselSuIw1u1xCyVPwm0pE7EtBzecFT5zVGyTnyddWRjS4L2wR9zHZ1x6QwuA3YBBi4t26UV1npOU8tvOu2A4Y1rhxDKdL4uNpsFUTvvqsac9K4YjiN9LtzDwCn3honcDviYHkalOP8XnDpk3uPbLrOqlcrz5gwvyPU1urn3n3ONqdM5NOPWMHbGYLvldN1Q5njeEnT5n6U4XCOb9llH9paW3B/MguNqDyyzVd7OY18JiCxJYMMzjm2hOnnP6VJ8Q453LZ7YDrbutkQkqQSjqRIHwAkGNDrG22S+LnPPudKhuqtQXj/AGS2JDz3Sg520CxMec/lHn/QVYOBYJG1UkBAFVgYYAf7yYPuKqXZLtHfvfeDcCBQFAyoF1Ykb6k6DmTV64bgv4YZTlfryI6MPxD6jWCKjGG1mbVWSaUekPO9dPjGZfzKNR/iX91n0FdfDcQjRkYEHmCDoRXi1idcrjK3LWVb/Cefpv7a14xeAV1eCVZ1ZSROsqRJEwxHz03qZiEThVkGRbUGSduZ3PlMU9Woc8GY3Bce8zFXDhYZVWBBAGfYifnz1nkvAbkuTibhLCAfF4YYsIGeNJI9/IUBP0VGYPhrpc7xrzsTustk2IgKWIAmD7edSdAFJS0hoBpxXCC9ZuWmMB1Kz0kfF7b+1fPmDuXredjczZLphgSwco8C4usBdjPQ+la72lxhxF04VTltIB3x/OWEi31iDJ67etM7XYBbaNl2jaNDyB03id/MVnslGTwXVppZLthOFG8quzASAYGv1JqM7SMtu8y5yrdzbyQD4gXcOpI2GUnU6V67F8b73BW9fEoyn/Lp+kGuvaRGKriF5KbV0Rr3bHf2MjyzTyqrQbIW7cckdUpOGfAyvW7q3bly2gsjuQ5T+0W4F8ILDSDHSDpvrTXvbtzIxwtoi5qrJiAqN7lSFM6QTM6U7sZVa42ZnsqbbIzEkquvhB/DBYgT5/llVufz3GkrqAzDQBSWAygAvkBgEL4tCdK22xhY/iXRChuC4/ycb/GL7IGRLeHtuzI11S12CuhhlWBroCAf6RqYlQyHuSLKHuzlZv4jnM6zmAYyQp1HIVPXb8BYaCQTka85XwSDshmSCdNJHONYrGl0yYm5cUuXZikRbXuxlGx1OoA8jVE4qOMcHV0k1LKx+v8APzJjhuOyYG2CdQXHrDtrVX7VY+LLGdSIHqdB9TVwscEU4NFf4gC511BYlonrrFZl2kYC+trMSqkNv6gDTyB+dc+cN96ISlH4pL3Yyw+IvWkWyqQbkBfMnbXlW69lMPkw6KNgAPkIrOcdgkuWQ9s5XSGEb+sfLyq69hOK99aAO/MfzAcvIgz710KWnn3MNmS1UCigVeVHDHl8h7v4tNomMwzRm0zZZidJiajPvGL1i0pAHMjMx000eAec7aEdGMjxTCG9aa2HZM2mZdGGoOn6VHNwDxhu+ujQyAzDNPM66xy6a+wHfB38Q2bPbVNRlJadCDJIUmSDGkjfenH3MHW4S/kfg9l2PvJ86jxwAgqRiLoy8pJB05iYP9ABpqS84XgDZDA3HuSZlzJGgHP0oB7RRRQDLjSzZfyg/Ig/tWddvLLNaBHwq409QQD8z9a0riFrPadRuVIHrFU/itnvbOX89sgf4okH/UBUG8STN2lfwtGd8J8JD8s0GrDxWwPvFxjpFwEH/wBtIPzqEtWsuGU/naasN9DdRbnMKFuDnpOW56HWf9jVz7TNR64hgTfcYmwpdbhUuF1KXFADAjpoDp59RLLiuB7pUFyA7EZUkFsozSxjZRm/TrTQA95bRGdC7qpKOyEidRKkTpNdMPgywv5dWN5QvjzMRqxViSSdCK96IdcHh7RN5IEk5R9dfaK8Nw97tu4FUtc785QNZAQTHkdak70W5tSBiLgAPiUm1b/Ew1+Mgae3TV/2VsPbFxypyRCaiPPc+Q1rzdxkOSDhHDTYt27bCHds7joY0X2AHvNaLhFhFHlVRwgNy+DlJgDmu+/WraL5/wCm/wD2/wDyqqPPLMeqlmSXsjpetBhlYAjz+nvTYl7YP94oBIknMIEgGASw5SAW20bU1278/wDTf/t/+VeXvtBi20wYkqATGgJBMTttUjMRtnjjRLWLkSASAefOOY0JJHlvM10TjZ7sv93uzmZcuXXwrmn0InXqI3NcB2i0YixeMER4QMwYEq2pBAgCdNJ5xXq52hygnuLpiDAAJIkA5YOumvymJoD2ePNE/druq5gPnppoDI+WvlXTC8azvbXubozzJKkBd4BkcwAfQipHCXhcRXgjMAYMSJGxjSu0UAVwx2IFu29w7IpY+gBP7V3qJ7UuBhL06goVjrm8MeuteN4QRnGF4kVV3f8AtDDN/wCrcgxP8qwPXN1qC7T44lchOijXzP8Azyke1St/gThSwYkJeAg/jumdJHKco/8A5Xh+wOKvXAjQtvdmU6noBI/Ws0YNyyaG0kVX7Ou0fd4tsO58D6Kejg8/WY+Va3h8dkud2RmV9I3BnlHSsw7T9hzgb+dQe6bUEAnI/Sd4O4PWRV17DcVt3DN4/wAZRAB0kfmHmedUamtxsVkfqSrknFpktxHg17Dw1hEvWQwY22Cm4omSgLfEh6b6DeJqFvcTcXMwtEWg0901vKxQ+ZUgx5nUmeelxv8AEAZBAKnQgwQRzBB3FVm7iLVpkS2uRBACoz21A6AIwFWPXxf4j2qrbxg5HGsWa4tq6yBpVbigKLcHMGY+FZJmJ2p5geFK79/iMh8WcW01QH8MnnA2A0568pG8bAAfu0LcmYZmHozSfrVU4hjjbZmB8G58up9Kz3avdxA0VbsPHBYu0XHBbtOSYAEk+lYM/aE38SxiMzGDz0+H6Cp3tX2gOJHc25yTq22aP/1/pUn9n/2ed/cW7dXwKCVXbMSPiPQDl56+unSUuKcpdsy2zX4Y9CW+IObagQOU+caAjz6+tWr7MMaReykmG1XTlJ2nc5mYH0FRV7srdtnJcBW01wKG/FmWSCvISBv1051buxHBiXF0qAqiFjkQzB1HlKr9augsMhJpo0GgUUCrikWiiigCvFe68UAUUUUAVVsTYyXTbO05l/wtuPYz9KtNMeK4HvFBXR1Mqf1U+R/pUZLKLqLNkuemZp2h4Q2RDYUlU8JQS0DkQNyOvtXN2dUDW2KumoI6HdSDoRI2NWgPB2IIYgjmDTDEcHF0s5cqhOqgaluevIc/ekLFjEjpteSG4bxB77MxsYclP7woVJboInXz867Xbl/upUpZzHVbVvK0dSxJ38gD51KYHg7KcsqEGx6j03mn44anxFnI6aQY9pqbcEQyVvsxwJTdLkEganMZkk7EnUkneelWriWIAR+ggf7UiYgKkAAaqYAiAT/tXKxYOIuBB8KtLHkT09BVMpObwj1/D8cvBK9lcGQucjU1P15tWwoAHKvVWJYOVOTlJyfkKKKK9IhSrSUq0B6ooooArxcthhBAI8690lAR13g9s5I0CXDcjkWMzM+bTUjRRXmAN8bhFuLDCs67RdljZtMLVstrKsurDXbr6f8ADWm0jLOhqM61PslGTiYhwi/jAWXPmygSt0GQT+GQQ0+pNMcdxa+xnuwCDrGZtjEEDbXrWx8U7N2r3IA9dj8xqKyPtVwhbGIvpyXJGpOrW1MSTO5rNLTRzlpF8bn0jg3am65FtbYmN8+m5GmnkaZjvL75bp8M/AgJ1H5uZ94HpVq7KdgDdCXi7LIGmwA5DaZ578zWh8K7LWLIELmI61OGmhF5SweO+T4ZRuyvYFXbvXTKNInX6bT/AMHU6dgsElpcqCK7qoGgpa0JYKG8jTiXD0vqFeYDKwgxqpkU5t2wogCBXqivTwKBRQKAWiiigCvFe68UAUUUUAUUUUBGcW4SLviXR435HyP9aqtx2QtbuAqwMidiNjB51fa4YvBpcGV1DDzH6dKhKCZro1Tr4lyio4W74J/lH71zv4wBFE7r9amm7LW/wswHSZH11r3h+zVtTqZioKtmiWsq7SbK5Yw1y80AEKco8zH6CrlwvACysDenFjDKghRFdasjFRMV18rXz+QUUUVIpCiiigClWkpVoD1RRRQBSUtIaAKKKKAKKKKARjGprKPuR4jjrjgE2jczMeTBVCovuFDHpMdK07iWCF62bbMwVtGymCRzWRqAdtKTh3DrdlcttQAKi1k9TwdMHhxbQKOVd6KKkeBRRRQBRRRQBQKKKAZcQvkp/DaGkddswnl0mo1RfNvKbqhwyktDQQomBAEAsAD5ZtNaWigOV1cUfCMQIK6tAGU84i3J306RJOkFHtYqWK301AiZ3A3gW9P08qKKA7hb5XW+ueZkLpMOMvwarOTfX4tdq4BMWRDYhB4GBKrBz+LKRNvQbf8ANyigJ1b6xv8AQ/0pe/Xr9DS0UAnfr1+ho79ev0NLRQCd+vX6Gjv16/Q0tFAJ369foaO/Xr9DS0UAnfr1+ho79ev0NLRQCd+vX6Gjv16/Q0tFAJ369foaUYhev0NFFAL95Xr9DR95Xr9DRRQB95Xr9DTHi1xmTLafKxnXURKMAZgxDFT6A77UUUAye1dZVm9lKuG0LCVyrIlQJk5txGoOX8I4BcWdGvpoN10BJJ5BJAAI5+X81LRQHTCriQ3ivplDKRAJJUTnBJTnI58txXtvvGZj3yxyGn5552jlGSRsxmJJ3oooDlcTFEj+PbAKw0TqQpAYfw/CS5B8hprFOMD34ZO8vKVE5gB8QgAalJ0PnPUmYBRQEv8AeV6/Q0feV6/Q0UUAfeV6/Q0feV6/Q0UUAfeV6/Q0feV6/Q0UUAfeV6/Q0feV6/Q0UUB//9k="/>
          <p:cNvSpPr>
            <a:spLocks noChangeAspect="1" noChangeArrowheads="1"/>
          </p:cNvSpPr>
          <p:nvPr/>
        </p:nvSpPr>
        <p:spPr bwMode="auto">
          <a:xfrm>
            <a:off x="460375" y="-1562100"/>
            <a:ext cx="6991350" cy="38957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9224" name="Picture 8" descr="http://schoolbag.info/biology/living/living.files/image73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1297" y="857937"/>
            <a:ext cx="4749599" cy="2646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16254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355013"/>
            <a:ext cx="7200900" cy="913747"/>
          </a:xfrm>
        </p:spPr>
        <p:txBody>
          <a:bodyPr/>
          <a:lstStyle/>
          <a:p>
            <a:r>
              <a:rPr lang="en-AU" dirty="0">
                <a:solidFill>
                  <a:srgbClr val="0070C0"/>
                </a:solidFill>
              </a:rPr>
              <a:t>Crocodile Circulation</a:t>
            </a:r>
          </a:p>
        </p:txBody>
      </p:sp>
      <p:sp>
        <p:nvSpPr>
          <p:cNvPr id="3" name="Content Placeholder 2"/>
          <p:cNvSpPr>
            <a:spLocks noGrp="1"/>
          </p:cNvSpPr>
          <p:nvPr>
            <p:ph idx="1"/>
          </p:nvPr>
        </p:nvSpPr>
        <p:spPr>
          <a:xfrm>
            <a:off x="539552" y="1268760"/>
            <a:ext cx="5338936" cy="5445224"/>
          </a:xfrm>
        </p:spPr>
        <p:txBody>
          <a:bodyPr>
            <a:normAutofit fontScale="92500" lnSpcReduction="10000"/>
          </a:bodyPr>
          <a:lstStyle/>
          <a:p>
            <a:r>
              <a:rPr lang="en-AU" dirty="0"/>
              <a:t>Crocodilians have a unique circulatory mechanism where the heart shunts blood from the lungs toward the stomach and other organs during long periods of submergence; for instance, while the animal waits for prey. </a:t>
            </a:r>
          </a:p>
          <a:p>
            <a:r>
              <a:rPr lang="en-AU" dirty="0"/>
              <a:t>One adaptation includes two main arteries that leave the same part of the heart: one takes blood to the lungs and the other provides an alternate route to the stomach and other parts of the body. </a:t>
            </a:r>
          </a:p>
          <a:p>
            <a:r>
              <a:rPr lang="en-AU" dirty="0"/>
              <a:t>Two other adaptations include a hole in the heart between the two ventricles, called the foramen of </a:t>
            </a:r>
            <a:r>
              <a:rPr lang="en-AU" dirty="0" err="1"/>
              <a:t>Panizza</a:t>
            </a:r>
            <a:r>
              <a:rPr lang="en-AU" dirty="0"/>
              <a:t>, which allows blood to move from one side of the heart to the other, and specialized connective tissue that slows the blood flow to the lungs. </a:t>
            </a:r>
          </a:p>
          <a:p>
            <a:r>
              <a:rPr lang="en-AU" dirty="0"/>
              <a:t>Together, these adaptations have made crocodiles and alligators one of the most successfully-evolved animal groups on earth.</a:t>
            </a:r>
          </a:p>
          <a:p>
            <a:endParaRPr lang="en-AU" dirty="0"/>
          </a:p>
        </p:txBody>
      </p:sp>
      <p:pic>
        <p:nvPicPr>
          <p:cNvPr id="8194" name="Picture 2" descr="https://encrypted-tbn2.gstatic.com/images?q=tbn:ANd9GcR8EEh2pu3DUWk1Wevv_8JG8Zia__YpJdqbHA983qwOtluRQF-qp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2565" y="1412777"/>
            <a:ext cx="3018112" cy="2016224"/>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http://2.bp.blogspot.com/-Wz5KH4eBs5Q/T9h_3ZzPYtI/AAAAAAAAASo/HKSWhFdRY3Y/s1600/Crocodilian_Heart2.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81076" y="4077072"/>
            <a:ext cx="3436938" cy="23342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18915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1058329" y="1700808"/>
            <a:ext cx="7359724" cy="2415766"/>
          </a:xfrm>
          <a:prstGeom prst="rect">
            <a:avLst/>
          </a:prstGeom>
        </p:spPr>
        <p:txBody>
          <a:bodyPr vert="horz" lIns="91440" tIns="45720" rIns="91440" bIns="45720" rtlCol="0">
            <a:normAutofit fontScale="92500"/>
          </a:bodyPr>
          <a:lstStyle>
            <a:lvl1pPr marL="384048" indent="-384048" algn="l" defTabSz="6858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buNone/>
            </a:pPr>
            <a:r>
              <a:rPr lang="en-AU" sz="2400" dirty="0"/>
              <a:t>Students will be able to:</a:t>
            </a:r>
          </a:p>
          <a:p>
            <a:r>
              <a:rPr lang="en-AU" sz="2400" dirty="0"/>
              <a:t>Explain the structure of open and closed circulatory systems.</a:t>
            </a:r>
          </a:p>
          <a:p>
            <a:r>
              <a:rPr lang="en-AU" sz="2400" dirty="0"/>
              <a:t>Describe the structure and function of the heart, blood vessels and blood according to the different metabolic requirements of organisms and differing environments.</a:t>
            </a:r>
          </a:p>
          <a:p>
            <a:endParaRPr lang="en-AU" dirty="0"/>
          </a:p>
          <a:p>
            <a:endParaRPr lang="en-AU" dirty="0"/>
          </a:p>
        </p:txBody>
      </p:sp>
      <p:sp>
        <p:nvSpPr>
          <p:cNvPr id="5" name="Title 1"/>
          <p:cNvSpPr txBox="1">
            <a:spLocks/>
          </p:cNvSpPr>
          <p:nvPr/>
        </p:nvSpPr>
        <p:spPr>
          <a:xfrm>
            <a:off x="1058329" y="692696"/>
            <a:ext cx="7200900" cy="726976"/>
          </a:xfrm>
          <a:prstGeom prst="rect">
            <a:avLst/>
          </a:prstGeom>
        </p:spPr>
        <p:txBody>
          <a:bodyPr vert="horz" lIns="91440" tIns="45720" rIns="91440" bIns="45720" rtlCol="0" anchor="t">
            <a:normAutofit/>
          </a:bodyPr>
          <a:lstStyle>
            <a:lvl1pPr algn="l" defTabSz="6858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AU" dirty="0">
                <a:solidFill>
                  <a:srgbClr val="0070C0"/>
                </a:solidFill>
              </a:rPr>
              <a:t>Success Criteria</a:t>
            </a:r>
          </a:p>
        </p:txBody>
      </p:sp>
      <p:pic>
        <p:nvPicPr>
          <p:cNvPr id="2" name="Picture 1">
            <a:extLst>
              <a:ext uri="{FF2B5EF4-FFF2-40B4-BE49-F238E27FC236}">
                <a16:creationId xmlns:a16="http://schemas.microsoft.com/office/drawing/2014/main" id="{7BC206A7-9E2E-DC3A-11CC-D9472B63ADDD}"/>
              </a:ext>
            </a:extLst>
          </p:cNvPr>
          <p:cNvPicPr>
            <a:picLocks noChangeAspect="1"/>
          </p:cNvPicPr>
          <p:nvPr/>
        </p:nvPicPr>
        <p:blipFill>
          <a:blip r:embed="rId2"/>
          <a:stretch>
            <a:fillRect/>
          </a:stretch>
        </p:blipFill>
        <p:spPr>
          <a:xfrm>
            <a:off x="2957847" y="4509120"/>
            <a:ext cx="3401863" cy="1572904"/>
          </a:xfrm>
          <a:prstGeom prst="rect">
            <a:avLst/>
          </a:prstGeom>
        </p:spPr>
      </p:pic>
    </p:spTree>
    <p:extLst>
      <p:ext uri="{BB962C8B-B14F-4D97-AF65-F5344CB8AC3E}">
        <p14:creationId xmlns:p14="http://schemas.microsoft.com/office/powerpoint/2010/main" val="32593370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60747"/>
            <a:ext cx="8229600" cy="936104"/>
          </a:xfrm>
        </p:spPr>
        <p:txBody>
          <a:bodyPr>
            <a:normAutofit/>
          </a:bodyPr>
          <a:lstStyle/>
          <a:p>
            <a:r>
              <a:rPr lang="en-AU" sz="3800" dirty="0">
                <a:solidFill>
                  <a:srgbClr val="0070C0"/>
                </a:solidFill>
              </a:rPr>
              <a:t>Exam Review Question</a:t>
            </a:r>
          </a:p>
        </p:txBody>
      </p:sp>
      <p:pic>
        <p:nvPicPr>
          <p:cNvPr id="6" name="Picture 5"/>
          <p:cNvPicPr>
            <a:picLocks noChangeAspect="1"/>
          </p:cNvPicPr>
          <p:nvPr/>
        </p:nvPicPr>
        <p:blipFill>
          <a:blip r:embed="rId3"/>
          <a:stretch>
            <a:fillRect/>
          </a:stretch>
        </p:blipFill>
        <p:spPr>
          <a:xfrm>
            <a:off x="1547664" y="908720"/>
            <a:ext cx="6224900" cy="5788533"/>
          </a:xfrm>
          <a:prstGeom prst="rect">
            <a:avLst/>
          </a:prstGeom>
        </p:spPr>
      </p:pic>
    </p:spTree>
    <p:extLst>
      <p:ext uri="{BB962C8B-B14F-4D97-AF65-F5344CB8AC3E}">
        <p14:creationId xmlns:p14="http://schemas.microsoft.com/office/powerpoint/2010/main" val="2254507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700" y="685800"/>
            <a:ext cx="7200900" cy="943000"/>
          </a:xfrm>
        </p:spPr>
        <p:txBody>
          <a:bodyPr>
            <a:normAutofit/>
          </a:bodyPr>
          <a:lstStyle/>
          <a:p>
            <a:r>
              <a:rPr lang="en-AU" sz="3800" dirty="0">
                <a:solidFill>
                  <a:srgbClr val="0070C0"/>
                </a:solidFill>
              </a:rPr>
              <a:t>Exam Review Question</a:t>
            </a:r>
          </a:p>
        </p:txBody>
      </p:sp>
      <p:sp>
        <p:nvSpPr>
          <p:cNvPr id="3" name="Content Placeholder 2"/>
          <p:cNvSpPr>
            <a:spLocks noGrp="1"/>
          </p:cNvSpPr>
          <p:nvPr>
            <p:ph idx="1"/>
          </p:nvPr>
        </p:nvSpPr>
        <p:spPr>
          <a:xfrm>
            <a:off x="1028700" y="1916832"/>
            <a:ext cx="7200900" cy="3950568"/>
          </a:xfrm>
        </p:spPr>
        <p:txBody>
          <a:bodyPr/>
          <a:lstStyle/>
          <a:p>
            <a:r>
              <a:rPr lang="en-AU" dirty="0"/>
              <a:t>Insects such as grasshoppers have an </a:t>
            </a:r>
            <a:r>
              <a:rPr lang="en-AU" b="1" dirty="0"/>
              <a:t>open circulatory system</a:t>
            </a:r>
            <a:r>
              <a:rPr lang="en-AU" dirty="0"/>
              <a:t>. What does this mean?</a:t>
            </a:r>
          </a:p>
          <a:p>
            <a:endParaRPr lang="en-AU" dirty="0"/>
          </a:p>
          <a:p>
            <a:endParaRPr lang="en-AU" dirty="0"/>
          </a:p>
          <a:p>
            <a:endParaRPr lang="en-AU" dirty="0"/>
          </a:p>
          <a:p>
            <a:r>
              <a:rPr lang="en-AU" dirty="0"/>
              <a:t>Outline </a:t>
            </a:r>
            <a:r>
              <a:rPr lang="en-AU" b="1" dirty="0"/>
              <a:t>two (2)</a:t>
            </a:r>
            <a:r>
              <a:rPr lang="en-AU" dirty="0"/>
              <a:t> benefits of having a closed circulatory system</a:t>
            </a:r>
          </a:p>
        </p:txBody>
      </p:sp>
    </p:spTree>
    <p:extLst>
      <p:ext uri="{BB962C8B-B14F-4D97-AF65-F5344CB8AC3E}">
        <p14:creationId xmlns:p14="http://schemas.microsoft.com/office/powerpoint/2010/main" val="4912777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4200" dirty="0">
                <a:solidFill>
                  <a:srgbClr val="0070C0"/>
                </a:solidFill>
              </a:rPr>
              <a:t>Moodle &amp; Textbook Work</a:t>
            </a:r>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15616" y="1844824"/>
            <a:ext cx="2664296" cy="3493490"/>
          </a:xfrm>
        </p:spPr>
      </p:pic>
      <p:sp>
        <p:nvSpPr>
          <p:cNvPr id="9" name="TextBox 8"/>
          <p:cNvSpPr txBox="1"/>
          <p:nvPr/>
        </p:nvSpPr>
        <p:spPr>
          <a:xfrm>
            <a:off x="4233106" y="2060848"/>
            <a:ext cx="3651262" cy="2123658"/>
          </a:xfrm>
          <a:prstGeom prst="rect">
            <a:avLst/>
          </a:prstGeom>
          <a:noFill/>
        </p:spPr>
        <p:txBody>
          <a:bodyPr wrap="square" rtlCol="0">
            <a:spAutoFit/>
          </a:bodyPr>
          <a:lstStyle/>
          <a:p>
            <a:pPr marL="285750" indent="-285750">
              <a:buFont typeface="Arial" panose="020B0604020202020204" pitchFamily="34" charset="0"/>
              <a:buChar char="•"/>
            </a:pPr>
            <a:r>
              <a:rPr lang="en-AU" sz="2200" dirty="0"/>
              <a:t>Nelson Chapter 12</a:t>
            </a:r>
          </a:p>
          <a:p>
            <a:pPr marL="285750" indent="-285750">
              <a:buFont typeface="Arial" panose="020B0604020202020204" pitchFamily="34" charset="0"/>
              <a:buChar char="•"/>
            </a:pPr>
            <a:endParaRPr lang="en-AU" sz="2200" dirty="0"/>
          </a:p>
          <a:p>
            <a:pPr marL="285750" indent="-285750">
              <a:buFont typeface="Arial" panose="020B0604020202020204" pitchFamily="34" charset="0"/>
              <a:buChar char="•"/>
            </a:pPr>
            <a:endParaRPr lang="en-AU" sz="2200" dirty="0"/>
          </a:p>
          <a:p>
            <a:pPr marL="285750" indent="-285750">
              <a:buFont typeface="Arial" panose="020B0604020202020204" pitchFamily="34" charset="0"/>
              <a:buChar char="•"/>
            </a:pPr>
            <a:endParaRPr lang="en-AU" sz="2200" dirty="0"/>
          </a:p>
          <a:p>
            <a:pPr marL="285750" indent="-285750">
              <a:buFont typeface="Arial" panose="020B0604020202020204" pitchFamily="34" charset="0"/>
              <a:buChar char="•"/>
            </a:pPr>
            <a:r>
              <a:rPr lang="en-AU" sz="2200" dirty="0"/>
              <a:t>Revise for test! </a:t>
            </a:r>
          </a:p>
          <a:p>
            <a:pPr marL="285750" indent="-285750">
              <a:buFont typeface="Arial" panose="020B0604020202020204" pitchFamily="34" charset="0"/>
              <a:buChar char="•"/>
            </a:pPr>
            <a:r>
              <a:rPr lang="en-AU" sz="2200" dirty="0"/>
              <a:t>And EXAM!</a:t>
            </a:r>
          </a:p>
        </p:txBody>
      </p:sp>
    </p:spTree>
    <p:extLst>
      <p:ext uri="{BB962C8B-B14F-4D97-AF65-F5344CB8AC3E}">
        <p14:creationId xmlns:p14="http://schemas.microsoft.com/office/powerpoint/2010/main" val="41433211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608" y="476672"/>
            <a:ext cx="7200900" cy="943000"/>
          </a:xfrm>
        </p:spPr>
        <p:txBody>
          <a:bodyPr>
            <a:normAutofit/>
          </a:bodyPr>
          <a:lstStyle/>
          <a:p>
            <a:r>
              <a:rPr lang="en-AU" sz="4200" dirty="0">
                <a:solidFill>
                  <a:srgbClr val="0070C0"/>
                </a:solidFill>
              </a:rPr>
              <a:t>Student Feedback</a:t>
            </a:r>
          </a:p>
        </p:txBody>
      </p:sp>
      <p:sp>
        <p:nvSpPr>
          <p:cNvPr id="3" name="Content Placeholder 2"/>
          <p:cNvSpPr>
            <a:spLocks noGrp="1"/>
          </p:cNvSpPr>
          <p:nvPr>
            <p:ph idx="1"/>
          </p:nvPr>
        </p:nvSpPr>
        <p:spPr>
          <a:xfrm>
            <a:off x="935646" y="1556792"/>
            <a:ext cx="7416824" cy="4392487"/>
          </a:xfrm>
        </p:spPr>
        <p:txBody>
          <a:bodyPr>
            <a:normAutofit/>
          </a:bodyPr>
          <a:lstStyle/>
          <a:p>
            <a:r>
              <a:rPr lang="en-AU" dirty="0"/>
              <a:t>What I learnt today…..</a:t>
            </a:r>
          </a:p>
          <a:p>
            <a:endParaRPr lang="en-AU" dirty="0"/>
          </a:p>
          <a:p>
            <a:endParaRPr lang="en-AU" dirty="0"/>
          </a:p>
          <a:p>
            <a:endParaRPr lang="en-AU" dirty="0"/>
          </a:p>
          <a:p>
            <a:endParaRPr lang="en-AU" dirty="0"/>
          </a:p>
          <a:p>
            <a:r>
              <a:rPr lang="en-AU" dirty="0"/>
              <a:t>What I need to revise….</a:t>
            </a:r>
          </a:p>
          <a:p>
            <a:endParaRPr lang="en-AU" dirty="0"/>
          </a:p>
          <a:p>
            <a:endParaRPr lang="en-AU" dirty="0"/>
          </a:p>
          <a:p>
            <a:pPr marL="0" indent="0">
              <a:buNone/>
            </a:pPr>
            <a:endParaRPr lang="en-AU" dirty="0"/>
          </a:p>
        </p:txBody>
      </p:sp>
    </p:spTree>
    <p:extLst>
      <p:ext uri="{BB962C8B-B14F-4D97-AF65-F5344CB8AC3E}">
        <p14:creationId xmlns:p14="http://schemas.microsoft.com/office/powerpoint/2010/main" val="2546625911"/>
      </p:ext>
    </p:extLst>
  </p:cSld>
  <p:clrMapOvr>
    <a:masterClrMapping/>
  </p:clrMapOvr>
</p:sld>
</file>

<file path=ppt/theme/theme1.xml><?xml version="1.0" encoding="utf-8"?>
<a:theme xmlns:a="http://schemas.openxmlformats.org/drawingml/2006/main" name="Crop">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Crop</Template>
  <TotalTime>1089</TotalTime>
  <Words>3194</Words>
  <Application>Microsoft Office PowerPoint</Application>
  <PresentationFormat>On-screen Show (4:3)</PresentationFormat>
  <Paragraphs>273</Paragraphs>
  <Slides>48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48</vt:i4>
      </vt:variant>
    </vt:vector>
  </HeadingPairs>
  <TitlesOfParts>
    <vt:vector size="52" baseType="lpstr">
      <vt:lpstr>Arial</vt:lpstr>
      <vt:lpstr>Calibri</vt:lpstr>
      <vt:lpstr>Franklin Gothic Book</vt:lpstr>
      <vt:lpstr>Crop</vt:lpstr>
      <vt:lpstr>11ATAR Biology  Week 33 Transport Systems In Animals</vt:lpstr>
      <vt:lpstr>Year 11 Biology Work Schedule</vt:lpstr>
      <vt:lpstr>Review</vt:lpstr>
      <vt:lpstr>Learning Intentions</vt:lpstr>
      <vt:lpstr>Transport System</vt:lpstr>
      <vt:lpstr>Simple Organisms</vt:lpstr>
      <vt:lpstr>Simple Organisms</vt:lpstr>
      <vt:lpstr>Complex Organisms</vt:lpstr>
      <vt:lpstr>Cardiovascular Systems</vt:lpstr>
      <vt:lpstr>Types of Cardiovascular Systems</vt:lpstr>
      <vt:lpstr>Open Circulatory System</vt:lpstr>
      <vt:lpstr>Closed Circulatory System</vt:lpstr>
      <vt:lpstr>Vertebrate Cardiovascular Systems</vt:lpstr>
      <vt:lpstr>Vertebrate Cardiovascular Systems</vt:lpstr>
      <vt:lpstr>Mammalian Heart</vt:lpstr>
      <vt:lpstr>Mammalian Heart</vt:lpstr>
      <vt:lpstr>Mammalian Heart</vt:lpstr>
      <vt:lpstr>Heart Valves</vt:lpstr>
      <vt:lpstr>Blood Vessels</vt:lpstr>
      <vt:lpstr>Blood Vessels</vt:lpstr>
      <vt:lpstr>Blood Vessels - Arteries</vt:lpstr>
      <vt:lpstr>Blood Vessels - Veins</vt:lpstr>
      <vt:lpstr>Blood Vessels - Capillaries</vt:lpstr>
      <vt:lpstr>Blood Vessels - Capillary Bed</vt:lpstr>
      <vt:lpstr>Lesson 2…</vt:lpstr>
      <vt:lpstr>Blood</vt:lpstr>
      <vt:lpstr>Blood – Plasma</vt:lpstr>
      <vt:lpstr>Blood – Red Blood Cells               (Erythrocytes)</vt:lpstr>
      <vt:lpstr>Blood – White Blood Cells               (Leukocytes)</vt:lpstr>
      <vt:lpstr>Blood - Platelets</vt:lpstr>
      <vt:lpstr>Mammalian Circulation</vt:lpstr>
      <vt:lpstr>Mammalian Circulation</vt:lpstr>
      <vt:lpstr>Steps in Mammalian Circulation</vt:lpstr>
      <vt:lpstr>Steps in Mammalian Circulation</vt:lpstr>
      <vt:lpstr>Steps in Mammalian Circulation</vt:lpstr>
      <vt:lpstr>Cardiac Cycle</vt:lpstr>
      <vt:lpstr>Blood Delivery - Aorta</vt:lpstr>
      <vt:lpstr>Exchanges in  the Capillaries</vt:lpstr>
      <vt:lpstr>Returning Blood – Vena Cava </vt:lpstr>
      <vt:lpstr>Other Vertebrate Systems</vt:lpstr>
      <vt:lpstr>Fish Circulatory Systems</vt:lpstr>
      <vt:lpstr>Amphibians and Reptile Systems</vt:lpstr>
      <vt:lpstr>Crocodile Circulation</vt:lpstr>
      <vt:lpstr>PowerPoint Presentation</vt:lpstr>
      <vt:lpstr>Exam Review Question</vt:lpstr>
      <vt:lpstr>Exam Review Question</vt:lpstr>
      <vt:lpstr>Moodle &amp; Textbook Work</vt:lpstr>
      <vt:lpstr>Student Feedback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Transport Systems in Animals</dc:title>
  <dc:creator>HARDINGHAM Gillian</dc:creator>
  <cp:lastModifiedBy>HARTLAND Robbert [SIDE - Sch of Isol &amp; Dist Edu]</cp:lastModifiedBy>
  <cp:revision>92</cp:revision>
  <dcterms:created xsi:type="dcterms:W3CDTF">2015-09-02T03:35:29Z</dcterms:created>
  <dcterms:modified xsi:type="dcterms:W3CDTF">2023-10-25T01:20:08Z</dcterms:modified>
</cp:coreProperties>
</file>