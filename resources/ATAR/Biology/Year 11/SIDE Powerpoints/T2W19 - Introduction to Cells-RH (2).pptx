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0"/>
  </p:notesMasterIdLst>
  <p:sldIdLst>
    <p:sldId id="256" r:id="rId2"/>
    <p:sldId id="317" r:id="rId3"/>
    <p:sldId id="328" r:id="rId4"/>
    <p:sldId id="318" r:id="rId5"/>
    <p:sldId id="258" r:id="rId6"/>
    <p:sldId id="260" r:id="rId7"/>
    <p:sldId id="263" r:id="rId8"/>
    <p:sldId id="261" r:id="rId9"/>
    <p:sldId id="320" r:id="rId10"/>
    <p:sldId id="321" r:id="rId11"/>
    <p:sldId id="304" r:id="rId12"/>
    <p:sldId id="325" r:id="rId13"/>
    <p:sldId id="305" r:id="rId14"/>
    <p:sldId id="265" r:id="rId15"/>
    <p:sldId id="266" r:id="rId16"/>
    <p:sldId id="267" r:id="rId17"/>
    <p:sldId id="322" r:id="rId18"/>
    <p:sldId id="268" r:id="rId19"/>
    <p:sldId id="269" r:id="rId20"/>
    <p:sldId id="302" r:id="rId21"/>
    <p:sldId id="301" r:id="rId22"/>
    <p:sldId id="329" r:id="rId23"/>
    <p:sldId id="330" r:id="rId24"/>
    <p:sldId id="331" r:id="rId25"/>
    <p:sldId id="270" r:id="rId26"/>
    <p:sldId id="271" r:id="rId27"/>
    <p:sldId id="323" r:id="rId28"/>
    <p:sldId id="326" r:id="rId29"/>
    <p:sldId id="272" r:id="rId30"/>
    <p:sldId id="315" r:id="rId31"/>
    <p:sldId id="300" r:id="rId32"/>
    <p:sldId id="314" r:id="rId33"/>
    <p:sldId id="303" r:id="rId34"/>
    <p:sldId id="273" r:id="rId35"/>
    <p:sldId id="274" r:id="rId36"/>
    <p:sldId id="316" r:id="rId37"/>
    <p:sldId id="324" r:id="rId38"/>
    <p:sldId id="319" r:id="rId3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0224" autoAdjust="0"/>
  </p:normalViewPr>
  <p:slideViewPr>
    <p:cSldViewPr>
      <p:cViewPr varScale="1">
        <p:scale>
          <a:sx n="112" d="100"/>
          <a:sy n="112" d="100"/>
        </p:scale>
        <p:origin x="509" y="8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32DC55-F4AE-4A30-B689-BF5EED1FCD0E}" type="datetimeFigureOut">
              <a:rPr lang="en-AU" smtClean="0"/>
              <a:t>19/06/2023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44610-6077-453C-83FA-0921EAD0F9B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159845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X20</a:t>
            </a:r>
            <a:r>
              <a:rPr lang="en-AU" baseline="0" dirty="0"/>
              <a:t>  1800 um</a:t>
            </a:r>
          </a:p>
          <a:p>
            <a:r>
              <a:rPr lang="en-AU" baseline="0" dirty="0"/>
              <a:t>X200  180 um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BD7563-06F6-4F68-938B-558E153B87F4}" type="slidenum">
              <a:rPr lang="en-AU" smtClean="0">
                <a:solidFill>
                  <a:prstClr val="black"/>
                </a:solidFill>
              </a:rPr>
              <a:pPr/>
              <a:t>3</a:t>
            </a:fld>
            <a:endParaRPr lang="en-A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1504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A02E8EE-3F1A-41CF-AAAD-9096315587AB}" type="slidenum">
              <a:rPr lang="en-US"/>
              <a:pPr/>
              <a:t>5</a:t>
            </a:fld>
            <a:endParaRPr lang="en-US"/>
          </a:p>
        </p:txBody>
      </p:sp>
      <p:sp>
        <p:nvSpPr>
          <p:cNvPr id="1310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075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2696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DE82DAD-687C-48CF-A782-3CDE88DCB417}" type="slidenum">
              <a:rPr lang="en-US"/>
              <a:pPr/>
              <a:t>6</a:t>
            </a:fld>
            <a:endParaRPr lang="en-US"/>
          </a:p>
        </p:txBody>
      </p:sp>
      <p:sp>
        <p:nvSpPr>
          <p:cNvPr id="133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23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3827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6A91238-F0E9-4363-AB8A-DF3173726AFA}" type="slidenum">
              <a:rPr lang="en-US"/>
              <a:pPr/>
              <a:t>7</a:t>
            </a:fld>
            <a:endParaRPr lang="en-US"/>
          </a:p>
        </p:txBody>
      </p:sp>
      <p:sp>
        <p:nvSpPr>
          <p:cNvPr id="136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6195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1449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911AD50-7934-4901-B6B4-CA357BC036AD}" type="slidenum">
              <a:rPr lang="en-US"/>
              <a:pPr/>
              <a:t>8</a:t>
            </a:fld>
            <a:endParaRPr lang="en-US"/>
          </a:p>
        </p:txBody>
      </p:sp>
      <p:sp>
        <p:nvSpPr>
          <p:cNvPr id="134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4147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5605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b="1" dirty="0"/>
              <a:t>Energy</a:t>
            </a:r>
            <a:r>
              <a:rPr lang="en-AU" dirty="0"/>
              <a:t> and </a:t>
            </a:r>
            <a:r>
              <a:rPr lang="en-AU" b="1" dirty="0"/>
              <a:t>Matter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944610-6077-453C-83FA-0921EAD0F9BF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913409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2C4371D-D884-46DA-A3C4-5A3A05A38483}" type="slidenum">
              <a:rPr lang="en-US"/>
              <a:pPr/>
              <a:t>14</a:t>
            </a:fld>
            <a:endParaRPr lang="en-US"/>
          </a:p>
        </p:txBody>
      </p:sp>
      <p:sp>
        <p:nvSpPr>
          <p:cNvPr id="138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8243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665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2BFF65C-D9FB-4200-849A-EB0E9AB7AA2C}" type="slidenum">
              <a:rPr lang="en-US"/>
              <a:pPr/>
              <a:t>15</a:t>
            </a:fld>
            <a:endParaRPr lang="en-US"/>
          </a:p>
        </p:txBody>
      </p:sp>
      <p:sp>
        <p:nvSpPr>
          <p:cNvPr id="1392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9267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1652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C4DFF56-73C0-4E64-A52D-444DF0C3C114}" type="slidenum">
              <a:rPr lang="en-US"/>
              <a:pPr/>
              <a:t>16</a:t>
            </a:fld>
            <a:endParaRPr lang="en-US"/>
          </a:p>
        </p:txBody>
      </p:sp>
      <p:sp>
        <p:nvSpPr>
          <p:cNvPr id="140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0291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84231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6D94978-5698-41CA-A53C-45075B3F5F9C}" type="slidenum">
              <a:rPr lang="en-US"/>
              <a:pPr/>
              <a:t>18</a:t>
            </a:fld>
            <a:endParaRPr lang="en-US"/>
          </a:p>
        </p:txBody>
      </p:sp>
      <p:sp>
        <p:nvSpPr>
          <p:cNvPr id="141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1315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3480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0C769D0-7E41-40C9-96F3-FC83D75AB7EA}" type="slidenum">
              <a:rPr lang="en-US"/>
              <a:pPr/>
              <a:t>19</a:t>
            </a:fld>
            <a:endParaRPr lang="en-US"/>
          </a:p>
        </p:txBody>
      </p:sp>
      <p:sp>
        <p:nvSpPr>
          <p:cNvPr id="142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2339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2482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E7E33B0-35CA-485A-90A8-C80ED52939B5}" type="slidenum">
              <a:rPr lang="en-US"/>
              <a:pPr/>
              <a:t>25</a:t>
            </a:fld>
            <a:endParaRPr lang="en-US"/>
          </a:p>
        </p:txBody>
      </p:sp>
      <p:sp>
        <p:nvSpPr>
          <p:cNvPr id="143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63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48701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9FDD3D1-700B-41B0-AF59-8CB6234677D3}" type="slidenum">
              <a:rPr lang="en-US"/>
              <a:pPr/>
              <a:t>26</a:t>
            </a:fld>
            <a:endParaRPr lang="en-US"/>
          </a:p>
        </p:txBody>
      </p:sp>
      <p:sp>
        <p:nvSpPr>
          <p:cNvPr id="144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4387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7206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0E79507-17CF-4086-8599-DE966DBC42AA}" type="slidenum">
              <a:rPr lang="en-US"/>
              <a:pPr/>
              <a:t>29</a:t>
            </a:fld>
            <a:endParaRPr lang="en-US"/>
          </a:p>
        </p:txBody>
      </p:sp>
      <p:sp>
        <p:nvSpPr>
          <p:cNvPr id="145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5411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36675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D1BE39D-AE58-48E7-B460-480452AF6A0A}" type="slidenum">
              <a:rPr lang="en-US"/>
              <a:pPr/>
              <a:t>34</a:t>
            </a:fld>
            <a:endParaRPr lang="en-US"/>
          </a:p>
        </p:txBody>
      </p:sp>
      <p:sp>
        <p:nvSpPr>
          <p:cNvPr id="301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1059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04457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33D633A-30EF-41F9-A326-B9CADCFDED7F}" type="slidenum">
              <a:rPr lang="en-US"/>
              <a:pPr/>
              <a:t>35</a:t>
            </a:fld>
            <a:endParaRPr lang="en-US"/>
          </a:p>
        </p:txBody>
      </p:sp>
      <p:sp>
        <p:nvSpPr>
          <p:cNvPr id="302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2083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6926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B0777-4C60-462E-A92C-CDAFD498799C}" type="datetimeFigureOut">
              <a:rPr lang="en-US" smtClean="0"/>
              <a:t>6/19/2023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E6EB8-52AB-45EA-A660-3E1EBFA72987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B0777-4C60-462E-A92C-CDAFD498799C}" type="datetimeFigureOut">
              <a:rPr lang="en-US" smtClean="0"/>
              <a:t>6/19/2023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E6EB8-52AB-45EA-A660-3E1EBFA7298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B0777-4C60-462E-A92C-CDAFD498799C}" type="datetimeFigureOut">
              <a:rPr lang="en-US" smtClean="0"/>
              <a:t>6/19/2023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E6EB8-52AB-45EA-A660-3E1EBFA72987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B0777-4C60-462E-A92C-CDAFD498799C}" type="datetimeFigureOut">
              <a:rPr lang="en-US" smtClean="0"/>
              <a:t>6/19/2023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E6EB8-52AB-45EA-A660-3E1EBFA7298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B0777-4C60-462E-A92C-CDAFD498799C}" type="datetimeFigureOut">
              <a:rPr lang="en-US" smtClean="0"/>
              <a:t>6/19/2023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E6EB8-52AB-45EA-A660-3E1EBFA7298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B0777-4C60-462E-A92C-CDAFD498799C}" type="datetimeFigureOut">
              <a:rPr lang="en-US" smtClean="0"/>
              <a:t>6/19/2023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E6EB8-52AB-45EA-A660-3E1EBFA7298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B0777-4C60-462E-A92C-CDAFD498799C}" type="datetimeFigureOut">
              <a:rPr lang="en-US" smtClean="0"/>
              <a:t>6/19/2023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E6EB8-52AB-45EA-A660-3E1EBFA7298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B0777-4C60-462E-A92C-CDAFD498799C}" type="datetimeFigureOut">
              <a:rPr lang="en-US" smtClean="0"/>
              <a:t>6/19/2023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E6EB8-52AB-45EA-A660-3E1EBFA7298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B0777-4C60-462E-A92C-CDAFD498799C}" type="datetimeFigureOut">
              <a:rPr lang="en-US" smtClean="0"/>
              <a:t>6/19/2023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59DE6EB8-52AB-45EA-A660-3E1EBFA72987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B0777-4C60-462E-A92C-CDAFD498799C}" type="datetimeFigureOut">
              <a:rPr lang="en-US" smtClean="0"/>
              <a:t>6/19/2023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E6EB8-52AB-45EA-A660-3E1EBFA7298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B0777-4C60-462E-A92C-CDAFD498799C}" type="datetimeFigureOut">
              <a:rPr lang="en-US" smtClean="0"/>
              <a:t>6/19/2023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E6EB8-52AB-45EA-A660-3E1EBFA7298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0EAB0777-4C60-462E-A92C-CDAFD498799C}" type="datetimeFigureOut">
              <a:rPr lang="en-US" smtClean="0"/>
              <a:t>6/19/2023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59DE6EB8-52AB-45EA-A660-3E1EBFA72987}" type="slidenum">
              <a:rPr lang="en-US" smtClean="0"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iffen.com/difference/Eukaryotic_Cell_vs_Prokaryotic_Cell" TargetMode="External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jpe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gi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gi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gi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886" y="1254125"/>
            <a:ext cx="7851648" cy="1828800"/>
          </a:xfrm>
        </p:spPr>
        <p:txBody>
          <a:bodyPr>
            <a:norm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11ATAR Biology</a:t>
            </a:r>
            <a:br>
              <a:rPr lang="en-AU" dirty="0"/>
            </a:br>
            <a:r>
              <a:rPr lang="en-AU" sz="4700" dirty="0"/>
              <a:t>Week 19 - Introduction to Cells</a:t>
            </a:r>
          </a:p>
        </p:txBody>
      </p:sp>
      <p:sp>
        <p:nvSpPr>
          <p:cNvPr id="4" name="AutoShape 2" descr="data:image/jpeg;base64,/9j/4AAQSkZJRgABAQAAAQABAAD/2wCEAAkGBxQTEhUUEhQUEhQXFxQVGRYXFBAUFRcWFRQXFhUUFBQYHCggGBolHBUUITEhJSkrLi8uFx8zODMsOigtLisBCgoKDg0OGxAQGzQmICQsLCwsLzQvLDQsLCwsLCwsLCwsLCwsLCwsLCwsLCwsLCwsLCwsLCwsLCwsLCwsLCwsLP/AABEIAMIBAwMBIgACEQEDEQH/xAAcAAACAgMBAQAAAAAAAAAAAAAFBgQHAAIDAQj/xABCEAABAwIEBAQDBgMGBAcAAAABAgMRAAQFEiExBkFRYRMicYEykaEUI0JSscFigvAHM3KS0eEWNKLxFSRDU2Oy0v/EABoBAAIDAQEAAAAAAAAAAAAAAAMEAQIFBgD/xAAzEQACAgEEAQMCAwgCAwEAAAABAgADEQQSITFBBRMiMlEUYXEzQoGRobHR8CPBUuHxFf/aAAwDAQACEQMRAD8AR2WykyNCKNW2L6ece9LtpjyF/wB4Mp6jai9qhDmiFBVd2t1Ng7iNlKv9Qkq8xoZSEbkUuMoOaTTfbYAn8avaiTdjao+ID51RrK1PHMLRpNn0xVxJWW0VPOkFYq1MbtWLjyIVkA+VJuL8KutagZ09RrWNrgXbdiH2kRXUK8ArutuK0y1kFOZMLcO2mZRUdkia6X1xmUa74YMrCiOZrthGEF0yrRA3Na+nrK1jHmVJkCztFuGEJJNMTHCN1GbIaasM8FhI8NInrRi0xwzTApsHIiz2kHgxQwttbZhYKSOooljtiLlk/nSNKZMVvElAUUg9dK1sLVt0SjynpV3YsmWEeqXeuRKrwVBAcQaF3bUGmjFLY214oKEBXy1obi1tB7VatA9eIFxgwxwnchTeTmKOBqq7tXlNqCkGDTE3xIrLqnWrIhxjExdTpHL5XzGG/vQ20onpVepVmVPepOI363TqdOleWFuSdBV1rO6NaTT+0DnsxhauMluO5FCMdR5p61w4hvQkJbSdtT60RsWPtKEx6Gqq6tYwj/YnLhN4pcyxoafW7AbqIFKasrAyo35muf8A4ms8zRF07H8orbokZtxjq9btBBAXqRSbecLuAlSPON+9as3iidzTpgToSmVH51Wys1DdnMa0+lrXriV7i58NgoO5odwyx51K6Cmf+0DD80PI+HmKDcKtyFgamKWPztDGXAwZDxNck0a4QthlUvnXNzh15ckJ070RwKzcYkLToedFdQXiutV2rOJMca1qVaJg1spxA3IFC8TxxDYIQcyq8EA5mAKnc7QIae4jQglB3Fe1WT1wVKKjuTO9ZVfbEaHpaY5gBKqbcMAYaCvxqHypWw5rO4hPVQFG8TcJURyBgDsKQ0RyCx8TdbuSXcacJ+I/OuS8RWrdRPvQsTTvw9w42EhT2pOuXpTfvMeoC/ULSuTAtq+e9MmH4ipMA6jodaZrXCLciPDSKH41w+lpOdvVI37URLlb4tFdP6pXY+3oxc4i4dS6gusiFDUpFIK24MGrOw3EQhUHY0t8c4SGnQ4n4HBI9eYpTVaYKcjqap5GRI/DTPipLY3mfajWKLDSQ2jlQrgk5FrcP4U/rU/Ek5lZtwdZp7RJuT9JT7yXhVxmTE6iibOlKtgwsuAIMGae8PaSICvMeZpln2jmZOrsFRzIWK3cNRzNSeGHzKYNSb/h1DoKkEhXQ7UMwtKmFkOeWOZ7UIOroQI76Xra24U8+YW4ww9NwI08QCQf2pBYuAqWnPKtOmtMVxjOd3NsJ5HpS/x9ZZVodTs4OXUUtzQAwj1pDkkSNc2JSdq5pZPSh1pjrjYjRY6K1rqviZzklA9qMvqFQHIixUwozhx3Og6muV7iyGQUtwpW09KA3eLOufEox0GgqFNKX+oFhhBiSE+875itXUk062rwtGwndShJpW4caCrhE7DX5VPx67zLMelD03Rcwo45hMXyHdZynoaIWOEleoIjrSxw/ZeM6EnYan0FO/i5fKnQCn01b7ZnavVFDtXudhgCkplEKUOVCkX7viZHNNYimXC7o0B4gj7UI5xPrU12u7fKL6LWWvYUeMTlp4tqtMSYoBhSG7PeFLO/ama+vBbWmY/EpMfOqsvr4rUTQRtJLHqbGduCY9XOMKmQdPpXttiBJFJthfuJEKQVJ9DpRazvmiZKsvY6U2jVMuJf3gxjbiuBJeblPlX9DVeXdipKilQMiniwxZuR96D21rjxjcNhoXDSM5EBU6DXQKI9dKCr+3w3IkWomMrExOHK6GsqC5xI+SYUE9glED5isqPxtf8A4xfaYKwJQFw3P5gPnoP1orfNkKM9TS82oggjQjUHuKcVp8dpLyRvIWB+FY3B9R5h2PY1nenEMpTz2JduDmCGNFJJ5EH61ZCNYUDIIBFI2G4W6+sIaSVKG/QJ5qUeQFWTglm1bICHVh5XLklPYDdVObQvGIrqNI94BXxN7Fwiil0QplYOxSf0rdvGGk7Bsf5f2ro/jrK0FBSkhQgmBHpQmR88LEV9GZmBDcj8pUbKzPvRPG/vbDXdtQI9DpTY9wgw8M1urwlj8JOZB/cUB4ksV21q6h1OUrUkJ6K1mUnmIBpl3R6yvn7TeNbIOYr8PJ+5ejeU/Ktre+ynKrVP1FacMnzON81o09UnN+gNeXVuZ9/SiaYHZx2IE8GMuApSVFSSDp70aQ2ZpGwW4LTgVBjYx0NOyV5gCkyDzFFcFjkzF1yMXz4ML2VzlOpoL/aGnMylxJiFQe4O012RpQzjO+/8uG9yog+gHP50q1RDZER09TLerL/GKNk/5hTBxMA5h4VzbWmPRVK9sPNTHjjgRhpB3W4gDvoVT8gai4f8JzOoU8RBVWlE8LwpT0mQhtMZnDsJ5D8yuwplYVaWwGVkPL/MshXvl5fKsxaHfkdS8S0MqOwJ9ATXRdotOqkKHqkinz/itQIgJb7BISI+VTGuJFTEpUOmikqHvR10JPkSeIncJI+/75Fx6xXmJswr1qwsLs7V9xLgCWlg6qRok5pHmTQHjDAXLZyFjyqkpVyI9f2pimsBTW3fYnipxmB+Dngl+DpmSQPWnJVvrVdrQUqkSCNQaZrLiwhMOIzKHMGJ9RV0Xb8TMjWaZ2bckabaEAqOgAk0BwtP2m5U4fgCvoNhQvFscW6Mg8qTyBkn1NGLZ0WzM9BPqoj/AHpgLjJh/TtJsYvZI/HmKFSw0kzG/ryFa4HgqUAOPDMo6hJ2HrQjBUeNdJK9ZUVH2BP7U4XiSTSpWD9Q1DFto8yfZ3qdsojpAoRxthTZa8dpISoRmA2IPOu7DRFe8SPhNosH8UJHvr+gNUCEczJpDJcpX7xBt3Yg96d8NcD7DzJABU25H+LJmSP8wBpERz7fWnHgQyuVRGs+wP8AsPemDzWQftOlBlcTWVoDXlYu+EmiRR/hJxzx0obGYOaLTMDIJJWTsCkSqfUc4oKEU28OW4bs3nj8S1Boaa5EjMQnspRTPL7s1OlVt4xxIbqOZvkNtxahJR+JYBhSxoVHmVbQnYaUEfulKnMrPJkqMlRPQnl6UupxFaCChUc4HwkCBlUDvtPuans420sfegtqjcALbMc4+JPp5vWugqtrX6v5yQ3GJObV00+ZojaLUdQNJAmBurke2+/Q1OsMHbgKcUoTBCQnKrXbMCPL6ETrypgssJttIQZ0g53M3trE1ezV1gccxGz1WmlsHJ/T/f7SJh2ZBkqgJEqJJ0EgAyJ5nT1EV2vsVZuwWnkBbXIKgKSYPnSsapJAOvLTQyQeHEWFuJCnmlF1sJSPByhJRASC6gpgLgJ5jMBrJpYtr1Ijw1gwNCdyAJnTQ7SOWu+1KKtd3yPf9poV69L1+HUB8SYI5YPpUhRKCc7TkROUyUrA0ChpI2I1Gho7h+Equ2w8gBsKMnxVZEjrBI+8TvCh6byAy25QpgBxCChXhqbQtOcNLTmAcAO6AoOZQT8JUCYymknFeIHA6fOsupKwolQCAQchShMZsoiNTqZMCvVb0JwZ5kHZhdXCiR8TwnohpSgPQuKR1FSGMELYlF0Qei2VZD7pUoUDtuKiogOoAI/G2UoOnUdfRQ9KKW2NNQQHyifwrSRPbMJSD/vTG9iOW/oP8T2yluDJl1ZXgAyhl2ebKkrJ9EEhRPbL7UqXjKsxzyFjcLkKE8iDqPSnG3xFBIAfakDQFVvJHTKVJM6bjWi7txbLHhvll1AQCkhTZcSDsAG4IJMajeRNQL9nBAP6d/7/ACnho6gMoQJWdnZSoQkzIE7j2761Lx1v7VcNWbRAQyFl1cyE6ysnqUpAT/iURTBxNYFi3U7Y/eJiVuEBLrSIHmDYA25r3TqYEZkq+FJ8GyLgBzPrUMw3yt6Jb75leIT/AIEk7Cl77RaQi9eYMLg8zzGH0ISG2xlQnMEpPIaQpUbrUDOvXuIAl/ckAk8zP9E17duFRJknUgTHKNSff+pqVw/gqrlRJVkbTGZW511CEDYq+g3PIFe2wg7VH6SLbFQFj1ISXI2PzFTsNWCoJJSmZTKiQnXnPKDBp6w/C7NEJFuhfVTiQ6o9yVfsAO1T7nhW0eT5WwwvktoZIPdsHKoadJ6EUMOymZJ9WrVsEHEUMDuCASREGDqBqn4iCSEnylRInSEnUTFj2tw3dNG3uBygbZgoaBSZPlUJ2OhHrVS3dq5burbcIUpC/MklyFglJCgREhSVTMgwTsanYdeBCpQnw9knzFXlUYTqdsuh13AnlTS/8oH38GbNNwxkcgzMawZTLq2lDzIVE6gKG6SNNJBBHrUBFuRy/rvThxnjEItn1NJd8RK21FRKVpLYQUpzDSfOv4kk6b70LwK9Q/mV9nKG2xmUsvFUdEIBQCSSRudJnoCzXqU/eHPR/WUZeeJxwbBXH3EpQiRIlXlCQknUqJ96a77CraQHlFwifKMyWuyjl8647aanToFvuI8pShGjaTnUEJkKyHQeYypRgDMoqGxAEAHlir0qlB0MFJJ3SQCmCNxEQR22ohDWtg8CM1qqqc9w7aXjTTgytWyACNrdxTkbTISNx111o8bplYBU02tJ2KAUHvmOhBHMfSqwcJMSB6/Uyee9SrV5SQQDoYkQNYMzB05fr6VDaNT1A2hX4IliHDLdYJQtTR6OQU+gUIP0J9arvjZL4dCHG1NoEhHRcbqB2ntuBuBrRazcyhTgS2SULVojKSEFOZKwn4mzpJHwwdABTeFocZ8N5KXEKAzBa834ZAJBOWNIM5gYIpd0ao95EHXoas7l7/pKZDMkD576e9MYfFrZOuTCnEFpobElwlKl9oQlZ9UjroUxjhT7M4CkksHMtK1RCY1PiqywMo1mNemhAQ+JsTDzgCNGmxkROhP5nFD8yjr2ASNYmh6m1Vp+Hbf2k7SDgwIa8rKysLdLywcR/s1fSM1u4i5TEwQbd2Oasjhykdws1qbVbdkhpxC21gOHKoFJkvHQgiR5RI6z8yrOLFqFNhxsHzFGZMZpAkKiQfWZG883Ozu2btstXCFOD4k+IEodTKQCUOoA0mPNEHxIMCtj2DSd3Y/rC+1v4Epe6SZPQToNkzoR9KlcLWwVdNzskKXB6pSSn/qyn2o9xlwqu1OdJLjBMBZGVacxJSHk7AnWFjyqjSNqXLC5LLqXNyk7fmSQUqTPKQTFXbDcjqLaitthXziPyXiCZopY3X9f17ULtXEOoC2zmSfYg/lWPwq7e40qU2Iqxr3czk7kzwYyW933qveLbPLe+G0SkOhChA+BTysiso6Zhmj+LSmkXiUJK1qypSJUo8hy9T2G5pHVjBfvUPRCS4xAMShCXEgTHPQq9TXqkKucfaN+lVuLCfGIyYneALygQmUkARAQM6WwI5RlUOx7Un8YIAfzD/1EJWT3BU0Y9fDn+aj+KsELUnbVQA5gHII022P1pe4xXLqAOTSRy3UtavaUqQfemblCoCJ0zH4zngWBOXGoKW2gYK1AmT0QkaqI05ga70323A9vHmdeJ6jwUj2BSf1qLhmlsxl28MH+bUr982aiFpdEaf7dKRJYCc5qtVcWO04Ej3XAagJt3guNkODIfZxJifVI9aCs3TjRLTiMjicxhUq3AGVQBhJGhCgJ2MxrT9Y3ug5/PlS7/aRbpUll4DzSponmUlClpn0KVf5jU12vkAydB6habBXZznzNMExwtrSZhMolQUqQVEoJiIMEgEETGbrXLjTDktoYU2kJt1oKglOgSVKW46EjYAhUpAOgKhsmaX8MdOp1JhRjmSEEAmd5mPfnTpjigcKBGvh+EpJiPgX9nUewKHtv4ppiwcq/k8fznSL8lP5SrHhEg068NtZbNuNCsuLPrnUgf9KE0qXjOpjUctO0g/IT86aeEroOMBr8bWbTmUFRUFDt5o7QOooBrxZMv1AE18ff/MnNuEH60bw+5/r+v6/eALapCAEJKlEJSkSVHRIA3M1X2PJmDYoaLf8AaQlPjsr5rZyq/lWqD6+Y/wCUUvWwkD+WfZW9e8QYqbl5TmyQAhE7hAJIKu5JUqP4o5V3whuVQQSlWhH4hljWB1PKi6ZeZ0WjQ11KrdgQ9xYyty1tmkJzKU/lSnnJaASOkCdTyMztW2JrQyylhrVtqQIGrrkSt89QVKhM7ARsNZzr5zpgBTrDK1wDmH2i7KUtgpTpHhocX6LpRxe4lZCZgkxqCrIJSkrVyGVIMDmSfWK8b2c/fj/uaCY7kXEH9hM5dCRPmjnJ5CAO8VN4dvVLItyhTgM5CkFSmydyR+TUk9J57UCWcxhMkyEpHM8h6anbvVkYbZItG8idVmPEXzUrpP5RsB77kzT3WLZB6iOr1XtDjszLfhVRPmdbTryGc/sB8zXdfB7kHw3EL7KSUfL4v1FaN3hn/T/aillfaj9N/r8/lRPxtmeD/SYj6/Ug5z/DH+n+sBC3calK1eFBCpUppICk7LClnpIkRIO8VKXjiEgDxvtCjJDTMoSCqVKSVgeEAJJkBcZjAGtZx/ZIdtvHAhxop1jUtrWElJ9FKCh083U1XgcgaHmNPqD7R9aJ+INn1Cbeh1pur3AYPR/WWsi8F80q2djw3AoDKICD/eMqJBP3iSlW8Tp+YiqaxK0U04tpwQtCik7xI5jqDuDzBFOPD15kWnQQsZVicoGygAobZgARAkFIPStP7UWApbFyN3kuNr0CVFy3UEqUsclQtCSP4KS1lYX5L0Y4TnuIdZXpFZWTtno+28TGYnMmMsgxCdQsHcZto336SSwq9LChmlSRJU2lSxOhBKBtOWVSdNOulaY1h7jCkh1p1CgiMzagrSISptWoLR1G2h3g6UITdiIISFA5CJXmIkypem8QIEyQTA2PRpaG4PUrVd5Etdl4OoSlcXDLqSAYyylRgpII8kmZTIhRB3TAqzifAFWzxbOqPibWQQVtyR5hyWkgpUmNCnpFFuHsZUyogEOMyM0EznzAeInNtOg2gjQgTIc+ILZF7Y50araT4wEQsf8AupynXKpIB5glCdTNDC+24z9J4/xHbitqbvIlRWrrjSs7KlI5GCDP8JSdD6EUX/4ouUgAhknumDPoFR9Irk/Yidd/Qgj57+xrl9kA0AHyAPyrQGlEyLKa3OWGZDxHEHnlferKoMhPlCAdpCQAknvFeNp0VMzECOvWe2tShamdASdoIEfLme1TrXDsifFfUENJjVZ+IjWIGqj/AAg1BrWvJJ4llUKMCHrhwLSm4VACkBSjzCyIWiOYzBMHvPOkPEnS44tahBUTI/LGiU+gACfajlnxEi4X9mI8JlWjSlRPizoXjOy9BzghBnQkwMTtFBZSsEKEkEg5omdesdYpZXW5SF8f2hCT0YR4SxVGX7O4QkyS2ToDm1Lc8jmkjrmI6SzfZyDrp/XSqyU3vICuoH70Rs8VuGwEpfUExoNHAkCI0WDlHpQgrdYmbqNEXbch7lj26SO0azMD1JO1JnF2N+O4G21S03PmGy1q0UodUgaA85UdiKFX1666IddU4kbjMgNzyISIH0riy2OpIkTodNNBHM7/ACq4qJM9pdD7bb2OTJ1g3y2159JSVH2TJ7R83JwrVYLa+FThCkJOhUlIS4tI6mEIkcpNLOEWJcOUTKkq7mSmIHqSNeUGo3FmO5rhAYVCLcFKFJ2KjHiLHYwB0IHeiahggUfx/lNQE9CRXkcj5VJ27iSSOmmvzqO1mQoKQYUDIIJBB7EU04Xbm/BUlPhqnzSD4UxqUnoem4770ZtuGLZr+8JdPQKCE/61DNWw45l0pawdRXY4juQPMUqMbltM/SBUC/vnntHVqMGQnRKB0IQAAT33qxm8MsFaFgoPVK1n99K8uuBG3BNu4Qei9R/mSNPkapuqH1ZH6/6ZH/54Q7lUfwlXt2/Ia7TpOnTX2pkw1lFu2q5fiAQpKSdXFyVIbH8wBJAiAeU0Qv8ABPsXnuwANcsefOY0CBsT66daSsfxVdysKV5UpGVCBqEp5681HcnnUW2qi4rPfmU2nOIe4UvFuC8dUfvCphc8gT4wTA5JCigAchAoBeN5TlIjQBXY5ZSmivAFxDrrWn3jYKREkraWFhIHPy5zHao2KWw+H4VQgEa65RCF5jvoVSf2OgqFLVkDwZfMF4S8EXDKl6JS62pR5ABYJJ9BrVl3jJ1B/oiqtWneRzp24c4kQtCWrhQStICUuKPlWBsFKPwqjmdD67irG0kN5mV6hUzYdfHcnhk1Ltk61KNr2Ouxjl61pcKQ0Mzq0tjqogE9gN1HsAaN7SjmZGd3Akfiu5y2LokSstoHc+IlR/6ULqtpiZ35fuflRniXGvtK0pbkNNzlGxUTutQ9BAHIT1IoZaW/nEwDpvyG8npprr0qqoWbibegoNVeD2TmGcKYnyq8okrVp5gG0LUVAHQgEAfzfKVxs9ntGFK0Wq4uVEaaEpbUoddMyde+tccPQqCpGpMp2M+GSEpUroCSNN4Sfc3iuCN/dC4Ufs7LWiB/ePOrMuHymcpyoEgwSDqACQbVrlAo8zQXkysTFZVnr4k8M5EqWyE6Bts2yUJjkAfqeZJIrKR/BN9xDbPzjjxTY+NbLKZztAvNkRKVI8xAHRQBHrlPIVUL7yyor1KjJzD4p3zCPf8AoVc11dJQha1GEpSpR9Akk/SqPb2HtPflRageROc9GdihB8GEbJRIyzqYAPKZB80bjSn3hG7UcjMkFCFQRIMKASpM9gSR86r6w0835SYHI/8AanPhceGoSZzJnuCREU+65qOftOgDcRKHE7yfKvI7BglSYUY6lJBPvWHioc2Ed4UsT7UDvlytZ/iV+pqGpVZLax06MpsBjI5xasf3bTSD+YhSyPTMY+lBb7EHHlZnVqWeUnQDokbJHYVDmspWzUu/1HMkIBOmam3CsdbfSlq7UEqTCUPmdvyunl1z+uaZJKgBWwFTTeyNuE8VzHa9wEpglMpImfMQR+ZDiUwrl9BpUNFmAYg8pKiQOe6Y1+VB8Oxm4Y0adWgb5ZlE9cipTPeKKt8aXIEEMq7lvLJ6kIIE94rXr9QTtk/t/wBwZUyWLCdExPQD66gCNan2mD+UqWQhCdVKU4Mg6CD5U7bmAdNeoFzjK5ghJQ2DvlQFT6+JmoRfYm68ZdcW5GwUokD/AAp2T7V6z1MfuL/P/wBTwQxixniMBKmbUnKRlU5sVDmlHPLGhJiddADXPhzAA4nxnvK0NhsVn/8ANBcGsS+6lsaA6qPRI+I/11FNmL4llASnypSISkbADQR7CgVE2sXeFRQJJvMYyoCUwhI0AGggcoqKzxKoHUJUO8mlm4uis6mt7VpTisqAVHtRjqB0olmu28iN6OJ41CPkaIW/FzqoSmEd+foaC2nCdyRsB6msfwR5kytBy9RVhajHmBHqKk7Q8ebLGPET4b6Q6hQghYzD60pcY8FJQkv2klvdbe6kd0n8SfqO9SGLlJbGsKozguKKBCVHMk6axUW6cEbkhwwaVNZXSmXEuJ+JJmOR5FJ7ESD604Yq0l5CXESoKGZCp1AA8ydeYIgidNeUUN47wUMP5kCG3PMnseaaHYHjRZOVUqbJzRoSlX5kg6chI5wKBp7RW3PRgmBnr1mVaj4uaYjTqP8ASoptjOxI20/3pnXZoeTnaUFJ7EyJ1jtz3qAuyI0I/wBf9a1PZSz5LB5gtt5xKQkLU2mNgVIB9knWvXGlaFSiZHONfedaKm3Ow00jbX61p9hnkPYRVvwgErgQcps9Up0G2UH1HOp9naECJIK/KBBJJJE7DYDeeuu9SrPD1kgJmdAPg9gCrSptw6xa6vKDrmv3SVZlHXZajogTPzPaquEq5Yyc/aGuGsLQohSiQ1OhUdVlCcxMDQkISogbJzbqodxLihKzqBBSITM5mwDAVvlBWlI/w+594VxNx77Tcr08NKGmxr4bQcKnFGOerbZJ3P0oFitwAvKkEJCikanNpqMx3KtRNKpaXJc/oIzUMDJg59tWY6J9yJr2oDr6ySQD9a8pU2rnz/v8JckR84z4iCwbdpUiR4i07HKZDYPPUST1AHWlEEkaaAc+epj965aaAfXSp1pbA6HUkjQch68v9qcqqJmdp6FpXask2DMkAdyZ7U0Lf8Fpxw6ZWzE/mIgCoWE2pJTpBJzAdByHqf0FBuM8XGtug6BUrPU8k+1X1VgSvEYzmKDiq5GtzWAVzT8mEE1Ca3CaO4Dww7cEEDKj8x2p0teHrW2+IeKobk7CjVaZn6EKtZaVzbYc4v4EKV6A0Vt+ErpWzRHqQP1p2uOJEJ8rKQk+gAqL/wAQrnzkKP6U8mgPkydi+TFpXBV5GjWbslSCflM0FvLFxpWVxCm1dFJKT8jVnJxraSCDzG4NT1Xzb6Mj6UOo2hWp9UndJ9Ks+jYdSTWPBlMqTWkVY2PcBJKS5ZrzDfwlHzfynn6UgvMFJIUCCNwaRasgwRUiMnDDfhW7jp3WcgPMJTqY9SfpQvE7gk/Si7P/ACjY5CT7zS9drk08fhSAJTM8tmitQSNyYqysGsW7ZIAAK+ZpG4Tj7QmadLhRzUGv6S0x/UHYnZ4jCxfUXaWFpgwQetJtu9RmyuDXhlpg2VkHIivxTY+A75T5VajoO1Q7S8J0GlFv7QnAUt9daUbV/T0p+hz0Z1Hp9rPSC0dMbY+1WR/OjzD23qrVJq1uFXMySCZBSf0qurmyUp5SEAk5iAB60rqK8OcTQPMh2lyttQUhRSeoo/b8TmIcbSo9R5T78qJ4XwRoFXCwgfl50aaw6za0CAruTU0+4Ppk+zu7i1/xI3zZKvVX7xNcHeJRrkYT/MpSh8hFOiGLJY8zaU1wuuELV0fdKyH5ijPdcBzme/DxAu8euFjL4hQn8qPIPQlOpHqaFRThi/Aj7QlH3ie2/wAqVnrdSTCgQe9IsxY5lduI38HLP2N4bQ7J92wBPYQfnQHFhBzEdBHRYSA4fnNFeBHxmdZJjxE6f4gFAf8A2PyrXiKxMiB8QBjTc6GNeoPzp2kbqSB3JzFXMev6VlScieeleUt7LfeezCLDY3mT15A+kfSi9hbSrKmZ5xM/9zNTLDCM2pAQgSSSQkQOpJ8o71CxXiltlJas4KtlPRz/APjB/U/XSNe2+ugfnAZz1JmO4wm0b8JuC+QZI18MEc/4oj6Tyqv3FyZOpNeOOEkkkknUk6kk7kmtJrn9RqDY2TCKuJ7TPwxgIXDj2iBsDzofw9hXiqzK0QnUnr2o7il8T5U6JGgA0oml0+/5t1Lgw1eY+lseG3oNp5UEu8XV1BH1NBHLjXXWuQJNPm4LwsubTjEnLu57eldWVhURvUNpok6a+lMWEcNPrM5CByO1QLjnmLPqFX6jOVsf11FTrZRSZ37V3XhTrIJWg85MTQ9y7Ces04lgIl671bkGH8OxIpVv/XSuXGeApfQXmxCwJUBzHWgSb3UGmfBb3MCg6g6ULUVBxkdxjcCMRStNbaOaZFLr6KbHkeE8ts/Co6ULxCyg7UAV76/0i/nED2bhQsKHI1YdhcpeQFDfmKQizFSrG8W0ZSSKHWm04iuq0vujI7j6i3qW0oJ1JgCk8cTuRoBNDcRxh5zQmB2o+0AcCZY9PsY/KSeJ8V8Z3T4U6CoNuIk+1RmkQKIWrCllKANzVqq8cmbNNYrUKI58EW5InkAZPSu6m2LcqUmCokknnU4RaWuVOiiNT3pFvrqZJNTtDsXPU0BXsHPcIYjjIWe1Cri9nahLr+taeKag3AcCCayEhf8AaptjiiknQkUDS6alNjMO9QtuYP3ZYeD48SmFGa74hg1vdjzAIXyIqura8Ug03YTeFSZB1qGqR+RxLiwHiLWM8OvWTgXqUgyFCirykvthwe46K505W9+l1PhvgEHTWlLHsJVZL8RrzMq3HKqVMamw3/2VdfIi67hhk+vrWUXF8wrXNlnlrpWU9vpgd0TcVxx58/erJH5R5UD+UfvQwqrSa8rlHvLQoXE3murDZUoAbmuAph4TtgXMx2TrXqlLsBPHiGn4YaS0nTSVHqaB3Lh671OxR/Momgjq5rasIRdokCeqUPWiODYYu4XlToOZ6UKTVj8OW4aZT1VqaWTLmJ6y81Jx3DWCYMyyBCQpXMnWmVi4A2paauKIsXFXIBnK3M7NkmGiQRBgiq842wUNqC2x5Vcu9OrbtB+Lly0Bzmi0qQ4jXpzOtoA6Mr8N6imDB9xQpDUmmfA7LnWowCrmdYuYExyxW4+MopjseHkLQPEOtbX10hs6RNB148QqklrfHHEaStRy0J3PBqD8JpdxHhZxvYSKasNx8K3pgYu0LEGDVN1lZ55jLUVsPjKh+xRoRXJ22O1WfjfDqFgqbiaTX7YIJCjFaVV1TrM21ChwYBbtjpTTwtYAK8RYhKRPvQV/EWm9vMaI2uIKUwVHSdhQbLUPwXzK1/VmcuJ8aLiyAfKKVH3yakXz+poctdKXOAMCGZyeTN0yogAU14JwoVgKc0HSoPB9iFKzq2FPP2iNqXVdw3GYeu1bA7EnjHDFuBtW6+E2j8Ghr1q7ohb3VVJGeJhtqL1Od0Rcf4fW2SqJHUVAsbko0B0q1XkJcSQdZFVbxHh5ZcI5TpRa7T5mz6frjb8W7hhjEATB3FMVk8H2i05qCI9Krdi8IprwG+0p0qLEm4pzAN7wq8lxQSkkA6HtWValtfykHTaspLLjxPbRPm2srKyubkzdNNvDIhpRpSTTXwuZSRWloMe4IN+pGvBQt2mDELegjzdaeoQzwM4sbj1qzLMy2g9hVYjSnrhXEQpGQnUUtp8bsGZ3qCEqCPEOtURtzUNKKmNU8tQExCmZPZXS/wAQ3WdWUbCpl/iSUJIGpoHbNlRk86Zor53Gamg02PmZ1w+zk0xPPJZbjnFaWrSW0ZjSfj2LFaiJ0qLH3n8hOhqAQbjI+K4iVKOtCw8TzrmQVmBrRrDuGXF6xFAe7mK3apU5YzSxcgUbtLpXI1ovhtxtMxNcwMo70aqxW4lqtUrdGM1hiZ2Jpe42w4keIjbnXjV3RptQcbKTrIql9WPksYJ3CVG5vrTZYE/Z/SgfEFl4TpHejGCuSyRSlT/OA6gG9VrUImiF83qaGK3ql+QZ4x54PWPCMb0UfcNKPCuIZFZTsacXm51FeX5JxOe1aFbTnzOTb9ELd+hgaNd2gaEK2zEnQGMdnc0qf2hgQk86OWiqUuPr0FQSOVEYbRky2hrI1AxFhtyjeF3UAGaXW11NtF9Ka09k6tY+NYgQANa8obb4rCQIGgrKewPtLZlY1lZWVxEmbJo/wvcZXIPOl8VJtXSlQI5U3p32sDKsMiPV6xqaXr63IpmsrlL7Y6xUK/tSNN66baLUzAKcRTXNdbV9SDKdKk3TUHaouU1nNSVaEIBEY7TidwCDrUlXETih0pYQiptqnWnKQfMX/DVg5xD9iSsyrWmrDbXmdhQPBLbMoDlRrH8QSy3lG9NXPjCiOVVjs9QTxTjf4Emk2VLPrWX9zmUTRPhm3zLk7CkHf90QWpu2qTGThrBUpAUsa05WpA2oC2/GgqdbP0u7AcTkdVa9hyYwIhQg0ncU4Zk86dqZGXqi8QHMyr0r1ZKtkSNFqGSwCV629RXDrsgiltTkKPrRWydkitZW3DmdnW2RNeOraQFig/DD+pSedNPFLc289Kr6zuMiwe9ZTfB55obxm0ykml18a08PgPNBQ6UrXlrBpi2v3F3CUBg9pyDIpxwLHhASs0oKZisb30pRAyGAvoW0YMtNtSVagit4A5iq8YxFxA3rHcZcP4jTW/HYmafT2z3HfEcaQ0kwZNV5iN4p1ZUedcX31HUma45jSlr7jHtNpFq58zu3RDDRBmoVs0SddKKYWxKu005pqzkGOZxJ/wBkPWsop/4ao6iYrK0cCV3SsKysrK4aGnoroivayj09yDGnhA+ajt98RrKyuo0P0CLN9UXL/aoyBWVlEb64QdTdXKpTG4rKyiJ3Jjzw8NPagfGB81ZWUKz6jDj6InOU08JfCaysrO/fmdrf2ZjIiptvWVlAfucxbCjFc8a/uVelZWUZIPT/ALQfrKtf+I+tEsN+JNZWVpV9Ttauof4h/wCWPpVXL3rKysy/6jLtHHhn+6NQcUGprKytDTfsoLzAj1at715WUsfrl5uutXNq8rKhvMrOTe9dWhrWVlDr7EtJT1HsCHlrKytKr65Vuo2W58o9KysrKue4Cf/Z"/>
          <p:cNvSpPr>
            <a:spLocks noChangeAspect="1" noChangeArrowheads="1"/>
          </p:cNvSpPr>
          <p:nvPr/>
        </p:nvSpPr>
        <p:spPr bwMode="auto">
          <a:xfrm>
            <a:off x="155575" y="-2841625"/>
            <a:ext cx="7896225" cy="5924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sp>
        <p:nvSpPr>
          <p:cNvPr id="5" name="AutoShape 4" descr="data:image/jpeg;base64,/9j/4AAQSkZJRgABAQAAAQABAAD/2wCEAAkGBxQTEhUUEhQUEhQXFxQVGRYXFBAUFRcWFRQXFhUUFBQYHCggGBolHBUUITEhJSkrLi8uFx8zODMsOigtLisBCgoKDg0OGxAQGzQmICQsLCwsLzQvLDQsLCwsLCwsLCwsLCwsLCwsLCwsLCwsLCwsLCwsLCwsLCwsLCwsLCwsLP/AABEIAMIBAwMBIgACEQEDEQH/xAAcAAACAgMBAQAAAAAAAAAAAAAFBgQHAAIDAQj/xABCEAABAwIEBAQDBgMGBAcAAAABAgMRAAQFEiExBkFRYRMicYEykaEUI0JSscFigvAHM3KS0eEWNKLxFSRDU2Oy0v/EABoBAAIDAQEAAAAAAAAAAAAAAAMEAQIFBgD/xAAzEQACAgEEAQMCAwgCAwEAAAABAgADEQQSITFBBRMiMlEUYXEzQoGRobHR8CPBUuHxFf/aAAwDAQACEQMRAD8AR2WykyNCKNW2L6ece9LtpjyF/wB4Mp6jai9qhDmiFBVd2t1Ng7iNlKv9Qkq8xoZSEbkUuMoOaTTfbYAn8avaiTdjao+ID51RrK1PHMLRpNn0xVxJWW0VPOkFYq1MbtWLjyIVkA+VJuL8KutagZ09RrWNrgXbdiH2kRXUK8ArutuK0y1kFOZMLcO2mZRUdkia6X1xmUa74YMrCiOZrthGEF0yrRA3Na+nrK1jHmVJkCztFuGEJJNMTHCN1GbIaasM8FhI8NInrRi0xwzTApsHIiz2kHgxQwttbZhYKSOooljtiLlk/nSNKZMVvElAUUg9dK1sLVt0SjynpV3YsmWEeqXeuRKrwVBAcQaF3bUGmjFLY214oKEBXy1obi1tB7VatA9eIFxgwxwnchTeTmKOBqq7tXlNqCkGDTE3xIrLqnWrIhxjExdTpHL5XzGG/vQ20onpVepVmVPepOI363TqdOleWFuSdBV1rO6NaTT+0DnsxhauMluO5FCMdR5p61w4hvQkJbSdtT60RsWPtKEx6Gqq6tYwj/YnLhN4pcyxoafW7AbqIFKasrAyo35muf8A4ms8zRF07H8orbokZtxjq9btBBAXqRSbecLuAlSPON+9as3iidzTpgToSmVH51Wys1DdnMa0+lrXriV7i58NgoO5odwyx51K6Cmf+0DD80PI+HmKDcKtyFgamKWPztDGXAwZDxNck0a4QthlUvnXNzh15ckJ070RwKzcYkLToedFdQXiutV2rOJMca1qVaJg1spxA3IFC8TxxDYIQcyq8EA5mAKnc7QIae4jQglB3Fe1WT1wVKKjuTO9ZVfbEaHpaY5gBKqbcMAYaCvxqHypWw5rO4hPVQFG8TcJURyBgDsKQ0RyCx8TdbuSXcacJ+I/OuS8RWrdRPvQsTTvw9w42EhT2pOuXpTfvMeoC/ULSuTAtq+e9MmH4ipMA6jodaZrXCLciPDSKH41w+lpOdvVI37URLlb4tFdP6pXY+3oxc4i4dS6gusiFDUpFIK24MGrOw3EQhUHY0t8c4SGnQ4n4HBI9eYpTVaYKcjqap5GRI/DTPipLY3mfajWKLDSQ2jlQrgk5FrcP4U/rU/Ek5lZtwdZp7RJuT9JT7yXhVxmTE6iibOlKtgwsuAIMGae8PaSICvMeZpln2jmZOrsFRzIWK3cNRzNSeGHzKYNSb/h1DoKkEhXQ7UMwtKmFkOeWOZ7UIOroQI76Xra24U8+YW4ww9NwI08QCQf2pBYuAqWnPKtOmtMVxjOd3NsJ5HpS/x9ZZVodTs4OXUUtzQAwj1pDkkSNc2JSdq5pZPSh1pjrjYjRY6K1rqviZzklA9qMvqFQHIixUwozhx3Og6muV7iyGQUtwpW09KA3eLOufEox0GgqFNKX+oFhhBiSE+875itXUk062rwtGwndShJpW4caCrhE7DX5VPx67zLMelD03Rcwo45hMXyHdZynoaIWOEleoIjrSxw/ZeM6EnYan0FO/i5fKnQCn01b7ZnavVFDtXudhgCkplEKUOVCkX7viZHNNYimXC7o0B4gj7UI5xPrU12u7fKL6LWWvYUeMTlp4tqtMSYoBhSG7PeFLO/ama+vBbWmY/EpMfOqsvr4rUTQRtJLHqbGduCY9XOMKmQdPpXttiBJFJthfuJEKQVJ9DpRazvmiZKsvY6U2jVMuJf3gxjbiuBJeblPlX9DVeXdipKilQMiniwxZuR96D21rjxjcNhoXDSM5EBU6DXQKI9dKCr+3w3IkWomMrExOHK6GsqC5xI+SYUE9glED5isqPxtf8A4xfaYKwJQFw3P5gPnoP1orfNkKM9TS82oggjQjUHuKcVp8dpLyRvIWB+FY3B9R5h2PY1nenEMpTz2JduDmCGNFJJ5EH61ZCNYUDIIBFI2G4W6+sIaSVKG/QJ5qUeQFWTglm1bICHVh5XLklPYDdVObQvGIrqNI94BXxN7Fwiil0QplYOxSf0rdvGGk7Bsf5f2ro/jrK0FBSkhQgmBHpQmR88LEV9GZmBDcj8pUbKzPvRPG/vbDXdtQI9DpTY9wgw8M1urwlj8JOZB/cUB4ksV21q6h1OUrUkJ6K1mUnmIBpl3R6yvn7TeNbIOYr8PJ+5ejeU/Ktre+ynKrVP1FacMnzON81o09UnN+gNeXVuZ9/SiaYHZx2IE8GMuApSVFSSDp70aQ2ZpGwW4LTgVBjYx0NOyV5gCkyDzFFcFjkzF1yMXz4ML2VzlOpoL/aGnMylxJiFQe4O012RpQzjO+/8uG9yog+gHP50q1RDZER09TLerL/GKNk/5hTBxMA5h4VzbWmPRVK9sPNTHjjgRhpB3W4gDvoVT8gai4f8JzOoU8RBVWlE8LwpT0mQhtMZnDsJ5D8yuwplYVaWwGVkPL/MshXvl5fKsxaHfkdS8S0MqOwJ9ATXRdotOqkKHqkinz/itQIgJb7BISI+VTGuJFTEpUOmikqHvR10JPkSeIncJI+/75Fx6xXmJswr1qwsLs7V9xLgCWlg6qRok5pHmTQHjDAXLZyFjyqkpVyI9f2pimsBTW3fYnipxmB+Dngl+DpmSQPWnJVvrVdrQUqkSCNQaZrLiwhMOIzKHMGJ9RV0Xb8TMjWaZ2bckabaEAqOgAk0BwtP2m5U4fgCvoNhQvFscW6Mg8qTyBkn1NGLZ0WzM9BPqoj/AHpgLjJh/TtJsYvZI/HmKFSw0kzG/ryFa4HgqUAOPDMo6hJ2HrQjBUeNdJK9ZUVH2BP7U4XiSTSpWD9Q1DFto8yfZ3qdsojpAoRxthTZa8dpISoRmA2IPOu7DRFe8SPhNosH8UJHvr+gNUCEczJpDJcpX7xBt3Yg96d8NcD7DzJABU25H+LJmSP8wBpERz7fWnHgQyuVRGs+wP8AsPemDzWQftOlBlcTWVoDXlYu+EmiRR/hJxzx0obGYOaLTMDIJJWTsCkSqfUc4oKEU28OW4bs3nj8S1Boaa5EjMQnspRTPL7s1OlVt4xxIbqOZvkNtxahJR+JYBhSxoVHmVbQnYaUEfulKnMrPJkqMlRPQnl6UupxFaCChUc4HwkCBlUDvtPuans420sfegtqjcALbMc4+JPp5vWugqtrX6v5yQ3GJObV00+ZojaLUdQNJAmBurke2+/Q1OsMHbgKcUoTBCQnKrXbMCPL6ETrypgssJttIQZ0g53M3trE1ezV1gccxGz1WmlsHJ/T/f7SJh2ZBkqgJEqJJ0EgAyJ5nT1EV2vsVZuwWnkBbXIKgKSYPnSsapJAOvLTQyQeHEWFuJCnmlF1sJSPByhJRASC6gpgLgJ5jMBrJpYtr1Ijw1gwNCdyAJnTQ7SOWu+1KKtd3yPf9poV69L1+HUB8SYI5YPpUhRKCc7TkROUyUrA0ChpI2I1Gho7h+Equ2w8gBsKMnxVZEjrBI+8TvCh6byAy25QpgBxCChXhqbQtOcNLTmAcAO6AoOZQT8JUCYymknFeIHA6fOsupKwolQCAQchShMZsoiNTqZMCvVb0JwZ5kHZhdXCiR8TwnohpSgPQuKR1FSGMELYlF0Qei2VZD7pUoUDtuKiogOoAI/G2UoOnUdfRQ9KKW2NNQQHyifwrSRPbMJSD/vTG9iOW/oP8T2yluDJl1ZXgAyhl2ebKkrJ9EEhRPbL7UqXjKsxzyFjcLkKE8iDqPSnG3xFBIAfakDQFVvJHTKVJM6bjWi7txbLHhvll1AQCkhTZcSDsAG4IJMajeRNQL9nBAP6d/7/ACnho6gMoQJWdnZSoQkzIE7j2761Lx1v7VcNWbRAQyFl1cyE6ysnqUpAT/iURTBxNYFi3U7Y/eJiVuEBLrSIHmDYA25r3TqYEZkq+FJ8GyLgBzPrUMw3yt6Jb75leIT/AIEk7Cl77RaQi9eYMLg8zzGH0ISG2xlQnMEpPIaQpUbrUDOvXuIAl/ckAk8zP9E17duFRJknUgTHKNSff+pqVw/gqrlRJVkbTGZW511CEDYq+g3PIFe2wg7VH6SLbFQFj1ISXI2PzFTsNWCoJJSmZTKiQnXnPKDBp6w/C7NEJFuhfVTiQ6o9yVfsAO1T7nhW0eT5WwwvktoZIPdsHKoadJ6EUMOymZJ9WrVsEHEUMDuCASREGDqBqn4iCSEnylRInSEnUTFj2tw3dNG3uBygbZgoaBSZPlUJ2OhHrVS3dq5burbcIUpC/MklyFglJCgREhSVTMgwTsanYdeBCpQnw9knzFXlUYTqdsuh13AnlTS/8oH38GbNNwxkcgzMawZTLq2lDzIVE6gKG6SNNJBBHrUBFuRy/rvThxnjEItn1NJd8RK21FRKVpLYQUpzDSfOv4kk6b70LwK9Q/mV9nKG2xmUsvFUdEIBQCSSRudJnoCzXqU/eHPR/WUZeeJxwbBXH3EpQiRIlXlCQknUqJ96a77CraQHlFwifKMyWuyjl8647aanToFvuI8pShGjaTnUEJkKyHQeYypRgDMoqGxAEAHlir0qlB0MFJJ3SQCmCNxEQR22ohDWtg8CM1qqqc9w7aXjTTgytWyACNrdxTkbTISNx111o8bplYBU02tJ2KAUHvmOhBHMfSqwcJMSB6/Uyee9SrV5SQQDoYkQNYMzB05fr6VDaNT1A2hX4IliHDLdYJQtTR6OQU+gUIP0J9arvjZL4dCHG1NoEhHRcbqB2ntuBuBrRazcyhTgS2SULVojKSEFOZKwn4mzpJHwwdABTeFocZ8N5KXEKAzBa834ZAJBOWNIM5gYIpd0ao95EHXoas7l7/pKZDMkD576e9MYfFrZOuTCnEFpobElwlKl9oQlZ9UjroUxjhT7M4CkksHMtK1RCY1PiqywMo1mNemhAQ+JsTDzgCNGmxkROhP5nFD8yjr2ASNYmh6m1Vp+Hbf2k7SDgwIa8rKysLdLywcR/s1fSM1u4i5TEwQbd2Oasjhykdws1qbVbdkhpxC21gOHKoFJkvHQgiR5RI6z8yrOLFqFNhxsHzFGZMZpAkKiQfWZG883Ozu2btstXCFOD4k+IEodTKQCUOoA0mPNEHxIMCtj2DSd3Y/rC+1v4Epe6SZPQToNkzoR9KlcLWwVdNzskKXB6pSSn/qyn2o9xlwqu1OdJLjBMBZGVacxJSHk7AnWFjyqjSNqXLC5LLqXNyk7fmSQUqTPKQTFXbDcjqLaitthXziPyXiCZopY3X9f17ULtXEOoC2zmSfYg/lWPwq7e40qU2Iqxr3czk7kzwYyW933qveLbPLe+G0SkOhChA+BTysiso6Zhmj+LSmkXiUJK1qypSJUo8hy9T2G5pHVjBfvUPRCS4xAMShCXEgTHPQq9TXqkKucfaN+lVuLCfGIyYneALygQmUkARAQM6WwI5RlUOx7Un8YIAfzD/1EJWT3BU0Y9fDn+aj+KsELUnbVQA5gHII022P1pe4xXLqAOTSRy3UtavaUqQfemblCoCJ0zH4zngWBOXGoKW2gYK1AmT0QkaqI05ga70323A9vHmdeJ6jwUj2BSf1qLhmlsxl28MH+bUr982aiFpdEaf7dKRJYCc5qtVcWO04Ej3XAagJt3guNkODIfZxJifVI9aCs3TjRLTiMjicxhUq3AGVQBhJGhCgJ2MxrT9Y3ug5/PlS7/aRbpUll4DzSponmUlClpn0KVf5jU12vkAydB6habBXZznzNMExwtrSZhMolQUqQVEoJiIMEgEETGbrXLjTDktoYU2kJt1oKglOgSVKW46EjYAhUpAOgKhsmaX8MdOp1JhRjmSEEAmd5mPfnTpjigcKBGvh+EpJiPgX9nUewKHtv4ppiwcq/k8fznSL8lP5SrHhEg068NtZbNuNCsuLPrnUgf9KE0qXjOpjUctO0g/IT86aeEroOMBr8bWbTmUFRUFDt5o7QOooBrxZMv1AE18ff/MnNuEH60bw+5/r+v6/eALapCAEJKlEJSkSVHRIA3M1X2PJmDYoaLf8AaQlPjsr5rZyq/lWqD6+Y/wCUUvWwkD+WfZW9e8QYqbl5TmyQAhE7hAJIKu5JUqP4o5V3whuVQQSlWhH4hljWB1PKi6ZeZ0WjQ11KrdgQ9xYyty1tmkJzKU/lSnnJaASOkCdTyMztW2JrQyylhrVtqQIGrrkSt89QVKhM7ARsNZzr5zpgBTrDK1wDmH2i7KUtgpTpHhocX6LpRxe4lZCZgkxqCrIJSkrVyGVIMDmSfWK8b2c/fj/uaCY7kXEH9hM5dCRPmjnJ5CAO8VN4dvVLItyhTgM5CkFSmydyR+TUk9J57UCWcxhMkyEpHM8h6anbvVkYbZItG8idVmPEXzUrpP5RsB77kzT3WLZB6iOr1XtDjszLfhVRPmdbTryGc/sB8zXdfB7kHw3EL7KSUfL4v1FaN3hn/T/aillfaj9N/r8/lRPxtmeD/SYj6/Ug5z/DH+n+sBC3calK1eFBCpUppICk7LClnpIkRIO8VKXjiEgDxvtCjJDTMoSCqVKSVgeEAJJkBcZjAGtZx/ZIdtvHAhxop1jUtrWElJ9FKCh083U1XgcgaHmNPqD7R9aJ+INn1Cbeh1pur3AYPR/WWsi8F80q2djw3AoDKICD/eMqJBP3iSlW8Tp+YiqaxK0U04tpwQtCik7xI5jqDuDzBFOPD15kWnQQsZVicoGygAobZgARAkFIPStP7UWApbFyN3kuNr0CVFy3UEqUsclQtCSP4KS1lYX5L0Y4TnuIdZXpFZWTtno+28TGYnMmMsgxCdQsHcZto336SSwq9LChmlSRJU2lSxOhBKBtOWVSdNOulaY1h7jCkh1p1CgiMzagrSISptWoLR1G2h3g6UITdiIISFA5CJXmIkypem8QIEyQTA2PRpaG4PUrVd5Etdl4OoSlcXDLqSAYyylRgpII8kmZTIhRB3TAqzifAFWzxbOqPibWQQVtyR5hyWkgpUmNCnpFFuHsZUyogEOMyM0EznzAeInNtOg2gjQgTIc+ILZF7Y50araT4wEQsf8AupynXKpIB5glCdTNDC+24z9J4/xHbitqbvIlRWrrjSs7KlI5GCDP8JSdD6EUX/4ouUgAhknumDPoFR9Irk/Yidd/Qgj57+xrl9kA0AHyAPyrQGlEyLKa3OWGZDxHEHnlferKoMhPlCAdpCQAknvFeNp0VMzECOvWe2tShamdASdoIEfLme1TrXDsifFfUENJjVZ+IjWIGqj/AAg1BrWvJJ4llUKMCHrhwLSm4VACkBSjzCyIWiOYzBMHvPOkPEnS44tahBUTI/LGiU+gACfajlnxEi4X9mI8JlWjSlRPizoXjOy9BzghBnQkwMTtFBZSsEKEkEg5omdesdYpZXW5SF8f2hCT0YR4SxVGX7O4QkyS2ToDm1Lc8jmkjrmI6SzfZyDrp/XSqyU3vICuoH70Rs8VuGwEpfUExoNHAkCI0WDlHpQgrdYmbqNEXbch7lj26SO0azMD1JO1JnF2N+O4G21S03PmGy1q0UodUgaA85UdiKFX1666IddU4kbjMgNzyISIH0riy2OpIkTodNNBHM7/ACq4qJM9pdD7bb2OTJ1g3y2159JSVH2TJ7R83JwrVYLa+FThCkJOhUlIS4tI6mEIkcpNLOEWJcOUTKkq7mSmIHqSNeUGo3FmO5rhAYVCLcFKFJ2KjHiLHYwB0IHeiahggUfx/lNQE9CRXkcj5VJ27iSSOmmvzqO1mQoKQYUDIIJBB7EU04Xbm/BUlPhqnzSD4UxqUnoem4770ZtuGLZr+8JdPQKCE/61DNWw45l0pawdRXY4juQPMUqMbltM/SBUC/vnntHVqMGQnRKB0IQAAT33qxm8MsFaFgoPVK1n99K8uuBG3BNu4Qei9R/mSNPkapuqH1ZH6/6ZH/54Q7lUfwlXt2/Ia7TpOnTX2pkw1lFu2q5fiAQpKSdXFyVIbH8wBJAiAeU0Qv8ABPsXnuwANcsefOY0CBsT66daSsfxVdysKV5UpGVCBqEp5681HcnnUW2qi4rPfmU2nOIe4UvFuC8dUfvCphc8gT4wTA5JCigAchAoBeN5TlIjQBXY5ZSmivAFxDrrWn3jYKREkraWFhIHPy5zHao2KWw+H4VQgEa65RCF5jvoVSf2OgqFLVkDwZfMF4S8EXDKl6JS62pR5ABYJJ9BrVl3jJ1B/oiqtWneRzp24c4kQtCWrhQStICUuKPlWBsFKPwqjmdD67irG0kN5mV6hUzYdfHcnhk1Ltk61KNr2Ouxjl61pcKQ0Mzq0tjqogE9gN1HsAaN7SjmZGd3Akfiu5y2LokSstoHc+IlR/6ULqtpiZ35fuflRniXGvtK0pbkNNzlGxUTutQ9BAHIT1IoZaW/nEwDpvyG8npprr0qqoWbibegoNVeD2TmGcKYnyq8okrVp5gG0LUVAHQgEAfzfKVxs9ntGFK0Wq4uVEaaEpbUoddMyde+tccPQqCpGpMp2M+GSEpUroCSNN4Sfc3iuCN/dC4Ufs7LWiB/ePOrMuHymcpyoEgwSDqACQbVrlAo8zQXkysTFZVnr4k8M5EqWyE6Bts2yUJjkAfqeZJIrKR/BN9xDbPzjjxTY+NbLKZztAvNkRKVI8xAHRQBHrlPIVUL7yyor1KjJzD4p3zCPf8AoVc11dJQha1GEpSpR9Akk/SqPb2HtPflRageROc9GdihB8GEbJRIyzqYAPKZB80bjSn3hG7UcjMkFCFQRIMKASpM9gSR86r6w0835SYHI/8AanPhceGoSZzJnuCREU+65qOftOgDcRKHE7yfKvI7BglSYUY6lJBPvWHioc2Ed4UsT7UDvlytZ/iV+pqGpVZLax06MpsBjI5xasf3bTSD+YhSyPTMY+lBb7EHHlZnVqWeUnQDokbJHYVDmspWzUu/1HMkIBOmam3CsdbfSlq7UEqTCUPmdvyunl1z+uaZJKgBWwFTTeyNuE8VzHa9wEpglMpImfMQR+ZDiUwrl9BpUNFmAYg8pKiQOe6Y1+VB8Oxm4Y0adWgb5ZlE9cipTPeKKt8aXIEEMq7lvLJ6kIIE94rXr9QTtk/t/wBwZUyWLCdExPQD66gCNan2mD+UqWQhCdVKU4Mg6CD5U7bmAdNeoFzjK5ghJQ2DvlQFT6+JmoRfYm68ZdcW5GwUokD/AAp2T7V6z1MfuL/P/wBTwQxixniMBKmbUnKRlU5sVDmlHPLGhJiddADXPhzAA4nxnvK0NhsVn/8ANBcGsS+6lsaA6qPRI+I/11FNmL4llASnypSISkbADQR7CgVE2sXeFRQJJvMYyoCUwhI0AGggcoqKzxKoHUJUO8mlm4uis6mt7VpTisqAVHtRjqB0olmu28iN6OJ41CPkaIW/FzqoSmEd+foaC2nCdyRsB6msfwR5kytBy9RVhajHmBHqKk7Q8ebLGPET4b6Q6hQghYzD60pcY8FJQkv2klvdbe6kd0n8SfqO9SGLlJbGsKozguKKBCVHMk6axUW6cEbkhwwaVNZXSmXEuJ+JJmOR5FJ7ESD604Yq0l5CXESoKGZCp1AA8ydeYIgidNeUUN47wUMP5kCG3PMnseaaHYHjRZOVUqbJzRoSlX5kg6chI5wKBp7RW3PRgmBnr1mVaj4uaYjTqP8ASoptjOxI20/3pnXZoeTnaUFJ7EyJ1jtz3qAuyI0I/wBf9a1PZSz5LB5gtt5xKQkLU2mNgVIB9knWvXGlaFSiZHONfedaKm3Ow00jbX61p9hnkPYRVvwgErgQcps9Up0G2UH1HOp9naECJIK/KBBJJJE7DYDeeuu9SrPD1kgJmdAPg9gCrSptw6xa6vKDrmv3SVZlHXZajogTPzPaquEq5Yyc/aGuGsLQohSiQ1OhUdVlCcxMDQkISogbJzbqodxLihKzqBBSITM5mwDAVvlBWlI/w+594VxNx77Tcr08NKGmxr4bQcKnFGOerbZJ3P0oFitwAvKkEJCikanNpqMx3KtRNKpaXJc/oIzUMDJg59tWY6J9yJr2oDr6ySQD9a8pU2rnz/v8JckR84z4iCwbdpUiR4i07HKZDYPPUST1AHWlEEkaaAc+epj965aaAfXSp1pbA6HUkjQch68v9qcqqJmdp6FpXask2DMkAdyZ7U0Lf8Fpxw6ZWzE/mIgCoWE2pJTpBJzAdByHqf0FBuM8XGtug6BUrPU8k+1X1VgSvEYzmKDiq5GtzWAVzT8mEE1Ca3CaO4Dww7cEEDKj8x2p0teHrW2+IeKobk7CjVaZn6EKtZaVzbYc4v4EKV6A0Vt+ErpWzRHqQP1p2uOJEJ8rKQk+gAqL/wAQrnzkKP6U8mgPkydi+TFpXBV5GjWbslSCflM0FvLFxpWVxCm1dFJKT8jVnJxraSCDzG4NT1Xzb6Mj6UOo2hWp9UndJ9Ks+jYdSTWPBlMqTWkVY2PcBJKS5ZrzDfwlHzfynn6UgvMFJIUCCNwaRasgwRUiMnDDfhW7jp3WcgPMJTqY9SfpQvE7gk/Si7P/ACjY5CT7zS9drk08fhSAJTM8tmitQSNyYqysGsW7ZIAAK+ZpG4Tj7QmadLhRzUGv6S0x/UHYnZ4jCxfUXaWFpgwQetJtu9RmyuDXhlpg2VkHIivxTY+A75T5VajoO1Q7S8J0GlFv7QnAUt9daUbV/T0p+hz0Z1Hp9rPSC0dMbY+1WR/OjzD23qrVJq1uFXMySCZBSf0qurmyUp5SEAk5iAB60rqK8OcTQPMh2lyttQUhRSeoo/b8TmIcbSo9R5T78qJ4XwRoFXCwgfl50aaw6za0CAruTU0+4Ppk+zu7i1/xI3zZKvVX7xNcHeJRrkYT/MpSh8hFOiGLJY8zaU1wuuELV0fdKyH5ijPdcBzme/DxAu8euFjL4hQn8qPIPQlOpHqaFRThi/Aj7QlH3ie2/wAqVnrdSTCgQe9IsxY5lduI38HLP2N4bQ7J92wBPYQfnQHFhBzEdBHRYSA4fnNFeBHxmdZJjxE6f4gFAf8A2PyrXiKxMiB8QBjTc6GNeoPzp2kbqSB3JzFXMev6VlScieeleUt7LfeezCLDY3mT15A+kfSi9hbSrKmZ5xM/9zNTLDCM2pAQgSSSQkQOpJ8o71CxXiltlJas4KtlPRz/APjB/U/XSNe2+ugfnAZz1JmO4wm0b8JuC+QZI18MEc/4oj6Tyqv3FyZOpNeOOEkkkknUk6kk7kmtJrn9RqDY2TCKuJ7TPwxgIXDj2iBsDzofw9hXiqzK0QnUnr2o7il8T5U6JGgA0oml0+/5t1Lgw1eY+lseG3oNp5UEu8XV1BH1NBHLjXXWuQJNPm4LwsubTjEnLu57eldWVhURvUNpok6a+lMWEcNPrM5CByO1QLjnmLPqFX6jOVsf11FTrZRSZ37V3XhTrIJWg85MTQ9y7Ces04lgIl671bkGH8OxIpVv/XSuXGeApfQXmxCwJUBzHWgSb3UGmfBb3MCg6g6ULUVBxkdxjcCMRStNbaOaZFLr6KbHkeE8ts/Co6ULxCyg7UAV76/0i/nED2bhQsKHI1YdhcpeQFDfmKQizFSrG8W0ZSSKHWm04iuq0vujI7j6i3qW0oJ1JgCk8cTuRoBNDcRxh5zQmB2o+0AcCZY9PsY/KSeJ8V8Z3T4U6CoNuIk+1RmkQKIWrCllKANzVqq8cmbNNYrUKI58EW5InkAZPSu6m2LcqUmCokknnU4RaWuVOiiNT3pFvrqZJNTtDsXPU0BXsHPcIYjjIWe1Cri9nahLr+taeKag3AcCCayEhf8AaptjiiknQkUDS6alNjMO9QtuYP3ZYeD48SmFGa74hg1vdjzAIXyIqura8Ug03YTeFSZB1qGqR+RxLiwHiLWM8OvWTgXqUgyFCirykvthwe46K505W9+l1PhvgEHTWlLHsJVZL8RrzMq3HKqVMamw3/2VdfIi67hhk+vrWUXF8wrXNlnlrpWU9vpgd0TcVxx58/erJH5R5UD+UfvQwqrSa8rlHvLQoXE3murDZUoAbmuAph4TtgXMx2TrXqlLsBPHiGn4YaS0nTSVHqaB3Lh671OxR/Momgjq5rasIRdokCeqUPWiODYYu4XlToOZ6UKTVj8OW4aZT1VqaWTLmJ6y81Jx3DWCYMyyBCQpXMnWmVi4A2paauKIsXFXIBnK3M7NkmGiQRBgiq842wUNqC2x5Vcu9OrbtB+Lly0Bzmi0qQ4jXpzOtoA6Mr8N6imDB9xQpDUmmfA7LnWowCrmdYuYExyxW4+MopjseHkLQPEOtbX10hs6RNB148QqklrfHHEaStRy0J3PBqD8JpdxHhZxvYSKasNx8K3pgYu0LEGDVN1lZ55jLUVsPjKh+xRoRXJ22O1WfjfDqFgqbiaTX7YIJCjFaVV1TrM21ChwYBbtjpTTwtYAK8RYhKRPvQV/EWm9vMaI2uIKUwVHSdhQbLUPwXzK1/VmcuJ8aLiyAfKKVH3yakXz+poctdKXOAMCGZyeTN0yogAU14JwoVgKc0HSoPB9iFKzq2FPP2iNqXVdw3GYeu1bA7EnjHDFuBtW6+E2j8Ghr1q7ohb3VVJGeJhtqL1Od0Rcf4fW2SqJHUVAsbko0B0q1XkJcSQdZFVbxHh5ZcI5TpRa7T5mz6frjb8W7hhjEATB3FMVk8H2i05qCI9Krdi8IprwG+0p0qLEm4pzAN7wq8lxQSkkA6HtWValtfykHTaspLLjxPbRPm2srKyubkzdNNvDIhpRpSTTXwuZSRWloMe4IN+pGvBQt2mDELegjzdaeoQzwM4sbj1qzLMy2g9hVYjSnrhXEQpGQnUUtp8bsGZ3qCEqCPEOtURtzUNKKmNU8tQExCmZPZXS/wAQ3WdWUbCpl/iSUJIGpoHbNlRk86Zor53Gamg02PmZ1w+zk0xPPJZbjnFaWrSW0ZjSfj2LFaiJ0qLH3n8hOhqAQbjI+K4iVKOtCw8TzrmQVmBrRrDuGXF6xFAe7mK3apU5YzSxcgUbtLpXI1ovhtxtMxNcwMo70aqxW4lqtUrdGM1hiZ2Jpe42w4keIjbnXjV3RptQcbKTrIql9WPksYJ3CVG5vrTZYE/Z/SgfEFl4TpHejGCuSyRSlT/OA6gG9VrUImiF83qaGK3ql+QZ4x54PWPCMb0UfcNKPCuIZFZTsacXm51FeX5JxOe1aFbTnzOTb9ELd+hgaNd2gaEK2zEnQGMdnc0qf2hgQk86OWiqUuPr0FQSOVEYbRky2hrI1AxFhtyjeF3UAGaXW11NtF9Ka09k6tY+NYgQANa8obb4rCQIGgrKewPtLZlY1lZWVxEmbJo/wvcZXIPOl8VJtXSlQI5U3p32sDKsMiPV6xqaXr63IpmsrlL7Y6xUK/tSNN66baLUzAKcRTXNdbV9SDKdKk3TUHaouU1nNSVaEIBEY7TidwCDrUlXETih0pYQiptqnWnKQfMX/DVg5xD9iSsyrWmrDbXmdhQPBLbMoDlRrH8QSy3lG9NXPjCiOVVjs9QTxTjf4Emk2VLPrWX9zmUTRPhm3zLk7CkHf90QWpu2qTGThrBUpAUsa05WpA2oC2/GgqdbP0u7AcTkdVa9hyYwIhQg0ncU4Zk86dqZGXqi8QHMyr0r1ZKtkSNFqGSwCV629RXDrsgiltTkKPrRWydkitZW3DmdnW2RNeOraQFig/DD+pSedNPFLc289Kr6zuMiwe9ZTfB55obxm0ykml18a08PgPNBQ6UrXlrBpi2v3F3CUBg9pyDIpxwLHhASs0oKZisb30pRAyGAvoW0YMtNtSVagit4A5iq8YxFxA3rHcZcP4jTW/HYmafT2z3HfEcaQ0kwZNV5iN4p1ZUedcX31HUma45jSlr7jHtNpFq58zu3RDDRBmoVs0SddKKYWxKu005pqzkGOZxJ/wBkPWsop/4ao6iYrK0cCV3SsKysrK4aGnoroivayj09yDGnhA+ajt98RrKyuo0P0CLN9UXL/aoyBWVlEb64QdTdXKpTG4rKyiJ3Jjzw8NPagfGB81ZWUKz6jDj6InOU08JfCaysrO/fmdrf2ZjIiptvWVlAfucxbCjFc8a/uVelZWUZIPT/ALQfrKtf+I+tEsN+JNZWVpV9Ttauof4h/wCWPpVXL3rKysy/6jLtHHhn+6NQcUGprKytDTfsoLzAj1at715WUsfrl5uutXNq8rKhvMrOTe9dWhrWVlDr7EtJT1HsCHlrKytKr65Vuo2W58o9KysrKue4Cf/Z"/>
          <p:cNvSpPr>
            <a:spLocks noChangeAspect="1" noChangeArrowheads="1"/>
          </p:cNvSpPr>
          <p:nvPr/>
        </p:nvSpPr>
        <p:spPr bwMode="auto">
          <a:xfrm>
            <a:off x="307975" y="-2689225"/>
            <a:ext cx="7896225" cy="5924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sp>
        <p:nvSpPr>
          <p:cNvPr id="6" name="AutoShape 6" descr="data:image/jpeg;base64,/9j/4AAQSkZJRgABAQAAAQABAAD/2wCEAAkGBxQTEhUUEhQUEhQXFxQVGRYXFBAUFRcWFRQXFhUUFBQYHCggGBolHBUUITEhJSkrLi8uFx8zODMsOigtLisBCgoKDg0OGxAQGzQmICQsLCwsLzQvLDQsLCwsLCwsLCwsLCwsLCwsLCwsLCwsLCwsLCwsLCwsLCwsLCwsLCwsLP/AABEIAMIBAwMBIgACEQEDEQH/xAAcAAACAgMBAQAAAAAAAAAAAAAFBgQHAAIDAQj/xABCEAABAwIEBAQDBgMGBAcAAAABAgMRAAQFEiExBkFRYRMicYEykaEUI0JSscFigvAHM3KS0eEWNKLxFSRDU2Oy0v/EABoBAAIDAQEAAAAAAAAAAAAAAAMEAQIFBgD/xAAzEQACAgEEAQMCAwgCAwEAAAABAgADEQQSITFBBRMiMlEUYXEzQoGRobHR8CPBUuHxFf/aAAwDAQACEQMRAD8AR2WykyNCKNW2L6ece9LtpjyF/wB4Mp6jai9qhDmiFBVd2t1Ng7iNlKv9Qkq8xoZSEbkUuMoOaTTfbYAn8avaiTdjao+ID51RrK1PHMLRpNn0xVxJWW0VPOkFYq1MbtWLjyIVkA+VJuL8KutagZ09RrWNrgXbdiH2kRXUK8ArutuK0y1kFOZMLcO2mZRUdkia6X1xmUa74YMrCiOZrthGEF0yrRA3Na+nrK1jHmVJkCztFuGEJJNMTHCN1GbIaasM8FhI8NInrRi0xwzTApsHIiz2kHgxQwttbZhYKSOooljtiLlk/nSNKZMVvElAUUg9dK1sLVt0SjynpV3YsmWEeqXeuRKrwVBAcQaF3bUGmjFLY214oKEBXy1obi1tB7VatA9eIFxgwxwnchTeTmKOBqq7tXlNqCkGDTE3xIrLqnWrIhxjExdTpHL5XzGG/vQ20onpVepVmVPepOI363TqdOleWFuSdBV1rO6NaTT+0DnsxhauMluO5FCMdR5p61w4hvQkJbSdtT60RsWPtKEx6Gqq6tYwj/YnLhN4pcyxoafW7AbqIFKasrAyo35muf8A4ms8zRF07H8orbokZtxjq9btBBAXqRSbecLuAlSPON+9as3iidzTpgToSmVH51Wys1DdnMa0+lrXriV7i58NgoO5odwyx51K6Cmf+0DD80PI+HmKDcKtyFgamKWPztDGXAwZDxNck0a4QthlUvnXNzh15ckJ070RwKzcYkLToedFdQXiutV2rOJMca1qVaJg1spxA3IFC8TxxDYIQcyq8EA5mAKnc7QIae4jQglB3Fe1WT1wVKKjuTO9ZVfbEaHpaY5gBKqbcMAYaCvxqHypWw5rO4hPVQFG8TcJURyBgDsKQ0RyCx8TdbuSXcacJ+I/OuS8RWrdRPvQsTTvw9w42EhT2pOuXpTfvMeoC/ULSuTAtq+e9MmH4ipMA6jodaZrXCLciPDSKH41w+lpOdvVI37URLlb4tFdP6pXY+3oxc4i4dS6gusiFDUpFIK24MGrOw3EQhUHY0t8c4SGnQ4n4HBI9eYpTVaYKcjqap5GRI/DTPipLY3mfajWKLDSQ2jlQrgk5FrcP4U/rU/Ek5lZtwdZp7RJuT9JT7yXhVxmTE6iibOlKtgwsuAIMGae8PaSICvMeZpln2jmZOrsFRzIWK3cNRzNSeGHzKYNSb/h1DoKkEhXQ7UMwtKmFkOeWOZ7UIOroQI76Xra24U8+YW4ww9NwI08QCQf2pBYuAqWnPKtOmtMVxjOd3NsJ5HpS/x9ZZVodTs4OXUUtzQAwj1pDkkSNc2JSdq5pZPSh1pjrjYjRY6K1rqviZzklA9qMvqFQHIixUwozhx3Og6muV7iyGQUtwpW09KA3eLOufEox0GgqFNKX+oFhhBiSE+875itXUk062rwtGwndShJpW4caCrhE7DX5VPx67zLMelD03Rcwo45hMXyHdZynoaIWOEleoIjrSxw/ZeM6EnYan0FO/i5fKnQCn01b7ZnavVFDtXudhgCkplEKUOVCkX7viZHNNYimXC7o0B4gj7UI5xPrU12u7fKL6LWWvYUeMTlp4tqtMSYoBhSG7PeFLO/ama+vBbWmY/EpMfOqsvr4rUTQRtJLHqbGduCY9XOMKmQdPpXttiBJFJthfuJEKQVJ9DpRazvmiZKsvY6U2jVMuJf3gxjbiuBJeblPlX9DVeXdipKilQMiniwxZuR96D21rjxjcNhoXDSM5EBU6DXQKI9dKCr+3w3IkWomMrExOHK6GsqC5xI+SYUE9glED5isqPxtf8A4xfaYKwJQFw3P5gPnoP1orfNkKM9TS82oggjQjUHuKcVp8dpLyRvIWB+FY3B9R5h2PY1nenEMpTz2JduDmCGNFJJ5EH61ZCNYUDIIBFI2G4W6+sIaSVKG/QJ5qUeQFWTglm1bICHVh5XLklPYDdVObQvGIrqNI94BXxN7Fwiil0QplYOxSf0rdvGGk7Bsf5f2ro/jrK0FBSkhQgmBHpQmR88LEV9GZmBDcj8pUbKzPvRPG/vbDXdtQI9DpTY9wgw8M1urwlj8JOZB/cUB4ksV21q6h1OUrUkJ6K1mUnmIBpl3R6yvn7TeNbIOYr8PJ+5ejeU/Ktre+ynKrVP1FacMnzON81o09UnN+gNeXVuZ9/SiaYHZx2IE8GMuApSVFSSDp70aQ2ZpGwW4LTgVBjYx0NOyV5gCkyDzFFcFjkzF1yMXz4ML2VzlOpoL/aGnMylxJiFQe4O012RpQzjO+/8uG9yog+gHP50q1RDZER09TLerL/GKNk/5hTBxMA5h4VzbWmPRVK9sPNTHjjgRhpB3W4gDvoVT8gai4f8JzOoU8RBVWlE8LwpT0mQhtMZnDsJ5D8yuwplYVaWwGVkPL/MshXvl5fKsxaHfkdS8S0MqOwJ9ATXRdotOqkKHqkinz/itQIgJb7BISI+VTGuJFTEpUOmikqHvR10JPkSeIncJI+/75Fx6xXmJswr1qwsLs7V9xLgCWlg6qRok5pHmTQHjDAXLZyFjyqkpVyI9f2pimsBTW3fYnipxmB+Dngl+DpmSQPWnJVvrVdrQUqkSCNQaZrLiwhMOIzKHMGJ9RV0Xb8TMjWaZ2bckabaEAqOgAk0BwtP2m5U4fgCvoNhQvFscW6Mg8qTyBkn1NGLZ0WzM9BPqoj/AHpgLjJh/TtJsYvZI/HmKFSw0kzG/ryFa4HgqUAOPDMo6hJ2HrQjBUeNdJK9ZUVH2BP7U4XiSTSpWD9Q1DFto8yfZ3qdsojpAoRxthTZa8dpISoRmA2IPOu7DRFe8SPhNosH8UJHvr+gNUCEczJpDJcpX7xBt3Yg96d8NcD7DzJABU25H+LJmSP8wBpERz7fWnHgQyuVRGs+wP8AsPemDzWQftOlBlcTWVoDXlYu+EmiRR/hJxzx0obGYOaLTMDIJJWTsCkSqfUc4oKEU28OW4bs3nj8S1Boaa5EjMQnspRTPL7s1OlVt4xxIbqOZvkNtxahJR+JYBhSxoVHmVbQnYaUEfulKnMrPJkqMlRPQnl6UupxFaCChUc4HwkCBlUDvtPuans420sfegtqjcALbMc4+JPp5vWugqtrX6v5yQ3GJObV00+ZojaLUdQNJAmBurke2+/Q1OsMHbgKcUoTBCQnKrXbMCPL6ETrypgssJttIQZ0g53M3trE1ezV1gccxGz1WmlsHJ/T/f7SJh2ZBkqgJEqJJ0EgAyJ5nT1EV2vsVZuwWnkBbXIKgKSYPnSsapJAOvLTQyQeHEWFuJCnmlF1sJSPByhJRASC6gpgLgJ5jMBrJpYtr1Ijw1gwNCdyAJnTQ7SOWu+1KKtd3yPf9poV69L1+HUB8SYI5YPpUhRKCc7TkROUyUrA0ChpI2I1Gho7h+Equ2w8gBsKMnxVZEjrBI+8TvCh6byAy25QpgBxCChXhqbQtOcNLTmAcAO6AoOZQT8JUCYymknFeIHA6fOsupKwolQCAQchShMZsoiNTqZMCvVb0JwZ5kHZhdXCiR8TwnohpSgPQuKR1FSGMELYlF0Qei2VZD7pUoUDtuKiogOoAI/G2UoOnUdfRQ9KKW2NNQQHyifwrSRPbMJSD/vTG9iOW/oP8T2yluDJl1ZXgAyhl2ebKkrJ9EEhRPbL7UqXjKsxzyFjcLkKE8iDqPSnG3xFBIAfakDQFVvJHTKVJM6bjWi7txbLHhvll1AQCkhTZcSDsAG4IJMajeRNQL9nBAP6d/7/ACnho6gMoQJWdnZSoQkzIE7j2761Lx1v7VcNWbRAQyFl1cyE6ysnqUpAT/iURTBxNYFi3U7Y/eJiVuEBLrSIHmDYA25r3TqYEZkq+FJ8GyLgBzPrUMw3yt6Jb75leIT/AIEk7Cl77RaQi9eYMLg8zzGH0ISG2xlQnMEpPIaQpUbrUDOvXuIAl/ckAk8zP9E17duFRJknUgTHKNSff+pqVw/gqrlRJVkbTGZW511CEDYq+g3PIFe2wg7VH6SLbFQFj1ISXI2PzFTsNWCoJJSmZTKiQnXnPKDBp6w/C7NEJFuhfVTiQ6o9yVfsAO1T7nhW0eT5WwwvktoZIPdsHKoadJ6EUMOymZJ9WrVsEHEUMDuCASREGDqBqn4iCSEnylRInSEnUTFj2tw3dNG3uBygbZgoaBSZPlUJ2OhHrVS3dq5burbcIUpC/MklyFglJCgREhSVTMgwTsanYdeBCpQnw9knzFXlUYTqdsuh13AnlTS/8oH38GbNNwxkcgzMawZTLq2lDzIVE6gKG6SNNJBBHrUBFuRy/rvThxnjEItn1NJd8RK21FRKVpLYQUpzDSfOv4kk6b70LwK9Q/mV9nKG2xmUsvFUdEIBQCSSRudJnoCzXqU/eHPR/WUZeeJxwbBXH3EpQiRIlXlCQknUqJ96a77CraQHlFwifKMyWuyjl8647aanToFvuI8pShGjaTnUEJkKyHQeYypRgDMoqGxAEAHlir0qlB0MFJJ3SQCmCNxEQR22ohDWtg8CM1qqqc9w7aXjTTgytWyACNrdxTkbTISNx111o8bplYBU02tJ2KAUHvmOhBHMfSqwcJMSB6/Uyee9SrV5SQQDoYkQNYMzB05fr6VDaNT1A2hX4IliHDLdYJQtTR6OQU+gUIP0J9arvjZL4dCHG1NoEhHRcbqB2ntuBuBrRazcyhTgS2SULVojKSEFOZKwn4mzpJHwwdABTeFocZ8N5KXEKAzBa834ZAJBOWNIM5gYIpd0ao95EHXoas7l7/pKZDMkD576e9MYfFrZOuTCnEFpobElwlKl9oQlZ9UjroUxjhT7M4CkksHMtK1RCY1PiqywMo1mNemhAQ+JsTDzgCNGmxkROhP5nFD8yjr2ASNYmh6m1Vp+Hbf2k7SDgwIa8rKysLdLywcR/s1fSM1u4i5TEwQbd2Oasjhykdws1qbVbdkhpxC21gOHKoFJkvHQgiR5RI6z8yrOLFqFNhxsHzFGZMZpAkKiQfWZG883Ozu2btstXCFOD4k+IEodTKQCUOoA0mPNEHxIMCtj2DSd3Y/rC+1v4Epe6SZPQToNkzoR9KlcLWwVdNzskKXB6pSSn/qyn2o9xlwqu1OdJLjBMBZGVacxJSHk7AnWFjyqjSNqXLC5LLqXNyk7fmSQUqTPKQTFXbDcjqLaitthXziPyXiCZopY3X9f17ULtXEOoC2zmSfYg/lWPwq7e40qU2Iqxr3czk7kzwYyW933qveLbPLe+G0SkOhChA+BTysiso6Zhmj+LSmkXiUJK1qypSJUo8hy9T2G5pHVjBfvUPRCS4xAMShCXEgTHPQq9TXqkKucfaN+lVuLCfGIyYneALygQmUkARAQM6WwI5RlUOx7Un8YIAfzD/1EJWT3BU0Y9fDn+aj+KsELUnbVQA5gHII022P1pe4xXLqAOTSRy3UtavaUqQfemblCoCJ0zH4zngWBOXGoKW2gYK1AmT0QkaqI05ga70323A9vHmdeJ6jwUj2BSf1qLhmlsxl28MH+bUr982aiFpdEaf7dKRJYCc5qtVcWO04Ej3XAagJt3guNkODIfZxJifVI9aCs3TjRLTiMjicxhUq3AGVQBhJGhCgJ2MxrT9Y3ug5/PlS7/aRbpUll4DzSponmUlClpn0KVf5jU12vkAydB6habBXZznzNMExwtrSZhMolQUqQVEoJiIMEgEETGbrXLjTDktoYU2kJt1oKglOgSVKW46EjYAhUpAOgKhsmaX8MdOp1JhRjmSEEAmd5mPfnTpjigcKBGvh+EpJiPgX9nUewKHtv4ppiwcq/k8fznSL8lP5SrHhEg068NtZbNuNCsuLPrnUgf9KE0qXjOpjUctO0g/IT86aeEroOMBr8bWbTmUFRUFDt5o7QOooBrxZMv1AE18ff/MnNuEH60bw+5/r+v6/eALapCAEJKlEJSkSVHRIA3M1X2PJmDYoaLf8AaQlPjsr5rZyq/lWqD6+Y/wCUUvWwkD+WfZW9e8QYqbl5TmyQAhE7hAJIKu5JUqP4o5V3whuVQQSlWhH4hljWB1PKi6ZeZ0WjQ11KrdgQ9xYyty1tmkJzKU/lSnnJaASOkCdTyMztW2JrQyylhrVtqQIGrrkSt89QVKhM7ARsNZzr5zpgBTrDK1wDmH2i7KUtgpTpHhocX6LpRxe4lZCZgkxqCrIJSkrVyGVIMDmSfWK8b2c/fj/uaCY7kXEH9hM5dCRPmjnJ5CAO8VN4dvVLItyhTgM5CkFSmydyR+TUk9J57UCWcxhMkyEpHM8h6anbvVkYbZItG8idVmPEXzUrpP5RsB77kzT3WLZB6iOr1XtDjszLfhVRPmdbTryGc/sB8zXdfB7kHw3EL7KSUfL4v1FaN3hn/T/aillfaj9N/r8/lRPxtmeD/SYj6/Ug5z/DH+n+sBC3calK1eFBCpUppICk7LClnpIkRIO8VKXjiEgDxvtCjJDTMoSCqVKSVgeEAJJkBcZjAGtZx/ZIdtvHAhxop1jUtrWElJ9FKCh083U1XgcgaHmNPqD7R9aJ+INn1Cbeh1pur3AYPR/WWsi8F80q2djw3AoDKICD/eMqJBP3iSlW8Tp+YiqaxK0U04tpwQtCik7xI5jqDuDzBFOPD15kWnQQsZVicoGygAobZgARAkFIPStP7UWApbFyN3kuNr0CVFy3UEqUsclQtCSP4KS1lYX5L0Y4TnuIdZXpFZWTtno+28TGYnMmMsgxCdQsHcZto336SSwq9LChmlSRJU2lSxOhBKBtOWVSdNOulaY1h7jCkh1p1CgiMzagrSISptWoLR1G2h3g6UITdiIISFA5CJXmIkypem8QIEyQTA2PRpaG4PUrVd5Etdl4OoSlcXDLqSAYyylRgpII8kmZTIhRB3TAqzifAFWzxbOqPibWQQVtyR5hyWkgpUmNCnpFFuHsZUyogEOMyM0EznzAeInNtOg2gjQgTIc+ILZF7Y50araT4wEQsf8AupynXKpIB5glCdTNDC+24z9J4/xHbitqbvIlRWrrjSs7KlI5GCDP8JSdD6EUX/4ouUgAhknumDPoFR9Irk/Yidd/Qgj57+xrl9kA0AHyAPyrQGlEyLKa3OWGZDxHEHnlferKoMhPlCAdpCQAknvFeNp0VMzECOvWe2tShamdASdoIEfLme1TrXDsifFfUENJjVZ+IjWIGqj/AAg1BrWvJJ4llUKMCHrhwLSm4VACkBSjzCyIWiOYzBMHvPOkPEnS44tahBUTI/LGiU+gACfajlnxEi4X9mI8JlWjSlRPizoXjOy9BzghBnQkwMTtFBZSsEKEkEg5omdesdYpZXW5SF8f2hCT0YR4SxVGX7O4QkyS2ToDm1Lc8jmkjrmI6SzfZyDrp/XSqyU3vICuoH70Rs8VuGwEpfUExoNHAkCI0WDlHpQgrdYmbqNEXbch7lj26SO0azMD1JO1JnF2N+O4G21S03PmGy1q0UodUgaA85UdiKFX1666IddU4kbjMgNzyISIH0riy2OpIkTodNNBHM7/ACq4qJM9pdD7bb2OTJ1g3y2159JSVH2TJ7R83JwrVYLa+FThCkJOhUlIS4tI6mEIkcpNLOEWJcOUTKkq7mSmIHqSNeUGo3FmO5rhAYVCLcFKFJ2KjHiLHYwB0IHeiahggUfx/lNQE9CRXkcj5VJ27iSSOmmvzqO1mQoKQYUDIIJBB7EU04Xbm/BUlPhqnzSD4UxqUnoem4770ZtuGLZr+8JdPQKCE/61DNWw45l0pawdRXY4juQPMUqMbltM/SBUC/vnntHVqMGQnRKB0IQAAT33qxm8MsFaFgoPVK1n99K8uuBG3BNu4Qei9R/mSNPkapuqH1ZH6/6ZH/54Q7lUfwlXt2/Ia7TpOnTX2pkw1lFu2q5fiAQpKSdXFyVIbH8wBJAiAeU0Qv8ABPsXnuwANcsefOY0CBsT66daSsfxVdysKV5UpGVCBqEp5681HcnnUW2qi4rPfmU2nOIe4UvFuC8dUfvCphc8gT4wTA5JCigAchAoBeN5TlIjQBXY5ZSmivAFxDrrWn3jYKREkraWFhIHPy5zHao2KWw+H4VQgEa65RCF5jvoVSf2OgqFLVkDwZfMF4S8EXDKl6JS62pR5ABYJJ9BrVl3jJ1B/oiqtWneRzp24c4kQtCWrhQStICUuKPlWBsFKPwqjmdD67irG0kN5mV6hUzYdfHcnhk1Ltk61KNr2Ouxjl61pcKQ0Mzq0tjqogE9gN1HsAaN7SjmZGd3Akfiu5y2LokSstoHc+IlR/6ULqtpiZ35fuflRniXGvtK0pbkNNzlGxUTutQ9BAHIT1IoZaW/nEwDpvyG8npprr0qqoWbibegoNVeD2TmGcKYnyq8okrVp5gG0LUVAHQgEAfzfKVxs9ntGFK0Wq4uVEaaEpbUoddMyde+tccPQqCpGpMp2M+GSEpUroCSNN4Sfc3iuCN/dC4Ufs7LWiB/ePOrMuHymcpyoEgwSDqACQbVrlAo8zQXkysTFZVnr4k8M5EqWyE6Bts2yUJjkAfqeZJIrKR/BN9xDbPzjjxTY+NbLKZztAvNkRKVI8xAHRQBHrlPIVUL7yyor1KjJzD4p3zCPf8AoVc11dJQha1GEpSpR9Akk/SqPb2HtPflRageROc9GdihB8GEbJRIyzqYAPKZB80bjSn3hG7UcjMkFCFQRIMKASpM9gSR86r6w0835SYHI/8AanPhceGoSZzJnuCREU+65qOftOgDcRKHE7yfKvI7BglSYUY6lJBPvWHioc2Ed4UsT7UDvlytZ/iV+pqGpVZLax06MpsBjI5xasf3bTSD+YhSyPTMY+lBb7EHHlZnVqWeUnQDokbJHYVDmspWzUu/1HMkIBOmam3CsdbfSlq7UEqTCUPmdvyunl1z+uaZJKgBWwFTTeyNuE8VzHa9wEpglMpImfMQR+ZDiUwrl9BpUNFmAYg8pKiQOe6Y1+VB8Oxm4Y0adWgb5ZlE9cipTPeKKt8aXIEEMq7lvLJ6kIIE94rXr9QTtk/t/wBwZUyWLCdExPQD66gCNan2mD+UqWQhCdVKU4Mg6CD5U7bmAdNeoFzjK5ghJQ2DvlQFT6+JmoRfYm68ZdcW5GwUokD/AAp2T7V6z1MfuL/P/wBTwQxixniMBKmbUnKRlU5sVDmlHPLGhJiddADXPhzAA4nxnvK0NhsVn/8ANBcGsS+6lsaA6qPRI+I/11FNmL4llASnypSISkbADQR7CgVE2sXeFRQJJvMYyoCUwhI0AGggcoqKzxKoHUJUO8mlm4uis6mt7VpTisqAVHtRjqB0olmu28iN6OJ41CPkaIW/FzqoSmEd+foaC2nCdyRsB6msfwR5kytBy9RVhajHmBHqKk7Q8ebLGPET4b6Q6hQghYzD60pcY8FJQkv2klvdbe6kd0n8SfqO9SGLlJbGsKozguKKBCVHMk6axUW6cEbkhwwaVNZXSmXEuJ+JJmOR5FJ7ESD604Yq0l5CXESoKGZCp1AA8ydeYIgidNeUUN47wUMP5kCG3PMnseaaHYHjRZOVUqbJzRoSlX5kg6chI5wKBp7RW3PRgmBnr1mVaj4uaYjTqP8ASoptjOxI20/3pnXZoeTnaUFJ7EyJ1jtz3qAuyI0I/wBf9a1PZSz5LB5gtt5xKQkLU2mNgVIB9knWvXGlaFSiZHONfedaKm3Ow00jbX61p9hnkPYRVvwgErgQcps9Up0G2UH1HOp9naECJIK/KBBJJJE7DYDeeuu9SrPD1kgJmdAPg9gCrSptw6xa6vKDrmv3SVZlHXZajogTPzPaquEq5Yyc/aGuGsLQohSiQ1OhUdVlCcxMDQkISogbJzbqodxLihKzqBBSITM5mwDAVvlBWlI/w+594VxNx77Tcr08NKGmxr4bQcKnFGOerbZJ3P0oFitwAvKkEJCikanNpqMx3KtRNKpaXJc/oIzUMDJg59tWY6J9yJr2oDr6ySQD9a8pU2rnz/v8JckR84z4iCwbdpUiR4i07HKZDYPPUST1AHWlEEkaaAc+epj965aaAfXSp1pbA6HUkjQch68v9qcqqJmdp6FpXask2DMkAdyZ7U0Lf8Fpxw6ZWzE/mIgCoWE2pJTpBJzAdByHqf0FBuM8XGtug6BUrPU8k+1X1VgSvEYzmKDiq5GtzWAVzT8mEE1Ca3CaO4Dww7cEEDKj8x2p0teHrW2+IeKobk7CjVaZn6EKtZaVzbYc4v4EKV6A0Vt+ErpWzRHqQP1p2uOJEJ8rKQk+gAqL/wAQrnzkKP6U8mgPkydi+TFpXBV5GjWbslSCflM0FvLFxpWVxCm1dFJKT8jVnJxraSCDzG4NT1Xzb6Mj6UOo2hWp9UndJ9Ks+jYdSTWPBlMqTWkVY2PcBJKS5ZrzDfwlHzfynn6UgvMFJIUCCNwaRasgwRUiMnDDfhW7jp3WcgPMJTqY9SfpQvE7gk/Si7P/ACjY5CT7zS9drk08fhSAJTM8tmitQSNyYqysGsW7ZIAAK+ZpG4Tj7QmadLhRzUGv6S0x/UHYnZ4jCxfUXaWFpgwQetJtu9RmyuDXhlpg2VkHIivxTY+A75T5VajoO1Q7S8J0GlFv7QnAUt9daUbV/T0p+hz0Z1Hp9rPSC0dMbY+1WR/OjzD23qrVJq1uFXMySCZBSf0qurmyUp5SEAk5iAB60rqK8OcTQPMh2lyttQUhRSeoo/b8TmIcbSo9R5T78qJ4XwRoFXCwgfl50aaw6za0CAruTU0+4Ppk+zu7i1/xI3zZKvVX7xNcHeJRrkYT/MpSh8hFOiGLJY8zaU1wuuELV0fdKyH5ijPdcBzme/DxAu8euFjL4hQn8qPIPQlOpHqaFRThi/Aj7QlH3ie2/wAqVnrdSTCgQe9IsxY5lduI38HLP2N4bQ7J92wBPYQfnQHFhBzEdBHRYSA4fnNFeBHxmdZJjxE6f4gFAf8A2PyrXiKxMiB8QBjTc6GNeoPzp2kbqSB3JzFXMev6VlScieeleUt7LfeezCLDY3mT15A+kfSi9hbSrKmZ5xM/9zNTLDCM2pAQgSSSQkQOpJ8o71CxXiltlJas4KtlPRz/APjB/U/XSNe2+ugfnAZz1JmO4wm0b8JuC+QZI18MEc/4oj6Tyqv3FyZOpNeOOEkkkknUk6kk7kmtJrn9RqDY2TCKuJ7TPwxgIXDj2iBsDzofw9hXiqzK0QnUnr2o7il8T5U6JGgA0oml0+/5t1Lgw1eY+lseG3oNp5UEu8XV1BH1NBHLjXXWuQJNPm4LwsubTjEnLu57eldWVhURvUNpok6a+lMWEcNPrM5CByO1QLjnmLPqFX6jOVsf11FTrZRSZ37V3XhTrIJWg85MTQ9y7Ces04lgIl671bkGH8OxIpVv/XSuXGeApfQXmxCwJUBzHWgSb3UGmfBb3MCg6g6ULUVBxkdxjcCMRStNbaOaZFLr6KbHkeE8ts/Co6ULxCyg7UAV76/0i/nED2bhQsKHI1YdhcpeQFDfmKQizFSrG8W0ZSSKHWm04iuq0vujI7j6i3qW0oJ1JgCk8cTuRoBNDcRxh5zQmB2o+0AcCZY9PsY/KSeJ8V8Z3T4U6CoNuIk+1RmkQKIWrCllKANzVqq8cmbNNYrUKI58EW5InkAZPSu6m2LcqUmCokknnU4RaWuVOiiNT3pFvrqZJNTtDsXPU0BXsHPcIYjjIWe1Cri9nahLr+taeKag3AcCCayEhf8AaptjiiknQkUDS6alNjMO9QtuYP3ZYeD48SmFGa74hg1vdjzAIXyIqura8Ug03YTeFSZB1qGqR+RxLiwHiLWM8OvWTgXqUgyFCirykvthwe46K505W9+l1PhvgEHTWlLHsJVZL8RrzMq3HKqVMamw3/2VdfIi67hhk+vrWUXF8wrXNlnlrpWU9vpgd0TcVxx58/erJH5R5UD+UfvQwqrSa8rlHvLQoXE3murDZUoAbmuAph4TtgXMx2TrXqlLsBPHiGn4YaS0nTSVHqaB3Lh671OxR/Momgjq5rasIRdokCeqUPWiODYYu4XlToOZ6UKTVj8OW4aZT1VqaWTLmJ6y81Jx3DWCYMyyBCQpXMnWmVi4A2paauKIsXFXIBnK3M7NkmGiQRBgiq842wUNqC2x5Vcu9OrbtB+Lly0Bzmi0qQ4jXpzOtoA6Mr8N6imDB9xQpDUmmfA7LnWowCrmdYuYExyxW4+MopjseHkLQPEOtbX10hs6RNB148QqklrfHHEaStRy0J3PBqD8JpdxHhZxvYSKasNx8K3pgYu0LEGDVN1lZ55jLUVsPjKh+xRoRXJ22O1WfjfDqFgqbiaTX7YIJCjFaVV1TrM21ChwYBbtjpTTwtYAK8RYhKRPvQV/EWm9vMaI2uIKUwVHSdhQbLUPwXzK1/VmcuJ8aLiyAfKKVH3yakXz+poctdKXOAMCGZyeTN0yogAU14JwoVgKc0HSoPB9iFKzq2FPP2iNqXVdw3GYeu1bA7EnjHDFuBtW6+E2j8Ghr1q7ohb3VVJGeJhtqL1Od0Rcf4fW2SqJHUVAsbko0B0q1XkJcSQdZFVbxHh5ZcI5TpRa7T5mz6frjb8W7hhjEATB3FMVk8H2i05qCI9Krdi8IprwG+0p0qLEm4pzAN7wq8lxQSkkA6HtWValtfykHTaspLLjxPbRPm2srKyubkzdNNvDIhpRpSTTXwuZSRWloMe4IN+pGvBQt2mDELegjzdaeoQzwM4sbj1qzLMy2g9hVYjSnrhXEQpGQnUUtp8bsGZ3qCEqCPEOtURtzUNKKmNU8tQExCmZPZXS/wAQ3WdWUbCpl/iSUJIGpoHbNlRk86Zor53Gamg02PmZ1w+zk0xPPJZbjnFaWrSW0ZjSfj2LFaiJ0qLH3n8hOhqAQbjI+K4iVKOtCw8TzrmQVmBrRrDuGXF6xFAe7mK3apU5YzSxcgUbtLpXI1ovhtxtMxNcwMo70aqxW4lqtUrdGM1hiZ2Jpe42w4keIjbnXjV3RptQcbKTrIql9WPksYJ3CVG5vrTZYE/Z/SgfEFl4TpHejGCuSyRSlT/OA6gG9VrUImiF83qaGK3ql+QZ4x54PWPCMb0UfcNKPCuIZFZTsacXm51FeX5JxOe1aFbTnzOTb9ELd+hgaNd2gaEK2zEnQGMdnc0qf2hgQk86OWiqUuPr0FQSOVEYbRky2hrI1AxFhtyjeF3UAGaXW11NtF9Ka09k6tY+NYgQANa8obb4rCQIGgrKewPtLZlY1lZWVxEmbJo/wvcZXIPOl8VJtXSlQI5U3p32sDKsMiPV6xqaXr63IpmsrlL7Y6xUK/tSNN66baLUzAKcRTXNdbV9SDKdKk3TUHaouU1nNSVaEIBEY7TidwCDrUlXETih0pYQiptqnWnKQfMX/DVg5xD9iSsyrWmrDbXmdhQPBLbMoDlRrH8QSy3lG9NXPjCiOVVjs9QTxTjf4Emk2VLPrWX9zmUTRPhm3zLk7CkHf90QWpu2qTGThrBUpAUsa05WpA2oC2/GgqdbP0u7AcTkdVa9hyYwIhQg0ncU4Zk86dqZGXqi8QHMyr0r1ZKtkSNFqGSwCV629RXDrsgiltTkKPrRWydkitZW3DmdnW2RNeOraQFig/DD+pSedNPFLc289Kr6zuMiwe9ZTfB55obxm0ykml18a08PgPNBQ6UrXlrBpi2v3F3CUBg9pyDIpxwLHhASs0oKZisb30pRAyGAvoW0YMtNtSVagit4A5iq8YxFxA3rHcZcP4jTW/HYmafT2z3HfEcaQ0kwZNV5iN4p1ZUedcX31HUma45jSlr7jHtNpFq58zu3RDDRBmoVs0SddKKYWxKu005pqzkGOZxJ/wBkPWsop/4ao6iYrK0cCV3SsKysrK4aGnoroivayj09yDGnhA+ajt98RrKyuo0P0CLN9UXL/aoyBWVlEb64QdTdXKpTG4rKyiJ3Jjzw8NPagfGB81ZWUKz6jDj6InOU08JfCaysrO/fmdrf2ZjIiptvWVlAfucxbCjFc8a/uVelZWUZIPT/ALQfrKtf+I+tEsN+JNZWVpV9Ttauof4h/wCWPpVXL3rKysy/6jLtHHhn+6NQcUGprKytDTfsoLzAj1at715WUsfrl5uutXNq8rKhvMrOTe9dWhrWVlDr7EtJT1HsCHlrKytKr65Vuo2W58o9KysrKue4Cf/Z"/>
          <p:cNvSpPr>
            <a:spLocks noChangeAspect="1" noChangeArrowheads="1"/>
          </p:cNvSpPr>
          <p:nvPr/>
        </p:nvSpPr>
        <p:spPr bwMode="auto">
          <a:xfrm>
            <a:off x="460375" y="-2536825"/>
            <a:ext cx="7896225" cy="5924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pic>
        <p:nvPicPr>
          <p:cNvPr id="1032" name="Picture 8" descr="http://www.manifestdaily.com/wp-content/uploads/2014/04/cells2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3424" y="3387725"/>
            <a:ext cx="4197151" cy="31491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87590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9628" y="620688"/>
            <a:ext cx="7688836" cy="864096"/>
          </a:xfrm>
        </p:spPr>
        <p:txBody>
          <a:bodyPr>
            <a:normAutofit fontScale="90000"/>
          </a:bodyPr>
          <a:lstStyle/>
          <a:p>
            <a:r>
              <a:rPr lang="en-AU" dirty="0"/>
              <a:t>Year 11 Biology Work Schedule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28650" y="1700808"/>
            <a:ext cx="7886700" cy="32635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altLang="en-US" sz="2000" dirty="0"/>
              <a:t>It is important to remain on schedule during this Semester.</a:t>
            </a:r>
          </a:p>
          <a:p>
            <a:pPr marL="0" indent="0">
              <a:buNone/>
            </a:pPr>
            <a:r>
              <a:rPr lang="en-AU" altLang="en-US" sz="2000" dirty="0"/>
              <a:t>Moodle</a:t>
            </a:r>
          </a:p>
          <a:p>
            <a:r>
              <a:rPr lang="en-AU" altLang="en-US" sz="2000" dirty="0"/>
              <a:t>Have you visited Moodle this week?        Yes  /  No</a:t>
            </a:r>
          </a:p>
          <a:p>
            <a:pPr marL="0" indent="0">
              <a:buNone/>
            </a:pPr>
            <a:r>
              <a:rPr lang="en-AU" altLang="en-US" sz="2000" dirty="0"/>
              <a:t>Tasks</a:t>
            </a:r>
          </a:p>
          <a:p>
            <a:r>
              <a:rPr lang="en-AU" altLang="en-US" sz="2000" dirty="0"/>
              <a:t>Are you on schedule?		    	        Yes  /  No</a:t>
            </a:r>
          </a:p>
          <a:p>
            <a:r>
              <a:rPr lang="en-AU" altLang="en-US" sz="2000" dirty="0"/>
              <a:t>When is your next task due?</a:t>
            </a:r>
          </a:p>
          <a:p>
            <a:endParaRPr lang="en-AU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4077072"/>
            <a:ext cx="8345122" cy="2327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17833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Content Placeholder 9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10424801"/>
              </p:ext>
            </p:extLst>
          </p:nvPr>
        </p:nvGraphicFramePr>
        <p:xfrm>
          <a:off x="1734310" y="1974816"/>
          <a:ext cx="6091126" cy="211066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71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8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71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85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142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1423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91501">
                <a:tc>
                  <a:txBody>
                    <a:bodyPr/>
                    <a:lstStyle/>
                    <a:p>
                      <a:pPr lvl="1" algn="r"/>
                      <a:endParaRPr lang="en-AU" sz="1400" dirty="0"/>
                    </a:p>
                  </a:txBody>
                  <a:tcPr marL="68580" marR="68580" marT="34290" marB="34290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en-AU" sz="1400" dirty="0"/>
                        <a:t>Lens combinations</a:t>
                      </a:r>
                    </a:p>
                  </a:txBody>
                  <a:tcPr marL="68580" marR="68580" marT="34290" marB="3429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400" dirty="0"/>
                        <a:t>Total</a:t>
                      </a:r>
                      <a:r>
                        <a:rPr lang="en-AU" sz="1400" baseline="0" dirty="0"/>
                        <a:t> magnification</a:t>
                      </a:r>
                      <a:endParaRPr lang="en-AU" sz="1400" dirty="0"/>
                    </a:p>
                  </a:txBody>
                  <a:tcPr marL="68580" marR="68580" marT="34290" marB="3429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400" dirty="0"/>
                        <a:t>Field</a:t>
                      </a:r>
                      <a:r>
                        <a:rPr lang="en-AU" sz="1400" baseline="0" dirty="0"/>
                        <a:t> diameter mm</a:t>
                      </a:r>
                      <a:endParaRPr lang="en-AU" sz="1400" dirty="0"/>
                    </a:p>
                  </a:txBody>
                  <a:tcPr marL="68580" marR="68580" marT="34290" marB="3429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400" dirty="0"/>
                        <a:t>Field diameter um</a:t>
                      </a:r>
                    </a:p>
                  </a:txBody>
                  <a:tcPr marL="68580" marR="68580" marT="34290" marB="3429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9584">
                <a:tc>
                  <a:txBody>
                    <a:bodyPr/>
                    <a:lstStyle/>
                    <a:p>
                      <a:r>
                        <a:rPr lang="en-AU" sz="1400" dirty="0"/>
                        <a:t>LP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AU" sz="1400" dirty="0"/>
                        <a:t>X5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AU" sz="1400" dirty="0"/>
                        <a:t>X4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A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AU" sz="1400" dirty="0"/>
                        <a:t>1.8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AU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9584">
                <a:tc>
                  <a:txBody>
                    <a:bodyPr/>
                    <a:lstStyle/>
                    <a:p>
                      <a:r>
                        <a:rPr lang="en-AU" sz="1400" dirty="0"/>
                        <a:t>HP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AU" sz="1400" dirty="0"/>
                        <a:t>X5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AU" sz="1400" dirty="0"/>
                        <a:t>X40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A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A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AU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2215342" y="5357553"/>
            <a:ext cx="3771900" cy="553998"/>
          </a:xfrm>
          <a:prstGeom prst="rect">
            <a:avLst/>
          </a:prstGeom>
          <a:solidFill>
            <a:srgbClr val="00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AU" altLang="en-US" sz="1200" dirty="0">
                <a:solidFill>
                  <a:srgbClr val="0000FF"/>
                </a:solidFill>
              </a:rPr>
              <a:t>DFOVHP       =      DFOVLP   x         MLP</a:t>
            </a:r>
          </a:p>
          <a:p>
            <a:pPr>
              <a:spcBef>
                <a:spcPct val="50000"/>
              </a:spcBef>
            </a:pPr>
            <a:r>
              <a:rPr lang="en-AU" altLang="en-US" sz="1200" dirty="0">
                <a:solidFill>
                  <a:srgbClr val="0000FF"/>
                </a:solidFill>
              </a:rPr>
              <a:t>                                                            MHP</a:t>
            </a:r>
          </a:p>
        </p:txBody>
      </p:sp>
      <p:sp>
        <p:nvSpPr>
          <p:cNvPr id="15" name="Line 6"/>
          <p:cNvSpPr>
            <a:spLocks noChangeShapeType="1"/>
          </p:cNvSpPr>
          <p:nvPr/>
        </p:nvSpPr>
        <p:spPr bwMode="auto">
          <a:xfrm flipV="1">
            <a:off x="4521086" y="5619343"/>
            <a:ext cx="517576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 sz="1350">
              <a:solidFill>
                <a:prstClr val="black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7624" y="325008"/>
            <a:ext cx="6447501" cy="990600"/>
          </a:xfrm>
        </p:spPr>
        <p:txBody>
          <a:bodyPr/>
          <a:lstStyle/>
          <a:p>
            <a:r>
              <a:rPr lang="en-AU" dirty="0"/>
              <a:t>Review</a:t>
            </a: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2215342" y="4744693"/>
            <a:ext cx="3771900" cy="553998"/>
          </a:xfrm>
          <a:prstGeom prst="rect">
            <a:avLst/>
          </a:prstGeom>
          <a:solidFill>
            <a:srgbClr val="00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AU" altLang="en-US" sz="1200" dirty="0">
                <a:solidFill>
                  <a:srgbClr val="0000FF"/>
                </a:solidFill>
              </a:rPr>
              <a:t>DFOVHP       =      DFOVLP   ÷         MHP</a:t>
            </a:r>
          </a:p>
          <a:p>
            <a:pPr>
              <a:spcBef>
                <a:spcPct val="50000"/>
              </a:spcBef>
            </a:pPr>
            <a:r>
              <a:rPr lang="en-AU" altLang="en-US" sz="1200" dirty="0">
                <a:solidFill>
                  <a:srgbClr val="0000FF"/>
                </a:solidFill>
              </a:rPr>
              <a:t>                                                             MLP</a:t>
            </a:r>
          </a:p>
        </p:txBody>
      </p:sp>
      <p:sp>
        <p:nvSpPr>
          <p:cNvPr id="7" name="Line 6"/>
          <p:cNvSpPr>
            <a:spLocks noChangeShapeType="1"/>
          </p:cNvSpPr>
          <p:nvPr/>
        </p:nvSpPr>
        <p:spPr bwMode="auto">
          <a:xfrm flipV="1">
            <a:off x="4521085" y="5010150"/>
            <a:ext cx="517576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 sz="1350">
              <a:solidFill>
                <a:prstClr val="black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58D2F4-B349-43B7-A4EF-7EAC29E8A8EF}"/>
              </a:ext>
            </a:extLst>
          </p:cNvPr>
          <p:cNvSpPr txBox="1"/>
          <p:nvPr/>
        </p:nvSpPr>
        <p:spPr>
          <a:xfrm>
            <a:off x="1159226" y="1420818"/>
            <a:ext cx="5688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latin typeface="+mj-lt"/>
              </a:rPr>
              <a:t>Complete the table:</a:t>
            </a:r>
          </a:p>
        </p:txBody>
      </p:sp>
    </p:spTree>
    <p:extLst>
      <p:ext uri="{BB962C8B-B14F-4D97-AF65-F5344CB8AC3E}">
        <p14:creationId xmlns:p14="http://schemas.microsoft.com/office/powerpoint/2010/main" val="29889596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708688"/>
          </a:xfrm>
        </p:spPr>
        <p:txBody>
          <a:bodyPr>
            <a:normAutofit/>
          </a:bodyPr>
          <a:lstStyle/>
          <a:p>
            <a:r>
              <a:rPr lang="en-AU" sz="4000" dirty="0"/>
              <a:t>Learning Intentions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4360" y="1412775"/>
            <a:ext cx="8435280" cy="2407641"/>
          </a:xfrm>
        </p:spPr>
        <p:txBody>
          <a:bodyPr>
            <a:normAutofit fontScale="92500" lnSpcReduction="20000"/>
          </a:bodyPr>
          <a:lstStyle/>
          <a:p>
            <a:pPr lvl="0"/>
            <a:r>
              <a:rPr lang="en-AU" sz="2200" dirty="0">
                <a:latin typeface="Calibri" panose="020F0502020204030204" pitchFamily="34" charset="0"/>
                <a:cs typeface="Calibri" panose="020F0502020204030204" pitchFamily="34" charset="0"/>
              </a:rPr>
              <a:t>cells require energy inputs, including light energy or chemical energy in complex molecules, and matter, including gases, simple nutrients and ions, and removal of wastes, to survive.</a:t>
            </a:r>
          </a:p>
          <a:p>
            <a:pPr lvl="0"/>
            <a:r>
              <a:rPr lang="en-AU" sz="2200" dirty="0">
                <a:latin typeface="Calibri" panose="020F0502020204030204" pitchFamily="34" charset="0"/>
                <a:cs typeface="Calibri" panose="020F0502020204030204" pitchFamily="34" charset="0"/>
              </a:rPr>
              <a:t>prokaryotic and eukaryotic cells have many features in common, which is a reflection of their common evolutionary past.</a:t>
            </a:r>
          </a:p>
          <a:p>
            <a:pPr lvl="0"/>
            <a:r>
              <a:rPr lang="en-AU" sz="2200" dirty="0">
                <a:latin typeface="Calibri" panose="020F0502020204030204" pitchFamily="34" charset="0"/>
                <a:cs typeface="Calibri" panose="020F0502020204030204" pitchFamily="34" charset="0"/>
              </a:rPr>
              <a:t>metabolism describes the sum total of the physical and chemical processes by which cell components transform matter and energy needed to sustain life.</a:t>
            </a:r>
          </a:p>
          <a:p>
            <a:pPr marL="0" indent="0">
              <a:buNone/>
            </a:pPr>
            <a:endParaRPr lang="en-AU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434460" y="3820417"/>
            <a:ext cx="8229600" cy="593405"/>
          </a:xfrm>
          <a:prstGeom prst="rect">
            <a:avLst/>
          </a:prstGeom>
        </p:spPr>
        <p:txBody>
          <a:bodyPr vert="horz" lIns="0" rIns="0" bIns="0" anchor="b">
            <a:normAutofit fontScale="92500" lnSpcReduction="20000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5000" b="0" kern="12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AU" sz="4300" dirty="0"/>
              <a:t>Success</a:t>
            </a:r>
            <a:r>
              <a:rPr lang="en-AU" sz="4000" dirty="0"/>
              <a:t> </a:t>
            </a:r>
            <a:r>
              <a:rPr lang="en-AU" sz="4300" dirty="0"/>
              <a:t>Criteria</a:t>
            </a:r>
            <a:endParaRPr lang="en-AU" sz="4000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354360" y="4413822"/>
            <a:ext cx="8435280" cy="1872208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2000" dirty="0">
                <a:latin typeface="+mj-lt"/>
              </a:rPr>
              <a:t>Students will be able to:</a:t>
            </a:r>
          </a:p>
          <a:p>
            <a:r>
              <a:rPr lang="en-AU" sz="2000" dirty="0">
                <a:latin typeface="+mj-lt"/>
              </a:rPr>
              <a:t>compare and contrast prokaryotic and eukaryotic cells.</a:t>
            </a:r>
          </a:p>
          <a:p>
            <a:r>
              <a:rPr lang="en-AU" sz="2000" dirty="0">
                <a:latin typeface="+mj-lt"/>
              </a:rPr>
              <a:t>state the principles of cell theory and characteristics of life.</a:t>
            </a:r>
          </a:p>
          <a:p>
            <a:r>
              <a:rPr lang="en-AU" sz="2000" dirty="0">
                <a:latin typeface="+mj-lt"/>
              </a:rPr>
              <a:t>define metabolism and distinguish between anabolic and catabolic metabolic reactions.  </a:t>
            </a:r>
          </a:p>
        </p:txBody>
      </p:sp>
    </p:spTree>
    <p:extLst>
      <p:ext uri="{BB962C8B-B14F-4D97-AF65-F5344CB8AC3E}">
        <p14:creationId xmlns:p14="http://schemas.microsoft.com/office/powerpoint/2010/main" val="41444143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1"/>
          <p:cNvSpPr>
            <a:spLocks noGrp="1" noChangeArrowheads="1"/>
          </p:cNvSpPr>
          <p:nvPr>
            <p:ph type="title"/>
          </p:nvPr>
        </p:nvSpPr>
        <p:spPr>
          <a:xfrm>
            <a:off x="947869" y="188640"/>
            <a:ext cx="8229600" cy="867481"/>
          </a:xfrm>
        </p:spPr>
        <p:txBody>
          <a:bodyPr>
            <a:normAutofit/>
          </a:bodyPr>
          <a:lstStyle/>
          <a:p>
            <a:r>
              <a:rPr lang="en-US" sz="4400" dirty="0"/>
              <a:t>The</a:t>
            </a:r>
            <a:r>
              <a:rPr lang="en-US" dirty="0"/>
              <a:t> </a:t>
            </a:r>
            <a:r>
              <a:rPr lang="en-US" sz="4400" dirty="0"/>
              <a:t>Cell</a:t>
            </a:r>
            <a:r>
              <a:rPr lang="en-US" dirty="0"/>
              <a:t> </a:t>
            </a:r>
            <a:r>
              <a:rPr lang="en-US" sz="4400" dirty="0"/>
              <a:t>Theory</a:t>
            </a:r>
            <a:endParaRPr lang="en-US" dirty="0"/>
          </a:p>
        </p:txBody>
      </p:sp>
      <p:sp>
        <p:nvSpPr>
          <p:cNvPr id="1945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1268760"/>
            <a:ext cx="4474840" cy="5228704"/>
          </a:xfrm>
        </p:spPr>
        <p:txBody>
          <a:bodyPr>
            <a:normAutofit/>
          </a:bodyPr>
          <a:lstStyle/>
          <a:p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The idea that all </a:t>
            </a:r>
            <a:r>
              <a:rPr lang="en-US" sz="2100" b="1" dirty="0">
                <a:latin typeface="Calibri" panose="020F0502020204030204" pitchFamily="34" charset="0"/>
                <a:cs typeface="Calibri" panose="020F0502020204030204" pitchFamily="34" charset="0"/>
              </a:rPr>
              <a:t>living things are composed of cells</a:t>
            </a: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 developed over many years and is strongly linked to the invention and refinement of the microscope.</a:t>
            </a:r>
          </a:p>
          <a:p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Early microscopes in the 1600s</a:t>
            </a:r>
            <a:b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opened up a new field of biology: the study of cell biology and microorganisms.</a:t>
            </a:r>
          </a:p>
          <a:p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Some of the first organisms to be studied were the single celled planktonic organisms of pond water.</a:t>
            </a:r>
          </a:p>
          <a:p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The cell theory that arose from the early studies of cells and tissues is a fundamental idea of biology. </a:t>
            </a:r>
          </a:p>
        </p:txBody>
      </p:sp>
      <p:pic>
        <p:nvPicPr>
          <p:cNvPr id="1945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7414" y="3193480"/>
            <a:ext cx="2268141" cy="3303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190500" dist="190499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</p:pic>
      <p:pic>
        <p:nvPicPr>
          <p:cNvPr id="1946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7399" y="366117"/>
            <a:ext cx="2983632" cy="20806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190500" dist="190499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</p:pic>
      <p:pic>
        <p:nvPicPr>
          <p:cNvPr id="19461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-17859"/>
            <a:ext cx="2160984" cy="4429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190500" dist="190499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</p:pic>
      <p:sp>
        <p:nvSpPr>
          <p:cNvPr id="19462" name="Rectangle 6"/>
          <p:cNvSpPr>
            <a:spLocks/>
          </p:cNvSpPr>
          <p:nvPr/>
        </p:nvSpPr>
        <p:spPr bwMode="auto">
          <a:xfrm>
            <a:off x="6197203" y="5911453"/>
            <a:ext cx="2000250" cy="4732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 marL="80364">
              <a:tabLst>
                <a:tab pos="366104" algn="l"/>
              </a:tabLst>
            </a:pPr>
            <a:r>
              <a:rPr lang="en-US" sz="1400">
                <a:solidFill>
                  <a:srgbClr val="2D00FA"/>
                </a:solidFill>
                <a:latin typeface="Arial" charset="0"/>
                <a:cs typeface="Arial" charset="0"/>
                <a:sym typeface="Arial" charset="0"/>
              </a:rPr>
              <a:t>Early English microscope, circa1680</a:t>
            </a:r>
          </a:p>
        </p:txBody>
      </p:sp>
      <p:sp>
        <p:nvSpPr>
          <p:cNvPr id="19463" name="Rectangle 7"/>
          <p:cNvSpPr>
            <a:spLocks/>
          </p:cNvSpPr>
          <p:nvPr/>
        </p:nvSpPr>
        <p:spPr bwMode="auto">
          <a:xfrm>
            <a:off x="7527727" y="4393406"/>
            <a:ext cx="1446609" cy="607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 marL="80364" algn="ctr">
              <a:tabLst>
                <a:tab pos="366104" algn="l"/>
              </a:tabLst>
            </a:pPr>
            <a:r>
              <a:rPr lang="en-US" sz="1400" b="1" dirty="0">
                <a:solidFill>
                  <a:srgbClr val="2D00FA"/>
                </a:solidFill>
                <a:latin typeface="Arial" charset="0"/>
                <a:cs typeface="Arial" charset="0"/>
                <a:sym typeface="Arial" charset="0"/>
              </a:rPr>
              <a:t>Culpepper-type </a:t>
            </a:r>
            <a:r>
              <a:rPr lang="en-US" sz="1400" dirty="0">
                <a:solidFill>
                  <a:srgbClr val="2D00FA"/>
                </a:solidFill>
                <a:latin typeface="Arial" charset="0"/>
                <a:cs typeface="Arial" charset="0"/>
                <a:sym typeface="Arial" charset="0"/>
              </a:rPr>
              <a:t>microscope, circa 1800</a:t>
            </a:r>
          </a:p>
        </p:txBody>
      </p:sp>
      <p:sp>
        <p:nvSpPr>
          <p:cNvPr id="19464" name="Rectangle 8"/>
          <p:cNvSpPr>
            <a:spLocks/>
          </p:cNvSpPr>
          <p:nvPr/>
        </p:nvSpPr>
        <p:spPr bwMode="auto">
          <a:xfrm>
            <a:off x="5364088" y="2062757"/>
            <a:ext cx="1268016" cy="2678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 marL="80364">
              <a:tabLst>
                <a:tab pos="366104" algn="l"/>
              </a:tabLst>
            </a:pPr>
            <a:r>
              <a:rPr lang="en-US" sz="1400" i="1" dirty="0">
                <a:solidFill>
                  <a:srgbClr val="2D00FA"/>
                </a:solidFill>
                <a:latin typeface="Arial" charset="0"/>
                <a:cs typeface="Arial" charset="0"/>
                <a:sym typeface="Arial" charset="0"/>
              </a:rPr>
              <a:t>Paramecium</a:t>
            </a:r>
          </a:p>
        </p:txBody>
      </p:sp>
    </p:spTree>
    <p:extLst>
      <p:ext uri="{BB962C8B-B14F-4D97-AF65-F5344CB8AC3E}">
        <p14:creationId xmlns:p14="http://schemas.microsoft.com/office/powerpoint/2010/main" val="651476793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8" grpId="0" build="p" bldLvl="5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1"/>
          <p:cNvSpPr>
            <a:spLocks noGrp="1" noChangeArrowheads="1"/>
          </p:cNvSpPr>
          <p:nvPr>
            <p:ph type="title"/>
          </p:nvPr>
        </p:nvSpPr>
        <p:spPr>
          <a:xfrm>
            <a:off x="827584" y="-73610"/>
            <a:ext cx="8229600" cy="901206"/>
          </a:xfrm>
        </p:spPr>
        <p:txBody>
          <a:bodyPr>
            <a:normAutofit/>
          </a:bodyPr>
          <a:lstStyle/>
          <a:p>
            <a:r>
              <a:rPr lang="en-US" sz="4400" dirty="0"/>
              <a:t>The Cell Theory</a:t>
            </a:r>
          </a:p>
        </p:txBody>
      </p:sp>
      <p:sp>
        <p:nvSpPr>
          <p:cNvPr id="2150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86596" y="946547"/>
            <a:ext cx="4392488" cy="5069606"/>
          </a:xfrm>
        </p:spPr>
        <p:txBody>
          <a:bodyPr>
            <a:noAutofit/>
          </a:bodyPr>
          <a:lstStyle/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The idea that cells are fundamental units of life is part of the </a:t>
            </a: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cell theory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. The basic ideas of the cell theory are:</a:t>
            </a:r>
          </a:p>
          <a:p>
            <a:pPr lvl="1"/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All living things are composed of cells and cell products.</a:t>
            </a:r>
          </a:p>
          <a:p>
            <a:pPr lvl="1"/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New cells are formed only by the</a:t>
            </a:r>
            <a:b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division of pre-existing cells.</a:t>
            </a:r>
          </a:p>
          <a:p>
            <a:pPr lvl="1"/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A cell contains the inherited</a:t>
            </a:r>
            <a:b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information (genes) used as the</a:t>
            </a:r>
            <a:b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instructions for growth, functioning,</a:t>
            </a:r>
            <a:b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and development.</a:t>
            </a:r>
          </a:p>
          <a:p>
            <a:pPr lvl="1"/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The cell is the functioning                unit of life; all of the               chemical reactions of life                 take place within cells.</a:t>
            </a:r>
          </a:p>
          <a:p>
            <a:pPr lvl="1"/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Cells use energy to grow, repair and reproduce.</a:t>
            </a:r>
          </a:p>
        </p:txBody>
      </p:sp>
      <p:grpSp>
        <p:nvGrpSpPr>
          <p:cNvPr id="21507" name="Group 3"/>
          <p:cNvGrpSpPr>
            <a:grpSpLocks/>
          </p:cNvGrpSpPr>
          <p:nvPr/>
        </p:nvGrpSpPr>
        <p:grpSpPr bwMode="auto">
          <a:xfrm>
            <a:off x="4764636" y="2166993"/>
            <a:ext cx="1973461" cy="2411016"/>
            <a:chOff x="17" y="0"/>
            <a:chExt cx="1768" cy="2160"/>
          </a:xfrm>
        </p:grpSpPr>
        <p:pic>
          <p:nvPicPr>
            <p:cNvPr id="21508" name="Picture 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" y="0"/>
              <a:ext cx="1720" cy="19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190500" dist="190499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</p:pic>
        <p:sp>
          <p:nvSpPr>
            <p:cNvPr id="21510" name="Rectangle 6"/>
            <p:cNvSpPr>
              <a:spLocks/>
            </p:cNvSpPr>
            <p:nvPr/>
          </p:nvSpPr>
          <p:spPr bwMode="auto">
            <a:xfrm>
              <a:off x="17" y="2000"/>
              <a:ext cx="1768" cy="1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pPr algn="ctr">
                <a:lnSpc>
                  <a:spcPct val="106000"/>
                </a:lnSpc>
                <a:spcBef>
                  <a:spcPts val="703"/>
                </a:spcBef>
                <a:tabLst>
                  <a:tab pos="721047" algn="l"/>
                </a:tabLst>
              </a:pPr>
              <a:r>
                <a:rPr lang="en-US" sz="1300">
                  <a:solidFill>
                    <a:srgbClr val="2D00FA"/>
                  </a:solidFill>
                  <a:latin typeface="Arial" charset="0"/>
                  <a:cs typeface="Arial" charset="0"/>
                  <a:sym typeface="Arial" charset="0"/>
                </a:rPr>
                <a:t>New cells form by division</a:t>
              </a:r>
            </a:p>
          </p:txBody>
        </p:sp>
      </p:grpSp>
      <p:grpSp>
        <p:nvGrpSpPr>
          <p:cNvPr id="21511" name="Group 7"/>
          <p:cNvGrpSpPr>
            <a:grpSpLocks/>
          </p:cNvGrpSpPr>
          <p:nvPr/>
        </p:nvGrpSpPr>
        <p:grpSpPr bwMode="auto">
          <a:xfrm>
            <a:off x="6939484" y="2482453"/>
            <a:ext cx="1937742" cy="2946797"/>
            <a:chOff x="0" y="0"/>
            <a:chExt cx="1736" cy="2640"/>
          </a:xfrm>
        </p:grpSpPr>
        <p:pic>
          <p:nvPicPr>
            <p:cNvPr id="21512" name="Picture 8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-5400000">
              <a:off x="-327" y="349"/>
              <a:ext cx="2398" cy="17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190500" dist="190499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</p:pic>
        <p:sp>
          <p:nvSpPr>
            <p:cNvPr id="21513" name="Rectangle 9"/>
            <p:cNvSpPr>
              <a:spLocks/>
            </p:cNvSpPr>
            <p:nvPr/>
          </p:nvSpPr>
          <p:spPr bwMode="auto">
            <a:xfrm>
              <a:off x="0" y="2480"/>
              <a:ext cx="1736" cy="1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pPr algn="ctr">
                <a:lnSpc>
                  <a:spcPct val="106000"/>
                </a:lnSpc>
                <a:spcBef>
                  <a:spcPts val="703"/>
                </a:spcBef>
                <a:tabLst>
                  <a:tab pos="721047" algn="l"/>
                </a:tabLst>
              </a:pPr>
              <a:r>
                <a:rPr lang="en-US" sz="1300">
                  <a:solidFill>
                    <a:srgbClr val="2D00FA"/>
                  </a:solidFill>
                  <a:latin typeface="Arial" charset="0"/>
                  <a:cs typeface="Arial" charset="0"/>
                  <a:sym typeface="Arial" charset="0"/>
                </a:rPr>
                <a:t>Cells contain a blueprint</a:t>
              </a:r>
            </a:p>
          </p:txBody>
        </p:sp>
      </p:grpSp>
      <p:grpSp>
        <p:nvGrpSpPr>
          <p:cNvPr id="21514" name="Group 10"/>
          <p:cNvGrpSpPr>
            <a:grpSpLocks/>
          </p:cNvGrpSpPr>
          <p:nvPr/>
        </p:nvGrpSpPr>
        <p:grpSpPr bwMode="auto">
          <a:xfrm>
            <a:off x="4255321" y="4801921"/>
            <a:ext cx="2581796" cy="1919883"/>
            <a:chOff x="0" y="0"/>
            <a:chExt cx="2313" cy="1720"/>
          </a:xfrm>
        </p:grpSpPr>
        <p:pic>
          <p:nvPicPr>
            <p:cNvPr id="21515" name="Picture 11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2288" cy="14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190500" dist="190499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</p:pic>
        <p:sp>
          <p:nvSpPr>
            <p:cNvPr id="21516" name="Rectangle 12"/>
            <p:cNvSpPr>
              <a:spLocks/>
            </p:cNvSpPr>
            <p:nvPr/>
          </p:nvSpPr>
          <p:spPr bwMode="auto">
            <a:xfrm>
              <a:off x="33" y="1560"/>
              <a:ext cx="2280" cy="1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pPr algn="ctr">
                <a:lnSpc>
                  <a:spcPct val="106000"/>
                </a:lnSpc>
                <a:spcBef>
                  <a:spcPts val="703"/>
                </a:spcBef>
                <a:tabLst>
                  <a:tab pos="721047" algn="l"/>
                </a:tabLst>
              </a:pPr>
              <a:r>
                <a:rPr lang="en-US" sz="1300">
                  <a:solidFill>
                    <a:srgbClr val="2D00FA"/>
                  </a:solidFill>
                  <a:latin typeface="Arial" charset="0"/>
                  <a:cs typeface="Arial" charset="0"/>
                  <a:sym typeface="Arial" charset="0"/>
                </a:rPr>
                <a:t>Metabolic reactions occur in cells</a:t>
              </a:r>
            </a:p>
          </p:txBody>
        </p:sp>
      </p:grpSp>
      <p:grpSp>
        <p:nvGrpSpPr>
          <p:cNvPr id="21517" name="Group 13"/>
          <p:cNvGrpSpPr>
            <a:grpSpLocks/>
          </p:cNvGrpSpPr>
          <p:nvPr/>
        </p:nvGrpSpPr>
        <p:grpSpPr bwMode="auto">
          <a:xfrm>
            <a:off x="6545461" y="285750"/>
            <a:ext cx="2340695" cy="1893094"/>
            <a:chOff x="0" y="0"/>
            <a:chExt cx="2097" cy="1696"/>
          </a:xfrm>
        </p:grpSpPr>
        <p:sp>
          <p:nvSpPr>
            <p:cNvPr id="21518" name="Rectangle 14"/>
            <p:cNvSpPr>
              <a:spLocks/>
            </p:cNvSpPr>
            <p:nvPr/>
          </p:nvSpPr>
          <p:spPr bwMode="auto">
            <a:xfrm>
              <a:off x="1" y="1536"/>
              <a:ext cx="2096" cy="1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pPr algn="ctr">
                <a:lnSpc>
                  <a:spcPct val="106000"/>
                </a:lnSpc>
                <a:spcBef>
                  <a:spcPts val="703"/>
                </a:spcBef>
                <a:tabLst>
                  <a:tab pos="721047" algn="l"/>
                </a:tabLst>
              </a:pPr>
              <a:r>
                <a:rPr lang="en-US" sz="1300">
                  <a:solidFill>
                    <a:srgbClr val="2D00FA"/>
                  </a:solidFill>
                  <a:latin typeface="Arial" charset="0"/>
                  <a:cs typeface="Arial" charset="0"/>
                  <a:sym typeface="Arial" charset="0"/>
                </a:rPr>
                <a:t>Cells make up living things</a:t>
              </a:r>
            </a:p>
          </p:txBody>
        </p:sp>
        <p:pic>
          <p:nvPicPr>
            <p:cNvPr id="21519" name="Picture 15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2095" cy="14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190500" dist="190499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975245709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6" grpId="0" build="p" bldLvl="5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77" name="Group 1"/>
          <p:cNvGrpSpPr>
            <a:grpSpLocks/>
          </p:cNvGrpSpPr>
          <p:nvPr/>
        </p:nvGrpSpPr>
        <p:grpSpPr bwMode="auto">
          <a:xfrm>
            <a:off x="6804422" y="1916534"/>
            <a:ext cx="2270373" cy="4098727"/>
            <a:chOff x="5416" y="-371"/>
            <a:chExt cx="2034" cy="3672"/>
          </a:xfrm>
        </p:grpSpPr>
        <p:pic>
          <p:nvPicPr>
            <p:cNvPr id="24636" name="Picture 60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16" y="-371"/>
              <a:ext cx="2034" cy="36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190500" dist="190499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</p:pic>
      </p:grpSp>
      <p:sp>
        <p:nvSpPr>
          <p:cNvPr id="24637" name="Rectangle 61"/>
          <p:cNvSpPr>
            <a:spLocks noGrp="1" noChangeArrowheads="1"/>
          </p:cNvSpPr>
          <p:nvPr>
            <p:ph type="title"/>
          </p:nvPr>
        </p:nvSpPr>
        <p:spPr>
          <a:xfrm>
            <a:off x="683568" y="103785"/>
            <a:ext cx="8229600" cy="887463"/>
          </a:xfrm>
        </p:spPr>
        <p:txBody>
          <a:bodyPr/>
          <a:lstStyle/>
          <a:p>
            <a:r>
              <a:rPr lang="en-US" dirty="0"/>
              <a:t>Units of Measurement</a:t>
            </a:r>
          </a:p>
        </p:txBody>
      </p:sp>
      <p:sp>
        <p:nvSpPr>
          <p:cNvPr id="24638" name="Rectangle 62"/>
          <p:cNvSpPr>
            <a:spLocks noGrp="1" noChangeArrowheads="1"/>
          </p:cNvSpPr>
          <p:nvPr>
            <p:ph type="body" idx="1"/>
          </p:nvPr>
        </p:nvSpPr>
        <p:spPr>
          <a:xfrm>
            <a:off x="395536" y="1124744"/>
            <a:ext cx="6624736" cy="1800200"/>
          </a:xfrm>
        </p:spPr>
        <p:txBody>
          <a:bodyPr>
            <a:normAutofit fontScale="85000" lnSpcReduction="20000"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International System of Units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(SI units) is the modern form of the metric system. It is the most widely used system of units, both in commerce and science.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The table below illustrates some common biological units of measure.</a:t>
            </a:r>
          </a:p>
        </p:txBody>
      </p:sp>
      <p:graphicFrame>
        <p:nvGraphicFramePr>
          <p:cNvPr id="24578" name="Group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3832189"/>
              </p:ext>
            </p:extLst>
          </p:nvPr>
        </p:nvGraphicFramePr>
        <p:xfrm>
          <a:off x="699157" y="3212976"/>
          <a:ext cx="6017493" cy="3210668"/>
        </p:xfrm>
        <a:graphic>
          <a:graphicData uri="http://schemas.openxmlformats.org/drawingml/2006/table">
            <a:tbl>
              <a:tblPr/>
              <a:tblGrid>
                <a:gridCol w="20058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58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58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6424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86000"/>
                        <a:buFontTx/>
                        <a:buNone/>
                        <a:tabLst>
                          <a:tab pos="520700" algn="l"/>
                        </a:tabLst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ヒラギノ角ゴ Pro W3" pitchFamily="1" charset="-128"/>
                          <a:cs typeface="Arial" charset="0"/>
                          <a:sym typeface="Arial" charset="0"/>
                        </a:rPr>
                        <a:t>SI Units of Length</a:t>
                      </a:r>
                    </a:p>
                  </a:txBody>
                  <a:tcPr marL="133945" marR="133945" marT="133945" marB="133945" anchor="ctr" horzOverflow="overflow">
                    <a:lnL w="38100" cap="flat" cmpd="sng" algn="ctr">
                      <a:solidFill>
                        <a:srgbClr val="6E3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6E3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6E3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6E3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CD6B">
                        <a:alpha val="43921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345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86000"/>
                        <a:buFontTx/>
                        <a:buNone/>
                        <a:tabLst>
                          <a:tab pos="520700" algn="l"/>
                        </a:tabLst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ヒラギノ角ゴ Pro W3" pitchFamily="1" charset="-128"/>
                          <a:cs typeface="Arial" charset="0"/>
                          <a:sym typeface="Arial" charset="0"/>
                        </a:rPr>
                        <a:t>Unit</a:t>
                      </a:r>
                    </a:p>
                  </a:txBody>
                  <a:tcPr marL="133945" marR="133945" marT="133945" marB="133945" anchor="ctr" horzOverflow="overflow">
                    <a:lnL w="38100" cap="flat" cmpd="sng" algn="ctr">
                      <a:solidFill>
                        <a:srgbClr val="6E3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E3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6E3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6E3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1490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86000"/>
                        <a:buFontTx/>
                        <a:buNone/>
                        <a:tabLst>
                          <a:tab pos="520700" algn="l"/>
                        </a:tabLst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ヒラギノ角ゴ Pro W3" pitchFamily="1" charset="-128"/>
                          <a:cs typeface="Arial" charset="0"/>
                          <a:sym typeface="Arial" charset="0"/>
                        </a:rPr>
                        <a:t>Meters</a:t>
                      </a:r>
                    </a:p>
                  </a:txBody>
                  <a:tcPr marL="133945" marR="133945" marT="133945" marB="133945" anchor="ctr" horzOverflow="overflow">
                    <a:lnL w="12700" cap="flat" cmpd="sng" algn="ctr">
                      <a:solidFill>
                        <a:srgbClr val="6E3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E3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6E3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6E3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1490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86000"/>
                        <a:buFontTx/>
                        <a:buNone/>
                        <a:tabLst>
                          <a:tab pos="520700" algn="l"/>
                        </a:tabLst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ヒラギノ角ゴ Pro W3" pitchFamily="1" charset="-128"/>
                          <a:cs typeface="Arial" charset="0"/>
                          <a:sym typeface="Arial" charset="0"/>
                        </a:rPr>
                        <a:t>Equivalent</a:t>
                      </a:r>
                    </a:p>
                  </a:txBody>
                  <a:tcPr marL="133945" marR="133945" marT="133945" marB="133945" anchor="ctr" horzOverflow="overflow">
                    <a:lnL w="12700" cap="flat" cmpd="sng" algn="ctr">
                      <a:solidFill>
                        <a:srgbClr val="6E3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6E3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6E3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6E3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14902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45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86000"/>
                        <a:buFontTx/>
                        <a:buNone/>
                        <a:tabLst>
                          <a:tab pos="520700" algn="l"/>
                        </a:tabLst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ヒラギノ角ゴ Pro W3" pitchFamily="1" charset="-128"/>
                          <a:cs typeface="Arial" charset="0"/>
                          <a:sym typeface="Arial" charset="0"/>
                        </a:rPr>
                        <a:t>1 meter (m)</a:t>
                      </a:r>
                    </a:p>
                  </a:txBody>
                  <a:tcPr marL="133945" marR="133945" marT="133945" marB="133945" anchor="ctr" horzOverflow="overflow">
                    <a:lnL w="38100" cap="flat" cmpd="sng" algn="ctr">
                      <a:solidFill>
                        <a:srgbClr val="6E3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E3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6E3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E3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1490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86000"/>
                        <a:buFontTx/>
                        <a:buNone/>
                        <a:tabLst>
                          <a:tab pos="520700" algn="l"/>
                        </a:tabLst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ヒラギノ角ゴ Pro W3" pitchFamily="1" charset="-128"/>
                          <a:cs typeface="Arial" charset="0"/>
                          <a:sym typeface="Arial" charset="0"/>
                        </a:rPr>
                        <a:t>1 m</a:t>
                      </a:r>
                    </a:p>
                  </a:txBody>
                  <a:tcPr marL="133945" marR="133945" marT="133945" marB="133945" anchor="ctr" horzOverflow="overflow">
                    <a:lnL w="12700" cap="flat" cmpd="sng" algn="ctr">
                      <a:solidFill>
                        <a:srgbClr val="6E3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E3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6E3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E3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1490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86000"/>
                        <a:buFontTx/>
                        <a:buNone/>
                        <a:tabLst>
                          <a:tab pos="520700" algn="l"/>
                        </a:tabLst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ヒラギノ角ゴ Pro W3" pitchFamily="1" charset="-128"/>
                          <a:cs typeface="Arial" charset="0"/>
                          <a:sym typeface="Arial" charset="0"/>
                        </a:rPr>
                        <a:t>1000 millimeters</a:t>
                      </a:r>
                    </a:p>
                  </a:txBody>
                  <a:tcPr marL="133945" marR="133945" marT="133945" marB="133945" anchor="ctr" horzOverflow="overflow">
                    <a:lnL w="12700" cap="flat" cmpd="sng" algn="ctr">
                      <a:solidFill>
                        <a:srgbClr val="6E3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6E3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6E3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E3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14902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363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86000"/>
                        <a:buFontTx/>
                        <a:buNone/>
                        <a:tabLst>
                          <a:tab pos="520700" algn="l"/>
                        </a:tabLst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ヒラギノ角ゴ Pro W3" pitchFamily="1" charset="-128"/>
                          <a:cs typeface="Arial" charset="0"/>
                          <a:sym typeface="Arial" charset="0"/>
                        </a:rPr>
                        <a:t>1 millimeter (mm)</a:t>
                      </a:r>
                    </a:p>
                  </a:txBody>
                  <a:tcPr marL="133945" marR="133945" marT="133945" marB="133945" anchor="ctr" horzOverflow="overflow">
                    <a:lnL w="38100" cap="flat" cmpd="sng" algn="ctr">
                      <a:solidFill>
                        <a:srgbClr val="6E3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E3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E3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E3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1490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86000"/>
                        <a:buFontTx/>
                        <a:buNone/>
                        <a:tabLst>
                          <a:tab pos="520700" algn="l"/>
                        </a:tabLst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ヒラギノ角ゴ Pro W3" pitchFamily="1" charset="-128"/>
                          <a:cs typeface="Arial" charset="0"/>
                          <a:sym typeface="Arial" charset="0"/>
                        </a:rPr>
                        <a:t>10</a:t>
                      </a:r>
                      <a:r>
                        <a:rPr kumimoji="0" lang="en-US" sz="1500" b="0" i="0" u="none" strike="noStrike" cap="none" normalizeH="0" baseline="32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ヒラギノ角ゴ Pro W3" pitchFamily="1" charset="-128"/>
                          <a:cs typeface="Arial" charset="0"/>
                          <a:sym typeface="Arial" charset="0"/>
                        </a:rPr>
                        <a:t>-3</a:t>
                      </a: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ヒラギノ角ゴ Pro W3" pitchFamily="1" charset="-128"/>
                          <a:cs typeface="Arial" charset="0"/>
                          <a:sym typeface="Arial" charset="0"/>
                        </a:rPr>
                        <a:t> m</a:t>
                      </a:r>
                    </a:p>
                  </a:txBody>
                  <a:tcPr marL="133945" marR="133945" marT="133945" marB="133945" anchor="ctr" horzOverflow="overflow">
                    <a:lnL w="12700" cap="flat" cmpd="sng" algn="ctr">
                      <a:solidFill>
                        <a:srgbClr val="6E3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E3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E3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E3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1490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86000"/>
                        <a:buFontTx/>
                        <a:buNone/>
                        <a:tabLst>
                          <a:tab pos="520700" algn="l"/>
                        </a:tabLst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ヒラギノ角ゴ Pro W3" pitchFamily="1" charset="-128"/>
                          <a:cs typeface="Arial" charset="0"/>
                          <a:sym typeface="Arial" charset="0"/>
                        </a:rPr>
                        <a:t>1000 micrometers</a:t>
                      </a:r>
                    </a:p>
                  </a:txBody>
                  <a:tcPr marL="133945" marR="133945" marT="133945" marB="133945" anchor="ctr" horzOverflow="overflow">
                    <a:lnL w="12700" cap="flat" cmpd="sng" algn="ctr">
                      <a:solidFill>
                        <a:srgbClr val="6E3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6E3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E3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E3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14902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363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86000"/>
                        <a:buFontTx/>
                        <a:buNone/>
                        <a:tabLst>
                          <a:tab pos="520700" algn="l"/>
                        </a:tabLst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ヒラギノ角ゴ Pro W3" pitchFamily="1" charset="-128"/>
                          <a:cs typeface="Arial" charset="0"/>
                          <a:sym typeface="Arial" charset="0"/>
                        </a:rPr>
                        <a:t>1 micrometer (µm)</a:t>
                      </a:r>
                    </a:p>
                  </a:txBody>
                  <a:tcPr marL="133945" marR="133945" marT="133945" marB="133945" anchor="ctr" horzOverflow="overflow">
                    <a:lnL w="38100" cap="flat" cmpd="sng" algn="ctr">
                      <a:solidFill>
                        <a:srgbClr val="6E3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E3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E3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E3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1490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86000"/>
                        <a:buFontTx/>
                        <a:buNone/>
                        <a:tabLst>
                          <a:tab pos="520700" algn="l"/>
                        </a:tabLst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ヒラギノ角ゴ Pro W3" pitchFamily="1" charset="-128"/>
                          <a:cs typeface="Arial" charset="0"/>
                          <a:sym typeface="Arial" charset="0"/>
                        </a:rPr>
                        <a:t>10</a:t>
                      </a:r>
                      <a:r>
                        <a:rPr kumimoji="0" lang="en-US" sz="1500" b="0" i="0" u="none" strike="noStrike" cap="none" normalizeH="0" baseline="32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ヒラギノ角ゴ Pro W3" pitchFamily="1" charset="-128"/>
                          <a:cs typeface="Arial" charset="0"/>
                          <a:sym typeface="Arial" charset="0"/>
                        </a:rPr>
                        <a:t>-6</a:t>
                      </a: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ヒラギノ角ゴ Pro W3" pitchFamily="1" charset="-128"/>
                          <a:cs typeface="Arial" charset="0"/>
                          <a:sym typeface="Arial" charset="0"/>
                        </a:rPr>
                        <a:t> m</a:t>
                      </a:r>
                    </a:p>
                  </a:txBody>
                  <a:tcPr marL="133945" marR="133945" marT="133945" marB="133945" anchor="ctr" horzOverflow="overflow">
                    <a:lnL w="12700" cap="flat" cmpd="sng" algn="ctr">
                      <a:solidFill>
                        <a:srgbClr val="6E3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E3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E3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E3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1490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86000"/>
                        <a:buFontTx/>
                        <a:buNone/>
                        <a:tabLst>
                          <a:tab pos="520700" algn="l"/>
                        </a:tabLst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ヒラギノ角ゴ Pro W3" pitchFamily="1" charset="-128"/>
                          <a:cs typeface="Arial" charset="0"/>
                          <a:sym typeface="Arial" charset="0"/>
                        </a:rPr>
                        <a:t>1000 nanometers</a:t>
                      </a:r>
                    </a:p>
                  </a:txBody>
                  <a:tcPr marL="133945" marR="133945" marT="133945" marB="133945" anchor="ctr" horzOverflow="overflow">
                    <a:lnL w="12700" cap="flat" cmpd="sng" algn="ctr">
                      <a:solidFill>
                        <a:srgbClr val="6E3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6E3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E3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E3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14902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89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86000"/>
                        <a:buFontTx/>
                        <a:buNone/>
                        <a:tabLst>
                          <a:tab pos="520700" algn="l"/>
                        </a:tabLst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ヒラギノ角ゴ Pro W3" pitchFamily="1" charset="-128"/>
                          <a:cs typeface="Arial" charset="0"/>
                          <a:sym typeface="Arial" charset="0"/>
                        </a:rPr>
                        <a:t>1 nanometer (nm)</a:t>
                      </a:r>
                    </a:p>
                  </a:txBody>
                  <a:tcPr marL="133945" marR="133945" marT="133945" marB="133945" anchor="ctr" horzOverflow="overflow">
                    <a:lnL w="38100" cap="flat" cmpd="sng" algn="ctr">
                      <a:solidFill>
                        <a:srgbClr val="6E3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E3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E3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6E3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1490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86000"/>
                        <a:buFontTx/>
                        <a:buNone/>
                        <a:tabLst>
                          <a:tab pos="520700" algn="l"/>
                        </a:tabLst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ヒラギノ角ゴ Pro W3" pitchFamily="1" charset="-128"/>
                          <a:cs typeface="Arial" charset="0"/>
                          <a:sym typeface="Arial" charset="0"/>
                        </a:rPr>
                        <a:t>10</a:t>
                      </a:r>
                      <a:r>
                        <a:rPr kumimoji="0" lang="en-US" sz="1500" b="0" i="0" u="none" strike="noStrike" cap="none" normalizeH="0" baseline="32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ヒラギノ角ゴ Pro W3" pitchFamily="1" charset="-128"/>
                          <a:cs typeface="Arial" charset="0"/>
                          <a:sym typeface="Arial" charset="0"/>
                        </a:rPr>
                        <a:t>-9</a:t>
                      </a: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ヒラギノ角ゴ Pro W3" pitchFamily="1" charset="-128"/>
                          <a:cs typeface="Arial" charset="0"/>
                          <a:sym typeface="Arial" charset="0"/>
                        </a:rPr>
                        <a:t> m</a:t>
                      </a:r>
                    </a:p>
                  </a:txBody>
                  <a:tcPr marL="133945" marR="133945" marT="133945" marB="133945" anchor="ctr" horzOverflow="overflow">
                    <a:lnL w="12700" cap="flat" cmpd="sng" algn="ctr">
                      <a:solidFill>
                        <a:srgbClr val="6E3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E3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E3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6E3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1490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86000"/>
                        <a:buFontTx/>
                        <a:buNone/>
                        <a:tabLst>
                          <a:tab pos="520700" algn="l"/>
                        </a:tabLst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ヒラギノ角ゴ Pro W3" pitchFamily="1" charset="-128"/>
                          <a:cs typeface="Arial" charset="0"/>
                          <a:sym typeface="Arial" charset="0"/>
                        </a:rPr>
                        <a:t>1000 </a:t>
                      </a:r>
                      <a:r>
                        <a:rPr kumimoji="0" lang="en-US" sz="15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ヒラギノ角ゴ Pro W3" pitchFamily="1" charset="-128"/>
                          <a:cs typeface="Arial" charset="0"/>
                          <a:sym typeface="Arial" charset="0"/>
                        </a:rPr>
                        <a:t>picometers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ヒラギノ角ゴ Pro W3" pitchFamily="1" charset="-128"/>
                        <a:cs typeface="Arial" charset="0"/>
                        <a:sym typeface="Arial" charset="0"/>
                      </a:endParaRPr>
                    </a:p>
                  </a:txBody>
                  <a:tcPr marL="133945" marR="133945" marT="133945" marB="133945" anchor="ctr" horzOverflow="overflow">
                    <a:lnL w="12700" cap="flat" cmpd="sng" algn="ctr">
                      <a:solidFill>
                        <a:srgbClr val="6E3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6E3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E3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6E3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14902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4329685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638" grpId="0" build="p" bldLvl="5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"/>
          <p:cNvSpPr>
            <a:spLocks noGrp="1" noChangeArrowheads="1"/>
          </p:cNvSpPr>
          <p:nvPr>
            <p:ph type="title"/>
          </p:nvPr>
        </p:nvSpPr>
        <p:spPr>
          <a:xfrm>
            <a:off x="1043608" y="-96676"/>
            <a:ext cx="8229600" cy="1143000"/>
          </a:xfrm>
        </p:spPr>
        <p:txBody>
          <a:bodyPr/>
          <a:lstStyle/>
          <a:p>
            <a:r>
              <a:rPr lang="en-US" dirty="0"/>
              <a:t>Cell Sizes</a:t>
            </a:r>
          </a:p>
        </p:txBody>
      </p:sp>
      <p:sp>
        <p:nvSpPr>
          <p:cNvPr id="2253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35236" y="1241546"/>
            <a:ext cx="8640959" cy="1584176"/>
          </a:xfrm>
        </p:spPr>
        <p:txBody>
          <a:bodyPr>
            <a:normAutofit fontScale="85000" lnSpcReduction="10000"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Most cells are between 1 and 100µm and visible only using a microscope. 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Cell size is very diverse, a range of cells is shown below to illustrate this.</a:t>
            </a:r>
          </a:p>
          <a:p>
            <a:pPr lvl="1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A virus (a non-cellular particle) is included for comparison.</a:t>
            </a:r>
          </a:p>
        </p:txBody>
      </p:sp>
      <p:grpSp>
        <p:nvGrpSpPr>
          <p:cNvPr id="22531" name="Group 3"/>
          <p:cNvGrpSpPr>
            <a:grpSpLocks/>
          </p:cNvGrpSpPr>
          <p:nvPr/>
        </p:nvGrpSpPr>
        <p:grpSpPr bwMode="auto">
          <a:xfrm>
            <a:off x="6516216" y="3207350"/>
            <a:ext cx="1965647" cy="767953"/>
            <a:chOff x="0" y="0"/>
            <a:chExt cx="1760" cy="688"/>
          </a:xfrm>
        </p:grpSpPr>
        <p:pic>
          <p:nvPicPr>
            <p:cNvPr id="22532" name="Picture 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825" cy="6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190500" dist="190499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</p:pic>
        <p:sp>
          <p:nvSpPr>
            <p:cNvPr id="22533" name="Rectangle 5"/>
            <p:cNvSpPr>
              <a:spLocks/>
            </p:cNvSpPr>
            <p:nvPr/>
          </p:nvSpPr>
          <p:spPr bwMode="auto">
            <a:xfrm>
              <a:off x="824" y="167"/>
              <a:ext cx="936" cy="3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pPr marL="80364" algn="ctr">
                <a:lnSpc>
                  <a:spcPct val="111000"/>
                </a:lnSpc>
                <a:tabLst>
                  <a:tab pos="366104" algn="l"/>
                </a:tabLst>
              </a:pPr>
              <a:r>
                <a:rPr lang="en-US" sz="1300" dirty="0">
                  <a:solidFill>
                    <a:srgbClr val="2D00FA"/>
                  </a:solidFill>
                  <a:latin typeface="Arial" charset="0"/>
                  <a:cs typeface="Arial" charset="0"/>
                  <a:sym typeface="Arial" charset="0"/>
                </a:rPr>
                <a:t>Human white blood cells</a:t>
              </a:r>
            </a:p>
          </p:txBody>
        </p:sp>
      </p:grpSp>
      <p:grpSp>
        <p:nvGrpSpPr>
          <p:cNvPr id="22534" name="Group 6"/>
          <p:cNvGrpSpPr>
            <a:grpSpLocks/>
          </p:cNvGrpSpPr>
          <p:nvPr/>
        </p:nvGrpSpPr>
        <p:grpSpPr bwMode="auto">
          <a:xfrm>
            <a:off x="4329163" y="4416289"/>
            <a:ext cx="4286250" cy="2268141"/>
            <a:chOff x="0" y="0"/>
            <a:chExt cx="3840" cy="2032"/>
          </a:xfrm>
        </p:grpSpPr>
        <p:sp>
          <p:nvSpPr>
            <p:cNvPr id="22535" name="Oval 7"/>
            <p:cNvSpPr>
              <a:spLocks/>
            </p:cNvSpPr>
            <p:nvPr/>
          </p:nvSpPr>
          <p:spPr bwMode="auto">
            <a:xfrm>
              <a:off x="1064" y="0"/>
              <a:ext cx="1616" cy="1616"/>
            </a:xfrm>
            <a:prstGeom prst="ellipse">
              <a:avLst/>
            </a:prstGeom>
            <a:noFill/>
            <a:ln w="63500">
              <a:solidFill>
                <a:srgbClr val="FF0017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2536" name="Oval 8"/>
            <p:cNvSpPr>
              <a:spLocks/>
            </p:cNvSpPr>
            <p:nvPr/>
          </p:nvSpPr>
          <p:spPr bwMode="auto">
            <a:xfrm>
              <a:off x="0" y="560"/>
              <a:ext cx="344" cy="344"/>
            </a:xfrm>
            <a:prstGeom prst="ellipse">
              <a:avLst/>
            </a:prstGeom>
            <a:noFill/>
            <a:ln w="50800">
              <a:solidFill>
                <a:srgbClr val="FF0017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pPr marL="80364" algn="ctr">
                <a:tabLst>
                  <a:tab pos="366104" algn="l"/>
                </a:tabLst>
              </a:pPr>
              <a:r>
                <a:rPr lang="en-US" sz="1500" b="1">
                  <a:effectLst>
                    <a:outerShdw blurRad="38100" dist="38100" dir="2700000" algn="tl">
                      <a:srgbClr val="000000"/>
                    </a:outerShdw>
                  </a:effectLst>
                  <a:ea typeface="Hoefler Text" pitchFamily="1" charset="0"/>
                  <a:cs typeface="Hoefler Text" pitchFamily="1" charset="0"/>
                </a:rPr>
                <a:t>.</a:t>
              </a:r>
            </a:p>
          </p:txBody>
        </p:sp>
        <p:pic>
          <p:nvPicPr>
            <p:cNvPr id="22537" name="Picture 9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99" y="131"/>
              <a:ext cx="936" cy="13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190500" dist="190499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</p:pic>
        <p:sp>
          <p:nvSpPr>
            <p:cNvPr id="22538" name="Rectangle 10"/>
            <p:cNvSpPr>
              <a:spLocks/>
            </p:cNvSpPr>
            <p:nvPr/>
          </p:nvSpPr>
          <p:spPr bwMode="auto">
            <a:xfrm>
              <a:off x="2208" y="1432"/>
              <a:ext cx="1632" cy="6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pPr marL="80364" algn="ctr">
                <a:lnSpc>
                  <a:spcPct val="109000"/>
                </a:lnSpc>
                <a:spcBef>
                  <a:spcPts val="281"/>
                </a:spcBef>
                <a:tabLst>
                  <a:tab pos="366104" algn="l"/>
                </a:tabLst>
              </a:pPr>
              <a:r>
                <a:rPr lang="en-US" sz="1500" b="1" dirty="0">
                  <a:solidFill>
                    <a:srgbClr val="2D00FA"/>
                  </a:solidFill>
                  <a:latin typeface="Arial" charset="0"/>
                  <a:cs typeface="Arial" charset="0"/>
                  <a:sym typeface="Arial" charset="0"/>
                </a:rPr>
                <a:t>Viruses</a:t>
              </a:r>
            </a:p>
            <a:p>
              <a:pPr marL="80364" algn="ctr">
                <a:lnSpc>
                  <a:spcPct val="111000"/>
                </a:lnSpc>
                <a:spcBef>
                  <a:spcPts val="281"/>
                </a:spcBef>
                <a:tabLst>
                  <a:tab pos="366104" algn="l"/>
                </a:tabLst>
              </a:pPr>
              <a:r>
                <a:rPr lang="en-US" sz="1300" b="1" dirty="0">
                  <a:solidFill>
                    <a:srgbClr val="2D00FA"/>
                  </a:solidFill>
                  <a:latin typeface="Arial" charset="0"/>
                  <a:cs typeface="Arial" charset="0"/>
                  <a:sym typeface="Arial" charset="0"/>
                </a:rPr>
                <a:t>Size</a:t>
              </a:r>
              <a:r>
                <a:rPr lang="en-US" sz="1300" dirty="0">
                  <a:solidFill>
                    <a:srgbClr val="2D00FA"/>
                  </a:solidFill>
                  <a:latin typeface="Arial" charset="0"/>
                  <a:cs typeface="Arial" charset="0"/>
                  <a:sym typeface="Arial" charset="0"/>
                </a:rPr>
                <a:t>: 0.02-0.25 µm</a:t>
              </a:r>
            </a:p>
            <a:p>
              <a:pPr marL="80364" algn="ctr">
                <a:lnSpc>
                  <a:spcPct val="111000"/>
                </a:lnSpc>
                <a:spcBef>
                  <a:spcPts val="281"/>
                </a:spcBef>
                <a:tabLst>
                  <a:tab pos="366104" algn="l"/>
                </a:tabLst>
              </a:pPr>
              <a:r>
                <a:rPr lang="en-US" sz="1300" dirty="0">
                  <a:solidFill>
                    <a:srgbClr val="2D00FA"/>
                  </a:solidFill>
                  <a:latin typeface="Arial" charset="0"/>
                  <a:cs typeface="Arial" charset="0"/>
                  <a:sym typeface="Arial" charset="0"/>
                </a:rPr>
                <a:t>(20-250 nm)</a:t>
              </a:r>
            </a:p>
          </p:txBody>
        </p:sp>
        <p:sp>
          <p:nvSpPr>
            <p:cNvPr id="22539" name="AutoShape 11"/>
            <p:cNvSpPr>
              <a:spLocks/>
            </p:cNvSpPr>
            <p:nvPr/>
          </p:nvSpPr>
          <p:spPr bwMode="auto">
            <a:xfrm flipH="1">
              <a:off x="248" y="312"/>
              <a:ext cx="776" cy="280"/>
            </a:xfrm>
            <a:custGeom>
              <a:avLst/>
              <a:gdLst/>
              <a:ahLst/>
              <a:cxnLst/>
              <a:rect l="0" t="0" r="r" b="b"/>
              <a:pathLst>
                <a:path w="21600" h="11608">
                  <a:moveTo>
                    <a:pt x="21600" y="11608"/>
                  </a:moveTo>
                  <a:cubicBezTo>
                    <a:pt x="19522" y="9540"/>
                    <a:pt x="15810" y="-9992"/>
                    <a:pt x="0" y="6623"/>
                  </a:cubicBezTo>
                </a:path>
              </a:pathLst>
            </a:custGeom>
            <a:noFill/>
            <a:ln w="50800">
              <a:solidFill>
                <a:srgbClr val="FF0017"/>
              </a:solidFill>
              <a:miter lim="800000"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2540" name="Group 12"/>
          <p:cNvGrpSpPr>
            <a:grpSpLocks/>
          </p:cNvGrpSpPr>
          <p:nvPr/>
        </p:nvGrpSpPr>
        <p:grpSpPr bwMode="auto">
          <a:xfrm>
            <a:off x="793626" y="3158237"/>
            <a:ext cx="5197078" cy="1664271"/>
            <a:chOff x="0" y="0"/>
            <a:chExt cx="4656" cy="1491"/>
          </a:xfrm>
        </p:grpSpPr>
        <p:pic>
          <p:nvPicPr>
            <p:cNvPr id="22541" name="Picture 13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2160" cy="14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190500" dist="190499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</p:pic>
        <p:sp>
          <p:nvSpPr>
            <p:cNvPr id="22542" name="Rectangle 14"/>
            <p:cNvSpPr>
              <a:spLocks/>
            </p:cNvSpPr>
            <p:nvPr/>
          </p:nvSpPr>
          <p:spPr bwMode="auto">
            <a:xfrm>
              <a:off x="568" y="560"/>
              <a:ext cx="1224" cy="3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pPr marL="80364" algn="ctr">
                <a:lnSpc>
                  <a:spcPct val="111000"/>
                </a:lnSpc>
                <a:tabLst>
                  <a:tab pos="366104" algn="l"/>
                </a:tabLst>
              </a:pPr>
              <a:r>
                <a:rPr lang="en-US" sz="1300" dirty="0">
                  <a:solidFill>
                    <a:srgbClr val="000000"/>
                  </a:solidFill>
                  <a:latin typeface="Arial" charset="0"/>
                  <a:cs typeface="Arial" charset="0"/>
                  <a:sym typeface="Arial" charset="0"/>
                </a:rPr>
                <a:t>Parenchyma cell of flowering plant</a:t>
              </a:r>
            </a:p>
          </p:txBody>
        </p:sp>
        <p:sp>
          <p:nvSpPr>
            <p:cNvPr id="22543" name="Rectangle 15"/>
            <p:cNvSpPr>
              <a:spLocks/>
            </p:cNvSpPr>
            <p:nvPr/>
          </p:nvSpPr>
          <p:spPr bwMode="auto">
            <a:xfrm>
              <a:off x="2464" y="8"/>
              <a:ext cx="1992" cy="6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pPr marL="80364" algn="ctr">
                <a:lnSpc>
                  <a:spcPct val="109000"/>
                </a:lnSpc>
                <a:spcBef>
                  <a:spcPts val="281"/>
                </a:spcBef>
                <a:tabLst>
                  <a:tab pos="366104" algn="l"/>
                </a:tabLst>
              </a:pPr>
              <a:r>
                <a:rPr lang="en-US" sz="1500" b="1" dirty="0">
                  <a:solidFill>
                    <a:srgbClr val="2D00FA"/>
                  </a:solidFill>
                  <a:latin typeface="Arial" charset="0"/>
                  <a:cs typeface="Arial" charset="0"/>
                  <a:sym typeface="Arial" charset="0"/>
                </a:rPr>
                <a:t>Eukaryotic cells</a:t>
              </a:r>
            </a:p>
            <a:p>
              <a:pPr marL="80364" algn="ctr">
                <a:lnSpc>
                  <a:spcPct val="110000"/>
                </a:lnSpc>
                <a:spcBef>
                  <a:spcPts val="281"/>
                </a:spcBef>
                <a:tabLst>
                  <a:tab pos="366104" algn="l"/>
                </a:tabLst>
              </a:pPr>
              <a:r>
                <a:rPr lang="en-US" sz="1400" dirty="0">
                  <a:solidFill>
                    <a:srgbClr val="2D00FA"/>
                  </a:solidFill>
                  <a:latin typeface="Arial" charset="0"/>
                  <a:cs typeface="Arial" charset="0"/>
                  <a:sym typeface="Arial" charset="0"/>
                </a:rPr>
                <a:t>e.g. plant, animal, and fungal cells</a:t>
              </a:r>
            </a:p>
          </p:txBody>
        </p:sp>
        <p:sp>
          <p:nvSpPr>
            <p:cNvPr id="22544" name="Rectangle 16"/>
            <p:cNvSpPr>
              <a:spLocks/>
            </p:cNvSpPr>
            <p:nvPr/>
          </p:nvSpPr>
          <p:spPr bwMode="auto">
            <a:xfrm>
              <a:off x="2264" y="808"/>
              <a:ext cx="2392" cy="4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pPr marL="80364">
                <a:lnSpc>
                  <a:spcPct val="111000"/>
                </a:lnSpc>
                <a:spcBef>
                  <a:spcPts val="281"/>
                </a:spcBef>
                <a:tabLst>
                  <a:tab pos="366104" algn="l"/>
                </a:tabLst>
              </a:pPr>
              <a:r>
                <a:rPr lang="en-US" sz="1300" b="1">
                  <a:solidFill>
                    <a:srgbClr val="2D00FA"/>
                  </a:solidFill>
                  <a:latin typeface="Arial" charset="0"/>
                  <a:cs typeface="Arial" charset="0"/>
                  <a:sym typeface="Arial" charset="0"/>
                </a:rPr>
                <a:t>Size</a:t>
              </a:r>
              <a:r>
                <a:rPr lang="en-US" sz="1300">
                  <a:solidFill>
                    <a:srgbClr val="2D00FA"/>
                  </a:solidFill>
                  <a:latin typeface="Arial" charset="0"/>
                  <a:cs typeface="Arial" charset="0"/>
                  <a:sym typeface="Arial" charset="0"/>
                </a:rPr>
                <a:t>: 10-100 µm diameter. Cell organelles may be up to 10 µm.</a:t>
              </a:r>
            </a:p>
          </p:txBody>
        </p:sp>
      </p:grpSp>
      <p:grpSp>
        <p:nvGrpSpPr>
          <p:cNvPr id="22545" name="Group 17"/>
          <p:cNvGrpSpPr>
            <a:grpSpLocks/>
          </p:cNvGrpSpPr>
          <p:nvPr/>
        </p:nvGrpSpPr>
        <p:grpSpPr bwMode="auto">
          <a:xfrm>
            <a:off x="888670" y="5064807"/>
            <a:ext cx="2268141" cy="1491258"/>
            <a:chOff x="0" y="0"/>
            <a:chExt cx="2032" cy="1336"/>
          </a:xfrm>
        </p:grpSpPr>
        <p:pic>
          <p:nvPicPr>
            <p:cNvPr id="22546" name="Picture 18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08" y="262"/>
              <a:ext cx="209" cy="1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190500" dist="190499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</p:pic>
        <p:sp>
          <p:nvSpPr>
            <p:cNvPr id="22547" name="Rectangle 19"/>
            <p:cNvSpPr>
              <a:spLocks/>
            </p:cNvSpPr>
            <p:nvPr/>
          </p:nvSpPr>
          <p:spPr bwMode="auto">
            <a:xfrm>
              <a:off x="0" y="488"/>
              <a:ext cx="2032" cy="8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pPr marL="80364" algn="ctr">
                <a:lnSpc>
                  <a:spcPct val="109000"/>
                </a:lnSpc>
                <a:spcBef>
                  <a:spcPts val="281"/>
                </a:spcBef>
                <a:tabLst>
                  <a:tab pos="366104" algn="l"/>
                </a:tabLst>
              </a:pPr>
              <a:r>
                <a:rPr lang="en-US" sz="1500" b="1" dirty="0">
                  <a:solidFill>
                    <a:srgbClr val="2D00FA"/>
                  </a:solidFill>
                  <a:latin typeface="Arial" charset="0"/>
                  <a:cs typeface="Arial" charset="0"/>
                  <a:sym typeface="Arial" charset="0"/>
                </a:rPr>
                <a:t>Prokaryotic cells</a:t>
              </a:r>
            </a:p>
            <a:p>
              <a:pPr marL="80364" algn="ctr">
                <a:lnSpc>
                  <a:spcPct val="109000"/>
                </a:lnSpc>
                <a:spcBef>
                  <a:spcPts val="281"/>
                </a:spcBef>
                <a:tabLst>
                  <a:tab pos="366104" algn="l"/>
                </a:tabLst>
              </a:pPr>
              <a:r>
                <a:rPr lang="en-US" sz="1300" b="1" dirty="0">
                  <a:solidFill>
                    <a:srgbClr val="2D00FA"/>
                  </a:solidFill>
                  <a:latin typeface="Arial" charset="0"/>
                  <a:cs typeface="Arial" charset="0"/>
                  <a:sym typeface="Arial" charset="0"/>
                </a:rPr>
                <a:t>Size</a:t>
              </a:r>
              <a:r>
                <a:rPr lang="en-US" sz="1300" dirty="0">
                  <a:solidFill>
                    <a:srgbClr val="2D00FA"/>
                  </a:solidFill>
                  <a:latin typeface="Arial" charset="0"/>
                  <a:cs typeface="Arial" charset="0"/>
                  <a:sym typeface="Arial" charset="0"/>
                </a:rPr>
                <a:t>: typically 2-10 µm</a:t>
              </a:r>
            </a:p>
            <a:p>
              <a:pPr marL="80364" algn="ctr">
                <a:lnSpc>
                  <a:spcPct val="109000"/>
                </a:lnSpc>
                <a:spcBef>
                  <a:spcPts val="281"/>
                </a:spcBef>
                <a:tabLst>
                  <a:tab pos="366104" algn="l"/>
                </a:tabLst>
              </a:pPr>
              <a:r>
                <a:rPr lang="en-US" sz="1300" b="1" dirty="0">
                  <a:solidFill>
                    <a:srgbClr val="2D00FA"/>
                  </a:solidFill>
                  <a:latin typeface="Arial" charset="0"/>
                  <a:cs typeface="Arial" charset="0"/>
                  <a:sym typeface="Arial" charset="0"/>
                </a:rPr>
                <a:t>Length</a:t>
              </a:r>
              <a:r>
                <a:rPr lang="en-US" sz="1300" dirty="0">
                  <a:solidFill>
                    <a:srgbClr val="2D00FA"/>
                  </a:solidFill>
                  <a:latin typeface="Arial" charset="0"/>
                  <a:cs typeface="Arial" charset="0"/>
                  <a:sym typeface="Arial" charset="0"/>
                </a:rPr>
                <a:t>: 0.2-2 µm diameter</a:t>
              </a:r>
            </a:p>
            <a:p>
              <a:pPr marL="80364" algn="ctr">
                <a:lnSpc>
                  <a:spcPct val="109000"/>
                </a:lnSpc>
                <a:spcBef>
                  <a:spcPts val="281"/>
                </a:spcBef>
                <a:tabLst>
                  <a:tab pos="366104" algn="l"/>
                </a:tabLst>
              </a:pPr>
              <a:r>
                <a:rPr lang="en-US" sz="1300" b="1" dirty="0">
                  <a:solidFill>
                    <a:srgbClr val="2D00FA"/>
                  </a:solidFill>
                  <a:latin typeface="Arial" charset="0"/>
                  <a:cs typeface="Arial" charset="0"/>
                  <a:sym typeface="Arial" charset="0"/>
                </a:rPr>
                <a:t>Upper limit</a:t>
              </a:r>
              <a:r>
                <a:rPr lang="en-US" sz="1300" dirty="0">
                  <a:solidFill>
                    <a:srgbClr val="2D00FA"/>
                  </a:solidFill>
                  <a:latin typeface="Arial" charset="0"/>
                  <a:cs typeface="Arial" charset="0"/>
                  <a:sym typeface="Arial" charset="0"/>
                </a:rPr>
                <a:t>: 30 µm long</a:t>
              </a:r>
            </a:p>
          </p:txBody>
        </p:sp>
        <p:sp>
          <p:nvSpPr>
            <p:cNvPr id="22548" name="Line 20"/>
            <p:cNvSpPr>
              <a:spLocks noChangeShapeType="1"/>
            </p:cNvSpPr>
            <p:nvPr/>
          </p:nvSpPr>
          <p:spPr bwMode="auto">
            <a:xfrm flipH="1">
              <a:off x="1088" y="0"/>
              <a:ext cx="256" cy="255"/>
            </a:xfrm>
            <a:prstGeom prst="line">
              <a:avLst/>
            </a:prstGeom>
            <a:noFill/>
            <a:ln w="76200">
              <a:solidFill>
                <a:srgbClr val="FF0017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25400" dist="12699" dir="5400000" algn="ctr" rotWithShape="0">
                      <a:schemeClr val="bg2">
                        <a:alpha val="2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/>
            </a:p>
          </p:txBody>
        </p:sp>
      </p:grpSp>
    </p:spTree>
    <p:extLst>
      <p:ext uri="{BB962C8B-B14F-4D97-AF65-F5344CB8AC3E}">
        <p14:creationId xmlns:p14="http://schemas.microsoft.com/office/powerpoint/2010/main" val="345405959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0" grpId="0" build="p" bldLvl="5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7584" y="191663"/>
            <a:ext cx="8229600" cy="1143000"/>
          </a:xfrm>
        </p:spPr>
        <p:txBody>
          <a:bodyPr/>
          <a:lstStyle/>
          <a:p>
            <a:r>
              <a:rPr lang="en-AU" dirty="0"/>
              <a:t>Cell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All cells require  e________  and  m________  to survive.</a:t>
            </a: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744" y="2780928"/>
            <a:ext cx="4200525" cy="33139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863974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0423" y="254773"/>
            <a:ext cx="5457801" cy="1143000"/>
          </a:xfrm>
        </p:spPr>
        <p:txBody>
          <a:bodyPr/>
          <a:lstStyle/>
          <a:p>
            <a:r>
              <a:rPr lang="en-AU" dirty="0"/>
              <a:t>Cells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72816"/>
            <a:ext cx="8229600" cy="4389120"/>
          </a:xfrm>
        </p:spPr>
        <p:txBody>
          <a:bodyPr/>
          <a:lstStyle/>
          <a:p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cells require: </a:t>
            </a:r>
          </a:p>
          <a:p>
            <a:pPr lvl="1"/>
            <a:r>
              <a:rPr lang="en-AU" b="1" dirty="0">
                <a:latin typeface="Calibri" panose="020F0502020204030204" pitchFamily="34" charset="0"/>
                <a:cs typeface="Calibri" panose="020F0502020204030204" pitchFamily="34" charset="0"/>
              </a:rPr>
              <a:t>energy</a:t>
            </a:r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 input, including light energy or chemical energy (stored in glucose) in complex molecules to perform cellular activities.</a:t>
            </a:r>
          </a:p>
          <a:p>
            <a:pPr lvl="1"/>
            <a:r>
              <a:rPr lang="en-AU" b="1" dirty="0">
                <a:latin typeface="Calibri" panose="020F0502020204030204" pitchFamily="34" charset="0"/>
                <a:cs typeface="Calibri" panose="020F0502020204030204" pitchFamily="34" charset="0"/>
              </a:rPr>
              <a:t>matter</a:t>
            </a:r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, including gases, simple nutrients and ions, and removal of wastes is needed to survive.</a:t>
            </a:r>
          </a:p>
          <a:p>
            <a:pPr lvl="0"/>
            <a:endParaRPr lang="en-AU" dirty="0"/>
          </a:p>
          <a:p>
            <a:pPr lvl="0"/>
            <a:endParaRPr lang="en-AU" dirty="0"/>
          </a:p>
          <a:p>
            <a:endParaRPr lang="en-AU" dirty="0"/>
          </a:p>
        </p:txBody>
      </p:sp>
      <p:pic>
        <p:nvPicPr>
          <p:cNvPr id="1026" name="Picture 2" descr="diagram showing an animal cel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1840" y="4639329"/>
            <a:ext cx="3236774" cy="15226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121494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4464" y="517299"/>
            <a:ext cx="8229600" cy="900345"/>
          </a:xfrm>
        </p:spPr>
        <p:txBody>
          <a:bodyPr/>
          <a:lstStyle/>
          <a:p>
            <a:r>
              <a:rPr lang="en-AU" dirty="0"/>
              <a:t>7 Processes of Life</a:t>
            </a:r>
          </a:p>
        </p:txBody>
      </p:sp>
      <p:sp>
        <p:nvSpPr>
          <p:cNvPr id="4" name="Rectangle 62"/>
          <p:cNvSpPr txBox="1">
            <a:spLocks noChangeArrowheads="1"/>
          </p:cNvSpPr>
          <p:nvPr/>
        </p:nvSpPr>
        <p:spPr>
          <a:xfrm>
            <a:off x="683568" y="1412776"/>
            <a:ext cx="7805968" cy="4968552"/>
          </a:xfrm>
          <a:prstGeom prst="rect">
            <a:avLst/>
          </a:prstGeom>
          <a:ln/>
        </p:spPr>
        <p:txBody>
          <a:bodyPr vert="horz" lIns="64291" tIns="32146" rIns="64291" bIns="32146">
            <a:normAutofit/>
          </a:bodyPr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250"/>
              </a:lnSpc>
              <a:spcBef>
                <a:spcPct val="0"/>
              </a:spcBef>
              <a:spcAft>
                <a:spcPts val="1406"/>
              </a:spcAft>
              <a:buSzPct val="130000"/>
              <a:buFont typeface="Wingdings 2"/>
              <a:buBlip>
                <a:blip r:embed="rId2"/>
              </a:buBlip>
              <a:tabLst>
                <a:tab pos="721047" algn="l"/>
                <a:tab pos="721047" algn="l"/>
              </a:tabLst>
            </a:pPr>
            <a:endParaRPr lang="en-US" sz="2000" dirty="0"/>
          </a:p>
        </p:txBody>
      </p:sp>
      <p:sp>
        <p:nvSpPr>
          <p:cNvPr id="8" name="AutoShape 5" descr="data:image/jpeg;base64,/9j/4AAQSkZJRgABAQAAAQABAAD/2wCEAAkGBxQQEBQUEhQVFBUVFBUZFRUXFhgWFRYVFxUXFxcZFxgYHSggHxolHBYVITEhJykrLi4vFx8zODMsNygtLisBCgoKDg0OGhAQGywkICQ1LC0sLCwsLCwsLSwsLCwsLS8sLCwsLCwsLCwsLCwsLCwsLCwsLCwsLCwsLCwsLCwsLP/AABEIALcBEwMBEQACEQEDEQH/xAAbAAEAAgMBAQAAAAAAAAAAAAACAwUBBAYHAP/EAEoQAAIBAgQCBwQGBgcGBwEAAAECAwARBBIhMQVBBhMiUWFxgRQyQpEjUmJygqEHM5KiscEVJENTY9Hwc5OjtMLxVHSDsrPD4Rb/xAAbAQACAwEBAQAAAAAAAAAAAAAAAQIEBQMGB//EADwRAAIBAgMECAUCBAYDAQAAAAABAgMRBCExBRJBURNhcYGRobHwIjLB0eEUQhUjUvEGMzRicoKSorJD/9oADAMBAAIRAxEAPwDiRWCVxAVEBgUgEBSAYFIYgKiAgKQCApAICkAgKQCAoAyBSGK1IDawvDpZRdI3Yd4Ukep2qcac5fKmBtxcDkN9Yh4dYjH1CFiPW1N0XF2m0u1odgycFkX4ofWaNfydgaOib+WUX2SX3FYwODT2uI2Yd6WkHzS4onh6sf2sLM1GjsbHQ91cHdagRsKaAwovTYGSlK4BK1K4BIpgEigRgimASKYBIpgEimASKYBIpgAimIJFSABFMAmmAbUwGKQCAqIDApAICkAwKQxAVEBAUgGBSAQFIBAUhlnheBTPF1pXJEN5Gvb5KCx9BXeGGqTW9wHZm7gOFwMM3WGQd4IRPmA7HyIWq9WtRouz3pPqyXi/sFi6weHw6WsUU/Zj1/blzsD91l8qo1NpYj/8qaj/AOz8/sBZBIm10ktsXYykerkkVnVsViqn+ZOXp5AR8S4kIIXkIJCKTYWubd1cqNB1aigtWTpU3UmoLjkcyP0hRHeOUfsH/qrU/gtRaSXn9jYlsDErRrxNmPpBg5gWLRgj665XHlfU+l6gsLjKMvhv3P7fUo1Nn4mnJRcHnyzKjinS+P3Y1ab/AG3aT0z3kH4SvnWxh1irfz2muTV345erNHD7BxFTOo1FeLKaXpK4BKRwRW1uI+sPznL29LVdioLKMV6+psU/8P4SlHeqNu3cWHB+Ky4rCymZy5jniyXtZVkSXMABoBeNTUca70U3z+hgbWoU6Uo9GrIyVrKuY5C9TQBtTuBgrTuACKYBIpiCRTAJFMAkUwCRTABFMAkVIQCKYBIpgGmAgKQDFIBAVEBgUhjApAICogMCkAgKQCApDEBSAmwzlGzKSrD4lJB+Y1oU5RzTAsBj2Y3lAlP1muJfSZbP8yR4V0/VNq1RKS6/uO5vwyAgsGLKB2swHWRg6XfLYPHf4wBb4lG5rVsJCcXOhw1jx7uYxRdoBl0v8wdiNOYNx6VQlk3FgVnSziLLhjGTfrCAO+wOY/wt61awFGLrby4Gnsih0uKjyWZwrnTa9bq1Pbzdot20MvEyjtRuo78pt/CpW5MrqvTeTVuwcJBG48/9bVzle5eouLjdPv8Aeh1/BehL4iAyOTGxsYVYWDeL8wDy+Z0NQbtkZlfakY1Uoq8Vr1vn3FTgMa2CkkikiGrASwt2bst7MrgXVhmax1GuoNTylHdlmvNDxeBw20YJx+GXDl9vqXkio0fWwsXjuAbizxsdlkUbHexGjW0O4FCthnD4o5x5/c8Ti8HVwtTcqq31NIiuRVGqaUmwCy00wIWFSQBIqQBIpiARTAJFMAGmASKYAIqQBNMQCKYBqQDAqICFIBgVEYxSAQFIBgUgEBUQGBSGNRSbAWWo3AS0AbMetcmBvcLssquTZY7u5/w0Us49VBFud7c674NN1o29riThFykoriavQvHdbE6mwytmsNlDbgX5Aj864bUp7tVSXEtYzDdBV3OGqOb6Q8S9omJX3F7KeI5t6n8gK0MJQ6KnZ6vN++o9VsjB/p6O9L5pa/YHR/BmbExIPrgnyU5j/C3rXebtFmhiJ7tN+H38j3mLDADXWuSVjysptmrLwDCtIJGw8RdTcNkW9+RPf61Peelw6SVrXMce4kMNFmyGR2OWOMEAu5BNrnQKACSeQHM2BElxdkRW83aObOD6b4I4zD+0GHqZ4QM4DCRZIvvWBJXxA08qIVI3yf0NPBOpTluS0ffn+fXtOI4TxR4JMy2vaxB1R0O6uPiQ2HiCARYgEdvlzWnFGzXpU8XTdGuux8uvsOsMSuqyxX6pr6E3aNxYtGx7xcEH4lIPeBnYql0fxR0en2PBYzCTwtV058PMwy1UuVSCWpxAgIqYGCtO4AIqQAIpiCRTABFMAmpAAimADTEE1IAWpgMUgEBUQJBSGIVEBgUgGBSAQFRAYFIZKi1BsCZVqDYBZLU07gKJrGlJXAj6U43qMMIh+sxABb7OHVrj9t1HpH3MK08DS3IOb1enZ+Ta2Rht6fSvRadpyeCxjoHVDYSLlbyuCQPO1vK9dqlKMmpS4Zo3pYSFarGcv2hGtM045uyOx6HuMKVmMMszv7qxqLrGD7zM5CjMw0F7kKLVxklJ5tJLnzMraFdye5TTdssvN/Y9DwXSyByBIsuHY8pkyrva3WKTHfwzX1p7qfytPs+2piOMo/MmvfgX1REVHFcNnlVjsqEC+wubt88q/s1znd/CWaDUE5cTj+I9OoELxwxPiUFkeVBeEPIGVUz7e9kF/tEi9tbUMHLc3pZHB4veqKMNbo80cX207v8AKhZanrt1uK5nS9CJSWnX4DAWYfaV1WM/eDOfQsOdRrJdDPe0+vAw9v7kqEJPW+X1LWY2FYkczyRqGuwjKx99JyAwy00wIWFTTA+hw7SHKis57lBY/IV0jGUtEBCwpCARUgAaYBNMAGpAA0xBpgIUgGKQxiogIUgGKiAxSAYFIYhUQJENqiwNmPWubAmC3qFxmFjWMNLL+qjsWtoXY+5Gv2mIPkAx5VcwtJVZXei199Z3w2HnXqKnHicRxTFviJWkktnc8tFAtZVA5KAAAOQArW3rntKeHVGCpx9+9RpAALDfma4ObbubEMPGEHFa+/fZkbHDMKJJ44yTZ3AJG+W+tv8AXOht2b5FXEy6GD3dX7uXnFekGNwZeww4SOTIsThixjYFkdcgUFBZkvfTKoIvqetPD0KkFK7v9TykqmI6VxVss8+RPwnptNOIrYaGUzOUEUU9pgb21jcaA8rmx76ctnx4SI08dVkm926Wp6T0YxiyREKrRlDleKRckkTWvkZDtuCORB0qtKlOm92RF1IVPiicX+lbF3xGGgleRMI1jiBCV658xcLZSblF6s3O3bF7m1W8LGCTnLU5uFWpJQhFv3xOo4RglxfCoI+qWL6J8iKoQFwJFicqugLAq/maniK14bi1YQpqjiN7gmvz4ZnijIVJB0IJBHiNDVW98z2sHeKOu6K4fqsJJIdOukAH3IhqR4M7284jXDHTtSUOMn5I8lt6snWVNcM+9jka5vWalYwRxw8zScuCAy1JCIJDauiAvuA9HRIBLPfKdUjGhYcmYjUKeQGp3uBa5Xrww0byV5PSP1fV5vq1Atek2K6jCssNowSqWXsi0gck6c7RMpP26Nn4utVhUqTfJJLJK928u7V5jvkefkV3IgNMAGmATUgAaYANMQakAhSAYqIxikAhUQGKQDFRAkUUmMlCVC4GclqVwEptSYG3DJfzrlKNhlX0vxd5Bhx7sFw32pzbrSfukZB9w95rajDooKn3vt/B7bYGCVOj0slnL0OXxA1Hr/r8/wAq6Q0NLEK0179/glha9/P/ADNRkrHejNyub/Rc3xsTHbPYfskfxpVMoNFHE3nGU+F0j19+jkGJiXrlzHQg3sVO/ZPKuFG8M0zBrVpb1gcM6GQQYz2sF3lzM/byW6xr9shVFyLm3IX2q0sRK+882cp1b0ehilFcbLN9rOiZbuXOrEWLc7A3A8hc/M99RqVpVPmK8KcYaGvLBE7gtGrOvus0YJUeDMNB5VyUnodbNK9zaXfTegg9Dw7pTD1/FZ0gUXfEFUA2LEgE+Avc3rtCO9kj0mGq9DhFOb0X0L6ZASkMN2RAscdhq+urW73cs1u9zWbiJ9LW+HsXvrPEV6sqtRzerNvGYKNBFkIf6MlmGql87qcveoyix5786jjKaouMFra7ITg4Oz1NVhVNESx4FxwxuImI6snQns5WO12GuUnQ30F7jbW/SqTdN0t619HyfDu5gmW2PigldVmjAuwBcAJIpvsSN/xX9NKq4bEVnW6LEq+dnlZrvWvuwBbFlp2U6ZNCo+uTYKB4AbeIqjiadSdSTkvibeXZw+i7BlF0sxuYrEDcqSz+DWAVfNRmv4uRyrVpUv09FUuOr7eXd6iZzZFSEA0xBNSABpgA1IAGmINMDIpASCkMQqIEgpAIVEBikMlSosCdBXNgTKKgwEYL7aUt8CTAJaaPNt1iX7rZheu1Fpzj2oZyXEievlze91smb72c3/O9a1X52fTMFZYeFuSNDE8j6fOiHIWKWkveZnDneiY8M8mibhk/VNG/1GVj6EE/zpTV20c93ew271X+p7lwnF9kd23+X5VUpyyPOYinmWLykhjHldh8Ja3IGxIBsdQduddkVbcygm6QMzdWJsLhZAbMuI60uPIEIp+8Cwq1DDwkr7yJ7jWe5KS6rW8rkEzdW6dbxQzlmB6rCogAA1JdgWITS1ha9TnSpxjk7s604VKi+GjurnJvy0z8S/45xVcHh5Z2PuL2R3udEHz19KprqOFOl0s1Dnr2cfseXdEuESmNsV1bs82dYiFJAUkiaW9tL6xg32Mh5A11qqcKdoJtvJdh02xi72w8O/7B4txQYdTHCweZhlaRDmEYOhSJh70h2LDQAkAkm68cPQ6LX5n5fknszZDt+oxCtFZpPj+C6xiCHLHe/VIkXmY0CMR4FgT61nY2XSYiVuGXhkYFae/UlLmysmkLeXdXKMUjmRrETUnJIRZ4TGEWjlYtEeywazZVOl1J1GX3gB3VZpYmTajN/Dp77B3JZBJFFiO0wk62NXYMcx/XBxm3tmtf0qcZ1Iqpnmmk/MbKBxVdESFqmgIzUhBNMCM1IAmmADUgBTEJaQDFRGMUgGKiAxSAYqIxikBIhtUWBPHL31zcQNqNgdq5STQybLcWNQvYDm+mWGyYkyD3cQOtH3yfpR/vMxt3Mtei31Uiqi4+vE9vsXFdJh1F6xyKBjcUI1JNSVmQo+U/61qbV0V4TdKWZKGt5bio2udlLddlpqvfUdbw7pmYMKqKM0oGUE+5lHuseZIFh6GuHQvfvwKE8Mpy6uZ23QhJVwodyWaRjI5O5La6+lh6VFv4nYzcQob1kWPF8BDi1Czx5re62zr5MNfTajeZGhUqUZb1OVjR4ZwODCXZAbbkuRYW7zYaU+klod62Kq1speR59096U+2yCOInqYybH+8fYt5chXenC2bO+Gw+5nx9++3sRz0U2Vctzl3y8ie+3f403vPK5rU1RhaTir9mZfdEsI0k3tBF1gIKC18028ajvsRnPglviFF+ig58eHW/wZG3NoNU9xay4cl+S7EbOb7+JrBckjxhKuHA31rm5tgZcqqSSOSEijZ3KjM2VeSrcXJJA3A11IFzVnCYd16m4nYaVzbw2EaRY3jjgCMVJ6x5JWMZGpBjKKH5WsR4mtFU8NC63W31vj2I0obOuk2yyaJi5zWIcnOCqkFb3FwdAQQuu+/fVZVZrEybjeMl3ZWF+i/nbrT3eZX4nhDG5EcDADYiaBs19s+dk2trkq2nQfzQt2MnPZq/ayhwuE9piMuGSRlDvHIhAZo5ECllzJo4IYEMLX10FqK+ClCzhmmZcoOLsaJqkQAakADTABqQANMA1IQlpDGKiAxSAYqIDFIBrUWMmVag2BIIqjvALqTS3kBnKRypXAmjmI8fOoOKYyTGwLi4TCbK980LHZZLWyk8lcAKe4hDsDV7AVd1ulLR6dT/ACXsBjHhqqlwep5/OpR2VgVZSQVIsQQbEEd4Nx6Vpbp7RVU81o812P3YjJp2E5J6lvwHgD4xJRAwMkYz9UxsXTZijHS6nLcGws2+ldIw3tNSnXxX6dre+V8eTOl6AdAXxrl8QGjjX4GUhpDa430ybX5nbneutKhneRQx21FublJ5vidzgsCO1mUgr7wXRgQbNtuQayJU3GbT4B0+9GLXHmWEXDlYArJIQdjnJ/nTUes5SrSTs4rwNPjHQ72xDGcVMim2mjLfuYHW23P+FXsNSpzWeqK7xtSlK6St2HD8V/RDjIrmJo5h4HI3yb/OrDw74MuU9sU388WuzP7HLYzorjYTZ8NKNbDsE3J0FrXuTXN0pLVF6O0KEl8Ml35HoPDXkgwogORLizJGBlQE3ZTJqzyMbZ2vl0CqAL3zNoY5RXQ09eL5dX3PMYytGpUbjn1vj9ka8jhdzasRJspmpJiu4fOuqp8wJeGMesEjGyRkF9L5gTbqwPiL6rY6WJvoCavYSO7Pf0Uc2/fMEebwcReGSQRO8IueyjEAWY6WGh+XKvTbkKiTavcsQqzh8raLfhXG8ficyx4h8yqzm+QCyi5+G+w2qnif02HipTjq0uPHvOjxdZfu9PsdBwnCticKryySSmaGcAO1wrqoKZVGl9W+VYuLxTp4hxirKMo6cVfO/kcp16kvmky34IVXDYQhQBBh4XAAA7ccAxMhP2mm7DHckC9XcRVc8clwgm+/3Y5PU5k1SOYDUgA1MAGpAA0wBTEIUDGKiAxUQGKQDFRAkWosZOlQYE6VzYE6VBjJkqDAXVA8qW80B97IDtp+dHSMBYjgUGLze0ZhL1eWOVASWYFcnWIPeIAy33INtCAa2MHtCEluVdeD5/n1L+Hx9SjHd4FPxz9G2JjDSYZGniG4WxkUj3gBoZFBuAwFzb3RWtOg1mjZw+1KcvhqZPnw/BF0H4C087RpKcNjYyHiSVTkkC+8pGjKRvzuCdNL0qUc+TR1x9ePR3aUoS1tqmuJ7fwQSiRhMAkjWcgEMDdQjWItftKTsNGGg2F1HmJJJ5EfG8OscnWp75F3QfGikBmA+sLjz27qr16CqK/E60qzhlwNL2UXzxtlJ1NtUa/Mr/MWrI3bM0lUurSzXvibkDkb/lU4TcXdHCpFSRb4bEXFjvyPfWvSqqorooSjuspcROZ4pddfpAvhlJCEeqg+ddSJxnSHhsinOvusAzAaAFtQw+w3LuN15AnzO0cEqMnVivhfkyDVik9jPMiszpURPvZR4mjpGBYYbBF4QFH9ozDxCoqk+Y6xQPvtXedVQwnxcZfQZy+P6HC7m4XN1mpjBIMjZicwI1GwvsCatUNsNRSte1uPJW/udFUytZe/eRscC4X7PiQy9XrnzBUZQEbLZbliLCxsPE1zx2M/UUbNNW0zvn4IJzUuCRvcK+jhhVBqZWeJBzUgqo82LKLd58Kr1Yyr15Li0ovtyIN3ZnH4kRRCFbFsgRrEFUUFSQCuhdiouRcAaakta5GCoqWd5y1fLqX1ItlEaiIBpoQDUkADTABqSANMDIoAYqIDWogMUgGKiMYpMBiogSLSYEise81FpASLKe+oOKGSriG76i4ICVcU3hUHTQFzg8WmHcdaGL7ER5for76s4+ktpYe6WuTcWr1Gyf8AD1Z2ryXYn6larjaFGW7N5nY4XpxhAAtpIwAAB1ZYADQD6PNpW69n4hftCO0sLL9/qWMPHcFOy/SwlgeyHsrg/ZDgG/lVedCpH5ostU68J/JJPsZt8RjJyyR6vH2gProfeT1A08VFcjoaeGijxTyub6dWEYaMvYzXU8jdyCOdrGgDX/ouWEm30se4y2V17xlOhHkR4C1gKdfDb73o6lilW3VZkZlvcIMzDeNjkk/ZYf5VRnSnHVFmFSD1ZPw+RpIsxsrAm6fEncH+1bX1G+5dKco/EtSNaMVLd4c+fYcvi+I4nBmSQxLJh+scMRcNFc5+19khwQ1ra2Nue/hoQxEVaVn16GTiKk6Lvu3XG2v5Njo/0kjxca4fEBYpAMkMm8cg2Cm+zEAXQntaFTf3euL2fKEPiV09ThhsfSxDcVqVHSLhr4ZiQvZ563KX21tqh5N6Gx0rxeN2a6L3o/L6FpqxRLOzEKq3JIAA1JJNgBVKNG7shHVYSPIm4IsFBGxAJLMPBnLWPNVQ1W2lUTqRoR0hl/2evhoMrOKPZS2ZlsDqCLWGp0II5d1cqCu1G1/fiBXY940LRuZWdRlkydWgLgASAMQbC+Ye6a3ZUMNSlbNtdeVwNOXihH6tRHpbN70pFrW6w6qN9ECjXamq26t2mt1efiK5WmuIiM1IAGmIDVIAGmgAakgDTAyKAGKiA1qIDFIBiogSLSYyZFqDYEyIK5tsCZIx3VByYyZIx3CoNsCZUHcPlUG2BuYIkMSoGcJIY9v1ixsU3+0BV3ZcYSxdNVNL5ileztqUcTSOLrE5HI87eNzevpMtv7Op/C6iy7fseYlszEzbk9X1k8OEnc2WCRja9gMxt4Bbk11obcwNZ7tOomyL2ViOXoGfPEPpY5YgfroyD94Cr0cTSno0cJYKvDWLJuG8SaI3hkaP7jFVPmo7LeoNRqYejU1iiVPGYmlpJ9+Z0nBOlc0DuzKsokILf2bZgLFgVGUk8xlFZ9XZUdabt2mpR209Kke9fY7PhXSzDzkLmMUh2SXsknuVrlWPgpJrLrYSrS+ZZczXo4ulW+R93Et8VhUlFnUMBtcag94O4PiKrtXLJzPHZkwpzjERh1GiSOOtK75N7uvgdRuDyNeeBlUzpLM7RxMILdqv4fTrXX6mphemeFDMx6yzxrmUxPowJ07QAOjb7aCreE2dilHOFvAo4jaOFjK3SJ9aOG46YOuJwsbCBwc8T9WFQ/YGf3Dr2eVtNDYeiwqrQg41llzPPYx4epNToStLvX0GnHMRImRTJN1UbPGWN7Itg6OdRILEaEklb32Bry22sM1KOJoT/l6OOq9+nA2tn1KtZ9FP5l593MvMLwtVkJC5SVBAubxqy9sg73zZ0U79l23UX8rjJLBb046vKC5c33aLrLehs4t+Q07gNAByArz1NCKuZA7xodmkRT5M6qfyJrU2fDerxXWM57F9t2cnVmZj5sSf51cnU3pOXMiarR0JgRMKmgIzUgAaaEA1JAA0wAakgDTAytADFRAYpAMVEBikA1qLGToa5sCVXFRaYEgnFR3AF7QeVLcQz7rmPOjdQG1DKYIp5ygbJGAoa+UtJIkZBAIv2GlNttKuYK29KXJeb/FyUdb2vYuJTKVVWj4cLItuxiA4GUEdpVvex5Gt2Gx8TVgmkmn1kKu06MZuM2r9jKnH8QxGCCyExOpZgpQyXR1UEAlwDbUG+p0OtZWL2NPCzjJ/C+FmRp16dZOVN5e+Z0ON4xjplCythF7K5ltiLi4BIbKpF+Rt416ClhMbOCkop36znPHUYScZSzXUyh4nEc8PWRYVhNMI80IlRwbrfU5eTjvonVxmEnGM8r9dwi6GJV0k1pobS9GnD5YpgCb5FlHZNvhzqND+E38LVq0tqSWU1cqVtkU5Z03bzRpcUaXDfR4iHIzkKpYZonubXBBs2mtgb99q06eIhWXwMyZ4OpRleayV3ddSvqfDFYnqBmmkMV9E6xgACco7I+G/wkm1edw22MJV2i8L0Wd2lLrXVwNDERxMcNvqpayvbj/5c/A1EUDYAeWn8K9ekloeclKUneTuBp1HMfx/hSc0uJJUpvgZvmAIsdQddjY3sflVPaGFeLws6MZWclqdsNV/T1ozktDouiuIL44SZQMsMlwDe4FhqbbnOB6V43+FVNmYJwqzu5SWS0Vk/bPU7PxMcViG4LKKefa0XGE0iVibs4DsbkjtAWUX+FVyqPBRXz7F15V67lLhkupIuTm5ycnxNLEPc0QVkI1QbSoe43/YVn/6a1dl/wCen2+gHNk1OxEhc1NAQPXRARGpAA1IQGpgA1IAGmAKYjK0AMVEYxSAYqIDFIBiojGKQDWkBvNgCgBmZIARcda2VyPCMAyEeIWu8cLUeby7ftqOxtQ4CMi+eRh3rhcQV+fV11/h8mr73kwsSYeKNmyxSxs/1DmikPgFmVSx8FvVWpgKvBp++uw7G70gwRThUxYENeNiCLEMZUVQfEKGP/q1Zw9Lo6aTWbzf099ZZUd2g3z9E/q/Q2MYCWAXUkRADvuq6V9EwTSwsG+R5DGxcsVJLi0RNw8YpeqO3WRSfhR8sn/Ckkb8FU9s4fpacWlo15ljZVXdnKL4q/h+GOaQuzMRuST4FiSB+TfKtWCUEoLl6GdUbm5VOv1NbGYYSnDKSyj2idroQrgx4dZBlJBsbqNbVg7Yp9JiKUL2v9zZ2XLdoTlyb9ESeyo182IxgIGZfp1Ylgy6DsC2hJvytsdqJ7FmrWqPMcNrRad42t1kWO4Q8oQifELBcmQSSmcmRWBQIpsM25udBbyB4vAV6eKUKM3kr3Z2/V06mH36qyeVtb+hF/ROHtb+sHXf2gDU8wBHYHXuqzHYcVU6VVGpv9yyefXqUntKLju9H8OnV6WK3iuEOHGdXaSEkK2YASxMQbZraMpAazeBFhpeUsZicDUUcQ96D48UR/SYfFQc6C3ZLhw9vmjWQINQvqdT8zW/FwtdGPJ1Xk33f2JonaQ5YkaRvqopc/Jb6eNRqYinTV5NI6UcFWqytGL99bO26F8P6lWaS3WyW0uCAg1ABGhOtzbw3tevC7U2ksZV+H5Vp19Z7rZ2y3gqXxfM9erqMGQIWh5xaDxjsChHfYEKfEeIrw+Nw/R13JaSz7+K+pCvSdOWej0NMmuRyIWHbHlL/wAvNWlsv/O7pegHJGrBEJanYAMakgIzTEA1IAGmADUgAaYBqQj4UgJBSGIVEBikAxUQGKQzZweHaVgqi5N+dgABckk6BQASSdABRGDm7IDpOB8MMmsBKR6g4rL9LKRowwwb3EGo606931asVatDBQ35vPzfZy7f7EtDpMLgIMIpZQqW1eQsM2vN53N7nzF+QrIWOx+Nk1h1ux5/eT+gZkuE4tBM1o5UkbuWQM/oL5j6A1zq4DaUVvKbl2SdxWZNj8Gk8ZWRVlUjZ+0LeBOq+akGqeH2viqMrSk5Linn+UFzh+L4hkwePwrMziF4GjdjdzHI8ZVWPMqMo/7V6+Wt+f2LG+3ScXwt6ltHPbFwD7eG/wDrr29D/Q/9X6M8vW/1y/5R+hp4zEBJDkPZOqEc4pF7Pzje3rVqhNVqMZc7PvX5KteLo1pRXC/g/wAM25JAuDU/E0mY/dIZFHzjY/irlCpvYqUeSXm7nWdPdwkZc5N+VvoakMmY4Y/42L/5IVn7S/1dH3xLuzv9NU7/AP5QIsSO2SLhI5XK3IzdXGz5bjUAlQNK0sbWlRoSnHVGdg6MatZRlpmfcC4rLjojEIgHRiyCNXCuGADjMzEZxlUgXFxfmNcPZm03Ko3XevE2Mbgt6ko0Vo72N3+ksRh0MbB0Q3ukkfYNzro621rddKhVlvqzfNPPyMlVsRRjuNNR5NZeaKvpHiWxOGkynq+qCs0aALFIgdVuUGzqWU32IvpcXOHtrBuNPpIybXFN3NTZ2L6Rum0k9clYrcBg0KXY9lUuW20te/yrfw1OMMPBXvks+4w6tSUq8srZvItIoeqiEeoN+scXsRI1iAbHdFCL4MrEb1872/tCVXFOMHZR9T1OHpdFTUPHtL3hXEOs7Le/vpu3MsoHxd689xrcGrSqquv93Hr611813m3hMXf+XPufPqf0ZLjcJ1smY8wCGU2N7Zbgjwt51GcN92ZouFOdLcksvQgxHBpUGZZVIJAAcZT3klhcWABJ7OgBrl/D6cslkZFTBpXcXks8ysXHICCzqbB9EEhJLRugHbRQPeqWHoUaE3PpL5NWs+KKJzrqK5JkSBhU0BGakADUhBNMCM1IAmmADUgBTEZFADFRGMUgEKiAxSAYNRA6fhHCesYwG4VQrYwg2LE9qPCg8tsz27j9QXt1JwwlF1J9/W+Efv8AgmlY7lisSfCoC72sqKqknQbKqg6dwryMOl2jikpPXwSX0QtTyLpJxxsZLfURKT1SHkPrN3u25PoNABXroxjTiqdNWitPv2kipViCCCQQbgg2II2IPI0J2zQHoh6cRrhUJ+knZO3GAQocXVjI3JWIz5V1Ob4aqVNnUJ4j9RLj+3r5v1EVfR/hE+PSd5JciYl1ztkzvI6vm7IuAqBiNu4AA2NrzqR3oqbzk7Je+CJKWVuZYCeI4uGX2jDhFMBYGUBwEC5uzvfQ6V6yltHDxwvRuWdmjHqYKrLFdKrWunrysQ8M4VNjMLA0a9pI+rfMCvuMQhva1shQfhqGy8fTpUN2pw6gx2AqVqinDkPHuLzwtIkTRywqgmbqiY44cmYBhsWBP4q54PH04YirUqu19Dri8JOdGFOHD7EOHxEcZwytPCT12JJKyBlUPhQiljyu2lRxuNo1MRTnF5LXxHhMNOlRlCWrv6WIYwqCYmeBs0GIVVSUM7M8TqoVRqSSQKs4/aOHrYeUIPNlfB4GrSqqcrWz4knAcNimw/UPDiY1DFopOplKdq2ZHCqTa4uGANiTffTM2XjHhm41Iuz6tC7jMLKvFbrs14d5utxHGQqYGxMKoBlKviIAQpG2V2EgFuVq23isBvb7av3/ANjNVDHxXRp5aarT1KPFYlcjQQuJpZrK7rdYkQMHIDNa5JVbtYKANCb6Yu2NsU6tPch8q1fMu4HBdBeUnmbmClijaKNpEk7ceZIg8zMim5FkWxvYC1zvTX+IOlhGhRpSSslvSstFwjdvM44fZzjW6Wo+Ldkbq4NrljHjzckljgm1J1J/WX9bV56ez993cnf/AI/k1rBiw5k1gbrcrAEIGEkbcs8ZAdTpva2m9VJ4KrTleGfZr+AsW+F46q2VrzSgnNHh1MzD7R6sFFJO65t9dNRWiqU5RTkvi4peuWnWjQo4y0bT15/f7kPG+LmdWjRJIpSDaKZGilaIDM5jB0Ym1iAb5VbQ5jYnSnuO2v04++Ryr4hShux7/fvyOdiw5splYRh/cBDNJJ/s4kBYj7Wi+NVKeDlPN5L3oU7E2K4cEF3M8IJAD4jCvFESdgXBa3qBXd4GyyfirBYqsXC0bFXFmHLQ7i4II0IIIII0INVZQcXZiNYmgAGmIJqQANMAGpAA0xBpgfCgBikMYqICFIBiogWHCSFZpWAKwIZCDsWBCxqfAyMl/C9d8PG87vhmNHofRrAmDDoH1ka8kpO5lksz38QMqeaHvrB27iHOqqK0jr2v7aDZVfpC4j1eFyA6ysE/AtpJPz6keTGrGw6KjSnV4v4V6v6DR5jWwM+oA+oA9Z6GYyOTBxKtiUUI681cF21HLNqwPnzFYm26VTehXjokl2PP1Ey9z67ubWuQzm172ub+B+VVKFbaWITVKUnbrFmYJB1IudNW7R1Fwbm/I1UxkcTCe7Xbvrm7gcL+k1VthzzzTAfcCwm3kGZrfeavR7LlOWDW9zaXZkNHLcC4O+LlyJoBq7kXVFva5tuSdAo1J9SLzcYxc5uyWrGepcE4LFhAFhU5yNW3mfzZdQPsrYDx3rCq7SxOJl0eETS6vmfa+Ar8i3fAMFLNEAALksUGnjrXN7ExzTqTduLvIN1nJ9O8KsmDZ2WzRBWQm2ZQZEjZfukSA270Heat7HxNSanSm95JXT5ZpW7MwRxfRno8+Nc6lIlIzva5J3yIDoXI9ANTyB1KlSFKDqVHaK8+pdYz1DhPDI4B1cEdtNQlyx8ZH3b1sO4CsKWMxuNluYdNR5L6v2hZs3p8E0a5miAH4Lk+AB3rlV2Pi6NN1ajSS/3BZnEfpHw46pJhdXziNjfVo3V2ysRuAYtL/W8BWtsvFVK1Bqbu4u1+af2sCL3ok4bAwaAAxC6gWUlXdMxA0LHJck661R25XqxnCEZNJx072gZB0swjyxxLALSDERNG2wjIWZncnkoCqT5DfSrOwpTdGe88k1a+i1uCN3hXDUgJJYvM+skzfrZCfzVOQQchrflVx+1qtW8cPdRWsuL+y6hXN5oUbslRZyqsLaMrMFZSOYIJqhsytUhioWbzaT60wWp5bK18NAb3yPPECdzGhRk+XWsPIDur1mJs1F9qBmkaqkQGmACaYBNSABpgA1IQaYHwoAQqIDFIYxUQGDSAuuEYcOkMZ2xGNiVh3xwjM4/4yH8Iq7ho/D2v0JRPRmlvrzOp827R/MmvDVpurUlN8W35gef/AKR57ywJ3RM3q8rL/CNflXrMFHcwlNdr8WM57gfD/acRHDfKHbUgXIUAsxA5nKDarUFd5jPRo+imDSwMFzYfrGmzeejqP3bVjV9q1qcrdEo/8r3+grlX0v4PhYsI7pEsbhowhUvqWbUEFiCMqudr6Crez8ZPFKbnFK1rWvq+8EbHQDAmHCtIwsZmDDvyIGRD6l5fkO+q+2J/yoUVrJ37lkvG4Mq+l85xmLhwcZ2cBzuBK5Ab0jUAeeetHBYboKUaPHWXb+AsdyWVQAosoAyjuUABR6KFHpXlMZV/UYiU1xeXYskI836e40y4vqxqIVCWGt5CS0lvHM2X8Ar1lKj0VKFJcF5vNkjueA8MGDgWPTPvIe+W1m17l1QeAJ+I1hbYxO/U6CPyx165fjQTOn4FOtrJYWAM0jaG52Rb93fsPM3rf2Q6UaSjStonKXXy7vLtZKJjjPEhJZE7Qvy1zsNgveBvfvA8apbZ2h+pthcN8V9begpPgebdLOK+1OmCw5Ds8iiRgbrmv2UDDcAnMzDS4Fvd164DBfpqe5+6WvV1fcVjqsJhkw0KxxbIpy97X1LH7THtH0GwFYG0cV+prWXyRyX1feJnU8KxKBCVISFdMzWDSNzY32H5nwtr7PB1KUaf8u0acePPm+zzfUtZoreL8Q6xtPdUEi+mnxO1/dFuZtYX7687tTFT2jWVHD5xXm+fYiLdzynprx5cS6xxG8cZJLcpJCLEi/wgCw82POtHD4eOHpKlHPi3zYHecGi6rCwIdCsUd/MoHb952+VYW2pb2K3f6Ul9fqJm4MQAhvYDMzMzaABQCST9RQuY+Nu6nQc6tGODpfud5Pq9q4+ooejfGWxc+IYFhAgRI0OmYsxfrH73IhP3QbDx1MfGnQwEqdNWWS7Xe934BwLfG4zqo3k/u0d/VELL+8FHrWPsilvYqL/pu/BZeYkebzrkw2FT/DaQ+ckjW/cSM+tekxLyiu/xBmkTVYiEmpAA0wAaYAJqQBNMQaYGBQAxSAYNIYwaiAgaQHRdH2+k4f8A+bxI9TFhgP4rVyh8iXW/REonavJrXh0sgOE/SEv9YhbkcOLfhllBr12GlvYam1yt4NjOagmaNgyMUYXsykqwuLGxGuxNdk2ndDPVuDxGLCQK183VqWvvd80pv/vbelYO2Z72IUP6UvF5iZSdNGZxhoUQyl5HkMYvd1jUKB2df77bWtLZVJxwyyvvNvuXtghYjj2MlUrDhDheRlkJVIhYDsFkRUsAAL5iANNaurCxVV1t34ucuHZolYYOjPBUixr2bP1ECB3sQDNOt2yg6gCMyDXW6351zx81QoTktbW75fgR0suLCBpG2RXkYd4RS9vXLb1rzmzKCniIJ6LPwzBHCdEOETYjEpiHW8ayNK7MQM7JeRsoOrdoa20FeqTtLfl1vttmM72WSxI7tPlpXh85fE+OfiRKri/SGHCnK5LyD+yQAstxcZ3bspy0sx7wK2sPsjJSru3Ute/l5jscfxrpbNiAUW0MbCzKpJZh3PIdSPAWHhWvSp06Md2lGy833jJ/0fYbNi8xB7MMjKfFisNx5dYfUUq83ToVJ9Tt35fUDvWlufM7efIV5CFNtqK1IlLxbpXDhmKi80g0KxkBVI3DSkHXwUHzFb1HY8I513d/0r6v7LvHY47jXSSbFAqxCR3v1aXCkjYuSSznzJ8LVqQUacdymkl1fXmM0+E4Az4iKIgjrHQH7hNy3lluanCN5JMD1vEzXbu527rm9vS9vSvH4ip01WdTm2yJz/SSVpmiwUZs09mlb6kCnNr4HKznwRO+vR7KwnR00/3T8o/nXwGjPQeER4LMP7WV2F98gIjS/qkvzqptqdoU6S43l9F9QYemuLyYJxzldI/QHrW/+NB609j0rQnU7F9X9ARW8S4eJGjtHPCZEC4frcmWTqo1AQqpzRsVykZr3LDa9626tGM3da/jTqBo5oms8gEmmACakASaYANMQDUgDTA+BoAYNIBA1EBg0hiBpAWmDmb2din6zDyx4hPIHJJ+fUnyU1ZoS+FrisyUTvGxKyKksf6uRcy+A2KnxU9k+KmvN47DOjWdvlea7H9tBlfxjhiYyMI7ZGQkxyWuBmtmVhfVTYHTUEc7kVZwONjSj0dXTVPW3dyArMB0HRWDTzK6gg5EBGYDkWexAPgpNXZ7SwsFdNyfJJrxbA6bE4nO1/8A83NzpyFztXn5ylUnKpPVu7Ec9xlv625/uuHgL5zSWJ/47/KvVUEoYaNv6fV/kfAqcEvWyxoxJzOi6m9gzAfzqrC85qLZE6Xo3NmixUvOXGT38lEWUeglf51z23NuEI85N+Cy9STN3sOrpILo65WFyumZW3AvY5bG3InUb1mYPE/ppue7e6tbQAY7j8eFmhh7KmSyOLACGBlKi4Gi3JUheSgk+9W5g6VRuVXEP4pqyXCMX793GibEkh2B0Nzcdx5j+VeZdNwe7LVZeBE53j/RdsVM00LoC9jIjkrZ7AFlIBBBtexsQSd69JSx1GrFOclGXG/0YzHDuhCRkNipQ1v7OPMoP3nYBreCr+Ib1zq7Sw9NfA999Wne2Fy/kx0aYvDwABWMUyqgAXIrdQ8SWG2YwtZd+2D8V67KFevhJxrfNK7S5aWXl9eIxLMVYEbqQR5g3FebpycJKa1WZE5fiPQt5JWfDvHkdi2VyyslzfKbKQwHIjXwFelWMw1T4t9R6nw+4ze4V0NihIbEOJm0tGARHfxBs7+RCjz2qtU2nSjlRW/Lwj92Fy1WNZeINLoTh8OImOmksjSErppdIc6m2xIHKu2Jq1KODcqrvNrd75N5dy8NBk6OGa7HKurO31UALOfRQTWDhMP0tWNP3bj5COYwOMLLi8UezJiIsT1Y+pAkZUAfiMYH+wNewg7aZXv4Je/AZ0HDiFweFA26mM+pQMf3nevNbWu8TblGNhE6RRyGPOpd45C0Q3Gdgqg5basMul9Lm9janhcbOjRdKlG828nyvlpxfICh4vxMS4wMpBjwQeR3Bur4h7BVDc+0sa355XbatvC0ugp2k7tXcnzk/a9Q0OPNViASaYBJqQAJpiCTTABqQBvTAwKAGDUQGKQCBpAMGkM2cDimicOtiRe4IurKRZlYc1IJBHcacJODugRecLxEkIZsIvXwMcz4ViTLEeZW3aNthIoIIAzDS1WJU4VoWtdcuK7PfaTWZtL0swvxLiIzzULHJY92YyIf3RWbLZdJ6Sa7r/VegGU6TJIcuFw02If7WijxKRZiR+IV1pbMop8ZPwX38wJG6RyMbHh8+fYqrMq33Nk6ksBcnS586m9mUXNy3JZ8E8vT6jNTEzytJJLiVSC+GaGOEEmQgtnW6klgA2pZ7bCw5VbajTp7ryVrJcRMp4ZijBl0KkEHxBuKzovdaaIl1hcXJC0rwRHEYaZusaJSeshkO47IJW22YqVYBeY0v1aUMRHNXWuWqfvuJk39NYiQH2fCND3zTtmVPEMyIgPmCe7WuVHA0qT3oxz5y4eSQFYuHgAZJCZmkuZMTqWV73BiDEEqD7xaxe593nN4impbuvN9fV7zFcsMPxLEwoBJD7ZEoAWeJjmCjYMwVrWGlpEDDalWwtOut6Ub9a17/wAq4zP/APVQnRcPiC31c6j8whP5VV/hlD/d5fYQpeKYth9HAmDU/wBrMTnHipkA/cS/dVqnhKdHOMbdcvfohlR7JhzdTI5lJze1nNYSXvbJ72Q83PbvY2Fipl01Petf/t1/YVy3/prERr/WcMZh/wCIhawfxZlVkY/snv1rnXwNOq96Uc+cePqhhHSmJtI8NiHb6udR/wC2Nj+VV1syhw3n4fYRnEYvHSqRHEmDBViMzhJ3FvdUyHPc7dkKKu0sNGl/lxUXzevn9BkHB8ZPgoOqfATMMzMXUst82Xc9W66BR+ffUa+EjWio1IvLPJ/hgPF8QnxMTRx4dsLG+ks8zEgJcEqGyILGwuoBY7DxVDCQoXcU1fVt8PBAaHt6CZbBjAqGELoGMJRkY92dg7v4M1Lpl0u9wWXcRvmb2Bx82FiEbwtioFJ6meJitlJJyk5WA1JORgGBJ1tTr4SFdJyTdtGtbctGSFiuJ4iaMhIvYoWBDzSsS7Kd1Vsqk3Hwxrc7E2p0MLCgrxVut6934QFVMUMQjhuIkBck2VpHGhd9xexsqg2UE63JJ4Va9/hWl/Hr96EXmar4UAHXbPz3yAHu53riqjfl5isKXAgXHu2Qte972t5W3/Koxq+tgsZ6kIultGYE7k2iLc9P+1G85Pw9bAa5wQva527x9TOeXdXTpXa/vWwrEuHhVQCLaOtyd7GPOPAcqhOTbt1fWw0QvhusGYk6Klzf/DvzH5X51NVNx2tz9RWKurQj4UwEDUQGDSAQNIBg0hiBpANGIIIJBGxGhB8DS00Ask49ieczt945/wA3vXVYiouI7sGI4rNIMryyMv1Sxy/sjT8qhKrOWrYXYPbpMuXrJMv1c7W+V7VHpJ2tdhchBrmIQNIY0cg3BII2I0I9aE2tAJJcSz6uzNbbMS38acpSlq7gHNXOwGYpSpupKnvBIPzFTjJxd0wNz+lp7fr5v96/+dS6er/U/ELs1Xe5JOpPM71ybbd2BHemBLBiWjN0ZkPepKn5ipRlKPyuwEz8WnIsZpiO4yOR/Gp9NU/qfiF2aRNQzAzHMyaqSvkSP4VJSktGBiadnN2ZmPexJP50OUpasCImkIcOIaM3RmQ96sVPzFTjKUdGAJ5mc3dix72JJ+ZocnLNgTYfFKLZgbqCAVtzN9jzrlKm3pxHcE+MPws29yTYE+GnIfzpxpLikK5mPHC4Lg3UEArYbm+1rX/1ak6T/b5juRTY0/CWuTcsbZvIEbDy76nGkuPhwFcj9vfvBHcVFvlbepdDALn0fEGB7Xa8bANtoAbaD076HQVsguQyY1zoCQNgByFrWB3t/GpqlHVhc1a6kT//2Q=="/>
          <p:cNvSpPr>
            <a:spLocks noChangeAspect="1" noChangeArrowheads="1"/>
          </p:cNvSpPr>
          <p:nvPr/>
        </p:nvSpPr>
        <p:spPr bwMode="auto">
          <a:xfrm>
            <a:off x="155575" y="-1828800"/>
            <a:ext cx="5715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pic>
        <p:nvPicPr>
          <p:cNvPr id="69639" name="Picture 7" descr="https://m2.behance.net/rendition/pm/5488103/disp/2d031506b2f8342e296ce82c335f57c0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7053" y="764704"/>
            <a:ext cx="2484275" cy="1656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6EED479-3FDE-CB95-3F83-3D8EC9CD5A94}"/>
              </a:ext>
            </a:extLst>
          </p:cNvPr>
          <p:cNvSpPr txBox="1"/>
          <p:nvPr/>
        </p:nvSpPr>
        <p:spPr>
          <a:xfrm>
            <a:off x="315616" y="1505110"/>
            <a:ext cx="608295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Calibri" panose="020F0502020204030204" pitchFamily="34" charset="0"/>
                <a:cs typeface="Calibri" panose="020F0502020204030204" pitchFamily="34" charset="0"/>
              </a:rPr>
              <a:t>What are the 7 processes that all living things perform?</a:t>
            </a:r>
          </a:p>
          <a:p>
            <a:r>
              <a:rPr lang="en-GB" sz="2000" dirty="0">
                <a:latin typeface="Calibri" panose="020F0502020204030204" pitchFamily="34" charset="0"/>
                <a:cs typeface="Calibri" panose="020F0502020204030204" pitchFamily="34" charset="0"/>
              </a:rPr>
              <a:t>( MRS GREN )</a:t>
            </a:r>
            <a:endParaRPr lang="en-AU" sz="2000" dirty="0"/>
          </a:p>
        </p:txBody>
      </p:sp>
    </p:spTree>
    <p:extLst>
      <p:ext uri="{BB962C8B-B14F-4D97-AF65-F5344CB8AC3E}">
        <p14:creationId xmlns:p14="http://schemas.microsoft.com/office/powerpoint/2010/main" val="1738292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bldLvl="5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8825" y="233772"/>
            <a:ext cx="8229600" cy="1143000"/>
          </a:xfrm>
        </p:spPr>
        <p:txBody>
          <a:bodyPr/>
          <a:lstStyle/>
          <a:p>
            <a:r>
              <a:rPr lang="en-AU" dirty="0"/>
              <a:t>7 Processes of Life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>
          <a:xfrm>
            <a:off x="457200" y="1484784"/>
            <a:ext cx="8229600" cy="48398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The 7 processes all living things perform:</a:t>
            </a:r>
          </a:p>
          <a:p>
            <a:pPr marL="0" indent="0">
              <a:buNone/>
            </a:pPr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( MRS GREN )</a:t>
            </a:r>
          </a:p>
          <a:p>
            <a:endParaRPr lang="en-GB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Movement</a:t>
            </a:r>
            <a:endParaRPr lang="en-AU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Respiration</a:t>
            </a:r>
            <a:endParaRPr lang="en-AU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Sensitivity </a:t>
            </a:r>
            <a:endParaRPr lang="en-AU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Growth</a:t>
            </a:r>
            <a:endParaRPr lang="en-AU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Reproduction</a:t>
            </a:r>
            <a:endParaRPr lang="en-AU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Excretion</a:t>
            </a:r>
            <a:endParaRPr lang="en-AU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Nutrition</a:t>
            </a:r>
            <a:endParaRPr lang="en-AU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AU" dirty="0"/>
          </a:p>
        </p:txBody>
      </p:sp>
      <p:sp>
        <p:nvSpPr>
          <p:cNvPr id="4" name="Rectangle 62"/>
          <p:cNvSpPr txBox="1">
            <a:spLocks noChangeArrowheads="1"/>
          </p:cNvSpPr>
          <p:nvPr/>
        </p:nvSpPr>
        <p:spPr>
          <a:xfrm>
            <a:off x="683568" y="1412776"/>
            <a:ext cx="7805968" cy="4968552"/>
          </a:xfrm>
          <a:prstGeom prst="rect">
            <a:avLst/>
          </a:prstGeom>
          <a:ln/>
        </p:spPr>
        <p:txBody>
          <a:bodyPr vert="horz" lIns="64291" tIns="32146" rIns="64291" bIns="32146">
            <a:normAutofit/>
          </a:bodyPr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250"/>
              </a:lnSpc>
              <a:spcBef>
                <a:spcPct val="0"/>
              </a:spcBef>
              <a:spcAft>
                <a:spcPts val="1406"/>
              </a:spcAft>
              <a:buSzPct val="130000"/>
              <a:buFont typeface="Wingdings 2"/>
              <a:buBlip>
                <a:blip r:embed="rId2"/>
              </a:buBlip>
              <a:tabLst>
                <a:tab pos="721047" algn="l"/>
                <a:tab pos="721047" algn="l"/>
              </a:tabLst>
            </a:pPr>
            <a:endParaRPr lang="en-US" sz="2000" dirty="0"/>
          </a:p>
        </p:txBody>
      </p:sp>
      <p:sp>
        <p:nvSpPr>
          <p:cNvPr id="8" name="AutoShape 5" descr="data:image/jpeg;base64,/9j/4AAQSkZJRgABAQAAAQABAAD/2wCEAAkGBxQQEBQUEhQVFBUVFBUZFRUXFhgWFRYVFxUXFxcZFxgYHSggHxolHBYVITEhJykrLi4vFx8zODMsNygtLisBCgoKDg0OGhAQGywkICQ1LC0sLCwsLCwsLSwsLCwsLS8sLCwsLCwsLCwsLCwsLCwsLCwsLCwsLCwsLCwsLCwsLP/AABEIALcBEwMBEQACEQEDEQH/xAAbAAEAAgMBAQAAAAAAAAAAAAACAwUBBAYHAP/EAEoQAAIBAgQCBwQGBgcGBwEAAAECAwARBBIhMQVBBhMiUWFxgRQyQpEjUmJygqEHM5KiscEVJENTY9Hwc5OjtMLxVHSDsrPD4Rb/xAAbAQACAwEBAQAAAAAAAAAAAAAAAQIEBQMGB//EADwRAAIBAgMECAUCBAYDAQAAAAABAgMRBCExBRJBURNhcYGRobHwIjLB0eEUQhUjUvEGMzRicoKSorJD/9oADAMBAAIRAxEAPwDiRWCVxAVEBgUgEBSAYFIYgKiAgKQCApAICkAgKQCAoAyBSGK1IDawvDpZRdI3Yd4Ukep2qcac5fKmBtxcDkN9Yh4dYjH1CFiPW1N0XF2m0u1odgycFkX4ofWaNfydgaOib+WUX2SX3FYwODT2uI2Yd6WkHzS4onh6sf2sLM1GjsbHQ91cHdagRsKaAwovTYGSlK4BK1K4BIpgEigRgimASKYBIpgEimASKYBIpgAimIJFSABFMAmmAbUwGKQCAqIDApAICkAwKQxAVEBAUgGBSAQFIBAUhlnheBTPF1pXJEN5Gvb5KCx9BXeGGqTW9wHZm7gOFwMM3WGQd4IRPmA7HyIWq9WtRouz3pPqyXi/sFi6weHw6WsUU/Zj1/blzsD91l8qo1NpYj/8qaj/AOz8/sBZBIm10ktsXYykerkkVnVsViqn+ZOXp5AR8S4kIIXkIJCKTYWubd1cqNB1aigtWTpU3UmoLjkcyP0hRHeOUfsH/qrU/gtRaSXn9jYlsDErRrxNmPpBg5gWLRgj665XHlfU+l6gsLjKMvhv3P7fUo1Nn4mnJRcHnyzKjinS+P3Y1ab/AG3aT0z3kH4SvnWxh1irfz2muTV345erNHD7BxFTOo1FeLKaXpK4BKRwRW1uI+sPznL29LVdioLKMV6+psU/8P4SlHeqNu3cWHB+Ky4rCymZy5jniyXtZVkSXMABoBeNTUca70U3z+hgbWoU6Uo9GrIyVrKuY5C9TQBtTuBgrTuACKYBIpiCRTAJFMAkUwCRTABFMAkVIQCKYBIpgGmAgKQDFIBAVEBgUhjApAICogMCkAgKQCApDEBSAmwzlGzKSrD4lJB+Y1oU5RzTAsBj2Y3lAlP1muJfSZbP8yR4V0/VNq1RKS6/uO5vwyAgsGLKB2swHWRg6XfLYPHf4wBb4lG5rVsJCcXOhw1jx7uYxRdoBl0v8wdiNOYNx6VQlk3FgVnSziLLhjGTfrCAO+wOY/wt61awFGLrby4Gnsih0uKjyWZwrnTa9bq1Pbzdot20MvEyjtRuo78pt/CpW5MrqvTeTVuwcJBG48/9bVzle5eouLjdPv8Aeh1/BehL4iAyOTGxsYVYWDeL8wDy+Z0NQbtkZlfakY1Uoq8Vr1vn3FTgMa2CkkikiGrASwt2bst7MrgXVhmax1GuoNTylHdlmvNDxeBw20YJx+GXDl9vqXkio0fWwsXjuAbizxsdlkUbHexGjW0O4FCthnD4o5x5/c8Ti8HVwtTcqq31NIiuRVGqaUmwCy00wIWFSQBIqQBIpiARTAJFMAGmASKYAIqQBNMQCKYBqQDAqICFIBgVEYxSAQFIBgUgEBUQGBSGNRSbAWWo3AS0AbMetcmBvcLssquTZY7u5/w0Us49VBFud7c674NN1o29riThFykoriavQvHdbE6mwytmsNlDbgX5Aj864bUp7tVSXEtYzDdBV3OGqOb6Q8S9omJX3F7KeI5t6n8gK0MJQ6KnZ6vN++o9VsjB/p6O9L5pa/YHR/BmbExIPrgnyU5j/C3rXebtFmhiJ7tN+H38j3mLDADXWuSVjysptmrLwDCtIJGw8RdTcNkW9+RPf61Peelw6SVrXMce4kMNFmyGR2OWOMEAu5BNrnQKACSeQHM2BElxdkRW83aObOD6b4I4zD+0GHqZ4QM4DCRZIvvWBJXxA08qIVI3yf0NPBOpTluS0ffn+fXtOI4TxR4JMy2vaxB1R0O6uPiQ2HiCARYgEdvlzWnFGzXpU8XTdGuux8uvsOsMSuqyxX6pr6E3aNxYtGx7xcEH4lIPeBnYql0fxR0en2PBYzCTwtV058PMwy1UuVSCWpxAgIqYGCtO4AIqQAIpiCRTABFMAmpAAimADTEE1IAWpgMUgEBUQJBSGIVEBgUgGBSAQFRAYFIZKi1BsCZVqDYBZLU07gKJrGlJXAj6U43qMMIh+sxABb7OHVrj9t1HpH3MK08DS3IOb1enZ+Ta2Rht6fSvRadpyeCxjoHVDYSLlbyuCQPO1vK9dqlKMmpS4Zo3pYSFarGcv2hGtM045uyOx6HuMKVmMMszv7qxqLrGD7zM5CjMw0F7kKLVxklJ5tJLnzMraFdye5TTdssvN/Y9DwXSyByBIsuHY8pkyrva3WKTHfwzX1p7qfytPs+2piOMo/MmvfgX1REVHFcNnlVjsqEC+wubt88q/s1znd/CWaDUE5cTj+I9OoELxwxPiUFkeVBeEPIGVUz7e9kF/tEi9tbUMHLc3pZHB4veqKMNbo80cX207v8AKhZanrt1uK5nS9CJSWnX4DAWYfaV1WM/eDOfQsOdRrJdDPe0+vAw9v7kqEJPW+X1LWY2FYkczyRqGuwjKx99JyAwy00wIWFTTA+hw7SHKis57lBY/IV0jGUtEBCwpCARUgAaYBNMAGpAA0xBpgIUgGKQxiogIUgGKiAxSAYFIYhUQJENqiwNmPWubAmC3qFxmFjWMNLL+qjsWtoXY+5Gv2mIPkAx5VcwtJVZXei199Z3w2HnXqKnHicRxTFviJWkktnc8tFAtZVA5KAAAOQArW3rntKeHVGCpx9+9RpAALDfma4ObbubEMPGEHFa+/fZkbHDMKJJ44yTZ3AJG+W+tv8AXOht2b5FXEy6GD3dX7uXnFekGNwZeww4SOTIsThixjYFkdcgUFBZkvfTKoIvqetPD0KkFK7v9TykqmI6VxVss8+RPwnptNOIrYaGUzOUEUU9pgb21jcaA8rmx76ctnx4SI08dVkm926Wp6T0YxiyREKrRlDleKRckkTWvkZDtuCORB0qtKlOm92RF1IVPiicX+lbF3xGGgleRMI1jiBCV658xcLZSblF6s3O3bF7m1W8LGCTnLU5uFWpJQhFv3xOo4RglxfCoI+qWL6J8iKoQFwJFicqugLAq/maniK14bi1YQpqjiN7gmvz4ZnijIVJB0IJBHiNDVW98z2sHeKOu6K4fqsJJIdOukAH3IhqR4M7284jXDHTtSUOMn5I8lt6snWVNcM+9jka5vWalYwRxw8zScuCAy1JCIJDauiAvuA9HRIBLPfKdUjGhYcmYjUKeQGp3uBa5Xrww0byV5PSP1fV5vq1Atek2K6jCssNowSqWXsi0gck6c7RMpP26Nn4utVhUqTfJJLJK928u7V5jvkefkV3IgNMAGmATUgAaYANMQakAhSAYqIxikAhUQGKQDFRAkUUmMlCVC4GclqVwEptSYG3DJfzrlKNhlX0vxd5Bhx7sFw32pzbrSfukZB9w95rajDooKn3vt/B7bYGCVOj0slnL0OXxA1Hr/r8/wAq6Q0NLEK0179/glha9/P/ADNRkrHejNyub/Rc3xsTHbPYfskfxpVMoNFHE3nGU+F0j19+jkGJiXrlzHQg3sVO/ZPKuFG8M0zBrVpb1gcM6GQQYz2sF3lzM/byW6xr9shVFyLm3IX2q0sRK+882cp1b0ehilFcbLN9rOiZbuXOrEWLc7A3A8hc/M99RqVpVPmK8KcYaGvLBE7gtGrOvus0YJUeDMNB5VyUnodbNK9zaXfTegg9Dw7pTD1/FZ0gUXfEFUA2LEgE+Avc3rtCO9kj0mGq9DhFOb0X0L6ZASkMN2RAscdhq+urW73cs1u9zWbiJ9LW+HsXvrPEV6sqtRzerNvGYKNBFkIf6MlmGql87qcveoyix5786jjKaouMFra7ITg4Oz1NVhVNESx4FxwxuImI6snQns5WO12GuUnQ30F7jbW/SqTdN0t619HyfDu5gmW2PigldVmjAuwBcAJIpvsSN/xX9NKq4bEVnW6LEq+dnlZrvWvuwBbFlp2U6ZNCo+uTYKB4AbeIqjiadSdSTkvibeXZw+i7BlF0sxuYrEDcqSz+DWAVfNRmv4uRyrVpUv09FUuOr7eXd6iZzZFSEA0xBNSABpgA1IAGmINMDIpASCkMQqIEgpAIVEBikMlSosCdBXNgTKKgwEYL7aUt8CTAJaaPNt1iX7rZheu1Fpzj2oZyXEievlze91smb72c3/O9a1X52fTMFZYeFuSNDE8j6fOiHIWKWkveZnDneiY8M8mibhk/VNG/1GVj6EE/zpTV20c93ew271X+p7lwnF9kd23+X5VUpyyPOYinmWLykhjHldh8Ja3IGxIBsdQduddkVbcygm6QMzdWJsLhZAbMuI60uPIEIp+8Cwq1DDwkr7yJ7jWe5KS6rW8rkEzdW6dbxQzlmB6rCogAA1JdgWITS1ha9TnSpxjk7s604VKi+GjurnJvy0z8S/45xVcHh5Z2PuL2R3udEHz19KprqOFOl0s1Dnr2cfseXdEuESmNsV1bs82dYiFJAUkiaW9tL6xg32Mh5A11qqcKdoJtvJdh02xi72w8O/7B4txQYdTHCweZhlaRDmEYOhSJh70h2LDQAkAkm68cPQ6LX5n5fknszZDt+oxCtFZpPj+C6xiCHLHe/VIkXmY0CMR4FgT61nY2XSYiVuGXhkYFae/UlLmysmkLeXdXKMUjmRrETUnJIRZ4TGEWjlYtEeywazZVOl1J1GX3gB3VZpYmTajN/Dp77B3JZBJFFiO0wk62NXYMcx/XBxm3tmtf0qcZ1Iqpnmmk/MbKBxVdESFqmgIzUhBNMCM1IAmmADUgBTEJaQDFRGMUgGKiAxSAYqIxikBIhtUWBPHL31zcQNqNgdq5STQybLcWNQvYDm+mWGyYkyD3cQOtH3yfpR/vMxt3Mtei31Uiqi4+vE9vsXFdJh1F6xyKBjcUI1JNSVmQo+U/61qbV0V4TdKWZKGt5bio2udlLddlpqvfUdbw7pmYMKqKM0oGUE+5lHuseZIFh6GuHQvfvwKE8Mpy6uZ23QhJVwodyWaRjI5O5La6+lh6VFv4nYzcQob1kWPF8BDi1Czx5re62zr5MNfTajeZGhUqUZb1OVjR4ZwODCXZAbbkuRYW7zYaU+klod62Kq1speR59096U+2yCOInqYybH+8fYt5chXenC2bO+Gw+5nx9++3sRz0U2Vctzl3y8ie+3f403vPK5rU1RhaTir9mZfdEsI0k3tBF1gIKC18028ajvsRnPglviFF+ig58eHW/wZG3NoNU9xay4cl+S7EbOb7+JrBckjxhKuHA31rm5tgZcqqSSOSEijZ3KjM2VeSrcXJJA3A11IFzVnCYd16m4nYaVzbw2EaRY3jjgCMVJ6x5JWMZGpBjKKH5WsR4mtFU8NC63W31vj2I0obOuk2yyaJi5zWIcnOCqkFb3FwdAQQuu+/fVZVZrEybjeMl3ZWF+i/nbrT3eZX4nhDG5EcDADYiaBs19s+dk2trkq2nQfzQt2MnPZq/ayhwuE9piMuGSRlDvHIhAZo5ECllzJo4IYEMLX10FqK+ClCzhmmZcoOLsaJqkQAakADTABqQANMA1IQlpDGKiAxSAYqIDFIBrUWMmVag2BIIqjvALqTS3kBnKRypXAmjmI8fOoOKYyTGwLi4TCbK980LHZZLWyk8lcAKe4hDsDV7AVd1ulLR6dT/ACXsBjHhqqlwep5/OpR2VgVZSQVIsQQbEEd4Nx6Vpbp7RVU81o812P3YjJp2E5J6lvwHgD4xJRAwMkYz9UxsXTZijHS6nLcGws2+ldIw3tNSnXxX6dre+V8eTOl6AdAXxrl8QGjjX4GUhpDa430ybX5nbneutKhneRQx21FublJ5vidzgsCO1mUgr7wXRgQbNtuQayJU3GbT4B0+9GLXHmWEXDlYArJIQdjnJ/nTUes5SrSTs4rwNPjHQ72xDGcVMim2mjLfuYHW23P+FXsNSpzWeqK7xtSlK6St2HD8V/RDjIrmJo5h4HI3yb/OrDw74MuU9sU388WuzP7HLYzorjYTZ8NKNbDsE3J0FrXuTXN0pLVF6O0KEl8Ml35HoPDXkgwogORLizJGBlQE3ZTJqzyMbZ2vl0CqAL3zNoY5RXQ09eL5dX3PMYytGpUbjn1vj9ka8jhdzasRJspmpJiu4fOuqp8wJeGMesEjGyRkF9L5gTbqwPiL6rY6WJvoCavYSO7Pf0Uc2/fMEebwcReGSQRO8IueyjEAWY6WGh+XKvTbkKiTavcsQqzh8raLfhXG8ficyx4h8yqzm+QCyi5+G+w2qnif02HipTjq0uPHvOjxdZfu9PsdBwnCticKryySSmaGcAO1wrqoKZVGl9W+VYuLxTp4hxirKMo6cVfO/kcp16kvmky34IVXDYQhQBBh4XAAA7ccAxMhP2mm7DHckC9XcRVc8clwgm+/3Y5PU5k1SOYDUgA1MAGpAA0wBTEIUDGKiAxUQGKQDFRAkWosZOlQYE6VzYE6VBjJkqDAXVA8qW80B97IDtp+dHSMBYjgUGLze0ZhL1eWOVASWYFcnWIPeIAy33INtCAa2MHtCEluVdeD5/n1L+Hx9SjHd4FPxz9G2JjDSYZGniG4WxkUj3gBoZFBuAwFzb3RWtOg1mjZw+1KcvhqZPnw/BF0H4C087RpKcNjYyHiSVTkkC+8pGjKRvzuCdNL0qUc+TR1x9ePR3aUoS1tqmuJ7fwQSiRhMAkjWcgEMDdQjWItftKTsNGGg2F1HmJJJ5EfG8OscnWp75F3QfGikBmA+sLjz27qr16CqK/E60qzhlwNL2UXzxtlJ1NtUa/Mr/MWrI3bM0lUurSzXvibkDkb/lU4TcXdHCpFSRb4bEXFjvyPfWvSqqorooSjuspcROZ4pddfpAvhlJCEeqg+ddSJxnSHhsinOvusAzAaAFtQw+w3LuN15AnzO0cEqMnVivhfkyDVik9jPMiszpURPvZR4mjpGBYYbBF4QFH9ozDxCoqk+Y6xQPvtXedVQwnxcZfQZy+P6HC7m4XN1mpjBIMjZicwI1GwvsCatUNsNRSte1uPJW/udFUytZe/eRscC4X7PiQy9XrnzBUZQEbLZbliLCxsPE1zx2M/UUbNNW0zvn4IJzUuCRvcK+jhhVBqZWeJBzUgqo82LKLd58Kr1Yyr15Li0ovtyIN3ZnH4kRRCFbFsgRrEFUUFSQCuhdiouRcAaakta5GCoqWd5y1fLqX1ItlEaiIBpoQDUkADTABqSANMDIoAYqIDWogMUgGKiMYpMBiogSLSYEise81FpASLKe+oOKGSriG76i4ICVcU3hUHTQFzg8WmHcdaGL7ER5for76s4+ktpYe6WuTcWr1Gyf8AD1Z2ryXYn6larjaFGW7N5nY4XpxhAAtpIwAAB1ZYADQD6PNpW69n4hftCO0sLL9/qWMPHcFOy/SwlgeyHsrg/ZDgG/lVedCpH5ostU68J/JJPsZt8RjJyyR6vH2gProfeT1A08VFcjoaeGijxTyub6dWEYaMvYzXU8jdyCOdrGgDX/ouWEm30se4y2V17xlOhHkR4C1gKdfDb73o6lilW3VZkZlvcIMzDeNjkk/ZYf5VRnSnHVFmFSD1ZPw+RpIsxsrAm6fEncH+1bX1G+5dKco/EtSNaMVLd4c+fYcvi+I4nBmSQxLJh+scMRcNFc5+19khwQ1ra2Nue/hoQxEVaVn16GTiKk6Lvu3XG2v5Njo/0kjxca4fEBYpAMkMm8cg2Cm+zEAXQntaFTf3euL2fKEPiV09ThhsfSxDcVqVHSLhr4ZiQvZ563KX21tqh5N6Gx0rxeN2a6L3o/L6FpqxRLOzEKq3JIAA1JJNgBVKNG7shHVYSPIm4IsFBGxAJLMPBnLWPNVQ1W2lUTqRoR0hl/2evhoMrOKPZS2ZlsDqCLWGp0II5d1cqCu1G1/fiBXY940LRuZWdRlkydWgLgASAMQbC+Ye6a3ZUMNSlbNtdeVwNOXihH6tRHpbN70pFrW6w6qN9ECjXamq26t2mt1efiK5WmuIiM1IAGmIDVIAGmgAakgDTAyKAGKiA1qIDFIBiogSLSYyZFqDYEyIK5tsCZIx3VByYyZIx3CoNsCZUHcPlUG2BuYIkMSoGcJIY9v1ixsU3+0BV3ZcYSxdNVNL5ileztqUcTSOLrE5HI87eNzevpMtv7Op/C6iy7fseYlszEzbk9X1k8OEnc2WCRja9gMxt4Bbk11obcwNZ7tOomyL2ViOXoGfPEPpY5YgfroyD94Cr0cTSno0cJYKvDWLJuG8SaI3hkaP7jFVPmo7LeoNRqYejU1iiVPGYmlpJ9+Z0nBOlc0DuzKsokILf2bZgLFgVGUk8xlFZ9XZUdabt2mpR209Kke9fY7PhXSzDzkLmMUh2SXsknuVrlWPgpJrLrYSrS+ZZczXo4ulW+R93Et8VhUlFnUMBtcag94O4PiKrtXLJzPHZkwpzjERh1GiSOOtK75N7uvgdRuDyNeeBlUzpLM7RxMILdqv4fTrXX6mphemeFDMx6yzxrmUxPowJ07QAOjb7aCreE2dilHOFvAo4jaOFjK3SJ9aOG46YOuJwsbCBwc8T9WFQ/YGf3Dr2eVtNDYeiwqrQg41llzPPYx4epNToStLvX0GnHMRImRTJN1UbPGWN7Itg6OdRILEaEklb32Bry22sM1KOJoT/l6OOq9+nA2tn1KtZ9FP5l593MvMLwtVkJC5SVBAubxqy9sg73zZ0U79l23UX8rjJLBb046vKC5c33aLrLehs4t+Q07gNAByArz1NCKuZA7xodmkRT5M6qfyJrU2fDerxXWM57F9t2cnVmZj5sSf51cnU3pOXMiarR0JgRMKmgIzUgAaaEA1JAA0wAakgDTAytADFRAYpAMVEBikA1qLGToa5sCVXFRaYEgnFR3AF7QeVLcQz7rmPOjdQG1DKYIp5ygbJGAoa+UtJIkZBAIv2GlNttKuYK29KXJeb/FyUdb2vYuJTKVVWj4cLItuxiA4GUEdpVvex5Gt2Gx8TVgmkmn1kKu06MZuM2r9jKnH8QxGCCyExOpZgpQyXR1UEAlwDbUG+p0OtZWL2NPCzjJ/C+FmRp16dZOVN5e+Z0ON4xjplCythF7K5ltiLi4BIbKpF+Rt416ClhMbOCkop36znPHUYScZSzXUyh4nEc8PWRYVhNMI80IlRwbrfU5eTjvonVxmEnGM8r9dwi6GJV0k1pobS9GnD5YpgCb5FlHZNvhzqND+E38LVq0tqSWU1cqVtkU5Z03bzRpcUaXDfR4iHIzkKpYZonubXBBs2mtgb99q06eIhWXwMyZ4OpRleayV3ddSvqfDFYnqBmmkMV9E6xgACco7I+G/wkm1edw22MJV2i8L0Wd2lLrXVwNDERxMcNvqpayvbj/5c/A1EUDYAeWn8K9ekloeclKUneTuBp1HMfx/hSc0uJJUpvgZvmAIsdQddjY3sflVPaGFeLws6MZWclqdsNV/T1ozktDouiuIL44SZQMsMlwDe4FhqbbnOB6V43+FVNmYJwqzu5SWS0Vk/bPU7PxMcViG4LKKefa0XGE0iVibs4DsbkjtAWUX+FVyqPBRXz7F15V67lLhkupIuTm5ycnxNLEPc0QVkI1QbSoe43/YVn/6a1dl/wCen2+gHNk1OxEhc1NAQPXRARGpAA1IQGpgA1IAGmAKYjK0AMVEYxSAYqIDFIBiojGKQDWkBvNgCgBmZIARcda2VyPCMAyEeIWu8cLUeby7ftqOxtQ4CMi+eRh3rhcQV+fV11/h8mr73kwsSYeKNmyxSxs/1DmikPgFmVSx8FvVWpgKvBp++uw7G70gwRThUxYENeNiCLEMZUVQfEKGP/q1Zw9Lo6aTWbzf099ZZUd2g3z9E/q/Q2MYCWAXUkRADvuq6V9EwTSwsG+R5DGxcsVJLi0RNw8YpeqO3WRSfhR8sn/Ckkb8FU9s4fpacWlo15ljZVXdnKL4q/h+GOaQuzMRuST4FiSB+TfKtWCUEoLl6GdUbm5VOv1NbGYYSnDKSyj2idroQrgx4dZBlJBsbqNbVg7Yp9JiKUL2v9zZ2XLdoTlyb9ESeyo182IxgIGZfp1Ylgy6DsC2hJvytsdqJ7FmrWqPMcNrRad42t1kWO4Q8oQifELBcmQSSmcmRWBQIpsM25udBbyB4vAV6eKUKM3kr3Z2/V06mH36qyeVtb+hF/ROHtb+sHXf2gDU8wBHYHXuqzHYcVU6VVGpv9yyefXqUntKLju9H8OnV6WK3iuEOHGdXaSEkK2YASxMQbZraMpAazeBFhpeUsZicDUUcQ96D48UR/SYfFQc6C3ZLhw9vmjWQINQvqdT8zW/FwtdGPJ1Xk33f2JonaQ5YkaRvqopc/Jb6eNRqYinTV5NI6UcFWqytGL99bO26F8P6lWaS3WyW0uCAg1ABGhOtzbw3tevC7U2ksZV+H5Vp19Z7rZ2y3gqXxfM9erqMGQIWh5xaDxjsChHfYEKfEeIrw+Nw/R13JaSz7+K+pCvSdOWej0NMmuRyIWHbHlL/wAvNWlsv/O7pegHJGrBEJanYAMakgIzTEA1IAGmADUgAaYBqQj4UgJBSGIVEBikAxUQGKQzZweHaVgqi5N+dgABckk6BQASSdABRGDm7IDpOB8MMmsBKR6g4rL9LKRowwwb3EGo606931asVatDBQ35vPzfZy7f7EtDpMLgIMIpZQqW1eQsM2vN53N7nzF+QrIWOx+Nk1h1ux5/eT+gZkuE4tBM1o5UkbuWQM/oL5j6A1zq4DaUVvKbl2SdxWZNj8Gk8ZWRVlUjZ+0LeBOq+akGqeH2viqMrSk5Linn+UFzh+L4hkwePwrMziF4GjdjdzHI8ZVWPMqMo/7V6+Wt+f2LG+3ScXwt6ltHPbFwD7eG/wDrr29D/Q/9X6M8vW/1y/5R+hp4zEBJDkPZOqEc4pF7Pzje3rVqhNVqMZc7PvX5KteLo1pRXC/g/wAM25JAuDU/E0mY/dIZFHzjY/irlCpvYqUeSXm7nWdPdwkZc5N+VvoakMmY4Y/42L/5IVn7S/1dH3xLuzv9NU7/AP5QIsSO2SLhI5XK3IzdXGz5bjUAlQNK0sbWlRoSnHVGdg6MatZRlpmfcC4rLjojEIgHRiyCNXCuGADjMzEZxlUgXFxfmNcPZm03Ko3XevE2Mbgt6ko0Vo72N3+ksRh0MbB0Q3ukkfYNzro621rddKhVlvqzfNPPyMlVsRRjuNNR5NZeaKvpHiWxOGkynq+qCs0aALFIgdVuUGzqWU32IvpcXOHtrBuNPpIybXFN3NTZ2L6Rum0k9clYrcBg0KXY9lUuW20te/yrfw1OMMPBXvks+4w6tSUq8srZvItIoeqiEeoN+scXsRI1iAbHdFCL4MrEb1872/tCVXFOMHZR9T1OHpdFTUPHtL3hXEOs7Le/vpu3MsoHxd689xrcGrSqquv93Hr611813m3hMXf+XPufPqf0ZLjcJ1smY8wCGU2N7Zbgjwt51GcN92ZouFOdLcksvQgxHBpUGZZVIJAAcZT3klhcWABJ7OgBrl/D6cslkZFTBpXcXks8ysXHICCzqbB9EEhJLRugHbRQPeqWHoUaE3PpL5NWs+KKJzrqK5JkSBhU0BGakADUhBNMCM1IAmmADUgBTEZFADFRGMUgEKiAxSAYNRA6fhHCesYwG4VQrYwg2LE9qPCg8tsz27j9QXt1JwwlF1J9/W+Efv8AgmlY7lisSfCoC72sqKqknQbKqg6dwryMOl2jikpPXwSX0QtTyLpJxxsZLfURKT1SHkPrN3u25PoNABXroxjTiqdNWitPv2kipViCCCQQbgg2II2IPI0J2zQHoh6cRrhUJ+knZO3GAQocXVjI3JWIz5V1Ob4aqVNnUJ4j9RLj+3r5v1EVfR/hE+PSd5JciYl1ztkzvI6vm7IuAqBiNu4AA2NrzqR3oqbzk7Je+CJKWVuZYCeI4uGX2jDhFMBYGUBwEC5uzvfQ6V6yltHDxwvRuWdmjHqYKrLFdKrWunrysQ8M4VNjMLA0a9pI+rfMCvuMQhva1shQfhqGy8fTpUN2pw6gx2AqVqinDkPHuLzwtIkTRywqgmbqiY44cmYBhsWBP4q54PH04YirUqu19Dri8JOdGFOHD7EOHxEcZwytPCT12JJKyBlUPhQiljyu2lRxuNo1MRTnF5LXxHhMNOlRlCWrv6WIYwqCYmeBs0GIVVSUM7M8TqoVRqSSQKs4/aOHrYeUIPNlfB4GrSqqcrWz4knAcNimw/UPDiY1DFopOplKdq2ZHCqTa4uGANiTffTM2XjHhm41Iuz6tC7jMLKvFbrs14d5utxHGQqYGxMKoBlKviIAQpG2V2EgFuVq23isBvb7av3/ANjNVDHxXRp5aarT1KPFYlcjQQuJpZrK7rdYkQMHIDNa5JVbtYKANCb6Yu2NsU6tPch8q1fMu4HBdBeUnmbmClijaKNpEk7ceZIg8zMim5FkWxvYC1zvTX+IOlhGhRpSSslvSstFwjdvM44fZzjW6Wo+Ldkbq4NrljHjzckljgm1J1J/WX9bV56ez993cnf/AI/k1rBiw5k1gbrcrAEIGEkbcs8ZAdTpva2m9VJ4KrTleGfZr+AsW+F46q2VrzSgnNHh1MzD7R6sFFJO65t9dNRWiqU5RTkvi4peuWnWjQo4y0bT15/f7kPG+LmdWjRJIpSDaKZGilaIDM5jB0Ym1iAb5VbQ5jYnSnuO2v04++Ryr4hShux7/fvyOdiw5splYRh/cBDNJJ/s4kBYj7Wi+NVKeDlPN5L3oU7E2K4cEF3M8IJAD4jCvFESdgXBa3qBXd4GyyfirBYqsXC0bFXFmHLQ7i4II0IIIII0INVZQcXZiNYmgAGmIJqQANMAGpAA0xBpgfCgBikMYqICFIBiogWHCSFZpWAKwIZCDsWBCxqfAyMl/C9d8PG87vhmNHofRrAmDDoH1ka8kpO5lksz38QMqeaHvrB27iHOqqK0jr2v7aDZVfpC4j1eFyA6ysE/AtpJPz6keTGrGw6KjSnV4v4V6v6DR5jWwM+oA+oA9Z6GYyOTBxKtiUUI681cF21HLNqwPnzFYm26VTehXjokl2PP1Ey9z67ubWuQzm172ub+B+VVKFbaWITVKUnbrFmYJB1IudNW7R1Fwbm/I1UxkcTCe7Xbvrm7gcL+k1VthzzzTAfcCwm3kGZrfeavR7LlOWDW9zaXZkNHLcC4O+LlyJoBq7kXVFva5tuSdAo1J9SLzcYxc5uyWrGepcE4LFhAFhU5yNW3mfzZdQPsrYDx3rCq7SxOJl0eETS6vmfa+Ar8i3fAMFLNEAALksUGnjrXN7ExzTqTduLvIN1nJ9O8KsmDZ2WzRBWQm2ZQZEjZfukSA270Heat7HxNSanSm95JXT5ZpW7MwRxfRno8+Nc6lIlIzva5J3yIDoXI9ANTyB1KlSFKDqVHaK8+pdYz1DhPDI4B1cEdtNQlyx8ZH3b1sO4CsKWMxuNluYdNR5L6v2hZs3p8E0a5miAH4Lk+AB3rlV2Pi6NN1ajSS/3BZnEfpHw46pJhdXziNjfVo3V2ysRuAYtL/W8BWtsvFVK1Bqbu4u1+af2sCL3ok4bAwaAAxC6gWUlXdMxA0LHJck661R25XqxnCEZNJx072gZB0swjyxxLALSDERNG2wjIWZncnkoCqT5DfSrOwpTdGe88k1a+i1uCN3hXDUgJJYvM+skzfrZCfzVOQQchrflVx+1qtW8cPdRWsuL+y6hXN5oUbslRZyqsLaMrMFZSOYIJqhsytUhioWbzaT60wWp5bK18NAb3yPPECdzGhRk+XWsPIDur1mJs1F9qBmkaqkQGmACaYBNSABpgA1IQaYHwoAQqIDFIYxUQGDSAuuEYcOkMZ2xGNiVh3xwjM4/4yH8Iq7ho/D2v0JRPRmlvrzOp827R/MmvDVpurUlN8W35gef/AKR57ywJ3RM3q8rL/CNflXrMFHcwlNdr8WM57gfD/acRHDfKHbUgXIUAsxA5nKDarUFd5jPRo+imDSwMFzYfrGmzeejqP3bVjV9q1qcrdEo/8r3+grlX0v4PhYsI7pEsbhowhUvqWbUEFiCMqudr6Crez8ZPFKbnFK1rWvq+8EbHQDAmHCtIwsZmDDvyIGRD6l5fkO+q+2J/yoUVrJ37lkvG4Mq+l85xmLhwcZ2cBzuBK5Ab0jUAeeetHBYboKUaPHWXb+AsdyWVQAosoAyjuUABR6KFHpXlMZV/UYiU1xeXYskI836e40y4vqxqIVCWGt5CS0lvHM2X8Ar1lKj0VKFJcF5vNkjueA8MGDgWPTPvIe+W1m17l1QeAJ+I1hbYxO/U6CPyx165fjQTOn4FOtrJYWAM0jaG52Rb93fsPM3rf2Q6UaSjStonKXXy7vLtZKJjjPEhJZE7Qvy1zsNgveBvfvA8apbZ2h+pthcN8V9begpPgebdLOK+1OmCw5Ds8iiRgbrmv2UDDcAnMzDS4Fvd164DBfpqe5+6WvV1fcVjqsJhkw0KxxbIpy97X1LH7THtH0GwFYG0cV+prWXyRyX1feJnU8KxKBCVISFdMzWDSNzY32H5nwtr7PB1KUaf8u0acePPm+zzfUtZoreL8Q6xtPdUEi+mnxO1/dFuZtYX7687tTFT2jWVHD5xXm+fYiLdzynprx5cS6xxG8cZJLcpJCLEi/wgCw82POtHD4eOHpKlHPi3zYHecGi6rCwIdCsUd/MoHb952+VYW2pb2K3f6Ul9fqJm4MQAhvYDMzMzaABQCST9RQuY+Nu6nQc6tGODpfud5Pq9q4+ooejfGWxc+IYFhAgRI0OmYsxfrH73IhP3QbDx1MfGnQwEqdNWWS7Xe934BwLfG4zqo3k/u0d/VELL+8FHrWPsilvYqL/pu/BZeYkebzrkw2FT/DaQ+ckjW/cSM+tekxLyiu/xBmkTVYiEmpAA0wAaYAJqQBNMQaYGBQAxSAYNIYwaiAgaQHRdH2+k4f8A+bxI9TFhgP4rVyh8iXW/REonavJrXh0sgOE/SEv9YhbkcOLfhllBr12GlvYam1yt4NjOagmaNgyMUYXsykqwuLGxGuxNdk2ndDPVuDxGLCQK183VqWvvd80pv/vbelYO2Z72IUP6UvF5iZSdNGZxhoUQyl5HkMYvd1jUKB2df77bWtLZVJxwyyvvNvuXtghYjj2MlUrDhDheRlkJVIhYDsFkRUsAAL5iANNaurCxVV1t34ucuHZolYYOjPBUixr2bP1ECB3sQDNOt2yg6gCMyDXW6351zx81QoTktbW75fgR0suLCBpG2RXkYd4RS9vXLb1rzmzKCniIJ6LPwzBHCdEOETYjEpiHW8ayNK7MQM7JeRsoOrdoa20FeqTtLfl1vttmM72WSxI7tPlpXh85fE+OfiRKri/SGHCnK5LyD+yQAstxcZ3bspy0sx7wK2sPsjJSru3Ute/l5jscfxrpbNiAUW0MbCzKpJZh3PIdSPAWHhWvSp06Md2lGy833jJ/0fYbNi8xB7MMjKfFisNx5dYfUUq83ToVJ9Tt35fUDvWlufM7efIV5CFNtqK1IlLxbpXDhmKi80g0KxkBVI3DSkHXwUHzFb1HY8I513d/0r6v7LvHY47jXSSbFAqxCR3v1aXCkjYuSSznzJ8LVqQUacdymkl1fXmM0+E4Az4iKIgjrHQH7hNy3lluanCN5JMD1vEzXbu527rm9vS9vSvH4ip01WdTm2yJz/SSVpmiwUZs09mlb6kCnNr4HKznwRO+vR7KwnR00/3T8o/nXwGjPQeER4LMP7WV2F98gIjS/qkvzqptqdoU6S43l9F9QYemuLyYJxzldI/QHrW/+NB609j0rQnU7F9X9ARW8S4eJGjtHPCZEC4frcmWTqo1AQqpzRsVykZr3LDa9626tGM3da/jTqBo5oms8gEmmACakASaYANMQDUgDTA+BoAYNIBA1EBg0hiBpAWmDmb2din6zDyx4hPIHJJ+fUnyU1ZoS+FrisyUTvGxKyKksf6uRcy+A2KnxU9k+KmvN47DOjWdvlea7H9tBlfxjhiYyMI7ZGQkxyWuBmtmVhfVTYHTUEc7kVZwONjSj0dXTVPW3dyArMB0HRWDTzK6gg5EBGYDkWexAPgpNXZ7SwsFdNyfJJrxbA6bE4nO1/8A83NzpyFztXn5ylUnKpPVu7Ec9xlv625/uuHgL5zSWJ/47/KvVUEoYaNv6fV/kfAqcEvWyxoxJzOi6m9gzAfzqrC85qLZE6Xo3NmixUvOXGT38lEWUeglf51z23NuEI85N+Cy9STN3sOrpILo65WFyumZW3AvY5bG3InUb1mYPE/ppue7e6tbQAY7j8eFmhh7KmSyOLACGBlKi4Gi3JUheSgk+9W5g6VRuVXEP4pqyXCMX793GibEkh2B0Nzcdx5j+VeZdNwe7LVZeBE53j/RdsVM00LoC9jIjkrZ7AFlIBBBtexsQSd69JSx1GrFOclGXG/0YzHDuhCRkNipQ1v7OPMoP3nYBreCr+Ib1zq7Sw9NfA999Wne2Fy/kx0aYvDwABWMUyqgAXIrdQ8SWG2YwtZd+2D8V67KFevhJxrfNK7S5aWXl9eIxLMVYEbqQR5g3FebpycJKa1WZE5fiPQt5JWfDvHkdi2VyyslzfKbKQwHIjXwFelWMw1T4t9R6nw+4ze4V0NihIbEOJm0tGARHfxBs7+RCjz2qtU2nSjlRW/Lwj92Fy1WNZeINLoTh8OImOmksjSErppdIc6m2xIHKu2Jq1KODcqrvNrd75N5dy8NBk6OGa7HKurO31UALOfRQTWDhMP0tWNP3bj5COYwOMLLi8UezJiIsT1Y+pAkZUAfiMYH+wNewg7aZXv4Je/AZ0HDiFweFA26mM+pQMf3nevNbWu8TblGNhE6RRyGPOpd45C0Q3Gdgqg5basMul9Lm9janhcbOjRdKlG828nyvlpxfICh4vxMS4wMpBjwQeR3Bur4h7BVDc+0sa355XbatvC0ugp2k7tXcnzk/a9Q0OPNViASaYBJqQAJpiCTTABqQBvTAwKAGDUQGKQCBpAMGkM2cDimicOtiRe4IurKRZlYc1IJBHcacJODugRecLxEkIZsIvXwMcz4ViTLEeZW3aNthIoIIAzDS1WJU4VoWtdcuK7PfaTWZtL0swvxLiIzzULHJY92YyIf3RWbLZdJ6Sa7r/VegGU6TJIcuFw02If7WijxKRZiR+IV1pbMop8ZPwX38wJG6RyMbHh8+fYqrMq33Nk6ksBcnS586m9mUXNy3JZ8E8vT6jNTEzytJJLiVSC+GaGOEEmQgtnW6klgA2pZ7bCw5VbajTp7ryVrJcRMp4ZijBl0KkEHxBuKzovdaaIl1hcXJC0rwRHEYaZusaJSeshkO47IJW22YqVYBeY0v1aUMRHNXWuWqfvuJk39NYiQH2fCND3zTtmVPEMyIgPmCe7WuVHA0qT3oxz5y4eSQFYuHgAZJCZmkuZMTqWV73BiDEEqD7xaxe593nN4impbuvN9fV7zFcsMPxLEwoBJD7ZEoAWeJjmCjYMwVrWGlpEDDalWwtOut6Ub9a17/wAq4zP/APVQnRcPiC31c6j8whP5VV/hlD/d5fYQpeKYth9HAmDU/wBrMTnHipkA/cS/dVqnhKdHOMbdcvfohlR7JhzdTI5lJze1nNYSXvbJ72Q83PbvY2Fipl01Petf/t1/YVy3/prERr/WcMZh/wCIhawfxZlVkY/snv1rnXwNOq96Uc+cePqhhHSmJtI8NiHb6udR/wC2Nj+VV1syhw3n4fYRnEYvHSqRHEmDBViMzhJ3FvdUyHPc7dkKKu0sNGl/lxUXzevn9BkHB8ZPgoOqfATMMzMXUst82Xc9W66BR+ffUa+EjWio1IvLPJ/hgPF8QnxMTRx4dsLG+ks8zEgJcEqGyILGwuoBY7DxVDCQoXcU1fVt8PBAaHt6CZbBjAqGELoGMJRkY92dg7v4M1Lpl0u9wWXcRvmb2Bx82FiEbwtioFJ6meJitlJJyk5WA1JORgGBJ1tTr4SFdJyTdtGtbctGSFiuJ4iaMhIvYoWBDzSsS7Kd1Vsqk3Hwxrc7E2p0MLCgrxVut6934QFVMUMQjhuIkBck2VpHGhd9xexsqg2UE63JJ4Va9/hWl/Hr96EXmar4UAHXbPz3yAHu53riqjfl5isKXAgXHu2Qte972t5W3/Koxq+tgsZ6kIultGYE7k2iLc9P+1G85Pw9bAa5wQva527x9TOeXdXTpXa/vWwrEuHhVQCLaOtyd7GPOPAcqhOTbt1fWw0QvhusGYk6Klzf/DvzH5X51NVNx2tz9RWKurQj4UwEDUQGDSAQNIBg0hiBpANGIIIJBGxGhB8DS00Ask49ieczt945/wA3vXVYiouI7sGI4rNIMryyMv1Sxy/sjT8qhKrOWrYXYPbpMuXrJMv1c7W+V7VHpJ2tdhchBrmIQNIY0cg3BII2I0I9aE2tAJJcSz6uzNbbMS38acpSlq7gHNXOwGYpSpupKnvBIPzFTjJxd0wNz+lp7fr5v96/+dS6er/U/ELs1Xe5JOpPM71ybbd2BHemBLBiWjN0ZkPepKn5ipRlKPyuwEz8WnIsZpiO4yOR/Gp9NU/qfiF2aRNQzAzHMyaqSvkSP4VJSktGBiadnN2ZmPexJP50OUpasCImkIcOIaM3RmQ96sVPzFTjKUdGAJ5mc3dix72JJ+ZocnLNgTYfFKLZgbqCAVtzN9jzrlKm3pxHcE+MPws29yTYE+GnIfzpxpLikK5mPHC4Lg3UEArYbm+1rX/1ak6T/b5juRTY0/CWuTcsbZvIEbDy76nGkuPhwFcj9vfvBHcVFvlbepdDALn0fEGB7Xa8bANtoAbaD076HQVsguQyY1zoCQNgByFrWB3t/GpqlHVhc1a6kT//2Q=="/>
          <p:cNvSpPr>
            <a:spLocks noChangeAspect="1" noChangeArrowheads="1"/>
          </p:cNvSpPr>
          <p:nvPr/>
        </p:nvSpPr>
        <p:spPr bwMode="auto">
          <a:xfrm>
            <a:off x="155575" y="-1828800"/>
            <a:ext cx="5715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pic>
        <p:nvPicPr>
          <p:cNvPr id="69639" name="Picture 7" descr="https://m2.behance.net/rendition/pm/5488103/disp/2d031506b2f8342e296ce82c335f57c0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9912" y="2420889"/>
            <a:ext cx="4968552" cy="3312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72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bldLvl="5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7584" y="254765"/>
            <a:ext cx="8229600" cy="1143000"/>
          </a:xfrm>
        </p:spPr>
        <p:txBody>
          <a:bodyPr/>
          <a:lstStyle/>
          <a:p>
            <a:r>
              <a:rPr lang="en-AU" dirty="0"/>
              <a:t>7 Processes of Life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467544" y="1628800"/>
            <a:ext cx="8229600" cy="4968552"/>
          </a:xfrm>
        </p:spPr>
        <p:txBody>
          <a:bodyPr>
            <a:normAutofit fontScale="85000" lnSpcReduction="20000"/>
          </a:bodyPr>
          <a:lstStyle/>
          <a:p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Movement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 – we can move around from place to place.  Animals move to</a:t>
            </a:r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find shelter,</a:t>
            </a:r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escape from predators and other danger,</a:t>
            </a:r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find food,</a:t>
            </a:r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find a mate. Plants tilt or move to face the sun.</a:t>
            </a:r>
          </a:p>
          <a:p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Respiration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 is the release of energy from glucose or another organic chemical in our cells. Respiration happens in ALL living things.</a:t>
            </a:r>
            <a:endParaRPr lang="en-AU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Sensitivity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 is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response to environment. 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How would you know if something was fit to eat if you could not smell or taste it? How would you escape danger?</a:t>
            </a:r>
            <a:endParaRPr lang="en-AU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Growth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 - we all do it.</a:t>
            </a:r>
            <a:endParaRPr lang="en-AU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Reproduction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 - making more of ourselves.</a:t>
            </a:r>
            <a:endParaRPr lang="en-AU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Excretion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 - getting rid of the waste products produced from the chemical reactions in our bodies. We breathe out carbon dioxide and we urinate.</a:t>
            </a:r>
            <a:endParaRPr lang="en-AU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Nutrition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 - we have to eat to provide the materials for growth, repair and to provide us with energy.</a:t>
            </a:r>
            <a:endParaRPr lang="en-AU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613739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1"/>
          <p:cNvSpPr>
            <a:spLocks noGrp="1" noChangeArrowheads="1"/>
          </p:cNvSpPr>
          <p:nvPr>
            <p:ph type="title"/>
          </p:nvPr>
        </p:nvSpPr>
        <p:spPr>
          <a:xfrm>
            <a:off x="811230" y="257467"/>
            <a:ext cx="8229600" cy="1143000"/>
          </a:xfrm>
        </p:spPr>
        <p:txBody>
          <a:bodyPr/>
          <a:lstStyle/>
          <a:p>
            <a:r>
              <a:rPr lang="en-US" dirty="0"/>
              <a:t>The Characteristics of Life</a:t>
            </a:r>
          </a:p>
        </p:txBody>
      </p:sp>
      <p:sp>
        <p:nvSpPr>
          <p:cNvPr id="2662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1585902"/>
            <a:ext cx="8229600" cy="1656184"/>
          </a:xfrm>
        </p:spPr>
        <p:txBody>
          <a:bodyPr>
            <a:noAutofit/>
          </a:bodyPr>
          <a:lstStyle/>
          <a:p>
            <a:r>
              <a:rPr lang="en-US" sz="2500" dirty="0">
                <a:latin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sz="2500" b="1" dirty="0">
                <a:latin typeface="Calibri" panose="020F0502020204030204" pitchFamily="34" charset="0"/>
                <a:cs typeface="Calibri" panose="020F0502020204030204" pitchFamily="34" charset="0"/>
              </a:rPr>
              <a:t>cell</a:t>
            </a:r>
            <a:r>
              <a:rPr lang="en-US" sz="2500" dirty="0">
                <a:latin typeface="Calibri" panose="020F0502020204030204" pitchFamily="34" charset="0"/>
                <a:cs typeface="Calibri" panose="020F0502020204030204" pitchFamily="34" charset="0"/>
              </a:rPr>
              <a:t> is the site of life. It is the functioning unit structure from which living organisms are made. </a:t>
            </a:r>
          </a:p>
          <a:p>
            <a:r>
              <a:rPr lang="en-US" sz="2500" dirty="0">
                <a:latin typeface="Calibri" panose="020F0502020204030204" pitchFamily="34" charset="0"/>
                <a:cs typeface="Calibri" panose="020F0502020204030204" pitchFamily="34" charset="0"/>
              </a:rPr>
              <a:t>Organisms can have varied appearances, but there are often many similarities at the cellular level.</a:t>
            </a:r>
          </a:p>
        </p:txBody>
      </p:sp>
      <p:grpSp>
        <p:nvGrpSpPr>
          <p:cNvPr id="26627" name="Group 3"/>
          <p:cNvGrpSpPr>
            <a:grpSpLocks/>
          </p:cNvGrpSpPr>
          <p:nvPr/>
        </p:nvGrpSpPr>
        <p:grpSpPr bwMode="auto">
          <a:xfrm>
            <a:off x="5689327" y="3222104"/>
            <a:ext cx="3454673" cy="4139296"/>
            <a:chOff x="0" y="0"/>
            <a:chExt cx="3094" cy="3723"/>
          </a:xfrm>
        </p:grpSpPr>
        <p:sp>
          <p:nvSpPr>
            <p:cNvPr id="26628" name="Rectangle 4"/>
            <p:cNvSpPr>
              <a:spLocks/>
            </p:cNvSpPr>
            <p:nvPr/>
          </p:nvSpPr>
          <p:spPr bwMode="auto">
            <a:xfrm>
              <a:off x="471" y="3355"/>
              <a:ext cx="1816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pPr marL="80364" algn="ctr">
                <a:lnSpc>
                  <a:spcPct val="105000"/>
                </a:lnSpc>
                <a:tabLst>
                  <a:tab pos="366104" algn="l"/>
                </a:tabLst>
              </a:pPr>
              <a:r>
                <a:rPr lang="en-US" sz="1400" b="1">
                  <a:solidFill>
                    <a:srgbClr val="FFFFFF"/>
                  </a:solidFill>
                  <a:latin typeface="Arial" charset="0"/>
                  <a:cs typeface="Arial" charset="0"/>
                  <a:sym typeface="Arial" charset="0"/>
                </a:rPr>
                <a:t>Unicellular eukaryote, </a:t>
              </a:r>
              <a:r>
                <a:rPr lang="en-US" sz="1400" b="1" i="1">
                  <a:solidFill>
                    <a:srgbClr val="FFFFFF"/>
                  </a:solidFill>
                  <a:latin typeface="Arial" charset="0"/>
                  <a:cs typeface="Arial" charset="0"/>
                  <a:sym typeface="Arial" charset="0"/>
                </a:rPr>
                <a:t>Euglena</a:t>
              </a:r>
            </a:p>
          </p:txBody>
        </p:sp>
        <p:pic>
          <p:nvPicPr>
            <p:cNvPr id="26629" name="Picture 5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-2700000">
              <a:off x="103" y="803"/>
              <a:ext cx="2888" cy="14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190500" dist="190499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</p:pic>
      </p:grpSp>
      <p:grpSp>
        <p:nvGrpSpPr>
          <p:cNvPr id="26630" name="Group 6"/>
          <p:cNvGrpSpPr>
            <a:grpSpLocks/>
          </p:cNvGrpSpPr>
          <p:nvPr/>
        </p:nvGrpSpPr>
        <p:grpSpPr bwMode="auto">
          <a:xfrm>
            <a:off x="2830039" y="3429000"/>
            <a:ext cx="3385193" cy="3682901"/>
            <a:chOff x="0" y="0"/>
            <a:chExt cx="3144" cy="3493"/>
          </a:xfrm>
        </p:grpSpPr>
        <p:sp>
          <p:nvSpPr>
            <p:cNvPr id="26631" name="Rectangle 7"/>
            <p:cNvSpPr>
              <a:spLocks/>
            </p:cNvSpPr>
            <p:nvPr/>
          </p:nvSpPr>
          <p:spPr bwMode="auto">
            <a:xfrm>
              <a:off x="1136" y="3320"/>
              <a:ext cx="926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marL="80364">
                <a:lnSpc>
                  <a:spcPct val="90000"/>
                </a:lnSpc>
                <a:tabLst>
                  <a:tab pos="366104" algn="l"/>
                </a:tabLst>
              </a:pPr>
              <a:r>
                <a:rPr lang="en-US" sz="1400" b="1">
                  <a:solidFill>
                    <a:srgbClr val="FFFFFF"/>
                  </a:solidFill>
                  <a:latin typeface="Arial" charset="0"/>
                  <a:cs typeface="Arial" charset="0"/>
                  <a:sym typeface="Arial" charset="0"/>
                </a:rPr>
                <a:t>Human cell</a:t>
              </a:r>
            </a:p>
          </p:txBody>
        </p:sp>
        <p:pic>
          <p:nvPicPr>
            <p:cNvPr id="26632" name="Picture 8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3144" cy="30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190500" dist="190499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</p:pic>
      </p:grpSp>
      <p:grpSp>
        <p:nvGrpSpPr>
          <p:cNvPr id="26633" name="Group 9"/>
          <p:cNvGrpSpPr>
            <a:grpSpLocks/>
          </p:cNvGrpSpPr>
          <p:nvPr/>
        </p:nvGrpSpPr>
        <p:grpSpPr bwMode="auto">
          <a:xfrm>
            <a:off x="760027" y="3429000"/>
            <a:ext cx="1723742" cy="3508698"/>
            <a:chOff x="2" y="0"/>
            <a:chExt cx="1711" cy="3614"/>
          </a:xfrm>
        </p:grpSpPr>
        <p:grpSp>
          <p:nvGrpSpPr>
            <p:cNvPr id="26634" name="Group 10"/>
            <p:cNvGrpSpPr>
              <a:grpSpLocks/>
            </p:cNvGrpSpPr>
            <p:nvPr/>
          </p:nvGrpSpPr>
          <p:grpSpPr bwMode="auto">
            <a:xfrm>
              <a:off x="49" y="0"/>
              <a:ext cx="1664" cy="3614"/>
              <a:chOff x="0" y="0"/>
              <a:chExt cx="1664" cy="3614"/>
            </a:xfrm>
          </p:grpSpPr>
          <p:sp>
            <p:nvSpPr>
              <p:cNvPr id="26635" name="Rectangle 11"/>
              <p:cNvSpPr>
                <a:spLocks/>
              </p:cNvSpPr>
              <p:nvPr/>
            </p:nvSpPr>
            <p:spPr bwMode="auto">
              <a:xfrm>
                <a:off x="438" y="3441"/>
                <a:ext cx="775" cy="1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marL="80364">
                  <a:lnSpc>
                    <a:spcPct val="90000"/>
                  </a:lnSpc>
                  <a:tabLst>
                    <a:tab pos="366104" algn="l"/>
                  </a:tabLst>
                </a:pPr>
                <a:r>
                  <a:rPr lang="en-US" sz="1400" b="1">
                    <a:solidFill>
                      <a:srgbClr val="FFFFFF"/>
                    </a:solidFill>
                    <a:latin typeface="Arial" charset="0"/>
                    <a:cs typeface="Arial" charset="0"/>
                    <a:sym typeface="Arial" charset="0"/>
                  </a:rPr>
                  <a:t>Plant cell</a:t>
                </a:r>
              </a:p>
            </p:txBody>
          </p:sp>
          <p:pic>
            <p:nvPicPr>
              <p:cNvPr id="26636" name="Picture 12"/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-5400000">
                <a:off x="-793" y="793"/>
                <a:ext cx="3250" cy="166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FFFF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190500" dist="190499" dir="2700000" algn="ct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</p:pic>
        </p:grpSp>
        <p:sp>
          <p:nvSpPr>
            <p:cNvPr id="26637" name="Rectangle 13"/>
            <p:cNvSpPr>
              <a:spLocks/>
            </p:cNvSpPr>
            <p:nvPr/>
          </p:nvSpPr>
          <p:spPr bwMode="auto">
            <a:xfrm rot="16200000">
              <a:off x="-419" y="2077"/>
              <a:ext cx="952" cy="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marL="80364">
                <a:tabLst>
                  <a:tab pos="366104" algn="l"/>
                </a:tabLst>
              </a:pPr>
              <a:r>
                <a:rPr lang="en-US" sz="800">
                  <a:solidFill>
                    <a:srgbClr val="000000"/>
                  </a:solidFill>
                  <a:latin typeface="Arial" charset="0"/>
                  <a:cs typeface="Arial" charset="0"/>
                  <a:sym typeface="Arial" charset="0"/>
                </a:rPr>
                <a:t>Photo: Brian Finerran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38668158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6" grpId="0" build="p" bldLvl="5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1"/>
          <p:cNvSpPr>
            <a:spLocks noGrp="1" noChangeArrowheads="1"/>
          </p:cNvSpPr>
          <p:nvPr>
            <p:ph type="title"/>
          </p:nvPr>
        </p:nvSpPr>
        <p:spPr>
          <a:xfrm>
            <a:off x="1350059" y="508992"/>
            <a:ext cx="5670213" cy="632682"/>
          </a:xfrm>
        </p:spPr>
        <p:txBody>
          <a:bodyPr>
            <a:normAutofit fontScale="90000"/>
          </a:bodyPr>
          <a:lstStyle/>
          <a:p>
            <a:r>
              <a:rPr lang="en-US" sz="4400" dirty="0"/>
              <a:t>Cell Characteristics</a:t>
            </a:r>
          </a:p>
        </p:txBody>
      </p:sp>
      <p:sp>
        <p:nvSpPr>
          <p:cNvPr id="2765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51520" y="1313148"/>
            <a:ext cx="8625150" cy="1368152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Cells remain alive as long as the metabolic reactions in the cytoplasm are maintained. 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With a few rare exceptions (which involve freezing certain types of cells) the cell dies if metabolism is stopped for any reason.</a:t>
            </a:r>
          </a:p>
        </p:txBody>
      </p:sp>
      <p:pic>
        <p:nvPicPr>
          <p:cNvPr id="276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4328" y="2676356"/>
            <a:ext cx="6361063" cy="42865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190500" dist="190499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</p:pic>
      <p:sp>
        <p:nvSpPr>
          <p:cNvPr id="27652" name="Rectangle 4"/>
          <p:cNvSpPr>
            <a:spLocks/>
          </p:cNvSpPr>
          <p:nvPr/>
        </p:nvSpPr>
        <p:spPr bwMode="auto">
          <a:xfrm>
            <a:off x="2311673" y="4813101"/>
            <a:ext cx="1143000" cy="607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 marL="80364" algn="ctr">
              <a:lnSpc>
                <a:spcPct val="145000"/>
              </a:lnSpc>
              <a:tabLst>
                <a:tab pos="366104" algn="l"/>
              </a:tabLst>
            </a:pPr>
            <a:r>
              <a:rPr lang="en-US" sz="15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rPr>
              <a:t>100000 nm</a:t>
            </a:r>
          </a:p>
          <a:p>
            <a:pPr marL="80364" algn="ctr">
              <a:lnSpc>
                <a:spcPct val="145000"/>
              </a:lnSpc>
              <a:tabLst>
                <a:tab pos="366104" algn="l"/>
              </a:tabLst>
            </a:pPr>
            <a:r>
              <a:rPr lang="en-US" sz="15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rPr>
              <a:t>scale</a:t>
            </a:r>
          </a:p>
        </p:txBody>
      </p:sp>
      <p:grpSp>
        <p:nvGrpSpPr>
          <p:cNvPr id="27653" name="Group 5"/>
          <p:cNvGrpSpPr>
            <a:grpSpLocks/>
          </p:cNvGrpSpPr>
          <p:nvPr/>
        </p:nvGrpSpPr>
        <p:grpSpPr bwMode="auto">
          <a:xfrm>
            <a:off x="490577" y="3013783"/>
            <a:ext cx="8386093" cy="3394397"/>
            <a:chOff x="67" y="0"/>
            <a:chExt cx="7513" cy="3041"/>
          </a:xfrm>
        </p:grpSpPr>
        <p:grpSp>
          <p:nvGrpSpPr>
            <p:cNvPr id="27654" name="Group 6"/>
            <p:cNvGrpSpPr>
              <a:grpSpLocks/>
            </p:cNvGrpSpPr>
            <p:nvPr/>
          </p:nvGrpSpPr>
          <p:grpSpPr bwMode="auto">
            <a:xfrm>
              <a:off x="67" y="804"/>
              <a:ext cx="3240" cy="773"/>
              <a:chOff x="67" y="-35"/>
              <a:chExt cx="3240" cy="773"/>
            </a:xfrm>
          </p:grpSpPr>
          <p:sp>
            <p:nvSpPr>
              <p:cNvPr id="27655" name="Rectangle 7"/>
              <p:cNvSpPr>
                <a:spLocks/>
              </p:cNvSpPr>
              <p:nvPr/>
            </p:nvSpPr>
            <p:spPr bwMode="auto">
              <a:xfrm>
                <a:off x="67" y="-35"/>
                <a:ext cx="2048" cy="7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pPr marL="80364">
                  <a:lnSpc>
                    <a:spcPct val="105000"/>
                  </a:lnSpc>
                  <a:tabLst>
                    <a:tab pos="366104" algn="l"/>
                  </a:tabLst>
                </a:pPr>
                <a:r>
                  <a:rPr lang="en-US" sz="1400" dirty="0">
                    <a:solidFill>
                      <a:srgbClr val="2D00FA"/>
                    </a:solidFill>
                    <a:latin typeface="Arial" charset="0"/>
                    <a:cs typeface="Arial" charset="0"/>
                    <a:sym typeface="Arial" charset="0"/>
                  </a:rPr>
                  <a:t>In eukaryotes, the DNA (as chromosomes / chromatin) is contained within a nuclear membrane</a:t>
                </a:r>
              </a:p>
            </p:txBody>
          </p:sp>
          <p:sp>
            <p:nvSpPr>
              <p:cNvPr id="27656" name="Line 8"/>
              <p:cNvSpPr>
                <a:spLocks noChangeShapeType="1"/>
              </p:cNvSpPr>
              <p:nvPr/>
            </p:nvSpPr>
            <p:spPr bwMode="auto">
              <a:xfrm flipH="1">
                <a:off x="2115" y="285"/>
                <a:ext cx="1192" cy="0"/>
              </a:xfrm>
              <a:prstGeom prst="line">
                <a:avLst/>
              </a:prstGeom>
              <a:noFill/>
              <a:ln w="38100">
                <a:solidFill>
                  <a:srgbClr val="FF0017"/>
                </a:solidFill>
                <a:round/>
                <a:headEnd type="stealth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</p:grpSp>
        <p:grpSp>
          <p:nvGrpSpPr>
            <p:cNvPr id="27657" name="Group 9"/>
            <p:cNvGrpSpPr>
              <a:grpSpLocks/>
            </p:cNvGrpSpPr>
            <p:nvPr/>
          </p:nvGrpSpPr>
          <p:grpSpPr bwMode="auto">
            <a:xfrm>
              <a:off x="3365" y="1094"/>
              <a:ext cx="1800" cy="1947"/>
              <a:chOff x="0" y="0"/>
              <a:chExt cx="1800" cy="1946"/>
            </a:xfrm>
          </p:grpSpPr>
          <p:sp>
            <p:nvSpPr>
              <p:cNvPr id="27658" name="Rectangle 10"/>
              <p:cNvSpPr>
                <a:spLocks/>
              </p:cNvSpPr>
              <p:nvPr/>
            </p:nvSpPr>
            <p:spPr bwMode="auto">
              <a:xfrm>
                <a:off x="0" y="1530"/>
                <a:ext cx="1800" cy="41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pPr marL="80364">
                  <a:tabLst>
                    <a:tab pos="366104" algn="l"/>
                  </a:tabLst>
                </a:pPr>
                <a:r>
                  <a:rPr lang="en-US" sz="1400">
                    <a:solidFill>
                      <a:srgbClr val="2D00FA"/>
                    </a:solidFill>
                    <a:latin typeface="Arial" charset="0"/>
                    <a:cs typeface="Arial" charset="0"/>
                    <a:sym typeface="Arial" charset="0"/>
                  </a:rPr>
                  <a:t>Metabolism takes place in the cytoplasm.</a:t>
                </a:r>
              </a:p>
            </p:txBody>
          </p:sp>
          <p:sp>
            <p:nvSpPr>
              <p:cNvPr id="27659" name="Line 11"/>
              <p:cNvSpPr>
                <a:spLocks noChangeShapeType="1"/>
              </p:cNvSpPr>
              <p:nvPr/>
            </p:nvSpPr>
            <p:spPr bwMode="auto">
              <a:xfrm flipH="1">
                <a:off x="893" y="34"/>
                <a:ext cx="352" cy="1462"/>
              </a:xfrm>
              <a:prstGeom prst="line">
                <a:avLst/>
              </a:prstGeom>
              <a:noFill/>
              <a:ln w="38100">
                <a:solidFill>
                  <a:srgbClr val="FF0017"/>
                </a:solidFill>
                <a:round/>
                <a:headEnd type="oval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</p:grpSp>
        <p:grpSp>
          <p:nvGrpSpPr>
            <p:cNvPr id="27660" name="Group 12"/>
            <p:cNvGrpSpPr>
              <a:grpSpLocks/>
            </p:cNvGrpSpPr>
            <p:nvPr/>
          </p:nvGrpSpPr>
          <p:grpSpPr bwMode="auto">
            <a:xfrm>
              <a:off x="6413" y="0"/>
              <a:ext cx="992" cy="732"/>
              <a:chOff x="0" y="0"/>
              <a:chExt cx="992" cy="732"/>
            </a:xfrm>
          </p:grpSpPr>
          <p:sp>
            <p:nvSpPr>
              <p:cNvPr id="27661" name="Rectangle 13"/>
              <p:cNvSpPr>
                <a:spLocks/>
              </p:cNvSpPr>
              <p:nvPr/>
            </p:nvSpPr>
            <p:spPr bwMode="auto">
              <a:xfrm>
                <a:off x="0" y="0"/>
                <a:ext cx="992" cy="46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pPr marL="80364" algn="ctr">
                  <a:lnSpc>
                    <a:spcPct val="105000"/>
                  </a:lnSpc>
                  <a:tabLst>
                    <a:tab pos="366104" algn="l"/>
                  </a:tabLst>
                </a:pPr>
                <a:r>
                  <a:rPr lang="en-US" sz="1400">
                    <a:solidFill>
                      <a:srgbClr val="2D00FA"/>
                    </a:solidFill>
                    <a:latin typeface="Arial" charset="0"/>
                    <a:cs typeface="Arial" charset="0"/>
                    <a:sym typeface="Arial" charset="0"/>
                  </a:rPr>
                  <a:t>Plasma membrane</a:t>
                </a:r>
              </a:p>
            </p:txBody>
          </p:sp>
          <p:sp>
            <p:nvSpPr>
              <p:cNvPr id="27662" name="Line 14"/>
              <p:cNvSpPr>
                <a:spLocks noChangeShapeType="1"/>
              </p:cNvSpPr>
              <p:nvPr/>
            </p:nvSpPr>
            <p:spPr bwMode="auto">
              <a:xfrm rot="10800000" flipH="1">
                <a:off x="182" y="422"/>
                <a:ext cx="207" cy="310"/>
              </a:xfrm>
              <a:prstGeom prst="line">
                <a:avLst/>
              </a:prstGeom>
              <a:noFill/>
              <a:ln w="38100">
                <a:solidFill>
                  <a:srgbClr val="FF0017"/>
                </a:solidFill>
                <a:round/>
                <a:headEnd type="stealth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</p:grpSp>
        <p:grpSp>
          <p:nvGrpSpPr>
            <p:cNvPr id="27663" name="Group 15"/>
            <p:cNvGrpSpPr>
              <a:grpSpLocks/>
            </p:cNvGrpSpPr>
            <p:nvPr/>
          </p:nvGrpSpPr>
          <p:grpSpPr bwMode="auto">
            <a:xfrm>
              <a:off x="5531" y="1494"/>
              <a:ext cx="2049" cy="1273"/>
              <a:chOff x="0" y="0"/>
              <a:chExt cx="2048" cy="1272"/>
            </a:xfrm>
          </p:grpSpPr>
          <p:sp>
            <p:nvSpPr>
              <p:cNvPr id="27664" name="Rectangle 16"/>
              <p:cNvSpPr>
                <a:spLocks/>
              </p:cNvSpPr>
              <p:nvPr/>
            </p:nvSpPr>
            <p:spPr bwMode="auto">
              <a:xfrm>
                <a:off x="552" y="488"/>
                <a:ext cx="1496" cy="7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pPr marL="80364">
                  <a:lnSpc>
                    <a:spcPct val="105000"/>
                  </a:lnSpc>
                  <a:tabLst>
                    <a:tab pos="366104" algn="l"/>
                  </a:tabLst>
                </a:pPr>
                <a:r>
                  <a:rPr lang="en-US" sz="1400" dirty="0">
                    <a:solidFill>
                      <a:srgbClr val="2D00FA"/>
                    </a:solidFill>
                    <a:latin typeface="Arial" charset="0"/>
                    <a:cs typeface="Arial" charset="0"/>
                    <a:sym typeface="Arial" charset="0"/>
                  </a:rPr>
                  <a:t>Specialized organelles carry out specific functions in the cell.</a:t>
                </a:r>
              </a:p>
            </p:txBody>
          </p:sp>
          <p:sp>
            <p:nvSpPr>
              <p:cNvPr id="27665" name="Line 17"/>
              <p:cNvSpPr>
                <a:spLocks noChangeShapeType="1"/>
              </p:cNvSpPr>
              <p:nvPr/>
            </p:nvSpPr>
            <p:spPr bwMode="auto">
              <a:xfrm>
                <a:off x="0" y="0"/>
                <a:ext cx="576" cy="520"/>
              </a:xfrm>
              <a:prstGeom prst="line">
                <a:avLst/>
              </a:prstGeom>
              <a:noFill/>
              <a:ln w="38100">
                <a:solidFill>
                  <a:srgbClr val="FF0017"/>
                </a:solidFill>
                <a:round/>
                <a:headEnd type="stealth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</p:grpSp>
      </p:grpSp>
      <p:sp>
        <p:nvSpPr>
          <p:cNvPr id="27666" name="Rectangle 18"/>
          <p:cNvSpPr>
            <a:spLocks/>
          </p:cNvSpPr>
          <p:nvPr/>
        </p:nvSpPr>
        <p:spPr bwMode="auto">
          <a:xfrm>
            <a:off x="323528" y="2803844"/>
            <a:ext cx="2723555" cy="50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 algn="ctr">
              <a:lnSpc>
                <a:spcPct val="108000"/>
              </a:lnSpc>
              <a:spcBef>
                <a:spcPts val="703"/>
              </a:spcBef>
              <a:tabLst>
                <a:tab pos="721047" algn="l"/>
              </a:tabLst>
            </a:pPr>
            <a:r>
              <a:rPr lang="en-US" sz="1700" b="1" i="1" dirty="0">
                <a:solidFill>
                  <a:srgbClr val="2D00FA"/>
                </a:solidFill>
                <a:latin typeface="Arial" charset="0"/>
                <a:cs typeface="Arial" charset="0"/>
                <a:sym typeface="Arial" charset="0"/>
              </a:rPr>
              <a:t>Amoeba</a:t>
            </a:r>
            <a:r>
              <a:rPr lang="en-US" sz="1700" b="1" dirty="0">
                <a:solidFill>
                  <a:srgbClr val="2D00FA"/>
                </a:solidFill>
                <a:latin typeface="Arial" charset="0"/>
                <a:cs typeface="Arial" charset="0"/>
                <a:sym typeface="Arial" charset="0"/>
              </a:rPr>
              <a:t>:</a:t>
            </a:r>
            <a:br>
              <a:rPr lang="en-US" sz="1700" b="1" dirty="0">
                <a:solidFill>
                  <a:srgbClr val="2D00FA"/>
                </a:solidFill>
                <a:latin typeface="Arial" charset="0"/>
                <a:cs typeface="Arial" charset="0"/>
                <a:sym typeface="Arial" charset="0"/>
              </a:rPr>
            </a:br>
            <a:r>
              <a:rPr lang="en-US" sz="1700" b="1" dirty="0">
                <a:solidFill>
                  <a:srgbClr val="2D00FA"/>
                </a:solidFill>
                <a:latin typeface="Arial" charset="0"/>
                <a:cs typeface="Arial" charset="0"/>
                <a:sym typeface="Arial" charset="0"/>
              </a:rPr>
              <a:t>a single celled eukaryote</a:t>
            </a:r>
          </a:p>
        </p:txBody>
      </p:sp>
    </p:spTree>
    <p:extLst>
      <p:ext uri="{BB962C8B-B14F-4D97-AF65-F5344CB8AC3E}">
        <p14:creationId xmlns:p14="http://schemas.microsoft.com/office/powerpoint/2010/main" val="2673037123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0" grpId="0" build="p" bldLvl="5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AutoShape 1"/>
          <p:cNvSpPr>
            <a:spLocks/>
          </p:cNvSpPr>
          <p:nvPr/>
        </p:nvSpPr>
        <p:spPr bwMode="auto">
          <a:xfrm>
            <a:off x="732234" y="1408658"/>
            <a:ext cx="339328" cy="1017984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7" y="21600"/>
                </a:moveTo>
                <a:lnTo>
                  <a:pt x="0" y="190"/>
                </a:lnTo>
                <a:lnTo>
                  <a:pt x="21600" y="0"/>
                </a:lnTo>
              </a:path>
            </a:pathLst>
          </a:custGeom>
          <a:solidFill>
            <a:schemeClr val="accent1">
              <a:alpha val="14902"/>
            </a:schemeClr>
          </a:solidFill>
          <a:ln w="127000">
            <a:solidFill>
              <a:srgbClr val="16007D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64291" tIns="32146" rIns="64291" bIns="32146"/>
          <a:lstStyle/>
          <a:p>
            <a:endParaRPr lang="en-AU"/>
          </a:p>
        </p:txBody>
      </p:sp>
      <p:sp>
        <p:nvSpPr>
          <p:cNvPr id="28675" name="Rectangle 3"/>
          <p:cNvSpPr>
            <a:spLocks/>
          </p:cNvSpPr>
          <p:nvPr/>
        </p:nvSpPr>
        <p:spPr bwMode="auto">
          <a:xfrm>
            <a:off x="160734" y="2428875"/>
            <a:ext cx="1205508" cy="892969"/>
          </a:xfrm>
          <a:prstGeom prst="rect">
            <a:avLst/>
          </a:prstGeom>
          <a:solidFill>
            <a:srgbClr val="830040">
              <a:alpha val="5294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pPr marL="80364" algn="ctr">
              <a:tabLst>
                <a:tab pos="366104" algn="l"/>
              </a:tabLst>
            </a:pPr>
            <a:r>
              <a:rPr lang="en-US" sz="1700">
                <a:solidFill>
                  <a:srgbClr val="FFFFFF"/>
                </a:solidFill>
                <a:latin typeface="Arial Black" pitchFamily="1" charset="0"/>
                <a:ea typeface="Arial Black" pitchFamily="1" charset="0"/>
                <a:cs typeface="Arial Black" pitchFamily="1" charset="0"/>
                <a:sym typeface="Arial Black" pitchFamily="1" charset="0"/>
              </a:rPr>
              <a:t>Living things</a:t>
            </a:r>
          </a:p>
        </p:txBody>
      </p:sp>
      <p:sp>
        <p:nvSpPr>
          <p:cNvPr id="28676" name="Rectangle 4"/>
          <p:cNvSpPr>
            <a:spLocks/>
          </p:cNvSpPr>
          <p:nvPr/>
        </p:nvSpPr>
        <p:spPr bwMode="auto">
          <a:xfrm>
            <a:off x="2937867" y="2053828"/>
            <a:ext cx="2286000" cy="892969"/>
          </a:xfrm>
          <a:prstGeom prst="rect">
            <a:avLst/>
          </a:prstGeom>
          <a:solidFill>
            <a:srgbClr val="85007E">
              <a:alpha val="49803"/>
            </a:srgbClr>
          </a:solidFill>
          <a:ln w="9525">
            <a:solidFill>
              <a:srgbClr val="85007E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pPr marL="80364" algn="ctr">
              <a:tabLst>
                <a:tab pos="366104" algn="l"/>
              </a:tabLst>
            </a:pPr>
            <a:r>
              <a:rPr lang="en-US" sz="1700">
                <a:solidFill>
                  <a:srgbClr val="FFFFFF"/>
                </a:solidFill>
                <a:latin typeface="Arial Black" pitchFamily="1" charset="0"/>
                <a:ea typeface="Arial Black" pitchFamily="1" charset="0"/>
                <a:cs typeface="Arial Black" pitchFamily="1" charset="0"/>
                <a:sym typeface="Arial Black" pitchFamily="1" charset="0"/>
              </a:rPr>
              <a:t>Prokaryotic cells</a:t>
            </a:r>
          </a:p>
          <a:p>
            <a:pPr marL="80364" algn="ctr">
              <a:tabLst>
                <a:tab pos="366104" algn="l"/>
              </a:tabLst>
            </a:pPr>
            <a:r>
              <a:rPr lang="en-US" sz="1400">
                <a:solidFill>
                  <a:srgbClr val="FFFFFF"/>
                </a:solidFill>
                <a:latin typeface="Arial Black" pitchFamily="1" charset="0"/>
                <a:ea typeface="Arial Black" pitchFamily="1" charset="0"/>
                <a:cs typeface="Arial Black" pitchFamily="1" charset="0"/>
                <a:sym typeface="Arial Black" pitchFamily="1" charset="0"/>
              </a:rPr>
              <a:t>Relatively small cells</a:t>
            </a:r>
          </a:p>
          <a:p>
            <a:pPr marL="80364" algn="ctr">
              <a:tabLst>
                <a:tab pos="366104" algn="l"/>
              </a:tabLst>
            </a:pPr>
            <a:r>
              <a:rPr lang="en-US" sz="1400">
                <a:solidFill>
                  <a:srgbClr val="FFFFFF"/>
                </a:solidFill>
                <a:latin typeface="Arial Black" pitchFamily="1" charset="0"/>
                <a:ea typeface="Arial Black" pitchFamily="1" charset="0"/>
                <a:cs typeface="Arial Black" pitchFamily="1" charset="0"/>
                <a:sym typeface="Arial Black" pitchFamily="1" charset="0"/>
              </a:rPr>
              <a:t>0.5-10 µm</a:t>
            </a:r>
          </a:p>
        </p:txBody>
      </p:sp>
      <p:sp>
        <p:nvSpPr>
          <p:cNvPr id="28677" name="Rectangle 5"/>
          <p:cNvSpPr>
            <a:spLocks/>
          </p:cNvSpPr>
          <p:nvPr/>
        </p:nvSpPr>
        <p:spPr bwMode="auto">
          <a:xfrm>
            <a:off x="2937867" y="4527351"/>
            <a:ext cx="2286000" cy="892969"/>
          </a:xfrm>
          <a:prstGeom prst="rect">
            <a:avLst/>
          </a:prstGeom>
          <a:solidFill>
            <a:srgbClr val="85007E">
              <a:alpha val="49803"/>
            </a:srgbClr>
          </a:solidFill>
          <a:ln w="9525">
            <a:solidFill>
              <a:srgbClr val="85007E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pPr marL="80364" algn="ctr">
              <a:tabLst>
                <a:tab pos="366104" algn="l"/>
              </a:tabLst>
            </a:pPr>
            <a:r>
              <a:rPr lang="en-US" sz="1700">
                <a:solidFill>
                  <a:srgbClr val="FFFFFF"/>
                </a:solidFill>
                <a:latin typeface="Arial Black" pitchFamily="1" charset="0"/>
                <a:ea typeface="Arial Black" pitchFamily="1" charset="0"/>
                <a:cs typeface="Arial Black" pitchFamily="1" charset="0"/>
                <a:sym typeface="Arial Black" pitchFamily="1" charset="0"/>
              </a:rPr>
              <a:t>Eukaryotic cells</a:t>
            </a:r>
          </a:p>
          <a:p>
            <a:pPr marL="80364" algn="ctr">
              <a:tabLst>
                <a:tab pos="366104" algn="l"/>
              </a:tabLst>
            </a:pPr>
            <a:r>
              <a:rPr lang="en-US" sz="1400">
                <a:solidFill>
                  <a:srgbClr val="FFFFFF"/>
                </a:solidFill>
                <a:latin typeface="Arial Black" pitchFamily="1" charset="0"/>
                <a:ea typeface="Arial Black" pitchFamily="1" charset="0"/>
                <a:cs typeface="Arial Black" pitchFamily="1" charset="0"/>
                <a:sym typeface="Arial Black" pitchFamily="1" charset="0"/>
              </a:rPr>
              <a:t>Relatively large cells</a:t>
            </a:r>
          </a:p>
          <a:p>
            <a:pPr marL="80364" algn="ctr">
              <a:tabLst>
                <a:tab pos="366104" algn="l"/>
              </a:tabLst>
            </a:pPr>
            <a:r>
              <a:rPr lang="en-US" sz="1400">
                <a:solidFill>
                  <a:srgbClr val="FFFFFF"/>
                </a:solidFill>
                <a:latin typeface="Arial Black" pitchFamily="1" charset="0"/>
                <a:ea typeface="Arial Black" pitchFamily="1" charset="0"/>
                <a:cs typeface="Arial Black" pitchFamily="1" charset="0"/>
                <a:sym typeface="Arial Black" pitchFamily="1" charset="0"/>
              </a:rPr>
              <a:t>30-150 µm</a:t>
            </a:r>
          </a:p>
        </p:txBody>
      </p:sp>
      <p:sp>
        <p:nvSpPr>
          <p:cNvPr id="28678" name="Rectangle 6"/>
          <p:cNvSpPr>
            <a:spLocks/>
          </p:cNvSpPr>
          <p:nvPr/>
        </p:nvSpPr>
        <p:spPr bwMode="auto">
          <a:xfrm>
            <a:off x="5813226" y="1143000"/>
            <a:ext cx="1919883" cy="500063"/>
          </a:xfrm>
          <a:prstGeom prst="rect">
            <a:avLst/>
          </a:prstGeom>
          <a:solidFill>
            <a:srgbClr val="0F3E7E">
              <a:alpha val="48627"/>
            </a:srgbClr>
          </a:solidFill>
          <a:ln w="9525">
            <a:solidFill>
              <a:srgbClr val="0F3E7E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pPr marL="80364" algn="ctr">
              <a:tabLst>
                <a:tab pos="366104" algn="l"/>
              </a:tabLst>
            </a:pPr>
            <a:r>
              <a:rPr lang="en-US" sz="1700">
                <a:solidFill>
                  <a:srgbClr val="FFFFFF"/>
                </a:solidFill>
                <a:latin typeface="Arial Black" pitchFamily="1" charset="0"/>
                <a:ea typeface="Arial Black" pitchFamily="1" charset="0"/>
                <a:cs typeface="Arial Black" pitchFamily="1" charset="0"/>
                <a:sym typeface="Arial Black" pitchFamily="1" charset="0"/>
              </a:rPr>
              <a:t>Viruses</a:t>
            </a:r>
          </a:p>
        </p:txBody>
      </p:sp>
      <p:sp>
        <p:nvSpPr>
          <p:cNvPr id="28679" name="Rectangle 7"/>
          <p:cNvSpPr>
            <a:spLocks/>
          </p:cNvSpPr>
          <p:nvPr/>
        </p:nvSpPr>
        <p:spPr bwMode="auto">
          <a:xfrm>
            <a:off x="5813226" y="2250281"/>
            <a:ext cx="1919883" cy="500063"/>
          </a:xfrm>
          <a:prstGeom prst="rect">
            <a:avLst/>
          </a:prstGeom>
          <a:solidFill>
            <a:srgbClr val="0F3E7E">
              <a:alpha val="49803"/>
            </a:srgbClr>
          </a:solidFill>
          <a:ln w="9525">
            <a:solidFill>
              <a:srgbClr val="0F3E7E">
                <a:alpha val="50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pPr marL="80364" algn="ctr">
              <a:tabLst>
                <a:tab pos="366104" algn="l"/>
              </a:tabLst>
            </a:pPr>
            <a:r>
              <a:rPr lang="en-US" sz="1700">
                <a:solidFill>
                  <a:srgbClr val="FFFFFF"/>
                </a:solidFill>
                <a:latin typeface="Arial Black" pitchFamily="1" charset="0"/>
                <a:ea typeface="Arial Black" pitchFamily="1" charset="0"/>
                <a:cs typeface="Arial Black" pitchFamily="1" charset="0"/>
                <a:sym typeface="Arial Black" pitchFamily="1" charset="0"/>
              </a:rPr>
              <a:t>Bacterial cells</a:t>
            </a:r>
          </a:p>
        </p:txBody>
      </p:sp>
      <p:sp>
        <p:nvSpPr>
          <p:cNvPr id="28680" name="Rectangle 8"/>
          <p:cNvSpPr>
            <a:spLocks/>
          </p:cNvSpPr>
          <p:nvPr/>
        </p:nvSpPr>
        <p:spPr bwMode="auto">
          <a:xfrm>
            <a:off x="5813226" y="3464718"/>
            <a:ext cx="1919883" cy="500063"/>
          </a:xfrm>
          <a:prstGeom prst="rect">
            <a:avLst/>
          </a:prstGeom>
          <a:solidFill>
            <a:srgbClr val="0F3E7E">
              <a:alpha val="51764"/>
            </a:srgbClr>
          </a:solidFill>
          <a:ln w="9525">
            <a:solidFill>
              <a:srgbClr val="0F3E7E">
                <a:alpha val="51999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pPr marL="80364" algn="ctr">
              <a:tabLst>
                <a:tab pos="366104" algn="l"/>
              </a:tabLst>
            </a:pPr>
            <a:r>
              <a:rPr lang="en-US" sz="1700">
                <a:solidFill>
                  <a:srgbClr val="FFFFFF"/>
                </a:solidFill>
                <a:latin typeface="Arial Black" pitchFamily="1" charset="0"/>
                <a:ea typeface="Arial Black" pitchFamily="1" charset="0"/>
                <a:cs typeface="Arial Black" pitchFamily="1" charset="0"/>
                <a:sym typeface="Arial Black" pitchFamily="1" charset="0"/>
              </a:rPr>
              <a:t>Fungal cells</a:t>
            </a:r>
          </a:p>
        </p:txBody>
      </p:sp>
      <p:sp>
        <p:nvSpPr>
          <p:cNvPr id="28681" name="Rectangle 9"/>
          <p:cNvSpPr>
            <a:spLocks/>
          </p:cNvSpPr>
          <p:nvPr/>
        </p:nvSpPr>
        <p:spPr bwMode="auto">
          <a:xfrm>
            <a:off x="5813226" y="4232672"/>
            <a:ext cx="1919883" cy="500063"/>
          </a:xfrm>
          <a:prstGeom prst="rect">
            <a:avLst/>
          </a:prstGeom>
          <a:solidFill>
            <a:srgbClr val="0F3E7E">
              <a:alpha val="51764"/>
            </a:srgbClr>
          </a:solidFill>
          <a:ln w="9525">
            <a:solidFill>
              <a:srgbClr val="0F3E7E">
                <a:alpha val="51999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pPr marL="80364" algn="ctr">
              <a:tabLst>
                <a:tab pos="366104" algn="l"/>
              </a:tabLst>
            </a:pPr>
            <a:r>
              <a:rPr lang="en-US" sz="1700" dirty="0" err="1">
                <a:solidFill>
                  <a:srgbClr val="FFFFFF"/>
                </a:solidFill>
                <a:latin typeface="Arial Black" pitchFamily="1" charset="0"/>
                <a:ea typeface="Arial Black" pitchFamily="1" charset="0"/>
                <a:cs typeface="Arial Black" pitchFamily="1" charset="0"/>
                <a:sym typeface="Arial Black" pitchFamily="1" charset="0"/>
              </a:rPr>
              <a:t>Protist</a:t>
            </a:r>
            <a:r>
              <a:rPr lang="en-US" sz="1700" dirty="0">
                <a:solidFill>
                  <a:srgbClr val="FFFFFF"/>
                </a:solidFill>
                <a:latin typeface="Arial Black" pitchFamily="1" charset="0"/>
                <a:ea typeface="Arial Black" pitchFamily="1" charset="0"/>
                <a:cs typeface="Arial Black" pitchFamily="1" charset="0"/>
                <a:sym typeface="Arial Black" pitchFamily="1" charset="0"/>
              </a:rPr>
              <a:t> cells</a:t>
            </a:r>
          </a:p>
        </p:txBody>
      </p:sp>
      <p:sp>
        <p:nvSpPr>
          <p:cNvPr id="28682" name="Rectangle 10"/>
          <p:cNvSpPr>
            <a:spLocks/>
          </p:cNvSpPr>
          <p:nvPr/>
        </p:nvSpPr>
        <p:spPr bwMode="auto">
          <a:xfrm>
            <a:off x="5813226" y="5357812"/>
            <a:ext cx="1919883" cy="500063"/>
          </a:xfrm>
          <a:prstGeom prst="rect">
            <a:avLst/>
          </a:prstGeom>
          <a:solidFill>
            <a:srgbClr val="0F3E7E">
              <a:alpha val="51764"/>
            </a:srgbClr>
          </a:solidFill>
          <a:ln w="9525">
            <a:solidFill>
              <a:srgbClr val="0F3E7E">
                <a:alpha val="51999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pPr marL="80364" algn="ctr">
              <a:tabLst>
                <a:tab pos="366104" algn="l"/>
              </a:tabLst>
            </a:pPr>
            <a:r>
              <a:rPr lang="en-US" sz="1700">
                <a:solidFill>
                  <a:srgbClr val="FFFFFF"/>
                </a:solidFill>
                <a:latin typeface="Arial Black" pitchFamily="1" charset="0"/>
                <a:ea typeface="Arial Black" pitchFamily="1" charset="0"/>
                <a:cs typeface="Arial Black" pitchFamily="1" charset="0"/>
                <a:sym typeface="Arial Black" pitchFamily="1" charset="0"/>
              </a:rPr>
              <a:t>Animal cells</a:t>
            </a:r>
          </a:p>
        </p:txBody>
      </p:sp>
      <p:sp>
        <p:nvSpPr>
          <p:cNvPr id="28683" name="Rectangle 11"/>
          <p:cNvSpPr>
            <a:spLocks/>
          </p:cNvSpPr>
          <p:nvPr/>
        </p:nvSpPr>
        <p:spPr bwMode="auto">
          <a:xfrm>
            <a:off x="5813226" y="6125765"/>
            <a:ext cx="1919883" cy="500063"/>
          </a:xfrm>
          <a:prstGeom prst="rect">
            <a:avLst/>
          </a:prstGeom>
          <a:solidFill>
            <a:srgbClr val="0F3E7E">
              <a:alpha val="51764"/>
            </a:srgbClr>
          </a:solidFill>
          <a:ln w="9525">
            <a:solidFill>
              <a:srgbClr val="0F3E7E">
                <a:alpha val="51999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pPr marL="80364" algn="ctr">
              <a:tabLst>
                <a:tab pos="366104" algn="l"/>
              </a:tabLst>
            </a:pPr>
            <a:r>
              <a:rPr lang="en-US" sz="1700">
                <a:solidFill>
                  <a:srgbClr val="FFFFFF"/>
                </a:solidFill>
                <a:latin typeface="Arial Black" pitchFamily="1" charset="0"/>
                <a:ea typeface="Arial Black" pitchFamily="1" charset="0"/>
                <a:cs typeface="Arial Black" pitchFamily="1" charset="0"/>
                <a:sym typeface="Arial Black" pitchFamily="1" charset="0"/>
              </a:rPr>
              <a:t>Plant cells</a:t>
            </a:r>
          </a:p>
        </p:txBody>
      </p:sp>
      <p:sp>
        <p:nvSpPr>
          <p:cNvPr id="28684" name="AutoShape 12"/>
          <p:cNvSpPr>
            <a:spLocks/>
          </p:cNvSpPr>
          <p:nvPr/>
        </p:nvSpPr>
        <p:spPr bwMode="auto">
          <a:xfrm>
            <a:off x="724421" y="3321844"/>
            <a:ext cx="348258" cy="776883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0" y="0"/>
                </a:moveTo>
                <a:lnTo>
                  <a:pt x="432" y="21600"/>
                </a:lnTo>
                <a:lnTo>
                  <a:pt x="21600" y="21600"/>
                </a:lnTo>
              </a:path>
            </a:pathLst>
          </a:custGeom>
          <a:solidFill>
            <a:schemeClr val="accent1">
              <a:alpha val="14902"/>
            </a:schemeClr>
          </a:solidFill>
          <a:ln w="127000">
            <a:solidFill>
              <a:srgbClr val="16007D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64291" tIns="32146" rIns="64291" bIns="32146"/>
          <a:lstStyle/>
          <a:p>
            <a:endParaRPr lang="en-AU"/>
          </a:p>
        </p:txBody>
      </p:sp>
      <p:sp>
        <p:nvSpPr>
          <p:cNvPr id="28685" name="Line 13"/>
          <p:cNvSpPr>
            <a:spLocks noChangeShapeType="1"/>
          </p:cNvSpPr>
          <p:nvPr/>
        </p:nvSpPr>
        <p:spPr bwMode="auto">
          <a:xfrm rot="10800000">
            <a:off x="2838525" y="1401961"/>
            <a:ext cx="2947913" cy="0"/>
          </a:xfrm>
          <a:prstGeom prst="line">
            <a:avLst/>
          </a:prstGeom>
          <a:noFill/>
          <a:ln w="127000">
            <a:solidFill>
              <a:srgbClr val="16007D"/>
            </a:solidFill>
            <a:round/>
            <a:headEnd type="stealth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64291" tIns="32146" rIns="64291" bIns="32146"/>
          <a:lstStyle/>
          <a:p>
            <a:endParaRPr lang="en-AU"/>
          </a:p>
        </p:txBody>
      </p:sp>
      <p:sp>
        <p:nvSpPr>
          <p:cNvPr id="28686" name="AutoShape 14"/>
          <p:cNvSpPr>
            <a:spLocks/>
          </p:cNvSpPr>
          <p:nvPr/>
        </p:nvSpPr>
        <p:spPr bwMode="auto">
          <a:xfrm>
            <a:off x="2232422" y="2500313"/>
            <a:ext cx="446484" cy="129703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0" y="21600"/>
                </a:moveTo>
                <a:lnTo>
                  <a:pt x="0" y="0"/>
                </a:lnTo>
                <a:lnTo>
                  <a:pt x="21600" y="0"/>
                </a:lnTo>
              </a:path>
            </a:pathLst>
          </a:custGeom>
          <a:solidFill>
            <a:schemeClr val="accent1">
              <a:alpha val="14902"/>
            </a:schemeClr>
          </a:solidFill>
          <a:ln w="127000">
            <a:solidFill>
              <a:srgbClr val="16007D"/>
            </a:solidFill>
            <a:miter lim="800000"/>
            <a:headEnd/>
            <a:tailEnd type="stealth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64291" tIns="32146" rIns="64291" bIns="32146"/>
          <a:lstStyle/>
          <a:p>
            <a:endParaRPr lang="en-AU"/>
          </a:p>
        </p:txBody>
      </p:sp>
      <p:sp>
        <p:nvSpPr>
          <p:cNvPr id="28687" name="AutoShape 15"/>
          <p:cNvSpPr>
            <a:spLocks/>
          </p:cNvSpPr>
          <p:nvPr/>
        </p:nvSpPr>
        <p:spPr bwMode="auto">
          <a:xfrm>
            <a:off x="2214562" y="4297412"/>
            <a:ext cx="464344" cy="726654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0" y="0"/>
                </a:moveTo>
                <a:lnTo>
                  <a:pt x="0" y="21600"/>
                </a:lnTo>
                <a:lnTo>
                  <a:pt x="21600" y="21423"/>
                </a:lnTo>
              </a:path>
            </a:pathLst>
          </a:custGeom>
          <a:solidFill>
            <a:schemeClr val="accent1">
              <a:alpha val="14902"/>
            </a:schemeClr>
          </a:solidFill>
          <a:ln w="127000">
            <a:solidFill>
              <a:srgbClr val="16007D"/>
            </a:solidFill>
            <a:miter lim="800000"/>
            <a:headEnd/>
            <a:tailEnd type="stealth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64291" tIns="32146" rIns="64291" bIns="32146"/>
          <a:lstStyle/>
          <a:p>
            <a:endParaRPr lang="en-AU"/>
          </a:p>
        </p:txBody>
      </p:sp>
      <p:sp>
        <p:nvSpPr>
          <p:cNvPr id="28688" name="Line 16"/>
          <p:cNvSpPr>
            <a:spLocks noChangeShapeType="1"/>
          </p:cNvSpPr>
          <p:nvPr/>
        </p:nvSpPr>
        <p:spPr bwMode="auto">
          <a:xfrm flipH="1">
            <a:off x="5223867" y="2500313"/>
            <a:ext cx="598289" cy="0"/>
          </a:xfrm>
          <a:prstGeom prst="line">
            <a:avLst/>
          </a:prstGeom>
          <a:noFill/>
          <a:ln w="127000">
            <a:solidFill>
              <a:srgbClr val="16007D"/>
            </a:solidFill>
            <a:round/>
            <a:headEnd type="stealth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64291" tIns="32146" rIns="64291" bIns="32146"/>
          <a:lstStyle/>
          <a:p>
            <a:endParaRPr lang="en-AU"/>
          </a:p>
        </p:txBody>
      </p:sp>
      <p:grpSp>
        <p:nvGrpSpPr>
          <p:cNvPr id="28689" name="Group 17"/>
          <p:cNvGrpSpPr>
            <a:grpSpLocks/>
          </p:cNvGrpSpPr>
          <p:nvPr/>
        </p:nvGrpSpPr>
        <p:grpSpPr bwMode="auto">
          <a:xfrm>
            <a:off x="4526236" y="3677916"/>
            <a:ext cx="1259086" cy="2751460"/>
            <a:chOff x="0" y="0"/>
            <a:chExt cx="1127" cy="2464"/>
          </a:xfrm>
        </p:grpSpPr>
        <p:sp>
          <p:nvSpPr>
            <p:cNvPr id="28690" name="Line 18"/>
            <p:cNvSpPr>
              <a:spLocks noChangeShapeType="1"/>
            </p:cNvSpPr>
            <p:nvPr/>
          </p:nvSpPr>
          <p:spPr bwMode="auto">
            <a:xfrm flipH="1">
              <a:off x="2" y="1568"/>
              <a:ext cx="2" cy="896"/>
            </a:xfrm>
            <a:prstGeom prst="line">
              <a:avLst/>
            </a:prstGeom>
            <a:noFill/>
            <a:ln w="127000">
              <a:solidFill>
                <a:srgbClr val="16007D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8691" name="Line 19"/>
            <p:cNvSpPr>
              <a:spLocks noChangeShapeType="1"/>
            </p:cNvSpPr>
            <p:nvPr/>
          </p:nvSpPr>
          <p:spPr bwMode="auto">
            <a:xfrm>
              <a:off x="4" y="0"/>
              <a:ext cx="0" cy="759"/>
            </a:xfrm>
            <a:prstGeom prst="line">
              <a:avLst/>
            </a:prstGeom>
            <a:noFill/>
            <a:ln w="127000">
              <a:solidFill>
                <a:srgbClr val="16007D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8692" name="Line 20"/>
            <p:cNvSpPr>
              <a:spLocks noChangeShapeType="1"/>
            </p:cNvSpPr>
            <p:nvPr/>
          </p:nvSpPr>
          <p:spPr bwMode="auto">
            <a:xfrm flipH="1">
              <a:off x="0" y="41"/>
              <a:ext cx="1128" cy="0"/>
            </a:xfrm>
            <a:prstGeom prst="line">
              <a:avLst/>
            </a:prstGeom>
            <a:noFill/>
            <a:ln w="127000">
              <a:solidFill>
                <a:srgbClr val="16007D"/>
              </a:solidFill>
              <a:round/>
              <a:headEnd type="stealth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8693" name="Line 21"/>
            <p:cNvSpPr>
              <a:spLocks noChangeShapeType="1"/>
            </p:cNvSpPr>
            <p:nvPr/>
          </p:nvSpPr>
          <p:spPr bwMode="auto">
            <a:xfrm flipH="1">
              <a:off x="8" y="658"/>
              <a:ext cx="1119" cy="6"/>
            </a:xfrm>
            <a:prstGeom prst="line">
              <a:avLst/>
            </a:prstGeom>
            <a:noFill/>
            <a:ln w="127000">
              <a:solidFill>
                <a:srgbClr val="16007D"/>
              </a:solidFill>
              <a:round/>
              <a:headEnd type="stealth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8694" name="Line 22"/>
            <p:cNvSpPr>
              <a:spLocks noChangeShapeType="1"/>
            </p:cNvSpPr>
            <p:nvPr/>
          </p:nvSpPr>
          <p:spPr bwMode="auto">
            <a:xfrm flipH="1">
              <a:off x="0" y="2424"/>
              <a:ext cx="1128" cy="0"/>
            </a:xfrm>
            <a:prstGeom prst="line">
              <a:avLst/>
            </a:prstGeom>
            <a:noFill/>
            <a:ln w="127000">
              <a:solidFill>
                <a:srgbClr val="16007D"/>
              </a:solidFill>
              <a:round/>
              <a:headEnd type="stealth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8695" name="Line 23"/>
            <p:cNvSpPr>
              <a:spLocks noChangeShapeType="1"/>
            </p:cNvSpPr>
            <p:nvPr/>
          </p:nvSpPr>
          <p:spPr bwMode="auto">
            <a:xfrm flipH="1">
              <a:off x="0" y="1752"/>
              <a:ext cx="1128" cy="0"/>
            </a:xfrm>
            <a:prstGeom prst="line">
              <a:avLst/>
            </a:prstGeom>
            <a:noFill/>
            <a:ln w="127000">
              <a:solidFill>
                <a:srgbClr val="16007D"/>
              </a:solidFill>
              <a:round/>
              <a:headEnd type="stealth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28696" name="Rectangle 24"/>
          <p:cNvSpPr>
            <a:spLocks/>
          </p:cNvSpPr>
          <p:nvPr/>
        </p:nvSpPr>
        <p:spPr bwMode="auto">
          <a:xfrm>
            <a:off x="812602" y="2018109"/>
            <a:ext cx="222497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 marL="80364">
              <a:tabLst>
                <a:tab pos="366104" algn="l"/>
              </a:tabLst>
            </a:pPr>
            <a:r>
              <a:rPr lang="en-US">
                <a:solidFill>
                  <a:schemeClr val="tx1"/>
                </a:solidFill>
                <a:latin typeface="Arial Black" pitchFamily="1" charset="0"/>
                <a:ea typeface="Arial Black" pitchFamily="1" charset="0"/>
                <a:cs typeface="Arial Black" pitchFamily="1" charset="0"/>
                <a:sym typeface="Arial Black" pitchFamily="1" charset="0"/>
              </a:rPr>
              <a:t>?</a:t>
            </a:r>
          </a:p>
        </p:txBody>
      </p:sp>
      <p:sp>
        <p:nvSpPr>
          <p:cNvPr id="28697" name="Rectangle 25"/>
          <p:cNvSpPr>
            <a:spLocks/>
          </p:cNvSpPr>
          <p:nvPr/>
        </p:nvSpPr>
        <p:spPr bwMode="auto">
          <a:xfrm>
            <a:off x="285750" y="2018109"/>
            <a:ext cx="222497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 marL="80364">
              <a:tabLst>
                <a:tab pos="366104" algn="l"/>
              </a:tabLst>
            </a:pPr>
            <a:r>
              <a:rPr lang="en-US">
                <a:solidFill>
                  <a:schemeClr val="tx1"/>
                </a:solidFill>
                <a:latin typeface="Arial Black" pitchFamily="1" charset="0"/>
                <a:ea typeface="Arial Black" pitchFamily="1" charset="0"/>
                <a:cs typeface="Arial Black" pitchFamily="1" charset="0"/>
                <a:sym typeface="Arial Black" pitchFamily="1" charset="0"/>
              </a:rPr>
              <a:t>?</a:t>
            </a:r>
          </a:p>
        </p:txBody>
      </p:sp>
      <p:pic>
        <p:nvPicPr>
          <p:cNvPr id="28698" name="Picture 2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4914" y="4875609"/>
            <a:ext cx="1011287" cy="9465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190500" dist="190499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</p:pic>
      <p:pic>
        <p:nvPicPr>
          <p:cNvPr id="28699" name="Picture 2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4568" y="2693920"/>
            <a:ext cx="1419820" cy="1553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190500" dist="190499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</p:pic>
      <p:pic>
        <p:nvPicPr>
          <p:cNvPr id="28700" name="Picture 2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6319" y="5911453"/>
            <a:ext cx="1116211" cy="93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190500" dist="190499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</p:pic>
      <p:pic>
        <p:nvPicPr>
          <p:cNvPr id="28701" name="Picture 29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662249">
            <a:off x="7551686" y="4028169"/>
            <a:ext cx="1465585" cy="14466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190500" dist="190499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</p:pic>
      <p:pic>
        <p:nvPicPr>
          <p:cNvPr id="28702" name="Picture 30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4147" y="549175"/>
            <a:ext cx="1348383" cy="136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190500" dist="190499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</p:pic>
      <p:pic>
        <p:nvPicPr>
          <p:cNvPr id="28703" name="Picture 31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9884694">
            <a:off x="7701258" y="1928812"/>
            <a:ext cx="1166441" cy="1000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190500" dist="190499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</p:pic>
      <p:sp>
        <p:nvSpPr>
          <p:cNvPr id="28704" name="Rectangle 32"/>
          <p:cNvSpPr>
            <a:spLocks/>
          </p:cNvSpPr>
          <p:nvPr/>
        </p:nvSpPr>
        <p:spPr bwMode="auto">
          <a:xfrm>
            <a:off x="1080492" y="1125141"/>
            <a:ext cx="1759148" cy="562570"/>
          </a:xfrm>
          <a:prstGeom prst="rect">
            <a:avLst/>
          </a:prstGeom>
          <a:solidFill>
            <a:srgbClr val="46007E">
              <a:alpha val="50980"/>
            </a:srgbClr>
          </a:solidFill>
          <a:ln w="9525">
            <a:solidFill>
              <a:srgbClr val="46007E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pPr marL="80364" algn="ctr">
              <a:tabLst>
                <a:tab pos="366104" algn="l"/>
              </a:tabLst>
            </a:pPr>
            <a:r>
              <a:rPr lang="en-US" sz="1700">
                <a:solidFill>
                  <a:srgbClr val="FFFFFF"/>
                </a:solidFill>
                <a:latin typeface="Arial Black" pitchFamily="1" charset="0"/>
                <a:ea typeface="Arial Black" pitchFamily="1" charset="0"/>
                <a:cs typeface="Arial Black" pitchFamily="1" charset="0"/>
                <a:sym typeface="Arial Black" pitchFamily="1" charset="0"/>
              </a:rPr>
              <a:t>Non-cellular</a:t>
            </a:r>
          </a:p>
        </p:txBody>
      </p:sp>
      <p:sp>
        <p:nvSpPr>
          <p:cNvPr id="28705" name="Rectangle 33"/>
          <p:cNvSpPr>
            <a:spLocks/>
          </p:cNvSpPr>
          <p:nvPr/>
        </p:nvSpPr>
        <p:spPr bwMode="auto">
          <a:xfrm>
            <a:off x="1080492" y="3795117"/>
            <a:ext cx="1732359" cy="500063"/>
          </a:xfrm>
          <a:prstGeom prst="rect">
            <a:avLst/>
          </a:prstGeom>
          <a:solidFill>
            <a:srgbClr val="46007E">
              <a:alpha val="49803"/>
            </a:srgbClr>
          </a:solidFill>
          <a:ln w="9525">
            <a:solidFill>
              <a:srgbClr val="46007E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pPr marL="80364" algn="ctr">
              <a:tabLst>
                <a:tab pos="366104" algn="l"/>
              </a:tabLst>
            </a:pPr>
            <a:r>
              <a:rPr lang="en-US" sz="1700">
                <a:solidFill>
                  <a:srgbClr val="FFFFFF"/>
                </a:solidFill>
                <a:latin typeface="Arial Black" pitchFamily="1" charset="0"/>
                <a:ea typeface="Arial Black" pitchFamily="1" charset="0"/>
                <a:cs typeface="Arial Black" pitchFamily="1" charset="0"/>
                <a:sym typeface="Arial Black" pitchFamily="1" charset="0"/>
              </a:rPr>
              <a:t>Cells</a:t>
            </a:r>
          </a:p>
        </p:txBody>
      </p:sp>
      <p:sp>
        <p:nvSpPr>
          <p:cNvPr id="28706" name="Rectangle 34"/>
          <p:cNvSpPr>
            <a:spLocks/>
          </p:cNvSpPr>
          <p:nvPr/>
        </p:nvSpPr>
        <p:spPr bwMode="auto">
          <a:xfrm>
            <a:off x="265648" y="5847166"/>
            <a:ext cx="3312914" cy="8036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 marL="80364">
              <a:lnSpc>
                <a:spcPct val="105000"/>
              </a:lnSpc>
              <a:tabLst>
                <a:tab pos="366104" algn="l"/>
              </a:tabLst>
            </a:pPr>
            <a:r>
              <a:rPr lang="en-US" sz="1500" dirty="0">
                <a:solidFill>
                  <a:srgbClr val="2D00FA"/>
                </a:solidFill>
                <a:latin typeface="Arial" charset="0"/>
                <a:cs typeface="Arial" charset="0"/>
                <a:sym typeface="Arial" charset="0"/>
              </a:rPr>
              <a:t>The division of living organisms into </a:t>
            </a:r>
            <a:r>
              <a:rPr lang="en-US" sz="1500" b="1" dirty="0">
                <a:solidFill>
                  <a:srgbClr val="2D00FA"/>
                </a:solidFill>
                <a:latin typeface="Arial" charset="0"/>
                <a:cs typeface="Arial" charset="0"/>
                <a:sym typeface="Arial" charset="0"/>
              </a:rPr>
              <a:t>prokaryotes</a:t>
            </a:r>
            <a:r>
              <a:rPr lang="en-US" sz="1500" dirty="0">
                <a:solidFill>
                  <a:srgbClr val="2D00FA"/>
                </a:solidFill>
                <a:latin typeface="Arial" charset="0"/>
                <a:cs typeface="Arial" charset="0"/>
                <a:sym typeface="Arial" charset="0"/>
              </a:rPr>
              <a:t> and </a:t>
            </a:r>
            <a:r>
              <a:rPr lang="en-US" sz="1500" b="1" dirty="0">
                <a:solidFill>
                  <a:srgbClr val="2D00FA"/>
                </a:solidFill>
                <a:latin typeface="Arial" charset="0"/>
                <a:cs typeface="Arial" charset="0"/>
                <a:sym typeface="Arial" charset="0"/>
              </a:rPr>
              <a:t>eukaryotes</a:t>
            </a:r>
            <a:r>
              <a:rPr lang="en-US" sz="1500" dirty="0">
                <a:solidFill>
                  <a:srgbClr val="2D00FA"/>
                </a:solidFill>
                <a:latin typeface="Arial" charset="0"/>
                <a:cs typeface="Arial" charset="0"/>
                <a:sym typeface="Arial" charset="0"/>
              </a:rPr>
              <a:t> is a fundamental classification division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81940DEF-E41A-B87C-DB07-C603016E5F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778027" y="31898"/>
            <a:ext cx="3983439" cy="632682"/>
          </a:xfrm>
        </p:spPr>
        <p:txBody>
          <a:bodyPr>
            <a:normAutofit fontScale="90000"/>
          </a:bodyPr>
          <a:lstStyle/>
          <a:p>
            <a:r>
              <a:rPr lang="en-US" sz="4400" dirty="0"/>
              <a:t>Living Organisms</a:t>
            </a:r>
          </a:p>
        </p:txBody>
      </p:sp>
    </p:spTree>
    <p:extLst>
      <p:ext uri="{BB962C8B-B14F-4D97-AF65-F5344CB8AC3E}">
        <p14:creationId xmlns:p14="http://schemas.microsoft.com/office/powerpoint/2010/main" val="2554672081"/>
      </p:ext>
    </p:extLst>
  </p:cSld>
  <p:clrMapOvr>
    <a:masterClrMapping/>
  </p:clrMapOvr>
  <p:transition spd="slow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608" y="197118"/>
            <a:ext cx="8229600" cy="1143000"/>
          </a:xfrm>
        </p:spPr>
        <p:txBody>
          <a:bodyPr/>
          <a:lstStyle/>
          <a:p>
            <a:r>
              <a:rPr lang="en-AU" dirty="0"/>
              <a:t>Prokaryotic vs Eurokaryotic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3568" y="1682553"/>
            <a:ext cx="8229600" cy="2357616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Cells in our world come in two basic types: 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prokaryotic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eukaryotic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 lvl="1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"</a:t>
            </a:r>
            <a:r>
              <a:rPr lang="en-US" b="1" dirty="0" err="1">
                <a:latin typeface="Calibri" panose="020F0502020204030204" pitchFamily="34" charset="0"/>
                <a:cs typeface="Calibri" panose="020F0502020204030204" pitchFamily="34" charset="0"/>
              </a:rPr>
              <a:t>Karyo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" means “nucleus” of a cell. </a:t>
            </a:r>
          </a:p>
          <a:p>
            <a:pPr lvl="1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"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Pro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" means “before”. </a:t>
            </a:r>
          </a:p>
          <a:p>
            <a:pPr lvl="1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"</a:t>
            </a:r>
            <a:r>
              <a:rPr lang="en-US" b="1" dirty="0" err="1">
                <a:latin typeface="Calibri" panose="020F0502020204030204" pitchFamily="34" charset="0"/>
                <a:cs typeface="Calibri" panose="020F0502020204030204" pitchFamily="34" charset="0"/>
              </a:rPr>
              <a:t>eu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" means "true" or "good”. 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So "Prokaryotic" means "before a nucleus," and "eukaryotic" means "possessing a true nucleus." </a:t>
            </a:r>
            <a:endParaRPr lang="en-A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824" y="4347919"/>
            <a:ext cx="3390033" cy="22374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826818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7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8211" y="1125141"/>
            <a:ext cx="2991445" cy="39781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190500" dist="190499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</p:pic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74997"/>
            <a:ext cx="8229600" cy="1143000"/>
          </a:xfrm>
        </p:spPr>
        <p:txBody>
          <a:bodyPr/>
          <a:lstStyle/>
          <a:p>
            <a:r>
              <a:rPr lang="en-US" dirty="0"/>
              <a:t>Prokaryotes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12776"/>
            <a:ext cx="4258816" cy="4911824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Prokaryotic cells have 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no true nucleus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Their genetic material is found in a region called the nuclear area, but is not separated from the other cell material by a membrane. 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Prokaryotic cells are generally 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smaller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than eukaryotic cells.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Prokaryotes are usually </a:t>
            </a:r>
            <a:b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unicellular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organisms.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Bacteria and cyanobacteria are examples of prokaryotes.</a:t>
            </a:r>
          </a:p>
        </p:txBody>
      </p:sp>
      <p:grpSp>
        <p:nvGrpSpPr>
          <p:cNvPr id="29700" name="Group 4"/>
          <p:cNvGrpSpPr>
            <a:grpSpLocks/>
          </p:cNvGrpSpPr>
          <p:nvPr/>
        </p:nvGrpSpPr>
        <p:grpSpPr bwMode="auto">
          <a:xfrm>
            <a:off x="5808762" y="4266159"/>
            <a:ext cx="2741414" cy="1566044"/>
            <a:chOff x="0" y="0"/>
            <a:chExt cx="2456" cy="1403"/>
          </a:xfrm>
        </p:grpSpPr>
        <p:sp>
          <p:nvSpPr>
            <p:cNvPr id="29701" name="Rectangle 5"/>
            <p:cNvSpPr>
              <a:spLocks/>
            </p:cNvSpPr>
            <p:nvPr/>
          </p:nvSpPr>
          <p:spPr bwMode="auto">
            <a:xfrm>
              <a:off x="0" y="1099"/>
              <a:ext cx="2456" cy="3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pPr marL="80364">
                <a:lnSpc>
                  <a:spcPct val="105000"/>
                </a:lnSpc>
                <a:tabLst>
                  <a:tab pos="366104" algn="l"/>
                </a:tabLst>
              </a:pPr>
              <a:r>
                <a:rPr lang="en-US" sz="1500" i="1">
                  <a:solidFill>
                    <a:srgbClr val="2D00FA"/>
                  </a:solidFill>
                  <a:latin typeface="Arial" charset="0"/>
                  <a:cs typeface="Arial" charset="0"/>
                  <a:sym typeface="Arial" charset="0"/>
                </a:rPr>
                <a:t>E. coli</a:t>
              </a:r>
              <a:r>
                <a:rPr lang="en-US" sz="1500">
                  <a:solidFill>
                    <a:srgbClr val="2D00FA"/>
                  </a:solidFill>
                  <a:latin typeface="Arial" charset="0"/>
                  <a:cs typeface="Arial" charset="0"/>
                  <a:sym typeface="Arial" charset="0"/>
                </a:rPr>
                <a:t>: Lighter nuclear region</a:t>
              </a:r>
            </a:p>
          </p:txBody>
        </p:sp>
        <p:sp>
          <p:nvSpPr>
            <p:cNvPr id="29702" name="Line 6"/>
            <p:cNvSpPr>
              <a:spLocks noChangeShapeType="1"/>
            </p:cNvSpPr>
            <p:nvPr/>
          </p:nvSpPr>
          <p:spPr bwMode="auto">
            <a:xfrm>
              <a:off x="1099" y="36"/>
              <a:ext cx="0" cy="1049"/>
            </a:xfrm>
            <a:prstGeom prst="line">
              <a:avLst/>
            </a:prstGeom>
            <a:noFill/>
            <a:ln w="38100">
              <a:solidFill>
                <a:srgbClr val="FF0017"/>
              </a:solidFill>
              <a:round/>
              <a:headEnd type="oval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25400" dist="12699" dir="5400000" algn="ctr" rotWithShape="0">
                      <a:schemeClr val="bg2">
                        <a:alpha val="2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/>
            </a:p>
          </p:txBody>
        </p:sp>
      </p:grpSp>
      <p:pic>
        <p:nvPicPr>
          <p:cNvPr id="29703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5744" y="3868688"/>
            <a:ext cx="2135287" cy="2081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190500" dist="190499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11854728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9" grpId="0" build="p" bldLvl="5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1"/>
          <p:cNvSpPr>
            <a:spLocks noGrp="1" noChangeArrowheads="1"/>
          </p:cNvSpPr>
          <p:nvPr>
            <p:ph type="title"/>
          </p:nvPr>
        </p:nvSpPr>
        <p:spPr>
          <a:xfrm>
            <a:off x="1259632" y="292721"/>
            <a:ext cx="3642767" cy="843310"/>
          </a:xfrm>
        </p:spPr>
        <p:txBody>
          <a:bodyPr/>
          <a:lstStyle/>
          <a:p>
            <a:r>
              <a:rPr lang="en-US" dirty="0"/>
              <a:t>Eukaryotes</a:t>
            </a:r>
          </a:p>
        </p:txBody>
      </p:sp>
      <p:sp>
        <p:nvSpPr>
          <p:cNvPr id="3072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1340768"/>
            <a:ext cx="4618856" cy="5184576"/>
          </a:xfrm>
        </p:spPr>
        <p:txBody>
          <a:bodyPr>
            <a:normAutofit fontScale="92500"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Eukaryotes are characterized by having their 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genetic material contained within a nuclear membrane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Eukaryotic cells are generally much 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larger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than prokaryotic cells.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They are more complex cellular organisms and have a variety of internal membranes and structures, called 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organelles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Fungi, protists, animals and plants are all eukaryotic.</a:t>
            </a:r>
          </a:p>
        </p:txBody>
      </p:sp>
      <p:pic>
        <p:nvPicPr>
          <p:cNvPr id="307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2399" y="1205508"/>
            <a:ext cx="3509367" cy="3357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190500" dist="190499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</p:pic>
      <p:grpSp>
        <p:nvGrpSpPr>
          <p:cNvPr id="30724" name="Group 4"/>
          <p:cNvGrpSpPr>
            <a:grpSpLocks/>
          </p:cNvGrpSpPr>
          <p:nvPr/>
        </p:nvGrpSpPr>
        <p:grpSpPr bwMode="auto">
          <a:xfrm>
            <a:off x="6313289" y="3696891"/>
            <a:ext cx="2241352" cy="1741289"/>
            <a:chOff x="0" y="0"/>
            <a:chExt cx="2008" cy="1560"/>
          </a:xfrm>
        </p:grpSpPr>
        <p:sp>
          <p:nvSpPr>
            <p:cNvPr id="30725" name="Rectangle 5"/>
            <p:cNvSpPr>
              <a:spLocks/>
            </p:cNvSpPr>
            <p:nvPr/>
          </p:nvSpPr>
          <p:spPr bwMode="auto">
            <a:xfrm>
              <a:off x="0" y="1216"/>
              <a:ext cx="2008" cy="3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pPr marL="80364" algn="ctr">
                <a:lnSpc>
                  <a:spcPct val="90000"/>
                </a:lnSpc>
                <a:tabLst>
                  <a:tab pos="366104" algn="l"/>
                </a:tabLst>
              </a:pPr>
              <a:r>
                <a:rPr lang="en-US" sz="1400">
                  <a:solidFill>
                    <a:srgbClr val="2D00FA"/>
                  </a:solidFill>
                  <a:latin typeface="Arial" charset="0"/>
                  <a:cs typeface="Arial" charset="0"/>
                  <a:sym typeface="Arial" charset="0"/>
                </a:rPr>
                <a:t>Human lymphocyte. Note the clearly defined nucleus</a:t>
              </a:r>
            </a:p>
          </p:txBody>
        </p:sp>
        <p:sp>
          <p:nvSpPr>
            <p:cNvPr id="30726" name="Line 6"/>
            <p:cNvSpPr>
              <a:spLocks noChangeShapeType="1"/>
            </p:cNvSpPr>
            <p:nvPr/>
          </p:nvSpPr>
          <p:spPr bwMode="auto">
            <a:xfrm>
              <a:off x="687" y="45"/>
              <a:ext cx="384" cy="1147"/>
            </a:xfrm>
            <a:prstGeom prst="line">
              <a:avLst/>
            </a:prstGeom>
            <a:noFill/>
            <a:ln w="50800">
              <a:solidFill>
                <a:srgbClr val="FF0017"/>
              </a:solidFill>
              <a:round/>
              <a:headEnd type="oval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25400" dist="12699" dir="5400000" algn="ctr" rotWithShape="0">
                      <a:schemeClr val="bg2">
                        <a:alpha val="2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/>
            </a:p>
          </p:txBody>
        </p:sp>
      </p:grpSp>
    </p:spTree>
    <p:extLst>
      <p:ext uri="{BB962C8B-B14F-4D97-AF65-F5344CB8AC3E}">
        <p14:creationId xmlns:p14="http://schemas.microsoft.com/office/powerpoint/2010/main" val="4137787028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2" grpId="0" build="p" bldLvl="5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610" name="Picture 2" descr="http://userscontent2.emaze.com/images/41123c85-15f8-4a54-a1e4-a7e321976caa/a5a5cefc-60a2-4d74-bf91-a91e802ee5edimage4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132133"/>
            <a:ext cx="7704855" cy="57809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5913096"/>
            <a:ext cx="8229600" cy="792088"/>
          </a:xfrm>
        </p:spPr>
        <p:txBody>
          <a:bodyPr>
            <a:normAutofit fontScale="70000" lnSpcReduction="20000"/>
          </a:bodyPr>
          <a:lstStyle/>
          <a:p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A good website outlining the differences:</a:t>
            </a:r>
          </a:p>
          <a:p>
            <a:pPr marL="0" indent="0">
              <a:buNone/>
            </a:pPr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	 </a:t>
            </a:r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  <a:hlinkClick r:id="rId3"/>
              </a:rPr>
              <a:t>http://www.diffen.com/difference/Eukaryotic_Cell_vs_Prokaryotic_Cell</a:t>
            </a:r>
            <a:endParaRPr lang="en-AU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6485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1640" y="188640"/>
            <a:ext cx="7056784" cy="1143000"/>
          </a:xfrm>
        </p:spPr>
        <p:txBody>
          <a:bodyPr/>
          <a:lstStyle/>
          <a:p>
            <a:r>
              <a:rPr lang="en-AU" dirty="0"/>
              <a:t>Eukaryote vs Prokaryote</a:t>
            </a:r>
          </a:p>
        </p:txBody>
      </p:sp>
      <p:pic>
        <p:nvPicPr>
          <p:cNvPr id="33794" name="Picture 2" descr="https://s-media-cache-ak0.pinimg.com/736x/fe/ca/0b/feca0be25ecda61aca4a89692991d9e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546041"/>
            <a:ext cx="7920880" cy="5036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7202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Moodle &amp; Textbook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816" y="2852936"/>
            <a:ext cx="5461800" cy="1539533"/>
          </a:xfrm>
        </p:spPr>
        <p:txBody>
          <a:bodyPr>
            <a:normAutofit/>
          </a:bodyPr>
          <a:lstStyle/>
          <a:p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Chapter 8: Cells</a:t>
            </a:r>
          </a:p>
          <a:p>
            <a:endParaRPr lang="en-AU" dirty="0"/>
          </a:p>
          <a:p>
            <a:endParaRPr lang="en-AU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2" y="2420888"/>
            <a:ext cx="1866900" cy="2447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3975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3568" y="332656"/>
            <a:ext cx="8229600" cy="1143000"/>
          </a:xfrm>
        </p:spPr>
        <p:txBody>
          <a:bodyPr/>
          <a:lstStyle/>
          <a:p>
            <a:r>
              <a:rPr lang="en-AU" dirty="0"/>
              <a:t>Student Feedback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What I learnt today…..</a:t>
            </a:r>
          </a:p>
          <a:p>
            <a:endParaRPr lang="en-AU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AU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AU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AU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What I need to revise….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227867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990C7-FADD-347D-0AA7-FB6A9286E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E3CE3-E21C-650D-9DBD-C460EFB99B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061067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1"/>
          <p:cNvSpPr>
            <a:spLocks noGrp="1" noChangeArrowheads="1"/>
          </p:cNvSpPr>
          <p:nvPr>
            <p:ph type="title"/>
          </p:nvPr>
        </p:nvSpPr>
        <p:spPr>
          <a:xfrm>
            <a:off x="930160" y="81369"/>
            <a:ext cx="4019475" cy="1143000"/>
          </a:xfrm>
        </p:spPr>
        <p:txBody>
          <a:bodyPr/>
          <a:lstStyle/>
          <a:p>
            <a:r>
              <a:rPr lang="en-US" dirty="0"/>
              <a:t>Eukaryotes</a:t>
            </a:r>
          </a:p>
        </p:txBody>
      </p:sp>
      <p:sp>
        <p:nvSpPr>
          <p:cNvPr id="3174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95536" y="1485443"/>
            <a:ext cx="5410944" cy="1944216"/>
          </a:xfrm>
        </p:spPr>
        <p:txBody>
          <a:bodyPr>
            <a:norm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Eukaryote organisms can be:</a:t>
            </a:r>
          </a:p>
          <a:p>
            <a:pPr lvl="1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unicellular organisms (e.g. the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protists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).</a:t>
            </a:r>
          </a:p>
          <a:p>
            <a:pPr lvl="1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multicellular organisms (e.g. plants).</a:t>
            </a:r>
          </a:p>
        </p:txBody>
      </p:sp>
      <p:grpSp>
        <p:nvGrpSpPr>
          <p:cNvPr id="31747" name="Group 3"/>
          <p:cNvGrpSpPr>
            <a:grpSpLocks/>
          </p:cNvGrpSpPr>
          <p:nvPr/>
        </p:nvGrpSpPr>
        <p:grpSpPr bwMode="auto">
          <a:xfrm>
            <a:off x="683569" y="3501008"/>
            <a:ext cx="3096344" cy="3195588"/>
            <a:chOff x="0" y="0"/>
            <a:chExt cx="3094" cy="3507"/>
          </a:xfrm>
        </p:grpSpPr>
        <p:sp>
          <p:nvSpPr>
            <p:cNvPr id="31748" name="Rectangle 4"/>
            <p:cNvSpPr>
              <a:spLocks/>
            </p:cNvSpPr>
            <p:nvPr/>
          </p:nvSpPr>
          <p:spPr bwMode="auto">
            <a:xfrm>
              <a:off x="231" y="3139"/>
              <a:ext cx="1728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pPr marL="80364" algn="ctr">
                <a:lnSpc>
                  <a:spcPct val="105000"/>
                </a:lnSpc>
                <a:tabLst>
                  <a:tab pos="366104" algn="l"/>
                </a:tabLst>
              </a:pPr>
              <a:r>
                <a:rPr lang="en-US" sz="1400">
                  <a:solidFill>
                    <a:srgbClr val="2D00FA"/>
                  </a:solidFill>
                  <a:latin typeface="Arial" charset="0"/>
                  <a:cs typeface="Arial" charset="0"/>
                  <a:sym typeface="Arial" charset="0"/>
                </a:rPr>
                <a:t>Unicellular eukaryote, </a:t>
              </a:r>
              <a:r>
                <a:rPr lang="en-US" sz="1400" i="1">
                  <a:solidFill>
                    <a:srgbClr val="2D00FA"/>
                  </a:solidFill>
                  <a:latin typeface="Arial" charset="0"/>
                  <a:cs typeface="Arial" charset="0"/>
                  <a:sym typeface="Arial" charset="0"/>
                </a:rPr>
                <a:t>Euglena</a:t>
              </a:r>
            </a:p>
          </p:txBody>
        </p:sp>
        <p:pic>
          <p:nvPicPr>
            <p:cNvPr id="31749" name="Picture 5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-2700000">
              <a:off x="103" y="803"/>
              <a:ext cx="2888" cy="14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190500" dist="190499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</p:pic>
      </p:grpSp>
      <p:grpSp>
        <p:nvGrpSpPr>
          <p:cNvPr id="31750" name="Group 6"/>
          <p:cNvGrpSpPr>
            <a:grpSpLocks/>
          </p:cNvGrpSpPr>
          <p:nvPr/>
        </p:nvGrpSpPr>
        <p:grpSpPr bwMode="auto">
          <a:xfrm>
            <a:off x="4839891" y="366117"/>
            <a:ext cx="4080867" cy="6152555"/>
            <a:chOff x="0" y="0"/>
            <a:chExt cx="3656" cy="5512"/>
          </a:xfrm>
        </p:grpSpPr>
        <p:sp>
          <p:nvSpPr>
            <p:cNvPr id="31751" name="Rectangle 7"/>
            <p:cNvSpPr>
              <a:spLocks/>
            </p:cNvSpPr>
            <p:nvPr/>
          </p:nvSpPr>
          <p:spPr bwMode="auto">
            <a:xfrm>
              <a:off x="1840" y="5144"/>
              <a:ext cx="1816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pPr marL="80364" algn="ctr">
                <a:lnSpc>
                  <a:spcPct val="105000"/>
                </a:lnSpc>
                <a:tabLst>
                  <a:tab pos="366104" algn="l"/>
                </a:tabLst>
              </a:pPr>
              <a:r>
                <a:rPr lang="en-US" sz="1400">
                  <a:solidFill>
                    <a:srgbClr val="2D00FA"/>
                  </a:solidFill>
                  <a:latin typeface="Arial" charset="0"/>
                  <a:cs typeface="Arial" charset="0"/>
                  <a:sym typeface="Arial" charset="0"/>
                </a:rPr>
                <a:t>Multicellular eukaryotes, bean seedlings</a:t>
              </a:r>
            </a:p>
          </p:txBody>
        </p:sp>
        <p:pic>
          <p:nvPicPr>
            <p:cNvPr id="31752" name="Picture 8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3601" cy="5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190500" dist="190499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126776480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6" grpId="0" build="p" bldLvl="5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1"/>
          <p:cNvSpPr>
            <a:spLocks noGrp="1" noChangeArrowheads="1"/>
          </p:cNvSpPr>
          <p:nvPr>
            <p:ph type="title"/>
          </p:nvPr>
        </p:nvSpPr>
        <p:spPr>
          <a:xfrm>
            <a:off x="539552" y="767953"/>
            <a:ext cx="828092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The advantages of being multicellular</a:t>
            </a:r>
          </a:p>
        </p:txBody>
      </p:sp>
      <p:sp>
        <p:nvSpPr>
          <p:cNvPr id="3277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2223492"/>
            <a:ext cx="3677245" cy="4101108"/>
          </a:xfrm>
        </p:spPr>
        <p:txBody>
          <a:bodyPr>
            <a:normAutofit/>
          </a:bodyPr>
          <a:lstStyle/>
          <a:p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The evolution of multicellular organisms resulted in an </a:t>
            </a:r>
            <a:r>
              <a:rPr lang="en-US" sz="2100" b="1" dirty="0">
                <a:latin typeface="Calibri" panose="020F0502020204030204" pitchFamily="34" charset="0"/>
                <a:cs typeface="Calibri" panose="020F0502020204030204" pitchFamily="34" charset="0"/>
              </a:rPr>
              <a:t>increase of biological diversity</a:t>
            </a: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Multicellular organisms are able to better adapt to a variety of environments and conditions because they can form specialist cells, tissues and/or organs to perform specific tasks. </a:t>
            </a:r>
          </a:p>
        </p:txBody>
      </p:sp>
      <p:pic>
        <p:nvPicPr>
          <p:cNvPr id="327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4414" y="455414"/>
            <a:ext cx="5063133" cy="50631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190500" dist="190499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</p:pic>
      <p:grpSp>
        <p:nvGrpSpPr>
          <p:cNvPr id="32772" name="Group 4"/>
          <p:cNvGrpSpPr>
            <a:grpSpLocks/>
          </p:cNvGrpSpPr>
          <p:nvPr/>
        </p:nvGrpSpPr>
        <p:grpSpPr bwMode="auto">
          <a:xfrm>
            <a:off x="4134445" y="4294064"/>
            <a:ext cx="4223742" cy="2099592"/>
            <a:chOff x="0" y="0"/>
            <a:chExt cx="3784" cy="1880"/>
          </a:xfrm>
        </p:grpSpPr>
        <p:sp>
          <p:nvSpPr>
            <p:cNvPr id="32773" name="Rectangle 5"/>
            <p:cNvSpPr>
              <a:spLocks/>
            </p:cNvSpPr>
            <p:nvPr/>
          </p:nvSpPr>
          <p:spPr bwMode="auto">
            <a:xfrm>
              <a:off x="0" y="784"/>
              <a:ext cx="3784" cy="10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pPr marL="80364">
                <a:tabLst>
                  <a:tab pos="366104" algn="l"/>
                </a:tabLst>
              </a:pPr>
              <a:r>
                <a:rPr lang="en-US" sz="1500" b="1" dirty="0">
                  <a:solidFill>
                    <a:srgbClr val="2D00FA"/>
                  </a:solidFill>
                  <a:latin typeface="Arial" charset="0"/>
                  <a:cs typeface="Arial" charset="0"/>
                  <a:sym typeface="Arial" charset="0"/>
                </a:rPr>
                <a:t>A bearded lizard</a:t>
              </a:r>
            </a:p>
            <a:p>
              <a:pPr marL="80364">
                <a:tabLst>
                  <a:tab pos="366104" algn="l"/>
                </a:tabLst>
              </a:pPr>
              <a:r>
                <a:rPr lang="en-US" sz="1500" dirty="0">
                  <a:solidFill>
                    <a:srgbClr val="2D00FA"/>
                  </a:solidFill>
                  <a:latin typeface="Arial" charset="0"/>
                  <a:cs typeface="Arial" charset="0"/>
                  <a:sym typeface="Arial" charset="0"/>
                </a:rPr>
                <a:t>In multicellular organisms, specialized surface cells (in this case skin) collectively form a large organ that insulates the internal cells and tissues from environmental fluctuations.</a:t>
              </a:r>
            </a:p>
          </p:txBody>
        </p:sp>
        <p:sp>
          <p:nvSpPr>
            <p:cNvPr id="32774" name="Line 6"/>
            <p:cNvSpPr>
              <a:spLocks noChangeShapeType="1"/>
            </p:cNvSpPr>
            <p:nvPr/>
          </p:nvSpPr>
          <p:spPr bwMode="auto">
            <a:xfrm flipH="1">
              <a:off x="1344" y="30"/>
              <a:ext cx="422" cy="690"/>
            </a:xfrm>
            <a:prstGeom prst="line">
              <a:avLst/>
            </a:prstGeom>
            <a:noFill/>
            <a:ln w="38100">
              <a:solidFill>
                <a:srgbClr val="FF0017"/>
              </a:solidFill>
              <a:round/>
              <a:headEnd type="oval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/>
            </a:p>
          </p:txBody>
        </p:sp>
      </p:grpSp>
    </p:spTree>
    <p:extLst>
      <p:ext uri="{BB962C8B-B14F-4D97-AF65-F5344CB8AC3E}">
        <p14:creationId xmlns:p14="http://schemas.microsoft.com/office/powerpoint/2010/main" val="2712944187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0" grpId="0" build="p" bldLvl="5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2731" y="34076"/>
            <a:ext cx="6024201" cy="677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0457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068" y="44624"/>
            <a:ext cx="6049864" cy="680818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4140250" y="908720"/>
            <a:ext cx="108012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50" dirty="0"/>
              <a:t>All organisms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23728" y="2060848"/>
            <a:ext cx="108012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50" dirty="0"/>
              <a:t>Characteristics of life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60232" y="1700808"/>
            <a:ext cx="108012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50" dirty="0"/>
              <a:t>Viruses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62718" y="4287258"/>
            <a:ext cx="1080120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50" dirty="0"/>
              <a:t>Membrane bound organelles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8522" y="3483950"/>
            <a:ext cx="108012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50" dirty="0"/>
              <a:t>Eukaryote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7704" y="3326828"/>
            <a:ext cx="108012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50" dirty="0"/>
              <a:t>Prokaryote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48113" y="3416038"/>
            <a:ext cx="108012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50" dirty="0"/>
              <a:t>Nucleus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55976" y="2158028"/>
            <a:ext cx="108012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50" dirty="0"/>
              <a:t>Cells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65709" y="4361768"/>
            <a:ext cx="108012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50" dirty="0"/>
              <a:t>Fungi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8895" y="4919533"/>
            <a:ext cx="108012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50" dirty="0"/>
              <a:t>Animals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0666" y="5527232"/>
            <a:ext cx="108012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50" dirty="0"/>
              <a:t>Plants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6812" y="6113627"/>
            <a:ext cx="108012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50" dirty="0" err="1"/>
              <a:t>Protists</a:t>
            </a:r>
            <a:endParaRPr lang="en-AU" sz="1050" dirty="0"/>
          </a:p>
        </p:txBody>
      </p:sp>
      <p:sp>
        <p:nvSpPr>
          <p:cNvPr id="16" name="TextBox 15"/>
          <p:cNvSpPr txBox="1"/>
          <p:nvPr/>
        </p:nvSpPr>
        <p:spPr>
          <a:xfrm>
            <a:off x="1859727" y="4567867"/>
            <a:ext cx="108012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50" dirty="0"/>
              <a:t>Bacteria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59727" y="5400274"/>
            <a:ext cx="108012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50" dirty="0"/>
              <a:t>Unicellular</a:t>
            </a:r>
          </a:p>
        </p:txBody>
      </p:sp>
    </p:spTree>
    <p:extLst>
      <p:ext uri="{BB962C8B-B14F-4D97-AF65-F5344CB8AC3E}">
        <p14:creationId xmlns:p14="http://schemas.microsoft.com/office/powerpoint/2010/main" val="16072228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1"/>
          <p:cNvSpPr>
            <a:spLocks noGrp="1" noChangeArrowheads="1"/>
          </p:cNvSpPr>
          <p:nvPr>
            <p:ph type="title"/>
          </p:nvPr>
        </p:nvSpPr>
        <p:spPr>
          <a:xfrm>
            <a:off x="611560" y="170696"/>
            <a:ext cx="8229600" cy="1034654"/>
          </a:xfrm>
        </p:spPr>
        <p:txBody>
          <a:bodyPr>
            <a:noAutofit/>
          </a:bodyPr>
          <a:lstStyle/>
          <a:p>
            <a:r>
              <a:rPr lang="en-US" sz="4000" dirty="0"/>
              <a:t>Energy Requirements in Living Things</a:t>
            </a:r>
          </a:p>
        </p:txBody>
      </p:sp>
      <p:sp>
        <p:nvSpPr>
          <p:cNvPr id="3379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61363" y="1640678"/>
            <a:ext cx="4114800" cy="4554183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All organisms require energy to grow, reproduce, move and carry out maintenance and repairs. </a:t>
            </a: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Organisms can be classified on the basis of how they procure their energy:</a:t>
            </a:r>
          </a:p>
          <a:p>
            <a:pPr lvl="1"/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Autotrophs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make their own energy using light (photosynthesis) or chemical energy (chemosynthesis).</a:t>
            </a:r>
          </a:p>
          <a:p>
            <a:pPr lvl="1"/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Heterotrophs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obtain their energy from consuming other organisms or their dead remains.</a:t>
            </a:r>
          </a:p>
        </p:txBody>
      </p:sp>
      <p:grpSp>
        <p:nvGrpSpPr>
          <p:cNvPr id="33795" name="Group 3"/>
          <p:cNvGrpSpPr>
            <a:grpSpLocks/>
          </p:cNvGrpSpPr>
          <p:nvPr/>
        </p:nvGrpSpPr>
        <p:grpSpPr bwMode="auto">
          <a:xfrm>
            <a:off x="5295305" y="1482328"/>
            <a:ext cx="3393281" cy="2255863"/>
            <a:chOff x="0" y="0"/>
            <a:chExt cx="3040" cy="2021"/>
          </a:xfrm>
        </p:grpSpPr>
        <p:pic>
          <p:nvPicPr>
            <p:cNvPr id="33796" name="Picture 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3040" cy="20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190500" dist="190499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</p:pic>
        <p:sp>
          <p:nvSpPr>
            <p:cNvPr id="33797" name="Rectangle 5"/>
            <p:cNvSpPr>
              <a:spLocks/>
            </p:cNvSpPr>
            <p:nvPr/>
          </p:nvSpPr>
          <p:spPr bwMode="auto">
            <a:xfrm>
              <a:off x="120" y="1768"/>
              <a:ext cx="896" cy="1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pPr marL="80364">
                <a:tabLst>
                  <a:tab pos="366104" algn="l"/>
                </a:tabLst>
              </a:pPr>
              <a:r>
                <a:rPr lang="en-US" sz="1300" b="1">
                  <a:solidFill>
                    <a:srgbClr val="FFFFFF"/>
                  </a:solidFill>
                  <a:latin typeface="Arial" charset="0"/>
                  <a:cs typeface="Arial" charset="0"/>
                  <a:sym typeface="Arial" charset="0"/>
                </a:rPr>
                <a:t>Producers</a:t>
              </a:r>
            </a:p>
          </p:txBody>
        </p:sp>
      </p:grpSp>
      <p:grpSp>
        <p:nvGrpSpPr>
          <p:cNvPr id="33798" name="Group 6"/>
          <p:cNvGrpSpPr>
            <a:grpSpLocks/>
          </p:cNvGrpSpPr>
          <p:nvPr/>
        </p:nvGrpSpPr>
        <p:grpSpPr bwMode="auto">
          <a:xfrm>
            <a:off x="5295305" y="4054079"/>
            <a:ext cx="3394398" cy="2404318"/>
            <a:chOff x="0" y="0"/>
            <a:chExt cx="3041" cy="2154"/>
          </a:xfrm>
        </p:grpSpPr>
        <p:pic>
          <p:nvPicPr>
            <p:cNvPr id="33799" name="Picture 7"/>
            <p:cNvPicPr>
              <a:picLocks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3041" cy="2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190500" dist="190499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</p:pic>
        <p:sp>
          <p:nvSpPr>
            <p:cNvPr id="33800" name="Rectangle 8"/>
            <p:cNvSpPr>
              <a:spLocks/>
            </p:cNvSpPr>
            <p:nvPr/>
          </p:nvSpPr>
          <p:spPr bwMode="auto">
            <a:xfrm>
              <a:off x="120" y="1928"/>
              <a:ext cx="896" cy="1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pPr marL="80364">
                <a:tabLst>
                  <a:tab pos="366104" algn="l"/>
                </a:tabLst>
              </a:pPr>
              <a:r>
                <a:rPr lang="en-US" sz="1300" b="1">
                  <a:solidFill>
                    <a:srgbClr val="000000"/>
                  </a:solidFill>
                  <a:latin typeface="Arial" charset="0"/>
                  <a:cs typeface="Arial" charset="0"/>
                  <a:sym typeface="Arial" charset="0"/>
                </a:rPr>
                <a:t>Consumer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04839957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4" grpId="0" build="p" bldLvl="5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576" y="332656"/>
            <a:ext cx="8229600" cy="924712"/>
          </a:xfrm>
        </p:spPr>
        <p:txBody>
          <a:bodyPr>
            <a:noAutofit/>
          </a:bodyPr>
          <a:lstStyle/>
          <a:p>
            <a:r>
              <a:rPr lang="en-US" sz="4000" dirty="0"/>
              <a:t>Energy Requirements in Living Things</a:t>
            </a:r>
            <a:endParaRPr lang="en-AU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552" y="1916832"/>
            <a:ext cx="5328592" cy="4389120"/>
          </a:xfrm>
        </p:spPr>
        <p:txBody>
          <a:bodyPr>
            <a:normAutofit/>
          </a:bodyPr>
          <a:lstStyle/>
          <a:p>
            <a:r>
              <a:rPr lang="en-AU" sz="2500" dirty="0">
                <a:latin typeface="Calibri" panose="020F0502020204030204" pitchFamily="34" charset="0"/>
                <a:cs typeface="Calibri" panose="020F0502020204030204" pitchFamily="34" charset="0"/>
              </a:rPr>
              <a:t>Autotrophs are able to harness the energy released in chemical reactions.  This is known as </a:t>
            </a:r>
            <a:r>
              <a:rPr lang="en-AU" sz="2500" b="1" dirty="0">
                <a:latin typeface="Calibri" panose="020F0502020204030204" pitchFamily="34" charset="0"/>
                <a:cs typeface="Calibri" panose="020F0502020204030204" pitchFamily="34" charset="0"/>
              </a:rPr>
              <a:t>chemosynthesis</a:t>
            </a:r>
            <a:r>
              <a:rPr lang="en-AU" sz="25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en-AU" sz="2500" dirty="0">
                <a:latin typeface="Calibri" panose="020F0502020204030204" pitchFamily="34" charset="0"/>
                <a:cs typeface="Calibri" panose="020F0502020204030204" pitchFamily="34" charset="0"/>
              </a:rPr>
              <a:t>Autotrophs are able to convert the sun’s energy into the usable form of glucose via </a:t>
            </a:r>
            <a:r>
              <a:rPr lang="en-AU" sz="2500" b="1" dirty="0">
                <a:latin typeface="Calibri" panose="020F0502020204030204" pitchFamily="34" charset="0"/>
                <a:cs typeface="Calibri" panose="020F0502020204030204" pitchFamily="34" charset="0"/>
              </a:rPr>
              <a:t>photosynthesis</a:t>
            </a:r>
            <a:r>
              <a:rPr lang="en-AU" sz="25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en-AU" sz="2500" dirty="0">
                <a:latin typeface="Calibri" panose="020F0502020204030204" pitchFamily="34" charset="0"/>
                <a:cs typeface="Calibri" panose="020F0502020204030204" pitchFamily="34" charset="0"/>
              </a:rPr>
              <a:t>This glucose is then available to the autotrophs for energy and to heterotrophs when consumed.</a:t>
            </a:r>
          </a:p>
        </p:txBody>
      </p:sp>
      <p:pic>
        <p:nvPicPr>
          <p:cNvPr id="3074" name="Picture 2" descr="https://upload.wikimedia.org/wikipedia/commons/d/db/Photosynthesis.gi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9692" y="2060848"/>
            <a:ext cx="2718771" cy="3774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04215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7584" y="260648"/>
            <a:ext cx="8229600" cy="1143000"/>
          </a:xfrm>
        </p:spPr>
        <p:txBody>
          <a:bodyPr>
            <a:noAutofit/>
          </a:bodyPr>
          <a:lstStyle/>
          <a:p>
            <a:r>
              <a:rPr lang="en-US" sz="4000" dirty="0"/>
              <a:t>Energy Requirements in Living Things</a:t>
            </a:r>
            <a:endParaRPr lang="en-AU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552" y="1916832"/>
            <a:ext cx="8229600" cy="4389120"/>
          </a:xfrm>
        </p:spPr>
        <p:txBody>
          <a:bodyPr/>
          <a:lstStyle/>
          <a:p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All organisms need energy to survive.</a:t>
            </a:r>
          </a:p>
          <a:p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Uses of energy:</a:t>
            </a:r>
          </a:p>
          <a:p>
            <a:pPr lvl="1"/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Synthesis – making proteins</a:t>
            </a:r>
          </a:p>
          <a:p>
            <a:pPr lvl="1"/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Growth and repair – by cell division and making new tissues</a:t>
            </a:r>
          </a:p>
          <a:p>
            <a:pPr lvl="1"/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Reproduction – producing offspring</a:t>
            </a:r>
          </a:p>
          <a:p>
            <a:pPr lvl="1"/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Temperature maintenance for warm-blooded animals</a:t>
            </a:r>
          </a:p>
          <a:p>
            <a:pPr lvl="1"/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To perform work – move muscles, heart beat</a:t>
            </a:r>
          </a:p>
          <a:p>
            <a:pPr lvl="1"/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Cellular processes – nerve impulses, cell transport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79859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32" y="170655"/>
            <a:ext cx="8229600" cy="1143000"/>
          </a:xfrm>
        </p:spPr>
        <p:txBody>
          <a:bodyPr/>
          <a:lstStyle/>
          <a:p>
            <a:r>
              <a:rPr lang="en-AU" dirty="0"/>
              <a:t>ATP </a:t>
            </a:r>
            <a:r>
              <a:rPr lang="en-AU" sz="4200" dirty="0"/>
              <a:t>– Adenosine triphosphate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4784"/>
            <a:ext cx="8229600" cy="4839816"/>
          </a:xfrm>
        </p:spPr>
        <p:txBody>
          <a:bodyPr/>
          <a:lstStyle/>
          <a:p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All organisms need energy.  </a:t>
            </a:r>
          </a:p>
          <a:p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All organisms (with the exception of </a:t>
            </a:r>
            <a:r>
              <a:rPr lang="en-AU" dirty="0" err="1">
                <a:latin typeface="Calibri" panose="020F0502020204030204" pitchFamily="34" charset="0"/>
                <a:cs typeface="Calibri" panose="020F0502020204030204" pitchFamily="34" charset="0"/>
              </a:rPr>
              <a:t>Archaea</a:t>
            </a:r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) use the process of </a:t>
            </a:r>
            <a:r>
              <a:rPr lang="en-AU" b="1" dirty="0">
                <a:latin typeface="Calibri" panose="020F0502020204030204" pitchFamily="34" charset="0"/>
                <a:cs typeface="Calibri" panose="020F0502020204030204" pitchFamily="34" charset="0"/>
              </a:rPr>
              <a:t>cellular respiration </a:t>
            </a:r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to breakdown glucose and release energy.  </a:t>
            </a:r>
          </a:p>
          <a:p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The energy released in cellular respiration is used to build up molecules of </a:t>
            </a:r>
            <a:r>
              <a:rPr lang="en-AU" b="1" dirty="0">
                <a:latin typeface="Calibri" panose="020F0502020204030204" pitchFamily="34" charset="0"/>
                <a:cs typeface="Calibri" panose="020F0502020204030204" pitchFamily="34" charset="0"/>
              </a:rPr>
              <a:t>adenosine triphosphate</a:t>
            </a:r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, known as </a:t>
            </a:r>
            <a:r>
              <a:rPr lang="en-AU" b="1" dirty="0">
                <a:latin typeface="Calibri" panose="020F0502020204030204" pitchFamily="34" charset="0"/>
                <a:cs typeface="Calibri" panose="020F0502020204030204" pitchFamily="34" charset="0"/>
              </a:rPr>
              <a:t>ATP</a:t>
            </a:r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endParaRPr lang="en-AU" dirty="0"/>
          </a:p>
        </p:txBody>
      </p:sp>
      <p:pic>
        <p:nvPicPr>
          <p:cNvPr id="2050" name="Picture 2" descr="http://www.nature.com/scitable/content/ne0000/ne0000/ne0000/ne0000/14747828/U1CP3-4_ATPstructure_revise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800" y="4439267"/>
            <a:ext cx="3938564" cy="2074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337613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3224" y="161674"/>
            <a:ext cx="6563072" cy="1143000"/>
          </a:xfrm>
        </p:spPr>
        <p:txBody>
          <a:bodyPr/>
          <a:lstStyle/>
          <a:p>
            <a:r>
              <a:rPr lang="en-AU" dirty="0"/>
              <a:t>Metabolism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idx="1"/>
          </p:nvPr>
        </p:nvSpPr>
        <p:spPr>
          <a:xfrm>
            <a:off x="107504" y="1700808"/>
            <a:ext cx="4032448" cy="4589245"/>
          </a:xfrm>
        </p:spPr>
        <p:txBody>
          <a:bodyPr>
            <a:normAutofit fontScale="92500" lnSpcReduction="20000"/>
          </a:bodyPr>
          <a:lstStyle/>
          <a:p>
            <a:r>
              <a:rPr lang="en-US" altLang="en-US" sz="2700" dirty="0">
                <a:latin typeface="Calibri" panose="020F0502020204030204" pitchFamily="34" charset="0"/>
                <a:cs typeface="Calibri" panose="020F0502020204030204" pitchFamily="34" charset="0"/>
              </a:rPr>
              <a:t>Metabolism is the          total of </a:t>
            </a:r>
            <a:r>
              <a:rPr lang="en-US" altLang="en-US" sz="2700" b="1" dirty="0">
                <a:latin typeface="Calibri" panose="020F0502020204030204" pitchFamily="34" charset="0"/>
                <a:cs typeface="Calibri" panose="020F0502020204030204" pitchFamily="34" charset="0"/>
              </a:rPr>
              <a:t>all the                 chemical processes        that take place in the    body.</a:t>
            </a:r>
          </a:p>
          <a:p>
            <a:r>
              <a:rPr lang="en-US" altLang="en-US" sz="2700" dirty="0">
                <a:latin typeface="Calibri" panose="020F0502020204030204" pitchFamily="34" charset="0"/>
                <a:cs typeface="Calibri" panose="020F0502020204030204" pitchFamily="34" charset="0"/>
              </a:rPr>
              <a:t>These chemical processes convert the food you eat into the energy and materials needed for all life processes.</a:t>
            </a:r>
          </a:p>
          <a:p>
            <a:r>
              <a:rPr lang="en-US" altLang="en-US" sz="2700" dirty="0">
                <a:latin typeface="Calibri" panose="020F0502020204030204" pitchFamily="34" charset="0"/>
                <a:cs typeface="Calibri" panose="020F0502020204030204" pitchFamily="34" charset="0"/>
              </a:rPr>
              <a:t>Metabolic processes can be regarded as either </a:t>
            </a:r>
            <a:r>
              <a:rPr lang="en-US" altLang="en-US" sz="2700" b="1" dirty="0">
                <a:latin typeface="Calibri" panose="020F0502020204030204" pitchFamily="34" charset="0"/>
                <a:cs typeface="Calibri" panose="020F0502020204030204" pitchFamily="34" charset="0"/>
              </a:rPr>
              <a:t>anabolic </a:t>
            </a:r>
            <a:r>
              <a:rPr lang="en-US" altLang="en-US" sz="2700" dirty="0">
                <a:latin typeface="Calibri" panose="020F0502020204030204" pitchFamily="34" charset="0"/>
                <a:cs typeface="Calibri" panose="020F0502020204030204" pitchFamily="34" charset="0"/>
              </a:rPr>
              <a:t>or</a:t>
            </a:r>
            <a:r>
              <a:rPr lang="en-US" altLang="en-US" sz="2700" b="1" dirty="0">
                <a:latin typeface="Calibri" panose="020F0502020204030204" pitchFamily="34" charset="0"/>
                <a:cs typeface="Calibri" panose="020F0502020204030204" pitchFamily="34" charset="0"/>
              </a:rPr>
              <a:t> catabolic.</a:t>
            </a:r>
          </a:p>
          <a:p>
            <a:endParaRPr lang="en-AU" dirty="0"/>
          </a:p>
        </p:txBody>
      </p:sp>
      <p:pic>
        <p:nvPicPr>
          <p:cNvPr id="4" name="Picture 3" descr="anatomy bod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88024" y="1340642"/>
            <a:ext cx="2735263" cy="5184775"/>
          </a:xfrm>
          <a:prstGeom prst="rect">
            <a:avLst/>
          </a:prstGeom>
          <a:noFill/>
        </p:spPr>
      </p:pic>
      <p:sp>
        <p:nvSpPr>
          <p:cNvPr id="5" name="AutoShape 8"/>
          <p:cNvSpPr>
            <a:spLocks noChangeArrowheads="1"/>
          </p:cNvSpPr>
          <p:nvPr/>
        </p:nvSpPr>
        <p:spPr bwMode="auto">
          <a:xfrm>
            <a:off x="3563888" y="1557436"/>
            <a:ext cx="1986012" cy="1367508"/>
          </a:xfrm>
          <a:prstGeom prst="rightArrowCallout">
            <a:avLst>
              <a:gd name="adj1" fmla="val 18454"/>
              <a:gd name="adj2" fmla="val 15838"/>
              <a:gd name="adj3" fmla="val 24152"/>
              <a:gd name="adj4" fmla="val 6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AU" altLang="en-US"/>
          </a:p>
        </p:txBody>
      </p:sp>
      <p:sp>
        <p:nvSpPr>
          <p:cNvPr id="6" name="Text Box 10"/>
          <p:cNvSpPr txBox="1">
            <a:spLocks noChangeArrowheads="1"/>
          </p:cNvSpPr>
          <p:nvPr/>
        </p:nvSpPr>
        <p:spPr bwMode="auto">
          <a:xfrm>
            <a:off x="3028950" y="1628872"/>
            <a:ext cx="1584325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Gill Sans MT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Gill Sans MT" pitchFamily="34" charset="0"/>
              </a:defRPr>
            </a:lvl2pPr>
            <a:lvl3pPr marL="1143000">
              <a:defRPr sz="2400">
                <a:solidFill>
                  <a:schemeClr val="tx1"/>
                </a:solidFill>
                <a:latin typeface="Gill Sans MT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Gill Sans MT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Gill Sans MT" pitchFamily="34" charset="0"/>
              </a:defRPr>
            </a:lvl5pPr>
            <a:lvl6pPr marL="2514600" indent="-228600" eaLnBrk="0" fontAlgn="base" hangingPunct="0">
              <a:spcAft>
                <a:spcPct val="0"/>
              </a:spcAft>
              <a:buClr>
                <a:srgbClr val="84AA33"/>
              </a:buClr>
              <a:buFont typeface="Wingdings 2" pitchFamily="18" charset="2"/>
              <a:defRPr sz="2000">
                <a:solidFill>
                  <a:schemeClr val="tx1"/>
                </a:solidFill>
                <a:latin typeface="Gill Sans MT" pitchFamily="34" charset="0"/>
              </a:defRPr>
            </a:lvl6pPr>
            <a:lvl7pPr marL="2971800" indent="-228600" eaLnBrk="0" fontAlgn="base" hangingPunct="0">
              <a:spcAft>
                <a:spcPct val="0"/>
              </a:spcAft>
              <a:buClr>
                <a:srgbClr val="84AA33"/>
              </a:buClr>
              <a:buFont typeface="Wingdings 2" pitchFamily="18" charset="2"/>
              <a:defRPr sz="2000">
                <a:solidFill>
                  <a:schemeClr val="tx1"/>
                </a:solidFill>
                <a:latin typeface="Gill Sans MT" pitchFamily="34" charset="0"/>
              </a:defRPr>
            </a:lvl7pPr>
            <a:lvl8pPr marL="3429000" indent="-228600" eaLnBrk="0" fontAlgn="base" hangingPunct="0">
              <a:spcAft>
                <a:spcPct val="0"/>
              </a:spcAft>
              <a:buClr>
                <a:srgbClr val="84AA33"/>
              </a:buClr>
              <a:buFont typeface="Wingdings 2" pitchFamily="18" charset="2"/>
              <a:defRPr sz="2000">
                <a:solidFill>
                  <a:schemeClr val="tx1"/>
                </a:solidFill>
                <a:latin typeface="Gill Sans MT" pitchFamily="34" charset="0"/>
              </a:defRPr>
            </a:lvl8pPr>
            <a:lvl9pPr marL="3886200" indent="-228600" eaLnBrk="0" fontAlgn="base" hangingPunct="0">
              <a:spcAft>
                <a:spcPct val="0"/>
              </a:spcAft>
              <a:buClr>
                <a:srgbClr val="84AA33"/>
              </a:buClr>
              <a:buFont typeface="Wingdings 2" pitchFamily="18" charset="2"/>
              <a:defRPr sz="2000">
                <a:solidFill>
                  <a:schemeClr val="tx1"/>
                </a:solidFill>
                <a:latin typeface="Gill Sans MT" pitchFamily="34" charset="0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en-US" altLang="en-US" sz="1600" b="1" dirty="0">
                <a:solidFill>
                  <a:srgbClr val="000099"/>
                </a:solidFill>
                <a:latin typeface="Arial" charset="0"/>
              </a:rPr>
              <a:t>O</a:t>
            </a:r>
            <a:r>
              <a:rPr lang="en-US" altLang="en-US" sz="1600" b="1" baseline="-25000" dirty="0">
                <a:solidFill>
                  <a:srgbClr val="000099"/>
                </a:solidFill>
                <a:latin typeface="Arial" charset="0"/>
              </a:rPr>
              <a:t>2</a:t>
            </a:r>
          </a:p>
          <a:p>
            <a:pPr algn="r" eaLnBrk="1" hangingPunct="1">
              <a:spcBef>
                <a:spcPct val="50000"/>
              </a:spcBef>
            </a:pPr>
            <a:r>
              <a:rPr lang="en-US" altLang="en-US" sz="1600" b="1" dirty="0">
                <a:solidFill>
                  <a:srgbClr val="000099"/>
                </a:solidFill>
                <a:latin typeface="Arial" charset="0"/>
              </a:rPr>
              <a:t>H</a:t>
            </a:r>
            <a:r>
              <a:rPr lang="en-US" altLang="en-US" sz="1600" b="1" baseline="-25000" dirty="0">
                <a:solidFill>
                  <a:srgbClr val="000099"/>
                </a:solidFill>
                <a:latin typeface="Arial" charset="0"/>
              </a:rPr>
              <a:t>2</a:t>
            </a:r>
            <a:r>
              <a:rPr lang="en-US" altLang="en-US" sz="1600" b="1" dirty="0">
                <a:solidFill>
                  <a:srgbClr val="000099"/>
                </a:solidFill>
                <a:latin typeface="Arial" charset="0"/>
              </a:rPr>
              <a:t>O</a:t>
            </a:r>
          </a:p>
          <a:p>
            <a:pPr algn="r" eaLnBrk="1" hangingPunct="1">
              <a:spcBef>
                <a:spcPct val="50000"/>
              </a:spcBef>
            </a:pPr>
            <a:r>
              <a:rPr lang="en-US" altLang="en-US" sz="1600" b="1" dirty="0">
                <a:solidFill>
                  <a:srgbClr val="000099"/>
                </a:solidFill>
                <a:latin typeface="Arial" charset="0"/>
              </a:rPr>
              <a:t>Nutrients</a:t>
            </a:r>
          </a:p>
        </p:txBody>
      </p:sp>
      <p:sp>
        <p:nvSpPr>
          <p:cNvPr id="7" name="AutoShape 14"/>
          <p:cNvSpPr>
            <a:spLocks noChangeArrowheads="1"/>
          </p:cNvSpPr>
          <p:nvPr/>
        </p:nvSpPr>
        <p:spPr bwMode="auto">
          <a:xfrm>
            <a:off x="6774309" y="1916210"/>
            <a:ext cx="1223963" cy="865187"/>
          </a:xfrm>
          <a:prstGeom prst="rightArrowCallout">
            <a:avLst>
              <a:gd name="adj1" fmla="val 25000"/>
              <a:gd name="adj2" fmla="val 25000"/>
              <a:gd name="adj3" fmla="val 23578"/>
              <a:gd name="adj4" fmla="val 6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AU" altLang="en-US"/>
          </a:p>
        </p:txBody>
      </p:sp>
      <p:sp>
        <p:nvSpPr>
          <p:cNvPr id="8" name="AutoShape 15"/>
          <p:cNvSpPr>
            <a:spLocks noChangeArrowheads="1"/>
          </p:cNvSpPr>
          <p:nvPr/>
        </p:nvSpPr>
        <p:spPr bwMode="auto">
          <a:xfrm>
            <a:off x="6845747" y="3500536"/>
            <a:ext cx="2190749" cy="1224608"/>
          </a:xfrm>
          <a:prstGeom prst="rightArrowCallout">
            <a:avLst>
              <a:gd name="adj1" fmla="val 17185"/>
              <a:gd name="adj2" fmla="val 16958"/>
              <a:gd name="adj3" fmla="val 35172"/>
              <a:gd name="adj4" fmla="val 6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AU" altLang="en-US"/>
          </a:p>
        </p:txBody>
      </p:sp>
      <p:sp>
        <p:nvSpPr>
          <p:cNvPr id="9" name="Text Box 16"/>
          <p:cNvSpPr txBox="1">
            <a:spLocks noChangeArrowheads="1"/>
          </p:cNvSpPr>
          <p:nvPr/>
        </p:nvSpPr>
        <p:spPr bwMode="auto">
          <a:xfrm>
            <a:off x="6845747" y="2060672"/>
            <a:ext cx="100965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Gill Sans MT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Gill Sans MT" pitchFamily="34" charset="0"/>
              </a:defRPr>
            </a:lvl2pPr>
            <a:lvl3pPr marL="1143000">
              <a:defRPr sz="2400">
                <a:solidFill>
                  <a:schemeClr val="tx1"/>
                </a:solidFill>
                <a:latin typeface="Gill Sans MT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Gill Sans MT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Gill Sans MT" pitchFamily="34" charset="0"/>
              </a:defRPr>
            </a:lvl5pPr>
            <a:lvl6pPr marL="2514600" indent="-228600" eaLnBrk="0" fontAlgn="base" hangingPunct="0">
              <a:spcAft>
                <a:spcPct val="0"/>
              </a:spcAft>
              <a:buClr>
                <a:srgbClr val="84AA33"/>
              </a:buClr>
              <a:buFont typeface="Wingdings 2" pitchFamily="18" charset="2"/>
              <a:defRPr sz="2000">
                <a:solidFill>
                  <a:schemeClr val="tx1"/>
                </a:solidFill>
                <a:latin typeface="Gill Sans MT" pitchFamily="34" charset="0"/>
              </a:defRPr>
            </a:lvl6pPr>
            <a:lvl7pPr marL="2971800" indent="-228600" eaLnBrk="0" fontAlgn="base" hangingPunct="0">
              <a:spcAft>
                <a:spcPct val="0"/>
              </a:spcAft>
              <a:buClr>
                <a:srgbClr val="84AA33"/>
              </a:buClr>
              <a:buFont typeface="Wingdings 2" pitchFamily="18" charset="2"/>
              <a:defRPr sz="2000">
                <a:solidFill>
                  <a:schemeClr val="tx1"/>
                </a:solidFill>
                <a:latin typeface="Gill Sans MT" pitchFamily="34" charset="0"/>
              </a:defRPr>
            </a:lvl7pPr>
            <a:lvl8pPr marL="3429000" indent="-228600" eaLnBrk="0" fontAlgn="base" hangingPunct="0">
              <a:spcAft>
                <a:spcPct val="0"/>
              </a:spcAft>
              <a:buClr>
                <a:srgbClr val="84AA33"/>
              </a:buClr>
              <a:buFont typeface="Wingdings 2" pitchFamily="18" charset="2"/>
              <a:defRPr sz="2000">
                <a:solidFill>
                  <a:schemeClr val="tx1"/>
                </a:solidFill>
                <a:latin typeface="Gill Sans MT" pitchFamily="34" charset="0"/>
              </a:defRPr>
            </a:lvl8pPr>
            <a:lvl9pPr marL="3886200" indent="-228600" eaLnBrk="0" fontAlgn="base" hangingPunct="0">
              <a:spcAft>
                <a:spcPct val="0"/>
              </a:spcAft>
              <a:buClr>
                <a:srgbClr val="84AA33"/>
              </a:buClr>
              <a:buFont typeface="Wingdings 2" pitchFamily="18" charset="2"/>
              <a:defRPr sz="2000">
                <a:solidFill>
                  <a:schemeClr val="tx1"/>
                </a:solidFill>
                <a:latin typeface="Gill Sans MT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600" b="1" dirty="0">
                <a:solidFill>
                  <a:srgbClr val="000099"/>
                </a:solidFill>
                <a:latin typeface="Arial" charset="0"/>
              </a:rPr>
              <a:t>CO</a:t>
            </a:r>
            <a:r>
              <a:rPr lang="en-US" altLang="en-US" sz="1600" b="1" baseline="-25000" dirty="0">
                <a:solidFill>
                  <a:srgbClr val="000099"/>
                </a:solidFill>
                <a:latin typeface="Arial" charset="0"/>
              </a:rPr>
              <a:t>2</a:t>
            </a:r>
            <a:endParaRPr lang="en-US" altLang="en-US" sz="1600" b="1" dirty="0">
              <a:solidFill>
                <a:srgbClr val="000099"/>
              </a:solidFill>
              <a:latin typeface="Arial" charset="0"/>
            </a:endParaRPr>
          </a:p>
        </p:txBody>
      </p:sp>
      <p:sp>
        <p:nvSpPr>
          <p:cNvPr id="10" name="Text Box 17"/>
          <p:cNvSpPr txBox="1">
            <a:spLocks noChangeArrowheads="1"/>
          </p:cNvSpPr>
          <p:nvPr/>
        </p:nvSpPr>
        <p:spPr bwMode="auto">
          <a:xfrm>
            <a:off x="6940042" y="3500536"/>
            <a:ext cx="1830709" cy="1655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3200">
                <a:solidFill>
                  <a:schemeClr val="tx1"/>
                </a:solidFill>
                <a:latin typeface="Gill Sans MT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Gill Sans MT" pitchFamily="34" charset="0"/>
              </a:defRPr>
            </a:lvl2pPr>
            <a:lvl3pPr marL="1143000">
              <a:defRPr sz="2400">
                <a:solidFill>
                  <a:schemeClr val="tx1"/>
                </a:solidFill>
                <a:latin typeface="Gill Sans MT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Gill Sans MT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Gill Sans MT" pitchFamily="34" charset="0"/>
              </a:defRPr>
            </a:lvl5pPr>
            <a:lvl6pPr marL="2514600" indent="-228600" eaLnBrk="0" fontAlgn="base" hangingPunct="0">
              <a:spcAft>
                <a:spcPct val="0"/>
              </a:spcAft>
              <a:buClr>
                <a:srgbClr val="84AA33"/>
              </a:buClr>
              <a:buFont typeface="Wingdings 2" pitchFamily="18" charset="2"/>
              <a:defRPr sz="2000">
                <a:solidFill>
                  <a:schemeClr val="tx1"/>
                </a:solidFill>
                <a:latin typeface="Gill Sans MT" pitchFamily="34" charset="0"/>
              </a:defRPr>
            </a:lvl6pPr>
            <a:lvl7pPr marL="2971800" indent="-228600" eaLnBrk="0" fontAlgn="base" hangingPunct="0">
              <a:spcAft>
                <a:spcPct val="0"/>
              </a:spcAft>
              <a:buClr>
                <a:srgbClr val="84AA33"/>
              </a:buClr>
              <a:buFont typeface="Wingdings 2" pitchFamily="18" charset="2"/>
              <a:defRPr sz="2000">
                <a:solidFill>
                  <a:schemeClr val="tx1"/>
                </a:solidFill>
                <a:latin typeface="Gill Sans MT" pitchFamily="34" charset="0"/>
              </a:defRPr>
            </a:lvl7pPr>
            <a:lvl8pPr marL="3429000" indent="-228600" eaLnBrk="0" fontAlgn="base" hangingPunct="0">
              <a:spcAft>
                <a:spcPct val="0"/>
              </a:spcAft>
              <a:buClr>
                <a:srgbClr val="84AA33"/>
              </a:buClr>
              <a:buFont typeface="Wingdings 2" pitchFamily="18" charset="2"/>
              <a:defRPr sz="2000">
                <a:solidFill>
                  <a:schemeClr val="tx1"/>
                </a:solidFill>
                <a:latin typeface="Gill Sans MT" pitchFamily="34" charset="0"/>
              </a:defRPr>
            </a:lvl8pPr>
            <a:lvl9pPr marL="3886200" indent="-228600" eaLnBrk="0" fontAlgn="base" hangingPunct="0">
              <a:spcAft>
                <a:spcPct val="0"/>
              </a:spcAft>
              <a:buClr>
                <a:srgbClr val="84AA33"/>
              </a:buClr>
              <a:buFont typeface="Wingdings 2" pitchFamily="18" charset="2"/>
              <a:defRPr sz="2000">
                <a:solidFill>
                  <a:schemeClr val="tx1"/>
                </a:solidFill>
                <a:latin typeface="Gill Sans MT" pitchFamily="34" charset="0"/>
              </a:defRPr>
            </a:lvl9pPr>
          </a:lstStyle>
          <a:p>
            <a:pPr eaLnBrk="1" hangingPunct="1">
              <a:spcBef>
                <a:spcPct val="5000"/>
              </a:spcBef>
            </a:pPr>
            <a:r>
              <a:rPr lang="en-US" altLang="en-US" sz="1600" b="1" dirty="0">
                <a:solidFill>
                  <a:srgbClr val="000099"/>
                </a:solidFill>
                <a:latin typeface="Arial" charset="0"/>
              </a:rPr>
              <a:t>Metabolic wastes</a:t>
            </a:r>
          </a:p>
          <a:p>
            <a:pPr eaLnBrk="1" hangingPunct="1">
              <a:spcBef>
                <a:spcPct val="5000"/>
              </a:spcBef>
            </a:pPr>
            <a:r>
              <a:rPr lang="en-US" altLang="en-US" sz="1600" b="1" dirty="0">
                <a:solidFill>
                  <a:srgbClr val="000099"/>
                </a:solidFill>
                <a:latin typeface="Arial" charset="0"/>
              </a:rPr>
              <a:t>(e.g. urea)</a:t>
            </a:r>
          </a:p>
          <a:p>
            <a:pPr eaLnBrk="1" hangingPunct="1">
              <a:spcBef>
                <a:spcPct val="5000"/>
              </a:spcBef>
            </a:pPr>
            <a:r>
              <a:rPr lang="en-US" altLang="en-US" sz="1600" b="1" dirty="0">
                <a:solidFill>
                  <a:srgbClr val="000099"/>
                </a:solidFill>
                <a:latin typeface="Arial" charset="0"/>
              </a:rPr>
              <a:t>H</a:t>
            </a:r>
            <a:r>
              <a:rPr lang="en-US" altLang="en-US" sz="1600" b="1" baseline="-25000" dirty="0">
                <a:solidFill>
                  <a:srgbClr val="000099"/>
                </a:solidFill>
                <a:latin typeface="Arial" charset="0"/>
              </a:rPr>
              <a:t>2</a:t>
            </a:r>
            <a:r>
              <a:rPr lang="en-US" altLang="en-US" sz="1600" b="1" dirty="0">
                <a:solidFill>
                  <a:srgbClr val="000099"/>
                </a:solidFill>
                <a:latin typeface="Arial" charset="0"/>
              </a:rPr>
              <a:t>O, salts</a:t>
            </a:r>
            <a:endParaRPr lang="en-US" altLang="en-US" sz="1600" b="1" baseline="-25000" dirty="0">
              <a:solidFill>
                <a:srgbClr val="000099"/>
              </a:solidFill>
              <a:latin typeface="Arial" charset="0"/>
            </a:endParaRPr>
          </a:p>
          <a:p>
            <a:pPr algn="r" eaLnBrk="1" hangingPunct="1">
              <a:spcBef>
                <a:spcPct val="50000"/>
              </a:spcBef>
            </a:pPr>
            <a:endParaRPr lang="en-US" altLang="en-US" sz="2400" b="1" dirty="0">
              <a:solidFill>
                <a:srgbClr val="000099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66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 animBg="1"/>
      <p:bldP spid="8" grpId="0" animBg="1"/>
      <p:bldP spid="9" grpId="0"/>
      <p:bldP spid="10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3" name="Rectangle 1"/>
          <p:cNvSpPr>
            <a:spLocks noGrp="1" noChangeArrowheads="1"/>
          </p:cNvSpPr>
          <p:nvPr>
            <p:ph type="title"/>
          </p:nvPr>
        </p:nvSpPr>
        <p:spPr>
          <a:xfrm>
            <a:off x="914400" y="188640"/>
            <a:ext cx="6753944" cy="1143000"/>
          </a:xfrm>
        </p:spPr>
        <p:txBody>
          <a:bodyPr/>
          <a:lstStyle/>
          <a:p>
            <a:r>
              <a:rPr lang="en-US" dirty="0"/>
              <a:t>Catabolic Reactions</a:t>
            </a:r>
          </a:p>
        </p:txBody>
      </p:sp>
      <p:sp>
        <p:nvSpPr>
          <p:cNvPr id="13107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1628800"/>
            <a:ext cx="4186808" cy="4695800"/>
          </a:xfrm>
        </p:spPr>
        <p:txBody>
          <a:bodyPr>
            <a:normAutofit lnSpcReduction="10000"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Catabolic reactions involve the breakdown of a 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larger molecules into smaller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components.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These reactions 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release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energy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Catabolic reactions include:</a:t>
            </a:r>
          </a:p>
          <a:p>
            <a:pPr lvl="2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Digestion: Breakdown of large food molecules.</a:t>
            </a:r>
          </a:p>
          <a:p>
            <a:pPr lvl="2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Cellular respiration: Oxidative breakdown of fuel molecules such</a:t>
            </a:r>
            <a:b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as glucose.</a:t>
            </a:r>
          </a:p>
        </p:txBody>
      </p:sp>
      <p:pic>
        <p:nvPicPr>
          <p:cNvPr id="24" name="Picture 2" descr="http://antranik.org/wp-content/uploads/2012/03/catabolism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064" y="1844824"/>
            <a:ext cx="3537913" cy="3244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1033247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10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10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10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10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10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074" grpId="0" build="p" bldLvl="5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7" name="Rectangle 1"/>
          <p:cNvSpPr>
            <a:spLocks noGrp="1" noChangeArrowheads="1"/>
          </p:cNvSpPr>
          <p:nvPr>
            <p:ph type="title"/>
          </p:nvPr>
        </p:nvSpPr>
        <p:spPr>
          <a:xfrm>
            <a:off x="914400" y="188640"/>
            <a:ext cx="6681936" cy="1143000"/>
          </a:xfrm>
        </p:spPr>
        <p:txBody>
          <a:bodyPr/>
          <a:lstStyle/>
          <a:p>
            <a:r>
              <a:rPr lang="en-US" dirty="0"/>
              <a:t>Anabolic Reactions</a:t>
            </a:r>
          </a:p>
        </p:txBody>
      </p:sp>
      <p:sp>
        <p:nvSpPr>
          <p:cNvPr id="13209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23528" y="1972063"/>
            <a:ext cx="4546848" cy="4623792"/>
          </a:xfrm>
        </p:spPr>
        <p:txBody>
          <a:bodyPr>
            <a:norm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In anabolic reactions, 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smaller molecules are joined to form larger molecules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These reactions require the 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input of energy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Examples include:</a:t>
            </a:r>
          </a:p>
          <a:p>
            <a:pPr lvl="2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Protein synthesis: Build up of polypeptides from amino acids.</a:t>
            </a:r>
          </a:p>
        </p:txBody>
      </p:sp>
      <p:sp>
        <p:nvSpPr>
          <p:cNvPr id="132104" name="Rectangle 8"/>
          <p:cNvSpPr>
            <a:spLocks/>
          </p:cNvSpPr>
          <p:nvPr/>
        </p:nvSpPr>
        <p:spPr bwMode="auto">
          <a:xfrm>
            <a:off x="6286500" y="3991571"/>
            <a:ext cx="1003160" cy="292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 marL="80364">
              <a:tabLst>
                <a:tab pos="366104" algn="l"/>
              </a:tabLst>
            </a:pPr>
            <a:r>
              <a:rPr lang="en-US" sz="1900" b="1">
                <a:solidFill>
                  <a:srgbClr val="FFFFFF"/>
                </a:solidFill>
                <a:latin typeface="Arial" charset="0"/>
                <a:cs typeface="Arial" charset="0"/>
                <a:sym typeface="Arial" charset="0"/>
              </a:rPr>
              <a:t>Enzyme</a:t>
            </a:r>
          </a:p>
        </p:txBody>
      </p:sp>
      <p:pic>
        <p:nvPicPr>
          <p:cNvPr id="2052" name="Picture 4" descr="http://antranik.org/wp-content/uploads/2012/03/anabolism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064" y="1700808"/>
            <a:ext cx="3384376" cy="3260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9661170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20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20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20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20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2098" grpId="0" build="p" bldLvl="5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576" y="332656"/>
            <a:ext cx="8229600" cy="1143000"/>
          </a:xfrm>
        </p:spPr>
        <p:txBody>
          <a:bodyPr/>
          <a:lstStyle/>
          <a:p>
            <a:r>
              <a:rPr lang="en-AU" dirty="0"/>
              <a:t>Exam Review Question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558" y="1675854"/>
            <a:ext cx="6996856" cy="233590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8155" y="4293096"/>
            <a:ext cx="6627690" cy="2016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94155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Moodle &amp; Textbook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816" y="2852936"/>
            <a:ext cx="5461800" cy="1539533"/>
          </a:xfrm>
        </p:spPr>
        <p:txBody>
          <a:bodyPr>
            <a:normAutofit/>
          </a:bodyPr>
          <a:lstStyle/>
          <a:p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Chapter 8: Cells</a:t>
            </a:r>
          </a:p>
          <a:p>
            <a:endParaRPr lang="en-AU" dirty="0"/>
          </a:p>
          <a:p>
            <a:endParaRPr lang="en-AU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2" y="2420888"/>
            <a:ext cx="1866900" cy="2447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60182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3568" y="332656"/>
            <a:ext cx="8229600" cy="1143000"/>
          </a:xfrm>
        </p:spPr>
        <p:txBody>
          <a:bodyPr/>
          <a:lstStyle/>
          <a:p>
            <a:r>
              <a:rPr lang="en-AU" dirty="0"/>
              <a:t>Student Feedback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What I learnt today…..</a:t>
            </a:r>
          </a:p>
          <a:p>
            <a:endParaRPr lang="en-AU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AU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AU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AU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What I need to revise….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084611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487</TotalTime>
  <Words>1895</Words>
  <Application>Microsoft Office PowerPoint</Application>
  <PresentationFormat>On-screen Show (4:3)</PresentationFormat>
  <Paragraphs>286</Paragraphs>
  <Slides>38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4" baseType="lpstr">
      <vt:lpstr>Arial</vt:lpstr>
      <vt:lpstr>Arial Black</vt:lpstr>
      <vt:lpstr>Calibri</vt:lpstr>
      <vt:lpstr>Constantia</vt:lpstr>
      <vt:lpstr>Wingdings 2</vt:lpstr>
      <vt:lpstr>Flow</vt:lpstr>
      <vt:lpstr>11ATAR Biology Week 19 - Introduction to Cells</vt:lpstr>
      <vt:lpstr>Year 11 Biology Work Schedule</vt:lpstr>
      <vt:lpstr>Review</vt:lpstr>
      <vt:lpstr>Learning Intentions</vt:lpstr>
      <vt:lpstr>The Cell Theory</vt:lpstr>
      <vt:lpstr>The Cell Theory</vt:lpstr>
      <vt:lpstr>Units of Measurement</vt:lpstr>
      <vt:lpstr>Cell Sizes</vt:lpstr>
      <vt:lpstr>Cell requirements</vt:lpstr>
      <vt:lpstr>Cells</vt:lpstr>
      <vt:lpstr>7 Processes of Life</vt:lpstr>
      <vt:lpstr>7 Processes of Life</vt:lpstr>
      <vt:lpstr>7 Processes of Life</vt:lpstr>
      <vt:lpstr>The Characteristics of Life</vt:lpstr>
      <vt:lpstr>Cell Characteristics</vt:lpstr>
      <vt:lpstr>Living Organisms</vt:lpstr>
      <vt:lpstr>Prokaryotic vs Eurokaryotic</vt:lpstr>
      <vt:lpstr>Prokaryotes</vt:lpstr>
      <vt:lpstr>Eukaryotes</vt:lpstr>
      <vt:lpstr>PowerPoint Presentation</vt:lpstr>
      <vt:lpstr>Eukaryote vs Prokaryote</vt:lpstr>
      <vt:lpstr>Moodle &amp; Textbook Work</vt:lpstr>
      <vt:lpstr>Student Feedback</vt:lpstr>
      <vt:lpstr>PowerPoint Presentation</vt:lpstr>
      <vt:lpstr>Eukaryotes</vt:lpstr>
      <vt:lpstr>The advantages of being multicellular</vt:lpstr>
      <vt:lpstr>PowerPoint Presentation</vt:lpstr>
      <vt:lpstr>PowerPoint Presentation</vt:lpstr>
      <vt:lpstr>Energy Requirements in Living Things</vt:lpstr>
      <vt:lpstr>Energy Requirements in Living Things</vt:lpstr>
      <vt:lpstr>Energy Requirements in Living Things</vt:lpstr>
      <vt:lpstr>ATP – Adenosine triphosphate</vt:lpstr>
      <vt:lpstr>Metabolism</vt:lpstr>
      <vt:lpstr>Catabolic Reactions</vt:lpstr>
      <vt:lpstr>Anabolic Reactions</vt:lpstr>
      <vt:lpstr>Exam Review Question</vt:lpstr>
      <vt:lpstr>Moodle &amp; Textbook Work</vt:lpstr>
      <vt:lpstr>Student Feedback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Cells</dc:title>
  <dc:creator>HARDINGHAM Gillian</dc:creator>
  <cp:lastModifiedBy>HARTLAND Robbert [SIDE - Sch of Isol &amp; Dist Edu]</cp:lastModifiedBy>
  <cp:revision>78</cp:revision>
  <dcterms:created xsi:type="dcterms:W3CDTF">2015-06-23T10:28:22Z</dcterms:created>
  <dcterms:modified xsi:type="dcterms:W3CDTF">2023-06-19T01:52:18Z</dcterms:modified>
</cp:coreProperties>
</file>