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256" r:id="rId2"/>
    <p:sldId id="290" r:id="rId3"/>
    <p:sldId id="295" r:id="rId4"/>
    <p:sldId id="291" r:id="rId5"/>
    <p:sldId id="257" r:id="rId6"/>
    <p:sldId id="258" r:id="rId7"/>
    <p:sldId id="259" r:id="rId8"/>
    <p:sldId id="281" r:id="rId9"/>
    <p:sldId id="274" r:id="rId10"/>
    <p:sldId id="260" r:id="rId11"/>
    <p:sldId id="276" r:id="rId12"/>
    <p:sldId id="261" r:id="rId13"/>
    <p:sldId id="262" r:id="rId14"/>
    <p:sldId id="289" r:id="rId15"/>
    <p:sldId id="277" r:id="rId16"/>
    <p:sldId id="278" r:id="rId17"/>
    <p:sldId id="280" r:id="rId18"/>
    <p:sldId id="263" r:id="rId19"/>
    <p:sldId id="264" r:id="rId20"/>
    <p:sldId id="265" r:id="rId21"/>
    <p:sldId id="282" r:id="rId22"/>
    <p:sldId id="298" r:id="rId23"/>
    <p:sldId id="299" r:id="rId24"/>
    <p:sldId id="300" r:id="rId25"/>
    <p:sldId id="301" r:id="rId26"/>
    <p:sldId id="303" r:id="rId27"/>
    <p:sldId id="302" r:id="rId28"/>
    <p:sldId id="266" r:id="rId29"/>
    <p:sldId id="267" r:id="rId30"/>
    <p:sldId id="292" r:id="rId31"/>
    <p:sldId id="268" r:id="rId32"/>
    <p:sldId id="269" r:id="rId33"/>
    <p:sldId id="270" r:id="rId34"/>
    <p:sldId id="283" r:id="rId35"/>
    <p:sldId id="287" r:id="rId36"/>
    <p:sldId id="297" r:id="rId37"/>
    <p:sldId id="284" r:id="rId38"/>
    <p:sldId id="296" r:id="rId39"/>
    <p:sldId id="285" r:id="rId40"/>
    <p:sldId id="294" r:id="rId41"/>
    <p:sldId id="293"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695" autoAdjust="0"/>
  </p:normalViewPr>
  <p:slideViewPr>
    <p:cSldViewPr>
      <p:cViewPr varScale="1">
        <p:scale>
          <a:sx n="112" d="100"/>
          <a:sy n="112" d="100"/>
        </p:scale>
        <p:origin x="562" y="9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DBA5DEC-5534-4190-9599-2D5030CDFF4C}" type="datetimeFigureOut">
              <a:rPr lang="en-AU" smtClean="0"/>
              <a:t>7/08/2023</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66722C-D930-465A-92CB-E6405EDFBA4A}" type="slidenum">
              <a:rPr lang="en-AU" smtClean="0"/>
              <a:t>‹#›</a:t>
            </a:fld>
            <a:endParaRPr lang="en-AU"/>
          </a:p>
        </p:txBody>
      </p:sp>
    </p:spTree>
    <p:extLst>
      <p:ext uri="{BB962C8B-B14F-4D97-AF65-F5344CB8AC3E}">
        <p14:creationId xmlns:p14="http://schemas.microsoft.com/office/powerpoint/2010/main" val="3712198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Lipids: Insulation and concentrated</a:t>
            </a:r>
            <a:r>
              <a:rPr lang="en-AU" baseline="0" dirty="0"/>
              <a:t> source of energy, cellular membranes, water-proofing, organ protection (shock absorbing)</a:t>
            </a:r>
          </a:p>
          <a:p>
            <a:r>
              <a:rPr lang="en-AU" baseline="0" dirty="0"/>
              <a:t>Carbohydrates: Energy (and storage), cell recognition, plant cell wall structural polymer</a:t>
            </a:r>
          </a:p>
          <a:p>
            <a:r>
              <a:rPr lang="en-AU" baseline="0" dirty="0"/>
              <a:t>Proteins: structural, catalytic, movement, signalling, internal defence or transport of storage.</a:t>
            </a:r>
          </a:p>
          <a:p>
            <a:r>
              <a:rPr lang="en-AU" baseline="0" dirty="0"/>
              <a:t>Nucleic Acids: encode information for the construction and functioning of an organism.</a:t>
            </a:r>
            <a:endParaRPr lang="en-AU" dirty="0"/>
          </a:p>
        </p:txBody>
      </p:sp>
      <p:sp>
        <p:nvSpPr>
          <p:cNvPr id="4" name="Slide Number Placeholder 3"/>
          <p:cNvSpPr>
            <a:spLocks noGrp="1"/>
          </p:cNvSpPr>
          <p:nvPr>
            <p:ph type="sldNum" sz="quarter" idx="10"/>
          </p:nvPr>
        </p:nvSpPr>
        <p:spPr/>
        <p:txBody>
          <a:bodyPr/>
          <a:lstStyle/>
          <a:p>
            <a:fld id="{0166722C-D930-465A-92CB-E6405EDFBA4A}" type="slidenum">
              <a:rPr lang="en-AU" smtClean="0"/>
              <a:t>3</a:t>
            </a:fld>
            <a:endParaRPr lang="en-AU"/>
          </a:p>
        </p:txBody>
      </p:sp>
    </p:spTree>
    <p:extLst>
      <p:ext uri="{BB962C8B-B14F-4D97-AF65-F5344CB8AC3E}">
        <p14:creationId xmlns:p14="http://schemas.microsoft.com/office/powerpoint/2010/main" val="11261042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486F3CC6-A395-4368-B77B-0B165C4D33D8}" type="slidenum">
              <a:rPr lang="en-US"/>
              <a:pPr/>
              <a:t>5</a:t>
            </a:fld>
            <a:endParaRPr lang="en-US"/>
          </a:p>
        </p:txBody>
      </p:sp>
      <p:sp>
        <p:nvSpPr>
          <p:cNvPr id="293890" name="Rectangle 2"/>
          <p:cNvSpPr>
            <a:spLocks noGrp="1" noRot="1" noChangeAspect="1" noChangeArrowheads="1" noTextEdit="1"/>
          </p:cNvSpPr>
          <p:nvPr>
            <p:ph type="sldImg"/>
          </p:nvPr>
        </p:nvSpPr>
        <p:spPr>
          <a:ln/>
        </p:spPr>
      </p:sp>
      <p:sp>
        <p:nvSpPr>
          <p:cNvPr id="293891" name="Rectangle 3"/>
          <p:cNvSpPr>
            <a:spLocks noGrp="1"/>
          </p:cNvSpPr>
          <p:nvPr>
            <p:ph type="body" idx="1"/>
          </p:nvPr>
        </p:nvSpPr>
        <p:spPr/>
        <p:txBody>
          <a:bodyPr/>
          <a:lstStyle/>
          <a:p>
            <a:r>
              <a:rPr lang="en-US" dirty="0"/>
              <a:t>Not consumed means they can be re-used over and over again, which is good because then we only need low concentrations of enzymes.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ABA65BBA-2E46-4039-A2FC-36B8D50DFD6E}" type="slidenum">
              <a:rPr lang="en-US"/>
              <a:pPr/>
              <a:t>6</a:t>
            </a:fld>
            <a:endParaRPr lang="en-US"/>
          </a:p>
        </p:txBody>
      </p:sp>
      <p:sp>
        <p:nvSpPr>
          <p:cNvPr id="294914" name="Rectangle 2"/>
          <p:cNvSpPr>
            <a:spLocks noGrp="1" noRot="1" noChangeAspect="1" noChangeArrowheads="1" noTextEdit="1"/>
          </p:cNvSpPr>
          <p:nvPr>
            <p:ph type="sldImg"/>
          </p:nvPr>
        </p:nvSpPr>
        <p:spPr>
          <a:ln/>
        </p:spPr>
      </p:sp>
      <p:sp>
        <p:nvSpPr>
          <p:cNvPr id="294915" name="Rectangle 3"/>
          <p:cNvSpPr>
            <a:spLocks noGrp="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C677DBA6-1D20-4280-8EC2-98BAD7D3DACF}" type="slidenum">
              <a:rPr lang="en-US"/>
              <a:pPr/>
              <a:t>7</a:t>
            </a:fld>
            <a:endParaRPr lang="en-US"/>
          </a:p>
        </p:txBody>
      </p:sp>
      <p:sp>
        <p:nvSpPr>
          <p:cNvPr id="295938" name="Rectangle 2"/>
          <p:cNvSpPr>
            <a:spLocks noGrp="1" noRot="1" noChangeAspect="1" noChangeArrowheads="1" noTextEdit="1"/>
          </p:cNvSpPr>
          <p:nvPr>
            <p:ph type="sldImg"/>
          </p:nvPr>
        </p:nvSpPr>
        <p:spPr>
          <a:ln/>
        </p:spPr>
      </p:sp>
      <p:sp>
        <p:nvSpPr>
          <p:cNvPr id="295939" name="Rectangle 3"/>
          <p:cNvSpPr>
            <a:spLocks noGrp="1"/>
          </p:cNvSpPr>
          <p:nvPr>
            <p:ph type="body" idx="1"/>
          </p:nvPr>
        </p:nvSpPr>
        <p:spPr/>
        <p:txBody>
          <a:bodyPr/>
          <a:lstStyle/>
          <a:p>
            <a:r>
              <a:rPr lang="en-US" dirty="0"/>
              <a:t>They are proteins so they have a specific shape which mean they</a:t>
            </a:r>
            <a:r>
              <a:rPr lang="en-US" baseline="0" dirty="0"/>
              <a:t> can bind with a specific reactant (called the substrate).</a:t>
            </a: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Naming convention – enzymes</a:t>
            </a:r>
            <a:r>
              <a:rPr lang="en-AU" baseline="0" dirty="0"/>
              <a:t> are often -</a:t>
            </a:r>
            <a:r>
              <a:rPr lang="en-AU" baseline="0" dirty="0" err="1"/>
              <a:t>ases</a:t>
            </a:r>
            <a:r>
              <a:rPr lang="en-AU" baseline="0" dirty="0"/>
              <a:t> and are named according to the substrate they catalyse.</a:t>
            </a:r>
            <a:endParaRPr lang="en-AU" dirty="0"/>
          </a:p>
        </p:txBody>
      </p:sp>
      <p:sp>
        <p:nvSpPr>
          <p:cNvPr id="4" name="Slide Number Placeholder 3"/>
          <p:cNvSpPr>
            <a:spLocks noGrp="1"/>
          </p:cNvSpPr>
          <p:nvPr>
            <p:ph type="sldNum" sz="quarter" idx="10"/>
          </p:nvPr>
        </p:nvSpPr>
        <p:spPr/>
        <p:txBody>
          <a:bodyPr/>
          <a:lstStyle/>
          <a:p>
            <a:fld id="{0166722C-D930-465A-92CB-E6405EDFBA4A}" type="slidenum">
              <a:rPr lang="en-AU" smtClean="0"/>
              <a:t>9</a:t>
            </a:fld>
            <a:endParaRPr lang="en-AU"/>
          </a:p>
        </p:txBody>
      </p:sp>
    </p:spTree>
    <p:extLst>
      <p:ext uri="{BB962C8B-B14F-4D97-AF65-F5344CB8AC3E}">
        <p14:creationId xmlns:p14="http://schemas.microsoft.com/office/powerpoint/2010/main" val="2811896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88ABEF60-59AA-43BB-B5A7-E2301DA0DC0D}" type="slidenum">
              <a:rPr lang="en-US"/>
              <a:pPr/>
              <a:t>10</a:t>
            </a:fld>
            <a:endParaRPr lang="en-US"/>
          </a:p>
        </p:txBody>
      </p:sp>
      <p:sp>
        <p:nvSpPr>
          <p:cNvPr id="296962" name="Rectangle 2"/>
          <p:cNvSpPr>
            <a:spLocks noGrp="1" noRot="1" noChangeAspect="1" noChangeArrowheads="1" noTextEdit="1"/>
          </p:cNvSpPr>
          <p:nvPr>
            <p:ph type="sldImg"/>
          </p:nvPr>
        </p:nvSpPr>
        <p:spPr>
          <a:ln/>
        </p:spPr>
      </p:sp>
      <p:sp>
        <p:nvSpPr>
          <p:cNvPr id="296963" name="Rectangle 3"/>
          <p:cNvSpPr>
            <a:spLocks noGrp="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D41FFC07-7B26-4F09-B348-A88E1524A131}" type="slidenum">
              <a:rPr lang="en-US"/>
              <a:pPr/>
              <a:t>12</a:t>
            </a:fld>
            <a:endParaRPr lang="en-US"/>
          </a:p>
        </p:txBody>
      </p:sp>
      <p:sp>
        <p:nvSpPr>
          <p:cNvPr id="297986" name="Rectangle 2"/>
          <p:cNvSpPr>
            <a:spLocks noGrp="1" noRot="1" noChangeAspect="1" noChangeArrowheads="1" noTextEdit="1"/>
          </p:cNvSpPr>
          <p:nvPr>
            <p:ph type="sldImg"/>
          </p:nvPr>
        </p:nvSpPr>
        <p:spPr>
          <a:ln/>
        </p:spPr>
      </p:sp>
      <p:sp>
        <p:nvSpPr>
          <p:cNvPr id="297987" name="Rectangle 3"/>
          <p:cNvSpPr>
            <a:spLocks noGrp="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19B999F1-99E4-4D49-B4E9-8A7EC361EE64}" type="slidenum">
              <a:rPr lang="en-US"/>
              <a:pPr/>
              <a:t>13</a:t>
            </a:fld>
            <a:endParaRPr lang="en-US"/>
          </a:p>
        </p:txBody>
      </p:sp>
      <p:sp>
        <p:nvSpPr>
          <p:cNvPr id="299010" name="Rectangle 2"/>
          <p:cNvSpPr>
            <a:spLocks noGrp="1" noRot="1" noChangeAspect="1" noChangeArrowheads="1" noTextEdit="1"/>
          </p:cNvSpPr>
          <p:nvPr>
            <p:ph type="sldImg"/>
          </p:nvPr>
        </p:nvSpPr>
        <p:spPr>
          <a:ln/>
        </p:spPr>
      </p:sp>
      <p:sp>
        <p:nvSpPr>
          <p:cNvPr id="299011" name="Rectangle 3"/>
          <p:cNvSpPr>
            <a:spLocks noGrp="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35683FC-2662-4535-9D77-E710E83F535E}" type="slidenum">
              <a:rPr lang="en-US"/>
              <a:pPr/>
              <a:t>17</a:t>
            </a:fld>
            <a:endParaRPr lang="en-US"/>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6675E7C2-8BFB-4B8E-935B-C4F1D137D604}" type="slidenum">
              <a:rPr lang="en-US"/>
              <a:pPr/>
              <a:t>18</a:t>
            </a:fld>
            <a:endParaRPr lang="en-US"/>
          </a:p>
        </p:txBody>
      </p:sp>
      <p:sp>
        <p:nvSpPr>
          <p:cNvPr id="300034" name="Rectangle 2"/>
          <p:cNvSpPr>
            <a:spLocks noGrp="1" noRot="1" noChangeAspect="1" noChangeArrowheads="1" noTextEdit="1"/>
          </p:cNvSpPr>
          <p:nvPr>
            <p:ph type="sldImg"/>
          </p:nvPr>
        </p:nvSpPr>
        <p:spPr>
          <a:ln/>
        </p:spPr>
      </p:sp>
      <p:sp>
        <p:nvSpPr>
          <p:cNvPr id="300035" name="Rectangle 3"/>
          <p:cNvSpPr>
            <a:spLocks noGrp="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ACE35338-3141-4DF0-8843-3D2DA8D8E5D9}" type="slidenum">
              <a:rPr lang="en-US"/>
              <a:pPr/>
              <a:t>19</a:t>
            </a:fld>
            <a:endParaRPr lang="en-US"/>
          </a:p>
        </p:txBody>
      </p:sp>
      <p:sp>
        <p:nvSpPr>
          <p:cNvPr id="301058" name="Rectangle 2"/>
          <p:cNvSpPr>
            <a:spLocks noGrp="1" noRot="1" noChangeAspect="1" noChangeArrowheads="1" noTextEdit="1"/>
          </p:cNvSpPr>
          <p:nvPr>
            <p:ph type="sldImg"/>
          </p:nvPr>
        </p:nvSpPr>
        <p:spPr>
          <a:ln/>
        </p:spPr>
      </p:sp>
      <p:sp>
        <p:nvSpPr>
          <p:cNvPr id="301059" name="Rectangle 3"/>
          <p:cNvSpPr>
            <a:spLocks noGrp="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0761D7E1-8662-4FE9-930E-625B0EC115CF}" type="slidenum">
              <a:rPr lang="en-US"/>
              <a:pPr/>
              <a:t>20</a:t>
            </a:fld>
            <a:endParaRPr lang="en-US"/>
          </a:p>
        </p:txBody>
      </p:sp>
      <p:sp>
        <p:nvSpPr>
          <p:cNvPr id="302082" name="Rectangle 2"/>
          <p:cNvSpPr>
            <a:spLocks noGrp="1" noRot="1" noChangeAspect="1" noChangeArrowheads="1" noTextEdit="1"/>
          </p:cNvSpPr>
          <p:nvPr>
            <p:ph type="sldImg"/>
          </p:nvPr>
        </p:nvSpPr>
        <p:spPr>
          <a:ln/>
        </p:spPr>
      </p:sp>
      <p:sp>
        <p:nvSpPr>
          <p:cNvPr id="302083" name="Rectangle 3"/>
          <p:cNvSpPr>
            <a:spLocks noGrp="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E17C883C-DAED-43EF-8D36-CE8D767073D3}" type="slidenum">
              <a:rPr lang="en-US"/>
              <a:pPr/>
              <a:t>28</a:t>
            </a:fld>
            <a:endParaRPr lang="en-US"/>
          </a:p>
        </p:txBody>
      </p:sp>
      <p:sp>
        <p:nvSpPr>
          <p:cNvPr id="303106" name="Rectangle 2"/>
          <p:cNvSpPr>
            <a:spLocks noGrp="1" noRot="1" noChangeAspect="1" noChangeArrowheads="1" noTextEdit="1"/>
          </p:cNvSpPr>
          <p:nvPr>
            <p:ph type="sldImg"/>
          </p:nvPr>
        </p:nvSpPr>
        <p:spPr>
          <a:ln/>
        </p:spPr>
      </p:sp>
      <p:sp>
        <p:nvSpPr>
          <p:cNvPr id="303107" name="Rectangle 3"/>
          <p:cNvSpPr>
            <a:spLocks noGrp="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BA02D3C4-9867-4CDF-A50C-C0B1A8C9E1AF}" type="slidenum">
              <a:rPr lang="en-US"/>
              <a:pPr/>
              <a:t>29</a:t>
            </a:fld>
            <a:endParaRPr lang="en-US"/>
          </a:p>
        </p:txBody>
      </p:sp>
      <p:sp>
        <p:nvSpPr>
          <p:cNvPr id="304130" name="Rectangle 2"/>
          <p:cNvSpPr>
            <a:spLocks noGrp="1" noRot="1" noChangeAspect="1" noChangeArrowheads="1" noTextEdit="1"/>
          </p:cNvSpPr>
          <p:nvPr>
            <p:ph type="sldImg"/>
          </p:nvPr>
        </p:nvSpPr>
        <p:spPr>
          <a:ln/>
        </p:spPr>
      </p:sp>
      <p:sp>
        <p:nvSpPr>
          <p:cNvPr id="304131" name="Rectangle 3"/>
          <p:cNvSpPr>
            <a:spLocks noGrp="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F7C180D6-C601-444A-875D-99CD6CD4B7F3}" type="slidenum">
              <a:rPr lang="en-US"/>
              <a:pPr/>
              <a:t>31</a:t>
            </a:fld>
            <a:endParaRPr lang="en-US"/>
          </a:p>
        </p:txBody>
      </p:sp>
      <p:sp>
        <p:nvSpPr>
          <p:cNvPr id="305154" name="Rectangle 2"/>
          <p:cNvSpPr>
            <a:spLocks noGrp="1" noRot="1" noChangeAspect="1" noChangeArrowheads="1" noTextEdit="1"/>
          </p:cNvSpPr>
          <p:nvPr>
            <p:ph type="sldImg"/>
          </p:nvPr>
        </p:nvSpPr>
        <p:spPr>
          <a:ln/>
        </p:spPr>
      </p:sp>
      <p:sp>
        <p:nvSpPr>
          <p:cNvPr id="305155" name="Rectangle 3"/>
          <p:cNvSpPr>
            <a:spLocks noGrp="1"/>
          </p:cNvSpPr>
          <p:nvPr>
            <p:ph type="body" idx="1"/>
          </p:nvPr>
        </p:nvSpPr>
        <p:spPr/>
        <p:txBody>
          <a:bodyPr/>
          <a:lstStyle/>
          <a:p>
            <a:r>
              <a:rPr lang="en-US" dirty="0"/>
              <a:t>Amount of substrate or enzyme</a:t>
            </a:r>
            <a:r>
              <a:rPr lang="en-US" baseline="0" dirty="0"/>
              <a:t> present in a reaction mix can limit the amount of products produced. </a:t>
            </a:r>
          </a:p>
          <a:p>
            <a:r>
              <a:rPr lang="en-US" baseline="0" dirty="0"/>
              <a:t>Increased amounts of substrate will result in more products being made until all the enzyme molecules are working at their full capacity.</a:t>
            </a:r>
          </a:p>
          <a:p>
            <a:r>
              <a:rPr lang="en-US" baseline="0" dirty="0"/>
              <a:t>When amount of enzyme is increased the amount of product will continue to increase exponentially. This keeps happening until the product starts to inhibit the reaction or the substrate is depleted.</a:t>
            </a:r>
          </a:p>
          <a:p>
            <a:endParaRPr lang="en-US" baseline="0" dirty="0"/>
          </a:p>
          <a:p>
            <a:r>
              <a:rPr lang="en-US" baseline="0" dirty="0"/>
              <a:t>Concentrations controlled in response to the needs of the cell by either controlling the production of the protein, breaking down the enzyme or by activating the enzyme with a stimulus. Pepsinogen inactive form pepsin active form occurs when entering the acidic environment of the stomach.</a:t>
            </a:r>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47EC6F97-88A4-432B-9F7D-E8313F3AF62D}" type="slidenum">
              <a:rPr lang="en-US"/>
              <a:pPr/>
              <a:t>32</a:t>
            </a:fld>
            <a:endParaRPr lang="en-US"/>
          </a:p>
        </p:txBody>
      </p:sp>
      <p:sp>
        <p:nvSpPr>
          <p:cNvPr id="306178" name="Rectangle 2"/>
          <p:cNvSpPr>
            <a:spLocks noGrp="1" noRot="1" noChangeAspect="1" noChangeArrowheads="1" noTextEdit="1"/>
          </p:cNvSpPr>
          <p:nvPr>
            <p:ph type="sldImg"/>
          </p:nvPr>
        </p:nvSpPr>
        <p:spPr>
          <a:ln/>
        </p:spPr>
      </p:sp>
      <p:sp>
        <p:nvSpPr>
          <p:cNvPr id="306179" name="Rectangle 3"/>
          <p:cNvSpPr>
            <a:spLocks noGrp="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D5AE730F-CBAC-4FE1-B32B-0526705E17F1}" type="slidenum">
              <a:rPr lang="en-US"/>
              <a:pPr/>
              <a:t>33</a:t>
            </a:fld>
            <a:endParaRPr lang="en-US"/>
          </a:p>
        </p:txBody>
      </p:sp>
      <p:sp>
        <p:nvSpPr>
          <p:cNvPr id="307202" name="Rectangle 2"/>
          <p:cNvSpPr>
            <a:spLocks noGrp="1" noRot="1" noChangeAspect="1" noChangeArrowheads="1" noTextEdit="1"/>
          </p:cNvSpPr>
          <p:nvPr>
            <p:ph type="sldImg"/>
          </p:nvPr>
        </p:nvSpPr>
        <p:spPr>
          <a:ln/>
        </p:spPr>
      </p:sp>
      <p:sp>
        <p:nvSpPr>
          <p:cNvPr id="307203" name="Rectangle 3"/>
          <p:cNvSpPr>
            <a:spLocks noGrp="1"/>
          </p:cNvSpPr>
          <p:nvPr>
            <p:ph type="body" idx="1"/>
          </p:nvPr>
        </p:nvSpPr>
        <p:spPr/>
        <p:txBody>
          <a:bodyPr/>
          <a:lstStyle/>
          <a:p>
            <a:r>
              <a:rPr lang="en-US" dirty="0"/>
              <a:t>Feedback inhibition – the product of a reaction can inhibit enzyme</a:t>
            </a:r>
            <a:r>
              <a:rPr lang="en-US" baseline="0" dirty="0"/>
              <a:t> activity. If a large amount of product is present it will act as an inhibitor by binding to a site on the enzyme and changing the shape of the active site so it can no longer continue the reaction with the substrate. (noncompetitive)</a:t>
            </a:r>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Active site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1"/>
                </a:solidFill>
                <a:effectLst/>
                <a:latin typeface="+mn-lt"/>
                <a:ea typeface="+mn-ea"/>
                <a:cs typeface="+mn-cs"/>
              </a:rPr>
              <a:t>Enzyme substrate complex</a:t>
            </a:r>
          </a:p>
          <a:p>
            <a:endParaRPr lang="en-AU" sz="1200" kern="1200" dirty="0">
              <a:solidFill>
                <a:schemeClr val="tx1"/>
              </a:solidFill>
              <a:effectLst/>
              <a:latin typeface="+mn-lt"/>
              <a:ea typeface="+mn-ea"/>
              <a:cs typeface="+mn-cs"/>
            </a:endParaRPr>
          </a:p>
          <a:p>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Catabolic</a:t>
            </a:r>
          </a:p>
          <a:p>
            <a:r>
              <a:rPr lang="en-AU" sz="1200" kern="1200" dirty="0">
                <a:solidFill>
                  <a:schemeClr val="tx1"/>
                </a:solidFill>
                <a:effectLst/>
                <a:latin typeface="+mn-lt"/>
                <a:ea typeface="+mn-ea"/>
                <a:cs typeface="+mn-cs"/>
              </a:rPr>
              <a:t>It shows a larger molecule being broken down into smaller ones</a:t>
            </a:r>
          </a:p>
          <a:p>
            <a:endParaRPr lang="en-AU" dirty="0"/>
          </a:p>
        </p:txBody>
      </p:sp>
      <p:sp>
        <p:nvSpPr>
          <p:cNvPr id="4" name="Slide Number Placeholder 3"/>
          <p:cNvSpPr>
            <a:spLocks noGrp="1"/>
          </p:cNvSpPr>
          <p:nvPr>
            <p:ph type="sldNum" sz="quarter" idx="10"/>
          </p:nvPr>
        </p:nvSpPr>
        <p:spPr/>
        <p:txBody>
          <a:bodyPr/>
          <a:lstStyle/>
          <a:p>
            <a:fld id="{0166722C-D930-465A-92CB-E6405EDFBA4A}" type="slidenum">
              <a:rPr lang="en-AU" smtClean="0"/>
              <a:t>37</a:t>
            </a:fld>
            <a:endParaRPr lang="en-AU"/>
          </a:p>
        </p:txBody>
      </p:sp>
    </p:spTree>
    <p:extLst>
      <p:ext uri="{BB962C8B-B14F-4D97-AF65-F5344CB8AC3E}">
        <p14:creationId xmlns:p14="http://schemas.microsoft.com/office/powerpoint/2010/main" val="30969413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B</a:t>
            </a:r>
          </a:p>
        </p:txBody>
      </p:sp>
      <p:sp>
        <p:nvSpPr>
          <p:cNvPr id="4" name="Slide Number Placeholder 3"/>
          <p:cNvSpPr>
            <a:spLocks noGrp="1"/>
          </p:cNvSpPr>
          <p:nvPr>
            <p:ph type="sldNum" sz="quarter" idx="10"/>
          </p:nvPr>
        </p:nvSpPr>
        <p:spPr/>
        <p:txBody>
          <a:bodyPr/>
          <a:lstStyle/>
          <a:p>
            <a:fld id="{0166722C-D930-465A-92CB-E6405EDFBA4A}" type="slidenum">
              <a:rPr lang="en-AU" smtClean="0"/>
              <a:t>38</a:t>
            </a:fld>
            <a:endParaRPr lang="en-AU"/>
          </a:p>
        </p:txBody>
      </p:sp>
    </p:spTree>
    <p:extLst>
      <p:ext uri="{BB962C8B-B14F-4D97-AF65-F5344CB8AC3E}">
        <p14:creationId xmlns:p14="http://schemas.microsoft.com/office/powerpoint/2010/main" val="9337690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A – optimal/ fastest rate of reaction</a:t>
            </a:r>
          </a:p>
          <a:p>
            <a:r>
              <a:rPr lang="en-AU" sz="1200" kern="1200" dirty="0">
                <a:solidFill>
                  <a:schemeClr val="tx1"/>
                </a:solidFill>
                <a:effectLst/>
                <a:latin typeface="+mn-lt"/>
                <a:ea typeface="+mn-ea"/>
                <a:cs typeface="+mn-cs"/>
              </a:rPr>
              <a:t>		B – very slow reaction rate</a:t>
            </a:r>
          </a:p>
          <a:p>
            <a:r>
              <a:rPr lang="en-AU" sz="1200" kern="1200" dirty="0">
                <a:solidFill>
                  <a:schemeClr val="tx1"/>
                </a:solidFill>
                <a:effectLst/>
                <a:latin typeface="+mn-lt"/>
                <a:ea typeface="+mn-ea"/>
                <a:cs typeface="+mn-cs"/>
              </a:rPr>
              <a:t>Increase concentration of enzyme = increase rate</a:t>
            </a:r>
          </a:p>
          <a:p>
            <a:r>
              <a:rPr lang="en-AU" sz="1200" kern="1200" dirty="0">
                <a:solidFill>
                  <a:schemeClr val="tx1"/>
                </a:solidFill>
                <a:effectLst/>
                <a:latin typeface="+mn-lt"/>
                <a:ea typeface="+mn-ea"/>
                <a:cs typeface="+mn-cs"/>
              </a:rPr>
              <a:t>		Cofactors may be required for enzyme to function</a:t>
            </a:r>
          </a:p>
          <a:p>
            <a:r>
              <a:rPr lang="en-AU" sz="1200" kern="1200" dirty="0">
                <a:solidFill>
                  <a:schemeClr val="tx1"/>
                </a:solidFill>
                <a:effectLst/>
                <a:latin typeface="+mn-lt"/>
                <a:ea typeface="+mn-ea"/>
                <a:cs typeface="+mn-cs"/>
              </a:rPr>
              <a:t>		Inhibitors stop enzyme action </a:t>
            </a:r>
          </a:p>
          <a:p>
            <a:endParaRPr lang="en-AU" dirty="0"/>
          </a:p>
        </p:txBody>
      </p:sp>
      <p:sp>
        <p:nvSpPr>
          <p:cNvPr id="4" name="Slide Number Placeholder 3"/>
          <p:cNvSpPr>
            <a:spLocks noGrp="1"/>
          </p:cNvSpPr>
          <p:nvPr>
            <p:ph type="sldNum" sz="quarter" idx="10"/>
          </p:nvPr>
        </p:nvSpPr>
        <p:spPr/>
        <p:txBody>
          <a:bodyPr/>
          <a:lstStyle/>
          <a:p>
            <a:fld id="{0166722C-D930-465A-92CB-E6405EDFBA4A}" type="slidenum">
              <a:rPr lang="en-AU" smtClean="0"/>
              <a:t>39</a:t>
            </a:fld>
            <a:endParaRPr lang="en-AU"/>
          </a:p>
        </p:txBody>
      </p:sp>
    </p:spTree>
    <p:extLst>
      <p:ext uri="{BB962C8B-B14F-4D97-AF65-F5344CB8AC3E}">
        <p14:creationId xmlns:p14="http://schemas.microsoft.com/office/powerpoint/2010/main" val="2987516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705600" y="4206240"/>
            <a:ext cx="960120" cy="457200"/>
          </a:xfrm>
        </p:spPr>
        <p:txBody>
          <a:bodyPr/>
          <a:lstStyle/>
          <a:p>
            <a:pPr eaLnBrk="1" latinLnBrk="0" hangingPunct="1"/>
            <a:fld id="{C3F416CD-67A3-4CF0-A210-F6AF31AC147F}" type="datetimeFigureOut">
              <a:rPr lang="en-US" smtClean="0"/>
              <a:pPr eaLnBrk="1" latinLnBrk="0" hangingPunct="1"/>
              <a:t>8/7/2023</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kumimoji="0" lang="en-US" dirty="0"/>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pPr algn="r" eaLnBrk="1" latinLnBrk="0" hangingPunct="1"/>
            <a:fld id="{96652B35-718D-4E28-AFEB-B694A3B357E8}" type="slidenum">
              <a:rPr kumimoji="0" lang="en-US" smtClean="0"/>
              <a:pPr algn="r" eaLnBrk="1" latinLnBrk="0" hangingPunct="1"/>
              <a:t>‹#›</a:t>
            </a:fld>
            <a:endParaRPr kumimoji="0" lang="en-US" sz="1800" dirty="0">
              <a:solidFill>
                <a:schemeClr val="bg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3F416CD-67A3-4CF0-A210-F6AF31AC147F}" type="datetimeFigureOut">
              <a:rPr lang="en-US" smtClean="0"/>
              <a:pPr eaLnBrk="1" latinLnBrk="0" hangingPunct="1"/>
              <a:t>8/7/2023</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96652B35-718D-4E28-AFEB-B694A3B357E8}" type="slidenum">
              <a:rPr kumimoji="0" lang="en-US" smtClean="0"/>
              <a:pPr eaLnBrk="1" latinLnBrk="0" hangingPunct="1"/>
              <a:t>‹#›</a:t>
            </a:fld>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eaLnBrk="1" latinLnBrk="0" hangingPunct="1"/>
            <a:fld id="{C3F416CD-67A3-4CF0-A210-F6AF31AC147F}" type="datetimeFigureOut">
              <a:rPr lang="en-US" smtClean="0"/>
              <a:pPr eaLnBrk="1" latinLnBrk="0" hangingPunct="1"/>
              <a:t>8/7/2023</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96652B35-718D-4E28-AFEB-B694A3B357E8}" type="slidenum">
              <a:rPr kumimoji="0" lang="en-US" smtClean="0"/>
              <a:pPr eaLnBrk="1" latinLnBrk="0" hangingPunct="1"/>
              <a:t>‹#›</a:t>
            </a:fld>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eaLnBrk="1" latinLnBrk="0" hangingPunct="1"/>
            <a:fld id="{C3F416CD-67A3-4CF0-A210-F6AF31AC147F}" type="datetimeFigureOut">
              <a:rPr lang="en-US" smtClean="0"/>
              <a:pPr eaLnBrk="1" latinLnBrk="0" hangingPunct="1"/>
              <a:t>8/7/2023</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96652B35-718D-4E28-AFEB-B694A3B357E8}" type="slidenum">
              <a:rPr kumimoji="0" lang="en-US" smtClean="0"/>
              <a:pPr eaLnBrk="1" latinLnBrk="0" hangingPunct="1"/>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pPr algn="l" eaLnBrk="1" latinLnBrk="0" hangingPunct="1"/>
            <a:fld id="{C3F416CD-67A3-4CF0-A210-F6AF31AC147F}" type="datetimeFigureOut">
              <a:rPr lang="en-US" smtClean="0"/>
              <a:pPr algn="l" eaLnBrk="1" latinLnBrk="0" hangingPunct="1"/>
              <a:t>8/7/2023</a:t>
            </a:fld>
            <a:endParaRPr lang="en-US"/>
          </a:p>
        </p:txBody>
      </p:sp>
      <p:sp>
        <p:nvSpPr>
          <p:cNvPr id="27" name="Slide Number Placeholder 26"/>
          <p:cNvSpPr>
            <a:spLocks noGrp="1"/>
          </p:cNvSpPr>
          <p:nvPr>
            <p:ph type="sldNum" sz="quarter" idx="11"/>
          </p:nvPr>
        </p:nvSpPr>
        <p:spPr/>
        <p:txBody>
          <a:bodyPr rtlCol="0"/>
          <a:lstStyle/>
          <a:p>
            <a:pPr algn="r" eaLnBrk="1" latinLnBrk="0" hangingPunct="1"/>
            <a:fld id="{96652B35-718D-4E28-AFEB-B694A3B357E8}" type="slidenum">
              <a:rPr kumimoji="0" lang="en-US" smtClean="0"/>
              <a:pPr algn="r" eaLnBrk="1" latinLnBrk="0" hangingPunct="1"/>
              <a:t>‹#›</a:t>
            </a:fld>
            <a:endParaRPr kumimoji="0" lang="en-US"/>
          </a:p>
        </p:txBody>
      </p:sp>
      <p:sp>
        <p:nvSpPr>
          <p:cNvPr id="28" name="Footer Placeholder 27"/>
          <p:cNvSpPr>
            <a:spLocks noGrp="1"/>
          </p:cNvSpPr>
          <p:nvPr>
            <p:ph type="ftr" sz="quarter" idx="12"/>
          </p:nvPr>
        </p:nvSpPr>
        <p:spPr/>
        <p:txBody>
          <a:bodyPr rtlCol="0"/>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6583680" y="612648"/>
            <a:ext cx="957264" cy="457200"/>
          </a:xfrm>
        </p:spPr>
        <p:txBody>
          <a:bodyPr/>
          <a:lstStyle/>
          <a:p>
            <a:pPr eaLnBrk="1" latinLnBrk="0" hangingPunct="1"/>
            <a:fld id="{C3F416CD-67A3-4CF0-A210-F6AF31AC147F}" type="datetimeFigureOut">
              <a:rPr lang="en-US" smtClean="0"/>
              <a:pPr eaLnBrk="1" latinLnBrk="0" hangingPunct="1"/>
              <a:t>8/7/2023</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kumimoji="0" lang="en-US" dirty="0"/>
          </a:p>
        </p:txBody>
      </p:sp>
      <p:sp>
        <p:nvSpPr>
          <p:cNvPr id="5" name="Slide Number Placeholder 4"/>
          <p:cNvSpPr>
            <a:spLocks noGrp="1"/>
          </p:cNvSpPr>
          <p:nvPr>
            <p:ph type="sldNum" sz="quarter" idx="12"/>
          </p:nvPr>
        </p:nvSpPr>
        <p:spPr>
          <a:xfrm>
            <a:off x="8174736" y="2272"/>
            <a:ext cx="762000" cy="365760"/>
          </a:xfrm>
        </p:spPr>
        <p:txBody>
          <a:bodyPr/>
          <a:lstStyle/>
          <a:p>
            <a:fld id="{96652B35-718D-4E28-AFEB-B694A3B357E8}" type="slidenum">
              <a:rPr kumimoji="0" lang="en-US" smtClean="0"/>
              <a:pPr eaLnBrk="1" latinLnBrk="0" hangingPunct="1"/>
              <a:t>‹#›</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C3F416CD-67A3-4CF0-A210-F6AF31AC147F}" type="datetimeFigureOut">
              <a:rPr lang="en-US" smtClean="0"/>
              <a:pPr eaLnBrk="1" latinLnBrk="0" hangingPunct="1"/>
              <a:t>8/7/2023</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96652B35-718D-4E28-AFEB-B694A3B357E8}" type="slidenum">
              <a:rPr kumimoji="0" lang="en-US" smtClean="0"/>
              <a:pPr eaLnBrk="1" latinLnBrk="0" hangingPunct="1"/>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eaLnBrk="1" latinLnBrk="0" hangingPunct="1"/>
            <a:fld id="{C3F416CD-67A3-4CF0-A210-F6AF31AC147F}" type="datetimeFigureOut">
              <a:rPr lang="en-US" smtClean="0"/>
              <a:pPr eaLnBrk="1" latinLnBrk="0" hangingPunct="1"/>
              <a:t>8/7/2023</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96652B35-718D-4E28-AFEB-B694A3B357E8}" type="slidenum">
              <a:rPr kumimoji="0" lang="en-US" smtClean="0"/>
              <a:pPr eaLnBrk="1" latinLnBrk="0" hangingPunct="1"/>
              <a:t>‹#›</a:t>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C3F416CD-67A3-4CF0-A210-F6AF31AC147F}" type="datetimeFigureOut">
              <a:rPr lang="en-US" smtClean="0"/>
              <a:pPr eaLnBrk="1" latinLnBrk="0" hangingPunct="1"/>
              <a:t>8/7/2023</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96652B35-718D-4E28-AFEB-B694A3B357E8}" type="slidenum">
              <a:rPr kumimoji="0" lang="en-US" smtClean="0"/>
              <a:pPr eaLnBrk="1" latinLnBrk="0" hangingPunct="1"/>
              <a:t>‹#›</a:t>
            </a:fld>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3F416CD-67A3-4CF0-A210-F6AF31AC147F}" type="datetimeFigureOut">
              <a:rPr lang="en-US" smtClean="0"/>
              <a:pPr eaLnBrk="1" latinLnBrk="0" hangingPunct="1"/>
              <a:t>8/7/2023</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96652B35-718D-4E28-AFEB-B694A3B357E8}" type="slidenum">
              <a:rPr kumimoji="0" lang="en-US" smtClean="0"/>
              <a:pPr eaLnBrk="1" latinLnBrk="0" hangingPunct="1"/>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3F416CD-67A3-4CF0-A210-F6AF31AC147F}" type="datetimeFigureOut">
              <a:rPr lang="en-US" smtClean="0"/>
              <a:pPr eaLnBrk="1" latinLnBrk="0" hangingPunct="1"/>
              <a:t>8/7/2023</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96652B35-718D-4E28-AFEB-B694A3B357E8}" type="slidenum">
              <a:rPr kumimoji="0" lang="en-US" smtClean="0"/>
              <a:pPr eaLnBrk="1" latinLnBrk="0" hangingPunct="1"/>
              <a:t>‹#›</a:t>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pPr algn="l" eaLnBrk="1" latinLnBrk="0" hangingPunct="1"/>
            <a:fld id="{C3F416CD-67A3-4CF0-A210-F6AF31AC147F}" type="datetimeFigureOut">
              <a:rPr lang="en-US" smtClean="0"/>
              <a:pPr algn="l" eaLnBrk="1" latinLnBrk="0" hangingPunct="1"/>
              <a:t>8/7/2023</a:t>
            </a:fld>
            <a:endParaRPr lang="en-US" sz="800" dirty="0">
              <a:solidFill>
                <a:schemeClr val="accent2"/>
              </a:solidFill>
            </a:endParaRPr>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pPr algn="r" eaLnBrk="1" latinLnBrk="0" hangingPunct="1"/>
            <a:endParaRPr kumimoji="0" lang="en-US" sz="800" dirty="0">
              <a:solidFill>
                <a:schemeClr val="accent2"/>
              </a:solidFill>
            </a:endParaRPr>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pPr algn="r" eaLnBrk="1" latinLnBrk="0" hangingPunct="1"/>
            <a:fld id="{96652B35-718D-4E28-AFEB-B694A3B357E8}" type="slidenum">
              <a:rPr kumimoji="0" lang="en-US" smtClean="0"/>
              <a:pPr algn="r" eaLnBrk="1" latinLnBrk="0" hangingPunct="1"/>
              <a:t>‹#›</a:t>
            </a:fld>
            <a:endParaRPr kumimoji="0" lang="en-US" sz="18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5.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2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8.png"/><Relationship Id="rId7"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3b7Nuy0Xuuw" TargetMode="External"/><Relationship Id="rId2" Type="http://schemas.openxmlformats.org/officeDocument/2006/relationships/hyperlink" Target="https://www.youtube.com/watch?v=deFQhPurj-k"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youtube.com/watch?v=3b7Nuy0Xuuw" TargetMode="External"/><Relationship Id="rId2" Type="http://schemas.openxmlformats.org/officeDocument/2006/relationships/hyperlink" Target="https://www.youtube.com/watch?v=deFQhPurj-k"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9552" y="3789041"/>
            <a:ext cx="8458200" cy="1470025"/>
          </a:xfrm>
        </p:spPr>
        <p:txBody>
          <a:bodyPr/>
          <a:lstStyle/>
          <a:p>
            <a:r>
              <a:rPr lang="en-AU" dirty="0">
                <a:solidFill>
                  <a:srgbClr val="00B050"/>
                </a:solidFill>
              </a:rPr>
              <a:t>11ATAR Biology</a:t>
            </a:r>
            <a:br>
              <a:rPr lang="en-AU" dirty="0"/>
            </a:br>
            <a:r>
              <a:rPr lang="en-AU" sz="3600" dirty="0">
                <a:solidFill>
                  <a:srgbClr val="00B050"/>
                </a:solidFill>
              </a:rPr>
              <a:t>Week 24 - Enzymes</a:t>
            </a:r>
          </a:p>
        </p:txBody>
      </p:sp>
      <p:pic>
        <p:nvPicPr>
          <p:cNvPr id="34818" name="Picture 2" descr="http://cellularlifeprocesses.weebly.com/uploads/1/2/6/2/12623644/403337409_orig.jpg?140065325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348" y="548680"/>
            <a:ext cx="5472608" cy="2640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5535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48029"/>
            <a:ext cx="8229600" cy="1066800"/>
          </a:xfrm>
        </p:spPr>
        <p:txBody>
          <a:bodyPr/>
          <a:lstStyle/>
          <a:p>
            <a:r>
              <a:rPr lang="en-AU" dirty="0">
                <a:solidFill>
                  <a:srgbClr val="0070C0"/>
                </a:solidFill>
              </a:rPr>
              <a:t>Year 11 Biology Work Schedule</a:t>
            </a:r>
          </a:p>
        </p:txBody>
      </p:sp>
      <p:sp>
        <p:nvSpPr>
          <p:cNvPr id="3" name="Content Placeholder 2"/>
          <p:cNvSpPr>
            <a:spLocks noGrp="1"/>
          </p:cNvSpPr>
          <p:nvPr>
            <p:ph sz="quarter" idx="1"/>
          </p:nvPr>
        </p:nvSpPr>
        <p:spPr>
          <a:xfrm>
            <a:off x="457200" y="1797276"/>
            <a:ext cx="8229600" cy="2288765"/>
          </a:xfrm>
        </p:spPr>
        <p:txBody>
          <a:bodyPr>
            <a:normAutofit fontScale="92500" lnSpcReduction="10000"/>
          </a:bodyPr>
          <a:lstStyle/>
          <a:p>
            <a:r>
              <a:rPr lang="en-AU" altLang="en-US" sz="2400" dirty="0">
                <a:solidFill>
                  <a:srgbClr val="002060"/>
                </a:solidFill>
                <a:latin typeface="Calibri" panose="020F0502020204030204" pitchFamily="34" charset="0"/>
                <a:cs typeface="Calibri" panose="020F0502020204030204" pitchFamily="34" charset="0"/>
              </a:rPr>
              <a:t>It is important to remain on schedule during this Semester.</a:t>
            </a:r>
          </a:p>
          <a:p>
            <a:pPr marL="109728" indent="0">
              <a:buNone/>
            </a:pPr>
            <a:r>
              <a:rPr lang="en-AU" altLang="en-US" sz="2400" dirty="0">
                <a:solidFill>
                  <a:srgbClr val="002060"/>
                </a:solidFill>
                <a:latin typeface="Calibri" panose="020F0502020204030204" pitchFamily="34" charset="0"/>
                <a:cs typeface="Calibri" panose="020F0502020204030204" pitchFamily="34" charset="0"/>
              </a:rPr>
              <a:t>Moodle</a:t>
            </a:r>
          </a:p>
          <a:p>
            <a:r>
              <a:rPr lang="en-AU" altLang="en-US" sz="2400" dirty="0">
                <a:solidFill>
                  <a:srgbClr val="002060"/>
                </a:solidFill>
                <a:latin typeface="Calibri" panose="020F0502020204030204" pitchFamily="34" charset="0"/>
                <a:cs typeface="Calibri" panose="020F0502020204030204" pitchFamily="34" charset="0"/>
              </a:rPr>
              <a:t>Have you visited Moodle this week?        Yes  /  No</a:t>
            </a:r>
          </a:p>
          <a:p>
            <a:pPr marL="109728" indent="0">
              <a:buNone/>
            </a:pPr>
            <a:r>
              <a:rPr lang="en-AU" altLang="en-US" sz="2400" dirty="0">
                <a:solidFill>
                  <a:srgbClr val="002060"/>
                </a:solidFill>
                <a:latin typeface="Calibri" panose="020F0502020204030204" pitchFamily="34" charset="0"/>
                <a:cs typeface="Calibri" panose="020F0502020204030204" pitchFamily="34" charset="0"/>
              </a:rPr>
              <a:t>Tasks</a:t>
            </a:r>
          </a:p>
          <a:p>
            <a:r>
              <a:rPr lang="en-AU" altLang="en-US" sz="2400" dirty="0">
                <a:solidFill>
                  <a:srgbClr val="002060"/>
                </a:solidFill>
                <a:latin typeface="Calibri" panose="020F0502020204030204" pitchFamily="34" charset="0"/>
                <a:cs typeface="Calibri" panose="020F0502020204030204" pitchFamily="34" charset="0"/>
              </a:rPr>
              <a:t>Are you on schedule?		    	        Yes  /  No</a:t>
            </a:r>
          </a:p>
          <a:p>
            <a:r>
              <a:rPr lang="en-AU" altLang="en-US" sz="2400" dirty="0">
                <a:solidFill>
                  <a:srgbClr val="002060"/>
                </a:solidFill>
                <a:latin typeface="Calibri" panose="020F0502020204030204" pitchFamily="34" charset="0"/>
                <a:cs typeface="Calibri" panose="020F0502020204030204" pitchFamily="34" charset="0"/>
              </a:rPr>
              <a:t>When is your next task due?</a:t>
            </a:r>
          </a:p>
          <a:p>
            <a:endParaRPr lang="en-AU" dirty="0"/>
          </a:p>
        </p:txBody>
      </p:sp>
      <p:pic>
        <p:nvPicPr>
          <p:cNvPr id="5" name="Picture 4"/>
          <p:cNvPicPr>
            <a:picLocks noChangeAspect="1"/>
          </p:cNvPicPr>
          <p:nvPr/>
        </p:nvPicPr>
        <p:blipFill>
          <a:blip r:embed="rId2"/>
          <a:stretch>
            <a:fillRect/>
          </a:stretch>
        </p:blipFill>
        <p:spPr>
          <a:xfrm>
            <a:off x="107545" y="4103422"/>
            <a:ext cx="8928910" cy="2490433"/>
          </a:xfrm>
          <a:prstGeom prst="rect">
            <a:avLst/>
          </a:prstGeom>
        </p:spPr>
      </p:pic>
      <p:sp>
        <p:nvSpPr>
          <p:cNvPr id="4" name="Arrow: Right 3">
            <a:extLst>
              <a:ext uri="{FF2B5EF4-FFF2-40B4-BE49-F238E27FC236}">
                <a16:creationId xmlns:a16="http://schemas.microsoft.com/office/drawing/2014/main" id="{BB02EB21-78AC-4624-9AF9-70C740248BB7}"/>
              </a:ext>
            </a:extLst>
          </p:cNvPr>
          <p:cNvSpPr/>
          <p:nvPr/>
        </p:nvSpPr>
        <p:spPr>
          <a:xfrm rot="16200000">
            <a:off x="3787292" y="6044874"/>
            <a:ext cx="315433" cy="330193"/>
          </a:xfrm>
          <a:prstGeom prst="right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rgbClr val="FF0000"/>
              </a:solidFill>
            </a:endParaRPr>
          </a:p>
        </p:txBody>
      </p:sp>
    </p:spTree>
    <p:extLst>
      <p:ext uri="{BB962C8B-B14F-4D97-AF65-F5344CB8AC3E}">
        <p14:creationId xmlns:p14="http://schemas.microsoft.com/office/powerpoint/2010/main" val="1402263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182" y="548680"/>
            <a:ext cx="8229600" cy="936104"/>
          </a:xfrm>
        </p:spPr>
        <p:txBody>
          <a:bodyPr/>
          <a:lstStyle/>
          <a:p>
            <a:r>
              <a:rPr lang="en-AU" dirty="0">
                <a:solidFill>
                  <a:srgbClr val="0070C0"/>
                </a:solidFill>
                <a:latin typeface="Calibri" panose="020F0502020204030204" pitchFamily="34" charset="0"/>
                <a:cs typeface="Calibri" panose="020F0502020204030204" pitchFamily="34" charset="0"/>
              </a:rPr>
              <a:t>Review</a:t>
            </a:r>
          </a:p>
        </p:txBody>
      </p:sp>
      <p:sp>
        <p:nvSpPr>
          <p:cNvPr id="3" name="Content Placeholder 2"/>
          <p:cNvSpPr>
            <a:spLocks noGrp="1"/>
          </p:cNvSpPr>
          <p:nvPr>
            <p:ph idx="1"/>
          </p:nvPr>
        </p:nvSpPr>
        <p:spPr>
          <a:xfrm>
            <a:off x="425814" y="1556792"/>
            <a:ext cx="8229600" cy="4873728"/>
          </a:xfrm>
        </p:spPr>
        <p:txBody>
          <a:bodyPr/>
          <a:lstStyle/>
          <a:p>
            <a:pPr marL="109728" indent="0">
              <a:buNone/>
            </a:pPr>
            <a:r>
              <a:rPr lang="en-AU" i="1" dirty="0">
                <a:solidFill>
                  <a:srgbClr val="002060"/>
                </a:solidFill>
                <a:latin typeface="Calibri" panose="020F0502020204030204" pitchFamily="34" charset="0"/>
                <a:cs typeface="Calibri" panose="020F0502020204030204" pitchFamily="34" charset="0"/>
              </a:rPr>
              <a:t>Identify the biologically important role of each molecule:</a:t>
            </a:r>
          </a:p>
          <a:p>
            <a:pPr marL="109728" indent="0">
              <a:buNone/>
            </a:pPr>
            <a:endParaRPr lang="en-AU" dirty="0">
              <a:solidFill>
                <a:srgbClr val="002060"/>
              </a:solidFill>
              <a:latin typeface="Calibri" panose="020F0502020204030204" pitchFamily="34" charset="0"/>
              <a:cs typeface="Calibri" panose="020F0502020204030204" pitchFamily="34" charset="0"/>
            </a:endParaRPr>
          </a:p>
          <a:p>
            <a:r>
              <a:rPr lang="en-AU" dirty="0">
                <a:solidFill>
                  <a:srgbClr val="002060"/>
                </a:solidFill>
                <a:latin typeface="Calibri" panose="020F0502020204030204" pitchFamily="34" charset="0"/>
                <a:cs typeface="Calibri" panose="020F0502020204030204" pitchFamily="34" charset="0"/>
              </a:rPr>
              <a:t>Lipids:</a:t>
            </a:r>
          </a:p>
          <a:p>
            <a:endParaRPr lang="en-AU" dirty="0">
              <a:solidFill>
                <a:srgbClr val="002060"/>
              </a:solidFill>
              <a:latin typeface="Calibri" panose="020F0502020204030204" pitchFamily="34" charset="0"/>
              <a:cs typeface="Calibri" panose="020F0502020204030204" pitchFamily="34" charset="0"/>
            </a:endParaRPr>
          </a:p>
          <a:p>
            <a:r>
              <a:rPr lang="en-AU" dirty="0">
                <a:solidFill>
                  <a:srgbClr val="002060"/>
                </a:solidFill>
                <a:latin typeface="Calibri" panose="020F0502020204030204" pitchFamily="34" charset="0"/>
                <a:cs typeface="Calibri" panose="020F0502020204030204" pitchFamily="34" charset="0"/>
              </a:rPr>
              <a:t>Carbohydrates:</a:t>
            </a:r>
          </a:p>
          <a:p>
            <a:endParaRPr lang="en-AU" dirty="0">
              <a:solidFill>
                <a:srgbClr val="002060"/>
              </a:solidFill>
              <a:latin typeface="Calibri" panose="020F0502020204030204" pitchFamily="34" charset="0"/>
              <a:cs typeface="Calibri" panose="020F0502020204030204" pitchFamily="34" charset="0"/>
            </a:endParaRPr>
          </a:p>
          <a:p>
            <a:r>
              <a:rPr lang="en-AU" dirty="0">
                <a:solidFill>
                  <a:srgbClr val="002060"/>
                </a:solidFill>
                <a:latin typeface="Calibri" panose="020F0502020204030204" pitchFamily="34" charset="0"/>
                <a:cs typeface="Calibri" panose="020F0502020204030204" pitchFamily="34" charset="0"/>
              </a:rPr>
              <a:t>Proteins:</a:t>
            </a:r>
          </a:p>
          <a:p>
            <a:endParaRPr lang="en-AU" dirty="0">
              <a:solidFill>
                <a:srgbClr val="002060"/>
              </a:solidFill>
              <a:latin typeface="Calibri" panose="020F0502020204030204" pitchFamily="34" charset="0"/>
              <a:cs typeface="Calibri" panose="020F0502020204030204" pitchFamily="34" charset="0"/>
            </a:endParaRPr>
          </a:p>
          <a:p>
            <a:r>
              <a:rPr lang="en-AU" dirty="0">
                <a:solidFill>
                  <a:srgbClr val="002060"/>
                </a:solidFill>
                <a:latin typeface="Calibri" panose="020F0502020204030204" pitchFamily="34" charset="0"/>
                <a:cs typeface="Calibri" panose="020F0502020204030204" pitchFamily="34" charset="0"/>
              </a:rPr>
              <a:t>Nucleic acids:</a:t>
            </a:r>
          </a:p>
        </p:txBody>
      </p:sp>
    </p:spTree>
    <p:extLst>
      <p:ext uri="{BB962C8B-B14F-4D97-AF65-F5344CB8AC3E}">
        <p14:creationId xmlns:p14="http://schemas.microsoft.com/office/powerpoint/2010/main" val="1614040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92696"/>
            <a:ext cx="8229600" cy="1066800"/>
          </a:xfrm>
        </p:spPr>
        <p:txBody>
          <a:bodyPr/>
          <a:lstStyle/>
          <a:p>
            <a:r>
              <a:rPr lang="en-AU" dirty="0">
                <a:solidFill>
                  <a:srgbClr val="0070C0"/>
                </a:solidFill>
              </a:rPr>
              <a:t>Learning Intentions</a:t>
            </a:r>
          </a:p>
        </p:txBody>
      </p:sp>
      <p:sp>
        <p:nvSpPr>
          <p:cNvPr id="3" name="Content Placeholder 2"/>
          <p:cNvSpPr>
            <a:spLocks noGrp="1"/>
          </p:cNvSpPr>
          <p:nvPr>
            <p:ph idx="1"/>
          </p:nvPr>
        </p:nvSpPr>
        <p:spPr>
          <a:xfrm>
            <a:off x="457200" y="1691185"/>
            <a:ext cx="8075240" cy="1570664"/>
          </a:xfrm>
        </p:spPr>
        <p:txBody>
          <a:bodyPr>
            <a:normAutofit fontScale="77500" lnSpcReduction="20000"/>
          </a:bodyPr>
          <a:lstStyle/>
          <a:p>
            <a:pPr marL="109728" lvl="0" indent="0">
              <a:buNone/>
            </a:pPr>
            <a:r>
              <a:rPr lang="en-AU" dirty="0">
                <a:solidFill>
                  <a:srgbClr val="002060"/>
                </a:solidFill>
                <a:latin typeface="Calibri" panose="020F0502020204030204" pitchFamily="34" charset="0"/>
                <a:cs typeface="Calibri" panose="020F0502020204030204" pitchFamily="34" charset="0"/>
              </a:rPr>
              <a:t>Understand:</a:t>
            </a:r>
          </a:p>
          <a:p>
            <a:pPr lvl="0"/>
            <a:r>
              <a:rPr lang="en-AU" dirty="0">
                <a:solidFill>
                  <a:srgbClr val="002060"/>
                </a:solidFill>
                <a:latin typeface="Calibri" panose="020F0502020204030204" pitchFamily="34" charset="0"/>
                <a:cs typeface="Calibri" panose="020F0502020204030204" pitchFamily="34" charset="0"/>
              </a:rPr>
              <a:t>biochemical processes in the cell are controlled by factors, including the nature and arrangement of internal membranes, and the presence of specific enzymes</a:t>
            </a:r>
          </a:p>
          <a:p>
            <a:pPr lvl="0"/>
            <a:r>
              <a:rPr lang="en-AU" dirty="0">
                <a:solidFill>
                  <a:srgbClr val="002060"/>
                </a:solidFill>
                <a:latin typeface="Calibri" panose="020F0502020204030204" pitchFamily="34" charset="0"/>
                <a:cs typeface="Calibri" panose="020F0502020204030204" pitchFamily="34" charset="0"/>
              </a:rPr>
              <a:t>Models used to explain the function of enzymes.</a:t>
            </a:r>
          </a:p>
          <a:p>
            <a:endParaRPr lang="en-AU" dirty="0"/>
          </a:p>
        </p:txBody>
      </p:sp>
      <p:sp>
        <p:nvSpPr>
          <p:cNvPr id="4" name="TextBox 3"/>
          <p:cNvSpPr txBox="1"/>
          <p:nvPr/>
        </p:nvSpPr>
        <p:spPr>
          <a:xfrm>
            <a:off x="611560" y="4293096"/>
            <a:ext cx="7632848" cy="2400657"/>
          </a:xfrm>
          <a:prstGeom prst="rect">
            <a:avLst/>
          </a:prstGeom>
          <a:noFill/>
        </p:spPr>
        <p:txBody>
          <a:bodyPr wrap="square" rtlCol="0">
            <a:spAutoFit/>
          </a:bodyPr>
          <a:lstStyle/>
          <a:p>
            <a:pPr lvl="0"/>
            <a:r>
              <a:rPr lang="en-AU" sz="2200" dirty="0">
                <a:solidFill>
                  <a:srgbClr val="002060"/>
                </a:solidFill>
                <a:latin typeface="Calibri" panose="020F0502020204030204" pitchFamily="34" charset="0"/>
                <a:cs typeface="Calibri" panose="020F0502020204030204" pitchFamily="34" charset="0"/>
              </a:rPr>
              <a:t>Students will be able to:</a:t>
            </a:r>
          </a:p>
          <a:p>
            <a:pPr marL="285750" lvl="0" indent="-285750">
              <a:buFont typeface="Arial" panose="020B0604020202020204" pitchFamily="34" charset="0"/>
              <a:buChar char="•"/>
            </a:pPr>
            <a:r>
              <a:rPr lang="en-AU" sz="2200" dirty="0">
                <a:solidFill>
                  <a:srgbClr val="002060"/>
                </a:solidFill>
                <a:latin typeface="Calibri" panose="020F0502020204030204" pitchFamily="34" charset="0"/>
                <a:cs typeface="Calibri" panose="020F0502020204030204" pitchFamily="34" charset="0"/>
              </a:rPr>
              <a:t>Explain how enzyme function is effected by temperature, pH, presence of inhibitors, concentrations of reactants and products</a:t>
            </a:r>
          </a:p>
          <a:p>
            <a:pPr marL="285750" lvl="0" indent="-285750">
              <a:buFont typeface="Arial" panose="020B0604020202020204" pitchFamily="34" charset="0"/>
              <a:buChar char="•"/>
            </a:pPr>
            <a:r>
              <a:rPr lang="en-AU" sz="2200" dirty="0">
                <a:solidFill>
                  <a:srgbClr val="002060"/>
                </a:solidFill>
                <a:latin typeface="Calibri" panose="020F0502020204030204" pitchFamily="34" charset="0"/>
                <a:cs typeface="Calibri" panose="020F0502020204030204" pitchFamily="34" charset="0"/>
              </a:rPr>
              <a:t>Describe and illustrate the lock and key model and the induced fit model of enzyme action.</a:t>
            </a:r>
          </a:p>
          <a:p>
            <a:endParaRPr lang="en-AU" dirty="0"/>
          </a:p>
        </p:txBody>
      </p:sp>
      <p:sp>
        <p:nvSpPr>
          <p:cNvPr id="5" name="Title 1"/>
          <p:cNvSpPr txBox="1">
            <a:spLocks/>
          </p:cNvSpPr>
          <p:nvPr/>
        </p:nvSpPr>
        <p:spPr>
          <a:xfrm>
            <a:off x="457200" y="3340484"/>
            <a:ext cx="8229600" cy="1066800"/>
          </a:xfrm>
          <a:prstGeom prst="rect">
            <a:avLst/>
          </a:prstGeom>
        </p:spPr>
        <p:txBody>
          <a:bodyPr vert="horz" anchor="ct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AU" dirty="0">
                <a:solidFill>
                  <a:srgbClr val="0070C0"/>
                </a:solidFill>
              </a:rPr>
              <a:t>Success Criteria</a:t>
            </a:r>
          </a:p>
        </p:txBody>
      </p:sp>
    </p:spTree>
    <p:extLst>
      <p:ext uri="{BB962C8B-B14F-4D97-AF65-F5344CB8AC3E}">
        <p14:creationId xmlns:p14="http://schemas.microsoft.com/office/powerpoint/2010/main" val="24503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905" name="Rectangle 1"/>
          <p:cNvSpPr>
            <a:spLocks noGrp="1" noChangeArrowheads="1"/>
          </p:cNvSpPr>
          <p:nvPr>
            <p:ph type="title"/>
          </p:nvPr>
        </p:nvSpPr>
        <p:spPr>
          <a:xfrm>
            <a:off x="457200" y="417984"/>
            <a:ext cx="8229600" cy="1066800"/>
          </a:xfrm>
        </p:spPr>
        <p:txBody>
          <a:bodyPr/>
          <a:lstStyle/>
          <a:p>
            <a:r>
              <a:rPr lang="en-US" dirty="0">
                <a:solidFill>
                  <a:srgbClr val="0070C0"/>
                </a:solidFill>
              </a:rPr>
              <a:t>Enzymes</a:t>
            </a:r>
          </a:p>
        </p:txBody>
      </p:sp>
      <p:sp>
        <p:nvSpPr>
          <p:cNvPr id="123906" name="Rectangle 2"/>
          <p:cNvSpPr>
            <a:spLocks noGrp="1" noChangeArrowheads="1"/>
          </p:cNvSpPr>
          <p:nvPr>
            <p:ph type="body" idx="1"/>
          </p:nvPr>
        </p:nvSpPr>
        <p:spPr>
          <a:xfrm>
            <a:off x="323528" y="1484784"/>
            <a:ext cx="6048672" cy="3816424"/>
          </a:xfrm>
        </p:spPr>
        <p:txBody>
          <a:bodyPr>
            <a:normAutofit/>
          </a:bodyPr>
          <a:lstStyle/>
          <a:p>
            <a:r>
              <a:rPr lang="en-US" sz="2400" dirty="0">
                <a:solidFill>
                  <a:srgbClr val="002060"/>
                </a:solidFill>
                <a:latin typeface="Calibri" panose="020F0502020204030204" pitchFamily="34" charset="0"/>
                <a:cs typeface="Calibri" panose="020F0502020204030204" pitchFamily="34" charset="0"/>
              </a:rPr>
              <a:t>Enzymes are molecules that act as catalysts to </a:t>
            </a:r>
            <a:r>
              <a:rPr lang="en-US" sz="2400" b="1" dirty="0">
                <a:solidFill>
                  <a:srgbClr val="002060"/>
                </a:solidFill>
                <a:latin typeface="Calibri" panose="020F0502020204030204" pitchFamily="34" charset="0"/>
                <a:cs typeface="Calibri" panose="020F0502020204030204" pitchFamily="34" charset="0"/>
              </a:rPr>
              <a:t>speed up</a:t>
            </a:r>
            <a:r>
              <a:rPr lang="en-US" sz="2400" dirty="0">
                <a:solidFill>
                  <a:srgbClr val="002060"/>
                </a:solidFill>
                <a:latin typeface="Calibri" panose="020F0502020204030204" pitchFamily="34" charset="0"/>
                <a:cs typeface="Calibri" panose="020F0502020204030204" pitchFamily="34" charset="0"/>
              </a:rPr>
              <a:t> biological reactions.</a:t>
            </a:r>
          </a:p>
          <a:p>
            <a:r>
              <a:rPr lang="en-US" sz="2400" dirty="0">
                <a:solidFill>
                  <a:srgbClr val="002060"/>
                </a:solidFill>
                <a:latin typeface="Calibri" panose="020F0502020204030204" pitchFamily="34" charset="0"/>
                <a:cs typeface="Calibri" panose="020F0502020204030204" pitchFamily="34" charset="0"/>
              </a:rPr>
              <a:t>Enzymes are not consumed during the reaction - used over and over again.</a:t>
            </a:r>
          </a:p>
          <a:p>
            <a:r>
              <a:rPr lang="en-US" sz="2400" dirty="0">
                <a:solidFill>
                  <a:srgbClr val="002060"/>
                </a:solidFill>
                <a:latin typeface="Calibri" panose="020F0502020204030204" pitchFamily="34" charset="0"/>
                <a:cs typeface="Calibri" panose="020F0502020204030204" pitchFamily="34" charset="0"/>
              </a:rPr>
              <a:t>Enzymes can break a single structure into smaller components (</a:t>
            </a:r>
            <a:r>
              <a:rPr lang="en-US" sz="2400" b="1" dirty="0">
                <a:solidFill>
                  <a:srgbClr val="002060"/>
                </a:solidFill>
                <a:latin typeface="Calibri" panose="020F0502020204030204" pitchFamily="34" charset="0"/>
                <a:cs typeface="Calibri" panose="020F0502020204030204" pitchFamily="34" charset="0"/>
              </a:rPr>
              <a:t>catabolic</a:t>
            </a:r>
            <a:r>
              <a:rPr lang="en-US" sz="2400" dirty="0">
                <a:solidFill>
                  <a:srgbClr val="002060"/>
                </a:solidFill>
                <a:latin typeface="Calibri" panose="020F0502020204030204" pitchFamily="34" charset="0"/>
                <a:cs typeface="Calibri" panose="020F0502020204030204" pitchFamily="34" charset="0"/>
              </a:rPr>
              <a:t> reactions) or join two or more substrate molecules together (</a:t>
            </a:r>
            <a:r>
              <a:rPr lang="en-US" sz="2400" b="1" dirty="0">
                <a:solidFill>
                  <a:srgbClr val="002060"/>
                </a:solidFill>
                <a:latin typeface="Calibri" panose="020F0502020204030204" pitchFamily="34" charset="0"/>
                <a:cs typeface="Calibri" panose="020F0502020204030204" pitchFamily="34" charset="0"/>
              </a:rPr>
              <a:t>anabolic</a:t>
            </a:r>
            <a:r>
              <a:rPr lang="en-US" sz="2400" dirty="0">
                <a:solidFill>
                  <a:srgbClr val="002060"/>
                </a:solidFill>
                <a:latin typeface="Calibri" panose="020F0502020204030204" pitchFamily="34" charset="0"/>
                <a:cs typeface="Calibri" panose="020F0502020204030204" pitchFamily="34" charset="0"/>
              </a:rPr>
              <a:t> reactions).</a:t>
            </a:r>
          </a:p>
          <a:p>
            <a:r>
              <a:rPr lang="en-US" sz="2400" dirty="0">
                <a:solidFill>
                  <a:srgbClr val="002060"/>
                </a:solidFill>
                <a:latin typeface="Calibri" panose="020F0502020204030204" pitchFamily="34" charset="0"/>
                <a:cs typeface="Calibri" panose="020F0502020204030204" pitchFamily="34" charset="0"/>
              </a:rPr>
              <a:t>Most enzymes are </a:t>
            </a:r>
            <a:r>
              <a:rPr lang="en-US" sz="2400" b="1" dirty="0">
                <a:solidFill>
                  <a:srgbClr val="002060"/>
                </a:solidFill>
                <a:latin typeface="Calibri" panose="020F0502020204030204" pitchFamily="34" charset="0"/>
                <a:cs typeface="Calibri" panose="020F0502020204030204" pitchFamily="34" charset="0"/>
              </a:rPr>
              <a:t>proteins</a:t>
            </a:r>
            <a:r>
              <a:rPr lang="en-US" sz="2400" dirty="0">
                <a:solidFill>
                  <a:srgbClr val="002060"/>
                </a:solidFill>
                <a:latin typeface="Calibri" panose="020F0502020204030204" pitchFamily="34" charset="0"/>
                <a:cs typeface="Calibri" panose="020F0502020204030204" pitchFamily="34" charset="0"/>
              </a:rPr>
              <a:t>.</a:t>
            </a:r>
          </a:p>
        </p:txBody>
      </p:sp>
      <p:sp>
        <p:nvSpPr>
          <p:cNvPr id="123907" name="Rectangle 3"/>
          <p:cNvSpPr>
            <a:spLocks/>
          </p:cNvSpPr>
          <p:nvPr/>
        </p:nvSpPr>
        <p:spPr bwMode="auto">
          <a:xfrm>
            <a:off x="1979712" y="5476329"/>
            <a:ext cx="4420195" cy="12233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nSpc>
                <a:spcPct val="109000"/>
              </a:lnSpc>
              <a:tabLst>
                <a:tab pos="366104" algn="l"/>
              </a:tabLst>
            </a:pPr>
            <a:r>
              <a:rPr lang="en-US" sz="1500" dirty="0">
                <a:solidFill>
                  <a:srgbClr val="2D00FA"/>
                </a:solidFill>
                <a:latin typeface="Arial" charset="0"/>
                <a:cs typeface="Arial" charset="0"/>
                <a:sym typeface="Arial" charset="0"/>
              </a:rPr>
              <a:t>Many fruits contain enzymes that are used in commercial processes. Pineapple (</a:t>
            </a:r>
            <a:r>
              <a:rPr lang="en-US" sz="1500" i="1" dirty="0" err="1">
                <a:solidFill>
                  <a:srgbClr val="2D00FA"/>
                </a:solidFill>
                <a:latin typeface="Arial" charset="0"/>
                <a:cs typeface="Arial" charset="0"/>
                <a:sym typeface="Arial" charset="0"/>
              </a:rPr>
              <a:t>Ananas</a:t>
            </a:r>
            <a:r>
              <a:rPr lang="en-US" sz="1500" i="1" dirty="0">
                <a:solidFill>
                  <a:srgbClr val="2D00FA"/>
                </a:solidFill>
                <a:latin typeface="Arial" charset="0"/>
                <a:cs typeface="Arial" charset="0"/>
                <a:sym typeface="Arial" charset="0"/>
              </a:rPr>
              <a:t> </a:t>
            </a:r>
            <a:r>
              <a:rPr lang="en-US" sz="1500" i="1" dirty="0" err="1">
                <a:solidFill>
                  <a:srgbClr val="2D00FA"/>
                </a:solidFill>
                <a:latin typeface="Arial" charset="0"/>
                <a:cs typeface="Arial" charset="0"/>
                <a:sym typeface="Arial" charset="0"/>
              </a:rPr>
              <a:t>comosus</a:t>
            </a:r>
            <a:r>
              <a:rPr lang="en-US" sz="1500" i="1" dirty="0">
                <a:solidFill>
                  <a:srgbClr val="2D00FA"/>
                </a:solidFill>
                <a:latin typeface="Arial" charset="0"/>
                <a:cs typeface="Arial" charset="0"/>
                <a:sym typeface="Arial" charset="0"/>
              </a:rPr>
              <a:t>, </a:t>
            </a:r>
            <a:r>
              <a:rPr lang="en-US" sz="1500" dirty="0">
                <a:solidFill>
                  <a:srgbClr val="2D00FA"/>
                </a:solidFill>
                <a:latin typeface="Arial" charset="0"/>
                <a:cs typeface="Arial" charset="0"/>
                <a:sym typeface="Arial" charset="0"/>
              </a:rPr>
              <a:t>right) contains the enzyme </a:t>
            </a:r>
            <a:r>
              <a:rPr lang="en-US" sz="1500" b="1" dirty="0">
                <a:solidFill>
                  <a:srgbClr val="2D00FA"/>
                </a:solidFill>
                <a:latin typeface="Arial" charset="0"/>
                <a:cs typeface="Arial" charset="0"/>
                <a:sym typeface="Arial" charset="0"/>
              </a:rPr>
              <a:t>papain</a:t>
            </a:r>
            <a:r>
              <a:rPr lang="en-US" sz="1500" dirty="0">
                <a:solidFill>
                  <a:srgbClr val="2D00FA"/>
                </a:solidFill>
                <a:latin typeface="Arial" charset="0"/>
                <a:cs typeface="Arial" charset="0"/>
                <a:sym typeface="Arial" charset="0"/>
              </a:rPr>
              <a:t> which is used in meat tenderization processes and also medically as an anti-inflammatory agent. </a:t>
            </a:r>
          </a:p>
        </p:txBody>
      </p:sp>
      <p:pic>
        <p:nvPicPr>
          <p:cNvPr id="12390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176" y="548680"/>
            <a:ext cx="2880735" cy="6020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Tree>
    <p:extLst>
      <p:ext uri="{BB962C8B-B14F-4D97-AF65-F5344CB8AC3E}">
        <p14:creationId xmlns:p14="http://schemas.microsoft.com/office/powerpoint/2010/main" val="275781557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390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390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390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2390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6" grpId="0" build="p" bldLvl="5"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1"/>
          <p:cNvSpPr>
            <a:spLocks noGrp="1" noChangeArrowheads="1"/>
          </p:cNvSpPr>
          <p:nvPr>
            <p:ph type="title"/>
          </p:nvPr>
        </p:nvSpPr>
        <p:spPr>
          <a:xfrm>
            <a:off x="467544" y="476672"/>
            <a:ext cx="8229600" cy="1066800"/>
          </a:xfrm>
        </p:spPr>
        <p:txBody>
          <a:bodyPr/>
          <a:lstStyle/>
          <a:p>
            <a:r>
              <a:rPr lang="en-US" dirty="0">
                <a:solidFill>
                  <a:srgbClr val="0070C0"/>
                </a:solidFill>
              </a:rPr>
              <a:t>Enzymes - examples</a:t>
            </a:r>
          </a:p>
        </p:txBody>
      </p:sp>
      <p:graphicFrame>
        <p:nvGraphicFramePr>
          <p:cNvPr id="124930" name="Group 2"/>
          <p:cNvGraphicFramePr>
            <a:graphicFrameLocks noGrp="1"/>
          </p:cNvGraphicFramePr>
          <p:nvPr>
            <p:extLst>
              <p:ext uri="{D42A27DB-BD31-4B8C-83A1-F6EECF244321}">
                <p14:modId xmlns:p14="http://schemas.microsoft.com/office/powerpoint/2010/main" val="3071310817"/>
              </p:ext>
            </p:extLst>
          </p:nvPr>
        </p:nvGraphicFramePr>
        <p:xfrm>
          <a:off x="3491880" y="1845227"/>
          <a:ext cx="5357440" cy="4053578"/>
        </p:xfrm>
        <a:graphic>
          <a:graphicData uri="http://schemas.openxmlformats.org/drawingml/2006/table">
            <a:tbl>
              <a:tblPr/>
              <a:tblGrid>
                <a:gridCol w="1466815">
                  <a:extLst>
                    <a:ext uri="{9D8B030D-6E8A-4147-A177-3AD203B41FA5}">
                      <a16:colId xmlns:a16="http://schemas.microsoft.com/office/drawing/2014/main" val="20000"/>
                    </a:ext>
                  </a:extLst>
                </a:gridCol>
                <a:gridCol w="3890625">
                  <a:extLst>
                    <a:ext uri="{9D8B030D-6E8A-4147-A177-3AD203B41FA5}">
                      <a16:colId xmlns:a16="http://schemas.microsoft.com/office/drawing/2014/main" val="20001"/>
                    </a:ext>
                  </a:extLst>
                </a:gridCol>
              </a:tblGrid>
              <a:tr h="591216">
                <a:tc>
                  <a:txBody>
                    <a:bodyPr/>
                    <a:lstStyle/>
                    <a:p>
                      <a:pPr marL="0" marR="0" lvl="0" indent="0" algn="ctr" defTabSz="914400" rtl="0" eaLnBrk="1" fontAlgn="base" latinLnBrk="0" hangingPunct="1">
                        <a:lnSpc>
                          <a:spcPct val="100000"/>
                        </a:lnSpc>
                        <a:spcBef>
                          <a:spcPct val="0"/>
                        </a:spcBef>
                        <a:spcAft>
                          <a:spcPct val="0"/>
                        </a:spcAft>
                        <a:buClrTx/>
                        <a:buSzPct val="186000"/>
                        <a:buFontTx/>
                        <a:buNone/>
                        <a:tabLst>
                          <a:tab pos="520700" algn="l"/>
                        </a:tabLst>
                      </a:pPr>
                      <a:r>
                        <a:rPr kumimoji="0" lang="en-US" sz="2300" b="1" i="0" u="none" strike="noStrike" cap="none" normalizeH="0" baseline="0" dirty="0">
                          <a:ln>
                            <a:noFill/>
                          </a:ln>
                          <a:solidFill>
                            <a:srgbClr val="000000"/>
                          </a:solidFill>
                          <a:effectLst/>
                          <a:latin typeface="Calibri" panose="020F0502020204030204" pitchFamily="34" charset="0"/>
                          <a:ea typeface="ヒラギノ角ゴ Pro W3" pitchFamily="1" charset="-128"/>
                          <a:cs typeface="Calibri" panose="020F0502020204030204" pitchFamily="34" charset="0"/>
                          <a:sym typeface="Arial" charset="0"/>
                        </a:rPr>
                        <a:t>Enzyme </a:t>
                      </a:r>
                    </a:p>
                  </a:txBody>
                  <a:tcPr marL="62508" marR="62508" marT="62508" marB="62508" anchor="ctr" horzOverflow="overflow">
                    <a:lnL w="38100" cap="flat" cmpd="sng" algn="ctr">
                      <a:solidFill>
                        <a:srgbClr val="6E3620"/>
                      </a:solidFill>
                      <a:prstDash val="solid"/>
                      <a:round/>
                      <a:headEnd type="none" w="med" len="med"/>
                      <a:tailEnd type="none" w="med" len="med"/>
                    </a:lnL>
                    <a:lnR w="12700" cap="flat" cmpd="sng" algn="ctr">
                      <a:solidFill>
                        <a:srgbClr val="6E3620"/>
                      </a:solidFill>
                      <a:prstDash val="solid"/>
                      <a:round/>
                      <a:headEnd type="none" w="med" len="med"/>
                      <a:tailEnd type="none" w="med" len="med"/>
                    </a:lnR>
                    <a:lnT w="38100" cap="flat" cmpd="sng" algn="ctr">
                      <a:solidFill>
                        <a:srgbClr val="6E3620"/>
                      </a:solidFill>
                      <a:prstDash val="solid"/>
                      <a:round/>
                      <a:headEnd type="none" w="med" len="med"/>
                      <a:tailEnd type="none" w="med" len="med"/>
                    </a:lnT>
                    <a:lnB w="38100" cap="flat" cmpd="sng" algn="ctr">
                      <a:solidFill>
                        <a:srgbClr val="6E3620"/>
                      </a:solidFill>
                      <a:prstDash val="solid"/>
                      <a:round/>
                      <a:headEnd type="none" w="med" len="med"/>
                      <a:tailEnd type="none" w="med" len="med"/>
                    </a:lnB>
                    <a:lnTlToBr>
                      <a:noFill/>
                    </a:lnTlToBr>
                    <a:lnBlToTr>
                      <a:noFill/>
                    </a:lnBlToTr>
                    <a:solidFill>
                      <a:srgbClr val="FDCD6B">
                        <a:alpha val="47842"/>
                      </a:srgbClr>
                    </a:solidFill>
                  </a:tcPr>
                </a:tc>
                <a:tc>
                  <a:txBody>
                    <a:bodyPr/>
                    <a:lstStyle/>
                    <a:p>
                      <a:pPr marL="0" marR="0" lvl="0" indent="0" algn="ctr" defTabSz="914400" rtl="0" eaLnBrk="1" fontAlgn="base" latinLnBrk="0" hangingPunct="1">
                        <a:lnSpc>
                          <a:spcPct val="100000"/>
                        </a:lnSpc>
                        <a:spcBef>
                          <a:spcPct val="0"/>
                        </a:spcBef>
                        <a:spcAft>
                          <a:spcPct val="0"/>
                        </a:spcAft>
                        <a:buClrTx/>
                        <a:buSzPct val="186000"/>
                        <a:buFontTx/>
                        <a:buNone/>
                        <a:tabLst>
                          <a:tab pos="520700" algn="l"/>
                        </a:tabLst>
                      </a:pPr>
                      <a:r>
                        <a:rPr kumimoji="0" lang="en-US" sz="2300" b="1" i="0" u="none" strike="noStrike" cap="none" normalizeH="0" baseline="0" dirty="0">
                          <a:ln>
                            <a:noFill/>
                          </a:ln>
                          <a:solidFill>
                            <a:srgbClr val="000000"/>
                          </a:solidFill>
                          <a:effectLst/>
                          <a:latin typeface="Calibri" panose="020F0502020204030204" pitchFamily="34" charset="0"/>
                          <a:ea typeface="ヒラギノ角ゴ Pro W3" pitchFamily="1" charset="-128"/>
                          <a:cs typeface="Calibri" panose="020F0502020204030204" pitchFamily="34" charset="0"/>
                          <a:sym typeface="Arial" charset="0"/>
                        </a:rPr>
                        <a:t>Role</a:t>
                      </a:r>
                    </a:p>
                  </a:txBody>
                  <a:tcPr marL="62508" marR="62508" marT="62508" marB="62508" anchor="ctr" horzOverflow="overflow">
                    <a:lnL w="12700" cap="flat" cmpd="sng" algn="ctr">
                      <a:solidFill>
                        <a:srgbClr val="6E3620"/>
                      </a:solidFill>
                      <a:prstDash val="solid"/>
                      <a:round/>
                      <a:headEnd type="none" w="med" len="med"/>
                      <a:tailEnd type="none" w="med" len="med"/>
                    </a:lnL>
                    <a:lnR w="38100" cap="flat" cmpd="sng" algn="ctr">
                      <a:solidFill>
                        <a:srgbClr val="6E3620"/>
                      </a:solidFill>
                      <a:prstDash val="solid"/>
                      <a:round/>
                      <a:headEnd type="none" w="med" len="med"/>
                      <a:tailEnd type="none" w="med" len="med"/>
                    </a:lnR>
                    <a:lnT w="38100" cap="flat" cmpd="sng" algn="ctr">
                      <a:solidFill>
                        <a:srgbClr val="6E3620"/>
                      </a:solidFill>
                      <a:prstDash val="solid"/>
                      <a:round/>
                      <a:headEnd type="none" w="med" len="med"/>
                      <a:tailEnd type="none" w="med" len="med"/>
                    </a:lnT>
                    <a:lnB w="38100" cap="flat" cmpd="sng" algn="ctr">
                      <a:solidFill>
                        <a:srgbClr val="6E3620"/>
                      </a:solidFill>
                      <a:prstDash val="solid"/>
                      <a:round/>
                      <a:headEnd type="none" w="med" len="med"/>
                      <a:tailEnd type="none" w="med" len="med"/>
                    </a:lnB>
                    <a:lnTlToBr>
                      <a:noFill/>
                    </a:lnTlToBr>
                    <a:lnBlToTr>
                      <a:noFill/>
                    </a:lnBlToTr>
                    <a:solidFill>
                      <a:srgbClr val="FDCD6B">
                        <a:alpha val="47842"/>
                      </a:srgbClr>
                    </a:solidFill>
                  </a:tcPr>
                </a:tc>
                <a:extLst>
                  <a:ext uri="{0D108BD9-81ED-4DB2-BD59-A6C34878D82A}">
                    <a16:rowId xmlns:a16="http://schemas.microsoft.com/office/drawing/2014/main" val="10000"/>
                  </a:ext>
                </a:extLst>
              </a:tr>
              <a:tr h="678509">
                <a:tc>
                  <a:txBody>
                    <a:bodyPr/>
                    <a:lstStyle/>
                    <a:p>
                      <a:pPr marL="0" marR="0" lvl="0" indent="0" algn="ctr" defTabSz="914400" rtl="0" eaLnBrk="1" fontAlgn="base" latinLnBrk="0" hangingPunct="1">
                        <a:lnSpc>
                          <a:spcPct val="100000"/>
                        </a:lnSpc>
                        <a:spcBef>
                          <a:spcPct val="0"/>
                        </a:spcBef>
                        <a:spcAft>
                          <a:spcPct val="0"/>
                        </a:spcAft>
                        <a:buClrTx/>
                        <a:buSzPct val="186000"/>
                        <a:buFontTx/>
                        <a:buNone/>
                        <a:tabLst>
                          <a:tab pos="520700" algn="l"/>
                        </a:tabLst>
                      </a:pPr>
                      <a:r>
                        <a:rPr kumimoji="0" lang="en-US" sz="1400" b="1" i="0" u="none" strike="noStrike" cap="none" normalizeH="0" baseline="0">
                          <a:ln>
                            <a:noFill/>
                          </a:ln>
                          <a:solidFill>
                            <a:srgbClr val="002060"/>
                          </a:solidFill>
                          <a:effectLst/>
                          <a:latin typeface="Calibri" panose="020F0502020204030204" pitchFamily="34" charset="0"/>
                          <a:ea typeface="ヒラギノ角ゴ Pro W3" pitchFamily="1" charset="-128"/>
                          <a:cs typeface="Calibri" panose="020F0502020204030204" pitchFamily="34" charset="0"/>
                          <a:sym typeface="Arial" charset="0"/>
                        </a:rPr>
                        <a:t>Pepsin</a:t>
                      </a:r>
                    </a:p>
                  </a:txBody>
                  <a:tcPr marL="62508" marR="62508" marT="62508" marB="62508" anchor="ctr" horzOverflow="overflow">
                    <a:lnL w="38100" cap="flat" cmpd="sng" algn="ctr">
                      <a:solidFill>
                        <a:srgbClr val="6E3620"/>
                      </a:solidFill>
                      <a:prstDash val="solid"/>
                      <a:round/>
                      <a:headEnd type="none" w="med" len="med"/>
                      <a:tailEnd type="none" w="med" len="med"/>
                    </a:lnL>
                    <a:lnR w="12700" cap="flat" cmpd="sng" algn="ctr">
                      <a:solidFill>
                        <a:srgbClr val="6E3620"/>
                      </a:solidFill>
                      <a:prstDash val="solid"/>
                      <a:round/>
                      <a:headEnd type="none" w="med" len="med"/>
                      <a:tailEnd type="none" w="med" len="med"/>
                    </a:lnR>
                    <a:lnT w="38100" cap="flat" cmpd="sng" algn="ctr">
                      <a:solidFill>
                        <a:srgbClr val="6E3620"/>
                      </a:solidFill>
                      <a:prstDash val="solid"/>
                      <a:round/>
                      <a:headEnd type="none" w="med" len="med"/>
                      <a:tailEnd type="none" w="med" len="med"/>
                    </a:lnT>
                    <a:lnB w="12700" cap="flat" cmpd="sng" algn="ctr">
                      <a:solidFill>
                        <a:srgbClr val="6E3620"/>
                      </a:solidFill>
                      <a:prstDash val="solid"/>
                      <a:round/>
                      <a:headEnd type="none" w="med" len="med"/>
                      <a:tailEnd type="none" w="med" len="med"/>
                    </a:lnB>
                    <a:lnTlToBr>
                      <a:noFill/>
                    </a:lnTlToBr>
                    <a:lnBlToTr>
                      <a:noFill/>
                    </a:lnBlToTr>
                    <a:solidFill>
                      <a:schemeClr val="accent1">
                        <a:alpha val="14902"/>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86000"/>
                        <a:buFontTx/>
                        <a:buNone/>
                        <a:tabLst>
                          <a:tab pos="520700" algn="l"/>
                        </a:tabLst>
                      </a:pPr>
                      <a:r>
                        <a:rPr kumimoji="0" lang="en-US" sz="1400" b="0" i="0" u="none" strike="noStrike" cap="none" normalizeH="0" baseline="0">
                          <a:ln>
                            <a:noFill/>
                          </a:ln>
                          <a:solidFill>
                            <a:srgbClr val="002060"/>
                          </a:solidFill>
                          <a:effectLst/>
                          <a:latin typeface="Calibri" panose="020F0502020204030204" pitchFamily="34" charset="0"/>
                          <a:ea typeface="ヒラギノ角ゴ Pro W3" pitchFamily="1" charset="-128"/>
                          <a:cs typeface="Calibri" panose="020F0502020204030204" pitchFamily="34" charset="0"/>
                          <a:sym typeface="Arial" charset="0"/>
                        </a:rPr>
                        <a:t>Stomach enzyme used to break protein down into peptides. Works at very acidic pH (1.5).</a:t>
                      </a:r>
                    </a:p>
                  </a:txBody>
                  <a:tcPr marL="80367" marR="80367" marT="80367" marB="80367" anchor="ctr" horzOverflow="overflow">
                    <a:lnL w="12700" cap="flat" cmpd="sng" algn="ctr">
                      <a:solidFill>
                        <a:srgbClr val="6E3620"/>
                      </a:solidFill>
                      <a:prstDash val="solid"/>
                      <a:round/>
                      <a:headEnd type="none" w="med" len="med"/>
                      <a:tailEnd type="none" w="med" len="med"/>
                    </a:lnL>
                    <a:lnR w="38100" cap="flat" cmpd="sng" algn="ctr">
                      <a:solidFill>
                        <a:srgbClr val="6E3620"/>
                      </a:solidFill>
                      <a:prstDash val="solid"/>
                      <a:round/>
                      <a:headEnd type="none" w="med" len="med"/>
                      <a:tailEnd type="none" w="med" len="med"/>
                    </a:lnR>
                    <a:lnT w="38100" cap="flat" cmpd="sng" algn="ctr">
                      <a:solidFill>
                        <a:srgbClr val="6E3620"/>
                      </a:solidFill>
                      <a:prstDash val="solid"/>
                      <a:round/>
                      <a:headEnd type="none" w="med" len="med"/>
                      <a:tailEnd type="none" w="med" len="med"/>
                    </a:lnT>
                    <a:lnB w="12700" cap="flat" cmpd="sng" algn="ctr">
                      <a:solidFill>
                        <a:srgbClr val="6E3620"/>
                      </a:solidFill>
                      <a:prstDash val="solid"/>
                      <a:round/>
                      <a:headEnd type="none" w="med" len="med"/>
                      <a:tailEnd type="none" w="med" len="med"/>
                    </a:lnB>
                    <a:lnTlToBr>
                      <a:noFill/>
                    </a:lnTlToBr>
                    <a:lnBlToTr>
                      <a:noFill/>
                    </a:lnBlToTr>
                    <a:solidFill>
                      <a:schemeClr val="accent1">
                        <a:alpha val="14902"/>
                      </a:schemeClr>
                    </a:solidFill>
                  </a:tcPr>
                </a:tc>
                <a:extLst>
                  <a:ext uri="{0D108BD9-81ED-4DB2-BD59-A6C34878D82A}">
                    <a16:rowId xmlns:a16="http://schemas.microsoft.com/office/drawing/2014/main" val="10001"/>
                  </a:ext>
                </a:extLst>
              </a:tr>
              <a:tr h="928486">
                <a:tc>
                  <a:txBody>
                    <a:bodyPr/>
                    <a:lstStyle/>
                    <a:p>
                      <a:pPr marL="0" marR="0" lvl="0" indent="0" algn="ctr" defTabSz="914400" rtl="0" eaLnBrk="1" fontAlgn="base" latinLnBrk="0" hangingPunct="1">
                        <a:lnSpc>
                          <a:spcPct val="100000"/>
                        </a:lnSpc>
                        <a:spcBef>
                          <a:spcPct val="0"/>
                        </a:spcBef>
                        <a:spcAft>
                          <a:spcPct val="0"/>
                        </a:spcAft>
                        <a:buClrTx/>
                        <a:buSzPct val="186000"/>
                        <a:buFontTx/>
                        <a:buNone/>
                        <a:tabLst>
                          <a:tab pos="520700" algn="l"/>
                        </a:tabLst>
                      </a:pPr>
                      <a:r>
                        <a:rPr kumimoji="0" lang="en-US" sz="1400" b="1" i="0" u="none" strike="noStrike" cap="none" normalizeH="0" baseline="0">
                          <a:ln>
                            <a:noFill/>
                          </a:ln>
                          <a:solidFill>
                            <a:srgbClr val="002060"/>
                          </a:solidFill>
                          <a:effectLst/>
                          <a:latin typeface="Calibri" panose="020F0502020204030204" pitchFamily="34" charset="0"/>
                          <a:ea typeface="ヒラギノ角ゴ Pro W3" pitchFamily="1" charset="-128"/>
                          <a:cs typeface="Calibri" panose="020F0502020204030204" pitchFamily="34" charset="0"/>
                          <a:sym typeface="Arial" charset="0"/>
                        </a:rPr>
                        <a:t>Lactase</a:t>
                      </a:r>
                    </a:p>
                  </a:txBody>
                  <a:tcPr marL="62508" marR="62508" marT="62508" marB="62508" anchor="ctr" horzOverflow="overflow">
                    <a:lnL w="38100" cap="flat" cmpd="sng" algn="ctr">
                      <a:solidFill>
                        <a:srgbClr val="6E3620"/>
                      </a:solidFill>
                      <a:prstDash val="solid"/>
                      <a:round/>
                      <a:headEnd type="none" w="med" len="med"/>
                      <a:tailEnd type="none" w="med" len="med"/>
                    </a:lnL>
                    <a:lnR w="12700" cap="flat" cmpd="sng" algn="ctr">
                      <a:solidFill>
                        <a:srgbClr val="6E3620"/>
                      </a:solidFill>
                      <a:prstDash val="solid"/>
                      <a:round/>
                      <a:headEnd type="none" w="med" len="med"/>
                      <a:tailEnd type="none" w="med" len="med"/>
                    </a:lnR>
                    <a:lnT w="12700" cap="flat" cmpd="sng" algn="ctr">
                      <a:solidFill>
                        <a:srgbClr val="6E3620"/>
                      </a:solidFill>
                      <a:prstDash val="solid"/>
                      <a:round/>
                      <a:headEnd type="none" w="med" len="med"/>
                      <a:tailEnd type="none" w="med" len="med"/>
                    </a:lnT>
                    <a:lnB w="12700" cap="flat" cmpd="sng" algn="ctr">
                      <a:solidFill>
                        <a:srgbClr val="6E3620"/>
                      </a:solidFill>
                      <a:prstDash val="solid"/>
                      <a:round/>
                      <a:headEnd type="none" w="med" len="med"/>
                      <a:tailEnd type="none" w="med" len="med"/>
                    </a:lnB>
                    <a:lnTlToBr>
                      <a:noFill/>
                    </a:lnTlToBr>
                    <a:lnBlToTr>
                      <a:noFill/>
                    </a:lnBlToTr>
                    <a:solidFill>
                      <a:schemeClr val="accent1">
                        <a:alpha val="14902"/>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86000"/>
                        <a:buFontTx/>
                        <a:buNone/>
                        <a:tabLst>
                          <a:tab pos="520700" algn="l"/>
                        </a:tabLst>
                      </a:pPr>
                      <a:r>
                        <a:rPr kumimoji="0" lang="en-US" sz="1400" b="0" i="0" u="none" strike="noStrike" cap="none" normalizeH="0" baseline="0">
                          <a:ln>
                            <a:noFill/>
                          </a:ln>
                          <a:solidFill>
                            <a:srgbClr val="002060"/>
                          </a:solidFill>
                          <a:effectLst/>
                          <a:latin typeface="Calibri" panose="020F0502020204030204" pitchFamily="34" charset="0"/>
                          <a:ea typeface="ヒラギノ角ゴ Pro W3" pitchFamily="1" charset="-128"/>
                          <a:cs typeface="Calibri" panose="020F0502020204030204" pitchFamily="34" charset="0"/>
                          <a:sym typeface="Arial" charset="0"/>
                        </a:rPr>
                        <a:t>A digestive enzyme that breaks lactose into glucose and galactose. Low levels of lactase can result in lactose intolerance.</a:t>
                      </a:r>
                    </a:p>
                  </a:txBody>
                  <a:tcPr marL="80367" marR="80367" marT="80367" marB="80367" anchor="ctr" horzOverflow="overflow">
                    <a:lnL w="12700" cap="flat" cmpd="sng" algn="ctr">
                      <a:solidFill>
                        <a:srgbClr val="6E3620"/>
                      </a:solidFill>
                      <a:prstDash val="solid"/>
                      <a:round/>
                      <a:headEnd type="none" w="med" len="med"/>
                      <a:tailEnd type="none" w="med" len="med"/>
                    </a:lnL>
                    <a:lnR w="38100" cap="flat" cmpd="sng" algn="ctr">
                      <a:solidFill>
                        <a:srgbClr val="6E3620"/>
                      </a:solidFill>
                      <a:prstDash val="solid"/>
                      <a:round/>
                      <a:headEnd type="none" w="med" len="med"/>
                      <a:tailEnd type="none" w="med" len="med"/>
                    </a:lnR>
                    <a:lnT w="12700" cap="flat" cmpd="sng" algn="ctr">
                      <a:solidFill>
                        <a:srgbClr val="6E3620"/>
                      </a:solidFill>
                      <a:prstDash val="solid"/>
                      <a:round/>
                      <a:headEnd type="none" w="med" len="med"/>
                      <a:tailEnd type="none" w="med" len="med"/>
                    </a:lnT>
                    <a:lnB w="12700" cap="flat" cmpd="sng" algn="ctr">
                      <a:solidFill>
                        <a:srgbClr val="6E3620"/>
                      </a:solidFill>
                      <a:prstDash val="solid"/>
                      <a:round/>
                      <a:headEnd type="none" w="med" len="med"/>
                      <a:tailEnd type="none" w="med" len="med"/>
                    </a:lnB>
                    <a:lnTlToBr>
                      <a:noFill/>
                    </a:lnTlToBr>
                    <a:lnBlToTr>
                      <a:noFill/>
                    </a:lnBlToTr>
                    <a:solidFill>
                      <a:schemeClr val="accent1">
                        <a:alpha val="14902"/>
                      </a:schemeClr>
                    </a:solidFill>
                  </a:tcPr>
                </a:tc>
                <a:extLst>
                  <a:ext uri="{0D108BD9-81ED-4DB2-BD59-A6C34878D82A}">
                    <a16:rowId xmlns:a16="http://schemas.microsoft.com/office/drawing/2014/main" val="10002"/>
                  </a:ext>
                </a:extLst>
              </a:tr>
              <a:tr h="933446">
                <a:tc>
                  <a:txBody>
                    <a:bodyPr/>
                    <a:lstStyle/>
                    <a:p>
                      <a:pPr marL="0" marR="0" lvl="0" indent="0" algn="ctr" defTabSz="914400" rtl="0" eaLnBrk="1" fontAlgn="base" latinLnBrk="0" hangingPunct="1">
                        <a:lnSpc>
                          <a:spcPct val="100000"/>
                        </a:lnSpc>
                        <a:spcBef>
                          <a:spcPct val="0"/>
                        </a:spcBef>
                        <a:spcAft>
                          <a:spcPct val="0"/>
                        </a:spcAft>
                        <a:buClrTx/>
                        <a:buSzPct val="186000"/>
                        <a:buFontTx/>
                        <a:buNone/>
                        <a:tabLst>
                          <a:tab pos="520700" algn="l"/>
                        </a:tabLst>
                      </a:pPr>
                      <a:r>
                        <a:rPr kumimoji="0" lang="en-US" sz="1400" b="1" i="0" u="none" strike="noStrike" cap="none" normalizeH="0" baseline="0" dirty="0">
                          <a:ln>
                            <a:noFill/>
                          </a:ln>
                          <a:solidFill>
                            <a:srgbClr val="002060"/>
                          </a:solidFill>
                          <a:effectLst/>
                          <a:latin typeface="Calibri" panose="020F0502020204030204" pitchFamily="34" charset="0"/>
                          <a:ea typeface="ヒラギノ角ゴ Pro W3" pitchFamily="1" charset="-128"/>
                          <a:cs typeface="Calibri" panose="020F0502020204030204" pitchFamily="34" charset="0"/>
                          <a:sym typeface="Arial" charset="0"/>
                        </a:rPr>
                        <a:t>Hyaluronidase</a:t>
                      </a:r>
                    </a:p>
                  </a:txBody>
                  <a:tcPr marL="62508" marR="62508" marT="62508" marB="62508" anchor="ctr" horzOverflow="overflow">
                    <a:lnL w="38100" cap="flat" cmpd="sng" algn="ctr">
                      <a:solidFill>
                        <a:srgbClr val="6E3620"/>
                      </a:solidFill>
                      <a:prstDash val="solid"/>
                      <a:round/>
                      <a:headEnd type="none" w="med" len="med"/>
                      <a:tailEnd type="none" w="med" len="med"/>
                    </a:lnL>
                    <a:lnR w="12700" cap="flat" cmpd="sng" algn="ctr">
                      <a:solidFill>
                        <a:srgbClr val="6E3620"/>
                      </a:solidFill>
                      <a:prstDash val="solid"/>
                      <a:round/>
                      <a:headEnd type="none" w="med" len="med"/>
                      <a:tailEnd type="none" w="med" len="med"/>
                    </a:lnR>
                    <a:lnT w="12700" cap="flat" cmpd="sng" algn="ctr">
                      <a:solidFill>
                        <a:srgbClr val="6E3620"/>
                      </a:solidFill>
                      <a:prstDash val="solid"/>
                      <a:round/>
                      <a:headEnd type="none" w="med" len="med"/>
                      <a:tailEnd type="none" w="med" len="med"/>
                    </a:lnT>
                    <a:lnB w="12700" cap="flat" cmpd="sng" algn="ctr">
                      <a:solidFill>
                        <a:srgbClr val="6E3620"/>
                      </a:solidFill>
                      <a:prstDash val="solid"/>
                      <a:round/>
                      <a:headEnd type="none" w="med" len="med"/>
                      <a:tailEnd type="none" w="med" len="med"/>
                    </a:lnB>
                    <a:lnTlToBr>
                      <a:noFill/>
                    </a:lnTlToBr>
                    <a:lnBlToTr>
                      <a:noFill/>
                    </a:lnBlToTr>
                    <a:solidFill>
                      <a:schemeClr val="accent1">
                        <a:alpha val="14902"/>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86000"/>
                        <a:buFontTx/>
                        <a:buNone/>
                        <a:tabLst>
                          <a:tab pos="520700" algn="l"/>
                        </a:tabLst>
                      </a:pPr>
                      <a:r>
                        <a:rPr kumimoji="0" lang="en-US" sz="1400" b="0" i="0" u="none" strike="noStrike" cap="none" normalizeH="0" baseline="0">
                          <a:ln>
                            <a:noFill/>
                          </a:ln>
                          <a:solidFill>
                            <a:srgbClr val="002060"/>
                          </a:solidFill>
                          <a:effectLst/>
                          <a:latin typeface="Calibri" panose="020F0502020204030204" pitchFamily="34" charset="0"/>
                          <a:ea typeface="ヒラギノ角ゴ Pro W3" pitchFamily="1" charset="-128"/>
                          <a:cs typeface="Calibri" panose="020F0502020204030204" pitchFamily="34" charset="0"/>
                          <a:sym typeface="Arial" charset="0"/>
                        </a:rPr>
                        <a:t>A family of enzymes that break down</a:t>
                      </a:r>
                      <a:br>
                        <a:rPr kumimoji="0" lang="en-US" sz="1400" b="0" i="0" u="none" strike="noStrike" cap="none" normalizeH="0" baseline="0">
                          <a:ln>
                            <a:noFill/>
                          </a:ln>
                          <a:solidFill>
                            <a:srgbClr val="002060"/>
                          </a:solidFill>
                          <a:effectLst/>
                          <a:latin typeface="Calibri" panose="020F0502020204030204" pitchFamily="34" charset="0"/>
                          <a:ea typeface="ヒラギノ角ゴ Pro W3" pitchFamily="1" charset="-128"/>
                          <a:cs typeface="Calibri" panose="020F0502020204030204" pitchFamily="34" charset="0"/>
                          <a:sym typeface="Arial" charset="0"/>
                        </a:rPr>
                      </a:br>
                      <a:r>
                        <a:rPr kumimoji="0" lang="en-US" sz="1400" b="0" i="0" u="none" strike="noStrike" cap="none" normalizeH="0" baseline="0">
                          <a:ln>
                            <a:noFill/>
                          </a:ln>
                          <a:solidFill>
                            <a:srgbClr val="002060"/>
                          </a:solidFill>
                          <a:effectLst/>
                          <a:latin typeface="Calibri" panose="020F0502020204030204" pitchFamily="34" charset="0"/>
                          <a:ea typeface="ヒラギノ角ゴ Pro W3" pitchFamily="1" charset="-128"/>
                          <a:cs typeface="Calibri" panose="020F0502020204030204" pitchFamily="34" charset="0"/>
                          <a:sym typeface="Arial" charset="0"/>
                        </a:rPr>
                        <a:t>hyaluronic acid and increase tissue</a:t>
                      </a:r>
                      <a:br>
                        <a:rPr kumimoji="0" lang="en-US" sz="1400" b="0" i="0" u="none" strike="noStrike" cap="none" normalizeH="0" baseline="0">
                          <a:ln>
                            <a:noFill/>
                          </a:ln>
                          <a:solidFill>
                            <a:srgbClr val="002060"/>
                          </a:solidFill>
                          <a:effectLst/>
                          <a:latin typeface="Calibri" panose="020F0502020204030204" pitchFamily="34" charset="0"/>
                          <a:ea typeface="ヒラギノ角ゴ Pro W3" pitchFamily="1" charset="-128"/>
                          <a:cs typeface="Calibri" panose="020F0502020204030204" pitchFamily="34" charset="0"/>
                          <a:sym typeface="Arial" charset="0"/>
                        </a:rPr>
                      </a:br>
                      <a:r>
                        <a:rPr kumimoji="0" lang="en-US" sz="1400" b="0" i="0" u="none" strike="noStrike" cap="none" normalizeH="0" baseline="0">
                          <a:ln>
                            <a:noFill/>
                          </a:ln>
                          <a:solidFill>
                            <a:srgbClr val="002060"/>
                          </a:solidFill>
                          <a:effectLst/>
                          <a:latin typeface="Calibri" panose="020F0502020204030204" pitchFamily="34" charset="0"/>
                          <a:ea typeface="ヒラギノ角ゴ Pro W3" pitchFamily="1" charset="-128"/>
                          <a:cs typeface="Calibri" panose="020F0502020204030204" pitchFamily="34" charset="0"/>
                          <a:sym typeface="Arial" charset="0"/>
                        </a:rPr>
                        <a:t>permeability. Often used during eye surgery</a:t>
                      </a:r>
                      <a:br>
                        <a:rPr kumimoji="0" lang="en-US" sz="1400" b="0" i="0" u="none" strike="noStrike" cap="none" normalizeH="0" baseline="0">
                          <a:ln>
                            <a:noFill/>
                          </a:ln>
                          <a:solidFill>
                            <a:srgbClr val="002060"/>
                          </a:solidFill>
                          <a:effectLst/>
                          <a:latin typeface="Calibri" panose="020F0502020204030204" pitchFamily="34" charset="0"/>
                          <a:ea typeface="ヒラギノ角ゴ Pro W3" pitchFamily="1" charset="-128"/>
                          <a:cs typeface="Calibri" panose="020F0502020204030204" pitchFamily="34" charset="0"/>
                          <a:sym typeface="Arial" charset="0"/>
                        </a:rPr>
                      </a:br>
                      <a:r>
                        <a:rPr kumimoji="0" lang="en-US" sz="1400" b="0" i="0" u="none" strike="noStrike" cap="none" normalizeH="0" baseline="0">
                          <a:ln>
                            <a:noFill/>
                          </a:ln>
                          <a:solidFill>
                            <a:srgbClr val="002060"/>
                          </a:solidFill>
                          <a:effectLst/>
                          <a:latin typeface="Calibri" panose="020F0502020204030204" pitchFamily="34" charset="0"/>
                          <a:ea typeface="ヒラギノ角ゴ Pro W3" pitchFamily="1" charset="-128"/>
                          <a:cs typeface="Calibri" panose="020F0502020204030204" pitchFamily="34" charset="0"/>
                          <a:sym typeface="Arial" charset="0"/>
                        </a:rPr>
                        <a:t>to administer local anesthetics faster.</a:t>
                      </a:r>
                    </a:p>
                  </a:txBody>
                  <a:tcPr marL="80367" marR="80367" marT="80367" marB="80367" anchor="ctr" horzOverflow="overflow">
                    <a:lnL w="12700" cap="flat" cmpd="sng" algn="ctr">
                      <a:solidFill>
                        <a:srgbClr val="6E3620"/>
                      </a:solidFill>
                      <a:prstDash val="solid"/>
                      <a:round/>
                      <a:headEnd type="none" w="med" len="med"/>
                      <a:tailEnd type="none" w="med" len="med"/>
                    </a:lnL>
                    <a:lnR w="38100" cap="flat" cmpd="sng" algn="ctr">
                      <a:solidFill>
                        <a:srgbClr val="6E3620"/>
                      </a:solidFill>
                      <a:prstDash val="solid"/>
                      <a:round/>
                      <a:headEnd type="none" w="med" len="med"/>
                      <a:tailEnd type="none" w="med" len="med"/>
                    </a:lnR>
                    <a:lnT w="12700" cap="flat" cmpd="sng" algn="ctr">
                      <a:solidFill>
                        <a:srgbClr val="6E3620"/>
                      </a:solidFill>
                      <a:prstDash val="solid"/>
                      <a:round/>
                      <a:headEnd type="none" w="med" len="med"/>
                      <a:tailEnd type="none" w="med" len="med"/>
                    </a:lnT>
                    <a:lnB w="12700" cap="flat" cmpd="sng" algn="ctr">
                      <a:solidFill>
                        <a:srgbClr val="6E3620"/>
                      </a:solidFill>
                      <a:prstDash val="solid"/>
                      <a:round/>
                      <a:headEnd type="none" w="med" len="med"/>
                      <a:tailEnd type="none" w="med" len="med"/>
                    </a:lnB>
                    <a:lnTlToBr>
                      <a:noFill/>
                    </a:lnTlToBr>
                    <a:lnBlToTr>
                      <a:noFill/>
                    </a:lnBlToTr>
                    <a:solidFill>
                      <a:schemeClr val="accent1">
                        <a:alpha val="14902"/>
                      </a:schemeClr>
                    </a:solidFill>
                  </a:tcPr>
                </a:tc>
                <a:extLst>
                  <a:ext uri="{0D108BD9-81ED-4DB2-BD59-A6C34878D82A}">
                    <a16:rowId xmlns:a16="http://schemas.microsoft.com/office/drawing/2014/main" val="10004"/>
                  </a:ext>
                </a:extLst>
              </a:tr>
              <a:tr h="841193">
                <a:tc>
                  <a:txBody>
                    <a:bodyPr/>
                    <a:lstStyle/>
                    <a:p>
                      <a:pPr marL="0" marR="0" lvl="0" indent="0" algn="ctr" defTabSz="914400" rtl="0" eaLnBrk="1" fontAlgn="base" latinLnBrk="0" hangingPunct="1">
                        <a:lnSpc>
                          <a:spcPct val="100000"/>
                        </a:lnSpc>
                        <a:spcBef>
                          <a:spcPct val="0"/>
                        </a:spcBef>
                        <a:spcAft>
                          <a:spcPct val="0"/>
                        </a:spcAft>
                        <a:buClrTx/>
                        <a:buSzPct val="186000"/>
                        <a:buFontTx/>
                        <a:buNone/>
                        <a:tabLst>
                          <a:tab pos="520700" algn="l"/>
                        </a:tabLst>
                      </a:pPr>
                      <a:r>
                        <a:rPr kumimoji="0" lang="en-US" sz="1400" b="1" i="0" u="none" strike="noStrike" cap="none" normalizeH="0" baseline="0">
                          <a:ln>
                            <a:noFill/>
                          </a:ln>
                          <a:solidFill>
                            <a:srgbClr val="002060"/>
                          </a:solidFill>
                          <a:effectLst/>
                          <a:latin typeface="Calibri" panose="020F0502020204030204" pitchFamily="34" charset="0"/>
                          <a:ea typeface="ヒラギノ角ゴ Pro W3" pitchFamily="1" charset="-128"/>
                          <a:cs typeface="Calibri" panose="020F0502020204030204" pitchFamily="34" charset="0"/>
                          <a:sym typeface="Arial" charset="0"/>
                        </a:rPr>
                        <a:t>Zymase</a:t>
                      </a:r>
                    </a:p>
                  </a:txBody>
                  <a:tcPr marL="62508" marR="62508" marT="62508" marB="62508" anchor="ctr" horzOverflow="overflow">
                    <a:lnL w="38100" cap="flat" cmpd="sng" algn="ctr">
                      <a:solidFill>
                        <a:srgbClr val="6E3620"/>
                      </a:solidFill>
                      <a:prstDash val="solid"/>
                      <a:round/>
                      <a:headEnd type="none" w="med" len="med"/>
                      <a:tailEnd type="none" w="med" len="med"/>
                    </a:lnL>
                    <a:lnR w="12700" cap="flat" cmpd="sng" algn="ctr">
                      <a:solidFill>
                        <a:srgbClr val="6E3620"/>
                      </a:solidFill>
                      <a:prstDash val="solid"/>
                      <a:round/>
                      <a:headEnd type="none" w="med" len="med"/>
                      <a:tailEnd type="none" w="med" len="med"/>
                    </a:lnR>
                    <a:lnT w="12700" cap="flat" cmpd="sng" algn="ctr">
                      <a:solidFill>
                        <a:srgbClr val="6E3620"/>
                      </a:solidFill>
                      <a:prstDash val="solid"/>
                      <a:round/>
                      <a:headEnd type="none" w="med" len="med"/>
                      <a:tailEnd type="none" w="med" len="med"/>
                    </a:lnT>
                    <a:lnB w="38100" cap="flat" cmpd="sng" algn="ctr">
                      <a:solidFill>
                        <a:srgbClr val="6E3620"/>
                      </a:solidFill>
                      <a:prstDash val="solid"/>
                      <a:round/>
                      <a:headEnd type="none" w="med" len="med"/>
                      <a:tailEnd type="none" w="med" len="med"/>
                    </a:lnB>
                    <a:lnTlToBr>
                      <a:noFill/>
                    </a:lnTlToBr>
                    <a:lnBlToTr>
                      <a:noFill/>
                    </a:lnBlToTr>
                    <a:solidFill>
                      <a:schemeClr val="accent1">
                        <a:alpha val="14902"/>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86000"/>
                        <a:buFontTx/>
                        <a:buNone/>
                        <a:tabLst>
                          <a:tab pos="520700" algn="l"/>
                        </a:tabLst>
                      </a:pPr>
                      <a:r>
                        <a:rPr kumimoji="0" lang="en-US" sz="1400" b="0" i="0" u="none" strike="noStrike" cap="none" normalizeH="0" baseline="0" dirty="0">
                          <a:ln>
                            <a:noFill/>
                          </a:ln>
                          <a:solidFill>
                            <a:srgbClr val="002060"/>
                          </a:solidFill>
                          <a:effectLst/>
                          <a:latin typeface="Calibri" panose="020F0502020204030204" pitchFamily="34" charset="0"/>
                          <a:ea typeface="ヒラギノ角ゴ Pro W3" pitchFamily="1" charset="-128"/>
                          <a:cs typeface="Calibri" panose="020F0502020204030204" pitchFamily="34" charset="0"/>
                          <a:sym typeface="Arial" charset="0"/>
                        </a:rPr>
                        <a:t>A naturally occurring enzyme in yeasts,</a:t>
                      </a:r>
                      <a:br>
                        <a:rPr kumimoji="0" lang="en-US" sz="1400" b="0" i="0" u="none" strike="noStrike" cap="none" normalizeH="0" baseline="0" dirty="0">
                          <a:ln>
                            <a:noFill/>
                          </a:ln>
                          <a:solidFill>
                            <a:srgbClr val="002060"/>
                          </a:solidFill>
                          <a:effectLst/>
                          <a:latin typeface="Calibri" panose="020F0502020204030204" pitchFamily="34" charset="0"/>
                          <a:ea typeface="ヒラギノ角ゴ Pro W3" pitchFamily="1" charset="-128"/>
                          <a:cs typeface="Calibri" panose="020F0502020204030204" pitchFamily="34" charset="0"/>
                          <a:sym typeface="Arial" charset="0"/>
                        </a:rPr>
                      </a:br>
                      <a:r>
                        <a:rPr kumimoji="0" lang="en-US" sz="1400" b="0" i="0" u="none" strike="noStrike" cap="none" normalizeH="0" baseline="0" dirty="0">
                          <a:ln>
                            <a:noFill/>
                          </a:ln>
                          <a:solidFill>
                            <a:srgbClr val="002060"/>
                          </a:solidFill>
                          <a:effectLst/>
                          <a:latin typeface="Calibri" panose="020F0502020204030204" pitchFamily="34" charset="0"/>
                          <a:ea typeface="ヒラギノ角ゴ Pro W3" pitchFamily="1" charset="-128"/>
                          <a:cs typeface="Calibri" panose="020F0502020204030204" pitchFamily="34" charset="0"/>
                          <a:sym typeface="Arial" charset="0"/>
                        </a:rPr>
                        <a:t>widely used in the baking industry to ferment sugar into ethanol and carbon dioxide.</a:t>
                      </a:r>
                    </a:p>
                  </a:txBody>
                  <a:tcPr marL="80367" marR="80367" marT="80367" marB="80367" anchor="ctr" horzOverflow="overflow">
                    <a:lnL w="12700" cap="flat" cmpd="sng" algn="ctr">
                      <a:solidFill>
                        <a:srgbClr val="6E3620"/>
                      </a:solidFill>
                      <a:prstDash val="solid"/>
                      <a:round/>
                      <a:headEnd type="none" w="med" len="med"/>
                      <a:tailEnd type="none" w="med" len="med"/>
                    </a:lnL>
                    <a:lnR w="38100" cap="flat" cmpd="sng" algn="ctr">
                      <a:solidFill>
                        <a:srgbClr val="6E3620"/>
                      </a:solidFill>
                      <a:prstDash val="solid"/>
                      <a:round/>
                      <a:headEnd type="none" w="med" len="med"/>
                      <a:tailEnd type="none" w="med" len="med"/>
                    </a:lnR>
                    <a:lnT w="12700" cap="flat" cmpd="sng" algn="ctr">
                      <a:solidFill>
                        <a:srgbClr val="6E3620"/>
                      </a:solidFill>
                      <a:prstDash val="solid"/>
                      <a:round/>
                      <a:headEnd type="none" w="med" len="med"/>
                      <a:tailEnd type="none" w="med" len="med"/>
                    </a:lnT>
                    <a:lnB w="38100" cap="flat" cmpd="sng" algn="ctr">
                      <a:solidFill>
                        <a:srgbClr val="6E3620"/>
                      </a:solidFill>
                      <a:prstDash val="solid"/>
                      <a:round/>
                      <a:headEnd type="none" w="med" len="med"/>
                      <a:tailEnd type="none" w="med" len="med"/>
                    </a:lnB>
                    <a:lnTlToBr>
                      <a:noFill/>
                    </a:lnTlToBr>
                    <a:lnBlToTr>
                      <a:noFill/>
                    </a:lnBlToTr>
                    <a:solidFill>
                      <a:schemeClr val="accent1">
                        <a:alpha val="14902"/>
                      </a:schemeClr>
                    </a:solidFill>
                  </a:tcPr>
                </a:tc>
                <a:extLst>
                  <a:ext uri="{0D108BD9-81ED-4DB2-BD59-A6C34878D82A}">
                    <a16:rowId xmlns:a16="http://schemas.microsoft.com/office/drawing/2014/main" val="10005"/>
                  </a:ext>
                </a:extLst>
              </a:tr>
            </a:tbl>
          </a:graphicData>
        </a:graphic>
      </p:graphicFrame>
      <p:pic>
        <p:nvPicPr>
          <p:cNvPr id="124975" name="Picture 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649616" y="3967008"/>
            <a:ext cx="2300154" cy="15121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124976" name="Picture 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568" y="1583251"/>
            <a:ext cx="2394069" cy="184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24977" name="Rectangle 49"/>
          <p:cNvSpPr>
            <a:spLocks/>
          </p:cNvSpPr>
          <p:nvPr/>
        </p:nvSpPr>
        <p:spPr bwMode="auto">
          <a:xfrm>
            <a:off x="410766" y="5956102"/>
            <a:ext cx="2598539" cy="6786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400">
                <a:solidFill>
                  <a:srgbClr val="2D00FA"/>
                </a:solidFill>
                <a:latin typeface="Arial" charset="0"/>
                <a:cs typeface="Arial" charset="0"/>
                <a:sym typeface="Arial" charset="0"/>
              </a:rPr>
              <a:t>3D molecular structures for the enzymes </a:t>
            </a:r>
            <a:r>
              <a:rPr lang="en-US" sz="1400" b="1">
                <a:solidFill>
                  <a:srgbClr val="2D00FA"/>
                </a:solidFill>
                <a:latin typeface="Arial" charset="0"/>
                <a:cs typeface="Arial" charset="0"/>
                <a:sym typeface="Arial" charset="0"/>
              </a:rPr>
              <a:t>pepsin</a:t>
            </a:r>
            <a:r>
              <a:rPr lang="en-US" sz="1400">
                <a:solidFill>
                  <a:srgbClr val="2D00FA"/>
                </a:solidFill>
                <a:latin typeface="Arial" charset="0"/>
                <a:cs typeface="Arial" charset="0"/>
                <a:sym typeface="Arial" charset="0"/>
              </a:rPr>
              <a:t> (top) and </a:t>
            </a:r>
            <a:r>
              <a:rPr lang="en-US" sz="1400" b="1">
                <a:solidFill>
                  <a:srgbClr val="2D00FA"/>
                </a:solidFill>
                <a:latin typeface="Arial" charset="0"/>
                <a:cs typeface="Arial" charset="0"/>
                <a:sym typeface="Arial" charset="0"/>
              </a:rPr>
              <a:t>hyaluronidase</a:t>
            </a:r>
            <a:r>
              <a:rPr lang="en-US" sz="1400">
                <a:solidFill>
                  <a:srgbClr val="2D00FA"/>
                </a:solidFill>
                <a:latin typeface="Arial" charset="0"/>
                <a:cs typeface="Arial" charset="0"/>
                <a:sym typeface="Arial" charset="0"/>
              </a:rPr>
              <a:t> (bottom).</a:t>
            </a:r>
          </a:p>
        </p:txBody>
      </p:sp>
    </p:spTree>
    <p:extLst>
      <p:ext uri="{BB962C8B-B14F-4D97-AF65-F5344CB8AC3E}">
        <p14:creationId xmlns:p14="http://schemas.microsoft.com/office/powerpoint/2010/main" val="1503133082"/>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5953" name="Rectangle 1"/>
          <p:cNvSpPr>
            <a:spLocks noGrp="1" noChangeArrowheads="1"/>
          </p:cNvSpPr>
          <p:nvPr>
            <p:ph type="title"/>
          </p:nvPr>
        </p:nvSpPr>
        <p:spPr>
          <a:xfrm>
            <a:off x="539552" y="465610"/>
            <a:ext cx="8229600" cy="1066800"/>
          </a:xfrm>
        </p:spPr>
        <p:txBody>
          <a:bodyPr/>
          <a:lstStyle/>
          <a:p>
            <a:r>
              <a:rPr lang="en-US" dirty="0">
                <a:solidFill>
                  <a:srgbClr val="0070C0"/>
                </a:solidFill>
              </a:rPr>
              <a:t>Enzymes</a:t>
            </a:r>
          </a:p>
        </p:txBody>
      </p:sp>
      <p:sp>
        <p:nvSpPr>
          <p:cNvPr id="125954" name="Rectangle 2"/>
          <p:cNvSpPr>
            <a:spLocks noGrp="1" noChangeArrowheads="1"/>
          </p:cNvSpPr>
          <p:nvPr>
            <p:ph type="body" idx="1"/>
          </p:nvPr>
        </p:nvSpPr>
        <p:spPr>
          <a:xfrm>
            <a:off x="457200" y="1628800"/>
            <a:ext cx="4978896" cy="5184576"/>
          </a:xfrm>
        </p:spPr>
        <p:txBody>
          <a:bodyPr>
            <a:normAutofit fontScale="92500" lnSpcReduction="10000"/>
          </a:bodyPr>
          <a:lstStyle/>
          <a:p>
            <a:r>
              <a:rPr lang="en-US" dirty="0">
                <a:solidFill>
                  <a:srgbClr val="002060"/>
                </a:solidFill>
                <a:latin typeface="Calibri" panose="020F0502020204030204" pitchFamily="34" charset="0"/>
                <a:cs typeface="Calibri" panose="020F0502020204030204" pitchFamily="34" charset="0"/>
              </a:rPr>
              <a:t>Enzymes are </a:t>
            </a:r>
            <a:r>
              <a:rPr lang="en-US" b="1" dirty="0">
                <a:solidFill>
                  <a:srgbClr val="002060"/>
                </a:solidFill>
                <a:latin typeface="Calibri" panose="020F0502020204030204" pitchFamily="34" charset="0"/>
                <a:cs typeface="Calibri" panose="020F0502020204030204" pitchFamily="34" charset="0"/>
              </a:rPr>
              <a:t>specific.</a:t>
            </a:r>
          </a:p>
          <a:p>
            <a:r>
              <a:rPr lang="en-US" dirty="0">
                <a:solidFill>
                  <a:srgbClr val="002060"/>
                </a:solidFill>
                <a:latin typeface="Calibri" panose="020F0502020204030204" pitchFamily="34" charset="0"/>
                <a:cs typeface="Calibri" panose="020F0502020204030204" pitchFamily="34" charset="0"/>
              </a:rPr>
              <a:t>Enzymes have a specific region where the substrate binds and where catalysis occurs. This is called the </a:t>
            </a:r>
            <a:r>
              <a:rPr lang="en-US" b="1" dirty="0">
                <a:solidFill>
                  <a:srgbClr val="002060"/>
                </a:solidFill>
                <a:latin typeface="Calibri" panose="020F0502020204030204" pitchFamily="34" charset="0"/>
                <a:cs typeface="Calibri" panose="020F0502020204030204" pitchFamily="34" charset="0"/>
              </a:rPr>
              <a:t>active site</a:t>
            </a:r>
            <a:r>
              <a:rPr lang="en-US" dirty="0">
                <a:solidFill>
                  <a:srgbClr val="002060"/>
                </a:solidFill>
                <a:latin typeface="Calibri" panose="020F0502020204030204" pitchFamily="34" charset="0"/>
                <a:cs typeface="Calibri" panose="020F0502020204030204" pitchFamily="34" charset="0"/>
              </a:rPr>
              <a:t>. </a:t>
            </a:r>
          </a:p>
          <a:p>
            <a:r>
              <a:rPr lang="en-US" dirty="0">
                <a:solidFill>
                  <a:srgbClr val="002060"/>
                </a:solidFill>
                <a:latin typeface="Calibri" panose="020F0502020204030204" pitchFamily="34" charset="0"/>
                <a:cs typeface="Calibri" panose="020F0502020204030204" pitchFamily="34" charset="0"/>
              </a:rPr>
              <a:t>The active site is usually a cleft or pocket at the surface of the enzyme. Substrate modification occurs at the active site.</a:t>
            </a:r>
          </a:p>
          <a:p>
            <a:r>
              <a:rPr lang="fr-FR" dirty="0">
                <a:solidFill>
                  <a:srgbClr val="002060"/>
                </a:solidFill>
                <a:latin typeface="Calibri" panose="020F0502020204030204" pitchFamily="34" charset="0"/>
                <a:cs typeface="Calibri" panose="020F0502020204030204" pitchFamily="34" charset="0"/>
              </a:rPr>
              <a:t>The </a:t>
            </a:r>
            <a:r>
              <a:rPr lang="fr-FR" b="1" dirty="0">
                <a:solidFill>
                  <a:srgbClr val="002060"/>
                </a:solidFill>
                <a:latin typeface="Calibri" panose="020F0502020204030204" pitchFamily="34" charset="0"/>
                <a:cs typeface="Calibri" panose="020F0502020204030204" pitchFamily="34" charset="0"/>
              </a:rPr>
              <a:t>shape</a:t>
            </a:r>
            <a:r>
              <a:rPr lang="fr-FR" dirty="0">
                <a:solidFill>
                  <a:srgbClr val="002060"/>
                </a:solidFill>
                <a:latin typeface="Calibri" panose="020F0502020204030204" pitchFamily="34" charset="0"/>
                <a:cs typeface="Calibri" panose="020F0502020204030204" pitchFamily="34" charset="0"/>
              </a:rPr>
              <a:t> and the </a:t>
            </a:r>
            <a:r>
              <a:rPr lang="fr-FR" b="1" dirty="0">
                <a:solidFill>
                  <a:srgbClr val="002060"/>
                </a:solidFill>
                <a:latin typeface="Calibri" panose="020F0502020204030204" pitchFamily="34" charset="0"/>
                <a:cs typeface="Calibri" panose="020F0502020204030204" pitchFamily="34" charset="0"/>
              </a:rPr>
              <a:t>chemical environment</a:t>
            </a:r>
            <a:r>
              <a:rPr lang="fr-FR" dirty="0">
                <a:solidFill>
                  <a:srgbClr val="002060"/>
                </a:solidFill>
                <a:latin typeface="Calibri" panose="020F0502020204030204" pitchFamily="34" charset="0"/>
                <a:cs typeface="Calibri" panose="020F0502020204030204" pitchFamily="34" charset="0"/>
              </a:rPr>
              <a:t> inside the active site permits a chemical reaction to proceed more </a:t>
            </a:r>
            <a:r>
              <a:rPr lang="fr-FR" dirty="0" err="1">
                <a:solidFill>
                  <a:srgbClr val="002060"/>
                </a:solidFill>
                <a:latin typeface="Calibri" panose="020F0502020204030204" pitchFamily="34" charset="0"/>
                <a:cs typeface="Calibri" panose="020F0502020204030204" pitchFamily="34" charset="0"/>
              </a:rPr>
              <a:t>easily</a:t>
            </a:r>
            <a:r>
              <a:rPr lang="fr-FR" dirty="0">
                <a:solidFill>
                  <a:srgbClr val="002060"/>
                </a:solidFill>
                <a:latin typeface="Calibri" panose="020F0502020204030204" pitchFamily="34" charset="0"/>
                <a:cs typeface="Calibri" panose="020F0502020204030204" pitchFamily="34" charset="0"/>
              </a:rPr>
              <a:t>.</a:t>
            </a:r>
          </a:p>
        </p:txBody>
      </p:sp>
      <p:pic>
        <p:nvPicPr>
          <p:cNvPr id="1259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9648" y="999010"/>
            <a:ext cx="2741414" cy="34356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25956" name="Rectangle 4"/>
          <p:cNvSpPr>
            <a:spLocks/>
          </p:cNvSpPr>
          <p:nvPr/>
        </p:nvSpPr>
        <p:spPr bwMode="auto">
          <a:xfrm>
            <a:off x="5956102" y="4679156"/>
            <a:ext cx="2648346" cy="8840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400" dirty="0">
                <a:solidFill>
                  <a:srgbClr val="2D00FA"/>
                </a:solidFill>
                <a:latin typeface="Arial" charset="0"/>
                <a:cs typeface="Arial" charset="0"/>
                <a:sym typeface="Arial" charset="0"/>
              </a:rPr>
              <a:t>Space filling model of the yeast enzyme </a:t>
            </a:r>
            <a:r>
              <a:rPr lang="en-US" sz="1400" b="1" dirty="0">
                <a:solidFill>
                  <a:srgbClr val="2D00FA"/>
                </a:solidFill>
                <a:latin typeface="Arial" charset="0"/>
                <a:cs typeface="Arial" charset="0"/>
                <a:sym typeface="Arial" charset="0"/>
              </a:rPr>
              <a:t>hexokinase</a:t>
            </a:r>
            <a:r>
              <a:rPr lang="en-US" sz="1400" dirty="0">
                <a:solidFill>
                  <a:srgbClr val="2D00FA"/>
                </a:solidFill>
                <a:latin typeface="Arial" charset="0"/>
                <a:cs typeface="Arial" charset="0"/>
                <a:sym typeface="Arial" charset="0"/>
              </a:rPr>
              <a:t>. Its active site lies in the groove (arrowed).</a:t>
            </a:r>
          </a:p>
        </p:txBody>
      </p:sp>
      <p:sp>
        <p:nvSpPr>
          <p:cNvPr id="125957" name="Line 5"/>
          <p:cNvSpPr>
            <a:spLocks noChangeShapeType="1"/>
          </p:cNvSpPr>
          <p:nvPr/>
        </p:nvSpPr>
        <p:spPr bwMode="auto">
          <a:xfrm>
            <a:off x="7911703" y="2928938"/>
            <a:ext cx="769070" cy="0"/>
          </a:xfrm>
          <a:prstGeom prst="line">
            <a:avLst/>
          </a:prstGeom>
          <a:noFill/>
          <a:ln w="508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25400" dist="12699" dir="5400000" algn="ctr" rotWithShape="0">
                    <a:schemeClr val="bg2">
                      <a:alpha val="20000"/>
                    </a:schemeClr>
                  </a:outerShdw>
                </a:effectLst>
              </a14:hiddenEffects>
            </a:ext>
          </a:extLst>
        </p:spPr>
        <p:txBody>
          <a:bodyPr lIns="64291" tIns="32146" rIns="64291" bIns="32146"/>
          <a:lstStyle/>
          <a:p>
            <a:endParaRPr lang="en-AU"/>
          </a:p>
        </p:txBody>
      </p:sp>
    </p:spTree>
    <p:extLst>
      <p:ext uri="{BB962C8B-B14F-4D97-AF65-F5344CB8AC3E}">
        <p14:creationId xmlns:p14="http://schemas.microsoft.com/office/powerpoint/2010/main" val="327463581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59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595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595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2595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4" grpId="0" build="p" bldLvl="5"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5976"/>
            <a:ext cx="8229600" cy="1066800"/>
          </a:xfrm>
        </p:spPr>
        <p:txBody>
          <a:bodyPr/>
          <a:lstStyle/>
          <a:p>
            <a:r>
              <a:rPr lang="en-AU" dirty="0">
                <a:solidFill>
                  <a:srgbClr val="0070C0"/>
                </a:solidFill>
              </a:rPr>
              <a:t>Enzyme - Substrate</a:t>
            </a:r>
          </a:p>
        </p:txBody>
      </p:sp>
      <p:sp>
        <p:nvSpPr>
          <p:cNvPr id="3" name="Content Placeholder 2"/>
          <p:cNvSpPr>
            <a:spLocks noGrp="1"/>
          </p:cNvSpPr>
          <p:nvPr>
            <p:ph idx="1"/>
          </p:nvPr>
        </p:nvSpPr>
        <p:spPr>
          <a:xfrm>
            <a:off x="457200" y="4128889"/>
            <a:ext cx="8229600" cy="2381250"/>
          </a:xfrm>
        </p:spPr>
        <p:txBody>
          <a:bodyPr/>
          <a:lstStyle/>
          <a:p>
            <a:r>
              <a:rPr lang="en-AU" dirty="0">
                <a:solidFill>
                  <a:srgbClr val="002060"/>
                </a:solidFill>
                <a:latin typeface="Calibri" panose="020F0502020204030204" pitchFamily="34" charset="0"/>
                <a:cs typeface="Calibri" panose="020F0502020204030204" pitchFamily="34" charset="0"/>
              </a:rPr>
              <a:t>In a reaction, we have the enzyme that reacts with a </a:t>
            </a:r>
            <a:r>
              <a:rPr lang="en-AU" b="1" dirty="0">
                <a:solidFill>
                  <a:srgbClr val="002060"/>
                </a:solidFill>
                <a:latin typeface="Calibri" panose="020F0502020204030204" pitchFamily="34" charset="0"/>
                <a:cs typeface="Calibri" panose="020F0502020204030204" pitchFamily="34" charset="0"/>
              </a:rPr>
              <a:t>substrate</a:t>
            </a:r>
            <a:r>
              <a:rPr lang="en-AU" dirty="0">
                <a:solidFill>
                  <a:srgbClr val="002060"/>
                </a:solidFill>
                <a:latin typeface="Calibri" panose="020F0502020204030204" pitchFamily="34" charset="0"/>
                <a:cs typeface="Calibri" panose="020F0502020204030204" pitchFamily="34" charset="0"/>
              </a:rPr>
              <a:t>.  The enzyme and substrate bonded together is called the </a:t>
            </a:r>
            <a:r>
              <a:rPr lang="en-AU" b="1" dirty="0">
                <a:solidFill>
                  <a:srgbClr val="002060"/>
                </a:solidFill>
                <a:latin typeface="Calibri" panose="020F0502020204030204" pitchFamily="34" charset="0"/>
                <a:cs typeface="Calibri" panose="020F0502020204030204" pitchFamily="34" charset="0"/>
              </a:rPr>
              <a:t>enzyme-substrate complex</a:t>
            </a:r>
            <a:r>
              <a:rPr lang="en-AU" dirty="0">
                <a:solidFill>
                  <a:srgbClr val="002060"/>
                </a:solidFill>
                <a:latin typeface="Calibri" panose="020F0502020204030204" pitchFamily="34" charset="0"/>
                <a:cs typeface="Calibri" panose="020F0502020204030204" pitchFamily="34" charset="0"/>
              </a:rPr>
              <a:t>.  After completion, the enzyme releases the </a:t>
            </a:r>
            <a:r>
              <a:rPr lang="en-AU" b="1" dirty="0">
                <a:solidFill>
                  <a:srgbClr val="002060"/>
                </a:solidFill>
                <a:latin typeface="Calibri" panose="020F0502020204030204" pitchFamily="34" charset="0"/>
                <a:cs typeface="Calibri" panose="020F0502020204030204" pitchFamily="34" charset="0"/>
              </a:rPr>
              <a:t>products</a:t>
            </a:r>
            <a:r>
              <a:rPr lang="en-AU" dirty="0">
                <a:solidFill>
                  <a:srgbClr val="002060"/>
                </a:solidFill>
                <a:latin typeface="Calibri" panose="020F0502020204030204" pitchFamily="34" charset="0"/>
                <a:cs typeface="Calibri" panose="020F0502020204030204" pitchFamily="34" charset="0"/>
              </a:rPr>
              <a:t>.</a:t>
            </a:r>
          </a:p>
        </p:txBody>
      </p:sp>
      <p:pic>
        <p:nvPicPr>
          <p:cNvPr id="1028" name="Picture 4" descr="http://www.buzzle.com/images/diagrams/enzyme-working-mechanis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6996" y="1412776"/>
            <a:ext cx="428625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0019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692696"/>
            <a:ext cx="8229600" cy="1066800"/>
          </a:xfrm>
        </p:spPr>
        <p:txBody>
          <a:bodyPr/>
          <a:lstStyle/>
          <a:p>
            <a:r>
              <a:rPr lang="en-AU" dirty="0">
                <a:solidFill>
                  <a:srgbClr val="0070C0"/>
                </a:solidFill>
              </a:rPr>
              <a:t>Enzymes</a:t>
            </a:r>
          </a:p>
        </p:txBody>
      </p:sp>
      <p:sp>
        <p:nvSpPr>
          <p:cNvPr id="3" name="Content Placeholder 2"/>
          <p:cNvSpPr>
            <a:spLocks noGrp="1"/>
          </p:cNvSpPr>
          <p:nvPr>
            <p:ph idx="1"/>
          </p:nvPr>
        </p:nvSpPr>
        <p:spPr>
          <a:xfrm>
            <a:off x="457200" y="1988840"/>
            <a:ext cx="8229600" cy="3816424"/>
          </a:xfrm>
        </p:spPr>
        <p:txBody>
          <a:bodyPr>
            <a:normAutofit fontScale="92500" lnSpcReduction="10000"/>
          </a:bodyPr>
          <a:lstStyle/>
          <a:p>
            <a:r>
              <a:rPr lang="en-US" dirty="0">
                <a:solidFill>
                  <a:srgbClr val="002060"/>
                </a:solidFill>
                <a:latin typeface="Calibri" panose="020F0502020204030204" pitchFamily="34" charset="0"/>
                <a:cs typeface="Calibri" panose="020F0502020204030204" pitchFamily="34" charset="0"/>
              </a:rPr>
              <a:t>Enzymes are </a:t>
            </a:r>
            <a:r>
              <a:rPr lang="en-US" b="1" dirty="0">
                <a:solidFill>
                  <a:srgbClr val="002060"/>
                </a:solidFill>
                <a:latin typeface="Calibri" panose="020F0502020204030204" pitchFamily="34" charset="0"/>
                <a:cs typeface="Calibri" panose="020F0502020204030204" pitchFamily="34" charset="0"/>
              </a:rPr>
              <a:t>substrate-specific</a:t>
            </a:r>
            <a:r>
              <a:rPr lang="en-US" dirty="0">
                <a:solidFill>
                  <a:srgbClr val="002060"/>
                </a:solidFill>
                <a:latin typeface="Calibri" panose="020F0502020204030204" pitchFamily="34" charset="0"/>
                <a:cs typeface="Calibri" panose="020F0502020204030204" pitchFamily="34" charset="0"/>
              </a:rPr>
              <a:t>, although specificity varies from enzyme to enzyme:</a:t>
            </a:r>
          </a:p>
          <a:p>
            <a:pPr lvl="1"/>
            <a:r>
              <a:rPr lang="en-US" dirty="0">
                <a:latin typeface="Calibri" panose="020F0502020204030204" pitchFamily="34" charset="0"/>
                <a:cs typeface="Calibri" panose="020F0502020204030204" pitchFamily="34" charset="0"/>
              </a:rPr>
              <a:t>High specificity: The enzyme will only bind with a single type of substrate.</a:t>
            </a:r>
          </a:p>
          <a:p>
            <a:pPr lvl="1"/>
            <a:r>
              <a:rPr lang="en-US" dirty="0">
                <a:latin typeface="Calibri" panose="020F0502020204030204" pitchFamily="34" charset="0"/>
                <a:cs typeface="Calibri" panose="020F0502020204030204" pitchFamily="34" charset="0"/>
              </a:rPr>
              <a:t>Low specificity: The enzyme will bind a range of related substrates, e.g. lipases hydrolyze any fatty acid chain.</a:t>
            </a:r>
          </a:p>
          <a:p>
            <a:r>
              <a:rPr lang="en-US" dirty="0">
                <a:solidFill>
                  <a:srgbClr val="002060"/>
                </a:solidFill>
                <a:latin typeface="Calibri" panose="020F0502020204030204" pitchFamily="34" charset="0"/>
                <a:cs typeface="Calibri" panose="020F0502020204030204" pitchFamily="34" charset="0"/>
              </a:rPr>
              <a:t>When a substrate binds to an enzyme’s active site, an enzyme-substrate complex is formed.</a:t>
            </a:r>
          </a:p>
          <a:p>
            <a:r>
              <a:rPr lang="en-AU" dirty="0">
                <a:solidFill>
                  <a:srgbClr val="002060"/>
                </a:solidFill>
                <a:latin typeface="Calibri" panose="020F0502020204030204" pitchFamily="34" charset="0"/>
                <a:cs typeface="Calibri" panose="020F0502020204030204" pitchFamily="34" charset="0"/>
              </a:rPr>
              <a:t>Enzymes</a:t>
            </a:r>
            <a:r>
              <a:rPr lang="en-AU" baseline="0" dirty="0">
                <a:solidFill>
                  <a:srgbClr val="002060"/>
                </a:solidFill>
                <a:latin typeface="Calibri" panose="020F0502020204030204" pitchFamily="34" charset="0"/>
                <a:cs typeface="Calibri" panose="020F0502020204030204" pitchFamily="34" charset="0"/>
              </a:rPr>
              <a:t> are often named ‘ –</a:t>
            </a:r>
            <a:r>
              <a:rPr lang="en-AU" baseline="0" dirty="0" err="1">
                <a:solidFill>
                  <a:srgbClr val="002060"/>
                </a:solidFill>
                <a:latin typeface="Calibri" panose="020F0502020204030204" pitchFamily="34" charset="0"/>
                <a:cs typeface="Calibri" panose="020F0502020204030204" pitchFamily="34" charset="0"/>
              </a:rPr>
              <a:t>ases</a:t>
            </a:r>
            <a:r>
              <a:rPr lang="en-AU" dirty="0" err="1">
                <a:solidFill>
                  <a:srgbClr val="002060"/>
                </a:solidFill>
                <a:latin typeface="Calibri" panose="020F0502020204030204" pitchFamily="34" charset="0"/>
                <a:cs typeface="Calibri" panose="020F0502020204030204" pitchFamily="34" charset="0"/>
              </a:rPr>
              <a:t>’</a:t>
            </a:r>
            <a:r>
              <a:rPr lang="en-AU" baseline="0" dirty="0">
                <a:solidFill>
                  <a:srgbClr val="002060"/>
                </a:solidFill>
                <a:latin typeface="Calibri" panose="020F0502020204030204" pitchFamily="34" charset="0"/>
                <a:cs typeface="Calibri" panose="020F0502020204030204" pitchFamily="34" charset="0"/>
              </a:rPr>
              <a:t> and are named according to the substrate they catalyse.</a:t>
            </a:r>
            <a:endParaRPr lang="en-AU" dirty="0">
              <a:solidFill>
                <a:srgbClr val="002060"/>
              </a:solidFill>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76451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77"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425" y="1856260"/>
            <a:ext cx="6000750" cy="39391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26978" name="Rectangle 2"/>
          <p:cNvSpPr>
            <a:spLocks noGrp="1" noChangeArrowheads="1"/>
          </p:cNvSpPr>
          <p:nvPr>
            <p:ph type="title"/>
          </p:nvPr>
        </p:nvSpPr>
        <p:spPr>
          <a:xfrm>
            <a:off x="350656" y="189547"/>
            <a:ext cx="8229600" cy="1066800"/>
          </a:xfrm>
        </p:spPr>
        <p:txBody>
          <a:bodyPr/>
          <a:lstStyle/>
          <a:p>
            <a:r>
              <a:rPr lang="en-US" dirty="0">
                <a:solidFill>
                  <a:srgbClr val="0070C0"/>
                </a:solidFill>
              </a:rPr>
              <a:t>Enzyme Active Site</a:t>
            </a:r>
          </a:p>
        </p:txBody>
      </p:sp>
      <p:sp>
        <p:nvSpPr>
          <p:cNvPr id="126979" name="Rectangle 3"/>
          <p:cNvSpPr>
            <a:spLocks/>
          </p:cNvSpPr>
          <p:nvPr/>
        </p:nvSpPr>
        <p:spPr bwMode="auto">
          <a:xfrm>
            <a:off x="2875359" y="5848945"/>
            <a:ext cx="3625453" cy="6697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a:lnSpc>
                <a:spcPct val="110000"/>
              </a:lnSpc>
              <a:spcBef>
                <a:spcPts val="1406"/>
              </a:spcBef>
              <a:tabLst>
                <a:tab pos="721047" algn="l"/>
              </a:tabLst>
            </a:pPr>
            <a:r>
              <a:rPr lang="en-US" sz="1400">
                <a:solidFill>
                  <a:srgbClr val="2D00FA"/>
                </a:solidFill>
                <a:latin typeface="Arial" charset="0"/>
                <a:cs typeface="Arial" charset="0"/>
                <a:sym typeface="Arial" charset="0"/>
              </a:rPr>
              <a:t>This model (above) is an enzyme called </a:t>
            </a:r>
            <a:r>
              <a:rPr lang="en-US" sz="1400" b="1">
                <a:solidFill>
                  <a:srgbClr val="2D00FA"/>
                </a:solidFill>
                <a:latin typeface="Arial" charset="0"/>
                <a:cs typeface="Arial" charset="0"/>
                <a:sym typeface="Arial" charset="0"/>
              </a:rPr>
              <a:t>Ribonuclease S</a:t>
            </a:r>
            <a:r>
              <a:rPr lang="en-US" sz="1400">
                <a:solidFill>
                  <a:srgbClr val="2D00FA"/>
                </a:solidFill>
                <a:latin typeface="Arial" charset="0"/>
                <a:cs typeface="Arial" charset="0"/>
                <a:sym typeface="Arial" charset="0"/>
              </a:rPr>
              <a:t>, that breaks up RNA molecules. It has three active sites (arrowed). </a:t>
            </a:r>
          </a:p>
          <a:p>
            <a:pPr algn="ctr">
              <a:lnSpc>
                <a:spcPct val="110000"/>
              </a:lnSpc>
              <a:spcBef>
                <a:spcPts val="1406"/>
              </a:spcBef>
              <a:tabLst>
                <a:tab pos="721047" algn="l"/>
              </a:tabLst>
            </a:pPr>
            <a:endParaRPr lang="en-US" sz="1400">
              <a:solidFill>
                <a:srgbClr val="2D00FA"/>
              </a:solidFill>
              <a:latin typeface="Arial" charset="0"/>
              <a:cs typeface="Arial" charset="0"/>
              <a:sym typeface="Arial" charset="0"/>
            </a:endParaRPr>
          </a:p>
        </p:txBody>
      </p:sp>
      <p:grpSp>
        <p:nvGrpSpPr>
          <p:cNvPr id="126980" name="Group 4"/>
          <p:cNvGrpSpPr>
            <a:grpSpLocks/>
          </p:cNvGrpSpPr>
          <p:nvPr/>
        </p:nvGrpSpPr>
        <p:grpSpPr bwMode="auto">
          <a:xfrm>
            <a:off x="4252764" y="2116336"/>
            <a:ext cx="4400104" cy="2000250"/>
            <a:chOff x="0" y="0"/>
            <a:chExt cx="3941" cy="1792"/>
          </a:xfrm>
        </p:grpSpPr>
        <p:sp>
          <p:nvSpPr>
            <p:cNvPr id="126981" name="Rectangle 5"/>
            <p:cNvSpPr>
              <a:spLocks/>
            </p:cNvSpPr>
            <p:nvPr/>
          </p:nvSpPr>
          <p:spPr bwMode="auto">
            <a:xfrm>
              <a:off x="1285" y="0"/>
              <a:ext cx="2656" cy="17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nSpc>
                  <a:spcPct val="120000"/>
                </a:lnSpc>
                <a:spcBef>
                  <a:spcPts val="1406"/>
                </a:spcBef>
                <a:tabLst>
                  <a:tab pos="721047" algn="l"/>
                </a:tabLst>
              </a:pPr>
              <a:r>
                <a:rPr lang="en-US" sz="1400" b="1" dirty="0">
                  <a:solidFill>
                    <a:srgbClr val="2D00FA"/>
                  </a:solidFill>
                  <a:latin typeface="Arial" charset="0"/>
                  <a:cs typeface="Arial" charset="0"/>
                  <a:sym typeface="Arial" charset="0"/>
                </a:rPr>
                <a:t>Active site:</a:t>
              </a:r>
              <a:r>
                <a:rPr lang="en-US" sz="1400" b="1" dirty="0">
                  <a:solidFill>
                    <a:srgbClr val="000000"/>
                  </a:solidFill>
                  <a:latin typeface="Arial" charset="0"/>
                  <a:cs typeface="Arial" charset="0"/>
                  <a:sym typeface="Arial" charset="0"/>
                </a:rPr>
                <a:t> </a:t>
              </a:r>
              <a:br>
                <a:rPr lang="en-US" sz="1400" b="1" dirty="0">
                  <a:solidFill>
                    <a:srgbClr val="000000"/>
                  </a:solidFill>
                  <a:latin typeface="Arial" charset="0"/>
                  <a:cs typeface="Arial" charset="0"/>
                  <a:sym typeface="Arial" charset="0"/>
                </a:rPr>
              </a:br>
              <a:r>
                <a:rPr lang="en-US" sz="1400" dirty="0">
                  <a:solidFill>
                    <a:srgbClr val="000000"/>
                  </a:solidFill>
                  <a:latin typeface="Arial" charset="0"/>
                  <a:cs typeface="Arial" charset="0"/>
                  <a:sym typeface="Arial" charset="0"/>
                </a:rPr>
                <a:t>The active site contains both binding and catalytic regions. The substrate is drawn to the enzyme’s surface and the substrate molecule(s) are positioned in a way to promote a reaction: either joining two molecules together or splitting up a larger one.</a:t>
              </a:r>
            </a:p>
            <a:p>
              <a:pPr>
                <a:lnSpc>
                  <a:spcPct val="120000"/>
                </a:lnSpc>
                <a:spcBef>
                  <a:spcPts val="1406"/>
                </a:spcBef>
                <a:tabLst>
                  <a:tab pos="721047" algn="l"/>
                </a:tabLst>
              </a:pPr>
              <a:endParaRPr lang="en-US" sz="1400" dirty="0">
                <a:solidFill>
                  <a:srgbClr val="000000"/>
                </a:solidFill>
                <a:latin typeface="Arial" charset="0"/>
                <a:cs typeface="Arial" charset="0"/>
                <a:sym typeface="Arial" charset="0"/>
              </a:endParaRPr>
            </a:p>
          </p:txBody>
        </p:sp>
        <p:sp>
          <p:nvSpPr>
            <p:cNvPr id="126982" name="Line 6"/>
            <p:cNvSpPr>
              <a:spLocks noChangeShapeType="1"/>
            </p:cNvSpPr>
            <p:nvPr/>
          </p:nvSpPr>
          <p:spPr bwMode="auto">
            <a:xfrm rot="10800000" flipH="1">
              <a:off x="0" y="824"/>
              <a:ext cx="381" cy="128"/>
            </a:xfrm>
            <a:prstGeom prst="line">
              <a:avLst/>
            </a:prstGeom>
            <a:noFill/>
            <a:ln w="38100">
              <a:solidFill>
                <a:srgbClr val="00FF18"/>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26983" name="Line 7"/>
            <p:cNvSpPr>
              <a:spLocks noChangeShapeType="1"/>
            </p:cNvSpPr>
            <p:nvPr/>
          </p:nvSpPr>
          <p:spPr bwMode="auto">
            <a:xfrm rot="10800000" flipH="1">
              <a:off x="0" y="1216"/>
              <a:ext cx="381" cy="128"/>
            </a:xfrm>
            <a:prstGeom prst="line">
              <a:avLst/>
            </a:prstGeom>
            <a:noFill/>
            <a:ln w="38100">
              <a:solidFill>
                <a:srgbClr val="00FF18"/>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26984" name="Line 8"/>
            <p:cNvSpPr>
              <a:spLocks noChangeShapeType="1"/>
            </p:cNvSpPr>
            <p:nvPr/>
          </p:nvSpPr>
          <p:spPr bwMode="auto">
            <a:xfrm rot="10800000" flipH="1">
              <a:off x="200" y="1464"/>
              <a:ext cx="381" cy="128"/>
            </a:xfrm>
            <a:prstGeom prst="line">
              <a:avLst/>
            </a:prstGeom>
            <a:noFill/>
            <a:ln w="38100">
              <a:solidFill>
                <a:srgbClr val="00FF18"/>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grpSp>
        <p:nvGrpSpPr>
          <p:cNvPr id="126985" name="Group 9"/>
          <p:cNvGrpSpPr>
            <a:grpSpLocks/>
          </p:cNvGrpSpPr>
          <p:nvPr/>
        </p:nvGrpSpPr>
        <p:grpSpPr bwMode="auto">
          <a:xfrm>
            <a:off x="428625" y="3821906"/>
            <a:ext cx="2473523" cy="1616273"/>
            <a:chOff x="0" y="0"/>
            <a:chExt cx="2216" cy="1448"/>
          </a:xfrm>
        </p:grpSpPr>
        <p:sp>
          <p:nvSpPr>
            <p:cNvPr id="126986" name="Rectangle 10"/>
            <p:cNvSpPr>
              <a:spLocks/>
            </p:cNvSpPr>
            <p:nvPr/>
          </p:nvSpPr>
          <p:spPr bwMode="auto">
            <a:xfrm>
              <a:off x="0" y="120"/>
              <a:ext cx="1880" cy="1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nSpc>
                  <a:spcPct val="120000"/>
                </a:lnSpc>
                <a:spcBef>
                  <a:spcPts val="1406"/>
                </a:spcBef>
                <a:tabLst>
                  <a:tab pos="721047" algn="l"/>
                </a:tabLst>
              </a:pPr>
              <a:r>
                <a:rPr lang="en-US" sz="1400" b="1">
                  <a:solidFill>
                    <a:srgbClr val="2D00FA"/>
                  </a:solidFill>
                  <a:latin typeface="Arial" charset="0"/>
                  <a:cs typeface="Arial" charset="0"/>
                  <a:sym typeface="Arial" charset="0"/>
                </a:rPr>
                <a:t>Enzyme molecule:</a:t>
              </a:r>
              <a:r>
                <a:rPr lang="en-US" sz="1400" b="1">
                  <a:solidFill>
                    <a:srgbClr val="000000"/>
                  </a:solidFill>
                  <a:latin typeface="Arial" charset="0"/>
                  <a:cs typeface="Arial" charset="0"/>
                  <a:sym typeface="Arial" charset="0"/>
                </a:rPr>
                <a:t> </a:t>
              </a:r>
              <a:br>
                <a:rPr lang="en-US" sz="1400" b="1">
                  <a:solidFill>
                    <a:srgbClr val="000000"/>
                  </a:solidFill>
                  <a:latin typeface="Arial" charset="0"/>
                  <a:cs typeface="Arial" charset="0"/>
                  <a:sym typeface="Arial" charset="0"/>
                </a:rPr>
              </a:br>
              <a:r>
                <a:rPr lang="en-US" sz="1400">
                  <a:solidFill>
                    <a:srgbClr val="000000"/>
                  </a:solidFill>
                  <a:latin typeface="Arial" charset="0"/>
                  <a:cs typeface="Arial" charset="0"/>
                  <a:sym typeface="Arial" charset="0"/>
                </a:rPr>
                <a:t>The complexity of the active site is what makes each enzyme so specific (i.e. precise in terms of the substrate it acts on).</a:t>
              </a:r>
            </a:p>
            <a:p>
              <a:pPr>
                <a:lnSpc>
                  <a:spcPct val="120000"/>
                </a:lnSpc>
                <a:spcBef>
                  <a:spcPts val="1406"/>
                </a:spcBef>
                <a:tabLst>
                  <a:tab pos="721047" algn="l"/>
                </a:tabLst>
              </a:pPr>
              <a:endParaRPr lang="en-US" sz="1400">
                <a:solidFill>
                  <a:srgbClr val="000000"/>
                </a:solidFill>
                <a:latin typeface="Arial" charset="0"/>
                <a:cs typeface="Arial" charset="0"/>
                <a:sym typeface="Arial" charset="0"/>
              </a:endParaRPr>
            </a:p>
          </p:txBody>
        </p:sp>
        <p:sp>
          <p:nvSpPr>
            <p:cNvPr id="126987" name="Line 11"/>
            <p:cNvSpPr>
              <a:spLocks noChangeShapeType="1"/>
            </p:cNvSpPr>
            <p:nvPr/>
          </p:nvSpPr>
          <p:spPr bwMode="auto">
            <a:xfrm rot="10800000" flipH="1">
              <a:off x="1472" y="11"/>
              <a:ext cx="709" cy="244"/>
            </a:xfrm>
            <a:prstGeom prst="line">
              <a:avLst/>
            </a:prstGeom>
            <a:noFill/>
            <a:ln w="38100">
              <a:solidFill>
                <a:srgbClr val="00FF18"/>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grpSp>
        <p:nvGrpSpPr>
          <p:cNvPr id="126988" name="Group 12"/>
          <p:cNvGrpSpPr>
            <a:grpSpLocks/>
          </p:cNvGrpSpPr>
          <p:nvPr/>
        </p:nvGrpSpPr>
        <p:grpSpPr bwMode="auto">
          <a:xfrm>
            <a:off x="668611" y="929804"/>
            <a:ext cx="4452565" cy="2186657"/>
            <a:chOff x="0" y="0"/>
            <a:chExt cx="3988" cy="1958"/>
          </a:xfrm>
        </p:grpSpPr>
        <p:sp>
          <p:nvSpPr>
            <p:cNvPr id="126989" name="Rectangle 13"/>
            <p:cNvSpPr>
              <a:spLocks/>
            </p:cNvSpPr>
            <p:nvPr/>
          </p:nvSpPr>
          <p:spPr bwMode="auto">
            <a:xfrm>
              <a:off x="0" y="286"/>
              <a:ext cx="2080" cy="10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nSpc>
                  <a:spcPct val="120000"/>
                </a:lnSpc>
                <a:tabLst>
                  <a:tab pos="721047" algn="l"/>
                </a:tabLst>
              </a:pPr>
              <a:r>
                <a:rPr lang="en-US" sz="1400" b="1" dirty="0">
                  <a:solidFill>
                    <a:srgbClr val="2D00FA"/>
                  </a:solidFill>
                  <a:latin typeface="Arial" charset="0"/>
                  <a:cs typeface="Arial" charset="0"/>
                  <a:sym typeface="Arial" charset="0"/>
                </a:rPr>
                <a:t>Substrate molecule:</a:t>
              </a:r>
              <a:endParaRPr lang="en-US" sz="1400" dirty="0">
                <a:solidFill>
                  <a:srgbClr val="000000"/>
                </a:solidFill>
                <a:latin typeface="Arial" charset="0"/>
                <a:cs typeface="Arial" charset="0"/>
                <a:sym typeface="Arial" charset="0"/>
              </a:endParaRPr>
            </a:p>
            <a:p>
              <a:pPr>
                <a:lnSpc>
                  <a:spcPct val="120000"/>
                </a:lnSpc>
                <a:tabLst>
                  <a:tab pos="721047" algn="l"/>
                </a:tabLst>
              </a:pPr>
              <a:r>
                <a:rPr lang="en-US" sz="1400" dirty="0">
                  <a:solidFill>
                    <a:srgbClr val="000000"/>
                  </a:solidFill>
                  <a:latin typeface="Arial" charset="0"/>
                  <a:cs typeface="Arial" charset="0"/>
                  <a:sym typeface="Arial" charset="0"/>
                </a:rPr>
                <a:t>Substrate molecules are the chemicals that an enzyme acts on. They are drawn into the cleft of the enzyme.</a:t>
              </a:r>
            </a:p>
            <a:p>
              <a:pPr>
                <a:lnSpc>
                  <a:spcPct val="120000"/>
                </a:lnSpc>
                <a:tabLst>
                  <a:tab pos="721047" algn="l"/>
                </a:tabLst>
              </a:pPr>
              <a:endParaRPr lang="en-US" sz="1400" dirty="0">
                <a:solidFill>
                  <a:srgbClr val="000000"/>
                </a:solidFill>
                <a:latin typeface="Arial" charset="0"/>
                <a:cs typeface="Arial" charset="0"/>
                <a:sym typeface="Arial" charset="0"/>
              </a:endParaRPr>
            </a:p>
          </p:txBody>
        </p:sp>
        <p:pic>
          <p:nvPicPr>
            <p:cNvPr id="126990"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9367484">
              <a:off x="2203" y="170"/>
              <a:ext cx="976" cy="6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26991" name="Line 15"/>
            <p:cNvSpPr>
              <a:spLocks noChangeShapeType="1"/>
            </p:cNvSpPr>
            <p:nvPr/>
          </p:nvSpPr>
          <p:spPr bwMode="auto">
            <a:xfrm>
              <a:off x="1648" y="430"/>
              <a:ext cx="732" cy="68"/>
            </a:xfrm>
            <a:prstGeom prst="line">
              <a:avLst/>
            </a:prstGeom>
            <a:noFill/>
            <a:ln w="38100">
              <a:solidFill>
                <a:srgbClr val="00FF18"/>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26992" name="AutoShape 16"/>
            <p:cNvSpPr>
              <a:spLocks/>
            </p:cNvSpPr>
            <p:nvPr/>
          </p:nvSpPr>
          <p:spPr bwMode="auto">
            <a:xfrm>
              <a:off x="3184" y="502"/>
              <a:ext cx="804" cy="1456"/>
            </a:xfrm>
            <a:custGeom>
              <a:avLst/>
              <a:gdLst/>
              <a:ahLst/>
              <a:cxnLst/>
              <a:rect l="0" t="0" r="r" b="b"/>
              <a:pathLst>
                <a:path w="19455" h="21600">
                  <a:moveTo>
                    <a:pt x="0" y="0"/>
                  </a:moveTo>
                  <a:cubicBezTo>
                    <a:pt x="0" y="0"/>
                    <a:pt x="16328" y="3019"/>
                    <a:pt x="18964" y="7477"/>
                  </a:cubicBezTo>
                  <a:cubicBezTo>
                    <a:pt x="21600" y="11935"/>
                    <a:pt x="12772" y="21600"/>
                    <a:pt x="12772" y="21600"/>
                  </a:cubicBezTo>
                </a:path>
              </a:pathLst>
            </a:custGeom>
            <a:noFill/>
            <a:ln w="63500">
              <a:solidFill>
                <a:srgbClr val="FF0017"/>
              </a:solidFill>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spTree>
    <p:extLst>
      <p:ext uri="{BB962C8B-B14F-4D97-AF65-F5344CB8AC3E}">
        <p14:creationId xmlns:p14="http://schemas.microsoft.com/office/powerpoint/2010/main" val="370122481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2698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2698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2698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269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531" y="332656"/>
            <a:ext cx="8229600" cy="1066800"/>
          </a:xfrm>
        </p:spPr>
        <p:txBody>
          <a:bodyPr/>
          <a:lstStyle/>
          <a:p>
            <a:r>
              <a:rPr lang="en-US" dirty="0">
                <a:solidFill>
                  <a:srgbClr val="0070C0"/>
                </a:solidFill>
              </a:rPr>
              <a:t>Lock and Key Model</a:t>
            </a:r>
            <a:endParaRPr lang="en-AU" dirty="0">
              <a:solidFill>
                <a:srgbClr val="0070C0"/>
              </a:solidFill>
            </a:endParaRPr>
          </a:p>
        </p:txBody>
      </p:sp>
      <p:sp>
        <p:nvSpPr>
          <p:cNvPr id="3" name="Content Placeholder 2"/>
          <p:cNvSpPr>
            <a:spLocks noGrp="1"/>
          </p:cNvSpPr>
          <p:nvPr>
            <p:ph idx="1"/>
          </p:nvPr>
        </p:nvSpPr>
        <p:spPr>
          <a:xfrm>
            <a:off x="457462" y="1555339"/>
            <a:ext cx="8229600" cy="4325112"/>
          </a:xfrm>
        </p:spPr>
        <p:txBody>
          <a:bodyPr/>
          <a:lstStyle/>
          <a:p>
            <a:r>
              <a:rPr lang="en-US" sz="2400" dirty="0">
                <a:solidFill>
                  <a:srgbClr val="002060"/>
                </a:solidFill>
                <a:latin typeface="Calibri" panose="020F0502020204030204" pitchFamily="34" charset="0"/>
                <a:cs typeface="Calibri" panose="020F0502020204030204" pitchFamily="34" charset="0"/>
              </a:rPr>
              <a:t>The </a:t>
            </a:r>
            <a:r>
              <a:rPr lang="en-US" sz="2400" b="1" dirty="0">
                <a:solidFill>
                  <a:srgbClr val="002060"/>
                </a:solidFill>
                <a:latin typeface="Calibri" panose="020F0502020204030204" pitchFamily="34" charset="0"/>
                <a:cs typeface="Calibri" panose="020F0502020204030204" pitchFamily="34" charset="0"/>
              </a:rPr>
              <a:t>lock and key model </a:t>
            </a:r>
            <a:r>
              <a:rPr lang="en-US" sz="2400" dirty="0">
                <a:solidFill>
                  <a:srgbClr val="002060"/>
                </a:solidFill>
                <a:latin typeface="Calibri" panose="020F0502020204030204" pitchFamily="34" charset="0"/>
                <a:cs typeface="Calibri" panose="020F0502020204030204" pitchFamily="34" charset="0"/>
              </a:rPr>
              <a:t>of enzyme action, proposed earlier this century, proposed that the substrate was simply drawn into a closely matching cleft on the enzyme molecule, like a lock and key. </a:t>
            </a:r>
          </a:p>
          <a:p>
            <a:endParaRPr lang="en-AU" dirty="0"/>
          </a:p>
        </p:txBody>
      </p:sp>
      <p:pic>
        <p:nvPicPr>
          <p:cNvPr id="33" name="Picture 3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9907" y="3212976"/>
            <a:ext cx="4708847" cy="3024336"/>
          </a:xfrm>
          <a:prstGeom prst="rect">
            <a:avLst/>
          </a:prstGeom>
        </p:spPr>
      </p:pic>
    </p:spTree>
    <p:extLst>
      <p:ext uri="{BB962C8B-B14F-4D97-AF65-F5344CB8AC3E}">
        <p14:creationId xmlns:p14="http://schemas.microsoft.com/office/powerpoint/2010/main" val="3161068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1" name="Rectangle 1"/>
          <p:cNvSpPr>
            <a:spLocks noGrp="1" noChangeArrowheads="1"/>
          </p:cNvSpPr>
          <p:nvPr>
            <p:ph type="title"/>
          </p:nvPr>
        </p:nvSpPr>
        <p:spPr>
          <a:xfrm>
            <a:off x="476592" y="567334"/>
            <a:ext cx="8229600" cy="1066800"/>
          </a:xfrm>
        </p:spPr>
        <p:txBody>
          <a:bodyPr/>
          <a:lstStyle/>
          <a:p>
            <a:r>
              <a:rPr lang="en-US" dirty="0">
                <a:solidFill>
                  <a:srgbClr val="0070C0"/>
                </a:solidFill>
              </a:rPr>
              <a:t>Lock and Key Model</a:t>
            </a:r>
          </a:p>
        </p:txBody>
      </p:sp>
      <p:sp>
        <p:nvSpPr>
          <p:cNvPr id="128003" name="Rectangle 3"/>
          <p:cNvSpPr>
            <a:spLocks/>
          </p:cNvSpPr>
          <p:nvPr/>
        </p:nvSpPr>
        <p:spPr bwMode="auto">
          <a:xfrm>
            <a:off x="1937742" y="4973836"/>
            <a:ext cx="6625828" cy="5447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lnSpc>
                <a:spcPct val="109000"/>
              </a:lnSpc>
              <a:tabLst>
                <a:tab pos="366104" algn="l"/>
              </a:tabLst>
            </a:pPr>
            <a:r>
              <a:rPr lang="en-US" sz="1500" b="1" dirty="0">
                <a:solidFill>
                  <a:srgbClr val="2D00FA"/>
                </a:solidFill>
                <a:latin typeface="Arial" charset="0"/>
                <a:cs typeface="Arial" charset="0"/>
                <a:sym typeface="Arial" charset="0"/>
              </a:rPr>
              <a:t>Symbolic representation of the lock and key model of enzyme action.</a:t>
            </a:r>
          </a:p>
          <a:p>
            <a:pPr marL="80364">
              <a:lnSpc>
                <a:spcPct val="109000"/>
              </a:lnSpc>
              <a:buFontTx/>
              <a:buAutoNum type="arabicPeriod"/>
              <a:tabLst>
                <a:tab pos="366104" algn="l"/>
              </a:tabLst>
            </a:pPr>
            <a:r>
              <a:rPr lang="en-US" sz="1500" dirty="0">
                <a:solidFill>
                  <a:srgbClr val="2D00FA"/>
                </a:solidFill>
                <a:latin typeface="Arial" charset="0"/>
                <a:cs typeface="Arial" charset="0"/>
                <a:sym typeface="Arial" charset="0"/>
              </a:rPr>
              <a:t> A substrate is drawn into the active sites of the enzyme. </a:t>
            </a:r>
          </a:p>
        </p:txBody>
      </p:sp>
      <p:grpSp>
        <p:nvGrpSpPr>
          <p:cNvPr id="128005" name="Group 5"/>
          <p:cNvGrpSpPr>
            <a:grpSpLocks/>
          </p:cNvGrpSpPr>
          <p:nvPr/>
        </p:nvGrpSpPr>
        <p:grpSpPr bwMode="auto">
          <a:xfrm>
            <a:off x="237753" y="2107407"/>
            <a:ext cx="2914426" cy="3307333"/>
            <a:chOff x="0" y="0"/>
            <a:chExt cx="2610" cy="2963"/>
          </a:xfrm>
        </p:grpSpPr>
        <p:pic>
          <p:nvPicPr>
            <p:cNvPr id="12800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 y="382"/>
              <a:ext cx="30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800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0" y="53"/>
              <a:ext cx="1320" cy="15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28008" name="Rectangle 8"/>
            <p:cNvSpPr>
              <a:spLocks/>
            </p:cNvSpPr>
            <p:nvPr/>
          </p:nvSpPr>
          <p:spPr bwMode="auto">
            <a:xfrm>
              <a:off x="1530" y="0"/>
              <a:ext cx="825" cy="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1500">
                  <a:solidFill>
                    <a:srgbClr val="000000"/>
                  </a:solidFill>
                  <a:latin typeface="Arial" charset="0"/>
                  <a:cs typeface="Arial" charset="0"/>
                  <a:sym typeface="Arial" charset="0"/>
                </a:rPr>
                <a:t>Substrate</a:t>
              </a:r>
            </a:p>
          </p:txBody>
        </p:sp>
        <p:sp>
          <p:nvSpPr>
            <p:cNvPr id="128009" name="AutoShape 9"/>
            <p:cNvSpPr>
              <a:spLocks/>
            </p:cNvSpPr>
            <p:nvPr/>
          </p:nvSpPr>
          <p:spPr bwMode="auto">
            <a:xfrm>
              <a:off x="1555" y="1213"/>
              <a:ext cx="416" cy="408"/>
            </a:xfrm>
            <a:custGeom>
              <a:avLst/>
              <a:gdLst/>
              <a:ahLst/>
              <a:cxnLst/>
              <a:rect l="0" t="0" r="r" b="b"/>
              <a:pathLst>
                <a:path w="16025" h="21600">
                  <a:moveTo>
                    <a:pt x="16025" y="0"/>
                  </a:moveTo>
                  <a:cubicBezTo>
                    <a:pt x="-1327" y="6514"/>
                    <a:pt x="20273" y="14678"/>
                    <a:pt x="0" y="21600"/>
                  </a:cubicBezTo>
                </a:path>
              </a:pathLst>
            </a:custGeom>
            <a:noFill/>
            <a:ln w="76200">
              <a:solidFill>
                <a:srgbClr val="FF0017"/>
              </a:solidFill>
              <a:miter lim="800000"/>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28010" name="Line 10"/>
            <p:cNvSpPr>
              <a:spLocks noChangeShapeType="1"/>
            </p:cNvSpPr>
            <p:nvPr/>
          </p:nvSpPr>
          <p:spPr bwMode="auto">
            <a:xfrm rot="10800000" flipH="1">
              <a:off x="1948" y="223"/>
              <a:ext cx="0" cy="549"/>
            </a:xfrm>
            <a:prstGeom prst="line">
              <a:avLst/>
            </a:prstGeom>
            <a:noFill/>
            <a:ln w="381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pic>
          <p:nvPicPr>
            <p:cNvPr id="128011"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24"/>
              <a:ext cx="2022" cy="17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28012" name="Rectangle 12"/>
            <p:cNvSpPr>
              <a:spLocks/>
            </p:cNvSpPr>
            <p:nvPr/>
          </p:nvSpPr>
          <p:spPr bwMode="auto">
            <a:xfrm>
              <a:off x="370" y="2752"/>
              <a:ext cx="708" cy="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1500" dirty="0">
                  <a:solidFill>
                    <a:srgbClr val="000000"/>
                  </a:solidFill>
                  <a:latin typeface="Arial" charset="0"/>
                  <a:cs typeface="Arial" charset="0"/>
                  <a:sym typeface="Arial" charset="0"/>
                </a:rPr>
                <a:t>Enzyme</a:t>
              </a:r>
            </a:p>
          </p:txBody>
        </p:sp>
        <p:sp>
          <p:nvSpPr>
            <p:cNvPr id="128013" name="Line 13"/>
            <p:cNvSpPr>
              <a:spLocks noChangeShapeType="1"/>
            </p:cNvSpPr>
            <p:nvPr/>
          </p:nvSpPr>
          <p:spPr bwMode="auto">
            <a:xfrm>
              <a:off x="756" y="2179"/>
              <a:ext cx="0" cy="549"/>
            </a:xfrm>
            <a:prstGeom prst="line">
              <a:avLst/>
            </a:prstGeom>
            <a:noFill/>
            <a:ln w="381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grpSp>
        <p:nvGrpSpPr>
          <p:cNvPr id="128014" name="Group 14"/>
          <p:cNvGrpSpPr>
            <a:grpSpLocks/>
          </p:cNvGrpSpPr>
          <p:nvPr/>
        </p:nvGrpSpPr>
        <p:grpSpPr bwMode="auto">
          <a:xfrm>
            <a:off x="3211339" y="2518172"/>
            <a:ext cx="2625328" cy="2263676"/>
            <a:chOff x="0" y="0"/>
            <a:chExt cx="2351" cy="2028"/>
          </a:xfrm>
        </p:grpSpPr>
        <p:pic>
          <p:nvPicPr>
            <p:cNvPr id="128015"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 y="0"/>
              <a:ext cx="30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8016"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56"/>
              <a:ext cx="2022" cy="17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128017"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262250">
              <a:off x="762" y="239"/>
              <a:ext cx="1347" cy="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28018" name="Line 18"/>
            <p:cNvSpPr>
              <a:spLocks noChangeShapeType="1"/>
            </p:cNvSpPr>
            <p:nvPr/>
          </p:nvSpPr>
          <p:spPr bwMode="auto">
            <a:xfrm>
              <a:off x="1303" y="1125"/>
              <a:ext cx="379" cy="2"/>
            </a:xfrm>
            <a:prstGeom prst="line">
              <a:avLst/>
            </a:prstGeom>
            <a:noFill/>
            <a:ln w="254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grpSp>
        <p:nvGrpSpPr>
          <p:cNvPr id="128019" name="Group 19"/>
          <p:cNvGrpSpPr>
            <a:grpSpLocks/>
          </p:cNvGrpSpPr>
          <p:nvPr/>
        </p:nvGrpSpPr>
        <p:grpSpPr bwMode="auto">
          <a:xfrm>
            <a:off x="5613426" y="2035969"/>
            <a:ext cx="3041674" cy="2741414"/>
            <a:chOff x="0" y="0"/>
            <a:chExt cx="2724" cy="2456"/>
          </a:xfrm>
        </p:grpSpPr>
        <p:pic>
          <p:nvPicPr>
            <p:cNvPr id="128020" name="Picture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8" y="448"/>
              <a:ext cx="30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8021" name="Picture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262250">
              <a:off x="1709" y="1465"/>
              <a:ext cx="752" cy="8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128022" name="Picture 2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rot="-2062820">
              <a:off x="1867" y="337"/>
              <a:ext cx="857" cy="6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28023" name="Rectangle 23"/>
            <p:cNvSpPr>
              <a:spLocks/>
            </p:cNvSpPr>
            <p:nvPr/>
          </p:nvSpPr>
          <p:spPr bwMode="auto">
            <a:xfrm>
              <a:off x="970" y="0"/>
              <a:ext cx="766" cy="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1500">
                  <a:solidFill>
                    <a:srgbClr val="000000"/>
                  </a:solidFill>
                  <a:latin typeface="Arial" charset="0"/>
                  <a:cs typeface="Arial" charset="0"/>
                  <a:sym typeface="Arial" charset="0"/>
                </a:rPr>
                <a:t>Products</a:t>
              </a:r>
            </a:p>
          </p:txBody>
        </p:sp>
        <p:sp>
          <p:nvSpPr>
            <p:cNvPr id="128024" name="AutoShape 24"/>
            <p:cNvSpPr>
              <a:spLocks/>
            </p:cNvSpPr>
            <p:nvPr/>
          </p:nvSpPr>
          <p:spPr bwMode="auto">
            <a:xfrm>
              <a:off x="1375" y="242"/>
              <a:ext cx="949" cy="1539"/>
            </a:xfrm>
            <a:custGeom>
              <a:avLst/>
              <a:gdLst/>
              <a:ahLst/>
              <a:cxnLst/>
              <a:rect l="0" t="0" r="r" b="b"/>
              <a:pathLst>
                <a:path w="21600" h="21600">
                  <a:moveTo>
                    <a:pt x="21600" y="3294"/>
                  </a:moveTo>
                  <a:lnTo>
                    <a:pt x="0" y="0"/>
                  </a:lnTo>
                  <a:lnTo>
                    <a:pt x="16261" y="21600"/>
                  </a:lnTo>
                </a:path>
              </a:pathLst>
            </a:custGeom>
            <a:noFill/>
            <a:ln w="38100">
              <a:solidFill>
                <a:srgbClr val="FF0017"/>
              </a:solidFill>
              <a:miter lim="800000"/>
              <a:headEnd type="oval" w="med" len="med"/>
              <a:tailEnd type="oval"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pic>
          <p:nvPicPr>
            <p:cNvPr id="128025" name="Picture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88"/>
              <a:ext cx="2022" cy="17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grpSp>
      <p:sp>
        <p:nvSpPr>
          <p:cNvPr id="128026" name="Rectangle 26"/>
          <p:cNvSpPr>
            <a:spLocks/>
          </p:cNvSpPr>
          <p:nvPr/>
        </p:nvSpPr>
        <p:spPr bwMode="auto">
          <a:xfrm>
            <a:off x="1937742" y="5554266"/>
            <a:ext cx="6625828" cy="5447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nSpc>
                <a:spcPct val="109000"/>
              </a:lnSpc>
              <a:buFontTx/>
              <a:buAutoNum type="arabicPeriod" startAt="2"/>
              <a:tabLst>
                <a:tab pos="366104" algn="l"/>
              </a:tabLst>
            </a:pPr>
            <a:r>
              <a:rPr lang="en-US" sz="1500" dirty="0">
                <a:solidFill>
                  <a:srgbClr val="2D00FA"/>
                </a:solidFill>
                <a:latin typeface="Arial" charset="0"/>
                <a:cs typeface="Arial" charset="0"/>
                <a:sym typeface="Arial" charset="0"/>
              </a:rPr>
              <a:t> The substrate shape must be compatible with the enzymes active site in</a:t>
            </a:r>
            <a:br>
              <a:rPr lang="en-US" sz="1500" dirty="0">
                <a:solidFill>
                  <a:srgbClr val="2D00FA"/>
                </a:solidFill>
                <a:latin typeface="Arial" charset="0"/>
                <a:cs typeface="Arial" charset="0"/>
                <a:sym typeface="Arial" charset="0"/>
              </a:rPr>
            </a:br>
            <a:r>
              <a:rPr lang="en-US" sz="1500" dirty="0">
                <a:solidFill>
                  <a:srgbClr val="2D00FA"/>
                </a:solidFill>
                <a:latin typeface="Arial" charset="0"/>
                <a:cs typeface="Arial" charset="0"/>
                <a:sym typeface="Arial" charset="0"/>
              </a:rPr>
              <a:t>    order to fit and be reacted upon.</a:t>
            </a:r>
          </a:p>
        </p:txBody>
      </p:sp>
      <p:sp>
        <p:nvSpPr>
          <p:cNvPr id="128027" name="Rectangle 27"/>
          <p:cNvSpPr>
            <a:spLocks/>
          </p:cNvSpPr>
          <p:nvPr/>
        </p:nvSpPr>
        <p:spPr bwMode="auto">
          <a:xfrm>
            <a:off x="1937742" y="6134695"/>
            <a:ext cx="6625828" cy="5447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nSpc>
                <a:spcPct val="109000"/>
              </a:lnSpc>
              <a:buFontTx/>
              <a:buAutoNum type="arabicPeriod" startAt="3"/>
              <a:tabLst>
                <a:tab pos="366104" algn="l"/>
              </a:tabLst>
            </a:pPr>
            <a:r>
              <a:rPr lang="en-US" sz="1500">
                <a:solidFill>
                  <a:srgbClr val="2D00FA"/>
                </a:solidFill>
                <a:latin typeface="Arial" charset="0"/>
                <a:cs typeface="Arial" charset="0"/>
                <a:sym typeface="Arial" charset="0"/>
              </a:rPr>
              <a:t> The enzyme modifies the substrate. In this instance the substrate is </a:t>
            </a:r>
            <a:br>
              <a:rPr lang="en-US" sz="1500">
                <a:solidFill>
                  <a:srgbClr val="2D00FA"/>
                </a:solidFill>
                <a:latin typeface="Arial" charset="0"/>
                <a:cs typeface="Arial" charset="0"/>
                <a:sym typeface="Arial" charset="0"/>
              </a:rPr>
            </a:br>
            <a:r>
              <a:rPr lang="en-US" sz="1500">
                <a:solidFill>
                  <a:srgbClr val="2D00FA"/>
                </a:solidFill>
                <a:latin typeface="Arial" charset="0"/>
                <a:cs typeface="Arial" charset="0"/>
                <a:sym typeface="Arial" charset="0"/>
              </a:rPr>
              <a:t>     broken down, releasing two products.</a:t>
            </a:r>
          </a:p>
        </p:txBody>
      </p:sp>
    </p:spTree>
    <p:extLst>
      <p:ext uri="{BB962C8B-B14F-4D97-AF65-F5344CB8AC3E}">
        <p14:creationId xmlns:p14="http://schemas.microsoft.com/office/powerpoint/2010/main" val="112941854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800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499"/>
                                          </p:stCondLst>
                                        </p:cTn>
                                        <p:tgtEl>
                                          <p:spTgt spid="12800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280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499"/>
                                          </p:stCondLst>
                                        </p:cTn>
                                        <p:tgtEl>
                                          <p:spTgt spid="12801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2802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499"/>
                                          </p:stCondLst>
                                        </p:cTn>
                                        <p:tgtEl>
                                          <p:spTgt spid="1280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3" grpId="0" autoUpdateAnimBg="0"/>
      <p:bldP spid="128026" grpId="0" autoUpdateAnimBg="0"/>
      <p:bldP spid="128027"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5" name="Rectangle 1"/>
          <p:cNvSpPr>
            <a:spLocks noGrp="1" noChangeArrowheads="1"/>
          </p:cNvSpPr>
          <p:nvPr>
            <p:ph type="title"/>
          </p:nvPr>
        </p:nvSpPr>
        <p:spPr>
          <a:xfrm>
            <a:off x="417018" y="581573"/>
            <a:ext cx="8229600" cy="1066800"/>
          </a:xfrm>
        </p:spPr>
        <p:txBody>
          <a:bodyPr>
            <a:normAutofit/>
          </a:bodyPr>
          <a:lstStyle/>
          <a:p>
            <a:r>
              <a:rPr lang="en-US" sz="3800" dirty="0">
                <a:solidFill>
                  <a:srgbClr val="0070C0"/>
                </a:solidFill>
              </a:rPr>
              <a:t>Induced-Fit Model</a:t>
            </a:r>
          </a:p>
        </p:txBody>
      </p:sp>
      <p:sp>
        <p:nvSpPr>
          <p:cNvPr id="129026" name="Rectangle 2"/>
          <p:cNvSpPr>
            <a:spLocks noGrp="1" noChangeArrowheads="1"/>
          </p:cNvSpPr>
          <p:nvPr>
            <p:ph type="body" idx="1"/>
          </p:nvPr>
        </p:nvSpPr>
        <p:spPr>
          <a:xfrm>
            <a:off x="336594" y="1824121"/>
            <a:ext cx="4477569" cy="4801720"/>
          </a:xfrm>
        </p:spPr>
        <p:txBody>
          <a:bodyPr>
            <a:normAutofit fontScale="85000" lnSpcReduction="20000"/>
          </a:bodyPr>
          <a:lstStyle/>
          <a:p>
            <a:r>
              <a:rPr lang="en-US" dirty="0">
                <a:solidFill>
                  <a:srgbClr val="002060"/>
                </a:solidFill>
                <a:latin typeface="Calibri" panose="020F0502020204030204" pitchFamily="34" charset="0"/>
                <a:cs typeface="Calibri" panose="020F0502020204030204" pitchFamily="34" charset="0"/>
              </a:rPr>
              <a:t>More recent studies have revealed that the process is much more likely to involve an </a:t>
            </a:r>
            <a:r>
              <a:rPr lang="en-US" b="1" dirty="0">
                <a:solidFill>
                  <a:srgbClr val="002060"/>
                </a:solidFill>
                <a:latin typeface="Calibri" panose="020F0502020204030204" pitchFamily="34" charset="0"/>
                <a:cs typeface="Calibri" panose="020F0502020204030204" pitchFamily="34" charset="0"/>
              </a:rPr>
              <a:t>induced fit</a:t>
            </a:r>
            <a:r>
              <a:rPr lang="en-US" dirty="0">
                <a:solidFill>
                  <a:srgbClr val="002060"/>
                </a:solidFill>
                <a:latin typeface="Calibri" panose="020F0502020204030204" pitchFamily="34" charset="0"/>
                <a:cs typeface="Calibri" panose="020F0502020204030204" pitchFamily="34" charset="0"/>
              </a:rPr>
              <a:t>.</a:t>
            </a:r>
          </a:p>
          <a:p>
            <a:pPr lvl="1"/>
            <a:r>
              <a:rPr lang="en-US" dirty="0">
                <a:latin typeface="Calibri" panose="020F0502020204030204" pitchFamily="34" charset="0"/>
                <a:cs typeface="Calibri" panose="020F0502020204030204" pitchFamily="34" charset="0"/>
              </a:rPr>
              <a:t>The enzyme or the reactants (substrate) change their shape slightly.</a:t>
            </a:r>
          </a:p>
          <a:p>
            <a:pPr lvl="1"/>
            <a:r>
              <a:rPr lang="en-US" dirty="0">
                <a:latin typeface="Calibri" panose="020F0502020204030204" pitchFamily="34" charset="0"/>
                <a:cs typeface="Calibri" panose="020F0502020204030204" pitchFamily="34" charset="0"/>
              </a:rPr>
              <a:t>The reactants become bound to enzymes by weak chemical bonds.</a:t>
            </a:r>
          </a:p>
          <a:p>
            <a:pPr lvl="1"/>
            <a:r>
              <a:rPr lang="en-US" dirty="0">
                <a:latin typeface="Calibri" panose="020F0502020204030204" pitchFamily="34" charset="0"/>
                <a:cs typeface="Calibri" panose="020F0502020204030204" pitchFamily="34" charset="0"/>
              </a:rPr>
              <a:t>This binding weakens bonds within the reactants themselves, allowing the reaction to proceed more readily.</a:t>
            </a:r>
          </a:p>
        </p:txBody>
      </p:sp>
      <p:grpSp>
        <p:nvGrpSpPr>
          <p:cNvPr id="129027" name="Group 3"/>
          <p:cNvGrpSpPr>
            <a:grpSpLocks/>
          </p:cNvGrpSpPr>
          <p:nvPr/>
        </p:nvGrpSpPr>
        <p:grpSpPr bwMode="auto">
          <a:xfrm>
            <a:off x="5006207" y="2652117"/>
            <a:ext cx="3798465" cy="1522512"/>
            <a:chOff x="0" y="0"/>
            <a:chExt cx="3402" cy="1364"/>
          </a:xfrm>
        </p:grpSpPr>
        <p:pic>
          <p:nvPicPr>
            <p:cNvPr id="129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4" y="96"/>
              <a:ext cx="30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9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 y="334"/>
              <a:ext cx="582" cy="5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25400" dist="12699" dir="5400000" algn="ctr" rotWithShape="0">
                      <a:schemeClr val="bg2">
                        <a:alpha val="50000"/>
                      </a:schemeClr>
                    </a:outerShdw>
                  </a:effectLst>
                </a14:hiddenEffects>
              </a:ext>
            </a:extLst>
          </p:spPr>
        </p:pic>
        <p:pic>
          <p:nvPicPr>
            <p:cNvPr id="12903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240000">
              <a:off x="616" y="211"/>
              <a:ext cx="468" cy="4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25400" dist="12699" dir="5400000" algn="ctr" rotWithShape="0">
                      <a:schemeClr val="bg2">
                        <a:alpha val="50000"/>
                      </a:schemeClr>
                    </a:outerShdw>
                  </a:effectLst>
                </a14:hiddenEffects>
              </a:ext>
            </a:extLst>
          </p:spPr>
        </p:pic>
        <p:pic>
          <p:nvPicPr>
            <p:cNvPr id="12903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 y="0"/>
              <a:ext cx="1480" cy="13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29032" name="Rectangle 8"/>
            <p:cNvSpPr>
              <a:spLocks/>
            </p:cNvSpPr>
            <p:nvPr/>
          </p:nvSpPr>
          <p:spPr bwMode="auto">
            <a:xfrm>
              <a:off x="1858" y="128"/>
              <a:ext cx="1544" cy="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400">
                  <a:solidFill>
                    <a:srgbClr val="2D00FA"/>
                  </a:solidFill>
                  <a:latin typeface="Arial" charset="0"/>
                  <a:cs typeface="Arial" charset="0"/>
                  <a:sym typeface="Arial" charset="0"/>
                </a:rPr>
                <a:t>The enzyme changes shape, forcing the substrate molecules to combine.</a:t>
              </a:r>
            </a:p>
          </p:txBody>
        </p:sp>
        <p:sp>
          <p:nvSpPr>
            <p:cNvPr id="129033" name="AutoShape 9"/>
            <p:cNvSpPr>
              <a:spLocks/>
            </p:cNvSpPr>
            <p:nvPr/>
          </p:nvSpPr>
          <p:spPr bwMode="auto">
            <a:xfrm>
              <a:off x="0" y="32"/>
              <a:ext cx="1419" cy="1332"/>
            </a:xfrm>
            <a:custGeom>
              <a:avLst/>
              <a:gdLst/>
              <a:ahLst/>
              <a:cxnLst/>
              <a:rect l="0" t="0" r="r" b="b"/>
              <a:pathLst>
                <a:path w="21486" h="21370">
                  <a:moveTo>
                    <a:pt x="10936" y="1660"/>
                  </a:moveTo>
                  <a:cubicBezTo>
                    <a:pt x="10602" y="1179"/>
                    <a:pt x="10222" y="402"/>
                    <a:pt x="9725" y="119"/>
                  </a:cubicBezTo>
                  <a:cubicBezTo>
                    <a:pt x="9228" y="-164"/>
                    <a:pt x="8655" y="119"/>
                    <a:pt x="8231" y="119"/>
                  </a:cubicBezTo>
                  <a:cubicBezTo>
                    <a:pt x="7807" y="119"/>
                    <a:pt x="7873" y="-142"/>
                    <a:pt x="7181" y="119"/>
                  </a:cubicBezTo>
                  <a:cubicBezTo>
                    <a:pt x="6489" y="381"/>
                    <a:pt x="5021" y="1210"/>
                    <a:pt x="4153" y="1660"/>
                  </a:cubicBezTo>
                  <a:cubicBezTo>
                    <a:pt x="3285" y="2109"/>
                    <a:pt x="2573" y="2311"/>
                    <a:pt x="1973" y="2815"/>
                  </a:cubicBezTo>
                  <a:cubicBezTo>
                    <a:pt x="1373" y="3319"/>
                    <a:pt x="964" y="4119"/>
                    <a:pt x="640" y="4612"/>
                  </a:cubicBezTo>
                  <a:cubicBezTo>
                    <a:pt x="316" y="5106"/>
                    <a:pt x="127" y="5310"/>
                    <a:pt x="35" y="5768"/>
                  </a:cubicBezTo>
                  <a:cubicBezTo>
                    <a:pt x="-57" y="6225"/>
                    <a:pt x="9" y="6711"/>
                    <a:pt x="111" y="7250"/>
                  </a:cubicBezTo>
                  <a:cubicBezTo>
                    <a:pt x="213" y="7789"/>
                    <a:pt x="311" y="8512"/>
                    <a:pt x="640" y="8977"/>
                  </a:cubicBezTo>
                  <a:cubicBezTo>
                    <a:pt x="970" y="9442"/>
                    <a:pt x="1497" y="9504"/>
                    <a:pt x="1973" y="9875"/>
                  </a:cubicBezTo>
                  <a:cubicBezTo>
                    <a:pt x="2448" y="10247"/>
                    <a:pt x="3120" y="10694"/>
                    <a:pt x="3489" y="11204"/>
                  </a:cubicBezTo>
                  <a:cubicBezTo>
                    <a:pt x="3858" y="11714"/>
                    <a:pt x="4026" y="12184"/>
                    <a:pt x="4122" y="12845"/>
                  </a:cubicBezTo>
                  <a:cubicBezTo>
                    <a:pt x="4218" y="13506"/>
                    <a:pt x="4111" y="14423"/>
                    <a:pt x="4052" y="15083"/>
                  </a:cubicBezTo>
                  <a:cubicBezTo>
                    <a:pt x="3993" y="15744"/>
                    <a:pt x="3746" y="16297"/>
                    <a:pt x="3770" y="16799"/>
                  </a:cubicBezTo>
                  <a:cubicBezTo>
                    <a:pt x="3795" y="17301"/>
                    <a:pt x="3825" y="17686"/>
                    <a:pt x="4193" y="17993"/>
                  </a:cubicBezTo>
                  <a:cubicBezTo>
                    <a:pt x="4561" y="18299"/>
                    <a:pt x="5227" y="18162"/>
                    <a:pt x="5741" y="18440"/>
                  </a:cubicBezTo>
                  <a:cubicBezTo>
                    <a:pt x="6255" y="18719"/>
                    <a:pt x="6471" y="19177"/>
                    <a:pt x="7219" y="19634"/>
                  </a:cubicBezTo>
                  <a:cubicBezTo>
                    <a:pt x="7967" y="20092"/>
                    <a:pt x="9410" y="20910"/>
                    <a:pt x="10209" y="21172"/>
                  </a:cubicBezTo>
                  <a:cubicBezTo>
                    <a:pt x="11008" y="21435"/>
                    <a:pt x="11138" y="21436"/>
                    <a:pt x="11905" y="21172"/>
                  </a:cubicBezTo>
                  <a:cubicBezTo>
                    <a:pt x="12672" y="20909"/>
                    <a:pt x="14143" y="20143"/>
                    <a:pt x="14691" y="19632"/>
                  </a:cubicBezTo>
                  <a:cubicBezTo>
                    <a:pt x="15239" y="19121"/>
                    <a:pt x="14622" y="18786"/>
                    <a:pt x="14933" y="18348"/>
                  </a:cubicBezTo>
                  <a:cubicBezTo>
                    <a:pt x="15244" y="17910"/>
                    <a:pt x="15491" y="17395"/>
                    <a:pt x="16437" y="17172"/>
                  </a:cubicBezTo>
                  <a:cubicBezTo>
                    <a:pt x="17384" y="16949"/>
                    <a:pt x="19442" y="17478"/>
                    <a:pt x="20384" y="17064"/>
                  </a:cubicBezTo>
                  <a:cubicBezTo>
                    <a:pt x="21325" y="16650"/>
                    <a:pt x="21187" y="15736"/>
                    <a:pt x="21353" y="15010"/>
                  </a:cubicBezTo>
                  <a:cubicBezTo>
                    <a:pt x="21519" y="14285"/>
                    <a:pt x="21543" y="13500"/>
                    <a:pt x="21353" y="12828"/>
                  </a:cubicBezTo>
                  <a:cubicBezTo>
                    <a:pt x="21162" y="12156"/>
                    <a:pt x="20828" y="11655"/>
                    <a:pt x="20263" y="11159"/>
                  </a:cubicBezTo>
                  <a:cubicBezTo>
                    <a:pt x="19697" y="10663"/>
                    <a:pt x="18663" y="10110"/>
                    <a:pt x="18056" y="9936"/>
                  </a:cubicBezTo>
                  <a:cubicBezTo>
                    <a:pt x="17449" y="9761"/>
                    <a:pt x="17179" y="9966"/>
                    <a:pt x="16789" y="10159"/>
                  </a:cubicBezTo>
                  <a:cubicBezTo>
                    <a:pt x="16400" y="10353"/>
                    <a:pt x="16144" y="10756"/>
                    <a:pt x="15804" y="11055"/>
                  </a:cubicBezTo>
                  <a:cubicBezTo>
                    <a:pt x="15464" y="11353"/>
                    <a:pt x="15133" y="11746"/>
                    <a:pt x="14749" y="11950"/>
                  </a:cubicBezTo>
                  <a:cubicBezTo>
                    <a:pt x="14364" y="12154"/>
                    <a:pt x="14026" y="12211"/>
                    <a:pt x="13552" y="12248"/>
                  </a:cubicBezTo>
                  <a:cubicBezTo>
                    <a:pt x="13079" y="12286"/>
                    <a:pt x="12400" y="12421"/>
                    <a:pt x="11934" y="12174"/>
                  </a:cubicBezTo>
                  <a:cubicBezTo>
                    <a:pt x="11468" y="11927"/>
                    <a:pt x="11235" y="11441"/>
                    <a:pt x="11019" y="10906"/>
                  </a:cubicBezTo>
                  <a:cubicBezTo>
                    <a:pt x="10802" y="10370"/>
                    <a:pt x="10868" y="9643"/>
                    <a:pt x="10667" y="9040"/>
                  </a:cubicBezTo>
                  <a:cubicBezTo>
                    <a:pt x="10466" y="8438"/>
                    <a:pt x="9795" y="7950"/>
                    <a:pt x="9822" y="7325"/>
                  </a:cubicBezTo>
                  <a:cubicBezTo>
                    <a:pt x="9850" y="6699"/>
                    <a:pt x="10479" y="6405"/>
                    <a:pt x="10808" y="5832"/>
                  </a:cubicBezTo>
                  <a:cubicBezTo>
                    <a:pt x="11137" y="5260"/>
                    <a:pt x="11635" y="4382"/>
                    <a:pt x="11793" y="3893"/>
                  </a:cubicBezTo>
                  <a:cubicBezTo>
                    <a:pt x="11951" y="3404"/>
                    <a:pt x="11869" y="3380"/>
                    <a:pt x="11723" y="2998"/>
                  </a:cubicBezTo>
                  <a:cubicBezTo>
                    <a:pt x="11576" y="2615"/>
                    <a:pt x="11270" y="2140"/>
                    <a:pt x="10936" y="1660"/>
                  </a:cubicBezTo>
                  <a:close/>
                  <a:moveTo>
                    <a:pt x="10936" y="1660"/>
                  </a:moveTo>
                </a:path>
              </a:pathLst>
            </a:custGeom>
            <a:noFill/>
            <a:ln w="50800">
              <a:solidFill>
                <a:srgbClr val="FF0017"/>
              </a:solidFill>
              <a:prstDash val="sysDot"/>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a:lstStyle/>
            <a:p>
              <a:endParaRPr lang="en-AU"/>
            </a:p>
          </p:txBody>
        </p:sp>
      </p:grpSp>
      <p:grpSp>
        <p:nvGrpSpPr>
          <p:cNvPr id="129034" name="Group 10"/>
          <p:cNvGrpSpPr>
            <a:grpSpLocks/>
          </p:cNvGrpSpPr>
          <p:nvPr/>
        </p:nvGrpSpPr>
        <p:grpSpPr bwMode="auto">
          <a:xfrm>
            <a:off x="4822031" y="208732"/>
            <a:ext cx="3839766" cy="1943323"/>
            <a:chOff x="0" y="0"/>
            <a:chExt cx="3440" cy="1741"/>
          </a:xfrm>
        </p:grpSpPr>
        <p:pic>
          <p:nvPicPr>
            <p:cNvPr id="129035"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0" y="938"/>
              <a:ext cx="30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9036"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335"/>
              <a:ext cx="1626" cy="1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sp>
          <p:nvSpPr>
            <p:cNvPr id="129037" name="Rectangle 13"/>
            <p:cNvSpPr>
              <a:spLocks/>
            </p:cNvSpPr>
            <p:nvPr/>
          </p:nvSpPr>
          <p:spPr bwMode="auto">
            <a:xfrm>
              <a:off x="2024" y="988"/>
              <a:ext cx="1416" cy="7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400">
                  <a:solidFill>
                    <a:srgbClr val="2D00FA"/>
                  </a:solidFill>
                  <a:latin typeface="Arial" charset="0"/>
                  <a:cs typeface="Arial" charset="0"/>
                  <a:sym typeface="Arial" charset="0"/>
                </a:rPr>
                <a:t>Two substrate molecules are drawn into the cleft of the enzyme.</a:t>
              </a:r>
            </a:p>
          </p:txBody>
        </p:sp>
        <p:sp>
          <p:nvSpPr>
            <p:cNvPr id="129038" name="AutoShape 14"/>
            <p:cNvSpPr>
              <a:spLocks/>
            </p:cNvSpPr>
            <p:nvPr/>
          </p:nvSpPr>
          <p:spPr bwMode="auto">
            <a:xfrm>
              <a:off x="1176" y="583"/>
              <a:ext cx="280" cy="240"/>
            </a:xfrm>
            <a:custGeom>
              <a:avLst/>
              <a:gdLst/>
              <a:ahLst/>
              <a:cxnLst/>
              <a:rect l="0" t="0" r="r" b="b"/>
              <a:pathLst>
                <a:path w="21600" h="19829">
                  <a:moveTo>
                    <a:pt x="21600" y="0"/>
                  </a:moveTo>
                  <a:cubicBezTo>
                    <a:pt x="18000" y="3304"/>
                    <a:pt x="6000" y="-1771"/>
                    <a:pt x="0" y="19829"/>
                  </a:cubicBezTo>
                </a:path>
              </a:pathLst>
            </a:custGeom>
            <a:noFill/>
            <a:ln w="50800">
              <a:solidFill>
                <a:srgbClr val="2D00FA"/>
              </a:solidFill>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29039" name="AutoShape 15"/>
            <p:cNvSpPr>
              <a:spLocks/>
            </p:cNvSpPr>
            <p:nvPr/>
          </p:nvSpPr>
          <p:spPr bwMode="auto">
            <a:xfrm rot="5136076" flipH="1">
              <a:off x="878" y="401"/>
              <a:ext cx="360" cy="248"/>
            </a:xfrm>
            <a:custGeom>
              <a:avLst/>
              <a:gdLst/>
              <a:ahLst/>
              <a:cxnLst/>
              <a:rect l="0" t="0" r="r" b="b"/>
              <a:pathLst>
                <a:path w="21600" h="19829">
                  <a:moveTo>
                    <a:pt x="21600" y="0"/>
                  </a:moveTo>
                  <a:cubicBezTo>
                    <a:pt x="18000" y="3304"/>
                    <a:pt x="6000" y="-1771"/>
                    <a:pt x="0" y="19829"/>
                  </a:cubicBezTo>
                </a:path>
              </a:pathLst>
            </a:custGeom>
            <a:noFill/>
            <a:ln w="50800">
              <a:solidFill>
                <a:srgbClr val="2D00FA"/>
              </a:solidFill>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pic>
          <p:nvPicPr>
            <p:cNvPr id="129040"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240000">
              <a:off x="998" y="15"/>
              <a:ext cx="468" cy="4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129041"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3" y="170"/>
              <a:ext cx="582" cy="5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grpSp>
      <p:grpSp>
        <p:nvGrpSpPr>
          <p:cNvPr id="129042" name="Group 18"/>
          <p:cNvGrpSpPr>
            <a:grpSpLocks/>
          </p:cNvGrpSpPr>
          <p:nvPr/>
        </p:nvGrpSpPr>
        <p:grpSpPr bwMode="auto">
          <a:xfrm>
            <a:off x="4934769" y="4137795"/>
            <a:ext cx="3869903" cy="2425526"/>
            <a:chOff x="0" y="0"/>
            <a:chExt cx="3466" cy="2172"/>
          </a:xfrm>
        </p:grpSpPr>
        <p:pic>
          <p:nvPicPr>
            <p:cNvPr id="129043" name="Picture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58" y="844"/>
              <a:ext cx="30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9044" name="Picture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 y="591"/>
              <a:ext cx="1626" cy="1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sp>
          <p:nvSpPr>
            <p:cNvPr id="129045" name="AutoShape 21"/>
            <p:cNvSpPr>
              <a:spLocks/>
            </p:cNvSpPr>
            <p:nvPr/>
          </p:nvSpPr>
          <p:spPr bwMode="auto">
            <a:xfrm>
              <a:off x="0" y="556"/>
              <a:ext cx="1596" cy="1411"/>
            </a:xfrm>
            <a:custGeom>
              <a:avLst/>
              <a:gdLst/>
              <a:ahLst/>
              <a:cxnLst/>
              <a:rect l="0" t="0" r="r" b="b"/>
              <a:pathLst>
                <a:path w="21204" h="21462">
                  <a:moveTo>
                    <a:pt x="10239" y="0"/>
                  </a:moveTo>
                  <a:cubicBezTo>
                    <a:pt x="9350" y="0"/>
                    <a:pt x="8451" y="751"/>
                    <a:pt x="7476" y="1217"/>
                  </a:cubicBezTo>
                  <a:cubicBezTo>
                    <a:pt x="6502" y="1684"/>
                    <a:pt x="5299" y="2272"/>
                    <a:pt x="4394" y="2800"/>
                  </a:cubicBezTo>
                  <a:cubicBezTo>
                    <a:pt x="3489" y="3328"/>
                    <a:pt x="2764" y="3866"/>
                    <a:pt x="2056" y="4382"/>
                  </a:cubicBezTo>
                  <a:cubicBezTo>
                    <a:pt x="1348" y="4899"/>
                    <a:pt x="495" y="5296"/>
                    <a:pt x="148" y="5896"/>
                  </a:cubicBezTo>
                  <a:cubicBezTo>
                    <a:pt x="-198" y="6496"/>
                    <a:pt x="122" y="6949"/>
                    <a:pt x="227" y="7551"/>
                  </a:cubicBezTo>
                  <a:cubicBezTo>
                    <a:pt x="332" y="8154"/>
                    <a:pt x="434" y="8960"/>
                    <a:pt x="774" y="9480"/>
                  </a:cubicBezTo>
                  <a:cubicBezTo>
                    <a:pt x="1115" y="9999"/>
                    <a:pt x="1660" y="10068"/>
                    <a:pt x="2152" y="10483"/>
                  </a:cubicBezTo>
                  <a:cubicBezTo>
                    <a:pt x="2644" y="10898"/>
                    <a:pt x="3337" y="11396"/>
                    <a:pt x="3719" y="11966"/>
                  </a:cubicBezTo>
                  <a:cubicBezTo>
                    <a:pt x="4101" y="12536"/>
                    <a:pt x="4275" y="13061"/>
                    <a:pt x="4374" y="13799"/>
                  </a:cubicBezTo>
                  <a:cubicBezTo>
                    <a:pt x="4473" y="14537"/>
                    <a:pt x="4362" y="15560"/>
                    <a:pt x="4301" y="16297"/>
                  </a:cubicBezTo>
                  <a:cubicBezTo>
                    <a:pt x="4240" y="17035"/>
                    <a:pt x="3985" y="17652"/>
                    <a:pt x="4010" y="18213"/>
                  </a:cubicBezTo>
                  <a:cubicBezTo>
                    <a:pt x="4035" y="18774"/>
                    <a:pt x="4066" y="19204"/>
                    <a:pt x="4447" y="19546"/>
                  </a:cubicBezTo>
                  <a:cubicBezTo>
                    <a:pt x="4827" y="19888"/>
                    <a:pt x="5516" y="19734"/>
                    <a:pt x="6047" y="20046"/>
                  </a:cubicBezTo>
                  <a:cubicBezTo>
                    <a:pt x="6578" y="20357"/>
                    <a:pt x="6836" y="21157"/>
                    <a:pt x="7575" y="21378"/>
                  </a:cubicBezTo>
                  <a:cubicBezTo>
                    <a:pt x="8314" y="21600"/>
                    <a:pt x="9441" y="21315"/>
                    <a:pt x="10239" y="21303"/>
                  </a:cubicBezTo>
                  <a:cubicBezTo>
                    <a:pt x="11038" y="21290"/>
                    <a:pt x="11697" y="21537"/>
                    <a:pt x="12365" y="21303"/>
                  </a:cubicBezTo>
                  <a:cubicBezTo>
                    <a:pt x="13033" y="21069"/>
                    <a:pt x="13564" y="20497"/>
                    <a:pt x="14065" y="19964"/>
                  </a:cubicBezTo>
                  <a:cubicBezTo>
                    <a:pt x="14567" y="19431"/>
                    <a:pt x="14482" y="18473"/>
                    <a:pt x="15341" y="18138"/>
                  </a:cubicBezTo>
                  <a:cubicBezTo>
                    <a:pt x="16199" y="17803"/>
                    <a:pt x="17721" y="18478"/>
                    <a:pt x="18742" y="18138"/>
                  </a:cubicBezTo>
                  <a:cubicBezTo>
                    <a:pt x="19762" y="17798"/>
                    <a:pt x="20970" y="17495"/>
                    <a:pt x="21186" y="16190"/>
                  </a:cubicBezTo>
                  <a:cubicBezTo>
                    <a:pt x="21402" y="14885"/>
                    <a:pt x="20177" y="13066"/>
                    <a:pt x="19769" y="11930"/>
                  </a:cubicBezTo>
                  <a:cubicBezTo>
                    <a:pt x="19361" y="10793"/>
                    <a:pt x="19251" y="10123"/>
                    <a:pt x="18742" y="9373"/>
                  </a:cubicBezTo>
                  <a:cubicBezTo>
                    <a:pt x="18233" y="8624"/>
                    <a:pt x="17610" y="7460"/>
                    <a:pt x="16793" y="7547"/>
                  </a:cubicBezTo>
                  <a:cubicBezTo>
                    <a:pt x="15977" y="7635"/>
                    <a:pt x="15796" y="9008"/>
                    <a:pt x="15341" y="9738"/>
                  </a:cubicBezTo>
                  <a:cubicBezTo>
                    <a:pt x="14886" y="10469"/>
                    <a:pt x="14559" y="11364"/>
                    <a:pt x="14065" y="11930"/>
                  </a:cubicBezTo>
                  <a:cubicBezTo>
                    <a:pt x="13572" y="12495"/>
                    <a:pt x="13103" y="13049"/>
                    <a:pt x="12449" y="13049"/>
                  </a:cubicBezTo>
                  <a:cubicBezTo>
                    <a:pt x="11795" y="13049"/>
                    <a:pt x="11083" y="12528"/>
                    <a:pt x="10664" y="11930"/>
                  </a:cubicBezTo>
                  <a:cubicBezTo>
                    <a:pt x="10245" y="11331"/>
                    <a:pt x="10200" y="10465"/>
                    <a:pt x="10133" y="9738"/>
                  </a:cubicBezTo>
                  <a:cubicBezTo>
                    <a:pt x="10066" y="9012"/>
                    <a:pt x="9702" y="8583"/>
                    <a:pt x="10267" y="7635"/>
                  </a:cubicBezTo>
                  <a:cubicBezTo>
                    <a:pt x="10831" y="6687"/>
                    <a:pt x="12907" y="5651"/>
                    <a:pt x="13321" y="4382"/>
                  </a:cubicBezTo>
                  <a:cubicBezTo>
                    <a:pt x="13736" y="3114"/>
                    <a:pt x="12919" y="2005"/>
                    <a:pt x="12365" y="1217"/>
                  </a:cubicBezTo>
                  <a:cubicBezTo>
                    <a:pt x="11811" y="429"/>
                    <a:pt x="11129" y="0"/>
                    <a:pt x="10239" y="0"/>
                  </a:cubicBezTo>
                  <a:close/>
                  <a:moveTo>
                    <a:pt x="10239" y="0"/>
                  </a:moveTo>
                </a:path>
              </a:pathLst>
            </a:custGeom>
            <a:noFill/>
            <a:ln w="50800">
              <a:solidFill>
                <a:srgbClr val="FF0017"/>
              </a:solidFill>
              <a:prstDash val="sysDot"/>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a:lstStyle/>
            <a:p>
              <a:endParaRPr lang="en-AU"/>
            </a:p>
          </p:txBody>
        </p:sp>
        <p:pic>
          <p:nvPicPr>
            <p:cNvPr id="129046" name="Picture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240000">
              <a:off x="1648" y="15"/>
              <a:ext cx="469" cy="4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29047" name="Rectangle 23"/>
            <p:cNvSpPr>
              <a:spLocks/>
            </p:cNvSpPr>
            <p:nvPr/>
          </p:nvSpPr>
          <p:spPr bwMode="auto">
            <a:xfrm>
              <a:off x="1922" y="892"/>
              <a:ext cx="1544" cy="1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400">
                  <a:solidFill>
                    <a:srgbClr val="2D00FA"/>
                  </a:solidFill>
                  <a:latin typeface="Arial" charset="0"/>
                  <a:cs typeface="Arial" charset="0"/>
                  <a:sym typeface="Arial" charset="0"/>
                </a:rPr>
                <a:t>The resulting end product is released by the enzyme which returns to its normal shape, ready to undergo more reactions.</a:t>
              </a:r>
            </a:p>
          </p:txBody>
        </p:sp>
        <p:sp>
          <p:nvSpPr>
            <p:cNvPr id="129048" name="AutoShape 24"/>
            <p:cNvSpPr>
              <a:spLocks/>
            </p:cNvSpPr>
            <p:nvPr/>
          </p:nvSpPr>
          <p:spPr bwMode="auto">
            <a:xfrm rot="8764212">
              <a:off x="743" y="698"/>
              <a:ext cx="909" cy="337"/>
            </a:xfrm>
            <a:custGeom>
              <a:avLst/>
              <a:gdLst/>
              <a:ahLst/>
              <a:cxnLst/>
              <a:rect l="0" t="0" r="r" b="b"/>
              <a:pathLst>
                <a:path w="21600" h="15766">
                  <a:moveTo>
                    <a:pt x="21600" y="0"/>
                  </a:moveTo>
                  <a:cubicBezTo>
                    <a:pt x="15317" y="450"/>
                    <a:pt x="10321" y="21600"/>
                    <a:pt x="0" y="14249"/>
                  </a:cubicBezTo>
                </a:path>
              </a:pathLst>
            </a:custGeom>
            <a:noFill/>
            <a:ln w="50800">
              <a:solidFill>
                <a:srgbClr val="2D00FA"/>
              </a:solidFill>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pic>
          <p:nvPicPr>
            <p:cNvPr id="129049" name="Picture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5" y="138"/>
              <a:ext cx="582" cy="5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grpSp>
    </p:spTree>
    <p:extLst>
      <p:ext uri="{BB962C8B-B14F-4D97-AF65-F5344CB8AC3E}">
        <p14:creationId xmlns:p14="http://schemas.microsoft.com/office/powerpoint/2010/main" val="209055494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902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902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499"/>
                                          </p:stCondLst>
                                        </p:cTn>
                                        <p:tgtEl>
                                          <p:spTgt spid="12903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29026">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499"/>
                                          </p:stCondLst>
                                        </p:cTn>
                                        <p:tgtEl>
                                          <p:spTgt spid="12902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29026">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499"/>
                                          </p:stCondLst>
                                        </p:cTn>
                                        <p:tgtEl>
                                          <p:spTgt spid="1290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6" grpId="0" build="p" bldLvl="5"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60648"/>
            <a:ext cx="8229600" cy="1066800"/>
          </a:xfrm>
        </p:spPr>
        <p:txBody>
          <a:bodyPr/>
          <a:lstStyle/>
          <a:p>
            <a:r>
              <a:rPr lang="en-AU" dirty="0">
                <a:solidFill>
                  <a:srgbClr val="0070C0"/>
                </a:solidFill>
              </a:rPr>
              <a:t>Lock and Key vs Induced Fit Model</a:t>
            </a:r>
          </a:p>
        </p:txBody>
      </p:sp>
      <p:sp>
        <p:nvSpPr>
          <p:cNvPr id="3" name="Content Placeholder 2"/>
          <p:cNvSpPr>
            <a:spLocks noGrp="1"/>
          </p:cNvSpPr>
          <p:nvPr>
            <p:ph idx="1"/>
          </p:nvPr>
        </p:nvSpPr>
        <p:spPr>
          <a:xfrm>
            <a:off x="467544" y="4221088"/>
            <a:ext cx="8424936" cy="2520280"/>
          </a:xfrm>
        </p:spPr>
        <p:txBody>
          <a:bodyPr>
            <a:noAutofit/>
          </a:bodyPr>
          <a:lstStyle/>
          <a:p>
            <a:r>
              <a:rPr lang="en-US" sz="1900" dirty="0">
                <a:solidFill>
                  <a:srgbClr val="002060"/>
                </a:solidFill>
                <a:latin typeface="Calibri" panose="020F0502020204030204" pitchFamily="34" charset="0"/>
                <a:cs typeface="Calibri" panose="020F0502020204030204" pitchFamily="34" charset="0"/>
              </a:rPr>
              <a:t>Lock-and-key model: The substrate is an exact fit for the enzyme active site.</a:t>
            </a:r>
          </a:p>
          <a:p>
            <a:r>
              <a:rPr lang="en-US" sz="1900" dirty="0">
                <a:solidFill>
                  <a:srgbClr val="002060"/>
                </a:solidFill>
                <a:latin typeface="Calibri" panose="020F0502020204030204" pitchFamily="34" charset="0"/>
                <a:cs typeface="Calibri" panose="020F0502020204030204" pitchFamily="34" charset="0"/>
              </a:rPr>
              <a:t>Induced-fit model of enzyme action: Bonds that form between an enzyme and its substrate can modify the shape of the enzyme so that the substrate can be fully accommodated by the enzyme.</a:t>
            </a:r>
          </a:p>
          <a:p>
            <a:pPr lvl="1"/>
            <a:r>
              <a:rPr lang="en-US" sz="1900" dirty="0">
                <a:latin typeface="Calibri" panose="020F0502020204030204" pitchFamily="34" charset="0"/>
                <a:cs typeface="Calibri" panose="020F0502020204030204" pitchFamily="34" charset="0"/>
              </a:rPr>
              <a:t>Bonds within the substrate molecule are stretched and bent by the molecular interactions with the amino acid groups that line the active site. </a:t>
            </a:r>
          </a:p>
          <a:p>
            <a:pPr lvl="1"/>
            <a:r>
              <a:rPr lang="en-US" sz="1900" dirty="0">
                <a:latin typeface="Calibri" panose="020F0502020204030204" pitchFamily="34" charset="0"/>
                <a:cs typeface="Calibri" panose="020F0502020204030204" pitchFamily="34" charset="0"/>
              </a:rPr>
              <a:t>Bond stresses on the substrate, lowering the activation energy required to kick-start the reaction.</a:t>
            </a:r>
          </a:p>
        </p:txBody>
      </p:sp>
      <p:pic>
        <p:nvPicPr>
          <p:cNvPr id="36866" name="Picture 2" descr="http://image.wikifoundry.com/image/3/er6aZUcC08e5GNqxnXiyMg128102/GW731H3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232756"/>
            <a:ext cx="6468985" cy="2808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5818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915380"/>
            <a:ext cx="8229600" cy="1066800"/>
          </a:xfrm>
        </p:spPr>
        <p:txBody>
          <a:bodyPr>
            <a:normAutofit/>
          </a:bodyPr>
          <a:lstStyle/>
          <a:p>
            <a:r>
              <a:rPr lang="en-AU" dirty="0">
                <a:solidFill>
                  <a:srgbClr val="0070C0"/>
                </a:solidFill>
              </a:rPr>
              <a:t>Enzymes</a:t>
            </a:r>
          </a:p>
        </p:txBody>
      </p:sp>
      <p:sp>
        <p:nvSpPr>
          <p:cNvPr id="3" name="Content Placeholder 2"/>
          <p:cNvSpPr>
            <a:spLocks noGrp="1"/>
          </p:cNvSpPr>
          <p:nvPr>
            <p:ph idx="1"/>
          </p:nvPr>
        </p:nvSpPr>
        <p:spPr>
          <a:xfrm>
            <a:off x="327750" y="3140968"/>
            <a:ext cx="8229600" cy="4325112"/>
          </a:xfrm>
        </p:spPr>
        <p:txBody>
          <a:bodyPr>
            <a:normAutofit/>
          </a:bodyPr>
          <a:lstStyle/>
          <a:p>
            <a:r>
              <a:rPr lang="en-US" sz="2400" dirty="0">
                <a:solidFill>
                  <a:srgbClr val="002060"/>
                </a:solidFill>
                <a:latin typeface="Calibri" panose="020F0502020204030204" pitchFamily="34" charset="0"/>
                <a:cs typeface="Calibri" panose="020F0502020204030204" pitchFamily="34" charset="0"/>
              </a:rPr>
              <a:t>Enzymes are </a:t>
            </a:r>
            <a:r>
              <a:rPr lang="en-US" sz="2400" b="1" dirty="0">
                <a:solidFill>
                  <a:srgbClr val="002060"/>
                </a:solidFill>
                <a:latin typeface="Calibri" panose="020F0502020204030204" pitchFamily="34" charset="0"/>
                <a:cs typeface="Calibri" panose="020F0502020204030204" pitchFamily="34" charset="0"/>
              </a:rPr>
              <a:t>catalysts</a:t>
            </a:r>
            <a:r>
              <a:rPr lang="en-US" sz="2400" dirty="0">
                <a:solidFill>
                  <a:srgbClr val="002060"/>
                </a:solidFill>
                <a:latin typeface="Calibri" panose="020F0502020204030204" pitchFamily="34" charset="0"/>
                <a:cs typeface="Calibri" panose="020F0502020204030204" pitchFamily="34" charset="0"/>
              </a:rPr>
              <a:t>. </a:t>
            </a:r>
          </a:p>
          <a:p>
            <a:r>
              <a:rPr lang="en-US" sz="2400" dirty="0">
                <a:solidFill>
                  <a:srgbClr val="002060"/>
                </a:solidFill>
                <a:latin typeface="Calibri" panose="020F0502020204030204" pitchFamily="34" charset="0"/>
                <a:cs typeface="Calibri" panose="020F0502020204030204" pitchFamily="34" charset="0"/>
              </a:rPr>
              <a:t>Catalysts make it easier for a reaction to take place. </a:t>
            </a:r>
          </a:p>
          <a:p>
            <a:r>
              <a:rPr lang="en-US" sz="2400" dirty="0">
                <a:solidFill>
                  <a:srgbClr val="002060"/>
                </a:solidFill>
                <a:latin typeface="Calibri" panose="020F0502020204030204" pitchFamily="34" charset="0"/>
                <a:cs typeface="Calibri" panose="020F0502020204030204" pitchFamily="34" charset="0"/>
              </a:rPr>
              <a:t>Catalysts speed up reactions by influencing the stability of bonds in the reactants. </a:t>
            </a:r>
          </a:p>
          <a:p>
            <a:r>
              <a:rPr lang="en-US" sz="2400" dirty="0">
                <a:solidFill>
                  <a:srgbClr val="002060"/>
                </a:solidFill>
                <a:latin typeface="Calibri" panose="020F0502020204030204" pitchFamily="34" charset="0"/>
                <a:cs typeface="Calibri" panose="020F0502020204030204" pitchFamily="34" charset="0"/>
              </a:rPr>
              <a:t>They may also provide an alternative reaction pathway, thus </a:t>
            </a:r>
            <a:r>
              <a:rPr lang="en-US" sz="2400" b="1" dirty="0">
                <a:solidFill>
                  <a:srgbClr val="002060"/>
                </a:solidFill>
                <a:latin typeface="Calibri" panose="020F0502020204030204" pitchFamily="34" charset="0"/>
                <a:cs typeface="Calibri" panose="020F0502020204030204" pitchFamily="34" charset="0"/>
              </a:rPr>
              <a:t>lowering the activation energy </a:t>
            </a:r>
            <a:r>
              <a:rPr lang="en-US" sz="2400" dirty="0">
                <a:solidFill>
                  <a:srgbClr val="002060"/>
                </a:solidFill>
                <a:latin typeface="Calibri" panose="020F0502020204030204" pitchFamily="34" charset="0"/>
                <a:cs typeface="Calibri" panose="020F0502020204030204" pitchFamily="34" charset="0"/>
              </a:rPr>
              <a:t>needed for a reaction to take place.</a:t>
            </a:r>
          </a:p>
        </p:txBody>
      </p:sp>
      <p:pic>
        <p:nvPicPr>
          <p:cNvPr id="35842" name="Picture 2" descr="http://njms2.njms.rutgers.edu/biochweb/education/bioweb/PreK/EnzymeActivationEnergy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9951" y="764704"/>
            <a:ext cx="3419406" cy="2520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7821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20688"/>
            <a:ext cx="8229600" cy="1066800"/>
          </a:xfrm>
        </p:spPr>
        <p:txBody>
          <a:bodyPr/>
          <a:lstStyle/>
          <a:p>
            <a:r>
              <a:rPr lang="en-AU" dirty="0">
                <a:solidFill>
                  <a:srgbClr val="0070C0"/>
                </a:solidFill>
              </a:rPr>
              <a:t>Reaction Rate</a:t>
            </a:r>
          </a:p>
        </p:txBody>
      </p:sp>
      <p:sp>
        <p:nvSpPr>
          <p:cNvPr id="3" name="Content Placeholder 2"/>
          <p:cNvSpPr>
            <a:spLocks noGrp="1"/>
          </p:cNvSpPr>
          <p:nvPr>
            <p:ph idx="1"/>
          </p:nvPr>
        </p:nvSpPr>
        <p:spPr>
          <a:xfrm>
            <a:off x="457200" y="1700808"/>
            <a:ext cx="8229600" cy="4873728"/>
          </a:xfrm>
        </p:spPr>
        <p:txBody>
          <a:bodyPr/>
          <a:lstStyle/>
          <a:p>
            <a:r>
              <a:rPr lang="en-GB" sz="2400" dirty="0">
                <a:solidFill>
                  <a:srgbClr val="002060"/>
                </a:solidFill>
                <a:latin typeface="Calibri" panose="020F0502020204030204" pitchFamily="34" charset="0"/>
                <a:cs typeface="Calibri" panose="020F0502020204030204" pitchFamily="34" charset="0"/>
              </a:rPr>
              <a:t>Chemical reactions need an initial input of energy = </a:t>
            </a:r>
            <a:r>
              <a:rPr lang="en-AU" sz="2400" b="1" dirty="0">
                <a:solidFill>
                  <a:srgbClr val="002060"/>
                </a:solidFill>
                <a:latin typeface="Calibri" panose="020F0502020204030204" pitchFamily="34" charset="0"/>
                <a:cs typeface="Calibri" panose="020F0502020204030204" pitchFamily="34" charset="0"/>
              </a:rPr>
              <a:t>the activation energy</a:t>
            </a:r>
            <a:endParaRPr lang="fr-FR" sz="2400" b="1" dirty="0">
              <a:solidFill>
                <a:srgbClr val="002060"/>
              </a:solidFill>
              <a:latin typeface="Calibri" panose="020F0502020204030204" pitchFamily="34" charset="0"/>
              <a:cs typeface="Calibri" panose="020F0502020204030204" pitchFamily="34" charset="0"/>
            </a:endParaRPr>
          </a:p>
          <a:p>
            <a:r>
              <a:rPr lang="en-GB" sz="2400" dirty="0">
                <a:solidFill>
                  <a:srgbClr val="002060"/>
                </a:solidFill>
                <a:latin typeface="Calibri" panose="020F0502020204030204" pitchFamily="34" charset="0"/>
                <a:cs typeface="Calibri" panose="020F0502020204030204" pitchFamily="34" charset="0"/>
              </a:rPr>
              <a:t>During this part of the reaction the molecules are said to be in a </a:t>
            </a:r>
            <a:r>
              <a:rPr lang="en-GB" sz="2400" b="1" dirty="0">
                <a:solidFill>
                  <a:srgbClr val="002060"/>
                </a:solidFill>
                <a:latin typeface="Calibri" panose="020F0502020204030204" pitchFamily="34" charset="0"/>
                <a:cs typeface="Calibri" panose="020F0502020204030204" pitchFamily="34" charset="0"/>
              </a:rPr>
              <a:t>transition state</a:t>
            </a:r>
            <a:r>
              <a:rPr lang="en-GB" sz="2400" dirty="0">
                <a:solidFill>
                  <a:srgbClr val="002060"/>
                </a:solidFill>
                <a:latin typeface="Calibri" panose="020F0502020204030204" pitchFamily="34" charset="0"/>
                <a:cs typeface="Calibri" panose="020F0502020204030204" pitchFamily="34" charset="0"/>
              </a:rPr>
              <a:t>.</a:t>
            </a:r>
            <a:r>
              <a:rPr lang="fr-FR" sz="2400" dirty="0">
                <a:solidFill>
                  <a:srgbClr val="002060"/>
                </a:solidFill>
                <a:latin typeface="Calibri" panose="020F0502020204030204" pitchFamily="34" charset="0"/>
                <a:cs typeface="Calibri" panose="020F0502020204030204" pitchFamily="34" charset="0"/>
              </a:rPr>
              <a:t> </a:t>
            </a:r>
          </a:p>
          <a:p>
            <a:endParaRPr lang="en-AU" dirty="0"/>
          </a:p>
        </p:txBody>
      </p:sp>
      <p:pic>
        <p:nvPicPr>
          <p:cNvPr id="4" name="Picture 3" descr="ReactionPathExoBi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3645024"/>
            <a:ext cx="4824536" cy="30448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448345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11560" y="836712"/>
            <a:ext cx="8229600" cy="1066800"/>
          </a:xfrm>
        </p:spPr>
        <p:txBody>
          <a:bodyPr/>
          <a:lstStyle/>
          <a:p>
            <a:r>
              <a:rPr lang="fr-FR" dirty="0">
                <a:solidFill>
                  <a:srgbClr val="0070C0"/>
                </a:solidFill>
              </a:rPr>
              <a:t>Reaction Rate</a:t>
            </a:r>
          </a:p>
        </p:txBody>
      </p:sp>
      <p:sp>
        <p:nvSpPr>
          <p:cNvPr id="8195" name="Rectangle 3"/>
          <p:cNvSpPr>
            <a:spLocks noGrp="1" noChangeArrowheads="1"/>
          </p:cNvSpPr>
          <p:nvPr>
            <p:ph type="body" idx="1"/>
          </p:nvPr>
        </p:nvSpPr>
        <p:spPr>
          <a:xfrm>
            <a:off x="457200" y="2132856"/>
            <a:ext cx="8229600" cy="4325112"/>
          </a:xfrm>
        </p:spPr>
        <p:txBody>
          <a:bodyPr/>
          <a:lstStyle/>
          <a:p>
            <a:r>
              <a:rPr lang="en-GB" dirty="0">
                <a:solidFill>
                  <a:srgbClr val="002060"/>
                </a:solidFill>
                <a:latin typeface="Calibri" panose="020F0502020204030204" pitchFamily="34" charset="0"/>
                <a:cs typeface="Calibri" panose="020F0502020204030204" pitchFamily="34" charset="0"/>
              </a:rPr>
              <a:t>Increasing the temperature causes molecules to move faster. </a:t>
            </a:r>
          </a:p>
          <a:p>
            <a:r>
              <a:rPr lang="en-GB" dirty="0">
                <a:solidFill>
                  <a:srgbClr val="002060"/>
                </a:solidFill>
                <a:latin typeface="Calibri" panose="020F0502020204030204" pitchFamily="34" charset="0"/>
                <a:cs typeface="Calibri" panose="020F0502020204030204" pitchFamily="34" charset="0"/>
              </a:rPr>
              <a:t>Biological systems are very sensitive to temperature changes.</a:t>
            </a:r>
            <a:endParaRPr lang="fr-FR" dirty="0">
              <a:solidFill>
                <a:srgbClr val="002060"/>
              </a:solidFill>
              <a:latin typeface="Calibri" panose="020F0502020204030204" pitchFamily="34" charset="0"/>
              <a:cs typeface="Calibri" panose="020F0502020204030204" pitchFamily="34" charset="0"/>
            </a:endParaRPr>
          </a:p>
          <a:p>
            <a:r>
              <a:rPr lang="en-GB" dirty="0">
                <a:solidFill>
                  <a:srgbClr val="002060"/>
                </a:solidFill>
                <a:latin typeface="Calibri" panose="020F0502020204030204" pitchFamily="34" charset="0"/>
                <a:cs typeface="Calibri" panose="020F0502020204030204" pitchFamily="34" charset="0"/>
              </a:rPr>
              <a:t>Enzymes increase the rate of reaction without increasing the temperature.</a:t>
            </a:r>
          </a:p>
          <a:p>
            <a:r>
              <a:rPr lang="en-GB" dirty="0">
                <a:solidFill>
                  <a:srgbClr val="002060"/>
                </a:solidFill>
                <a:latin typeface="Calibri" panose="020F0502020204030204" pitchFamily="34" charset="0"/>
                <a:cs typeface="Calibri" panose="020F0502020204030204" pitchFamily="34" charset="0"/>
              </a:rPr>
              <a:t>They do this by lowering the activation energy. </a:t>
            </a:r>
          </a:p>
          <a:p>
            <a:r>
              <a:rPr lang="en-GB" dirty="0">
                <a:solidFill>
                  <a:srgbClr val="002060"/>
                </a:solidFill>
                <a:latin typeface="Calibri" panose="020F0502020204030204" pitchFamily="34" charset="0"/>
                <a:cs typeface="Calibri" panose="020F0502020204030204" pitchFamily="34" charset="0"/>
              </a:rPr>
              <a:t>They create a new reaction pathway - “a short cut”.</a:t>
            </a:r>
            <a:r>
              <a:rPr lang="fr-FR" dirty="0">
                <a:solidFill>
                  <a:srgbClr val="002060"/>
                </a:solidFill>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8447207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30049" name="Group 1"/>
          <p:cNvGrpSpPr>
            <a:grpSpLocks/>
          </p:cNvGrpSpPr>
          <p:nvPr/>
        </p:nvGrpSpPr>
        <p:grpSpPr bwMode="auto">
          <a:xfrm>
            <a:off x="1830586" y="2821781"/>
            <a:ext cx="6188273" cy="3098602"/>
            <a:chOff x="0" y="0"/>
            <a:chExt cx="5544" cy="2776"/>
          </a:xfrm>
        </p:grpSpPr>
        <p:pic>
          <p:nvPicPr>
            <p:cNvPr id="130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4"/>
              <a:ext cx="4536" cy="2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Lst>
          </p:spPr>
        </p:pic>
        <p:sp>
          <p:nvSpPr>
            <p:cNvPr id="130051" name="Rectangle 3"/>
            <p:cNvSpPr>
              <a:spLocks/>
            </p:cNvSpPr>
            <p:nvPr/>
          </p:nvSpPr>
          <p:spPr bwMode="auto">
            <a:xfrm>
              <a:off x="152" y="768"/>
              <a:ext cx="7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80364">
                <a:tabLst>
                  <a:tab pos="366104" algn="l"/>
                </a:tabLst>
              </a:pPr>
              <a:r>
                <a:rPr lang="en-US" sz="1400" b="1">
                  <a:solidFill>
                    <a:srgbClr val="000000"/>
                  </a:solidFill>
                  <a:latin typeface="Arial" charset="0"/>
                  <a:cs typeface="Arial" charset="0"/>
                  <a:sym typeface="Arial" charset="0"/>
                </a:rPr>
                <a:t>Reactant</a:t>
              </a:r>
            </a:p>
          </p:txBody>
        </p:sp>
        <p:sp>
          <p:nvSpPr>
            <p:cNvPr id="130052" name="Rectangle 4"/>
            <p:cNvSpPr>
              <a:spLocks/>
            </p:cNvSpPr>
            <p:nvPr/>
          </p:nvSpPr>
          <p:spPr bwMode="auto">
            <a:xfrm>
              <a:off x="3504" y="1840"/>
              <a:ext cx="6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80364">
                <a:tabLst>
                  <a:tab pos="366104" algn="l"/>
                </a:tabLst>
              </a:pPr>
              <a:r>
                <a:rPr lang="en-US" sz="1400" b="1">
                  <a:solidFill>
                    <a:srgbClr val="000000"/>
                  </a:solidFill>
                  <a:latin typeface="Arial" charset="0"/>
                  <a:cs typeface="Arial" charset="0"/>
                  <a:sym typeface="Arial" charset="0"/>
                </a:rPr>
                <a:t>Product</a:t>
              </a:r>
            </a:p>
          </p:txBody>
        </p:sp>
        <p:sp>
          <p:nvSpPr>
            <p:cNvPr id="130053" name="Rectangle 5"/>
            <p:cNvSpPr>
              <a:spLocks/>
            </p:cNvSpPr>
            <p:nvPr/>
          </p:nvSpPr>
          <p:spPr bwMode="auto">
            <a:xfrm>
              <a:off x="3048" y="0"/>
              <a:ext cx="2496"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tabLst>
                  <a:tab pos="366104" algn="l"/>
                </a:tabLst>
              </a:pPr>
              <a:r>
                <a:rPr lang="en-US" sz="1400" b="1" dirty="0">
                  <a:solidFill>
                    <a:srgbClr val="002060"/>
                  </a:solidFill>
                  <a:latin typeface="Arial" charset="0"/>
                  <a:cs typeface="Arial" charset="0"/>
                  <a:sym typeface="Arial" charset="0"/>
                </a:rPr>
                <a:t>Without enzyme</a:t>
              </a:r>
              <a:r>
                <a:rPr lang="en-US" sz="1400" dirty="0">
                  <a:solidFill>
                    <a:srgbClr val="002060"/>
                  </a:solidFill>
                  <a:latin typeface="Arial" charset="0"/>
                  <a:cs typeface="Arial" charset="0"/>
                  <a:sym typeface="Arial" charset="0"/>
                </a:rPr>
                <a:t>: The activation energy required is high.</a:t>
              </a:r>
            </a:p>
          </p:txBody>
        </p:sp>
        <p:sp>
          <p:nvSpPr>
            <p:cNvPr id="130054" name="Line 6"/>
            <p:cNvSpPr>
              <a:spLocks noChangeShapeType="1"/>
            </p:cNvSpPr>
            <p:nvPr/>
          </p:nvSpPr>
          <p:spPr bwMode="auto">
            <a:xfrm>
              <a:off x="1979" y="209"/>
              <a:ext cx="1085" cy="0"/>
            </a:xfrm>
            <a:prstGeom prst="line">
              <a:avLst/>
            </a:prstGeom>
            <a:noFill/>
            <a:ln w="38100">
              <a:solidFill>
                <a:srgbClr val="FF0017"/>
              </a:solidFill>
              <a:round/>
              <a:headEnd type="oval" w="med" len="med"/>
              <a:tailEnd/>
            </a:ln>
            <a:extLst>
              <a:ext uri="{909E8E84-426E-40DD-AFC4-6F175D3DCCD1}">
                <a14:hiddenFill xmlns:a14="http://schemas.microsoft.com/office/drawing/2010/main">
                  <a:noFill/>
                </a14:hiddenFill>
              </a:ext>
            </a:extLst>
          </p:spPr>
          <p:txBody>
            <a:bodyPr/>
            <a:lstStyle/>
            <a:p>
              <a:endParaRPr lang="en-AU"/>
            </a:p>
          </p:txBody>
        </p:sp>
      </p:grpSp>
      <p:grpSp>
        <p:nvGrpSpPr>
          <p:cNvPr id="130055" name="Group 7"/>
          <p:cNvGrpSpPr>
            <a:grpSpLocks/>
          </p:cNvGrpSpPr>
          <p:nvPr/>
        </p:nvGrpSpPr>
        <p:grpSpPr bwMode="auto">
          <a:xfrm>
            <a:off x="1857375" y="3393281"/>
            <a:ext cx="5902523" cy="2571750"/>
            <a:chOff x="0" y="0"/>
            <a:chExt cx="5288" cy="2304"/>
          </a:xfrm>
        </p:grpSpPr>
        <p:pic>
          <p:nvPicPr>
            <p:cNvPr id="13005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4536" cy="2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Lst>
          </p:spPr>
        </p:pic>
        <p:sp>
          <p:nvSpPr>
            <p:cNvPr id="130057" name="Rectangle 9"/>
            <p:cNvSpPr>
              <a:spLocks/>
            </p:cNvSpPr>
            <p:nvPr/>
          </p:nvSpPr>
          <p:spPr bwMode="auto">
            <a:xfrm>
              <a:off x="3056" y="280"/>
              <a:ext cx="2232"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tabLst>
                  <a:tab pos="366104" algn="l"/>
                </a:tabLst>
              </a:pPr>
              <a:r>
                <a:rPr lang="en-US" sz="1400" b="1" dirty="0">
                  <a:solidFill>
                    <a:srgbClr val="002060"/>
                  </a:solidFill>
                  <a:latin typeface="Arial" charset="0"/>
                  <a:cs typeface="Arial" charset="0"/>
                  <a:sym typeface="Arial" charset="0"/>
                </a:rPr>
                <a:t>With enzyme</a:t>
              </a:r>
              <a:r>
                <a:rPr lang="en-US" sz="1400" dirty="0">
                  <a:solidFill>
                    <a:srgbClr val="002060"/>
                  </a:solidFill>
                  <a:latin typeface="Arial" charset="0"/>
                  <a:cs typeface="Arial" charset="0"/>
                  <a:sym typeface="Arial" charset="0"/>
                </a:rPr>
                <a:t>: The activation energy required is lower.</a:t>
              </a:r>
            </a:p>
          </p:txBody>
        </p:sp>
        <p:sp>
          <p:nvSpPr>
            <p:cNvPr id="130058" name="Line 10"/>
            <p:cNvSpPr>
              <a:spLocks noChangeShapeType="1"/>
            </p:cNvSpPr>
            <p:nvPr/>
          </p:nvSpPr>
          <p:spPr bwMode="auto">
            <a:xfrm>
              <a:off x="1987" y="489"/>
              <a:ext cx="1085" cy="0"/>
            </a:xfrm>
            <a:prstGeom prst="line">
              <a:avLst/>
            </a:prstGeom>
            <a:noFill/>
            <a:ln w="38100">
              <a:solidFill>
                <a:srgbClr val="FF0017"/>
              </a:solidFill>
              <a:round/>
              <a:headEnd type="oval" w="med" len="med"/>
              <a:tailEnd/>
            </a:ln>
            <a:extLst>
              <a:ext uri="{909E8E84-426E-40DD-AFC4-6F175D3DCCD1}">
                <a14:hiddenFill xmlns:a14="http://schemas.microsoft.com/office/drawing/2010/main">
                  <a:noFill/>
                </a14:hiddenFill>
              </a:ext>
            </a:extLst>
          </p:spPr>
          <p:txBody>
            <a:bodyPr/>
            <a:lstStyle/>
            <a:p>
              <a:endParaRPr lang="en-AU"/>
            </a:p>
          </p:txBody>
        </p:sp>
      </p:grpSp>
      <p:sp>
        <p:nvSpPr>
          <p:cNvPr id="130059" name="Rectangle 11"/>
          <p:cNvSpPr>
            <a:spLocks noGrp="1" noChangeArrowheads="1"/>
          </p:cNvSpPr>
          <p:nvPr>
            <p:ph type="title"/>
          </p:nvPr>
        </p:nvSpPr>
        <p:spPr>
          <a:xfrm>
            <a:off x="485739" y="548680"/>
            <a:ext cx="8229600" cy="1066800"/>
          </a:xfrm>
        </p:spPr>
        <p:txBody>
          <a:bodyPr/>
          <a:lstStyle/>
          <a:p>
            <a:r>
              <a:rPr lang="en-US" dirty="0">
                <a:solidFill>
                  <a:srgbClr val="0070C0"/>
                </a:solidFill>
              </a:rPr>
              <a:t>Activation Energy</a:t>
            </a:r>
          </a:p>
        </p:txBody>
      </p:sp>
      <p:sp>
        <p:nvSpPr>
          <p:cNvPr id="5" name="Content Placeholder 4"/>
          <p:cNvSpPr>
            <a:spLocks noGrp="1"/>
          </p:cNvSpPr>
          <p:nvPr>
            <p:ph idx="1"/>
          </p:nvPr>
        </p:nvSpPr>
        <p:spPr>
          <a:xfrm>
            <a:off x="457200" y="1628800"/>
            <a:ext cx="8229600" cy="864096"/>
          </a:xfrm>
        </p:spPr>
        <p:txBody>
          <a:bodyPr>
            <a:normAutofit fontScale="92500" lnSpcReduction="10000"/>
          </a:bodyPr>
          <a:lstStyle/>
          <a:p>
            <a:r>
              <a:rPr lang="en-GB" dirty="0">
                <a:solidFill>
                  <a:srgbClr val="002060"/>
                </a:solidFill>
                <a:latin typeface="Calibri" panose="020F0502020204030204" pitchFamily="34" charset="0"/>
                <a:cs typeface="Calibri" panose="020F0502020204030204" pitchFamily="34" charset="0"/>
              </a:rPr>
              <a:t>Enzyme-controlled reactions proceed 108 to 1011 times faster than corresponding non-enzymic reactions.</a:t>
            </a:r>
            <a:endParaRPr lang="fr-FR" dirty="0">
              <a:solidFill>
                <a:srgbClr val="002060"/>
              </a:solidFill>
              <a:latin typeface="Calibri" panose="020F0502020204030204" pitchFamily="34" charset="0"/>
              <a:cs typeface="Calibri" panose="020F0502020204030204" pitchFamily="34" charset="0"/>
            </a:endParaRPr>
          </a:p>
          <a:p>
            <a:endParaRPr lang="en-AU" dirty="0"/>
          </a:p>
        </p:txBody>
      </p:sp>
      <p:grpSp>
        <p:nvGrpSpPr>
          <p:cNvPr id="130061" name="Group 13"/>
          <p:cNvGrpSpPr>
            <a:grpSpLocks/>
          </p:cNvGrpSpPr>
          <p:nvPr/>
        </p:nvGrpSpPr>
        <p:grpSpPr bwMode="auto">
          <a:xfrm>
            <a:off x="539130" y="2812852"/>
            <a:ext cx="7157145" cy="3679031"/>
            <a:chOff x="0" y="0"/>
            <a:chExt cx="6411" cy="3296"/>
          </a:xfrm>
        </p:grpSpPr>
        <p:grpSp>
          <p:nvGrpSpPr>
            <p:cNvPr id="130062" name="Group 14"/>
            <p:cNvGrpSpPr>
              <a:grpSpLocks/>
            </p:cNvGrpSpPr>
            <p:nvPr/>
          </p:nvGrpSpPr>
          <p:grpSpPr bwMode="auto">
            <a:xfrm>
              <a:off x="1212" y="32"/>
              <a:ext cx="4845" cy="2746"/>
              <a:chOff x="0" y="0"/>
              <a:chExt cx="4845" cy="2746"/>
            </a:xfrm>
          </p:grpSpPr>
          <p:sp>
            <p:nvSpPr>
              <p:cNvPr id="130063" name="Line 15"/>
              <p:cNvSpPr>
                <a:spLocks noChangeShapeType="1"/>
              </p:cNvSpPr>
              <p:nvPr/>
            </p:nvSpPr>
            <p:spPr bwMode="auto">
              <a:xfrm>
                <a:off x="0" y="0"/>
                <a:ext cx="13" cy="2733"/>
              </a:xfrm>
              <a:prstGeom prst="line">
                <a:avLst/>
              </a:prstGeom>
              <a:noFill/>
              <a:ln w="76200">
                <a:solidFill>
                  <a:srgbClr val="000000"/>
                </a:solidFill>
                <a:round/>
                <a:headEnd/>
                <a:tailEnd/>
              </a:ln>
              <a:extLst>
                <a:ext uri="{909E8E84-426E-40DD-AFC4-6F175D3DCCD1}">
                  <a14:hiddenFill xmlns:a14="http://schemas.microsoft.com/office/drawing/2010/main">
                    <a:noFill/>
                  </a14:hiddenFill>
                </a:ext>
              </a:extLst>
            </p:spPr>
            <p:txBody>
              <a:bodyPr/>
              <a:lstStyle/>
              <a:p>
                <a:endParaRPr lang="en-AU"/>
              </a:p>
            </p:txBody>
          </p:sp>
          <p:sp>
            <p:nvSpPr>
              <p:cNvPr id="130064" name="Line 16"/>
              <p:cNvSpPr>
                <a:spLocks noChangeShapeType="1"/>
              </p:cNvSpPr>
              <p:nvPr/>
            </p:nvSpPr>
            <p:spPr bwMode="auto">
              <a:xfrm>
                <a:off x="7" y="2726"/>
                <a:ext cx="4838" cy="20"/>
              </a:xfrm>
              <a:prstGeom prst="line">
                <a:avLst/>
              </a:prstGeom>
              <a:noFill/>
              <a:ln w="76200">
                <a:solidFill>
                  <a:srgbClr val="000000"/>
                </a:solidFill>
                <a:round/>
                <a:headEnd/>
                <a:tailEnd/>
              </a:ln>
              <a:extLst>
                <a:ext uri="{909E8E84-426E-40DD-AFC4-6F175D3DCCD1}">
                  <a14:hiddenFill xmlns:a14="http://schemas.microsoft.com/office/drawing/2010/main">
                    <a:noFill/>
                  </a14:hiddenFill>
                </a:ext>
              </a:extLst>
            </p:spPr>
            <p:txBody>
              <a:bodyPr/>
              <a:lstStyle/>
              <a:p>
                <a:endParaRPr lang="en-AU"/>
              </a:p>
            </p:txBody>
          </p:sp>
        </p:grpSp>
        <p:grpSp>
          <p:nvGrpSpPr>
            <p:cNvPr id="130065" name="Group 17"/>
            <p:cNvGrpSpPr>
              <a:grpSpLocks/>
            </p:cNvGrpSpPr>
            <p:nvPr/>
          </p:nvGrpSpPr>
          <p:grpSpPr bwMode="auto">
            <a:xfrm>
              <a:off x="636" y="0"/>
              <a:ext cx="427" cy="2792"/>
              <a:chOff x="0" y="0"/>
              <a:chExt cx="427" cy="2792"/>
            </a:xfrm>
          </p:grpSpPr>
          <p:sp>
            <p:nvSpPr>
              <p:cNvPr id="130066" name="Line 18"/>
              <p:cNvSpPr>
                <a:spLocks noChangeShapeType="1"/>
              </p:cNvSpPr>
              <p:nvPr/>
            </p:nvSpPr>
            <p:spPr bwMode="auto">
              <a:xfrm flipH="1">
                <a:off x="240" y="256"/>
                <a:ext cx="8" cy="2317"/>
              </a:xfrm>
              <a:prstGeom prst="line">
                <a:avLst/>
              </a:prstGeom>
              <a:noFill/>
              <a:ln w="101600">
                <a:solidFill>
                  <a:srgbClr val="FF0017"/>
                </a:solidFill>
                <a:round/>
                <a:headEnd type="stealth" w="med" len="med"/>
                <a:tailEnd/>
              </a:ln>
              <a:extLst>
                <a:ext uri="{909E8E84-426E-40DD-AFC4-6F175D3DCCD1}">
                  <a14:hiddenFill xmlns:a14="http://schemas.microsoft.com/office/drawing/2010/main">
                    <a:noFill/>
                  </a14:hiddenFill>
                </a:ext>
              </a:extLst>
            </p:spPr>
            <p:txBody>
              <a:bodyPr/>
              <a:lstStyle/>
              <a:p>
                <a:endParaRPr lang="en-AU"/>
              </a:p>
            </p:txBody>
          </p:sp>
          <p:sp>
            <p:nvSpPr>
              <p:cNvPr id="130067" name="Rectangle 19"/>
              <p:cNvSpPr>
                <a:spLocks/>
              </p:cNvSpPr>
              <p:nvPr/>
            </p:nvSpPr>
            <p:spPr bwMode="auto">
              <a:xfrm>
                <a:off x="0" y="0"/>
                <a:ext cx="42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80364">
                  <a:tabLst>
                    <a:tab pos="366104" algn="l"/>
                  </a:tabLst>
                </a:pPr>
                <a:r>
                  <a:rPr lang="en-US" sz="1400" b="1">
                    <a:solidFill>
                      <a:srgbClr val="000000"/>
                    </a:solidFill>
                    <a:latin typeface="Arial" charset="0"/>
                    <a:cs typeface="Arial" charset="0"/>
                    <a:sym typeface="Arial" charset="0"/>
                  </a:rPr>
                  <a:t>High</a:t>
                </a:r>
              </a:p>
            </p:txBody>
          </p:sp>
          <p:sp>
            <p:nvSpPr>
              <p:cNvPr id="130068" name="Rectangle 20"/>
              <p:cNvSpPr>
                <a:spLocks/>
              </p:cNvSpPr>
              <p:nvPr/>
            </p:nvSpPr>
            <p:spPr bwMode="auto">
              <a:xfrm>
                <a:off x="16" y="2600"/>
                <a:ext cx="3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80364">
                  <a:tabLst>
                    <a:tab pos="366104" algn="l"/>
                  </a:tabLst>
                </a:pPr>
                <a:r>
                  <a:rPr lang="en-US" sz="1400" b="1">
                    <a:solidFill>
                      <a:srgbClr val="000000"/>
                    </a:solidFill>
                    <a:latin typeface="Arial" charset="0"/>
                    <a:cs typeface="Arial" charset="0"/>
                    <a:sym typeface="Arial" charset="0"/>
                  </a:rPr>
                  <a:t>Low</a:t>
                </a:r>
              </a:p>
            </p:txBody>
          </p:sp>
        </p:grpSp>
        <p:grpSp>
          <p:nvGrpSpPr>
            <p:cNvPr id="130069" name="Group 21"/>
            <p:cNvGrpSpPr>
              <a:grpSpLocks/>
            </p:cNvGrpSpPr>
            <p:nvPr/>
          </p:nvGrpSpPr>
          <p:grpSpPr bwMode="auto">
            <a:xfrm>
              <a:off x="1204" y="2840"/>
              <a:ext cx="5207" cy="192"/>
              <a:chOff x="0" y="0"/>
              <a:chExt cx="5207" cy="192"/>
            </a:xfrm>
          </p:grpSpPr>
          <p:sp>
            <p:nvSpPr>
              <p:cNvPr id="130070" name="Line 22"/>
              <p:cNvSpPr>
                <a:spLocks noChangeShapeType="1"/>
              </p:cNvSpPr>
              <p:nvPr/>
            </p:nvSpPr>
            <p:spPr bwMode="auto">
              <a:xfrm flipH="1">
                <a:off x="565" y="121"/>
                <a:ext cx="3904" cy="4"/>
              </a:xfrm>
              <a:prstGeom prst="line">
                <a:avLst/>
              </a:prstGeom>
              <a:noFill/>
              <a:ln w="101600">
                <a:solidFill>
                  <a:srgbClr val="FF0017"/>
                </a:solidFill>
                <a:round/>
                <a:headEnd type="stealth" w="med" len="med"/>
                <a:tailEnd/>
              </a:ln>
              <a:extLst>
                <a:ext uri="{909E8E84-426E-40DD-AFC4-6F175D3DCCD1}">
                  <a14:hiddenFill xmlns:a14="http://schemas.microsoft.com/office/drawing/2010/main">
                    <a:noFill/>
                  </a14:hiddenFill>
                </a:ext>
              </a:extLst>
            </p:spPr>
            <p:txBody>
              <a:bodyPr/>
              <a:lstStyle/>
              <a:p>
                <a:endParaRPr lang="en-AU"/>
              </a:p>
            </p:txBody>
          </p:sp>
          <p:sp>
            <p:nvSpPr>
              <p:cNvPr id="130071" name="Rectangle 23"/>
              <p:cNvSpPr>
                <a:spLocks/>
              </p:cNvSpPr>
              <p:nvPr/>
            </p:nvSpPr>
            <p:spPr bwMode="auto">
              <a:xfrm>
                <a:off x="0" y="0"/>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80364">
                  <a:tabLst>
                    <a:tab pos="366104" algn="l"/>
                  </a:tabLst>
                </a:pPr>
                <a:r>
                  <a:rPr lang="en-US" sz="1400" b="1">
                    <a:solidFill>
                      <a:srgbClr val="000000"/>
                    </a:solidFill>
                    <a:latin typeface="Arial" charset="0"/>
                    <a:cs typeface="Arial" charset="0"/>
                    <a:sym typeface="Arial" charset="0"/>
                  </a:rPr>
                  <a:t>Start</a:t>
                </a:r>
              </a:p>
            </p:txBody>
          </p:sp>
          <p:sp>
            <p:nvSpPr>
              <p:cNvPr id="130072" name="Rectangle 24"/>
              <p:cNvSpPr>
                <a:spLocks/>
              </p:cNvSpPr>
              <p:nvPr/>
            </p:nvSpPr>
            <p:spPr bwMode="auto">
              <a:xfrm>
                <a:off x="4664" y="0"/>
                <a:ext cx="54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80364">
                  <a:tabLst>
                    <a:tab pos="366104" algn="l"/>
                  </a:tabLst>
                </a:pPr>
                <a:r>
                  <a:rPr lang="en-US" sz="1400" b="1">
                    <a:solidFill>
                      <a:srgbClr val="000000"/>
                    </a:solidFill>
                    <a:latin typeface="Arial" charset="0"/>
                    <a:cs typeface="Arial" charset="0"/>
                    <a:sym typeface="Arial" charset="0"/>
                  </a:rPr>
                  <a:t>Finish</a:t>
                </a:r>
              </a:p>
            </p:txBody>
          </p:sp>
        </p:grpSp>
        <p:sp>
          <p:nvSpPr>
            <p:cNvPr id="130073" name="Rectangle 25"/>
            <p:cNvSpPr>
              <a:spLocks/>
            </p:cNvSpPr>
            <p:nvPr/>
          </p:nvSpPr>
          <p:spPr bwMode="auto">
            <a:xfrm>
              <a:off x="2756" y="3104"/>
              <a:ext cx="149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80364">
                <a:tabLst>
                  <a:tab pos="366104" algn="l"/>
                </a:tabLst>
              </a:pPr>
              <a:r>
                <a:rPr lang="en-US" sz="1400">
                  <a:solidFill>
                    <a:srgbClr val="000000"/>
                  </a:solidFill>
                  <a:latin typeface="Arial" charset="0"/>
                  <a:cs typeface="Arial" charset="0"/>
                  <a:sym typeface="Arial" charset="0"/>
                </a:rPr>
                <a:t>Direction of reaction</a:t>
              </a:r>
            </a:p>
          </p:txBody>
        </p:sp>
        <p:sp>
          <p:nvSpPr>
            <p:cNvPr id="130074" name="Rectangle 26"/>
            <p:cNvSpPr>
              <a:spLocks/>
            </p:cNvSpPr>
            <p:nvPr/>
          </p:nvSpPr>
          <p:spPr bwMode="auto">
            <a:xfrm rot="-5400000">
              <a:off x="-808" y="1203"/>
              <a:ext cx="2039"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lgn="ctr">
                <a:tabLst>
                  <a:tab pos="366104" algn="l"/>
                </a:tabLst>
              </a:pPr>
              <a:r>
                <a:rPr lang="en-US" sz="1400">
                  <a:solidFill>
                    <a:srgbClr val="000000"/>
                  </a:solidFill>
                  <a:latin typeface="Arial" charset="0"/>
                  <a:cs typeface="Arial" charset="0"/>
                  <a:sym typeface="Arial" charset="0"/>
                </a:rPr>
                <a:t>Amount of energy stored in the chemicals</a:t>
              </a:r>
            </a:p>
          </p:txBody>
        </p:sp>
      </p:grpSp>
      <p:grpSp>
        <p:nvGrpSpPr>
          <p:cNvPr id="130075" name="Group 27"/>
          <p:cNvGrpSpPr>
            <a:grpSpLocks/>
          </p:cNvGrpSpPr>
          <p:nvPr/>
        </p:nvGrpSpPr>
        <p:grpSpPr bwMode="auto">
          <a:xfrm>
            <a:off x="1964531" y="4045148"/>
            <a:ext cx="4787429" cy="1428750"/>
            <a:chOff x="0" y="0"/>
            <a:chExt cx="4289" cy="1280"/>
          </a:xfrm>
        </p:grpSpPr>
        <p:sp>
          <p:nvSpPr>
            <p:cNvPr id="130076" name="Rectangle 28"/>
            <p:cNvSpPr>
              <a:spLocks/>
            </p:cNvSpPr>
            <p:nvPr/>
          </p:nvSpPr>
          <p:spPr bwMode="auto">
            <a:xfrm>
              <a:off x="3328" y="1088"/>
              <a:ext cx="96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80364">
                <a:tabLst>
                  <a:tab pos="366104" algn="l"/>
                </a:tabLst>
              </a:pPr>
              <a:r>
                <a:rPr lang="en-US" sz="1400" b="1">
                  <a:solidFill>
                    <a:srgbClr val="FFFFFF"/>
                  </a:solidFill>
                  <a:latin typeface="Arial" charset="0"/>
                  <a:cs typeface="Arial" charset="0"/>
                  <a:sym typeface="Arial" charset="0"/>
                </a:rPr>
                <a:t>Low energy</a:t>
              </a:r>
            </a:p>
          </p:txBody>
        </p:sp>
        <p:sp>
          <p:nvSpPr>
            <p:cNvPr id="130077" name="Rectangle 29"/>
            <p:cNvSpPr>
              <a:spLocks/>
            </p:cNvSpPr>
            <p:nvPr/>
          </p:nvSpPr>
          <p:spPr bwMode="auto">
            <a:xfrm>
              <a:off x="0" y="0"/>
              <a:ext cx="9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80364">
                <a:tabLst>
                  <a:tab pos="366104" algn="l"/>
                </a:tabLst>
              </a:pPr>
              <a:r>
                <a:rPr lang="en-US" sz="1400" b="1">
                  <a:solidFill>
                    <a:srgbClr val="FFFFFF"/>
                  </a:solidFill>
                  <a:latin typeface="Arial" charset="0"/>
                  <a:cs typeface="Arial" charset="0"/>
                  <a:sym typeface="Arial" charset="0"/>
                </a:rPr>
                <a:t>High energy</a:t>
              </a:r>
            </a:p>
          </p:txBody>
        </p:sp>
      </p:grpSp>
    </p:spTree>
    <p:extLst>
      <p:ext uri="{BB962C8B-B14F-4D97-AF65-F5344CB8AC3E}">
        <p14:creationId xmlns:p14="http://schemas.microsoft.com/office/powerpoint/2010/main" val="406020829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nodeType="afterEffect">
                                  <p:stCondLst>
                                    <p:cond delay="0"/>
                                  </p:stCondLst>
                                  <p:childTnLst>
                                    <p:set>
                                      <p:cBhvr>
                                        <p:cTn id="6" dur="1" fill="hold">
                                          <p:stCondLst>
                                            <p:cond delay="499"/>
                                          </p:stCondLst>
                                        </p:cTn>
                                        <p:tgtEl>
                                          <p:spTgt spid="13006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30055"/>
                                        </p:tgtEl>
                                        <p:attrNameLst>
                                          <p:attrName>style.visibility</p:attrName>
                                        </p:attrNameLst>
                                      </p:cBhvr>
                                      <p:to>
                                        <p:strVal val="visible"/>
                                      </p:to>
                                    </p:set>
                                  </p:childTnLst>
                                </p:cTn>
                              </p:par>
                            </p:childTnLst>
                          </p:cTn>
                        </p:par>
                        <p:par>
                          <p:cTn id="11" fill="hold" nodeType="afterGroup">
                            <p:stCondLst>
                              <p:cond delay="500"/>
                            </p:stCondLst>
                            <p:childTnLst>
                              <p:par>
                                <p:cTn id="12" presetID="1" presetClass="entr" presetSubtype="0" fill="hold" nodeType="afterEffect">
                                  <p:stCondLst>
                                    <p:cond delay="0"/>
                                  </p:stCondLst>
                                  <p:childTnLst>
                                    <p:set>
                                      <p:cBhvr>
                                        <p:cTn id="13" dur="1" fill="hold">
                                          <p:stCondLst>
                                            <p:cond delay="499"/>
                                          </p:stCondLst>
                                        </p:cTn>
                                        <p:tgtEl>
                                          <p:spTgt spid="130075"/>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499"/>
                                          </p:stCondLst>
                                        </p:cTn>
                                        <p:tgtEl>
                                          <p:spTgt spid="1300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073" name="Rectangle 1"/>
          <p:cNvSpPr>
            <a:spLocks noGrp="1" noChangeArrowheads="1"/>
          </p:cNvSpPr>
          <p:nvPr>
            <p:ph type="title"/>
          </p:nvPr>
        </p:nvSpPr>
        <p:spPr>
          <a:xfrm>
            <a:off x="437930" y="538719"/>
            <a:ext cx="8229600" cy="1066800"/>
          </a:xfrm>
        </p:spPr>
        <p:txBody>
          <a:bodyPr/>
          <a:lstStyle/>
          <a:p>
            <a:r>
              <a:rPr lang="en-US" dirty="0">
                <a:solidFill>
                  <a:srgbClr val="0070C0"/>
                </a:solidFill>
              </a:rPr>
              <a:t>Catabolic Reactions</a:t>
            </a:r>
          </a:p>
        </p:txBody>
      </p:sp>
      <p:sp>
        <p:nvSpPr>
          <p:cNvPr id="131074" name="Rectangle 2"/>
          <p:cNvSpPr>
            <a:spLocks noGrp="1" noChangeArrowheads="1"/>
          </p:cNvSpPr>
          <p:nvPr>
            <p:ph type="body" idx="1"/>
          </p:nvPr>
        </p:nvSpPr>
        <p:spPr>
          <a:xfrm>
            <a:off x="277313" y="1704455"/>
            <a:ext cx="4726735" cy="4870081"/>
          </a:xfrm>
        </p:spPr>
        <p:txBody>
          <a:bodyPr>
            <a:normAutofit/>
          </a:bodyPr>
          <a:lstStyle/>
          <a:p>
            <a:r>
              <a:rPr lang="en-US" sz="1800" dirty="0">
                <a:solidFill>
                  <a:srgbClr val="002060"/>
                </a:solidFill>
                <a:latin typeface="Calibri" panose="020F0502020204030204" pitchFamily="34" charset="0"/>
                <a:cs typeface="Calibri" panose="020F0502020204030204" pitchFamily="34" charset="0"/>
              </a:rPr>
              <a:t>Catabolic reactions involve the breakdown of a larger molecules into smaller components, with the release of energy (they are </a:t>
            </a:r>
            <a:r>
              <a:rPr lang="en-US" sz="1800" b="1" dirty="0">
                <a:solidFill>
                  <a:srgbClr val="002060"/>
                </a:solidFill>
                <a:latin typeface="Calibri" panose="020F0502020204030204" pitchFamily="34" charset="0"/>
                <a:cs typeface="Calibri" panose="020F0502020204030204" pitchFamily="34" charset="0"/>
              </a:rPr>
              <a:t>exergonic</a:t>
            </a:r>
            <a:r>
              <a:rPr lang="en-US" sz="1800" dirty="0">
                <a:solidFill>
                  <a:srgbClr val="002060"/>
                </a:solidFill>
                <a:latin typeface="Calibri" panose="020F0502020204030204" pitchFamily="34" charset="0"/>
                <a:cs typeface="Calibri" panose="020F0502020204030204" pitchFamily="34" charset="0"/>
              </a:rPr>
              <a:t>).</a:t>
            </a:r>
          </a:p>
          <a:p>
            <a:r>
              <a:rPr lang="en-US" sz="1800" dirty="0">
                <a:solidFill>
                  <a:srgbClr val="002060"/>
                </a:solidFill>
                <a:latin typeface="Calibri" panose="020F0502020204030204" pitchFamily="34" charset="0"/>
                <a:cs typeface="Calibri" panose="020F0502020204030204" pitchFamily="34" charset="0"/>
              </a:rPr>
              <a:t>Enzymes involved in catabolic reactions can cause a single substrate molecule to be drawn into the active site.</a:t>
            </a:r>
          </a:p>
          <a:p>
            <a:r>
              <a:rPr lang="en-US" sz="1800" dirty="0">
                <a:solidFill>
                  <a:srgbClr val="002060"/>
                </a:solidFill>
                <a:latin typeface="Calibri" panose="020F0502020204030204" pitchFamily="34" charset="0"/>
                <a:cs typeface="Calibri" panose="020F0502020204030204" pitchFamily="34" charset="0"/>
              </a:rPr>
              <a:t>Chemical bonds are broken, causing the substrate molecule to break apart to become two separate molecules.</a:t>
            </a:r>
          </a:p>
          <a:p>
            <a:r>
              <a:rPr lang="en-US" sz="1800" dirty="0">
                <a:solidFill>
                  <a:srgbClr val="002060"/>
                </a:solidFill>
                <a:latin typeface="Calibri" panose="020F0502020204030204" pitchFamily="34" charset="0"/>
                <a:cs typeface="Calibri" panose="020F0502020204030204" pitchFamily="34" charset="0"/>
              </a:rPr>
              <a:t>Catabolic reactions include:</a:t>
            </a:r>
          </a:p>
          <a:p>
            <a:pPr lvl="2"/>
            <a:r>
              <a:rPr lang="en-US" sz="1800" dirty="0">
                <a:solidFill>
                  <a:srgbClr val="002060"/>
                </a:solidFill>
                <a:latin typeface="Calibri" panose="020F0502020204030204" pitchFamily="34" charset="0"/>
                <a:cs typeface="Calibri" panose="020F0502020204030204" pitchFamily="34" charset="0"/>
              </a:rPr>
              <a:t>Digestion: Breakdown of large food molecules.</a:t>
            </a:r>
          </a:p>
          <a:p>
            <a:pPr lvl="2"/>
            <a:r>
              <a:rPr lang="en-US" sz="1800" dirty="0">
                <a:solidFill>
                  <a:srgbClr val="002060"/>
                </a:solidFill>
                <a:latin typeface="Calibri" panose="020F0502020204030204" pitchFamily="34" charset="0"/>
                <a:cs typeface="Calibri" panose="020F0502020204030204" pitchFamily="34" charset="0"/>
              </a:rPr>
              <a:t>Cellular respiration: Oxidative breakdown of fuel molecules such</a:t>
            </a:r>
            <a:br>
              <a:rPr lang="en-US" sz="1800" dirty="0">
                <a:solidFill>
                  <a:srgbClr val="002060"/>
                </a:solidFill>
                <a:latin typeface="Calibri" panose="020F0502020204030204" pitchFamily="34" charset="0"/>
                <a:cs typeface="Calibri" panose="020F0502020204030204" pitchFamily="34" charset="0"/>
              </a:rPr>
            </a:br>
            <a:r>
              <a:rPr lang="en-US" sz="1800" dirty="0">
                <a:solidFill>
                  <a:srgbClr val="002060"/>
                </a:solidFill>
                <a:latin typeface="Calibri" panose="020F0502020204030204" pitchFamily="34" charset="0"/>
                <a:cs typeface="Calibri" panose="020F0502020204030204" pitchFamily="34" charset="0"/>
              </a:rPr>
              <a:t>as glucose.</a:t>
            </a:r>
          </a:p>
        </p:txBody>
      </p:sp>
      <p:grpSp>
        <p:nvGrpSpPr>
          <p:cNvPr id="131075" name="Group 3"/>
          <p:cNvGrpSpPr>
            <a:grpSpLocks/>
          </p:cNvGrpSpPr>
          <p:nvPr/>
        </p:nvGrpSpPr>
        <p:grpSpPr bwMode="auto">
          <a:xfrm>
            <a:off x="5331024" y="2866429"/>
            <a:ext cx="1991320" cy="2357438"/>
            <a:chOff x="0" y="0"/>
            <a:chExt cx="1784" cy="2112"/>
          </a:xfrm>
        </p:grpSpPr>
        <p:pic>
          <p:nvPicPr>
            <p:cNvPr id="131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784" cy="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131077"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0" y="1048"/>
              <a:ext cx="216"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01600" dist="12699" dir="5400000" algn="ctr" rotWithShape="0">
                      <a:schemeClr val="bg2">
                        <a:alpha val="50000"/>
                      </a:schemeClr>
                    </a:outerShdw>
                  </a:effectLst>
                </a14:hiddenEffects>
              </a:ext>
            </a:extLst>
          </p:spPr>
        </p:pic>
        <p:pic>
          <p:nvPicPr>
            <p:cNvPr id="131078"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4" y="912"/>
              <a:ext cx="244" cy="2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01600" dist="12699" dir="5400000" algn="ctr" rotWithShape="0">
                      <a:schemeClr val="bg2">
                        <a:alpha val="50000"/>
                      </a:schemeClr>
                    </a:outerShdw>
                  </a:effectLst>
                </a14:hiddenEffects>
              </a:ext>
            </a:extLst>
          </p:spPr>
        </p:pic>
        <p:pic>
          <p:nvPicPr>
            <p:cNvPr id="131079"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16" y="672"/>
              <a:ext cx="24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01600" dist="12699" dir="5400000" algn="ctr" rotWithShape="0">
                      <a:schemeClr val="bg2">
                        <a:alpha val="50000"/>
                      </a:schemeClr>
                    </a:outerShdw>
                  </a:effectLst>
                </a14:hiddenEffects>
              </a:ext>
            </a:extLst>
          </p:spPr>
        </p:pic>
      </p:grpSp>
      <p:sp>
        <p:nvSpPr>
          <p:cNvPr id="131080" name="Rectangle 8"/>
          <p:cNvSpPr>
            <a:spLocks/>
          </p:cNvSpPr>
          <p:nvPr/>
        </p:nvSpPr>
        <p:spPr bwMode="auto">
          <a:xfrm>
            <a:off x="6090047" y="4411266"/>
            <a:ext cx="856134" cy="2466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1600" b="1">
                <a:solidFill>
                  <a:srgbClr val="FFFFFF"/>
                </a:solidFill>
                <a:latin typeface="Arial" charset="0"/>
                <a:cs typeface="Arial" charset="0"/>
                <a:sym typeface="Arial" charset="0"/>
              </a:rPr>
              <a:t>Enzyme</a:t>
            </a:r>
          </a:p>
        </p:txBody>
      </p:sp>
      <p:grpSp>
        <p:nvGrpSpPr>
          <p:cNvPr id="131081" name="Group 9"/>
          <p:cNvGrpSpPr>
            <a:grpSpLocks/>
          </p:cNvGrpSpPr>
          <p:nvPr/>
        </p:nvGrpSpPr>
        <p:grpSpPr bwMode="auto">
          <a:xfrm>
            <a:off x="6736333" y="3460286"/>
            <a:ext cx="2133079" cy="2882067"/>
            <a:chOff x="-85" y="73"/>
            <a:chExt cx="1911" cy="2581"/>
          </a:xfrm>
        </p:grpSpPr>
        <p:pic>
          <p:nvPicPr>
            <p:cNvPr id="131082"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7389980">
              <a:off x="1327" y="492"/>
              <a:ext cx="413" cy="4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131083"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7739457">
              <a:off x="1024" y="119"/>
              <a:ext cx="505" cy="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sp>
          <p:nvSpPr>
            <p:cNvPr id="131084" name="Rectangle 12"/>
            <p:cNvSpPr>
              <a:spLocks/>
            </p:cNvSpPr>
            <p:nvPr/>
          </p:nvSpPr>
          <p:spPr bwMode="auto">
            <a:xfrm>
              <a:off x="-85" y="1990"/>
              <a:ext cx="1911" cy="6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dirty="0">
                  <a:solidFill>
                    <a:srgbClr val="000000"/>
                  </a:solidFill>
                  <a:latin typeface="Arial" charset="0"/>
                  <a:cs typeface="Arial" charset="0"/>
                  <a:sym typeface="Arial" charset="0"/>
                </a:rPr>
                <a:t>3. The substrate is cleaved and the two </a:t>
              </a:r>
              <a:r>
                <a:rPr lang="en-US" sz="1300" b="1" dirty="0">
                  <a:solidFill>
                    <a:srgbClr val="000000"/>
                  </a:solidFill>
                  <a:latin typeface="Arial" charset="0"/>
                  <a:cs typeface="Arial" charset="0"/>
                  <a:sym typeface="Arial" charset="0"/>
                </a:rPr>
                <a:t>products</a:t>
              </a:r>
              <a:r>
                <a:rPr lang="en-US" sz="1300" dirty="0">
                  <a:solidFill>
                    <a:srgbClr val="000000"/>
                  </a:solidFill>
                  <a:latin typeface="Arial" charset="0"/>
                  <a:cs typeface="Arial" charset="0"/>
                  <a:sym typeface="Arial" charset="0"/>
                </a:rPr>
                <a:t> are released to allow the enzyme to work again.</a:t>
              </a:r>
            </a:p>
          </p:txBody>
        </p:sp>
        <p:sp>
          <p:nvSpPr>
            <p:cNvPr id="131085" name="AutoShape 13"/>
            <p:cNvSpPr>
              <a:spLocks/>
            </p:cNvSpPr>
            <p:nvPr/>
          </p:nvSpPr>
          <p:spPr bwMode="auto">
            <a:xfrm>
              <a:off x="992" y="324"/>
              <a:ext cx="544" cy="1488"/>
            </a:xfrm>
            <a:custGeom>
              <a:avLst/>
              <a:gdLst/>
              <a:ahLst/>
              <a:cxnLst/>
              <a:rect l="0" t="0" r="r" b="b"/>
              <a:pathLst>
                <a:path w="21600" h="21600">
                  <a:moveTo>
                    <a:pt x="21600" y="7084"/>
                  </a:moveTo>
                  <a:lnTo>
                    <a:pt x="0" y="21600"/>
                  </a:lnTo>
                  <a:lnTo>
                    <a:pt x="7941" y="0"/>
                  </a:lnTo>
                </a:path>
              </a:pathLst>
            </a:custGeom>
            <a:noFill/>
            <a:ln w="25400">
              <a:solidFill>
                <a:srgbClr val="FF0017"/>
              </a:solidFill>
              <a:miter lim="800000"/>
              <a:headEnd type="oval" w="med" len="med"/>
              <a:tailEnd type="oval"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31086" name="AutoShape 14"/>
            <p:cNvSpPr>
              <a:spLocks/>
            </p:cNvSpPr>
            <p:nvPr/>
          </p:nvSpPr>
          <p:spPr bwMode="auto">
            <a:xfrm rot="10800000" flipH="1">
              <a:off x="48" y="524"/>
              <a:ext cx="944" cy="180"/>
            </a:xfrm>
            <a:custGeom>
              <a:avLst/>
              <a:gdLst/>
              <a:ahLst/>
              <a:cxnLst/>
              <a:rect l="0" t="0" r="r" b="b"/>
              <a:pathLst>
                <a:path w="21600" h="11327">
                  <a:moveTo>
                    <a:pt x="0" y="11327"/>
                  </a:moveTo>
                  <a:cubicBezTo>
                    <a:pt x="1331" y="9904"/>
                    <a:pt x="12447" y="-10273"/>
                    <a:pt x="21600" y="6806"/>
                  </a:cubicBezTo>
                </a:path>
              </a:pathLst>
            </a:custGeom>
            <a:noFill/>
            <a:ln w="76200">
              <a:solidFill>
                <a:srgbClr val="FF0017"/>
              </a:solidFill>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grpSp>
        <p:nvGrpSpPr>
          <p:cNvPr id="131087" name="Group 15"/>
          <p:cNvGrpSpPr>
            <a:grpSpLocks/>
          </p:cNvGrpSpPr>
          <p:nvPr/>
        </p:nvGrpSpPr>
        <p:grpSpPr bwMode="auto">
          <a:xfrm>
            <a:off x="5143500" y="1704455"/>
            <a:ext cx="1857375" cy="2448967"/>
            <a:chOff x="0" y="0"/>
            <a:chExt cx="1664" cy="2193"/>
          </a:xfrm>
        </p:grpSpPr>
        <p:sp>
          <p:nvSpPr>
            <p:cNvPr id="131088" name="Rectangle 16"/>
            <p:cNvSpPr>
              <a:spLocks/>
            </p:cNvSpPr>
            <p:nvPr/>
          </p:nvSpPr>
          <p:spPr bwMode="auto">
            <a:xfrm>
              <a:off x="0" y="0"/>
              <a:ext cx="1400" cy="6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dirty="0">
                  <a:solidFill>
                    <a:srgbClr val="000000"/>
                  </a:solidFill>
                  <a:latin typeface="Arial" charset="0"/>
                  <a:cs typeface="Arial" charset="0"/>
                  <a:sym typeface="Arial" charset="0"/>
                </a:rPr>
                <a:t>2. The substrate is subjected to stress, which facilitates the breaking of bonds</a:t>
              </a:r>
            </a:p>
          </p:txBody>
        </p:sp>
        <p:sp>
          <p:nvSpPr>
            <p:cNvPr id="131089" name="Line 17"/>
            <p:cNvSpPr>
              <a:spLocks noChangeShapeType="1"/>
            </p:cNvSpPr>
            <p:nvPr/>
          </p:nvSpPr>
          <p:spPr bwMode="auto">
            <a:xfrm rot="10800000">
              <a:off x="792" y="736"/>
              <a:ext cx="290" cy="994"/>
            </a:xfrm>
            <a:prstGeom prst="line">
              <a:avLst/>
            </a:prstGeom>
            <a:noFill/>
            <a:ln w="254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pic>
          <p:nvPicPr>
            <p:cNvPr id="131090" name="Picture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08" y="1712"/>
              <a:ext cx="656" cy="481"/>
            </a:xfrm>
            <a:prstGeom prst="rect">
              <a:avLst/>
            </a:prstGeom>
            <a:noFill/>
            <a:ln>
              <a:noFill/>
            </a:ln>
            <a:effectLst/>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25400">
                  <a:solidFill>
                    <a:srgbClr val="FFFFFF">
                      <a:alpha val="50000"/>
                    </a:srgbClr>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grpSp>
      <p:grpSp>
        <p:nvGrpSpPr>
          <p:cNvPr id="131091" name="Group 19"/>
          <p:cNvGrpSpPr>
            <a:grpSpLocks/>
          </p:cNvGrpSpPr>
          <p:nvPr/>
        </p:nvGrpSpPr>
        <p:grpSpPr bwMode="auto">
          <a:xfrm>
            <a:off x="6799914" y="1158627"/>
            <a:ext cx="2007008" cy="2645420"/>
            <a:chOff x="-67" y="-90"/>
            <a:chExt cx="1797" cy="2370"/>
          </a:xfrm>
        </p:grpSpPr>
        <p:sp>
          <p:nvSpPr>
            <p:cNvPr id="131092" name="Rectangle 20"/>
            <p:cNvSpPr>
              <a:spLocks/>
            </p:cNvSpPr>
            <p:nvPr/>
          </p:nvSpPr>
          <p:spPr bwMode="auto">
            <a:xfrm>
              <a:off x="-67" y="-90"/>
              <a:ext cx="1797"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lnSpc>
                  <a:spcPct val="111000"/>
                </a:lnSpc>
                <a:tabLst>
                  <a:tab pos="366104" algn="l"/>
                </a:tabLst>
              </a:pPr>
              <a:r>
                <a:rPr lang="en-US" sz="1300" dirty="0">
                  <a:solidFill>
                    <a:srgbClr val="000000"/>
                  </a:solidFill>
                  <a:latin typeface="Arial" charset="0"/>
                  <a:cs typeface="Arial" charset="0"/>
                  <a:sym typeface="Arial" charset="0"/>
                </a:rPr>
                <a:t>1. The </a:t>
              </a:r>
              <a:r>
                <a:rPr lang="en-US" sz="1300" b="1" dirty="0">
                  <a:solidFill>
                    <a:srgbClr val="000000"/>
                  </a:solidFill>
                  <a:latin typeface="Arial" charset="0"/>
                  <a:cs typeface="Arial" charset="0"/>
                  <a:sym typeface="Arial" charset="0"/>
                </a:rPr>
                <a:t>substrate</a:t>
              </a:r>
              <a:r>
                <a:rPr lang="en-US" sz="1300" dirty="0">
                  <a:solidFill>
                    <a:srgbClr val="000000"/>
                  </a:solidFill>
                  <a:latin typeface="Arial" charset="0"/>
                  <a:cs typeface="Arial" charset="0"/>
                  <a:sym typeface="Arial" charset="0"/>
                </a:rPr>
                <a:t> binds to the enzyme’s active site.</a:t>
              </a:r>
            </a:p>
          </p:txBody>
        </p:sp>
        <p:sp>
          <p:nvSpPr>
            <p:cNvPr id="131093" name="AutoShape 21"/>
            <p:cNvSpPr>
              <a:spLocks/>
            </p:cNvSpPr>
            <p:nvPr/>
          </p:nvSpPr>
          <p:spPr bwMode="auto">
            <a:xfrm>
              <a:off x="0" y="912"/>
              <a:ext cx="952" cy="1368"/>
            </a:xfrm>
            <a:custGeom>
              <a:avLst/>
              <a:gdLst/>
              <a:ahLst/>
              <a:cxnLst/>
              <a:rect l="0" t="0" r="r" b="b"/>
              <a:pathLst>
                <a:path w="20448" h="21600">
                  <a:moveTo>
                    <a:pt x="20008" y="0"/>
                  </a:moveTo>
                  <a:cubicBezTo>
                    <a:pt x="21600" y="8463"/>
                    <a:pt x="19781" y="18442"/>
                    <a:pt x="0" y="21600"/>
                  </a:cubicBezTo>
                </a:path>
              </a:pathLst>
            </a:custGeom>
            <a:noFill/>
            <a:ln w="76200">
              <a:solidFill>
                <a:srgbClr val="FF0017"/>
              </a:solidFill>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pic>
          <p:nvPicPr>
            <p:cNvPr id="131094" name="Picture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2" y="608"/>
              <a:ext cx="656" cy="4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grpSp>
    </p:spTree>
    <p:extLst>
      <p:ext uri="{BB962C8B-B14F-4D97-AF65-F5344CB8AC3E}">
        <p14:creationId xmlns:p14="http://schemas.microsoft.com/office/powerpoint/2010/main" val="299481536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107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107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499"/>
                                          </p:stCondLst>
                                        </p:cTn>
                                        <p:tgtEl>
                                          <p:spTgt spid="131091"/>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31074">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499"/>
                                          </p:stCondLst>
                                        </p:cTn>
                                        <p:tgtEl>
                                          <p:spTgt spid="131087"/>
                                        </p:tgtEl>
                                        <p:attrNameLst>
                                          <p:attrName>style.visibility</p:attrName>
                                        </p:attrNameLst>
                                      </p:cBhvr>
                                      <p:to>
                                        <p:strVal val="visible"/>
                                      </p:to>
                                    </p:set>
                                  </p:childTnLst>
                                </p:cTn>
                              </p:par>
                            </p:childTnLst>
                          </p:cTn>
                        </p:par>
                        <p:par>
                          <p:cTn id="19" fill="hold" nodeType="afterGroup">
                            <p:stCondLst>
                              <p:cond delay="500"/>
                            </p:stCondLst>
                            <p:childTnLst>
                              <p:par>
                                <p:cTn id="20" presetID="1" presetClass="entr" presetSubtype="0" fill="hold" nodeType="afterEffect">
                                  <p:stCondLst>
                                    <p:cond delay="500"/>
                                  </p:stCondLst>
                                  <p:childTnLst>
                                    <p:set>
                                      <p:cBhvr>
                                        <p:cTn id="21" dur="1" fill="hold">
                                          <p:stCondLst>
                                            <p:cond delay="499"/>
                                          </p:stCondLst>
                                        </p:cTn>
                                        <p:tgtEl>
                                          <p:spTgt spid="131081"/>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131074">
                                            <p:txEl>
                                              <p:pRg st="3" end="3"/>
                                            </p:txEl>
                                          </p:spTgt>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131074">
                                            <p:txEl>
                                              <p:pRg st="4" end="4"/>
                                            </p:txEl>
                                          </p:spTgt>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13107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4" grpId="0" build="p" bldLvl="5"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2097" name="Rectangle 1"/>
          <p:cNvSpPr>
            <a:spLocks noGrp="1" noChangeArrowheads="1"/>
          </p:cNvSpPr>
          <p:nvPr>
            <p:ph type="title"/>
          </p:nvPr>
        </p:nvSpPr>
        <p:spPr>
          <a:xfrm>
            <a:off x="467669" y="531312"/>
            <a:ext cx="8229600" cy="1066800"/>
          </a:xfrm>
        </p:spPr>
        <p:txBody>
          <a:bodyPr/>
          <a:lstStyle/>
          <a:p>
            <a:r>
              <a:rPr lang="en-US" dirty="0">
                <a:solidFill>
                  <a:srgbClr val="0070C0"/>
                </a:solidFill>
              </a:rPr>
              <a:t>Anabolic Reactions</a:t>
            </a:r>
          </a:p>
        </p:txBody>
      </p:sp>
      <p:sp>
        <p:nvSpPr>
          <p:cNvPr id="132098" name="Rectangle 2"/>
          <p:cNvSpPr>
            <a:spLocks noGrp="1" noChangeArrowheads="1"/>
          </p:cNvSpPr>
          <p:nvPr>
            <p:ph type="body" idx="1"/>
          </p:nvPr>
        </p:nvSpPr>
        <p:spPr>
          <a:xfrm>
            <a:off x="457200" y="1700808"/>
            <a:ext cx="4762872" cy="4752528"/>
          </a:xfrm>
        </p:spPr>
        <p:txBody>
          <a:bodyPr>
            <a:normAutofit fontScale="92500" lnSpcReduction="20000"/>
          </a:bodyPr>
          <a:lstStyle/>
          <a:p>
            <a:r>
              <a:rPr lang="en-US" sz="2400" dirty="0">
                <a:solidFill>
                  <a:srgbClr val="002060"/>
                </a:solidFill>
                <a:latin typeface="Calibri" panose="020F0502020204030204" pitchFamily="34" charset="0"/>
                <a:cs typeface="Calibri" panose="020F0502020204030204" pitchFamily="34" charset="0"/>
              </a:rPr>
              <a:t>In anabolic reactions, smaller molecules are joined to form larger ones. </a:t>
            </a:r>
          </a:p>
          <a:p>
            <a:r>
              <a:rPr lang="en-US" sz="2400" dirty="0">
                <a:solidFill>
                  <a:srgbClr val="002060"/>
                </a:solidFill>
                <a:latin typeface="Calibri" panose="020F0502020204030204" pitchFamily="34" charset="0"/>
                <a:cs typeface="Calibri" panose="020F0502020204030204" pitchFamily="34" charset="0"/>
              </a:rPr>
              <a:t>These reactions are </a:t>
            </a:r>
            <a:r>
              <a:rPr lang="en-US" sz="2400" b="1" dirty="0">
                <a:solidFill>
                  <a:srgbClr val="002060"/>
                </a:solidFill>
                <a:latin typeface="Calibri" panose="020F0502020204030204" pitchFamily="34" charset="0"/>
                <a:cs typeface="Calibri" panose="020F0502020204030204" pitchFamily="34" charset="0"/>
              </a:rPr>
              <a:t>endergonic</a:t>
            </a:r>
            <a:r>
              <a:rPr lang="en-US" sz="2400" dirty="0">
                <a:solidFill>
                  <a:srgbClr val="002060"/>
                </a:solidFill>
                <a:latin typeface="Calibri" panose="020F0502020204030204" pitchFamily="34" charset="0"/>
                <a:cs typeface="Calibri" panose="020F0502020204030204" pitchFamily="34" charset="0"/>
              </a:rPr>
              <a:t>;</a:t>
            </a:r>
            <a:br>
              <a:rPr lang="en-US" sz="2400" dirty="0">
                <a:solidFill>
                  <a:srgbClr val="002060"/>
                </a:solidFill>
                <a:latin typeface="Calibri" panose="020F0502020204030204" pitchFamily="34" charset="0"/>
                <a:cs typeface="Calibri" panose="020F0502020204030204" pitchFamily="34" charset="0"/>
              </a:rPr>
            </a:br>
            <a:r>
              <a:rPr lang="en-US" sz="2400" dirty="0">
                <a:solidFill>
                  <a:srgbClr val="002060"/>
                </a:solidFill>
                <a:latin typeface="Calibri" panose="020F0502020204030204" pitchFamily="34" charset="0"/>
                <a:cs typeface="Calibri" panose="020F0502020204030204" pitchFamily="34" charset="0"/>
              </a:rPr>
              <a:t>they require the input of energy.</a:t>
            </a:r>
          </a:p>
          <a:p>
            <a:r>
              <a:rPr lang="en-US" sz="2400" dirty="0">
                <a:solidFill>
                  <a:srgbClr val="002060"/>
                </a:solidFill>
                <a:latin typeface="Calibri" panose="020F0502020204030204" pitchFamily="34" charset="0"/>
                <a:cs typeface="Calibri" panose="020F0502020204030204" pitchFamily="34" charset="0"/>
              </a:rPr>
              <a:t>Enzymes involved in anabolic reactions can cause two substrate molecules</a:t>
            </a:r>
            <a:br>
              <a:rPr lang="en-US" sz="2400" dirty="0">
                <a:solidFill>
                  <a:srgbClr val="002060"/>
                </a:solidFill>
                <a:latin typeface="Calibri" panose="020F0502020204030204" pitchFamily="34" charset="0"/>
                <a:cs typeface="Calibri" panose="020F0502020204030204" pitchFamily="34" charset="0"/>
              </a:rPr>
            </a:br>
            <a:r>
              <a:rPr lang="en-US" sz="2400" dirty="0">
                <a:solidFill>
                  <a:srgbClr val="002060"/>
                </a:solidFill>
                <a:latin typeface="Calibri" panose="020F0502020204030204" pitchFamily="34" charset="0"/>
                <a:cs typeface="Calibri" panose="020F0502020204030204" pitchFamily="34" charset="0"/>
              </a:rPr>
              <a:t>to be drawn into the active site.</a:t>
            </a:r>
          </a:p>
          <a:p>
            <a:r>
              <a:rPr lang="en-US" sz="2400" dirty="0">
                <a:solidFill>
                  <a:srgbClr val="002060"/>
                </a:solidFill>
                <a:latin typeface="Calibri" panose="020F0502020204030204" pitchFamily="34" charset="0"/>
                <a:cs typeface="Calibri" panose="020F0502020204030204" pitchFamily="34" charset="0"/>
              </a:rPr>
              <a:t>New chemical bonds are formed resulting in the formation of a single molecule.</a:t>
            </a:r>
          </a:p>
          <a:p>
            <a:r>
              <a:rPr lang="en-US" sz="2400" dirty="0">
                <a:solidFill>
                  <a:srgbClr val="002060"/>
                </a:solidFill>
                <a:latin typeface="Calibri" panose="020F0502020204030204" pitchFamily="34" charset="0"/>
                <a:cs typeface="Calibri" panose="020F0502020204030204" pitchFamily="34" charset="0"/>
              </a:rPr>
              <a:t>Example includes:</a:t>
            </a:r>
          </a:p>
          <a:p>
            <a:pPr lvl="2"/>
            <a:r>
              <a:rPr lang="en-US" sz="2200" dirty="0">
                <a:solidFill>
                  <a:srgbClr val="002060"/>
                </a:solidFill>
                <a:latin typeface="Calibri" panose="020F0502020204030204" pitchFamily="34" charset="0"/>
                <a:cs typeface="Calibri" panose="020F0502020204030204" pitchFamily="34" charset="0"/>
              </a:rPr>
              <a:t>Protein synthesis: Build up of polypeptides from amino acids.</a:t>
            </a:r>
          </a:p>
        </p:txBody>
      </p:sp>
      <p:grpSp>
        <p:nvGrpSpPr>
          <p:cNvPr id="132099" name="Group 3"/>
          <p:cNvGrpSpPr>
            <a:grpSpLocks/>
          </p:cNvGrpSpPr>
          <p:nvPr/>
        </p:nvGrpSpPr>
        <p:grpSpPr bwMode="auto">
          <a:xfrm>
            <a:off x="5387951" y="2254746"/>
            <a:ext cx="2984748" cy="2811736"/>
            <a:chOff x="0" y="0"/>
            <a:chExt cx="2674" cy="2519"/>
          </a:xfrm>
        </p:grpSpPr>
        <p:pic>
          <p:nvPicPr>
            <p:cNvPr id="132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6929394">
              <a:off x="443" y="203"/>
              <a:ext cx="1785" cy="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132101"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6929394">
              <a:off x="1187" y="785"/>
              <a:ext cx="216"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01600" dist="12699" dir="5400000" algn="ctr" rotWithShape="0">
                      <a:schemeClr val="bg2">
                        <a:alpha val="50000"/>
                      </a:schemeClr>
                    </a:outerShdw>
                  </a:effectLst>
                </a14:hiddenEffects>
              </a:ext>
            </a:extLst>
          </p:spPr>
        </p:pic>
        <p:pic>
          <p:nvPicPr>
            <p:cNvPr id="132102"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6929394">
              <a:off x="1194" y="1143"/>
              <a:ext cx="244"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01600" dist="12699" dir="5400000" algn="ctr" rotWithShape="0">
                      <a:schemeClr val="bg2">
                        <a:alpha val="50000"/>
                      </a:schemeClr>
                    </a:outerShdw>
                  </a:effectLst>
                </a14:hiddenEffects>
              </a:ext>
            </a:extLst>
          </p:spPr>
        </p:pic>
        <p:pic>
          <p:nvPicPr>
            <p:cNvPr id="132103"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6929394">
              <a:off x="953" y="1217"/>
              <a:ext cx="244"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01600" dist="12699" dir="5400000" algn="ctr" rotWithShape="0">
                      <a:schemeClr val="bg2">
                        <a:alpha val="50000"/>
                      </a:schemeClr>
                    </a:outerShdw>
                  </a:effectLst>
                </a14:hiddenEffects>
              </a:ext>
            </a:extLst>
          </p:spPr>
        </p:pic>
      </p:grpSp>
      <p:sp>
        <p:nvSpPr>
          <p:cNvPr id="132104" name="Rectangle 8"/>
          <p:cNvSpPr>
            <a:spLocks/>
          </p:cNvSpPr>
          <p:nvPr/>
        </p:nvSpPr>
        <p:spPr bwMode="auto">
          <a:xfrm>
            <a:off x="6286500" y="3991571"/>
            <a:ext cx="1003160" cy="292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1900" b="1">
                <a:solidFill>
                  <a:srgbClr val="FFFFFF"/>
                </a:solidFill>
                <a:latin typeface="Arial" charset="0"/>
                <a:cs typeface="Arial" charset="0"/>
                <a:sym typeface="Arial" charset="0"/>
              </a:rPr>
              <a:t>Enzyme</a:t>
            </a:r>
          </a:p>
        </p:txBody>
      </p:sp>
      <p:grpSp>
        <p:nvGrpSpPr>
          <p:cNvPr id="132105" name="Group 9"/>
          <p:cNvGrpSpPr>
            <a:grpSpLocks/>
          </p:cNvGrpSpPr>
          <p:nvPr/>
        </p:nvGrpSpPr>
        <p:grpSpPr bwMode="auto">
          <a:xfrm>
            <a:off x="5489526" y="3527227"/>
            <a:ext cx="2654350" cy="2991445"/>
            <a:chOff x="0" y="0"/>
            <a:chExt cx="2377" cy="2680"/>
          </a:xfrm>
        </p:grpSpPr>
        <p:sp>
          <p:nvSpPr>
            <p:cNvPr id="132106" name="Rectangle 10"/>
            <p:cNvSpPr>
              <a:spLocks/>
            </p:cNvSpPr>
            <p:nvPr/>
          </p:nvSpPr>
          <p:spPr bwMode="auto">
            <a:xfrm>
              <a:off x="146" y="2016"/>
              <a:ext cx="2231" cy="6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dirty="0">
                  <a:solidFill>
                    <a:srgbClr val="000000"/>
                  </a:solidFill>
                  <a:latin typeface="Arial" charset="0"/>
                  <a:cs typeface="Arial" charset="0"/>
                  <a:sym typeface="Arial" charset="0"/>
                </a:rPr>
                <a:t>3. The two substrate molecules form a </a:t>
              </a:r>
              <a:r>
                <a:rPr lang="en-US" sz="1300" b="1" dirty="0">
                  <a:solidFill>
                    <a:srgbClr val="000000"/>
                  </a:solidFill>
                  <a:latin typeface="Arial" charset="0"/>
                  <a:cs typeface="Arial" charset="0"/>
                  <a:sym typeface="Arial" charset="0"/>
                </a:rPr>
                <a:t>single product</a:t>
              </a:r>
              <a:r>
                <a:rPr lang="en-US" sz="1300" dirty="0">
                  <a:solidFill>
                    <a:srgbClr val="000000"/>
                  </a:solidFill>
                  <a:latin typeface="Arial" charset="0"/>
                  <a:cs typeface="Arial" charset="0"/>
                  <a:sym typeface="Arial" charset="0"/>
                </a:rPr>
                <a:t>, which is released, freeing the enzyme to work again.</a:t>
              </a:r>
            </a:p>
          </p:txBody>
        </p:sp>
        <p:pic>
          <p:nvPicPr>
            <p:cNvPr id="132107"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6383372">
              <a:off x="265" y="1159"/>
              <a:ext cx="656" cy="4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sp>
          <p:nvSpPr>
            <p:cNvPr id="132108" name="Line 12"/>
            <p:cNvSpPr>
              <a:spLocks noChangeShapeType="1"/>
            </p:cNvSpPr>
            <p:nvPr/>
          </p:nvSpPr>
          <p:spPr bwMode="auto">
            <a:xfrm>
              <a:off x="693" y="1548"/>
              <a:ext cx="244" cy="412"/>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32109" name="AutoShape 13"/>
            <p:cNvSpPr>
              <a:spLocks/>
            </p:cNvSpPr>
            <p:nvPr/>
          </p:nvSpPr>
          <p:spPr bwMode="auto">
            <a:xfrm>
              <a:off x="0" y="0"/>
              <a:ext cx="809" cy="1192"/>
            </a:xfrm>
            <a:custGeom>
              <a:avLst/>
              <a:gdLst/>
              <a:ahLst/>
              <a:cxnLst/>
              <a:rect l="0" t="0" r="r" b="b"/>
              <a:pathLst>
                <a:path w="14870" h="21600">
                  <a:moveTo>
                    <a:pt x="14870" y="0"/>
                  </a:moveTo>
                  <a:cubicBezTo>
                    <a:pt x="3262" y="2609"/>
                    <a:pt x="-6730" y="12177"/>
                    <a:pt x="5760" y="21600"/>
                  </a:cubicBezTo>
                </a:path>
              </a:pathLst>
            </a:custGeom>
            <a:noFill/>
            <a:ln w="88900">
              <a:solidFill>
                <a:srgbClr val="FF0017"/>
              </a:solidFill>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grpSp>
        <p:nvGrpSpPr>
          <p:cNvPr id="132110" name="Group 14"/>
          <p:cNvGrpSpPr>
            <a:grpSpLocks/>
          </p:cNvGrpSpPr>
          <p:nvPr/>
        </p:nvGrpSpPr>
        <p:grpSpPr bwMode="auto">
          <a:xfrm>
            <a:off x="6319987" y="1358429"/>
            <a:ext cx="2625329" cy="2445618"/>
            <a:chOff x="118" y="-47"/>
            <a:chExt cx="2352" cy="2191"/>
          </a:xfrm>
        </p:grpSpPr>
        <p:pic>
          <p:nvPicPr>
            <p:cNvPr id="132111" name="Picture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3850740">
              <a:off x="31" y="1575"/>
              <a:ext cx="656" cy="481"/>
            </a:xfrm>
            <a:prstGeom prst="rect">
              <a:avLst/>
            </a:prstGeom>
            <a:noFill/>
            <a:ln>
              <a:noFill/>
            </a:ln>
            <a:effectLst/>
            <a:extLst>
              <a:ext uri="{909E8E84-426E-40DD-AFC4-6F175D3DCCD1}">
                <a14:hiddenFill xmlns:a14="http://schemas.microsoft.com/office/drawing/2010/main">
                  <a:solidFill>
                    <a:srgbClr val="FFFFFF">
                      <a:alpha val="50000"/>
                    </a:srgbClr>
                  </a:solidFill>
                </a14:hiddenFill>
              </a:ext>
              <a:ext uri="{91240B29-F687-4F45-9708-019B960494DF}">
                <a14:hiddenLine xmlns:a14="http://schemas.microsoft.com/office/drawing/2010/main" w="25400">
                  <a:solidFill>
                    <a:srgbClr val="FFFFFF">
                      <a:alpha val="50000"/>
                    </a:srgbClr>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sp>
          <p:nvSpPr>
            <p:cNvPr id="132112" name="Rectangle 16"/>
            <p:cNvSpPr>
              <a:spLocks/>
            </p:cNvSpPr>
            <p:nvPr/>
          </p:nvSpPr>
          <p:spPr bwMode="auto">
            <a:xfrm>
              <a:off x="1134" y="-47"/>
              <a:ext cx="1336" cy="6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dirty="0">
                  <a:solidFill>
                    <a:srgbClr val="000000"/>
                  </a:solidFill>
                  <a:latin typeface="Arial" charset="0"/>
                  <a:cs typeface="Arial" charset="0"/>
                  <a:sym typeface="Arial" charset="0"/>
                </a:rPr>
                <a:t>2. The substrate is subjected to stress, which will aid the formation of bonds.</a:t>
              </a:r>
            </a:p>
          </p:txBody>
        </p:sp>
        <p:sp>
          <p:nvSpPr>
            <p:cNvPr id="132113" name="Line 17"/>
            <p:cNvSpPr>
              <a:spLocks noChangeShapeType="1"/>
            </p:cNvSpPr>
            <p:nvPr/>
          </p:nvSpPr>
          <p:spPr bwMode="auto">
            <a:xfrm rot="10800000" flipH="1">
              <a:off x="479" y="688"/>
              <a:ext cx="832" cy="965"/>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grpSp>
        <p:nvGrpSpPr>
          <p:cNvPr id="132114" name="Group 18"/>
          <p:cNvGrpSpPr>
            <a:grpSpLocks/>
          </p:cNvGrpSpPr>
          <p:nvPr/>
        </p:nvGrpSpPr>
        <p:grpSpPr bwMode="auto">
          <a:xfrm>
            <a:off x="5058668" y="959942"/>
            <a:ext cx="2128614" cy="2085082"/>
            <a:chOff x="-116" y="36"/>
            <a:chExt cx="1907" cy="1868"/>
          </a:xfrm>
        </p:grpSpPr>
        <p:sp>
          <p:nvSpPr>
            <p:cNvPr id="132115" name="Rectangle 19"/>
            <p:cNvSpPr>
              <a:spLocks/>
            </p:cNvSpPr>
            <p:nvPr/>
          </p:nvSpPr>
          <p:spPr bwMode="auto">
            <a:xfrm>
              <a:off x="-116" y="36"/>
              <a:ext cx="1907" cy="4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dirty="0">
                  <a:solidFill>
                    <a:srgbClr val="000000"/>
                  </a:solidFill>
                  <a:latin typeface="Arial" charset="0"/>
                  <a:cs typeface="Arial" charset="0"/>
                  <a:sym typeface="Arial" charset="0"/>
                </a:rPr>
                <a:t>1. The </a:t>
              </a:r>
              <a:r>
                <a:rPr lang="en-US" sz="1300" b="1" dirty="0">
                  <a:solidFill>
                    <a:srgbClr val="000000"/>
                  </a:solidFill>
                  <a:latin typeface="Arial" charset="0"/>
                  <a:cs typeface="Arial" charset="0"/>
                  <a:sym typeface="Arial" charset="0"/>
                </a:rPr>
                <a:t>substrate</a:t>
              </a:r>
              <a:r>
                <a:rPr lang="en-US" sz="1300" dirty="0">
                  <a:solidFill>
                    <a:srgbClr val="000000"/>
                  </a:solidFill>
                  <a:latin typeface="Arial" charset="0"/>
                  <a:cs typeface="Arial" charset="0"/>
                  <a:sym typeface="Arial" charset="0"/>
                </a:rPr>
                <a:t> binds to the enzyme’s active site.</a:t>
              </a:r>
            </a:p>
          </p:txBody>
        </p:sp>
        <p:sp>
          <p:nvSpPr>
            <p:cNvPr id="132116" name="AutoShape 20"/>
            <p:cNvSpPr>
              <a:spLocks/>
            </p:cNvSpPr>
            <p:nvPr/>
          </p:nvSpPr>
          <p:spPr bwMode="auto">
            <a:xfrm flipH="1">
              <a:off x="968" y="936"/>
              <a:ext cx="176" cy="968"/>
            </a:xfrm>
            <a:custGeom>
              <a:avLst/>
              <a:gdLst/>
              <a:ahLst/>
              <a:cxnLst/>
              <a:rect l="0" t="0" r="r" b="b"/>
              <a:pathLst>
                <a:path w="13976" h="21600">
                  <a:moveTo>
                    <a:pt x="13976" y="0"/>
                  </a:moveTo>
                  <a:cubicBezTo>
                    <a:pt x="-7624" y="10532"/>
                    <a:pt x="12705" y="13745"/>
                    <a:pt x="0" y="21600"/>
                  </a:cubicBezTo>
                </a:path>
              </a:pathLst>
            </a:custGeom>
            <a:noFill/>
            <a:ln w="76200">
              <a:solidFill>
                <a:srgbClr val="FF0017"/>
              </a:solidFill>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pic>
          <p:nvPicPr>
            <p:cNvPr id="132117" name="Picture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361192">
              <a:off x="823" y="592"/>
              <a:ext cx="413" cy="4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132118" name="Picture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98198">
              <a:off x="368" y="587"/>
              <a:ext cx="505" cy="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grpSp>
    </p:spTree>
    <p:extLst>
      <p:ext uri="{BB962C8B-B14F-4D97-AF65-F5344CB8AC3E}">
        <p14:creationId xmlns:p14="http://schemas.microsoft.com/office/powerpoint/2010/main" val="24166806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209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209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2098">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499"/>
                                          </p:stCondLst>
                                        </p:cTn>
                                        <p:tgtEl>
                                          <p:spTgt spid="13211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32098">
                                            <p:txEl>
                                              <p:pRg st="3" end="3"/>
                                            </p:txEl>
                                          </p:spTgt>
                                        </p:tgtEl>
                                        <p:attrNameLst>
                                          <p:attrName>style.visibility</p:attrName>
                                        </p:attrNameLst>
                                      </p:cBhvr>
                                      <p:to>
                                        <p:strVal val="visible"/>
                                      </p:to>
                                    </p:set>
                                  </p:childTnLst>
                                </p:cTn>
                              </p:par>
                              <p:par>
                                <p:cTn id="21" presetID="1" presetClass="entr" presetSubtype="0" fill="hold" nodeType="withEffect">
                                  <p:stCondLst>
                                    <p:cond delay="500"/>
                                  </p:stCondLst>
                                  <p:childTnLst>
                                    <p:set>
                                      <p:cBhvr>
                                        <p:cTn id="22" dur="1" fill="hold">
                                          <p:stCondLst>
                                            <p:cond delay="499"/>
                                          </p:stCondLst>
                                        </p:cTn>
                                        <p:tgtEl>
                                          <p:spTgt spid="132110"/>
                                        </p:tgtEl>
                                        <p:attrNameLst>
                                          <p:attrName>style.visibility</p:attrName>
                                        </p:attrNameLst>
                                      </p:cBhvr>
                                      <p:to>
                                        <p:strVal val="visible"/>
                                      </p:to>
                                    </p:set>
                                  </p:childTnLst>
                                </p:cTn>
                              </p:par>
                            </p:childTnLst>
                          </p:cTn>
                        </p:par>
                        <p:par>
                          <p:cTn id="23" fill="hold" nodeType="afterGroup">
                            <p:stCondLst>
                              <p:cond delay="1000"/>
                            </p:stCondLst>
                            <p:childTnLst>
                              <p:par>
                                <p:cTn id="24" presetID="1" presetClass="entr" presetSubtype="0" fill="hold" nodeType="afterEffect">
                                  <p:stCondLst>
                                    <p:cond delay="0"/>
                                  </p:stCondLst>
                                  <p:childTnLst>
                                    <p:set>
                                      <p:cBhvr>
                                        <p:cTn id="25" dur="1" fill="hold">
                                          <p:stCondLst>
                                            <p:cond delay="499"/>
                                          </p:stCondLst>
                                        </p:cTn>
                                        <p:tgtEl>
                                          <p:spTgt spid="132105"/>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132098">
                                            <p:txEl>
                                              <p:pRg st="4" end="4"/>
                                            </p:txEl>
                                          </p:spTgt>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13209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8" grpId="0" build="p" bldLvl="5"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980728"/>
            <a:ext cx="8229600" cy="1066800"/>
          </a:xfrm>
        </p:spPr>
        <p:txBody>
          <a:bodyPr/>
          <a:lstStyle/>
          <a:p>
            <a:r>
              <a:rPr lang="en-AU" dirty="0">
                <a:solidFill>
                  <a:srgbClr val="0070C0"/>
                </a:solidFill>
              </a:rPr>
              <a:t>Factors Affecting Enzymes</a:t>
            </a:r>
          </a:p>
        </p:txBody>
      </p:sp>
      <p:sp>
        <p:nvSpPr>
          <p:cNvPr id="3" name="Content Placeholder 2"/>
          <p:cNvSpPr>
            <a:spLocks noGrp="1"/>
          </p:cNvSpPr>
          <p:nvPr>
            <p:ph idx="1"/>
          </p:nvPr>
        </p:nvSpPr>
        <p:spPr/>
        <p:txBody>
          <a:bodyPr/>
          <a:lstStyle/>
          <a:p>
            <a:r>
              <a:rPr lang="en-AU" dirty="0">
                <a:solidFill>
                  <a:srgbClr val="002060"/>
                </a:solidFill>
                <a:latin typeface="Calibri" panose="020F0502020204030204" pitchFamily="34" charset="0"/>
                <a:cs typeface="Calibri" panose="020F0502020204030204" pitchFamily="34" charset="0"/>
              </a:rPr>
              <a:t>Enzymes are very sensitive and have many factors which can affect their action.</a:t>
            </a:r>
          </a:p>
          <a:p>
            <a:r>
              <a:rPr lang="en-AU" dirty="0">
                <a:solidFill>
                  <a:srgbClr val="002060"/>
                </a:solidFill>
                <a:latin typeface="Calibri" panose="020F0502020204030204" pitchFamily="34" charset="0"/>
                <a:cs typeface="Calibri" panose="020F0502020204030204" pitchFamily="34" charset="0"/>
              </a:rPr>
              <a:t>These include:</a:t>
            </a:r>
          </a:p>
          <a:p>
            <a:pPr lvl="2"/>
            <a:r>
              <a:rPr lang="en-US" dirty="0">
                <a:latin typeface="Calibri" panose="020F0502020204030204" pitchFamily="34" charset="0"/>
                <a:cs typeface="Calibri" panose="020F0502020204030204" pitchFamily="34" charset="0"/>
              </a:rPr>
              <a:t>Temperature</a:t>
            </a:r>
          </a:p>
          <a:p>
            <a:pPr lvl="2"/>
            <a:r>
              <a:rPr lang="en-US" dirty="0">
                <a:latin typeface="Calibri" panose="020F0502020204030204" pitchFamily="34" charset="0"/>
                <a:cs typeface="Calibri" panose="020F0502020204030204" pitchFamily="34" charset="0"/>
              </a:rPr>
              <a:t>pH</a:t>
            </a:r>
          </a:p>
          <a:p>
            <a:pPr lvl="2"/>
            <a:r>
              <a:rPr lang="en-US" dirty="0">
                <a:latin typeface="Calibri" panose="020F0502020204030204" pitchFamily="34" charset="0"/>
                <a:cs typeface="Calibri" panose="020F0502020204030204" pitchFamily="34" charset="0"/>
              </a:rPr>
              <a:t>Substrate/enzyme concentration</a:t>
            </a:r>
          </a:p>
          <a:p>
            <a:pPr lvl="2"/>
            <a:r>
              <a:rPr lang="en-US" dirty="0">
                <a:latin typeface="Calibri" panose="020F0502020204030204" pitchFamily="34" charset="0"/>
                <a:cs typeface="Calibri" panose="020F0502020204030204" pitchFamily="34" charset="0"/>
              </a:rPr>
              <a:t>Co-factors</a:t>
            </a:r>
          </a:p>
          <a:p>
            <a:pPr lvl="2"/>
            <a:r>
              <a:rPr lang="en-US" dirty="0">
                <a:latin typeface="Calibri" panose="020F0502020204030204" pitchFamily="34" charset="0"/>
                <a:cs typeface="Calibri" panose="020F0502020204030204" pitchFamily="34" charset="0"/>
              </a:rPr>
              <a:t>Inhibitors</a:t>
            </a:r>
          </a:p>
          <a:p>
            <a:endParaRPr lang="en-AU" dirty="0"/>
          </a:p>
        </p:txBody>
      </p:sp>
    </p:spTree>
    <p:extLst>
      <p:ext uri="{BB962C8B-B14F-4D97-AF65-F5344CB8AC3E}">
        <p14:creationId xmlns:p14="http://schemas.microsoft.com/office/powerpoint/2010/main" val="41052748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277" y="908720"/>
            <a:ext cx="8229600" cy="1066800"/>
          </a:xfrm>
        </p:spPr>
        <p:txBody>
          <a:bodyPr/>
          <a:lstStyle/>
          <a:p>
            <a:r>
              <a:rPr lang="en-AU" dirty="0">
                <a:solidFill>
                  <a:srgbClr val="0070C0"/>
                </a:solidFill>
              </a:rPr>
              <a:t>Enzyme Videos</a:t>
            </a:r>
          </a:p>
        </p:txBody>
      </p:sp>
      <p:sp>
        <p:nvSpPr>
          <p:cNvPr id="3" name="Content Placeholder 2"/>
          <p:cNvSpPr>
            <a:spLocks noGrp="1"/>
          </p:cNvSpPr>
          <p:nvPr>
            <p:ph idx="1"/>
          </p:nvPr>
        </p:nvSpPr>
        <p:spPr>
          <a:xfrm>
            <a:off x="457200" y="2249424"/>
            <a:ext cx="8229600" cy="3843872"/>
          </a:xfrm>
        </p:spPr>
        <p:txBody>
          <a:bodyPr/>
          <a:lstStyle/>
          <a:p>
            <a:pPr marL="109728" indent="0">
              <a:buNone/>
            </a:pPr>
            <a:r>
              <a:rPr lang="en-AU" dirty="0">
                <a:solidFill>
                  <a:srgbClr val="002060"/>
                </a:solidFill>
                <a:latin typeface="Calibri" panose="020F0502020204030204" pitchFamily="34" charset="0"/>
                <a:cs typeface="Calibri" panose="020F0502020204030204" pitchFamily="34" charset="0"/>
              </a:rPr>
              <a:t>View in your own time:</a:t>
            </a:r>
          </a:p>
          <a:p>
            <a:endParaRPr lang="en-AU" dirty="0">
              <a:latin typeface="Calibri" panose="020F0502020204030204" pitchFamily="34" charset="0"/>
              <a:cs typeface="Calibri" panose="020F0502020204030204" pitchFamily="34" charset="0"/>
            </a:endParaRPr>
          </a:p>
          <a:p>
            <a:r>
              <a:rPr lang="en-AU" dirty="0">
                <a:solidFill>
                  <a:srgbClr val="002060"/>
                </a:solidFill>
                <a:latin typeface="Calibri" panose="020F0502020204030204" pitchFamily="34" charset="0"/>
                <a:cs typeface="Calibri" panose="020F0502020204030204" pitchFamily="34" charset="0"/>
              </a:rPr>
              <a:t>Fun song about enzymes </a:t>
            </a:r>
            <a:r>
              <a:rPr lang="en-AU" sz="2400" dirty="0">
                <a:latin typeface="Calibri" panose="020F0502020204030204" pitchFamily="34" charset="0"/>
                <a:cs typeface="Calibri" panose="020F0502020204030204" pitchFamily="34" charset="0"/>
                <a:hlinkClick r:id="rId2"/>
              </a:rPr>
              <a:t>https://www.youtube.com/watch?v=deFQhPurj-k</a:t>
            </a:r>
            <a:endParaRPr lang="en-AU" sz="2400" dirty="0">
              <a:latin typeface="Calibri" panose="020F0502020204030204" pitchFamily="34" charset="0"/>
              <a:cs typeface="Calibri" panose="020F0502020204030204" pitchFamily="34" charset="0"/>
            </a:endParaRPr>
          </a:p>
          <a:p>
            <a:endParaRPr lang="en-AU" dirty="0">
              <a:latin typeface="Calibri" panose="020F0502020204030204" pitchFamily="34" charset="0"/>
              <a:cs typeface="Calibri" panose="020F0502020204030204" pitchFamily="34" charset="0"/>
            </a:endParaRPr>
          </a:p>
          <a:p>
            <a:r>
              <a:rPr lang="en-AU" dirty="0">
                <a:solidFill>
                  <a:srgbClr val="002060"/>
                </a:solidFill>
                <a:latin typeface="Calibri" panose="020F0502020204030204" pitchFamily="34" charset="0"/>
                <a:cs typeface="Calibri" panose="020F0502020204030204" pitchFamily="34" charset="0"/>
              </a:rPr>
              <a:t>Practicals demonstrating the factors effecting enzyme activity </a:t>
            </a:r>
            <a:r>
              <a:rPr lang="en-AU" sz="2400" dirty="0">
                <a:latin typeface="Calibri" panose="020F0502020204030204" pitchFamily="34" charset="0"/>
                <a:cs typeface="Calibri" panose="020F0502020204030204" pitchFamily="34" charset="0"/>
                <a:hlinkClick r:id="rId3"/>
              </a:rPr>
              <a:t>https://www.youtube.com/watch?v=3b7Nuy0Xuuw</a:t>
            </a:r>
            <a:endParaRPr lang="en-AU" sz="2400" dirty="0">
              <a:latin typeface="Calibri" panose="020F0502020204030204" pitchFamily="34" charset="0"/>
              <a:cs typeface="Calibri" panose="020F0502020204030204" pitchFamily="34" charset="0"/>
            </a:endParaRPr>
          </a:p>
          <a:p>
            <a:endParaRPr lang="en-AU" dirty="0"/>
          </a:p>
        </p:txBody>
      </p:sp>
    </p:spTree>
    <p:extLst>
      <p:ext uri="{BB962C8B-B14F-4D97-AF65-F5344CB8AC3E}">
        <p14:creationId xmlns:p14="http://schemas.microsoft.com/office/powerpoint/2010/main" val="7376111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943" y="428313"/>
            <a:ext cx="8229600" cy="893674"/>
          </a:xfrm>
        </p:spPr>
        <p:txBody>
          <a:bodyPr>
            <a:normAutofit/>
          </a:bodyPr>
          <a:lstStyle/>
          <a:p>
            <a:r>
              <a:rPr lang="en-AU" sz="3600" dirty="0">
                <a:solidFill>
                  <a:srgbClr val="0070C0"/>
                </a:solidFill>
              </a:rPr>
              <a:t>Learning Intentions</a:t>
            </a:r>
          </a:p>
        </p:txBody>
      </p:sp>
      <p:sp>
        <p:nvSpPr>
          <p:cNvPr id="3" name="Content Placeholder 2"/>
          <p:cNvSpPr>
            <a:spLocks noGrp="1"/>
          </p:cNvSpPr>
          <p:nvPr>
            <p:ph idx="1"/>
          </p:nvPr>
        </p:nvSpPr>
        <p:spPr>
          <a:xfrm>
            <a:off x="515718" y="1232732"/>
            <a:ext cx="7631022" cy="1570664"/>
          </a:xfrm>
        </p:spPr>
        <p:txBody>
          <a:bodyPr>
            <a:normAutofit fontScale="85000" lnSpcReduction="20000"/>
          </a:bodyPr>
          <a:lstStyle/>
          <a:p>
            <a:pPr marL="109728" lvl="0" indent="0">
              <a:buNone/>
            </a:pPr>
            <a:r>
              <a:rPr lang="en-AU" sz="2700" dirty="0">
                <a:solidFill>
                  <a:srgbClr val="002060"/>
                </a:solidFill>
                <a:latin typeface="Calibri" panose="020F0502020204030204" pitchFamily="34" charset="0"/>
                <a:cs typeface="Calibri" panose="020F0502020204030204" pitchFamily="34" charset="0"/>
              </a:rPr>
              <a:t>Understand:</a:t>
            </a:r>
          </a:p>
          <a:p>
            <a:pPr lvl="0"/>
            <a:r>
              <a:rPr lang="en-AU" sz="2700" dirty="0">
                <a:solidFill>
                  <a:srgbClr val="002060"/>
                </a:solidFill>
                <a:latin typeface="Calibri" panose="020F0502020204030204" pitchFamily="34" charset="0"/>
                <a:cs typeface="Calibri" panose="020F0502020204030204" pitchFamily="34" charset="0"/>
              </a:rPr>
              <a:t>biochemical processes in the cell are controlled by factors, including the nature and arrangement of internal membranes, and the presence of specific enzymes</a:t>
            </a:r>
          </a:p>
          <a:p>
            <a:pPr lvl="0"/>
            <a:r>
              <a:rPr lang="en-AU" sz="2700" dirty="0">
                <a:solidFill>
                  <a:srgbClr val="002060"/>
                </a:solidFill>
                <a:latin typeface="Calibri" panose="020F0502020204030204" pitchFamily="34" charset="0"/>
                <a:cs typeface="Calibri" panose="020F0502020204030204" pitchFamily="34" charset="0"/>
              </a:rPr>
              <a:t>Models used to explain the function of enzymes.</a:t>
            </a:r>
          </a:p>
          <a:p>
            <a:endParaRPr lang="en-AU" dirty="0"/>
          </a:p>
        </p:txBody>
      </p:sp>
      <p:sp>
        <p:nvSpPr>
          <p:cNvPr id="4" name="TextBox 3"/>
          <p:cNvSpPr txBox="1"/>
          <p:nvPr/>
        </p:nvSpPr>
        <p:spPr>
          <a:xfrm>
            <a:off x="611560" y="3640109"/>
            <a:ext cx="7632848" cy="1985159"/>
          </a:xfrm>
          <a:prstGeom prst="rect">
            <a:avLst/>
          </a:prstGeom>
          <a:noFill/>
        </p:spPr>
        <p:txBody>
          <a:bodyPr wrap="square" rtlCol="0">
            <a:spAutoFit/>
          </a:bodyPr>
          <a:lstStyle/>
          <a:p>
            <a:pPr lvl="0"/>
            <a:r>
              <a:rPr lang="en-AU" sz="2100" dirty="0">
                <a:solidFill>
                  <a:srgbClr val="002060"/>
                </a:solidFill>
                <a:latin typeface="Calibri" panose="020F0502020204030204" pitchFamily="34" charset="0"/>
                <a:cs typeface="Calibri" panose="020F0502020204030204" pitchFamily="34" charset="0"/>
              </a:rPr>
              <a:t>Students will be able to:</a:t>
            </a:r>
          </a:p>
          <a:p>
            <a:pPr marL="285750" lvl="0" indent="-285750">
              <a:buFont typeface="Arial" panose="020B0604020202020204" pitchFamily="34" charset="0"/>
              <a:buChar char="•"/>
            </a:pPr>
            <a:r>
              <a:rPr lang="en-AU" sz="2100" dirty="0">
                <a:solidFill>
                  <a:srgbClr val="002060"/>
                </a:solidFill>
                <a:latin typeface="Calibri" panose="020F0502020204030204" pitchFamily="34" charset="0"/>
                <a:cs typeface="Calibri" panose="020F0502020204030204" pitchFamily="34" charset="0"/>
              </a:rPr>
              <a:t>Explain how enzyme function is effected by temperature, pH, presence of inhibitors, concentrations of reactants and products</a:t>
            </a:r>
          </a:p>
          <a:p>
            <a:pPr marL="285750" lvl="0" indent="-285750">
              <a:buFont typeface="Arial" panose="020B0604020202020204" pitchFamily="34" charset="0"/>
              <a:buChar char="•"/>
            </a:pPr>
            <a:r>
              <a:rPr lang="en-AU" sz="2100" dirty="0">
                <a:solidFill>
                  <a:srgbClr val="002060"/>
                </a:solidFill>
                <a:latin typeface="Calibri" panose="020F0502020204030204" pitchFamily="34" charset="0"/>
                <a:cs typeface="Calibri" panose="020F0502020204030204" pitchFamily="34" charset="0"/>
              </a:rPr>
              <a:t>Describe and illustrate the lock and key model and the induced fit model of enzyme action.</a:t>
            </a:r>
          </a:p>
          <a:p>
            <a:endParaRPr lang="en-AU" dirty="0"/>
          </a:p>
        </p:txBody>
      </p:sp>
      <p:sp>
        <p:nvSpPr>
          <p:cNvPr id="5" name="Title 1"/>
          <p:cNvSpPr txBox="1">
            <a:spLocks/>
          </p:cNvSpPr>
          <p:nvPr/>
        </p:nvSpPr>
        <p:spPr>
          <a:xfrm>
            <a:off x="528943" y="2924944"/>
            <a:ext cx="8229600" cy="893674"/>
          </a:xfrm>
          <a:prstGeom prst="rect">
            <a:avLst/>
          </a:prstGeom>
        </p:spPr>
        <p:txBody>
          <a:bodyPr vert="horz" anchor="ct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AU" sz="3600" dirty="0">
                <a:solidFill>
                  <a:srgbClr val="0070C0"/>
                </a:solidFill>
              </a:rPr>
              <a:t>Success Criteria</a:t>
            </a:r>
          </a:p>
        </p:txBody>
      </p:sp>
      <p:pic>
        <p:nvPicPr>
          <p:cNvPr id="6" name="Picture 5">
            <a:extLst>
              <a:ext uri="{FF2B5EF4-FFF2-40B4-BE49-F238E27FC236}">
                <a16:creationId xmlns:a16="http://schemas.microsoft.com/office/drawing/2014/main" id="{23D9F9E7-C5E4-4C71-A10A-885FD0BCB9E8}"/>
              </a:ext>
            </a:extLst>
          </p:cNvPr>
          <p:cNvPicPr>
            <a:picLocks noChangeAspect="1"/>
          </p:cNvPicPr>
          <p:nvPr/>
        </p:nvPicPr>
        <p:blipFill>
          <a:blip r:embed="rId2"/>
          <a:stretch>
            <a:fillRect/>
          </a:stretch>
        </p:blipFill>
        <p:spPr>
          <a:xfrm>
            <a:off x="2874117" y="5285096"/>
            <a:ext cx="3395766" cy="1572904"/>
          </a:xfrm>
          <a:prstGeom prst="rect">
            <a:avLst/>
          </a:prstGeom>
        </p:spPr>
      </p:pic>
    </p:spTree>
    <p:extLst>
      <p:ext uri="{BB962C8B-B14F-4D97-AF65-F5344CB8AC3E}">
        <p14:creationId xmlns:p14="http://schemas.microsoft.com/office/powerpoint/2010/main" val="38138701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4056" y="591344"/>
            <a:ext cx="8229600" cy="1066800"/>
          </a:xfrm>
        </p:spPr>
        <p:txBody>
          <a:bodyPr/>
          <a:lstStyle/>
          <a:p>
            <a:r>
              <a:rPr lang="en-AU" dirty="0">
                <a:solidFill>
                  <a:srgbClr val="0070C0"/>
                </a:solidFill>
              </a:rPr>
              <a:t>Moodle &amp; Textbook Work</a:t>
            </a:r>
          </a:p>
        </p:txBody>
      </p:sp>
      <p:sp>
        <p:nvSpPr>
          <p:cNvPr id="5" name="Content Placeholder 2"/>
          <p:cNvSpPr txBox="1">
            <a:spLocks/>
          </p:cNvSpPr>
          <p:nvPr/>
        </p:nvSpPr>
        <p:spPr>
          <a:xfrm>
            <a:off x="3275856" y="2528900"/>
            <a:ext cx="5461800" cy="1368152"/>
          </a:xfrm>
          <a:prstGeom prst="rect">
            <a:avLst/>
          </a:prstGeom>
        </p:spPr>
        <p:txBody>
          <a:bodyPr vert="horz">
            <a:normAutofit fontScale="85000" lnSpcReduction="20000"/>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r>
              <a:rPr lang="en-AU" dirty="0">
                <a:solidFill>
                  <a:srgbClr val="002060"/>
                </a:solidFill>
                <a:latin typeface="Calibri" panose="020F0502020204030204" pitchFamily="34" charset="0"/>
                <a:cs typeface="Calibri" panose="020F0502020204030204" pitchFamily="34" charset="0"/>
              </a:rPr>
              <a:t>Read Nelson pages 312-322 and complete question sets 10.2-10.4.</a:t>
            </a:r>
          </a:p>
          <a:p>
            <a:endParaRPr lang="en-AU" dirty="0">
              <a:latin typeface="Calibri" panose="020F0502020204030204" pitchFamily="34" charset="0"/>
              <a:cs typeface="Calibri" panose="020F0502020204030204" pitchFamily="34" charset="0"/>
            </a:endParaRPr>
          </a:p>
          <a:p>
            <a:r>
              <a:rPr lang="en-AU" dirty="0">
                <a:solidFill>
                  <a:srgbClr val="FF0000"/>
                </a:solidFill>
                <a:latin typeface="Calibri" panose="020F0502020204030204" pitchFamily="34" charset="0"/>
                <a:cs typeface="Calibri" panose="020F0502020204030204" pitchFamily="34" charset="0"/>
              </a:rPr>
              <a:t>Task due this FRIDAY! Parts A &amp; B</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2" y="1916832"/>
            <a:ext cx="1976998" cy="2592288"/>
          </a:xfrm>
          <a:prstGeom prst="rect">
            <a:avLst/>
          </a:prstGeom>
        </p:spPr>
      </p:pic>
      <p:pic>
        <p:nvPicPr>
          <p:cNvPr id="4" name="Picture 3">
            <a:extLst>
              <a:ext uri="{FF2B5EF4-FFF2-40B4-BE49-F238E27FC236}">
                <a16:creationId xmlns:a16="http://schemas.microsoft.com/office/drawing/2014/main" id="{3C991540-57F3-42BD-8B41-523282548398}"/>
              </a:ext>
            </a:extLst>
          </p:cNvPr>
          <p:cNvPicPr>
            <a:picLocks noChangeAspect="1"/>
          </p:cNvPicPr>
          <p:nvPr/>
        </p:nvPicPr>
        <p:blipFill>
          <a:blip r:embed="rId3"/>
          <a:stretch>
            <a:fillRect/>
          </a:stretch>
        </p:blipFill>
        <p:spPr>
          <a:xfrm>
            <a:off x="1580875" y="4797152"/>
            <a:ext cx="7383613" cy="1664609"/>
          </a:xfrm>
          <a:prstGeom prst="rect">
            <a:avLst/>
          </a:prstGeom>
        </p:spPr>
      </p:pic>
    </p:spTree>
    <p:extLst>
      <p:ext uri="{BB962C8B-B14F-4D97-AF65-F5344CB8AC3E}">
        <p14:creationId xmlns:p14="http://schemas.microsoft.com/office/powerpoint/2010/main" val="24913397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764704"/>
            <a:ext cx="8229600" cy="1066800"/>
          </a:xfrm>
        </p:spPr>
        <p:txBody>
          <a:bodyPr/>
          <a:lstStyle/>
          <a:p>
            <a:r>
              <a:rPr lang="en-AU" dirty="0">
                <a:solidFill>
                  <a:srgbClr val="0070C0"/>
                </a:solidFill>
              </a:rPr>
              <a:t>Student Feedback</a:t>
            </a:r>
          </a:p>
        </p:txBody>
      </p:sp>
      <p:sp>
        <p:nvSpPr>
          <p:cNvPr id="3" name="Content Placeholder 2"/>
          <p:cNvSpPr>
            <a:spLocks noGrp="1"/>
          </p:cNvSpPr>
          <p:nvPr>
            <p:ph sz="quarter" idx="1"/>
          </p:nvPr>
        </p:nvSpPr>
        <p:spPr/>
        <p:txBody>
          <a:bodyPr>
            <a:normAutofit/>
          </a:bodyPr>
          <a:lstStyle/>
          <a:p>
            <a:r>
              <a:rPr lang="en-AU" dirty="0">
                <a:solidFill>
                  <a:srgbClr val="002060"/>
                </a:solidFill>
                <a:latin typeface="Calibri" panose="020F0502020204030204" pitchFamily="34" charset="0"/>
                <a:cs typeface="Calibri" panose="020F0502020204030204" pitchFamily="34" charset="0"/>
              </a:rPr>
              <a:t>What I learnt today…..</a:t>
            </a:r>
          </a:p>
          <a:p>
            <a:endParaRPr lang="en-AU" dirty="0">
              <a:solidFill>
                <a:srgbClr val="002060"/>
              </a:solidFill>
              <a:latin typeface="Calibri" panose="020F0502020204030204" pitchFamily="34" charset="0"/>
              <a:cs typeface="Calibri" panose="020F0502020204030204" pitchFamily="34" charset="0"/>
            </a:endParaRPr>
          </a:p>
          <a:p>
            <a:pPr marL="109728" indent="0">
              <a:buNone/>
            </a:pPr>
            <a:endParaRPr lang="en-AU" dirty="0">
              <a:solidFill>
                <a:srgbClr val="002060"/>
              </a:solidFill>
              <a:latin typeface="Calibri" panose="020F0502020204030204" pitchFamily="34" charset="0"/>
              <a:cs typeface="Calibri" panose="020F0502020204030204" pitchFamily="34" charset="0"/>
            </a:endParaRPr>
          </a:p>
          <a:p>
            <a:endParaRPr lang="en-AU" dirty="0">
              <a:solidFill>
                <a:srgbClr val="002060"/>
              </a:solidFill>
              <a:latin typeface="Calibri" panose="020F0502020204030204" pitchFamily="34" charset="0"/>
              <a:cs typeface="Calibri" panose="020F0502020204030204" pitchFamily="34" charset="0"/>
            </a:endParaRPr>
          </a:p>
          <a:p>
            <a:r>
              <a:rPr lang="en-AU" dirty="0">
                <a:solidFill>
                  <a:srgbClr val="002060"/>
                </a:solidFill>
                <a:latin typeface="Calibri" panose="020F0502020204030204" pitchFamily="34" charset="0"/>
                <a:cs typeface="Calibri" panose="020F0502020204030204" pitchFamily="34" charset="0"/>
              </a:rPr>
              <a:t>What I need to revise….</a:t>
            </a:r>
          </a:p>
          <a:p>
            <a:pPr marL="109728" indent="0">
              <a:buNone/>
            </a:pPr>
            <a:endParaRPr lang="en-AU" dirty="0"/>
          </a:p>
        </p:txBody>
      </p:sp>
    </p:spTree>
    <p:extLst>
      <p:ext uri="{BB962C8B-B14F-4D97-AF65-F5344CB8AC3E}">
        <p14:creationId xmlns:p14="http://schemas.microsoft.com/office/powerpoint/2010/main" val="33978288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8356C-2B61-996A-A6C9-23B40B70295A}"/>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61B8396F-37BF-1B1F-3576-DDDA19D3AE28}"/>
              </a:ext>
            </a:extLst>
          </p:cNvPr>
          <p:cNvSpPr>
            <a:spLocks noGrp="1"/>
          </p:cNvSpPr>
          <p:nvPr>
            <p:ph idx="1"/>
          </p:nvPr>
        </p:nvSpPr>
        <p:spPr/>
        <p:txBody>
          <a:bodyPr/>
          <a:lstStyle/>
          <a:p>
            <a:endParaRPr lang="en-AU"/>
          </a:p>
        </p:txBody>
      </p:sp>
    </p:spTree>
    <p:extLst>
      <p:ext uri="{BB962C8B-B14F-4D97-AF65-F5344CB8AC3E}">
        <p14:creationId xmlns:p14="http://schemas.microsoft.com/office/powerpoint/2010/main" val="6583859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980728"/>
            <a:ext cx="8229600" cy="1066800"/>
          </a:xfrm>
        </p:spPr>
        <p:txBody>
          <a:bodyPr/>
          <a:lstStyle/>
          <a:p>
            <a:r>
              <a:rPr lang="en-AU" dirty="0">
                <a:solidFill>
                  <a:srgbClr val="0070C0"/>
                </a:solidFill>
              </a:rPr>
              <a:t>Factors Affecting Enzymes</a:t>
            </a:r>
          </a:p>
        </p:txBody>
      </p:sp>
      <p:sp>
        <p:nvSpPr>
          <p:cNvPr id="3" name="Content Placeholder 2"/>
          <p:cNvSpPr>
            <a:spLocks noGrp="1"/>
          </p:cNvSpPr>
          <p:nvPr>
            <p:ph idx="1"/>
          </p:nvPr>
        </p:nvSpPr>
        <p:spPr/>
        <p:txBody>
          <a:bodyPr/>
          <a:lstStyle/>
          <a:p>
            <a:r>
              <a:rPr lang="en-AU" dirty="0">
                <a:solidFill>
                  <a:srgbClr val="002060"/>
                </a:solidFill>
                <a:latin typeface="Calibri" panose="020F0502020204030204" pitchFamily="34" charset="0"/>
                <a:cs typeface="Calibri" panose="020F0502020204030204" pitchFamily="34" charset="0"/>
              </a:rPr>
              <a:t>Enzymes are very sensitive and have many factors which can affect their action.</a:t>
            </a:r>
          </a:p>
          <a:p>
            <a:r>
              <a:rPr lang="en-AU" dirty="0">
                <a:solidFill>
                  <a:srgbClr val="002060"/>
                </a:solidFill>
                <a:latin typeface="Calibri" panose="020F0502020204030204" pitchFamily="34" charset="0"/>
                <a:cs typeface="Calibri" panose="020F0502020204030204" pitchFamily="34" charset="0"/>
              </a:rPr>
              <a:t>These include:</a:t>
            </a:r>
          </a:p>
          <a:p>
            <a:pPr lvl="2"/>
            <a:r>
              <a:rPr lang="en-US" dirty="0">
                <a:latin typeface="Calibri" panose="020F0502020204030204" pitchFamily="34" charset="0"/>
                <a:cs typeface="Calibri" panose="020F0502020204030204" pitchFamily="34" charset="0"/>
              </a:rPr>
              <a:t>Temperature</a:t>
            </a:r>
          </a:p>
          <a:p>
            <a:pPr lvl="2"/>
            <a:r>
              <a:rPr lang="en-US" dirty="0">
                <a:latin typeface="Calibri" panose="020F0502020204030204" pitchFamily="34" charset="0"/>
                <a:cs typeface="Calibri" panose="020F0502020204030204" pitchFamily="34" charset="0"/>
              </a:rPr>
              <a:t>pH</a:t>
            </a:r>
          </a:p>
          <a:p>
            <a:pPr lvl="2"/>
            <a:r>
              <a:rPr lang="en-US" dirty="0">
                <a:latin typeface="Calibri" panose="020F0502020204030204" pitchFamily="34" charset="0"/>
                <a:cs typeface="Calibri" panose="020F0502020204030204" pitchFamily="34" charset="0"/>
              </a:rPr>
              <a:t>Substrate/enzyme concentration</a:t>
            </a:r>
          </a:p>
          <a:p>
            <a:pPr lvl="2"/>
            <a:r>
              <a:rPr lang="en-US" dirty="0">
                <a:latin typeface="Calibri" panose="020F0502020204030204" pitchFamily="34" charset="0"/>
                <a:cs typeface="Calibri" panose="020F0502020204030204" pitchFamily="34" charset="0"/>
              </a:rPr>
              <a:t>Co-factors</a:t>
            </a:r>
          </a:p>
          <a:p>
            <a:pPr lvl="2"/>
            <a:r>
              <a:rPr lang="en-US" dirty="0">
                <a:latin typeface="Calibri" panose="020F0502020204030204" pitchFamily="34" charset="0"/>
                <a:cs typeface="Calibri" panose="020F0502020204030204" pitchFamily="34" charset="0"/>
              </a:rPr>
              <a:t>Inhibitors</a:t>
            </a:r>
          </a:p>
          <a:p>
            <a:endParaRPr lang="en-AU" dirty="0"/>
          </a:p>
        </p:txBody>
      </p:sp>
    </p:spTree>
    <p:extLst>
      <p:ext uri="{BB962C8B-B14F-4D97-AF65-F5344CB8AC3E}">
        <p14:creationId xmlns:p14="http://schemas.microsoft.com/office/powerpoint/2010/main" val="35945555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21" name="Rectangle 1"/>
          <p:cNvSpPr>
            <a:spLocks/>
          </p:cNvSpPr>
          <p:nvPr/>
        </p:nvSpPr>
        <p:spPr bwMode="auto">
          <a:xfrm>
            <a:off x="4658505" y="1470999"/>
            <a:ext cx="4330898" cy="449163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64291" tIns="32146" rIns="64291" bIns="32146"/>
          <a:lstStyle/>
          <a:p>
            <a:endParaRPr lang="en-AU"/>
          </a:p>
        </p:txBody>
      </p:sp>
      <p:sp>
        <p:nvSpPr>
          <p:cNvPr id="133122" name="AutoShape 2"/>
          <p:cNvSpPr>
            <a:spLocks/>
          </p:cNvSpPr>
          <p:nvPr/>
        </p:nvSpPr>
        <p:spPr bwMode="auto">
          <a:xfrm>
            <a:off x="4792450" y="2482287"/>
            <a:ext cx="3589734" cy="3471416"/>
          </a:xfrm>
          <a:custGeom>
            <a:avLst/>
            <a:gdLst/>
            <a:ahLst/>
            <a:cxnLst/>
            <a:rect l="0" t="0" r="r" b="b"/>
            <a:pathLst>
              <a:path w="21600" h="21432">
                <a:moveTo>
                  <a:pt x="0" y="21432"/>
                </a:moveTo>
                <a:cubicBezTo>
                  <a:pt x="215" y="21267"/>
                  <a:pt x="886" y="20780"/>
                  <a:pt x="1290" y="20439"/>
                </a:cubicBezTo>
                <a:cubicBezTo>
                  <a:pt x="1693" y="20099"/>
                  <a:pt x="1997" y="19787"/>
                  <a:pt x="2418" y="19392"/>
                </a:cubicBezTo>
                <a:cubicBezTo>
                  <a:pt x="2839" y="18996"/>
                  <a:pt x="3384" y="18538"/>
                  <a:pt x="3815" y="18068"/>
                </a:cubicBezTo>
                <a:cubicBezTo>
                  <a:pt x="4246" y="17598"/>
                  <a:pt x="4683" y="17195"/>
                  <a:pt x="5104" y="16690"/>
                </a:cubicBezTo>
                <a:cubicBezTo>
                  <a:pt x="5525" y="16184"/>
                  <a:pt x="5810" y="15820"/>
                  <a:pt x="6340" y="15035"/>
                </a:cubicBezTo>
                <a:cubicBezTo>
                  <a:pt x="6871" y="14251"/>
                  <a:pt x="7612" y="12885"/>
                  <a:pt x="8167" y="11892"/>
                </a:cubicBezTo>
                <a:cubicBezTo>
                  <a:pt x="8722" y="10899"/>
                  <a:pt x="9206" y="9999"/>
                  <a:pt x="9672" y="9080"/>
                </a:cubicBezTo>
                <a:cubicBezTo>
                  <a:pt x="10137" y="8161"/>
                  <a:pt x="10540" y="7205"/>
                  <a:pt x="10961" y="6378"/>
                </a:cubicBezTo>
                <a:cubicBezTo>
                  <a:pt x="11382" y="5550"/>
                  <a:pt x="11821" y="4605"/>
                  <a:pt x="12197" y="3841"/>
                </a:cubicBezTo>
                <a:cubicBezTo>
                  <a:pt x="12573" y="3078"/>
                  <a:pt x="12856" y="2414"/>
                  <a:pt x="13218" y="1801"/>
                </a:cubicBezTo>
                <a:cubicBezTo>
                  <a:pt x="13580" y="1188"/>
                  <a:pt x="13907" y="775"/>
                  <a:pt x="14346" y="478"/>
                </a:cubicBezTo>
                <a:cubicBezTo>
                  <a:pt x="14786" y="180"/>
                  <a:pt x="15195" y="-168"/>
                  <a:pt x="15743" y="92"/>
                </a:cubicBezTo>
                <a:cubicBezTo>
                  <a:pt x="16291" y="351"/>
                  <a:pt x="16781" y="980"/>
                  <a:pt x="17140" y="1801"/>
                </a:cubicBezTo>
                <a:cubicBezTo>
                  <a:pt x="17499" y="2622"/>
                  <a:pt x="17561" y="3206"/>
                  <a:pt x="17839" y="4889"/>
                </a:cubicBezTo>
                <a:cubicBezTo>
                  <a:pt x="18117" y="6572"/>
                  <a:pt x="18475" y="9787"/>
                  <a:pt x="18806" y="11892"/>
                </a:cubicBezTo>
                <a:cubicBezTo>
                  <a:pt x="19137" y="13997"/>
                  <a:pt x="19477" y="16052"/>
                  <a:pt x="19827" y="17517"/>
                </a:cubicBezTo>
                <a:cubicBezTo>
                  <a:pt x="20177" y="18982"/>
                  <a:pt x="20601" y="19997"/>
                  <a:pt x="20901" y="20660"/>
                </a:cubicBezTo>
                <a:cubicBezTo>
                  <a:pt x="21202" y="21323"/>
                  <a:pt x="21484" y="21303"/>
                  <a:pt x="21600" y="21432"/>
                </a:cubicBezTo>
              </a:path>
            </a:pathLst>
          </a:custGeom>
          <a:solidFill>
            <a:srgbClr val="2D00FA">
              <a:alpha val="39999"/>
            </a:srgbClr>
          </a:solidFill>
          <a:ln w="50800">
            <a:solidFill>
              <a:srgbClr val="2D00FA"/>
            </a:solidFill>
            <a:miter lim="800000"/>
            <a:headEnd/>
            <a:tailEnd/>
          </a:ln>
        </p:spPr>
        <p:txBody>
          <a:bodyPr lIns="64291" tIns="32146" rIns="64291" bIns="32146"/>
          <a:lstStyle/>
          <a:p>
            <a:endParaRPr lang="en-AU"/>
          </a:p>
        </p:txBody>
      </p:sp>
      <p:sp>
        <p:nvSpPr>
          <p:cNvPr id="133123" name="Rectangle 3"/>
          <p:cNvSpPr>
            <a:spLocks noGrp="1" noChangeArrowheads="1"/>
          </p:cNvSpPr>
          <p:nvPr>
            <p:ph type="title"/>
          </p:nvPr>
        </p:nvSpPr>
        <p:spPr>
          <a:xfrm>
            <a:off x="412552" y="404199"/>
            <a:ext cx="8229600" cy="1066800"/>
          </a:xfrm>
        </p:spPr>
        <p:txBody>
          <a:bodyPr>
            <a:normAutofit/>
          </a:bodyPr>
          <a:lstStyle/>
          <a:p>
            <a:r>
              <a:rPr lang="en-US" sz="3800" dirty="0">
                <a:solidFill>
                  <a:srgbClr val="0070C0"/>
                </a:solidFill>
              </a:rPr>
              <a:t>Effect of Temperature</a:t>
            </a:r>
          </a:p>
        </p:txBody>
      </p:sp>
      <p:sp>
        <p:nvSpPr>
          <p:cNvPr id="133124" name="Rectangle 4"/>
          <p:cNvSpPr>
            <a:spLocks noGrp="1" noChangeArrowheads="1"/>
          </p:cNvSpPr>
          <p:nvPr>
            <p:ph type="body" idx="1"/>
          </p:nvPr>
        </p:nvSpPr>
        <p:spPr>
          <a:xfrm>
            <a:off x="154597" y="1516698"/>
            <a:ext cx="3553642" cy="5153610"/>
          </a:xfrm>
        </p:spPr>
        <p:txBody>
          <a:bodyPr>
            <a:normAutofit fontScale="77500" lnSpcReduction="20000"/>
          </a:bodyPr>
          <a:lstStyle/>
          <a:p>
            <a:r>
              <a:rPr lang="en-US" dirty="0">
                <a:solidFill>
                  <a:srgbClr val="002060"/>
                </a:solidFill>
                <a:latin typeface="Calibri" panose="020F0502020204030204" pitchFamily="34" charset="0"/>
                <a:cs typeface="Calibri" panose="020F0502020204030204" pitchFamily="34" charset="0"/>
              </a:rPr>
              <a:t>Enzymes often have a narrow range of conditions under which they operate properly.</a:t>
            </a:r>
          </a:p>
          <a:p>
            <a:r>
              <a:rPr lang="en-US" dirty="0">
                <a:solidFill>
                  <a:srgbClr val="002060"/>
                </a:solidFill>
                <a:latin typeface="Calibri" panose="020F0502020204030204" pitchFamily="34" charset="0"/>
                <a:cs typeface="Calibri" panose="020F0502020204030204" pitchFamily="34" charset="0"/>
              </a:rPr>
              <a:t>For most plant and animal enzymes, there is little activity at low temperatures. </a:t>
            </a:r>
          </a:p>
          <a:p>
            <a:pPr lvl="1"/>
            <a:r>
              <a:rPr lang="en-US" b="1" dirty="0">
                <a:latin typeface="Calibri" panose="020F0502020204030204" pitchFamily="34" charset="0"/>
                <a:cs typeface="Calibri" panose="020F0502020204030204" pitchFamily="34" charset="0"/>
              </a:rPr>
              <a:t>Enzyme activity increases with temperature</a:t>
            </a:r>
            <a:r>
              <a:rPr lang="en-US" dirty="0">
                <a:latin typeface="Calibri" panose="020F0502020204030204" pitchFamily="34" charset="0"/>
                <a:cs typeface="Calibri" panose="020F0502020204030204" pitchFamily="34" charset="0"/>
              </a:rPr>
              <a:t>, until the temperature is too high for the enzyme to function.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(See diagram right).</a:t>
            </a:r>
          </a:p>
          <a:p>
            <a:pPr lvl="1"/>
            <a:r>
              <a:rPr lang="en-US" dirty="0">
                <a:latin typeface="Calibri" panose="020F0502020204030204" pitchFamily="34" charset="0"/>
                <a:cs typeface="Calibri" panose="020F0502020204030204" pitchFamily="34" charset="0"/>
              </a:rPr>
              <a:t>At this point, enzyme denaturation (breakdown) occurs and the enzyme can no longer function.</a:t>
            </a:r>
          </a:p>
        </p:txBody>
      </p:sp>
      <p:sp>
        <p:nvSpPr>
          <p:cNvPr id="133125" name="Line 5"/>
          <p:cNvSpPr>
            <a:spLocks noChangeShapeType="1"/>
          </p:cNvSpPr>
          <p:nvPr/>
        </p:nvSpPr>
        <p:spPr bwMode="auto">
          <a:xfrm>
            <a:off x="4299085" y="2059243"/>
            <a:ext cx="5581" cy="3435697"/>
          </a:xfrm>
          <a:prstGeom prst="line">
            <a:avLst/>
          </a:prstGeom>
          <a:noFill/>
          <a:ln w="101600">
            <a:solidFill>
              <a:srgbClr val="FF0017"/>
            </a:solidFill>
            <a:round/>
            <a:headEnd type="stealth" w="med" len="med"/>
            <a:tailEnd/>
          </a:ln>
          <a:extLst>
            <a:ext uri="{909E8E84-426E-40DD-AFC4-6F175D3DCCD1}">
              <a14:hiddenFill xmlns:a14="http://schemas.microsoft.com/office/drawing/2010/main">
                <a:noFill/>
              </a14:hiddenFill>
            </a:ext>
          </a:extLst>
        </p:spPr>
        <p:txBody>
          <a:bodyPr lIns="64291" tIns="32146" rIns="64291" bIns="32146"/>
          <a:lstStyle/>
          <a:p>
            <a:endParaRPr lang="en-AU"/>
          </a:p>
        </p:txBody>
      </p:sp>
      <p:sp>
        <p:nvSpPr>
          <p:cNvPr id="133126" name="Line 6"/>
          <p:cNvSpPr>
            <a:spLocks noChangeShapeType="1"/>
          </p:cNvSpPr>
          <p:nvPr/>
        </p:nvSpPr>
        <p:spPr bwMode="auto">
          <a:xfrm flipH="1">
            <a:off x="5106106" y="6268474"/>
            <a:ext cx="3435697" cy="0"/>
          </a:xfrm>
          <a:prstGeom prst="line">
            <a:avLst/>
          </a:prstGeom>
          <a:noFill/>
          <a:ln w="101600">
            <a:solidFill>
              <a:srgbClr val="FF0017"/>
            </a:solidFill>
            <a:round/>
            <a:headEnd type="stealth" w="med" len="med"/>
            <a:tailEnd/>
          </a:ln>
          <a:extLst>
            <a:ext uri="{909E8E84-426E-40DD-AFC4-6F175D3DCCD1}">
              <a14:hiddenFill xmlns:a14="http://schemas.microsoft.com/office/drawing/2010/main">
                <a:noFill/>
              </a14:hiddenFill>
            </a:ext>
          </a:extLst>
        </p:spPr>
        <p:txBody>
          <a:bodyPr lIns="64291" tIns="32146" rIns="64291" bIns="32146"/>
          <a:lstStyle/>
          <a:p>
            <a:endParaRPr lang="en-AU"/>
          </a:p>
        </p:txBody>
      </p:sp>
      <p:sp>
        <p:nvSpPr>
          <p:cNvPr id="133127" name="AutoShape 7"/>
          <p:cNvSpPr>
            <a:spLocks/>
          </p:cNvSpPr>
          <p:nvPr/>
        </p:nvSpPr>
        <p:spPr bwMode="auto">
          <a:xfrm rot="-5400000">
            <a:off x="3279984" y="3898758"/>
            <a:ext cx="1491258" cy="330398"/>
          </a:xfrm>
          <a:custGeom>
            <a:avLst/>
            <a:gdLst/>
            <a:ahLst/>
            <a:cxnLst/>
            <a:rect l="0" t="0" r="r" b="b"/>
            <a:pathLst>
              <a:path w="21600" h="21600">
                <a:moveTo>
                  <a:pt x="0" y="0"/>
                </a:moveTo>
                <a:lnTo>
                  <a:pt x="21600" y="0"/>
                </a:lnTo>
                <a:lnTo>
                  <a:pt x="21600" y="21600"/>
                </a:lnTo>
                <a:lnTo>
                  <a:pt x="0" y="21600"/>
                </a:lnTo>
                <a:close/>
                <a:moveTo>
                  <a:pt x="0" y="0"/>
                </a:move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lgn="ctr">
              <a:lnSpc>
                <a:spcPct val="93000"/>
              </a:lnSpc>
              <a:tabLst>
                <a:tab pos="366104" algn="l"/>
              </a:tabLst>
            </a:pPr>
            <a:r>
              <a:rPr lang="en-US" sz="1400">
                <a:solidFill>
                  <a:srgbClr val="000000"/>
                </a:solidFill>
                <a:latin typeface="Arial" charset="0"/>
                <a:cs typeface="Arial" charset="0"/>
                <a:sym typeface="Arial" charset="0"/>
              </a:rPr>
              <a:t>Rate of reaction</a:t>
            </a:r>
          </a:p>
        </p:txBody>
      </p:sp>
      <p:sp>
        <p:nvSpPr>
          <p:cNvPr id="133128" name="Rectangle 8"/>
          <p:cNvSpPr>
            <a:spLocks/>
          </p:cNvSpPr>
          <p:nvPr/>
        </p:nvSpPr>
        <p:spPr bwMode="auto">
          <a:xfrm>
            <a:off x="5847270" y="6330982"/>
            <a:ext cx="1535906" cy="339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lgn="ctr">
              <a:lnSpc>
                <a:spcPct val="93000"/>
              </a:lnSpc>
              <a:tabLst>
                <a:tab pos="366104" algn="l"/>
              </a:tabLst>
            </a:pPr>
            <a:r>
              <a:rPr lang="en-US" sz="1400">
                <a:solidFill>
                  <a:srgbClr val="000000"/>
                </a:solidFill>
                <a:latin typeface="Arial" charset="0"/>
                <a:cs typeface="Arial" charset="0"/>
                <a:sym typeface="Arial" charset="0"/>
              </a:rPr>
              <a:t>Temperature (°C)</a:t>
            </a:r>
          </a:p>
        </p:txBody>
      </p:sp>
      <p:sp>
        <p:nvSpPr>
          <p:cNvPr id="133129" name="Rectangle 9"/>
          <p:cNvSpPr>
            <a:spLocks/>
          </p:cNvSpPr>
          <p:nvPr/>
        </p:nvSpPr>
        <p:spPr bwMode="auto">
          <a:xfrm>
            <a:off x="4643248" y="3902837"/>
            <a:ext cx="1223367" cy="553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lgn="ctr">
              <a:tabLst>
                <a:tab pos="366104" algn="l"/>
              </a:tabLst>
            </a:pPr>
            <a:r>
              <a:rPr lang="en-US" sz="1300" dirty="0">
                <a:solidFill>
                  <a:srgbClr val="000000"/>
                </a:solidFill>
                <a:latin typeface="Arial" charset="0"/>
                <a:cs typeface="Arial" charset="0"/>
                <a:sym typeface="Arial" charset="0"/>
              </a:rPr>
              <a:t>Too cold for the enzyme to operate</a:t>
            </a:r>
          </a:p>
        </p:txBody>
      </p:sp>
      <p:sp>
        <p:nvSpPr>
          <p:cNvPr id="133130" name="Rectangle 10"/>
          <p:cNvSpPr>
            <a:spLocks/>
          </p:cNvSpPr>
          <p:nvPr/>
        </p:nvSpPr>
        <p:spPr bwMode="auto">
          <a:xfrm>
            <a:off x="6451054" y="1582062"/>
            <a:ext cx="1714500" cy="366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lgn="ctr">
              <a:tabLst>
                <a:tab pos="366104" algn="l"/>
              </a:tabLst>
            </a:pPr>
            <a:r>
              <a:rPr lang="en-US" sz="1300" dirty="0">
                <a:solidFill>
                  <a:srgbClr val="000000"/>
                </a:solidFill>
                <a:latin typeface="Arial" charset="0"/>
                <a:cs typeface="Arial" charset="0"/>
                <a:sym typeface="Arial" charset="0"/>
              </a:rPr>
              <a:t>Optimum temperature for the enzyme</a:t>
            </a:r>
          </a:p>
        </p:txBody>
      </p:sp>
      <p:sp>
        <p:nvSpPr>
          <p:cNvPr id="133131" name="Line 11"/>
          <p:cNvSpPr>
            <a:spLocks noChangeShapeType="1"/>
          </p:cNvSpPr>
          <p:nvPr/>
        </p:nvSpPr>
        <p:spPr bwMode="auto">
          <a:xfrm rot="10800000" flipH="1">
            <a:off x="8353163" y="4505977"/>
            <a:ext cx="0" cy="971104"/>
          </a:xfrm>
          <a:prstGeom prst="line">
            <a:avLst/>
          </a:prstGeom>
          <a:noFill/>
          <a:ln w="63500">
            <a:solidFill>
              <a:srgbClr val="FF0017"/>
            </a:solidFill>
            <a:prstDash val="sysDot"/>
            <a:round/>
            <a:headEnd type="stealth" w="med" len="med"/>
            <a:tailEnd/>
          </a:ln>
          <a:extLst>
            <a:ext uri="{909E8E84-426E-40DD-AFC4-6F175D3DCCD1}">
              <a14:hiddenFill xmlns:a14="http://schemas.microsoft.com/office/drawing/2010/main">
                <a:noFill/>
              </a14:hiddenFill>
            </a:ext>
          </a:extLst>
        </p:spPr>
        <p:txBody>
          <a:bodyPr lIns="64291" tIns="32146" rIns="64291" bIns="32146"/>
          <a:lstStyle/>
          <a:p>
            <a:endParaRPr lang="en-AU"/>
          </a:p>
        </p:txBody>
      </p:sp>
      <p:sp>
        <p:nvSpPr>
          <p:cNvPr id="133132" name="Line 12"/>
          <p:cNvSpPr>
            <a:spLocks noChangeShapeType="1"/>
          </p:cNvSpPr>
          <p:nvPr/>
        </p:nvSpPr>
        <p:spPr bwMode="auto">
          <a:xfrm rot="10800000" flipH="1">
            <a:off x="5106106" y="4581128"/>
            <a:ext cx="0" cy="971104"/>
          </a:xfrm>
          <a:prstGeom prst="line">
            <a:avLst/>
          </a:prstGeom>
          <a:noFill/>
          <a:ln w="63500">
            <a:solidFill>
              <a:srgbClr val="FF0017"/>
            </a:solidFill>
            <a:prstDash val="sysDot"/>
            <a:round/>
            <a:headEnd type="stealth" w="med" len="med"/>
            <a:tailEnd/>
          </a:ln>
          <a:extLst>
            <a:ext uri="{909E8E84-426E-40DD-AFC4-6F175D3DCCD1}">
              <a14:hiddenFill xmlns:a14="http://schemas.microsoft.com/office/drawing/2010/main">
                <a:noFill/>
              </a14:hiddenFill>
            </a:ext>
          </a:extLst>
        </p:spPr>
        <p:txBody>
          <a:bodyPr lIns="64291" tIns="32146" rIns="64291" bIns="32146"/>
          <a:lstStyle/>
          <a:p>
            <a:endParaRPr lang="en-AU"/>
          </a:p>
        </p:txBody>
      </p:sp>
      <p:sp>
        <p:nvSpPr>
          <p:cNvPr id="133133" name="Line 13"/>
          <p:cNvSpPr>
            <a:spLocks noChangeShapeType="1"/>
          </p:cNvSpPr>
          <p:nvPr/>
        </p:nvSpPr>
        <p:spPr bwMode="auto">
          <a:xfrm rot="10800000" flipH="1">
            <a:off x="7308304" y="1988840"/>
            <a:ext cx="0" cy="408533"/>
          </a:xfrm>
          <a:prstGeom prst="line">
            <a:avLst/>
          </a:prstGeom>
          <a:noFill/>
          <a:ln w="63500">
            <a:solidFill>
              <a:srgbClr val="FF0017"/>
            </a:solidFill>
            <a:prstDash val="sysDot"/>
            <a:round/>
            <a:headEnd type="stealth" w="med" len="med"/>
            <a:tailEnd/>
          </a:ln>
          <a:extLst>
            <a:ext uri="{909E8E84-426E-40DD-AFC4-6F175D3DCCD1}">
              <a14:hiddenFill xmlns:a14="http://schemas.microsoft.com/office/drawing/2010/main">
                <a:noFill/>
              </a14:hiddenFill>
            </a:ext>
          </a:extLst>
        </p:spPr>
        <p:txBody>
          <a:bodyPr lIns="64291" tIns="32146" rIns="64291" bIns="32146"/>
          <a:lstStyle/>
          <a:p>
            <a:endParaRPr lang="en-AU"/>
          </a:p>
        </p:txBody>
      </p:sp>
      <p:sp>
        <p:nvSpPr>
          <p:cNvPr id="133134" name="Rectangle 14"/>
          <p:cNvSpPr>
            <a:spLocks/>
          </p:cNvSpPr>
          <p:nvPr/>
        </p:nvSpPr>
        <p:spPr bwMode="auto">
          <a:xfrm>
            <a:off x="7828544" y="3283726"/>
            <a:ext cx="1071563" cy="741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lgn="ctr">
              <a:tabLst>
                <a:tab pos="366104" algn="l"/>
              </a:tabLst>
            </a:pPr>
            <a:r>
              <a:rPr lang="en-US" sz="1300">
                <a:solidFill>
                  <a:srgbClr val="000000"/>
                </a:solidFill>
                <a:latin typeface="Arial" charset="0"/>
                <a:cs typeface="Arial" charset="0"/>
                <a:sym typeface="Arial" charset="0"/>
              </a:rPr>
              <a:t>Rapid denaturation at high temperatures</a:t>
            </a:r>
          </a:p>
        </p:txBody>
      </p:sp>
    </p:spTree>
    <p:extLst>
      <p:ext uri="{BB962C8B-B14F-4D97-AF65-F5344CB8AC3E}">
        <p14:creationId xmlns:p14="http://schemas.microsoft.com/office/powerpoint/2010/main" val="112377790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312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312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3124">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3312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4" grpId="0" build="p" bldLvl="5"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4145" name="AutoShape 1"/>
          <p:cNvSpPr>
            <a:spLocks/>
          </p:cNvSpPr>
          <p:nvPr/>
        </p:nvSpPr>
        <p:spPr bwMode="auto">
          <a:xfrm>
            <a:off x="4954862" y="2750518"/>
            <a:ext cx="1062633" cy="1830586"/>
          </a:xfrm>
          <a:custGeom>
            <a:avLst/>
            <a:gdLst/>
            <a:ahLst/>
            <a:cxnLst/>
            <a:rect l="0" t="0" r="r" b="b"/>
            <a:pathLst>
              <a:path w="21600" h="21600">
                <a:moveTo>
                  <a:pt x="0" y="0"/>
                </a:moveTo>
                <a:lnTo>
                  <a:pt x="2541" y="105"/>
                </a:lnTo>
                <a:lnTo>
                  <a:pt x="4719" y="632"/>
                </a:lnTo>
                <a:lnTo>
                  <a:pt x="6353" y="2213"/>
                </a:lnTo>
                <a:lnTo>
                  <a:pt x="7987" y="4741"/>
                </a:lnTo>
                <a:lnTo>
                  <a:pt x="8894" y="6743"/>
                </a:lnTo>
                <a:lnTo>
                  <a:pt x="9983" y="9167"/>
                </a:lnTo>
                <a:lnTo>
                  <a:pt x="11072" y="11696"/>
                </a:lnTo>
                <a:lnTo>
                  <a:pt x="12161" y="13698"/>
                </a:lnTo>
                <a:lnTo>
                  <a:pt x="14703" y="16753"/>
                </a:lnTo>
                <a:lnTo>
                  <a:pt x="16336" y="18123"/>
                </a:lnTo>
                <a:lnTo>
                  <a:pt x="18333" y="19493"/>
                </a:lnTo>
                <a:lnTo>
                  <a:pt x="21600" y="21600"/>
                </a:lnTo>
                <a:lnTo>
                  <a:pt x="0" y="21600"/>
                </a:lnTo>
              </a:path>
            </a:pathLst>
          </a:custGeom>
          <a:solidFill>
            <a:schemeClr val="accent1">
              <a:alpha val="34901"/>
            </a:schemeClr>
          </a:solidFill>
          <a:ln w="38100">
            <a:solidFill>
              <a:srgbClr val="6E3620"/>
            </a:solidFill>
            <a:miter lim="800000"/>
            <a:headEnd/>
            <a:tailEnd/>
          </a:ln>
        </p:spPr>
        <p:txBody>
          <a:bodyPr lIns="64291" tIns="32146" rIns="64291" bIns="32146"/>
          <a:lstStyle/>
          <a:p>
            <a:endParaRPr lang="en-AU"/>
          </a:p>
        </p:txBody>
      </p:sp>
      <p:sp>
        <p:nvSpPr>
          <p:cNvPr id="134146" name="Rectangle 2"/>
          <p:cNvSpPr>
            <a:spLocks noGrp="1" noChangeArrowheads="1"/>
          </p:cNvSpPr>
          <p:nvPr>
            <p:ph type="title"/>
          </p:nvPr>
        </p:nvSpPr>
        <p:spPr>
          <a:xfrm>
            <a:off x="468357" y="253555"/>
            <a:ext cx="8229600" cy="1066800"/>
          </a:xfrm>
        </p:spPr>
        <p:txBody>
          <a:bodyPr/>
          <a:lstStyle/>
          <a:p>
            <a:r>
              <a:rPr lang="en-US" dirty="0">
                <a:solidFill>
                  <a:srgbClr val="0070C0"/>
                </a:solidFill>
              </a:rPr>
              <a:t>Effect of pH</a:t>
            </a:r>
          </a:p>
        </p:txBody>
      </p:sp>
      <p:sp>
        <p:nvSpPr>
          <p:cNvPr id="134147" name="Rectangle 3"/>
          <p:cNvSpPr>
            <a:spLocks noGrp="1" noChangeArrowheads="1"/>
          </p:cNvSpPr>
          <p:nvPr>
            <p:ph type="body" idx="1"/>
          </p:nvPr>
        </p:nvSpPr>
        <p:spPr>
          <a:xfrm>
            <a:off x="85313" y="1297102"/>
            <a:ext cx="4099361" cy="5089752"/>
          </a:xfrm>
        </p:spPr>
        <p:txBody>
          <a:bodyPr>
            <a:noAutofit/>
          </a:bodyPr>
          <a:lstStyle/>
          <a:p>
            <a:r>
              <a:rPr lang="en-US" sz="1900" dirty="0">
                <a:solidFill>
                  <a:srgbClr val="002060"/>
                </a:solidFill>
                <a:latin typeface="Calibri" panose="020F0502020204030204" pitchFamily="34" charset="0"/>
                <a:cs typeface="Calibri" panose="020F0502020204030204" pitchFamily="34" charset="0"/>
              </a:rPr>
              <a:t>Enzymes can be affected by </a:t>
            </a:r>
            <a:r>
              <a:rPr lang="en-US" sz="1900" dirty="0" err="1">
                <a:solidFill>
                  <a:srgbClr val="002060"/>
                </a:solidFill>
                <a:latin typeface="Calibri" panose="020F0502020204030204" pitchFamily="34" charset="0"/>
                <a:cs typeface="Calibri" panose="020F0502020204030204" pitchFamily="34" charset="0"/>
              </a:rPr>
              <a:t>pH.</a:t>
            </a:r>
            <a:r>
              <a:rPr lang="en-US" sz="1900" dirty="0">
                <a:solidFill>
                  <a:srgbClr val="002060"/>
                </a:solidFill>
                <a:latin typeface="Calibri" panose="020F0502020204030204" pitchFamily="34" charset="0"/>
                <a:cs typeface="Calibri" panose="020F0502020204030204" pitchFamily="34" charset="0"/>
              </a:rPr>
              <a:t>  All </a:t>
            </a:r>
            <a:r>
              <a:rPr lang="en-US" sz="1900" b="1" dirty="0">
                <a:solidFill>
                  <a:srgbClr val="002060"/>
                </a:solidFill>
                <a:latin typeface="Calibri" panose="020F0502020204030204" pitchFamily="34" charset="0"/>
                <a:cs typeface="Calibri" panose="020F0502020204030204" pitchFamily="34" charset="0"/>
              </a:rPr>
              <a:t>enzymes have an optimum pH</a:t>
            </a:r>
            <a:r>
              <a:rPr lang="en-US" sz="1900" dirty="0">
                <a:solidFill>
                  <a:srgbClr val="002060"/>
                </a:solidFill>
                <a:latin typeface="Calibri" panose="020F0502020204030204" pitchFamily="34" charset="0"/>
                <a:cs typeface="Calibri" panose="020F0502020204030204" pitchFamily="34" charset="0"/>
              </a:rPr>
              <a:t> they will function best at.</a:t>
            </a:r>
          </a:p>
          <a:p>
            <a:pPr lvl="1"/>
            <a:r>
              <a:rPr lang="en-US" sz="1900" dirty="0">
                <a:latin typeface="Calibri" panose="020F0502020204030204" pitchFamily="34" charset="0"/>
                <a:cs typeface="Calibri" panose="020F0502020204030204" pitchFamily="34" charset="0"/>
              </a:rPr>
              <a:t>Extremes of pH (very acid or alkaline) away from the enzyme optimum can result in enzyme denaturation.</a:t>
            </a:r>
          </a:p>
          <a:p>
            <a:r>
              <a:rPr lang="en-US" sz="1900" dirty="0">
                <a:solidFill>
                  <a:srgbClr val="002060"/>
                </a:solidFill>
                <a:latin typeface="Calibri" panose="020F0502020204030204" pitchFamily="34" charset="0"/>
                <a:cs typeface="Calibri" panose="020F0502020204030204" pitchFamily="34" charset="0"/>
              </a:rPr>
              <a:t>Enzymes are found in very diverse pH conditions, so they must be suited to perform in these specific environments. </a:t>
            </a:r>
          </a:p>
          <a:p>
            <a:pPr lvl="1"/>
            <a:r>
              <a:rPr lang="en-US" sz="1900" dirty="0">
                <a:latin typeface="Calibri" panose="020F0502020204030204" pitchFamily="34" charset="0"/>
                <a:cs typeface="Calibri" panose="020F0502020204030204" pitchFamily="34" charset="0"/>
              </a:rPr>
              <a:t>Pepsin is a stomach enzyme and has an optimal working pH of 1.5, which is suited for the very acidic conditions of the stomach. </a:t>
            </a:r>
          </a:p>
          <a:p>
            <a:pPr lvl="1"/>
            <a:r>
              <a:rPr lang="en-US" sz="1900" dirty="0">
                <a:latin typeface="Calibri" panose="020F0502020204030204" pitchFamily="34" charset="0"/>
                <a:cs typeface="Calibri" panose="020F0502020204030204" pitchFamily="34" charset="0"/>
              </a:rPr>
              <a:t>Urease breaks down urea and has an optimal pH of near neutral. See diagram right.</a:t>
            </a:r>
          </a:p>
        </p:txBody>
      </p:sp>
      <p:sp>
        <p:nvSpPr>
          <p:cNvPr id="134148" name="Rectangle 4"/>
          <p:cNvSpPr>
            <a:spLocks/>
          </p:cNvSpPr>
          <p:nvPr/>
        </p:nvSpPr>
        <p:spPr bwMode="auto">
          <a:xfrm>
            <a:off x="4945932" y="5536581"/>
            <a:ext cx="3795117" cy="651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lgn="ctr">
              <a:lnSpc>
                <a:spcPct val="91000"/>
              </a:lnSpc>
              <a:tabLst>
                <a:tab pos="366104" algn="l"/>
              </a:tabLst>
            </a:pPr>
            <a:r>
              <a:rPr lang="en-US" sz="1500">
                <a:solidFill>
                  <a:srgbClr val="2D00FA"/>
                </a:solidFill>
                <a:latin typeface="Arial" charset="0"/>
                <a:cs typeface="Arial" charset="0"/>
                <a:sym typeface="Arial" charset="0"/>
              </a:rPr>
              <a:t>Enzymes often work over a range of pH values, but all enzymes have an optimum pH where their activity rate is fastest.</a:t>
            </a:r>
          </a:p>
        </p:txBody>
      </p:sp>
      <p:sp>
        <p:nvSpPr>
          <p:cNvPr id="134149" name="Rectangle 5"/>
          <p:cNvSpPr>
            <a:spLocks/>
          </p:cNvSpPr>
          <p:nvPr/>
        </p:nvSpPr>
        <p:spPr bwMode="auto">
          <a:xfrm>
            <a:off x="4928072" y="2027213"/>
            <a:ext cx="62619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80364">
              <a:tabLst>
                <a:tab pos="366104" algn="l"/>
              </a:tabLst>
            </a:pPr>
            <a:r>
              <a:rPr lang="en-US" sz="1400">
                <a:solidFill>
                  <a:srgbClr val="000000"/>
                </a:solidFill>
                <a:latin typeface="Arial" charset="0"/>
                <a:cs typeface="Arial" charset="0"/>
                <a:sym typeface="Arial" charset="0"/>
              </a:rPr>
              <a:t>Pepsin</a:t>
            </a:r>
          </a:p>
        </p:txBody>
      </p:sp>
      <p:sp>
        <p:nvSpPr>
          <p:cNvPr id="134150" name="Rectangle 6"/>
          <p:cNvSpPr>
            <a:spLocks/>
          </p:cNvSpPr>
          <p:nvPr/>
        </p:nvSpPr>
        <p:spPr bwMode="auto">
          <a:xfrm>
            <a:off x="6731870" y="2018283"/>
            <a:ext cx="656332"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80364">
              <a:tabLst>
                <a:tab pos="366104" algn="l"/>
              </a:tabLst>
            </a:pPr>
            <a:r>
              <a:rPr lang="en-US" sz="1400">
                <a:solidFill>
                  <a:srgbClr val="000000"/>
                </a:solidFill>
                <a:latin typeface="Arial" charset="0"/>
                <a:cs typeface="Arial" charset="0"/>
                <a:sym typeface="Arial" charset="0"/>
              </a:rPr>
              <a:t>Urease</a:t>
            </a:r>
          </a:p>
        </p:txBody>
      </p:sp>
      <p:sp>
        <p:nvSpPr>
          <p:cNvPr id="134151" name="Rectangle 7"/>
          <p:cNvSpPr>
            <a:spLocks/>
          </p:cNvSpPr>
          <p:nvPr/>
        </p:nvSpPr>
        <p:spPr bwMode="auto">
          <a:xfrm>
            <a:off x="7758784" y="1982565"/>
            <a:ext cx="666378"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80364">
              <a:tabLst>
                <a:tab pos="366104" algn="l"/>
              </a:tabLst>
            </a:pPr>
            <a:r>
              <a:rPr lang="en-US" sz="1400">
                <a:solidFill>
                  <a:srgbClr val="000000"/>
                </a:solidFill>
                <a:latin typeface="Arial" charset="0"/>
                <a:cs typeface="Arial" charset="0"/>
                <a:sym typeface="Arial" charset="0"/>
              </a:rPr>
              <a:t>Trypsin</a:t>
            </a:r>
          </a:p>
        </p:txBody>
      </p:sp>
      <p:sp>
        <p:nvSpPr>
          <p:cNvPr id="134152" name="Line 8"/>
          <p:cNvSpPr>
            <a:spLocks noChangeShapeType="1"/>
          </p:cNvSpPr>
          <p:nvPr/>
        </p:nvSpPr>
        <p:spPr bwMode="auto">
          <a:xfrm flipH="1">
            <a:off x="5248426" y="5049913"/>
            <a:ext cx="2971354" cy="0"/>
          </a:xfrm>
          <a:prstGeom prst="line">
            <a:avLst/>
          </a:prstGeom>
          <a:noFill/>
          <a:ln w="101600">
            <a:solidFill>
              <a:srgbClr val="FF0017"/>
            </a:solidFill>
            <a:round/>
            <a:headEnd type="stealth" w="med" len="med"/>
            <a:tailEnd/>
          </a:ln>
          <a:extLst>
            <a:ext uri="{909E8E84-426E-40DD-AFC4-6F175D3DCCD1}">
              <a14:hiddenFill xmlns:a14="http://schemas.microsoft.com/office/drawing/2010/main">
                <a:noFill/>
              </a14:hiddenFill>
            </a:ext>
          </a:extLst>
        </p:spPr>
        <p:txBody>
          <a:bodyPr lIns="64291" tIns="32146" rIns="64291" bIns="32146"/>
          <a:lstStyle/>
          <a:p>
            <a:endParaRPr lang="en-AU"/>
          </a:p>
        </p:txBody>
      </p:sp>
      <p:sp>
        <p:nvSpPr>
          <p:cNvPr id="134153" name="Line 9"/>
          <p:cNvSpPr>
            <a:spLocks noChangeShapeType="1"/>
          </p:cNvSpPr>
          <p:nvPr/>
        </p:nvSpPr>
        <p:spPr bwMode="auto">
          <a:xfrm>
            <a:off x="4714877" y="1673375"/>
            <a:ext cx="0" cy="2771551"/>
          </a:xfrm>
          <a:prstGeom prst="line">
            <a:avLst/>
          </a:prstGeom>
          <a:noFill/>
          <a:ln w="101600">
            <a:solidFill>
              <a:srgbClr val="FF0017"/>
            </a:solidFill>
            <a:round/>
            <a:headEnd type="stealth" w="med" len="med"/>
            <a:tailEnd/>
          </a:ln>
          <a:extLst>
            <a:ext uri="{909E8E84-426E-40DD-AFC4-6F175D3DCCD1}">
              <a14:hiddenFill xmlns:a14="http://schemas.microsoft.com/office/drawing/2010/main">
                <a:noFill/>
              </a14:hiddenFill>
            </a:ext>
          </a:extLst>
        </p:spPr>
        <p:txBody>
          <a:bodyPr lIns="64291" tIns="32146" rIns="64291" bIns="32146"/>
          <a:lstStyle/>
          <a:p>
            <a:endParaRPr lang="en-AU"/>
          </a:p>
        </p:txBody>
      </p:sp>
      <p:sp>
        <p:nvSpPr>
          <p:cNvPr id="134154" name="Rectangle 10"/>
          <p:cNvSpPr>
            <a:spLocks/>
          </p:cNvSpPr>
          <p:nvPr/>
        </p:nvSpPr>
        <p:spPr bwMode="auto">
          <a:xfrm rot="-5400000">
            <a:off x="3725356" y="2994410"/>
            <a:ext cx="1320477"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80364">
              <a:tabLst>
                <a:tab pos="366104" algn="l"/>
              </a:tabLst>
            </a:pPr>
            <a:r>
              <a:rPr lang="en-US" sz="1400">
                <a:solidFill>
                  <a:srgbClr val="000000"/>
                </a:solidFill>
                <a:latin typeface="Arial" charset="0"/>
                <a:cs typeface="Arial" charset="0"/>
                <a:sym typeface="Arial" charset="0"/>
              </a:rPr>
              <a:t>Enzyme activity</a:t>
            </a:r>
          </a:p>
        </p:txBody>
      </p:sp>
      <p:sp>
        <p:nvSpPr>
          <p:cNvPr id="134155" name="Rectangle 11"/>
          <p:cNvSpPr>
            <a:spLocks/>
          </p:cNvSpPr>
          <p:nvPr/>
        </p:nvSpPr>
        <p:spPr bwMode="auto">
          <a:xfrm>
            <a:off x="6562205" y="5134744"/>
            <a:ext cx="309191"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80364">
              <a:tabLst>
                <a:tab pos="366104" algn="l"/>
              </a:tabLst>
            </a:pPr>
            <a:r>
              <a:rPr lang="en-US" sz="1400">
                <a:solidFill>
                  <a:srgbClr val="000000"/>
                </a:solidFill>
                <a:latin typeface="Arial" charset="0"/>
                <a:cs typeface="Arial" charset="0"/>
                <a:sym typeface="Arial" charset="0"/>
              </a:rPr>
              <a:t>pH</a:t>
            </a:r>
          </a:p>
        </p:txBody>
      </p:sp>
      <p:sp>
        <p:nvSpPr>
          <p:cNvPr id="134156" name="Rectangle 12"/>
          <p:cNvSpPr>
            <a:spLocks/>
          </p:cNvSpPr>
          <p:nvPr/>
        </p:nvSpPr>
        <p:spPr bwMode="auto">
          <a:xfrm>
            <a:off x="8187409" y="4920432"/>
            <a:ext cx="70544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80364">
              <a:tabLst>
                <a:tab pos="366104" algn="l"/>
              </a:tabLst>
            </a:pPr>
            <a:r>
              <a:rPr lang="en-US" sz="1400">
                <a:solidFill>
                  <a:srgbClr val="000000"/>
                </a:solidFill>
                <a:latin typeface="Arial" charset="0"/>
                <a:cs typeface="Arial" charset="0"/>
                <a:sym typeface="Arial" charset="0"/>
              </a:rPr>
              <a:t>Alkaline</a:t>
            </a:r>
          </a:p>
        </p:txBody>
      </p:sp>
      <p:sp>
        <p:nvSpPr>
          <p:cNvPr id="134157" name="Rectangle 13"/>
          <p:cNvSpPr>
            <a:spLocks/>
          </p:cNvSpPr>
          <p:nvPr/>
        </p:nvSpPr>
        <p:spPr bwMode="auto">
          <a:xfrm>
            <a:off x="4624464" y="4920432"/>
            <a:ext cx="427509"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80364">
              <a:tabLst>
                <a:tab pos="366104" algn="l"/>
              </a:tabLst>
            </a:pPr>
            <a:r>
              <a:rPr lang="en-US" sz="1400">
                <a:solidFill>
                  <a:srgbClr val="000000"/>
                </a:solidFill>
                <a:latin typeface="Arial" charset="0"/>
                <a:cs typeface="Arial" charset="0"/>
                <a:sym typeface="Arial" charset="0"/>
              </a:rPr>
              <a:t>Acid</a:t>
            </a:r>
          </a:p>
        </p:txBody>
      </p:sp>
      <p:grpSp>
        <p:nvGrpSpPr>
          <p:cNvPr id="134158" name="Group 14"/>
          <p:cNvGrpSpPr>
            <a:grpSpLocks/>
          </p:cNvGrpSpPr>
          <p:nvPr/>
        </p:nvGrpSpPr>
        <p:grpSpPr bwMode="auto">
          <a:xfrm>
            <a:off x="4892354" y="4598964"/>
            <a:ext cx="4205883" cy="303609"/>
            <a:chOff x="0" y="0"/>
            <a:chExt cx="3768" cy="272"/>
          </a:xfrm>
        </p:grpSpPr>
        <p:sp>
          <p:nvSpPr>
            <p:cNvPr id="134159" name="Rectangle 15"/>
            <p:cNvSpPr>
              <a:spLocks/>
            </p:cNvSpPr>
            <p:nvPr/>
          </p:nvSpPr>
          <p:spPr bwMode="auto">
            <a:xfrm>
              <a:off x="0" y="0"/>
              <a:ext cx="18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tabLst>
                  <a:tab pos="366104" algn="l"/>
                </a:tabLst>
              </a:pPr>
              <a:r>
                <a:rPr lang="en-US" sz="1400">
                  <a:solidFill>
                    <a:srgbClr val="000000"/>
                  </a:solidFill>
                  <a:latin typeface="Arial" charset="0"/>
                  <a:cs typeface="Arial" charset="0"/>
                  <a:sym typeface="Arial" charset="0"/>
                </a:rPr>
                <a:t>1</a:t>
              </a:r>
            </a:p>
          </p:txBody>
        </p:sp>
        <p:sp>
          <p:nvSpPr>
            <p:cNvPr id="134160" name="Rectangle 16"/>
            <p:cNvSpPr>
              <a:spLocks/>
            </p:cNvSpPr>
            <p:nvPr/>
          </p:nvSpPr>
          <p:spPr bwMode="auto">
            <a:xfrm>
              <a:off x="834" y="0"/>
              <a:ext cx="18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tabLst>
                  <a:tab pos="366104" algn="l"/>
                </a:tabLst>
              </a:pPr>
              <a:r>
                <a:rPr lang="en-US" sz="1400">
                  <a:solidFill>
                    <a:srgbClr val="000000"/>
                  </a:solidFill>
                  <a:latin typeface="Arial" charset="0"/>
                  <a:cs typeface="Arial" charset="0"/>
                  <a:sym typeface="Arial" charset="0"/>
                </a:rPr>
                <a:t>3</a:t>
              </a:r>
            </a:p>
          </p:txBody>
        </p:sp>
        <p:sp>
          <p:nvSpPr>
            <p:cNvPr id="134161" name="Rectangle 17"/>
            <p:cNvSpPr>
              <a:spLocks/>
            </p:cNvSpPr>
            <p:nvPr/>
          </p:nvSpPr>
          <p:spPr bwMode="auto">
            <a:xfrm>
              <a:off x="457" y="0"/>
              <a:ext cx="181"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tabLst>
                  <a:tab pos="366104" algn="l"/>
                </a:tabLst>
              </a:pPr>
              <a:r>
                <a:rPr lang="en-US" sz="1400">
                  <a:solidFill>
                    <a:srgbClr val="000000"/>
                  </a:solidFill>
                  <a:latin typeface="Arial" charset="0"/>
                  <a:cs typeface="Arial" charset="0"/>
                  <a:sym typeface="Arial" charset="0"/>
                </a:rPr>
                <a:t>2</a:t>
              </a:r>
            </a:p>
          </p:txBody>
        </p:sp>
        <p:sp>
          <p:nvSpPr>
            <p:cNvPr id="134162" name="Rectangle 18"/>
            <p:cNvSpPr>
              <a:spLocks/>
            </p:cNvSpPr>
            <p:nvPr/>
          </p:nvSpPr>
          <p:spPr bwMode="auto">
            <a:xfrm>
              <a:off x="1211" y="0"/>
              <a:ext cx="161"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tabLst>
                  <a:tab pos="366104" algn="l"/>
                </a:tabLst>
              </a:pPr>
              <a:r>
                <a:rPr lang="en-US" sz="1400">
                  <a:solidFill>
                    <a:srgbClr val="000000"/>
                  </a:solidFill>
                  <a:latin typeface="Arial" charset="0"/>
                  <a:cs typeface="Arial" charset="0"/>
                  <a:sym typeface="Arial" charset="0"/>
                </a:rPr>
                <a:t>4</a:t>
              </a:r>
            </a:p>
          </p:txBody>
        </p:sp>
        <p:sp>
          <p:nvSpPr>
            <p:cNvPr id="134163" name="Rectangle 19"/>
            <p:cNvSpPr>
              <a:spLocks/>
            </p:cNvSpPr>
            <p:nvPr/>
          </p:nvSpPr>
          <p:spPr bwMode="auto">
            <a:xfrm>
              <a:off x="1570" y="0"/>
              <a:ext cx="161"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tabLst>
                  <a:tab pos="366104" algn="l"/>
                </a:tabLst>
              </a:pPr>
              <a:r>
                <a:rPr lang="en-US" sz="1400">
                  <a:solidFill>
                    <a:srgbClr val="000000"/>
                  </a:solidFill>
                  <a:latin typeface="Arial" charset="0"/>
                  <a:cs typeface="Arial" charset="0"/>
                  <a:sym typeface="Arial" charset="0"/>
                </a:rPr>
                <a:t>5</a:t>
              </a:r>
            </a:p>
          </p:txBody>
        </p:sp>
        <p:sp>
          <p:nvSpPr>
            <p:cNvPr id="134164" name="Rectangle 20"/>
            <p:cNvSpPr>
              <a:spLocks/>
            </p:cNvSpPr>
            <p:nvPr/>
          </p:nvSpPr>
          <p:spPr bwMode="auto">
            <a:xfrm>
              <a:off x="1928" y="0"/>
              <a:ext cx="16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tabLst>
                  <a:tab pos="366104" algn="l"/>
                </a:tabLst>
              </a:pPr>
              <a:r>
                <a:rPr lang="en-US" sz="1400">
                  <a:solidFill>
                    <a:srgbClr val="000000"/>
                  </a:solidFill>
                  <a:latin typeface="Arial" charset="0"/>
                  <a:cs typeface="Arial" charset="0"/>
                  <a:sym typeface="Arial" charset="0"/>
                </a:rPr>
                <a:t>6</a:t>
              </a:r>
            </a:p>
          </p:txBody>
        </p:sp>
        <p:sp>
          <p:nvSpPr>
            <p:cNvPr id="134165" name="Rectangle 21"/>
            <p:cNvSpPr>
              <a:spLocks/>
            </p:cNvSpPr>
            <p:nvPr/>
          </p:nvSpPr>
          <p:spPr bwMode="auto">
            <a:xfrm>
              <a:off x="2287" y="0"/>
              <a:ext cx="16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tabLst>
                  <a:tab pos="366104" algn="l"/>
                </a:tabLst>
              </a:pPr>
              <a:r>
                <a:rPr lang="en-US" sz="1400">
                  <a:solidFill>
                    <a:srgbClr val="000000"/>
                  </a:solidFill>
                  <a:latin typeface="Arial" charset="0"/>
                  <a:cs typeface="Arial" charset="0"/>
                  <a:sym typeface="Arial" charset="0"/>
                </a:rPr>
                <a:t>7</a:t>
              </a:r>
            </a:p>
          </p:txBody>
        </p:sp>
        <p:sp>
          <p:nvSpPr>
            <p:cNvPr id="134166" name="Rectangle 22"/>
            <p:cNvSpPr>
              <a:spLocks/>
            </p:cNvSpPr>
            <p:nvPr/>
          </p:nvSpPr>
          <p:spPr bwMode="auto">
            <a:xfrm>
              <a:off x="2646" y="0"/>
              <a:ext cx="16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tabLst>
                  <a:tab pos="366104" algn="l"/>
                </a:tabLst>
              </a:pPr>
              <a:r>
                <a:rPr lang="en-US" sz="1400">
                  <a:solidFill>
                    <a:srgbClr val="000000"/>
                  </a:solidFill>
                  <a:latin typeface="Arial" charset="0"/>
                  <a:cs typeface="Arial" charset="0"/>
                  <a:sym typeface="Arial" charset="0"/>
                </a:rPr>
                <a:t>8</a:t>
              </a:r>
            </a:p>
          </p:txBody>
        </p:sp>
        <p:sp>
          <p:nvSpPr>
            <p:cNvPr id="134167" name="Rectangle 23"/>
            <p:cNvSpPr>
              <a:spLocks/>
            </p:cNvSpPr>
            <p:nvPr/>
          </p:nvSpPr>
          <p:spPr bwMode="auto">
            <a:xfrm>
              <a:off x="3041" y="0"/>
              <a:ext cx="161"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tabLst>
                  <a:tab pos="366104" algn="l"/>
                </a:tabLst>
              </a:pPr>
              <a:r>
                <a:rPr lang="en-US" sz="1400">
                  <a:solidFill>
                    <a:srgbClr val="000000"/>
                  </a:solidFill>
                  <a:latin typeface="Arial" charset="0"/>
                  <a:cs typeface="Arial" charset="0"/>
                  <a:sym typeface="Arial" charset="0"/>
                </a:rPr>
                <a:t>9</a:t>
              </a:r>
            </a:p>
          </p:txBody>
        </p:sp>
        <p:sp>
          <p:nvSpPr>
            <p:cNvPr id="134168" name="Rectangle 24"/>
            <p:cNvSpPr>
              <a:spLocks/>
            </p:cNvSpPr>
            <p:nvPr/>
          </p:nvSpPr>
          <p:spPr bwMode="auto">
            <a:xfrm>
              <a:off x="3364" y="0"/>
              <a:ext cx="404"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tabLst>
                  <a:tab pos="366104" algn="l"/>
                </a:tabLst>
              </a:pPr>
              <a:r>
                <a:rPr lang="en-US" sz="1400">
                  <a:solidFill>
                    <a:srgbClr val="000000"/>
                  </a:solidFill>
                  <a:latin typeface="Arial" charset="0"/>
                  <a:cs typeface="Arial" charset="0"/>
                  <a:sym typeface="Arial" charset="0"/>
                </a:rPr>
                <a:t>10</a:t>
              </a:r>
            </a:p>
          </p:txBody>
        </p:sp>
      </p:grpSp>
      <p:sp>
        <p:nvSpPr>
          <p:cNvPr id="134169" name="Line 25"/>
          <p:cNvSpPr>
            <a:spLocks noChangeShapeType="1"/>
          </p:cNvSpPr>
          <p:nvPr/>
        </p:nvSpPr>
        <p:spPr bwMode="auto">
          <a:xfrm rot="10800000">
            <a:off x="5194848" y="2290639"/>
            <a:ext cx="1116" cy="870645"/>
          </a:xfrm>
          <a:prstGeom prst="line">
            <a:avLst/>
          </a:prstGeom>
          <a:noFill/>
          <a:ln w="63500">
            <a:solidFill>
              <a:srgbClr val="FF0017"/>
            </a:solidFill>
            <a:round/>
            <a:headEnd type="stealth" w="med" len="med"/>
            <a:tailEnd/>
          </a:ln>
          <a:extLst>
            <a:ext uri="{909E8E84-426E-40DD-AFC4-6F175D3DCCD1}">
              <a14:hiddenFill xmlns:a14="http://schemas.microsoft.com/office/drawing/2010/main">
                <a:noFill/>
              </a14:hiddenFill>
            </a:ext>
          </a:extLst>
        </p:spPr>
        <p:txBody>
          <a:bodyPr lIns="64291" tIns="32146" rIns="64291" bIns="32146"/>
          <a:lstStyle/>
          <a:p>
            <a:endParaRPr lang="en-AU"/>
          </a:p>
        </p:txBody>
      </p:sp>
      <p:sp>
        <p:nvSpPr>
          <p:cNvPr id="134170" name="Line 26"/>
          <p:cNvSpPr>
            <a:spLocks noChangeShapeType="1"/>
          </p:cNvSpPr>
          <p:nvPr/>
        </p:nvSpPr>
        <p:spPr bwMode="auto">
          <a:xfrm rot="10800000">
            <a:off x="7186168" y="2290639"/>
            <a:ext cx="1116" cy="870645"/>
          </a:xfrm>
          <a:prstGeom prst="line">
            <a:avLst/>
          </a:prstGeom>
          <a:noFill/>
          <a:ln w="63500">
            <a:solidFill>
              <a:srgbClr val="FF0017"/>
            </a:solidFill>
            <a:round/>
            <a:headEnd type="stealth" w="med" len="med"/>
            <a:tailEnd/>
          </a:ln>
          <a:extLst>
            <a:ext uri="{909E8E84-426E-40DD-AFC4-6F175D3DCCD1}">
              <a14:hiddenFill xmlns:a14="http://schemas.microsoft.com/office/drawing/2010/main">
                <a:noFill/>
              </a14:hiddenFill>
            </a:ext>
          </a:extLst>
        </p:spPr>
        <p:txBody>
          <a:bodyPr lIns="64291" tIns="32146" rIns="64291" bIns="32146"/>
          <a:lstStyle/>
          <a:p>
            <a:endParaRPr lang="en-AU"/>
          </a:p>
        </p:txBody>
      </p:sp>
      <p:sp>
        <p:nvSpPr>
          <p:cNvPr id="134171" name="Line 27"/>
          <p:cNvSpPr>
            <a:spLocks noChangeShapeType="1"/>
          </p:cNvSpPr>
          <p:nvPr/>
        </p:nvSpPr>
        <p:spPr bwMode="auto">
          <a:xfrm rot="10800000">
            <a:off x="8132715" y="2290639"/>
            <a:ext cx="1116" cy="870645"/>
          </a:xfrm>
          <a:prstGeom prst="line">
            <a:avLst/>
          </a:prstGeom>
          <a:noFill/>
          <a:ln w="63500">
            <a:solidFill>
              <a:srgbClr val="FF0017"/>
            </a:solidFill>
            <a:round/>
            <a:headEnd type="stealth" w="med" len="med"/>
            <a:tailEnd/>
          </a:ln>
          <a:extLst>
            <a:ext uri="{909E8E84-426E-40DD-AFC4-6F175D3DCCD1}">
              <a14:hiddenFill xmlns:a14="http://schemas.microsoft.com/office/drawing/2010/main">
                <a:noFill/>
              </a14:hiddenFill>
            </a:ext>
          </a:extLst>
        </p:spPr>
        <p:txBody>
          <a:bodyPr lIns="64291" tIns="32146" rIns="64291" bIns="32146"/>
          <a:lstStyle/>
          <a:p>
            <a:endParaRPr lang="en-AU"/>
          </a:p>
        </p:txBody>
      </p:sp>
      <p:sp>
        <p:nvSpPr>
          <p:cNvPr id="134172" name="AutoShape 28"/>
          <p:cNvSpPr>
            <a:spLocks/>
          </p:cNvSpPr>
          <p:nvPr/>
        </p:nvSpPr>
        <p:spPr bwMode="auto">
          <a:xfrm>
            <a:off x="6258596" y="2647827"/>
            <a:ext cx="2357438" cy="1933277"/>
          </a:xfrm>
          <a:custGeom>
            <a:avLst/>
            <a:gdLst/>
            <a:ahLst/>
            <a:cxnLst/>
            <a:rect l="0" t="0" r="r" b="b"/>
            <a:pathLst>
              <a:path w="21600" h="18848">
                <a:moveTo>
                  <a:pt x="0" y="18848"/>
                </a:moveTo>
                <a:cubicBezTo>
                  <a:pt x="0" y="18848"/>
                  <a:pt x="2455" y="18325"/>
                  <a:pt x="3355" y="16932"/>
                </a:cubicBezTo>
                <a:cubicBezTo>
                  <a:pt x="4255" y="15538"/>
                  <a:pt x="6966" y="10161"/>
                  <a:pt x="7691" y="6480"/>
                </a:cubicBezTo>
                <a:cubicBezTo>
                  <a:pt x="8755" y="1080"/>
                  <a:pt x="11291" y="-2752"/>
                  <a:pt x="13582" y="2474"/>
                </a:cubicBezTo>
                <a:cubicBezTo>
                  <a:pt x="15873" y="7700"/>
                  <a:pt x="16118" y="9616"/>
                  <a:pt x="17264" y="12925"/>
                </a:cubicBezTo>
                <a:cubicBezTo>
                  <a:pt x="18457" y="16373"/>
                  <a:pt x="21600" y="18848"/>
                  <a:pt x="21600" y="18848"/>
                </a:cubicBezTo>
              </a:path>
            </a:pathLst>
          </a:custGeom>
          <a:solidFill>
            <a:srgbClr val="85007E">
              <a:alpha val="36862"/>
            </a:srgbClr>
          </a:solidFill>
          <a:ln w="38100">
            <a:solidFill>
              <a:srgbClr val="85007E"/>
            </a:solidFill>
            <a:miter lim="800000"/>
            <a:headEnd/>
            <a:tailEnd/>
          </a:ln>
        </p:spPr>
        <p:txBody>
          <a:bodyPr lIns="64291" tIns="32146" rIns="64291" bIns="32146"/>
          <a:lstStyle/>
          <a:p>
            <a:endParaRPr lang="en-AU"/>
          </a:p>
        </p:txBody>
      </p:sp>
      <p:sp>
        <p:nvSpPr>
          <p:cNvPr id="134173" name="AutoShape 29"/>
          <p:cNvSpPr>
            <a:spLocks/>
          </p:cNvSpPr>
          <p:nvPr/>
        </p:nvSpPr>
        <p:spPr bwMode="auto">
          <a:xfrm>
            <a:off x="6794377" y="2269432"/>
            <a:ext cx="2107406" cy="2320602"/>
          </a:xfrm>
          <a:custGeom>
            <a:avLst/>
            <a:gdLst/>
            <a:ahLst/>
            <a:cxnLst/>
            <a:rect l="0" t="0" r="r" b="b"/>
            <a:pathLst>
              <a:path w="21600" h="21341">
                <a:moveTo>
                  <a:pt x="0" y="21341"/>
                </a:moveTo>
                <a:cubicBezTo>
                  <a:pt x="0" y="21341"/>
                  <a:pt x="1188" y="21277"/>
                  <a:pt x="2288" y="19698"/>
                </a:cubicBezTo>
                <a:cubicBezTo>
                  <a:pt x="3661" y="17727"/>
                  <a:pt x="3753" y="18056"/>
                  <a:pt x="5034" y="14442"/>
                </a:cubicBezTo>
                <a:cubicBezTo>
                  <a:pt x="6315" y="10828"/>
                  <a:pt x="6773" y="9022"/>
                  <a:pt x="7414" y="5819"/>
                </a:cubicBezTo>
                <a:cubicBezTo>
                  <a:pt x="8054" y="2616"/>
                  <a:pt x="8603" y="727"/>
                  <a:pt x="9793" y="234"/>
                </a:cubicBezTo>
                <a:cubicBezTo>
                  <a:pt x="10886" y="-219"/>
                  <a:pt x="12447" y="-259"/>
                  <a:pt x="13088" y="2041"/>
                </a:cubicBezTo>
                <a:cubicBezTo>
                  <a:pt x="13729" y="4340"/>
                  <a:pt x="15376" y="9514"/>
                  <a:pt x="15834" y="10993"/>
                </a:cubicBezTo>
                <a:cubicBezTo>
                  <a:pt x="16292" y="12471"/>
                  <a:pt x="17207" y="16249"/>
                  <a:pt x="18305" y="17727"/>
                </a:cubicBezTo>
                <a:cubicBezTo>
                  <a:pt x="19503" y="19340"/>
                  <a:pt x="21600" y="21095"/>
                  <a:pt x="21600" y="21095"/>
                </a:cubicBezTo>
              </a:path>
            </a:pathLst>
          </a:custGeom>
          <a:solidFill>
            <a:srgbClr val="00817F">
              <a:alpha val="48627"/>
            </a:srgbClr>
          </a:solidFill>
          <a:ln w="38100">
            <a:solidFill>
              <a:srgbClr val="00817F"/>
            </a:solidFill>
            <a:prstDash val="sysDot"/>
            <a:miter lim="800000"/>
            <a:headEnd/>
            <a:tailEnd/>
          </a:ln>
        </p:spPr>
        <p:txBody>
          <a:bodyPr lIns="64291" tIns="32146" rIns="64291" bIns="32146"/>
          <a:lstStyle/>
          <a:p>
            <a:endParaRPr lang="en-AU"/>
          </a:p>
        </p:txBody>
      </p:sp>
      <p:sp>
        <p:nvSpPr>
          <p:cNvPr id="134174" name="Rectangle 30"/>
          <p:cNvSpPr>
            <a:spLocks/>
          </p:cNvSpPr>
          <p:nvPr/>
        </p:nvSpPr>
        <p:spPr bwMode="auto">
          <a:xfrm>
            <a:off x="4959327" y="1196752"/>
            <a:ext cx="4018359" cy="3384352"/>
          </a:xfrm>
          <a:prstGeom prst="rect">
            <a:avLst/>
          </a:prstGeom>
          <a:noFill/>
          <a:ln w="508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64291" tIns="32146" rIns="64291" bIns="32146"/>
          <a:lstStyle/>
          <a:p>
            <a:endParaRPr lang="en-AU"/>
          </a:p>
        </p:txBody>
      </p:sp>
    </p:spTree>
    <p:extLst>
      <p:ext uri="{BB962C8B-B14F-4D97-AF65-F5344CB8AC3E}">
        <p14:creationId xmlns:p14="http://schemas.microsoft.com/office/powerpoint/2010/main" val="9642012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41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41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414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3414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341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build="p" bldLvl="5"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2165" y="764704"/>
            <a:ext cx="9019669" cy="5472608"/>
          </a:xfrm>
          <a:prstGeom prst="rect">
            <a:avLst/>
          </a:prstGeom>
        </p:spPr>
      </p:pic>
    </p:spTree>
    <p:extLst>
      <p:ext uri="{BB962C8B-B14F-4D97-AF65-F5344CB8AC3E}">
        <p14:creationId xmlns:p14="http://schemas.microsoft.com/office/powerpoint/2010/main" val="16218301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1"/>
          <p:cNvSpPr>
            <a:spLocks noGrp="1" noChangeArrowheads="1"/>
          </p:cNvSpPr>
          <p:nvPr>
            <p:ph type="title"/>
          </p:nvPr>
        </p:nvSpPr>
        <p:spPr>
          <a:xfrm>
            <a:off x="476176" y="264282"/>
            <a:ext cx="8229600" cy="1066800"/>
          </a:xfrm>
        </p:spPr>
        <p:txBody>
          <a:bodyPr>
            <a:normAutofit/>
          </a:bodyPr>
          <a:lstStyle/>
          <a:p>
            <a:r>
              <a:rPr lang="en-US" dirty="0">
                <a:solidFill>
                  <a:srgbClr val="0070C0"/>
                </a:solidFill>
              </a:rPr>
              <a:t>Concentration</a:t>
            </a:r>
          </a:p>
        </p:txBody>
      </p:sp>
      <p:grpSp>
        <p:nvGrpSpPr>
          <p:cNvPr id="135170" name="Group 2"/>
          <p:cNvGrpSpPr>
            <a:grpSpLocks/>
          </p:cNvGrpSpPr>
          <p:nvPr/>
        </p:nvGrpSpPr>
        <p:grpSpPr bwMode="auto">
          <a:xfrm>
            <a:off x="485138" y="1580569"/>
            <a:ext cx="3875484" cy="5089922"/>
            <a:chOff x="0" y="0"/>
            <a:chExt cx="3472" cy="4560"/>
          </a:xfrm>
        </p:grpSpPr>
        <p:sp>
          <p:nvSpPr>
            <p:cNvPr id="135171" name="Rectangle 3"/>
            <p:cNvSpPr>
              <a:spLocks/>
            </p:cNvSpPr>
            <p:nvPr/>
          </p:nvSpPr>
          <p:spPr bwMode="auto">
            <a:xfrm>
              <a:off x="680" y="448"/>
              <a:ext cx="2176" cy="2176"/>
            </a:xfrm>
            <a:prstGeom prst="rect">
              <a:avLst/>
            </a:prstGeom>
            <a:solidFill>
              <a:srgbClr val="00817F">
                <a:alpha val="13725"/>
              </a:srgbClr>
            </a:solidFill>
            <a:ln w="508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35172" name="Line 4"/>
            <p:cNvSpPr>
              <a:spLocks noChangeShapeType="1"/>
            </p:cNvSpPr>
            <p:nvPr/>
          </p:nvSpPr>
          <p:spPr bwMode="auto">
            <a:xfrm rot="10800000" flipH="1">
              <a:off x="688" y="658"/>
              <a:ext cx="1826" cy="1950"/>
            </a:xfrm>
            <a:prstGeom prst="line">
              <a:avLst/>
            </a:prstGeom>
            <a:noFill/>
            <a:ln w="88900">
              <a:solidFill>
                <a:srgbClr val="16007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35173" name="Rectangle 5"/>
            <p:cNvSpPr>
              <a:spLocks/>
            </p:cNvSpPr>
            <p:nvPr/>
          </p:nvSpPr>
          <p:spPr bwMode="auto">
            <a:xfrm>
              <a:off x="915" y="2960"/>
              <a:ext cx="1744"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b="1">
                  <a:solidFill>
                    <a:srgbClr val="000000"/>
                  </a:solidFill>
                  <a:latin typeface="Arial" charset="0"/>
                  <a:cs typeface="Arial" charset="0"/>
                  <a:sym typeface="Arial" charset="0"/>
                </a:rPr>
                <a:t>Enzyme concentration</a:t>
              </a:r>
            </a:p>
          </p:txBody>
        </p:sp>
        <p:sp>
          <p:nvSpPr>
            <p:cNvPr id="135174" name="Line 6"/>
            <p:cNvSpPr>
              <a:spLocks noChangeShapeType="1"/>
            </p:cNvSpPr>
            <p:nvPr/>
          </p:nvSpPr>
          <p:spPr bwMode="auto">
            <a:xfrm>
              <a:off x="488" y="644"/>
              <a:ext cx="0" cy="1876"/>
            </a:xfrm>
            <a:prstGeom prst="line">
              <a:avLst/>
            </a:prstGeom>
            <a:noFill/>
            <a:ln w="762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35175" name="Line 7"/>
            <p:cNvSpPr>
              <a:spLocks noChangeShapeType="1"/>
            </p:cNvSpPr>
            <p:nvPr/>
          </p:nvSpPr>
          <p:spPr bwMode="auto">
            <a:xfrm flipH="1">
              <a:off x="667" y="2853"/>
              <a:ext cx="2190" cy="0"/>
            </a:xfrm>
            <a:prstGeom prst="line">
              <a:avLst/>
            </a:prstGeom>
            <a:noFill/>
            <a:ln w="762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35176" name="AutoShape 8"/>
            <p:cNvSpPr>
              <a:spLocks/>
            </p:cNvSpPr>
            <p:nvPr/>
          </p:nvSpPr>
          <p:spPr bwMode="auto">
            <a:xfrm rot="-5400000">
              <a:off x="-383" y="1338"/>
              <a:ext cx="1375" cy="296"/>
            </a:xfrm>
            <a:custGeom>
              <a:avLst/>
              <a:gdLst/>
              <a:ahLst/>
              <a:cxnLst/>
              <a:rect l="0" t="0" r="r" b="b"/>
              <a:pathLst>
                <a:path w="21600" h="21600">
                  <a:moveTo>
                    <a:pt x="0" y="0"/>
                  </a:moveTo>
                  <a:lnTo>
                    <a:pt x="21600" y="0"/>
                  </a:lnTo>
                  <a:lnTo>
                    <a:pt x="21600" y="21600"/>
                  </a:lnTo>
                  <a:lnTo>
                    <a:pt x="0" y="21600"/>
                  </a:lnTo>
                  <a:close/>
                  <a:moveTo>
                    <a:pt x="0" y="0"/>
                  </a:moveTo>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b="1">
                  <a:solidFill>
                    <a:srgbClr val="000000"/>
                  </a:solidFill>
                  <a:latin typeface="Arial" charset="0"/>
                  <a:cs typeface="Arial" charset="0"/>
                  <a:sym typeface="Arial" charset="0"/>
                </a:rPr>
                <a:t>Rate of reaction</a:t>
              </a:r>
            </a:p>
          </p:txBody>
        </p:sp>
        <p:sp>
          <p:nvSpPr>
            <p:cNvPr id="135177" name="Rectangle 9"/>
            <p:cNvSpPr>
              <a:spLocks/>
            </p:cNvSpPr>
            <p:nvPr/>
          </p:nvSpPr>
          <p:spPr bwMode="auto">
            <a:xfrm>
              <a:off x="806" y="0"/>
              <a:ext cx="1920" cy="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400" b="1">
                  <a:solidFill>
                    <a:srgbClr val="2D00FA"/>
                  </a:solidFill>
                  <a:latin typeface="Arial" charset="0"/>
                  <a:cs typeface="Arial" charset="0"/>
                  <a:sym typeface="Arial" charset="0"/>
                </a:rPr>
                <a:t>Effect of Enzyme Concentration</a:t>
              </a:r>
            </a:p>
          </p:txBody>
        </p:sp>
        <p:pic>
          <p:nvPicPr>
            <p:cNvPr id="135178"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8" y="943"/>
              <a:ext cx="1322" cy="16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35179" name="Rectangle 11"/>
            <p:cNvSpPr>
              <a:spLocks/>
            </p:cNvSpPr>
            <p:nvPr/>
          </p:nvSpPr>
          <p:spPr bwMode="auto">
            <a:xfrm>
              <a:off x="0" y="3256"/>
              <a:ext cx="3472" cy="1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500" dirty="0">
                  <a:solidFill>
                    <a:srgbClr val="002060"/>
                  </a:solidFill>
                  <a:latin typeface="Arial" charset="0"/>
                  <a:cs typeface="Arial" charset="0"/>
                  <a:sym typeface="Arial" charset="0"/>
                </a:rPr>
                <a:t>Rate of reaction continues to increase</a:t>
              </a:r>
              <a:br>
                <a:rPr lang="en-US" sz="1500" dirty="0">
                  <a:solidFill>
                    <a:srgbClr val="002060"/>
                  </a:solidFill>
                  <a:latin typeface="Arial" charset="0"/>
                  <a:cs typeface="Arial" charset="0"/>
                  <a:sym typeface="Arial" charset="0"/>
                </a:rPr>
              </a:br>
              <a:r>
                <a:rPr lang="en-US" sz="1500" dirty="0">
                  <a:solidFill>
                    <a:srgbClr val="002060"/>
                  </a:solidFill>
                  <a:latin typeface="Arial" charset="0"/>
                  <a:cs typeface="Arial" charset="0"/>
                  <a:sym typeface="Arial" charset="0"/>
                </a:rPr>
                <a:t>with an increase in enzyme concentration.</a:t>
              </a:r>
            </a:p>
            <a:p>
              <a:pPr marL="80364">
                <a:tabLst>
                  <a:tab pos="366104" algn="l"/>
                </a:tabLst>
              </a:pPr>
              <a:endParaRPr lang="en-US" sz="1500" dirty="0">
                <a:solidFill>
                  <a:srgbClr val="002060"/>
                </a:solidFill>
                <a:latin typeface="Arial" charset="0"/>
                <a:cs typeface="Arial" charset="0"/>
                <a:sym typeface="Arial" charset="0"/>
              </a:endParaRPr>
            </a:p>
            <a:p>
              <a:pPr marL="80364">
                <a:tabLst>
                  <a:tab pos="366104" algn="l"/>
                </a:tabLst>
              </a:pPr>
              <a:r>
                <a:rPr lang="en-US" sz="1500" dirty="0">
                  <a:solidFill>
                    <a:srgbClr val="002060"/>
                  </a:solidFill>
                  <a:latin typeface="Arial" charset="0"/>
                  <a:cs typeface="Arial" charset="0"/>
                  <a:sym typeface="Arial" charset="0"/>
                </a:rPr>
                <a:t>This relationship assumes non-limiting amounts of substrate and cofactors.</a:t>
              </a:r>
            </a:p>
            <a:p>
              <a:pPr marL="80364">
                <a:tabLst>
                  <a:tab pos="366104" algn="l"/>
                </a:tabLst>
              </a:pPr>
              <a:endParaRPr lang="en-US" sz="1500" dirty="0">
                <a:solidFill>
                  <a:srgbClr val="000000"/>
                </a:solidFill>
                <a:latin typeface="Arial" charset="0"/>
                <a:cs typeface="Arial" charset="0"/>
                <a:sym typeface="Arial" charset="0"/>
              </a:endParaRPr>
            </a:p>
          </p:txBody>
        </p:sp>
      </p:grpSp>
      <p:grpSp>
        <p:nvGrpSpPr>
          <p:cNvPr id="135180" name="Group 12"/>
          <p:cNvGrpSpPr>
            <a:grpSpLocks/>
          </p:cNvGrpSpPr>
          <p:nvPr/>
        </p:nvGrpSpPr>
        <p:grpSpPr bwMode="auto">
          <a:xfrm>
            <a:off x="4630043" y="1571639"/>
            <a:ext cx="4089797" cy="5098852"/>
            <a:chOff x="0" y="0"/>
            <a:chExt cx="3664" cy="4568"/>
          </a:xfrm>
        </p:grpSpPr>
        <p:sp>
          <p:nvSpPr>
            <p:cNvPr id="135181" name="Line 13"/>
            <p:cNvSpPr>
              <a:spLocks noChangeShapeType="1"/>
            </p:cNvSpPr>
            <p:nvPr/>
          </p:nvSpPr>
          <p:spPr bwMode="auto">
            <a:xfrm flipH="1">
              <a:off x="657" y="2890"/>
              <a:ext cx="2159" cy="0"/>
            </a:xfrm>
            <a:prstGeom prst="line">
              <a:avLst/>
            </a:prstGeom>
            <a:noFill/>
            <a:ln w="762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35182" name="Rectangle 14"/>
            <p:cNvSpPr>
              <a:spLocks/>
            </p:cNvSpPr>
            <p:nvPr/>
          </p:nvSpPr>
          <p:spPr bwMode="auto">
            <a:xfrm>
              <a:off x="790" y="3020"/>
              <a:ext cx="207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b="1">
                  <a:solidFill>
                    <a:srgbClr val="000000"/>
                  </a:solidFill>
                  <a:latin typeface="Arial" charset="0"/>
                  <a:cs typeface="Arial" charset="0"/>
                  <a:sym typeface="Arial" charset="0"/>
                </a:rPr>
                <a:t>Concentration of substrate</a:t>
              </a:r>
            </a:p>
          </p:txBody>
        </p:sp>
        <p:sp>
          <p:nvSpPr>
            <p:cNvPr id="135183" name="Rectangle 15"/>
            <p:cNvSpPr>
              <a:spLocks/>
            </p:cNvSpPr>
            <p:nvPr/>
          </p:nvSpPr>
          <p:spPr bwMode="auto">
            <a:xfrm>
              <a:off x="644" y="464"/>
              <a:ext cx="2176" cy="2176"/>
            </a:xfrm>
            <a:prstGeom prst="rect">
              <a:avLst/>
            </a:prstGeom>
            <a:solidFill>
              <a:srgbClr val="00817F">
                <a:alpha val="13725"/>
              </a:srgbClr>
            </a:solidFill>
            <a:ln w="508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35184" name="AutoShape 16"/>
            <p:cNvSpPr>
              <a:spLocks/>
            </p:cNvSpPr>
            <p:nvPr/>
          </p:nvSpPr>
          <p:spPr bwMode="auto">
            <a:xfrm>
              <a:off x="646" y="771"/>
              <a:ext cx="1919" cy="1884"/>
            </a:xfrm>
            <a:custGeom>
              <a:avLst/>
              <a:gdLst/>
              <a:ahLst/>
              <a:cxnLst/>
              <a:rect l="0" t="0" r="r" b="b"/>
              <a:pathLst>
                <a:path w="21600" h="21109">
                  <a:moveTo>
                    <a:pt x="0" y="21109"/>
                  </a:moveTo>
                  <a:cubicBezTo>
                    <a:pt x="550" y="19048"/>
                    <a:pt x="2209" y="11797"/>
                    <a:pt x="3301" y="8744"/>
                  </a:cubicBezTo>
                  <a:cubicBezTo>
                    <a:pt x="6604" y="-491"/>
                    <a:pt x="13599" y="-14"/>
                    <a:pt x="15606" y="11"/>
                  </a:cubicBezTo>
                  <a:cubicBezTo>
                    <a:pt x="16846" y="26"/>
                    <a:pt x="18468" y="11"/>
                    <a:pt x="19515" y="11"/>
                  </a:cubicBezTo>
                  <a:cubicBezTo>
                    <a:pt x="20563" y="11"/>
                    <a:pt x="21175" y="20"/>
                    <a:pt x="21600" y="11"/>
                  </a:cubicBezTo>
                </a:path>
              </a:pathLst>
            </a:custGeom>
            <a:noFill/>
            <a:ln w="88900">
              <a:solidFill>
                <a:srgbClr val="16007D"/>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35185" name="Rectangle 17"/>
            <p:cNvSpPr>
              <a:spLocks/>
            </p:cNvSpPr>
            <p:nvPr/>
          </p:nvSpPr>
          <p:spPr bwMode="auto">
            <a:xfrm>
              <a:off x="766" y="0"/>
              <a:ext cx="1920" cy="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400" b="1">
                  <a:solidFill>
                    <a:srgbClr val="2D00FA"/>
                  </a:solidFill>
                  <a:latin typeface="Arial" charset="0"/>
                  <a:cs typeface="Arial" charset="0"/>
                  <a:sym typeface="Arial" charset="0"/>
                </a:rPr>
                <a:t>Effect of Substrate Concentration</a:t>
              </a:r>
            </a:p>
          </p:txBody>
        </p:sp>
        <p:pic>
          <p:nvPicPr>
            <p:cNvPr id="135186"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0" y="1199"/>
              <a:ext cx="1961" cy="1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35187" name="Rectangle 19"/>
            <p:cNvSpPr>
              <a:spLocks/>
            </p:cNvSpPr>
            <p:nvPr/>
          </p:nvSpPr>
          <p:spPr bwMode="auto">
            <a:xfrm>
              <a:off x="0" y="3264"/>
              <a:ext cx="3664" cy="1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500" dirty="0">
                  <a:solidFill>
                    <a:srgbClr val="002060"/>
                  </a:solidFill>
                  <a:latin typeface="Arial" charset="0"/>
                  <a:cs typeface="Arial" charset="0"/>
                  <a:sym typeface="Arial" charset="0"/>
                </a:rPr>
                <a:t>Rate of reaction increases and then plateaus with increasing substrate concentration.</a:t>
              </a:r>
            </a:p>
            <a:p>
              <a:pPr marL="80364">
                <a:tabLst>
                  <a:tab pos="366104" algn="l"/>
                </a:tabLst>
              </a:pPr>
              <a:endParaRPr lang="en-US" sz="1500" dirty="0">
                <a:solidFill>
                  <a:srgbClr val="002060"/>
                </a:solidFill>
                <a:latin typeface="Arial" charset="0"/>
                <a:cs typeface="Arial" charset="0"/>
                <a:sym typeface="Arial" charset="0"/>
              </a:endParaRPr>
            </a:p>
            <a:p>
              <a:pPr marL="80364">
                <a:tabLst>
                  <a:tab pos="366104" algn="l"/>
                </a:tabLst>
              </a:pPr>
              <a:r>
                <a:rPr lang="en-US" sz="1500" dirty="0">
                  <a:solidFill>
                    <a:srgbClr val="002060"/>
                  </a:solidFill>
                  <a:latin typeface="Arial" charset="0"/>
                  <a:cs typeface="Arial" charset="0"/>
                  <a:sym typeface="Arial" charset="0"/>
                </a:rPr>
                <a:t>This relationship assumes a fixed amount</a:t>
              </a:r>
              <a:br>
                <a:rPr lang="en-US" sz="1500" dirty="0">
                  <a:solidFill>
                    <a:srgbClr val="002060"/>
                  </a:solidFill>
                  <a:latin typeface="Arial" charset="0"/>
                  <a:cs typeface="Arial" charset="0"/>
                  <a:sym typeface="Arial" charset="0"/>
                </a:rPr>
              </a:br>
              <a:r>
                <a:rPr lang="en-US" sz="1500" dirty="0">
                  <a:solidFill>
                    <a:srgbClr val="002060"/>
                  </a:solidFill>
                  <a:latin typeface="Arial" charset="0"/>
                  <a:cs typeface="Arial" charset="0"/>
                  <a:sym typeface="Arial" charset="0"/>
                </a:rPr>
                <a:t>of enzyme.</a:t>
              </a:r>
            </a:p>
            <a:p>
              <a:pPr marL="80364">
                <a:tabLst>
                  <a:tab pos="366104" algn="l"/>
                </a:tabLst>
              </a:pPr>
              <a:endParaRPr lang="en-US" sz="1500" dirty="0">
                <a:solidFill>
                  <a:srgbClr val="000000"/>
                </a:solidFill>
                <a:latin typeface="Arial" charset="0"/>
                <a:cs typeface="Arial" charset="0"/>
                <a:sym typeface="Arial" charset="0"/>
              </a:endParaRPr>
            </a:p>
          </p:txBody>
        </p:sp>
      </p:grpSp>
    </p:spTree>
    <p:extLst>
      <p:ext uri="{BB962C8B-B14F-4D97-AF65-F5344CB8AC3E}">
        <p14:creationId xmlns:p14="http://schemas.microsoft.com/office/powerpoint/2010/main" val="141027299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3517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351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6193" name="Rectangle 1"/>
          <p:cNvSpPr>
            <a:spLocks noGrp="1" noChangeArrowheads="1"/>
          </p:cNvSpPr>
          <p:nvPr>
            <p:ph type="title"/>
          </p:nvPr>
        </p:nvSpPr>
        <p:spPr>
          <a:xfrm>
            <a:off x="318356" y="364768"/>
            <a:ext cx="8229600" cy="1066800"/>
          </a:xfrm>
        </p:spPr>
        <p:txBody>
          <a:bodyPr/>
          <a:lstStyle/>
          <a:p>
            <a:r>
              <a:rPr lang="en-US" dirty="0">
                <a:solidFill>
                  <a:srgbClr val="0070C0"/>
                </a:solidFill>
              </a:rPr>
              <a:t>Enzyme Cofactors</a:t>
            </a:r>
          </a:p>
        </p:txBody>
      </p:sp>
      <p:sp>
        <p:nvSpPr>
          <p:cNvPr id="136194" name="Rectangle 2"/>
          <p:cNvSpPr>
            <a:spLocks noGrp="1" noChangeArrowheads="1"/>
          </p:cNvSpPr>
          <p:nvPr>
            <p:ph type="body" idx="1"/>
          </p:nvPr>
        </p:nvSpPr>
        <p:spPr>
          <a:xfrm>
            <a:off x="126504" y="1406426"/>
            <a:ext cx="4338339" cy="4873728"/>
          </a:xfrm>
        </p:spPr>
        <p:txBody>
          <a:bodyPr>
            <a:noAutofit/>
          </a:bodyPr>
          <a:lstStyle/>
          <a:p>
            <a:r>
              <a:rPr lang="en-US" sz="2100" dirty="0">
                <a:solidFill>
                  <a:srgbClr val="002060"/>
                </a:solidFill>
                <a:latin typeface="Calibri" panose="020F0502020204030204" pitchFamily="34" charset="0"/>
                <a:cs typeface="Calibri" panose="020F0502020204030204" pitchFamily="34" charset="0"/>
              </a:rPr>
              <a:t>Some enzymes require cofactors to be active. </a:t>
            </a:r>
          </a:p>
          <a:p>
            <a:r>
              <a:rPr lang="en-US" sz="2100" dirty="0">
                <a:solidFill>
                  <a:srgbClr val="002060"/>
                </a:solidFill>
                <a:latin typeface="Calibri" panose="020F0502020204030204" pitchFamily="34" charset="0"/>
                <a:cs typeface="Calibri" panose="020F0502020204030204" pitchFamily="34" charset="0"/>
              </a:rPr>
              <a:t>Cofactors are a non-protein component of an enzyme.</a:t>
            </a:r>
            <a:br>
              <a:rPr lang="en-US" sz="2100" dirty="0">
                <a:solidFill>
                  <a:srgbClr val="002060"/>
                </a:solidFill>
                <a:latin typeface="Calibri" panose="020F0502020204030204" pitchFamily="34" charset="0"/>
                <a:cs typeface="Calibri" panose="020F0502020204030204" pitchFamily="34" charset="0"/>
              </a:rPr>
            </a:br>
            <a:r>
              <a:rPr lang="en-US" sz="2100" dirty="0">
                <a:solidFill>
                  <a:srgbClr val="002060"/>
                </a:solidFill>
                <a:latin typeface="Calibri" panose="020F0502020204030204" pitchFamily="34" charset="0"/>
                <a:cs typeface="Calibri" panose="020F0502020204030204" pitchFamily="34" charset="0"/>
              </a:rPr>
              <a:t>Cofactors can be:</a:t>
            </a:r>
          </a:p>
          <a:p>
            <a:pPr lvl="1"/>
            <a:r>
              <a:rPr lang="en-US" sz="2100" dirty="0">
                <a:latin typeface="Calibri" panose="020F0502020204030204" pitchFamily="34" charset="0"/>
                <a:cs typeface="Calibri" panose="020F0502020204030204" pitchFamily="34" charset="0"/>
              </a:rPr>
              <a:t>organic molecules (coenzymes).</a:t>
            </a:r>
          </a:p>
          <a:p>
            <a:pPr lvl="1"/>
            <a:r>
              <a:rPr lang="en-US" sz="2100" dirty="0">
                <a:latin typeface="Calibri" panose="020F0502020204030204" pitchFamily="34" charset="0"/>
                <a:cs typeface="Calibri" panose="020F0502020204030204" pitchFamily="34" charset="0"/>
              </a:rPr>
              <a:t>inorganic ions (</a:t>
            </a:r>
            <a:r>
              <a:rPr lang="en-US" sz="2100" dirty="0" err="1">
                <a:latin typeface="Calibri" panose="020F0502020204030204" pitchFamily="34" charset="0"/>
                <a:cs typeface="Calibri" panose="020F0502020204030204" pitchFamily="34" charset="0"/>
              </a:rPr>
              <a:t>eg.</a:t>
            </a:r>
            <a:r>
              <a:rPr lang="en-US" sz="2100" dirty="0">
                <a:latin typeface="Calibri" panose="020F0502020204030204" pitchFamily="34" charset="0"/>
                <a:cs typeface="Calibri" panose="020F0502020204030204" pitchFamily="34" charset="0"/>
              </a:rPr>
              <a:t> Ca</a:t>
            </a:r>
            <a:r>
              <a:rPr lang="en-US" sz="2100" baseline="30000" dirty="0">
                <a:latin typeface="Calibri" panose="020F0502020204030204" pitchFamily="34" charset="0"/>
                <a:cs typeface="Calibri" panose="020F0502020204030204" pitchFamily="34" charset="0"/>
              </a:rPr>
              <a:t>2+</a:t>
            </a:r>
            <a:r>
              <a:rPr lang="en-US" sz="2100" dirty="0">
                <a:latin typeface="Calibri" panose="020F0502020204030204" pitchFamily="34" charset="0"/>
                <a:cs typeface="Calibri" panose="020F0502020204030204" pitchFamily="34" charset="0"/>
              </a:rPr>
              <a:t>, Zn</a:t>
            </a:r>
            <a:r>
              <a:rPr lang="en-US" sz="2100" baseline="30000" dirty="0">
                <a:latin typeface="Calibri" panose="020F0502020204030204" pitchFamily="34" charset="0"/>
                <a:cs typeface="Calibri" panose="020F0502020204030204" pitchFamily="34" charset="0"/>
              </a:rPr>
              <a:t>2+</a:t>
            </a:r>
            <a:r>
              <a:rPr lang="en-US" sz="2100" dirty="0">
                <a:latin typeface="Calibri" panose="020F0502020204030204" pitchFamily="34" charset="0"/>
                <a:cs typeface="Calibri" panose="020F0502020204030204" pitchFamily="34" charset="0"/>
              </a:rPr>
              <a:t>).</a:t>
            </a:r>
          </a:p>
          <a:p>
            <a:r>
              <a:rPr lang="en-US" sz="2100" dirty="0">
                <a:solidFill>
                  <a:srgbClr val="002060"/>
                </a:solidFill>
                <a:latin typeface="Calibri" panose="020F0502020204030204" pitchFamily="34" charset="0"/>
                <a:cs typeface="Calibri" panose="020F0502020204030204" pitchFamily="34" charset="0"/>
              </a:rPr>
              <a:t>Cofactors may be:</a:t>
            </a:r>
          </a:p>
          <a:p>
            <a:pPr lvl="1"/>
            <a:r>
              <a:rPr lang="en-US" sz="2100" dirty="0">
                <a:latin typeface="Calibri" panose="020F0502020204030204" pitchFamily="34" charset="0"/>
                <a:cs typeface="Calibri" panose="020F0502020204030204" pitchFamily="34" charset="0"/>
              </a:rPr>
              <a:t>Permanently attached, in which case they are called prosthetic groups.</a:t>
            </a:r>
          </a:p>
          <a:p>
            <a:pPr lvl="1"/>
            <a:r>
              <a:rPr lang="en-US" sz="2100" dirty="0">
                <a:latin typeface="Calibri" panose="020F0502020204030204" pitchFamily="34" charset="0"/>
                <a:cs typeface="Calibri" panose="020F0502020204030204" pitchFamily="34" charset="0"/>
              </a:rPr>
              <a:t>Temporarily attached coenzymes, which detach after a reaction, and may participate with another enzyme in other reactions.</a:t>
            </a:r>
          </a:p>
        </p:txBody>
      </p:sp>
      <p:grpSp>
        <p:nvGrpSpPr>
          <p:cNvPr id="136195" name="Group 3"/>
          <p:cNvGrpSpPr>
            <a:grpSpLocks/>
          </p:cNvGrpSpPr>
          <p:nvPr/>
        </p:nvGrpSpPr>
        <p:grpSpPr bwMode="auto">
          <a:xfrm>
            <a:off x="4868787" y="879101"/>
            <a:ext cx="3857625" cy="1653109"/>
            <a:chOff x="0" y="0"/>
            <a:chExt cx="3456" cy="1481"/>
          </a:xfrm>
        </p:grpSpPr>
        <p:pic>
          <p:nvPicPr>
            <p:cNvPr id="1361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76"/>
              <a:ext cx="1360" cy="11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36197" name="Rectangle 5"/>
            <p:cNvSpPr>
              <a:spLocks/>
            </p:cNvSpPr>
            <p:nvPr/>
          </p:nvSpPr>
          <p:spPr bwMode="auto">
            <a:xfrm>
              <a:off x="1632" y="296"/>
              <a:ext cx="1824"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400" b="1">
                  <a:solidFill>
                    <a:srgbClr val="2D00FA"/>
                  </a:solidFill>
                  <a:latin typeface="Arial" charset="0"/>
                  <a:cs typeface="Arial" charset="0"/>
                  <a:sym typeface="Arial" charset="0"/>
                </a:rPr>
                <a:t>Enzyme</a:t>
              </a:r>
              <a:r>
                <a:rPr lang="en-US" sz="1400">
                  <a:solidFill>
                    <a:srgbClr val="2D00FA"/>
                  </a:solidFill>
                  <a:latin typeface="Arial" charset="0"/>
                  <a:cs typeface="Arial" charset="0"/>
                  <a:sym typeface="Arial" charset="0"/>
                </a:rPr>
                <a:t> </a:t>
              </a:r>
              <a:r>
                <a:rPr lang="en-US" sz="1400" b="1">
                  <a:solidFill>
                    <a:srgbClr val="2D00FA"/>
                  </a:solidFill>
                  <a:latin typeface="Arial" charset="0"/>
                  <a:cs typeface="Arial" charset="0"/>
                  <a:sym typeface="Arial" charset="0"/>
                </a:rPr>
                <a:t>is</a:t>
              </a:r>
              <a:r>
                <a:rPr lang="en-US" sz="1400">
                  <a:solidFill>
                    <a:srgbClr val="2D00FA"/>
                  </a:solidFill>
                  <a:latin typeface="Arial" charset="0"/>
                  <a:cs typeface="Arial" charset="0"/>
                  <a:sym typeface="Arial" charset="0"/>
                </a:rPr>
                <a:t> </a:t>
              </a:r>
              <a:r>
                <a:rPr lang="en-US" sz="1400" b="1">
                  <a:solidFill>
                    <a:srgbClr val="2D00FA"/>
                  </a:solidFill>
                  <a:latin typeface="Arial" charset="0"/>
                  <a:cs typeface="Arial" charset="0"/>
                  <a:sym typeface="Arial" charset="0"/>
                </a:rPr>
                <a:t>protein only</a:t>
              </a:r>
            </a:p>
            <a:p>
              <a:pPr marL="80364">
                <a:tabLst>
                  <a:tab pos="366104" algn="l"/>
                </a:tabLst>
              </a:pPr>
              <a:r>
                <a:rPr lang="en-US" sz="1400">
                  <a:solidFill>
                    <a:srgbClr val="2D00FA"/>
                  </a:solidFill>
                  <a:latin typeface="Arial" charset="0"/>
                  <a:cs typeface="Arial" charset="0"/>
                  <a:sym typeface="Arial" charset="0"/>
                </a:rPr>
                <a:t>Example: lysozyme</a:t>
              </a:r>
            </a:p>
          </p:txBody>
        </p:sp>
        <p:sp>
          <p:nvSpPr>
            <p:cNvPr id="136198" name="Rectangle 6"/>
            <p:cNvSpPr>
              <a:spLocks/>
            </p:cNvSpPr>
            <p:nvPr/>
          </p:nvSpPr>
          <p:spPr bwMode="auto">
            <a:xfrm>
              <a:off x="272" y="976"/>
              <a:ext cx="768"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500" b="1">
                  <a:solidFill>
                    <a:srgbClr val="FFFFFF"/>
                  </a:solidFill>
                  <a:latin typeface="Arial" charset="0"/>
                  <a:cs typeface="Arial" charset="0"/>
                  <a:sym typeface="Arial" charset="0"/>
                </a:rPr>
                <a:t>Enzyme</a:t>
              </a:r>
            </a:p>
          </p:txBody>
        </p:sp>
        <p:sp>
          <p:nvSpPr>
            <p:cNvPr id="136199" name="Rectangle 7"/>
            <p:cNvSpPr>
              <a:spLocks/>
            </p:cNvSpPr>
            <p:nvPr/>
          </p:nvSpPr>
          <p:spPr bwMode="auto">
            <a:xfrm>
              <a:off x="280" y="0"/>
              <a:ext cx="488"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lnSpc>
                  <a:spcPct val="83000"/>
                </a:lnSpc>
                <a:tabLst>
                  <a:tab pos="366104" algn="l"/>
                </a:tabLst>
              </a:pPr>
              <a:r>
                <a:rPr lang="en-US" sz="1300">
                  <a:solidFill>
                    <a:srgbClr val="000000"/>
                  </a:solidFill>
                  <a:latin typeface="Arial" charset="0"/>
                  <a:cs typeface="Arial" charset="0"/>
                  <a:sym typeface="Arial" charset="0"/>
                </a:rPr>
                <a:t>Active site</a:t>
              </a:r>
            </a:p>
          </p:txBody>
        </p:sp>
        <p:sp>
          <p:nvSpPr>
            <p:cNvPr id="136200" name="Line 8"/>
            <p:cNvSpPr>
              <a:spLocks noChangeShapeType="1"/>
            </p:cNvSpPr>
            <p:nvPr/>
          </p:nvSpPr>
          <p:spPr bwMode="auto">
            <a:xfrm rot="10800000">
              <a:off x="608" y="304"/>
              <a:ext cx="224" cy="376"/>
            </a:xfrm>
            <a:prstGeom prst="line">
              <a:avLst/>
            </a:prstGeom>
            <a:noFill/>
            <a:ln w="254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grpSp>
        <p:nvGrpSpPr>
          <p:cNvPr id="136201" name="Group 9"/>
          <p:cNvGrpSpPr>
            <a:grpSpLocks/>
          </p:cNvGrpSpPr>
          <p:nvPr/>
        </p:nvGrpSpPr>
        <p:grpSpPr bwMode="auto">
          <a:xfrm>
            <a:off x="4636615" y="4781375"/>
            <a:ext cx="4286250" cy="1816076"/>
            <a:chOff x="0" y="0"/>
            <a:chExt cx="3840" cy="1627"/>
          </a:xfrm>
        </p:grpSpPr>
        <p:pic>
          <p:nvPicPr>
            <p:cNvPr id="136202"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20"/>
              <a:ext cx="1312" cy="11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136203"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 y="224"/>
              <a:ext cx="904" cy="1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36204" name="Rectangle 12"/>
            <p:cNvSpPr>
              <a:spLocks/>
            </p:cNvSpPr>
            <p:nvPr/>
          </p:nvSpPr>
          <p:spPr bwMode="auto">
            <a:xfrm>
              <a:off x="1840" y="544"/>
              <a:ext cx="2000"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400" b="1">
                  <a:solidFill>
                    <a:srgbClr val="2D00FA"/>
                  </a:solidFill>
                  <a:latin typeface="Arial" charset="0"/>
                  <a:cs typeface="Arial" charset="0"/>
                  <a:sym typeface="Arial" charset="0"/>
                </a:rPr>
                <a:t>Enzyme</a:t>
              </a:r>
              <a:r>
                <a:rPr lang="en-US" sz="1400">
                  <a:solidFill>
                    <a:srgbClr val="2D00FA"/>
                  </a:solidFill>
                  <a:latin typeface="Arial" charset="0"/>
                  <a:cs typeface="Arial" charset="0"/>
                  <a:sym typeface="Arial" charset="0"/>
                </a:rPr>
                <a:t> + </a:t>
              </a:r>
              <a:r>
                <a:rPr lang="en-US" sz="1400" b="1">
                  <a:solidFill>
                    <a:srgbClr val="2D00FA"/>
                  </a:solidFill>
                  <a:latin typeface="Arial" charset="0"/>
                  <a:cs typeface="Arial" charset="0"/>
                  <a:sym typeface="Arial" charset="0"/>
                </a:rPr>
                <a:t>coenzyme</a:t>
              </a:r>
              <a:r>
                <a:rPr lang="en-US" sz="1400">
                  <a:solidFill>
                    <a:srgbClr val="2D00FA"/>
                  </a:solidFill>
                  <a:latin typeface="Arial" charset="0"/>
                  <a:cs typeface="Arial" charset="0"/>
                  <a:sym typeface="Arial" charset="0"/>
                </a:rPr>
                <a:t> Example:</a:t>
              </a:r>
            </a:p>
            <a:p>
              <a:pPr marL="80364">
                <a:tabLst>
                  <a:tab pos="366104" algn="l"/>
                </a:tabLst>
              </a:pPr>
              <a:r>
                <a:rPr lang="en-US" sz="1400">
                  <a:solidFill>
                    <a:srgbClr val="2D00FA"/>
                  </a:solidFill>
                  <a:latin typeface="Arial" charset="0"/>
                  <a:cs typeface="Arial" charset="0"/>
                  <a:sym typeface="Arial" charset="0"/>
                </a:rPr>
                <a:t>dehydrogenases + NAD</a:t>
              </a:r>
            </a:p>
          </p:txBody>
        </p:sp>
        <p:sp>
          <p:nvSpPr>
            <p:cNvPr id="136205" name="Rectangle 13"/>
            <p:cNvSpPr>
              <a:spLocks/>
            </p:cNvSpPr>
            <p:nvPr/>
          </p:nvSpPr>
          <p:spPr bwMode="auto">
            <a:xfrm>
              <a:off x="872" y="720"/>
              <a:ext cx="808" cy="1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b="1">
                  <a:solidFill>
                    <a:srgbClr val="FFFFFF"/>
                  </a:solidFill>
                  <a:latin typeface="Arial" charset="0"/>
                  <a:cs typeface="Arial" charset="0"/>
                  <a:sym typeface="Arial" charset="0"/>
                </a:rPr>
                <a:t>Coenzyme</a:t>
              </a:r>
            </a:p>
          </p:txBody>
        </p:sp>
        <p:sp>
          <p:nvSpPr>
            <p:cNvPr id="136206" name="Rectangle 14"/>
            <p:cNvSpPr>
              <a:spLocks/>
            </p:cNvSpPr>
            <p:nvPr/>
          </p:nvSpPr>
          <p:spPr bwMode="auto">
            <a:xfrm>
              <a:off x="272" y="1264"/>
              <a:ext cx="704"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400" b="1">
                  <a:solidFill>
                    <a:srgbClr val="FFFFFF"/>
                  </a:solidFill>
                  <a:latin typeface="Arial" charset="0"/>
                  <a:cs typeface="Arial" charset="0"/>
                  <a:sym typeface="Arial" charset="0"/>
                </a:rPr>
                <a:t>Enzyme</a:t>
              </a:r>
            </a:p>
          </p:txBody>
        </p:sp>
        <p:sp>
          <p:nvSpPr>
            <p:cNvPr id="136207" name="Rectangle 15"/>
            <p:cNvSpPr>
              <a:spLocks/>
            </p:cNvSpPr>
            <p:nvPr/>
          </p:nvSpPr>
          <p:spPr bwMode="auto">
            <a:xfrm>
              <a:off x="376" y="0"/>
              <a:ext cx="488"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lnSpc>
                  <a:spcPct val="83000"/>
                </a:lnSpc>
                <a:tabLst>
                  <a:tab pos="366104" algn="l"/>
                </a:tabLst>
              </a:pPr>
              <a:r>
                <a:rPr lang="en-US" sz="1300">
                  <a:solidFill>
                    <a:srgbClr val="000000"/>
                  </a:solidFill>
                  <a:latin typeface="Arial" charset="0"/>
                  <a:cs typeface="Arial" charset="0"/>
                  <a:sym typeface="Arial" charset="0"/>
                </a:rPr>
                <a:t>Active site</a:t>
              </a:r>
            </a:p>
          </p:txBody>
        </p:sp>
        <p:sp>
          <p:nvSpPr>
            <p:cNvPr id="136208" name="Line 16"/>
            <p:cNvSpPr>
              <a:spLocks noChangeShapeType="1"/>
            </p:cNvSpPr>
            <p:nvPr/>
          </p:nvSpPr>
          <p:spPr bwMode="auto">
            <a:xfrm rot="10800000">
              <a:off x="672" y="336"/>
              <a:ext cx="104" cy="368"/>
            </a:xfrm>
            <a:prstGeom prst="line">
              <a:avLst/>
            </a:prstGeom>
            <a:noFill/>
            <a:ln w="254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grpSp>
        <p:nvGrpSpPr>
          <p:cNvPr id="136209" name="Group 17"/>
          <p:cNvGrpSpPr>
            <a:grpSpLocks/>
          </p:cNvGrpSpPr>
          <p:nvPr/>
        </p:nvGrpSpPr>
        <p:grpSpPr bwMode="auto">
          <a:xfrm>
            <a:off x="4743771" y="2754336"/>
            <a:ext cx="4366617" cy="1732359"/>
            <a:chOff x="0" y="0"/>
            <a:chExt cx="3912" cy="1552"/>
          </a:xfrm>
        </p:grpSpPr>
        <p:pic>
          <p:nvPicPr>
            <p:cNvPr id="136210" name="Picture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496"/>
              <a:ext cx="1320" cy="10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136211" name="Picture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4" y="400"/>
              <a:ext cx="560" cy="9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36212" name="Rectangle 20"/>
            <p:cNvSpPr>
              <a:spLocks/>
            </p:cNvSpPr>
            <p:nvPr/>
          </p:nvSpPr>
          <p:spPr bwMode="auto">
            <a:xfrm>
              <a:off x="1744" y="792"/>
              <a:ext cx="2168"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400" b="1">
                  <a:solidFill>
                    <a:srgbClr val="2D00FA"/>
                  </a:solidFill>
                  <a:latin typeface="Arial" charset="0"/>
                  <a:cs typeface="Arial" charset="0"/>
                  <a:sym typeface="Arial" charset="0"/>
                </a:rPr>
                <a:t>Enzyme</a:t>
              </a:r>
              <a:r>
                <a:rPr lang="en-US" sz="1400">
                  <a:solidFill>
                    <a:srgbClr val="2D00FA"/>
                  </a:solidFill>
                  <a:latin typeface="Arial" charset="0"/>
                  <a:cs typeface="Arial" charset="0"/>
                  <a:sym typeface="Arial" charset="0"/>
                </a:rPr>
                <a:t> + </a:t>
              </a:r>
              <a:r>
                <a:rPr lang="en-US" sz="1400" b="1">
                  <a:solidFill>
                    <a:srgbClr val="2D00FA"/>
                  </a:solidFill>
                  <a:latin typeface="Arial" charset="0"/>
                  <a:cs typeface="Arial" charset="0"/>
                  <a:sym typeface="Arial" charset="0"/>
                </a:rPr>
                <a:t>prosthetic</a:t>
              </a:r>
              <a:r>
                <a:rPr lang="en-US" sz="1400">
                  <a:solidFill>
                    <a:srgbClr val="2D00FA"/>
                  </a:solidFill>
                  <a:latin typeface="Arial" charset="0"/>
                  <a:cs typeface="Arial" charset="0"/>
                  <a:sym typeface="Arial" charset="0"/>
                </a:rPr>
                <a:t> </a:t>
              </a:r>
              <a:r>
                <a:rPr lang="en-US" sz="1400" b="1">
                  <a:solidFill>
                    <a:srgbClr val="2D00FA"/>
                  </a:solidFill>
                  <a:latin typeface="Arial" charset="0"/>
                  <a:cs typeface="Arial" charset="0"/>
                  <a:sym typeface="Arial" charset="0"/>
                </a:rPr>
                <a:t>group</a:t>
              </a:r>
              <a:endParaRPr lang="en-US" sz="1400">
                <a:solidFill>
                  <a:srgbClr val="2D00FA"/>
                </a:solidFill>
                <a:latin typeface="Arial" charset="0"/>
                <a:cs typeface="Arial" charset="0"/>
                <a:sym typeface="Arial" charset="0"/>
              </a:endParaRPr>
            </a:p>
            <a:p>
              <a:pPr marL="80364">
                <a:tabLst>
                  <a:tab pos="366104" algn="l"/>
                </a:tabLst>
              </a:pPr>
              <a:r>
                <a:rPr lang="en-US" sz="1400">
                  <a:solidFill>
                    <a:srgbClr val="2D00FA"/>
                  </a:solidFill>
                  <a:latin typeface="Arial" charset="0"/>
                  <a:cs typeface="Arial" charset="0"/>
                  <a:sym typeface="Arial" charset="0"/>
                </a:rPr>
                <a:t>Example:</a:t>
              </a:r>
            </a:p>
            <a:p>
              <a:pPr marL="80364">
                <a:tabLst>
                  <a:tab pos="366104" algn="l"/>
                </a:tabLst>
              </a:pPr>
              <a:r>
                <a:rPr lang="en-US" sz="1400">
                  <a:solidFill>
                    <a:srgbClr val="2D00FA"/>
                  </a:solidFill>
                  <a:latin typeface="Arial" charset="0"/>
                  <a:cs typeface="Arial" charset="0"/>
                  <a:sym typeface="Arial" charset="0"/>
                </a:rPr>
                <a:t>flavoprotein + FAD</a:t>
              </a:r>
            </a:p>
          </p:txBody>
        </p:sp>
        <p:sp>
          <p:nvSpPr>
            <p:cNvPr id="136213" name="Rectangle 21"/>
            <p:cNvSpPr>
              <a:spLocks/>
            </p:cNvSpPr>
            <p:nvPr/>
          </p:nvSpPr>
          <p:spPr bwMode="auto">
            <a:xfrm>
              <a:off x="384" y="0"/>
              <a:ext cx="488"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lnSpc>
                  <a:spcPct val="83000"/>
                </a:lnSpc>
                <a:tabLst>
                  <a:tab pos="366104" algn="l"/>
                </a:tabLst>
              </a:pPr>
              <a:r>
                <a:rPr lang="en-US" sz="1300">
                  <a:solidFill>
                    <a:srgbClr val="000000"/>
                  </a:solidFill>
                  <a:latin typeface="Arial" charset="0"/>
                  <a:cs typeface="Arial" charset="0"/>
                  <a:sym typeface="Arial" charset="0"/>
                </a:rPr>
                <a:t>Active site</a:t>
              </a:r>
            </a:p>
          </p:txBody>
        </p:sp>
        <p:sp>
          <p:nvSpPr>
            <p:cNvPr id="136214" name="Rectangle 22"/>
            <p:cNvSpPr>
              <a:spLocks/>
            </p:cNvSpPr>
            <p:nvPr/>
          </p:nvSpPr>
          <p:spPr bwMode="auto">
            <a:xfrm>
              <a:off x="1520" y="96"/>
              <a:ext cx="782"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lnSpc>
                  <a:spcPct val="83000"/>
                </a:lnSpc>
                <a:tabLst>
                  <a:tab pos="366104" algn="l"/>
                </a:tabLst>
              </a:pPr>
              <a:r>
                <a:rPr lang="en-US" sz="1300" dirty="0">
                  <a:solidFill>
                    <a:srgbClr val="000000"/>
                  </a:solidFill>
                  <a:latin typeface="Arial" charset="0"/>
                  <a:cs typeface="Arial" charset="0"/>
                  <a:sym typeface="Arial" charset="0"/>
                </a:rPr>
                <a:t>Prosthetic group</a:t>
              </a:r>
            </a:p>
          </p:txBody>
        </p:sp>
        <p:sp>
          <p:nvSpPr>
            <p:cNvPr id="136215" name="Line 23"/>
            <p:cNvSpPr>
              <a:spLocks noChangeShapeType="1"/>
            </p:cNvSpPr>
            <p:nvPr/>
          </p:nvSpPr>
          <p:spPr bwMode="auto">
            <a:xfrm rot="10800000">
              <a:off x="784" y="328"/>
              <a:ext cx="224" cy="376"/>
            </a:xfrm>
            <a:prstGeom prst="line">
              <a:avLst/>
            </a:prstGeom>
            <a:noFill/>
            <a:ln w="254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36216" name="Line 24"/>
            <p:cNvSpPr>
              <a:spLocks noChangeShapeType="1"/>
            </p:cNvSpPr>
            <p:nvPr/>
          </p:nvSpPr>
          <p:spPr bwMode="auto">
            <a:xfrm rot="10800000" flipH="1">
              <a:off x="1430" y="320"/>
              <a:ext cx="194" cy="268"/>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136217" name="Rectangle 25"/>
            <p:cNvSpPr>
              <a:spLocks/>
            </p:cNvSpPr>
            <p:nvPr/>
          </p:nvSpPr>
          <p:spPr bwMode="auto">
            <a:xfrm>
              <a:off x="248" y="920"/>
              <a:ext cx="768"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500" b="1">
                  <a:solidFill>
                    <a:srgbClr val="FFFFFF"/>
                  </a:solidFill>
                  <a:latin typeface="Arial" charset="0"/>
                  <a:cs typeface="Arial" charset="0"/>
                  <a:sym typeface="Arial" charset="0"/>
                </a:rPr>
                <a:t>Enzyme</a:t>
              </a:r>
            </a:p>
          </p:txBody>
        </p:sp>
      </p:grpSp>
    </p:spTree>
    <p:extLst>
      <p:ext uri="{BB962C8B-B14F-4D97-AF65-F5344CB8AC3E}">
        <p14:creationId xmlns:p14="http://schemas.microsoft.com/office/powerpoint/2010/main" val="165900228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619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619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6194">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36194">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36194">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36194">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3619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4" grpId="0" build="p" bldLvl="5"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7217" name="Rectangle 1"/>
          <p:cNvSpPr>
            <a:spLocks noGrp="1" noChangeArrowheads="1"/>
          </p:cNvSpPr>
          <p:nvPr>
            <p:ph type="title"/>
          </p:nvPr>
        </p:nvSpPr>
        <p:spPr>
          <a:xfrm>
            <a:off x="429406" y="408831"/>
            <a:ext cx="8229600" cy="1066800"/>
          </a:xfrm>
        </p:spPr>
        <p:txBody>
          <a:bodyPr/>
          <a:lstStyle/>
          <a:p>
            <a:r>
              <a:rPr lang="en-US" dirty="0">
                <a:solidFill>
                  <a:srgbClr val="0070C0"/>
                </a:solidFill>
              </a:rPr>
              <a:t>Enzyme Inhibitors</a:t>
            </a:r>
          </a:p>
        </p:txBody>
      </p:sp>
      <p:sp>
        <p:nvSpPr>
          <p:cNvPr id="137218" name="Rectangle 2"/>
          <p:cNvSpPr>
            <a:spLocks noGrp="1" noChangeArrowheads="1"/>
          </p:cNvSpPr>
          <p:nvPr>
            <p:ph type="body" idx="1"/>
          </p:nvPr>
        </p:nvSpPr>
        <p:spPr>
          <a:xfrm>
            <a:off x="295595" y="1486356"/>
            <a:ext cx="5253647" cy="5184575"/>
          </a:xfrm>
        </p:spPr>
        <p:txBody>
          <a:bodyPr>
            <a:normAutofit fontScale="70000" lnSpcReduction="20000"/>
          </a:bodyPr>
          <a:lstStyle/>
          <a:p>
            <a:r>
              <a:rPr lang="en-US" sz="2900" dirty="0">
                <a:solidFill>
                  <a:srgbClr val="002060"/>
                </a:solidFill>
                <a:latin typeface="Calibri" panose="020F0502020204030204" pitchFamily="34" charset="0"/>
                <a:cs typeface="Calibri" panose="020F0502020204030204" pitchFamily="34" charset="0"/>
              </a:rPr>
              <a:t>Enzymes can be deactivated by </a:t>
            </a:r>
            <a:br>
              <a:rPr lang="en-US" sz="2900" dirty="0">
                <a:solidFill>
                  <a:srgbClr val="002060"/>
                </a:solidFill>
                <a:latin typeface="Calibri" panose="020F0502020204030204" pitchFamily="34" charset="0"/>
                <a:cs typeface="Calibri" panose="020F0502020204030204" pitchFamily="34" charset="0"/>
              </a:rPr>
            </a:br>
            <a:r>
              <a:rPr lang="en-US" sz="2900" dirty="0">
                <a:solidFill>
                  <a:srgbClr val="002060"/>
                </a:solidFill>
                <a:latin typeface="Calibri" panose="020F0502020204030204" pitchFamily="34" charset="0"/>
                <a:cs typeface="Calibri" panose="020F0502020204030204" pitchFamily="34" charset="0"/>
              </a:rPr>
              <a:t>enzyme inhibitors. </a:t>
            </a:r>
          </a:p>
          <a:p>
            <a:r>
              <a:rPr lang="en-US" sz="2900" dirty="0">
                <a:solidFill>
                  <a:srgbClr val="002060"/>
                </a:solidFill>
                <a:latin typeface="Calibri" panose="020F0502020204030204" pitchFamily="34" charset="0"/>
                <a:cs typeface="Calibri" panose="020F0502020204030204" pitchFamily="34" charset="0"/>
              </a:rPr>
              <a:t>Types of enzyme inhibitors:</a:t>
            </a:r>
          </a:p>
          <a:p>
            <a:pPr lvl="1"/>
            <a:r>
              <a:rPr lang="en-US" sz="2900" dirty="0">
                <a:latin typeface="Calibri" panose="020F0502020204030204" pitchFamily="34" charset="0"/>
                <a:cs typeface="Calibri" panose="020F0502020204030204" pitchFamily="34" charset="0"/>
              </a:rPr>
              <a:t>Reversible inhibitors: used to control enzyme activity. There is often an interaction between the substrate or end product and the enzymes controlling the reaction.</a:t>
            </a:r>
          </a:p>
          <a:p>
            <a:pPr lvl="1"/>
            <a:r>
              <a:rPr lang="en-US" sz="2900" dirty="0">
                <a:latin typeface="Calibri" panose="020F0502020204030204" pitchFamily="34" charset="0"/>
                <a:cs typeface="Calibri" panose="020F0502020204030204" pitchFamily="34" charset="0"/>
              </a:rPr>
              <a:t>Irreversible inhibitors: bind tightly and permanently to the enzymes destroying their catalytic activity. </a:t>
            </a:r>
          </a:p>
          <a:p>
            <a:pPr lvl="1"/>
            <a:r>
              <a:rPr lang="en-US" sz="2900" dirty="0">
                <a:latin typeface="Calibri" panose="020F0502020204030204" pitchFamily="34" charset="0"/>
                <a:cs typeface="Calibri" panose="020F0502020204030204" pitchFamily="34" charset="0"/>
              </a:rPr>
              <a:t>Competitive inhibitors: have a similar shape to the substrate and bind to the active site preventing the substrate from binding there.</a:t>
            </a:r>
          </a:p>
          <a:p>
            <a:pPr lvl="1"/>
            <a:r>
              <a:rPr lang="en-AU" sz="2900" dirty="0">
                <a:latin typeface="Calibri" panose="020F0502020204030204" pitchFamily="34" charset="0"/>
                <a:cs typeface="Calibri" panose="020F0502020204030204" pitchFamily="34" charset="0"/>
              </a:rPr>
              <a:t>Non-competitive inhibitors: the inhibitor binds to a site somewhere on the enzyme other than the active site. This causes the shape of the active site to change, meaning that the substrate cannot bind. </a:t>
            </a:r>
            <a:endParaRPr lang="en-US" sz="2900" dirty="0">
              <a:latin typeface="Calibri" panose="020F0502020204030204" pitchFamily="34" charset="0"/>
              <a:cs typeface="Calibri" panose="020F0502020204030204" pitchFamily="34" charset="0"/>
            </a:endParaRPr>
          </a:p>
          <a:p>
            <a:endParaRPr lang="en-US" dirty="0"/>
          </a:p>
        </p:txBody>
      </p:sp>
      <p:grpSp>
        <p:nvGrpSpPr>
          <p:cNvPr id="137219" name="Group 3"/>
          <p:cNvGrpSpPr>
            <a:grpSpLocks/>
          </p:cNvGrpSpPr>
          <p:nvPr/>
        </p:nvGrpSpPr>
        <p:grpSpPr bwMode="auto">
          <a:xfrm>
            <a:off x="5710847" y="873992"/>
            <a:ext cx="2607469" cy="2339578"/>
            <a:chOff x="0" y="0"/>
            <a:chExt cx="2336" cy="2096"/>
          </a:xfrm>
        </p:grpSpPr>
        <p:pic>
          <p:nvPicPr>
            <p:cNvPr id="137220"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 y="0"/>
              <a:ext cx="2302" cy="20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37221" name="Rectangle 5"/>
            <p:cNvSpPr>
              <a:spLocks/>
            </p:cNvSpPr>
            <p:nvPr/>
          </p:nvSpPr>
          <p:spPr bwMode="auto">
            <a:xfrm>
              <a:off x="0" y="16"/>
              <a:ext cx="729" cy="3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400" b="1">
                  <a:solidFill>
                    <a:srgbClr val="FFFFFF"/>
                  </a:solidFill>
                  <a:latin typeface="Arial" charset="0"/>
                  <a:cs typeface="Arial" charset="0"/>
                  <a:sym typeface="Arial" charset="0"/>
                </a:rPr>
                <a:t>Native arsenic</a:t>
              </a:r>
            </a:p>
          </p:txBody>
        </p:sp>
      </p:grpSp>
      <p:sp>
        <p:nvSpPr>
          <p:cNvPr id="137222" name="Rectangle 6"/>
          <p:cNvSpPr>
            <a:spLocks/>
          </p:cNvSpPr>
          <p:nvPr/>
        </p:nvSpPr>
        <p:spPr bwMode="auto">
          <a:xfrm>
            <a:off x="6000750" y="5670351"/>
            <a:ext cx="2768203" cy="607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400">
                <a:solidFill>
                  <a:srgbClr val="2D00FA"/>
                </a:solidFill>
                <a:latin typeface="Arial" charset="0"/>
                <a:cs typeface="Arial" charset="0"/>
                <a:sym typeface="Arial" charset="0"/>
              </a:rPr>
              <a:t>Some heavy metals (above) are examples of poisons which act as i</a:t>
            </a:r>
            <a:r>
              <a:rPr lang="en-US" sz="1400" b="1">
                <a:solidFill>
                  <a:srgbClr val="2D00FA"/>
                </a:solidFill>
                <a:latin typeface="Arial" charset="0"/>
                <a:cs typeface="Arial" charset="0"/>
                <a:sym typeface="Arial" charset="0"/>
              </a:rPr>
              <a:t>rreversible enzyme inhibitors</a:t>
            </a:r>
            <a:r>
              <a:rPr lang="en-US" sz="1400">
                <a:solidFill>
                  <a:srgbClr val="2D00FA"/>
                </a:solidFill>
                <a:latin typeface="Arial" charset="0"/>
                <a:cs typeface="Arial" charset="0"/>
                <a:sym typeface="Arial" charset="0"/>
              </a:rPr>
              <a:t>.</a:t>
            </a:r>
          </a:p>
        </p:txBody>
      </p:sp>
      <p:grpSp>
        <p:nvGrpSpPr>
          <p:cNvPr id="137223" name="Group 7"/>
          <p:cNvGrpSpPr>
            <a:grpSpLocks/>
          </p:cNvGrpSpPr>
          <p:nvPr/>
        </p:nvGrpSpPr>
        <p:grpSpPr bwMode="auto">
          <a:xfrm>
            <a:off x="6268640" y="2991445"/>
            <a:ext cx="2527102" cy="2419945"/>
            <a:chOff x="0" y="0"/>
            <a:chExt cx="2264" cy="2168"/>
          </a:xfrm>
        </p:grpSpPr>
        <p:pic>
          <p:nvPicPr>
            <p:cNvPr id="137224"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110" cy="21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37225" name="Rectangle 9"/>
            <p:cNvSpPr>
              <a:spLocks/>
            </p:cNvSpPr>
            <p:nvPr/>
          </p:nvSpPr>
          <p:spPr bwMode="auto">
            <a:xfrm>
              <a:off x="1289" y="7"/>
              <a:ext cx="819"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400" b="1">
                  <a:solidFill>
                    <a:srgbClr val="000000"/>
                  </a:solidFill>
                  <a:latin typeface="Arial" charset="0"/>
                  <a:cs typeface="Arial" charset="0"/>
                  <a:sym typeface="Arial" charset="0"/>
                </a:rPr>
                <a:t>Mercury</a:t>
              </a:r>
            </a:p>
          </p:txBody>
        </p:sp>
        <p:sp>
          <p:nvSpPr>
            <p:cNvPr id="137226" name="AutoShape 10"/>
            <p:cNvSpPr>
              <a:spLocks/>
            </p:cNvSpPr>
            <p:nvPr/>
          </p:nvSpPr>
          <p:spPr bwMode="auto">
            <a:xfrm rot="-5400000">
              <a:off x="1793" y="1697"/>
              <a:ext cx="819" cy="122"/>
            </a:xfrm>
            <a:custGeom>
              <a:avLst/>
              <a:gdLst/>
              <a:ahLst/>
              <a:cxnLst/>
              <a:rect l="0" t="0" r="r" b="b"/>
              <a:pathLst>
                <a:path w="21600" h="21600">
                  <a:moveTo>
                    <a:pt x="0" y="0"/>
                  </a:moveTo>
                  <a:lnTo>
                    <a:pt x="21600" y="0"/>
                  </a:lnTo>
                  <a:lnTo>
                    <a:pt x="21600" y="21600"/>
                  </a:lnTo>
                  <a:lnTo>
                    <a:pt x="0" y="21600"/>
                  </a:lnTo>
                  <a:close/>
                  <a:moveTo>
                    <a:pt x="0" y="0"/>
                  </a:moveTo>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800">
                  <a:solidFill>
                    <a:srgbClr val="000000"/>
                  </a:solidFill>
                  <a:latin typeface="Arial" charset="0"/>
                  <a:cs typeface="Arial" charset="0"/>
                  <a:sym typeface="Arial" charset="0"/>
                </a:rPr>
                <a:t>Photo: US EPA</a:t>
              </a:r>
            </a:p>
          </p:txBody>
        </p:sp>
      </p:grpSp>
    </p:spTree>
    <p:extLst>
      <p:ext uri="{BB962C8B-B14F-4D97-AF65-F5344CB8AC3E}">
        <p14:creationId xmlns:p14="http://schemas.microsoft.com/office/powerpoint/2010/main" val="316479896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721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721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7218">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372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3721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3721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8" grpId="0" build="p" bldLvl="5"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229600" cy="1066800"/>
          </a:xfrm>
        </p:spPr>
        <p:txBody>
          <a:bodyPr/>
          <a:lstStyle/>
          <a:p>
            <a:r>
              <a:rPr lang="en-AU" dirty="0">
                <a:solidFill>
                  <a:srgbClr val="0070C0"/>
                </a:solidFill>
              </a:rPr>
              <a:t>Enzyme Inhibitors</a:t>
            </a:r>
          </a:p>
        </p:txBody>
      </p:sp>
      <p:pic>
        <p:nvPicPr>
          <p:cNvPr id="4" name="Picture 5" descr="Image:Competitive inhibition.svg"/>
          <p:cNvPicPr>
            <a:picLocks noChangeAspect="1" noChangeArrowheads="1"/>
          </p:cNvPicPr>
          <p:nvPr/>
        </p:nvPicPr>
        <p:blipFill>
          <a:blip r:embed="rId2" cstate="print"/>
          <a:srcRect/>
          <a:stretch>
            <a:fillRect/>
          </a:stretch>
        </p:blipFill>
        <p:spPr bwMode="auto">
          <a:xfrm>
            <a:off x="1475656" y="1616833"/>
            <a:ext cx="6618312" cy="4641091"/>
          </a:xfrm>
          <a:prstGeom prst="rect">
            <a:avLst/>
          </a:prstGeom>
          <a:noFill/>
          <a:ln w="9525">
            <a:noFill/>
            <a:miter lim="800000"/>
            <a:headEnd/>
            <a:tailEnd/>
          </a:ln>
        </p:spPr>
      </p:pic>
    </p:spTree>
    <p:extLst>
      <p:ext uri="{BB962C8B-B14F-4D97-AF65-F5344CB8AC3E}">
        <p14:creationId xmlns:p14="http://schemas.microsoft.com/office/powerpoint/2010/main" val="138208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277" y="908720"/>
            <a:ext cx="8229600" cy="1066800"/>
          </a:xfrm>
        </p:spPr>
        <p:txBody>
          <a:bodyPr/>
          <a:lstStyle/>
          <a:p>
            <a:r>
              <a:rPr lang="en-AU" dirty="0">
                <a:solidFill>
                  <a:srgbClr val="0070C0"/>
                </a:solidFill>
              </a:rPr>
              <a:t>Enzyme Videos</a:t>
            </a:r>
          </a:p>
        </p:txBody>
      </p:sp>
      <p:sp>
        <p:nvSpPr>
          <p:cNvPr id="3" name="Content Placeholder 2"/>
          <p:cNvSpPr>
            <a:spLocks noGrp="1"/>
          </p:cNvSpPr>
          <p:nvPr>
            <p:ph idx="1"/>
          </p:nvPr>
        </p:nvSpPr>
        <p:spPr>
          <a:xfrm>
            <a:off x="457200" y="2249424"/>
            <a:ext cx="8229600" cy="3843872"/>
          </a:xfrm>
        </p:spPr>
        <p:txBody>
          <a:bodyPr/>
          <a:lstStyle/>
          <a:p>
            <a:pPr marL="109728" indent="0">
              <a:buNone/>
            </a:pPr>
            <a:r>
              <a:rPr lang="en-AU" dirty="0">
                <a:solidFill>
                  <a:srgbClr val="002060"/>
                </a:solidFill>
                <a:latin typeface="Calibri" panose="020F0502020204030204" pitchFamily="34" charset="0"/>
                <a:cs typeface="Calibri" panose="020F0502020204030204" pitchFamily="34" charset="0"/>
              </a:rPr>
              <a:t>View in your own time:</a:t>
            </a:r>
          </a:p>
          <a:p>
            <a:endParaRPr lang="en-AU" dirty="0">
              <a:latin typeface="Calibri" panose="020F0502020204030204" pitchFamily="34" charset="0"/>
              <a:cs typeface="Calibri" panose="020F0502020204030204" pitchFamily="34" charset="0"/>
            </a:endParaRPr>
          </a:p>
          <a:p>
            <a:r>
              <a:rPr lang="en-AU" dirty="0">
                <a:solidFill>
                  <a:srgbClr val="002060"/>
                </a:solidFill>
                <a:latin typeface="Calibri" panose="020F0502020204030204" pitchFamily="34" charset="0"/>
                <a:cs typeface="Calibri" panose="020F0502020204030204" pitchFamily="34" charset="0"/>
              </a:rPr>
              <a:t>Fun song about enzymes </a:t>
            </a:r>
            <a:r>
              <a:rPr lang="en-AU" sz="2400" dirty="0">
                <a:latin typeface="Calibri" panose="020F0502020204030204" pitchFamily="34" charset="0"/>
                <a:cs typeface="Calibri" panose="020F0502020204030204" pitchFamily="34" charset="0"/>
                <a:hlinkClick r:id="rId2"/>
              </a:rPr>
              <a:t>https://www.youtube.com/watch?v=deFQhPurj-k</a:t>
            </a:r>
            <a:endParaRPr lang="en-AU" sz="2400" dirty="0">
              <a:latin typeface="Calibri" panose="020F0502020204030204" pitchFamily="34" charset="0"/>
              <a:cs typeface="Calibri" panose="020F0502020204030204" pitchFamily="34" charset="0"/>
            </a:endParaRPr>
          </a:p>
          <a:p>
            <a:endParaRPr lang="en-AU" dirty="0">
              <a:latin typeface="Calibri" panose="020F0502020204030204" pitchFamily="34" charset="0"/>
              <a:cs typeface="Calibri" panose="020F0502020204030204" pitchFamily="34" charset="0"/>
            </a:endParaRPr>
          </a:p>
          <a:p>
            <a:r>
              <a:rPr lang="en-AU" dirty="0">
                <a:solidFill>
                  <a:srgbClr val="002060"/>
                </a:solidFill>
                <a:latin typeface="Calibri" panose="020F0502020204030204" pitchFamily="34" charset="0"/>
                <a:cs typeface="Calibri" panose="020F0502020204030204" pitchFamily="34" charset="0"/>
              </a:rPr>
              <a:t>Practicals demonstrating the factors effecting enzyme activity </a:t>
            </a:r>
            <a:r>
              <a:rPr lang="en-AU" sz="2400" dirty="0">
                <a:latin typeface="Calibri" panose="020F0502020204030204" pitchFamily="34" charset="0"/>
                <a:cs typeface="Calibri" panose="020F0502020204030204" pitchFamily="34" charset="0"/>
                <a:hlinkClick r:id="rId3"/>
              </a:rPr>
              <a:t>https://www.youtube.com/watch?v=3b7Nuy0Xuuw</a:t>
            </a:r>
            <a:endParaRPr lang="en-AU" sz="2400" dirty="0">
              <a:latin typeface="Calibri" panose="020F0502020204030204" pitchFamily="34" charset="0"/>
              <a:cs typeface="Calibri" panose="020F0502020204030204" pitchFamily="34" charset="0"/>
            </a:endParaRPr>
          </a:p>
          <a:p>
            <a:endParaRPr lang="en-AU" dirty="0"/>
          </a:p>
        </p:txBody>
      </p:sp>
    </p:spTree>
    <p:extLst>
      <p:ext uri="{BB962C8B-B14F-4D97-AF65-F5344CB8AC3E}">
        <p14:creationId xmlns:p14="http://schemas.microsoft.com/office/powerpoint/2010/main" val="15959319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943" y="428313"/>
            <a:ext cx="8229600" cy="893674"/>
          </a:xfrm>
        </p:spPr>
        <p:txBody>
          <a:bodyPr>
            <a:normAutofit/>
          </a:bodyPr>
          <a:lstStyle/>
          <a:p>
            <a:r>
              <a:rPr lang="en-AU" sz="3600" dirty="0">
                <a:solidFill>
                  <a:srgbClr val="0070C0"/>
                </a:solidFill>
              </a:rPr>
              <a:t>Learning Intentions</a:t>
            </a:r>
          </a:p>
        </p:txBody>
      </p:sp>
      <p:sp>
        <p:nvSpPr>
          <p:cNvPr id="3" name="Content Placeholder 2"/>
          <p:cNvSpPr>
            <a:spLocks noGrp="1"/>
          </p:cNvSpPr>
          <p:nvPr>
            <p:ph idx="1"/>
          </p:nvPr>
        </p:nvSpPr>
        <p:spPr>
          <a:xfrm>
            <a:off x="515718" y="1232732"/>
            <a:ext cx="7631022" cy="1570664"/>
          </a:xfrm>
        </p:spPr>
        <p:txBody>
          <a:bodyPr>
            <a:normAutofit fontScale="85000" lnSpcReduction="20000"/>
          </a:bodyPr>
          <a:lstStyle/>
          <a:p>
            <a:pPr marL="109728" lvl="0" indent="0">
              <a:buNone/>
            </a:pPr>
            <a:r>
              <a:rPr lang="en-AU" sz="2700" dirty="0">
                <a:solidFill>
                  <a:srgbClr val="002060"/>
                </a:solidFill>
                <a:latin typeface="Calibri" panose="020F0502020204030204" pitchFamily="34" charset="0"/>
                <a:cs typeface="Calibri" panose="020F0502020204030204" pitchFamily="34" charset="0"/>
              </a:rPr>
              <a:t>Understand:</a:t>
            </a:r>
          </a:p>
          <a:p>
            <a:pPr lvl="0"/>
            <a:r>
              <a:rPr lang="en-AU" sz="2700" dirty="0">
                <a:solidFill>
                  <a:srgbClr val="002060"/>
                </a:solidFill>
                <a:latin typeface="Calibri" panose="020F0502020204030204" pitchFamily="34" charset="0"/>
                <a:cs typeface="Calibri" panose="020F0502020204030204" pitchFamily="34" charset="0"/>
              </a:rPr>
              <a:t>biochemical processes in the cell are controlled by factors, including the nature and arrangement of internal membranes, and the presence of specific enzymes</a:t>
            </a:r>
          </a:p>
          <a:p>
            <a:pPr lvl="0"/>
            <a:r>
              <a:rPr lang="en-AU" sz="2700" dirty="0">
                <a:solidFill>
                  <a:srgbClr val="002060"/>
                </a:solidFill>
                <a:latin typeface="Calibri" panose="020F0502020204030204" pitchFamily="34" charset="0"/>
                <a:cs typeface="Calibri" panose="020F0502020204030204" pitchFamily="34" charset="0"/>
              </a:rPr>
              <a:t>Models used to explain the function of enzymes.</a:t>
            </a:r>
          </a:p>
          <a:p>
            <a:endParaRPr lang="en-AU" dirty="0"/>
          </a:p>
        </p:txBody>
      </p:sp>
      <p:sp>
        <p:nvSpPr>
          <p:cNvPr id="4" name="TextBox 3"/>
          <p:cNvSpPr txBox="1"/>
          <p:nvPr/>
        </p:nvSpPr>
        <p:spPr>
          <a:xfrm>
            <a:off x="611560" y="3640109"/>
            <a:ext cx="7632848" cy="1985159"/>
          </a:xfrm>
          <a:prstGeom prst="rect">
            <a:avLst/>
          </a:prstGeom>
          <a:noFill/>
        </p:spPr>
        <p:txBody>
          <a:bodyPr wrap="square" rtlCol="0">
            <a:spAutoFit/>
          </a:bodyPr>
          <a:lstStyle/>
          <a:p>
            <a:pPr lvl="0"/>
            <a:r>
              <a:rPr lang="en-AU" sz="2100" dirty="0">
                <a:solidFill>
                  <a:srgbClr val="002060"/>
                </a:solidFill>
                <a:latin typeface="Calibri" panose="020F0502020204030204" pitchFamily="34" charset="0"/>
                <a:cs typeface="Calibri" panose="020F0502020204030204" pitchFamily="34" charset="0"/>
              </a:rPr>
              <a:t>Students will be able to:</a:t>
            </a:r>
          </a:p>
          <a:p>
            <a:pPr marL="285750" lvl="0" indent="-285750">
              <a:buFont typeface="Arial" panose="020B0604020202020204" pitchFamily="34" charset="0"/>
              <a:buChar char="•"/>
            </a:pPr>
            <a:r>
              <a:rPr lang="en-AU" sz="2100" dirty="0">
                <a:solidFill>
                  <a:srgbClr val="002060"/>
                </a:solidFill>
                <a:latin typeface="Calibri" panose="020F0502020204030204" pitchFamily="34" charset="0"/>
                <a:cs typeface="Calibri" panose="020F0502020204030204" pitchFamily="34" charset="0"/>
              </a:rPr>
              <a:t>Explain how enzyme function is effected by temperature, pH, presence of inhibitors, concentrations of reactants and products</a:t>
            </a:r>
          </a:p>
          <a:p>
            <a:pPr marL="285750" lvl="0" indent="-285750">
              <a:buFont typeface="Arial" panose="020B0604020202020204" pitchFamily="34" charset="0"/>
              <a:buChar char="•"/>
            </a:pPr>
            <a:r>
              <a:rPr lang="en-AU" sz="2100" dirty="0">
                <a:solidFill>
                  <a:srgbClr val="002060"/>
                </a:solidFill>
                <a:latin typeface="Calibri" panose="020F0502020204030204" pitchFamily="34" charset="0"/>
                <a:cs typeface="Calibri" panose="020F0502020204030204" pitchFamily="34" charset="0"/>
              </a:rPr>
              <a:t>Describe and illustrate the lock and key model and the induced fit model of enzyme action.</a:t>
            </a:r>
          </a:p>
          <a:p>
            <a:endParaRPr lang="en-AU" dirty="0"/>
          </a:p>
        </p:txBody>
      </p:sp>
      <p:sp>
        <p:nvSpPr>
          <p:cNvPr id="5" name="Title 1"/>
          <p:cNvSpPr txBox="1">
            <a:spLocks/>
          </p:cNvSpPr>
          <p:nvPr/>
        </p:nvSpPr>
        <p:spPr>
          <a:xfrm>
            <a:off x="528943" y="2924944"/>
            <a:ext cx="8229600" cy="893674"/>
          </a:xfrm>
          <a:prstGeom prst="rect">
            <a:avLst/>
          </a:prstGeom>
        </p:spPr>
        <p:txBody>
          <a:bodyPr vert="horz" anchor="ct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AU" sz="3600" dirty="0">
                <a:solidFill>
                  <a:srgbClr val="0070C0"/>
                </a:solidFill>
              </a:rPr>
              <a:t>Success Criteria</a:t>
            </a:r>
          </a:p>
        </p:txBody>
      </p:sp>
      <p:pic>
        <p:nvPicPr>
          <p:cNvPr id="6" name="Picture 5">
            <a:extLst>
              <a:ext uri="{FF2B5EF4-FFF2-40B4-BE49-F238E27FC236}">
                <a16:creationId xmlns:a16="http://schemas.microsoft.com/office/drawing/2014/main" id="{23D9F9E7-C5E4-4C71-A10A-885FD0BCB9E8}"/>
              </a:ext>
            </a:extLst>
          </p:cNvPr>
          <p:cNvPicPr>
            <a:picLocks noChangeAspect="1"/>
          </p:cNvPicPr>
          <p:nvPr/>
        </p:nvPicPr>
        <p:blipFill>
          <a:blip r:embed="rId2"/>
          <a:stretch>
            <a:fillRect/>
          </a:stretch>
        </p:blipFill>
        <p:spPr>
          <a:xfrm>
            <a:off x="2874117" y="5285096"/>
            <a:ext cx="3395766" cy="1572904"/>
          </a:xfrm>
          <a:prstGeom prst="rect">
            <a:avLst/>
          </a:prstGeom>
        </p:spPr>
      </p:pic>
    </p:spTree>
    <p:extLst>
      <p:ext uri="{BB962C8B-B14F-4D97-AF65-F5344CB8AC3E}">
        <p14:creationId xmlns:p14="http://schemas.microsoft.com/office/powerpoint/2010/main" val="3323162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88640"/>
            <a:ext cx="8229600" cy="1066800"/>
          </a:xfrm>
        </p:spPr>
        <p:txBody>
          <a:bodyPr>
            <a:normAutofit/>
          </a:bodyPr>
          <a:lstStyle/>
          <a:p>
            <a:r>
              <a:rPr lang="en-AU" sz="3800" dirty="0">
                <a:solidFill>
                  <a:srgbClr val="0070C0"/>
                </a:solidFill>
              </a:rPr>
              <a:t>Exam Review Question</a:t>
            </a:r>
          </a:p>
        </p:txBody>
      </p:sp>
      <p:pic>
        <p:nvPicPr>
          <p:cNvPr id="3" name="Picture 2"/>
          <p:cNvPicPr>
            <a:picLocks noChangeAspect="1"/>
          </p:cNvPicPr>
          <p:nvPr/>
        </p:nvPicPr>
        <p:blipFill>
          <a:blip r:embed="rId3"/>
          <a:stretch>
            <a:fillRect/>
          </a:stretch>
        </p:blipFill>
        <p:spPr>
          <a:xfrm>
            <a:off x="1093911" y="1196752"/>
            <a:ext cx="6606351" cy="5544616"/>
          </a:xfrm>
          <a:prstGeom prst="rect">
            <a:avLst/>
          </a:prstGeom>
        </p:spPr>
      </p:pic>
    </p:spTree>
    <p:extLst>
      <p:ext uri="{BB962C8B-B14F-4D97-AF65-F5344CB8AC3E}">
        <p14:creationId xmlns:p14="http://schemas.microsoft.com/office/powerpoint/2010/main" val="931371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3"/>
          <a:stretch>
            <a:fillRect/>
          </a:stretch>
        </p:blipFill>
        <p:spPr>
          <a:xfrm>
            <a:off x="395536" y="1214000"/>
            <a:ext cx="8434673" cy="2243966"/>
          </a:xfrm>
          <a:prstGeom prst="rect">
            <a:avLst/>
          </a:prstGeom>
        </p:spPr>
      </p:pic>
    </p:spTree>
    <p:extLst>
      <p:ext uri="{BB962C8B-B14F-4D97-AF65-F5344CB8AC3E}">
        <p14:creationId xmlns:p14="http://schemas.microsoft.com/office/powerpoint/2010/main" val="30260312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755576" y="332656"/>
            <a:ext cx="6904023" cy="6408712"/>
          </a:xfrm>
          <a:prstGeom prst="rect">
            <a:avLst/>
          </a:prstGeom>
        </p:spPr>
      </p:pic>
    </p:spTree>
    <p:extLst>
      <p:ext uri="{BB962C8B-B14F-4D97-AF65-F5344CB8AC3E}">
        <p14:creationId xmlns:p14="http://schemas.microsoft.com/office/powerpoint/2010/main" val="17578516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4056" y="591344"/>
            <a:ext cx="8229600" cy="1066800"/>
          </a:xfrm>
        </p:spPr>
        <p:txBody>
          <a:bodyPr/>
          <a:lstStyle/>
          <a:p>
            <a:r>
              <a:rPr lang="en-AU" dirty="0">
                <a:solidFill>
                  <a:srgbClr val="0070C0"/>
                </a:solidFill>
              </a:rPr>
              <a:t>Moodle &amp; Textbook Work</a:t>
            </a:r>
          </a:p>
        </p:txBody>
      </p:sp>
      <p:sp>
        <p:nvSpPr>
          <p:cNvPr id="5" name="Content Placeholder 2"/>
          <p:cNvSpPr txBox="1">
            <a:spLocks/>
          </p:cNvSpPr>
          <p:nvPr/>
        </p:nvSpPr>
        <p:spPr>
          <a:xfrm>
            <a:off x="3275856" y="2528900"/>
            <a:ext cx="5461800" cy="1368152"/>
          </a:xfrm>
          <a:prstGeom prst="rect">
            <a:avLst/>
          </a:prstGeom>
        </p:spPr>
        <p:txBody>
          <a:bodyPr vert="horz">
            <a:normAutofit fontScale="85000" lnSpcReduction="20000"/>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r>
              <a:rPr lang="en-AU" dirty="0">
                <a:solidFill>
                  <a:srgbClr val="002060"/>
                </a:solidFill>
                <a:latin typeface="Calibri" panose="020F0502020204030204" pitchFamily="34" charset="0"/>
                <a:cs typeface="Calibri" panose="020F0502020204030204" pitchFamily="34" charset="0"/>
              </a:rPr>
              <a:t>Read Nelson pages 312-322 and complete question sets 10.2-10.4.</a:t>
            </a:r>
          </a:p>
          <a:p>
            <a:endParaRPr lang="en-AU" dirty="0">
              <a:latin typeface="Calibri" panose="020F0502020204030204" pitchFamily="34" charset="0"/>
              <a:cs typeface="Calibri" panose="020F0502020204030204" pitchFamily="34" charset="0"/>
            </a:endParaRPr>
          </a:p>
          <a:p>
            <a:r>
              <a:rPr lang="en-AU" dirty="0">
                <a:solidFill>
                  <a:srgbClr val="FF0000"/>
                </a:solidFill>
                <a:latin typeface="Calibri" panose="020F0502020204030204" pitchFamily="34" charset="0"/>
                <a:cs typeface="Calibri" panose="020F0502020204030204" pitchFamily="34" charset="0"/>
              </a:rPr>
              <a:t>Task due this FRIDAY! Parts A &amp; B</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2" y="1916832"/>
            <a:ext cx="1976998" cy="2592288"/>
          </a:xfrm>
          <a:prstGeom prst="rect">
            <a:avLst/>
          </a:prstGeom>
        </p:spPr>
      </p:pic>
      <p:pic>
        <p:nvPicPr>
          <p:cNvPr id="4" name="Picture 3">
            <a:extLst>
              <a:ext uri="{FF2B5EF4-FFF2-40B4-BE49-F238E27FC236}">
                <a16:creationId xmlns:a16="http://schemas.microsoft.com/office/drawing/2014/main" id="{3C991540-57F3-42BD-8B41-523282548398}"/>
              </a:ext>
            </a:extLst>
          </p:cNvPr>
          <p:cNvPicPr>
            <a:picLocks noChangeAspect="1"/>
          </p:cNvPicPr>
          <p:nvPr/>
        </p:nvPicPr>
        <p:blipFill>
          <a:blip r:embed="rId3"/>
          <a:stretch>
            <a:fillRect/>
          </a:stretch>
        </p:blipFill>
        <p:spPr>
          <a:xfrm>
            <a:off x="1580875" y="4797152"/>
            <a:ext cx="7383613" cy="1664609"/>
          </a:xfrm>
          <a:prstGeom prst="rect">
            <a:avLst/>
          </a:prstGeom>
        </p:spPr>
      </p:pic>
    </p:spTree>
    <p:extLst>
      <p:ext uri="{BB962C8B-B14F-4D97-AF65-F5344CB8AC3E}">
        <p14:creationId xmlns:p14="http://schemas.microsoft.com/office/powerpoint/2010/main" val="9132259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764704"/>
            <a:ext cx="8229600" cy="1066800"/>
          </a:xfrm>
        </p:spPr>
        <p:txBody>
          <a:bodyPr/>
          <a:lstStyle/>
          <a:p>
            <a:r>
              <a:rPr lang="en-AU" dirty="0">
                <a:solidFill>
                  <a:srgbClr val="0070C0"/>
                </a:solidFill>
              </a:rPr>
              <a:t>Student Feedback</a:t>
            </a:r>
          </a:p>
        </p:txBody>
      </p:sp>
      <p:sp>
        <p:nvSpPr>
          <p:cNvPr id="3" name="Content Placeholder 2"/>
          <p:cNvSpPr>
            <a:spLocks noGrp="1"/>
          </p:cNvSpPr>
          <p:nvPr>
            <p:ph sz="quarter" idx="1"/>
          </p:nvPr>
        </p:nvSpPr>
        <p:spPr/>
        <p:txBody>
          <a:bodyPr>
            <a:normAutofit/>
          </a:bodyPr>
          <a:lstStyle/>
          <a:p>
            <a:r>
              <a:rPr lang="en-AU" dirty="0">
                <a:solidFill>
                  <a:srgbClr val="002060"/>
                </a:solidFill>
                <a:latin typeface="Calibri" panose="020F0502020204030204" pitchFamily="34" charset="0"/>
                <a:cs typeface="Calibri" panose="020F0502020204030204" pitchFamily="34" charset="0"/>
              </a:rPr>
              <a:t>What I learnt today…..</a:t>
            </a:r>
          </a:p>
          <a:p>
            <a:endParaRPr lang="en-AU" dirty="0">
              <a:solidFill>
                <a:srgbClr val="002060"/>
              </a:solidFill>
              <a:latin typeface="Calibri" panose="020F0502020204030204" pitchFamily="34" charset="0"/>
              <a:cs typeface="Calibri" panose="020F0502020204030204" pitchFamily="34" charset="0"/>
            </a:endParaRPr>
          </a:p>
          <a:p>
            <a:pPr marL="109728" indent="0">
              <a:buNone/>
            </a:pPr>
            <a:endParaRPr lang="en-AU" dirty="0">
              <a:solidFill>
                <a:srgbClr val="002060"/>
              </a:solidFill>
              <a:latin typeface="Calibri" panose="020F0502020204030204" pitchFamily="34" charset="0"/>
              <a:cs typeface="Calibri" panose="020F0502020204030204" pitchFamily="34" charset="0"/>
            </a:endParaRPr>
          </a:p>
          <a:p>
            <a:endParaRPr lang="en-AU" dirty="0">
              <a:solidFill>
                <a:srgbClr val="002060"/>
              </a:solidFill>
              <a:latin typeface="Calibri" panose="020F0502020204030204" pitchFamily="34" charset="0"/>
              <a:cs typeface="Calibri" panose="020F0502020204030204" pitchFamily="34" charset="0"/>
            </a:endParaRPr>
          </a:p>
          <a:p>
            <a:r>
              <a:rPr lang="en-AU" dirty="0">
                <a:solidFill>
                  <a:srgbClr val="002060"/>
                </a:solidFill>
                <a:latin typeface="Calibri" panose="020F0502020204030204" pitchFamily="34" charset="0"/>
                <a:cs typeface="Calibri" panose="020F0502020204030204" pitchFamily="34" charset="0"/>
              </a:rPr>
              <a:t>What I need to revise….</a:t>
            </a:r>
          </a:p>
          <a:p>
            <a:pPr marL="109728" indent="0">
              <a:buNone/>
            </a:pPr>
            <a:endParaRPr lang="en-AU" dirty="0"/>
          </a:p>
        </p:txBody>
      </p:sp>
    </p:spTree>
    <p:extLst>
      <p:ext uri="{BB962C8B-B14F-4D97-AF65-F5344CB8AC3E}">
        <p14:creationId xmlns:p14="http://schemas.microsoft.com/office/powerpoint/2010/main" val="5293792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635</TotalTime>
  <Words>2824</Words>
  <Application>Microsoft Office PowerPoint</Application>
  <PresentationFormat>On-screen Show (4:3)</PresentationFormat>
  <Paragraphs>328</Paragraphs>
  <Slides>41</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Calibri</vt:lpstr>
      <vt:lpstr>Georgia</vt:lpstr>
      <vt:lpstr>Trebuchet MS</vt:lpstr>
      <vt:lpstr>Wingdings 2</vt:lpstr>
      <vt:lpstr>Urban</vt:lpstr>
      <vt:lpstr>11ATAR Biology Week 24 - Enzymes</vt:lpstr>
      <vt:lpstr>Year 11 Biology Work Schedule</vt:lpstr>
      <vt:lpstr>Review</vt:lpstr>
      <vt:lpstr>Learning Intentions</vt:lpstr>
      <vt:lpstr>Enzymes</vt:lpstr>
      <vt:lpstr>Enzymes - examples</vt:lpstr>
      <vt:lpstr>Enzymes</vt:lpstr>
      <vt:lpstr>Enzyme - Substrate</vt:lpstr>
      <vt:lpstr>Enzymes</vt:lpstr>
      <vt:lpstr>Enzyme Active Site</vt:lpstr>
      <vt:lpstr>Lock and Key Model</vt:lpstr>
      <vt:lpstr>Lock and Key Model</vt:lpstr>
      <vt:lpstr>Induced-Fit Model</vt:lpstr>
      <vt:lpstr>Lock and Key vs Induced Fit Model</vt:lpstr>
      <vt:lpstr>Enzymes</vt:lpstr>
      <vt:lpstr>Reaction Rate</vt:lpstr>
      <vt:lpstr>Reaction Rate</vt:lpstr>
      <vt:lpstr>Activation Energy</vt:lpstr>
      <vt:lpstr>Catabolic Reactions</vt:lpstr>
      <vt:lpstr>Anabolic Reactions</vt:lpstr>
      <vt:lpstr>Factors Affecting Enzymes</vt:lpstr>
      <vt:lpstr>Enzyme Videos</vt:lpstr>
      <vt:lpstr>Learning Intentions</vt:lpstr>
      <vt:lpstr>Moodle &amp; Textbook Work</vt:lpstr>
      <vt:lpstr>Student Feedback</vt:lpstr>
      <vt:lpstr>PowerPoint Presentation</vt:lpstr>
      <vt:lpstr>Factors Affecting Enzymes</vt:lpstr>
      <vt:lpstr>Effect of Temperature</vt:lpstr>
      <vt:lpstr>Effect of pH</vt:lpstr>
      <vt:lpstr>PowerPoint Presentation</vt:lpstr>
      <vt:lpstr>Concentration</vt:lpstr>
      <vt:lpstr>Enzyme Cofactors</vt:lpstr>
      <vt:lpstr>Enzyme Inhibitors</vt:lpstr>
      <vt:lpstr>Enzyme Inhibitors</vt:lpstr>
      <vt:lpstr>Enzyme Videos</vt:lpstr>
      <vt:lpstr>Learning Intentions</vt:lpstr>
      <vt:lpstr>Exam Review Question</vt:lpstr>
      <vt:lpstr>PowerPoint Presentation</vt:lpstr>
      <vt:lpstr>PowerPoint Presentation</vt:lpstr>
      <vt:lpstr>Moodle &amp; Textbook Work</vt:lpstr>
      <vt:lpstr>Student 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HARDINGHAM Gillian</dc:creator>
  <cp:lastModifiedBy>HARTLAND Robbert [SIDE - Sch of Isol &amp; Dist Edu]</cp:lastModifiedBy>
  <cp:revision>49</cp:revision>
  <dcterms:created xsi:type="dcterms:W3CDTF">2015-08-06T03:33:08Z</dcterms:created>
  <dcterms:modified xsi:type="dcterms:W3CDTF">2023-08-07T02:57:57Z</dcterms:modified>
</cp:coreProperties>
</file>